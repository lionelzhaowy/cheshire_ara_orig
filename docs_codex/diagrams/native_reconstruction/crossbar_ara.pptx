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801600" cy="8839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-001: Cheshire + CVA6 + Ara：AXI Crossbar 的实际结构"/>
          <p:cNvSpPr txBox="1"/>
          <p:nvPr/>
        </p:nvSpPr>
        <p:spPr>
          <a:xfrm>
            <a:off x="228600" y="116434"/>
            <a:ext cx="6549628" cy="4145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40" b="1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Cheshire + CVA6 + Ara：AXI Crossbar 的实际结构</a:t>
            </a:r>
          </a:p>
        </p:txBody>
      </p:sp>
      <p:sp>
        <p:nvSpPr>
          <p:cNvPr id="3" name="text-002: 基线：tb_cheshire_pkg::gen_cheshire_ara_cfg"/>
          <p:cNvSpPr txBox="1"/>
          <p:nvPr/>
        </p:nvSpPr>
        <p:spPr>
          <a:xfrm>
            <a:off x="228600" y="529438"/>
            <a:ext cx="6469249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基线：tb_cheshire_pkg::gen_cheshire_ara_cfg() / SELCFG=3 · HEAD 5ddec4fb4 · 源码静态核对</a:t>
            </a:r>
          </a:p>
        </p:txBody>
      </p:sp>
      <p:sp>
        <p:nvSpPr>
          <p:cNvPr id="4" name="rect-002"/>
          <p:cNvSpPr/>
          <p:nvPr/>
        </p:nvSpPr>
        <p:spPr>
          <a:xfrm>
            <a:off x="228600" y="853440"/>
            <a:ext cx="12344400" cy="388620"/>
          </a:xfrm>
          <a:prstGeom prst="rect">
            <a:avLst/>
          </a:prstGeom>
          <a:solidFill>
            <a:srgbClr val="E8F4ED"/>
          </a:solidFill>
          <a:ln w="15240" cap="flat">
            <a:solidFill>
              <a:srgbClr val="B4D5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3: Ara = 1  ·  2 lanes / VLEN 2048  ·  AXI "/>
          <p:cNvSpPr txBox="1"/>
          <p:nvPr/>
        </p:nvSpPr>
        <p:spPr>
          <a:xfrm>
            <a:off x="365760" y="932078"/>
            <a:ext cx="7943052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Ara = 1  ·  2 lanes / VLEN 2048  ·  AXI 数据 64 bit  ·  Cfg.AxiRt = 0（RT 不实例化，输入直接接 Crossbar）</a:t>
            </a:r>
          </a:p>
        </p:txBody>
      </p:sp>
      <p:sp>
        <p:nvSpPr>
          <p:cNvPr id="6" name="rect-003"/>
          <p:cNvSpPr/>
          <p:nvPr/>
        </p:nvSpPr>
        <p:spPr>
          <a:xfrm>
            <a:off x="4000500" y="1371600"/>
            <a:ext cx="4191000" cy="5699760"/>
          </a:xfrm>
          <a:prstGeom prst="rect">
            <a:avLst/>
          </a:prstGeom>
          <a:solidFill>
            <a:srgbClr val="EEF4F9"/>
          </a:solidFill>
          <a:ln w="15240" cap="flat">
            <a:solidFill>
              <a:srgbClr val="9AB3C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-004: i_axi_xbar · 7 × 5 · 全连接"/>
          <p:cNvSpPr txBox="1"/>
          <p:nvPr/>
        </p:nvSpPr>
        <p:spPr>
          <a:xfrm>
            <a:off x="4183380" y="1432560"/>
            <a:ext cx="2581704" cy="304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i_axi_xbar · 7 × 5 · 全连接</a:t>
            </a:r>
          </a:p>
        </p:txBody>
      </p:sp>
      <p:sp>
        <p:nvSpPr>
          <p:cNvPr id="8" name="text-005: 发起者 / AXI master"/>
          <p:cNvSpPr txBox="1"/>
          <p:nvPr/>
        </p:nvSpPr>
        <p:spPr>
          <a:xfrm>
            <a:off x="266700" y="1371600"/>
            <a:ext cx="2023610" cy="304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发起者 / AXI master</a:t>
            </a:r>
          </a:p>
        </p:txBody>
      </p:sp>
      <p:sp>
        <p:nvSpPr>
          <p:cNvPr id="9" name="text-006: 入端局部适配"/>
          <p:cNvSpPr txBox="1"/>
          <p:nvPr/>
        </p:nvSpPr>
        <p:spPr>
          <a:xfrm>
            <a:off x="2324100" y="1420978"/>
            <a:ext cx="101346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入端局部适配</a:t>
            </a:r>
          </a:p>
        </p:txBody>
      </p:sp>
      <p:sp>
        <p:nvSpPr>
          <p:cNvPr id="10" name="text-007: 目标 / AXI slave 与下游"/>
          <p:cNvSpPr txBox="1"/>
          <p:nvPr/>
        </p:nvSpPr>
        <p:spPr>
          <a:xfrm>
            <a:off x="8610600" y="1371600"/>
            <a:ext cx="2279773" cy="304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目标 / AXI slave 与下游</a:t>
            </a:r>
          </a:p>
        </p:txBody>
      </p:sp>
      <p:sp>
        <p:nvSpPr>
          <p:cNvPr id="11" name="path-001"/>
          <p:cNvSpPr/>
          <p:nvPr/>
        </p:nvSpPr>
        <p:spPr>
          <a:xfrm>
            <a:off x="5143500" y="2019300"/>
            <a:ext cx="1905000" cy="1"/>
          </a:xfrm>
          <a:custGeom>
            <a:avLst/>
            <a:gdLst/>
            <a:ahLst/>
            <a:cxnLst/>
            <a:rect l="0" t="0" r="r" b="b"/>
            <a:pathLst>
              <a:path w="1905000" h="1" fill="none">
                <a:moveTo>
                  <a:pt x="0" y="0"/>
                </a:moveTo>
                <a:cubicBezTo>
                  <a:pt x="762000" y="0"/>
                  <a:pt x="1104900" y="0"/>
                  <a:pt x="1905000" y="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ath-002"/>
          <p:cNvSpPr/>
          <p:nvPr/>
        </p:nvSpPr>
        <p:spPr>
          <a:xfrm>
            <a:off x="5143500" y="2019300"/>
            <a:ext cx="1905000" cy="990600"/>
          </a:xfrm>
          <a:custGeom>
            <a:avLst/>
            <a:gdLst/>
            <a:ahLst/>
            <a:cxnLst/>
            <a:rect l="0" t="0" r="r" b="b"/>
            <a:pathLst>
              <a:path w="1905000" h="990600" fill="none">
                <a:moveTo>
                  <a:pt x="0" y="0"/>
                </a:moveTo>
                <a:cubicBezTo>
                  <a:pt x="762000" y="0"/>
                  <a:pt x="1104900" y="990600"/>
                  <a:pt x="1905000" y="99060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ath-003"/>
          <p:cNvSpPr/>
          <p:nvPr/>
        </p:nvSpPr>
        <p:spPr>
          <a:xfrm>
            <a:off x="5143500" y="2019300"/>
            <a:ext cx="1905000" cy="2362200"/>
          </a:xfrm>
          <a:custGeom>
            <a:avLst/>
            <a:gdLst/>
            <a:ahLst/>
            <a:cxnLst/>
            <a:rect l="0" t="0" r="r" b="b"/>
            <a:pathLst>
              <a:path w="1905000" h="2362200" fill="none">
                <a:moveTo>
                  <a:pt x="0" y="0"/>
                </a:moveTo>
                <a:cubicBezTo>
                  <a:pt x="762000" y="0"/>
                  <a:pt x="1104900" y="2362200"/>
                  <a:pt x="1905000" y="236220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ath-004"/>
          <p:cNvSpPr/>
          <p:nvPr/>
        </p:nvSpPr>
        <p:spPr>
          <a:xfrm>
            <a:off x="5143500" y="2019300"/>
            <a:ext cx="1905000" cy="3657600"/>
          </a:xfrm>
          <a:custGeom>
            <a:avLst/>
            <a:gdLst/>
            <a:ahLst/>
            <a:cxnLst/>
            <a:rect l="0" t="0" r="r" b="b"/>
            <a:pathLst>
              <a:path w="1905000" h="3657600" fill="none">
                <a:moveTo>
                  <a:pt x="0" y="0"/>
                </a:moveTo>
                <a:cubicBezTo>
                  <a:pt x="762000" y="0"/>
                  <a:pt x="1104900" y="3657600"/>
                  <a:pt x="1905000" y="365760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ath-005"/>
          <p:cNvSpPr/>
          <p:nvPr/>
        </p:nvSpPr>
        <p:spPr>
          <a:xfrm>
            <a:off x="5143500" y="2019300"/>
            <a:ext cx="1905000" cy="4572000"/>
          </a:xfrm>
          <a:custGeom>
            <a:avLst/>
            <a:gdLst/>
            <a:ahLst/>
            <a:cxnLst/>
            <a:rect l="0" t="0" r="r" b="b"/>
            <a:pathLst>
              <a:path w="1905000" h="4572000" fill="none">
                <a:moveTo>
                  <a:pt x="0" y="0"/>
                </a:moveTo>
                <a:cubicBezTo>
                  <a:pt x="762000" y="0"/>
                  <a:pt x="1104900" y="4572000"/>
                  <a:pt x="1905000" y="457200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ath-006"/>
          <p:cNvSpPr/>
          <p:nvPr/>
        </p:nvSpPr>
        <p:spPr>
          <a:xfrm>
            <a:off x="5143500" y="2019300"/>
            <a:ext cx="1905000" cy="762000"/>
          </a:xfrm>
          <a:custGeom>
            <a:avLst/>
            <a:gdLst/>
            <a:ahLst/>
            <a:cxnLst/>
            <a:rect l="0" t="0" r="r" b="b"/>
            <a:pathLst>
              <a:path w="1905000" h="762000" fill="none">
                <a:moveTo>
                  <a:pt x="0" y="762000"/>
                </a:moveTo>
                <a:cubicBezTo>
                  <a:pt x="762000" y="762000"/>
                  <a:pt x="1104900" y="0"/>
                  <a:pt x="1905000" y="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ath-007"/>
          <p:cNvSpPr/>
          <p:nvPr/>
        </p:nvSpPr>
        <p:spPr>
          <a:xfrm>
            <a:off x="5143500" y="2781300"/>
            <a:ext cx="1905000" cy="228600"/>
          </a:xfrm>
          <a:custGeom>
            <a:avLst/>
            <a:gdLst/>
            <a:ahLst/>
            <a:cxnLst/>
            <a:rect l="0" t="0" r="r" b="b"/>
            <a:pathLst>
              <a:path w="1905000" h="228600" fill="none">
                <a:moveTo>
                  <a:pt x="0" y="0"/>
                </a:moveTo>
                <a:cubicBezTo>
                  <a:pt x="762000" y="0"/>
                  <a:pt x="1104900" y="228600"/>
                  <a:pt x="1905000" y="22860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path-008"/>
          <p:cNvSpPr/>
          <p:nvPr/>
        </p:nvSpPr>
        <p:spPr>
          <a:xfrm>
            <a:off x="5143500" y="2781300"/>
            <a:ext cx="1905000" cy="1600200"/>
          </a:xfrm>
          <a:custGeom>
            <a:avLst/>
            <a:gdLst/>
            <a:ahLst/>
            <a:cxnLst/>
            <a:rect l="0" t="0" r="r" b="b"/>
            <a:pathLst>
              <a:path w="1905000" h="1600200" fill="none">
                <a:moveTo>
                  <a:pt x="0" y="0"/>
                </a:moveTo>
                <a:cubicBezTo>
                  <a:pt x="762000" y="0"/>
                  <a:pt x="1104900" y="1600200"/>
                  <a:pt x="1905000" y="160020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path-009"/>
          <p:cNvSpPr/>
          <p:nvPr/>
        </p:nvSpPr>
        <p:spPr>
          <a:xfrm>
            <a:off x="5143500" y="2781300"/>
            <a:ext cx="1905000" cy="2895600"/>
          </a:xfrm>
          <a:custGeom>
            <a:avLst/>
            <a:gdLst/>
            <a:ahLst/>
            <a:cxnLst/>
            <a:rect l="0" t="0" r="r" b="b"/>
            <a:pathLst>
              <a:path w="1905000" h="2895600" fill="none">
                <a:moveTo>
                  <a:pt x="0" y="0"/>
                </a:moveTo>
                <a:cubicBezTo>
                  <a:pt x="762000" y="0"/>
                  <a:pt x="1104900" y="2895600"/>
                  <a:pt x="1905000" y="289560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path-010"/>
          <p:cNvSpPr/>
          <p:nvPr/>
        </p:nvSpPr>
        <p:spPr>
          <a:xfrm>
            <a:off x="5143500" y="2781300"/>
            <a:ext cx="1905000" cy="3810000"/>
          </a:xfrm>
          <a:custGeom>
            <a:avLst/>
            <a:gdLst/>
            <a:ahLst/>
            <a:cxnLst/>
            <a:rect l="0" t="0" r="r" b="b"/>
            <a:pathLst>
              <a:path w="1905000" h="3810000" fill="none">
                <a:moveTo>
                  <a:pt x="0" y="0"/>
                </a:moveTo>
                <a:cubicBezTo>
                  <a:pt x="762000" y="0"/>
                  <a:pt x="1104900" y="3810000"/>
                  <a:pt x="1905000" y="381000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path-011"/>
          <p:cNvSpPr/>
          <p:nvPr/>
        </p:nvSpPr>
        <p:spPr>
          <a:xfrm>
            <a:off x="5143500" y="2019300"/>
            <a:ext cx="1905000" cy="1524000"/>
          </a:xfrm>
          <a:custGeom>
            <a:avLst/>
            <a:gdLst/>
            <a:ahLst/>
            <a:cxnLst/>
            <a:rect l="0" t="0" r="r" b="b"/>
            <a:pathLst>
              <a:path w="1905000" h="1524000" fill="none">
                <a:moveTo>
                  <a:pt x="0" y="1524000"/>
                </a:moveTo>
                <a:cubicBezTo>
                  <a:pt x="762000" y="1524000"/>
                  <a:pt x="1104900" y="0"/>
                  <a:pt x="1905000" y="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path-012"/>
          <p:cNvSpPr/>
          <p:nvPr/>
        </p:nvSpPr>
        <p:spPr>
          <a:xfrm>
            <a:off x="5143500" y="3009900"/>
            <a:ext cx="1905000" cy="533400"/>
          </a:xfrm>
          <a:custGeom>
            <a:avLst/>
            <a:gdLst/>
            <a:ahLst/>
            <a:cxnLst/>
            <a:rect l="0" t="0" r="r" b="b"/>
            <a:pathLst>
              <a:path w="1905000" h="533400" fill="none">
                <a:moveTo>
                  <a:pt x="0" y="533400"/>
                </a:moveTo>
                <a:cubicBezTo>
                  <a:pt x="762000" y="533400"/>
                  <a:pt x="1104900" y="0"/>
                  <a:pt x="1905000" y="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path-013"/>
          <p:cNvSpPr/>
          <p:nvPr/>
        </p:nvSpPr>
        <p:spPr>
          <a:xfrm>
            <a:off x="5143500" y="3543300"/>
            <a:ext cx="1905000" cy="838200"/>
          </a:xfrm>
          <a:custGeom>
            <a:avLst/>
            <a:gdLst/>
            <a:ahLst/>
            <a:cxnLst/>
            <a:rect l="0" t="0" r="r" b="b"/>
            <a:pathLst>
              <a:path w="1905000" h="838200" fill="none">
                <a:moveTo>
                  <a:pt x="0" y="0"/>
                </a:moveTo>
                <a:cubicBezTo>
                  <a:pt x="762000" y="0"/>
                  <a:pt x="1104900" y="838200"/>
                  <a:pt x="1905000" y="83820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path-014"/>
          <p:cNvSpPr/>
          <p:nvPr/>
        </p:nvSpPr>
        <p:spPr>
          <a:xfrm>
            <a:off x="5143500" y="3543300"/>
            <a:ext cx="1905000" cy="2133600"/>
          </a:xfrm>
          <a:custGeom>
            <a:avLst/>
            <a:gdLst/>
            <a:ahLst/>
            <a:cxnLst/>
            <a:rect l="0" t="0" r="r" b="b"/>
            <a:pathLst>
              <a:path w="1905000" h="2133600" fill="none">
                <a:moveTo>
                  <a:pt x="0" y="0"/>
                </a:moveTo>
                <a:cubicBezTo>
                  <a:pt x="762000" y="0"/>
                  <a:pt x="1104900" y="2133600"/>
                  <a:pt x="1905000" y="213360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path-015"/>
          <p:cNvSpPr/>
          <p:nvPr/>
        </p:nvSpPr>
        <p:spPr>
          <a:xfrm>
            <a:off x="5143500" y="3543300"/>
            <a:ext cx="1905000" cy="3048000"/>
          </a:xfrm>
          <a:custGeom>
            <a:avLst/>
            <a:gdLst/>
            <a:ahLst/>
            <a:cxnLst/>
            <a:rect l="0" t="0" r="r" b="b"/>
            <a:pathLst>
              <a:path w="1905000" h="3048000" fill="none">
                <a:moveTo>
                  <a:pt x="0" y="0"/>
                </a:moveTo>
                <a:cubicBezTo>
                  <a:pt x="762000" y="0"/>
                  <a:pt x="1104900" y="3048000"/>
                  <a:pt x="1905000" y="304800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path-016"/>
          <p:cNvSpPr/>
          <p:nvPr/>
        </p:nvSpPr>
        <p:spPr>
          <a:xfrm>
            <a:off x="5143500" y="2019300"/>
            <a:ext cx="1905000" cy="2286000"/>
          </a:xfrm>
          <a:custGeom>
            <a:avLst/>
            <a:gdLst/>
            <a:ahLst/>
            <a:cxnLst/>
            <a:rect l="0" t="0" r="r" b="b"/>
            <a:pathLst>
              <a:path w="1905000" h="2286000" fill="none">
                <a:moveTo>
                  <a:pt x="0" y="2286000"/>
                </a:moveTo>
                <a:cubicBezTo>
                  <a:pt x="762000" y="2286000"/>
                  <a:pt x="1104900" y="0"/>
                  <a:pt x="1905000" y="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path-017"/>
          <p:cNvSpPr/>
          <p:nvPr/>
        </p:nvSpPr>
        <p:spPr>
          <a:xfrm>
            <a:off x="5143500" y="3009900"/>
            <a:ext cx="1905000" cy="1295400"/>
          </a:xfrm>
          <a:custGeom>
            <a:avLst/>
            <a:gdLst/>
            <a:ahLst/>
            <a:cxnLst/>
            <a:rect l="0" t="0" r="r" b="b"/>
            <a:pathLst>
              <a:path w="1905000" h="1295400" fill="none">
                <a:moveTo>
                  <a:pt x="0" y="1295400"/>
                </a:moveTo>
                <a:cubicBezTo>
                  <a:pt x="762000" y="1295400"/>
                  <a:pt x="1104900" y="0"/>
                  <a:pt x="1905000" y="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path-018"/>
          <p:cNvSpPr/>
          <p:nvPr/>
        </p:nvSpPr>
        <p:spPr>
          <a:xfrm>
            <a:off x="5143500" y="4305300"/>
            <a:ext cx="1905000" cy="76200"/>
          </a:xfrm>
          <a:custGeom>
            <a:avLst/>
            <a:gdLst/>
            <a:ahLst/>
            <a:cxnLst/>
            <a:rect l="0" t="0" r="r" b="b"/>
            <a:pathLst>
              <a:path w="1905000" h="76200" fill="none">
                <a:moveTo>
                  <a:pt x="0" y="0"/>
                </a:moveTo>
                <a:cubicBezTo>
                  <a:pt x="762000" y="0"/>
                  <a:pt x="1104900" y="76200"/>
                  <a:pt x="1905000" y="7620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path-019"/>
          <p:cNvSpPr/>
          <p:nvPr/>
        </p:nvSpPr>
        <p:spPr>
          <a:xfrm>
            <a:off x="5143500" y="4305300"/>
            <a:ext cx="1905000" cy="1371600"/>
          </a:xfrm>
          <a:custGeom>
            <a:avLst/>
            <a:gdLst/>
            <a:ahLst/>
            <a:cxnLst/>
            <a:rect l="0" t="0" r="r" b="b"/>
            <a:pathLst>
              <a:path w="1905000" h="1371600" fill="none">
                <a:moveTo>
                  <a:pt x="0" y="0"/>
                </a:moveTo>
                <a:cubicBezTo>
                  <a:pt x="762000" y="0"/>
                  <a:pt x="1104900" y="1371600"/>
                  <a:pt x="1905000" y="137160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path-020"/>
          <p:cNvSpPr/>
          <p:nvPr/>
        </p:nvSpPr>
        <p:spPr>
          <a:xfrm>
            <a:off x="5143500" y="4305300"/>
            <a:ext cx="1905000" cy="2286000"/>
          </a:xfrm>
          <a:custGeom>
            <a:avLst/>
            <a:gdLst/>
            <a:ahLst/>
            <a:cxnLst/>
            <a:rect l="0" t="0" r="r" b="b"/>
            <a:pathLst>
              <a:path w="1905000" h="2286000" fill="none">
                <a:moveTo>
                  <a:pt x="0" y="0"/>
                </a:moveTo>
                <a:cubicBezTo>
                  <a:pt x="762000" y="0"/>
                  <a:pt x="1104900" y="2286000"/>
                  <a:pt x="1905000" y="228600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path-021"/>
          <p:cNvSpPr/>
          <p:nvPr/>
        </p:nvSpPr>
        <p:spPr>
          <a:xfrm>
            <a:off x="5143500" y="2019300"/>
            <a:ext cx="1905000" cy="3048000"/>
          </a:xfrm>
          <a:custGeom>
            <a:avLst/>
            <a:gdLst/>
            <a:ahLst/>
            <a:cxnLst/>
            <a:rect l="0" t="0" r="r" b="b"/>
            <a:pathLst>
              <a:path w="1905000" h="3048000" fill="none">
                <a:moveTo>
                  <a:pt x="0" y="3048000"/>
                </a:moveTo>
                <a:cubicBezTo>
                  <a:pt x="762000" y="3048000"/>
                  <a:pt x="1104900" y="0"/>
                  <a:pt x="1905000" y="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path-022"/>
          <p:cNvSpPr/>
          <p:nvPr/>
        </p:nvSpPr>
        <p:spPr>
          <a:xfrm>
            <a:off x="5143500" y="3009900"/>
            <a:ext cx="1905000" cy="2057400"/>
          </a:xfrm>
          <a:custGeom>
            <a:avLst/>
            <a:gdLst/>
            <a:ahLst/>
            <a:cxnLst/>
            <a:rect l="0" t="0" r="r" b="b"/>
            <a:pathLst>
              <a:path w="1905000" h="2057400" fill="none">
                <a:moveTo>
                  <a:pt x="0" y="2057400"/>
                </a:moveTo>
                <a:cubicBezTo>
                  <a:pt x="762000" y="2057400"/>
                  <a:pt x="1104900" y="0"/>
                  <a:pt x="1905000" y="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path-023"/>
          <p:cNvSpPr/>
          <p:nvPr/>
        </p:nvSpPr>
        <p:spPr>
          <a:xfrm>
            <a:off x="5143500" y="4381500"/>
            <a:ext cx="1905000" cy="685800"/>
          </a:xfrm>
          <a:custGeom>
            <a:avLst/>
            <a:gdLst/>
            <a:ahLst/>
            <a:cxnLst/>
            <a:rect l="0" t="0" r="r" b="b"/>
            <a:pathLst>
              <a:path w="1905000" h="685800" fill="none">
                <a:moveTo>
                  <a:pt x="0" y="685800"/>
                </a:moveTo>
                <a:cubicBezTo>
                  <a:pt x="762000" y="685800"/>
                  <a:pt x="1104900" y="0"/>
                  <a:pt x="1905000" y="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path-024"/>
          <p:cNvSpPr/>
          <p:nvPr/>
        </p:nvSpPr>
        <p:spPr>
          <a:xfrm>
            <a:off x="5143500" y="5067300"/>
            <a:ext cx="1905000" cy="609600"/>
          </a:xfrm>
          <a:custGeom>
            <a:avLst/>
            <a:gdLst/>
            <a:ahLst/>
            <a:cxnLst/>
            <a:rect l="0" t="0" r="r" b="b"/>
            <a:pathLst>
              <a:path w="1905000" h="609600" fill="none">
                <a:moveTo>
                  <a:pt x="0" y="0"/>
                </a:moveTo>
                <a:cubicBezTo>
                  <a:pt x="762000" y="0"/>
                  <a:pt x="1104900" y="609600"/>
                  <a:pt x="1905000" y="60960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path-025"/>
          <p:cNvSpPr/>
          <p:nvPr/>
        </p:nvSpPr>
        <p:spPr>
          <a:xfrm>
            <a:off x="5143500" y="5067300"/>
            <a:ext cx="1905000" cy="1524000"/>
          </a:xfrm>
          <a:custGeom>
            <a:avLst/>
            <a:gdLst/>
            <a:ahLst/>
            <a:cxnLst/>
            <a:rect l="0" t="0" r="r" b="b"/>
            <a:pathLst>
              <a:path w="1905000" h="1524000" fill="none">
                <a:moveTo>
                  <a:pt x="0" y="0"/>
                </a:moveTo>
                <a:cubicBezTo>
                  <a:pt x="762000" y="0"/>
                  <a:pt x="1104900" y="1524000"/>
                  <a:pt x="1905000" y="152400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path-026"/>
          <p:cNvSpPr/>
          <p:nvPr/>
        </p:nvSpPr>
        <p:spPr>
          <a:xfrm>
            <a:off x="5143500" y="2019300"/>
            <a:ext cx="1905000" cy="3810000"/>
          </a:xfrm>
          <a:custGeom>
            <a:avLst/>
            <a:gdLst/>
            <a:ahLst/>
            <a:cxnLst/>
            <a:rect l="0" t="0" r="r" b="b"/>
            <a:pathLst>
              <a:path w="1905000" h="3810000" fill="none">
                <a:moveTo>
                  <a:pt x="0" y="3810000"/>
                </a:moveTo>
                <a:cubicBezTo>
                  <a:pt x="762000" y="3810000"/>
                  <a:pt x="1104900" y="0"/>
                  <a:pt x="1905000" y="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path-027"/>
          <p:cNvSpPr/>
          <p:nvPr/>
        </p:nvSpPr>
        <p:spPr>
          <a:xfrm>
            <a:off x="5143500" y="3009900"/>
            <a:ext cx="1905000" cy="2819400"/>
          </a:xfrm>
          <a:custGeom>
            <a:avLst/>
            <a:gdLst/>
            <a:ahLst/>
            <a:cxnLst/>
            <a:rect l="0" t="0" r="r" b="b"/>
            <a:pathLst>
              <a:path w="1905000" h="2819400" fill="none">
                <a:moveTo>
                  <a:pt x="0" y="2819400"/>
                </a:moveTo>
                <a:cubicBezTo>
                  <a:pt x="762000" y="2819400"/>
                  <a:pt x="1104900" y="0"/>
                  <a:pt x="1905000" y="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path-028"/>
          <p:cNvSpPr/>
          <p:nvPr/>
        </p:nvSpPr>
        <p:spPr>
          <a:xfrm>
            <a:off x="5143500" y="4381500"/>
            <a:ext cx="1905000" cy="1447800"/>
          </a:xfrm>
          <a:custGeom>
            <a:avLst/>
            <a:gdLst/>
            <a:ahLst/>
            <a:cxnLst/>
            <a:rect l="0" t="0" r="r" b="b"/>
            <a:pathLst>
              <a:path w="1905000" h="1447800" fill="none">
                <a:moveTo>
                  <a:pt x="0" y="1447800"/>
                </a:moveTo>
                <a:cubicBezTo>
                  <a:pt x="762000" y="1447800"/>
                  <a:pt x="1104900" y="0"/>
                  <a:pt x="1905000" y="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path-029"/>
          <p:cNvSpPr/>
          <p:nvPr/>
        </p:nvSpPr>
        <p:spPr>
          <a:xfrm>
            <a:off x="5143500" y="5676900"/>
            <a:ext cx="1905000" cy="152400"/>
          </a:xfrm>
          <a:custGeom>
            <a:avLst/>
            <a:gdLst/>
            <a:ahLst/>
            <a:cxnLst/>
            <a:rect l="0" t="0" r="r" b="b"/>
            <a:pathLst>
              <a:path w="1905000" h="152400" fill="none">
                <a:moveTo>
                  <a:pt x="0" y="152400"/>
                </a:moveTo>
                <a:cubicBezTo>
                  <a:pt x="762000" y="152400"/>
                  <a:pt x="1104900" y="0"/>
                  <a:pt x="1905000" y="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path-030"/>
          <p:cNvSpPr/>
          <p:nvPr/>
        </p:nvSpPr>
        <p:spPr>
          <a:xfrm>
            <a:off x="5143500" y="5829300"/>
            <a:ext cx="1905000" cy="762000"/>
          </a:xfrm>
          <a:custGeom>
            <a:avLst/>
            <a:gdLst/>
            <a:ahLst/>
            <a:cxnLst/>
            <a:rect l="0" t="0" r="r" b="b"/>
            <a:pathLst>
              <a:path w="1905000" h="762000" fill="none">
                <a:moveTo>
                  <a:pt x="0" y="0"/>
                </a:moveTo>
                <a:cubicBezTo>
                  <a:pt x="762000" y="0"/>
                  <a:pt x="1104900" y="762000"/>
                  <a:pt x="1905000" y="76200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path-031"/>
          <p:cNvSpPr/>
          <p:nvPr/>
        </p:nvSpPr>
        <p:spPr>
          <a:xfrm>
            <a:off x="5143500" y="2019300"/>
            <a:ext cx="1905000" cy="4572000"/>
          </a:xfrm>
          <a:custGeom>
            <a:avLst/>
            <a:gdLst/>
            <a:ahLst/>
            <a:cxnLst/>
            <a:rect l="0" t="0" r="r" b="b"/>
            <a:pathLst>
              <a:path w="1905000" h="4572000" fill="none">
                <a:moveTo>
                  <a:pt x="0" y="4572000"/>
                </a:moveTo>
                <a:cubicBezTo>
                  <a:pt x="762000" y="4572000"/>
                  <a:pt x="1104900" y="0"/>
                  <a:pt x="1905000" y="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path-032"/>
          <p:cNvSpPr/>
          <p:nvPr/>
        </p:nvSpPr>
        <p:spPr>
          <a:xfrm>
            <a:off x="5143500" y="3009900"/>
            <a:ext cx="1905000" cy="3581400"/>
          </a:xfrm>
          <a:custGeom>
            <a:avLst/>
            <a:gdLst/>
            <a:ahLst/>
            <a:cxnLst/>
            <a:rect l="0" t="0" r="r" b="b"/>
            <a:pathLst>
              <a:path w="1905000" h="3581400" fill="none">
                <a:moveTo>
                  <a:pt x="0" y="3581400"/>
                </a:moveTo>
                <a:cubicBezTo>
                  <a:pt x="762000" y="3581400"/>
                  <a:pt x="1104900" y="0"/>
                  <a:pt x="1905000" y="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path-033"/>
          <p:cNvSpPr/>
          <p:nvPr/>
        </p:nvSpPr>
        <p:spPr>
          <a:xfrm>
            <a:off x="5143500" y="4381500"/>
            <a:ext cx="1905000" cy="2209800"/>
          </a:xfrm>
          <a:custGeom>
            <a:avLst/>
            <a:gdLst/>
            <a:ahLst/>
            <a:cxnLst/>
            <a:rect l="0" t="0" r="r" b="b"/>
            <a:pathLst>
              <a:path w="1905000" h="2209800" fill="none">
                <a:moveTo>
                  <a:pt x="0" y="2209800"/>
                </a:moveTo>
                <a:cubicBezTo>
                  <a:pt x="762000" y="2209800"/>
                  <a:pt x="1104900" y="0"/>
                  <a:pt x="1905000" y="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path-034"/>
          <p:cNvSpPr/>
          <p:nvPr/>
        </p:nvSpPr>
        <p:spPr>
          <a:xfrm>
            <a:off x="5143500" y="5676900"/>
            <a:ext cx="1905000" cy="914400"/>
          </a:xfrm>
          <a:custGeom>
            <a:avLst/>
            <a:gdLst/>
            <a:ahLst/>
            <a:cxnLst/>
            <a:rect l="0" t="0" r="r" b="b"/>
            <a:pathLst>
              <a:path w="1905000" h="914400" fill="none">
                <a:moveTo>
                  <a:pt x="0" y="914400"/>
                </a:moveTo>
                <a:cubicBezTo>
                  <a:pt x="762000" y="914400"/>
                  <a:pt x="1104900" y="0"/>
                  <a:pt x="1905000" y="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path-035"/>
          <p:cNvSpPr/>
          <p:nvPr/>
        </p:nvSpPr>
        <p:spPr>
          <a:xfrm>
            <a:off x="5143500" y="6591300"/>
            <a:ext cx="1905000" cy="1"/>
          </a:xfrm>
          <a:custGeom>
            <a:avLst/>
            <a:gdLst/>
            <a:ahLst/>
            <a:cxnLst/>
            <a:rect l="0" t="0" r="r" b="b"/>
            <a:pathLst>
              <a:path w="1905000" h="1" fill="none">
                <a:moveTo>
                  <a:pt x="0" y="0"/>
                </a:moveTo>
                <a:cubicBezTo>
                  <a:pt x="762000" y="0"/>
                  <a:pt x="1104900" y="0"/>
                  <a:pt x="1905000" y="0"/>
                </a:cubicBezTo>
              </a:path>
            </a:pathLst>
          </a:custGeom>
          <a:noFill/>
          <a:ln w="9906" cap="flat">
            <a:solidFill>
              <a:srgbClr val="C5D2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path-036"/>
          <p:cNvSpPr/>
          <p:nvPr/>
        </p:nvSpPr>
        <p:spPr>
          <a:xfrm>
            <a:off x="5143500" y="2019300"/>
            <a:ext cx="1905000" cy="990600"/>
          </a:xfrm>
          <a:custGeom>
            <a:avLst/>
            <a:gdLst/>
            <a:ahLst/>
            <a:cxnLst/>
            <a:rect l="0" t="0" r="r" b="b"/>
            <a:pathLst>
              <a:path w="1905000" h="990600" fill="none">
                <a:moveTo>
                  <a:pt x="0" y="0"/>
                </a:moveTo>
                <a:cubicBezTo>
                  <a:pt x="762000" y="0"/>
                  <a:pt x="1104900" y="990600"/>
                  <a:pt x="1905000" y="990600"/>
                </a:cubicBezTo>
              </a:path>
            </a:pathLst>
          </a:custGeom>
          <a:noFill/>
          <a:ln w="30480" cap="flat">
            <a:solidFill>
              <a:srgbClr val="C66A20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path-037"/>
          <p:cNvSpPr/>
          <p:nvPr/>
        </p:nvSpPr>
        <p:spPr>
          <a:xfrm>
            <a:off x="5143500" y="3543300"/>
            <a:ext cx="1905000" cy="838200"/>
          </a:xfrm>
          <a:custGeom>
            <a:avLst/>
            <a:gdLst/>
            <a:ahLst/>
            <a:cxnLst/>
            <a:rect l="0" t="0" r="r" b="b"/>
            <a:pathLst>
              <a:path w="1905000" h="838200" fill="none">
                <a:moveTo>
                  <a:pt x="0" y="0"/>
                </a:moveTo>
                <a:cubicBezTo>
                  <a:pt x="762000" y="0"/>
                  <a:pt x="1104900" y="838200"/>
                  <a:pt x="1905000" y="838200"/>
                </a:cubicBezTo>
              </a:path>
            </a:pathLst>
          </a:custGeom>
          <a:noFill/>
          <a:ln w="30480" cap="flat">
            <a:solidFill>
              <a:srgbClr val="2774C7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-004"/>
          <p:cNvSpPr/>
          <p:nvPr/>
        </p:nvSpPr>
        <p:spPr>
          <a:xfrm>
            <a:off x="228600" y="1775460"/>
            <a:ext cx="1600200" cy="487680"/>
          </a:xfrm>
          <a:prstGeom prst="rect">
            <a:avLst/>
          </a:prstGeom>
          <a:solidFill>
            <a:srgbClr val="FFF2E5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08: S0 · CVA6 core 0"/>
          <p:cNvSpPr txBox="1"/>
          <p:nvPr/>
        </p:nvSpPr>
        <p:spPr>
          <a:xfrm>
            <a:off x="350520" y="1899818"/>
            <a:ext cx="1411462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S0 · CVA6 core 0</a:t>
            </a:r>
          </a:p>
        </p:txBody>
      </p:sp>
      <p:sp>
        <p:nvSpPr>
          <p:cNvPr id="50" name="rect-005"/>
          <p:cNvSpPr/>
          <p:nvPr/>
        </p:nvSpPr>
        <p:spPr>
          <a:xfrm>
            <a:off x="2042160" y="1783080"/>
            <a:ext cx="1790700" cy="472440"/>
          </a:xfrm>
          <a:prstGeom prst="rect">
            <a:avLst/>
          </a:prstGeom>
          <a:solidFill>
            <a:srgbClr val="FFF2E5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09: cheshire_cva6_wrap"/>
          <p:cNvSpPr txBox="1"/>
          <p:nvPr/>
        </p:nvSpPr>
        <p:spPr>
          <a:xfrm>
            <a:off x="2133600" y="1899818"/>
            <a:ext cx="1659386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cheshire_cva6_wrap</a:t>
            </a:r>
          </a:p>
        </p:txBody>
      </p:sp>
      <p:cxnSp>
        <p:nvCxnSpPr>
          <p:cNvPr id="52" name="line-001"/>
          <p:cNvCxnSpPr/>
          <p:nvPr/>
        </p:nvCxnSpPr>
        <p:spPr>
          <a:xfrm>
            <a:off x="1828800" y="2019300"/>
            <a:ext cx="213360" cy="0"/>
          </a:xfrm>
          <a:prstGeom prst="line">
            <a:avLst/>
          </a:prstGeom>
          <a:ln w="15240" cap="flat">
            <a:solidFill>
              <a:srgbClr val="8094A6"/>
            </a:solidFill>
            <a:tailEnd type="triangle" w="med" len="med"/>
          </a:ln>
          <a:effectLst/>
        </p:spPr>
      </p:cxnSp>
      <p:cxnSp>
        <p:nvCxnSpPr>
          <p:cNvPr id="53" name="line-002"/>
          <p:cNvCxnSpPr/>
          <p:nvPr/>
        </p:nvCxnSpPr>
        <p:spPr>
          <a:xfrm>
            <a:off x="3832860" y="2019300"/>
            <a:ext cx="358140" cy="0"/>
          </a:xfrm>
          <a:prstGeom prst="line">
            <a:avLst/>
          </a:prstGeom>
          <a:ln w="15240" cap="flat">
            <a:solidFill>
              <a:srgbClr val="8094A6"/>
            </a:solidFill>
            <a:tailEnd type="triangle" w="med" len="med"/>
          </a:ln>
          <a:effectLst/>
        </p:spPr>
      </p:cxnSp>
      <p:sp>
        <p:nvSpPr>
          <p:cNvPr id="54" name="rect-006"/>
          <p:cNvSpPr/>
          <p:nvPr/>
        </p:nvSpPr>
        <p:spPr>
          <a:xfrm>
            <a:off x="4191000" y="1798320"/>
            <a:ext cx="952500" cy="4419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-010: AR/AW 译码"/>
          <p:cNvSpPr txBox="1"/>
          <p:nvPr/>
        </p:nvSpPr>
        <p:spPr>
          <a:xfrm>
            <a:off x="4267200" y="1848917"/>
            <a:ext cx="875895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AR/AW 译码</a:t>
            </a:r>
          </a:p>
        </p:txBody>
      </p:sp>
      <p:sp>
        <p:nvSpPr>
          <p:cNvPr id="56" name="text-011: DEMUX S0"/>
          <p:cNvSpPr txBox="1"/>
          <p:nvPr/>
        </p:nvSpPr>
        <p:spPr>
          <a:xfrm>
            <a:off x="4267200" y="2031797"/>
            <a:ext cx="795326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DEMUX S0</a:t>
            </a:r>
          </a:p>
        </p:txBody>
      </p:sp>
      <p:sp>
        <p:nvSpPr>
          <p:cNvPr id="57" name="rect-007"/>
          <p:cNvSpPr/>
          <p:nvPr/>
        </p:nvSpPr>
        <p:spPr>
          <a:xfrm>
            <a:off x="228600" y="2537460"/>
            <a:ext cx="1600200" cy="48768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-012: S1 · Debug / SBA"/>
          <p:cNvSpPr txBox="1"/>
          <p:nvPr/>
        </p:nvSpPr>
        <p:spPr>
          <a:xfrm>
            <a:off x="350520" y="2661818"/>
            <a:ext cx="1463731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S1 · Debug / SBA</a:t>
            </a:r>
          </a:p>
        </p:txBody>
      </p:sp>
      <p:cxnSp>
        <p:nvCxnSpPr>
          <p:cNvPr id="59" name="line-003"/>
          <p:cNvCxnSpPr/>
          <p:nvPr/>
        </p:nvCxnSpPr>
        <p:spPr>
          <a:xfrm>
            <a:off x="1828800" y="2781300"/>
            <a:ext cx="2362200" cy="0"/>
          </a:xfrm>
          <a:prstGeom prst="line">
            <a:avLst/>
          </a:prstGeom>
          <a:ln w="15240" cap="flat">
            <a:solidFill>
              <a:srgbClr val="8094A6"/>
            </a:solidFill>
            <a:tailEnd type="triangle" w="med" len="med"/>
          </a:ln>
          <a:effectLst/>
        </p:spPr>
      </p:cxnSp>
      <p:sp>
        <p:nvSpPr>
          <p:cNvPr id="60" name="rect-008"/>
          <p:cNvSpPr/>
          <p:nvPr/>
        </p:nvSpPr>
        <p:spPr>
          <a:xfrm>
            <a:off x="4191000" y="2560320"/>
            <a:ext cx="952500" cy="4419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-013: AR/AW 译码"/>
          <p:cNvSpPr txBox="1"/>
          <p:nvPr/>
        </p:nvSpPr>
        <p:spPr>
          <a:xfrm>
            <a:off x="4267200" y="2610917"/>
            <a:ext cx="875895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AR/AW 译码</a:t>
            </a:r>
          </a:p>
        </p:txBody>
      </p:sp>
      <p:sp>
        <p:nvSpPr>
          <p:cNvPr id="62" name="text-014: DEMUX S1"/>
          <p:cNvSpPr txBox="1"/>
          <p:nvPr/>
        </p:nvSpPr>
        <p:spPr>
          <a:xfrm>
            <a:off x="4267200" y="2793797"/>
            <a:ext cx="795326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DEMUX S1</a:t>
            </a:r>
          </a:p>
        </p:txBody>
      </p:sp>
      <p:sp>
        <p:nvSpPr>
          <p:cNvPr id="63" name="rect-009"/>
          <p:cNvSpPr/>
          <p:nvPr/>
        </p:nvSpPr>
        <p:spPr>
          <a:xfrm>
            <a:off x="228600" y="3299460"/>
            <a:ext cx="1600200" cy="487680"/>
          </a:xfrm>
          <a:prstGeom prst="rect">
            <a:avLst/>
          </a:prstGeom>
          <a:solidFill>
            <a:srgbClr val="E8F2FE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-015: S2 · Ara 访存"/>
          <p:cNvSpPr txBox="1"/>
          <p:nvPr/>
        </p:nvSpPr>
        <p:spPr>
          <a:xfrm>
            <a:off x="350520" y="3423818"/>
            <a:ext cx="1108984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S2 · Ara 访存</a:t>
            </a:r>
          </a:p>
        </p:txBody>
      </p:sp>
      <p:sp>
        <p:nvSpPr>
          <p:cNvPr id="65" name="rect-010"/>
          <p:cNvSpPr/>
          <p:nvPr/>
        </p:nvSpPr>
        <p:spPr>
          <a:xfrm>
            <a:off x="2042160" y="3215640"/>
            <a:ext cx="1790700" cy="655320"/>
          </a:xfrm>
          <a:prstGeom prst="rect">
            <a:avLst/>
          </a:prstGeom>
          <a:solidFill>
            <a:srgbClr val="E8F2FE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-016: inval filter → 位宽适配"/>
          <p:cNvSpPr txBox="1"/>
          <p:nvPr/>
        </p:nvSpPr>
        <p:spPr>
          <a:xfrm>
            <a:off x="2148840" y="3280258"/>
            <a:ext cx="1634073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inval filter → 位宽适配</a:t>
            </a:r>
          </a:p>
        </p:txBody>
      </p:sp>
      <p:sp>
        <p:nvSpPr>
          <p:cNvPr id="67" name="text-017: 本配置：64 → 64 bit"/>
          <p:cNvSpPr txBox="1"/>
          <p:nvPr/>
        </p:nvSpPr>
        <p:spPr>
          <a:xfrm>
            <a:off x="2148840" y="3478378"/>
            <a:ext cx="1521738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本配置：64 → 64 bit</a:t>
            </a:r>
          </a:p>
        </p:txBody>
      </p:sp>
      <p:sp>
        <p:nvSpPr>
          <p:cNvPr id="68" name="text-018: 另接 CVA6 指令/MMU 接口"/>
          <p:cNvSpPr txBox="1"/>
          <p:nvPr/>
        </p:nvSpPr>
        <p:spPr>
          <a:xfrm>
            <a:off x="2148840" y="3662477"/>
            <a:ext cx="1760339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另接 CVA6 指令/MMU 接口</a:t>
            </a:r>
          </a:p>
        </p:txBody>
      </p:sp>
      <p:cxnSp>
        <p:nvCxnSpPr>
          <p:cNvPr id="69" name="line-004"/>
          <p:cNvCxnSpPr/>
          <p:nvPr/>
        </p:nvCxnSpPr>
        <p:spPr>
          <a:xfrm>
            <a:off x="1828800" y="3543300"/>
            <a:ext cx="213360" cy="0"/>
          </a:xfrm>
          <a:prstGeom prst="line">
            <a:avLst/>
          </a:prstGeom>
          <a:ln w="15240" cap="flat">
            <a:solidFill>
              <a:srgbClr val="8094A6"/>
            </a:solidFill>
            <a:tailEnd type="triangle" w="med" len="med"/>
          </a:ln>
          <a:effectLst/>
        </p:spPr>
      </p:cxnSp>
      <p:cxnSp>
        <p:nvCxnSpPr>
          <p:cNvPr id="70" name="line-005"/>
          <p:cNvCxnSpPr/>
          <p:nvPr/>
        </p:nvCxnSpPr>
        <p:spPr>
          <a:xfrm>
            <a:off x="3832860" y="3543300"/>
            <a:ext cx="358140" cy="0"/>
          </a:xfrm>
          <a:prstGeom prst="line">
            <a:avLst/>
          </a:prstGeom>
          <a:ln w="15240" cap="flat">
            <a:solidFill>
              <a:srgbClr val="8094A6"/>
            </a:solidFill>
            <a:tailEnd type="triangle" w="med" len="med"/>
          </a:ln>
          <a:effectLst/>
        </p:spPr>
      </p:cxnSp>
      <p:sp>
        <p:nvSpPr>
          <p:cNvPr id="71" name="rect-011"/>
          <p:cNvSpPr/>
          <p:nvPr/>
        </p:nvSpPr>
        <p:spPr>
          <a:xfrm>
            <a:off x="4191000" y="3322320"/>
            <a:ext cx="952500" cy="4419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-019: AR/AW 译码"/>
          <p:cNvSpPr txBox="1"/>
          <p:nvPr/>
        </p:nvSpPr>
        <p:spPr>
          <a:xfrm>
            <a:off x="4267200" y="3372917"/>
            <a:ext cx="875895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AR/AW 译码</a:t>
            </a:r>
          </a:p>
        </p:txBody>
      </p:sp>
      <p:sp>
        <p:nvSpPr>
          <p:cNvPr id="73" name="text-020: DEMUX S2"/>
          <p:cNvSpPr txBox="1"/>
          <p:nvPr/>
        </p:nvSpPr>
        <p:spPr>
          <a:xfrm>
            <a:off x="4267200" y="3555797"/>
            <a:ext cx="795326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DEMUX S2</a:t>
            </a:r>
          </a:p>
        </p:txBody>
      </p:sp>
      <p:sp>
        <p:nvSpPr>
          <p:cNvPr id="74" name="rect-012"/>
          <p:cNvSpPr/>
          <p:nvPr/>
        </p:nvSpPr>
        <p:spPr>
          <a:xfrm>
            <a:off x="228600" y="4061460"/>
            <a:ext cx="1600200" cy="48768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-021: S3 · iDMA 数据"/>
          <p:cNvSpPr txBox="1"/>
          <p:nvPr/>
        </p:nvSpPr>
        <p:spPr>
          <a:xfrm>
            <a:off x="350520" y="4185818"/>
            <a:ext cx="1280267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S3 · iDMA 数据</a:t>
            </a:r>
          </a:p>
        </p:txBody>
      </p:sp>
      <p:cxnSp>
        <p:nvCxnSpPr>
          <p:cNvPr id="76" name="line-006"/>
          <p:cNvCxnSpPr/>
          <p:nvPr/>
        </p:nvCxnSpPr>
        <p:spPr>
          <a:xfrm>
            <a:off x="1828800" y="4305300"/>
            <a:ext cx="2362200" cy="0"/>
          </a:xfrm>
          <a:prstGeom prst="line">
            <a:avLst/>
          </a:prstGeom>
          <a:ln w="15240" cap="flat">
            <a:solidFill>
              <a:srgbClr val="8094A6"/>
            </a:solidFill>
            <a:tailEnd type="triangle" w="med" len="med"/>
          </a:ln>
          <a:effectLst/>
        </p:spPr>
      </p:cxnSp>
      <p:sp>
        <p:nvSpPr>
          <p:cNvPr id="77" name="rect-013"/>
          <p:cNvSpPr/>
          <p:nvPr/>
        </p:nvSpPr>
        <p:spPr>
          <a:xfrm>
            <a:off x="4191000" y="4084320"/>
            <a:ext cx="952500" cy="4419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text-022: AR/AW 译码"/>
          <p:cNvSpPr txBox="1"/>
          <p:nvPr/>
        </p:nvSpPr>
        <p:spPr>
          <a:xfrm>
            <a:off x="4267200" y="4134917"/>
            <a:ext cx="875895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AR/AW 译码</a:t>
            </a:r>
          </a:p>
        </p:txBody>
      </p:sp>
      <p:sp>
        <p:nvSpPr>
          <p:cNvPr id="79" name="text-023: DEMUX S3"/>
          <p:cNvSpPr txBox="1"/>
          <p:nvPr/>
        </p:nvSpPr>
        <p:spPr>
          <a:xfrm>
            <a:off x="4267200" y="4317797"/>
            <a:ext cx="795326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DEMUX S3</a:t>
            </a:r>
          </a:p>
        </p:txBody>
      </p:sp>
      <p:sp>
        <p:nvSpPr>
          <p:cNvPr id="80" name="rect-014"/>
          <p:cNvSpPr/>
          <p:nvPr/>
        </p:nvSpPr>
        <p:spPr>
          <a:xfrm>
            <a:off x="228600" y="4823460"/>
            <a:ext cx="1600200" cy="48768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text-024: S4 · Serial Link RX"/>
          <p:cNvSpPr txBox="1"/>
          <p:nvPr/>
        </p:nvSpPr>
        <p:spPr>
          <a:xfrm>
            <a:off x="350520" y="4947818"/>
            <a:ext cx="1510141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S4 · Serial Link RX</a:t>
            </a:r>
          </a:p>
        </p:txBody>
      </p:sp>
      <p:cxnSp>
        <p:nvCxnSpPr>
          <p:cNvPr id="82" name="line-007"/>
          <p:cNvCxnSpPr/>
          <p:nvPr/>
        </p:nvCxnSpPr>
        <p:spPr>
          <a:xfrm>
            <a:off x="1828800" y="5067300"/>
            <a:ext cx="2362200" cy="0"/>
          </a:xfrm>
          <a:prstGeom prst="line">
            <a:avLst/>
          </a:prstGeom>
          <a:ln w="15240" cap="flat">
            <a:solidFill>
              <a:srgbClr val="8094A6"/>
            </a:solidFill>
            <a:tailEnd type="triangle" w="med" len="med"/>
          </a:ln>
          <a:effectLst/>
        </p:spPr>
      </p:cxnSp>
      <p:sp>
        <p:nvSpPr>
          <p:cNvPr id="83" name="rect-015"/>
          <p:cNvSpPr/>
          <p:nvPr/>
        </p:nvSpPr>
        <p:spPr>
          <a:xfrm>
            <a:off x="4191000" y="4846320"/>
            <a:ext cx="952500" cy="4419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text-025: AR/AW 译码"/>
          <p:cNvSpPr txBox="1"/>
          <p:nvPr/>
        </p:nvSpPr>
        <p:spPr>
          <a:xfrm>
            <a:off x="4267200" y="4896917"/>
            <a:ext cx="875895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AR/AW 译码</a:t>
            </a:r>
          </a:p>
        </p:txBody>
      </p:sp>
      <p:sp>
        <p:nvSpPr>
          <p:cNvPr id="85" name="text-026: DEMUX S4"/>
          <p:cNvSpPr txBox="1"/>
          <p:nvPr/>
        </p:nvSpPr>
        <p:spPr>
          <a:xfrm>
            <a:off x="4267200" y="5079797"/>
            <a:ext cx="795326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DEMUX S4</a:t>
            </a:r>
          </a:p>
        </p:txBody>
      </p:sp>
      <p:sp>
        <p:nvSpPr>
          <p:cNvPr id="86" name="rect-016"/>
          <p:cNvSpPr/>
          <p:nvPr/>
        </p:nvSpPr>
        <p:spPr>
          <a:xfrm>
            <a:off x="228600" y="5585460"/>
            <a:ext cx="1600200" cy="48768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text-027: S5 · VGA 取帧"/>
          <p:cNvSpPr txBox="1"/>
          <p:nvPr/>
        </p:nvSpPr>
        <p:spPr>
          <a:xfrm>
            <a:off x="350520" y="5709818"/>
            <a:ext cx="1183053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S5 · VGA 取帧</a:t>
            </a:r>
          </a:p>
        </p:txBody>
      </p:sp>
      <p:cxnSp>
        <p:nvCxnSpPr>
          <p:cNvPr id="88" name="line-008"/>
          <p:cNvCxnSpPr/>
          <p:nvPr/>
        </p:nvCxnSpPr>
        <p:spPr>
          <a:xfrm>
            <a:off x="1828800" y="5829300"/>
            <a:ext cx="2362200" cy="0"/>
          </a:xfrm>
          <a:prstGeom prst="line">
            <a:avLst/>
          </a:prstGeom>
          <a:ln w="15240" cap="flat">
            <a:solidFill>
              <a:srgbClr val="8094A6"/>
            </a:solidFill>
            <a:tailEnd type="triangle" w="med" len="med"/>
          </a:ln>
          <a:effectLst/>
        </p:spPr>
      </p:cxnSp>
      <p:sp>
        <p:nvSpPr>
          <p:cNvPr id="89" name="rect-017"/>
          <p:cNvSpPr/>
          <p:nvPr/>
        </p:nvSpPr>
        <p:spPr>
          <a:xfrm>
            <a:off x="4191000" y="5608320"/>
            <a:ext cx="952500" cy="4419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text-028: AR/AW 译码"/>
          <p:cNvSpPr txBox="1"/>
          <p:nvPr/>
        </p:nvSpPr>
        <p:spPr>
          <a:xfrm>
            <a:off x="4267200" y="5658917"/>
            <a:ext cx="875895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AR/AW 译码</a:t>
            </a:r>
          </a:p>
        </p:txBody>
      </p:sp>
      <p:sp>
        <p:nvSpPr>
          <p:cNvPr id="91" name="text-029: DEMUX S5"/>
          <p:cNvSpPr txBox="1"/>
          <p:nvPr/>
        </p:nvSpPr>
        <p:spPr>
          <a:xfrm>
            <a:off x="4267200" y="5841797"/>
            <a:ext cx="795326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DEMUX S5</a:t>
            </a:r>
          </a:p>
        </p:txBody>
      </p:sp>
      <p:sp>
        <p:nvSpPr>
          <p:cNvPr id="92" name="rect-018"/>
          <p:cNvSpPr/>
          <p:nvPr/>
        </p:nvSpPr>
        <p:spPr>
          <a:xfrm>
            <a:off x="228600" y="6347460"/>
            <a:ext cx="1600200" cy="48768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text-030: S6 · USB DMA"/>
          <p:cNvSpPr txBox="1"/>
          <p:nvPr/>
        </p:nvSpPr>
        <p:spPr>
          <a:xfrm>
            <a:off x="350520" y="6471818"/>
            <a:ext cx="1229868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S6 · USB DMA</a:t>
            </a:r>
          </a:p>
        </p:txBody>
      </p:sp>
      <p:cxnSp>
        <p:nvCxnSpPr>
          <p:cNvPr id="94" name="line-009"/>
          <p:cNvCxnSpPr/>
          <p:nvPr/>
        </p:nvCxnSpPr>
        <p:spPr>
          <a:xfrm>
            <a:off x="1828800" y="6591300"/>
            <a:ext cx="2362200" cy="0"/>
          </a:xfrm>
          <a:prstGeom prst="line">
            <a:avLst/>
          </a:prstGeom>
          <a:ln w="15240" cap="flat">
            <a:solidFill>
              <a:srgbClr val="8094A6"/>
            </a:solidFill>
            <a:tailEnd type="triangle" w="med" len="med"/>
          </a:ln>
          <a:effectLst/>
        </p:spPr>
      </p:cxnSp>
      <p:sp>
        <p:nvSpPr>
          <p:cNvPr id="95" name="rect-019"/>
          <p:cNvSpPr/>
          <p:nvPr/>
        </p:nvSpPr>
        <p:spPr>
          <a:xfrm>
            <a:off x="4191000" y="6370320"/>
            <a:ext cx="952500" cy="4419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text-031: AR/AW 译码"/>
          <p:cNvSpPr txBox="1"/>
          <p:nvPr/>
        </p:nvSpPr>
        <p:spPr>
          <a:xfrm>
            <a:off x="4267200" y="6420917"/>
            <a:ext cx="875895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AR/AW 译码</a:t>
            </a:r>
          </a:p>
        </p:txBody>
      </p:sp>
      <p:sp>
        <p:nvSpPr>
          <p:cNvPr id="97" name="text-032: DEMUX S6"/>
          <p:cNvSpPr txBox="1"/>
          <p:nvPr/>
        </p:nvSpPr>
        <p:spPr>
          <a:xfrm>
            <a:off x="4267200" y="6603797"/>
            <a:ext cx="795326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DEMUX S6</a:t>
            </a:r>
          </a:p>
        </p:txBody>
      </p:sp>
      <p:sp>
        <p:nvSpPr>
          <p:cNvPr id="98" name="text-033: 图中省略部分局部缓冲/适配"/>
          <p:cNvSpPr txBox="1"/>
          <p:nvPr/>
        </p:nvSpPr>
        <p:spPr>
          <a:xfrm>
            <a:off x="2095500" y="2298497"/>
            <a:ext cx="1739360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图中省略部分局部缓冲/适配</a:t>
            </a:r>
          </a:p>
        </p:txBody>
      </p:sp>
      <p:sp>
        <p:nvSpPr>
          <p:cNvPr id="99" name="text-034: 灰线 = 可达路径；彩线 = 请求示例"/>
          <p:cNvSpPr txBox="1"/>
          <p:nvPr/>
        </p:nvSpPr>
        <p:spPr>
          <a:xfrm>
            <a:off x="5349240" y="6832397"/>
            <a:ext cx="2159032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灰线 = 可达路径；彩线 = 请求示例</a:t>
            </a:r>
          </a:p>
        </p:txBody>
      </p:sp>
      <p:sp>
        <p:nvSpPr>
          <p:cNvPr id="100" name="rect-020"/>
          <p:cNvSpPr/>
          <p:nvPr/>
        </p:nvSpPr>
        <p:spPr>
          <a:xfrm>
            <a:off x="7048500" y="1775460"/>
            <a:ext cx="952500" cy="48768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text-035: MUX M0"/>
          <p:cNvSpPr txBox="1"/>
          <p:nvPr/>
        </p:nvSpPr>
        <p:spPr>
          <a:xfrm>
            <a:off x="7193280" y="1809598"/>
            <a:ext cx="756904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MUX M0</a:t>
            </a:r>
          </a:p>
        </p:txBody>
      </p:sp>
      <p:sp>
        <p:nvSpPr>
          <p:cNvPr id="102" name="text-036: 独立仲裁"/>
          <p:cNvSpPr txBox="1"/>
          <p:nvPr/>
        </p:nvSpPr>
        <p:spPr>
          <a:xfrm>
            <a:off x="7162800" y="2007718"/>
            <a:ext cx="72390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独立仲裁</a:t>
            </a:r>
          </a:p>
        </p:txBody>
      </p:sp>
      <p:cxnSp>
        <p:nvCxnSpPr>
          <p:cNvPr id="103" name="line-010"/>
          <p:cNvCxnSpPr/>
          <p:nvPr/>
        </p:nvCxnSpPr>
        <p:spPr>
          <a:xfrm>
            <a:off x="8001000" y="2019300"/>
            <a:ext cx="518160" cy="0"/>
          </a:xfrm>
          <a:prstGeom prst="line">
            <a:avLst/>
          </a:prstGeom>
          <a:ln w="15240" cap="flat">
            <a:solidFill>
              <a:srgbClr val="8094A6"/>
            </a:solidFill>
            <a:tailEnd type="triangle" w="med" len="med"/>
          </a:ln>
          <a:effectLst/>
        </p:spPr>
      </p:cxnSp>
      <p:sp>
        <p:nvSpPr>
          <p:cNvPr id="104" name="rect-021"/>
          <p:cNvSpPr/>
          <p:nvPr/>
        </p:nvSpPr>
        <p:spPr>
          <a:xfrm>
            <a:off x="7048500" y="2766060"/>
            <a:ext cx="952500" cy="48768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text-037: MUX M1"/>
          <p:cNvSpPr txBox="1"/>
          <p:nvPr/>
        </p:nvSpPr>
        <p:spPr>
          <a:xfrm>
            <a:off x="7193280" y="2800198"/>
            <a:ext cx="756904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MUX M1</a:t>
            </a:r>
          </a:p>
        </p:txBody>
      </p:sp>
      <p:sp>
        <p:nvSpPr>
          <p:cNvPr id="106" name="text-038: 独立仲裁"/>
          <p:cNvSpPr txBox="1"/>
          <p:nvPr/>
        </p:nvSpPr>
        <p:spPr>
          <a:xfrm>
            <a:off x="7162800" y="2998318"/>
            <a:ext cx="72390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独立仲裁</a:t>
            </a:r>
          </a:p>
        </p:txBody>
      </p:sp>
      <p:cxnSp>
        <p:nvCxnSpPr>
          <p:cNvPr id="107" name="line-011"/>
          <p:cNvCxnSpPr/>
          <p:nvPr/>
        </p:nvCxnSpPr>
        <p:spPr>
          <a:xfrm>
            <a:off x="8001000" y="3009900"/>
            <a:ext cx="518160" cy="0"/>
          </a:xfrm>
          <a:prstGeom prst="line">
            <a:avLst/>
          </a:prstGeom>
          <a:ln w="15240" cap="flat">
            <a:solidFill>
              <a:srgbClr val="8094A6"/>
            </a:solidFill>
            <a:tailEnd type="triangle" w="med" len="med"/>
          </a:ln>
          <a:effectLst/>
        </p:spPr>
      </p:cxnSp>
      <p:sp>
        <p:nvSpPr>
          <p:cNvPr id="108" name="rect-022"/>
          <p:cNvSpPr/>
          <p:nvPr/>
        </p:nvSpPr>
        <p:spPr>
          <a:xfrm>
            <a:off x="7048500" y="4137660"/>
            <a:ext cx="952500" cy="48768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text-039: MUX M2"/>
          <p:cNvSpPr txBox="1"/>
          <p:nvPr/>
        </p:nvSpPr>
        <p:spPr>
          <a:xfrm>
            <a:off x="7193280" y="4171798"/>
            <a:ext cx="756904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MUX M2</a:t>
            </a:r>
          </a:p>
        </p:txBody>
      </p:sp>
      <p:sp>
        <p:nvSpPr>
          <p:cNvPr id="110" name="text-040: 独立仲裁"/>
          <p:cNvSpPr txBox="1"/>
          <p:nvPr/>
        </p:nvSpPr>
        <p:spPr>
          <a:xfrm>
            <a:off x="7162800" y="4369918"/>
            <a:ext cx="72390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独立仲裁</a:t>
            </a:r>
          </a:p>
        </p:txBody>
      </p:sp>
      <p:cxnSp>
        <p:nvCxnSpPr>
          <p:cNvPr id="111" name="line-012"/>
          <p:cNvCxnSpPr/>
          <p:nvPr/>
        </p:nvCxnSpPr>
        <p:spPr>
          <a:xfrm>
            <a:off x="8001000" y="4381500"/>
            <a:ext cx="518160" cy="0"/>
          </a:xfrm>
          <a:prstGeom prst="line">
            <a:avLst/>
          </a:prstGeom>
          <a:ln w="15240" cap="flat">
            <a:solidFill>
              <a:srgbClr val="8094A6"/>
            </a:solidFill>
            <a:tailEnd type="triangle" w="med" len="med"/>
          </a:ln>
          <a:effectLst/>
        </p:spPr>
      </p:cxnSp>
      <p:sp>
        <p:nvSpPr>
          <p:cNvPr id="112" name="rect-023"/>
          <p:cNvSpPr/>
          <p:nvPr/>
        </p:nvSpPr>
        <p:spPr>
          <a:xfrm>
            <a:off x="7048500" y="5433060"/>
            <a:ext cx="952500" cy="48768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text-041: MUX M3"/>
          <p:cNvSpPr txBox="1"/>
          <p:nvPr/>
        </p:nvSpPr>
        <p:spPr>
          <a:xfrm>
            <a:off x="7193280" y="5467198"/>
            <a:ext cx="756904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MUX M3</a:t>
            </a:r>
          </a:p>
        </p:txBody>
      </p:sp>
      <p:sp>
        <p:nvSpPr>
          <p:cNvPr id="114" name="text-042: 独立仲裁"/>
          <p:cNvSpPr txBox="1"/>
          <p:nvPr/>
        </p:nvSpPr>
        <p:spPr>
          <a:xfrm>
            <a:off x="7162800" y="5665318"/>
            <a:ext cx="72390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独立仲裁</a:t>
            </a:r>
          </a:p>
        </p:txBody>
      </p:sp>
      <p:cxnSp>
        <p:nvCxnSpPr>
          <p:cNvPr id="115" name="line-013"/>
          <p:cNvCxnSpPr/>
          <p:nvPr/>
        </p:nvCxnSpPr>
        <p:spPr>
          <a:xfrm>
            <a:off x="8001000" y="5676900"/>
            <a:ext cx="518160" cy="0"/>
          </a:xfrm>
          <a:prstGeom prst="line">
            <a:avLst/>
          </a:prstGeom>
          <a:ln w="15240" cap="flat">
            <a:solidFill>
              <a:srgbClr val="8094A6"/>
            </a:solidFill>
            <a:tailEnd type="triangle" w="med" len="med"/>
          </a:ln>
          <a:effectLst/>
        </p:spPr>
      </p:cxnSp>
      <p:sp>
        <p:nvSpPr>
          <p:cNvPr id="116" name="rect-024"/>
          <p:cNvSpPr/>
          <p:nvPr/>
        </p:nvSpPr>
        <p:spPr>
          <a:xfrm>
            <a:off x="7048500" y="6347460"/>
            <a:ext cx="952500" cy="48768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text-043: MUX M4"/>
          <p:cNvSpPr txBox="1"/>
          <p:nvPr/>
        </p:nvSpPr>
        <p:spPr>
          <a:xfrm>
            <a:off x="7193280" y="6381598"/>
            <a:ext cx="756904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MUX M4</a:t>
            </a:r>
          </a:p>
        </p:txBody>
      </p:sp>
      <p:sp>
        <p:nvSpPr>
          <p:cNvPr id="118" name="text-044: 独立仲裁"/>
          <p:cNvSpPr txBox="1"/>
          <p:nvPr/>
        </p:nvSpPr>
        <p:spPr>
          <a:xfrm>
            <a:off x="7162800" y="6579718"/>
            <a:ext cx="72390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独立仲裁</a:t>
            </a:r>
          </a:p>
        </p:txBody>
      </p:sp>
      <p:cxnSp>
        <p:nvCxnSpPr>
          <p:cNvPr id="119" name="line-014"/>
          <p:cNvCxnSpPr/>
          <p:nvPr/>
        </p:nvCxnSpPr>
        <p:spPr>
          <a:xfrm>
            <a:off x="8001000" y="6591300"/>
            <a:ext cx="518160" cy="0"/>
          </a:xfrm>
          <a:prstGeom prst="line">
            <a:avLst/>
          </a:prstGeom>
          <a:ln w="15240" cap="flat">
            <a:solidFill>
              <a:srgbClr val="8094A6"/>
            </a:solidFill>
            <a:tailEnd type="triangle" w="med" len="med"/>
          </a:ln>
          <a:effectLst/>
        </p:spPr>
      </p:cxnSp>
      <p:sp>
        <p:nvSpPr>
          <p:cNvPr id="120" name="rect-025"/>
          <p:cNvSpPr/>
          <p:nvPr/>
        </p:nvSpPr>
        <p:spPr>
          <a:xfrm>
            <a:off x="8534400" y="1775460"/>
            <a:ext cx="4038600" cy="48768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text-045: M0 · Debug 目标接口"/>
          <p:cNvSpPr txBox="1"/>
          <p:nvPr/>
        </p:nvSpPr>
        <p:spPr>
          <a:xfrm>
            <a:off x="8671560" y="1775460"/>
            <a:ext cx="2158389" cy="304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M0 · Debug 目标接口</a:t>
            </a:r>
          </a:p>
        </p:txBody>
      </p:sp>
      <p:sp>
        <p:nvSpPr>
          <p:cNvPr id="122" name="text-046: 调试模块地址空间（与 SBA 发起端分开）"/>
          <p:cNvSpPr txBox="1"/>
          <p:nvPr/>
        </p:nvSpPr>
        <p:spPr>
          <a:xfrm>
            <a:off x="8671560" y="2016557"/>
            <a:ext cx="2526018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调试模块地址空间（与 SBA 发起端分开）</a:t>
            </a:r>
          </a:p>
        </p:txBody>
      </p:sp>
      <p:sp>
        <p:nvSpPr>
          <p:cNvPr id="123" name="rect-026"/>
          <p:cNvSpPr/>
          <p:nvPr/>
        </p:nvSpPr>
        <p:spPr>
          <a:xfrm>
            <a:off x="8534400" y="2529840"/>
            <a:ext cx="4038600" cy="960120"/>
          </a:xfrm>
          <a:prstGeom prst="rect">
            <a:avLst/>
          </a:prstGeom>
          <a:solidFill>
            <a:srgbClr val="FFF2E5"/>
          </a:solidFill>
          <a:ln w="15240" cap="flat">
            <a:solidFill>
              <a:srgbClr val="D9B48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text-047: M1 · AXI → Regbus → Reg demux"/>
          <p:cNvSpPr txBox="1"/>
          <p:nvPr/>
        </p:nvSpPr>
        <p:spPr>
          <a:xfrm>
            <a:off x="8671560" y="2560320"/>
            <a:ext cx="3440668" cy="304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M1 · AXI → Regbus → Reg demux</a:t>
            </a:r>
          </a:p>
        </p:txBody>
      </p:sp>
      <p:sp>
        <p:nvSpPr>
          <p:cNvPr id="125" name="text-048: Boot ROM / CLINT / PLIC / SoC regs"/>
          <p:cNvSpPr txBox="1"/>
          <p:nvPr/>
        </p:nvSpPr>
        <p:spPr>
          <a:xfrm>
            <a:off x="8671560" y="2821838"/>
            <a:ext cx="2916257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Boot ROM / CLINT / PLIC / SoC regs</a:t>
            </a:r>
          </a:p>
        </p:txBody>
      </p:sp>
      <p:sp>
        <p:nvSpPr>
          <p:cNvPr id="126" name="text-049: UART / I²C / SPI / GPIO / LLC 控制等"/>
          <p:cNvSpPr txBox="1"/>
          <p:nvPr/>
        </p:nvSpPr>
        <p:spPr>
          <a:xfrm>
            <a:off x="8671560" y="3050438"/>
            <a:ext cx="2875621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UART / I²C / SPI / GPIO / LLC 控制等</a:t>
            </a:r>
          </a:p>
        </p:txBody>
      </p:sp>
      <p:sp>
        <p:nvSpPr>
          <p:cNvPr id="127" name="rect-027"/>
          <p:cNvSpPr/>
          <p:nvPr/>
        </p:nvSpPr>
        <p:spPr>
          <a:xfrm>
            <a:off x="8534400" y="3710940"/>
            <a:ext cx="4038600" cy="1508760"/>
          </a:xfrm>
          <a:prstGeom prst="rect">
            <a:avLst/>
          </a:prstGeom>
          <a:solidFill>
            <a:srgbClr val="E8F2FE"/>
          </a:solidFill>
          <a:ln w="15240" cap="flat">
            <a:solidFill>
              <a:srgbClr val="96B9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text-050: M2 · LLC / SPM 共用一个目标端口"/>
          <p:cNvSpPr txBox="1"/>
          <p:nvPr/>
        </p:nvSpPr>
        <p:spPr>
          <a:xfrm>
            <a:off x="8671560" y="3764280"/>
            <a:ext cx="3252383" cy="304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M2 · LLC / SPM 共用一个目标端口</a:t>
            </a:r>
          </a:p>
        </p:txBody>
      </p:sp>
      <p:sp>
        <p:nvSpPr>
          <p:cNvPr id="129" name="text-051: AMO/LRSC 适配 → cut / 地址重映射 → LLC"/>
          <p:cNvSpPr txBox="1"/>
          <p:nvPr/>
        </p:nvSpPr>
        <p:spPr>
          <a:xfrm>
            <a:off x="8671560" y="4057498"/>
            <a:ext cx="30380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AMO/LRSC 适配 → cut / 地址重映射 → LLC</a:t>
            </a:r>
          </a:p>
        </p:txBody>
      </p:sp>
      <p:sp>
        <p:nvSpPr>
          <p:cNvPr id="130" name="text-052: SPM：128 KiB，含 cached / uncached 别名"/>
          <p:cNvSpPr txBox="1"/>
          <p:nvPr/>
        </p:nvSpPr>
        <p:spPr>
          <a:xfrm>
            <a:off x="8671560" y="4286098"/>
            <a:ext cx="3090982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SPM：128 KiB，含 cached / uncached 别名</a:t>
            </a:r>
          </a:p>
        </p:txBody>
      </p:sp>
      <p:sp>
        <p:nvSpPr>
          <p:cNvPr id="131" name="text-053: 外存窗口：0x8000_0000 ≤ addr &lt; 0x1_0000_0000"/>
          <p:cNvSpPr txBox="1"/>
          <p:nvPr/>
        </p:nvSpPr>
        <p:spPr>
          <a:xfrm>
            <a:off x="8671560" y="4531157"/>
            <a:ext cx="3158264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外存窗口：0x8000_0000 ≤ addr &lt; 0x1_0000_0000</a:t>
            </a:r>
          </a:p>
        </p:txBody>
      </p:sp>
      <p:sp>
        <p:nvSpPr>
          <p:cNvPr id="132" name="text-054: LLC 下游 AXI 端口 → 平台 DDR 控制器"/>
          <p:cNvSpPr txBox="1"/>
          <p:nvPr/>
        </p:nvSpPr>
        <p:spPr>
          <a:xfrm>
            <a:off x="8671560" y="4781398"/>
            <a:ext cx="2685752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LLC 下游 AXI 端口 → 平台 DDR 控制器</a:t>
            </a:r>
          </a:p>
        </p:txBody>
      </p:sp>
      <p:sp>
        <p:nvSpPr>
          <p:cNvPr id="133" name="text-055: SPM / cache 命中访问可在片内完成"/>
          <p:cNvSpPr txBox="1"/>
          <p:nvPr/>
        </p:nvSpPr>
        <p:spPr>
          <a:xfrm>
            <a:off x="8671560" y="4995977"/>
            <a:ext cx="2230624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SPM / cache 命中访问可在片内完成</a:t>
            </a:r>
          </a:p>
        </p:txBody>
      </p:sp>
      <p:sp>
        <p:nvSpPr>
          <p:cNvPr id="134" name="rect-028"/>
          <p:cNvSpPr/>
          <p:nvPr/>
        </p:nvSpPr>
        <p:spPr>
          <a:xfrm>
            <a:off x="8534400" y="5433060"/>
            <a:ext cx="4038600" cy="48768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text-056: M3 · iDMA 控制接口"/>
          <p:cNvSpPr txBox="1"/>
          <p:nvPr/>
        </p:nvSpPr>
        <p:spPr>
          <a:xfrm>
            <a:off x="8671560" y="5440680"/>
            <a:ext cx="2066103" cy="304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M3 · iDMA 控制接口</a:t>
            </a:r>
          </a:p>
        </p:txBody>
      </p:sp>
      <p:sp>
        <p:nvSpPr>
          <p:cNvPr id="136" name="text-057: 0x0100_0000 起；与 DMA 数据发起端分开"/>
          <p:cNvSpPr txBox="1"/>
          <p:nvPr/>
        </p:nvSpPr>
        <p:spPr>
          <a:xfrm>
            <a:off x="8671560" y="5689397"/>
            <a:ext cx="2663678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0x0100_0000 起；与 DMA 数据发起端分开</a:t>
            </a:r>
          </a:p>
        </p:txBody>
      </p:sp>
      <p:sp>
        <p:nvSpPr>
          <p:cNvPr id="137" name="rect-029"/>
          <p:cNvSpPr/>
          <p:nvPr/>
        </p:nvSpPr>
        <p:spPr>
          <a:xfrm>
            <a:off x="8534400" y="6316980"/>
            <a:ext cx="4038600" cy="54864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text-058: M4 · Serial Link TX 目标窗口"/>
          <p:cNvSpPr txBox="1"/>
          <p:nvPr/>
        </p:nvSpPr>
        <p:spPr>
          <a:xfrm>
            <a:off x="8671560" y="6324600"/>
            <a:ext cx="2812673" cy="304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M4 · Serial Link TX 目标窗口</a:t>
            </a:r>
          </a:p>
        </p:txBody>
      </p:sp>
      <p:sp>
        <p:nvSpPr>
          <p:cNvPr id="139" name="text-059: 0x1_0000_0000 ≤ addr &lt; 0x2_0000_0000"/>
          <p:cNvSpPr txBox="1"/>
          <p:nvPr/>
        </p:nvSpPr>
        <p:spPr>
          <a:xfrm>
            <a:off x="8671560" y="6588557"/>
            <a:ext cx="2644592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0x1_0000_0000 ≤ addr &lt; 0x2_0000_0000</a:t>
            </a:r>
          </a:p>
        </p:txBody>
      </p:sp>
      <p:sp>
        <p:nvSpPr>
          <p:cNvPr id="140" name="rect-030"/>
          <p:cNvSpPr/>
          <p:nvPr/>
        </p:nvSpPr>
        <p:spPr>
          <a:xfrm>
            <a:off x="228600" y="7246620"/>
            <a:ext cx="12344400" cy="132588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CBD9E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text-060: 如何读这张图"/>
          <p:cNvSpPr txBox="1"/>
          <p:nvPr/>
        </p:nvSpPr>
        <p:spPr>
          <a:xfrm>
            <a:off x="381000" y="7284720"/>
            <a:ext cx="1333500" cy="304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如何读这张图</a:t>
            </a:r>
          </a:p>
        </p:txBody>
      </p:sp>
      <p:sp>
        <p:nvSpPr>
          <p:cNvPr id="142" name="text-061: ① 每个输入按地址分流；每个输出独立仲裁。访问不同输出可并行，争同一输出才在该处"/>
          <p:cNvSpPr txBox="1"/>
          <p:nvPr/>
        </p:nvSpPr>
        <p:spPr>
          <a:xfrm>
            <a:off x="381000" y="7593178"/>
            <a:ext cx="6268379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① 每个输入按地址分流；每个输出独立仲裁。访问不同输出可并行，争同一输出才在该处竞争。</a:t>
            </a:r>
          </a:p>
        </p:txBody>
      </p:sp>
      <p:sp>
        <p:nvSpPr>
          <p:cNvPr id="143" name="text-062: ② 线代表 AXI 通道组：AR/AW/W 向目标，R/B 返回；未映射地址进入"/>
          <p:cNvSpPr txBox="1"/>
          <p:nvPr/>
        </p:nvSpPr>
        <p:spPr>
          <a:xfrm>
            <a:off x="381000" y="7814158"/>
            <a:ext cx="6911804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② 线代表 AXI 通道组：AR/AW/W 向目标，R/B 返回；未映射地址进入各输入的错误响应单元（图略）。</a:t>
            </a:r>
          </a:p>
        </p:txBody>
      </p:sp>
      <p:sp>
        <p:nvSpPr>
          <p:cNvPr id="144" name="text-063: ③ 从 Crossbar 看：S 是 slave port（接发起者），M 是 "/>
          <p:cNvSpPr txBox="1"/>
          <p:nvPr/>
        </p:nvSpPr>
        <p:spPr>
          <a:xfrm>
            <a:off x="381000" y="8035138"/>
            <a:ext cx="7112782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③ 从 Crossbar 看：S 是 slave port（接发起者），M 是 master port（接目标），所以名称看起来反过来。</a:t>
            </a:r>
          </a:p>
        </p:txBody>
      </p:sp>
      <p:sp>
        <p:nvSpPr>
          <p:cNvPr id="145" name="text-064: ④ VCU118 当前加源脚本：SerialLink=0、USB=0、Ara=1"/>
          <p:cNvSpPr txBox="1"/>
          <p:nvPr/>
        </p:nvSpPr>
        <p:spPr>
          <a:xfrm>
            <a:off x="381000" y="8256118"/>
            <a:ext cx="6958798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④ VCU118 当前加源脚本：SerialLink=0、USB=0、Ara=1 ⇒ 5 × 4；RT 同样关闭。图为仿真 Ara 配置。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