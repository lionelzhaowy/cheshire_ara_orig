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801600" cy="8001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5689600" y="205536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742176" y="201980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5689600" y="2887472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742176" y="285191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5689600" y="3719576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742176" y="368401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5689600" y="45516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742176" y="45161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5689600" y="5383784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742176" y="53482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689600" y="6215888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742176" y="618032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地址路由窗口与物理资源的映射"/>
          <p:cNvSpPr txBox="1"/>
          <p:nvPr/>
        </p:nvSpPr>
        <p:spPr>
          <a:xfrm>
            <a:off x="483616" y="271109"/>
            <a:ext cx="38404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地址路由窗口与物理资源的映射</a:t>
            </a:r>
          </a:p>
        </p:txBody>
      </p:sp>
      <p:sp>
        <p:nvSpPr>
          <p:cNvPr id="19" name="text-018: 区间含起点、不含终点；图不按地址跨度比例。容量、权限与就绪状态分别判断。"/>
          <p:cNvSpPr txBox="1"/>
          <p:nvPr/>
        </p:nvSpPr>
        <p:spPr>
          <a:xfrm>
            <a:off x="483616" y="676778"/>
            <a:ext cx="60523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区间含起点、不含终点；图不按地址跨度比例。容量、权限与就绪状态分别判断。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cheshire_pkg.sv::gen_axi_out / gen_re"/>
          <p:cNvSpPr txBox="1"/>
          <p:nvPr/>
        </p:nvSpPr>
        <p:spPr>
          <a:xfrm>
            <a:off x="341376" y="7726477"/>
            <a:ext cx="489474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源码：cheshire_pkg.sv::gen_axi_out / gen_reg_out / get_llc_size；默认配置</a:t>
            </a:r>
          </a:p>
        </p:txBody>
      </p:sp>
      <p:sp>
        <p:nvSpPr>
          <p:cNvPr id="22" name="text-021: AXI 地址范围"/>
          <p:cNvSpPr txBox="1"/>
          <p:nvPr/>
        </p:nvSpPr>
        <p:spPr>
          <a:xfrm>
            <a:off x="462280" y="1250574"/>
            <a:ext cx="127853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地址范围</a:t>
            </a:r>
          </a:p>
        </p:txBody>
      </p:sp>
      <p:sp>
        <p:nvSpPr>
          <p:cNvPr id="23" name="text-022: 路由去向与实际资源"/>
          <p:cNvSpPr txBox="1"/>
          <p:nvPr/>
        </p:nvSpPr>
        <p:spPr>
          <a:xfrm>
            <a:off x="7183120" y="1250574"/>
            <a:ext cx="192024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路由去向与实际资源</a:t>
            </a:r>
          </a:p>
        </p:txBody>
      </p:sp>
      <p:sp>
        <p:nvSpPr>
          <p:cNvPr id="24" name="rect-023"/>
          <p:cNvSpPr/>
          <p:nvPr/>
        </p:nvSpPr>
        <p:spPr>
          <a:xfrm>
            <a:off x="462280" y="174244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46228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0x0000_0000 … 0x0004_0000"/>
          <p:cNvSpPr txBox="1"/>
          <p:nvPr/>
        </p:nvSpPr>
        <p:spPr>
          <a:xfrm>
            <a:off x="583184" y="1770319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0x0000_0000 … 0x0004_0000</a:t>
            </a:r>
          </a:p>
        </p:txBody>
      </p:sp>
      <p:sp>
        <p:nvSpPr>
          <p:cNvPr id="27" name="rect-026"/>
          <p:cNvSpPr/>
          <p:nvPr/>
        </p:nvSpPr>
        <p:spPr>
          <a:xfrm>
            <a:off x="6827520" y="174244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6827520" y="1742440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Debug 目标"/>
          <p:cNvSpPr txBox="1"/>
          <p:nvPr/>
        </p:nvSpPr>
        <p:spPr>
          <a:xfrm>
            <a:off x="6948424" y="1770319"/>
            <a:ext cx="11235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目标</a:t>
            </a:r>
          </a:p>
        </p:txBody>
      </p:sp>
      <p:sp>
        <p:nvSpPr>
          <p:cNvPr id="30" name="text-029: 256 KiB 地址窗口；与 Debug SBA 发起口不同"/>
          <p:cNvSpPr txBox="1"/>
          <p:nvPr/>
        </p:nvSpPr>
        <p:spPr>
          <a:xfrm>
            <a:off x="6948424" y="2057075"/>
            <a:ext cx="334047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KiB 地址窗口；与 Debug SBA 发起口不同</a:t>
            </a:r>
          </a:p>
        </p:txBody>
      </p:sp>
      <p:sp>
        <p:nvSpPr>
          <p:cNvPr id="31" name="rect-030"/>
          <p:cNvSpPr/>
          <p:nvPr/>
        </p:nvSpPr>
        <p:spPr>
          <a:xfrm>
            <a:off x="462280" y="2574544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6228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0x0100_0000 … 0x0100_1000"/>
          <p:cNvSpPr txBox="1"/>
          <p:nvPr/>
        </p:nvSpPr>
        <p:spPr>
          <a:xfrm>
            <a:off x="583184" y="2602423"/>
            <a:ext cx="2823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… 0x0100_1000</a:t>
            </a:r>
          </a:p>
        </p:txBody>
      </p:sp>
      <p:sp>
        <p:nvSpPr>
          <p:cNvPr id="34" name="rect-033"/>
          <p:cNvSpPr/>
          <p:nvPr/>
        </p:nvSpPr>
        <p:spPr>
          <a:xfrm>
            <a:off x="6827520" y="2574544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827520" y="2574544"/>
            <a:ext cx="35560" cy="625856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iDMA 控制"/>
          <p:cNvSpPr txBox="1"/>
          <p:nvPr/>
        </p:nvSpPr>
        <p:spPr>
          <a:xfrm>
            <a:off x="6948424" y="2602423"/>
            <a:ext cx="10312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控制</a:t>
            </a:r>
          </a:p>
        </p:txBody>
      </p:sp>
      <p:sp>
        <p:nvSpPr>
          <p:cNvPr id="37" name="text-036: 4 KiB 控制窗口；数据传输使用独立发起口"/>
          <p:cNvSpPr txBox="1"/>
          <p:nvPr/>
        </p:nvSpPr>
        <p:spPr>
          <a:xfrm>
            <a:off x="6948424" y="2889179"/>
            <a:ext cx="30787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KiB 控制窗口；数据传输使用独立发起口</a:t>
            </a:r>
          </a:p>
        </p:txBody>
      </p:sp>
      <p:sp>
        <p:nvSpPr>
          <p:cNvPr id="38" name="rect-037"/>
          <p:cNvSpPr/>
          <p:nvPr/>
        </p:nvSpPr>
        <p:spPr>
          <a:xfrm>
            <a:off x="462280" y="3406648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6228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0x0200_0000 … 0x0C00_0000"/>
          <p:cNvSpPr txBox="1"/>
          <p:nvPr/>
        </p:nvSpPr>
        <p:spPr>
          <a:xfrm>
            <a:off x="583184" y="3434527"/>
            <a:ext cx="28276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0x0200_0000 … 0x0C00_0000</a:t>
            </a:r>
          </a:p>
        </p:txBody>
      </p:sp>
      <p:sp>
        <p:nvSpPr>
          <p:cNvPr id="41" name="rect-040"/>
          <p:cNvSpPr/>
          <p:nvPr/>
        </p:nvSpPr>
        <p:spPr>
          <a:xfrm>
            <a:off x="6827520" y="3406648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6827520" y="3406648"/>
            <a:ext cx="35560" cy="62585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Reg 桥 → 二级译码"/>
          <p:cNvSpPr txBox="1"/>
          <p:nvPr/>
        </p:nvSpPr>
        <p:spPr>
          <a:xfrm>
            <a:off x="6948424" y="3434527"/>
            <a:ext cx="1767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桥 → 二级译码</a:t>
            </a:r>
          </a:p>
        </p:txBody>
      </p:sp>
      <p:sp>
        <p:nvSpPr>
          <p:cNvPr id="44" name="text-043: 160 MiB 总窗口；包含空洞，不是连续 RAM"/>
          <p:cNvSpPr txBox="1"/>
          <p:nvPr/>
        </p:nvSpPr>
        <p:spPr>
          <a:xfrm>
            <a:off x="6948424" y="3721283"/>
            <a:ext cx="31878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160 MiB 总窗口；包含空洞，不是连续 RAM</a:t>
            </a:r>
          </a:p>
        </p:txBody>
      </p:sp>
      <p:sp>
        <p:nvSpPr>
          <p:cNvPr id="45" name="rect-044"/>
          <p:cNvSpPr/>
          <p:nvPr/>
        </p:nvSpPr>
        <p:spPr>
          <a:xfrm>
            <a:off x="462280" y="4238752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6228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0x1000_0000 / 0x1400_0000"/>
          <p:cNvSpPr txBox="1"/>
          <p:nvPr/>
        </p:nvSpPr>
        <p:spPr>
          <a:xfrm>
            <a:off x="583184" y="4266631"/>
            <a:ext cx="27351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0x1000_0000 / 0x1400_0000</a:t>
            </a:r>
          </a:p>
        </p:txBody>
      </p:sp>
      <p:sp>
        <p:nvSpPr>
          <p:cNvPr id="48" name="rect-047"/>
          <p:cNvSpPr/>
          <p:nvPr/>
        </p:nvSpPr>
        <p:spPr>
          <a:xfrm>
            <a:off x="6827520" y="4238752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827520" y="4238752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同一 LLC / SPM 阵列"/>
          <p:cNvSpPr txBox="1"/>
          <p:nvPr/>
        </p:nvSpPr>
        <p:spPr>
          <a:xfrm>
            <a:off x="6948424" y="4266631"/>
            <a:ext cx="19112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 LLC / SPM 阵列</a:t>
            </a:r>
          </a:p>
        </p:txBody>
      </p:sp>
      <p:sp>
        <p:nvSpPr>
          <p:cNvPr id="51" name="text-050: 默认每个 SPM 别名各 128 KiB；并非双份容量"/>
          <p:cNvSpPr txBox="1"/>
          <p:nvPr/>
        </p:nvSpPr>
        <p:spPr>
          <a:xfrm>
            <a:off x="6948424" y="4553387"/>
            <a:ext cx="33598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默认每个 SPM 别名各 128 KiB；并非双份容量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5070856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0x8000_0000 … 0x1_0000_0000"/>
          <p:cNvSpPr txBox="1"/>
          <p:nvPr/>
        </p:nvSpPr>
        <p:spPr>
          <a:xfrm>
            <a:off x="583184" y="5098735"/>
            <a:ext cx="30273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0x8000_0000 … 0x1_0000_0000</a:t>
            </a:r>
          </a:p>
        </p:txBody>
      </p:sp>
      <p:sp>
        <p:nvSpPr>
          <p:cNvPr id="55" name="rect-054"/>
          <p:cNvSpPr/>
          <p:nvPr/>
        </p:nvSpPr>
        <p:spPr>
          <a:xfrm>
            <a:off x="6827520" y="5070856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827520" y="5070856"/>
            <a:ext cx="35560" cy="62585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LLC 下游主存"/>
          <p:cNvSpPr txBox="1"/>
          <p:nvPr/>
        </p:nvSpPr>
        <p:spPr>
          <a:xfrm>
            <a:off x="6948424" y="5098735"/>
            <a:ext cx="1279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LLC 下游主存</a:t>
            </a:r>
          </a:p>
        </p:txBody>
      </p:sp>
      <p:sp>
        <p:nvSpPr>
          <p:cNvPr id="58" name="text-057: 2 GiB 路由窗；实际 DDR 容量取决于平台"/>
          <p:cNvSpPr txBox="1"/>
          <p:nvPr/>
        </p:nvSpPr>
        <p:spPr>
          <a:xfrm>
            <a:off x="6948424" y="5385491"/>
            <a:ext cx="301254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 GiB 路由窗；实际 DDR 容量取决于平台</a:t>
            </a:r>
          </a:p>
        </p:txBody>
      </p:sp>
      <p:sp>
        <p:nvSpPr>
          <p:cNvPr id="59" name="rect-058"/>
          <p:cNvSpPr/>
          <p:nvPr/>
        </p:nvSpPr>
        <p:spPr>
          <a:xfrm>
            <a:off x="462280" y="5902960"/>
            <a:ext cx="522732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46228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0x1_0000_0000 … 0x2_0000_0000"/>
          <p:cNvSpPr txBox="1"/>
          <p:nvPr/>
        </p:nvSpPr>
        <p:spPr>
          <a:xfrm>
            <a:off x="583184" y="5930839"/>
            <a:ext cx="32306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0x1_0000_0000 … 0x2_0000_0000</a:t>
            </a:r>
          </a:p>
        </p:txBody>
      </p:sp>
      <p:sp>
        <p:nvSpPr>
          <p:cNvPr id="62" name="rect-061"/>
          <p:cNvSpPr/>
          <p:nvPr/>
        </p:nvSpPr>
        <p:spPr>
          <a:xfrm>
            <a:off x="6827520" y="5902960"/>
            <a:ext cx="5511800" cy="625856"/>
          </a:xfrm>
          <a:prstGeom prst="roundRect">
            <a:avLst>
              <a:gd name="adj" fmla="val 795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6827520" y="5902960"/>
            <a:ext cx="35560" cy="62585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Serial Link TX"/>
          <p:cNvSpPr txBox="1"/>
          <p:nvPr/>
        </p:nvSpPr>
        <p:spPr>
          <a:xfrm>
            <a:off x="6948424" y="5930839"/>
            <a:ext cx="12781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Serial Link TX</a:t>
            </a:r>
          </a:p>
        </p:txBody>
      </p:sp>
      <p:sp>
        <p:nvSpPr>
          <p:cNvPr id="65" name="text-064: 4 GiB 对端窗口；受配置与地址映射约束"/>
          <p:cNvSpPr txBox="1"/>
          <p:nvPr/>
        </p:nvSpPr>
        <p:spPr>
          <a:xfrm>
            <a:off x="6948424" y="6217595"/>
            <a:ext cx="29285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4 GiB 对端窗口；受配置与地址映射约束</a:t>
            </a:r>
          </a:p>
        </p:txBody>
      </p:sp>
      <p:sp>
        <p:nvSpPr>
          <p:cNvPr id="66" name="text-065: 同一目标可有多个地址规则；关闭设备不等于其上层总窗口消失。未匹配访问应完成错误应"/>
          <p:cNvSpPr txBox="1"/>
          <p:nvPr/>
        </p:nvSpPr>
        <p:spPr>
          <a:xfrm>
            <a:off x="568960" y="6919976"/>
            <a:ext cx="7645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同一目标可有多个地址规则；关闭设备不等于其上层总窗口消失。未匹配访问应完成错误应答。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863080" y="2524760"/>
            <a:ext cx="5476240" cy="3058160"/>
          </a:xfrm>
          <a:prstGeom prst="roundRect">
            <a:avLst>
              <a:gd name="adj" fmla="val 279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77800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74244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5148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325729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51612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80060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249920" y="3783584"/>
            <a:ext cx="1351280" cy="554736"/>
          </a:xfrm>
          <a:custGeom>
            <a:avLst/>
            <a:gdLst/>
            <a:ahLst/>
            <a:cxnLst/>
            <a:rect l="0" t="0" r="r" b="b"/>
            <a:pathLst>
              <a:path w="1351280" h="554736">
                <a:moveTo>
                  <a:pt x="1351280" y="0"/>
                </a:moveTo>
                <a:lnTo>
                  <a:pt x="1351280" y="270256"/>
                </a:lnTo>
                <a:lnTo>
                  <a:pt x="0" y="270256"/>
                </a:lnTo>
                <a:lnTo>
                  <a:pt x="0" y="55473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821436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9423400" y="4747260"/>
            <a:ext cx="391160" cy="1"/>
          </a:xfrm>
          <a:custGeom>
            <a:avLst/>
            <a:gdLst/>
            <a:ahLst/>
            <a:cxnLst/>
            <a:rect l="0" t="0" r="r" b="b"/>
            <a:pathLst>
              <a:path w="391160" h="1">
                <a:moveTo>
                  <a:pt x="0" y="0"/>
                </a:move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9729216" y="47117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0988040" y="3783584"/>
            <a:ext cx="320040" cy="554736"/>
          </a:xfrm>
          <a:custGeom>
            <a:avLst/>
            <a:gdLst/>
            <a:ahLst/>
            <a:cxnLst/>
            <a:rect l="0" t="0" r="r" b="b"/>
            <a:pathLst>
              <a:path w="320040" h="554736">
                <a:moveTo>
                  <a:pt x="0" y="554736"/>
                </a:moveTo>
                <a:lnTo>
                  <a:pt x="0" y="234696"/>
                </a:lnTo>
                <a:lnTo>
                  <a:pt x="320040" y="234696"/>
                </a:lnTo>
                <a:lnTo>
                  <a:pt x="3200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11272520" y="3783584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312928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309372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9601200" y="2119376"/>
            <a:ext cx="1" cy="867664"/>
          </a:xfrm>
          <a:custGeom>
            <a:avLst/>
            <a:gdLst/>
            <a:ahLst/>
            <a:cxnLst/>
            <a:rect l="0" t="0" r="r" b="b"/>
            <a:pathLst>
              <a:path w="1" h="867664">
                <a:moveTo>
                  <a:pt x="0" y="0"/>
                </a:moveTo>
                <a:lnTo>
                  <a:pt x="0" y="86766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9565640" y="29016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867400" y="5369560"/>
            <a:ext cx="533400" cy="462280"/>
          </a:xfrm>
          <a:custGeom>
            <a:avLst/>
            <a:gdLst/>
            <a:ahLst/>
            <a:cxnLst/>
            <a:rect l="0" t="0" r="r" b="b"/>
            <a:pathLst>
              <a:path w="533400" h="462280">
                <a:moveTo>
                  <a:pt x="0" y="0"/>
                </a:moveTo>
                <a:lnTo>
                  <a:pt x="533400" y="0"/>
                </a:lnTo>
                <a:lnTo>
                  <a:pt x="53340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6578600" y="5369560"/>
            <a:ext cx="284480" cy="462280"/>
          </a:xfrm>
          <a:custGeom>
            <a:avLst/>
            <a:gdLst/>
            <a:ahLst/>
            <a:cxnLst/>
            <a:rect l="0" t="0" r="r" b="b"/>
            <a:pathLst>
              <a:path w="284480" h="462280">
                <a:moveTo>
                  <a:pt x="284480" y="0"/>
                </a:moveTo>
                <a:lnTo>
                  <a:pt x="0" y="0"/>
                </a:lnTo>
                <a:lnTo>
                  <a:pt x="0" y="462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65430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line-027"/>
          <p:cNvSpPr/>
          <p:nvPr/>
        </p:nvSpPr>
        <p:spPr>
          <a:xfrm>
            <a:off x="5049520" y="5582920"/>
            <a:ext cx="391160" cy="248920"/>
          </a:xfrm>
          <a:custGeom>
            <a:avLst/>
            <a:gdLst/>
            <a:ahLst/>
            <a:cxnLst/>
            <a:rect l="0" t="0" r="r" b="b"/>
            <a:pathLst>
              <a:path w="391160" h="248920">
                <a:moveTo>
                  <a:pt x="0" y="248920"/>
                </a:moveTo>
                <a:lnTo>
                  <a:pt x="0" y="106680"/>
                </a:lnTo>
                <a:lnTo>
                  <a:pt x="391160" y="106680"/>
                </a:lnTo>
                <a:lnTo>
                  <a:pt x="39116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gon-028"/>
          <p:cNvSpPr/>
          <p:nvPr/>
        </p:nvSpPr>
        <p:spPr>
          <a:xfrm>
            <a:off x="54051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29"/>
          <p:cNvSpPr/>
          <p:nvPr/>
        </p:nvSpPr>
        <p:spPr>
          <a:xfrm>
            <a:off x="7396480" y="5582920"/>
            <a:ext cx="355600" cy="248920"/>
          </a:xfrm>
          <a:custGeom>
            <a:avLst/>
            <a:gdLst/>
            <a:ahLst/>
            <a:cxnLst/>
            <a:rect l="0" t="0" r="r" b="b"/>
            <a:pathLst>
              <a:path w="355600" h="248920">
                <a:moveTo>
                  <a:pt x="355600" y="248920"/>
                </a:moveTo>
                <a:lnTo>
                  <a:pt x="355600" y="106680"/>
                </a:lnTo>
                <a:lnTo>
                  <a:pt x="0" y="1066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7360920" y="558292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1"/>
          <p:cNvSpPr/>
          <p:nvPr/>
        </p:nvSpPr>
        <p:spPr>
          <a:xfrm>
            <a:off x="312928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gon-032"/>
          <p:cNvSpPr/>
          <p:nvPr/>
        </p:nvSpPr>
        <p:spPr>
          <a:xfrm>
            <a:off x="309372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9601200" y="5582920"/>
            <a:ext cx="1" cy="1031240"/>
          </a:xfrm>
          <a:custGeom>
            <a:avLst/>
            <a:gdLst/>
            <a:ahLst/>
            <a:cxnLst/>
            <a:rect l="0" t="0" r="r" b="b"/>
            <a:pathLst>
              <a:path w="1" h="1031240">
                <a:moveTo>
                  <a:pt x="0" y="0"/>
                </a:moveTo>
                <a:lnTo>
                  <a:pt x="0" y="10312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9565640" y="6528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Ara 内部：向量元素分散到 lanes，再重排回内存"/>
          <p:cNvSpPr txBox="1"/>
          <p:nvPr/>
        </p:nvSpPr>
        <p:spPr>
          <a:xfrm>
            <a:off x="483616" y="271109"/>
            <a:ext cx="573349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Ara 内部：向量元素分散到 lanes，再重排回内存</a:t>
            </a:r>
          </a:p>
        </p:txBody>
      </p:sp>
      <p:sp>
        <p:nvSpPr>
          <p:cNvPr id="37" name="text-036: 示例：VLEN=2048、2 lanes、32 个向量寄存器；每个寄存器 256"/>
          <p:cNvSpPr txBox="1"/>
          <p:nvPr/>
        </p:nvSpPr>
        <p:spPr>
          <a:xfrm>
            <a:off x="483616" y="676778"/>
            <a:ext cx="6494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示例：VLEN=2048、2 lanes、32 个向量寄存器；每个寄存器 256 B，VRF 总计 8 KiB。</a:t>
            </a:r>
          </a:p>
        </p:txBody>
      </p:sp>
      <p:sp>
        <p:nvSpPr>
          <p:cNvPr id="38" name="text-03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9" name="text-038: 源码：ara.sv / lane.sv / vlsu.sv；数据分布示意，不表示"/>
          <p:cNvSpPr txBox="1"/>
          <p:nvPr/>
        </p:nvSpPr>
        <p:spPr>
          <a:xfrm>
            <a:off x="341376" y="7726477"/>
            <a:ext cx="512152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源码：ara.sv / lane.sv / vlsu.sv；数据分布示意，不表示每周期恰好完成一元素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1422400"/>
            <a:ext cx="11948160" cy="696976"/>
          </a:xfrm>
          <a:prstGeom prst="roundRect">
            <a:avLst>
              <a:gd name="adj" fmla="val 71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1422400"/>
            <a:ext cx="35560" cy="696976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ispatcher → sequencer"/>
          <p:cNvSpPr txBox="1"/>
          <p:nvPr/>
        </p:nvSpPr>
        <p:spPr>
          <a:xfrm>
            <a:off x="512064" y="1450279"/>
            <a:ext cx="21680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dispatcher → sequencer</a:t>
            </a:r>
          </a:p>
        </p:txBody>
      </p:sp>
      <p:sp>
        <p:nvSpPr>
          <p:cNvPr id="43" name="text-042: vtype / vl / vstart → 依赖跟踪、功能单元发出与完成汇总"/>
          <p:cNvSpPr txBox="1"/>
          <p:nvPr/>
        </p:nvSpPr>
        <p:spPr>
          <a:xfrm>
            <a:off x="512064" y="1721673"/>
            <a:ext cx="44770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vtype / vl / vstart → 依赖跟踪、功能单元发出与完成汇总</a:t>
            </a:r>
          </a:p>
        </p:txBody>
      </p:sp>
      <p:sp>
        <p:nvSpPr>
          <p:cNvPr id="44" name="text-043: lane 0：VRF 4 KiB"/>
          <p:cNvSpPr txBox="1"/>
          <p:nvPr/>
        </p:nvSpPr>
        <p:spPr>
          <a:xfrm>
            <a:off x="51917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0：VRF 4 KiB</a:t>
            </a:r>
          </a:p>
        </p:txBody>
      </p:sp>
      <p:sp>
        <p:nvSpPr>
          <p:cNvPr id="45" name="rect-044"/>
          <p:cNvSpPr/>
          <p:nvPr/>
        </p:nvSpPr>
        <p:spPr>
          <a:xfrm>
            <a:off x="60452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0452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分布式寄存器字节"/>
          <p:cNvSpPr txBox="1"/>
          <p:nvPr/>
        </p:nvSpPr>
        <p:spPr>
          <a:xfrm>
            <a:off x="72542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48" name="text-047: e32 元素 0、2、4、6 …"/>
          <p:cNvSpPr txBox="1"/>
          <p:nvPr/>
        </p:nvSpPr>
        <p:spPr>
          <a:xfrm>
            <a:off x="72542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0、2、4、6 …</a:t>
            </a:r>
          </a:p>
        </p:txBody>
      </p:sp>
      <p:sp>
        <p:nvSpPr>
          <p:cNvPr id="49" name="text-048: VLEN 与 lane 数共同决定存储分片"/>
          <p:cNvSpPr txBox="1"/>
          <p:nvPr/>
        </p:nvSpPr>
        <p:spPr>
          <a:xfrm>
            <a:off x="72542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50" name="rect-049"/>
          <p:cNvSpPr/>
          <p:nvPr/>
        </p:nvSpPr>
        <p:spPr>
          <a:xfrm>
            <a:off x="60452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0452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操作数队列 → ALU"/>
          <p:cNvSpPr txBox="1"/>
          <p:nvPr/>
        </p:nvSpPr>
        <p:spPr>
          <a:xfrm>
            <a:off x="72542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53" name="text-052: 整数 / MUL / FPU"/>
          <p:cNvSpPr txBox="1"/>
          <p:nvPr/>
        </p:nvSpPr>
        <p:spPr>
          <a:xfrm>
            <a:off x="72542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54" name="rect-053"/>
          <p:cNvSpPr/>
          <p:nvPr/>
        </p:nvSpPr>
        <p:spPr>
          <a:xfrm>
            <a:off x="334264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34264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结果写回 VRF"/>
          <p:cNvSpPr txBox="1"/>
          <p:nvPr/>
        </p:nvSpPr>
        <p:spPr>
          <a:xfrm>
            <a:off x="346354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57" name="text-056: 按目标寄存器归位"/>
          <p:cNvSpPr txBox="1"/>
          <p:nvPr/>
        </p:nvSpPr>
        <p:spPr>
          <a:xfrm>
            <a:off x="346354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58" name="text-057: lane 1：VRF 4 KiB"/>
          <p:cNvSpPr txBox="1"/>
          <p:nvPr/>
        </p:nvSpPr>
        <p:spPr>
          <a:xfrm>
            <a:off x="6991096" y="2581656"/>
            <a:ext cx="16163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1：VRF 4 KiB</a:t>
            </a:r>
          </a:p>
        </p:txBody>
      </p:sp>
      <p:sp>
        <p:nvSpPr>
          <p:cNvPr id="59" name="rect-058"/>
          <p:cNvSpPr/>
          <p:nvPr/>
        </p:nvSpPr>
        <p:spPr>
          <a:xfrm>
            <a:off x="7076440" y="2987040"/>
            <a:ext cx="5049520" cy="796544"/>
          </a:xfrm>
          <a:prstGeom prst="roundRect">
            <a:avLst>
              <a:gd name="adj" fmla="val 625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076440" y="2987040"/>
            <a:ext cx="35560" cy="7965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分布式寄存器字节"/>
          <p:cNvSpPr txBox="1"/>
          <p:nvPr/>
        </p:nvSpPr>
        <p:spPr>
          <a:xfrm>
            <a:off x="7197344" y="3014919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分布式寄存器字节</a:t>
            </a:r>
          </a:p>
        </p:txBody>
      </p:sp>
      <p:sp>
        <p:nvSpPr>
          <p:cNvPr id="62" name="text-061: e32 元素 1、3、5、7 …"/>
          <p:cNvSpPr txBox="1"/>
          <p:nvPr/>
        </p:nvSpPr>
        <p:spPr>
          <a:xfrm>
            <a:off x="7197344" y="3286313"/>
            <a:ext cx="20544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 元素 1、3、5、7 …</a:t>
            </a:r>
          </a:p>
        </p:txBody>
      </p:sp>
      <p:sp>
        <p:nvSpPr>
          <p:cNvPr id="63" name="text-062: VLEN 与 lane 数共同决定存储分片"/>
          <p:cNvSpPr txBox="1"/>
          <p:nvPr/>
        </p:nvSpPr>
        <p:spPr>
          <a:xfrm>
            <a:off x="7197344" y="3499673"/>
            <a:ext cx="2736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VLEN 与 lane 数共同决定存储分片</a:t>
            </a:r>
          </a:p>
        </p:txBody>
      </p:sp>
      <p:sp>
        <p:nvSpPr>
          <p:cNvPr id="64" name="rect-063"/>
          <p:cNvSpPr/>
          <p:nvPr/>
        </p:nvSpPr>
        <p:spPr>
          <a:xfrm>
            <a:off x="7076440" y="4338320"/>
            <a:ext cx="234696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7076440" y="433832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操作数队列 → ALU"/>
          <p:cNvSpPr txBox="1"/>
          <p:nvPr/>
        </p:nvSpPr>
        <p:spPr>
          <a:xfrm>
            <a:off x="7197344" y="4366199"/>
            <a:ext cx="1719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操作数队列 → ALU</a:t>
            </a:r>
          </a:p>
        </p:txBody>
      </p:sp>
      <p:sp>
        <p:nvSpPr>
          <p:cNvPr id="67" name="text-066: 整数 / MUL / FPU"/>
          <p:cNvSpPr txBox="1"/>
          <p:nvPr/>
        </p:nvSpPr>
        <p:spPr>
          <a:xfrm>
            <a:off x="7197344" y="4637593"/>
            <a:ext cx="15150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整数 / MUL / FPU</a:t>
            </a:r>
          </a:p>
        </p:txBody>
      </p:sp>
      <p:sp>
        <p:nvSpPr>
          <p:cNvPr id="68" name="rect-067"/>
          <p:cNvSpPr/>
          <p:nvPr/>
        </p:nvSpPr>
        <p:spPr>
          <a:xfrm>
            <a:off x="9814560" y="4338320"/>
            <a:ext cx="231140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9814560" y="43383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结果写回 VRF"/>
          <p:cNvSpPr txBox="1"/>
          <p:nvPr/>
        </p:nvSpPr>
        <p:spPr>
          <a:xfrm>
            <a:off x="9935464" y="436619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结果写回 VRF</a:t>
            </a:r>
          </a:p>
        </p:txBody>
      </p:sp>
      <p:sp>
        <p:nvSpPr>
          <p:cNvPr id="71" name="text-070: 按目标寄存器归位"/>
          <p:cNvSpPr txBox="1"/>
          <p:nvPr/>
        </p:nvSpPr>
        <p:spPr>
          <a:xfrm>
            <a:off x="993546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按目标寄存器归位</a:t>
            </a:r>
          </a:p>
        </p:txBody>
      </p:sp>
      <p:sp>
        <p:nvSpPr>
          <p:cNvPr id="72" name="rect-071"/>
          <p:cNvSpPr/>
          <p:nvPr/>
        </p:nvSpPr>
        <p:spPr>
          <a:xfrm>
            <a:off x="4516120" y="5831840"/>
            <a:ext cx="3733800" cy="497840"/>
          </a:xfrm>
          <a:prstGeom prst="roundRect">
            <a:avLst>
              <a:gd name="adj" fmla="val 10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4516120" y="5831840"/>
            <a:ext cx="35560" cy="4978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masku / sldu：使能与跨 lane 交换"/>
          <p:cNvSpPr txBox="1"/>
          <p:nvPr/>
        </p:nvSpPr>
        <p:spPr>
          <a:xfrm>
            <a:off x="4637024" y="5859719"/>
            <a:ext cx="3019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masku / sldu：使能与跨 lane 交换</a:t>
            </a:r>
          </a:p>
        </p:txBody>
      </p:sp>
      <p:sp>
        <p:nvSpPr>
          <p:cNvPr id="75" name="rect-074"/>
          <p:cNvSpPr/>
          <p:nvPr/>
        </p:nvSpPr>
        <p:spPr>
          <a:xfrm>
            <a:off x="391160" y="6614160"/>
            <a:ext cx="11948160" cy="590296"/>
          </a:xfrm>
          <a:prstGeom prst="roundRect">
            <a:avLst>
              <a:gd name="adj" fmla="val 84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-075"/>
          <p:cNvSpPr/>
          <p:nvPr/>
        </p:nvSpPr>
        <p:spPr>
          <a:xfrm>
            <a:off x="391160" y="6614160"/>
            <a:ext cx="35560" cy="59029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6: VLSU：连续内存 → load 分发 → lanes → store 重排 →"/>
          <p:cNvSpPr txBox="1"/>
          <p:nvPr/>
        </p:nvSpPr>
        <p:spPr>
          <a:xfrm>
            <a:off x="512064" y="6642039"/>
            <a:ext cx="5019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VLSU：连续内存 → load 分发 → lanes → store 重排 → AXI</a:t>
            </a:r>
          </a:p>
        </p:txBody>
      </p:sp>
      <p:sp>
        <p:nvSpPr>
          <p:cNvPr id="78" name="text-077: VRF 与临时 FIFO 不构成 NPU 可寻址共享 cache"/>
          <p:cNvSpPr txBox="1"/>
          <p:nvPr/>
        </p:nvSpPr>
        <p:spPr>
          <a:xfrm>
            <a:off x="512064" y="6928795"/>
            <a:ext cx="3406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与临时 FIFO 不构成 NPU 可寻址共享 cache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693920" y="1315720"/>
            <a:ext cx="483616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876040" y="1834896"/>
            <a:ext cx="1173480" cy="1970024"/>
          </a:xfrm>
          <a:custGeom>
            <a:avLst/>
            <a:gdLst/>
            <a:ahLst/>
            <a:cxnLst/>
            <a:rect l="0" t="0" r="r" b="b"/>
            <a:pathLst>
              <a:path w="1173480" h="1970024">
                <a:moveTo>
                  <a:pt x="0" y="0"/>
                </a:moveTo>
                <a:lnTo>
                  <a:pt x="497840" y="0"/>
                </a:lnTo>
                <a:lnTo>
                  <a:pt x="497840" y="1970024"/>
                </a:lnTo>
                <a:lnTo>
                  <a:pt x="1173480" y="1970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876040" y="2723896"/>
            <a:ext cx="1173480" cy="1081024"/>
          </a:xfrm>
          <a:custGeom>
            <a:avLst/>
            <a:gdLst/>
            <a:ahLst/>
            <a:cxnLst/>
            <a:rect l="0" t="0" r="r" b="b"/>
            <a:pathLst>
              <a:path w="1173480" h="1081024">
                <a:moveTo>
                  <a:pt x="0" y="0"/>
                </a:moveTo>
                <a:lnTo>
                  <a:pt x="497840" y="0"/>
                </a:lnTo>
                <a:lnTo>
                  <a:pt x="497840" y="1081024"/>
                </a:lnTo>
                <a:lnTo>
                  <a:pt x="1173480" y="1081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876040" y="3612896"/>
            <a:ext cx="1173480" cy="192024"/>
          </a:xfrm>
          <a:custGeom>
            <a:avLst/>
            <a:gdLst/>
            <a:ahLst/>
            <a:cxnLst/>
            <a:rect l="0" t="0" r="r" b="b"/>
            <a:pathLst>
              <a:path w="1173480" h="192024">
                <a:moveTo>
                  <a:pt x="0" y="0"/>
                </a:moveTo>
                <a:lnTo>
                  <a:pt x="497840" y="0"/>
                </a:lnTo>
                <a:lnTo>
                  <a:pt x="497840" y="192024"/>
                </a:lnTo>
                <a:lnTo>
                  <a:pt x="1173480" y="19202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876040" y="3804920"/>
            <a:ext cx="1173480" cy="696976"/>
          </a:xfrm>
          <a:custGeom>
            <a:avLst/>
            <a:gdLst/>
            <a:ahLst/>
            <a:cxnLst/>
            <a:rect l="0" t="0" r="r" b="b"/>
            <a:pathLst>
              <a:path w="1173480" h="696976">
                <a:moveTo>
                  <a:pt x="0" y="696976"/>
                </a:moveTo>
                <a:lnTo>
                  <a:pt x="497840" y="696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876040" y="3804920"/>
            <a:ext cx="1173480" cy="1585976"/>
          </a:xfrm>
          <a:custGeom>
            <a:avLst/>
            <a:gdLst/>
            <a:ahLst/>
            <a:cxnLst/>
            <a:rect l="0" t="0" r="r" b="b"/>
            <a:pathLst>
              <a:path w="1173480" h="1585976">
                <a:moveTo>
                  <a:pt x="0" y="1585976"/>
                </a:moveTo>
                <a:lnTo>
                  <a:pt x="497840" y="1585976"/>
                </a:lnTo>
                <a:lnTo>
                  <a:pt x="497840" y="0"/>
                </a:ln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964176" y="37693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9174480" y="3769360"/>
            <a:ext cx="1066800" cy="35560"/>
          </a:xfrm>
          <a:custGeom>
            <a:avLst/>
            <a:gdLst/>
            <a:ahLst/>
            <a:cxnLst/>
            <a:rect l="0" t="0" r="r" b="b"/>
            <a:pathLst>
              <a:path w="1066800" h="35560">
                <a:moveTo>
                  <a:pt x="0" y="3556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10154798" y="3736645"/>
            <a:ext cx="86482" cy="71120"/>
          </a:xfrm>
          <a:custGeom>
            <a:avLst/>
            <a:gdLst/>
            <a:ahLst/>
            <a:cxnLst/>
            <a:rect l="0" t="0" r="r" b="b"/>
            <a:pathLst>
              <a:path w="86482" h="71120">
                <a:moveTo>
                  <a:pt x="86482" y="32715"/>
                </a:moveTo>
                <a:lnTo>
                  <a:pt x="0" y="0"/>
                </a:lnTo>
                <a:lnTo>
                  <a:pt x="2347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11148060" y="4267200"/>
            <a:ext cx="160020" cy="853440"/>
          </a:xfrm>
          <a:custGeom>
            <a:avLst/>
            <a:gdLst/>
            <a:ahLst/>
            <a:cxnLst/>
            <a:rect l="0" t="0" r="r" b="b"/>
            <a:pathLst>
              <a:path w="160020" h="853440">
                <a:moveTo>
                  <a:pt x="16002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1128858" y="5030175"/>
            <a:ext cx="69911" cy="90465"/>
          </a:xfrm>
          <a:custGeom>
            <a:avLst/>
            <a:gdLst/>
            <a:ahLst/>
            <a:cxnLst/>
            <a:rect l="0" t="0" r="r" b="b"/>
            <a:pathLst>
              <a:path w="69911" h="90465">
                <a:moveTo>
                  <a:pt x="19202" y="90465"/>
                </a:moveTo>
                <a:lnTo>
                  <a:pt x="69911" y="13157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当前时钟与事件：SoC 主域、异步入口、FPGA DDR 域"/>
          <p:cNvSpPr txBox="1"/>
          <p:nvPr/>
        </p:nvSpPr>
        <p:spPr>
          <a:xfrm>
            <a:off x="483616" y="271109"/>
            <a:ext cx="636809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当前时钟与事件：SoC 主域、异步入口、FPGA DDR 域</a:t>
            </a:r>
          </a:p>
        </p:txBody>
      </p:sp>
      <p:sp>
        <p:nvSpPr>
          <p:cNvPr id="22" name="text-021: 时钟域由真实连接划分；UART / SPI / I2C 的分频节拍不自动成为独立"/>
          <p:cNvSpPr txBox="1"/>
          <p:nvPr/>
        </p:nvSpPr>
        <p:spPr>
          <a:xfrm>
            <a:off x="483616" y="676778"/>
            <a:ext cx="64040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时钟域由真实连接划分；UART / SPI / I2C 的分频节拍不自动成为独立 SoC 输入时钟。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；target/xilinx/src/dra"/>
          <p:cNvSpPr txBox="1"/>
          <p:nvPr/>
        </p:nvSpPr>
        <p:spPr>
          <a:xfrm>
            <a:off x="341376" y="7726477"/>
            <a:ext cx="535190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源码：cheshire_soc.sv；target/xilinx/src/dram_wrapper_xilinx.sv；各外设同步逻辑</a:t>
            </a:r>
          </a:p>
        </p:txBody>
      </p:sp>
      <p:sp>
        <p:nvSpPr>
          <p:cNvPr id="25" name="text-024: clk_i / rst_ni：SoC 主时钟域"/>
          <p:cNvSpPr txBox="1"/>
          <p:nvPr/>
        </p:nvSpPr>
        <p:spPr>
          <a:xfrm>
            <a:off x="4821936" y="1372616"/>
            <a:ext cx="241644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clk_i / rst_ni：SoC 主时钟域</a:t>
            </a:r>
          </a:p>
        </p:txBody>
      </p:sp>
      <p:sp>
        <p:nvSpPr>
          <p:cNvPr id="26" name="rect-025"/>
          <p:cNvSpPr/>
          <p:nvPr/>
        </p:nvSpPr>
        <p:spPr>
          <a:xfrm>
            <a:off x="5049520" y="3235960"/>
            <a:ext cx="41249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049520" y="323596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 / Ara / AXI / LLC / Reg"/>
          <p:cNvSpPr txBox="1"/>
          <p:nvPr/>
        </p:nvSpPr>
        <p:spPr>
          <a:xfrm>
            <a:off x="5170424" y="3263839"/>
            <a:ext cx="2564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/ Ara / AXI / LLC / Reg</a:t>
            </a:r>
          </a:p>
        </p:txBody>
      </p:sp>
      <p:sp>
        <p:nvSpPr>
          <p:cNvPr id="29" name="text-028: LLC 下游 AXI 仍属于 clk_i"/>
          <p:cNvSpPr txBox="1"/>
          <p:nvPr/>
        </p:nvSpPr>
        <p:spPr>
          <a:xfrm>
            <a:off x="5170424" y="3535233"/>
            <a:ext cx="20712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仍属于 clk_i</a:t>
            </a:r>
          </a:p>
        </p:txBody>
      </p:sp>
      <p:sp>
        <p:nvSpPr>
          <p:cNvPr id="30" name="text-029: 外设状态机在其实际连接域运行"/>
          <p:cNvSpPr txBox="1"/>
          <p:nvPr/>
        </p:nvSpPr>
        <p:spPr>
          <a:xfrm>
            <a:off x="5170424" y="37485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外设状态机在其实际连接域运行</a:t>
            </a:r>
          </a:p>
        </p:txBody>
      </p:sp>
      <p:sp>
        <p:nvSpPr>
          <p:cNvPr id="31" name="text-030: DM ndmreset_o 在本 SoC 未连接"/>
          <p:cNvSpPr txBox="1"/>
          <p:nvPr/>
        </p:nvSpPr>
        <p:spPr>
          <a:xfrm>
            <a:off x="5170424" y="3961953"/>
            <a:ext cx="26675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 ndmreset_o 在本 SoC 未连接</a:t>
            </a:r>
          </a:p>
        </p:txBody>
      </p:sp>
      <p:sp>
        <p:nvSpPr>
          <p:cNvPr id="32" name="rect-031"/>
          <p:cNvSpPr/>
          <p:nvPr/>
        </p:nvSpPr>
        <p:spPr>
          <a:xfrm>
            <a:off x="426720" y="1493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26720" y="1493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rtc_i"/>
          <p:cNvSpPr txBox="1"/>
          <p:nvPr/>
        </p:nvSpPr>
        <p:spPr>
          <a:xfrm>
            <a:off x="547624" y="1521399"/>
            <a:ext cx="5283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35" name="text-034: CLINT 同步后计数"/>
          <p:cNvSpPr txBox="1"/>
          <p:nvPr/>
        </p:nvSpPr>
        <p:spPr>
          <a:xfrm>
            <a:off x="547624" y="1808155"/>
            <a:ext cx="1382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同步后计数</a:t>
            </a:r>
          </a:p>
        </p:txBody>
      </p:sp>
      <p:sp>
        <p:nvSpPr>
          <p:cNvPr id="36" name="rect-035"/>
          <p:cNvSpPr/>
          <p:nvPr/>
        </p:nvSpPr>
        <p:spPr>
          <a:xfrm>
            <a:off x="426720" y="2382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26720" y="2382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JTAG tck / trst_n"/>
          <p:cNvSpPr txBox="1"/>
          <p:nvPr/>
        </p:nvSpPr>
        <p:spPr>
          <a:xfrm>
            <a:off x="547624" y="241039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JTAG tck / trst_n</a:t>
            </a:r>
          </a:p>
        </p:txBody>
      </p:sp>
      <p:sp>
        <p:nvSpPr>
          <p:cNvPr id="39" name="text-038: DTM → DMI 跨域"/>
          <p:cNvSpPr txBox="1"/>
          <p:nvPr/>
        </p:nvSpPr>
        <p:spPr>
          <a:xfrm>
            <a:off x="547624" y="2697155"/>
            <a:ext cx="13481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DTM → DMI 跨域</a:t>
            </a:r>
          </a:p>
        </p:txBody>
      </p:sp>
      <p:sp>
        <p:nvSpPr>
          <p:cNvPr id="40" name="rect-039"/>
          <p:cNvSpPr/>
          <p:nvPr/>
        </p:nvSpPr>
        <p:spPr>
          <a:xfrm>
            <a:off x="426720" y="3271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426720" y="3271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Serial Link RX clock"/>
          <p:cNvSpPr txBox="1"/>
          <p:nvPr/>
        </p:nvSpPr>
        <p:spPr>
          <a:xfrm>
            <a:off x="547624" y="3299399"/>
            <a:ext cx="17693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Serial Link RX clock</a:t>
            </a:r>
          </a:p>
        </p:txBody>
      </p:sp>
      <p:sp>
        <p:nvSpPr>
          <p:cNvPr id="43" name="text-042: 源同步接收与跨域 FIFO"/>
          <p:cNvSpPr txBox="1"/>
          <p:nvPr/>
        </p:nvSpPr>
        <p:spPr>
          <a:xfrm>
            <a:off x="547624" y="3586155"/>
            <a:ext cx="17489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源同步接收与跨域 FIFO</a:t>
            </a:r>
          </a:p>
        </p:txBody>
      </p:sp>
      <p:sp>
        <p:nvSpPr>
          <p:cNvPr id="44" name="rect-043"/>
          <p:cNvSpPr/>
          <p:nvPr/>
        </p:nvSpPr>
        <p:spPr>
          <a:xfrm>
            <a:off x="426720" y="4160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426720" y="4160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USB PHY clock/reset"/>
          <p:cNvSpPr txBox="1"/>
          <p:nvPr/>
        </p:nvSpPr>
        <p:spPr>
          <a:xfrm>
            <a:off x="547624" y="4188399"/>
            <a:ext cx="18951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USB PHY clock/reset</a:t>
            </a:r>
          </a:p>
        </p:txBody>
      </p:sp>
      <p:sp>
        <p:nvSpPr>
          <p:cNvPr id="47" name="text-046: PHY 域与系统逻辑"/>
          <p:cNvSpPr txBox="1"/>
          <p:nvPr/>
        </p:nvSpPr>
        <p:spPr>
          <a:xfrm>
            <a:off x="547624" y="4475155"/>
            <a:ext cx="14204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PHY 域与系统逻辑</a:t>
            </a:r>
          </a:p>
        </p:txBody>
      </p:sp>
      <p:sp>
        <p:nvSpPr>
          <p:cNvPr id="48" name="rect-047"/>
          <p:cNvSpPr/>
          <p:nvPr/>
        </p:nvSpPr>
        <p:spPr>
          <a:xfrm>
            <a:off x="426720" y="5049520"/>
            <a:ext cx="3449320" cy="682752"/>
          </a:xfrm>
          <a:prstGeom prst="roundRect">
            <a:avLst>
              <a:gd name="adj" fmla="val 72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26720" y="5049520"/>
            <a:ext cx="35560" cy="682752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GPIO / 外部 IRQ"/>
          <p:cNvSpPr txBox="1"/>
          <p:nvPr/>
        </p:nvSpPr>
        <p:spPr>
          <a:xfrm>
            <a:off x="547624" y="5077399"/>
            <a:ext cx="1496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GPIO / 外部 IRQ</a:t>
            </a:r>
          </a:p>
        </p:txBody>
      </p:sp>
      <p:sp>
        <p:nvSpPr>
          <p:cNvPr id="51" name="text-050: 按配置同步 → 中断控制"/>
          <p:cNvSpPr txBox="1"/>
          <p:nvPr/>
        </p:nvSpPr>
        <p:spPr>
          <a:xfrm>
            <a:off x="547624" y="5364155"/>
            <a:ext cx="181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按配置同步 → 中断控制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10241280" y="3271520"/>
            <a:ext cx="2133600" cy="995680"/>
          </a:xfrm>
          <a:prstGeom prst="roundRect">
            <a:avLst>
              <a:gd name="adj" fmla="val 5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10241280" y="3271520"/>
            <a:ext cx="35560" cy="9956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AXI CDC"/>
          <p:cNvSpPr txBox="1"/>
          <p:nvPr/>
        </p:nvSpPr>
        <p:spPr>
          <a:xfrm>
            <a:off x="10362184" y="3299399"/>
            <a:ext cx="8424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AXI CDC</a:t>
            </a:r>
          </a:p>
        </p:txBody>
      </p:sp>
      <p:sp>
        <p:nvSpPr>
          <p:cNvPr id="55" name="text-054: FPGA 平台"/>
          <p:cNvSpPr txBox="1"/>
          <p:nvPr/>
        </p:nvSpPr>
        <p:spPr>
          <a:xfrm>
            <a:off x="10362184" y="3570793"/>
            <a:ext cx="94861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FPGA 平台</a:t>
            </a:r>
          </a:p>
        </p:txBody>
      </p:sp>
      <p:sp>
        <p:nvSpPr>
          <p:cNvPr id="56" name="text-055: 跨域事务队列"/>
          <p:cNvSpPr txBox="1"/>
          <p:nvPr/>
        </p:nvSpPr>
        <p:spPr>
          <a:xfrm>
            <a:off x="10362184" y="3784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跨域事务队列</a:t>
            </a:r>
          </a:p>
        </p:txBody>
      </p:sp>
      <p:sp>
        <p:nvSpPr>
          <p:cNvPr id="57" name="rect-056"/>
          <p:cNvSpPr/>
          <p:nvPr/>
        </p:nvSpPr>
        <p:spPr>
          <a:xfrm>
            <a:off x="9885680" y="5120640"/>
            <a:ext cx="252476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885680" y="512064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MIG UI clock 域"/>
          <p:cNvSpPr txBox="1"/>
          <p:nvPr/>
        </p:nvSpPr>
        <p:spPr>
          <a:xfrm>
            <a:off x="10006584" y="5148519"/>
            <a:ext cx="143761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MIG UI clock 域</a:t>
            </a:r>
          </a:p>
        </p:txBody>
      </p:sp>
      <p:sp>
        <p:nvSpPr>
          <p:cNvPr id="60" name="text-059: DDR 控制器 / PHY"/>
          <p:cNvSpPr txBox="1"/>
          <p:nvPr/>
        </p:nvSpPr>
        <p:spPr>
          <a:xfrm>
            <a:off x="10006584" y="5419913"/>
            <a:ext cx="1559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控制器 / PHY</a:t>
            </a:r>
          </a:p>
        </p:txBody>
      </p:sp>
      <p:sp>
        <p:nvSpPr>
          <p:cNvPr id="61" name="text-060: 平台复位与校准"/>
          <p:cNvSpPr txBox="1"/>
          <p:nvPr/>
        </p:nvSpPr>
        <p:spPr>
          <a:xfrm>
            <a:off x="10006584" y="56332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平台复位与校准</a:t>
            </a:r>
          </a:p>
        </p:txBody>
      </p:sp>
      <p:sp>
        <p:nvSpPr>
          <p:cNvPr id="62" name="rect-061"/>
          <p:cNvSpPr/>
          <p:nvPr/>
        </p:nvSpPr>
        <p:spPr>
          <a:xfrm>
            <a:off x="426720" y="6578600"/>
            <a:ext cx="1194816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426720" y="657860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跨域不是只给信号加寄存器"/>
          <p:cNvSpPr txBox="1"/>
          <p:nvPr/>
        </p:nvSpPr>
        <p:spPr>
          <a:xfrm>
            <a:off x="547624" y="66064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跨域不是只给信号加寄存器</a:t>
            </a:r>
          </a:p>
        </p:txBody>
      </p:sp>
      <p:sp>
        <p:nvSpPr>
          <p:cNvPr id="65" name="text-064: 单比特事件、计数、多位数据和 AXI 事务需不同同步契约；FIFO / CDC "/>
          <p:cNvSpPr txBox="1"/>
          <p:nvPr/>
        </p:nvSpPr>
        <p:spPr>
          <a:xfrm>
            <a:off x="547624" y="6893235"/>
            <a:ext cx="7221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单比特事件、计数、多位数据和 AXI 事务需不同同步契约；FIFO / CDC 的两侧复位还需协调在途事务。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769360" y="2346960"/>
            <a:ext cx="1066800" cy="497840"/>
          </a:xfrm>
          <a:custGeom>
            <a:avLst/>
            <a:gdLst/>
            <a:ahLst/>
            <a:cxnLst/>
            <a:rect l="0" t="0" r="r" b="b"/>
            <a:pathLst>
              <a:path w="1066800" h="497840">
                <a:moveTo>
                  <a:pt x="0" y="497840"/>
                </a:moveTo>
                <a:lnTo>
                  <a:pt x="497840" y="497840"/>
                </a:lnTo>
                <a:lnTo>
                  <a:pt x="497840" y="0"/>
                </a:ln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50816" y="23114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769360" y="1280160"/>
            <a:ext cx="6877304" cy="853440"/>
          </a:xfrm>
          <a:custGeom>
            <a:avLst/>
            <a:gdLst/>
            <a:ahLst/>
            <a:cxnLst/>
            <a:rect l="0" t="0" r="r" b="b"/>
            <a:pathLst>
              <a:path w="6877304" h="853440">
                <a:moveTo>
                  <a:pt x="0" y="853440"/>
                </a:moveTo>
                <a:lnTo>
                  <a:pt x="320040" y="853440"/>
                </a:lnTo>
                <a:lnTo>
                  <a:pt x="320040" y="0"/>
                </a:lnTo>
                <a:lnTo>
                  <a:pt x="6877304" y="0"/>
                </a:lnTo>
                <a:lnTo>
                  <a:pt x="6877304" y="2844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0611104" y="1479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3769360" y="4267200"/>
            <a:ext cx="1066800" cy="853440"/>
          </a:xfrm>
          <a:custGeom>
            <a:avLst/>
            <a:gdLst/>
            <a:ahLst/>
            <a:cxnLst/>
            <a:rect l="0" t="0" r="r" b="b"/>
            <a:pathLst>
              <a:path w="1066800" h="853440">
                <a:moveTo>
                  <a:pt x="0" y="0"/>
                </a:moveTo>
                <a:lnTo>
                  <a:pt x="497840" y="0"/>
                </a:lnTo>
                <a:lnTo>
                  <a:pt x="497840" y="853440"/>
                </a:lnTo>
                <a:lnTo>
                  <a:pt x="1066800" y="85344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4750816" y="5085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69360" y="5334000"/>
            <a:ext cx="6877304" cy="889000"/>
          </a:xfrm>
          <a:custGeom>
            <a:avLst/>
            <a:gdLst/>
            <a:ahLst/>
            <a:cxnLst/>
            <a:rect l="0" t="0" r="r" b="b"/>
            <a:pathLst>
              <a:path w="6877304" h="889000">
                <a:moveTo>
                  <a:pt x="0" y="0"/>
                </a:moveTo>
                <a:lnTo>
                  <a:pt x="320040" y="0"/>
                </a:lnTo>
                <a:lnTo>
                  <a:pt x="320040" y="889000"/>
                </a:lnTo>
                <a:lnTo>
                  <a:pt x="6877304" y="889000"/>
                </a:lnTo>
                <a:lnTo>
                  <a:pt x="6877304" y="5689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611104" y="59029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未来 ASIC：时钟、复位、电源分别划分责任"/>
          <p:cNvSpPr txBox="1"/>
          <p:nvPr/>
        </p:nvSpPr>
        <p:spPr>
          <a:xfrm>
            <a:off x="483616" y="271109"/>
            <a:ext cx="521216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ASIC：时钟、复位、电源分别划分责任</a:t>
            </a:r>
          </a:p>
        </p:txBody>
      </p:sp>
      <p:sp>
        <p:nvSpPr>
          <p:cNvPr id="15" name="text-014: 下列域为候选边界；具体频率、电压、PLL 数量和电源意图尚未冻结。"/>
          <p:cNvSpPr txBox="1"/>
          <p:nvPr/>
        </p:nvSpPr>
        <p:spPr>
          <a:xfrm>
            <a:off x="483616" y="676778"/>
            <a:ext cx="521142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下列域为候选边界；具体频率、电压、PLL 数量和电源意图尚未冻结。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平台启动与配置约定；工艺/IP 交付待确认"/>
          <p:cNvSpPr txBox="1"/>
          <p:nvPr/>
        </p:nvSpPr>
        <p:spPr>
          <a:xfrm>
            <a:off x="341376" y="7726477"/>
            <a:ext cx="3220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依据：平台启动与配置约定；工艺/IP 交付待确认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564640"/>
            <a:ext cx="3378200" cy="4373880"/>
          </a:xfrm>
          <a:prstGeom prst="roundRect">
            <a:avLst>
              <a:gd name="adj" fmla="val 147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564640"/>
            <a:ext cx="35560" cy="4373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常开控制候选域"/>
          <p:cNvSpPr txBox="1"/>
          <p:nvPr/>
        </p:nvSpPr>
        <p:spPr>
          <a:xfrm>
            <a:off x="512064" y="159251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常开控制候选域</a:t>
            </a:r>
          </a:p>
        </p:txBody>
      </p:sp>
      <p:sp>
        <p:nvSpPr>
          <p:cNvPr id="21" name="text-020: 参考时钟 / 安全启动源"/>
          <p:cNvSpPr txBox="1"/>
          <p:nvPr/>
        </p:nvSpPr>
        <p:spPr>
          <a:xfrm>
            <a:off x="51206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 / 安全启动源</a:t>
            </a:r>
          </a:p>
        </p:txBody>
      </p:sp>
      <p:sp>
        <p:nvSpPr>
          <p:cNvPr id="22" name="text-021: PLL lock 同步与切换策略"/>
          <p:cNvSpPr txBox="1"/>
          <p:nvPr/>
        </p:nvSpPr>
        <p:spPr>
          <a:xfrm>
            <a:off x="512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 lock 同步与切换策略</a:t>
            </a:r>
          </a:p>
        </p:txBody>
      </p:sp>
      <p:sp>
        <p:nvSpPr>
          <p:cNvPr id="23" name="text-022: 复位原因 / 超时 / 故障回退"/>
          <p:cNvSpPr txBox="1"/>
          <p:nvPr/>
        </p:nvSpPr>
        <p:spPr>
          <a:xfrm>
            <a:off x="512064" y="229063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复位原因 / 超时 / 故障回退</a:t>
            </a:r>
          </a:p>
        </p:txBody>
      </p:sp>
      <p:sp>
        <p:nvSpPr>
          <p:cNvPr id="24" name="text-023: 门控、隔离与保持控制"/>
          <p:cNvSpPr txBox="1"/>
          <p:nvPr/>
        </p:nvSpPr>
        <p:spPr>
          <a:xfrm>
            <a:off x="512064" y="250399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门控、隔离与保持控制</a:t>
            </a:r>
          </a:p>
        </p:txBody>
      </p:sp>
      <p:sp>
        <p:nvSpPr>
          <p:cNvPr id="25" name="text-024: 固件可重复访问的配置接口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固件可重复访问的配置接口</a:t>
            </a:r>
          </a:p>
        </p:txBody>
      </p:sp>
      <p:sp>
        <p:nvSpPr>
          <p:cNvPr id="26" name="rect-025"/>
          <p:cNvSpPr/>
          <p:nvPr/>
        </p:nvSpPr>
        <p:spPr>
          <a:xfrm>
            <a:off x="483616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836160" y="1564640"/>
            <a:ext cx="35560" cy="15646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PU / Ara / SRAM"/>
          <p:cNvSpPr txBox="1"/>
          <p:nvPr/>
        </p:nvSpPr>
        <p:spPr>
          <a:xfrm>
            <a:off x="4957064" y="1592519"/>
            <a:ext cx="168121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SRAM</a:t>
            </a:r>
          </a:p>
        </p:txBody>
      </p:sp>
      <p:sp>
        <p:nvSpPr>
          <p:cNvPr id="29" name="text-028: 同域或分域由时序与功耗决定"/>
          <p:cNvSpPr txBox="1"/>
          <p:nvPr/>
        </p:nvSpPr>
        <p:spPr>
          <a:xfrm>
            <a:off x="4957064" y="18639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同域或分域由时序与功耗决定</a:t>
            </a:r>
          </a:p>
        </p:txBody>
      </p:sp>
      <p:sp>
        <p:nvSpPr>
          <p:cNvPr id="30" name="text-029: SRAM 宏与复位策略配套"/>
          <p:cNvSpPr txBox="1"/>
          <p:nvPr/>
        </p:nvSpPr>
        <p:spPr>
          <a:xfrm>
            <a:off x="4957064" y="2077273"/>
            <a:ext cx="20340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宏与复位策略配套</a:t>
            </a:r>
          </a:p>
        </p:txBody>
      </p:sp>
      <p:sp>
        <p:nvSpPr>
          <p:cNvPr id="31" name="rect-030"/>
          <p:cNvSpPr/>
          <p:nvPr/>
        </p:nvSpPr>
        <p:spPr>
          <a:xfrm>
            <a:off x="8890000" y="156464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8890000" y="1564640"/>
            <a:ext cx="35560" cy="15646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DDR CTRL / PHY"/>
          <p:cNvSpPr txBox="1"/>
          <p:nvPr/>
        </p:nvSpPr>
        <p:spPr>
          <a:xfrm>
            <a:off x="9010904" y="1592519"/>
            <a:ext cx="15483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DDR CTRL / PHY</a:t>
            </a:r>
          </a:p>
        </p:txBody>
      </p:sp>
      <p:sp>
        <p:nvSpPr>
          <p:cNvPr id="34" name="text-033: 参考时钟与训练 / 校准"/>
          <p:cNvSpPr txBox="1"/>
          <p:nvPr/>
        </p:nvSpPr>
        <p:spPr>
          <a:xfrm>
            <a:off x="9010904" y="18639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参考时钟与训练 / 校准</a:t>
            </a:r>
          </a:p>
        </p:txBody>
      </p:sp>
      <p:sp>
        <p:nvSpPr>
          <p:cNvPr id="35" name="text-034: init done 后允许新内存事务"/>
          <p:cNvSpPr txBox="1"/>
          <p:nvPr/>
        </p:nvSpPr>
        <p:spPr>
          <a:xfrm>
            <a:off x="9010904" y="2077273"/>
            <a:ext cx="22347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init done 后允许新内存事务</a:t>
            </a:r>
          </a:p>
        </p:txBody>
      </p:sp>
      <p:sp>
        <p:nvSpPr>
          <p:cNvPr id="36" name="rect-035"/>
          <p:cNvSpPr/>
          <p:nvPr/>
        </p:nvSpPr>
        <p:spPr>
          <a:xfrm>
            <a:off x="483616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483616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NPU / ISP 候选域"/>
          <p:cNvSpPr txBox="1"/>
          <p:nvPr/>
        </p:nvSpPr>
        <p:spPr>
          <a:xfrm>
            <a:off x="4957064" y="4366199"/>
            <a:ext cx="16116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候选域</a:t>
            </a:r>
          </a:p>
        </p:txBody>
      </p:sp>
      <p:sp>
        <p:nvSpPr>
          <p:cNvPr id="39" name="text-038: 跨域 FIFO / AXI CDC"/>
          <p:cNvSpPr txBox="1"/>
          <p:nvPr/>
        </p:nvSpPr>
        <p:spPr>
          <a:xfrm>
            <a:off x="4957064" y="4637593"/>
            <a:ext cx="16817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跨域 FIFO / AXI CDC</a:t>
            </a:r>
          </a:p>
        </p:txBody>
      </p:sp>
      <p:sp>
        <p:nvSpPr>
          <p:cNvPr id="40" name="text-039: 停发、排空、隔离与状态恢复"/>
          <p:cNvSpPr txBox="1"/>
          <p:nvPr/>
        </p:nvSpPr>
        <p:spPr>
          <a:xfrm>
            <a:off x="4957064" y="485095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停发、排空、隔离与状态恢复</a:t>
            </a:r>
          </a:p>
        </p:txBody>
      </p:sp>
      <p:sp>
        <p:nvSpPr>
          <p:cNvPr id="41" name="rect-040"/>
          <p:cNvSpPr/>
          <p:nvPr/>
        </p:nvSpPr>
        <p:spPr>
          <a:xfrm>
            <a:off x="8890000" y="4338320"/>
            <a:ext cx="3520440" cy="1564640"/>
          </a:xfrm>
          <a:prstGeom prst="roundRect">
            <a:avLst>
              <a:gd name="adj" fmla="val 3181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8890000" y="4338320"/>
            <a:ext cx="35560" cy="15646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PAD / LVDS / 外部 IO"/>
          <p:cNvSpPr txBox="1"/>
          <p:nvPr/>
        </p:nvSpPr>
        <p:spPr>
          <a:xfrm>
            <a:off x="9010904" y="4366199"/>
            <a:ext cx="19551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PAD / LVDS / 外部 IO</a:t>
            </a:r>
          </a:p>
        </p:txBody>
      </p:sp>
      <p:sp>
        <p:nvSpPr>
          <p:cNvPr id="44" name="text-043: 电平与源同步采样"/>
          <p:cNvSpPr txBox="1"/>
          <p:nvPr/>
        </p:nvSpPr>
        <p:spPr>
          <a:xfrm>
            <a:off x="9010904" y="46375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电平与源同步采样</a:t>
            </a:r>
          </a:p>
        </p:txBody>
      </p:sp>
      <p:sp>
        <p:nvSpPr>
          <p:cNvPr id="45" name="text-044: CDC / RDC 与引脚约束"/>
          <p:cNvSpPr txBox="1"/>
          <p:nvPr/>
        </p:nvSpPr>
        <p:spPr>
          <a:xfrm>
            <a:off x="9010904" y="4850953"/>
            <a:ext cx="19140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 与引脚约束</a:t>
            </a:r>
          </a:p>
        </p:txBody>
      </p:sp>
      <p:sp>
        <p:nvSpPr>
          <p:cNvPr id="46" name="rect-045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域边界交付需要成套证据"/>
          <p:cNvSpPr txBox="1"/>
          <p:nvPr/>
        </p:nvSpPr>
        <p:spPr>
          <a:xfrm>
            <a:off x="512064" y="653535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域边界交付需要成套证据</a:t>
            </a:r>
          </a:p>
        </p:txBody>
      </p:sp>
      <p:sp>
        <p:nvSpPr>
          <p:cNvPr id="49" name="text-048: 时钟约束 + 复位时序 + CDC/RDC + 电源意图/库单元 + 固件控制 "/>
          <p:cNvSpPr txBox="1"/>
          <p:nvPr/>
        </p:nvSpPr>
        <p:spPr>
          <a:xfrm>
            <a:off x="512064" y="6822115"/>
            <a:ext cx="81095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时钟约束 + 复位时序 + CDC/RDC + 电源意图/库单元 + 固件控制 + 故障恢复测试；图中候选域不是已实现电源域。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55600" y="1315720"/>
            <a:ext cx="3129280" cy="4622800"/>
          </a:xfrm>
          <a:prstGeom prst="roundRect">
            <a:avLst>
              <a:gd name="adj" fmla="val 2727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9245600" y="1315720"/>
            <a:ext cx="3200400" cy="462280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192024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188468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845800" y="284480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484880" y="199136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0" y="0"/>
                </a:moveTo>
                <a:lnTo>
                  <a:pt x="57607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160256" y="1955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84880" y="266700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84880" y="2631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84880" y="334264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84880" y="33070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484880" y="4018280"/>
            <a:ext cx="5760720" cy="1"/>
          </a:xfrm>
          <a:custGeom>
            <a:avLst/>
            <a:gdLst/>
            <a:ahLst/>
            <a:cxnLst/>
            <a:rect l="0" t="0" r="r" b="b"/>
            <a:pathLst>
              <a:path w="5760720" h="1">
                <a:moveTo>
                  <a:pt x="57607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484880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112000" y="5334000"/>
            <a:ext cx="3733800" cy="1137920"/>
          </a:xfrm>
          <a:custGeom>
            <a:avLst/>
            <a:gdLst/>
            <a:ahLst/>
            <a:cxnLst/>
            <a:rect l="0" t="0" r="r" b="b"/>
            <a:pathLst>
              <a:path w="3733800" h="1137920">
                <a:moveTo>
                  <a:pt x="3733800" y="0"/>
                </a:moveTo>
                <a:lnTo>
                  <a:pt x="3733800" y="782320"/>
                </a:lnTo>
                <a:lnTo>
                  <a:pt x="0" y="782320"/>
                </a:lnTo>
                <a:lnTo>
                  <a:pt x="0" y="11379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76440" y="6386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VA6–Ara：控制协议与 AXI 数据通路分离"/>
          <p:cNvSpPr txBox="1"/>
          <p:nvPr/>
        </p:nvSpPr>
        <p:spPr>
          <a:xfrm>
            <a:off x="483616" y="271109"/>
            <a:ext cx="49336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CVA6–Ara：控制协议与 AXI 数据通路分离</a:t>
            </a:r>
          </a:p>
        </p:txBody>
      </p:sp>
      <p:sp>
        <p:nvSpPr>
          <p:cNvPr id="23" name="text-022: 当前 CvxifEn=0；名为 cvxif 的连接承载本地专用接口，不等于通用 "/>
          <p:cNvSpPr txBox="1"/>
          <p:nvPr/>
        </p:nvSpPr>
        <p:spPr>
          <a:xfrm>
            <a:off x="483616" y="676778"/>
            <a:ext cx="59420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CvxifEn=0；名为 cvxif 的连接承载本地专用接口，不等于通用 CORE-V XIF。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cc_dispatcher.sv；ara/intf_typedef.sv"/>
          <p:cNvSpPr txBox="1"/>
          <p:nvPr/>
        </p:nvSpPr>
        <p:spPr>
          <a:xfrm>
            <a:off x="341376" y="7726477"/>
            <a:ext cx="4796833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源码：acc_dispatcher.sv；ara/intf_typedef.svh；cheshire_soc.sv::gen_ara</a:t>
            </a:r>
          </a:p>
        </p:txBody>
      </p:sp>
      <p:sp>
        <p:nvSpPr>
          <p:cNvPr id="26" name="text-025: CVA6 标量核"/>
          <p:cNvSpPr txBox="1"/>
          <p:nvPr/>
        </p:nvSpPr>
        <p:spPr>
          <a:xfrm>
            <a:off x="483616" y="1372616"/>
            <a:ext cx="11801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标量核</a:t>
            </a:r>
          </a:p>
        </p:txBody>
      </p:sp>
      <p:sp>
        <p:nvSpPr>
          <p:cNvPr id="27" name="text-026: Ara 向量单元"/>
          <p:cNvSpPr txBox="1"/>
          <p:nvPr/>
        </p:nvSpPr>
        <p:spPr>
          <a:xfrm>
            <a:off x="9373616" y="1372616"/>
            <a:ext cx="1194416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向量单元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1849120"/>
            <a:ext cx="2702560" cy="995680"/>
          </a:xfrm>
          <a:prstGeom prst="roundRect">
            <a:avLst>
              <a:gd name="adj" fmla="val 5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1849120"/>
            <a:ext cx="35560" cy="9956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译码 / scoreboard"/>
          <p:cNvSpPr txBox="1"/>
          <p:nvPr/>
        </p:nvSpPr>
        <p:spPr>
          <a:xfrm>
            <a:off x="689864" y="1876999"/>
            <a:ext cx="16625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译码 / scoreboard</a:t>
            </a:r>
          </a:p>
        </p:txBody>
      </p:sp>
      <p:sp>
        <p:nvSpPr>
          <p:cNvPr id="31" name="text-030: first-pass decoder"/>
          <p:cNvSpPr txBox="1"/>
          <p:nvPr/>
        </p:nvSpPr>
        <p:spPr>
          <a:xfrm>
            <a:off x="689864" y="2148393"/>
            <a:ext cx="15205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first-pass decoder</a:t>
            </a:r>
          </a:p>
        </p:txBody>
      </p:sp>
      <p:sp>
        <p:nvSpPr>
          <p:cNvPr id="32" name="text-031: trans_id 关联标量指令"/>
          <p:cNvSpPr txBox="1"/>
          <p:nvPr/>
        </p:nvSpPr>
        <p:spPr>
          <a:xfrm>
            <a:off x="689864" y="2361753"/>
            <a:ext cx="18458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trans_id 关联标量指令</a:t>
            </a:r>
          </a:p>
        </p:txBody>
      </p:sp>
      <p:sp>
        <p:nvSpPr>
          <p:cNvPr id="33" name="rect-032"/>
          <p:cNvSpPr/>
          <p:nvPr/>
        </p:nvSpPr>
        <p:spPr>
          <a:xfrm>
            <a:off x="568960" y="3947160"/>
            <a:ext cx="2702560" cy="1386840"/>
          </a:xfrm>
          <a:prstGeom prst="roundRect">
            <a:avLst>
              <a:gd name="adj" fmla="val 358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568960" y="3947160"/>
            <a:ext cx="35560" cy="13868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acc_dispatcher"/>
          <p:cNvSpPr txBox="1"/>
          <p:nvPr/>
        </p:nvSpPr>
        <p:spPr>
          <a:xfrm>
            <a:off x="689864" y="3975039"/>
            <a:ext cx="139985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acc_dispatcher</a:t>
            </a:r>
          </a:p>
        </p:txBody>
      </p:sp>
      <p:sp>
        <p:nvSpPr>
          <p:cNvPr id="36" name="text-035: 队列 / 非推测发出"/>
          <p:cNvSpPr txBox="1"/>
          <p:nvPr/>
        </p:nvSpPr>
        <p:spPr>
          <a:xfrm>
            <a:off x="68986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 / 非推测发出</a:t>
            </a:r>
          </a:p>
        </p:txBody>
      </p:sp>
      <p:sp>
        <p:nvSpPr>
          <p:cNvPr id="37" name="text-036: pending 与完成等待"/>
          <p:cNvSpPr txBox="1"/>
          <p:nvPr/>
        </p:nvSpPr>
        <p:spPr>
          <a:xfrm>
            <a:off x="689864" y="4459793"/>
            <a:ext cx="1661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与完成等待</a:t>
            </a:r>
          </a:p>
        </p:txBody>
      </p:sp>
      <p:sp>
        <p:nvSpPr>
          <p:cNvPr id="38" name="text-037: CPU resp_ready 固定为 1"/>
          <p:cNvSpPr txBox="1"/>
          <p:nvPr/>
        </p:nvSpPr>
        <p:spPr>
          <a:xfrm>
            <a:off x="689864" y="4673153"/>
            <a:ext cx="20637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resp_ready 固定为 1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1849120"/>
            <a:ext cx="2773680" cy="99568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1849120"/>
            <a:ext cx="35560" cy="9956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ispatcher / sequencer"/>
          <p:cNvSpPr txBox="1"/>
          <p:nvPr/>
        </p:nvSpPr>
        <p:spPr>
          <a:xfrm>
            <a:off x="9579864" y="1876999"/>
            <a:ext cx="2079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dispatcher / sequencer</a:t>
            </a:r>
          </a:p>
        </p:txBody>
      </p:sp>
      <p:sp>
        <p:nvSpPr>
          <p:cNvPr id="42" name="text-041: 完整译码、vl / vtype"/>
          <p:cNvSpPr txBox="1"/>
          <p:nvPr/>
        </p:nvSpPr>
        <p:spPr>
          <a:xfrm>
            <a:off x="9579864" y="2148393"/>
            <a:ext cx="17162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完整译码、vl / vtype</a:t>
            </a:r>
          </a:p>
        </p:txBody>
      </p:sp>
      <p:sp>
        <p:nvSpPr>
          <p:cNvPr id="43" name="text-042: 依赖与处理单元运行表"/>
          <p:cNvSpPr txBox="1"/>
          <p:nvPr/>
        </p:nvSpPr>
        <p:spPr>
          <a:xfrm>
            <a:off x="9579864" y="23617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依赖与处理单元运行表</a:t>
            </a:r>
          </a:p>
        </p:txBody>
      </p:sp>
      <p:sp>
        <p:nvSpPr>
          <p:cNvPr id="44" name="rect-043"/>
          <p:cNvSpPr/>
          <p:nvPr/>
        </p:nvSpPr>
        <p:spPr>
          <a:xfrm>
            <a:off x="9458960" y="3947160"/>
            <a:ext cx="2773680" cy="1386840"/>
          </a:xfrm>
          <a:prstGeom prst="roundRect">
            <a:avLst>
              <a:gd name="adj" fmla="val 358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458960" y="3947160"/>
            <a:ext cx="35560" cy="13868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RF / lanes / VLSU"/>
          <p:cNvSpPr txBox="1"/>
          <p:nvPr/>
        </p:nvSpPr>
        <p:spPr>
          <a:xfrm>
            <a:off x="9579864" y="3975039"/>
            <a:ext cx="177347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 / VLSU</a:t>
            </a:r>
          </a:p>
        </p:txBody>
      </p:sp>
      <p:sp>
        <p:nvSpPr>
          <p:cNvPr id="47" name="text-046: 算术在分布式 VRF 上执行"/>
          <p:cNvSpPr txBox="1"/>
          <p:nvPr/>
        </p:nvSpPr>
        <p:spPr>
          <a:xfrm>
            <a:off x="9579864" y="4246433"/>
            <a:ext cx="20922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算术在分布式 VRF 上执行</a:t>
            </a:r>
          </a:p>
        </p:txBody>
      </p:sp>
      <p:sp>
        <p:nvSpPr>
          <p:cNvPr id="48" name="text-047: 地址检查 / 可选 MMU 翻译"/>
          <p:cNvSpPr txBox="1"/>
          <p:nvPr/>
        </p:nvSpPr>
        <p:spPr>
          <a:xfrm>
            <a:off x="9579864" y="445979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地址检查 / 可选 MMU 翻译</a:t>
            </a:r>
          </a:p>
        </p:txBody>
      </p:sp>
      <p:sp>
        <p:nvSpPr>
          <p:cNvPr id="49" name="text-048: 独立 AXI 读写数据"/>
          <p:cNvSpPr txBox="1"/>
          <p:nvPr/>
        </p:nvSpPr>
        <p:spPr>
          <a:xfrm>
            <a:off x="9579864" y="467315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读写数据</a:t>
            </a:r>
          </a:p>
        </p:txBody>
      </p:sp>
      <p:sp>
        <p:nvSpPr>
          <p:cNvPr id="50" name="text-049: req_valid / insn / rs1 / rs2 / frm / tra"/>
          <p:cNvSpPr txBox="1"/>
          <p:nvPr/>
        </p:nvSpPr>
        <p:spPr>
          <a:xfrm>
            <a:off x="4752827" y="1694363"/>
            <a:ext cx="31537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req_valid / insn / rs1 / rs2 / frm / trans_id</a:t>
            </a:r>
          </a:p>
        </p:txBody>
      </p:sp>
      <p:sp>
        <p:nvSpPr>
          <p:cNvPr id="51" name="text-050: req_ready；resp_valid / result / exceptio"/>
          <p:cNvSpPr txBox="1"/>
          <p:nvPr/>
        </p:nvSpPr>
        <p:spPr>
          <a:xfrm>
            <a:off x="4640513" y="2370003"/>
            <a:ext cx="3378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req_ready；resp_valid / result / exception / ID</a:t>
            </a:r>
          </a:p>
        </p:txBody>
      </p:sp>
      <p:sp>
        <p:nvSpPr>
          <p:cNvPr id="52" name="text-051: load/store_complete / store_pending / ff"/>
          <p:cNvSpPr txBox="1"/>
          <p:nvPr/>
        </p:nvSpPr>
        <p:spPr>
          <a:xfrm>
            <a:off x="4692092" y="3045643"/>
            <a:ext cx="3275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load/store_complete / store_pending / fflags</a:t>
            </a:r>
          </a:p>
        </p:txBody>
      </p:sp>
      <p:sp>
        <p:nvSpPr>
          <p:cNvPr id="53" name="text-052: MMU 请求与应答；L1 invalidate 协作"/>
          <p:cNvSpPr txBox="1"/>
          <p:nvPr/>
        </p:nvSpPr>
        <p:spPr>
          <a:xfrm>
            <a:off x="4964593" y="3721283"/>
            <a:ext cx="27301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请求与应答；L1 invalidate 协作</a:t>
            </a:r>
          </a:p>
        </p:txBody>
      </p:sp>
      <p:sp>
        <p:nvSpPr>
          <p:cNvPr id="54" name="rect-053"/>
          <p:cNvSpPr/>
          <p:nvPr/>
        </p:nvSpPr>
        <p:spPr>
          <a:xfrm>
            <a:off x="3804920" y="4765040"/>
            <a:ext cx="5085080" cy="938784"/>
          </a:xfrm>
          <a:prstGeom prst="roundRect">
            <a:avLst>
              <a:gd name="adj" fmla="val 530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3804920" y="4765040"/>
            <a:ext cx="35560" cy="93878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接受、应答、数据完成分别观察"/>
          <p:cNvSpPr txBox="1"/>
          <p:nvPr/>
        </p:nvSpPr>
        <p:spPr>
          <a:xfrm>
            <a:off x="3925824" y="47929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接受、应答、数据完成分别观察</a:t>
            </a:r>
          </a:p>
        </p:txBody>
      </p:sp>
      <p:sp>
        <p:nvSpPr>
          <p:cNvPr id="57" name="text-056: 算术指令可能先应答，VRF 随后完成"/>
          <p:cNvSpPr txBox="1"/>
          <p:nvPr/>
        </p:nvSpPr>
        <p:spPr>
          <a:xfrm>
            <a:off x="3925824" y="5079675"/>
            <a:ext cx="265332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算术指令可能先应答，VRF 随后完成</a:t>
            </a:r>
          </a:p>
        </p:txBody>
      </p:sp>
      <p:sp>
        <p:nvSpPr>
          <p:cNvPr id="58" name="text-057: load 地址应答不表示所有 AXI 数据已返回"/>
          <p:cNvSpPr txBox="1"/>
          <p:nvPr/>
        </p:nvSpPr>
        <p:spPr>
          <a:xfrm>
            <a:off x="3925824" y="5293035"/>
            <a:ext cx="29906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地址应答不表示所有 AXI 数据已返回</a:t>
            </a:r>
          </a:p>
        </p:txBody>
      </p:sp>
      <p:sp>
        <p:nvSpPr>
          <p:cNvPr id="59" name="rect-058"/>
          <p:cNvSpPr/>
          <p:nvPr/>
        </p:nvSpPr>
        <p:spPr>
          <a:xfrm>
            <a:off x="2844800" y="6471920"/>
            <a:ext cx="85344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2844800" y="647192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Ara AXI → invalidation filter → 位宽适配 → C"/>
          <p:cNvSpPr txBox="1"/>
          <p:nvPr/>
        </p:nvSpPr>
        <p:spPr>
          <a:xfrm>
            <a:off x="2965704" y="6499799"/>
            <a:ext cx="44370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AXI → invalidation filter → 位宽适配 → Crossbar</a:t>
            </a:r>
          </a:p>
        </p:txBody>
      </p:sp>
      <p:sp>
        <p:nvSpPr>
          <p:cNvPr id="62" name="text-061: 与 CPU L1 数据口分开；B 错误处理的本地 TODO 仍需动态验证"/>
          <p:cNvSpPr txBox="1"/>
          <p:nvPr/>
        </p:nvSpPr>
        <p:spPr>
          <a:xfrm>
            <a:off x="2965704" y="6778874"/>
            <a:ext cx="47131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CPU L1 数据口分开；B 错误处理的本地 TODO 仍需动态验证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0" y="1351280"/>
            <a:ext cx="7467600" cy="33426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7914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1150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294120" y="279146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26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601200" y="27914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582656" y="27559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018280" y="63119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4964176" y="62763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4729480" y="3662680"/>
            <a:ext cx="2169160" cy="2062480"/>
          </a:xfrm>
          <a:custGeom>
            <a:avLst/>
            <a:gdLst/>
            <a:ahLst/>
            <a:cxnLst/>
            <a:rect l="0" t="0" r="r" b="b"/>
            <a:pathLst>
              <a:path w="2169160" h="2062480">
                <a:moveTo>
                  <a:pt x="2169160" y="2062480"/>
                </a:moveTo>
                <a:lnTo>
                  <a:pt x="2169160" y="1564640"/>
                </a:lnTo>
                <a:lnTo>
                  <a:pt x="0" y="156464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693920" y="366268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DDR 子系统：AXI 事务、控制器、PHY 与器件引脚"/>
          <p:cNvSpPr txBox="1"/>
          <p:nvPr/>
        </p:nvSpPr>
        <p:spPr>
          <a:xfrm>
            <a:off x="483616" y="271109"/>
            <a:ext cx="588203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DDR 子系统：AXI 事务、控制器、PHY 与器件引脚</a:t>
            </a:r>
          </a:p>
        </p:txBody>
      </p:sp>
      <p:sp>
        <p:nvSpPr>
          <p:cNvPr id="18" name="text-017: AXI 是事务接口；DQ / DQS / 命令引脚是存储器电气接口。两侧不能直接"/>
          <p:cNvSpPr txBox="1"/>
          <p:nvPr/>
        </p:nvSpPr>
        <p:spPr>
          <a:xfrm>
            <a:off x="483616" y="676778"/>
            <a:ext cx="591366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是事务接口；DQ / DQS / 命令引脚是存储器电气接口。两侧不能直接相连。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依据：现有 FPGA dram_wrapper_xilinx 边界；ASIC 供"/>
          <p:cNvSpPr txBox="1"/>
          <p:nvPr/>
        </p:nvSpPr>
        <p:spPr>
          <a:xfrm>
            <a:off x="341376" y="7726477"/>
            <a:ext cx="53937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依据：现有 FPGA dram_wrapper_xilinx 边界；ASIC 供应商控制器/PHY 接口尚未冻结</a:t>
            </a:r>
          </a:p>
        </p:txBody>
      </p:sp>
      <p:sp>
        <p:nvSpPr>
          <p:cNvPr id="21" name="text-020: 平台存储子系统：实现由 FPGA / ASIC 平台承担"/>
          <p:cNvSpPr txBox="1"/>
          <p:nvPr/>
        </p:nvSpPr>
        <p:spPr>
          <a:xfrm>
            <a:off x="2972816" y="1408176"/>
            <a:ext cx="3917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平台存储子系统：实现由 FPGA / ASIC 平台承担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920240"/>
            <a:ext cx="1991360" cy="1742440"/>
          </a:xfrm>
          <a:prstGeom prst="roundRect">
            <a:avLst>
              <a:gd name="adj" fmla="val 2857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920240"/>
            <a:ext cx="35560" cy="1742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SoC LLC 下游"/>
          <p:cNvSpPr txBox="1"/>
          <p:nvPr/>
        </p:nvSpPr>
        <p:spPr>
          <a:xfrm>
            <a:off x="476504" y="1948119"/>
            <a:ext cx="1293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SoC LLC 下游</a:t>
            </a:r>
          </a:p>
        </p:txBody>
      </p:sp>
      <p:sp>
        <p:nvSpPr>
          <p:cNvPr id="25" name="text-024: AXI4 事务"/>
          <p:cNvSpPr txBox="1"/>
          <p:nvPr/>
        </p:nvSpPr>
        <p:spPr>
          <a:xfrm>
            <a:off x="476504" y="2227194"/>
            <a:ext cx="8600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AXI4 事务</a:t>
            </a:r>
          </a:p>
        </p:txBody>
      </p:sp>
      <p:sp>
        <p:nvSpPr>
          <p:cNvPr id="26" name="text-025: ID / burst / STRB"/>
          <p:cNvSpPr txBox="1"/>
          <p:nvPr/>
        </p:nvSpPr>
        <p:spPr>
          <a:xfrm>
            <a:off x="476504" y="2440554"/>
            <a:ext cx="143147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burst / STRB</a:t>
            </a:r>
          </a:p>
        </p:txBody>
      </p:sp>
      <p:sp>
        <p:nvSpPr>
          <p:cNvPr id="27" name="text-026: RESP / 背压"/>
          <p:cNvSpPr txBox="1"/>
          <p:nvPr/>
        </p:nvSpPr>
        <p:spPr>
          <a:xfrm>
            <a:off x="476504" y="2653914"/>
            <a:ext cx="10594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RESP / 背压</a:t>
            </a:r>
          </a:p>
        </p:txBody>
      </p:sp>
      <p:sp>
        <p:nvSpPr>
          <p:cNvPr id="28" name="rect-027"/>
          <p:cNvSpPr/>
          <p:nvPr/>
        </p:nvSpPr>
        <p:spPr>
          <a:xfrm>
            <a:off x="3200400" y="1920240"/>
            <a:ext cx="3093720" cy="1742440"/>
          </a:xfrm>
          <a:prstGeom prst="roundRect">
            <a:avLst>
              <a:gd name="adj" fmla="val 285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3200400" y="1920240"/>
            <a:ext cx="35560" cy="1742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适配 / 控制器"/>
          <p:cNvSpPr txBox="1"/>
          <p:nvPr/>
        </p:nvSpPr>
        <p:spPr>
          <a:xfrm>
            <a:off x="3321304" y="194811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适配 / 控制器</a:t>
            </a:r>
          </a:p>
        </p:txBody>
      </p:sp>
      <p:sp>
        <p:nvSpPr>
          <p:cNvPr id="31" name="text-030: 可选 CDC / 宽度适配"/>
          <p:cNvSpPr txBox="1"/>
          <p:nvPr/>
        </p:nvSpPr>
        <p:spPr>
          <a:xfrm>
            <a:off x="3321304" y="2227194"/>
            <a:ext cx="1687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CDC / 宽度适配</a:t>
            </a:r>
          </a:p>
        </p:txBody>
      </p:sp>
      <p:sp>
        <p:nvSpPr>
          <p:cNvPr id="32" name="text-031: 地址映射、队列、调度"/>
          <p:cNvSpPr txBox="1"/>
          <p:nvPr/>
        </p:nvSpPr>
        <p:spPr>
          <a:xfrm>
            <a:off x="3321304" y="244055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地址映射、队列、调度</a:t>
            </a:r>
          </a:p>
        </p:txBody>
      </p:sp>
      <p:sp>
        <p:nvSpPr>
          <p:cNvPr id="33" name="text-032: 刷新与错误状态"/>
          <p:cNvSpPr txBox="1"/>
          <p:nvPr/>
        </p:nvSpPr>
        <p:spPr>
          <a:xfrm>
            <a:off x="3321304" y="26539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刷新与错误状态</a:t>
            </a:r>
          </a:p>
        </p:txBody>
      </p:sp>
      <p:sp>
        <p:nvSpPr>
          <p:cNvPr id="34" name="rect-033"/>
          <p:cNvSpPr/>
          <p:nvPr/>
        </p:nvSpPr>
        <p:spPr>
          <a:xfrm>
            <a:off x="7112000" y="1920240"/>
            <a:ext cx="2489200" cy="1742440"/>
          </a:xfrm>
          <a:prstGeom prst="roundRect">
            <a:avLst>
              <a:gd name="adj" fmla="val 2857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7112000" y="1920240"/>
            <a:ext cx="35560" cy="1742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DR PHY"/>
          <p:cNvSpPr txBox="1"/>
          <p:nvPr/>
        </p:nvSpPr>
        <p:spPr>
          <a:xfrm>
            <a:off x="7232904" y="1948119"/>
            <a:ext cx="9274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DDR PHY</a:t>
            </a:r>
          </a:p>
        </p:txBody>
      </p:sp>
      <p:sp>
        <p:nvSpPr>
          <p:cNvPr id="37" name="text-036: 训练、采样、对齐"/>
          <p:cNvSpPr txBox="1"/>
          <p:nvPr/>
        </p:nvSpPr>
        <p:spPr>
          <a:xfrm>
            <a:off x="7232904" y="222719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训练、采样、对齐</a:t>
            </a:r>
          </a:p>
        </p:txBody>
      </p:sp>
      <p:sp>
        <p:nvSpPr>
          <p:cNvPr id="38" name="text-037: 时钟与 DQ / DQS"/>
          <p:cNvSpPr txBox="1"/>
          <p:nvPr/>
        </p:nvSpPr>
        <p:spPr>
          <a:xfrm>
            <a:off x="7232904" y="2440554"/>
            <a:ext cx="14189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时钟与 DQ / DQS</a:t>
            </a:r>
          </a:p>
        </p:txBody>
      </p:sp>
      <p:sp>
        <p:nvSpPr>
          <p:cNvPr id="39" name="text-038: 命令 / 电气时序"/>
          <p:cNvSpPr txBox="1"/>
          <p:nvPr/>
        </p:nvSpPr>
        <p:spPr>
          <a:xfrm>
            <a:off x="7232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 / 电气时序</a:t>
            </a:r>
          </a:p>
        </p:txBody>
      </p:sp>
      <p:sp>
        <p:nvSpPr>
          <p:cNvPr id="40" name="rect-039"/>
          <p:cNvSpPr/>
          <p:nvPr/>
        </p:nvSpPr>
        <p:spPr>
          <a:xfrm>
            <a:off x="10668000" y="1920240"/>
            <a:ext cx="1742440" cy="1742440"/>
          </a:xfrm>
          <a:prstGeom prst="roundRect">
            <a:avLst>
              <a:gd name="adj" fmla="val 2857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10668000" y="1920240"/>
            <a:ext cx="35560" cy="1742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DRAM 器件"/>
          <p:cNvSpPr txBox="1"/>
          <p:nvPr/>
        </p:nvSpPr>
        <p:spPr>
          <a:xfrm>
            <a:off x="10788904" y="1948119"/>
            <a:ext cx="11015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器件</a:t>
            </a:r>
          </a:p>
        </p:txBody>
      </p:sp>
      <p:sp>
        <p:nvSpPr>
          <p:cNvPr id="43" name="text-042: bank / row /"/>
          <p:cNvSpPr txBox="1"/>
          <p:nvPr/>
        </p:nvSpPr>
        <p:spPr>
          <a:xfrm>
            <a:off x="10788904" y="2227194"/>
            <a:ext cx="107523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</a:t>
            </a:r>
          </a:p>
        </p:txBody>
      </p:sp>
      <p:sp>
        <p:nvSpPr>
          <p:cNvPr id="44" name="text-043: column"/>
          <p:cNvSpPr txBox="1"/>
          <p:nvPr/>
        </p:nvSpPr>
        <p:spPr>
          <a:xfrm>
            <a:off x="10788904" y="2440554"/>
            <a:ext cx="67970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column</a:t>
            </a:r>
          </a:p>
        </p:txBody>
      </p:sp>
      <p:sp>
        <p:nvSpPr>
          <p:cNvPr id="45" name="text-044: 存储单元 / 刷新"/>
          <p:cNvSpPr txBox="1"/>
          <p:nvPr/>
        </p:nvSpPr>
        <p:spPr>
          <a:xfrm>
            <a:off x="10788904" y="265391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存储单元 / 刷新</a:t>
            </a:r>
          </a:p>
        </p:txBody>
      </p:sp>
      <p:sp>
        <p:nvSpPr>
          <p:cNvPr id="46" name="text-045: 引脚与板级连线"/>
          <p:cNvSpPr txBox="1"/>
          <p:nvPr/>
        </p:nvSpPr>
        <p:spPr>
          <a:xfrm>
            <a:off x="10788904" y="28672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引脚与板级连线</a:t>
            </a:r>
          </a:p>
        </p:txBody>
      </p:sp>
      <p:sp>
        <p:nvSpPr>
          <p:cNvPr id="47" name="rect-046"/>
          <p:cNvSpPr/>
          <p:nvPr/>
        </p:nvSpPr>
        <p:spPr>
          <a:xfrm>
            <a:off x="462280" y="5725160"/>
            <a:ext cx="355600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62280" y="57251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平台初始化固件"/>
          <p:cNvSpPr txBox="1"/>
          <p:nvPr/>
        </p:nvSpPr>
        <p:spPr>
          <a:xfrm>
            <a:off x="583184" y="575303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平台初始化固件</a:t>
            </a:r>
          </a:p>
        </p:txBody>
      </p:sp>
      <p:sp>
        <p:nvSpPr>
          <p:cNvPr id="50" name="text-049: 配置 PLL / 控制寄存器"/>
          <p:cNvSpPr txBox="1"/>
          <p:nvPr/>
        </p:nvSpPr>
        <p:spPr>
          <a:xfrm>
            <a:off x="583184" y="6024433"/>
            <a:ext cx="1873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 PLL / 控制寄存器</a:t>
            </a:r>
          </a:p>
        </p:txBody>
      </p:sp>
      <p:sp>
        <p:nvSpPr>
          <p:cNvPr id="51" name="text-050: 轮询状态、超时与失败回退"/>
          <p:cNvSpPr txBox="1"/>
          <p:nvPr/>
        </p:nvSpPr>
        <p:spPr>
          <a:xfrm>
            <a:off x="583184" y="62377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轮询状态、超时与失败回退</a:t>
            </a:r>
          </a:p>
        </p:txBody>
      </p:sp>
      <p:sp>
        <p:nvSpPr>
          <p:cNvPr id="52" name="text-051: 运行软件可重复查询状态"/>
          <p:cNvSpPr txBox="1"/>
          <p:nvPr/>
        </p:nvSpPr>
        <p:spPr>
          <a:xfrm>
            <a:off x="583184" y="64511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运行软件可重复查询状态</a:t>
            </a:r>
          </a:p>
        </p:txBody>
      </p:sp>
      <p:sp>
        <p:nvSpPr>
          <p:cNvPr id="53" name="rect-052"/>
          <p:cNvSpPr/>
          <p:nvPr/>
        </p:nvSpPr>
        <p:spPr>
          <a:xfrm>
            <a:off x="5049520" y="5725160"/>
            <a:ext cx="73253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5049520" y="57251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放行条件：PLL lock + 初始化 / 校准完成 + 复位协调"/>
          <p:cNvSpPr txBox="1"/>
          <p:nvPr/>
        </p:nvSpPr>
        <p:spPr>
          <a:xfrm>
            <a:off x="5170424" y="5753039"/>
            <a:ext cx="446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放行条件：PLL lock + 初始化 / 校准完成 + 复位协调</a:t>
            </a:r>
          </a:p>
        </p:txBody>
      </p:sp>
      <p:sp>
        <p:nvSpPr>
          <p:cNvPr id="56" name="text-055: 执行初始化的代码、栈必须先位于可用存储"/>
          <p:cNvSpPr txBox="1"/>
          <p:nvPr/>
        </p:nvSpPr>
        <p:spPr>
          <a:xfrm>
            <a:off x="5170424" y="6024433"/>
            <a:ext cx="34137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执行初始化的代码、栈必须先位于可用存储</a:t>
            </a:r>
          </a:p>
        </p:txBody>
      </p:sp>
      <p:sp>
        <p:nvSpPr>
          <p:cNvPr id="57" name="text-056: 供应商需给出 AXI 限制、容量、ECC / 错误、寄存器、模型与复位顺序"/>
          <p:cNvSpPr txBox="1"/>
          <p:nvPr/>
        </p:nvSpPr>
        <p:spPr>
          <a:xfrm>
            <a:off x="5170424" y="6237793"/>
            <a:ext cx="54406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供应商需给出 AXI 限制、容量、ECC / 错误、寄存器、模型与复位顺序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351280"/>
            <a:ext cx="5369560" cy="3840480"/>
          </a:xfrm>
          <a:prstGeom prst="roundRect">
            <a:avLst>
              <a:gd name="adj" fmla="val 222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6934200" y="1351280"/>
            <a:ext cx="5405120" cy="3840480"/>
          </a:xfrm>
          <a:prstGeom prst="roundRect">
            <a:avLst>
              <a:gd name="adj" fmla="val 2222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1150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7594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36760" y="28803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0120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107944" y="4729480"/>
            <a:ext cx="3292856" cy="1102360"/>
          </a:xfrm>
          <a:custGeom>
            <a:avLst/>
            <a:gdLst/>
            <a:ahLst/>
            <a:cxnLst/>
            <a:rect l="0" t="0" r="r" b="b"/>
            <a:pathLst>
              <a:path w="3292856" h="1102360">
                <a:moveTo>
                  <a:pt x="3556" y="0"/>
                </a:moveTo>
                <a:lnTo>
                  <a:pt x="0" y="746760"/>
                </a:lnTo>
                <a:lnTo>
                  <a:pt x="3292856" y="746760"/>
                </a:lnTo>
                <a:lnTo>
                  <a:pt x="3292856" y="11023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4729480"/>
            <a:ext cx="3235960" cy="1102360"/>
          </a:xfrm>
          <a:custGeom>
            <a:avLst/>
            <a:gdLst/>
            <a:ahLst/>
            <a:cxnLst/>
            <a:rect l="0" t="0" r="r" b="b"/>
            <a:pathLst>
              <a:path w="3235960" h="1102360">
                <a:moveTo>
                  <a:pt x="3235960" y="0"/>
                </a:moveTo>
                <a:lnTo>
                  <a:pt x="3235960" y="746760"/>
                </a:lnTo>
                <a:lnTo>
                  <a:pt x="0" y="746760"/>
                </a:lnTo>
                <a:lnTo>
                  <a:pt x="0" y="11023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未来 DDR 旁路：数据汇合不等于一致性自动成立"/>
          <p:cNvSpPr txBox="1"/>
          <p:nvPr/>
        </p:nvSpPr>
        <p:spPr>
          <a:xfrm>
            <a:off x="483616" y="271109"/>
            <a:ext cx="577024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 DDR 旁路：数据汇合不等于一致性自动成立</a:t>
            </a:r>
          </a:p>
        </p:txBody>
      </p:sp>
      <p:sp>
        <p:nvSpPr>
          <p:cNvPr id="17" name="text-016: CPU / Ara 保留 LLC 路径；NPU / ISP 数据绕过 LLC 是"/>
          <p:cNvSpPr txBox="1"/>
          <p:nvPr/>
        </p:nvSpPr>
        <p:spPr>
          <a:xfrm>
            <a:off x="483616" y="676778"/>
            <a:ext cx="56938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保留 LLC 路径；NPU / ISP 数据绕过 LLC 是用户目标，尚未实现。</a:t>
            </a:r>
          </a:p>
        </p:txBody>
      </p:sp>
      <p:sp>
        <p:nvSpPr>
          <p:cNvPr id="18" name="text-017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9" name="text-018: 依据：当前 cheshire_soc.sv 主存路径与 M01 待定义接口契约"/>
          <p:cNvSpPr txBox="1"/>
          <p:nvPr/>
        </p:nvSpPr>
        <p:spPr>
          <a:xfrm>
            <a:off x="341376" y="7726477"/>
            <a:ext cx="40152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依据：当前 cheshire_soc.sv 主存路径与 M01 待定义接口契约</a:t>
            </a:r>
          </a:p>
        </p:txBody>
      </p:sp>
      <p:sp>
        <p:nvSpPr>
          <p:cNvPr id="20" name="text-019: 现有 CPU / Ara 主存路径"/>
          <p:cNvSpPr txBox="1"/>
          <p:nvPr/>
        </p:nvSpPr>
        <p:spPr>
          <a:xfrm>
            <a:off x="554736" y="1408176"/>
            <a:ext cx="21256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CPU / Ara 主存路径</a:t>
            </a:r>
          </a:p>
        </p:txBody>
      </p:sp>
      <p:sp>
        <p:nvSpPr>
          <p:cNvPr id="21" name="text-020: 未来 NPU / ISP 旁路"/>
          <p:cNvSpPr txBox="1"/>
          <p:nvPr/>
        </p:nvSpPr>
        <p:spPr>
          <a:xfrm>
            <a:off x="7062216" y="1408176"/>
            <a:ext cx="17807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未来 NPU / ISP 旁路</a:t>
            </a:r>
          </a:p>
        </p:txBody>
      </p:sp>
      <p:sp>
        <p:nvSpPr>
          <p:cNvPr id="22" name="rect-021"/>
          <p:cNvSpPr/>
          <p:nvPr/>
        </p:nvSpPr>
        <p:spPr>
          <a:xfrm>
            <a:off x="746760" y="1920240"/>
            <a:ext cx="472948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746760" y="19202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 / 当前互连"/>
          <p:cNvSpPr txBox="1"/>
          <p:nvPr/>
        </p:nvSpPr>
        <p:spPr>
          <a:xfrm>
            <a:off x="867664" y="1948119"/>
            <a:ext cx="19368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 / 当前互连</a:t>
            </a:r>
          </a:p>
        </p:txBody>
      </p:sp>
      <p:sp>
        <p:nvSpPr>
          <p:cNvPr id="25" name="text-024: L1 cache 与 pending 协作"/>
          <p:cNvSpPr txBox="1"/>
          <p:nvPr/>
        </p:nvSpPr>
        <p:spPr>
          <a:xfrm>
            <a:off x="867664" y="2219513"/>
            <a:ext cx="21010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 pending 协作</a:t>
            </a:r>
          </a:p>
        </p:txBody>
      </p:sp>
      <p:sp>
        <p:nvSpPr>
          <p:cNvPr id="26" name="text-025: 访问共享数据须遵循所有权协议"/>
          <p:cNvSpPr txBox="1"/>
          <p:nvPr/>
        </p:nvSpPr>
        <p:spPr>
          <a:xfrm>
            <a:off x="867664" y="243287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访问共享数据须遵循所有权协议</a:t>
            </a:r>
          </a:p>
        </p:txBody>
      </p:sp>
      <p:sp>
        <p:nvSpPr>
          <p:cNvPr id="27" name="rect-026"/>
          <p:cNvSpPr/>
          <p:nvPr/>
        </p:nvSpPr>
        <p:spPr>
          <a:xfrm>
            <a:off x="746760" y="3804920"/>
            <a:ext cx="4729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746760" y="380492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现有原子处理 → LLC / SPM"/>
          <p:cNvSpPr txBox="1"/>
          <p:nvPr/>
        </p:nvSpPr>
        <p:spPr>
          <a:xfrm>
            <a:off x="867664" y="3832799"/>
            <a:ext cx="24659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现有原子处理 → LLC / SPM</a:t>
            </a:r>
          </a:p>
        </p:txBody>
      </p:sp>
      <p:sp>
        <p:nvSpPr>
          <p:cNvPr id="30" name="text-029: 缓存维护与 AMO / LRSC 监视边界"/>
          <p:cNvSpPr txBox="1"/>
          <p:nvPr/>
        </p:nvSpPr>
        <p:spPr>
          <a:xfrm>
            <a:off x="867664" y="4104193"/>
            <a:ext cx="275051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缓存维护与 AMO / LRSC 监视边界</a:t>
            </a:r>
          </a:p>
        </p:txBody>
      </p:sp>
      <p:sp>
        <p:nvSpPr>
          <p:cNvPr id="31" name="text-030: 小块共享 SRAM / SPM 需另定义接入口"/>
          <p:cNvSpPr txBox="1"/>
          <p:nvPr/>
        </p:nvSpPr>
        <p:spPr>
          <a:xfrm>
            <a:off x="867664" y="4317553"/>
            <a:ext cx="31293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小块共享 SRAM / SPM 需另定义接入口</a:t>
            </a:r>
          </a:p>
        </p:txBody>
      </p:sp>
      <p:sp>
        <p:nvSpPr>
          <p:cNvPr id="32" name="rect-031"/>
          <p:cNvSpPr/>
          <p:nvPr/>
        </p:nvSpPr>
        <p:spPr>
          <a:xfrm>
            <a:off x="7254240" y="1920240"/>
            <a:ext cx="476504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7254240" y="192024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NPU / ISP 独立数据主端"/>
          <p:cNvSpPr txBox="1"/>
          <p:nvPr/>
        </p:nvSpPr>
        <p:spPr>
          <a:xfrm>
            <a:off x="7375144" y="1948119"/>
            <a:ext cx="216641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 独立数据主端</a:t>
            </a:r>
          </a:p>
        </p:txBody>
      </p:sp>
      <p:sp>
        <p:nvSpPr>
          <p:cNvPr id="35" name="text-034: 普通读写绕过 LLC"/>
          <p:cNvSpPr txBox="1"/>
          <p:nvPr/>
        </p:nvSpPr>
        <p:spPr>
          <a:xfrm>
            <a:off x="7375144" y="2219513"/>
            <a:ext cx="15223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普通读写绕过 LLC</a:t>
            </a:r>
          </a:p>
        </p:txBody>
      </p:sp>
      <p:sp>
        <p:nvSpPr>
          <p:cNvPr id="36" name="text-035: 控制寄存器与完成 IRQ 另走控制面"/>
          <p:cNvSpPr txBox="1"/>
          <p:nvPr/>
        </p:nvSpPr>
        <p:spPr>
          <a:xfrm>
            <a:off x="7375144" y="2432873"/>
            <a:ext cx="275451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控制寄存器与完成 IRQ 另走控制面</a:t>
            </a:r>
          </a:p>
        </p:txBody>
      </p:sp>
      <p:sp>
        <p:nvSpPr>
          <p:cNvPr id="37" name="rect-036"/>
          <p:cNvSpPr/>
          <p:nvPr/>
        </p:nvSpPr>
        <p:spPr>
          <a:xfrm>
            <a:off x="7254240" y="3804920"/>
            <a:ext cx="4765040" cy="924560"/>
          </a:xfrm>
          <a:prstGeom prst="roundRect">
            <a:avLst>
              <a:gd name="adj" fmla="val 53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7254240" y="3804920"/>
            <a:ext cx="35560" cy="9245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旁路适配：CDC / 限流 / ID"/>
          <p:cNvSpPr txBox="1"/>
          <p:nvPr/>
        </p:nvSpPr>
        <p:spPr>
          <a:xfrm>
            <a:off x="7375144" y="3832799"/>
            <a:ext cx="24140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旁路适配：CDC / 限流 / ID</a:t>
            </a:r>
          </a:p>
        </p:txBody>
      </p:sp>
      <p:sp>
        <p:nvSpPr>
          <p:cNvPr id="40" name="text-039: 宽度、突发、在途数与错误恢复"/>
          <p:cNvSpPr txBox="1"/>
          <p:nvPr/>
        </p:nvSpPr>
        <p:spPr>
          <a:xfrm>
            <a:off x="7375144" y="410419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宽度、突发、在途数与错误恢复</a:t>
            </a:r>
          </a:p>
        </p:txBody>
      </p:sp>
      <p:sp>
        <p:nvSpPr>
          <p:cNvPr id="41" name="text-040: 旁路普通写也可能影响 reservation"/>
          <p:cNvSpPr txBox="1"/>
          <p:nvPr/>
        </p:nvSpPr>
        <p:spPr>
          <a:xfrm>
            <a:off x="7375144" y="4317553"/>
            <a:ext cx="275684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旁路普通写也可能影响 reservation</a:t>
            </a:r>
          </a:p>
        </p:txBody>
      </p:sp>
      <p:sp>
        <p:nvSpPr>
          <p:cNvPr id="42" name="rect-041"/>
          <p:cNvSpPr/>
          <p:nvPr/>
        </p:nvSpPr>
        <p:spPr>
          <a:xfrm>
            <a:off x="2880360" y="5831840"/>
            <a:ext cx="7040880" cy="711200"/>
          </a:xfrm>
          <a:prstGeom prst="roundRect">
            <a:avLst>
              <a:gd name="adj" fmla="val 7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2880360" y="5831840"/>
            <a:ext cx="35560" cy="7112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新增仲裁 / ID 与顺序适配 → AXI4 DDR CTRL + PHY"/>
          <p:cNvSpPr txBox="1"/>
          <p:nvPr/>
        </p:nvSpPr>
        <p:spPr>
          <a:xfrm>
            <a:off x="3001264" y="5859719"/>
            <a:ext cx="43729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新增仲裁 / ID 与顺序适配 → AXI4 DDR CTRL + PHY</a:t>
            </a:r>
          </a:p>
        </p:txBody>
      </p:sp>
      <p:sp>
        <p:nvSpPr>
          <p:cNvPr id="45" name="text-044: 共享地址布局、全路径可见性与原子协议需要联合验证"/>
          <p:cNvSpPr txBox="1"/>
          <p:nvPr/>
        </p:nvSpPr>
        <p:spPr>
          <a:xfrm>
            <a:off x="3001264" y="6138794"/>
            <a:ext cx="40894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共享地址布局、全路径可见性与原子协议需要联合验证</a:t>
            </a:r>
          </a:p>
        </p:txBody>
      </p:sp>
      <p:sp>
        <p:nvSpPr>
          <p:cNvPr id="46" name="text-045: 契约选择：禁止设备进入共享原子区，或设计覆盖所有访问者的原子 / 一致性协议并验"/>
          <p:cNvSpPr txBox="1"/>
          <p:nvPr/>
        </p:nvSpPr>
        <p:spPr>
          <a:xfrm>
            <a:off x="462280" y="6905752"/>
            <a:ext cx="73109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契约选择：禁止设备进入共享原子区，或设计覆盖所有访问者的原子 / 一致性协议并验证。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44932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78637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858760" y="225806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0" y="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195816" y="22225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77468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0"/>
                </a:moveTo>
                <a:lnTo>
                  <a:pt x="0" y="15290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739120" y="4252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85876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85876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889500"/>
            <a:ext cx="1422400" cy="1"/>
          </a:xfrm>
          <a:custGeom>
            <a:avLst/>
            <a:gdLst/>
            <a:ahLst/>
            <a:cxnLst/>
            <a:rect l="0" t="0" r="r" b="b"/>
            <a:pathLst>
              <a:path w="1422400" h="1">
                <a:moveTo>
                  <a:pt x="14224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49320" y="4853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955800" y="2809240"/>
            <a:ext cx="1" cy="1529080"/>
          </a:xfrm>
          <a:custGeom>
            <a:avLst/>
            <a:gdLst/>
            <a:ahLst/>
            <a:cxnLst/>
            <a:rect l="0" t="0" r="r" b="b"/>
            <a:pathLst>
              <a:path w="1" h="1529080">
                <a:moveTo>
                  <a:pt x="0" y="152908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920240" y="280924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异构任务：所有权状态与异常回收"/>
          <p:cNvSpPr txBox="1"/>
          <p:nvPr/>
        </p:nvSpPr>
        <p:spPr>
          <a:xfrm>
            <a:off x="483616" y="271109"/>
            <a:ext cx="460857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未来异构任务：所有权状态与异常回收</a:t>
            </a:r>
          </a:p>
        </p:txBody>
      </p:sp>
      <p:sp>
        <p:nvSpPr>
          <p:cNvPr id="19" name="text-018: 硬件完成令牌须同时匹配 buffer、epoch 与状态；IRQ 仅触发软件查询"/>
          <p:cNvSpPr txBox="1"/>
          <p:nvPr/>
        </p:nvSpPr>
        <p:spPr>
          <a:xfrm>
            <a:off x="483616" y="676778"/>
            <a:ext cx="533411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硬件完成令牌须同时匹配 buffer、epoch 与状态；IRQ 仅触发软件查询。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教材异构协议伪代码；NPU / ISP 尚未集成"/>
          <p:cNvSpPr txBox="1"/>
          <p:nvPr/>
        </p:nvSpPr>
        <p:spPr>
          <a:xfrm>
            <a:off x="341376" y="7726477"/>
            <a:ext cx="32311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依据：教材异构协议伪代码；NPU / ISP 尚未集成</a:t>
            </a:r>
          </a:p>
        </p:txBody>
      </p:sp>
      <p:sp>
        <p:nvSpPr>
          <p:cNvPr id="22" name="rect-021"/>
          <p:cNvSpPr/>
          <p:nvPr/>
        </p:nvSpPr>
        <p:spPr>
          <a:xfrm>
            <a:off x="46228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462280" y="1706880"/>
            <a:ext cx="35560" cy="11023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FREE"/>
          <p:cNvSpPr txBox="1"/>
          <p:nvPr/>
        </p:nvSpPr>
        <p:spPr>
          <a:xfrm>
            <a:off x="583184" y="1734759"/>
            <a:ext cx="5950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FREE</a:t>
            </a:r>
          </a:p>
        </p:txBody>
      </p:sp>
      <p:sp>
        <p:nvSpPr>
          <p:cNvPr id="25" name="text-024: 分配 buffer"/>
          <p:cNvSpPr txBox="1"/>
          <p:nvPr/>
        </p:nvSpPr>
        <p:spPr>
          <a:xfrm>
            <a:off x="583184" y="2006153"/>
            <a:ext cx="9961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分配 buffer</a:t>
            </a:r>
          </a:p>
        </p:txBody>
      </p:sp>
      <p:sp>
        <p:nvSpPr>
          <p:cNvPr id="26" name="text-025: 选择新 epoch"/>
          <p:cNvSpPr txBox="1"/>
          <p:nvPr/>
        </p:nvSpPr>
        <p:spPr>
          <a:xfrm>
            <a:off x="583184" y="2219513"/>
            <a:ext cx="11838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选择新 epoch</a:t>
            </a:r>
          </a:p>
        </p:txBody>
      </p:sp>
      <p:sp>
        <p:nvSpPr>
          <p:cNvPr id="27" name="rect-026"/>
          <p:cNvSpPr/>
          <p:nvPr/>
        </p:nvSpPr>
        <p:spPr>
          <a:xfrm>
            <a:off x="487172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871720" y="1706880"/>
            <a:ext cx="35560" cy="11023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PRODUCER"/>
          <p:cNvSpPr txBox="1"/>
          <p:nvPr/>
        </p:nvSpPr>
        <p:spPr>
          <a:xfrm>
            <a:off x="4992624" y="1734759"/>
            <a:ext cx="10973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PRODUCER</a:t>
            </a:r>
          </a:p>
        </p:txBody>
      </p:sp>
      <p:sp>
        <p:nvSpPr>
          <p:cNvPr id="30" name="text-029: 独占写入"/>
          <p:cNvSpPr txBox="1"/>
          <p:nvPr/>
        </p:nvSpPr>
        <p:spPr>
          <a:xfrm>
            <a:off x="499262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独占写入</a:t>
            </a:r>
          </a:p>
        </p:txBody>
      </p:sp>
      <p:sp>
        <p:nvSpPr>
          <p:cNvPr id="31" name="text-030: 禁止并发修改"/>
          <p:cNvSpPr txBox="1"/>
          <p:nvPr/>
        </p:nvSpPr>
        <p:spPr>
          <a:xfrm>
            <a:off x="4992624" y="22195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禁止并发修改</a:t>
            </a:r>
          </a:p>
        </p:txBody>
      </p:sp>
      <p:sp>
        <p:nvSpPr>
          <p:cNvPr id="32" name="rect-031"/>
          <p:cNvSpPr/>
          <p:nvPr/>
        </p:nvSpPr>
        <p:spPr>
          <a:xfrm>
            <a:off x="9281160" y="170688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81160" y="170688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PUBLISHED"/>
          <p:cNvSpPr txBox="1"/>
          <p:nvPr/>
        </p:nvSpPr>
        <p:spPr>
          <a:xfrm>
            <a:off x="9402064" y="1734759"/>
            <a:ext cx="11233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PUBLISHED</a:t>
            </a:r>
          </a:p>
        </p:txBody>
      </p:sp>
      <p:sp>
        <p:nvSpPr>
          <p:cNvPr id="35" name="text-034: 排空结果写入"/>
          <p:cNvSpPr txBox="1"/>
          <p:nvPr/>
        </p:nvSpPr>
        <p:spPr>
          <a:xfrm>
            <a:off x="9402064" y="20061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排空结果写入</a:t>
            </a:r>
          </a:p>
        </p:txBody>
      </p:sp>
      <p:sp>
        <p:nvSpPr>
          <p:cNvPr id="36" name="text-035: 发布描述符"/>
          <p:cNvSpPr txBox="1"/>
          <p:nvPr/>
        </p:nvSpPr>
        <p:spPr>
          <a:xfrm>
            <a:off x="9402064" y="221951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发布描述符</a:t>
            </a:r>
          </a:p>
        </p:txBody>
      </p:sp>
      <p:sp>
        <p:nvSpPr>
          <p:cNvPr id="37" name="rect-036"/>
          <p:cNvSpPr/>
          <p:nvPr/>
        </p:nvSpPr>
        <p:spPr>
          <a:xfrm>
            <a:off x="46228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62280" y="4338320"/>
            <a:ext cx="35560" cy="11023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RECLAIM"/>
          <p:cNvSpPr txBox="1"/>
          <p:nvPr/>
        </p:nvSpPr>
        <p:spPr>
          <a:xfrm>
            <a:off x="583184" y="4366199"/>
            <a:ext cx="9128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RECLAIM</a:t>
            </a:r>
          </a:p>
        </p:txBody>
      </p:sp>
      <p:sp>
        <p:nvSpPr>
          <p:cNvPr id="40" name="text-039: 确认消费者排空"/>
          <p:cNvSpPr txBox="1"/>
          <p:nvPr/>
        </p:nvSpPr>
        <p:spPr>
          <a:xfrm>
            <a:off x="583184" y="46375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确认消费者排空</a:t>
            </a:r>
          </a:p>
        </p:txBody>
      </p:sp>
      <p:sp>
        <p:nvSpPr>
          <p:cNvPr id="41" name="text-040: 回收前验证状态"/>
          <p:cNvSpPr txBox="1"/>
          <p:nvPr/>
        </p:nvSpPr>
        <p:spPr>
          <a:xfrm>
            <a:off x="58318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回收前验证状态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87172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871720" y="4338320"/>
            <a:ext cx="35560" cy="11023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ONSUMER"/>
          <p:cNvSpPr txBox="1"/>
          <p:nvPr/>
        </p:nvSpPr>
        <p:spPr>
          <a:xfrm>
            <a:off x="4992624" y="4366199"/>
            <a:ext cx="11454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CONSUMER</a:t>
            </a:r>
          </a:p>
        </p:txBody>
      </p:sp>
      <p:sp>
        <p:nvSpPr>
          <p:cNvPr id="45" name="text-044: 读取 / 计算"/>
          <p:cNvSpPr txBox="1"/>
          <p:nvPr/>
        </p:nvSpPr>
        <p:spPr>
          <a:xfrm>
            <a:off x="4992624" y="4637593"/>
            <a:ext cx="10444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/ 计算</a:t>
            </a:r>
          </a:p>
        </p:txBody>
      </p:sp>
      <p:sp>
        <p:nvSpPr>
          <p:cNvPr id="46" name="text-045: 可写自己的结果"/>
          <p:cNvSpPr txBox="1"/>
          <p:nvPr/>
        </p:nvSpPr>
        <p:spPr>
          <a:xfrm>
            <a:off x="4992624" y="4850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可写自己的结果</a:t>
            </a:r>
          </a:p>
        </p:txBody>
      </p:sp>
      <p:sp>
        <p:nvSpPr>
          <p:cNvPr id="47" name="rect-046"/>
          <p:cNvSpPr/>
          <p:nvPr/>
        </p:nvSpPr>
        <p:spPr>
          <a:xfrm>
            <a:off x="9281160" y="4338320"/>
            <a:ext cx="2987040" cy="1102360"/>
          </a:xfrm>
          <a:prstGeom prst="roundRect">
            <a:avLst>
              <a:gd name="adj" fmla="val 451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281160" y="4338320"/>
            <a:ext cx="35560" cy="11023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QUEUED"/>
          <p:cNvSpPr txBox="1"/>
          <p:nvPr/>
        </p:nvSpPr>
        <p:spPr>
          <a:xfrm>
            <a:off x="9402064" y="4366199"/>
            <a:ext cx="8721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QUEUED</a:t>
            </a:r>
          </a:p>
        </p:txBody>
      </p:sp>
      <p:sp>
        <p:nvSpPr>
          <p:cNvPr id="50" name="text-049: 通知消费者"/>
          <p:cNvSpPr txBox="1"/>
          <p:nvPr/>
        </p:nvSpPr>
        <p:spPr>
          <a:xfrm>
            <a:off x="9402064" y="46375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通知消费者</a:t>
            </a:r>
          </a:p>
        </p:txBody>
      </p:sp>
      <p:sp>
        <p:nvSpPr>
          <p:cNvPr id="51" name="text-050: 转移所有权"/>
          <p:cNvSpPr txBox="1"/>
          <p:nvPr/>
        </p:nvSpPr>
        <p:spPr>
          <a:xfrm>
            <a:off x="9402064" y="48509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转移所有权</a:t>
            </a:r>
          </a:p>
        </p:txBody>
      </p:sp>
      <p:sp>
        <p:nvSpPr>
          <p:cNvPr id="52" name="rect-051"/>
          <p:cNvSpPr/>
          <p:nvPr/>
        </p:nvSpPr>
        <p:spPr>
          <a:xfrm>
            <a:off x="462280" y="6258560"/>
            <a:ext cx="11805920" cy="853440"/>
          </a:xfrm>
          <a:prstGeom prst="roundRect">
            <a:avLst>
              <a:gd name="adj" fmla="val 5833"/>
            </a:avLst>
          </a:prstGeom>
          <a:solidFill>
            <a:srgbClr val="FBEFF0"/>
          </a:solidFill>
          <a:ln w="11379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2280" y="6258560"/>
            <a:ext cx="35560" cy="853440"/>
          </a:xfrm>
          <a:prstGeom prst="rect">
            <a:avLst/>
          </a:prstGeom>
          <a:solidFill>
            <a:srgbClr val="A43D42"/>
          </a:solidFill>
          <a:ln w="10668" cap="flat">
            <a:solidFill>
              <a:srgbClr val="A43D4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任意在途状态发生超时 / 错误 → QUARANTINED"/>
          <p:cNvSpPr txBox="1"/>
          <p:nvPr/>
        </p:nvSpPr>
        <p:spPr>
          <a:xfrm>
            <a:off x="583184" y="6286439"/>
            <a:ext cx="407784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A43D42"/>
                </a:solidFill>
                <a:latin typeface="WenQuanYi Zen Hei"/>
                <a:ea typeface="WenQuanYi Zen Hei"/>
                <a:cs typeface="WenQuanYi Zen Hei"/>
              </a:rPr>
              <a:t>任意在途状态发生超时 / 错误 → QUARANTINED</a:t>
            </a:r>
          </a:p>
        </p:txBody>
      </p:sp>
      <p:sp>
        <p:nvSpPr>
          <p:cNvPr id="55" name="text-054: 先隔离并确认设备停止，再决定恢复或回收；过期完成令牌不得释放新 epoch 的缓"/>
          <p:cNvSpPr txBox="1"/>
          <p:nvPr/>
        </p:nvSpPr>
        <p:spPr>
          <a:xfrm>
            <a:off x="583184" y="6573195"/>
            <a:ext cx="6295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先隔离并确认设备停止，再决定恢复或回收；过期完成令牌不得释放新 epoch 的缓冲区。</a:t>
            </a:r>
          </a:p>
        </p:txBody>
      </p:sp>
      <p:sp>
        <p:nvSpPr>
          <p:cNvPr id="56" name="text-055: 正常转移形成闭环；异常路径进入隔离状态"/>
          <p:cNvSpPr txBox="1"/>
          <p:nvPr/>
        </p:nvSpPr>
        <p:spPr>
          <a:xfrm>
            <a:off x="4409440" y="3391855"/>
            <a:ext cx="369824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正常转移形成闭环；异常路径进入隔离状态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6400800" y="288036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6365240" y="3648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098040" y="2880360"/>
            <a:ext cx="2631440" cy="1280160"/>
          </a:xfrm>
          <a:custGeom>
            <a:avLst/>
            <a:gdLst/>
            <a:ahLst/>
            <a:cxnLst/>
            <a:rect l="0" t="0" r="r" b="b"/>
            <a:pathLst>
              <a:path w="2631440" h="1280160">
                <a:moveTo>
                  <a:pt x="2631440" y="1280160"/>
                </a:moveTo>
                <a:lnTo>
                  <a:pt x="0" y="128016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062480" y="288036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60120" y="2880360"/>
            <a:ext cx="5440680" cy="2631440"/>
          </a:xfrm>
          <a:custGeom>
            <a:avLst/>
            <a:gdLst/>
            <a:ahLst/>
            <a:cxnLst/>
            <a:rect l="0" t="0" r="r" b="b"/>
            <a:pathLst>
              <a:path w="5440680" h="2631440">
                <a:moveTo>
                  <a:pt x="3556" y="0"/>
                </a:moveTo>
                <a:lnTo>
                  <a:pt x="0" y="2204720"/>
                </a:lnTo>
                <a:lnTo>
                  <a:pt x="5440680" y="2204720"/>
                </a:lnTo>
                <a:lnTo>
                  <a:pt x="544068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6400800" y="462280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>
                <a:moveTo>
                  <a:pt x="0" y="0"/>
                </a:moveTo>
                <a:lnTo>
                  <a:pt x="0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880360"/>
            <a:ext cx="4267200" cy="2631440"/>
          </a:xfrm>
          <a:custGeom>
            <a:avLst/>
            <a:gdLst/>
            <a:ahLst/>
            <a:cxnLst/>
            <a:rect l="0" t="0" r="r" b="b"/>
            <a:pathLst>
              <a:path w="4267200" h="2631440">
                <a:moveTo>
                  <a:pt x="4267200" y="0"/>
                </a:moveTo>
                <a:lnTo>
                  <a:pt x="4267200" y="2204720"/>
                </a:lnTo>
                <a:lnTo>
                  <a:pt x="0" y="2204720"/>
                </a:lnTo>
                <a:lnTo>
                  <a:pt x="0" y="26314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6365240" y="5426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当前共享数据：Ara 的失效协作有明确参与者"/>
          <p:cNvSpPr txBox="1"/>
          <p:nvPr/>
        </p:nvSpPr>
        <p:spPr>
          <a:xfrm>
            <a:off x="483616" y="271109"/>
            <a:ext cx="530443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当前共享数据：Ara 的失效协作有明确参与者</a:t>
            </a:r>
          </a:p>
        </p:txBody>
      </p:sp>
      <p:sp>
        <p:nvSpPr>
          <p:cNvPr id="17" name="text-016: CPU / Ara 的协作不自动扩展到 iDMA、其他设备或未来 NPU。"/>
          <p:cNvSpPr txBox="1"/>
          <p:nvPr/>
        </p:nvSpPr>
        <p:spPr>
          <a:xfrm>
            <a:off x="483616" y="676778"/>
            <a:ext cx="46440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的协作不自动扩展到 iDMA、其他设备或未来 NPU。</a:t>
            </a:r>
          </a:p>
        </p:txBody>
      </p:sp>
      <p:sp>
        <p:nvSpPr>
          <p:cNvPr id="18" name="text-01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9" name="text-018: 源码：csr_regfile / acc_dispatcher / axi_in"/>
          <p:cNvSpPr txBox="1"/>
          <p:nvPr/>
        </p:nvSpPr>
        <p:spPr>
          <a:xfrm>
            <a:off x="341376" y="7726477"/>
            <a:ext cx="449531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源码：csr_regfile / acc_dispatcher / axi_inval_filter / cheshire_soc.sv</a:t>
            </a:r>
          </a:p>
        </p:txBody>
      </p:sp>
      <p:sp>
        <p:nvSpPr>
          <p:cNvPr id="20" name="rect-019"/>
          <p:cNvSpPr/>
          <p:nvPr/>
        </p:nvSpPr>
        <p:spPr>
          <a:xfrm>
            <a:off x="4622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462280" y="15290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· WT L1D + 写缓冲"/>
          <p:cNvSpPr txBox="1"/>
          <p:nvPr/>
        </p:nvSpPr>
        <p:spPr>
          <a:xfrm>
            <a:off x="583184" y="1556959"/>
            <a:ext cx="20774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· WT L1D + 写缓冲</a:t>
            </a:r>
          </a:p>
        </p:txBody>
      </p:sp>
      <p:sp>
        <p:nvSpPr>
          <p:cNvPr id="23" name="text-022: 一致性 CSR 与 pending 等待"/>
          <p:cNvSpPr txBox="1"/>
          <p:nvPr/>
        </p:nvSpPr>
        <p:spPr>
          <a:xfrm>
            <a:off x="583184" y="1828353"/>
            <a:ext cx="23027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一致性 CSR 与 pending 等待</a:t>
            </a:r>
          </a:p>
        </p:txBody>
      </p:sp>
      <p:sp>
        <p:nvSpPr>
          <p:cNvPr id="24" name="text-023: 是否存在缓存副本取决于属性"/>
          <p:cNvSpPr txBox="1"/>
          <p:nvPr/>
        </p:nvSpPr>
        <p:spPr>
          <a:xfrm>
            <a:off x="583184" y="204171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是否存在缓存副本取决于属性</a:t>
            </a:r>
          </a:p>
        </p:txBody>
      </p:sp>
      <p:sp>
        <p:nvSpPr>
          <p:cNvPr id="25" name="text-024: fence 与 cache 操作职责不同"/>
          <p:cNvSpPr txBox="1"/>
          <p:nvPr/>
        </p:nvSpPr>
        <p:spPr>
          <a:xfrm>
            <a:off x="583184" y="2255073"/>
            <a:ext cx="23677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fence 与 cache 操作职责不同</a:t>
            </a:r>
          </a:p>
        </p:txBody>
      </p:sp>
      <p:sp>
        <p:nvSpPr>
          <p:cNvPr id="26" name="rect-025"/>
          <p:cNvSpPr/>
          <p:nvPr/>
        </p:nvSpPr>
        <p:spPr>
          <a:xfrm>
            <a:off x="47294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729480" y="15290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Ara · VRF / VLSU"/>
          <p:cNvSpPr txBox="1"/>
          <p:nvPr/>
        </p:nvSpPr>
        <p:spPr>
          <a:xfrm>
            <a:off x="4850384" y="1556959"/>
            <a:ext cx="1544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VRF / VLSU</a:t>
            </a:r>
          </a:p>
        </p:txBody>
      </p:sp>
      <p:sp>
        <p:nvSpPr>
          <p:cNvPr id="29" name="text-028: 无独立地址标记 D-cache"/>
          <p:cNvSpPr txBox="1"/>
          <p:nvPr/>
        </p:nvSpPr>
        <p:spPr>
          <a:xfrm>
            <a:off x="4850384" y="1828353"/>
            <a:ext cx="2020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无独立地址标记 D-cache</a:t>
            </a:r>
          </a:p>
        </p:txBody>
      </p:sp>
      <p:sp>
        <p:nvSpPr>
          <p:cNvPr id="30" name="text-029: store 通过自身 AXI AW/W"/>
          <p:cNvSpPr txBox="1"/>
          <p:nvPr/>
        </p:nvSpPr>
        <p:spPr>
          <a:xfrm>
            <a:off x="4850384" y="2041713"/>
            <a:ext cx="20844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通过自身 AXI AW/W</a:t>
            </a:r>
          </a:p>
        </p:txBody>
      </p:sp>
      <p:sp>
        <p:nvSpPr>
          <p:cNvPr id="31" name="text-030: VRF 是寄存器文件"/>
          <p:cNvSpPr txBox="1"/>
          <p:nvPr/>
        </p:nvSpPr>
        <p:spPr>
          <a:xfrm>
            <a:off x="4850384" y="2255073"/>
            <a:ext cx="15290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VRF 是寄存器文件</a:t>
            </a:r>
          </a:p>
        </p:txBody>
      </p:sp>
      <p:sp>
        <p:nvSpPr>
          <p:cNvPr id="32" name="rect-031"/>
          <p:cNvSpPr/>
          <p:nvPr/>
        </p:nvSpPr>
        <p:spPr>
          <a:xfrm>
            <a:off x="8996680" y="1529080"/>
            <a:ext cx="3342640" cy="1351280"/>
          </a:xfrm>
          <a:prstGeom prst="roundRect">
            <a:avLst>
              <a:gd name="adj" fmla="val 36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8996680" y="1529080"/>
            <a:ext cx="35560" cy="13512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iDMA / 其他设备"/>
          <p:cNvSpPr txBox="1"/>
          <p:nvPr/>
        </p:nvSpPr>
        <p:spPr>
          <a:xfrm>
            <a:off x="9117584" y="155695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iDMA / 其他设备</a:t>
            </a:r>
          </a:p>
        </p:txBody>
      </p:sp>
      <p:sp>
        <p:nvSpPr>
          <p:cNvPr id="35" name="text-034: 独立 AXI 发起端"/>
          <p:cNvSpPr txBox="1"/>
          <p:nvPr/>
        </p:nvSpPr>
        <p:spPr>
          <a:xfrm>
            <a:off x="9117584" y="1828353"/>
            <a:ext cx="13583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AXI 发起端</a:t>
            </a:r>
          </a:p>
        </p:txBody>
      </p:sp>
      <p:sp>
        <p:nvSpPr>
          <p:cNvPr id="36" name="text-035: 未自动加入 Ara 失效协议"/>
          <p:cNvSpPr txBox="1"/>
          <p:nvPr/>
        </p:nvSpPr>
        <p:spPr>
          <a:xfrm>
            <a:off x="9117584" y="2041713"/>
            <a:ext cx="2051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未自动加入 Ara 失效协议</a:t>
            </a:r>
          </a:p>
        </p:txBody>
      </p:sp>
      <p:sp>
        <p:nvSpPr>
          <p:cNvPr id="37" name="text-036: 驱动需管理数据可见性"/>
          <p:cNvSpPr txBox="1"/>
          <p:nvPr/>
        </p:nvSpPr>
        <p:spPr>
          <a:xfrm>
            <a:off x="9117584" y="225507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驱动需管理数据可见性</a:t>
            </a:r>
          </a:p>
        </p:txBody>
      </p:sp>
      <p:sp>
        <p:nvSpPr>
          <p:cNvPr id="38" name="rect-037"/>
          <p:cNvSpPr/>
          <p:nvPr/>
        </p:nvSpPr>
        <p:spPr>
          <a:xfrm>
            <a:off x="4729480" y="3733800"/>
            <a:ext cx="3342640" cy="889000"/>
          </a:xfrm>
          <a:prstGeom prst="roundRect">
            <a:avLst>
              <a:gd name="adj" fmla="val 56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729480" y="3733800"/>
            <a:ext cx="35560" cy="8890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Ara AW 失效过滤"/>
          <p:cNvSpPr txBox="1"/>
          <p:nvPr/>
        </p:nvSpPr>
        <p:spPr>
          <a:xfrm>
            <a:off x="4850384" y="3761679"/>
            <a:ext cx="15526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AW 失效过滤</a:t>
            </a:r>
          </a:p>
        </p:txBody>
      </p:sp>
      <p:sp>
        <p:nvSpPr>
          <p:cNvPr id="41" name="text-040: 向 CPU L1 发 line invalidate"/>
          <p:cNvSpPr txBox="1"/>
          <p:nvPr/>
        </p:nvSpPr>
        <p:spPr>
          <a:xfrm>
            <a:off x="4850384" y="4033073"/>
            <a:ext cx="22437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 CPU L1 发 line invalidate</a:t>
            </a:r>
          </a:p>
        </p:txBody>
      </p:sp>
      <p:sp>
        <p:nvSpPr>
          <p:cNvPr id="42" name="text-041: 同时处理系统方向访存"/>
          <p:cNvSpPr txBox="1"/>
          <p:nvPr/>
        </p:nvSpPr>
        <p:spPr>
          <a:xfrm>
            <a:off x="485038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同时处理系统方向访存</a:t>
            </a:r>
          </a:p>
        </p:txBody>
      </p:sp>
      <p:sp>
        <p:nvSpPr>
          <p:cNvPr id="43" name="text-042: L1 line invalidation"/>
          <p:cNvSpPr txBox="1"/>
          <p:nvPr/>
        </p:nvSpPr>
        <p:spPr>
          <a:xfrm>
            <a:off x="462280" y="3778179"/>
            <a:ext cx="14404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L1 line invalidation</a:t>
            </a:r>
          </a:p>
        </p:txBody>
      </p:sp>
      <p:sp>
        <p:nvSpPr>
          <p:cNvPr id="44" name="rect-043"/>
          <p:cNvSpPr/>
          <p:nvPr/>
        </p:nvSpPr>
        <p:spPr>
          <a:xfrm>
            <a:off x="1991360" y="5511800"/>
            <a:ext cx="8818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1991360" y="5511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Crossbar → 主存原子处理 → LLC / SPM → 外存"/>
          <p:cNvSpPr txBox="1"/>
          <p:nvPr/>
        </p:nvSpPr>
        <p:spPr>
          <a:xfrm>
            <a:off x="2112264" y="5539679"/>
            <a:ext cx="41511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主存原子处理 → LLC / SPM → 外存</a:t>
            </a:r>
          </a:p>
        </p:txBody>
      </p:sp>
      <p:sp>
        <p:nvSpPr>
          <p:cNvPr id="47" name="text-046: CPU 属性、SPM 别名和 LLC way 模式共同决定缓存副本存在条件"/>
          <p:cNvSpPr txBox="1"/>
          <p:nvPr/>
        </p:nvSpPr>
        <p:spPr>
          <a:xfrm>
            <a:off x="2112264" y="5811073"/>
            <a:ext cx="50442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属性、SPM 别名和 LLC way 模式共同决定缓存副本存在条件</a:t>
            </a:r>
          </a:p>
        </p:txBody>
      </p:sp>
      <p:sp>
        <p:nvSpPr>
          <p:cNvPr id="48" name="text-047: 全路径可见性须包含写缓冲、cache、副本、通知与消费者获取顺序"/>
          <p:cNvSpPr txBox="1"/>
          <p:nvPr/>
        </p:nvSpPr>
        <p:spPr>
          <a:xfrm>
            <a:off x="2112264" y="6024433"/>
            <a:ext cx="52189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全路径可见性须包含写缓冲、cache、副本、通知与消费者获取顺序</a:t>
            </a:r>
          </a:p>
        </p:txBody>
      </p:sp>
      <p:sp>
        <p:nvSpPr>
          <p:cNvPr id="49" name="text-048: 教材实验：独占高别名 SPM 缓冲区；实验结果不能推导出任意主设备之间的硬件一致"/>
          <p:cNvSpPr txBox="1"/>
          <p:nvPr/>
        </p:nvSpPr>
        <p:spPr>
          <a:xfrm>
            <a:off x="497840" y="6919976"/>
            <a:ext cx="721825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教材实验：独占高别名 SPM 缓冲区；实验结果不能推导出任意主设备之间的硬件一致性。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5204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573016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43240" y="21691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>
                <a:moveTo>
                  <a:pt x="113792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43240" y="2133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95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92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0845800" y="2702560"/>
            <a:ext cx="1" cy="1244600"/>
          </a:xfrm>
          <a:custGeom>
            <a:avLst/>
            <a:gdLst/>
            <a:ahLst/>
            <a:cxnLst/>
            <a:rect l="0" t="0" r="r" b="b"/>
            <a:pathLst>
              <a:path w="1" h="1244600">
                <a:moveTo>
                  <a:pt x="0" y="0"/>
                </a:moveTo>
                <a:lnTo>
                  <a:pt x="0" y="12446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0810240" y="3861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9558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0" y="0"/>
                </a:moveTo>
                <a:lnTo>
                  <a:pt x="0" y="1472184"/>
                </a:lnTo>
                <a:lnTo>
                  <a:pt x="2311400" y="14757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181785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85415" y="35702"/>
                </a:moveTo>
                <a:lnTo>
                  <a:pt x="142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8534400" y="5013960"/>
            <a:ext cx="2311400" cy="1475740"/>
          </a:xfrm>
          <a:custGeom>
            <a:avLst/>
            <a:gdLst/>
            <a:ahLst/>
            <a:cxnLst/>
            <a:rect l="0" t="0" r="r" b="b"/>
            <a:pathLst>
              <a:path w="2311400" h="1475740">
                <a:moveTo>
                  <a:pt x="2311400" y="0"/>
                </a:moveTo>
                <a:lnTo>
                  <a:pt x="2311400" y="1472184"/>
                </a:lnTo>
                <a:lnTo>
                  <a:pt x="0" y="147574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8534400" y="6453998"/>
            <a:ext cx="85415" cy="71120"/>
          </a:xfrm>
          <a:custGeom>
            <a:avLst/>
            <a:gdLst/>
            <a:ahLst/>
            <a:cxnLst/>
            <a:rect l="0" t="0" r="r" b="b"/>
            <a:pathLst>
              <a:path w="85415" h="71120">
                <a:moveTo>
                  <a:pt x="0" y="35702"/>
                </a:moveTo>
                <a:lnTo>
                  <a:pt x="85415" y="71120"/>
                </a:lnTo>
                <a:lnTo>
                  <a:pt x="85273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未来共享存储：资源位置、访问路径与协议职责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未来共享存储：资源位置、访问路径与协议职责</a:t>
            </a:r>
          </a:p>
        </p:txBody>
      </p:sp>
      <p:sp>
        <p:nvSpPr>
          <p:cNvPr id="19" name="text-018: 共享地址空间只是第一步；选择 SPM / SRAM 或 DDR 还会改变容量、延"/>
          <p:cNvSpPr txBox="1"/>
          <p:nvPr/>
        </p:nvSpPr>
        <p:spPr>
          <a:xfrm>
            <a:off x="483616" y="676778"/>
            <a:ext cx="652197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共享地址空间只是第一步；选择 SPM / SRAM 或 DDR 还会改变容量、延迟和缓存边界。</a:t>
            </a:r>
          </a:p>
        </p:txBody>
      </p:sp>
      <p:sp>
        <p:nvSpPr>
          <p:cNvPr id="20" name="text-019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1" name="text-020: 依据：未来 M01 / I01 契约；当前 VRF 不是可被 NPU 共享寻址的"/>
          <p:cNvSpPr txBox="1"/>
          <p:nvPr/>
        </p:nvSpPr>
        <p:spPr>
          <a:xfrm>
            <a:off x="341376" y="7726477"/>
            <a:ext cx="466387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依据：未来 M01 / I01 契约；当前 VRF 不是可被 NPU 共享寻址的 cache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/ Ara"/>
          <p:cNvSpPr txBox="1"/>
          <p:nvPr/>
        </p:nvSpPr>
        <p:spPr>
          <a:xfrm>
            <a:off x="512064" y="166363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25" name="text-024: 任务控制与后处理"/>
          <p:cNvSpPr txBox="1"/>
          <p:nvPr/>
        </p:nvSpPr>
        <p:spPr>
          <a:xfrm>
            <a:off x="512064" y="193503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任务控制与后处理</a:t>
            </a:r>
          </a:p>
        </p:txBody>
      </p:sp>
      <p:sp>
        <p:nvSpPr>
          <p:cNvPr id="26" name="text-025: 现有 LLC 路径"/>
          <p:cNvSpPr txBox="1"/>
          <p:nvPr/>
        </p:nvSpPr>
        <p:spPr>
          <a:xfrm>
            <a:off x="512064" y="2148393"/>
            <a:ext cx="12321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27" name="rect-026"/>
          <p:cNvSpPr/>
          <p:nvPr/>
        </p:nvSpPr>
        <p:spPr>
          <a:xfrm>
            <a:off x="9281160" y="16357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9281160" y="1635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NPU / ISP"/>
          <p:cNvSpPr txBox="1"/>
          <p:nvPr/>
        </p:nvSpPr>
        <p:spPr>
          <a:xfrm>
            <a:off x="9402064" y="1663639"/>
            <a:ext cx="1001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NPU / ISP</a:t>
            </a:r>
          </a:p>
        </p:txBody>
      </p:sp>
      <p:sp>
        <p:nvSpPr>
          <p:cNvPr id="30" name="text-029: 独立数据发起端"/>
          <p:cNvSpPr txBox="1"/>
          <p:nvPr/>
        </p:nvSpPr>
        <p:spPr>
          <a:xfrm>
            <a:off x="9402064" y="19350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独立数据发起端</a:t>
            </a:r>
          </a:p>
        </p:txBody>
      </p:sp>
      <p:sp>
        <p:nvSpPr>
          <p:cNvPr id="31" name="text-030: 未来 DDR 旁路"/>
          <p:cNvSpPr txBox="1"/>
          <p:nvPr/>
        </p:nvSpPr>
        <p:spPr>
          <a:xfrm>
            <a:off x="9402064" y="2148393"/>
            <a:ext cx="12864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未来 DDR 旁路</a:t>
            </a:r>
          </a:p>
        </p:txBody>
      </p:sp>
      <p:sp>
        <p:nvSpPr>
          <p:cNvPr id="32" name="rect-031"/>
          <p:cNvSpPr/>
          <p:nvPr/>
        </p:nvSpPr>
        <p:spPr>
          <a:xfrm>
            <a:off x="4658360" y="1635760"/>
            <a:ext cx="348488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58360" y="16357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共享 SPM / SRAM 候选"/>
          <p:cNvSpPr txBox="1"/>
          <p:nvPr/>
        </p:nvSpPr>
        <p:spPr>
          <a:xfrm>
            <a:off x="4779264" y="1663639"/>
            <a:ext cx="20958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共享 SPM / SRAM 候选</a:t>
            </a:r>
          </a:p>
        </p:txBody>
      </p:sp>
      <p:sp>
        <p:nvSpPr>
          <p:cNvPr id="35" name="text-034: 小块数据 / 明确地址与所有权"/>
          <p:cNvSpPr txBox="1"/>
          <p:nvPr/>
        </p:nvSpPr>
        <p:spPr>
          <a:xfrm>
            <a:off x="4779264" y="193503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小块数据 / 明确地址与所有权</a:t>
            </a:r>
          </a:p>
        </p:txBody>
      </p:sp>
      <p:sp>
        <p:nvSpPr>
          <p:cNvPr id="36" name="text-035: 新增接入路径需单独定义"/>
          <p:cNvSpPr txBox="1"/>
          <p:nvPr/>
        </p:nvSpPr>
        <p:spPr>
          <a:xfrm>
            <a:off x="4779264" y="21483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新增接入路径需单独定义</a:t>
            </a:r>
          </a:p>
        </p:txBody>
      </p:sp>
      <p:sp>
        <p:nvSpPr>
          <p:cNvPr id="37" name="rect-036"/>
          <p:cNvSpPr/>
          <p:nvPr/>
        </p:nvSpPr>
        <p:spPr>
          <a:xfrm>
            <a:off x="39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391160" y="39471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现有 LLC 路径"/>
          <p:cNvSpPr txBox="1"/>
          <p:nvPr/>
        </p:nvSpPr>
        <p:spPr>
          <a:xfrm>
            <a:off x="512064" y="3975039"/>
            <a:ext cx="1334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现有 LLC 路径</a:t>
            </a:r>
          </a:p>
        </p:txBody>
      </p:sp>
      <p:sp>
        <p:nvSpPr>
          <p:cNvPr id="40" name="text-039: 缓存副本与脏数据处理"/>
          <p:cNvSpPr txBox="1"/>
          <p:nvPr/>
        </p:nvSpPr>
        <p:spPr>
          <a:xfrm>
            <a:off x="512064" y="4246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缓存副本与脏数据处理</a:t>
            </a:r>
          </a:p>
        </p:txBody>
      </p:sp>
      <p:sp>
        <p:nvSpPr>
          <p:cNvPr id="41" name="text-040: CPU / Ara 维护条件"/>
          <p:cNvSpPr txBox="1"/>
          <p:nvPr/>
        </p:nvSpPr>
        <p:spPr>
          <a:xfrm>
            <a:off x="512064" y="4459793"/>
            <a:ext cx="164803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Ara 维护条件</a:t>
            </a:r>
          </a:p>
        </p:txBody>
      </p:sp>
      <p:sp>
        <p:nvSpPr>
          <p:cNvPr id="42" name="rect-041"/>
          <p:cNvSpPr/>
          <p:nvPr/>
        </p:nvSpPr>
        <p:spPr>
          <a:xfrm>
            <a:off x="9281160" y="3947160"/>
            <a:ext cx="312928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9281160" y="39471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旁路互连候选"/>
          <p:cNvSpPr txBox="1"/>
          <p:nvPr/>
        </p:nvSpPr>
        <p:spPr>
          <a:xfrm>
            <a:off x="9402064" y="39750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旁路互连候选</a:t>
            </a:r>
          </a:p>
        </p:txBody>
      </p:sp>
      <p:sp>
        <p:nvSpPr>
          <p:cNvPr id="45" name="text-044: CDC / ID / 带宽与错误"/>
          <p:cNvSpPr txBox="1"/>
          <p:nvPr/>
        </p:nvSpPr>
        <p:spPr>
          <a:xfrm>
            <a:off x="9402064" y="4246433"/>
            <a:ext cx="18869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ID / 带宽与错误</a:t>
            </a:r>
          </a:p>
        </p:txBody>
      </p:sp>
      <p:sp>
        <p:nvSpPr>
          <p:cNvPr id="46" name="text-045: 与 LLC 下游汇合"/>
          <p:cNvSpPr txBox="1"/>
          <p:nvPr/>
        </p:nvSpPr>
        <p:spPr>
          <a:xfrm>
            <a:off x="9402064" y="4459793"/>
            <a:ext cx="14028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 LLC 下游汇合</a:t>
            </a:r>
          </a:p>
        </p:txBody>
      </p:sp>
      <p:sp>
        <p:nvSpPr>
          <p:cNvPr id="47" name="rect-046"/>
          <p:cNvSpPr/>
          <p:nvPr/>
        </p:nvSpPr>
        <p:spPr>
          <a:xfrm>
            <a:off x="4267200" y="5974080"/>
            <a:ext cx="426720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267200" y="59740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4 DDR CTRL + PHY + DRAM"/>
          <p:cNvSpPr txBox="1"/>
          <p:nvPr/>
        </p:nvSpPr>
        <p:spPr>
          <a:xfrm>
            <a:off x="4388104" y="6001959"/>
            <a:ext cx="26937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AXI4 DDR CTRL + PHY + DRAM</a:t>
            </a:r>
          </a:p>
        </p:txBody>
      </p:sp>
      <p:sp>
        <p:nvSpPr>
          <p:cNvPr id="50" name="text-049: 共用数据布局与可见性协议"/>
          <p:cNvSpPr txBox="1"/>
          <p:nvPr/>
        </p:nvSpPr>
        <p:spPr>
          <a:xfrm>
            <a:off x="4388104" y="6273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共用数据布局与可见性协议</a:t>
            </a:r>
          </a:p>
        </p:txBody>
      </p:sp>
      <p:sp>
        <p:nvSpPr>
          <p:cNvPr id="51" name="text-050: 普通旁路写也纳入原子 / LRSC 验证"/>
          <p:cNvSpPr txBox="1"/>
          <p:nvPr/>
        </p:nvSpPr>
        <p:spPr>
          <a:xfrm>
            <a:off x="4388104" y="6486713"/>
            <a:ext cx="286352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普通旁路写也纳入原子 / LRSC 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4658360" y="3733800"/>
            <a:ext cx="3484880" cy="1422400"/>
          </a:xfrm>
          <a:prstGeom prst="roundRect">
            <a:avLst>
              <a:gd name="adj" fmla="val 35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658360" y="3733800"/>
            <a:ext cx="35560" cy="14224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一次任务的协议"/>
          <p:cNvSpPr txBox="1"/>
          <p:nvPr/>
        </p:nvSpPr>
        <p:spPr>
          <a:xfrm>
            <a:off x="4779264" y="37616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一次任务的协议</a:t>
            </a:r>
          </a:p>
        </p:txBody>
      </p:sp>
      <p:sp>
        <p:nvSpPr>
          <p:cNvPr id="55" name="text-054: 谁可写？何时可读？"/>
          <p:cNvSpPr txBox="1"/>
          <p:nvPr/>
        </p:nvSpPr>
        <p:spPr>
          <a:xfrm>
            <a:off x="4779264" y="404843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谁可写？何时可读？</a:t>
            </a:r>
          </a:p>
        </p:txBody>
      </p:sp>
      <p:sp>
        <p:nvSpPr>
          <p:cNvPr id="56" name="text-055: 由谁发布、观察并核对完成？"/>
          <p:cNvSpPr txBox="1"/>
          <p:nvPr/>
        </p:nvSpPr>
        <p:spPr>
          <a:xfrm>
            <a:off x="4779264" y="426179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由谁发布、观察并核对完成？</a:t>
            </a:r>
          </a:p>
        </p:txBody>
      </p:sp>
      <p:sp>
        <p:nvSpPr>
          <p:cNvPr id="57" name="text-056: 超时后谁保证设备已停止？"/>
          <p:cNvSpPr txBox="1"/>
          <p:nvPr/>
        </p:nvSpPr>
        <p:spPr>
          <a:xfrm>
            <a:off x="4779264" y="4475155"/>
            <a:ext cx="2034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超时后谁保证设备已停止？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84480" y="1244600"/>
            <a:ext cx="1223264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235960" y="21869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964176" y="21513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1884680" y="2631440"/>
            <a:ext cx="4516120" cy="568960"/>
          </a:xfrm>
          <a:custGeom>
            <a:avLst/>
            <a:gdLst/>
            <a:ahLst/>
            <a:cxnLst/>
            <a:rect l="0" t="0" r="r" b="b"/>
            <a:pathLst>
              <a:path w="4516120" h="568960">
                <a:moveTo>
                  <a:pt x="0" y="0"/>
                </a:moveTo>
                <a:lnTo>
                  <a:pt x="0" y="248920"/>
                </a:lnTo>
                <a:lnTo>
                  <a:pt x="4516120" y="248920"/>
                </a:lnTo>
                <a:lnTo>
                  <a:pt x="451612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2631440"/>
            <a:ext cx="35560" cy="568960"/>
          </a:xfrm>
          <a:custGeom>
            <a:avLst/>
            <a:gdLst/>
            <a:ahLst/>
            <a:cxnLst/>
            <a:rect l="0" t="0" r="r" b="b"/>
            <a:pathLst>
              <a:path w="35560" h="568960">
                <a:moveTo>
                  <a:pt x="35560" y="0"/>
                </a:moveTo>
                <a:lnTo>
                  <a:pt x="3556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400800" y="2631440"/>
            <a:ext cx="4498340" cy="568960"/>
          </a:xfrm>
          <a:custGeom>
            <a:avLst/>
            <a:gdLst/>
            <a:ahLst/>
            <a:cxnLst/>
            <a:rect l="0" t="0" r="r" b="b"/>
            <a:pathLst>
              <a:path w="4498340" h="568960">
                <a:moveTo>
                  <a:pt x="4498340" y="0"/>
                </a:moveTo>
                <a:lnTo>
                  <a:pt x="4498340" y="248920"/>
                </a:lnTo>
                <a:lnTo>
                  <a:pt x="0" y="248920"/>
                </a:lnTo>
                <a:lnTo>
                  <a:pt x="0" y="5689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31150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4302760" y="0"/>
                </a:moveTo>
                <a:lnTo>
                  <a:pt x="430276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06248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897376"/>
            <a:ext cx="1" cy="725424"/>
          </a:xfrm>
          <a:custGeom>
            <a:avLst/>
            <a:gdLst/>
            <a:ahLst/>
            <a:cxnLst/>
            <a:rect l="0" t="0" r="r" b="b"/>
            <a:pathLst>
              <a:path w="1" h="725424">
                <a:moveTo>
                  <a:pt x="0" y="0"/>
                </a:moveTo>
                <a:lnTo>
                  <a:pt x="0" y="369824"/>
                </a:lnTo>
                <a:lnTo>
                  <a:pt x="0" y="369824"/>
                </a:lnTo>
                <a:lnTo>
                  <a:pt x="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6400800" y="3897376"/>
            <a:ext cx="4302760" cy="725424"/>
          </a:xfrm>
          <a:custGeom>
            <a:avLst/>
            <a:gdLst/>
            <a:ahLst/>
            <a:cxnLst/>
            <a:rect l="0" t="0" r="r" b="b"/>
            <a:pathLst>
              <a:path w="4302760" h="725424">
                <a:moveTo>
                  <a:pt x="0" y="0"/>
                </a:moveTo>
                <a:lnTo>
                  <a:pt x="0" y="369824"/>
                </a:lnTo>
                <a:lnTo>
                  <a:pt x="4302760" y="369824"/>
                </a:lnTo>
                <a:lnTo>
                  <a:pt x="4302760" y="72542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668000" y="45374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heshire / CVA6 / Ara：计算、控制与存储边界"/>
          <p:cNvSpPr txBox="1"/>
          <p:nvPr/>
        </p:nvSpPr>
        <p:spPr>
          <a:xfrm>
            <a:off x="483616" y="271109"/>
            <a:ext cx="559375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Cheshire / CVA6 / Ara：计算、控制与存储边界</a:t>
            </a:r>
          </a:p>
        </p:txBody>
      </p:sp>
      <p:sp>
        <p:nvSpPr>
          <p:cNvPr id="22" name="text-021: 可选 IP 是否存在由 Cfg 决定；数据箭头表示请求，响应沿相应事务返回。"/>
          <p:cNvSpPr txBox="1"/>
          <p:nvPr/>
        </p:nvSpPr>
        <p:spPr>
          <a:xfrm>
            <a:off x="483616" y="676778"/>
            <a:ext cx="546957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 IP 是否存在由 Cfg 决定；数据箭头表示请求，响应沿相应事务返回。</a:t>
            </a:r>
          </a:p>
        </p:txBody>
      </p:sp>
      <p:sp>
        <p:nvSpPr>
          <p:cNvPr id="23" name="text-022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4" name="text-023: 源码：cheshire_soc.sv::gen_ara / i_axi_xbar"/>
          <p:cNvSpPr txBox="1"/>
          <p:nvPr/>
        </p:nvSpPr>
        <p:spPr>
          <a:xfrm>
            <a:off x="341376" y="7726477"/>
            <a:ext cx="55843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源码：cheshire_soc.sv::gen_ara / i_axi_xbar / i_reg_demux / gen_llc；cheshire_pkg.sv</a:t>
            </a:r>
          </a:p>
        </p:txBody>
      </p:sp>
      <p:sp>
        <p:nvSpPr>
          <p:cNvPr id="25" name="text-024: Cheshire 数字 SoC 边界"/>
          <p:cNvSpPr txBox="1"/>
          <p:nvPr/>
        </p:nvSpPr>
        <p:spPr>
          <a:xfrm>
            <a:off x="412496" y="1301496"/>
            <a:ext cx="205007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Cheshire 数字 SoC 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" y="1742440"/>
            <a:ext cx="270256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CVA6"/>
          <p:cNvSpPr txBox="1"/>
          <p:nvPr/>
        </p:nvSpPr>
        <p:spPr>
          <a:xfrm>
            <a:off x="654304" y="1770319"/>
            <a:ext cx="61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</a:t>
            </a:r>
          </a:p>
        </p:txBody>
      </p:sp>
      <p:sp>
        <p:nvSpPr>
          <p:cNvPr id="29" name="text-028: 取指 / 标量 / FPU / MMU"/>
          <p:cNvSpPr txBox="1"/>
          <p:nvPr/>
        </p:nvSpPr>
        <p:spPr>
          <a:xfrm>
            <a:off x="654304" y="2041713"/>
            <a:ext cx="21019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取指 / 标量 / FPU / MMU</a:t>
            </a:r>
          </a:p>
        </p:txBody>
      </p:sp>
      <p:sp>
        <p:nvSpPr>
          <p:cNvPr id="30" name="text-029: L1 cache 与写缓冲"/>
          <p:cNvSpPr txBox="1"/>
          <p:nvPr/>
        </p:nvSpPr>
        <p:spPr>
          <a:xfrm>
            <a:off x="654304" y="2255073"/>
            <a:ext cx="158319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cache 与写缓冲</a:t>
            </a:r>
          </a:p>
        </p:txBody>
      </p:sp>
      <p:sp>
        <p:nvSpPr>
          <p:cNvPr id="31" name="rect-030"/>
          <p:cNvSpPr/>
          <p:nvPr/>
        </p:nvSpPr>
        <p:spPr>
          <a:xfrm>
            <a:off x="5049520" y="1742440"/>
            <a:ext cx="277368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04952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Ara · 可选"/>
          <p:cNvSpPr txBox="1"/>
          <p:nvPr/>
        </p:nvSpPr>
        <p:spPr>
          <a:xfrm>
            <a:off x="5170424" y="1770319"/>
            <a:ext cx="9720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· 可选</a:t>
            </a:r>
          </a:p>
        </p:txBody>
      </p:sp>
      <p:sp>
        <p:nvSpPr>
          <p:cNvPr id="34" name="text-033: dispatcher / VRF / lanes"/>
          <p:cNvSpPr txBox="1"/>
          <p:nvPr/>
        </p:nvSpPr>
        <p:spPr>
          <a:xfrm>
            <a:off x="5170424" y="2041713"/>
            <a:ext cx="20217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dispatcher / VRF / lanes</a:t>
            </a:r>
          </a:p>
        </p:txBody>
      </p:sp>
      <p:sp>
        <p:nvSpPr>
          <p:cNvPr id="35" name="text-034: VLSU：独立 AXI 访存"/>
          <p:cNvSpPr txBox="1"/>
          <p:nvPr/>
        </p:nvSpPr>
        <p:spPr>
          <a:xfrm>
            <a:off x="5170424" y="2255073"/>
            <a:ext cx="17540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VLSU：独立 AXI 访存</a:t>
            </a:r>
          </a:p>
        </p:txBody>
      </p:sp>
      <p:sp>
        <p:nvSpPr>
          <p:cNvPr id="36" name="rect-035"/>
          <p:cNvSpPr/>
          <p:nvPr/>
        </p:nvSpPr>
        <p:spPr>
          <a:xfrm>
            <a:off x="9530080" y="1742440"/>
            <a:ext cx="273812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9530080" y="17424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其他发起端"/>
          <p:cNvSpPr txBox="1"/>
          <p:nvPr/>
        </p:nvSpPr>
        <p:spPr>
          <a:xfrm>
            <a:off x="9650984" y="177031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其他发起端</a:t>
            </a:r>
          </a:p>
        </p:txBody>
      </p:sp>
      <p:sp>
        <p:nvSpPr>
          <p:cNvPr id="39" name="text-038: Debug SBA / iDMA / Link"/>
          <p:cNvSpPr txBox="1"/>
          <p:nvPr/>
        </p:nvSpPr>
        <p:spPr>
          <a:xfrm>
            <a:off x="9650984" y="2041713"/>
            <a:ext cx="20769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SBA / iDMA / Link</a:t>
            </a:r>
          </a:p>
        </p:txBody>
      </p:sp>
      <p:sp>
        <p:nvSpPr>
          <p:cNvPr id="40" name="text-039: VGA / USB 数据请求"/>
          <p:cNvSpPr txBox="1"/>
          <p:nvPr/>
        </p:nvSpPr>
        <p:spPr>
          <a:xfrm>
            <a:off x="9650984" y="2255073"/>
            <a:ext cx="1719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VGA / USB 数据请求</a:t>
            </a:r>
          </a:p>
        </p:txBody>
      </p:sp>
      <p:sp>
        <p:nvSpPr>
          <p:cNvPr id="41" name="text-040: 指令 / 操作数"/>
          <p:cNvSpPr txBox="1"/>
          <p:nvPr/>
        </p:nvSpPr>
        <p:spPr>
          <a:xfrm>
            <a:off x="3342640" y="1850827"/>
            <a:ext cx="11138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指令 / 操作数</a:t>
            </a:r>
          </a:p>
        </p:txBody>
      </p:sp>
      <p:sp>
        <p:nvSpPr>
          <p:cNvPr id="42" name="text-041: MMU / 完成 / 失效协作"/>
          <p:cNvSpPr txBox="1"/>
          <p:nvPr/>
        </p:nvSpPr>
        <p:spPr>
          <a:xfrm>
            <a:off x="3413760" y="2314245"/>
            <a:ext cx="163816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MMU / 完成 / 失效协作</a:t>
            </a:r>
          </a:p>
        </p:txBody>
      </p:sp>
      <p:sp>
        <p:nvSpPr>
          <p:cNvPr id="43" name="rect-042"/>
          <p:cNvSpPr/>
          <p:nvPr/>
        </p:nvSpPr>
        <p:spPr>
          <a:xfrm>
            <a:off x="1920240" y="3200400"/>
            <a:ext cx="8961120" cy="696976"/>
          </a:xfrm>
          <a:prstGeom prst="roundRect">
            <a:avLst>
              <a:gd name="adj" fmla="val 71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920240" y="3200400"/>
            <a:ext cx="35560" cy="696976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AXI Crossbar"/>
          <p:cNvSpPr txBox="1"/>
          <p:nvPr/>
        </p:nvSpPr>
        <p:spPr>
          <a:xfrm>
            <a:off x="2041144" y="32282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AXI Crossbar</a:t>
            </a:r>
          </a:p>
        </p:txBody>
      </p:sp>
      <p:sp>
        <p:nvSpPr>
          <p:cNvPr id="46" name="text-045: 每输入译码 / 分流；每目标仲裁；W 路由与 ID 响应跟踪"/>
          <p:cNvSpPr txBox="1"/>
          <p:nvPr/>
        </p:nvSpPr>
        <p:spPr>
          <a:xfrm>
            <a:off x="2041144" y="3499673"/>
            <a:ext cx="43963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每输入译码 / 分流；每目标仲裁；W 路由与 ID 响应跟踪</a:t>
            </a:r>
          </a:p>
        </p:txBody>
      </p:sp>
      <p:sp>
        <p:nvSpPr>
          <p:cNvPr id="47" name="rect-046"/>
          <p:cNvSpPr/>
          <p:nvPr/>
        </p:nvSpPr>
        <p:spPr>
          <a:xfrm>
            <a:off x="53340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533400" y="462280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AXI → Reg 桥"/>
          <p:cNvSpPr txBox="1"/>
          <p:nvPr/>
        </p:nvSpPr>
        <p:spPr>
          <a:xfrm>
            <a:off x="654304" y="4650679"/>
            <a:ext cx="12788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AXI → Reg 桥</a:t>
            </a:r>
          </a:p>
        </p:txBody>
      </p:sp>
      <p:sp>
        <p:nvSpPr>
          <p:cNvPr id="50" name="text-049: 二级地址译码 → 启动 ROM"/>
          <p:cNvSpPr txBox="1"/>
          <p:nvPr/>
        </p:nvSpPr>
        <p:spPr>
          <a:xfrm>
            <a:off x="654304" y="4922073"/>
            <a:ext cx="22184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二级地址译码 → 启动 ROM</a:t>
            </a:r>
          </a:p>
        </p:txBody>
      </p:sp>
      <p:sp>
        <p:nvSpPr>
          <p:cNvPr id="51" name="text-050: CLINT / PLIC / MMIO 控制"/>
          <p:cNvSpPr txBox="1"/>
          <p:nvPr/>
        </p:nvSpPr>
        <p:spPr>
          <a:xfrm>
            <a:off x="654304" y="5135433"/>
            <a:ext cx="21459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CLINT / PLIC / MMIO 控制</a:t>
            </a:r>
          </a:p>
        </p:txBody>
      </p:sp>
      <p:sp>
        <p:nvSpPr>
          <p:cNvPr id="52" name="rect-051"/>
          <p:cNvSpPr/>
          <p:nvPr/>
        </p:nvSpPr>
        <p:spPr>
          <a:xfrm>
            <a:off x="483616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4836160" y="46228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原子处理 → LLC / SPM"/>
          <p:cNvSpPr txBox="1"/>
          <p:nvPr/>
        </p:nvSpPr>
        <p:spPr>
          <a:xfrm>
            <a:off x="4957064" y="4650679"/>
            <a:ext cx="20961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原子处理 → LLC / SPM</a:t>
            </a:r>
          </a:p>
        </p:txBody>
      </p:sp>
      <p:sp>
        <p:nvSpPr>
          <p:cNvPr id="55" name="text-054: SPM / cache 共用片上阵列"/>
          <p:cNvSpPr txBox="1"/>
          <p:nvPr/>
        </p:nvSpPr>
        <p:spPr>
          <a:xfrm>
            <a:off x="4957064" y="4922073"/>
            <a:ext cx="22177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/ cache 共用片上阵列</a:t>
            </a:r>
          </a:p>
        </p:txBody>
      </p:sp>
      <p:sp>
        <p:nvSpPr>
          <p:cNvPr id="56" name="text-055: LLC 下游 AXI → 平台外存"/>
          <p:cNvSpPr txBox="1"/>
          <p:nvPr/>
        </p:nvSpPr>
        <p:spPr>
          <a:xfrm>
            <a:off x="4957064" y="5135433"/>
            <a:ext cx="207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平台外存</a:t>
            </a:r>
          </a:p>
        </p:txBody>
      </p:sp>
      <p:sp>
        <p:nvSpPr>
          <p:cNvPr id="57" name="rect-056"/>
          <p:cNvSpPr/>
          <p:nvPr/>
        </p:nvSpPr>
        <p:spPr>
          <a:xfrm>
            <a:off x="9138920" y="4622800"/>
            <a:ext cx="312928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-057"/>
          <p:cNvSpPr/>
          <p:nvPr/>
        </p:nvSpPr>
        <p:spPr>
          <a:xfrm>
            <a:off x="9138920" y="46228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Debug / iDMA / Link 目标"/>
          <p:cNvSpPr txBox="1"/>
          <p:nvPr/>
        </p:nvSpPr>
        <p:spPr>
          <a:xfrm>
            <a:off x="9259824" y="4650679"/>
            <a:ext cx="228739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Debug / iDMA / Link 目标</a:t>
            </a:r>
          </a:p>
        </p:txBody>
      </p:sp>
      <p:sp>
        <p:nvSpPr>
          <p:cNvPr id="60" name="text-059: 配置或对端访问窗口"/>
          <p:cNvSpPr txBox="1"/>
          <p:nvPr/>
        </p:nvSpPr>
        <p:spPr>
          <a:xfrm>
            <a:off x="9259824" y="492207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配置或对端访问窗口</a:t>
            </a:r>
          </a:p>
        </p:txBody>
      </p:sp>
      <p:sp>
        <p:nvSpPr>
          <p:cNvPr id="61" name="text-060: 与各自的发起端口分开"/>
          <p:cNvSpPr txBox="1"/>
          <p:nvPr/>
        </p:nvSpPr>
        <p:spPr>
          <a:xfrm>
            <a:off x="9259824" y="51354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与各自的发起端口分开</a:t>
            </a:r>
          </a:p>
        </p:txBody>
      </p:sp>
      <p:sp>
        <p:nvSpPr>
          <p:cNvPr id="62" name="rect-061"/>
          <p:cNvSpPr/>
          <p:nvPr/>
        </p:nvSpPr>
        <p:spPr>
          <a:xfrm>
            <a:off x="533400" y="6258560"/>
            <a:ext cx="540512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-062"/>
          <p:cNvSpPr/>
          <p:nvPr/>
        </p:nvSpPr>
        <p:spPr>
          <a:xfrm>
            <a:off x="533400" y="625856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3: 寄存器、引脚与事件"/>
          <p:cNvSpPr txBox="1"/>
          <p:nvPr/>
        </p:nvSpPr>
        <p:spPr>
          <a:xfrm>
            <a:off x="654304" y="62864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寄存器、引脚与事件</a:t>
            </a:r>
          </a:p>
        </p:txBody>
      </p:sp>
      <p:sp>
        <p:nvSpPr>
          <p:cNvPr id="65" name="text-064: CPU 写 MMIO → 外设状态机 → UART / SPI / I2C / "/>
          <p:cNvSpPr txBox="1"/>
          <p:nvPr/>
        </p:nvSpPr>
        <p:spPr>
          <a:xfrm>
            <a:off x="654304" y="6573195"/>
            <a:ext cx="44130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写 MMIO → 外设状态机 → UART / SPI / I2C / GPIO 引脚</a:t>
            </a:r>
          </a:p>
        </p:txBody>
      </p:sp>
      <p:sp>
        <p:nvSpPr>
          <p:cNvPr id="66" name="text-065: 外设 IRQ 经同步 / PLIC 等入口返回 CPU"/>
          <p:cNvSpPr txBox="1"/>
          <p:nvPr/>
        </p:nvSpPr>
        <p:spPr>
          <a:xfrm>
            <a:off x="654304" y="6786555"/>
            <a:ext cx="291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 IRQ 经同步 / PLIC 等入口返回 CPU</a:t>
            </a:r>
          </a:p>
        </p:txBody>
      </p:sp>
      <p:sp>
        <p:nvSpPr>
          <p:cNvPr id="67" name="rect-066"/>
          <p:cNvSpPr/>
          <p:nvPr/>
        </p:nvSpPr>
        <p:spPr>
          <a:xfrm>
            <a:off x="6649720" y="6258560"/>
            <a:ext cx="56184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6649720" y="625856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平台外存边界"/>
          <p:cNvSpPr txBox="1"/>
          <p:nvPr/>
        </p:nvSpPr>
        <p:spPr>
          <a:xfrm>
            <a:off x="6770624" y="62864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平台外存边界</a:t>
            </a:r>
          </a:p>
        </p:txBody>
      </p:sp>
      <p:sp>
        <p:nvSpPr>
          <p:cNvPr id="70" name="text-069: 仿真：RAM 模型；FPGA：MIG / DDR；ASIC：待采购 CTRL +"/>
          <p:cNvSpPr txBox="1"/>
          <p:nvPr/>
        </p:nvSpPr>
        <p:spPr>
          <a:xfrm>
            <a:off x="6770624" y="6573195"/>
            <a:ext cx="46820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仿真：RAM 模型；FPGA：MIG / DDR；ASIC：待采购 CTRL + PHY</a:t>
            </a:r>
          </a:p>
        </p:txBody>
      </p:sp>
      <p:sp>
        <p:nvSpPr>
          <p:cNvPr id="71" name="text-070: CVA6–Ara 控制接口、AXI 数据口、MMIO 与 IRQ 是不同路径"/>
          <p:cNvSpPr txBox="1"/>
          <p:nvPr/>
        </p:nvSpPr>
        <p:spPr>
          <a:xfrm>
            <a:off x="6770624" y="6786555"/>
            <a:ext cx="42659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CVA6–Ara 控制接口、AXI 数据口、MMIO 与 IRQ 是不同路径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20040" y="1315720"/>
            <a:ext cx="12161520" cy="2418080"/>
          </a:xfrm>
          <a:prstGeom prst="roundRect">
            <a:avLst>
              <a:gd name="adj" fmla="val 3529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20040" y="4089400"/>
            <a:ext cx="12161520" cy="1991360"/>
          </a:xfrm>
          <a:prstGeom prst="roundRect">
            <a:avLst>
              <a:gd name="adj" fmla="val 428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449320" y="25247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460857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7752080" y="236474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246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7752080" y="284480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145796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7752080" y="2809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449320" y="4994402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4608576" y="495884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449320" y="5426456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449320" y="539089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7752080" y="5138420"/>
            <a:ext cx="1457960" cy="1"/>
          </a:xfrm>
          <a:custGeom>
            <a:avLst/>
            <a:gdLst/>
            <a:ahLst/>
            <a:cxnLst/>
            <a:rect l="0" t="0" r="r" b="b"/>
            <a:pathLst>
              <a:path w="1457960" h="1">
                <a:moveTo>
                  <a:pt x="0" y="0"/>
                </a:moveTo>
                <a:lnTo>
                  <a:pt x="145796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124696" y="5102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6223000" y="3058160"/>
            <a:ext cx="1" cy="1600200"/>
          </a:xfrm>
          <a:custGeom>
            <a:avLst/>
            <a:gdLst/>
            <a:ahLst/>
            <a:cxnLst/>
            <a:rect l="0" t="0" r="r" b="b"/>
            <a:pathLst>
              <a:path w="1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187440" y="45730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向量访存：地址翻译与数据搬运是两条路径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向量访存：地址翻译与数据搬运是两条路径</a:t>
            </a:r>
          </a:p>
        </p:txBody>
      </p:sp>
      <p:sp>
        <p:nvSpPr>
          <p:cNvPr id="23" name="text-022: 控制平面确定地址、权限与异常；数据平面在 AXI 和分布式 VRF 之间传输。"/>
          <p:cNvSpPr txBox="1"/>
          <p:nvPr/>
        </p:nvSpPr>
        <p:spPr>
          <a:xfrm>
            <a:off x="483616" y="676778"/>
            <a:ext cx="55968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控制平面确定地址、权限与异常；数据平面在 AXI 和分布式 VRF 之间传输。</a:t>
            </a:r>
          </a:p>
        </p:txBody>
      </p:sp>
      <p:sp>
        <p:nvSpPr>
          <p:cNvPr id="24" name="text-02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5" name="text-024: 源码：Ara addrgen / vldu / vstu；CVA6 load_s"/>
          <p:cNvSpPr txBox="1"/>
          <p:nvPr/>
        </p:nvSpPr>
        <p:spPr>
          <a:xfrm>
            <a:off x="341376" y="7726477"/>
            <a:ext cx="515481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源码：Ara addrgen / vldu / vstu；CVA6 load_store_unit；cheshire_soc::gen_ara</a:t>
            </a:r>
          </a:p>
        </p:txBody>
      </p:sp>
      <p:sp>
        <p:nvSpPr>
          <p:cNvPr id="26" name="text-025: 地址 / 权限 / 异常平面"/>
          <p:cNvSpPr txBox="1"/>
          <p:nvPr/>
        </p:nvSpPr>
        <p:spPr>
          <a:xfrm>
            <a:off x="448056" y="1372616"/>
            <a:ext cx="199818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地址 / 权限 / 异常平面</a:t>
            </a:r>
          </a:p>
        </p:txBody>
      </p:sp>
      <p:sp>
        <p:nvSpPr>
          <p:cNvPr id="27" name="rect-026"/>
          <p:cNvSpPr/>
          <p:nvPr/>
        </p:nvSpPr>
        <p:spPr>
          <a:xfrm>
            <a:off x="533400" y="1991360"/>
            <a:ext cx="291592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33400" y="199136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CVA6 标量寄存器"/>
          <p:cNvSpPr txBox="1"/>
          <p:nvPr/>
        </p:nvSpPr>
        <p:spPr>
          <a:xfrm>
            <a:off x="654304" y="2019239"/>
            <a:ext cx="15972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CVA6 标量寄存器</a:t>
            </a:r>
          </a:p>
        </p:txBody>
      </p:sp>
      <p:sp>
        <p:nvSpPr>
          <p:cNvPr id="30" name="text-029: rs1 = base；rs2 = stride"/>
          <p:cNvSpPr txBox="1"/>
          <p:nvPr/>
        </p:nvSpPr>
        <p:spPr>
          <a:xfrm>
            <a:off x="654304" y="2290633"/>
            <a:ext cx="20290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rs1 = base；rs2 = stride</a:t>
            </a:r>
          </a:p>
        </p:txBody>
      </p:sp>
      <p:sp>
        <p:nvSpPr>
          <p:cNvPr id="31" name="text-030: vstart / 元素索引影响地址"/>
          <p:cNvSpPr txBox="1"/>
          <p:nvPr/>
        </p:nvSpPr>
        <p:spPr>
          <a:xfrm>
            <a:off x="654304" y="25039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vstart / 元素索引影响地址</a:t>
            </a:r>
          </a:p>
        </p:txBody>
      </p:sp>
      <p:sp>
        <p:nvSpPr>
          <p:cNvPr id="32" name="rect-031"/>
          <p:cNvSpPr/>
          <p:nvPr/>
        </p:nvSpPr>
        <p:spPr>
          <a:xfrm>
            <a:off x="469392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469392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Ara addrgen"/>
          <p:cNvSpPr txBox="1"/>
          <p:nvPr/>
        </p:nvSpPr>
        <p:spPr>
          <a:xfrm>
            <a:off x="4814824" y="2019239"/>
            <a:ext cx="1152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addrgen</a:t>
            </a:r>
          </a:p>
        </p:txBody>
      </p:sp>
      <p:sp>
        <p:nvSpPr>
          <p:cNvPr id="35" name="text-034: base + 元素偏移"/>
          <p:cNvSpPr txBox="1"/>
          <p:nvPr/>
        </p:nvSpPr>
        <p:spPr>
          <a:xfrm>
            <a:off x="4814824" y="2290633"/>
            <a:ext cx="14228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base + 元素偏移</a:t>
            </a:r>
          </a:p>
        </p:txBody>
      </p:sp>
      <p:sp>
        <p:nvSpPr>
          <p:cNvPr id="36" name="text-035: 可选地址翻译与异常处理"/>
          <p:cNvSpPr txBox="1"/>
          <p:nvPr/>
        </p:nvSpPr>
        <p:spPr>
          <a:xfrm>
            <a:off x="4814824" y="2503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可选地址翻译与异常处理</a:t>
            </a:r>
          </a:p>
        </p:txBody>
      </p:sp>
      <p:sp>
        <p:nvSpPr>
          <p:cNvPr id="37" name="rect-036"/>
          <p:cNvSpPr/>
          <p:nvPr/>
        </p:nvSpPr>
        <p:spPr>
          <a:xfrm>
            <a:off x="9210040" y="1991360"/>
            <a:ext cx="305816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210040" y="19913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CVA6 MMU / LSU"/>
          <p:cNvSpPr txBox="1"/>
          <p:nvPr/>
        </p:nvSpPr>
        <p:spPr>
          <a:xfrm>
            <a:off x="9330944" y="2019239"/>
            <a:ext cx="16261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CVA6 MMU / LSU</a:t>
            </a:r>
          </a:p>
        </p:txBody>
      </p:sp>
      <p:sp>
        <p:nvSpPr>
          <p:cNvPr id="40" name="text-039: 仲裁翻译、PMP / 权限"/>
          <p:cNvSpPr txBox="1"/>
          <p:nvPr/>
        </p:nvSpPr>
        <p:spPr>
          <a:xfrm>
            <a:off x="9330944" y="2290633"/>
            <a:ext cx="188740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仲裁翻译、PMP / 权限</a:t>
            </a:r>
          </a:p>
        </p:txBody>
      </p:sp>
      <p:sp>
        <p:nvSpPr>
          <p:cNvPr id="41" name="text-040: 物理地址或异常返回"/>
          <p:cNvSpPr txBox="1"/>
          <p:nvPr/>
        </p:nvSpPr>
        <p:spPr>
          <a:xfrm>
            <a:off x="9330944" y="25039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物理地址或异常返回</a:t>
            </a:r>
          </a:p>
        </p:txBody>
      </p:sp>
      <p:sp>
        <p:nvSpPr>
          <p:cNvPr id="42" name="text-041: load / store 数据平面"/>
          <p:cNvSpPr txBox="1"/>
          <p:nvPr/>
        </p:nvSpPr>
        <p:spPr>
          <a:xfrm>
            <a:off x="448056" y="4146296"/>
            <a:ext cx="186898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load / store 数据平面</a:t>
            </a:r>
          </a:p>
        </p:txBody>
      </p:sp>
      <p:sp>
        <p:nvSpPr>
          <p:cNvPr id="43" name="rect-042"/>
          <p:cNvSpPr/>
          <p:nvPr/>
        </p:nvSpPr>
        <p:spPr>
          <a:xfrm>
            <a:off x="533400" y="4658360"/>
            <a:ext cx="291592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53340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RF / lanes"/>
          <p:cNvSpPr txBox="1"/>
          <p:nvPr/>
        </p:nvSpPr>
        <p:spPr>
          <a:xfrm>
            <a:off x="654304" y="4686239"/>
            <a:ext cx="113783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VRF / lanes</a:t>
            </a:r>
          </a:p>
        </p:txBody>
      </p:sp>
      <p:sp>
        <p:nvSpPr>
          <p:cNvPr id="46" name="text-045: store 数据 / index / mask"/>
          <p:cNvSpPr txBox="1"/>
          <p:nvPr/>
        </p:nvSpPr>
        <p:spPr>
          <a:xfrm>
            <a:off x="654304" y="4957633"/>
            <a:ext cx="21247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store 数据 / index / mask</a:t>
            </a:r>
          </a:p>
        </p:txBody>
      </p:sp>
      <p:sp>
        <p:nvSpPr>
          <p:cNvPr id="47" name="text-046: load 目的寄存器"/>
          <p:cNvSpPr txBox="1"/>
          <p:nvPr/>
        </p:nvSpPr>
        <p:spPr>
          <a:xfrm>
            <a:off x="654304" y="5170993"/>
            <a:ext cx="13921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load 目的寄存器</a:t>
            </a:r>
          </a:p>
        </p:txBody>
      </p:sp>
      <p:sp>
        <p:nvSpPr>
          <p:cNvPr id="48" name="rect-047"/>
          <p:cNvSpPr/>
          <p:nvPr/>
        </p:nvSpPr>
        <p:spPr>
          <a:xfrm>
            <a:off x="469392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693920" y="465836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VLSU · vldu / vstu"/>
          <p:cNvSpPr txBox="1"/>
          <p:nvPr/>
        </p:nvSpPr>
        <p:spPr>
          <a:xfrm>
            <a:off x="4814824" y="4686239"/>
            <a:ext cx="16366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VLSU · vldu / vstu</a:t>
            </a:r>
          </a:p>
        </p:txBody>
      </p:sp>
      <p:sp>
        <p:nvSpPr>
          <p:cNvPr id="51" name="text-050: 队列、重排、字节计数"/>
          <p:cNvSpPr txBox="1"/>
          <p:nvPr/>
        </p:nvSpPr>
        <p:spPr>
          <a:xfrm>
            <a:off x="4814824" y="49576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队列、重排、字节计数</a:t>
            </a:r>
          </a:p>
        </p:txBody>
      </p:sp>
      <p:sp>
        <p:nvSpPr>
          <p:cNvPr id="52" name="text-051: 地址应答与数据完成分开"/>
          <p:cNvSpPr txBox="1"/>
          <p:nvPr/>
        </p:nvSpPr>
        <p:spPr>
          <a:xfrm>
            <a:off x="4814824" y="517099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地址应答与数据完成分开</a:t>
            </a:r>
          </a:p>
        </p:txBody>
      </p:sp>
      <p:sp>
        <p:nvSpPr>
          <p:cNvPr id="53" name="rect-052"/>
          <p:cNvSpPr/>
          <p:nvPr/>
        </p:nvSpPr>
        <p:spPr>
          <a:xfrm>
            <a:off x="9210040" y="4658360"/>
            <a:ext cx="30581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-053"/>
          <p:cNvSpPr/>
          <p:nvPr/>
        </p:nvSpPr>
        <p:spPr>
          <a:xfrm>
            <a:off x="9210040" y="465836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4: Ara AXI"/>
          <p:cNvSpPr txBox="1"/>
          <p:nvPr/>
        </p:nvSpPr>
        <p:spPr>
          <a:xfrm>
            <a:off x="9330944" y="4686239"/>
            <a:ext cx="7537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Ara AXI</a:t>
            </a:r>
          </a:p>
        </p:txBody>
      </p:sp>
      <p:sp>
        <p:nvSpPr>
          <p:cNvPr id="56" name="text-055: AR → / R ←"/>
          <p:cNvSpPr txBox="1"/>
          <p:nvPr/>
        </p:nvSpPr>
        <p:spPr>
          <a:xfrm>
            <a:off x="9330944" y="4957633"/>
            <a:ext cx="11123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→ / R ←</a:t>
            </a:r>
          </a:p>
        </p:txBody>
      </p:sp>
      <p:sp>
        <p:nvSpPr>
          <p:cNvPr id="57" name="text-056: AW、W → / B ←"/>
          <p:cNvSpPr txBox="1"/>
          <p:nvPr/>
        </p:nvSpPr>
        <p:spPr>
          <a:xfrm>
            <a:off x="9330944" y="5170993"/>
            <a:ext cx="14570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AW、W → / B ←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817880"/>
          </a:xfrm>
          <a:prstGeom prst="roundRect">
            <a:avLst>
              <a:gd name="adj" fmla="val 608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8178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系统路径与验收边界"/>
          <p:cNvSpPr txBox="1"/>
          <p:nvPr/>
        </p:nvSpPr>
        <p:spPr>
          <a:xfrm>
            <a:off x="512064" y="6535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系统路径与验收边界</a:t>
            </a:r>
          </a:p>
        </p:txBody>
      </p:sp>
      <p:sp>
        <p:nvSpPr>
          <p:cNvPr id="61" name="text-060: 失效过滤 / 位宽适配 → Crossbar → SPM 或 LLC → 外存；"/>
          <p:cNvSpPr txBox="1"/>
          <p:nvPr/>
        </p:nvSpPr>
        <p:spPr>
          <a:xfrm>
            <a:off x="512064" y="6822115"/>
            <a:ext cx="61841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 → Crossbar → SPM 或 LLC → 外存；AXI 口独立于 CPU L1 数据口</a:t>
            </a:r>
          </a:p>
        </p:txBody>
      </p:sp>
      <p:sp>
        <p:nvSpPr>
          <p:cNvPr id="62" name="text-061: 本地 store B 错误处理仍有 TODO；complete 不能单独作为传输"/>
          <p:cNvSpPr txBox="1"/>
          <p:nvPr/>
        </p:nvSpPr>
        <p:spPr>
          <a:xfrm>
            <a:off x="512064" y="7035475"/>
            <a:ext cx="5139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store B 错误处理仍有 TODO；complete 不能单独作为传输成功证据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75840" y="1244600"/>
            <a:ext cx="5654040" cy="4836160"/>
          </a:xfrm>
          <a:prstGeom prst="roundRect">
            <a:avLst>
              <a:gd name="adj" fmla="val 17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098040" y="181356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364171" y="179016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98040" y="242519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364171" y="240179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98040" y="3036824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364171" y="3013426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2098040" y="3648456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2364171" y="3625058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2098040" y="4260088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2364171" y="4236690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2098040" y="4871720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2364171" y="4848322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2098040" y="5483352"/>
            <a:ext cx="355600" cy="49784"/>
          </a:xfrm>
          <a:custGeom>
            <a:avLst/>
            <a:gdLst/>
            <a:ahLst/>
            <a:cxnLst/>
            <a:rect l="0" t="0" r="r" b="b"/>
            <a:pathLst>
              <a:path w="355600" h="49784">
                <a:moveTo>
                  <a:pt x="0" y="49784"/>
                </a:moveTo>
                <a:lnTo>
                  <a:pt x="3556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2364171" y="5459954"/>
            <a:ext cx="89469" cy="70480"/>
          </a:xfrm>
          <a:custGeom>
            <a:avLst/>
            <a:gdLst/>
            <a:ahLst/>
            <a:cxnLst/>
            <a:rect l="0" t="0" r="r" b="b"/>
            <a:pathLst>
              <a:path w="89469" h="70480">
                <a:moveTo>
                  <a:pt x="89469" y="23398"/>
                </a:moveTo>
                <a:lnTo>
                  <a:pt x="0" y="0"/>
                </a:lnTo>
                <a:lnTo>
                  <a:pt x="9886" y="7048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7752080" y="1895348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8054767" y="1890583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752080" y="2798572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8054767" y="2793807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4"/>
          <p:cNvSpPr/>
          <p:nvPr/>
        </p:nvSpPr>
        <p:spPr>
          <a:xfrm>
            <a:off x="7752080" y="3701796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8054767" y="3697031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6"/>
          <p:cNvSpPr/>
          <p:nvPr/>
        </p:nvSpPr>
        <p:spPr>
          <a:xfrm>
            <a:off x="7752080" y="4605020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8054767" y="4600255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8"/>
          <p:cNvSpPr/>
          <p:nvPr/>
        </p:nvSpPr>
        <p:spPr>
          <a:xfrm>
            <a:off x="7752080" y="5508244"/>
            <a:ext cx="391160" cy="39116"/>
          </a:xfrm>
          <a:custGeom>
            <a:avLst/>
            <a:gdLst/>
            <a:ahLst/>
            <a:cxnLst/>
            <a:rect l="0" t="0" r="r" b="b"/>
            <a:pathLst>
              <a:path w="391160" h="39116">
                <a:moveTo>
                  <a:pt x="0" y="0"/>
                </a:moveTo>
                <a:lnTo>
                  <a:pt x="391160" y="39116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8054767" y="5503479"/>
            <a:ext cx="88473" cy="70764"/>
          </a:xfrm>
          <a:custGeom>
            <a:avLst/>
            <a:gdLst/>
            <a:ahLst/>
            <a:cxnLst/>
            <a:rect l="0" t="0" r="r" b="b"/>
            <a:pathLst>
              <a:path w="88473" h="70764">
                <a:moveTo>
                  <a:pt x="88473" y="43881"/>
                </a:moveTo>
                <a:lnTo>
                  <a:pt x="7112" y="0"/>
                </a:lnTo>
                <a:lnTo>
                  <a:pt x="0" y="70764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ath-030"/>
          <p:cNvSpPr/>
          <p:nvPr/>
        </p:nvSpPr>
        <p:spPr>
          <a:xfrm>
            <a:off x="4124960" y="1813560"/>
            <a:ext cx="2489200" cy="78232"/>
          </a:xfrm>
          <a:custGeom>
            <a:avLst/>
            <a:gdLst/>
            <a:ahLst/>
            <a:cxnLst/>
            <a:rect l="0" t="0" r="r" b="b"/>
            <a:pathLst>
              <a:path w="2489200" h="78232">
                <a:moveTo>
                  <a:pt x="0" y="0"/>
                </a:moveTo>
                <a:cubicBezTo>
                  <a:pt x="1244600" y="0"/>
                  <a:pt x="1244600" y="78232"/>
                  <a:pt x="2489200" y="78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th-031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ath-032"/>
          <p:cNvSpPr/>
          <p:nvPr/>
        </p:nvSpPr>
        <p:spPr>
          <a:xfrm>
            <a:off x="4124960" y="1813560"/>
            <a:ext cx="2489200" cy="1884680"/>
          </a:xfrm>
          <a:custGeom>
            <a:avLst/>
            <a:gdLst/>
            <a:ahLst/>
            <a:cxnLst/>
            <a:rect l="0" t="0" r="r" b="b"/>
            <a:pathLst>
              <a:path w="2489200" h="1884680">
                <a:moveTo>
                  <a:pt x="0" y="0"/>
                </a:moveTo>
                <a:cubicBezTo>
                  <a:pt x="1244600" y="0"/>
                  <a:pt x="1244600" y="1884680"/>
                  <a:pt x="2489200" y="188468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ath-033"/>
          <p:cNvSpPr/>
          <p:nvPr/>
        </p:nvSpPr>
        <p:spPr>
          <a:xfrm>
            <a:off x="4124960" y="1813560"/>
            <a:ext cx="2489200" cy="2787904"/>
          </a:xfrm>
          <a:custGeom>
            <a:avLst/>
            <a:gdLst/>
            <a:ahLst/>
            <a:cxnLst/>
            <a:rect l="0" t="0" r="r" b="b"/>
            <a:pathLst>
              <a:path w="2489200" h="2787904">
                <a:moveTo>
                  <a:pt x="0" y="0"/>
                </a:moveTo>
                <a:cubicBezTo>
                  <a:pt x="1244600" y="0"/>
                  <a:pt x="1244600" y="2787904"/>
                  <a:pt x="2489200" y="278790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ath-034"/>
          <p:cNvSpPr/>
          <p:nvPr/>
        </p:nvSpPr>
        <p:spPr>
          <a:xfrm>
            <a:off x="4124960" y="1813560"/>
            <a:ext cx="2489200" cy="3691128"/>
          </a:xfrm>
          <a:custGeom>
            <a:avLst/>
            <a:gdLst/>
            <a:ahLst/>
            <a:cxnLst/>
            <a:rect l="0" t="0" r="r" b="b"/>
            <a:pathLst>
              <a:path w="2489200" h="3691128">
                <a:moveTo>
                  <a:pt x="0" y="0"/>
                </a:moveTo>
                <a:cubicBezTo>
                  <a:pt x="1244600" y="0"/>
                  <a:pt x="1244600" y="3691128"/>
                  <a:pt x="2489200" y="369112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ath-035"/>
          <p:cNvSpPr/>
          <p:nvPr/>
        </p:nvSpPr>
        <p:spPr>
          <a:xfrm>
            <a:off x="4124960" y="1891792"/>
            <a:ext cx="2489200" cy="533400"/>
          </a:xfrm>
          <a:custGeom>
            <a:avLst/>
            <a:gdLst/>
            <a:ahLst/>
            <a:cxnLst/>
            <a:rect l="0" t="0" r="r" b="b"/>
            <a:pathLst>
              <a:path w="2489200" h="533400">
                <a:moveTo>
                  <a:pt x="0" y="533400"/>
                </a:moveTo>
                <a:cubicBezTo>
                  <a:pt x="1244600" y="53340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ath-036"/>
          <p:cNvSpPr/>
          <p:nvPr/>
        </p:nvSpPr>
        <p:spPr>
          <a:xfrm>
            <a:off x="4124960" y="2425192"/>
            <a:ext cx="2489200" cy="369824"/>
          </a:xfrm>
          <a:custGeom>
            <a:avLst/>
            <a:gdLst/>
            <a:ahLst/>
            <a:cxnLst/>
            <a:rect l="0" t="0" r="r" b="b"/>
            <a:pathLst>
              <a:path w="2489200" h="369824">
                <a:moveTo>
                  <a:pt x="0" y="0"/>
                </a:moveTo>
                <a:cubicBezTo>
                  <a:pt x="1244600" y="0"/>
                  <a:pt x="1244600" y="369824"/>
                  <a:pt x="2489200" y="36982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ath-037"/>
          <p:cNvSpPr/>
          <p:nvPr/>
        </p:nvSpPr>
        <p:spPr>
          <a:xfrm>
            <a:off x="4124960" y="2425192"/>
            <a:ext cx="2489200" cy="1273048"/>
          </a:xfrm>
          <a:custGeom>
            <a:avLst/>
            <a:gdLst/>
            <a:ahLst/>
            <a:cxnLst/>
            <a:rect l="0" t="0" r="r" b="b"/>
            <a:pathLst>
              <a:path w="2489200" h="1273048">
                <a:moveTo>
                  <a:pt x="0" y="0"/>
                </a:moveTo>
                <a:cubicBezTo>
                  <a:pt x="1244600" y="0"/>
                  <a:pt x="1244600" y="1273048"/>
                  <a:pt x="2489200" y="127304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path-038"/>
          <p:cNvSpPr/>
          <p:nvPr/>
        </p:nvSpPr>
        <p:spPr>
          <a:xfrm>
            <a:off x="4124960" y="2425192"/>
            <a:ext cx="2489200" cy="2176272"/>
          </a:xfrm>
          <a:custGeom>
            <a:avLst/>
            <a:gdLst/>
            <a:ahLst/>
            <a:cxnLst/>
            <a:rect l="0" t="0" r="r" b="b"/>
            <a:pathLst>
              <a:path w="2489200" h="2176272">
                <a:moveTo>
                  <a:pt x="0" y="0"/>
                </a:moveTo>
                <a:cubicBezTo>
                  <a:pt x="1244600" y="0"/>
                  <a:pt x="1244600" y="2176272"/>
                  <a:pt x="2489200" y="217627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ath-039"/>
          <p:cNvSpPr/>
          <p:nvPr/>
        </p:nvSpPr>
        <p:spPr>
          <a:xfrm>
            <a:off x="4124960" y="2425192"/>
            <a:ext cx="2489200" cy="3079496"/>
          </a:xfrm>
          <a:custGeom>
            <a:avLst/>
            <a:gdLst/>
            <a:ahLst/>
            <a:cxnLst/>
            <a:rect l="0" t="0" r="r" b="b"/>
            <a:pathLst>
              <a:path w="2489200" h="3079496">
                <a:moveTo>
                  <a:pt x="0" y="0"/>
                </a:moveTo>
                <a:cubicBezTo>
                  <a:pt x="1244600" y="0"/>
                  <a:pt x="1244600" y="3079496"/>
                  <a:pt x="2489200" y="307949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ath-040"/>
          <p:cNvSpPr/>
          <p:nvPr/>
        </p:nvSpPr>
        <p:spPr>
          <a:xfrm>
            <a:off x="4124960" y="1891792"/>
            <a:ext cx="2489200" cy="1145032"/>
          </a:xfrm>
          <a:custGeom>
            <a:avLst/>
            <a:gdLst/>
            <a:ahLst/>
            <a:cxnLst/>
            <a:rect l="0" t="0" r="r" b="b"/>
            <a:pathLst>
              <a:path w="2489200" h="1145032">
                <a:moveTo>
                  <a:pt x="0" y="1145032"/>
                </a:moveTo>
                <a:cubicBezTo>
                  <a:pt x="1244600" y="114503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ath-041"/>
          <p:cNvSpPr/>
          <p:nvPr/>
        </p:nvSpPr>
        <p:spPr>
          <a:xfrm>
            <a:off x="4124960" y="2795016"/>
            <a:ext cx="2489200" cy="241808"/>
          </a:xfrm>
          <a:custGeom>
            <a:avLst/>
            <a:gdLst/>
            <a:ahLst/>
            <a:cxnLst/>
            <a:rect l="0" t="0" r="r" b="b"/>
            <a:pathLst>
              <a:path w="2489200" h="241808">
                <a:moveTo>
                  <a:pt x="0" y="241808"/>
                </a:moveTo>
                <a:cubicBezTo>
                  <a:pt x="1244600" y="24180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ath-042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ath-043"/>
          <p:cNvSpPr/>
          <p:nvPr/>
        </p:nvSpPr>
        <p:spPr>
          <a:xfrm>
            <a:off x="4124960" y="3036824"/>
            <a:ext cx="2489200" cy="1564640"/>
          </a:xfrm>
          <a:custGeom>
            <a:avLst/>
            <a:gdLst/>
            <a:ahLst/>
            <a:cxnLst/>
            <a:rect l="0" t="0" r="r" b="b"/>
            <a:pathLst>
              <a:path w="2489200" h="1564640">
                <a:moveTo>
                  <a:pt x="0" y="0"/>
                </a:moveTo>
                <a:cubicBezTo>
                  <a:pt x="1244600" y="0"/>
                  <a:pt x="1244600" y="1564640"/>
                  <a:pt x="2489200" y="156464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ath-044"/>
          <p:cNvSpPr/>
          <p:nvPr/>
        </p:nvSpPr>
        <p:spPr>
          <a:xfrm>
            <a:off x="4124960" y="3036824"/>
            <a:ext cx="2489200" cy="2467864"/>
          </a:xfrm>
          <a:custGeom>
            <a:avLst/>
            <a:gdLst/>
            <a:ahLst/>
            <a:cxnLst/>
            <a:rect l="0" t="0" r="r" b="b"/>
            <a:pathLst>
              <a:path w="2489200" h="2467864">
                <a:moveTo>
                  <a:pt x="0" y="0"/>
                </a:moveTo>
                <a:cubicBezTo>
                  <a:pt x="1244600" y="0"/>
                  <a:pt x="1244600" y="2467864"/>
                  <a:pt x="2489200" y="246786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path-045"/>
          <p:cNvSpPr/>
          <p:nvPr/>
        </p:nvSpPr>
        <p:spPr>
          <a:xfrm>
            <a:off x="4124960" y="1891792"/>
            <a:ext cx="2489200" cy="1756664"/>
          </a:xfrm>
          <a:custGeom>
            <a:avLst/>
            <a:gdLst/>
            <a:ahLst/>
            <a:cxnLst/>
            <a:rect l="0" t="0" r="r" b="b"/>
            <a:pathLst>
              <a:path w="2489200" h="1756664">
                <a:moveTo>
                  <a:pt x="0" y="1756664"/>
                </a:moveTo>
                <a:cubicBezTo>
                  <a:pt x="1244600" y="175666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path-046"/>
          <p:cNvSpPr/>
          <p:nvPr/>
        </p:nvSpPr>
        <p:spPr>
          <a:xfrm>
            <a:off x="4124960" y="2795016"/>
            <a:ext cx="2489200" cy="853440"/>
          </a:xfrm>
          <a:custGeom>
            <a:avLst/>
            <a:gdLst/>
            <a:ahLst/>
            <a:cxnLst/>
            <a:rect l="0" t="0" r="r" b="b"/>
            <a:pathLst>
              <a:path w="2489200" h="853440">
                <a:moveTo>
                  <a:pt x="0" y="853440"/>
                </a:moveTo>
                <a:cubicBezTo>
                  <a:pt x="1244600" y="85344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ath-047"/>
          <p:cNvSpPr/>
          <p:nvPr/>
        </p:nvSpPr>
        <p:spPr>
          <a:xfrm>
            <a:off x="4124960" y="3648456"/>
            <a:ext cx="2489200" cy="49784"/>
          </a:xfrm>
          <a:custGeom>
            <a:avLst/>
            <a:gdLst/>
            <a:ahLst/>
            <a:cxnLst/>
            <a:rect l="0" t="0" r="r" b="b"/>
            <a:pathLst>
              <a:path w="2489200" h="49784">
                <a:moveTo>
                  <a:pt x="0" y="0"/>
                </a:moveTo>
                <a:cubicBezTo>
                  <a:pt x="1244600" y="0"/>
                  <a:pt x="1244600" y="49784"/>
                  <a:pt x="2489200" y="49784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ath-048"/>
          <p:cNvSpPr/>
          <p:nvPr/>
        </p:nvSpPr>
        <p:spPr>
          <a:xfrm>
            <a:off x="4124960" y="3648456"/>
            <a:ext cx="2489200" cy="953008"/>
          </a:xfrm>
          <a:custGeom>
            <a:avLst/>
            <a:gdLst/>
            <a:ahLst/>
            <a:cxnLst/>
            <a:rect l="0" t="0" r="r" b="b"/>
            <a:pathLst>
              <a:path w="2489200" h="953008">
                <a:moveTo>
                  <a:pt x="0" y="0"/>
                </a:moveTo>
                <a:cubicBezTo>
                  <a:pt x="1244600" y="0"/>
                  <a:pt x="1244600" y="953008"/>
                  <a:pt x="2489200" y="95300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ath-049"/>
          <p:cNvSpPr/>
          <p:nvPr/>
        </p:nvSpPr>
        <p:spPr>
          <a:xfrm>
            <a:off x="4124960" y="3648456"/>
            <a:ext cx="2489200" cy="1856232"/>
          </a:xfrm>
          <a:custGeom>
            <a:avLst/>
            <a:gdLst/>
            <a:ahLst/>
            <a:cxnLst/>
            <a:rect l="0" t="0" r="r" b="b"/>
            <a:pathLst>
              <a:path w="2489200" h="1856232">
                <a:moveTo>
                  <a:pt x="0" y="0"/>
                </a:moveTo>
                <a:cubicBezTo>
                  <a:pt x="1244600" y="0"/>
                  <a:pt x="1244600" y="1856232"/>
                  <a:pt x="2489200" y="1856232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path-050"/>
          <p:cNvSpPr/>
          <p:nvPr/>
        </p:nvSpPr>
        <p:spPr>
          <a:xfrm>
            <a:off x="4124960" y="1891792"/>
            <a:ext cx="2489200" cy="2368296"/>
          </a:xfrm>
          <a:custGeom>
            <a:avLst/>
            <a:gdLst/>
            <a:ahLst/>
            <a:cxnLst/>
            <a:rect l="0" t="0" r="r" b="b"/>
            <a:pathLst>
              <a:path w="2489200" h="2368296">
                <a:moveTo>
                  <a:pt x="0" y="2368296"/>
                </a:moveTo>
                <a:cubicBezTo>
                  <a:pt x="1244600" y="236829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path-051"/>
          <p:cNvSpPr/>
          <p:nvPr/>
        </p:nvSpPr>
        <p:spPr>
          <a:xfrm>
            <a:off x="4124960" y="2795016"/>
            <a:ext cx="2489200" cy="1465072"/>
          </a:xfrm>
          <a:custGeom>
            <a:avLst/>
            <a:gdLst/>
            <a:ahLst/>
            <a:cxnLst/>
            <a:rect l="0" t="0" r="r" b="b"/>
            <a:pathLst>
              <a:path w="2489200" h="1465072">
                <a:moveTo>
                  <a:pt x="0" y="1465072"/>
                </a:moveTo>
                <a:cubicBezTo>
                  <a:pt x="1244600" y="146507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ath-052"/>
          <p:cNvSpPr/>
          <p:nvPr/>
        </p:nvSpPr>
        <p:spPr>
          <a:xfrm>
            <a:off x="4124960" y="3698240"/>
            <a:ext cx="2489200" cy="561848"/>
          </a:xfrm>
          <a:custGeom>
            <a:avLst/>
            <a:gdLst/>
            <a:ahLst/>
            <a:cxnLst/>
            <a:rect l="0" t="0" r="r" b="b"/>
            <a:pathLst>
              <a:path w="2489200" h="561848">
                <a:moveTo>
                  <a:pt x="0" y="561848"/>
                </a:moveTo>
                <a:cubicBezTo>
                  <a:pt x="1244600" y="56184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ath-053"/>
          <p:cNvSpPr/>
          <p:nvPr/>
        </p:nvSpPr>
        <p:spPr>
          <a:xfrm>
            <a:off x="4124960" y="4260088"/>
            <a:ext cx="2489200" cy="341376"/>
          </a:xfrm>
          <a:custGeom>
            <a:avLst/>
            <a:gdLst/>
            <a:ahLst/>
            <a:cxnLst/>
            <a:rect l="0" t="0" r="r" b="b"/>
            <a:pathLst>
              <a:path w="2489200" h="341376">
                <a:moveTo>
                  <a:pt x="0" y="0"/>
                </a:moveTo>
                <a:cubicBezTo>
                  <a:pt x="1244600" y="0"/>
                  <a:pt x="1244600" y="341376"/>
                  <a:pt x="2489200" y="34137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ath-054"/>
          <p:cNvSpPr/>
          <p:nvPr/>
        </p:nvSpPr>
        <p:spPr>
          <a:xfrm>
            <a:off x="4124960" y="4260088"/>
            <a:ext cx="2489200" cy="1244600"/>
          </a:xfrm>
          <a:custGeom>
            <a:avLst/>
            <a:gdLst/>
            <a:ahLst/>
            <a:cxnLst/>
            <a:rect l="0" t="0" r="r" b="b"/>
            <a:pathLst>
              <a:path w="2489200" h="1244600">
                <a:moveTo>
                  <a:pt x="0" y="0"/>
                </a:moveTo>
                <a:cubicBezTo>
                  <a:pt x="1244600" y="0"/>
                  <a:pt x="1244600" y="1244600"/>
                  <a:pt x="2489200" y="124460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ath-055"/>
          <p:cNvSpPr/>
          <p:nvPr/>
        </p:nvSpPr>
        <p:spPr>
          <a:xfrm>
            <a:off x="4124960" y="1891792"/>
            <a:ext cx="2489200" cy="2979928"/>
          </a:xfrm>
          <a:custGeom>
            <a:avLst/>
            <a:gdLst/>
            <a:ahLst/>
            <a:cxnLst/>
            <a:rect l="0" t="0" r="r" b="b"/>
            <a:pathLst>
              <a:path w="2489200" h="2979928">
                <a:moveTo>
                  <a:pt x="0" y="2979928"/>
                </a:moveTo>
                <a:cubicBezTo>
                  <a:pt x="1244600" y="297992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ath-056"/>
          <p:cNvSpPr/>
          <p:nvPr/>
        </p:nvSpPr>
        <p:spPr>
          <a:xfrm>
            <a:off x="4124960" y="2795016"/>
            <a:ext cx="2489200" cy="2076704"/>
          </a:xfrm>
          <a:custGeom>
            <a:avLst/>
            <a:gdLst/>
            <a:ahLst/>
            <a:cxnLst/>
            <a:rect l="0" t="0" r="r" b="b"/>
            <a:pathLst>
              <a:path w="2489200" h="2076704">
                <a:moveTo>
                  <a:pt x="0" y="2076704"/>
                </a:moveTo>
                <a:cubicBezTo>
                  <a:pt x="1244600" y="2076704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ath-057"/>
          <p:cNvSpPr/>
          <p:nvPr/>
        </p:nvSpPr>
        <p:spPr>
          <a:xfrm>
            <a:off x="4124960" y="3698240"/>
            <a:ext cx="2489200" cy="1173480"/>
          </a:xfrm>
          <a:custGeom>
            <a:avLst/>
            <a:gdLst/>
            <a:ahLst/>
            <a:cxnLst/>
            <a:rect l="0" t="0" r="r" b="b"/>
            <a:pathLst>
              <a:path w="2489200" h="1173480">
                <a:moveTo>
                  <a:pt x="0" y="1173480"/>
                </a:moveTo>
                <a:cubicBezTo>
                  <a:pt x="1244600" y="117348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path-058"/>
          <p:cNvSpPr/>
          <p:nvPr/>
        </p:nvSpPr>
        <p:spPr>
          <a:xfrm>
            <a:off x="4124960" y="4601464"/>
            <a:ext cx="2489200" cy="270256"/>
          </a:xfrm>
          <a:custGeom>
            <a:avLst/>
            <a:gdLst/>
            <a:ahLst/>
            <a:cxnLst/>
            <a:rect l="0" t="0" r="r" b="b"/>
            <a:pathLst>
              <a:path w="2489200" h="270256">
                <a:moveTo>
                  <a:pt x="0" y="270256"/>
                </a:moveTo>
                <a:cubicBezTo>
                  <a:pt x="1244600" y="27025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th-059"/>
          <p:cNvSpPr/>
          <p:nvPr/>
        </p:nvSpPr>
        <p:spPr>
          <a:xfrm>
            <a:off x="4124960" y="4871720"/>
            <a:ext cx="2489200" cy="632968"/>
          </a:xfrm>
          <a:custGeom>
            <a:avLst/>
            <a:gdLst/>
            <a:ahLst/>
            <a:cxnLst/>
            <a:rect l="0" t="0" r="r" b="b"/>
            <a:pathLst>
              <a:path w="2489200" h="632968">
                <a:moveTo>
                  <a:pt x="0" y="0"/>
                </a:moveTo>
                <a:cubicBezTo>
                  <a:pt x="1244600" y="0"/>
                  <a:pt x="1244600" y="632968"/>
                  <a:pt x="2489200" y="632968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ath-060"/>
          <p:cNvSpPr/>
          <p:nvPr/>
        </p:nvSpPr>
        <p:spPr>
          <a:xfrm>
            <a:off x="4124960" y="1891792"/>
            <a:ext cx="2489200" cy="3591560"/>
          </a:xfrm>
          <a:custGeom>
            <a:avLst/>
            <a:gdLst/>
            <a:ahLst/>
            <a:cxnLst/>
            <a:rect l="0" t="0" r="r" b="b"/>
            <a:pathLst>
              <a:path w="2489200" h="3591560">
                <a:moveTo>
                  <a:pt x="0" y="3591560"/>
                </a:moveTo>
                <a:cubicBezTo>
                  <a:pt x="1244600" y="3591560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ath-061"/>
          <p:cNvSpPr/>
          <p:nvPr/>
        </p:nvSpPr>
        <p:spPr>
          <a:xfrm>
            <a:off x="4124960" y="2795016"/>
            <a:ext cx="2489200" cy="2688336"/>
          </a:xfrm>
          <a:custGeom>
            <a:avLst/>
            <a:gdLst/>
            <a:ahLst/>
            <a:cxnLst/>
            <a:rect l="0" t="0" r="r" b="b"/>
            <a:pathLst>
              <a:path w="2489200" h="2688336">
                <a:moveTo>
                  <a:pt x="0" y="2688336"/>
                </a:moveTo>
                <a:cubicBezTo>
                  <a:pt x="1244600" y="2688336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path-062"/>
          <p:cNvSpPr/>
          <p:nvPr/>
        </p:nvSpPr>
        <p:spPr>
          <a:xfrm>
            <a:off x="4124960" y="3698240"/>
            <a:ext cx="2489200" cy="1785112"/>
          </a:xfrm>
          <a:custGeom>
            <a:avLst/>
            <a:gdLst/>
            <a:ahLst/>
            <a:cxnLst/>
            <a:rect l="0" t="0" r="r" b="b"/>
            <a:pathLst>
              <a:path w="2489200" h="1785112">
                <a:moveTo>
                  <a:pt x="0" y="1785112"/>
                </a:moveTo>
                <a:cubicBezTo>
                  <a:pt x="1244600" y="1785112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path-063"/>
          <p:cNvSpPr/>
          <p:nvPr/>
        </p:nvSpPr>
        <p:spPr>
          <a:xfrm>
            <a:off x="4124960" y="4601464"/>
            <a:ext cx="2489200" cy="881888"/>
          </a:xfrm>
          <a:custGeom>
            <a:avLst/>
            <a:gdLst/>
            <a:ahLst/>
            <a:cxnLst/>
            <a:rect l="0" t="0" r="r" b="b"/>
            <a:pathLst>
              <a:path w="2489200" h="881888">
                <a:moveTo>
                  <a:pt x="0" y="881888"/>
                </a:moveTo>
                <a:cubicBezTo>
                  <a:pt x="1244600" y="881888"/>
                  <a:pt x="1244600" y="0"/>
                  <a:pt x="2489200" y="0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ath-064"/>
          <p:cNvSpPr/>
          <p:nvPr/>
        </p:nvSpPr>
        <p:spPr>
          <a:xfrm>
            <a:off x="4124960" y="5483352"/>
            <a:ext cx="2489200" cy="21336"/>
          </a:xfrm>
          <a:custGeom>
            <a:avLst/>
            <a:gdLst/>
            <a:ahLst/>
            <a:cxnLst/>
            <a:rect l="0" t="0" r="r" b="b"/>
            <a:pathLst>
              <a:path w="2489200" h="21336">
                <a:moveTo>
                  <a:pt x="0" y="0"/>
                </a:moveTo>
                <a:cubicBezTo>
                  <a:pt x="1244600" y="0"/>
                  <a:pt x="1244600" y="21336"/>
                  <a:pt x="2489200" y="21336"/>
                </a:cubicBezTo>
              </a:path>
            </a:pathLst>
          </a:custGeom>
          <a:noFill/>
          <a:ln w="9246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ath-065"/>
          <p:cNvSpPr/>
          <p:nvPr/>
        </p:nvSpPr>
        <p:spPr>
          <a:xfrm>
            <a:off x="4124960" y="1813560"/>
            <a:ext cx="2489200" cy="981456"/>
          </a:xfrm>
          <a:custGeom>
            <a:avLst/>
            <a:gdLst/>
            <a:ahLst/>
            <a:cxnLst/>
            <a:rect l="0" t="0" r="r" b="b"/>
            <a:pathLst>
              <a:path w="2489200" h="981456">
                <a:moveTo>
                  <a:pt x="0" y="0"/>
                </a:moveTo>
                <a:cubicBezTo>
                  <a:pt x="1244600" y="0"/>
                  <a:pt x="1244600" y="981456"/>
                  <a:pt x="2489200" y="981456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line-066"/>
          <p:cNvSpPr/>
          <p:nvPr/>
        </p:nvSpPr>
        <p:spPr>
          <a:xfrm>
            <a:off x="6514592" y="2795016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6528816" y="27594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path-068"/>
          <p:cNvSpPr/>
          <p:nvPr/>
        </p:nvSpPr>
        <p:spPr>
          <a:xfrm>
            <a:off x="4124960" y="3036824"/>
            <a:ext cx="2489200" cy="661416"/>
          </a:xfrm>
          <a:custGeom>
            <a:avLst/>
            <a:gdLst/>
            <a:ahLst/>
            <a:cxnLst/>
            <a:rect l="0" t="0" r="r" b="b"/>
            <a:pathLst>
              <a:path w="2489200" h="661416">
                <a:moveTo>
                  <a:pt x="0" y="0"/>
                </a:moveTo>
                <a:cubicBezTo>
                  <a:pt x="1244600" y="0"/>
                  <a:pt x="1244600" y="661416"/>
                  <a:pt x="2489200" y="661416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polyline-069"/>
          <p:cNvSpPr/>
          <p:nvPr/>
        </p:nvSpPr>
        <p:spPr>
          <a:xfrm>
            <a:off x="6514592" y="369824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polygon-070"/>
          <p:cNvSpPr/>
          <p:nvPr/>
        </p:nvSpPr>
        <p:spPr>
          <a:xfrm>
            <a:off x="6528816" y="3662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1: AXI Crossbar：7 个发起端、5 个目标与两级译码"/>
          <p:cNvSpPr txBox="1"/>
          <p:nvPr/>
        </p:nvSpPr>
        <p:spPr>
          <a:xfrm>
            <a:off x="483616" y="271109"/>
            <a:ext cx="572774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Crossbar：7 个发起端、5 个目标与两级译码</a:t>
            </a:r>
          </a:p>
        </p:txBody>
      </p:sp>
      <p:sp>
        <p:nvSpPr>
          <p:cNvPr id="73" name="text-072: 示例配置：DefaultCfg + Ara=1；单核、无外部扩展端口。灰线为可达"/>
          <p:cNvSpPr txBox="1"/>
          <p:nvPr/>
        </p:nvSpPr>
        <p:spPr>
          <a:xfrm>
            <a:off x="483616" y="676778"/>
            <a:ext cx="75064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示例配置：DefaultCfg + Ara=1；单核、无外部扩展端口。灰线为可达连接；橙/蓝线为两个请求示例。</a:t>
            </a:r>
          </a:p>
        </p:txBody>
      </p:sp>
      <p:sp>
        <p:nvSpPr>
          <p:cNvPr id="74" name="text-073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75" name="text-074: 源码：hw/cheshire_pkg.sv::gen_axi_in / gen_"/>
          <p:cNvSpPr txBox="1"/>
          <p:nvPr/>
        </p:nvSpPr>
        <p:spPr>
          <a:xfrm>
            <a:off x="341376" y="7726477"/>
            <a:ext cx="644235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源码：hw/cheshire_pkg.sv::gen_axi_in / gen_axi_out / gen_reg_out；hw/cheshire_soc.sv::i_axi_xbar</a:t>
            </a:r>
          </a:p>
        </p:txBody>
      </p:sp>
      <p:sp>
        <p:nvSpPr>
          <p:cNvPr id="76" name="text-075: i_axi_xbar：逐输入分流，逐目标独立仲裁"/>
          <p:cNvSpPr txBox="1"/>
          <p:nvPr/>
        </p:nvSpPr>
        <p:spPr>
          <a:xfrm>
            <a:off x="2403856" y="1301496"/>
            <a:ext cx="343045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i_axi_xbar：逐输入分流，逐目标独立仲裁</a:t>
            </a:r>
          </a:p>
        </p:txBody>
      </p:sp>
      <p:sp>
        <p:nvSpPr>
          <p:cNvPr id="77" name="text-076: 发起端 / 请求进入 S 端"/>
          <p:cNvSpPr txBox="1"/>
          <p:nvPr/>
        </p:nvSpPr>
        <p:spPr>
          <a:xfrm>
            <a:off x="320040" y="1265936"/>
            <a:ext cx="2015885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发起端 / 请求进入 S 端</a:t>
            </a:r>
          </a:p>
        </p:txBody>
      </p:sp>
      <p:sp>
        <p:nvSpPr>
          <p:cNvPr id="78" name="text-077: 目标 / 请求离开 M 端"/>
          <p:cNvSpPr txBox="1"/>
          <p:nvPr/>
        </p:nvSpPr>
        <p:spPr>
          <a:xfrm>
            <a:off x="8143240" y="1265936"/>
            <a:ext cx="187367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目标 / 请求离开 M 端</a:t>
            </a:r>
          </a:p>
        </p:txBody>
      </p:sp>
      <p:sp>
        <p:nvSpPr>
          <p:cNvPr id="79" name="rect-078"/>
          <p:cNvSpPr/>
          <p:nvPr/>
        </p:nvSpPr>
        <p:spPr>
          <a:xfrm>
            <a:off x="320040" y="158597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320040" y="1585976"/>
            <a:ext cx="35560" cy="5547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S0 · CVA6 core 0"/>
          <p:cNvSpPr txBox="1"/>
          <p:nvPr/>
        </p:nvSpPr>
        <p:spPr>
          <a:xfrm>
            <a:off x="440944" y="1636898"/>
            <a:ext cx="13857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S0 · CVA6 core 0</a:t>
            </a:r>
          </a:p>
        </p:txBody>
      </p:sp>
      <p:sp>
        <p:nvSpPr>
          <p:cNvPr id="82" name="text-081: L1 / ID 适配"/>
          <p:cNvSpPr txBox="1"/>
          <p:nvPr/>
        </p:nvSpPr>
        <p:spPr>
          <a:xfrm>
            <a:off x="440944" y="1915973"/>
            <a:ext cx="91569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L1 / ID 适配</a:t>
            </a:r>
          </a:p>
        </p:txBody>
      </p:sp>
      <p:sp>
        <p:nvSpPr>
          <p:cNvPr id="83" name="rect-082"/>
          <p:cNvSpPr/>
          <p:nvPr/>
        </p:nvSpPr>
        <p:spPr>
          <a:xfrm>
            <a:off x="2453640" y="159308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2453640" y="159308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DEMUX S0"/>
          <p:cNvSpPr txBox="1"/>
          <p:nvPr/>
        </p:nvSpPr>
        <p:spPr>
          <a:xfrm>
            <a:off x="2574544" y="162096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S0</a:t>
            </a:r>
          </a:p>
        </p:txBody>
      </p:sp>
      <p:sp>
        <p:nvSpPr>
          <p:cNvPr id="86" name="rect-085"/>
          <p:cNvSpPr/>
          <p:nvPr/>
        </p:nvSpPr>
        <p:spPr>
          <a:xfrm>
            <a:off x="320040" y="219760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-086"/>
          <p:cNvSpPr/>
          <p:nvPr/>
        </p:nvSpPr>
        <p:spPr>
          <a:xfrm>
            <a:off x="320040" y="219760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7: S1 · Debug / SBA"/>
          <p:cNvSpPr txBox="1"/>
          <p:nvPr/>
        </p:nvSpPr>
        <p:spPr>
          <a:xfrm>
            <a:off x="440944" y="2248530"/>
            <a:ext cx="14314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S1 · Debug / SBA</a:t>
            </a:r>
          </a:p>
        </p:txBody>
      </p:sp>
      <p:sp>
        <p:nvSpPr>
          <p:cNvPr id="89" name="text-088: 调试装载发起端"/>
          <p:cNvSpPr txBox="1"/>
          <p:nvPr/>
        </p:nvSpPr>
        <p:spPr>
          <a:xfrm>
            <a:off x="440944" y="2527605"/>
            <a:ext cx="113792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调试装载发起端</a:t>
            </a:r>
          </a:p>
        </p:txBody>
      </p:sp>
      <p:sp>
        <p:nvSpPr>
          <p:cNvPr id="90" name="rect-089"/>
          <p:cNvSpPr/>
          <p:nvPr/>
        </p:nvSpPr>
        <p:spPr>
          <a:xfrm>
            <a:off x="2453640" y="220472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-090"/>
          <p:cNvSpPr/>
          <p:nvPr/>
        </p:nvSpPr>
        <p:spPr>
          <a:xfrm>
            <a:off x="2453640" y="220472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1: DEMUX S1"/>
          <p:cNvSpPr txBox="1"/>
          <p:nvPr/>
        </p:nvSpPr>
        <p:spPr>
          <a:xfrm>
            <a:off x="2574544" y="223259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S1</a:t>
            </a:r>
          </a:p>
        </p:txBody>
      </p:sp>
      <p:sp>
        <p:nvSpPr>
          <p:cNvPr id="93" name="rect-092"/>
          <p:cNvSpPr/>
          <p:nvPr/>
        </p:nvSpPr>
        <p:spPr>
          <a:xfrm>
            <a:off x="320040" y="2809240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-093"/>
          <p:cNvSpPr/>
          <p:nvPr/>
        </p:nvSpPr>
        <p:spPr>
          <a:xfrm>
            <a:off x="320040" y="2809240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4: S2 · Ara VLSU"/>
          <p:cNvSpPr txBox="1"/>
          <p:nvPr/>
        </p:nvSpPr>
        <p:spPr>
          <a:xfrm>
            <a:off x="440944" y="2837119"/>
            <a:ext cx="131174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S2 · Ara VLSU</a:t>
            </a:r>
          </a:p>
        </p:txBody>
      </p:sp>
      <p:sp>
        <p:nvSpPr>
          <p:cNvPr id="96" name="text-095: 失效过滤 / 位宽适配"/>
          <p:cNvSpPr txBox="1"/>
          <p:nvPr/>
        </p:nvSpPr>
        <p:spPr>
          <a:xfrm>
            <a:off x="440944" y="3139237"/>
            <a:ext cx="143935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失效过滤 / 位宽适配</a:t>
            </a:r>
          </a:p>
        </p:txBody>
      </p:sp>
      <p:sp>
        <p:nvSpPr>
          <p:cNvPr id="97" name="rect-096"/>
          <p:cNvSpPr/>
          <p:nvPr/>
        </p:nvSpPr>
        <p:spPr>
          <a:xfrm>
            <a:off x="2453640" y="2816352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2453640" y="2816352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DEMUX S2"/>
          <p:cNvSpPr txBox="1"/>
          <p:nvPr/>
        </p:nvSpPr>
        <p:spPr>
          <a:xfrm>
            <a:off x="2574544" y="2844231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S2</a:t>
            </a:r>
          </a:p>
        </p:txBody>
      </p:sp>
      <p:sp>
        <p:nvSpPr>
          <p:cNvPr id="100" name="rect-099"/>
          <p:cNvSpPr/>
          <p:nvPr/>
        </p:nvSpPr>
        <p:spPr>
          <a:xfrm>
            <a:off x="320040" y="3420872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-100"/>
          <p:cNvSpPr/>
          <p:nvPr/>
        </p:nvSpPr>
        <p:spPr>
          <a:xfrm>
            <a:off x="320040" y="3420872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-101: S3 · iDMA 数据"/>
          <p:cNvSpPr txBox="1"/>
          <p:nvPr/>
        </p:nvSpPr>
        <p:spPr>
          <a:xfrm>
            <a:off x="440944" y="3448751"/>
            <a:ext cx="141177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S3 · iDMA 数据</a:t>
            </a:r>
          </a:p>
        </p:txBody>
      </p:sp>
      <p:sp>
        <p:nvSpPr>
          <p:cNvPr id="103" name="text-102: 主动搬运内存"/>
          <p:cNvSpPr txBox="1"/>
          <p:nvPr/>
        </p:nvSpPr>
        <p:spPr>
          <a:xfrm>
            <a:off x="440944" y="3750869"/>
            <a:ext cx="995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主动搬运内存</a:t>
            </a:r>
          </a:p>
        </p:txBody>
      </p:sp>
      <p:sp>
        <p:nvSpPr>
          <p:cNvPr id="104" name="rect-103"/>
          <p:cNvSpPr/>
          <p:nvPr/>
        </p:nvSpPr>
        <p:spPr>
          <a:xfrm>
            <a:off x="2453640" y="3427984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-104"/>
          <p:cNvSpPr/>
          <p:nvPr/>
        </p:nvSpPr>
        <p:spPr>
          <a:xfrm>
            <a:off x="2453640" y="3427984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-105: DEMUX S3"/>
          <p:cNvSpPr txBox="1"/>
          <p:nvPr/>
        </p:nvSpPr>
        <p:spPr>
          <a:xfrm>
            <a:off x="2574544" y="3455863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S3</a:t>
            </a:r>
          </a:p>
        </p:txBody>
      </p:sp>
      <p:sp>
        <p:nvSpPr>
          <p:cNvPr id="107" name="rect-106"/>
          <p:cNvSpPr/>
          <p:nvPr/>
        </p:nvSpPr>
        <p:spPr>
          <a:xfrm>
            <a:off x="320040" y="4032504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-107"/>
          <p:cNvSpPr/>
          <p:nvPr/>
        </p:nvSpPr>
        <p:spPr>
          <a:xfrm>
            <a:off x="320040" y="4032504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-108: S4 · Link RX"/>
          <p:cNvSpPr txBox="1"/>
          <p:nvPr/>
        </p:nvSpPr>
        <p:spPr>
          <a:xfrm>
            <a:off x="440944" y="4060383"/>
            <a:ext cx="1163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S4 · Link RX</a:t>
            </a:r>
          </a:p>
        </p:txBody>
      </p:sp>
      <p:sp>
        <p:nvSpPr>
          <p:cNvPr id="110" name="text-109: Serial Link 接收侧"/>
          <p:cNvSpPr txBox="1"/>
          <p:nvPr/>
        </p:nvSpPr>
        <p:spPr>
          <a:xfrm>
            <a:off x="440944" y="4362501"/>
            <a:ext cx="126213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Serial Link 接收侧</a:t>
            </a:r>
          </a:p>
        </p:txBody>
      </p:sp>
      <p:sp>
        <p:nvSpPr>
          <p:cNvPr id="111" name="rect-110"/>
          <p:cNvSpPr/>
          <p:nvPr/>
        </p:nvSpPr>
        <p:spPr>
          <a:xfrm>
            <a:off x="2453640" y="4039616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-111"/>
          <p:cNvSpPr/>
          <p:nvPr/>
        </p:nvSpPr>
        <p:spPr>
          <a:xfrm>
            <a:off x="2453640" y="4039616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-112: DEMUX S4"/>
          <p:cNvSpPr txBox="1"/>
          <p:nvPr/>
        </p:nvSpPr>
        <p:spPr>
          <a:xfrm>
            <a:off x="2574544" y="4067495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S4</a:t>
            </a:r>
          </a:p>
        </p:txBody>
      </p:sp>
      <p:sp>
        <p:nvSpPr>
          <p:cNvPr id="114" name="rect-113"/>
          <p:cNvSpPr/>
          <p:nvPr/>
        </p:nvSpPr>
        <p:spPr>
          <a:xfrm>
            <a:off x="320040" y="4644136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-114"/>
          <p:cNvSpPr/>
          <p:nvPr/>
        </p:nvSpPr>
        <p:spPr>
          <a:xfrm>
            <a:off x="320040" y="4644136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-115: S5 · VGA 取帧"/>
          <p:cNvSpPr txBox="1"/>
          <p:nvPr/>
        </p:nvSpPr>
        <p:spPr>
          <a:xfrm>
            <a:off x="440944" y="4672015"/>
            <a:ext cx="131949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S5 · VGA 取帧</a:t>
            </a:r>
          </a:p>
        </p:txBody>
      </p:sp>
      <p:sp>
        <p:nvSpPr>
          <p:cNvPr id="117" name="text-116: 读帧缓冲"/>
          <p:cNvSpPr txBox="1"/>
          <p:nvPr/>
        </p:nvSpPr>
        <p:spPr>
          <a:xfrm>
            <a:off x="440944" y="4974133"/>
            <a:ext cx="71120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读帧缓冲</a:t>
            </a:r>
          </a:p>
        </p:txBody>
      </p:sp>
      <p:sp>
        <p:nvSpPr>
          <p:cNvPr id="118" name="rect-117"/>
          <p:cNvSpPr/>
          <p:nvPr/>
        </p:nvSpPr>
        <p:spPr>
          <a:xfrm>
            <a:off x="2453640" y="4651248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-118"/>
          <p:cNvSpPr/>
          <p:nvPr/>
        </p:nvSpPr>
        <p:spPr>
          <a:xfrm>
            <a:off x="2453640" y="4651248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-119: DEMUX S5"/>
          <p:cNvSpPr txBox="1"/>
          <p:nvPr/>
        </p:nvSpPr>
        <p:spPr>
          <a:xfrm>
            <a:off x="2574544" y="4679127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S5</a:t>
            </a:r>
          </a:p>
        </p:txBody>
      </p:sp>
      <p:sp>
        <p:nvSpPr>
          <p:cNvPr id="121" name="rect-120"/>
          <p:cNvSpPr/>
          <p:nvPr/>
        </p:nvSpPr>
        <p:spPr>
          <a:xfrm>
            <a:off x="320040" y="5255768"/>
            <a:ext cx="1778000" cy="554736"/>
          </a:xfrm>
          <a:prstGeom prst="roundRect">
            <a:avLst>
              <a:gd name="adj" fmla="val 897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-121"/>
          <p:cNvSpPr/>
          <p:nvPr/>
        </p:nvSpPr>
        <p:spPr>
          <a:xfrm>
            <a:off x="320040" y="5255768"/>
            <a:ext cx="35560" cy="5547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-122: S6 · USB DMA"/>
          <p:cNvSpPr txBox="1"/>
          <p:nvPr/>
        </p:nvSpPr>
        <p:spPr>
          <a:xfrm>
            <a:off x="440944" y="5283647"/>
            <a:ext cx="134497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S6 · USB DMA</a:t>
            </a:r>
          </a:p>
        </p:txBody>
      </p:sp>
      <p:sp>
        <p:nvSpPr>
          <p:cNvPr id="124" name="text-123: 描述符 / 数据"/>
          <p:cNvSpPr txBox="1"/>
          <p:nvPr/>
        </p:nvSpPr>
        <p:spPr>
          <a:xfrm>
            <a:off x="440944" y="5585765"/>
            <a:ext cx="101263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描述符 / 数据</a:t>
            </a:r>
          </a:p>
        </p:txBody>
      </p:sp>
      <p:sp>
        <p:nvSpPr>
          <p:cNvPr id="125" name="rect-124"/>
          <p:cNvSpPr/>
          <p:nvPr/>
        </p:nvSpPr>
        <p:spPr>
          <a:xfrm>
            <a:off x="2453640" y="5262880"/>
            <a:ext cx="1671320" cy="440944"/>
          </a:xfrm>
          <a:prstGeom prst="roundRect">
            <a:avLst>
              <a:gd name="adj" fmla="val 112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-125"/>
          <p:cNvSpPr/>
          <p:nvPr/>
        </p:nvSpPr>
        <p:spPr>
          <a:xfrm>
            <a:off x="2453640" y="5262880"/>
            <a:ext cx="35560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-126: DEMUX S6"/>
          <p:cNvSpPr txBox="1"/>
          <p:nvPr/>
        </p:nvSpPr>
        <p:spPr>
          <a:xfrm>
            <a:off x="2574544" y="5290759"/>
            <a:ext cx="10605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S6</a:t>
            </a:r>
          </a:p>
        </p:txBody>
      </p:sp>
      <p:sp>
        <p:nvSpPr>
          <p:cNvPr id="128" name="rect-127"/>
          <p:cNvSpPr/>
          <p:nvPr/>
        </p:nvSpPr>
        <p:spPr>
          <a:xfrm>
            <a:off x="6614160" y="1621536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-128"/>
          <p:cNvSpPr/>
          <p:nvPr/>
        </p:nvSpPr>
        <p:spPr>
          <a:xfrm>
            <a:off x="6614160" y="1621536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-129: MUX M0"/>
          <p:cNvSpPr txBox="1"/>
          <p:nvPr/>
        </p:nvSpPr>
        <p:spPr>
          <a:xfrm>
            <a:off x="6735064" y="1649415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M0</a:t>
            </a:r>
          </a:p>
        </p:txBody>
      </p:sp>
      <p:sp>
        <p:nvSpPr>
          <p:cNvPr id="131" name="text-130: 独立仲裁"/>
          <p:cNvSpPr txBox="1"/>
          <p:nvPr/>
        </p:nvSpPr>
        <p:spPr>
          <a:xfrm>
            <a:off x="6735064" y="1936171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32" name="rect-131"/>
          <p:cNvSpPr/>
          <p:nvPr/>
        </p:nvSpPr>
        <p:spPr>
          <a:xfrm>
            <a:off x="8143240" y="1571752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-132"/>
          <p:cNvSpPr/>
          <p:nvPr/>
        </p:nvSpPr>
        <p:spPr>
          <a:xfrm>
            <a:off x="8143240" y="1571752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-133: M0 · Debug 目标"/>
          <p:cNvSpPr txBox="1"/>
          <p:nvPr/>
        </p:nvSpPr>
        <p:spPr>
          <a:xfrm>
            <a:off x="8264144" y="1599631"/>
            <a:ext cx="15410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M0 · Debug 目标</a:t>
            </a:r>
          </a:p>
        </p:txBody>
      </p:sp>
      <p:sp>
        <p:nvSpPr>
          <p:cNvPr id="135" name="text-134: 调试模块地址空间；与 SBA 发起端分开"/>
          <p:cNvSpPr txBox="1"/>
          <p:nvPr/>
        </p:nvSpPr>
        <p:spPr>
          <a:xfrm>
            <a:off x="8264144" y="1886387"/>
            <a:ext cx="28785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调试模块地址空间；与 SBA 发起端分开</a:t>
            </a:r>
          </a:p>
        </p:txBody>
      </p:sp>
      <p:sp>
        <p:nvSpPr>
          <p:cNvPr id="136" name="rect-135"/>
          <p:cNvSpPr/>
          <p:nvPr/>
        </p:nvSpPr>
        <p:spPr>
          <a:xfrm>
            <a:off x="6614160" y="2524760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-136"/>
          <p:cNvSpPr/>
          <p:nvPr/>
        </p:nvSpPr>
        <p:spPr>
          <a:xfrm>
            <a:off x="6614160" y="2524760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-137: MUX M1"/>
          <p:cNvSpPr txBox="1"/>
          <p:nvPr/>
        </p:nvSpPr>
        <p:spPr>
          <a:xfrm>
            <a:off x="6735064" y="2552639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M1</a:t>
            </a:r>
          </a:p>
        </p:txBody>
      </p:sp>
      <p:sp>
        <p:nvSpPr>
          <p:cNvPr id="139" name="text-138: 独立仲裁"/>
          <p:cNvSpPr txBox="1"/>
          <p:nvPr/>
        </p:nvSpPr>
        <p:spPr>
          <a:xfrm>
            <a:off x="6735064" y="28393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0" name="rect-139"/>
          <p:cNvSpPr/>
          <p:nvPr/>
        </p:nvSpPr>
        <p:spPr>
          <a:xfrm>
            <a:off x="8143240" y="2474976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-140"/>
          <p:cNvSpPr/>
          <p:nvPr/>
        </p:nvSpPr>
        <p:spPr>
          <a:xfrm>
            <a:off x="8143240" y="2474976"/>
            <a:ext cx="35560" cy="72542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-141: M1 · AXI → Reg32"/>
          <p:cNvSpPr txBox="1"/>
          <p:nvPr/>
        </p:nvSpPr>
        <p:spPr>
          <a:xfrm>
            <a:off x="8264144" y="2502855"/>
            <a:ext cx="16777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· AXI → Reg32</a:t>
            </a:r>
          </a:p>
        </p:txBody>
      </p:sp>
      <p:sp>
        <p:nvSpPr>
          <p:cNvPr id="143" name="text-142: 原子适配 / cut / 桥 → 下方二级译码"/>
          <p:cNvSpPr txBox="1"/>
          <p:nvPr/>
        </p:nvSpPr>
        <p:spPr>
          <a:xfrm>
            <a:off x="8264144" y="2789611"/>
            <a:ext cx="26873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原子适配 / cut / 桥 → 下方二级译码</a:t>
            </a:r>
          </a:p>
        </p:txBody>
      </p:sp>
      <p:sp>
        <p:nvSpPr>
          <p:cNvPr id="144" name="rect-143"/>
          <p:cNvSpPr/>
          <p:nvPr/>
        </p:nvSpPr>
        <p:spPr>
          <a:xfrm>
            <a:off x="6614160" y="3427984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-144"/>
          <p:cNvSpPr/>
          <p:nvPr/>
        </p:nvSpPr>
        <p:spPr>
          <a:xfrm>
            <a:off x="6614160" y="3427984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-145: MUX M2"/>
          <p:cNvSpPr txBox="1"/>
          <p:nvPr/>
        </p:nvSpPr>
        <p:spPr>
          <a:xfrm>
            <a:off x="6735064" y="3455863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M2</a:t>
            </a:r>
          </a:p>
        </p:txBody>
      </p:sp>
      <p:sp>
        <p:nvSpPr>
          <p:cNvPr id="147" name="text-146: 独立仲裁"/>
          <p:cNvSpPr txBox="1"/>
          <p:nvPr/>
        </p:nvSpPr>
        <p:spPr>
          <a:xfrm>
            <a:off x="6735064" y="374261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48" name="rect-147"/>
          <p:cNvSpPr/>
          <p:nvPr/>
        </p:nvSpPr>
        <p:spPr>
          <a:xfrm>
            <a:off x="8143240" y="3378200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-148"/>
          <p:cNvSpPr/>
          <p:nvPr/>
        </p:nvSpPr>
        <p:spPr>
          <a:xfrm>
            <a:off x="8143240" y="3378200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-149: M2 · LLC / SPM 共用出口"/>
          <p:cNvSpPr txBox="1"/>
          <p:nvPr/>
        </p:nvSpPr>
        <p:spPr>
          <a:xfrm>
            <a:off x="8264144" y="3406079"/>
            <a:ext cx="2273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· LLC / SPM 共用出口</a:t>
            </a:r>
          </a:p>
        </p:txBody>
      </p:sp>
      <p:sp>
        <p:nvSpPr>
          <p:cNvPr id="151" name="text-150: AMO / LRSC → cut / 地址重映射 → LLC"/>
          <p:cNvSpPr txBox="1"/>
          <p:nvPr/>
        </p:nvSpPr>
        <p:spPr>
          <a:xfrm>
            <a:off x="8264144" y="3692835"/>
            <a:ext cx="29399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AMO / LRSC → cut / 地址重映射 → LLC</a:t>
            </a:r>
          </a:p>
        </p:txBody>
      </p:sp>
      <p:sp>
        <p:nvSpPr>
          <p:cNvPr id="152" name="rect-151"/>
          <p:cNvSpPr/>
          <p:nvPr/>
        </p:nvSpPr>
        <p:spPr>
          <a:xfrm>
            <a:off x="6614160" y="4331208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-152"/>
          <p:cNvSpPr/>
          <p:nvPr/>
        </p:nvSpPr>
        <p:spPr>
          <a:xfrm>
            <a:off x="6614160" y="4331208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-153: MUX M3"/>
          <p:cNvSpPr txBox="1"/>
          <p:nvPr/>
        </p:nvSpPr>
        <p:spPr>
          <a:xfrm>
            <a:off x="6735064" y="4359087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M3</a:t>
            </a:r>
          </a:p>
        </p:txBody>
      </p:sp>
      <p:sp>
        <p:nvSpPr>
          <p:cNvPr id="155" name="text-154: 独立仲裁"/>
          <p:cNvSpPr txBox="1"/>
          <p:nvPr/>
        </p:nvSpPr>
        <p:spPr>
          <a:xfrm>
            <a:off x="6735064" y="464584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56" name="rect-155"/>
          <p:cNvSpPr/>
          <p:nvPr/>
        </p:nvSpPr>
        <p:spPr>
          <a:xfrm>
            <a:off x="8143240" y="4281424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-156"/>
          <p:cNvSpPr/>
          <p:nvPr/>
        </p:nvSpPr>
        <p:spPr>
          <a:xfrm>
            <a:off x="8143240" y="4281424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-157: M3 · iDMA 控制"/>
          <p:cNvSpPr txBox="1"/>
          <p:nvPr/>
        </p:nvSpPr>
        <p:spPr>
          <a:xfrm>
            <a:off x="8264144" y="4309303"/>
            <a:ext cx="14487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M3 · iDMA 控制</a:t>
            </a:r>
          </a:p>
        </p:txBody>
      </p:sp>
      <p:sp>
        <p:nvSpPr>
          <p:cNvPr id="159" name="text-158: 0x0100_0000 起；与数据发起端 S3 分开"/>
          <p:cNvSpPr txBox="1"/>
          <p:nvPr/>
        </p:nvSpPr>
        <p:spPr>
          <a:xfrm>
            <a:off x="8264144" y="4596059"/>
            <a:ext cx="30439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0x0100_0000 起；与数据发起端 S3 分开</a:t>
            </a:r>
          </a:p>
        </p:txBody>
      </p:sp>
      <p:sp>
        <p:nvSpPr>
          <p:cNvPr id="160" name="rect-159"/>
          <p:cNvSpPr/>
          <p:nvPr/>
        </p:nvSpPr>
        <p:spPr>
          <a:xfrm>
            <a:off x="6614160" y="5234432"/>
            <a:ext cx="1137920" cy="547624"/>
          </a:xfrm>
          <a:prstGeom prst="roundRect">
            <a:avLst>
              <a:gd name="adj" fmla="val 909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-160"/>
          <p:cNvSpPr/>
          <p:nvPr/>
        </p:nvSpPr>
        <p:spPr>
          <a:xfrm>
            <a:off x="6614160" y="5234432"/>
            <a:ext cx="35560" cy="5476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-161: MUX M4"/>
          <p:cNvSpPr txBox="1"/>
          <p:nvPr/>
        </p:nvSpPr>
        <p:spPr>
          <a:xfrm>
            <a:off x="6735064" y="5262311"/>
            <a:ext cx="8722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MUX M4</a:t>
            </a:r>
          </a:p>
        </p:txBody>
      </p:sp>
      <p:sp>
        <p:nvSpPr>
          <p:cNvPr id="163" name="text-162: 独立仲裁"/>
          <p:cNvSpPr txBox="1"/>
          <p:nvPr/>
        </p:nvSpPr>
        <p:spPr>
          <a:xfrm>
            <a:off x="6735064" y="5549067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独立仲裁</a:t>
            </a:r>
          </a:p>
        </p:txBody>
      </p:sp>
      <p:sp>
        <p:nvSpPr>
          <p:cNvPr id="164" name="rect-163"/>
          <p:cNvSpPr/>
          <p:nvPr/>
        </p:nvSpPr>
        <p:spPr>
          <a:xfrm>
            <a:off x="8143240" y="5184648"/>
            <a:ext cx="4338320" cy="725424"/>
          </a:xfrm>
          <a:prstGeom prst="roundRect">
            <a:avLst>
              <a:gd name="adj" fmla="val 686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-164"/>
          <p:cNvSpPr/>
          <p:nvPr/>
        </p:nvSpPr>
        <p:spPr>
          <a:xfrm>
            <a:off x="8143240" y="5184648"/>
            <a:ext cx="35560" cy="72542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-165: M4 · Serial Link TX"/>
          <p:cNvSpPr txBox="1"/>
          <p:nvPr/>
        </p:nvSpPr>
        <p:spPr>
          <a:xfrm>
            <a:off x="8264144" y="5212527"/>
            <a:ext cx="16956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M4 · Serial Link TX</a:t>
            </a:r>
          </a:p>
        </p:txBody>
      </p:sp>
      <p:sp>
        <p:nvSpPr>
          <p:cNvPr id="167" name="text-166: [0x1_0000_0000, 0x2_0000_0000)"/>
          <p:cNvSpPr txBox="1"/>
          <p:nvPr/>
        </p:nvSpPr>
        <p:spPr>
          <a:xfrm>
            <a:off x="8264144" y="5499283"/>
            <a:ext cx="26710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[0x1_0000_0000, 0x2_0000_0000)</a:t>
            </a:r>
          </a:p>
        </p:txBody>
      </p:sp>
      <p:sp>
        <p:nvSpPr>
          <p:cNvPr id="168" name="text-167: AR / AW 地址译码"/>
          <p:cNvSpPr txBox="1"/>
          <p:nvPr/>
        </p:nvSpPr>
        <p:spPr>
          <a:xfrm>
            <a:off x="4338320" y="1523675"/>
            <a:ext cx="14045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 / AW 地址译码</a:t>
            </a:r>
          </a:p>
        </p:txBody>
      </p:sp>
      <p:sp>
        <p:nvSpPr>
          <p:cNvPr id="169" name="text-168: W 保存路由；B/R 按来源 ID 返回"/>
          <p:cNvSpPr txBox="1"/>
          <p:nvPr/>
        </p:nvSpPr>
        <p:spPr>
          <a:xfrm>
            <a:off x="4252976" y="5783763"/>
            <a:ext cx="24557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W 保存路由；B/R 按来源 ID 返回</a:t>
            </a:r>
          </a:p>
        </p:txBody>
      </p:sp>
      <p:sp>
        <p:nvSpPr>
          <p:cNvPr id="170" name="rect-169"/>
          <p:cNvSpPr/>
          <p:nvPr/>
        </p:nvSpPr>
        <p:spPr>
          <a:xfrm>
            <a:off x="320040" y="6308344"/>
            <a:ext cx="3556000" cy="974344"/>
          </a:xfrm>
          <a:prstGeom prst="roundRect">
            <a:avLst>
              <a:gd name="adj" fmla="val 5109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-170"/>
          <p:cNvSpPr/>
          <p:nvPr/>
        </p:nvSpPr>
        <p:spPr>
          <a:xfrm>
            <a:off x="320040" y="6308344"/>
            <a:ext cx="35560" cy="974344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-171: 请求与响应的归属"/>
          <p:cNvSpPr txBox="1"/>
          <p:nvPr/>
        </p:nvSpPr>
        <p:spPr>
          <a:xfrm>
            <a:off x="440944" y="6336223"/>
            <a:ext cx="16642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请求与响应的归属</a:t>
            </a:r>
          </a:p>
        </p:txBody>
      </p:sp>
      <p:sp>
        <p:nvSpPr>
          <p:cNvPr id="173" name="text-172: 输入 ID=2 位 + 7 来源前缀=3 位"/>
          <p:cNvSpPr txBox="1"/>
          <p:nvPr/>
        </p:nvSpPr>
        <p:spPr>
          <a:xfrm>
            <a:off x="440944" y="6622979"/>
            <a:ext cx="23963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输入 ID=2 位 + 7 来源前缀=3 位</a:t>
            </a:r>
          </a:p>
        </p:txBody>
      </p:sp>
      <p:sp>
        <p:nvSpPr>
          <p:cNvPr id="174" name="text-173: Crossbar 目标侧为 5 位；后级可再适配"/>
          <p:cNvSpPr txBox="1"/>
          <p:nvPr/>
        </p:nvSpPr>
        <p:spPr>
          <a:xfrm>
            <a:off x="440944" y="6836339"/>
            <a:ext cx="2880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Crossbar 目标侧为 5 位；后级可再适配</a:t>
            </a:r>
          </a:p>
        </p:txBody>
      </p:sp>
      <p:sp>
        <p:nvSpPr>
          <p:cNvPr id="175" name="rect-174"/>
          <p:cNvSpPr/>
          <p:nvPr/>
        </p:nvSpPr>
        <p:spPr>
          <a:xfrm>
            <a:off x="4089400" y="6308344"/>
            <a:ext cx="4445000" cy="974344"/>
          </a:xfrm>
          <a:prstGeom prst="roundRect">
            <a:avLst>
              <a:gd name="adj" fmla="val 5109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-175"/>
          <p:cNvSpPr/>
          <p:nvPr/>
        </p:nvSpPr>
        <p:spPr>
          <a:xfrm>
            <a:off x="4089400" y="6308344"/>
            <a:ext cx="35560" cy="97434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-176: M1 下游：reg_demux 二次译码"/>
          <p:cNvSpPr txBox="1"/>
          <p:nvPr/>
        </p:nvSpPr>
        <p:spPr>
          <a:xfrm>
            <a:off x="4210304" y="6336223"/>
            <a:ext cx="272801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M1 下游：reg_demux 二次译码</a:t>
            </a:r>
          </a:p>
        </p:txBody>
      </p:sp>
      <p:sp>
        <p:nvSpPr>
          <p:cNvPr id="178" name="text-177: ROM / CLINT / PLIC / SoC / LLC 控制"/>
          <p:cNvSpPr txBox="1"/>
          <p:nvPr/>
        </p:nvSpPr>
        <p:spPr>
          <a:xfrm>
            <a:off x="4210304" y="6622979"/>
            <a:ext cx="277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/ CLINT / PLIC / SoC / LLC 控制</a:t>
            </a:r>
          </a:p>
        </p:txBody>
      </p:sp>
      <p:sp>
        <p:nvSpPr>
          <p:cNvPr id="179" name="text-178: UART / I2C / SPI / GPIO / Link / VGA / U"/>
          <p:cNvSpPr txBox="1"/>
          <p:nvPr/>
        </p:nvSpPr>
        <p:spPr>
          <a:xfrm>
            <a:off x="4210304" y="6836339"/>
            <a:ext cx="32110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I2C / SPI / GPIO / Link / VGA / USB</a:t>
            </a:r>
          </a:p>
        </p:txBody>
      </p:sp>
      <p:sp>
        <p:nvSpPr>
          <p:cNvPr id="180" name="text-179: BusErr；本例 CLIC / IRQ Router 均关闭"/>
          <p:cNvSpPr txBox="1"/>
          <p:nvPr/>
        </p:nvSpPr>
        <p:spPr>
          <a:xfrm>
            <a:off x="4210304" y="7049699"/>
            <a:ext cx="28641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BusErr；本例 CLIC / IRQ Router 均关闭</a:t>
            </a:r>
          </a:p>
        </p:txBody>
      </p:sp>
      <p:sp>
        <p:nvSpPr>
          <p:cNvPr id="181" name="rect-180"/>
          <p:cNvSpPr/>
          <p:nvPr/>
        </p:nvSpPr>
        <p:spPr>
          <a:xfrm>
            <a:off x="8747760" y="6308344"/>
            <a:ext cx="3733800" cy="974344"/>
          </a:xfrm>
          <a:prstGeom prst="roundRect">
            <a:avLst>
              <a:gd name="adj" fmla="val 5109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-181"/>
          <p:cNvSpPr/>
          <p:nvPr/>
        </p:nvSpPr>
        <p:spPr>
          <a:xfrm>
            <a:off x="8747760" y="6308344"/>
            <a:ext cx="35560" cy="9743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-182: M2 下游：命中与外存分支"/>
          <p:cNvSpPr txBox="1"/>
          <p:nvPr/>
        </p:nvSpPr>
        <p:spPr>
          <a:xfrm>
            <a:off x="8868664" y="6336223"/>
            <a:ext cx="235186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M2 下游：命中与外存分支</a:t>
            </a:r>
          </a:p>
        </p:txBody>
      </p:sp>
      <p:sp>
        <p:nvSpPr>
          <p:cNvPr id="184" name="text-183: 128 KiB 阵列：SPM / cache ways"/>
          <p:cNvSpPr txBox="1"/>
          <p:nvPr/>
        </p:nvSpPr>
        <p:spPr>
          <a:xfrm>
            <a:off x="8868664" y="6622979"/>
            <a:ext cx="2504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 KiB 阵列：SPM / cache ways</a:t>
            </a:r>
          </a:p>
        </p:txBody>
      </p:sp>
      <p:sp>
        <p:nvSpPr>
          <p:cNvPr id="185" name="text-184: SPM 或 cache 命中可在片内结束"/>
          <p:cNvSpPr txBox="1"/>
          <p:nvPr/>
        </p:nvSpPr>
        <p:spPr>
          <a:xfrm>
            <a:off x="8868664" y="6836339"/>
            <a:ext cx="24210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或 cache 命中可在片内结束</a:t>
            </a:r>
          </a:p>
        </p:txBody>
      </p:sp>
      <p:sp>
        <p:nvSpPr>
          <p:cNvPr id="186" name="text-185: LLC 下游 → 平台 AXI4 DDR"/>
          <p:cNvSpPr txBox="1"/>
          <p:nvPr/>
        </p:nvSpPr>
        <p:spPr>
          <a:xfrm>
            <a:off x="8868664" y="7049699"/>
            <a:ext cx="20361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→ 平台 AXI4 DDR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915920" y="1457960"/>
            <a:ext cx="4338320" cy="3129280"/>
          </a:xfrm>
          <a:prstGeom prst="roundRect">
            <a:avLst>
              <a:gd name="adj" fmla="val 2727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346960" y="2400300"/>
            <a:ext cx="817880" cy="35560"/>
          </a:xfrm>
          <a:custGeom>
            <a:avLst/>
            <a:gdLst/>
            <a:ahLst/>
            <a:cxnLst/>
            <a:rect l="0" t="0" r="r" b="b"/>
            <a:pathLst>
              <a:path w="817880" h="35560">
                <a:moveTo>
                  <a:pt x="0" y="0"/>
                </a:moveTo>
                <a:lnTo>
                  <a:pt x="817880" y="35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078002" y="2396602"/>
            <a:ext cx="86838" cy="71049"/>
          </a:xfrm>
          <a:custGeom>
            <a:avLst/>
            <a:gdLst/>
            <a:ahLst/>
            <a:cxnLst/>
            <a:rect l="0" t="0" r="r" b="b"/>
            <a:pathLst>
              <a:path w="86838" h="71049">
                <a:moveTo>
                  <a:pt x="86838" y="39258"/>
                </a:moveTo>
                <a:lnTo>
                  <a:pt x="3129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836160" y="24358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213096" y="2400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2844800"/>
            <a:ext cx="995680" cy="640080"/>
          </a:xfrm>
          <a:custGeom>
            <a:avLst/>
            <a:gdLst/>
            <a:ahLst/>
            <a:cxnLst/>
            <a:rect l="0" t="0" r="r" b="b"/>
            <a:pathLst>
              <a:path w="995680" h="640080">
                <a:moveTo>
                  <a:pt x="995680" y="0"/>
                </a:moveTo>
                <a:lnTo>
                  <a:pt x="995680" y="462280"/>
                </a:lnTo>
                <a:lnTo>
                  <a:pt x="0" y="462280"/>
                </a:lnTo>
                <a:lnTo>
                  <a:pt x="0" y="6400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5085080" y="33995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022600" y="2844800"/>
            <a:ext cx="995680" cy="995680"/>
          </a:xfrm>
          <a:custGeom>
            <a:avLst/>
            <a:gdLst/>
            <a:ahLst/>
            <a:cxnLst/>
            <a:rect l="0" t="0" r="r" b="b"/>
            <a:pathLst>
              <a:path w="995680" h="995680">
                <a:moveTo>
                  <a:pt x="853440" y="995680"/>
                </a:moveTo>
                <a:lnTo>
                  <a:pt x="0" y="995680"/>
                </a:lnTo>
                <a:lnTo>
                  <a:pt x="0" y="248920"/>
                </a:lnTo>
                <a:lnTo>
                  <a:pt x="995680" y="24892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398272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969760" y="1920240"/>
            <a:ext cx="995680" cy="533400"/>
          </a:xfrm>
          <a:custGeom>
            <a:avLst/>
            <a:gdLst/>
            <a:ahLst/>
            <a:cxnLst/>
            <a:rect l="0" t="0" r="r" b="b"/>
            <a:pathLst>
              <a:path w="995680" h="533400">
                <a:moveTo>
                  <a:pt x="0" y="533400"/>
                </a:moveTo>
                <a:lnTo>
                  <a:pt x="640080" y="533400"/>
                </a:lnTo>
                <a:lnTo>
                  <a:pt x="640080" y="0"/>
                </a:lnTo>
                <a:lnTo>
                  <a:pt x="9956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7880096" y="1884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969760" y="2453640"/>
            <a:ext cx="995680" cy="1792224"/>
          </a:xfrm>
          <a:custGeom>
            <a:avLst/>
            <a:gdLst/>
            <a:ahLst/>
            <a:cxnLst/>
            <a:rect l="0" t="0" r="r" b="b"/>
            <a:pathLst>
              <a:path w="995680" h="1792224">
                <a:moveTo>
                  <a:pt x="0" y="0"/>
                </a:moveTo>
                <a:lnTo>
                  <a:pt x="640080" y="0"/>
                </a:lnTo>
                <a:lnTo>
                  <a:pt x="640080" y="1792224"/>
                </a:lnTo>
                <a:lnTo>
                  <a:pt x="995680" y="1792224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7880096" y="421030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line-018"/>
          <p:cNvSpPr/>
          <p:nvPr/>
        </p:nvSpPr>
        <p:spPr>
          <a:xfrm>
            <a:off x="9672320" y="1920240"/>
            <a:ext cx="711200" cy="106680"/>
          </a:xfrm>
          <a:custGeom>
            <a:avLst/>
            <a:gdLst/>
            <a:ahLst/>
            <a:cxnLst/>
            <a:rect l="0" t="0" r="r" b="b"/>
            <a:pathLst>
              <a:path w="711200" h="106680">
                <a:moveTo>
                  <a:pt x="0" y="0"/>
                </a:moveTo>
                <a:lnTo>
                  <a:pt x="711200" y="1066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10293838" y="1979127"/>
            <a:ext cx="89682" cy="70267"/>
          </a:xfrm>
          <a:custGeom>
            <a:avLst/>
            <a:gdLst/>
            <a:ahLst/>
            <a:cxnLst/>
            <a:rect l="0" t="0" r="r" b="b"/>
            <a:pathLst>
              <a:path w="89682" h="70267">
                <a:moveTo>
                  <a:pt x="89682" y="47793"/>
                </a:moveTo>
                <a:lnTo>
                  <a:pt x="10526" y="0"/>
                </a:lnTo>
                <a:lnTo>
                  <a:pt x="0" y="70267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line-020"/>
          <p:cNvSpPr/>
          <p:nvPr/>
        </p:nvSpPr>
        <p:spPr>
          <a:xfrm>
            <a:off x="9672320" y="4249420"/>
            <a:ext cx="711200" cy="17780"/>
          </a:xfrm>
          <a:custGeom>
            <a:avLst/>
            <a:gdLst/>
            <a:ahLst/>
            <a:cxnLst/>
            <a:rect l="0" t="0" r="r" b="b"/>
            <a:pathLst>
              <a:path w="711200" h="17780">
                <a:moveTo>
                  <a:pt x="0" y="0"/>
                </a:moveTo>
                <a:lnTo>
                  <a:pt x="711200" y="1778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10297323" y="4229506"/>
            <a:ext cx="86197" cy="71120"/>
          </a:xfrm>
          <a:custGeom>
            <a:avLst/>
            <a:gdLst/>
            <a:ahLst/>
            <a:cxnLst/>
            <a:rect l="0" t="0" r="r" b="b"/>
            <a:pathLst>
              <a:path w="86197" h="71120">
                <a:moveTo>
                  <a:pt x="86197" y="37694"/>
                </a:moveTo>
                <a:lnTo>
                  <a:pt x="177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11396980" y="2489200"/>
            <a:ext cx="1" cy="1315720"/>
          </a:xfrm>
          <a:custGeom>
            <a:avLst/>
            <a:gdLst/>
            <a:ahLst/>
            <a:cxnLst/>
            <a:rect l="0" t="0" r="r" b="b"/>
            <a:pathLst>
              <a:path w="1" h="1315720">
                <a:moveTo>
                  <a:pt x="0" y="0"/>
                </a:moveTo>
                <a:lnTo>
                  <a:pt x="0" y="13157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11361420" y="37195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L、分频与门控：时钟生成和事务跨域分别设计"/>
          <p:cNvSpPr txBox="1"/>
          <p:nvPr/>
        </p:nvSpPr>
        <p:spPr>
          <a:xfrm>
            <a:off x="483616" y="271109"/>
            <a:ext cx="577597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PLL、分频与门控：时钟生成和事务跨域分别设计</a:t>
            </a:r>
          </a:p>
        </p:txBody>
      </p:sp>
      <p:sp>
        <p:nvSpPr>
          <p:cNvPr id="26" name="text-025: 候选原理图：未指定最终 ASIC 频率、倍频值、电压或域划分。"/>
          <p:cNvSpPr txBox="1"/>
          <p:nvPr/>
        </p:nvSpPr>
        <p:spPr>
          <a:xfrm>
            <a:off x="483616" y="676778"/>
            <a:ext cx="46876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候选原理图：未指定最终 ASIC 频率、倍频值、电压或域划分。</a:t>
            </a:r>
          </a:p>
        </p:txBody>
      </p:sp>
      <p:sp>
        <p:nvSpPr>
          <p:cNvPr id="27" name="text-02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8" name="text-027: 依据：时钟生成通用原理；当前平台边界见 depth-clocks-current"/>
          <p:cNvSpPr txBox="1"/>
          <p:nvPr/>
        </p:nvSpPr>
        <p:spPr>
          <a:xfrm>
            <a:off x="341376" y="7726477"/>
            <a:ext cx="415155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依据：时钟生成通用原理；当前平台边界见 depth-clocks-current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" y="1991360"/>
            <a:ext cx="199136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参考时钟"/>
          <p:cNvSpPr txBox="1"/>
          <p:nvPr/>
        </p:nvSpPr>
        <p:spPr>
          <a:xfrm>
            <a:off x="476504" y="20192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参考时钟</a:t>
            </a:r>
          </a:p>
        </p:txBody>
      </p:sp>
      <p:sp>
        <p:nvSpPr>
          <p:cNvPr id="32" name="text-031: f_ref"/>
          <p:cNvSpPr txBox="1"/>
          <p:nvPr/>
        </p:nvSpPr>
        <p:spPr>
          <a:xfrm>
            <a:off x="476504" y="2290633"/>
            <a:ext cx="50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f_ref</a:t>
            </a:r>
          </a:p>
        </p:txBody>
      </p:sp>
      <p:sp>
        <p:nvSpPr>
          <p:cNvPr id="33" name="text-032: PLL 反馈环（简化原理）"/>
          <p:cNvSpPr txBox="1"/>
          <p:nvPr/>
        </p:nvSpPr>
        <p:spPr>
          <a:xfrm>
            <a:off x="3043936" y="1514856"/>
            <a:ext cx="210859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PLL 反馈环（简化原理）</a:t>
            </a:r>
          </a:p>
        </p:txBody>
      </p:sp>
      <p:sp>
        <p:nvSpPr>
          <p:cNvPr id="34" name="rect-033"/>
          <p:cNvSpPr/>
          <p:nvPr/>
        </p:nvSpPr>
        <p:spPr>
          <a:xfrm>
            <a:off x="31648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31648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参考 ÷N"/>
          <p:cNvSpPr txBox="1"/>
          <p:nvPr/>
        </p:nvSpPr>
        <p:spPr>
          <a:xfrm>
            <a:off x="3285744" y="2054799"/>
            <a:ext cx="84295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参考 ÷N</a:t>
            </a:r>
          </a:p>
        </p:txBody>
      </p:sp>
      <p:sp>
        <p:nvSpPr>
          <p:cNvPr id="37" name="text-036: 送相位比较"/>
          <p:cNvSpPr txBox="1"/>
          <p:nvPr/>
        </p:nvSpPr>
        <p:spPr>
          <a:xfrm>
            <a:off x="3285744" y="232619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送相位比较</a:t>
            </a:r>
          </a:p>
        </p:txBody>
      </p:sp>
      <p:sp>
        <p:nvSpPr>
          <p:cNvPr id="38" name="rect-037"/>
          <p:cNvSpPr/>
          <p:nvPr/>
        </p:nvSpPr>
        <p:spPr>
          <a:xfrm>
            <a:off x="5298440" y="2026920"/>
            <a:ext cx="1671320" cy="817880"/>
          </a:xfrm>
          <a:prstGeom prst="roundRect">
            <a:avLst>
              <a:gd name="adj" fmla="val 608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298440" y="2026920"/>
            <a:ext cx="35560" cy="8178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相位 / 振荡源"/>
          <p:cNvSpPr txBox="1"/>
          <p:nvPr/>
        </p:nvSpPr>
        <p:spPr>
          <a:xfrm>
            <a:off x="5419344" y="2054799"/>
            <a:ext cx="13164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相位 / 振荡源</a:t>
            </a:r>
          </a:p>
        </p:txBody>
      </p:sp>
      <p:sp>
        <p:nvSpPr>
          <p:cNvPr id="41" name="text-040: 闭环调节"/>
          <p:cNvSpPr txBox="1"/>
          <p:nvPr/>
        </p:nvSpPr>
        <p:spPr>
          <a:xfrm>
            <a:off x="5419344" y="232619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闭环调节</a:t>
            </a:r>
          </a:p>
        </p:txBody>
      </p:sp>
      <p:sp>
        <p:nvSpPr>
          <p:cNvPr id="42" name="rect-041"/>
          <p:cNvSpPr/>
          <p:nvPr/>
        </p:nvSpPr>
        <p:spPr>
          <a:xfrm>
            <a:off x="3876040" y="3484880"/>
            <a:ext cx="2489200" cy="711200"/>
          </a:xfrm>
          <a:prstGeom prst="roundRect">
            <a:avLst>
              <a:gd name="adj" fmla="val 7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876040" y="3484880"/>
            <a:ext cx="35560" cy="7112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反馈 ÷M"/>
          <p:cNvSpPr txBox="1"/>
          <p:nvPr/>
        </p:nvSpPr>
        <p:spPr>
          <a:xfrm>
            <a:off x="3996944" y="3512759"/>
            <a:ext cx="8725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反馈 ÷M</a:t>
            </a:r>
          </a:p>
        </p:txBody>
      </p:sp>
      <p:sp>
        <p:nvSpPr>
          <p:cNvPr id="45" name="text-044: 锁定状态由平台监测"/>
          <p:cNvSpPr txBox="1"/>
          <p:nvPr/>
        </p:nvSpPr>
        <p:spPr>
          <a:xfrm>
            <a:off x="3996944" y="378415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锁定状态由平台监测</a:t>
            </a:r>
          </a:p>
        </p:txBody>
      </p:sp>
      <p:sp>
        <p:nvSpPr>
          <p:cNvPr id="46" name="rect-045"/>
          <p:cNvSpPr/>
          <p:nvPr/>
        </p:nvSpPr>
        <p:spPr>
          <a:xfrm>
            <a:off x="7965440" y="1564640"/>
            <a:ext cx="170688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7965440" y="15646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输出 ÷C0"/>
          <p:cNvSpPr txBox="1"/>
          <p:nvPr/>
        </p:nvSpPr>
        <p:spPr>
          <a:xfrm>
            <a:off x="8086344" y="159251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输出 ÷C0</a:t>
            </a:r>
          </a:p>
        </p:txBody>
      </p:sp>
      <p:sp>
        <p:nvSpPr>
          <p:cNvPr id="49" name="text-048: 系统时钟"/>
          <p:cNvSpPr txBox="1"/>
          <p:nvPr/>
        </p:nvSpPr>
        <p:spPr>
          <a:xfrm>
            <a:off x="8086344" y="186391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系统时钟</a:t>
            </a:r>
          </a:p>
        </p:txBody>
      </p:sp>
      <p:sp>
        <p:nvSpPr>
          <p:cNvPr id="50" name="rect-049"/>
          <p:cNvSpPr/>
          <p:nvPr/>
        </p:nvSpPr>
        <p:spPr>
          <a:xfrm>
            <a:off x="10383520" y="156464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10383520" y="156464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系统域"/>
          <p:cNvSpPr txBox="1"/>
          <p:nvPr/>
        </p:nvSpPr>
        <p:spPr>
          <a:xfrm>
            <a:off x="10504424" y="159251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系统域</a:t>
            </a:r>
          </a:p>
        </p:txBody>
      </p:sp>
      <p:sp>
        <p:nvSpPr>
          <p:cNvPr id="53" name="text-052: 复位同步释放"/>
          <p:cNvSpPr txBox="1"/>
          <p:nvPr/>
        </p:nvSpPr>
        <p:spPr>
          <a:xfrm>
            <a:off x="10504424" y="1863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复位同步释放</a:t>
            </a:r>
          </a:p>
        </p:txBody>
      </p:sp>
      <p:sp>
        <p:nvSpPr>
          <p:cNvPr id="54" name="text-053: CPU / 互连"/>
          <p:cNvSpPr txBox="1"/>
          <p:nvPr/>
        </p:nvSpPr>
        <p:spPr>
          <a:xfrm>
            <a:off x="10504424" y="2077273"/>
            <a:ext cx="10134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/ 互连</a:t>
            </a:r>
          </a:p>
        </p:txBody>
      </p:sp>
      <p:sp>
        <p:nvSpPr>
          <p:cNvPr id="55" name="rect-054"/>
          <p:cNvSpPr/>
          <p:nvPr/>
        </p:nvSpPr>
        <p:spPr>
          <a:xfrm>
            <a:off x="7965440" y="3804920"/>
            <a:ext cx="1706880" cy="889000"/>
          </a:xfrm>
          <a:prstGeom prst="roundRect">
            <a:avLst>
              <a:gd name="adj" fmla="val 56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7965440" y="3804920"/>
            <a:ext cx="35560" cy="8890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输出 ÷C1"/>
          <p:cNvSpPr txBox="1"/>
          <p:nvPr/>
        </p:nvSpPr>
        <p:spPr>
          <a:xfrm>
            <a:off x="8086344" y="3832799"/>
            <a:ext cx="9464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输出 ÷C1</a:t>
            </a:r>
          </a:p>
        </p:txBody>
      </p:sp>
      <p:sp>
        <p:nvSpPr>
          <p:cNvPr id="58" name="text-057: 门控：停止脉冲"/>
          <p:cNvSpPr txBox="1"/>
          <p:nvPr/>
        </p:nvSpPr>
        <p:spPr>
          <a:xfrm>
            <a:off x="8086344" y="410419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门控：停止脉冲</a:t>
            </a:r>
          </a:p>
        </p:txBody>
      </p:sp>
      <p:sp>
        <p:nvSpPr>
          <p:cNvPr id="59" name="text-058: 安全开关时钟"/>
          <p:cNvSpPr txBox="1"/>
          <p:nvPr/>
        </p:nvSpPr>
        <p:spPr>
          <a:xfrm>
            <a:off x="8086344" y="431755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安全开关时钟</a:t>
            </a:r>
          </a:p>
        </p:txBody>
      </p:sp>
      <p:sp>
        <p:nvSpPr>
          <p:cNvPr id="60" name="rect-059"/>
          <p:cNvSpPr/>
          <p:nvPr/>
        </p:nvSpPr>
        <p:spPr>
          <a:xfrm>
            <a:off x="10383520" y="3804920"/>
            <a:ext cx="202692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10383520" y="380492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外设候选域"/>
          <p:cNvSpPr txBox="1"/>
          <p:nvPr/>
        </p:nvSpPr>
        <p:spPr>
          <a:xfrm>
            <a:off x="10504424" y="38327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外设候选域</a:t>
            </a:r>
          </a:p>
        </p:txBody>
      </p:sp>
      <p:sp>
        <p:nvSpPr>
          <p:cNvPr id="63" name="text-062: 本域复位同步"/>
          <p:cNvSpPr txBox="1"/>
          <p:nvPr/>
        </p:nvSpPr>
        <p:spPr>
          <a:xfrm>
            <a:off x="10504424" y="410419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本域复位同步</a:t>
            </a:r>
          </a:p>
        </p:txBody>
      </p:sp>
      <p:sp>
        <p:nvSpPr>
          <p:cNvPr id="64" name="text-063: 事务通过 CDC"/>
          <p:cNvSpPr txBox="1"/>
          <p:nvPr/>
        </p:nvSpPr>
        <p:spPr>
          <a:xfrm>
            <a:off x="10504424" y="4317553"/>
            <a:ext cx="12284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事务通过 CDC</a:t>
            </a:r>
          </a:p>
        </p:txBody>
      </p:sp>
      <p:sp>
        <p:nvSpPr>
          <p:cNvPr id="65" name="text-064: CDC 桥"/>
          <p:cNvSpPr txBox="1"/>
          <p:nvPr/>
        </p:nvSpPr>
        <p:spPr>
          <a:xfrm>
            <a:off x="10810240" y="3023738"/>
            <a:ext cx="6865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CDC 桥</a:t>
            </a:r>
          </a:p>
        </p:txBody>
      </p:sp>
      <p:sp>
        <p:nvSpPr>
          <p:cNvPr id="66" name="rect-065"/>
          <p:cNvSpPr/>
          <p:nvPr/>
        </p:nvSpPr>
        <p:spPr>
          <a:xfrm>
            <a:off x="355600" y="5618480"/>
            <a:ext cx="5618480" cy="1031240"/>
          </a:xfrm>
          <a:prstGeom prst="roundRect">
            <a:avLst>
              <a:gd name="adj" fmla="val 482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355600" y="5618480"/>
            <a:ext cx="35560" cy="10312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常开控制的事务顺序"/>
          <p:cNvSpPr txBox="1"/>
          <p:nvPr/>
        </p:nvSpPr>
        <p:spPr>
          <a:xfrm>
            <a:off x="476504" y="56463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常开控制的事务顺序</a:t>
            </a:r>
          </a:p>
        </p:txBody>
      </p:sp>
      <p:sp>
        <p:nvSpPr>
          <p:cNvPr id="69" name="text-068: 停发 → 排空 → 切换 / lock → 域内复位 / 就绪 → 放行"/>
          <p:cNvSpPr txBox="1"/>
          <p:nvPr/>
        </p:nvSpPr>
        <p:spPr>
          <a:xfrm>
            <a:off x="476504" y="5933115"/>
            <a:ext cx="39732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 → 排空 → 切换 / lock → 域内复位 / 就绪 → 放行</a:t>
            </a:r>
          </a:p>
        </p:txBody>
      </p:sp>
      <p:sp>
        <p:nvSpPr>
          <p:cNvPr id="70" name="text-069: lock、复位释放与设备可工作是三个不同条件"/>
          <p:cNvSpPr txBox="1"/>
          <p:nvPr/>
        </p:nvSpPr>
        <p:spPr>
          <a:xfrm>
            <a:off x="476504" y="6146475"/>
            <a:ext cx="32478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lock、复位释放与设备可工作是三个不同条件</a:t>
            </a:r>
          </a:p>
        </p:txBody>
      </p:sp>
      <p:sp>
        <p:nvSpPr>
          <p:cNvPr id="71" name="rect-070"/>
          <p:cNvSpPr/>
          <p:nvPr/>
        </p:nvSpPr>
        <p:spPr>
          <a:xfrm>
            <a:off x="6614160" y="5618480"/>
            <a:ext cx="5796280" cy="1031240"/>
          </a:xfrm>
          <a:prstGeom prst="roundRect">
            <a:avLst>
              <a:gd name="adj" fmla="val 482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6614160" y="5618480"/>
            <a:ext cx="35560" cy="10312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分频 / 门控 / clock-enable"/>
          <p:cNvSpPr txBox="1"/>
          <p:nvPr/>
        </p:nvSpPr>
        <p:spPr>
          <a:xfrm>
            <a:off x="6735064" y="5646359"/>
            <a:ext cx="235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分频 / 门控 / clock-enable</a:t>
            </a:r>
          </a:p>
        </p:txBody>
      </p:sp>
      <p:sp>
        <p:nvSpPr>
          <p:cNvPr id="74" name="text-073: 分频改变周期；门控停止时钟脉冲"/>
          <p:cNvSpPr txBox="1"/>
          <p:nvPr/>
        </p:nvSpPr>
        <p:spPr>
          <a:xfrm>
            <a:off x="6735064" y="593311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分频改变周期；门控停止时钟脉冲</a:t>
            </a:r>
          </a:p>
        </p:txBody>
      </p:sp>
      <p:sp>
        <p:nvSpPr>
          <p:cNvPr id="75" name="text-074: clock-enable 决定寄存器是否更新，不是新的时钟域"/>
          <p:cNvSpPr txBox="1"/>
          <p:nvPr/>
        </p:nvSpPr>
        <p:spPr>
          <a:xfrm>
            <a:off x="6735064" y="6146475"/>
            <a:ext cx="37193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clock-enable 决定寄存器是否更新，不是新的时钟域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8404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608576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8107680" y="2133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8107680" y="20980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649984" y="2702560"/>
            <a:ext cx="4750816" cy="889000"/>
          </a:xfrm>
          <a:custGeom>
            <a:avLst/>
            <a:gdLst/>
            <a:ahLst/>
            <a:cxnLst/>
            <a:rect l="0" t="0" r="r" b="b"/>
            <a:pathLst>
              <a:path w="4750816" h="889000">
                <a:moveTo>
                  <a:pt x="4750816" y="0"/>
                </a:moveTo>
                <a:lnTo>
                  <a:pt x="475081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61442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814824" y="2702560"/>
            <a:ext cx="1585976" cy="889000"/>
          </a:xfrm>
          <a:custGeom>
            <a:avLst/>
            <a:gdLst/>
            <a:ahLst/>
            <a:cxnLst/>
            <a:rect l="0" t="0" r="r" b="b"/>
            <a:pathLst>
              <a:path w="1585976" h="889000">
                <a:moveTo>
                  <a:pt x="1585976" y="0"/>
                </a:moveTo>
                <a:lnTo>
                  <a:pt x="1585976" y="462280"/>
                </a:lnTo>
                <a:lnTo>
                  <a:pt x="0" y="462280"/>
                </a:lnTo>
                <a:lnTo>
                  <a:pt x="0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7926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6400800" y="2702560"/>
            <a:ext cx="1578864" cy="889000"/>
          </a:xfrm>
          <a:custGeom>
            <a:avLst/>
            <a:gdLst/>
            <a:ahLst/>
            <a:cxnLst/>
            <a:rect l="0" t="0" r="r" b="b"/>
            <a:pathLst>
              <a:path w="1578864" h="889000">
                <a:moveTo>
                  <a:pt x="0" y="0"/>
                </a:moveTo>
                <a:lnTo>
                  <a:pt x="0" y="462280"/>
                </a:lnTo>
                <a:lnTo>
                  <a:pt x="1578864" y="462280"/>
                </a:lnTo>
                <a:lnTo>
                  <a:pt x="157886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794410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00800" y="2702560"/>
            <a:ext cx="4743704" cy="889000"/>
          </a:xfrm>
          <a:custGeom>
            <a:avLst/>
            <a:gdLst/>
            <a:ahLst/>
            <a:cxnLst/>
            <a:rect l="0" t="0" r="r" b="b"/>
            <a:pathLst>
              <a:path w="4743704" h="889000">
                <a:moveTo>
                  <a:pt x="0" y="0"/>
                </a:moveTo>
                <a:lnTo>
                  <a:pt x="0" y="462280"/>
                </a:lnTo>
                <a:lnTo>
                  <a:pt x="4743704" y="462280"/>
                </a:lnTo>
                <a:lnTo>
                  <a:pt x="4743704" y="8890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1108944" y="3506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1649984" y="4765040"/>
            <a:ext cx="4750816" cy="960120"/>
          </a:xfrm>
          <a:custGeom>
            <a:avLst/>
            <a:gdLst/>
            <a:ahLst/>
            <a:cxnLst/>
            <a:rect l="0" t="0" r="r" b="b"/>
            <a:pathLst>
              <a:path w="4750816" h="960120">
                <a:moveTo>
                  <a:pt x="0" y="0"/>
                </a:moveTo>
                <a:lnTo>
                  <a:pt x="0" y="497840"/>
                </a:lnTo>
                <a:lnTo>
                  <a:pt x="4750816" y="497840"/>
                </a:lnTo>
                <a:lnTo>
                  <a:pt x="475081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4814824" y="4765040"/>
            <a:ext cx="1585976" cy="960120"/>
          </a:xfrm>
          <a:custGeom>
            <a:avLst/>
            <a:gdLst/>
            <a:ahLst/>
            <a:cxnLst/>
            <a:rect l="0" t="0" r="r" b="b"/>
            <a:pathLst>
              <a:path w="1585976" h="960120">
                <a:moveTo>
                  <a:pt x="0" y="0"/>
                </a:moveTo>
                <a:lnTo>
                  <a:pt x="0" y="497840"/>
                </a:lnTo>
                <a:lnTo>
                  <a:pt x="1585976" y="497840"/>
                </a:lnTo>
                <a:lnTo>
                  <a:pt x="1585976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6400800" y="4765040"/>
            <a:ext cx="1578864" cy="960120"/>
          </a:xfrm>
          <a:custGeom>
            <a:avLst/>
            <a:gdLst/>
            <a:ahLst/>
            <a:cxnLst/>
            <a:rect l="0" t="0" r="r" b="b"/>
            <a:pathLst>
              <a:path w="1578864" h="960120">
                <a:moveTo>
                  <a:pt x="1578864" y="0"/>
                </a:moveTo>
                <a:lnTo>
                  <a:pt x="157886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6400800" y="4765040"/>
            <a:ext cx="4743704" cy="960120"/>
          </a:xfrm>
          <a:custGeom>
            <a:avLst/>
            <a:gdLst/>
            <a:ahLst/>
            <a:cxnLst/>
            <a:rect l="0" t="0" r="r" b="b"/>
            <a:pathLst>
              <a:path w="4743704" h="960120">
                <a:moveTo>
                  <a:pt x="4743704" y="0"/>
                </a:moveTo>
                <a:lnTo>
                  <a:pt x="4743704" y="497840"/>
                </a:lnTo>
                <a:lnTo>
                  <a:pt x="0" y="497840"/>
                </a:lnTo>
                <a:lnTo>
                  <a:pt x="0" y="9601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6365240" y="5639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功能层次：发射、执行、提交与系统接口"/>
          <p:cNvSpPr txBox="1"/>
          <p:nvPr/>
        </p:nvSpPr>
        <p:spPr>
          <a:xfrm>
            <a:off x="483616" y="271109"/>
            <a:ext cx="553995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CVA6 功能层次：发射、执行、提交与系统接口</a:t>
            </a:r>
          </a:p>
        </p:txBody>
      </p:sp>
      <p:sp>
        <p:nvSpPr>
          <p:cNvPr id="27" name="text-026: 以职责和接口组织；不展开每一级流水线电路，也不把图中连线当成精确时序。"/>
          <p:cNvSpPr txBox="1"/>
          <p:nvPr/>
        </p:nvSpPr>
        <p:spPr>
          <a:xfrm>
            <a:off x="483616" y="676778"/>
            <a:ext cx="58887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以职责和接口组织；不展开每一级流水线电路，也不把图中连线当成精确时序。</a:t>
            </a:r>
          </a:p>
        </p:txBody>
      </p:sp>
      <p:sp>
        <p:nvSpPr>
          <p:cNvPr id="28" name="text-02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9" name="text-028: 源码：core/cva6.sv / issue_stage.sv / ex_st"/>
          <p:cNvSpPr txBox="1"/>
          <p:nvPr/>
        </p:nvSpPr>
        <p:spPr>
          <a:xfrm>
            <a:off x="341376" y="7726477"/>
            <a:ext cx="45729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源码：core/cva6.sv / issue_stage.sv / ex_stage.sv / commit_stage.sv</a:t>
            </a:r>
          </a:p>
        </p:txBody>
      </p:sp>
      <p:sp>
        <p:nvSpPr>
          <p:cNvPr id="30" name="rect-029"/>
          <p:cNvSpPr/>
          <p:nvPr/>
        </p:nvSpPr>
        <p:spPr>
          <a:xfrm>
            <a:off x="4267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26720" y="156464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取指前端 / Icache"/>
          <p:cNvSpPr txBox="1"/>
          <p:nvPr/>
        </p:nvSpPr>
        <p:spPr>
          <a:xfrm>
            <a:off x="547624" y="1592519"/>
            <a:ext cx="165591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取指前端 / Icache</a:t>
            </a:r>
          </a:p>
        </p:txBody>
      </p:sp>
      <p:sp>
        <p:nvSpPr>
          <p:cNvPr id="33" name="text-032: PC 与指令流"/>
          <p:cNvSpPr txBox="1"/>
          <p:nvPr/>
        </p:nvSpPr>
        <p:spPr>
          <a:xfrm>
            <a:off x="547624" y="1863913"/>
            <a:ext cx="11058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PC 与指令流</a:t>
            </a:r>
          </a:p>
        </p:txBody>
      </p:sp>
      <p:sp>
        <p:nvSpPr>
          <p:cNvPr id="34" name="text-033: RAS / BTB / BHT 分支预测"/>
          <p:cNvSpPr txBox="1"/>
          <p:nvPr/>
        </p:nvSpPr>
        <p:spPr>
          <a:xfrm>
            <a:off x="547624" y="2077273"/>
            <a:ext cx="21937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RAS / BTB / BHT 分支预测</a:t>
            </a:r>
          </a:p>
        </p:txBody>
      </p:sp>
      <p:sp>
        <p:nvSpPr>
          <p:cNvPr id="35" name="rect-034"/>
          <p:cNvSpPr/>
          <p:nvPr/>
        </p:nvSpPr>
        <p:spPr>
          <a:xfrm>
            <a:off x="46939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4693920" y="15646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译码 / 发射 / scoreboard"/>
          <p:cNvSpPr txBox="1"/>
          <p:nvPr/>
        </p:nvSpPr>
        <p:spPr>
          <a:xfrm>
            <a:off x="4814824" y="1592519"/>
            <a:ext cx="22393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译码 / 发射 / scoreboard</a:t>
            </a:r>
          </a:p>
        </p:txBody>
      </p:sp>
      <p:sp>
        <p:nvSpPr>
          <p:cNvPr id="38" name="text-037: 操作数、依赖与资源检查"/>
          <p:cNvSpPr txBox="1"/>
          <p:nvPr/>
        </p:nvSpPr>
        <p:spPr>
          <a:xfrm>
            <a:off x="4814824" y="186391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操作数、依赖与资源检查</a:t>
            </a:r>
          </a:p>
        </p:txBody>
      </p:sp>
      <p:sp>
        <p:nvSpPr>
          <p:cNvPr id="39" name="text-038: 未完成指令与 trans_id 跟踪"/>
          <p:cNvSpPr txBox="1"/>
          <p:nvPr/>
        </p:nvSpPr>
        <p:spPr>
          <a:xfrm>
            <a:off x="4814824" y="2077273"/>
            <a:ext cx="2238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未完成指令与 trans_id 跟踪</a:t>
            </a:r>
          </a:p>
        </p:txBody>
      </p:sp>
      <p:sp>
        <p:nvSpPr>
          <p:cNvPr id="40" name="rect-039"/>
          <p:cNvSpPr/>
          <p:nvPr/>
        </p:nvSpPr>
        <p:spPr>
          <a:xfrm>
            <a:off x="8961120" y="1564640"/>
            <a:ext cx="341376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8961120" y="156464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CSR / trap 控制"/>
          <p:cNvSpPr txBox="1"/>
          <p:nvPr/>
        </p:nvSpPr>
        <p:spPr>
          <a:xfrm>
            <a:off x="9082024" y="1592519"/>
            <a:ext cx="14780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CSR / trap 控制</a:t>
            </a:r>
          </a:p>
        </p:txBody>
      </p:sp>
      <p:sp>
        <p:nvSpPr>
          <p:cNvPr id="43" name="text-042: 特权级、异常与中断"/>
          <p:cNvSpPr txBox="1"/>
          <p:nvPr/>
        </p:nvSpPr>
        <p:spPr>
          <a:xfrm>
            <a:off x="9082024" y="186391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特权级、异常与中断</a:t>
            </a:r>
          </a:p>
        </p:txBody>
      </p:sp>
      <p:sp>
        <p:nvSpPr>
          <p:cNvPr id="44" name="text-043: FS / VS 等运行时状态"/>
          <p:cNvSpPr txBox="1"/>
          <p:nvPr/>
        </p:nvSpPr>
        <p:spPr>
          <a:xfrm>
            <a:off x="9082024" y="2077273"/>
            <a:ext cx="1825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FS / VS 等运行时状态</a:t>
            </a:r>
          </a:p>
        </p:txBody>
      </p:sp>
      <p:sp>
        <p:nvSpPr>
          <p:cNvPr id="45" name="rect-044"/>
          <p:cNvSpPr/>
          <p:nvPr/>
        </p:nvSpPr>
        <p:spPr>
          <a:xfrm>
            <a:off x="42672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426720" y="359156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整数 / 分支"/>
          <p:cNvSpPr txBox="1"/>
          <p:nvPr/>
        </p:nvSpPr>
        <p:spPr>
          <a:xfrm>
            <a:off x="547624" y="361943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整数 / 分支</a:t>
            </a:r>
          </a:p>
        </p:txBody>
      </p:sp>
      <p:sp>
        <p:nvSpPr>
          <p:cNvPr id="48" name="text-047: 地址与标量计算"/>
          <p:cNvSpPr txBox="1"/>
          <p:nvPr/>
        </p:nvSpPr>
        <p:spPr>
          <a:xfrm>
            <a:off x="547624" y="38908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地址与标量计算</a:t>
            </a:r>
          </a:p>
        </p:txBody>
      </p:sp>
      <p:sp>
        <p:nvSpPr>
          <p:cNvPr id="49" name="text-048: 分支结果与控制流"/>
          <p:cNvSpPr txBox="1"/>
          <p:nvPr/>
        </p:nvSpPr>
        <p:spPr>
          <a:xfrm>
            <a:off x="547624" y="41041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分支结果与控制流</a:t>
            </a:r>
          </a:p>
        </p:txBody>
      </p:sp>
      <p:sp>
        <p:nvSpPr>
          <p:cNvPr id="50" name="rect-049"/>
          <p:cNvSpPr/>
          <p:nvPr/>
        </p:nvSpPr>
        <p:spPr>
          <a:xfrm>
            <a:off x="359156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91560" y="35915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标量 FPU"/>
          <p:cNvSpPr txBox="1"/>
          <p:nvPr/>
        </p:nvSpPr>
        <p:spPr>
          <a:xfrm>
            <a:off x="3712464" y="3619439"/>
            <a:ext cx="9205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标量 FPU</a:t>
            </a:r>
          </a:p>
        </p:txBody>
      </p:sp>
      <p:sp>
        <p:nvSpPr>
          <p:cNvPr id="53" name="text-052: 浮点计算 / fflags"/>
          <p:cNvSpPr txBox="1"/>
          <p:nvPr/>
        </p:nvSpPr>
        <p:spPr>
          <a:xfrm>
            <a:off x="3712464" y="3890833"/>
            <a:ext cx="14536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浮点计算 / fflags</a:t>
            </a:r>
          </a:p>
        </p:txBody>
      </p:sp>
      <p:sp>
        <p:nvSpPr>
          <p:cNvPr id="54" name="text-053: 使用前正确设置 FS"/>
          <p:cNvSpPr txBox="1"/>
          <p:nvPr/>
        </p:nvSpPr>
        <p:spPr>
          <a:xfrm>
            <a:off x="3712464" y="4104193"/>
            <a:ext cx="1604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使用前正确设置 FS</a:t>
            </a:r>
          </a:p>
        </p:txBody>
      </p:sp>
      <p:sp>
        <p:nvSpPr>
          <p:cNvPr id="55" name="rect-054"/>
          <p:cNvSpPr/>
          <p:nvPr/>
        </p:nvSpPr>
        <p:spPr>
          <a:xfrm>
            <a:off x="675640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6756400" y="359156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标量 load / store"/>
          <p:cNvSpPr txBox="1"/>
          <p:nvPr/>
        </p:nvSpPr>
        <p:spPr>
          <a:xfrm>
            <a:off x="6877304" y="3619439"/>
            <a:ext cx="15739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标量 load / store</a:t>
            </a:r>
          </a:p>
        </p:txBody>
      </p:sp>
      <p:sp>
        <p:nvSpPr>
          <p:cNvPr id="58" name="text-057: MMU / PMP / Dcache"/>
          <p:cNvSpPr txBox="1"/>
          <p:nvPr/>
        </p:nvSpPr>
        <p:spPr>
          <a:xfrm>
            <a:off x="6877304" y="3890833"/>
            <a:ext cx="1824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MMU / PMP / Dcache</a:t>
            </a:r>
          </a:p>
        </p:txBody>
      </p:sp>
      <p:sp>
        <p:nvSpPr>
          <p:cNvPr id="59" name="text-058: 地址权限与数据返回"/>
          <p:cNvSpPr txBox="1"/>
          <p:nvPr/>
        </p:nvSpPr>
        <p:spPr>
          <a:xfrm>
            <a:off x="6877304" y="4104193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地址权限与数据返回</a:t>
            </a:r>
          </a:p>
        </p:txBody>
      </p:sp>
      <p:sp>
        <p:nvSpPr>
          <p:cNvPr id="60" name="rect-059"/>
          <p:cNvSpPr/>
          <p:nvPr/>
        </p:nvSpPr>
        <p:spPr>
          <a:xfrm>
            <a:off x="9921240" y="3591560"/>
            <a:ext cx="2453640" cy="1173480"/>
          </a:xfrm>
          <a:prstGeom prst="roundRect">
            <a:avLst>
              <a:gd name="adj" fmla="val 4242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9921240" y="3591560"/>
            <a:ext cx="35560" cy="11734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Ara 专用接口"/>
          <p:cNvSpPr txBox="1"/>
          <p:nvPr/>
        </p:nvSpPr>
        <p:spPr>
          <a:xfrm>
            <a:off x="10042144" y="361943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Ara 专用接口</a:t>
            </a:r>
          </a:p>
        </p:txBody>
      </p:sp>
      <p:sp>
        <p:nvSpPr>
          <p:cNvPr id="63" name="text-062: 请求 / 应答 / pending"/>
          <p:cNvSpPr txBox="1"/>
          <p:nvPr/>
        </p:nvSpPr>
        <p:spPr>
          <a:xfrm>
            <a:off x="10042144" y="3890833"/>
            <a:ext cx="18217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 / 应答 / pending</a:t>
            </a:r>
          </a:p>
        </p:txBody>
      </p:sp>
      <p:sp>
        <p:nvSpPr>
          <p:cNvPr id="64" name="text-063: Ara 自身 AXI 独立"/>
          <p:cNvSpPr txBox="1"/>
          <p:nvPr/>
        </p:nvSpPr>
        <p:spPr>
          <a:xfrm>
            <a:off x="10042144" y="4104193"/>
            <a:ext cx="14808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自身 AXI 独立</a:t>
            </a:r>
          </a:p>
        </p:txBody>
      </p:sp>
      <p:sp>
        <p:nvSpPr>
          <p:cNvPr id="65" name="rect-064"/>
          <p:cNvSpPr/>
          <p:nvPr/>
        </p:nvSpPr>
        <p:spPr>
          <a:xfrm>
            <a:off x="1778000" y="5725160"/>
            <a:ext cx="924560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-065"/>
          <p:cNvSpPr/>
          <p:nvPr/>
        </p:nvSpPr>
        <p:spPr>
          <a:xfrm>
            <a:off x="1778000" y="572516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6: 结果关联与顺序提交"/>
          <p:cNvSpPr txBox="1"/>
          <p:nvPr/>
        </p:nvSpPr>
        <p:spPr>
          <a:xfrm>
            <a:off x="1898904" y="575303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结果关联与顺序提交</a:t>
            </a:r>
          </a:p>
        </p:txBody>
      </p:sp>
      <p:sp>
        <p:nvSpPr>
          <p:cNvPr id="68" name="text-067: 返回结果匹配未完成指令；满足条件后更新架构状态"/>
          <p:cNvSpPr txBox="1"/>
          <p:nvPr/>
        </p:nvSpPr>
        <p:spPr>
          <a:xfrm>
            <a:off x="1898904" y="6024433"/>
            <a:ext cx="40965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返回结果匹配未完成指令；满足条件后更新架构状态</a:t>
            </a:r>
          </a:p>
        </p:txBody>
      </p:sp>
      <p:sp>
        <p:nvSpPr>
          <p:cNvPr id="69" name="text-068: 异常、重定向与资源等待属于控制反馈；本图仅保留主要职责联系"/>
          <p:cNvSpPr txBox="1"/>
          <p:nvPr/>
        </p:nvSpPr>
        <p:spPr>
          <a:xfrm>
            <a:off x="1898904" y="6237793"/>
            <a:ext cx="51206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异常、重定向与资源等待属于控制反馈；本图仅保留主要职责联系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36474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3291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1094720" y="298704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059160" y="43952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28116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28116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15188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15188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3022600" y="510286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49784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3022600" y="5067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一次 DDR 读：请求调度与返回数据分别穿过控制器"/>
          <p:cNvSpPr txBox="1"/>
          <p:nvPr/>
        </p:nvSpPr>
        <p:spPr>
          <a:xfrm>
            <a:off x="483616" y="271109"/>
            <a:ext cx="6026275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DDR 读：请求调度与返回数据分别穿过控制器</a:t>
            </a:r>
          </a:p>
        </p:txBody>
      </p:sp>
      <p:sp>
        <p:nvSpPr>
          <p:cNvPr id="21" name="text-020: 通用原理图；地址位分配、bank 策略、队列容量与训练寄存器由实际供应商确定。"/>
          <p:cNvSpPr txBox="1"/>
          <p:nvPr/>
        </p:nvSpPr>
        <p:spPr>
          <a:xfrm>
            <a:off x="483616" y="676778"/>
            <a:ext cx="612052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通用原理图；地址位分配、bank 策略、队列容量与训练寄存器由实际供应商确定。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DDR 控制器/PHY 通用职责；不表示固定周期，也不代表已完成 DDR "/>
          <p:cNvSpPr txBox="1"/>
          <p:nvPr/>
        </p:nvSpPr>
        <p:spPr>
          <a:xfrm>
            <a:off x="341376" y="7726477"/>
            <a:ext cx="51736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依据：DDR 控制器/PHY 通用职责；不表示固定周期，也不代表已完成 DDR 验证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74244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AR 队列"/>
          <p:cNvSpPr txBox="1"/>
          <p:nvPr/>
        </p:nvSpPr>
        <p:spPr>
          <a:xfrm>
            <a:off x="512064" y="1770319"/>
            <a:ext cx="113476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AR 队列</a:t>
            </a:r>
          </a:p>
        </p:txBody>
      </p:sp>
      <p:sp>
        <p:nvSpPr>
          <p:cNvPr id="27" name="text-026: 保存地址 / ID / burst"/>
          <p:cNvSpPr txBox="1"/>
          <p:nvPr/>
        </p:nvSpPr>
        <p:spPr>
          <a:xfrm>
            <a:off x="512064" y="2049394"/>
            <a:ext cx="1700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保存地址 / ID / burst</a:t>
            </a:r>
          </a:p>
        </p:txBody>
      </p:sp>
      <p:sp>
        <p:nvSpPr>
          <p:cNvPr id="28" name="text-027: 接受 AR 只表示收下请求"/>
          <p:cNvSpPr txBox="1"/>
          <p:nvPr/>
        </p:nvSpPr>
        <p:spPr>
          <a:xfrm>
            <a:off x="512064" y="2262754"/>
            <a:ext cx="1926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 AR 只表示收下请求</a:t>
            </a:r>
          </a:p>
        </p:txBody>
      </p:sp>
      <p:sp>
        <p:nvSpPr>
          <p:cNvPr id="29" name="rect-028"/>
          <p:cNvSpPr/>
          <p:nvPr/>
        </p:nvSpPr>
        <p:spPr>
          <a:xfrm>
            <a:off x="352044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20440" y="174244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映射 / 调度"/>
          <p:cNvSpPr txBox="1"/>
          <p:nvPr/>
        </p:nvSpPr>
        <p:spPr>
          <a:xfrm>
            <a:off x="3641344" y="177031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映射 / 调度</a:t>
            </a:r>
          </a:p>
        </p:txBody>
      </p:sp>
      <p:sp>
        <p:nvSpPr>
          <p:cNvPr id="32" name="text-031: bank / row / column"/>
          <p:cNvSpPr txBox="1"/>
          <p:nvPr/>
        </p:nvSpPr>
        <p:spPr>
          <a:xfrm>
            <a:off x="3641344" y="2049394"/>
            <a:ext cx="16404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bank / row / column</a:t>
            </a:r>
          </a:p>
        </p:txBody>
      </p:sp>
      <p:sp>
        <p:nvSpPr>
          <p:cNvPr id="33" name="text-032: 处理行命中、冲突、刷新"/>
          <p:cNvSpPr txBox="1"/>
          <p:nvPr/>
        </p:nvSpPr>
        <p:spPr>
          <a:xfrm>
            <a:off x="3641344" y="226275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处理行命中、冲突、刷新</a:t>
            </a:r>
          </a:p>
        </p:txBody>
      </p:sp>
      <p:sp>
        <p:nvSpPr>
          <p:cNvPr id="34" name="rect-033"/>
          <p:cNvSpPr/>
          <p:nvPr/>
        </p:nvSpPr>
        <p:spPr>
          <a:xfrm>
            <a:off x="664972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649720" y="174244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PHY 命令接口"/>
          <p:cNvSpPr txBox="1"/>
          <p:nvPr/>
        </p:nvSpPr>
        <p:spPr>
          <a:xfrm>
            <a:off x="6770624" y="1770319"/>
            <a:ext cx="1308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命令接口</a:t>
            </a:r>
          </a:p>
        </p:txBody>
      </p:sp>
      <p:sp>
        <p:nvSpPr>
          <p:cNvPr id="37" name="text-036: ACT / READ / PRE"/>
          <p:cNvSpPr txBox="1"/>
          <p:nvPr/>
        </p:nvSpPr>
        <p:spPr>
          <a:xfrm>
            <a:off x="6770624" y="2049394"/>
            <a:ext cx="14808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ACT / READ / PRE</a:t>
            </a:r>
          </a:p>
        </p:txBody>
      </p:sp>
      <p:sp>
        <p:nvSpPr>
          <p:cNvPr id="38" name="text-037: 满足器件命令时序"/>
          <p:cNvSpPr txBox="1"/>
          <p:nvPr/>
        </p:nvSpPr>
        <p:spPr>
          <a:xfrm>
            <a:off x="677062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满足器件命令时序</a:t>
            </a:r>
          </a:p>
        </p:txBody>
      </p:sp>
      <p:sp>
        <p:nvSpPr>
          <p:cNvPr id="39" name="rect-038"/>
          <p:cNvSpPr/>
          <p:nvPr/>
        </p:nvSpPr>
        <p:spPr>
          <a:xfrm>
            <a:off x="9779000" y="174244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779000" y="174244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DRAM bank"/>
          <p:cNvSpPr txBox="1"/>
          <p:nvPr/>
        </p:nvSpPr>
        <p:spPr>
          <a:xfrm>
            <a:off x="9899904" y="1770319"/>
            <a:ext cx="11232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DRAM bank</a:t>
            </a:r>
          </a:p>
        </p:txBody>
      </p:sp>
      <p:sp>
        <p:nvSpPr>
          <p:cNvPr id="42" name="text-041: 开行 / 列读 / 刷新"/>
          <p:cNvSpPr txBox="1"/>
          <p:nvPr/>
        </p:nvSpPr>
        <p:spPr>
          <a:xfrm>
            <a:off x="9899904" y="2049394"/>
            <a:ext cx="151116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开行 / 列读 / 刷新</a:t>
            </a:r>
          </a:p>
        </p:txBody>
      </p:sp>
      <p:sp>
        <p:nvSpPr>
          <p:cNvPr id="43" name="text-042: 存储阵列输出数据"/>
          <p:cNvSpPr txBox="1"/>
          <p:nvPr/>
        </p:nvSpPr>
        <p:spPr>
          <a:xfrm>
            <a:off x="9899904" y="226275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存储阵列输出数据</a:t>
            </a:r>
          </a:p>
        </p:txBody>
      </p:sp>
      <p:sp>
        <p:nvSpPr>
          <p:cNvPr id="44" name="rect-043"/>
          <p:cNvSpPr/>
          <p:nvPr/>
        </p:nvSpPr>
        <p:spPr>
          <a:xfrm>
            <a:off x="39116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391160" y="448056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XI R 通道"/>
          <p:cNvSpPr txBox="1"/>
          <p:nvPr/>
        </p:nvSpPr>
        <p:spPr>
          <a:xfrm>
            <a:off x="512064" y="4508439"/>
            <a:ext cx="1031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R 通道</a:t>
            </a:r>
          </a:p>
        </p:txBody>
      </p:sp>
      <p:sp>
        <p:nvSpPr>
          <p:cNvPr id="47" name="text-046: RID / RLAST / RESP"/>
          <p:cNvSpPr txBox="1"/>
          <p:nvPr/>
        </p:nvSpPr>
        <p:spPr>
          <a:xfrm>
            <a:off x="512064" y="4787514"/>
            <a:ext cx="16246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RID / RLAST / RESP</a:t>
            </a:r>
          </a:p>
        </p:txBody>
      </p:sp>
      <p:sp>
        <p:nvSpPr>
          <p:cNvPr id="48" name="text-047: RREADY 背压时保持数据"/>
          <p:cNvSpPr txBox="1"/>
          <p:nvPr/>
        </p:nvSpPr>
        <p:spPr>
          <a:xfrm>
            <a:off x="512064" y="5000874"/>
            <a:ext cx="19426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RREADY 背压时保持数据</a:t>
            </a:r>
          </a:p>
        </p:txBody>
      </p:sp>
      <p:sp>
        <p:nvSpPr>
          <p:cNvPr id="49" name="rect-048"/>
          <p:cNvSpPr/>
          <p:nvPr/>
        </p:nvSpPr>
        <p:spPr>
          <a:xfrm>
            <a:off x="352044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520440" y="448056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返回缓冲"/>
          <p:cNvSpPr txBox="1"/>
          <p:nvPr/>
        </p:nvSpPr>
        <p:spPr>
          <a:xfrm>
            <a:off x="3641344" y="450843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返回缓冲</a:t>
            </a:r>
          </a:p>
        </p:txBody>
      </p:sp>
      <p:sp>
        <p:nvSpPr>
          <p:cNvPr id="52" name="text-051: 按 AXI beat 重组"/>
          <p:cNvSpPr txBox="1"/>
          <p:nvPr/>
        </p:nvSpPr>
        <p:spPr>
          <a:xfrm>
            <a:off x="3641344" y="4787514"/>
            <a:ext cx="13404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 AXI beat 重组</a:t>
            </a:r>
          </a:p>
        </p:txBody>
      </p:sp>
      <p:sp>
        <p:nvSpPr>
          <p:cNvPr id="53" name="text-052: 与原事务 ID 对应"/>
          <p:cNvSpPr txBox="1"/>
          <p:nvPr/>
        </p:nvSpPr>
        <p:spPr>
          <a:xfrm>
            <a:off x="3641344" y="5000874"/>
            <a:ext cx="13934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与原事务 ID 对应</a:t>
            </a:r>
          </a:p>
        </p:txBody>
      </p:sp>
      <p:sp>
        <p:nvSpPr>
          <p:cNvPr id="54" name="rect-053"/>
          <p:cNvSpPr/>
          <p:nvPr/>
        </p:nvSpPr>
        <p:spPr>
          <a:xfrm>
            <a:off x="664972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649720" y="448056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PHY 采样 / 对齐"/>
          <p:cNvSpPr txBox="1"/>
          <p:nvPr/>
        </p:nvSpPr>
        <p:spPr>
          <a:xfrm>
            <a:off x="6770624" y="4508439"/>
            <a:ext cx="1515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PHY 采样 / 对齐</a:t>
            </a:r>
          </a:p>
        </p:txBody>
      </p:sp>
      <p:sp>
        <p:nvSpPr>
          <p:cNvPr id="57" name="text-056: 训练确定采样关系"/>
          <p:cNvSpPr txBox="1"/>
          <p:nvPr/>
        </p:nvSpPr>
        <p:spPr>
          <a:xfrm>
            <a:off x="6770624" y="47875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训练确定采样关系</a:t>
            </a:r>
          </a:p>
        </p:txBody>
      </p:sp>
      <p:sp>
        <p:nvSpPr>
          <p:cNvPr id="58" name="text-057: DQ / DQS 转为内部数据"/>
          <p:cNvSpPr txBox="1"/>
          <p:nvPr/>
        </p:nvSpPr>
        <p:spPr>
          <a:xfrm>
            <a:off x="6770624" y="5000874"/>
            <a:ext cx="19097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 转为内部数据</a:t>
            </a:r>
          </a:p>
        </p:txBody>
      </p:sp>
      <p:sp>
        <p:nvSpPr>
          <p:cNvPr id="59" name="rect-058"/>
          <p:cNvSpPr/>
          <p:nvPr/>
        </p:nvSpPr>
        <p:spPr>
          <a:xfrm>
            <a:off x="9779000" y="4480560"/>
            <a:ext cx="2631440" cy="1244600"/>
          </a:xfrm>
          <a:prstGeom prst="roundRect">
            <a:avLst>
              <a:gd name="adj" fmla="val 4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9779000" y="4480560"/>
            <a:ext cx="35560" cy="12446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DQ / DQS"/>
          <p:cNvSpPr txBox="1"/>
          <p:nvPr/>
        </p:nvSpPr>
        <p:spPr>
          <a:xfrm>
            <a:off x="9899904" y="4508439"/>
            <a:ext cx="99392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DQ / DQS</a:t>
            </a:r>
          </a:p>
        </p:txBody>
      </p:sp>
      <p:sp>
        <p:nvSpPr>
          <p:cNvPr id="62" name="text-061: 器件返回读数据"/>
          <p:cNvSpPr txBox="1"/>
          <p:nvPr/>
        </p:nvSpPr>
        <p:spPr>
          <a:xfrm>
            <a:off x="9899904" y="47875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器件返回读数据</a:t>
            </a:r>
          </a:p>
        </p:txBody>
      </p:sp>
      <p:sp>
        <p:nvSpPr>
          <p:cNvPr id="63" name="text-062: 引脚电气时序"/>
          <p:cNvSpPr txBox="1"/>
          <p:nvPr/>
        </p:nvSpPr>
        <p:spPr>
          <a:xfrm>
            <a:off x="9899904" y="50008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引脚电气时序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一次请求的延迟取决于多层状态"/>
          <p:cNvSpPr txBox="1"/>
          <p:nvPr/>
        </p:nvSpPr>
        <p:spPr>
          <a:xfrm>
            <a:off x="512064" y="642867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一次请求的延迟取决于多层状态</a:t>
            </a:r>
          </a:p>
        </p:txBody>
      </p:sp>
      <p:sp>
        <p:nvSpPr>
          <p:cNvPr id="67" name="text-066: 行命中可以省去换行操作；行冲突、刷新、仲裁、跨域队列和 R 背压都会改变 AXI"/>
          <p:cNvSpPr txBox="1"/>
          <p:nvPr/>
        </p:nvSpPr>
        <p:spPr>
          <a:xfrm>
            <a:off x="512064" y="6715435"/>
            <a:ext cx="70685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行命中可以省去换行操作；行冲突、刷新、仲裁、跨域队列和 R 背压都会改变 AXI 侧观察到的延迟。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6720" y="1529080"/>
            <a:ext cx="3733800" cy="3591560"/>
          </a:xfrm>
          <a:prstGeom prst="roundRect">
            <a:avLst>
              <a:gd name="adj" fmla="val 237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085080" y="1529080"/>
            <a:ext cx="7396480" cy="3591560"/>
          </a:xfrm>
          <a:prstGeom prst="roundRect">
            <a:avLst>
              <a:gd name="adj" fmla="val 237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840480" y="3004820"/>
            <a:ext cx="1493520" cy="1"/>
          </a:xfrm>
          <a:custGeom>
            <a:avLst/>
            <a:gdLst/>
            <a:ahLst/>
            <a:cxnLst/>
            <a:rect l="0" t="0" r="r" b="b"/>
            <a:pathLst>
              <a:path w="1493520" h="1">
                <a:moveTo>
                  <a:pt x="0" y="0"/>
                </a:moveTo>
                <a:lnTo>
                  <a:pt x="14935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486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8498840" y="30048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160256" y="29692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2222500" y="3662680"/>
            <a:ext cx="53340" cy="604520"/>
          </a:xfrm>
          <a:custGeom>
            <a:avLst/>
            <a:gdLst/>
            <a:ahLst/>
            <a:cxnLst/>
            <a:rect l="0" t="0" r="r" b="b"/>
            <a:pathLst>
              <a:path w="53340" h="604520">
                <a:moveTo>
                  <a:pt x="5334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2194550" y="4179082"/>
            <a:ext cx="70907" cy="88118"/>
          </a:xfrm>
          <a:custGeom>
            <a:avLst/>
            <a:gdLst/>
            <a:ahLst/>
            <a:cxnLst/>
            <a:rect l="0" t="0" r="r" b="b"/>
            <a:pathLst>
              <a:path w="70907" h="88118">
                <a:moveTo>
                  <a:pt x="27950" y="88118"/>
                </a:moveTo>
                <a:lnTo>
                  <a:pt x="70907" y="6259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关电域与常开域：隔离、保持、电平转换各有职责"/>
          <p:cNvSpPr txBox="1"/>
          <p:nvPr/>
        </p:nvSpPr>
        <p:spPr>
          <a:xfrm>
            <a:off x="483616" y="271109"/>
            <a:ext cx="588873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关电域与常开域：隔离、保持、电平转换各有职责</a:t>
            </a:r>
          </a:p>
        </p:txBody>
      </p:sp>
      <p:sp>
        <p:nvSpPr>
          <p:cNvPr id="15" name="text-014: 示例 done 为有效高，接收协议允许隔离时钳为 0；实际钳位值按接口协议决定。"/>
          <p:cNvSpPr txBox="1"/>
          <p:nvPr/>
        </p:nvSpPr>
        <p:spPr>
          <a:xfrm>
            <a:off x="483616" y="676778"/>
            <a:ext cx="59959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示例 done 为有效高，接收协议允许隔离时钳为 0；实际钳位值按接口协议决定。</a:t>
            </a:r>
          </a:p>
        </p:txBody>
      </p:sp>
      <p:sp>
        <p:nvSpPr>
          <p:cNvPr id="16" name="text-015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7" name="text-016: 依据：ASIC 低功耗通用机制；需工艺库、UPF 与平台协议支持"/>
          <p:cNvSpPr txBox="1"/>
          <p:nvPr/>
        </p:nvSpPr>
        <p:spPr>
          <a:xfrm>
            <a:off x="341376" y="7726477"/>
            <a:ext cx="403053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依据：ASIC 低功耗通用机制；需工艺库、UPF 与平台协议支持</a:t>
            </a:r>
          </a:p>
        </p:txBody>
      </p:sp>
      <p:sp>
        <p:nvSpPr>
          <p:cNvPr id="18" name="text-017: 可关断设备域"/>
          <p:cNvSpPr txBox="1"/>
          <p:nvPr/>
        </p:nvSpPr>
        <p:spPr>
          <a:xfrm>
            <a:off x="554736" y="158597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可关断设备域</a:t>
            </a:r>
          </a:p>
        </p:txBody>
      </p:sp>
      <p:sp>
        <p:nvSpPr>
          <p:cNvPr id="19" name="rect-018"/>
          <p:cNvSpPr/>
          <p:nvPr/>
        </p:nvSpPr>
        <p:spPr>
          <a:xfrm>
            <a:off x="711200" y="2346960"/>
            <a:ext cx="3129280" cy="1315720"/>
          </a:xfrm>
          <a:prstGeom prst="roundRect">
            <a:avLst>
              <a:gd name="adj" fmla="val 378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711200" y="2346960"/>
            <a:ext cx="35560" cy="13157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计算状态机"/>
          <p:cNvSpPr txBox="1"/>
          <p:nvPr/>
        </p:nvSpPr>
        <p:spPr>
          <a:xfrm>
            <a:off x="832104" y="237483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计算状态机</a:t>
            </a:r>
          </a:p>
        </p:txBody>
      </p:sp>
      <p:sp>
        <p:nvSpPr>
          <p:cNvPr id="22" name="text-021: 普通寄存器掉电后丢失"/>
          <p:cNvSpPr txBox="1"/>
          <p:nvPr/>
        </p:nvSpPr>
        <p:spPr>
          <a:xfrm>
            <a:off x="832104" y="264623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普通寄存器掉电后丢失</a:t>
            </a:r>
          </a:p>
        </p:txBody>
      </p:sp>
      <p:sp>
        <p:nvSpPr>
          <p:cNvPr id="23" name="text-022: done 输出 / 任务内部状态"/>
          <p:cNvSpPr txBox="1"/>
          <p:nvPr/>
        </p:nvSpPr>
        <p:spPr>
          <a:xfrm>
            <a:off x="832104" y="2859593"/>
            <a:ext cx="214643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done 输出 / 任务内部状态</a:t>
            </a:r>
          </a:p>
        </p:txBody>
      </p:sp>
      <p:sp>
        <p:nvSpPr>
          <p:cNvPr id="24" name="text-023: 电源撤除前先完成事务"/>
          <p:cNvSpPr txBox="1"/>
          <p:nvPr/>
        </p:nvSpPr>
        <p:spPr>
          <a:xfrm>
            <a:off x="832104" y="307295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电源撤除前先完成事务</a:t>
            </a:r>
          </a:p>
        </p:txBody>
      </p:sp>
      <p:sp>
        <p:nvSpPr>
          <p:cNvPr id="25" name="text-024: 常开控制与隔离供电边界"/>
          <p:cNvSpPr txBox="1"/>
          <p:nvPr/>
        </p:nvSpPr>
        <p:spPr>
          <a:xfrm>
            <a:off x="5213096" y="1585976"/>
            <a:ext cx="2133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常开控制与隔离供电边界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5334000" y="2346960"/>
            <a:ext cx="3164840" cy="1315720"/>
          </a:xfrm>
          <a:prstGeom prst="roundRect">
            <a:avLst>
              <a:gd name="adj" fmla="val 378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5334000" y="2346960"/>
            <a:ext cx="35560" cy="13157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输出隔离单元"/>
          <p:cNvSpPr txBox="1"/>
          <p:nvPr/>
        </p:nvSpPr>
        <p:spPr>
          <a:xfrm>
            <a:off x="5454904" y="237483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输出隔离单元</a:t>
            </a:r>
          </a:p>
        </p:txBody>
      </p:sp>
      <p:sp>
        <p:nvSpPr>
          <p:cNvPr id="29" name="text-028: 隔离有效：done_out = 0"/>
          <p:cNvSpPr txBox="1"/>
          <p:nvPr/>
        </p:nvSpPr>
        <p:spPr>
          <a:xfrm>
            <a:off x="5454904" y="2646233"/>
            <a:ext cx="2023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隔离有效：done_out = 0</a:t>
            </a:r>
          </a:p>
        </p:txBody>
      </p:sp>
      <p:sp>
        <p:nvSpPr>
          <p:cNvPr id="30" name="text-029: 隔离解除：透传 done"/>
          <p:cNvSpPr txBox="1"/>
          <p:nvPr/>
        </p:nvSpPr>
        <p:spPr>
          <a:xfrm>
            <a:off x="5454904" y="2859593"/>
            <a:ext cx="17847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隔离解除：透传 done</a:t>
            </a:r>
          </a:p>
        </p:txBody>
      </p:sp>
      <p:sp>
        <p:nvSpPr>
          <p:cNvPr id="31" name="text-030: 钳低不能撤销已接受 AXI"/>
          <p:cNvSpPr txBox="1"/>
          <p:nvPr/>
        </p:nvSpPr>
        <p:spPr>
          <a:xfrm>
            <a:off x="5454904" y="3072953"/>
            <a:ext cx="19899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钳低不能撤销已接受 AXI</a:t>
            </a:r>
          </a:p>
        </p:txBody>
      </p:sp>
      <p:sp>
        <p:nvSpPr>
          <p:cNvPr id="32" name="rect-031"/>
          <p:cNvSpPr/>
          <p:nvPr/>
        </p:nvSpPr>
        <p:spPr>
          <a:xfrm>
            <a:off x="9245600" y="2346960"/>
            <a:ext cx="2951480" cy="1315720"/>
          </a:xfrm>
          <a:prstGeom prst="roundRect">
            <a:avLst>
              <a:gd name="adj" fmla="val 378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9245600" y="2346960"/>
            <a:ext cx="35560" cy="13157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完成邮箱 / 控制器"/>
          <p:cNvSpPr txBox="1"/>
          <p:nvPr/>
        </p:nvSpPr>
        <p:spPr>
          <a:xfrm>
            <a:off x="9366504" y="237483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完成邮箱 / 控制器</a:t>
            </a:r>
          </a:p>
        </p:txBody>
      </p:sp>
      <p:sp>
        <p:nvSpPr>
          <p:cNvPr id="35" name="text-034: 记录 epoch 与所有权"/>
          <p:cNvSpPr txBox="1"/>
          <p:nvPr/>
        </p:nvSpPr>
        <p:spPr>
          <a:xfrm>
            <a:off x="9366504" y="2646233"/>
            <a:ext cx="17470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记录 epoch 与所有权</a:t>
            </a:r>
          </a:p>
        </p:txBody>
      </p:sp>
      <p:sp>
        <p:nvSpPr>
          <p:cNvPr id="36" name="text-035: 匹配状态后回收 buffer"/>
          <p:cNvSpPr txBox="1"/>
          <p:nvPr/>
        </p:nvSpPr>
        <p:spPr>
          <a:xfrm>
            <a:off x="9366504" y="2859593"/>
            <a:ext cx="18495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匹配状态后回收 buffer</a:t>
            </a:r>
          </a:p>
        </p:txBody>
      </p:sp>
      <p:sp>
        <p:nvSpPr>
          <p:cNvPr id="37" name="text-036: 处理超时与错误"/>
          <p:cNvSpPr txBox="1"/>
          <p:nvPr/>
        </p:nvSpPr>
        <p:spPr>
          <a:xfrm>
            <a:off x="9366504" y="307295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处理超时与错误</a:t>
            </a:r>
          </a:p>
        </p:txBody>
      </p:sp>
      <p:sp>
        <p:nvSpPr>
          <p:cNvPr id="38" name="rect-037"/>
          <p:cNvSpPr/>
          <p:nvPr/>
        </p:nvSpPr>
        <p:spPr>
          <a:xfrm>
            <a:off x="924560" y="4267200"/>
            <a:ext cx="2595880" cy="640080"/>
          </a:xfrm>
          <a:prstGeom prst="roundRect">
            <a:avLst>
              <a:gd name="adj" fmla="val 7777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924560" y="4267200"/>
            <a:ext cx="35560" cy="6400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保持资源：独立供电"/>
          <p:cNvSpPr txBox="1"/>
          <p:nvPr/>
        </p:nvSpPr>
        <p:spPr>
          <a:xfrm>
            <a:off x="1045464" y="42950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保持资源：独立供电</a:t>
            </a:r>
          </a:p>
        </p:txBody>
      </p:sp>
      <p:sp>
        <p:nvSpPr>
          <p:cNvPr id="41" name="text-040: 仅保存选定状态"/>
          <p:cNvSpPr txBox="1"/>
          <p:nvPr/>
        </p:nvSpPr>
        <p:spPr>
          <a:xfrm>
            <a:off x="1045464" y="458183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仅保存选定状态</a:t>
            </a:r>
          </a:p>
        </p:txBody>
      </p:sp>
      <p:sp>
        <p:nvSpPr>
          <p:cNvPr id="42" name="rect-041"/>
          <p:cNvSpPr/>
          <p:nvPr/>
        </p:nvSpPr>
        <p:spPr>
          <a:xfrm>
            <a:off x="426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426720" y="57962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关断顺序（需 IP 规范确认）"/>
          <p:cNvSpPr txBox="1"/>
          <p:nvPr/>
        </p:nvSpPr>
        <p:spPr>
          <a:xfrm>
            <a:off x="547624" y="5824159"/>
            <a:ext cx="24813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关断顺序（需 IP 规范确认）</a:t>
            </a:r>
          </a:p>
        </p:txBody>
      </p:sp>
      <p:sp>
        <p:nvSpPr>
          <p:cNvPr id="45" name="text-044: 停发并排空 → 保存必要状态 → 隔离"/>
          <p:cNvSpPr txBox="1"/>
          <p:nvPr/>
        </p:nvSpPr>
        <p:spPr>
          <a:xfrm>
            <a:off x="547624" y="6110915"/>
            <a:ext cx="26910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停发并排空 → 保存必要状态 → 隔离</a:t>
            </a:r>
          </a:p>
        </p:txBody>
      </p:sp>
      <p:sp>
        <p:nvSpPr>
          <p:cNvPr id="46" name="text-045: 按平台顺序关时钟 / 电源；处理异常在途事务"/>
          <p:cNvSpPr txBox="1"/>
          <p:nvPr/>
        </p:nvSpPr>
        <p:spPr>
          <a:xfrm>
            <a:off x="547624" y="6324275"/>
            <a:ext cx="33043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按平台顺序关时钟 / 电源；处理异常在途事务</a:t>
            </a:r>
          </a:p>
        </p:txBody>
      </p:sp>
      <p:sp>
        <p:nvSpPr>
          <p:cNvPr id="47" name="rect-046"/>
          <p:cNvSpPr/>
          <p:nvPr/>
        </p:nvSpPr>
        <p:spPr>
          <a:xfrm>
            <a:off x="6649720" y="5796280"/>
            <a:ext cx="579628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6649720" y="57962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恢复顺序与电平兼容"/>
          <p:cNvSpPr txBox="1"/>
          <p:nvPr/>
        </p:nvSpPr>
        <p:spPr>
          <a:xfrm>
            <a:off x="6770624" y="582415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恢复顺序与电平兼容</a:t>
            </a:r>
          </a:p>
        </p:txBody>
      </p:sp>
      <p:sp>
        <p:nvSpPr>
          <p:cNvPr id="50" name="text-049: 供电 / 时钟稳定 → 复位 → 恢复 / 重建 → 就绪 → 解除隔离"/>
          <p:cNvSpPr txBox="1"/>
          <p:nvPr/>
        </p:nvSpPr>
        <p:spPr>
          <a:xfrm>
            <a:off x="6770624" y="6110915"/>
            <a:ext cx="43241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供电 / 时钟稳定 → 复位 → 恢复 / 重建 → 就绪 → 解除隔离</a:t>
            </a:r>
          </a:p>
        </p:txBody>
      </p:sp>
      <p:sp>
        <p:nvSpPr>
          <p:cNvPr id="51" name="text-050: 电平转换负责电压兼容；保持负责状态，均不替代隔离"/>
          <p:cNvSpPr txBox="1"/>
          <p:nvPr/>
        </p:nvSpPr>
        <p:spPr>
          <a:xfrm>
            <a:off x="6770624" y="6324275"/>
            <a:ext cx="39116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电平转换负责电压兼容；保持负责状态，均不替代隔离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311400" y="1294384"/>
            <a:ext cx="7396480" cy="4053840"/>
          </a:xfrm>
          <a:prstGeom prst="roundRect">
            <a:avLst>
              <a:gd name="adj" fmla="val 210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1955800" y="2275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2401651" y="2270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9494520" y="2275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10083038" y="2244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1955800" y="4053840"/>
            <a:ext cx="533400" cy="35560"/>
          </a:xfrm>
          <a:custGeom>
            <a:avLst/>
            <a:gdLst/>
            <a:ahLst/>
            <a:cxnLst/>
            <a:rect l="0" t="0" r="r" b="b"/>
            <a:pathLst>
              <a:path w="533400" h="35560">
                <a:moveTo>
                  <a:pt x="0" y="0"/>
                </a:moveTo>
                <a:lnTo>
                  <a:pt x="533400" y="35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401651" y="4048222"/>
            <a:ext cx="87549" cy="70978"/>
          </a:xfrm>
          <a:custGeom>
            <a:avLst/>
            <a:gdLst/>
            <a:ahLst/>
            <a:cxnLst/>
            <a:rect l="0" t="0" r="r" b="b"/>
            <a:pathLst>
              <a:path w="87549" h="70978">
                <a:moveTo>
                  <a:pt x="87549" y="41178"/>
                </a:moveTo>
                <a:lnTo>
                  <a:pt x="4765" y="0"/>
                </a:lnTo>
                <a:lnTo>
                  <a:pt x="0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9494520" y="4053840"/>
            <a:ext cx="675640" cy="35560"/>
          </a:xfrm>
          <a:custGeom>
            <a:avLst/>
            <a:gdLst/>
            <a:ahLst/>
            <a:cxnLst/>
            <a:rect l="0" t="0" r="r" b="b"/>
            <a:pathLst>
              <a:path w="675640" h="35560">
                <a:moveTo>
                  <a:pt x="0" y="35560"/>
                </a:moveTo>
                <a:lnTo>
                  <a:pt x="6756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83038" y="4022832"/>
            <a:ext cx="87122" cy="70978"/>
          </a:xfrm>
          <a:custGeom>
            <a:avLst/>
            <a:gdLst/>
            <a:ahLst/>
            <a:cxnLst/>
            <a:rect l="0" t="0" r="r" b="b"/>
            <a:pathLst>
              <a:path w="87122" h="70978">
                <a:moveTo>
                  <a:pt x="87122" y="31008"/>
                </a:moveTo>
                <a:lnTo>
                  <a:pt x="0" y="0"/>
                </a:lnTo>
                <a:lnTo>
                  <a:pt x="3769" y="70978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ath-014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ath-015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0"/>
                </a:moveTo>
                <a:cubicBezTo>
                  <a:pt x="1049020" y="0"/>
                  <a:pt x="1049020" y="1778000"/>
                  <a:pt x="2098040" y="177800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ath-016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ath-017"/>
          <p:cNvSpPr/>
          <p:nvPr/>
        </p:nvSpPr>
        <p:spPr>
          <a:xfrm>
            <a:off x="5013960" y="4089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14224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ath-018"/>
          <p:cNvSpPr/>
          <p:nvPr/>
        </p:nvSpPr>
        <p:spPr>
          <a:xfrm>
            <a:off x="5013960" y="2311400"/>
            <a:ext cx="2098040" cy="1"/>
          </a:xfrm>
          <a:custGeom>
            <a:avLst/>
            <a:gdLst/>
            <a:ahLst/>
            <a:cxnLst/>
            <a:rect l="0" t="0" r="r" b="b"/>
            <a:pathLst>
              <a:path w="2098040" h="1">
                <a:moveTo>
                  <a:pt x="0" y="0"/>
                </a:moveTo>
                <a:cubicBezTo>
                  <a:pt x="1049020" y="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ath-021"/>
          <p:cNvSpPr/>
          <p:nvPr/>
        </p:nvSpPr>
        <p:spPr>
          <a:xfrm>
            <a:off x="5013960" y="2311400"/>
            <a:ext cx="2098040" cy="1778000"/>
          </a:xfrm>
          <a:custGeom>
            <a:avLst/>
            <a:gdLst/>
            <a:ahLst/>
            <a:cxnLst/>
            <a:rect l="0" t="0" r="r" b="b"/>
            <a:pathLst>
              <a:path w="2098040" h="1778000">
                <a:moveTo>
                  <a:pt x="0" y="1778000"/>
                </a:moveTo>
                <a:cubicBezTo>
                  <a:pt x="1049020" y="1778000"/>
                  <a:pt x="1049020" y="0"/>
                  <a:pt x="2098040" y="0"/>
                </a:cubicBez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2"/>
          <p:cNvSpPr/>
          <p:nvPr/>
        </p:nvSpPr>
        <p:spPr>
          <a:xfrm>
            <a:off x="7012432" y="2311400"/>
            <a:ext cx="99568" cy="1"/>
          </a:xfrm>
          <a:custGeom>
            <a:avLst/>
            <a:gdLst/>
            <a:ahLst/>
            <a:cxnLst/>
            <a:rect l="0" t="0" r="r" b="b"/>
            <a:pathLst>
              <a:path w="99568" h="1">
                <a:moveTo>
                  <a:pt x="0" y="0"/>
                </a:moveTo>
                <a:lnTo>
                  <a:pt x="99568" y="0"/>
                </a:lnTo>
              </a:path>
            </a:pathLst>
          </a:custGeom>
          <a:noFill/>
          <a:ln w="35560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702665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Crossbar 内部：选择目标、预留 W、归还 ID"/>
          <p:cNvSpPr txBox="1"/>
          <p:nvPr/>
        </p:nvSpPr>
        <p:spPr>
          <a:xfrm>
            <a:off x="483616" y="271109"/>
            <a:ext cx="526194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Crossbar 内部：选择目标、预留 W、归还 ID</a:t>
            </a:r>
          </a:p>
        </p:txBody>
      </p:sp>
      <p:sp>
        <p:nvSpPr>
          <p:cNvPr id="26" name="text-025: 2×2 教学模型：普通 AXI4；输入 ID 为 2 位；地址与延迟不使用生产地"/>
          <p:cNvSpPr txBox="1"/>
          <p:nvPr/>
        </p:nvSpPr>
        <p:spPr>
          <a:xfrm>
            <a:off x="483616" y="676778"/>
            <a:ext cx="57372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2×2 教学模型：普通 AXI4；输入 ID 为 2 位；地址与延迟不使用生产地址图。</a:t>
            </a:r>
          </a:p>
        </p:txBody>
      </p:sp>
      <p:sp>
        <p:nvSpPr>
          <p:cNvPr id="27" name="text-02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8" name="text-027: 依据：axi_xbar_unmuxed、axi_mux、axi_demux_si"/>
          <p:cNvSpPr txBox="1"/>
          <p:nvPr/>
        </p:nvSpPr>
        <p:spPr>
          <a:xfrm>
            <a:off x="341376" y="7726477"/>
            <a:ext cx="632936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依据：axi_xbar_unmuxed、axi_mux、axi_demux_simple、axi_demux_id_counters（本地 axi 依赖）</a:t>
            </a:r>
          </a:p>
        </p:txBody>
      </p:sp>
      <p:sp>
        <p:nvSpPr>
          <p:cNvPr id="29" name="text-028: 路由结构：两套输入状态 × 两套目标仲裁"/>
          <p:cNvSpPr txBox="1"/>
          <p:nvPr/>
        </p:nvSpPr>
        <p:spPr>
          <a:xfrm>
            <a:off x="2439416" y="1351280"/>
            <a:ext cx="341362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路由结构：两套输入状态 × 两套目标仲裁</a:t>
            </a:r>
          </a:p>
        </p:txBody>
      </p:sp>
      <p:sp>
        <p:nvSpPr>
          <p:cNvPr id="30" name="rect-029"/>
          <p:cNvSpPr/>
          <p:nvPr/>
        </p:nvSpPr>
        <p:spPr>
          <a:xfrm>
            <a:off x="355600" y="1920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35560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I0 · CPU"/>
          <p:cNvSpPr txBox="1"/>
          <p:nvPr/>
        </p:nvSpPr>
        <p:spPr>
          <a:xfrm>
            <a:off x="476504" y="1948119"/>
            <a:ext cx="8351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I0 · CPU</a:t>
            </a:r>
          </a:p>
        </p:txBody>
      </p:sp>
      <p:sp>
        <p:nvSpPr>
          <p:cNvPr id="33" name="text-032: AW / W / AR"/>
          <p:cNvSpPr txBox="1"/>
          <p:nvPr/>
        </p:nvSpPr>
        <p:spPr>
          <a:xfrm>
            <a:off x="476504" y="2219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34" name="rect-033"/>
          <p:cNvSpPr/>
          <p:nvPr/>
        </p:nvSpPr>
        <p:spPr>
          <a:xfrm>
            <a:off x="2489200" y="1742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24892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DEMUX I0 · 地址分流"/>
          <p:cNvSpPr txBox="1"/>
          <p:nvPr/>
        </p:nvSpPr>
        <p:spPr>
          <a:xfrm>
            <a:off x="2610104" y="1770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I0 · 地址分流</a:t>
            </a:r>
          </a:p>
        </p:txBody>
      </p:sp>
      <p:sp>
        <p:nvSpPr>
          <p:cNvPr id="37" name="text-036: AW/AR ID → 目标 + 在途数"/>
          <p:cNvSpPr txBox="1"/>
          <p:nvPr/>
        </p:nvSpPr>
        <p:spPr>
          <a:xfrm>
            <a:off x="2610104" y="2041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38" name="text-037: w_select_q：W 的目标"/>
          <p:cNvSpPr txBox="1"/>
          <p:nvPr/>
        </p:nvSpPr>
        <p:spPr>
          <a:xfrm>
            <a:off x="2610104" y="2255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39" name="text-038: w_open：未结束 W 数"/>
          <p:cNvSpPr txBox="1"/>
          <p:nvPr/>
        </p:nvSpPr>
        <p:spPr>
          <a:xfrm>
            <a:off x="2610104" y="2468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40" name="rect-039"/>
          <p:cNvSpPr/>
          <p:nvPr/>
        </p:nvSpPr>
        <p:spPr>
          <a:xfrm>
            <a:off x="7112000" y="1742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7112000" y="1742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目标 0 · mux / 仲裁"/>
          <p:cNvSpPr txBox="1"/>
          <p:nvPr/>
        </p:nvSpPr>
        <p:spPr>
          <a:xfrm>
            <a:off x="7232904" y="1770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0 · mux / 仲裁</a:t>
            </a:r>
          </a:p>
        </p:txBody>
      </p:sp>
      <p:sp>
        <p:nvSpPr>
          <p:cNvPr id="43" name="text-042: AW 轮转仲裁并预留来源"/>
          <p:cNvSpPr txBox="1"/>
          <p:nvPr/>
        </p:nvSpPr>
        <p:spPr>
          <a:xfrm>
            <a:off x="7232904" y="2041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44" name="text-043: i_w_fifo 保存来源顺序"/>
          <p:cNvSpPr txBox="1"/>
          <p:nvPr/>
        </p:nvSpPr>
        <p:spPr>
          <a:xfrm>
            <a:off x="7232904" y="2255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45" name="text-044: W 按队首来源前进"/>
          <p:cNvSpPr txBox="1"/>
          <p:nvPr/>
        </p:nvSpPr>
        <p:spPr>
          <a:xfrm>
            <a:off x="7232904" y="2468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46" name="rect-045"/>
          <p:cNvSpPr/>
          <p:nvPr/>
        </p:nvSpPr>
        <p:spPr>
          <a:xfrm>
            <a:off x="10170160" y="1920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170160" y="1920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T0 · 慢存储"/>
          <p:cNvSpPr txBox="1"/>
          <p:nvPr/>
        </p:nvSpPr>
        <p:spPr>
          <a:xfrm>
            <a:off x="10291064" y="1948119"/>
            <a:ext cx="10981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T0 · 慢存储</a:t>
            </a:r>
          </a:p>
        </p:txBody>
      </p:sp>
      <p:sp>
        <p:nvSpPr>
          <p:cNvPr id="49" name="text-048: 独立背压与响应"/>
          <p:cNvSpPr txBox="1"/>
          <p:nvPr/>
        </p:nvSpPr>
        <p:spPr>
          <a:xfrm>
            <a:off x="10291064" y="2219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50" name="rect-049"/>
          <p:cNvSpPr/>
          <p:nvPr/>
        </p:nvSpPr>
        <p:spPr>
          <a:xfrm>
            <a:off x="355600" y="3698240"/>
            <a:ext cx="16002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5560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I1 · DMA"/>
          <p:cNvSpPr txBox="1"/>
          <p:nvPr/>
        </p:nvSpPr>
        <p:spPr>
          <a:xfrm>
            <a:off x="476504" y="3726119"/>
            <a:ext cx="8758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I1 · DMA</a:t>
            </a:r>
          </a:p>
        </p:txBody>
      </p:sp>
      <p:sp>
        <p:nvSpPr>
          <p:cNvPr id="53" name="text-052: AW / W / AR"/>
          <p:cNvSpPr txBox="1"/>
          <p:nvPr/>
        </p:nvSpPr>
        <p:spPr>
          <a:xfrm>
            <a:off x="476504" y="3997513"/>
            <a:ext cx="11291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/ W / AR</a:t>
            </a:r>
          </a:p>
        </p:txBody>
      </p:sp>
      <p:sp>
        <p:nvSpPr>
          <p:cNvPr id="54" name="rect-053"/>
          <p:cNvSpPr/>
          <p:nvPr/>
        </p:nvSpPr>
        <p:spPr>
          <a:xfrm>
            <a:off x="2489200" y="3520440"/>
            <a:ext cx="252476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24892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DEMUX I1 · 地址分流"/>
          <p:cNvSpPr txBox="1"/>
          <p:nvPr/>
        </p:nvSpPr>
        <p:spPr>
          <a:xfrm>
            <a:off x="2610104" y="3548319"/>
            <a:ext cx="18888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DEMUX I1 · 地址分流</a:t>
            </a:r>
          </a:p>
        </p:txBody>
      </p:sp>
      <p:sp>
        <p:nvSpPr>
          <p:cNvPr id="57" name="text-056: AW/AR ID → 目标 + 在途数"/>
          <p:cNvSpPr txBox="1"/>
          <p:nvPr/>
        </p:nvSpPr>
        <p:spPr>
          <a:xfrm>
            <a:off x="2610104" y="3819713"/>
            <a:ext cx="22351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AW/AR ID → 目标 + 在途数</a:t>
            </a:r>
          </a:p>
        </p:txBody>
      </p:sp>
      <p:sp>
        <p:nvSpPr>
          <p:cNvPr id="58" name="text-057: w_select_q：W 的目标"/>
          <p:cNvSpPr txBox="1"/>
          <p:nvPr/>
        </p:nvSpPr>
        <p:spPr>
          <a:xfrm>
            <a:off x="2610104" y="4033073"/>
            <a:ext cx="186956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w_select_q：W 的目标</a:t>
            </a:r>
          </a:p>
        </p:txBody>
      </p:sp>
      <p:sp>
        <p:nvSpPr>
          <p:cNvPr id="59" name="text-058: w_open：未结束 W 数"/>
          <p:cNvSpPr txBox="1"/>
          <p:nvPr/>
        </p:nvSpPr>
        <p:spPr>
          <a:xfrm>
            <a:off x="2610104" y="4246433"/>
            <a:ext cx="1832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w_open：未结束 W 数</a:t>
            </a:r>
          </a:p>
        </p:txBody>
      </p:sp>
      <p:sp>
        <p:nvSpPr>
          <p:cNvPr id="60" name="rect-059"/>
          <p:cNvSpPr/>
          <p:nvPr/>
        </p:nvSpPr>
        <p:spPr>
          <a:xfrm>
            <a:off x="7112000" y="3520440"/>
            <a:ext cx="23825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7112000" y="352044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目标 1 · mux / 仲裁"/>
          <p:cNvSpPr txBox="1"/>
          <p:nvPr/>
        </p:nvSpPr>
        <p:spPr>
          <a:xfrm>
            <a:off x="7232904" y="3548319"/>
            <a:ext cx="1785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1 · mux / 仲裁</a:t>
            </a:r>
          </a:p>
        </p:txBody>
      </p:sp>
      <p:sp>
        <p:nvSpPr>
          <p:cNvPr id="63" name="text-062: AW 轮转仲裁并预留来源"/>
          <p:cNvSpPr txBox="1"/>
          <p:nvPr/>
        </p:nvSpPr>
        <p:spPr>
          <a:xfrm>
            <a:off x="7232904" y="3819713"/>
            <a:ext cx="19934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AW 轮转仲裁并预留来源</a:t>
            </a:r>
          </a:p>
        </p:txBody>
      </p:sp>
      <p:sp>
        <p:nvSpPr>
          <p:cNvPr id="64" name="text-063: i_w_fifo 保存来源顺序"/>
          <p:cNvSpPr txBox="1"/>
          <p:nvPr/>
        </p:nvSpPr>
        <p:spPr>
          <a:xfrm>
            <a:off x="7232904" y="4033073"/>
            <a:ext cx="18052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i_w_fifo 保存来源顺序</a:t>
            </a:r>
          </a:p>
        </p:txBody>
      </p:sp>
      <p:sp>
        <p:nvSpPr>
          <p:cNvPr id="65" name="text-064: W 按队首来源前进"/>
          <p:cNvSpPr txBox="1"/>
          <p:nvPr/>
        </p:nvSpPr>
        <p:spPr>
          <a:xfrm>
            <a:off x="7232904" y="4246433"/>
            <a:ext cx="15565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 按队首来源前进</a:t>
            </a:r>
          </a:p>
        </p:txBody>
      </p:sp>
      <p:sp>
        <p:nvSpPr>
          <p:cNvPr id="66" name="rect-065"/>
          <p:cNvSpPr/>
          <p:nvPr/>
        </p:nvSpPr>
        <p:spPr>
          <a:xfrm>
            <a:off x="10170160" y="3698240"/>
            <a:ext cx="2133600" cy="711200"/>
          </a:xfrm>
          <a:prstGeom prst="roundRect">
            <a:avLst>
              <a:gd name="adj" fmla="val 7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-066"/>
          <p:cNvSpPr/>
          <p:nvPr/>
        </p:nvSpPr>
        <p:spPr>
          <a:xfrm>
            <a:off x="10170160" y="3698240"/>
            <a:ext cx="35560" cy="7112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T1 · 快寄存器"/>
          <p:cNvSpPr txBox="1"/>
          <p:nvPr/>
        </p:nvSpPr>
        <p:spPr>
          <a:xfrm>
            <a:off x="10291064" y="3726119"/>
            <a:ext cx="12830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T1 · 快寄存器</a:t>
            </a:r>
          </a:p>
        </p:txBody>
      </p:sp>
      <p:sp>
        <p:nvSpPr>
          <p:cNvPr id="69" name="text-068: 独立背压与响应"/>
          <p:cNvSpPr txBox="1"/>
          <p:nvPr/>
        </p:nvSpPr>
        <p:spPr>
          <a:xfrm>
            <a:off x="10291064" y="399751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独立背压与响应</a:t>
            </a:r>
          </a:p>
        </p:txBody>
      </p:sp>
      <p:sp>
        <p:nvSpPr>
          <p:cNvPr id="70" name="text-069: 两笔请求竞争 T0；T1 仲裁器独立"/>
          <p:cNvSpPr txBox="1"/>
          <p:nvPr/>
        </p:nvSpPr>
        <p:spPr>
          <a:xfrm>
            <a:off x="4026903" y="4916099"/>
            <a:ext cx="24719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两笔请求竞争 T0；T1 仲裁器独立</a:t>
            </a:r>
          </a:p>
        </p:txBody>
      </p:sp>
      <p:sp>
        <p:nvSpPr>
          <p:cNvPr id="71" name="rect-070"/>
          <p:cNvSpPr/>
          <p:nvPr/>
        </p:nvSpPr>
        <p:spPr>
          <a:xfrm>
            <a:off x="35560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-071"/>
          <p:cNvSpPr/>
          <p:nvPr/>
        </p:nvSpPr>
        <p:spPr>
          <a:xfrm>
            <a:off x="355600" y="56184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① W 路由先被预留"/>
          <p:cNvSpPr txBox="1"/>
          <p:nvPr/>
        </p:nvSpPr>
        <p:spPr>
          <a:xfrm>
            <a:off x="476504" y="5646359"/>
            <a:ext cx="17416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W 路由先被预留</a:t>
            </a:r>
          </a:p>
        </p:txBody>
      </p:sp>
      <p:sp>
        <p:nvSpPr>
          <p:cNvPr id="74" name="text-073: 仲裁决定可能先于外部 AW 握手"/>
          <p:cNvSpPr txBox="1"/>
          <p:nvPr/>
        </p:nvSpPr>
        <p:spPr>
          <a:xfrm>
            <a:off x="476504" y="5933115"/>
            <a:ext cx="23435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仲裁决定可能先于外部 AW 握手</a:t>
            </a:r>
          </a:p>
        </p:txBody>
      </p:sp>
      <p:sp>
        <p:nvSpPr>
          <p:cNvPr id="75" name="text-074: 背压期间保持决定，避免重复入队"/>
          <p:cNvSpPr txBox="1"/>
          <p:nvPr/>
        </p:nvSpPr>
        <p:spPr>
          <a:xfrm>
            <a:off x="476504" y="614647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背压期间保持决定，避免重复入队</a:t>
            </a:r>
          </a:p>
        </p:txBody>
      </p:sp>
      <p:sp>
        <p:nvSpPr>
          <p:cNvPr id="76" name="text-075: 内部 WLAST 握手后 FIFO 才推进"/>
          <p:cNvSpPr txBox="1"/>
          <p:nvPr/>
        </p:nvSpPr>
        <p:spPr>
          <a:xfrm>
            <a:off x="476504" y="6359835"/>
            <a:ext cx="2358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WLAST 握手后 FIFO 才推进</a:t>
            </a:r>
          </a:p>
        </p:txBody>
      </p:sp>
      <p:sp>
        <p:nvSpPr>
          <p:cNvPr id="77" name="rect-076"/>
          <p:cNvSpPr/>
          <p:nvPr/>
        </p:nvSpPr>
        <p:spPr>
          <a:xfrm>
            <a:off x="4373880" y="5618480"/>
            <a:ext cx="373380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-077"/>
          <p:cNvSpPr/>
          <p:nvPr/>
        </p:nvSpPr>
        <p:spPr>
          <a:xfrm>
            <a:off x="4373880" y="56184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8: ② 最后 W ≠ 写响应完成"/>
          <p:cNvSpPr txBox="1"/>
          <p:nvPr/>
        </p:nvSpPr>
        <p:spPr>
          <a:xfrm>
            <a:off x="4494784" y="5646359"/>
            <a:ext cx="21913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最后 W ≠ 写响应完成</a:t>
            </a:r>
          </a:p>
        </p:txBody>
      </p:sp>
      <p:sp>
        <p:nvSpPr>
          <p:cNvPr id="80" name="text-079: B 握手释放写 ID 计数"/>
          <p:cNvSpPr txBox="1"/>
          <p:nvPr/>
        </p:nvSpPr>
        <p:spPr>
          <a:xfrm>
            <a:off x="4494784" y="5933115"/>
            <a:ext cx="1633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握手释放写 ID 计数</a:t>
            </a:r>
          </a:p>
        </p:txBody>
      </p:sp>
      <p:sp>
        <p:nvSpPr>
          <p:cNvPr id="81" name="text-080: 最后 R 握手释放读 ID 计数"/>
          <p:cNvSpPr txBox="1"/>
          <p:nvPr/>
        </p:nvSpPr>
        <p:spPr>
          <a:xfrm>
            <a:off x="4494784" y="6146475"/>
            <a:ext cx="199292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最后 R 握手释放读 ID 计数</a:t>
            </a:r>
          </a:p>
        </p:txBody>
      </p:sp>
      <p:sp>
        <p:nvSpPr>
          <p:cNvPr id="82" name="text-081: 同 ID 跨目标须等原事务释放"/>
          <p:cNvSpPr txBox="1"/>
          <p:nvPr/>
        </p:nvSpPr>
        <p:spPr>
          <a:xfrm>
            <a:off x="4494784" y="6359835"/>
            <a:ext cx="211516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 ID 跨目标须等原事务释放</a:t>
            </a:r>
          </a:p>
        </p:txBody>
      </p:sp>
      <p:sp>
        <p:nvSpPr>
          <p:cNvPr id="83" name="rect-082"/>
          <p:cNvSpPr/>
          <p:nvPr/>
        </p:nvSpPr>
        <p:spPr>
          <a:xfrm>
            <a:off x="8392160" y="5618480"/>
            <a:ext cx="391160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-083"/>
          <p:cNvSpPr/>
          <p:nvPr/>
        </p:nvSpPr>
        <p:spPr>
          <a:xfrm>
            <a:off x="8392160" y="56184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③ B / R 按 ID 来源前缀返回"/>
          <p:cNvSpPr txBox="1"/>
          <p:nvPr/>
        </p:nvSpPr>
        <p:spPr>
          <a:xfrm>
            <a:off x="8513064" y="5646359"/>
            <a:ext cx="249183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B / R 按 ID 来源前缀返回</a:t>
            </a:r>
          </a:p>
        </p:txBody>
      </p:sp>
      <p:sp>
        <p:nvSpPr>
          <p:cNvPr id="86" name="text-085: I0/id01 → 001；I1/id01 → 101"/>
          <p:cNvSpPr txBox="1"/>
          <p:nvPr/>
        </p:nvSpPr>
        <p:spPr>
          <a:xfrm>
            <a:off x="8513064" y="5933115"/>
            <a:ext cx="24267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I0/id01 → 001；I1/id01 → 101</a:t>
            </a:r>
          </a:p>
        </p:txBody>
      </p:sp>
      <p:sp>
        <p:nvSpPr>
          <p:cNvPr id="87" name="text-086: 返回时按前缀选来源，再去前缀"/>
          <p:cNvSpPr txBox="1"/>
          <p:nvPr/>
        </p:nvSpPr>
        <p:spPr>
          <a:xfrm>
            <a:off x="8513064" y="61464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返回时按前缀选来源，再去前缀</a:t>
            </a:r>
          </a:p>
        </p:txBody>
      </p:sp>
      <p:sp>
        <p:nvSpPr>
          <p:cNvPr id="88" name="text-087: 端口 cut 使内外握手不必同周期"/>
          <p:cNvSpPr txBox="1"/>
          <p:nvPr/>
        </p:nvSpPr>
        <p:spPr>
          <a:xfrm>
            <a:off x="8513064" y="6359835"/>
            <a:ext cx="2337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端口 cut 使内外握手不必同周期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51280"/>
            <a:ext cx="5298440" cy="5547360"/>
          </a:xfrm>
          <a:prstGeom prst="roundRect">
            <a:avLst>
              <a:gd name="adj" fmla="val 161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351280"/>
            <a:ext cx="5369560" cy="5547360"/>
          </a:xfrm>
          <a:prstGeom prst="roundRect">
            <a:avLst>
              <a:gd name="adj" fmla="val 1589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04038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00482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725660" y="275945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0100" y="29728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04038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300482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393293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1462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304038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300482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725660" y="5106416"/>
            <a:ext cx="1" cy="298704"/>
          </a:xfrm>
          <a:custGeom>
            <a:avLst/>
            <a:gdLst/>
            <a:ahLst/>
            <a:cxnLst/>
            <a:rect l="0" t="0" r="r" b="b"/>
            <a:pathLst>
              <a:path w="1" h="298704">
                <a:moveTo>
                  <a:pt x="0" y="0"/>
                </a:moveTo>
                <a:lnTo>
                  <a:pt x="0" y="298704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690100" y="53197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19"/>
          <p:cNvSpPr/>
          <p:nvPr/>
        </p:nvSpPr>
        <p:spPr>
          <a:xfrm>
            <a:off x="5476240" y="3495548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7168896" y="345998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5476240" y="3733800"/>
            <a:ext cx="1778000" cy="938784"/>
          </a:xfrm>
          <a:custGeom>
            <a:avLst/>
            <a:gdLst/>
            <a:ahLst/>
            <a:cxnLst/>
            <a:rect l="0" t="0" r="r" b="b"/>
            <a:pathLst>
              <a:path w="1778000" h="938784">
                <a:moveTo>
                  <a:pt x="0" y="935228"/>
                </a:moveTo>
                <a:lnTo>
                  <a:pt x="817880" y="938784"/>
                </a:lnTo>
                <a:lnTo>
                  <a:pt x="817880" y="0"/>
                </a:lnTo>
                <a:lnTo>
                  <a:pt x="1778000" y="6685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7168683" y="3704356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6129"/>
                </a:moveTo>
                <a:lnTo>
                  <a:pt x="498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3"/>
          <p:cNvSpPr/>
          <p:nvPr/>
        </p:nvSpPr>
        <p:spPr>
          <a:xfrm>
            <a:off x="5476240" y="4669028"/>
            <a:ext cx="1778000" cy="1020572"/>
          </a:xfrm>
          <a:custGeom>
            <a:avLst/>
            <a:gdLst/>
            <a:ahLst/>
            <a:cxnLst/>
            <a:rect l="0" t="0" r="r" b="b"/>
            <a:pathLst>
              <a:path w="1778000" h="1020572">
                <a:moveTo>
                  <a:pt x="0" y="1016020"/>
                </a:moveTo>
                <a:lnTo>
                  <a:pt x="1244600" y="1020572"/>
                </a:lnTo>
                <a:lnTo>
                  <a:pt x="1244600" y="3556"/>
                </a:lnTo>
                <a:lnTo>
                  <a:pt x="17780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7168683" y="4634037"/>
            <a:ext cx="85557" cy="71120"/>
          </a:xfrm>
          <a:custGeom>
            <a:avLst/>
            <a:gdLst/>
            <a:ahLst/>
            <a:cxnLst/>
            <a:rect l="0" t="0" r="r" b="b"/>
            <a:pathLst>
              <a:path w="85557" h="71120">
                <a:moveTo>
                  <a:pt x="85557" y="34991"/>
                </a:moveTo>
                <a:lnTo>
                  <a:pt x="0" y="0"/>
                </a:lnTo>
                <a:lnTo>
                  <a:pt x="427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5"/>
          <p:cNvSpPr/>
          <p:nvPr/>
        </p:nvSpPr>
        <p:spPr>
          <a:xfrm>
            <a:off x="5476240" y="6131184"/>
            <a:ext cx="1778000" cy="1"/>
          </a:xfrm>
          <a:custGeom>
            <a:avLst/>
            <a:gdLst/>
            <a:ahLst/>
            <a:cxnLst/>
            <a:rect l="0" t="0" r="r" b="b"/>
            <a:pathLst>
              <a:path w="1778000" h="1">
                <a:moveTo>
                  <a:pt x="17780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gon-026"/>
          <p:cNvSpPr/>
          <p:nvPr/>
        </p:nvSpPr>
        <p:spPr>
          <a:xfrm>
            <a:off x="5476240" y="609562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JTAG 直接装载：主机与目标两条时间线如何汇合"/>
          <p:cNvSpPr txBox="1"/>
          <p:nvPr/>
        </p:nvSpPr>
        <p:spPr>
          <a:xfrm>
            <a:off x="483616" y="271109"/>
            <a:ext cx="57397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JTAG 直接装载：主机与目标两条时间线如何汇合</a:t>
            </a:r>
          </a:p>
        </p:txBody>
      </p:sp>
      <p:sp>
        <p:nvSpPr>
          <p:cNvPr id="29" name="text-028: 当前保留内部 LLC 的启动基线；VIP 只检查指定配置位，不能由此推断栈和 R"/>
          <p:cNvSpPr txBox="1"/>
          <p:nvPr/>
        </p:nvSpPr>
        <p:spPr>
          <a:xfrm>
            <a:off x="483616" y="676778"/>
            <a:ext cx="67906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当前保留内部 LLC 的启动基线；VIP 只检查指定配置位，不能由此推断栈和 ROM C 已完成。</a:t>
            </a:r>
          </a:p>
        </p:txBody>
      </p:sp>
      <p:sp>
        <p:nvSpPr>
          <p:cNvPr id="30" name="text-02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31" name="text-030: 源码：hw/bootrom；sw/lib/crt0.S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源码：hw/bootrom；sw/lib/crt0.S；elfloader.cpp；vip_cheshire_soc.sv</a:t>
            </a:r>
          </a:p>
        </p:txBody>
      </p:sp>
      <p:sp>
        <p:nvSpPr>
          <p:cNvPr id="32" name="text-031: 主机：构建器 / TB / JTAG VIP"/>
          <p:cNvSpPr txBox="1"/>
          <p:nvPr/>
        </p:nvSpPr>
        <p:spPr>
          <a:xfrm>
            <a:off x="519176" y="1408176"/>
            <a:ext cx="2516648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主机：构建器 / TB / JTAG VIP</a:t>
            </a:r>
          </a:p>
        </p:txBody>
      </p:sp>
      <p:sp>
        <p:nvSpPr>
          <p:cNvPr id="33" name="text-032: 目标：ROM / 存储 / 应用"/>
          <p:cNvSpPr txBox="1"/>
          <p:nvPr/>
        </p:nvSpPr>
        <p:spPr>
          <a:xfrm>
            <a:off x="7168896" y="1408176"/>
            <a:ext cx="219334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目标：ROM / 存储 / 应用</a:t>
            </a:r>
          </a:p>
        </p:txBody>
      </p:sp>
      <p:sp>
        <p:nvSpPr>
          <p:cNvPr id="34" name="rect-033"/>
          <p:cNvSpPr/>
          <p:nvPr/>
        </p:nvSpPr>
        <p:spPr>
          <a:xfrm>
            <a:off x="604520" y="188468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04520" y="188468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ELF 与链接信息"/>
          <p:cNvSpPr txBox="1"/>
          <p:nvPr/>
        </p:nvSpPr>
        <p:spPr>
          <a:xfrm>
            <a:off x="725424" y="1912559"/>
            <a:ext cx="144950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与链接信息</a:t>
            </a:r>
          </a:p>
        </p:txBody>
      </p:sp>
      <p:sp>
        <p:nvSpPr>
          <p:cNvPr id="37" name="text-036: 构建字节、入口、PT_LOAD"/>
          <p:cNvSpPr txBox="1"/>
          <p:nvPr/>
        </p:nvSpPr>
        <p:spPr>
          <a:xfrm>
            <a:off x="725424" y="2191634"/>
            <a:ext cx="2116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构建字节、入口、PT_LOAD</a:t>
            </a:r>
          </a:p>
        </p:txBody>
      </p:sp>
      <p:sp>
        <p:nvSpPr>
          <p:cNvPr id="38" name="text-037: map / dump 用于静态核对"/>
          <p:cNvSpPr txBox="1"/>
          <p:nvPr/>
        </p:nvSpPr>
        <p:spPr>
          <a:xfrm>
            <a:off x="725424" y="2404994"/>
            <a:ext cx="20860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 / dump 用于静态核对</a:t>
            </a:r>
          </a:p>
        </p:txBody>
      </p:sp>
      <p:sp>
        <p:nvSpPr>
          <p:cNvPr id="39" name="rect-038"/>
          <p:cNvSpPr/>
          <p:nvPr/>
        </p:nvSpPr>
        <p:spPr>
          <a:xfrm>
            <a:off x="7254240" y="188468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7254240" y="188468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复位 PC → Boot ROM"/>
          <p:cNvSpPr txBox="1"/>
          <p:nvPr/>
        </p:nvSpPr>
        <p:spPr>
          <a:xfrm>
            <a:off x="7375144" y="191255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2" name="text-041: 内部 LLC 存在：BIST / SPM 配置"/>
          <p:cNvSpPr txBox="1"/>
          <p:nvPr/>
        </p:nvSpPr>
        <p:spPr>
          <a:xfrm>
            <a:off x="7375144" y="2191634"/>
            <a:ext cx="255733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内部 LLC 存在：BIST / SPM 配置</a:t>
            </a:r>
          </a:p>
        </p:txBody>
      </p:sp>
      <p:sp>
        <p:nvSpPr>
          <p:cNvPr id="43" name="text-042: 按容量调整栈是独立步骤"/>
          <p:cNvSpPr txBox="1"/>
          <p:nvPr/>
        </p:nvSpPr>
        <p:spPr>
          <a:xfrm>
            <a:off x="7375144" y="240499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按容量调整栈是独立步骤</a:t>
            </a:r>
          </a:p>
        </p:txBody>
      </p:sp>
      <p:sp>
        <p:nvSpPr>
          <p:cNvPr id="44" name="rect-043"/>
          <p:cNvSpPr/>
          <p:nvPr/>
        </p:nvSpPr>
        <p:spPr>
          <a:xfrm>
            <a:off x="604520" y="305816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604520" y="305816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VIP 检查 SPM 配置位"/>
          <p:cNvSpPr txBox="1"/>
          <p:nvPr/>
        </p:nvSpPr>
        <p:spPr>
          <a:xfrm>
            <a:off x="725424" y="3086039"/>
            <a:ext cx="19002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VIP 检查 SPM 配置位</a:t>
            </a:r>
          </a:p>
        </p:txBody>
      </p:sp>
      <p:sp>
        <p:nvSpPr>
          <p:cNvPr id="47" name="text-046: CFG_SPM_LOW.bit0"/>
          <p:cNvSpPr txBox="1"/>
          <p:nvPr/>
        </p:nvSpPr>
        <p:spPr>
          <a:xfrm>
            <a:off x="725424" y="3365114"/>
            <a:ext cx="159184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CFG_SPM_LOW.bit0</a:t>
            </a:r>
          </a:p>
        </p:txBody>
      </p:sp>
      <p:sp>
        <p:nvSpPr>
          <p:cNvPr id="48" name="text-047: 随后请求调试 halt"/>
          <p:cNvSpPr txBox="1"/>
          <p:nvPr/>
        </p:nvSpPr>
        <p:spPr>
          <a:xfrm>
            <a:off x="725424" y="3578474"/>
            <a:ext cx="14618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随后请求调试 halt</a:t>
            </a:r>
          </a:p>
        </p:txBody>
      </p:sp>
      <p:sp>
        <p:nvSpPr>
          <p:cNvPr id="49" name="rect-048"/>
          <p:cNvSpPr/>
          <p:nvPr/>
        </p:nvSpPr>
        <p:spPr>
          <a:xfrm>
            <a:off x="7254240" y="305816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7254240" y="305816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CPU 进入调试暂停"/>
          <p:cNvSpPr txBox="1"/>
          <p:nvPr/>
        </p:nvSpPr>
        <p:spPr>
          <a:xfrm>
            <a:off x="7375144" y="308603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进入调试暂停</a:t>
            </a:r>
          </a:p>
        </p:txBody>
      </p:sp>
      <p:sp>
        <p:nvSpPr>
          <p:cNvPr id="52" name="text-051: 暂停不自动证明 sp 有效"/>
          <p:cNvSpPr txBox="1"/>
          <p:nvPr/>
        </p:nvSpPr>
        <p:spPr>
          <a:xfrm>
            <a:off x="7375144" y="3365114"/>
            <a:ext cx="1907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暂停不自动证明 sp 有效</a:t>
            </a:r>
          </a:p>
        </p:txBody>
      </p:sp>
      <p:sp>
        <p:nvSpPr>
          <p:cNvPr id="53" name="text-052: 核对 PC / sp；SBA 写入段"/>
          <p:cNvSpPr txBox="1"/>
          <p:nvPr/>
        </p:nvSpPr>
        <p:spPr>
          <a:xfrm>
            <a:off x="7375144" y="3578474"/>
            <a:ext cx="20862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核对 PC / sp；SBA 写入段</a:t>
            </a:r>
          </a:p>
        </p:txBody>
      </p:sp>
      <p:sp>
        <p:nvSpPr>
          <p:cNvPr id="54" name="rect-053"/>
          <p:cNvSpPr/>
          <p:nvPr/>
        </p:nvSpPr>
        <p:spPr>
          <a:xfrm>
            <a:off x="604520" y="423164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604520" y="423164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halt → SBA 写装载段"/>
          <p:cNvSpPr txBox="1"/>
          <p:nvPr/>
        </p:nvSpPr>
        <p:spPr>
          <a:xfrm>
            <a:off x="725424" y="4259519"/>
            <a:ext cx="191089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 → SBA 写装载段</a:t>
            </a:r>
          </a:p>
        </p:txBody>
      </p:sp>
      <p:sp>
        <p:nvSpPr>
          <p:cNvPr id="57" name="text-056: 目标存储须可写"/>
          <p:cNvSpPr txBox="1"/>
          <p:nvPr/>
        </p:nvSpPr>
        <p:spPr>
          <a:xfrm>
            <a:off x="725424" y="45385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目标存储须可写</a:t>
            </a:r>
          </a:p>
        </p:txBody>
      </p:sp>
      <p:sp>
        <p:nvSpPr>
          <p:cNvPr id="58" name="text-057: 按装载规则处理初值与零区"/>
          <p:cNvSpPr txBox="1"/>
          <p:nvPr/>
        </p:nvSpPr>
        <p:spPr>
          <a:xfrm>
            <a:off x="725424" y="4751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按装载规则处理初值与零区</a:t>
            </a:r>
          </a:p>
        </p:txBody>
      </p:sp>
      <p:sp>
        <p:nvSpPr>
          <p:cNvPr id="59" name="rect-058"/>
          <p:cNvSpPr/>
          <p:nvPr/>
        </p:nvSpPr>
        <p:spPr>
          <a:xfrm>
            <a:off x="7254240" y="423164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-059"/>
          <p:cNvSpPr/>
          <p:nvPr/>
        </p:nvSpPr>
        <p:spPr>
          <a:xfrm>
            <a:off x="7254240" y="423164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0: 应用 _start / crt0"/>
          <p:cNvSpPr txBox="1"/>
          <p:nvPr/>
        </p:nvSpPr>
        <p:spPr>
          <a:xfrm>
            <a:off x="7375144" y="4259519"/>
            <a:ext cx="16001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应用 _start / crt0</a:t>
            </a:r>
          </a:p>
        </p:txBody>
      </p:sp>
      <p:sp>
        <p:nvSpPr>
          <p:cNvPr id="62" name="text-061: 继承有效栈；gp / BSS / FS"/>
          <p:cNvSpPr txBox="1"/>
          <p:nvPr/>
        </p:nvSpPr>
        <p:spPr>
          <a:xfrm>
            <a:off x="7375144" y="4538594"/>
            <a:ext cx="21646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继承有效栈；gp / BSS / FS</a:t>
            </a:r>
          </a:p>
        </p:txBody>
      </p:sp>
      <p:sp>
        <p:nvSpPr>
          <p:cNvPr id="63" name="text-062: 向量入口另正确设置 VS"/>
          <p:cNvSpPr txBox="1"/>
          <p:nvPr/>
        </p:nvSpPr>
        <p:spPr>
          <a:xfrm>
            <a:off x="7375144" y="4751954"/>
            <a:ext cx="18776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向量入口另正确设置 VS</a:t>
            </a:r>
          </a:p>
        </p:txBody>
      </p:sp>
      <p:sp>
        <p:nvSpPr>
          <p:cNvPr id="64" name="rect-063"/>
          <p:cNvSpPr/>
          <p:nvPr/>
        </p:nvSpPr>
        <p:spPr>
          <a:xfrm>
            <a:off x="604520" y="5405120"/>
            <a:ext cx="4871720" cy="874776"/>
          </a:xfrm>
          <a:prstGeom prst="roundRect">
            <a:avLst>
              <a:gd name="adj" fmla="val 5691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604520" y="5405120"/>
            <a:ext cx="35560" cy="87477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设置 DPC = ELF entry"/>
          <p:cNvSpPr txBox="1"/>
          <p:nvPr/>
        </p:nvSpPr>
        <p:spPr>
          <a:xfrm>
            <a:off x="725424" y="5432999"/>
            <a:ext cx="19069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设置 DPC = ELF entry</a:t>
            </a:r>
          </a:p>
        </p:txBody>
      </p:sp>
      <p:sp>
        <p:nvSpPr>
          <p:cNvPr id="67" name="text-066: resume 后观察 UART / 状态"/>
          <p:cNvSpPr txBox="1"/>
          <p:nvPr/>
        </p:nvSpPr>
        <p:spPr>
          <a:xfrm>
            <a:off x="725424" y="5712074"/>
            <a:ext cx="21776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resume 后观察 UART / 状态</a:t>
            </a:r>
          </a:p>
        </p:txBody>
      </p:sp>
      <p:sp>
        <p:nvSpPr>
          <p:cNvPr id="68" name="text-067: 逐项结果与返回码共同判定"/>
          <p:cNvSpPr txBox="1"/>
          <p:nvPr/>
        </p:nvSpPr>
        <p:spPr>
          <a:xfrm>
            <a:off x="725424" y="592543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逐项结果与返回码共同判定</a:t>
            </a:r>
          </a:p>
        </p:txBody>
      </p:sp>
      <p:sp>
        <p:nvSpPr>
          <p:cNvPr id="69" name="rect-068"/>
          <p:cNvSpPr/>
          <p:nvPr/>
        </p:nvSpPr>
        <p:spPr>
          <a:xfrm>
            <a:off x="7254240" y="5405120"/>
            <a:ext cx="4942840" cy="874776"/>
          </a:xfrm>
          <a:prstGeom prst="roundRect">
            <a:avLst>
              <a:gd name="adj" fmla="val 5691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-069"/>
          <p:cNvSpPr/>
          <p:nvPr/>
        </p:nvSpPr>
        <p:spPr>
          <a:xfrm>
            <a:off x="7254240" y="5405120"/>
            <a:ext cx="35560" cy="87477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0: main 与退出状态"/>
          <p:cNvSpPr txBox="1"/>
          <p:nvPr/>
        </p:nvSpPr>
        <p:spPr>
          <a:xfrm>
            <a:off x="7375144" y="5432999"/>
            <a:ext cx="15600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main 与退出状态</a:t>
            </a:r>
          </a:p>
        </p:txBody>
      </p:sp>
      <p:sp>
        <p:nvSpPr>
          <p:cNvPr id="72" name="text-071: 计算 / MMIO / UART"/>
          <p:cNvSpPr txBox="1"/>
          <p:nvPr/>
        </p:nvSpPr>
        <p:spPr>
          <a:xfrm>
            <a:off x="7375144" y="5712074"/>
            <a:ext cx="165447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计算 / MMIO / UART</a:t>
            </a:r>
          </a:p>
        </p:txBody>
      </p:sp>
      <p:sp>
        <p:nvSpPr>
          <p:cNvPr id="73" name="text-072: scratch2=(code&lt;&lt;1)|1；crt0 ret"/>
          <p:cNvSpPr txBox="1"/>
          <p:nvPr/>
        </p:nvSpPr>
        <p:spPr>
          <a:xfrm>
            <a:off x="7375144" y="5925434"/>
            <a:ext cx="244453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scratch2=(code&lt;&lt;1)|1；crt0 ret</a:t>
            </a:r>
          </a:p>
        </p:txBody>
      </p:sp>
      <p:sp>
        <p:nvSpPr>
          <p:cNvPr id="74" name="text-073: halt"/>
          <p:cNvSpPr txBox="1"/>
          <p:nvPr/>
        </p:nvSpPr>
        <p:spPr>
          <a:xfrm>
            <a:off x="5760720" y="3124444"/>
            <a:ext cx="39380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halt</a:t>
            </a:r>
          </a:p>
        </p:txBody>
      </p:sp>
      <p:sp>
        <p:nvSpPr>
          <p:cNvPr id="75" name="text-074: 段字节"/>
          <p:cNvSpPr txBox="1"/>
          <p:nvPr/>
        </p:nvSpPr>
        <p:spPr>
          <a:xfrm>
            <a:off x="5760720" y="4283700"/>
            <a:ext cx="5974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76" name="text-075: resume"/>
          <p:cNvSpPr txBox="1"/>
          <p:nvPr/>
        </p:nvSpPr>
        <p:spPr>
          <a:xfrm>
            <a:off x="5732272" y="5243820"/>
            <a:ext cx="63854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resume</a:t>
            </a:r>
          </a:p>
        </p:txBody>
      </p:sp>
      <p:sp>
        <p:nvSpPr>
          <p:cNvPr id="77" name="text-076: 结果"/>
          <p:cNvSpPr txBox="1"/>
          <p:nvPr/>
        </p:nvSpPr>
        <p:spPr>
          <a:xfrm>
            <a:off x="5760720" y="5848340"/>
            <a:ext cx="448056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结果</a:t>
            </a:r>
          </a:p>
        </p:txBody>
      </p:sp>
      <p:sp>
        <p:nvSpPr>
          <p:cNvPr id="78" name="text-077: 无内部 LLC：平台另供首次栈访问前的存储与有效 sp。Bootrom=0：平台"/>
          <p:cNvSpPr txBox="1"/>
          <p:nvPr/>
        </p:nvSpPr>
        <p:spPr>
          <a:xfrm>
            <a:off x="462280" y="7034337"/>
            <a:ext cx="719806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无内部 LLC：平台另供首次栈访问前的存储与有效 sp。Bootrom=0：平台承担第一阶段启动。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02260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343509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15188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56437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9281160" y="222250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9693656" y="21869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373380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471525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8143240" y="481838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124696" y="47828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471920" y="2809240"/>
            <a:ext cx="4622800" cy="1386840"/>
          </a:xfrm>
          <a:custGeom>
            <a:avLst/>
            <a:gdLst/>
            <a:ahLst/>
            <a:cxnLst/>
            <a:rect l="0" t="0" r="r" b="b"/>
            <a:pathLst>
              <a:path w="4622800" h="1386840">
                <a:moveTo>
                  <a:pt x="4622800" y="0"/>
                </a:moveTo>
                <a:lnTo>
                  <a:pt x="4622800" y="568960"/>
                </a:lnTo>
                <a:lnTo>
                  <a:pt x="0" y="568960"/>
                </a:lnTo>
                <a:lnTo>
                  <a:pt x="0" y="138684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36360" y="4110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主机上的构建产物：每个文件回答不同问题"/>
          <p:cNvSpPr txBox="1"/>
          <p:nvPr/>
        </p:nvSpPr>
        <p:spPr>
          <a:xfrm>
            <a:off x="483616" y="271109"/>
            <a:ext cx="51206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主机上的构建产物：每个文件回答不同问题</a:t>
            </a:r>
          </a:p>
        </p:txBody>
      </p:sp>
      <p:sp>
        <p:nvSpPr>
          <p:cNvPr id="19" name="text-018: C / 汇编是程序描述；目标文件保存编码与重定位；ELF 将符号解析与内存布局落"/>
          <p:cNvSpPr txBox="1"/>
          <p:nvPr/>
        </p:nvSpPr>
        <p:spPr>
          <a:xfrm>
            <a:off x="483616" y="676778"/>
            <a:ext cx="63103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 / 汇编是程序描述；目标文件保存编码与重定位；ELF 将符号解析与内存布局落实。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sw/sw.mk；sw/lib/crt0.S；当前链接脚本与教材 jour"/>
          <p:cNvSpPr txBox="1"/>
          <p:nvPr/>
        </p:nvSpPr>
        <p:spPr>
          <a:xfrm>
            <a:off x="341376" y="7726477"/>
            <a:ext cx="470581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依据：sw/sw.mk；sw/lib/crt0.S；当前链接脚本与教材 journey 构建入口</a:t>
            </a:r>
          </a:p>
        </p:txBody>
      </p:sp>
      <p:sp>
        <p:nvSpPr>
          <p:cNvPr id="22" name="rect-021"/>
          <p:cNvSpPr/>
          <p:nvPr/>
        </p:nvSpPr>
        <p:spPr>
          <a:xfrm>
            <a:off x="39116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9116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journey.c"/>
          <p:cNvSpPr txBox="1"/>
          <p:nvPr/>
        </p:nvSpPr>
        <p:spPr>
          <a:xfrm>
            <a:off x="512064" y="1663639"/>
            <a:ext cx="9050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journey.c</a:t>
            </a:r>
          </a:p>
        </p:txBody>
      </p:sp>
      <p:sp>
        <p:nvSpPr>
          <p:cNvPr id="25" name="text-024: 算法与结果校验"/>
          <p:cNvSpPr txBox="1"/>
          <p:nvPr/>
        </p:nvSpPr>
        <p:spPr>
          <a:xfrm>
            <a:off x="512064" y="194271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算法与结果校验</a:t>
            </a:r>
          </a:p>
        </p:txBody>
      </p:sp>
      <p:sp>
        <p:nvSpPr>
          <p:cNvPr id="26" name="text-025: 源程序"/>
          <p:cNvSpPr txBox="1"/>
          <p:nvPr/>
        </p:nvSpPr>
        <p:spPr>
          <a:xfrm>
            <a:off x="512064" y="215607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源程序</a:t>
            </a:r>
          </a:p>
        </p:txBody>
      </p:sp>
      <p:sp>
        <p:nvSpPr>
          <p:cNvPr id="27" name="rect-026"/>
          <p:cNvSpPr/>
          <p:nvPr/>
        </p:nvSpPr>
        <p:spPr>
          <a:xfrm>
            <a:off x="352044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352044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journey.i"/>
          <p:cNvSpPr txBox="1"/>
          <p:nvPr/>
        </p:nvSpPr>
        <p:spPr>
          <a:xfrm>
            <a:off x="3641344" y="1663639"/>
            <a:ext cx="8606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journey.i</a:t>
            </a:r>
          </a:p>
        </p:txBody>
      </p:sp>
      <p:sp>
        <p:nvSpPr>
          <p:cNvPr id="30" name="text-029: 宏展开、包含头文件"/>
          <p:cNvSpPr txBox="1"/>
          <p:nvPr/>
        </p:nvSpPr>
        <p:spPr>
          <a:xfrm>
            <a:off x="364134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宏展开、包含头文件</a:t>
            </a:r>
          </a:p>
        </p:txBody>
      </p:sp>
      <p:sp>
        <p:nvSpPr>
          <p:cNvPr id="31" name="text-030: 预处理结果"/>
          <p:cNvSpPr txBox="1"/>
          <p:nvPr/>
        </p:nvSpPr>
        <p:spPr>
          <a:xfrm>
            <a:off x="3641344" y="2156074"/>
            <a:ext cx="9814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预处理结果</a:t>
            </a:r>
          </a:p>
        </p:txBody>
      </p:sp>
      <p:sp>
        <p:nvSpPr>
          <p:cNvPr id="32" name="rect-031"/>
          <p:cNvSpPr/>
          <p:nvPr/>
        </p:nvSpPr>
        <p:spPr>
          <a:xfrm>
            <a:off x="664972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664972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journey.s"/>
          <p:cNvSpPr txBox="1"/>
          <p:nvPr/>
        </p:nvSpPr>
        <p:spPr>
          <a:xfrm>
            <a:off x="6770624" y="1663639"/>
            <a:ext cx="91247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</a:t>
            </a:r>
          </a:p>
        </p:txBody>
      </p:sp>
      <p:sp>
        <p:nvSpPr>
          <p:cNvPr id="35" name="text-034: 选定 ISA 的指令序列"/>
          <p:cNvSpPr txBox="1"/>
          <p:nvPr/>
        </p:nvSpPr>
        <p:spPr>
          <a:xfrm>
            <a:off x="6770624" y="1942714"/>
            <a:ext cx="16419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选定 ISA 的指令序列</a:t>
            </a:r>
          </a:p>
        </p:txBody>
      </p:sp>
      <p:sp>
        <p:nvSpPr>
          <p:cNvPr id="36" name="text-035: 编译结果"/>
          <p:cNvSpPr txBox="1"/>
          <p:nvPr/>
        </p:nvSpPr>
        <p:spPr>
          <a:xfrm>
            <a:off x="677062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编译结果</a:t>
            </a:r>
          </a:p>
        </p:txBody>
      </p:sp>
      <p:sp>
        <p:nvSpPr>
          <p:cNvPr id="37" name="rect-036"/>
          <p:cNvSpPr/>
          <p:nvPr/>
        </p:nvSpPr>
        <p:spPr>
          <a:xfrm>
            <a:off x="9779000" y="1635760"/>
            <a:ext cx="2631440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779000" y="163576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journey.o"/>
          <p:cNvSpPr txBox="1"/>
          <p:nvPr/>
        </p:nvSpPr>
        <p:spPr>
          <a:xfrm>
            <a:off x="9899904" y="1663639"/>
            <a:ext cx="91608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journey.o</a:t>
            </a:r>
          </a:p>
        </p:txBody>
      </p:sp>
      <p:sp>
        <p:nvSpPr>
          <p:cNvPr id="40" name="text-039: 字节、符号、重定位"/>
          <p:cNvSpPr txBox="1"/>
          <p:nvPr/>
        </p:nvSpPr>
        <p:spPr>
          <a:xfrm>
            <a:off x="9899904" y="1942714"/>
            <a:ext cx="163576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字节、符号、重定位</a:t>
            </a:r>
          </a:p>
        </p:txBody>
      </p:sp>
      <p:sp>
        <p:nvSpPr>
          <p:cNvPr id="41" name="text-040: 汇编结果"/>
          <p:cNvSpPr txBox="1"/>
          <p:nvPr/>
        </p:nvSpPr>
        <p:spPr>
          <a:xfrm>
            <a:off x="9899904" y="215607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汇编结果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4196080"/>
            <a:ext cx="35560" cy="12446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t0.o + libsupport.a"/>
          <p:cNvSpPr txBox="1"/>
          <p:nvPr/>
        </p:nvSpPr>
        <p:spPr>
          <a:xfrm>
            <a:off x="512064" y="4223959"/>
            <a:ext cx="18356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crt0.o + libsupport.a</a:t>
            </a:r>
          </a:p>
        </p:txBody>
      </p:sp>
      <p:sp>
        <p:nvSpPr>
          <p:cNvPr id="45" name="text-044: 入口 / BSS / FS 初始化"/>
          <p:cNvSpPr txBox="1"/>
          <p:nvPr/>
        </p:nvSpPr>
        <p:spPr>
          <a:xfrm>
            <a:off x="512064" y="4495353"/>
            <a:ext cx="1961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入口 / BSS / FS 初始化</a:t>
            </a:r>
          </a:p>
        </p:txBody>
      </p:sp>
      <p:sp>
        <p:nvSpPr>
          <p:cNvPr id="46" name="text-045: UART / CLINT / printf 等实现"/>
          <p:cNvSpPr txBox="1"/>
          <p:nvPr/>
        </p:nvSpPr>
        <p:spPr>
          <a:xfrm>
            <a:off x="512064" y="4708713"/>
            <a:ext cx="23299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UART / CLINT / printf 等实现</a:t>
            </a:r>
          </a:p>
        </p:txBody>
      </p:sp>
      <p:sp>
        <p:nvSpPr>
          <p:cNvPr id="47" name="text-046: 库只提供被链接进程序的代码"/>
          <p:cNvSpPr txBox="1"/>
          <p:nvPr/>
        </p:nvSpPr>
        <p:spPr>
          <a:xfrm>
            <a:off x="51206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库只提供被链接进程序的代码</a:t>
            </a:r>
          </a:p>
        </p:txBody>
      </p:sp>
      <p:sp>
        <p:nvSpPr>
          <p:cNvPr id="48" name="rect-047"/>
          <p:cNvSpPr/>
          <p:nvPr/>
        </p:nvSpPr>
        <p:spPr>
          <a:xfrm>
            <a:off x="4800600" y="4196080"/>
            <a:ext cx="3342640" cy="1244600"/>
          </a:xfrm>
          <a:prstGeom prst="roundRect">
            <a:avLst>
              <a:gd name="adj" fmla="val 4000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4800600" y="4196080"/>
            <a:ext cx="35560" cy="12446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链接器 + .ld"/>
          <p:cNvSpPr txBox="1"/>
          <p:nvPr/>
        </p:nvSpPr>
        <p:spPr>
          <a:xfrm>
            <a:off x="4921504" y="4223959"/>
            <a:ext cx="11607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链接器 + .ld</a:t>
            </a:r>
          </a:p>
        </p:txBody>
      </p:sp>
      <p:sp>
        <p:nvSpPr>
          <p:cNvPr id="51" name="text-050: 解析符号与重定位"/>
          <p:cNvSpPr txBox="1"/>
          <p:nvPr/>
        </p:nvSpPr>
        <p:spPr>
          <a:xfrm>
            <a:off x="4921504" y="449535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解析符号与重定位</a:t>
            </a:r>
          </a:p>
        </p:txBody>
      </p:sp>
      <p:sp>
        <p:nvSpPr>
          <p:cNvPr id="52" name="text-051: 安排运行地址与装载段"/>
          <p:cNvSpPr txBox="1"/>
          <p:nvPr/>
        </p:nvSpPr>
        <p:spPr>
          <a:xfrm>
            <a:off x="4921504" y="4708713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安排运行地址与装载段</a:t>
            </a:r>
          </a:p>
        </p:txBody>
      </p:sp>
      <p:sp>
        <p:nvSpPr>
          <p:cNvPr id="53" name="text-052: 检查容量、对齐与段布局"/>
          <p:cNvSpPr txBox="1"/>
          <p:nvPr/>
        </p:nvSpPr>
        <p:spPr>
          <a:xfrm>
            <a:off x="4921504" y="49220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检查容量、对齐与段布局</a:t>
            </a:r>
          </a:p>
        </p:txBody>
      </p:sp>
      <p:sp>
        <p:nvSpPr>
          <p:cNvPr id="54" name="rect-053"/>
          <p:cNvSpPr/>
          <p:nvPr/>
        </p:nvSpPr>
        <p:spPr>
          <a:xfrm>
            <a:off x="9210040" y="4196080"/>
            <a:ext cx="3200400" cy="1244600"/>
          </a:xfrm>
          <a:prstGeom prst="roundRect">
            <a:avLst>
              <a:gd name="adj" fmla="val 40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210040" y="4196080"/>
            <a:ext cx="35560" cy="12446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journey.spm.elf"/>
          <p:cNvSpPr txBox="1"/>
          <p:nvPr/>
        </p:nvSpPr>
        <p:spPr>
          <a:xfrm>
            <a:off x="9330944" y="4223959"/>
            <a:ext cx="141845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journey.spm.elf</a:t>
            </a:r>
          </a:p>
        </p:txBody>
      </p:sp>
      <p:sp>
        <p:nvSpPr>
          <p:cNvPr id="57" name="text-056: e_entry：应用入口"/>
          <p:cNvSpPr txBox="1"/>
          <p:nvPr/>
        </p:nvSpPr>
        <p:spPr>
          <a:xfrm>
            <a:off x="9330944" y="4495353"/>
            <a:ext cx="15661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e_entry：应用入口</a:t>
            </a:r>
          </a:p>
        </p:txBody>
      </p:sp>
      <p:sp>
        <p:nvSpPr>
          <p:cNvPr id="58" name="text-057: PT_LOAD：装载段"/>
          <p:cNvSpPr txBox="1"/>
          <p:nvPr/>
        </p:nvSpPr>
        <p:spPr>
          <a:xfrm>
            <a:off x="9330944" y="4708713"/>
            <a:ext cx="15255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PT_LOAD：装载段</a:t>
            </a:r>
          </a:p>
        </p:txBody>
      </p:sp>
      <p:sp>
        <p:nvSpPr>
          <p:cNvPr id="59" name="text-058: 文件字节数与运行大小可不同"/>
          <p:cNvSpPr txBox="1"/>
          <p:nvPr/>
        </p:nvSpPr>
        <p:spPr>
          <a:xfrm>
            <a:off x="9330944" y="4922073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文件字节数与运行大小可不同</a:t>
            </a:r>
          </a:p>
        </p:txBody>
      </p:sp>
      <p:sp>
        <p:nvSpPr>
          <p:cNvPr id="60" name="rect-059"/>
          <p:cNvSpPr/>
          <p:nvPr/>
        </p:nvSpPr>
        <p:spPr>
          <a:xfrm>
            <a:off x="391160" y="629412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391160" y="6294120"/>
            <a:ext cx="35560" cy="85344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旁证文件与验收用途"/>
          <p:cNvSpPr txBox="1"/>
          <p:nvPr/>
        </p:nvSpPr>
        <p:spPr>
          <a:xfrm>
            <a:off x="512064" y="632199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旁证文件与验收用途</a:t>
            </a:r>
          </a:p>
        </p:txBody>
      </p:sp>
      <p:sp>
        <p:nvSpPr>
          <p:cNvPr id="63" name="text-062: map：段与符号来自哪里；nm：符号地址；dump：反汇编与静态指令。链接成功之"/>
          <p:cNvSpPr txBox="1"/>
          <p:nvPr/>
        </p:nvSpPr>
        <p:spPr>
          <a:xfrm>
            <a:off x="512064" y="6608755"/>
            <a:ext cx="80879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map：段与符号来自哪里；nm：符号地址；dump：反汇编与静态指令。链接成功之后仍须装载、执行和检查数值。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62280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8854440" y="1457960"/>
            <a:ext cx="3556000" cy="4622800"/>
          </a:xfrm>
          <a:prstGeom prst="roundRect">
            <a:avLst>
              <a:gd name="adj" fmla="val 2400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3769360" y="25247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4715256" y="24892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3769360" y="37693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4715256" y="3733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3769360" y="1315720"/>
            <a:ext cx="6863080" cy="3698240"/>
          </a:xfrm>
          <a:custGeom>
            <a:avLst/>
            <a:gdLst/>
            <a:ahLst/>
            <a:cxnLst/>
            <a:rect l="0" t="0" r="r" b="b"/>
            <a:pathLst>
              <a:path w="6863080" h="3698240">
                <a:moveTo>
                  <a:pt x="0" y="3698240"/>
                </a:moveTo>
                <a:lnTo>
                  <a:pt x="426720" y="3698240"/>
                </a:lnTo>
                <a:lnTo>
                  <a:pt x="426720" y="0"/>
                </a:lnTo>
                <a:lnTo>
                  <a:pt x="6863080" y="0"/>
                </a:lnTo>
                <a:lnTo>
                  <a:pt x="6863080" y="81788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596880" y="20482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配置何时生效：源码选择、展开结构与运行状态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配置何时生效：源码选择、展开结构与运行状态</a:t>
            </a:r>
          </a:p>
        </p:txBody>
      </p:sp>
      <p:sp>
        <p:nvSpPr>
          <p:cNvPr id="16" name="text-015: 同一个选项名可能属于不同阶段；软件写寄存器不能凭空增加 RTL 实例。"/>
          <p:cNvSpPr txBox="1"/>
          <p:nvPr/>
        </p:nvSpPr>
        <p:spPr>
          <a:xfrm>
            <a:off x="483616" y="676778"/>
            <a:ext cx="54337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同一个选项名可能属于不同阶段；软件写寄存器不能凭空增加 RTL 实例。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.mk；cheshire_pkg；gen_cva6_cfg"/>
          <p:cNvSpPr txBox="1"/>
          <p:nvPr/>
        </p:nvSpPr>
        <p:spPr>
          <a:xfrm>
            <a:off x="341376" y="7726477"/>
            <a:ext cx="4053507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源码：cheshire.mk；cheshire_pkg；gen_cva6_cfg；sw/sw.mk</a:t>
            </a:r>
          </a:p>
        </p:txBody>
      </p:sp>
      <p:sp>
        <p:nvSpPr>
          <p:cNvPr id="19" name="text-018: 构建输入"/>
          <p:cNvSpPr txBox="1"/>
          <p:nvPr/>
        </p:nvSpPr>
        <p:spPr>
          <a:xfrm>
            <a:off x="519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构建输入</a:t>
            </a:r>
          </a:p>
        </p:txBody>
      </p:sp>
      <p:sp>
        <p:nvSpPr>
          <p:cNvPr id="20" name="text-019: 展开后的硬件"/>
          <p:cNvSpPr txBox="1"/>
          <p:nvPr/>
        </p:nvSpPr>
        <p:spPr>
          <a:xfrm>
            <a:off x="4750816" y="1514856"/>
            <a:ext cx="12446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展开后的硬件</a:t>
            </a:r>
          </a:p>
        </p:txBody>
      </p:sp>
      <p:sp>
        <p:nvSpPr>
          <p:cNvPr id="21" name="text-020: 程序与运行状态"/>
          <p:cNvSpPr txBox="1"/>
          <p:nvPr/>
        </p:nvSpPr>
        <p:spPr>
          <a:xfrm>
            <a:off x="8982456" y="151485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程序与运行状态</a:t>
            </a:r>
          </a:p>
        </p:txBody>
      </p:sp>
      <p:sp>
        <p:nvSpPr>
          <p:cNvPr id="22" name="rect-021"/>
          <p:cNvSpPr/>
          <p:nvPr/>
        </p:nvSpPr>
        <p:spPr>
          <a:xfrm>
            <a:off x="56896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568960" y="21336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CPU profile / 宏 / targets"/>
          <p:cNvSpPr txBox="1"/>
          <p:nvPr/>
        </p:nvSpPr>
        <p:spPr>
          <a:xfrm>
            <a:off x="689864" y="2161479"/>
            <a:ext cx="22424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profile / 宏 / targets</a:t>
            </a:r>
          </a:p>
        </p:txBody>
      </p:sp>
      <p:sp>
        <p:nvSpPr>
          <p:cNvPr id="25" name="rect-024"/>
          <p:cNvSpPr/>
          <p:nvPr/>
        </p:nvSpPr>
        <p:spPr>
          <a:xfrm>
            <a:off x="56896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568960" y="33782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oC Cfg 与 Ara lanes / VLEN"/>
          <p:cNvSpPr txBox="1"/>
          <p:nvPr/>
        </p:nvSpPr>
        <p:spPr>
          <a:xfrm>
            <a:off x="689864" y="3406079"/>
            <a:ext cx="251241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SoC Cfg 与 Ara lanes / VLEN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4622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软件 -march / -mabi / .ld"/>
          <p:cNvSpPr txBox="1"/>
          <p:nvPr/>
        </p:nvSpPr>
        <p:spPr>
          <a:xfrm>
            <a:off x="689864" y="4650679"/>
            <a:ext cx="22280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 -march / -mabi / .ld</a:t>
            </a:r>
          </a:p>
        </p:txBody>
      </p:sp>
      <p:sp>
        <p:nvSpPr>
          <p:cNvPr id="31" name="rect-030"/>
          <p:cNvSpPr/>
          <p:nvPr/>
        </p:nvSpPr>
        <p:spPr>
          <a:xfrm>
            <a:off x="480060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800600" y="21336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有效 CVA6Cfg 与派生参数"/>
          <p:cNvSpPr txBox="1"/>
          <p:nvPr/>
        </p:nvSpPr>
        <p:spPr>
          <a:xfrm>
            <a:off x="4921504" y="2161479"/>
            <a:ext cx="2284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有效 CVA6Cfg 与派生参数</a:t>
            </a:r>
          </a:p>
        </p:txBody>
      </p:sp>
      <p:sp>
        <p:nvSpPr>
          <p:cNvPr id="34" name="rect-033"/>
          <p:cNvSpPr/>
          <p:nvPr/>
        </p:nvSpPr>
        <p:spPr>
          <a:xfrm>
            <a:off x="480060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4800600" y="33782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端口数、索引、地址规则"/>
          <p:cNvSpPr txBox="1"/>
          <p:nvPr/>
        </p:nvSpPr>
        <p:spPr>
          <a:xfrm>
            <a:off x="4921504" y="340607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端口数、索引、地址规则</a:t>
            </a:r>
          </a:p>
        </p:txBody>
      </p:sp>
      <p:sp>
        <p:nvSpPr>
          <p:cNvPr id="37" name="rect-036"/>
          <p:cNvSpPr/>
          <p:nvPr/>
        </p:nvSpPr>
        <p:spPr>
          <a:xfrm>
            <a:off x="480060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4800600" y="462280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实例存在性与接口位宽"/>
          <p:cNvSpPr txBox="1"/>
          <p:nvPr/>
        </p:nvSpPr>
        <p:spPr>
          <a:xfrm>
            <a:off x="4921504" y="46506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实例存在性与接口位宽</a:t>
            </a:r>
          </a:p>
        </p:txBody>
      </p:sp>
      <p:sp>
        <p:nvSpPr>
          <p:cNvPr id="40" name="rect-039"/>
          <p:cNvSpPr/>
          <p:nvPr/>
        </p:nvSpPr>
        <p:spPr>
          <a:xfrm>
            <a:off x="9032240" y="21336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9032240" y="21336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ELF 指令与 ABI / 内存布局"/>
          <p:cNvSpPr txBox="1"/>
          <p:nvPr/>
        </p:nvSpPr>
        <p:spPr>
          <a:xfrm>
            <a:off x="9153144" y="2161479"/>
            <a:ext cx="234771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ELF 指令与 ABI / 内存布局</a:t>
            </a:r>
          </a:p>
        </p:txBody>
      </p:sp>
      <p:sp>
        <p:nvSpPr>
          <p:cNvPr id="43" name="rect-042"/>
          <p:cNvSpPr/>
          <p:nvPr/>
        </p:nvSpPr>
        <p:spPr>
          <a:xfrm>
            <a:off x="9032240" y="33782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032240" y="33782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VS / FS、设备 MMIO 状态"/>
          <p:cNvSpPr txBox="1"/>
          <p:nvPr/>
        </p:nvSpPr>
        <p:spPr>
          <a:xfrm>
            <a:off x="9153144" y="3406079"/>
            <a:ext cx="2321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VS / FS、设备 MMIO 状态</a:t>
            </a:r>
          </a:p>
        </p:txBody>
      </p:sp>
      <p:sp>
        <p:nvSpPr>
          <p:cNvPr id="46" name="rect-045"/>
          <p:cNvSpPr/>
          <p:nvPr/>
        </p:nvSpPr>
        <p:spPr>
          <a:xfrm>
            <a:off x="9032240" y="4622800"/>
            <a:ext cx="320040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9032240" y="462280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存储就绪、有效栈、装载入口"/>
          <p:cNvSpPr txBox="1"/>
          <p:nvPr/>
        </p:nvSpPr>
        <p:spPr>
          <a:xfrm>
            <a:off x="9153144" y="465067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存储就绪、有效栈、装载入口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例：增加 AXI 发起端会牵动系统结构"/>
          <p:cNvSpPr txBox="1"/>
          <p:nvPr/>
        </p:nvSpPr>
        <p:spPr>
          <a:xfrm>
            <a:off x="512064" y="6535359"/>
            <a:ext cx="313574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例：增加 AXI 发起端会牵动系统结构</a:t>
            </a:r>
          </a:p>
        </p:txBody>
      </p:sp>
      <p:sp>
        <p:nvSpPr>
          <p:cNvPr id="52" name="text-051: 默认 6 来源，加 Ara 为 7；再增加两个外部来源为 9，来源前缀由 3 位"/>
          <p:cNvSpPr txBox="1"/>
          <p:nvPr/>
        </p:nvSpPr>
        <p:spPr>
          <a:xfrm>
            <a:off x="512064" y="6822115"/>
            <a:ext cx="83573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 6 来源，加 Ara 为 7；再增加两个外部来源为 9，来源前缀由 3 位增到 4 位。有效组合仍需检查软件与启动契约。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4089400"/>
            <a:ext cx="12019280" cy="1671320"/>
          </a:xfrm>
          <a:prstGeom prst="roundRect">
            <a:avLst>
              <a:gd name="adj" fmla="val 5106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280924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50621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74217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9281160" y="2382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978136" y="2346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6116320" y="4836160"/>
            <a:ext cx="5902960" cy="426720"/>
          </a:xfrm>
          <a:custGeom>
            <a:avLst/>
            <a:gdLst/>
            <a:ahLst/>
            <a:cxnLst/>
            <a:rect l="0" t="0" r="r" b="b"/>
            <a:pathLst>
              <a:path w="5902960" h="426720">
                <a:moveTo>
                  <a:pt x="0" y="0"/>
                </a:moveTo>
                <a:lnTo>
                  <a:pt x="568960" y="0"/>
                </a:lnTo>
                <a:lnTo>
                  <a:pt x="568960" y="426720"/>
                </a:lnTo>
                <a:lnTo>
                  <a:pt x="1137920" y="426720"/>
                </a:lnTo>
                <a:lnTo>
                  <a:pt x="1137920" y="0"/>
                </a:lnTo>
                <a:lnTo>
                  <a:pt x="1706880" y="0"/>
                </a:lnTo>
                <a:lnTo>
                  <a:pt x="1706880" y="426720"/>
                </a:lnTo>
                <a:lnTo>
                  <a:pt x="2275840" y="426720"/>
                </a:lnTo>
                <a:lnTo>
                  <a:pt x="2275840" y="0"/>
                </a:lnTo>
                <a:lnTo>
                  <a:pt x="2844800" y="0"/>
                </a:lnTo>
                <a:lnTo>
                  <a:pt x="2844800" y="426720"/>
                </a:lnTo>
                <a:lnTo>
                  <a:pt x="3413760" y="426720"/>
                </a:lnTo>
                <a:lnTo>
                  <a:pt x="3413760" y="0"/>
                </a:lnTo>
                <a:lnTo>
                  <a:pt x="590296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一次 UART 寄存器访问：地址、寄存器副作用与引脚"/>
          <p:cNvSpPr txBox="1"/>
          <p:nvPr/>
        </p:nvSpPr>
        <p:spPr>
          <a:xfrm>
            <a:off x="483616" y="271109"/>
            <a:ext cx="612378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一次 UART 寄存器访问：地址、寄存器副作用与引脚</a:t>
            </a:r>
          </a:p>
        </p:txBody>
      </p:sp>
      <p:sp>
        <p:nvSpPr>
          <p:cNvPr id="15" name="text-014: 同一地址访问谁由译码决定；写入产生什么动作由寄存器语义、访问宽度与设备状态决定。"/>
          <p:cNvSpPr txBox="1"/>
          <p:nvPr/>
        </p:nvSpPr>
        <p:spPr>
          <a:xfrm>
            <a:off x="483616" y="676778"/>
            <a:ext cx="670661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同一地址访问谁由译码决定；写入产生什么动作由寄存器语义、访问宽度与设备状态决定。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UART DIF / HAL；AXI→Reg / APB 适配；UART "/>
          <p:cNvSpPr txBox="1"/>
          <p:nvPr/>
        </p:nvSpPr>
        <p:spPr>
          <a:xfrm>
            <a:off x="341376" y="7726477"/>
            <a:ext cx="4217016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源码：UART DIF / HAL；AXI→Reg / APB 适配；UART 寄存器实现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418080" cy="1351280"/>
          </a:xfrm>
          <a:prstGeom prst="roundRect">
            <a:avLst>
              <a:gd name="adj" fmla="val 36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3512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PU / 驱动"/>
          <p:cNvSpPr txBox="1"/>
          <p:nvPr/>
        </p:nvSpPr>
        <p:spPr>
          <a:xfrm>
            <a:off x="512064" y="173475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1" name="text-020: volatile + 正确访问宽度"/>
          <p:cNvSpPr txBox="1"/>
          <p:nvPr/>
        </p:nvSpPr>
        <p:spPr>
          <a:xfrm>
            <a:off x="512064" y="2006153"/>
            <a:ext cx="19275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volatile + 正确访问宽度</a:t>
            </a:r>
          </a:p>
        </p:txBody>
      </p:sp>
      <p:sp>
        <p:nvSpPr>
          <p:cNvPr id="22" name="text-021: 读取 LSR 检查发送条件"/>
          <p:cNvSpPr txBox="1"/>
          <p:nvPr/>
        </p:nvSpPr>
        <p:spPr>
          <a:xfrm>
            <a:off x="512064" y="2219513"/>
            <a:ext cx="19352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 LSR 检查发送条件</a:t>
            </a:r>
          </a:p>
        </p:txBody>
      </p:sp>
      <p:sp>
        <p:nvSpPr>
          <p:cNvPr id="23" name="text-022: 写 THR 提交一个字符"/>
          <p:cNvSpPr txBox="1"/>
          <p:nvPr/>
        </p:nvSpPr>
        <p:spPr>
          <a:xfrm>
            <a:off x="512064" y="2432873"/>
            <a:ext cx="17713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 THR 提交一个字符</a:t>
            </a:r>
          </a:p>
        </p:txBody>
      </p:sp>
      <p:sp>
        <p:nvSpPr>
          <p:cNvPr id="24" name="rect-023"/>
          <p:cNvSpPr/>
          <p:nvPr/>
        </p:nvSpPr>
        <p:spPr>
          <a:xfrm>
            <a:off x="359156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591560" y="1706880"/>
            <a:ext cx="35560" cy="13512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AXI → Reg / APB"/>
          <p:cNvSpPr txBox="1"/>
          <p:nvPr/>
        </p:nvSpPr>
        <p:spPr>
          <a:xfrm>
            <a:off x="3712464" y="1734759"/>
            <a:ext cx="1566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AXI → Reg / APB</a:t>
            </a:r>
          </a:p>
        </p:txBody>
      </p:sp>
      <p:sp>
        <p:nvSpPr>
          <p:cNvPr id="27" name="text-026: 地址译码"/>
          <p:cNvSpPr txBox="1"/>
          <p:nvPr/>
        </p:nvSpPr>
        <p:spPr>
          <a:xfrm>
            <a:off x="3712464" y="2006153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地址译码</a:t>
            </a:r>
          </a:p>
        </p:txBody>
      </p:sp>
      <p:sp>
        <p:nvSpPr>
          <p:cNvPr id="28" name="text-027: byte lane / 字节使能"/>
          <p:cNvSpPr txBox="1"/>
          <p:nvPr/>
        </p:nvSpPr>
        <p:spPr>
          <a:xfrm>
            <a:off x="3712464" y="2219513"/>
            <a:ext cx="17227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byte lane / 字节使能</a:t>
            </a:r>
          </a:p>
        </p:txBody>
      </p:sp>
      <p:sp>
        <p:nvSpPr>
          <p:cNvPr id="29" name="text-028: 握手与错误响应"/>
          <p:cNvSpPr txBox="1"/>
          <p:nvPr/>
        </p:nvSpPr>
        <p:spPr>
          <a:xfrm>
            <a:off x="3712464" y="243287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握手与错误响应</a:t>
            </a:r>
          </a:p>
        </p:txBody>
      </p:sp>
      <p:sp>
        <p:nvSpPr>
          <p:cNvPr id="30" name="rect-029"/>
          <p:cNvSpPr/>
          <p:nvPr/>
        </p:nvSpPr>
        <p:spPr>
          <a:xfrm>
            <a:off x="6827520" y="1706880"/>
            <a:ext cx="2453640" cy="1351280"/>
          </a:xfrm>
          <a:prstGeom prst="roundRect">
            <a:avLst>
              <a:gd name="adj" fmla="val 36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6827520" y="1706880"/>
            <a:ext cx="35560" cy="13512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寄存器 / TX FIFO"/>
          <p:cNvSpPr txBox="1"/>
          <p:nvPr/>
        </p:nvSpPr>
        <p:spPr>
          <a:xfrm>
            <a:off x="6948424" y="1734759"/>
            <a:ext cx="154143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寄存器 / TX FIFO</a:t>
            </a:r>
          </a:p>
        </p:txBody>
      </p:sp>
      <p:sp>
        <p:nvSpPr>
          <p:cNvPr id="33" name="text-032: DLAB 选择寄存器用途"/>
          <p:cNvSpPr txBox="1"/>
          <p:nvPr/>
        </p:nvSpPr>
        <p:spPr>
          <a:xfrm>
            <a:off x="6948424" y="2006153"/>
            <a:ext cx="181572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DLAB 选择寄存器用途</a:t>
            </a:r>
          </a:p>
        </p:txBody>
      </p:sp>
      <p:sp>
        <p:nvSpPr>
          <p:cNvPr id="34" name="text-033: 写入入队 / 状态更新"/>
          <p:cNvSpPr txBox="1"/>
          <p:nvPr/>
        </p:nvSpPr>
        <p:spPr>
          <a:xfrm>
            <a:off x="6948424" y="2219513"/>
            <a:ext cx="17272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写入入队 / 状态更新</a:t>
            </a:r>
          </a:p>
        </p:txBody>
      </p:sp>
      <p:sp>
        <p:nvSpPr>
          <p:cNvPr id="35" name="text-034: 访问成功不代表发送结束"/>
          <p:cNvSpPr txBox="1"/>
          <p:nvPr/>
        </p:nvSpPr>
        <p:spPr>
          <a:xfrm>
            <a:off x="6948424" y="243287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访问成功不代表发送结束</a:t>
            </a:r>
          </a:p>
        </p:txBody>
      </p:sp>
      <p:sp>
        <p:nvSpPr>
          <p:cNvPr id="36" name="rect-035"/>
          <p:cNvSpPr/>
          <p:nvPr/>
        </p:nvSpPr>
        <p:spPr>
          <a:xfrm>
            <a:off x="10063480" y="1706880"/>
            <a:ext cx="2346960" cy="1351280"/>
          </a:xfrm>
          <a:prstGeom prst="roundRect">
            <a:avLst>
              <a:gd name="adj" fmla="val 3684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10063480" y="1706880"/>
            <a:ext cx="35560" cy="135128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串行状态机"/>
          <p:cNvSpPr txBox="1"/>
          <p:nvPr/>
        </p:nvSpPr>
        <p:spPr>
          <a:xfrm>
            <a:off x="10184384" y="17347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串行状态机</a:t>
            </a:r>
          </a:p>
        </p:txBody>
      </p:sp>
      <p:sp>
        <p:nvSpPr>
          <p:cNvPr id="39" name="text-038: 波特率分频"/>
          <p:cNvSpPr txBox="1"/>
          <p:nvPr/>
        </p:nvSpPr>
        <p:spPr>
          <a:xfrm>
            <a:off x="10184384" y="2006153"/>
            <a:ext cx="102412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波特率分频</a:t>
            </a:r>
          </a:p>
        </p:txBody>
      </p:sp>
      <p:sp>
        <p:nvSpPr>
          <p:cNvPr id="40" name="text-039: 起始位 / 数据 / 停止位"/>
          <p:cNvSpPr txBox="1"/>
          <p:nvPr/>
        </p:nvSpPr>
        <p:spPr>
          <a:xfrm>
            <a:off x="10184384" y="2219513"/>
            <a:ext cx="19182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 / 数据 / 停止位</a:t>
            </a:r>
          </a:p>
        </p:txBody>
      </p:sp>
      <p:sp>
        <p:nvSpPr>
          <p:cNvPr id="41" name="text-040: TX 引脚输出"/>
          <p:cNvSpPr txBox="1"/>
          <p:nvPr/>
        </p:nvSpPr>
        <p:spPr>
          <a:xfrm>
            <a:off x="10184384" y="2432873"/>
            <a:ext cx="10819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引脚输出</a:t>
            </a:r>
          </a:p>
        </p:txBody>
      </p:sp>
      <p:sp>
        <p:nvSpPr>
          <p:cNvPr id="42" name="text-041: 同时观察控制寄存器与外部波形"/>
          <p:cNvSpPr txBox="1"/>
          <p:nvPr/>
        </p:nvSpPr>
        <p:spPr>
          <a:xfrm>
            <a:off x="519176" y="4146296"/>
            <a:ext cx="2667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同时观察控制寄存器与外部波形</a:t>
            </a:r>
          </a:p>
        </p:txBody>
      </p:sp>
      <p:sp>
        <p:nvSpPr>
          <p:cNvPr id="43" name="text-042: LSR / FIFO 状态"/>
          <p:cNvSpPr txBox="1"/>
          <p:nvPr/>
        </p:nvSpPr>
        <p:spPr>
          <a:xfrm>
            <a:off x="640080" y="4423095"/>
            <a:ext cx="14858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LSR / FIFO 状态</a:t>
            </a:r>
          </a:p>
        </p:txBody>
      </p:sp>
      <p:sp>
        <p:nvSpPr>
          <p:cNvPr id="44" name="text-043: UART TX"/>
          <p:cNvSpPr txBox="1"/>
          <p:nvPr/>
        </p:nvSpPr>
        <p:spPr>
          <a:xfrm>
            <a:off x="4693920" y="4423095"/>
            <a:ext cx="8611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UART TX</a:t>
            </a:r>
          </a:p>
        </p:txBody>
      </p:sp>
      <p:sp>
        <p:nvSpPr>
          <p:cNvPr id="45" name="text-044: 可继续写入？FIFO 空？移位器也已空？"/>
          <p:cNvSpPr txBox="1"/>
          <p:nvPr/>
        </p:nvSpPr>
        <p:spPr>
          <a:xfrm>
            <a:off x="640080" y="4651817"/>
            <a:ext cx="31027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可继续写入？FIFO 空？移位器也已空？</a:t>
            </a:r>
          </a:p>
        </p:txBody>
      </p:sp>
      <p:sp>
        <p:nvSpPr>
          <p:cNvPr id="46" name="text-045: 三个问题按具体状态位定义判断。"/>
          <p:cNvSpPr txBox="1"/>
          <p:nvPr/>
        </p:nvSpPr>
        <p:spPr>
          <a:xfrm>
            <a:off x="640080" y="488651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三个问题按具体状态位定义判断。</a:t>
            </a:r>
          </a:p>
        </p:txBody>
      </p:sp>
      <p:sp>
        <p:nvSpPr>
          <p:cNvPr id="47" name="text-046: 起始位"/>
          <p:cNvSpPr txBox="1"/>
          <p:nvPr/>
        </p:nvSpPr>
        <p:spPr>
          <a:xfrm>
            <a:off x="682752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起始位</a:t>
            </a:r>
          </a:p>
        </p:txBody>
      </p:sp>
      <p:sp>
        <p:nvSpPr>
          <p:cNvPr id="48" name="text-047: 数据位示意"/>
          <p:cNvSpPr txBox="1"/>
          <p:nvPr/>
        </p:nvSpPr>
        <p:spPr>
          <a:xfrm>
            <a:off x="8463280" y="537837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数据位示意</a:t>
            </a:r>
          </a:p>
        </p:txBody>
      </p:sp>
      <p:sp>
        <p:nvSpPr>
          <p:cNvPr id="49" name="text-048: 停止位"/>
          <p:cNvSpPr txBox="1"/>
          <p:nvPr/>
        </p:nvSpPr>
        <p:spPr>
          <a:xfrm>
            <a:off x="11023600" y="537837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停止位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40080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400800"/>
            <a:ext cx="35560" cy="7823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其他外设仍沿同一分析方法"/>
          <p:cNvSpPr txBox="1"/>
          <p:nvPr/>
        </p:nvSpPr>
        <p:spPr>
          <a:xfrm>
            <a:off x="512064" y="642867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其他外设仍沿同一分析方法</a:t>
            </a:r>
          </a:p>
        </p:txBody>
      </p:sp>
      <p:sp>
        <p:nvSpPr>
          <p:cNvPr id="53" name="text-052: W1C、读弹出 FIFO、忙时写入、GPIO 电平都需要各自的寄存器契约；寄存器"/>
          <p:cNvSpPr txBox="1"/>
          <p:nvPr/>
        </p:nvSpPr>
        <p:spPr>
          <a:xfrm>
            <a:off x="512064" y="6715435"/>
            <a:ext cx="74560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W1C、读弹出 FIFO、忙时写入、GPIO 电平都需要各自的寄存器契约；寄存器地址正确只是访问的第一步。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560320"/>
          </a:xfrm>
          <a:prstGeom prst="roundRect">
            <a:avLst>
              <a:gd name="adj" fmla="val 3333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09372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347065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04520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42213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996680" y="282702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73616" y="27914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4800600" y="3449320"/>
            <a:ext cx="1600200" cy="1635760"/>
          </a:xfrm>
          <a:custGeom>
            <a:avLst/>
            <a:gdLst/>
            <a:ahLst/>
            <a:cxnLst/>
            <a:rect l="0" t="0" r="r" b="b"/>
            <a:pathLst>
              <a:path w="1600200" h="1635760">
                <a:moveTo>
                  <a:pt x="0" y="0"/>
                </a:moveTo>
                <a:lnTo>
                  <a:pt x="0" y="1031240"/>
                </a:lnTo>
                <a:lnTo>
                  <a:pt x="1600200" y="1031240"/>
                </a:lnTo>
                <a:lnTo>
                  <a:pt x="160020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6400800" y="3449320"/>
            <a:ext cx="1351280" cy="1635760"/>
          </a:xfrm>
          <a:custGeom>
            <a:avLst/>
            <a:gdLst/>
            <a:ahLst/>
            <a:cxnLst/>
            <a:rect l="0" t="0" r="r" b="b"/>
            <a:pathLst>
              <a:path w="1351280" h="1635760">
                <a:moveTo>
                  <a:pt x="1351280" y="0"/>
                </a:moveTo>
                <a:lnTo>
                  <a:pt x="135128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6400800" y="3449320"/>
            <a:ext cx="4302760" cy="1635760"/>
          </a:xfrm>
          <a:custGeom>
            <a:avLst/>
            <a:gdLst/>
            <a:ahLst/>
            <a:cxnLst/>
            <a:rect l="0" t="0" r="r" b="b"/>
            <a:pathLst>
              <a:path w="4302760" h="1635760">
                <a:moveTo>
                  <a:pt x="4302760" y="0"/>
                </a:moveTo>
                <a:lnTo>
                  <a:pt x="4302760" y="1031240"/>
                </a:lnTo>
                <a:lnTo>
                  <a:pt x="0" y="1031240"/>
                </a:lnTo>
                <a:lnTo>
                  <a:pt x="0" y="16357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6365240" y="499973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未来图像系统：流数据、帧缓冲与控制路径分层"/>
          <p:cNvSpPr txBox="1"/>
          <p:nvPr/>
        </p:nvSpPr>
        <p:spPr>
          <a:xfrm>
            <a:off x="483616" y="271109"/>
            <a:ext cx="5632704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未来图像系统：流数据、帧缓冲与控制路径分层</a:t>
            </a:r>
          </a:p>
        </p:txBody>
      </p:sp>
      <p:sp>
        <p:nvSpPr>
          <p:cNvPr id="20" name="text-019: LVDS / ISP / NPU 均为待集成模块；带宽与缓存规模必须由分辨率、格"/>
          <p:cNvSpPr txBox="1"/>
          <p:nvPr/>
        </p:nvSpPr>
        <p:spPr>
          <a:xfrm>
            <a:off x="483616" y="676778"/>
            <a:ext cx="72256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LVDS / ISP / NPU 均为待集成模块；带宽与缓存规模必须由分辨率、格式、帧率和访问次数推导。</a:t>
            </a:r>
          </a:p>
        </p:txBody>
      </p:sp>
      <p:sp>
        <p:nvSpPr>
          <p:cNvPr id="21" name="text-020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22" name="text-021: 依据：用户产品方向与未来 IP 集成契约；不代表已实现 RTL 或已验证吞吐"/>
          <p:cNvSpPr txBox="1"/>
          <p:nvPr/>
        </p:nvSpPr>
        <p:spPr>
          <a:xfrm>
            <a:off x="341376" y="7726477"/>
            <a:ext cx="478465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依据：用户产品方向与未来 IP 集成契约；不代表已实现 RTL 或已验证吞吐</a:t>
            </a:r>
          </a:p>
        </p:txBody>
      </p:sp>
      <p:sp>
        <p:nvSpPr>
          <p:cNvPr id="23" name="text-022: 像素 / 张量处理通路：每段需要格式、背压与时钟契约"/>
          <p:cNvSpPr txBox="1"/>
          <p:nvPr/>
        </p:nvSpPr>
        <p:spPr>
          <a:xfrm>
            <a:off x="519176" y="1550416"/>
            <a:ext cx="446619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像素 / 张量处理通路：每段需要格式、背压与时钟契约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VDS 接收"/>
          <p:cNvSpPr txBox="1"/>
          <p:nvPr/>
        </p:nvSpPr>
        <p:spPr>
          <a:xfrm>
            <a:off x="725424" y="2232599"/>
            <a:ext cx="104248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LVDS 接收</a:t>
            </a:r>
          </a:p>
        </p:txBody>
      </p:sp>
      <p:sp>
        <p:nvSpPr>
          <p:cNvPr id="27" name="text-026: 解串 / 像素打包"/>
          <p:cNvSpPr txBox="1"/>
          <p:nvPr/>
        </p:nvSpPr>
        <p:spPr>
          <a:xfrm>
            <a:off x="725424" y="2511674"/>
            <a:ext cx="132809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解串 / 像素打包</a:t>
            </a:r>
          </a:p>
        </p:txBody>
      </p:sp>
      <p:sp>
        <p:nvSpPr>
          <p:cNvPr id="28" name="text-027: 源同步采样 / 跨域 FIFO"/>
          <p:cNvSpPr txBox="1"/>
          <p:nvPr/>
        </p:nvSpPr>
        <p:spPr>
          <a:xfrm>
            <a:off x="725424" y="2725034"/>
            <a:ext cx="18478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源同步采样 / 跨域 FIFO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ISP"/>
          <p:cNvSpPr txBox="1"/>
          <p:nvPr/>
        </p:nvSpPr>
        <p:spPr>
          <a:xfrm>
            <a:off x="3676904" y="2232599"/>
            <a:ext cx="45091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ISP</a:t>
            </a:r>
          </a:p>
        </p:txBody>
      </p:sp>
      <p:sp>
        <p:nvSpPr>
          <p:cNvPr id="32" name="text-031: 行缓存与图像算法"/>
          <p:cNvSpPr txBox="1"/>
          <p:nvPr/>
        </p:nvSpPr>
        <p:spPr>
          <a:xfrm>
            <a:off x="3676904" y="251167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行缓存与图像算法</a:t>
            </a:r>
          </a:p>
        </p:txBody>
      </p:sp>
      <p:sp>
        <p:nvSpPr>
          <p:cNvPr id="33" name="text-032: 格式、位宽与边界处理"/>
          <p:cNvSpPr txBox="1"/>
          <p:nvPr/>
        </p:nvSpPr>
        <p:spPr>
          <a:xfrm>
            <a:off x="3676904" y="272503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格式、位宽与边界处理</a:t>
            </a:r>
          </a:p>
        </p:txBody>
      </p:sp>
      <p:sp>
        <p:nvSpPr>
          <p:cNvPr id="34" name="rect-033"/>
          <p:cNvSpPr/>
          <p:nvPr/>
        </p:nvSpPr>
        <p:spPr>
          <a:xfrm>
            <a:off x="650748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650748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脉动阵列 / NPU"/>
          <p:cNvSpPr txBox="1"/>
          <p:nvPr/>
        </p:nvSpPr>
        <p:spPr>
          <a:xfrm>
            <a:off x="6628384" y="2232599"/>
            <a:ext cx="14751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脉动阵列 / NPU</a:t>
            </a:r>
          </a:p>
        </p:txBody>
      </p:sp>
      <p:sp>
        <p:nvSpPr>
          <p:cNvPr id="37" name="text-036: 命令与张量布局"/>
          <p:cNvSpPr txBox="1"/>
          <p:nvPr/>
        </p:nvSpPr>
        <p:spPr>
          <a:xfrm>
            <a:off x="6628384" y="251167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命令与张量布局</a:t>
            </a:r>
          </a:p>
        </p:txBody>
      </p:sp>
      <p:sp>
        <p:nvSpPr>
          <p:cNvPr id="38" name="text-037: 片上复用与 AXI 读写"/>
          <p:cNvSpPr txBox="1"/>
          <p:nvPr/>
        </p:nvSpPr>
        <p:spPr>
          <a:xfrm>
            <a:off x="6628384" y="2725034"/>
            <a:ext cx="162889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片上复用与 AXI 读写</a:t>
            </a:r>
          </a:p>
        </p:txBody>
      </p:sp>
      <p:sp>
        <p:nvSpPr>
          <p:cNvPr id="39" name="rect-038"/>
          <p:cNvSpPr/>
          <p:nvPr/>
        </p:nvSpPr>
        <p:spPr>
          <a:xfrm>
            <a:off x="9458960" y="2204720"/>
            <a:ext cx="2489200" cy="1244600"/>
          </a:xfrm>
          <a:prstGeom prst="roundRect">
            <a:avLst>
              <a:gd name="adj" fmla="val 4000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9458960" y="2204720"/>
            <a:ext cx="35560" cy="12446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CPU / Ara"/>
          <p:cNvSpPr txBox="1"/>
          <p:nvPr/>
        </p:nvSpPr>
        <p:spPr>
          <a:xfrm>
            <a:off x="9579864" y="2232599"/>
            <a:ext cx="99030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/ Ara</a:t>
            </a:r>
          </a:p>
        </p:txBody>
      </p:sp>
      <p:sp>
        <p:nvSpPr>
          <p:cNvPr id="42" name="text-041: 调度与后处理"/>
          <p:cNvSpPr txBox="1"/>
          <p:nvPr/>
        </p:nvSpPr>
        <p:spPr>
          <a:xfrm>
            <a:off x="9579864" y="2511674"/>
            <a:ext cx="114503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调度与后处理</a:t>
            </a:r>
          </a:p>
        </p:txBody>
      </p:sp>
      <p:sp>
        <p:nvSpPr>
          <p:cNvPr id="43" name="text-042: 结果核对 / 下一阶段"/>
          <p:cNvSpPr txBox="1"/>
          <p:nvPr/>
        </p:nvSpPr>
        <p:spPr>
          <a:xfrm>
            <a:off x="9579864" y="2725034"/>
            <a:ext cx="16552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结果核对 / 下一阶段</a:t>
            </a:r>
          </a:p>
        </p:txBody>
      </p:sp>
      <p:sp>
        <p:nvSpPr>
          <p:cNvPr id="44" name="rect-043"/>
          <p:cNvSpPr/>
          <p:nvPr/>
        </p:nvSpPr>
        <p:spPr>
          <a:xfrm>
            <a:off x="2418080" y="5085080"/>
            <a:ext cx="796544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2418080" y="5085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共享帧 / 张量缓冲 → AXI4 DDR 子系统"/>
          <p:cNvSpPr txBox="1"/>
          <p:nvPr/>
        </p:nvSpPr>
        <p:spPr>
          <a:xfrm>
            <a:off x="2538984" y="5112959"/>
            <a:ext cx="336799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共享帧 / 张量缓冲 → AXI4 DDR 子系统</a:t>
            </a:r>
          </a:p>
        </p:txBody>
      </p:sp>
      <p:sp>
        <p:nvSpPr>
          <p:cNvPr id="47" name="text-046: NPU / ISP 数据旁路 LLC：需新增互连、仲裁、ID 与 CDC 契约"/>
          <p:cNvSpPr txBox="1"/>
          <p:nvPr/>
        </p:nvSpPr>
        <p:spPr>
          <a:xfrm>
            <a:off x="2538984" y="5384353"/>
            <a:ext cx="483910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NPU / ISP 数据旁路 LLC：需新增互连、仲裁、ID 与 CDC 契约</a:t>
            </a:r>
          </a:p>
        </p:txBody>
      </p:sp>
      <p:sp>
        <p:nvSpPr>
          <p:cNvPr id="48" name="text-047: 所有权、可见性、QoS、背压、异常恢复与带宽预算需联合设计"/>
          <p:cNvSpPr txBox="1"/>
          <p:nvPr/>
        </p:nvSpPr>
        <p:spPr>
          <a:xfrm>
            <a:off x="2538984" y="5597713"/>
            <a:ext cx="49187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所有权、可见性、QoS、背压、异常恢复与带宽预算需联合设计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7860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78600"/>
            <a:ext cx="35560" cy="7112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工程实施边界"/>
          <p:cNvSpPr txBox="1"/>
          <p:nvPr/>
        </p:nvSpPr>
        <p:spPr>
          <a:xfrm>
            <a:off x="512064" y="66064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工程实施边界</a:t>
            </a:r>
          </a:p>
        </p:txBody>
      </p:sp>
      <p:sp>
        <p:nvSpPr>
          <p:cNvPr id="52" name="text-051: 独立 cheshire_ara_asic/、固定配置、静态清单；Bender 至"/>
          <p:cNvSpPr txBox="1"/>
          <p:nvPr/>
        </p:nvSpPr>
        <p:spPr>
          <a:xfrm>
            <a:off x="512064" y="6893235"/>
            <a:ext cx="81521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 cheshire_ara_asic/、固定配置、静态清单；Bender 至多用于一次性离线解析。图中系统仍需正式提取与验证。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4231640" y="1422400"/>
            <a:ext cx="4836160" cy="4622800"/>
          </a:xfrm>
          <a:prstGeom prst="roundRect">
            <a:avLst>
              <a:gd name="adj" fmla="val 1846"/>
            </a:avLst>
          </a:prstGeom>
          <a:solidFill>
            <a:srgbClr val="F3EFF9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129280" y="2524760"/>
            <a:ext cx="1422400" cy="195580"/>
          </a:xfrm>
          <a:custGeom>
            <a:avLst/>
            <a:gdLst/>
            <a:ahLst/>
            <a:cxnLst/>
            <a:rect l="0" t="0" r="r" b="b"/>
            <a:pathLst>
              <a:path w="1422400" h="195580">
                <a:moveTo>
                  <a:pt x="0" y="195580"/>
                </a:moveTo>
                <a:lnTo>
                  <a:pt x="142240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462282" y="2501148"/>
            <a:ext cx="89398" cy="70480"/>
          </a:xfrm>
          <a:custGeom>
            <a:avLst/>
            <a:gdLst/>
            <a:ahLst/>
            <a:cxnLst/>
            <a:rect l="0" t="0" r="r" b="b"/>
            <a:pathLst>
              <a:path w="89398" h="70480">
                <a:moveTo>
                  <a:pt x="89398" y="23612"/>
                </a:moveTo>
                <a:lnTo>
                  <a:pt x="0" y="0"/>
                </a:lnTo>
                <a:lnTo>
                  <a:pt x="9672" y="7048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6649720" y="312928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6614160" y="403961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2613660"/>
            <a:ext cx="1351280" cy="2151380"/>
          </a:xfrm>
          <a:custGeom>
            <a:avLst/>
            <a:gdLst/>
            <a:ahLst/>
            <a:cxnLst/>
            <a:rect l="0" t="0" r="r" b="b"/>
            <a:pathLst>
              <a:path w="1351280" h="2151380">
                <a:moveTo>
                  <a:pt x="0" y="2151380"/>
                </a:moveTo>
                <a:lnTo>
                  <a:pt x="13512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10023511" y="2613660"/>
            <a:ext cx="75529" cy="91176"/>
          </a:xfrm>
          <a:custGeom>
            <a:avLst/>
            <a:gdLst/>
            <a:ahLst/>
            <a:cxnLst/>
            <a:rect l="0" t="0" r="r" b="b"/>
            <a:pathLst>
              <a:path w="75529" h="91176">
                <a:moveTo>
                  <a:pt x="75529" y="0"/>
                </a:moveTo>
                <a:lnTo>
                  <a:pt x="0" y="53340"/>
                </a:lnTo>
                <a:lnTo>
                  <a:pt x="60239" y="91176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747760" y="4765040"/>
            <a:ext cx="1351280" cy="53340"/>
          </a:xfrm>
          <a:custGeom>
            <a:avLst/>
            <a:gdLst/>
            <a:ahLst/>
            <a:cxnLst/>
            <a:rect l="0" t="0" r="r" b="b"/>
            <a:pathLst>
              <a:path w="1351280" h="53340">
                <a:moveTo>
                  <a:pt x="0" y="0"/>
                </a:moveTo>
                <a:lnTo>
                  <a:pt x="1351280" y="5334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012345" y="4779477"/>
            <a:ext cx="86695" cy="71049"/>
          </a:xfrm>
          <a:custGeom>
            <a:avLst/>
            <a:gdLst/>
            <a:ahLst/>
            <a:cxnLst/>
            <a:rect l="0" t="0" r="r" b="b"/>
            <a:pathLst>
              <a:path w="86695" h="71049">
                <a:moveTo>
                  <a:pt x="86695" y="38903"/>
                </a:moveTo>
                <a:lnTo>
                  <a:pt x="2845" y="0"/>
                </a:lnTo>
                <a:lnTo>
                  <a:pt x="0" y="71049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新增 IP：控制面、主动数据面与完成事件独立定义"/>
          <p:cNvSpPr txBox="1"/>
          <p:nvPr/>
        </p:nvSpPr>
        <p:spPr>
          <a:xfrm>
            <a:off x="483616" y="271109"/>
            <a:ext cx="591925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新增 IP：控制面、主动数据面与完成事件独立定义</a:t>
            </a:r>
          </a:p>
        </p:txBody>
      </p:sp>
      <p:sp>
        <p:nvSpPr>
          <p:cNvPr id="16" name="text-015: 从只读写寄存器的计算单元起步，再按需求增加 AXI 主端与 IRQ；不改变现有接"/>
          <p:cNvSpPr txBox="1"/>
          <p:nvPr/>
        </p:nvSpPr>
        <p:spPr>
          <a:xfrm>
            <a:off x="483616" y="676778"/>
            <a:ext cx="78182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从只读写寄存器的计算单元起步，再按需求增加 AXI 主端与 IRQ；不改变现有接口就不能假定具备新能力。</a:t>
            </a:r>
          </a:p>
        </p:txBody>
      </p:sp>
      <p:sp>
        <p:nvSpPr>
          <p:cNvPr id="17" name="text-016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8" name="text-017: 依据：Cheshire 扩展 Reg / AXI 端口；教材独立 Reg 单元；"/>
          <p:cNvSpPr txBox="1"/>
          <p:nvPr/>
        </p:nvSpPr>
        <p:spPr>
          <a:xfrm>
            <a:off x="341376" y="7726477"/>
            <a:ext cx="5141532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扩展 Reg / AXI 端口；教材独立 Reg 单元；未来数据面尚需实现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991360"/>
            <a:ext cx="2738120" cy="1457960"/>
          </a:xfrm>
          <a:prstGeom prst="roundRect">
            <a:avLst>
              <a:gd name="adj" fmla="val 341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991360"/>
            <a:ext cx="35560" cy="1457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CPU / 驱动"/>
          <p:cNvSpPr txBox="1"/>
          <p:nvPr/>
        </p:nvSpPr>
        <p:spPr>
          <a:xfrm>
            <a:off x="512064" y="2019239"/>
            <a:ext cx="109792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/ 驱动</a:t>
            </a:r>
          </a:p>
        </p:txBody>
      </p:sp>
      <p:sp>
        <p:nvSpPr>
          <p:cNvPr id="22" name="text-021: 写参数 → START"/>
          <p:cNvSpPr txBox="1"/>
          <p:nvPr/>
        </p:nvSpPr>
        <p:spPr>
          <a:xfrm>
            <a:off x="512064" y="2290633"/>
            <a:ext cx="1433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写参数 → START</a:t>
            </a:r>
          </a:p>
        </p:txBody>
      </p:sp>
      <p:sp>
        <p:nvSpPr>
          <p:cNvPr id="23" name="text-022: 轮询 STATUS / 读取 RESULT"/>
          <p:cNvSpPr txBox="1"/>
          <p:nvPr/>
        </p:nvSpPr>
        <p:spPr>
          <a:xfrm>
            <a:off x="512064" y="2503993"/>
            <a:ext cx="23202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轮询 STATUS / 读取 RESULT</a:t>
            </a:r>
          </a:p>
        </p:txBody>
      </p:sp>
      <p:sp>
        <p:nvSpPr>
          <p:cNvPr id="24" name="text-023: 中断模式仍需检查设备状态"/>
          <p:cNvSpPr txBox="1"/>
          <p:nvPr/>
        </p:nvSpPr>
        <p:spPr>
          <a:xfrm>
            <a:off x="512064" y="27173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中断模式仍需检查设备状态</a:t>
            </a:r>
          </a:p>
        </p:txBody>
      </p:sp>
      <p:sp>
        <p:nvSpPr>
          <p:cNvPr id="25" name="text-024: 自有 IP 的职责边界"/>
          <p:cNvSpPr txBox="1"/>
          <p:nvPr/>
        </p:nvSpPr>
        <p:spPr>
          <a:xfrm>
            <a:off x="4359656" y="1479296"/>
            <a:ext cx="1674687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自有 IP 的职责边界</a:t>
            </a:r>
          </a:p>
        </p:txBody>
      </p:sp>
      <p:sp>
        <p:nvSpPr>
          <p:cNvPr id="26" name="rect-025"/>
          <p:cNvSpPr/>
          <p:nvPr/>
        </p:nvSpPr>
        <p:spPr>
          <a:xfrm>
            <a:off x="4551680" y="1920240"/>
            <a:ext cx="4196080" cy="1209040"/>
          </a:xfrm>
          <a:prstGeom prst="roundRect">
            <a:avLst>
              <a:gd name="adj" fmla="val 4117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4551680" y="1920240"/>
            <a:ext cx="35560" cy="12090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Reg 目标：START / BUSY / DONE / ERROR"/>
          <p:cNvSpPr txBox="1"/>
          <p:nvPr/>
        </p:nvSpPr>
        <p:spPr>
          <a:xfrm>
            <a:off x="4672584" y="1948119"/>
            <a:ext cx="37286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Reg 目标：START / BUSY / DONE / ERROR</a:t>
            </a:r>
          </a:p>
        </p:txBody>
      </p:sp>
      <p:sp>
        <p:nvSpPr>
          <p:cNvPr id="29" name="text-028: 地址、字节写、副作用与复位值"/>
          <p:cNvSpPr txBox="1"/>
          <p:nvPr/>
        </p:nvSpPr>
        <p:spPr>
          <a:xfrm>
            <a:off x="4672584" y="22195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地址、字节写、副作用与复位值</a:t>
            </a:r>
          </a:p>
        </p:txBody>
      </p:sp>
      <p:sp>
        <p:nvSpPr>
          <p:cNvPr id="30" name="text-029: 忙时提交、参数快照与结果稳定条件"/>
          <p:cNvSpPr txBox="1"/>
          <p:nvPr/>
        </p:nvSpPr>
        <p:spPr>
          <a:xfrm>
            <a:off x="4672584" y="2432873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忙时提交、参数快照与结果稳定条件</a:t>
            </a:r>
          </a:p>
        </p:txBody>
      </p:sp>
      <p:sp>
        <p:nvSpPr>
          <p:cNvPr id="31" name="rect-030"/>
          <p:cNvSpPr/>
          <p:nvPr/>
        </p:nvSpPr>
        <p:spPr>
          <a:xfrm>
            <a:off x="4551680" y="4124960"/>
            <a:ext cx="4196080" cy="1280160"/>
          </a:xfrm>
          <a:prstGeom prst="roundRect">
            <a:avLst>
              <a:gd name="adj" fmla="val 388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4551680" y="4124960"/>
            <a:ext cx="35560" cy="128016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内部状态机 / 计算资源"/>
          <p:cNvSpPr txBox="1"/>
          <p:nvPr/>
        </p:nvSpPr>
        <p:spPr>
          <a:xfrm>
            <a:off x="4672584" y="4152839"/>
            <a:ext cx="20560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内部状态机 / 计算资源</a:t>
            </a:r>
          </a:p>
        </p:txBody>
      </p:sp>
      <p:sp>
        <p:nvSpPr>
          <p:cNvPr id="34" name="text-033: 接受一次任务 → 执行 → 发布结果"/>
          <p:cNvSpPr txBox="1"/>
          <p:nvPr/>
        </p:nvSpPr>
        <p:spPr>
          <a:xfrm>
            <a:off x="4672584" y="4424233"/>
            <a:ext cx="27650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接受一次任务 → 执行 → 发布结果</a:t>
            </a:r>
          </a:p>
        </p:txBody>
      </p:sp>
      <p:sp>
        <p:nvSpPr>
          <p:cNvPr id="35" name="text-034: 局部复位要处理已接受事务"/>
          <p:cNvSpPr txBox="1"/>
          <p:nvPr/>
        </p:nvSpPr>
        <p:spPr>
          <a:xfrm>
            <a:off x="4672584" y="463759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局部复位要处理已接受事务</a:t>
            </a:r>
          </a:p>
        </p:txBody>
      </p:sp>
      <p:sp>
        <p:nvSpPr>
          <p:cNvPr id="36" name="text-035: 异常结束须保留可诊断状态"/>
          <p:cNvSpPr txBox="1"/>
          <p:nvPr/>
        </p:nvSpPr>
        <p:spPr>
          <a:xfrm>
            <a:off x="4672584" y="4850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异常结束须保留可诊断状态</a:t>
            </a:r>
          </a:p>
        </p:txBody>
      </p:sp>
      <p:sp>
        <p:nvSpPr>
          <p:cNvPr id="37" name="rect-036"/>
          <p:cNvSpPr/>
          <p:nvPr/>
        </p:nvSpPr>
        <p:spPr>
          <a:xfrm>
            <a:off x="10099040" y="1955800"/>
            <a:ext cx="2311400" cy="1315720"/>
          </a:xfrm>
          <a:prstGeom prst="roundRect">
            <a:avLst>
              <a:gd name="adj" fmla="val 378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10099040" y="1955800"/>
            <a:ext cx="35560" cy="13157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可选 AXI 主端"/>
          <p:cNvSpPr txBox="1"/>
          <p:nvPr/>
        </p:nvSpPr>
        <p:spPr>
          <a:xfrm>
            <a:off x="10219944" y="1983679"/>
            <a:ext cx="12866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可选 AXI 主端</a:t>
            </a:r>
          </a:p>
        </p:txBody>
      </p:sp>
      <p:sp>
        <p:nvSpPr>
          <p:cNvPr id="40" name="text-039: 地址 / 长度 / 对齐"/>
          <p:cNvSpPr txBox="1"/>
          <p:nvPr/>
        </p:nvSpPr>
        <p:spPr>
          <a:xfrm>
            <a:off x="10219944" y="2255073"/>
            <a:ext cx="1576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 / 长度 / 对齐</a:t>
            </a:r>
          </a:p>
        </p:txBody>
      </p:sp>
      <p:sp>
        <p:nvSpPr>
          <p:cNvPr id="41" name="text-040: ID / 在途 / 错误恢复"/>
          <p:cNvSpPr txBox="1"/>
          <p:nvPr/>
        </p:nvSpPr>
        <p:spPr>
          <a:xfrm>
            <a:off x="10219944" y="2468433"/>
            <a:ext cx="173371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ID / 在途 / 错误恢复</a:t>
            </a:r>
          </a:p>
        </p:txBody>
      </p:sp>
      <p:sp>
        <p:nvSpPr>
          <p:cNvPr id="42" name="text-041: 共享缓冲区所有权"/>
          <p:cNvSpPr txBox="1"/>
          <p:nvPr/>
        </p:nvSpPr>
        <p:spPr>
          <a:xfrm>
            <a:off x="10219944" y="2681793"/>
            <a:ext cx="15361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共享缓冲区所有权</a:t>
            </a:r>
          </a:p>
        </p:txBody>
      </p:sp>
      <p:sp>
        <p:nvSpPr>
          <p:cNvPr id="43" name="rect-042"/>
          <p:cNvSpPr/>
          <p:nvPr/>
        </p:nvSpPr>
        <p:spPr>
          <a:xfrm>
            <a:off x="10099040" y="4231640"/>
            <a:ext cx="231140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10099040" y="423164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可选 IRQ → PLIC"/>
          <p:cNvSpPr txBox="1"/>
          <p:nvPr/>
        </p:nvSpPr>
        <p:spPr>
          <a:xfrm>
            <a:off x="10219944" y="4259519"/>
            <a:ext cx="15488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可选 IRQ → PLIC</a:t>
            </a:r>
          </a:p>
        </p:txBody>
      </p:sp>
      <p:sp>
        <p:nvSpPr>
          <p:cNvPr id="46" name="text-045: 设备事件清除"/>
          <p:cNvSpPr txBox="1"/>
          <p:nvPr/>
        </p:nvSpPr>
        <p:spPr>
          <a:xfrm>
            <a:off x="10219944" y="4530913"/>
            <a:ext cx="11948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设备事件清除</a:t>
            </a:r>
          </a:p>
        </p:txBody>
      </p:sp>
      <p:sp>
        <p:nvSpPr>
          <p:cNvPr id="47" name="text-046: claim / complete"/>
          <p:cNvSpPr txBox="1"/>
          <p:nvPr/>
        </p:nvSpPr>
        <p:spPr>
          <a:xfrm>
            <a:off x="10219944" y="4744273"/>
            <a:ext cx="14421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48" name="text-047: 不替代结果检查"/>
          <p:cNvSpPr txBox="1"/>
          <p:nvPr/>
        </p:nvSpPr>
        <p:spPr>
          <a:xfrm>
            <a:off x="10219944" y="4957633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不替代结果检查</a:t>
            </a:r>
          </a:p>
        </p:txBody>
      </p:sp>
      <p:sp>
        <p:nvSpPr>
          <p:cNvPr id="49" name="rect-048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-049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系统验收必须跨过接口边界"/>
          <p:cNvSpPr txBox="1"/>
          <p:nvPr/>
        </p:nvSpPr>
        <p:spPr>
          <a:xfrm>
            <a:off x="512064" y="653535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系统验收必须跨过接口边界</a:t>
            </a:r>
          </a:p>
        </p:txBody>
      </p:sp>
      <p:sp>
        <p:nvSpPr>
          <p:cNvPr id="52" name="text-051: 寄存器副作用 → 一次受控任务 → 数值结果 → 错误 / 超时 / 重置；增加"/>
          <p:cNvSpPr txBox="1"/>
          <p:nvPr/>
        </p:nvSpPr>
        <p:spPr>
          <a:xfrm>
            <a:off x="512064" y="6822115"/>
            <a:ext cx="86112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寄存器副作用 → 一次受控任务 → 数值结果 → 错误 / 超时 / 重置；增加主端还要验证地址权限、缓存可见性与跨域排空。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31648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49286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7787640" y="2275840"/>
            <a:ext cx="1849120" cy="1"/>
          </a:xfrm>
          <a:custGeom>
            <a:avLst/>
            <a:gdLst/>
            <a:ahLst/>
            <a:cxnLst/>
            <a:rect l="0" t="0" r="r" b="b"/>
            <a:pathLst>
              <a:path w="1849120" h="1">
                <a:moveTo>
                  <a:pt x="0" y="0"/>
                </a:moveTo>
                <a:lnTo>
                  <a:pt x="184912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9551416" y="2240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436860" y="2844800"/>
            <a:ext cx="586740" cy="1351280"/>
          </a:xfrm>
          <a:custGeom>
            <a:avLst/>
            <a:gdLst/>
            <a:ahLst/>
            <a:cxnLst/>
            <a:rect l="0" t="0" r="r" b="b"/>
            <a:pathLst>
              <a:path w="586740" h="1351280">
                <a:moveTo>
                  <a:pt x="586740" y="0"/>
                </a:moveTo>
                <a:lnTo>
                  <a:pt x="0" y="13512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36860" y="4103624"/>
            <a:ext cx="66639" cy="92456"/>
          </a:xfrm>
          <a:custGeom>
            <a:avLst/>
            <a:gdLst/>
            <a:ahLst/>
            <a:cxnLst/>
            <a:rect l="0" t="0" r="r" b="b"/>
            <a:pathLst>
              <a:path w="66639" h="92456">
                <a:moveTo>
                  <a:pt x="0" y="92456"/>
                </a:moveTo>
                <a:lnTo>
                  <a:pt x="66639" y="28306"/>
                </a:lnTo>
                <a:lnTo>
                  <a:pt x="1351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778000" y="2844800"/>
            <a:ext cx="6685280" cy="1955800"/>
          </a:xfrm>
          <a:custGeom>
            <a:avLst/>
            <a:gdLst/>
            <a:ahLst/>
            <a:cxnLst/>
            <a:rect l="0" t="0" r="r" b="b"/>
            <a:pathLst>
              <a:path w="6685280" h="1955800">
                <a:moveTo>
                  <a:pt x="6685280" y="1955800"/>
                </a:moveTo>
                <a:lnTo>
                  <a:pt x="0" y="195580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742440" y="28448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外设事件进入 CPU：设备状态、PLIC 与 trap 服务闭环"/>
          <p:cNvSpPr txBox="1"/>
          <p:nvPr/>
        </p:nvSpPr>
        <p:spPr>
          <a:xfrm>
            <a:off x="483616" y="271109"/>
            <a:ext cx="631709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外设事件进入 CPU：设备状态、PLIC 与 trap 服务闭环</a:t>
            </a:r>
          </a:p>
        </p:txBody>
      </p:sp>
      <p:sp>
        <p:nvSpPr>
          <p:cNvPr id="15" name="text-014: PLIC 外部中断与 CLINT 定时器走不同入口；complete 不自动清除"/>
          <p:cNvSpPr txBox="1"/>
          <p:nvPr/>
        </p:nvSpPr>
        <p:spPr>
          <a:xfrm>
            <a:off x="483616" y="676778"/>
            <a:ext cx="567437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外部中断与 CLINT 定时器走不同入口；complete 不自动清除设备事件。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PLIC / CLINT 接入；CPU 中断门控；现有驱动与 trap h"/>
          <p:cNvSpPr txBox="1"/>
          <p:nvPr/>
        </p:nvSpPr>
        <p:spPr>
          <a:xfrm>
            <a:off x="341376" y="7726477"/>
            <a:ext cx="435034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源码：PLIC / CLINT 接入；CPU 中断门控；现有驱动与 trap handler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7068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设备事件"/>
          <p:cNvSpPr txBox="1"/>
          <p:nvPr/>
        </p:nvSpPr>
        <p:spPr>
          <a:xfrm>
            <a:off x="512064" y="173475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设备事件</a:t>
            </a:r>
          </a:p>
        </p:txBody>
      </p:sp>
      <p:sp>
        <p:nvSpPr>
          <p:cNvPr id="21" name="text-020: FIFO / 状态置位"/>
          <p:cNvSpPr txBox="1"/>
          <p:nvPr/>
        </p:nvSpPr>
        <p:spPr>
          <a:xfrm>
            <a:off x="512064" y="2006153"/>
            <a:ext cx="13650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FIFO / 状态置位</a:t>
            </a:r>
          </a:p>
        </p:txBody>
      </p:sp>
      <p:sp>
        <p:nvSpPr>
          <p:cNvPr id="22" name="text-021: 保持 IRQ 直到按协议清源"/>
          <p:cNvSpPr txBox="1"/>
          <p:nvPr/>
        </p:nvSpPr>
        <p:spPr>
          <a:xfrm>
            <a:off x="512064" y="2219513"/>
            <a:ext cx="207175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保持 IRQ 直到按协议清源</a:t>
            </a:r>
          </a:p>
        </p:txBody>
      </p:sp>
      <p:sp>
        <p:nvSpPr>
          <p:cNvPr id="23" name="rect-022"/>
          <p:cNvSpPr/>
          <p:nvPr/>
        </p:nvSpPr>
        <p:spPr>
          <a:xfrm>
            <a:off x="50139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5013960" y="17068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PLIC"/>
          <p:cNvSpPr txBox="1"/>
          <p:nvPr/>
        </p:nvSpPr>
        <p:spPr>
          <a:xfrm>
            <a:off x="5134864" y="1734759"/>
            <a:ext cx="5433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</a:t>
            </a:r>
          </a:p>
        </p:txBody>
      </p:sp>
      <p:sp>
        <p:nvSpPr>
          <p:cNvPr id="26" name="text-025: pending / priority"/>
          <p:cNvSpPr txBox="1"/>
          <p:nvPr/>
        </p:nvSpPr>
        <p:spPr>
          <a:xfrm>
            <a:off x="5134864" y="2006153"/>
            <a:ext cx="1448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pending / priority</a:t>
            </a:r>
          </a:p>
        </p:txBody>
      </p:sp>
      <p:sp>
        <p:nvSpPr>
          <p:cNvPr id="27" name="text-026: enable / threshold"/>
          <p:cNvSpPr txBox="1"/>
          <p:nvPr/>
        </p:nvSpPr>
        <p:spPr>
          <a:xfrm>
            <a:off x="5134864" y="2219513"/>
            <a:ext cx="1561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enable / threshold</a:t>
            </a:r>
          </a:p>
        </p:txBody>
      </p:sp>
      <p:sp>
        <p:nvSpPr>
          <p:cNvPr id="28" name="rect-027"/>
          <p:cNvSpPr/>
          <p:nvPr/>
        </p:nvSpPr>
        <p:spPr>
          <a:xfrm>
            <a:off x="9636760" y="1706880"/>
            <a:ext cx="2773680" cy="1137920"/>
          </a:xfrm>
          <a:prstGeom prst="roundRect">
            <a:avLst>
              <a:gd name="adj" fmla="val 437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9636760" y="1706880"/>
            <a:ext cx="35560" cy="1137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CPU CSR 门控"/>
          <p:cNvSpPr txBox="1"/>
          <p:nvPr/>
        </p:nvSpPr>
        <p:spPr>
          <a:xfrm>
            <a:off x="9757664" y="1734759"/>
            <a:ext cx="134533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CPU CSR 门控</a:t>
            </a:r>
          </a:p>
        </p:txBody>
      </p:sp>
      <p:sp>
        <p:nvSpPr>
          <p:cNvPr id="31" name="text-030: mie / mstatus / mcause"/>
          <p:cNvSpPr txBox="1"/>
          <p:nvPr/>
        </p:nvSpPr>
        <p:spPr>
          <a:xfrm>
            <a:off x="9757664" y="2006153"/>
            <a:ext cx="202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mie / mstatus / mcause</a:t>
            </a:r>
          </a:p>
        </p:txBody>
      </p:sp>
      <p:sp>
        <p:nvSpPr>
          <p:cNvPr id="32" name="text-031: 跳转 mtvec 的 trap 入口"/>
          <p:cNvSpPr txBox="1"/>
          <p:nvPr/>
        </p:nvSpPr>
        <p:spPr>
          <a:xfrm>
            <a:off x="9757664" y="2219513"/>
            <a:ext cx="19650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跳转 mtvec 的 trap 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8463280" y="4196080"/>
            <a:ext cx="3947160" cy="1173480"/>
          </a:xfrm>
          <a:prstGeom prst="roundRect">
            <a:avLst>
              <a:gd name="adj" fmla="val 4242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8463280" y="4196080"/>
            <a:ext cx="35560" cy="11734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软件 handler"/>
          <p:cNvSpPr txBox="1"/>
          <p:nvPr/>
        </p:nvSpPr>
        <p:spPr>
          <a:xfrm>
            <a:off x="8584184" y="4223959"/>
            <a:ext cx="12118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软件 handler</a:t>
            </a:r>
          </a:p>
        </p:txBody>
      </p:sp>
      <p:sp>
        <p:nvSpPr>
          <p:cNvPr id="36" name="text-035: 识别外部中断 → PLIC claim"/>
          <p:cNvSpPr txBox="1"/>
          <p:nvPr/>
        </p:nvSpPr>
        <p:spPr>
          <a:xfrm>
            <a:off x="8584184" y="4495353"/>
            <a:ext cx="22452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识别外部中断 → PLIC claim</a:t>
            </a:r>
          </a:p>
        </p:txBody>
      </p:sp>
      <p:sp>
        <p:nvSpPr>
          <p:cNvPr id="37" name="text-036: 读取设备数据 / 清事件"/>
          <p:cNvSpPr txBox="1"/>
          <p:nvPr/>
        </p:nvSpPr>
        <p:spPr>
          <a:xfrm>
            <a:off x="8584184" y="4708713"/>
            <a:ext cx="18979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读取设备数据 / 清事件</a:t>
            </a:r>
          </a:p>
        </p:txBody>
      </p:sp>
      <p:sp>
        <p:nvSpPr>
          <p:cNvPr id="38" name="text-037: PLIC complete → mret"/>
          <p:cNvSpPr txBox="1"/>
          <p:nvPr/>
        </p:nvSpPr>
        <p:spPr>
          <a:xfrm>
            <a:off x="8584184" y="4922073"/>
            <a:ext cx="18517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PLIC complete → mret</a:t>
            </a:r>
          </a:p>
        </p:txBody>
      </p:sp>
      <p:sp>
        <p:nvSpPr>
          <p:cNvPr id="39" name="text-038: 处理并清设备源，再 complete；避免中断立即重入"/>
          <p:cNvSpPr txBox="1"/>
          <p:nvPr/>
        </p:nvSpPr>
        <p:spPr>
          <a:xfrm>
            <a:off x="2844800" y="4438457"/>
            <a:ext cx="39793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处理并清设备源，再 complete；避免中断立即重入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608076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PLIC 的 claim / complete"/>
          <p:cNvSpPr txBox="1"/>
          <p:nvPr/>
        </p:nvSpPr>
        <p:spPr>
          <a:xfrm>
            <a:off x="512064" y="6108639"/>
            <a:ext cx="221662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PLIC 的 claim / complete</a:t>
            </a:r>
          </a:p>
        </p:txBody>
      </p:sp>
      <p:sp>
        <p:nvSpPr>
          <p:cNvPr id="43" name="text-042: claim 确认待服务来源；complete 结束服务状态"/>
          <p:cNvSpPr txBox="1"/>
          <p:nvPr/>
        </p:nvSpPr>
        <p:spPr>
          <a:xfrm>
            <a:off x="512064" y="6395395"/>
            <a:ext cx="34311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claim 确认待服务来源；complete 结束服务状态</a:t>
            </a:r>
          </a:p>
        </p:txBody>
      </p:sp>
      <p:sp>
        <p:nvSpPr>
          <p:cNvPr id="44" name="text-043: 设备电平仍有效时，后续可能再次 pending"/>
          <p:cNvSpPr txBox="1"/>
          <p:nvPr/>
        </p:nvSpPr>
        <p:spPr>
          <a:xfrm>
            <a:off x="512064" y="6608755"/>
            <a:ext cx="308771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设备电平仍有效时，后续可能再次 pending</a:t>
            </a:r>
          </a:p>
        </p:txBody>
      </p:sp>
      <p:sp>
        <p:nvSpPr>
          <p:cNvPr id="45" name="rect-044"/>
          <p:cNvSpPr/>
          <p:nvPr/>
        </p:nvSpPr>
        <p:spPr>
          <a:xfrm>
            <a:off x="6756400" y="6080760"/>
            <a:ext cx="5654040" cy="1066800"/>
          </a:xfrm>
          <a:prstGeom prst="roundRect">
            <a:avLst>
              <a:gd name="adj" fmla="val 466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6756400" y="6080760"/>
            <a:ext cx="35560" cy="106680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CLINT：独立的计时器入口"/>
          <p:cNvSpPr txBox="1"/>
          <p:nvPr/>
        </p:nvSpPr>
        <p:spPr>
          <a:xfrm>
            <a:off x="6877304" y="6108639"/>
            <a:ext cx="23184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CLINT：独立的计时器入口</a:t>
            </a:r>
          </a:p>
        </p:txBody>
      </p:sp>
      <p:sp>
        <p:nvSpPr>
          <p:cNvPr id="48" name="text-047: mtime ≥ mtimecmp → MTIP → CPU 定时器中断"/>
          <p:cNvSpPr txBox="1"/>
          <p:nvPr/>
        </p:nvSpPr>
        <p:spPr>
          <a:xfrm>
            <a:off x="6877304" y="6395395"/>
            <a:ext cx="34732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mtime ≥ mtimecmp → MTIP → CPU 定时器中断</a:t>
            </a:r>
          </a:p>
        </p:txBody>
      </p:sp>
      <p:sp>
        <p:nvSpPr>
          <p:cNvPr id="49" name="text-048: 处理后将比较值推迟到下一次到期时间"/>
          <p:cNvSpPr txBox="1"/>
          <p:nvPr/>
        </p:nvSpPr>
        <p:spPr>
          <a:xfrm>
            <a:off x="6877304" y="6608755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处理后将比较值推迟到下一次到期时间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text-005: 64 位 AXI 数据拍中的 32 位寄存器访问"/>
          <p:cNvSpPr txBox="1"/>
          <p:nvPr/>
        </p:nvSpPr>
        <p:spPr>
          <a:xfrm>
            <a:off x="483616" y="271109"/>
            <a:ext cx="4674118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64 位 AXI 数据拍中的 32 位寄存器访问</a:t>
            </a:r>
          </a:p>
        </p:txBody>
      </p:sp>
      <p:sp>
        <p:nvSpPr>
          <p:cNvPr id="7" name="text-006: 一个 64 位总线拍有 8 个字节 lane；地址、WSTRB、数据位置与读返回"/>
          <p:cNvSpPr txBox="1"/>
          <p:nvPr/>
        </p:nvSpPr>
        <p:spPr>
          <a:xfrm>
            <a:off x="483616" y="676778"/>
            <a:ext cx="643361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一个 64 位总线拍有 8 个字节 lane；地址、WSTRB、数据位置与读返回必须一致适配。</a:t>
            </a:r>
          </a:p>
        </p:txBody>
      </p:sp>
      <p:sp>
        <p:nvSpPr>
          <p:cNvPr id="8" name="text-007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9" name="text-008: 依据：AXI byte-lane 语义；cheshire_idma_wrap 与"/>
          <p:cNvSpPr txBox="1"/>
          <p:nvPr/>
        </p:nvSpPr>
        <p:spPr>
          <a:xfrm>
            <a:off x="341376" y="7726477"/>
            <a:ext cx="58784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依据：AXI byte-lane 语义；cheshire_idma_wrap 与 idma_reg64_2d_reg_top 的当前接口差异</a:t>
            </a:r>
          </a:p>
        </p:txBody>
      </p:sp>
      <p:sp>
        <p:nvSpPr>
          <p:cNvPr id="10" name="text-009: 地址 +0：低 32 位有效"/>
          <p:cNvSpPr txBox="1"/>
          <p:nvPr/>
        </p:nvSpPr>
        <p:spPr>
          <a:xfrm>
            <a:off x="426720" y="134189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地址 +0：低 32 位有效</a:t>
            </a:r>
          </a:p>
        </p:txBody>
      </p:sp>
      <p:sp>
        <p:nvSpPr>
          <p:cNvPr id="11" name="text-010: 地址 +4：高 32 位有效"/>
          <p:cNvSpPr txBox="1"/>
          <p:nvPr/>
        </p:nvSpPr>
        <p:spPr>
          <a:xfrm>
            <a:off x="426720" y="3511052"/>
            <a:ext cx="2330158" cy="3299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4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地址 +4：高 32 位有效</a:t>
            </a:r>
          </a:p>
        </p:txBody>
      </p:sp>
      <p:sp>
        <p:nvSpPr>
          <p:cNvPr id="12" name="rect-011"/>
          <p:cNvSpPr/>
          <p:nvPr/>
        </p:nvSpPr>
        <p:spPr>
          <a:xfrm>
            <a:off x="46228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2"/>
          <p:cNvSpPr/>
          <p:nvPr/>
        </p:nvSpPr>
        <p:spPr>
          <a:xfrm>
            <a:off x="462280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lane 0"/>
          <p:cNvSpPr txBox="1"/>
          <p:nvPr/>
        </p:nvSpPr>
        <p:spPr>
          <a:xfrm>
            <a:off x="58318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15" name="text-014: bit 7:0"/>
          <p:cNvSpPr txBox="1"/>
          <p:nvPr/>
        </p:nvSpPr>
        <p:spPr>
          <a:xfrm>
            <a:off x="583184" y="215607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16" name="text-015: STRB[0] = 1"/>
          <p:cNvSpPr txBox="1"/>
          <p:nvPr/>
        </p:nvSpPr>
        <p:spPr>
          <a:xfrm>
            <a:off x="58318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1</a:t>
            </a:r>
          </a:p>
        </p:txBody>
      </p:sp>
      <p:sp>
        <p:nvSpPr>
          <p:cNvPr id="17" name="text-016: 有效字节"/>
          <p:cNvSpPr txBox="1"/>
          <p:nvPr/>
        </p:nvSpPr>
        <p:spPr>
          <a:xfrm>
            <a:off x="583184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8" name="rect-017"/>
          <p:cNvSpPr/>
          <p:nvPr/>
        </p:nvSpPr>
        <p:spPr>
          <a:xfrm>
            <a:off x="194868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1948688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lane 1"/>
          <p:cNvSpPr txBox="1"/>
          <p:nvPr/>
        </p:nvSpPr>
        <p:spPr>
          <a:xfrm>
            <a:off x="206959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21" name="text-020: bit 15:8"/>
          <p:cNvSpPr txBox="1"/>
          <p:nvPr/>
        </p:nvSpPr>
        <p:spPr>
          <a:xfrm>
            <a:off x="2069592" y="215607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22" name="text-021: STRB[1] = 1"/>
          <p:cNvSpPr txBox="1"/>
          <p:nvPr/>
        </p:nvSpPr>
        <p:spPr>
          <a:xfrm>
            <a:off x="206959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1</a:t>
            </a:r>
          </a:p>
        </p:txBody>
      </p:sp>
      <p:sp>
        <p:nvSpPr>
          <p:cNvPr id="23" name="text-022: 有效字节"/>
          <p:cNvSpPr txBox="1"/>
          <p:nvPr/>
        </p:nvSpPr>
        <p:spPr>
          <a:xfrm>
            <a:off x="2069592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24" name="rect-023"/>
          <p:cNvSpPr/>
          <p:nvPr/>
        </p:nvSpPr>
        <p:spPr>
          <a:xfrm>
            <a:off x="343509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435096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lane 2"/>
          <p:cNvSpPr txBox="1"/>
          <p:nvPr/>
        </p:nvSpPr>
        <p:spPr>
          <a:xfrm>
            <a:off x="355600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27" name="text-026: bit 23:16"/>
          <p:cNvSpPr txBox="1"/>
          <p:nvPr/>
        </p:nvSpPr>
        <p:spPr>
          <a:xfrm>
            <a:off x="355600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28" name="text-027: STRB[2] = 1"/>
          <p:cNvSpPr txBox="1"/>
          <p:nvPr/>
        </p:nvSpPr>
        <p:spPr>
          <a:xfrm>
            <a:off x="355600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1</a:t>
            </a:r>
          </a:p>
        </p:txBody>
      </p:sp>
      <p:sp>
        <p:nvSpPr>
          <p:cNvPr id="29" name="text-028: 有效字节"/>
          <p:cNvSpPr txBox="1"/>
          <p:nvPr/>
        </p:nvSpPr>
        <p:spPr>
          <a:xfrm>
            <a:off x="3556000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0" name="rect-029"/>
          <p:cNvSpPr/>
          <p:nvPr/>
        </p:nvSpPr>
        <p:spPr>
          <a:xfrm>
            <a:off x="4921504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-030"/>
          <p:cNvSpPr/>
          <p:nvPr/>
        </p:nvSpPr>
        <p:spPr>
          <a:xfrm>
            <a:off x="4921504" y="1849120"/>
            <a:ext cx="35560" cy="11734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lane 3"/>
          <p:cNvSpPr txBox="1"/>
          <p:nvPr/>
        </p:nvSpPr>
        <p:spPr>
          <a:xfrm>
            <a:off x="5042408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33" name="text-032: bit 31:24"/>
          <p:cNvSpPr txBox="1"/>
          <p:nvPr/>
        </p:nvSpPr>
        <p:spPr>
          <a:xfrm>
            <a:off x="5042408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34" name="text-033: STRB[3] = 1"/>
          <p:cNvSpPr txBox="1"/>
          <p:nvPr/>
        </p:nvSpPr>
        <p:spPr>
          <a:xfrm>
            <a:off x="5042408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1</a:t>
            </a:r>
          </a:p>
        </p:txBody>
      </p:sp>
      <p:sp>
        <p:nvSpPr>
          <p:cNvPr id="35" name="text-034: 有效字节"/>
          <p:cNvSpPr txBox="1"/>
          <p:nvPr/>
        </p:nvSpPr>
        <p:spPr>
          <a:xfrm>
            <a:off x="5042408" y="258279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36" name="rect-035"/>
          <p:cNvSpPr/>
          <p:nvPr/>
        </p:nvSpPr>
        <p:spPr>
          <a:xfrm>
            <a:off x="6407912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407912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lane 4"/>
          <p:cNvSpPr txBox="1"/>
          <p:nvPr/>
        </p:nvSpPr>
        <p:spPr>
          <a:xfrm>
            <a:off x="6528816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39" name="text-038: bit 39:32"/>
          <p:cNvSpPr txBox="1"/>
          <p:nvPr/>
        </p:nvSpPr>
        <p:spPr>
          <a:xfrm>
            <a:off x="6528816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40" name="text-039: STRB[4] = 0"/>
          <p:cNvSpPr txBox="1"/>
          <p:nvPr/>
        </p:nvSpPr>
        <p:spPr>
          <a:xfrm>
            <a:off x="6528816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0</a:t>
            </a:r>
          </a:p>
        </p:txBody>
      </p:sp>
      <p:sp>
        <p:nvSpPr>
          <p:cNvPr id="41" name="text-040: 不写入"/>
          <p:cNvSpPr txBox="1"/>
          <p:nvPr/>
        </p:nvSpPr>
        <p:spPr>
          <a:xfrm>
            <a:off x="6528816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2" name="rect-041"/>
          <p:cNvSpPr/>
          <p:nvPr/>
        </p:nvSpPr>
        <p:spPr>
          <a:xfrm>
            <a:off x="7894320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894320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lane 5"/>
          <p:cNvSpPr txBox="1"/>
          <p:nvPr/>
        </p:nvSpPr>
        <p:spPr>
          <a:xfrm>
            <a:off x="8015224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45" name="text-044: bit 47:40"/>
          <p:cNvSpPr txBox="1"/>
          <p:nvPr/>
        </p:nvSpPr>
        <p:spPr>
          <a:xfrm>
            <a:off x="8015224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46" name="text-045: STRB[5] = 0"/>
          <p:cNvSpPr txBox="1"/>
          <p:nvPr/>
        </p:nvSpPr>
        <p:spPr>
          <a:xfrm>
            <a:off x="8015224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0</a:t>
            </a:r>
          </a:p>
        </p:txBody>
      </p:sp>
      <p:sp>
        <p:nvSpPr>
          <p:cNvPr id="47" name="text-046: 不写入"/>
          <p:cNvSpPr txBox="1"/>
          <p:nvPr/>
        </p:nvSpPr>
        <p:spPr>
          <a:xfrm>
            <a:off x="8015224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48" name="rect-047"/>
          <p:cNvSpPr/>
          <p:nvPr/>
        </p:nvSpPr>
        <p:spPr>
          <a:xfrm>
            <a:off x="9380728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380728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lane 6"/>
          <p:cNvSpPr txBox="1"/>
          <p:nvPr/>
        </p:nvSpPr>
        <p:spPr>
          <a:xfrm>
            <a:off x="9501632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51" name="text-050: bit 55:48"/>
          <p:cNvSpPr txBox="1"/>
          <p:nvPr/>
        </p:nvSpPr>
        <p:spPr>
          <a:xfrm>
            <a:off x="9501632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52" name="text-051: STRB[6] = 0"/>
          <p:cNvSpPr txBox="1"/>
          <p:nvPr/>
        </p:nvSpPr>
        <p:spPr>
          <a:xfrm>
            <a:off x="9501632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0</a:t>
            </a:r>
          </a:p>
        </p:txBody>
      </p:sp>
      <p:sp>
        <p:nvSpPr>
          <p:cNvPr id="53" name="text-052: 不写入"/>
          <p:cNvSpPr txBox="1"/>
          <p:nvPr/>
        </p:nvSpPr>
        <p:spPr>
          <a:xfrm>
            <a:off x="9501632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54" name="rect-053"/>
          <p:cNvSpPr/>
          <p:nvPr/>
        </p:nvSpPr>
        <p:spPr>
          <a:xfrm>
            <a:off x="10867136" y="184912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10867136" y="184912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lane 7"/>
          <p:cNvSpPr txBox="1"/>
          <p:nvPr/>
        </p:nvSpPr>
        <p:spPr>
          <a:xfrm>
            <a:off x="10988040" y="187699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57" name="text-056: bit 63:56"/>
          <p:cNvSpPr txBox="1"/>
          <p:nvPr/>
        </p:nvSpPr>
        <p:spPr>
          <a:xfrm>
            <a:off x="10988040" y="215607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58" name="text-057: STRB[7] = 0"/>
          <p:cNvSpPr txBox="1"/>
          <p:nvPr/>
        </p:nvSpPr>
        <p:spPr>
          <a:xfrm>
            <a:off x="10988040" y="236943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0</a:t>
            </a:r>
          </a:p>
        </p:txBody>
      </p:sp>
      <p:sp>
        <p:nvSpPr>
          <p:cNvPr id="59" name="text-058: 不写入"/>
          <p:cNvSpPr txBox="1"/>
          <p:nvPr/>
        </p:nvSpPr>
        <p:spPr>
          <a:xfrm>
            <a:off x="10988040" y="258279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0" name="text-059: WSTRB = 0x0F；WDATA[31:0] = value"/>
          <p:cNvSpPr txBox="1"/>
          <p:nvPr/>
        </p:nvSpPr>
        <p:spPr>
          <a:xfrm>
            <a:off x="533400" y="3157159"/>
            <a:ext cx="32887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WSTRB = 0x0F；WDATA[31:0] = value</a:t>
            </a:r>
          </a:p>
        </p:txBody>
      </p:sp>
      <p:sp>
        <p:nvSpPr>
          <p:cNvPr id="61" name="rect-060"/>
          <p:cNvSpPr/>
          <p:nvPr/>
        </p:nvSpPr>
        <p:spPr>
          <a:xfrm>
            <a:off x="46228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462280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lane 0"/>
          <p:cNvSpPr txBox="1"/>
          <p:nvPr/>
        </p:nvSpPr>
        <p:spPr>
          <a:xfrm>
            <a:off x="58318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0</a:t>
            </a:r>
          </a:p>
        </p:txBody>
      </p:sp>
      <p:sp>
        <p:nvSpPr>
          <p:cNvPr id="64" name="text-063: bit 7:0"/>
          <p:cNvSpPr txBox="1"/>
          <p:nvPr/>
        </p:nvSpPr>
        <p:spPr>
          <a:xfrm>
            <a:off x="583184" y="4325234"/>
            <a:ext cx="63736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7:0</a:t>
            </a:r>
          </a:p>
        </p:txBody>
      </p:sp>
      <p:sp>
        <p:nvSpPr>
          <p:cNvPr id="65" name="text-064: STRB[0] = 0"/>
          <p:cNvSpPr txBox="1"/>
          <p:nvPr/>
        </p:nvSpPr>
        <p:spPr>
          <a:xfrm>
            <a:off x="58318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STRB[0] = 0</a:t>
            </a:r>
          </a:p>
        </p:txBody>
      </p:sp>
      <p:sp>
        <p:nvSpPr>
          <p:cNvPr id="66" name="text-065: 不写入"/>
          <p:cNvSpPr txBox="1"/>
          <p:nvPr/>
        </p:nvSpPr>
        <p:spPr>
          <a:xfrm>
            <a:off x="583184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67" name="rect-066"/>
          <p:cNvSpPr/>
          <p:nvPr/>
        </p:nvSpPr>
        <p:spPr>
          <a:xfrm>
            <a:off x="194868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-067"/>
          <p:cNvSpPr/>
          <p:nvPr/>
        </p:nvSpPr>
        <p:spPr>
          <a:xfrm>
            <a:off x="1948688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lane 1"/>
          <p:cNvSpPr txBox="1"/>
          <p:nvPr/>
        </p:nvSpPr>
        <p:spPr>
          <a:xfrm>
            <a:off x="206959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1</a:t>
            </a:r>
          </a:p>
        </p:txBody>
      </p:sp>
      <p:sp>
        <p:nvSpPr>
          <p:cNvPr id="70" name="text-069: bit 15:8"/>
          <p:cNvSpPr txBox="1"/>
          <p:nvPr/>
        </p:nvSpPr>
        <p:spPr>
          <a:xfrm>
            <a:off x="2069592" y="4325234"/>
            <a:ext cx="73544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15:8</a:t>
            </a:r>
          </a:p>
        </p:txBody>
      </p:sp>
      <p:sp>
        <p:nvSpPr>
          <p:cNvPr id="71" name="text-070: STRB[1] = 0"/>
          <p:cNvSpPr txBox="1"/>
          <p:nvPr/>
        </p:nvSpPr>
        <p:spPr>
          <a:xfrm>
            <a:off x="206959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STRB[1] = 0</a:t>
            </a:r>
          </a:p>
        </p:txBody>
      </p:sp>
      <p:sp>
        <p:nvSpPr>
          <p:cNvPr id="72" name="text-071: 不写入"/>
          <p:cNvSpPr txBox="1"/>
          <p:nvPr/>
        </p:nvSpPr>
        <p:spPr>
          <a:xfrm>
            <a:off x="2069592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3" name="rect-072"/>
          <p:cNvSpPr/>
          <p:nvPr/>
        </p:nvSpPr>
        <p:spPr>
          <a:xfrm>
            <a:off x="343509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-073"/>
          <p:cNvSpPr/>
          <p:nvPr/>
        </p:nvSpPr>
        <p:spPr>
          <a:xfrm>
            <a:off x="3435096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4: lane 2"/>
          <p:cNvSpPr txBox="1"/>
          <p:nvPr/>
        </p:nvSpPr>
        <p:spPr>
          <a:xfrm>
            <a:off x="355600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2</a:t>
            </a:r>
          </a:p>
        </p:txBody>
      </p:sp>
      <p:sp>
        <p:nvSpPr>
          <p:cNvPr id="76" name="text-075: bit 23:16"/>
          <p:cNvSpPr txBox="1"/>
          <p:nvPr/>
        </p:nvSpPr>
        <p:spPr>
          <a:xfrm>
            <a:off x="355600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23:16</a:t>
            </a:r>
          </a:p>
        </p:txBody>
      </p:sp>
      <p:sp>
        <p:nvSpPr>
          <p:cNvPr id="77" name="text-076: STRB[2] = 0"/>
          <p:cNvSpPr txBox="1"/>
          <p:nvPr/>
        </p:nvSpPr>
        <p:spPr>
          <a:xfrm>
            <a:off x="355600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STRB[2] = 0</a:t>
            </a:r>
          </a:p>
        </p:txBody>
      </p:sp>
      <p:sp>
        <p:nvSpPr>
          <p:cNvPr id="78" name="text-077: 不写入"/>
          <p:cNvSpPr txBox="1"/>
          <p:nvPr/>
        </p:nvSpPr>
        <p:spPr>
          <a:xfrm>
            <a:off x="3556000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79" name="rect-078"/>
          <p:cNvSpPr/>
          <p:nvPr/>
        </p:nvSpPr>
        <p:spPr>
          <a:xfrm>
            <a:off x="4921504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-079"/>
          <p:cNvSpPr/>
          <p:nvPr/>
        </p:nvSpPr>
        <p:spPr>
          <a:xfrm>
            <a:off x="4921504" y="4018280"/>
            <a:ext cx="35560" cy="117348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0: lane 3"/>
          <p:cNvSpPr txBox="1"/>
          <p:nvPr/>
        </p:nvSpPr>
        <p:spPr>
          <a:xfrm>
            <a:off x="5042408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lane 3</a:t>
            </a:r>
          </a:p>
        </p:txBody>
      </p:sp>
      <p:sp>
        <p:nvSpPr>
          <p:cNvPr id="82" name="text-081: bit 31:24"/>
          <p:cNvSpPr txBox="1"/>
          <p:nvPr/>
        </p:nvSpPr>
        <p:spPr>
          <a:xfrm>
            <a:off x="5042408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31:24</a:t>
            </a:r>
          </a:p>
        </p:txBody>
      </p:sp>
      <p:sp>
        <p:nvSpPr>
          <p:cNvPr id="83" name="text-082: STRB[3] = 0"/>
          <p:cNvSpPr txBox="1"/>
          <p:nvPr/>
        </p:nvSpPr>
        <p:spPr>
          <a:xfrm>
            <a:off x="5042408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STRB[3] = 0</a:t>
            </a:r>
          </a:p>
        </p:txBody>
      </p:sp>
      <p:sp>
        <p:nvSpPr>
          <p:cNvPr id="84" name="text-083: 不写入"/>
          <p:cNvSpPr txBox="1"/>
          <p:nvPr/>
        </p:nvSpPr>
        <p:spPr>
          <a:xfrm>
            <a:off x="5042408" y="4751954"/>
            <a:ext cx="654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不写入</a:t>
            </a:r>
          </a:p>
        </p:txBody>
      </p:sp>
      <p:sp>
        <p:nvSpPr>
          <p:cNvPr id="85" name="rect-084"/>
          <p:cNvSpPr/>
          <p:nvPr/>
        </p:nvSpPr>
        <p:spPr>
          <a:xfrm>
            <a:off x="6407912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-085"/>
          <p:cNvSpPr/>
          <p:nvPr/>
        </p:nvSpPr>
        <p:spPr>
          <a:xfrm>
            <a:off x="6407912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6: lane 4"/>
          <p:cNvSpPr txBox="1"/>
          <p:nvPr/>
        </p:nvSpPr>
        <p:spPr>
          <a:xfrm>
            <a:off x="6528816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4</a:t>
            </a:r>
          </a:p>
        </p:txBody>
      </p:sp>
      <p:sp>
        <p:nvSpPr>
          <p:cNvPr id="88" name="text-087: bit 39:32"/>
          <p:cNvSpPr txBox="1"/>
          <p:nvPr/>
        </p:nvSpPr>
        <p:spPr>
          <a:xfrm>
            <a:off x="6528816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39:32</a:t>
            </a:r>
          </a:p>
        </p:txBody>
      </p:sp>
      <p:sp>
        <p:nvSpPr>
          <p:cNvPr id="89" name="text-088: STRB[4] = 1"/>
          <p:cNvSpPr txBox="1"/>
          <p:nvPr/>
        </p:nvSpPr>
        <p:spPr>
          <a:xfrm>
            <a:off x="6528816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STRB[4] = 1</a:t>
            </a:r>
          </a:p>
        </p:txBody>
      </p:sp>
      <p:sp>
        <p:nvSpPr>
          <p:cNvPr id="90" name="text-089: 有效字节"/>
          <p:cNvSpPr txBox="1"/>
          <p:nvPr/>
        </p:nvSpPr>
        <p:spPr>
          <a:xfrm>
            <a:off x="6528816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1" name="rect-090"/>
          <p:cNvSpPr/>
          <p:nvPr/>
        </p:nvSpPr>
        <p:spPr>
          <a:xfrm>
            <a:off x="7894320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-091"/>
          <p:cNvSpPr/>
          <p:nvPr/>
        </p:nvSpPr>
        <p:spPr>
          <a:xfrm>
            <a:off x="7894320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-092: lane 5"/>
          <p:cNvSpPr txBox="1"/>
          <p:nvPr/>
        </p:nvSpPr>
        <p:spPr>
          <a:xfrm>
            <a:off x="8015224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5</a:t>
            </a:r>
          </a:p>
        </p:txBody>
      </p:sp>
      <p:sp>
        <p:nvSpPr>
          <p:cNvPr id="94" name="text-093: bit 47:40"/>
          <p:cNvSpPr txBox="1"/>
          <p:nvPr/>
        </p:nvSpPr>
        <p:spPr>
          <a:xfrm>
            <a:off x="8015224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47:40</a:t>
            </a:r>
          </a:p>
        </p:txBody>
      </p:sp>
      <p:sp>
        <p:nvSpPr>
          <p:cNvPr id="95" name="text-094: STRB[5] = 1"/>
          <p:cNvSpPr txBox="1"/>
          <p:nvPr/>
        </p:nvSpPr>
        <p:spPr>
          <a:xfrm>
            <a:off x="8015224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STRB[5] = 1</a:t>
            </a:r>
          </a:p>
        </p:txBody>
      </p:sp>
      <p:sp>
        <p:nvSpPr>
          <p:cNvPr id="96" name="text-095: 有效字节"/>
          <p:cNvSpPr txBox="1"/>
          <p:nvPr/>
        </p:nvSpPr>
        <p:spPr>
          <a:xfrm>
            <a:off x="8015224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97" name="rect-096"/>
          <p:cNvSpPr/>
          <p:nvPr/>
        </p:nvSpPr>
        <p:spPr>
          <a:xfrm>
            <a:off x="9380728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-097"/>
          <p:cNvSpPr/>
          <p:nvPr/>
        </p:nvSpPr>
        <p:spPr>
          <a:xfrm>
            <a:off x="9380728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-098: lane 6"/>
          <p:cNvSpPr txBox="1"/>
          <p:nvPr/>
        </p:nvSpPr>
        <p:spPr>
          <a:xfrm>
            <a:off x="9501632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6</a:t>
            </a:r>
          </a:p>
        </p:txBody>
      </p:sp>
      <p:sp>
        <p:nvSpPr>
          <p:cNvPr id="100" name="text-099: bit 55:48"/>
          <p:cNvSpPr txBox="1"/>
          <p:nvPr/>
        </p:nvSpPr>
        <p:spPr>
          <a:xfrm>
            <a:off x="9501632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55:48</a:t>
            </a:r>
          </a:p>
        </p:txBody>
      </p:sp>
      <p:sp>
        <p:nvSpPr>
          <p:cNvPr id="101" name="text-100: STRB[6] = 1"/>
          <p:cNvSpPr txBox="1"/>
          <p:nvPr/>
        </p:nvSpPr>
        <p:spPr>
          <a:xfrm>
            <a:off x="9501632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STRB[6] = 1</a:t>
            </a:r>
          </a:p>
        </p:txBody>
      </p:sp>
      <p:sp>
        <p:nvSpPr>
          <p:cNvPr id="102" name="text-101: 有效字节"/>
          <p:cNvSpPr txBox="1"/>
          <p:nvPr/>
        </p:nvSpPr>
        <p:spPr>
          <a:xfrm>
            <a:off x="9501632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3" name="rect-102"/>
          <p:cNvSpPr/>
          <p:nvPr/>
        </p:nvSpPr>
        <p:spPr>
          <a:xfrm>
            <a:off x="10867136" y="4018280"/>
            <a:ext cx="1393952" cy="1173480"/>
          </a:xfrm>
          <a:prstGeom prst="roundRect">
            <a:avLst>
              <a:gd name="adj" fmla="val 424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-103"/>
          <p:cNvSpPr/>
          <p:nvPr/>
        </p:nvSpPr>
        <p:spPr>
          <a:xfrm>
            <a:off x="10867136" y="4018280"/>
            <a:ext cx="35560" cy="11734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-104: lane 7"/>
          <p:cNvSpPr txBox="1"/>
          <p:nvPr/>
        </p:nvSpPr>
        <p:spPr>
          <a:xfrm>
            <a:off x="10988040" y="4046159"/>
            <a:ext cx="69450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lane 7</a:t>
            </a:r>
          </a:p>
        </p:txBody>
      </p:sp>
      <p:sp>
        <p:nvSpPr>
          <p:cNvPr id="106" name="text-105: bit 63:56"/>
          <p:cNvSpPr txBox="1"/>
          <p:nvPr/>
        </p:nvSpPr>
        <p:spPr>
          <a:xfrm>
            <a:off x="10988040" y="4325234"/>
            <a:ext cx="83352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bit 63:56</a:t>
            </a:r>
          </a:p>
        </p:txBody>
      </p:sp>
      <p:sp>
        <p:nvSpPr>
          <p:cNvPr id="107" name="text-106: STRB[7] = 1"/>
          <p:cNvSpPr txBox="1"/>
          <p:nvPr/>
        </p:nvSpPr>
        <p:spPr>
          <a:xfrm>
            <a:off x="10988040" y="4538594"/>
            <a:ext cx="10395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STRB[7] = 1</a:t>
            </a:r>
          </a:p>
        </p:txBody>
      </p:sp>
      <p:sp>
        <p:nvSpPr>
          <p:cNvPr id="108" name="text-107: 有效字节"/>
          <p:cNvSpPr txBox="1"/>
          <p:nvPr/>
        </p:nvSpPr>
        <p:spPr>
          <a:xfrm>
            <a:off x="10988040" y="4751954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有效字节</a:t>
            </a:r>
          </a:p>
        </p:txBody>
      </p:sp>
      <p:sp>
        <p:nvSpPr>
          <p:cNvPr id="109" name="text-108: WSTRB = 0xF0；WDATA[63:32] = value"/>
          <p:cNvSpPr txBox="1"/>
          <p:nvPr/>
        </p:nvSpPr>
        <p:spPr>
          <a:xfrm>
            <a:off x="533400" y="5326319"/>
            <a:ext cx="339965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WSTRB = 0xF0；WDATA[63:32] = value</a:t>
            </a:r>
          </a:p>
        </p:txBody>
      </p:sp>
      <p:sp>
        <p:nvSpPr>
          <p:cNvPr id="110" name="rect-109"/>
          <p:cNvSpPr/>
          <p:nvPr/>
        </p:nvSpPr>
        <p:spPr>
          <a:xfrm>
            <a:off x="462280" y="6294120"/>
            <a:ext cx="5618480" cy="910336"/>
          </a:xfrm>
          <a:prstGeom prst="roundRect">
            <a:avLst>
              <a:gd name="adj" fmla="val 546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-110"/>
          <p:cNvSpPr/>
          <p:nvPr/>
        </p:nvSpPr>
        <p:spPr>
          <a:xfrm>
            <a:off x="462280" y="6294120"/>
            <a:ext cx="35560" cy="910336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-111: 桥的写方向"/>
          <p:cNvSpPr txBox="1"/>
          <p:nvPr/>
        </p:nvSpPr>
        <p:spPr>
          <a:xfrm>
            <a:off x="58318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桥的写方向</a:t>
            </a:r>
          </a:p>
        </p:txBody>
      </p:sp>
      <p:sp>
        <p:nvSpPr>
          <p:cNvPr id="113" name="text-112: 按地址选择 lane → 提取对应 32 位 → 保持字节使能"/>
          <p:cNvSpPr txBox="1"/>
          <p:nvPr/>
        </p:nvSpPr>
        <p:spPr>
          <a:xfrm>
            <a:off x="583184" y="6608755"/>
            <a:ext cx="37792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按地址选择 lane → 提取对应 32 位 → 保持字节使能</a:t>
            </a:r>
          </a:p>
        </p:txBody>
      </p:sp>
      <p:sp>
        <p:nvSpPr>
          <p:cNvPr id="114" name="text-113: 只改变 typedef 位宽，不会自动完成数据搬移"/>
          <p:cNvSpPr txBox="1"/>
          <p:nvPr/>
        </p:nvSpPr>
        <p:spPr>
          <a:xfrm>
            <a:off x="583184" y="6822115"/>
            <a:ext cx="3253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只改变 typedef 位宽，不会自动完成数据搬移</a:t>
            </a:r>
          </a:p>
        </p:txBody>
      </p:sp>
      <p:sp>
        <p:nvSpPr>
          <p:cNvPr id="115" name="rect-114"/>
          <p:cNvSpPr/>
          <p:nvPr/>
        </p:nvSpPr>
        <p:spPr>
          <a:xfrm>
            <a:off x="6436360" y="6294120"/>
            <a:ext cx="5867400" cy="910336"/>
          </a:xfrm>
          <a:prstGeom prst="roundRect">
            <a:avLst>
              <a:gd name="adj" fmla="val 546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-115"/>
          <p:cNvSpPr/>
          <p:nvPr/>
        </p:nvSpPr>
        <p:spPr>
          <a:xfrm>
            <a:off x="6436360" y="6294120"/>
            <a:ext cx="35560" cy="910336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-116: 桥的读方向"/>
          <p:cNvSpPr txBox="1"/>
          <p:nvPr/>
        </p:nvSpPr>
        <p:spPr>
          <a:xfrm>
            <a:off x="6557264" y="632199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桥的读方向</a:t>
            </a:r>
          </a:p>
        </p:txBody>
      </p:sp>
      <p:sp>
        <p:nvSpPr>
          <p:cNvPr id="118" name="text-117: 32 位寄存器值须回填到正确的 64 位总线 lane"/>
          <p:cNvSpPr txBox="1"/>
          <p:nvPr/>
        </p:nvSpPr>
        <p:spPr>
          <a:xfrm>
            <a:off x="6557264" y="6608755"/>
            <a:ext cx="33568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32 位寄存器值须回填到正确的 64 位总线 lane</a:t>
            </a:r>
          </a:p>
        </p:txBody>
      </p:sp>
      <p:sp>
        <p:nvSpPr>
          <p:cNvPr id="119" name="text-118: DMA 控制位宽与 HAL ID 访问问题仍待专项验证"/>
          <p:cNvSpPr txBox="1"/>
          <p:nvPr/>
        </p:nvSpPr>
        <p:spPr>
          <a:xfrm>
            <a:off x="6557264" y="6822115"/>
            <a:ext cx="34226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DMA 控制位宽与 HAL ID 访问问题仍待专项验证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5582920" y="1422400"/>
            <a:ext cx="6614160" cy="3769360"/>
          </a:xfrm>
          <a:prstGeom prst="roundRect">
            <a:avLst>
              <a:gd name="adj" fmla="val 226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4053840" y="2133600"/>
            <a:ext cx="1529080" cy="924560"/>
          </a:xfrm>
          <a:custGeom>
            <a:avLst/>
            <a:gdLst/>
            <a:ahLst/>
            <a:cxnLst/>
            <a:rect l="0" t="0" r="r" b="b"/>
            <a:pathLst>
              <a:path w="1529080" h="924560">
                <a:moveTo>
                  <a:pt x="0" y="0"/>
                </a:moveTo>
                <a:lnTo>
                  <a:pt x="853440" y="0"/>
                </a:lnTo>
                <a:lnTo>
                  <a:pt x="853440" y="924560"/>
                </a:lnTo>
                <a:lnTo>
                  <a:pt x="1529080" y="92456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5497576" y="30226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4053840" y="3520440"/>
            <a:ext cx="1529080" cy="284480"/>
          </a:xfrm>
          <a:custGeom>
            <a:avLst/>
            <a:gdLst/>
            <a:ahLst/>
            <a:cxnLst/>
            <a:rect l="0" t="0" r="r" b="b"/>
            <a:pathLst>
              <a:path w="1529080" h="284480">
                <a:moveTo>
                  <a:pt x="0" y="284480"/>
                </a:moveTo>
                <a:lnTo>
                  <a:pt x="1066800" y="284480"/>
                </a:lnTo>
                <a:lnTo>
                  <a:pt x="1066800" y="0"/>
                </a:lnTo>
                <a:lnTo>
                  <a:pt x="1529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497576" y="34848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298440" y="6365240"/>
            <a:ext cx="1671320" cy="1"/>
          </a:xfrm>
          <a:custGeom>
            <a:avLst/>
            <a:gdLst/>
            <a:ahLst/>
            <a:cxnLst/>
            <a:rect l="0" t="0" r="r" b="b"/>
            <a:pathLst>
              <a:path w="1671320" h="1">
                <a:moveTo>
                  <a:pt x="0" y="0"/>
                </a:moveTo>
                <a:lnTo>
                  <a:pt x="16713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884416" y="63296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8818880" y="5191760"/>
            <a:ext cx="568960" cy="640080"/>
          </a:xfrm>
          <a:custGeom>
            <a:avLst/>
            <a:gdLst/>
            <a:ahLst/>
            <a:cxnLst/>
            <a:rect l="0" t="0" r="r" b="b"/>
            <a:pathLst>
              <a:path w="568960" h="640080">
                <a:moveTo>
                  <a:pt x="0" y="0"/>
                </a:moveTo>
                <a:lnTo>
                  <a:pt x="0" y="426720"/>
                </a:lnTo>
                <a:lnTo>
                  <a:pt x="568960" y="426720"/>
                </a:lnTo>
                <a:lnTo>
                  <a:pt x="568960" y="64008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9352280" y="5746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LLC / SPM：两个别名如何访问同一组 ways"/>
          <p:cNvSpPr txBox="1"/>
          <p:nvPr/>
        </p:nvSpPr>
        <p:spPr>
          <a:xfrm>
            <a:off x="483616" y="271109"/>
            <a:ext cx="5165179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LLC / SPM：两个别名如何访问同一组 ways</a:t>
            </a:r>
          </a:p>
        </p:txBody>
      </p:sp>
      <p:sp>
        <p:nvSpPr>
          <p:cNvPr id="16" name="text-015: 默认阵列：8 ways × 256 lines × 8 blocks × 8 B"/>
          <p:cNvSpPr txBox="1"/>
          <p:nvPr/>
        </p:nvSpPr>
        <p:spPr>
          <a:xfrm>
            <a:off x="483616" y="676778"/>
            <a:ext cx="62219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默认阵列：8 ways × 256 lines × 8 blocks × 8 B = 128 KiB；图中 way 分配仅示意。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pkg.sv::get_llc_size；cheshir"/>
          <p:cNvSpPr txBox="1"/>
          <p:nvPr/>
        </p:nvSpPr>
        <p:spPr>
          <a:xfrm>
            <a:off x="341376" y="7726477"/>
            <a:ext cx="487436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源码：cheshire_pkg.sv::get_llc_size；cheshire_soc.sv::gen_llc；axi_llc 依赖</a:t>
            </a:r>
          </a:p>
        </p:txBody>
      </p:sp>
      <p:sp>
        <p:nvSpPr>
          <p:cNvPr id="19" name="rect-018"/>
          <p:cNvSpPr/>
          <p:nvPr/>
        </p:nvSpPr>
        <p:spPr>
          <a:xfrm>
            <a:off x="391160" y="167132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19"/>
          <p:cNvSpPr/>
          <p:nvPr/>
        </p:nvSpPr>
        <p:spPr>
          <a:xfrm>
            <a:off x="391160" y="1671320"/>
            <a:ext cx="35560" cy="9245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低 SPM 别名 · 0x1000_0000"/>
          <p:cNvSpPr txBox="1"/>
          <p:nvPr/>
        </p:nvSpPr>
        <p:spPr>
          <a:xfrm>
            <a:off x="512064" y="169919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低 SPM 别名 · 0x1000_0000</a:t>
            </a:r>
          </a:p>
        </p:txBody>
      </p:sp>
      <p:sp>
        <p:nvSpPr>
          <p:cNvPr id="22" name="text-021: CPU 属性允许缓存"/>
          <p:cNvSpPr txBox="1"/>
          <p:nvPr/>
        </p:nvSpPr>
        <p:spPr>
          <a:xfrm>
            <a:off x="512064" y="1970593"/>
            <a:ext cx="155636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CPU 属性允许缓存</a:t>
            </a:r>
          </a:p>
        </p:txBody>
      </p:sp>
      <p:sp>
        <p:nvSpPr>
          <p:cNvPr id="23" name="text-022: 与高别名映射同一物理阵列"/>
          <p:cNvSpPr txBox="1"/>
          <p:nvPr/>
        </p:nvSpPr>
        <p:spPr>
          <a:xfrm>
            <a:off x="512064" y="21839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与高别名映射同一物理阵列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3342640"/>
            <a:ext cx="366268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334264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高 SPM 别名 · 0x1400_0000"/>
          <p:cNvSpPr txBox="1"/>
          <p:nvPr/>
        </p:nvSpPr>
        <p:spPr>
          <a:xfrm>
            <a:off x="512064" y="3370519"/>
            <a:ext cx="2546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高 SPM 别名 · 0x1400_0000</a:t>
            </a:r>
          </a:p>
        </p:txBody>
      </p:sp>
      <p:sp>
        <p:nvSpPr>
          <p:cNvPr id="27" name="text-026: 教材共享实验仅通过此别名访问"/>
          <p:cNvSpPr txBox="1"/>
          <p:nvPr/>
        </p:nvSpPr>
        <p:spPr>
          <a:xfrm>
            <a:off x="512064" y="3641913"/>
            <a:ext cx="256032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教材共享实验仅通过此别名访问</a:t>
            </a:r>
          </a:p>
        </p:txBody>
      </p:sp>
      <p:sp>
        <p:nvSpPr>
          <p:cNvPr id="28" name="text-027: 仍须遵守缓冲区独占与可见性协议"/>
          <p:cNvSpPr txBox="1"/>
          <p:nvPr/>
        </p:nvSpPr>
        <p:spPr>
          <a:xfrm>
            <a:off x="512064" y="3855273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仍须遵守缓冲区独占与可见性协议</a:t>
            </a:r>
          </a:p>
        </p:txBody>
      </p:sp>
      <p:sp>
        <p:nvSpPr>
          <p:cNvPr id="29" name="text-028: 同一片上阵列：SPM 直接定位，cache 通过标签定位"/>
          <p:cNvSpPr txBox="1"/>
          <p:nvPr/>
        </p:nvSpPr>
        <p:spPr>
          <a:xfrm>
            <a:off x="5710936" y="1479296"/>
            <a:ext cx="429810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同一片上阵列：SPM 直接定位，cache 通过标签定位</a:t>
            </a:r>
          </a:p>
        </p:txBody>
      </p:sp>
      <p:sp>
        <p:nvSpPr>
          <p:cNvPr id="30" name="rect-029"/>
          <p:cNvSpPr/>
          <p:nvPr/>
        </p:nvSpPr>
        <p:spPr>
          <a:xfrm>
            <a:off x="576072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way 0"/>
          <p:cNvSpPr txBox="1"/>
          <p:nvPr/>
        </p:nvSpPr>
        <p:spPr>
          <a:xfrm>
            <a:off x="584653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32" name="text-031: 16 KiB"/>
          <p:cNvSpPr txBox="1"/>
          <p:nvPr/>
        </p:nvSpPr>
        <p:spPr>
          <a:xfrm>
            <a:off x="581225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33" name="line-032"/>
          <p:cNvCxnSpPr/>
          <p:nvPr/>
        </p:nvCxnSpPr>
        <p:spPr>
          <a:xfrm>
            <a:off x="581761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4" name="line-033"/>
          <p:cNvCxnSpPr/>
          <p:nvPr/>
        </p:nvCxnSpPr>
        <p:spPr>
          <a:xfrm>
            <a:off x="581761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5" name="line-034"/>
          <p:cNvCxnSpPr/>
          <p:nvPr/>
        </p:nvCxnSpPr>
        <p:spPr>
          <a:xfrm>
            <a:off x="581761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36" name="line-035"/>
          <p:cNvCxnSpPr/>
          <p:nvPr/>
        </p:nvCxnSpPr>
        <p:spPr>
          <a:xfrm>
            <a:off x="581761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37" name="rect-036"/>
          <p:cNvSpPr/>
          <p:nvPr/>
        </p:nvSpPr>
        <p:spPr>
          <a:xfrm>
            <a:off x="653592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way 1"/>
          <p:cNvSpPr txBox="1"/>
          <p:nvPr/>
        </p:nvSpPr>
        <p:spPr>
          <a:xfrm>
            <a:off x="662173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9" name="text-038: 16 KiB"/>
          <p:cNvSpPr txBox="1"/>
          <p:nvPr/>
        </p:nvSpPr>
        <p:spPr>
          <a:xfrm>
            <a:off x="658746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0" name="line-039"/>
          <p:cNvCxnSpPr/>
          <p:nvPr/>
        </p:nvCxnSpPr>
        <p:spPr>
          <a:xfrm>
            <a:off x="659282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1" name="line-040"/>
          <p:cNvCxnSpPr/>
          <p:nvPr/>
        </p:nvCxnSpPr>
        <p:spPr>
          <a:xfrm>
            <a:off x="659282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2" name="line-041"/>
          <p:cNvCxnSpPr/>
          <p:nvPr/>
        </p:nvCxnSpPr>
        <p:spPr>
          <a:xfrm>
            <a:off x="659282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3" name="line-042"/>
          <p:cNvCxnSpPr/>
          <p:nvPr/>
        </p:nvCxnSpPr>
        <p:spPr>
          <a:xfrm>
            <a:off x="659282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44" name="rect-043"/>
          <p:cNvSpPr/>
          <p:nvPr/>
        </p:nvSpPr>
        <p:spPr>
          <a:xfrm>
            <a:off x="731113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way 2"/>
          <p:cNvSpPr txBox="1"/>
          <p:nvPr/>
        </p:nvSpPr>
        <p:spPr>
          <a:xfrm>
            <a:off x="739694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46" name="text-045: 16 KiB"/>
          <p:cNvSpPr txBox="1"/>
          <p:nvPr/>
        </p:nvSpPr>
        <p:spPr>
          <a:xfrm>
            <a:off x="736267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47" name="line-046"/>
          <p:cNvCxnSpPr/>
          <p:nvPr/>
        </p:nvCxnSpPr>
        <p:spPr>
          <a:xfrm>
            <a:off x="736803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8" name="line-047"/>
          <p:cNvCxnSpPr/>
          <p:nvPr/>
        </p:nvCxnSpPr>
        <p:spPr>
          <a:xfrm>
            <a:off x="736803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49" name="line-048"/>
          <p:cNvCxnSpPr/>
          <p:nvPr/>
        </p:nvCxnSpPr>
        <p:spPr>
          <a:xfrm>
            <a:off x="736803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0" name="line-049"/>
          <p:cNvCxnSpPr/>
          <p:nvPr/>
        </p:nvCxnSpPr>
        <p:spPr>
          <a:xfrm>
            <a:off x="736803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1" name="rect-050"/>
          <p:cNvSpPr/>
          <p:nvPr/>
        </p:nvSpPr>
        <p:spPr>
          <a:xfrm>
            <a:off x="8086344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way 3"/>
          <p:cNvSpPr txBox="1"/>
          <p:nvPr/>
        </p:nvSpPr>
        <p:spPr>
          <a:xfrm>
            <a:off x="8172155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53" name="text-052: 16 KiB"/>
          <p:cNvSpPr txBox="1"/>
          <p:nvPr/>
        </p:nvSpPr>
        <p:spPr>
          <a:xfrm>
            <a:off x="8137878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54" name="line-053"/>
          <p:cNvCxnSpPr/>
          <p:nvPr/>
        </p:nvCxnSpPr>
        <p:spPr>
          <a:xfrm>
            <a:off x="8143240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5" name="line-054"/>
          <p:cNvCxnSpPr/>
          <p:nvPr/>
        </p:nvCxnSpPr>
        <p:spPr>
          <a:xfrm>
            <a:off x="8143240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6" name="line-055"/>
          <p:cNvCxnSpPr/>
          <p:nvPr/>
        </p:nvCxnSpPr>
        <p:spPr>
          <a:xfrm>
            <a:off x="8143240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57" name="line-056"/>
          <p:cNvCxnSpPr/>
          <p:nvPr/>
        </p:nvCxnSpPr>
        <p:spPr>
          <a:xfrm>
            <a:off x="8143240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58" name="rect-057"/>
          <p:cNvSpPr/>
          <p:nvPr/>
        </p:nvSpPr>
        <p:spPr>
          <a:xfrm>
            <a:off x="8861552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way 4"/>
          <p:cNvSpPr txBox="1"/>
          <p:nvPr/>
        </p:nvSpPr>
        <p:spPr>
          <a:xfrm>
            <a:off x="8947363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4</a:t>
            </a:r>
          </a:p>
        </p:txBody>
      </p:sp>
      <p:sp>
        <p:nvSpPr>
          <p:cNvPr id="60" name="text-059: 16 KiB"/>
          <p:cNvSpPr txBox="1"/>
          <p:nvPr/>
        </p:nvSpPr>
        <p:spPr>
          <a:xfrm>
            <a:off x="8913086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1" name="line-060"/>
          <p:cNvCxnSpPr/>
          <p:nvPr/>
        </p:nvCxnSpPr>
        <p:spPr>
          <a:xfrm>
            <a:off x="8918448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2" name="line-061"/>
          <p:cNvCxnSpPr/>
          <p:nvPr/>
        </p:nvCxnSpPr>
        <p:spPr>
          <a:xfrm>
            <a:off x="8918448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3" name="line-062"/>
          <p:cNvCxnSpPr/>
          <p:nvPr/>
        </p:nvCxnSpPr>
        <p:spPr>
          <a:xfrm>
            <a:off x="8918448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4" name="line-063"/>
          <p:cNvCxnSpPr/>
          <p:nvPr/>
        </p:nvCxnSpPr>
        <p:spPr>
          <a:xfrm>
            <a:off x="8918448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65" name="rect-064"/>
          <p:cNvSpPr/>
          <p:nvPr/>
        </p:nvSpPr>
        <p:spPr>
          <a:xfrm>
            <a:off x="9636760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way 5"/>
          <p:cNvSpPr txBox="1"/>
          <p:nvPr/>
        </p:nvSpPr>
        <p:spPr>
          <a:xfrm>
            <a:off x="9722571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5</a:t>
            </a:r>
          </a:p>
        </p:txBody>
      </p:sp>
      <p:sp>
        <p:nvSpPr>
          <p:cNvPr id="67" name="text-066: 16 KiB"/>
          <p:cNvSpPr txBox="1"/>
          <p:nvPr/>
        </p:nvSpPr>
        <p:spPr>
          <a:xfrm>
            <a:off x="9688294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68" name="line-067"/>
          <p:cNvCxnSpPr/>
          <p:nvPr/>
        </p:nvCxnSpPr>
        <p:spPr>
          <a:xfrm>
            <a:off x="9693656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69" name="line-068"/>
          <p:cNvCxnSpPr/>
          <p:nvPr/>
        </p:nvCxnSpPr>
        <p:spPr>
          <a:xfrm>
            <a:off x="9693656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0" name="line-069"/>
          <p:cNvCxnSpPr/>
          <p:nvPr/>
        </p:nvCxnSpPr>
        <p:spPr>
          <a:xfrm>
            <a:off x="9693656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1" name="line-070"/>
          <p:cNvCxnSpPr/>
          <p:nvPr/>
        </p:nvCxnSpPr>
        <p:spPr>
          <a:xfrm>
            <a:off x="9693656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2" name="rect-071"/>
          <p:cNvSpPr/>
          <p:nvPr/>
        </p:nvSpPr>
        <p:spPr>
          <a:xfrm>
            <a:off x="10411968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2: way 6"/>
          <p:cNvSpPr txBox="1"/>
          <p:nvPr/>
        </p:nvSpPr>
        <p:spPr>
          <a:xfrm>
            <a:off x="10497779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6</a:t>
            </a:r>
          </a:p>
        </p:txBody>
      </p:sp>
      <p:sp>
        <p:nvSpPr>
          <p:cNvPr id="74" name="text-073: 16 KiB"/>
          <p:cNvSpPr txBox="1"/>
          <p:nvPr/>
        </p:nvSpPr>
        <p:spPr>
          <a:xfrm>
            <a:off x="10463502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75" name="line-074"/>
          <p:cNvCxnSpPr/>
          <p:nvPr/>
        </p:nvCxnSpPr>
        <p:spPr>
          <a:xfrm>
            <a:off x="10468864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6" name="line-075"/>
          <p:cNvCxnSpPr/>
          <p:nvPr/>
        </p:nvCxnSpPr>
        <p:spPr>
          <a:xfrm>
            <a:off x="10468864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7" name="line-076"/>
          <p:cNvCxnSpPr/>
          <p:nvPr/>
        </p:nvCxnSpPr>
        <p:spPr>
          <a:xfrm>
            <a:off x="10468864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78" name="line-077"/>
          <p:cNvCxnSpPr/>
          <p:nvPr/>
        </p:nvCxnSpPr>
        <p:spPr>
          <a:xfrm>
            <a:off x="10468864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79" name="rect-078"/>
          <p:cNvSpPr/>
          <p:nvPr/>
        </p:nvSpPr>
        <p:spPr>
          <a:xfrm>
            <a:off x="11187176" y="2062480"/>
            <a:ext cx="696976" cy="2133600"/>
          </a:xfrm>
          <a:prstGeom prst="roundRect">
            <a:avLst>
              <a:gd name="adj" fmla="val 510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way 7"/>
          <p:cNvSpPr txBox="1"/>
          <p:nvPr/>
        </p:nvSpPr>
        <p:spPr>
          <a:xfrm>
            <a:off x="11272987" y="2206996"/>
            <a:ext cx="52535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way 7</a:t>
            </a:r>
          </a:p>
        </p:txBody>
      </p:sp>
      <p:sp>
        <p:nvSpPr>
          <p:cNvPr id="81" name="text-080: 16 KiB"/>
          <p:cNvSpPr txBox="1"/>
          <p:nvPr/>
        </p:nvSpPr>
        <p:spPr>
          <a:xfrm>
            <a:off x="11238710" y="2591044"/>
            <a:ext cx="593908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16 KiB</a:t>
            </a:r>
          </a:p>
        </p:txBody>
      </p:sp>
      <p:cxnSp>
        <p:nvCxnSpPr>
          <p:cNvPr id="82" name="line-081"/>
          <p:cNvCxnSpPr/>
          <p:nvPr/>
        </p:nvCxnSpPr>
        <p:spPr>
          <a:xfrm>
            <a:off x="11244072" y="302260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3" name="line-082"/>
          <p:cNvCxnSpPr/>
          <p:nvPr/>
        </p:nvCxnSpPr>
        <p:spPr>
          <a:xfrm>
            <a:off x="11244072" y="327152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4" name="line-083"/>
          <p:cNvCxnSpPr/>
          <p:nvPr/>
        </p:nvCxnSpPr>
        <p:spPr>
          <a:xfrm>
            <a:off x="11244072" y="352044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cxnSp>
        <p:nvCxnSpPr>
          <p:cNvPr id="85" name="line-084"/>
          <p:cNvCxnSpPr/>
          <p:nvPr/>
        </p:nvCxnSpPr>
        <p:spPr>
          <a:xfrm>
            <a:off x="11244072" y="3769360"/>
            <a:ext cx="583184" cy="0"/>
          </a:xfrm>
          <a:prstGeom prst="line">
            <a:avLst/>
          </a:prstGeom>
          <a:ln w="7112" cap="flat">
            <a:solidFill>
              <a:srgbClr val="B9CAD6"/>
            </a:solidFill>
          </a:ln>
          <a:effectLst/>
        </p:spPr>
      </p:cxnSp>
      <p:sp>
        <p:nvSpPr>
          <p:cNvPr id="86" name="text-085: 运行时分配可变；切换前处理脏行、栈、数据与在途事务"/>
          <p:cNvSpPr txBox="1"/>
          <p:nvPr/>
        </p:nvSpPr>
        <p:spPr>
          <a:xfrm>
            <a:off x="5831840" y="4438457"/>
            <a:ext cx="44378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运行时分配可变；切换前处理脏行、栈、数据与在途事务</a:t>
            </a:r>
          </a:p>
        </p:txBody>
      </p:sp>
      <p:sp>
        <p:nvSpPr>
          <p:cNvPr id="87" name="rect-086"/>
          <p:cNvSpPr/>
          <p:nvPr/>
        </p:nvSpPr>
        <p:spPr>
          <a:xfrm>
            <a:off x="391160" y="5831840"/>
            <a:ext cx="490728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-087"/>
          <p:cNvSpPr/>
          <p:nvPr/>
        </p:nvSpPr>
        <p:spPr>
          <a:xfrm>
            <a:off x="391160" y="583184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-088: 外存窗口 · 0x8000_0000 起"/>
          <p:cNvSpPr txBox="1"/>
          <p:nvPr/>
        </p:nvSpPr>
        <p:spPr>
          <a:xfrm>
            <a:off x="512064" y="5859719"/>
            <a:ext cx="24916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外存窗口 · 0x8000_0000 起</a:t>
            </a:r>
          </a:p>
        </p:txBody>
      </p:sp>
      <p:sp>
        <p:nvSpPr>
          <p:cNvPr id="90" name="text-089: cache 查标签：命中在片内完成"/>
          <p:cNvSpPr txBox="1"/>
          <p:nvPr/>
        </p:nvSpPr>
        <p:spPr>
          <a:xfrm>
            <a:off x="512064" y="6131113"/>
            <a:ext cx="253915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cache 查标签：命中在片内完成</a:t>
            </a:r>
          </a:p>
        </p:txBody>
      </p:sp>
      <p:sp>
        <p:nvSpPr>
          <p:cNvPr id="91" name="text-090: 缺失：必要时脏行写回，再由外存填充"/>
          <p:cNvSpPr txBox="1"/>
          <p:nvPr/>
        </p:nvSpPr>
        <p:spPr>
          <a:xfrm>
            <a:off x="512064" y="6344473"/>
            <a:ext cx="30723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缺失：必要时脏行写回，再由外存填充</a:t>
            </a:r>
          </a:p>
        </p:txBody>
      </p:sp>
      <p:sp>
        <p:nvSpPr>
          <p:cNvPr id="92" name="rect-091"/>
          <p:cNvSpPr/>
          <p:nvPr/>
        </p:nvSpPr>
        <p:spPr>
          <a:xfrm>
            <a:off x="6969760" y="5831840"/>
            <a:ext cx="5227320" cy="1066800"/>
          </a:xfrm>
          <a:prstGeom prst="roundRect">
            <a:avLst>
              <a:gd name="adj" fmla="val 4666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-092"/>
          <p:cNvSpPr/>
          <p:nvPr/>
        </p:nvSpPr>
        <p:spPr>
          <a:xfrm>
            <a:off x="6969760" y="5831840"/>
            <a:ext cx="35560" cy="10668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-093: LLC 下游 AXI → 平台内存 / DDR"/>
          <p:cNvSpPr txBox="1"/>
          <p:nvPr/>
        </p:nvSpPr>
        <p:spPr>
          <a:xfrm>
            <a:off x="7090664" y="5859719"/>
            <a:ext cx="281687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LLC 下游 AXI → 平台内存 / DDR</a:t>
            </a:r>
          </a:p>
        </p:txBody>
      </p:sp>
      <p:sp>
        <p:nvSpPr>
          <p:cNvPr id="95" name="text-094: SPM 地址命中不需要访问 DDR"/>
          <p:cNvSpPr txBox="1"/>
          <p:nvPr/>
        </p:nvSpPr>
        <p:spPr>
          <a:xfrm>
            <a:off x="7090664" y="6131113"/>
            <a:ext cx="24809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SPM 地址命中不需要访问 DDR</a:t>
            </a:r>
          </a:p>
        </p:txBody>
      </p:sp>
      <p:sp>
        <p:nvSpPr>
          <p:cNvPr id="96" name="text-095: ROM 主线在内部 LLC 存在时配置全 SPM"/>
          <p:cNvSpPr txBox="1"/>
          <p:nvPr/>
        </p:nvSpPr>
        <p:spPr>
          <a:xfrm>
            <a:off x="7090664" y="6344473"/>
            <a:ext cx="32284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ROM 主线在内部 LLC 存在时配置全 SPM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224028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572516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210040" y="1457960"/>
            <a:ext cx="3200400" cy="4693920"/>
          </a:xfrm>
          <a:prstGeom prst="roundRect">
            <a:avLst>
              <a:gd name="adj" fmla="val 2666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26288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581761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8747760" y="52451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9302496" y="52095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缓冲区交接：地址相同还需要所有权与可见性"/>
          <p:cNvSpPr txBox="1"/>
          <p:nvPr/>
        </p:nvSpPr>
        <p:spPr>
          <a:xfrm>
            <a:off x="483616" y="271109"/>
            <a:ext cx="53766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缓冲区交接：地址相同还需要所有权与可见性</a:t>
            </a:r>
          </a:p>
        </p:txBody>
      </p:sp>
      <p:sp>
        <p:nvSpPr>
          <p:cNvPr id="14" name="text-013: 以 CPU → 设备 → CPU 为例；三条泳道分别记录写入者、数据可见性和控制"/>
          <p:cNvSpPr txBox="1"/>
          <p:nvPr/>
        </p:nvSpPr>
        <p:spPr>
          <a:xfrm>
            <a:off x="483616" y="676778"/>
            <a:ext cx="612356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以 CPU → 设备 → CPU 为例；三条泳道分别记录写入者、数据可见性和控制通知。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共享缓冲区协议；fence 不替代 cache 清理 / 失效；非硬件"/>
          <p:cNvSpPr txBox="1"/>
          <p:nvPr/>
        </p:nvSpPr>
        <p:spPr>
          <a:xfrm>
            <a:off x="341376" y="7726477"/>
            <a:ext cx="526168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依据：教材共享缓冲区协议；fence 不替代 cache 清理 / 失效；非硬件自动一致性</a:t>
            </a:r>
          </a:p>
        </p:txBody>
      </p:sp>
      <p:sp>
        <p:nvSpPr>
          <p:cNvPr id="17" name="text-016: CPU 拥有"/>
          <p:cNvSpPr txBox="1"/>
          <p:nvPr/>
        </p:nvSpPr>
        <p:spPr>
          <a:xfrm>
            <a:off x="2368296" y="1514856"/>
            <a:ext cx="9100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拥有</a:t>
            </a:r>
          </a:p>
        </p:txBody>
      </p:sp>
      <p:sp>
        <p:nvSpPr>
          <p:cNvPr id="18" name="text-017: 硬件拥有"/>
          <p:cNvSpPr txBox="1"/>
          <p:nvPr/>
        </p:nvSpPr>
        <p:spPr>
          <a:xfrm>
            <a:off x="5853176" y="1514856"/>
            <a:ext cx="8890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硬件拥有</a:t>
            </a:r>
          </a:p>
        </p:txBody>
      </p:sp>
      <p:sp>
        <p:nvSpPr>
          <p:cNvPr id="19" name="text-018: CPU 重新拥有"/>
          <p:cNvSpPr txBox="1"/>
          <p:nvPr/>
        </p:nvSpPr>
        <p:spPr>
          <a:xfrm>
            <a:off x="9338056" y="1514856"/>
            <a:ext cx="12656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CPU 重新拥有</a:t>
            </a:r>
          </a:p>
        </p:txBody>
      </p:sp>
      <p:sp>
        <p:nvSpPr>
          <p:cNvPr id="20" name="text-019: 数据操作"/>
          <p:cNvSpPr txBox="1"/>
          <p:nvPr/>
        </p:nvSpPr>
        <p:spPr>
          <a:xfrm>
            <a:off x="355600" y="221069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数据操作</a:t>
            </a:r>
          </a:p>
        </p:txBody>
      </p:sp>
      <p:sp>
        <p:nvSpPr>
          <p:cNvPr id="21" name="text-020: 可见性操作"/>
          <p:cNvSpPr txBox="1"/>
          <p:nvPr/>
        </p:nvSpPr>
        <p:spPr>
          <a:xfrm>
            <a:off x="355600" y="3633094"/>
            <a:ext cx="1152144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可见性操作</a:t>
            </a:r>
          </a:p>
        </p:txBody>
      </p:sp>
      <p:sp>
        <p:nvSpPr>
          <p:cNvPr id="22" name="text-021: 控制交接"/>
          <p:cNvSpPr txBox="1"/>
          <p:nvPr/>
        </p:nvSpPr>
        <p:spPr>
          <a:xfrm>
            <a:off x="355600" y="5019934"/>
            <a:ext cx="96012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控制交接</a:t>
            </a:r>
          </a:p>
        </p:txBody>
      </p:sp>
      <p:sp>
        <p:nvSpPr>
          <p:cNvPr id="23" name="rect-022"/>
          <p:cNvSpPr/>
          <p:nvPr/>
        </p:nvSpPr>
        <p:spPr>
          <a:xfrm>
            <a:off x="241808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2418080" y="20269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写源数据 / 描述符"/>
          <p:cNvSpPr txBox="1"/>
          <p:nvPr/>
        </p:nvSpPr>
        <p:spPr>
          <a:xfrm>
            <a:off x="2538984" y="2054799"/>
            <a:ext cx="168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写源数据 / 描述符</a:t>
            </a:r>
          </a:p>
        </p:txBody>
      </p:sp>
      <p:sp>
        <p:nvSpPr>
          <p:cNvPr id="26" name="rect-025"/>
          <p:cNvSpPr/>
          <p:nvPr/>
        </p:nvSpPr>
        <p:spPr>
          <a:xfrm>
            <a:off x="241808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6"/>
          <p:cNvSpPr/>
          <p:nvPr/>
        </p:nvSpPr>
        <p:spPr>
          <a:xfrm>
            <a:off x="2418080" y="34493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7: 同步缓存并排空必要写入"/>
          <p:cNvSpPr txBox="1"/>
          <p:nvPr/>
        </p:nvSpPr>
        <p:spPr>
          <a:xfrm>
            <a:off x="253898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同步缓存并排空必要写入</a:t>
            </a:r>
          </a:p>
        </p:txBody>
      </p:sp>
      <p:sp>
        <p:nvSpPr>
          <p:cNvPr id="29" name="rect-028"/>
          <p:cNvSpPr/>
          <p:nvPr/>
        </p:nvSpPr>
        <p:spPr>
          <a:xfrm>
            <a:off x="241808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2418080" y="4871720"/>
            <a:ext cx="35560" cy="7467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发布任务 / doorbell"/>
          <p:cNvSpPr txBox="1"/>
          <p:nvPr/>
        </p:nvSpPr>
        <p:spPr>
          <a:xfrm>
            <a:off x="2538984" y="4899599"/>
            <a:ext cx="17774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发布任务 / doorbell</a:t>
            </a:r>
          </a:p>
        </p:txBody>
      </p:sp>
      <p:sp>
        <p:nvSpPr>
          <p:cNvPr id="32" name="rect-031"/>
          <p:cNvSpPr/>
          <p:nvPr/>
        </p:nvSpPr>
        <p:spPr>
          <a:xfrm>
            <a:off x="590296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5902960" y="20269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DMA / Ara / 设备读写"/>
          <p:cNvSpPr txBox="1"/>
          <p:nvPr/>
        </p:nvSpPr>
        <p:spPr>
          <a:xfrm>
            <a:off x="6023864" y="2054799"/>
            <a:ext cx="197752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DMA / Ara / 设备读写</a:t>
            </a:r>
          </a:p>
        </p:txBody>
      </p:sp>
      <p:sp>
        <p:nvSpPr>
          <p:cNvPr id="35" name="rect-034"/>
          <p:cNvSpPr/>
          <p:nvPr/>
        </p:nvSpPr>
        <p:spPr>
          <a:xfrm>
            <a:off x="590296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902960" y="34493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完成访问并排空结果写入"/>
          <p:cNvSpPr txBox="1"/>
          <p:nvPr/>
        </p:nvSpPr>
        <p:spPr>
          <a:xfrm>
            <a:off x="6023864" y="3477199"/>
            <a:ext cx="22189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完成访问并排空结果写入</a:t>
            </a:r>
          </a:p>
        </p:txBody>
      </p:sp>
      <p:sp>
        <p:nvSpPr>
          <p:cNvPr id="38" name="rect-037"/>
          <p:cNvSpPr/>
          <p:nvPr/>
        </p:nvSpPr>
        <p:spPr>
          <a:xfrm>
            <a:off x="590296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5902960" y="4871720"/>
            <a:ext cx="35560" cy="7467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发布完成状态 / IRQ"/>
          <p:cNvSpPr txBox="1"/>
          <p:nvPr/>
        </p:nvSpPr>
        <p:spPr>
          <a:xfrm>
            <a:off x="6023864" y="4899599"/>
            <a:ext cx="178575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发布完成状态 / IRQ</a:t>
            </a:r>
          </a:p>
        </p:txBody>
      </p:sp>
      <p:sp>
        <p:nvSpPr>
          <p:cNvPr id="41" name="rect-040"/>
          <p:cNvSpPr/>
          <p:nvPr/>
        </p:nvSpPr>
        <p:spPr>
          <a:xfrm>
            <a:off x="9387840" y="20269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9387840" y="20269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读取并校验结果"/>
          <p:cNvSpPr txBox="1"/>
          <p:nvPr/>
        </p:nvSpPr>
        <p:spPr>
          <a:xfrm>
            <a:off x="9508744" y="205479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读取并校验结果</a:t>
            </a:r>
          </a:p>
        </p:txBody>
      </p:sp>
      <p:sp>
        <p:nvSpPr>
          <p:cNvPr id="44" name="rect-043"/>
          <p:cNvSpPr/>
          <p:nvPr/>
        </p:nvSpPr>
        <p:spPr>
          <a:xfrm>
            <a:off x="9387840" y="34493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9387840" y="34493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acquire / 排序 / 必要失效"/>
          <p:cNvSpPr txBox="1"/>
          <p:nvPr/>
        </p:nvSpPr>
        <p:spPr>
          <a:xfrm>
            <a:off x="9508744" y="3477199"/>
            <a:ext cx="229895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acquire / 排序 / 必要失效</a:t>
            </a:r>
          </a:p>
        </p:txBody>
      </p:sp>
      <p:sp>
        <p:nvSpPr>
          <p:cNvPr id="47" name="rect-046"/>
          <p:cNvSpPr/>
          <p:nvPr/>
        </p:nvSpPr>
        <p:spPr>
          <a:xfrm>
            <a:off x="9387840" y="4871720"/>
            <a:ext cx="2844800" cy="746760"/>
          </a:xfrm>
          <a:prstGeom prst="roundRect">
            <a:avLst>
              <a:gd name="adj" fmla="val 6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9387840" y="4871720"/>
            <a:ext cx="35560" cy="7467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确认 token / 回收缓冲区"/>
          <p:cNvSpPr txBox="1"/>
          <p:nvPr/>
        </p:nvSpPr>
        <p:spPr>
          <a:xfrm>
            <a:off x="9508744" y="4899599"/>
            <a:ext cx="219223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确认 token / 回收缓冲区</a:t>
            </a:r>
          </a:p>
        </p:txBody>
      </p:sp>
      <p:sp>
        <p:nvSpPr>
          <p:cNvPr id="50" name="rect-049"/>
          <p:cNvSpPr/>
          <p:nvPr/>
        </p:nvSpPr>
        <p:spPr>
          <a:xfrm>
            <a:off x="391160" y="654304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391160" y="654304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每次交接分别回答三个问题"/>
          <p:cNvSpPr txBox="1"/>
          <p:nvPr/>
        </p:nvSpPr>
        <p:spPr>
          <a:xfrm>
            <a:off x="512064" y="6570919"/>
            <a:ext cx="24038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每次交接分别回答三个问题</a:t>
            </a:r>
          </a:p>
        </p:txBody>
      </p:sp>
      <p:sp>
        <p:nvSpPr>
          <p:cNvPr id="53" name="text-052: 请求是否接受？设备是否处理完成？结果是否已对消费者可见？三者不能互相替代。"/>
          <p:cNvSpPr txBox="1"/>
          <p:nvPr/>
        </p:nvSpPr>
        <p:spPr>
          <a:xfrm>
            <a:off x="512064" y="6857675"/>
            <a:ext cx="59456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请求是否接受？设备是否处理完成？结果是否已对消费者可见？三者不能互相替代。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67200" y="171399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213096" y="167843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67200" y="254609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213096" y="251053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6720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213096" y="33426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67200" y="4210304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213096" y="4174744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4267200" y="5042408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5213096" y="5006848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4267200" y="5874512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5213096" y="5838952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4267200" y="6706616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5213096" y="6671056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七篇、30 章：由系统概念进入实现与验证"/>
          <p:cNvSpPr txBox="1"/>
          <p:nvPr/>
        </p:nvSpPr>
        <p:spPr>
          <a:xfrm>
            <a:off x="483616" y="271109"/>
            <a:ext cx="499238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七篇、30 章：由系统概念进入实现与验证</a:t>
            </a:r>
          </a:p>
        </p:txBody>
      </p:sp>
      <p:sp>
        <p:nvSpPr>
          <p:cNvPr id="21" name="text-020: 每一篇给出后续会消费的知识；章节编号从当前 pages.json 生成，避免沿用"/>
          <p:cNvSpPr txBox="1"/>
          <p:nvPr/>
        </p:nvSpPr>
        <p:spPr>
          <a:xfrm>
            <a:off x="483616" y="676778"/>
            <a:ext cx="627371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每一篇给出后续会消费的知识；章节编号从当前 pages.json 生成，避免沿用旧目录。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维护依据：scripts/pages.json；离线教材当前目录"/>
          <p:cNvSpPr txBox="1"/>
          <p:nvPr/>
        </p:nvSpPr>
        <p:spPr>
          <a:xfrm>
            <a:off x="341376" y="7726477"/>
            <a:ext cx="3301279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维护依据：scripts/pages.json；离线教材当前目录</a:t>
            </a:r>
          </a:p>
        </p:txBody>
      </p:sp>
      <p:sp>
        <p:nvSpPr>
          <p:cNvPr id="24" name="rect-023"/>
          <p:cNvSpPr/>
          <p:nvPr/>
        </p:nvSpPr>
        <p:spPr>
          <a:xfrm>
            <a:off x="391160" y="138684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39116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第一篇 · 01—03"/>
          <p:cNvSpPr txBox="1"/>
          <p:nvPr/>
        </p:nvSpPr>
        <p:spPr>
          <a:xfrm>
            <a:off x="512064" y="141471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第一篇 · 01—03</a:t>
            </a:r>
          </a:p>
        </p:txBody>
      </p:sp>
      <p:sp>
        <p:nvSpPr>
          <p:cNvPr id="27" name="text-026: 系统基础与配置"/>
          <p:cNvSpPr txBox="1"/>
          <p:nvPr/>
        </p:nvSpPr>
        <p:spPr>
          <a:xfrm>
            <a:off x="512064" y="169379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系统基础与配置</a:t>
            </a:r>
          </a:p>
        </p:txBody>
      </p:sp>
      <p:sp>
        <p:nvSpPr>
          <p:cNvPr id="28" name="rect-027"/>
          <p:cNvSpPr/>
          <p:nvPr/>
        </p:nvSpPr>
        <p:spPr>
          <a:xfrm>
            <a:off x="5298440" y="138684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298440" y="1386840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辨认硬件职责、CPU 能力与配置约束"/>
          <p:cNvSpPr txBox="1"/>
          <p:nvPr/>
        </p:nvSpPr>
        <p:spPr>
          <a:xfrm>
            <a:off x="5419344" y="1414719"/>
            <a:ext cx="31653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辨认硬件职责、CPU 能力与配置约束</a:t>
            </a:r>
          </a:p>
        </p:txBody>
      </p:sp>
      <p:sp>
        <p:nvSpPr>
          <p:cNvPr id="31" name="text-030: 进入各章后结合本地源码、使用条件与验证边界阅读"/>
          <p:cNvSpPr txBox="1"/>
          <p:nvPr/>
        </p:nvSpPr>
        <p:spPr>
          <a:xfrm>
            <a:off x="5419344" y="170147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32" name="rect-031"/>
          <p:cNvSpPr/>
          <p:nvPr/>
        </p:nvSpPr>
        <p:spPr>
          <a:xfrm>
            <a:off x="391160" y="221894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2"/>
          <p:cNvSpPr/>
          <p:nvPr/>
        </p:nvSpPr>
        <p:spPr>
          <a:xfrm>
            <a:off x="39116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第二篇 · 04—06"/>
          <p:cNvSpPr txBox="1"/>
          <p:nvPr/>
        </p:nvSpPr>
        <p:spPr>
          <a:xfrm>
            <a:off x="512064" y="224682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第二篇 · 04—06</a:t>
            </a:r>
          </a:p>
        </p:txBody>
      </p:sp>
      <p:sp>
        <p:nvSpPr>
          <p:cNvPr id="35" name="text-034: ASIC 时钟、复位与电源"/>
          <p:cNvSpPr txBox="1"/>
          <p:nvPr/>
        </p:nvSpPr>
        <p:spPr>
          <a:xfrm>
            <a:off x="512064" y="2525898"/>
            <a:ext cx="1857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ASIC 时钟、复位与电源</a:t>
            </a:r>
          </a:p>
        </p:txBody>
      </p:sp>
      <p:sp>
        <p:nvSpPr>
          <p:cNvPr id="36" name="rect-035"/>
          <p:cNvSpPr/>
          <p:nvPr/>
        </p:nvSpPr>
        <p:spPr>
          <a:xfrm>
            <a:off x="5298440" y="221894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5298440" y="2218944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理解域边界、启动条件与安全恢复"/>
          <p:cNvSpPr txBox="1"/>
          <p:nvPr/>
        </p:nvSpPr>
        <p:spPr>
          <a:xfrm>
            <a:off x="5419344" y="2246823"/>
            <a:ext cx="295859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理解域边界、启动条件与安全恢复</a:t>
            </a:r>
          </a:p>
        </p:txBody>
      </p:sp>
      <p:sp>
        <p:nvSpPr>
          <p:cNvPr id="39" name="text-038: 进入各章后结合本地源码、使用条件与验证边界阅读"/>
          <p:cNvSpPr txBox="1"/>
          <p:nvPr/>
        </p:nvSpPr>
        <p:spPr>
          <a:xfrm>
            <a:off x="5419344" y="253357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0" name="rect-039"/>
          <p:cNvSpPr/>
          <p:nvPr/>
        </p:nvSpPr>
        <p:spPr>
          <a:xfrm>
            <a:off x="391160" y="3051048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0"/>
          <p:cNvSpPr/>
          <p:nvPr/>
        </p:nvSpPr>
        <p:spPr>
          <a:xfrm>
            <a:off x="39116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第三篇 · 07—12"/>
          <p:cNvSpPr txBox="1"/>
          <p:nvPr/>
        </p:nvSpPr>
        <p:spPr>
          <a:xfrm>
            <a:off x="512064" y="3078927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第三篇 · 07—12</a:t>
            </a:r>
          </a:p>
        </p:txBody>
      </p:sp>
      <p:sp>
        <p:nvSpPr>
          <p:cNvPr id="43" name="text-042: 互连与存储系统"/>
          <p:cNvSpPr txBox="1"/>
          <p:nvPr/>
        </p:nvSpPr>
        <p:spPr>
          <a:xfrm>
            <a:off x="512064" y="3358002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互连与存储系统</a:t>
            </a:r>
          </a:p>
        </p:txBody>
      </p:sp>
      <p:sp>
        <p:nvSpPr>
          <p:cNvPr id="44" name="rect-043"/>
          <p:cNvSpPr/>
          <p:nvPr/>
        </p:nvSpPr>
        <p:spPr>
          <a:xfrm>
            <a:off x="5298440" y="3051048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5298440" y="3051048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跟踪地址、协议、存储和 DDR 事务"/>
          <p:cNvSpPr txBox="1"/>
          <p:nvPr/>
        </p:nvSpPr>
        <p:spPr>
          <a:xfrm>
            <a:off x="5419344" y="3078927"/>
            <a:ext cx="305792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跟踪地址、协议、存储和 DDR 事务</a:t>
            </a:r>
          </a:p>
        </p:txBody>
      </p:sp>
      <p:sp>
        <p:nvSpPr>
          <p:cNvPr id="47" name="text-046: 进入各章后结合本地源码、使用条件与验证边界阅读"/>
          <p:cNvSpPr txBox="1"/>
          <p:nvPr/>
        </p:nvSpPr>
        <p:spPr>
          <a:xfrm>
            <a:off x="5419344" y="3365683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48" name="rect-047"/>
          <p:cNvSpPr/>
          <p:nvPr/>
        </p:nvSpPr>
        <p:spPr>
          <a:xfrm>
            <a:off x="391160" y="3883152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39116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第四篇 · 13—17"/>
          <p:cNvSpPr txBox="1"/>
          <p:nvPr/>
        </p:nvSpPr>
        <p:spPr>
          <a:xfrm>
            <a:off x="512064" y="3911031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第四篇 · 13—17</a:t>
            </a:r>
          </a:p>
        </p:txBody>
      </p:sp>
      <p:sp>
        <p:nvSpPr>
          <p:cNvPr id="51" name="text-050: 裸机软件、启动与验证"/>
          <p:cNvSpPr txBox="1"/>
          <p:nvPr/>
        </p:nvSpPr>
        <p:spPr>
          <a:xfrm>
            <a:off x="512064" y="4190106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裸机软件、启动与验证</a:t>
            </a:r>
          </a:p>
        </p:txBody>
      </p:sp>
      <p:sp>
        <p:nvSpPr>
          <p:cNvPr id="52" name="rect-051"/>
          <p:cNvSpPr/>
          <p:nvPr/>
        </p:nvSpPr>
        <p:spPr>
          <a:xfrm>
            <a:off x="5298440" y="3883152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5298440" y="3883152"/>
            <a:ext cx="35560" cy="654304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从源程序、ELF、启动到可观察执行"/>
          <p:cNvSpPr txBox="1"/>
          <p:nvPr/>
        </p:nvSpPr>
        <p:spPr>
          <a:xfrm>
            <a:off x="5419344" y="3911031"/>
            <a:ext cx="305827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从源程序、ELF、启动到可观察执行</a:t>
            </a:r>
          </a:p>
        </p:txBody>
      </p:sp>
      <p:sp>
        <p:nvSpPr>
          <p:cNvPr id="55" name="text-054: 进入各章后结合本地源码、使用条件与验证边界阅读"/>
          <p:cNvSpPr txBox="1"/>
          <p:nvPr/>
        </p:nvSpPr>
        <p:spPr>
          <a:xfrm>
            <a:off x="5419344" y="4197787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4715256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第五篇 · 18—23"/>
          <p:cNvSpPr txBox="1"/>
          <p:nvPr/>
        </p:nvSpPr>
        <p:spPr>
          <a:xfrm>
            <a:off x="512064" y="4743135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第五篇 · 18—23</a:t>
            </a:r>
          </a:p>
        </p:txBody>
      </p:sp>
      <p:sp>
        <p:nvSpPr>
          <p:cNvPr id="59" name="text-058: 外设、事件与数据搬运"/>
          <p:cNvSpPr txBox="1"/>
          <p:nvPr/>
        </p:nvSpPr>
        <p:spPr>
          <a:xfrm>
            <a:off x="512064" y="5022210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外设、事件与数据搬运</a:t>
            </a:r>
          </a:p>
        </p:txBody>
      </p:sp>
      <p:sp>
        <p:nvSpPr>
          <p:cNvPr id="60" name="rect-059"/>
          <p:cNvSpPr/>
          <p:nvPr/>
        </p:nvSpPr>
        <p:spPr>
          <a:xfrm>
            <a:off x="5298440" y="4715256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-060"/>
          <p:cNvSpPr/>
          <p:nvPr/>
        </p:nvSpPr>
        <p:spPr>
          <a:xfrm>
            <a:off x="5298440" y="4715256"/>
            <a:ext cx="35560" cy="65430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由 MMIO、驱动和外部事件解释设备"/>
          <p:cNvSpPr txBox="1"/>
          <p:nvPr/>
        </p:nvSpPr>
        <p:spPr>
          <a:xfrm>
            <a:off x="5419344" y="4743135"/>
            <a:ext cx="311715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由 MMIO、驱动和外部事件解释设备</a:t>
            </a:r>
          </a:p>
        </p:txBody>
      </p:sp>
      <p:sp>
        <p:nvSpPr>
          <p:cNvPr id="63" name="text-062: 进入各章后结合本地源码、使用条件与验证边界阅读"/>
          <p:cNvSpPr txBox="1"/>
          <p:nvPr/>
        </p:nvSpPr>
        <p:spPr>
          <a:xfrm>
            <a:off x="5419344" y="5029891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64" name="rect-063"/>
          <p:cNvSpPr/>
          <p:nvPr/>
        </p:nvSpPr>
        <p:spPr>
          <a:xfrm>
            <a:off x="391160" y="5547360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-064"/>
          <p:cNvSpPr/>
          <p:nvPr/>
        </p:nvSpPr>
        <p:spPr>
          <a:xfrm>
            <a:off x="39116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5: 第六篇 · 24—26"/>
          <p:cNvSpPr txBox="1"/>
          <p:nvPr/>
        </p:nvSpPr>
        <p:spPr>
          <a:xfrm>
            <a:off x="512064" y="5575239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第六篇 · 24—26</a:t>
            </a:r>
          </a:p>
        </p:txBody>
      </p:sp>
      <p:sp>
        <p:nvSpPr>
          <p:cNvPr id="67" name="text-066: Ara 向量执行与异构协作"/>
          <p:cNvSpPr txBox="1"/>
          <p:nvPr/>
        </p:nvSpPr>
        <p:spPr>
          <a:xfrm>
            <a:off x="512064" y="5854314"/>
            <a:ext cx="191675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向量执行与异构协作</a:t>
            </a:r>
          </a:p>
        </p:txBody>
      </p:sp>
      <p:sp>
        <p:nvSpPr>
          <p:cNvPr id="68" name="rect-067"/>
          <p:cNvSpPr/>
          <p:nvPr/>
        </p:nvSpPr>
        <p:spPr>
          <a:xfrm>
            <a:off x="5298440" y="5547360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-068"/>
          <p:cNvSpPr/>
          <p:nvPr/>
        </p:nvSpPr>
        <p:spPr>
          <a:xfrm>
            <a:off x="5298440" y="5547360"/>
            <a:ext cx="35560" cy="654304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69: 追踪向量指令、共享数据与异构交接"/>
          <p:cNvSpPr txBox="1"/>
          <p:nvPr/>
        </p:nvSpPr>
        <p:spPr>
          <a:xfrm>
            <a:off x="5419344" y="5575239"/>
            <a:ext cx="314350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追踪向量指令、共享数据与异构交接</a:t>
            </a:r>
          </a:p>
        </p:txBody>
      </p:sp>
      <p:sp>
        <p:nvSpPr>
          <p:cNvPr id="71" name="text-070: 进入各章后结合本地源码、使用条件与验证边界阅读"/>
          <p:cNvSpPr txBox="1"/>
          <p:nvPr/>
        </p:nvSpPr>
        <p:spPr>
          <a:xfrm>
            <a:off x="5419344" y="5861995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  <p:sp>
        <p:nvSpPr>
          <p:cNvPr id="72" name="rect-071"/>
          <p:cNvSpPr/>
          <p:nvPr/>
        </p:nvSpPr>
        <p:spPr>
          <a:xfrm>
            <a:off x="391160" y="6379464"/>
            <a:ext cx="387604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-072"/>
          <p:cNvSpPr/>
          <p:nvPr/>
        </p:nvSpPr>
        <p:spPr>
          <a:xfrm>
            <a:off x="39116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第七篇 · 27—30"/>
          <p:cNvSpPr txBox="1"/>
          <p:nvPr/>
        </p:nvSpPr>
        <p:spPr>
          <a:xfrm>
            <a:off x="512064" y="6407343"/>
            <a:ext cx="15232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第七篇 · 27—30</a:t>
            </a:r>
          </a:p>
        </p:txBody>
      </p:sp>
      <p:sp>
        <p:nvSpPr>
          <p:cNvPr id="75" name="text-074: IP 集成与 ASIC 工程规划"/>
          <p:cNvSpPr txBox="1"/>
          <p:nvPr/>
        </p:nvSpPr>
        <p:spPr>
          <a:xfrm>
            <a:off x="512064" y="6686418"/>
            <a:ext cx="192634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IP 集成与 ASIC 工程规划</a:t>
            </a:r>
          </a:p>
        </p:txBody>
      </p:sp>
      <p:sp>
        <p:nvSpPr>
          <p:cNvPr id="76" name="rect-075"/>
          <p:cNvSpPr/>
          <p:nvPr/>
        </p:nvSpPr>
        <p:spPr>
          <a:xfrm>
            <a:off x="5298440" y="6379464"/>
            <a:ext cx="7040880" cy="654304"/>
          </a:xfrm>
          <a:prstGeom prst="roundRect">
            <a:avLst>
              <a:gd name="adj" fmla="val 7608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-076"/>
          <p:cNvSpPr/>
          <p:nvPr/>
        </p:nvSpPr>
        <p:spPr>
          <a:xfrm>
            <a:off x="5298440" y="6379464"/>
            <a:ext cx="35560" cy="654304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7: 定义新 IP 契约与工艺平台交付"/>
          <p:cNvSpPr txBox="1"/>
          <p:nvPr/>
        </p:nvSpPr>
        <p:spPr>
          <a:xfrm>
            <a:off x="5419344" y="6407343"/>
            <a:ext cx="266624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定义新 IP 契约与工艺平台交付</a:t>
            </a:r>
          </a:p>
        </p:txBody>
      </p:sp>
      <p:sp>
        <p:nvSpPr>
          <p:cNvPr id="79" name="text-078: 进入各章后结合本地源码、使用条件与验证边界阅读"/>
          <p:cNvSpPr txBox="1"/>
          <p:nvPr/>
        </p:nvSpPr>
        <p:spPr>
          <a:xfrm>
            <a:off x="5419344" y="6694099"/>
            <a:ext cx="37551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进入各章后结合本地源码、使用条件与验证边界阅读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4231640" y="1955800"/>
            <a:ext cx="1600200" cy="177800"/>
          </a:xfrm>
          <a:custGeom>
            <a:avLst/>
            <a:gdLst/>
            <a:ahLst/>
            <a:cxnLst/>
            <a:rect l="0" t="0" r="r" b="b"/>
            <a:pathLst>
              <a:path w="1600200" h="177800">
                <a:moveTo>
                  <a:pt x="0" y="177800"/>
                </a:moveTo>
                <a:lnTo>
                  <a:pt x="924560" y="177800"/>
                </a:lnTo>
                <a:lnTo>
                  <a:pt x="924560" y="0"/>
                </a:lnTo>
                <a:lnTo>
                  <a:pt x="160020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5746496" y="19202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4231640" y="2773680"/>
            <a:ext cx="1600200" cy="213360"/>
          </a:xfrm>
          <a:custGeom>
            <a:avLst/>
            <a:gdLst/>
            <a:ahLst/>
            <a:cxnLst/>
            <a:rect l="0" t="0" r="r" b="b"/>
            <a:pathLst>
              <a:path w="1600200" h="213360">
                <a:moveTo>
                  <a:pt x="0" y="0"/>
                </a:moveTo>
                <a:lnTo>
                  <a:pt x="924560" y="0"/>
                </a:lnTo>
                <a:lnTo>
                  <a:pt x="924560" y="213360"/>
                </a:lnTo>
                <a:lnTo>
                  <a:pt x="1600200" y="2133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5746496" y="2951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4231640" y="3413760"/>
            <a:ext cx="1600200" cy="604520"/>
          </a:xfrm>
          <a:custGeom>
            <a:avLst/>
            <a:gdLst/>
            <a:ahLst/>
            <a:cxnLst/>
            <a:rect l="0" t="0" r="r" b="b"/>
            <a:pathLst>
              <a:path w="1600200" h="604520">
                <a:moveTo>
                  <a:pt x="0" y="0"/>
                </a:moveTo>
                <a:lnTo>
                  <a:pt x="924560" y="0"/>
                </a:lnTo>
                <a:lnTo>
                  <a:pt x="924560" y="604520"/>
                </a:lnTo>
                <a:lnTo>
                  <a:pt x="160020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574649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4231640" y="4053840"/>
            <a:ext cx="1600200" cy="995680"/>
          </a:xfrm>
          <a:custGeom>
            <a:avLst/>
            <a:gdLst/>
            <a:ahLst/>
            <a:cxnLst/>
            <a:rect l="0" t="0" r="r" b="b"/>
            <a:pathLst>
              <a:path w="1600200" h="995680">
                <a:moveTo>
                  <a:pt x="0" y="0"/>
                </a:moveTo>
                <a:lnTo>
                  <a:pt x="924560" y="0"/>
                </a:lnTo>
                <a:lnTo>
                  <a:pt x="924560" y="995680"/>
                </a:lnTo>
                <a:lnTo>
                  <a:pt x="1600200" y="99568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5746496" y="50139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3: C 对象与运行内存：指令、初值、零初始化与栈"/>
          <p:cNvSpPr txBox="1"/>
          <p:nvPr/>
        </p:nvSpPr>
        <p:spPr>
          <a:xfrm>
            <a:off x="483616" y="271109"/>
            <a:ext cx="5611957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C 对象与运行内存：指令、初值、零初始化与栈</a:t>
            </a:r>
          </a:p>
        </p:txBody>
      </p:sp>
      <p:sp>
        <p:nvSpPr>
          <p:cNvPr id="15" name="text-014: 编译器按语义与优化分配存储；局部变量可以留在寄存器，不必全部占栈。"/>
          <p:cNvSpPr txBox="1"/>
          <p:nvPr/>
        </p:nvSpPr>
        <p:spPr>
          <a:xfrm>
            <a:off x="483616" y="676778"/>
            <a:ext cx="55615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编译器按语义与优化分配存储；局部变量可以留在寄存器，不必全部占栈。</a:t>
            </a:r>
          </a:p>
        </p:txBody>
      </p:sp>
      <p:sp>
        <p:nvSpPr>
          <p:cNvPr id="16" name="text-015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7" name="text-016: 源码：教材 journey.c；sw/lib/crt0.S；sw/link/co"/>
          <p:cNvSpPr txBox="1"/>
          <p:nvPr/>
        </p:nvSpPr>
        <p:spPr>
          <a:xfrm>
            <a:off x="341376" y="7726477"/>
            <a:ext cx="451056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源码：教材 journey.c；sw/lib/crt0.S；sw/link/common.ldh 与 spm.ld</a:t>
            </a:r>
          </a:p>
        </p:txBody>
      </p:sp>
      <p:sp>
        <p:nvSpPr>
          <p:cNvPr id="18" name="rect-017"/>
          <p:cNvSpPr/>
          <p:nvPr/>
        </p:nvSpPr>
        <p:spPr>
          <a:xfrm>
            <a:off x="391160" y="1600200"/>
            <a:ext cx="3840480" cy="3235960"/>
          </a:xfrm>
          <a:prstGeom prst="roundRect">
            <a:avLst>
              <a:gd name="adj" fmla="val 1538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8"/>
          <p:cNvSpPr/>
          <p:nvPr/>
        </p:nvSpPr>
        <p:spPr>
          <a:xfrm>
            <a:off x="391160" y="1600200"/>
            <a:ext cx="35560" cy="323596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C 层对象"/>
          <p:cNvSpPr txBox="1"/>
          <p:nvPr/>
        </p:nvSpPr>
        <p:spPr>
          <a:xfrm>
            <a:off x="512064" y="1628079"/>
            <a:ext cx="9095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 层对象</a:t>
            </a:r>
          </a:p>
        </p:txBody>
      </p:sp>
      <p:sp>
        <p:nvSpPr>
          <p:cNvPr id="21" name="text-020: 代码：main / make_value"/>
          <p:cNvSpPr txBox="1"/>
          <p:nvPr/>
        </p:nvSpPr>
        <p:spPr>
          <a:xfrm>
            <a:off x="512064" y="1899473"/>
            <a:ext cx="21249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代码：main / make_value</a:t>
            </a:r>
          </a:p>
        </p:txBody>
      </p:sp>
      <p:sp>
        <p:nvSpPr>
          <p:cNvPr id="22" name="text-021: 已初始化：seed = 1"/>
          <p:cNvSpPr txBox="1"/>
          <p:nvPr/>
        </p:nvSpPr>
        <p:spPr>
          <a:xfrm>
            <a:off x="512064" y="2112833"/>
            <a:ext cx="16958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已初始化：seed = 1</a:t>
            </a:r>
          </a:p>
        </p:txBody>
      </p:sp>
      <p:sp>
        <p:nvSpPr>
          <p:cNvPr id="23" name="text-022: 常量：greeting[]"/>
          <p:cNvSpPr txBox="1"/>
          <p:nvPr/>
        </p:nvSpPr>
        <p:spPr>
          <a:xfrm>
            <a:off x="512064" y="2326193"/>
            <a:ext cx="13816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常量：greeting[]</a:t>
            </a:r>
          </a:p>
        </p:txBody>
      </p:sp>
      <p:sp>
        <p:nvSpPr>
          <p:cNvPr id="24" name="text-023: 零初始化：result[137]"/>
          <p:cNvSpPr txBox="1"/>
          <p:nvPr/>
        </p:nvSpPr>
        <p:spPr>
          <a:xfrm>
            <a:off x="512064" y="2539553"/>
            <a:ext cx="18560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零初始化：result[137]</a:t>
            </a:r>
          </a:p>
        </p:txBody>
      </p:sp>
      <p:sp>
        <p:nvSpPr>
          <p:cNvPr id="25" name="text-024: 局部 temporary：可在寄存器"/>
          <p:cNvSpPr txBox="1"/>
          <p:nvPr/>
        </p:nvSpPr>
        <p:spPr>
          <a:xfrm>
            <a:off x="512064" y="2752913"/>
            <a:ext cx="2330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局部 temporary：可在寄存器</a:t>
            </a:r>
          </a:p>
        </p:txBody>
      </p:sp>
      <p:sp>
        <p:nvSpPr>
          <p:cNvPr id="26" name="text-025: 函数参数 / 返回值：依 ABI"/>
          <p:cNvSpPr txBox="1"/>
          <p:nvPr/>
        </p:nvSpPr>
        <p:spPr>
          <a:xfrm>
            <a:off x="512064" y="2966273"/>
            <a:ext cx="21946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函数参数 / 返回值：依 ABI</a:t>
            </a:r>
          </a:p>
        </p:txBody>
      </p:sp>
      <p:sp>
        <p:nvSpPr>
          <p:cNvPr id="27" name="rect-026"/>
          <p:cNvSpPr/>
          <p:nvPr/>
        </p:nvSpPr>
        <p:spPr>
          <a:xfrm>
            <a:off x="5831840" y="156464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5831840" y="156464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.text"/>
          <p:cNvSpPr txBox="1"/>
          <p:nvPr/>
        </p:nvSpPr>
        <p:spPr>
          <a:xfrm>
            <a:off x="5952744" y="1592519"/>
            <a:ext cx="53940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.text</a:t>
            </a:r>
          </a:p>
        </p:txBody>
      </p:sp>
      <p:sp>
        <p:nvSpPr>
          <p:cNvPr id="30" name="text-029: 机器指令，CPU 按 PC 取指"/>
          <p:cNvSpPr txBox="1"/>
          <p:nvPr/>
        </p:nvSpPr>
        <p:spPr>
          <a:xfrm>
            <a:off x="5952744" y="1871594"/>
            <a:ext cx="21095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机器指令，CPU 按 PC 取指</a:t>
            </a:r>
          </a:p>
        </p:txBody>
      </p:sp>
      <p:sp>
        <p:nvSpPr>
          <p:cNvPr id="31" name="rect-030"/>
          <p:cNvSpPr/>
          <p:nvPr/>
        </p:nvSpPr>
        <p:spPr>
          <a:xfrm>
            <a:off x="5831840" y="259588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5831840" y="2595880"/>
            <a:ext cx="35560" cy="7823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.misc"/>
          <p:cNvSpPr txBox="1"/>
          <p:nvPr/>
        </p:nvSpPr>
        <p:spPr>
          <a:xfrm>
            <a:off x="5952744" y="2623759"/>
            <a:ext cx="62083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.misc</a:t>
            </a:r>
          </a:p>
        </p:txBody>
      </p:sp>
      <p:sp>
        <p:nvSpPr>
          <p:cNvPr id="34" name="text-033: 常量与已初始化数据：greeting / seed"/>
          <p:cNvSpPr txBox="1"/>
          <p:nvPr/>
        </p:nvSpPr>
        <p:spPr>
          <a:xfrm>
            <a:off x="5952744" y="2902834"/>
            <a:ext cx="290365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常量与已初始化数据：greeting / seed</a:t>
            </a:r>
          </a:p>
        </p:txBody>
      </p:sp>
      <p:sp>
        <p:nvSpPr>
          <p:cNvPr id="35" name="rect-034"/>
          <p:cNvSpPr/>
          <p:nvPr/>
        </p:nvSpPr>
        <p:spPr>
          <a:xfrm>
            <a:off x="5831840" y="362712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5831840" y="3627120"/>
            <a:ext cx="35560" cy="7823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.bss"/>
          <p:cNvSpPr txBox="1"/>
          <p:nvPr/>
        </p:nvSpPr>
        <p:spPr>
          <a:xfrm>
            <a:off x="5952744" y="3654999"/>
            <a:ext cx="5321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.bss</a:t>
            </a:r>
          </a:p>
        </p:txBody>
      </p:sp>
      <p:sp>
        <p:nvSpPr>
          <p:cNvPr id="38" name="text-037: 运行时空间：137 × 4 = 548 B；crt0 清零"/>
          <p:cNvSpPr txBox="1"/>
          <p:nvPr/>
        </p:nvSpPr>
        <p:spPr>
          <a:xfrm>
            <a:off x="5952744" y="3934074"/>
            <a:ext cx="31949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运行时空间：137 × 4 = 548 B；crt0 清零</a:t>
            </a:r>
          </a:p>
        </p:txBody>
      </p:sp>
      <p:sp>
        <p:nvSpPr>
          <p:cNvPr id="39" name="rect-038"/>
          <p:cNvSpPr/>
          <p:nvPr/>
        </p:nvSpPr>
        <p:spPr>
          <a:xfrm>
            <a:off x="5831840" y="4658360"/>
            <a:ext cx="6507480" cy="782320"/>
          </a:xfrm>
          <a:prstGeom prst="roundRect">
            <a:avLst>
              <a:gd name="adj" fmla="val 636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-039"/>
          <p:cNvSpPr/>
          <p:nvPr/>
        </p:nvSpPr>
        <p:spPr>
          <a:xfrm>
            <a:off x="5831840" y="4658360"/>
            <a:ext cx="35560" cy="7823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stack / 寄存器"/>
          <p:cNvSpPr txBox="1"/>
          <p:nvPr/>
        </p:nvSpPr>
        <p:spPr>
          <a:xfrm>
            <a:off x="5952744" y="4686239"/>
            <a:ext cx="138251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stack / 寄存器</a:t>
            </a:r>
          </a:p>
        </p:txBody>
      </p:sp>
      <p:sp>
        <p:nvSpPr>
          <p:cNvPr id="42" name="text-041: 调用保存必要状态；无默认堆"/>
          <p:cNvSpPr txBox="1"/>
          <p:nvPr/>
        </p:nvSpPr>
        <p:spPr>
          <a:xfrm>
            <a:off x="5952744" y="4965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调用保存必要状态；无默认堆</a:t>
            </a:r>
          </a:p>
        </p:txBody>
      </p:sp>
      <p:sp>
        <p:nvSpPr>
          <p:cNvPr id="43" name="rect-042"/>
          <p:cNvSpPr/>
          <p:nvPr/>
        </p:nvSpPr>
        <p:spPr>
          <a:xfrm>
            <a:off x="391160" y="6223000"/>
            <a:ext cx="561848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391160" y="622300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函数调用示例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函数调用示例</a:t>
            </a:r>
          </a:p>
        </p:txBody>
      </p:sp>
      <p:sp>
        <p:nvSpPr>
          <p:cNvPr id="46" name="text-045: main → make_value → ret；a0 传参 / 返回值，ra 保"/>
          <p:cNvSpPr txBox="1"/>
          <p:nvPr/>
        </p:nvSpPr>
        <p:spPr>
          <a:xfrm>
            <a:off x="512064" y="6537635"/>
            <a:ext cx="46035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main → make_value → ret；a0 传参 / 返回值，ra 保存返回地址</a:t>
            </a:r>
          </a:p>
        </p:txBody>
      </p:sp>
      <p:sp>
        <p:nvSpPr>
          <p:cNvPr id="47" name="text-046: 跨调用仍需保留的值按 ABI 约定保存"/>
          <p:cNvSpPr txBox="1"/>
          <p:nvPr/>
        </p:nvSpPr>
        <p:spPr>
          <a:xfrm>
            <a:off x="512064" y="6750995"/>
            <a:ext cx="2665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跨调用仍需保留的值按 ABI 约定保存</a:t>
            </a:r>
          </a:p>
        </p:txBody>
      </p:sp>
      <p:sp>
        <p:nvSpPr>
          <p:cNvPr id="48" name="rect-047"/>
          <p:cNvSpPr/>
          <p:nvPr/>
        </p:nvSpPr>
        <p:spPr>
          <a:xfrm>
            <a:off x="6578600" y="6223000"/>
            <a:ext cx="5760720" cy="960120"/>
          </a:xfrm>
          <a:prstGeom prst="roundRect">
            <a:avLst>
              <a:gd name="adj" fmla="val 5185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6578600" y="6223000"/>
            <a:ext cx="35560" cy="9601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SPM 链接时的栈前提"/>
          <p:cNvSpPr txBox="1"/>
          <p:nvPr/>
        </p:nvSpPr>
        <p:spPr>
          <a:xfrm>
            <a:off x="6699504" y="6250879"/>
            <a:ext cx="190420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SPM 链接时的栈前提</a:t>
            </a:r>
          </a:p>
        </p:txBody>
      </p:sp>
      <p:sp>
        <p:nvSpPr>
          <p:cNvPr id="51" name="text-050: __stack_pointer$ = 0 表示应用沿用既有栈"/>
          <p:cNvSpPr txBox="1"/>
          <p:nvPr/>
        </p:nvSpPr>
        <p:spPr>
          <a:xfrm>
            <a:off x="6699504" y="6537635"/>
            <a:ext cx="30651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__stack_pointer$ = 0 表示应用沿用既有栈</a:t>
            </a:r>
          </a:p>
        </p:txBody>
      </p:sp>
      <p:sp>
        <p:nvSpPr>
          <p:cNvPr id="52" name="text-051: 不能把 0 写入 sp；首次栈访问前须有有效可写存储"/>
          <p:cNvSpPr txBox="1"/>
          <p:nvPr/>
        </p:nvSpPr>
        <p:spPr>
          <a:xfrm>
            <a:off x="6699504" y="6750995"/>
            <a:ext cx="3685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不能把 0 写入 sp；首次栈访问前须有有效可写存储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93520"/>
            <a:ext cx="12019280" cy="2311400"/>
          </a:xfrm>
          <a:prstGeom prst="roundRect">
            <a:avLst>
              <a:gd name="adj" fmla="val 3692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4338320"/>
            <a:ext cx="12019280" cy="1849120"/>
          </a:xfrm>
          <a:prstGeom prst="roundRect">
            <a:avLst>
              <a:gd name="adj" fmla="val 4615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312928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347065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608076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642213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032240" y="272034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373616" y="26847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312928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347065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608076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642213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7"/>
          <p:cNvSpPr/>
          <p:nvPr/>
        </p:nvSpPr>
        <p:spPr>
          <a:xfrm>
            <a:off x="9032240" y="5334000"/>
            <a:ext cx="426720" cy="1"/>
          </a:xfrm>
          <a:custGeom>
            <a:avLst/>
            <a:gdLst/>
            <a:ahLst/>
            <a:cxnLst/>
            <a:rect l="0" t="0" r="r" b="b"/>
            <a:pathLst>
              <a:path w="426720" h="1">
                <a:moveTo>
                  <a:pt x="0" y="0"/>
                </a:moveTo>
                <a:lnTo>
                  <a:pt x="4267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9373616" y="52984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I2C EEPROM 与 SPI NOR：控制器动作映射到器件协议"/>
          <p:cNvSpPr txBox="1"/>
          <p:nvPr/>
        </p:nvSpPr>
        <p:spPr>
          <a:xfrm>
            <a:off x="483616" y="271109"/>
            <a:ext cx="6357361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I2C EEPROM 与 SPI NOR：控制器动作映射到器件协议</a:t>
            </a:r>
          </a:p>
        </p:txBody>
      </p:sp>
      <p:sp>
        <p:nvSpPr>
          <p:cNvPr id="21" name="text-020: 固定读 16 字节；下图表示协议阶段与片选边界，不表示按比例绘制的电气时序。"/>
          <p:cNvSpPr txBox="1"/>
          <p:nvPr/>
        </p:nvSpPr>
        <p:spPr>
          <a:xfrm>
            <a:off x="483616" y="676778"/>
            <a:ext cx="601939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固定读 16 字节；下图表示协议阶段与片选边界，不表示按比例绘制的电气时序。</a:t>
            </a:r>
          </a:p>
        </p:txBody>
      </p:sp>
      <p:sp>
        <p:nvSpPr>
          <p:cNvPr id="22" name="text-021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3" name="text-022: 依据：本地 EEPROM HAL 的 STOP/START 流程；SPI NOR"/>
          <p:cNvSpPr txBox="1"/>
          <p:nvPr/>
        </p:nvSpPr>
        <p:spPr>
          <a:xfrm>
            <a:off x="341376" y="7726477"/>
            <a:ext cx="5735161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EEPROM HAL 的 STOP/START 流程；SPI NOR 0x13 读命令；VIP 预填值 0x9a</a:t>
            </a:r>
          </a:p>
        </p:txBody>
      </p:sp>
      <p:sp>
        <p:nvSpPr>
          <p:cNvPr id="24" name="text-023: I2C：SDA / SCL 开漏，需要器件地址和内部地址"/>
          <p:cNvSpPr txBox="1"/>
          <p:nvPr/>
        </p:nvSpPr>
        <p:spPr>
          <a:xfrm>
            <a:off x="519176" y="1550416"/>
            <a:ext cx="399581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I2C：SDA / SCL 开漏，需要器件地址和内部地址</a:t>
            </a:r>
          </a:p>
        </p:txBody>
      </p:sp>
      <p:sp>
        <p:nvSpPr>
          <p:cNvPr id="25" name="rect-024"/>
          <p:cNvSpPr/>
          <p:nvPr/>
        </p:nvSpPr>
        <p:spPr>
          <a:xfrm>
            <a:off x="60452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60452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START + 写址"/>
          <p:cNvSpPr txBox="1"/>
          <p:nvPr/>
        </p:nvSpPr>
        <p:spPr>
          <a:xfrm>
            <a:off x="725424" y="2268159"/>
            <a:ext cx="129386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START + 写址</a:t>
            </a:r>
          </a:p>
        </p:txBody>
      </p:sp>
      <p:sp>
        <p:nvSpPr>
          <p:cNvPr id="28" name="text-027: 选择 EEPROM"/>
          <p:cNvSpPr txBox="1"/>
          <p:nvPr/>
        </p:nvSpPr>
        <p:spPr>
          <a:xfrm>
            <a:off x="725424" y="2554915"/>
            <a:ext cx="11071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EEPROM</a:t>
            </a:r>
          </a:p>
        </p:txBody>
      </p:sp>
      <p:sp>
        <p:nvSpPr>
          <p:cNvPr id="29" name="rect-028"/>
          <p:cNvSpPr/>
          <p:nvPr/>
        </p:nvSpPr>
        <p:spPr>
          <a:xfrm>
            <a:off x="355600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355600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16 位内部地址"/>
          <p:cNvSpPr txBox="1"/>
          <p:nvPr/>
        </p:nvSpPr>
        <p:spPr>
          <a:xfrm>
            <a:off x="3676904" y="2268159"/>
            <a:ext cx="138667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16 位内部地址</a:t>
            </a:r>
          </a:p>
        </p:txBody>
      </p:sp>
      <p:sp>
        <p:nvSpPr>
          <p:cNvPr id="32" name="text-031: 设定器件读指针"/>
          <p:cNvSpPr txBox="1"/>
          <p:nvPr/>
        </p:nvSpPr>
        <p:spPr>
          <a:xfrm>
            <a:off x="367690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设定器件读指针</a:t>
            </a:r>
          </a:p>
        </p:txBody>
      </p:sp>
      <p:sp>
        <p:nvSpPr>
          <p:cNvPr id="33" name="rect-032"/>
          <p:cNvSpPr/>
          <p:nvPr/>
        </p:nvSpPr>
        <p:spPr>
          <a:xfrm>
            <a:off x="650748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50748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STOP；新 START"/>
          <p:cNvSpPr txBox="1"/>
          <p:nvPr/>
        </p:nvSpPr>
        <p:spPr>
          <a:xfrm>
            <a:off x="6628384" y="2268159"/>
            <a:ext cx="155985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STOP；新 START</a:t>
            </a:r>
          </a:p>
        </p:txBody>
      </p:sp>
      <p:sp>
        <p:nvSpPr>
          <p:cNvPr id="36" name="text-035: 本地 HAL 行为"/>
          <p:cNvSpPr txBox="1"/>
          <p:nvPr/>
        </p:nvSpPr>
        <p:spPr>
          <a:xfrm>
            <a:off x="6628384" y="2554915"/>
            <a:ext cx="1145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本地 HAL 行为</a:t>
            </a:r>
          </a:p>
        </p:txBody>
      </p:sp>
      <p:sp>
        <p:nvSpPr>
          <p:cNvPr id="37" name="rect-036"/>
          <p:cNvSpPr/>
          <p:nvPr/>
        </p:nvSpPr>
        <p:spPr>
          <a:xfrm>
            <a:off x="9458960" y="2240280"/>
            <a:ext cx="252476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7"/>
          <p:cNvSpPr/>
          <p:nvPr/>
        </p:nvSpPr>
        <p:spPr>
          <a:xfrm>
            <a:off x="9458960" y="224028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8: 读址 + 16 字节"/>
          <p:cNvSpPr txBox="1"/>
          <p:nvPr/>
        </p:nvSpPr>
        <p:spPr>
          <a:xfrm>
            <a:off x="9579864" y="2268159"/>
            <a:ext cx="142352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读址 + 16 字节</a:t>
            </a:r>
          </a:p>
        </p:txBody>
      </p:sp>
      <p:sp>
        <p:nvSpPr>
          <p:cNvPr id="40" name="text-039: 接收并检查数据"/>
          <p:cNvSpPr txBox="1"/>
          <p:nvPr/>
        </p:nvSpPr>
        <p:spPr>
          <a:xfrm>
            <a:off x="9579864" y="2554915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接收并检查数据</a:t>
            </a:r>
          </a:p>
        </p:txBody>
      </p:sp>
      <p:sp>
        <p:nvSpPr>
          <p:cNvPr id="41" name="text-040: SPI NOR：控制器主动驱动 SCK；一次 CS1 有效覆盖命令、地址和读数据"/>
          <p:cNvSpPr txBox="1"/>
          <p:nvPr/>
        </p:nvSpPr>
        <p:spPr>
          <a:xfrm>
            <a:off x="519176" y="4395216"/>
            <a:ext cx="591548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SPI NOR：控制器主动驱动 SCK；一次 CS1 有效覆盖命令、地址和读数据</a:t>
            </a:r>
          </a:p>
        </p:txBody>
      </p:sp>
      <p:sp>
        <p:nvSpPr>
          <p:cNvPr id="42" name="rect-041"/>
          <p:cNvSpPr/>
          <p:nvPr/>
        </p:nvSpPr>
        <p:spPr>
          <a:xfrm>
            <a:off x="60452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60452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S1 有效"/>
          <p:cNvSpPr txBox="1"/>
          <p:nvPr/>
        </p:nvSpPr>
        <p:spPr>
          <a:xfrm>
            <a:off x="725424" y="4935159"/>
            <a:ext cx="95004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CS1 有效</a:t>
            </a:r>
          </a:p>
        </p:txBody>
      </p:sp>
      <p:sp>
        <p:nvSpPr>
          <p:cNvPr id="45" name="text-044: 选择 Flash"/>
          <p:cNvSpPr txBox="1"/>
          <p:nvPr/>
        </p:nvSpPr>
        <p:spPr>
          <a:xfrm>
            <a:off x="725424" y="5221915"/>
            <a:ext cx="87873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选择 Flash</a:t>
            </a:r>
          </a:p>
        </p:txBody>
      </p:sp>
      <p:sp>
        <p:nvSpPr>
          <p:cNvPr id="46" name="rect-045"/>
          <p:cNvSpPr/>
          <p:nvPr/>
        </p:nvSpPr>
        <p:spPr>
          <a:xfrm>
            <a:off x="355600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355600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命令 0x13"/>
          <p:cNvSpPr txBox="1"/>
          <p:nvPr/>
        </p:nvSpPr>
        <p:spPr>
          <a:xfrm>
            <a:off x="3676904" y="4935159"/>
            <a:ext cx="10240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命令 0x13</a:t>
            </a:r>
          </a:p>
        </p:txBody>
      </p:sp>
      <p:sp>
        <p:nvSpPr>
          <p:cNvPr id="49" name="text-048: 四字节地址读"/>
          <p:cNvSpPr txBox="1"/>
          <p:nvPr/>
        </p:nvSpPr>
        <p:spPr>
          <a:xfrm>
            <a:off x="367690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四字节地址读</a:t>
            </a:r>
          </a:p>
        </p:txBody>
      </p:sp>
      <p:sp>
        <p:nvSpPr>
          <p:cNvPr id="50" name="rect-049"/>
          <p:cNvSpPr/>
          <p:nvPr/>
        </p:nvSpPr>
        <p:spPr>
          <a:xfrm>
            <a:off x="650748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0"/>
          <p:cNvSpPr/>
          <p:nvPr/>
        </p:nvSpPr>
        <p:spPr>
          <a:xfrm>
            <a:off x="650748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1: 四字节地址"/>
          <p:cNvSpPr txBox="1"/>
          <p:nvPr/>
        </p:nvSpPr>
        <p:spPr>
          <a:xfrm>
            <a:off x="6628384" y="4935159"/>
            <a:ext cx="110947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四字节地址</a:t>
            </a:r>
          </a:p>
        </p:txBody>
      </p:sp>
      <p:sp>
        <p:nvSpPr>
          <p:cNvPr id="53" name="text-052: 指定读取起点"/>
          <p:cNvSpPr txBox="1"/>
          <p:nvPr/>
        </p:nvSpPr>
        <p:spPr>
          <a:xfrm>
            <a:off x="662838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指定读取起点</a:t>
            </a:r>
          </a:p>
        </p:txBody>
      </p:sp>
      <p:sp>
        <p:nvSpPr>
          <p:cNvPr id="54" name="rect-053"/>
          <p:cNvSpPr/>
          <p:nvPr/>
        </p:nvSpPr>
        <p:spPr>
          <a:xfrm>
            <a:off x="9458960" y="4907280"/>
            <a:ext cx="25247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4"/>
          <p:cNvSpPr/>
          <p:nvPr/>
        </p:nvSpPr>
        <p:spPr>
          <a:xfrm>
            <a:off x="9458960" y="490728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RX 16 字节"/>
          <p:cNvSpPr txBox="1"/>
          <p:nvPr/>
        </p:nvSpPr>
        <p:spPr>
          <a:xfrm>
            <a:off x="9579864" y="4935159"/>
            <a:ext cx="11015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RX 16 字节</a:t>
            </a:r>
          </a:p>
        </p:txBody>
      </p:sp>
      <p:sp>
        <p:nvSpPr>
          <p:cNvPr id="57" name="text-056: 检查预期内容"/>
          <p:cNvSpPr txBox="1"/>
          <p:nvPr/>
        </p:nvSpPr>
        <p:spPr>
          <a:xfrm>
            <a:off x="9579864" y="5221915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检查预期内容</a:t>
            </a:r>
          </a:p>
        </p:txBody>
      </p:sp>
      <p:sp>
        <p:nvSpPr>
          <p:cNvPr id="58" name="rect-057"/>
          <p:cNvSpPr/>
          <p:nvPr/>
        </p:nvSpPr>
        <p:spPr>
          <a:xfrm>
            <a:off x="391160" y="6507480"/>
            <a:ext cx="12019280" cy="782320"/>
          </a:xfrm>
          <a:prstGeom prst="roundRect">
            <a:avLst>
              <a:gd name="adj" fmla="val 636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8"/>
          <p:cNvSpPr/>
          <p:nvPr/>
        </p:nvSpPr>
        <p:spPr>
          <a:xfrm>
            <a:off x="391160" y="6507480"/>
            <a:ext cx="35560" cy="78232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器件协议与平台支持分别验证"/>
          <p:cNvSpPr txBox="1"/>
          <p:nvPr/>
        </p:nvSpPr>
        <p:spPr>
          <a:xfrm>
            <a:off x="512064" y="6535359"/>
            <a:ext cx="258876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器件协议与平台支持分别验证</a:t>
            </a:r>
          </a:p>
        </p:txBody>
      </p:sp>
      <p:sp>
        <p:nvSpPr>
          <p:cNvPr id="61" name="text-060: EEPROM 当前流程不能标成 repeated START；SD 虽共用 SP"/>
          <p:cNvSpPr txBox="1"/>
          <p:nvPr/>
        </p:nvSpPr>
        <p:spPr>
          <a:xfrm>
            <a:off x="512064" y="6822115"/>
            <a:ext cx="76609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EEPROM 当前流程不能标成 repeated START；SD 虽共用 SPI 控制器，但使用不同命令、响应与块校验协议。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52908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391160" y="334264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391160" y="5156200"/>
            <a:ext cx="12019280" cy="1529080"/>
          </a:xfrm>
          <a:prstGeom prst="roundRect">
            <a:avLst>
              <a:gd name="adj" fmla="val 5581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5120640" y="240030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7062216" y="23647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5120640" y="421386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7062216" y="41783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5120640" y="6027420"/>
            <a:ext cx="2026920" cy="1"/>
          </a:xfrm>
          <a:custGeom>
            <a:avLst/>
            <a:gdLst/>
            <a:ahLst/>
            <a:cxnLst/>
            <a:rect l="0" t="0" r="r" b="b"/>
            <a:pathLst>
              <a:path w="2026920" h="1">
                <a:moveTo>
                  <a:pt x="0" y="0"/>
                </a:moveTo>
                <a:lnTo>
                  <a:pt x="202692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7062216" y="599186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4: 三种访问辨认 SoC：字符输出、数组计算、调试装载"/>
          <p:cNvSpPr txBox="1"/>
          <p:nvPr/>
        </p:nvSpPr>
        <p:spPr>
          <a:xfrm>
            <a:off x="483616" y="271109"/>
            <a:ext cx="6164526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三种访问辨认 SoC：字符输出、数组计算、调试装载</a:t>
            </a:r>
          </a:p>
        </p:txBody>
      </p:sp>
      <p:sp>
        <p:nvSpPr>
          <p:cNvPr id="16" name="text-015: 用具体请求区分控制面与数据面；Ara 由 CPU 向量指令驱动，并通过自身 AX"/>
          <p:cNvSpPr txBox="1"/>
          <p:nvPr/>
        </p:nvSpPr>
        <p:spPr>
          <a:xfrm>
            <a:off x="483616" y="676778"/>
            <a:ext cx="63948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用具体请求区分控制面与数据面；Ara 由 CPU 向量指令驱动，并通过自身 AXI 口访存。</a:t>
            </a:r>
          </a:p>
        </p:txBody>
      </p:sp>
      <p:sp>
        <p:nvSpPr>
          <p:cNvPr id="17" name="text-016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8" name="text-017: 源码：cheshire_soc.sv；UART DIF；CVA6–Ara 专用控"/>
          <p:cNvSpPr txBox="1"/>
          <p:nvPr/>
        </p:nvSpPr>
        <p:spPr>
          <a:xfrm>
            <a:off x="341376" y="7726477"/>
            <a:ext cx="393141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源码：cheshire_soc.sv；UART DIF；CVA6–Ara 专用控制接口</a:t>
            </a:r>
          </a:p>
        </p:txBody>
      </p:sp>
      <p:sp>
        <p:nvSpPr>
          <p:cNvPr id="19" name="text-018: ① CPU 输出字符"/>
          <p:cNvSpPr txBox="1"/>
          <p:nvPr/>
        </p:nvSpPr>
        <p:spPr>
          <a:xfrm>
            <a:off x="519176" y="1585976"/>
            <a:ext cx="1496709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① CPU 输出字符</a:t>
            </a:r>
          </a:p>
        </p:txBody>
      </p:sp>
      <p:sp>
        <p:nvSpPr>
          <p:cNvPr id="20" name="rect-019"/>
          <p:cNvSpPr/>
          <p:nvPr/>
        </p:nvSpPr>
        <p:spPr>
          <a:xfrm>
            <a:off x="604520" y="199136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60452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CPU store → UART THR"/>
          <p:cNvSpPr txBox="1"/>
          <p:nvPr/>
        </p:nvSpPr>
        <p:spPr>
          <a:xfrm>
            <a:off x="725424" y="2019239"/>
            <a:ext cx="20988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store → UART THR</a:t>
            </a:r>
          </a:p>
        </p:txBody>
      </p:sp>
      <p:sp>
        <p:nvSpPr>
          <p:cNvPr id="23" name="text-022: 走寄存器控制路径"/>
          <p:cNvSpPr txBox="1"/>
          <p:nvPr/>
        </p:nvSpPr>
        <p:spPr>
          <a:xfrm>
            <a:off x="725424" y="2298314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走寄存器控制路径</a:t>
            </a:r>
          </a:p>
        </p:txBody>
      </p:sp>
      <p:sp>
        <p:nvSpPr>
          <p:cNvPr id="24" name="rect-023"/>
          <p:cNvSpPr/>
          <p:nvPr/>
        </p:nvSpPr>
        <p:spPr>
          <a:xfrm>
            <a:off x="7147560" y="199136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7147560" y="1991360"/>
            <a:ext cx="35560" cy="81788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rossbar → AXI/Reg → UART"/>
          <p:cNvSpPr txBox="1"/>
          <p:nvPr/>
        </p:nvSpPr>
        <p:spPr>
          <a:xfrm>
            <a:off x="7268464" y="2019239"/>
            <a:ext cx="25828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Crossbar → AXI/Reg → UART</a:t>
            </a:r>
          </a:p>
        </p:txBody>
      </p:sp>
      <p:sp>
        <p:nvSpPr>
          <p:cNvPr id="27" name="text-026: TX FIFO / 串行状态机 → TX 引脚"/>
          <p:cNvSpPr txBox="1"/>
          <p:nvPr/>
        </p:nvSpPr>
        <p:spPr>
          <a:xfrm>
            <a:off x="7268464" y="2298314"/>
            <a:ext cx="249852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TX FIFO / 串行状态机 → TX 引脚</a:t>
            </a:r>
          </a:p>
        </p:txBody>
      </p:sp>
      <p:sp>
        <p:nvSpPr>
          <p:cNvPr id="28" name="text-027: ② Ara 处理数组"/>
          <p:cNvSpPr txBox="1"/>
          <p:nvPr/>
        </p:nvSpPr>
        <p:spPr>
          <a:xfrm>
            <a:off x="519176" y="3399536"/>
            <a:ext cx="142552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② Ara 处理数组</a:t>
            </a:r>
          </a:p>
        </p:txBody>
      </p:sp>
      <p:sp>
        <p:nvSpPr>
          <p:cNvPr id="29" name="rect-028"/>
          <p:cNvSpPr/>
          <p:nvPr/>
        </p:nvSpPr>
        <p:spPr>
          <a:xfrm>
            <a:off x="604520" y="380492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60452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CPU 发向量指令 / 操作数"/>
          <p:cNvSpPr txBox="1"/>
          <p:nvPr/>
        </p:nvSpPr>
        <p:spPr>
          <a:xfrm>
            <a:off x="725424" y="3832799"/>
            <a:ext cx="22628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发向量指令 / 操作数</a:t>
            </a:r>
          </a:p>
        </p:txBody>
      </p:sp>
      <p:sp>
        <p:nvSpPr>
          <p:cNvPr id="32" name="text-031: Ara VLSU 主动读写数据"/>
          <p:cNvSpPr txBox="1"/>
          <p:nvPr/>
        </p:nvSpPr>
        <p:spPr>
          <a:xfrm>
            <a:off x="725424" y="4111874"/>
            <a:ext cx="18542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VLSU 主动读写数据</a:t>
            </a:r>
          </a:p>
        </p:txBody>
      </p:sp>
      <p:sp>
        <p:nvSpPr>
          <p:cNvPr id="33" name="rect-032"/>
          <p:cNvSpPr/>
          <p:nvPr/>
        </p:nvSpPr>
        <p:spPr>
          <a:xfrm>
            <a:off x="7147560" y="380492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7147560" y="3804920"/>
            <a:ext cx="35560" cy="81788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rossbar → LLC / SPM"/>
          <p:cNvSpPr txBox="1"/>
          <p:nvPr/>
        </p:nvSpPr>
        <p:spPr>
          <a:xfrm>
            <a:off x="7268464" y="3832799"/>
            <a:ext cx="20802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Crossbar → LLC / SPM</a:t>
            </a:r>
          </a:p>
        </p:txBody>
      </p:sp>
      <p:sp>
        <p:nvSpPr>
          <p:cNvPr id="36" name="text-035: 片上命中或 LLC 下游外存"/>
          <p:cNvSpPr txBox="1"/>
          <p:nvPr/>
        </p:nvSpPr>
        <p:spPr>
          <a:xfrm>
            <a:off x="7268464" y="4111874"/>
            <a:ext cx="199869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片上命中或 LLC 下游外存</a:t>
            </a:r>
          </a:p>
        </p:txBody>
      </p:sp>
      <p:sp>
        <p:nvSpPr>
          <p:cNvPr id="37" name="text-036: ③ Debug 装载程序"/>
          <p:cNvSpPr txBox="1"/>
          <p:nvPr/>
        </p:nvSpPr>
        <p:spPr>
          <a:xfrm>
            <a:off x="519176" y="5213096"/>
            <a:ext cx="166705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③ Debug 装载程序</a:t>
            </a:r>
          </a:p>
        </p:txBody>
      </p:sp>
      <p:sp>
        <p:nvSpPr>
          <p:cNvPr id="38" name="rect-037"/>
          <p:cNvSpPr/>
          <p:nvPr/>
        </p:nvSpPr>
        <p:spPr>
          <a:xfrm>
            <a:off x="604520" y="5618480"/>
            <a:ext cx="45161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60452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主机 JTAG → DTM / DM"/>
          <p:cNvSpPr txBox="1"/>
          <p:nvPr/>
        </p:nvSpPr>
        <p:spPr>
          <a:xfrm>
            <a:off x="725424" y="5646359"/>
            <a:ext cx="214384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主机 JTAG → DTM / DM</a:t>
            </a:r>
          </a:p>
        </p:txBody>
      </p:sp>
      <p:sp>
        <p:nvSpPr>
          <p:cNvPr id="41" name="text-040: SBA 成为 AXI 请求发起端"/>
          <p:cNvSpPr txBox="1"/>
          <p:nvPr/>
        </p:nvSpPr>
        <p:spPr>
          <a:xfrm>
            <a:off x="725424" y="5925434"/>
            <a:ext cx="19720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SBA 成为 AXI 请求发起端</a:t>
            </a:r>
          </a:p>
        </p:txBody>
      </p:sp>
      <p:sp>
        <p:nvSpPr>
          <p:cNvPr id="42" name="rect-041"/>
          <p:cNvSpPr/>
          <p:nvPr/>
        </p:nvSpPr>
        <p:spPr>
          <a:xfrm>
            <a:off x="7147560" y="5618480"/>
            <a:ext cx="5049520" cy="817880"/>
          </a:xfrm>
          <a:prstGeom prst="roundRect">
            <a:avLst>
              <a:gd name="adj" fmla="val 608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7147560" y="5618480"/>
            <a:ext cx="35560" cy="81788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Crossbar → 目标可写内存"/>
          <p:cNvSpPr txBox="1"/>
          <p:nvPr/>
        </p:nvSpPr>
        <p:spPr>
          <a:xfrm>
            <a:off x="7268464" y="5646359"/>
            <a:ext cx="231394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Crossbar → 目标可写内存</a:t>
            </a:r>
          </a:p>
        </p:txBody>
      </p:sp>
      <p:sp>
        <p:nvSpPr>
          <p:cNvPr id="45" name="text-044: halt / 写段 / DPC / resume"/>
          <p:cNvSpPr txBox="1"/>
          <p:nvPr/>
        </p:nvSpPr>
        <p:spPr>
          <a:xfrm>
            <a:off x="7268464" y="5925434"/>
            <a:ext cx="21440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halt / 写段 / DPC / resume</a:t>
            </a:r>
          </a:p>
        </p:txBody>
      </p:sp>
      <p:sp>
        <p:nvSpPr>
          <p:cNvPr id="46" name="text-045: 控制寄存器口、主动数据口、完成事件口是不同角色；完整连接结构见下一张系统图。"/>
          <p:cNvSpPr txBox="1"/>
          <p:nvPr/>
        </p:nvSpPr>
        <p:spPr>
          <a:xfrm>
            <a:off x="462280" y="6976872"/>
            <a:ext cx="6934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控制寄存器口、主动数据口、完成事件口是不同角色；完整连接结构见下一张系统图。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6" name="line-005"/>
          <p:cNvCxnSpPr/>
          <p:nvPr/>
        </p:nvCxnSpPr>
        <p:spPr>
          <a:xfrm>
            <a:off x="13512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7" name="line-006"/>
          <p:cNvCxnSpPr/>
          <p:nvPr/>
        </p:nvCxnSpPr>
        <p:spPr>
          <a:xfrm>
            <a:off x="47294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8" name="line-007"/>
          <p:cNvCxnSpPr/>
          <p:nvPr/>
        </p:nvCxnSpPr>
        <p:spPr>
          <a:xfrm>
            <a:off x="81076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cxnSp>
        <p:nvCxnSpPr>
          <p:cNvPr id="9" name="line-008"/>
          <p:cNvCxnSpPr/>
          <p:nvPr/>
        </p:nvCxnSpPr>
        <p:spPr>
          <a:xfrm>
            <a:off x="11485880" y="1920240"/>
            <a:ext cx="0" cy="4160520"/>
          </a:xfrm>
          <a:prstGeom prst="line">
            <a:avLst/>
          </a:prstGeom>
          <a:ln w="14224" cap="flat">
            <a:solidFill>
              <a:srgbClr val="B9CAD6"/>
            </a:solidFill>
          </a:ln>
          <a:effectLst/>
        </p:spPr>
      </p:cxnSp>
      <p:sp>
        <p:nvSpPr>
          <p:cNvPr id="10" name="polyline-009"/>
          <p:cNvSpPr/>
          <p:nvPr/>
        </p:nvSpPr>
        <p:spPr>
          <a:xfrm>
            <a:off x="1351280" y="231140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1400536" y="2275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1351280" y="316484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11400536" y="31292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1351280" y="401828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0" y="0"/>
                </a:moveTo>
                <a:lnTo>
                  <a:pt x="10134600" y="0"/>
                </a:lnTo>
              </a:path>
            </a:pathLst>
          </a:custGeom>
          <a:noFill/>
          <a:ln w="2844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1400536" y="398272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1351280" y="5547360"/>
            <a:ext cx="10134600" cy="1"/>
          </a:xfrm>
          <a:custGeom>
            <a:avLst/>
            <a:gdLst/>
            <a:ahLst/>
            <a:cxnLst/>
            <a:rect l="0" t="0" r="r" b="b"/>
            <a:pathLst>
              <a:path w="10134600" h="1">
                <a:moveTo>
                  <a:pt x="10134600" y="0"/>
                </a:moveTo>
                <a:lnTo>
                  <a:pt x="0" y="0"/>
                </a:lnTo>
              </a:path>
            </a:pathLst>
          </a:custGeom>
          <a:noFill/>
          <a:ln w="2844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1351280" y="551180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AXI 写事务：地址、数据与响应三条独立通道"/>
          <p:cNvSpPr txBox="1"/>
          <p:nvPr/>
        </p:nvSpPr>
        <p:spPr>
          <a:xfrm>
            <a:off x="483616" y="271109"/>
            <a:ext cx="528917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AXI 写事务：地址、数据与响应三条独立通道</a:t>
            </a:r>
          </a:p>
        </p:txBody>
      </p:sp>
      <p:sp>
        <p:nvSpPr>
          <p:cNvPr id="19" name="text-018: 同一笔两拍写入；AW 与 W 可以独立提出。W 没有 WID，互连需要保存目标与"/>
          <p:cNvSpPr txBox="1"/>
          <p:nvPr/>
        </p:nvSpPr>
        <p:spPr>
          <a:xfrm>
            <a:off x="483616" y="676778"/>
            <a:ext cx="62575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同一笔两拍写入；AW 与 W 可以独立提出。W 没有 WID，互连需要保存目标与来源。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依据：本地 axi_xbar / axi_mux / axi_demux_sim"/>
          <p:cNvSpPr txBox="1"/>
          <p:nvPr/>
        </p:nvSpPr>
        <p:spPr>
          <a:xfrm>
            <a:off x="341376" y="7726477"/>
            <a:ext cx="5347968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依据：本地 axi_xbar / axi_mux / axi_demux_simple；教学事件图，不表示固定周期</a:t>
            </a:r>
          </a:p>
        </p:txBody>
      </p:sp>
      <p:sp>
        <p:nvSpPr>
          <p:cNvPr id="22" name="rect-021"/>
          <p:cNvSpPr/>
          <p:nvPr/>
        </p:nvSpPr>
        <p:spPr>
          <a:xfrm>
            <a:off x="3556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2"/>
          <p:cNvSpPr/>
          <p:nvPr/>
        </p:nvSpPr>
        <p:spPr>
          <a:xfrm>
            <a:off x="3556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3: 发起者"/>
          <p:cNvSpPr txBox="1"/>
          <p:nvPr/>
        </p:nvSpPr>
        <p:spPr>
          <a:xfrm>
            <a:off x="476504" y="1343599"/>
            <a:ext cx="73964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发起者</a:t>
            </a:r>
          </a:p>
        </p:txBody>
      </p:sp>
      <p:sp>
        <p:nvSpPr>
          <p:cNvPr id="25" name="rect-024"/>
          <p:cNvSpPr/>
          <p:nvPr/>
        </p:nvSpPr>
        <p:spPr>
          <a:xfrm>
            <a:off x="37338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-025"/>
          <p:cNvSpPr/>
          <p:nvPr/>
        </p:nvSpPr>
        <p:spPr>
          <a:xfrm>
            <a:off x="37338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输入 demux"/>
          <p:cNvSpPr txBox="1"/>
          <p:nvPr/>
        </p:nvSpPr>
        <p:spPr>
          <a:xfrm>
            <a:off x="3854704" y="1343599"/>
            <a:ext cx="114198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输入 demux</a:t>
            </a:r>
          </a:p>
        </p:txBody>
      </p:sp>
      <p:sp>
        <p:nvSpPr>
          <p:cNvPr id="28" name="rect-027"/>
          <p:cNvSpPr/>
          <p:nvPr/>
        </p:nvSpPr>
        <p:spPr>
          <a:xfrm>
            <a:off x="71120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71120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目标 mux"/>
          <p:cNvSpPr txBox="1"/>
          <p:nvPr/>
        </p:nvSpPr>
        <p:spPr>
          <a:xfrm>
            <a:off x="7232904" y="1343599"/>
            <a:ext cx="94262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 mux</a:t>
            </a:r>
          </a:p>
        </p:txBody>
      </p:sp>
      <p:sp>
        <p:nvSpPr>
          <p:cNvPr id="31" name="rect-030"/>
          <p:cNvSpPr/>
          <p:nvPr/>
        </p:nvSpPr>
        <p:spPr>
          <a:xfrm>
            <a:off x="10490200" y="1315720"/>
            <a:ext cx="1991360" cy="512064"/>
          </a:xfrm>
          <a:prstGeom prst="roundRect">
            <a:avLst>
              <a:gd name="adj" fmla="val 9722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-031"/>
          <p:cNvSpPr/>
          <p:nvPr/>
        </p:nvSpPr>
        <p:spPr>
          <a:xfrm>
            <a:off x="10490200" y="1315720"/>
            <a:ext cx="35560" cy="51206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目标设备"/>
          <p:cNvSpPr txBox="1"/>
          <p:nvPr/>
        </p:nvSpPr>
        <p:spPr>
          <a:xfrm>
            <a:off x="10611104" y="1343599"/>
            <a:ext cx="92456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目标设备</a:t>
            </a:r>
          </a:p>
        </p:txBody>
      </p:sp>
      <p:sp>
        <p:nvSpPr>
          <p:cNvPr id="34" name="text-033: AW：addr / ID / LEN=1"/>
          <p:cNvSpPr txBox="1"/>
          <p:nvPr/>
        </p:nvSpPr>
        <p:spPr>
          <a:xfrm>
            <a:off x="5317048" y="1998472"/>
            <a:ext cx="2025264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AW：addr / ID / LEN=1</a:t>
            </a:r>
          </a:p>
        </p:txBody>
      </p:sp>
      <p:sp>
        <p:nvSpPr>
          <p:cNvPr id="35" name="text-034: W：D0 / STRB / LAST=0"/>
          <p:cNvSpPr txBox="1"/>
          <p:nvPr/>
        </p:nvSpPr>
        <p:spPr>
          <a:xfrm>
            <a:off x="5258274" y="285191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W：D0 / STRB / LAST=0</a:t>
            </a:r>
          </a:p>
        </p:txBody>
      </p:sp>
      <p:sp>
        <p:nvSpPr>
          <p:cNvPr id="36" name="text-035: W：D1 / STRB / LAST=1"/>
          <p:cNvSpPr txBox="1"/>
          <p:nvPr/>
        </p:nvSpPr>
        <p:spPr>
          <a:xfrm>
            <a:off x="5258274" y="3705352"/>
            <a:ext cx="2142812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W：D1 / STRB / LAST=1</a:t>
            </a:r>
          </a:p>
        </p:txBody>
      </p:sp>
      <p:sp>
        <p:nvSpPr>
          <p:cNvPr id="37" name="text-036: B：ID / RESP；软件仍需检查结果"/>
          <p:cNvSpPr txBox="1"/>
          <p:nvPr/>
        </p:nvSpPr>
        <p:spPr>
          <a:xfrm>
            <a:off x="4905980" y="5234432"/>
            <a:ext cx="2847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B：ID / RESP；软件仍需检查结果</a:t>
            </a:r>
          </a:p>
        </p:txBody>
      </p:sp>
      <p:sp>
        <p:nvSpPr>
          <p:cNvPr id="38" name="rect-037"/>
          <p:cNvSpPr/>
          <p:nvPr/>
        </p:nvSpPr>
        <p:spPr>
          <a:xfrm>
            <a:off x="3235960" y="4622800"/>
            <a:ext cx="6258560" cy="533400"/>
          </a:xfrm>
          <a:prstGeom prst="roundRect">
            <a:avLst>
              <a:gd name="adj" fmla="val 9333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3235960" y="4622800"/>
            <a:ext cx="35560" cy="5334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路由状态跨周期保存"/>
          <p:cNvSpPr txBox="1"/>
          <p:nvPr/>
        </p:nvSpPr>
        <p:spPr>
          <a:xfrm>
            <a:off x="3356864" y="4650679"/>
            <a:ext cx="184912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路由状态跨周期保存</a:t>
            </a:r>
          </a:p>
        </p:txBody>
      </p:sp>
      <p:sp>
        <p:nvSpPr>
          <p:cNvPr id="41" name="text-040: 目标 / 来源 FIFO / 同 ID 在途数"/>
          <p:cNvSpPr txBox="1"/>
          <p:nvPr/>
        </p:nvSpPr>
        <p:spPr>
          <a:xfrm>
            <a:off x="3356864" y="4937435"/>
            <a:ext cx="233670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 / 来源 FIFO / 同 ID 在途数</a:t>
            </a:r>
          </a:p>
        </p:txBody>
      </p:sp>
      <p:sp>
        <p:nvSpPr>
          <p:cNvPr id="42" name="rect-041"/>
          <p:cNvSpPr/>
          <p:nvPr/>
        </p:nvSpPr>
        <p:spPr>
          <a:xfrm>
            <a:off x="3911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2"/>
          <p:cNvSpPr/>
          <p:nvPr/>
        </p:nvSpPr>
        <p:spPr>
          <a:xfrm>
            <a:off x="391160" y="6400800"/>
            <a:ext cx="35560" cy="85344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3: AW 被接收"/>
          <p:cNvSpPr txBox="1"/>
          <p:nvPr/>
        </p:nvSpPr>
        <p:spPr>
          <a:xfrm>
            <a:off x="512064" y="6428679"/>
            <a:ext cx="10500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AW 被接收</a:t>
            </a:r>
          </a:p>
        </p:txBody>
      </p:sp>
      <p:sp>
        <p:nvSpPr>
          <p:cNvPr id="45" name="text-044: 该接口接受写地址"/>
          <p:cNvSpPr txBox="1"/>
          <p:nvPr/>
        </p:nvSpPr>
        <p:spPr>
          <a:xfrm>
            <a:off x="512064" y="671543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该接口接受写地址</a:t>
            </a:r>
          </a:p>
        </p:txBody>
      </p:sp>
      <p:sp>
        <p:nvSpPr>
          <p:cNvPr id="46" name="text-045: 不代表目标已经写入"/>
          <p:cNvSpPr txBox="1"/>
          <p:nvPr/>
        </p:nvSpPr>
        <p:spPr>
          <a:xfrm>
            <a:off x="512064" y="69287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不代表目标已经写入</a:t>
            </a:r>
          </a:p>
        </p:txBody>
      </p:sp>
      <p:sp>
        <p:nvSpPr>
          <p:cNvPr id="47" name="rect-046"/>
          <p:cNvSpPr/>
          <p:nvPr/>
        </p:nvSpPr>
        <p:spPr>
          <a:xfrm>
            <a:off x="4480560" y="6400800"/>
            <a:ext cx="3769360" cy="853440"/>
          </a:xfrm>
          <a:prstGeom prst="roundRect">
            <a:avLst>
              <a:gd name="adj" fmla="val 5833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-047"/>
          <p:cNvSpPr/>
          <p:nvPr/>
        </p:nvSpPr>
        <p:spPr>
          <a:xfrm>
            <a:off x="4480560" y="6400800"/>
            <a:ext cx="35560" cy="85344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8: W 末拍握手"/>
          <p:cNvSpPr txBox="1"/>
          <p:nvPr/>
        </p:nvSpPr>
        <p:spPr>
          <a:xfrm>
            <a:off x="4601464" y="6428679"/>
            <a:ext cx="113150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W 末拍握手</a:t>
            </a:r>
          </a:p>
        </p:txBody>
      </p:sp>
      <p:sp>
        <p:nvSpPr>
          <p:cNvPr id="50" name="text-049: 该接口结束本 burst 数据"/>
          <p:cNvSpPr txBox="1"/>
          <p:nvPr/>
        </p:nvSpPr>
        <p:spPr>
          <a:xfrm>
            <a:off x="4601464" y="6715435"/>
            <a:ext cx="18518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该接口结束本 burst 数据</a:t>
            </a:r>
          </a:p>
        </p:txBody>
      </p:sp>
      <p:sp>
        <p:nvSpPr>
          <p:cNvPr id="51" name="text-050: B 响应仍可能在途"/>
          <p:cNvSpPr txBox="1"/>
          <p:nvPr/>
        </p:nvSpPr>
        <p:spPr>
          <a:xfrm>
            <a:off x="4601464" y="6928795"/>
            <a:ext cx="13954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B 响应仍可能在途</a:t>
            </a:r>
          </a:p>
        </p:txBody>
      </p:sp>
      <p:sp>
        <p:nvSpPr>
          <p:cNvPr id="52" name="rect-051"/>
          <p:cNvSpPr/>
          <p:nvPr/>
        </p:nvSpPr>
        <p:spPr>
          <a:xfrm>
            <a:off x="8569960" y="6400800"/>
            <a:ext cx="3840480" cy="853440"/>
          </a:xfrm>
          <a:prstGeom prst="roundRect">
            <a:avLst>
              <a:gd name="adj" fmla="val 5833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2"/>
          <p:cNvSpPr/>
          <p:nvPr/>
        </p:nvSpPr>
        <p:spPr>
          <a:xfrm>
            <a:off x="8569960" y="6400800"/>
            <a:ext cx="35560" cy="85344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B 握手并检查 RESP"/>
          <p:cNvSpPr txBox="1"/>
          <p:nvPr/>
        </p:nvSpPr>
        <p:spPr>
          <a:xfrm>
            <a:off x="8690864" y="6428679"/>
            <a:ext cx="17707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B 握手并检查 RESP</a:t>
            </a:r>
          </a:p>
        </p:txBody>
      </p:sp>
      <p:sp>
        <p:nvSpPr>
          <p:cNvPr id="55" name="text-054: AXI 写事务响应已返回"/>
          <p:cNvSpPr txBox="1"/>
          <p:nvPr/>
        </p:nvSpPr>
        <p:spPr>
          <a:xfrm>
            <a:off x="8690864" y="6715435"/>
            <a:ext cx="16676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AXI 写事务响应已返回</a:t>
            </a:r>
          </a:p>
        </p:txBody>
      </p:sp>
      <p:sp>
        <p:nvSpPr>
          <p:cNvPr id="56" name="text-055: 设备动作完成语义仍由寄存器定义"/>
          <p:cNvSpPr txBox="1"/>
          <p:nvPr/>
        </p:nvSpPr>
        <p:spPr>
          <a:xfrm>
            <a:off x="8690864" y="6928795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设备动作完成语义仍由寄存器定义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3556000"/>
            <a:ext cx="12019280" cy="2062480"/>
          </a:xfrm>
          <a:prstGeom prst="roundRect">
            <a:avLst>
              <a:gd name="adj" fmla="val 4137"/>
            </a:avLst>
          </a:prstGeom>
          <a:solidFill>
            <a:srgbClr val="F3F6F8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line-006"/>
          <p:cNvSpPr/>
          <p:nvPr/>
        </p:nvSpPr>
        <p:spPr>
          <a:xfrm>
            <a:off x="36982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gon-007"/>
          <p:cNvSpPr/>
          <p:nvPr/>
        </p:nvSpPr>
        <p:spPr>
          <a:xfrm>
            <a:off x="47863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8498840" y="209804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9586976" y="206248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85344" y="35560"/>
                </a:moveTo>
                <a:lnTo>
                  <a:pt x="0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2062480" y="2667000"/>
            <a:ext cx="8961120" cy="462280"/>
          </a:xfrm>
          <a:custGeom>
            <a:avLst/>
            <a:gdLst/>
            <a:ahLst/>
            <a:cxnLst/>
            <a:rect l="0" t="0" r="r" b="b"/>
            <a:pathLst>
              <a:path w="8961120" h="462280">
                <a:moveTo>
                  <a:pt x="8961120" y="0"/>
                </a:moveTo>
                <a:lnTo>
                  <a:pt x="8961120" y="462280"/>
                </a:lnTo>
                <a:lnTo>
                  <a:pt x="0" y="46228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2026920" y="2667000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0"/>
                </a:moveTo>
                <a:lnTo>
                  <a:pt x="0" y="85344"/>
                </a:lnTo>
                <a:lnTo>
                  <a:pt x="71120" y="85344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137 个 e32 元素：按实际 vl 分批执行"/>
          <p:cNvSpPr txBox="1"/>
          <p:nvPr/>
        </p:nvSpPr>
        <p:spPr>
          <a:xfrm>
            <a:off x="483616" y="271109"/>
            <a:ext cx="453560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137 个 e32 元素：按实际 vl 分批执行</a:t>
            </a:r>
          </a:p>
        </p:txBody>
      </p:sp>
      <p:sp>
        <p:nvSpPr>
          <p:cNvPr id="14" name="text-013: e32,m1；VLEN=2048 → VLMAX=64。示例 a[i]+b[i]"/>
          <p:cNvSpPr txBox="1"/>
          <p:nvPr/>
        </p:nvSpPr>
        <p:spPr>
          <a:xfrm>
            <a:off x="483616" y="676778"/>
            <a:ext cx="658916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e32,m1；VLEN=2048 → VLMAX=64。示例 a[i]+b[i]→c[i]，尾部 9 个元素同样需要校验。</a:t>
            </a:r>
          </a:p>
        </p:txBody>
      </p:sp>
      <p:sp>
        <p:nvSpPr>
          <p:cNvPr id="15" name="text-014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16" name="text-015: 依据：教材 journey.c；RVV vsetvli 语义与当前 Ara 配置"/>
          <p:cNvSpPr txBox="1"/>
          <p:nvPr/>
        </p:nvSpPr>
        <p:spPr>
          <a:xfrm>
            <a:off x="341376" y="7726477"/>
            <a:ext cx="4450090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依据：教材 journey.c；RVV vsetvli 语义与当前 Ara 配置；非运行结果</a:t>
            </a:r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307080" cy="1137920"/>
          </a:xfrm>
          <a:prstGeom prst="roundRect">
            <a:avLst>
              <a:gd name="adj" fmla="val 437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-017"/>
          <p:cNvSpPr/>
          <p:nvPr/>
        </p:nvSpPr>
        <p:spPr>
          <a:xfrm>
            <a:off x="391160" y="1529080"/>
            <a:ext cx="35560" cy="11379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CPU 维护循环状态"/>
          <p:cNvSpPr txBox="1"/>
          <p:nvPr/>
        </p:nvSpPr>
        <p:spPr>
          <a:xfrm>
            <a:off x="512064" y="1556959"/>
            <a:ext cx="168606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CPU 维护循环状态</a:t>
            </a:r>
          </a:p>
        </p:txBody>
      </p:sp>
      <p:sp>
        <p:nvSpPr>
          <p:cNvPr id="20" name="text-019: 启用 VS；a0/a1/a2 = 数组地址"/>
          <p:cNvSpPr txBox="1"/>
          <p:nvPr/>
        </p:nvSpPr>
        <p:spPr>
          <a:xfrm>
            <a:off x="512064" y="1828353"/>
            <a:ext cx="25829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启用 VS；a0/a1/a2 = 数组地址</a:t>
            </a:r>
          </a:p>
        </p:txBody>
      </p:sp>
      <p:sp>
        <p:nvSpPr>
          <p:cNvPr id="21" name="text-020: remaining 初值 137"/>
          <p:cNvSpPr txBox="1"/>
          <p:nvPr/>
        </p:nvSpPr>
        <p:spPr>
          <a:xfrm>
            <a:off x="512064" y="2041713"/>
            <a:ext cx="165087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初值 137</a:t>
            </a:r>
          </a:p>
        </p:txBody>
      </p:sp>
      <p:sp>
        <p:nvSpPr>
          <p:cNvPr id="22" name="text-021: 调用 vsetvli 取得实际 vl"/>
          <p:cNvSpPr txBox="1"/>
          <p:nvPr/>
        </p:nvSpPr>
        <p:spPr>
          <a:xfrm>
            <a:off x="512064" y="2255073"/>
            <a:ext cx="193107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调用 vsetvli 取得实际 vl</a:t>
            </a:r>
          </a:p>
        </p:txBody>
      </p:sp>
      <p:sp>
        <p:nvSpPr>
          <p:cNvPr id="23" name="rect-022"/>
          <p:cNvSpPr/>
          <p:nvPr/>
        </p:nvSpPr>
        <p:spPr>
          <a:xfrm>
            <a:off x="4871720" y="1529080"/>
            <a:ext cx="3627120" cy="1137920"/>
          </a:xfrm>
          <a:prstGeom prst="roundRect">
            <a:avLst>
              <a:gd name="adj" fmla="val 437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-023"/>
          <p:cNvSpPr/>
          <p:nvPr/>
        </p:nvSpPr>
        <p:spPr>
          <a:xfrm>
            <a:off x="4871720" y="1529080"/>
            <a:ext cx="35560" cy="1137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4: Ara 执行一批"/>
          <p:cNvSpPr txBox="1"/>
          <p:nvPr/>
        </p:nvSpPr>
        <p:spPr>
          <a:xfrm>
            <a:off x="4992624" y="1556959"/>
            <a:ext cx="124220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Ara 执行一批</a:t>
            </a:r>
          </a:p>
        </p:txBody>
      </p:sp>
      <p:sp>
        <p:nvSpPr>
          <p:cNvPr id="26" name="text-025: vle32 a、b → vadd → vse32 c"/>
          <p:cNvSpPr txBox="1"/>
          <p:nvPr/>
        </p:nvSpPr>
        <p:spPr>
          <a:xfrm>
            <a:off x="4992624" y="1828353"/>
            <a:ext cx="24796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vle32 a、b → vadd → vse32 c</a:t>
            </a:r>
          </a:p>
        </p:txBody>
      </p:sp>
      <p:sp>
        <p:nvSpPr>
          <p:cNvPr id="27" name="text-026: 本轮只处理 vl 个有效元素"/>
          <p:cNvSpPr txBox="1"/>
          <p:nvPr/>
        </p:nvSpPr>
        <p:spPr>
          <a:xfrm>
            <a:off x="4992624" y="2041713"/>
            <a:ext cx="209576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本轮只处理 vl 个有效元素</a:t>
            </a:r>
          </a:p>
        </p:txBody>
      </p:sp>
      <p:sp>
        <p:nvSpPr>
          <p:cNvPr id="28" name="text-027: 地址增加 vl × 4 字节"/>
          <p:cNvSpPr txBox="1"/>
          <p:nvPr/>
        </p:nvSpPr>
        <p:spPr>
          <a:xfrm>
            <a:off x="4992624" y="2255073"/>
            <a:ext cx="17200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地址增加 vl × 4 字节</a:t>
            </a:r>
          </a:p>
        </p:txBody>
      </p:sp>
      <p:sp>
        <p:nvSpPr>
          <p:cNvPr id="29" name="rect-028"/>
          <p:cNvSpPr/>
          <p:nvPr/>
        </p:nvSpPr>
        <p:spPr>
          <a:xfrm>
            <a:off x="9672320" y="1529080"/>
            <a:ext cx="2738120" cy="1137920"/>
          </a:xfrm>
          <a:prstGeom prst="roundRect">
            <a:avLst>
              <a:gd name="adj" fmla="val 437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29"/>
          <p:cNvSpPr/>
          <p:nvPr/>
        </p:nvSpPr>
        <p:spPr>
          <a:xfrm>
            <a:off x="9672320" y="1529080"/>
            <a:ext cx="35560" cy="1137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0: 循环继续条件"/>
          <p:cNvSpPr txBox="1"/>
          <p:nvPr/>
        </p:nvSpPr>
        <p:spPr>
          <a:xfrm>
            <a:off x="9793224" y="155695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循环继续条件</a:t>
            </a:r>
          </a:p>
        </p:txBody>
      </p:sp>
      <p:sp>
        <p:nvSpPr>
          <p:cNvPr id="32" name="text-031: remaining -= vl"/>
          <p:cNvSpPr txBox="1"/>
          <p:nvPr/>
        </p:nvSpPr>
        <p:spPr>
          <a:xfrm>
            <a:off x="9793224" y="1828353"/>
            <a:ext cx="12718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remaining -= vl</a:t>
            </a:r>
          </a:p>
        </p:txBody>
      </p:sp>
      <p:sp>
        <p:nvSpPr>
          <p:cNvPr id="33" name="text-032: 非零则再设定 vl"/>
          <p:cNvSpPr txBox="1"/>
          <p:nvPr/>
        </p:nvSpPr>
        <p:spPr>
          <a:xfrm>
            <a:off x="9793224" y="2041713"/>
            <a:ext cx="13618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非零则再设定 vl</a:t>
            </a:r>
          </a:p>
        </p:txBody>
      </p:sp>
      <p:sp>
        <p:nvSpPr>
          <p:cNvPr id="34" name="text-033: 不能每轮固定加 64"/>
          <p:cNvSpPr txBox="1"/>
          <p:nvPr/>
        </p:nvSpPr>
        <p:spPr>
          <a:xfrm>
            <a:off x="9793224" y="2255073"/>
            <a:ext cx="162136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不能每轮固定加 64</a:t>
            </a:r>
          </a:p>
        </p:txBody>
      </p:sp>
      <p:sp>
        <p:nvSpPr>
          <p:cNvPr id="35" name="text-034: 内存中的逻辑序列（每格仅表示一段，不代表一个 lane）"/>
          <p:cNvSpPr txBox="1"/>
          <p:nvPr/>
        </p:nvSpPr>
        <p:spPr>
          <a:xfrm>
            <a:off x="519176" y="3612896"/>
            <a:ext cx="4650581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内存中的逻辑序列（每格仅表示一段，不代表一个 lane）</a:t>
            </a:r>
          </a:p>
        </p:txBody>
      </p:sp>
      <p:sp>
        <p:nvSpPr>
          <p:cNvPr id="36" name="rect-035"/>
          <p:cNvSpPr/>
          <p:nvPr/>
        </p:nvSpPr>
        <p:spPr>
          <a:xfrm>
            <a:off x="60452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6"/>
          <p:cNvSpPr/>
          <p:nvPr/>
        </p:nvSpPr>
        <p:spPr>
          <a:xfrm>
            <a:off x="604520" y="4231640"/>
            <a:ext cx="35560" cy="9601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第 1 批 · vl=64"/>
          <p:cNvSpPr txBox="1"/>
          <p:nvPr/>
        </p:nvSpPr>
        <p:spPr>
          <a:xfrm>
            <a:off x="72542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第 1 批 · vl=64</a:t>
            </a:r>
          </a:p>
        </p:txBody>
      </p:sp>
      <p:sp>
        <p:nvSpPr>
          <p:cNvPr id="39" name="text-038: 元素 0…63"/>
          <p:cNvSpPr txBox="1"/>
          <p:nvPr/>
        </p:nvSpPr>
        <p:spPr>
          <a:xfrm>
            <a:off x="725424" y="4546275"/>
            <a:ext cx="954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0…63</a:t>
            </a:r>
          </a:p>
        </p:txBody>
      </p:sp>
      <p:sp>
        <p:nvSpPr>
          <p:cNvPr id="40" name="text-039: 256 B"/>
          <p:cNvSpPr txBox="1"/>
          <p:nvPr/>
        </p:nvSpPr>
        <p:spPr>
          <a:xfrm>
            <a:off x="72542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1" name="rect-040"/>
          <p:cNvSpPr/>
          <p:nvPr/>
        </p:nvSpPr>
        <p:spPr>
          <a:xfrm>
            <a:off x="5796280" y="4231640"/>
            <a:ext cx="4978400" cy="960120"/>
          </a:xfrm>
          <a:prstGeom prst="roundRect">
            <a:avLst>
              <a:gd name="adj" fmla="val 5185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5796280" y="4231640"/>
            <a:ext cx="35560" cy="9601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第 2 批 · vl=64"/>
          <p:cNvSpPr txBox="1"/>
          <p:nvPr/>
        </p:nvSpPr>
        <p:spPr>
          <a:xfrm>
            <a:off x="5917184" y="4259519"/>
            <a:ext cx="138976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第 2 批 · vl=64</a:t>
            </a:r>
          </a:p>
        </p:txBody>
      </p:sp>
      <p:sp>
        <p:nvSpPr>
          <p:cNvPr id="44" name="text-043: 元素 64…127"/>
          <p:cNvSpPr txBox="1"/>
          <p:nvPr/>
        </p:nvSpPr>
        <p:spPr>
          <a:xfrm>
            <a:off x="5917184" y="4546275"/>
            <a:ext cx="11418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元素 64…127</a:t>
            </a:r>
          </a:p>
        </p:txBody>
      </p:sp>
      <p:sp>
        <p:nvSpPr>
          <p:cNvPr id="45" name="text-044: 256 B"/>
          <p:cNvSpPr txBox="1"/>
          <p:nvPr/>
        </p:nvSpPr>
        <p:spPr>
          <a:xfrm>
            <a:off x="5917184" y="4759635"/>
            <a:ext cx="5817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256 B</a:t>
            </a:r>
          </a:p>
        </p:txBody>
      </p:sp>
      <p:sp>
        <p:nvSpPr>
          <p:cNvPr id="46" name="rect-045"/>
          <p:cNvSpPr/>
          <p:nvPr/>
        </p:nvSpPr>
        <p:spPr>
          <a:xfrm>
            <a:off x="10988040" y="4231640"/>
            <a:ext cx="1066800" cy="960120"/>
          </a:xfrm>
          <a:prstGeom prst="roundRect">
            <a:avLst>
              <a:gd name="adj" fmla="val 5185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-046"/>
          <p:cNvSpPr/>
          <p:nvPr/>
        </p:nvSpPr>
        <p:spPr>
          <a:xfrm>
            <a:off x="10988040" y="4231640"/>
            <a:ext cx="35560" cy="96012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7: 尾批"/>
          <p:cNvSpPr txBox="1"/>
          <p:nvPr/>
        </p:nvSpPr>
        <p:spPr>
          <a:xfrm>
            <a:off x="11108944" y="4259519"/>
            <a:ext cx="55473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尾批</a:t>
            </a:r>
          </a:p>
        </p:txBody>
      </p:sp>
      <p:sp>
        <p:nvSpPr>
          <p:cNvPr id="49" name="text-048: 128…136"/>
          <p:cNvSpPr txBox="1"/>
          <p:nvPr/>
        </p:nvSpPr>
        <p:spPr>
          <a:xfrm>
            <a:off x="11108944" y="4546275"/>
            <a:ext cx="8758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128…136</a:t>
            </a:r>
          </a:p>
        </p:txBody>
      </p:sp>
      <p:sp>
        <p:nvSpPr>
          <p:cNvPr id="50" name="text-049: 9 / 36 B"/>
          <p:cNvSpPr txBox="1"/>
          <p:nvPr/>
        </p:nvSpPr>
        <p:spPr>
          <a:xfrm>
            <a:off x="11108944" y="4759635"/>
            <a:ext cx="7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9 / 36 B</a:t>
            </a:r>
          </a:p>
        </p:txBody>
      </p:sp>
      <p:sp>
        <p:nvSpPr>
          <p:cNvPr id="51" name="rect-050"/>
          <p:cNvSpPr/>
          <p:nvPr/>
        </p:nvSpPr>
        <p:spPr>
          <a:xfrm>
            <a:off x="39116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-051"/>
          <p:cNvSpPr/>
          <p:nvPr/>
        </p:nvSpPr>
        <p:spPr>
          <a:xfrm>
            <a:off x="391160" y="6223000"/>
            <a:ext cx="35560" cy="92456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静态指令证据"/>
          <p:cNvSpPr txBox="1"/>
          <p:nvPr/>
        </p:nvSpPr>
        <p:spPr>
          <a:xfrm>
            <a:off x="51206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静态指令证据</a:t>
            </a:r>
          </a:p>
        </p:txBody>
      </p:sp>
      <p:sp>
        <p:nvSpPr>
          <p:cNvPr id="54" name="text-053: ELF 反汇编存在 V 指令"/>
          <p:cNvSpPr txBox="1"/>
          <p:nvPr/>
        </p:nvSpPr>
        <p:spPr>
          <a:xfrm>
            <a:off x="512064" y="6537635"/>
            <a:ext cx="17207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ELF 反汇编存在 V 指令</a:t>
            </a:r>
          </a:p>
        </p:txBody>
      </p:sp>
      <p:sp>
        <p:nvSpPr>
          <p:cNvPr id="55" name="text-054: 只能确认程序文件内容"/>
          <p:cNvSpPr txBox="1"/>
          <p:nvPr/>
        </p:nvSpPr>
        <p:spPr>
          <a:xfrm>
            <a:off x="512064" y="675099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只能确认程序文件内容</a:t>
            </a:r>
          </a:p>
        </p:txBody>
      </p:sp>
      <p:sp>
        <p:nvSpPr>
          <p:cNvPr id="56" name="rect-055"/>
          <p:cNvSpPr/>
          <p:nvPr/>
        </p:nvSpPr>
        <p:spPr>
          <a:xfrm>
            <a:off x="4516120" y="6223000"/>
            <a:ext cx="369824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4516120" y="622300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执行轨迹证据"/>
          <p:cNvSpPr txBox="1"/>
          <p:nvPr/>
        </p:nvSpPr>
        <p:spPr>
          <a:xfrm>
            <a:off x="4637024" y="6250879"/>
            <a:ext cx="1294384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执行轨迹证据</a:t>
            </a:r>
          </a:p>
        </p:txBody>
      </p:sp>
      <p:sp>
        <p:nvSpPr>
          <p:cNvPr id="59" name="text-058: 目标确实执行向量路径"/>
          <p:cNvSpPr txBox="1"/>
          <p:nvPr/>
        </p:nvSpPr>
        <p:spPr>
          <a:xfrm>
            <a:off x="4637024" y="6537635"/>
            <a:ext cx="17211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目标确实执行向量路径</a:t>
            </a:r>
          </a:p>
        </p:txBody>
      </p:sp>
      <p:sp>
        <p:nvSpPr>
          <p:cNvPr id="60" name="text-059: 不能用构建成功代替"/>
          <p:cNvSpPr txBox="1"/>
          <p:nvPr/>
        </p:nvSpPr>
        <p:spPr>
          <a:xfrm>
            <a:off x="463702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不能用构建成功代替</a:t>
            </a:r>
          </a:p>
        </p:txBody>
      </p:sp>
      <p:sp>
        <p:nvSpPr>
          <p:cNvPr id="61" name="rect-060"/>
          <p:cNvSpPr/>
          <p:nvPr/>
        </p:nvSpPr>
        <p:spPr>
          <a:xfrm>
            <a:off x="8641080" y="6223000"/>
            <a:ext cx="3769360" cy="924560"/>
          </a:xfrm>
          <a:prstGeom prst="roundRect">
            <a:avLst>
              <a:gd name="adj" fmla="val 5384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-061"/>
          <p:cNvSpPr/>
          <p:nvPr/>
        </p:nvSpPr>
        <p:spPr>
          <a:xfrm>
            <a:off x="8641080" y="6223000"/>
            <a:ext cx="35560" cy="92456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数值与边界证据"/>
          <p:cNvSpPr txBox="1"/>
          <p:nvPr/>
        </p:nvSpPr>
        <p:spPr>
          <a:xfrm>
            <a:off x="8761984" y="625087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数值与边界证据</a:t>
            </a:r>
          </a:p>
        </p:txBody>
      </p:sp>
      <p:sp>
        <p:nvSpPr>
          <p:cNvPr id="64" name="text-063: 137 项结果逐项相等"/>
          <p:cNvSpPr txBox="1"/>
          <p:nvPr/>
        </p:nvSpPr>
        <p:spPr>
          <a:xfrm>
            <a:off x="8761984" y="6537635"/>
            <a:ext cx="15800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137 项结果逐项相等</a:t>
            </a:r>
          </a:p>
        </p:txBody>
      </p:sp>
      <p:sp>
        <p:nvSpPr>
          <p:cNvPr id="65" name="text-064: 尾部保护字保持预期"/>
          <p:cNvSpPr txBox="1"/>
          <p:nvPr/>
        </p:nvSpPr>
        <p:spPr>
          <a:xfrm>
            <a:off x="8761984" y="675099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尾部保护字保持预期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polyline-005"/>
          <p:cNvSpPr/>
          <p:nvPr/>
        </p:nvSpPr>
        <p:spPr>
          <a:xfrm>
            <a:off x="227584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polygon-006"/>
          <p:cNvSpPr/>
          <p:nvPr/>
        </p:nvSpPr>
        <p:spPr>
          <a:xfrm>
            <a:off x="224028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640080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636524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10525760" y="245364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21336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10490200" y="32928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087E83"/>
          </a:solidFill>
          <a:ln w="7112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1: ASIC 交付边界：数字逻辑消费什么，工艺平台提供什么"/>
          <p:cNvSpPr txBox="1"/>
          <p:nvPr/>
        </p:nvSpPr>
        <p:spPr>
          <a:xfrm>
            <a:off x="483616" y="271109"/>
            <a:ext cx="6492323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ASIC 交付边界：数字逻辑消费什么，工艺平台提供什么</a:t>
            </a:r>
          </a:p>
        </p:txBody>
      </p:sp>
      <p:sp>
        <p:nvSpPr>
          <p:cNvPr id="13" name="text-012: 当前 RTL 的功能边界与未来 SRAM / PLL / PAD / DDR 实"/>
          <p:cNvSpPr txBox="1"/>
          <p:nvPr/>
        </p:nvSpPr>
        <p:spPr>
          <a:xfrm>
            <a:off x="483616" y="676778"/>
            <a:ext cx="68813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当前 RTL 的功能边界与未来 SRAM / PLL / PAD / DDR 实现分层；不预设供应商或最终工艺。</a:t>
            </a:r>
          </a:p>
        </p:txBody>
      </p:sp>
      <p:sp>
        <p:nvSpPr>
          <p:cNvPr id="14" name="text-013: 未来方案 / 待实现与验证"/>
          <p:cNvSpPr txBox="1"/>
          <p:nvPr/>
        </p:nvSpPr>
        <p:spPr>
          <a:xfrm>
            <a:off x="341376" y="7498324"/>
            <a:ext cx="1810015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未来方案 / 待实现与验证</a:t>
            </a:r>
          </a:p>
        </p:txBody>
      </p:sp>
      <p:sp>
        <p:nvSpPr>
          <p:cNvPr id="15" name="text-014: 依据：Cheshire 集成接口；tech_cells_generic；平台启动"/>
          <p:cNvSpPr txBox="1"/>
          <p:nvPr/>
        </p:nvSpPr>
        <p:spPr>
          <a:xfrm>
            <a:off x="341376" y="7726477"/>
            <a:ext cx="443825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依据：Cheshire 集成接口；tech_cells_generic；平台启动与配置约定</a:t>
            </a:r>
          </a:p>
        </p:txBody>
      </p:sp>
      <p:sp>
        <p:nvSpPr>
          <p:cNvPr id="16" name="rect-015"/>
          <p:cNvSpPr/>
          <p:nvPr/>
        </p:nvSpPr>
        <p:spPr>
          <a:xfrm>
            <a:off x="391160" y="1529080"/>
            <a:ext cx="12019280" cy="924560"/>
          </a:xfrm>
          <a:prstGeom prst="roundRect">
            <a:avLst>
              <a:gd name="adj" fmla="val 5384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6"/>
          <p:cNvSpPr/>
          <p:nvPr/>
        </p:nvSpPr>
        <p:spPr>
          <a:xfrm>
            <a:off x="391160" y="1529080"/>
            <a:ext cx="35560" cy="92456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当前数字系统：CVA6 / Ara / AXI / Reg / LLC / 外设"/>
          <p:cNvSpPr txBox="1"/>
          <p:nvPr/>
        </p:nvSpPr>
        <p:spPr>
          <a:xfrm>
            <a:off x="512064" y="1556959"/>
            <a:ext cx="443558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当前数字系统：CVA6 / Ara / AXI / Reg / LLC / 外设</a:t>
            </a:r>
          </a:p>
        </p:txBody>
      </p:sp>
      <p:sp>
        <p:nvSpPr>
          <p:cNvPr id="19" name="text-018: 固定 Cfg、接口类型、软件地址与启动契约；RTL 存在不代表工艺实现可直接签核"/>
          <p:cNvSpPr txBox="1"/>
          <p:nvPr/>
        </p:nvSpPr>
        <p:spPr>
          <a:xfrm>
            <a:off x="512064" y="1828353"/>
            <a:ext cx="625361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固定 Cfg、接口类型、软件地址与启动契约；RTL 存在不代表工艺实现可直接签核</a:t>
            </a:r>
          </a:p>
        </p:txBody>
      </p:sp>
      <p:sp>
        <p:nvSpPr>
          <p:cNvPr id="20" name="rect-019"/>
          <p:cNvSpPr/>
          <p:nvPr/>
        </p:nvSpPr>
        <p:spPr>
          <a:xfrm>
            <a:off x="39116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0"/>
          <p:cNvSpPr/>
          <p:nvPr/>
        </p:nvSpPr>
        <p:spPr>
          <a:xfrm>
            <a:off x="391160" y="3378200"/>
            <a:ext cx="35560" cy="202692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1: 存储抽象 → 宏适配"/>
          <p:cNvSpPr txBox="1"/>
          <p:nvPr/>
        </p:nvSpPr>
        <p:spPr>
          <a:xfrm>
            <a:off x="512064" y="3406079"/>
            <a:ext cx="177508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存储抽象 → 宏适配</a:t>
            </a:r>
          </a:p>
        </p:txBody>
      </p:sp>
      <p:sp>
        <p:nvSpPr>
          <p:cNvPr id="23" name="text-022: SRAM / ROM 端口、深度、位宽"/>
          <p:cNvSpPr txBox="1"/>
          <p:nvPr/>
        </p:nvSpPr>
        <p:spPr>
          <a:xfrm>
            <a:off x="512064" y="3677473"/>
            <a:ext cx="25831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SRAM / ROM 端口、深度、位宽</a:t>
            </a:r>
          </a:p>
        </p:txBody>
      </p:sp>
      <p:sp>
        <p:nvSpPr>
          <p:cNvPr id="24" name="text-023: 读延迟、字节写、碰撞语义"/>
          <p:cNvSpPr txBox="1"/>
          <p:nvPr/>
        </p:nvSpPr>
        <p:spPr>
          <a:xfrm>
            <a:off x="51206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读延迟、字节写、碰撞语义</a:t>
            </a:r>
          </a:p>
        </p:txBody>
      </p:sp>
      <p:sp>
        <p:nvSpPr>
          <p:cNvPr id="25" name="text-024: DFT / MBIST / 修复脚"/>
          <p:cNvSpPr txBox="1"/>
          <p:nvPr/>
        </p:nvSpPr>
        <p:spPr>
          <a:xfrm>
            <a:off x="512064" y="4104193"/>
            <a:ext cx="18253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DFT / MBIST / 修复脚</a:t>
            </a:r>
          </a:p>
        </p:txBody>
      </p:sp>
      <p:sp>
        <p:nvSpPr>
          <p:cNvPr id="26" name="text-025: 多一拍延迟须与消费者匹配"/>
          <p:cNvSpPr txBox="1"/>
          <p:nvPr/>
        </p:nvSpPr>
        <p:spPr>
          <a:xfrm>
            <a:off x="512064" y="431755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多一拍延迟须与消费者匹配</a:t>
            </a:r>
          </a:p>
        </p:txBody>
      </p:sp>
      <p:sp>
        <p:nvSpPr>
          <p:cNvPr id="27" name="rect-026"/>
          <p:cNvSpPr/>
          <p:nvPr/>
        </p:nvSpPr>
        <p:spPr>
          <a:xfrm>
            <a:off x="451612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7"/>
          <p:cNvSpPr/>
          <p:nvPr/>
        </p:nvSpPr>
        <p:spPr>
          <a:xfrm>
            <a:off x="4516120" y="3378200"/>
            <a:ext cx="35560" cy="202692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时钟 / 复位 / 电源"/>
          <p:cNvSpPr txBox="1"/>
          <p:nvPr/>
        </p:nvSpPr>
        <p:spPr>
          <a:xfrm>
            <a:off x="4637024" y="34060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时钟 / 复位 / 电源</a:t>
            </a:r>
          </a:p>
        </p:txBody>
      </p:sp>
      <p:sp>
        <p:nvSpPr>
          <p:cNvPr id="30" name="text-029: PLL、门控与复位同步"/>
          <p:cNvSpPr txBox="1"/>
          <p:nvPr/>
        </p:nvSpPr>
        <p:spPr>
          <a:xfrm>
            <a:off x="4637024" y="3677473"/>
            <a:ext cx="1802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PLL、门控与复位同步</a:t>
            </a:r>
          </a:p>
        </p:txBody>
      </p:sp>
      <p:sp>
        <p:nvSpPr>
          <p:cNvPr id="31" name="text-030: 安全启动、动态切换与回退"/>
          <p:cNvSpPr txBox="1"/>
          <p:nvPr/>
        </p:nvSpPr>
        <p:spPr>
          <a:xfrm>
            <a:off x="4637024" y="3890833"/>
            <a:ext cx="221894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安全启动、动态切换与回退</a:t>
            </a:r>
          </a:p>
        </p:txBody>
      </p:sp>
      <p:sp>
        <p:nvSpPr>
          <p:cNvPr id="32" name="text-031: CDC / RDC、隔离与保持"/>
          <p:cNvSpPr txBox="1"/>
          <p:nvPr/>
        </p:nvSpPr>
        <p:spPr>
          <a:xfrm>
            <a:off x="4637024" y="4104193"/>
            <a:ext cx="203358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CDC / RDC、隔离与保持</a:t>
            </a:r>
          </a:p>
        </p:txBody>
      </p:sp>
      <p:sp>
        <p:nvSpPr>
          <p:cNvPr id="33" name="text-032: 频率 / 电压 / 域划分待确认"/>
          <p:cNvSpPr txBox="1"/>
          <p:nvPr/>
        </p:nvSpPr>
        <p:spPr>
          <a:xfrm>
            <a:off x="4637024" y="4317553"/>
            <a:ext cx="225961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频率 / 电压 / 域划分待确认</a:t>
            </a:r>
          </a:p>
        </p:txBody>
      </p:sp>
      <p:sp>
        <p:nvSpPr>
          <p:cNvPr id="34" name="rect-033"/>
          <p:cNvSpPr/>
          <p:nvPr/>
        </p:nvSpPr>
        <p:spPr>
          <a:xfrm>
            <a:off x="8641080" y="3378200"/>
            <a:ext cx="3769360" cy="2026920"/>
          </a:xfrm>
          <a:prstGeom prst="roundRect">
            <a:avLst>
              <a:gd name="adj" fmla="val 245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4"/>
          <p:cNvSpPr/>
          <p:nvPr/>
        </p:nvSpPr>
        <p:spPr>
          <a:xfrm>
            <a:off x="8641080" y="3378200"/>
            <a:ext cx="35560" cy="202692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5: 外部 IO 与外存"/>
          <p:cNvSpPr txBox="1"/>
          <p:nvPr/>
        </p:nvSpPr>
        <p:spPr>
          <a:xfrm>
            <a:off x="8761984" y="3406079"/>
            <a:ext cx="139028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外部 IO 与外存</a:t>
            </a:r>
          </a:p>
        </p:txBody>
      </p:sp>
      <p:sp>
        <p:nvSpPr>
          <p:cNvPr id="37" name="text-036: PAD、电平与引脚复用"/>
          <p:cNvSpPr txBox="1"/>
          <p:nvPr/>
        </p:nvSpPr>
        <p:spPr>
          <a:xfrm>
            <a:off x="8761984" y="3677473"/>
            <a:ext cx="18397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PAD、电平与引脚复用</a:t>
            </a:r>
          </a:p>
        </p:txBody>
      </p:sp>
      <p:sp>
        <p:nvSpPr>
          <p:cNvPr id="38" name="text-037: DDR controller + PHY"/>
          <p:cNvSpPr txBox="1"/>
          <p:nvPr/>
        </p:nvSpPr>
        <p:spPr>
          <a:xfrm>
            <a:off x="8761984" y="3890833"/>
            <a:ext cx="17558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DDR controller + PHY</a:t>
            </a:r>
          </a:p>
        </p:txBody>
      </p:sp>
      <p:sp>
        <p:nvSpPr>
          <p:cNvPr id="39" name="text-038: 训练、命令 / 数据时序与错误"/>
          <p:cNvSpPr txBox="1"/>
          <p:nvPr/>
        </p:nvSpPr>
        <p:spPr>
          <a:xfrm>
            <a:off x="8761984" y="4104193"/>
            <a:ext cx="24099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训练、命令 / 数据时序与错误</a:t>
            </a:r>
          </a:p>
        </p:txBody>
      </p:sp>
      <p:sp>
        <p:nvSpPr>
          <p:cNvPr id="40" name="text-039: 授权接口摘要及受控模型"/>
          <p:cNvSpPr txBox="1"/>
          <p:nvPr/>
        </p:nvSpPr>
        <p:spPr>
          <a:xfrm>
            <a:off x="8761984" y="4317553"/>
            <a:ext cx="204825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授权接口摘要及受控模型</a:t>
            </a:r>
          </a:p>
        </p:txBody>
      </p:sp>
      <p:sp>
        <p:nvSpPr>
          <p:cNvPr id="41" name="rect-040"/>
          <p:cNvSpPr/>
          <p:nvPr/>
        </p:nvSpPr>
        <p:spPr>
          <a:xfrm>
            <a:off x="391160" y="6329680"/>
            <a:ext cx="120192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1"/>
          <p:cNvSpPr/>
          <p:nvPr/>
        </p:nvSpPr>
        <p:spPr>
          <a:xfrm>
            <a:off x="391160" y="632968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2: 成套交付与验证"/>
          <p:cNvSpPr txBox="1"/>
          <p:nvPr/>
        </p:nvSpPr>
        <p:spPr>
          <a:xfrm>
            <a:off x="512064" y="6357559"/>
            <a:ext cx="1479296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成套交付与验证</a:t>
            </a:r>
          </a:p>
        </p:txBody>
      </p:sp>
      <p:sp>
        <p:nvSpPr>
          <p:cNvPr id="44" name="text-043: 宏模型 + RTL 适配 + 平台固件 + STA / CDC / RDC 约束"/>
          <p:cNvSpPr txBox="1"/>
          <p:nvPr/>
        </p:nvSpPr>
        <p:spPr>
          <a:xfrm>
            <a:off x="512064" y="6644315"/>
            <a:ext cx="86840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宏模型 + RTL 适配 + 平台固件 + STA / CDC / RDC 约束 + DFT / MBIST + 电源意图；依次验收单元、平台启动和系统回归。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457960"/>
            <a:ext cx="5156200" cy="4729480"/>
          </a:xfrm>
          <a:prstGeom prst="roundRect">
            <a:avLst>
              <a:gd name="adj" fmla="val 1804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7040880" y="1457960"/>
            <a:ext cx="5369560" cy="4729480"/>
          </a:xfrm>
          <a:prstGeom prst="roundRect">
            <a:avLst>
              <a:gd name="adj" fmla="val 1804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olyline-007"/>
          <p:cNvSpPr/>
          <p:nvPr/>
        </p:nvSpPr>
        <p:spPr>
          <a:xfrm>
            <a:off x="29692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gon-008"/>
          <p:cNvSpPr/>
          <p:nvPr/>
        </p:nvSpPr>
        <p:spPr>
          <a:xfrm>
            <a:off x="29337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line-009"/>
          <p:cNvSpPr/>
          <p:nvPr/>
        </p:nvSpPr>
        <p:spPr>
          <a:xfrm>
            <a:off x="29692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gon-010"/>
          <p:cNvSpPr/>
          <p:nvPr/>
        </p:nvSpPr>
        <p:spPr>
          <a:xfrm>
            <a:off x="29337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1"/>
          <p:cNvSpPr/>
          <p:nvPr/>
        </p:nvSpPr>
        <p:spPr>
          <a:xfrm>
            <a:off x="9725660" y="291592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gon-012"/>
          <p:cNvSpPr/>
          <p:nvPr/>
        </p:nvSpPr>
        <p:spPr>
          <a:xfrm>
            <a:off x="9690100" y="336397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3"/>
          <p:cNvSpPr/>
          <p:nvPr/>
        </p:nvSpPr>
        <p:spPr>
          <a:xfrm>
            <a:off x="9725660" y="4338320"/>
            <a:ext cx="1" cy="604520"/>
          </a:xfrm>
          <a:custGeom>
            <a:avLst/>
            <a:gdLst/>
            <a:ahLst/>
            <a:cxnLst/>
            <a:rect l="0" t="0" r="r" b="b"/>
            <a:pathLst>
              <a:path w="1" h="604520">
                <a:moveTo>
                  <a:pt x="0" y="0"/>
                </a:moveTo>
                <a:lnTo>
                  <a:pt x="0" y="60452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9690100" y="485749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line-015"/>
          <p:cNvSpPr/>
          <p:nvPr/>
        </p:nvSpPr>
        <p:spPr>
          <a:xfrm>
            <a:off x="5334000" y="3890264"/>
            <a:ext cx="1920240" cy="1497076"/>
          </a:xfrm>
          <a:custGeom>
            <a:avLst/>
            <a:gdLst/>
            <a:ahLst/>
            <a:cxnLst/>
            <a:rect l="0" t="0" r="r" b="b"/>
            <a:pathLst>
              <a:path w="1920240" h="1497076">
                <a:moveTo>
                  <a:pt x="0" y="1497076"/>
                </a:moveTo>
                <a:lnTo>
                  <a:pt x="960120" y="1493520"/>
                </a:lnTo>
                <a:lnTo>
                  <a:pt x="960120" y="0"/>
                </a:lnTo>
                <a:lnTo>
                  <a:pt x="1920240" y="3556"/>
                </a:lnTo>
              </a:path>
            </a:pathLst>
          </a:custGeom>
          <a:noFill/>
          <a:ln w="21336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gon-016"/>
          <p:cNvSpPr/>
          <p:nvPr/>
        </p:nvSpPr>
        <p:spPr>
          <a:xfrm>
            <a:off x="7168754" y="3857976"/>
            <a:ext cx="85486" cy="71120"/>
          </a:xfrm>
          <a:custGeom>
            <a:avLst/>
            <a:gdLst/>
            <a:ahLst/>
            <a:cxnLst/>
            <a:rect l="0" t="0" r="r" b="b"/>
            <a:pathLst>
              <a:path w="85486" h="71120">
                <a:moveTo>
                  <a:pt x="85486" y="35844"/>
                </a:moveTo>
                <a:lnTo>
                  <a:pt x="284" y="0"/>
                </a:lnTo>
                <a:lnTo>
                  <a:pt x="0" y="71120"/>
                </a:lnTo>
                <a:close/>
              </a:path>
            </a:pathLst>
          </a:custGeom>
          <a:solidFill>
            <a:srgbClr val="B76315"/>
          </a:solidFill>
          <a:ln w="7112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7: 从 C 到执行：主机产物如何变成目标内存与 CPU 状态"/>
          <p:cNvSpPr txBox="1"/>
          <p:nvPr/>
        </p:nvSpPr>
        <p:spPr>
          <a:xfrm>
            <a:off x="483616" y="271109"/>
            <a:ext cx="6307822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从 C 到执行：主机产物如何变成目标内存与 CPU 状态</a:t>
            </a:r>
          </a:p>
        </p:txBody>
      </p:sp>
      <p:sp>
        <p:nvSpPr>
          <p:cNvPr id="19" name="text-018: JTAG 直接加载路径；自主介质启动另由 ROM 按 GPT/raw 等规则读取"/>
          <p:cNvSpPr txBox="1"/>
          <p:nvPr/>
        </p:nvSpPr>
        <p:spPr>
          <a:xfrm>
            <a:off x="483616" y="676778"/>
            <a:ext cx="563858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JTAG 直接加载路径；自主介质启动另由 ROM 按 GPT/raw 等规则读取镜像。</a:t>
            </a:r>
          </a:p>
        </p:txBody>
      </p:sp>
      <p:sp>
        <p:nvSpPr>
          <p:cNvPr id="20" name="text-019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1" name="text-020: 源码：sw/lib/crt0.S；hw/bootrom；elfloader.cp"/>
          <p:cNvSpPr txBox="1"/>
          <p:nvPr/>
        </p:nvSpPr>
        <p:spPr>
          <a:xfrm>
            <a:off x="341376" y="7726477"/>
            <a:ext cx="4634735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源码：sw/lib/crt0.S；hw/bootrom；elfloader.cpp；vip_cheshire_soc.sv</a:t>
            </a:r>
          </a:p>
        </p:txBody>
      </p:sp>
      <p:sp>
        <p:nvSpPr>
          <p:cNvPr id="22" name="text-021: 主机侧：字节、布局与入口"/>
          <p:cNvSpPr txBox="1"/>
          <p:nvPr/>
        </p:nvSpPr>
        <p:spPr>
          <a:xfrm>
            <a:off x="519176" y="1514856"/>
            <a:ext cx="2311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主机侧：字节、布局与入口</a:t>
            </a:r>
          </a:p>
        </p:txBody>
      </p:sp>
      <p:sp>
        <p:nvSpPr>
          <p:cNvPr id="23" name="text-022: 目标侧：存储、寄存器与执行"/>
          <p:cNvSpPr txBox="1"/>
          <p:nvPr/>
        </p:nvSpPr>
        <p:spPr>
          <a:xfrm>
            <a:off x="7168896" y="1514856"/>
            <a:ext cx="24892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目标侧：存储、寄存器与执行</a:t>
            </a:r>
          </a:p>
        </p:txBody>
      </p:sp>
      <p:sp>
        <p:nvSpPr>
          <p:cNvPr id="24" name="rect-023"/>
          <p:cNvSpPr/>
          <p:nvPr/>
        </p:nvSpPr>
        <p:spPr>
          <a:xfrm>
            <a:off x="604520" y="20269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604520" y="20269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journey.c + crt0 + 支持库"/>
          <p:cNvSpPr txBox="1"/>
          <p:nvPr/>
        </p:nvSpPr>
        <p:spPr>
          <a:xfrm>
            <a:off x="725424" y="2054799"/>
            <a:ext cx="222097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journey.c + crt0 + 支持库</a:t>
            </a:r>
          </a:p>
        </p:txBody>
      </p:sp>
      <p:sp>
        <p:nvSpPr>
          <p:cNvPr id="27" name="text-026: 预处理 / 编译 / 汇编 / 链接"/>
          <p:cNvSpPr txBox="1"/>
          <p:nvPr/>
        </p:nvSpPr>
        <p:spPr>
          <a:xfrm>
            <a:off x="725424" y="2333874"/>
            <a:ext cx="21849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预处理 / 编译 / 汇编 / 链接</a:t>
            </a:r>
          </a:p>
        </p:txBody>
      </p:sp>
      <p:sp>
        <p:nvSpPr>
          <p:cNvPr id="28" name="rect-027"/>
          <p:cNvSpPr/>
          <p:nvPr/>
        </p:nvSpPr>
        <p:spPr>
          <a:xfrm>
            <a:off x="604520" y="344932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604520" y="344932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ELF / map / dump"/>
          <p:cNvSpPr txBox="1"/>
          <p:nvPr/>
        </p:nvSpPr>
        <p:spPr>
          <a:xfrm>
            <a:off x="725424" y="347719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31" name="text-030: PT_LOAD 决定段字节与地址"/>
          <p:cNvSpPr txBox="1"/>
          <p:nvPr/>
        </p:nvSpPr>
        <p:spPr>
          <a:xfrm>
            <a:off x="725424" y="3756274"/>
            <a:ext cx="21653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PT_LOAD 决定段字节与地址</a:t>
            </a:r>
          </a:p>
        </p:txBody>
      </p:sp>
      <p:sp>
        <p:nvSpPr>
          <p:cNvPr id="32" name="text-031: e_entry 决定应用入口"/>
          <p:cNvSpPr txBox="1"/>
          <p:nvPr/>
        </p:nvSpPr>
        <p:spPr>
          <a:xfrm>
            <a:off x="725424" y="3969634"/>
            <a:ext cx="171355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e_entry 决定应用入口</a:t>
            </a:r>
          </a:p>
        </p:txBody>
      </p:sp>
      <p:sp>
        <p:nvSpPr>
          <p:cNvPr id="33" name="rect-032"/>
          <p:cNvSpPr/>
          <p:nvPr/>
        </p:nvSpPr>
        <p:spPr>
          <a:xfrm>
            <a:off x="604520" y="4942840"/>
            <a:ext cx="4729480" cy="889000"/>
          </a:xfrm>
          <a:prstGeom prst="roundRect">
            <a:avLst>
              <a:gd name="adj" fmla="val 5600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604520" y="4942840"/>
            <a:ext cx="35560" cy="8890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主机 / VIP ELF loader"/>
          <p:cNvSpPr txBox="1"/>
          <p:nvPr/>
        </p:nvSpPr>
        <p:spPr>
          <a:xfrm>
            <a:off x="725424" y="4970719"/>
            <a:ext cx="191413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主机 / VIP ELF loader</a:t>
            </a:r>
          </a:p>
        </p:txBody>
      </p:sp>
      <p:sp>
        <p:nvSpPr>
          <p:cNvPr id="36" name="text-035: 解析段 → JTAG SBA 写内存"/>
          <p:cNvSpPr txBox="1"/>
          <p:nvPr/>
        </p:nvSpPr>
        <p:spPr>
          <a:xfrm>
            <a:off x="725424" y="5249794"/>
            <a:ext cx="214533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解析段 → JTAG SBA 写内存</a:t>
            </a:r>
          </a:p>
        </p:txBody>
      </p:sp>
      <p:sp>
        <p:nvSpPr>
          <p:cNvPr id="37" name="text-036: 设置 DPC → resume"/>
          <p:cNvSpPr txBox="1"/>
          <p:nvPr/>
        </p:nvSpPr>
        <p:spPr>
          <a:xfrm>
            <a:off x="725424" y="5463154"/>
            <a:ext cx="16378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设置 DPC → resume</a:t>
            </a:r>
          </a:p>
        </p:txBody>
      </p:sp>
      <p:sp>
        <p:nvSpPr>
          <p:cNvPr id="38" name="rect-037"/>
          <p:cNvSpPr/>
          <p:nvPr/>
        </p:nvSpPr>
        <p:spPr>
          <a:xfrm>
            <a:off x="7254240" y="20269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7254240" y="20269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复位 PC → Boot ROM"/>
          <p:cNvSpPr txBox="1"/>
          <p:nvPr/>
        </p:nvSpPr>
        <p:spPr>
          <a:xfrm>
            <a:off x="7375144" y="2054799"/>
            <a:ext cx="1940165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复位 PC → Boot ROM</a:t>
            </a:r>
          </a:p>
        </p:txBody>
      </p:sp>
      <p:sp>
        <p:nvSpPr>
          <p:cNvPr id="41" name="text-040: 时钟 / 复位与存储初始化"/>
          <p:cNvSpPr txBox="1"/>
          <p:nvPr/>
        </p:nvSpPr>
        <p:spPr>
          <a:xfrm>
            <a:off x="7375144" y="2333874"/>
            <a:ext cx="198240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时钟 / 复位与存储初始化</a:t>
            </a:r>
          </a:p>
        </p:txBody>
      </p:sp>
      <p:sp>
        <p:nvSpPr>
          <p:cNvPr id="42" name="text-041: 独立确认首次栈访问条件"/>
          <p:cNvSpPr txBox="1"/>
          <p:nvPr/>
        </p:nvSpPr>
        <p:spPr>
          <a:xfrm>
            <a:off x="7375144" y="2547234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独立确认首次栈访问条件</a:t>
            </a:r>
          </a:p>
        </p:txBody>
      </p:sp>
      <p:sp>
        <p:nvSpPr>
          <p:cNvPr id="43" name="rect-042"/>
          <p:cNvSpPr/>
          <p:nvPr/>
        </p:nvSpPr>
        <p:spPr>
          <a:xfrm>
            <a:off x="7254240" y="344932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7254240" y="344932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目标处于 halt 且存储可写"/>
          <p:cNvSpPr txBox="1"/>
          <p:nvPr/>
        </p:nvSpPr>
        <p:spPr>
          <a:xfrm>
            <a:off x="7375144" y="3477199"/>
            <a:ext cx="226264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目标处于 halt 且存储可写</a:t>
            </a:r>
          </a:p>
        </p:txBody>
      </p:sp>
      <p:sp>
        <p:nvSpPr>
          <p:cNvPr id="46" name="text-045: 代码、初值到达段地址"/>
          <p:cNvSpPr txBox="1"/>
          <p:nvPr/>
        </p:nvSpPr>
        <p:spPr>
          <a:xfrm>
            <a:off x="7375144" y="375627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代码、初值到达段地址</a:t>
            </a:r>
          </a:p>
        </p:txBody>
      </p:sp>
      <p:sp>
        <p:nvSpPr>
          <p:cNvPr id="47" name="text-046: 目标寄存器可由调试接口设置"/>
          <p:cNvSpPr txBox="1"/>
          <p:nvPr/>
        </p:nvSpPr>
        <p:spPr>
          <a:xfrm>
            <a:off x="7375144" y="396963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目标寄存器可由调试接口设置</a:t>
            </a:r>
          </a:p>
        </p:txBody>
      </p:sp>
      <p:sp>
        <p:nvSpPr>
          <p:cNvPr id="48" name="rect-047"/>
          <p:cNvSpPr/>
          <p:nvPr/>
        </p:nvSpPr>
        <p:spPr>
          <a:xfrm>
            <a:off x="7254240" y="4942840"/>
            <a:ext cx="4942840" cy="889000"/>
          </a:xfrm>
          <a:prstGeom prst="roundRect">
            <a:avLst>
              <a:gd name="adj" fmla="val 5600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7254240" y="4942840"/>
            <a:ext cx="35560" cy="8890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_start → crt0 → main"/>
          <p:cNvSpPr txBox="1"/>
          <p:nvPr/>
        </p:nvSpPr>
        <p:spPr>
          <a:xfrm>
            <a:off x="7375144" y="4970719"/>
            <a:ext cx="19546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_start → crt0 → main</a:t>
            </a:r>
          </a:p>
        </p:txBody>
      </p:sp>
      <p:sp>
        <p:nvSpPr>
          <p:cNvPr id="51" name="text-050: gp / BSS / FS；向量入口设置 VS"/>
          <p:cNvSpPr txBox="1"/>
          <p:nvPr/>
        </p:nvSpPr>
        <p:spPr>
          <a:xfrm>
            <a:off x="7375144" y="5249794"/>
            <a:ext cx="257011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gp / BSS / FS；向量入口设置 VS</a:t>
            </a:r>
          </a:p>
        </p:txBody>
      </p:sp>
      <p:sp>
        <p:nvSpPr>
          <p:cNvPr id="52" name="text-051: MMIO / UART / 数值与退出状态"/>
          <p:cNvSpPr txBox="1"/>
          <p:nvPr/>
        </p:nvSpPr>
        <p:spPr>
          <a:xfrm>
            <a:off x="7375144" y="5463154"/>
            <a:ext cx="24723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MMIO / UART / 数值与退出状态</a:t>
            </a:r>
          </a:p>
        </p:txBody>
      </p:sp>
      <p:sp>
        <p:nvSpPr>
          <p:cNvPr id="53" name="text-052: 段字节"/>
          <p:cNvSpPr txBox="1"/>
          <p:nvPr/>
        </p:nvSpPr>
        <p:spPr>
          <a:xfrm>
            <a:off x="5760720" y="3138099"/>
            <a:ext cx="6258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段字节</a:t>
            </a:r>
          </a:p>
        </p:txBody>
      </p:sp>
      <p:sp>
        <p:nvSpPr>
          <p:cNvPr id="54" name="text-053: DPC / resume"/>
          <p:cNvSpPr txBox="1"/>
          <p:nvPr/>
        </p:nvSpPr>
        <p:spPr>
          <a:xfrm>
            <a:off x="5760720" y="5698419"/>
            <a:ext cx="11316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DPC / resume</a:t>
            </a:r>
          </a:p>
        </p:txBody>
      </p:sp>
      <p:sp>
        <p:nvSpPr>
          <p:cNvPr id="55" name="rect-054"/>
          <p:cNvSpPr/>
          <p:nvPr/>
        </p:nvSpPr>
        <p:spPr>
          <a:xfrm>
            <a:off x="391160" y="6614160"/>
            <a:ext cx="12019280" cy="711200"/>
          </a:xfrm>
          <a:prstGeom prst="roundRect">
            <a:avLst>
              <a:gd name="adj" fmla="val 7000"/>
            </a:avLst>
          </a:prstGeom>
          <a:solidFill>
            <a:srgbClr val="F3F6F8"/>
          </a:solidFill>
          <a:ln w="11379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-055"/>
          <p:cNvSpPr/>
          <p:nvPr/>
        </p:nvSpPr>
        <p:spPr>
          <a:xfrm>
            <a:off x="391160" y="6614160"/>
            <a:ext cx="35560" cy="711200"/>
          </a:xfrm>
          <a:prstGeom prst="rect">
            <a:avLst/>
          </a:prstGeom>
          <a:solidFill>
            <a:srgbClr val="536B7D"/>
          </a:solidFill>
          <a:ln w="10668" cap="flat">
            <a:solidFill>
              <a:srgbClr val="536B7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6: 三个地址属于不同阶段"/>
          <p:cNvSpPr txBox="1"/>
          <p:nvPr/>
        </p:nvSpPr>
        <p:spPr>
          <a:xfrm>
            <a:off x="512064" y="664203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三个地址属于不同阶段</a:t>
            </a:r>
          </a:p>
        </p:txBody>
      </p:sp>
      <p:sp>
        <p:nvSpPr>
          <p:cNvPr id="58" name="text-057: 复位 PC：最早取指位置；ELF e_entry：应用入口；main：由启动代码"/>
          <p:cNvSpPr txBox="1"/>
          <p:nvPr/>
        </p:nvSpPr>
        <p:spPr>
          <a:xfrm>
            <a:off x="512064" y="6928795"/>
            <a:ext cx="74865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复位 PC：最早取指位置；ELF e_entry：应用入口；main：由启动代码调用的 C 函数。它们不能互相替代。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12801600" cy="8001000"/>
          </a:xfrm>
          <a:prstGeom prst="rect">
            <a:avLst/>
          </a:prstGeom>
          <a:solidFill>
            <a:srgbClr val="FFFFFF"/>
          </a:solidFill>
          <a:ln w="10668" cap="flat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-002"/>
          <p:cNvSpPr/>
          <p:nvPr/>
        </p:nvSpPr>
        <p:spPr>
          <a:xfrm>
            <a:off x="284480" y="284480"/>
            <a:ext cx="56896" cy="440944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" name="line-003"/>
          <p:cNvCxnSpPr/>
          <p:nvPr/>
        </p:nvCxnSpPr>
        <p:spPr>
          <a:xfrm>
            <a:off x="284480" y="1052576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cxnSp>
        <p:nvCxnSpPr>
          <p:cNvPr id="5" name="line-004"/>
          <p:cNvCxnSpPr/>
          <p:nvPr/>
        </p:nvCxnSpPr>
        <p:spPr>
          <a:xfrm>
            <a:off x="284480" y="7432040"/>
            <a:ext cx="12232640" cy="0"/>
          </a:xfrm>
          <a:prstGeom prst="line">
            <a:avLst/>
          </a:prstGeom>
          <a:ln w="10668" cap="flat">
            <a:solidFill>
              <a:srgbClr val="B9CAD6"/>
            </a:solidFill>
          </a:ln>
          <a:effectLst/>
        </p:spPr>
      </p:cxnSp>
      <p:sp>
        <p:nvSpPr>
          <p:cNvPr id="6" name="rect-005"/>
          <p:cNvSpPr/>
          <p:nvPr/>
        </p:nvSpPr>
        <p:spPr>
          <a:xfrm>
            <a:off x="39116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DF4FC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6"/>
          <p:cNvSpPr/>
          <p:nvPr/>
        </p:nvSpPr>
        <p:spPr>
          <a:xfrm>
            <a:off x="472948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EAF6F3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-007"/>
          <p:cNvSpPr/>
          <p:nvPr/>
        </p:nvSpPr>
        <p:spPr>
          <a:xfrm>
            <a:off x="9067800" y="1386840"/>
            <a:ext cx="3342640" cy="4409440"/>
          </a:xfrm>
          <a:prstGeom prst="roundRect">
            <a:avLst>
              <a:gd name="adj" fmla="val 2553"/>
            </a:avLst>
          </a:prstGeom>
          <a:solidFill>
            <a:srgbClr val="FFF3E7"/>
          </a:solidFill>
          <a:ln w="10668" cap="flat">
            <a:solidFill>
              <a:srgbClr val="B9CAD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olyline-008"/>
          <p:cNvSpPr/>
          <p:nvPr/>
        </p:nvSpPr>
        <p:spPr>
          <a:xfrm>
            <a:off x="206248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202692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olyline-010"/>
          <p:cNvSpPr/>
          <p:nvPr/>
        </p:nvSpPr>
        <p:spPr>
          <a:xfrm>
            <a:off x="640080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gon-011"/>
          <p:cNvSpPr/>
          <p:nvPr/>
        </p:nvSpPr>
        <p:spPr>
          <a:xfrm>
            <a:off x="636524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polyline-012"/>
          <p:cNvSpPr/>
          <p:nvPr/>
        </p:nvSpPr>
        <p:spPr>
          <a:xfrm>
            <a:off x="10739120" y="302260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21336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gon-013"/>
          <p:cNvSpPr/>
          <p:nvPr/>
        </p:nvSpPr>
        <p:spPr>
          <a:xfrm>
            <a:off x="10703560" y="3470656"/>
            <a:ext cx="71120" cy="85344"/>
          </a:xfrm>
          <a:custGeom>
            <a:avLst/>
            <a:gdLst/>
            <a:ahLst/>
            <a:cxnLst/>
            <a:rect l="0" t="0" r="r" b="b"/>
            <a:pathLst>
              <a:path w="71120" h="85344">
                <a:moveTo>
                  <a:pt x="35560" y="85344"/>
                </a:moveTo>
                <a:lnTo>
                  <a:pt x="71120" y="0"/>
                </a:lnTo>
                <a:lnTo>
                  <a:pt x="0" y="0"/>
                </a:lnTo>
                <a:close/>
              </a:path>
            </a:pathLst>
          </a:custGeom>
          <a:solidFill>
            <a:srgbClr val="216BB1"/>
          </a:solidFill>
          <a:ln w="7112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line-014"/>
          <p:cNvSpPr/>
          <p:nvPr/>
        </p:nvSpPr>
        <p:spPr>
          <a:xfrm>
            <a:off x="3556000" y="2489200"/>
            <a:ext cx="1351280" cy="1600200"/>
          </a:xfrm>
          <a:custGeom>
            <a:avLst/>
            <a:gdLst/>
            <a:ahLst/>
            <a:cxnLst/>
            <a:rect l="0" t="0" r="r" b="b"/>
            <a:pathLst>
              <a:path w="1351280" h="1600200">
                <a:moveTo>
                  <a:pt x="1351280" y="0"/>
                </a:moveTo>
                <a:lnTo>
                  <a:pt x="782320" y="0"/>
                </a:lnTo>
                <a:lnTo>
                  <a:pt x="782320" y="1600200"/>
                </a:lnTo>
                <a:lnTo>
                  <a:pt x="0" y="1600200"/>
                </a:lnTo>
              </a:path>
            </a:pathLst>
          </a:custGeom>
          <a:noFill/>
          <a:ln w="21336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3556000" y="4053840"/>
            <a:ext cx="85344" cy="71120"/>
          </a:xfrm>
          <a:custGeom>
            <a:avLst/>
            <a:gdLst/>
            <a:ahLst/>
            <a:cxnLst/>
            <a:rect l="0" t="0" r="r" b="b"/>
            <a:pathLst>
              <a:path w="85344" h="71120">
                <a:moveTo>
                  <a:pt x="0" y="35560"/>
                </a:moveTo>
                <a:lnTo>
                  <a:pt x="85344" y="71120"/>
                </a:lnTo>
                <a:lnTo>
                  <a:pt x="85344" y="0"/>
                </a:lnTo>
                <a:close/>
              </a:path>
            </a:pathLst>
          </a:custGeom>
          <a:solidFill>
            <a:srgbClr val="7555A3"/>
          </a:solidFill>
          <a:ln w="7112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配置契约：profile、SoC Cfg、软件与运行状态共同约束"/>
          <p:cNvSpPr txBox="1"/>
          <p:nvPr/>
        </p:nvSpPr>
        <p:spPr>
          <a:xfrm>
            <a:off x="483616" y="271109"/>
            <a:ext cx="6454840" cy="40965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16" b="1" i="0">
                <a:solidFill>
                  <a:srgbClr val="19364B"/>
                </a:solidFill>
                <a:latin typeface="WenQuanYi Zen Hei"/>
                <a:ea typeface="WenQuanYi Zen Hei"/>
                <a:cs typeface="WenQuanYi Zen Hei"/>
              </a:rPr>
              <a:t>配置契约：profile、SoC Cfg、软件与运行状态共同约束</a:t>
            </a:r>
          </a:p>
        </p:txBody>
      </p:sp>
      <p:sp>
        <p:nvSpPr>
          <p:cNvPr id="18" name="text-017: 编译时配置生成硬件能力；软件 ISA / ABI / 链接布局必须与硬件及启动环"/>
          <p:cNvSpPr txBox="1"/>
          <p:nvPr/>
        </p:nvSpPr>
        <p:spPr>
          <a:xfrm>
            <a:off x="483616" y="676778"/>
            <a:ext cx="61202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编译时配置生成硬件能力；软件 ISA / ABI / 链接布局必须与硬件及启动环境匹配。</a:t>
            </a:r>
          </a:p>
        </p:txBody>
      </p:sp>
      <p:sp>
        <p:nvSpPr>
          <p:cNvPr id="19" name="text-018: 当前源码结构 / 教学示意；非运行证据"/>
          <p:cNvSpPr txBox="1"/>
          <p:nvPr/>
        </p:nvSpPr>
        <p:spPr>
          <a:xfrm>
            <a:off x="341376" y="7498324"/>
            <a:ext cx="2706127" cy="23896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6" b="0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当前源码结构 / 教学示意；非运行证据</a:t>
            </a:r>
          </a:p>
        </p:txBody>
      </p:sp>
      <p:sp>
        <p:nvSpPr>
          <p:cNvPr id="20" name="text-019: 源码：cheshire_pkg::gen_cva6_cfg / gen_axi_"/>
          <p:cNvSpPr txBox="1"/>
          <p:nvPr/>
        </p:nvSpPr>
        <p:spPr>
          <a:xfrm>
            <a:off x="341376" y="7726477"/>
            <a:ext cx="5349124" cy="2275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源码：cheshire_pkg::gen_cva6_cfg / gen_axi_in/out；build_config_pkg；sw/sw.mk</a:t>
            </a:r>
          </a:p>
        </p:txBody>
      </p:sp>
      <p:sp>
        <p:nvSpPr>
          <p:cNvPr id="21" name="text-020: CPU 配置链"/>
          <p:cNvSpPr txBox="1"/>
          <p:nvPr/>
        </p:nvSpPr>
        <p:spPr>
          <a:xfrm>
            <a:off x="519176" y="1443736"/>
            <a:ext cx="1087803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CPU 配置链</a:t>
            </a:r>
          </a:p>
        </p:txBody>
      </p:sp>
      <p:sp>
        <p:nvSpPr>
          <p:cNvPr id="22" name="text-021: 系统结构配置链"/>
          <p:cNvSpPr txBox="1"/>
          <p:nvPr/>
        </p:nvSpPr>
        <p:spPr>
          <a:xfrm>
            <a:off x="4857496" y="1443736"/>
            <a:ext cx="14224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系统结构配置链</a:t>
            </a:r>
          </a:p>
        </p:txBody>
      </p:sp>
      <p:sp>
        <p:nvSpPr>
          <p:cNvPr id="23" name="text-022: 软件构建链"/>
          <p:cNvSpPr txBox="1"/>
          <p:nvPr/>
        </p:nvSpPr>
        <p:spPr>
          <a:xfrm>
            <a:off x="9195816" y="1443736"/>
            <a:ext cx="106680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软件构建链</a:t>
            </a:r>
          </a:p>
        </p:txBody>
      </p:sp>
      <p:sp>
        <p:nvSpPr>
          <p:cNvPr id="24" name="rect-023"/>
          <p:cNvSpPr/>
          <p:nvPr/>
        </p:nvSpPr>
        <p:spPr>
          <a:xfrm>
            <a:off x="56896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568960" y="19558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CVA6 profile"/>
          <p:cNvSpPr txBox="1"/>
          <p:nvPr/>
        </p:nvSpPr>
        <p:spPr>
          <a:xfrm>
            <a:off x="689864" y="1983679"/>
            <a:ext cx="1174669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CVA6 profile</a:t>
            </a:r>
          </a:p>
        </p:txBody>
      </p:sp>
      <p:sp>
        <p:nvSpPr>
          <p:cNvPr id="27" name="text-026: ISA / cache / 资源原值"/>
          <p:cNvSpPr txBox="1"/>
          <p:nvPr/>
        </p:nvSpPr>
        <p:spPr>
          <a:xfrm>
            <a:off x="689864" y="2262754"/>
            <a:ext cx="184071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ISA / cache / 资源原值</a:t>
            </a:r>
          </a:p>
        </p:txBody>
      </p:sp>
      <p:sp>
        <p:nvSpPr>
          <p:cNvPr id="28" name="rect-027"/>
          <p:cNvSpPr/>
          <p:nvPr/>
        </p:nvSpPr>
        <p:spPr>
          <a:xfrm>
            <a:off x="56896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DF4FC"/>
          </a:solidFill>
          <a:ln w="11379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8"/>
          <p:cNvSpPr/>
          <p:nvPr/>
        </p:nvSpPr>
        <p:spPr>
          <a:xfrm>
            <a:off x="568960" y="3556000"/>
            <a:ext cx="35560" cy="1066800"/>
          </a:xfrm>
          <a:prstGeom prst="rect">
            <a:avLst/>
          </a:prstGeom>
          <a:solidFill>
            <a:srgbClr val="216BB1"/>
          </a:solidFill>
          <a:ln w="10668" cap="flat">
            <a:solidFill>
              <a:srgbClr val="216BB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29: gen_cva6_cfg"/>
          <p:cNvSpPr txBox="1"/>
          <p:nvPr/>
        </p:nvSpPr>
        <p:spPr>
          <a:xfrm>
            <a:off x="689864" y="3583879"/>
            <a:ext cx="1278693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gen_cva6_cfg</a:t>
            </a:r>
          </a:p>
        </p:txBody>
      </p:sp>
      <p:sp>
        <p:nvSpPr>
          <p:cNvPr id="31" name="text-030: 平台覆盖 PMP / CLIC 等字段"/>
          <p:cNvSpPr txBox="1"/>
          <p:nvPr/>
        </p:nvSpPr>
        <p:spPr>
          <a:xfrm>
            <a:off x="689864" y="3862954"/>
            <a:ext cx="22336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平台覆盖 PMP / CLIC 等字段</a:t>
            </a:r>
          </a:p>
        </p:txBody>
      </p:sp>
      <p:sp>
        <p:nvSpPr>
          <p:cNvPr id="32" name="text-031: 再由 build_config 派生内部能力"/>
          <p:cNvSpPr txBox="1"/>
          <p:nvPr/>
        </p:nvSpPr>
        <p:spPr>
          <a:xfrm>
            <a:off x="689864" y="4076314"/>
            <a:ext cx="241961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再由 build_config 派生内部能力</a:t>
            </a:r>
          </a:p>
        </p:txBody>
      </p:sp>
      <p:sp>
        <p:nvSpPr>
          <p:cNvPr id="33" name="rect-032"/>
          <p:cNvSpPr/>
          <p:nvPr/>
        </p:nvSpPr>
        <p:spPr>
          <a:xfrm>
            <a:off x="490728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3"/>
          <p:cNvSpPr/>
          <p:nvPr/>
        </p:nvSpPr>
        <p:spPr>
          <a:xfrm>
            <a:off x="4907280" y="19558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Cheshire Cfg"/>
          <p:cNvSpPr txBox="1"/>
          <p:nvPr/>
        </p:nvSpPr>
        <p:spPr>
          <a:xfrm>
            <a:off x="5028184" y="1983679"/>
            <a:ext cx="121530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Cheshire Cfg</a:t>
            </a:r>
          </a:p>
        </p:txBody>
      </p:sp>
      <p:sp>
        <p:nvSpPr>
          <p:cNvPr id="36" name="text-035: Cfg.Ara / 核数 / 外设开关"/>
          <p:cNvSpPr txBox="1"/>
          <p:nvPr/>
        </p:nvSpPr>
        <p:spPr>
          <a:xfrm>
            <a:off x="5028184" y="2262754"/>
            <a:ext cx="20242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Cfg.Ara / 核数 / 外设开关</a:t>
            </a:r>
          </a:p>
        </p:txBody>
      </p:sp>
      <p:sp>
        <p:nvSpPr>
          <p:cNvPr id="37" name="text-036: Ara lanes / VLEN"/>
          <p:cNvSpPr txBox="1"/>
          <p:nvPr/>
        </p:nvSpPr>
        <p:spPr>
          <a:xfrm>
            <a:off x="5028184" y="2476114"/>
            <a:ext cx="13889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Ara lanes / VLEN</a:t>
            </a:r>
          </a:p>
        </p:txBody>
      </p:sp>
      <p:sp>
        <p:nvSpPr>
          <p:cNvPr id="38" name="rect-037"/>
          <p:cNvSpPr/>
          <p:nvPr/>
        </p:nvSpPr>
        <p:spPr>
          <a:xfrm>
            <a:off x="490728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EAF6F3"/>
          </a:solidFill>
          <a:ln w="11379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-038"/>
          <p:cNvSpPr/>
          <p:nvPr/>
        </p:nvSpPr>
        <p:spPr>
          <a:xfrm>
            <a:off x="4907280" y="3556000"/>
            <a:ext cx="35560" cy="1066800"/>
          </a:xfrm>
          <a:prstGeom prst="rect">
            <a:avLst/>
          </a:prstGeom>
          <a:solidFill>
            <a:srgbClr val="087E83"/>
          </a:solidFill>
          <a:ln w="10668" cap="flat">
            <a:solidFill>
              <a:srgbClr val="087E8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端口、类型与地址规则"/>
          <p:cNvSpPr txBox="1"/>
          <p:nvPr/>
        </p:nvSpPr>
        <p:spPr>
          <a:xfrm>
            <a:off x="5028184" y="3583879"/>
            <a:ext cx="2034032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087E83"/>
                </a:solidFill>
                <a:latin typeface="WenQuanYi Zen Hei"/>
                <a:ea typeface="WenQuanYi Zen Hei"/>
                <a:cs typeface="WenQuanYi Zen Hei"/>
              </a:rPr>
              <a:t>端口、类型与地址规则</a:t>
            </a:r>
          </a:p>
        </p:txBody>
      </p:sp>
      <p:sp>
        <p:nvSpPr>
          <p:cNvPr id="41" name="text-040: gen_axi_in / out / reg"/>
          <p:cNvSpPr txBox="1"/>
          <p:nvPr/>
        </p:nvSpPr>
        <p:spPr>
          <a:xfrm>
            <a:off x="5028184" y="3862954"/>
            <a:ext cx="17287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gen_axi_in / out / reg</a:t>
            </a:r>
          </a:p>
        </p:txBody>
      </p:sp>
      <p:sp>
        <p:nvSpPr>
          <p:cNvPr id="42" name="text-041: 数量变化影响索引与来源 ID"/>
          <p:cNvSpPr txBox="1"/>
          <p:nvPr/>
        </p:nvSpPr>
        <p:spPr>
          <a:xfrm>
            <a:off x="5028184" y="4076314"/>
            <a:ext cx="21622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数量变化影响索引与来源 ID</a:t>
            </a:r>
          </a:p>
        </p:txBody>
      </p:sp>
      <p:sp>
        <p:nvSpPr>
          <p:cNvPr id="43" name="rect-042"/>
          <p:cNvSpPr/>
          <p:nvPr/>
        </p:nvSpPr>
        <p:spPr>
          <a:xfrm>
            <a:off x="9245600" y="19558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3"/>
          <p:cNvSpPr/>
          <p:nvPr/>
        </p:nvSpPr>
        <p:spPr>
          <a:xfrm>
            <a:off x="9245600" y="19558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工具链 / 源码 / 库"/>
          <p:cNvSpPr txBox="1"/>
          <p:nvPr/>
        </p:nvSpPr>
        <p:spPr>
          <a:xfrm>
            <a:off x="9366504" y="1983679"/>
            <a:ext cx="17082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工具链 / 源码 / 库</a:t>
            </a:r>
          </a:p>
        </p:txBody>
      </p:sp>
      <p:sp>
        <p:nvSpPr>
          <p:cNvPr id="46" name="text-045: -march / -mabi / 链接脚本"/>
          <p:cNvSpPr txBox="1"/>
          <p:nvPr/>
        </p:nvSpPr>
        <p:spPr>
          <a:xfrm>
            <a:off x="9366504" y="2262754"/>
            <a:ext cx="20726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-march / -mabi / 链接脚本</a:t>
            </a:r>
          </a:p>
        </p:txBody>
      </p:sp>
      <p:sp>
        <p:nvSpPr>
          <p:cNvPr id="47" name="text-046: 启动对象与驱动头文件"/>
          <p:cNvSpPr txBox="1"/>
          <p:nvPr/>
        </p:nvSpPr>
        <p:spPr>
          <a:xfrm>
            <a:off x="9366504" y="2476114"/>
            <a:ext cx="179933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启动对象与驱动头文件</a:t>
            </a:r>
          </a:p>
        </p:txBody>
      </p:sp>
      <p:sp>
        <p:nvSpPr>
          <p:cNvPr id="48" name="rect-047"/>
          <p:cNvSpPr/>
          <p:nvPr/>
        </p:nvSpPr>
        <p:spPr>
          <a:xfrm>
            <a:off x="9245600" y="3556000"/>
            <a:ext cx="2987040" cy="1066800"/>
          </a:xfrm>
          <a:prstGeom prst="roundRect">
            <a:avLst>
              <a:gd name="adj" fmla="val 4666"/>
            </a:avLst>
          </a:prstGeom>
          <a:solidFill>
            <a:srgbClr val="FFF3E7"/>
          </a:solidFill>
          <a:ln w="11379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-048"/>
          <p:cNvSpPr/>
          <p:nvPr/>
        </p:nvSpPr>
        <p:spPr>
          <a:xfrm>
            <a:off x="9245600" y="3556000"/>
            <a:ext cx="35560" cy="1066800"/>
          </a:xfrm>
          <a:prstGeom prst="rect">
            <a:avLst/>
          </a:prstGeom>
          <a:solidFill>
            <a:srgbClr val="B76315"/>
          </a:solidFill>
          <a:ln w="10668" cap="flat">
            <a:solidFill>
              <a:srgbClr val="B7631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ELF / map / dump"/>
          <p:cNvSpPr txBox="1"/>
          <p:nvPr/>
        </p:nvSpPr>
        <p:spPr>
          <a:xfrm>
            <a:off x="9366504" y="3583879"/>
            <a:ext cx="1684811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ELF / map / dump</a:t>
            </a:r>
          </a:p>
        </p:txBody>
      </p:sp>
      <p:sp>
        <p:nvSpPr>
          <p:cNvPr id="51" name="text-050: 字节、符号、入口与装载段"/>
          <p:cNvSpPr txBox="1"/>
          <p:nvPr/>
        </p:nvSpPr>
        <p:spPr>
          <a:xfrm>
            <a:off x="9366504" y="3862954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字节、符号、入口与装载段</a:t>
            </a:r>
          </a:p>
        </p:txBody>
      </p:sp>
      <p:sp>
        <p:nvSpPr>
          <p:cNvPr id="52" name="text-051: 不能由编译成功推断目标运行"/>
          <p:cNvSpPr txBox="1"/>
          <p:nvPr/>
        </p:nvSpPr>
        <p:spPr>
          <a:xfrm>
            <a:off x="9366504" y="4076314"/>
            <a:ext cx="22900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不能由编译成功推断目标运行</a:t>
            </a:r>
          </a:p>
        </p:txBody>
      </p:sp>
      <p:sp>
        <p:nvSpPr>
          <p:cNvPr id="53" name="text-052: 覆盖"/>
          <p:cNvSpPr txBox="1"/>
          <p:nvPr/>
        </p:nvSpPr>
        <p:spPr>
          <a:xfrm>
            <a:off x="3982720" y="3031419"/>
            <a:ext cx="4693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覆盖</a:t>
            </a:r>
          </a:p>
        </p:txBody>
      </p:sp>
      <p:sp>
        <p:nvSpPr>
          <p:cNvPr id="54" name="text-053: RTL 展开：CVA6 / Ara / 互连 / LLC / 外设"/>
          <p:cNvSpPr txBox="1"/>
          <p:nvPr/>
        </p:nvSpPr>
        <p:spPr>
          <a:xfrm>
            <a:off x="640080" y="5121778"/>
            <a:ext cx="323400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16BB1"/>
                </a:solidFill>
                <a:latin typeface="WenQuanYi Zen Hei"/>
                <a:ea typeface="WenQuanYi Zen Hei"/>
                <a:cs typeface="WenQuanYi Zen Hei"/>
              </a:rPr>
              <a:t>RTL 展开：CVA6 / Ara / 互连 / LLC / 外设</a:t>
            </a:r>
          </a:p>
        </p:txBody>
      </p:sp>
      <p:sp>
        <p:nvSpPr>
          <p:cNvPr id="55" name="text-054: 装载程序与有效硬件匹配"/>
          <p:cNvSpPr txBox="1"/>
          <p:nvPr/>
        </p:nvSpPr>
        <p:spPr>
          <a:xfrm>
            <a:off x="9245600" y="5121778"/>
            <a:ext cx="196291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B76315"/>
                </a:solidFill>
                <a:latin typeface="WenQuanYi Zen Hei"/>
                <a:ea typeface="WenQuanYi Zen Hei"/>
                <a:cs typeface="WenQuanYi Zen Hei"/>
              </a:rPr>
              <a:t>装载程序与有效硬件匹配</a:t>
            </a:r>
          </a:p>
        </p:txBody>
      </p:sp>
      <p:sp>
        <p:nvSpPr>
          <p:cNvPr id="56" name="rect-055"/>
          <p:cNvSpPr/>
          <p:nvPr/>
        </p:nvSpPr>
        <p:spPr>
          <a:xfrm>
            <a:off x="391160" y="6365240"/>
            <a:ext cx="12019280" cy="853440"/>
          </a:xfrm>
          <a:prstGeom prst="roundRect">
            <a:avLst>
              <a:gd name="adj" fmla="val 5833"/>
            </a:avLst>
          </a:prstGeom>
          <a:solidFill>
            <a:srgbClr val="F3EFF9"/>
          </a:solidFill>
          <a:ln w="11379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6"/>
          <p:cNvSpPr/>
          <p:nvPr/>
        </p:nvSpPr>
        <p:spPr>
          <a:xfrm>
            <a:off x="391160" y="6365240"/>
            <a:ext cx="35560" cy="853440"/>
          </a:xfrm>
          <a:prstGeom prst="rect">
            <a:avLst/>
          </a:prstGeom>
          <a:solidFill>
            <a:srgbClr val="7555A3"/>
          </a:solidFill>
          <a:ln w="10668" cap="flat">
            <a:solidFill>
              <a:srgbClr val="7555A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运行时初始化不是再次生成硬件"/>
          <p:cNvSpPr txBox="1"/>
          <p:nvPr/>
        </p:nvSpPr>
        <p:spPr>
          <a:xfrm>
            <a:off x="512064" y="6393119"/>
            <a:ext cx="2773680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1" i="0">
                <a:solidFill>
                  <a:srgbClr val="7555A3"/>
                </a:solidFill>
                <a:latin typeface="WenQuanYi Zen Hei"/>
                <a:ea typeface="WenQuanYi Zen Hei"/>
                <a:cs typeface="WenQuanYi Zen Hei"/>
              </a:rPr>
              <a:t>运行时初始化不是再次生成硬件</a:t>
            </a:r>
          </a:p>
        </p:txBody>
      </p:sp>
      <p:sp>
        <p:nvSpPr>
          <p:cNvPr id="59" name="text-058: VS / FS、MMIO 配置、存储就绪、有效栈与入口：软件使用已存在的资源；S"/>
          <p:cNvSpPr txBox="1"/>
          <p:nvPr/>
        </p:nvSpPr>
        <p:spPr>
          <a:xfrm>
            <a:off x="512064" y="6679875"/>
            <a:ext cx="7842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36B7D"/>
                </a:solidFill>
                <a:latin typeface="WenQuanYi Zen Hei"/>
                <a:ea typeface="WenQuanYi Zen Hei"/>
                <a:cs typeface="WenQuanYi Zen Hei"/>
              </a:rPr>
              <a:t>VS / FS、MMIO 配置、存储就绪、有效栈与入口：软件使用已存在的资源；SELCFG 不会自动替换 CPU profile。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