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55600" y="1315720"/>
            <a:ext cx="3129280" cy="4622800"/>
          </a:xfrm>
          <a:prstGeom prst="roundRect">
            <a:avLst>
              <a:gd name="adj" fmla="val 2727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9245600" y="1315720"/>
            <a:ext cx="3200400" cy="462280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1920240" y="28448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10845800" y="28448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3484880" y="199136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0" y="0"/>
                </a:moveTo>
                <a:lnTo>
                  <a:pt x="57607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3484880" y="266700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3484880" y="334264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3484880" y="401828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 fill="none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9"/>
          <p:cNvSpPr/>
          <p:nvPr/>
        </p:nvSpPr>
        <p:spPr>
          <a:xfrm>
            <a:off x="7112000" y="5334000"/>
            <a:ext cx="3733800" cy="1137920"/>
          </a:xfrm>
          <a:custGeom>
            <a:avLst/>
            <a:gdLst/>
            <a:ahLst/>
            <a:cxnLst/>
            <a:rect l="0" t="0" r="r" b="b"/>
            <a:pathLst>
              <a:path w="3733800" h="1137920" fill="none">
                <a:moveTo>
                  <a:pt x="3733800" y="0"/>
                </a:moveTo>
                <a:lnTo>
                  <a:pt x="3733800" y="782320"/>
                </a:lnTo>
                <a:lnTo>
                  <a:pt x="0" y="782320"/>
                </a:lnTo>
                <a:lnTo>
                  <a:pt x="0" y="11379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21: CVA6–Ara：控制协议与 AXI 数据通路分离"/>
          <p:cNvSpPr txBox="1"/>
          <p:nvPr/>
        </p:nvSpPr>
        <p:spPr>
          <a:xfrm>
            <a:off x="483616" y="271109"/>
            <a:ext cx="558149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CVA6–Ara：控制协议与 AXI 数据通路分离</a:t>
            </a:r>
          </a:p>
        </p:txBody>
      </p:sp>
      <p:sp>
        <p:nvSpPr>
          <p:cNvPr id="15" name="text-022: 当前 CvxifEn=0；名为 cvxif 的连接承载本地专用接口，不等于通用 "/>
          <p:cNvSpPr txBox="1"/>
          <p:nvPr/>
        </p:nvSpPr>
        <p:spPr>
          <a:xfrm>
            <a:off x="483616" y="676778"/>
            <a:ext cx="690290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CvxifEn=0；名为 cvxif 的连接承载本地专用接口，不等于通用 CORE-V XIF。</a:t>
            </a:r>
          </a:p>
        </p:txBody>
      </p:sp>
      <p:sp>
        <p:nvSpPr>
          <p:cNvPr id="16" name="text-023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24: 源码：acc_dispatcher.sv；ara/intf_typedef.sv"/>
          <p:cNvSpPr txBox="1"/>
          <p:nvPr/>
        </p:nvSpPr>
        <p:spPr>
          <a:xfrm>
            <a:off x="341376" y="7726477"/>
            <a:ext cx="64932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源码：acc_dispatcher.sv；ara/intf_typedef.svh；cheshire_soc.sv::gen_ara</a:t>
            </a:r>
          </a:p>
        </p:txBody>
      </p:sp>
      <p:sp>
        <p:nvSpPr>
          <p:cNvPr id="18" name="text-025: CVA6 标量核"/>
          <p:cNvSpPr txBox="1"/>
          <p:nvPr/>
        </p:nvSpPr>
        <p:spPr>
          <a:xfrm>
            <a:off x="483616" y="1372616"/>
            <a:ext cx="12890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标量核</a:t>
            </a:r>
          </a:p>
        </p:txBody>
      </p:sp>
      <p:sp>
        <p:nvSpPr>
          <p:cNvPr id="19" name="text-026: Ara 向量单元"/>
          <p:cNvSpPr txBox="1"/>
          <p:nvPr/>
        </p:nvSpPr>
        <p:spPr>
          <a:xfrm>
            <a:off x="9373616" y="1372616"/>
            <a:ext cx="13512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向量单元</a:t>
            </a:r>
          </a:p>
        </p:txBody>
      </p:sp>
      <p:sp>
        <p:nvSpPr>
          <p:cNvPr id="20" name="rect-027"/>
          <p:cNvSpPr/>
          <p:nvPr/>
        </p:nvSpPr>
        <p:spPr>
          <a:xfrm>
            <a:off x="568960" y="1849120"/>
            <a:ext cx="2702560" cy="995680"/>
          </a:xfrm>
          <a:prstGeom prst="roundRect">
            <a:avLst>
              <a:gd name="adj" fmla="val 5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8"/>
          <p:cNvSpPr/>
          <p:nvPr/>
        </p:nvSpPr>
        <p:spPr>
          <a:xfrm>
            <a:off x="568960" y="1849120"/>
            <a:ext cx="35560" cy="9956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9: 译码 / scoreboard"/>
          <p:cNvSpPr txBox="1"/>
          <p:nvPr/>
        </p:nvSpPr>
        <p:spPr>
          <a:xfrm>
            <a:off x="689864" y="1876999"/>
            <a:ext cx="211724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译码 / scoreboard</a:t>
            </a:r>
          </a:p>
        </p:txBody>
      </p:sp>
      <p:sp>
        <p:nvSpPr>
          <p:cNvPr id="23" name="text-030: first-pass decoder"/>
          <p:cNvSpPr txBox="1"/>
          <p:nvPr/>
        </p:nvSpPr>
        <p:spPr>
          <a:xfrm>
            <a:off x="689864" y="2148393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first-pass decoder</a:t>
            </a:r>
          </a:p>
        </p:txBody>
      </p:sp>
      <p:sp>
        <p:nvSpPr>
          <p:cNvPr id="24" name="text-031: trans_id 关联标量指令"/>
          <p:cNvSpPr txBox="1"/>
          <p:nvPr/>
        </p:nvSpPr>
        <p:spPr>
          <a:xfrm>
            <a:off x="689864" y="2361753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trans_id 关联标量指令</a:t>
            </a:r>
          </a:p>
        </p:txBody>
      </p:sp>
      <p:sp>
        <p:nvSpPr>
          <p:cNvPr id="25" name="rect-032"/>
          <p:cNvSpPr/>
          <p:nvPr/>
        </p:nvSpPr>
        <p:spPr>
          <a:xfrm>
            <a:off x="568960" y="3947160"/>
            <a:ext cx="2702560" cy="1386840"/>
          </a:xfrm>
          <a:prstGeom prst="roundRect">
            <a:avLst>
              <a:gd name="adj" fmla="val 358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3"/>
          <p:cNvSpPr/>
          <p:nvPr/>
        </p:nvSpPr>
        <p:spPr>
          <a:xfrm>
            <a:off x="568960" y="3947160"/>
            <a:ext cx="35560" cy="13868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4: acc_dispatcher"/>
          <p:cNvSpPr txBox="1"/>
          <p:nvPr/>
        </p:nvSpPr>
        <p:spPr>
          <a:xfrm>
            <a:off x="689864" y="3975039"/>
            <a:ext cx="1867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acc_dispatcher</a:t>
            </a:r>
          </a:p>
        </p:txBody>
      </p:sp>
      <p:sp>
        <p:nvSpPr>
          <p:cNvPr id="28" name="text-035: 队列 / 非推测发出"/>
          <p:cNvSpPr txBox="1"/>
          <p:nvPr/>
        </p:nvSpPr>
        <p:spPr>
          <a:xfrm>
            <a:off x="689864" y="4246433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 / 非推测发出</a:t>
            </a:r>
          </a:p>
        </p:txBody>
      </p:sp>
      <p:sp>
        <p:nvSpPr>
          <p:cNvPr id="29" name="text-036: pending 与完成等待"/>
          <p:cNvSpPr txBox="1"/>
          <p:nvPr/>
        </p:nvSpPr>
        <p:spPr>
          <a:xfrm>
            <a:off x="689864" y="4459793"/>
            <a:ext cx="19117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与完成等待</a:t>
            </a:r>
          </a:p>
        </p:txBody>
      </p:sp>
      <p:sp>
        <p:nvSpPr>
          <p:cNvPr id="30" name="text-037: CPU resp_ready 固定为 1"/>
          <p:cNvSpPr txBox="1"/>
          <p:nvPr/>
        </p:nvSpPr>
        <p:spPr>
          <a:xfrm>
            <a:off x="689864" y="4673153"/>
            <a:ext cx="25688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resp_ready 固定为 1</a:t>
            </a:r>
          </a:p>
        </p:txBody>
      </p:sp>
      <p:sp>
        <p:nvSpPr>
          <p:cNvPr id="31" name="rect-038"/>
          <p:cNvSpPr/>
          <p:nvPr/>
        </p:nvSpPr>
        <p:spPr>
          <a:xfrm>
            <a:off x="9458960" y="1849120"/>
            <a:ext cx="2773680" cy="99568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9"/>
          <p:cNvSpPr/>
          <p:nvPr/>
        </p:nvSpPr>
        <p:spPr>
          <a:xfrm>
            <a:off x="9458960" y="1849120"/>
            <a:ext cx="35560" cy="9956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40: dispatcher / sequencer"/>
          <p:cNvSpPr txBox="1"/>
          <p:nvPr/>
        </p:nvSpPr>
        <p:spPr>
          <a:xfrm>
            <a:off x="9579864" y="1876999"/>
            <a:ext cx="28291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dispatcher / sequencer</a:t>
            </a:r>
          </a:p>
        </p:txBody>
      </p:sp>
      <p:sp>
        <p:nvSpPr>
          <p:cNvPr id="34" name="text-041: 完整译码、vl / vtype"/>
          <p:cNvSpPr txBox="1"/>
          <p:nvPr/>
        </p:nvSpPr>
        <p:spPr>
          <a:xfrm>
            <a:off x="9579864" y="2148393"/>
            <a:ext cx="21336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完整译码、vl / vtype</a:t>
            </a:r>
          </a:p>
        </p:txBody>
      </p:sp>
      <p:sp>
        <p:nvSpPr>
          <p:cNvPr id="35" name="text-042: 依赖与处理单元运行表"/>
          <p:cNvSpPr txBox="1"/>
          <p:nvPr/>
        </p:nvSpPr>
        <p:spPr>
          <a:xfrm>
            <a:off x="9579864" y="23617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依赖与处理单元运行表</a:t>
            </a:r>
          </a:p>
        </p:txBody>
      </p:sp>
      <p:sp>
        <p:nvSpPr>
          <p:cNvPr id="36" name="rect-043"/>
          <p:cNvSpPr/>
          <p:nvPr/>
        </p:nvSpPr>
        <p:spPr>
          <a:xfrm>
            <a:off x="9458960" y="3947160"/>
            <a:ext cx="2773680" cy="1386840"/>
          </a:xfrm>
          <a:prstGeom prst="roundRect">
            <a:avLst>
              <a:gd name="adj" fmla="val 358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4"/>
          <p:cNvSpPr/>
          <p:nvPr/>
        </p:nvSpPr>
        <p:spPr>
          <a:xfrm>
            <a:off x="9458960" y="3947160"/>
            <a:ext cx="35560" cy="13868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5: VRF / lanes / VLSU"/>
          <p:cNvSpPr txBox="1"/>
          <p:nvPr/>
        </p:nvSpPr>
        <p:spPr>
          <a:xfrm>
            <a:off x="9579864" y="3975039"/>
            <a:ext cx="234838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 / VLSU</a:t>
            </a:r>
          </a:p>
        </p:txBody>
      </p:sp>
      <p:sp>
        <p:nvSpPr>
          <p:cNvPr id="39" name="text-046: 算术在分布式 VRF 上执行"/>
          <p:cNvSpPr txBox="1"/>
          <p:nvPr/>
        </p:nvSpPr>
        <p:spPr>
          <a:xfrm>
            <a:off x="9579864" y="4246433"/>
            <a:ext cx="2261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算术在分布式 VRF 上执行</a:t>
            </a:r>
          </a:p>
        </p:txBody>
      </p:sp>
      <p:sp>
        <p:nvSpPr>
          <p:cNvPr id="40" name="text-047: 地址检查 / 可选 MMU 翻译"/>
          <p:cNvSpPr txBox="1"/>
          <p:nvPr/>
        </p:nvSpPr>
        <p:spPr>
          <a:xfrm>
            <a:off x="9579864" y="4459793"/>
            <a:ext cx="24237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地址检查 / 可选 MMU 翻译</a:t>
            </a:r>
          </a:p>
        </p:txBody>
      </p:sp>
      <p:sp>
        <p:nvSpPr>
          <p:cNvPr id="41" name="text-048: 独立 AXI 读写数据"/>
          <p:cNvSpPr txBox="1"/>
          <p:nvPr/>
        </p:nvSpPr>
        <p:spPr>
          <a:xfrm>
            <a:off x="9579864" y="4673153"/>
            <a:ext cx="17495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读写数据</a:t>
            </a:r>
          </a:p>
        </p:txBody>
      </p:sp>
      <p:sp>
        <p:nvSpPr>
          <p:cNvPr id="42" name="text-049: req_valid / insn / rs1 / rs2 / frm / tra"/>
          <p:cNvSpPr txBox="1"/>
          <p:nvPr/>
        </p:nvSpPr>
        <p:spPr>
          <a:xfrm>
            <a:off x="3963162" y="1694363"/>
            <a:ext cx="47330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req_valid / insn / rs1 / rs2 / frm / trans_id</a:t>
            </a:r>
          </a:p>
        </p:txBody>
      </p:sp>
      <p:sp>
        <p:nvSpPr>
          <p:cNvPr id="43" name="text-050: req_ready；resp_valid / result / exceptio"/>
          <p:cNvSpPr txBox="1"/>
          <p:nvPr/>
        </p:nvSpPr>
        <p:spPr>
          <a:xfrm>
            <a:off x="3884930" y="2370003"/>
            <a:ext cx="48895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req_ready；resp_valid / result / exception / ID</a:t>
            </a:r>
          </a:p>
        </p:txBody>
      </p:sp>
      <p:sp>
        <p:nvSpPr>
          <p:cNvPr id="44" name="text-051: load/store_complete / store_pending / ff"/>
          <p:cNvSpPr txBox="1"/>
          <p:nvPr/>
        </p:nvSpPr>
        <p:spPr>
          <a:xfrm>
            <a:off x="4014013" y="3045643"/>
            <a:ext cx="46313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load/store_complete / store_pending / fflags</a:t>
            </a:r>
          </a:p>
        </p:txBody>
      </p:sp>
      <p:sp>
        <p:nvSpPr>
          <p:cNvPr id="45" name="text-052: MMU 请求与应答；L1 invalidate 协作"/>
          <p:cNvSpPr txBox="1"/>
          <p:nvPr/>
        </p:nvSpPr>
        <p:spPr>
          <a:xfrm>
            <a:off x="4710278" y="3721283"/>
            <a:ext cx="32388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请求与应答；L1 invalidate 协作</a:t>
            </a:r>
          </a:p>
        </p:txBody>
      </p:sp>
      <p:sp>
        <p:nvSpPr>
          <p:cNvPr id="46" name="rect-053"/>
          <p:cNvSpPr/>
          <p:nvPr/>
        </p:nvSpPr>
        <p:spPr>
          <a:xfrm>
            <a:off x="3804920" y="4765040"/>
            <a:ext cx="5085080" cy="938784"/>
          </a:xfrm>
          <a:prstGeom prst="roundRect">
            <a:avLst>
              <a:gd name="adj" fmla="val 530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54"/>
          <p:cNvSpPr/>
          <p:nvPr/>
        </p:nvSpPr>
        <p:spPr>
          <a:xfrm>
            <a:off x="3804920" y="4765040"/>
            <a:ext cx="35560" cy="93878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55: 接受、应答、数据完成分别观察"/>
          <p:cNvSpPr txBox="1"/>
          <p:nvPr/>
        </p:nvSpPr>
        <p:spPr>
          <a:xfrm>
            <a:off x="3925824" y="47929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接受、应答、数据完成分别观察</a:t>
            </a:r>
          </a:p>
        </p:txBody>
      </p:sp>
      <p:sp>
        <p:nvSpPr>
          <p:cNvPr id="49" name="text-056: 算术指令可能先应答，VRF 随后完成"/>
          <p:cNvSpPr txBox="1"/>
          <p:nvPr/>
        </p:nvSpPr>
        <p:spPr>
          <a:xfrm>
            <a:off x="3925824" y="5079675"/>
            <a:ext cx="275376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算术指令可能先应答，VRF 随后完成</a:t>
            </a:r>
          </a:p>
        </p:txBody>
      </p:sp>
      <p:sp>
        <p:nvSpPr>
          <p:cNvPr id="50" name="text-057: load 地址应答不表示所有 AXI 数据已返回"/>
          <p:cNvSpPr txBox="1"/>
          <p:nvPr/>
        </p:nvSpPr>
        <p:spPr>
          <a:xfrm>
            <a:off x="3925824" y="5293035"/>
            <a:ext cx="33639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地址应答不表示所有 AXI 数据已返回</a:t>
            </a:r>
          </a:p>
        </p:txBody>
      </p:sp>
      <p:sp>
        <p:nvSpPr>
          <p:cNvPr id="51" name="rect-058"/>
          <p:cNvSpPr/>
          <p:nvPr/>
        </p:nvSpPr>
        <p:spPr>
          <a:xfrm>
            <a:off x="2844800" y="6471920"/>
            <a:ext cx="85344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9"/>
          <p:cNvSpPr/>
          <p:nvPr/>
        </p:nvSpPr>
        <p:spPr>
          <a:xfrm>
            <a:off x="2844800" y="647192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60: Ara AXI → invalidation filter → 位宽适配 → C"/>
          <p:cNvSpPr txBox="1"/>
          <p:nvPr/>
        </p:nvSpPr>
        <p:spPr>
          <a:xfrm>
            <a:off x="2965704" y="6499799"/>
            <a:ext cx="62870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AXI → invalidation filter → 位宽适配 → Crossbar</a:t>
            </a:r>
          </a:p>
        </p:txBody>
      </p:sp>
      <p:sp>
        <p:nvSpPr>
          <p:cNvPr id="54" name="text-061: 与 CPU L1 数据口分开；B 错误处理的本地 TODO 仍需动态验证"/>
          <p:cNvSpPr txBox="1"/>
          <p:nvPr/>
        </p:nvSpPr>
        <p:spPr>
          <a:xfrm>
            <a:off x="2965704" y="6778874"/>
            <a:ext cx="513628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CPU L1 数据口分开；B 错误处理的本地 TODO 仍需动态验证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