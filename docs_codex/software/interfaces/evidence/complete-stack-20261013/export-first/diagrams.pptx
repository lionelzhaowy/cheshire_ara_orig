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260800" cy="181376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4008329" y="1903956"/>
            <a:ext cx="14931025" cy="15031233"/>
          </a:xfrm>
          <a:prstGeom prst="roundRect">
            <a:avLst>
              <a:gd name="adj" fmla="val 671"/>
            </a:avLst>
          </a:prstGeom>
          <a:solidFill>
            <a:srgbClr val="F4F7FC"/>
          </a:solidFill>
          <a:ln w="20042" cap="flat">
            <a:solidFill>
              <a:srgbClr val="BDCC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3"/>
          <p:cNvSpPr/>
          <p:nvPr/>
        </p:nvSpPr>
        <p:spPr>
          <a:xfrm>
            <a:off x="19440395" y="1903956"/>
            <a:ext cx="3407079" cy="15031233"/>
          </a:xfrm>
          <a:prstGeom prst="roundRect">
            <a:avLst>
              <a:gd name="adj" fmla="val 2941"/>
            </a:avLst>
          </a:prstGeom>
          <a:solidFill>
            <a:srgbClr val="F3F7FA"/>
          </a:solidFill>
          <a:ln w="20042" cap="flat">
            <a:solidFill>
              <a:srgbClr val="BECFD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23649140" y="1903956"/>
            <a:ext cx="5210827" cy="15031233"/>
          </a:xfrm>
          <a:prstGeom prst="roundRect">
            <a:avLst>
              <a:gd name="adj" fmla="val 1923"/>
            </a:avLst>
          </a:prstGeom>
          <a:solidFill>
            <a:srgbClr val="F5F8EF"/>
          </a:solidFill>
          <a:ln w="20042" cap="flat">
            <a:solidFill>
              <a:srgbClr val="C3D0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4158641" y="3607496"/>
            <a:ext cx="11574049" cy="9199115"/>
          </a:xfrm>
          <a:prstGeom prst="roundRect">
            <a:avLst>
              <a:gd name="adj" fmla="val 1089"/>
            </a:avLst>
          </a:prstGeom>
          <a:noFill/>
          <a:ln w="20042" cap="flat">
            <a:solidFill>
              <a:srgbClr val="7E9DBB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Cheshire + CVA6 + Ara｜当前工程全组件软件栈"/>
          <p:cNvSpPr txBox="1"/>
          <p:nvPr/>
        </p:nvSpPr>
        <p:spPr>
          <a:xfrm>
            <a:off x="350729" y="149912"/>
            <a:ext cx="8950332" cy="6092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98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Cheshire + CVA6 + Ara｜当前工程全组件软件栈</a:t>
            </a:r>
          </a:p>
        </p:txBody>
      </p:sp>
      <p:sp>
        <p:nvSpPr>
          <p:cNvPr id="7" name="text-007: 功能组件总览 · 裸机 BSP 主路 + Ara 指令通路 + 可选 Linux"/>
          <p:cNvSpPr txBox="1"/>
          <p:nvPr/>
        </p:nvSpPr>
        <p:spPr>
          <a:xfrm>
            <a:off x="350729" y="700656"/>
            <a:ext cx="7803856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功能组件总览 · 裸机 BSP 主路 + Ara 指令通路 + 可选 Linux 分路</a:t>
            </a:r>
          </a:p>
        </p:txBody>
      </p:sp>
      <p:sp>
        <p:nvSpPr>
          <p:cNvPr id="8" name="text-008: 开发主机"/>
          <p:cNvSpPr txBox="1"/>
          <p:nvPr/>
        </p:nvSpPr>
        <p:spPr>
          <a:xfrm>
            <a:off x="350729" y="1250198"/>
            <a:ext cx="1402915" cy="4489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开发主机</a:t>
            </a:r>
          </a:p>
        </p:txBody>
      </p:sp>
      <p:sp>
        <p:nvSpPr>
          <p:cNvPr id="9" name="text-009: 目标端：裸机应用与基础软件"/>
          <p:cNvSpPr txBox="1"/>
          <p:nvPr/>
        </p:nvSpPr>
        <p:spPr>
          <a:xfrm>
            <a:off x="4308953" y="1250198"/>
            <a:ext cx="3928162" cy="4489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目标端：裸机应用与基础软件</a:t>
            </a:r>
          </a:p>
        </p:txBody>
      </p:sp>
      <p:sp>
        <p:nvSpPr>
          <p:cNvPr id="10" name="text-010: 启动与运行支撑"/>
          <p:cNvSpPr txBox="1"/>
          <p:nvPr/>
        </p:nvSpPr>
        <p:spPr>
          <a:xfrm>
            <a:off x="19590707" y="1250198"/>
            <a:ext cx="2244664" cy="4489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启动与运行支撑</a:t>
            </a:r>
          </a:p>
        </p:txBody>
      </p:sp>
      <p:sp>
        <p:nvSpPr>
          <p:cNvPr id="11" name="text-011: Linux / SDK 可选分路"/>
          <p:cNvSpPr txBox="1"/>
          <p:nvPr/>
        </p:nvSpPr>
        <p:spPr>
          <a:xfrm>
            <a:off x="23849556" y="1250198"/>
            <a:ext cx="3135766" cy="4489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Linux / SDK 可选分路</a:t>
            </a:r>
          </a:p>
        </p:txBody>
      </p:sp>
      <p:sp>
        <p:nvSpPr>
          <p:cNvPr id="12" name="text-012: 控制台 / 调试"/>
          <p:cNvSpPr txBox="1"/>
          <p:nvPr/>
        </p:nvSpPr>
        <p:spPr>
          <a:xfrm>
            <a:off x="4832518" y="1836216"/>
            <a:ext cx="155828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控制台 / 调试</a:t>
            </a:r>
          </a:p>
        </p:txBody>
      </p:sp>
      <p:sp>
        <p:nvSpPr>
          <p:cNvPr id="13" name="text-013: 存储介质"/>
          <p:cNvSpPr txBox="1"/>
          <p:nvPr/>
        </p:nvSpPr>
        <p:spPr>
          <a:xfrm>
            <a:off x="7966553" y="1836216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存储介质</a:t>
            </a:r>
          </a:p>
        </p:txBody>
      </p:sp>
      <p:sp>
        <p:nvSpPr>
          <p:cNvPr id="14" name="text-014: GPIO / 中断 / 计时"/>
          <p:cNvSpPr txBox="1"/>
          <p:nvPr/>
        </p:nvSpPr>
        <p:spPr>
          <a:xfrm>
            <a:off x="10353083" y="1836216"/>
            <a:ext cx="214130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GPIO / 中断 / 计时</a:t>
            </a:r>
          </a:p>
        </p:txBody>
      </p:sp>
      <p:sp>
        <p:nvSpPr>
          <p:cNvPr id="15" name="text-015: DMA / 存储控制"/>
          <p:cNvSpPr txBox="1"/>
          <p:nvPr/>
        </p:nvSpPr>
        <p:spPr>
          <a:xfrm>
            <a:off x="13377375" y="1836216"/>
            <a:ext cx="190480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DMA / 存储控制</a:t>
            </a:r>
          </a:p>
        </p:txBody>
      </p:sp>
      <p:sp>
        <p:nvSpPr>
          <p:cNvPr id="16" name="text-016: 向量计算"/>
          <p:cNvSpPr txBox="1"/>
          <p:nvPr/>
        </p:nvSpPr>
        <p:spPr>
          <a:xfrm>
            <a:off x="16684668" y="1836216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向量计算</a:t>
            </a:r>
          </a:p>
        </p:txBody>
      </p:sp>
      <p:sp>
        <p:nvSpPr>
          <p:cNvPr id="17" name="text-017: 基础支持代码"/>
          <p:cNvSpPr txBox="1"/>
          <p:nvPr/>
        </p:nvSpPr>
        <p:spPr>
          <a:xfrm>
            <a:off x="4359058" y="3610703"/>
            <a:ext cx="1473061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基础支持代码</a:t>
            </a:r>
          </a:p>
        </p:txBody>
      </p:sp>
      <p:sp>
        <p:nvSpPr>
          <p:cNvPr id="18" name="rect-018"/>
          <p:cNvSpPr/>
          <p:nvPr/>
        </p:nvSpPr>
        <p:spPr>
          <a:xfrm>
            <a:off x="4308953" y="2204581"/>
            <a:ext cx="11323529" cy="901874"/>
          </a:xfrm>
          <a:prstGeom prst="roundRect">
            <a:avLst>
              <a:gd name="adj" fmla="val 11111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裸机应用 · 外设测试 · 启动固件"/>
          <p:cNvSpPr txBox="1"/>
          <p:nvPr/>
        </p:nvSpPr>
        <p:spPr>
          <a:xfrm>
            <a:off x="8007498" y="2273925"/>
            <a:ext cx="3926440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裸机应用 · 外设测试 · 启动固件</a:t>
            </a:r>
          </a:p>
        </p:txBody>
      </p:sp>
      <p:sp>
        <p:nvSpPr>
          <p:cNvPr id="20" name="text-020: main / sw/tests / flash.spm.elf"/>
          <p:cNvSpPr txBox="1"/>
          <p:nvPr/>
        </p:nvSpPr>
        <p:spPr>
          <a:xfrm>
            <a:off x="8211680" y="2647100"/>
            <a:ext cx="3518076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main / sw/tests / flash.spm.elf</a:t>
            </a:r>
          </a:p>
        </p:txBody>
      </p:sp>
      <p:sp>
        <p:nvSpPr>
          <p:cNvPr id="21" name="rect-021"/>
          <p:cNvSpPr/>
          <p:nvPr/>
        </p:nvSpPr>
        <p:spPr>
          <a:xfrm>
            <a:off x="15933107" y="2204581"/>
            <a:ext cx="2605414" cy="901874"/>
          </a:xfrm>
          <a:prstGeom prst="roundRect">
            <a:avLst>
              <a:gd name="adj" fmla="val 11111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Ara 应用 / benchmark"/>
          <p:cNvSpPr txBox="1"/>
          <p:nvPr/>
        </p:nvSpPr>
        <p:spPr>
          <a:xfrm>
            <a:off x="15704170" y="2273925"/>
            <a:ext cx="3063287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Ara 应用 / benchmark</a:t>
            </a:r>
          </a:p>
        </p:txBody>
      </p:sp>
      <p:sp>
        <p:nvSpPr>
          <p:cNvPr id="23" name="text-023: 向量内核 · RVV 测试"/>
          <p:cNvSpPr txBox="1"/>
          <p:nvPr/>
        </p:nvSpPr>
        <p:spPr>
          <a:xfrm>
            <a:off x="16067989" y="2647100"/>
            <a:ext cx="233565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向量内核 · RVV 测试</a:t>
            </a:r>
          </a:p>
        </p:txBody>
      </p:sp>
      <p:sp>
        <p:nvSpPr>
          <p:cNvPr id="24" name="rect-024"/>
          <p:cNvSpPr/>
          <p:nvPr/>
        </p:nvSpPr>
        <p:spPr>
          <a:xfrm>
            <a:off x="4409162" y="4409162"/>
            <a:ext cx="2404997" cy="1002082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printf"/>
          <p:cNvSpPr txBox="1"/>
          <p:nvPr/>
        </p:nvSpPr>
        <p:spPr>
          <a:xfrm>
            <a:off x="5109265" y="4478506"/>
            <a:ext cx="100479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printf</a:t>
            </a:r>
          </a:p>
        </p:txBody>
      </p:sp>
      <p:sp>
        <p:nvSpPr>
          <p:cNvPr id="26" name="text-026: 格式化 · 字符回调"/>
          <p:cNvSpPr txBox="1"/>
          <p:nvPr/>
        </p:nvSpPr>
        <p:spPr>
          <a:xfrm>
            <a:off x="4593803" y="4851681"/>
            <a:ext cx="2035714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格式化 · 字符回调</a:t>
            </a:r>
          </a:p>
        </p:txBody>
      </p:sp>
      <p:sp>
        <p:nvSpPr>
          <p:cNvPr id="27" name="rect-027"/>
          <p:cNvSpPr/>
          <p:nvPr/>
        </p:nvSpPr>
        <p:spPr>
          <a:xfrm>
            <a:off x="7315200" y="4409162"/>
            <a:ext cx="2404997" cy="1002082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GPT 公共服务"/>
          <p:cNvSpPr txBox="1"/>
          <p:nvPr/>
        </p:nvSpPr>
        <p:spPr>
          <a:xfrm>
            <a:off x="7560773" y="4478506"/>
            <a:ext cx="1913852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GPT 公共服务</a:t>
            </a:r>
          </a:p>
        </p:txBody>
      </p:sp>
      <p:sp>
        <p:nvSpPr>
          <p:cNvPr id="29" name="text-029: 分区解析 · 读回调"/>
          <p:cNvSpPr txBox="1"/>
          <p:nvPr/>
        </p:nvSpPr>
        <p:spPr>
          <a:xfrm>
            <a:off x="7499841" y="4851681"/>
            <a:ext cx="2035714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分区解析 · 读回调</a:t>
            </a:r>
          </a:p>
        </p:txBody>
      </p:sp>
      <p:sp>
        <p:nvSpPr>
          <p:cNvPr id="30" name="rect-030"/>
          <p:cNvSpPr/>
          <p:nvPr/>
        </p:nvSpPr>
        <p:spPr>
          <a:xfrm>
            <a:off x="4409162" y="6413326"/>
            <a:ext cx="2404997" cy="1102290"/>
          </a:xfrm>
          <a:prstGeom prst="roundRect">
            <a:avLst>
              <a:gd name="adj" fmla="val 9090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UART debug HAL"/>
          <p:cNvSpPr txBox="1"/>
          <p:nvPr/>
        </p:nvSpPr>
        <p:spPr>
          <a:xfrm>
            <a:off x="4341834" y="6482670"/>
            <a:ext cx="2539652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UART debug HAL</a:t>
            </a:r>
          </a:p>
        </p:txBody>
      </p:sp>
      <p:sp>
        <p:nvSpPr>
          <p:cNvPr id="32" name="text-032: 命令 / 读写 / 执行"/>
          <p:cNvSpPr txBox="1"/>
          <p:nvPr/>
        </p:nvSpPr>
        <p:spPr>
          <a:xfrm>
            <a:off x="4570105" y="6855846"/>
            <a:ext cx="208311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命令 / 读写 / 执行</a:t>
            </a:r>
          </a:p>
        </p:txBody>
      </p:sp>
      <p:sp>
        <p:nvSpPr>
          <p:cNvPr id="33" name="rect-033"/>
          <p:cNvSpPr/>
          <p:nvPr/>
        </p:nvSpPr>
        <p:spPr>
          <a:xfrm>
            <a:off x="7315200" y="6212910"/>
            <a:ext cx="2404997" cy="1703540"/>
          </a:xfrm>
          <a:prstGeom prst="roundRect">
            <a:avLst>
              <a:gd name="adj" fmla="val 5882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器件 HAL"/>
          <p:cNvSpPr txBox="1"/>
          <p:nvPr/>
        </p:nvSpPr>
        <p:spPr>
          <a:xfrm>
            <a:off x="7811896" y="6282254"/>
            <a:ext cx="1411605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器件 HAL</a:t>
            </a:r>
          </a:p>
        </p:txBody>
      </p:sp>
      <p:sp>
        <p:nvSpPr>
          <p:cNvPr id="35" name="text-035: SPI Flash · SPI SD"/>
          <p:cNvSpPr txBox="1"/>
          <p:nvPr/>
        </p:nvSpPr>
        <p:spPr>
          <a:xfrm>
            <a:off x="7462350" y="6655429"/>
            <a:ext cx="211069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SPI Flash · SPI SD</a:t>
            </a:r>
          </a:p>
        </p:txBody>
      </p:sp>
      <p:sp>
        <p:nvSpPr>
          <p:cNvPr id="36" name="text-036: I²C EEPROM"/>
          <p:cNvSpPr txBox="1"/>
          <p:nvPr/>
        </p:nvSpPr>
        <p:spPr>
          <a:xfrm>
            <a:off x="7733522" y="6966075"/>
            <a:ext cx="1568353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I²C EEPROM</a:t>
            </a:r>
          </a:p>
        </p:txBody>
      </p:sp>
      <p:sp>
        <p:nvSpPr>
          <p:cNvPr id="37" name="text-037: 器件命令 / 分块"/>
          <p:cNvSpPr txBox="1"/>
          <p:nvPr/>
        </p:nvSpPr>
        <p:spPr>
          <a:xfrm>
            <a:off x="7593583" y="7276720"/>
            <a:ext cx="1848231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器件命令 / 分块</a:t>
            </a:r>
          </a:p>
        </p:txBody>
      </p:sp>
      <p:sp>
        <p:nvSpPr>
          <p:cNvPr id="38" name="rect-038"/>
          <p:cNvSpPr/>
          <p:nvPr/>
        </p:nvSpPr>
        <p:spPr>
          <a:xfrm>
            <a:off x="4409162" y="8768219"/>
            <a:ext cx="2404997" cy="1352811"/>
          </a:xfrm>
          <a:prstGeom prst="roundRect">
            <a:avLst>
              <a:gd name="adj" fmla="val 7407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UART DIF"/>
          <p:cNvSpPr txBox="1"/>
          <p:nvPr/>
        </p:nvSpPr>
        <p:spPr>
          <a:xfrm>
            <a:off x="4857445" y="8837563"/>
            <a:ext cx="15084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UART DIF</a:t>
            </a:r>
          </a:p>
        </p:txBody>
      </p:sp>
      <p:sp>
        <p:nvSpPr>
          <p:cNvPr id="40" name="text-040: 收发 · 轮询"/>
          <p:cNvSpPr txBox="1"/>
          <p:nvPr/>
        </p:nvSpPr>
        <p:spPr>
          <a:xfrm>
            <a:off x="4939521" y="9210739"/>
            <a:ext cx="134427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收发 · 轮询</a:t>
            </a:r>
          </a:p>
        </p:txBody>
      </p:sp>
      <p:sp>
        <p:nvSpPr>
          <p:cNvPr id="41" name="text-041: _putchar / _getchar"/>
          <p:cNvSpPr txBox="1"/>
          <p:nvPr/>
        </p:nvSpPr>
        <p:spPr>
          <a:xfrm>
            <a:off x="4436461" y="9521384"/>
            <a:ext cx="2350399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_putchar / _getchar</a:t>
            </a:r>
          </a:p>
        </p:txBody>
      </p:sp>
      <p:sp>
        <p:nvSpPr>
          <p:cNvPr id="42" name="rect-042"/>
          <p:cNvSpPr/>
          <p:nvPr/>
        </p:nvSpPr>
        <p:spPr>
          <a:xfrm>
            <a:off x="7315200" y="8768219"/>
            <a:ext cx="2404997" cy="1352811"/>
          </a:xfrm>
          <a:prstGeom prst="roundRect">
            <a:avLst>
              <a:gd name="adj" fmla="val 7407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OpenTitan DIF"/>
          <p:cNvSpPr txBox="1"/>
          <p:nvPr/>
        </p:nvSpPr>
        <p:spPr>
          <a:xfrm>
            <a:off x="7441869" y="8837563"/>
            <a:ext cx="2151658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OpenTitan DIF</a:t>
            </a:r>
          </a:p>
        </p:txBody>
      </p:sp>
      <p:sp>
        <p:nvSpPr>
          <p:cNvPr id="44" name="text-044: SPI Host / I²C"/>
          <p:cNvSpPr txBox="1"/>
          <p:nvPr/>
        </p:nvSpPr>
        <p:spPr>
          <a:xfrm>
            <a:off x="7664246" y="9210739"/>
            <a:ext cx="1706906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SPI Host / I²C</a:t>
            </a:r>
          </a:p>
        </p:txBody>
      </p:sp>
      <p:sp>
        <p:nvSpPr>
          <p:cNvPr id="45" name="text-045: FIFO · 事务 · 配置"/>
          <p:cNvSpPr txBox="1"/>
          <p:nvPr/>
        </p:nvSpPr>
        <p:spPr>
          <a:xfrm>
            <a:off x="7499387" y="9521384"/>
            <a:ext cx="2036622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FIFO · 事务 · 配置</a:t>
            </a:r>
          </a:p>
        </p:txBody>
      </p:sp>
      <p:sp>
        <p:nvSpPr>
          <p:cNvPr id="46" name="rect-046"/>
          <p:cNvSpPr/>
          <p:nvPr/>
        </p:nvSpPr>
        <p:spPr>
          <a:xfrm>
            <a:off x="10221238" y="8768219"/>
            <a:ext cx="2404997" cy="1352811"/>
          </a:xfrm>
          <a:prstGeom prst="roundRect">
            <a:avLst>
              <a:gd name="adj" fmla="val 7407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GPIO / PLIC / CLINT"/>
          <p:cNvSpPr txBox="1"/>
          <p:nvPr/>
        </p:nvSpPr>
        <p:spPr>
          <a:xfrm>
            <a:off x="9996623" y="8837563"/>
            <a:ext cx="2854228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GPIO / PLIC / CLINT</a:t>
            </a:r>
          </a:p>
        </p:txBody>
      </p:sp>
      <p:sp>
        <p:nvSpPr>
          <p:cNvPr id="48" name="text-048: GPIO / PLIC：OT DIF"/>
          <p:cNvSpPr txBox="1"/>
          <p:nvPr/>
        </p:nvSpPr>
        <p:spPr>
          <a:xfrm>
            <a:off x="10287994" y="9232384"/>
            <a:ext cx="2271485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GPIO / PLIC：OT DIF</a:t>
            </a:r>
          </a:p>
        </p:txBody>
      </p:sp>
      <p:sp>
        <p:nvSpPr>
          <p:cNvPr id="49" name="text-049: CLINT：本地 DIF"/>
          <p:cNvSpPr txBox="1"/>
          <p:nvPr/>
        </p:nvSpPr>
        <p:spPr>
          <a:xfrm>
            <a:off x="10503575" y="9543029"/>
            <a:ext cx="1840324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CLINT：本地 DIF</a:t>
            </a:r>
          </a:p>
        </p:txBody>
      </p:sp>
      <p:sp>
        <p:nvSpPr>
          <p:cNvPr id="50" name="rect-050"/>
          <p:cNvSpPr/>
          <p:nvPr/>
        </p:nvSpPr>
        <p:spPr>
          <a:xfrm>
            <a:off x="13127277" y="8768219"/>
            <a:ext cx="2404997" cy="1352811"/>
          </a:xfrm>
          <a:prstGeom prst="roundRect">
            <a:avLst>
              <a:gd name="adj" fmla="val 7407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DMA / LLC / AXI RT"/>
          <p:cNvSpPr txBox="1"/>
          <p:nvPr/>
        </p:nvSpPr>
        <p:spPr>
          <a:xfrm>
            <a:off x="12918303" y="8837563"/>
            <a:ext cx="2822944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DMA / LLC / AXI RT</a:t>
            </a:r>
          </a:p>
        </p:txBody>
      </p:sp>
      <p:sp>
        <p:nvSpPr>
          <p:cNvPr id="52" name="text-052: DMA：头文件接口"/>
          <p:cNvSpPr txBox="1"/>
          <p:nvPr/>
        </p:nvSpPr>
        <p:spPr>
          <a:xfrm>
            <a:off x="13336250" y="9232384"/>
            <a:ext cx="1987051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DMA：头文件接口</a:t>
            </a:r>
          </a:p>
        </p:txBody>
      </p:sp>
      <p:sp>
        <p:nvSpPr>
          <p:cNvPr id="53" name="text-053: LLC / RT：依赖驱动"/>
          <p:cNvSpPr txBox="1"/>
          <p:nvPr/>
        </p:nvSpPr>
        <p:spPr>
          <a:xfrm>
            <a:off x="13290436" y="9543029"/>
            <a:ext cx="2078679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LLC / RT：依赖驱动</a:t>
            </a:r>
          </a:p>
        </p:txBody>
      </p:sp>
      <p:sp>
        <p:nvSpPr>
          <p:cNvPr id="54" name="rect-054"/>
          <p:cNvSpPr/>
          <p:nvPr/>
        </p:nvSpPr>
        <p:spPr>
          <a:xfrm>
            <a:off x="15933107" y="4409162"/>
            <a:ext cx="2605414" cy="1102290"/>
          </a:xfrm>
          <a:prstGeom prst="roundRect">
            <a:avLst>
              <a:gd name="adj" fmla="val 9090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向量辅助代码"/>
          <p:cNvSpPr txBox="1"/>
          <p:nvPr/>
        </p:nvSpPr>
        <p:spPr>
          <a:xfrm>
            <a:off x="16323919" y="4478506"/>
            <a:ext cx="1823790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向量辅助代码</a:t>
            </a:r>
          </a:p>
        </p:txBody>
      </p:sp>
      <p:sp>
        <p:nvSpPr>
          <p:cNvPr id="56" name="text-056: cheshire_util / vector_util"/>
          <p:cNvSpPr txBox="1"/>
          <p:nvPr/>
        </p:nvSpPr>
        <p:spPr>
          <a:xfrm>
            <a:off x="15943965" y="4884149"/>
            <a:ext cx="2583697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cheshire_util / vector_util</a:t>
            </a:r>
          </a:p>
        </p:txBody>
      </p:sp>
      <p:sp>
        <p:nvSpPr>
          <p:cNvPr id="57" name="text-057: 计时 · 校验 · 内核准备"/>
          <p:cNvSpPr txBox="1"/>
          <p:nvPr/>
        </p:nvSpPr>
        <p:spPr>
          <a:xfrm>
            <a:off x="16167077" y="5194794"/>
            <a:ext cx="2137473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计时 · 校验 · 内核准备</a:t>
            </a:r>
          </a:p>
        </p:txBody>
      </p:sp>
      <p:sp>
        <p:nvSpPr>
          <p:cNvPr id="58" name="rect-058"/>
          <p:cNvSpPr/>
          <p:nvPr/>
        </p:nvSpPr>
        <p:spPr>
          <a:xfrm>
            <a:off x="15933107" y="6413326"/>
            <a:ext cx="2605414" cy="1402915"/>
          </a:xfrm>
          <a:prstGeom prst="roundRect">
            <a:avLst>
              <a:gd name="adj" fmla="val 7142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向量内核实现"/>
          <p:cNvSpPr txBox="1"/>
          <p:nvPr/>
        </p:nvSpPr>
        <p:spPr>
          <a:xfrm>
            <a:off x="16323919" y="6482670"/>
            <a:ext cx="1823790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向量内核实现</a:t>
            </a:r>
          </a:p>
        </p:txBody>
      </p:sp>
      <p:sp>
        <p:nvSpPr>
          <p:cNvPr id="60" name="text-060: 内联汇编 / intrinsics"/>
          <p:cNvSpPr txBox="1"/>
          <p:nvPr/>
        </p:nvSpPr>
        <p:spPr>
          <a:xfrm>
            <a:off x="16056731" y="6855846"/>
            <a:ext cx="2358166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内联汇编 / intrinsics</a:t>
            </a:r>
          </a:p>
        </p:txBody>
      </p:sp>
      <p:sp>
        <p:nvSpPr>
          <p:cNvPr id="61" name="text-061: 编译器生成 RVV"/>
          <p:cNvSpPr txBox="1"/>
          <p:nvPr/>
        </p:nvSpPr>
        <p:spPr>
          <a:xfrm>
            <a:off x="16279170" y="7166491"/>
            <a:ext cx="191328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编译器生成 RVV</a:t>
            </a:r>
          </a:p>
        </p:txBody>
      </p:sp>
      <p:sp>
        <p:nvSpPr>
          <p:cNvPr id="62" name="text-062: 启用 VS；按需启用 FS"/>
          <p:cNvSpPr txBox="1"/>
          <p:nvPr/>
        </p:nvSpPr>
        <p:spPr>
          <a:xfrm>
            <a:off x="15976768" y="7477137"/>
            <a:ext cx="2518092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启用 VS；按需启用 FS</a:t>
            </a:r>
          </a:p>
        </p:txBody>
      </p:sp>
      <p:sp>
        <p:nvSpPr>
          <p:cNvPr id="63" name="rect-063"/>
          <p:cNvSpPr/>
          <p:nvPr/>
        </p:nvSpPr>
        <p:spPr>
          <a:xfrm>
            <a:off x="4409162" y="11323529"/>
            <a:ext cx="11123112" cy="1252603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MMIO / 位域 / 内存辅助代码 + 平台定义"/>
          <p:cNvSpPr txBox="1"/>
          <p:nvPr/>
        </p:nvSpPr>
        <p:spPr>
          <a:xfrm>
            <a:off x="7403861" y="11392873"/>
            <a:ext cx="5133714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MMIO / 位域 / 内存辅助代码 + 平台定义</a:t>
            </a:r>
          </a:p>
        </p:txBody>
      </p:sp>
      <p:sp>
        <p:nvSpPr>
          <p:cNvPr id="65" name="text-065: reg8 / reg32 · mmio_region_* · bitfield "/>
          <p:cNvSpPr txBox="1"/>
          <p:nvPr/>
        </p:nvSpPr>
        <p:spPr>
          <a:xfrm>
            <a:off x="7178760" y="11766048"/>
            <a:ext cx="558391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reg8 / reg32 · mmio_region_* · bitfield / memory</a:t>
            </a:r>
          </a:p>
        </p:txBody>
      </p:sp>
      <p:sp>
        <p:nvSpPr>
          <p:cNvPr id="66" name="text-066: params.h · __base_* · 生成 regs/*.h"/>
          <p:cNvSpPr txBox="1"/>
          <p:nvPr/>
        </p:nvSpPr>
        <p:spPr>
          <a:xfrm>
            <a:off x="7998636" y="12076694"/>
            <a:ext cx="3944164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params.h · __base_* · 生成 regs/*.h</a:t>
            </a:r>
          </a:p>
        </p:txBody>
      </p:sp>
      <p:sp>
        <p:nvSpPr>
          <p:cNvPr id="67" name="rect-067"/>
          <p:cNvSpPr/>
          <p:nvPr/>
        </p:nvSpPr>
        <p:spPr>
          <a:xfrm>
            <a:off x="15933107" y="11323529"/>
            <a:ext cx="2605414" cy="1252603"/>
          </a:xfrm>
          <a:prstGeom prst="roundRect">
            <a:avLst>
              <a:gd name="adj" fmla="val 8000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CSR / 屏障辅助"/>
          <p:cNvSpPr txBox="1"/>
          <p:nvPr/>
        </p:nvSpPr>
        <p:spPr>
          <a:xfrm>
            <a:off x="16188246" y="11392873"/>
            <a:ext cx="2095135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CSR / 屏障辅助</a:t>
            </a:r>
          </a:p>
        </p:txBody>
      </p:sp>
      <p:sp>
        <p:nvSpPr>
          <p:cNvPr id="69" name="text-069: util.h：CSR / fence"/>
          <p:cNvSpPr txBox="1"/>
          <p:nvPr/>
        </p:nvSpPr>
        <p:spPr>
          <a:xfrm>
            <a:off x="16095562" y="11766048"/>
            <a:ext cx="2280504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util.h：CSR / fence</a:t>
            </a:r>
          </a:p>
        </p:txBody>
      </p:sp>
      <p:sp>
        <p:nvSpPr>
          <p:cNvPr id="70" name="text-070: 计时 · IRQ · WFI"/>
          <p:cNvSpPr txBox="1"/>
          <p:nvPr/>
        </p:nvSpPr>
        <p:spPr>
          <a:xfrm>
            <a:off x="16284063" y="12076694"/>
            <a:ext cx="1903502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计时 · IRQ · WFI</a:t>
            </a:r>
          </a:p>
        </p:txBody>
      </p:sp>
      <p:sp>
        <p:nvSpPr>
          <p:cNvPr id="71" name="text-071: 归档：C/S 支持对象 → libcheshire.a；.h 内联由调用者编译；"/>
          <p:cNvSpPr txBox="1"/>
          <p:nvPr/>
        </p:nvSpPr>
        <p:spPr>
          <a:xfrm>
            <a:off x="4359058" y="12889984"/>
            <a:ext cx="7536128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归档：C/S 支持对象 → libcheshire.a；.h 内联由调用者编译；crt0 也参与归档</a:t>
            </a:r>
          </a:p>
        </p:txBody>
      </p:sp>
      <p:sp>
        <p:nvSpPr>
          <p:cNvPr id="72" name="rect-072"/>
          <p:cNvSpPr/>
          <p:nvPr/>
        </p:nvSpPr>
        <p:spPr>
          <a:xfrm>
            <a:off x="4308953" y="13728526"/>
            <a:ext cx="11323529" cy="1152395"/>
          </a:xfrm>
          <a:prstGeom prst="roundRect">
            <a:avLst>
              <a:gd name="adj" fmla="val 8695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软硬件接口：MMIO / 地址空间 / 异常与中断"/>
          <p:cNvSpPr txBox="1"/>
          <p:nvPr/>
        </p:nvSpPr>
        <p:spPr>
          <a:xfrm>
            <a:off x="7189814" y="13797870"/>
            <a:ext cx="5561807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软硬件接口：MMIO / 地址空间 / 异常与中断</a:t>
            </a:r>
          </a:p>
        </p:txBody>
      </p:sp>
      <p:sp>
        <p:nvSpPr>
          <p:cNvPr id="74" name="text-074: 地址与字段 · 访问宽度 · 副作用 · IRQ · 访问顺序 / 缓存与数据可"/>
          <p:cNvSpPr txBox="1"/>
          <p:nvPr/>
        </p:nvSpPr>
        <p:spPr>
          <a:xfrm>
            <a:off x="6542610" y="14181868"/>
            <a:ext cx="685621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地址与字段 · 访问宽度 · 副作用 · IRQ · 访问顺序 / 缓存与数据可见性</a:t>
            </a:r>
          </a:p>
        </p:txBody>
      </p:sp>
      <p:sp>
        <p:nvSpPr>
          <p:cNvPr id="75" name="rect-075"/>
          <p:cNvSpPr/>
          <p:nvPr/>
        </p:nvSpPr>
        <p:spPr>
          <a:xfrm>
            <a:off x="15933107" y="13728526"/>
            <a:ext cx="2605414" cy="1152395"/>
          </a:xfrm>
          <a:prstGeom prst="roundRect">
            <a:avLst>
              <a:gd name="adj" fmla="val 8695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指令接口：ISA / CSR"/>
          <p:cNvSpPr txBox="1"/>
          <p:nvPr/>
        </p:nvSpPr>
        <p:spPr>
          <a:xfrm>
            <a:off x="15837948" y="13797870"/>
            <a:ext cx="27957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指令接口：ISA / CSR</a:t>
            </a:r>
          </a:p>
        </p:txBody>
      </p:sp>
      <p:sp>
        <p:nvSpPr>
          <p:cNvPr id="77" name="text-077: 标量 / RVV · 特权状态"/>
          <p:cNvSpPr txBox="1"/>
          <p:nvPr/>
        </p:nvSpPr>
        <p:spPr>
          <a:xfrm>
            <a:off x="16093463" y="14192691"/>
            <a:ext cx="2284700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标量 / RVV · 特权状态</a:t>
            </a:r>
          </a:p>
        </p:txBody>
      </p:sp>
      <p:sp>
        <p:nvSpPr>
          <p:cNvPr id="78" name="text-078: trap · 内存访问语义"/>
          <p:cNvSpPr txBox="1"/>
          <p:nvPr/>
        </p:nvSpPr>
        <p:spPr>
          <a:xfrm>
            <a:off x="16206949" y="14503336"/>
            <a:ext cx="2057729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trap · 内存访问语义</a:t>
            </a:r>
          </a:p>
        </p:txBody>
      </p:sp>
      <p:sp>
        <p:nvSpPr>
          <p:cNvPr id="79" name="rect-079"/>
          <p:cNvSpPr/>
          <p:nvPr/>
        </p:nvSpPr>
        <p:spPr>
          <a:xfrm>
            <a:off x="4308953" y="15732691"/>
            <a:ext cx="11323529" cy="901874"/>
          </a:xfrm>
          <a:prstGeom prst="roundRect">
            <a:avLst>
              <a:gd name="adj" fmla="val 11111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SoC 控制器与存储子系统"/>
          <p:cNvSpPr txBox="1"/>
          <p:nvPr/>
        </p:nvSpPr>
        <p:spPr>
          <a:xfrm>
            <a:off x="8377517" y="15802035"/>
            <a:ext cx="3186402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SoC 控制器与存储子系统</a:t>
            </a:r>
          </a:p>
        </p:txBody>
      </p:sp>
      <p:sp>
        <p:nvSpPr>
          <p:cNvPr id="81" name="text-081: UART · SPI / I²C · GPIO / PLIC / CLINT ·"/>
          <p:cNvSpPr txBox="1"/>
          <p:nvPr/>
        </p:nvSpPr>
        <p:spPr>
          <a:xfrm>
            <a:off x="6062574" y="16196855"/>
            <a:ext cx="7816288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UART · SPI / I²C · GPIO / PLIC / CLINT · iDMA · LLC / AXI RT · AXI / Reg / 存储</a:t>
            </a:r>
          </a:p>
        </p:txBody>
      </p:sp>
      <p:sp>
        <p:nvSpPr>
          <p:cNvPr id="82" name="rect-082"/>
          <p:cNvSpPr/>
          <p:nvPr/>
        </p:nvSpPr>
        <p:spPr>
          <a:xfrm>
            <a:off x="15933107" y="15732691"/>
            <a:ext cx="2605414" cy="901874"/>
          </a:xfrm>
          <a:prstGeom prst="roundRect">
            <a:avLst>
              <a:gd name="adj" fmla="val 11111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CVA6 + Ara"/>
          <p:cNvSpPr txBox="1"/>
          <p:nvPr/>
        </p:nvSpPr>
        <p:spPr>
          <a:xfrm>
            <a:off x="16348587" y="15802035"/>
            <a:ext cx="1774453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84" name="text-084: 取指 / 执行 / 访存"/>
          <p:cNvSpPr txBox="1"/>
          <p:nvPr/>
        </p:nvSpPr>
        <p:spPr>
          <a:xfrm>
            <a:off x="16194259" y="16175210"/>
            <a:ext cx="208311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取指 / 执行 / 访存</a:t>
            </a:r>
          </a:p>
        </p:txBody>
      </p:sp>
      <p:sp>
        <p:nvSpPr>
          <p:cNvPr id="85" name="rect-085"/>
          <p:cNvSpPr/>
          <p:nvPr/>
        </p:nvSpPr>
        <p:spPr>
          <a:xfrm>
            <a:off x="300625" y="2204581"/>
            <a:ext cx="2906038" cy="1102290"/>
          </a:xfrm>
          <a:prstGeom prst="roundRect">
            <a:avLst>
              <a:gd name="adj" fmla="val 9090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构建与依赖入口"/>
          <p:cNvSpPr txBox="1"/>
          <p:nvPr/>
        </p:nvSpPr>
        <p:spPr>
          <a:xfrm>
            <a:off x="711478" y="2273925"/>
            <a:ext cx="20843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构建与依赖入口</a:t>
            </a:r>
          </a:p>
        </p:txBody>
      </p:sp>
      <p:sp>
        <p:nvSpPr>
          <p:cNvPr id="87" name="text-087: Make · sw.mk / Ara Makefile"/>
          <p:cNvSpPr txBox="1"/>
          <p:nvPr/>
        </p:nvSpPr>
        <p:spPr>
          <a:xfrm>
            <a:off x="311303" y="2679568"/>
            <a:ext cx="2884681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Make · sw.mk / Ara Makefile</a:t>
            </a:r>
          </a:p>
        </p:txBody>
      </p:sp>
      <p:sp>
        <p:nvSpPr>
          <p:cNvPr id="88" name="text-088: Bender path · 本地依赖"/>
          <p:cNvSpPr txBox="1"/>
          <p:nvPr/>
        </p:nvSpPr>
        <p:spPr>
          <a:xfrm>
            <a:off x="581795" y="2990213"/>
            <a:ext cx="2343698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Bender path · 本地依赖</a:t>
            </a:r>
          </a:p>
        </p:txBody>
      </p:sp>
      <p:sp>
        <p:nvSpPr>
          <p:cNvPr id="89" name="rect-089"/>
          <p:cNvSpPr/>
          <p:nvPr/>
        </p:nvSpPr>
        <p:spPr>
          <a:xfrm>
            <a:off x="300625" y="4409162"/>
            <a:ext cx="2906038" cy="1503123"/>
          </a:xfrm>
          <a:prstGeom prst="roundRect">
            <a:avLst>
              <a:gd name="adj" fmla="val 6666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编译 / 归档 / 链接"/>
          <p:cNvSpPr txBox="1"/>
          <p:nvPr/>
        </p:nvSpPr>
        <p:spPr>
          <a:xfrm>
            <a:off x="563405" y="4478506"/>
            <a:ext cx="2380478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编译 / 归档 / 链接</a:t>
            </a:r>
          </a:p>
        </p:txBody>
      </p:sp>
      <p:sp>
        <p:nvSpPr>
          <p:cNvPr id="91" name="text-091: GCC · as · ld · ar"/>
          <p:cNvSpPr txBox="1"/>
          <p:nvPr/>
        </p:nvSpPr>
        <p:spPr>
          <a:xfrm>
            <a:off x="784897" y="4851681"/>
            <a:ext cx="193749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GCC · as · ld · ar</a:t>
            </a:r>
          </a:p>
        </p:txBody>
      </p:sp>
      <p:sp>
        <p:nvSpPr>
          <p:cNvPr id="92" name="text-092: 源码 / .o / .a / .ld"/>
          <p:cNvSpPr txBox="1"/>
          <p:nvPr/>
        </p:nvSpPr>
        <p:spPr>
          <a:xfrm>
            <a:off x="731058" y="5162327"/>
            <a:ext cx="2045171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源码 / .o / .a / .ld</a:t>
            </a:r>
          </a:p>
        </p:txBody>
      </p:sp>
      <p:sp>
        <p:nvSpPr>
          <p:cNvPr id="93" name="text-093: → ELF / map"/>
          <p:cNvSpPr txBox="1"/>
          <p:nvPr/>
        </p:nvSpPr>
        <p:spPr>
          <a:xfrm>
            <a:off x="942631" y="5472972"/>
            <a:ext cx="1622027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→ ELF / map</a:t>
            </a:r>
          </a:p>
        </p:txBody>
      </p:sp>
      <p:sp>
        <p:nvSpPr>
          <p:cNvPr id="94" name="rect-094"/>
          <p:cNvSpPr/>
          <p:nvPr/>
        </p:nvSpPr>
        <p:spPr>
          <a:xfrm>
            <a:off x="300625" y="7214992"/>
            <a:ext cx="2906038" cy="1402915"/>
          </a:xfrm>
          <a:prstGeom prst="roundRect">
            <a:avLst>
              <a:gd name="adj" fmla="val 7142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5: 寄存器 / 描述生成"/>
          <p:cNvSpPr txBox="1"/>
          <p:nvPr/>
        </p:nvSpPr>
        <p:spPr>
          <a:xfrm>
            <a:off x="572306" y="7284336"/>
            <a:ext cx="2362675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寄存器 / 描述生成</a:t>
            </a:r>
          </a:p>
        </p:txBody>
      </p:sp>
      <p:sp>
        <p:nvSpPr>
          <p:cNvPr id="96" name="text-096: Python regtool：HJSON"/>
          <p:cNvSpPr txBox="1"/>
          <p:nvPr/>
        </p:nvSpPr>
        <p:spPr>
          <a:xfrm>
            <a:off x="435123" y="7679156"/>
            <a:ext cx="2637042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Python regtool：HJSON</a:t>
            </a:r>
          </a:p>
        </p:txBody>
      </p:sp>
      <p:sp>
        <p:nvSpPr>
          <p:cNvPr id="97" name="text-097: → C 宏 / RTL"/>
          <p:cNvSpPr txBox="1"/>
          <p:nvPr/>
        </p:nvSpPr>
        <p:spPr>
          <a:xfrm>
            <a:off x="1018037" y="7989802"/>
            <a:ext cx="1471213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→ C 宏 / RTL</a:t>
            </a:r>
          </a:p>
        </p:txBody>
      </p:sp>
      <p:sp>
        <p:nvSpPr>
          <p:cNvPr id="98" name="text-098: dtc：DTS → DTB"/>
          <p:cNvSpPr txBox="1"/>
          <p:nvPr/>
        </p:nvSpPr>
        <p:spPr>
          <a:xfrm>
            <a:off x="820439" y="8300447"/>
            <a:ext cx="1866409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dtc：DTS → DTB</a:t>
            </a:r>
          </a:p>
        </p:txBody>
      </p:sp>
      <p:sp>
        <p:nvSpPr>
          <p:cNvPr id="99" name="rect-099"/>
          <p:cNvSpPr/>
          <p:nvPr/>
        </p:nvSpPr>
        <p:spPr>
          <a:xfrm>
            <a:off x="300625" y="9519781"/>
            <a:ext cx="2906038" cy="1553227"/>
          </a:xfrm>
          <a:prstGeom prst="roundRect">
            <a:avLst>
              <a:gd name="adj" fmla="val 6451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-100: 产物转换 / 检查"/>
          <p:cNvSpPr txBox="1"/>
          <p:nvPr/>
        </p:nvSpPr>
        <p:spPr>
          <a:xfrm>
            <a:off x="702577" y="9589125"/>
            <a:ext cx="2102134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产物转换 / 检查</a:t>
            </a:r>
          </a:p>
        </p:txBody>
      </p:sp>
      <p:sp>
        <p:nvSpPr>
          <p:cNvPr id="101" name="text-101: objcopy · objdump"/>
          <p:cNvSpPr txBox="1"/>
          <p:nvPr/>
        </p:nvSpPr>
        <p:spPr>
          <a:xfrm>
            <a:off x="645584" y="9973123"/>
            <a:ext cx="221612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objcopy · objdump</a:t>
            </a:r>
          </a:p>
        </p:txBody>
      </p:sp>
      <p:sp>
        <p:nvSpPr>
          <p:cNvPr id="102" name="text-102: readelf · nm · size"/>
          <p:cNvSpPr txBox="1"/>
          <p:nvPr/>
        </p:nvSpPr>
        <p:spPr>
          <a:xfrm>
            <a:off x="726979" y="10283768"/>
            <a:ext cx="205332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readelf · nm · size</a:t>
            </a:r>
          </a:p>
        </p:txBody>
      </p:sp>
      <p:sp>
        <p:nvSpPr>
          <p:cNvPr id="103" name="text-103: ELF → bin / memh / dump"/>
          <p:cNvSpPr txBox="1"/>
          <p:nvPr/>
        </p:nvSpPr>
        <p:spPr>
          <a:xfrm>
            <a:off x="250810" y="10594414"/>
            <a:ext cx="3005667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ELF → bin / memh / dump</a:t>
            </a:r>
          </a:p>
        </p:txBody>
      </p:sp>
      <p:sp>
        <p:nvSpPr>
          <p:cNvPr id="104" name="rect-104"/>
          <p:cNvSpPr/>
          <p:nvPr/>
        </p:nvSpPr>
        <p:spPr>
          <a:xfrm>
            <a:off x="300625" y="13728526"/>
            <a:ext cx="2906038" cy="1503123"/>
          </a:xfrm>
          <a:prstGeom prst="roundRect">
            <a:avLst>
              <a:gd name="adj" fmla="val 6666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-105: 装载 / 调试"/>
          <p:cNvSpPr txBox="1"/>
          <p:nvPr/>
        </p:nvSpPr>
        <p:spPr>
          <a:xfrm>
            <a:off x="963118" y="13797870"/>
            <a:ext cx="158105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装载 / 调试</a:t>
            </a:r>
          </a:p>
        </p:txBody>
      </p:sp>
      <p:sp>
        <p:nvSpPr>
          <p:cNvPr id="106" name="text-106: GDB · OpenOCD"/>
          <p:cNvSpPr txBox="1"/>
          <p:nvPr/>
        </p:nvSpPr>
        <p:spPr>
          <a:xfrm>
            <a:off x="733970" y="14171046"/>
            <a:ext cx="2039347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GDB · OpenOCD</a:t>
            </a:r>
          </a:p>
        </p:txBody>
      </p:sp>
      <p:sp>
        <p:nvSpPr>
          <p:cNvPr id="107" name="text-107: flash_disk.sh / .gdb"/>
          <p:cNvSpPr txBox="1"/>
          <p:nvPr/>
        </p:nvSpPr>
        <p:spPr>
          <a:xfrm>
            <a:off x="584425" y="14481691"/>
            <a:ext cx="2338437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flash_disk.sh / .gdb</a:t>
            </a:r>
          </a:p>
        </p:txBody>
      </p:sp>
      <p:sp>
        <p:nvSpPr>
          <p:cNvPr id="108" name="text-108: JTAG · ELF / 介质镜像"/>
          <p:cNvSpPr txBox="1"/>
          <p:nvPr/>
        </p:nvSpPr>
        <p:spPr>
          <a:xfrm>
            <a:off x="512839" y="14792337"/>
            <a:ext cx="248161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JTAG · ELF / 介质镜像</a:t>
            </a:r>
          </a:p>
        </p:txBody>
      </p:sp>
      <p:sp>
        <p:nvSpPr>
          <p:cNvPr id="109" name="rect-109"/>
          <p:cNvSpPr/>
          <p:nvPr/>
        </p:nvSpPr>
        <p:spPr>
          <a:xfrm>
            <a:off x="19640811" y="2204581"/>
            <a:ext cx="3006247" cy="1553227"/>
          </a:xfrm>
          <a:prstGeom prst="roundRect">
            <a:avLst>
              <a:gd name="adj" fmla="val 6451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-110: Boot ROM"/>
          <p:cNvSpPr txBox="1"/>
          <p:nvPr/>
        </p:nvSpPr>
        <p:spPr>
          <a:xfrm>
            <a:off x="20330572" y="2273925"/>
            <a:ext cx="1626724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11" name="text-111: LLC → SPM / 栈"/>
          <p:cNvSpPr txBox="1"/>
          <p:nvPr/>
        </p:nvSpPr>
        <p:spPr>
          <a:xfrm>
            <a:off x="20213877" y="2657923"/>
            <a:ext cx="186011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LLC → SPM / 栈</a:t>
            </a:r>
          </a:p>
        </p:txBody>
      </p:sp>
      <p:sp>
        <p:nvSpPr>
          <p:cNvPr id="112" name="text-112: 启动模式 · 介质 / 调试"/>
          <p:cNvSpPr txBox="1"/>
          <p:nvPr/>
        </p:nvSpPr>
        <p:spPr>
          <a:xfrm>
            <a:off x="19947785" y="2968568"/>
            <a:ext cx="239229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启动模式 · 介质 / 调试</a:t>
            </a:r>
          </a:p>
        </p:txBody>
      </p:sp>
      <p:sp>
        <p:nvSpPr>
          <p:cNvPr id="113" name="text-113: cheshire_bootrom.S / .c"/>
          <p:cNvSpPr txBox="1"/>
          <p:nvPr/>
        </p:nvSpPr>
        <p:spPr>
          <a:xfrm>
            <a:off x="19797504" y="3279214"/>
            <a:ext cx="269286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cheshire_bootrom.S / .c</a:t>
            </a:r>
          </a:p>
        </p:txBody>
      </p:sp>
      <p:sp>
        <p:nvSpPr>
          <p:cNvPr id="114" name="rect-114"/>
          <p:cNvSpPr/>
          <p:nvPr/>
        </p:nvSpPr>
        <p:spPr>
          <a:xfrm>
            <a:off x="19640811" y="5210828"/>
            <a:ext cx="3006247" cy="1903956"/>
          </a:xfrm>
          <a:prstGeom prst="roundRect">
            <a:avLst>
              <a:gd name="adj" fmla="val 5263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-115: 应用 crt0 / 链接布局"/>
          <p:cNvSpPr txBox="1"/>
          <p:nvPr/>
        </p:nvSpPr>
        <p:spPr>
          <a:xfrm>
            <a:off x="19793268" y="5280172"/>
            <a:ext cx="2701332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应用 crt0 / 链接布局</a:t>
            </a:r>
          </a:p>
        </p:txBody>
      </p:sp>
      <p:sp>
        <p:nvSpPr>
          <p:cNvPr id="116" name="text-116: sp / gp · BSS · FS"/>
          <p:cNvSpPr txBox="1"/>
          <p:nvPr/>
        </p:nvSpPr>
        <p:spPr>
          <a:xfrm>
            <a:off x="20158504" y="5664170"/>
            <a:ext cx="197086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sp / gp · BSS · FS</a:t>
            </a:r>
          </a:p>
        </p:txBody>
      </p:sp>
      <p:sp>
        <p:nvSpPr>
          <p:cNvPr id="117" name="text-117: trap 入口 / _exit"/>
          <p:cNvSpPr txBox="1"/>
          <p:nvPr/>
        </p:nvSpPr>
        <p:spPr>
          <a:xfrm>
            <a:off x="20215591" y="5974815"/>
            <a:ext cx="1856686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trap 入口 / _exit</a:t>
            </a:r>
          </a:p>
        </p:txBody>
      </p:sp>
      <p:sp>
        <p:nvSpPr>
          <p:cNvPr id="118" name="text-118: smp.h：hart 协调辅助"/>
          <p:cNvSpPr txBox="1"/>
          <p:nvPr/>
        </p:nvSpPr>
        <p:spPr>
          <a:xfrm>
            <a:off x="19915428" y="6285461"/>
            <a:ext cx="245701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smp.h：hart 协调辅助</a:t>
            </a:r>
          </a:p>
        </p:txBody>
      </p:sp>
      <p:sp>
        <p:nvSpPr>
          <p:cNvPr id="119" name="text-119: link/*.ld · params.h"/>
          <p:cNvSpPr txBox="1"/>
          <p:nvPr/>
        </p:nvSpPr>
        <p:spPr>
          <a:xfrm>
            <a:off x="20050193" y="6596106"/>
            <a:ext cx="218748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link/*.ld · params.h</a:t>
            </a:r>
          </a:p>
        </p:txBody>
      </p:sp>
      <p:sp>
        <p:nvSpPr>
          <p:cNvPr id="120" name="rect-120"/>
          <p:cNvSpPr/>
          <p:nvPr/>
        </p:nvSpPr>
        <p:spPr>
          <a:xfrm>
            <a:off x="19640811" y="8016658"/>
            <a:ext cx="3006247" cy="1352811"/>
          </a:xfrm>
          <a:prstGeom prst="roundRect">
            <a:avLst>
              <a:gd name="adj" fmla="val 7407"/>
            </a:avLst>
          </a:prstGeom>
          <a:solidFill>
            <a:srgbClr val="FFF5E9"/>
          </a:solidFill>
          <a:ln w="20042" cap="flat">
            <a:solidFill>
              <a:srgbClr val="A679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-121: 平台初始化缺口"/>
          <p:cNvSpPr txBox="1"/>
          <p:nvPr/>
        </p:nvSpPr>
        <p:spPr>
          <a:xfrm>
            <a:off x="20101769" y="8086002"/>
            <a:ext cx="20843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平台初始化缺口</a:t>
            </a:r>
          </a:p>
        </p:txBody>
      </p:sp>
      <p:sp>
        <p:nvSpPr>
          <p:cNvPr id="122" name="text-122: DDR / 时钟 / PAD"/>
          <p:cNvSpPr txBox="1"/>
          <p:nvPr/>
        </p:nvSpPr>
        <p:spPr>
          <a:xfrm>
            <a:off x="20082784" y="8459177"/>
            <a:ext cx="212230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DDR / 时钟 / PAD</a:t>
            </a:r>
          </a:p>
        </p:txBody>
      </p:sp>
      <p:sp>
        <p:nvSpPr>
          <p:cNvPr id="123" name="text-123: 需平台实现与独立验收"/>
          <p:cNvSpPr txBox="1"/>
          <p:nvPr/>
        </p:nvSpPr>
        <p:spPr>
          <a:xfrm>
            <a:off x="19876300" y="8769823"/>
            <a:ext cx="253526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需平台实现与独立验收</a:t>
            </a:r>
          </a:p>
        </p:txBody>
      </p:sp>
      <p:sp>
        <p:nvSpPr>
          <p:cNvPr id="124" name="rect-124"/>
          <p:cNvSpPr/>
          <p:nvPr/>
        </p:nvSpPr>
        <p:spPr>
          <a:xfrm>
            <a:off x="19640811" y="10421655"/>
            <a:ext cx="3006247" cy="1402915"/>
          </a:xfrm>
          <a:prstGeom prst="roundRect">
            <a:avLst>
              <a:gd name="adj" fmla="val 7142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-125: ZSL / 介质装载"/>
          <p:cNvSpPr txBox="1"/>
          <p:nvPr/>
        </p:nvSpPr>
        <p:spPr>
          <a:xfrm>
            <a:off x="20119070" y="10490999"/>
            <a:ext cx="2049728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ZSL / 介质装载</a:t>
            </a:r>
          </a:p>
        </p:txBody>
      </p:sp>
      <p:sp>
        <p:nvSpPr>
          <p:cNvPr id="126" name="text-126: GPT + ROM 读回调"/>
          <p:cNvSpPr txBox="1"/>
          <p:nvPr/>
        </p:nvSpPr>
        <p:spPr>
          <a:xfrm>
            <a:off x="20042513" y="10874997"/>
            <a:ext cx="220284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GPT + ROM 读回调</a:t>
            </a:r>
          </a:p>
        </p:txBody>
      </p:sp>
      <p:sp>
        <p:nvSpPr>
          <p:cNvPr id="127" name="text-127: DTB / firmware → DRAM"/>
          <p:cNvSpPr txBox="1"/>
          <p:nvPr/>
        </p:nvSpPr>
        <p:spPr>
          <a:xfrm>
            <a:off x="19730012" y="11185642"/>
            <a:ext cx="282784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DTB / firmware → DRAM</a:t>
            </a:r>
          </a:p>
        </p:txBody>
      </p:sp>
      <p:sp>
        <p:nvSpPr>
          <p:cNvPr id="128" name="text-128: sw/boot/zsl.c"/>
          <p:cNvSpPr txBox="1"/>
          <p:nvPr/>
        </p:nvSpPr>
        <p:spPr>
          <a:xfrm>
            <a:off x="20333453" y="11496288"/>
            <a:ext cx="162096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sw/boot/zsl.c</a:t>
            </a:r>
          </a:p>
        </p:txBody>
      </p:sp>
      <p:sp>
        <p:nvSpPr>
          <p:cNvPr id="129" name="rect-129"/>
          <p:cNvSpPr/>
          <p:nvPr/>
        </p:nvSpPr>
        <p:spPr>
          <a:xfrm>
            <a:off x="19640811" y="13327693"/>
            <a:ext cx="3006247" cy="1503123"/>
          </a:xfrm>
          <a:prstGeom prst="roundRect">
            <a:avLst>
              <a:gd name="adj" fmla="val 6666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-130: 链接后运行支持"/>
          <p:cNvSpPr txBox="1"/>
          <p:nvPr/>
        </p:nvSpPr>
        <p:spPr>
          <a:xfrm>
            <a:off x="20101769" y="13397037"/>
            <a:ext cx="20843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链接后运行支持</a:t>
            </a:r>
          </a:p>
        </p:txBody>
      </p:sp>
      <p:sp>
        <p:nvSpPr>
          <p:cNvPr id="131" name="text-131: 工具链 libgcc / libc"/>
          <p:cNvSpPr txBox="1"/>
          <p:nvPr/>
        </p:nvSpPr>
        <p:spPr>
          <a:xfrm>
            <a:off x="20063588" y="13781035"/>
            <a:ext cx="216069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工具链 libgcc / libc</a:t>
            </a:r>
          </a:p>
        </p:txBody>
      </p:sp>
      <p:sp>
        <p:nvSpPr>
          <p:cNvPr id="132" name="text-132: 按需要引入目标代码"/>
          <p:cNvSpPr txBox="1"/>
          <p:nvPr/>
        </p:nvSpPr>
        <p:spPr>
          <a:xfrm>
            <a:off x="20041644" y="14091681"/>
            <a:ext cx="220458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按需要引入目标代码</a:t>
            </a:r>
          </a:p>
        </p:txBody>
      </p:sp>
      <p:sp>
        <p:nvSpPr>
          <p:cNvPr id="133" name="text-133: 系统调用 / 堆未证完整"/>
          <p:cNvSpPr txBox="1"/>
          <p:nvPr/>
        </p:nvSpPr>
        <p:spPr>
          <a:xfrm>
            <a:off x="19929317" y="14402326"/>
            <a:ext cx="242923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系统调用 / 堆未证完整</a:t>
            </a:r>
          </a:p>
        </p:txBody>
      </p:sp>
      <p:sp>
        <p:nvSpPr>
          <p:cNvPr id="134" name="rect-134"/>
          <p:cNvSpPr/>
          <p:nvPr/>
        </p:nvSpPr>
        <p:spPr>
          <a:xfrm>
            <a:off x="23849556" y="2204581"/>
            <a:ext cx="4709786" cy="2605414"/>
          </a:xfrm>
          <a:prstGeom prst="roundRect">
            <a:avLst>
              <a:gd name="adj" fmla="val 3846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-135: 主机：Ara Makefile → cva6-sdk"/>
          <p:cNvSpPr txBox="1"/>
          <p:nvPr/>
        </p:nvSpPr>
        <p:spPr>
          <a:xfrm>
            <a:off x="24060565" y="2273925"/>
            <a:ext cx="4287769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主机：Ara Makefile → cva6-sdk</a:t>
            </a:r>
          </a:p>
        </p:txBody>
      </p:sp>
      <p:sp>
        <p:nvSpPr>
          <p:cNvPr id="136" name="text-136: Buildroot → Linux 交叉工具链 / rootfs"/>
          <p:cNvSpPr txBox="1"/>
          <p:nvPr/>
        </p:nvSpPr>
        <p:spPr>
          <a:xfrm>
            <a:off x="24146063" y="2657923"/>
            <a:ext cx="411677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Buildroot → Linux 交叉工具链 / rootfs</a:t>
            </a:r>
          </a:p>
        </p:txBody>
      </p:sp>
      <p:sp>
        <p:nvSpPr>
          <p:cNvPr id="137" name="text-137: Linux / BusyBox 配置 · DTS → DTB"/>
          <p:cNvSpPr txBox="1"/>
          <p:nvPr/>
        </p:nvSpPr>
        <p:spPr>
          <a:xfrm>
            <a:off x="24327471" y="2968568"/>
            <a:ext cx="3753956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Linux / BusyBox 配置 · DTS → DTB</a:t>
            </a:r>
          </a:p>
        </p:txBody>
      </p:sp>
      <p:sp>
        <p:nvSpPr>
          <p:cNvPr id="138" name="text-138: U-Boot 源码 → mkimage（主机程序）"/>
          <p:cNvSpPr txBox="1"/>
          <p:nvPr/>
        </p:nvSpPr>
        <p:spPr>
          <a:xfrm>
            <a:off x="24134054" y="3279214"/>
            <a:ext cx="414079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U-Boot 源码 → mkimage（主机程序）</a:t>
            </a:r>
          </a:p>
        </p:txBody>
      </p:sp>
      <p:sp>
        <p:nvSpPr>
          <p:cNvPr id="139" name="text-139: ELF / Image → uImage · fw_payload"/>
          <p:cNvSpPr txBox="1"/>
          <p:nvPr/>
        </p:nvSpPr>
        <p:spPr>
          <a:xfrm>
            <a:off x="24217352" y="3589859"/>
            <a:ext cx="397419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ELF / Image → uImage · fw_payload</a:t>
            </a:r>
          </a:p>
        </p:txBody>
      </p:sp>
      <p:sp>
        <p:nvSpPr>
          <p:cNvPr id="140" name="text-140: Spike / riscv-tests：可选主机入口"/>
          <p:cNvSpPr txBox="1"/>
          <p:nvPr/>
        </p:nvSpPr>
        <p:spPr>
          <a:xfrm>
            <a:off x="24397640" y="3900505"/>
            <a:ext cx="361361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Spike / riscv-tests：可选主机入口</a:t>
            </a:r>
          </a:p>
        </p:txBody>
      </p:sp>
      <p:sp>
        <p:nvSpPr>
          <p:cNvPr id="141" name="rect-141"/>
          <p:cNvSpPr/>
          <p:nvPr/>
        </p:nvSpPr>
        <p:spPr>
          <a:xfrm>
            <a:off x="23949764" y="6012493"/>
            <a:ext cx="4409162" cy="1152395"/>
          </a:xfrm>
          <a:prstGeom prst="roundRect">
            <a:avLst>
              <a:gd name="adj" fmla="val 8695"/>
            </a:avLst>
          </a:prstGeom>
          <a:solidFill>
            <a:srgbClr val="EDF3E5"/>
          </a:solidFill>
          <a:ln w="20042" cap="flat">
            <a:solidFill>
              <a:srgbClr val="6988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-142: 目标：用户空间 / rootfs"/>
          <p:cNvSpPr txBox="1"/>
          <p:nvPr/>
        </p:nvSpPr>
        <p:spPr>
          <a:xfrm>
            <a:off x="24576152" y="6081837"/>
            <a:ext cx="3156387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目标：用户空间 / rootfs</a:t>
            </a:r>
          </a:p>
        </p:txBody>
      </p:sp>
      <p:sp>
        <p:nvSpPr>
          <p:cNvPr id="143" name="text-143: BusyBox · 应用 / 可选 RVV benchmark"/>
          <p:cNvSpPr txBox="1"/>
          <p:nvPr/>
        </p:nvSpPr>
        <p:spPr>
          <a:xfrm>
            <a:off x="24082392" y="6465835"/>
            <a:ext cx="4143907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BusyBox · 应用 / 可选 RVV benchmark</a:t>
            </a:r>
          </a:p>
        </p:txBody>
      </p:sp>
      <p:sp>
        <p:nvSpPr>
          <p:cNvPr id="144" name="rect-144"/>
          <p:cNvSpPr/>
          <p:nvPr/>
        </p:nvSpPr>
        <p:spPr>
          <a:xfrm>
            <a:off x="23949764" y="8166970"/>
            <a:ext cx="4409162" cy="1402915"/>
          </a:xfrm>
          <a:prstGeom prst="roundRect">
            <a:avLst>
              <a:gd name="adj" fmla="val 7142"/>
            </a:avLst>
          </a:prstGeom>
          <a:solidFill>
            <a:srgbClr val="EDF3E5"/>
          </a:solidFill>
          <a:ln w="20042" cap="flat">
            <a:solidFill>
              <a:srgbClr val="6988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-145: Linux 内核 / 平台驱动"/>
          <p:cNvSpPr txBox="1"/>
          <p:nvPr/>
        </p:nvSpPr>
        <p:spPr>
          <a:xfrm>
            <a:off x="24709664" y="8236314"/>
            <a:ext cx="2889363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Linux 内核 / 平台驱动</a:t>
            </a:r>
          </a:p>
        </p:txBody>
      </p:sp>
      <p:sp>
        <p:nvSpPr>
          <p:cNvPr id="146" name="text-146: 调度 / 内存管理 / 系统调用"/>
          <p:cNvSpPr txBox="1"/>
          <p:nvPr/>
        </p:nvSpPr>
        <p:spPr>
          <a:xfrm>
            <a:off x="24651833" y="8609490"/>
            <a:ext cx="300502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调度 / 内存管理 / 系统调用</a:t>
            </a:r>
          </a:p>
        </p:txBody>
      </p:sp>
      <p:sp>
        <p:nvSpPr>
          <p:cNvPr id="147" name="text-147: 设备树 · IRQ / timer / 设备驱动"/>
          <p:cNvSpPr txBox="1"/>
          <p:nvPr/>
        </p:nvSpPr>
        <p:spPr>
          <a:xfrm>
            <a:off x="24408851" y="8920135"/>
            <a:ext cx="349098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设备树 · IRQ / timer / 设备驱动</a:t>
            </a:r>
          </a:p>
        </p:txBody>
      </p:sp>
      <p:sp>
        <p:nvSpPr>
          <p:cNvPr id="148" name="rect-148"/>
          <p:cNvSpPr/>
          <p:nvPr/>
        </p:nvSpPr>
        <p:spPr>
          <a:xfrm>
            <a:off x="23949764" y="10622071"/>
            <a:ext cx="4409162" cy="1152395"/>
          </a:xfrm>
          <a:prstGeom prst="roundRect">
            <a:avLst>
              <a:gd name="adj" fmla="val 8695"/>
            </a:avLst>
          </a:prstGeom>
          <a:solidFill>
            <a:srgbClr val="EDF3E5"/>
          </a:solidFill>
          <a:ln w="20042" cap="flat">
            <a:solidFill>
              <a:srgbClr val="6988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ext-149: OpenSBI · M 模式固件"/>
          <p:cNvSpPr txBox="1"/>
          <p:nvPr/>
        </p:nvSpPr>
        <p:spPr>
          <a:xfrm>
            <a:off x="24630656" y="10691415"/>
            <a:ext cx="3047379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OpenSBI · M 模式固件</a:t>
            </a:r>
          </a:p>
        </p:txBody>
      </p:sp>
      <p:sp>
        <p:nvSpPr>
          <p:cNvPr id="150" name="text-150: SBI 服务；fw_payload 含 U-Boot"/>
          <p:cNvSpPr txBox="1"/>
          <p:nvPr/>
        </p:nvSpPr>
        <p:spPr>
          <a:xfrm>
            <a:off x="24365488" y="11075413"/>
            <a:ext cx="357771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SBI 服务；fw_payload 含 U-Boot</a:t>
            </a:r>
          </a:p>
        </p:txBody>
      </p:sp>
      <p:sp>
        <p:nvSpPr>
          <p:cNvPr id="151" name="rect-151"/>
          <p:cNvSpPr/>
          <p:nvPr/>
        </p:nvSpPr>
        <p:spPr>
          <a:xfrm>
            <a:off x="23949764" y="12776548"/>
            <a:ext cx="4409162" cy="1152395"/>
          </a:xfrm>
          <a:prstGeom prst="roundRect">
            <a:avLst>
              <a:gd name="adj" fmla="val 8695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text-152: U-Boot · 启动程序"/>
          <p:cNvSpPr txBox="1"/>
          <p:nvPr/>
        </p:nvSpPr>
        <p:spPr>
          <a:xfrm>
            <a:off x="24895910" y="12845892"/>
            <a:ext cx="2516870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U-Boot · 启动程序</a:t>
            </a:r>
          </a:p>
        </p:txBody>
      </p:sp>
      <p:sp>
        <p:nvSpPr>
          <p:cNvPr id="153" name="text-153: 装载 Linux / DTB · 移交执行"/>
          <p:cNvSpPr txBox="1"/>
          <p:nvPr/>
        </p:nvSpPr>
        <p:spPr>
          <a:xfrm>
            <a:off x="24589367" y="13219068"/>
            <a:ext cx="3129957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装载 Linux / DTB · 移交执行</a:t>
            </a:r>
          </a:p>
        </p:txBody>
      </p:sp>
      <p:sp>
        <p:nvSpPr>
          <p:cNvPr id="154" name="rect-154"/>
          <p:cNvSpPr/>
          <p:nvPr/>
        </p:nvSpPr>
        <p:spPr>
          <a:xfrm>
            <a:off x="23949764" y="14931025"/>
            <a:ext cx="4409162" cy="1603332"/>
          </a:xfrm>
          <a:prstGeom prst="roundRect">
            <a:avLst>
              <a:gd name="adj" fmla="val 6250"/>
            </a:avLst>
          </a:prstGeom>
          <a:solidFill>
            <a:srgbClr val="FFF5E9"/>
          </a:solidFill>
          <a:ln w="20042" cap="flat">
            <a:solidFill>
              <a:srgbClr val="A679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-155: 支持边界"/>
          <p:cNvSpPr txBox="1"/>
          <p:nvPr/>
        </p:nvSpPr>
        <p:spPr>
          <a:xfrm>
            <a:off x="25502992" y="15000369"/>
            <a:ext cx="1302707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支持边界</a:t>
            </a:r>
          </a:p>
        </p:txBody>
      </p:sp>
      <p:sp>
        <p:nvSpPr>
          <p:cNvPr id="156" name="text-156: 源码 / 配方存在 ≠ 当前启动通过"/>
          <p:cNvSpPr txBox="1"/>
          <p:nvPr/>
        </p:nvSpPr>
        <p:spPr>
          <a:xfrm>
            <a:off x="24462055" y="15384367"/>
            <a:ext cx="338458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源码 / 配方存在 ≠ 当前启动通过</a:t>
            </a:r>
          </a:p>
        </p:txBody>
      </p:sp>
      <p:sp>
        <p:nvSpPr>
          <p:cNvPr id="157" name="text-157: 版本 / DTS / ISA / 向量上下文待验收"/>
          <p:cNvSpPr txBox="1"/>
          <p:nvPr/>
        </p:nvSpPr>
        <p:spPr>
          <a:xfrm>
            <a:off x="24225830" y="15695012"/>
            <a:ext cx="385703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版本 / DTS / ISA / 向量上下文待验收</a:t>
            </a:r>
          </a:p>
        </p:txBody>
      </p:sp>
      <p:sp>
        <p:nvSpPr>
          <p:cNvPr id="158" name="text-158: RTOS：待移植，未展开为现有栈"/>
          <p:cNvSpPr txBox="1"/>
          <p:nvPr/>
        </p:nvSpPr>
        <p:spPr>
          <a:xfrm>
            <a:off x="24441176" y="16005658"/>
            <a:ext cx="342633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RTOS：待移植，未展开为现有栈</a:t>
            </a:r>
          </a:p>
        </p:txBody>
      </p:sp>
      <p:sp>
        <p:nvSpPr>
          <p:cNvPr id="159" name="host_build"/>
          <p:cNvSpPr/>
          <p:nvPr/>
        </p:nvSpPr>
        <p:spPr>
          <a:xfrm>
            <a:off x="1753644" y="3306871"/>
            <a:ext cx="1" cy="1102290"/>
          </a:xfrm>
          <a:custGeom>
            <a:avLst/>
            <a:gdLst/>
            <a:ahLst/>
            <a:cxnLst/>
            <a:rect l="0" t="0" r="r" b="b"/>
            <a:pathLst>
              <a:path w="1" h="1102290" fill="none">
                <a:moveTo>
                  <a:pt x="0" y="0"/>
                </a:moveTo>
                <a:lnTo>
                  <a:pt x="0" y="1102290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text-160: 构建"/>
          <p:cNvSpPr txBox="1"/>
          <p:nvPr/>
        </p:nvSpPr>
        <p:spPr>
          <a:xfrm>
            <a:off x="1793727" y="3680047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构建</a:t>
            </a:r>
          </a:p>
        </p:txBody>
      </p:sp>
      <p:sp>
        <p:nvSpPr>
          <p:cNvPr id="161" name="link_elf"/>
          <p:cNvSpPr/>
          <p:nvPr/>
        </p:nvSpPr>
        <p:spPr>
          <a:xfrm>
            <a:off x="3206663" y="2655518"/>
            <a:ext cx="1102290" cy="2154477"/>
          </a:xfrm>
          <a:custGeom>
            <a:avLst/>
            <a:gdLst/>
            <a:ahLst/>
            <a:cxnLst/>
            <a:rect l="0" t="0" r="r" b="b"/>
            <a:pathLst>
              <a:path w="1102290" h="2154477" fill="none">
                <a:moveTo>
                  <a:pt x="0" y="2154477"/>
                </a:moveTo>
                <a:lnTo>
                  <a:pt x="450937" y="2154477"/>
                </a:lnTo>
                <a:lnTo>
                  <a:pt x="450937" y="0"/>
                </a:lnTo>
                <a:lnTo>
                  <a:pt x="1102290" y="0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-162: ELF"/>
          <p:cNvSpPr txBox="1"/>
          <p:nvPr/>
        </p:nvSpPr>
        <p:spPr>
          <a:xfrm>
            <a:off x="3351597" y="2257090"/>
            <a:ext cx="57192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ELF</a:t>
            </a:r>
          </a:p>
        </p:txBody>
      </p:sp>
      <p:sp>
        <p:nvSpPr>
          <p:cNvPr id="163" name="elf_inspect"/>
          <p:cNvSpPr/>
          <p:nvPr/>
        </p:nvSpPr>
        <p:spPr>
          <a:xfrm>
            <a:off x="1753644" y="5912285"/>
            <a:ext cx="1703540" cy="3607496"/>
          </a:xfrm>
          <a:custGeom>
            <a:avLst/>
            <a:gdLst/>
            <a:ahLst/>
            <a:cxnLst/>
            <a:rect l="0" t="0" r="r" b="b"/>
            <a:pathLst>
              <a:path w="1703540" h="3607496" fill="none">
                <a:moveTo>
                  <a:pt x="0" y="0"/>
                </a:moveTo>
                <a:lnTo>
                  <a:pt x="1703540" y="0"/>
                </a:lnTo>
                <a:lnTo>
                  <a:pt x="1703540" y="3306871"/>
                </a:lnTo>
                <a:lnTo>
                  <a:pt x="0" y="3306871"/>
                </a:lnTo>
                <a:lnTo>
                  <a:pt x="0" y="3607496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text-164: 产物"/>
          <p:cNvSpPr txBox="1"/>
          <p:nvPr/>
        </p:nvSpPr>
        <p:spPr>
          <a:xfrm>
            <a:off x="2585372" y="8940978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产物</a:t>
            </a:r>
          </a:p>
        </p:txBody>
      </p:sp>
      <p:sp>
        <p:nvSpPr>
          <p:cNvPr id="165" name="headers"/>
          <p:cNvSpPr/>
          <p:nvPr/>
        </p:nvSpPr>
        <p:spPr>
          <a:xfrm>
            <a:off x="3206663" y="7916449"/>
            <a:ext cx="1202499" cy="4008329"/>
          </a:xfrm>
          <a:custGeom>
            <a:avLst/>
            <a:gdLst/>
            <a:ahLst/>
            <a:cxnLst/>
            <a:rect l="0" t="0" r="r" b="b"/>
            <a:pathLst>
              <a:path w="1202499" h="4008329" fill="none">
                <a:moveTo>
                  <a:pt x="0" y="0"/>
                </a:moveTo>
                <a:lnTo>
                  <a:pt x="551145" y="0"/>
                </a:lnTo>
                <a:lnTo>
                  <a:pt x="551145" y="4008329"/>
                </a:lnTo>
                <a:lnTo>
                  <a:pt x="1202499" y="4008329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-166: 生成 C 宏"/>
          <p:cNvSpPr txBox="1"/>
          <p:nvPr/>
        </p:nvSpPr>
        <p:spPr>
          <a:xfrm>
            <a:off x="2598039" y="11486267"/>
            <a:ext cx="115976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生成 C 宏</a:t>
            </a:r>
          </a:p>
        </p:txBody>
      </p:sp>
      <p:sp>
        <p:nvSpPr>
          <p:cNvPr id="167" name="load"/>
          <p:cNvSpPr/>
          <p:nvPr/>
        </p:nvSpPr>
        <p:spPr>
          <a:xfrm>
            <a:off x="1753644" y="15231649"/>
            <a:ext cx="2555310" cy="951978"/>
          </a:xfrm>
          <a:custGeom>
            <a:avLst/>
            <a:gdLst/>
            <a:ahLst/>
            <a:cxnLst/>
            <a:rect l="0" t="0" r="r" b="b"/>
            <a:pathLst>
              <a:path w="2555310" h="951978" fill="none">
                <a:moveTo>
                  <a:pt x="0" y="0"/>
                </a:moveTo>
                <a:lnTo>
                  <a:pt x="0" y="951978"/>
                </a:lnTo>
                <a:lnTo>
                  <a:pt x="2555310" y="951978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ext-168: 装载 / 调试访问"/>
          <p:cNvSpPr txBox="1"/>
          <p:nvPr/>
        </p:nvSpPr>
        <p:spPr>
          <a:xfrm>
            <a:off x="1911879" y="15775179"/>
            <a:ext cx="176786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装载 / 调试访问</a:t>
            </a:r>
          </a:p>
        </p:txBody>
      </p:sp>
      <p:sp>
        <p:nvSpPr>
          <p:cNvPr id="169" name="use_printf"/>
          <p:cNvSpPr/>
          <p:nvPr/>
        </p:nvSpPr>
        <p:spPr>
          <a:xfrm>
            <a:off x="5611660" y="3106455"/>
            <a:ext cx="1" cy="1302707"/>
          </a:xfrm>
          <a:custGeom>
            <a:avLst/>
            <a:gdLst/>
            <a:ahLst/>
            <a:cxnLst/>
            <a:rect l="0" t="0" r="r" b="b"/>
            <a:pathLst>
              <a:path w="1" h="1302707" fill="none">
                <a:moveTo>
                  <a:pt x="0" y="0"/>
                </a:moveTo>
                <a:lnTo>
                  <a:pt x="0" y="1302707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-170: 调用"/>
          <p:cNvSpPr txBox="1"/>
          <p:nvPr/>
        </p:nvSpPr>
        <p:spPr>
          <a:xfrm>
            <a:off x="5591619" y="4050817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71" name="use_gpt"/>
          <p:cNvSpPr/>
          <p:nvPr/>
        </p:nvSpPr>
        <p:spPr>
          <a:xfrm>
            <a:off x="8517699" y="3106455"/>
            <a:ext cx="1" cy="1302707"/>
          </a:xfrm>
          <a:custGeom>
            <a:avLst/>
            <a:gdLst/>
            <a:ahLst/>
            <a:cxnLst/>
            <a:rect l="0" t="0" r="r" b="b"/>
            <a:pathLst>
              <a:path w="1" h="1302707" fill="none">
                <a:moveTo>
                  <a:pt x="0" y="0"/>
                </a:moveTo>
                <a:lnTo>
                  <a:pt x="0" y="1302707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-172: 调用"/>
          <p:cNvSpPr txBox="1"/>
          <p:nvPr/>
        </p:nvSpPr>
        <p:spPr>
          <a:xfrm>
            <a:off x="8497657" y="4050817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73" name="direct_event"/>
          <p:cNvSpPr/>
          <p:nvPr/>
        </p:nvSpPr>
        <p:spPr>
          <a:xfrm>
            <a:off x="11423737" y="3106455"/>
            <a:ext cx="1" cy="5661764"/>
          </a:xfrm>
          <a:custGeom>
            <a:avLst/>
            <a:gdLst/>
            <a:ahLst/>
            <a:cxnLst/>
            <a:rect l="0" t="0" r="r" b="b"/>
            <a:pathLst>
              <a:path w="1" h="5661764" fill="none">
                <a:moveTo>
                  <a:pt x="0" y="0"/>
                </a:moveTo>
                <a:lnTo>
                  <a:pt x="0" y="5661764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ext-174: 直接调用"/>
          <p:cNvSpPr txBox="1"/>
          <p:nvPr/>
        </p:nvSpPr>
        <p:spPr>
          <a:xfrm>
            <a:off x="11624153" y="6616148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直接调用</a:t>
            </a:r>
          </a:p>
        </p:txBody>
      </p:sp>
      <p:sp>
        <p:nvSpPr>
          <p:cNvPr id="175" name="direct_memory"/>
          <p:cNvSpPr/>
          <p:nvPr/>
        </p:nvSpPr>
        <p:spPr>
          <a:xfrm>
            <a:off x="14329775" y="3106455"/>
            <a:ext cx="1" cy="5661764"/>
          </a:xfrm>
          <a:custGeom>
            <a:avLst/>
            <a:gdLst/>
            <a:ahLst/>
            <a:cxnLst/>
            <a:rect l="0" t="0" r="r" b="b"/>
            <a:pathLst>
              <a:path w="1" h="5661764" fill="none">
                <a:moveTo>
                  <a:pt x="0" y="0"/>
                </a:moveTo>
                <a:lnTo>
                  <a:pt x="0" y="5661764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text-176: 直接调用"/>
          <p:cNvSpPr txBox="1"/>
          <p:nvPr/>
        </p:nvSpPr>
        <p:spPr>
          <a:xfrm>
            <a:off x="14530192" y="7157272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直接调用</a:t>
            </a:r>
          </a:p>
        </p:txBody>
      </p:sp>
      <p:sp>
        <p:nvSpPr>
          <p:cNvPr id="177" name="debug_protocol"/>
          <p:cNvSpPr/>
          <p:nvPr/>
        </p:nvSpPr>
        <p:spPr>
          <a:xfrm>
            <a:off x="6814159" y="2906039"/>
            <a:ext cx="250521" cy="4068454"/>
          </a:xfrm>
          <a:custGeom>
            <a:avLst/>
            <a:gdLst/>
            <a:ahLst/>
            <a:cxnLst/>
            <a:rect l="0" t="0" r="r" b="b"/>
            <a:pathLst>
              <a:path w="250521" h="4068454" fill="none">
                <a:moveTo>
                  <a:pt x="0" y="0"/>
                </a:moveTo>
                <a:lnTo>
                  <a:pt x="250521" y="0"/>
                </a:lnTo>
                <a:lnTo>
                  <a:pt x="250521" y="4068454"/>
                </a:lnTo>
                <a:lnTo>
                  <a:pt x="0" y="4068454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text-178: 协议服务"/>
          <p:cNvSpPr txBox="1"/>
          <p:nvPr/>
        </p:nvSpPr>
        <p:spPr>
          <a:xfrm>
            <a:off x="5912285" y="5884628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协议服务</a:t>
            </a:r>
          </a:p>
        </p:txBody>
      </p:sp>
      <p:sp>
        <p:nvSpPr>
          <p:cNvPr id="179" name="printf_callback"/>
          <p:cNvSpPr/>
          <p:nvPr/>
        </p:nvSpPr>
        <p:spPr>
          <a:xfrm>
            <a:off x="4258849" y="4910203"/>
            <a:ext cx="150312" cy="4328995"/>
          </a:xfrm>
          <a:custGeom>
            <a:avLst/>
            <a:gdLst/>
            <a:ahLst/>
            <a:cxnLst/>
            <a:rect l="0" t="0" r="r" b="b"/>
            <a:pathLst>
              <a:path w="150312" h="4328995" fill="none">
                <a:moveTo>
                  <a:pt x="150312" y="0"/>
                </a:moveTo>
                <a:lnTo>
                  <a:pt x="0" y="0"/>
                </a:lnTo>
                <a:lnTo>
                  <a:pt x="0" y="4328995"/>
                </a:lnTo>
                <a:lnTo>
                  <a:pt x="150312" y="4328995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text-180: printf 字符回调 ↓"/>
          <p:cNvSpPr txBox="1"/>
          <p:nvPr/>
        </p:nvSpPr>
        <p:spPr>
          <a:xfrm>
            <a:off x="4579516" y="8120874"/>
            <a:ext cx="1746441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printf 字符回调 ↓</a:t>
            </a:r>
          </a:p>
        </p:txBody>
      </p:sp>
      <p:sp>
        <p:nvSpPr>
          <p:cNvPr id="181" name="debug_uart"/>
          <p:cNvSpPr/>
          <p:nvPr/>
        </p:nvSpPr>
        <p:spPr>
          <a:xfrm>
            <a:off x="5611660" y="7515617"/>
            <a:ext cx="1" cy="1252603"/>
          </a:xfrm>
          <a:custGeom>
            <a:avLst/>
            <a:gdLst/>
            <a:ahLst/>
            <a:cxnLst/>
            <a:rect l="0" t="0" r="r" b="b"/>
            <a:pathLst>
              <a:path w="1" h="1252603" fill="none">
                <a:moveTo>
                  <a:pt x="0" y="0"/>
                </a:moveTo>
                <a:lnTo>
                  <a:pt x="0" y="1252603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text-182: 调用"/>
          <p:cNvSpPr txBox="1"/>
          <p:nvPr/>
        </p:nvSpPr>
        <p:spPr>
          <a:xfrm>
            <a:off x="5591619" y="7668334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83" name="gpt_read"/>
          <p:cNvSpPr/>
          <p:nvPr/>
        </p:nvSpPr>
        <p:spPr>
          <a:xfrm>
            <a:off x="8517699" y="5411244"/>
            <a:ext cx="1" cy="801666"/>
          </a:xfrm>
          <a:custGeom>
            <a:avLst/>
            <a:gdLst/>
            <a:ahLst/>
            <a:cxnLst/>
            <a:rect l="0" t="0" r="r" b="b"/>
            <a:pathLst>
              <a:path w="1" h="801666" fill="none">
                <a:moveTo>
                  <a:pt x="0" y="0"/>
                </a:moveTo>
                <a:lnTo>
                  <a:pt x="0" y="801666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text-184: 读回调"/>
          <p:cNvSpPr txBox="1"/>
          <p:nvPr/>
        </p:nvSpPr>
        <p:spPr>
          <a:xfrm>
            <a:off x="8567803" y="5634107"/>
            <a:ext cx="88183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读回调</a:t>
            </a:r>
          </a:p>
        </p:txBody>
      </p:sp>
      <p:sp>
        <p:nvSpPr>
          <p:cNvPr id="185" name="hal_dif"/>
          <p:cNvSpPr/>
          <p:nvPr/>
        </p:nvSpPr>
        <p:spPr>
          <a:xfrm>
            <a:off x="8517699" y="7916449"/>
            <a:ext cx="1" cy="851770"/>
          </a:xfrm>
          <a:custGeom>
            <a:avLst/>
            <a:gdLst/>
            <a:ahLst/>
            <a:cxnLst/>
            <a:rect l="0" t="0" r="r" b="b"/>
            <a:pathLst>
              <a:path w="1" h="851770" fill="none">
                <a:moveTo>
                  <a:pt x="0" y="0"/>
                </a:moveTo>
                <a:lnTo>
                  <a:pt x="0" y="851770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text-186: 控制器调用"/>
          <p:cNvSpPr txBox="1"/>
          <p:nvPr/>
        </p:nvSpPr>
        <p:spPr>
          <a:xfrm>
            <a:off x="8427511" y="820945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控制器调用</a:t>
            </a:r>
          </a:p>
        </p:txBody>
      </p:sp>
      <p:sp>
        <p:nvSpPr>
          <p:cNvPr id="187" name="regs_560"/>
          <p:cNvSpPr/>
          <p:nvPr/>
        </p:nvSpPr>
        <p:spPr>
          <a:xfrm>
            <a:off x="5611660" y="10121030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text-188: 寄存器访问"/>
          <p:cNvSpPr txBox="1"/>
          <p:nvPr/>
        </p:nvSpPr>
        <p:spPr>
          <a:xfrm>
            <a:off x="4950286" y="1052426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89" name="regs_850"/>
          <p:cNvSpPr/>
          <p:nvPr/>
        </p:nvSpPr>
        <p:spPr>
          <a:xfrm>
            <a:off x="8517699" y="10121030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text-190: 寄存器访问"/>
          <p:cNvSpPr txBox="1"/>
          <p:nvPr/>
        </p:nvSpPr>
        <p:spPr>
          <a:xfrm>
            <a:off x="7856324" y="1052426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1" name="regs_1140"/>
          <p:cNvSpPr/>
          <p:nvPr/>
        </p:nvSpPr>
        <p:spPr>
          <a:xfrm>
            <a:off x="11423737" y="10121030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text-192: 寄存器访问"/>
          <p:cNvSpPr txBox="1"/>
          <p:nvPr/>
        </p:nvSpPr>
        <p:spPr>
          <a:xfrm>
            <a:off x="10762363" y="1052426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3" name="regs_1430"/>
          <p:cNvSpPr/>
          <p:nvPr/>
        </p:nvSpPr>
        <p:spPr>
          <a:xfrm>
            <a:off x="14329775" y="10121030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text-194: 寄存器访问"/>
          <p:cNvSpPr txBox="1"/>
          <p:nvPr/>
        </p:nvSpPr>
        <p:spPr>
          <a:xfrm>
            <a:off x="13668401" y="1052426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5" name="vector_helpers"/>
          <p:cNvSpPr/>
          <p:nvPr/>
        </p:nvSpPr>
        <p:spPr>
          <a:xfrm>
            <a:off x="17235814" y="3106455"/>
            <a:ext cx="1" cy="1302707"/>
          </a:xfrm>
          <a:custGeom>
            <a:avLst/>
            <a:gdLst/>
            <a:ahLst/>
            <a:cxnLst/>
            <a:rect l="0" t="0" r="r" b="b"/>
            <a:pathLst>
              <a:path w="1" h="1302707" fill="none">
                <a:moveTo>
                  <a:pt x="0" y="0"/>
                </a:moveTo>
                <a:lnTo>
                  <a:pt x="0" y="1302707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text-196: 调用"/>
          <p:cNvSpPr txBox="1"/>
          <p:nvPr/>
        </p:nvSpPr>
        <p:spPr>
          <a:xfrm>
            <a:off x="17305959" y="3880463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97" name="vector_kernel"/>
          <p:cNvSpPr/>
          <p:nvPr/>
        </p:nvSpPr>
        <p:spPr>
          <a:xfrm>
            <a:off x="17235814" y="5511452"/>
            <a:ext cx="1" cy="901874"/>
          </a:xfrm>
          <a:custGeom>
            <a:avLst/>
            <a:gdLst/>
            <a:ahLst/>
            <a:cxnLst/>
            <a:rect l="0" t="0" r="r" b="b"/>
            <a:pathLst>
              <a:path w="1" h="901874" fill="none">
                <a:moveTo>
                  <a:pt x="0" y="0"/>
                </a:moveTo>
                <a:lnTo>
                  <a:pt x="0" y="901874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text-198: 执行内核"/>
          <p:cNvSpPr txBox="1"/>
          <p:nvPr/>
        </p:nvSpPr>
        <p:spPr>
          <a:xfrm>
            <a:off x="17215772" y="5794440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执行内核</a:t>
            </a:r>
          </a:p>
        </p:txBody>
      </p:sp>
      <p:sp>
        <p:nvSpPr>
          <p:cNvPr id="199" name="rvv_execute"/>
          <p:cNvSpPr/>
          <p:nvPr/>
        </p:nvSpPr>
        <p:spPr>
          <a:xfrm>
            <a:off x="18538521" y="7114784"/>
            <a:ext cx="220458" cy="7114784"/>
          </a:xfrm>
          <a:custGeom>
            <a:avLst/>
            <a:gdLst/>
            <a:ahLst/>
            <a:cxnLst/>
            <a:rect l="0" t="0" r="r" b="b"/>
            <a:pathLst>
              <a:path w="220458" h="7114784" fill="none">
                <a:moveTo>
                  <a:pt x="0" y="0"/>
                </a:moveTo>
                <a:lnTo>
                  <a:pt x="220458" y="0"/>
                </a:lnTo>
                <a:lnTo>
                  <a:pt x="220458" y="7114784"/>
                </a:lnTo>
                <a:lnTo>
                  <a:pt x="0" y="7114784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text-200: RVV 指令执行 →"/>
          <p:cNvSpPr txBox="1"/>
          <p:nvPr/>
        </p:nvSpPr>
        <p:spPr>
          <a:xfrm>
            <a:off x="16534356" y="8419896"/>
            <a:ext cx="189531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RVV 指令执行 →</a:t>
            </a:r>
          </a:p>
        </p:txBody>
      </p:sp>
      <p:sp>
        <p:nvSpPr>
          <p:cNvPr id="201" name="csr_use"/>
          <p:cNvSpPr/>
          <p:nvPr/>
        </p:nvSpPr>
        <p:spPr>
          <a:xfrm>
            <a:off x="17235814" y="7816241"/>
            <a:ext cx="1" cy="3507288"/>
          </a:xfrm>
          <a:custGeom>
            <a:avLst/>
            <a:gdLst/>
            <a:ahLst/>
            <a:cxnLst/>
            <a:rect l="0" t="0" r="r" b="b"/>
            <a:pathLst>
              <a:path w="1" h="3507288" fill="none">
                <a:moveTo>
                  <a:pt x="0" y="0"/>
                </a:moveTo>
                <a:lnTo>
                  <a:pt x="0" y="3507288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text-202: CSR / 屏障调用"/>
          <p:cNvSpPr txBox="1"/>
          <p:nvPr/>
        </p:nvSpPr>
        <p:spPr>
          <a:xfrm>
            <a:off x="17456272" y="10253706"/>
            <a:ext cx="174558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CSR / 屏障调用</a:t>
            </a:r>
          </a:p>
        </p:txBody>
      </p:sp>
      <p:sp>
        <p:nvSpPr>
          <p:cNvPr id="203" name="csr_execute"/>
          <p:cNvSpPr/>
          <p:nvPr/>
        </p:nvSpPr>
        <p:spPr>
          <a:xfrm>
            <a:off x="17235814" y="12576132"/>
            <a:ext cx="1" cy="1152395"/>
          </a:xfrm>
          <a:custGeom>
            <a:avLst/>
            <a:gdLst/>
            <a:ahLst/>
            <a:cxnLst/>
            <a:rect l="0" t="0" r="r" b="b"/>
            <a:pathLst>
              <a:path w="1" h="1152395" fill="none">
                <a:moveTo>
                  <a:pt x="0" y="0"/>
                </a:moveTo>
                <a:lnTo>
                  <a:pt x="0" y="1152395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text-204: CSR / fence 指令"/>
          <p:cNvSpPr txBox="1"/>
          <p:nvPr/>
        </p:nvSpPr>
        <p:spPr>
          <a:xfrm>
            <a:off x="16464782" y="13169765"/>
            <a:ext cx="1942896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CSR / fence 指令</a:t>
            </a:r>
          </a:p>
        </p:txBody>
      </p:sp>
      <p:sp>
        <p:nvSpPr>
          <p:cNvPr id="205" name="mmio_access"/>
          <p:cNvSpPr/>
          <p:nvPr/>
        </p:nvSpPr>
        <p:spPr>
          <a:xfrm>
            <a:off x="9920614" y="12576132"/>
            <a:ext cx="1" cy="1152395"/>
          </a:xfrm>
          <a:custGeom>
            <a:avLst/>
            <a:gdLst/>
            <a:ahLst/>
            <a:cxnLst/>
            <a:rect l="0" t="0" r="r" b="b"/>
            <a:pathLst>
              <a:path w="1" h="1152395" fill="none">
                <a:moveTo>
                  <a:pt x="0" y="0"/>
                </a:moveTo>
                <a:lnTo>
                  <a:pt x="0" y="1152395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text-206: load / store"/>
          <p:cNvSpPr txBox="1"/>
          <p:nvPr/>
        </p:nvSpPr>
        <p:spPr>
          <a:xfrm>
            <a:off x="10306728" y="13300036"/>
            <a:ext cx="143235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load / store</a:t>
            </a:r>
          </a:p>
        </p:txBody>
      </p:sp>
      <p:sp>
        <p:nvSpPr>
          <p:cNvPr id="207" name="bus_transaction"/>
          <p:cNvSpPr/>
          <p:nvPr/>
        </p:nvSpPr>
        <p:spPr>
          <a:xfrm>
            <a:off x="9920614" y="14880921"/>
            <a:ext cx="1" cy="851770"/>
          </a:xfrm>
          <a:custGeom>
            <a:avLst/>
            <a:gdLst/>
            <a:ahLst/>
            <a:cxnLst/>
            <a:rect l="0" t="0" r="r" b="b"/>
            <a:pathLst>
              <a:path w="1" h="851770" fill="none">
                <a:moveTo>
                  <a:pt x="0" y="0"/>
                </a:moveTo>
                <a:lnTo>
                  <a:pt x="0" y="851770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text-208: 寄存器事务 / 事件"/>
          <p:cNvSpPr txBox="1"/>
          <p:nvPr/>
        </p:nvSpPr>
        <p:spPr>
          <a:xfrm>
            <a:off x="10128953" y="15203992"/>
            <a:ext cx="198831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寄存器事务 / 事件</a:t>
            </a:r>
          </a:p>
        </p:txBody>
      </p:sp>
      <p:sp>
        <p:nvSpPr>
          <p:cNvPr id="209" name="core_instruction"/>
          <p:cNvSpPr/>
          <p:nvPr/>
        </p:nvSpPr>
        <p:spPr>
          <a:xfrm>
            <a:off x="17235814" y="14880921"/>
            <a:ext cx="1" cy="851770"/>
          </a:xfrm>
          <a:custGeom>
            <a:avLst/>
            <a:gdLst/>
            <a:ahLst/>
            <a:cxnLst/>
            <a:rect l="0" t="0" r="r" b="b"/>
            <a:pathLst>
              <a:path w="1" h="851770" fill="none">
                <a:moveTo>
                  <a:pt x="0" y="0"/>
                </a:moveTo>
                <a:lnTo>
                  <a:pt x="0" y="851770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text-210: 指令执行"/>
          <p:cNvSpPr txBox="1"/>
          <p:nvPr/>
        </p:nvSpPr>
        <p:spPr>
          <a:xfrm>
            <a:off x="17285918" y="15203992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211" name="rom_crt"/>
          <p:cNvSpPr/>
          <p:nvPr/>
        </p:nvSpPr>
        <p:spPr>
          <a:xfrm>
            <a:off x="21143934" y="3757808"/>
            <a:ext cx="1" cy="1453019"/>
          </a:xfrm>
          <a:custGeom>
            <a:avLst/>
            <a:gdLst/>
            <a:ahLst/>
            <a:cxnLst/>
            <a:rect l="0" t="0" r="r" b="b"/>
            <a:pathLst>
              <a:path w="1" h="1453019" fill="none">
                <a:moveTo>
                  <a:pt x="0" y="0"/>
                </a:moveTo>
                <a:lnTo>
                  <a:pt x="0" y="1453019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text-212: 裸机装载 / 进入"/>
          <p:cNvSpPr txBox="1"/>
          <p:nvPr/>
        </p:nvSpPr>
        <p:spPr>
          <a:xfrm>
            <a:off x="20260004" y="4341421"/>
            <a:ext cx="176786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裸机装载 / 进入</a:t>
            </a:r>
          </a:p>
        </p:txBody>
      </p:sp>
      <p:sp>
        <p:nvSpPr>
          <p:cNvPr id="213" name="crt_main"/>
          <p:cNvSpPr/>
          <p:nvPr/>
        </p:nvSpPr>
        <p:spPr>
          <a:xfrm>
            <a:off x="11724362" y="1773686"/>
            <a:ext cx="7916449" cy="4198724"/>
          </a:xfrm>
          <a:custGeom>
            <a:avLst/>
            <a:gdLst/>
            <a:ahLst/>
            <a:cxnLst/>
            <a:rect l="0" t="0" r="r" b="b"/>
            <a:pathLst>
              <a:path w="7916449" h="4198724" fill="none">
                <a:moveTo>
                  <a:pt x="7916449" y="4198724"/>
                </a:moveTo>
                <a:lnTo>
                  <a:pt x="7465512" y="4198724"/>
                </a:lnTo>
                <a:lnTo>
                  <a:pt x="7465512" y="0"/>
                </a:lnTo>
                <a:lnTo>
                  <a:pt x="0" y="0"/>
                </a:lnTo>
                <a:lnTo>
                  <a:pt x="0" y="430895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text-214: 初始化后进入 main"/>
          <p:cNvSpPr txBox="1"/>
          <p:nvPr/>
        </p:nvSpPr>
        <p:spPr>
          <a:xfrm>
            <a:off x="13965542" y="1475466"/>
            <a:ext cx="213138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初始化后进入 main</a:t>
            </a:r>
          </a:p>
        </p:txBody>
      </p:sp>
      <p:sp>
        <p:nvSpPr>
          <p:cNvPr id="215" name="rom_zsl"/>
          <p:cNvSpPr/>
          <p:nvPr/>
        </p:nvSpPr>
        <p:spPr>
          <a:xfrm>
            <a:off x="22647058" y="3006247"/>
            <a:ext cx="601249" cy="7966553"/>
          </a:xfrm>
          <a:custGeom>
            <a:avLst/>
            <a:gdLst/>
            <a:ahLst/>
            <a:cxnLst/>
            <a:rect l="0" t="0" r="r" b="b"/>
            <a:pathLst>
              <a:path w="601249" h="7966553" fill="none">
                <a:moveTo>
                  <a:pt x="0" y="0"/>
                </a:moveTo>
                <a:lnTo>
                  <a:pt x="601249" y="0"/>
                </a:lnTo>
                <a:lnTo>
                  <a:pt x="601249" y="7966553"/>
                </a:lnTo>
                <a:lnTo>
                  <a:pt x="0" y="7966553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text-216: OS 介质启动"/>
          <p:cNvSpPr txBox="1"/>
          <p:nvPr/>
        </p:nvSpPr>
        <p:spPr>
          <a:xfrm>
            <a:off x="21673691" y="9882936"/>
            <a:ext cx="1474407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OS 介质启动</a:t>
            </a:r>
          </a:p>
        </p:txBody>
      </p:sp>
      <p:sp>
        <p:nvSpPr>
          <p:cNvPr id="217" name="zsl_firmware"/>
          <p:cNvSpPr/>
          <p:nvPr/>
        </p:nvSpPr>
        <p:spPr>
          <a:xfrm>
            <a:off x="22647058" y="11173217"/>
            <a:ext cx="1302707" cy="1"/>
          </a:xfrm>
          <a:custGeom>
            <a:avLst/>
            <a:gdLst/>
            <a:ahLst/>
            <a:cxnLst/>
            <a:rect l="0" t="0" r="r" b="b"/>
            <a:pathLst>
              <a:path w="1302707" h="1" fill="none">
                <a:moveTo>
                  <a:pt x="0" y="0"/>
                </a:moveTo>
                <a:lnTo>
                  <a:pt x="1302707" y="0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text-218: 进入固件"/>
          <p:cNvSpPr txBox="1"/>
          <p:nvPr/>
        </p:nvSpPr>
        <p:spPr>
          <a:xfrm>
            <a:off x="22737245" y="11235747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进入固件</a:t>
            </a:r>
          </a:p>
        </p:txBody>
      </p:sp>
      <p:sp>
        <p:nvSpPr>
          <p:cNvPr id="219" name="sdk_build"/>
          <p:cNvSpPr/>
          <p:nvPr/>
        </p:nvSpPr>
        <p:spPr>
          <a:xfrm>
            <a:off x="26104241" y="4809995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text-220: 构建 / 打包 rootfs 与应用"/>
          <p:cNvSpPr txBox="1"/>
          <p:nvPr/>
        </p:nvSpPr>
        <p:spPr>
          <a:xfrm>
            <a:off x="24733862" y="5253316"/>
            <a:ext cx="2740757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构建 / 打包 rootfs 与应用</a:t>
            </a:r>
          </a:p>
        </p:txBody>
      </p:sp>
      <p:sp>
        <p:nvSpPr>
          <p:cNvPr id="221" name="syscall"/>
          <p:cNvSpPr/>
          <p:nvPr/>
        </p:nvSpPr>
        <p:spPr>
          <a:xfrm>
            <a:off x="26104241" y="7164888"/>
            <a:ext cx="1" cy="1002082"/>
          </a:xfrm>
          <a:custGeom>
            <a:avLst/>
            <a:gdLst/>
            <a:ahLst/>
            <a:cxnLst/>
            <a:rect l="0" t="0" r="r" b="b"/>
            <a:pathLst>
              <a:path w="1" h="1002082" fill="none">
                <a:moveTo>
                  <a:pt x="0" y="0"/>
                </a:moveTo>
                <a:lnTo>
                  <a:pt x="0" y="1002082"/>
                </a:lnTo>
              </a:path>
            </a:pathLst>
          </a:custGeom>
          <a:noFill/>
          <a:ln w="30062" cap="flat">
            <a:solidFill>
              <a:srgbClr val="69884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text-222: 系统调用"/>
          <p:cNvSpPr txBox="1"/>
          <p:nvPr/>
        </p:nvSpPr>
        <p:spPr>
          <a:xfrm>
            <a:off x="26204449" y="7518022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698847"/>
                </a:solidFill>
                <a:latin typeface="Microsoft YaHei"/>
                <a:ea typeface="Microsoft YaHei"/>
                <a:cs typeface="Microsoft YaHei"/>
              </a:rPr>
              <a:t>系统调用</a:t>
            </a:r>
          </a:p>
        </p:txBody>
      </p:sp>
      <p:sp>
        <p:nvSpPr>
          <p:cNvPr id="223" name="sbi"/>
          <p:cNvSpPr/>
          <p:nvPr/>
        </p:nvSpPr>
        <p:spPr>
          <a:xfrm>
            <a:off x="26104241" y="9569885"/>
            <a:ext cx="1" cy="1052186"/>
          </a:xfrm>
          <a:custGeom>
            <a:avLst/>
            <a:gdLst/>
            <a:ahLst/>
            <a:cxnLst/>
            <a:rect l="0" t="0" r="r" b="b"/>
            <a:pathLst>
              <a:path w="1" h="1052186" fill="none">
                <a:moveTo>
                  <a:pt x="0" y="0"/>
                </a:moveTo>
                <a:lnTo>
                  <a:pt x="0" y="1052186"/>
                </a:lnTo>
              </a:path>
            </a:pathLst>
          </a:custGeom>
          <a:noFill/>
          <a:ln w="30062" cap="flat">
            <a:solidFill>
              <a:srgbClr val="69884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text-224: SBI 调用"/>
          <p:cNvSpPr txBox="1"/>
          <p:nvPr/>
        </p:nvSpPr>
        <p:spPr>
          <a:xfrm>
            <a:off x="26227114" y="9923019"/>
            <a:ext cx="105696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698847"/>
                </a:solidFill>
                <a:latin typeface="Microsoft YaHei"/>
                <a:ea typeface="Microsoft YaHei"/>
                <a:cs typeface="Microsoft YaHei"/>
              </a:rPr>
              <a:t>SBI 调用</a:t>
            </a:r>
          </a:p>
        </p:txBody>
      </p:sp>
      <p:sp>
        <p:nvSpPr>
          <p:cNvPr id="225" name="payload"/>
          <p:cNvSpPr/>
          <p:nvPr/>
        </p:nvSpPr>
        <p:spPr>
          <a:xfrm>
            <a:off x="26104241" y="11774466"/>
            <a:ext cx="1" cy="1002082"/>
          </a:xfrm>
          <a:custGeom>
            <a:avLst/>
            <a:gdLst/>
            <a:ahLst/>
            <a:cxnLst/>
            <a:rect l="0" t="0" r="r" b="b"/>
            <a:pathLst>
              <a:path w="1" h="1002082" fill="none">
                <a:moveTo>
                  <a:pt x="0" y="0"/>
                </a:moveTo>
                <a:lnTo>
                  <a:pt x="0" y="1002082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text-226: 启动 payload"/>
          <p:cNvSpPr txBox="1"/>
          <p:nvPr/>
        </p:nvSpPr>
        <p:spPr>
          <a:xfrm>
            <a:off x="26075087" y="12147641"/>
            <a:ext cx="156143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启动 payload</a:t>
            </a:r>
          </a:p>
        </p:txBody>
      </p:sp>
      <p:sp>
        <p:nvSpPr>
          <p:cNvPr id="227" name="boot_linux"/>
          <p:cNvSpPr/>
          <p:nvPr/>
        </p:nvSpPr>
        <p:spPr>
          <a:xfrm>
            <a:off x="28358926" y="8888469"/>
            <a:ext cx="320666" cy="4439224"/>
          </a:xfrm>
          <a:custGeom>
            <a:avLst/>
            <a:gdLst/>
            <a:ahLst/>
            <a:cxnLst/>
            <a:rect l="0" t="0" r="r" b="b"/>
            <a:pathLst>
              <a:path w="320666" h="4439224" fill="none">
                <a:moveTo>
                  <a:pt x="0" y="4439224"/>
                </a:moveTo>
                <a:lnTo>
                  <a:pt x="320666" y="4439224"/>
                </a:lnTo>
                <a:lnTo>
                  <a:pt x="320666" y="0"/>
                </a:lnTo>
                <a:lnTo>
                  <a:pt x="0" y="0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text-228: 启动：ZSL → OpenSBI → U-Boot → Linux"/>
          <p:cNvSpPr txBox="1"/>
          <p:nvPr/>
        </p:nvSpPr>
        <p:spPr>
          <a:xfrm>
            <a:off x="24090909" y="14183472"/>
            <a:ext cx="4126872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启动：ZSL → OpenSBI → U-Boot → Linux</a:t>
            </a:r>
          </a:p>
        </p:txBody>
      </p:sp>
      <p:sp>
        <p:nvSpPr>
          <p:cNvPr id="229" name="text-229: 覆盖缺口：VGA / Serial Link 有寄存器头；未见同级完整 DIF/"/>
          <p:cNvSpPr txBox="1"/>
          <p:nvPr/>
        </p:nvSpPr>
        <p:spPr>
          <a:xfrm>
            <a:off x="4308953" y="17037001"/>
            <a:ext cx="990481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覆盖缺口：VGA / Serial Link 有寄存器头；未见同级完整 DIF/HAL。USB / CLIC 见源码索引。</a:t>
            </a:r>
          </a:p>
        </p:txBody>
      </p:sp>
      <p:sp>
        <p:nvSpPr>
          <p:cNvPr id="230" name="legend_call"/>
          <p:cNvSpPr/>
          <p:nvPr/>
        </p:nvSpPr>
        <p:spPr>
          <a:xfrm>
            <a:off x="350729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text-231: 函数调用"/>
          <p:cNvSpPr txBox="1"/>
          <p:nvPr/>
        </p:nvSpPr>
        <p:spPr>
          <a:xfrm>
            <a:off x="1102290" y="17568104"/>
            <a:ext cx="115239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函数调用</a:t>
            </a:r>
          </a:p>
        </p:txBody>
      </p:sp>
      <p:sp>
        <p:nvSpPr>
          <p:cNvPr id="232" name="legend_host"/>
          <p:cNvSpPr/>
          <p:nvPr/>
        </p:nvSpPr>
        <p:spPr>
          <a:xfrm>
            <a:off x="4409162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text-233: 构建 / 装载"/>
          <p:cNvSpPr txBox="1"/>
          <p:nvPr/>
        </p:nvSpPr>
        <p:spPr>
          <a:xfrm>
            <a:off x="5160723" y="17568104"/>
            <a:ext cx="1387273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构建 / 装载</a:t>
            </a:r>
          </a:p>
        </p:txBody>
      </p:sp>
      <p:sp>
        <p:nvSpPr>
          <p:cNvPr id="234" name="legend_device"/>
          <p:cNvSpPr/>
          <p:nvPr/>
        </p:nvSpPr>
        <p:spPr>
          <a:xfrm>
            <a:off x="9018740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text-235: 寄存器访问"/>
          <p:cNvSpPr txBox="1"/>
          <p:nvPr/>
        </p:nvSpPr>
        <p:spPr>
          <a:xfrm>
            <a:off x="9770301" y="17568104"/>
            <a:ext cx="1382873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236" name="legend_isa"/>
          <p:cNvSpPr/>
          <p:nvPr/>
        </p:nvSpPr>
        <p:spPr>
          <a:xfrm>
            <a:off x="14029151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text-237: 指令执行"/>
          <p:cNvSpPr txBox="1"/>
          <p:nvPr/>
        </p:nvSpPr>
        <p:spPr>
          <a:xfrm>
            <a:off x="14780712" y="17568104"/>
            <a:ext cx="115239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238" name="legend_start"/>
          <p:cNvSpPr/>
          <p:nvPr/>
        </p:nvSpPr>
        <p:spPr>
          <a:xfrm>
            <a:off x="19039562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text-239: 初始化 / 启动"/>
          <p:cNvSpPr txBox="1"/>
          <p:nvPr/>
        </p:nvSpPr>
        <p:spPr>
          <a:xfrm>
            <a:off x="19791123" y="17568104"/>
            <a:ext cx="1617752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初始化 / 启动</a:t>
            </a:r>
          </a:p>
        </p:txBody>
      </p:sp>
      <p:sp>
        <p:nvSpPr>
          <p:cNvPr id="240" name="legend_os"/>
          <p:cNvSpPr/>
          <p:nvPr/>
        </p:nvSpPr>
        <p:spPr>
          <a:xfrm>
            <a:off x="24551014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69884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text-241: OS 服务"/>
          <p:cNvSpPr txBox="1"/>
          <p:nvPr/>
        </p:nvSpPr>
        <p:spPr>
          <a:xfrm>
            <a:off x="25302575" y="17568104"/>
            <a:ext cx="108049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698847"/>
                </a:solidFill>
                <a:latin typeface="Microsoft YaHei"/>
                <a:ea typeface="Microsoft YaHei"/>
                <a:cs typeface="Microsoft YaHei"/>
              </a:rPr>
              <a:t>OS 服务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