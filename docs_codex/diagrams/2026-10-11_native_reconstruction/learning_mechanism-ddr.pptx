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02260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615188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928116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11094720" y="298704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 fill="none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928116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615188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7"/>
          <p:cNvSpPr/>
          <p:nvPr/>
        </p:nvSpPr>
        <p:spPr>
          <a:xfrm>
            <a:off x="302260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9: 一次 DDR 读：请求调度与返回数据分别穿过控制器"/>
          <p:cNvSpPr txBox="1"/>
          <p:nvPr/>
        </p:nvSpPr>
        <p:spPr>
          <a:xfrm>
            <a:off x="483616" y="271109"/>
            <a:ext cx="620877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DDR 读：请求调度与返回数据分别穿过控制器</a:t>
            </a:r>
          </a:p>
        </p:txBody>
      </p:sp>
      <p:sp>
        <p:nvSpPr>
          <p:cNvPr id="13" name="text-020: 通用原理图；地址位分配、bank 策略、队列容量与训练寄存器由实际供应商确定。"/>
          <p:cNvSpPr txBox="1"/>
          <p:nvPr/>
        </p:nvSpPr>
        <p:spPr>
          <a:xfrm>
            <a:off x="483616" y="676778"/>
            <a:ext cx="62567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通用原理图；地址位分配、bank 策略、队列容量与训练寄存器由实际供应商确定。</a:t>
            </a:r>
          </a:p>
        </p:txBody>
      </p:sp>
      <p:sp>
        <p:nvSpPr>
          <p:cNvPr id="14" name="text-021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2: 依据：DDR 控制器/PHY 通用职责；不表示固定周期，也不代表已完成 DDR "/>
          <p:cNvSpPr txBox="1"/>
          <p:nvPr/>
        </p:nvSpPr>
        <p:spPr>
          <a:xfrm>
            <a:off x="341376" y="7726477"/>
            <a:ext cx="541934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依据：DDR 控制器/PHY 通用职责；不表示固定周期，也不代表已完成 DDR 验证</a:t>
            </a:r>
          </a:p>
        </p:txBody>
      </p:sp>
      <p:sp>
        <p:nvSpPr>
          <p:cNvPr id="16" name="rect-023"/>
          <p:cNvSpPr/>
          <p:nvPr/>
        </p:nvSpPr>
        <p:spPr>
          <a:xfrm>
            <a:off x="39116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4"/>
          <p:cNvSpPr/>
          <p:nvPr/>
        </p:nvSpPr>
        <p:spPr>
          <a:xfrm>
            <a:off x="391160" y="174244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5: AXI AR 队列"/>
          <p:cNvSpPr txBox="1"/>
          <p:nvPr/>
        </p:nvSpPr>
        <p:spPr>
          <a:xfrm>
            <a:off x="512064" y="1770319"/>
            <a:ext cx="139608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AR 队列</a:t>
            </a:r>
          </a:p>
        </p:txBody>
      </p:sp>
      <p:sp>
        <p:nvSpPr>
          <p:cNvPr id="19" name="text-026: 保存地址 / ID / burst"/>
          <p:cNvSpPr txBox="1"/>
          <p:nvPr/>
        </p:nvSpPr>
        <p:spPr>
          <a:xfrm>
            <a:off x="512064" y="2049394"/>
            <a:ext cx="22000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保存地址 / ID / burst</a:t>
            </a:r>
          </a:p>
        </p:txBody>
      </p:sp>
      <p:sp>
        <p:nvSpPr>
          <p:cNvPr id="20" name="text-027: 接受 AR 只表示收下请求"/>
          <p:cNvSpPr txBox="1"/>
          <p:nvPr/>
        </p:nvSpPr>
        <p:spPr>
          <a:xfrm>
            <a:off x="512064" y="2262754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 AR 只表示收下请求</a:t>
            </a:r>
          </a:p>
        </p:txBody>
      </p:sp>
      <p:sp>
        <p:nvSpPr>
          <p:cNvPr id="21" name="rect-028"/>
          <p:cNvSpPr/>
          <p:nvPr/>
        </p:nvSpPr>
        <p:spPr>
          <a:xfrm>
            <a:off x="352044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9"/>
          <p:cNvSpPr/>
          <p:nvPr/>
        </p:nvSpPr>
        <p:spPr>
          <a:xfrm>
            <a:off x="3520440" y="174244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30: 映射 / 调度"/>
          <p:cNvSpPr txBox="1"/>
          <p:nvPr/>
        </p:nvSpPr>
        <p:spPr>
          <a:xfrm>
            <a:off x="3641344" y="1770319"/>
            <a:ext cx="12851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映射 / 调度</a:t>
            </a:r>
          </a:p>
        </p:txBody>
      </p:sp>
      <p:sp>
        <p:nvSpPr>
          <p:cNvPr id="24" name="text-031: bank / row / column"/>
          <p:cNvSpPr txBox="1"/>
          <p:nvPr/>
        </p:nvSpPr>
        <p:spPr>
          <a:xfrm>
            <a:off x="3641344" y="2049394"/>
            <a:ext cx="218374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 column</a:t>
            </a:r>
          </a:p>
        </p:txBody>
      </p:sp>
      <p:sp>
        <p:nvSpPr>
          <p:cNvPr id="25" name="text-032: 处理行命中、冲突、刷新"/>
          <p:cNvSpPr txBox="1"/>
          <p:nvPr/>
        </p:nvSpPr>
        <p:spPr>
          <a:xfrm>
            <a:off x="3641344" y="226275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处理行命中、冲突、刷新</a:t>
            </a:r>
          </a:p>
        </p:txBody>
      </p:sp>
      <p:sp>
        <p:nvSpPr>
          <p:cNvPr id="26" name="rect-033"/>
          <p:cNvSpPr/>
          <p:nvPr/>
        </p:nvSpPr>
        <p:spPr>
          <a:xfrm>
            <a:off x="664972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4"/>
          <p:cNvSpPr/>
          <p:nvPr/>
        </p:nvSpPr>
        <p:spPr>
          <a:xfrm>
            <a:off x="6649720" y="174244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5: PHY 命令接口"/>
          <p:cNvSpPr txBox="1"/>
          <p:nvPr/>
        </p:nvSpPr>
        <p:spPr>
          <a:xfrm>
            <a:off x="6770624" y="177031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命令接口</a:t>
            </a:r>
          </a:p>
        </p:txBody>
      </p:sp>
      <p:sp>
        <p:nvSpPr>
          <p:cNvPr id="29" name="text-036: ACT / READ / PRE"/>
          <p:cNvSpPr txBox="1"/>
          <p:nvPr/>
        </p:nvSpPr>
        <p:spPr>
          <a:xfrm>
            <a:off x="6770624" y="2049394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ACT / READ / PRE</a:t>
            </a:r>
          </a:p>
        </p:txBody>
      </p:sp>
      <p:sp>
        <p:nvSpPr>
          <p:cNvPr id="30" name="text-037: 满足器件命令时序"/>
          <p:cNvSpPr txBox="1"/>
          <p:nvPr/>
        </p:nvSpPr>
        <p:spPr>
          <a:xfrm>
            <a:off x="677062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满足器件命令时序</a:t>
            </a:r>
          </a:p>
        </p:txBody>
      </p:sp>
      <p:sp>
        <p:nvSpPr>
          <p:cNvPr id="31" name="rect-038"/>
          <p:cNvSpPr/>
          <p:nvPr/>
        </p:nvSpPr>
        <p:spPr>
          <a:xfrm>
            <a:off x="977900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9"/>
          <p:cNvSpPr/>
          <p:nvPr/>
        </p:nvSpPr>
        <p:spPr>
          <a:xfrm>
            <a:off x="9779000" y="174244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40: DRAM bank"/>
          <p:cNvSpPr txBox="1"/>
          <p:nvPr/>
        </p:nvSpPr>
        <p:spPr>
          <a:xfrm>
            <a:off x="9899904" y="177031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bank</a:t>
            </a:r>
          </a:p>
        </p:txBody>
      </p:sp>
      <p:sp>
        <p:nvSpPr>
          <p:cNvPr id="34" name="text-041: 开行 / 列读 / 刷新"/>
          <p:cNvSpPr txBox="1"/>
          <p:nvPr/>
        </p:nvSpPr>
        <p:spPr>
          <a:xfrm>
            <a:off x="9899904" y="2049394"/>
            <a:ext cx="17829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开行 / 列读 / 刷新</a:t>
            </a:r>
          </a:p>
        </p:txBody>
      </p:sp>
      <p:sp>
        <p:nvSpPr>
          <p:cNvPr id="35" name="text-042: 存储阵列输出数据"/>
          <p:cNvSpPr txBox="1"/>
          <p:nvPr/>
        </p:nvSpPr>
        <p:spPr>
          <a:xfrm>
            <a:off x="989990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存储阵列输出数据</a:t>
            </a:r>
          </a:p>
        </p:txBody>
      </p:sp>
      <p:sp>
        <p:nvSpPr>
          <p:cNvPr id="36" name="rect-043"/>
          <p:cNvSpPr/>
          <p:nvPr/>
        </p:nvSpPr>
        <p:spPr>
          <a:xfrm>
            <a:off x="39116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391160" y="448056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AXI R 通道"/>
          <p:cNvSpPr txBox="1"/>
          <p:nvPr/>
        </p:nvSpPr>
        <p:spPr>
          <a:xfrm>
            <a:off x="512064" y="450843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R 通道</a:t>
            </a:r>
          </a:p>
        </p:txBody>
      </p:sp>
      <p:sp>
        <p:nvSpPr>
          <p:cNvPr id="39" name="text-046: RID / RLAST / RESP"/>
          <p:cNvSpPr txBox="1"/>
          <p:nvPr/>
        </p:nvSpPr>
        <p:spPr>
          <a:xfrm>
            <a:off x="512064" y="4787514"/>
            <a:ext cx="207741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RID / RLAST / RESP</a:t>
            </a:r>
          </a:p>
        </p:txBody>
      </p:sp>
      <p:sp>
        <p:nvSpPr>
          <p:cNvPr id="40" name="text-047: RREADY 背压时保持数据"/>
          <p:cNvSpPr txBox="1"/>
          <p:nvPr/>
        </p:nvSpPr>
        <p:spPr>
          <a:xfrm>
            <a:off x="512064" y="5000874"/>
            <a:ext cx="20528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 背压时保持数据</a:t>
            </a:r>
          </a:p>
        </p:txBody>
      </p:sp>
      <p:sp>
        <p:nvSpPr>
          <p:cNvPr id="41" name="rect-048"/>
          <p:cNvSpPr/>
          <p:nvPr/>
        </p:nvSpPr>
        <p:spPr>
          <a:xfrm>
            <a:off x="352044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9"/>
          <p:cNvSpPr/>
          <p:nvPr/>
        </p:nvSpPr>
        <p:spPr>
          <a:xfrm>
            <a:off x="3520440" y="448056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50: 返回缓冲"/>
          <p:cNvSpPr txBox="1"/>
          <p:nvPr/>
        </p:nvSpPr>
        <p:spPr>
          <a:xfrm>
            <a:off x="3641344" y="45084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返回缓冲</a:t>
            </a:r>
          </a:p>
        </p:txBody>
      </p:sp>
      <p:sp>
        <p:nvSpPr>
          <p:cNvPr id="44" name="text-051: 按 AXI beat 重组"/>
          <p:cNvSpPr txBox="1"/>
          <p:nvPr/>
        </p:nvSpPr>
        <p:spPr>
          <a:xfrm>
            <a:off x="3641344" y="4787514"/>
            <a:ext cx="171754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 AXI beat 重组</a:t>
            </a:r>
          </a:p>
        </p:txBody>
      </p:sp>
      <p:sp>
        <p:nvSpPr>
          <p:cNvPr id="45" name="text-052: 与原事务 ID 对应"/>
          <p:cNvSpPr txBox="1"/>
          <p:nvPr/>
        </p:nvSpPr>
        <p:spPr>
          <a:xfrm>
            <a:off x="3641344" y="5000874"/>
            <a:ext cx="15703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与原事务 ID 对应</a:t>
            </a:r>
          </a:p>
        </p:txBody>
      </p:sp>
      <p:sp>
        <p:nvSpPr>
          <p:cNvPr id="46" name="rect-053"/>
          <p:cNvSpPr/>
          <p:nvPr/>
        </p:nvSpPr>
        <p:spPr>
          <a:xfrm>
            <a:off x="664972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54"/>
          <p:cNvSpPr/>
          <p:nvPr/>
        </p:nvSpPr>
        <p:spPr>
          <a:xfrm>
            <a:off x="6649720" y="448056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5: PHY 采样 / 对齐"/>
          <p:cNvSpPr txBox="1"/>
          <p:nvPr/>
        </p:nvSpPr>
        <p:spPr>
          <a:xfrm>
            <a:off x="6770624" y="450843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采样 / 对齐</a:t>
            </a:r>
          </a:p>
        </p:txBody>
      </p:sp>
      <p:sp>
        <p:nvSpPr>
          <p:cNvPr id="49" name="text-056: 训练确定采样关系"/>
          <p:cNvSpPr txBox="1"/>
          <p:nvPr/>
        </p:nvSpPr>
        <p:spPr>
          <a:xfrm>
            <a:off x="6770624" y="47875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训练确定采样关系</a:t>
            </a:r>
          </a:p>
        </p:txBody>
      </p:sp>
      <p:sp>
        <p:nvSpPr>
          <p:cNvPr id="50" name="text-057: DQ / DQS 转为内部数据"/>
          <p:cNvSpPr txBox="1"/>
          <p:nvPr/>
        </p:nvSpPr>
        <p:spPr>
          <a:xfrm>
            <a:off x="6770624" y="5000874"/>
            <a:ext cx="21019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 转为内部数据</a:t>
            </a:r>
          </a:p>
        </p:txBody>
      </p:sp>
      <p:sp>
        <p:nvSpPr>
          <p:cNvPr id="51" name="rect-058"/>
          <p:cNvSpPr/>
          <p:nvPr/>
        </p:nvSpPr>
        <p:spPr>
          <a:xfrm>
            <a:off x="977900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9"/>
          <p:cNvSpPr/>
          <p:nvPr/>
        </p:nvSpPr>
        <p:spPr>
          <a:xfrm>
            <a:off x="9779000" y="448056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60: DQ / DQS"/>
          <p:cNvSpPr txBox="1"/>
          <p:nvPr/>
        </p:nvSpPr>
        <p:spPr>
          <a:xfrm>
            <a:off x="9899904" y="450843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</a:t>
            </a:r>
          </a:p>
        </p:txBody>
      </p:sp>
      <p:sp>
        <p:nvSpPr>
          <p:cNvPr id="54" name="text-061: 器件返回读数据"/>
          <p:cNvSpPr txBox="1"/>
          <p:nvPr/>
        </p:nvSpPr>
        <p:spPr>
          <a:xfrm>
            <a:off x="9899904" y="47875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器件返回读数据</a:t>
            </a:r>
          </a:p>
        </p:txBody>
      </p:sp>
      <p:sp>
        <p:nvSpPr>
          <p:cNvPr id="55" name="text-062: 引脚电气时序"/>
          <p:cNvSpPr txBox="1"/>
          <p:nvPr/>
        </p:nvSpPr>
        <p:spPr>
          <a:xfrm>
            <a:off x="9899904" y="50008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引脚电气时序</a:t>
            </a:r>
          </a:p>
        </p:txBody>
      </p:sp>
      <p:sp>
        <p:nvSpPr>
          <p:cNvPr id="56" name="rect-063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64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65: 一次请求的延迟取决于多层状态"/>
          <p:cNvSpPr txBox="1"/>
          <p:nvPr/>
        </p:nvSpPr>
        <p:spPr>
          <a:xfrm>
            <a:off x="512064" y="642867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一次请求的延迟取决于多层状态</a:t>
            </a:r>
          </a:p>
        </p:txBody>
      </p:sp>
      <p:sp>
        <p:nvSpPr>
          <p:cNvPr id="59" name="text-066: 行命中可以省去换行操作；行冲突、刷新、仲裁、跨域队列和 R 背压都会改变 AXI"/>
          <p:cNvSpPr txBox="1"/>
          <p:nvPr/>
        </p:nvSpPr>
        <p:spPr>
          <a:xfrm>
            <a:off x="512064" y="6715435"/>
            <a:ext cx="73851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行命中可以省去换行操作；行冲突、刷新、仲裁、跨域队列和 R 背压都会改变 AXI 侧观察到的延迟。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