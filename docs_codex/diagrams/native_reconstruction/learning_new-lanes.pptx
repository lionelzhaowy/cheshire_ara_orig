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text-005: 64 位 AXI 数据拍中的 32 位寄存器访问"/>
          <p:cNvSpPr txBox="1"/>
          <p:nvPr/>
        </p:nvSpPr>
        <p:spPr>
          <a:xfrm>
            <a:off x="483616" y="271109"/>
            <a:ext cx="532546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64 位 AXI 数据拍中的 32 位寄存器访问</a:t>
            </a:r>
          </a:p>
        </p:txBody>
      </p:sp>
      <p:sp>
        <p:nvSpPr>
          <p:cNvPr id="6" name="text-006: 一个 64 位总线拍有 8 个字节 lane；地址、WSTRB、数据位置与读返回"/>
          <p:cNvSpPr txBox="1"/>
          <p:nvPr/>
        </p:nvSpPr>
        <p:spPr>
          <a:xfrm>
            <a:off x="483616" y="676778"/>
            <a:ext cx="68783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一个 64 位总线拍有 8 个字节 lane；地址、WSTRB、数据位置与读返回必须一致适配。</a:t>
            </a:r>
          </a:p>
        </p:txBody>
      </p:sp>
      <p:sp>
        <p:nvSpPr>
          <p:cNvPr id="7" name="text-007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8" name="text-008: 依据：AXI byte-lane 语义；cheshire_idma_wrap 与"/>
          <p:cNvSpPr txBox="1"/>
          <p:nvPr/>
        </p:nvSpPr>
        <p:spPr>
          <a:xfrm>
            <a:off x="341376" y="7726477"/>
            <a:ext cx="7311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 byte-lane 语义；cheshire_idma_wrap 与 idma_reg64_2d_reg_top 的当前接口差异</a:t>
            </a:r>
          </a:p>
        </p:txBody>
      </p:sp>
      <p:sp>
        <p:nvSpPr>
          <p:cNvPr id="9" name="text-009: 地址 +0：低 32 位有效"/>
          <p:cNvSpPr txBox="1"/>
          <p:nvPr/>
        </p:nvSpPr>
        <p:spPr>
          <a:xfrm>
            <a:off x="426720" y="1341892"/>
            <a:ext cx="2588412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地址 +0：低 32 位有效</a:t>
            </a:r>
          </a:p>
        </p:txBody>
      </p:sp>
      <p:sp>
        <p:nvSpPr>
          <p:cNvPr id="10" name="text-010: 地址 +4：高 32 位有效"/>
          <p:cNvSpPr txBox="1"/>
          <p:nvPr/>
        </p:nvSpPr>
        <p:spPr>
          <a:xfrm>
            <a:off x="426720" y="3511052"/>
            <a:ext cx="2588412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地址 +4：高 32 位有效</a:t>
            </a:r>
          </a:p>
        </p:txBody>
      </p:sp>
      <p:sp>
        <p:nvSpPr>
          <p:cNvPr id="11" name="rect-011"/>
          <p:cNvSpPr/>
          <p:nvPr/>
        </p:nvSpPr>
        <p:spPr>
          <a:xfrm>
            <a:off x="46228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462280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ane 0"/>
          <p:cNvSpPr txBox="1"/>
          <p:nvPr/>
        </p:nvSpPr>
        <p:spPr>
          <a:xfrm>
            <a:off x="583184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14" name="text-014: bit 7:0"/>
          <p:cNvSpPr txBox="1"/>
          <p:nvPr/>
        </p:nvSpPr>
        <p:spPr>
          <a:xfrm>
            <a:off x="583184" y="2156074"/>
            <a:ext cx="9078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15" name="text-015: STRB[0] = 1"/>
          <p:cNvSpPr txBox="1"/>
          <p:nvPr/>
        </p:nvSpPr>
        <p:spPr>
          <a:xfrm>
            <a:off x="583184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1</a:t>
            </a:r>
          </a:p>
        </p:txBody>
      </p:sp>
      <p:sp>
        <p:nvSpPr>
          <p:cNvPr id="16" name="text-016: 有效字节"/>
          <p:cNvSpPr txBox="1"/>
          <p:nvPr/>
        </p:nvSpPr>
        <p:spPr>
          <a:xfrm>
            <a:off x="583184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7" name="rect-017"/>
          <p:cNvSpPr/>
          <p:nvPr/>
        </p:nvSpPr>
        <p:spPr>
          <a:xfrm>
            <a:off x="194868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1948688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lane 1"/>
          <p:cNvSpPr txBox="1"/>
          <p:nvPr/>
        </p:nvSpPr>
        <p:spPr>
          <a:xfrm>
            <a:off x="2069592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20" name="text-020: bit 15:8"/>
          <p:cNvSpPr txBox="1"/>
          <p:nvPr/>
        </p:nvSpPr>
        <p:spPr>
          <a:xfrm>
            <a:off x="2069592" y="2156074"/>
            <a:ext cx="10141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21" name="text-021: STRB[1] = 1"/>
          <p:cNvSpPr txBox="1"/>
          <p:nvPr/>
        </p:nvSpPr>
        <p:spPr>
          <a:xfrm>
            <a:off x="2069592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1</a:t>
            </a:r>
          </a:p>
        </p:txBody>
      </p:sp>
      <p:sp>
        <p:nvSpPr>
          <p:cNvPr id="22" name="text-022: 有效字节"/>
          <p:cNvSpPr txBox="1"/>
          <p:nvPr/>
        </p:nvSpPr>
        <p:spPr>
          <a:xfrm>
            <a:off x="2069592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3" name="rect-023"/>
          <p:cNvSpPr/>
          <p:nvPr/>
        </p:nvSpPr>
        <p:spPr>
          <a:xfrm>
            <a:off x="343509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3435096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ane 2"/>
          <p:cNvSpPr txBox="1"/>
          <p:nvPr/>
        </p:nvSpPr>
        <p:spPr>
          <a:xfrm>
            <a:off x="3556000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26" name="text-026: bit 23:16"/>
          <p:cNvSpPr txBox="1"/>
          <p:nvPr/>
        </p:nvSpPr>
        <p:spPr>
          <a:xfrm>
            <a:off x="3556000" y="21560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27" name="text-027: STRB[2] = 1"/>
          <p:cNvSpPr txBox="1"/>
          <p:nvPr/>
        </p:nvSpPr>
        <p:spPr>
          <a:xfrm>
            <a:off x="3556000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1</a:t>
            </a:r>
          </a:p>
        </p:txBody>
      </p:sp>
      <p:sp>
        <p:nvSpPr>
          <p:cNvPr id="28" name="text-028: 有效字节"/>
          <p:cNvSpPr txBox="1"/>
          <p:nvPr/>
        </p:nvSpPr>
        <p:spPr>
          <a:xfrm>
            <a:off x="3556000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9" name="rect-029"/>
          <p:cNvSpPr/>
          <p:nvPr/>
        </p:nvSpPr>
        <p:spPr>
          <a:xfrm>
            <a:off x="4921504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4921504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ane 3"/>
          <p:cNvSpPr txBox="1"/>
          <p:nvPr/>
        </p:nvSpPr>
        <p:spPr>
          <a:xfrm>
            <a:off x="5042408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32" name="text-032: bit 31:24"/>
          <p:cNvSpPr txBox="1"/>
          <p:nvPr/>
        </p:nvSpPr>
        <p:spPr>
          <a:xfrm>
            <a:off x="5042408" y="21560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33" name="text-033: STRB[3] = 1"/>
          <p:cNvSpPr txBox="1"/>
          <p:nvPr/>
        </p:nvSpPr>
        <p:spPr>
          <a:xfrm>
            <a:off x="5042408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1</a:t>
            </a:r>
          </a:p>
        </p:txBody>
      </p:sp>
      <p:sp>
        <p:nvSpPr>
          <p:cNvPr id="34" name="text-034: 有效字节"/>
          <p:cNvSpPr txBox="1"/>
          <p:nvPr/>
        </p:nvSpPr>
        <p:spPr>
          <a:xfrm>
            <a:off x="5042408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5" name="rect-035"/>
          <p:cNvSpPr/>
          <p:nvPr/>
        </p:nvSpPr>
        <p:spPr>
          <a:xfrm>
            <a:off x="6407912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6407912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lane 4"/>
          <p:cNvSpPr txBox="1"/>
          <p:nvPr/>
        </p:nvSpPr>
        <p:spPr>
          <a:xfrm>
            <a:off x="6528816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38" name="text-038: bit 39:32"/>
          <p:cNvSpPr txBox="1"/>
          <p:nvPr/>
        </p:nvSpPr>
        <p:spPr>
          <a:xfrm>
            <a:off x="6528816" y="21560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39" name="text-039: STRB[4] = 0"/>
          <p:cNvSpPr txBox="1"/>
          <p:nvPr/>
        </p:nvSpPr>
        <p:spPr>
          <a:xfrm>
            <a:off x="6528816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0</a:t>
            </a:r>
          </a:p>
        </p:txBody>
      </p:sp>
      <p:sp>
        <p:nvSpPr>
          <p:cNvPr id="40" name="text-040: 不写入"/>
          <p:cNvSpPr txBox="1"/>
          <p:nvPr/>
        </p:nvSpPr>
        <p:spPr>
          <a:xfrm>
            <a:off x="6528816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1" name="rect-041"/>
          <p:cNvSpPr/>
          <p:nvPr/>
        </p:nvSpPr>
        <p:spPr>
          <a:xfrm>
            <a:off x="789432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7894320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ane 5"/>
          <p:cNvSpPr txBox="1"/>
          <p:nvPr/>
        </p:nvSpPr>
        <p:spPr>
          <a:xfrm>
            <a:off x="8015224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44" name="text-044: bit 47:40"/>
          <p:cNvSpPr txBox="1"/>
          <p:nvPr/>
        </p:nvSpPr>
        <p:spPr>
          <a:xfrm>
            <a:off x="8015224" y="21560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45" name="text-045: STRB[5] = 0"/>
          <p:cNvSpPr txBox="1"/>
          <p:nvPr/>
        </p:nvSpPr>
        <p:spPr>
          <a:xfrm>
            <a:off x="8015224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0</a:t>
            </a:r>
          </a:p>
        </p:txBody>
      </p:sp>
      <p:sp>
        <p:nvSpPr>
          <p:cNvPr id="46" name="text-046: 不写入"/>
          <p:cNvSpPr txBox="1"/>
          <p:nvPr/>
        </p:nvSpPr>
        <p:spPr>
          <a:xfrm>
            <a:off x="8015224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7" name="rect-047"/>
          <p:cNvSpPr/>
          <p:nvPr/>
        </p:nvSpPr>
        <p:spPr>
          <a:xfrm>
            <a:off x="938072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8"/>
          <p:cNvSpPr/>
          <p:nvPr/>
        </p:nvSpPr>
        <p:spPr>
          <a:xfrm>
            <a:off x="9380728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lane 6"/>
          <p:cNvSpPr txBox="1"/>
          <p:nvPr/>
        </p:nvSpPr>
        <p:spPr>
          <a:xfrm>
            <a:off x="9501632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50" name="text-050: bit 55:48"/>
          <p:cNvSpPr txBox="1"/>
          <p:nvPr/>
        </p:nvSpPr>
        <p:spPr>
          <a:xfrm>
            <a:off x="9501632" y="21560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51" name="text-051: STRB[6] = 0"/>
          <p:cNvSpPr txBox="1"/>
          <p:nvPr/>
        </p:nvSpPr>
        <p:spPr>
          <a:xfrm>
            <a:off x="9501632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0</a:t>
            </a:r>
          </a:p>
        </p:txBody>
      </p:sp>
      <p:sp>
        <p:nvSpPr>
          <p:cNvPr id="52" name="text-052: 不写入"/>
          <p:cNvSpPr txBox="1"/>
          <p:nvPr/>
        </p:nvSpPr>
        <p:spPr>
          <a:xfrm>
            <a:off x="9501632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3" name="rect-053"/>
          <p:cNvSpPr/>
          <p:nvPr/>
        </p:nvSpPr>
        <p:spPr>
          <a:xfrm>
            <a:off x="1086713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4"/>
          <p:cNvSpPr/>
          <p:nvPr/>
        </p:nvSpPr>
        <p:spPr>
          <a:xfrm>
            <a:off x="10867136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lane 7"/>
          <p:cNvSpPr txBox="1"/>
          <p:nvPr/>
        </p:nvSpPr>
        <p:spPr>
          <a:xfrm>
            <a:off x="10988040" y="187699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56" name="text-056: bit 63:56"/>
          <p:cNvSpPr txBox="1"/>
          <p:nvPr/>
        </p:nvSpPr>
        <p:spPr>
          <a:xfrm>
            <a:off x="10988040" y="215607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57" name="text-057: STRB[7] = 0"/>
          <p:cNvSpPr txBox="1"/>
          <p:nvPr/>
        </p:nvSpPr>
        <p:spPr>
          <a:xfrm>
            <a:off x="10988040" y="236943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0</a:t>
            </a:r>
          </a:p>
        </p:txBody>
      </p:sp>
      <p:sp>
        <p:nvSpPr>
          <p:cNvPr id="58" name="text-058: 不写入"/>
          <p:cNvSpPr txBox="1"/>
          <p:nvPr/>
        </p:nvSpPr>
        <p:spPr>
          <a:xfrm>
            <a:off x="10988040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9" name="text-059: WSTRB = 0x0F；WDATA[31:0] = value"/>
          <p:cNvSpPr txBox="1"/>
          <p:nvPr/>
        </p:nvSpPr>
        <p:spPr>
          <a:xfrm>
            <a:off x="533400" y="3157159"/>
            <a:ext cx="40958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WSTRB = 0x0F；WDATA[31:0] = value</a:t>
            </a:r>
          </a:p>
        </p:txBody>
      </p:sp>
      <p:sp>
        <p:nvSpPr>
          <p:cNvPr id="60" name="rect-060"/>
          <p:cNvSpPr/>
          <p:nvPr/>
        </p:nvSpPr>
        <p:spPr>
          <a:xfrm>
            <a:off x="46228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462280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lane 0"/>
          <p:cNvSpPr txBox="1"/>
          <p:nvPr/>
        </p:nvSpPr>
        <p:spPr>
          <a:xfrm>
            <a:off x="583184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63" name="text-063: bit 7:0"/>
          <p:cNvSpPr txBox="1"/>
          <p:nvPr/>
        </p:nvSpPr>
        <p:spPr>
          <a:xfrm>
            <a:off x="583184" y="4325234"/>
            <a:ext cx="9078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64" name="text-064: STRB[0] = 0"/>
          <p:cNvSpPr txBox="1"/>
          <p:nvPr/>
        </p:nvSpPr>
        <p:spPr>
          <a:xfrm>
            <a:off x="583184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0</a:t>
            </a:r>
          </a:p>
        </p:txBody>
      </p:sp>
      <p:sp>
        <p:nvSpPr>
          <p:cNvPr id="65" name="text-065: 不写入"/>
          <p:cNvSpPr txBox="1"/>
          <p:nvPr/>
        </p:nvSpPr>
        <p:spPr>
          <a:xfrm>
            <a:off x="583184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6" name="rect-066"/>
          <p:cNvSpPr/>
          <p:nvPr/>
        </p:nvSpPr>
        <p:spPr>
          <a:xfrm>
            <a:off x="194868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7"/>
          <p:cNvSpPr/>
          <p:nvPr/>
        </p:nvSpPr>
        <p:spPr>
          <a:xfrm>
            <a:off x="1948688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lane 1"/>
          <p:cNvSpPr txBox="1"/>
          <p:nvPr/>
        </p:nvSpPr>
        <p:spPr>
          <a:xfrm>
            <a:off x="2069592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69" name="text-069: bit 15:8"/>
          <p:cNvSpPr txBox="1"/>
          <p:nvPr/>
        </p:nvSpPr>
        <p:spPr>
          <a:xfrm>
            <a:off x="2069592" y="4325234"/>
            <a:ext cx="10141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70" name="text-070: STRB[1] = 0"/>
          <p:cNvSpPr txBox="1"/>
          <p:nvPr/>
        </p:nvSpPr>
        <p:spPr>
          <a:xfrm>
            <a:off x="2069592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0</a:t>
            </a:r>
          </a:p>
        </p:txBody>
      </p:sp>
      <p:sp>
        <p:nvSpPr>
          <p:cNvPr id="71" name="text-071: 不写入"/>
          <p:cNvSpPr txBox="1"/>
          <p:nvPr/>
        </p:nvSpPr>
        <p:spPr>
          <a:xfrm>
            <a:off x="2069592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2" name="rect-072"/>
          <p:cNvSpPr/>
          <p:nvPr/>
        </p:nvSpPr>
        <p:spPr>
          <a:xfrm>
            <a:off x="343509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3"/>
          <p:cNvSpPr/>
          <p:nvPr/>
        </p:nvSpPr>
        <p:spPr>
          <a:xfrm>
            <a:off x="3435096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lane 2"/>
          <p:cNvSpPr txBox="1"/>
          <p:nvPr/>
        </p:nvSpPr>
        <p:spPr>
          <a:xfrm>
            <a:off x="3556000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75" name="text-075: bit 23:16"/>
          <p:cNvSpPr txBox="1"/>
          <p:nvPr/>
        </p:nvSpPr>
        <p:spPr>
          <a:xfrm>
            <a:off x="3556000" y="43252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76" name="text-076: STRB[2] = 0"/>
          <p:cNvSpPr txBox="1"/>
          <p:nvPr/>
        </p:nvSpPr>
        <p:spPr>
          <a:xfrm>
            <a:off x="3556000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0</a:t>
            </a:r>
          </a:p>
        </p:txBody>
      </p:sp>
      <p:sp>
        <p:nvSpPr>
          <p:cNvPr id="77" name="text-077: 不写入"/>
          <p:cNvSpPr txBox="1"/>
          <p:nvPr/>
        </p:nvSpPr>
        <p:spPr>
          <a:xfrm>
            <a:off x="3556000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8" name="rect-078"/>
          <p:cNvSpPr/>
          <p:nvPr/>
        </p:nvSpPr>
        <p:spPr>
          <a:xfrm>
            <a:off x="4921504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-079"/>
          <p:cNvSpPr/>
          <p:nvPr/>
        </p:nvSpPr>
        <p:spPr>
          <a:xfrm>
            <a:off x="4921504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lane 3"/>
          <p:cNvSpPr txBox="1"/>
          <p:nvPr/>
        </p:nvSpPr>
        <p:spPr>
          <a:xfrm>
            <a:off x="5042408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81" name="text-081: bit 31:24"/>
          <p:cNvSpPr txBox="1"/>
          <p:nvPr/>
        </p:nvSpPr>
        <p:spPr>
          <a:xfrm>
            <a:off x="5042408" y="43252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82" name="text-082: STRB[3] = 0"/>
          <p:cNvSpPr txBox="1"/>
          <p:nvPr/>
        </p:nvSpPr>
        <p:spPr>
          <a:xfrm>
            <a:off x="5042408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0</a:t>
            </a:r>
          </a:p>
        </p:txBody>
      </p:sp>
      <p:sp>
        <p:nvSpPr>
          <p:cNvPr id="83" name="text-083: 不写入"/>
          <p:cNvSpPr txBox="1"/>
          <p:nvPr/>
        </p:nvSpPr>
        <p:spPr>
          <a:xfrm>
            <a:off x="5042408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84" name="rect-084"/>
          <p:cNvSpPr/>
          <p:nvPr/>
        </p:nvSpPr>
        <p:spPr>
          <a:xfrm>
            <a:off x="6407912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-085"/>
          <p:cNvSpPr/>
          <p:nvPr/>
        </p:nvSpPr>
        <p:spPr>
          <a:xfrm>
            <a:off x="6407912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lane 4"/>
          <p:cNvSpPr txBox="1"/>
          <p:nvPr/>
        </p:nvSpPr>
        <p:spPr>
          <a:xfrm>
            <a:off x="6528816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87" name="text-087: bit 39:32"/>
          <p:cNvSpPr txBox="1"/>
          <p:nvPr/>
        </p:nvSpPr>
        <p:spPr>
          <a:xfrm>
            <a:off x="6528816" y="43252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88" name="text-088: STRB[4] = 1"/>
          <p:cNvSpPr txBox="1"/>
          <p:nvPr/>
        </p:nvSpPr>
        <p:spPr>
          <a:xfrm>
            <a:off x="6528816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1</a:t>
            </a:r>
          </a:p>
        </p:txBody>
      </p:sp>
      <p:sp>
        <p:nvSpPr>
          <p:cNvPr id="89" name="text-089: 有效字节"/>
          <p:cNvSpPr txBox="1"/>
          <p:nvPr/>
        </p:nvSpPr>
        <p:spPr>
          <a:xfrm>
            <a:off x="6528816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0" name="rect-090"/>
          <p:cNvSpPr/>
          <p:nvPr/>
        </p:nvSpPr>
        <p:spPr>
          <a:xfrm>
            <a:off x="789432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091"/>
          <p:cNvSpPr/>
          <p:nvPr/>
        </p:nvSpPr>
        <p:spPr>
          <a:xfrm>
            <a:off x="7894320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lane 5"/>
          <p:cNvSpPr txBox="1"/>
          <p:nvPr/>
        </p:nvSpPr>
        <p:spPr>
          <a:xfrm>
            <a:off x="8015224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93" name="text-093: bit 47:40"/>
          <p:cNvSpPr txBox="1"/>
          <p:nvPr/>
        </p:nvSpPr>
        <p:spPr>
          <a:xfrm>
            <a:off x="8015224" y="43252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94" name="text-094: STRB[5] = 1"/>
          <p:cNvSpPr txBox="1"/>
          <p:nvPr/>
        </p:nvSpPr>
        <p:spPr>
          <a:xfrm>
            <a:off x="8015224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1</a:t>
            </a:r>
          </a:p>
        </p:txBody>
      </p:sp>
      <p:sp>
        <p:nvSpPr>
          <p:cNvPr id="95" name="text-095: 有效字节"/>
          <p:cNvSpPr txBox="1"/>
          <p:nvPr/>
        </p:nvSpPr>
        <p:spPr>
          <a:xfrm>
            <a:off x="8015224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6" name="rect-096"/>
          <p:cNvSpPr/>
          <p:nvPr/>
        </p:nvSpPr>
        <p:spPr>
          <a:xfrm>
            <a:off x="938072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-097"/>
          <p:cNvSpPr/>
          <p:nvPr/>
        </p:nvSpPr>
        <p:spPr>
          <a:xfrm>
            <a:off x="9380728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lane 6"/>
          <p:cNvSpPr txBox="1"/>
          <p:nvPr/>
        </p:nvSpPr>
        <p:spPr>
          <a:xfrm>
            <a:off x="9501632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99" name="text-099: bit 55:48"/>
          <p:cNvSpPr txBox="1"/>
          <p:nvPr/>
        </p:nvSpPr>
        <p:spPr>
          <a:xfrm>
            <a:off x="9501632" y="43252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100" name="text-100: STRB[6] = 1"/>
          <p:cNvSpPr txBox="1"/>
          <p:nvPr/>
        </p:nvSpPr>
        <p:spPr>
          <a:xfrm>
            <a:off x="9501632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1</a:t>
            </a:r>
          </a:p>
        </p:txBody>
      </p:sp>
      <p:sp>
        <p:nvSpPr>
          <p:cNvPr id="101" name="text-101: 有效字节"/>
          <p:cNvSpPr txBox="1"/>
          <p:nvPr/>
        </p:nvSpPr>
        <p:spPr>
          <a:xfrm>
            <a:off x="9501632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2" name="rect-102"/>
          <p:cNvSpPr/>
          <p:nvPr/>
        </p:nvSpPr>
        <p:spPr>
          <a:xfrm>
            <a:off x="1086713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-103"/>
          <p:cNvSpPr/>
          <p:nvPr/>
        </p:nvSpPr>
        <p:spPr>
          <a:xfrm>
            <a:off x="10867136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lane 7"/>
          <p:cNvSpPr txBox="1"/>
          <p:nvPr/>
        </p:nvSpPr>
        <p:spPr>
          <a:xfrm>
            <a:off x="10988040" y="4046159"/>
            <a:ext cx="906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105" name="text-105: bit 63:56"/>
          <p:cNvSpPr txBox="1"/>
          <p:nvPr/>
        </p:nvSpPr>
        <p:spPr>
          <a:xfrm>
            <a:off x="10988040" y="4325234"/>
            <a:ext cx="112049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106" name="text-106: STRB[7] = 1"/>
          <p:cNvSpPr txBox="1"/>
          <p:nvPr/>
        </p:nvSpPr>
        <p:spPr>
          <a:xfrm>
            <a:off x="10988040" y="4538594"/>
            <a:ext cx="133314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1</a:t>
            </a:r>
          </a:p>
        </p:txBody>
      </p:sp>
      <p:sp>
        <p:nvSpPr>
          <p:cNvPr id="107" name="text-107: 有效字节"/>
          <p:cNvSpPr txBox="1"/>
          <p:nvPr/>
        </p:nvSpPr>
        <p:spPr>
          <a:xfrm>
            <a:off x="10988040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8" name="text-108: WSTRB = 0xF0；WDATA[63:32] = value"/>
          <p:cNvSpPr txBox="1"/>
          <p:nvPr/>
        </p:nvSpPr>
        <p:spPr>
          <a:xfrm>
            <a:off x="533400" y="5326319"/>
            <a:ext cx="42159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WSTRB = 0xF0；WDATA[63:32] = value</a:t>
            </a:r>
          </a:p>
        </p:txBody>
      </p:sp>
      <p:sp>
        <p:nvSpPr>
          <p:cNvPr id="109" name="rect-109"/>
          <p:cNvSpPr/>
          <p:nvPr/>
        </p:nvSpPr>
        <p:spPr>
          <a:xfrm>
            <a:off x="462280" y="6294120"/>
            <a:ext cx="5618480" cy="910336"/>
          </a:xfrm>
          <a:prstGeom prst="roundRect">
            <a:avLst>
              <a:gd name="adj" fmla="val 546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-110"/>
          <p:cNvSpPr/>
          <p:nvPr/>
        </p:nvSpPr>
        <p:spPr>
          <a:xfrm>
            <a:off x="462280" y="6294120"/>
            <a:ext cx="35560" cy="9103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桥的写方向"/>
          <p:cNvSpPr txBox="1"/>
          <p:nvPr/>
        </p:nvSpPr>
        <p:spPr>
          <a:xfrm>
            <a:off x="58318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桥的写方向</a:t>
            </a:r>
          </a:p>
        </p:txBody>
      </p:sp>
      <p:sp>
        <p:nvSpPr>
          <p:cNvPr id="112" name="text-112: 按地址选择 lane → 提取对应 32 位 → 保持字节使能"/>
          <p:cNvSpPr txBox="1"/>
          <p:nvPr/>
        </p:nvSpPr>
        <p:spPr>
          <a:xfrm>
            <a:off x="583184" y="6608755"/>
            <a:ext cx="42949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按地址选择 lane → 提取对应 32 位 → 保持字节使能</a:t>
            </a:r>
          </a:p>
        </p:txBody>
      </p:sp>
      <p:sp>
        <p:nvSpPr>
          <p:cNvPr id="113" name="text-113: 只改变 typedef 位宽，不会自动完成数据搬移"/>
          <p:cNvSpPr txBox="1"/>
          <p:nvPr/>
        </p:nvSpPr>
        <p:spPr>
          <a:xfrm>
            <a:off x="583184" y="6822115"/>
            <a:ext cx="35752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只改变 typedef 位宽，不会自动完成数据搬移</a:t>
            </a:r>
          </a:p>
        </p:txBody>
      </p:sp>
      <p:sp>
        <p:nvSpPr>
          <p:cNvPr id="114" name="rect-114"/>
          <p:cNvSpPr/>
          <p:nvPr/>
        </p:nvSpPr>
        <p:spPr>
          <a:xfrm>
            <a:off x="6436360" y="6294120"/>
            <a:ext cx="5867400" cy="910336"/>
          </a:xfrm>
          <a:prstGeom prst="roundRect">
            <a:avLst>
              <a:gd name="adj" fmla="val 546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5"/>
          <p:cNvSpPr/>
          <p:nvPr/>
        </p:nvSpPr>
        <p:spPr>
          <a:xfrm>
            <a:off x="6436360" y="6294120"/>
            <a:ext cx="35560" cy="9103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6: 桥的读方向"/>
          <p:cNvSpPr txBox="1"/>
          <p:nvPr/>
        </p:nvSpPr>
        <p:spPr>
          <a:xfrm>
            <a:off x="655726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桥的读方向</a:t>
            </a:r>
          </a:p>
        </p:txBody>
      </p:sp>
      <p:sp>
        <p:nvSpPr>
          <p:cNvPr id="117" name="text-117: 32 位寄存器值须回填到正确的 64 位总线 lane"/>
          <p:cNvSpPr txBox="1"/>
          <p:nvPr/>
        </p:nvSpPr>
        <p:spPr>
          <a:xfrm>
            <a:off x="6557264" y="6608755"/>
            <a:ext cx="37238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32 位寄存器值须回填到正确的 64 位总线 lane</a:t>
            </a:r>
          </a:p>
        </p:txBody>
      </p:sp>
      <p:sp>
        <p:nvSpPr>
          <p:cNvPr id="118" name="text-118: DMA 控制位宽与 HAL ID 访问问题仍待专项验证"/>
          <p:cNvSpPr txBox="1"/>
          <p:nvPr/>
        </p:nvSpPr>
        <p:spPr>
          <a:xfrm>
            <a:off x="6557264" y="6822115"/>
            <a:ext cx="37238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DMA 控制位宽与 HAL ID 访问问题仍待专项验证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