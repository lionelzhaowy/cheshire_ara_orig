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5582920" y="1422400"/>
            <a:ext cx="6614160" cy="3769360"/>
          </a:xfrm>
          <a:prstGeom prst="roundRect">
            <a:avLst>
              <a:gd name="adj" fmla="val 22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4053840" y="2133600"/>
            <a:ext cx="1529080" cy="924560"/>
          </a:xfrm>
          <a:custGeom>
            <a:avLst/>
            <a:gdLst/>
            <a:ahLst/>
            <a:cxnLst/>
            <a:rect l="0" t="0" r="r" b="b"/>
            <a:pathLst>
              <a:path w="1529080" h="924560" fill="none">
                <a:moveTo>
                  <a:pt x="0" y="0"/>
                </a:moveTo>
                <a:lnTo>
                  <a:pt x="853440" y="0"/>
                </a:lnTo>
                <a:lnTo>
                  <a:pt x="853440" y="924560"/>
                </a:lnTo>
                <a:lnTo>
                  <a:pt x="1529080" y="9245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4053840" y="3520440"/>
            <a:ext cx="1529080" cy="284480"/>
          </a:xfrm>
          <a:custGeom>
            <a:avLst/>
            <a:gdLst/>
            <a:ahLst/>
            <a:cxnLst/>
            <a:rect l="0" t="0" r="r" b="b"/>
            <a:pathLst>
              <a:path w="1529080" h="284480" fill="none">
                <a:moveTo>
                  <a:pt x="0" y="284480"/>
                </a:moveTo>
                <a:lnTo>
                  <a:pt x="1066800" y="284480"/>
                </a:lnTo>
                <a:lnTo>
                  <a:pt x="1066800" y="0"/>
                </a:lnTo>
                <a:lnTo>
                  <a:pt x="1529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5298440" y="6365240"/>
            <a:ext cx="1671320" cy="1"/>
          </a:xfrm>
          <a:custGeom>
            <a:avLst/>
            <a:gdLst/>
            <a:ahLst/>
            <a:cxnLst/>
            <a:rect l="0" t="0" r="r" b="b"/>
            <a:pathLst>
              <a:path w="1671320" h="1" fill="none">
                <a:moveTo>
                  <a:pt x="0" y="0"/>
                </a:moveTo>
                <a:lnTo>
                  <a:pt x="1671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8818880" y="5191760"/>
            <a:ext cx="568960" cy="640080"/>
          </a:xfrm>
          <a:custGeom>
            <a:avLst/>
            <a:gdLst/>
            <a:ahLst/>
            <a:cxnLst/>
            <a:rect l="0" t="0" r="r" b="b"/>
            <a:pathLst>
              <a:path w="568960" h="640080" fill="none">
                <a:moveTo>
                  <a:pt x="0" y="0"/>
                </a:moveTo>
                <a:lnTo>
                  <a:pt x="0" y="426720"/>
                </a:lnTo>
                <a:lnTo>
                  <a:pt x="568960" y="426720"/>
                </a:lnTo>
                <a:lnTo>
                  <a:pt x="568960" y="64008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4: LLC / SPM：两个别名如何访问同一组 ways"/>
          <p:cNvSpPr txBox="1"/>
          <p:nvPr/>
        </p:nvSpPr>
        <p:spPr>
          <a:xfrm>
            <a:off x="483616" y="271109"/>
            <a:ext cx="565830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LLC / SPM：两个别名如何访问同一组 ways</a:t>
            </a:r>
          </a:p>
        </p:txBody>
      </p:sp>
      <p:sp>
        <p:nvSpPr>
          <p:cNvPr id="11" name="text-015: 默认阵列：8 ways × 256 lines × 8 blocks × 8 B"/>
          <p:cNvSpPr txBox="1"/>
          <p:nvPr/>
        </p:nvSpPr>
        <p:spPr>
          <a:xfrm>
            <a:off x="483616" y="676778"/>
            <a:ext cx="77698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默认阵列：8 ways × 256 lines × 8 blocks × 8 B = 128 KiB；图中 way 分配仅示意。</a:t>
            </a:r>
          </a:p>
        </p:txBody>
      </p:sp>
      <p:sp>
        <p:nvSpPr>
          <p:cNvPr id="12" name="text-016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7: 源码：cheshire_pkg.sv::get_llc_size；cheshir"/>
          <p:cNvSpPr txBox="1"/>
          <p:nvPr/>
        </p:nvSpPr>
        <p:spPr>
          <a:xfrm>
            <a:off x="341376" y="7726477"/>
            <a:ext cx="67777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源码：cheshire_pkg.sv::get_llc_size；cheshire_soc.sv::gen_llc；axi_llc 依赖</a:t>
            </a:r>
          </a:p>
        </p:txBody>
      </p:sp>
      <p:sp>
        <p:nvSpPr>
          <p:cNvPr id="14" name="rect-018"/>
          <p:cNvSpPr/>
          <p:nvPr/>
        </p:nvSpPr>
        <p:spPr>
          <a:xfrm>
            <a:off x="391160" y="167132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9"/>
          <p:cNvSpPr/>
          <p:nvPr/>
        </p:nvSpPr>
        <p:spPr>
          <a:xfrm>
            <a:off x="391160" y="167132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20: 低 SPM 别名 · 0x1000_0000"/>
          <p:cNvSpPr txBox="1"/>
          <p:nvPr/>
        </p:nvSpPr>
        <p:spPr>
          <a:xfrm>
            <a:off x="512064" y="1699199"/>
            <a:ext cx="30233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低 SPM 别名 · 0x1000_0000</a:t>
            </a:r>
          </a:p>
        </p:txBody>
      </p:sp>
      <p:sp>
        <p:nvSpPr>
          <p:cNvPr id="17" name="text-021: CPU 属性允许缓存"/>
          <p:cNvSpPr txBox="1"/>
          <p:nvPr/>
        </p:nvSpPr>
        <p:spPr>
          <a:xfrm>
            <a:off x="512064" y="1970593"/>
            <a:ext cx="16386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属性允许缓存</a:t>
            </a:r>
          </a:p>
        </p:txBody>
      </p:sp>
      <p:sp>
        <p:nvSpPr>
          <p:cNvPr id="18" name="text-022: 与高别名映射同一物理阵列"/>
          <p:cNvSpPr txBox="1"/>
          <p:nvPr/>
        </p:nvSpPr>
        <p:spPr>
          <a:xfrm>
            <a:off x="512064" y="21839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与高别名映射同一物理阵列</a:t>
            </a:r>
          </a:p>
        </p:txBody>
      </p:sp>
      <p:sp>
        <p:nvSpPr>
          <p:cNvPr id="19" name="rect-023"/>
          <p:cNvSpPr/>
          <p:nvPr/>
        </p:nvSpPr>
        <p:spPr>
          <a:xfrm>
            <a:off x="391160" y="334264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4"/>
          <p:cNvSpPr/>
          <p:nvPr/>
        </p:nvSpPr>
        <p:spPr>
          <a:xfrm>
            <a:off x="391160" y="334264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5: 高 SPM 别名 · 0x1400_0000"/>
          <p:cNvSpPr txBox="1"/>
          <p:nvPr/>
        </p:nvSpPr>
        <p:spPr>
          <a:xfrm>
            <a:off x="512064" y="3370519"/>
            <a:ext cx="30233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高 SPM 别名 · 0x1400_0000</a:t>
            </a:r>
          </a:p>
        </p:txBody>
      </p:sp>
      <p:sp>
        <p:nvSpPr>
          <p:cNvPr id="22" name="text-026: 教材共享实验仅通过此别名访问"/>
          <p:cNvSpPr txBox="1"/>
          <p:nvPr/>
        </p:nvSpPr>
        <p:spPr>
          <a:xfrm>
            <a:off x="512064" y="36419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教材共享实验仅通过此别名访问</a:t>
            </a:r>
          </a:p>
        </p:txBody>
      </p:sp>
      <p:sp>
        <p:nvSpPr>
          <p:cNvPr id="23" name="text-027: 仍须遵守缓冲区独占与可见性协议"/>
          <p:cNvSpPr txBox="1"/>
          <p:nvPr/>
        </p:nvSpPr>
        <p:spPr>
          <a:xfrm>
            <a:off x="512064" y="385527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仍须遵守缓冲区独占与可见性协议</a:t>
            </a:r>
          </a:p>
        </p:txBody>
      </p:sp>
      <p:sp>
        <p:nvSpPr>
          <p:cNvPr id="24" name="text-028: 同一片上阵列：SPM 直接定位，cache 通过标签定位"/>
          <p:cNvSpPr txBox="1"/>
          <p:nvPr/>
        </p:nvSpPr>
        <p:spPr>
          <a:xfrm>
            <a:off x="5710936" y="1479296"/>
            <a:ext cx="45339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同一片上阵列：SPM 直接定位，cache 通过标签定位</a:t>
            </a:r>
          </a:p>
        </p:txBody>
      </p:sp>
      <p:sp>
        <p:nvSpPr>
          <p:cNvPr id="25" name="rect-029"/>
          <p:cNvSpPr/>
          <p:nvPr/>
        </p:nvSpPr>
        <p:spPr>
          <a:xfrm>
            <a:off x="5760720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0: way 0"/>
          <p:cNvSpPr txBox="1"/>
          <p:nvPr/>
        </p:nvSpPr>
        <p:spPr>
          <a:xfrm>
            <a:off x="5791835" y="22069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27" name="text-031: 16 KiB"/>
          <p:cNvSpPr txBox="1"/>
          <p:nvPr/>
        </p:nvSpPr>
        <p:spPr>
          <a:xfrm>
            <a:off x="5743296" y="25910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28" name="line-032"/>
          <p:cNvCxnSpPr/>
          <p:nvPr/>
        </p:nvCxnSpPr>
        <p:spPr>
          <a:xfrm>
            <a:off x="5817616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9" name="line-033"/>
          <p:cNvCxnSpPr/>
          <p:nvPr/>
        </p:nvCxnSpPr>
        <p:spPr>
          <a:xfrm>
            <a:off x="5817616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0" name="line-034"/>
          <p:cNvCxnSpPr/>
          <p:nvPr/>
        </p:nvCxnSpPr>
        <p:spPr>
          <a:xfrm>
            <a:off x="5817616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1" name="line-035"/>
          <p:cNvCxnSpPr/>
          <p:nvPr/>
        </p:nvCxnSpPr>
        <p:spPr>
          <a:xfrm>
            <a:off x="5817616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2" name="rect-036"/>
          <p:cNvSpPr/>
          <p:nvPr/>
        </p:nvSpPr>
        <p:spPr>
          <a:xfrm>
            <a:off x="6535928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7: way 1"/>
          <p:cNvSpPr txBox="1"/>
          <p:nvPr/>
        </p:nvSpPr>
        <p:spPr>
          <a:xfrm>
            <a:off x="6567043" y="22069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4" name="text-038: 16 KiB"/>
          <p:cNvSpPr txBox="1"/>
          <p:nvPr/>
        </p:nvSpPr>
        <p:spPr>
          <a:xfrm>
            <a:off x="6518504" y="25910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35" name="line-039"/>
          <p:cNvCxnSpPr/>
          <p:nvPr/>
        </p:nvCxnSpPr>
        <p:spPr>
          <a:xfrm>
            <a:off x="6592824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6" name="line-040"/>
          <p:cNvCxnSpPr/>
          <p:nvPr/>
        </p:nvCxnSpPr>
        <p:spPr>
          <a:xfrm>
            <a:off x="6592824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7" name="line-041"/>
          <p:cNvCxnSpPr/>
          <p:nvPr/>
        </p:nvCxnSpPr>
        <p:spPr>
          <a:xfrm>
            <a:off x="6592824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8" name="line-042"/>
          <p:cNvCxnSpPr/>
          <p:nvPr/>
        </p:nvCxnSpPr>
        <p:spPr>
          <a:xfrm>
            <a:off x="6592824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9" name="rect-043"/>
          <p:cNvSpPr/>
          <p:nvPr/>
        </p:nvSpPr>
        <p:spPr>
          <a:xfrm>
            <a:off x="7311136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4: way 2"/>
          <p:cNvSpPr txBox="1"/>
          <p:nvPr/>
        </p:nvSpPr>
        <p:spPr>
          <a:xfrm>
            <a:off x="7342251" y="22069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41" name="text-045: 16 KiB"/>
          <p:cNvSpPr txBox="1"/>
          <p:nvPr/>
        </p:nvSpPr>
        <p:spPr>
          <a:xfrm>
            <a:off x="7293712" y="25910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2" name="line-046"/>
          <p:cNvCxnSpPr/>
          <p:nvPr/>
        </p:nvCxnSpPr>
        <p:spPr>
          <a:xfrm>
            <a:off x="7368032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3" name="line-047"/>
          <p:cNvCxnSpPr/>
          <p:nvPr/>
        </p:nvCxnSpPr>
        <p:spPr>
          <a:xfrm>
            <a:off x="7368032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4" name="line-048"/>
          <p:cNvCxnSpPr/>
          <p:nvPr/>
        </p:nvCxnSpPr>
        <p:spPr>
          <a:xfrm>
            <a:off x="7368032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5" name="line-049"/>
          <p:cNvCxnSpPr/>
          <p:nvPr/>
        </p:nvCxnSpPr>
        <p:spPr>
          <a:xfrm>
            <a:off x="7368032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46" name="rect-050"/>
          <p:cNvSpPr/>
          <p:nvPr/>
        </p:nvSpPr>
        <p:spPr>
          <a:xfrm>
            <a:off x="8086344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1: way 3"/>
          <p:cNvSpPr txBox="1"/>
          <p:nvPr/>
        </p:nvSpPr>
        <p:spPr>
          <a:xfrm>
            <a:off x="8117459" y="22069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48" name="text-052: 16 KiB"/>
          <p:cNvSpPr txBox="1"/>
          <p:nvPr/>
        </p:nvSpPr>
        <p:spPr>
          <a:xfrm>
            <a:off x="8068920" y="25910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9" name="line-053"/>
          <p:cNvCxnSpPr/>
          <p:nvPr/>
        </p:nvCxnSpPr>
        <p:spPr>
          <a:xfrm>
            <a:off x="8143240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0" name="line-054"/>
          <p:cNvCxnSpPr/>
          <p:nvPr/>
        </p:nvCxnSpPr>
        <p:spPr>
          <a:xfrm>
            <a:off x="8143240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1" name="line-055"/>
          <p:cNvCxnSpPr/>
          <p:nvPr/>
        </p:nvCxnSpPr>
        <p:spPr>
          <a:xfrm>
            <a:off x="8143240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2" name="line-056"/>
          <p:cNvCxnSpPr/>
          <p:nvPr/>
        </p:nvCxnSpPr>
        <p:spPr>
          <a:xfrm>
            <a:off x="8143240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3" name="rect-057"/>
          <p:cNvSpPr/>
          <p:nvPr/>
        </p:nvSpPr>
        <p:spPr>
          <a:xfrm>
            <a:off x="8861552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8: way 4"/>
          <p:cNvSpPr txBox="1"/>
          <p:nvPr/>
        </p:nvSpPr>
        <p:spPr>
          <a:xfrm>
            <a:off x="8892667" y="22069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4</a:t>
            </a:r>
          </a:p>
        </p:txBody>
      </p:sp>
      <p:sp>
        <p:nvSpPr>
          <p:cNvPr id="55" name="text-059: 16 KiB"/>
          <p:cNvSpPr txBox="1"/>
          <p:nvPr/>
        </p:nvSpPr>
        <p:spPr>
          <a:xfrm>
            <a:off x="8844128" y="25910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56" name="line-060"/>
          <p:cNvCxnSpPr/>
          <p:nvPr/>
        </p:nvCxnSpPr>
        <p:spPr>
          <a:xfrm>
            <a:off x="8918448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7" name="line-061"/>
          <p:cNvCxnSpPr/>
          <p:nvPr/>
        </p:nvCxnSpPr>
        <p:spPr>
          <a:xfrm>
            <a:off x="8918448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8" name="line-062"/>
          <p:cNvCxnSpPr/>
          <p:nvPr/>
        </p:nvCxnSpPr>
        <p:spPr>
          <a:xfrm>
            <a:off x="8918448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9" name="line-063"/>
          <p:cNvCxnSpPr/>
          <p:nvPr/>
        </p:nvCxnSpPr>
        <p:spPr>
          <a:xfrm>
            <a:off x="8918448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0" name="rect-064"/>
          <p:cNvSpPr/>
          <p:nvPr/>
        </p:nvSpPr>
        <p:spPr>
          <a:xfrm>
            <a:off x="9636760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5: way 5"/>
          <p:cNvSpPr txBox="1"/>
          <p:nvPr/>
        </p:nvSpPr>
        <p:spPr>
          <a:xfrm>
            <a:off x="9667875" y="22069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5</a:t>
            </a:r>
          </a:p>
        </p:txBody>
      </p:sp>
      <p:sp>
        <p:nvSpPr>
          <p:cNvPr id="62" name="text-066: 16 KiB"/>
          <p:cNvSpPr txBox="1"/>
          <p:nvPr/>
        </p:nvSpPr>
        <p:spPr>
          <a:xfrm>
            <a:off x="9619336" y="25910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3" name="line-067"/>
          <p:cNvCxnSpPr/>
          <p:nvPr/>
        </p:nvCxnSpPr>
        <p:spPr>
          <a:xfrm>
            <a:off x="9693656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4" name="line-068"/>
          <p:cNvCxnSpPr/>
          <p:nvPr/>
        </p:nvCxnSpPr>
        <p:spPr>
          <a:xfrm>
            <a:off x="9693656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5" name="line-069"/>
          <p:cNvCxnSpPr/>
          <p:nvPr/>
        </p:nvCxnSpPr>
        <p:spPr>
          <a:xfrm>
            <a:off x="9693656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6" name="line-070"/>
          <p:cNvCxnSpPr/>
          <p:nvPr/>
        </p:nvCxnSpPr>
        <p:spPr>
          <a:xfrm>
            <a:off x="9693656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7" name="rect-071"/>
          <p:cNvSpPr/>
          <p:nvPr/>
        </p:nvSpPr>
        <p:spPr>
          <a:xfrm>
            <a:off x="10411968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72: way 6"/>
          <p:cNvSpPr txBox="1"/>
          <p:nvPr/>
        </p:nvSpPr>
        <p:spPr>
          <a:xfrm>
            <a:off x="10443083" y="22069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6</a:t>
            </a:r>
          </a:p>
        </p:txBody>
      </p:sp>
      <p:sp>
        <p:nvSpPr>
          <p:cNvPr id="69" name="text-073: 16 KiB"/>
          <p:cNvSpPr txBox="1"/>
          <p:nvPr/>
        </p:nvSpPr>
        <p:spPr>
          <a:xfrm>
            <a:off x="10394544" y="25910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0" name="line-074"/>
          <p:cNvCxnSpPr/>
          <p:nvPr/>
        </p:nvCxnSpPr>
        <p:spPr>
          <a:xfrm>
            <a:off x="10468864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1" name="line-075"/>
          <p:cNvCxnSpPr/>
          <p:nvPr/>
        </p:nvCxnSpPr>
        <p:spPr>
          <a:xfrm>
            <a:off x="10468864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2" name="line-076"/>
          <p:cNvCxnSpPr/>
          <p:nvPr/>
        </p:nvCxnSpPr>
        <p:spPr>
          <a:xfrm>
            <a:off x="10468864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3" name="line-077"/>
          <p:cNvCxnSpPr/>
          <p:nvPr/>
        </p:nvCxnSpPr>
        <p:spPr>
          <a:xfrm>
            <a:off x="10468864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4" name="rect-078"/>
          <p:cNvSpPr/>
          <p:nvPr/>
        </p:nvSpPr>
        <p:spPr>
          <a:xfrm>
            <a:off x="11187176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9: way 7"/>
          <p:cNvSpPr txBox="1"/>
          <p:nvPr/>
        </p:nvSpPr>
        <p:spPr>
          <a:xfrm>
            <a:off x="11218291" y="22069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7</a:t>
            </a:r>
          </a:p>
        </p:txBody>
      </p:sp>
      <p:sp>
        <p:nvSpPr>
          <p:cNvPr id="76" name="text-080: 16 KiB"/>
          <p:cNvSpPr txBox="1"/>
          <p:nvPr/>
        </p:nvSpPr>
        <p:spPr>
          <a:xfrm>
            <a:off x="11169752" y="25910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7" name="line-081"/>
          <p:cNvCxnSpPr/>
          <p:nvPr/>
        </p:nvCxnSpPr>
        <p:spPr>
          <a:xfrm>
            <a:off x="11244072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8" name="line-082"/>
          <p:cNvCxnSpPr/>
          <p:nvPr/>
        </p:nvCxnSpPr>
        <p:spPr>
          <a:xfrm>
            <a:off x="11244072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9" name="line-083"/>
          <p:cNvCxnSpPr/>
          <p:nvPr/>
        </p:nvCxnSpPr>
        <p:spPr>
          <a:xfrm>
            <a:off x="11244072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0" name="line-084"/>
          <p:cNvCxnSpPr/>
          <p:nvPr/>
        </p:nvCxnSpPr>
        <p:spPr>
          <a:xfrm>
            <a:off x="11244072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81" name="text-085: 运行时分配可变；切换前处理脏行、栈、数据与在途事务"/>
          <p:cNvSpPr txBox="1"/>
          <p:nvPr/>
        </p:nvSpPr>
        <p:spPr>
          <a:xfrm>
            <a:off x="5831840" y="4438457"/>
            <a:ext cx="44378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运行时分配可变；切换前处理脏行、栈、数据与在途事务</a:t>
            </a:r>
          </a:p>
        </p:txBody>
      </p:sp>
      <p:sp>
        <p:nvSpPr>
          <p:cNvPr id="82" name="rect-086"/>
          <p:cNvSpPr/>
          <p:nvPr/>
        </p:nvSpPr>
        <p:spPr>
          <a:xfrm>
            <a:off x="391160" y="5831840"/>
            <a:ext cx="4907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-087"/>
          <p:cNvSpPr/>
          <p:nvPr/>
        </p:nvSpPr>
        <p:spPr>
          <a:xfrm>
            <a:off x="391160" y="583184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8: 外存窗口 · 0x8000_0000 起"/>
          <p:cNvSpPr txBox="1"/>
          <p:nvPr/>
        </p:nvSpPr>
        <p:spPr>
          <a:xfrm>
            <a:off x="512064" y="5859719"/>
            <a:ext cx="29123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外存窗口 · 0x8000_0000 起</a:t>
            </a:r>
          </a:p>
        </p:txBody>
      </p:sp>
      <p:sp>
        <p:nvSpPr>
          <p:cNvPr id="85" name="text-089: cache 查标签：命中在片内完成"/>
          <p:cNvSpPr txBox="1"/>
          <p:nvPr/>
        </p:nvSpPr>
        <p:spPr>
          <a:xfrm>
            <a:off x="512064" y="6131113"/>
            <a:ext cx="271393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cache 查标签：命中在片内完成</a:t>
            </a:r>
          </a:p>
        </p:txBody>
      </p:sp>
      <p:sp>
        <p:nvSpPr>
          <p:cNvPr id="86" name="text-090: 缺失：必要时脏行写回，再由外存填充"/>
          <p:cNvSpPr txBox="1"/>
          <p:nvPr/>
        </p:nvSpPr>
        <p:spPr>
          <a:xfrm>
            <a:off x="512064" y="6344473"/>
            <a:ext cx="30723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缺失：必要时脏行写回，再由外存填充</a:t>
            </a:r>
          </a:p>
        </p:txBody>
      </p:sp>
      <p:sp>
        <p:nvSpPr>
          <p:cNvPr id="87" name="rect-091"/>
          <p:cNvSpPr/>
          <p:nvPr/>
        </p:nvSpPr>
        <p:spPr>
          <a:xfrm>
            <a:off x="6969760" y="5831840"/>
            <a:ext cx="5227320" cy="1066800"/>
          </a:xfrm>
          <a:prstGeom prst="roundRect">
            <a:avLst>
              <a:gd name="adj" fmla="val 466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092"/>
          <p:cNvSpPr/>
          <p:nvPr/>
        </p:nvSpPr>
        <p:spPr>
          <a:xfrm>
            <a:off x="6969760" y="5831840"/>
            <a:ext cx="35560" cy="10668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93: LLC 下游 AXI → 平台内存 / DDR"/>
          <p:cNvSpPr txBox="1"/>
          <p:nvPr/>
        </p:nvSpPr>
        <p:spPr>
          <a:xfrm>
            <a:off x="7090664" y="5859719"/>
            <a:ext cx="34023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平台内存 / DDR</a:t>
            </a:r>
          </a:p>
        </p:txBody>
      </p:sp>
      <p:sp>
        <p:nvSpPr>
          <p:cNvPr id="90" name="text-094: SPM 地址命中不需要访问 DDR"/>
          <p:cNvSpPr txBox="1"/>
          <p:nvPr/>
        </p:nvSpPr>
        <p:spPr>
          <a:xfrm>
            <a:off x="7090664" y="6131113"/>
            <a:ext cx="25944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地址命中不需要访问 DDR</a:t>
            </a:r>
          </a:p>
        </p:txBody>
      </p:sp>
      <p:sp>
        <p:nvSpPr>
          <p:cNvPr id="91" name="text-095: ROM 主线在内部 LLC 存在时配置全 SPM"/>
          <p:cNvSpPr txBox="1"/>
          <p:nvPr/>
        </p:nvSpPr>
        <p:spPr>
          <a:xfrm>
            <a:off x="7090664" y="6344473"/>
            <a:ext cx="34905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主线在内部 LLC 存在时配置全 SPM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