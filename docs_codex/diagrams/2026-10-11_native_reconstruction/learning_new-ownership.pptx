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801600" cy="8001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-002"/>
          <p:cNvSpPr/>
          <p:nvPr/>
        </p:nvSpPr>
        <p:spPr>
          <a:xfrm>
            <a:off x="284480" y="284480"/>
            <a:ext cx="56896" cy="4409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" name="line-003"/>
          <p:cNvCxnSpPr/>
          <p:nvPr/>
        </p:nvCxnSpPr>
        <p:spPr>
          <a:xfrm>
            <a:off x="284480" y="1052576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4" name="line-004"/>
          <p:cNvCxnSpPr/>
          <p:nvPr/>
        </p:nvCxnSpPr>
        <p:spPr>
          <a:xfrm>
            <a:off x="284480" y="7432040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sp>
        <p:nvSpPr>
          <p:cNvPr id="5" name="rect-005"/>
          <p:cNvSpPr/>
          <p:nvPr/>
        </p:nvSpPr>
        <p:spPr>
          <a:xfrm>
            <a:off x="2240280" y="1457960"/>
            <a:ext cx="3200400" cy="4693920"/>
          </a:xfrm>
          <a:prstGeom prst="roundRect">
            <a:avLst>
              <a:gd name="adj" fmla="val 2666"/>
            </a:avLst>
          </a:prstGeom>
          <a:solidFill>
            <a:srgbClr val="FFF3E7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-006"/>
          <p:cNvSpPr/>
          <p:nvPr/>
        </p:nvSpPr>
        <p:spPr>
          <a:xfrm>
            <a:off x="5725160" y="1457960"/>
            <a:ext cx="3200400" cy="4693920"/>
          </a:xfrm>
          <a:prstGeom prst="roundRect">
            <a:avLst>
              <a:gd name="adj" fmla="val 2666"/>
            </a:avLst>
          </a:prstGeom>
          <a:solidFill>
            <a:srgbClr val="EDF4FC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-007"/>
          <p:cNvSpPr/>
          <p:nvPr/>
        </p:nvSpPr>
        <p:spPr>
          <a:xfrm>
            <a:off x="9210040" y="1457960"/>
            <a:ext cx="3200400" cy="4693920"/>
          </a:xfrm>
          <a:prstGeom prst="roundRect">
            <a:avLst>
              <a:gd name="adj" fmla="val 2666"/>
            </a:avLst>
          </a:prstGeom>
          <a:solidFill>
            <a:srgbClr val="EAF6F3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polyline-008"/>
          <p:cNvSpPr/>
          <p:nvPr/>
        </p:nvSpPr>
        <p:spPr>
          <a:xfrm>
            <a:off x="5262880" y="5245100"/>
            <a:ext cx="640080" cy="1"/>
          </a:xfrm>
          <a:custGeom>
            <a:avLst/>
            <a:gdLst/>
            <a:ahLst/>
            <a:cxnLst/>
            <a:rect l="0" t="0" r="r" b="b"/>
            <a:pathLst>
              <a:path w="640080" h="1" fill="none">
                <a:moveTo>
                  <a:pt x="0" y="0"/>
                </a:moveTo>
                <a:lnTo>
                  <a:pt x="640080" y="0"/>
                </a:lnTo>
              </a:path>
            </a:pathLst>
          </a:custGeom>
          <a:noFill/>
          <a:ln w="21336" cap="flat">
            <a:solidFill>
              <a:srgbClr val="087E8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polyline-010"/>
          <p:cNvSpPr/>
          <p:nvPr/>
        </p:nvSpPr>
        <p:spPr>
          <a:xfrm>
            <a:off x="8747760" y="5245100"/>
            <a:ext cx="640080" cy="1"/>
          </a:xfrm>
          <a:custGeom>
            <a:avLst/>
            <a:gdLst/>
            <a:ahLst/>
            <a:cxnLst/>
            <a:rect l="0" t="0" r="r" b="b"/>
            <a:pathLst>
              <a:path w="640080" h="1" fill="none">
                <a:moveTo>
                  <a:pt x="0" y="0"/>
                </a:moveTo>
                <a:lnTo>
                  <a:pt x="640080" y="0"/>
                </a:lnTo>
              </a:path>
            </a:pathLst>
          </a:custGeom>
          <a:noFill/>
          <a:ln w="21336" cap="flat">
            <a:solidFill>
              <a:srgbClr val="087E8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-012: 缓冲区交接：地址相同还需要所有权与可见性"/>
          <p:cNvSpPr txBox="1"/>
          <p:nvPr/>
        </p:nvSpPr>
        <p:spPr>
          <a:xfrm>
            <a:off x="483616" y="271109"/>
            <a:ext cx="5376672" cy="40965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缓冲区交接：地址相同还需要所有权与可见性</a:t>
            </a:r>
          </a:p>
        </p:txBody>
      </p:sp>
      <p:sp>
        <p:nvSpPr>
          <p:cNvPr id="11" name="text-013: 以 CPU → 设备 → CPU 为例；三条泳道分别记录写入者、数据可见性和控制"/>
          <p:cNvSpPr txBox="1"/>
          <p:nvPr/>
        </p:nvSpPr>
        <p:spPr>
          <a:xfrm>
            <a:off x="483616" y="676778"/>
            <a:ext cx="6510325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以 CPU → 设备 → CPU 为例；三条泳道分别记录写入者、数据可见性和控制通知。</a:t>
            </a:r>
          </a:p>
        </p:txBody>
      </p:sp>
      <p:sp>
        <p:nvSpPr>
          <p:cNvPr id="12" name="text-014: 当前源码结构 / 教学示意；非运行证据"/>
          <p:cNvSpPr txBox="1"/>
          <p:nvPr/>
        </p:nvSpPr>
        <p:spPr>
          <a:xfrm>
            <a:off x="341376" y="7498324"/>
            <a:ext cx="2830220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当前源码结构 / 教学示意；非运行证据</a:t>
            </a:r>
          </a:p>
        </p:txBody>
      </p:sp>
      <p:sp>
        <p:nvSpPr>
          <p:cNvPr id="13" name="text-015: 依据：教材共享缓冲区协议；fence 不替代 cache 清理 / 失效；非硬件"/>
          <p:cNvSpPr txBox="1"/>
          <p:nvPr/>
        </p:nvSpPr>
        <p:spPr>
          <a:xfrm>
            <a:off x="341376" y="7726477"/>
            <a:ext cx="5746496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依据：教材共享缓冲区协议；fence 不替代 cache 清理 / 失效；非硬件自动一致性</a:t>
            </a:r>
          </a:p>
        </p:txBody>
      </p:sp>
      <p:sp>
        <p:nvSpPr>
          <p:cNvPr id="14" name="text-016: CPU 拥有"/>
          <p:cNvSpPr txBox="1"/>
          <p:nvPr/>
        </p:nvSpPr>
        <p:spPr>
          <a:xfrm>
            <a:off x="2368296" y="1514856"/>
            <a:ext cx="995680" cy="2844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CPU 拥有</a:t>
            </a:r>
          </a:p>
        </p:txBody>
      </p:sp>
      <p:sp>
        <p:nvSpPr>
          <p:cNvPr id="15" name="text-017: 硬件拥有"/>
          <p:cNvSpPr txBox="1"/>
          <p:nvPr/>
        </p:nvSpPr>
        <p:spPr>
          <a:xfrm>
            <a:off x="5853176" y="1514856"/>
            <a:ext cx="889000" cy="2844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硬件拥有</a:t>
            </a:r>
          </a:p>
        </p:txBody>
      </p:sp>
      <p:sp>
        <p:nvSpPr>
          <p:cNvPr id="16" name="text-018: CPU 重新拥有"/>
          <p:cNvSpPr txBox="1"/>
          <p:nvPr/>
        </p:nvSpPr>
        <p:spPr>
          <a:xfrm>
            <a:off x="9338056" y="1514856"/>
            <a:ext cx="1351280" cy="2844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CPU 重新拥有</a:t>
            </a:r>
          </a:p>
        </p:txBody>
      </p:sp>
      <p:sp>
        <p:nvSpPr>
          <p:cNvPr id="17" name="text-019: 数据操作"/>
          <p:cNvSpPr txBox="1"/>
          <p:nvPr/>
        </p:nvSpPr>
        <p:spPr>
          <a:xfrm>
            <a:off x="355600" y="2210694"/>
            <a:ext cx="960120" cy="30723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数据操作</a:t>
            </a:r>
          </a:p>
        </p:txBody>
      </p:sp>
      <p:sp>
        <p:nvSpPr>
          <p:cNvPr id="18" name="text-020: 可见性操作"/>
          <p:cNvSpPr txBox="1"/>
          <p:nvPr/>
        </p:nvSpPr>
        <p:spPr>
          <a:xfrm>
            <a:off x="355600" y="3633094"/>
            <a:ext cx="1152144" cy="30723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可见性操作</a:t>
            </a:r>
          </a:p>
        </p:txBody>
      </p:sp>
      <p:sp>
        <p:nvSpPr>
          <p:cNvPr id="19" name="text-021: 控制交接"/>
          <p:cNvSpPr txBox="1"/>
          <p:nvPr/>
        </p:nvSpPr>
        <p:spPr>
          <a:xfrm>
            <a:off x="355600" y="5019934"/>
            <a:ext cx="960120" cy="30723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控制交接</a:t>
            </a:r>
          </a:p>
        </p:txBody>
      </p:sp>
      <p:sp>
        <p:nvSpPr>
          <p:cNvPr id="20" name="rect-022"/>
          <p:cNvSpPr/>
          <p:nvPr/>
        </p:nvSpPr>
        <p:spPr>
          <a:xfrm>
            <a:off x="2418080" y="2026920"/>
            <a:ext cx="2844800" cy="746760"/>
          </a:xfrm>
          <a:prstGeom prst="roundRect">
            <a:avLst>
              <a:gd name="adj" fmla="val 6666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-023"/>
          <p:cNvSpPr/>
          <p:nvPr/>
        </p:nvSpPr>
        <p:spPr>
          <a:xfrm>
            <a:off x="2418080" y="2026920"/>
            <a:ext cx="35560" cy="74676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-024: 写源数据 / 描述符"/>
          <p:cNvSpPr txBox="1"/>
          <p:nvPr/>
        </p:nvSpPr>
        <p:spPr>
          <a:xfrm>
            <a:off x="2538984" y="2054799"/>
            <a:ext cx="1839874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写源数据 / 描述符</a:t>
            </a:r>
          </a:p>
        </p:txBody>
      </p:sp>
      <p:sp>
        <p:nvSpPr>
          <p:cNvPr id="23" name="rect-025"/>
          <p:cNvSpPr/>
          <p:nvPr/>
        </p:nvSpPr>
        <p:spPr>
          <a:xfrm>
            <a:off x="2418080" y="3449320"/>
            <a:ext cx="2844800" cy="746760"/>
          </a:xfrm>
          <a:prstGeom prst="roundRect">
            <a:avLst>
              <a:gd name="adj" fmla="val 6666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-026"/>
          <p:cNvSpPr/>
          <p:nvPr/>
        </p:nvSpPr>
        <p:spPr>
          <a:xfrm>
            <a:off x="2418080" y="3449320"/>
            <a:ext cx="35560" cy="74676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-027: 同步缓存并排空必要写入"/>
          <p:cNvSpPr txBox="1"/>
          <p:nvPr/>
        </p:nvSpPr>
        <p:spPr>
          <a:xfrm>
            <a:off x="2538984" y="3477199"/>
            <a:ext cx="2218944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同步缓存并排空必要写入</a:t>
            </a:r>
          </a:p>
        </p:txBody>
      </p:sp>
      <p:sp>
        <p:nvSpPr>
          <p:cNvPr id="26" name="rect-028"/>
          <p:cNvSpPr/>
          <p:nvPr/>
        </p:nvSpPr>
        <p:spPr>
          <a:xfrm>
            <a:off x="2418080" y="4871720"/>
            <a:ext cx="2844800" cy="746760"/>
          </a:xfrm>
          <a:prstGeom prst="roundRect">
            <a:avLst>
              <a:gd name="adj" fmla="val 6666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rect-029"/>
          <p:cNvSpPr/>
          <p:nvPr/>
        </p:nvSpPr>
        <p:spPr>
          <a:xfrm>
            <a:off x="2418080" y="4871720"/>
            <a:ext cx="35560" cy="74676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-030: 发布任务 / doorbell"/>
          <p:cNvSpPr txBox="1"/>
          <p:nvPr/>
        </p:nvSpPr>
        <p:spPr>
          <a:xfrm>
            <a:off x="2538984" y="4899599"/>
            <a:ext cx="2246681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发布任务 / doorbell</a:t>
            </a:r>
          </a:p>
        </p:txBody>
      </p:sp>
      <p:sp>
        <p:nvSpPr>
          <p:cNvPr id="29" name="rect-031"/>
          <p:cNvSpPr/>
          <p:nvPr/>
        </p:nvSpPr>
        <p:spPr>
          <a:xfrm>
            <a:off x="5902960" y="2026920"/>
            <a:ext cx="2844800" cy="746760"/>
          </a:xfrm>
          <a:prstGeom prst="roundRect">
            <a:avLst>
              <a:gd name="adj" fmla="val 6666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rect-032"/>
          <p:cNvSpPr/>
          <p:nvPr/>
        </p:nvSpPr>
        <p:spPr>
          <a:xfrm>
            <a:off x="5902960" y="2026920"/>
            <a:ext cx="35560" cy="74676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-033: DMA / Ara / 设备读写"/>
          <p:cNvSpPr txBox="1"/>
          <p:nvPr/>
        </p:nvSpPr>
        <p:spPr>
          <a:xfrm>
            <a:off x="6023864" y="2054799"/>
            <a:ext cx="2366874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DMA / Ara / 设备读写</a:t>
            </a:r>
          </a:p>
        </p:txBody>
      </p:sp>
      <p:sp>
        <p:nvSpPr>
          <p:cNvPr id="32" name="rect-034"/>
          <p:cNvSpPr/>
          <p:nvPr/>
        </p:nvSpPr>
        <p:spPr>
          <a:xfrm>
            <a:off x="5902960" y="3449320"/>
            <a:ext cx="2844800" cy="746760"/>
          </a:xfrm>
          <a:prstGeom prst="roundRect">
            <a:avLst>
              <a:gd name="adj" fmla="val 6666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rect-035"/>
          <p:cNvSpPr/>
          <p:nvPr/>
        </p:nvSpPr>
        <p:spPr>
          <a:xfrm>
            <a:off x="5902960" y="3449320"/>
            <a:ext cx="35560" cy="74676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-036: 完成访问并排空结果写入"/>
          <p:cNvSpPr txBox="1"/>
          <p:nvPr/>
        </p:nvSpPr>
        <p:spPr>
          <a:xfrm>
            <a:off x="6023864" y="3477199"/>
            <a:ext cx="2218944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完成访问并排空结果写入</a:t>
            </a:r>
          </a:p>
        </p:txBody>
      </p:sp>
      <p:sp>
        <p:nvSpPr>
          <p:cNvPr id="35" name="rect-037"/>
          <p:cNvSpPr/>
          <p:nvPr/>
        </p:nvSpPr>
        <p:spPr>
          <a:xfrm>
            <a:off x="5902960" y="4871720"/>
            <a:ext cx="2844800" cy="746760"/>
          </a:xfrm>
          <a:prstGeom prst="roundRect">
            <a:avLst>
              <a:gd name="adj" fmla="val 6666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rect-038"/>
          <p:cNvSpPr/>
          <p:nvPr/>
        </p:nvSpPr>
        <p:spPr>
          <a:xfrm>
            <a:off x="5902960" y="4871720"/>
            <a:ext cx="35560" cy="74676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-039: 发布完成状态 / IRQ"/>
          <p:cNvSpPr txBox="1"/>
          <p:nvPr/>
        </p:nvSpPr>
        <p:spPr>
          <a:xfrm>
            <a:off x="6023864" y="4899599"/>
            <a:ext cx="2015541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发布完成状态 / IRQ</a:t>
            </a:r>
          </a:p>
        </p:txBody>
      </p:sp>
      <p:sp>
        <p:nvSpPr>
          <p:cNvPr id="38" name="rect-040"/>
          <p:cNvSpPr/>
          <p:nvPr/>
        </p:nvSpPr>
        <p:spPr>
          <a:xfrm>
            <a:off x="9387840" y="2026920"/>
            <a:ext cx="2844800" cy="746760"/>
          </a:xfrm>
          <a:prstGeom prst="roundRect">
            <a:avLst>
              <a:gd name="adj" fmla="val 6666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rect-041"/>
          <p:cNvSpPr/>
          <p:nvPr/>
        </p:nvSpPr>
        <p:spPr>
          <a:xfrm>
            <a:off x="9387840" y="2026920"/>
            <a:ext cx="35560" cy="74676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text-042: 读取并校验结果"/>
          <p:cNvSpPr txBox="1"/>
          <p:nvPr/>
        </p:nvSpPr>
        <p:spPr>
          <a:xfrm>
            <a:off x="9508744" y="2054799"/>
            <a:ext cx="1479296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读取并校验结果</a:t>
            </a:r>
          </a:p>
        </p:txBody>
      </p:sp>
      <p:sp>
        <p:nvSpPr>
          <p:cNvPr id="41" name="rect-043"/>
          <p:cNvSpPr/>
          <p:nvPr/>
        </p:nvSpPr>
        <p:spPr>
          <a:xfrm>
            <a:off x="9387840" y="3449320"/>
            <a:ext cx="2844800" cy="746760"/>
          </a:xfrm>
          <a:prstGeom prst="roundRect">
            <a:avLst>
              <a:gd name="adj" fmla="val 6666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rect-044"/>
          <p:cNvSpPr/>
          <p:nvPr/>
        </p:nvSpPr>
        <p:spPr>
          <a:xfrm>
            <a:off x="9387840" y="3449320"/>
            <a:ext cx="35560" cy="74676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text-045: acquire / 排序 / 必要失效"/>
          <p:cNvSpPr txBox="1"/>
          <p:nvPr/>
        </p:nvSpPr>
        <p:spPr>
          <a:xfrm>
            <a:off x="9508744" y="3477199"/>
            <a:ext cx="2856890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acquire / 排序 / 必要失效</a:t>
            </a:r>
          </a:p>
        </p:txBody>
      </p:sp>
      <p:sp>
        <p:nvSpPr>
          <p:cNvPr id="44" name="rect-046"/>
          <p:cNvSpPr/>
          <p:nvPr/>
        </p:nvSpPr>
        <p:spPr>
          <a:xfrm>
            <a:off x="9387840" y="4871720"/>
            <a:ext cx="2844800" cy="746760"/>
          </a:xfrm>
          <a:prstGeom prst="roundRect">
            <a:avLst>
              <a:gd name="adj" fmla="val 6666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rect-047"/>
          <p:cNvSpPr/>
          <p:nvPr/>
        </p:nvSpPr>
        <p:spPr>
          <a:xfrm>
            <a:off x="9387840" y="4871720"/>
            <a:ext cx="35560" cy="74676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text-048: 确认 token / 回收缓冲区"/>
          <p:cNvSpPr txBox="1"/>
          <p:nvPr/>
        </p:nvSpPr>
        <p:spPr>
          <a:xfrm>
            <a:off x="9508744" y="4899599"/>
            <a:ext cx="2561031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确认 token / 回收缓冲区</a:t>
            </a:r>
          </a:p>
        </p:txBody>
      </p:sp>
      <p:sp>
        <p:nvSpPr>
          <p:cNvPr id="47" name="rect-049"/>
          <p:cNvSpPr/>
          <p:nvPr/>
        </p:nvSpPr>
        <p:spPr>
          <a:xfrm>
            <a:off x="391160" y="6543040"/>
            <a:ext cx="12019280" cy="711200"/>
          </a:xfrm>
          <a:prstGeom prst="roundRect">
            <a:avLst>
              <a:gd name="adj" fmla="val 7000"/>
            </a:avLst>
          </a:prstGeom>
          <a:solidFill>
            <a:srgbClr val="F3F6F8"/>
          </a:solidFill>
          <a:ln w="11379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rect-050"/>
          <p:cNvSpPr/>
          <p:nvPr/>
        </p:nvSpPr>
        <p:spPr>
          <a:xfrm>
            <a:off x="391160" y="6543040"/>
            <a:ext cx="35560" cy="711200"/>
          </a:xfrm>
          <a:prstGeom prst="rect">
            <a:avLst/>
          </a:prstGeom>
          <a:solidFill>
            <a:srgbClr val="536B7D"/>
          </a:solidFill>
          <a:ln w="10668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text-051: 每次交接分别回答三个问题"/>
          <p:cNvSpPr txBox="1"/>
          <p:nvPr/>
        </p:nvSpPr>
        <p:spPr>
          <a:xfrm>
            <a:off x="512064" y="6570919"/>
            <a:ext cx="2403856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每次交接分别回答三个问题</a:t>
            </a:r>
          </a:p>
        </p:txBody>
      </p:sp>
      <p:sp>
        <p:nvSpPr>
          <p:cNvPr id="50" name="text-052: 请求是否接受？设备是否处理完成？结果是否已对消费者可见？三者不能互相替代。"/>
          <p:cNvSpPr txBox="1"/>
          <p:nvPr/>
        </p:nvSpPr>
        <p:spPr>
          <a:xfrm>
            <a:off x="512064" y="6857675"/>
            <a:ext cx="5945632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请求是否接受？设备是否处理完成？结果是否已对消费者可见？三者不能互相替代。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