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5603200" cy="1837406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-002: Cheshire + CVA6 + Ara · SoC 扩展架构"/>
          <p:cNvSpPr txBox="1"/>
          <p:nvPr/>
        </p:nvSpPr>
        <p:spPr>
          <a:xfrm>
            <a:off x="414170" y="166270"/>
            <a:ext cx="6613662" cy="5903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5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Cheshire + CVA6 + Ara · SoC 扩展架构</a:t>
            </a:r>
          </a:p>
        </p:txBody>
      </p:sp>
      <p:sp>
        <p:nvSpPr>
          <p:cNvPr id="3" name="obj-003: AXI 主从端口 · Regbus 全外设 · 独立 GB 与三端口 DDR"/>
          <p:cNvSpPr txBox="1"/>
          <p:nvPr/>
        </p:nvSpPr>
        <p:spPr>
          <a:xfrm>
            <a:off x="436761" y="683455"/>
            <a:ext cx="5272777" cy="337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AXI 主从端口 · Regbus 全外设 · 独立 GB 与三端口 DDR</a:t>
            </a:r>
          </a:p>
        </p:txBody>
      </p:sp>
      <p:sp>
        <p:nvSpPr>
          <p:cNvPr id="4" name="soc-boundary"/>
          <p:cNvSpPr/>
          <p:nvPr/>
        </p:nvSpPr>
        <p:spPr>
          <a:xfrm>
            <a:off x="301214" y="1129553"/>
            <a:ext cx="23042880" cy="16114955"/>
          </a:xfrm>
          <a:prstGeom prst="roundRect">
            <a:avLst>
              <a:gd name="adj" fmla="val 560"/>
            </a:avLst>
          </a:prstGeom>
          <a:solidFill>
            <a:srgbClr val="FBFCFE"/>
          </a:solidFill>
          <a:ln w="22591" cap="flat">
            <a:solidFill>
              <a:srgbClr val="526A7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bj-005: SoC"/>
          <p:cNvSpPr txBox="1"/>
          <p:nvPr/>
        </p:nvSpPr>
        <p:spPr>
          <a:xfrm>
            <a:off x="22407906" y="1216905"/>
            <a:ext cx="627443" cy="3614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8" b="1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SoC</a:t>
            </a:r>
          </a:p>
        </p:txBody>
      </p:sp>
      <p:sp>
        <p:nvSpPr>
          <p:cNvPr id="6" name="obj-006: AXI master / 发起端"/>
          <p:cNvSpPr txBox="1"/>
          <p:nvPr/>
        </p:nvSpPr>
        <p:spPr>
          <a:xfrm>
            <a:off x="677732" y="1430767"/>
            <a:ext cx="1851149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AXI master / 发起端</a:t>
            </a:r>
          </a:p>
        </p:txBody>
      </p:sp>
      <p:sp>
        <p:nvSpPr>
          <p:cNvPr id="7" name="cpu"/>
          <p:cNvSpPr/>
          <p:nvPr/>
        </p:nvSpPr>
        <p:spPr>
          <a:xfrm>
            <a:off x="677732" y="1882588"/>
            <a:ext cx="2485016" cy="1355464"/>
          </a:xfrm>
          <a:prstGeom prst="roundRect">
            <a:avLst>
              <a:gd name="adj" fmla="val 3333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bj-008: CVA6 core 0"/>
          <p:cNvSpPr txBox="1"/>
          <p:nvPr/>
        </p:nvSpPr>
        <p:spPr>
          <a:xfrm>
            <a:off x="1219888" y="1970543"/>
            <a:ext cx="1400704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9" name="obj-009: L1 I-cache / D-cache"/>
          <p:cNvSpPr txBox="1"/>
          <p:nvPr/>
        </p:nvSpPr>
        <p:spPr>
          <a:xfrm>
            <a:off x="961103" y="2281697"/>
            <a:ext cx="1918275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L1 I-cache / D-cache</a:t>
            </a:r>
          </a:p>
        </p:txBody>
      </p:sp>
      <p:sp>
        <p:nvSpPr>
          <p:cNvPr id="10" name="obj-010: MMU · AXI 适配"/>
          <p:cNvSpPr txBox="1"/>
          <p:nvPr/>
        </p:nvSpPr>
        <p:spPr>
          <a:xfrm>
            <a:off x="1188355" y="2530199"/>
            <a:ext cx="1463771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MMU · AXI 适配</a:t>
            </a:r>
          </a:p>
        </p:txBody>
      </p:sp>
      <p:sp>
        <p:nvSpPr>
          <p:cNvPr id="11" name="debug-master"/>
          <p:cNvSpPr/>
          <p:nvPr/>
        </p:nvSpPr>
        <p:spPr>
          <a:xfrm>
            <a:off x="3426311" y="1882588"/>
            <a:ext cx="1656678" cy="1355464"/>
          </a:xfrm>
          <a:prstGeom prst="roundRect">
            <a:avLst>
              <a:gd name="adj" fmla="val 3333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bj-012: Debug / SBA"/>
          <p:cNvSpPr txBox="1"/>
          <p:nvPr/>
        </p:nvSpPr>
        <p:spPr>
          <a:xfrm>
            <a:off x="3523805" y="1970543"/>
            <a:ext cx="1461689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" name="obj-013: 系统总线访问"/>
          <p:cNvSpPr txBox="1"/>
          <p:nvPr/>
        </p:nvSpPr>
        <p:spPr>
          <a:xfrm>
            <a:off x="3595744" y="2281697"/>
            <a:ext cx="1317812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系统总线访问</a:t>
            </a:r>
          </a:p>
        </p:txBody>
      </p:sp>
      <p:sp>
        <p:nvSpPr>
          <p:cNvPr id="14" name="obj-014: JTAG 调试入口"/>
          <p:cNvSpPr txBox="1"/>
          <p:nvPr/>
        </p:nvSpPr>
        <p:spPr>
          <a:xfrm>
            <a:off x="3556398" y="2530199"/>
            <a:ext cx="1396504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JTAG 调试入口</a:t>
            </a:r>
          </a:p>
        </p:txBody>
      </p:sp>
      <p:sp>
        <p:nvSpPr>
          <p:cNvPr id="15" name="ara"/>
          <p:cNvSpPr/>
          <p:nvPr/>
        </p:nvSpPr>
        <p:spPr>
          <a:xfrm>
            <a:off x="5346551" y="1882588"/>
            <a:ext cx="4292301" cy="1355464"/>
          </a:xfrm>
          <a:prstGeom prst="roundRect">
            <a:avLst>
              <a:gd name="adj" fmla="val 3333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bj-016: Ara · VLSU / AXI 32 × lanes"/>
          <p:cNvSpPr txBox="1"/>
          <p:nvPr/>
        </p:nvSpPr>
        <p:spPr>
          <a:xfrm>
            <a:off x="6108752" y="1986206"/>
            <a:ext cx="2767899" cy="337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Ara · VLSU / AXI 32 × lanes</a:t>
            </a:r>
          </a:p>
        </p:txBody>
      </p:sp>
      <p:sp>
        <p:nvSpPr>
          <p:cNvPr id="17" name="ara-filter"/>
          <p:cNvSpPr/>
          <p:nvPr/>
        </p:nvSpPr>
        <p:spPr>
          <a:xfrm>
            <a:off x="5497158" y="2454895"/>
            <a:ext cx="1054249" cy="617489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bj-018: 失效过滤"/>
          <p:cNvSpPr txBox="1"/>
          <p:nvPr/>
        </p:nvSpPr>
        <p:spPr>
          <a:xfrm>
            <a:off x="5572461" y="2493149"/>
            <a:ext cx="903642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9" name="obj-019: 现有 filter"/>
          <p:cNvSpPr txBox="1"/>
          <p:nvPr/>
        </p:nvSpPr>
        <p:spPr>
          <a:xfrm>
            <a:off x="5648288" y="2759724"/>
            <a:ext cx="751988" cy="2289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6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20" name="ara-split"/>
          <p:cNvSpPr/>
          <p:nvPr/>
        </p:nvSpPr>
        <p:spPr>
          <a:xfrm>
            <a:off x="6702014" y="2454895"/>
            <a:ext cx="1054249" cy="617489"/>
          </a:xfrm>
          <a:prstGeom prst="roundRect">
            <a:avLst>
              <a:gd name="adj" fmla="val 7317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bj-021: 地址分流"/>
          <p:cNvSpPr txBox="1"/>
          <p:nvPr/>
        </p:nvSpPr>
        <p:spPr>
          <a:xfrm>
            <a:off x="6777318" y="2493149"/>
            <a:ext cx="903642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22" name="obj-022: 新增 GB 支路"/>
          <p:cNvSpPr txBox="1"/>
          <p:nvPr/>
        </p:nvSpPr>
        <p:spPr>
          <a:xfrm>
            <a:off x="6737095" y="2759724"/>
            <a:ext cx="984088" cy="2289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6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新增 GB 支路</a:t>
            </a:r>
          </a:p>
        </p:txBody>
      </p:sp>
      <p:sp>
        <p:nvSpPr>
          <p:cNvPr id="23" name="ara-width"/>
          <p:cNvSpPr/>
          <p:nvPr/>
        </p:nvSpPr>
        <p:spPr>
          <a:xfrm>
            <a:off x="7906871" y="2454895"/>
            <a:ext cx="1581374" cy="617489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bj-024: 位宽适配"/>
          <p:cNvSpPr txBox="1"/>
          <p:nvPr/>
        </p:nvSpPr>
        <p:spPr>
          <a:xfrm>
            <a:off x="8245737" y="2493149"/>
            <a:ext cx="903642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25" name="obj-025: 普通路径 → 64 bit"/>
          <p:cNvSpPr txBox="1"/>
          <p:nvPr/>
        </p:nvSpPr>
        <p:spPr>
          <a:xfrm>
            <a:off x="8039670" y="2759724"/>
            <a:ext cx="1315776" cy="2289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6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普通路径 → 64 bit</a:t>
            </a:r>
          </a:p>
        </p:txBody>
      </p:sp>
      <p:cxnSp>
        <p:nvCxnSpPr>
          <p:cNvPr id="26" name="filter-to-split"/>
          <p:cNvCxnSpPr/>
          <p:nvPr/>
        </p:nvCxnSpPr>
        <p:spPr>
          <a:xfrm>
            <a:off x="6551407" y="2763640"/>
            <a:ext cx="150607" cy="0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cxnSp>
        <p:nvCxnSpPr>
          <p:cNvPr id="27" name="split-to-width"/>
          <p:cNvCxnSpPr/>
          <p:nvPr/>
        </p:nvCxnSpPr>
        <p:spPr>
          <a:xfrm>
            <a:off x="7756264" y="2763640"/>
            <a:ext cx="150607" cy="0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28" name="cpu-ara-control"/>
          <p:cNvSpPr/>
          <p:nvPr/>
        </p:nvSpPr>
        <p:spPr>
          <a:xfrm>
            <a:off x="2786231" y="1701860"/>
            <a:ext cx="3162748" cy="180728"/>
          </a:xfrm>
          <a:custGeom>
            <a:avLst/>
            <a:gdLst/>
            <a:ahLst/>
            <a:cxnLst/>
            <a:rect l="0" t="0" r="r" b="b"/>
            <a:pathLst>
              <a:path w="3162748" h="180728" fill="none">
                <a:moveTo>
                  <a:pt x="0" y="180728"/>
                </a:moveTo>
                <a:lnTo>
                  <a:pt x="0" y="0"/>
                </a:lnTo>
                <a:lnTo>
                  <a:pt x="3162748" y="0"/>
                </a:lnTo>
                <a:lnTo>
                  <a:pt x="3162748" y="180728"/>
                </a:lnTo>
              </a:path>
            </a:pathLst>
          </a:custGeom>
          <a:noFill/>
          <a:ln w="18826" cap="flat">
            <a:solidFill>
              <a:srgbClr val="8663A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bj-029: 指令 / MMU 协作"/>
          <p:cNvSpPr txBox="1"/>
          <p:nvPr/>
        </p:nvSpPr>
        <p:spPr>
          <a:xfrm>
            <a:off x="3642273" y="1455768"/>
            <a:ext cx="1375360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0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指令 / MMU 协作</a:t>
            </a:r>
          </a:p>
        </p:txBody>
      </p:sp>
      <p:sp>
        <p:nvSpPr>
          <p:cNvPr id="30" name="idma-master"/>
          <p:cNvSpPr/>
          <p:nvPr/>
        </p:nvSpPr>
        <p:spPr>
          <a:xfrm>
            <a:off x="9902414" y="1882588"/>
            <a:ext cx="1656678" cy="1355464"/>
          </a:xfrm>
          <a:prstGeom prst="roundRect">
            <a:avLst>
              <a:gd name="adj" fmla="val 3333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bj-031: iDMA 数据"/>
          <p:cNvSpPr txBox="1"/>
          <p:nvPr/>
        </p:nvSpPr>
        <p:spPr>
          <a:xfrm>
            <a:off x="10121783" y="1970543"/>
            <a:ext cx="1217940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iDMA 数据</a:t>
            </a:r>
          </a:p>
        </p:txBody>
      </p:sp>
      <p:sp>
        <p:nvSpPr>
          <p:cNvPr id="32" name="obj-032: AXI 搬运主口"/>
          <p:cNvSpPr txBox="1"/>
          <p:nvPr/>
        </p:nvSpPr>
        <p:spPr>
          <a:xfrm>
            <a:off x="10104022" y="2281697"/>
            <a:ext cx="1253463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AXI 搬运主口</a:t>
            </a:r>
          </a:p>
        </p:txBody>
      </p:sp>
      <p:sp>
        <p:nvSpPr>
          <p:cNvPr id="33" name="obj-033: 内存 ↔ 内存"/>
          <p:cNvSpPr txBox="1"/>
          <p:nvPr/>
        </p:nvSpPr>
        <p:spPr>
          <a:xfrm>
            <a:off x="10109534" y="2530199"/>
            <a:ext cx="1242438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内存 ↔ 内存</a:t>
            </a:r>
          </a:p>
        </p:txBody>
      </p:sp>
      <p:sp>
        <p:nvSpPr>
          <p:cNvPr id="34" name="slink-master"/>
          <p:cNvSpPr/>
          <p:nvPr/>
        </p:nvSpPr>
        <p:spPr>
          <a:xfrm>
            <a:off x="11822654" y="1882588"/>
            <a:ext cx="1807285" cy="1355464"/>
          </a:xfrm>
          <a:prstGeom prst="roundRect">
            <a:avLst>
              <a:gd name="adj" fmla="val 3333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bj-035: Serial Link RX"/>
          <p:cNvSpPr txBox="1"/>
          <p:nvPr/>
        </p:nvSpPr>
        <p:spPr>
          <a:xfrm>
            <a:off x="11958553" y="1970543"/>
            <a:ext cx="1535486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" name="obj-036: 远端请求入口"/>
          <p:cNvSpPr txBox="1"/>
          <p:nvPr/>
        </p:nvSpPr>
        <p:spPr>
          <a:xfrm>
            <a:off x="12067391" y="2281697"/>
            <a:ext cx="1317812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7" name="vga-master"/>
          <p:cNvSpPr/>
          <p:nvPr/>
        </p:nvSpPr>
        <p:spPr>
          <a:xfrm>
            <a:off x="13893501" y="1882588"/>
            <a:ext cx="1430767" cy="1355464"/>
          </a:xfrm>
          <a:prstGeom prst="roundRect">
            <a:avLst>
              <a:gd name="adj" fmla="val 3333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bj-038: VGA"/>
          <p:cNvSpPr txBox="1"/>
          <p:nvPr/>
        </p:nvSpPr>
        <p:spPr>
          <a:xfrm>
            <a:off x="14305517" y="1970543"/>
            <a:ext cx="606735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9" name="obj-039: 帧缓冲读取"/>
          <p:cNvSpPr txBox="1"/>
          <p:nvPr/>
        </p:nvSpPr>
        <p:spPr>
          <a:xfrm>
            <a:off x="14044108" y="2281697"/>
            <a:ext cx="1129553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40" name="usb-master"/>
          <p:cNvSpPr/>
          <p:nvPr/>
        </p:nvSpPr>
        <p:spPr>
          <a:xfrm>
            <a:off x="15587831" y="1882588"/>
            <a:ext cx="1430767" cy="1355464"/>
          </a:xfrm>
          <a:prstGeom prst="roundRect">
            <a:avLst>
              <a:gd name="adj" fmla="val 3333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bj-041: USB DMA"/>
          <p:cNvSpPr txBox="1"/>
          <p:nvPr/>
        </p:nvSpPr>
        <p:spPr>
          <a:xfrm>
            <a:off x="15733702" y="1970543"/>
            <a:ext cx="1139025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42" name="obj-042: OHCI 主口"/>
          <p:cNvSpPr txBox="1"/>
          <p:nvPr/>
        </p:nvSpPr>
        <p:spPr>
          <a:xfrm>
            <a:off x="15785779" y="2281697"/>
            <a:ext cx="1034871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43" name="axi-ext-master"/>
          <p:cNvSpPr/>
          <p:nvPr/>
        </p:nvSpPr>
        <p:spPr>
          <a:xfrm>
            <a:off x="17282160" y="1882588"/>
            <a:ext cx="1543722" cy="1355464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5061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bj-044: AXI 扩展"/>
          <p:cNvSpPr txBox="1"/>
          <p:nvPr/>
        </p:nvSpPr>
        <p:spPr>
          <a:xfrm>
            <a:off x="17580468" y="1986808"/>
            <a:ext cx="947107" cy="3253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AXI 扩展</a:t>
            </a:r>
          </a:p>
        </p:txBody>
      </p:sp>
      <p:sp>
        <p:nvSpPr>
          <p:cNvPr id="45" name="obj-045: 外部 master"/>
          <p:cNvSpPr txBox="1"/>
          <p:nvPr/>
        </p:nvSpPr>
        <p:spPr>
          <a:xfrm>
            <a:off x="17455788" y="2281697"/>
            <a:ext cx="1196467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外部 master</a:t>
            </a:r>
          </a:p>
        </p:txBody>
      </p:sp>
      <p:sp>
        <p:nvSpPr>
          <p:cNvPr id="46" name="obj-046: 可选入口"/>
          <p:cNvSpPr txBox="1"/>
          <p:nvPr/>
        </p:nvSpPr>
        <p:spPr>
          <a:xfrm>
            <a:off x="17583374" y="2530199"/>
            <a:ext cx="941294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可选入口</a:t>
            </a:r>
          </a:p>
        </p:txBody>
      </p:sp>
      <p:sp>
        <p:nvSpPr>
          <p:cNvPr id="47" name="xbar"/>
          <p:cNvSpPr/>
          <p:nvPr/>
        </p:nvSpPr>
        <p:spPr>
          <a:xfrm>
            <a:off x="677732" y="3765176"/>
            <a:ext cx="18148150" cy="1295221"/>
          </a:xfrm>
          <a:prstGeom prst="roundRect">
            <a:avLst>
              <a:gd name="adj" fmla="val 2325"/>
            </a:avLst>
          </a:prstGeom>
          <a:solidFill>
            <a:srgbClr val="DDEAF5"/>
          </a:solidFill>
          <a:ln w="2259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bj-048: AXI Crossbar"/>
          <p:cNvSpPr txBox="1"/>
          <p:nvPr/>
        </p:nvSpPr>
        <p:spPr>
          <a:xfrm>
            <a:off x="8712477" y="3920603"/>
            <a:ext cx="2078660" cy="506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9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49" name="obj-049: 7 × 5 基础端口 + 扩展 · 64 bit 数据 / 48 bit 地址 "/>
          <p:cNvSpPr txBox="1"/>
          <p:nvPr/>
        </p:nvSpPr>
        <p:spPr>
          <a:xfrm>
            <a:off x="6030383" y="4373930"/>
            <a:ext cx="7442848" cy="3253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7 × 5 基础端口 + 扩展 · 64 bit 数据 / 48 bit 地址 · 按地址译码 / 各目标独立仲裁</a:t>
            </a:r>
          </a:p>
        </p:txBody>
      </p:sp>
      <p:sp>
        <p:nvSpPr>
          <p:cNvPr id="50" name="obj-050: 输入侧 AXI RT：按配置可选"/>
          <p:cNvSpPr txBox="1"/>
          <p:nvPr/>
        </p:nvSpPr>
        <p:spPr>
          <a:xfrm>
            <a:off x="1016598" y="4723941"/>
            <a:ext cx="2067976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输入侧 AXI RT：按配置可选</a:t>
            </a:r>
          </a:p>
        </p:txBody>
      </p:sp>
      <p:sp>
        <p:nvSpPr>
          <p:cNvPr id="51" name="obj-051: DECERR：未映射请求"/>
          <p:cNvSpPr txBox="1"/>
          <p:nvPr/>
        </p:nvSpPr>
        <p:spPr>
          <a:xfrm>
            <a:off x="16541550" y="4723941"/>
            <a:ext cx="1681904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DECERR：未映射请求</a:t>
            </a:r>
          </a:p>
        </p:txBody>
      </p:sp>
      <p:cxnSp>
        <p:nvCxnSpPr>
          <p:cNvPr id="52" name="master-S0"/>
          <p:cNvCxnSpPr/>
          <p:nvPr/>
        </p:nvCxnSpPr>
        <p:spPr>
          <a:xfrm>
            <a:off x="1920240" y="3238052"/>
            <a:ext cx="0" cy="527124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53" name="pin-S0"/>
          <p:cNvSpPr/>
          <p:nvPr/>
        </p:nvSpPr>
        <p:spPr>
          <a:xfrm>
            <a:off x="1558783" y="3689873"/>
            <a:ext cx="722914" cy="25603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obj-054: S0"/>
          <p:cNvSpPr txBox="1"/>
          <p:nvPr/>
        </p:nvSpPr>
        <p:spPr>
          <a:xfrm>
            <a:off x="1728098" y="3691078"/>
            <a:ext cx="384283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55" name="master-S1"/>
          <p:cNvCxnSpPr/>
          <p:nvPr/>
        </p:nvCxnSpPr>
        <p:spPr>
          <a:xfrm>
            <a:off x="4254649" y="3238052"/>
            <a:ext cx="0" cy="527124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56" name="pin-S1"/>
          <p:cNvSpPr/>
          <p:nvPr/>
        </p:nvSpPr>
        <p:spPr>
          <a:xfrm>
            <a:off x="3893193" y="3689873"/>
            <a:ext cx="722914" cy="25603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bj-057: S1"/>
          <p:cNvSpPr txBox="1"/>
          <p:nvPr/>
        </p:nvSpPr>
        <p:spPr>
          <a:xfrm>
            <a:off x="4062508" y="3691078"/>
            <a:ext cx="384283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58" name="master-S2"/>
          <p:cNvSpPr/>
          <p:nvPr/>
        </p:nvSpPr>
        <p:spPr>
          <a:xfrm>
            <a:off x="7492701" y="3072384"/>
            <a:ext cx="1204856" cy="692792"/>
          </a:xfrm>
          <a:custGeom>
            <a:avLst/>
            <a:gdLst/>
            <a:ahLst/>
            <a:cxnLst/>
            <a:rect l="0" t="0" r="r" b="b"/>
            <a:pathLst>
              <a:path w="1204856" h="692792" fill="none">
                <a:moveTo>
                  <a:pt x="1204856" y="0"/>
                </a:moveTo>
                <a:lnTo>
                  <a:pt x="1204856" y="414169"/>
                </a:lnTo>
                <a:lnTo>
                  <a:pt x="0" y="414169"/>
                </a:lnTo>
                <a:lnTo>
                  <a:pt x="0" y="692792"/>
                </a:lnTo>
              </a:path>
            </a:pathLst>
          </a:custGeom>
          <a:noFill/>
          <a:ln w="22591" cap="flat">
            <a:solidFill>
              <a:srgbClr val="347B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in-S2"/>
          <p:cNvSpPr/>
          <p:nvPr/>
        </p:nvSpPr>
        <p:spPr>
          <a:xfrm>
            <a:off x="7131244" y="3689873"/>
            <a:ext cx="722914" cy="25603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obj-060: S2"/>
          <p:cNvSpPr txBox="1"/>
          <p:nvPr/>
        </p:nvSpPr>
        <p:spPr>
          <a:xfrm>
            <a:off x="7300560" y="3691078"/>
            <a:ext cx="384283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61" name="master-S3"/>
          <p:cNvCxnSpPr/>
          <p:nvPr/>
        </p:nvCxnSpPr>
        <p:spPr>
          <a:xfrm>
            <a:off x="10730753" y="3238052"/>
            <a:ext cx="0" cy="527124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62" name="pin-S3"/>
          <p:cNvSpPr/>
          <p:nvPr/>
        </p:nvSpPr>
        <p:spPr>
          <a:xfrm>
            <a:off x="10369296" y="3689873"/>
            <a:ext cx="722914" cy="25603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obj-063: S3"/>
          <p:cNvSpPr txBox="1"/>
          <p:nvPr/>
        </p:nvSpPr>
        <p:spPr>
          <a:xfrm>
            <a:off x="10538611" y="3691078"/>
            <a:ext cx="384283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64" name="master-S4"/>
          <p:cNvCxnSpPr/>
          <p:nvPr/>
        </p:nvCxnSpPr>
        <p:spPr>
          <a:xfrm>
            <a:off x="12726296" y="3238052"/>
            <a:ext cx="0" cy="527124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65" name="pin-S4"/>
          <p:cNvSpPr/>
          <p:nvPr/>
        </p:nvSpPr>
        <p:spPr>
          <a:xfrm>
            <a:off x="12364840" y="3689873"/>
            <a:ext cx="722914" cy="25603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bj-066: S4"/>
          <p:cNvSpPr txBox="1"/>
          <p:nvPr/>
        </p:nvSpPr>
        <p:spPr>
          <a:xfrm>
            <a:off x="12534155" y="3691078"/>
            <a:ext cx="384283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67" name="master-S5"/>
          <p:cNvCxnSpPr/>
          <p:nvPr/>
        </p:nvCxnSpPr>
        <p:spPr>
          <a:xfrm>
            <a:off x="14608885" y="3238052"/>
            <a:ext cx="0" cy="527124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68" name="pin-S5"/>
          <p:cNvSpPr/>
          <p:nvPr/>
        </p:nvSpPr>
        <p:spPr>
          <a:xfrm>
            <a:off x="14247428" y="3689873"/>
            <a:ext cx="722914" cy="25603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obj-069: S5"/>
          <p:cNvSpPr txBox="1"/>
          <p:nvPr/>
        </p:nvSpPr>
        <p:spPr>
          <a:xfrm>
            <a:off x="14416743" y="3691078"/>
            <a:ext cx="384283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70" name="master-S6"/>
          <p:cNvCxnSpPr/>
          <p:nvPr/>
        </p:nvCxnSpPr>
        <p:spPr>
          <a:xfrm>
            <a:off x="16303214" y="3238052"/>
            <a:ext cx="0" cy="527124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71" name="pin-S6"/>
          <p:cNvSpPr/>
          <p:nvPr/>
        </p:nvSpPr>
        <p:spPr>
          <a:xfrm>
            <a:off x="15941757" y="3689873"/>
            <a:ext cx="722914" cy="25603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obj-072: S6"/>
          <p:cNvSpPr txBox="1"/>
          <p:nvPr/>
        </p:nvSpPr>
        <p:spPr>
          <a:xfrm>
            <a:off x="16111072" y="3691078"/>
            <a:ext cx="384283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73" name="master-S_EXT"/>
          <p:cNvCxnSpPr/>
          <p:nvPr/>
        </p:nvCxnSpPr>
        <p:spPr>
          <a:xfrm>
            <a:off x="18050256" y="3238052"/>
            <a:ext cx="0" cy="527124"/>
          </a:xfrm>
          <a:prstGeom prst="line">
            <a:avLst/>
          </a:prstGeom>
          <a:ln w="22591" cap="flat">
            <a:solidFill>
              <a:srgbClr val="8B99A7"/>
            </a:solidFill>
            <a:custDash>
              <a:ds d="266667" sp="200000"/>
            </a:custDash>
            <a:tailEnd type="triangle" w="med" len="med"/>
          </a:ln>
          <a:effectLst/>
        </p:spPr>
      </p:cxnSp>
      <p:sp>
        <p:nvSpPr>
          <p:cNvPr id="74" name="pin-S_EXT"/>
          <p:cNvSpPr/>
          <p:nvPr/>
        </p:nvSpPr>
        <p:spPr>
          <a:xfrm>
            <a:off x="17688799" y="3689873"/>
            <a:ext cx="722914" cy="25603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bj-075: S_EXT"/>
          <p:cNvSpPr txBox="1"/>
          <p:nvPr/>
        </p:nvSpPr>
        <p:spPr>
          <a:xfrm>
            <a:off x="17728298" y="3691078"/>
            <a:ext cx="643916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cxnSp>
        <p:nvCxnSpPr>
          <p:cNvPr id="76" name="slave-M0"/>
          <p:cNvCxnSpPr/>
          <p:nvPr/>
        </p:nvCxnSpPr>
        <p:spPr>
          <a:xfrm>
            <a:off x="1694330" y="5060397"/>
            <a:ext cx="0" cy="700323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77" name="pin-M0"/>
          <p:cNvSpPr/>
          <p:nvPr/>
        </p:nvSpPr>
        <p:spPr>
          <a:xfrm>
            <a:off x="1325342" y="4924851"/>
            <a:ext cx="737975" cy="25603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bj-078: M0"/>
          <p:cNvSpPr txBox="1"/>
          <p:nvPr/>
        </p:nvSpPr>
        <p:spPr>
          <a:xfrm>
            <a:off x="1484850" y="4933586"/>
            <a:ext cx="418958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cxnSp>
        <p:nvCxnSpPr>
          <p:cNvPr id="79" name="slave-M1"/>
          <p:cNvCxnSpPr/>
          <p:nvPr/>
        </p:nvCxnSpPr>
        <p:spPr>
          <a:xfrm>
            <a:off x="4292301" y="5060397"/>
            <a:ext cx="0" cy="700323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80" name="pin-M1"/>
          <p:cNvSpPr/>
          <p:nvPr/>
        </p:nvSpPr>
        <p:spPr>
          <a:xfrm>
            <a:off x="3923314" y="4924851"/>
            <a:ext cx="737975" cy="25603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obj-081: M1"/>
          <p:cNvSpPr txBox="1"/>
          <p:nvPr/>
        </p:nvSpPr>
        <p:spPr>
          <a:xfrm>
            <a:off x="4082822" y="4933586"/>
            <a:ext cx="418958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cxnSp>
        <p:nvCxnSpPr>
          <p:cNvPr id="82" name="slave-M2"/>
          <p:cNvCxnSpPr/>
          <p:nvPr/>
        </p:nvCxnSpPr>
        <p:spPr>
          <a:xfrm>
            <a:off x="7417398" y="5060397"/>
            <a:ext cx="0" cy="700323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83" name="pin-M2"/>
          <p:cNvSpPr/>
          <p:nvPr/>
        </p:nvSpPr>
        <p:spPr>
          <a:xfrm>
            <a:off x="7048410" y="4924851"/>
            <a:ext cx="737975" cy="25603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obj-084: M2"/>
          <p:cNvSpPr txBox="1"/>
          <p:nvPr/>
        </p:nvSpPr>
        <p:spPr>
          <a:xfrm>
            <a:off x="7207919" y="4933586"/>
            <a:ext cx="418958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cxnSp>
        <p:nvCxnSpPr>
          <p:cNvPr id="85" name="slave-M3"/>
          <p:cNvCxnSpPr/>
          <p:nvPr/>
        </p:nvCxnSpPr>
        <p:spPr>
          <a:xfrm>
            <a:off x="10429539" y="5060397"/>
            <a:ext cx="0" cy="700323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86" name="pin-M3"/>
          <p:cNvSpPr/>
          <p:nvPr/>
        </p:nvSpPr>
        <p:spPr>
          <a:xfrm>
            <a:off x="10060552" y="4924851"/>
            <a:ext cx="737975" cy="25603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obj-087: M3"/>
          <p:cNvSpPr txBox="1"/>
          <p:nvPr/>
        </p:nvSpPr>
        <p:spPr>
          <a:xfrm>
            <a:off x="10220060" y="4933586"/>
            <a:ext cx="418958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cxnSp>
        <p:nvCxnSpPr>
          <p:cNvPr id="88" name="slave-M4"/>
          <p:cNvCxnSpPr/>
          <p:nvPr/>
        </p:nvCxnSpPr>
        <p:spPr>
          <a:xfrm>
            <a:off x="13102814" y="5060397"/>
            <a:ext cx="0" cy="700323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89" name="pin-M4"/>
          <p:cNvSpPr/>
          <p:nvPr/>
        </p:nvSpPr>
        <p:spPr>
          <a:xfrm>
            <a:off x="12733827" y="4924851"/>
            <a:ext cx="737975" cy="25603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obj-090: M4"/>
          <p:cNvSpPr txBox="1"/>
          <p:nvPr/>
        </p:nvSpPr>
        <p:spPr>
          <a:xfrm>
            <a:off x="12893335" y="4933586"/>
            <a:ext cx="418958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cxnSp>
        <p:nvCxnSpPr>
          <p:cNvPr id="91" name="slave-M_EXT"/>
          <p:cNvCxnSpPr/>
          <p:nvPr/>
        </p:nvCxnSpPr>
        <p:spPr>
          <a:xfrm>
            <a:off x="15776089" y="5060397"/>
            <a:ext cx="0" cy="700323"/>
          </a:xfrm>
          <a:prstGeom prst="line">
            <a:avLst/>
          </a:prstGeom>
          <a:ln w="22591" cap="flat">
            <a:solidFill>
              <a:srgbClr val="8B99A7"/>
            </a:solidFill>
            <a:custDash>
              <a:ds d="266667" sp="200000"/>
            </a:custDash>
            <a:tailEnd type="triangle" w="med" len="med"/>
          </a:ln>
          <a:effectLst/>
        </p:spPr>
      </p:cxnSp>
      <p:sp>
        <p:nvSpPr>
          <p:cNvPr id="92" name="pin-M_EXT"/>
          <p:cNvSpPr/>
          <p:nvPr/>
        </p:nvSpPr>
        <p:spPr>
          <a:xfrm>
            <a:off x="15407102" y="4924851"/>
            <a:ext cx="737975" cy="25603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bj-093: M_EXT"/>
          <p:cNvSpPr txBox="1"/>
          <p:nvPr/>
        </p:nvSpPr>
        <p:spPr>
          <a:xfrm>
            <a:off x="15436794" y="4933586"/>
            <a:ext cx="678591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" name="obj-094: AXI slave / 目标端"/>
          <p:cNvSpPr txBox="1"/>
          <p:nvPr/>
        </p:nvSpPr>
        <p:spPr>
          <a:xfrm>
            <a:off x="17070016" y="5346551"/>
            <a:ext cx="1704448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AXI slave / 目标端</a:t>
            </a:r>
          </a:p>
        </p:txBody>
      </p:sp>
      <p:sp>
        <p:nvSpPr>
          <p:cNvPr id="95" name="debug-target"/>
          <p:cNvSpPr/>
          <p:nvPr/>
        </p:nvSpPr>
        <p:spPr>
          <a:xfrm>
            <a:off x="677732" y="5760720"/>
            <a:ext cx="2033195" cy="1280160"/>
          </a:xfrm>
          <a:prstGeom prst="roundRect">
            <a:avLst>
              <a:gd name="adj" fmla="val 3529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bj-096: Debug 目标"/>
          <p:cNvSpPr txBox="1"/>
          <p:nvPr/>
        </p:nvSpPr>
        <p:spPr>
          <a:xfrm>
            <a:off x="1053744" y="5856807"/>
            <a:ext cx="1281172" cy="337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7" name="obj-097: 调试模块地址窗口"/>
          <p:cNvSpPr txBox="1"/>
          <p:nvPr/>
        </p:nvSpPr>
        <p:spPr>
          <a:xfrm>
            <a:off x="847165" y="6159829"/>
            <a:ext cx="1694329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sp>
        <p:nvSpPr>
          <p:cNvPr id="98" name="obj-098: 与 SBA 主口分开"/>
          <p:cNvSpPr txBox="1"/>
          <p:nvPr/>
        </p:nvSpPr>
        <p:spPr>
          <a:xfrm>
            <a:off x="903884" y="6408330"/>
            <a:ext cx="1580892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与 SBA 主口分开</a:t>
            </a:r>
          </a:p>
        </p:txBody>
      </p:sp>
      <p:sp>
        <p:nvSpPr>
          <p:cNvPr id="99" name="reg-bridge"/>
          <p:cNvSpPr/>
          <p:nvPr/>
        </p:nvSpPr>
        <p:spPr>
          <a:xfrm>
            <a:off x="3049793" y="5760720"/>
            <a:ext cx="2485016" cy="1280160"/>
          </a:xfrm>
          <a:prstGeom prst="roundRect">
            <a:avLst>
              <a:gd name="adj" fmla="val 3529"/>
            </a:avLst>
          </a:prstGeom>
          <a:solidFill>
            <a:srgbClr val="F3EDF8"/>
          </a:solidFill>
          <a:ln w="15061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bj-100: AXI → Regbus"/>
          <p:cNvSpPr txBox="1"/>
          <p:nvPr/>
        </p:nvSpPr>
        <p:spPr>
          <a:xfrm>
            <a:off x="3504620" y="5848674"/>
            <a:ext cx="1575362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01" name="obj-101: 原子适配 / 桥接"/>
          <p:cNvSpPr txBox="1"/>
          <p:nvPr/>
        </p:nvSpPr>
        <p:spPr>
          <a:xfrm>
            <a:off x="3528047" y="6159829"/>
            <a:ext cx="1528509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原子适配 / 桥接</a:t>
            </a:r>
          </a:p>
        </p:txBody>
      </p:sp>
      <p:sp>
        <p:nvSpPr>
          <p:cNvPr id="102" name="obj-102: 32 bit 寄存器访问"/>
          <p:cNvSpPr txBox="1"/>
          <p:nvPr/>
        </p:nvSpPr>
        <p:spPr>
          <a:xfrm>
            <a:off x="3454879" y="6408330"/>
            <a:ext cx="1674845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32 bit 寄存器访问</a:t>
            </a:r>
          </a:p>
        </p:txBody>
      </p:sp>
      <p:sp>
        <p:nvSpPr>
          <p:cNvPr id="103" name="memory-target"/>
          <p:cNvSpPr/>
          <p:nvPr/>
        </p:nvSpPr>
        <p:spPr>
          <a:xfrm>
            <a:off x="5911327" y="5760720"/>
            <a:ext cx="3012141" cy="1280160"/>
          </a:xfrm>
          <a:prstGeom prst="roundRect">
            <a:avLst>
              <a:gd name="adj" fmla="val 3529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bj-104: 主存 / SPM 共用目标"/>
          <p:cNvSpPr txBox="1"/>
          <p:nvPr/>
        </p:nvSpPr>
        <p:spPr>
          <a:xfrm>
            <a:off x="6397623" y="5805300"/>
            <a:ext cx="2039549" cy="3132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1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05" name="memory-atomics"/>
          <p:cNvSpPr/>
          <p:nvPr/>
        </p:nvSpPr>
        <p:spPr>
          <a:xfrm>
            <a:off x="6024282" y="6189950"/>
            <a:ext cx="1242508" cy="670201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bj-106: 原子适配"/>
          <p:cNvSpPr txBox="1"/>
          <p:nvPr/>
        </p:nvSpPr>
        <p:spPr>
          <a:xfrm>
            <a:off x="6189950" y="6235735"/>
            <a:ext cx="903642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07" name="obj-107: AMO / LRSC"/>
          <p:cNvSpPr txBox="1"/>
          <p:nvPr/>
        </p:nvSpPr>
        <p:spPr>
          <a:xfrm>
            <a:off x="6126672" y="6501104"/>
            <a:ext cx="1030199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cxnSp>
        <p:nvCxnSpPr>
          <p:cNvPr id="108" name="atomics-llc"/>
          <p:cNvCxnSpPr/>
          <p:nvPr/>
        </p:nvCxnSpPr>
        <p:spPr>
          <a:xfrm>
            <a:off x="7266791" y="6521286"/>
            <a:ext cx="188258" cy="0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109" name="llc"/>
          <p:cNvSpPr/>
          <p:nvPr/>
        </p:nvSpPr>
        <p:spPr>
          <a:xfrm>
            <a:off x="7455049" y="6189950"/>
            <a:ext cx="1355464" cy="670201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obj-110: LLC / SPM"/>
          <p:cNvSpPr txBox="1"/>
          <p:nvPr/>
        </p:nvSpPr>
        <p:spPr>
          <a:xfrm>
            <a:off x="7614422" y="6235735"/>
            <a:ext cx="1036718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11" name="obj-111: 同一 SRAM 阵列"/>
          <p:cNvSpPr txBox="1"/>
          <p:nvPr/>
        </p:nvSpPr>
        <p:spPr>
          <a:xfrm>
            <a:off x="7544961" y="6517370"/>
            <a:ext cx="1175641" cy="2289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6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同一 SRAM 阵列</a:t>
            </a:r>
          </a:p>
        </p:txBody>
      </p:sp>
      <p:sp>
        <p:nvSpPr>
          <p:cNvPr id="112" name="idma-target"/>
          <p:cNvSpPr/>
          <p:nvPr/>
        </p:nvSpPr>
        <p:spPr>
          <a:xfrm>
            <a:off x="9262334" y="5760720"/>
            <a:ext cx="2334409" cy="1280160"/>
          </a:xfrm>
          <a:prstGeom prst="roundRect">
            <a:avLst>
              <a:gd name="adj" fmla="val 3529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obj-113: iDMA 配置"/>
          <p:cNvSpPr txBox="1"/>
          <p:nvPr/>
        </p:nvSpPr>
        <p:spPr>
          <a:xfrm>
            <a:off x="9841554" y="5856807"/>
            <a:ext cx="1175970" cy="337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14" name="obj-114: 原子适配 → AXI→Reg"/>
          <p:cNvSpPr txBox="1"/>
          <p:nvPr/>
        </p:nvSpPr>
        <p:spPr>
          <a:xfrm>
            <a:off x="9430243" y="6159829"/>
            <a:ext cx="1998591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15" name="obj-115: wrapper 内部寄存器"/>
          <p:cNvSpPr txBox="1"/>
          <p:nvPr/>
        </p:nvSpPr>
        <p:spPr>
          <a:xfrm>
            <a:off x="9511412" y="6408330"/>
            <a:ext cx="1836253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16" name="slink-target"/>
          <p:cNvSpPr/>
          <p:nvPr/>
        </p:nvSpPr>
        <p:spPr>
          <a:xfrm>
            <a:off x="11935609" y="5760720"/>
            <a:ext cx="2334409" cy="1280160"/>
          </a:xfrm>
          <a:prstGeom prst="roundRect">
            <a:avLst>
              <a:gd name="adj" fmla="val 3529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obj-117: Serial Link TX"/>
          <p:cNvSpPr txBox="1"/>
          <p:nvPr/>
        </p:nvSpPr>
        <p:spPr>
          <a:xfrm>
            <a:off x="12374088" y="5856807"/>
            <a:ext cx="1457453" cy="337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18" name="obj-118: 远端数据目标窗口"/>
          <p:cNvSpPr txBox="1"/>
          <p:nvPr/>
        </p:nvSpPr>
        <p:spPr>
          <a:xfrm>
            <a:off x="12255649" y="6159829"/>
            <a:ext cx="1694329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sp>
        <p:nvSpPr>
          <p:cNvPr id="119" name="obj-119: 经链路送往对端"/>
          <p:cNvSpPr txBox="1"/>
          <p:nvPr/>
        </p:nvSpPr>
        <p:spPr>
          <a:xfrm>
            <a:off x="12349779" y="6408330"/>
            <a:ext cx="1506071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经链路送往对端</a:t>
            </a:r>
          </a:p>
        </p:txBody>
      </p:sp>
      <p:sp>
        <p:nvSpPr>
          <p:cNvPr id="120" name="axi-ext-target"/>
          <p:cNvSpPr/>
          <p:nvPr/>
        </p:nvSpPr>
        <p:spPr>
          <a:xfrm>
            <a:off x="14608885" y="5760720"/>
            <a:ext cx="2334409" cy="1280160"/>
          </a:xfrm>
          <a:prstGeom prst="roundRect">
            <a:avLst>
              <a:gd name="adj" fmla="val 3529"/>
            </a:avLst>
          </a:prstGeom>
          <a:solidFill>
            <a:srgbClr val="F4F6F8"/>
          </a:solidFill>
          <a:ln w="15061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obj-121: AXI 扩展目标"/>
          <p:cNvSpPr txBox="1"/>
          <p:nvPr/>
        </p:nvSpPr>
        <p:spPr>
          <a:xfrm>
            <a:off x="15074143" y="5856807"/>
            <a:ext cx="1403893" cy="337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AXI 扩展目标</a:t>
            </a:r>
          </a:p>
        </p:txBody>
      </p:sp>
      <p:sp>
        <p:nvSpPr>
          <p:cNvPr id="122" name="obj-122: 外部 slave"/>
          <p:cNvSpPr txBox="1"/>
          <p:nvPr/>
        </p:nvSpPr>
        <p:spPr>
          <a:xfrm>
            <a:off x="15251206" y="6159829"/>
            <a:ext cx="1049766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外部 slave</a:t>
            </a:r>
          </a:p>
        </p:txBody>
      </p:sp>
      <p:sp>
        <p:nvSpPr>
          <p:cNvPr id="123" name="obj-123: CPU 直访 GB 待定"/>
          <p:cNvSpPr txBox="1"/>
          <p:nvPr/>
        </p:nvSpPr>
        <p:spPr>
          <a:xfrm>
            <a:off x="14929295" y="6408330"/>
            <a:ext cx="1693588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CPU 直访 GB 待定</a:t>
            </a:r>
          </a:p>
        </p:txBody>
      </p:sp>
      <p:sp>
        <p:nvSpPr>
          <p:cNvPr id="124" name="platform-clock"/>
          <p:cNvSpPr/>
          <p:nvPr/>
        </p:nvSpPr>
        <p:spPr>
          <a:xfrm>
            <a:off x="19880132" y="1882588"/>
            <a:ext cx="2710927" cy="1355464"/>
          </a:xfrm>
          <a:prstGeom prst="roundRect">
            <a:avLst>
              <a:gd name="adj" fmla="val 3333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obj-125: PLL / 时钟与复位"/>
          <p:cNvSpPr txBox="1"/>
          <p:nvPr/>
        </p:nvSpPr>
        <p:spPr>
          <a:xfrm>
            <a:off x="20287965" y="1970543"/>
            <a:ext cx="1895260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PLL / 时钟与复位</a:t>
            </a:r>
          </a:p>
        </p:txBody>
      </p:sp>
      <p:sp>
        <p:nvSpPr>
          <p:cNvPr id="126" name="obj-126: 安全时钟选择 / 分频"/>
          <p:cNvSpPr txBox="1"/>
          <p:nvPr/>
        </p:nvSpPr>
        <p:spPr>
          <a:xfrm>
            <a:off x="20283082" y="2281697"/>
            <a:ext cx="1905026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安全时钟选择 / 分频</a:t>
            </a:r>
          </a:p>
        </p:txBody>
      </p:sp>
      <p:sp>
        <p:nvSpPr>
          <p:cNvPr id="127" name="obj-127: clk_i / rst_ni 分发"/>
          <p:cNvSpPr txBox="1"/>
          <p:nvPr/>
        </p:nvSpPr>
        <p:spPr>
          <a:xfrm>
            <a:off x="20405986" y="2530199"/>
            <a:ext cx="1659219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clk_i / rst_ni 分发</a:t>
            </a:r>
          </a:p>
        </p:txBody>
      </p:sp>
      <p:sp>
        <p:nvSpPr>
          <p:cNvPr id="128" name="tag-C1-127"/>
          <p:cNvSpPr/>
          <p:nvPr/>
        </p:nvSpPr>
        <p:spPr>
          <a:xfrm>
            <a:off x="22139238" y="2936838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obj-129: C1"/>
          <p:cNvSpPr txBox="1"/>
          <p:nvPr/>
        </p:nvSpPr>
        <p:spPr>
          <a:xfrm>
            <a:off x="22152886" y="2947380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cxnSp>
        <p:nvCxnSpPr>
          <p:cNvPr id="130" name="refclk"/>
          <p:cNvCxnSpPr/>
          <p:nvPr/>
        </p:nvCxnSpPr>
        <p:spPr>
          <a:xfrm>
            <a:off x="21235595" y="1513601"/>
            <a:ext cx="0" cy="368987"/>
          </a:xfrm>
          <a:prstGeom prst="line">
            <a:avLst/>
          </a:prstGeom>
          <a:ln w="22591" cap="flat">
            <a:solidFill>
              <a:srgbClr val="8B99A7"/>
            </a:solidFill>
            <a:tailEnd type="triangle" w="med" len="med"/>
          </a:ln>
          <a:effectLst/>
        </p:spPr>
      </p:cxnSp>
      <p:sp>
        <p:nvSpPr>
          <p:cNvPr id="131" name="obj-131: RefClk / POR"/>
          <p:cNvSpPr txBox="1"/>
          <p:nvPr/>
        </p:nvSpPr>
        <p:spPr>
          <a:xfrm>
            <a:off x="20623519" y="1235580"/>
            <a:ext cx="1224153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RefClk / POR</a:t>
            </a:r>
          </a:p>
        </p:txBody>
      </p:sp>
      <p:sp>
        <p:nvSpPr>
          <p:cNvPr id="132" name="clock-to-soc"/>
          <p:cNvSpPr/>
          <p:nvPr/>
        </p:nvSpPr>
        <p:spPr>
          <a:xfrm>
            <a:off x="18825882" y="2673275"/>
            <a:ext cx="1054249" cy="1995544"/>
          </a:xfrm>
          <a:custGeom>
            <a:avLst/>
            <a:gdLst/>
            <a:ahLst/>
            <a:cxnLst/>
            <a:rect l="0" t="0" r="r" b="b"/>
            <a:pathLst>
              <a:path w="1054249" h="1995544" fill="none">
                <a:moveTo>
                  <a:pt x="1054249" y="0"/>
                </a:moveTo>
                <a:lnTo>
                  <a:pt x="602428" y="0"/>
                </a:lnTo>
                <a:lnTo>
                  <a:pt x="602428" y="1995544"/>
                </a:lnTo>
                <a:lnTo>
                  <a:pt x="0" y="1995544"/>
                </a:lnTo>
              </a:path>
            </a:pathLst>
          </a:custGeom>
          <a:noFill/>
          <a:ln w="18073" cap="flat">
            <a:solidFill>
              <a:srgbClr val="8B99A7"/>
            </a:solidFill>
            <a:custDash>
              <a:ds d="333333" sp="25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obj-133: 平台时钟源"/>
          <p:cNvSpPr txBox="1"/>
          <p:nvPr/>
        </p:nvSpPr>
        <p:spPr>
          <a:xfrm>
            <a:off x="20768713" y="3426913"/>
            <a:ext cx="1084371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0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平台时钟源</a:t>
            </a:r>
          </a:p>
        </p:txBody>
      </p:sp>
      <p:sp>
        <p:nvSpPr>
          <p:cNvPr id="134" name="reg-peripherals"/>
          <p:cNvSpPr/>
          <p:nvPr/>
        </p:nvSpPr>
        <p:spPr>
          <a:xfrm>
            <a:off x="677732" y="7485171"/>
            <a:ext cx="4857078" cy="7439989"/>
          </a:xfrm>
          <a:prstGeom prst="roundRect">
            <a:avLst>
              <a:gd name="adj" fmla="val 1240"/>
            </a:avLst>
          </a:prstGeom>
          <a:solidFill>
            <a:srgbClr val="FAF8FC"/>
          </a:solidFill>
          <a:ln w="15061" cap="flat">
            <a:solidFill>
              <a:srgbClr val="B6A5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obj-135: Regbus decode / demux"/>
          <p:cNvSpPr txBox="1"/>
          <p:nvPr/>
        </p:nvSpPr>
        <p:spPr>
          <a:xfrm>
            <a:off x="1778040" y="7549932"/>
            <a:ext cx="2648931" cy="3614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8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Regbus decode / demux</a:t>
            </a:r>
          </a:p>
        </p:txBody>
      </p:sp>
      <p:sp>
        <p:nvSpPr>
          <p:cNvPr id="136" name="bridge-to-demux"/>
          <p:cNvSpPr/>
          <p:nvPr/>
        </p:nvSpPr>
        <p:spPr>
          <a:xfrm>
            <a:off x="489473" y="7040880"/>
            <a:ext cx="3802828" cy="1016598"/>
          </a:xfrm>
          <a:custGeom>
            <a:avLst/>
            <a:gdLst/>
            <a:ahLst/>
            <a:cxnLst/>
            <a:rect l="0" t="0" r="r" b="b"/>
            <a:pathLst>
              <a:path w="3802828" h="1016598" fill="none">
                <a:moveTo>
                  <a:pt x="3802828" y="0"/>
                </a:moveTo>
                <a:lnTo>
                  <a:pt x="3802828" y="225911"/>
                </a:lnTo>
                <a:lnTo>
                  <a:pt x="0" y="225911"/>
                </a:lnTo>
                <a:lnTo>
                  <a:pt x="0" y="903642"/>
                </a:lnTo>
                <a:lnTo>
                  <a:pt x="2613032" y="903642"/>
                </a:lnTo>
                <a:lnTo>
                  <a:pt x="2613032" y="1016598"/>
                </a:lnTo>
              </a:path>
            </a:pathLst>
          </a:custGeom>
          <a:noFill/>
          <a:ln w="22591" cap="flat">
            <a:solidFill>
              <a:srgbClr val="8663A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7" name="reg-spine"/>
          <p:cNvCxnSpPr/>
          <p:nvPr/>
        </p:nvCxnSpPr>
        <p:spPr>
          <a:xfrm>
            <a:off x="3102506" y="8057478"/>
            <a:ext cx="0" cy="6528816"/>
          </a:xfrm>
          <a:prstGeom prst="line">
            <a:avLst/>
          </a:prstGeom>
          <a:ln w="30121" cap="flat">
            <a:solidFill>
              <a:srgbClr val="8663A9"/>
            </a:solidFill>
          </a:ln>
          <a:effectLst/>
        </p:spPr>
      </p:cxnSp>
      <p:sp>
        <p:nvSpPr>
          <p:cNvPr id="138" name="bootrom"/>
          <p:cNvSpPr/>
          <p:nvPr/>
        </p:nvSpPr>
        <p:spPr>
          <a:xfrm>
            <a:off x="828339" y="8057478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A993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obj-139: Boot ROM"/>
          <p:cNvSpPr txBox="1"/>
          <p:nvPr/>
        </p:nvSpPr>
        <p:spPr>
          <a:xfrm>
            <a:off x="1318047" y="8073141"/>
            <a:ext cx="978475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" name="obj-140: 启动代码"/>
          <p:cNvSpPr txBox="1"/>
          <p:nvPr/>
        </p:nvSpPr>
        <p:spPr>
          <a:xfrm>
            <a:off x="1430767" y="8308991"/>
            <a:ext cx="753035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141" name="reg-bootrom"/>
          <p:cNvCxnSpPr/>
          <p:nvPr/>
        </p:nvCxnSpPr>
        <p:spPr>
          <a:xfrm flipH="1">
            <a:off x="2786231" y="8321040"/>
            <a:ext cx="31627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142" name="clint"/>
          <p:cNvSpPr/>
          <p:nvPr/>
        </p:nvSpPr>
        <p:spPr>
          <a:xfrm>
            <a:off x="3426311" y="8057478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A993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obj-143: CLINT"/>
          <p:cNvSpPr txBox="1"/>
          <p:nvPr/>
        </p:nvSpPr>
        <p:spPr>
          <a:xfrm>
            <a:off x="4085540" y="8073141"/>
            <a:ext cx="639433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4" name="obj-144: 软件 / 定时中断"/>
          <p:cNvSpPr txBox="1"/>
          <p:nvPr/>
        </p:nvSpPr>
        <p:spPr>
          <a:xfrm>
            <a:off x="3793851" y="8308991"/>
            <a:ext cx="1222812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145" name="reg-clint"/>
          <p:cNvCxnSpPr/>
          <p:nvPr/>
        </p:nvCxnSpPr>
        <p:spPr>
          <a:xfrm>
            <a:off x="3102506" y="8321040"/>
            <a:ext cx="32380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146" name="soc-regs"/>
          <p:cNvSpPr/>
          <p:nvPr/>
        </p:nvSpPr>
        <p:spPr>
          <a:xfrm>
            <a:off x="828339" y="8727679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A993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obj-147: SoC 寄存器"/>
          <p:cNvSpPr txBox="1"/>
          <p:nvPr/>
        </p:nvSpPr>
        <p:spPr>
          <a:xfrm>
            <a:off x="1258128" y="8743342"/>
            <a:ext cx="1098314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8" name="obj-148: 平台信息 / scratch"/>
          <p:cNvSpPr txBox="1"/>
          <p:nvPr/>
        </p:nvSpPr>
        <p:spPr>
          <a:xfrm>
            <a:off x="1105856" y="8979193"/>
            <a:ext cx="1402858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149" name="reg-soc-regs"/>
          <p:cNvCxnSpPr/>
          <p:nvPr/>
        </p:nvCxnSpPr>
        <p:spPr>
          <a:xfrm flipH="1">
            <a:off x="2786231" y="8991241"/>
            <a:ext cx="31627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150" name="plic"/>
          <p:cNvSpPr/>
          <p:nvPr/>
        </p:nvSpPr>
        <p:spPr>
          <a:xfrm>
            <a:off x="3426311" y="8727679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A993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obj-151: PLIC"/>
          <p:cNvSpPr txBox="1"/>
          <p:nvPr/>
        </p:nvSpPr>
        <p:spPr>
          <a:xfrm>
            <a:off x="4139723" y="8743342"/>
            <a:ext cx="531066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52" name="obj-152: 外部中断控制"/>
          <p:cNvSpPr txBox="1"/>
          <p:nvPr/>
        </p:nvSpPr>
        <p:spPr>
          <a:xfrm>
            <a:off x="3878132" y="8979193"/>
            <a:ext cx="105424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153" name="reg-plic"/>
          <p:cNvCxnSpPr/>
          <p:nvPr/>
        </p:nvCxnSpPr>
        <p:spPr>
          <a:xfrm>
            <a:off x="3102506" y="8991241"/>
            <a:ext cx="32380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154" name="llc-regs"/>
          <p:cNvSpPr/>
          <p:nvPr/>
        </p:nvSpPr>
        <p:spPr>
          <a:xfrm>
            <a:off x="828339" y="9397880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A993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obj-155: LLC 配置"/>
          <p:cNvSpPr txBox="1"/>
          <p:nvPr/>
        </p:nvSpPr>
        <p:spPr>
          <a:xfrm>
            <a:off x="1362788" y="9413544"/>
            <a:ext cx="888993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56" name="obj-156: SPM way / cache 控制"/>
          <p:cNvSpPr txBox="1"/>
          <p:nvPr/>
        </p:nvSpPr>
        <p:spPr>
          <a:xfrm>
            <a:off x="985612" y="9649394"/>
            <a:ext cx="1643347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SPM way / cache 控制</a:t>
            </a:r>
          </a:p>
        </p:txBody>
      </p:sp>
      <p:cxnSp>
        <p:nvCxnSpPr>
          <p:cNvPr id="157" name="reg-llc-regs"/>
          <p:cNvCxnSpPr/>
          <p:nvPr/>
        </p:nvCxnSpPr>
        <p:spPr>
          <a:xfrm flipH="1">
            <a:off x="2786231" y="9661443"/>
            <a:ext cx="31627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158" name="uart"/>
          <p:cNvSpPr/>
          <p:nvPr/>
        </p:nvSpPr>
        <p:spPr>
          <a:xfrm>
            <a:off x="3426311" y="9397880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A993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obj-159: UART"/>
          <p:cNvSpPr txBox="1"/>
          <p:nvPr/>
        </p:nvSpPr>
        <p:spPr>
          <a:xfrm>
            <a:off x="4105396" y="9413544"/>
            <a:ext cx="599722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60" name="obj-160: 串口控制"/>
          <p:cNvSpPr txBox="1"/>
          <p:nvPr/>
        </p:nvSpPr>
        <p:spPr>
          <a:xfrm>
            <a:off x="4028739" y="9649394"/>
            <a:ext cx="753035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161" name="reg-uart"/>
          <p:cNvCxnSpPr/>
          <p:nvPr/>
        </p:nvCxnSpPr>
        <p:spPr>
          <a:xfrm>
            <a:off x="3102506" y="9661443"/>
            <a:ext cx="32380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162" name="i2c"/>
          <p:cNvSpPr/>
          <p:nvPr/>
        </p:nvSpPr>
        <p:spPr>
          <a:xfrm>
            <a:off x="828339" y="10068082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A993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obj-163: I2C"/>
          <p:cNvSpPr txBox="1"/>
          <p:nvPr/>
        </p:nvSpPr>
        <p:spPr>
          <a:xfrm>
            <a:off x="1583316" y="10083745"/>
            <a:ext cx="447938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164" name="obj-164: 两线串行控制"/>
          <p:cNvSpPr txBox="1"/>
          <p:nvPr/>
        </p:nvSpPr>
        <p:spPr>
          <a:xfrm>
            <a:off x="1280160" y="10319596"/>
            <a:ext cx="105424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165" name="reg-i2c"/>
          <p:cNvCxnSpPr/>
          <p:nvPr/>
        </p:nvCxnSpPr>
        <p:spPr>
          <a:xfrm flipH="1">
            <a:off x="2786231" y="10331644"/>
            <a:ext cx="31627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166" name="spi"/>
          <p:cNvSpPr/>
          <p:nvPr/>
        </p:nvSpPr>
        <p:spPr>
          <a:xfrm>
            <a:off x="3426311" y="10068082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A993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obj-167: SPI host"/>
          <p:cNvSpPr txBox="1"/>
          <p:nvPr/>
        </p:nvSpPr>
        <p:spPr>
          <a:xfrm>
            <a:off x="3984586" y="10083745"/>
            <a:ext cx="841340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68" name="obj-168: Flash / SD 访问"/>
          <p:cNvSpPr txBox="1"/>
          <p:nvPr/>
        </p:nvSpPr>
        <p:spPr>
          <a:xfrm>
            <a:off x="3801781" y="10319596"/>
            <a:ext cx="1206951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Flash / SD 访问</a:t>
            </a:r>
          </a:p>
        </p:txBody>
      </p:sp>
      <p:cxnSp>
        <p:nvCxnSpPr>
          <p:cNvPr id="169" name="reg-spi"/>
          <p:cNvCxnSpPr/>
          <p:nvPr/>
        </p:nvCxnSpPr>
        <p:spPr>
          <a:xfrm>
            <a:off x="3102506" y="10331644"/>
            <a:ext cx="32380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170" name="gpio"/>
          <p:cNvSpPr/>
          <p:nvPr/>
        </p:nvSpPr>
        <p:spPr>
          <a:xfrm>
            <a:off x="828339" y="10738283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A993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obj-171: GPIO"/>
          <p:cNvSpPr txBox="1"/>
          <p:nvPr/>
        </p:nvSpPr>
        <p:spPr>
          <a:xfrm>
            <a:off x="1523749" y="10753946"/>
            <a:ext cx="567071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72" name="obj-172: 通用 IO"/>
          <p:cNvSpPr txBox="1"/>
          <p:nvPr/>
        </p:nvSpPr>
        <p:spPr>
          <a:xfrm>
            <a:off x="1489592" y="10989797"/>
            <a:ext cx="635385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173" name="reg-gpio"/>
          <p:cNvCxnSpPr/>
          <p:nvPr/>
        </p:nvCxnSpPr>
        <p:spPr>
          <a:xfrm flipH="1">
            <a:off x="2786231" y="11001846"/>
            <a:ext cx="31627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174" name="slink-regs"/>
          <p:cNvSpPr/>
          <p:nvPr/>
        </p:nvSpPr>
        <p:spPr>
          <a:xfrm>
            <a:off x="3426311" y="10738283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A993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obj-175: Serial Link 配置"/>
          <p:cNvSpPr txBox="1"/>
          <p:nvPr/>
        </p:nvSpPr>
        <p:spPr>
          <a:xfrm>
            <a:off x="3693815" y="10753946"/>
            <a:ext cx="1422884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76" name="obj-176: 链路控制"/>
          <p:cNvSpPr txBox="1"/>
          <p:nvPr/>
        </p:nvSpPr>
        <p:spPr>
          <a:xfrm>
            <a:off x="4028739" y="10989797"/>
            <a:ext cx="753035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77" name="reg-slink-regs"/>
          <p:cNvCxnSpPr/>
          <p:nvPr/>
        </p:nvCxnSpPr>
        <p:spPr>
          <a:xfrm>
            <a:off x="3102506" y="11001846"/>
            <a:ext cx="32380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178" name="vga-regs"/>
          <p:cNvSpPr/>
          <p:nvPr/>
        </p:nvSpPr>
        <p:spPr>
          <a:xfrm>
            <a:off x="828339" y="11408485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A993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obj-179: VGA 配置"/>
          <p:cNvSpPr txBox="1"/>
          <p:nvPr/>
        </p:nvSpPr>
        <p:spPr>
          <a:xfrm>
            <a:off x="1348404" y="11424148"/>
            <a:ext cx="917762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80" name="obj-180: 显示时序 / 帧地址"/>
          <p:cNvSpPr txBox="1"/>
          <p:nvPr/>
        </p:nvSpPr>
        <p:spPr>
          <a:xfrm>
            <a:off x="1120575" y="11659998"/>
            <a:ext cx="137341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显示时序 / 帧地址</a:t>
            </a:r>
          </a:p>
        </p:txBody>
      </p:sp>
      <p:cxnSp>
        <p:nvCxnSpPr>
          <p:cNvPr id="181" name="reg-vga-regs"/>
          <p:cNvCxnSpPr/>
          <p:nvPr/>
        </p:nvCxnSpPr>
        <p:spPr>
          <a:xfrm flipH="1">
            <a:off x="2786231" y="11672047"/>
            <a:ext cx="31627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182" name="usb-regs"/>
          <p:cNvSpPr/>
          <p:nvPr/>
        </p:nvSpPr>
        <p:spPr>
          <a:xfrm>
            <a:off x="3426311" y="11408485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A993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obj-183: USB 配置"/>
          <p:cNvSpPr txBox="1"/>
          <p:nvPr/>
        </p:nvSpPr>
        <p:spPr>
          <a:xfrm>
            <a:off x="3937375" y="11424148"/>
            <a:ext cx="935764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84" name="obj-184: OHCI 寄存器"/>
          <p:cNvSpPr txBox="1"/>
          <p:nvPr/>
        </p:nvSpPr>
        <p:spPr>
          <a:xfrm>
            <a:off x="3915995" y="11659998"/>
            <a:ext cx="978522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85" name="reg-usb-regs"/>
          <p:cNvCxnSpPr/>
          <p:nvPr/>
        </p:nvCxnSpPr>
        <p:spPr>
          <a:xfrm>
            <a:off x="3102506" y="11672047"/>
            <a:ext cx="32380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186" name="err-vga"/>
          <p:cNvSpPr/>
          <p:nvPr/>
        </p:nvSpPr>
        <p:spPr>
          <a:xfrm>
            <a:off x="828339" y="12078686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A993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obj-187: Bus-error · VGA"/>
          <p:cNvSpPr txBox="1"/>
          <p:nvPr/>
        </p:nvSpPr>
        <p:spPr>
          <a:xfrm>
            <a:off x="1117728" y="12094349"/>
            <a:ext cx="1379114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88" name="obj-188: 错误记录"/>
          <p:cNvSpPr txBox="1"/>
          <p:nvPr/>
        </p:nvSpPr>
        <p:spPr>
          <a:xfrm>
            <a:off x="1430767" y="12330200"/>
            <a:ext cx="753035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89" name="reg-err-vga"/>
          <p:cNvCxnSpPr/>
          <p:nvPr/>
        </p:nvCxnSpPr>
        <p:spPr>
          <a:xfrm flipH="1">
            <a:off x="2786231" y="12342248"/>
            <a:ext cx="31627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190" name="err-dma"/>
          <p:cNvSpPr/>
          <p:nvPr/>
        </p:nvSpPr>
        <p:spPr>
          <a:xfrm>
            <a:off x="3426311" y="12078686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A993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obj-191: Bus-error · iDMA"/>
          <p:cNvSpPr txBox="1"/>
          <p:nvPr/>
        </p:nvSpPr>
        <p:spPr>
          <a:xfrm>
            <a:off x="3670606" y="12094349"/>
            <a:ext cx="1469301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92" name="obj-192: 错误记录"/>
          <p:cNvSpPr txBox="1"/>
          <p:nvPr/>
        </p:nvSpPr>
        <p:spPr>
          <a:xfrm>
            <a:off x="4028739" y="12330200"/>
            <a:ext cx="753035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93" name="reg-err-dma"/>
          <p:cNvCxnSpPr/>
          <p:nvPr/>
        </p:nvCxnSpPr>
        <p:spPr>
          <a:xfrm>
            <a:off x="3102506" y="12342248"/>
            <a:ext cx="32380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194" name="err-cpu"/>
          <p:cNvSpPr/>
          <p:nvPr/>
        </p:nvSpPr>
        <p:spPr>
          <a:xfrm>
            <a:off x="828339" y="12748887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A993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obj-195: Bus-error · CPU"/>
          <p:cNvSpPr txBox="1"/>
          <p:nvPr/>
        </p:nvSpPr>
        <p:spPr>
          <a:xfrm>
            <a:off x="1114110" y="12764551"/>
            <a:ext cx="1386350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96" name="obj-196: 每核错误记录"/>
          <p:cNvSpPr txBox="1"/>
          <p:nvPr/>
        </p:nvSpPr>
        <p:spPr>
          <a:xfrm>
            <a:off x="1280160" y="13000401"/>
            <a:ext cx="105424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97" name="reg-err-cpu"/>
          <p:cNvCxnSpPr/>
          <p:nvPr/>
        </p:nvCxnSpPr>
        <p:spPr>
          <a:xfrm flipH="1">
            <a:off x="2786231" y="13012450"/>
            <a:ext cx="31627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198" name="irq-router"/>
          <p:cNvSpPr/>
          <p:nvPr/>
        </p:nvSpPr>
        <p:spPr>
          <a:xfrm>
            <a:off x="3426311" y="12748887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obj-199: IRQ router"/>
          <p:cNvSpPr txBox="1"/>
          <p:nvPr/>
        </p:nvSpPr>
        <p:spPr>
          <a:xfrm>
            <a:off x="3916107" y="12764551"/>
            <a:ext cx="978299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200" name="obj-200: 可选中断路由"/>
          <p:cNvSpPr txBox="1"/>
          <p:nvPr/>
        </p:nvSpPr>
        <p:spPr>
          <a:xfrm>
            <a:off x="3878132" y="13000401"/>
            <a:ext cx="105424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201" name="reg-irq-router"/>
          <p:cNvCxnSpPr/>
          <p:nvPr/>
        </p:nvCxnSpPr>
        <p:spPr>
          <a:xfrm>
            <a:off x="3102506" y="13012450"/>
            <a:ext cx="32380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02" name="axi-rt-regs"/>
          <p:cNvSpPr/>
          <p:nvPr/>
        </p:nvSpPr>
        <p:spPr>
          <a:xfrm>
            <a:off x="828339" y="13419089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obj-203: AXI RT 配置"/>
          <p:cNvSpPr txBox="1"/>
          <p:nvPr/>
        </p:nvSpPr>
        <p:spPr>
          <a:xfrm>
            <a:off x="1258128" y="13434752"/>
            <a:ext cx="1098314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204" name="obj-204: 可选流量调节"/>
          <p:cNvSpPr txBox="1"/>
          <p:nvPr/>
        </p:nvSpPr>
        <p:spPr>
          <a:xfrm>
            <a:off x="1280160" y="13670603"/>
            <a:ext cx="105424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205" name="reg-axi-rt-regs"/>
          <p:cNvCxnSpPr/>
          <p:nvPr/>
        </p:nvCxnSpPr>
        <p:spPr>
          <a:xfrm flipH="1">
            <a:off x="2786231" y="13682651"/>
            <a:ext cx="31627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06" name="clic"/>
          <p:cNvSpPr/>
          <p:nvPr/>
        </p:nvSpPr>
        <p:spPr>
          <a:xfrm>
            <a:off x="3426311" y="13419089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obj-207: CLIC"/>
          <p:cNvSpPr txBox="1"/>
          <p:nvPr/>
        </p:nvSpPr>
        <p:spPr>
          <a:xfrm>
            <a:off x="4134340" y="13434752"/>
            <a:ext cx="541832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208" name="obj-208: 可选每核中断控制"/>
          <p:cNvSpPr txBox="1"/>
          <p:nvPr/>
        </p:nvSpPr>
        <p:spPr>
          <a:xfrm>
            <a:off x="3727525" y="13670603"/>
            <a:ext cx="1355464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209" name="reg-clic"/>
          <p:cNvCxnSpPr/>
          <p:nvPr/>
        </p:nvCxnSpPr>
        <p:spPr>
          <a:xfrm>
            <a:off x="3102506" y="13682651"/>
            <a:ext cx="32380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10" name="reg-error"/>
          <p:cNvSpPr/>
          <p:nvPr/>
        </p:nvSpPr>
        <p:spPr>
          <a:xfrm>
            <a:off x="828339" y="14089290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A993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obj-211: reg_err_slv"/>
          <p:cNvSpPr txBox="1"/>
          <p:nvPr/>
        </p:nvSpPr>
        <p:spPr>
          <a:xfrm>
            <a:off x="1289102" y="14104953"/>
            <a:ext cx="1036365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212" name="obj-212: 未匹配寄存器地址"/>
          <p:cNvSpPr txBox="1"/>
          <p:nvPr/>
        </p:nvSpPr>
        <p:spPr>
          <a:xfrm>
            <a:off x="1129553" y="14340804"/>
            <a:ext cx="1355464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未匹配寄存器地址</a:t>
            </a:r>
          </a:p>
        </p:txBody>
      </p:sp>
      <p:cxnSp>
        <p:nvCxnSpPr>
          <p:cNvPr id="213" name="reg-reg-error"/>
          <p:cNvCxnSpPr/>
          <p:nvPr/>
        </p:nvCxnSpPr>
        <p:spPr>
          <a:xfrm flipH="1">
            <a:off x="2786231" y="14352853"/>
            <a:ext cx="31627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14" name="reg-ext"/>
          <p:cNvSpPr/>
          <p:nvPr/>
        </p:nvSpPr>
        <p:spPr>
          <a:xfrm>
            <a:off x="3426311" y="14089290"/>
            <a:ext cx="1957892" cy="527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061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obj-215: RegExt 扩展"/>
          <p:cNvSpPr txBox="1"/>
          <p:nvPr/>
        </p:nvSpPr>
        <p:spPr>
          <a:xfrm>
            <a:off x="3838097" y="14104953"/>
            <a:ext cx="1134318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216" name="obj-216: 新增 IP 配置出口"/>
          <p:cNvSpPr txBox="1"/>
          <p:nvPr/>
        </p:nvSpPr>
        <p:spPr>
          <a:xfrm>
            <a:off x="3771271" y="14340804"/>
            <a:ext cx="1267970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217" name="reg-reg-ext"/>
          <p:cNvCxnSpPr/>
          <p:nvPr/>
        </p:nvCxnSpPr>
        <p:spPr>
          <a:xfrm>
            <a:off x="3102506" y="14352853"/>
            <a:ext cx="323805" cy="0"/>
          </a:xfrm>
          <a:prstGeom prst="line">
            <a:avLst/>
          </a:prstGeom>
          <a:ln w="16567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18" name="ddr-controller"/>
          <p:cNvSpPr/>
          <p:nvPr/>
        </p:nvSpPr>
        <p:spPr>
          <a:xfrm>
            <a:off x="19654221" y="5760720"/>
            <a:ext cx="2183802" cy="9149379"/>
          </a:xfrm>
          <a:prstGeom prst="roundRect">
            <a:avLst>
              <a:gd name="adj" fmla="val 3448"/>
            </a:avLst>
          </a:prstGeom>
          <a:solidFill>
            <a:srgbClr val="EDF4FB"/>
          </a:solidFill>
          <a:ln w="15061" cap="flat">
            <a:solidFill>
              <a:srgbClr val="347BB2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obj-219: DDR Controller"/>
          <p:cNvSpPr txBox="1"/>
          <p:nvPr/>
        </p:nvSpPr>
        <p:spPr>
          <a:xfrm>
            <a:off x="19932744" y="5856205"/>
            <a:ext cx="1626756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220" name="obj-220: 三 AXI slave 端口"/>
          <p:cNvSpPr txBox="1"/>
          <p:nvPr/>
        </p:nvSpPr>
        <p:spPr>
          <a:xfrm>
            <a:off x="19974938" y="6175492"/>
            <a:ext cx="1542369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三 AXI slave 端口</a:t>
            </a:r>
          </a:p>
        </p:txBody>
      </p:sp>
      <p:sp>
        <p:nvSpPr>
          <p:cNvPr id="221" name="tag-C2-220"/>
          <p:cNvSpPr/>
          <p:nvPr/>
        </p:nvSpPr>
        <p:spPr>
          <a:xfrm>
            <a:off x="21220535" y="6521286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obj-222: C2"/>
          <p:cNvSpPr txBox="1"/>
          <p:nvPr/>
        </p:nvSpPr>
        <p:spPr>
          <a:xfrm>
            <a:off x="21234183" y="6531828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223" name="ddr-arbiter"/>
          <p:cNvSpPr/>
          <p:nvPr/>
        </p:nvSpPr>
        <p:spPr>
          <a:xfrm>
            <a:off x="20655758" y="7101123"/>
            <a:ext cx="994007" cy="7319503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061" cap="flat">
            <a:solidFill>
              <a:srgbClr val="91ADC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obj-224: 端口仲裁"/>
          <p:cNvSpPr txBox="1"/>
          <p:nvPr/>
        </p:nvSpPr>
        <p:spPr>
          <a:xfrm>
            <a:off x="20719766" y="9037628"/>
            <a:ext cx="865991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端口仲裁</a:t>
            </a:r>
          </a:p>
        </p:txBody>
      </p:sp>
      <p:sp>
        <p:nvSpPr>
          <p:cNvPr id="225" name="obj-225: QoS"/>
          <p:cNvSpPr txBox="1"/>
          <p:nvPr/>
        </p:nvSpPr>
        <p:spPr>
          <a:xfrm>
            <a:off x="20908778" y="9376494"/>
            <a:ext cx="487967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QoS</a:t>
            </a:r>
          </a:p>
        </p:txBody>
      </p:sp>
      <p:sp>
        <p:nvSpPr>
          <p:cNvPr id="226" name="obj-226: 读写调度"/>
          <p:cNvSpPr txBox="1"/>
          <p:nvPr/>
        </p:nvSpPr>
        <p:spPr>
          <a:xfrm>
            <a:off x="20719766" y="10204833"/>
            <a:ext cx="865991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227" name="obj-227: Bank / Row"/>
          <p:cNvSpPr txBox="1"/>
          <p:nvPr/>
        </p:nvSpPr>
        <p:spPr>
          <a:xfrm>
            <a:off x="20621577" y="10957868"/>
            <a:ext cx="1062368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sp>
        <p:nvSpPr>
          <p:cNvPr id="228" name="obj-228: 命令调度"/>
          <p:cNvSpPr txBox="1"/>
          <p:nvPr/>
        </p:nvSpPr>
        <p:spPr>
          <a:xfrm>
            <a:off x="20719766" y="11334386"/>
            <a:ext cx="865991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229" name="ddr-S0"/>
          <p:cNvSpPr/>
          <p:nvPr/>
        </p:nvSpPr>
        <p:spPr>
          <a:xfrm>
            <a:off x="19804828" y="7568005"/>
            <a:ext cx="655141" cy="527125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obj-230: S0"/>
          <p:cNvSpPr txBox="1"/>
          <p:nvPr/>
        </p:nvSpPr>
        <p:spPr>
          <a:xfrm>
            <a:off x="19886368" y="7671020"/>
            <a:ext cx="484531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231" name="obj-231: LLC"/>
          <p:cNvSpPr txBox="1"/>
          <p:nvPr/>
        </p:nvSpPr>
        <p:spPr>
          <a:xfrm>
            <a:off x="19951123" y="8189711"/>
            <a:ext cx="355021" cy="2168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7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cxnSp>
        <p:nvCxnSpPr>
          <p:cNvPr id="232" name="ddr-port-0"/>
          <p:cNvCxnSpPr/>
          <p:nvPr/>
        </p:nvCxnSpPr>
        <p:spPr>
          <a:xfrm>
            <a:off x="20459969" y="7831567"/>
            <a:ext cx="195789" cy="0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233" name="ddr-S1"/>
          <p:cNvSpPr/>
          <p:nvPr/>
        </p:nvSpPr>
        <p:spPr>
          <a:xfrm>
            <a:off x="19804828" y="10504842"/>
            <a:ext cx="655141" cy="527125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obj-234: S1"/>
          <p:cNvSpPr txBox="1"/>
          <p:nvPr/>
        </p:nvSpPr>
        <p:spPr>
          <a:xfrm>
            <a:off x="19886368" y="10607857"/>
            <a:ext cx="484531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235" name="obj-235: NPU / GB"/>
          <p:cNvSpPr txBox="1"/>
          <p:nvPr/>
        </p:nvSpPr>
        <p:spPr>
          <a:xfrm>
            <a:off x="19772418" y="11126548"/>
            <a:ext cx="712430" cy="2168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7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cxnSp>
        <p:nvCxnSpPr>
          <p:cNvPr id="236" name="ddr-port-1"/>
          <p:cNvCxnSpPr/>
          <p:nvPr/>
        </p:nvCxnSpPr>
        <p:spPr>
          <a:xfrm>
            <a:off x="20459969" y="10768405"/>
            <a:ext cx="195789" cy="0"/>
          </a:xfrm>
          <a:prstGeom prst="line">
            <a:avLst/>
          </a:prstGeom>
          <a:ln w="22591" cap="flat">
            <a:solidFill>
              <a:srgbClr val="347BB2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237" name="ddr-S2"/>
          <p:cNvSpPr/>
          <p:nvPr/>
        </p:nvSpPr>
        <p:spPr>
          <a:xfrm>
            <a:off x="19804828" y="13554635"/>
            <a:ext cx="655141" cy="527125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obj-238: S2"/>
          <p:cNvSpPr txBox="1"/>
          <p:nvPr/>
        </p:nvSpPr>
        <p:spPr>
          <a:xfrm>
            <a:off x="19886368" y="13657650"/>
            <a:ext cx="484531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239" name="obj-239: 帧写入"/>
          <p:cNvSpPr txBox="1"/>
          <p:nvPr/>
        </p:nvSpPr>
        <p:spPr>
          <a:xfrm>
            <a:off x="19857541" y="14176341"/>
            <a:ext cx="542185" cy="2168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7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cxnSp>
        <p:nvCxnSpPr>
          <p:cNvPr id="240" name="ddr-port-2"/>
          <p:cNvCxnSpPr/>
          <p:nvPr/>
        </p:nvCxnSpPr>
        <p:spPr>
          <a:xfrm>
            <a:off x="20459969" y="13818198"/>
            <a:ext cx="195789" cy="0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241" name="phy"/>
          <p:cNvSpPr/>
          <p:nvPr/>
        </p:nvSpPr>
        <p:spPr>
          <a:xfrm>
            <a:off x="22063934" y="10090673"/>
            <a:ext cx="1054249" cy="1355464"/>
          </a:xfrm>
          <a:prstGeom prst="roundRect">
            <a:avLst>
              <a:gd name="adj" fmla="val 4285"/>
            </a:avLst>
          </a:prstGeom>
          <a:solidFill>
            <a:srgbClr val="EDF4FB"/>
          </a:solidFill>
          <a:ln w="15061" cap="flat">
            <a:solidFill>
              <a:srgbClr val="347BB2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obj-242: PHY"/>
          <p:cNvSpPr txBox="1"/>
          <p:nvPr/>
        </p:nvSpPr>
        <p:spPr>
          <a:xfrm>
            <a:off x="22287691" y="10178627"/>
            <a:ext cx="606735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243" name="obj-243: 训练 / 校准"/>
          <p:cNvSpPr txBox="1"/>
          <p:nvPr/>
        </p:nvSpPr>
        <p:spPr>
          <a:xfrm>
            <a:off x="22015063" y="10489782"/>
            <a:ext cx="1151991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244" name="tag-C3-243"/>
          <p:cNvSpPr/>
          <p:nvPr/>
        </p:nvSpPr>
        <p:spPr>
          <a:xfrm>
            <a:off x="22651302" y="1112986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obj-245: C3"/>
          <p:cNvSpPr txBox="1"/>
          <p:nvPr/>
        </p:nvSpPr>
        <p:spPr>
          <a:xfrm>
            <a:off x="22664950" y="11140404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246" name="controller-to-phy"/>
          <p:cNvCxnSpPr/>
          <p:nvPr/>
        </p:nvCxnSpPr>
        <p:spPr>
          <a:xfrm>
            <a:off x="21649765" y="10768405"/>
            <a:ext cx="414169" cy="0"/>
          </a:xfrm>
          <a:prstGeom prst="line">
            <a:avLst/>
          </a:prstGeom>
          <a:ln w="22591" cap="flat">
            <a:solidFill>
              <a:srgbClr val="347BB2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247" name="dram-chip"/>
          <p:cNvSpPr/>
          <p:nvPr/>
        </p:nvSpPr>
        <p:spPr>
          <a:xfrm>
            <a:off x="23946522" y="9977718"/>
            <a:ext cx="1280160" cy="1581374"/>
          </a:xfrm>
          <a:prstGeom prst="roundRect">
            <a:avLst>
              <a:gd name="adj" fmla="val 3529"/>
            </a:avLst>
          </a:prstGeom>
          <a:solidFill>
            <a:srgbClr val="F0F3F6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obj-248: DDR"/>
          <p:cNvSpPr txBox="1"/>
          <p:nvPr/>
        </p:nvSpPr>
        <p:spPr>
          <a:xfrm>
            <a:off x="24210549" y="10025008"/>
            <a:ext cx="75210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249" name="obj-249: 片外器件"/>
          <p:cNvSpPr txBox="1"/>
          <p:nvPr/>
        </p:nvSpPr>
        <p:spPr>
          <a:xfrm>
            <a:off x="24115955" y="10376826"/>
            <a:ext cx="941294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250" name="phy-to-dram"/>
          <p:cNvCxnSpPr/>
          <p:nvPr/>
        </p:nvCxnSpPr>
        <p:spPr>
          <a:xfrm>
            <a:off x="23118183" y="10768405"/>
            <a:ext cx="828339" cy="0"/>
          </a:xfrm>
          <a:prstGeom prst="line">
            <a:avLst/>
          </a:prstGeom>
          <a:ln w="30121" cap="flat">
            <a:solidFill>
              <a:srgbClr val="347BB2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251" name="llc-ddr"/>
          <p:cNvSpPr/>
          <p:nvPr/>
        </p:nvSpPr>
        <p:spPr>
          <a:xfrm>
            <a:off x="8132781" y="6860151"/>
            <a:ext cx="11672047" cy="971416"/>
          </a:xfrm>
          <a:custGeom>
            <a:avLst/>
            <a:gdLst/>
            <a:ahLst/>
            <a:cxnLst/>
            <a:rect l="0" t="0" r="r" b="b"/>
            <a:pathLst>
              <a:path w="11672047" h="971416" fill="none">
                <a:moveTo>
                  <a:pt x="0" y="0"/>
                </a:moveTo>
                <a:lnTo>
                  <a:pt x="0" y="971416"/>
                </a:lnTo>
                <a:lnTo>
                  <a:pt x="11672047" y="971416"/>
                </a:lnTo>
              </a:path>
            </a:pathLst>
          </a:custGeom>
          <a:noFill/>
          <a:ln w="30121" cap="flat">
            <a:solidFill>
              <a:srgbClr val="347B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obj-252: LLC 外存出口 · AXI 64 bit"/>
          <p:cNvSpPr txBox="1"/>
          <p:nvPr/>
        </p:nvSpPr>
        <p:spPr>
          <a:xfrm>
            <a:off x="12303338" y="7492099"/>
            <a:ext cx="2351988" cy="3132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1" b="0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LLC 外存出口 · AXI 64 bit</a:t>
            </a:r>
          </a:p>
        </p:txBody>
      </p:sp>
      <p:sp>
        <p:nvSpPr>
          <p:cNvPr id="253" name="gb-subsystem"/>
          <p:cNvSpPr/>
          <p:nvPr/>
        </p:nvSpPr>
        <p:spPr>
          <a:xfrm>
            <a:off x="5911327" y="8509299"/>
            <a:ext cx="12989859" cy="3448902"/>
          </a:xfrm>
          <a:prstGeom prst="roundRect">
            <a:avLst>
              <a:gd name="adj" fmla="val 2183"/>
            </a:avLst>
          </a:prstGeom>
          <a:solidFill>
            <a:srgbClr val="F8FCFA"/>
          </a:solidFill>
          <a:ln w="15061" cap="flat">
            <a:solidFill>
              <a:srgbClr val="16867F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obj-254: 独立 GB / NPU 子系统"/>
          <p:cNvSpPr txBox="1"/>
          <p:nvPr/>
        </p:nvSpPr>
        <p:spPr>
          <a:xfrm>
            <a:off x="6122177" y="8574662"/>
            <a:ext cx="2370602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16867F"/>
                </a:solidFill>
                <a:latin typeface="Microsoft YaHei"/>
                <a:ea typeface="Microsoft YaHei"/>
                <a:cs typeface="Microsoft YaHei"/>
              </a:rPr>
              <a:t>独立 GB / NPU 子系统</a:t>
            </a:r>
          </a:p>
        </p:txBody>
      </p:sp>
      <p:sp>
        <p:nvSpPr>
          <p:cNvPr id="255" name="npu-compute"/>
          <p:cNvSpPr/>
          <p:nvPr/>
        </p:nvSpPr>
        <p:spPr>
          <a:xfrm>
            <a:off x="6174889" y="9111727"/>
            <a:ext cx="2183802" cy="1167205"/>
          </a:xfrm>
          <a:prstGeom prst="roundRect">
            <a:avLst>
              <a:gd name="adj" fmla="val 3870"/>
            </a:avLst>
          </a:prstGeom>
          <a:solidFill>
            <a:srgbClr val="EAF5F1"/>
          </a:solidFill>
          <a:ln w="15061" cap="flat">
            <a:solidFill>
              <a:srgbClr val="1686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obj-256: NPU 计算引擎"/>
          <p:cNvSpPr txBox="1"/>
          <p:nvPr/>
        </p:nvSpPr>
        <p:spPr>
          <a:xfrm>
            <a:off x="6485187" y="9199681"/>
            <a:ext cx="1563207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257" name="obj-257: GB 数据读写"/>
          <p:cNvSpPr txBox="1"/>
          <p:nvPr/>
        </p:nvSpPr>
        <p:spPr>
          <a:xfrm>
            <a:off x="6647596" y="9510836"/>
            <a:ext cx="1238390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258" name="tag-C6-257"/>
          <p:cNvSpPr/>
          <p:nvPr/>
        </p:nvSpPr>
        <p:spPr>
          <a:xfrm>
            <a:off x="7906871" y="9947596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obj-259: C6"/>
          <p:cNvSpPr txBox="1"/>
          <p:nvPr/>
        </p:nvSpPr>
        <p:spPr>
          <a:xfrm>
            <a:off x="7920519" y="9958139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260" name="gb-adapter"/>
          <p:cNvSpPr/>
          <p:nvPr/>
        </p:nvSpPr>
        <p:spPr>
          <a:xfrm>
            <a:off x="8735209" y="9111727"/>
            <a:ext cx="2108499" cy="1167205"/>
          </a:xfrm>
          <a:prstGeom prst="roundRect">
            <a:avLst>
              <a:gd name="adj" fmla="val 3870"/>
            </a:avLst>
          </a:prstGeom>
          <a:solidFill>
            <a:srgbClr val="EAF5F1"/>
          </a:solidFill>
          <a:ln w="15061" cap="flat">
            <a:solidFill>
              <a:srgbClr val="1686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obj-261: GB 访问适配"/>
          <p:cNvSpPr txBox="1"/>
          <p:nvPr/>
        </p:nvSpPr>
        <p:spPr>
          <a:xfrm>
            <a:off x="9095955" y="9207814"/>
            <a:ext cx="1387009" cy="337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262" name="obj-262: 局部仲裁 / 路由"/>
          <p:cNvSpPr txBox="1"/>
          <p:nvPr/>
        </p:nvSpPr>
        <p:spPr>
          <a:xfrm>
            <a:off x="9025205" y="9510836"/>
            <a:ext cx="1528509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263" name="obj-263: bank 冲突处理"/>
          <p:cNvSpPr txBox="1"/>
          <p:nvPr/>
        </p:nvSpPr>
        <p:spPr>
          <a:xfrm>
            <a:off x="9091301" y="9759337"/>
            <a:ext cx="1396316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264" name="global-buffer"/>
          <p:cNvSpPr/>
          <p:nvPr/>
        </p:nvSpPr>
        <p:spPr>
          <a:xfrm>
            <a:off x="11220226" y="8961120"/>
            <a:ext cx="3162748" cy="1468419"/>
          </a:xfrm>
          <a:prstGeom prst="roundRect">
            <a:avLst>
              <a:gd name="adj" fmla="val 3076"/>
            </a:avLst>
          </a:prstGeom>
          <a:solidFill>
            <a:srgbClr val="EAF5F1"/>
          </a:solidFill>
          <a:ln w="15061" cap="flat">
            <a:solidFill>
              <a:srgbClr val="1686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obj-265: Global Buffer"/>
          <p:cNvSpPr txBox="1"/>
          <p:nvPr/>
        </p:nvSpPr>
        <p:spPr>
          <a:xfrm>
            <a:off x="11997852" y="9024676"/>
            <a:ext cx="1607495" cy="385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266" name="obj-266: 独立片上 SRAM · 分 bank"/>
          <p:cNvSpPr txBox="1"/>
          <p:nvPr/>
        </p:nvSpPr>
        <p:spPr>
          <a:xfrm>
            <a:off x="11655780" y="9360229"/>
            <a:ext cx="2291639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独立片上 SRAM · 分 bank</a:t>
            </a:r>
          </a:p>
        </p:txBody>
      </p:sp>
      <p:sp>
        <p:nvSpPr>
          <p:cNvPr id="267" name="obj-267: ISP / NPU–Ara 共享数据"/>
          <p:cNvSpPr txBox="1"/>
          <p:nvPr/>
        </p:nvSpPr>
        <p:spPr>
          <a:xfrm>
            <a:off x="11701280" y="9608730"/>
            <a:ext cx="2200640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ISP / NPU–Ara 共享数据</a:t>
            </a:r>
          </a:p>
        </p:txBody>
      </p:sp>
      <p:sp>
        <p:nvSpPr>
          <p:cNvPr id="268" name="obj-268: 双缓冲 / 工作区"/>
          <p:cNvSpPr txBox="1"/>
          <p:nvPr/>
        </p:nvSpPr>
        <p:spPr>
          <a:xfrm>
            <a:off x="12037346" y="9857232"/>
            <a:ext cx="1528509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双缓冲 / 工作区</a:t>
            </a:r>
          </a:p>
        </p:txBody>
      </p:sp>
      <p:sp>
        <p:nvSpPr>
          <p:cNvPr id="269" name="tag-C9-268"/>
          <p:cNvSpPr/>
          <p:nvPr/>
        </p:nvSpPr>
        <p:spPr>
          <a:xfrm>
            <a:off x="13931153" y="10090673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obj-270: C9"/>
          <p:cNvSpPr txBox="1"/>
          <p:nvPr/>
        </p:nvSpPr>
        <p:spPr>
          <a:xfrm>
            <a:off x="13944802" y="10101215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271" name="compute-gb-router"/>
          <p:cNvCxnSpPr/>
          <p:nvPr/>
        </p:nvCxnSpPr>
        <p:spPr>
          <a:xfrm>
            <a:off x="8358692" y="9676503"/>
            <a:ext cx="376517" cy="0"/>
          </a:xfrm>
          <a:prstGeom prst="line">
            <a:avLst/>
          </a:prstGeom>
          <a:ln w="30121" cap="flat">
            <a:solidFill>
              <a:srgbClr val="16867F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272" name="router-gb"/>
          <p:cNvCxnSpPr/>
          <p:nvPr/>
        </p:nvCxnSpPr>
        <p:spPr>
          <a:xfrm>
            <a:off x="10843708" y="9676503"/>
            <a:ext cx="376518" cy="0"/>
          </a:xfrm>
          <a:prstGeom prst="line">
            <a:avLst/>
          </a:prstGeom>
          <a:ln w="30121" cap="flat">
            <a:solidFill>
              <a:srgbClr val="16867F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273" name="npu-transfer"/>
          <p:cNvSpPr/>
          <p:nvPr/>
        </p:nvSpPr>
        <p:spPr>
          <a:xfrm>
            <a:off x="15889045" y="10165976"/>
            <a:ext cx="2710927" cy="1204856"/>
          </a:xfrm>
          <a:prstGeom prst="roundRect">
            <a:avLst>
              <a:gd name="adj" fmla="val 3750"/>
            </a:avLst>
          </a:prstGeom>
          <a:solidFill>
            <a:srgbClr val="EAF5F1"/>
          </a:solidFill>
          <a:ln w="15061" cap="flat">
            <a:solidFill>
              <a:srgbClr val="1686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obj-274: NPU / GB 搬运引擎"/>
          <p:cNvSpPr txBox="1"/>
          <p:nvPr/>
        </p:nvSpPr>
        <p:spPr>
          <a:xfrm>
            <a:off x="16237082" y="10262064"/>
            <a:ext cx="2014852" cy="337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275" name="obj-275: DDR ↔ GB"/>
          <p:cNvSpPr txBox="1"/>
          <p:nvPr/>
        </p:nvSpPr>
        <p:spPr>
          <a:xfrm>
            <a:off x="16697104" y="10565085"/>
            <a:ext cx="1094807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DDR ↔ GB</a:t>
            </a:r>
          </a:p>
        </p:txBody>
      </p:sp>
      <p:sp>
        <p:nvSpPr>
          <p:cNvPr id="276" name="obj-276: 统一 DDR 主口 · 256 bit 候选"/>
          <p:cNvSpPr txBox="1"/>
          <p:nvPr/>
        </p:nvSpPr>
        <p:spPr>
          <a:xfrm>
            <a:off x="15938733" y="10813587"/>
            <a:ext cx="2611550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统一 DDR 主口 · 256 bit 候选</a:t>
            </a:r>
          </a:p>
        </p:txBody>
      </p:sp>
      <p:sp>
        <p:nvSpPr>
          <p:cNvPr id="277" name="tag-C7-276"/>
          <p:cNvSpPr/>
          <p:nvPr/>
        </p:nvSpPr>
        <p:spPr>
          <a:xfrm>
            <a:off x="18148151" y="11054558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obj-278: C7"/>
          <p:cNvSpPr txBox="1"/>
          <p:nvPr/>
        </p:nvSpPr>
        <p:spPr>
          <a:xfrm>
            <a:off x="18161799" y="11065101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279" name="transfer-gb-router"/>
          <p:cNvSpPr/>
          <p:nvPr/>
        </p:nvSpPr>
        <p:spPr>
          <a:xfrm>
            <a:off x="9638852" y="10278932"/>
            <a:ext cx="6250193" cy="489473"/>
          </a:xfrm>
          <a:custGeom>
            <a:avLst/>
            <a:gdLst/>
            <a:ahLst/>
            <a:cxnLst/>
            <a:rect l="0" t="0" r="r" b="b"/>
            <a:pathLst>
              <a:path w="6250193" h="489473" fill="none">
                <a:moveTo>
                  <a:pt x="6250193" y="489473"/>
                </a:moveTo>
                <a:lnTo>
                  <a:pt x="0" y="489473"/>
                </a:lnTo>
                <a:lnTo>
                  <a:pt x="0" y="0"/>
                </a:lnTo>
              </a:path>
            </a:pathLst>
          </a:custGeom>
          <a:noFill/>
          <a:ln w="30121" cap="flat">
            <a:solidFill>
              <a:srgbClr val="16867F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obj-280: GB 读写通路"/>
          <p:cNvSpPr txBox="1"/>
          <p:nvPr/>
        </p:nvSpPr>
        <p:spPr>
          <a:xfrm>
            <a:off x="12006030" y="10867504"/>
            <a:ext cx="1139319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16867F"/>
                </a:solidFill>
                <a:latin typeface="Microsoft YaHei"/>
                <a:ea typeface="Microsoft YaHei"/>
                <a:cs typeface="Microsoft YaHei"/>
              </a:rPr>
              <a:t>GB 读写通路</a:t>
            </a:r>
          </a:p>
        </p:txBody>
      </p:sp>
      <p:cxnSp>
        <p:nvCxnSpPr>
          <p:cNvPr id="281" name="transfer-ddr"/>
          <p:cNvCxnSpPr/>
          <p:nvPr/>
        </p:nvCxnSpPr>
        <p:spPr>
          <a:xfrm>
            <a:off x="18599972" y="10768405"/>
            <a:ext cx="1204856" cy="0"/>
          </a:xfrm>
          <a:prstGeom prst="line">
            <a:avLst/>
          </a:prstGeom>
          <a:ln w="30121" cap="flat">
            <a:solidFill>
              <a:srgbClr val="347BB2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282" name="ara-gb-branch"/>
          <p:cNvSpPr/>
          <p:nvPr/>
        </p:nvSpPr>
        <p:spPr>
          <a:xfrm>
            <a:off x="7229139" y="1317812"/>
            <a:ext cx="12078686" cy="7793915"/>
          </a:xfrm>
          <a:custGeom>
            <a:avLst/>
            <a:gdLst/>
            <a:ahLst/>
            <a:cxnLst/>
            <a:rect l="0" t="0" r="r" b="b"/>
            <a:pathLst>
              <a:path w="12078686" h="7793915" fill="none">
                <a:moveTo>
                  <a:pt x="0" y="1137083"/>
                </a:moveTo>
                <a:lnTo>
                  <a:pt x="0" y="1054249"/>
                </a:lnTo>
                <a:lnTo>
                  <a:pt x="2522668" y="1054249"/>
                </a:lnTo>
                <a:lnTo>
                  <a:pt x="2522668" y="0"/>
                </a:lnTo>
                <a:lnTo>
                  <a:pt x="11897958" y="0"/>
                </a:lnTo>
                <a:lnTo>
                  <a:pt x="11897958" y="3238052"/>
                </a:lnTo>
                <a:cubicBezTo>
                  <a:pt x="12078686" y="3238052"/>
                  <a:pt x="12078686" y="3463962"/>
                  <a:pt x="11897958" y="3463962"/>
                </a:cubicBezTo>
                <a:lnTo>
                  <a:pt x="11897958" y="6400800"/>
                </a:lnTo>
                <a:cubicBezTo>
                  <a:pt x="12078686" y="6400800"/>
                  <a:pt x="12078686" y="6626711"/>
                  <a:pt x="11897958" y="6626711"/>
                </a:cubicBezTo>
                <a:lnTo>
                  <a:pt x="11897958" y="6965576"/>
                </a:lnTo>
                <a:lnTo>
                  <a:pt x="2560320" y="6965576"/>
                </a:lnTo>
                <a:lnTo>
                  <a:pt x="2560320" y="7793915"/>
                </a:lnTo>
              </a:path>
            </a:pathLst>
          </a:custGeom>
          <a:noFill/>
          <a:ln w="26356" cap="flat">
            <a:solidFill>
              <a:srgbClr val="16867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obj-283: Ara 宽侧 GB 地址分支"/>
          <p:cNvSpPr txBox="1"/>
          <p:nvPr/>
        </p:nvSpPr>
        <p:spPr>
          <a:xfrm>
            <a:off x="13009091" y="7944522"/>
            <a:ext cx="1994732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16867F"/>
                </a:solidFill>
                <a:latin typeface="Microsoft YaHei"/>
                <a:ea typeface="Microsoft YaHei"/>
                <a:cs typeface="Microsoft YaHei"/>
              </a:rPr>
              <a:t>Ara 宽侧 GB 地址分支</a:t>
            </a:r>
          </a:p>
        </p:txBody>
      </p:sp>
      <p:sp>
        <p:nvSpPr>
          <p:cNvPr id="284" name="image-subsystem"/>
          <p:cNvSpPr/>
          <p:nvPr/>
        </p:nvSpPr>
        <p:spPr>
          <a:xfrm>
            <a:off x="5911327" y="12221763"/>
            <a:ext cx="12989859" cy="2703397"/>
          </a:xfrm>
          <a:prstGeom prst="roundRect">
            <a:avLst>
              <a:gd name="adj" fmla="val 2785"/>
            </a:avLst>
          </a:prstGeom>
          <a:solidFill>
            <a:srgbClr val="FFFBF5"/>
          </a:solidFill>
          <a:ln w="15061" cap="flat">
            <a:solidFill>
              <a:srgbClr val="C17A30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obj-285: LVDS / ISP / 图像帧写入"/>
          <p:cNvSpPr txBox="1"/>
          <p:nvPr/>
        </p:nvSpPr>
        <p:spPr>
          <a:xfrm>
            <a:off x="6122177" y="12287126"/>
            <a:ext cx="2623751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C17A30"/>
                </a:solidFill>
                <a:latin typeface="Microsoft YaHei"/>
                <a:ea typeface="Microsoft YaHei"/>
                <a:cs typeface="Microsoft YaHei"/>
              </a:rPr>
              <a:t>LVDS / ISP / 图像帧写入</a:t>
            </a:r>
          </a:p>
        </p:txBody>
      </p:sp>
      <p:sp>
        <p:nvSpPr>
          <p:cNvPr id="286" name="lvds"/>
          <p:cNvSpPr/>
          <p:nvPr/>
        </p:nvSpPr>
        <p:spPr>
          <a:xfrm>
            <a:off x="6099586" y="13253421"/>
            <a:ext cx="1769633" cy="1129553"/>
          </a:xfrm>
          <a:prstGeom prst="roundRect">
            <a:avLst>
              <a:gd name="adj" fmla="val 4000"/>
            </a:avLst>
          </a:prstGeom>
          <a:solidFill>
            <a:srgbClr val="FFF2DF"/>
          </a:solidFill>
          <a:ln w="15061" cap="flat">
            <a:solidFill>
              <a:srgbClr val="C17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obj-287: LVDS 接收"/>
          <p:cNvSpPr txBox="1"/>
          <p:nvPr/>
        </p:nvSpPr>
        <p:spPr>
          <a:xfrm>
            <a:off x="6368825" y="13341376"/>
            <a:ext cx="1231154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288" name="obj-288: 解串 / 帧行解析"/>
          <p:cNvSpPr txBox="1"/>
          <p:nvPr/>
        </p:nvSpPr>
        <p:spPr>
          <a:xfrm>
            <a:off x="6220148" y="13652530"/>
            <a:ext cx="1528509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解串 / 帧行解析</a:t>
            </a:r>
          </a:p>
        </p:txBody>
      </p:sp>
      <p:sp>
        <p:nvSpPr>
          <p:cNvPr id="289" name="tag-C4-288"/>
          <p:cNvSpPr/>
          <p:nvPr/>
        </p:nvSpPr>
        <p:spPr>
          <a:xfrm>
            <a:off x="7417398" y="14051638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obj-290: C4"/>
          <p:cNvSpPr txBox="1"/>
          <p:nvPr/>
        </p:nvSpPr>
        <p:spPr>
          <a:xfrm>
            <a:off x="7431046" y="14062181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291" name="pixel-cdc"/>
          <p:cNvSpPr/>
          <p:nvPr/>
        </p:nvSpPr>
        <p:spPr>
          <a:xfrm>
            <a:off x="8132781" y="13253421"/>
            <a:ext cx="1430767" cy="1129553"/>
          </a:xfrm>
          <a:prstGeom prst="roundRect">
            <a:avLst>
              <a:gd name="adj" fmla="val 4000"/>
            </a:avLst>
          </a:prstGeom>
          <a:solidFill>
            <a:srgbClr val="FFF2DF"/>
          </a:solidFill>
          <a:ln w="15061" cap="flat">
            <a:solidFill>
              <a:srgbClr val="C17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obj-292: CDC / FIFO"/>
          <p:cNvSpPr txBox="1"/>
          <p:nvPr/>
        </p:nvSpPr>
        <p:spPr>
          <a:xfrm>
            <a:off x="8248907" y="13357641"/>
            <a:ext cx="1198514" cy="3253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293" name="obj-293: 像素流缓冲"/>
          <p:cNvSpPr txBox="1"/>
          <p:nvPr/>
        </p:nvSpPr>
        <p:spPr>
          <a:xfrm>
            <a:off x="8283388" y="13652530"/>
            <a:ext cx="1129553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294" name="isp"/>
          <p:cNvSpPr/>
          <p:nvPr/>
        </p:nvSpPr>
        <p:spPr>
          <a:xfrm>
            <a:off x="9864762" y="13253421"/>
            <a:ext cx="1506071" cy="1129553"/>
          </a:xfrm>
          <a:prstGeom prst="roundRect">
            <a:avLst>
              <a:gd name="adj" fmla="val 4000"/>
            </a:avLst>
          </a:prstGeom>
          <a:solidFill>
            <a:srgbClr val="FFF2DF"/>
          </a:solidFill>
          <a:ln w="15061" cap="flat">
            <a:solidFill>
              <a:srgbClr val="C17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obj-295: ISP"/>
          <p:cNvSpPr txBox="1"/>
          <p:nvPr/>
        </p:nvSpPr>
        <p:spPr>
          <a:xfrm>
            <a:off x="10323996" y="13316977"/>
            <a:ext cx="587603" cy="385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296" name="obj-296: 行缓冲 / 处理"/>
          <p:cNvSpPr txBox="1"/>
          <p:nvPr/>
        </p:nvSpPr>
        <p:spPr>
          <a:xfrm>
            <a:off x="9947673" y="13652530"/>
            <a:ext cx="1340250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行缓冲 / 处理</a:t>
            </a:r>
          </a:p>
        </p:txBody>
      </p:sp>
      <p:sp>
        <p:nvSpPr>
          <p:cNvPr id="297" name="tag-C5-296"/>
          <p:cNvSpPr/>
          <p:nvPr/>
        </p:nvSpPr>
        <p:spPr>
          <a:xfrm>
            <a:off x="10919012" y="14051638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obj-298: C5"/>
          <p:cNvSpPr txBox="1"/>
          <p:nvPr/>
        </p:nvSpPr>
        <p:spPr>
          <a:xfrm>
            <a:off x="10932661" y="14062181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299" name="frame-select"/>
          <p:cNvSpPr/>
          <p:nvPr/>
        </p:nvSpPr>
        <p:spPr>
          <a:xfrm>
            <a:off x="11973261" y="13253421"/>
            <a:ext cx="1957892" cy="1129553"/>
          </a:xfrm>
          <a:prstGeom prst="roundRect">
            <a:avLst>
              <a:gd name="adj" fmla="val 4000"/>
            </a:avLst>
          </a:prstGeom>
          <a:solidFill>
            <a:srgbClr val="FFF2DF"/>
          </a:solidFill>
          <a:ln w="15061" cap="flat">
            <a:solidFill>
              <a:srgbClr val="C17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obj-300: 帧边界选择"/>
          <p:cNvSpPr txBox="1"/>
          <p:nvPr/>
        </p:nvSpPr>
        <p:spPr>
          <a:xfrm>
            <a:off x="12297066" y="13341376"/>
            <a:ext cx="1310281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01" name="obj-301: RAW / ISP 二选一"/>
          <p:cNvSpPr txBox="1"/>
          <p:nvPr/>
        </p:nvSpPr>
        <p:spPr>
          <a:xfrm>
            <a:off x="12118650" y="13652530"/>
            <a:ext cx="1667114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RAW / ISP 二选一</a:t>
            </a:r>
          </a:p>
        </p:txBody>
      </p:sp>
      <p:sp>
        <p:nvSpPr>
          <p:cNvPr id="302" name="frame-dma"/>
          <p:cNvSpPr/>
          <p:nvPr/>
        </p:nvSpPr>
        <p:spPr>
          <a:xfrm>
            <a:off x="15437224" y="13253421"/>
            <a:ext cx="3162748" cy="1129553"/>
          </a:xfrm>
          <a:prstGeom prst="roundRect">
            <a:avLst>
              <a:gd name="adj" fmla="val 4000"/>
            </a:avLst>
          </a:prstGeom>
          <a:solidFill>
            <a:srgbClr val="FFF2DF"/>
          </a:solidFill>
          <a:ln w="15061" cap="flat">
            <a:solidFill>
              <a:srgbClr val="C17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obj-303: 图像帧写入 DMA"/>
          <p:cNvSpPr txBox="1"/>
          <p:nvPr/>
        </p:nvSpPr>
        <p:spPr>
          <a:xfrm>
            <a:off x="16076792" y="13333243"/>
            <a:ext cx="1883612" cy="3614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8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图像帧写入 DMA</a:t>
            </a:r>
          </a:p>
        </p:txBody>
      </p:sp>
      <p:sp>
        <p:nvSpPr>
          <p:cNvPr id="304" name="obj-304: 地址 / stride / 像素打包"/>
          <p:cNvSpPr txBox="1"/>
          <p:nvPr/>
        </p:nvSpPr>
        <p:spPr>
          <a:xfrm>
            <a:off x="15915972" y="13652530"/>
            <a:ext cx="2205252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地址 / stride / 像素打包</a:t>
            </a:r>
          </a:p>
        </p:txBody>
      </p:sp>
      <p:sp>
        <p:nvSpPr>
          <p:cNvPr id="305" name="obj-305: 产生 AXI 写事务"/>
          <p:cNvSpPr txBox="1"/>
          <p:nvPr/>
        </p:nvSpPr>
        <p:spPr>
          <a:xfrm>
            <a:off x="16269516" y="13901031"/>
            <a:ext cx="1498164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产生 AXI 写事务</a:t>
            </a:r>
          </a:p>
        </p:txBody>
      </p:sp>
      <p:sp>
        <p:nvSpPr>
          <p:cNvPr id="306" name="tag-C8-305"/>
          <p:cNvSpPr/>
          <p:nvPr/>
        </p:nvSpPr>
        <p:spPr>
          <a:xfrm>
            <a:off x="18148151" y="14051638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obj-307: C8"/>
          <p:cNvSpPr txBox="1"/>
          <p:nvPr/>
        </p:nvSpPr>
        <p:spPr>
          <a:xfrm>
            <a:off x="18161799" y="14062181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308" name="lvds-cdc"/>
          <p:cNvCxnSpPr/>
          <p:nvPr/>
        </p:nvCxnSpPr>
        <p:spPr>
          <a:xfrm>
            <a:off x="7869219" y="13818198"/>
            <a:ext cx="263562" cy="0"/>
          </a:xfrm>
          <a:prstGeom prst="line">
            <a:avLst/>
          </a:prstGeom>
          <a:ln w="30121" cap="flat">
            <a:solidFill>
              <a:srgbClr val="C17A30"/>
            </a:solidFill>
            <a:tailEnd type="triangle" w="med" len="med"/>
          </a:ln>
          <a:effectLst/>
        </p:spPr>
      </p:cxnSp>
      <p:cxnSp>
        <p:nvCxnSpPr>
          <p:cNvPr id="309" name="cdc-isp"/>
          <p:cNvCxnSpPr/>
          <p:nvPr/>
        </p:nvCxnSpPr>
        <p:spPr>
          <a:xfrm>
            <a:off x="9563548" y="13818198"/>
            <a:ext cx="301214" cy="0"/>
          </a:xfrm>
          <a:prstGeom prst="line">
            <a:avLst/>
          </a:prstGeom>
          <a:ln w="30121" cap="flat">
            <a:solidFill>
              <a:srgbClr val="C17A30"/>
            </a:solidFill>
            <a:tailEnd type="triangle" w="med" len="med"/>
          </a:ln>
          <a:effectLst/>
        </p:spPr>
      </p:cxnSp>
      <p:cxnSp>
        <p:nvCxnSpPr>
          <p:cNvPr id="310" name="isp-select"/>
          <p:cNvCxnSpPr/>
          <p:nvPr/>
        </p:nvCxnSpPr>
        <p:spPr>
          <a:xfrm>
            <a:off x="11370833" y="13818198"/>
            <a:ext cx="602428" cy="0"/>
          </a:xfrm>
          <a:prstGeom prst="line">
            <a:avLst/>
          </a:prstGeom>
          <a:ln w="30121" cap="flat">
            <a:solidFill>
              <a:srgbClr val="C17A30"/>
            </a:solidFill>
            <a:tailEnd type="triangle" w="med" len="med"/>
          </a:ln>
          <a:effectLst/>
        </p:spPr>
      </p:cxnSp>
      <p:cxnSp>
        <p:nvCxnSpPr>
          <p:cNvPr id="311" name="select-writer"/>
          <p:cNvCxnSpPr/>
          <p:nvPr/>
        </p:nvCxnSpPr>
        <p:spPr>
          <a:xfrm>
            <a:off x="13931153" y="13818198"/>
            <a:ext cx="1506071" cy="0"/>
          </a:xfrm>
          <a:prstGeom prst="line">
            <a:avLst/>
          </a:prstGeom>
          <a:ln w="30121" cap="flat">
            <a:solidFill>
              <a:srgbClr val="C17A30"/>
            </a:solidFill>
            <a:tailEnd type="triangle" w="med" len="med"/>
          </a:ln>
          <a:effectLst/>
        </p:spPr>
      </p:cxnSp>
      <p:sp>
        <p:nvSpPr>
          <p:cNvPr id="312" name="raw-bypass"/>
          <p:cNvSpPr/>
          <p:nvPr/>
        </p:nvSpPr>
        <p:spPr>
          <a:xfrm>
            <a:off x="9699095" y="12952207"/>
            <a:ext cx="3253112" cy="865991"/>
          </a:xfrm>
          <a:custGeom>
            <a:avLst/>
            <a:gdLst/>
            <a:ahLst/>
            <a:cxnLst/>
            <a:rect l="0" t="0" r="r" b="b"/>
            <a:pathLst>
              <a:path w="3253112" h="865991" fill="none">
                <a:moveTo>
                  <a:pt x="0" y="865991"/>
                </a:moveTo>
                <a:lnTo>
                  <a:pt x="0" y="0"/>
                </a:lnTo>
                <a:lnTo>
                  <a:pt x="3253112" y="0"/>
                </a:lnTo>
                <a:lnTo>
                  <a:pt x="3253112" y="301214"/>
                </a:lnTo>
              </a:path>
            </a:pathLst>
          </a:custGeom>
          <a:noFill/>
          <a:ln w="22591" cap="flat">
            <a:solidFill>
              <a:srgbClr val="C17A3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aw-junction"/>
          <p:cNvSpPr/>
          <p:nvPr/>
        </p:nvSpPr>
        <p:spPr>
          <a:xfrm>
            <a:off x="9661443" y="13780546"/>
            <a:ext cx="75304" cy="75304"/>
          </a:xfrm>
          <a:prstGeom prst="ellipse">
            <a:avLst/>
          </a:prstGeom>
          <a:solidFill>
            <a:srgbClr val="C17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obj-314: RAW 旁路"/>
          <p:cNvSpPr txBox="1"/>
          <p:nvPr/>
        </p:nvSpPr>
        <p:spPr>
          <a:xfrm>
            <a:off x="12267504" y="12652198"/>
            <a:ext cx="917585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C17A30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15" name="isp-gb-router"/>
          <p:cNvSpPr/>
          <p:nvPr/>
        </p:nvSpPr>
        <p:spPr>
          <a:xfrm>
            <a:off x="8509299" y="10015369"/>
            <a:ext cx="2289227" cy="3238052"/>
          </a:xfrm>
          <a:custGeom>
            <a:avLst/>
            <a:gdLst/>
            <a:ahLst/>
            <a:cxnLst/>
            <a:rect l="0" t="0" r="r" b="b"/>
            <a:pathLst>
              <a:path w="2289227" h="3238052" fill="none">
                <a:moveTo>
                  <a:pt x="2108499" y="3238052"/>
                </a:moveTo>
                <a:lnTo>
                  <a:pt x="2108499" y="3049793"/>
                </a:lnTo>
                <a:cubicBezTo>
                  <a:pt x="2289227" y="3049793"/>
                  <a:pt x="2289227" y="2823882"/>
                  <a:pt x="2108499" y="2823882"/>
                </a:cubicBezTo>
                <a:lnTo>
                  <a:pt x="2108499" y="2093438"/>
                </a:lnTo>
                <a:lnTo>
                  <a:pt x="0" y="2093438"/>
                </a:lnTo>
                <a:lnTo>
                  <a:pt x="0" y="0"/>
                </a:lnTo>
                <a:lnTo>
                  <a:pt x="225911" y="0"/>
                </a:lnTo>
              </a:path>
            </a:pathLst>
          </a:custGeom>
          <a:noFill/>
          <a:ln w="22591" cap="flat">
            <a:solidFill>
              <a:srgbClr val="16867F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obj-316: ISP 中间数据 ↔ GB"/>
          <p:cNvSpPr txBox="1"/>
          <p:nvPr/>
        </p:nvSpPr>
        <p:spPr>
          <a:xfrm>
            <a:off x="6426503" y="11560297"/>
            <a:ext cx="1665514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16867F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cxnSp>
        <p:nvCxnSpPr>
          <p:cNvPr id="317" name="frame-to-ddr"/>
          <p:cNvCxnSpPr/>
          <p:nvPr/>
        </p:nvCxnSpPr>
        <p:spPr>
          <a:xfrm>
            <a:off x="18599972" y="13818198"/>
            <a:ext cx="1204856" cy="0"/>
          </a:xfrm>
          <a:prstGeom prst="line">
            <a:avLst/>
          </a:prstGeom>
          <a:ln w="3012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318" name="obj-318: RegExt · 新增 IP 配置寄存器"/>
          <p:cNvSpPr txBox="1"/>
          <p:nvPr/>
        </p:nvSpPr>
        <p:spPr>
          <a:xfrm>
            <a:off x="677732" y="15095948"/>
            <a:ext cx="2890114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RegExt · 新增 IP 配置寄存器</a:t>
            </a:r>
          </a:p>
        </p:txBody>
      </p:sp>
      <p:cxnSp>
        <p:nvCxnSpPr>
          <p:cNvPr id="319" name="regext-to-config-rail"/>
          <p:cNvCxnSpPr/>
          <p:nvPr/>
        </p:nvCxnSpPr>
        <p:spPr>
          <a:xfrm>
            <a:off x="4405257" y="14616415"/>
            <a:ext cx="0" cy="1024128"/>
          </a:xfrm>
          <a:prstGeom prst="line">
            <a:avLst/>
          </a:prstGeom>
          <a:ln w="22591" cap="flat">
            <a:solidFill>
              <a:srgbClr val="8663A9"/>
            </a:solidFill>
            <a:tailEnd type="triangle" w="med" len="med"/>
          </a:ln>
          <a:effectLst/>
        </p:spPr>
      </p:cxnSp>
      <p:cxnSp>
        <p:nvCxnSpPr>
          <p:cNvPr id="320" name="config-rail"/>
          <p:cNvCxnSpPr/>
          <p:nvPr/>
        </p:nvCxnSpPr>
        <p:spPr>
          <a:xfrm>
            <a:off x="1731981" y="15640543"/>
            <a:ext cx="19880132" cy="0"/>
          </a:xfrm>
          <a:prstGeom prst="line">
            <a:avLst/>
          </a:prstGeom>
          <a:ln w="30121" cap="flat">
            <a:solidFill>
              <a:srgbClr val="8663A9"/>
            </a:solidFill>
          </a:ln>
          <a:effectLst/>
        </p:spPr>
      </p:cxnSp>
      <p:cxnSp>
        <p:nvCxnSpPr>
          <p:cNvPr id="321" name="config-drop-0"/>
          <p:cNvCxnSpPr/>
          <p:nvPr/>
        </p:nvCxnSpPr>
        <p:spPr>
          <a:xfrm>
            <a:off x="1731981" y="15640543"/>
            <a:ext cx="0" cy="323805"/>
          </a:xfrm>
          <a:prstGeom prst="line">
            <a:avLst/>
          </a:prstGeom>
          <a:ln w="18826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22" name="config-C1"/>
          <p:cNvSpPr/>
          <p:nvPr/>
        </p:nvSpPr>
        <p:spPr>
          <a:xfrm>
            <a:off x="602428" y="15964348"/>
            <a:ext cx="2259106" cy="978946"/>
          </a:xfrm>
          <a:prstGeom prst="roundRect">
            <a:avLst>
              <a:gd name="adj" fmla="val 4615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tag-C1-322"/>
          <p:cNvSpPr/>
          <p:nvPr/>
        </p:nvSpPr>
        <p:spPr>
          <a:xfrm>
            <a:off x="692793" y="1605471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obj-324: C1"/>
          <p:cNvSpPr txBox="1"/>
          <p:nvPr/>
        </p:nvSpPr>
        <p:spPr>
          <a:xfrm>
            <a:off x="706441" y="16065255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25" name="obj-325: PLL / 时钟复位"/>
          <p:cNvSpPr txBox="1"/>
          <p:nvPr/>
        </p:nvSpPr>
        <p:spPr>
          <a:xfrm>
            <a:off x="1129671" y="16092364"/>
            <a:ext cx="1445592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326" name="obj-326: 配置 / 锁定 / 切换"/>
          <p:cNvSpPr txBox="1"/>
          <p:nvPr/>
        </p:nvSpPr>
        <p:spPr>
          <a:xfrm>
            <a:off x="931952" y="16485147"/>
            <a:ext cx="1600059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327" name="config-drop-1"/>
          <p:cNvCxnSpPr/>
          <p:nvPr/>
        </p:nvCxnSpPr>
        <p:spPr>
          <a:xfrm>
            <a:off x="4216998" y="15640543"/>
            <a:ext cx="0" cy="323805"/>
          </a:xfrm>
          <a:prstGeom prst="line">
            <a:avLst/>
          </a:prstGeom>
          <a:ln w="18826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28" name="config-C2"/>
          <p:cNvSpPr/>
          <p:nvPr/>
        </p:nvSpPr>
        <p:spPr>
          <a:xfrm>
            <a:off x="3087445" y="15964348"/>
            <a:ext cx="2259106" cy="978946"/>
          </a:xfrm>
          <a:prstGeom prst="roundRect">
            <a:avLst>
              <a:gd name="adj" fmla="val 4615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tag-C2-328"/>
          <p:cNvSpPr/>
          <p:nvPr/>
        </p:nvSpPr>
        <p:spPr>
          <a:xfrm>
            <a:off x="3177809" y="1605471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obj-330: C2"/>
          <p:cNvSpPr txBox="1"/>
          <p:nvPr/>
        </p:nvSpPr>
        <p:spPr>
          <a:xfrm>
            <a:off x="3191458" y="16065255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331" name="obj-331: DDR Controller"/>
          <p:cNvSpPr txBox="1"/>
          <p:nvPr/>
        </p:nvSpPr>
        <p:spPr>
          <a:xfrm>
            <a:off x="3636302" y="16092364"/>
            <a:ext cx="1402363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332" name="obj-332: 初始化 / QoS / 状态"/>
          <p:cNvSpPr txBox="1"/>
          <p:nvPr/>
        </p:nvSpPr>
        <p:spPr>
          <a:xfrm>
            <a:off x="3346183" y="16485147"/>
            <a:ext cx="1741629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333" name="config-drop-2"/>
          <p:cNvCxnSpPr/>
          <p:nvPr/>
        </p:nvCxnSpPr>
        <p:spPr>
          <a:xfrm>
            <a:off x="6702014" y="15640543"/>
            <a:ext cx="0" cy="323805"/>
          </a:xfrm>
          <a:prstGeom prst="line">
            <a:avLst/>
          </a:prstGeom>
          <a:ln w="18826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34" name="config-C3"/>
          <p:cNvSpPr/>
          <p:nvPr/>
        </p:nvSpPr>
        <p:spPr>
          <a:xfrm>
            <a:off x="5572461" y="15964348"/>
            <a:ext cx="2259106" cy="978946"/>
          </a:xfrm>
          <a:prstGeom prst="roundRect">
            <a:avLst>
              <a:gd name="adj" fmla="val 4615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tag-C3-334"/>
          <p:cNvSpPr/>
          <p:nvPr/>
        </p:nvSpPr>
        <p:spPr>
          <a:xfrm>
            <a:off x="5662825" y="1605471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obj-336: C3"/>
          <p:cNvSpPr txBox="1"/>
          <p:nvPr/>
        </p:nvSpPr>
        <p:spPr>
          <a:xfrm>
            <a:off x="5676474" y="16065255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337" name="obj-337: DDR PHY"/>
          <p:cNvSpPr txBox="1"/>
          <p:nvPr/>
        </p:nvSpPr>
        <p:spPr>
          <a:xfrm>
            <a:off x="6350382" y="16092364"/>
            <a:ext cx="944236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338" name="obj-338: training / 校准 / 状态"/>
          <p:cNvSpPr txBox="1"/>
          <p:nvPr/>
        </p:nvSpPr>
        <p:spPr>
          <a:xfrm>
            <a:off x="5795083" y="16485147"/>
            <a:ext cx="1813862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training / 校准 / 状态</a:t>
            </a:r>
          </a:p>
        </p:txBody>
      </p:sp>
      <p:cxnSp>
        <p:nvCxnSpPr>
          <p:cNvPr id="339" name="config-drop-3"/>
          <p:cNvCxnSpPr/>
          <p:nvPr/>
        </p:nvCxnSpPr>
        <p:spPr>
          <a:xfrm>
            <a:off x="9187031" y="15640543"/>
            <a:ext cx="0" cy="323805"/>
          </a:xfrm>
          <a:prstGeom prst="line">
            <a:avLst/>
          </a:prstGeom>
          <a:ln w="18826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40" name="config-C4"/>
          <p:cNvSpPr/>
          <p:nvPr/>
        </p:nvSpPr>
        <p:spPr>
          <a:xfrm>
            <a:off x="8057478" y="15964348"/>
            <a:ext cx="2259106" cy="978946"/>
          </a:xfrm>
          <a:prstGeom prst="roundRect">
            <a:avLst>
              <a:gd name="adj" fmla="val 4615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tag-C4-340"/>
          <p:cNvSpPr/>
          <p:nvPr/>
        </p:nvSpPr>
        <p:spPr>
          <a:xfrm>
            <a:off x="8147842" y="1605471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obj-342: C4"/>
          <p:cNvSpPr txBox="1"/>
          <p:nvPr/>
        </p:nvSpPr>
        <p:spPr>
          <a:xfrm>
            <a:off x="8161491" y="16065255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3" name="obj-343: LVDS"/>
          <p:cNvSpPr txBox="1"/>
          <p:nvPr/>
        </p:nvSpPr>
        <p:spPr>
          <a:xfrm>
            <a:off x="8993324" y="16092364"/>
            <a:ext cx="628384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344" name="obj-344: 通道 / 对齐 / 帧行"/>
          <p:cNvSpPr txBox="1"/>
          <p:nvPr/>
        </p:nvSpPr>
        <p:spPr>
          <a:xfrm>
            <a:off x="8387001" y="16485147"/>
            <a:ext cx="1600059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345" name="config-drop-4"/>
          <p:cNvCxnSpPr/>
          <p:nvPr/>
        </p:nvCxnSpPr>
        <p:spPr>
          <a:xfrm>
            <a:off x="11672047" y="15640543"/>
            <a:ext cx="0" cy="323805"/>
          </a:xfrm>
          <a:prstGeom prst="line">
            <a:avLst/>
          </a:prstGeom>
          <a:ln w="18826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46" name="config-C5"/>
          <p:cNvSpPr/>
          <p:nvPr/>
        </p:nvSpPr>
        <p:spPr>
          <a:xfrm>
            <a:off x="10542494" y="15964348"/>
            <a:ext cx="2259106" cy="978946"/>
          </a:xfrm>
          <a:prstGeom prst="roundRect">
            <a:avLst>
              <a:gd name="adj" fmla="val 4615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tag-C5-346"/>
          <p:cNvSpPr/>
          <p:nvPr/>
        </p:nvSpPr>
        <p:spPr>
          <a:xfrm>
            <a:off x="10632858" y="1605471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obj-348: C5"/>
          <p:cNvSpPr txBox="1"/>
          <p:nvPr/>
        </p:nvSpPr>
        <p:spPr>
          <a:xfrm>
            <a:off x="10646507" y="16065255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9" name="obj-349: ISP"/>
          <p:cNvSpPr txBox="1"/>
          <p:nvPr/>
        </p:nvSpPr>
        <p:spPr>
          <a:xfrm>
            <a:off x="11563004" y="16092364"/>
            <a:ext cx="459057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50" name="obj-350: 尺寸 / 模式 / 参数"/>
          <p:cNvSpPr txBox="1"/>
          <p:nvPr/>
        </p:nvSpPr>
        <p:spPr>
          <a:xfrm>
            <a:off x="10872018" y="16485147"/>
            <a:ext cx="1600059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351" name="config-drop-5"/>
          <p:cNvCxnSpPr/>
          <p:nvPr/>
        </p:nvCxnSpPr>
        <p:spPr>
          <a:xfrm>
            <a:off x="14157064" y="15640543"/>
            <a:ext cx="0" cy="323805"/>
          </a:xfrm>
          <a:prstGeom prst="line">
            <a:avLst/>
          </a:prstGeom>
          <a:ln w="18826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52" name="config-C6"/>
          <p:cNvSpPr/>
          <p:nvPr/>
        </p:nvSpPr>
        <p:spPr>
          <a:xfrm>
            <a:off x="13027511" y="15964348"/>
            <a:ext cx="2259106" cy="978946"/>
          </a:xfrm>
          <a:prstGeom prst="roundRect">
            <a:avLst>
              <a:gd name="adj" fmla="val 4615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tag-C6-352"/>
          <p:cNvSpPr/>
          <p:nvPr/>
        </p:nvSpPr>
        <p:spPr>
          <a:xfrm>
            <a:off x="13117875" y="1605471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obj-354: C6"/>
          <p:cNvSpPr txBox="1"/>
          <p:nvPr/>
        </p:nvSpPr>
        <p:spPr>
          <a:xfrm>
            <a:off x="13131524" y="16065255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55" name="obj-355: NPU 计算"/>
          <p:cNvSpPr txBox="1"/>
          <p:nvPr/>
        </p:nvSpPr>
        <p:spPr>
          <a:xfrm>
            <a:off x="13792012" y="16092364"/>
            <a:ext cx="971074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356" name="obj-356: 命令 / GB 数据位置"/>
          <p:cNvSpPr txBox="1"/>
          <p:nvPr/>
        </p:nvSpPr>
        <p:spPr>
          <a:xfrm>
            <a:off x="13317288" y="16485147"/>
            <a:ext cx="1679551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357" name="config-drop-6"/>
          <p:cNvCxnSpPr/>
          <p:nvPr/>
        </p:nvCxnSpPr>
        <p:spPr>
          <a:xfrm>
            <a:off x="16642080" y="15640543"/>
            <a:ext cx="0" cy="323805"/>
          </a:xfrm>
          <a:prstGeom prst="line">
            <a:avLst/>
          </a:prstGeom>
          <a:ln w="18826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58" name="config-C7"/>
          <p:cNvSpPr/>
          <p:nvPr/>
        </p:nvSpPr>
        <p:spPr>
          <a:xfrm>
            <a:off x="15512527" y="15964348"/>
            <a:ext cx="2259106" cy="978946"/>
          </a:xfrm>
          <a:prstGeom prst="roundRect">
            <a:avLst>
              <a:gd name="adj" fmla="val 4615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tag-C7-358"/>
          <p:cNvSpPr/>
          <p:nvPr/>
        </p:nvSpPr>
        <p:spPr>
          <a:xfrm>
            <a:off x="15602891" y="1605471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obj-360: C7"/>
          <p:cNvSpPr txBox="1"/>
          <p:nvPr/>
        </p:nvSpPr>
        <p:spPr>
          <a:xfrm>
            <a:off x="15616540" y="16065255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61" name="obj-361: NPU / GB 搬运"/>
          <p:cNvSpPr txBox="1"/>
          <p:nvPr/>
        </p:nvSpPr>
        <p:spPr>
          <a:xfrm>
            <a:off x="16051353" y="16092364"/>
            <a:ext cx="1422425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362" name="obj-362: 地址 / 长度 / stride"/>
          <p:cNvSpPr txBox="1"/>
          <p:nvPr/>
        </p:nvSpPr>
        <p:spPr>
          <a:xfrm>
            <a:off x="15800857" y="16485147"/>
            <a:ext cx="1682446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363" name="config-drop-7"/>
          <p:cNvCxnSpPr/>
          <p:nvPr/>
        </p:nvCxnSpPr>
        <p:spPr>
          <a:xfrm>
            <a:off x="19127096" y="15640543"/>
            <a:ext cx="0" cy="323805"/>
          </a:xfrm>
          <a:prstGeom prst="line">
            <a:avLst/>
          </a:prstGeom>
          <a:ln w="18826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64" name="config-C8"/>
          <p:cNvSpPr/>
          <p:nvPr/>
        </p:nvSpPr>
        <p:spPr>
          <a:xfrm>
            <a:off x="17997543" y="15964348"/>
            <a:ext cx="2259106" cy="978946"/>
          </a:xfrm>
          <a:prstGeom prst="roundRect">
            <a:avLst>
              <a:gd name="adj" fmla="val 4615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tag-C8-364"/>
          <p:cNvSpPr/>
          <p:nvPr/>
        </p:nvSpPr>
        <p:spPr>
          <a:xfrm>
            <a:off x="18087908" y="1605471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obj-366: C8"/>
          <p:cNvSpPr txBox="1"/>
          <p:nvPr/>
        </p:nvSpPr>
        <p:spPr>
          <a:xfrm>
            <a:off x="18101556" y="16065255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67" name="obj-367: 帧写入 DMA"/>
          <p:cNvSpPr txBox="1"/>
          <p:nvPr/>
        </p:nvSpPr>
        <p:spPr>
          <a:xfrm>
            <a:off x="18651002" y="16092364"/>
            <a:ext cx="1193161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68" name="obj-368: 缓冲区 / 格式 / 帧状态"/>
          <p:cNvSpPr txBox="1"/>
          <p:nvPr/>
        </p:nvSpPr>
        <p:spPr>
          <a:xfrm>
            <a:off x="18153869" y="16485147"/>
            <a:ext cx="1946455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369" name="config-drop-8"/>
          <p:cNvCxnSpPr/>
          <p:nvPr/>
        </p:nvCxnSpPr>
        <p:spPr>
          <a:xfrm>
            <a:off x="21612113" y="15640543"/>
            <a:ext cx="0" cy="323805"/>
          </a:xfrm>
          <a:prstGeom prst="line">
            <a:avLst/>
          </a:prstGeom>
          <a:ln w="18826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70" name="config-C9"/>
          <p:cNvSpPr/>
          <p:nvPr/>
        </p:nvSpPr>
        <p:spPr>
          <a:xfrm>
            <a:off x="20482560" y="15964348"/>
            <a:ext cx="2259106" cy="978946"/>
          </a:xfrm>
          <a:prstGeom prst="roundRect">
            <a:avLst>
              <a:gd name="adj" fmla="val 4615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tag-C9-370"/>
          <p:cNvSpPr/>
          <p:nvPr/>
        </p:nvSpPr>
        <p:spPr>
          <a:xfrm>
            <a:off x="20572924" y="1605471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obj-372: C9"/>
          <p:cNvSpPr txBox="1"/>
          <p:nvPr/>
        </p:nvSpPr>
        <p:spPr>
          <a:xfrm>
            <a:off x="20586573" y="16065255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73" name="obj-373: GB 管理"/>
          <p:cNvSpPr txBox="1"/>
          <p:nvPr/>
        </p:nvSpPr>
        <p:spPr>
          <a:xfrm>
            <a:off x="21301662" y="16092364"/>
            <a:ext cx="861872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GB 管理</a:t>
            </a:r>
          </a:p>
        </p:txBody>
      </p:sp>
      <p:sp>
        <p:nvSpPr>
          <p:cNvPr id="374" name="obj-374: 能力 / bank / 错误"/>
          <p:cNvSpPr txBox="1"/>
          <p:nvPr/>
        </p:nvSpPr>
        <p:spPr>
          <a:xfrm>
            <a:off x="20801935" y="16485147"/>
            <a:ext cx="1620355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375" name="legend-347BB2"/>
          <p:cNvCxnSpPr/>
          <p:nvPr/>
        </p:nvCxnSpPr>
        <p:spPr>
          <a:xfrm>
            <a:off x="602428" y="17696329"/>
            <a:ext cx="489473" cy="0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376" name="obj-376: AXI 请求通路"/>
          <p:cNvSpPr txBox="1"/>
          <p:nvPr/>
        </p:nvSpPr>
        <p:spPr>
          <a:xfrm>
            <a:off x="1219917" y="17552650"/>
            <a:ext cx="1303610" cy="3132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1" b="0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AXI 请求通路</a:t>
            </a:r>
          </a:p>
        </p:txBody>
      </p:sp>
      <p:cxnSp>
        <p:nvCxnSpPr>
          <p:cNvPr id="377" name="legend-16867F"/>
          <p:cNvCxnSpPr/>
          <p:nvPr/>
        </p:nvCxnSpPr>
        <p:spPr>
          <a:xfrm>
            <a:off x="4367605" y="17696329"/>
            <a:ext cx="489473" cy="0"/>
          </a:xfrm>
          <a:prstGeom prst="line">
            <a:avLst/>
          </a:prstGeom>
          <a:ln w="22591" cap="flat">
            <a:solidFill>
              <a:srgbClr val="16867F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78" name="obj-378: GB 读写"/>
          <p:cNvSpPr txBox="1"/>
          <p:nvPr/>
        </p:nvSpPr>
        <p:spPr>
          <a:xfrm>
            <a:off x="4985094" y="17552650"/>
            <a:ext cx="896359" cy="3132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1" b="0" i="0">
                <a:solidFill>
                  <a:srgbClr val="16867F"/>
                </a:solidFill>
                <a:latin typeface="Microsoft YaHei"/>
                <a:ea typeface="Microsoft YaHei"/>
                <a:cs typeface="Microsoft YaHei"/>
              </a:rPr>
              <a:t>GB 读写</a:t>
            </a:r>
          </a:p>
        </p:txBody>
      </p:sp>
      <p:cxnSp>
        <p:nvCxnSpPr>
          <p:cNvPr id="379" name="legend-C17A30"/>
          <p:cNvCxnSpPr/>
          <p:nvPr/>
        </p:nvCxnSpPr>
        <p:spPr>
          <a:xfrm>
            <a:off x="7530353" y="17696329"/>
            <a:ext cx="489473" cy="0"/>
          </a:xfrm>
          <a:prstGeom prst="line">
            <a:avLst/>
          </a:prstGeom>
          <a:ln w="22591" cap="flat">
            <a:solidFill>
              <a:srgbClr val="C17A30"/>
            </a:solidFill>
            <a:tailEnd type="triangle" w="med" len="med"/>
          </a:ln>
          <a:effectLst/>
        </p:spPr>
      </p:cxnSp>
      <p:sp>
        <p:nvSpPr>
          <p:cNvPr id="380" name="obj-380: 像素流"/>
          <p:cNvSpPr txBox="1"/>
          <p:nvPr/>
        </p:nvSpPr>
        <p:spPr>
          <a:xfrm>
            <a:off x="8147842" y="17552650"/>
            <a:ext cx="783157" cy="3132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1" b="0" i="0">
                <a:solidFill>
                  <a:srgbClr val="C17A30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cxnSp>
        <p:nvCxnSpPr>
          <p:cNvPr id="381" name="legend-8663A9"/>
          <p:cNvCxnSpPr/>
          <p:nvPr/>
        </p:nvCxnSpPr>
        <p:spPr>
          <a:xfrm>
            <a:off x="10542494" y="17696329"/>
            <a:ext cx="489473" cy="0"/>
          </a:xfrm>
          <a:prstGeom prst="line">
            <a:avLst/>
          </a:prstGeom>
          <a:ln w="22591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82" name="obj-382: 配置 / 专用控制"/>
          <p:cNvSpPr txBox="1"/>
          <p:nvPr/>
        </p:nvSpPr>
        <p:spPr>
          <a:xfrm>
            <a:off x="11159983" y="17552650"/>
            <a:ext cx="1589646" cy="3132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1" b="0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配置 / 专用控制</a:t>
            </a:r>
          </a:p>
        </p:txBody>
      </p:sp>
      <p:sp>
        <p:nvSpPr>
          <p:cNvPr id="383" name="legend-optional"/>
          <p:cNvSpPr/>
          <p:nvPr/>
        </p:nvSpPr>
        <p:spPr>
          <a:xfrm>
            <a:off x="15098358" y="17575844"/>
            <a:ext cx="489473" cy="240971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061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obj-384: 灰虚线：可选"/>
          <p:cNvSpPr txBox="1"/>
          <p:nvPr/>
        </p:nvSpPr>
        <p:spPr>
          <a:xfrm>
            <a:off x="15738438" y="17560783"/>
            <a:ext cx="1317812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灰虚线：可选</a:t>
            </a:r>
          </a:p>
        </p:txBody>
      </p:sp>
      <p:sp>
        <p:nvSpPr>
          <p:cNvPr id="385" name="legend-candidate"/>
          <p:cNvSpPr/>
          <p:nvPr/>
        </p:nvSpPr>
        <p:spPr>
          <a:xfrm>
            <a:off x="17846936" y="17575844"/>
            <a:ext cx="489473" cy="240971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061" cap="flat">
            <a:solidFill>
              <a:srgbClr val="16867F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obj-386: 彩色虚线：新增候选"/>
          <p:cNvSpPr txBox="1"/>
          <p:nvPr/>
        </p:nvSpPr>
        <p:spPr>
          <a:xfrm>
            <a:off x="18487016" y="17560783"/>
            <a:ext cx="1882588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彩色虚线：新增候选</a:t>
            </a:r>
          </a:p>
        </p:txBody>
      </p:sp>
      <p:sp>
        <p:nvSpPr>
          <p:cNvPr id="387" name="obj-387: C1–C9：同一 IP 的配置端对应关系；AXI 返回通道合并示意。"/>
          <p:cNvSpPr txBox="1"/>
          <p:nvPr/>
        </p:nvSpPr>
        <p:spPr>
          <a:xfrm>
            <a:off x="602428" y="17877660"/>
            <a:ext cx="5073105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C1–C9：同一 IP 的配置端对应关系；AXI 返回通道合并示意。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