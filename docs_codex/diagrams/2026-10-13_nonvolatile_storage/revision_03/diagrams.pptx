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2148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1"/>
          <p:cNvSpPr/>
          <p:nvPr/>
        </p:nvSpPr>
        <p:spPr>
          <a:xfrm>
            <a:off x="457200" y="347472"/>
            <a:ext cx="3931920" cy="1344168"/>
          </a:xfrm>
          <a:prstGeom prst="roundRect">
            <a:avLst>
              <a:gd name="adj" fmla="val 4081"/>
            </a:avLst>
          </a:prstGeom>
          <a:solidFill>
            <a:srgbClr val="E8F1FA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2: eMMC 器件：NAND + 管理控制器"/>
          <p:cNvSpPr txBox="1"/>
          <p:nvPr/>
        </p:nvSpPr>
        <p:spPr>
          <a:xfrm>
            <a:off x="640080" y="376367"/>
            <a:ext cx="3329873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eMMC 器件：NAND + 管理控制器</a:t>
            </a:r>
          </a:p>
        </p:txBody>
      </p:sp>
      <p:sp>
        <p:nvSpPr>
          <p:cNvPr id="4" name="d3"/>
          <p:cNvSpPr/>
          <p:nvPr/>
        </p:nvSpPr>
        <p:spPr>
          <a:xfrm>
            <a:off x="621792" y="768096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D6E7F5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4: NAND"/>
          <p:cNvSpPr txBox="1"/>
          <p:nvPr/>
        </p:nvSpPr>
        <p:spPr>
          <a:xfrm>
            <a:off x="828032" y="814548"/>
            <a:ext cx="77624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NAND</a:t>
            </a:r>
          </a:p>
        </p:txBody>
      </p:sp>
      <p:sp>
        <p:nvSpPr>
          <p:cNvPr id="6" name="d5: 参数存储"/>
          <p:cNvSpPr txBox="1"/>
          <p:nvPr/>
        </p:nvSpPr>
        <p:spPr>
          <a:xfrm>
            <a:off x="713232" y="1117763"/>
            <a:ext cx="1005840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参数存储</a:t>
            </a:r>
          </a:p>
        </p:txBody>
      </p:sp>
      <p:sp>
        <p:nvSpPr>
          <p:cNvPr id="7" name="d6"/>
          <p:cNvSpPr/>
          <p:nvPr/>
        </p:nvSpPr>
        <p:spPr>
          <a:xfrm>
            <a:off x="2148840" y="768096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7: 介质管理 / ECC"/>
          <p:cNvSpPr txBox="1"/>
          <p:nvPr/>
        </p:nvSpPr>
        <p:spPr>
          <a:xfrm>
            <a:off x="2304252" y="814548"/>
            <a:ext cx="1737431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介质管理 / ECC</a:t>
            </a:r>
          </a:p>
        </p:txBody>
      </p:sp>
      <p:sp>
        <p:nvSpPr>
          <p:cNvPr id="9" name="d8: 坏块、磨损、地址映射"/>
          <p:cNvSpPr txBox="1"/>
          <p:nvPr/>
        </p:nvSpPr>
        <p:spPr>
          <a:xfrm>
            <a:off x="2116836" y="1127638"/>
            <a:ext cx="2112264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坏块、磨损、地址映射</a:t>
            </a:r>
          </a:p>
        </p:txBody>
      </p:sp>
      <p:sp>
        <p:nvSpPr>
          <p:cNvPr id="10" name="d9"/>
          <p:cNvSpPr/>
          <p:nvPr/>
        </p:nvSpPr>
        <p:spPr>
          <a:xfrm>
            <a:off x="1810512" y="1143000"/>
            <a:ext cx="338328" cy="1"/>
          </a:xfrm>
          <a:custGeom>
            <a:avLst/>
            <a:gdLst/>
            <a:ahLst/>
            <a:cxnLst/>
            <a:rect l="0" t="0" r="r" b="b"/>
            <a:pathLst>
              <a:path w="338328" h="1" fill="none">
                <a:moveTo>
                  <a:pt x="0" y="0"/>
                </a:moveTo>
                <a:lnTo>
                  <a:pt x="338328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d10"/>
          <p:cNvSpPr/>
          <p:nvPr/>
        </p:nvSpPr>
        <p:spPr>
          <a:xfrm>
            <a:off x="6263640" y="768096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FF1DD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d11: I/O PAD + 收发时序"/>
          <p:cNvSpPr txBox="1"/>
          <p:nvPr/>
        </p:nvSpPr>
        <p:spPr>
          <a:xfrm>
            <a:off x="6292222" y="825155"/>
            <a:ext cx="1954516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I/O PAD + 收发时序</a:t>
            </a:r>
          </a:p>
        </p:txBody>
      </p:sp>
      <p:sp>
        <p:nvSpPr>
          <p:cNvPr id="13" name="d12: 3.3 V / 25OD33"/>
          <p:cNvSpPr txBox="1"/>
          <p:nvPr/>
        </p:nvSpPr>
        <p:spPr>
          <a:xfrm>
            <a:off x="6445248" y="1108619"/>
            <a:ext cx="1648463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3.3 V / 25OD33</a:t>
            </a:r>
          </a:p>
        </p:txBody>
      </p:sp>
      <p:sp>
        <p:nvSpPr>
          <p:cNvPr id="14" name="d13"/>
          <p:cNvSpPr/>
          <p:nvPr/>
        </p:nvSpPr>
        <p:spPr>
          <a:xfrm>
            <a:off x="4206240" y="1143000"/>
            <a:ext cx="2057400" cy="1"/>
          </a:xfrm>
          <a:custGeom>
            <a:avLst/>
            <a:gdLst/>
            <a:ahLst/>
            <a:cxnLst/>
            <a:rect l="0" t="0" r="r" b="b"/>
            <a:pathLst>
              <a:path w="2057400" h="1" fill="none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14: CLK / CMD / DAT"/>
          <p:cNvSpPr txBox="1"/>
          <p:nvPr/>
        </p:nvSpPr>
        <p:spPr>
          <a:xfrm>
            <a:off x="4499462" y="707746"/>
            <a:ext cx="160811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CLK / CMD / DAT</a:t>
            </a:r>
          </a:p>
        </p:txBody>
      </p:sp>
      <p:sp>
        <p:nvSpPr>
          <p:cNvPr id="16" name="d15: 3.3 V 单端数字"/>
          <p:cNvSpPr txBox="1"/>
          <p:nvPr/>
        </p:nvSpPr>
        <p:spPr>
          <a:xfrm>
            <a:off x="4603240" y="1210666"/>
            <a:ext cx="140056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3.3 V 单端数字</a:t>
            </a:r>
          </a:p>
        </p:txBody>
      </p:sp>
      <p:sp>
        <p:nvSpPr>
          <p:cNvPr id="17" name="d16"/>
          <p:cNvSpPr/>
          <p:nvPr/>
        </p:nvSpPr>
        <p:spPr>
          <a:xfrm>
            <a:off x="9464040" y="768096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E0EFE9"/>
          </a:solidFill>
          <a:ln w="14630" cap="flat">
            <a:solidFill>
              <a:srgbClr val="193047"/>
            </a:solidFill>
            <a:custDash>
              <a:ds d="500000" sp="3125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d17: SoC eMMC 主机"/>
          <p:cNvSpPr txBox="1"/>
          <p:nvPr/>
        </p:nvSpPr>
        <p:spPr>
          <a:xfrm>
            <a:off x="9718500" y="786384"/>
            <a:ext cx="1868519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SoC eMMC 主机</a:t>
            </a:r>
          </a:p>
        </p:txBody>
      </p:sp>
      <p:sp>
        <p:nvSpPr>
          <p:cNvPr id="19" name="d18: 命令 / CRC / FIFO / DMA"/>
          <p:cNvSpPr txBox="1"/>
          <p:nvPr/>
        </p:nvSpPr>
        <p:spPr>
          <a:xfrm>
            <a:off x="9488072" y="1118494"/>
            <a:ext cx="2329377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命令 / CRC / FIFO / DMA</a:t>
            </a:r>
          </a:p>
        </p:txBody>
      </p:sp>
      <p:sp>
        <p:nvSpPr>
          <p:cNvPr id="20" name="d19"/>
          <p:cNvSpPr/>
          <p:nvPr/>
        </p:nvSpPr>
        <p:spPr>
          <a:xfrm>
            <a:off x="8275320" y="1143000"/>
            <a:ext cx="1188720" cy="1"/>
          </a:xfrm>
          <a:custGeom>
            <a:avLst/>
            <a:gdLst/>
            <a:ahLst/>
            <a:cxnLst/>
            <a:rect l="0" t="0" r="r" b="b"/>
            <a:pathLst>
              <a:path w="1188720" h="1" fill="none">
                <a:moveTo>
                  <a:pt x="0" y="0"/>
                </a:moveTo>
                <a:lnTo>
                  <a:pt x="1188720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d20: 片内接口"/>
          <p:cNvSpPr txBox="1"/>
          <p:nvPr/>
        </p:nvSpPr>
        <p:spPr>
          <a:xfrm>
            <a:off x="8412480" y="707746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片内接口</a:t>
            </a:r>
          </a:p>
        </p:txBody>
      </p:sp>
      <p:sp>
        <p:nvSpPr>
          <p:cNvPr id="22" name="d21"/>
          <p:cNvSpPr/>
          <p:nvPr/>
        </p:nvSpPr>
        <p:spPr>
          <a:xfrm>
            <a:off x="9921240" y="27432"/>
            <a:ext cx="14630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4630" cap="flat">
            <a:solidFill>
              <a:srgbClr val="2180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d22: CPU 配置"/>
          <p:cNvSpPr txBox="1"/>
          <p:nvPr/>
        </p:nvSpPr>
        <p:spPr>
          <a:xfrm>
            <a:off x="10137953" y="75347"/>
            <a:ext cx="1029614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CPU 配置</a:t>
            </a:r>
          </a:p>
        </p:txBody>
      </p:sp>
      <p:sp>
        <p:nvSpPr>
          <p:cNvPr id="24" name="d23"/>
          <p:cNvSpPr/>
          <p:nvPr/>
        </p:nvSpPr>
        <p:spPr>
          <a:xfrm>
            <a:off x="10652760" y="429768"/>
            <a:ext cx="1" cy="338328"/>
          </a:xfrm>
          <a:custGeom>
            <a:avLst/>
            <a:gdLst/>
            <a:ahLst/>
            <a:cxnLst/>
            <a:rect l="0" t="0" r="r" b="b"/>
            <a:pathLst>
              <a:path w="1" h="338328" fill="none">
                <a:moveTo>
                  <a:pt x="0" y="0"/>
                </a:moveTo>
                <a:lnTo>
                  <a:pt x="0" y="338328"/>
                </a:lnTo>
              </a:path>
            </a:pathLst>
          </a:custGeom>
          <a:noFill/>
          <a:ln w="25603" cap="flat">
            <a:solidFill>
              <a:srgbClr val="218078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d24"/>
          <p:cNvSpPr/>
          <p:nvPr/>
        </p:nvSpPr>
        <p:spPr>
          <a:xfrm>
            <a:off x="13030200" y="768096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EEE8F6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d25: DDR"/>
          <p:cNvSpPr txBox="1"/>
          <p:nvPr/>
        </p:nvSpPr>
        <p:spPr>
          <a:xfrm>
            <a:off x="13234504" y="794065"/>
            <a:ext cx="725248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27" name="d26: 供 ISP 使用"/>
          <p:cNvSpPr txBox="1"/>
          <p:nvPr/>
        </p:nvSpPr>
        <p:spPr>
          <a:xfrm>
            <a:off x="13044995" y="1137514"/>
            <a:ext cx="110426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供 ISP 使用</a:t>
            </a:r>
          </a:p>
        </p:txBody>
      </p:sp>
      <p:sp>
        <p:nvSpPr>
          <p:cNvPr id="28" name="d27"/>
          <p:cNvSpPr/>
          <p:nvPr/>
        </p:nvSpPr>
        <p:spPr>
          <a:xfrm>
            <a:off x="11841480" y="1143000"/>
            <a:ext cx="1188720" cy="1"/>
          </a:xfrm>
          <a:custGeom>
            <a:avLst/>
            <a:gdLst/>
            <a:ahLst/>
            <a:cxnLst/>
            <a:rect l="0" t="0" r="r" b="b"/>
            <a:pathLst>
              <a:path w="1188720" h="1" fill="none">
                <a:moveTo>
                  <a:pt x="0" y="0"/>
                </a:moveTo>
                <a:lnTo>
                  <a:pt x="118872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d28: AXI 写入"/>
          <p:cNvSpPr txBox="1"/>
          <p:nvPr/>
        </p:nvSpPr>
        <p:spPr>
          <a:xfrm>
            <a:off x="12009887" y="707746"/>
            <a:ext cx="85190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AXI 写入</a:t>
            </a:r>
          </a:p>
        </p:txBody>
      </p:sp>
      <p:sp>
        <p:nvSpPr>
          <p:cNvPr id="30" name="d29: 双箭头合并总线交互；读参数方向为左 → 右。主机控制器与 eMMC 内部管理控制"/>
          <p:cNvSpPr txBox="1"/>
          <p:nvPr/>
        </p:nvSpPr>
        <p:spPr>
          <a:xfrm>
            <a:off x="2990488" y="1757843"/>
            <a:ext cx="8649424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双箭头合并总线交互；读参数方向为左 → 右。主机控制器与 eMMC 内部管理控制器职责不同。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1"/>
          <p:cNvSpPr/>
          <p:nvPr/>
        </p:nvSpPr>
        <p:spPr>
          <a:xfrm>
            <a:off x="457200" y="347472"/>
            <a:ext cx="4251960" cy="1344168"/>
          </a:xfrm>
          <a:prstGeom prst="roundRect">
            <a:avLst>
              <a:gd name="adj" fmla="val 4081"/>
            </a:avLst>
          </a:prstGeom>
          <a:solidFill>
            <a:srgbClr val="E8F1FA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2: 片外 SPI NAND：按页读取，器件内纠错"/>
          <p:cNvSpPr txBox="1"/>
          <p:nvPr/>
        </p:nvSpPr>
        <p:spPr>
          <a:xfrm>
            <a:off x="640080" y="376367"/>
            <a:ext cx="390658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片外 SPI NAND：按页读取，器件内纠错</a:t>
            </a:r>
          </a:p>
        </p:txBody>
      </p:sp>
      <p:sp>
        <p:nvSpPr>
          <p:cNvPr id="4" name="d3"/>
          <p:cNvSpPr/>
          <p:nvPr/>
        </p:nvSpPr>
        <p:spPr>
          <a:xfrm>
            <a:off x="640080" y="768096"/>
            <a:ext cx="10515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4: NAND"/>
          <p:cNvSpPr txBox="1"/>
          <p:nvPr/>
        </p:nvSpPr>
        <p:spPr>
          <a:xfrm>
            <a:off x="777740" y="814548"/>
            <a:ext cx="77624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NAND</a:t>
            </a:r>
          </a:p>
        </p:txBody>
      </p:sp>
      <p:sp>
        <p:nvSpPr>
          <p:cNvPr id="6" name="d5: 参数阵列"/>
          <p:cNvSpPr txBox="1"/>
          <p:nvPr/>
        </p:nvSpPr>
        <p:spPr>
          <a:xfrm>
            <a:off x="685800" y="1127638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参数阵列</a:t>
            </a:r>
          </a:p>
        </p:txBody>
      </p:sp>
      <p:sp>
        <p:nvSpPr>
          <p:cNvPr id="7" name="d6"/>
          <p:cNvSpPr/>
          <p:nvPr/>
        </p:nvSpPr>
        <p:spPr>
          <a:xfrm>
            <a:off x="2057400" y="768096"/>
            <a:ext cx="1005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7: ECC"/>
          <p:cNvSpPr txBox="1"/>
          <p:nvPr/>
        </p:nvSpPr>
        <p:spPr>
          <a:xfrm>
            <a:off x="2253317" y="814548"/>
            <a:ext cx="614005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ECC</a:t>
            </a:r>
          </a:p>
        </p:txBody>
      </p:sp>
      <p:sp>
        <p:nvSpPr>
          <p:cNvPr id="9" name="d8: 纠错状态"/>
          <p:cNvSpPr txBox="1"/>
          <p:nvPr/>
        </p:nvSpPr>
        <p:spPr>
          <a:xfrm>
            <a:off x="2080260" y="1127638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纠错状态</a:t>
            </a:r>
          </a:p>
        </p:txBody>
      </p:sp>
      <p:sp>
        <p:nvSpPr>
          <p:cNvPr id="10" name="d9"/>
          <p:cNvSpPr/>
          <p:nvPr/>
        </p:nvSpPr>
        <p:spPr>
          <a:xfrm>
            <a:off x="3429000" y="768096"/>
            <a:ext cx="10972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d10: 页缓存"/>
          <p:cNvSpPr txBox="1"/>
          <p:nvPr/>
        </p:nvSpPr>
        <p:spPr>
          <a:xfrm>
            <a:off x="3538728" y="814548"/>
            <a:ext cx="87782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页缓存</a:t>
            </a:r>
          </a:p>
        </p:txBody>
      </p:sp>
      <p:sp>
        <p:nvSpPr>
          <p:cNvPr id="12" name="d11: 串行输出"/>
          <p:cNvSpPr txBox="1"/>
          <p:nvPr/>
        </p:nvSpPr>
        <p:spPr>
          <a:xfrm>
            <a:off x="3497580" y="1127638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串行输出</a:t>
            </a:r>
          </a:p>
        </p:txBody>
      </p:sp>
      <p:sp>
        <p:nvSpPr>
          <p:cNvPr id="13" name="d12"/>
          <p:cNvSpPr/>
          <p:nvPr/>
        </p:nvSpPr>
        <p:spPr>
          <a:xfrm>
            <a:off x="1691640" y="1143000"/>
            <a:ext cx="365760" cy="1"/>
          </a:xfrm>
          <a:custGeom>
            <a:avLst/>
            <a:gdLst/>
            <a:ahLst/>
            <a:cxnLst/>
            <a:rect l="0" t="0" r="r" b="b"/>
            <a:pathLst>
              <a:path w="365760" h="1" fill="none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d13"/>
          <p:cNvSpPr/>
          <p:nvPr/>
        </p:nvSpPr>
        <p:spPr>
          <a:xfrm>
            <a:off x="3063240" y="1143000"/>
            <a:ext cx="365760" cy="1"/>
          </a:xfrm>
          <a:custGeom>
            <a:avLst/>
            <a:gdLst/>
            <a:ahLst/>
            <a:cxnLst/>
            <a:rect l="0" t="0" r="r" b="b"/>
            <a:pathLst>
              <a:path w="365760" h="1" fill="none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14"/>
          <p:cNvSpPr/>
          <p:nvPr/>
        </p:nvSpPr>
        <p:spPr>
          <a:xfrm>
            <a:off x="6217920" y="768096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FFF1DD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15: I/O PAD"/>
          <p:cNvSpPr txBox="1"/>
          <p:nvPr/>
        </p:nvSpPr>
        <p:spPr>
          <a:xfrm>
            <a:off x="6545282" y="805404"/>
            <a:ext cx="991195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I/O PAD</a:t>
            </a:r>
          </a:p>
        </p:txBody>
      </p:sp>
      <p:sp>
        <p:nvSpPr>
          <p:cNvPr id="17" name="d16: 3.3 V / 采样"/>
          <p:cNvSpPr txBox="1"/>
          <p:nvPr/>
        </p:nvSpPr>
        <p:spPr>
          <a:xfrm>
            <a:off x="6389341" y="1108619"/>
            <a:ext cx="1303077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3.3 V / 采样</a:t>
            </a:r>
          </a:p>
        </p:txBody>
      </p:sp>
      <p:sp>
        <p:nvSpPr>
          <p:cNvPr id="18" name="d17"/>
          <p:cNvSpPr/>
          <p:nvPr/>
        </p:nvSpPr>
        <p:spPr>
          <a:xfrm>
            <a:off x="4526280" y="1143000"/>
            <a:ext cx="1691640" cy="1"/>
          </a:xfrm>
          <a:custGeom>
            <a:avLst/>
            <a:gdLst/>
            <a:ahLst/>
            <a:cxnLst/>
            <a:rect l="0" t="0" r="r" b="b"/>
            <a:pathLst>
              <a:path w="1691640" h="1" fill="none">
                <a:moveTo>
                  <a:pt x="0" y="0"/>
                </a:moveTo>
                <a:lnTo>
                  <a:pt x="1691640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d18: SCK / CS# / IO"/>
          <p:cNvSpPr txBox="1"/>
          <p:nvPr/>
        </p:nvSpPr>
        <p:spPr>
          <a:xfrm>
            <a:off x="4748694" y="727497"/>
            <a:ext cx="1292533" cy="2633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SCK / CS# / IO</a:t>
            </a:r>
          </a:p>
        </p:txBody>
      </p:sp>
      <p:sp>
        <p:nvSpPr>
          <p:cNvPr id="20" name="d19"/>
          <p:cNvSpPr/>
          <p:nvPr/>
        </p:nvSpPr>
        <p:spPr>
          <a:xfrm>
            <a:off x="8915400" y="768096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E0EFE9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d20: SPI Host"/>
          <p:cNvSpPr txBox="1"/>
          <p:nvPr/>
        </p:nvSpPr>
        <p:spPr>
          <a:xfrm>
            <a:off x="9170689" y="785652"/>
            <a:ext cx="1135342" cy="380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22" name="d21: 现有 RTL / FIFO"/>
          <p:cNvSpPr txBox="1"/>
          <p:nvPr/>
        </p:nvSpPr>
        <p:spPr>
          <a:xfrm>
            <a:off x="8978344" y="1118494"/>
            <a:ext cx="1520033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现有 RTL / FIFO</a:t>
            </a:r>
          </a:p>
        </p:txBody>
      </p:sp>
      <p:sp>
        <p:nvSpPr>
          <p:cNvPr id="23" name="d22"/>
          <p:cNvSpPr/>
          <p:nvPr/>
        </p:nvSpPr>
        <p:spPr>
          <a:xfrm>
            <a:off x="7863840" y="1143000"/>
            <a:ext cx="1051560" cy="1"/>
          </a:xfrm>
          <a:custGeom>
            <a:avLst/>
            <a:gdLst/>
            <a:ahLst/>
            <a:cxnLst/>
            <a:rect l="0" t="0" r="r" b="b"/>
            <a:pathLst>
              <a:path w="1051560" h="1" fill="none">
                <a:moveTo>
                  <a:pt x="0" y="0"/>
                </a:moveTo>
                <a:lnTo>
                  <a:pt x="1051560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d23"/>
          <p:cNvSpPr/>
          <p:nvPr/>
        </p:nvSpPr>
        <p:spPr>
          <a:xfrm>
            <a:off x="11384280" y="768096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EE8F6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d24: CPU 驱动"/>
          <p:cNvSpPr txBox="1"/>
          <p:nvPr/>
        </p:nvSpPr>
        <p:spPr>
          <a:xfrm>
            <a:off x="11508474" y="805404"/>
            <a:ext cx="112321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CPU 驱动</a:t>
            </a:r>
          </a:p>
        </p:txBody>
      </p:sp>
      <p:sp>
        <p:nvSpPr>
          <p:cNvPr id="26" name="d25: 读出并搬运"/>
          <p:cNvSpPr txBox="1"/>
          <p:nvPr/>
        </p:nvSpPr>
        <p:spPr>
          <a:xfrm>
            <a:off x="11494008" y="1118494"/>
            <a:ext cx="1152144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读出并搬运</a:t>
            </a:r>
          </a:p>
        </p:txBody>
      </p:sp>
      <p:sp>
        <p:nvSpPr>
          <p:cNvPr id="27" name="d26"/>
          <p:cNvSpPr/>
          <p:nvPr/>
        </p:nvSpPr>
        <p:spPr>
          <a:xfrm>
            <a:off x="10561320" y="1143000"/>
            <a:ext cx="822960" cy="1"/>
          </a:xfrm>
          <a:custGeom>
            <a:avLst/>
            <a:gdLst/>
            <a:ahLst/>
            <a:cxnLst/>
            <a:rect l="0" t="0" r="r" b="b"/>
            <a:pathLst>
              <a:path w="822960" h="1" fill="none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d27: MMIO"/>
          <p:cNvSpPr txBox="1"/>
          <p:nvPr/>
        </p:nvSpPr>
        <p:spPr>
          <a:xfrm>
            <a:off x="10663754" y="717621"/>
            <a:ext cx="618092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MMIO</a:t>
            </a:r>
          </a:p>
        </p:txBody>
      </p:sp>
      <p:sp>
        <p:nvSpPr>
          <p:cNvPr id="29" name="d28"/>
          <p:cNvSpPr/>
          <p:nvPr/>
        </p:nvSpPr>
        <p:spPr>
          <a:xfrm>
            <a:off x="9738360" y="155448"/>
            <a:ext cx="2331720" cy="612648"/>
          </a:xfrm>
          <a:custGeom>
            <a:avLst/>
            <a:gdLst/>
            <a:ahLst/>
            <a:cxnLst/>
            <a:rect l="0" t="0" r="r" b="b"/>
            <a:pathLst>
              <a:path w="2331720" h="612648" fill="none">
                <a:moveTo>
                  <a:pt x="2331720" y="612648"/>
                </a:moveTo>
                <a:lnTo>
                  <a:pt x="2331720" y="0"/>
                </a:lnTo>
                <a:lnTo>
                  <a:pt x="0" y="0"/>
                </a:lnTo>
                <a:lnTo>
                  <a:pt x="0" y="612648"/>
                </a:lnTo>
              </a:path>
            </a:pathLst>
          </a:custGeom>
          <a:noFill/>
          <a:ln w="25603" cap="flat">
            <a:solidFill>
              <a:srgbClr val="218078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d29: 配置 / 命令"/>
          <p:cNvSpPr txBox="1"/>
          <p:nvPr/>
        </p:nvSpPr>
        <p:spPr>
          <a:xfrm>
            <a:off x="10349794" y="-114483"/>
            <a:ext cx="1063133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18078"/>
                </a:solidFill>
                <a:latin typeface="Microsoft YaHei"/>
                <a:ea typeface="Microsoft YaHei"/>
                <a:cs typeface="Microsoft YaHei"/>
              </a:rPr>
              <a:t>配置 / 命令</a:t>
            </a:r>
          </a:p>
        </p:txBody>
      </p:sp>
      <p:sp>
        <p:nvSpPr>
          <p:cNvPr id="31" name="d30"/>
          <p:cNvSpPr/>
          <p:nvPr/>
        </p:nvSpPr>
        <p:spPr>
          <a:xfrm>
            <a:off x="13441680" y="768096"/>
            <a:ext cx="731520" cy="731520"/>
          </a:xfrm>
          <a:prstGeom prst="roundRect">
            <a:avLst>
              <a:gd name="adj" fmla="val 7500"/>
            </a:avLst>
          </a:prstGeom>
          <a:solidFill>
            <a:srgbClr val="FFF1DD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d31: DDR"/>
          <p:cNvSpPr txBox="1"/>
          <p:nvPr/>
        </p:nvSpPr>
        <p:spPr>
          <a:xfrm>
            <a:off x="13485114" y="942564"/>
            <a:ext cx="64465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33" name="d32"/>
          <p:cNvSpPr/>
          <p:nvPr/>
        </p:nvSpPr>
        <p:spPr>
          <a:xfrm>
            <a:off x="12755880" y="1143000"/>
            <a:ext cx="685800" cy="1"/>
          </a:xfrm>
          <a:custGeom>
            <a:avLst/>
            <a:gdLst/>
            <a:ahLst/>
            <a:cxnLst/>
            <a:rect l="0" t="0" r="r" b="b"/>
            <a:pathLst>
              <a:path w="685800" h="1" fill="none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d33: 候选读取路径；当前 SPI Host 无独立 DMA 口。片内 ECC 不等于 "/>
          <p:cNvSpPr txBox="1"/>
          <p:nvPr/>
        </p:nvSpPr>
        <p:spPr>
          <a:xfrm>
            <a:off x="3210708" y="1757843"/>
            <a:ext cx="8208983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候选读取路径；当前 SPI Host 无独立 DMA 口。片内 ECC 不等于 eMMC 式完整介质管理。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