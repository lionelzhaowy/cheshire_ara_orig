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9260800" cy="16459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bject-002: Cheshire + CVA6 + Ara  |  SoC 扩展架构"/>
          <p:cNvSpPr txBox="1"/>
          <p:nvPr/>
        </p:nvSpPr>
        <p:spPr>
          <a:xfrm>
            <a:off x="406400" y="132649"/>
            <a:ext cx="6933387" cy="5982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4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Cheshire + CVA6 + Ara  |  SoC 扩展架构</a:t>
            </a:r>
          </a:p>
        </p:txBody>
      </p:sp>
      <p:sp>
        <p:nvSpPr>
          <p:cNvPr id="3" name="object-003: 工业框图版 · 2026-10-12"/>
          <p:cNvSpPr txBox="1"/>
          <p:nvPr/>
        </p:nvSpPr>
        <p:spPr>
          <a:xfrm>
            <a:off x="24742546" y="316992"/>
            <a:ext cx="2486254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工业框图版 · 2026-10-12</a:t>
            </a:r>
          </a:p>
        </p:txBody>
      </p:sp>
      <p:sp>
        <p:nvSpPr>
          <p:cNvPr id="4" name="soc-boundary"/>
          <p:cNvSpPr/>
          <p:nvPr/>
        </p:nvSpPr>
        <p:spPr>
          <a:xfrm>
            <a:off x="365760" y="853440"/>
            <a:ext cx="27025600" cy="14833600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bject-005: SoC"/>
          <p:cNvSpPr txBox="1"/>
          <p:nvPr/>
        </p:nvSpPr>
        <p:spPr>
          <a:xfrm>
            <a:off x="26131609" y="941548"/>
            <a:ext cx="609511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</a:t>
            </a:r>
          </a:p>
        </p:txBody>
      </p:sp>
      <p:sp>
        <p:nvSpPr>
          <p:cNvPr id="6" name="cpu-platform"/>
          <p:cNvSpPr/>
          <p:nvPr/>
        </p:nvSpPr>
        <p:spPr>
          <a:xfrm>
            <a:off x="772160" y="1422400"/>
            <a:ext cx="7599680" cy="3454400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bject-007: CVA6–Ara 计算平台"/>
          <p:cNvSpPr txBox="1"/>
          <p:nvPr/>
        </p:nvSpPr>
        <p:spPr>
          <a:xfrm>
            <a:off x="3318002" y="1458488"/>
            <a:ext cx="2499868" cy="4161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4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8" name="cva6"/>
          <p:cNvSpPr/>
          <p:nvPr/>
        </p:nvSpPr>
        <p:spPr>
          <a:xfrm>
            <a:off x="975360" y="2072640"/>
            <a:ext cx="2032000" cy="174752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bject-009: CVA6 core 0"/>
          <p:cNvSpPr txBox="1"/>
          <p:nvPr/>
        </p:nvSpPr>
        <p:spPr>
          <a:xfrm>
            <a:off x="1235424" y="2118807"/>
            <a:ext cx="1511872" cy="3771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10" name="object-010: L1 I / D cache"/>
          <p:cNvSpPr txBox="1"/>
          <p:nvPr/>
        </p:nvSpPr>
        <p:spPr>
          <a:xfrm>
            <a:off x="1248302" y="2446528"/>
            <a:ext cx="1486116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11" name="object-011: MMU · AXI 适配"/>
          <p:cNvSpPr txBox="1"/>
          <p:nvPr/>
        </p:nvSpPr>
        <p:spPr>
          <a:xfrm>
            <a:off x="1201388" y="2706624"/>
            <a:ext cx="1579944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适配</a:t>
            </a:r>
          </a:p>
        </p:txBody>
      </p:sp>
      <p:sp>
        <p:nvSpPr>
          <p:cNvPr id="12" name="ara-core"/>
          <p:cNvSpPr/>
          <p:nvPr/>
        </p:nvSpPr>
        <p:spPr>
          <a:xfrm>
            <a:off x="3413760" y="2072640"/>
            <a:ext cx="4714240" cy="10160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bject-013: Ara 向量处理器"/>
          <p:cNvSpPr txBox="1"/>
          <p:nvPr/>
        </p:nvSpPr>
        <p:spPr>
          <a:xfrm>
            <a:off x="4861293" y="2118807"/>
            <a:ext cx="1819173" cy="3771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14" name="object-014: VLSU / AXI：32 × lanes bit"/>
          <p:cNvSpPr txBox="1"/>
          <p:nvPr/>
        </p:nvSpPr>
        <p:spPr>
          <a:xfrm>
            <a:off x="4453350" y="2446528"/>
            <a:ext cx="2635060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VLSU / AXI：32 × lanes bit</a:t>
            </a:r>
          </a:p>
        </p:txBody>
      </p:sp>
      <p:cxnSp>
        <p:nvCxnSpPr>
          <p:cNvPr id="15" name="cva6-ara-control"/>
          <p:cNvCxnSpPr/>
          <p:nvPr/>
        </p:nvCxnSpPr>
        <p:spPr>
          <a:xfrm>
            <a:off x="3007360" y="2560320"/>
            <a:ext cx="406400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6" name="object-016: 指令 / MMU"/>
          <p:cNvSpPr txBox="1"/>
          <p:nvPr/>
        </p:nvSpPr>
        <p:spPr>
          <a:xfrm>
            <a:off x="2724696" y="1824573"/>
            <a:ext cx="987984" cy="2470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6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17" name="ara-filter"/>
          <p:cNvSpPr/>
          <p:nvPr/>
        </p:nvSpPr>
        <p:spPr>
          <a:xfrm>
            <a:off x="3576320" y="3454400"/>
            <a:ext cx="1544320" cy="699008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bject-018: 失效过滤"/>
          <p:cNvSpPr txBox="1"/>
          <p:nvPr/>
        </p:nvSpPr>
        <p:spPr>
          <a:xfrm>
            <a:off x="3840480" y="3535680"/>
            <a:ext cx="1016000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19" name="object-019: 现有 filter"/>
          <p:cNvSpPr txBox="1"/>
          <p:nvPr/>
        </p:nvSpPr>
        <p:spPr>
          <a:xfrm>
            <a:off x="3814489" y="3828288"/>
            <a:ext cx="1067981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20" name="ara-split"/>
          <p:cNvSpPr/>
          <p:nvPr/>
        </p:nvSpPr>
        <p:spPr>
          <a:xfrm>
            <a:off x="5405120" y="3454400"/>
            <a:ext cx="1219200" cy="699008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object-021: 地址分流"/>
          <p:cNvSpPr txBox="1"/>
          <p:nvPr/>
        </p:nvSpPr>
        <p:spPr>
          <a:xfrm>
            <a:off x="5506720" y="3535680"/>
            <a:ext cx="1016000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地址分流</a:t>
            </a:r>
          </a:p>
        </p:txBody>
      </p:sp>
      <p:sp>
        <p:nvSpPr>
          <p:cNvPr id="22" name="object-022: GB 候选"/>
          <p:cNvSpPr txBox="1"/>
          <p:nvPr/>
        </p:nvSpPr>
        <p:spPr>
          <a:xfrm>
            <a:off x="5549582" y="3828288"/>
            <a:ext cx="930275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候选</a:t>
            </a:r>
          </a:p>
        </p:txBody>
      </p:sp>
      <p:sp>
        <p:nvSpPr>
          <p:cNvPr id="23" name="ara-width"/>
          <p:cNvSpPr/>
          <p:nvPr/>
        </p:nvSpPr>
        <p:spPr>
          <a:xfrm>
            <a:off x="6908800" y="3454400"/>
            <a:ext cx="1219200" cy="699008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bject-024: 位宽适配"/>
          <p:cNvSpPr txBox="1"/>
          <p:nvPr/>
        </p:nvSpPr>
        <p:spPr>
          <a:xfrm>
            <a:off x="7010400" y="3535680"/>
            <a:ext cx="1016000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位宽适配</a:t>
            </a:r>
          </a:p>
        </p:txBody>
      </p:sp>
      <p:sp>
        <p:nvSpPr>
          <p:cNvPr id="25" name="object-025: → 64 bit"/>
          <p:cNvSpPr txBox="1"/>
          <p:nvPr/>
        </p:nvSpPr>
        <p:spPr>
          <a:xfrm>
            <a:off x="7020916" y="3828288"/>
            <a:ext cx="994969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→ 64 bit</a:t>
            </a:r>
          </a:p>
        </p:txBody>
      </p:sp>
      <p:cxnSp>
        <p:nvCxnSpPr>
          <p:cNvPr id="26" name="vlsu-filter"/>
          <p:cNvCxnSpPr/>
          <p:nvPr/>
        </p:nvCxnSpPr>
        <p:spPr>
          <a:xfrm>
            <a:off x="4348480" y="3088640"/>
            <a:ext cx="0" cy="36576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27" name="filter-split"/>
          <p:cNvCxnSpPr/>
          <p:nvPr/>
        </p:nvCxnSpPr>
        <p:spPr>
          <a:xfrm>
            <a:off x="5120640" y="3803904"/>
            <a:ext cx="28448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28" name="split-width"/>
          <p:cNvCxnSpPr/>
          <p:nvPr/>
        </p:nvCxnSpPr>
        <p:spPr>
          <a:xfrm>
            <a:off x="6624320" y="3803904"/>
            <a:ext cx="28448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29" name="npu-subsystem"/>
          <p:cNvSpPr/>
          <p:nvPr/>
        </p:nvSpPr>
        <p:spPr>
          <a:xfrm>
            <a:off x="8818880" y="1422400"/>
            <a:ext cx="9225280" cy="3454400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object-030: NPU / 独立 Global Buffer 子系统"/>
          <p:cNvSpPr txBox="1"/>
          <p:nvPr/>
        </p:nvSpPr>
        <p:spPr>
          <a:xfrm>
            <a:off x="11444478" y="1458488"/>
            <a:ext cx="3965956" cy="4161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4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31" name="npu-compute"/>
          <p:cNvSpPr/>
          <p:nvPr/>
        </p:nvSpPr>
        <p:spPr>
          <a:xfrm>
            <a:off x="9022080" y="2072640"/>
            <a:ext cx="2194560" cy="1422400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object-032: NPU 计算引擎"/>
          <p:cNvSpPr txBox="1"/>
          <p:nvPr/>
        </p:nvSpPr>
        <p:spPr>
          <a:xfrm>
            <a:off x="9275724" y="2118807"/>
            <a:ext cx="1687271" cy="3771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33" name="object-033: GB 数据读写"/>
          <p:cNvSpPr txBox="1"/>
          <p:nvPr/>
        </p:nvSpPr>
        <p:spPr>
          <a:xfrm>
            <a:off x="9451022" y="2446528"/>
            <a:ext cx="1336675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34" name="cfg-tag-C6-33"/>
          <p:cNvSpPr/>
          <p:nvPr/>
        </p:nvSpPr>
        <p:spPr>
          <a:xfrm>
            <a:off x="10728960" y="3129280"/>
            <a:ext cx="382016" cy="235712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object-035: C6"/>
          <p:cNvSpPr txBox="1"/>
          <p:nvPr/>
        </p:nvSpPr>
        <p:spPr>
          <a:xfrm>
            <a:off x="10739628" y="3132531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36" name="gb-router"/>
          <p:cNvSpPr/>
          <p:nvPr/>
        </p:nvSpPr>
        <p:spPr>
          <a:xfrm>
            <a:off x="11501120" y="2682240"/>
            <a:ext cx="1869440" cy="19100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object-037: GB 访问适配"/>
          <p:cNvSpPr txBox="1"/>
          <p:nvPr/>
        </p:nvSpPr>
        <p:spPr>
          <a:xfrm>
            <a:off x="11714029" y="2745964"/>
            <a:ext cx="1443622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38" name="object-038: 局部仲裁 / 路由"/>
          <p:cNvSpPr txBox="1"/>
          <p:nvPr/>
        </p:nvSpPr>
        <p:spPr>
          <a:xfrm>
            <a:off x="11610931" y="3056128"/>
            <a:ext cx="1649819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39" name="object-039: bank 冲突处理"/>
          <p:cNvSpPr txBox="1"/>
          <p:nvPr/>
        </p:nvSpPr>
        <p:spPr>
          <a:xfrm>
            <a:off x="11682273" y="3316224"/>
            <a:ext cx="1507134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40" name="global-buffer"/>
          <p:cNvSpPr/>
          <p:nvPr/>
        </p:nvSpPr>
        <p:spPr>
          <a:xfrm>
            <a:off x="13695680" y="2072640"/>
            <a:ext cx="4104640" cy="1381760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object-041: Global Buffer"/>
          <p:cNvSpPr txBox="1"/>
          <p:nvPr/>
        </p:nvSpPr>
        <p:spPr>
          <a:xfrm>
            <a:off x="14880463" y="2092472"/>
            <a:ext cx="1735074" cy="4161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4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42" name="object-042: 独立 SRAM · 分 bank"/>
          <p:cNvSpPr txBox="1"/>
          <p:nvPr/>
        </p:nvSpPr>
        <p:spPr>
          <a:xfrm>
            <a:off x="14714442" y="2446528"/>
            <a:ext cx="2067116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43" name="object-043: ISP / NPU–Ara 工作区"/>
          <p:cNvSpPr txBox="1"/>
          <p:nvPr/>
        </p:nvSpPr>
        <p:spPr>
          <a:xfrm>
            <a:off x="14661953" y="2706624"/>
            <a:ext cx="2172094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 / NPU–Ara 工作区</a:t>
            </a:r>
          </a:p>
        </p:txBody>
      </p:sp>
      <p:sp>
        <p:nvSpPr>
          <p:cNvPr id="44" name="cfg-tag-C9-43"/>
          <p:cNvSpPr/>
          <p:nvPr/>
        </p:nvSpPr>
        <p:spPr>
          <a:xfrm>
            <a:off x="17312640" y="3072384"/>
            <a:ext cx="382016" cy="235712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object-045: C9"/>
          <p:cNvSpPr txBox="1"/>
          <p:nvPr/>
        </p:nvSpPr>
        <p:spPr>
          <a:xfrm>
            <a:off x="17323308" y="3075635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46" name="npu-router"/>
          <p:cNvCxnSpPr/>
          <p:nvPr/>
        </p:nvCxnSpPr>
        <p:spPr>
          <a:xfrm>
            <a:off x="11216640" y="2926080"/>
            <a:ext cx="284480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47" name="router-sram"/>
          <p:cNvCxnSpPr/>
          <p:nvPr/>
        </p:nvCxnSpPr>
        <p:spPr>
          <a:xfrm>
            <a:off x="13370560" y="3129280"/>
            <a:ext cx="325120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48" name="npu-transfer"/>
          <p:cNvSpPr/>
          <p:nvPr/>
        </p:nvSpPr>
        <p:spPr>
          <a:xfrm>
            <a:off x="13695680" y="3738880"/>
            <a:ext cx="4104640" cy="97536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object-049: NPU / GB 搬运引擎"/>
          <p:cNvSpPr txBox="1"/>
          <p:nvPr/>
        </p:nvSpPr>
        <p:spPr>
          <a:xfrm>
            <a:off x="14621815" y="3785047"/>
            <a:ext cx="2252370" cy="3771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50" name="object-050: DDR ↔ GB · 统一 AXI 主口"/>
          <p:cNvSpPr txBox="1"/>
          <p:nvPr/>
        </p:nvSpPr>
        <p:spPr>
          <a:xfrm>
            <a:off x="14466589" y="4112768"/>
            <a:ext cx="2562822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统一 AXI 主口</a:t>
            </a:r>
          </a:p>
        </p:txBody>
      </p:sp>
      <p:sp>
        <p:nvSpPr>
          <p:cNvPr id="51" name="cfg-tag-C7-50"/>
          <p:cNvSpPr/>
          <p:nvPr/>
        </p:nvSpPr>
        <p:spPr>
          <a:xfrm>
            <a:off x="17312640" y="4372864"/>
            <a:ext cx="382016" cy="235712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object-052: C7"/>
          <p:cNvSpPr txBox="1"/>
          <p:nvPr/>
        </p:nvSpPr>
        <p:spPr>
          <a:xfrm>
            <a:off x="17323308" y="4376115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53" name="transfer-router"/>
          <p:cNvCxnSpPr/>
          <p:nvPr/>
        </p:nvCxnSpPr>
        <p:spPr>
          <a:xfrm flipH="1">
            <a:off x="13370560" y="4226560"/>
            <a:ext cx="325120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54" name="ara-gb"/>
          <p:cNvSpPr/>
          <p:nvPr/>
        </p:nvSpPr>
        <p:spPr>
          <a:xfrm>
            <a:off x="6014720" y="4153408"/>
            <a:ext cx="6421120" cy="601472"/>
          </a:xfrm>
          <a:custGeom>
            <a:avLst/>
            <a:gdLst/>
            <a:ahLst/>
            <a:cxnLst/>
            <a:rect l="0" t="0" r="r" b="b"/>
            <a:pathLst>
              <a:path w="6421120" h="601472" fill="none">
                <a:moveTo>
                  <a:pt x="0" y="0"/>
                </a:moveTo>
                <a:lnTo>
                  <a:pt x="0" y="601472"/>
                </a:lnTo>
                <a:lnTo>
                  <a:pt x="6421120" y="601472"/>
                </a:lnTo>
                <a:lnTo>
                  <a:pt x="6421120" y="438912"/>
                </a:lnTo>
              </a:path>
            </a:pathLst>
          </a:custGeom>
          <a:noFill/>
          <a:ln w="26010" cap="flat">
            <a:solidFill>
              <a:srgbClr val="187C78"/>
            </a:solidFill>
            <a:custDash>
              <a:ds d="312500" sp="1875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object-055: Ara 宽侧 GB 分支"/>
          <p:cNvSpPr txBox="1"/>
          <p:nvPr/>
        </p:nvSpPr>
        <p:spPr>
          <a:xfrm>
            <a:off x="8868861" y="4463572"/>
            <a:ext cx="1606918" cy="2991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2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Ara 宽侧 GB 分支</a:t>
            </a:r>
          </a:p>
        </p:txBody>
      </p:sp>
      <p:sp>
        <p:nvSpPr>
          <p:cNvPr id="56" name="image-subsystem"/>
          <p:cNvSpPr/>
          <p:nvPr/>
        </p:nvSpPr>
        <p:spPr>
          <a:xfrm>
            <a:off x="18450560" y="1422400"/>
            <a:ext cx="8656320" cy="3454400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object-057: 图像采集与 ISP"/>
          <p:cNvSpPr txBox="1"/>
          <p:nvPr/>
        </p:nvSpPr>
        <p:spPr>
          <a:xfrm>
            <a:off x="21768308" y="1458488"/>
            <a:ext cx="2012696" cy="4161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4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58" name="lvds"/>
          <p:cNvSpPr/>
          <p:nvPr/>
        </p:nvSpPr>
        <p:spPr>
          <a:xfrm>
            <a:off x="18653760" y="2560320"/>
            <a:ext cx="1341120" cy="15036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object-059: LVDS 接收"/>
          <p:cNvSpPr txBox="1"/>
          <p:nvPr/>
        </p:nvSpPr>
        <p:spPr>
          <a:xfrm>
            <a:off x="18728614" y="2632822"/>
            <a:ext cx="1191412" cy="3381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6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60" name="object-060: 解串 / 帧行"/>
          <p:cNvSpPr txBox="1"/>
          <p:nvPr/>
        </p:nvSpPr>
        <p:spPr>
          <a:xfrm>
            <a:off x="18702611" y="2934208"/>
            <a:ext cx="1243419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61" name="cfg-tag-C4-60"/>
          <p:cNvSpPr/>
          <p:nvPr/>
        </p:nvSpPr>
        <p:spPr>
          <a:xfrm>
            <a:off x="19507200" y="3698240"/>
            <a:ext cx="382016" cy="235712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object-062: C4"/>
          <p:cNvSpPr txBox="1"/>
          <p:nvPr/>
        </p:nvSpPr>
        <p:spPr>
          <a:xfrm>
            <a:off x="19517868" y="3701491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63" name="pixel-cdc"/>
          <p:cNvSpPr/>
          <p:nvPr/>
        </p:nvSpPr>
        <p:spPr>
          <a:xfrm>
            <a:off x="20238720" y="2560320"/>
            <a:ext cx="1300480" cy="15036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object-064: CDC / FIFO"/>
          <p:cNvSpPr txBox="1"/>
          <p:nvPr/>
        </p:nvSpPr>
        <p:spPr>
          <a:xfrm>
            <a:off x="20266101" y="2632822"/>
            <a:ext cx="1245718" cy="3381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6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65" name="object-065: 像素流缓冲"/>
          <p:cNvSpPr txBox="1"/>
          <p:nvPr/>
        </p:nvSpPr>
        <p:spPr>
          <a:xfrm>
            <a:off x="20279360" y="2934208"/>
            <a:ext cx="1219200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66" name="isp"/>
          <p:cNvSpPr/>
          <p:nvPr/>
        </p:nvSpPr>
        <p:spPr>
          <a:xfrm>
            <a:off x="21783040" y="2560320"/>
            <a:ext cx="1341120" cy="1503680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object-067: ISP"/>
          <p:cNvSpPr txBox="1"/>
          <p:nvPr/>
        </p:nvSpPr>
        <p:spPr>
          <a:xfrm>
            <a:off x="22195936" y="2632822"/>
            <a:ext cx="515328" cy="3381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6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68" name="object-068: 行缓冲 / 处理"/>
          <p:cNvSpPr txBox="1"/>
          <p:nvPr/>
        </p:nvSpPr>
        <p:spPr>
          <a:xfrm>
            <a:off x="21730291" y="2934208"/>
            <a:ext cx="1446619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 / 处理</a:t>
            </a:r>
          </a:p>
        </p:txBody>
      </p:sp>
      <p:sp>
        <p:nvSpPr>
          <p:cNvPr id="69" name="cfg-tag-C5-68"/>
          <p:cNvSpPr/>
          <p:nvPr/>
        </p:nvSpPr>
        <p:spPr>
          <a:xfrm>
            <a:off x="22636480" y="3698240"/>
            <a:ext cx="382016" cy="235712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object-070: C5"/>
          <p:cNvSpPr txBox="1"/>
          <p:nvPr/>
        </p:nvSpPr>
        <p:spPr>
          <a:xfrm>
            <a:off x="22647148" y="3701491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71" name="frame-select"/>
          <p:cNvSpPr/>
          <p:nvPr/>
        </p:nvSpPr>
        <p:spPr>
          <a:xfrm>
            <a:off x="23368000" y="2560320"/>
            <a:ext cx="1463040" cy="15036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object-072: 帧边界选择"/>
          <p:cNvSpPr txBox="1"/>
          <p:nvPr/>
        </p:nvSpPr>
        <p:spPr>
          <a:xfrm>
            <a:off x="23465536" y="2632822"/>
            <a:ext cx="1267968" cy="3381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6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73" name="object-073: RAW / ISP"/>
          <p:cNvSpPr txBox="1"/>
          <p:nvPr/>
        </p:nvSpPr>
        <p:spPr>
          <a:xfrm>
            <a:off x="23535068" y="2934208"/>
            <a:ext cx="1128903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74" name="frame-dma"/>
          <p:cNvSpPr/>
          <p:nvPr/>
        </p:nvSpPr>
        <p:spPr>
          <a:xfrm>
            <a:off x="25115520" y="2560320"/>
            <a:ext cx="1747520" cy="15036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object-075: 帧写入 DMA"/>
          <p:cNvSpPr txBox="1"/>
          <p:nvPr/>
        </p:nvSpPr>
        <p:spPr>
          <a:xfrm>
            <a:off x="25319590" y="2632822"/>
            <a:ext cx="1339380" cy="3381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6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76" name="object-076: 地址 / stride"/>
          <p:cNvSpPr txBox="1"/>
          <p:nvPr/>
        </p:nvSpPr>
        <p:spPr>
          <a:xfrm>
            <a:off x="25319253" y="2934208"/>
            <a:ext cx="1340053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77" name="cfg-tag-C8-76"/>
          <p:cNvSpPr/>
          <p:nvPr/>
        </p:nvSpPr>
        <p:spPr>
          <a:xfrm>
            <a:off x="26375360" y="3698240"/>
            <a:ext cx="382016" cy="235712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object-078: C8"/>
          <p:cNvSpPr txBox="1"/>
          <p:nvPr/>
        </p:nvSpPr>
        <p:spPr>
          <a:xfrm>
            <a:off x="26386028" y="3701491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79" name="lvds-cdc"/>
          <p:cNvCxnSpPr/>
          <p:nvPr/>
        </p:nvCxnSpPr>
        <p:spPr>
          <a:xfrm>
            <a:off x="19994880" y="3291840"/>
            <a:ext cx="24384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0" name="cdc-isp"/>
          <p:cNvCxnSpPr/>
          <p:nvPr/>
        </p:nvCxnSpPr>
        <p:spPr>
          <a:xfrm>
            <a:off x="21539200" y="3291840"/>
            <a:ext cx="24384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1" name="isp-select"/>
          <p:cNvCxnSpPr/>
          <p:nvPr/>
        </p:nvCxnSpPr>
        <p:spPr>
          <a:xfrm>
            <a:off x="23124160" y="3291840"/>
            <a:ext cx="24384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2" name="select-dma"/>
          <p:cNvCxnSpPr/>
          <p:nvPr/>
        </p:nvCxnSpPr>
        <p:spPr>
          <a:xfrm>
            <a:off x="24831040" y="3291840"/>
            <a:ext cx="28448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3" name="raw-bypass"/>
          <p:cNvSpPr/>
          <p:nvPr/>
        </p:nvSpPr>
        <p:spPr>
          <a:xfrm>
            <a:off x="21661120" y="2194560"/>
            <a:ext cx="2438400" cy="109728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raw-tap"/>
          <p:cNvSpPr/>
          <p:nvPr/>
        </p:nvSpPr>
        <p:spPr>
          <a:xfrm>
            <a:off x="21624544" y="3255264"/>
            <a:ext cx="73152" cy="73152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object-085: RAW 旁路"/>
          <p:cNvSpPr txBox="1"/>
          <p:nvPr/>
        </p:nvSpPr>
        <p:spPr>
          <a:xfrm>
            <a:off x="22507035" y="1895124"/>
            <a:ext cx="990410" cy="2991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2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6" name="object-086: RAW / ISP 二选一 · 帧打包"/>
          <p:cNvSpPr txBox="1"/>
          <p:nvPr/>
        </p:nvSpPr>
        <p:spPr>
          <a:xfrm>
            <a:off x="22902005" y="4275978"/>
            <a:ext cx="2476310" cy="3121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6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二选一 · 帧打包</a:t>
            </a:r>
          </a:p>
        </p:txBody>
      </p:sp>
      <p:sp>
        <p:nvSpPr>
          <p:cNvPr id="87" name="isp-gb"/>
          <p:cNvSpPr/>
          <p:nvPr/>
        </p:nvSpPr>
        <p:spPr>
          <a:xfrm>
            <a:off x="11688064" y="3820160"/>
            <a:ext cx="10094976" cy="1406144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cubicBezTo>
                  <a:pt x="0" y="1048512"/>
                  <a:pt x="0" y="837184"/>
                  <a:pt x="178816" y="837184"/>
                </a:cubicBez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object-088: ISP 中间数据 ↔ GB"/>
          <p:cNvSpPr txBox="1"/>
          <p:nvPr/>
        </p:nvSpPr>
        <p:spPr>
          <a:xfrm>
            <a:off x="19300793" y="4926218"/>
            <a:ext cx="1875854" cy="3121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6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89" name="debug-sba"/>
          <p:cNvSpPr/>
          <p:nvPr/>
        </p:nvSpPr>
        <p:spPr>
          <a:xfrm>
            <a:off x="3413760" y="5527040"/>
            <a:ext cx="2072640" cy="8128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object-090: Debug / SBA"/>
          <p:cNvSpPr txBox="1"/>
          <p:nvPr/>
        </p:nvSpPr>
        <p:spPr>
          <a:xfrm>
            <a:off x="3715620" y="5590764"/>
            <a:ext cx="1468920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91" name="object-091: JTAG 总线访问"/>
          <p:cNvSpPr txBox="1"/>
          <p:nvPr/>
        </p:nvSpPr>
        <p:spPr>
          <a:xfrm>
            <a:off x="3696411" y="5900928"/>
            <a:ext cx="1507338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92" name="idma-master"/>
          <p:cNvSpPr/>
          <p:nvPr/>
        </p:nvSpPr>
        <p:spPr>
          <a:xfrm>
            <a:off x="9347200" y="5527040"/>
            <a:ext cx="2235200" cy="8128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object-093: iDMA 数据主口"/>
          <p:cNvSpPr txBox="1"/>
          <p:nvPr/>
        </p:nvSpPr>
        <p:spPr>
          <a:xfrm>
            <a:off x="9633375" y="5590764"/>
            <a:ext cx="1662849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94" name="object-094: 内存 ↔ 内存"/>
          <p:cNvSpPr txBox="1"/>
          <p:nvPr/>
        </p:nvSpPr>
        <p:spPr>
          <a:xfrm>
            <a:off x="9794278" y="5900928"/>
            <a:ext cx="1341044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↔ 内存</a:t>
            </a:r>
          </a:p>
        </p:txBody>
      </p:sp>
      <p:sp>
        <p:nvSpPr>
          <p:cNvPr id="95" name="slink-rx"/>
          <p:cNvSpPr/>
          <p:nvPr/>
        </p:nvSpPr>
        <p:spPr>
          <a:xfrm>
            <a:off x="12110720" y="5527040"/>
            <a:ext cx="2316480" cy="8128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object-096: Serial Link RX"/>
          <p:cNvSpPr txBox="1"/>
          <p:nvPr/>
        </p:nvSpPr>
        <p:spPr>
          <a:xfrm>
            <a:off x="12497435" y="5590764"/>
            <a:ext cx="1543050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97" name="object-097: 远端请求入口"/>
          <p:cNvSpPr txBox="1"/>
          <p:nvPr/>
        </p:nvSpPr>
        <p:spPr>
          <a:xfrm>
            <a:off x="12557760" y="5900928"/>
            <a:ext cx="1422400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98" name="vga-master"/>
          <p:cNvSpPr/>
          <p:nvPr/>
        </p:nvSpPr>
        <p:spPr>
          <a:xfrm>
            <a:off x="14955520" y="5527040"/>
            <a:ext cx="2072640" cy="8128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object-099: VGA"/>
          <p:cNvSpPr txBox="1"/>
          <p:nvPr/>
        </p:nvSpPr>
        <p:spPr>
          <a:xfrm>
            <a:off x="15686983" y="5590764"/>
            <a:ext cx="609714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100" name="object-100: 帧缓冲读取"/>
          <p:cNvSpPr txBox="1"/>
          <p:nvPr/>
        </p:nvSpPr>
        <p:spPr>
          <a:xfrm>
            <a:off x="15382240" y="5900928"/>
            <a:ext cx="1219200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101" name="usb-master"/>
          <p:cNvSpPr/>
          <p:nvPr/>
        </p:nvSpPr>
        <p:spPr>
          <a:xfrm>
            <a:off x="17556480" y="5527040"/>
            <a:ext cx="2032000" cy="8128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object-102: USB DMA"/>
          <p:cNvSpPr txBox="1"/>
          <p:nvPr/>
        </p:nvSpPr>
        <p:spPr>
          <a:xfrm>
            <a:off x="18000154" y="5590764"/>
            <a:ext cx="1144651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103" name="object-103: OHCI 主口"/>
          <p:cNvSpPr txBox="1"/>
          <p:nvPr/>
        </p:nvSpPr>
        <p:spPr>
          <a:xfrm>
            <a:off x="18013978" y="5900928"/>
            <a:ext cx="1117003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104" name="ext-master"/>
          <p:cNvSpPr/>
          <p:nvPr/>
        </p:nvSpPr>
        <p:spPr>
          <a:xfrm>
            <a:off x="20157440" y="5527040"/>
            <a:ext cx="3007360" cy="812800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object-105: AXI 外部 master"/>
          <p:cNvSpPr txBox="1"/>
          <p:nvPr/>
        </p:nvSpPr>
        <p:spPr>
          <a:xfrm>
            <a:off x="20781791" y="5590764"/>
            <a:ext cx="1758658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106" name="object-106: 可选扩展入口"/>
          <p:cNvSpPr txBox="1"/>
          <p:nvPr/>
        </p:nvSpPr>
        <p:spPr>
          <a:xfrm>
            <a:off x="20949920" y="5900928"/>
            <a:ext cx="1422400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107" name="cpu-master"/>
          <p:cNvCxnSpPr/>
          <p:nvPr/>
        </p:nvCxnSpPr>
        <p:spPr>
          <a:xfrm>
            <a:off x="1991360" y="3820160"/>
            <a:ext cx="0" cy="284480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08" name="ara-master"/>
          <p:cNvCxnSpPr/>
          <p:nvPr/>
        </p:nvCxnSpPr>
        <p:spPr>
          <a:xfrm>
            <a:off x="7518400" y="4153408"/>
            <a:ext cx="0" cy="2511552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9" name="object-109: CPU AXI"/>
          <p:cNvSpPr txBox="1"/>
          <p:nvPr/>
        </p:nvSpPr>
        <p:spPr>
          <a:xfrm>
            <a:off x="902919" y="5917184"/>
            <a:ext cx="909625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110" name="object-110: Ara 普通地址"/>
          <p:cNvSpPr txBox="1"/>
          <p:nvPr/>
        </p:nvSpPr>
        <p:spPr>
          <a:xfrm>
            <a:off x="5990793" y="5917184"/>
            <a:ext cx="1365047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普通地址</a:t>
            </a:r>
          </a:p>
        </p:txBody>
      </p:sp>
      <p:sp>
        <p:nvSpPr>
          <p:cNvPr id="111" name="axi-crossbar"/>
          <p:cNvSpPr/>
          <p:nvPr/>
        </p:nvSpPr>
        <p:spPr>
          <a:xfrm>
            <a:off x="772160" y="6664960"/>
            <a:ext cx="23002240" cy="1097280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object-112: AXI Crossbar"/>
          <p:cNvSpPr txBox="1"/>
          <p:nvPr/>
        </p:nvSpPr>
        <p:spPr>
          <a:xfrm>
            <a:off x="11204892" y="6720230"/>
            <a:ext cx="2136775" cy="5201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113" name="object-113: 7 × 5 基础端口 + 扩展  |  64 bit 数据 / 48 bit 地"/>
          <p:cNvSpPr txBox="1"/>
          <p:nvPr/>
        </p:nvSpPr>
        <p:spPr>
          <a:xfrm>
            <a:off x="8449583" y="7200108"/>
            <a:ext cx="7647394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5 基础端口 + 扩展  |  64 bit 数据 / 48 bit 地址  |  地址译码 / 各目标仲裁</a:t>
            </a:r>
          </a:p>
        </p:txBody>
      </p:sp>
      <p:sp>
        <p:nvSpPr>
          <p:cNvPr id="114" name="object-114: 输入侧 AXI RT：按配置可选"/>
          <p:cNvSpPr txBox="1"/>
          <p:nvPr/>
        </p:nvSpPr>
        <p:spPr>
          <a:xfrm>
            <a:off x="1040384" y="7473533"/>
            <a:ext cx="2019541" cy="2470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6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RT：按配置可选</a:t>
            </a:r>
          </a:p>
        </p:txBody>
      </p:sp>
      <p:sp>
        <p:nvSpPr>
          <p:cNvPr id="115" name="object-115: 未映射请求：DECERR"/>
          <p:cNvSpPr txBox="1"/>
          <p:nvPr/>
        </p:nvSpPr>
        <p:spPr>
          <a:xfrm>
            <a:off x="21888056" y="7473533"/>
            <a:ext cx="1642504" cy="2470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6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116" name="master-port-0"/>
          <p:cNvSpPr/>
          <p:nvPr/>
        </p:nvSpPr>
        <p:spPr>
          <a:xfrm>
            <a:off x="1601216" y="6543040"/>
            <a:ext cx="780288" cy="235712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object-117: S0"/>
          <p:cNvSpPr txBox="1"/>
          <p:nvPr/>
        </p:nvSpPr>
        <p:spPr>
          <a:xfrm>
            <a:off x="1811020" y="6546291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118" name="master-input-1"/>
          <p:cNvCxnSpPr/>
          <p:nvPr/>
        </p:nvCxnSpPr>
        <p:spPr>
          <a:xfrm>
            <a:off x="4446016" y="6339840"/>
            <a:ext cx="0" cy="3251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9" name="master-port-1"/>
          <p:cNvSpPr/>
          <p:nvPr/>
        </p:nvSpPr>
        <p:spPr>
          <a:xfrm>
            <a:off x="4055872" y="6543040"/>
            <a:ext cx="780288" cy="235712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object-120: S1"/>
          <p:cNvSpPr txBox="1"/>
          <p:nvPr/>
        </p:nvSpPr>
        <p:spPr>
          <a:xfrm>
            <a:off x="4265676" y="6546291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21" name="master-port-2"/>
          <p:cNvSpPr/>
          <p:nvPr/>
        </p:nvSpPr>
        <p:spPr>
          <a:xfrm>
            <a:off x="7128256" y="6543040"/>
            <a:ext cx="780288" cy="235712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object-122: S2"/>
          <p:cNvSpPr txBox="1"/>
          <p:nvPr/>
        </p:nvSpPr>
        <p:spPr>
          <a:xfrm>
            <a:off x="7338060" y="6546291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123" name="master-input-3"/>
          <p:cNvCxnSpPr/>
          <p:nvPr/>
        </p:nvCxnSpPr>
        <p:spPr>
          <a:xfrm>
            <a:off x="10460736" y="6339840"/>
            <a:ext cx="0" cy="3251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24" name="master-port-3"/>
          <p:cNvSpPr/>
          <p:nvPr/>
        </p:nvSpPr>
        <p:spPr>
          <a:xfrm>
            <a:off x="10070592" y="6543040"/>
            <a:ext cx="780288" cy="235712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object-125: S3"/>
          <p:cNvSpPr txBox="1"/>
          <p:nvPr/>
        </p:nvSpPr>
        <p:spPr>
          <a:xfrm>
            <a:off x="10280396" y="6546291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126" name="master-input-4"/>
          <p:cNvCxnSpPr/>
          <p:nvPr/>
        </p:nvCxnSpPr>
        <p:spPr>
          <a:xfrm>
            <a:off x="13264896" y="6339840"/>
            <a:ext cx="0" cy="3251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27" name="master-port-4"/>
          <p:cNvSpPr/>
          <p:nvPr/>
        </p:nvSpPr>
        <p:spPr>
          <a:xfrm>
            <a:off x="12874752" y="6543040"/>
            <a:ext cx="780288" cy="235712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object-128: S4"/>
          <p:cNvSpPr txBox="1"/>
          <p:nvPr/>
        </p:nvSpPr>
        <p:spPr>
          <a:xfrm>
            <a:off x="13084556" y="6546291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129" name="master-input-5"/>
          <p:cNvCxnSpPr/>
          <p:nvPr/>
        </p:nvCxnSpPr>
        <p:spPr>
          <a:xfrm>
            <a:off x="15987776" y="6339840"/>
            <a:ext cx="0" cy="3251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" name="master-port-5"/>
          <p:cNvSpPr/>
          <p:nvPr/>
        </p:nvSpPr>
        <p:spPr>
          <a:xfrm>
            <a:off x="15597632" y="6543040"/>
            <a:ext cx="780288" cy="235712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object-131: S5"/>
          <p:cNvSpPr txBox="1"/>
          <p:nvPr/>
        </p:nvSpPr>
        <p:spPr>
          <a:xfrm>
            <a:off x="15807436" y="6546291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132" name="master-input-6"/>
          <p:cNvCxnSpPr/>
          <p:nvPr/>
        </p:nvCxnSpPr>
        <p:spPr>
          <a:xfrm>
            <a:off x="18572480" y="6339840"/>
            <a:ext cx="0" cy="3251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3" name="master-port-6"/>
          <p:cNvSpPr/>
          <p:nvPr/>
        </p:nvSpPr>
        <p:spPr>
          <a:xfrm>
            <a:off x="18182336" y="6543040"/>
            <a:ext cx="780288" cy="235712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object-134: S6"/>
          <p:cNvSpPr txBox="1"/>
          <p:nvPr/>
        </p:nvSpPr>
        <p:spPr>
          <a:xfrm>
            <a:off x="18392140" y="6546291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135" name="master-input-7"/>
          <p:cNvCxnSpPr/>
          <p:nvPr/>
        </p:nvCxnSpPr>
        <p:spPr>
          <a:xfrm>
            <a:off x="21661120" y="6339840"/>
            <a:ext cx="0" cy="3251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136" name="master-port-7"/>
          <p:cNvSpPr/>
          <p:nvPr/>
        </p:nvSpPr>
        <p:spPr>
          <a:xfrm>
            <a:off x="21270976" y="6543040"/>
            <a:ext cx="780288" cy="235712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object-137: S_EXT"/>
          <p:cNvSpPr txBox="1"/>
          <p:nvPr/>
        </p:nvSpPr>
        <p:spPr>
          <a:xfrm>
            <a:off x="21358936" y="6546291"/>
            <a:ext cx="604368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138" name="object-138: AXI master / 请求发起端"/>
          <p:cNvSpPr txBox="1"/>
          <p:nvPr/>
        </p:nvSpPr>
        <p:spPr>
          <a:xfrm>
            <a:off x="9347200" y="5218826"/>
            <a:ext cx="2308288" cy="3121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6" b="1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139" name="target-output-0"/>
          <p:cNvCxnSpPr/>
          <p:nvPr/>
        </p:nvCxnSpPr>
        <p:spPr>
          <a:xfrm>
            <a:off x="2072640" y="7762240"/>
            <a:ext cx="0" cy="5283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40" name="target-port-0"/>
          <p:cNvSpPr/>
          <p:nvPr/>
        </p:nvSpPr>
        <p:spPr>
          <a:xfrm>
            <a:off x="1682496" y="7640320"/>
            <a:ext cx="780288" cy="235712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object-141: M0"/>
          <p:cNvSpPr txBox="1"/>
          <p:nvPr/>
        </p:nvSpPr>
        <p:spPr>
          <a:xfrm>
            <a:off x="1876025" y="7643571"/>
            <a:ext cx="39323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142" name="debug-target"/>
          <p:cNvSpPr/>
          <p:nvPr/>
        </p:nvSpPr>
        <p:spPr>
          <a:xfrm>
            <a:off x="772160" y="8290560"/>
            <a:ext cx="2600960" cy="125984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object-143: Debug 目标"/>
          <p:cNvSpPr txBox="1"/>
          <p:nvPr/>
        </p:nvSpPr>
        <p:spPr>
          <a:xfrm>
            <a:off x="1381214" y="8345505"/>
            <a:ext cx="1382852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144" name="object-144: 调试模块地址窗口"/>
          <p:cNvSpPr txBox="1"/>
          <p:nvPr/>
        </p:nvSpPr>
        <p:spPr>
          <a:xfrm>
            <a:off x="1158240" y="8664448"/>
            <a:ext cx="1828800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145" name="target-output-1"/>
          <p:cNvCxnSpPr/>
          <p:nvPr/>
        </p:nvCxnSpPr>
        <p:spPr>
          <a:xfrm>
            <a:off x="5892800" y="7762240"/>
            <a:ext cx="0" cy="5283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46" name="target-port-1"/>
          <p:cNvSpPr/>
          <p:nvPr/>
        </p:nvSpPr>
        <p:spPr>
          <a:xfrm>
            <a:off x="5502656" y="7640320"/>
            <a:ext cx="780288" cy="235712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object-147: M1"/>
          <p:cNvSpPr txBox="1"/>
          <p:nvPr/>
        </p:nvSpPr>
        <p:spPr>
          <a:xfrm>
            <a:off x="5696185" y="7643571"/>
            <a:ext cx="39323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148" name="reg-bridge"/>
          <p:cNvSpPr/>
          <p:nvPr/>
        </p:nvSpPr>
        <p:spPr>
          <a:xfrm>
            <a:off x="3860800" y="8290560"/>
            <a:ext cx="4064000" cy="1259840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object-149: AXI → Regbus"/>
          <p:cNvSpPr txBox="1"/>
          <p:nvPr/>
        </p:nvSpPr>
        <p:spPr>
          <a:xfrm>
            <a:off x="5071910" y="8345505"/>
            <a:ext cx="1641780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150" name="object-150: 原子适配 / 桥接 · 32 bit"/>
          <p:cNvSpPr txBox="1"/>
          <p:nvPr/>
        </p:nvSpPr>
        <p:spPr>
          <a:xfrm>
            <a:off x="4718837" y="8664448"/>
            <a:ext cx="2347925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桥接 · 32 bit</a:t>
            </a:r>
          </a:p>
        </p:txBody>
      </p:sp>
      <p:cxnSp>
        <p:nvCxnSpPr>
          <p:cNvPr id="151" name="target-output-2"/>
          <p:cNvCxnSpPr/>
          <p:nvPr/>
        </p:nvCxnSpPr>
        <p:spPr>
          <a:xfrm>
            <a:off x="10403840" y="7762240"/>
            <a:ext cx="0" cy="5283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52" name="target-port-2"/>
          <p:cNvSpPr/>
          <p:nvPr/>
        </p:nvSpPr>
        <p:spPr>
          <a:xfrm>
            <a:off x="10013696" y="7640320"/>
            <a:ext cx="780288" cy="235712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object-153: M2"/>
          <p:cNvSpPr txBox="1"/>
          <p:nvPr/>
        </p:nvSpPr>
        <p:spPr>
          <a:xfrm>
            <a:off x="10207225" y="7643571"/>
            <a:ext cx="39323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154" name="memory-target"/>
          <p:cNvSpPr/>
          <p:nvPr/>
        </p:nvSpPr>
        <p:spPr>
          <a:xfrm>
            <a:off x="8453120" y="8290560"/>
            <a:ext cx="3901440" cy="125984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object-155: 主存 / SPM 共用目标"/>
          <p:cNvSpPr txBox="1"/>
          <p:nvPr/>
        </p:nvSpPr>
        <p:spPr>
          <a:xfrm>
            <a:off x="9218454" y="8345505"/>
            <a:ext cx="2370772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156" name="target-output-3"/>
          <p:cNvCxnSpPr/>
          <p:nvPr/>
        </p:nvCxnSpPr>
        <p:spPr>
          <a:xfrm>
            <a:off x="14467840" y="7762240"/>
            <a:ext cx="0" cy="5283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57" name="target-port-3"/>
          <p:cNvSpPr/>
          <p:nvPr/>
        </p:nvSpPr>
        <p:spPr>
          <a:xfrm>
            <a:off x="14077696" y="7640320"/>
            <a:ext cx="780288" cy="235712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object-158: M3"/>
          <p:cNvSpPr txBox="1"/>
          <p:nvPr/>
        </p:nvSpPr>
        <p:spPr>
          <a:xfrm>
            <a:off x="14271225" y="7643571"/>
            <a:ext cx="39323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159" name="idma-config"/>
          <p:cNvSpPr/>
          <p:nvPr/>
        </p:nvSpPr>
        <p:spPr>
          <a:xfrm>
            <a:off x="12842240" y="8290560"/>
            <a:ext cx="3251200" cy="125984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object-160: iDMA 配置"/>
          <p:cNvSpPr txBox="1"/>
          <p:nvPr/>
        </p:nvSpPr>
        <p:spPr>
          <a:xfrm>
            <a:off x="13833189" y="8345505"/>
            <a:ext cx="1269302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161" name="object-161: 原子适配 → AXI→Reg"/>
          <p:cNvSpPr txBox="1"/>
          <p:nvPr/>
        </p:nvSpPr>
        <p:spPr>
          <a:xfrm>
            <a:off x="13389235" y="8664448"/>
            <a:ext cx="2157209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162" name="object-162: wrapper 内部寄存器"/>
          <p:cNvSpPr txBox="1"/>
          <p:nvPr/>
        </p:nvSpPr>
        <p:spPr>
          <a:xfrm>
            <a:off x="13476846" y="8924544"/>
            <a:ext cx="1981987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163" name="target-output-4"/>
          <p:cNvCxnSpPr/>
          <p:nvPr/>
        </p:nvCxnSpPr>
        <p:spPr>
          <a:xfrm>
            <a:off x="18288000" y="7762240"/>
            <a:ext cx="0" cy="5283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64" name="target-port-4"/>
          <p:cNvSpPr/>
          <p:nvPr/>
        </p:nvSpPr>
        <p:spPr>
          <a:xfrm>
            <a:off x="17897856" y="7640320"/>
            <a:ext cx="780288" cy="235712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object-165: M4"/>
          <p:cNvSpPr txBox="1"/>
          <p:nvPr/>
        </p:nvSpPr>
        <p:spPr>
          <a:xfrm>
            <a:off x="18091385" y="7643571"/>
            <a:ext cx="39323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166" name="slink-tx"/>
          <p:cNvSpPr/>
          <p:nvPr/>
        </p:nvSpPr>
        <p:spPr>
          <a:xfrm>
            <a:off x="16581120" y="8290560"/>
            <a:ext cx="3413760" cy="125984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object-167: Serial Link TX"/>
          <p:cNvSpPr txBox="1"/>
          <p:nvPr/>
        </p:nvSpPr>
        <p:spPr>
          <a:xfrm>
            <a:off x="17501438" y="8345505"/>
            <a:ext cx="1573124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168" name="object-168: 远端数据目标窗口"/>
          <p:cNvSpPr txBox="1"/>
          <p:nvPr/>
        </p:nvSpPr>
        <p:spPr>
          <a:xfrm>
            <a:off x="17373600" y="8664448"/>
            <a:ext cx="1828800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远端数据目标窗口</a:t>
            </a:r>
          </a:p>
        </p:txBody>
      </p:sp>
      <p:cxnSp>
        <p:nvCxnSpPr>
          <p:cNvPr id="169" name="target-output-5"/>
          <p:cNvCxnSpPr/>
          <p:nvPr/>
        </p:nvCxnSpPr>
        <p:spPr>
          <a:xfrm>
            <a:off x="22108160" y="7762240"/>
            <a:ext cx="0" cy="5283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170" name="target-port-5"/>
          <p:cNvSpPr/>
          <p:nvPr/>
        </p:nvSpPr>
        <p:spPr>
          <a:xfrm>
            <a:off x="21718016" y="7640320"/>
            <a:ext cx="780288" cy="235712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object-171: M_EXT"/>
          <p:cNvSpPr txBox="1"/>
          <p:nvPr/>
        </p:nvSpPr>
        <p:spPr>
          <a:xfrm>
            <a:off x="21789701" y="7643571"/>
            <a:ext cx="636918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172" name="ext-target"/>
          <p:cNvSpPr/>
          <p:nvPr/>
        </p:nvSpPr>
        <p:spPr>
          <a:xfrm>
            <a:off x="20441920" y="8290560"/>
            <a:ext cx="3332480" cy="1259840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object-173: AXI 外部 slave"/>
          <p:cNvSpPr txBox="1"/>
          <p:nvPr/>
        </p:nvSpPr>
        <p:spPr>
          <a:xfrm>
            <a:off x="21284933" y="8345505"/>
            <a:ext cx="1646453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174" name="object-174: 可选扩展 / CPU 直访 GB 待定"/>
          <p:cNvSpPr txBox="1"/>
          <p:nvPr/>
        </p:nvSpPr>
        <p:spPr>
          <a:xfrm>
            <a:off x="20674051" y="8664448"/>
            <a:ext cx="2868219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 / CPU 直访 GB 待定</a:t>
            </a:r>
          </a:p>
        </p:txBody>
      </p:sp>
      <p:sp>
        <p:nvSpPr>
          <p:cNvPr id="175" name="atomics"/>
          <p:cNvSpPr/>
          <p:nvPr/>
        </p:nvSpPr>
        <p:spPr>
          <a:xfrm>
            <a:off x="8615680" y="8778240"/>
            <a:ext cx="1584960" cy="682752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object-176: 原子适配"/>
          <p:cNvSpPr txBox="1"/>
          <p:nvPr/>
        </p:nvSpPr>
        <p:spPr>
          <a:xfrm>
            <a:off x="8940800" y="8877076"/>
            <a:ext cx="934720" cy="2991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177" name="object-177: AMO / LRSC"/>
          <p:cNvSpPr txBox="1"/>
          <p:nvPr/>
        </p:nvSpPr>
        <p:spPr>
          <a:xfrm>
            <a:off x="8746274" y="9152128"/>
            <a:ext cx="1323772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178" name="llc-spm"/>
          <p:cNvSpPr/>
          <p:nvPr/>
        </p:nvSpPr>
        <p:spPr>
          <a:xfrm>
            <a:off x="10566400" y="8778240"/>
            <a:ext cx="1584960" cy="682752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object-179: LLC / SPM"/>
          <p:cNvSpPr txBox="1"/>
          <p:nvPr/>
        </p:nvSpPr>
        <p:spPr>
          <a:xfrm>
            <a:off x="10822686" y="8877076"/>
            <a:ext cx="1072388" cy="2991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180" name="object-180: 同一 SRAM 阵列"/>
          <p:cNvSpPr txBox="1"/>
          <p:nvPr/>
        </p:nvSpPr>
        <p:spPr>
          <a:xfrm>
            <a:off x="10524058" y="9152128"/>
            <a:ext cx="1669644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同一 SRAM 阵列</a:t>
            </a:r>
          </a:p>
        </p:txBody>
      </p:sp>
      <p:cxnSp>
        <p:nvCxnSpPr>
          <p:cNvPr id="181" name="atomics-llc"/>
          <p:cNvCxnSpPr/>
          <p:nvPr/>
        </p:nvCxnSpPr>
        <p:spPr>
          <a:xfrm>
            <a:off x="10200640" y="9087104"/>
            <a:ext cx="36576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82" name="reg-subsystem"/>
          <p:cNvSpPr/>
          <p:nvPr/>
        </p:nvSpPr>
        <p:spPr>
          <a:xfrm>
            <a:off x="609600" y="9834880"/>
            <a:ext cx="15808960" cy="4064000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regbus"/>
          <p:cNvSpPr/>
          <p:nvPr/>
        </p:nvSpPr>
        <p:spPr>
          <a:xfrm>
            <a:off x="772160" y="9997440"/>
            <a:ext cx="15483840" cy="568960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object-184: Regbus decode / demux  ·  32 bit"/>
          <p:cNvSpPr txBox="1"/>
          <p:nvPr/>
        </p:nvSpPr>
        <p:spPr>
          <a:xfrm>
            <a:off x="6460363" y="10098552"/>
            <a:ext cx="4099306" cy="4161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4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 ·  32 bit</a:t>
            </a:r>
          </a:p>
        </p:txBody>
      </p:sp>
      <p:cxnSp>
        <p:nvCxnSpPr>
          <p:cNvPr id="185" name="axi-regbus"/>
          <p:cNvCxnSpPr/>
          <p:nvPr/>
        </p:nvCxnSpPr>
        <p:spPr>
          <a:xfrm>
            <a:off x="5892800" y="9550400"/>
            <a:ext cx="0" cy="447040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186" name="regbus-trunk-0"/>
          <p:cNvCxnSpPr/>
          <p:nvPr/>
        </p:nvCxnSpPr>
        <p:spPr>
          <a:xfrm>
            <a:off x="1056640" y="10566400"/>
            <a:ext cx="0" cy="2836672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187" name="regbus-trunk-1"/>
          <p:cNvCxnSpPr/>
          <p:nvPr/>
        </p:nvCxnSpPr>
        <p:spPr>
          <a:xfrm>
            <a:off x="4104640" y="10566400"/>
            <a:ext cx="0" cy="2836672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188" name="regbus-trunk-2"/>
          <p:cNvCxnSpPr/>
          <p:nvPr/>
        </p:nvCxnSpPr>
        <p:spPr>
          <a:xfrm>
            <a:off x="7152640" y="10566400"/>
            <a:ext cx="0" cy="2836672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189" name="regbus-trunk-3"/>
          <p:cNvCxnSpPr/>
          <p:nvPr/>
        </p:nvCxnSpPr>
        <p:spPr>
          <a:xfrm>
            <a:off x="10200640" y="10566400"/>
            <a:ext cx="0" cy="2836672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190" name="regbus-trunk-4"/>
          <p:cNvCxnSpPr/>
          <p:nvPr/>
        </p:nvCxnSpPr>
        <p:spPr>
          <a:xfrm>
            <a:off x="13248640" y="10566400"/>
            <a:ext cx="0" cy="2836672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191" name="bootrom"/>
          <p:cNvSpPr/>
          <p:nvPr/>
        </p:nvSpPr>
        <p:spPr>
          <a:xfrm>
            <a:off x="1219200" y="10810240"/>
            <a:ext cx="2600960" cy="633984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object-192: Boot ROM"/>
          <p:cNvSpPr txBox="1"/>
          <p:nvPr/>
        </p:nvSpPr>
        <p:spPr>
          <a:xfrm>
            <a:off x="1969618" y="10842752"/>
            <a:ext cx="1100125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193" name="object-193: 启动代码"/>
          <p:cNvSpPr txBox="1"/>
          <p:nvPr/>
        </p:nvSpPr>
        <p:spPr>
          <a:xfrm>
            <a:off x="2072640" y="11112927"/>
            <a:ext cx="894080" cy="286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194" name="reg-drop-bootrom"/>
          <p:cNvCxnSpPr/>
          <p:nvPr/>
        </p:nvCxnSpPr>
        <p:spPr>
          <a:xfrm>
            <a:off x="1056640" y="11127232"/>
            <a:ext cx="162560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95" name="clint"/>
          <p:cNvSpPr/>
          <p:nvPr/>
        </p:nvSpPr>
        <p:spPr>
          <a:xfrm>
            <a:off x="4267200" y="10810240"/>
            <a:ext cx="2600960" cy="633984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object-196: CLINT"/>
          <p:cNvSpPr txBox="1"/>
          <p:nvPr/>
        </p:nvSpPr>
        <p:spPr>
          <a:xfrm>
            <a:off x="5208213" y="10842752"/>
            <a:ext cx="718934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197" name="object-197: 软件 / 定时中断"/>
          <p:cNvSpPr txBox="1"/>
          <p:nvPr/>
        </p:nvSpPr>
        <p:spPr>
          <a:xfrm>
            <a:off x="4841767" y="11112927"/>
            <a:ext cx="1451826" cy="286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198" name="reg-drop-clint"/>
          <p:cNvCxnSpPr/>
          <p:nvPr/>
        </p:nvCxnSpPr>
        <p:spPr>
          <a:xfrm>
            <a:off x="4104640" y="11127232"/>
            <a:ext cx="162560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99" name="soc-regs"/>
          <p:cNvSpPr/>
          <p:nvPr/>
        </p:nvSpPr>
        <p:spPr>
          <a:xfrm>
            <a:off x="7315200" y="10810240"/>
            <a:ext cx="2600960" cy="633984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object-200: SoC 寄存器"/>
          <p:cNvSpPr txBox="1"/>
          <p:nvPr/>
        </p:nvSpPr>
        <p:spPr>
          <a:xfrm>
            <a:off x="7998244" y="10842752"/>
            <a:ext cx="1234872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201" name="object-201: 平台信息 / scratch"/>
          <p:cNvSpPr txBox="1"/>
          <p:nvPr/>
        </p:nvSpPr>
        <p:spPr>
          <a:xfrm>
            <a:off x="7782903" y="11112927"/>
            <a:ext cx="1665554" cy="286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202" name="reg-drop-soc-regs"/>
          <p:cNvCxnSpPr/>
          <p:nvPr/>
        </p:nvCxnSpPr>
        <p:spPr>
          <a:xfrm>
            <a:off x="7152640" y="11127232"/>
            <a:ext cx="162560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203" name="plic"/>
          <p:cNvSpPr/>
          <p:nvPr/>
        </p:nvSpPr>
        <p:spPr>
          <a:xfrm>
            <a:off x="10363200" y="10810240"/>
            <a:ext cx="2600960" cy="633984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object-204: PLIC"/>
          <p:cNvSpPr txBox="1"/>
          <p:nvPr/>
        </p:nvSpPr>
        <p:spPr>
          <a:xfrm>
            <a:off x="11365135" y="10842752"/>
            <a:ext cx="597090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205" name="object-205: 外部中断控制"/>
          <p:cNvSpPr txBox="1"/>
          <p:nvPr/>
        </p:nvSpPr>
        <p:spPr>
          <a:xfrm>
            <a:off x="11037824" y="11112927"/>
            <a:ext cx="1251712" cy="286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206" name="reg-drop-plic"/>
          <p:cNvCxnSpPr/>
          <p:nvPr/>
        </p:nvCxnSpPr>
        <p:spPr>
          <a:xfrm>
            <a:off x="10200640" y="11127232"/>
            <a:ext cx="162560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207" name="llc-regs"/>
          <p:cNvSpPr/>
          <p:nvPr/>
        </p:nvSpPr>
        <p:spPr>
          <a:xfrm>
            <a:off x="13411200" y="10810240"/>
            <a:ext cx="2600960" cy="633984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object-208: LLC 配置"/>
          <p:cNvSpPr txBox="1"/>
          <p:nvPr/>
        </p:nvSpPr>
        <p:spPr>
          <a:xfrm>
            <a:off x="14211916" y="10842752"/>
            <a:ext cx="999528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209" name="object-209: SPM way / cache"/>
          <p:cNvSpPr txBox="1"/>
          <p:nvPr/>
        </p:nvSpPr>
        <p:spPr>
          <a:xfrm>
            <a:off x="13941762" y="11112927"/>
            <a:ext cx="1539837" cy="286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210" name="reg-drop-llc-regs"/>
          <p:cNvCxnSpPr/>
          <p:nvPr/>
        </p:nvCxnSpPr>
        <p:spPr>
          <a:xfrm>
            <a:off x="13248640" y="11127232"/>
            <a:ext cx="162560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211" name="uart"/>
          <p:cNvSpPr/>
          <p:nvPr/>
        </p:nvSpPr>
        <p:spPr>
          <a:xfrm>
            <a:off x="1219200" y="11558016"/>
            <a:ext cx="2600960" cy="633984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object-212: UART"/>
          <p:cNvSpPr txBox="1"/>
          <p:nvPr/>
        </p:nvSpPr>
        <p:spPr>
          <a:xfrm>
            <a:off x="2182539" y="11590528"/>
            <a:ext cx="674281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213" name="object-213: 串口控制"/>
          <p:cNvSpPr txBox="1"/>
          <p:nvPr/>
        </p:nvSpPr>
        <p:spPr>
          <a:xfrm>
            <a:off x="2072640" y="11860703"/>
            <a:ext cx="894080" cy="286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214" name="reg-drop-uart"/>
          <p:cNvCxnSpPr/>
          <p:nvPr/>
        </p:nvCxnSpPr>
        <p:spPr>
          <a:xfrm>
            <a:off x="1056640" y="11875008"/>
            <a:ext cx="162560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215" name="i2c"/>
          <p:cNvSpPr/>
          <p:nvPr/>
        </p:nvSpPr>
        <p:spPr>
          <a:xfrm>
            <a:off x="4267200" y="11558016"/>
            <a:ext cx="2600960" cy="633984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object-216: I2C"/>
          <p:cNvSpPr txBox="1"/>
          <p:nvPr/>
        </p:nvSpPr>
        <p:spPr>
          <a:xfrm>
            <a:off x="5315864" y="11590528"/>
            <a:ext cx="503631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217" name="object-217: 两线串行控制"/>
          <p:cNvSpPr txBox="1"/>
          <p:nvPr/>
        </p:nvSpPr>
        <p:spPr>
          <a:xfrm>
            <a:off x="4941824" y="11860703"/>
            <a:ext cx="1251712" cy="286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218" name="reg-drop-i2c"/>
          <p:cNvCxnSpPr/>
          <p:nvPr/>
        </p:nvCxnSpPr>
        <p:spPr>
          <a:xfrm>
            <a:off x="4104640" y="11875008"/>
            <a:ext cx="162560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219" name="spi"/>
          <p:cNvSpPr/>
          <p:nvPr/>
        </p:nvSpPr>
        <p:spPr>
          <a:xfrm>
            <a:off x="7315200" y="11558016"/>
            <a:ext cx="2600960" cy="633984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object-220: SPI host"/>
          <p:cNvSpPr txBox="1"/>
          <p:nvPr/>
        </p:nvSpPr>
        <p:spPr>
          <a:xfrm>
            <a:off x="8142707" y="11590528"/>
            <a:ext cx="945947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221" name="object-221: Flash / SD"/>
          <p:cNvSpPr txBox="1"/>
          <p:nvPr/>
        </p:nvSpPr>
        <p:spPr>
          <a:xfrm>
            <a:off x="8104816" y="11860703"/>
            <a:ext cx="1021728" cy="286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222" name="reg-drop-spi"/>
          <p:cNvCxnSpPr/>
          <p:nvPr/>
        </p:nvCxnSpPr>
        <p:spPr>
          <a:xfrm>
            <a:off x="7152640" y="11875008"/>
            <a:ext cx="162560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223" name="gpio"/>
          <p:cNvSpPr/>
          <p:nvPr/>
        </p:nvSpPr>
        <p:spPr>
          <a:xfrm>
            <a:off x="10363200" y="11558016"/>
            <a:ext cx="2600960" cy="633984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object-224: GPIO"/>
          <p:cNvSpPr txBox="1"/>
          <p:nvPr/>
        </p:nvSpPr>
        <p:spPr>
          <a:xfrm>
            <a:off x="11344891" y="11590528"/>
            <a:ext cx="637578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225" name="object-225: 通用 IO"/>
          <p:cNvSpPr txBox="1"/>
          <p:nvPr/>
        </p:nvSpPr>
        <p:spPr>
          <a:xfrm>
            <a:off x="11286490" y="11860703"/>
            <a:ext cx="754380" cy="286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226" name="reg-drop-gpio"/>
          <p:cNvCxnSpPr/>
          <p:nvPr/>
        </p:nvCxnSpPr>
        <p:spPr>
          <a:xfrm>
            <a:off x="10200640" y="11875008"/>
            <a:ext cx="162560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227" name="slink-regs"/>
          <p:cNvSpPr/>
          <p:nvPr/>
        </p:nvSpPr>
        <p:spPr>
          <a:xfrm>
            <a:off x="13411200" y="11558016"/>
            <a:ext cx="2600960" cy="633984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object-228: Serial Link 配置"/>
          <p:cNvSpPr txBox="1"/>
          <p:nvPr/>
        </p:nvSpPr>
        <p:spPr>
          <a:xfrm>
            <a:off x="13911783" y="11590528"/>
            <a:ext cx="1599794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229" name="object-229: 链路控制"/>
          <p:cNvSpPr txBox="1"/>
          <p:nvPr/>
        </p:nvSpPr>
        <p:spPr>
          <a:xfrm>
            <a:off x="14264640" y="11860703"/>
            <a:ext cx="894080" cy="286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230" name="reg-drop-slink-regs"/>
          <p:cNvCxnSpPr/>
          <p:nvPr/>
        </p:nvCxnSpPr>
        <p:spPr>
          <a:xfrm>
            <a:off x="13248640" y="11875008"/>
            <a:ext cx="162560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231" name="vga-regs"/>
          <p:cNvSpPr/>
          <p:nvPr/>
        </p:nvSpPr>
        <p:spPr>
          <a:xfrm>
            <a:off x="1219200" y="12305792"/>
            <a:ext cx="2600960" cy="633984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object-232: VGA 配置"/>
          <p:cNvSpPr txBox="1"/>
          <p:nvPr/>
        </p:nvSpPr>
        <p:spPr>
          <a:xfrm>
            <a:off x="2003742" y="12338304"/>
            <a:ext cx="1031875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233" name="object-233: 时序 / 帧地址"/>
          <p:cNvSpPr txBox="1"/>
          <p:nvPr/>
        </p:nvSpPr>
        <p:spPr>
          <a:xfrm>
            <a:off x="1883175" y="12608479"/>
            <a:ext cx="1273010" cy="286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234" name="reg-drop-vga-regs"/>
          <p:cNvCxnSpPr/>
          <p:nvPr/>
        </p:nvCxnSpPr>
        <p:spPr>
          <a:xfrm>
            <a:off x="1056640" y="12622784"/>
            <a:ext cx="162560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235" name="usb-regs"/>
          <p:cNvSpPr/>
          <p:nvPr/>
        </p:nvSpPr>
        <p:spPr>
          <a:xfrm>
            <a:off x="4267200" y="12305792"/>
            <a:ext cx="2600960" cy="633984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object-236: USB 配置"/>
          <p:cNvSpPr txBox="1"/>
          <p:nvPr/>
        </p:nvSpPr>
        <p:spPr>
          <a:xfrm>
            <a:off x="5041627" y="12338304"/>
            <a:ext cx="1052106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237" name="object-237: OHCI 寄存器"/>
          <p:cNvSpPr txBox="1"/>
          <p:nvPr/>
        </p:nvSpPr>
        <p:spPr>
          <a:xfrm>
            <a:off x="4986788" y="12608479"/>
            <a:ext cx="1161783" cy="286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238" name="reg-drop-usb-regs"/>
          <p:cNvCxnSpPr/>
          <p:nvPr/>
        </p:nvCxnSpPr>
        <p:spPr>
          <a:xfrm>
            <a:off x="4104640" y="12622784"/>
            <a:ext cx="162560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239" name="err-vga"/>
          <p:cNvSpPr/>
          <p:nvPr/>
        </p:nvSpPr>
        <p:spPr>
          <a:xfrm>
            <a:off x="7315200" y="12305792"/>
            <a:ext cx="2600960" cy="633984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object-240: Bus-error · VGA"/>
          <p:cNvSpPr txBox="1"/>
          <p:nvPr/>
        </p:nvSpPr>
        <p:spPr>
          <a:xfrm>
            <a:off x="7840389" y="12338304"/>
            <a:ext cx="1550581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241" name="object-241: 错误记录"/>
          <p:cNvSpPr txBox="1"/>
          <p:nvPr/>
        </p:nvSpPr>
        <p:spPr>
          <a:xfrm>
            <a:off x="8168640" y="12608479"/>
            <a:ext cx="894080" cy="286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242" name="reg-drop-err-vga"/>
          <p:cNvCxnSpPr/>
          <p:nvPr/>
        </p:nvCxnSpPr>
        <p:spPr>
          <a:xfrm>
            <a:off x="7152640" y="12622784"/>
            <a:ext cx="162560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243" name="err-dma"/>
          <p:cNvSpPr/>
          <p:nvPr/>
        </p:nvSpPr>
        <p:spPr>
          <a:xfrm>
            <a:off x="10363200" y="12305792"/>
            <a:ext cx="2600960" cy="633984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object-244: Bus-error · iDMA"/>
          <p:cNvSpPr txBox="1"/>
          <p:nvPr/>
        </p:nvSpPr>
        <p:spPr>
          <a:xfrm>
            <a:off x="10837691" y="12338304"/>
            <a:ext cx="1651978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245" name="object-245: 错误记录"/>
          <p:cNvSpPr txBox="1"/>
          <p:nvPr/>
        </p:nvSpPr>
        <p:spPr>
          <a:xfrm>
            <a:off x="11216640" y="12608479"/>
            <a:ext cx="894080" cy="286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246" name="reg-drop-err-dma"/>
          <p:cNvCxnSpPr/>
          <p:nvPr/>
        </p:nvCxnSpPr>
        <p:spPr>
          <a:xfrm>
            <a:off x="10200640" y="12622784"/>
            <a:ext cx="162560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247" name="err-cpu"/>
          <p:cNvSpPr/>
          <p:nvPr/>
        </p:nvSpPr>
        <p:spPr>
          <a:xfrm>
            <a:off x="13411200" y="12305792"/>
            <a:ext cx="2600960" cy="633984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object-248: Bus-error · CPU"/>
          <p:cNvSpPr txBox="1"/>
          <p:nvPr/>
        </p:nvSpPr>
        <p:spPr>
          <a:xfrm>
            <a:off x="13932325" y="12338304"/>
            <a:ext cx="1558709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249" name="object-249: 每核错误记录"/>
          <p:cNvSpPr txBox="1"/>
          <p:nvPr/>
        </p:nvSpPr>
        <p:spPr>
          <a:xfrm>
            <a:off x="14085824" y="12608479"/>
            <a:ext cx="1251712" cy="286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250" name="reg-drop-err-cpu"/>
          <p:cNvCxnSpPr/>
          <p:nvPr/>
        </p:nvCxnSpPr>
        <p:spPr>
          <a:xfrm>
            <a:off x="13248640" y="12622784"/>
            <a:ext cx="162560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251" name="irq-router"/>
          <p:cNvSpPr/>
          <p:nvPr/>
        </p:nvSpPr>
        <p:spPr>
          <a:xfrm>
            <a:off x="1219200" y="13053568"/>
            <a:ext cx="2600960" cy="633984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object-252: IRQ router"/>
          <p:cNvSpPr txBox="1"/>
          <p:nvPr/>
        </p:nvSpPr>
        <p:spPr>
          <a:xfrm>
            <a:off x="1969719" y="13086080"/>
            <a:ext cx="1099922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253" name="object-253: 可选中断路由"/>
          <p:cNvSpPr txBox="1"/>
          <p:nvPr/>
        </p:nvSpPr>
        <p:spPr>
          <a:xfrm>
            <a:off x="1893824" y="13356255"/>
            <a:ext cx="1251712" cy="286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254" name="reg-drop-irq-router"/>
          <p:cNvCxnSpPr/>
          <p:nvPr/>
        </p:nvCxnSpPr>
        <p:spPr>
          <a:xfrm>
            <a:off x="1056640" y="13370560"/>
            <a:ext cx="162560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255" name="axi-rt-config"/>
          <p:cNvSpPr/>
          <p:nvPr/>
        </p:nvSpPr>
        <p:spPr>
          <a:xfrm>
            <a:off x="4267200" y="13053568"/>
            <a:ext cx="2600960" cy="633984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object-256: AXI RT 配置"/>
          <p:cNvSpPr txBox="1"/>
          <p:nvPr/>
        </p:nvSpPr>
        <p:spPr>
          <a:xfrm>
            <a:off x="4950244" y="13086080"/>
            <a:ext cx="1234872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257" name="object-257: 可选流量调节"/>
          <p:cNvSpPr txBox="1"/>
          <p:nvPr/>
        </p:nvSpPr>
        <p:spPr>
          <a:xfrm>
            <a:off x="4941824" y="13356255"/>
            <a:ext cx="1251712" cy="286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258" name="reg-drop-axi-rt-config"/>
          <p:cNvCxnSpPr/>
          <p:nvPr/>
        </p:nvCxnSpPr>
        <p:spPr>
          <a:xfrm>
            <a:off x="4104640" y="13370560"/>
            <a:ext cx="162560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259" name="clic"/>
          <p:cNvSpPr/>
          <p:nvPr/>
        </p:nvSpPr>
        <p:spPr>
          <a:xfrm>
            <a:off x="7315200" y="13053568"/>
            <a:ext cx="2600960" cy="633984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object-260: CLIC"/>
          <p:cNvSpPr txBox="1"/>
          <p:nvPr/>
        </p:nvSpPr>
        <p:spPr>
          <a:xfrm>
            <a:off x="8311083" y="13086080"/>
            <a:ext cx="609194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261" name="object-261: 可选每核中断控制"/>
          <p:cNvSpPr txBox="1"/>
          <p:nvPr/>
        </p:nvSpPr>
        <p:spPr>
          <a:xfrm>
            <a:off x="7811008" y="13356255"/>
            <a:ext cx="1609344" cy="286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262" name="reg-drop-clic"/>
          <p:cNvCxnSpPr/>
          <p:nvPr/>
        </p:nvCxnSpPr>
        <p:spPr>
          <a:xfrm>
            <a:off x="7152640" y="13370560"/>
            <a:ext cx="162560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263" name="reg-error"/>
          <p:cNvSpPr/>
          <p:nvPr/>
        </p:nvSpPr>
        <p:spPr>
          <a:xfrm>
            <a:off x="10363200" y="13053568"/>
            <a:ext cx="2600960" cy="633984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object-264: reg_err_slv"/>
          <p:cNvSpPr txBox="1"/>
          <p:nvPr/>
        </p:nvSpPr>
        <p:spPr>
          <a:xfrm>
            <a:off x="11081074" y="13086080"/>
            <a:ext cx="1165212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265" name="object-265: 未匹配地址"/>
          <p:cNvSpPr txBox="1"/>
          <p:nvPr/>
        </p:nvSpPr>
        <p:spPr>
          <a:xfrm>
            <a:off x="11127232" y="13356255"/>
            <a:ext cx="1072896" cy="286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266" name="reg-drop-reg-error"/>
          <p:cNvCxnSpPr/>
          <p:nvPr/>
        </p:nvCxnSpPr>
        <p:spPr>
          <a:xfrm>
            <a:off x="10200640" y="13370560"/>
            <a:ext cx="162560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267" name="reg-ext"/>
          <p:cNvSpPr/>
          <p:nvPr/>
        </p:nvSpPr>
        <p:spPr>
          <a:xfrm>
            <a:off x="13411200" y="13053568"/>
            <a:ext cx="2600960" cy="633984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object-268: RegExt 扩展"/>
          <p:cNvSpPr txBox="1"/>
          <p:nvPr/>
        </p:nvSpPr>
        <p:spPr>
          <a:xfrm>
            <a:off x="14074007" y="13086080"/>
            <a:ext cx="1275347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269" name="object-269: 新增 IP 配置出口"/>
          <p:cNvSpPr txBox="1"/>
          <p:nvPr/>
        </p:nvSpPr>
        <p:spPr>
          <a:xfrm>
            <a:off x="13958957" y="13356255"/>
            <a:ext cx="1505445" cy="286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270" name="reg-drop-reg-ext"/>
          <p:cNvCxnSpPr/>
          <p:nvPr/>
        </p:nvCxnSpPr>
        <p:spPr>
          <a:xfrm>
            <a:off x="13248640" y="13370560"/>
            <a:ext cx="162560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271" name="ddr-controller"/>
          <p:cNvSpPr/>
          <p:nvPr/>
        </p:nvSpPr>
        <p:spPr>
          <a:xfrm>
            <a:off x="17150080" y="10403840"/>
            <a:ext cx="7884160" cy="300736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object-272: DDR Controller · 3 个 AXI slave"/>
          <p:cNvSpPr txBox="1"/>
          <p:nvPr/>
        </p:nvSpPr>
        <p:spPr>
          <a:xfrm>
            <a:off x="19333839" y="12993421"/>
            <a:ext cx="3516643" cy="3901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273" name="cfg-tag-C2-272"/>
          <p:cNvSpPr/>
          <p:nvPr/>
        </p:nvSpPr>
        <p:spPr>
          <a:xfrm>
            <a:off x="24465280" y="13094208"/>
            <a:ext cx="382016" cy="235712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object-274: C2"/>
          <p:cNvSpPr txBox="1"/>
          <p:nvPr/>
        </p:nvSpPr>
        <p:spPr>
          <a:xfrm>
            <a:off x="24475948" y="13097459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275" name="ddr-S0"/>
          <p:cNvSpPr/>
          <p:nvPr/>
        </p:nvSpPr>
        <p:spPr>
          <a:xfrm>
            <a:off x="17312640" y="10403840"/>
            <a:ext cx="1788160" cy="8128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object-276: S0"/>
          <p:cNvSpPr txBox="1"/>
          <p:nvPr/>
        </p:nvSpPr>
        <p:spPr>
          <a:xfrm>
            <a:off x="17936204" y="10465613"/>
            <a:ext cx="541033" cy="3901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277" name="object-277: SoC / LLC"/>
          <p:cNvSpPr txBox="1"/>
          <p:nvPr/>
        </p:nvSpPr>
        <p:spPr>
          <a:xfrm>
            <a:off x="17668748" y="10827146"/>
            <a:ext cx="1075944" cy="3121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6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278" name="ddr-S-to-arb-0"/>
          <p:cNvCxnSpPr/>
          <p:nvPr/>
        </p:nvCxnSpPr>
        <p:spPr>
          <a:xfrm>
            <a:off x="18206720" y="11216640"/>
            <a:ext cx="0" cy="24384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279" name="ddr-S1"/>
          <p:cNvSpPr/>
          <p:nvPr/>
        </p:nvSpPr>
        <p:spPr>
          <a:xfrm>
            <a:off x="19994880" y="10403840"/>
            <a:ext cx="1788160" cy="8128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object-280: S1"/>
          <p:cNvSpPr txBox="1"/>
          <p:nvPr/>
        </p:nvSpPr>
        <p:spPr>
          <a:xfrm>
            <a:off x="20618444" y="10465613"/>
            <a:ext cx="541033" cy="3901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281" name="object-281: NPU / GB 搬运"/>
          <p:cNvSpPr txBox="1"/>
          <p:nvPr/>
        </p:nvSpPr>
        <p:spPr>
          <a:xfrm>
            <a:off x="20152011" y="10827146"/>
            <a:ext cx="1473898" cy="3121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6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282" name="ddr-S-to-arb-1"/>
          <p:cNvCxnSpPr/>
          <p:nvPr/>
        </p:nvCxnSpPr>
        <p:spPr>
          <a:xfrm>
            <a:off x="20888960" y="11216640"/>
            <a:ext cx="0" cy="24384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283" name="ddr-S2"/>
          <p:cNvSpPr/>
          <p:nvPr/>
        </p:nvSpPr>
        <p:spPr>
          <a:xfrm>
            <a:off x="22677120" y="10403840"/>
            <a:ext cx="1788160" cy="8128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object-284: S2"/>
          <p:cNvSpPr txBox="1"/>
          <p:nvPr/>
        </p:nvSpPr>
        <p:spPr>
          <a:xfrm>
            <a:off x="23300684" y="10465613"/>
            <a:ext cx="541033" cy="3901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285" name="object-285: 图像帧写入"/>
          <p:cNvSpPr txBox="1"/>
          <p:nvPr/>
        </p:nvSpPr>
        <p:spPr>
          <a:xfrm>
            <a:off x="22985984" y="10827146"/>
            <a:ext cx="1170432" cy="3121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6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286" name="ddr-S-to-arb-2"/>
          <p:cNvCxnSpPr/>
          <p:nvPr/>
        </p:nvCxnSpPr>
        <p:spPr>
          <a:xfrm>
            <a:off x="23571200" y="11216640"/>
            <a:ext cx="0" cy="24384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287" name="ddr-port-collect"/>
          <p:cNvCxnSpPr/>
          <p:nvPr/>
        </p:nvCxnSpPr>
        <p:spPr>
          <a:xfrm>
            <a:off x="18206720" y="11460480"/>
            <a:ext cx="536448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288" name="ddr-all-to-arbiter"/>
          <p:cNvCxnSpPr/>
          <p:nvPr/>
        </p:nvCxnSpPr>
        <p:spPr>
          <a:xfrm>
            <a:off x="18694400" y="11460480"/>
            <a:ext cx="0" cy="48768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289" name="ddr-scheduler"/>
          <p:cNvSpPr/>
          <p:nvPr/>
        </p:nvSpPr>
        <p:spPr>
          <a:xfrm>
            <a:off x="17475200" y="11948160"/>
            <a:ext cx="7274560" cy="10972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object-290: 端口仲裁 / QoS"/>
          <p:cNvSpPr txBox="1"/>
          <p:nvPr/>
        </p:nvSpPr>
        <p:spPr>
          <a:xfrm>
            <a:off x="17823529" y="12101292"/>
            <a:ext cx="1741742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291" name="object-291: 共享 DDR 带宽"/>
          <p:cNvSpPr txBox="1"/>
          <p:nvPr/>
        </p:nvSpPr>
        <p:spPr>
          <a:xfrm>
            <a:off x="17959260" y="12444618"/>
            <a:ext cx="1470279" cy="3121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6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292" name="ddr-schedule-step-0"/>
          <p:cNvCxnSpPr/>
          <p:nvPr/>
        </p:nvCxnSpPr>
        <p:spPr>
          <a:xfrm>
            <a:off x="19734784" y="12435840"/>
            <a:ext cx="300736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293" name="object-293: 读写调度"/>
          <p:cNvSpPr txBox="1"/>
          <p:nvPr/>
        </p:nvSpPr>
        <p:spPr>
          <a:xfrm>
            <a:off x="20559776" y="12101292"/>
            <a:ext cx="1097280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294" name="object-294: Bank / Row"/>
          <p:cNvSpPr txBox="1"/>
          <p:nvPr/>
        </p:nvSpPr>
        <p:spPr>
          <a:xfrm>
            <a:off x="20510151" y="12444618"/>
            <a:ext cx="1196530" cy="3121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6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295" name="ddr-schedule-step-1"/>
          <p:cNvCxnSpPr/>
          <p:nvPr/>
        </p:nvCxnSpPr>
        <p:spPr>
          <a:xfrm>
            <a:off x="22148800" y="12435840"/>
            <a:ext cx="300736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296" name="object-296: 命令调度"/>
          <p:cNvSpPr txBox="1"/>
          <p:nvPr/>
        </p:nvSpPr>
        <p:spPr>
          <a:xfrm>
            <a:off x="22973792" y="12101292"/>
            <a:ext cx="1097280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297" name="object-297: 控制器 → PHY"/>
          <p:cNvSpPr txBox="1"/>
          <p:nvPr/>
        </p:nvSpPr>
        <p:spPr>
          <a:xfrm>
            <a:off x="22802818" y="12444618"/>
            <a:ext cx="1439228" cy="3121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6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298" name="object-298: 共享同一 DDR 地址空间"/>
          <p:cNvSpPr txBox="1"/>
          <p:nvPr/>
        </p:nvSpPr>
        <p:spPr>
          <a:xfrm>
            <a:off x="20867205" y="11583700"/>
            <a:ext cx="2156790" cy="2991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299" name="ddr-phy"/>
          <p:cNvSpPr/>
          <p:nvPr/>
        </p:nvSpPr>
        <p:spPr>
          <a:xfrm>
            <a:off x="25440640" y="11923776"/>
            <a:ext cx="1625600" cy="1137920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" name="object-300: DDR PHY"/>
          <p:cNvSpPr txBox="1"/>
          <p:nvPr/>
        </p:nvSpPr>
        <p:spPr>
          <a:xfrm>
            <a:off x="25682683" y="11978721"/>
            <a:ext cx="1141514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301" name="object-301: 训练 / 校准"/>
          <p:cNvSpPr txBox="1"/>
          <p:nvPr/>
        </p:nvSpPr>
        <p:spPr>
          <a:xfrm>
            <a:off x="25631731" y="12297664"/>
            <a:ext cx="1243419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302" name="cfg-tag-C3-301"/>
          <p:cNvSpPr/>
          <p:nvPr/>
        </p:nvSpPr>
        <p:spPr>
          <a:xfrm>
            <a:off x="26562304" y="12736576"/>
            <a:ext cx="382016" cy="235712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3" name="object-303: C3"/>
          <p:cNvSpPr txBox="1"/>
          <p:nvPr/>
        </p:nvSpPr>
        <p:spPr>
          <a:xfrm>
            <a:off x="26572972" y="12739827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304" name="ddr-phy-path"/>
          <p:cNvCxnSpPr/>
          <p:nvPr/>
        </p:nvCxnSpPr>
        <p:spPr>
          <a:xfrm>
            <a:off x="24749760" y="12435840"/>
            <a:ext cx="690880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305" name="dram"/>
          <p:cNvSpPr/>
          <p:nvPr/>
        </p:nvSpPr>
        <p:spPr>
          <a:xfrm>
            <a:off x="27797760" y="11923776"/>
            <a:ext cx="1219200" cy="1137920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6" name="object-306: DDR"/>
          <p:cNvSpPr txBox="1"/>
          <p:nvPr/>
        </p:nvSpPr>
        <p:spPr>
          <a:xfrm>
            <a:off x="28037282" y="11952387"/>
            <a:ext cx="740156" cy="40314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8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307" name="object-307: 片外器件"/>
          <p:cNvSpPr txBox="1"/>
          <p:nvPr/>
        </p:nvSpPr>
        <p:spPr>
          <a:xfrm>
            <a:off x="27899360" y="12297664"/>
            <a:ext cx="1016000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308" name="phy-dram"/>
          <p:cNvCxnSpPr/>
          <p:nvPr/>
        </p:nvCxnSpPr>
        <p:spPr>
          <a:xfrm>
            <a:off x="27066240" y="12435840"/>
            <a:ext cx="73152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309" name="npu-ddr"/>
          <p:cNvSpPr/>
          <p:nvPr/>
        </p:nvSpPr>
        <p:spPr>
          <a:xfrm>
            <a:off x="17800320" y="4226560"/>
            <a:ext cx="7152640" cy="6177280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0" name="object-310: S1"/>
          <p:cNvSpPr txBox="1"/>
          <p:nvPr/>
        </p:nvSpPr>
        <p:spPr>
          <a:xfrm>
            <a:off x="24922607" y="7209536"/>
            <a:ext cx="450850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311" name="frame-ddr"/>
          <p:cNvSpPr/>
          <p:nvPr/>
        </p:nvSpPr>
        <p:spPr>
          <a:xfrm>
            <a:off x="23359872" y="4064000"/>
            <a:ext cx="2771648" cy="633984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2" name="object-312: S2"/>
          <p:cNvSpPr txBox="1"/>
          <p:nvPr/>
        </p:nvSpPr>
        <p:spPr>
          <a:xfrm>
            <a:off x="26109295" y="7209536"/>
            <a:ext cx="450850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313" name="llc-ddr"/>
          <p:cNvSpPr/>
          <p:nvPr/>
        </p:nvSpPr>
        <p:spPr>
          <a:xfrm>
            <a:off x="11379200" y="9460992"/>
            <a:ext cx="6827520" cy="942848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4" name="object-314: S0 · LLC 外存出口"/>
          <p:cNvSpPr txBox="1"/>
          <p:nvPr/>
        </p:nvSpPr>
        <p:spPr>
          <a:xfrm>
            <a:off x="13673582" y="9754250"/>
            <a:ext cx="1751076" cy="3121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6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外存出口</a:t>
            </a:r>
          </a:p>
        </p:txBody>
      </p:sp>
      <p:sp>
        <p:nvSpPr>
          <p:cNvPr id="315" name="clock-reset"/>
          <p:cNvSpPr/>
          <p:nvPr/>
        </p:nvSpPr>
        <p:spPr>
          <a:xfrm>
            <a:off x="17475200" y="13655040"/>
            <a:ext cx="4267200" cy="601472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6" name="object-316: PLL / 时钟与复位分发"/>
          <p:cNvSpPr txBox="1"/>
          <p:nvPr/>
        </p:nvSpPr>
        <p:spPr>
          <a:xfrm>
            <a:off x="18393639" y="13709985"/>
            <a:ext cx="2430323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317" name="cfg-tag-C1-316"/>
          <p:cNvSpPr/>
          <p:nvPr/>
        </p:nvSpPr>
        <p:spPr>
          <a:xfrm>
            <a:off x="21165312" y="13825728"/>
            <a:ext cx="382016" cy="235712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8" name="object-318: C1"/>
          <p:cNvSpPr txBox="1"/>
          <p:nvPr/>
        </p:nvSpPr>
        <p:spPr>
          <a:xfrm>
            <a:off x="21175980" y="13828979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319" name="object-319: RefClk / POR → clk_i / rst_ni"/>
          <p:cNvSpPr txBox="1"/>
          <p:nvPr/>
        </p:nvSpPr>
        <p:spPr>
          <a:xfrm>
            <a:off x="21875826" y="13809472"/>
            <a:ext cx="2821788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320" name="regext-control-bus"/>
          <p:cNvSpPr/>
          <p:nvPr/>
        </p:nvSpPr>
        <p:spPr>
          <a:xfrm>
            <a:off x="16012160" y="13370560"/>
            <a:ext cx="650240" cy="109728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1" name="config-bus"/>
          <p:cNvCxnSpPr/>
          <p:nvPr/>
        </p:nvCxnSpPr>
        <p:spPr>
          <a:xfrm>
            <a:off x="2153920" y="14467840"/>
            <a:ext cx="23815040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322" name="cfg-drop-0"/>
          <p:cNvCxnSpPr/>
          <p:nvPr/>
        </p:nvCxnSpPr>
        <p:spPr>
          <a:xfrm>
            <a:off x="2113280" y="14467840"/>
            <a:ext cx="0" cy="20320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323" name="config-C1"/>
          <p:cNvSpPr/>
          <p:nvPr/>
        </p:nvSpPr>
        <p:spPr>
          <a:xfrm>
            <a:off x="772160" y="14671040"/>
            <a:ext cx="2722880" cy="812800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4" name="cfg-tag-C1-323"/>
          <p:cNvSpPr/>
          <p:nvPr/>
        </p:nvSpPr>
        <p:spPr>
          <a:xfrm>
            <a:off x="837184" y="14744192"/>
            <a:ext cx="382016" cy="235712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5" name="object-325: C1"/>
          <p:cNvSpPr txBox="1"/>
          <p:nvPr/>
        </p:nvSpPr>
        <p:spPr>
          <a:xfrm>
            <a:off x="847852" y="14747443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326" name="object-326: PLL / 时钟复位"/>
          <p:cNvSpPr txBox="1"/>
          <p:nvPr/>
        </p:nvSpPr>
        <p:spPr>
          <a:xfrm>
            <a:off x="1536319" y="14776704"/>
            <a:ext cx="1560322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327" name="object-327: 配置 / 锁定 / 切换"/>
          <p:cNvSpPr txBox="1"/>
          <p:nvPr/>
        </p:nvSpPr>
        <p:spPr>
          <a:xfrm>
            <a:off x="1266012" y="15111252"/>
            <a:ext cx="1727048" cy="2991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328" name="cfg-drop-1"/>
          <p:cNvCxnSpPr/>
          <p:nvPr/>
        </p:nvCxnSpPr>
        <p:spPr>
          <a:xfrm>
            <a:off x="5080000" y="14467840"/>
            <a:ext cx="0" cy="20320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329" name="config-C2"/>
          <p:cNvSpPr/>
          <p:nvPr/>
        </p:nvSpPr>
        <p:spPr>
          <a:xfrm>
            <a:off x="3738880" y="14671040"/>
            <a:ext cx="2722880" cy="812800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0" name="cfg-tag-C2-329"/>
          <p:cNvSpPr/>
          <p:nvPr/>
        </p:nvSpPr>
        <p:spPr>
          <a:xfrm>
            <a:off x="3803904" y="14744192"/>
            <a:ext cx="382016" cy="235712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1" name="object-331: C2"/>
          <p:cNvSpPr txBox="1"/>
          <p:nvPr/>
        </p:nvSpPr>
        <p:spPr>
          <a:xfrm>
            <a:off x="3814572" y="14747443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332" name="object-332: DDR Controller"/>
          <p:cNvSpPr txBox="1"/>
          <p:nvPr/>
        </p:nvSpPr>
        <p:spPr>
          <a:xfrm>
            <a:off x="4526369" y="14776704"/>
            <a:ext cx="1513662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333" name="object-333: 初始化 / QoS / 状态"/>
          <p:cNvSpPr txBox="1"/>
          <p:nvPr/>
        </p:nvSpPr>
        <p:spPr>
          <a:xfrm>
            <a:off x="4156329" y="15111252"/>
            <a:ext cx="1879854" cy="2991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334" name="cfg-drop-2"/>
          <p:cNvCxnSpPr/>
          <p:nvPr/>
        </p:nvCxnSpPr>
        <p:spPr>
          <a:xfrm>
            <a:off x="8046720" y="14467840"/>
            <a:ext cx="0" cy="20320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335" name="config-C3"/>
          <p:cNvSpPr/>
          <p:nvPr/>
        </p:nvSpPr>
        <p:spPr>
          <a:xfrm>
            <a:off x="6705600" y="14671040"/>
            <a:ext cx="2722880" cy="812800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6" name="cfg-tag-C3-335"/>
          <p:cNvSpPr/>
          <p:nvPr/>
        </p:nvSpPr>
        <p:spPr>
          <a:xfrm>
            <a:off x="6770624" y="14744192"/>
            <a:ext cx="382016" cy="235712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7" name="object-337: C3"/>
          <p:cNvSpPr txBox="1"/>
          <p:nvPr/>
        </p:nvSpPr>
        <p:spPr>
          <a:xfrm>
            <a:off x="6781292" y="14747443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338" name="object-338: DDR PHY"/>
          <p:cNvSpPr txBox="1"/>
          <p:nvPr/>
        </p:nvSpPr>
        <p:spPr>
          <a:xfrm>
            <a:off x="7740332" y="14776704"/>
            <a:ext cx="1019175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339" name="object-339: training / 校准"/>
          <p:cNvSpPr txBox="1"/>
          <p:nvPr/>
        </p:nvSpPr>
        <p:spPr>
          <a:xfrm>
            <a:off x="7375620" y="15111252"/>
            <a:ext cx="1374712" cy="2991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340" name="cfg-drop-3"/>
          <p:cNvCxnSpPr/>
          <p:nvPr/>
        </p:nvCxnSpPr>
        <p:spPr>
          <a:xfrm>
            <a:off x="11013440" y="14467840"/>
            <a:ext cx="0" cy="20320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341" name="config-C4"/>
          <p:cNvSpPr/>
          <p:nvPr/>
        </p:nvSpPr>
        <p:spPr>
          <a:xfrm>
            <a:off x="9672320" y="14671040"/>
            <a:ext cx="2722880" cy="812800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2" name="cfg-tag-C4-341"/>
          <p:cNvSpPr/>
          <p:nvPr/>
        </p:nvSpPr>
        <p:spPr>
          <a:xfrm>
            <a:off x="9737344" y="14744192"/>
            <a:ext cx="382016" cy="235712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3" name="object-343: C4"/>
          <p:cNvSpPr txBox="1"/>
          <p:nvPr/>
        </p:nvSpPr>
        <p:spPr>
          <a:xfrm>
            <a:off x="9748012" y="14747443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344" name="object-344: LVDS"/>
          <p:cNvSpPr txBox="1"/>
          <p:nvPr/>
        </p:nvSpPr>
        <p:spPr>
          <a:xfrm>
            <a:off x="10877512" y="14776704"/>
            <a:ext cx="678256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345" name="object-345: 通道 / 对齐 / 帧行"/>
          <p:cNvSpPr txBox="1"/>
          <p:nvPr/>
        </p:nvSpPr>
        <p:spPr>
          <a:xfrm>
            <a:off x="10166172" y="15111252"/>
            <a:ext cx="1727048" cy="2991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346" name="cfg-drop-4"/>
          <p:cNvCxnSpPr/>
          <p:nvPr/>
        </p:nvCxnSpPr>
        <p:spPr>
          <a:xfrm>
            <a:off x="13980160" y="14467840"/>
            <a:ext cx="0" cy="20320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347" name="config-C5"/>
          <p:cNvSpPr/>
          <p:nvPr/>
        </p:nvSpPr>
        <p:spPr>
          <a:xfrm>
            <a:off x="12639040" y="14671040"/>
            <a:ext cx="2722880" cy="812800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8" name="cfg-tag-C5-347"/>
          <p:cNvSpPr/>
          <p:nvPr/>
        </p:nvSpPr>
        <p:spPr>
          <a:xfrm>
            <a:off x="12704064" y="14744192"/>
            <a:ext cx="382016" cy="235712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9" name="object-349: C5"/>
          <p:cNvSpPr txBox="1"/>
          <p:nvPr/>
        </p:nvSpPr>
        <p:spPr>
          <a:xfrm>
            <a:off x="12714732" y="14747443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350" name="object-350: ISP"/>
          <p:cNvSpPr txBox="1"/>
          <p:nvPr/>
        </p:nvSpPr>
        <p:spPr>
          <a:xfrm>
            <a:off x="13935615" y="14776704"/>
            <a:ext cx="495490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351" name="object-351: 尺寸 / 模式 / 参数"/>
          <p:cNvSpPr txBox="1"/>
          <p:nvPr/>
        </p:nvSpPr>
        <p:spPr>
          <a:xfrm>
            <a:off x="13132892" y="15111252"/>
            <a:ext cx="1727048" cy="2991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352" name="cfg-drop-5"/>
          <p:cNvCxnSpPr/>
          <p:nvPr/>
        </p:nvCxnSpPr>
        <p:spPr>
          <a:xfrm>
            <a:off x="16946880" y="14467840"/>
            <a:ext cx="0" cy="20320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353" name="config-C6"/>
          <p:cNvSpPr/>
          <p:nvPr/>
        </p:nvSpPr>
        <p:spPr>
          <a:xfrm>
            <a:off x="15605760" y="14671040"/>
            <a:ext cx="2722880" cy="812800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4" name="cfg-tag-C6-353"/>
          <p:cNvSpPr/>
          <p:nvPr/>
        </p:nvSpPr>
        <p:spPr>
          <a:xfrm>
            <a:off x="15670784" y="14744192"/>
            <a:ext cx="382016" cy="235712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5" name="object-355: C6"/>
          <p:cNvSpPr txBox="1"/>
          <p:nvPr/>
        </p:nvSpPr>
        <p:spPr>
          <a:xfrm>
            <a:off x="15681452" y="14747443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356" name="object-356: NPU 计算"/>
          <p:cNvSpPr txBox="1"/>
          <p:nvPr/>
        </p:nvSpPr>
        <p:spPr>
          <a:xfrm>
            <a:off x="16626008" y="14776704"/>
            <a:ext cx="1048144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357" name="object-357: 命令 / GB 数据位置"/>
          <p:cNvSpPr txBox="1"/>
          <p:nvPr/>
        </p:nvSpPr>
        <p:spPr>
          <a:xfrm>
            <a:off x="16056712" y="15111252"/>
            <a:ext cx="1812849" cy="2991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358" name="cfg-drop-6"/>
          <p:cNvCxnSpPr/>
          <p:nvPr/>
        </p:nvCxnSpPr>
        <p:spPr>
          <a:xfrm>
            <a:off x="19913600" y="14467840"/>
            <a:ext cx="0" cy="20320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359" name="config-C7"/>
          <p:cNvSpPr/>
          <p:nvPr/>
        </p:nvSpPr>
        <p:spPr>
          <a:xfrm>
            <a:off x="18572480" y="14671040"/>
            <a:ext cx="2722880" cy="812800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0" name="cfg-tag-C7-359"/>
          <p:cNvSpPr/>
          <p:nvPr/>
        </p:nvSpPr>
        <p:spPr>
          <a:xfrm>
            <a:off x="18637504" y="14744192"/>
            <a:ext cx="382016" cy="235712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1" name="object-361: C7"/>
          <p:cNvSpPr txBox="1"/>
          <p:nvPr/>
        </p:nvSpPr>
        <p:spPr>
          <a:xfrm>
            <a:off x="18648172" y="14747443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362" name="object-362: NPU / GB 搬运"/>
          <p:cNvSpPr txBox="1"/>
          <p:nvPr/>
        </p:nvSpPr>
        <p:spPr>
          <a:xfrm>
            <a:off x="19349142" y="14776704"/>
            <a:ext cx="1535316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363" name="object-363: 地址 / 长度 / stride"/>
          <p:cNvSpPr txBox="1"/>
          <p:nvPr/>
        </p:nvSpPr>
        <p:spPr>
          <a:xfrm>
            <a:off x="19021870" y="15111252"/>
            <a:ext cx="1815973" cy="2991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364" name="cfg-drop-7"/>
          <p:cNvCxnSpPr/>
          <p:nvPr/>
        </p:nvCxnSpPr>
        <p:spPr>
          <a:xfrm>
            <a:off x="22880320" y="14467840"/>
            <a:ext cx="0" cy="20320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365" name="config-C8"/>
          <p:cNvSpPr/>
          <p:nvPr/>
        </p:nvSpPr>
        <p:spPr>
          <a:xfrm>
            <a:off x="21539200" y="14671040"/>
            <a:ext cx="2722880" cy="812800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6" name="cfg-tag-C8-365"/>
          <p:cNvSpPr/>
          <p:nvPr/>
        </p:nvSpPr>
        <p:spPr>
          <a:xfrm>
            <a:off x="21604224" y="14744192"/>
            <a:ext cx="382016" cy="235712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7" name="object-367: C8"/>
          <p:cNvSpPr txBox="1"/>
          <p:nvPr/>
        </p:nvSpPr>
        <p:spPr>
          <a:xfrm>
            <a:off x="21614892" y="14747443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368" name="object-368: 帧写入 DMA"/>
          <p:cNvSpPr txBox="1"/>
          <p:nvPr/>
        </p:nvSpPr>
        <p:spPr>
          <a:xfrm>
            <a:off x="22439592" y="14776704"/>
            <a:ext cx="1287856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369" name="object-369: 缓冲区 / 格式 / 帧状态"/>
          <p:cNvSpPr txBox="1"/>
          <p:nvPr/>
        </p:nvSpPr>
        <p:spPr>
          <a:xfrm>
            <a:off x="21846108" y="15111252"/>
            <a:ext cx="2100936" cy="2991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370" name="cfg-drop-8"/>
          <p:cNvCxnSpPr/>
          <p:nvPr/>
        </p:nvCxnSpPr>
        <p:spPr>
          <a:xfrm>
            <a:off x="25847040" y="14467840"/>
            <a:ext cx="0" cy="20320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371" name="config-C9"/>
          <p:cNvSpPr/>
          <p:nvPr/>
        </p:nvSpPr>
        <p:spPr>
          <a:xfrm>
            <a:off x="24505920" y="14671040"/>
            <a:ext cx="2722880" cy="812800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2" name="cfg-tag-C9-371"/>
          <p:cNvSpPr/>
          <p:nvPr/>
        </p:nvSpPr>
        <p:spPr>
          <a:xfrm>
            <a:off x="24570944" y="14744192"/>
            <a:ext cx="382016" cy="235712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3" name="object-373: C9"/>
          <p:cNvSpPr txBox="1"/>
          <p:nvPr/>
        </p:nvSpPr>
        <p:spPr>
          <a:xfrm>
            <a:off x="24581612" y="14747443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374" name="object-374: GB 管理"/>
          <p:cNvSpPr txBox="1"/>
          <p:nvPr/>
        </p:nvSpPr>
        <p:spPr>
          <a:xfrm>
            <a:off x="25585102" y="14776704"/>
            <a:ext cx="930275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管理</a:t>
            </a:r>
          </a:p>
        </p:txBody>
      </p:sp>
      <p:sp>
        <p:nvSpPr>
          <p:cNvPr id="375" name="object-375: 能力 / bank / 错误"/>
          <p:cNvSpPr txBox="1"/>
          <p:nvPr/>
        </p:nvSpPr>
        <p:spPr>
          <a:xfrm>
            <a:off x="24988818" y="15111252"/>
            <a:ext cx="1748955" cy="2991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376" name="legend-314D66"/>
          <p:cNvCxnSpPr/>
          <p:nvPr/>
        </p:nvCxnSpPr>
        <p:spPr>
          <a:xfrm>
            <a:off x="650240" y="16012160"/>
            <a:ext cx="536448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377" name="object-377: AXI 请求 / 数据"/>
          <p:cNvSpPr txBox="1"/>
          <p:nvPr/>
        </p:nvSpPr>
        <p:spPr>
          <a:xfrm>
            <a:off x="1316736" y="15857728"/>
            <a:ext cx="1580363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 / 数据</a:t>
            </a:r>
          </a:p>
        </p:txBody>
      </p:sp>
      <p:cxnSp>
        <p:nvCxnSpPr>
          <p:cNvPr id="378" name="legend-187C78"/>
          <p:cNvCxnSpPr/>
          <p:nvPr/>
        </p:nvCxnSpPr>
        <p:spPr>
          <a:xfrm>
            <a:off x="4389120" y="16012160"/>
            <a:ext cx="536448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379" name="object-379: GB 读写"/>
          <p:cNvSpPr txBox="1"/>
          <p:nvPr/>
        </p:nvSpPr>
        <p:spPr>
          <a:xfrm>
            <a:off x="5055616" y="15857728"/>
            <a:ext cx="930275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读写</a:t>
            </a:r>
          </a:p>
        </p:txBody>
      </p:sp>
      <p:cxnSp>
        <p:nvCxnSpPr>
          <p:cNvPr id="380" name="legend-B96043"/>
          <p:cNvCxnSpPr/>
          <p:nvPr/>
        </p:nvCxnSpPr>
        <p:spPr>
          <a:xfrm>
            <a:off x="7355840" y="16012160"/>
            <a:ext cx="536448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381" name="object-381: 像素流"/>
          <p:cNvSpPr txBox="1"/>
          <p:nvPr/>
        </p:nvSpPr>
        <p:spPr>
          <a:xfrm>
            <a:off x="8022336" y="15857728"/>
            <a:ext cx="812800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cxnSp>
        <p:nvCxnSpPr>
          <p:cNvPr id="382" name="legend-765489"/>
          <p:cNvCxnSpPr/>
          <p:nvPr/>
        </p:nvCxnSpPr>
        <p:spPr>
          <a:xfrm>
            <a:off x="10078720" y="16012160"/>
            <a:ext cx="536448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383" name="object-383: 配置 / 控制"/>
          <p:cNvSpPr txBox="1"/>
          <p:nvPr/>
        </p:nvSpPr>
        <p:spPr>
          <a:xfrm>
            <a:off x="10745216" y="15857728"/>
            <a:ext cx="1243419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384" name="legend-dash"/>
          <p:cNvSpPr/>
          <p:nvPr/>
        </p:nvSpPr>
        <p:spPr>
          <a:xfrm>
            <a:off x="13736320" y="15898368"/>
            <a:ext cx="438912" cy="211328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5" name="object-385: 虚线：可选或新增候选"/>
          <p:cNvSpPr txBox="1"/>
          <p:nvPr/>
        </p:nvSpPr>
        <p:spPr>
          <a:xfrm>
            <a:off x="14305280" y="15857728"/>
            <a:ext cx="2235200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</a:p>
        </p:txBody>
      </p:sp>
      <p:sp>
        <p:nvSpPr>
          <p:cNvPr id="386" name="object-386: C1–C9：同一 IP 配置端"/>
          <p:cNvSpPr txBox="1"/>
          <p:nvPr/>
        </p:nvSpPr>
        <p:spPr>
          <a:xfrm>
            <a:off x="19669760" y="15857728"/>
            <a:ext cx="2318944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C1–C9：同一 IP 配置端</a:t>
            </a:r>
          </a:p>
        </p:txBody>
      </p:sp>
      <p:sp>
        <p:nvSpPr>
          <p:cNvPr id="387" name="object-387: AXI 返回通道合并示意"/>
          <p:cNvSpPr txBox="1"/>
          <p:nvPr/>
        </p:nvSpPr>
        <p:spPr>
          <a:xfrm>
            <a:off x="25398870" y="15875284"/>
            <a:ext cx="1992490" cy="2991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AXI 返回通道合并示意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