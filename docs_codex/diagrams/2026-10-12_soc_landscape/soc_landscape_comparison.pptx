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29260800" cy="16459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-002: Cheshire + CVA6 + Ara  |  SoC 扩展架构"/>
          <p:cNvSpPr txBox="1"/>
          <p:nvPr/>
        </p:nvSpPr>
        <p:spPr>
          <a:xfrm>
            <a:off x="406400" y="132649"/>
            <a:ext cx="6933387" cy="5982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Cheshire + CVA6 + Ara  |  SoC 扩展架构</a:t>
            </a:r>
          </a:p>
        </p:txBody>
      </p:sp>
      <p:sp>
        <p:nvSpPr>
          <p:cNvPr id="3" name="object-003: 工业框图版 · 2026-10-12"/>
          <p:cNvSpPr txBox="1"/>
          <p:nvPr/>
        </p:nvSpPr>
        <p:spPr>
          <a:xfrm>
            <a:off x="24742546" y="316992"/>
            <a:ext cx="248625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工业框图版 · 2026-10-12</a:t>
            </a:r>
          </a:p>
        </p:txBody>
      </p:sp>
      <p:sp>
        <p:nvSpPr>
          <p:cNvPr id="4" name="soc-boundary"/>
          <p:cNvSpPr/>
          <p:nvPr/>
        </p:nvSpPr>
        <p:spPr>
          <a:xfrm>
            <a:off x="365760" y="853440"/>
            <a:ext cx="27025600" cy="14833600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bject-005: SoC"/>
          <p:cNvSpPr txBox="1"/>
          <p:nvPr/>
        </p:nvSpPr>
        <p:spPr>
          <a:xfrm>
            <a:off x="26131609" y="941548"/>
            <a:ext cx="609511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</a:p>
        </p:txBody>
      </p:sp>
      <p:sp>
        <p:nvSpPr>
          <p:cNvPr id="6" name="cpu-platform"/>
          <p:cNvSpPr/>
          <p:nvPr/>
        </p:nvSpPr>
        <p:spPr>
          <a:xfrm>
            <a:off x="772160" y="1422400"/>
            <a:ext cx="7599680" cy="3454400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bject-007: CVA6–Ara 计算平台"/>
          <p:cNvSpPr txBox="1"/>
          <p:nvPr/>
        </p:nvSpPr>
        <p:spPr>
          <a:xfrm>
            <a:off x="3318002" y="1458488"/>
            <a:ext cx="2499868" cy="4161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4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8" name="cva6"/>
          <p:cNvSpPr/>
          <p:nvPr/>
        </p:nvSpPr>
        <p:spPr>
          <a:xfrm>
            <a:off x="975360" y="2072640"/>
            <a:ext cx="2032000" cy="174752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bject-009: CVA6 core 0"/>
          <p:cNvSpPr txBox="1"/>
          <p:nvPr/>
        </p:nvSpPr>
        <p:spPr>
          <a:xfrm>
            <a:off x="1235424" y="2118807"/>
            <a:ext cx="1511872" cy="3771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0" name="object-010: L1 I / D cache"/>
          <p:cNvSpPr txBox="1"/>
          <p:nvPr/>
        </p:nvSpPr>
        <p:spPr>
          <a:xfrm>
            <a:off x="1248302" y="2446528"/>
            <a:ext cx="1486116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1" name="object-011: MMU · AXI 适配"/>
          <p:cNvSpPr txBox="1"/>
          <p:nvPr/>
        </p:nvSpPr>
        <p:spPr>
          <a:xfrm>
            <a:off x="1201388" y="2706624"/>
            <a:ext cx="157994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适配</a:t>
            </a:r>
          </a:p>
        </p:txBody>
      </p:sp>
      <p:sp>
        <p:nvSpPr>
          <p:cNvPr id="12" name="ara-core"/>
          <p:cNvSpPr/>
          <p:nvPr/>
        </p:nvSpPr>
        <p:spPr>
          <a:xfrm>
            <a:off x="3413760" y="2072640"/>
            <a:ext cx="4714240" cy="10160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bject-013: Ara 向量处理器"/>
          <p:cNvSpPr txBox="1"/>
          <p:nvPr/>
        </p:nvSpPr>
        <p:spPr>
          <a:xfrm>
            <a:off x="4861293" y="2118807"/>
            <a:ext cx="1819173" cy="3771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4" name="object-014: VLSU / AXI：32 × lanes bit"/>
          <p:cNvSpPr txBox="1"/>
          <p:nvPr/>
        </p:nvSpPr>
        <p:spPr>
          <a:xfrm>
            <a:off x="4453350" y="2446528"/>
            <a:ext cx="263506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15" name="cva6-ara-control"/>
          <p:cNvCxnSpPr/>
          <p:nvPr/>
        </p:nvCxnSpPr>
        <p:spPr>
          <a:xfrm>
            <a:off x="3007360" y="2560320"/>
            <a:ext cx="406400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6" name="object-016: 指令 / MMU"/>
          <p:cNvSpPr txBox="1"/>
          <p:nvPr/>
        </p:nvSpPr>
        <p:spPr>
          <a:xfrm>
            <a:off x="2724696" y="1824573"/>
            <a:ext cx="987984" cy="2470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6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7" name="ara-filter"/>
          <p:cNvSpPr/>
          <p:nvPr/>
        </p:nvSpPr>
        <p:spPr>
          <a:xfrm>
            <a:off x="3576320" y="3454400"/>
            <a:ext cx="1544320" cy="699008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bject-018: 失效过滤"/>
          <p:cNvSpPr txBox="1"/>
          <p:nvPr/>
        </p:nvSpPr>
        <p:spPr>
          <a:xfrm>
            <a:off x="3840480" y="3535680"/>
            <a:ext cx="10160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9" name="object-019: 现有 filter"/>
          <p:cNvSpPr txBox="1"/>
          <p:nvPr/>
        </p:nvSpPr>
        <p:spPr>
          <a:xfrm>
            <a:off x="3814489" y="3828288"/>
            <a:ext cx="1067981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20" name="ara-split"/>
          <p:cNvSpPr/>
          <p:nvPr/>
        </p:nvSpPr>
        <p:spPr>
          <a:xfrm>
            <a:off x="5405120" y="3454400"/>
            <a:ext cx="1219200" cy="699008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bject-021: 地址分流"/>
          <p:cNvSpPr txBox="1"/>
          <p:nvPr/>
        </p:nvSpPr>
        <p:spPr>
          <a:xfrm>
            <a:off x="5506720" y="3535680"/>
            <a:ext cx="10160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22" name="object-022: GB 候选"/>
          <p:cNvSpPr txBox="1"/>
          <p:nvPr/>
        </p:nvSpPr>
        <p:spPr>
          <a:xfrm>
            <a:off x="5549582" y="3828288"/>
            <a:ext cx="930275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23" name="ara-width"/>
          <p:cNvSpPr/>
          <p:nvPr/>
        </p:nvSpPr>
        <p:spPr>
          <a:xfrm>
            <a:off x="6908800" y="3454400"/>
            <a:ext cx="1219200" cy="699008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bject-024: 位宽适配"/>
          <p:cNvSpPr txBox="1"/>
          <p:nvPr/>
        </p:nvSpPr>
        <p:spPr>
          <a:xfrm>
            <a:off x="7010400" y="3535680"/>
            <a:ext cx="10160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25" name="object-025: → 64 bit"/>
          <p:cNvSpPr txBox="1"/>
          <p:nvPr/>
        </p:nvSpPr>
        <p:spPr>
          <a:xfrm>
            <a:off x="7020916" y="3828288"/>
            <a:ext cx="99496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26" name="vlsu-filter"/>
          <p:cNvCxnSpPr/>
          <p:nvPr/>
        </p:nvCxnSpPr>
        <p:spPr>
          <a:xfrm>
            <a:off x="4348480" y="3088640"/>
            <a:ext cx="0" cy="36576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27" name="filter-split"/>
          <p:cNvCxnSpPr/>
          <p:nvPr/>
        </p:nvCxnSpPr>
        <p:spPr>
          <a:xfrm>
            <a:off x="5120640" y="3803904"/>
            <a:ext cx="28448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28" name="split-width"/>
          <p:cNvCxnSpPr/>
          <p:nvPr/>
        </p:nvCxnSpPr>
        <p:spPr>
          <a:xfrm>
            <a:off x="6624320" y="3803904"/>
            <a:ext cx="28448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9" name="npu-subsystem"/>
          <p:cNvSpPr/>
          <p:nvPr/>
        </p:nvSpPr>
        <p:spPr>
          <a:xfrm>
            <a:off x="8818880" y="1422400"/>
            <a:ext cx="9225280" cy="3454400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bject-030: NPU / 独立 Global Buffer 子系统"/>
          <p:cNvSpPr txBox="1"/>
          <p:nvPr/>
        </p:nvSpPr>
        <p:spPr>
          <a:xfrm>
            <a:off x="11444478" y="1458488"/>
            <a:ext cx="3965956" cy="4161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4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1" name="npu-compute"/>
          <p:cNvSpPr/>
          <p:nvPr/>
        </p:nvSpPr>
        <p:spPr>
          <a:xfrm>
            <a:off x="9022080" y="2072640"/>
            <a:ext cx="2194560" cy="1422400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bject-032: NPU 计算引擎"/>
          <p:cNvSpPr txBox="1"/>
          <p:nvPr/>
        </p:nvSpPr>
        <p:spPr>
          <a:xfrm>
            <a:off x="9275724" y="2118807"/>
            <a:ext cx="1687271" cy="3771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3" name="object-033: GB 数据读写"/>
          <p:cNvSpPr txBox="1"/>
          <p:nvPr/>
        </p:nvSpPr>
        <p:spPr>
          <a:xfrm>
            <a:off x="9451022" y="2446528"/>
            <a:ext cx="1336675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4" name="cfg-tag-C6-33"/>
          <p:cNvSpPr/>
          <p:nvPr/>
        </p:nvSpPr>
        <p:spPr>
          <a:xfrm>
            <a:off x="10728960" y="3129280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bject-035: C6"/>
          <p:cNvSpPr txBox="1"/>
          <p:nvPr/>
        </p:nvSpPr>
        <p:spPr>
          <a:xfrm>
            <a:off x="10739628" y="313253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6" name="gb-router"/>
          <p:cNvSpPr/>
          <p:nvPr/>
        </p:nvSpPr>
        <p:spPr>
          <a:xfrm>
            <a:off x="11501120" y="2682240"/>
            <a:ext cx="1869440" cy="19100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bject-037: GB 访问适配"/>
          <p:cNvSpPr txBox="1"/>
          <p:nvPr/>
        </p:nvSpPr>
        <p:spPr>
          <a:xfrm>
            <a:off x="11714029" y="2745964"/>
            <a:ext cx="1443622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8" name="object-038: 局部仲裁 / 路由"/>
          <p:cNvSpPr txBox="1"/>
          <p:nvPr/>
        </p:nvSpPr>
        <p:spPr>
          <a:xfrm>
            <a:off x="11610931" y="3056128"/>
            <a:ext cx="164981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9" name="object-039: bank 冲突处理"/>
          <p:cNvSpPr txBox="1"/>
          <p:nvPr/>
        </p:nvSpPr>
        <p:spPr>
          <a:xfrm>
            <a:off x="11682273" y="3316224"/>
            <a:ext cx="150713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40" name="global-buffer"/>
          <p:cNvSpPr/>
          <p:nvPr/>
        </p:nvSpPr>
        <p:spPr>
          <a:xfrm>
            <a:off x="13695680" y="2072640"/>
            <a:ext cx="4104640" cy="1381760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bject-041: Global Buffer"/>
          <p:cNvSpPr txBox="1"/>
          <p:nvPr/>
        </p:nvSpPr>
        <p:spPr>
          <a:xfrm>
            <a:off x="14880463" y="2092472"/>
            <a:ext cx="1735074" cy="4161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4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42" name="object-042: 独立 SRAM · 分 bank"/>
          <p:cNvSpPr txBox="1"/>
          <p:nvPr/>
        </p:nvSpPr>
        <p:spPr>
          <a:xfrm>
            <a:off x="14714442" y="2446528"/>
            <a:ext cx="2067116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43" name="object-043: ISP / NPU–Ara 工作区"/>
          <p:cNvSpPr txBox="1"/>
          <p:nvPr/>
        </p:nvSpPr>
        <p:spPr>
          <a:xfrm>
            <a:off x="14661953" y="2706624"/>
            <a:ext cx="217209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工作区</a:t>
            </a:r>
          </a:p>
        </p:txBody>
      </p:sp>
      <p:sp>
        <p:nvSpPr>
          <p:cNvPr id="44" name="cfg-tag-C9-43"/>
          <p:cNvSpPr/>
          <p:nvPr/>
        </p:nvSpPr>
        <p:spPr>
          <a:xfrm>
            <a:off x="17312640" y="3072384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bject-045: C9"/>
          <p:cNvSpPr txBox="1"/>
          <p:nvPr/>
        </p:nvSpPr>
        <p:spPr>
          <a:xfrm>
            <a:off x="17323308" y="3075635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46" name="npu-router"/>
          <p:cNvCxnSpPr/>
          <p:nvPr/>
        </p:nvCxnSpPr>
        <p:spPr>
          <a:xfrm>
            <a:off x="11216640" y="2926080"/>
            <a:ext cx="284480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47" name="router-sram"/>
          <p:cNvCxnSpPr/>
          <p:nvPr/>
        </p:nvCxnSpPr>
        <p:spPr>
          <a:xfrm>
            <a:off x="13370560" y="3129280"/>
            <a:ext cx="325120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48" name="npu-transfer"/>
          <p:cNvSpPr/>
          <p:nvPr/>
        </p:nvSpPr>
        <p:spPr>
          <a:xfrm>
            <a:off x="13695680" y="3738880"/>
            <a:ext cx="4104640" cy="97536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bject-049: NPU / GB 搬运引擎"/>
          <p:cNvSpPr txBox="1"/>
          <p:nvPr/>
        </p:nvSpPr>
        <p:spPr>
          <a:xfrm>
            <a:off x="14621815" y="3785047"/>
            <a:ext cx="2252370" cy="3771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50" name="object-050: DDR ↔ GB · 统一 AXI 主口"/>
          <p:cNvSpPr txBox="1"/>
          <p:nvPr/>
        </p:nvSpPr>
        <p:spPr>
          <a:xfrm>
            <a:off x="14466589" y="4112768"/>
            <a:ext cx="2562822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统一 AXI 主口</a:t>
            </a:r>
          </a:p>
        </p:txBody>
      </p:sp>
      <p:sp>
        <p:nvSpPr>
          <p:cNvPr id="51" name="cfg-tag-C7-50"/>
          <p:cNvSpPr/>
          <p:nvPr/>
        </p:nvSpPr>
        <p:spPr>
          <a:xfrm>
            <a:off x="17312640" y="4372864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bject-052: C7"/>
          <p:cNvSpPr txBox="1"/>
          <p:nvPr/>
        </p:nvSpPr>
        <p:spPr>
          <a:xfrm>
            <a:off x="17323308" y="4376115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53" name="transfer-router"/>
          <p:cNvCxnSpPr/>
          <p:nvPr/>
        </p:nvCxnSpPr>
        <p:spPr>
          <a:xfrm flipH="1">
            <a:off x="13370560" y="4226560"/>
            <a:ext cx="325120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54" name="ara-gb"/>
          <p:cNvSpPr/>
          <p:nvPr/>
        </p:nvSpPr>
        <p:spPr>
          <a:xfrm>
            <a:off x="6014720" y="4153408"/>
            <a:ext cx="6421120" cy="601472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bject-055: Ara 宽侧 GB 分支"/>
          <p:cNvSpPr txBox="1"/>
          <p:nvPr/>
        </p:nvSpPr>
        <p:spPr>
          <a:xfrm>
            <a:off x="8868861" y="4463572"/>
            <a:ext cx="1606918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宽侧 GB 分支</a:t>
            </a:r>
          </a:p>
        </p:txBody>
      </p:sp>
      <p:sp>
        <p:nvSpPr>
          <p:cNvPr id="56" name="image-subsystem"/>
          <p:cNvSpPr/>
          <p:nvPr/>
        </p:nvSpPr>
        <p:spPr>
          <a:xfrm>
            <a:off x="18450560" y="1422400"/>
            <a:ext cx="8656320" cy="3454400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bject-057: 图像采集与 ISP"/>
          <p:cNvSpPr txBox="1"/>
          <p:nvPr/>
        </p:nvSpPr>
        <p:spPr>
          <a:xfrm>
            <a:off x="21768308" y="1458488"/>
            <a:ext cx="2012696" cy="4161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4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58" name="lvds"/>
          <p:cNvSpPr/>
          <p:nvPr/>
        </p:nvSpPr>
        <p:spPr>
          <a:xfrm>
            <a:off x="18653760" y="2560320"/>
            <a:ext cx="1341120" cy="15036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object-059: LVDS 接收"/>
          <p:cNvSpPr txBox="1"/>
          <p:nvPr/>
        </p:nvSpPr>
        <p:spPr>
          <a:xfrm>
            <a:off x="18728614" y="2632822"/>
            <a:ext cx="1191412" cy="3381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60" name="object-060: 解串 / 帧行"/>
          <p:cNvSpPr txBox="1"/>
          <p:nvPr/>
        </p:nvSpPr>
        <p:spPr>
          <a:xfrm>
            <a:off x="18702611" y="2934208"/>
            <a:ext cx="124341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61" name="cfg-tag-C4-60"/>
          <p:cNvSpPr/>
          <p:nvPr/>
        </p:nvSpPr>
        <p:spPr>
          <a:xfrm>
            <a:off x="19507200" y="3698240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object-062: C4"/>
          <p:cNvSpPr txBox="1"/>
          <p:nvPr/>
        </p:nvSpPr>
        <p:spPr>
          <a:xfrm>
            <a:off x="19517868" y="37014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63" name="pixel-cdc"/>
          <p:cNvSpPr/>
          <p:nvPr/>
        </p:nvSpPr>
        <p:spPr>
          <a:xfrm>
            <a:off x="20238720" y="2560320"/>
            <a:ext cx="1300480" cy="15036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object-064: CDC / FIFO"/>
          <p:cNvSpPr txBox="1"/>
          <p:nvPr/>
        </p:nvSpPr>
        <p:spPr>
          <a:xfrm>
            <a:off x="20266101" y="2632822"/>
            <a:ext cx="1245718" cy="3381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65" name="object-065: 像素流缓冲"/>
          <p:cNvSpPr txBox="1"/>
          <p:nvPr/>
        </p:nvSpPr>
        <p:spPr>
          <a:xfrm>
            <a:off x="20279360" y="2934208"/>
            <a:ext cx="12192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66" name="isp"/>
          <p:cNvSpPr/>
          <p:nvPr/>
        </p:nvSpPr>
        <p:spPr>
          <a:xfrm>
            <a:off x="21783040" y="2560320"/>
            <a:ext cx="1341120" cy="1503680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object-067: ISP"/>
          <p:cNvSpPr txBox="1"/>
          <p:nvPr/>
        </p:nvSpPr>
        <p:spPr>
          <a:xfrm>
            <a:off x="22195936" y="2632822"/>
            <a:ext cx="515328" cy="3381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68" name="object-068: 行缓冲 / 处理"/>
          <p:cNvSpPr txBox="1"/>
          <p:nvPr/>
        </p:nvSpPr>
        <p:spPr>
          <a:xfrm>
            <a:off x="21730291" y="2934208"/>
            <a:ext cx="144661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 / 处理</a:t>
            </a:r>
          </a:p>
        </p:txBody>
      </p:sp>
      <p:sp>
        <p:nvSpPr>
          <p:cNvPr id="69" name="cfg-tag-C5-68"/>
          <p:cNvSpPr/>
          <p:nvPr/>
        </p:nvSpPr>
        <p:spPr>
          <a:xfrm>
            <a:off x="22636480" y="3698240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object-070: C5"/>
          <p:cNvSpPr txBox="1"/>
          <p:nvPr/>
        </p:nvSpPr>
        <p:spPr>
          <a:xfrm>
            <a:off x="22647148" y="37014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71" name="frame-select"/>
          <p:cNvSpPr/>
          <p:nvPr/>
        </p:nvSpPr>
        <p:spPr>
          <a:xfrm>
            <a:off x="23368000" y="2560320"/>
            <a:ext cx="1463040" cy="15036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object-072: 帧边界选择"/>
          <p:cNvSpPr txBox="1"/>
          <p:nvPr/>
        </p:nvSpPr>
        <p:spPr>
          <a:xfrm>
            <a:off x="23465536" y="2632822"/>
            <a:ext cx="1267968" cy="3381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73" name="object-073: RAW / ISP"/>
          <p:cNvSpPr txBox="1"/>
          <p:nvPr/>
        </p:nvSpPr>
        <p:spPr>
          <a:xfrm>
            <a:off x="23535068" y="2934208"/>
            <a:ext cx="1128903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74" name="frame-dma"/>
          <p:cNvSpPr/>
          <p:nvPr/>
        </p:nvSpPr>
        <p:spPr>
          <a:xfrm>
            <a:off x="25115520" y="2560320"/>
            <a:ext cx="1747520" cy="15036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object-075: 帧写入 DMA"/>
          <p:cNvSpPr txBox="1"/>
          <p:nvPr/>
        </p:nvSpPr>
        <p:spPr>
          <a:xfrm>
            <a:off x="25319590" y="2632822"/>
            <a:ext cx="1339380" cy="3381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76" name="object-076: 地址 / stride"/>
          <p:cNvSpPr txBox="1"/>
          <p:nvPr/>
        </p:nvSpPr>
        <p:spPr>
          <a:xfrm>
            <a:off x="25319253" y="2934208"/>
            <a:ext cx="1340053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77" name="cfg-tag-C8-76"/>
          <p:cNvSpPr/>
          <p:nvPr/>
        </p:nvSpPr>
        <p:spPr>
          <a:xfrm>
            <a:off x="26375360" y="3698240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object-078: C8"/>
          <p:cNvSpPr txBox="1"/>
          <p:nvPr/>
        </p:nvSpPr>
        <p:spPr>
          <a:xfrm>
            <a:off x="26386028" y="37014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79" name="lvds-cdc"/>
          <p:cNvCxnSpPr/>
          <p:nvPr/>
        </p:nvCxnSpPr>
        <p:spPr>
          <a:xfrm>
            <a:off x="19994880" y="3291840"/>
            <a:ext cx="24384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0" name="cdc-isp"/>
          <p:cNvCxnSpPr/>
          <p:nvPr/>
        </p:nvCxnSpPr>
        <p:spPr>
          <a:xfrm>
            <a:off x="21539200" y="3291840"/>
            <a:ext cx="24384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1" name="isp-select"/>
          <p:cNvCxnSpPr/>
          <p:nvPr/>
        </p:nvCxnSpPr>
        <p:spPr>
          <a:xfrm>
            <a:off x="23124160" y="3291840"/>
            <a:ext cx="24384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2" name="select-dma"/>
          <p:cNvCxnSpPr/>
          <p:nvPr/>
        </p:nvCxnSpPr>
        <p:spPr>
          <a:xfrm>
            <a:off x="24831040" y="3291840"/>
            <a:ext cx="28448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3" name="raw-bypass"/>
          <p:cNvSpPr/>
          <p:nvPr/>
        </p:nvSpPr>
        <p:spPr>
          <a:xfrm>
            <a:off x="21661120" y="2194560"/>
            <a:ext cx="2438400" cy="109728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aw-tap"/>
          <p:cNvSpPr/>
          <p:nvPr/>
        </p:nvSpPr>
        <p:spPr>
          <a:xfrm>
            <a:off x="21624544" y="3255264"/>
            <a:ext cx="73152" cy="73152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object-085: RAW 旁路"/>
          <p:cNvSpPr txBox="1"/>
          <p:nvPr/>
        </p:nvSpPr>
        <p:spPr>
          <a:xfrm>
            <a:off x="22507035" y="1895124"/>
            <a:ext cx="990410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6" name="object-086: RAW / ISP 二选一 · 帧打包"/>
          <p:cNvSpPr txBox="1"/>
          <p:nvPr/>
        </p:nvSpPr>
        <p:spPr>
          <a:xfrm>
            <a:off x="22902005" y="4275978"/>
            <a:ext cx="2476310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二选一 · 帧打包</a:t>
            </a:r>
          </a:p>
        </p:txBody>
      </p:sp>
      <p:sp>
        <p:nvSpPr>
          <p:cNvPr id="87" name="isp-gb"/>
          <p:cNvSpPr/>
          <p:nvPr/>
        </p:nvSpPr>
        <p:spPr>
          <a:xfrm>
            <a:off x="11688064" y="3820160"/>
            <a:ext cx="10094976" cy="1406144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object-088: ISP 中间数据 ↔ GB"/>
          <p:cNvSpPr txBox="1"/>
          <p:nvPr/>
        </p:nvSpPr>
        <p:spPr>
          <a:xfrm>
            <a:off x="19300793" y="4926218"/>
            <a:ext cx="1875854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89" name="debug-sba"/>
          <p:cNvSpPr/>
          <p:nvPr/>
        </p:nvSpPr>
        <p:spPr>
          <a:xfrm>
            <a:off x="3413760" y="5527040"/>
            <a:ext cx="2072640" cy="8128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object-090: Debug / SBA"/>
          <p:cNvSpPr txBox="1"/>
          <p:nvPr/>
        </p:nvSpPr>
        <p:spPr>
          <a:xfrm>
            <a:off x="3715620" y="5590764"/>
            <a:ext cx="146892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91" name="object-091: JTAG 总线访问"/>
          <p:cNvSpPr txBox="1"/>
          <p:nvPr/>
        </p:nvSpPr>
        <p:spPr>
          <a:xfrm>
            <a:off x="3696411" y="5900928"/>
            <a:ext cx="1507338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92" name="idma-master"/>
          <p:cNvSpPr/>
          <p:nvPr/>
        </p:nvSpPr>
        <p:spPr>
          <a:xfrm>
            <a:off x="9347200" y="5527040"/>
            <a:ext cx="2235200" cy="8128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bject-093: iDMA 数据主口"/>
          <p:cNvSpPr txBox="1"/>
          <p:nvPr/>
        </p:nvSpPr>
        <p:spPr>
          <a:xfrm>
            <a:off x="9633375" y="5590764"/>
            <a:ext cx="1662849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94" name="object-094: 内存 ↔ 内存"/>
          <p:cNvSpPr txBox="1"/>
          <p:nvPr/>
        </p:nvSpPr>
        <p:spPr>
          <a:xfrm>
            <a:off x="9794278" y="5900928"/>
            <a:ext cx="134104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↔ 内存</a:t>
            </a:r>
          </a:p>
        </p:txBody>
      </p:sp>
      <p:sp>
        <p:nvSpPr>
          <p:cNvPr id="95" name="slink-rx"/>
          <p:cNvSpPr/>
          <p:nvPr/>
        </p:nvSpPr>
        <p:spPr>
          <a:xfrm>
            <a:off x="12110720" y="5527040"/>
            <a:ext cx="2316480" cy="8128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object-096: Serial Link RX"/>
          <p:cNvSpPr txBox="1"/>
          <p:nvPr/>
        </p:nvSpPr>
        <p:spPr>
          <a:xfrm>
            <a:off x="12497435" y="5590764"/>
            <a:ext cx="154305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97" name="object-097: 远端请求入口"/>
          <p:cNvSpPr txBox="1"/>
          <p:nvPr/>
        </p:nvSpPr>
        <p:spPr>
          <a:xfrm>
            <a:off x="12557760" y="5900928"/>
            <a:ext cx="14224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98" name="vga-master"/>
          <p:cNvSpPr/>
          <p:nvPr/>
        </p:nvSpPr>
        <p:spPr>
          <a:xfrm>
            <a:off x="14955520" y="5527040"/>
            <a:ext cx="2072640" cy="8128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object-099: VGA"/>
          <p:cNvSpPr txBox="1"/>
          <p:nvPr/>
        </p:nvSpPr>
        <p:spPr>
          <a:xfrm>
            <a:off x="15686983" y="5590764"/>
            <a:ext cx="609714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00" name="object-100: 帧缓冲读取"/>
          <p:cNvSpPr txBox="1"/>
          <p:nvPr/>
        </p:nvSpPr>
        <p:spPr>
          <a:xfrm>
            <a:off x="15382240" y="5900928"/>
            <a:ext cx="12192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01" name="usb-master"/>
          <p:cNvSpPr/>
          <p:nvPr/>
        </p:nvSpPr>
        <p:spPr>
          <a:xfrm>
            <a:off x="17556480" y="5527040"/>
            <a:ext cx="2032000" cy="8128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object-102: USB DMA"/>
          <p:cNvSpPr txBox="1"/>
          <p:nvPr/>
        </p:nvSpPr>
        <p:spPr>
          <a:xfrm>
            <a:off x="18000154" y="5590764"/>
            <a:ext cx="1144651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03" name="object-103: OHCI 主口"/>
          <p:cNvSpPr txBox="1"/>
          <p:nvPr/>
        </p:nvSpPr>
        <p:spPr>
          <a:xfrm>
            <a:off x="18013978" y="5900928"/>
            <a:ext cx="1117003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04" name="ext-master"/>
          <p:cNvSpPr/>
          <p:nvPr/>
        </p:nvSpPr>
        <p:spPr>
          <a:xfrm>
            <a:off x="20157440" y="5527040"/>
            <a:ext cx="3007360" cy="812800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object-105: AXI 外部 master"/>
          <p:cNvSpPr txBox="1"/>
          <p:nvPr/>
        </p:nvSpPr>
        <p:spPr>
          <a:xfrm>
            <a:off x="20781791" y="5590764"/>
            <a:ext cx="1758658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06" name="object-106: 可选扩展入口"/>
          <p:cNvSpPr txBox="1"/>
          <p:nvPr/>
        </p:nvSpPr>
        <p:spPr>
          <a:xfrm>
            <a:off x="20949920" y="5900928"/>
            <a:ext cx="14224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107" name="cpu-master"/>
          <p:cNvCxnSpPr/>
          <p:nvPr/>
        </p:nvCxnSpPr>
        <p:spPr>
          <a:xfrm>
            <a:off x="1991360" y="3820160"/>
            <a:ext cx="0" cy="284480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08" name="ara-master"/>
          <p:cNvCxnSpPr/>
          <p:nvPr/>
        </p:nvCxnSpPr>
        <p:spPr>
          <a:xfrm>
            <a:off x="7518400" y="4153408"/>
            <a:ext cx="0" cy="2511552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9" name="object-109: CPU AXI"/>
          <p:cNvSpPr txBox="1"/>
          <p:nvPr/>
        </p:nvSpPr>
        <p:spPr>
          <a:xfrm>
            <a:off x="902919" y="5917184"/>
            <a:ext cx="909625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110" name="object-110: Ara 普通地址"/>
          <p:cNvSpPr txBox="1"/>
          <p:nvPr/>
        </p:nvSpPr>
        <p:spPr>
          <a:xfrm>
            <a:off x="5990793" y="5917184"/>
            <a:ext cx="1365047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111" name="axi-crossbar"/>
          <p:cNvSpPr/>
          <p:nvPr/>
        </p:nvSpPr>
        <p:spPr>
          <a:xfrm>
            <a:off x="772160" y="6664960"/>
            <a:ext cx="23002240" cy="1097280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object-112: AXI Crossbar"/>
          <p:cNvSpPr txBox="1"/>
          <p:nvPr/>
        </p:nvSpPr>
        <p:spPr>
          <a:xfrm>
            <a:off x="11204892" y="6720230"/>
            <a:ext cx="2136775" cy="5201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13" name="object-113: 7 × 5 基础端口 + 扩展  |  64 bit 数据 / 48 bit 地"/>
          <p:cNvSpPr txBox="1"/>
          <p:nvPr/>
        </p:nvSpPr>
        <p:spPr>
          <a:xfrm>
            <a:off x="8449583" y="7200108"/>
            <a:ext cx="7647394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基础端口 + 扩展  |  64 bit 数据 / 48 bit 地址  |  地址译码 / 各目标仲裁</a:t>
            </a:r>
          </a:p>
        </p:txBody>
      </p:sp>
      <p:sp>
        <p:nvSpPr>
          <p:cNvPr id="114" name="object-114: 输入侧 AXI RT：按配置可选"/>
          <p:cNvSpPr txBox="1"/>
          <p:nvPr/>
        </p:nvSpPr>
        <p:spPr>
          <a:xfrm>
            <a:off x="1040384" y="7473533"/>
            <a:ext cx="2019541" cy="2470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RT：按配置可选</a:t>
            </a:r>
          </a:p>
        </p:txBody>
      </p:sp>
      <p:sp>
        <p:nvSpPr>
          <p:cNvPr id="115" name="object-115: 未映射请求：DECERR"/>
          <p:cNvSpPr txBox="1"/>
          <p:nvPr/>
        </p:nvSpPr>
        <p:spPr>
          <a:xfrm>
            <a:off x="21888056" y="7473533"/>
            <a:ext cx="1642504" cy="2470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16" name="master-port-0"/>
          <p:cNvSpPr/>
          <p:nvPr/>
        </p:nvSpPr>
        <p:spPr>
          <a:xfrm>
            <a:off x="1601216" y="654304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object-117: S0"/>
          <p:cNvSpPr txBox="1"/>
          <p:nvPr/>
        </p:nvSpPr>
        <p:spPr>
          <a:xfrm>
            <a:off x="1811020" y="65462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118" name="master-input-1"/>
          <p:cNvCxnSpPr/>
          <p:nvPr/>
        </p:nvCxnSpPr>
        <p:spPr>
          <a:xfrm>
            <a:off x="4446016" y="6339840"/>
            <a:ext cx="0" cy="3251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9" name="master-port-1"/>
          <p:cNvSpPr/>
          <p:nvPr/>
        </p:nvSpPr>
        <p:spPr>
          <a:xfrm>
            <a:off x="4055872" y="654304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object-120: S1"/>
          <p:cNvSpPr txBox="1"/>
          <p:nvPr/>
        </p:nvSpPr>
        <p:spPr>
          <a:xfrm>
            <a:off x="4265676" y="65462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21" name="master-port-2"/>
          <p:cNvSpPr/>
          <p:nvPr/>
        </p:nvSpPr>
        <p:spPr>
          <a:xfrm>
            <a:off x="7128256" y="654304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object-122: S2"/>
          <p:cNvSpPr txBox="1"/>
          <p:nvPr/>
        </p:nvSpPr>
        <p:spPr>
          <a:xfrm>
            <a:off x="7338060" y="65462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123" name="master-input-3"/>
          <p:cNvCxnSpPr/>
          <p:nvPr/>
        </p:nvCxnSpPr>
        <p:spPr>
          <a:xfrm>
            <a:off x="10460736" y="6339840"/>
            <a:ext cx="0" cy="3251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24" name="master-port-3"/>
          <p:cNvSpPr/>
          <p:nvPr/>
        </p:nvSpPr>
        <p:spPr>
          <a:xfrm>
            <a:off x="10070592" y="654304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object-125: S3"/>
          <p:cNvSpPr txBox="1"/>
          <p:nvPr/>
        </p:nvSpPr>
        <p:spPr>
          <a:xfrm>
            <a:off x="10280396" y="65462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126" name="master-input-4"/>
          <p:cNvCxnSpPr/>
          <p:nvPr/>
        </p:nvCxnSpPr>
        <p:spPr>
          <a:xfrm>
            <a:off x="13264896" y="6339840"/>
            <a:ext cx="0" cy="3251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27" name="master-port-4"/>
          <p:cNvSpPr/>
          <p:nvPr/>
        </p:nvSpPr>
        <p:spPr>
          <a:xfrm>
            <a:off x="12874752" y="654304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object-128: S4"/>
          <p:cNvSpPr txBox="1"/>
          <p:nvPr/>
        </p:nvSpPr>
        <p:spPr>
          <a:xfrm>
            <a:off x="13084556" y="65462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129" name="master-input-5"/>
          <p:cNvCxnSpPr/>
          <p:nvPr/>
        </p:nvCxnSpPr>
        <p:spPr>
          <a:xfrm>
            <a:off x="15987776" y="6339840"/>
            <a:ext cx="0" cy="3251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" name="master-port-5"/>
          <p:cNvSpPr/>
          <p:nvPr/>
        </p:nvSpPr>
        <p:spPr>
          <a:xfrm>
            <a:off x="15597632" y="654304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object-131: S5"/>
          <p:cNvSpPr txBox="1"/>
          <p:nvPr/>
        </p:nvSpPr>
        <p:spPr>
          <a:xfrm>
            <a:off x="15807436" y="65462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132" name="master-input-6"/>
          <p:cNvCxnSpPr/>
          <p:nvPr/>
        </p:nvCxnSpPr>
        <p:spPr>
          <a:xfrm>
            <a:off x="18572480" y="6339840"/>
            <a:ext cx="0" cy="3251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3" name="master-port-6"/>
          <p:cNvSpPr/>
          <p:nvPr/>
        </p:nvSpPr>
        <p:spPr>
          <a:xfrm>
            <a:off x="18182336" y="654304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object-134: S6"/>
          <p:cNvSpPr txBox="1"/>
          <p:nvPr/>
        </p:nvSpPr>
        <p:spPr>
          <a:xfrm>
            <a:off x="18392140" y="65462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135" name="master-input-7"/>
          <p:cNvCxnSpPr/>
          <p:nvPr/>
        </p:nvCxnSpPr>
        <p:spPr>
          <a:xfrm>
            <a:off x="21661120" y="6339840"/>
            <a:ext cx="0" cy="3251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136" name="master-port-7"/>
          <p:cNvSpPr/>
          <p:nvPr/>
        </p:nvSpPr>
        <p:spPr>
          <a:xfrm>
            <a:off x="21270976" y="654304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object-137: S_EXT"/>
          <p:cNvSpPr txBox="1"/>
          <p:nvPr/>
        </p:nvSpPr>
        <p:spPr>
          <a:xfrm>
            <a:off x="21358936" y="6546291"/>
            <a:ext cx="604368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8" name="object-138: AXI master / 请求发起端"/>
          <p:cNvSpPr txBox="1"/>
          <p:nvPr/>
        </p:nvSpPr>
        <p:spPr>
          <a:xfrm>
            <a:off x="9347200" y="5218826"/>
            <a:ext cx="2308288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1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139" name="target-output-0"/>
          <p:cNvCxnSpPr/>
          <p:nvPr/>
        </p:nvCxnSpPr>
        <p:spPr>
          <a:xfrm>
            <a:off x="2072640" y="7762240"/>
            <a:ext cx="0" cy="5283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40" name="target-port-0"/>
          <p:cNvSpPr/>
          <p:nvPr/>
        </p:nvSpPr>
        <p:spPr>
          <a:xfrm>
            <a:off x="1682496" y="764032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object-141: M0"/>
          <p:cNvSpPr txBox="1"/>
          <p:nvPr/>
        </p:nvSpPr>
        <p:spPr>
          <a:xfrm>
            <a:off x="1876025" y="7643571"/>
            <a:ext cx="39323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42" name="debug-target"/>
          <p:cNvSpPr/>
          <p:nvPr/>
        </p:nvSpPr>
        <p:spPr>
          <a:xfrm>
            <a:off x="772160" y="8290560"/>
            <a:ext cx="2600960" cy="125984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object-143: Debug 目标"/>
          <p:cNvSpPr txBox="1"/>
          <p:nvPr/>
        </p:nvSpPr>
        <p:spPr>
          <a:xfrm>
            <a:off x="1381214" y="8345505"/>
            <a:ext cx="1382852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44" name="object-144: 调试模块地址窗口"/>
          <p:cNvSpPr txBox="1"/>
          <p:nvPr/>
        </p:nvSpPr>
        <p:spPr>
          <a:xfrm>
            <a:off x="1158240" y="8664448"/>
            <a:ext cx="18288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145" name="target-output-1"/>
          <p:cNvCxnSpPr/>
          <p:nvPr/>
        </p:nvCxnSpPr>
        <p:spPr>
          <a:xfrm>
            <a:off x="5892800" y="7762240"/>
            <a:ext cx="0" cy="5283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46" name="target-port-1"/>
          <p:cNvSpPr/>
          <p:nvPr/>
        </p:nvSpPr>
        <p:spPr>
          <a:xfrm>
            <a:off x="5502656" y="764032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object-147: M1"/>
          <p:cNvSpPr txBox="1"/>
          <p:nvPr/>
        </p:nvSpPr>
        <p:spPr>
          <a:xfrm>
            <a:off x="5696185" y="7643571"/>
            <a:ext cx="39323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48" name="reg-bridge"/>
          <p:cNvSpPr/>
          <p:nvPr/>
        </p:nvSpPr>
        <p:spPr>
          <a:xfrm>
            <a:off x="3860800" y="8290560"/>
            <a:ext cx="4064000" cy="1259840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object-149: AXI → Regbus"/>
          <p:cNvSpPr txBox="1"/>
          <p:nvPr/>
        </p:nvSpPr>
        <p:spPr>
          <a:xfrm>
            <a:off x="5071910" y="8345505"/>
            <a:ext cx="1641780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50" name="object-150: 原子适配 / 桥接 · 32 bit"/>
          <p:cNvSpPr txBox="1"/>
          <p:nvPr/>
        </p:nvSpPr>
        <p:spPr>
          <a:xfrm>
            <a:off x="4718837" y="8664448"/>
            <a:ext cx="2347925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桥接 · 32 bit</a:t>
            </a:r>
          </a:p>
        </p:txBody>
      </p:sp>
      <p:cxnSp>
        <p:nvCxnSpPr>
          <p:cNvPr id="151" name="target-output-2"/>
          <p:cNvCxnSpPr/>
          <p:nvPr/>
        </p:nvCxnSpPr>
        <p:spPr>
          <a:xfrm>
            <a:off x="10403840" y="7762240"/>
            <a:ext cx="0" cy="5283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52" name="target-port-2"/>
          <p:cNvSpPr/>
          <p:nvPr/>
        </p:nvSpPr>
        <p:spPr>
          <a:xfrm>
            <a:off x="10013696" y="764032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object-153: M2"/>
          <p:cNvSpPr txBox="1"/>
          <p:nvPr/>
        </p:nvSpPr>
        <p:spPr>
          <a:xfrm>
            <a:off x="10207225" y="7643571"/>
            <a:ext cx="39323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54" name="memory-target"/>
          <p:cNvSpPr/>
          <p:nvPr/>
        </p:nvSpPr>
        <p:spPr>
          <a:xfrm>
            <a:off x="8453120" y="8290560"/>
            <a:ext cx="3901440" cy="125984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object-155: 主存 / SPM 共用目标"/>
          <p:cNvSpPr txBox="1"/>
          <p:nvPr/>
        </p:nvSpPr>
        <p:spPr>
          <a:xfrm>
            <a:off x="9218454" y="8345505"/>
            <a:ext cx="2370772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156" name="target-output-3"/>
          <p:cNvCxnSpPr/>
          <p:nvPr/>
        </p:nvCxnSpPr>
        <p:spPr>
          <a:xfrm>
            <a:off x="14467840" y="7762240"/>
            <a:ext cx="0" cy="5283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57" name="target-port-3"/>
          <p:cNvSpPr/>
          <p:nvPr/>
        </p:nvSpPr>
        <p:spPr>
          <a:xfrm>
            <a:off x="14077696" y="764032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object-158: M3"/>
          <p:cNvSpPr txBox="1"/>
          <p:nvPr/>
        </p:nvSpPr>
        <p:spPr>
          <a:xfrm>
            <a:off x="14271225" y="7643571"/>
            <a:ext cx="39323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59" name="idma-config"/>
          <p:cNvSpPr/>
          <p:nvPr/>
        </p:nvSpPr>
        <p:spPr>
          <a:xfrm>
            <a:off x="12842240" y="8290560"/>
            <a:ext cx="3251200" cy="125984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object-160: iDMA 配置"/>
          <p:cNvSpPr txBox="1"/>
          <p:nvPr/>
        </p:nvSpPr>
        <p:spPr>
          <a:xfrm>
            <a:off x="13833189" y="8345505"/>
            <a:ext cx="1269302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61" name="object-161: 原子适配 → AXI→Reg"/>
          <p:cNvSpPr txBox="1"/>
          <p:nvPr/>
        </p:nvSpPr>
        <p:spPr>
          <a:xfrm>
            <a:off x="13389235" y="8664448"/>
            <a:ext cx="215720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62" name="object-162: wrapper 内部寄存器"/>
          <p:cNvSpPr txBox="1"/>
          <p:nvPr/>
        </p:nvSpPr>
        <p:spPr>
          <a:xfrm>
            <a:off x="13476846" y="8924544"/>
            <a:ext cx="1981987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163" name="target-output-4"/>
          <p:cNvCxnSpPr/>
          <p:nvPr/>
        </p:nvCxnSpPr>
        <p:spPr>
          <a:xfrm>
            <a:off x="18288000" y="7762240"/>
            <a:ext cx="0" cy="5283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64" name="target-port-4"/>
          <p:cNvSpPr/>
          <p:nvPr/>
        </p:nvSpPr>
        <p:spPr>
          <a:xfrm>
            <a:off x="17897856" y="764032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object-165: M4"/>
          <p:cNvSpPr txBox="1"/>
          <p:nvPr/>
        </p:nvSpPr>
        <p:spPr>
          <a:xfrm>
            <a:off x="18091385" y="7643571"/>
            <a:ext cx="39323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66" name="slink-tx"/>
          <p:cNvSpPr/>
          <p:nvPr/>
        </p:nvSpPr>
        <p:spPr>
          <a:xfrm>
            <a:off x="16581120" y="8290560"/>
            <a:ext cx="3413760" cy="125984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object-167: Serial Link TX"/>
          <p:cNvSpPr txBox="1"/>
          <p:nvPr/>
        </p:nvSpPr>
        <p:spPr>
          <a:xfrm>
            <a:off x="17501438" y="8345505"/>
            <a:ext cx="1573124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68" name="object-168: 远端数据目标窗口"/>
          <p:cNvSpPr txBox="1"/>
          <p:nvPr/>
        </p:nvSpPr>
        <p:spPr>
          <a:xfrm>
            <a:off x="17373600" y="8664448"/>
            <a:ext cx="18288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169" name="target-output-5"/>
          <p:cNvCxnSpPr/>
          <p:nvPr/>
        </p:nvCxnSpPr>
        <p:spPr>
          <a:xfrm>
            <a:off x="22108160" y="7762240"/>
            <a:ext cx="0" cy="5283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170" name="target-port-5"/>
          <p:cNvSpPr/>
          <p:nvPr/>
        </p:nvSpPr>
        <p:spPr>
          <a:xfrm>
            <a:off x="21718016" y="764032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object-171: M_EXT"/>
          <p:cNvSpPr txBox="1"/>
          <p:nvPr/>
        </p:nvSpPr>
        <p:spPr>
          <a:xfrm>
            <a:off x="21789701" y="7643571"/>
            <a:ext cx="636918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72" name="ext-target"/>
          <p:cNvSpPr/>
          <p:nvPr/>
        </p:nvSpPr>
        <p:spPr>
          <a:xfrm>
            <a:off x="20441920" y="8290560"/>
            <a:ext cx="3332480" cy="1259840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object-173: AXI 外部 slave"/>
          <p:cNvSpPr txBox="1"/>
          <p:nvPr/>
        </p:nvSpPr>
        <p:spPr>
          <a:xfrm>
            <a:off x="21284933" y="8345505"/>
            <a:ext cx="1646453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74" name="object-174: 可选扩展 / CPU 直访 GB 待定"/>
          <p:cNvSpPr txBox="1"/>
          <p:nvPr/>
        </p:nvSpPr>
        <p:spPr>
          <a:xfrm>
            <a:off x="20674051" y="8664448"/>
            <a:ext cx="286821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175" name="atomics"/>
          <p:cNvSpPr/>
          <p:nvPr/>
        </p:nvSpPr>
        <p:spPr>
          <a:xfrm>
            <a:off x="8615680" y="8778240"/>
            <a:ext cx="1584960" cy="682752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object-176: 原子适配"/>
          <p:cNvSpPr txBox="1"/>
          <p:nvPr/>
        </p:nvSpPr>
        <p:spPr>
          <a:xfrm>
            <a:off x="8940800" y="8877076"/>
            <a:ext cx="934720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77" name="object-177: AMO / LRSC"/>
          <p:cNvSpPr txBox="1"/>
          <p:nvPr/>
        </p:nvSpPr>
        <p:spPr>
          <a:xfrm>
            <a:off x="8746274" y="9152128"/>
            <a:ext cx="1323772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78" name="llc-spm"/>
          <p:cNvSpPr/>
          <p:nvPr/>
        </p:nvSpPr>
        <p:spPr>
          <a:xfrm>
            <a:off x="10566400" y="8778240"/>
            <a:ext cx="1584960" cy="682752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object-179: LLC / SPM"/>
          <p:cNvSpPr txBox="1"/>
          <p:nvPr/>
        </p:nvSpPr>
        <p:spPr>
          <a:xfrm>
            <a:off x="10822686" y="8877076"/>
            <a:ext cx="1072388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80" name="object-180: 同一 SRAM 阵列"/>
          <p:cNvSpPr txBox="1"/>
          <p:nvPr/>
        </p:nvSpPr>
        <p:spPr>
          <a:xfrm>
            <a:off x="10524058" y="9152128"/>
            <a:ext cx="166964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同一 SRAM 阵列</a:t>
            </a:r>
          </a:p>
        </p:txBody>
      </p:sp>
      <p:cxnSp>
        <p:nvCxnSpPr>
          <p:cNvPr id="181" name="atomics-llc"/>
          <p:cNvCxnSpPr/>
          <p:nvPr/>
        </p:nvCxnSpPr>
        <p:spPr>
          <a:xfrm>
            <a:off x="10200640" y="9087104"/>
            <a:ext cx="36576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82" name="reg-subsystem"/>
          <p:cNvSpPr/>
          <p:nvPr/>
        </p:nvSpPr>
        <p:spPr>
          <a:xfrm>
            <a:off x="609600" y="9834880"/>
            <a:ext cx="15808960" cy="4064000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regbus"/>
          <p:cNvSpPr/>
          <p:nvPr/>
        </p:nvSpPr>
        <p:spPr>
          <a:xfrm>
            <a:off x="772160" y="9997440"/>
            <a:ext cx="15483840" cy="568960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object-184: Regbus decode / demux  ·  32 bit"/>
          <p:cNvSpPr txBox="1"/>
          <p:nvPr/>
        </p:nvSpPr>
        <p:spPr>
          <a:xfrm>
            <a:off x="6460363" y="10098552"/>
            <a:ext cx="4099306" cy="4161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4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 ·  32 bit</a:t>
            </a:r>
          </a:p>
        </p:txBody>
      </p:sp>
      <p:cxnSp>
        <p:nvCxnSpPr>
          <p:cNvPr id="185" name="axi-regbus"/>
          <p:cNvCxnSpPr/>
          <p:nvPr/>
        </p:nvCxnSpPr>
        <p:spPr>
          <a:xfrm>
            <a:off x="5892800" y="9550400"/>
            <a:ext cx="0" cy="447040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186" name="regbus-trunk-0"/>
          <p:cNvCxnSpPr/>
          <p:nvPr/>
        </p:nvCxnSpPr>
        <p:spPr>
          <a:xfrm>
            <a:off x="1056640" y="10566400"/>
            <a:ext cx="0" cy="2836672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187" name="regbus-trunk-1"/>
          <p:cNvCxnSpPr/>
          <p:nvPr/>
        </p:nvCxnSpPr>
        <p:spPr>
          <a:xfrm>
            <a:off x="4104640" y="10566400"/>
            <a:ext cx="0" cy="2836672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188" name="regbus-trunk-2"/>
          <p:cNvCxnSpPr/>
          <p:nvPr/>
        </p:nvCxnSpPr>
        <p:spPr>
          <a:xfrm>
            <a:off x="7152640" y="10566400"/>
            <a:ext cx="0" cy="2836672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189" name="regbus-trunk-3"/>
          <p:cNvCxnSpPr/>
          <p:nvPr/>
        </p:nvCxnSpPr>
        <p:spPr>
          <a:xfrm>
            <a:off x="10200640" y="10566400"/>
            <a:ext cx="0" cy="2836672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190" name="regbus-trunk-4"/>
          <p:cNvCxnSpPr/>
          <p:nvPr/>
        </p:nvCxnSpPr>
        <p:spPr>
          <a:xfrm>
            <a:off x="13248640" y="10566400"/>
            <a:ext cx="0" cy="2836672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191" name="bootrom"/>
          <p:cNvSpPr/>
          <p:nvPr/>
        </p:nvSpPr>
        <p:spPr>
          <a:xfrm>
            <a:off x="1219200" y="10810240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object-192: Boot ROM"/>
          <p:cNvSpPr txBox="1"/>
          <p:nvPr/>
        </p:nvSpPr>
        <p:spPr>
          <a:xfrm>
            <a:off x="1969618" y="10842752"/>
            <a:ext cx="1100125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93" name="object-193: 启动代码"/>
          <p:cNvSpPr txBox="1"/>
          <p:nvPr/>
        </p:nvSpPr>
        <p:spPr>
          <a:xfrm>
            <a:off x="2072640" y="11112927"/>
            <a:ext cx="894080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194" name="reg-drop-bootrom"/>
          <p:cNvCxnSpPr/>
          <p:nvPr/>
        </p:nvCxnSpPr>
        <p:spPr>
          <a:xfrm>
            <a:off x="1056640" y="11127232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95" name="clint"/>
          <p:cNvSpPr/>
          <p:nvPr/>
        </p:nvSpPr>
        <p:spPr>
          <a:xfrm>
            <a:off x="4267200" y="10810240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object-196: CLINT"/>
          <p:cNvSpPr txBox="1"/>
          <p:nvPr/>
        </p:nvSpPr>
        <p:spPr>
          <a:xfrm>
            <a:off x="5208213" y="10842752"/>
            <a:ext cx="71893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97" name="object-197: 软件 / 定时中断"/>
          <p:cNvSpPr txBox="1"/>
          <p:nvPr/>
        </p:nvSpPr>
        <p:spPr>
          <a:xfrm>
            <a:off x="4841767" y="11112927"/>
            <a:ext cx="1451826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198" name="reg-drop-clint"/>
          <p:cNvCxnSpPr/>
          <p:nvPr/>
        </p:nvCxnSpPr>
        <p:spPr>
          <a:xfrm>
            <a:off x="4104640" y="11127232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99" name="soc-regs"/>
          <p:cNvSpPr/>
          <p:nvPr/>
        </p:nvSpPr>
        <p:spPr>
          <a:xfrm>
            <a:off x="7315200" y="10810240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object-200: SoC 寄存器"/>
          <p:cNvSpPr txBox="1"/>
          <p:nvPr/>
        </p:nvSpPr>
        <p:spPr>
          <a:xfrm>
            <a:off x="7998244" y="10842752"/>
            <a:ext cx="1234872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201" name="object-201: 平台信息 / scratch"/>
          <p:cNvSpPr txBox="1"/>
          <p:nvPr/>
        </p:nvSpPr>
        <p:spPr>
          <a:xfrm>
            <a:off x="7782903" y="11112927"/>
            <a:ext cx="1665554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202" name="reg-drop-soc-regs"/>
          <p:cNvCxnSpPr/>
          <p:nvPr/>
        </p:nvCxnSpPr>
        <p:spPr>
          <a:xfrm>
            <a:off x="7152640" y="11127232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03" name="plic"/>
          <p:cNvSpPr/>
          <p:nvPr/>
        </p:nvSpPr>
        <p:spPr>
          <a:xfrm>
            <a:off x="10363200" y="10810240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object-204: PLIC"/>
          <p:cNvSpPr txBox="1"/>
          <p:nvPr/>
        </p:nvSpPr>
        <p:spPr>
          <a:xfrm>
            <a:off x="11365135" y="10842752"/>
            <a:ext cx="59709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205" name="object-205: 外部中断控制"/>
          <p:cNvSpPr txBox="1"/>
          <p:nvPr/>
        </p:nvSpPr>
        <p:spPr>
          <a:xfrm>
            <a:off x="11037824" y="11112927"/>
            <a:ext cx="1251712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206" name="reg-drop-plic"/>
          <p:cNvCxnSpPr/>
          <p:nvPr/>
        </p:nvCxnSpPr>
        <p:spPr>
          <a:xfrm>
            <a:off x="10200640" y="11127232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07" name="llc-regs"/>
          <p:cNvSpPr/>
          <p:nvPr/>
        </p:nvSpPr>
        <p:spPr>
          <a:xfrm>
            <a:off x="13411200" y="10810240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object-208: LLC 配置"/>
          <p:cNvSpPr txBox="1"/>
          <p:nvPr/>
        </p:nvSpPr>
        <p:spPr>
          <a:xfrm>
            <a:off x="14211916" y="10842752"/>
            <a:ext cx="999528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209" name="object-209: SPM way / cache"/>
          <p:cNvSpPr txBox="1"/>
          <p:nvPr/>
        </p:nvSpPr>
        <p:spPr>
          <a:xfrm>
            <a:off x="13941762" y="11112927"/>
            <a:ext cx="1539837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210" name="reg-drop-llc-regs"/>
          <p:cNvCxnSpPr/>
          <p:nvPr/>
        </p:nvCxnSpPr>
        <p:spPr>
          <a:xfrm>
            <a:off x="13248640" y="11127232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11" name="uart"/>
          <p:cNvSpPr/>
          <p:nvPr/>
        </p:nvSpPr>
        <p:spPr>
          <a:xfrm>
            <a:off x="1219200" y="11558016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object-212: UART"/>
          <p:cNvSpPr txBox="1"/>
          <p:nvPr/>
        </p:nvSpPr>
        <p:spPr>
          <a:xfrm>
            <a:off x="2182539" y="11590528"/>
            <a:ext cx="674281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213" name="object-213: 串口控制"/>
          <p:cNvSpPr txBox="1"/>
          <p:nvPr/>
        </p:nvSpPr>
        <p:spPr>
          <a:xfrm>
            <a:off x="2072640" y="11860703"/>
            <a:ext cx="894080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214" name="reg-drop-uart"/>
          <p:cNvCxnSpPr/>
          <p:nvPr/>
        </p:nvCxnSpPr>
        <p:spPr>
          <a:xfrm>
            <a:off x="1056640" y="11875008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15" name="i2c"/>
          <p:cNvSpPr/>
          <p:nvPr/>
        </p:nvSpPr>
        <p:spPr>
          <a:xfrm>
            <a:off x="4267200" y="11558016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object-216: I2C"/>
          <p:cNvSpPr txBox="1"/>
          <p:nvPr/>
        </p:nvSpPr>
        <p:spPr>
          <a:xfrm>
            <a:off x="5315864" y="11590528"/>
            <a:ext cx="503631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217" name="object-217: 两线串行控制"/>
          <p:cNvSpPr txBox="1"/>
          <p:nvPr/>
        </p:nvSpPr>
        <p:spPr>
          <a:xfrm>
            <a:off x="4941824" y="11860703"/>
            <a:ext cx="1251712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218" name="reg-drop-i2c"/>
          <p:cNvCxnSpPr/>
          <p:nvPr/>
        </p:nvCxnSpPr>
        <p:spPr>
          <a:xfrm>
            <a:off x="4104640" y="11875008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19" name="spi"/>
          <p:cNvSpPr/>
          <p:nvPr/>
        </p:nvSpPr>
        <p:spPr>
          <a:xfrm>
            <a:off x="7315200" y="11558016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object-220: SPI host"/>
          <p:cNvSpPr txBox="1"/>
          <p:nvPr/>
        </p:nvSpPr>
        <p:spPr>
          <a:xfrm>
            <a:off x="8142707" y="11590528"/>
            <a:ext cx="945947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221" name="object-221: Flash / SD"/>
          <p:cNvSpPr txBox="1"/>
          <p:nvPr/>
        </p:nvSpPr>
        <p:spPr>
          <a:xfrm>
            <a:off x="8104816" y="11860703"/>
            <a:ext cx="1021728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222" name="reg-drop-spi"/>
          <p:cNvCxnSpPr/>
          <p:nvPr/>
        </p:nvCxnSpPr>
        <p:spPr>
          <a:xfrm>
            <a:off x="7152640" y="11875008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23" name="gpio"/>
          <p:cNvSpPr/>
          <p:nvPr/>
        </p:nvSpPr>
        <p:spPr>
          <a:xfrm>
            <a:off x="10363200" y="11558016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object-224: GPIO"/>
          <p:cNvSpPr txBox="1"/>
          <p:nvPr/>
        </p:nvSpPr>
        <p:spPr>
          <a:xfrm>
            <a:off x="11344891" y="11590528"/>
            <a:ext cx="637578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225" name="object-225: 通用 IO"/>
          <p:cNvSpPr txBox="1"/>
          <p:nvPr/>
        </p:nvSpPr>
        <p:spPr>
          <a:xfrm>
            <a:off x="11286490" y="11860703"/>
            <a:ext cx="754380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226" name="reg-drop-gpio"/>
          <p:cNvCxnSpPr/>
          <p:nvPr/>
        </p:nvCxnSpPr>
        <p:spPr>
          <a:xfrm>
            <a:off x="10200640" y="11875008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27" name="slink-regs"/>
          <p:cNvSpPr/>
          <p:nvPr/>
        </p:nvSpPr>
        <p:spPr>
          <a:xfrm>
            <a:off x="13411200" y="11558016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object-228: Serial Link 配置"/>
          <p:cNvSpPr txBox="1"/>
          <p:nvPr/>
        </p:nvSpPr>
        <p:spPr>
          <a:xfrm>
            <a:off x="13911783" y="11590528"/>
            <a:ext cx="159979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229" name="object-229: 链路控制"/>
          <p:cNvSpPr txBox="1"/>
          <p:nvPr/>
        </p:nvSpPr>
        <p:spPr>
          <a:xfrm>
            <a:off x="14264640" y="11860703"/>
            <a:ext cx="894080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230" name="reg-drop-slink-regs"/>
          <p:cNvCxnSpPr/>
          <p:nvPr/>
        </p:nvCxnSpPr>
        <p:spPr>
          <a:xfrm>
            <a:off x="13248640" y="11875008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31" name="vga-regs"/>
          <p:cNvSpPr/>
          <p:nvPr/>
        </p:nvSpPr>
        <p:spPr>
          <a:xfrm>
            <a:off x="1219200" y="12305792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object-232: VGA 配置"/>
          <p:cNvSpPr txBox="1"/>
          <p:nvPr/>
        </p:nvSpPr>
        <p:spPr>
          <a:xfrm>
            <a:off x="2003742" y="12338304"/>
            <a:ext cx="1031875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233" name="object-233: 时序 / 帧地址"/>
          <p:cNvSpPr txBox="1"/>
          <p:nvPr/>
        </p:nvSpPr>
        <p:spPr>
          <a:xfrm>
            <a:off x="1883175" y="12608479"/>
            <a:ext cx="1273010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234" name="reg-drop-vga-regs"/>
          <p:cNvCxnSpPr/>
          <p:nvPr/>
        </p:nvCxnSpPr>
        <p:spPr>
          <a:xfrm>
            <a:off x="1056640" y="12622784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35" name="usb-regs"/>
          <p:cNvSpPr/>
          <p:nvPr/>
        </p:nvSpPr>
        <p:spPr>
          <a:xfrm>
            <a:off x="4267200" y="12305792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object-236: USB 配置"/>
          <p:cNvSpPr txBox="1"/>
          <p:nvPr/>
        </p:nvSpPr>
        <p:spPr>
          <a:xfrm>
            <a:off x="5041627" y="12338304"/>
            <a:ext cx="1052106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237" name="object-237: OHCI 寄存器"/>
          <p:cNvSpPr txBox="1"/>
          <p:nvPr/>
        </p:nvSpPr>
        <p:spPr>
          <a:xfrm>
            <a:off x="4986788" y="12608479"/>
            <a:ext cx="1161783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238" name="reg-drop-usb-regs"/>
          <p:cNvCxnSpPr/>
          <p:nvPr/>
        </p:nvCxnSpPr>
        <p:spPr>
          <a:xfrm>
            <a:off x="4104640" y="12622784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39" name="err-vga"/>
          <p:cNvSpPr/>
          <p:nvPr/>
        </p:nvSpPr>
        <p:spPr>
          <a:xfrm>
            <a:off x="7315200" y="12305792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object-240: Bus-error · VGA"/>
          <p:cNvSpPr txBox="1"/>
          <p:nvPr/>
        </p:nvSpPr>
        <p:spPr>
          <a:xfrm>
            <a:off x="7840389" y="12338304"/>
            <a:ext cx="1550581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241" name="object-241: 错误记录"/>
          <p:cNvSpPr txBox="1"/>
          <p:nvPr/>
        </p:nvSpPr>
        <p:spPr>
          <a:xfrm>
            <a:off x="8168640" y="12608479"/>
            <a:ext cx="894080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242" name="reg-drop-err-vga"/>
          <p:cNvCxnSpPr/>
          <p:nvPr/>
        </p:nvCxnSpPr>
        <p:spPr>
          <a:xfrm>
            <a:off x="7152640" y="12622784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43" name="err-dma"/>
          <p:cNvSpPr/>
          <p:nvPr/>
        </p:nvSpPr>
        <p:spPr>
          <a:xfrm>
            <a:off x="10363200" y="12305792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object-244: Bus-error · iDMA"/>
          <p:cNvSpPr txBox="1"/>
          <p:nvPr/>
        </p:nvSpPr>
        <p:spPr>
          <a:xfrm>
            <a:off x="10837691" y="12338304"/>
            <a:ext cx="1651978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245" name="object-245: 错误记录"/>
          <p:cNvSpPr txBox="1"/>
          <p:nvPr/>
        </p:nvSpPr>
        <p:spPr>
          <a:xfrm>
            <a:off x="11216640" y="12608479"/>
            <a:ext cx="894080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246" name="reg-drop-err-dma"/>
          <p:cNvCxnSpPr/>
          <p:nvPr/>
        </p:nvCxnSpPr>
        <p:spPr>
          <a:xfrm>
            <a:off x="10200640" y="12622784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47" name="err-cpu"/>
          <p:cNvSpPr/>
          <p:nvPr/>
        </p:nvSpPr>
        <p:spPr>
          <a:xfrm>
            <a:off x="13411200" y="12305792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object-248: Bus-error · CPU"/>
          <p:cNvSpPr txBox="1"/>
          <p:nvPr/>
        </p:nvSpPr>
        <p:spPr>
          <a:xfrm>
            <a:off x="13932325" y="12338304"/>
            <a:ext cx="155870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249" name="object-249: 每核错误记录"/>
          <p:cNvSpPr txBox="1"/>
          <p:nvPr/>
        </p:nvSpPr>
        <p:spPr>
          <a:xfrm>
            <a:off x="14085824" y="12608479"/>
            <a:ext cx="1251712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250" name="reg-drop-err-cpu"/>
          <p:cNvCxnSpPr/>
          <p:nvPr/>
        </p:nvCxnSpPr>
        <p:spPr>
          <a:xfrm>
            <a:off x="13248640" y="12622784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51" name="irq-router"/>
          <p:cNvSpPr/>
          <p:nvPr/>
        </p:nvSpPr>
        <p:spPr>
          <a:xfrm>
            <a:off x="1219200" y="13053568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object-252: IRQ router"/>
          <p:cNvSpPr txBox="1"/>
          <p:nvPr/>
        </p:nvSpPr>
        <p:spPr>
          <a:xfrm>
            <a:off x="1969719" y="13086080"/>
            <a:ext cx="1099922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253" name="object-253: 可选中断路由"/>
          <p:cNvSpPr txBox="1"/>
          <p:nvPr/>
        </p:nvSpPr>
        <p:spPr>
          <a:xfrm>
            <a:off x="1893824" y="13356255"/>
            <a:ext cx="1251712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254" name="reg-drop-irq-router"/>
          <p:cNvCxnSpPr/>
          <p:nvPr/>
        </p:nvCxnSpPr>
        <p:spPr>
          <a:xfrm>
            <a:off x="1056640" y="13370560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55" name="axi-rt-config"/>
          <p:cNvSpPr/>
          <p:nvPr/>
        </p:nvSpPr>
        <p:spPr>
          <a:xfrm>
            <a:off x="4267200" y="13053568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object-256: AXI RT 配置"/>
          <p:cNvSpPr txBox="1"/>
          <p:nvPr/>
        </p:nvSpPr>
        <p:spPr>
          <a:xfrm>
            <a:off x="4950244" y="13086080"/>
            <a:ext cx="1234872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257" name="object-257: 可选流量调节"/>
          <p:cNvSpPr txBox="1"/>
          <p:nvPr/>
        </p:nvSpPr>
        <p:spPr>
          <a:xfrm>
            <a:off x="4941824" y="13356255"/>
            <a:ext cx="1251712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258" name="reg-drop-axi-rt-config"/>
          <p:cNvCxnSpPr/>
          <p:nvPr/>
        </p:nvCxnSpPr>
        <p:spPr>
          <a:xfrm>
            <a:off x="4104640" y="13370560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59" name="clic"/>
          <p:cNvSpPr/>
          <p:nvPr/>
        </p:nvSpPr>
        <p:spPr>
          <a:xfrm>
            <a:off x="7315200" y="13053568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object-260: CLIC"/>
          <p:cNvSpPr txBox="1"/>
          <p:nvPr/>
        </p:nvSpPr>
        <p:spPr>
          <a:xfrm>
            <a:off x="8311083" y="13086080"/>
            <a:ext cx="60919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261" name="object-261: 可选每核中断控制"/>
          <p:cNvSpPr txBox="1"/>
          <p:nvPr/>
        </p:nvSpPr>
        <p:spPr>
          <a:xfrm>
            <a:off x="7811008" y="13356255"/>
            <a:ext cx="1609344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262" name="reg-drop-clic"/>
          <p:cNvCxnSpPr/>
          <p:nvPr/>
        </p:nvCxnSpPr>
        <p:spPr>
          <a:xfrm>
            <a:off x="7152640" y="13370560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63" name="reg-error"/>
          <p:cNvSpPr/>
          <p:nvPr/>
        </p:nvSpPr>
        <p:spPr>
          <a:xfrm>
            <a:off x="10363200" y="13053568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object-264: reg_err_slv"/>
          <p:cNvSpPr txBox="1"/>
          <p:nvPr/>
        </p:nvSpPr>
        <p:spPr>
          <a:xfrm>
            <a:off x="11081074" y="13086080"/>
            <a:ext cx="1165212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265" name="object-265: 未匹配地址"/>
          <p:cNvSpPr txBox="1"/>
          <p:nvPr/>
        </p:nvSpPr>
        <p:spPr>
          <a:xfrm>
            <a:off x="11127232" y="13356255"/>
            <a:ext cx="1072896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266" name="reg-drop-reg-error"/>
          <p:cNvCxnSpPr/>
          <p:nvPr/>
        </p:nvCxnSpPr>
        <p:spPr>
          <a:xfrm>
            <a:off x="10200640" y="13370560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67" name="reg-ext"/>
          <p:cNvSpPr/>
          <p:nvPr/>
        </p:nvSpPr>
        <p:spPr>
          <a:xfrm>
            <a:off x="13411200" y="13053568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object-268: RegExt 扩展"/>
          <p:cNvSpPr txBox="1"/>
          <p:nvPr/>
        </p:nvSpPr>
        <p:spPr>
          <a:xfrm>
            <a:off x="14074007" y="13086080"/>
            <a:ext cx="1275347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269" name="object-269: 新增 IP 配置出口"/>
          <p:cNvSpPr txBox="1"/>
          <p:nvPr/>
        </p:nvSpPr>
        <p:spPr>
          <a:xfrm>
            <a:off x="13958957" y="13356255"/>
            <a:ext cx="1505445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270" name="reg-drop-reg-ext"/>
          <p:cNvCxnSpPr/>
          <p:nvPr/>
        </p:nvCxnSpPr>
        <p:spPr>
          <a:xfrm>
            <a:off x="13248640" y="13370560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71" name="ddr-controller"/>
          <p:cNvSpPr/>
          <p:nvPr/>
        </p:nvSpPr>
        <p:spPr>
          <a:xfrm>
            <a:off x="17150080" y="10403840"/>
            <a:ext cx="7884160" cy="300736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object-272: DDR Controller · 3 个 AXI slave"/>
          <p:cNvSpPr txBox="1"/>
          <p:nvPr/>
        </p:nvSpPr>
        <p:spPr>
          <a:xfrm>
            <a:off x="19333839" y="12993421"/>
            <a:ext cx="3516643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273" name="cfg-tag-C2-272"/>
          <p:cNvSpPr/>
          <p:nvPr/>
        </p:nvSpPr>
        <p:spPr>
          <a:xfrm>
            <a:off x="24465280" y="13094208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object-274: C2"/>
          <p:cNvSpPr txBox="1"/>
          <p:nvPr/>
        </p:nvSpPr>
        <p:spPr>
          <a:xfrm>
            <a:off x="24475948" y="13097459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275" name="ddr-S0"/>
          <p:cNvSpPr/>
          <p:nvPr/>
        </p:nvSpPr>
        <p:spPr>
          <a:xfrm>
            <a:off x="17312640" y="10403840"/>
            <a:ext cx="1788160" cy="8128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object-276: S0"/>
          <p:cNvSpPr txBox="1"/>
          <p:nvPr/>
        </p:nvSpPr>
        <p:spPr>
          <a:xfrm>
            <a:off x="17936204" y="10465613"/>
            <a:ext cx="541033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277" name="object-277: SoC / LLC"/>
          <p:cNvSpPr txBox="1"/>
          <p:nvPr/>
        </p:nvSpPr>
        <p:spPr>
          <a:xfrm>
            <a:off x="17668748" y="10827146"/>
            <a:ext cx="1075944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278" name="ddr-S-to-arb-0"/>
          <p:cNvCxnSpPr/>
          <p:nvPr/>
        </p:nvCxnSpPr>
        <p:spPr>
          <a:xfrm>
            <a:off x="18206720" y="11216640"/>
            <a:ext cx="0" cy="24384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279" name="ddr-S1"/>
          <p:cNvSpPr/>
          <p:nvPr/>
        </p:nvSpPr>
        <p:spPr>
          <a:xfrm>
            <a:off x="19994880" y="10403840"/>
            <a:ext cx="1788160" cy="8128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object-280: S1"/>
          <p:cNvSpPr txBox="1"/>
          <p:nvPr/>
        </p:nvSpPr>
        <p:spPr>
          <a:xfrm>
            <a:off x="20618444" y="10465613"/>
            <a:ext cx="541033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281" name="object-281: NPU / GB 搬运"/>
          <p:cNvSpPr txBox="1"/>
          <p:nvPr/>
        </p:nvSpPr>
        <p:spPr>
          <a:xfrm>
            <a:off x="20152011" y="10827146"/>
            <a:ext cx="1473898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282" name="ddr-S-to-arb-1"/>
          <p:cNvCxnSpPr/>
          <p:nvPr/>
        </p:nvCxnSpPr>
        <p:spPr>
          <a:xfrm>
            <a:off x="20888960" y="11216640"/>
            <a:ext cx="0" cy="24384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283" name="ddr-S2"/>
          <p:cNvSpPr/>
          <p:nvPr/>
        </p:nvSpPr>
        <p:spPr>
          <a:xfrm>
            <a:off x="22677120" y="10403840"/>
            <a:ext cx="1788160" cy="8128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object-284: S2"/>
          <p:cNvSpPr txBox="1"/>
          <p:nvPr/>
        </p:nvSpPr>
        <p:spPr>
          <a:xfrm>
            <a:off x="23300684" y="10465613"/>
            <a:ext cx="541033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285" name="object-285: 图像帧写入"/>
          <p:cNvSpPr txBox="1"/>
          <p:nvPr/>
        </p:nvSpPr>
        <p:spPr>
          <a:xfrm>
            <a:off x="22985984" y="10827146"/>
            <a:ext cx="1170432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286" name="ddr-S-to-arb-2"/>
          <p:cNvCxnSpPr/>
          <p:nvPr/>
        </p:nvCxnSpPr>
        <p:spPr>
          <a:xfrm>
            <a:off x="23571200" y="11216640"/>
            <a:ext cx="0" cy="24384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287" name="ddr-port-collect"/>
          <p:cNvCxnSpPr/>
          <p:nvPr/>
        </p:nvCxnSpPr>
        <p:spPr>
          <a:xfrm>
            <a:off x="18206720" y="11460480"/>
            <a:ext cx="536448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288" name="ddr-all-to-arbiter"/>
          <p:cNvCxnSpPr/>
          <p:nvPr/>
        </p:nvCxnSpPr>
        <p:spPr>
          <a:xfrm>
            <a:off x="18694400" y="11460480"/>
            <a:ext cx="0" cy="48768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89" name="ddr-scheduler"/>
          <p:cNvSpPr/>
          <p:nvPr/>
        </p:nvSpPr>
        <p:spPr>
          <a:xfrm>
            <a:off x="17475200" y="11948160"/>
            <a:ext cx="7274560" cy="10972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object-290: 端口仲裁 / QoS"/>
          <p:cNvSpPr txBox="1"/>
          <p:nvPr/>
        </p:nvSpPr>
        <p:spPr>
          <a:xfrm>
            <a:off x="17823529" y="12101292"/>
            <a:ext cx="1741742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291" name="object-291: 共享 DDR 带宽"/>
          <p:cNvSpPr txBox="1"/>
          <p:nvPr/>
        </p:nvSpPr>
        <p:spPr>
          <a:xfrm>
            <a:off x="17959260" y="12444618"/>
            <a:ext cx="1470279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292" name="ddr-schedule-step-0"/>
          <p:cNvCxnSpPr/>
          <p:nvPr/>
        </p:nvCxnSpPr>
        <p:spPr>
          <a:xfrm>
            <a:off x="19734784" y="12435840"/>
            <a:ext cx="300736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93" name="object-293: 读写调度"/>
          <p:cNvSpPr txBox="1"/>
          <p:nvPr/>
        </p:nvSpPr>
        <p:spPr>
          <a:xfrm>
            <a:off x="20559776" y="12101292"/>
            <a:ext cx="109728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294" name="object-294: Bank / Row"/>
          <p:cNvSpPr txBox="1"/>
          <p:nvPr/>
        </p:nvSpPr>
        <p:spPr>
          <a:xfrm>
            <a:off x="20510151" y="12444618"/>
            <a:ext cx="1196530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295" name="ddr-schedule-step-1"/>
          <p:cNvCxnSpPr/>
          <p:nvPr/>
        </p:nvCxnSpPr>
        <p:spPr>
          <a:xfrm>
            <a:off x="22148800" y="12435840"/>
            <a:ext cx="300736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96" name="object-296: 命令调度"/>
          <p:cNvSpPr txBox="1"/>
          <p:nvPr/>
        </p:nvSpPr>
        <p:spPr>
          <a:xfrm>
            <a:off x="22973792" y="12101292"/>
            <a:ext cx="109728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297" name="object-297: 控制器 → PHY"/>
          <p:cNvSpPr txBox="1"/>
          <p:nvPr/>
        </p:nvSpPr>
        <p:spPr>
          <a:xfrm>
            <a:off x="22802818" y="12444618"/>
            <a:ext cx="1439228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298" name="object-298: 共享同一 DDR 地址空间"/>
          <p:cNvSpPr txBox="1"/>
          <p:nvPr/>
        </p:nvSpPr>
        <p:spPr>
          <a:xfrm>
            <a:off x="20867205" y="11583700"/>
            <a:ext cx="2156790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299" name="ddr-phy"/>
          <p:cNvSpPr/>
          <p:nvPr/>
        </p:nvSpPr>
        <p:spPr>
          <a:xfrm>
            <a:off x="25440640" y="11923776"/>
            <a:ext cx="1625600" cy="1137920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object-300: DDR PHY"/>
          <p:cNvSpPr txBox="1"/>
          <p:nvPr/>
        </p:nvSpPr>
        <p:spPr>
          <a:xfrm>
            <a:off x="25682683" y="11978721"/>
            <a:ext cx="1141514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301" name="object-301: 训练 / 校准"/>
          <p:cNvSpPr txBox="1"/>
          <p:nvPr/>
        </p:nvSpPr>
        <p:spPr>
          <a:xfrm>
            <a:off x="25631731" y="12297664"/>
            <a:ext cx="124341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302" name="cfg-tag-C3-301"/>
          <p:cNvSpPr/>
          <p:nvPr/>
        </p:nvSpPr>
        <p:spPr>
          <a:xfrm>
            <a:off x="26562304" y="12736576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object-303: C3"/>
          <p:cNvSpPr txBox="1"/>
          <p:nvPr/>
        </p:nvSpPr>
        <p:spPr>
          <a:xfrm>
            <a:off x="26572972" y="12739827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304" name="ddr-phy-path"/>
          <p:cNvCxnSpPr/>
          <p:nvPr/>
        </p:nvCxnSpPr>
        <p:spPr>
          <a:xfrm>
            <a:off x="24749760" y="12435840"/>
            <a:ext cx="690880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305" name="dram"/>
          <p:cNvSpPr/>
          <p:nvPr/>
        </p:nvSpPr>
        <p:spPr>
          <a:xfrm>
            <a:off x="27797760" y="11923776"/>
            <a:ext cx="1219200" cy="1137920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object-306: DDR"/>
          <p:cNvSpPr txBox="1"/>
          <p:nvPr/>
        </p:nvSpPr>
        <p:spPr>
          <a:xfrm>
            <a:off x="28037282" y="11952387"/>
            <a:ext cx="740156" cy="40314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8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307" name="object-307: 片外器件"/>
          <p:cNvSpPr txBox="1"/>
          <p:nvPr/>
        </p:nvSpPr>
        <p:spPr>
          <a:xfrm>
            <a:off x="27899360" y="12297664"/>
            <a:ext cx="10160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308" name="phy-dram"/>
          <p:cNvCxnSpPr/>
          <p:nvPr/>
        </p:nvCxnSpPr>
        <p:spPr>
          <a:xfrm>
            <a:off x="27066240" y="12435840"/>
            <a:ext cx="73152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309" name="npu-ddr"/>
          <p:cNvSpPr/>
          <p:nvPr/>
        </p:nvSpPr>
        <p:spPr>
          <a:xfrm>
            <a:off x="17800320" y="4226560"/>
            <a:ext cx="7152640" cy="6177280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object-310: S1"/>
          <p:cNvSpPr txBox="1"/>
          <p:nvPr/>
        </p:nvSpPr>
        <p:spPr>
          <a:xfrm>
            <a:off x="24922607" y="7209536"/>
            <a:ext cx="45085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11" name="frame-ddr"/>
          <p:cNvSpPr/>
          <p:nvPr/>
        </p:nvSpPr>
        <p:spPr>
          <a:xfrm>
            <a:off x="23359872" y="4064000"/>
            <a:ext cx="2771648" cy="633984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object-312: S2"/>
          <p:cNvSpPr txBox="1"/>
          <p:nvPr/>
        </p:nvSpPr>
        <p:spPr>
          <a:xfrm>
            <a:off x="26109295" y="7209536"/>
            <a:ext cx="45085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13" name="llc-ddr"/>
          <p:cNvSpPr/>
          <p:nvPr/>
        </p:nvSpPr>
        <p:spPr>
          <a:xfrm>
            <a:off x="11379200" y="9460992"/>
            <a:ext cx="6827520" cy="942848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object-314: S0 · LLC 外存出口"/>
          <p:cNvSpPr txBox="1"/>
          <p:nvPr/>
        </p:nvSpPr>
        <p:spPr>
          <a:xfrm>
            <a:off x="13673582" y="9754250"/>
            <a:ext cx="1751076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外存出口</a:t>
            </a:r>
          </a:p>
        </p:txBody>
      </p:sp>
      <p:sp>
        <p:nvSpPr>
          <p:cNvPr id="315" name="clock-reset"/>
          <p:cNvSpPr/>
          <p:nvPr/>
        </p:nvSpPr>
        <p:spPr>
          <a:xfrm>
            <a:off x="17475200" y="13655040"/>
            <a:ext cx="4267200" cy="601472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object-316: PLL / 时钟与复位分发"/>
          <p:cNvSpPr txBox="1"/>
          <p:nvPr/>
        </p:nvSpPr>
        <p:spPr>
          <a:xfrm>
            <a:off x="18393639" y="13709985"/>
            <a:ext cx="2430323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317" name="cfg-tag-C1-316"/>
          <p:cNvSpPr/>
          <p:nvPr/>
        </p:nvSpPr>
        <p:spPr>
          <a:xfrm>
            <a:off x="21165312" y="13825728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object-318: C1"/>
          <p:cNvSpPr txBox="1"/>
          <p:nvPr/>
        </p:nvSpPr>
        <p:spPr>
          <a:xfrm>
            <a:off x="21175980" y="13828979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319" name="object-319: RefClk / POR → clk_i / rst_ni"/>
          <p:cNvSpPr txBox="1"/>
          <p:nvPr/>
        </p:nvSpPr>
        <p:spPr>
          <a:xfrm>
            <a:off x="21875826" y="13809472"/>
            <a:ext cx="2821788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320" name="regext-control-bus"/>
          <p:cNvSpPr/>
          <p:nvPr/>
        </p:nvSpPr>
        <p:spPr>
          <a:xfrm>
            <a:off x="16012160" y="13370560"/>
            <a:ext cx="650240" cy="109728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1" name="config-bus"/>
          <p:cNvCxnSpPr/>
          <p:nvPr/>
        </p:nvCxnSpPr>
        <p:spPr>
          <a:xfrm>
            <a:off x="2153920" y="14467840"/>
            <a:ext cx="23815040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322" name="cfg-drop-0"/>
          <p:cNvCxnSpPr/>
          <p:nvPr/>
        </p:nvCxnSpPr>
        <p:spPr>
          <a:xfrm>
            <a:off x="2113280" y="14467840"/>
            <a:ext cx="0" cy="20320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23" name="config-C1"/>
          <p:cNvSpPr/>
          <p:nvPr/>
        </p:nvSpPr>
        <p:spPr>
          <a:xfrm>
            <a:off x="772160" y="14671040"/>
            <a:ext cx="2722880" cy="812800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cfg-tag-C1-323"/>
          <p:cNvSpPr/>
          <p:nvPr/>
        </p:nvSpPr>
        <p:spPr>
          <a:xfrm>
            <a:off x="837184" y="14744192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object-325: C1"/>
          <p:cNvSpPr txBox="1"/>
          <p:nvPr/>
        </p:nvSpPr>
        <p:spPr>
          <a:xfrm>
            <a:off x="847852" y="14747443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326" name="object-326: PLL / 时钟复位"/>
          <p:cNvSpPr txBox="1"/>
          <p:nvPr/>
        </p:nvSpPr>
        <p:spPr>
          <a:xfrm>
            <a:off x="1536319" y="14776704"/>
            <a:ext cx="1560322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327" name="object-327: 配置 / 锁定 / 切换"/>
          <p:cNvSpPr txBox="1"/>
          <p:nvPr/>
        </p:nvSpPr>
        <p:spPr>
          <a:xfrm>
            <a:off x="1266012" y="15111252"/>
            <a:ext cx="1727048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328" name="cfg-drop-1"/>
          <p:cNvCxnSpPr/>
          <p:nvPr/>
        </p:nvCxnSpPr>
        <p:spPr>
          <a:xfrm>
            <a:off x="5080000" y="14467840"/>
            <a:ext cx="0" cy="20320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29" name="config-C2"/>
          <p:cNvSpPr/>
          <p:nvPr/>
        </p:nvSpPr>
        <p:spPr>
          <a:xfrm>
            <a:off x="3738880" y="14671040"/>
            <a:ext cx="2722880" cy="812800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cfg-tag-C2-329"/>
          <p:cNvSpPr/>
          <p:nvPr/>
        </p:nvSpPr>
        <p:spPr>
          <a:xfrm>
            <a:off x="3803904" y="14744192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object-331: C2"/>
          <p:cNvSpPr txBox="1"/>
          <p:nvPr/>
        </p:nvSpPr>
        <p:spPr>
          <a:xfrm>
            <a:off x="3814572" y="14747443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332" name="object-332: DDR Controller"/>
          <p:cNvSpPr txBox="1"/>
          <p:nvPr/>
        </p:nvSpPr>
        <p:spPr>
          <a:xfrm>
            <a:off x="4526369" y="14776704"/>
            <a:ext cx="1513662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333" name="object-333: 初始化 / QoS / 状态"/>
          <p:cNvSpPr txBox="1"/>
          <p:nvPr/>
        </p:nvSpPr>
        <p:spPr>
          <a:xfrm>
            <a:off x="4156329" y="15111252"/>
            <a:ext cx="1879854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334" name="cfg-drop-2"/>
          <p:cNvCxnSpPr/>
          <p:nvPr/>
        </p:nvCxnSpPr>
        <p:spPr>
          <a:xfrm>
            <a:off x="8046720" y="14467840"/>
            <a:ext cx="0" cy="20320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35" name="config-C3"/>
          <p:cNvSpPr/>
          <p:nvPr/>
        </p:nvSpPr>
        <p:spPr>
          <a:xfrm>
            <a:off x="6705600" y="14671040"/>
            <a:ext cx="2722880" cy="812800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cfg-tag-C3-335"/>
          <p:cNvSpPr/>
          <p:nvPr/>
        </p:nvSpPr>
        <p:spPr>
          <a:xfrm>
            <a:off x="6770624" y="14744192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object-337: C3"/>
          <p:cNvSpPr txBox="1"/>
          <p:nvPr/>
        </p:nvSpPr>
        <p:spPr>
          <a:xfrm>
            <a:off x="6781292" y="14747443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338" name="object-338: DDR PHY"/>
          <p:cNvSpPr txBox="1"/>
          <p:nvPr/>
        </p:nvSpPr>
        <p:spPr>
          <a:xfrm>
            <a:off x="7740332" y="14776704"/>
            <a:ext cx="1019175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339" name="object-339: training / 校准"/>
          <p:cNvSpPr txBox="1"/>
          <p:nvPr/>
        </p:nvSpPr>
        <p:spPr>
          <a:xfrm>
            <a:off x="7375620" y="15111252"/>
            <a:ext cx="1374712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340" name="cfg-drop-3"/>
          <p:cNvCxnSpPr/>
          <p:nvPr/>
        </p:nvCxnSpPr>
        <p:spPr>
          <a:xfrm>
            <a:off x="11013440" y="14467840"/>
            <a:ext cx="0" cy="20320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41" name="config-C4"/>
          <p:cNvSpPr/>
          <p:nvPr/>
        </p:nvSpPr>
        <p:spPr>
          <a:xfrm>
            <a:off x="9672320" y="14671040"/>
            <a:ext cx="2722880" cy="812800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cfg-tag-C4-341"/>
          <p:cNvSpPr/>
          <p:nvPr/>
        </p:nvSpPr>
        <p:spPr>
          <a:xfrm>
            <a:off x="9737344" y="14744192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object-343: C4"/>
          <p:cNvSpPr txBox="1"/>
          <p:nvPr/>
        </p:nvSpPr>
        <p:spPr>
          <a:xfrm>
            <a:off x="9748012" y="14747443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4" name="object-344: LVDS"/>
          <p:cNvSpPr txBox="1"/>
          <p:nvPr/>
        </p:nvSpPr>
        <p:spPr>
          <a:xfrm>
            <a:off x="10877512" y="14776704"/>
            <a:ext cx="678256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345" name="object-345: 通道 / 对齐 / 帧行"/>
          <p:cNvSpPr txBox="1"/>
          <p:nvPr/>
        </p:nvSpPr>
        <p:spPr>
          <a:xfrm>
            <a:off x="10166172" y="15111252"/>
            <a:ext cx="1727048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346" name="cfg-drop-4"/>
          <p:cNvCxnSpPr/>
          <p:nvPr/>
        </p:nvCxnSpPr>
        <p:spPr>
          <a:xfrm>
            <a:off x="13980160" y="14467840"/>
            <a:ext cx="0" cy="20320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47" name="config-C5"/>
          <p:cNvSpPr/>
          <p:nvPr/>
        </p:nvSpPr>
        <p:spPr>
          <a:xfrm>
            <a:off x="12639040" y="14671040"/>
            <a:ext cx="2722880" cy="812800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cfg-tag-C5-347"/>
          <p:cNvSpPr/>
          <p:nvPr/>
        </p:nvSpPr>
        <p:spPr>
          <a:xfrm>
            <a:off x="12704064" y="14744192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object-349: C5"/>
          <p:cNvSpPr txBox="1"/>
          <p:nvPr/>
        </p:nvSpPr>
        <p:spPr>
          <a:xfrm>
            <a:off x="12714732" y="14747443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50" name="object-350: ISP"/>
          <p:cNvSpPr txBox="1"/>
          <p:nvPr/>
        </p:nvSpPr>
        <p:spPr>
          <a:xfrm>
            <a:off x="13935615" y="14776704"/>
            <a:ext cx="49549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51" name="object-351: 尺寸 / 模式 / 参数"/>
          <p:cNvSpPr txBox="1"/>
          <p:nvPr/>
        </p:nvSpPr>
        <p:spPr>
          <a:xfrm>
            <a:off x="13132892" y="15111252"/>
            <a:ext cx="1727048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352" name="cfg-drop-5"/>
          <p:cNvCxnSpPr/>
          <p:nvPr/>
        </p:nvCxnSpPr>
        <p:spPr>
          <a:xfrm>
            <a:off x="16946880" y="14467840"/>
            <a:ext cx="0" cy="20320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53" name="config-C6"/>
          <p:cNvSpPr/>
          <p:nvPr/>
        </p:nvSpPr>
        <p:spPr>
          <a:xfrm>
            <a:off x="15605760" y="14671040"/>
            <a:ext cx="2722880" cy="812800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cfg-tag-C6-353"/>
          <p:cNvSpPr/>
          <p:nvPr/>
        </p:nvSpPr>
        <p:spPr>
          <a:xfrm>
            <a:off x="15670784" y="14744192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object-355: C6"/>
          <p:cNvSpPr txBox="1"/>
          <p:nvPr/>
        </p:nvSpPr>
        <p:spPr>
          <a:xfrm>
            <a:off x="15681452" y="14747443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56" name="object-356: NPU 计算"/>
          <p:cNvSpPr txBox="1"/>
          <p:nvPr/>
        </p:nvSpPr>
        <p:spPr>
          <a:xfrm>
            <a:off x="16626008" y="14776704"/>
            <a:ext cx="104814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357" name="object-357: 命令 / GB 数据位置"/>
          <p:cNvSpPr txBox="1"/>
          <p:nvPr/>
        </p:nvSpPr>
        <p:spPr>
          <a:xfrm>
            <a:off x="16056712" y="15111252"/>
            <a:ext cx="1812849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358" name="cfg-drop-6"/>
          <p:cNvCxnSpPr/>
          <p:nvPr/>
        </p:nvCxnSpPr>
        <p:spPr>
          <a:xfrm>
            <a:off x="19913600" y="14467840"/>
            <a:ext cx="0" cy="20320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59" name="config-C7"/>
          <p:cNvSpPr/>
          <p:nvPr/>
        </p:nvSpPr>
        <p:spPr>
          <a:xfrm>
            <a:off x="18572480" y="14671040"/>
            <a:ext cx="2722880" cy="812800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cfg-tag-C7-359"/>
          <p:cNvSpPr/>
          <p:nvPr/>
        </p:nvSpPr>
        <p:spPr>
          <a:xfrm>
            <a:off x="18637504" y="14744192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object-361: C7"/>
          <p:cNvSpPr txBox="1"/>
          <p:nvPr/>
        </p:nvSpPr>
        <p:spPr>
          <a:xfrm>
            <a:off x="18648172" y="14747443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62" name="object-362: NPU / GB 搬运"/>
          <p:cNvSpPr txBox="1"/>
          <p:nvPr/>
        </p:nvSpPr>
        <p:spPr>
          <a:xfrm>
            <a:off x="19349142" y="14776704"/>
            <a:ext cx="1535316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363" name="object-363: 地址 / 长度 / stride"/>
          <p:cNvSpPr txBox="1"/>
          <p:nvPr/>
        </p:nvSpPr>
        <p:spPr>
          <a:xfrm>
            <a:off x="19021870" y="15111252"/>
            <a:ext cx="1815973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364" name="cfg-drop-7"/>
          <p:cNvCxnSpPr/>
          <p:nvPr/>
        </p:nvCxnSpPr>
        <p:spPr>
          <a:xfrm>
            <a:off x="22880320" y="14467840"/>
            <a:ext cx="0" cy="20320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65" name="config-C8"/>
          <p:cNvSpPr/>
          <p:nvPr/>
        </p:nvSpPr>
        <p:spPr>
          <a:xfrm>
            <a:off x="21539200" y="14671040"/>
            <a:ext cx="2722880" cy="812800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cfg-tag-C8-365"/>
          <p:cNvSpPr/>
          <p:nvPr/>
        </p:nvSpPr>
        <p:spPr>
          <a:xfrm>
            <a:off x="21604224" y="14744192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object-367: C8"/>
          <p:cNvSpPr txBox="1"/>
          <p:nvPr/>
        </p:nvSpPr>
        <p:spPr>
          <a:xfrm>
            <a:off x="21614892" y="14747443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68" name="object-368: 帧写入 DMA"/>
          <p:cNvSpPr txBox="1"/>
          <p:nvPr/>
        </p:nvSpPr>
        <p:spPr>
          <a:xfrm>
            <a:off x="22439592" y="14776704"/>
            <a:ext cx="1287856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69" name="object-369: 缓冲区 / 格式 / 帧状态"/>
          <p:cNvSpPr txBox="1"/>
          <p:nvPr/>
        </p:nvSpPr>
        <p:spPr>
          <a:xfrm>
            <a:off x="21846108" y="15111252"/>
            <a:ext cx="2100936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370" name="cfg-drop-8"/>
          <p:cNvCxnSpPr/>
          <p:nvPr/>
        </p:nvCxnSpPr>
        <p:spPr>
          <a:xfrm>
            <a:off x="25847040" y="14467840"/>
            <a:ext cx="0" cy="20320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71" name="config-C9"/>
          <p:cNvSpPr/>
          <p:nvPr/>
        </p:nvSpPr>
        <p:spPr>
          <a:xfrm>
            <a:off x="24505920" y="14671040"/>
            <a:ext cx="2722880" cy="812800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cfg-tag-C9-371"/>
          <p:cNvSpPr/>
          <p:nvPr/>
        </p:nvSpPr>
        <p:spPr>
          <a:xfrm>
            <a:off x="24570944" y="14744192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object-373: C9"/>
          <p:cNvSpPr txBox="1"/>
          <p:nvPr/>
        </p:nvSpPr>
        <p:spPr>
          <a:xfrm>
            <a:off x="24581612" y="14747443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74" name="object-374: GB 管理"/>
          <p:cNvSpPr txBox="1"/>
          <p:nvPr/>
        </p:nvSpPr>
        <p:spPr>
          <a:xfrm>
            <a:off x="25585102" y="14776704"/>
            <a:ext cx="930275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管理</a:t>
            </a:r>
          </a:p>
        </p:txBody>
      </p:sp>
      <p:sp>
        <p:nvSpPr>
          <p:cNvPr id="375" name="object-375: 能力 / bank / 错误"/>
          <p:cNvSpPr txBox="1"/>
          <p:nvPr/>
        </p:nvSpPr>
        <p:spPr>
          <a:xfrm>
            <a:off x="24988818" y="15111252"/>
            <a:ext cx="1748955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376" name="legend-314D66"/>
          <p:cNvCxnSpPr/>
          <p:nvPr/>
        </p:nvCxnSpPr>
        <p:spPr>
          <a:xfrm>
            <a:off x="650240" y="16012160"/>
            <a:ext cx="536448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377" name="object-377: AXI 请求 / 数据"/>
          <p:cNvSpPr txBox="1"/>
          <p:nvPr/>
        </p:nvSpPr>
        <p:spPr>
          <a:xfrm>
            <a:off x="1316736" y="15857728"/>
            <a:ext cx="1580363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数据</a:t>
            </a:r>
          </a:p>
        </p:txBody>
      </p:sp>
      <p:cxnSp>
        <p:nvCxnSpPr>
          <p:cNvPr id="378" name="legend-187C78"/>
          <p:cNvCxnSpPr/>
          <p:nvPr/>
        </p:nvCxnSpPr>
        <p:spPr>
          <a:xfrm>
            <a:off x="4389120" y="16012160"/>
            <a:ext cx="536448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379" name="object-379: GB 读写"/>
          <p:cNvSpPr txBox="1"/>
          <p:nvPr/>
        </p:nvSpPr>
        <p:spPr>
          <a:xfrm>
            <a:off x="5055616" y="15857728"/>
            <a:ext cx="930275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读写</a:t>
            </a:r>
          </a:p>
        </p:txBody>
      </p:sp>
      <p:cxnSp>
        <p:nvCxnSpPr>
          <p:cNvPr id="380" name="legend-B96043"/>
          <p:cNvCxnSpPr/>
          <p:nvPr/>
        </p:nvCxnSpPr>
        <p:spPr>
          <a:xfrm>
            <a:off x="7355840" y="16012160"/>
            <a:ext cx="536448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381" name="object-381: 像素流"/>
          <p:cNvSpPr txBox="1"/>
          <p:nvPr/>
        </p:nvSpPr>
        <p:spPr>
          <a:xfrm>
            <a:off x="8022336" y="15857728"/>
            <a:ext cx="8128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cxnSp>
        <p:nvCxnSpPr>
          <p:cNvPr id="382" name="legend-765489"/>
          <p:cNvCxnSpPr/>
          <p:nvPr/>
        </p:nvCxnSpPr>
        <p:spPr>
          <a:xfrm>
            <a:off x="10078720" y="16012160"/>
            <a:ext cx="536448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83" name="object-383: 配置 / 控制"/>
          <p:cNvSpPr txBox="1"/>
          <p:nvPr/>
        </p:nvSpPr>
        <p:spPr>
          <a:xfrm>
            <a:off x="10745216" y="15857728"/>
            <a:ext cx="124341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384" name="legend-dash"/>
          <p:cNvSpPr/>
          <p:nvPr/>
        </p:nvSpPr>
        <p:spPr>
          <a:xfrm>
            <a:off x="13736320" y="15898368"/>
            <a:ext cx="438912" cy="211328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object-385: 虚线：可选或新增候选"/>
          <p:cNvSpPr txBox="1"/>
          <p:nvPr/>
        </p:nvSpPr>
        <p:spPr>
          <a:xfrm>
            <a:off x="14305280" y="15857728"/>
            <a:ext cx="22352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</a:p>
        </p:txBody>
      </p:sp>
      <p:sp>
        <p:nvSpPr>
          <p:cNvPr id="386" name="object-386: C1–C9：同一 IP 配置端"/>
          <p:cNvSpPr txBox="1"/>
          <p:nvPr/>
        </p:nvSpPr>
        <p:spPr>
          <a:xfrm>
            <a:off x="19669760" y="15857728"/>
            <a:ext cx="231894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C1–C9：同一 IP 配置端</a:t>
            </a:r>
          </a:p>
        </p:txBody>
      </p:sp>
      <p:sp>
        <p:nvSpPr>
          <p:cNvPr id="387" name="object-387: AXI 返回通道合并示意"/>
          <p:cNvSpPr txBox="1"/>
          <p:nvPr/>
        </p:nvSpPr>
        <p:spPr>
          <a:xfrm>
            <a:off x="25398870" y="15875284"/>
            <a:ext cx="1992490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AXI 返回通道合并示意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-002: Cheshire + CVA6 + Ara · SoC 扩展架构"/>
          <p:cNvSpPr txBox="1"/>
          <p:nvPr/>
        </p:nvSpPr>
        <p:spPr>
          <a:xfrm>
            <a:off x="473336" y="400787"/>
            <a:ext cx="7095744" cy="6334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17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Cheshire + CVA6 + Ara · SoC 扩展架构</a:t>
            </a:r>
          </a:p>
        </p:txBody>
      </p:sp>
      <p:sp>
        <p:nvSpPr>
          <p:cNvPr id="3" name="obj-003: 版本 2 · 原版配色与结构重排"/>
          <p:cNvSpPr txBox="1"/>
          <p:nvPr/>
        </p:nvSpPr>
        <p:spPr>
          <a:xfrm>
            <a:off x="516367" y="947447"/>
            <a:ext cx="3192305" cy="3717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9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版本 2 · 原版配色与结构重排</a:t>
            </a:r>
          </a:p>
        </p:txBody>
      </p:sp>
      <p:sp>
        <p:nvSpPr>
          <p:cNvPr id="4" name="soc-boundary"/>
          <p:cNvSpPr/>
          <p:nvPr/>
        </p:nvSpPr>
        <p:spPr>
          <a:xfrm>
            <a:off x="301214" y="1473798"/>
            <a:ext cx="28529280" cy="13898880"/>
          </a:xfrm>
          <a:custGeom>
            <a:avLst/>
            <a:gdLst/>
            <a:ahLst/>
            <a:cxnLst/>
            <a:rect l="0" t="0" r="r" b="b"/>
            <a:pathLst>
              <a:path w="28529280" h="13898880">
                <a:moveTo>
                  <a:pt x="0" y="0"/>
                </a:moveTo>
                <a:lnTo>
                  <a:pt x="28529280" y="0"/>
                </a:lnTo>
                <a:lnTo>
                  <a:pt x="28529280" y="6282466"/>
                </a:lnTo>
                <a:lnTo>
                  <a:pt x="26721995" y="6282466"/>
                </a:lnTo>
                <a:lnTo>
                  <a:pt x="26721995" y="8089751"/>
                </a:lnTo>
                <a:lnTo>
                  <a:pt x="28529280" y="8089751"/>
                </a:lnTo>
                <a:lnTo>
                  <a:pt x="28529280" y="13898880"/>
                </a:lnTo>
                <a:lnTo>
                  <a:pt x="0" y="13898880"/>
                </a:lnTo>
                <a:close/>
              </a:path>
            </a:pathLst>
          </a:custGeom>
          <a:solidFill>
            <a:srgbClr val="FBFCFE"/>
          </a:solidFill>
          <a:ln w="21515" cap="flat">
            <a:solidFill>
              <a:srgbClr val="526A7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pu-ara-domain"/>
          <p:cNvSpPr/>
          <p:nvPr/>
        </p:nvSpPr>
        <p:spPr>
          <a:xfrm>
            <a:off x="516367" y="1688951"/>
            <a:ext cx="9294607" cy="2495774"/>
          </a:xfrm>
          <a:prstGeom prst="roundRect">
            <a:avLst>
              <a:gd name="adj" fmla="val 3448"/>
            </a:avLst>
          </a:prstGeom>
          <a:solidFill>
            <a:srgbClr val="F4F8FD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bj-006: CVA6–Ara 处理子系统"/>
          <p:cNvSpPr txBox="1"/>
          <p:nvPr/>
        </p:nvSpPr>
        <p:spPr>
          <a:xfrm>
            <a:off x="740126" y="1737145"/>
            <a:ext cx="2739690" cy="4130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32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CVA6–Ara 处理子系统</a:t>
            </a:r>
          </a:p>
        </p:txBody>
      </p:sp>
      <p:sp>
        <p:nvSpPr>
          <p:cNvPr id="7" name="cpu"/>
          <p:cNvSpPr/>
          <p:nvPr/>
        </p:nvSpPr>
        <p:spPr>
          <a:xfrm>
            <a:off x="774551" y="2394652"/>
            <a:ext cx="2409713" cy="1179038"/>
          </a:xfrm>
          <a:prstGeom prst="roundRect">
            <a:avLst>
              <a:gd name="adj" fmla="val 4379"/>
            </a:avLst>
          </a:prstGeom>
          <a:solidFill>
            <a:srgbClr val="EDF4FB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bj-008: CVA6 core 0"/>
          <p:cNvSpPr txBox="1"/>
          <p:nvPr/>
        </p:nvSpPr>
        <p:spPr>
          <a:xfrm>
            <a:off x="1234205" y="2547755"/>
            <a:ext cx="1490405" cy="3717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9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9" name="obj-009: L1 I / D · MMU"/>
          <p:cNvSpPr txBox="1"/>
          <p:nvPr/>
        </p:nvSpPr>
        <p:spPr>
          <a:xfrm>
            <a:off x="1199209" y="2842429"/>
            <a:ext cx="1560397" cy="3304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6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L1 I / D · MMU</a:t>
            </a:r>
          </a:p>
        </p:txBody>
      </p:sp>
      <p:sp>
        <p:nvSpPr>
          <p:cNvPr id="10" name="obj-010: AXI 适配"/>
          <p:cNvSpPr txBox="1"/>
          <p:nvPr/>
        </p:nvSpPr>
        <p:spPr>
          <a:xfrm>
            <a:off x="1498339" y="3109218"/>
            <a:ext cx="962137" cy="3304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6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AXI 适配</a:t>
            </a:r>
          </a:p>
        </p:txBody>
      </p:sp>
      <p:sp>
        <p:nvSpPr>
          <p:cNvPr id="11" name="ara"/>
          <p:cNvSpPr/>
          <p:nvPr/>
        </p:nvSpPr>
        <p:spPr>
          <a:xfrm>
            <a:off x="3958814" y="2394652"/>
            <a:ext cx="5593976" cy="1376979"/>
          </a:xfrm>
          <a:prstGeom prst="roundRect">
            <a:avLst>
              <a:gd name="adj" fmla="val 3750"/>
            </a:avLst>
          </a:prstGeom>
          <a:solidFill>
            <a:srgbClr val="EDF4FB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bj-012: Ara · VLSU / AXI 32 × lanes"/>
          <p:cNvSpPr txBox="1"/>
          <p:nvPr/>
        </p:nvSpPr>
        <p:spPr>
          <a:xfrm>
            <a:off x="5174146" y="2418405"/>
            <a:ext cx="3163313" cy="385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Ara · VLSU / AXI 32 × lanes</a:t>
            </a:r>
          </a:p>
        </p:txBody>
      </p:sp>
      <p:sp>
        <p:nvSpPr>
          <p:cNvPr id="13" name="ara-filter"/>
          <p:cNvSpPr/>
          <p:nvPr/>
        </p:nvSpPr>
        <p:spPr>
          <a:xfrm>
            <a:off x="4130936" y="2919625"/>
            <a:ext cx="1290918" cy="6454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bj-014: 失效过滤"/>
          <p:cNvSpPr txBox="1"/>
          <p:nvPr/>
        </p:nvSpPr>
        <p:spPr>
          <a:xfrm>
            <a:off x="4260028" y="2958181"/>
            <a:ext cx="1032734" cy="3304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6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5" name="obj-015: 现有 filter"/>
          <p:cNvSpPr txBox="1"/>
          <p:nvPr/>
        </p:nvSpPr>
        <p:spPr>
          <a:xfrm>
            <a:off x="4301452" y="3252854"/>
            <a:ext cx="949887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6" name="ara-split"/>
          <p:cNvSpPr/>
          <p:nvPr/>
        </p:nvSpPr>
        <p:spPr>
          <a:xfrm>
            <a:off x="5680038" y="2919625"/>
            <a:ext cx="1420009" cy="645459"/>
          </a:xfrm>
          <a:prstGeom prst="roundRect">
            <a:avLst>
              <a:gd name="adj" fmla="val 8000"/>
            </a:avLst>
          </a:prstGeom>
          <a:solidFill>
            <a:srgbClr val="F3EDF8"/>
          </a:solidFill>
          <a:ln w="17212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bj-017: 地址分流"/>
          <p:cNvSpPr txBox="1"/>
          <p:nvPr/>
        </p:nvSpPr>
        <p:spPr>
          <a:xfrm>
            <a:off x="5852160" y="2951898"/>
            <a:ext cx="1075765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18" name="obj-018: GB 分支"/>
          <p:cNvSpPr txBox="1"/>
          <p:nvPr/>
        </p:nvSpPr>
        <p:spPr>
          <a:xfrm>
            <a:off x="5956644" y="3246572"/>
            <a:ext cx="866797" cy="3029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GB 分支</a:t>
            </a:r>
          </a:p>
        </p:txBody>
      </p:sp>
      <p:sp>
        <p:nvSpPr>
          <p:cNvPr id="19" name="ara-width"/>
          <p:cNvSpPr/>
          <p:nvPr/>
        </p:nvSpPr>
        <p:spPr>
          <a:xfrm>
            <a:off x="7358231" y="2919625"/>
            <a:ext cx="1979407" cy="6454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bj-020: 位宽适配"/>
          <p:cNvSpPr txBox="1"/>
          <p:nvPr/>
        </p:nvSpPr>
        <p:spPr>
          <a:xfrm>
            <a:off x="7810052" y="2951898"/>
            <a:ext cx="1075765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21" name="obj-021: 普通路径 → 64 bit"/>
          <p:cNvSpPr txBox="1"/>
          <p:nvPr/>
        </p:nvSpPr>
        <p:spPr>
          <a:xfrm>
            <a:off x="7477345" y="3246572"/>
            <a:ext cx="1741179" cy="3029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普通路径 → 64 bit</a:t>
            </a:r>
          </a:p>
        </p:txBody>
      </p:sp>
      <p:cxnSp>
        <p:nvCxnSpPr>
          <p:cNvPr id="22" name="filter-split"/>
          <p:cNvCxnSpPr/>
          <p:nvPr/>
        </p:nvCxnSpPr>
        <p:spPr>
          <a:xfrm>
            <a:off x="5421854" y="3238052"/>
            <a:ext cx="258184" cy="0"/>
          </a:xfrm>
          <a:prstGeom prst="line">
            <a:avLst/>
          </a:prstGeom>
          <a:ln w="25818" cap="flat">
            <a:solidFill>
              <a:srgbClr val="347BB2"/>
            </a:solidFill>
            <a:tailEnd type="triangle" w="med" len="med"/>
          </a:ln>
          <a:effectLst/>
        </p:spPr>
      </p:cxnSp>
      <p:cxnSp>
        <p:nvCxnSpPr>
          <p:cNvPr id="23" name="split-width"/>
          <p:cNvCxnSpPr/>
          <p:nvPr/>
        </p:nvCxnSpPr>
        <p:spPr>
          <a:xfrm>
            <a:off x="7100047" y="3238052"/>
            <a:ext cx="258184" cy="0"/>
          </a:xfrm>
          <a:prstGeom prst="line">
            <a:avLst/>
          </a:prstGeom>
          <a:ln w="25818" cap="flat">
            <a:solidFill>
              <a:srgbClr val="347BB2"/>
            </a:solidFill>
            <a:tailEnd type="triangle" w="med" len="med"/>
          </a:ln>
          <a:effectLst/>
        </p:spPr>
      </p:cxnSp>
      <p:cxnSp>
        <p:nvCxnSpPr>
          <p:cNvPr id="24" name="cpu-ara-control"/>
          <p:cNvCxnSpPr/>
          <p:nvPr/>
        </p:nvCxnSpPr>
        <p:spPr>
          <a:xfrm>
            <a:off x="3184264" y="2678654"/>
            <a:ext cx="774550" cy="0"/>
          </a:xfrm>
          <a:prstGeom prst="line">
            <a:avLst/>
          </a:prstGeom>
          <a:ln w="21515" cap="flat">
            <a:solidFill>
              <a:srgbClr val="8663A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25" name="obj-025: 指令"/>
          <p:cNvSpPr txBox="1"/>
          <p:nvPr/>
        </p:nvSpPr>
        <p:spPr>
          <a:xfrm>
            <a:off x="3313355" y="2389489"/>
            <a:ext cx="516367" cy="2753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0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指令</a:t>
            </a:r>
          </a:p>
        </p:txBody>
      </p:sp>
      <p:sp>
        <p:nvSpPr>
          <p:cNvPr id="26" name="obj-026: MMU"/>
          <p:cNvSpPr txBox="1"/>
          <p:nvPr/>
        </p:nvSpPr>
        <p:spPr>
          <a:xfrm>
            <a:off x="3289393" y="2768158"/>
            <a:ext cx="564292" cy="2753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0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MMU</a:t>
            </a:r>
          </a:p>
        </p:txBody>
      </p:sp>
      <p:sp>
        <p:nvSpPr>
          <p:cNvPr id="27" name="gb-npu-domain"/>
          <p:cNvSpPr/>
          <p:nvPr/>
        </p:nvSpPr>
        <p:spPr>
          <a:xfrm>
            <a:off x="10069158" y="1688951"/>
            <a:ext cx="9380668" cy="2495774"/>
          </a:xfrm>
          <a:prstGeom prst="roundRect">
            <a:avLst>
              <a:gd name="adj" fmla="val 3448"/>
            </a:avLst>
          </a:prstGeom>
          <a:solidFill>
            <a:srgbClr val="F6FBF8"/>
          </a:solidFill>
          <a:ln w="17212" cap="flat">
            <a:solidFill>
              <a:srgbClr val="16867F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bj-028: NPU / 独立 Global Buffer"/>
          <p:cNvSpPr txBox="1"/>
          <p:nvPr/>
        </p:nvSpPr>
        <p:spPr>
          <a:xfrm>
            <a:off x="10284311" y="1737145"/>
            <a:ext cx="3084823" cy="4130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32" b="1" i="0">
                <a:solidFill>
                  <a:srgbClr val="16867F"/>
                </a:solidFill>
                <a:latin typeface="Microsoft YaHei"/>
                <a:ea typeface="Microsoft YaHei"/>
                <a:cs typeface="Microsoft YaHei"/>
              </a:rPr>
              <a:t>NPU / 独立 Global Buffer</a:t>
            </a:r>
          </a:p>
        </p:txBody>
      </p:sp>
      <p:sp>
        <p:nvSpPr>
          <p:cNvPr id="29" name="npu-compute"/>
          <p:cNvSpPr/>
          <p:nvPr/>
        </p:nvSpPr>
        <p:spPr>
          <a:xfrm>
            <a:off x="10327341" y="2463501"/>
            <a:ext cx="1893346" cy="1075765"/>
          </a:xfrm>
          <a:prstGeom prst="roundRect">
            <a:avLst>
              <a:gd name="adj" fmla="val 4800"/>
            </a:avLst>
          </a:prstGeom>
          <a:solidFill>
            <a:srgbClr val="EAF5F1"/>
          </a:solidFill>
          <a:ln w="17212" cap="flat">
            <a:solidFill>
              <a:srgbClr val="16867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bj-030: NPU 计算引擎"/>
          <p:cNvSpPr txBox="1"/>
          <p:nvPr/>
        </p:nvSpPr>
        <p:spPr>
          <a:xfrm>
            <a:off x="10442354" y="2552058"/>
            <a:ext cx="1663320" cy="3717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9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" name="obj-031: GB 数据访问"/>
          <p:cNvSpPr txBox="1"/>
          <p:nvPr/>
        </p:nvSpPr>
        <p:spPr>
          <a:xfrm>
            <a:off x="10594669" y="2846732"/>
            <a:ext cx="1358691" cy="3304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6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GB 数据访问</a:t>
            </a:r>
          </a:p>
        </p:txBody>
      </p:sp>
      <p:sp>
        <p:nvSpPr>
          <p:cNvPr id="32" name="tag-C6-31"/>
          <p:cNvSpPr/>
          <p:nvPr/>
        </p:nvSpPr>
        <p:spPr>
          <a:xfrm>
            <a:off x="11704320" y="3203627"/>
            <a:ext cx="413094" cy="266790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2909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bj-033: C6"/>
          <p:cNvSpPr txBox="1"/>
          <p:nvPr/>
        </p:nvSpPr>
        <p:spPr>
          <a:xfrm>
            <a:off x="11719919" y="3215676"/>
            <a:ext cx="381896" cy="2753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4" name="gb-adapter"/>
          <p:cNvSpPr/>
          <p:nvPr/>
        </p:nvSpPr>
        <p:spPr>
          <a:xfrm>
            <a:off x="12478871" y="2463501"/>
            <a:ext cx="2065468" cy="1075765"/>
          </a:xfrm>
          <a:prstGeom prst="roundRect">
            <a:avLst>
              <a:gd name="adj" fmla="val 4800"/>
            </a:avLst>
          </a:prstGeom>
          <a:solidFill>
            <a:srgbClr val="EAF5F1"/>
          </a:solidFill>
          <a:ln w="17212" cap="flat">
            <a:solidFill>
              <a:srgbClr val="16867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bj-035: GB 访问适配"/>
          <p:cNvSpPr txBox="1"/>
          <p:nvPr/>
        </p:nvSpPr>
        <p:spPr>
          <a:xfrm>
            <a:off x="12747334" y="2698362"/>
            <a:ext cx="1528541" cy="3717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9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6" name="obj-036: 仲裁 / bank 冲突"/>
          <p:cNvSpPr txBox="1"/>
          <p:nvPr/>
        </p:nvSpPr>
        <p:spPr>
          <a:xfrm>
            <a:off x="12630049" y="2993036"/>
            <a:ext cx="1763111" cy="3304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6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仲裁 / bank 冲突</a:t>
            </a:r>
          </a:p>
        </p:txBody>
      </p:sp>
      <p:sp>
        <p:nvSpPr>
          <p:cNvPr id="37" name="global-buffer"/>
          <p:cNvSpPr/>
          <p:nvPr/>
        </p:nvSpPr>
        <p:spPr>
          <a:xfrm>
            <a:off x="14802522" y="2463501"/>
            <a:ext cx="2323652" cy="1075765"/>
          </a:xfrm>
          <a:prstGeom prst="roundRect">
            <a:avLst>
              <a:gd name="adj" fmla="val 4800"/>
            </a:avLst>
          </a:prstGeom>
          <a:solidFill>
            <a:srgbClr val="EAF5F1"/>
          </a:solidFill>
          <a:ln w="17212" cap="flat">
            <a:solidFill>
              <a:srgbClr val="16867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bj-038: Global Buffer"/>
          <p:cNvSpPr txBox="1"/>
          <p:nvPr/>
        </p:nvSpPr>
        <p:spPr>
          <a:xfrm>
            <a:off x="15131901" y="2539493"/>
            <a:ext cx="1664894" cy="3993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65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9" name="obj-039: 独立分 bank SRAM"/>
          <p:cNvSpPr txBox="1"/>
          <p:nvPr/>
        </p:nvSpPr>
        <p:spPr>
          <a:xfrm>
            <a:off x="14920056" y="2834167"/>
            <a:ext cx="2088584" cy="3580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1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独立分 bank SRAM</a:t>
            </a:r>
          </a:p>
        </p:txBody>
      </p:sp>
      <p:sp>
        <p:nvSpPr>
          <p:cNvPr id="40" name="tag-C9-39"/>
          <p:cNvSpPr/>
          <p:nvPr/>
        </p:nvSpPr>
        <p:spPr>
          <a:xfrm>
            <a:off x="16609807" y="3203627"/>
            <a:ext cx="413094" cy="266790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2909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bj-041: C9"/>
          <p:cNvSpPr txBox="1"/>
          <p:nvPr/>
        </p:nvSpPr>
        <p:spPr>
          <a:xfrm>
            <a:off x="16625406" y="3215676"/>
            <a:ext cx="381896" cy="2753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2" name="npu-transfer"/>
          <p:cNvSpPr/>
          <p:nvPr/>
        </p:nvSpPr>
        <p:spPr>
          <a:xfrm>
            <a:off x="17384358" y="2291379"/>
            <a:ext cx="1807285" cy="1514677"/>
          </a:xfrm>
          <a:prstGeom prst="roundRect">
            <a:avLst>
              <a:gd name="adj" fmla="val 3409"/>
            </a:avLst>
          </a:prstGeom>
          <a:solidFill>
            <a:srgbClr val="EAF5F1"/>
          </a:solidFill>
          <a:ln w="17212" cap="flat">
            <a:solidFill>
              <a:srgbClr val="16867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bj-043: NPU / GB"/>
          <p:cNvSpPr txBox="1"/>
          <p:nvPr/>
        </p:nvSpPr>
        <p:spPr>
          <a:xfrm>
            <a:off x="17699967" y="2472279"/>
            <a:ext cx="1176066" cy="3580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1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4" name="obj-044: 搬运引擎"/>
          <p:cNvSpPr txBox="1"/>
          <p:nvPr/>
        </p:nvSpPr>
        <p:spPr>
          <a:xfrm>
            <a:off x="17793148" y="2766953"/>
            <a:ext cx="989704" cy="3167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8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</a:p>
        </p:txBody>
      </p:sp>
      <p:sp>
        <p:nvSpPr>
          <p:cNvPr id="45" name="obj-045: DDR ↔ GB"/>
          <p:cNvSpPr txBox="1"/>
          <p:nvPr/>
        </p:nvSpPr>
        <p:spPr>
          <a:xfrm>
            <a:off x="17712446" y="3033743"/>
            <a:ext cx="1151109" cy="3167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8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DDR ↔ GB</a:t>
            </a:r>
          </a:p>
        </p:txBody>
      </p:sp>
      <p:sp>
        <p:nvSpPr>
          <p:cNvPr id="46" name="tag-C7-45"/>
          <p:cNvSpPr/>
          <p:nvPr/>
        </p:nvSpPr>
        <p:spPr>
          <a:xfrm>
            <a:off x="18675275" y="3435992"/>
            <a:ext cx="413094" cy="266790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2909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bj-047: C7"/>
          <p:cNvSpPr txBox="1"/>
          <p:nvPr/>
        </p:nvSpPr>
        <p:spPr>
          <a:xfrm>
            <a:off x="18690874" y="3448041"/>
            <a:ext cx="381896" cy="2753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48" name="npu-router"/>
          <p:cNvCxnSpPr/>
          <p:nvPr/>
        </p:nvCxnSpPr>
        <p:spPr>
          <a:xfrm>
            <a:off x="12220687" y="2997080"/>
            <a:ext cx="258184" cy="0"/>
          </a:xfrm>
          <a:prstGeom prst="line">
            <a:avLst/>
          </a:prstGeom>
          <a:ln w="30121" cap="flat">
            <a:solidFill>
              <a:srgbClr val="16867F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49" name="router-gb"/>
          <p:cNvCxnSpPr/>
          <p:nvPr/>
        </p:nvCxnSpPr>
        <p:spPr>
          <a:xfrm>
            <a:off x="14544339" y="2997080"/>
            <a:ext cx="258183" cy="0"/>
          </a:xfrm>
          <a:prstGeom prst="line">
            <a:avLst/>
          </a:prstGeom>
          <a:ln w="30121" cap="flat">
            <a:solidFill>
              <a:srgbClr val="16867F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50" name="transfer-router"/>
          <p:cNvSpPr/>
          <p:nvPr/>
        </p:nvSpPr>
        <p:spPr>
          <a:xfrm>
            <a:off x="13511605" y="3539266"/>
            <a:ext cx="4776395" cy="464730"/>
          </a:xfrm>
          <a:custGeom>
            <a:avLst/>
            <a:gdLst/>
            <a:ahLst/>
            <a:cxnLst/>
            <a:rect l="0" t="0" r="r" b="b"/>
            <a:pathLst>
              <a:path w="4776395" h="464730" fill="none">
                <a:moveTo>
                  <a:pt x="4776395" y="266790"/>
                </a:moveTo>
                <a:lnTo>
                  <a:pt x="4776395" y="464730"/>
                </a:lnTo>
                <a:lnTo>
                  <a:pt x="0" y="464730"/>
                </a:lnTo>
                <a:lnTo>
                  <a:pt x="0" y="0"/>
                </a:lnTo>
              </a:path>
            </a:pathLst>
          </a:custGeom>
          <a:noFill/>
          <a:ln w="30121" cap="flat">
            <a:solidFill>
              <a:srgbClr val="16867F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ara-gb"/>
          <p:cNvSpPr/>
          <p:nvPr/>
        </p:nvSpPr>
        <p:spPr>
          <a:xfrm>
            <a:off x="7100047" y="2213924"/>
            <a:ext cx="6110344" cy="800369"/>
          </a:xfrm>
          <a:custGeom>
            <a:avLst/>
            <a:gdLst/>
            <a:ahLst/>
            <a:cxnLst/>
            <a:rect l="0" t="0" r="r" b="b"/>
            <a:pathLst>
              <a:path w="6110344" h="800369" fill="none">
                <a:moveTo>
                  <a:pt x="0" y="800369"/>
                </a:moveTo>
                <a:lnTo>
                  <a:pt x="129092" y="800369"/>
                </a:lnTo>
                <a:lnTo>
                  <a:pt x="129092" y="585216"/>
                </a:lnTo>
                <a:lnTo>
                  <a:pt x="2573229" y="585216"/>
                </a:lnTo>
                <a:lnTo>
                  <a:pt x="2573229" y="0"/>
                </a:lnTo>
                <a:lnTo>
                  <a:pt x="6110344" y="0"/>
                </a:lnTo>
                <a:lnTo>
                  <a:pt x="6110344" y="249577"/>
                </a:lnTo>
              </a:path>
            </a:pathLst>
          </a:custGeom>
          <a:noFill/>
          <a:ln w="30121" cap="flat">
            <a:solidFill>
              <a:srgbClr val="16867F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bj-052: GB 分支"/>
          <p:cNvSpPr txBox="1"/>
          <p:nvPr/>
        </p:nvSpPr>
        <p:spPr>
          <a:xfrm>
            <a:off x="10793947" y="2182942"/>
            <a:ext cx="788011" cy="2753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0" i="0">
                <a:solidFill>
                  <a:srgbClr val="16867F"/>
                </a:solidFill>
                <a:latin typeface="Microsoft YaHei"/>
                <a:ea typeface="Microsoft YaHei"/>
                <a:cs typeface="Microsoft YaHei"/>
              </a:rPr>
              <a:t>GB 分支</a:t>
            </a:r>
          </a:p>
        </p:txBody>
      </p:sp>
      <p:sp>
        <p:nvSpPr>
          <p:cNvPr id="53" name="image-domain"/>
          <p:cNvSpPr/>
          <p:nvPr/>
        </p:nvSpPr>
        <p:spPr>
          <a:xfrm>
            <a:off x="19708009" y="1688951"/>
            <a:ext cx="8864301" cy="2495774"/>
          </a:xfrm>
          <a:prstGeom prst="roundRect">
            <a:avLst>
              <a:gd name="adj" fmla="val 3448"/>
            </a:avLst>
          </a:prstGeom>
          <a:solidFill>
            <a:srgbClr val="FFFBF5"/>
          </a:solidFill>
          <a:ln w="17212" cap="flat">
            <a:solidFill>
              <a:srgbClr val="C17A30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obj-054: LVDS / ISP / 图像帧写入"/>
          <p:cNvSpPr txBox="1"/>
          <p:nvPr/>
        </p:nvSpPr>
        <p:spPr>
          <a:xfrm>
            <a:off x="19923162" y="1737145"/>
            <a:ext cx="3101994" cy="4130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32" b="1" i="0">
                <a:solidFill>
                  <a:srgbClr val="C17A30"/>
                </a:solidFill>
                <a:latin typeface="Microsoft YaHei"/>
                <a:ea typeface="Microsoft YaHei"/>
                <a:cs typeface="Microsoft YaHei"/>
              </a:rPr>
              <a:t>LVDS / ISP / 图像帧写入</a:t>
            </a:r>
          </a:p>
        </p:txBody>
      </p:sp>
      <p:sp>
        <p:nvSpPr>
          <p:cNvPr id="55" name="lvds"/>
          <p:cNvSpPr/>
          <p:nvPr/>
        </p:nvSpPr>
        <p:spPr>
          <a:xfrm>
            <a:off x="19966193" y="2911019"/>
            <a:ext cx="1376979" cy="989704"/>
          </a:xfrm>
          <a:prstGeom prst="roundRect">
            <a:avLst>
              <a:gd name="adj" fmla="val 5217"/>
            </a:avLst>
          </a:prstGeom>
          <a:solidFill>
            <a:srgbClr val="FFF2DF"/>
          </a:solidFill>
          <a:ln w="17212" cap="flat">
            <a:solidFill>
              <a:srgbClr val="C17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bj-056: LVDS 接收"/>
          <p:cNvSpPr txBox="1"/>
          <p:nvPr/>
        </p:nvSpPr>
        <p:spPr>
          <a:xfrm>
            <a:off x="20023935" y="2962828"/>
            <a:ext cx="1261495" cy="3580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1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57" name="obj-057: 解串 / 帧行"/>
          <p:cNvSpPr txBox="1"/>
          <p:nvPr/>
        </p:nvSpPr>
        <p:spPr>
          <a:xfrm>
            <a:off x="20049067" y="3257502"/>
            <a:ext cx="1211230" cy="3167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8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58" name="pixel-cdc"/>
          <p:cNvSpPr/>
          <p:nvPr/>
        </p:nvSpPr>
        <p:spPr>
          <a:xfrm>
            <a:off x="21515294" y="2911019"/>
            <a:ext cx="1290918" cy="989704"/>
          </a:xfrm>
          <a:prstGeom prst="roundRect">
            <a:avLst>
              <a:gd name="adj" fmla="val 5217"/>
            </a:avLst>
          </a:prstGeom>
          <a:solidFill>
            <a:srgbClr val="FFF2DF"/>
          </a:solidFill>
          <a:ln w="17212" cap="flat">
            <a:solidFill>
              <a:srgbClr val="C17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obj-059: CDC / FIFO"/>
          <p:cNvSpPr txBox="1"/>
          <p:nvPr/>
        </p:nvSpPr>
        <p:spPr>
          <a:xfrm>
            <a:off x="21577366" y="2981676"/>
            <a:ext cx="1166774" cy="3167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8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60" name="obj-060: 像素缓冲"/>
          <p:cNvSpPr txBox="1"/>
          <p:nvPr/>
        </p:nvSpPr>
        <p:spPr>
          <a:xfrm>
            <a:off x="21730447" y="3276349"/>
            <a:ext cx="860612" cy="2753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像素缓冲</a:t>
            </a:r>
          </a:p>
        </p:txBody>
      </p:sp>
      <p:sp>
        <p:nvSpPr>
          <p:cNvPr id="61" name="isp"/>
          <p:cNvSpPr/>
          <p:nvPr/>
        </p:nvSpPr>
        <p:spPr>
          <a:xfrm>
            <a:off x="22978334" y="2911019"/>
            <a:ext cx="1290918" cy="989704"/>
          </a:xfrm>
          <a:prstGeom prst="roundRect">
            <a:avLst>
              <a:gd name="adj" fmla="val 5217"/>
            </a:avLst>
          </a:prstGeom>
          <a:solidFill>
            <a:srgbClr val="FFF2DF"/>
          </a:solidFill>
          <a:ln w="17212" cap="flat">
            <a:solidFill>
              <a:srgbClr val="C17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obj-062: ISP"/>
          <p:cNvSpPr txBox="1"/>
          <p:nvPr/>
        </p:nvSpPr>
        <p:spPr>
          <a:xfrm>
            <a:off x="23361474" y="2969111"/>
            <a:ext cx="524637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63" name="obj-063: 行缓冲 / 处理"/>
          <p:cNvSpPr txBox="1"/>
          <p:nvPr/>
        </p:nvSpPr>
        <p:spPr>
          <a:xfrm>
            <a:off x="22949847" y="3263784"/>
            <a:ext cx="1347893" cy="3029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行缓冲 / 处理</a:t>
            </a:r>
          </a:p>
        </p:txBody>
      </p:sp>
      <p:sp>
        <p:nvSpPr>
          <p:cNvPr id="64" name="frame-select"/>
          <p:cNvSpPr/>
          <p:nvPr/>
        </p:nvSpPr>
        <p:spPr>
          <a:xfrm>
            <a:off x="24441374" y="2911019"/>
            <a:ext cx="1376979" cy="989704"/>
          </a:xfrm>
          <a:prstGeom prst="roundRect">
            <a:avLst>
              <a:gd name="adj" fmla="val 5217"/>
            </a:avLst>
          </a:prstGeom>
          <a:solidFill>
            <a:srgbClr val="FFF2DF"/>
          </a:solidFill>
          <a:ln w="17212" cap="flat">
            <a:solidFill>
              <a:srgbClr val="C17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obj-065: 帧边界选择"/>
          <p:cNvSpPr txBox="1"/>
          <p:nvPr/>
        </p:nvSpPr>
        <p:spPr>
          <a:xfrm>
            <a:off x="24536041" y="2981676"/>
            <a:ext cx="1187644" cy="3167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8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66" name="obj-066: RAW / ISP"/>
          <p:cNvSpPr txBox="1"/>
          <p:nvPr/>
        </p:nvSpPr>
        <p:spPr>
          <a:xfrm>
            <a:off x="24651720" y="3276349"/>
            <a:ext cx="956288" cy="2753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67" name="frame-dma"/>
          <p:cNvSpPr/>
          <p:nvPr/>
        </p:nvSpPr>
        <p:spPr>
          <a:xfrm>
            <a:off x="25990475" y="2911019"/>
            <a:ext cx="2323652" cy="989704"/>
          </a:xfrm>
          <a:prstGeom prst="roundRect">
            <a:avLst>
              <a:gd name="adj" fmla="val 5217"/>
            </a:avLst>
          </a:prstGeom>
          <a:solidFill>
            <a:srgbClr val="FFF2DF"/>
          </a:solidFill>
          <a:ln w="17212" cap="flat">
            <a:solidFill>
              <a:srgbClr val="C17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obj-068: 图像帧写入 DMA"/>
          <p:cNvSpPr txBox="1"/>
          <p:nvPr/>
        </p:nvSpPr>
        <p:spPr>
          <a:xfrm>
            <a:off x="26219459" y="2962828"/>
            <a:ext cx="1865685" cy="3580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1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图像帧写入 DMA</a:t>
            </a:r>
          </a:p>
        </p:txBody>
      </p:sp>
      <p:sp>
        <p:nvSpPr>
          <p:cNvPr id="69" name="obj-069: 地址 / stride / 打包"/>
          <p:cNvSpPr txBox="1"/>
          <p:nvPr/>
        </p:nvSpPr>
        <p:spPr>
          <a:xfrm>
            <a:off x="26190904" y="3257502"/>
            <a:ext cx="1922795" cy="3167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8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地址 / stride / 打包</a:t>
            </a:r>
          </a:p>
        </p:txBody>
      </p:sp>
      <p:sp>
        <p:nvSpPr>
          <p:cNvPr id="70" name="tag-C4-69"/>
          <p:cNvSpPr/>
          <p:nvPr/>
        </p:nvSpPr>
        <p:spPr>
          <a:xfrm>
            <a:off x="20826805" y="3547872"/>
            <a:ext cx="413094" cy="266790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2909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obj-071: C4"/>
          <p:cNvSpPr txBox="1"/>
          <p:nvPr/>
        </p:nvSpPr>
        <p:spPr>
          <a:xfrm>
            <a:off x="20842403" y="3559921"/>
            <a:ext cx="381896" cy="2753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72" name="tag-C5-71"/>
          <p:cNvSpPr/>
          <p:nvPr/>
        </p:nvSpPr>
        <p:spPr>
          <a:xfrm>
            <a:off x="23752885" y="3547872"/>
            <a:ext cx="413094" cy="266790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2909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obj-073: C5"/>
          <p:cNvSpPr txBox="1"/>
          <p:nvPr/>
        </p:nvSpPr>
        <p:spPr>
          <a:xfrm>
            <a:off x="23768483" y="3559921"/>
            <a:ext cx="381896" cy="2753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74" name="tag-C8-73"/>
          <p:cNvSpPr/>
          <p:nvPr/>
        </p:nvSpPr>
        <p:spPr>
          <a:xfrm>
            <a:off x="27797760" y="3547872"/>
            <a:ext cx="413094" cy="266790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2909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obj-075: C8"/>
          <p:cNvSpPr txBox="1"/>
          <p:nvPr/>
        </p:nvSpPr>
        <p:spPr>
          <a:xfrm>
            <a:off x="27813359" y="3559921"/>
            <a:ext cx="381896" cy="2753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76" name="lvds-cdc"/>
          <p:cNvCxnSpPr/>
          <p:nvPr/>
        </p:nvCxnSpPr>
        <p:spPr>
          <a:xfrm>
            <a:off x="21343172" y="3281082"/>
            <a:ext cx="172122" cy="0"/>
          </a:xfrm>
          <a:prstGeom prst="line">
            <a:avLst/>
          </a:prstGeom>
          <a:ln w="25818" cap="flat">
            <a:solidFill>
              <a:srgbClr val="C17A30"/>
            </a:solidFill>
            <a:tailEnd type="triangle" w="med" len="med"/>
          </a:ln>
          <a:effectLst/>
        </p:spPr>
      </p:cxnSp>
      <p:cxnSp>
        <p:nvCxnSpPr>
          <p:cNvPr id="77" name="cdc-isp"/>
          <p:cNvCxnSpPr/>
          <p:nvPr/>
        </p:nvCxnSpPr>
        <p:spPr>
          <a:xfrm>
            <a:off x="22806212" y="3281082"/>
            <a:ext cx="172122" cy="0"/>
          </a:xfrm>
          <a:prstGeom prst="line">
            <a:avLst/>
          </a:prstGeom>
          <a:ln w="25818" cap="flat">
            <a:solidFill>
              <a:srgbClr val="C17A30"/>
            </a:solidFill>
            <a:tailEnd type="triangle" w="med" len="med"/>
          </a:ln>
          <a:effectLst/>
        </p:spPr>
      </p:cxnSp>
      <p:cxnSp>
        <p:nvCxnSpPr>
          <p:cNvPr id="78" name="isp-select"/>
          <p:cNvCxnSpPr/>
          <p:nvPr/>
        </p:nvCxnSpPr>
        <p:spPr>
          <a:xfrm>
            <a:off x="24269252" y="3281082"/>
            <a:ext cx="172122" cy="0"/>
          </a:xfrm>
          <a:prstGeom prst="line">
            <a:avLst/>
          </a:prstGeom>
          <a:ln w="25818" cap="flat">
            <a:solidFill>
              <a:srgbClr val="C17A30"/>
            </a:solidFill>
            <a:tailEnd type="triangle" w="med" len="med"/>
          </a:ln>
          <a:effectLst/>
        </p:spPr>
      </p:cxnSp>
      <p:cxnSp>
        <p:nvCxnSpPr>
          <p:cNvPr id="79" name="select-dma"/>
          <p:cNvCxnSpPr/>
          <p:nvPr/>
        </p:nvCxnSpPr>
        <p:spPr>
          <a:xfrm>
            <a:off x="25818353" y="3281082"/>
            <a:ext cx="172122" cy="0"/>
          </a:xfrm>
          <a:prstGeom prst="line">
            <a:avLst/>
          </a:prstGeom>
          <a:ln w="25818" cap="flat">
            <a:solidFill>
              <a:srgbClr val="C17A30"/>
            </a:solidFill>
            <a:tailEnd type="triangle" w="med" len="med"/>
          </a:ln>
          <a:effectLst/>
        </p:spPr>
      </p:cxnSp>
      <p:sp>
        <p:nvSpPr>
          <p:cNvPr id="80" name="raw-path"/>
          <p:cNvSpPr/>
          <p:nvPr/>
        </p:nvSpPr>
        <p:spPr>
          <a:xfrm>
            <a:off x="22892273" y="2730291"/>
            <a:ext cx="2237591" cy="550792"/>
          </a:xfrm>
          <a:custGeom>
            <a:avLst/>
            <a:gdLst/>
            <a:ahLst/>
            <a:cxnLst/>
            <a:rect l="0" t="0" r="r" b="b"/>
            <a:pathLst>
              <a:path w="2237591" h="550792" fill="none">
                <a:moveTo>
                  <a:pt x="0" y="550792"/>
                </a:moveTo>
                <a:lnTo>
                  <a:pt x="0" y="0"/>
                </a:lnTo>
                <a:lnTo>
                  <a:pt x="2237591" y="0"/>
                </a:lnTo>
                <a:lnTo>
                  <a:pt x="2237591" y="180728"/>
                </a:lnTo>
              </a:path>
            </a:pathLst>
          </a:custGeom>
          <a:noFill/>
          <a:ln w="24097" cap="flat">
            <a:solidFill>
              <a:srgbClr val="C17A3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aw-junction"/>
          <p:cNvSpPr/>
          <p:nvPr/>
        </p:nvSpPr>
        <p:spPr>
          <a:xfrm>
            <a:off x="22857848" y="3246658"/>
            <a:ext cx="68849" cy="68849"/>
          </a:xfrm>
          <a:prstGeom prst="ellipse">
            <a:avLst/>
          </a:prstGeom>
          <a:solidFill>
            <a:srgbClr val="C17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obj-082: RAW 旁路"/>
          <p:cNvSpPr txBox="1"/>
          <p:nvPr/>
        </p:nvSpPr>
        <p:spPr>
          <a:xfrm>
            <a:off x="24759975" y="2415307"/>
            <a:ext cx="911899" cy="2753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0" i="0">
                <a:solidFill>
                  <a:srgbClr val="C17A30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3" name="isp-gb"/>
          <p:cNvSpPr/>
          <p:nvPr/>
        </p:nvSpPr>
        <p:spPr>
          <a:xfrm>
            <a:off x="14157064" y="2239742"/>
            <a:ext cx="9621640" cy="671277"/>
          </a:xfrm>
          <a:custGeom>
            <a:avLst/>
            <a:gdLst/>
            <a:ahLst/>
            <a:cxnLst/>
            <a:rect l="0" t="0" r="r" b="b"/>
            <a:pathLst>
              <a:path w="9621640" h="671277" fill="none">
                <a:moveTo>
                  <a:pt x="9466729" y="671277"/>
                </a:moveTo>
                <a:lnTo>
                  <a:pt x="9466729" y="576610"/>
                </a:lnTo>
                <a:cubicBezTo>
                  <a:pt x="9621640" y="576610"/>
                  <a:pt x="9621640" y="404488"/>
                  <a:pt x="9466729" y="404488"/>
                </a:cubicBezTo>
                <a:lnTo>
                  <a:pt x="9466729" y="0"/>
                </a:lnTo>
                <a:lnTo>
                  <a:pt x="0" y="0"/>
                </a:lnTo>
                <a:lnTo>
                  <a:pt x="0" y="223759"/>
                </a:lnTo>
              </a:path>
            </a:pathLst>
          </a:custGeom>
          <a:noFill/>
          <a:ln w="25818" cap="flat">
            <a:solidFill>
              <a:srgbClr val="16867F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obj-084: ISP 中间数据 ↔ GB"/>
          <p:cNvSpPr txBox="1"/>
          <p:nvPr/>
        </p:nvSpPr>
        <p:spPr>
          <a:xfrm>
            <a:off x="20773756" y="2234578"/>
            <a:ext cx="1655198" cy="2753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0" i="0">
                <a:solidFill>
                  <a:srgbClr val="16867F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85" name="obj-085: AXI master / 发起端"/>
          <p:cNvSpPr txBox="1"/>
          <p:nvPr/>
        </p:nvSpPr>
        <p:spPr>
          <a:xfrm>
            <a:off x="10241280" y="4521052"/>
            <a:ext cx="2030977" cy="3304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6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AXI master / 发起端</a:t>
            </a:r>
          </a:p>
        </p:txBody>
      </p:sp>
      <p:sp>
        <p:nvSpPr>
          <p:cNvPr id="86" name="debug-master"/>
          <p:cNvSpPr/>
          <p:nvPr/>
        </p:nvSpPr>
        <p:spPr>
          <a:xfrm>
            <a:off x="2495774" y="4985094"/>
            <a:ext cx="1376979" cy="619640"/>
          </a:xfrm>
          <a:prstGeom prst="roundRect">
            <a:avLst>
              <a:gd name="adj" fmla="val 8333"/>
            </a:avLst>
          </a:prstGeom>
          <a:solidFill>
            <a:srgbClr val="EDF4FB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obj-087: Debug / SBA"/>
          <p:cNvSpPr txBox="1"/>
          <p:nvPr/>
        </p:nvSpPr>
        <p:spPr>
          <a:xfrm>
            <a:off x="2493017" y="5144135"/>
            <a:ext cx="1382492" cy="3304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6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cxnSp>
        <p:nvCxnSpPr>
          <p:cNvPr id="88" name="source-S1"/>
          <p:cNvCxnSpPr/>
          <p:nvPr/>
        </p:nvCxnSpPr>
        <p:spPr>
          <a:xfrm>
            <a:off x="3184264" y="5604734"/>
            <a:ext cx="0" cy="387275"/>
          </a:xfrm>
          <a:prstGeom prst="line">
            <a:avLst/>
          </a:prstGeom>
          <a:ln w="25818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89" name="idma-master"/>
          <p:cNvSpPr/>
          <p:nvPr/>
        </p:nvSpPr>
        <p:spPr>
          <a:xfrm>
            <a:off x="7057016" y="4985094"/>
            <a:ext cx="1376979" cy="619640"/>
          </a:xfrm>
          <a:prstGeom prst="roundRect">
            <a:avLst>
              <a:gd name="adj" fmla="val 8333"/>
            </a:avLst>
          </a:prstGeom>
          <a:solidFill>
            <a:srgbClr val="EDF4FB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obj-090: iDMA 数据"/>
          <p:cNvSpPr txBox="1"/>
          <p:nvPr/>
        </p:nvSpPr>
        <p:spPr>
          <a:xfrm>
            <a:off x="7169535" y="5144135"/>
            <a:ext cx="1151942" cy="3304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6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iDMA 数据</a:t>
            </a:r>
          </a:p>
        </p:txBody>
      </p:sp>
      <p:cxnSp>
        <p:nvCxnSpPr>
          <p:cNvPr id="91" name="source-S3"/>
          <p:cNvCxnSpPr/>
          <p:nvPr/>
        </p:nvCxnSpPr>
        <p:spPr>
          <a:xfrm>
            <a:off x="7745506" y="5604734"/>
            <a:ext cx="0" cy="387275"/>
          </a:xfrm>
          <a:prstGeom prst="line">
            <a:avLst/>
          </a:prstGeom>
          <a:ln w="25818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92" name="slink-master"/>
          <p:cNvSpPr/>
          <p:nvPr/>
        </p:nvSpPr>
        <p:spPr>
          <a:xfrm>
            <a:off x="8692179" y="4985094"/>
            <a:ext cx="1893346" cy="619640"/>
          </a:xfrm>
          <a:prstGeom prst="roundRect">
            <a:avLst>
              <a:gd name="adj" fmla="val 8333"/>
            </a:avLst>
          </a:prstGeom>
          <a:solidFill>
            <a:srgbClr val="EDF4FB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bj-093: Serial Link RX"/>
          <p:cNvSpPr txBox="1"/>
          <p:nvPr/>
        </p:nvSpPr>
        <p:spPr>
          <a:xfrm>
            <a:off x="8912711" y="5144135"/>
            <a:ext cx="1452282" cy="3304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6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cxnSp>
        <p:nvCxnSpPr>
          <p:cNvPr id="94" name="source-S4"/>
          <p:cNvCxnSpPr/>
          <p:nvPr/>
        </p:nvCxnSpPr>
        <p:spPr>
          <a:xfrm>
            <a:off x="9638852" y="5604734"/>
            <a:ext cx="0" cy="387275"/>
          </a:xfrm>
          <a:prstGeom prst="line">
            <a:avLst/>
          </a:prstGeom>
          <a:ln w="25818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95" name="vga-master"/>
          <p:cNvSpPr/>
          <p:nvPr/>
        </p:nvSpPr>
        <p:spPr>
          <a:xfrm>
            <a:off x="10757647" y="4985094"/>
            <a:ext cx="1376979" cy="619640"/>
          </a:xfrm>
          <a:prstGeom prst="roundRect">
            <a:avLst>
              <a:gd name="adj" fmla="val 8333"/>
            </a:avLst>
          </a:prstGeom>
          <a:solidFill>
            <a:srgbClr val="EDF4FB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obj-096: VGA 取帧"/>
          <p:cNvSpPr txBox="1"/>
          <p:nvPr/>
        </p:nvSpPr>
        <p:spPr>
          <a:xfrm>
            <a:off x="10921701" y="5144135"/>
            <a:ext cx="1048871" cy="3304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6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VGA 取帧</a:t>
            </a:r>
          </a:p>
        </p:txBody>
      </p:sp>
      <p:cxnSp>
        <p:nvCxnSpPr>
          <p:cNvPr id="97" name="source-S5"/>
          <p:cNvCxnSpPr/>
          <p:nvPr/>
        </p:nvCxnSpPr>
        <p:spPr>
          <a:xfrm>
            <a:off x="11446136" y="5604734"/>
            <a:ext cx="0" cy="387275"/>
          </a:xfrm>
          <a:prstGeom prst="line">
            <a:avLst/>
          </a:prstGeom>
          <a:ln w="25818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98" name="usb-master"/>
          <p:cNvSpPr/>
          <p:nvPr/>
        </p:nvSpPr>
        <p:spPr>
          <a:xfrm>
            <a:off x="12392809" y="4985094"/>
            <a:ext cx="1376979" cy="619640"/>
          </a:xfrm>
          <a:prstGeom prst="roundRect">
            <a:avLst>
              <a:gd name="adj" fmla="val 8333"/>
            </a:avLst>
          </a:prstGeom>
          <a:solidFill>
            <a:srgbClr val="EDF4FB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obj-099: USB DMA"/>
          <p:cNvSpPr txBox="1"/>
          <p:nvPr/>
        </p:nvSpPr>
        <p:spPr>
          <a:xfrm>
            <a:off x="12542643" y="5144135"/>
            <a:ext cx="1077311" cy="3304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6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cxnSp>
        <p:nvCxnSpPr>
          <p:cNvPr id="100" name="source-S6"/>
          <p:cNvCxnSpPr/>
          <p:nvPr/>
        </p:nvCxnSpPr>
        <p:spPr>
          <a:xfrm>
            <a:off x="13081299" y="5604734"/>
            <a:ext cx="0" cy="387275"/>
          </a:xfrm>
          <a:prstGeom prst="line">
            <a:avLst/>
          </a:prstGeom>
          <a:ln w="25818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101" name="axi-ext-master"/>
          <p:cNvSpPr/>
          <p:nvPr/>
        </p:nvSpPr>
        <p:spPr>
          <a:xfrm>
            <a:off x="14027972" y="4985094"/>
            <a:ext cx="1204856" cy="619640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 w="17212" cap="flat">
            <a:solidFill>
              <a:srgbClr val="8B99A7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obj-102: AXI 扩展"/>
          <p:cNvSpPr txBox="1"/>
          <p:nvPr/>
        </p:nvSpPr>
        <p:spPr>
          <a:xfrm>
            <a:off x="14149331" y="5010740"/>
            <a:ext cx="962137" cy="3304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6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AXI 扩展</a:t>
            </a:r>
          </a:p>
        </p:txBody>
      </p:sp>
      <p:sp>
        <p:nvSpPr>
          <p:cNvPr id="103" name="obj-103: master"/>
          <p:cNvSpPr txBox="1"/>
          <p:nvPr/>
        </p:nvSpPr>
        <p:spPr>
          <a:xfrm>
            <a:off x="14263907" y="5305413"/>
            <a:ext cx="732986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master</a:t>
            </a:r>
          </a:p>
        </p:txBody>
      </p:sp>
      <p:cxnSp>
        <p:nvCxnSpPr>
          <p:cNvPr id="104" name="source-S_EXT"/>
          <p:cNvCxnSpPr/>
          <p:nvPr/>
        </p:nvCxnSpPr>
        <p:spPr>
          <a:xfrm>
            <a:off x="14630400" y="5604734"/>
            <a:ext cx="0" cy="387275"/>
          </a:xfrm>
          <a:prstGeom prst="line">
            <a:avLst/>
          </a:prstGeom>
          <a:ln w="25818" cap="flat">
            <a:solidFill>
              <a:srgbClr val="8B99A7"/>
            </a:solidFill>
            <a:custDash>
              <a:ds d="266667" sp="200000"/>
            </a:custDash>
            <a:tailEnd type="triangle" w="med" len="med"/>
          </a:ln>
          <a:effectLst/>
        </p:spPr>
      </p:cxnSp>
      <p:sp>
        <p:nvSpPr>
          <p:cNvPr id="105" name="source-S0"/>
          <p:cNvSpPr/>
          <p:nvPr/>
        </p:nvSpPr>
        <p:spPr>
          <a:xfrm>
            <a:off x="1463040" y="3573690"/>
            <a:ext cx="516367" cy="2418319"/>
          </a:xfrm>
          <a:custGeom>
            <a:avLst/>
            <a:gdLst/>
            <a:ahLst/>
            <a:cxnLst/>
            <a:rect l="0" t="0" r="r" b="b"/>
            <a:pathLst>
              <a:path w="516367" h="2418319" fill="none">
                <a:moveTo>
                  <a:pt x="516367" y="0"/>
                </a:moveTo>
                <a:lnTo>
                  <a:pt x="516367" y="886430"/>
                </a:lnTo>
                <a:lnTo>
                  <a:pt x="0" y="886430"/>
                </a:lnTo>
                <a:lnTo>
                  <a:pt x="0" y="2418319"/>
                </a:lnTo>
              </a:path>
            </a:pathLst>
          </a:custGeom>
          <a:noFill/>
          <a:ln w="30121" cap="flat">
            <a:solidFill>
              <a:srgbClr val="347B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source-S2"/>
          <p:cNvSpPr/>
          <p:nvPr/>
        </p:nvSpPr>
        <p:spPr>
          <a:xfrm>
            <a:off x="5593976" y="3565084"/>
            <a:ext cx="2753958" cy="2426925"/>
          </a:xfrm>
          <a:custGeom>
            <a:avLst/>
            <a:gdLst/>
            <a:ahLst/>
            <a:cxnLst/>
            <a:rect l="0" t="0" r="r" b="b"/>
            <a:pathLst>
              <a:path w="2753958" h="2426925" fill="none">
                <a:moveTo>
                  <a:pt x="2753958" y="0"/>
                </a:moveTo>
                <a:lnTo>
                  <a:pt x="2753958" y="903642"/>
                </a:lnTo>
                <a:lnTo>
                  <a:pt x="0" y="903642"/>
                </a:lnTo>
                <a:lnTo>
                  <a:pt x="0" y="2426925"/>
                </a:lnTo>
              </a:path>
            </a:pathLst>
          </a:custGeom>
          <a:noFill/>
          <a:ln w="30121" cap="flat">
            <a:solidFill>
              <a:srgbClr val="347B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obj-107: Ara 普通地址"/>
          <p:cNvSpPr txBox="1"/>
          <p:nvPr/>
        </p:nvSpPr>
        <p:spPr>
          <a:xfrm>
            <a:off x="4068502" y="4564771"/>
            <a:ext cx="1329726" cy="3167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8" b="0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108" name="xbar"/>
          <p:cNvSpPr/>
          <p:nvPr/>
        </p:nvSpPr>
        <p:spPr>
          <a:xfrm>
            <a:off x="516367" y="5992009"/>
            <a:ext cx="14802522" cy="1204856"/>
          </a:xfrm>
          <a:prstGeom prst="roundRect">
            <a:avLst>
              <a:gd name="adj" fmla="val 3571"/>
            </a:avLst>
          </a:prstGeom>
          <a:solidFill>
            <a:srgbClr val="DDEAF5"/>
          </a:solidFill>
          <a:ln w="25818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obj-109: AXI Crossbar"/>
          <p:cNvSpPr txBox="1"/>
          <p:nvPr/>
        </p:nvSpPr>
        <p:spPr>
          <a:xfrm>
            <a:off x="6842953" y="6112151"/>
            <a:ext cx="2149351" cy="5232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75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10" name="obj-110: 64 bit / 48 bit 地址 · 7 × 5 基础端口 + 扩展"/>
          <p:cNvSpPr txBox="1"/>
          <p:nvPr/>
        </p:nvSpPr>
        <p:spPr>
          <a:xfrm>
            <a:off x="5553460" y="6558636"/>
            <a:ext cx="4728336" cy="3717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9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64 bit / 48 bit 地址 · 7 × 5 基础端口 + 扩展</a:t>
            </a:r>
          </a:p>
        </p:txBody>
      </p:sp>
      <p:sp>
        <p:nvSpPr>
          <p:cNvPr id="111" name="obj-111: 地址译码 / 目标仲裁 / 响应返回"/>
          <p:cNvSpPr txBox="1"/>
          <p:nvPr/>
        </p:nvSpPr>
        <p:spPr>
          <a:xfrm>
            <a:off x="817581" y="6865358"/>
            <a:ext cx="2491740" cy="2616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地址译码 / 目标仲裁 / 响应返回</a:t>
            </a:r>
          </a:p>
        </p:txBody>
      </p:sp>
      <p:sp>
        <p:nvSpPr>
          <p:cNvPr id="112" name="obj-112: AXI RT 可选 · 空洞返回 DECERR"/>
          <p:cNvSpPr txBox="1"/>
          <p:nvPr/>
        </p:nvSpPr>
        <p:spPr>
          <a:xfrm>
            <a:off x="12589177" y="6865358"/>
            <a:ext cx="2428498" cy="2616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AXI RT 可选 · 空洞返回 DECERR</a:t>
            </a:r>
          </a:p>
        </p:txBody>
      </p:sp>
      <p:sp>
        <p:nvSpPr>
          <p:cNvPr id="113" name="pin-S0"/>
          <p:cNvSpPr/>
          <p:nvPr/>
        </p:nvSpPr>
        <p:spPr>
          <a:xfrm>
            <a:off x="1092977" y="5862918"/>
            <a:ext cx="740126" cy="26679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obj-114: S0"/>
          <p:cNvSpPr txBox="1"/>
          <p:nvPr/>
        </p:nvSpPr>
        <p:spPr>
          <a:xfrm>
            <a:off x="1262544" y="5865672"/>
            <a:ext cx="400991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15" name="pin-S1"/>
          <p:cNvSpPr/>
          <p:nvPr/>
        </p:nvSpPr>
        <p:spPr>
          <a:xfrm>
            <a:off x="2814200" y="5862918"/>
            <a:ext cx="740126" cy="26679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obj-116: S1"/>
          <p:cNvSpPr txBox="1"/>
          <p:nvPr/>
        </p:nvSpPr>
        <p:spPr>
          <a:xfrm>
            <a:off x="2983768" y="5865672"/>
            <a:ext cx="400991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17" name="pin-S2"/>
          <p:cNvSpPr/>
          <p:nvPr/>
        </p:nvSpPr>
        <p:spPr>
          <a:xfrm>
            <a:off x="5223913" y="5862918"/>
            <a:ext cx="740126" cy="26679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obj-118: S2"/>
          <p:cNvSpPr txBox="1"/>
          <p:nvPr/>
        </p:nvSpPr>
        <p:spPr>
          <a:xfrm>
            <a:off x="5393481" y="5865672"/>
            <a:ext cx="400991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19" name="pin-S3"/>
          <p:cNvSpPr/>
          <p:nvPr/>
        </p:nvSpPr>
        <p:spPr>
          <a:xfrm>
            <a:off x="7375443" y="5862918"/>
            <a:ext cx="740126" cy="26679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obj-120: S3"/>
          <p:cNvSpPr txBox="1"/>
          <p:nvPr/>
        </p:nvSpPr>
        <p:spPr>
          <a:xfrm>
            <a:off x="7545010" y="5865672"/>
            <a:ext cx="400991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21" name="pin-S4"/>
          <p:cNvSpPr/>
          <p:nvPr/>
        </p:nvSpPr>
        <p:spPr>
          <a:xfrm>
            <a:off x="9268789" y="5862918"/>
            <a:ext cx="740126" cy="26679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obj-122: S4"/>
          <p:cNvSpPr txBox="1"/>
          <p:nvPr/>
        </p:nvSpPr>
        <p:spPr>
          <a:xfrm>
            <a:off x="9438356" y="5865672"/>
            <a:ext cx="400991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23" name="pin-S5"/>
          <p:cNvSpPr/>
          <p:nvPr/>
        </p:nvSpPr>
        <p:spPr>
          <a:xfrm>
            <a:off x="11076073" y="5862918"/>
            <a:ext cx="740126" cy="26679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obj-124: S5"/>
          <p:cNvSpPr txBox="1"/>
          <p:nvPr/>
        </p:nvSpPr>
        <p:spPr>
          <a:xfrm>
            <a:off x="11245641" y="5865672"/>
            <a:ext cx="400991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25" name="pin-S6"/>
          <p:cNvSpPr/>
          <p:nvPr/>
        </p:nvSpPr>
        <p:spPr>
          <a:xfrm>
            <a:off x="12711236" y="5862918"/>
            <a:ext cx="740126" cy="26679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obj-126: S6"/>
          <p:cNvSpPr txBox="1"/>
          <p:nvPr/>
        </p:nvSpPr>
        <p:spPr>
          <a:xfrm>
            <a:off x="12880803" y="5865672"/>
            <a:ext cx="400991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27" name="pin-S_EXT"/>
          <p:cNvSpPr/>
          <p:nvPr/>
        </p:nvSpPr>
        <p:spPr>
          <a:xfrm>
            <a:off x="14260337" y="5862918"/>
            <a:ext cx="740126" cy="26679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obj-128: S_EXT"/>
          <p:cNvSpPr txBox="1"/>
          <p:nvPr/>
        </p:nvSpPr>
        <p:spPr>
          <a:xfrm>
            <a:off x="14294445" y="5865672"/>
            <a:ext cx="671909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cxnSp>
        <p:nvCxnSpPr>
          <p:cNvPr id="129" name="target-M0"/>
          <p:cNvCxnSpPr/>
          <p:nvPr/>
        </p:nvCxnSpPr>
        <p:spPr>
          <a:xfrm>
            <a:off x="1635162" y="7196866"/>
            <a:ext cx="0" cy="731520"/>
          </a:xfrm>
          <a:prstGeom prst="line">
            <a:avLst/>
          </a:prstGeom>
          <a:ln w="25818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130" name="pin-M0"/>
          <p:cNvSpPr/>
          <p:nvPr/>
        </p:nvSpPr>
        <p:spPr>
          <a:xfrm>
            <a:off x="1247887" y="7084986"/>
            <a:ext cx="774551" cy="26679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obj-131: M0"/>
          <p:cNvSpPr txBox="1"/>
          <p:nvPr/>
        </p:nvSpPr>
        <p:spPr>
          <a:xfrm>
            <a:off x="1416574" y="7087740"/>
            <a:ext cx="437177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2" name="debug-target"/>
          <p:cNvSpPr/>
          <p:nvPr/>
        </p:nvSpPr>
        <p:spPr>
          <a:xfrm>
            <a:off x="688489" y="7928386"/>
            <a:ext cx="1893346" cy="1075765"/>
          </a:xfrm>
          <a:prstGeom prst="roundRect">
            <a:avLst>
              <a:gd name="adj" fmla="val 4800"/>
            </a:avLst>
          </a:prstGeom>
          <a:solidFill>
            <a:srgbClr val="EDF4FB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obj-133: Debug 目标"/>
          <p:cNvSpPr txBox="1"/>
          <p:nvPr/>
        </p:nvSpPr>
        <p:spPr>
          <a:xfrm>
            <a:off x="955360" y="8169529"/>
            <a:ext cx="1359605" cy="3580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1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4" name="obj-134: 调试地址窗口"/>
          <p:cNvSpPr txBox="1"/>
          <p:nvPr/>
        </p:nvSpPr>
        <p:spPr>
          <a:xfrm>
            <a:off x="942370" y="8464203"/>
            <a:ext cx="1385585" cy="3167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8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调试地址窗口</a:t>
            </a:r>
          </a:p>
        </p:txBody>
      </p:sp>
      <p:cxnSp>
        <p:nvCxnSpPr>
          <p:cNvPr id="135" name="target-M1"/>
          <p:cNvCxnSpPr/>
          <p:nvPr/>
        </p:nvCxnSpPr>
        <p:spPr>
          <a:xfrm>
            <a:off x="3803904" y="7196866"/>
            <a:ext cx="0" cy="731520"/>
          </a:xfrm>
          <a:prstGeom prst="line">
            <a:avLst/>
          </a:prstGeom>
          <a:ln w="25818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136" name="pin-M1"/>
          <p:cNvSpPr/>
          <p:nvPr/>
        </p:nvSpPr>
        <p:spPr>
          <a:xfrm>
            <a:off x="3416629" y="7084986"/>
            <a:ext cx="774551" cy="26679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obj-137: M1"/>
          <p:cNvSpPr txBox="1"/>
          <p:nvPr/>
        </p:nvSpPr>
        <p:spPr>
          <a:xfrm>
            <a:off x="3585315" y="7087740"/>
            <a:ext cx="437177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8" name="reg-bridge"/>
          <p:cNvSpPr/>
          <p:nvPr/>
        </p:nvSpPr>
        <p:spPr>
          <a:xfrm>
            <a:off x="2796988" y="7928386"/>
            <a:ext cx="2022438" cy="1075765"/>
          </a:xfrm>
          <a:prstGeom prst="roundRect">
            <a:avLst>
              <a:gd name="adj" fmla="val 4800"/>
            </a:avLst>
          </a:prstGeom>
          <a:solidFill>
            <a:srgbClr val="F3EDF8"/>
          </a:solidFill>
          <a:ln w="17212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obj-139: AXI → Regbus"/>
          <p:cNvSpPr txBox="1"/>
          <p:nvPr/>
        </p:nvSpPr>
        <p:spPr>
          <a:xfrm>
            <a:off x="3001115" y="8169529"/>
            <a:ext cx="1614185" cy="3580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1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40" name="obj-140: 原子适配 / 桥接"/>
          <p:cNvSpPr txBox="1"/>
          <p:nvPr/>
        </p:nvSpPr>
        <p:spPr>
          <a:xfrm>
            <a:off x="3004651" y="8464203"/>
            <a:ext cx="1607112" cy="3167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8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原子适配 / 桥接</a:t>
            </a:r>
          </a:p>
        </p:txBody>
      </p:sp>
      <p:cxnSp>
        <p:nvCxnSpPr>
          <p:cNvPr id="141" name="target-M3"/>
          <p:cNvCxnSpPr/>
          <p:nvPr/>
        </p:nvCxnSpPr>
        <p:spPr>
          <a:xfrm>
            <a:off x="6213617" y="7196866"/>
            <a:ext cx="0" cy="731520"/>
          </a:xfrm>
          <a:prstGeom prst="line">
            <a:avLst/>
          </a:prstGeom>
          <a:ln w="25818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142" name="pin-M3"/>
          <p:cNvSpPr/>
          <p:nvPr/>
        </p:nvSpPr>
        <p:spPr>
          <a:xfrm>
            <a:off x="5826342" y="7084986"/>
            <a:ext cx="774551" cy="26679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obj-143: M3"/>
          <p:cNvSpPr txBox="1"/>
          <p:nvPr/>
        </p:nvSpPr>
        <p:spPr>
          <a:xfrm>
            <a:off x="5995028" y="7087740"/>
            <a:ext cx="437177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44" name="idma-target"/>
          <p:cNvSpPr/>
          <p:nvPr/>
        </p:nvSpPr>
        <p:spPr>
          <a:xfrm>
            <a:off x="5034579" y="7928386"/>
            <a:ext cx="2366682" cy="1075765"/>
          </a:xfrm>
          <a:prstGeom prst="roundRect">
            <a:avLst>
              <a:gd name="adj" fmla="val 4800"/>
            </a:avLst>
          </a:prstGeom>
          <a:solidFill>
            <a:srgbClr val="EDF4FB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obj-145: iDMA 配置"/>
          <p:cNvSpPr txBox="1"/>
          <p:nvPr/>
        </p:nvSpPr>
        <p:spPr>
          <a:xfrm>
            <a:off x="5593950" y="8169529"/>
            <a:ext cx="1247941" cy="3580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1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46" name="obj-146: 原子适配 → AXI→Reg"/>
          <p:cNvSpPr txBox="1"/>
          <p:nvPr/>
        </p:nvSpPr>
        <p:spPr>
          <a:xfrm>
            <a:off x="5167227" y="8464203"/>
            <a:ext cx="2101385" cy="3167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8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cxnSp>
        <p:nvCxnSpPr>
          <p:cNvPr id="147" name="target-M4"/>
          <p:cNvCxnSpPr/>
          <p:nvPr/>
        </p:nvCxnSpPr>
        <p:spPr>
          <a:xfrm>
            <a:off x="8735209" y="7196866"/>
            <a:ext cx="0" cy="731520"/>
          </a:xfrm>
          <a:prstGeom prst="line">
            <a:avLst/>
          </a:prstGeom>
          <a:ln w="25818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148" name="pin-M4"/>
          <p:cNvSpPr/>
          <p:nvPr/>
        </p:nvSpPr>
        <p:spPr>
          <a:xfrm>
            <a:off x="8347934" y="7084986"/>
            <a:ext cx="774551" cy="26679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obj-149: M4"/>
          <p:cNvSpPr txBox="1"/>
          <p:nvPr/>
        </p:nvSpPr>
        <p:spPr>
          <a:xfrm>
            <a:off x="8516621" y="7087740"/>
            <a:ext cx="437177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50" name="slink-target"/>
          <p:cNvSpPr/>
          <p:nvPr/>
        </p:nvSpPr>
        <p:spPr>
          <a:xfrm>
            <a:off x="7616414" y="7928386"/>
            <a:ext cx="2237591" cy="1075765"/>
          </a:xfrm>
          <a:prstGeom prst="roundRect">
            <a:avLst>
              <a:gd name="adj" fmla="val 4800"/>
            </a:avLst>
          </a:prstGeom>
          <a:solidFill>
            <a:srgbClr val="EDF4FB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obj-151: Serial Link TX"/>
          <p:cNvSpPr txBox="1"/>
          <p:nvPr/>
        </p:nvSpPr>
        <p:spPr>
          <a:xfrm>
            <a:off x="7961883" y="8169529"/>
            <a:ext cx="1546654" cy="3580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1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52" name="obj-152: 远端数据窗口"/>
          <p:cNvSpPr txBox="1"/>
          <p:nvPr/>
        </p:nvSpPr>
        <p:spPr>
          <a:xfrm>
            <a:off x="8042417" y="8464203"/>
            <a:ext cx="1385585" cy="3167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8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远端数据窗口</a:t>
            </a:r>
          </a:p>
        </p:txBody>
      </p:sp>
      <p:cxnSp>
        <p:nvCxnSpPr>
          <p:cNvPr id="153" name="target-M_EXT"/>
          <p:cNvCxnSpPr/>
          <p:nvPr/>
        </p:nvCxnSpPr>
        <p:spPr>
          <a:xfrm>
            <a:off x="11058861" y="7196866"/>
            <a:ext cx="0" cy="731520"/>
          </a:xfrm>
          <a:prstGeom prst="line">
            <a:avLst/>
          </a:prstGeom>
          <a:ln w="25818" cap="flat">
            <a:solidFill>
              <a:srgbClr val="8B99A7"/>
            </a:solidFill>
            <a:custDash>
              <a:ds d="266667" sp="200000"/>
            </a:custDash>
            <a:tailEnd type="triangle" w="med" len="med"/>
          </a:ln>
          <a:effectLst/>
        </p:spPr>
      </p:cxnSp>
      <p:sp>
        <p:nvSpPr>
          <p:cNvPr id="154" name="pin-M_EXT"/>
          <p:cNvSpPr/>
          <p:nvPr/>
        </p:nvSpPr>
        <p:spPr>
          <a:xfrm>
            <a:off x="10671586" y="7084986"/>
            <a:ext cx="774551" cy="26679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obj-155: M_EXT"/>
          <p:cNvSpPr txBox="1"/>
          <p:nvPr/>
        </p:nvSpPr>
        <p:spPr>
          <a:xfrm>
            <a:off x="10704814" y="7087740"/>
            <a:ext cx="708095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56" name="axi-ext-target"/>
          <p:cNvSpPr/>
          <p:nvPr/>
        </p:nvSpPr>
        <p:spPr>
          <a:xfrm>
            <a:off x="10069158" y="7928386"/>
            <a:ext cx="1979407" cy="1075765"/>
          </a:xfrm>
          <a:prstGeom prst="roundRect">
            <a:avLst>
              <a:gd name="adj" fmla="val 4800"/>
            </a:avLst>
          </a:prstGeom>
          <a:solidFill>
            <a:srgbClr val="F4F6F8"/>
          </a:solidFill>
          <a:ln w="17212" cap="flat">
            <a:solidFill>
              <a:srgbClr val="8B99A7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obj-157: AXI 扩展目标"/>
          <p:cNvSpPr txBox="1"/>
          <p:nvPr/>
        </p:nvSpPr>
        <p:spPr>
          <a:xfrm>
            <a:off x="10313941" y="8169529"/>
            <a:ext cx="1489840" cy="3580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1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AXI 扩展目标</a:t>
            </a:r>
          </a:p>
        </p:txBody>
      </p:sp>
      <p:sp>
        <p:nvSpPr>
          <p:cNvPr id="158" name="obj-158: CPU 直访 GB 待定"/>
          <p:cNvSpPr txBox="1"/>
          <p:nvPr/>
        </p:nvSpPr>
        <p:spPr>
          <a:xfrm>
            <a:off x="10168511" y="8464203"/>
            <a:ext cx="1780700" cy="3167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8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CPU 直访 GB 待定</a:t>
            </a:r>
          </a:p>
        </p:txBody>
      </p:sp>
      <p:cxnSp>
        <p:nvCxnSpPr>
          <p:cNvPr id="159" name="target-M2"/>
          <p:cNvCxnSpPr/>
          <p:nvPr/>
        </p:nvCxnSpPr>
        <p:spPr>
          <a:xfrm>
            <a:off x="13769788" y="7196866"/>
            <a:ext cx="0" cy="731520"/>
          </a:xfrm>
          <a:prstGeom prst="line">
            <a:avLst/>
          </a:prstGeom>
          <a:ln w="25818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160" name="pin-M2"/>
          <p:cNvSpPr/>
          <p:nvPr/>
        </p:nvSpPr>
        <p:spPr>
          <a:xfrm>
            <a:off x="13382513" y="7084986"/>
            <a:ext cx="774551" cy="26679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obj-161: M2"/>
          <p:cNvSpPr txBox="1"/>
          <p:nvPr/>
        </p:nvSpPr>
        <p:spPr>
          <a:xfrm>
            <a:off x="13551200" y="7087740"/>
            <a:ext cx="437177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62" name="memory-target"/>
          <p:cNvSpPr/>
          <p:nvPr/>
        </p:nvSpPr>
        <p:spPr>
          <a:xfrm>
            <a:off x="12263718" y="7928386"/>
            <a:ext cx="3012141" cy="1075765"/>
          </a:xfrm>
          <a:prstGeom prst="roundRect">
            <a:avLst>
              <a:gd name="adj" fmla="val 4800"/>
            </a:avLst>
          </a:prstGeom>
          <a:solidFill>
            <a:srgbClr val="EDF4FB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obj-163: 主存 / SPM 共用目标"/>
          <p:cNvSpPr txBox="1"/>
          <p:nvPr/>
        </p:nvSpPr>
        <p:spPr>
          <a:xfrm>
            <a:off x="12693990" y="7954893"/>
            <a:ext cx="2151597" cy="3304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6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64" name="memory-atomics"/>
          <p:cNvSpPr/>
          <p:nvPr/>
        </p:nvSpPr>
        <p:spPr>
          <a:xfrm>
            <a:off x="12366991" y="8341480"/>
            <a:ext cx="1204856" cy="51636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obj-165: AMO / LRSC"/>
          <p:cNvSpPr txBox="1"/>
          <p:nvPr/>
        </p:nvSpPr>
        <p:spPr>
          <a:xfrm>
            <a:off x="12408744" y="8474014"/>
            <a:ext cx="1121350" cy="2753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66" name="llc"/>
          <p:cNvSpPr/>
          <p:nvPr/>
        </p:nvSpPr>
        <p:spPr>
          <a:xfrm>
            <a:off x="13855849" y="8341480"/>
            <a:ext cx="1299524" cy="51636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obj-167: LLC / SPM"/>
          <p:cNvSpPr txBox="1"/>
          <p:nvPr/>
        </p:nvSpPr>
        <p:spPr>
          <a:xfrm>
            <a:off x="13913201" y="8448884"/>
            <a:ext cx="1184820" cy="3304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6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cxnSp>
        <p:nvCxnSpPr>
          <p:cNvPr id="168" name="atomics-llc"/>
          <p:cNvCxnSpPr/>
          <p:nvPr/>
        </p:nvCxnSpPr>
        <p:spPr>
          <a:xfrm>
            <a:off x="13571848" y="8599663"/>
            <a:ext cx="284001" cy="0"/>
          </a:xfrm>
          <a:prstGeom prst="line">
            <a:avLst/>
          </a:prstGeom>
          <a:ln w="25818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169" name="obj-169: AXI slave / 目标端"/>
          <p:cNvSpPr txBox="1"/>
          <p:nvPr/>
        </p:nvSpPr>
        <p:spPr>
          <a:xfrm>
            <a:off x="8996909" y="7396872"/>
            <a:ext cx="1714191" cy="3029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AXI slave / 目标端</a:t>
            </a:r>
          </a:p>
        </p:txBody>
      </p:sp>
      <p:sp>
        <p:nvSpPr>
          <p:cNvPr id="170" name="platform-clock"/>
          <p:cNvSpPr/>
          <p:nvPr/>
        </p:nvSpPr>
        <p:spPr>
          <a:xfrm>
            <a:off x="15835256" y="4485939"/>
            <a:ext cx="3184264" cy="998310"/>
          </a:xfrm>
          <a:prstGeom prst="roundRect">
            <a:avLst>
              <a:gd name="adj" fmla="val 5172"/>
            </a:avLst>
          </a:prstGeom>
          <a:solidFill>
            <a:srgbClr val="F3EDF8"/>
          </a:solidFill>
          <a:ln w="17212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obj-171: PLL / 时钟与复位"/>
          <p:cNvSpPr txBox="1"/>
          <p:nvPr/>
        </p:nvSpPr>
        <p:spPr>
          <a:xfrm>
            <a:off x="16419067" y="4535768"/>
            <a:ext cx="2016642" cy="3717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9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PLL / 时钟与复位</a:t>
            </a:r>
          </a:p>
        </p:txBody>
      </p:sp>
      <p:sp>
        <p:nvSpPr>
          <p:cNvPr id="172" name="obj-172: RefClk / POR → 系统分发"/>
          <p:cNvSpPr txBox="1"/>
          <p:nvPr/>
        </p:nvSpPr>
        <p:spPr>
          <a:xfrm>
            <a:off x="16149581" y="4830442"/>
            <a:ext cx="2555614" cy="3304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6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RefClk / POR → 系统分发</a:t>
            </a:r>
          </a:p>
        </p:txBody>
      </p:sp>
      <p:sp>
        <p:nvSpPr>
          <p:cNvPr id="173" name="tag-C1-172"/>
          <p:cNvSpPr/>
          <p:nvPr/>
        </p:nvSpPr>
        <p:spPr>
          <a:xfrm>
            <a:off x="18503153" y="5114185"/>
            <a:ext cx="413094" cy="266790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2909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obj-174: C1"/>
          <p:cNvSpPr txBox="1"/>
          <p:nvPr/>
        </p:nvSpPr>
        <p:spPr>
          <a:xfrm>
            <a:off x="18518752" y="5126234"/>
            <a:ext cx="381896" cy="2753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75" name="clock-distribution"/>
          <p:cNvSpPr/>
          <p:nvPr/>
        </p:nvSpPr>
        <p:spPr>
          <a:xfrm>
            <a:off x="15318889" y="5002306"/>
            <a:ext cx="516367" cy="1376979"/>
          </a:xfrm>
          <a:custGeom>
            <a:avLst/>
            <a:gdLst/>
            <a:ahLst/>
            <a:cxnLst/>
            <a:rect l="0" t="0" r="r" b="b"/>
            <a:pathLst>
              <a:path w="516367" h="1376979" fill="none">
                <a:moveTo>
                  <a:pt x="516367" y="0"/>
                </a:moveTo>
                <a:lnTo>
                  <a:pt x="68849" y="0"/>
                </a:lnTo>
                <a:lnTo>
                  <a:pt x="68849" y="1376979"/>
                </a:lnTo>
                <a:lnTo>
                  <a:pt x="0" y="1376979"/>
                </a:lnTo>
              </a:path>
            </a:pathLst>
          </a:custGeom>
          <a:noFill/>
          <a:ln w="18933" cap="flat">
            <a:solidFill>
              <a:srgbClr val="8B99A7"/>
            </a:solidFill>
            <a:custDash>
              <a:ds d="363636" sp="27272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ddr-controller"/>
          <p:cNvSpPr/>
          <p:nvPr/>
        </p:nvSpPr>
        <p:spPr>
          <a:xfrm>
            <a:off x="15663134" y="5862918"/>
            <a:ext cx="8950362" cy="3700631"/>
          </a:xfrm>
          <a:prstGeom prst="roundRect">
            <a:avLst>
              <a:gd name="adj" fmla="val 2325"/>
            </a:avLst>
          </a:prstGeom>
          <a:solidFill>
            <a:srgbClr val="EDF4FB"/>
          </a:solidFill>
          <a:ln w="17212" cap="flat">
            <a:solidFill>
              <a:srgbClr val="347BB2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obj-177: DDR Controller · 三 AXI slave 端口"/>
          <p:cNvSpPr txBox="1"/>
          <p:nvPr/>
        </p:nvSpPr>
        <p:spPr>
          <a:xfrm>
            <a:off x="15878287" y="5972043"/>
            <a:ext cx="3948863" cy="3993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65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DDR Controller · 三 AXI slave 端口</a:t>
            </a:r>
          </a:p>
        </p:txBody>
      </p:sp>
      <p:sp>
        <p:nvSpPr>
          <p:cNvPr id="178" name="tag-C2-177"/>
          <p:cNvSpPr/>
          <p:nvPr/>
        </p:nvSpPr>
        <p:spPr>
          <a:xfrm>
            <a:off x="24079917" y="6000616"/>
            <a:ext cx="413094" cy="266790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2909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obj-179: C2"/>
          <p:cNvSpPr txBox="1"/>
          <p:nvPr/>
        </p:nvSpPr>
        <p:spPr>
          <a:xfrm>
            <a:off x="24095516" y="6012664"/>
            <a:ext cx="381896" cy="2753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80" name="ddr-S0"/>
          <p:cNvSpPr/>
          <p:nvPr/>
        </p:nvSpPr>
        <p:spPr>
          <a:xfrm>
            <a:off x="16093440" y="6637468"/>
            <a:ext cx="1376979" cy="774551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obj-181: S0"/>
          <p:cNvSpPr txBox="1"/>
          <p:nvPr/>
        </p:nvSpPr>
        <p:spPr>
          <a:xfrm>
            <a:off x="16524149" y="6721722"/>
            <a:ext cx="515560" cy="3717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9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82" name="obj-182: LLC 下游"/>
          <p:cNvSpPr txBox="1"/>
          <p:nvPr/>
        </p:nvSpPr>
        <p:spPr>
          <a:xfrm>
            <a:off x="16273933" y="7016396"/>
            <a:ext cx="1015993" cy="3304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6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LLC 下游</a:t>
            </a:r>
          </a:p>
        </p:txBody>
      </p:sp>
      <p:cxnSp>
        <p:nvCxnSpPr>
          <p:cNvPr id="183" name="ddr-port-0"/>
          <p:cNvCxnSpPr/>
          <p:nvPr/>
        </p:nvCxnSpPr>
        <p:spPr>
          <a:xfrm>
            <a:off x="16781929" y="7412019"/>
            <a:ext cx="0" cy="266789"/>
          </a:xfrm>
          <a:prstGeom prst="line">
            <a:avLst/>
          </a:prstGeom>
          <a:ln w="25818" cap="flat">
            <a:solidFill>
              <a:srgbClr val="347BB2"/>
            </a:solidFill>
          </a:ln>
          <a:effectLst/>
        </p:spPr>
      </p:cxnSp>
      <p:sp>
        <p:nvSpPr>
          <p:cNvPr id="184" name="ddr-S1"/>
          <p:cNvSpPr/>
          <p:nvPr/>
        </p:nvSpPr>
        <p:spPr>
          <a:xfrm>
            <a:off x="19535887" y="6637468"/>
            <a:ext cx="1376979" cy="774551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obj-185: S1"/>
          <p:cNvSpPr txBox="1"/>
          <p:nvPr/>
        </p:nvSpPr>
        <p:spPr>
          <a:xfrm>
            <a:off x="19966596" y="6721722"/>
            <a:ext cx="515560" cy="3717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9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86" name="obj-186: NPU / GB"/>
          <p:cNvSpPr txBox="1"/>
          <p:nvPr/>
        </p:nvSpPr>
        <p:spPr>
          <a:xfrm>
            <a:off x="19681586" y="7016396"/>
            <a:ext cx="1085581" cy="3304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6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cxnSp>
        <p:nvCxnSpPr>
          <p:cNvPr id="187" name="ddr-port-1"/>
          <p:cNvCxnSpPr/>
          <p:nvPr/>
        </p:nvCxnSpPr>
        <p:spPr>
          <a:xfrm>
            <a:off x="20224376" y="7412019"/>
            <a:ext cx="0" cy="266789"/>
          </a:xfrm>
          <a:prstGeom prst="line">
            <a:avLst/>
          </a:prstGeom>
          <a:ln w="25818" cap="flat">
            <a:solidFill>
              <a:srgbClr val="347BB2"/>
            </a:solidFill>
          </a:ln>
          <a:effectLst/>
        </p:spPr>
      </p:cxnSp>
      <p:sp>
        <p:nvSpPr>
          <p:cNvPr id="188" name="ddr-S2"/>
          <p:cNvSpPr/>
          <p:nvPr/>
        </p:nvSpPr>
        <p:spPr>
          <a:xfrm>
            <a:off x="22978334" y="6637468"/>
            <a:ext cx="1376979" cy="774551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obj-189: S2"/>
          <p:cNvSpPr txBox="1"/>
          <p:nvPr/>
        </p:nvSpPr>
        <p:spPr>
          <a:xfrm>
            <a:off x="23409043" y="6721722"/>
            <a:ext cx="515560" cy="3717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9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90" name="obj-190: 图像帧写入"/>
          <p:cNvSpPr txBox="1"/>
          <p:nvPr/>
        </p:nvSpPr>
        <p:spPr>
          <a:xfrm>
            <a:off x="23047183" y="7016396"/>
            <a:ext cx="1239281" cy="3304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6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91" name="ddr-port-2"/>
          <p:cNvCxnSpPr/>
          <p:nvPr/>
        </p:nvCxnSpPr>
        <p:spPr>
          <a:xfrm>
            <a:off x="23666824" y="7412019"/>
            <a:ext cx="0" cy="266789"/>
          </a:xfrm>
          <a:prstGeom prst="line">
            <a:avLst/>
          </a:prstGeom>
          <a:ln w="25818" cap="flat">
            <a:solidFill>
              <a:srgbClr val="347BB2"/>
            </a:solidFill>
          </a:ln>
          <a:effectLst/>
        </p:spPr>
      </p:cxnSp>
      <p:cxnSp>
        <p:nvCxnSpPr>
          <p:cNvPr id="192" name="ddr-port-merge"/>
          <p:cNvCxnSpPr/>
          <p:nvPr/>
        </p:nvCxnSpPr>
        <p:spPr>
          <a:xfrm>
            <a:off x="16781929" y="7678808"/>
            <a:ext cx="6884895" cy="0"/>
          </a:xfrm>
          <a:prstGeom prst="line">
            <a:avLst/>
          </a:prstGeom>
          <a:ln w="25818" cap="flat">
            <a:solidFill>
              <a:srgbClr val="347BB2"/>
            </a:solidFill>
          </a:ln>
          <a:effectLst/>
        </p:spPr>
      </p:cxnSp>
      <p:sp>
        <p:nvSpPr>
          <p:cNvPr id="193" name="ddr-arbitration"/>
          <p:cNvSpPr/>
          <p:nvPr/>
        </p:nvSpPr>
        <p:spPr>
          <a:xfrm>
            <a:off x="16007379" y="7928386"/>
            <a:ext cx="8261873" cy="12048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7212" cap="flat">
            <a:solidFill>
              <a:srgbClr val="92AD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ddr-qos"/>
          <p:cNvSpPr/>
          <p:nvPr/>
        </p:nvSpPr>
        <p:spPr>
          <a:xfrm>
            <a:off x="16179501" y="8177963"/>
            <a:ext cx="2366682" cy="705702"/>
          </a:xfrm>
          <a:prstGeom prst="roundRect">
            <a:avLst>
              <a:gd name="adj" fmla="val 7317"/>
            </a:avLst>
          </a:prstGeom>
          <a:solidFill>
            <a:srgbClr val="F3F7FC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obj-195: 端口仲裁 / QoS"/>
          <p:cNvSpPr txBox="1"/>
          <p:nvPr/>
        </p:nvSpPr>
        <p:spPr>
          <a:xfrm>
            <a:off x="16440744" y="8361188"/>
            <a:ext cx="1844197" cy="3717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9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96" name="ddr-rw"/>
          <p:cNvSpPr/>
          <p:nvPr/>
        </p:nvSpPr>
        <p:spPr>
          <a:xfrm>
            <a:off x="18890428" y="8177963"/>
            <a:ext cx="1807285" cy="705702"/>
          </a:xfrm>
          <a:prstGeom prst="roundRect">
            <a:avLst>
              <a:gd name="adj" fmla="val 7317"/>
            </a:avLst>
          </a:prstGeom>
          <a:solidFill>
            <a:srgbClr val="F3F7FC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obj-197: 读写调度"/>
          <p:cNvSpPr txBox="1"/>
          <p:nvPr/>
        </p:nvSpPr>
        <p:spPr>
          <a:xfrm>
            <a:off x="19213158" y="8361188"/>
            <a:ext cx="1161826" cy="3717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9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98" name="ddr-command"/>
          <p:cNvSpPr/>
          <p:nvPr/>
        </p:nvSpPr>
        <p:spPr>
          <a:xfrm>
            <a:off x="21041958" y="8177963"/>
            <a:ext cx="3055172" cy="705702"/>
          </a:xfrm>
          <a:prstGeom prst="roundRect">
            <a:avLst>
              <a:gd name="adj" fmla="val 7317"/>
            </a:avLst>
          </a:prstGeom>
          <a:solidFill>
            <a:srgbClr val="F3F7FC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obj-199: Bank / Row"/>
          <p:cNvSpPr txBox="1"/>
          <p:nvPr/>
        </p:nvSpPr>
        <p:spPr>
          <a:xfrm>
            <a:off x="21856890" y="8227793"/>
            <a:ext cx="1425308" cy="3717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9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sp>
        <p:nvSpPr>
          <p:cNvPr id="200" name="obj-200: 命令调度"/>
          <p:cNvSpPr txBox="1"/>
          <p:nvPr/>
        </p:nvSpPr>
        <p:spPr>
          <a:xfrm>
            <a:off x="22053176" y="8522466"/>
            <a:ext cx="1032734" cy="3304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6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cxnSp>
        <p:nvCxnSpPr>
          <p:cNvPr id="201" name="ddr-merge-qos"/>
          <p:cNvCxnSpPr/>
          <p:nvPr/>
        </p:nvCxnSpPr>
        <p:spPr>
          <a:xfrm>
            <a:off x="17367145" y="7678808"/>
            <a:ext cx="0" cy="499155"/>
          </a:xfrm>
          <a:prstGeom prst="line">
            <a:avLst/>
          </a:prstGeom>
          <a:ln w="25818" cap="flat">
            <a:solidFill>
              <a:srgbClr val="347BB2"/>
            </a:solidFill>
            <a:tailEnd type="triangle" w="med" len="med"/>
          </a:ln>
          <a:effectLst/>
        </p:spPr>
      </p:cxnSp>
      <p:cxnSp>
        <p:nvCxnSpPr>
          <p:cNvPr id="202" name="qos-rw"/>
          <p:cNvCxnSpPr/>
          <p:nvPr/>
        </p:nvCxnSpPr>
        <p:spPr>
          <a:xfrm>
            <a:off x="18546184" y="8530814"/>
            <a:ext cx="344244" cy="0"/>
          </a:xfrm>
          <a:prstGeom prst="line">
            <a:avLst/>
          </a:prstGeom>
          <a:ln w="25818" cap="flat">
            <a:solidFill>
              <a:srgbClr val="347BB2"/>
            </a:solidFill>
            <a:tailEnd type="triangle" w="med" len="med"/>
          </a:ln>
          <a:effectLst/>
        </p:spPr>
      </p:cxnSp>
      <p:cxnSp>
        <p:nvCxnSpPr>
          <p:cNvPr id="203" name="rw-command"/>
          <p:cNvCxnSpPr/>
          <p:nvPr/>
        </p:nvCxnSpPr>
        <p:spPr>
          <a:xfrm>
            <a:off x="20697713" y="8530814"/>
            <a:ext cx="344245" cy="0"/>
          </a:xfrm>
          <a:prstGeom prst="line">
            <a:avLst/>
          </a:prstGeom>
          <a:ln w="25818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204" name="phy"/>
          <p:cNvSpPr/>
          <p:nvPr/>
        </p:nvSpPr>
        <p:spPr>
          <a:xfrm>
            <a:off x="24871680" y="8014447"/>
            <a:ext cx="1807285" cy="1118795"/>
          </a:xfrm>
          <a:prstGeom prst="roundRect">
            <a:avLst>
              <a:gd name="adj" fmla="val 4615"/>
            </a:avLst>
          </a:prstGeom>
          <a:solidFill>
            <a:srgbClr val="EDF4FB"/>
          </a:solidFill>
          <a:ln w="17212" cap="flat">
            <a:solidFill>
              <a:srgbClr val="347BB2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obj-205: PHY"/>
          <p:cNvSpPr txBox="1"/>
          <p:nvPr/>
        </p:nvSpPr>
        <p:spPr>
          <a:xfrm>
            <a:off x="25416662" y="8105672"/>
            <a:ext cx="717320" cy="4130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3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206" name="obj-206: 训练 / 校准"/>
          <p:cNvSpPr txBox="1"/>
          <p:nvPr/>
        </p:nvSpPr>
        <p:spPr>
          <a:xfrm>
            <a:off x="25064376" y="8400345"/>
            <a:ext cx="1421892" cy="3717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9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207" name="tag-C3-206"/>
          <p:cNvSpPr/>
          <p:nvPr/>
        </p:nvSpPr>
        <p:spPr>
          <a:xfrm>
            <a:off x="26162598" y="8763179"/>
            <a:ext cx="413094" cy="266790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2909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obj-208: C3"/>
          <p:cNvSpPr txBox="1"/>
          <p:nvPr/>
        </p:nvSpPr>
        <p:spPr>
          <a:xfrm>
            <a:off x="26178196" y="8775228"/>
            <a:ext cx="381896" cy="2753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209" name="dram-chip"/>
          <p:cNvSpPr/>
          <p:nvPr/>
        </p:nvSpPr>
        <p:spPr>
          <a:xfrm>
            <a:off x="27367454" y="8066084"/>
            <a:ext cx="1549101" cy="1032734"/>
          </a:xfrm>
          <a:prstGeom prst="roundRect">
            <a:avLst>
              <a:gd name="adj" fmla="val 5000"/>
            </a:avLst>
          </a:prstGeom>
          <a:solidFill>
            <a:srgbClr val="F0F3F6"/>
          </a:solidFill>
          <a:ln w="17212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obj-210: DDR 器件"/>
          <p:cNvSpPr txBox="1"/>
          <p:nvPr/>
        </p:nvSpPr>
        <p:spPr>
          <a:xfrm>
            <a:off x="27510975" y="8273147"/>
            <a:ext cx="1262060" cy="385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DDR 器件</a:t>
            </a:r>
          </a:p>
        </p:txBody>
      </p:sp>
      <p:sp>
        <p:nvSpPr>
          <p:cNvPr id="211" name="obj-211: 片外存储"/>
          <p:cNvSpPr txBox="1"/>
          <p:nvPr/>
        </p:nvSpPr>
        <p:spPr>
          <a:xfrm>
            <a:off x="27604122" y="8567820"/>
            <a:ext cx="1075765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片外存储</a:t>
            </a:r>
          </a:p>
        </p:txBody>
      </p:sp>
      <p:cxnSp>
        <p:nvCxnSpPr>
          <p:cNvPr id="212" name="controller-phy"/>
          <p:cNvCxnSpPr/>
          <p:nvPr/>
        </p:nvCxnSpPr>
        <p:spPr>
          <a:xfrm>
            <a:off x="24269252" y="8530814"/>
            <a:ext cx="602428" cy="0"/>
          </a:xfrm>
          <a:prstGeom prst="line">
            <a:avLst/>
          </a:prstGeom>
          <a:ln w="30121" cap="flat">
            <a:solidFill>
              <a:srgbClr val="347BB2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213" name="phy-dram"/>
          <p:cNvCxnSpPr/>
          <p:nvPr/>
        </p:nvCxnSpPr>
        <p:spPr>
          <a:xfrm>
            <a:off x="26678965" y="8530814"/>
            <a:ext cx="688489" cy="0"/>
          </a:xfrm>
          <a:prstGeom prst="line">
            <a:avLst/>
          </a:prstGeom>
          <a:ln w="30121" cap="flat">
            <a:solidFill>
              <a:srgbClr val="347BB2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214" name="llc-ddr"/>
          <p:cNvSpPr/>
          <p:nvPr/>
        </p:nvSpPr>
        <p:spPr>
          <a:xfrm>
            <a:off x="15155373" y="6448134"/>
            <a:ext cx="1626556" cy="2151529"/>
          </a:xfrm>
          <a:custGeom>
            <a:avLst/>
            <a:gdLst/>
            <a:ahLst/>
            <a:cxnLst/>
            <a:rect l="0" t="0" r="r" b="b"/>
            <a:pathLst>
              <a:path w="1626556" h="2151529" fill="none">
                <a:moveTo>
                  <a:pt x="0" y="2151529"/>
                </a:moveTo>
                <a:lnTo>
                  <a:pt x="335639" y="2151529"/>
                </a:lnTo>
                <a:lnTo>
                  <a:pt x="335639" y="0"/>
                </a:lnTo>
                <a:lnTo>
                  <a:pt x="1626556" y="0"/>
                </a:lnTo>
                <a:lnTo>
                  <a:pt x="1626556" y="189335"/>
                </a:lnTo>
              </a:path>
            </a:pathLst>
          </a:custGeom>
          <a:noFill/>
          <a:ln w="30121" cap="flat">
            <a:solidFill>
              <a:srgbClr val="347B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obj-215: LLC 外存出口"/>
          <p:cNvSpPr txBox="1"/>
          <p:nvPr/>
        </p:nvSpPr>
        <p:spPr>
          <a:xfrm>
            <a:off x="13459033" y="9135308"/>
            <a:ext cx="1309999" cy="3029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LLC 外存出口</a:t>
            </a:r>
          </a:p>
        </p:txBody>
      </p:sp>
      <p:sp>
        <p:nvSpPr>
          <p:cNvPr id="216" name="transfer-ddr"/>
          <p:cNvSpPr/>
          <p:nvPr/>
        </p:nvSpPr>
        <p:spPr>
          <a:xfrm>
            <a:off x="19191642" y="3048717"/>
            <a:ext cx="1032734" cy="3588751"/>
          </a:xfrm>
          <a:custGeom>
            <a:avLst/>
            <a:gdLst/>
            <a:ahLst/>
            <a:cxnLst/>
            <a:rect l="0" t="0" r="r" b="b"/>
            <a:pathLst>
              <a:path w="1032734" h="3588751" fill="none">
                <a:moveTo>
                  <a:pt x="0" y="0"/>
                </a:moveTo>
                <a:lnTo>
                  <a:pt x="301214" y="0"/>
                </a:lnTo>
                <a:lnTo>
                  <a:pt x="301214" y="1893346"/>
                </a:lnTo>
                <a:lnTo>
                  <a:pt x="1032734" y="1893346"/>
                </a:lnTo>
                <a:lnTo>
                  <a:pt x="1032734" y="3588751"/>
                </a:lnTo>
              </a:path>
            </a:pathLst>
          </a:custGeom>
          <a:noFill/>
          <a:ln w="30121" cap="flat">
            <a:solidFill>
              <a:srgbClr val="347BB2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obj-217: NPU / GB 统一 DDR 主口"/>
          <p:cNvSpPr txBox="1"/>
          <p:nvPr/>
        </p:nvSpPr>
        <p:spPr>
          <a:xfrm>
            <a:off x="20060282" y="5115562"/>
            <a:ext cx="2393657" cy="3167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8" b="0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NPU / GB 统一 DDR 主口</a:t>
            </a:r>
          </a:p>
        </p:txBody>
      </p:sp>
      <p:sp>
        <p:nvSpPr>
          <p:cNvPr id="218" name="frame-ddr"/>
          <p:cNvSpPr/>
          <p:nvPr/>
        </p:nvSpPr>
        <p:spPr>
          <a:xfrm>
            <a:off x="23666824" y="3900723"/>
            <a:ext cx="3485478" cy="2736745"/>
          </a:xfrm>
          <a:custGeom>
            <a:avLst/>
            <a:gdLst/>
            <a:ahLst/>
            <a:cxnLst/>
            <a:rect l="0" t="0" r="r" b="b"/>
            <a:pathLst>
              <a:path w="3485478" h="2736745" fill="none">
                <a:moveTo>
                  <a:pt x="3485478" y="0"/>
                </a:moveTo>
                <a:lnTo>
                  <a:pt x="3485478" y="1574920"/>
                </a:lnTo>
                <a:lnTo>
                  <a:pt x="0" y="1574920"/>
                </a:lnTo>
                <a:lnTo>
                  <a:pt x="0" y="2736745"/>
                </a:lnTo>
              </a:path>
            </a:pathLst>
          </a:custGeom>
          <a:noFill/>
          <a:ln w="30121" cap="flat">
            <a:solidFill>
              <a:srgbClr val="347B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obj-219: 帧写事务"/>
          <p:cNvSpPr txBox="1"/>
          <p:nvPr/>
        </p:nvSpPr>
        <p:spPr>
          <a:xfrm>
            <a:off x="25323501" y="5106956"/>
            <a:ext cx="989704" cy="3167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8" b="0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帧写事务</a:t>
            </a:r>
          </a:p>
        </p:txBody>
      </p:sp>
      <p:sp>
        <p:nvSpPr>
          <p:cNvPr id="220" name="reg-peripherals"/>
          <p:cNvSpPr/>
          <p:nvPr/>
        </p:nvSpPr>
        <p:spPr>
          <a:xfrm>
            <a:off x="516367" y="9950824"/>
            <a:ext cx="28055944" cy="3055172"/>
          </a:xfrm>
          <a:prstGeom prst="roundRect">
            <a:avLst>
              <a:gd name="adj" fmla="val 2535"/>
            </a:avLst>
          </a:prstGeom>
          <a:solidFill>
            <a:srgbClr val="FAF8FC"/>
          </a:solidFill>
          <a:ln w="17212" cap="flat">
            <a:solidFill>
              <a:srgbClr val="B6A5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obj-221: Regbus 外设 / 配置目标"/>
          <p:cNvSpPr txBox="1"/>
          <p:nvPr/>
        </p:nvSpPr>
        <p:spPr>
          <a:xfrm>
            <a:off x="757338" y="10052031"/>
            <a:ext cx="2813313" cy="385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Regbus 外设 / 配置目标</a:t>
            </a:r>
          </a:p>
        </p:txBody>
      </p:sp>
      <p:sp>
        <p:nvSpPr>
          <p:cNvPr id="222" name="regbus"/>
          <p:cNvSpPr/>
          <p:nvPr/>
        </p:nvSpPr>
        <p:spPr>
          <a:xfrm>
            <a:off x="688489" y="11413864"/>
            <a:ext cx="27625638" cy="430306"/>
          </a:xfrm>
          <a:prstGeom prst="roundRect">
            <a:avLst>
              <a:gd name="adj" fmla="val 6000"/>
            </a:avLst>
          </a:prstGeom>
          <a:solidFill>
            <a:srgbClr val="F3EDF8"/>
          </a:solidFill>
          <a:ln w="21515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obj-223: Regbus · 32 bit · 地址译码 / demux"/>
          <p:cNvSpPr txBox="1"/>
          <p:nvPr/>
        </p:nvSpPr>
        <p:spPr>
          <a:xfrm>
            <a:off x="12581330" y="11464123"/>
            <a:ext cx="3839956" cy="3717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9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Regbus · 32 bit · 地址译码 / demux</a:t>
            </a:r>
          </a:p>
        </p:txBody>
      </p:sp>
      <p:sp>
        <p:nvSpPr>
          <p:cNvPr id="224" name="bridge-regbus"/>
          <p:cNvSpPr/>
          <p:nvPr/>
        </p:nvSpPr>
        <p:spPr>
          <a:xfrm>
            <a:off x="395881" y="9004151"/>
            <a:ext cx="3408023" cy="2624866"/>
          </a:xfrm>
          <a:custGeom>
            <a:avLst/>
            <a:gdLst/>
            <a:ahLst/>
            <a:cxnLst/>
            <a:rect l="0" t="0" r="r" b="b"/>
            <a:pathLst>
              <a:path w="3408023" h="2624866" fill="none">
                <a:moveTo>
                  <a:pt x="3408023" y="0"/>
                </a:moveTo>
                <a:lnTo>
                  <a:pt x="3408023" y="688489"/>
                </a:lnTo>
                <a:lnTo>
                  <a:pt x="0" y="688489"/>
                </a:lnTo>
                <a:lnTo>
                  <a:pt x="0" y="2624866"/>
                </a:lnTo>
                <a:lnTo>
                  <a:pt x="292608" y="2624866"/>
                </a:lnTo>
              </a:path>
            </a:pathLst>
          </a:custGeom>
          <a:noFill/>
          <a:ln w="25818" cap="flat">
            <a:solidFill>
              <a:srgbClr val="8663A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bootrom"/>
          <p:cNvSpPr/>
          <p:nvPr/>
        </p:nvSpPr>
        <p:spPr>
          <a:xfrm>
            <a:off x="688489" y="10596282"/>
            <a:ext cx="2581835" cy="6454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212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obj-226: Boot ROM"/>
          <p:cNvSpPr txBox="1"/>
          <p:nvPr/>
        </p:nvSpPr>
        <p:spPr>
          <a:xfrm>
            <a:off x="1396988" y="10628555"/>
            <a:ext cx="1164838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227" name="obj-227: 启动代码"/>
          <p:cNvSpPr txBox="1"/>
          <p:nvPr/>
        </p:nvSpPr>
        <p:spPr>
          <a:xfrm>
            <a:off x="1506071" y="10923229"/>
            <a:ext cx="946673" cy="3029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228" name="reg-bootrom"/>
          <p:cNvCxnSpPr/>
          <p:nvPr/>
        </p:nvCxnSpPr>
        <p:spPr>
          <a:xfrm flipV="1">
            <a:off x="1979407" y="11241741"/>
            <a:ext cx="0" cy="172123"/>
          </a:xfrm>
          <a:prstGeom prst="line">
            <a:avLst/>
          </a:prstGeom>
          <a:ln w="19794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29" name="clint"/>
          <p:cNvSpPr/>
          <p:nvPr/>
        </p:nvSpPr>
        <p:spPr>
          <a:xfrm>
            <a:off x="3442447" y="10596282"/>
            <a:ext cx="2581835" cy="6454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212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obj-230: CLINT"/>
          <p:cNvSpPr txBox="1"/>
          <p:nvPr/>
        </p:nvSpPr>
        <p:spPr>
          <a:xfrm>
            <a:off x="4352752" y="10628555"/>
            <a:ext cx="761225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231" name="obj-231: 软件 / 定时中断"/>
          <p:cNvSpPr txBox="1"/>
          <p:nvPr/>
        </p:nvSpPr>
        <p:spPr>
          <a:xfrm>
            <a:off x="3964751" y="10923229"/>
            <a:ext cx="1537227" cy="3029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232" name="reg-clint"/>
          <p:cNvCxnSpPr/>
          <p:nvPr/>
        </p:nvCxnSpPr>
        <p:spPr>
          <a:xfrm flipV="1">
            <a:off x="4733365" y="11241741"/>
            <a:ext cx="0" cy="172123"/>
          </a:xfrm>
          <a:prstGeom prst="line">
            <a:avLst/>
          </a:prstGeom>
          <a:ln w="19794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33" name="soc-regs"/>
          <p:cNvSpPr/>
          <p:nvPr/>
        </p:nvSpPr>
        <p:spPr>
          <a:xfrm>
            <a:off x="6196405" y="10596282"/>
            <a:ext cx="2581835" cy="6454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212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obj-234: SoC 寄存器"/>
          <p:cNvSpPr txBox="1"/>
          <p:nvPr/>
        </p:nvSpPr>
        <p:spPr>
          <a:xfrm>
            <a:off x="6833567" y="10628555"/>
            <a:ext cx="1307511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235" name="obj-235: 平台信息 / scratch"/>
          <p:cNvSpPr txBox="1"/>
          <p:nvPr/>
        </p:nvSpPr>
        <p:spPr>
          <a:xfrm>
            <a:off x="6605558" y="10923229"/>
            <a:ext cx="1763528" cy="3029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236" name="reg-soc-regs"/>
          <p:cNvCxnSpPr/>
          <p:nvPr/>
        </p:nvCxnSpPr>
        <p:spPr>
          <a:xfrm flipV="1">
            <a:off x="7487322" y="11241741"/>
            <a:ext cx="0" cy="172123"/>
          </a:xfrm>
          <a:prstGeom prst="line">
            <a:avLst/>
          </a:prstGeom>
          <a:ln w="19794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37" name="plic"/>
          <p:cNvSpPr/>
          <p:nvPr/>
        </p:nvSpPr>
        <p:spPr>
          <a:xfrm>
            <a:off x="8950362" y="10596282"/>
            <a:ext cx="2581835" cy="6454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212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obj-238: PLIC"/>
          <p:cNvSpPr txBox="1"/>
          <p:nvPr/>
        </p:nvSpPr>
        <p:spPr>
          <a:xfrm>
            <a:off x="9925173" y="10628555"/>
            <a:ext cx="632213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239" name="obj-239: 外部中断控制"/>
          <p:cNvSpPr txBox="1"/>
          <p:nvPr/>
        </p:nvSpPr>
        <p:spPr>
          <a:xfrm>
            <a:off x="9578609" y="10923229"/>
            <a:ext cx="1325342" cy="3029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240" name="reg-plic"/>
          <p:cNvCxnSpPr/>
          <p:nvPr/>
        </p:nvCxnSpPr>
        <p:spPr>
          <a:xfrm flipV="1">
            <a:off x="10241280" y="11241741"/>
            <a:ext cx="0" cy="172123"/>
          </a:xfrm>
          <a:prstGeom prst="line">
            <a:avLst/>
          </a:prstGeom>
          <a:ln w="19794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41" name="llc-regs"/>
          <p:cNvSpPr/>
          <p:nvPr/>
        </p:nvSpPr>
        <p:spPr>
          <a:xfrm>
            <a:off x="11704320" y="10596282"/>
            <a:ext cx="2581835" cy="6454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212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obj-242: LLC 配置"/>
          <p:cNvSpPr txBox="1"/>
          <p:nvPr/>
        </p:nvSpPr>
        <p:spPr>
          <a:xfrm>
            <a:off x="12466076" y="10628555"/>
            <a:ext cx="1058324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243" name="obj-243: SPM way / cache"/>
          <p:cNvSpPr txBox="1"/>
          <p:nvPr/>
        </p:nvSpPr>
        <p:spPr>
          <a:xfrm>
            <a:off x="12180030" y="10923229"/>
            <a:ext cx="1630416" cy="3029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244" name="reg-llc-regs"/>
          <p:cNvCxnSpPr/>
          <p:nvPr/>
        </p:nvCxnSpPr>
        <p:spPr>
          <a:xfrm flipV="1">
            <a:off x="12995238" y="11241741"/>
            <a:ext cx="0" cy="172123"/>
          </a:xfrm>
          <a:prstGeom prst="line">
            <a:avLst/>
          </a:prstGeom>
          <a:ln w="19794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45" name="uart"/>
          <p:cNvSpPr/>
          <p:nvPr/>
        </p:nvSpPr>
        <p:spPr>
          <a:xfrm>
            <a:off x="14458278" y="10596282"/>
            <a:ext cx="2581835" cy="6454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212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obj-246: UART"/>
          <p:cNvSpPr txBox="1"/>
          <p:nvPr/>
        </p:nvSpPr>
        <p:spPr>
          <a:xfrm>
            <a:off x="15392223" y="10628555"/>
            <a:ext cx="713945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247" name="obj-247: 串口控制"/>
          <p:cNvSpPr txBox="1"/>
          <p:nvPr/>
        </p:nvSpPr>
        <p:spPr>
          <a:xfrm>
            <a:off x="15275859" y="10923229"/>
            <a:ext cx="946673" cy="3029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248" name="reg-uart"/>
          <p:cNvCxnSpPr/>
          <p:nvPr/>
        </p:nvCxnSpPr>
        <p:spPr>
          <a:xfrm flipV="1">
            <a:off x="15749195" y="11241741"/>
            <a:ext cx="0" cy="172123"/>
          </a:xfrm>
          <a:prstGeom prst="line">
            <a:avLst/>
          </a:prstGeom>
          <a:ln w="19794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49" name="i2c"/>
          <p:cNvSpPr/>
          <p:nvPr/>
        </p:nvSpPr>
        <p:spPr>
          <a:xfrm>
            <a:off x="17212235" y="10596282"/>
            <a:ext cx="2581835" cy="6454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212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obj-250: I2C"/>
          <p:cNvSpPr txBox="1"/>
          <p:nvPr/>
        </p:nvSpPr>
        <p:spPr>
          <a:xfrm>
            <a:off x="18236525" y="10628555"/>
            <a:ext cx="533257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251" name="obj-251: 两线串行控制"/>
          <p:cNvSpPr txBox="1"/>
          <p:nvPr/>
        </p:nvSpPr>
        <p:spPr>
          <a:xfrm>
            <a:off x="17840482" y="10923229"/>
            <a:ext cx="1325342" cy="3029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252" name="reg-i2c"/>
          <p:cNvCxnSpPr/>
          <p:nvPr/>
        </p:nvCxnSpPr>
        <p:spPr>
          <a:xfrm flipV="1">
            <a:off x="18503153" y="11241741"/>
            <a:ext cx="0" cy="172123"/>
          </a:xfrm>
          <a:prstGeom prst="line">
            <a:avLst/>
          </a:prstGeom>
          <a:ln w="19794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53" name="spi"/>
          <p:cNvSpPr/>
          <p:nvPr/>
        </p:nvSpPr>
        <p:spPr>
          <a:xfrm>
            <a:off x="19966193" y="10596282"/>
            <a:ext cx="2581835" cy="6454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212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obj-254: SPI host"/>
          <p:cNvSpPr txBox="1"/>
          <p:nvPr/>
        </p:nvSpPr>
        <p:spPr>
          <a:xfrm>
            <a:off x="20756315" y="10628555"/>
            <a:ext cx="1001591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255" name="obj-255: Flash / SD 访问"/>
          <p:cNvSpPr txBox="1"/>
          <p:nvPr/>
        </p:nvSpPr>
        <p:spPr>
          <a:xfrm>
            <a:off x="20498481" y="10923229"/>
            <a:ext cx="1517259" cy="3029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Flash / SD 访问</a:t>
            </a:r>
          </a:p>
        </p:txBody>
      </p:sp>
      <p:cxnSp>
        <p:nvCxnSpPr>
          <p:cNvPr id="256" name="reg-spi"/>
          <p:cNvCxnSpPr/>
          <p:nvPr/>
        </p:nvCxnSpPr>
        <p:spPr>
          <a:xfrm flipV="1">
            <a:off x="21257111" y="11241741"/>
            <a:ext cx="0" cy="172123"/>
          </a:xfrm>
          <a:prstGeom prst="line">
            <a:avLst/>
          </a:prstGeom>
          <a:ln w="19794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57" name="gpio"/>
          <p:cNvSpPr/>
          <p:nvPr/>
        </p:nvSpPr>
        <p:spPr>
          <a:xfrm>
            <a:off x="22720151" y="10596282"/>
            <a:ext cx="2581835" cy="6454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212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obj-258: GPIO"/>
          <p:cNvSpPr txBox="1"/>
          <p:nvPr/>
        </p:nvSpPr>
        <p:spPr>
          <a:xfrm>
            <a:off x="23673527" y="10628555"/>
            <a:ext cx="675083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259" name="obj-259: 通用 IO"/>
          <p:cNvSpPr txBox="1"/>
          <p:nvPr/>
        </p:nvSpPr>
        <p:spPr>
          <a:xfrm>
            <a:off x="23611691" y="10923229"/>
            <a:ext cx="798755" cy="3029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260" name="reg-gpio"/>
          <p:cNvCxnSpPr/>
          <p:nvPr/>
        </p:nvCxnSpPr>
        <p:spPr>
          <a:xfrm flipV="1">
            <a:off x="24011068" y="11241741"/>
            <a:ext cx="0" cy="172123"/>
          </a:xfrm>
          <a:prstGeom prst="line">
            <a:avLst/>
          </a:prstGeom>
          <a:ln w="19794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61" name="slink-regs"/>
          <p:cNvSpPr/>
          <p:nvPr/>
        </p:nvSpPr>
        <p:spPr>
          <a:xfrm>
            <a:off x="25474108" y="10596282"/>
            <a:ext cx="2581835" cy="6454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212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obj-262: Serial Link 配置"/>
          <p:cNvSpPr txBox="1"/>
          <p:nvPr/>
        </p:nvSpPr>
        <p:spPr>
          <a:xfrm>
            <a:off x="25918076" y="10628555"/>
            <a:ext cx="1693899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263" name="obj-263: 链路控制"/>
          <p:cNvSpPr txBox="1"/>
          <p:nvPr/>
        </p:nvSpPr>
        <p:spPr>
          <a:xfrm>
            <a:off x="26291689" y="10923229"/>
            <a:ext cx="946673" cy="3029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264" name="reg-slink-regs"/>
          <p:cNvCxnSpPr/>
          <p:nvPr/>
        </p:nvCxnSpPr>
        <p:spPr>
          <a:xfrm flipV="1">
            <a:off x="26765026" y="11241741"/>
            <a:ext cx="0" cy="172123"/>
          </a:xfrm>
          <a:prstGeom prst="line">
            <a:avLst/>
          </a:prstGeom>
          <a:ln w="19794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65" name="vga-regs"/>
          <p:cNvSpPr/>
          <p:nvPr/>
        </p:nvSpPr>
        <p:spPr>
          <a:xfrm>
            <a:off x="688489" y="12145384"/>
            <a:ext cx="2581835" cy="6454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212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obj-266: VGA 配置"/>
          <p:cNvSpPr txBox="1"/>
          <p:nvPr/>
        </p:nvSpPr>
        <p:spPr>
          <a:xfrm>
            <a:off x="1433120" y="12177656"/>
            <a:ext cx="1092574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267" name="obj-267: 时序 / 帧缓冲"/>
          <p:cNvSpPr txBox="1"/>
          <p:nvPr/>
        </p:nvSpPr>
        <p:spPr>
          <a:xfrm>
            <a:off x="1305461" y="12472330"/>
            <a:ext cx="1347893" cy="3029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时序 / 帧缓冲</a:t>
            </a:r>
          </a:p>
        </p:txBody>
      </p:sp>
      <p:cxnSp>
        <p:nvCxnSpPr>
          <p:cNvPr id="268" name="reg-vga-regs"/>
          <p:cNvCxnSpPr/>
          <p:nvPr/>
        </p:nvCxnSpPr>
        <p:spPr>
          <a:xfrm>
            <a:off x="1979407" y="11844169"/>
            <a:ext cx="0" cy="301215"/>
          </a:xfrm>
          <a:prstGeom prst="line">
            <a:avLst/>
          </a:prstGeom>
          <a:ln w="19794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69" name="usb-regs"/>
          <p:cNvSpPr/>
          <p:nvPr/>
        </p:nvSpPr>
        <p:spPr>
          <a:xfrm>
            <a:off x="3442447" y="12145384"/>
            <a:ext cx="2581835" cy="6454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212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obj-270: USB 配置"/>
          <p:cNvSpPr txBox="1"/>
          <p:nvPr/>
        </p:nvSpPr>
        <p:spPr>
          <a:xfrm>
            <a:off x="4176367" y="12177656"/>
            <a:ext cx="1113995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271" name="obj-271: OHCI 寄存器"/>
          <p:cNvSpPr txBox="1"/>
          <p:nvPr/>
        </p:nvSpPr>
        <p:spPr>
          <a:xfrm>
            <a:off x="4118303" y="12472330"/>
            <a:ext cx="1230123" cy="3029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272" name="reg-usb-regs"/>
          <p:cNvCxnSpPr/>
          <p:nvPr/>
        </p:nvCxnSpPr>
        <p:spPr>
          <a:xfrm>
            <a:off x="4733365" y="11844169"/>
            <a:ext cx="0" cy="301215"/>
          </a:xfrm>
          <a:prstGeom prst="line">
            <a:avLst/>
          </a:prstGeom>
          <a:ln w="19794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73" name="err-vga"/>
          <p:cNvSpPr/>
          <p:nvPr/>
        </p:nvSpPr>
        <p:spPr>
          <a:xfrm>
            <a:off x="6196405" y="12145384"/>
            <a:ext cx="2581835" cy="6454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212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obj-274: Bus-error · VGA"/>
          <p:cNvSpPr txBox="1"/>
          <p:nvPr/>
        </p:nvSpPr>
        <p:spPr>
          <a:xfrm>
            <a:off x="6666426" y="12177656"/>
            <a:ext cx="1641792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275" name="obj-275: 错误记录"/>
          <p:cNvSpPr txBox="1"/>
          <p:nvPr/>
        </p:nvSpPr>
        <p:spPr>
          <a:xfrm>
            <a:off x="7013986" y="12472330"/>
            <a:ext cx="946673" cy="3029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276" name="reg-err-vga"/>
          <p:cNvCxnSpPr/>
          <p:nvPr/>
        </p:nvCxnSpPr>
        <p:spPr>
          <a:xfrm>
            <a:off x="7487322" y="11844169"/>
            <a:ext cx="0" cy="301215"/>
          </a:xfrm>
          <a:prstGeom prst="line">
            <a:avLst/>
          </a:prstGeom>
          <a:ln w="19794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77" name="err-dma"/>
          <p:cNvSpPr/>
          <p:nvPr/>
        </p:nvSpPr>
        <p:spPr>
          <a:xfrm>
            <a:off x="8950362" y="12145384"/>
            <a:ext cx="2581835" cy="6454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212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obj-278: Bus-error · iDMA"/>
          <p:cNvSpPr txBox="1"/>
          <p:nvPr/>
        </p:nvSpPr>
        <p:spPr>
          <a:xfrm>
            <a:off x="9366703" y="12177656"/>
            <a:ext cx="1749153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279" name="obj-279: 错误记录"/>
          <p:cNvSpPr txBox="1"/>
          <p:nvPr/>
        </p:nvSpPr>
        <p:spPr>
          <a:xfrm>
            <a:off x="9767944" y="12472330"/>
            <a:ext cx="946673" cy="3029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280" name="reg-err-dma"/>
          <p:cNvCxnSpPr/>
          <p:nvPr/>
        </p:nvCxnSpPr>
        <p:spPr>
          <a:xfrm>
            <a:off x="10241280" y="11844169"/>
            <a:ext cx="0" cy="301215"/>
          </a:xfrm>
          <a:prstGeom prst="line">
            <a:avLst/>
          </a:prstGeom>
          <a:ln w="19794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81" name="err-cpu"/>
          <p:cNvSpPr/>
          <p:nvPr/>
        </p:nvSpPr>
        <p:spPr>
          <a:xfrm>
            <a:off x="11704320" y="12145384"/>
            <a:ext cx="2581835" cy="6454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212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obj-282: Bus-error · CPU"/>
          <p:cNvSpPr txBox="1"/>
          <p:nvPr/>
        </p:nvSpPr>
        <p:spPr>
          <a:xfrm>
            <a:off x="12170039" y="12177656"/>
            <a:ext cx="1650398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283" name="obj-283: 每核错误记录"/>
          <p:cNvSpPr txBox="1"/>
          <p:nvPr/>
        </p:nvSpPr>
        <p:spPr>
          <a:xfrm>
            <a:off x="12332567" y="12472330"/>
            <a:ext cx="1325342" cy="3029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284" name="reg-err-cpu"/>
          <p:cNvCxnSpPr/>
          <p:nvPr/>
        </p:nvCxnSpPr>
        <p:spPr>
          <a:xfrm>
            <a:off x="12995238" y="11844169"/>
            <a:ext cx="0" cy="301215"/>
          </a:xfrm>
          <a:prstGeom prst="line">
            <a:avLst/>
          </a:prstGeom>
          <a:ln w="19794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85" name="irq-router"/>
          <p:cNvSpPr/>
          <p:nvPr/>
        </p:nvSpPr>
        <p:spPr>
          <a:xfrm>
            <a:off x="14458278" y="12145384"/>
            <a:ext cx="2581835" cy="6454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212" cap="flat">
            <a:solidFill>
              <a:srgbClr val="8B99A7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obj-286: IRQ router"/>
          <p:cNvSpPr txBox="1"/>
          <p:nvPr/>
        </p:nvSpPr>
        <p:spPr>
          <a:xfrm>
            <a:off x="15166884" y="12177656"/>
            <a:ext cx="1164623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287" name="obj-287: 可选中断路由"/>
          <p:cNvSpPr txBox="1"/>
          <p:nvPr/>
        </p:nvSpPr>
        <p:spPr>
          <a:xfrm>
            <a:off x="15086524" y="12472330"/>
            <a:ext cx="1325342" cy="3029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288" name="reg-irq-router"/>
          <p:cNvCxnSpPr/>
          <p:nvPr/>
        </p:nvCxnSpPr>
        <p:spPr>
          <a:xfrm>
            <a:off x="15749195" y="11844169"/>
            <a:ext cx="0" cy="301215"/>
          </a:xfrm>
          <a:prstGeom prst="line">
            <a:avLst/>
          </a:prstGeom>
          <a:ln w="19794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89" name="axi-rt-regs"/>
          <p:cNvSpPr/>
          <p:nvPr/>
        </p:nvSpPr>
        <p:spPr>
          <a:xfrm>
            <a:off x="17212235" y="12145384"/>
            <a:ext cx="2581835" cy="6454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212" cap="flat">
            <a:solidFill>
              <a:srgbClr val="8B99A7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obj-290: AXI RT 配置"/>
          <p:cNvSpPr txBox="1"/>
          <p:nvPr/>
        </p:nvSpPr>
        <p:spPr>
          <a:xfrm>
            <a:off x="17849397" y="12177656"/>
            <a:ext cx="1307511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291" name="obj-291: 可选流量调节"/>
          <p:cNvSpPr txBox="1"/>
          <p:nvPr/>
        </p:nvSpPr>
        <p:spPr>
          <a:xfrm>
            <a:off x="17840482" y="12472330"/>
            <a:ext cx="1325342" cy="3029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292" name="reg-axi-rt-regs"/>
          <p:cNvCxnSpPr/>
          <p:nvPr/>
        </p:nvCxnSpPr>
        <p:spPr>
          <a:xfrm>
            <a:off x="18503153" y="11844169"/>
            <a:ext cx="0" cy="301215"/>
          </a:xfrm>
          <a:prstGeom prst="line">
            <a:avLst/>
          </a:prstGeom>
          <a:ln w="19794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93" name="clic"/>
          <p:cNvSpPr/>
          <p:nvPr/>
        </p:nvSpPr>
        <p:spPr>
          <a:xfrm>
            <a:off x="19966193" y="12145384"/>
            <a:ext cx="2581835" cy="6454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212" cap="flat">
            <a:solidFill>
              <a:srgbClr val="8B99A7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obj-294: CLIC"/>
          <p:cNvSpPr txBox="1"/>
          <p:nvPr/>
        </p:nvSpPr>
        <p:spPr>
          <a:xfrm>
            <a:off x="20934596" y="12177656"/>
            <a:ext cx="645029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295" name="obj-295: 可选每核中断控制"/>
          <p:cNvSpPr txBox="1"/>
          <p:nvPr/>
        </p:nvSpPr>
        <p:spPr>
          <a:xfrm>
            <a:off x="20405105" y="12472330"/>
            <a:ext cx="1704011" cy="3029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296" name="reg-clic"/>
          <p:cNvCxnSpPr/>
          <p:nvPr/>
        </p:nvCxnSpPr>
        <p:spPr>
          <a:xfrm>
            <a:off x="21257111" y="11844169"/>
            <a:ext cx="0" cy="301215"/>
          </a:xfrm>
          <a:prstGeom prst="line">
            <a:avLst/>
          </a:prstGeom>
          <a:ln w="19794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97" name="reg-error"/>
          <p:cNvSpPr/>
          <p:nvPr/>
        </p:nvSpPr>
        <p:spPr>
          <a:xfrm>
            <a:off x="22720151" y="12145384"/>
            <a:ext cx="2581835" cy="6454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212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obj-298: reg_err_slv"/>
          <p:cNvSpPr txBox="1"/>
          <p:nvPr/>
        </p:nvSpPr>
        <p:spPr>
          <a:xfrm>
            <a:off x="23394191" y="12177656"/>
            <a:ext cx="1233754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299" name="obj-299: 未匹配地址错误响应"/>
          <p:cNvSpPr txBox="1"/>
          <p:nvPr/>
        </p:nvSpPr>
        <p:spPr>
          <a:xfrm>
            <a:off x="23064395" y="12472330"/>
            <a:ext cx="1893346" cy="3029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未匹配地址错误响应</a:t>
            </a:r>
          </a:p>
        </p:txBody>
      </p:sp>
      <p:cxnSp>
        <p:nvCxnSpPr>
          <p:cNvPr id="300" name="reg-reg-error"/>
          <p:cNvCxnSpPr/>
          <p:nvPr/>
        </p:nvCxnSpPr>
        <p:spPr>
          <a:xfrm>
            <a:off x="24011068" y="11844169"/>
            <a:ext cx="0" cy="301215"/>
          </a:xfrm>
          <a:prstGeom prst="line">
            <a:avLst/>
          </a:prstGeom>
          <a:ln w="19794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01" name="reg-ext"/>
          <p:cNvSpPr/>
          <p:nvPr/>
        </p:nvSpPr>
        <p:spPr>
          <a:xfrm>
            <a:off x="25474108" y="12145384"/>
            <a:ext cx="2581835" cy="6454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212" cap="flat">
            <a:solidFill>
              <a:srgbClr val="8B99A7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obj-302: RegExt 扩展"/>
          <p:cNvSpPr txBox="1"/>
          <p:nvPr/>
        </p:nvSpPr>
        <p:spPr>
          <a:xfrm>
            <a:off x="26089842" y="12177656"/>
            <a:ext cx="1350367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303" name="obj-303: 新增 IP 配置出口"/>
          <p:cNvSpPr txBox="1"/>
          <p:nvPr/>
        </p:nvSpPr>
        <p:spPr>
          <a:xfrm>
            <a:off x="25968025" y="12472330"/>
            <a:ext cx="1594001" cy="3029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304" name="reg-reg-ext"/>
          <p:cNvCxnSpPr/>
          <p:nvPr/>
        </p:nvCxnSpPr>
        <p:spPr>
          <a:xfrm>
            <a:off x="26765026" y="11844169"/>
            <a:ext cx="0" cy="301215"/>
          </a:xfrm>
          <a:prstGeom prst="line">
            <a:avLst/>
          </a:prstGeom>
          <a:ln w="19794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05" name="obj-305: RegExt · 新增配置端"/>
          <p:cNvSpPr txBox="1"/>
          <p:nvPr/>
        </p:nvSpPr>
        <p:spPr>
          <a:xfrm>
            <a:off x="705702" y="13099286"/>
            <a:ext cx="2280769" cy="3717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9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RegExt · 新增配置端</a:t>
            </a:r>
          </a:p>
        </p:txBody>
      </p:sp>
      <p:cxnSp>
        <p:nvCxnSpPr>
          <p:cNvPr id="306" name="regext-controls"/>
          <p:cNvCxnSpPr/>
          <p:nvPr/>
        </p:nvCxnSpPr>
        <p:spPr>
          <a:xfrm>
            <a:off x="26765026" y="12790842"/>
            <a:ext cx="0" cy="774551"/>
          </a:xfrm>
          <a:prstGeom prst="line">
            <a:avLst/>
          </a:prstGeom>
          <a:ln w="25818" cap="flat">
            <a:solidFill>
              <a:srgbClr val="8663A9"/>
            </a:solidFill>
            <a:tailEnd type="triangle" w="med" len="med"/>
          </a:ln>
          <a:effectLst/>
        </p:spPr>
      </p:cxnSp>
      <p:cxnSp>
        <p:nvCxnSpPr>
          <p:cNvPr id="307" name="config-rail"/>
          <p:cNvCxnSpPr/>
          <p:nvPr/>
        </p:nvCxnSpPr>
        <p:spPr>
          <a:xfrm>
            <a:off x="2022438" y="13565393"/>
            <a:ext cx="24785618" cy="0"/>
          </a:xfrm>
          <a:prstGeom prst="line">
            <a:avLst/>
          </a:prstGeom>
          <a:ln w="30121" cap="flat">
            <a:solidFill>
              <a:srgbClr val="8663A9"/>
            </a:solidFill>
          </a:ln>
          <a:effectLst/>
        </p:spPr>
      </p:cxnSp>
      <p:cxnSp>
        <p:nvCxnSpPr>
          <p:cNvPr id="308" name="config-drop-0"/>
          <p:cNvCxnSpPr/>
          <p:nvPr/>
        </p:nvCxnSpPr>
        <p:spPr>
          <a:xfrm>
            <a:off x="2022438" y="13565393"/>
            <a:ext cx="0" cy="301214"/>
          </a:xfrm>
          <a:prstGeom prst="line">
            <a:avLst/>
          </a:prstGeom>
          <a:ln w="20655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09" name="config-C1"/>
          <p:cNvSpPr/>
          <p:nvPr/>
        </p:nvSpPr>
        <p:spPr>
          <a:xfrm>
            <a:off x="688489" y="13866607"/>
            <a:ext cx="2667896" cy="1161826"/>
          </a:xfrm>
          <a:prstGeom prst="roundRect">
            <a:avLst>
              <a:gd name="adj" fmla="val 4444"/>
            </a:avLst>
          </a:prstGeom>
          <a:solidFill>
            <a:srgbClr val="F3EDF8"/>
          </a:solidFill>
          <a:ln w="17212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tag-C1-309"/>
          <p:cNvSpPr/>
          <p:nvPr/>
        </p:nvSpPr>
        <p:spPr>
          <a:xfrm>
            <a:off x="791763" y="13969880"/>
            <a:ext cx="413094" cy="266790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2909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obj-311: C1"/>
          <p:cNvSpPr txBox="1"/>
          <p:nvPr/>
        </p:nvSpPr>
        <p:spPr>
          <a:xfrm>
            <a:off x="807361" y="13981929"/>
            <a:ext cx="381896" cy="2753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312" name="obj-312: PLL / 时钟复位"/>
          <p:cNvSpPr txBox="1"/>
          <p:nvPr/>
        </p:nvSpPr>
        <p:spPr>
          <a:xfrm>
            <a:off x="1359901" y="14038729"/>
            <a:ext cx="1652106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313" name="obj-313: 配置 / 锁定 / 切换"/>
          <p:cNvSpPr txBox="1"/>
          <p:nvPr/>
        </p:nvSpPr>
        <p:spPr>
          <a:xfrm>
            <a:off x="1108118" y="14539261"/>
            <a:ext cx="1828639" cy="3167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8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314" name="config-drop-1"/>
          <p:cNvCxnSpPr/>
          <p:nvPr/>
        </p:nvCxnSpPr>
        <p:spPr>
          <a:xfrm>
            <a:off x="5120640" y="13565393"/>
            <a:ext cx="0" cy="301214"/>
          </a:xfrm>
          <a:prstGeom prst="line">
            <a:avLst/>
          </a:prstGeom>
          <a:ln w="20655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15" name="config-C2"/>
          <p:cNvSpPr/>
          <p:nvPr/>
        </p:nvSpPr>
        <p:spPr>
          <a:xfrm>
            <a:off x="3786692" y="13866607"/>
            <a:ext cx="2667896" cy="1161826"/>
          </a:xfrm>
          <a:prstGeom prst="roundRect">
            <a:avLst>
              <a:gd name="adj" fmla="val 4444"/>
            </a:avLst>
          </a:prstGeom>
          <a:solidFill>
            <a:srgbClr val="F3EDF8"/>
          </a:solidFill>
          <a:ln w="17212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tag-C2-315"/>
          <p:cNvSpPr/>
          <p:nvPr/>
        </p:nvSpPr>
        <p:spPr>
          <a:xfrm>
            <a:off x="3889965" y="13969880"/>
            <a:ext cx="413094" cy="266790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2909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obj-317: C2"/>
          <p:cNvSpPr txBox="1"/>
          <p:nvPr/>
        </p:nvSpPr>
        <p:spPr>
          <a:xfrm>
            <a:off x="3905564" y="13981929"/>
            <a:ext cx="381896" cy="2753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318" name="obj-318: DDR Controller"/>
          <p:cNvSpPr txBox="1"/>
          <p:nvPr/>
        </p:nvSpPr>
        <p:spPr>
          <a:xfrm>
            <a:off x="4482806" y="14038729"/>
            <a:ext cx="1602701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319" name="obj-319: 初始化 / QoS / 状态"/>
          <p:cNvSpPr txBox="1"/>
          <p:nvPr/>
        </p:nvSpPr>
        <p:spPr>
          <a:xfrm>
            <a:off x="4125423" y="14539261"/>
            <a:ext cx="1990434" cy="3167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8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320" name="config-drop-2"/>
          <p:cNvCxnSpPr/>
          <p:nvPr/>
        </p:nvCxnSpPr>
        <p:spPr>
          <a:xfrm>
            <a:off x="8218842" y="13565393"/>
            <a:ext cx="0" cy="301214"/>
          </a:xfrm>
          <a:prstGeom prst="line">
            <a:avLst/>
          </a:prstGeom>
          <a:ln w="20655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21" name="config-C3"/>
          <p:cNvSpPr/>
          <p:nvPr/>
        </p:nvSpPr>
        <p:spPr>
          <a:xfrm>
            <a:off x="6884894" y="13866607"/>
            <a:ext cx="2667896" cy="1161826"/>
          </a:xfrm>
          <a:prstGeom prst="roundRect">
            <a:avLst>
              <a:gd name="adj" fmla="val 4444"/>
            </a:avLst>
          </a:prstGeom>
          <a:solidFill>
            <a:srgbClr val="F3EDF8"/>
          </a:solidFill>
          <a:ln w="17212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2" name="tag-C3-321"/>
          <p:cNvSpPr/>
          <p:nvPr/>
        </p:nvSpPr>
        <p:spPr>
          <a:xfrm>
            <a:off x="6988168" y="13969880"/>
            <a:ext cx="413094" cy="266790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2909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obj-323: C3"/>
          <p:cNvSpPr txBox="1"/>
          <p:nvPr/>
        </p:nvSpPr>
        <p:spPr>
          <a:xfrm>
            <a:off x="7003766" y="13981929"/>
            <a:ext cx="381896" cy="2753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324" name="obj-324: DDR PHY"/>
          <p:cNvSpPr txBox="1"/>
          <p:nvPr/>
        </p:nvSpPr>
        <p:spPr>
          <a:xfrm>
            <a:off x="7842795" y="14038729"/>
            <a:ext cx="1079126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325" name="obj-325: training / 校准"/>
          <p:cNvSpPr txBox="1"/>
          <p:nvPr/>
        </p:nvSpPr>
        <p:spPr>
          <a:xfrm>
            <a:off x="7491054" y="14539261"/>
            <a:ext cx="1455577" cy="3167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8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326" name="config-drop-3"/>
          <p:cNvCxnSpPr/>
          <p:nvPr/>
        </p:nvCxnSpPr>
        <p:spPr>
          <a:xfrm>
            <a:off x="11317045" y="13565393"/>
            <a:ext cx="0" cy="301214"/>
          </a:xfrm>
          <a:prstGeom prst="line">
            <a:avLst/>
          </a:prstGeom>
          <a:ln w="20655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27" name="config-C4"/>
          <p:cNvSpPr/>
          <p:nvPr/>
        </p:nvSpPr>
        <p:spPr>
          <a:xfrm>
            <a:off x="9983096" y="13866607"/>
            <a:ext cx="2667896" cy="1161826"/>
          </a:xfrm>
          <a:prstGeom prst="roundRect">
            <a:avLst>
              <a:gd name="adj" fmla="val 4444"/>
            </a:avLst>
          </a:prstGeom>
          <a:solidFill>
            <a:srgbClr val="F3EDF8"/>
          </a:solidFill>
          <a:ln w="17212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tag-C4-327"/>
          <p:cNvSpPr/>
          <p:nvPr/>
        </p:nvSpPr>
        <p:spPr>
          <a:xfrm>
            <a:off x="10086370" y="13969880"/>
            <a:ext cx="413094" cy="266790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2909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obj-329: C4"/>
          <p:cNvSpPr txBox="1"/>
          <p:nvPr/>
        </p:nvSpPr>
        <p:spPr>
          <a:xfrm>
            <a:off x="10101968" y="13981929"/>
            <a:ext cx="381896" cy="2753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30" name="obj-330: LVDS"/>
          <p:cNvSpPr txBox="1"/>
          <p:nvPr/>
        </p:nvSpPr>
        <p:spPr>
          <a:xfrm>
            <a:off x="11121484" y="14038729"/>
            <a:ext cx="718154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331" name="obj-331: 通道 / 对齐 / 帧行"/>
          <p:cNvSpPr txBox="1"/>
          <p:nvPr/>
        </p:nvSpPr>
        <p:spPr>
          <a:xfrm>
            <a:off x="10402725" y="14539261"/>
            <a:ext cx="1828639" cy="3167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8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332" name="config-drop-4"/>
          <p:cNvCxnSpPr/>
          <p:nvPr/>
        </p:nvCxnSpPr>
        <p:spPr>
          <a:xfrm>
            <a:off x="14415247" y="13565393"/>
            <a:ext cx="0" cy="301214"/>
          </a:xfrm>
          <a:prstGeom prst="line">
            <a:avLst/>
          </a:prstGeom>
          <a:ln w="20655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33" name="config-C5"/>
          <p:cNvSpPr/>
          <p:nvPr/>
        </p:nvSpPr>
        <p:spPr>
          <a:xfrm>
            <a:off x="13081299" y="13866607"/>
            <a:ext cx="2667896" cy="1161826"/>
          </a:xfrm>
          <a:prstGeom prst="roundRect">
            <a:avLst>
              <a:gd name="adj" fmla="val 4444"/>
            </a:avLst>
          </a:prstGeom>
          <a:solidFill>
            <a:srgbClr val="F3EDF8"/>
          </a:solidFill>
          <a:ln w="17212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tag-C5-333"/>
          <p:cNvSpPr/>
          <p:nvPr/>
        </p:nvSpPr>
        <p:spPr>
          <a:xfrm>
            <a:off x="13184572" y="13969880"/>
            <a:ext cx="413094" cy="266790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2909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obj-335: C5"/>
          <p:cNvSpPr txBox="1"/>
          <p:nvPr/>
        </p:nvSpPr>
        <p:spPr>
          <a:xfrm>
            <a:off x="13200171" y="13981929"/>
            <a:ext cx="381896" cy="2753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36" name="obj-336: ISP"/>
          <p:cNvSpPr txBox="1"/>
          <p:nvPr/>
        </p:nvSpPr>
        <p:spPr>
          <a:xfrm>
            <a:off x="14316445" y="14038729"/>
            <a:ext cx="524637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7" name="obj-337: 尺寸 / 模式 / 参数"/>
          <p:cNvSpPr txBox="1"/>
          <p:nvPr/>
        </p:nvSpPr>
        <p:spPr>
          <a:xfrm>
            <a:off x="13500928" y="14539261"/>
            <a:ext cx="1828639" cy="3167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8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338" name="config-drop-5"/>
          <p:cNvCxnSpPr/>
          <p:nvPr/>
        </p:nvCxnSpPr>
        <p:spPr>
          <a:xfrm>
            <a:off x="17513449" y="13565393"/>
            <a:ext cx="0" cy="301214"/>
          </a:xfrm>
          <a:prstGeom prst="line">
            <a:avLst/>
          </a:prstGeom>
          <a:ln w="20655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39" name="config-C6"/>
          <p:cNvSpPr/>
          <p:nvPr/>
        </p:nvSpPr>
        <p:spPr>
          <a:xfrm>
            <a:off x="16179501" y="13866607"/>
            <a:ext cx="2667896" cy="1161826"/>
          </a:xfrm>
          <a:prstGeom prst="roundRect">
            <a:avLst>
              <a:gd name="adj" fmla="val 4444"/>
            </a:avLst>
          </a:prstGeom>
          <a:solidFill>
            <a:srgbClr val="F3EDF8"/>
          </a:solidFill>
          <a:ln w="17212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tag-C6-339"/>
          <p:cNvSpPr/>
          <p:nvPr/>
        </p:nvSpPr>
        <p:spPr>
          <a:xfrm>
            <a:off x="16282775" y="13969880"/>
            <a:ext cx="413094" cy="266790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2909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obj-341: C6"/>
          <p:cNvSpPr txBox="1"/>
          <p:nvPr/>
        </p:nvSpPr>
        <p:spPr>
          <a:xfrm>
            <a:off x="16298373" y="13981929"/>
            <a:ext cx="381896" cy="2753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42" name="obj-342: NPU 计算"/>
          <p:cNvSpPr txBox="1"/>
          <p:nvPr/>
        </p:nvSpPr>
        <p:spPr>
          <a:xfrm>
            <a:off x="17122066" y="14038729"/>
            <a:ext cx="1109799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343" name="obj-343: 命令 / GB 数据位置"/>
          <p:cNvSpPr txBox="1"/>
          <p:nvPr/>
        </p:nvSpPr>
        <p:spPr>
          <a:xfrm>
            <a:off x="16553706" y="14539261"/>
            <a:ext cx="1919487" cy="3167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8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344" name="config-drop-6"/>
          <p:cNvCxnSpPr/>
          <p:nvPr/>
        </p:nvCxnSpPr>
        <p:spPr>
          <a:xfrm>
            <a:off x="20611652" y="13565393"/>
            <a:ext cx="0" cy="301214"/>
          </a:xfrm>
          <a:prstGeom prst="line">
            <a:avLst/>
          </a:prstGeom>
          <a:ln w="20655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45" name="config-C7"/>
          <p:cNvSpPr/>
          <p:nvPr/>
        </p:nvSpPr>
        <p:spPr>
          <a:xfrm>
            <a:off x="19277704" y="13866607"/>
            <a:ext cx="2667896" cy="1161826"/>
          </a:xfrm>
          <a:prstGeom prst="roundRect">
            <a:avLst>
              <a:gd name="adj" fmla="val 4444"/>
            </a:avLst>
          </a:prstGeom>
          <a:solidFill>
            <a:srgbClr val="F3EDF8"/>
          </a:solidFill>
          <a:ln w="17212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tag-C7-345"/>
          <p:cNvSpPr/>
          <p:nvPr/>
        </p:nvSpPr>
        <p:spPr>
          <a:xfrm>
            <a:off x="19380977" y="13969880"/>
            <a:ext cx="413094" cy="266790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2909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obj-347: C7"/>
          <p:cNvSpPr txBox="1"/>
          <p:nvPr/>
        </p:nvSpPr>
        <p:spPr>
          <a:xfrm>
            <a:off x="19396576" y="13981929"/>
            <a:ext cx="381896" cy="2753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48" name="obj-348: NPU / GB 搬运"/>
          <p:cNvSpPr txBox="1"/>
          <p:nvPr/>
        </p:nvSpPr>
        <p:spPr>
          <a:xfrm>
            <a:off x="19962354" y="14038729"/>
            <a:ext cx="1625628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349" name="obj-349: 地址 / 长度 / stride"/>
          <p:cNvSpPr txBox="1"/>
          <p:nvPr/>
        </p:nvSpPr>
        <p:spPr>
          <a:xfrm>
            <a:off x="19650254" y="14539261"/>
            <a:ext cx="1922795" cy="3167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8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350" name="config-drop-7"/>
          <p:cNvCxnSpPr/>
          <p:nvPr/>
        </p:nvCxnSpPr>
        <p:spPr>
          <a:xfrm>
            <a:off x="23709854" y="13565393"/>
            <a:ext cx="0" cy="301214"/>
          </a:xfrm>
          <a:prstGeom prst="line">
            <a:avLst/>
          </a:prstGeom>
          <a:ln w="20655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51" name="config-C8"/>
          <p:cNvSpPr/>
          <p:nvPr/>
        </p:nvSpPr>
        <p:spPr>
          <a:xfrm>
            <a:off x="22375906" y="13866607"/>
            <a:ext cx="2667896" cy="1161826"/>
          </a:xfrm>
          <a:prstGeom prst="roundRect">
            <a:avLst>
              <a:gd name="adj" fmla="val 4444"/>
            </a:avLst>
          </a:prstGeom>
          <a:solidFill>
            <a:srgbClr val="F3EDF8"/>
          </a:solidFill>
          <a:ln w="17212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tag-C8-351"/>
          <p:cNvSpPr/>
          <p:nvPr/>
        </p:nvSpPr>
        <p:spPr>
          <a:xfrm>
            <a:off x="22479179" y="13969880"/>
            <a:ext cx="413094" cy="266790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2909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obj-353: C8"/>
          <p:cNvSpPr txBox="1"/>
          <p:nvPr/>
        </p:nvSpPr>
        <p:spPr>
          <a:xfrm>
            <a:off x="22494778" y="13981929"/>
            <a:ext cx="381896" cy="2753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54" name="obj-354: 帧写入 DMA"/>
          <p:cNvSpPr txBox="1"/>
          <p:nvPr/>
        </p:nvSpPr>
        <p:spPr>
          <a:xfrm>
            <a:off x="23191564" y="14038729"/>
            <a:ext cx="1363612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55" name="obj-355: 缓冲区 / 格式 / 帧状态"/>
          <p:cNvSpPr txBox="1"/>
          <p:nvPr/>
        </p:nvSpPr>
        <p:spPr>
          <a:xfrm>
            <a:off x="22597594" y="14539261"/>
            <a:ext cx="2224520" cy="3167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8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356" name="config-drop-8"/>
          <p:cNvCxnSpPr/>
          <p:nvPr/>
        </p:nvCxnSpPr>
        <p:spPr>
          <a:xfrm>
            <a:off x="26808056" y="13565393"/>
            <a:ext cx="0" cy="301214"/>
          </a:xfrm>
          <a:prstGeom prst="line">
            <a:avLst/>
          </a:prstGeom>
          <a:ln w="20655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57" name="config-C9"/>
          <p:cNvSpPr/>
          <p:nvPr/>
        </p:nvSpPr>
        <p:spPr>
          <a:xfrm>
            <a:off x="25474108" y="13866607"/>
            <a:ext cx="2667896" cy="1161826"/>
          </a:xfrm>
          <a:prstGeom prst="roundRect">
            <a:avLst>
              <a:gd name="adj" fmla="val 4444"/>
            </a:avLst>
          </a:prstGeom>
          <a:solidFill>
            <a:srgbClr val="F3EDF8"/>
          </a:solidFill>
          <a:ln w="17212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tag-C9-357"/>
          <p:cNvSpPr/>
          <p:nvPr/>
        </p:nvSpPr>
        <p:spPr>
          <a:xfrm>
            <a:off x="25577382" y="13969880"/>
            <a:ext cx="413094" cy="266790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2909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obj-359: C9"/>
          <p:cNvSpPr txBox="1"/>
          <p:nvPr/>
        </p:nvSpPr>
        <p:spPr>
          <a:xfrm>
            <a:off x="25592980" y="13981929"/>
            <a:ext cx="381896" cy="2753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60" name="obj-360: GB 管理"/>
          <p:cNvSpPr txBox="1"/>
          <p:nvPr/>
        </p:nvSpPr>
        <p:spPr>
          <a:xfrm>
            <a:off x="26479074" y="14038729"/>
            <a:ext cx="984997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GB 管理</a:t>
            </a:r>
          </a:p>
        </p:txBody>
      </p:sp>
      <p:sp>
        <p:nvSpPr>
          <p:cNvPr id="361" name="obj-361: 能力 / bank / 错误"/>
          <p:cNvSpPr txBox="1"/>
          <p:nvPr/>
        </p:nvSpPr>
        <p:spPr>
          <a:xfrm>
            <a:off x="25882139" y="14539261"/>
            <a:ext cx="1851835" cy="3167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8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362" name="legend-347BB2"/>
          <p:cNvCxnSpPr/>
          <p:nvPr/>
        </p:nvCxnSpPr>
        <p:spPr>
          <a:xfrm>
            <a:off x="559398" y="15716922"/>
            <a:ext cx="473336" cy="0"/>
          </a:xfrm>
          <a:prstGeom prst="line">
            <a:avLst/>
          </a:prstGeom>
          <a:ln w="25818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363" name="obj-363: AXI 请求"/>
          <p:cNvSpPr txBox="1"/>
          <p:nvPr/>
        </p:nvSpPr>
        <p:spPr>
          <a:xfrm>
            <a:off x="1161826" y="15562012"/>
            <a:ext cx="1002223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0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AXI 请求</a:t>
            </a:r>
          </a:p>
        </p:txBody>
      </p:sp>
      <p:cxnSp>
        <p:nvCxnSpPr>
          <p:cNvPr id="364" name="legend-16867F"/>
          <p:cNvCxnSpPr/>
          <p:nvPr/>
        </p:nvCxnSpPr>
        <p:spPr>
          <a:xfrm>
            <a:off x="3528508" y="15716922"/>
            <a:ext cx="473337" cy="0"/>
          </a:xfrm>
          <a:prstGeom prst="line">
            <a:avLst/>
          </a:prstGeom>
          <a:ln w="25818" cap="flat">
            <a:solidFill>
              <a:srgbClr val="16867F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365" name="obj-365: GB 读写"/>
          <p:cNvSpPr txBox="1"/>
          <p:nvPr/>
        </p:nvSpPr>
        <p:spPr>
          <a:xfrm>
            <a:off x="4130936" y="15562012"/>
            <a:ext cx="984997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0" i="0">
                <a:solidFill>
                  <a:srgbClr val="16867F"/>
                </a:solidFill>
                <a:latin typeface="Microsoft YaHei"/>
                <a:ea typeface="Microsoft YaHei"/>
                <a:cs typeface="Microsoft YaHei"/>
              </a:rPr>
              <a:t>GB 读写</a:t>
            </a:r>
          </a:p>
        </p:txBody>
      </p:sp>
      <p:cxnSp>
        <p:nvCxnSpPr>
          <p:cNvPr id="366" name="legend-C17A30"/>
          <p:cNvCxnSpPr/>
          <p:nvPr/>
        </p:nvCxnSpPr>
        <p:spPr>
          <a:xfrm>
            <a:off x="6497619" y="15716922"/>
            <a:ext cx="473336" cy="0"/>
          </a:xfrm>
          <a:prstGeom prst="line">
            <a:avLst/>
          </a:prstGeom>
          <a:ln w="25818" cap="flat">
            <a:solidFill>
              <a:srgbClr val="C17A30"/>
            </a:solidFill>
            <a:tailEnd type="triangle" w="med" len="med"/>
          </a:ln>
          <a:effectLst/>
        </p:spPr>
      </p:cxnSp>
      <p:sp>
        <p:nvSpPr>
          <p:cNvPr id="367" name="obj-367: 像素流"/>
          <p:cNvSpPr txBox="1"/>
          <p:nvPr/>
        </p:nvSpPr>
        <p:spPr>
          <a:xfrm>
            <a:off x="7100047" y="15562012"/>
            <a:ext cx="860612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0" i="0">
                <a:solidFill>
                  <a:srgbClr val="C17A30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cxnSp>
        <p:nvCxnSpPr>
          <p:cNvPr id="368" name="legend-8663A9"/>
          <p:cNvCxnSpPr/>
          <p:nvPr/>
        </p:nvCxnSpPr>
        <p:spPr>
          <a:xfrm>
            <a:off x="9466729" y="15716922"/>
            <a:ext cx="473337" cy="0"/>
          </a:xfrm>
          <a:prstGeom prst="line">
            <a:avLst/>
          </a:prstGeom>
          <a:ln w="25818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69" name="obj-369: 配置 / 专用控制"/>
          <p:cNvSpPr txBox="1"/>
          <p:nvPr/>
        </p:nvSpPr>
        <p:spPr>
          <a:xfrm>
            <a:off x="10069158" y="15562012"/>
            <a:ext cx="1746867" cy="3442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4" b="0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配置 / 专用控制</a:t>
            </a:r>
          </a:p>
        </p:txBody>
      </p:sp>
      <p:sp>
        <p:nvSpPr>
          <p:cNvPr id="370" name="obj-370: 灰虚线：可选模块   彩色虚线：新增候选"/>
          <p:cNvSpPr txBox="1"/>
          <p:nvPr/>
        </p:nvSpPr>
        <p:spPr>
          <a:xfrm>
            <a:off x="14200094" y="15571307"/>
            <a:ext cx="3903614" cy="3304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6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灰虚线：可选模块   彩色虚线：新增候选</a:t>
            </a:r>
          </a:p>
        </p:txBody>
      </p:sp>
      <p:sp>
        <p:nvSpPr>
          <p:cNvPr id="371" name="obj-371: C1–C9：对应同一 IP 配置端"/>
          <p:cNvSpPr txBox="1"/>
          <p:nvPr/>
        </p:nvSpPr>
        <p:spPr>
          <a:xfrm>
            <a:off x="22289845" y="15580601"/>
            <a:ext cx="2654799" cy="3167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8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C1–C9：对应同一 IP 配置端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