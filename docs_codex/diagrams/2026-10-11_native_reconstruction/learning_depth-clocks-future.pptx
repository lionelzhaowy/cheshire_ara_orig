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3769360" y="2346960"/>
            <a:ext cx="1066800" cy="497840"/>
          </a:xfrm>
          <a:custGeom>
            <a:avLst/>
            <a:gdLst/>
            <a:ahLst/>
            <a:cxnLst/>
            <a:rect l="0" t="0" r="r" b="b"/>
            <a:pathLst>
              <a:path w="1066800" h="497840" fill="none">
                <a:moveTo>
                  <a:pt x="0" y="497840"/>
                </a:moveTo>
                <a:lnTo>
                  <a:pt x="497840" y="497840"/>
                </a:lnTo>
                <a:lnTo>
                  <a:pt x="497840" y="0"/>
                </a:ln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3769360" y="1280160"/>
            <a:ext cx="6877304" cy="853440"/>
          </a:xfrm>
          <a:custGeom>
            <a:avLst/>
            <a:gdLst/>
            <a:ahLst/>
            <a:cxnLst/>
            <a:rect l="0" t="0" r="r" b="b"/>
            <a:pathLst>
              <a:path w="6877304" h="853440" fill="none">
                <a:moveTo>
                  <a:pt x="0" y="853440"/>
                </a:moveTo>
                <a:lnTo>
                  <a:pt x="320040" y="853440"/>
                </a:lnTo>
                <a:lnTo>
                  <a:pt x="320040" y="0"/>
                </a:lnTo>
                <a:lnTo>
                  <a:pt x="6877304" y="0"/>
                </a:lnTo>
                <a:lnTo>
                  <a:pt x="6877304" y="28448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3769360" y="4267200"/>
            <a:ext cx="1066800" cy="853440"/>
          </a:xfrm>
          <a:custGeom>
            <a:avLst/>
            <a:gdLst/>
            <a:ahLst/>
            <a:cxnLst/>
            <a:rect l="0" t="0" r="r" b="b"/>
            <a:pathLst>
              <a:path w="1066800" h="853440" fill="none">
                <a:moveTo>
                  <a:pt x="0" y="0"/>
                </a:moveTo>
                <a:lnTo>
                  <a:pt x="497840" y="0"/>
                </a:lnTo>
                <a:lnTo>
                  <a:pt x="497840" y="853440"/>
                </a:lnTo>
                <a:lnTo>
                  <a:pt x="1066800" y="85344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1"/>
          <p:cNvSpPr/>
          <p:nvPr/>
        </p:nvSpPr>
        <p:spPr>
          <a:xfrm>
            <a:off x="3769360" y="5334000"/>
            <a:ext cx="6877304" cy="889000"/>
          </a:xfrm>
          <a:custGeom>
            <a:avLst/>
            <a:gdLst/>
            <a:ahLst/>
            <a:cxnLst/>
            <a:rect l="0" t="0" r="r" b="b"/>
            <a:pathLst>
              <a:path w="6877304" h="889000" fill="none">
                <a:moveTo>
                  <a:pt x="0" y="0"/>
                </a:moveTo>
                <a:lnTo>
                  <a:pt x="320040" y="0"/>
                </a:lnTo>
                <a:lnTo>
                  <a:pt x="320040" y="889000"/>
                </a:lnTo>
                <a:lnTo>
                  <a:pt x="6877304" y="889000"/>
                </a:lnTo>
                <a:lnTo>
                  <a:pt x="6877304" y="568960"/>
                </a:lnTo>
              </a:path>
            </a:pathLst>
          </a:custGeom>
          <a:noFill/>
          <a:ln w="21336" cap="flat">
            <a:solidFill>
              <a:srgbClr val="B7631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13: 未来 ASIC：时钟、复位、电源分别划分责任"/>
          <p:cNvSpPr txBox="1"/>
          <p:nvPr/>
        </p:nvSpPr>
        <p:spPr>
          <a:xfrm>
            <a:off x="483616" y="271109"/>
            <a:ext cx="544068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 ASIC：时钟、复位、电源分别划分责任</a:t>
            </a:r>
          </a:p>
        </p:txBody>
      </p:sp>
      <p:sp>
        <p:nvSpPr>
          <p:cNvPr id="10" name="text-014: 下列域为候选边界；具体频率、电压、PLL 数量和电源意图尚未冻结。"/>
          <p:cNvSpPr txBox="1"/>
          <p:nvPr/>
        </p:nvSpPr>
        <p:spPr>
          <a:xfrm>
            <a:off x="483616" y="676778"/>
            <a:ext cx="533257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下列域为候选边界；具体频率、电压、PLL 数量和电源意图尚未冻结。</a:t>
            </a:r>
          </a:p>
        </p:txBody>
      </p:sp>
      <p:sp>
        <p:nvSpPr>
          <p:cNvPr id="11" name="text-015: 未来方案 / 待实现与验证"/>
          <p:cNvSpPr txBox="1"/>
          <p:nvPr/>
        </p:nvSpPr>
        <p:spPr>
          <a:xfrm>
            <a:off x="341376" y="7498324"/>
            <a:ext cx="19341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2" name="text-016: 依据：平台启动与配置约定；工艺/IP 交付待确认"/>
          <p:cNvSpPr txBox="1"/>
          <p:nvPr/>
        </p:nvSpPr>
        <p:spPr>
          <a:xfrm>
            <a:off x="341376" y="7726477"/>
            <a:ext cx="335686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依据：平台启动与配置约定；工艺/IP 交付待确认</a:t>
            </a:r>
          </a:p>
        </p:txBody>
      </p:sp>
      <p:sp>
        <p:nvSpPr>
          <p:cNvPr id="13" name="rect-017"/>
          <p:cNvSpPr/>
          <p:nvPr/>
        </p:nvSpPr>
        <p:spPr>
          <a:xfrm>
            <a:off x="391160" y="1564640"/>
            <a:ext cx="3378200" cy="4373880"/>
          </a:xfrm>
          <a:prstGeom prst="roundRect">
            <a:avLst>
              <a:gd name="adj" fmla="val 147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-018"/>
          <p:cNvSpPr/>
          <p:nvPr/>
        </p:nvSpPr>
        <p:spPr>
          <a:xfrm>
            <a:off x="391160" y="1564640"/>
            <a:ext cx="35560" cy="4373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9: 常开控制候选域"/>
          <p:cNvSpPr txBox="1"/>
          <p:nvPr/>
        </p:nvSpPr>
        <p:spPr>
          <a:xfrm>
            <a:off x="512064" y="159251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常开控制候选域</a:t>
            </a:r>
          </a:p>
        </p:txBody>
      </p:sp>
      <p:sp>
        <p:nvSpPr>
          <p:cNvPr id="16" name="text-020: 参考时钟 / 安全启动源"/>
          <p:cNvSpPr txBox="1"/>
          <p:nvPr/>
        </p:nvSpPr>
        <p:spPr>
          <a:xfrm>
            <a:off x="512064" y="1863913"/>
            <a:ext cx="203972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参考时钟 / 安全启动源</a:t>
            </a:r>
          </a:p>
        </p:txBody>
      </p:sp>
      <p:sp>
        <p:nvSpPr>
          <p:cNvPr id="17" name="text-021: PLL lock 同步与切换策略"/>
          <p:cNvSpPr txBox="1"/>
          <p:nvPr/>
        </p:nvSpPr>
        <p:spPr>
          <a:xfrm>
            <a:off x="512064" y="2077273"/>
            <a:ext cx="236402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PLL lock 同步与切换策略</a:t>
            </a:r>
          </a:p>
        </p:txBody>
      </p:sp>
      <p:sp>
        <p:nvSpPr>
          <p:cNvPr id="18" name="text-022: 复位原因 / 超时 / 故障回退"/>
          <p:cNvSpPr txBox="1"/>
          <p:nvPr/>
        </p:nvSpPr>
        <p:spPr>
          <a:xfrm>
            <a:off x="512064" y="2290633"/>
            <a:ext cx="254325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复位原因 / 超时 / 故障回退</a:t>
            </a:r>
          </a:p>
        </p:txBody>
      </p:sp>
      <p:sp>
        <p:nvSpPr>
          <p:cNvPr id="19" name="text-023: 门控、隔离与保持控制"/>
          <p:cNvSpPr txBox="1"/>
          <p:nvPr/>
        </p:nvSpPr>
        <p:spPr>
          <a:xfrm>
            <a:off x="512064" y="250399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门控、隔离与保持控制</a:t>
            </a:r>
          </a:p>
        </p:txBody>
      </p:sp>
      <p:sp>
        <p:nvSpPr>
          <p:cNvPr id="20" name="text-024: 固件可重复访问的配置接口"/>
          <p:cNvSpPr txBox="1"/>
          <p:nvPr/>
        </p:nvSpPr>
        <p:spPr>
          <a:xfrm>
            <a:off x="512064" y="27173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固件可重复访问的配置接口</a:t>
            </a:r>
          </a:p>
        </p:txBody>
      </p:sp>
      <p:sp>
        <p:nvSpPr>
          <p:cNvPr id="21" name="rect-025"/>
          <p:cNvSpPr/>
          <p:nvPr/>
        </p:nvSpPr>
        <p:spPr>
          <a:xfrm>
            <a:off x="4836160" y="156464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6"/>
          <p:cNvSpPr/>
          <p:nvPr/>
        </p:nvSpPr>
        <p:spPr>
          <a:xfrm>
            <a:off x="4836160" y="1564640"/>
            <a:ext cx="35560" cy="15646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7: CPU / Ara / SRAM"/>
          <p:cNvSpPr txBox="1"/>
          <p:nvPr/>
        </p:nvSpPr>
        <p:spPr>
          <a:xfrm>
            <a:off x="4957064" y="1592519"/>
            <a:ext cx="21079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/ Ara / SRAM</a:t>
            </a:r>
          </a:p>
        </p:txBody>
      </p:sp>
      <p:sp>
        <p:nvSpPr>
          <p:cNvPr id="24" name="text-028: 同域或分域由时序与功耗决定"/>
          <p:cNvSpPr txBox="1"/>
          <p:nvPr/>
        </p:nvSpPr>
        <p:spPr>
          <a:xfrm>
            <a:off x="4957064" y="186391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同域或分域由时序与功耗决定</a:t>
            </a:r>
          </a:p>
        </p:txBody>
      </p:sp>
      <p:sp>
        <p:nvSpPr>
          <p:cNvPr id="25" name="text-029: SRAM 宏与复位策略配套"/>
          <p:cNvSpPr txBox="1"/>
          <p:nvPr/>
        </p:nvSpPr>
        <p:spPr>
          <a:xfrm>
            <a:off x="4957064" y="2077273"/>
            <a:ext cx="20909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SRAM 宏与复位策略配套</a:t>
            </a:r>
          </a:p>
        </p:txBody>
      </p:sp>
      <p:sp>
        <p:nvSpPr>
          <p:cNvPr id="26" name="rect-030"/>
          <p:cNvSpPr/>
          <p:nvPr/>
        </p:nvSpPr>
        <p:spPr>
          <a:xfrm>
            <a:off x="8890000" y="156464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31"/>
          <p:cNvSpPr/>
          <p:nvPr/>
        </p:nvSpPr>
        <p:spPr>
          <a:xfrm>
            <a:off x="8890000" y="1564640"/>
            <a:ext cx="35560" cy="15646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32: DDR CTRL / PHY"/>
          <p:cNvSpPr txBox="1"/>
          <p:nvPr/>
        </p:nvSpPr>
        <p:spPr>
          <a:xfrm>
            <a:off x="9010904" y="1592519"/>
            <a:ext cx="18676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DDR CTRL / PHY</a:t>
            </a:r>
          </a:p>
        </p:txBody>
      </p:sp>
      <p:sp>
        <p:nvSpPr>
          <p:cNvPr id="29" name="text-033: 参考时钟与训练 / 校准"/>
          <p:cNvSpPr txBox="1"/>
          <p:nvPr/>
        </p:nvSpPr>
        <p:spPr>
          <a:xfrm>
            <a:off x="9010904" y="1863913"/>
            <a:ext cx="203972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参考时钟与训练 / 校准</a:t>
            </a:r>
          </a:p>
        </p:txBody>
      </p:sp>
      <p:sp>
        <p:nvSpPr>
          <p:cNvPr id="30" name="text-034: init done 后允许新内存事务"/>
          <p:cNvSpPr txBox="1"/>
          <p:nvPr/>
        </p:nvSpPr>
        <p:spPr>
          <a:xfrm>
            <a:off x="9010904" y="2077273"/>
            <a:ext cx="26456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init done 后允许新内存事务</a:t>
            </a:r>
          </a:p>
        </p:txBody>
      </p:sp>
      <p:sp>
        <p:nvSpPr>
          <p:cNvPr id="31" name="rect-035"/>
          <p:cNvSpPr/>
          <p:nvPr/>
        </p:nvSpPr>
        <p:spPr>
          <a:xfrm>
            <a:off x="4836160" y="433832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6"/>
          <p:cNvSpPr/>
          <p:nvPr/>
        </p:nvSpPr>
        <p:spPr>
          <a:xfrm>
            <a:off x="4836160" y="4338320"/>
            <a:ext cx="35560" cy="15646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7: NPU / ISP 候选域"/>
          <p:cNvSpPr txBox="1"/>
          <p:nvPr/>
        </p:nvSpPr>
        <p:spPr>
          <a:xfrm>
            <a:off x="4957064" y="4366199"/>
            <a:ext cx="194157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NPU / ISP 候选域</a:t>
            </a:r>
          </a:p>
        </p:txBody>
      </p:sp>
      <p:sp>
        <p:nvSpPr>
          <p:cNvPr id="34" name="text-038: 跨域 FIFO / AXI CDC"/>
          <p:cNvSpPr txBox="1"/>
          <p:nvPr/>
        </p:nvSpPr>
        <p:spPr>
          <a:xfrm>
            <a:off x="4957064" y="4637593"/>
            <a:ext cx="217627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跨域 FIFO / AXI CDC</a:t>
            </a:r>
          </a:p>
        </p:txBody>
      </p:sp>
      <p:sp>
        <p:nvSpPr>
          <p:cNvPr id="35" name="text-039: 停发、排空、隔离与状态恢复"/>
          <p:cNvSpPr txBox="1"/>
          <p:nvPr/>
        </p:nvSpPr>
        <p:spPr>
          <a:xfrm>
            <a:off x="4957064" y="485095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停发、排空、隔离与状态恢复</a:t>
            </a:r>
          </a:p>
        </p:txBody>
      </p:sp>
      <p:sp>
        <p:nvSpPr>
          <p:cNvPr id="36" name="rect-040"/>
          <p:cNvSpPr/>
          <p:nvPr/>
        </p:nvSpPr>
        <p:spPr>
          <a:xfrm>
            <a:off x="8890000" y="433832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41"/>
          <p:cNvSpPr/>
          <p:nvPr/>
        </p:nvSpPr>
        <p:spPr>
          <a:xfrm>
            <a:off x="8890000" y="4338320"/>
            <a:ext cx="35560" cy="15646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42: PAD / LVDS / 外部 IO"/>
          <p:cNvSpPr txBox="1"/>
          <p:nvPr/>
        </p:nvSpPr>
        <p:spPr>
          <a:xfrm>
            <a:off x="9010904" y="4366199"/>
            <a:ext cx="247782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PAD / LVDS / 外部 IO</a:t>
            </a:r>
          </a:p>
        </p:txBody>
      </p:sp>
      <p:sp>
        <p:nvSpPr>
          <p:cNvPr id="39" name="text-043: 电平与源同步采样"/>
          <p:cNvSpPr txBox="1"/>
          <p:nvPr/>
        </p:nvSpPr>
        <p:spPr>
          <a:xfrm>
            <a:off x="9010904" y="46375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电平与源同步采样</a:t>
            </a:r>
          </a:p>
        </p:txBody>
      </p:sp>
      <p:sp>
        <p:nvSpPr>
          <p:cNvPr id="40" name="text-044: CDC / RDC 与引脚约束"/>
          <p:cNvSpPr txBox="1"/>
          <p:nvPr/>
        </p:nvSpPr>
        <p:spPr>
          <a:xfrm>
            <a:off x="9010904" y="4850953"/>
            <a:ext cx="213360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CDC / RDC 与引脚约束</a:t>
            </a:r>
          </a:p>
        </p:txBody>
      </p:sp>
      <p:sp>
        <p:nvSpPr>
          <p:cNvPr id="41" name="rect-045"/>
          <p:cNvSpPr/>
          <p:nvPr/>
        </p:nvSpPr>
        <p:spPr>
          <a:xfrm>
            <a:off x="391160" y="65074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6"/>
          <p:cNvSpPr/>
          <p:nvPr/>
        </p:nvSpPr>
        <p:spPr>
          <a:xfrm>
            <a:off x="391160" y="65074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7: 域边界交付需要成套证据"/>
          <p:cNvSpPr txBox="1"/>
          <p:nvPr/>
        </p:nvSpPr>
        <p:spPr>
          <a:xfrm>
            <a:off x="512064" y="6535359"/>
            <a:ext cx="22189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域边界交付需要成套证据</a:t>
            </a:r>
          </a:p>
        </p:txBody>
      </p:sp>
      <p:sp>
        <p:nvSpPr>
          <p:cNvPr id="44" name="text-048: 时钟约束 + 复位时序 + CDC/RDC + 电源意图/库单元 + 固件控制 "/>
          <p:cNvSpPr txBox="1"/>
          <p:nvPr/>
        </p:nvSpPr>
        <p:spPr>
          <a:xfrm>
            <a:off x="512064" y="6822115"/>
            <a:ext cx="87541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时钟约束 + 复位时序 + CDC/RDC + 电源意图/库单元 + 固件控制 + 故障恢复测试；图中候选域不是已实现电源域。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