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SoC v1：DDR–GB 数据路径与范围维护"/>
          <p:cNvSpPr txBox="1"/>
          <p:nvPr/>
        </p:nvSpPr>
        <p:spPr>
          <a:xfrm>
            <a:off x="200025" y="60488"/>
            <a:ext cx="26193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v1：DDR–GB 数据路径与范围维护</a:t>
            </a:r>
          </a:p>
        </p:txBody>
      </p:sp>
      <p:sp>
        <p:nvSpPr>
          <p:cNvPr id="3" name="text-003: CPU / Ara2 共享 M5；F0–F3 共享压缩前端；控制箭头表示逻辑职责"/>
          <p:cNvSpPr txBox="1"/>
          <p:nvPr/>
        </p:nvSpPr>
        <p:spPr>
          <a:xfrm>
            <a:off x="200025" y="280355"/>
            <a:ext cx="383926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/ Ara2 共享 M5；F0–F3 共享压缩前端；控制箭头表示逻辑职责，接口编码待实现。</a:t>
            </a:r>
          </a:p>
        </p:txBody>
      </p:sp>
      <p:sp>
        <p:nvSpPr>
          <p:cNvPr id="4" name="compute-region"/>
          <p:cNvSpPr/>
          <p:nvPr/>
        </p:nvSpPr>
        <p:spPr>
          <a:xfrm>
            <a:off x="240030" y="580072"/>
            <a:ext cx="3800475" cy="1920240"/>
          </a:xfrm>
          <a:prstGeom prst="rect">
            <a:avLst/>
          </a:prstGeom>
          <a:solidFill>
            <a:srgbClr val="FAF2F3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"/>
          <p:cNvSpPr/>
          <p:nvPr/>
        </p:nvSpPr>
        <p:spPr>
          <a:xfrm>
            <a:off x="32004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VA6 CPU"/>
          <p:cNvSpPr txBox="1"/>
          <p:nvPr/>
        </p:nvSpPr>
        <p:spPr>
          <a:xfrm>
            <a:off x="745468" y="815462"/>
            <a:ext cx="58932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CPU</a:t>
            </a:r>
          </a:p>
        </p:txBody>
      </p:sp>
      <p:sp>
        <p:nvSpPr>
          <p:cNvPr id="7" name="text-007: L1D / WT 写缓冲"/>
          <p:cNvSpPr txBox="1"/>
          <p:nvPr/>
        </p:nvSpPr>
        <p:spPr>
          <a:xfrm>
            <a:off x="632220" y="968441"/>
            <a:ext cx="81582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8" name="ara"/>
          <p:cNvSpPr/>
          <p:nvPr/>
        </p:nvSpPr>
        <p:spPr>
          <a:xfrm>
            <a:off x="224028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ra 2 lanes"/>
          <p:cNvSpPr txBox="1"/>
          <p:nvPr/>
        </p:nvSpPr>
        <p:spPr>
          <a:xfrm>
            <a:off x="2636698" y="815462"/>
            <a:ext cx="64734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2 lanes</a:t>
            </a:r>
          </a:p>
        </p:txBody>
      </p:sp>
      <p:sp>
        <p:nvSpPr>
          <p:cNvPr id="10" name="text-010: VLSU / AXI64"/>
          <p:cNvSpPr txBox="1"/>
          <p:nvPr/>
        </p:nvSpPr>
        <p:spPr>
          <a:xfrm>
            <a:off x="2624562" y="968441"/>
            <a:ext cx="6716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AXI64</a:t>
            </a:r>
          </a:p>
        </p:txBody>
      </p:sp>
      <p:sp>
        <p:nvSpPr>
          <p:cNvPr id="11" name="filter"/>
          <p:cNvSpPr/>
          <p:nvPr/>
        </p:nvSpPr>
        <p:spPr>
          <a:xfrm>
            <a:off x="2240280" y="1400175"/>
            <a:ext cx="1440180" cy="32004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既有失效过滤 / 等宽转换"/>
          <p:cNvSpPr txBox="1"/>
          <p:nvPr/>
        </p:nvSpPr>
        <p:spPr>
          <a:xfrm>
            <a:off x="2305851" y="1483545"/>
            <a:ext cx="130903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既有失效过滤 / 等宽转换</a:t>
            </a:r>
          </a:p>
        </p:txBody>
      </p:sp>
      <p:sp>
        <p:nvSpPr>
          <p:cNvPr id="13" name="xbar"/>
          <p:cNvSpPr/>
          <p:nvPr/>
        </p:nvSpPr>
        <p:spPr>
          <a:xfrm>
            <a:off x="320040" y="2000250"/>
            <a:ext cx="3600450" cy="360045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主 AXI Crossbar · 64 bit"/>
          <p:cNvSpPr txBox="1"/>
          <p:nvPr/>
        </p:nvSpPr>
        <p:spPr>
          <a:xfrm>
            <a:off x="1509573" y="2035614"/>
            <a:ext cx="122138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 · 64 bit</a:t>
            </a:r>
          </a:p>
        </p:txBody>
      </p:sp>
      <p:sp>
        <p:nvSpPr>
          <p:cNvPr id="15" name="text-015: CPU / Ara 独立输入 · M2 主存 / M5 GB"/>
          <p:cNvSpPr txBox="1"/>
          <p:nvPr/>
        </p:nvSpPr>
        <p:spPr>
          <a:xfrm>
            <a:off x="1240358" y="2188594"/>
            <a:ext cx="1759814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独立输入 · M2 主存 / M5 GB</a:t>
            </a:r>
          </a:p>
        </p:txBody>
      </p:sp>
      <p:sp>
        <p:nvSpPr>
          <p:cNvPr id="16" name="llc"/>
          <p:cNvSpPr/>
          <p:nvPr/>
        </p:nvSpPr>
        <p:spPr>
          <a:xfrm>
            <a:off x="360045" y="2920365"/>
            <a:ext cx="1680210" cy="52006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M2：原子适配 → LLC"/>
          <p:cNvSpPr txBox="1"/>
          <p:nvPr/>
        </p:nvSpPr>
        <p:spPr>
          <a:xfrm>
            <a:off x="625641" y="3035739"/>
            <a:ext cx="114901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M2：原子适配 → LLC</a:t>
            </a:r>
          </a:p>
        </p:txBody>
      </p:sp>
      <p:sp>
        <p:nvSpPr>
          <p:cNvPr id="18" name="text-018: WB cache / 保留 SPM"/>
          <p:cNvSpPr txBox="1"/>
          <p:nvPr/>
        </p:nvSpPr>
        <p:spPr>
          <a:xfrm>
            <a:off x="684976" y="3188719"/>
            <a:ext cx="10303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cache / 保留 SPM</a:t>
            </a:r>
          </a:p>
        </p:txBody>
      </p:sp>
      <p:sp>
        <p:nvSpPr>
          <p:cNvPr id="19" name="gb-region"/>
          <p:cNvSpPr/>
          <p:nvPr/>
        </p:nvSpPr>
        <p:spPr>
          <a:xfrm>
            <a:off x="4320540" y="580072"/>
            <a:ext cx="4080510" cy="2040255"/>
          </a:xfrm>
          <a:prstGeom prst="rect">
            <a:avLst/>
          </a:prstGeom>
          <a:solidFill>
            <a:srgbClr val="F0F8F5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pu"/>
          <p:cNvSpPr/>
          <p:nvPr/>
        </p:nvSpPr>
        <p:spPr>
          <a:xfrm>
            <a:off x="4480560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PU 计算"/>
          <p:cNvSpPr txBox="1"/>
          <p:nvPr/>
        </p:nvSpPr>
        <p:spPr>
          <a:xfrm>
            <a:off x="5002081" y="895472"/>
            <a:ext cx="5571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2" name="text-022: GB 操作数 / 结果"/>
          <p:cNvSpPr txBox="1"/>
          <p:nvPr/>
        </p:nvSpPr>
        <p:spPr>
          <a:xfrm>
            <a:off x="4863139" y="1048451"/>
            <a:ext cx="83504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操作数 / 结果</a:t>
            </a:r>
          </a:p>
        </p:txBody>
      </p:sp>
      <p:sp>
        <p:nvSpPr>
          <p:cNvPr id="23" name="mover"/>
          <p:cNvSpPr/>
          <p:nvPr/>
        </p:nvSpPr>
        <p:spPr>
          <a:xfrm>
            <a:off x="6680835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DDR ↔ GB 搬运器"/>
          <p:cNvSpPr txBox="1"/>
          <p:nvPr/>
        </p:nvSpPr>
        <p:spPr>
          <a:xfrm>
            <a:off x="6988642" y="895472"/>
            <a:ext cx="98458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25" name="text-025: GB 本地口 / F1 DDR 口"/>
          <p:cNvSpPr txBox="1"/>
          <p:nvPr/>
        </p:nvSpPr>
        <p:spPr>
          <a:xfrm>
            <a:off x="6937820" y="1048451"/>
            <a:ext cx="108623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本地口 / F1 DDR 口</a:t>
            </a:r>
          </a:p>
        </p:txBody>
      </p:sp>
      <p:sp>
        <p:nvSpPr>
          <p:cNvPr id="26" name="adapter"/>
          <p:cNvSpPr/>
          <p:nvPr/>
        </p:nvSpPr>
        <p:spPr>
          <a:xfrm>
            <a:off x="4480560" y="2000250"/>
            <a:ext cx="152019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GB 共享访问适配"/>
          <p:cNvSpPr txBox="1"/>
          <p:nvPr/>
        </p:nvSpPr>
        <p:spPr>
          <a:xfrm>
            <a:off x="4777375" y="2095622"/>
            <a:ext cx="92656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共享访问适配</a:t>
            </a:r>
          </a:p>
        </p:txBody>
      </p:sp>
      <p:sp>
        <p:nvSpPr>
          <p:cNvPr id="28" name="text-028: 仲裁 / bank 冲突处理"/>
          <p:cNvSpPr txBox="1"/>
          <p:nvPr/>
        </p:nvSpPr>
        <p:spPr>
          <a:xfrm>
            <a:off x="4734857" y="2248601"/>
            <a:ext cx="101159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仲裁 / bank 冲突处理</a:t>
            </a:r>
          </a:p>
        </p:txBody>
      </p:sp>
      <p:sp>
        <p:nvSpPr>
          <p:cNvPr id="29" name="gb"/>
          <p:cNvSpPr/>
          <p:nvPr/>
        </p:nvSpPr>
        <p:spPr>
          <a:xfrm>
            <a:off x="6400800" y="2000250"/>
            <a:ext cx="1560195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6820621" y="2095622"/>
            <a:ext cx="72055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1" name="text-031: 独立 SRAM · 非缓存映射建议"/>
          <p:cNvSpPr txBox="1"/>
          <p:nvPr/>
        </p:nvSpPr>
        <p:spPr>
          <a:xfrm>
            <a:off x="6520534" y="2248601"/>
            <a:ext cx="132072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非缓存映射建议</a:t>
            </a:r>
          </a:p>
        </p:txBody>
      </p:sp>
      <p:sp>
        <p:nvSpPr>
          <p:cNvPr id="32" name="isp"/>
          <p:cNvSpPr/>
          <p:nvPr/>
        </p:nvSpPr>
        <p:spPr>
          <a:xfrm>
            <a:off x="9001125" y="80010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LVDS RX / ISP"/>
          <p:cNvSpPr txBox="1"/>
          <p:nvPr/>
        </p:nvSpPr>
        <p:spPr>
          <a:xfrm>
            <a:off x="9404078" y="895472"/>
            <a:ext cx="79429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 / ISP</a:t>
            </a:r>
          </a:p>
        </p:txBody>
      </p:sp>
      <p:sp>
        <p:nvSpPr>
          <p:cNvPr id="34" name="text-034: RAW 或处理后像素"/>
          <p:cNvSpPr txBox="1"/>
          <p:nvPr/>
        </p:nvSpPr>
        <p:spPr>
          <a:xfrm>
            <a:off x="9354872" y="1048451"/>
            <a:ext cx="8927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或处理后像素</a:t>
            </a:r>
          </a:p>
        </p:txBody>
      </p:sp>
      <p:sp>
        <p:nvSpPr>
          <p:cNvPr id="35" name="frame"/>
          <p:cNvSpPr/>
          <p:nvPr/>
        </p:nvSpPr>
        <p:spPr>
          <a:xfrm>
            <a:off x="9001125" y="200025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帧写入 DMA"/>
          <p:cNvSpPr txBox="1"/>
          <p:nvPr/>
        </p:nvSpPr>
        <p:spPr>
          <a:xfrm>
            <a:off x="9458935" y="2095622"/>
            <a:ext cx="68457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7" name="text-037: F2：AW / W，返回 B"/>
          <p:cNvSpPr txBox="1"/>
          <p:nvPr/>
        </p:nvSpPr>
        <p:spPr>
          <a:xfrm>
            <a:off x="9306022" y="2248601"/>
            <a:ext cx="9904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F2：AW / W，返回 B</a:t>
            </a:r>
          </a:p>
        </p:txBody>
      </p:sp>
      <p:sp>
        <p:nvSpPr>
          <p:cNvPr id="38" name="roi"/>
          <p:cNvSpPr/>
          <p:nvPr/>
        </p:nvSpPr>
        <p:spPr>
          <a:xfrm>
            <a:off x="11001375" y="2960370"/>
            <a:ext cx="1440180" cy="64008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OI 调度 / 二维读 DMA"/>
          <p:cNvSpPr txBox="1"/>
          <p:nvPr/>
        </p:nvSpPr>
        <p:spPr>
          <a:xfrm>
            <a:off x="11111454" y="3067743"/>
            <a:ext cx="1220021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调度 / 二维读 DMA</a:t>
            </a:r>
          </a:p>
        </p:txBody>
      </p:sp>
      <p:sp>
        <p:nvSpPr>
          <p:cNvPr id="40" name="text-040: F3：AR，返回 R"/>
          <p:cNvSpPr txBox="1"/>
          <p:nvPr/>
        </p:nvSpPr>
        <p:spPr>
          <a:xfrm>
            <a:off x="11328932" y="3220723"/>
            <a:ext cx="78506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F3：AR，返回 R</a:t>
            </a:r>
          </a:p>
        </p:txBody>
      </p:sp>
      <p:sp>
        <p:nvSpPr>
          <p:cNvPr id="41" name="text-041: 源帧读完后交还"/>
          <p:cNvSpPr txBox="1"/>
          <p:nvPr/>
        </p:nvSpPr>
        <p:spPr>
          <a:xfrm>
            <a:off x="11337417" y="3360740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源帧读完后交还</a:t>
            </a:r>
          </a:p>
        </p:txBody>
      </p:sp>
      <p:sp>
        <p:nvSpPr>
          <p:cNvPr id="42" name="tx"/>
          <p:cNvSpPr/>
          <p:nvPr/>
        </p:nvSpPr>
        <p:spPr>
          <a:xfrm>
            <a:off x="11001375" y="4400550"/>
            <a:ext cx="144018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输出 FIFO / LVDS TX"/>
          <p:cNvSpPr txBox="1"/>
          <p:nvPr/>
        </p:nvSpPr>
        <p:spPr>
          <a:xfrm>
            <a:off x="11182810" y="4495922"/>
            <a:ext cx="10773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 / LVDS TX</a:t>
            </a:r>
          </a:p>
        </p:txBody>
      </p:sp>
      <p:sp>
        <p:nvSpPr>
          <p:cNvPr id="44" name="text-044: 像素整理与发送"/>
          <p:cNvSpPr txBox="1"/>
          <p:nvPr/>
        </p:nvSpPr>
        <p:spPr>
          <a:xfrm>
            <a:off x="11337417" y="4648901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像素整理与发送</a:t>
            </a:r>
          </a:p>
        </p:txBody>
      </p:sp>
      <p:sp>
        <p:nvSpPr>
          <p:cNvPr id="45" name="maint"/>
          <p:cNvSpPr/>
          <p:nvPr/>
        </p:nvSpPr>
        <p:spPr>
          <a:xfrm>
            <a:off x="3200400" y="2960370"/>
            <a:ext cx="3600450" cy="500062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范围维护服务（逻辑职责）"/>
          <p:cNvSpPr txBox="1"/>
          <p:nvPr/>
        </p:nvSpPr>
        <p:spPr>
          <a:xfrm>
            <a:off x="4298537" y="3065743"/>
            <a:ext cx="140417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范围维护服务（逻辑职责）</a:t>
            </a:r>
          </a:p>
        </p:txBody>
      </p:sp>
      <p:sp>
        <p:nvSpPr>
          <p:cNvPr id="47" name="text-047: 软件范围命令 · 排空 / clean / invalidate · 准入与完成"/>
          <p:cNvSpPr txBox="1"/>
          <p:nvPr/>
        </p:nvSpPr>
        <p:spPr>
          <a:xfrm>
            <a:off x="3828135" y="3218722"/>
            <a:ext cx="234498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软件范围命令 · 排空 / clean / invalidate · 准入与完成</a:t>
            </a:r>
          </a:p>
        </p:txBody>
      </p:sp>
      <p:sp>
        <p:nvSpPr>
          <p:cNvPr id="48" name="frontend"/>
          <p:cNvSpPr/>
          <p:nvPr/>
        </p:nvSpPr>
        <p:spPr>
          <a:xfrm>
            <a:off x="2200275" y="4080510"/>
            <a:ext cx="8401050" cy="12801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共享压缩前端 · 四入口共享服务"/>
          <p:cNvSpPr txBox="1"/>
          <p:nvPr/>
        </p:nvSpPr>
        <p:spPr>
          <a:xfrm>
            <a:off x="5599400" y="4507923"/>
            <a:ext cx="160280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四入口共享服务</a:t>
            </a:r>
          </a:p>
        </p:txBody>
      </p:sp>
      <p:sp>
        <p:nvSpPr>
          <p:cNvPr id="50" name="text-050: 逻辑地址映射 · 共享压缩 / 解压 · 普通区域旁路"/>
          <p:cNvSpPr txBox="1"/>
          <p:nvPr/>
        </p:nvSpPr>
        <p:spPr>
          <a:xfrm>
            <a:off x="5354419" y="4660903"/>
            <a:ext cx="209276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逻辑地址映射 · 共享压缩 / 解压 · 普通区域旁路</a:t>
            </a:r>
          </a:p>
        </p:txBody>
      </p:sp>
      <p:sp>
        <p:nvSpPr>
          <p:cNvPr id="51" name="text-051: 数据与元数据发布 · 子事务错误聚合 · 读写响应匹配"/>
          <p:cNvSpPr txBox="1"/>
          <p:nvPr/>
        </p:nvSpPr>
        <p:spPr>
          <a:xfrm>
            <a:off x="5264127" y="4800920"/>
            <a:ext cx="227334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数据与元数据发布 · 子事务错误聚合 · 读写响应匹配</a:t>
            </a:r>
          </a:p>
        </p:txBody>
      </p:sp>
      <p:sp>
        <p:nvSpPr>
          <p:cNvPr id="52" name="controller"/>
          <p:cNvSpPr/>
          <p:nvPr/>
        </p:nvSpPr>
        <p:spPr>
          <a:xfrm>
            <a:off x="2200275" y="5720715"/>
            <a:ext cx="8401050" cy="72009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一个 DDR Controller · 四个 AXI slave"/>
          <p:cNvSpPr txBox="1"/>
          <p:nvPr/>
        </p:nvSpPr>
        <p:spPr>
          <a:xfrm>
            <a:off x="5492277" y="5936102"/>
            <a:ext cx="181704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一个 DDR Controller · 四个 AXI slave</a:t>
            </a:r>
          </a:p>
        </p:txBody>
      </p:sp>
      <p:sp>
        <p:nvSpPr>
          <p:cNvPr id="54" name="text-054: 四口仲裁 / 共享物理 DDR 带宽 · 排空与跨口可见性待契约确认"/>
          <p:cNvSpPr txBox="1"/>
          <p:nvPr/>
        </p:nvSpPr>
        <p:spPr>
          <a:xfrm>
            <a:off x="5032863" y="6089081"/>
            <a:ext cx="273587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共享物理 DDR 带宽 · 排空与跨口可见性待契约确认</a:t>
            </a:r>
          </a:p>
        </p:txBody>
      </p:sp>
      <p:sp>
        <p:nvSpPr>
          <p:cNvPr id="55" name="ddr"/>
          <p:cNvSpPr/>
          <p:nvPr/>
        </p:nvSpPr>
        <p:spPr>
          <a:xfrm>
            <a:off x="11001375" y="5880735"/>
            <a:ext cx="1440180" cy="48006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DDR PHY / DDR"/>
          <p:cNvSpPr txBox="1"/>
          <p:nvPr/>
        </p:nvSpPr>
        <p:spPr>
          <a:xfrm>
            <a:off x="11285498" y="5976107"/>
            <a:ext cx="87193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 / DDR</a:t>
            </a:r>
          </a:p>
        </p:txBody>
      </p:sp>
      <p:sp>
        <p:nvSpPr>
          <p:cNvPr id="57" name="text-057: 片外存储"/>
          <p:cNvSpPr txBox="1"/>
          <p:nvPr/>
        </p:nvSpPr>
        <p:spPr>
          <a:xfrm>
            <a:off x="11481435" y="6129086"/>
            <a:ext cx="4800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sp>
        <p:nvSpPr>
          <p:cNvPr id="58" name="cpu-xbar"/>
          <p:cNvSpPr/>
          <p:nvPr/>
        </p:nvSpPr>
        <p:spPr>
          <a:xfrm>
            <a:off x="1040130" y="12001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ara-filter"/>
          <p:cNvSpPr/>
          <p:nvPr/>
        </p:nvSpPr>
        <p:spPr>
          <a:xfrm>
            <a:off x="2960370" y="1200150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ilter-xbar"/>
          <p:cNvSpPr/>
          <p:nvPr/>
        </p:nvSpPr>
        <p:spPr>
          <a:xfrm>
            <a:off x="2960370" y="1720215"/>
            <a:ext cx="1" cy="280035"/>
          </a:xfrm>
          <a:custGeom>
            <a:avLst/>
            <a:gdLst/>
            <a:ahLst/>
            <a:cxnLst/>
            <a:rect l="0" t="0" r="r" b="b"/>
            <a:pathLst>
              <a:path w="1" h="280035" fill="none">
                <a:moveTo>
                  <a:pt x="0" y="0"/>
                </a:moveTo>
                <a:lnTo>
                  <a:pt x="0" y="28003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2-llc"/>
          <p:cNvSpPr/>
          <p:nvPr/>
        </p:nvSpPr>
        <p:spPr>
          <a:xfrm>
            <a:off x="1200150" y="236029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m5-gb"/>
          <p:cNvSpPr/>
          <p:nvPr/>
        </p:nvSpPr>
        <p:spPr>
          <a:xfrm>
            <a:off x="3920490" y="218027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M5"/>
          <p:cNvSpPr txBox="1"/>
          <p:nvPr/>
        </p:nvSpPr>
        <p:spPr>
          <a:xfrm>
            <a:off x="4080510" y="1996570"/>
            <a:ext cx="2322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64" name="adapter-gb"/>
          <p:cNvSpPr/>
          <p:nvPr/>
        </p:nvSpPr>
        <p:spPr>
          <a:xfrm>
            <a:off x="6000750" y="224028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npu-gb"/>
          <p:cNvSpPr/>
          <p:nvPr/>
        </p:nvSpPr>
        <p:spPr>
          <a:xfrm>
            <a:off x="5280660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mover-gb"/>
          <p:cNvSpPr/>
          <p:nvPr/>
        </p:nvSpPr>
        <p:spPr>
          <a:xfrm>
            <a:off x="5640705" y="1280160"/>
            <a:ext cx="1840230" cy="720090"/>
          </a:xfrm>
          <a:custGeom>
            <a:avLst/>
            <a:gdLst/>
            <a:ahLst/>
            <a:cxnLst/>
            <a:rect l="0" t="0" r="r" b="b"/>
            <a:pathLst>
              <a:path w="1840230" h="720090" fill="none">
                <a:moveTo>
                  <a:pt x="1840230" y="0"/>
                </a:moveTo>
                <a:lnTo>
                  <a:pt x="1840230" y="320040"/>
                </a:lnTo>
                <a:lnTo>
                  <a:pt x="0" y="320040"/>
                </a:ln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isp-gb"/>
          <p:cNvSpPr/>
          <p:nvPr/>
        </p:nvSpPr>
        <p:spPr>
          <a:xfrm>
            <a:off x="5800725" y="1040130"/>
            <a:ext cx="3200400" cy="1600200"/>
          </a:xfrm>
          <a:custGeom>
            <a:avLst/>
            <a:gdLst/>
            <a:ahLst/>
            <a:cxnLst/>
            <a:rect l="0" t="0" r="r" b="b"/>
            <a:pathLst>
              <a:path w="3200400" h="1600200" fill="none">
                <a:moveTo>
                  <a:pt x="3200400" y="0"/>
                </a:moveTo>
                <a:lnTo>
                  <a:pt x="2880360" y="0"/>
                </a:lnTo>
                <a:lnTo>
                  <a:pt x="2880360" y="1600200"/>
                </a:lnTo>
                <a:lnTo>
                  <a:pt x="0" y="1600200"/>
                </a:lnTo>
                <a:lnTo>
                  <a:pt x="0" y="144018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isp-frame"/>
          <p:cNvSpPr/>
          <p:nvPr/>
        </p:nvSpPr>
        <p:spPr>
          <a:xfrm>
            <a:off x="9801225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llc-f0"/>
          <p:cNvSpPr/>
          <p:nvPr/>
        </p:nvSpPr>
        <p:spPr>
          <a:xfrm>
            <a:off x="2040255" y="3160395"/>
            <a:ext cx="680085" cy="920115"/>
          </a:xfrm>
          <a:custGeom>
            <a:avLst/>
            <a:gdLst/>
            <a:ahLst/>
            <a:cxnLst/>
            <a:rect l="0" t="0" r="r" b="b"/>
            <a:pathLst>
              <a:path w="680085" h="920115" fill="none">
                <a:moveTo>
                  <a:pt x="0" y="0"/>
                </a:moveTo>
                <a:lnTo>
                  <a:pt x="680085" y="0"/>
                </a:lnTo>
                <a:lnTo>
                  <a:pt x="680085" y="92011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mover-f1"/>
          <p:cNvSpPr/>
          <p:nvPr/>
        </p:nvSpPr>
        <p:spPr>
          <a:xfrm>
            <a:off x="5120640" y="1040130"/>
            <a:ext cx="3355086" cy="3040380"/>
          </a:xfrm>
          <a:custGeom>
            <a:avLst/>
            <a:gdLst/>
            <a:ahLst/>
            <a:cxnLst/>
            <a:rect l="0" t="0" r="r" b="b"/>
            <a:pathLst>
              <a:path w="3355086" h="3040380" fill="none">
                <a:moveTo>
                  <a:pt x="3160395" y="0"/>
                </a:moveTo>
                <a:lnTo>
                  <a:pt x="3320415" y="0"/>
                </a:lnTo>
                <a:lnTo>
                  <a:pt x="3320415" y="1568196"/>
                </a:lnTo>
                <a:cubicBezTo>
                  <a:pt x="3355086" y="1589532"/>
                  <a:pt x="3355086" y="1610868"/>
                  <a:pt x="3320415" y="1632204"/>
                </a:cubicBezTo>
                <a:lnTo>
                  <a:pt x="3320415" y="2720340"/>
                </a:lnTo>
                <a:lnTo>
                  <a:pt x="0" y="2720340"/>
                </a:lnTo>
                <a:lnTo>
                  <a:pt x="0" y="304038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ame-f2"/>
          <p:cNvSpPr/>
          <p:nvPr/>
        </p:nvSpPr>
        <p:spPr>
          <a:xfrm>
            <a:off x="7520940" y="2480310"/>
            <a:ext cx="2280285" cy="1600200"/>
          </a:xfrm>
          <a:custGeom>
            <a:avLst/>
            <a:gdLst/>
            <a:ahLst/>
            <a:cxnLst/>
            <a:rect l="0" t="0" r="r" b="b"/>
            <a:pathLst>
              <a:path w="2280285" h="1600200" fill="none">
                <a:moveTo>
                  <a:pt x="2280285" y="0"/>
                </a:moveTo>
                <a:lnTo>
                  <a:pt x="2280285" y="1160145"/>
                </a:lnTo>
                <a:lnTo>
                  <a:pt x="952119" y="1160145"/>
                </a:lnTo>
                <a:cubicBezTo>
                  <a:pt x="930783" y="1125474"/>
                  <a:pt x="909447" y="1125474"/>
                  <a:pt x="888111" y="1160145"/>
                </a:cubicBezTo>
                <a:lnTo>
                  <a:pt x="0" y="1160145"/>
                </a:lnTo>
                <a:lnTo>
                  <a:pt x="0" y="1248156"/>
                </a:lnTo>
                <a:cubicBezTo>
                  <a:pt x="34671" y="1269492"/>
                  <a:pt x="34671" y="1290828"/>
                  <a:pt x="0" y="1312164"/>
                </a:cubicBezTo>
                <a:lnTo>
                  <a:pt x="0" y="16002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oi-f3"/>
          <p:cNvSpPr/>
          <p:nvPr/>
        </p:nvSpPr>
        <p:spPr>
          <a:xfrm>
            <a:off x="9921240" y="3200400"/>
            <a:ext cx="1080135" cy="880110"/>
          </a:xfrm>
          <a:custGeom>
            <a:avLst/>
            <a:gdLst/>
            <a:ahLst/>
            <a:cxnLst/>
            <a:rect l="0" t="0" r="r" b="b"/>
            <a:pathLst>
              <a:path w="1080135" h="880110" fill="none">
                <a:moveTo>
                  <a:pt x="1080135" y="0"/>
                </a:moveTo>
                <a:lnTo>
                  <a:pt x="800100" y="0"/>
                </a:lnTo>
                <a:lnTo>
                  <a:pt x="800100" y="680085"/>
                </a:lnTo>
                <a:lnTo>
                  <a:pt x="0" y="680085"/>
                </a:lnTo>
                <a:lnTo>
                  <a:pt x="0" y="88011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oi-tx"/>
          <p:cNvSpPr/>
          <p:nvPr/>
        </p:nvSpPr>
        <p:spPr>
          <a:xfrm>
            <a:off x="11721465" y="36004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0"/>
          <p:cNvSpPr/>
          <p:nvPr/>
        </p:nvSpPr>
        <p:spPr>
          <a:xfrm>
            <a:off x="22602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F0 · LLC"/>
          <p:cNvSpPr txBox="1"/>
          <p:nvPr/>
        </p:nvSpPr>
        <p:spPr>
          <a:xfrm>
            <a:off x="2475303" y="4113874"/>
            <a:ext cx="49007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76" name="ddr-port0"/>
          <p:cNvSpPr/>
          <p:nvPr/>
        </p:nvSpPr>
        <p:spPr>
          <a:xfrm>
            <a:off x="27203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s0"/>
          <p:cNvSpPr/>
          <p:nvPr/>
        </p:nvSpPr>
        <p:spPr>
          <a:xfrm>
            <a:off x="22602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DDR.S0"/>
          <p:cNvSpPr txBox="1"/>
          <p:nvPr/>
        </p:nvSpPr>
        <p:spPr>
          <a:xfrm>
            <a:off x="24796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79" name="f1"/>
          <p:cNvSpPr/>
          <p:nvPr/>
        </p:nvSpPr>
        <p:spPr>
          <a:xfrm>
            <a:off x="46605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F1 · GB 搬运"/>
          <p:cNvSpPr txBox="1"/>
          <p:nvPr/>
        </p:nvSpPr>
        <p:spPr>
          <a:xfrm>
            <a:off x="4769802" y="4113874"/>
            <a:ext cx="701675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81" name="ddr-port1"/>
          <p:cNvSpPr/>
          <p:nvPr/>
        </p:nvSpPr>
        <p:spPr>
          <a:xfrm>
            <a:off x="51206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s1"/>
          <p:cNvSpPr/>
          <p:nvPr/>
        </p:nvSpPr>
        <p:spPr>
          <a:xfrm>
            <a:off x="46605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DDR.S1"/>
          <p:cNvSpPr txBox="1"/>
          <p:nvPr/>
        </p:nvSpPr>
        <p:spPr>
          <a:xfrm>
            <a:off x="48799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84" name="f2"/>
          <p:cNvSpPr/>
          <p:nvPr/>
        </p:nvSpPr>
        <p:spPr>
          <a:xfrm>
            <a:off x="70608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F2 · 帧写"/>
          <p:cNvSpPr txBox="1"/>
          <p:nvPr/>
        </p:nvSpPr>
        <p:spPr>
          <a:xfrm>
            <a:off x="72553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86" name="ddr-port2"/>
          <p:cNvSpPr/>
          <p:nvPr/>
        </p:nvSpPr>
        <p:spPr>
          <a:xfrm>
            <a:off x="75209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s2"/>
          <p:cNvSpPr/>
          <p:nvPr/>
        </p:nvSpPr>
        <p:spPr>
          <a:xfrm>
            <a:off x="70608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DDR.S2"/>
          <p:cNvSpPr txBox="1"/>
          <p:nvPr/>
        </p:nvSpPr>
        <p:spPr>
          <a:xfrm>
            <a:off x="72802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89" name="f3"/>
          <p:cNvSpPr/>
          <p:nvPr/>
        </p:nvSpPr>
        <p:spPr>
          <a:xfrm>
            <a:off x="94611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F3 · 帧读"/>
          <p:cNvSpPr txBox="1"/>
          <p:nvPr/>
        </p:nvSpPr>
        <p:spPr>
          <a:xfrm>
            <a:off x="96556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91" name="ddr-port3"/>
          <p:cNvSpPr/>
          <p:nvPr/>
        </p:nvSpPr>
        <p:spPr>
          <a:xfrm>
            <a:off x="99212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s3"/>
          <p:cNvSpPr/>
          <p:nvPr/>
        </p:nvSpPr>
        <p:spPr>
          <a:xfrm>
            <a:off x="94611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DDR.S3"/>
          <p:cNvSpPr txBox="1"/>
          <p:nvPr/>
        </p:nvSpPr>
        <p:spPr>
          <a:xfrm>
            <a:off x="96805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94" name="controller-ddr"/>
          <p:cNvSpPr/>
          <p:nvPr/>
        </p:nvSpPr>
        <p:spPr>
          <a:xfrm>
            <a:off x="10601325" y="612076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int-cpu"/>
          <p:cNvSpPr/>
          <p:nvPr/>
        </p:nvSpPr>
        <p:spPr>
          <a:xfrm>
            <a:off x="160020" y="960120"/>
            <a:ext cx="3040380" cy="2100262"/>
          </a:xfrm>
          <a:custGeom>
            <a:avLst/>
            <a:gdLst/>
            <a:ahLst/>
            <a:cxnLst/>
            <a:rect l="0" t="0" r="r" b="b"/>
            <a:pathLst>
              <a:path w="3040380" h="2100262" fill="none">
                <a:moveTo>
                  <a:pt x="3040380" y="2100262"/>
                </a:moveTo>
                <a:lnTo>
                  <a:pt x="2880360" y="2100262"/>
                </a:lnTo>
                <a:lnTo>
                  <a:pt x="2880360" y="1800225"/>
                </a:lnTo>
                <a:lnTo>
                  <a:pt x="1072134" y="1800225"/>
                </a:lnTo>
                <a:cubicBezTo>
                  <a:pt x="1050798" y="1765554"/>
                  <a:pt x="1029462" y="1765554"/>
                  <a:pt x="1008126" y="1800225"/>
                </a:cubicBezTo>
                <a:lnTo>
                  <a:pt x="0" y="1800225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aint-llc"/>
          <p:cNvSpPr/>
          <p:nvPr/>
        </p:nvSpPr>
        <p:spPr>
          <a:xfrm>
            <a:off x="2040255" y="3285744"/>
            <a:ext cx="1160145" cy="34671"/>
          </a:xfrm>
          <a:custGeom>
            <a:avLst/>
            <a:gdLst/>
            <a:ahLst/>
            <a:cxnLst/>
            <a:rect l="0" t="0" r="r" b="b"/>
            <a:pathLst>
              <a:path w="1160145" h="34671" fill="none">
                <a:moveTo>
                  <a:pt x="1160145" y="34671"/>
                </a:moveTo>
                <a:lnTo>
                  <a:pt x="712089" y="34671"/>
                </a:lnTo>
                <a:cubicBezTo>
                  <a:pt x="690753" y="0"/>
                  <a:pt x="669417" y="0"/>
                  <a:pt x="648081" y="34671"/>
                </a:cubicBezTo>
                <a:lnTo>
                  <a:pt x="0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int-mover"/>
          <p:cNvSpPr/>
          <p:nvPr/>
        </p:nvSpPr>
        <p:spPr>
          <a:xfrm>
            <a:off x="6800850" y="1280160"/>
            <a:ext cx="1594866" cy="1800225"/>
          </a:xfrm>
          <a:custGeom>
            <a:avLst/>
            <a:gdLst/>
            <a:ahLst/>
            <a:cxnLst/>
            <a:rect l="0" t="0" r="r" b="b"/>
            <a:pathLst>
              <a:path w="1594866" h="1800225" fill="none">
                <a:moveTo>
                  <a:pt x="0" y="1800225"/>
                </a:moveTo>
                <a:lnTo>
                  <a:pt x="1560195" y="1800225"/>
                </a:lnTo>
                <a:lnTo>
                  <a:pt x="1560195" y="1392174"/>
                </a:lnTo>
                <a:cubicBezTo>
                  <a:pt x="1594866" y="1370838"/>
                  <a:pt x="1594866" y="1349502"/>
                  <a:pt x="1560195" y="1328166"/>
                </a:cubicBezTo>
                <a:lnTo>
                  <a:pt x="1560195" y="140018"/>
                </a:lnTo>
                <a:lnTo>
                  <a:pt x="1000125" y="140018"/>
                </a:lnTo>
                <a:lnTo>
                  <a:pt x="1000125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maint-frame"/>
          <p:cNvSpPr/>
          <p:nvPr/>
        </p:nvSpPr>
        <p:spPr>
          <a:xfrm>
            <a:off x="6800850" y="2240280"/>
            <a:ext cx="2200275" cy="980122"/>
          </a:xfrm>
          <a:custGeom>
            <a:avLst/>
            <a:gdLst/>
            <a:ahLst/>
            <a:cxnLst/>
            <a:rect l="0" t="0" r="r" b="b"/>
            <a:pathLst>
              <a:path w="2200275" h="980122" fill="none">
                <a:moveTo>
                  <a:pt x="0" y="980122"/>
                </a:moveTo>
                <a:lnTo>
                  <a:pt x="1608201" y="980122"/>
                </a:lnTo>
                <a:cubicBezTo>
                  <a:pt x="1629537" y="945452"/>
                  <a:pt x="1650873" y="945452"/>
                  <a:pt x="1672209" y="980122"/>
                </a:cubicBezTo>
                <a:lnTo>
                  <a:pt x="2040255" y="980122"/>
                </a:lnTo>
                <a:lnTo>
                  <a:pt x="2040255" y="0"/>
                </a:lnTo>
                <a:lnTo>
                  <a:pt x="2200275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int-roi"/>
          <p:cNvSpPr/>
          <p:nvPr/>
        </p:nvSpPr>
        <p:spPr>
          <a:xfrm>
            <a:off x="6800850" y="3325749"/>
            <a:ext cx="4200525" cy="34671"/>
          </a:xfrm>
          <a:custGeom>
            <a:avLst/>
            <a:gdLst/>
            <a:ahLst/>
            <a:cxnLst/>
            <a:rect l="0" t="0" r="r" b="b"/>
            <a:pathLst>
              <a:path w="4200525" h="34671" fill="none">
                <a:moveTo>
                  <a:pt x="0" y="34671"/>
                </a:moveTo>
                <a:lnTo>
                  <a:pt x="1608201" y="34671"/>
                </a:lnTo>
                <a:cubicBezTo>
                  <a:pt x="1629537" y="0"/>
                  <a:pt x="1650873" y="0"/>
                  <a:pt x="1672209" y="34671"/>
                </a:cubicBezTo>
                <a:lnTo>
                  <a:pt x="2968371" y="34671"/>
                </a:lnTo>
                <a:cubicBezTo>
                  <a:pt x="2989707" y="0"/>
                  <a:pt x="3011043" y="0"/>
                  <a:pt x="3032379" y="34671"/>
                </a:cubicBezTo>
                <a:lnTo>
                  <a:pt x="3888486" y="34671"/>
                </a:lnTo>
                <a:cubicBezTo>
                  <a:pt x="3909822" y="0"/>
                  <a:pt x="3931158" y="0"/>
                  <a:pt x="3952494" y="34671"/>
                </a:cubicBezTo>
                <a:lnTo>
                  <a:pt x="4200525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maint-front"/>
          <p:cNvSpPr/>
          <p:nvPr/>
        </p:nvSpPr>
        <p:spPr>
          <a:xfrm>
            <a:off x="2040255" y="3460432"/>
            <a:ext cx="1160145" cy="1260158"/>
          </a:xfrm>
          <a:custGeom>
            <a:avLst/>
            <a:gdLst/>
            <a:ahLst/>
            <a:cxnLst/>
            <a:rect l="0" t="0" r="r" b="b"/>
            <a:pathLst>
              <a:path w="1160145" h="1260158" fill="none">
                <a:moveTo>
                  <a:pt x="1160145" y="0"/>
                </a:moveTo>
                <a:lnTo>
                  <a:pt x="1160145" y="460058"/>
                </a:lnTo>
                <a:lnTo>
                  <a:pt x="712089" y="460058"/>
                </a:lnTo>
                <a:cubicBezTo>
                  <a:pt x="690753" y="425387"/>
                  <a:pt x="669417" y="425387"/>
                  <a:pt x="648081" y="460058"/>
                </a:cubicBezTo>
                <a:lnTo>
                  <a:pt x="0" y="460058"/>
                </a:lnTo>
                <a:lnTo>
                  <a:pt x="0" y="1260158"/>
                </a:lnTo>
                <a:lnTo>
                  <a:pt x="160020" y="126015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int-ddr"/>
          <p:cNvSpPr/>
          <p:nvPr/>
        </p:nvSpPr>
        <p:spPr>
          <a:xfrm>
            <a:off x="1880235" y="3460432"/>
            <a:ext cx="1720215" cy="2700338"/>
          </a:xfrm>
          <a:custGeom>
            <a:avLst/>
            <a:gdLst/>
            <a:ahLst/>
            <a:cxnLst/>
            <a:rect l="0" t="0" r="r" b="b"/>
            <a:pathLst>
              <a:path w="1720215" h="2700338" fill="none">
                <a:moveTo>
                  <a:pt x="1720215" y="0"/>
                </a:moveTo>
                <a:lnTo>
                  <a:pt x="1720215" y="380048"/>
                </a:lnTo>
                <a:lnTo>
                  <a:pt x="1352169" y="380048"/>
                </a:lnTo>
                <a:cubicBezTo>
                  <a:pt x="1330833" y="345377"/>
                  <a:pt x="1309497" y="345377"/>
                  <a:pt x="1288161" y="380048"/>
                </a:cubicBezTo>
                <a:lnTo>
                  <a:pt x="872109" y="380048"/>
                </a:lnTo>
                <a:cubicBezTo>
                  <a:pt x="850773" y="345377"/>
                  <a:pt x="829437" y="345377"/>
                  <a:pt x="808101" y="380048"/>
                </a:cubicBezTo>
                <a:lnTo>
                  <a:pt x="0" y="380048"/>
                </a:lnTo>
                <a:lnTo>
                  <a:pt x="0" y="2700338"/>
                </a:lnTo>
                <a:lnTo>
                  <a:pt x="320040" y="270033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2: 蓝：AXI 请求 / 返回（F2 仅写，F3 仅读）    绿：GB 局部访问 "/>
          <p:cNvSpPr txBox="1"/>
          <p:nvPr/>
        </p:nvSpPr>
        <p:spPr>
          <a:xfrm>
            <a:off x="320040" y="6599865"/>
            <a:ext cx="544740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蓝：AXI 请求 / 返回（F2 仅写，F3 仅读）    绿：GB 局部访问 / 像素流    紫：软件命令、维护、准入与确认</a:t>
            </a:r>
          </a:p>
        </p:txBody>
      </p:sp>
      <p:sp>
        <p:nvSpPr>
          <p:cNvPr id="103" name="text-103: GB 本地交接管理使用权；DDR 同步涵盖缓存、共享前端与控制器。未画出的外设 "/>
          <p:cNvSpPr txBox="1"/>
          <p:nvPr/>
        </p:nvSpPr>
        <p:spPr>
          <a:xfrm>
            <a:off x="320040" y="6844215"/>
            <a:ext cx="54535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本地交接管理使用权；DDR 同步涵盖缓存、共享前端与控制器。未画出的外设 / 配置 / eMMC 路径沿用 v1。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软件交接、硬件维护：一次推理的数据生命周期"/>
          <p:cNvSpPr txBox="1"/>
          <p:nvPr/>
        </p:nvSpPr>
        <p:spPr>
          <a:xfrm>
            <a:off x="266700" y="80650"/>
            <a:ext cx="422452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软件交接、硬件维护：一次推理的数据生命周期</a:t>
            </a:r>
          </a:p>
        </p:txBody>
      </p:sp>
      <p:sp>
        <p:nvSpPr>
          <p:cNvPr id="3" name="text-003: 按缓冲区或计算分块同步；交接范围由软件保持所有权，CPU 可并行处理其他缓冲区。"/>
          <p:cNvSpPr txBox="1"/>
          <p:nvPr/>
        </p:nvSpPr>
        <p:spPr>
          <a:xfrm>
            <a:off x="266700" y="373807"/>
            <a:ext cx="50077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按缓冲区或计算分块同步；交接范围由软件保持所有权，CPU 可并行处理其他缓冲区。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4676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提交前：软件交出 DDR 输入与输出范围"/>
          <p:cNvSpPr txBox="1"/>
          <p:nvPr/>
        </p:nvSpPr>
        <p:spPr>
          <a:xfrm>
            <a:off x="320040" y="824636"/>
            <a:ext cx="31742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提交前：软件交出 DDR 输入与输出范围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软件提交"/>
          <p:cNvSpPr txBox="1"/>
          <p:nvPr/>
        </p:nvSpPr>
        <p:spPr>
          <a:xfrm>
            <a:off x="102679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软件提交</a:t>
            </a:r>
          </a:p>
        </p:txBody>
      </p:sp>
      <p:sp>
        <p:nvSpPr>
          <p:cNvPr id="8" name="text-008: 地址 / 长度 / 方向"/>
          <p:cNvSpPr txBox="1"/>
          <p:nvPr/>
        </p:nvSpPr>
        <p:spPr>
          <a:xfrm>
            <a:off x="795516" y="1493947"/>
            <a:ext cx="11826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方向</a:t>
            </a:r>
          </a:p>
        </p:txBody>
      </p:sp>
      <p:sp>
        <p:nvSpPr>
          <p:cNvPr id="9" name="text-009: 确认各生产者完成"/>
          <p:cNvSpPr txBox="1"/>
          <p:nvPr/>
        </p:nvSpPr>
        <p:spPr>
          <a:xfrm>
            <a:off x="810768" y="168063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确认各生产者完成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L1D / 写缓冲"/>
          <p:cNvSpPr txBox="1"/>
          <p:nvPr/>
        </p:nvSpPr>
        <p:spPr>
          <a:xfrm>
            <a:off x="3371871" y="1289975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12" name="text-012: 排空相关旧写"/>
          <p:cNvSpPr txBox="1"/>
          <p:nvPr/>
        </p:nvSpPr>
        <p:spPr>
          <a:xfrm>
            <a:off x="341909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排空相关旧写</a:t>
            </a:r>
          </a:p>
        </p:txBody>
      </p:sp>
      <p:sp>
        <p:nvSpPr>
          <p:cNvPr id="13" name="text-013: 输出失效 / 回填协调"/>
          <p:cNvSpPr txBox="1"/>
          <p:nvPr/>
        </p:nvSpPr>
        <p:spPr>
          <a:xfrm>
            <a:off x="3219444" y="1680637"/>
            <a:ext cx="12954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输出失效 / 回填协调</a:t>
            </a:r>
          </a:p>
        </p:txBody>
      </p:sp>
      <p:sp>
        <p:nvSpPr>
          <p:cNvPr id="14" name="r0e1"/>
          <p:cNvSpPr/>
          <p:nvPr/>
        </p:nvSpPr>
        <p:spPr>
          <a:xfrm>
            <a:off x="245364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0b2"/>
          <p:cNvSpPr/>
          <p:nvPr/>
        </p:nvSpPr>
        <p:spPr>
          <a:xfrm>
            <a:off x="528066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LLC 范围维护"/>
          <p:cNvSpPr txBox="1"/>
          <p:nvPr/>
        </p:nvSpPr>
        <p:spPr>
          <a:xfrm>
            <a:off x="5849231" y="1289975"/>
            <a:ext cx="99645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范围维护</a:t>
            </a:r>
          </a:p>
        </p:txBody>
      </p:sp>
      <p:sp>
        <p:nvSpPr>
          <p:cNvPr id="17" name="text-017: 输入：clean"/>
          <p:cNvSpPr txBox="1"/>
          <p:nvPr/>
        </p:nvSpPr>
        <p:spPr>
          <a:xfrm>
            <a:off x="5941909" y="1493947"/>
            <a:ext cx="81110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输入：clean</a:t>
            </a:r>
          </a:p>
        </p:txBody>
      </p:sp>
      <p:sp>
        <p:nvSpPr>
          <p:cNvPr id="18" name="text-018: 输出：clean + invalidate"/>
          <p:cNvSpPr txBox="1"/>
          <p:nvPr/>
        </p:nvSpPr>
        <p:spPr>
          <a:xfrm>
            <a:off x="5598116" y="1680637"/>
            <a:ext cx="149868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输出：clean + invalidate</a:t>
            </a:r>
          </a:p>
        </p:txBody>
      </p:sp>
      <p:sp>
        <p:nvSpPr>
          <p:cNvPr id="19" name="r0e2"/>
          <p:cNvSpPr/>
          <p:nvPr/>
        </p:nvSpPr>
        <p:spPr>
          <a:xfrm>
            <a:off x="493395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0b3"/>
          <p:cNvSpPr/>
          <p:nvPr/>
        </p:nvSpPr>
        <p:spPr>
          <a:xfrm>
            <a:off x="776097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前端 / DDR 共享点"/>
          <p:cNvSpPr txBox="1"/>
          <p:nvPr/>
        </p:nvSpPr>
        <p:spPr>
          <a:xfrm>
            <a:off x="8154011" y="1289975"/>
            <a:ext cx="134751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 / DDR 共享点</a:t>
            </a:r>
          </a:p>
        </p:txBody>
      </p:sp>
      <p:sp>
        <p:nvSpPr>
          <p:cNvPr id="22" name="text-022: 数据 / 元数据跨口可见"/>
          <p:cNvSpPr txBox="1"/>
          <p:nvPr/>
        </p:nvSpPr>
        <p:spPr>
          <a:xfrm>
            <a:off x="8116056" y="1493947"/>
            <a:ext cx="14234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 / 元数据跨口可见</a:t>
            </a:r>
          </a:p>
        </p:txBody>
      </p:sp>
      <p:sp>
        <p:nvSpPr>
          <p:cNvPr id="23" name="text-023: 汇合缓存维护确认"/>
          <p:cNvSpPr txBox="1"/>
          <p:nvPr/>
        </p:nvSpPr>
        <p:spPr>
          <a:xfrm>
            <a:off x="8251698" y="168063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汇合缓存维护确认</a:t>
            </a:r>
          </a:p>
        </p:txBody>
      </p:sp>
      <p:sp>
        <p:nvSpPr>
          <p:cNvPr id="24" name="r0e3"/>
          <p:cNvSpPr/>
          <p:nvPr/>
        </p:nvSpPr>
        <p:spPr>
          <a:xfrm>
            <a:off x="741426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0b4"/>
          <p:cNvSpPr/>
          <p:nvPr/>
        </p:nvSpPr>
        <p:spPr>
          <a:xfrm>
            <a:off x="1024128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允许启动"/>
          <p:cNvSpPr txBox="1"/>
          <p:nvPr/>
        </p:nvSpPr>
        <p:spPr>
          <a:xfrm>
            <a:off x="1094803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允许启动</a:t>
            </a:r>
          </a:p>
        </p:txBody>
      </p:sp>
      <p:sp>
        <p:nvSpPr>
          <p:cNvPr id="27" name="text-027: 返回维护完成"/>
          <p:cNvSpPr txBox="1"/>
          <p:nvPr/>
        </p:nvSpPr>
        <p:spPr>
          <a:xfrm>
            <a:off x="1086002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返回维护完成</a:t>
            </a:r>
          </a:p>
        </p:txBody>
      </p:sp>
      <p:sp>
        <p:nvSpPr>
          <p:cNvPr id="28" name="text-028: 软件发布 DMA 任务"/>
          <p:cNvSpPr txBox="1"/>
          <p:nvPr/>
        </p:nvSpPr>
        <p:spPr>
          <a:xfrm>
            <a:off x="10691190" y="1680637"/>
            <a:ext cx="123377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软件发布 DMA 任务</a:t>
            </a:r>
          </a:p>
        </p:txBody>
      </p:sp>
      <p:sp>
        <p:nvSpPr>
          <p:cNvPr id="29" name="r0e4"/>
          <p:cNvSpPr/>
          <p:nvPr/>
        </p:nvSpPr>
        <p:spPr>
          <a:xfrm>
            <a:off x="989457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输入的干净副本可保留；输出预清理保护未覆盖字节，预失效清除旧副本。"/>
          <p:cNvSpPr txBox="1"/>
          <p:nvPr/>
        </p:nvSpPr>
        <p:spPr>
          <a:xfrm>
            <a:off x="346710" y="2063831"/>
            <a:ext cx="471525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输入的干净副本可保留；输出预清理保护未覆盖字节，预失效清除旧副本。</a:t>
            </a:r>
          </a:p>
        </p:txBody>
      </p:sp>
      <p:sp>
        <p:nvSpPr>
          <p:cNvPr id="31" name="next0"/>
          <p:cNvSpPr/>
          <p:nvPr/>
        </p:nvSpPr>
        <p:spPr>
          <a:xfrm>
            <a:off x="240030" y="157353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nel1"/>
          <p:cNvSpPr/>
          <p:nvPr/>
        </p:nvSpPr>
        <p:spPr>
          <a:xfrm>
            <a:off x="186690" y="272034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② 设备持有期间：DDR 与 GB 显式搬运"/>
          <p:cNvSpPr txBox="1"/>
          <p:nvPr/>
        </p:nvSpPr>
        <p:spPr>
          <a:xfrm>
            <a:off x="320040" y="2798216"/>
            <a:ext cx="29467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设备持有期间：DDR 与 GB 显式搬运</a:t>
            </a:r>
          </a:p>
        </p:txBody>
      </p:sp>
      <p:sp>
        <p:nvSpPr>
          <p:cNvPr id="34" name="r1b0"/>
          <p:cNvSpPr/>
          <p:nvPr/>
        </p:nvSpPr>
        <p:spPr>
          <a:xfrm>
            <a:off x="32004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DDR → GB"/>
          <p:cNvSpPr txBox="1"/>
          <p:nvPr/>
        </p:nvSpPr>
        <p:spPr>
          <a:xfrm>
            <a:off x="96806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</a:t>
            </a:r>
          </a:p>
        </p:txBody>
      </p:sp>
      <p:sp>
        <p:nvSpPr>
          <p:cNvPr id="36" name="text-036: 搬运器读取输入"/>
          <p:cNvSpPr txBox="1"/>
          <p:nvPr/>
        </p:nvSpPr>
        <p:spPr>
          <a:xfrm>
            <a:off x="87477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搬运器读取输入</a:t>
            </a:r>
          </a:p>
        </p:txBody>
      </p:sp>
      <p:sp>
        <p:nvSpPr>
          <p:cNvPr id="37" name="text-037: 经共享数据代理写 GB"/>
          <p:cNvSpPr txBox="1"/>
          <p:nvPr/>
        </p:nvSpPr>
        <p:spPr>
          <a:xfrm>
            <a:off x="709755" y="3654217"/>
            <a:ext cx="135416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经共享数据代理写 GB</a:t>
            </a:r>
          </a:p>
        </p:txBody>
      </p:sp>
      <p:sp>
        <p:nvSpPr>
          <p:cNvPr id="38" name="r1b1"/>
          <p:cNvSpPr/>
          <p:nvPr/>
        </p:nvSpPr>
        <p:spPr>
          <a:xfrm>
            <a:off x="280035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GB ready"/>
          <p:cNvSpPr txBox="1"/>
          <p:nvPr/>
        </p:nvSpPr>
        <p:spPr>
          <a:xfrm>
            <a:off x="3511814" y="3263555"/>
            <a:ext cx="7106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ready</a:t>
            </a:r>
          </a:p>
        </p:txBody>
      </p:sp>
      <p:sp>
        <p:nvSpPr>
          <p:cNvPr id="40" name="text-040: 数据完整后交给"/>
          <p:cNvSpPr txBox="1"/>
          <p:nvPr/>
        </p:nvSpPr>
        <p:spPr>
          <a:xfrm>
            <a:off x="335508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数据完整后交给</a:t>
            </a:r>
          </a:p>
        </p:txBody>
      </p:sp>
      <p:sp>
        <p:nvSpPr>
          <p:cNvPr id="41" name="text-041: NPU / Ara 消费"/>
          <p:cNvSpPr txBox="1"/>
          <p:nvPr/>
        </p:nvSpPr>
        <p:spPr>
          <a:xfrm>
            <a:off x="3374588" y="3654217"/>
            <a:ext cx="98512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Ara 消费</a:t>
            </a:r>
          </a:p>
        </p:txBody>
      </p:sp>
      <p:sp>
        <p:nvSpPr>
          <p:cNvPr id="42" name="r1e1"/>
          <p:cNvSpPr/>
          <p:nvPr/>
        </p:nvSpPr>
        <p:spPr>
          <a:xfrm>
            <a:off x="245364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1b2"/>
          <p:cNvSpPr/>
          <p:nvPr/>
        </p:nvSpPr>
        <p:spPr>
          <a:xfrm>
            <a:off x="528066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计算与分块复用"/>
          <p:cNvSpPr txBox="1"/>
          <p:nvPr/>
        </p:nvSpPr>
        <p:spPr>
          <a:xfrm>
            <a:off x="5771388" y="3263555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计算与分块复用</a:t>
            </a:r>
          </a:p>
        </p:txBody>
      </p:sp>
      <p:sp>
        <p:nvSpPr>
          <p:cNvPr id="45" name="text-045: 独立 SRAM 保存"/>
          <p:cNvSpPr txBox="1"/>
          <p:nvPr/>
        </p:nvSpPr>
        <p:spPr>
          <a:xfrm>
            <a:off x="5821519" y="3467527"/>
            <a:ext cx="105188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保存</a:t>
            </a:r>
          </a:p>
        </p:txBody>
      </p:sp>
      <p:sp>
        <p:nvSpPr>
          <p:cNvPr id="46" name="text-046: 当前任务的数据"/>
          <p:cNvSpPr txBox="1"/>
          <p:nvPr/>
        </p:nvSpPr>
        <p:spPr>
          <a:xfrm>
            <a:off x="5835396" y="365421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当前任务的数据</a:t>
            </a:r>
          </a:p>
        </p:txBody>
      </p:sp>
      <p:sp>
        <p:nvSpPr>
          <p:cNvPr id="47" name="r1e2"/>
          <p:cNvSpPr/>
          <p:nvPr/>
        </p:nvSpPr>
        <p:spPr>
          <a:xfrm>
            <a:off x="493395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1b3"/>
          <p:cNvSpPr/>
          <p:nvPr/>
        </p:nvSpPr>
        <p:spPr>
          <a:xfrm>
            <a:off x="776097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GB → DDR"/>
          <p:cNvSpPr txBox="1"/>
          <p:nvPr/>
        </p:nvSpPr>
        <p:spPr>
          <a:xfrm>
            <a:off x="840899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DDR</a:t>
            </a:r>
          </a:p>
        </p:txBody>
      </p:sp>
      <p:sp>
        <p:nvSpPr>
          <p:cNvPr id="50" name="text-050: 共享代理 → 搬运器"/>
          <p:cNvSpPr txBox="1"/>
          <p:nvPr/>
        </p:nvSpPr>
        <p:spPr>
          <a:xfrm>
            <a:off x="8213318" y="3467527"/>
            <a:ext cx="122890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共享代理 → 搬运器</a:t>
            </a:r>
          </a:p>
        </p:txBody>
      </p:sp>
      <p:sp>
        <p:nvSpPr>
          <p:cNvPr id="51" name="text-051: 按 WSTRB 更新输出"/>
          <p:cNvSpPr txBox="1"/>
          <p:nvPr/>
        </p:nvSpPr>
        <p:spPr>
          <a:xfrm>
            <a:off x="8202004" y="3654217"/>
            <a:ext cx="125153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WSTRB 更新输出</a:t>
            </a:r>
          </a:p>
        </p:txBody>
      </p:sp>
      <p:sp>
        <p:nvSpPr>
          <p:cNvPr id="52" name="r1e3"/>
          <p:cNvSpPr/>
          <p:nvPr/>
        </p:nvSpPr>
        <p:spPr>
          <a:xfrm>
            <a:off x="741426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1b4"/>
          <p:cNvSpPr/>
          <p:nvPr/>
        </p:nvSpPr>
        <p:spPr>
          <a:xfrm>
            <a:off x="1024128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设备完成"/>
          <p:cNvSpPr txBox="1"/>
          <p:nvPr/>
        </p:nvSpPr>
        <p:spPr>
          <a:xfrm>
            <a:off x="10948035" y="326355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设备完成</a:t>
            </a:r>
          </a:p>
        </p:txBody>
      </p:sp>
      <p:sp>
        <p:nvSpPr>
          <p:cNvPr id="55" name="text-055: 前端发布 / 跨口可见"/>
          <p:cNvSpPr txBox="1"/>
          <p:nvPr/>
        </p:nvSpPr>
        <p:spPr>
          <a:xfrm>
            <a:off x="10660374" y="3467527"/>
            <a:ext cx="12954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前端发布 / 跨口可见</a:t>
            </a:r>
          </a:p>
        </p:txBody>
      </p:sp>
      <p:sp>
        <p:nvSpPr>
          <p:cNvPr id="56" name="text-056: 返回任务身份与状态"/>
          <p:cNvSpPr txBox="1"/>
          <p:nvPr/>
        </p:nvSpPr>
        <p:spPr>
          <a:xfrm>
            <a:off x="10668000" y="365421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返回任务身份与状态</a:t>
            </a:r>
          </a:p>
        </p:txBody>
      </p:sp>
      <p:sp>
        <p:nvSpPr>
          <p:cNvPr id="57" name="r1e4"/>
          <p:cNvSpPr/>
          <p:nvPr/>
        </p:nvSpPr>
        <p:spPr>
          <a:xfrm>
            <a:off x="989457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CPU / Ara 的 DDR 冲突访问由任务协议限制；GB 内部交接由其独立的"/>
          <p:cNvSpPr txBox="1"/>
          <p:nvPr/>
        </p:nvSpPr>
        <p:spPr>
          <a:xfrm>
            <a:off x="346710" y="4037411"/>
            <a:ext cx="537688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的 DDR 冲突访问由任务协议限制；GB 内部交接由其独立的分块调度负责。</a:t>
            </a:r>
          </a:p>
        </p:txBody>
      </p:sp>
      <p:sp>
        <p:nvSpPr>
          <p:cNvPr id="59" name="next1"/>
          <p:cNvSpPr/>
          <p:nvPr/>
        </p:nvSpPr>
        <p:spPr>
          <a:xfrm>
            <a:off x="240030" y="354711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nel2"/>
          <p:cNvSpPr/>
          <p:nvPr/>
        </p:nvSpPr>
        <p:spPr>
          <a:xfrm>
            <a:off x="186690" y="469392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③ 消费前：硬件清除旧读副本，软件收回输出"/>
          <p:cNvSpPr txBox="1"/>
          <p:nvPr/>
        </p:nvSpPr>
        <p:spPr>
          <a:xfrm>
            <a:off x="320040" y="4771796"/>
            <a:ext cx="34083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消费前：硬件清除旧读副本，软件收回输出</a:t>
            </a:r>
          </a:p>
        </p:txBody>
      </p:sp>
      <p:sp>
        <p:nvSpPr>
          <p:cNvPr id="62" name="r2b0"/>
          <p:cNvSpPr/>
          <p:nvPr/>
        </p:nvSpPr>
        <p:spPr>
          <a:xfrm>
            <a:off x="32004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软件等待完成"/>
          <p:cNvSpPr txBox="1"/>
          <p:nvPr/>
        </p:nvSpPr>
        <p:spPr>
          <a:xfrm>
            <a:off x="882777" y="5237135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软件等待完成</a:t>
            </a:r>
          </a:p>
        </p:txBody>
      </p:sp>
      <p:sp>
        <p:nvSpPr>
          <p:cNvPr id="64" name="text-064: 核对任务与错误"/>
          <p:cNvSpPr txBox="1"/>
          <p:nvPr/>
        </p:nvSpPr>
        <p:spPr>
          <a:xfrm>
            <a:off x="874776" y="544110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核对任务与错误</a:t>
            </a:r>
          </a:p>
        </p:txBody>
      </p:sp>
      <p:sp>
        <p:nvSpPr>
          <p:cNvPr id="65" name="text-065: 请求输出范围同步"/>
          <p:cNvSpPr txBox="1"/>
          <p:nvPr/>
        </p:nvSpPr>
        <p:spPr>
          <a:xfrm>
            <a:off x="810768" y="562779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请求输出范围同步</a:t>
            </a:r>
          </a:p>
        </p:txBody>
      </p:sp>
      <p:sp>
        <p:nvSpPr>
          <p:cNvPr id="66" name="r2b1"/>
          <p:cNvSpPr/>
          <p:nvPr/>
        </p:nvSpPr>
        <p:spPr>
          <a:xfrm>
            <a:off x="280035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处理旧回填"/>
          <p:cNvSpPr txBox="1"/>
          <p:nvPr/>
        </p:nvSpPr>
        <p:spPr>
          <a:xfrm>
            <a:off x="343509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处理旧回填</a:t>
            </a:r>
          </a:p>
        </p:txBody>
      </p:sp>
      <p:sp>
        <p:nvSpPr>
          <p:cNvPr id="68" name="text-068: 排空相关旧响应"/>
          <p:cNvSpPr txBox="1"/>
          <p:nvPr/>
        </p:nvSpPr>
        <p:spPr>
          <a:xfrm>
            <a:off x="3355086" y="544110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排空相关旧响应</a:t>
            </a:r>
          </a:p>
        </p:txBody>
      </p:sp>
      <p:sp>
        <p:nvSpPr>
          <p:cNvPr id="69" name="text-069: 保护失效过程"/>
          <p:cNvSpPr txBox="1"/>
          <p:nvPr/>
        </p:nvSpPr>
        <p:spPr>
          <a:xfrm>
            <a:off x="3419094" y="562779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保护失效过程</a:t>
            </a:r>
          </a:p>
        </p:txBody>
      </p:sp>
      <p:sp>
        <p:nvSpPr>
          <p:cNvPr id="70" name="r2e1"/>
          <p:cNvSpPr/>
          <p:nvPr/>
        </p:nvSpPr>
        <p:spPr>
          <a:xfrm>
            <a:off x="245364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2b2"/>
          <p:cNvSpPr/>
          <p:nvPr/>
        </p:nvSpPr>
        <p:spPr>
          <a:xfrm>
            <a:off x="528066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L1D + LLC"/>
          <p:cNvSpPr txBox="1"/>
          <p:nvPr/>
        </p:nvSpPr>
        <p:spPr>
          <a:xfrm>
            <a:off x="5945851" y="5237135"/>
            <a:ext cx="80321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+ LLC</a:t>
            </a:r>
          </a:p>
        </p:txBody>
      </p:sp>
      <p:sp>
        <p:nvSpPr>
          <p:cNvPr id="73" name="text-073: 输出 invalidate"/>
          <p:cNvSpPr txBox="1"/>
          <p:nvPr/>
        </p:nvSpPr>
        <p:spPr>
          <a:xfrm>
            <a:off x="5869213" y="5441107"/>
            <a:ext cx="956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invalidate</a:t>
            </a:r>
          </a:p>
        </p:txBody>
      </p:sp>
      <p:sp>
        <p:nvSpPr>
          <p:cNvPr id="74" name="text-074: 收齐实际完成确认"/>
          <p:cNvSpPr txBox="1"/>
          <p:nvPr/>
        </p:nvSpPr>
        <p:spPr>
          <a:xfrm>
            <a:off x="5771388" y="562779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收齐实际完成确认</a:t>
            </a:r>
          </a:p>
        </p:txBody>
      </p:sp>
      <p:sp>
        <p:nvSpPr>
          <p:cNvPr id="75" name="r2e2"/>
          <p:cNvSpPr/>
          <p:nvPr/>
        </p:nvSpPr>
        <p:spPr>
          <a:xfrm>
            <a:off x="493395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2b3"/>
          <p:cNvSpPr/>
          <p:nvPr/>
        </p:nvSpPr>
        <p:spPr>
          <a:xfrm>
            <a:off x="776097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交还所有权"/>
          <p:cNvSpPr txBox="1"/>
          <p:nvPr/>
        </p:nvSpPr>
        <p:spPr>
          <a:xfrm>
            <a:off x="839571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交还所有权</a:t>
            </a:r>
          </a:p>
        </p:txBody>
      </p:sp>
      <p:sp>
        <p:nvSpPr>
          <p:cNvPr id="78" name="text-078: 建立完成到读取顺序"/>
          <p:cNvSpPr txBox="1"/>
          <p:nvPr/>
        </p:nvSpPr>
        <p:spPr>
          <a:xfrm>
            <a:off x="8187690" y="544110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建立完成到读取顺序</a:t>
            </a:r>
          </a:p>
        </p:txBody>
      </p:sp>
      <p:sp>
        <p:nvSpPr>
          <p:cNvPr id="79" name="text-079: 输出可由 CPU 访问"/>
          <p:cNvSpPr txBox="1"/>
          <p:nvPr/>
        </p:nvSpPr>
        <p:spPr>
          <a:xfrm>
            <a:off x="8224945" y="5627797"/>
            <a:ext cx="12056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输出可由 CPU 访问</a:t>
            </a:r>
          </a:p>
        </p:txBody>
      </p:sp>
      <p:sp>
        <p:nvSpPr>
          <p:cNvPr id="80" name="r2e3"/>
          <p:cNvSpPr/>
          <p:nvPr/>
        </p:nvSpPr>
        <p:spPr>
          <a:xfrm>
            <a:off x="741426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2b4"/>
          <p:cNvSpPr/>
          <p:nvPr/>
        </p:nvSpPr>
        <p:spPr>
          <a:xfrm>
            <a:off x="1024128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消费 / 复用"/>
          <p:cNvSpPr txBox="1"/>
          <p:nvPr/>
        </p:nvSpPr>
        <p:spPr>
          <a:xfrm>
            <a:off x="10867442" y="5237135"/>
            <a:ext cx="88127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消费 / 复用</a:t>
            </a:r>
          </a:p>
        </p:txBody>
      </p:sp>
      <p:sp>
        <p:nvSpPr>
          <p:cNvPr id="83" name="text-083: CPU 重新加载结果"/>
          <p:cNvSpPr txBox="1"/>
          <p:nvPr/>
        </p:nvSpPr>
        <p:spPr>
          <a:xfrm>
            <a:off x="10724445" y="544110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重新加载结果</a:t>
            </a:r>
          </a:p>
        </p:txBody>
      </p:sp>
      <p:sp>
        <p:nvSpPr>
          <p:cNvPr id="84" name="text-084: 最后消费者释放缓冲"/>
          <p:cNvSpPr txBox="1"/>
          <p:nvPr/>
        </p:nvSpPr>
        <p:spPr>
          <a:xfrm>
            <a:off x="10668000" y="562779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最后消费者释放缓冲</a:t>
            </a:r>
          </a:p>
        </p:txBody>
      </p:sp>
      <p:sp>
        <p:nvSpPr>
          <p:cNvPr id="85" name="r2e4"/>
          <p:cNvSpPr/>
          <p:nvPr/>
        </p:nvSpPr>
        <p:spPr>
          <a:xfrm>
            <a:off x="989457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超时或写错误时保留缓冲区；确认迟到事务排空或受控恢复完成后，再允许复用。"/>
          <p:cNvSpPr txBox="1"/>
          <p:nvPr/>
        </p:nvSpPr>
        <p:spPr>
          <a:xfrm>
            <a:off x="346710" y="6010991"/>
            <a:ext cx="513130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超时或写错误时保留缓冲区；确认迟到事务排空或受控恢复完成后，再允许复用。</a:t>
            </a:r>
          </a:p>
        </p:txBody>
      </p:sp>
      <p:sp>
        <p:nvSpPr>
          <p:cNvPr id="87" name="text-087: 紫色箭头：阶段顺序与完成依赖    绿色箭头：设备搬运与计算阶段    维护动作"/>
          <p:cNvSpPr txBox="1"/>
          <p:nvPr/>
        </p:nvSpPr>
        <p:spPr>
          <a:xfrm>
            <a:off x="293370" y="6565301"/>
            <a:ext cx="653821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紫色箭头：阶段顺序与完成依赖    绿色箭头：设备搬运与计算阶段    维护动作以目标物理范围为单位</a:t>
            </a:r>
          </a:p>
        </p:txBody>
      </p:sp>
      <p:sp>
        <p:nvSpPr>
          <p:cNvPr id="88" name="text-088: 仅整模型前后交接时，同步集中在推理两端；CPU 与设备交替处理分块时，同步放在实"/>
          <p:cNvSpPr txBox="1"/>
          <p:nvPr/>
        </p:nvSpPr>
        <p:spPr>
          <a:xfrm>
            <a:off x="293370" y="6832001"/>
            <a:ext cx="635381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仅整模型前后交接时，同步集中在推理两端；CPU 与设备交替处理分块时，同步放在实际交接点。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经 DDR 与缓存直供：数据路径和代价"/>
          <p:cNvSpPr txBox="1"/>
          <p:nvPr/>
        </p:nvSpPr>
        <p:spPr>
          <a:xfrm>
            <a:off x="266700" y="80650"/>
            <a:ext cx="3367563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 DDR 与缓存直供：数据路径和代价</a:t>
            </a:r>
          </a:p>
        </p:txBody>
      </p:sp>
      <p:sp>
        <p:nvSpPr>
          <p:cNvPr id="3" name="text-003: 比较场景：CPU 的最新数据在 LLC 脏行中，DMA 将该行搬入独立 GB。"/>
          <p:cNvSpPr txBox="1"/>
          <p:nvPr/>
        </p:nvSpPr>
        <p:spPr>
          <a:xfrm>
            <a:off x="266700" y="373807"/>
            <a:ext cx="412889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比较场景：CPU 的最新数据在 LLC 脏行中，DMA 将该行搬入独立 GB。</a:t>
            </a:r>
          </a:p>
        </p:txBody>
      </p:sp>
      <p:sp>
        <p:nvSpPr>
          <p:cNvPr id="4" name="cleanpanel"/>
          <p:cNvSpPr/>
          <p:nvPr/>
        </p:nvSpPr>
        <p:spPr>
          <a:xfrm>
            <a:off x="266700" y="773430"/>
            <a:ext cx="5974080" cy="4213860"/>
          </a:xfrm>
          <a:prstGeom prst="rect">
            <a:avLst/>
          </a:prstGeom>
          <a:solidFill>
            <a:srgbClr val="FAFBFC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本方案：经前端清理，再搬运"/>
          <p:cNvSpPr txBox="1"/>
          <p:nvPr/>
        </p:nvSpPr>
        <p:spPr>
          <a:xfrm>
            <a:off x="400050" y="833598"/>
            <a:ext cx="2538984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本方案：经前端清理，再搬运</a:t>
            </a:r>
          </a:p>
        </p:txBody>
      </p:sp>
      <p:sp>
        <p:nvSpPr>
          <p:cNvPr id="6" name="cleanprivate"/>
          <p:cNvSpPr/>
          <p:nvPr/>
        </p:nvSpPr>
        <p:spPr>
          <a:xfrm>
            <a:off x="480060" y="1573530"/>
            <a:ext cx="1280160" cy="4800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L1D / 写缓冲"/>
          <p:cNvSpPr txBox="1"/>
          <p:nvPr/>
        </p:nvSpPr>
        <p:spPr>
          <a:xfrm>
            <a:off x="624861" y="1711361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8" name="cleanllc"/>
          <p:cNvSpPr/>
          <p:nvPr/>
        </p:nvSpPr>
        <p:spPr>
          <a:xfrm>
            <a:off x="480060" y="2586990"/>
            <a:ext cx="128016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LLC"/>
          <p:cNvSpPr txBox="1"/>
          <p:nvPr/>
        </p:nvSpPr>
        <p:spPr>
          <a:xfrm>
            <a:off x="931537" y="2660813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0" name="text-010: 持有最新脏行"/>
          <p:cNvSpPr txBox="1"/>
          <p:nvPr/>
        </p:nvSpPr>
        <p:spPr>
          <a:xfrm>
            <a:off x="672084" y="286478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持有最新脏行</a:t>
            </a:r>
          </a:p>
        </p:txBody>
      </p:sp>
      <p:sp>
        <p:nvSpPr>
          <p:cNvPr id="11" name="cleancoord"/>
          <p:cNvSpPr/>
          <p:nvPr/>
        </p:nvSpPr>
        <p:spPr>
          <a:xfrm>
            <a:off x="2400300" y="1573530"/>
            <a:ext cx="3200400" cy="48006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缓存维护与协调"/>
          <p:cNvSpPr txBox="1"/>
          <p:nvPr/>
        </p:nvSpPr>
        <p:spPr>
          <a:xfrm>
            <a:off x="3424428" y="1620683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缓存维护与协调</a:t>
            </a:r>
          </a:p>
        </p:txBody>
      </p:sp>
      <p:sp>
        <p:nvSpPr>
          <p:cNvPr id="13" name="text-013: 软件交接 / 缓存维护 / 搬运准入与完成"/>
          <p:cNvSpPr txBox="1"/>
          <p:nvPr/>
        </p:nvSpPr>
        <p:spPr>
          <a:xfrm>
            <a:off x="2833104" y="1824655"/>
            <a:ext cx="23347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 / 缓存维护 / 搬运准入与完成</a:t>
            </a:r>
          </a:p>
        </p:txBody>
      </p:sp>
      <p:sp>
        <p:nvSpPr>
          <p:cNvPr id="14" name="cleanddr"/>
          <p:cNvSpPr/>
          <p:nvPr/>
        </p:nvSpPr>
        <p:spPr>
          <a:xfrm>
            <a:off x="480060" y="3867150"/>
            <a:ext cx="128016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DDR"/>
          <p:cNvSpPr txBox="1"/>
          <p:nvPr/>
        </p:nvSpPr>
        <p:spPr>
          <a:xfrm>
            <a:off x="908609" y="4004981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6" name="cleandma"/>
          <p:cNvSpPr/>
          <p:nvPr/>
        </p:nvSpPr>
        <p:spPr>
          <a:xfrm>
            <a:off x="240030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搬运器 / DMA"/>
          <p:cNvSpPr txBox="1"/>
          <p:nvPr/>
        </p:nvSpPr>
        <p:spPr>
          <a:xfrm>
            <a:off x="2524991" y="4004981"/>
            <a:ext cx="10307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 / DMA</a:t>
            </a:r>
          </a:p>
        </p:txBody>
      </p:sp>
      <p:sp>
        <p:nvSpPr>
          <p:cNvPr id="18" name="cleanproxy"/>
          <p:cNvSpPr/>
          <p:nvPr/>
        </p:nvSpPr>
        <p:spPr>
          <a:xfrm>
            <a:off x="432054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共享数据代理"/>
          <p:cNvSpPr txBox="1"/>
          <p:nvPr/>
        </p:nvSpPr>
        <p:spPr>
          <a:xfrm>
            <a:off x="4456557" y="400498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20" name="cleangb"/>
          <p:cNvSpPr/>
          <p:nvPr/>
        </p:nvSpPr>
        <p:spPr>
          <a:xfrm>
            <a:off x="4320540" y="2586990"/>
            <a:ext cx="1280160" cy="5334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GB"/>
          <p:cNvSpPr txBox="1"/>
          <p:nvPr/>
        </p:nvSpPr>
        <p:spPr>
          <a:xfrm>
            <a:off x="4796558" y="2660813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2" name="text-022: 独立 SRAM"/>
          <p:cNvSpPr txBox="1"/>
          <p:nvPr/>
        </p:nvSpPr>
        <p:spPr>
          <a:xfrm>
            <a:off x="4581885" y="2864785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23" name="cleanprivate-llc"/>
          <p:cNvSpPr/>
          <p:nvPr/>
        </p:nvSpPr>
        <p:spPr>
          <a:xfrm>
            <a:off x="1120140" y="2053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leanllc-ddr"/>
          <p:cNvSpPr/>
          <p:nvPr/>
        </p:nvSpPr>
        <p:spPr>
          <a:xfrm>
            <a:off x="112014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leanprobe-private"/>
          <p:cNvSpPr/>
          <p:nvPr/>
        </p:nvSpPr>
        <p:spPr>
          <a:xfrm>
            <a:off x="1760220" y="17068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64008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leanprobe-llc"/>
          <p:cNvSpPr/>
          <p:nvPr/>
        </p:nvSpPr>
        <p:spPr>
          <a:xfrm>
            <a:off x="1760220" y="1920240"/>
            <a:ext cx="640080" cy="853440"/>
          </a:xfrm>
          <a:custGeom>
            <a:avLst/>
            <a:gdLst/>
            <a:ahLst/>
            <a:cxnLst/>
            <a:rect l="0" t="0" r="r" b="b"/>
            <a:pathLst>
              <a:path w="640080" h="853440" fill="none">
                <a:moveTo>
                  <a:pt x="640080" y="0"/>
                </a:moveTo>
                <a:lnTo>
                  <a:pt x="213360" y="0"/>
                </a:lnTo>
                <a:lnTo>
                  <a:pt x="213360" y="853440"/>
                </a:lnTo>
                <a:lnTo>
                  <a:pt x="0" y="85344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leanadmit"/>
          <p:cNvSpPr/>
          <p:nvPr/>
        </p:nvSpPr>
        <p:spPr>
          <a:xfrm>
            <a:off x="3467100" y="2053590"/>
            <a:ext cx="1" cy="1813560"/>
          </a:xfrm>
          <a:custGeom>
            <a:avLst/>
            <a:gdLst/>
            <a:ahLst/>
            <a:cxnLst/>
            <a:rect l="0" t="0" r="r" b="b"/>
            <a:pathLst>
              <a:path w="1" h="1813560" fill="none">
                <a:moveTo>
                  <a:pt x="0" y="0"/>
                </a:moveTo>
                <a:lnTo>
                  <a:pt x="0" y="181356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leanclean-data"/>
          <p:cNvSpPr/>
          <p:nvPr/>
        </p:nvSpPr>
        <p:spPr>
          <a:xfrm>
            <a:off x="144018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leanddr-data"/>
          <p:cNvSpPr/>
          <p:nvPr/>
        </p:nvSpPr>
        <p:spPr>
          <a:xfrm>
            <a:off x="176022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② clean"/>
          <p:cNvSpPr txBox="1"/>
          <p:nvPr/>
        </p:nvSpPr>
        <p:spPr>
          <a:xfrm>
            <a:off x="1786890" y="3242219"/>
            <a:ext cx="66763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② clean</a:t>
            </a:r>
          </a:p>
        </p:txBody>
      </p:sp>
      <p:sp>
        <p:nvSpPr>
          <p:cNvPr id="31" name="text-031: 等待前端 / DDR 可见"/>
          <p:cNvSpPr txBox="1"/>
          <p:nvPr/>
        </p:nvSpPr>
        <p:spPr>
          <a:xfrm>
            <a:off x="1786890" y="3450245"/>
            <a:ext cx="149153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等待前端 / DDR 可见</a:t>
            </a:r>
          </a:p>
        </p:txBody>
      </p:sp>
      <p:sp>
        <p:nvSpPr>
          <p:cNvPr id="32" name="cleandma-proxy"/>
          <p:cNvSpPr/>
          <p:nvPr/>
        </p:nvSpPr>
        <p:spPr>
          <a:xfrm>
            <a:off x="368046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leanproxy-gb"/>
          <p:cNvSpPr/>
          <p:nvPr/>
        </p:nvSpPr>
        <p:spPr>
          <a:xfrm>
            <a:off x="496062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① 交接与缓存维护"/>
          <p:cNvSpPr txBox="1"/>
          <p:nvPr/>
        </p:nvSpPr>
        <p:spPr>
          <a:xfrm>
            <a:off x="3733800" y="2207423"/>
            <a:ext cx="133934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① 交接与缓存维护</a:t>
            </a:r>
          </a:p>
        </p:txBody>
      </p:sp>
      <p:sp>
        <p:nvSpPr>
          <p:cNvPr id="35" name="text-035: ③ 写入 GB"/>
          <p:cNvSpPr txBox="1"/>
          <p:nvPr/>
        </p:nvSpPr>
        <p:spPr>
          <a:xfrm>
            <a:off x="5120640" y="3306227"/>
            <a:ext cx="84653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③ 写入 GB</a:t>
            </a:r>
          </a:p>
        </p:txBody>
      </p:sp>
      <p:sp>
        <p:nvSpPr>
          <p:cNvPr id="36" name="text-036: 经共享前端供数；数据与元数据按逻辑地址发布。"/>
          <p:cNvSpPr txBox="1"/>
          <p:nvPr/>
        </p:nvSpPr>
        <p:spPr>
          <a:xfrm>
            <a:off x="400050" y="4496135"/>
            <a:ext cx="3189732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经共享前端供数；数据与元数据按逻辑地址发布。</a:t>
            </a:r>
          </a:p>
        </p:txBody>
      </p:sp>
      <p:sp>
        <p:nvSpPr>
          <p:cNvPr id="37" name="text-037: 设备不分配 LLC 行；GB 按任务显式管理。"/>
          <p:cNvSpPr txBox="1"/>
          <p:nvPr/>
        </p:nvSpPr>
        <p:spPr>
          <a:xfrm>
            <a:off x="400050" y="4714829"/>
            <a:ext cx="274552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 行；GB 按任务显式管理。</a:t>
            </a:r>
          </a:p>
        </p:txBody>
      </p:sp>
      <p:sp>
        <p:nvSpPr>
          <p:cNvPr id="38" name="supplypanel"/>
          <p:cNvSpPr/>
          <p:nvPr/>
        </p:nvSpPr>
        <p:spPr>
          <a:xfrm>
            <a:off x="6560820" y="773430"/>
            <a:ext cx="5974080" cy="4213860"/>
          </a:xfrm>
          <a:prstGeom prst="rect">
            <a:avLst/>
          </a:prstGeom>
          <a:solidFill>
            <a:srgbClr val="FAFBFC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比较项：缓存直供（本方案不采用）"/>
          <p:cNvSpPr txBox="1"/>
          <p:nvPr/>
        </p:nvSpPr>
        <p:spPr>
          <a:xfrm>
            <a:off x="6694170" y="833598"/>
            <a:ext cx="3083052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比较项：缓存直供（本方案不采用）</a:t>
            </a:r>
          </a:p>
        </p:txBody>
      </p:sp>
      <p:sp>
        <p:nvSpPr>
          <p:cNvPr id="40" name="supplyprivate"/>
          <p:cNvSpPr/>
          <p:nvPr/>
        </p:nvSpPr>
        <p:spPr>
          <a:xfrm>
            <a:off x="6774180" y="1573530"/>
            <a:ext cx="1280160" cy="4800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L1D / 写缓冲"/>
          <p:cNvSpPr txBox="1"/>
          <p:nvPr/>
        </p:nvSpPr>
        <p:spPr>
          <a:xfrm>
            <a:off x="6918981" y="1711361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42" name="supplyllc"/>
          <p:cNvSpPr/>
          <p:nvPr/>
        </p:nvSpPr>
        <p:spPr>
          <a:xfrm>
            <a:off x="6774180" y="2586990"/>
            <a:ext cx="128016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LC"/>
          <p:cNvSpPr txBox="1"/>
          <p:nvPr/>
        </p:nvSpPr>
        <p:spPr>
          <a:xfrm>
            <a:off x="7225657" y="2660813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4" name="text-044: 持有最新脏行"/>
          <p:cNvSpPr txBox="1"/>
          <p:nvPr/>
        </p:nvSpPr>
        <p:spPr>
          <a:xfrm>
            <a:off x="6966204" y="286478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持有最新脏行</a:t>
            </a:r>
          </a:p>
        </p:txBody>
      </p:sp>
      <p:sp>
        <p:nvSpPr>
          <p:cNvPr id="45" name="supplycoord"/>
          <p:cNvSpPr/>
          <p:nvPr/>
        </p:nvSpPr>
        <p:spPr>
          <a:xfrm>
            <a:off x="8694420" y="1573530"/>
            <a:ext cx="3200400" cy="48006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缓存维护与协调"/>
          <p:cNvSpPr txBox="1"/>
          <p:nvPr/>
        </p:nvSpPr>
        <p:spPr>
          <a:xfrm>
            <a:off x="9718548" y="1620683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缓存维护与协调</a:t>
            </a:r>
          </a:p>
        </p:txBody>
      </p:sp>
      <p:sp>
        <p:nvSpPr>
          <p:cNvPr id="47" name="text-047: 软件交接 / 缓存维护 / 搬运准入与完成"/>
          <p:cNvSpPr txBox="1"/>
          <p:nvPr/>
        </p:nvSpPr>
        <p:spPr>
          <a:xfrm>
            <a:off x="9127224" y="1824655"/>
            <a:ext cx="23347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 / 缓存维护 / 搬运准入与完成</a:t>
            </a:r>
          </a:p>
        </p:txBody>
      </p:sp>
      <p:sp>
        <p:nvSpPr>
          <p:cNvPr id="48" name="supplyddr"/>
          <p:cNvSpPr/>
          <p:nvPr/>
        </p:nvSpPr>
        <p:spPr>
          <a:xfrm>
            <a:off x="6774180" y="3867150"/>
            <a:ext cx="128016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DDR"/>
          <p:cNvSpPr txBox="1"/>
          <p:nvPr/>
        </p:nvSpPr>
        <p:spPr>
          <a:xfrm>
            <a:off x="7202729" y="4004981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50" name="supplydma"/>
          <p:cNvSpPr/>
          <p:nvPr/>
        </p:nvSpPr>
        <p:spPr>
          <a:xfrm>
            <a:off x="869442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搬运器 / DMA"/>
          <p:cNvSpPr txBox="1"/>
          <p:nvPr/>
        </p:nvSpPr>
        <p:spPr>
          <a:xfrm>
            <a:off x="8819111" y="4004981"/>
            <a:ext cx="10307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 / DMA</a:t>
            </a:r>
          </a:p>
        </p:txBody>
      </p:sp>
      <p:sp>
        <p:nvSpPr>
          <p:cNvPr id="52" name="supplyproxy"/>
          <p:cNvSpPr/>
          <p:nvPr/>
        </p:nvSpPr>
        <p:spPr>
          <a:xfrm>
            <a:off x="1061466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共享数据代理"/>
          <p:cNvSpPr txBox="1"/>
          <p:nvPr/>
        </p:nvSpPr>
        <p:spPr>
          <a:xfrm>
            <a:off x="10750677" y="400498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54" name="supplygb"/>
          <p:cNvSpPr/>
          <p:nvPr/>
        </p:nvSpPr>
        <p:spPr>
          <a:xfrm>
            <a:off x="10614660" y="2586990"/>
            <a:ext cx="1280160" cy="5334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GB"/>
          <p:cNvSpPr txBox="1"/>
          <p:nvPr/>
        </p:nvSpPr>
        <p:spPr>
          <a:xfrm>
            <a:off x="11090678" y="2660813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56" name="text-056: 独立 SRAM"/>
          <p:cNvSpPr txBox="1"/>
          <p:nvPr/>
        </p:nvSpPr>
        <p:spPr>
          <a:xfrm>
            <a:off x="10876005" y="2864785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57" name="supplyprivate-llc"/>
          <p:cNvSpPr/>
          <p:nvPr/>
        </p:nvSpPr>
        <p:spPr>
          <a:xfrm>
            <a:off x="7414260" y="2053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supplyllc-ddr"/>
          <p:cNvSpPr/>
          <p:nvPr/>
        </p:nvSpPr>
        <p:spPr>
          <a:xfrm>
            <a:off x="741426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supplyprobe-private"/>
          <p:cNvSpPr/>
          <p:nvPr/>
        </p:nvSpPr>
        <p:spPr>
          <a:xfrm>
            <a:off x="8054340" y="17068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64008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supplyprobe-llc"/>
          <p:cNvSpPr/>
          <p:nvPr/>
        </p:nvSpPr>
        <p:spPr>
          <a:xfrm>
            <a:off x="8054340" y="1920240"/>
            <a:ext cx="640080" cy="853440"/>
          </a:xfrm>
          <a:custGeom>
            <a:avLst/>
            <a:gdLst/>
            <a:ahLst/>
            <a:cxnLst/>
            <a:rect l="0" t="0" r="r" b="b"/>
            <a:pathLst>
              <a:path w="640080" h="853440" fill="none">
                <a:moveTo>
                  <a:pt x="640080" y="0"/>
                </a:moveTo>
                <a:lnTo>
                  <a:pt x="213360" y="0"/>
                </a:lnTo>
                <a:lnTo>
                  <a:pt x="213360" y="853440"/>
                </a:lnTo>
                <a:lnTo>
                  <a:pt x="0" y="85344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supplyadmit"/>
          <p:cNvSpPr/>
          <p:nvPr/>
        </p:nvSpPr>
        <p:spPr>
          <a:xfrm>
            <a:off x="9761220" y="2053590"/>
            <a:ext cx="1" cy="1813560"/>
          </a:xfrm>
          <a:custGeom>
            <a:avLst/>
            <a:gdLst/>
            <a:ahLst/>
            <a:cxnLst/>
            <a:rect l="0" t="0" r="r" b="b"/>
            <a:pathLst>
              <a:path w="1" h="1813560" fill="none">
                <a:moveTo>
                  <a:pt x="0" y="0"/>
                </a:moveTo>
                <a:lnTo>
                  <a:pt x="0" y="181356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supplyddr-fallback"/>
          <p:cNvSpPr/>
          <p:nvPr/>
        </p:nvSpPr>
        <p:spPr>
          <a:xfrm>
            <a:off x="8054340" y="424053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supplycache-data"/>
          <p:cNvSpPr/>
          <p:nvPr/>
        </p:nvSpPr>
        <p:spPr>
          <a:xfrm>
            <a:off x="8054340" y="2960370"/>
            <a:ext cx="1280160" cy="906780"/>
          </a:xfrm>
          <a:custGeom>
            <a:avLst/>
            <a:gdLst/>
            <a:ahLst/>
            <a:cxnLst/>
            <a:rect l="0" t="0" r="r" b="b"/>
            <a:pathLst>
              <a:path w="1280160" h="906780" fill="none">
                <a:moveTo>
                  <a:pt x="0" y="0"/>
                </a:moveTo>
                <a:lnTo>
                  <a:pt x="426720" y="0"/>
                </a:lnTo>
                <a:lnTo>
                  <a:pt x="426720" y="586740"/>
                </a:lnTo>
                <a:lnTo>
                  <a:pt x="1280160" y="586740"/>
                </a:lnTo>
                <a:lnTo>
                  <a:pt x="1280160" y="90678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② 最新数据"/>
          <p:cNvSpPr txBox="1"/>
          <p:nvPr/>
        </p:nvSpPr>
        <p:spPr>
          <a:xfrm>
            <a:off x="8587740" y="3210215"/>
            <a:ext cx="90728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② 最新数据</a:t>
            </a:r>
          </a:p>
        </p:txBody>
      </p:sp>
      <p:sp>
        <p:nvSpPr>
          <p:cNvPr id="65" name="text-065: DDR 可暂时保留旧值；由 LLC 提供本次读数据。"/>
          <p:cNvSpPr txBox="1"/>
          <p:nvPr/>
        </p:nvSpPr>
        <p:spPr>
          <a:xfrm>
            <a:off x="6694170" y="4496135"/>
            <a:ext cx="3114314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可暂时保留旧值；由 LLC 提供本次读数据。</a:t>
            </a:r>
          </a:p>
        </p:txBody>
      </p:sp>
      <p:sp>
        <p:nvSpPr>
          <p:cNvPr id="66" name="supplydma-proxy"/>
          <p:cNvSpPr/>
          <p:nvPr/>
        </p:nvSpPr>
        <p:spPr>
          <a:xfrm>
            <a:off x="997458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supplyproxy-gb"/>
          <p:cNvSpPr/>
          <p:nvPr/>
        </p:nvSpPr>
        <p:spPr>
          <a:xfrm>
            <a:off x="1125474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① 交接与缓存维护"/>
          <p:cNvSpPr txBox="1"/>
          <p:nvPr/>
        </p:nvSpPr>
        <p:spPr>
          <a:xfrm>
            <a:off x="10027920" y="2207423"/>
            <a:ext cx="133934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① 交接与缓存维护</a:t>
            </a:r>
          </a:p>
        </p:txBody>
      </p:sp>
      <p:sp>
        <p:nvSpPr>
          <p:cNvPr id="69" name="text-069: ③ 写入 GB"/>
          <p:cNvSpPr txBox="1"/>
          <p:nvPr/>
        </p:nvSpPr>
        <p:spPr>
          <a:xfrm>
            <a:off x="11414760" y="3306227"/>
            <a:ext cx="84653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③ 写入 GB</a:t>
            </a:r>
          </a:p>
        </p:txBody>
      </p:sp>
      <p:sp>
        <p:nvSpPr>
          <p:cNvPr id="70" name="text-070: 设备不分配 LLC 行；GB 按任务显式管理。"/>
          <p:cNvSpPr txBox="1"/>
          <p:nvPr/>
        </p:nvSpPr>
        <p:spPr>
          <a:xfrm>
            <a:off x="6694170" y="4714829"/>
            <a:ext cx="274552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 行；GB 按任务显式管理。</a:t>
            </a:r>
          </a:p>
        </p:txBody>
      </p:sp>
      <p:sp>
        <p:nvSpPr>
          <p:cNvPr id="71" name="text-071: 本方案的输出交接：先保护旧字节，最后清除旧读副本"/>
          <p:cNvSpPr txBox="1"/>
          <p:nvPr/>
        </p:nvSpPr>
        <p:spPr>
          <a:xfrm>
            <a:off x="293370" y="5128321"/>
            <a:ext cx="42672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本方案的输出交接：先保护旧字节，最后清除旧读副本</a:t>
            </a:r>
          </a:p>
        </p:txBody>
      </p:sp>
      <p:sp>
        <p:nvSpPr>
          <p:cNvPr id="72" name="write0"/>
          <p:cNvSpPr/>
          <p:nvPr/>
        </p:nvSpPr>
        <p:spPr>
          <a:xfrm>
            <a:off x="29337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交接目标范围"/>
          <p:cNvSpPr txBox="1"/>
          <p:nvPr/>
        </p:nvSpPr>
        <p:spPr>
          <a:xfrm>
            <a:off x="869442" y="568519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交接目标范围</a:t>
            </a:r>
          </a:p>
        </p:txBody>
      </p:sp>
      <p:sp>
        <p:nvSpPr>
          <p:cNvPr id="74" name="write1"/>
          <p:cNvSpPr/>
          <p:nvPr/>
        </p:nvSpPr>
        <p:spPr>
          <a:xfrm>
            <a:off x="277368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写前清理与失效"/>
          <p:cNvSpPr txBox="1"/>
          <p:nvPr/>
        </p:nvSpPr>
        <p:spPr>
          <a:xfrm>
            <a:off x="3277743" y="5685191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写前清理与失效</a:t>
            </a:r>
          </a:p>
        </p:txBody>
      </p:sp>
      <p:sp>
        <p:nvSpPr>
          <p:cNvPr id="76" name="write-seq1"/>
          <p:cNvSpPr/>
          <p:nvPr/>
        </p:nvSpPr>
        <p:spPr>
          <a:xfrm>
            <a:off x="245364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write2"/>
          <p:cNvSpPr/>
          <p:nvPr/>
        </p:nvSpPr>
        <p:spPr>
          <a:xfrm>
            <a:off x="525399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GB → DDR"/>
          <p:cNvSpPr txBox="1"/>
          <p:nvPr/>
        </p:nvSpPr>
        <p:spPr>
          <a:xfrm>
            <a:off x="5915352" y="5685191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DDR</a:t>
            </a:r>
          </a:p>
        </p:txBody>
      </p:sp>
      <p:sp>
        <p:nvSpPr>
          <p:cNvPr id="79" name="write-seq2"/>
          <p:cNvSpPr/>
          <p:nvPr/>
        </p:nvSpPr>
        <p:spPr>
          <a:xfrm>
            <a:off x="493395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write3"/>
          <p:cNvSpPr/>
          <p:nvPr/>
        </p:nvSpPr>
        <p:spPr>
          <a:xfrm>
            <a:off x="7734300" y="5547360"/>
            <a:ext cx="216027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写后失效确认"/>
          <p:cNvSpPr txBox="1"/>
          <p:nvPr/>
        </p:nvSpPr>
        <p:spPr>
          <a:xfrm>
            <a:off x="8310372" y="568519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写后失效确认</a:t>
            </a:r>
          </a:p>
        </p:txBody>
      </p:sp>
      <p:sp>
        <p:nvSpPr>
          <p:cNvPr id="82" name="write-seq3"/>
          <p:cNvSpPr/>
          <p:nvPr/>
        </p:nvSpPr>
        <p:spPr>
          <a:xfrm>
            <a:off x="741426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write4"/>
          <p:cNvSpPr/>
          <p:nvPr/>
        </p:nvSpPr>
        <p:spPr>
          <a:xfrm>
            <a:off x="1021461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CPU 获取结果"/>
          <p:cNvSpPr txBox="1"/>
          <p:nvPr/>
        </p:nvSpPr>
        <p:spPr>
          <a:xfrm>
            <a:off x="10782173" y="5685191"/>
            <a:ext cx="102514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获取结果</a:t>
            </a:r>
          </a:p>
        </p:txBody>
      </p:sp>
      <p:sp>
        <p:nvSpPr>
          <p:cNvPr id="85" name="write-seq4"/>
          <p:cNvSpPr/>
          <p:nvPr/>
        </p:nvSpPr>
        <p:spPr>
          <a:xfrm>
            <a:off x="989457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N + D 为上游逻辑字节；DDR 实际字节另计压缩、元数据及部分块处理。"/>
          <p:cNvSpPr txBox="1"/>
          <p:nvPr/>
        </p:nvSpPr>
        <p:spPr>
          <a:xfrm>
            <a:off x="293370" y="6185306"/>
            <a:ext cx="528940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 + D 为上游逻辑字节；DDR 实际字节另计压缩、元数据及部分块处理。</a:t>
            </a:r>
          </a:p>
        </p:txBody>
      </p:sp>
      <p:sp>
        <p:nvSpPr>
          <p:cNvPr id="87" name="text-087: 当前规划采用左侧路径；右侧用于成本比较。软件保持交接范围的所有权，硬件完成维护。"/>
          <p:cNvSpPr txBox="1"/>
          <p:nvPr/>
        </p:nvSpPr>
        <p:spPr>
          <a:xfrm>
            <a:off x="293370" y="6441338"/>
            <a:ext cx="65608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当前规划采用左侧路径；右侧用于成本比较。软件保持交接范围的所有权，硬件完成维护。</a:t>
            </a:r>
          </a:p>
        </p:txBody>
      </p:sp>
      <p:sp>
        <p:nvSpPr>
          <p:cNvPr id="88" name="text-088: 蓝灰：常规访存 / 后备路径    绿色：本场景的数据    紫色：控制与确认 "/>
          <p:cNvSpPr txBox="1"/>
          <p:nvPr/>
        </p:nvSpPr>
        <p:spPr>
          <a:xfrm>
            <a:off x="293370" y="6790182"/>
            <a:ext cx="609635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蓝灰：常规访存 / 后备路径    绿色：本场景的数据    紫色：控制与确认    虚线框：待实现的维护职责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① 交接方式：软件发起，缓存维护由谁执行"/>
          <p:cNvSpPr txBox="1"/>
          <p:nvPr/>
        </p:nvSpPr>
        <p:spPr>
          <a:xfrm>
            <a:off x="381000" y="115214"/>
            <a:ext cx="5568648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交接方式：软件发起，缓存维护由谁执行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A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软件维护 + 非一致性 DMA"/>
          <p:cNvSpPr txBox="1"/>
          <p:nvPr/>
        </p:nvSpPr>
        <p:spPr>
          <a:xfrm>
            <a:off x="381000" y="1025652"/>
            <a:ext cx="313096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软件维护 + 非一致性 DMA</a:t>
            </a:r>
          </a:p>
        </p:txBody>
      </p:sp>
      <p:sp>
        <p:nvSpPr>
          <p:cNvPr id="6" name="text-006: 软件维护全层次；硬件直接访问内存"/>
          <p:cNvSpPr txBox="1"/>
          <p:nvPr/>
        </p:nvSpPr>
        <p:spPr>
          <a:xfrm>
            <a:off x="381000" y="1380439"/>
            <a:ext cx="297942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软件维护全层次；硬件直接访问内存</a:t>
            </a:r>
          </a:p>
        </p:txBody>
      </p:sp>
      <p:sp>
        <p:nvSpPr>
          <p:cNvPr id="7" name="A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A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A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A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A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A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A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A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A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A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A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普通互连"/>
          <p:cNvSpPr txBox="1"/>
          <p:nvPr/>
        </p:nvSpPr>
        <p:spPr>
          <a:xfrm>
            <a:off x="4171950" y="4315511"/>
            <a:ext cx="10287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普通互连</a:t>
            </a:r>
          </a:p>
        </p:txBody>
      </p:sp>
      <p:sp>
        <p:nvSpPr>
          <p:cNvPr id="29" name="text-029: 软件交接"/>
          <p:cNvSpPr txBox="1"/>
          <p:nvPr/>
        </p:nvSpPr>
        <p:spPr>
          <a:xfrm>
            <a:off x="42291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</a:t>
            </a:r>
          </a:p>
        </p:txBody>
      </p:sp>
      <p:sp>
        <p:nvSpPr>
          <p:cNvPr id="30" name="Adevice-ddr"/>
          <p:cNvSpPr/>
          <p:nvPr/>
        </p:nvSpPr>
        <p:spPr>
          <a:xfrm>
            <a:off x="4686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driver"/>
          <p:cNvSpPr/>
          <p:nvPr/>
        </p:nvSpPr>
        <p:spPr>
          <a:xfrm>
            <a:off x="25146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驱动"/>
          <p:cNvSpPr txBox="1"/>
          <p:nvPr/>
        </p:nvSpPr>
        <p:spPr>
          <a:xfrm>
            <a:off x="28536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33" name="Asw-private"/>
          <p:cNvSpPr/>
          <p:nvPr/>
        </p:nvSpPr>
        <p:spPr>
          <a:xfrm>
            <a:off x="2171700" y="2034540"/>
            <a:ext cx="342900" cy="845820"/>
          </a:xfrm>
          <a:custGeom>
            <a:avLst/>
            <a:gdLst/>
            <a:ahLst/>
            <a:cxnLst/>
            <a:rect l="0" t="0" r="r" b="b"/>
            <a:pathLst>
              <a:path w="342900" h="845820" fill="none">
                <a:moveTo>
                  <a:pt x="342900" y="0"/>
                </a:moveTo>
                <a:lnTo>
                  <a:pt x="190500" y="0"/>
                </a:lnTo>
                <a:lnTo>
                  <a:pt x="190500" y="845820"/>
                </a:lnTo>
                <a:lnTo>
                  <a:pt x="0" y="84582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sw-llc"/>
          <p:cNvSpPr/>
          <p:nvPr/>
        </p:nvSpPr>
        <p:spPr>
          <a:xfrm>
            <a:off x="2171700" y="2247900"/>
            <a:ext cx="990600" cy="2476500"/>
          </a:xfrm>
          <a:custGeom>
            <a:avLst/>
            <a:gdLst/>
            <a:ahLst/>
            <a:cxnLst/>
            <a:rect l="0" t="0" r="r" b="b"/>
            <a:pathLst>
              <a:path w="990600" h="2476500" fill="none">
                <a:moveTo>
                  <a:pt x="990600" y="0"/>
                </a:moveTo>
                <a:lnTo>
                  <a:pt x="990600" y="2476500"/>
                </a:lnTo>
                <a:lnTo>
                  <a:pt x="0" y="247650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交接前后由软件 clean / invalidate"/>
          <p:cNvSpPr txBox="1"/>
          <p:nvPr/>
        </p:nvSpPr>
        <p:spPr>
          <a:xfrm>
            <a:off x="381000" y="6005779"/>
            <a:ext cx="2791337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交接前后由软件 clean / invalidate</a:t>
            </a:r>
          </a:p>
        </p:txBody>
      </p:sp>
      <p:sp>
        <p:nvSpPr>
          <p:cNvPr id="36" name="text-036: 设备直访 DDR；交接区限制冲突访问"/>
          <p:cNvSpPr txBox="1"/>
          <p:nvPr/>
        </p:nvSpPr>
        <p:spPr>
          <a:xfrm>
            <a:off x="381000" y="6249619"/>
            <a:ext cx="3021009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设备直访 DDR；交接区限制冲突访问</a:t>
            </a:r>
          </a:p>
        </p:txBody>
      </p:sp>
      <p:sp>
        <p:nvSpPr>
          <p:cNvPr id="37" name="B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B  软硬件协同范围维护"/>
          <p:cNvSpPr txBox="1"/>
          <p:nvPr/>
        </p:nvSpPr>
        <p:spPr>
          <a:xfrm>
            <a:off x="6705600" y="1025652"/>
            <a:ext cx="2564606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软硬件协同范围维护</a:t>
            </a:r>
          </a:p>
        </p:txBody>
      </p:sp>
      <p:sp>
        <p:nvSpPr>
          <p:cNvPr id="39" name="text-039: 软件触发批量维护；传输期保持范围所有权"/>
          <p:cNvSpPr txBox="1"/>
          <p:nvPr/>
        </p:nvSpPr>
        <p:spPr>
          <a:xfrm>
            <a:off x="6705600" y="1380439"/>
            <a:ext cx="350520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软件触发批量维护；传输期保持范围所有权</a:t>
            </a:r>
          </a:p>
        </p:txBody>
      </p:sp>
      <p:sp>
        <p:nvSpPr>
          <p:cNvPr id="40" name="B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2" name="B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4" name="text-044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5" name="B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7" name="text-047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8" name="B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50" name="B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2" name="text-052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3" name="B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5" name="B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B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Bdma-fabric"/>
          <p:cNvSpPr/>
          <p:nvPr/>
        </p:nvSpPr>
        <p:spPr>
          <a:xfrm>
            <a:off x="113157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维护 / 准入引擎"/>
          <p:cNvSpPr txBox="1"/>
          <p:nvPr/>
        </p:nvSpPr>
        <p:spPr>
          <a:xfrm>
            <a:off x="10175677" y="4315511"/>
            <a:ext cx="1670447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维护 / 准入引擎</a:t>
            </a:r>
          </a:p>
        </p:txBody>
      </p:sp>
      <p:sp>
        <p:nvSpPr>
          <p:cNvPr id="62" name="text-062: 搬运边界"/>
          <p:cNvSpPr txBox="1"/>
          <p:nvPr/>
        </p:nvSpPr>
        <p:spPr>
          <a:xfrm>
            <a:off x="105537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搬运边界</a:t>
            </a:r>
          </a:p>
        </p:txBody>
      </p:sp>
      <p:sp>
        <p:nvSpPr>
          <p:cNvPr id="63" name="Bdevice-ddr"/>
          <p:cNvSpPr/>
          <p:nvPr/>
        </p:nvSpPr>
        <p:spPr>
          <a:xfrm>
            <a:off x="110109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软件交接所有权；硬件排空、维护并确认"/>
          <p:cNvSpPr txBox="1"/>
          <p:nvPr/>
        </p:nvSpPr>
        <p:spPr>
          <a:xfrm>
            <a:off x="6705600" y="6005779"/>
            <a:ext cx="33299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软件交接所有权；硬件排空、维护并确认</a:t>
            </a:r>
          </a:p>
        </p:txBody>
      </p:sp>
      <p:sp>
        <p:nvSpPr>
          <p:cNvPr id="67" name="text-067: 本项目方向：按缓冲区 / 分块批量同步"/>
          <p:cNvSpPr txBox="1"/>
          <p:nvPr/>
        </p:nvSpPr>
        <p:spPr>
          <a:xfrm>
            <a:off x="6705600" y="6249619"/>
            <a:ext cx="3175564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本项目方向：按缓冲区 / 分块批量同步</a:t>
            </a:r>
          </a:p>
        </p:txBody>
      </p:sp>
      <p:sp>
        <p:nvSpPr>
          <p:cNvPr id="68" name="text-068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  <p:sp>
        <p:nvSpPr>
          <p:cNvPr id="69" name="Bdriver"/>
          <p:cNvSpPr/>
          <p:nvPr/>
        </p:nvSpPr>
        <p:spPr>
          <a:xfrm>
            <a:off x="88392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驱动"/>
          <p:cNvSpPr txBox="1"/>
          <p:nvPr/>
        </p:nvSpPr>
        <p:spPr>
          <a:xfrm>
            <a:off x="91782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71" name="Bsoftware-submit"/>
          <p:cNvSpPr/>
          <p:nvPr/>
        </p:nvSpPr>
        <p:spPr>
          <a:xfrm>
            <a:off x="9486900" y="2247900"/>
            <a:ext cx="1524000" cy="2019300"/>
          </a:xfrm>
          <a:custGeom>
            <a:avLst/>
            <a:gdLst/>
            <a:ahLst/>
            <a:cxnLst/>
            <a:rect l="0" t="0" r="r" b="b"/>
            <a:pathLst>
              <a:path w="1524000" h="2019300" fill="none">
                <a:moveTo>
                  <a:pt x="0" y="0"/>
                </a:moveTo>
                <a:lnTo>
                  <a:pt x="0" y="1752600"/>
                </a:lnTo>
                <a:lnTo>
                  <a:pt x="1524000" y="1752600"/>
                </a:lnTo>
                <a:lnTo>
                  <a:pt x="1524000" y="201930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② 协调范围：只到 LLC，还是覆盖 CPU 私有缓存"/>
          <p:cNvSpPr txBox="1"/>
          <p:nvPr/>
        </p:nvSpPr>
        <p:spPr>
          <a:xfrm>
            <a:off x="381000" y="115214"/>
            <a:ext cx="620974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协调范围：只到 LLC，还是覆盖 CPU 私有缓存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C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  LLC-coherent DMA"/>
          <p:cNvSpPr txBox="1"/>
          <p:nvPr/>
        </p:nvSpPr>
        <p:spPr>
          <a:xfrm>
            <a:off x="381000" y="1025652"/>
            <a:ext cx="2352068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LLC-coherent DMA</a:t>
            </a:r>
          </a:p>
        </p:txBody>
      </p:sp>
      <p:sp>
        <p:nvSpPr>
          <p:cNvPr id="6" name="text-006: LLC 硬件协调；CPU 私有缓存仍需软件维护"/>
          <p:cNvSpPr txBox="1"/>
          <p:nvPr/>
        </p:nvSpPr>
        <p:spPr>
          <a:xfrm>
            <a:off x="381000" y="1380439"/>
            <a:ext cx="3511713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硬件协调；CPU 私有缓存仍需软件维护</a:t>
            </a:r>
          </a:p>
        </p:txBody>
      </p:sp>
      <p:sp>
        <p:nvSpPr>
          <p:cNvPr id="7" name="C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C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C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C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C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C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C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LLC 接入"/>
          <p:cNvSpPr txBox="1"/>
          <p:nvPr/>
        </p:nvSpPr>
        <p:spPr>
          <a:xfrm>
            <a:off x="4180284" y="4315511"/>
            <a:ext cx="1012031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接入</a:t>
            </a:r>
          </a:p>
        </p:txBody>
      </p:sp>
      <p:sp>
        <p:nvSpPr>
          <p:cNvPr id="29" name="text-029: 局部协调"/>
          <p:cNvSpPr txBox="1"/>
          <p:nvPr/>
        </p:nvSpPr>
        <p:spPr>
          <a:xfrm>
            <a:off x="42291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局部协调</a:t>
            </a:r>
          </a:p>
        </p:txBody>
      </p:sp>
      <p:sp>
        <p:nvSpPr>
          <p:cNvPr id="30" name="Cdevice-llc"/>
          <p:cNvSpPr/>
          <p:nvPr/>
        </p:nvSpPr>
        <p:spPr>
          <a:xfrm>
            <a:off x="21717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driver"/>
          <p:cNvSpPr/>
          <p:nvPr/>
        </p:nvSpPr>
        <p:spPr>
          <a:xfrm>
            <a:off x="25146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驱动"/>
          <p:cNvSpPr txBox="1"/>
          <p:nvPr/>
        </p:nvSpPr>
        <p:spPr>
          <a:xfrm>
            <a:off x="28536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33" name="Csw-private"/>
          <p:cNvSpPr/>
          <p:nvPr/>
        </p:nvSpPr>
        <p:spPr>
          <a:xfrm>
            <a:off x="2171700" y="2034540"/>
            <a:ext cx="342900" cy="845820"/>
          </a:xfrm>
          <a:custGeom>
            <a:avLst/>
            <a:gdLst/>
            <a:ahLst/>
            <a:cxnLst/>
            <a:rect l="0" t="0" r="r" b="b"/>
            <a:pathLst>
              <a:path w="342900" h="845820" fill="none">
                <a:moveTo>
                  <a:pt x="342900" y="0"/>
                </a:moveTo>
                <a:lnTo>
                  <a:pt x="190500" y="0"/>
                </a:lnTo>
                <a:lnTo>
                  <a:pt x="190500" y="845820"/>
                </a:lnTo>
                <a:lnTo>
                  <a:pt x="0" y="84582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CPU 私有缓存由软件维护"/>
          <p:cNvSpPr txBox="1"/>
          <p:nvPr/>
        </p:nvSpPr>
        <p:spPr>
          <a:xfrm>
            <a:off x="381000" y="6005779"/>
            <a:ext cx="2123837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私有缓存由软件维护</a:t>
            </a:r>
          </a:p>
        </p:txBody>
      </p:sp>
      <p:sp>
        <p:nvSpPr>
          <p:cNvPr id="35" name="text-035: LLC 可供数；设备访问经过 LLC"/>
          <p:cNvSpPr txBox="1"/>
          <p:nvPr/>
        </p:nvSpPr>
        <p:spPr>
          <a:xfrm>
            <a:off x="381000" y="6249619"/>
            <a:ext cx="260049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可供数；设备访问经过 LLC</a:t>
            </a:r>
          </a:p>
        </p:txBody>
      </p:sp>
      <p:sp>
        <p:nvSpPr>
          <p:cNvPr id="36" name="D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D  I/O 一致性 · 分配缓存行"/>
          <p:cNvSpPr txBox="1"/>
          <p:nvPr/>
        </p:nvSpPr>
        <p:spPr>
          <a:xfrm>
            <a:off x="6705600" y="1025652"/>
            <a:ext cx="293428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  I/O 一致性 · 分配缓存行</a:t>
            </a:r>
          </a:p>
        </p:txBody>
      </p:sp>
      <p:sp>
        <p:nvSpPr>
          <p:cNvPr id="38" name="text-038: CPU 缓存由硬件协调；允许设备分配 LLC"/>
          <p:cNvSpPr txBox="1"/>
          <p:nvPr/>
        </p:nvSpPr>
        <p:spPr>
          <a:xfrm>
            <a:off x="6705600" y="1380439"/>
            <a:ext cx="3336453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缓存由硬件协调；允许设备分配 LLC</a:t>
            </a:r>
          </a:p>
        </p:txBody>
      </p:sp>
      <p:sp>
        <p:nvSpPr>
          <p:cNvPr id="39" name="D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1" name="D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3" name="text-043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4" name="D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6" name="text-046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7" name="D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49" name="D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1" name="text-051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2" name="D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4" name="D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D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D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D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Ddma-fabric"/>
          <p:cNvSpPr/>
          <p:nvPr/>
        </p:nvSpPr>
        <p:spPr>
          <a:xfrm>
            <a:off x="113157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D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一致性协调点"/>
          <p:cNvSpPr txBox="1"/>
          <p:nvPr/>
        </p:nvSpPr>
        <p:spPr>
          <a:xfrm>
            <a:off x="10290810" y="431551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61" name="text-061: 含缓存分配"/>
          <p:cNvSpPr txBox="1"/>
          <p:nvPr/>
        </p:nvSpPr>
        <p:spPr>
          <a:xfrm>
            <a:off x="104622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含缓存分配</a:t>
            </a:r>
          </a:p>
        </p:txBody>
      </p:sp>
      <p:sp>
        <p:nvSpPr>
          <p:cNvPr id="62" name="Ddevice-llc"/>
          <p:cNvSpPr/>
          <p:nvPr/>
        </p:nvSpPr>
        <p:spPr>
          <a:xfrm>
            <a:off x="84963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D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D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硬件协调 CPU 私有缓存和 LLC"/>
          <p:cNvSpPr txBox="1"/>
          <p:nvPr/>
        </p:nvSpPr>
        <p:spPr>
          <a:xfrm>
            <a:off x="6705600" y="6005779"/>
            <a:ext cx="2512695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硬件协调 CPU 私有缓存和 LLC</a:t>
            </a:r>
          </a:p>
        </p:txBody>
      </p:sp>
      <p:sp>
        <p:nvSpPr>
          <p:cNvPr id="66" name="text-066: 设备可分配 LLC 行，利用片上复用"/>
          <p:cNvSpPr txBox="1"/>
          <p:nvPr/>
        </p:nvSpPr>
        <p:spPr>
          <a:xfrm>
            <a:off x="6705600" y="6249619"/>
            <a:ext cx="284249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设备可分配 LLC 行，利用片上复用</a:t>
            </a:r>
          </a:p>
        </p:txBody>
      </p:sp>
      <p:sp>
        <p:nvSpPr>
          <p:cNvPr id="67" name="text-067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③ 分配策略与设备缓存：区分两个分类维度"/>
          <p:cNvSpPr txBox="1"/>
          <p:nvPr/>
        </p:nvSpPr>
        <p:spPr>
          <a:xfrm>
            <a:off x="381000" y="115214"/>
            <a:ext cx="5568648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分配策略与设备缓存：区分两个分类维度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E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5FAF7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E  I/O 一致性 · 不分配 LLC"/>
          <p:cNvSpPr txBox="1"/>
          <p:nvPr/>
        </p:nvSpPr>
        <p:spPr>
          <a:xfrm>
            <a:off x="381000" y="1025652"/>
            <a:ext cx="289299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  I/O 一致性 · 不分配 LLC</a:t>
            </a:r>
          </a:p>
        </p:txBody>
      </p:sp>
      <p:sp>
        <p:nvSpPr>
          <p:cNvPr id="6" name="text-006: 逐事务协调机制；供文献比较"/>
          <p:cNvSpPr txBox="1"/>
          <p:nvPr/>
        </p:nvSpPr>
        <p:spPr>
          <a:xfrm>
            <a:off x="381000" y="1380439"/>
            <a:ext cx="24536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逐事务协调机制；供文献比较</a:t>
            </a:r>
          </a:p>
        </p:txBody>
      </p:sp>
      <p:sp>
        <p:nvSpPr>
          <p:cNvPr id="7" name="E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E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E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E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E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E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E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一致性协调点"/>
          <p:cNvSpPr txBox="1"/>
          <p:nvPr/>
        </p:nvSpPr>
        <p:spPr>
          <a:xfrm>
            <a:off x="3966210" y="431551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29" name="text-029: 设备不分配 LLC"/>
          <p:cNvSpPr txBox="1"/>
          <p:nvPr/>
        </p:nvSpPr>
        <p:spPr>
          <a:xfrm>
            <a:off x="3962192" y="4606900"/>
            <a:ext cx="144821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</a:t>
            </a:r>
          </a:p>
        </p:txBody>
      </p:sp>
      <p:sp>
        <p:nvSpPr>
          <p:cNvPr id="30" name="Edevice-ddr"/>
          <p:cNvSpPr/>
          <p:nvPr/>
        </p:nvSpPr>
        <p:spPr>
          <a:xfrm>
            <a:off x="4686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probe-private"/>
          <p:cNvSpPr/>
          <p:nvPr/>
        </p:nvSpPr>
        <p:spPr>
          <a:xfrm>
            <a:off x="21717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probe-llc"/>
          <p:cNvSpPr/>
          <p:nvPr/>
        </p:nvSpPr>
        <p:spPr>
          <a:xfrm>
            <a:off x="21717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逐事务协调；设备不分配 LLC 行"/>
          <p:cNvSpPr txBox="1"/>
          <p:nvPr/>
        </p:nvSpPr>
        <p:spPr>
          <a:xfrm>
            <a:off x="381000" y="6005779"/>
            <a:ext cx="266723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逐事务协调；设备不分配 LLC 行</a:t>
            </a:r>
          </a:p>
        </p:txBody>
      </p:sp>
      <p:sp>
        <p:nvSpPr>
          <p:cNvPr id="34" name="text-034: 本项目沿用旁路拓扑，采用软件范围交接"/>
          <p:cNvSpPr txBox="1"/>
          <p:nvPr/>
        </p:nvSpPr>
        <p:spPr>
          <a:xfrm>
            <a:off x="381000" y="6249619"/>
            <a:ext cx="33299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本项目沿用旁路拓扑，采用软件范围交接</a:t>
            </a:r>
          </a:p>
        </p:txBody>
      </p:sp>
      <p:sp>
        <p:nvSpPr>
          <p:cNvPr id="35" name="F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F  完整缓存代理一致性"/>
          <p:cNvSpPr txBox="1"/>
          <p:nvPr/>
        </p:nvSpPr>
        <p:spPr>
          <a:xfrm>
            <a:off x="6705600" y="1025652"/>
            <a:ext cx="2532674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  完整缓存代理一致性</a:t>
            </a:r>
          </a:p>
        </p:txBody>
      </p:sp>
      <p:sp>
        <p:nvSpPr>
          <p:cNvPr id="37" name="text-037: 设备持有可探测的私有缓存；本项目不采用"/>
          <p:cNvSpPr txBox="1"/>
          <p:nvPr/>
        </p:nvSpPr>
        <p:spPr>
          <a:xfrm>
            <a:off x="6705600" y="1380439"/>
            <a:ext cx="350520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设备持有可探测的私有缓存；本项目不采用</a:t>
            </a:r>
          </a:p>
        </p:txBody>
      </p:sp>
      <p:sp>
        <p:nvSpPr>
          <p:cNvPr id="38" name="F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0" name="F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2" name="text-042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3" name="F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5" name="text-045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6" name="F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48" name="F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0" name="text-050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1" name="F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3" name="F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F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devcache"/>
          <p:cNvSpPr/>
          <p:nvPr/>
        </p:nvSpPr>
        <p:spPr>
          <a:xfrm>
            <a:off x="10477500" y="3581400"/>
            <a:ext cx="16764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设备私有缓存"/>
          <p:cNvSpPr txBox="1"/>
          <p:nvPr/>
        </p:nvSpPr>
        <p:spPr>
          <a:xfrm>
            <a:off x="10595610" y="364495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设备私有缓存</a:t>
            </a:r>
          </a:p>
        </p:txBody>
      </p:sp>
      <p:sp>
        <p:nvSpPr>
          <p:cNvPr id="59" name="Fdma-cache"/>
          <p:cNvSpPr/>
          <p:nvPr/>
        </p:nvSpPr>
        <p:spPr>
          <a:xfrm>
            <a:off x="11315700" y="32766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cache-fabric"/>
          <p:cNvSpPr/>
          <p:nvPr/>
        </p:nvSpPr>
        <p:spPr>
          <a:xfrm>
            <a:off x="11315700" y="400050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F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一致性互连"/>
          <p:cNvSpPr txBox="1"/>
          <p:nvPr/>
        </p:nvSpPr>
        <p:spPr>
          <a:xfrm>
            <a:off x="10393680" y="4315511"/>
            <a:ext cx="123444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一致性互连</a:t>
            </a:r>
          </a:p>
        </p:txBody>
      </p:sp>
      <p:sp>
        <p:nvSpPr>
          <p:cNvPr id="63" name="text-063: 多缓存代理"/>
          <p:cNvSpPr txBox="1"/>
          <p:nvPr/>
        </p:nvSpPr>
        <p:spPr>
          <a:xfrm>
            <a:off x="104622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多缓存代理</a:t>
            </a:r>
          </a:p>
        </p:txBody>
      </p:sp>
      <p:sp>
        <p:nvSpPr>
          <p:cNvPr id="64" name="Fdevice-llc"/>
          <p:cNvSpPr/>
          <p:nvPr/>
        </p:nvSpPr>
        <p:spPr>
          <a:xfrm>
            <a:off x="84963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F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F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Fprobe-devcache"/>
          <p:cNvSpPr/>
          <p:nvPr/>
        </p:nvSpPr>
        <p:spPr>
          <a:xfrm>
            <a:off x="12153900" y="3794760"/>
            <a:ext cx="266700" cy="929640"/>
          </a:xfrm>
          <a:custGeom>
            <a:avLst/>
            <a:gdLst/>
            <a:ahLst/>
            <a:cxnLst/>
            <a:rect l="0" t="0" r="r" b="b"/>
            <a:pathLst>
              <a:path w="266700" h="929640" fill="none">
                <a:moveTo>
                  <a:pt x="0" y="929640"/>
                </a:moveTo>
                <a:lnTo>
                  <a:pt x="266700" y="929640"/>
                </a:lnTo>
                <a:lnTo>
                  <a:pt x="2667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设备私有缓存也接收探测并返回数据"/>
          <p:cNvSpPr txBox="1"/>
          <p:nvPr/>
        </p:nvSpPr>
        <p:spPr>
          <a:xfrm>
            <a:off x="6705600" y="6005779"/>
            <a:ext cx="297942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设备私有缓存也接收探测并返回数据</a:t>
            </a:r>
          </a:p>
        </p:txBody>
      </p:sp>
      <p:sp>
        <p:nvSpPr>
          <p:cNvPr id="69" name="text-069: 本地 SRAM 仍显式管理；分配策略另设"/>
          <p:cNvSpPr txBox="1"/>
          <p:nvPr/>
        </p:nvSpPr>
        <p:spPr>
          <a:xfrm>
            <a:off x="6705600" y="6249619"/>
            <a:ext cx="3192685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本地 SRAM 仍显式管理；分配策略另设</a:t>
            </a:r>
          </a:p>
        </p:txBody>
      </p:sp>
      <p:sp>
        <p:nvSpPr>
          <p:cNvPr id="70" name="text-070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