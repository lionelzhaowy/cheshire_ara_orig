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360000" cy="6844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1433250"/>
            <a:ext cx="9360000" cy="397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① 请求内容：独立读 / 写来源，共用一个内部请求出口"/>
          <p:cNvSpPr txBox="1"/>
          <p:nvPr/>
        </p:nvSpPr>
        <p:spPr>
          <a:xfrm>
            <a:off x="234000" y="1495260"/>
            <a:ext cx="4461018" cy="280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① 请求内容：独立读 / 写来源，共用一个内部请求出口</a:t>
            </a:r>
          </a:p>
        </p:txBody>
      </p:sp>
      <p:sp>
        <p:nvSpPr>
          <p:cNvPr id="4" name="text-003: 实线 = 请求字段；虚线 = 选择控制。valid / ready 另见图②。"/>
          <p:cNvSpPr txBox="1"/>
          <p:nvPr/>
        </p:nvSpPr>
        <p:spPr>
          <a:xfrm>
            <a:off x="234000" y="1785186"/>
            <a:ext cx="3790261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实线 = 请求字段；虚线 = 选择控制。valid / ready 另见图②。</a:t>
            </a:r>
          </a:p>
        </p:txBody>
      </p:sp>
      <p:sp>
        <p:nvSpPr>
          <p:cNvPr id="5" name="rect-004"/>
          <p:cNvSpPr/>
          <p:nvPr/>
        </p:nvSpPr>
        <p:spPr>
          <a:xfrm>
            <a:off x="1345500" y="2486250"/>
            <a:ext cx="1755000" cy="67275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5: 读请求生成逻辑"/>
          <p:cNvSpPr txBox="1"/>
          <p:nvPr/>
        </p:nvSpPr>
        <p:spPr>
          <a:xfrm>
            <a:off x="1661400" y="2533518"/>
            <a:ext cx="11232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读请求生成逻辑</a:t>
            </a:r>
          </a:p>
        </p:txBody>
      </p:sp>
      <p:sp>
        <p:nvSpPr>
          <p:cNvPr id="7" name="text-006: rd_meta_q / r_cnt_q"/>
          <p:cNvSpPr txBox="1"/>
          <p:nvPr/>
        </p:nvSpPr>
        <p:spPr>
          <a:xfrm>
            <a:off x="1525936" y="2720718"/>
            <a:ext cx="1394128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rd_meta_q / r_cnt_q</a:t>
            </a:r>
          </a:p>
        </p:txBody>
      </p:sp>
      <p:sp>
        <p:nvSpPr>
          <p:cNvPr id="8" name="text-007: 每个读拍生成 rd_meta"/>
          <p:cNvSpPr txBox="1"/>
          <p:nvPr/>
        </p:nvSpPr>
        <p:spPr>
          <a:xfrm>
            <a:off x="1459575" y="2907918"/>
            <a:ext cx="152685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每个读拍生成 rd_meta</a:t>
            </a:r>
          </a:p>
        </p:txBody>
      </p:sp>
      <p:sp>
        <p:nvSpPr>
          <p:cNvPr id="9" name="rect-008"/>
          <p:cNvSpPr/>
          <p:nvPr/>
        </p:nvSpPr>
        <p:spPr>
          <a:xfrm>
            <a:off x="1345500" y="3568500"/>
            <a:ext cx="1755000" cy="67275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09: 写请求生成逻辑"/>
          <p:cNvSpPr txBox="1"/>
          <p:nvPr/>
        </p:nvSpPr>
        <p:spPr>
          <a:xfrm>
            <a:off x="1661400" y="3615768"/>
            <a:ext cx="11232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写请求生成逻辑</a:t>
            </a:r>
          </a:p>
        </p:txBody>
      </p:sp>
      <p:sp>
        <p:nvSpPr>
          <p:cNvPr id="11" name="text-010: wr_meta_q / w_cnt_q"/>
          <p:cNvSpPr txBox="1"/>
          <p:nvPr/>
        </p:nvSpPr>
        <p:spPr>
          <a:xfrm>
            <a:off x="1493647" y="3802968"/>
            <a:ext cx="145870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wr_meta_q / w_cnt_q</a:t>
            </a:r>
          </a:p>
        </p:txBody>
      </p:sp>
      <p:sp>
        <p:nvSpPr>
          <p:cNvPr id="12" name="text-011: 每个写拍生成 wr_meta"/>
          <p:cNvSpPr txBox="1"/>
          <p:nvPr/>
        </p:nvSpPr>
        <p:spPr>
          <a:xfrm>
            <a:off x="1451143" y="3990168"/>
            <a:ext cx="154371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每个写拍生成 wr_meta</a:t>
            </a:r>
          </a:p>
        </p:txBody>
      </p:sp>
      <p:sp>
        <p:nvSpPr>
          <p:cNvPr id="13" name="text-012: AR 字段"/>
          <p:cNvSpPr txBox="1"/>
          <p:nvPr/>
        </p:nvSpPr>
        <p:spPr>
          <a:xfrm>
            <a:off x="263250" y="2574000"/>
            <a:ext cx="654981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AR 字段</a:t>
            </a:r>
          </a:p>
        </p:txBody>
      </p:sp>
      <p:sp>
        <p:nvSpPr>
          <p:cNvPr id="14" name="polyline-013"/>
          <p:cNvSpPr/>
          <p:nvPr/>
        </p:nvSpPr>
        <p:spPr>
          <a:xfrm>
            <a:off x="263250" y="2848950"/>
            <a:ext cx="1082250" cy="1"/>
          </a:xfrm>
          <a:custGeom>
            <a:avLst/>
            <a:gdLst/>
            <a:ahLst/>
            <a:cxnLst/>
            <a:rect l="0" t="0" r="r" b="b"/>
            <a:pathLst>
              <a:path w="1082250" h="1">
                <a:moveTo>
                  <a:pt x="0" y="0"/>
                </a:moveTo>
                <a:lnTo>
                  <a:pt x="108225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olygon-014"/>
          <p:cNvSpPr/>
          <p:nvPr/>
        </p:nvSpPr>
        <p:spPr>
          <a:xfrm>
            <a:off x="1281150" y="28226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5: AW 字段"/>
          <p:cNvSpPr txBox="1"/>
          <p:nvPr/>
        </p:nvSpPr>
        <p:spPr>
          <a:xfrm>
            <a:off x="234000" y="3633318"/>
            <a:ext cx="65689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AW 字段</a:t>
            </a:r>
          </a:p>
        </p:txBody>
      </p:sp>
      <p:sp>
        <p:nvSpPr>
          <p:cNvPr id="17" name="text-016: W.strb"/>
          <p:cNvSpPr txBox="1"/>
          <p:nvPr/>
        </p:nvSpPr>
        <p:spPr>
          <a:xfrm>
            <a:off x="234000" y="3820518"/>
            <a:ext cx="53582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W.strb</a:t>
            </a:r>
          </a:p>
        </p:txBody>
      </p:sp>
      <p:sp>
        <p:nvSpPr>
          <p:cNvPr id="18" name="polyline-017"/>
          <p:cNvSpPr/>
          <p:nvPr/>
        </p:nvSpPr>
        <p:spPr>
          <a:xfrm>
            <a:off x="263250" y="4077450"/>
            <a:ext cx="1082250" cy="1"/>
          </a:xfrm>
          <a:custGeom>
            <a:avLst/>
            <a:gdLst/>
            <a:ahLst/>
            <a:cxnLst/>
            <a:rect l="0" t="0" r="r" b="b"/>
            <a:pathLst>
              <a:path w="1082250" h="1">
                <a:moveTo>
                  <a:pt x="0" y="0"/>
                </a:moveTo>
                <a:lnTo>
                  <a:pt x="108225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1281150" y="40511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gon-019"/>
          <p:cNvSpPr/>
          <p:nvPr/>
        </p:nvSpPr>
        <p:spPr>
          <a:xfrm>
            <a:off x="3861000" y="2515500"/>
            <a:ext cx="438750" cy="1667250"/>
          </a:xfrm>
          <a:custGeom>
            <a:avLst/>
            <a:gdLst/>
            <a:ahLst/>
            <a:cxnLst/>
            <a:rect l="0" t="0" r="r" b="b"/>
            <a:pathLst>
              <a:path w="438750" h="1667250">
                <a:moveTo>
                  <a:pt x="0" y="0"/>
                </a:moveTo>
                <a:lnTo>
                  <a:pt x="438750" y="234000"/>
                </a:lnTo>
                <a:lnTo>
                  <a:pt x="438750" y="1433250"/>
                </a:lnTo>
                <a:lnTo>
                  <a:pt x="0" y="1667250"/>
                </a:lnTo>
                <a:close/>
              </a:path>
            </a:pathLst>
          </a:custGeom>
          <a:solidFill>
            <a:srgbClr val="F8F0E6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2:1"/>
          <p:cNvSpPr txBox="1"/>
          <p:nvPr/>
        </p:nvSpPr>
        <p:spPr>
          <a:xfrm>
            <a:off x="3894706" y="3088800"/>
            <a:ext cx="365488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2:1</a:t>
            </a:r>
          </a:p>
        </p:txBody>
      </p:sp>
      <p:sp>
        <p:nvSpPr>
          <p:cNvPr id="22" name="text-021: MUX"/>
          <p:cNvSpPr txBox="1"/>
          <p:nvPr/>
        </p:nvSpPr>
        <p:spPr>
          <a:xfrm>
            <a:off x="3875753" y="3306186"/>
            <a:ext cx="403394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MUX</a:t>
            </a:r>
          </a:p>
        </p:txBody>
      </p:sp>
      <p:sp>
        <p:nvSpPr>
          <p:cNvPr id="23" name="text-022: i_ax_mux"/>
          <p:cNvSpPr txBox="1"/>
          <p:nvPr/>
        </p:nvSpPr>
        <p:spPr>
          <a:xfrm>
            <a:off x="3744000" y="2246868"/>
            <a:ext cx="70419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i_ax_mux</a:t>
            </a:r>
          </a:p>
        </p:txBody>
      </p:sp>
      <p:sp>
        <p:nvSpPr>
          <p:cNvPr id="24" name="polyline-023"/>
          <p:cNvSpPr/>
          <p:nvPr/>
        </p:nvSpPr>
        <p:spPr>
          <a:xfrm>
            <a:off x="3100500" y="2848950"/>
            <a:ext cx="760500" cy="1"/>
          </a:xfrm>
          <a:custGeom>
            <a:avLst/>
            <a:gdLst/>
            <a:ahLst/>
            <a:cxnLst/>
            <a:rect l="0" t="0" r="r" b="b"/>
            <a:pathLst>
              <a:path w="760500" h="1">
                <a:moveTo>
                  <a:pt x="0" y="0"/>
                </a:moveTo>
                <a:lnTo>
                  <a:pt x="7605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3796650" y="28226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rd_meta"/>
          <p:cNvSpPr txBox="1"/>
          <p:nvPr/>
        </p:nvSpPr>
        <p:spPr>
          <a:xfrm>
            <a:off x="3205800" y="2628054"/>
            <a:ext cx="588821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rd_meta</a:t>
            </a:r>
          </a:p>
        </p:txBody>
      </p:sp>
      <p:sp>
        <p:nvSpPr>
          <p:cNvPr id="27" name="polyline-026"/>
          <p:cNvSpPr/>
          <p:nvPr/>
        </p:nvSpPr>
        <p:spPr>
          <a:xfrm>
            <a:off x="3100500" y="3901950"/>
            <a:ext cx="760500" cy="1"/>
          </a:xfrm>
          <a:custGeom>
            <a:avLst/>
            <a:gdLst/>
            <a:ahLst/>
            <a:cxnLst/>
            <a:rect l="0" t="0" r="r" b="b"/>
            <a:pathLst>
              <a:path w="760500" h="1">
                <a:moveTo>
                  <a:pt x="0" y="0"/>
                </a:moveTo>
                <a:lnTo>
                  <a:pt x="7605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gon-027"/>
          <p:cNvSpPr/>
          <p:nvPr/>
        </p:nvSpPr>
        <p:spPr>
          <a:xfrm>
            <a:off x="3796650" y="38756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wr_meta"/>
          <p:cNvSpPr txBox="1"/>
          <p:nvPr/>
        </p:nvSpPr>
        <p:spPr>
          <a:xfrm>
            <a:off x="3205800" y="3681054"/>
            <a:ext cx="604278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wr_meta</a:t>
            </a:r>
          </a:p>
        </p:txBody>
      </p:sp>
      <p:sp>
        <p:nvSpPr>
          <p:cNvPr id="30" name="polyline-029"/>
          <p:cNvSpPr/>
          <p:nvPr/>
        </p:nvSpPr>
        <p:spPr>
          <a:xfrm>
            <a:off x="4299750" y="3334500"/>
            <a:ext cx="1199250" cy="1"/>
          </a:xfrm>
          <a:custGeom>
            <a:avLst/>
            <a:gdLst/>
            <a:ahLst/>
            <a:cxnLst/>
            <a:rect l="0" t="0" r="r" b="b"/>
            <a:pathLst>
              <a:path w="1199250" h="1">
                <a:moveTo>
                  <a:pt x="0" y="0"/>
                </a:moveTo>
                <a:lnTo>
                  <a:pt x="119925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5434650" y="3308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meta"/>
          <p:cNvSpPr txBox="1"/>
          <p:nvPr/>
        </p:nvSpPr>
        <p:spPr>
          <a:xfrm>
            <a:off x="4668300" y="3077100"/>
            <a:ext cx="470450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meta</a:t>
            </a:r>
          </a:p>
        </p:txBody>
      </p:sp>
      <p:sp>
        <p:nvSpPr>
          <p:cNvPr id="33" name="rect-032"/>
          <p:cNvSpPr/>
          <p:nvPr/>
        </p:nvSpPr>
        <p:spPr>
          <a:xfrm>
            <a:off x="5499000" y="2778750"/>
            <a:ext cx="1579500" cy="108225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3: 组合接线"/>
          <p:cNvSpPr txBox="1"/>
          <p:nvPr/>
        </p:nvSpPr>
        <p:spPr>
          <a:xfrm>
            <a:off x="5937750" y="2826018"/>
            <a:ext cx="7020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组合接线</a:t>
            </a:r>
          </a:p>
        </p:txBody>
      </p:sp>
      <p:sp>
        <p:nvSpPr>
          <p:cNvPr id="35" name="text-034: addr = meta.addr"/>
          <p:cNvSpPr txBox="1"/>
          <p:nvPr/>
        </p:nvSpPr>
        <p:spPr>
          <a:xfrm>
            <a:off x="5685812" y="3013218"/>
            <a:ext cx="120587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addr = meta.addr</a:t>
            </a:r>
          </a:p>
        </p:txBody>
      </p:sp>
      <p:sp>
        <p:nvSpPr>
          <p:cNvPr id="36" name="text-035: we = meta.write"/>
          <p:cNvSpPr txBox="1"/>
          <p:nvPr/>
        </p:nvSpPr>
        <p:spPr>
          <a:xfrm>
            <a:off x="5727836" y="3200418"/>
            <a:ext cx="1121829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we = meta.write</a:t>
            </a:r>
          </a:p>
        </p:txBody>
      </p:sp>
      <p:sp>
        <p:nvSpPr>
          <p:cNvPr id="37" name="text-036: id = meta.id"/>
          <p:cNvSpPr txBox="1"/>
          <p:nvPr/>
        </p:nvSpPr>
        <p:spPr>
          <a:xfrm>
            <a:off x="5848423" y="3387618"/>
            <a:ext cx="88065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id = meta.id</a:t>
            </a:r>
          </a:p>
        </p:txBody>
      </p:sp>
      <p:sp>
        <p:nvSpPr>
          <p:cNvPr id="38" name="text-037: 其余请求属性随行"/>
          <p:cNvSpPr txBox="1"/>
          <p:nvPr/>
        </p:nvSpPr>
        <p:spPr>
          <a:xfrm>
            <a:off x="5656950" y="3574818"/>
            <a:ext cx="12636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其余请求属性随行</a:t>
            </a:r>
          </a:p>
        </p:txBody>
      </p:sp>
      <p:sp>
        <p:nvSpPr>
          <p:cNvPr id="39" name="text-038: axi_req_i.w.data / w.strb"/>
          <p:cNvSpPr txBox="1"/>
          <p:nvPr/>
        </p:nvSpPr>
        <p:spPr>
          <a:xfrm>
            <a:off x="5253871" y="2042118"/>
            <a:ext cx="166025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axi_req_i.w.data / w.strb</a:t>
            </a:r>
          </a:p>
        </p:txBody>
      </p:sp>
      <p:sp>
        <p:nvSpPr>
          <p:cNvPr id="40" name="polyline-039"/>
          <p:cNvSpPr/>
          <p:nvPr/>
        </p:nvSpPr>
        <p:spPr>
          <a:xfrm>
            <a:off x="5089500" y="2299050"/>
            <a:ext cx="1228500" cy="479700"/>
          </a:xfrm>
          <a:custGeom>
            <a:avLst/>
            <a:gdLst/>
            <a:ahLst/>
            <a:cxnLst/>
            <a:rect l="0" t="0" r="r" b="b"/>
            <a:pathLst>
              <a:path w="1228500" h="479700">
                <a:moveTo>
                  <a:pt x="0" y="0"/>
                </a:moveTo>
                <a:lnTo>
                  <a:pt x="1228500" y="0"/>
                </a:lnTo>
                <a:lnTo>
                  <a:pt x="1228500" y="47970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gon-040"/>
          <p:cNvSpPr/>
          <p:nvPr/>
        </p:nvSpPr>
        <p:spPr>
          <a:xfrm>
            <a:off x="6291675" y="2714400"/>
            <a:ext cx="52650" cy="64350"/>
          </a:xfrm>
          <a:custGeom>
            <a:avLst/>
            <a:gdLst/>
            <a:ahLst/>
            <a:cxnLst/>
            <a:rect l="0" t="0" r="r" b="b"/>
            <a:pathLst>
              <a:path w="52650" h="64350">
                <a:moveTo>
                  <a:pt x="26325" y="64350"/>
                </a:moveTo>
                <a:lnTo>
                  <a:pt x="5265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1: m2s_req"/>
          <p:cNvSpPr txBox="1"/>
          <p:nvPr/>
        </p:nvSpPr>
        <p:spPr>
          <a:xfrm>
            <a:off x="7137000" y="3090204"/>
            <a:ext cx="622385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m2s_req</a:t>
            </a:r>
          </a:p>
        </p:txBody>
      </p:sp>
      <p:sp>
        <p:nvSpPr>
          <p:cNvPr id="43" name="polyline-042"/>
          <p:cNvSpPr/>
          <p:nvPr/>
        </p:nvSpPr>
        <p:spPr>
          <a:xfrm>
            <a:off x="7078500" y="3334500"/>
            <a:ext cx="760500" cy="1"/>
          </a:xfrm>
          <a:custGeom>
            <a:avLst/>
            <a:gdLst/>
            <a:ahLst/>
            <a:cxnLst/>
            <a:rect l="0" t="0" r="r" b="b"/>
            <a:pathLst>
              <a:path w="760500" h="1">
                <a:moveTo>
                  <a:pt x="0" y="0"/>
                </a:moveTo>
                <a:lnTo>
                  <a:pt x="7605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7774650" y="3308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4"/>
          <p:cNvSpPr/>
          <p:nvPr/>
        </p:nvSpPr>
        <p:spPr>
          <a:xfrm>
            <a:off x="7839000" y="2866500"/>
            <a:ext cx="1287000" cy="93600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5: 请求入口"/>
          <p:cNvSpPr txBox="1"/>
          <p:nvPr/>
        </p:nvSpPr>
        <p:spPr>
          <a:xfrm>
            <a:off x="8131500" y="2913768"/>
            <a:ext cx="7020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请求入口</a:t>
            </a:r>
          </a:p>
        </p:txBody>
      </p:sp>
      <p:sp>
        <p:nvSpPr>
          <p:cNvPr id="47" name="text-046: 图③"/>
          <p:cNvSpPr txBox="1"/>
          <p:nvPr/>
        </p:nvSpPr>
        <p:spPr>
          <a:xfrm>
            <a:off x="8271900" y="3100968"/>
            <a:ext cx="4212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图③</a:t>
            </a:r>
          </a:p>
        </p:txBody>
      </p:sp>
      <p:sp>
        <p:nvSpPr>
          <p:cNvPr id="48" name="text-047: i_stream_to_mem"/>
          <p:cNvSpPr txBox="1"/>
          <p:nvPr/>
        </p:nvSpPr>
        <p:spPr>
          <a:xfrm>
            <a:off x="7862560" y="3288168"/>
            <a:ext cx="123988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i_stream_to_mem</a:t>
            </a:r>
          </a:p>
        </p:txBody>
      </p:sp>
      <p:sp>
        <p:nvSpPr>
          <p:cNvPr id="49" name="rect-048"/>
          <p:cNvSpPr/>
          <p:nvPr/>
        </p:nvSpPr>
        <p:spPr>
          <a:xfrm>
            <a:off x="3334500" y="4563000"/>
            <a:ext cx="1433250" cy="526500"/>
          </a:xfrm>
          <a:prstGeom prst="rect">
            <a:avLst/>
          </a:prstGeom>
          <a:solidFill>
            <a:srgbClr val="F8F0E6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读写仲裁逻辑"/>
          <p:cNvSpPr txBox="1"/>
          <p:nvPr/>
        </p:nvSpPr>
        <p:spPr>
          <a:xfrm>
            <a:off x="3559725" y="4610268"/>
            <a:ext cx="9828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读写仲裁逻辑</a:t>
            </a:r>
          </a:p>
        </p:txBody>
      </p:sp>
      <p:sp>
        <p:nvSpPr>
          <p:cNvPr id="51" name="text-050: 含选择保持状态"/>
          <p:cNvSpPr txBox="1"/>
          <p:nvPr/>
        </p:nvSpPr>
        <p:spPr>
          <a:xfrm>
            <a:off x="3489525" y="4797468"/>
            <a:ext cx="11232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含选择保持状态</a:t>
            </a:r>
          </a:p>
        </p:txBody>
      </p:sp>
      <p:sp>
        <p:nvSpPr>
          <p:cNvPr id="52" name="polyline-051"/>
          <p:cNvSpPr/>
          <p:nvPr/>
        </p:nvSpPr>
        <p:spPr>
          <a:xfrm>
            <a:off x="4077450" y="4077450"/>
            <a:ext cx="1" cy="485550"/>
          </a:xfrm>
          <a:custGeom>
            <a:avLst/>
            <a:gdLst/>
            <a:ahLst/>
            <a:cxnLst/>
            <a:rect l="0" t="0" r="r" b="b"/>
            <a:pathLst>
              <a:path w="1" h="485550">
                <a:moveTo>
                  <a:pt x="0" y="48555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-052"/>
          <p:cNvSpPr/>
          <p:nvPr/>
        </p:nvSpPr>
        <p:spPr>
          <a:xfrm>
            <a:off x="4051125" y="4077450"/>
            <a:ext cx="52650" cy="64350"/>
          </a:xfrm>
          <a:custGeom>
            <a:avLst/>
            <a:gdLst/>
            <a:ahLst/>
            <a:cxnLst/>
            <a:rect l="0" t="0" r="r" b="b"/>
            <a:pathLst>
              <a:path w="52650" h="64350">
                <a:moveTo>
                  <a:pt x="26325" y="0"/>
                </a:moveTo>
                <a:lnTo>
                  <a:pt x="0" y="64350"/>
                </a:lnTo>
                <a:lnTo>
                  <a:pt x="52650" y="643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3: 选择信号：meta_sel_d"/>
          <p:cNvSpPr txBox="1"/>
          <p:nvPr/>
        </p:nvSpPr>
        <p:spPr>
          <a:xfrm>
            <a:off x="4884750" y="4662918"/>
            <a:ext cx="155194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选择信号：meta_sel_d</a:t>
            </a:r>
          </a:p>
        </p:txBody>
      </p:sp>
      <p:sp>
        <p:nvSpPr>
          <p:cNvPr id="55" name="circle-054"/>
          <p:cNvSpPr/>
          <p:nvPr/>
        </p:nvSpPr>
        <p:spPr>
          <a:xfrm>
            <a:off x="4919850" y="3311100"/>
            <a:ext cx="46800" cy="46800"/>
          </a:xfrm>
          <a:prstGeom prst="ellipse">
            <a:avLst/>
          </a:pr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polyline-055"/>
          <p:cNvSpPr/>
          <p:nvPr/>
        </p:nvSpPr>
        <p:spPr>
          <a:xfrm>
            <a:off x="4943250" y="3334500"/>
            <a:ext cx="906750" cy="801450"/>
          </a:xfrm>
          <a:custGeom>
            <a:avLst/>
            <a:gdLst/>
            <a:ahLst/>
            <a:cxnLst/>
            <a:rect l="0" t="0" r="r" b="b"/>
            <a:pathLst>
              <a:path w="906750" h="801450">
                <a:moveTo>
                  <a:pt x="0" y="0"/>
                </a:moveTo>
                <a:lnTo>
                  <a:pt x="0" y="801450"/>
                </a:lnTo>
                <a:lnTo>
                  <a:pt x="906750" y="80145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polygon-056"/>
          <p:cNvSpPr/>
          <p:nvPr/>
        </p:nvSpPr>
        <p:spPr>
          <a:xfrm>
            <a:off x="5785650" y="41096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7: meta → 图②两个 FIFO 的数据来源"/>
          <p:cNvSpPr txBox="1"/>
          <p:nvPr/>
        </p:nvSpPr>
        <p:spPr>
          <a:xfrm>
            <a:off x="5937750" y="4037436"/>
            <a:ext cx="2192351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meta → 图②两个 FIFO 的数据来源</a:t>
            </a:r>
          </a:p>
        </p:txBody>
      </p:sp>
      <p:sp>
        <p:nvSpPr>
          <p:cNvPr id="59" name="text-058: 注意：W.data 不经过 i_ax_mux，也不写入 i_meta_buf。"/>
          <p:cNvSpPr txBox="1"/>
          <p:nvPr/>
        </p:nvSpPr>
        <p:spPr>
          <a:xfrm>
            <a:off x="234000" y="5130918"/>
            <a:ext cx="3622978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注意：W.data 不经过 i_ax_mux，也不写入 i_meta_buf。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117000"/>
            <a:ext cx="9360000" cy="6610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② 一项访问分成三条握手支路：执行请求、保存元数据、保存响应选择"/>
          <p:cNvSpPr txBox="1"/>
          <p:nvPr/>
        </p:nvSpPr>
        <p:spPr>
          <a:xfrm>
            <a:off x="234000" y="191646"/>
            <a:ext cx="5290713" cy="262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9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② 一项访问分成三条握手支路：执行请求、保存元数据、保存响应选择</a:t>
            </a:r>
          </a:p>
        </p:txBody>
      </p:sp>
      <p:sp>
        <p:nvSpPr>
          <p:cNvPr id="4" name="text-003: 实线 = 数据字段；虚线 = valid / ready。i_fork 无数据端"/>
          <p:cNvSpPr txBox="1"/>
          <p:nvPr/>
        </p:nvSpPr>
        <p:spPr>
          <a:xfrm>
            <a:off x="234000" y="468936"/>
            <a:ext cx="3709192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实线 = 数据字段；虚线 = valid / ready。i_fork 无数据端口。</a:t>
            </a:r>
          </a:p>
        </p:txBody>
      </p:sp>
      <p:sp>
        <p:nvSpPr>
          <p:cNvPr id="5" name="rect-004"/>
          <p:cNvSpPr/>
          <p:nvPr/>
        </p:nvSpPr>
        <p:spPr>
          <a:xfrm>
            <a:off x="1755000" y="1111500"/>
            <a:ext cx="1667250" cy="4182750"/>
          </a:xfrm>
          <a:prstGeom prst="rect">
            <a:avLst/>
          </a:prstGeom>
          <a:solidFill>
            <a:srgbClr val="FBF4E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5: i_fork"/>
          <p:cNvSpPr txBox="1"/>
          <p:nvPr/>
        </p:nvSpPr>
        <p:spPr>
          <a:xfrm>
            <a:off x="2307441" y="1203696"/>
            <a:ext cx="556518" cy="2620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9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i_fork</a:t>
            </a:r>
          </a:p>
        </p:txBody>
      </p:sp>
      <p:sp>
        <p:nvSpPr>
          <p:cNvPr id="7" name="text-006: N_OUP = 3"/>
          <p:cNvSpPr txBox="1"/>
          <p:nvPr/>
        </p:nvSpPr>
        <p:spPr>
          <a:xfrm>
            <a:off x="2177388" y="1422018"/>
            <a:ext cx="81662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N_OUP = 3</a:t>
            </a:r>
          </a:p>
        </p:txBody>
      </p:sp>
      <p:sp>
        <p:nvSpPr>
          <p:cNvPr id="8" name="text-007: 输入状态寄存器"/>
          <p:cNvSpPr txBox="1"/>
          <p:nvPr/>
        </p:nvSpPr>
        <p:spPr>
          <a:xfrm>
            <a:off x="2024100" y="1866618"/>
            <a:ext cx="11232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输入状态寄存器</a:t>
            </a:r>
          </a:p>
        </p:txBody>
      </p:sp>
      <p:sp>
        <p:nvSpPr>
          <p:cNvPr id="9" name="text-008: + 三路输出状态"/>
          <p:cNvSpPr txBox="1"/>
          <p:nvPr/>
        </p:nvSpPr>
        <p:spPr>
          <a:xfrm>
            <a:off x="2031161" y="2083068"/>
            <a:ext cx="1109078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+ 三路输出状态</a:t>
            </a:r>
          </a:p>
        </p:txBody>
      </p:sp>
      <p:sp>
        <p:nvSpPr>
          <p:cNvPr id="10" name="text-009: 记住哪些支路"/>
          <p:cNvSpPr txBox="1"/>
          <p:nvPr/>
        </p:nvSpPr>
        <p:spPr>
          <a:xfrm>
            <a:off x="2094300" y="2983968"/>
            <a:ext cx="9828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记住哪些支路</a:t>
            </a:r>
          </a:p>
        </p:txBody>
      </p:sp>
      <p:sp>
        <p:nvSpPr>
          <p:cNvPr id="11" name="text-010: 已接收当前项"/>
          <p:cNvSpPr txBox="1"/>
          <p:nvPr/>
        </p:nvSpPr>
        <p:spPr>
          <a:xfrm>
            <a:off x="2094300" y="3188718"/>
            <a:ext cx="9828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已接收当前项</a:t>
            </a:r>
          </a:p>
        </p:txBody>
      </p:sp>
      <p:sp>
        <p:nvSpPr>
          <p:cNvPr id="12" name="text-011: 三路各接收一次后"/>
          <p:cNvSpPr txBox="1"/>
          <p:nvPr/>
        </p:nvSpPr>
        <p:spPr>
          <a:xfrm>
            <a:off x="1980225" y="4242186"/>
            <a:ext cx="1210950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三路各接收一次后</a:t>
            </a:r>
          </a:p>
        </p:txBody>
      </p:sp>
      <p:sp>
        <p:nvSpPr>
          <p:cNvPr id="13" name="text-012: 才确认上游完成"/>
          <p:cNvSpPr txBox="1"/>
          <p:nvPr/>
        </p:nvSpPr>
        <p:spPr>
          <a:xfrm>
            <a:off x="2047500" y="4452786"/>
            <a:ext cx="1076400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才确认上游完成</a:t>
            </a:r>
          </a:p>
        </p:txBody>
      </p:sp>
      <p:sp>
        <p:nvSpPr>
          <p:cNvPr id="14" name="text-013: 来自 i_ax_mux"/>
          <p:cNvSpPr txBox="1"/>
          <p:nvPr/>
        </p:nvSpPr>
        <p:spPr>
          <a:xfrm>
            <a:off x="292500" y="2259036"/>
            <a:ext cx="984299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来自 i_ax_mux</a:t>
            </a:r>
          </a:p>
        </p:txBody>
      </p:sp>
      <p:sp>
        <p:nvSpPr>
          <p:cNvPr id="15" name="polyline-014"/>
          <p:cNvSpPr/>
          <p:nvPr/>
        </p:nvSpPr>
        <p:spPr>
          <a:xfrm>
            <a:off x="292500" y="2603250"/>
            <a:ext cx="1462500" cy="1"/>
          </a:xfrm>
          <a:custGeom>
            <a:avLst/>
            <a:gdLst/>
            <a:ahLst/>
            <a:cxnLst/>
            <a:rect l="0" t="0" r="r" b="b"/>
            <a:pathLst>
              <a:path w="1462500" h="1">
                <a:moveTo>
                  <a:pt x="0" y="0"/>
                </a:moveTo>
                <a:lnTo>
                  <a:pt x="146250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1690650" y="25769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arb_valid"/>
          <p:cNvSpPr txBox="1"/>
          <p:nvPr/>
        </p:nvSpPr>
        <p:spPr>
          <a:xfrm>
            <a:off x="409500" y="2387268"/>
            <a:ext cx="687055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arb_valid</a:t>
            </a:r>
          </a:p>
        </p:txBody>
      </p:sp>
      <p:sp>
        <p:nvSpPr>
          <p:cNvPr id="18" name="polyline-017"/>
          <p:cNvSpPr/>
          <p:nvPr/>
        </p:nvSpPr>
        <p:spPr>
          <a:xfrm>
            <a:off x="292500" y="2895750"/>
            <a:ext cx="1462500" cy="1"/>
          </a:xfrm>
          <a:custGeom>
            <a:avLst/>
            <a:gdLst/>
            <a:ahLst/>
            <a:cxnLst/>
            <a:rect l="0" t="0" r="r" b="b"/>
            <a:pathLst>
              <a:path w="1462500" h="1">
                <a:moveTo>
                  <a:pt x="146250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olygon-018"/>
          <p:cNvSpPr/>
          <p:nvPr/>
        </p:nvSpPr>
        <p:spPr>
          <a:xfrm>
            <a:off x="292500" y="28694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19: arb_ready"/>
          <p:cNvSpPr txBox="1"/>
          <p:nvPr/>
        </p:nvSpPr>
        <p:spPr>
          <a:xfrm>
            <a:off x="409500" y="2937168"/>
            <a:ext cx="737648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arb_ready</a:t>
            </a:r>
          </a:p>
        </p:txBody>
      </p:sp>
      <p:sp>
        <p:nvSpPr>
          <p:cNvPr id="21" name="polyline-020"/>
          <p:cNvSpPr/>
          <p:nvPr/>
        </p:nvSpPr>
        <p:spPr>
          <a:xfrm>
            <a:off x="3422250" y="1696500"/>
            <a:ext cx="2427750" cy="1"/>
          </a:xfrm>
          <a:custGeom>
            <a:avLst/>
            <a:gdLst/>
            <a:ahLst/>
            <a:cxnLst/>
            <a:rect l="0" t="0" r="r" b="b"/>
            <a:pathLst>
              <a:path w="2427750" h="1">
                <a:moveTo>
                  <a:pt x="0" y="0"/>
                </a:moveTo>
                <a:lnTo>
                  <a:pt x="242775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gon-021"/>
          <p:cNvSpPr/>
          <p:nvPr/>
        </p:nvSpPr>
        <p:spPr>
          <a:xfrm>
            <a:off x="5785650" y="1670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2: m2s_req_valid"/>
          <p:cNvSpPr txBox="1"/>
          <p:nvPr/>
        </p:nvSpPr>
        <p:spPr>
          <a:xfrm>
            <a:off x="3978000" y="1468818"/>
            <a:ext cx="102941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m2s_req_valid</a:t>
            </a:r>
          </a:p>
        </p:txBody>
      </p:sp>
      <p:sp>
        <p:nvSpPr>
          <p:cNvPr id="24" name="polyline-023"/>
          <p:cNvSpPr/>
          <p:nvPr/>
        </p:nvSpPr>
        <p:spPr>
          <a:xfrm>
            <a:off x="3422250" y="1989000"/>
            <a:ext cx="2427750" cy="1"/>
          </a:xfrm>
          <a:custGeom>
            <a:avLst/>
            <a:gdLst/>
            <a:ahLst/>
            <a:cxnLst/>
            <a:rect l="0" t="0" r="r" b="b"/>
            <a:pathLst>
              <a:path w="2427750" h="1">
                <a:moveTo>
                  <a:pt x="24277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gon-024"/>
          <p:cNvSpPr/>
          <p:nvPr/>
        </p:nvSpPr>
        <p:spPr>
          <a:xfrm>
            <a:off x="3422250" y="19626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m2s_req_ready"/>
          <p:cNvSpPr txBox="1"/>
          <p:nvPr/>
        </p:nvSpPr>
        <p:spPr>
          <a:xfrm>
            <a:off x="3978000" y="2024568"/>
            <a:ext cx="108001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m2s_req_ready</a:t>
            </a:r>
          </a:p>
        </p:txBody>
      </p:sp>
      <p:sp>
        <p:nvSpPr>
          <p:cNvPr id="27" name="polyline-026"/>
          <p:cNvSpPr/>
          <p:nvPr/>
        </p:nvSpPr>
        <p:spPr>
          <a:xfrm>
            <a:off x="3422250" y="3276000"/>
            <a:ext cx="2427750" cy="1"/>
          </a:xfrm>
          <a:custGeom>
            <a:avLst/>
            <a:gdLst/>
            <a:ahLst/>
            <a:cxnLst/>
            <a:rect l="0" t="0" r="r" b="b"/>
            <a:pathLst>
              <a:path w="2427750" h="1">
                <a:moveTo>
                  <a:pt x="0" y="0"/>
                </a:moveTo>
                <a:lnTo>
                  <a:pt x="242775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polygon-027"/>
          <p:cNvSpPr/>
          <p:nvPr/>
        </p:nvSpPr>
        <p:spPr>
          <a:xfrm>
            <a:off x="5785650" y="32496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meta_valid"/>
          <p:cNvSpPr txBox="1"/>
          <p:nvPr/>
        </p:nvSpPr>
        <p:spPr>
          <a:xfrm>
            <a:off x="3978000" y="3048318"/>
            <a:ext cx="80209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meta_valid</a:t>
            </a:r>
          </a:p>
        </p:txBody>
      </p:sp>
      <p:sp>
        <p:nvSpPr>
          <p:cNvPr id="30" name="polyline-029"/>
          <p:cNvSpPr/>
          <p:nvPr/>
        </p:nvSpPr>
        <p:spPr>
          <a:xfrm>
            <a:off x="3422250" y="3568500"/>
            <a:ext cx="2427750" cy="1"/>
          </a:xfrm>
          <a:custGeom>
            <a:avLst/>
            <a:gdLst/>
            <a:ahLst/>
            <a:cxnLst/>
            <a:rect l="0" t="0" r="r" b="b"/>
            <a:pathLst>
              <a:path w="2427750" h="1">
                <a:moveTo>
                  <a:pt x="24277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gon-030"/>
          <p:cNvSpPr/>
          <p:nvPr/>
        </p:nvSpPr>
        <p:spPr>
          <a:xfrm>
            <a:off x="3422250" y="3542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1: meta_ready"/>
          <p:cNvSpPr txBox="1"/>
          <p:nvPr/>
        </p:nvSpPr>
        <p:spPr>
          <a:xfrm>
            <a:off x="3978000" y="3604068"/>
            <a:ext cx="85268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meta_ready</a:t>
            </a:r>
          </a:p>
        </p:txBody>
      </p:sp>
      <p:sp>
        <p:nvSpPr>
          <p:cNvPr id="33" name="polyline-032"/>
          <p:cNvSpPr/>
          <p:nvPr/>
        </p:nvSpPr>
        <p:spPr>
          <a:xfrm>
            <a:off x="3422250" y="4855500"/>
            <a:ext cx="2427750" cy="1"/>
          </a:xfrm>
          <a:custGeom>
            <a:avLst/>
            <a:gdLst/>
            <a:ahLst/>
            <a:cxnLst/>
            <a:rect l="0" t="0" r="r" b="b"/>
            <a:pathLst>
              <a:path w="2427750" h="1">
                <a:moveTo>
                  <a:pt x="0" y="0"/>
                </a:moveTo>
                <a:lnTo>
                  <a:pt x="242775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gon-033"/>
          <p:cNvSpPr/>
          <p:nvPr/>
        </p:nvSpPr>
        <p:spPr>
          <a:xfrm>
            <a:off x="5785650" y="4829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4: sel_valid"/>
          <p:cNvSpPr txBox="1"/>
          <p:nvPr/>
        </p:nvSpPr>
        <p:spPr>
          <a:xfrm>
            <a:off x="3978000" y="4627818"/>
            <a:ext cx="67307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sel_valid</a:t>
            </a:r>
          </a:p>
        </p:txBody>
      </p:sp>
      <p:sp>
        <p:nvSpPr>
          <p:cNvPr id="36" name="polyline-035"/>
          <p:cNvSpPr/>
          <p:nvPr/>
        </p:nvSpPr>
        <p:spPr>
          <a:xfrm>
            <a:off x="3422250" y="5148000"/>
            <a:ext cx="2427750" cy="1"/>
          </a:xfrm>
          <a:custGeom>
            <a:avLst/>
            <a:gdLst/>
            <a:ahLst/>
            <a:cxnLst/>
            <a:rect l="0" t="0" r="r" b="b"/>
            <a:pathLst>
              <a:path w="2427750" h="1">
                <a:moveTo>
                  <a:pt x="24277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gon-036"/>
          <p:cNvSpPr/>
          <p:nvPr/>
        </p:nvSpPr>
        <p:spPr>
          <a:xfrm>
            <a:off x="3422250" y="51216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sel_ready"/>
          <p:cNvSpPr txBox="1"/>
          <p:nvPr/>
        </p:nvSpPr>
        <p:spPr>
          <a:xfrm>
            <a:off x="3978000" y="5183568"/>
            <a:ext cx="72366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sel_ready</a:t>
            </a:r>
          </a:p>
        </p:txBody>
      </p:sp>
      <p:sp>
        <p:nvSpPr>
          <p:cNvPr id="39" name="rect-038"/>
          <p:cNvSpPr/>
          <p:nvPr/>
        </p:nvSpPr>
        <p:spPr>
          <a:xfrm>
            <a:off x="5850000" y="1433250"/>
            <a:ext cx="1813500" cy="73125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39: i_stream_to_mem"/>
          <p:cNvSpPr txBox="1"/>
          <p:nvPr/>
        </p:nvSpPr>
        <p:spPr>
          <a:xfrm>
            <a:off x="6136810" y="1480518"/>
            <a:ext cx="123988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i_stream_to_mem</a:t>
            </a:r>
          </a:p>
        </p:txBody>
      </p:sp>
      <p:sp>
        <p:nvSpPr>
          <p:cNvPr id="41" name="text-040: 执行本拍请求"/>
          <p:cNvSpPr txBox="1"/>
          <p:nvPr/>
        </p:nvSpPr>
        <p:spPr>
          <a:xfrm>
            <a:off x="6265350" y="1667718"/>
            <a:ext cx="9828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执行本拍请求</a:t>
            </a:r>
          </a:p>
        </p:txBody>
      </p:sp>
      <p:sp>
        <p:nvSpPr>
          <p:cNvPr id="42" name="text-041: 内部见图③"/>
          <p:cNvSpPr txBox="1"/>
          <p:nvPr/>
        </p:nvSpPr>
        <p:spPr>
          <a:xfrm>
            <a:off x="6335550" y="1854918"/>
            <a:ext cx="8424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内部见图③</a:t>
            </a:r>
          </a:p>
        </p:txBody>
      </p:sp>
      <p:sp>
        <p:nvSpPr>
          <p:cNvPr id="43" name="text-042: m2s_req（图①）"/>
          <p:cNvSpPr txBox="1"/>
          <p:nvPr/>
        </p:nvSpPr>
        <p:spPr>
          <a:xfrm>
            <a:off x="6136467" y="901368"/>
            <a:ext cx="1240566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m2s_req（图①）</a:t>
            </a:r>
          </a:p>
        </p:txBody>
      </p:sp>
      <p:sp>
        <p:nvSpPr>
          <p:cNvPr id="44" name="polyline-043"/>
          <p:cNvSpPr/>
          <p:nvPr/>
        </p:nvSpPr>
        <p:spPr>
          <a:xfrm>
            <a:off x="6756750" y="1158300"/>
            <a:ext cx="1" cy="274950"/>
          </a:xfrm>
          <a:custGeom>
            <a:avLst/>
            <a:gdLst/>
            <a:ahLst/>
            <a:cxnLst/>
            <a:rect l="0" t="0" r="r" b="b"/>
            <a:pathLst>
              <a:path w="1" h="274950">
                <a:moveTo>
                  <a:pt x="0" y="0"/>
                </a:moveTo>
                <a:lnTo>
                  <a:pt x="0" y="27495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polygon-044"/>
          <p:cNvSpPr/>
          <p:nvPr/>
        </p:nvSpPr>
        <p:spPr>
          <a:xfrm>
            <a:off x="6730425" y="1368900"/>
            <a:ext cx="52650" cy="64350"/>
          </a:xfrm>
          <a:custGeom>
            <a:avLst/>
            <a:gdLst/>
            <a:ahLst/>
            <a:cxnLst/>
            <a:rect l="0" t="0" r="r" b="b"/>
            <a:pathLst>
              <a:path w="52650" h="64350">
                <a:moveTo>
                  <a:pt x="26325" y="64350"/>
                </a:moveTo>
                <a:lnTo>
                  <a:pt x="5265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5"/>
          <p:cNvSpPr/>
          <p:nvPr/>
        </p:nvSpPr>
        <p:spPr>
          <a:xfrm>
            <a:off x="5850000" y="2954250"/>
            <a:ext cx="1813500" cy="760500"/>
          </a:xfrm>
          <a:prstGeom prst="rect">
            <a:avLst/>
          </a:prstGeom>
          <a:solidFill>
            <a:srgbClr val="EEF5EE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6: i_meta_buf"/>
          <p:cNvSpPr txBox="1"/>
          <p:nvPr/>
        </p:nvSpPr>
        <p:spPr>
          <a:xfrm>
            <a:off x="6347204" y="2989818"/>
            <a:ext cx="81909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i_meta_buf</a:t>
            </a:r>
          </a:p>
        </p:txBody>
      </p:sp>
      <p:sp>
        <p:nvSpPr>
          <p:cNvPr id="48" name="text-047: meta_t；深度 2"/>
          <p:cNvSpPr txBox="1"/>
          <p:nvPr/>
        </p:nvSpPr>
        <p:spPr>
          <a:xfrm>
            <a:off x="6246100" y="3183804"/>
            <a:ext cx="1021300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meta_t；深度 2</a:t>
            </a:r>
          </a:p>
        </p:txBody>
      </p:sp>
      <p:sp>
        <p:nvSpPr>
          <p:cNvPr id="49" name="rect-048"/>
          <p:cNvSpPr/>
          <p:nvPr/>
        </p:nvSpPr>
        <p:spPr>
          <a:xfrm>
            <a:off x="5996250" y="3492450"/>
            <a:ext cx="1521000" cy="134550"/>
          </a:xfrm>
          <a:prstGeom prst="rect">
            <a:avLst/>
          </a:prstGeom>
          <a:solidFill>
            <a:srgbClr val="FFFFFF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polyline-049"/>
          <p:cNvSpPr/>
          <p:nvPr/>
        </p:nvSpPr>
        <p:spPr>
          <a:xfrm>
            <a:off x="6756750" y="3492450"/>
            <a:ext cx="1" cy="134550"/>
          </a:xfrm>
          <a:custGeom>
            <a:avLst/>
            <a:gdLst/>
            <a:ahLst/>
            <a:cxnLst/>
            <a:rect l="0" t="0" r="r" b="b"/>
            <a:pathLst>
              <a:path w="1" h="134550">
                <a:moveTo>
                  <a:pt x="0" y="0"/>
                </a:moveTo>
                <a:lnTo>
                  <a:pt x="0" y="134550"/>
                </a:lnTo>
              </a:path>
            </a:pathLst>
          </a:custGeom>
          <a:noFill/>
          <a:ln w="8775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meta（图①）"/>
          <p:cNvSpPr txBox="1"/>
          <p:nvPr/>
        </p:nvSpPr>
        <p:spPr>
          <a:xfrm>
            <a:off x="6250131" y="2451618"/>
            <a:ext cx="1013238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meta（图①）</a:t>
            </a:r>
          </a:p>
        </p:txBody>
      </p:sp>
      <p:sp>
        <p:nvSpPr>
          <p:cNvPr id="52" name="polyline-051"/>
          <p:cNvSpPr/>
          <p:nvPr/>
        </p:nvSpPr>
        <p:spPr>
          <a:xfrm>
            <a:off x="6756750" y="2708550"/>
            <a:ext cx="1" cy="245700"/>
          </a:xfrm>
          <a:custGeom>
            <a:avLst/>
            <a:gdLst/>
            <a:ahLst/>
            <a:cxnLst/>
            <a:rect l="0" t="0" r="r" b="b"/>
            <a:pathLst>
              <a:path w="1" h="245700">
                <a:moveTo>
                  <a:pt x="0" y="0"/>
                </a:moveTo>
                <a:lnTo>
                  <a:pt x="0" y="24570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-052"/>
          <p:cNvSpPr/>
          <p:nvPr/>
        </p:nvSpPr>
        <p:spPr>
          <a:xfrm>
            <a:off x="6730425" y="2889900"/>
            <a:ext cx="52650" cy="64350"/>
          </a:xfrm>
          <a:custGeom>
            <a:avLst/>
            <a:gdLst/>
            <a:ahLst/>
            <a:cxnLst/>
            <a:rect l="0" t="0" r="r" b="b"/>
            <a:pathLst>
              <a:path w="52650" h="64350">
                <a:moveTo>
                  <a:pt x="26325" y="64350"/>
                </a:moveTo>
                <a:lnTo>
                  <a:pt x="5265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line-053"/>
          <p:cNvSpPr/>
          <p:nvPr/>
        </p:nvSpPr>
        <p:spPr>
          <a:xfrm>
            <a:off x="7663500" y="3305250"/>
            <a:ext cx="936000" cy="1"/>
          </a:xfrm>
          <a:custGeom>
            <a:avLst/>
            <a:gdLst/>
            <a:ahLst/>
            <a:cxnLst/>
            <a:rect l="0" t="0" r="r" b="b"/>
            <a:pathLst>
              <a:path w="936000" h="1">
                <a:moveTo>
                  <a:pt x="0" y="0"/>
                </a:moveTo>
                <a:lnTo>
                  <a:pt x="9360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-054"/>
          <p:cNvSpPr/>
          <p:nvPr/>
        </p:nvSpPr>
        <p:spPr>
          <a:xfrm>
            <a:off x="8535150" y="32789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meta_buf"/>
          <p:cNvSpPr txBox="1"/>
          <p:nvPr/>
        </p:nvSpPr>
        <p:spPr>
          <a:xfrm>
            <a:off x="7780500" y="3042468"/>
            <a:ext cx="7153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meta_buf</a:t>
            </a:r>
          </a:p>
        </p:txBody>
      </p:sp>
      <p:sp>
        <p:nvSpPr>
          <p:cNvPr id="57" name="text-056: 供响应字段构造"/>
          <p:cNvSpPr txBox="1"/>
          <p:nvPr/>
        </p:nvSpPr>
        <p:spPr>
          <a:xfrm>
            <a:off x="7768800" y="3393936"/>
            <a:ext cx="1076400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供响应字段构造</a:t>
            </a:r>
          </a:p>
        </p:txBody>
      </p:sp>
      <p:sp>
        <p:nvSpPr>
          <p:cNvPr id="58" name="rect-057"/>
          <p:cNvSpPr/>
          <p:nvPr/>
        </p:nvSpPr>
        <p:spPr>
          <a:xfrm>
            <a:off x="5850000" y="4533750"/>
            <a:ext cx="1813500" cy="760500"/>
          </a:xfrm>
          <a:prstGeom prst="rect">
            <a:avLst/>
          </a:prstGeom>
          <a:solidFill>
            <a:srgbClr val="EEF5EE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i_sel_buf"/>
          <p:cNvSpPr txBox="1"/>
          <p:nvPr/>
        </p:nvSpPr>
        <p:spPr>
          <a:xfrm>
            <a:off x="6411714" y="4569318"/>
            <a:ext cx="69007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i_sel_buf</a:t>
            </a:r>
          </a:p>
        </p:txBody>
      </p:sp>
      <p:sp>
        <p:nvSpPr>
          <p:cNvPr id="60" name="text-059: logic[1:0]；深度 2"/>
          <p:cNvSpPr txBox="1"/>
          <p:nvPr/>
        </p:nvSpPr>
        <p:spPr>
          <a:xfrm>
            <a:off x="6177911" y="4763304"/>
            <a:ext cx="1157678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logic[1:0]；深度 2</a:t>
            </a:r>
          </a:p>
        </p:txBody>
      </p:sp>
      <p:sp>
        <p:nvSpPr>
          <p:cNvPr id="61" name="rect-060"/>
          <p:cNvSpPr/>
          <p:nvPr/>
        </p:nvSpPr>
        <p:spPr>
          <a:xfrm>
            <a:off x="5996250" y="5071950"/>
            <a:ext cx="1521000" cy="134550"/>
          </a:xfrm>
          <a:prstGeom prst="rect">
            <a:avLst/>
          </a:prstGeom>
          <a:solidFill>
            <a:srgbClr val="FFFFFF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polyline-061"/>
          <p:cNvSpPr/>
          <p:nvPr/>
        </p:nvSpPr>
        <p:spPr>
          <a:xfrm>
            <a:off x="6756750" y="5071950"/>
            <a:ext cx="1" cy="134550"/>
          </a:xfrm>
          <a:custGeom>
            <a:avLst/>
            <a:gdLst/>
            <a:ahLst/>
            <a:cxnLst/>
            <a:rect l="0" t="0" r="r" b="b"/>
            <a:pathLst>
              <a:path w="1" h="134550">
                <a:moveTo>
                  <a:pt x="0" y="0"/>
                </a:moveTo>
                <a:lnTo>
                  <a:pt x="0" y="134550"/>
                </a:lnTo>
              </a:path>
            </a:pathLst>
          </a:custGeom>
          <a:noFill/>
          <a:ln w="8775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{sel_b, sel_r}"/>
          <p:cNvSpPr txBox="1"/>
          <p:nvPr/>
        </p:nvSpPr>
        <p:spPr>
          <a:xfrm>
            <a:off x="6289687" y="3966768"/>
            <a:ext cx="934126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{sel_b, sel_r}</a:t>
            </a:r>
          </a:p>
        </p:txBody>
      </p:sp>
      <p:sp>
        <p:nvSpPr>
          <p:cNvPr id="64" name="polyline-063"/>
          <p:cNvSpPr/>
          <p:nvPr/>
        </p:nvSpPr>
        <p:spPr>
          <a:xfrm>
            <a:off x="6756750" y="4223700"/>
            <a:ext cx="1" cy="310050"/>
          </a:xfrm>
          <a:custGeom>
            <a:avLst/>
            <a:gdLst/>
            <a:ahLst/>
            <a:cxnLst/>
            <a:rect l="0" t="0" r="r" b="b"/>
            <a:pathLst>
              <a:path w="1" h="310050">
                <a:moveTo>
                  <a:pt x="0" y="0"/>
                </a:moveTo>
                <a:lnTo>
                  <a:pt x="0" y="31005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polygon-064"/>
          <p:cNvSpPr/>
          <p:nvPr/>
        </p:nvSpPr>
        <p:spPr>
          <a:xfrm>
            <a:off x="6730425" y="4469400"/>
            <a:ext cx="52650" cy="64350"/>
          </a:xfrm>
          <a:custGeom>
            <a:avLst/>
            <a:gdLst/>
            <a:ahLst/>
            <a:cxnLst/>
            <a:rect l="0" t="0" r="r" b="b"/>
            <a:pathLst>
              <a:path w="52650" h="64350">
                <a:moveTo>
                  <a:pt x="26325" y="64350"/>
                </a:moveTo>
                <a:lnTo>
                  <a:pt x="52650" y="0"/>
                </a:lnTo>
                <a:lnTo>
                  <a:pt x="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polyline-065"/>
          <p:cNvSpPr/>
          <p:nvPr/>
        </p:nvSpPr>
        <p:spPr>
          <a:xfrm>
            <a:off x="7663500" y="4884750"/>
            <a:ext cx="936000" cy="1"/>
          </a:xfrm>
          <a:custGeom>
            <a:avLst/>
            <a:gdLst/>
            <a:ahLst/>
            <a:cxnLst/>
            <a:rect l="0" t="0" r="r" b="b"/>
            <a:pathLst>
              <a:path w="936000" h="1">
                <a:moveTo>
                  <a:pt x="0" y="0"/>
                </a:moveTo>
                <a:lnTo>
                  <a:pt x="9360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gon-066"/>
          <p:cNvSpPr/>
          <p:nvPr/>
        </p:nvSpPr>
        <p:spPr>
          <a:xfrm>
            <a:off x="8535150" y="48584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7: sel_buf_b"/>
          <p:cNvSpPr txBox="1"/>
          <p:nvPr/>
        </p:nvSpPr>
        <p:spPr>
          <a:xfrm>
            <a:off x="7768800" y="4504968"/>
            <a:ext cx="73216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sel_buf_b</a:t>
            </a:r>
          </a:p>
        </p:txBody>
      </p:sp>
      <p:sp>
        <p:nvSpPr>
          <p:cNvPr id="69" name="text-068: sel_buf_r"/>
          <p:cNvSpPr txBox="1"/>
          <p:nvPr/>
        </p:nvSpPr>
        <p:spPr>
          <a:xfrm>
            <a:off x="7768800" y="4662918"/>
            <a:ext cx="70131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sel_buf_r</a:t>
            </a:r>
          </a:p>
        </p:txBody>
      </p:sp>
      <p:sp>
        <p:nvSpPr>
          <p:cNvPr id="70" name="text-069: 供 R / B 握手选择"/>
          <p:cNvSpPr txBox="1"/>
          <p:nvPr/>
        </p:nvSpPr>
        <p:spPr>
          <a:xfrm>
            <a:off x="7768800" y="4973436"/>
            <a:ext cx="1205173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供 R / B 握手选择</a:t>
            </a:r>
          </a:p>
        </p:txBody>
      </p:sp>
      <p:sp>
        <p:nvSpPr>
          <p:cNvPr id="71" name="text-070: sel_b = meta.write &amp; meta.last"/>
          <p:cNvSpPr txBox="1"/>
          <p:nvPr/>
        </p:nvSpPr>
        <p:spPr>
          <a:xfrm>
            <a:off x="234000" y="5580900"/>
            <a:ext cx="2126758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sel_b = meta.write &amp; meta.last</a:t>
            </a:r>
          </a:p>
        </p:txBody>
      </p:sp>
      <p:sp>
        <p:nvSpPr>
          <p:cNvPr id="72" name="text-071: sel_r = ~meta.write | meta.atop[5]"/>
          <p:cNvSpPr txBox="1"/>
          <p:nvPr/>
        </p:nvSpPr>
        <p:spPr>
          <a:xfrm>
            <a:off x="234000" y="5832450"/>
            <a:ext cx="2342989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sel_r = ~meta.write | meta.atop[5]</a:t>
            </a:r>
          </a:p>
        </p:txBody>
      </p:sp>
      <p:sp>
        <p:nvSpPr>
          <p:cNvPr id="73" name="text-072: 普通读：(B,R) = (0,1)"/>
          <p:cNvSpPr txBox="1"/>
          <p:nvPr/>
        </p:nvSpPr>
        <p:spPr>
          <a:xfrm>
            <a:off x="4504500" y="5587218"/>
            <a:ext cx="146515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普通读：(B,R) = (0,1)</a:t>
            </a:r>
          </a:p>
        </p:txBody>
      </p:sp>
      <p:sp>
        <p:nvSpPr>
          <p:cNvPr id="74" name="text-073: 普通写中间拍：(0,0)；最后拍：(1,0)"/>
          <p:cNvSpPr txBox="1"/>
          <p:nvPr/>
        </p:nvSpPr>
        <p:spPr>
          <a:xfrm>
            <a:off x="4504500" y="5838768"/>
            <a:ext cx="2414496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普通写中间拍：(0,0)；最后拍：(1,0)</a:t>
            </a:r>
          </a:p>
        </p:txBody>
      </p:sp>
      <p:sp>
        <p:nvSpPr>
          <p:cNvPr id="75" name="text-074: 三条支路可以分不同周期接收；FIFO 均为 fall-through，不代表固定"/>
          <p:cNvSpPr txBox="1"/>
          <p:nvPr/>
        </p:nvSpPr>
        <p:spPr>
          <a:xfrm>
            <a:off x="234000" y="6289218"/>
            <a:ext cx="496870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三条支路可以分不同周期接收；FIFO 均为 fall-through，不代表固定延迟两拍。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234000"/>
            <a:ext cx="9360000" cy="6376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③ i_stream_to_mem：请求直通 + 在途计数 + 返回缓冲"/>
          <p:cNvSpPr txBox="1"/>
          <p:nvPr/>
        </p:nvSpPr>
        <p:spPr>
          <a:xfrm>
            <a:off x="234000" y="296010"/>
            <a:ext cx="4480378" cy="2808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③ i_stream_to_mem：请求直通 + 在途计数 + 返回缓冲</a:t>
            </a:r>
          </a:p>
        </p:txBody>
      </p:sp>
      <p:sp>
        <p:nvSpPr>
          <p:cNvPr id="4" name="text-003: 默认 BufDepth = 1；括号内为外层 axi_to_detailed_m"/>
          <p:cNvSpPr txBox="1"/>
          <p:nvPr/>
        </p:nvSpPr>
        <p:spPr>
          <a:xfrm>
            <a:off x="234000" y="585936"/>
            <a:ext cx="4170931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默认 BufDepth = 1；括号内为外层 axi_to_detailed_mem 的连线名。</a:t>
            </a:r>
          </a:p>
        </p:txBody>
      </p:sp>
      <p:sp>
        <p:nvSpPr>
          <p:cNvPr id="5" name="text-004: 上游 stream 接口"/>
          <p:cNvSpPr txBox="1"/>
          <p:nvPr/>
        </p:nvSpPr>
        <p:spPr>
          <a:xfrm>
            <a:off x="321750" y="889200"/>
            <a:ext cx="1265830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上游 stream 接口</a:t>
            </a:r>
          </a:p>
        </p:txBody>
      </p:sp>
      <p:sp>
        <p:nvSpPr>
          <p:cNvPr id="6" name="text-005: 下游 memory 接口"/>
          <p:cNvSpPr txBox="1"/>
          <p:nvPr/>
        </p:nvSpPr>
        <p:spPr>
          <a:xfrm>
            <a:off x="6990750" y="889200"/>
            <a:ext cx="1324385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下游 memory 接口</a:t>
            </a:r>
          </a:p>
        </p:txBody>
      </p:sp>
      <p:sp>
        <p:nvSpPr>
          <p:cNvPr id="7" name="text-006: req_i (m2s_req)"/>
          <p:cNvSpPr txBox="1"/>
          <p:nvPr/>
        </p:nvSpPr>
        <p:spPr>
          <a:xfrm>
            <a:off x="321750" y="1246518"/>
            <a:ext cx="1105239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req_i (m2s_req)</a:t>
            </a:r>
          </a:p>
        </p:txBody>
      </p:sp>
      <p:sp>
        <p:nvSpPr>
          <p:cNvPr id="8" name="text-007: mem_req_o (mem_req)"/>
          <p:cNvSpPr txBox="1"/>
          <p:nvPr/>
        </p:nvSpPr>
        <p:spPr>
          <a:xfrm>
            <a:off x="6786000" y="1246518"/>
            <a:ext cx="155687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mem_req_o (mem_req)</a:t>
            </a:r>
          </a:p>
        </p:txBody>
      </p:sp>
      <p:sp>
        <p:nvSpPr>
          <p:cNvPr id="9" name="polyline-008"/>
          <p:cNvSpPr/>
          <p:nvPr/>
        </p:nvSpPr>
        <p:spPr>
          <a:xfrm>
            <a:off x="351000" y="1521000"/>
            <a:ext cx="8424000" cy="1"/>
          </a:xfrm>
          <a:custGeom>
            <a:avLst/>
            <a:gdLst/>
            <a:ahLst/>
            <a:cxnLst/>
            <a:rect l="0" t="0" r="r" b="b"/>
            <a:pathLst>
              <a:path w="8424000" h="1">
                <a:moveTo>
                  <a:pt x="0" y="0"/>
                </a:moveTo>
                <a:lnTo>
                  <a:pt x="84240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olygon-009"/>
          <p:cNvSpPr/>
          <p:nvPr/>
        </p:nvSpPr>
        <p:spPr>
          <a:xfrm>
            <a:off x="8710650" y="14946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0: 结构体直接连线，不改字段"/>
          <p:cNvSpPr txBox="1"/>
          <p:nvPr/>
        </p:nvSpPr>
        <p:spPr>
          <a:xfrm>
            <a:off x="3656250" y="1275768"/>
            <a:ext cx="18252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05F9C"/>
                </a:solidFill>
                <a:latin typeface="WenQuanYi Zen Hei"/>
                <a:ea typeface="WenQuanYi Zen Hei"/>
                <a:cs typeface="WenQuanYi Zen Hei"/>
              </a:rPr>
              <a:t>结构体直接连线，不改字段</a:t>
            </a:r>
          </a:p>
        </p:txBody>
      </p:sp>
      <p:sp>
        <p:nvSpPr>
          <p:cNvPr id="12" name="rect-011"/>
          <p:cNvSpPr/>
          <p:nvPr/>
        </p:nvSpPr>
        <p:spPr>
          <a:xfrm>
            <a:off x="4738500" y="1989000"/>
            <a:ext cx="380250" cy="380250"/>
          </a:xfrm>
          <a:prstGeom prst="rect">
            <a:avLst/>
          </a:prstGeom>
          <a:solidFill>
            <a:srgbClr val="FBF4E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&amp;"/>
          <p:cNvSpPr txBox="1"/>
          <p:nvPr/>
        </p:nvSpPr>
        <p:spPr>
          <a:xfrm>
            <a:off x="4768481" y="2038374"/>
            <a:ext cx="314438" cy="2995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&amp;</a:t>
            </a:r>
          </a:p>
        </p:txBody>
      </p:sp>
      <p:sp>
        <p:nvSpPr>
          <p:cNvPr id="14" name="text-013: req_valid_i"/>
          <p:cNvSpPr txBox="1"/>
          <p:nvPr/>
        </p:nvSpPr>
        <p:spPr>
          <a:xfrm>
            <a:off x="321750" y="1767168"/>
            <a:ext cx="79084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req_valid_i</a:t>
            </a:r>
          </a:p>
        </p:txBody>
      </p:sp>
      <p:sp>
        <p:nvSpPr>
          <p:cNvPr id="15" name="polyline-014"/>
          <p:cNvSpPr/>
          <p:nvPr/>
        </p:nvSpPr>
        <p:spPr>
          <a:xfrm>
            <a:off x="351000" y="2164500"/>
            <a:ext cx="4387500" cy="1"/>
          </a:xfrm>
          <a:custGeom>
            <a:avLst/>
            <a:gdLst/>
            <a:ahLst/>
            <a:cxnLst/>
            <a:rect l="0" t="0" r="r" b="b"/>
            <a:pathLst>
              <a:path w="4387500" h="1">
                <a:moveTo>
                  <a:pt x="0" y="0"/>
                </a:moveTo>
                <a:lnTo>
                  <a:pt x="438750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olygon-015"/>
          <p:cNvSpPr/>
          <p:nvPr/>
        </p:nvSpPr>
        <p:spPr>
          <a:xfrm>
            <a:off x="4674150" y="2138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polyline-016"/>
          <p:cNvSpPr/>
          <p:nvPr/>
        </p:nvSpPr>
        <p:spPr>
          <a:xfrm>
            <a:off x="5118750" y="2164500"/>
            <a:ext cx="3656250" cy="1"/>
          </a:xfrm>
          <a:custGeom>
            <a:avLst/>
            <a:gdLst/>
            <a:ahLst/>
            <a:cxnLst/>
            <a:rect l="0" t="0" r="r" b="b"/>
            <a:pathLst>
              <a:path w="3656250" h="1">
                <a:moveTo>
                  <a:pt x="0" y="0"/>
                </a:moveTo>
                <a:lnTo>
                  <a:pt x="365625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gon-017"/>
          <p:cNvSpPr/>
          <p:nvPr/>
        </p:nvSpPr>
        <p:spPr>
          <a:xfrm>
            <a:off x="8710650" y="2138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8: mem_req_valid_o"/>
          <p:cNvSpPr txBox="1"/>
          <p:nvPr/>
        </p:nvSpPr>
        <p:spPr>
          <a:xfrm>
            <a:off x="6903000" y="1895868"/>
            <a:ext cx="120889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mem_req_valid_o</a:t>
            </a:r>
          </a:p>
        </p:txBody>
      </p:sp>
      <p:sp>
        <p:nvSpPr>
          <p:cNvPr id="20" name="rect-019"/>
          <p:cNvSpPr/>
          <p:nvPr/>
        </p:nvSpPr>
        <p:spPr>
          <a:xfrm>
            <a:off x="4738500" y="2603250"/>
            <a:ext cx="380250" cy="380250"/>
          </a:xfrm>
          <a:prstGeom prst="rect">
            <a:avLst/>
          </a:prstGeom>
          <a:solidFill>
            <a:srgbClr val="FBF4E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0: &amp;"/>
          <p:cNvSpPr txBox="1"/>
          <p:nvPr/>
        </p:nvSpPr>
        <p:spPr>
          <a:xfrm>
            <a:off x="4768481" y="2652624"/>
            <a:ext cx="314438" cy="2995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74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&amp;</a:t>
            </a:r>
          </a:p>
        </p:txBody>
      </p:sp>
      <p:sp>
        <p:nvSpPr>
          <p:cNvPr id="22" name="text-021: req_ready_o"/>
          <p:cNvSpPr txBox="1"/>
          <p:nvPr/>
        </p:nvSpPr>
        <p:spPr>
          <a:xfrm>
            <a:off x="321750" y="2498418"/>
            <a:ext cx="88353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req_ready_o</a:t>
            </a:r>
          </a:p>
        </p:txBody>
      </p:sp>
      <p:sp>
        <p:nvSpPr>
          <p:cNvPr id="23" name="polyline-022"/>
          <p:cNvSpPr/>
          <p:nvPr/>
        </p:nvSpPr>
        <p:spPr>
          <a:xfrm>
            <a:off x="351000" y="2796300"/>
            <a:ext cx="4387500" cy="1"/>
          </a:xfrm>
          <a:custGeom>
            <a:avLst/>
            <a:gdLst/>
            <a:ahLst/>
            <a:cxnLst/>
            <a:rect l="0" t="0" r="r" b="b"/>
            <a:pathLst>
              <a:path w="4387500" h="1">
                <a:moveTo>
                  <a:pt x="438750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gon-023"/>
          <p:cNvSpPr/>
          <p:nvPr/>
        </p:nvSpPr>
        <p:spPr>
          <a:xfrm>
            <a:off x="351000" y="27699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polyline-024"/>
          <p:cNvSpPr/>
          <p:nvPr/>
        </p:nvSpPr>
        <p:spPr>
          <a:xfrm>
            <a:off x="5118750" y="2796300"/>
            <a:ext cx="3656250" cy="1"/>
          </a:xfrm>
          <a:custGeom>
            <a:avLst/>
            <a:gdLst/>
            <a:ahLst/>
            <a:cxnLst/>
            <a:rect l="0" t="0" r="r" b="b"/>
            <a:pathLst>
              <a:path w="3656250" h="1">
                <a:moveTo>
                  <a:pt x="36562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gon-025"/>
          <p:cNvSpPr/>
          <p:nvPr/>
        </p:nvSpPr>
        <p:spPr>
          <a:xfrm>
            <a:off x="5118750" y="27699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6: mem_req_ready_i"/>
          <p:cNvSpPr txBox="1"/>
          <p:nvPr/>
        </p:nvSpPr>
        <p:spPr>
          <a:xfrm>
            <a:off x="6903000" y="2527668"/>
            <a:ext cx="121739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mem_req_ready_i</a:t>
            </a:r>
          </a:p>
        </p:txBody>
      </p:sp>
      <p:sp>
        <p:nvSpPr>
          <p:cNvPr id="28" name="rect-027"/>
          <p:cNvSpPr/>
          <p:nvPr/>
        </p:nvSpPr>
        <p:spPr>
          <a:xfrm>
            <a:off x="5557500" y="3334500"/>
            <a:ext cx="3393000" cy="555750"/>
          </a:xfrm>
          <a:prstGeom prst="rect">
            <a:avLst/>
          </a:prstGeom>
          <a:solidFill>
            <a:srgbClr val="FBF4E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8: req_ready = (cnt_q &lt; BufDepth)"/>
          <p:cNvSpPr txBox="1"/>
          <p:nvPr/>
        </p:nvSpPr>
        <p:spPr>
          <a:xfrm>
            <a:off x="6223280" y="3381768"/>
            <a:ext cx="2061439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req_ready = (cnt_q &lt; BufDepth)</a:t>
            </a:r>
          </a:p>
        </p:txBody>
      </p:sp>
      <p:sp>
        <p:nvSpPr>
          <p:cNvPr id="30" name="text-029: | (resp_valid_o &amp; resp_ready_i)"/>
          <p:cNvSpPr txBox="1"/>
          <p:nvPr/>
        </p:nvSpPr>
        <p:spPr>
          <a:xfrm>
            <a:off x="6242887" y="3568968"/>
            <a:ext cx="2022226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| (resp_valid_o &amp; resp_ready_i)</a:t>
            </a:r>
          </a:p>
        </p:txBody>
      </p:sp>
      <p:sp>
        <p:nvSpPr>
          <p:cNvPr id="31" name="polyline-030"/>
          <p:cNvSpPr/>
          <p:nvPr/>
        </p:nvSpPr>
        <p:spPr>
          <a:xfrm>
            <a:off x="4925700" y="2983500"/>
            <a:ext cx="2328300" cy="351000"/>
          </a:xfrm>
          <a:custGeom>
            <a:avLst/>
            <a:gdLst/>
            <a:ahLst/>
            <a:cxnLst/>
            <a:rect l="0" t="0" r="r" b="b"/>
            <a:pathLst>
              <a:path w="2328300" h="351000">
                <a:moveTo>
                  <a:pt x="2328300" y="351000"/>
                </a:moveTo>
                <a:lnTo>
                  <a:pt x="2328300" y="134550"/>
                </a:lnTo>
                <a:lnTo>
                  <a:pt x="0" y="134550"/>
                </a:ln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4899375" y="2983500"/>
            <a:ext cx="52650" cy="64350"/>
          </a:xfrm>
          <a:custGeom>
            <a:avLst/>
            <a:gdLst/>
            <a:ahLst/>
            <a:cxnLst/>
            <a:rect l="0" t="0" r="r" b="b"/>
            <a:pathLst>
              <a:path w="52650" h="64350">
                <a:moveTo>
                  <a:pt x="26325" y="0"/>
                </a:moveTo>
                <a:lnTo>
                  <a:pt x="0" y="64350"/>
                </a:lnTo>
                <a:lnTo>
                  <a:pt x="52650" y="643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ircle-032"/>
          <p:cNvSpPr/>
          <p:nvPr/>
        </p:nvSpPr>
        <p:spPr>
          <a:xfrm>
            <a:off x="7230600" y="3094650"/>
            <a:ext cx="46800" cy="46800"/>
          </a:xfrm>
          <a:prstGeom prst="ellipse">
            <a:avLst/>
          </a:pr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3"/>
          <p:cNvSpPr/>
          <p:nvPr/>
        </p:nvSpPr>
        <p:spPr>
          <a:xfrm>
            <a:off x="4925700" y="1784250"/>
            <a:ext cx="4258800" cy="1333800"/>
          </a:xfrm>
          <a:custGeom>
            <a:avLst/>
            <a:gdLst/>
            <a:ahLst/>
            <a:cxnLst/>
            <a:rect l="0" t="0" r="r" b="b"/>
            <a:pathLst>
              <a:path w="4258800" h="1333800">
                <a:moveTo>
                  <a:pt x="2328300" y="1333800"/>
                </a:moveTo>
                <a:lnTo>
                  <a:pt x="4258800" y="1333800"/>
                </a:lnTo>
                <a:lnTo>
                  <a:pt x="4258800" y="0"/>
                </a:lnTo>
                <a:lnTo>
                  <a:pt x="0" y="0"/>
                </a:lnTo>
                <a:lnTo>
                  <a:pt x="0" y="20475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polygon-034"/>
          <p:cNvSpPr/>
          <p:nvPr/>
        </p:nvSpPr>
        <p:spPr>
          <a:xfrm>
            <a:off x="4899375" y="1924650"/>
            <a:ext cx="52650" cy="64350"/>
          </a:xfrm>
          <a:custGeom>
            <a:avLst/>
            <a:gdLst/>
            <a:ahLst/>
            <a:cxnLst/>
            <a:rect l="0" t="0" r="r" b="b"/>
            <a:pathLst>
              <a:path w="52650" h="64350">
                <a:moveTo>
                  <a:pt x="26325" y="64350"/>
                </a:moveTo>
                <a:lnTo>
                  <a:pt x="52650" y="0"/>
                </a:lnTo>
                <a:lnTo>
                  <a:pt x="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5"/>
          <p:cNvSpPr/>
          <p:nvPr/>
        </p:nvSpPr>
        <p:spPr>
          <a:xfrm>
            <a:off x="2632500" y="3334500"/>
            <a:ext cx="1901250" cy="555750"/>
          </a:xfrm>
          <a:prstGeom prst="rect">
            <a:avLst/>
          </a:prstGeom>
          <a:solidFill>
            <a:srgbClr val="FBF4E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6: cnt_q：在途计数寄存器"/>
          <p:cNvSpPr txBox="1"/>
          <p:nvPr/>
        </p:nvSpPr>
        <p:spPr>
          <a:xfrm>
            <a:off x="2784463" y="3381768"/>
            <a:ext cx="159732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cnt_q：在途计数寄存器</a:t>
            </a:r>
          </a:p>
        </p:txBody>
      </p:sp>
      <p:sp>
        <p:nvSpPr>
          <p:cNvPr id="38" name="text-037: 接收请求 +1；交付响应 -1"/>
          <p:cNvSpPr txBox="1"/>
          <p:nvPr/>
        </p:nvSpPr>
        <p:spPr>
          <a:xfrm>
            <a:off x="2691708" y="3568968"/>
            <a:ext cx="178283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接收请求 +1；交付响应 -1</a:t>
            </a:r>
          </a:p>
        </p:txBody>
      </p:sp>
      <p:sp>
        <p:nvSpPr>
          <p:cNvPr id="39" name="polyline-038"/>
          <p:cNvSpPr/>
          <p:nvPr/>
        </p:nvSpPr>
        <p:spPr>
          <a:xfrm>
            <a:off x="4533750" y="3591900"/>
            <a:ext cx="1023750" cy="1"/>
          </a:xfrm>
          <a:custGeom>
            <a:avLst/>
            <a:gdLst/>
            <a:ahLst/>
            <a:cxnLst/>
            <a:rect l="0" t="0" r="r" b="b"/>
            <a:pathLst>
              <a:path w="1023750" h="1">
                <a:moveTo>
                  <a:pt x="0" y="0"/>
                </a:moveTo>
                <a:lnTo>
                  <a:pt x="102375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polygon-039"/>
          <p:cNvSpPr/>
          <p:nvPr/>
        </p:nvSpPr>
        <p:spPr>
          <a:xfrm>
            <a:off x="5493150" y="35655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0: cnt_q"/>
          <p:cNvSpPr txBox="1"/>
          <p:nvPr/>
        </p:nvSpPr>
        <p:spPr>
          <a:xfrm>
            <a:off x="4738500" y="3341286"/>
            <a:ext cx="454371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cnt_q</a:t>
            </a:r>
          </a:p>
        </p:txBody>
      </p:sp>
      <p:sp>
        <p:nvSpPr>
          <p:cNvPr id="42" name="text-041: resp_o"/>
          <p:cNvSpPr txBox="1"/>
          <p:nvPr/>
        </p:nvSpPr>
        <p:spPr>
          <a:xfrm>
            <a:off x="321750" y="4423068"/>
            <a:ext cx="55543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resp_o</a:t>
            </a:r>
          </a:p>
        </p:txBody>
      </p:sp>
      <p:sp>
        <p:nvSpPr>
          <p:cNvPr id="43" name="text-042: (m2s_resp)"/>
          <p:cNvSpPr txBox="1"/>
          <p:nvPr/>
        </p:nvSpPr>
        <p:spPr>
          <a:xfrm>
            <a:off x="321750" y="4616118"/>
            <a:ext cx="83609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(m2s_resp)</a:t>
            </a:r>
          </a:p>
        </p:txBody>
      </p:sp>
      <p:sp>
        <p:nvSpPr>
          <p:cNvPr id="44" name="rect-043"/>
          <p:cNvSpPr/>
          <p:nvPr/>
        </p:nvSpPr>
        <p:spPr>
          <a:xfrm>
            <a:off x="3451500" y="4387500"/>
            <a:ext cx="2106000" cy="877500"/>
          </a:xfrm>
          <a:prstGeom prst="rect">
            <a:avLst/>
          </a:prstGeom>
          <a:solidFill>
            <a:srgbClr val="EEF5EE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i_resp_buf"/>
          <p:cNvSpPr txBox="1"/>
          <p:nvPr/>
        </p:nvSpPr>
        <p:spPr>
          <a:xfrm>
            <a:off x="4116001" y="4423068"/>
            <a:ext cx="776999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i_resp_buf</a:t>
            </a:r>
          </a:p>
        </p:txBody>
      </p:sp>
      <p:sp>
        <p:nvSpPr>
          <p:cNvPr id="46" name="text-045: 深度 1；fall-through"/>
          <p:cNvSpPr txBox="1"/>
          <p:nvPr/>
        </p:nvSpPr>
        <p:spPr>
          <a:xfrm>
            <a:off x="3873130" y="4617054"/>
            <a:ext cx="1262741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深度 1；fall-through</a:t>
            </a:r>
          </a:p>
        </p:txBody>
      </p:sp>
      <p:sp>
        <p:nvSpPr>
          <p:cNvPr id="47" name="rect-046"/>
          <p:cNvSpPr/>
          <p:nvPr/>
        </p:nvSpPr>
        <p:spPr>
          <a:xfrm>
            <a:off x="3597750" y="5042700"/>
            <a:ext cx="1813500" cy="134550"/>
          </a:xfrm>
          <a:prstGeom prst="rect">
            <a:avLst/>
          </a:prstGeom>
          <a:solidFill>
            <a:srgbClr val="FFFFFF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polyline-047"/>
          <p:cNvSpPr/>
          <p:nvPr/>
        </p:nvSpPr>
        <p:spPr>
          <a:xfrm>
            <a:off x="1521000" y="4709250"/>
            <a:ext cx="1930500" cy="1"/>
          </a:xfrm>
          <a:custGeom>
            <a:avLst/>
            <a:gdLst/>
            <a:ahLst/>
            <a:cxnLst/>
            <a:rect l="0" t="0" r="r" b="b"/>
            <a:pathLst>
              <a:path w="1930500" h="1">
                <a:moveTo>
                  <a:pt x="193050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polygon-048"/>
          <p:cNvSpPr/>
          <p:nvPr/>
        </p:nvSpPr>
        <p:spPr>
          <a:xfrm>
            <a:off x="1521000" y="46829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49: mem_resp_i"/>
          <p:cNvSpPr txBox="1"/>
          <p:nvPr/>
        </p:nvSpPr>
        <p:spPr>
          <a:xfrm>
            <a:off x="6844500" y="4399668"/>
            <a:ext cx="88929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mem_resp_i</a:t>
            </a:r>
          </a:p>
        </p:txBody>
      </p:sp>
      <p:sp>
        <p:nvSpPr>
          <p:cNvPr id="51" name="text-050: (mem_rdata)"/>
          <p:cNvSpPr txBox="1"/>
          <p:nvPr/>
        </p:nvSpPr>
        <p:spPr>
          <a:xfrm>
            <a:off x="6844500" y="4586868"/>
            <a:ext cx="91726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(mem_rdata)</a:t>
            </a:r>
          </a:p>
        </p:txBody>
      </p:sp>
      <p:sp>
        <p:nvSpPr>
          <p:cNvPr id="52" name="polyline-051"/>
          <p:cNvSpPr/>
          <p:nvPr/>
        </p:nvSpPr>
        <p:spPr>
          <a:xfrm>
            <a:off x="5557500" y="4709250"/>
            <a:ext cx="1170000" cy="1"/>
          </a:xfrm>
          <a:custGeom>
            <a:avLst/>
            <a:gdLst/>
            <a:ahLst/>
            <a:cxnLst/>
            <a:rect l="0" t="0" r="r" b="b"/>
            <a:pathLst>
              <a:path w="1170000" h="1">
                <a:moveTo>
                  <a:pt x="117000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polygon-052"/>
          <p:cNvSpPr/>
          <p:nvPr/>
        </p:nvSpPr>
        <p:spPr>
          <a:xfrm>
            <a:off x="5557500" y="46829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polyline-053"/>
          <p:cNvSpPr/>
          <p:nvPr/>
        </p:nvSpPr>
        <p:spPr>
          <a:xfrm>
            <a:off x="5557500" y="5001750"/>
            <a:ext cx="1170000" cy="1"/>
          </a:xfrm>
          <a:custGeom>
            <a:avLst/>
            <a:gdLst/>
            <a:ahLst/>
            <a:cxnLst/>
            <a:rect l="0" t="0" r="r" b="b"/>
            <a:pathLst>
              <a:path w="1170000" h="1">
                <a:moveTo>
                  <a:pt x="117000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polygon-054"/>
          <p:cNvSpPr/>
          <p:nvPr/>
        </p:nvSpPr>
        <p:spPr>
          <a:xfrm>
            <a:off x="5557500" y="49754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5: mem_resp_valid_i"/>
          <p:cNvSpPr txBox="1"/>
          <p:nvPr/>
        </p:nvSpPr>
        <p:spPr>
          <a:xfrm>
            <a:off x="6844500" y="4844268"/>
            <a:ext cx="123974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mem_resp_valid_i</a:t>
            </a:r>
          </a:p>
        </p:txBody>
      </p:sp>
      <p:sp>
        <p:nvSpPr>
          <p:cNvPr id="57" name="polyline-056"/>
          <p:cNvSpPr/>
          <p:nvPr/>
        </p:nvSpPr>
        <p:spPr>
          <a:xfrm>
            <a:off x="1521000" y="4972500"/>
            <a:ext cx="1930500" cy="1"/>
          </a:xfrm>
          <a:custGeom>
            <a:avLst/>
            <a:gdLst/>
            <a:ahLst/>
            <a:cxnLst/>
            <a:rect l="0" t="0" r="r" b="b"/>
            <a:pathLst>
              <a:path w="1930500" h="1">
                <a:moveTo>
                  <a:pt x="193050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polygon-057"/>
          <p:cNvSpPr/>
          <p:nvPr/>
        </p:nvSpPr>
        <p:spPr>
          <a:xfrm>
            <a:off x="1521000" y="4946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8: resp_valid_o"/>
          <p:cNvSpPr txBox="1"/>
          <p:nvPr/>
        </p:nvSpPr>
        <p:spPr>
          <a:xfrm>
            <a:off x="321750" y="4891068"/>
            <a:ext cx="90588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resp_valid_o</a:t>
            </a:r>
          </a:p>
        </p:txBody>
      </p:sp>
      <p:sp>
        <p:nvSpPr>
          <p:cNvPr id="60" name="polyline-059"/>
          <p:cNvSpPr/>
          <p:nvPr/>
        </p:nvSpPr>
        <p:spPr>
          <a:xfrm>
            <a:off x="1521000" y="5265000"/>
            <a:ext cx="2457000" cy="117000"/>
          </a:xfrm>
          <a:custGeom>
            <a:avLst/>
            <a:gdLst/>
            <a:ahLst/>
            <a:cxnLst/>
            <a:rect l="0" t="0" r="r" b="b"/>
            <a:pathLst>
              <a:path w="2457000" h="117000">
                <a:moveTo>
                  <a:pt x="0" y="117000"/>
                </a:moveTo>
                <a:lnTo>
                  <a:pt x="2457000" y="117000"/>
                </a:lnTo>
                <a:lnTo>
                  <a:pt x="245700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-060"/>
          <p:cNvSpPr/>
          <p:nvPr/>
        </p:nvSpPr>
        <p:spPr>
          <a:xfrm>
            <a:off x="3951675" y="5265000"/>
            <a:ext cx="52650" cy="64350"/>
          </a:xfrm>
          <a:custGeom>
            <a:avLst/>
            <a:gdLst/>
            <a:ahLst/>
            <a:cxnLst/>
            <a:rect l="0" t="0" r="r" b="b"/>
            <a:pathLst>
              <a:path w="52650" h="64350">
                <a:moveTo>
                  <a:pt x="26325" y="0"/>
                </a:moveTo>
                <a:lnTo>
                  <a:pt x="0" y="64350"/>
                </a:lnTo>
                <a:lnTo>
                  <a:pt x="52650" y="6435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1: resp_ready_i"/>
          <p:cNvSpPr txBox="1"/>
          <p:nvPr/>
        </p:nvSpPr>
        <p:spPr>
          <a:xfrm>
            <a:off x="321750" y="5294718"/>
            <a:ext cx="91438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resp_ready_i</a:t>
            </a:r>
          </a:p>
        </p:txBody>
      </p:sp>
      <p:sp>
        <p:nvSpPr>
          <p:cNvPr id="63" name="text-062: 没有 mem_resp_ready 输出"/>
          <p:cNvSpPr txBox="1"/>
          <p:nvPr/>
        </p:nvSpPr>
        <p:spPr>
          <a:xfrm>
            <a:off x="6552000" y="5230368"/>
            <a:ext cx="183233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没有 mem_resp_ready 输出</a:t>
            </a:r>
          </a:p>
        </p:txBody>
      </p:sp>
      <p:sp>
        <p:nvSpPr>
          <p:cNvPr id="64" name="text-063: request_fire = req_valid_i &amp; req_ready_o"/>
          <p:cNvSpPr txBox="1"/>
          <p:nvPr/>
        </p:nvSpPr>
        <p:spPr>
          <a:xfrm>
            <a:off x="321750" y="5698368"/>
            <a:ext cx="2613716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request_fire = req_valid_i &amp; req_ready_o</a:t>
            </a:r>
          </a:p>
        </p:txBody>
      </p:sp>
      <p:sp>
        <p:nvSpPr>
          <p:cNvPr id="65" name="text-064: response_fire = resp_valid_o &amp; resp_read"/>
          <p:cNvSpPr txBox="1"/>
          <p:nvPr/>
        </p:nvSpPr>
        <p:spPr>
          <a:xfrm>
            <a:off x="321750" y="5949918"/>
            <a:ext cx="286339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response_fire = resp_valid_o &amp; resp_ready_i</a:t>
            </a:r>
          </a:p>
        </p:txBody>
      </p:sp>
      <p:sp>
        <p:nvSpPr>
          <p:cNvPr id="66" name="text-065: cnt_d = cnt_q + request_fire - response_"/>
          <p:cNvSpPr txBox="1"/>
          <p:nvPr/>
        </p:nvSpPr>
        <p:spPr>
          <a:xfrm>
            <a:off x="4826250" y="5949918"/>
            <a:ext cx="283816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cnt_d = cnt_q + request_fire - response_fire</a:t>
            </a:r>
          </a:p>
        </p:txBody>
      </p:sp>
      <p:sp>
        <p:nvSpPr>
          <p:cNvPr id="67" name="text-066: 请求是否放行由预留容量决定；响应到达后，即使上游暂停，也有 FIFO 可接住。"/>
          <p:cNvSpPr txBox="1"/>
          <p:nvPr/>
        </p:nvSpPr>
        <p:spPr>
          <a:xfrm>
            <a:off x="321750" y="6295068"/>
            <a:ext cx="5121446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请求是否放行由预留容量决定；响应到达后，即使上游暂停，也有 FIFO 可接住。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-001"/>
          <p:cNvSpPr/>
          <p:nvPr/>
        </p:nvSpPr>
        <p:spPr>
          <a:xfrm>
            <a:off x="0" y="0"/>
            <a:ext cx="9360000" cy="6844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-002: ④ i_mem_to_banks：字段切片、两路独立请求、两路响应收齐"/>
          <p:cNvSpPr txBox="1"/>
          <p:nvPr/>
        </p:nvSpPr>
        <p:spPr>
          <a:xfrm>
            <a:off x="234000" y="68328"/>
            <a:ext cx="4870984" cy="2714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④ i_mem_to_banks：字段切片、两路独立请求、两路响应收齐</a:t>
            </a:r>
          </a:p>
        </p:txBody>
      </p:sp>
      <p:sp>
        <p:nvSpPr>
          <p:cNvPr id="4" name="text-003: 64-bit 数据 / 48-bit 地址；NumBanks = 2，FifoD"/>
          <p:cNvSpPr txBox="1"/>
          <p:nvPr/>
        </p:nvSpPr>
        <p:spPr>
          <a:xfrm>
            <a:off x="234000" y="351936"/>
            <a:ext cx="4570623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64-bit 数据 / 48-bit 地址；NumBanks = 2，FifoDepth = 1，HideStrb = 0。</a:t>
            </a:r>
          </a:p>
        </p:txBody>
      </p:sp>
      <p:sp>
        <p:nvSpPr>
          <p:cNvPr id="5" name="text-004: 请求方向 →"/>
          <p:cNvSpPr txBox="1"/>
          <p:nvPr/>
        </p:nvSpPr>
        <p:spPr>
          <a:xfrm>
            <a:off x="234000" y="672750"/>
            <a:ext cx="921348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05F9C"/>
                </a:solidFill>
                <a:latin typeface="WenQuanYi Zen Hei"/>
                <a:ea typeface="WenQuanYi Zen Hei"/>
                <a:cs typeface="WenQuanYi Zen Hei"/>
              </a:rPr>
              <a:t>请求方向 →</a:t>
            </a:r>
          </a:p>
        </p:txBody>
      </p:sp>
      <p:sp>
        <p:nvSpPr>
          <p:cNvPr id="6" name="rect-005"/>
          <p:cNvSpPr/>
          <p:nvPr/>
        </p:nvSpPr>
        <p:spPr>
          <a:xfrm>
            <a:off x="292500" y="1228500"/>
            <a:ext cx="1521000" cy="105300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6: mem_req.addr [47:0]"/>
          <p:cNvSpPr txBox="1"/>
          <p:nvPr/>
        </p:nvSpPr>
        <p:spPr>
          <a:xfrm>
            <a:off x="329268" y="1275768"/>
            <a:ext cx="144746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mem_req.addr [47:0]</a:t>
            </a:r>
          </a:p>
        </p:txBody>
      </p:sp>
      <p:sp>
        <p:nvSpPr>
          <p:cNvPr id="8" name="text-007: mem_req.wdata [63:0]"/>
          <p:cNvSpPr txBox="1"/>
          <p:nvPr/>
        </p:nvSpPr>
        <p:spPr>
          <a:xfrm>
            <a:off x="282994" y="1462968"/>
            <a:ext cx="154001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mem_req.wdata [63:0]</a:t>
            </a:r>
          </a:p>
        </p:txBody>
      </p:sp>
      <p:sp>
        <p:nvSpPr>
          <p:cNvPr id="9" name="text-008: mem_req.strb [7:0]"/>
          <p:cNvSpPr txBox="1"/>
          <p:nvPr/>
        </p:nvSpPr>
        <p:spPr>
          <a:xfrm>
            <a:off x="388157" y="1650168"/>
            <a:ext cx="132968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mem_req.strb [7:0]</a:t>
            </a:r>
          </a:p>
        </p:txBody>
      </p:sp>
      <p:sp>
        <p:nvSpPr>
          <p:cNvPr id="10" name="text-009: mem_req.we"/>
          <p:cNvSpPr txBox="1"/>
          <p:nvPr/>
        </p:nvSpPr>
        <p:spPr>
          <a:xfrm>
            <a:off x="591558" y="1837368"/>
            <a:ext cx="92288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mem_req.we</a:t>
            </a:r>
          </a:p>
        </p:txBody>
      </p:sp>
      <p:sp>
        <p:nvSpPr>
          <p:cNvPr id="11" name="text-010: 其余属性随行"/>
          <p:cNvSpPr txBox="1"/>
          <p:nvPr/>
        </p:nvSpPr>
        <p:spPr>
          <a:xfrm>
            <a:off x="561600" y="2024568"/>
            <a:ext cx="9828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其余属性随行</a:t>
            </a:r>
          </a:p>
        </p:txBody>
      </p:sp>
      <p:sp>
        <p:nvSpPr>
          <p:cNvPr id="12" name="rect-011"/>
          <p:cNvSpPr/>
          <p:nvPr/>
        </p:nvSpPr>
        <p:spPr>
          <a:xfrm>
            <a:off x="2457000" y="1023750"/>
            <a:ext cx="1989000" cy="70200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2: 组合切片：子通路 0"/>
          <p:cNvSpPr txBox="1"/>
          <p:nvPr/>
        </p:nvSpPr>
        <p:spPr>
          <a:xfrm>
            <a:off x="2756561" y="1071018"/>
            <a:ext cx="1389878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组合切片：子通路 0</a:t>
            </a:r>
          </a:p>
        </p:txBody>
      </p:sp>
      <p:sp>
        <p:nvSpPr>
          <p:cNvPr id="14" name="text-013: addr = align8(addr)"/>
          <p:cNvSpPr txBox="1"/>
          <p:nvPr/>
        </p:nvSpPr>
        <p:spPr>
          <a:xfrm>
            <a:off x="2796666" y="1258218"/>
            <a:ext cx="1309669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addr = align8(addr)</a:t>
            </a:r>
          </a:p>
        </p:txBody>
      </p:sp>
      <p:sp>
        <p:nvSpPr>
          <p:cNvPr id="15" name="text-014: wdata[31:0] / strb[3:0]"/>
          <p:cNvSpPr txBox="1"/>
          <p:nvPr/>
        </p:nvSpPr>
        <p:spPr>
          <a:xfrm>
            <a:off x="2664629" y="1445418"/>
            <a:ext cx="157374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wdata[31:0] / strb[3:0]</a:t>
            </a:r>
          </a:p>
        </p:txBody>
      </p:sp>
      <p:sp>
        <p:nvSpPr>
          <p:cNvPr id="16" name="rect-015"/>
          <p:cNvSpPr/>
          <p:nvPr/>
        </p:nvSpPr>
        <p:spPr>
          <a:xfrm>
            <a:off x="2457000" y="2076750"/>
            <a:ext cx="1989000" cy="70200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6: 组合切片：子通路 1"/>
          <p:cNvSpPr txBox="1"/>
          <p:nvPr/>
        </p:nvSpPr>
        <p:spPr>
          <a:xfrm>
            <a:off x="2756561" y="2124018"/>
            <a:ext cx="1389878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组合切片：子通路 1</a:t>
            </a:r>
          </a:p>
        </p:txBody>
      </p:sp>
      <p:sp>
        <p:nvSpPr>
          <p:cNvPr id="18" name="text-017: addr = align8(addr) + 4"/>
          <p:cNvSpPr txBox="1"/>
          <p:nvPr/>
        </p:nvSpPr>
        <p:spPr>
          <a:xfrm>
            <a:off x="2670388" y="2311218"/>
            <a:ext cx="156222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addr = align8(addr) + 4</a:t>
            </a:r>
          </a:p>
        </p:txBody>
      </p:sp>
      <p:sp>
        <p:nvSpPr>
          <p:cNvPr id="19" name="text-018: wdata[63:32] / strb[7:4]"/>
          <p:cNvSpPr txBox="1"/>
          <p:nvPr/>
        </p:nvSpPr>
        <p:spPr>
          <a:xfrm>
            <a:off x="2622537" y="2498418"/>
            <a:ext cx="1657927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wdata[63:32] / strb[7:4]</a:t>
            </a:r>
          </a:p>
        </p:txBody>
      </p:sp>
      <p:sp>
        <p:nvSpPr>
          <p:cNvPr id="20" name="polyline-019"/>
          <p:cNvSpPr/>
          <p:nvPr/>
        </p:nvSpPr>
        <p:spPr>
          <a:xfrm>
            <a:off x="1813500" y="1374750"/>
            <a:ext cx="643500" cy="380250"/>
          </a:xfrm>
          <a:custGeom>
            <a:avLst/>
            <a:gdLst/>
            <a:ahLst/>
            <a:cxnLst/>
            <a:rect l="0" t="0" r="r" b="b"/>
            <a:pathLst>
              <a:path w="643500" h="380250">
                <a:moveTo>
                  <a:pt x="0" y="380250"/>
                </a:moveTo>
                <a:lnTo>
                  <a:pt x="321750" y="380250"/>
                </a:lnTo>
                <a:lnTo>
                  <a:pt x="321750" y="0"/>
                </a:lnTo>
                <a:lnTo>
                  <a:pt x="6435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olygon-020"/>
          <p:cNvSpPr/>
          <p:nvPr/>
        </p:nvSpPr>
        <p:spPr>
          <a:xfrm>
            <a:off x="2392650" y="13484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1"/>
          <p:cNvSpPr/>
          <p:nvPr/>
        </p:nvSpPr>
        <p:spPr>
          <a:xfrm>
            <a:off x="2135250" y="1755000"/>
            <a:ext cx="321750" cy="672750"/>
          </a:xfrm>
          <a:custGeom>
            <a:avLst/>
            <a:gdLst/>
            <a:ahLst/>
            <a:cxnLst/>
            <a:rect l="0" t="0" r="r" b="b"/>
            <a:pathLst>
              <a:path w="321750" h="672750">
                <a:moveTo>
                  <a:pt x="0" y="0"/>
                </a:moveTo>
                <a:lnTo>
                  <a:pt x="0" y="672750"/>
                </a:lnTo>
                <a:lnTo>
                  <a:pt x="321750" y="67275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gon-022"/>
          <p:cNvSpPr/>
          <p:nvPr/>
        </p:nvSpPr>
        <p:spPr>
          <a:xfrm>
            <a:off x="2392650" y="24014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circle-023"/>
          <p:cNvSpPr/>
          <p:nvPr/>
        </p:nvSpPr>
        <p:spPr>
          <a:xfrm>
            <a:off x="2111850" y="1731600"/>
            <a:ext cx="46800" cy="46800"/>
          </a:xfrm>
          <a:prstGeom prst="ellipse">
            <a:avLst/>
          </a:pr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-024"/>
          <p:cNvSpPr/>
          <p:nvPr/>
        </p:nvSpPr>
        <p:spPr>
          <a:xfrm>
            <a:off x="4797000" y="1053000"/>
            <a:ext cx="1228500" cy="614250"/>
          </a:xfrm>
          <a:prstGeom prst="rect">
            <a:avLst/>
          </a:prstGeom>
          <a:solidFill>
            <a:srgbClr val="EEF5EE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5: 请求 FIFO"/>
          <p:cNvSpPr txBox="1"/>
          <p:nvPr/>
        </p:nvSpPr>
        <p:spPr>
          <a:xfrm>
            <a:off x="5047773" y="1088568"/>
            <a:ext cx="72695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请求 FIFO</a:t>
            </a:r>
          </a:p>
        </p:txBody>
      </p:sp>
      <p:sp>
        <p:nvSpPr>
          <p:cNvPr id="27" name="text-026: 深度 1"/>
          <p:cNvSpPr txBox="1"/>
          <p:nvPr/>
        </p:nvSpPr>
        <p:spPr>
          <a:xfrm>
            <a:off x="5160322" y="1282554"/>
            <a:ext cx="501857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深度 1</a:t>
            </a:r>
          </a:p>
        </p:txBody>
      </p:sp>
      <p:sp>
        <p:nvSpPr>
          <p:cNvPr id="28" name="rect-027"/>
          <p:cNvSpPr/>
          <p:nvPr/>
        </p:nvSpPr>
        <p:spPr>
          <a:xfrm>
            <a:off x="4943250" y="1444950"/>
            <a:ext cx="936000" cy="134550"/>
          </a:xfrm>
          <a:prstGeom prst="rect">
            <a:avLst/>
          </a:prstGeom>
          <a:solidFill>
            <a:srgbClr val="FFFFFF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8"/>
          <p:cNvSpPr/>
          <p:nvPr/>
        </p:nvSpPr>
        <p:spPr>
          <a:xfrm>
            <a:off x="4446000" y="1374750"/>
            <a:ext cx="351000" cy="1"/>
          </a:xfrm>
          <a:custGeom>
            <a:avLst/>
            <a:gdLst/>
            <a:ahLst/>
            <a:cxnLst/>
            <a:rect l="0" t="0" r="r" b="b"/>
            <a:pathLst>
              <a:path w="351000" h="1">
                <a:moveTo>
                  <a:pt x="0" y="0"/>
                </a:moveTo>
                <a:lnTo>
                  <a:pt x="3510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gon-029"/>
          <p:cNvSpPr/>
          <p:nvPr/>
        </p:nvSpPr>
        <p:spPr>
          <a:xfrm>
            <a:off x="4732650" y="13484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line-030"/>
          <p:cNvSpPr/>
          <p:nvPr/>
        </p:nvSpPr>
        <p:spPr>
          <a:xfrm>
            <a:off x="6025500" y="1316250"/>
            <a:ext cx="760500" cy="1"/>
          </a:xfrm>
          <a:custGeom>
            <a:avLst/>
            <a:gdLst/>
            <a:ahLst/>
            <a:cxnLst/>
            <a:rect l="0" t="0" r="r" b="b"/>
            <a:pathLst>
              <a:path w="760500" h="1">
                <a:moveTo>
                  <a:pt x="0" y="0"/>
                </a:moveTo>
                <a:lnTo>
                  <a:pt x="7605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gon-031"/>
          <p:cNvSpPr/>
          <p:nvPr/>
        </p:nvSpPr>
        <p:spPr>
          <a:xfrm>
            <a:off x="6721650" y="12899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2: mem_addr_o[0] / mem_wdata_o[0]"/>
          <p:cNvSpPr txBox="1"/>
          <p:nvPr/>
        </p:nvSpPr>
        <p:spPr>
          <a:xfrm>
            <a:off x="6873750" y="949104"/>
            <a:ext cx="2121393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mem_addr_o[0] / mem_wdata_o[0]</a:t>
            </a:r>
          </a:p>
        </p:txBody>
      </p:sp>
      <p:sp>
        <p:nvSpPr>
          <p:cNvPr id="34" name="text-033: mem_strb_o[0] / mem_we_o[0]"/>
          <p:cNvSpPr txBox="1"/>
          <p:nvPr/>
        </p:nvSpPr>
        <p:spPr>
          <a:xfrm>
            <a:off x="6873750" y="1124604"/>
            <a:ext cx="1910747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mem_strb_o[0] / mem_we_o[0]</a:t>
            </a:r>
          </a:p>
        </p:txBody>
      </p:sp>
      <p:sp>
        <p:nvSpPr>
          <p:cNvPr id="35" name="text-034: mem_req_o[0] → / ← mem_gnt_i[0]"/>
          <p:cNvSpPr txBox="1"/>
          <p:nvPr/>
        </p:nvSpPr>
        <p:spPr>
          <a:xfrm>
            <a:off x="6873750" y="1335204"/>
            <a:ext cx="2188759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mem_req_o[0] → / ← mem_gnt_i[0]</a:t>
            </a:r>
          </a:p>
        </p:txBody>
      </p:sp>
      <p:sp>
        <p:nvSpPr>
          <p:cNvPr id="36" name="text-035: 接外层第 0 路适配器"/>
          <p:cNvSpPr txBox="1"/>
          <p:nvPr/>
        </p:nvSpPr>
        <p:spPr>
          <a:xfrm>
            <a:off x="6873750" y="1516086"/>
            <a:ext cx="1372300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接外层第 0 路适配器</a:t>
            </a:r>
          </a:p>
        </p:txBody>
      </p:sp>
      <p:sp>
        <p:nvSpPr>
          <p:cNvPr id="37" name="rect-036"/>
          <p:cNvSpPr/>
          <p:nvPr/>
        </p:nvSpPr>
        <p:spPr>
          <a:xfrm>
            <a:off x="4797000" y="2106000"/>
            <a:ext cx="1228500" cy="614250"/>
          </a:xfrm>
          <a:prstGeom prst="rect">
            <a:avLst/>
          </a:prstGeom>
          <a:solidFill>
            <a:srgbClr val="EEF5EE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7: 请求 FIFO"/>
          <p:cNvSpPr txBox="1"/>
          <p:nvPr/>
        </p:nvSpPr>
        <p:spPr>
          <a:xfrm>
            <a:off x="5047773" y="2141568"/>
            <a:ext cx="72695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请求 FIFO</a:t>
            </a:r>
          </a:p>
        </p:txBody>
      </p:sp>
      <p:sp>
        <p:nvSpPr>
          <p:cNvPr id="39" name="text-038: 深度 1"/>
          <p:cNvSpPr txBox="1"/>
          <p:nvPr/>
        </p:nvSpPr>
        <p:spPr>
          <a:xfrm>
            <a:off x="5160322" y="2335554"/>
            <a:ext cx="501857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深度 1</a:t>
            </a:r>
          </a:p>
        </p:txBody>
      </p:sp>
      <p:sp>
        <p:nvSpPr>
          <p:cNvPr id="40" name="rect-039"/>
          <p:cNvSpPr/>
          <p:nvPr/>
        </p:nvSpPr>
        <p:spPr>
          <a:xfrm>
            <a:off x="4943250" y="2497950"/>
            <a:ext cx="936000" cy="134550"/>
          </a:xfrm>
          <a:prstGeom prst="rect">
            <a:avLst/>
          </a:prstGeom>
          <a:solidFill>
            <a:srgbClr val="FFFFFF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line-040"/>
          <p:cNvSpPr/>
          <p:nvPr/>
        </p:nvSpPr>
        <p:spPr>
          <a:xfrm>
            <a:off x="4446000" y="2427750"/>
            <a:ext cx="351000" cy="1"/>
          </a:xfrm>
          <a:custGeom>
            <a:avLst/>
            <a:gdLst/>
            <a:ahLst/>
            <a:cxnLst/>
            <a:rect l="0" t="0" r="r" b="b"/>
            <a:pathLst>
              <a:path w="351000" h="1">
                <a:moveTo>
                  <a:pt x="0" y="0"/>
                </a:moveTo>
                <a:lnTo>
                  <a:pt x="3510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-041"/>
          <p:cNvSpPr/>
          <p:nvPr/>
        </p:nvSpPr>
        <p:spPr>
          <a:xfrm>
            <a:off x="4732650" y="24014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polyline-042"/>
          <p:cNvSpPr/>
          <p:nvPr/>
        </p:nvSpPr>
        <p:spPr>
          <a:xfrm>
            <a:off x="6025500" y="2369250"/>
            <a:ext cx="760500" cy="1"/>
          </a:xfrm>
          <a:custGeom>
            <a:avLst/>
            <a:gdLst/>
            <a:ahLst/>
            <a:cxnLst/>
            <a:rect l="0" t="0" r="r" b="b"/>
            <a:pathLst>
              <a:path w="760500" h="1">
                <a:moveTo>
                  <a:pt x="0" y="0"/>
                </a:moveTo>
                <a:lnTo>
                  <a:pt x="76050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polygon-043"/>
          <p:cNvSpPr/>
          <p:nvPr/>
        </p:nvSpPr>
        <p:spPr>
          <a:xfrm>
            <a:off x="6721650" y="23429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64350" y="26325"/>
                </a:moveTo>
                <a:lnTo>
                  <a:pt x="0" y="0"/>
                </a:lnTo>
                <a:lnTo>
                  <a:pt x="0" y="5265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4: mem_addr_o[1] / mem_wdata_o[1]"/>
          <p:cNvSpPr txBox="1"/>
          <p:nvPr/>
        </p:nvSpPr>
        <p:spPr>
          <a:xfrm>
            <a:off x="6873750" y="2002104"/>
            <a:ext cx="2121393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mem_addr_o[1] / mem_wdata_o[1]</a:t>
            </a:r>
          </a:p>
        </p:txBody>
      </p:sp>
      <p:sp>
        <p:nvSpPr>
          <p:cNvPr id="46" name="text-045: mem_strb_o[1] / mem_we_o[1]"/>
          <p:cNvSpPr txBox="1"/>
          <p:nvPr/>
        </p:nvSpPr>
        <p:spPr>
          <a:xfrm>
            <a:off x="6873750" y="2177604"/>
            <a:ext cx="1910747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mem_strb_o[1] / mem_we_o[1]</a:t>
            </a:r>
          </a:p>
        </p:txBody>
      </p:sp>
      <p:sp>
        <p:nvSpPr>
          <p:cNvPr id="47" name="text-046: mem_req_o[1] → / ← mem_gnt_i[1]"/>
          <p:cNvSpPr txBox="1"/>
          <p:nvPr/>
        </p:nvSpPr>
        <p:spPr>
          <a:xfrm>
            <a:off x="6873750" y="2388204"/>
            <a:ext cx="2188759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mem_req_o[1] → / ← mem_gnt_i[1]</a:t>
            </a:r>
          </a:p>
        </p:txBody>
      </p:sp>
      <p:sp>
        <p:nvSpPr>
          <p:cNvPr id="48" name="text-047: 接外层第 1 路适配器"/>
          <p:cNvSpPr txBox="1"/>
          <p:nvPr/>
        </p:nvSpPr>
        <p:spPr>
          <a:xfrm>
            <a:off x="6873750" y="2569086"/>
            <a:ext cx="1372300" cy="2152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9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接外层第 1 路适配器</a:t>
            </a:r>
          </a:p>
        </p:txBody>
      </p:sp>
      <p:sp>
        <p:nvSpPr>
          <p:cNvPr id="49" name="text-048: 地址是 48 bit，切片的是数据与字节使能；最终仍汇入外层的同一个 Regbu"/>
          <p:cNvSpPr txBox="1"/>
          <p:nvPr/>
        </p:nvSpPr>
        <p:spPr>
          <a:xfrm>
            <a:off x="234000" y="3001518"/>
            <a:ext cx="497748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地址是 48 bit，切片的是数据与字节使能；最终仍汇入外层的同一个 Regbus。</a:t>
            </a:r>
          </a:p>
        </p:txBody>
      </p:sp>
      <p:sp>
        <p:nvSpPr>
          <p:cNvPr id="50" name="polyline-049"/>
          <p:cNvSpPr/>
          <p:nvPr/>
        </p:nvSpPr>
        <p:spPr>
          <a:xfrm>
            <a:off x="234000" y="3334500"/>
            <a:ext cx="8892000" cy="1"/>
          </a:xfrm>
          <a:custGeom>
            <a:avLst/>
            <a:gdLst/>
            <a:ahLst/>
            <a:cxnLst/>
            <a:rect l="0" t="0" r="r" b="b"/>
            <a:pathLst>
              <a:path w="8892000" h="1">
                <a:moveTo>
                  <a:pt x="0" y="0"/>
                </a:moveTo>
                <a:lnTo>
                  <a:pt x="8892000" y="0"/>
                </a:lnTo>
              </a:path>
            </a:pathLst>
          </a:custGeom>
          <a:noFill/>
          <a:ln w="585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0: 响应方向 ←"/>
          <p:cNvSpPr txBox="1"/>
          <p:nvPr/>
        </p:nvSpPr>
        <p:spPr>
          <a:xfrm>
            <a:off x="234000" y="3469050"/>
            <a:ext cx="921348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205F9C"/>
                </a:solidFill>
                <a:latin typeface="WenQuanYi Zen Hei"/>
                <a:ea typeface="WenQuanYi Zen Hei"/>
                <a:cs typeface="WenQuanYi Zen Hei"/>
              </a:rPr>
              <a:t>响应方向 ←</a:t>
            </a:r>
          </a:p>
        </p:txBody>
      </p:sp>
      <p:sp>
        <p:nvSpPr>
          <p:cNvPr id="52" name="rect-051"/>
          <p:cNvSpPr/>
          <p:nvPr/>
        </p:nvSpPr>
        <p:spPr>
          <a:xfrm>
            <a:off x="1872000" y="4153500"/>
            <a:ext cx="2076750" cy="1287000"/>
          </a:xfrm>
          <a:prstGeom prst="rect">
            <a:avLst/>
          </a:prstGeom>
          <a:solidFill>
            <a:srgbClr val="F1F5F9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2: 组合拼接"/>
          <p:cNvSpPr txBox="1"/>
          <p:nvPr/>
        </p:nvSpPr>
        <p:spPr>
          <a:xfrm>
            <a:off x="2559375" y="4200768"/>
            <a:ext cx="7020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组合拼接</a:t>
            </a:r>
          </a:p>
        </p:txBody>
      </p:sp>
      <p:sp>
        <p:nvSpPr>
          <p:cNvPr id="54" name="text-053: mem_rdata.data [31:0]"/>
          <p:cNvSpPr txBox="1"/>
          <p:nvPr/>
        </p:nvSpPr>
        <p:spPr>
          <a:xfrm>
            <a:off x="2126384" y="4387968"/>
            <a:ext cx="156798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mem_rdata.data [31:0]</a:t>
            </a:r>
          </a:p>
        </p:txBody>
      </p:sp>
      <p:sp>
        <p:nvSpPr>
          <p:cNvPr id="55" name="text-054: ← 第 0 路响应数据"/>
          <p:cNvSpPr txBox="1"/>
          <p:nvPr/>
        </p:nvSpPr>
        <p:spPr>
          <a:xfrm>
            <a:off x="2243544" y="4575168"/>
            <a:ext cx="133366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← 第 0 路响应数据</a:t>
            </a:r>
          </a:p>
        </p:txBody>
      </p:sp>
      <p:sp>
        <p:nvSpPr>
          <p:cNvPr id="56" name="text-055: mem_rdata.data [63:32]"/>
          <p:cNvSpPr txBox="1"/>
          <p:nvPr/>
        </p:nvSpPr>
        <p:spPr>
          <a:xfrm>
            <a:off x="2084291" y="4762368"/>
            <a:ext cx="1652168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mem_rdata.data [63:32]</a:t>
            </a:r>
          </a:p>
        </p:txBody>
      </p:sp>
      <p:sp>
        <p:nvSpPr>
          <p:cNvPr id="57" name="text-056: ← 第 1 路响应数据"/>
          <p:cNvSpPr txBox="1"/>
          <p:nvPr/>
        </p:nvSpPr>
        <p:spPr>
          <a:xfrm>
            <a:off x="2243544" y="4949568"/>
            <a:ext cx="133366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← 第 1 路响应数据</a:t>
            </a:r>
          </a:p>
        </p:txBody>
      </p:sp>
      <p:sp>
        <p:nvSpPr>
          <p:cNvPr id="58" name="text-057: err / exokay 按路保留"/>
          <p:cNvSpPr txBox="1"/>
          <p:nvPr/>
        </p:nvSpPr>
        <p:spPr>
          <a:xfrm>
            <a:off x="2168133" y="5136768"/>
            <a:ext cx="1484483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err / exokay 按路保留</a:t>
            </a:r>
          </a:p>
        </p:txBody>
      </p:sp>
      <p:sp>
        <p:nvSpPr>
          <p:cNvPr id="59" name="rect-058"/>
          <p:cNvSpPr/>
          <p:nvPr/>
        </p:nvSpPr>
        <p:spPr>
          <a:xfrm>
            <a:off x="5001750" y="3978000"/>
            <a:ext cx="1404000" cy="702000"/>
          </a:xfrm>
          <a:prstGeom prst="rect">
            <a:avLst/>
          </a:prstGeom>
          <a:solidFill>
            <a:srgbClr val="EEF5EE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59: 响应 FIFO 0"/>
          <p:cNvSpPr txBox="1"/>
          <p:nvPr/>
        </p:nvSpPr>
        <p:spPr>
          <a:xfrm>
            <a:off x="5277134" y="4013568"/>
            <a:ext cx="85323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响应 FIFO 0</a:t>
            </a:r>
          </a:p>
        </p:txBody>
      </p:sp>
      <p:sp>
        <p:nvSpPr>
          <p:cNvPr id="61" name="text-060: 深度 1"/>
          <p:cNvSpPr txBox="1"/>
          <p:nvPr/>
        </p:nvSpPr>
        <p:spPr>
          <a:xfrm>
            <a:off x="5452822" y="4207554"/>
            <a:ext cx="501857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深度 1</a:t>
            </a:r>
          </a:p>
        </p:txBody>
      </p:sp>
      <p:sp>
        <p:nvSpPr>
          <p:cNvPr id="62" name="rect-061"/>
          <p:cNvSpPr/>
          <p:nvPr/>
        </p:nvSpPr>
        <p:spPr>
          <a:xfrm>
            <a:off x="5148000" y="4457700"/>
            <a:ext cx="1111500" cy="134550"/>
          </a:xfrm>
          <a:prstGeom prst="rect">
            <a:avLst/>
          </a:prstGeom>
          <a:solidFill>
            <a:srgbClr val="FFFFFF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2: mem_rdata_i[0] [31:0]"/>
          <p:cNvSpPr txBox="1"/>
          <p:nvPr/>
        </p:nvSpPr>
        <p:spPr>
          <a:xfrm>
            <a:off x="6786000" y="3955068"/>
            <a:ext cx="152616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mem_rdata_i[0] [31:0]</a:t>
            </a:r>
          </a:p>
        </p:txBody>
      </p:sp>
      <p:sp>
        <p:nvSpPr>
          <p:cNvPr id="64" name="text-063: mem_err_i[0] / mem_exokay_i[0]"/>
          <p:cNvSpPr txBox="1"/>
          <p:nvPr/>
        </p:nvSpPr>
        <p:spPr>
          <a:xfrm>
            <a:off x="6786000" y="4166604"/>
            <a:ext cx="1995600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mem_err_i[0] / mem_exokay_i[0]</a:t>
            </a:r>
          </a:p>
        </p:txBody>
      </p:sp>
      <p:sp>
        <p:nvSpPr>
          <p:cNvPr id="65" name="polyline-064"/>
          <p:cNvSpPr/>
          <p:nvPr/>
        </p:nvSpPr>
        <p:spPr>
          <a:xfrm>
            <a:off x="6405750" y="4270500"/>
            <a:ext cx="263250" cy="1"/>
          </a:xfrm>
          <a:custGeom>
            <a:avLst/>
            <a:gdLst/>
            <a:ahLst/>
            <a:cxnLst/>
            <a:rect l="0" t="0" r="r" b="b"/>
            <a:pathLst>
              <a:path w="263250" h="1">
                <a:moveTo>
                  <a:pt x="2632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polygon-065"/>
          <p:cNvSpPr/>
          <p:nvPr/>
        </p:nvSpPr>
        <p:spPr>
          <a:xfrm>
            <a:off x="6405750" y="4244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polyline-066"/>
          <p:cNvSpPr/>
          <p:nvPr/>
        </p:nvSpPr>
        <p:spPr>
          <a:xfrm>
            <a:off x="6405750" y="4504500"/>
            <a:ext cx="263250" cy="1"/>
          </a:xfrm>
          <a:custGeom>
            <a:avLst/>
            <a:gdLst/>
            <a:ahLst/>
            <a:cxnLst/>
            <a:rect l="0" t="0" r="r" b="b"/>
            <a:pathLst>
              <a:path w="263250" h="1">
                <a:moveTo>
                  <a:pt x="2632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polygon-067"/>
          <p:cNvSpPr/>
          <p:nvPr/>
        </p:nvSpPr>
        <p:spPr>
          <a:xfrm>
            <a:off x="6405750" y="4478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8: mem_rvalid_i[0]"/>
          <p:cNvSpPr txBox="1"/>
          <p:nvPr/>
        </p:nvSpPr>
        <p:spPr>
          <a:xfrm>
            <a:off x="6786000" y="4382118"/>
            <a:ext cx="111360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mem_rvalid_i[0]</a:t>
            </a:r>
          </a:p>
        </p:txBody>
      </p:sp>
      <p:sp>
        <p:nvSpPr>
          <p:cNvPr id="70" name="rect-069"/>
          <p:cNvSpPr/>
          <p:nvPr/>
        </p:nvSpPr>
        <p:spPr>
          <a:xfrm>
            <a:off x="5001750" y="5323500"/>
            <a:ext cx="1404000" cy="702000"/>
          </a:xfrm>
          <a:prstGeom prst="rect">
            <a:avLst/>
          </a:prstGeom>
          <a:solidFill>
            <a:srgbClr val="EEF5EE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0: 响应 FIFO 1"/>
          <p:cNvSpPr txBox="1"/>
          <p:nvPr/>
        </p:nvSpPr>
        <p:spPr>
          <a:xfrm>
            <a:off x="5277134" y="5359068"/>
            <a:ext cx="85323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响应 FIFO 1</a:t>
            </a:r>
          </a:p>
        </p:txBody>
      </p:sp>
      <p:sp>
        <p:nvSpPr>
          <p:cNvPr id="72" name="text-071: 深度 1"/>
          <p:cNvSpPr txBox="1"/>
          <p:nvPr/>
        </p:nvSpPr>
        <p:spPr>
          <a:xfrm>
            <a:off x="5452822" y="5553054"/>
            <a:ext cx="501857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深度 1</a:t>
            </a:r>
          </a:p>
        </p:txBody>
      </p:sp>
      <p:sp>
        <p:nvSpPr>
          <p:cNvPr id="73" name="rect-072"/>
          <p:cNvSpPr/>
          <p:nvPr/>
        </p:nvSpPr>
        <p:spPr>
          <a:xfrm>
            <a:off x="5148000" y="5803200"/>
            <a:ext cx="1111500" cy="134550"/>
          </a:xfrm>
          <a:prstGeom prst="rect">
            <a:avLst/>
          </a:prstGeom>
          <a:solidFill>
            <a:srgbClr val="FFFFFF"/>
          </a:solidFill>
          <a:ln w="11700" cap="flat">
            <a:solidFill>
              <a:srgbClr val="25344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3: mem_rdata_i[1] [31:0]"/>
          <p:cNvSpPr txBox="1"/>
          <p:nvPr/>
        </p:nvSpPr>
        <p:spPr>
          <a:xfrm>
            <a:off x="6786000" y="5300568"/>
            <a:ext cx="1526164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mem_rdata_i[1] [31:0]</a:t>
            </a:r>
          </a:p>
        </p:txBody>
      </p:sp>
      <p:sp>
        <p:nvSpPr>
          <p:cNvPr id="75" name="text-074: mem_err_i[1] / mem_exokay_i[1]"/>
          <p:cNvSpPr txBox="1"/>
          <p:nvPr/>
        </p:nvSpPr>
        <p:spPr>
          <a:xfrm>
            <a:off x="6786000" y="5512104"/>
            <a:ext cx="1995600" cy="20592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3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mem_err_i[1] / mem_exokay_i[1]</a:t>
            </a:r>
          </a:p>
        </p:txBody>
      </p:sp>
      <p:sp>
        <p:nvSpPr>
          <p:cNvPr id="76" name="polyline-075"/>
          <p:cNvSpPr/>
          <p:nvPr/>
        </p:nvSpPr>
        <p:spPr>
          <a:xfrm>
            <a:off x="6405750" y="5616000"/>
            <a:ext cx="263250" cy="1"/>
          </a:xfrm>
          <a:custGeom>
            <a:avLst/>
            <a:gdLst/>
            <a:ahLst/>
            <a:cxnLst/>
            <a:rect l="0" t="0" r="r" b="b"/>
            <a:pathLst>
              <a:path w="263250" h="1">
                <a:moveTo>
                  <a:pt x="2632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polygon-076"/>
          <p:cNvSpPr/>
          <p:nvPr/>
        </p:nvSpPr>
        <p:spPr>
          <a:xfrm>
            <a:off x="6405750" y="55896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polyline-077"/>
          <p:cNvSpPr/>
          <p:nvPr/>
        </p:nvSpPr>
        <p:spPr>
          <a:xfrm>
            <a:off x="6405750" y="5850000"/>
            <a:ext cx="263250" cy="1"/>
          </a:xfrm>
          <a:custGeom>
            <a:avLst/>
            <a:gdLst/>
            <a:ahLst/>
            <a:cxnLst/>
            <a:rect l="0" t="0" r="r" b="b"/>
            <a:pathLst>
              <a:path w="263250" h="1">
                <a:moveTo>
                  <a:pt x="2632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925021"/>
            </a:solidFill>
            <a:custDash>
              <a:ds d="333333" sp="208333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polygon-078"/>
          <p:cNvSpPr/>
          <p:nvPr/>
        </p:nvSpPr>
        <p:spPr>
          <a:xfrm>
            <a:off x="6405750" y="58236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79: mem_rvalid_i[1]"/>
          <p:cNvSpPr txBox="1"/>
          <p:nvPr/>
        </p:nvSpPr>
        <p:spPr>
          <a:xfrm>
            <a:off x="6786000" y="5727618"/>
            <a:ext cx="1113602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mem_rvalid_i[1]</a:t>
            </a:r>
          </a:p>
        </p:txBody>
      </p:sp>
      <p:sp>
        <p:nvSpPr>
          <p:cNvPr id="81" name="polyline-080"/>
          <p:cNvSpPr/>
          <p:nvPr/>
        </p:nvSpPr>
        <p:spPr>
          <a:xfrm>
            <a:off x="3948750" y="4270500"/>
            <a:ext cx="1053000" cy="1"/>
          </a:xfrm>
          <a:custGeom>
            <a:avLst/>
            <a:gdLst/>
            <a:ahLst/>
            <a:cxnLst/>
            <a:rect l="0" t="0" r="r" b="b"/>
            <a:pathLst>
              <a:path w="1053000" h="1">
                <a:moveTo>
                  <a:pt x="105300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polygon-081"/>
          <p:cNvSpPr/>
          <p:nvPr/>
        </p:nvSpPr>
        <p:spPr>
          <a:xfrm>
            <a:off x="3948750" y="42441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polyline-082"/>
          <p:cNvSpPr/>
          <p:nvPr/>
        </p:nvSpPr>
        <p:spPr>
          <a:xfrm>
            <a:off x="3948750" y="5148000"/>
            <a:ext cx="1053000" cy="468000"/>
          </a:xfrm>
          <a:custGeom>
            <a:avLst/>
            <a:gdLst/>
            <a:ahLst/>
            <a:cxnLst/>
            <a:rect l="0" t="0" r="r" b="b"/>
            <a:pathLst>
              <a:path w="1053000" h="468000">
                <a:moveTo>
                  <a:pt x="1053000" y="468000"/>
                </a:moveTo>
                <a:lnTo>
                  <a:pt x="380250" y="468000"/>
                </a:lnTo>
                <a:lnTo>
                  <a:pt x="380250" y="0"/>
                </a:ln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polygon-083"/>
          <p:cNvSpPr/>
          <p:nvPr/>
        </p:nvSpPr>
        <p:spPr>
          <a:xfrm>
            <a:off x="3948750" y="512167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text-084: 64-bit 结果"/>
          <p:cNvSpPr txBox="1"/>
          <p:nvPr/>
        </p:nvSpPr>
        <p:spPr>
          <a:xfrm>
            <a:off x="263250" y="4417218"/>
            <a:ext cx="827866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64-bit 结果</a:t>
            </a:r>
          </a:p>
        </p:txBody>
      </p:sp>
      <p:sp>
        <p:nvSpPr>
          <p:cNvPr id="86" name="polyline-085"/>
          <p:cNvSpPr/>
          <p:nvPr/>
        </p:nvSpPr>
        <p:spPr>
          <a:xfrm>
            <a:off x="263250" y="4709250"/>
            <a:ext cx="1608750" cy="1"/>
          </a:xfrm>
          <a:custGeom>
            <a:avLst/>
            <a:gdLst/>
            <a:ahLst/>
            <a:cxnLst/>
            <a:rect l="0" t="0" r="r" b="b"/>
            <a:pathLst>
              <a:path w="1608750" h="1">
                <a:moveTo>
                  <a:pt x="1608750" y="0"/>
                </a:moveTo>
                <a:lnTo>
                  <a:pt x="0" y="0"/>
                </a:lnTo>
              </a:path>
            </a:pathLst>
          </a:custGeom>
          <a:noFill/>
          <a:ln w="14040" cap="flat">
            <a:solidFill>
              <a:srgbClr val="205F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polygon-086"/>
          <p:cNvSpPr/>
          <p:nvPr/>
        </p:nvSpPr>
        <p:spPr>
          <a:xfrm>
            <a:off x="263250" y="4682925"/>
            <a:ext cx="64350" cy="52650"/>
          </a:xfrm>
          <a:custGeom>
            <a:avLst/>
            <a:gdLst/>
            <a:ahLst/>
            <a:cxnLst/>
            <a:rect l="0" t="0" r="r" b="b"/>
            <a:pathLst>
              <a:path w="64350" h="52650">
                <a:moveTo>
                  <a:pt x="0" y="26325"/>
                </a:moveTo>
                <a:lnTo>
                  <a:pt x="64350" y="52650"/>
                </a:lnTo>
                <a:lnTo>
                  <a:pt x="64350" y="0"/>
                </a:lnTo>
                <a:close/>
              </a:path>
            </a:pathLst>
          </a:custGeom>
          <a:solidFill>
            <a:srgbClr val="205F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text-087: 送回图③"/>
          <p:cNvSpPr txBox="1"/>
          <p:nvPr/>
        </p:nvSpPr>
        <p:spPr>
          <a:xfrm>
            <a:off x="263250" y="4820868"/>
            <a:ext cx="702000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送回图③</a:t>
            </a:r>
          </a:p>
        </p:txBody>
      </p:sp>
      <p:sp>
        <p:nvSpPr>
          <p:cNvPr id="89" name="text-088: mem_resp_i"/>
          <p:cNvSpPr txBox="1"/>
          <p:nvPr/>
        </p:nvSpPr>
        <p:spPr>
          <a:xfrm>
            <a:off x="263250" y="5013918"/>
            <a:ext cx="889291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253447"/>
                </a:solidFill>
                <a:latin typeface="WenQuanYi Zen Hei"/>
                <a:ea typeface="WenQuanYi Zen Hei"/>
                <a:cs typeface="WenQuanYi Zen Hei"/>
              </a:rPr>
              <a:t>mem_resp_i</a:t>
            </a:r>
          </a:p>
        </p:txBody>
      </p:sp>
      <p:sp>
        <p:nvSpPr>
          <p:cNvPr id="90" name="text-089: mem_rvalid = resp_valid[0] &amp; resp_valid["/>
          <p:cNvSpPr txBox="1"/>
          <p:nvPr/>
        </p:nvSpPr>
        <p:spPr>
          <a:xfrm>
            <a:off x="263250" y="6218550"/>
            <a:ext cx="4928077" cy="23400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mem_rvalid = resp_valid[0] &amp; resp_valid[1]：两路都到齐才交付整拍结果。</a:t>
            </a:r>
          </a:p>
        </p:txBody>
      </p:sp>
      <p:sp>
        <p:nvSpPr>
          <p:cNvPr id="91" name="text-090: 读、写都必须返回完成响应；先到的一路保存在自己的响应 FIFO 中。"/>
          <p:cNvSpPr txBox="1"/>
          <p:nvPr/>
        </p:nvSpPr>
        <p:spPr>
          <a:xfrm>
            <a:off x="263250" y="6488118"/>
            <a:ext cx="4419446" cy="2246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5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读、写都必须返回完成响应；先到的一路保存在自己的响应 FIFO 中。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