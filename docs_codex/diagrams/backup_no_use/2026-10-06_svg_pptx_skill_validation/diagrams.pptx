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883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819150"/>
            <a:ext cx="12801600" cy="7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数据处理与反馈：可编辑矢量示例"/>
          <p:cNvSpPr txBox="1"/>
          <p:nvPr/>
        </p:nvSpPr>
        <p:spPr>
          <a:xfrm>
            <a:off x="480060" y="1198931"/>
            <a:ext cx="5120640" cy="5120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数据处理与反馈：可编辑矢量示例</a:t>
            </a:r>
          </a:p>
        </p:txBody>
      </p:sp>
      <p:sp>
        <p:nvSpPr>
          <p:cNvPr id="4" name="rect-003"/>
          <p:cNvSpPr/>
          <p:nvPr/>
        </p:nvSpPr>
        <p:spPr>
          <a:xfrm>
            <a:off x="640080" y="284607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4: 输入数据"/>
          <p:cNvSpPr txBox="1"/>
          <p:nvPr/>
        </p:nvSpPr>
        <p:spPr>
          <a:xfrm>
            <a:off x="1280160" y="3335945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6" name="text-005: Input"/>
          <p:cNvSpPr txBox="1"/>
          <p:nvPr/>
        </p:nvSpPr>
        <p:spPr>
          <a:xfrm>
            <a:off x="1633921" y="3876172"/>
            <a:ext cx="67931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7" name="rect-006"/>
          <p:cNvSpPr/>
          <p:nvPr/>
        </p:nvSpPr>
        <p:spPr>
          <a:xfrm>
            <a:off x="5067300" y="284607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4ED"/>
          </a:solidFill>
          <a:ln w="21336" cap="flat">
            <a:solidFill>
              <a:srgbClr val="8CBD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处理模块"/>
          <p:cNvSpPr txBox="1"/>
          <p:nvPr/>
        </p:nvSpPr>
        <p:spPr>
          <a:xfrm>
            <a:off x="5707380" y="3335945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9" name="text-008: Process"/>
          <p:cNvSpPr txBox="1"/>
          <p:nvPr/>
        </p:nvSpPr>
        <p:spPr>
          <a:xfrm>
            <a:off x="5958186" y="3876172"/>
            <a:ext cx="88522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Process</a:t>
            </a:r>
          </a:p>
        </p:txBody>
      </p:sp>
      <p:sp>
        <p:nvSpPr>
          <p:cNvPr id="10" name="circle-009"/>
          <p:cNvSpPr/>
          <p:nvPr/>
        </p:nvSpPr>
        <p:spPr>
          <a:xfrm>
            <a:off x="9867900" y="2846070"/>
            <a:ext cx="1920240" cy="1920240"/>
          </a:xfrm>
          <a:prstGeom prst="ellipse">
            <a:avLst/>
          </a:prstGeom>
          <a:solidFill>
            <a:srgbClr val="FFF2E5"/>
          </a:solidFill>
          <a:ln w="21336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输出结果"/>
          <p:cNvSpPr txBox="1"/>
          <p:nvPr/>
        </p:nvSpPr>
        <p:spPr>
          <a:xfrm>
            <a:off x="10134600" y="3506633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cxnSp>
        <p:nvCxnSpPr>
          <p:cNvPr id="12" name="line-011"/>
          <p:cNvCxnSpPr/>
          <p:nvPr/>
        </p:nvCxnSpPr>
        <p:spPr>
          <a:xfrm>
            <a:off x="3307080" y="3806190"/>
            <a:ext cx="1632204" cy="0"/>
          </a:xfrm>
          <a:prstGeom prst="line">
            <a:avLst/>
          </a:prstGeom>
          <a:ln w="21336" cap="flat">
            <a:solidFill>
              <a:srgbClr val="526B80"/>
            </a:solidFill>
          </a:ln>
          <a:effectLst/>
        </p:spPr>
      </p:cxnSp>
      <p:sp>
        <p:nvSpPr>
          <p:cNvPr id="13" name="polygon-012"/>
          <p:cNvSpPr/>
          <p:nvPr/>
        </p:nvSpPr>
        <p:spPr>
          <a:xfrm>
            <a:off x="4917948" y="3731514"/>
            <a:ext cx="149352" cy="149352"/>
          </a:xfrm>
          <a:custGeom>
            <a:avLst/>
            <a:gdLst/>
            <a:ahLst/>
            <a:cxnLst/>
            <a:rect l="0" t="0" r="r" b="b"/>
            <a:pathLst>
              <a:path w="149352" h="149352">
                <a:moveTo>
                  <a:pt x="149352" y="74676"/>
                </a:moveTo>
                <a:lnTo>
                  <a:pt x="0" y="0"/>
                </a:lnTo>
                <a:lnTo>
                  <a:pt x="0" y="149352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line-013"/>
          <p:cNvCxnSpPr/>
          <p:nvPr/>
        </p:nvCxnSpPr>
        <p:spPr>
          <a:xfrm>
            <a:off x="7734300" y="3806190"/>
            <a:ext cx="2005584" cy="0"/>
          </a:xfrm>
          <a:prstGeom prst="line">
            <a:avLst/>
          </a:prstGeom>
          <a:ln w="21336" cap="flat">
            <a:solidFill>
              <a:srgbClr val="526B80"/>
            </a:solidFill>
          </a:ln>
          <a:effectLst/>
        </p:spPr>
      </p:cxnSp>
      <p:sp>
        <p:nvSpPr>
          <p:cNvPr id="15" name="polygon-014"/>
          <p:cNvSpPr/>
          <p:nvPr/>
        </p:nvSpPr>
        <p:spPr>
          <a:xfrm>
            <a:off x="9718548" y="3731514"/>
            <a:ext cx="149352" cy="149352"/>
          </a:xfrm>
          <a:custGeom>
            <a:avLst/>
            <a:gdLst/>
            <a:ahLst/>
            <a:cxnLst/>
            <a:rect l="0" t="0" r="r" b="b"/>
            <a:pathLst>
              <a:path w="149352" h="149352">
                <a:moveTo>
                  <a:pt x="149352" y="74676"/>
                </a:moveTo>
                <a:lnTo>
                  <a:pt x="0" y="0"/>
                </a:lnTo>
                <a:lnTo>
                  <a:pt x="0" y="149352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15"/>
          <p:cNvSpPr/>
          <p:nvPr/>
        </p:nvSpPr>
        <p:spPr>
          <a:xfrm>
            <a:off x="1973580" y="4766310"/>
            <a:ext cx="8854440" cy="1653540"/>
          </a:xfrm>
          <a:custGeom>
            <a:avLst/>
            <a:gdLst/>
            <a:ahLst/>
            <a:cxnLst/>
            <a:rect l="0" t="0" r="r" b="b"/>
            <a:pathLst>
              <a:path w="8854440" h="1653540">
                <a:moveTo>
                  <a:pt x="8854440" y="0"/>
                </a:moveTo>
                <a:cubicBezTo>
                  <a:pt x="8854440" y="1653540"/>
                  <a:pt x="0" y="1653540"/>
                  <a:pt x="0" y="128016"/>
                </a:cubicBezTo>
              </a:path>
            </a:pathLst>
          </a:custGeom>
          <a:noFill/>
          <a:ln w="32004" cap="flat">
            <a:solidFill>
              <a:srgbClr val="277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909572" y="4766310"/>
            <a:ext cx="128016" cy="149352"/>
          </a:xfrm>
          <a:custGeom>
            <a:avLst/>
            <a:gdLst/>
            <a:ahLst/>
            <a:cxnLst/>
            <a:rect l="0" t="0" r="r" b="b"/>
            <a:pathLst>
              <a:path w="128016" h="149352">
                <a:moveTo>
                  <a:pt x="64008" y="0"/>
                </a:moveTo>
                <a:lnTo>
                  <a:pt x="0" y="149352"/>
                </a:lnTo>
                <a:lnTo>
                  <a:pt x="128016" y="149352"/>
                </a:lnTo>
                <a:close/>
              </a:path>
            </a:pathLst>
          </a:custGeom>
          <a:solidFill>
            <a:srgbClr val="2774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反馈路径 / Feedback"/>
          <p:cNvSpPr txBox="1"/>
          <p:nvPr/>
        </p:nvSpPr>
        <p:spPr>
          <a:xfrm>
            <a:off x="5275526" y="6349441"/>
            <a:ext cx="2250548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774C7"/>
                </a:solidFill>
                <a:latin typeface="Microsoft YaHei"/>
                <a:ea typeface="Microsoft YaHei"/>
                <a:cs typeface="Microsoft YaHei"/>
              </a:rPr>
              <a:t>反馈路径 / Feedback</a:t>
            </a:r>
          </a:p>
        </p:txBody>
      </p:sp>
      <p:sp>
        <p:nvSpPr>
          <p:cNvPr id="19" name="ellipse-018"/>
          <p:cNvSpPr/>
          <p:nvPr/>
        </p:nvSpPr>
        <p:spPr>
          <a:xfrm>
            <a:off x="693420" y="7113270"/>
            <a:ext cx="533400" cy="277368"/>
          </a:xfrm>
          <a:prstGeom prst="ellipse">
            <a:avLst/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文字、圆角框、椭圆、曲线与箭头均为独立对象。"/>
          <p:cNvSpPr txBox="1"/>
          <p:nvPr/>
        </p:nvSpPr>
        <p:spPr>
          <a:xfrm>
            <a:off x="1440180" y="7119244"/>
            <a:ext cx="441655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文字、圆角框、椭圆、曲线与箭头均为独立对象。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8392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Cheshire + CVA6 + Ara：AXI Crossbar 的实际结构"/>
          <p:cNvSpPr txBox="1"/>
          <p:nvPr/>
        </p:nvSpPr>
        <p:spPr>
          <a:xfrm>
            <a:off x="228600" y="116434"/>
            <a:ext cx="6549628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4" name="text-003: 基线：tb_cheshire_pkg::gen_cheshire_ara_cfg"/>
          <p:cNvSpPr txBox="1"/>
          <p:nvPr/>
        </p:nvSpPr>
        <p:spPr>
          <a:xfrm>
            <a:off x="228600" y="529438"/>
            <a:ext cx="646924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5" name="rect-004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Ara = 1  ·  2 lanes / VLEN 2048  ·  AXI "/>
          <p:cNvSpPr txBox="1"/>
          <p:nvPr/>
        </p:nvSpPr>
        <p:spPr>
          <a:xfrm>
            <a:off x="365760" y="932078"/>
            <a:ext cx="794305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7" name="rect-006"/>
          <p:cNvSpPr/>
          <p:nvPr/>
        </p:nvSpPr>
        <p:spPr>
          <a:xfrm>
            <a:off x="4000500" y="1371600"/>
            <a:ext cx="4191000" cy="569976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i_axi_xbar · 7 × 5 · 全连接"/>
          <p:cNvSpPr txBox="1"/>
          <p:nvPr/>
        </p:nvSpPr>
        <p:spPr>
          <a:xfrm>
            <a:off x="4183380" y="1432560"/>
            <a:ext cx="258170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9" name="text-008: 发起者 / AXI master"/>
          <p:cNvSpPr txBox="1"/>
          <p:nvPr/>
        </p:nvSpPr>
        <p:spPr>
          <a:xfrm>
            <a:off x="266700" y="1371600"/>
            <a:ext cx="202361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10" name="text-009: 入端局部适配"/>
          <p:cNvSpPr txBox="1"/>
          <p:nvPr/>
        </p:nvSpPr>
        <p:spPr>
          <a:xfrm>
            <a:off x="2324100" y="142097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1" name="text-010: 目标 / AXI slave 与下游"/>
          <p:cNvSpPr txBox="1"/>
          <p:nvPr/>
        </p:nvSpPr>
        <p:spPr>
          <a:xfrm>
            <a:off x="8610600" y="1371600"/>
            <a:ext cx="22797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2" name="path-011"/>
          <p:cNvSpPr/>
          <p:nvPr/>
        </p:nvSpPr>
        <p:spPr>
          <a:xfrm>
            <a:off x="5143500" y="2019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12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th-013"/>
          <p:cNvSpPr/>
          <p:nvPr/>
        </p:nvSpPr>
        <p:spPr>
          <a:xfrm>
            <a:off x="5143500" y="2019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14"/>
          <p:cNvSpPr/>
          <p:nvPr/>
        </p:nvSpPr>
        <p:spPr>
          <a:xfrm>
            <a:off x="5143500" y="2019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15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16"/>
          <p:cNvSpPr/>
          <p:nvPr/>
        </p:nvSpPr>
        <p:spPr>
          <a:xfrm>
            <a:off x="5143500" y="201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17"/>
          <p:cNvSpPr/>
          <p:nvPr/>
        </p:nvSpPr>
        <p:spPr>
          <a:xfrm>
            <a:off x="5143500" y="2781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18"/>
          <p:cNvSpPr/>
          <p:nvPr/>
        </p:nvSpPr>
        <p:spPr>
          <a:xfrm>
            <a:off x="5143500" y="2781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th-019"/>
          <p:cNvSpPr/>
          <p:nvPr/>
        </p:nvSpPr>
        <p:spPr>
          <a:xfrm>
            <a:off x="5143500" y="2781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th-020"/>
          <p:cNvSpPr/>
          <p:nvPr/>
        </p:nvSpPr>
        <p:spPr>
          <a:xfrm>
            <a:off x="5143500" y="2781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21"/>
          <p:cNvSpPr/>
          <p:nvPr/>
        </p:nvSpPr>
        <p:spPr>
          <a:xfrm>
            <a:off x="5143500" y="2019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th-022"/>
          <p:cNvSpPr/>
          <p:nvPr/>
        </p:nvSpPr>
        <p:spPr>
          <a:xfrm>
            <a:off x="5143500" y="3009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th-023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th-024"/>
          <p:cNvSpPr/>
          <p:nvPr/>
        </p:nvSpPr>
        <p:spPr>
          <a:xfrm>
            <a:off x="5143500" y="3543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th-025"/>
          <p:cNvSpPr/>
          <p:nvPr/>
        </p:nvSpPr>
        <p:spPr>
          <a:xfrm>
            <a:off x="5143500" y="3543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th-026"/>
          <p:cNvSpPr/>
          <p:nvPr/>
        </p:nvSpPr>
        <p:spPr>
          <a:xfrm>
            <a:off x="5143500" y="2019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-027"/>
          <p:cNvSpPr/>
          <p:nvPr/>
        </p:nvSpPr>
        <p:spPr>
          <a:xfrm>
            <a:off x="5143500" y="3009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th-028"/>
          <p:cNvSpPr/>
          <p:nvPr/>
        </p:nvSpPr>
        <p:spPr>
          <a:xfrm>
            <a:off x="5143500" y="4305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th-029"/>
          <p:cNvSpPr/>
          <p:nvPr/>
        </p:nvSpPr>
        <p:spPr>
          <a:xfrm>
            <a:off x="5143500" y="4305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30"/>
          <p:cNvSpPr/>
          <p:nvPr/>
        </p:nvSpPr>
        <p:spPr>
          <a:xfrm>
            <a:off x="5143500" y="4305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31"/>
          <p:cNvSpPr/>
          <p:nvPr/>
        </p:nvSpPr>
        <p:spPr>
          <a:xfrm>
            <a:off x="5143500" y="2019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32"/>
          <p:cNvSpPr/>
          <p:nvPr/>
        </p:nvSpPr>
        <p:spPr>
          <a:xfrm>
            <a:off x="5143500" y="3009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33"/>
          <p:cNvSpPr/>
          <p:nvPr/>
        </p:nvSpPr>
        <p:spPr>
          <a:xfrm>
            <a:off x="5143500" y="4381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34"/>
          <p:cNvSpPr/>
          <p:nvPr/>
        </p:nvSpPr>
        <p:spPr>
          <a:xfrm>
            <a:off x="5143500" y="5067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35"/>
          <p:cNvSpPr/>
          <p:nvPr/>
        </p:nvSpPr>
        <p:spPr>
          <a:xfrm>
            <a:off x="5143500" y="5067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36"/>
          <p:cNvSpPr/>
          <p:nvPr/>
        </p:nvSpPr>
        <p:spPr>
          <a:xfrm>
            <a:off x="5143500" y="2019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37"/>
          <p:cNvSpPr/>
          <p:nvPr/>
        </p:nvSpPr>
        <p:spPr>
          <a:xfrm>
            <a:off x="5143500" y="3009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38"/>
          <p:cNvSpPr/>
          <p:nvPr/>
        </p:nvSpPr>
        <p:spPr>
          <a:xfrm>
            <a:off x="5143500" y="4381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39"/>
          <p:cNvSpPr/>
          <p:nvPr/>
        </p:nvSpPr>
        <p:spPr>
          <a:xfrm>
            <a:off x="5143500" y="5676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40"/>
          <p:cNvSpPr/>
          <p:nvPr/>
        </p:nvSpPr>
        <p:spPr>
          <a:xfrm>
            <a:off x="5143500" y="582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41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42"/>
          <p:cNvSpPr/>
          <p:nvPr/>
        </p:nvSpPr>
        <p:spPr>
          <a:xfrm>
            <a:off x="5143500" y="3009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43"/>
          <p:cNvSpPr/>
          <p:nvPr/>
        </p:nvSpPr>
        <p:spPr>
          <a:xfrm>
            <a:off x="5143500" y="4381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44"/>
          <p:cNvSpPr/>
          <p:nvPr/>
        </p:nvSpPr>
        <p:spPr>
          <a:xfrm>
            <a:off x="5143500" y="5676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45"/>
          <p:cNvSpPr/>
          <p:nvPr/>
        </p:nvSpPr>
        <p:spPr>
          <a:xfrm>
            <a:off x="5143500" y="6591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46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 cap="flat">
            <a:solidFill>
              <a:srgbClr val="C66A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47"/>
          <p:cNvSpPr/>
          <p:nvPr/>
        </p:nvSpPr>
        <p:spPr>
          <a:xfrm>
            <a:off x="6972300" y="29718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66A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48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 cap="flat">
            <a:solidFill>
              <a:srgbClr val="277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-049"/>
          <p:cNvSpPr/>
          <p:nvPr/>
        </p:nvSpPr>
        <p:spPr>
          <a:xfrm>
            <a:off x="6972300" y="43434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2774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228600" y="1775460"/>
            <a:ext cx="1600200" cy="4876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S0 · CVA6 core 0"/>
          <p:cNvSpPr txBox="1"/>
          <p:nvPr/>
        </p:nvSpPr>
        <p:spPr>
          <a:xfrm>
            <a:off x="350520" y="1899818"/>
            <a:ext cx="141146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3" name="rect-052"/>
          <p:cNvSpPr/>
          <p:nvPr/>
        </p:nvSpPr>
        <p:spPr>
          <a:xfrm>
            <a:off x="2042160" y="1783080"/>
            <a:ext cx="1790700" cy="47244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cheshire_cva6_wrap"/>
          <p:cNvSpPr txBox="1"/>
          <p:nvPr/>
        </p:nvSpPr>
        <p:spPr>
          <a:xfrm>
            <a:off x="2133600" y="1899818"/>
            <a:ext cx="165938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5" name="line-054"/>
          <p:cNvCxnSpPr/>
          <p:nvPr/>
        </p:nvCxnSpPr>
        <p:spPr>
          <a:xfrm>
            <a:off x="1828800" y="2019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56" name="polygon-055"/>
          <p:cNvSpPr/>
          <p:nvPr/>
        </p:nvSpPr>
        <p:spPr>
          <a:xfrm>
            <a:off x="1981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line-056"/>
          <p:cNvCxnSpPr/>
          <p:nvPr/>
        </p:nvCxnSpPr>
        <p:spPr>
          <a:xfrm>
            <a:off x="3832860" y="2019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58" name="polygon-057"/>
          <p:cNvSpPr/>
          <p:nvPr/>
        </p:nvSpPr>
        <p:spPr>
          <a:xfrm>
            <a:off x="413004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4191000" y="1798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AR/AW 译码"/>
          <p:cNvSpPr txBox="1"/>
          <p:nvPr/>
        </p:nvSpPr>
        <p:spPr>
          <a:xfrm>
            <a:off x="4267200" y="184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1" name="text-060: DEMUX S0"/>
          <p:cNvSpPr txBox="1"/>
          <p:nvPr/>
        </p:nvSpPr>
        <p:spPr>
          <a:xfrm>
            <a:off x="4267200" y="203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62" name="rect-061"/>
          <p:cNvSpPr/>
          <p:nvPr/>
        </p:nvSpPr>
        <p:spPr>
          <a:xfrm>
            <a:off x="228600" y="2537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S1 · Debug / SBA"/>
          <p:cNvSpPr txBox="1"/>
          <p:nvPr/>
        </p:nvSpPr>
        <p:spPr>
          <a:xfrm>
            <a:off x="350520" y="2661818"/>
            <a:ext cx="146373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64" name="line-063"/>
          <p:cNvCxnSpPr/>
          <p:nvPr/>
        </p:nvCxnSpPr>
        <p:spPr>
          <a:xfrm>
            <a:off x="1828800" y="2781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65" name="polygon-064"/>
          <p:cNvSpPr/>
          <p:nvPr/>
        </p:nvSpPr>
        <p:spPr>
          <a:xfrm>
            <a:off x="4130040" y="275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065"/>
          <p:cNvSpPr/>
          <p:nvPr/>
        </p:nvSpPr>
        <p:spPr>
          <a:xfrm>
            <a:off x="4191000" y="2560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6: AR/AW 译码"/>
          <p:cNvSpPr txBox="1"/>
          <p:nvPr/>
        </p:nvSpPr>
        <p:spPr>
          <a:xfrm>
            <a:off x="4267200" y="261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8" name="text-067: DEMUX S1"/>
          <p:cNvSpPr txBox="1"/>
          <p:nvPr/>
        </p:nvSpPr>
        <p:spPr>
          <a:xfrm>
            <a:off x="4267200" y="279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9" name="rect-068"/>
          <p:cNvSpPr/>
          <p:nvPr/>
        </p:nvSpPr>
        <p:spPr>
          <a:xfrm>
            <a:off x="228600" y="3299460"/>
            <a:ext cx="1600200" cy="48768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S2 · Ara 访存"/>
          <p:cNvSpPr txBox="1"/>
          <p:nvPr/>
        </p:nvSpPr>
        <p:spPr>
          <a:xfrm>
            <a:off x="350520" y="3423818"/>
            <a:ext cx="110898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71" name="rect-070"/>
          <p:cNvSpPr/>
          <p:nvPr/>
        </p:nvSpPr>
        <p:spPr>
          <a:xfrm>
            <a:off x="2042160" y="3215640"/>
            <a:ext cx="1790700" cy="65532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inval filter → 位宽适配"/>
          <p:cNvSpPr txBox="1"/>
          <p:nvPr/>
        </p:nvSpPr>
        <p:spPr>
          <a:xfrm>
            <a:off x="2148840" y="3280258"/>
            <a:ext cx="1634073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73" name="text-072: 本配置：64 → 64 bit"/>
          <p:cNvSpPr txBox="1"/>
          <p:nvPr/>
        </p:nvSpPr>
        <p:spPr>
          <a:xfrm>
            <a:off x="2148840" y="3478378"/>
            <a:ext cx="152173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74" name="text-073: 另接 CVA6 指令/MMU 接口"/>
          <p:cNvSpPr txBox="1"/>
          <p:nvPr/>
        </p:nvSpPr>
        <p:spPr>
          <a:xfrm>
            <a:off x="2148840" y="3662477"/>
            <a:ext cx="176033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75" name="line-074"/>
          <p:cNvCxnSpPr/>
          <p:nvPr/>
        </p:nvCxnSpPr>
        <p:spPr>
          <a:xfrm>
            <a:off x="1828800" y="3543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76" name="polygon-075"/>
          <p:cNvSpPr/>
          <p:nvPr/>
        </p:nvSpPr>
        <p:spPr>
          <a:xfrm>
            <a:off x="198120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7" name="line-076"/>
          <p:cNvCxnSpPr/>
          <p:nvPr/>
        </p:nvCxnSpPr>
        <p:spPr>
          <a:xfrm>
            <a:off x="3832860" y="3543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78" name="polygon-077"/>
          <p:cNvSpPr/>
          <p:nvPr/>
        </p:nvSpPr>
        <p:spPr>
          <a:xfrm>
            <a:off x="413004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-078"/>
          <p:cNvSpPr/>
          <p:nvPr/>
        </p:nvSpPr>
        <p:spPr>
          <a:xfrm>
            <a:off x="4191000" y="3322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79: AR/AW 译码"/>
          <p:cNvSpPr txBox="1"/>
          <p:nvPr/>
        </p:nvSpPr>
        <p:spPr>
          <a:xfrm>
            <a:off x="4267200" y="3372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1" name="text-080: DEMUX S2"/>
          <p:cNvSpPr txBox="1"/>
          <p:nvPr/>
        </p:nvSpPr>
        <p:spPr>
          <a:xfrm>
            <a:off x="4267200" y="3555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82" name="rect-081"/>
          <p:cNvSpPr/>
          <p:nvPr/>
        </p:nvSpPr>
        <p:spPr>
          <a:xfrm>
            <a:off x="228600" y="4061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2: S3 · iDMA 数据"/>
          <p:cNvSpPr txBox="1"/>
          <p:nvPr/>
        </p:nvSpPr>
        <p:spPr>
          <a:xfrm>
            <a:off x="350520" y="4185818"/>
            <a:ext cx="128026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84" name="line-083"/>
          <p:cNvCxnSpPr/>
          <p:nvPr/>
        </p:nvCxnSpPr>
        <p:spPr>
          <a:xfrm>
            <a:off x="1828800" y="4305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85" name="polygon-084"/>
          <p:cNvSpPr/>
          <p:nvPr/>
        </p:nvSpPr>
        <p:spPr>
          <a:xfrm>
            <a:off x="41300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85"/>
          <p:cNvSpPr/>
          <p:nvPr/>
        </p:nvSpPr>
        <p:spPr>
          <a:xfrm>
            <a:off x="4191000" y="4084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6: AR/AW 译码"/>
          <p:cNvSpPr txBox="1"/>
          <p:nvPr/>
        </p:nvSpPr>
        <p:spPr>
          <a:xfrm>
            <a:off x="4267200" y="4134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8" name="text-087: DEMUX S3"/>
          <p:cNvSpPr txBox="1"/>
          <p:nvPr/>
        </p:nvSpPr>
        <p:spPr>
          <a:xfrm>
            <a:off x="4267200" y="4317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9" name="rect-088"/>
          <p:cNvSpPr/>
          <p:nvPr/>
        </p:nvSpPr>
        <p:spPr>
          <a:xfrm>
            <a:off x="228600" y="4823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89: S4 · Serial Link RX"/>
          <p:cNvSpPr txBox="1"/>
          <p:nvPr/>
        </p:nvSpPr>
        <p:spPr>
          <a:xfrm>
            <a:off x="350520" y="4947818"/>
            <a:ext cx="15101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91" name="line-090"/>
          <p:cNvCxnSpPr/>
          <p:nvPr/>
        </p:nvCxnSpPr>
        <p:spPr>
          <a:xfrm>
            <a:off x="1828800" y="5067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92" name="polygon-091"/>
          <p:cNvSpPr/>
          <p:nvPr/>
        </p:nvSpPr>
        <p:spPr>
          <a:xfrm>
            <a:off x="4130040" y="5036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-092"/>
          <p:cNvSpPr/>
          <p:nvPr/>
        </p:nvSpPr>
        <p:spPr>
          <a:xfrm>
            <a:off x="4191000" y="4846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3: AR/AW 译码"/>
          <p:cNvSpPr txBox="1"/>
          <p:nvPr/>
        </p:nvSpPr>
        <p:spPr>
          <a:xfrm>
            <a:off x="4267200" y="4896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5" name="text-094: DEMUX S4"/>
          <p:cNvSpPr txBox="1"/>
          <p:nvPr/>
        </p:nvSpPr>
        <p:spPr>
          <a:xfrm>
            <a:off x="4267200" y="5079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96" name="rect-095"/>
          <p:cNvSpPr/>
          <p:nvPr/>
        </p:nvSpPr>
        <p:spPr>
          <a:xfrm>
            <a:off x="228600" y="5585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6: S5 · VGA 取帧"/>
          <p:cNvSpPr txBox="1"/>
          <p:nvPr/>
        </p:nvSpPr>
        <p:spPr>
          <a:xfrm>
            <a:off x="350520" y="5709818"/>
            <a:ext cx="11830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98" name="line-097"/>
          <p:cNvCxnSpPr/>
          <p:nvPr/>
        </p:nvCxnSpPr>
        <p:spPr>
          <a:xfrm>
            <a:off x="1828800" y="5829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99" name="polygon-098"/>
          <p:cNvSpPr/>
          <p:nvPr/>
        </p:nvSpPr>
        <p:spPr>
          <a:xfrm>
            <a:off x="4130040" y="579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-099"/>
          <p:cNvSpPr/>
          <p:nvPr/>
        </p:nvSpPr>
        <p:spPr>
          <a:xfrm>
            <a:off x="4191000" y="5608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AR/AW 译码"/>
          <p:cNvSpPr txBox="1"/>
          <p:nvPr/>
        </p:nvSpPr>
        <p:spPr>
          <a:xfrm>
            <a:off x="4267200" y="565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2" name="text-101: DEMUX S5"/>
          <p:cNvSpPr txBox="1"/>
          <p:nvPr/>
        </p:nvSpPr>
        <p:spPr>
          <a:xfrm>
            <a:off x="4267200" y="584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103" name="rect-102"/>
          <p:cNvSpPr/>
          <p:nvPr/>
        </p:nvSpPr>
        <p:spPr>
          <a:xfrm>
            <a:off x="228600" y="6347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3: S6 · USB DMA"/>
          <p:cNvSpPr txBox="1"/>
          <p:nvPr/>
        </p:nvSpPr>
        <p:spPr>
          <a:xfrm>
            <a:off x="350520" y="6471818"/>
            <a:ext cx="12298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105" name="line-104"/>
          <p:cNvCxnSpPr/>
          <p:nvPr/>
        </p:nvCxnSpPr>
        <p:spPr>
          <a:xfrm>
            <a:off x="1828800" y="6591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106" name="polygon-105"/>
          <p:cNvSpPr/>
          <p:nvPr/>
        </p:nvSpPr>
        <p:spPr>
          <a:xfrm>
            <a:off x="413004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-106"/>
          <p:cNvSpPr/>
          <p:nvPr/>
        </p:nvSpPr>
        <p:spPr>
          <a:xfrm>
            <a:off x="4191000" y="6370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7: AR/AW 译码"/>
          <p:cNvSpPr txBox="1"/>
          <p:nvPr/>
        </p:nvSpPr>
        <p:spPr>
          <a:xfrm>
            <a:off x="4267200" y="642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9" name="text-108: DEMUX S6"/>
          <p:cNvSpPr txBox="1"/>
          <p:nvPr/>
        </p:nvSpPr>
        <p:spPr>
          <a:xfrm>
            <a:off x="4267200" y="660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110" name="text-109: 图中省略部分局部缓冲/适配"/>
          <p:cNvSpPr txBox="1"/>
          <p:nvPr/>
        </p:nvSpPr>
        <p:spPr>
          <a:xfrm>
            <a:off x="2095500" y="2298497"/>
            <a:ext cx="173936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111" name="text-110: 灰线 = 可达路径；彩线 = 请求示例"/>
          <p:cNvSpPr txBox="1"/>
          <p:nvPr/>
        </p:nvSpPr>
        <p:spPr>
          <a:xfrm>
            <a:off x="5349240" y="6832397"/>
            <a:ext cx="215903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12" name="rect-111"/>
          <p:cNvSpPr/>
          <p:nvPr/>
        </p:nvSpPr>
        <p:spPr>
          <a:xfrm>
            <a:off x="7048500" y="1775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2: MUX M0"/>
          <p:cNvSpPr txBox="1"/>
          <p:nvPr/>
        </p:nvSpPr>
        <p:spPr>
          <a:xfrm>
            <a:off x="7193280" y="1809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14" name="text-113: 独立仲裁"/>
          <p:cNvSpPr txBox="1"/>
          <p:nvPr/>
        </p:nvSpPr>
        <p:spPr>
          <a:xfrm>
            <a:off x="7162800" y="2007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114"/>
          <p:cNvCxnSpPr/>
          <p:nvPr/>
        </p:nvCxnSpPr>
        <p:spPr>
          <a:xfrm>
            <a:off x="8001000" y="2019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116" name="polygon-115"/>
          <p:cNvSpPr/>
          <p:nvPr/>
        </p:nvSpPr>
        <p:spPr>
          <a:xfrm>
            <a:off x="8458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-116"/>
          <p:cNvSpPr/>
          <p:nvPr/>
        </p:nvSpPr>
        <p:spPr>
          <a:xfrm>
            <a:off x="7048500" y="2766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117: MUX M1"/>
          <p:cNvSpPr txBox="1"/>
          <p:nvPr/>
        </p:nvSpPr>
        <p:spPr>
          <a:xfrm>
            <a:off x="7193280" y="2800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19" name="text-118: 独立仲裁"/>
          <p:cNvSpPr txBox="1"/>
          <p:nvPr/>
        </p:nvSpPr>
        <p:spPr>
          <a:xfrm>
            <a:off x="7162800" y="2998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0" name="line-119"/>
          <p:cNvCxnSpPr/>
          <p:nvPr/>
        </p:nvCxnSpPr>
        <p:spPr>
          <a:xfrm>
            <a:off x="8001000" y="3009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121" name="polygon-120"/>
          <p:cNvSpPr/>
          <p:nvPr/>
        </p:nvSpPr>
        <p:spPr>
          <a:xfrm>
            <a:off x="8458200" y="2979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-121"/>
          <p:cNvSpPr/>
          <p:nvPr/>
        </p:nvSpPr>
        <p:spPr>
          <a:xfrm>
            <a:off x="7048500" y="41376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2: MUX M2"/>
          <p:cNvSpPr txBox="1"/>
          <p:nvPr/>
        </p:nvSpPr>
        <p:spPr>
          <a:xfrm>
            <a:off x="7193280" y="41717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24" name="text-123: 独立仲裁"/>
          <p:cNvSpPr txBox="1"/>
          <p:nvPr/>
        </p:nvSpPr>
        <p:spPr>
          <a:xfrm>
            <a:off x="7162800" y="43699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5" name="line-124"/>
          <p:cNvCxnSpPr/>
          <p:nvPr/>
        </p:nvCxnSpPr>
        <p:spPr>
          <a:xfrm>
            <a:off x="8001000" y="43815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126" name="polygon-125"/>
          <p:cNvSpPr/>
          <p:nvPr/>
        </p:nvSpPr>
        <p:spPr>
          <a:xfrm>
            <a:off x="8458200" y="43510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-126"/>
          <p:cNvSpPr/>
          <p:nvPr/>
        </p:nvSpPr>
        <p:spPr>
          <a:xfrm>
            <a:off x="7048500" y="5433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-127: MUX M3"/>
          <p:cNvSpPr txBox="1"/>
          <p:nvPr/>
        </p:nvSpPr>
        <p:spPr>
          <a:xfrm>
            <a:off x="7193280" y="5467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29" name="text-128: 独立仲裁"/>
          <p:cNvSpPr txBox="1"/>
          <p:nvPr/>
        </p:nvSpPr>
        <p:spPr>
          <a:xfrm>
            <a:off x="7162800" y="5665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0" name="line-129"/>
          <p:cNvCxnSpPr/>
          <p:nvPr/>
        </p:nvCxnSpPr>
        <p:spPr>
          <a:xfrm>
            <a:off x="8001000" y="5676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131" name="polygon-130"/>
          <p:cNvSpPr/>
          <p:nvPr/>
        </p:nvSpPr>
        <p:spPr>
          <a:xfrm>
            <a:off x="8458200" y="5646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-131"/>
          <p:cNvSpPr/>
          <p:nvPr/>
        </p:nvSpPr>
        <p:spPr>
          <a:xfrm>
            <a:off x="7048500" y="6347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32: MUX M4"/>
          <p:cNvSpPr txBox="1"/>
          <p:nvPr/>
        </p:nvSpPr>
        <p:spPr>
          <a:xfrm>
            <a:off x="7193280" y="6381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34" name="text-133: 独立仲裁"/>
          <p:cNvSpPr txBox="1"/>
          <p:nvPr/>
        </p:nvSpPr>
        <p:spPr>
          <a:xfrm>
            <a:off x="7162800" y="6579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5" name="line-134"/>
          <p:cNvCxnSpPr/>
          <p:nvPr/>
        </p:nvCxnSpPr>
        <p:spPr>
          <a:xfrm>
            <a:off x="8001000" y="6591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136" name="polygon-135"/>
          <p:cNvSpPr/>
          <p:nvPr/>
        </p:nvSpPr>
        <p:spPr>
          <a:xfrm>
            <a:off x="845820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136"/>
          <p:cNvSpPr/>
          <p:nvPr/>
        </p:nvSpPr>
        <p:spPr>
          <a:xfrm>
            <a:off x="8534400" y="17754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137: M0 · Debug 目标接口"/>
          <p:cNvSpPr txBox="1"/>
          <p:nvPr/>
        </p:nvSpPr>
        <p:spPr>
          <a:xfrm>
            <a:off x="8671560" y="1775460"/>
            <a:ext cx="215838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39" name="text-138: 调试模块地址空间（与 SBA 发起端分开）"/>
          <p:cNvSpPr txBox="1"/>
          <p:nvPr/>
        </p:nvSpPr>
        <p:spPr>
          <a:xfrm>
            <a:off x="8671560" y="2016557"/>
            <a:ext cx="252601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40" name="rect-139"/>
          <p:cNvSpPr/>
          <p:nvPr/>
        </p:nvSpPr>
        <p:spPr>
          <a:xfrm>
            <a:off x="8534400" y="2529840"/>
            <a:ext cx="4038600" cy="96012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140: M1 · AXI → Regbus → Reg demux"/>
          <p:cNvSpPr txBox="1"/>
          <p:nvPr/>
        </p:nvSpPr>
        <p:spPr>
          <a:xfrm>
            <a:off x="8671560" y="2560320"/>
            <a:ext cx="3440668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42" name="text-141: Boot ROM / CLINT / PLIC / SoC regs"/>
          <p:cNvSpPr txBox="1"/>
          <p:nvPr/>
        </p:nvSpPr>
        <p:spPr>
          <a:xfrm>
            <a:off x="8671560" y="2821838"/>
            <a:ext cx="291625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43" name="text-142: UART / I²C / SPI / GPIO / LLC 控制等"/>
          <p:cNvSpPr txBox="1"/>
          <p:nvPr/>
        </p:nvSpPr>
        <p:spPr>
          <a:xfrm>
            <a:off x="8671560" y="3050438"/>
            <a:ext cx="28756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44" name="rect-143"/>
          <p:cNvSpPr/>
          <p:nvPr/>
        </p:nvSpPr>
        <p:spPr>
          <a:xfrm>
            <a:off x="8534400" y="3710940"/>
            <a:ext cx="4038600" cy="150876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4: M2 · LLC / SPM 共用一个目标端口"/>
          <p:cNvSpPr txBox="1"/>
          <p:nvPr/>
        </p:nvSpPr>
        <p:spPr>
          <a:xfrm>
            <a:off x="8671560" y="3764280"/>
            <a:ext cx="32523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46" name="text-145: AMO/LRSC 适配 → cut / 地址重映射 → LLC"/>
          <p:cNvSpPr txBox="1"/>
          <p:nvPr/>
        </p:nvSpPr>
        <p:spPr>
          <a:xfrm>
            <a:off x="8671560" y="4057498"/>
            <a:ext cx="30380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47" name="text-146: SPM：128 KiB，含 cached / uncached 别名"/>
          <p:cNvSpPr txBox="1"/>
          <p:nvPr/>
        </p:nvSpPr>
        <p:spPr>
          <a:xfrm>
            <a:off x="8671560" y="4286098"/>
            <a:ext cx="30909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48" name="text-147: 外存窗口：0x8000_0000 ≤ addr &lt; 0x1_0000_0000"/>
          <p:cNvSpPr txBox="1"/>
          <p:nvPr/>
        </p:nvSpPr>
        <p:spPr>
          <a:xfrm>
            <a:off x="8671560" y="4531157"/>
            <a:ext cx="315826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49" name="text-148: LLC 下游 AXI 端口 → 平台 DDR 控制器"/>
          <p:cNvSpPr txBox="1"/>
          <p:nvPr/>
        </p:nvSpPr>
        <p:spPr>
          <a:xfrm>
            <a:off x="8671560" y="4781398"/>
            <a:ext cx="268575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50" name="text-149: SPM / cache 命中访问可在片内完成"/>
          <p:cNvSpPr txBox="1"/>
          <p:nvPr/>
        </p:nvSpPr>
        <p:spPr>
          <a:xfrm>
            <a:off x="8671560" y="4995977"/>
            <a:ext cx="22306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51" name="rect-150"/>
          <p:cNvSpPr/>
          <p:nvPr/>
        </p:nvSpPr>
        <p:spPr>
          <a:xfrm>
            <a:off x="8534400" y="54330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-151: M3 · iDMA 控制接口"/>
          <p:cNvSpPr txBox="1"/>
          <p:nvPr/>
        </p:nvSpPr>
        <p:spPr>
          <a:xfrm>
            <a:off x="8671560" y="5440680"/>
            <a:ext cx="206610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53" name="text-152: 0x0100_0000 起；与 DMA 数据发起端分开"/>
          <p:cNvSpPr txBox="1"/>
          <p:nvPr/>
        </p:nvSpPr>
        <p:spPr>
          <a:xfrm>
            <a:off x="8671560" y="5689397"/>
            <a:ext cx="266367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54" name="rect-153"/>
          <p:cNvSpPr/>
          <p:nvPr/>
        </p:nvSpPr>
        <p:spPr>
          <a:xfrm>
            <a:off x="8534400" y="6316980"/>
            <a:ext cx="4038600" cy="5486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54: M4 · Serial Link TX 目标窗口"/>
          <p:cNvSpPr txBox="1"/>
          <p:nvPr/>
        </p:nvSpPr>
        <p:spPr>
          <a:xfrm>
            <a:off x="8671560" y="6324600"/>
            <a:ext cx="28126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56" name="text-155: 0x1_0000_0000 ≤ addr &lt; 0x2_0000_0000"/>
          <p:cNvSpPr txBox="1"/>
          <p:nvPr/>
        </p:nvSpPr>
        <p:spPr>
          <a:xfrm>
            <a:off x="8671560" y="6588557"/>
            <a:ext cx="264459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57" name="rect-156"/>
          <p:cNvSpPr/>
          <p:nvPr/>
        </p:nvSpPr>
        <p:spPr>
          <a:xfrm>
            <a:off x="228600" y="7246620"/>
            <a:ext cx="12344400" cy="1325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-157: 如何读这张图"/>
          <p:cNvSpPr txBox="1"/>
          <p:nvPr/>
        </p:nvSpPr>
        <p:spPr>
          <a:xfrm>
            <a:off x="381000" y="7284720"/>
            <a:ext cx="1333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59" name="text-158: ① 每个输入按地址分流；每个输出独立仲裁。访问不同输出可并行，争同一输出才在该处"/>
          <p:cNvSpPr txBox="1"/>
          <p:nvPr/>
        </p:nvSpPr>
        <p:spPr>
          <a:xfrm>
            <a:off x="381000" y="7593178"/>
            <a:ext cx="626837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60" name="text-159: ② 线代表 AXI 通道组：AR/AW/W 向目标，R/B 返回；未映射地址进入"/>
          <p:cNvSpPr txBox="1"/>
          <p:nvPr/>
        </p:nvSpPr>
        <p:spPr>
          <a:xfrm>
            <a:off x="381000" y="7814158"/>
            <a:ext cx="69118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61" name="text-160: ③ 从 Crossbar 看：S 是 slave port（接发起者），M 是 "/>
          <p:cNvSpPr txBox="1"/>
          <p:nvPr/>
        </p:nvSpPr>
        <p:spPr>
          <a:xfrm>
            <a:off x="381000" y="8035138"/>
            <a:ext cx="71127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62" name="text-161: ④ VCU118 当前加源脚本：SerialLink=0、USB=0、Ara=1"/>
          <p:cNvSpPr txBox="1"/>
          <p:nvPr/>
        </p:nvSpPr>
        <p:spPr>
          <a:xfrm>
            <a:off x="381000" y="8256118"/>
            <a:ext cx="695879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990600"/>
            <a:ext cx="12801600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参考 DDR Controller V2.1 的多端口接入建议"/>
          <p:cNvSpPr txBox="1"/>
          <p:nvPr/>
        </p:nvSpPr>
        <p:spPr>
          <a:xfrm>
            <a:off x="228600" y="1107034"/>
            <a:ext cx="5640931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4" name="text-003: 工程建议，当前 RTL 尚未集成供应商 IP；Crossbar 原有结构沿用，I"/>
          <p:cNvSpPr txBox="1"/>
          <p:nvPr/>
        </p:nvSpPr>
        <p:spPr>
          <a:xfrm>
            <a:off x="228600" y="1520038"/>
            <a:ext cx="76808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5" name="rect-004"/>
          <p:cNvSpPr/>
          <p:nvPr/>
        </p:nvSpPr>
        <p:spPr>
          <a:xfrm>
            <a:off x="228600" y="18440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SoC → S0  ·  ISP → S1  ·  NPU → S2 ；控制器集"/>
          <p:cNvSpPr txBox="1"/>
          <p:nvPr/>
        </p:nvSpPr>
        <p:spPr>
          <a:xfrm>
            <a:off x="365760" y="1922678"/>
            <a:ext cx="644413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7" name="rect-006"/>
          <p:cNvSpPr/>
          <p:nvPr/>
        </p:nvSpPr>
        <p:spPr>
          <a:xfrm>
            <a:off x="5905500" y="2377440"/>
            <a:ext cx="5257800" cy="369570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DDR Controller 内部（仅画与接入相关的功能）"/>
          <p:cNvSpPr txBox="1"/>
          <p:nvPr/>
        </p:nvSpPr>
        <p:spPr>
          <a:xfrm>
            <a:off x="6057900" y="2430780"/>
            <a:ext cx="43707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9" name="rect-008"/>
          <p:cNvSpPr/>
          <p:nvPr/>
        </p:nvSpPr>
        <p:spPr>
          <a:xfrm>
            <a:off x="228600" y="2880360"/>
            <a:ext cx="14097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CVA6 + Ara"/>
          <p:cNvSpPr txBox="1"/>
          <p:nvPr/>
        </p:nvSpPr>
        <p:spPr>
          <a:xfrm>
            <a:off x="365760" y="2918460"/>
            <a:ext cx="129741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1" name="text-010: 当前 SoC 发起端"/>
          <p:cNvSpPr txBox="1"/>
          <p:nvPr/>
        </p:nvSpPr>
        <p:spPr>
          <a:xfrm>
            <a:off x="365760" y="3190037"/>
            <a:ext cx="109766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2" name="rect-011"/>
          <p:cNvSpPr/>
          <p:nvPr/>
        </p:nvSpPr>
        <p:spPr>
          <a:xfrm>
            <a:off x="1943100" y="2880360"/>
            <a:ext cx="13716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Cheshire"/>
          <p:cNvSpPr txBox="1"/>
          <p:nvPr/>
        </p:nvSpPr>
        <p:spPr>
          <a:xfrm>
            <a:off x="2057400" y="2967838"/>
            <a:ext cx="74297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4" name="text-013: Crossbar"/>
          <p:cNvSpPr txBox="1"/>
          <p:nvPr/>
        </p:nvSpPr>
        <p:spPr>
          <a:xfrm>
            <a:off x="2057400" y="3173578"/>
            <a:ext cx="74666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5" name="rect-014"/>
          <p:cNvSpPr/>
          <p:nvPr/>
        </p:nvSpPr>
        <p:spPr>
          <a:xfrm>
            <a:off x="3619500" y="2781300"/>
            <a:ext cx="2057400" cy="7620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现有原子适配 + LLC"/>
          <p:cNvSpPr txBox="1"/>
          <p:nvPr/>
        </p:nvSpPr>
        <p:spPr>
          <a:xfrm>
            <a:off x="3741420" y="2868778"/>
            <a:ext cx="144693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7" name="text-016: 经 LLC 出口访问外存"/>
          <p:cNvSpPr txBox="1"/>
          <p:nvPr/>
        </p:nvSpPr>
        <p:spPr>
          <a:xfrm>
            <a:off x="3741420" y="3082138"/>
            <a:ext cx="14843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8" name="text-017: SPM 访问仍可在片内完成"/>
          <p:cNvSpPr txBox="1"/>
          <p:nvPr/>
        </p:nvSpPr>
        <p:spPr>
          <a:xfrm>
            <a:off x="3741420" y="3296717"/>
            <a:ext cx="161430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9" name="line-018"/>
          <p:cNvCxnSpPr/>
          <p:nvPr/>
        </p:nvCxnSpPr>
        <p:spPr>
          <a:xfrm>
            <a:off x="1638300" y="3162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20" name="polygon-019"/>
          <p:cNvSpPr/>
          <p:nvPr/>
        </p:nvSpPr>
        <p:spPr>
          <a:xfrm>
            <a:off x="18821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line-020"/>
          <p:cNvCxnSpPr/>
          <p:nvPr/>
        </p:nvCxnSpPr>
        <p:spPr>
          <a:xfrm>
            <a:off x="3314700" y="3162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22" name="polygon-021"/>
          <p:cNvSpPr/>
          <p:nvPr/>
        </p:nvSpPr>
        <p:spPr>
          <a:xfrm>
            <a:off x="35585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line-022"/>
          <p:cNvCxnSpPr/>
          <p:nvPr/>
        </p:nvCxnSpPr>
        <p:spPr>
          <a:xfrm>
            <a:off x="5676900" y="31623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24" name="polygon-023"/>
          <p:cNvSpPr/>
          <p:nvPr/>
        </p:nvSpPr>
        <p:spPr>
          <a:xfrm>
            <a:off x="59969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228600" y="3985260"/>
            <a:ext cx="2743200" cy="6400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ISP 数据 AXI Master"/>
          <p:cNvSpPr txBox="1"/>
          <p:nvPr/>
        </p:nvSpPr>
        <p:spPr>
          <a:xfrm>
            <a:off x="365760" y="4046220"/>
            <a:ext cx="205560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7" name="text-026: 写帧缓存，绕过 Crossbar / LLC"/>
          <p:cNvSpPr txBox="1"/>
          <p:nvPr/>
        </p:nvSpPr>
        <p:spPr>
          <a:xfrm>
            <a:off x="365760" y="4324198"/>
            <a:ext cx="21909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8" name="line-027"/>
          <p:cNvCxnSpPr/>
          <p:nvPr/>
        </p:nvCxnSpPr>
        <p:spPr>
          <a:xfrm>
            <a:off x="2971800" y="43053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29" name="polygon-028"/>
          <p:cNvSpPr/>
          <p:nvPr/>
        </p:nvSpPr>
        <p:spPr>
          <a:xfrm>
            <a:off x="59969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228600" y="5128260"/>
            <a:ext cx="2743200" cy="640080"/>
          </a:xfrm>
          <a:prstGeom prst="rect">
            <a:avLst/>
          </a:prstGeom>
          <a:solidFill>
            <a:srgbClr val="EDF5EE"/>
          </a:solidFill>
          <a:ln w="15240" cap="flat">
            <a:solidFill>
              <a:srgbClr val="A5C5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NPU 数据 AXI Master"/>
          <p:cNvSpPr txBox="1"/>
          <p:nvPr/>
        </p:nvSpPr>
        <p:spPr>
          <a:xfrm>
            <a:off x="365760" y="5189220"/>
            <a:ext cx="2186571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32" name="text-031: 读写权重 / 特征图，绕过 LLC"/>
          <p:cNvSpPr txBox="1"/>
          <p:nvPr/>
        </p:nvSpPr>
        <p:spPr>
          <a:xfrm>
            <a:off x="365760" y="5467198"/>
            <a:ext cx="20233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33" name="line-032"/>
          <p:cNvCxnSpPr/>
          <p:nvPr/>
        </p:nvCxnSpPr>
        <p:spPr>
          <a:xfrm>
            <a:off x="2971800" y="54483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34" name="polygon-033"/>
          <p:cNvSpPr/>
          <p:nvPr/>
        </p:nvSpPr>
        <p:spPr>
          <a:xfrm>
            <a:off x="5996940" y="5417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057900" y="2819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AXI S0"/>
          <p:cNvSpPr txBox="1"/>
          <p:nvPr/>
        </p:nvSpPr>
        <p:spPr>
          <a:xfrm>
            <a:off x="6172200" y="28803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7" name="text-036: SoC 外存流量"/>
          <p:cNvSpPr txBox="1"/>
          <p:nvPr/>
        </p:nvSpPr>
        <p:spPr>
          <a:xfrm>
            <a:off x="6172200" y="3197657"/>
            <a:ext cx="9297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8" name="line-037"/>
          <p:cNvCxnSpPr/>
          <p:nvPr/>
        </p:nvCxnSpPr>
        <p:spPr>
          <a:xfrm>
            <a:off x="7124700" y="3162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39" name="polygon-038"/>
          <p:cNvSpPr/>
          <p:nvPr/>
        </p:nvSpPr>
        <p:spPr>
          <a:xfrm>
            <a:off x="73685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6057900" y="3962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AXI S1"/>
          <p:cNvSpPr txBox="1"/>
          <p:nvPr/>
        </p:nvSpPr>
        <p:spPr>
          <a:xfrm>
            <a:off x="6172200" y="40233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42" name="text-041: ISP 写入"/>
          <p:cNvSpPr txBox="1"/>
          <p:nvPr/>
        </p:nvSpPr>
        <p:spPr>
          <a:xfrm>
            <a:off x="6172200" y="4340657"/>
            <a:ext cx="61904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43" name="line-042"/>
          <p:cNvCxnSpPr/>
          <p:nvPr/>
        </p:nvCxnSpPr>
        <p:spPr>
          <a:xfrm>
            <a:off x="7124700" y="4305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44" name="polygon-043"/>
          <p:cNvSpPr/>
          <p:nvPr/>
        </p:nvSpPr>
        <p:spPr>
          <a:xfrm>
            <a:off x="73685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6057900" y="5105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XI S2"/>
          <p:cNvSpPr txBox="1"/>
          <p:nvPr/>
        </p:nvSpPr>
        <p:spPr>
          <a:xfrm>
            <a:off x="6172200" y="51663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47" name="text-046: NPU 读 / 写"/>
          <p:cNvSpPr txBox="1"/>
          <p:nvPr/>
        </p:nvSpPr>
        <p:spPr>
          <a:xfrm>
            <a:off x="6172200" y="5483657"/>
            <a:ext cx="8402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8" name="line-047"/>
          <p:cNvCxnSpPr/>
          <p:nvPr/>
        </p:nvCxnSpPr>
        <p:spPr>
          <a:xfrm>
            <a:off x="7124700" y="5448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49" name="polygon-048"/>
          <p:cNvSpPr/>
          <p:nvPr/>
        </p:nvSpPr>
        <p:spPr>
          <a:xfrm>
            <a:off x="7368540" y="5417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7429500" y="2819400"/>
            <a:ext cx="1524000" cy="2971800"/>
          </a:xfrm>
          <a:prstGeom prst="rect">
            <a:avLst/>
          </a:prstGeom>
          <a:solidFill>
            <a:srgbClr val="F9F5FF"/>
          </a:solidFill>
          <a:ln w="15240" cap="flat">
            <a:solidFill>
              <a:srgbClr val="B9A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内部 Arbiter"/>
          <p:cNvSpPr txBox="1"/>
          <p:nvPr/>
        </p:nvSpPr>
        <p:spPr>
          <a:xfrm>
            <a:off x="7574280" y="3185160"/>
            <a:ext cx="1305127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52" name="text-051: 可配置优先级"/>
          <p:cNvSpPr txBox="1"/>
          <p:nvPr/>
        </p:nvSpPr>
        <p:spPr>
          <a:xfrm>
            <a:off x="7574280" y="356981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53" name="text-052: 轮询 / QoS"/>
          <p:cNvSpPr txBox="1"/>
          <p:nvPr/>
        </p:nvSpPr>
        <p:spPr>
          <a:xfrm>
            <a:off x="7574280" y="3836518"/>
            <a:ext cx="87546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54" name="text-053: 页命中限制"/>
          <p:cNvSpPr txBox="1"/>
          <p:nvPr/>
        </p:nvSpPr>
        <p:spPr>
          <a:xfrm>
            <a:off x="7574280" y="4415638"/>
            <a:ext cx="86868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5" name="text-054: 端口请求仲裁"/>
          <p:cNvSpPr txBox="1"/>
          <p:nvPr/>
        </p:nvSpPr>
        <p:spPr>
          <a:xfrm>
            <a:off x="7574280" y="4736897"/>
            <a:ext cx="90678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56" name="line-055"/>
          <p:cNvCxnSpPr/>
          <p:nvPr/>
        </p:nvCxnSpPr>
        <p:spPr>
          <a:xfrm>
            <a:off x="8953500" y="4305300"/>
            <a:ext cx="2667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57" name="polygon-056"/>
          <p:cNvSpPr/>
          <p:nvPr/>
        </p:nvSpPr>
        <p:spPr>
          <a:xfrm>
            <a:off x="91592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220200" y="3619500"/>
            <a:ext cx="1752600" cy="14478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Controller Core"/>
          <p:cNvSpPr txBox="1"/>
          <p:nvPr/>
        </p:nvSpPr>
        <p:spPr>
          <a:xfrm>
            <a:off x="9349740" y="3752698"/>
            <a:ext cx="120368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60" name="text-059: 内部命令队列"/>
          <p:cNvSpPr txBox="1"/>
          <p:nvPr/>
        </p:nvSpPr>
        <p:spPr>
          <a:xfrm>
            <a:off x="9349740" y="404103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61" name="text-060: FR-FCFS 调度"/>
          <p:cNvSpPr txBox="1"/>
          <p:nvPr/>
        </p:nvSpPr>
        <p:spPr>
          <a:xfrm>
            <a:off x="9349740" y="4392778"/>
            <a:ext cx="10434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62" name="text-061: 遵守 DRAM 时序"/>
          <p:cNvSpPr txBox="1"/>
          <p:nvPr/>
        </p:nvSpPr>
        <p:spPr>
          <a:xfrm>
            <a:off x="9349740" y="4705198"/>
            <a:ext cx="12577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63" name="line-062"/>
          <p:cNvCxnSpPr/>
          <p:nvPr/>
        </p:nvCxnSpPr>
        <p:spPr>
          <a:xfrm>
            <a:off x="10972800" y="43053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</a:ln>
          <a:effectLst/>
        </p:spPr>
      </p:cxnSp>
      <p:sp>
        <p:nvSpPr>
          <p:cNvPr id="64" name="polygon-063"/>
          <p:cNvSpPr/>
          <p:nvPr/>
        </p:nvSpPr>
        <p:spPr>
          <a:xfrm>
            <a:off x="112928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11353800" y="3992880"/>
            <a:ext cx="1219200" cy="6248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PHY"/>
          <p:cNvSpPr txBox="1"/>
          <p:nvPr/>
        </p:nvSpPr>
        <p:spPr>
          <a:xfrm>
            <a:off x="11506200" y="4046220"/>
            <a:ext cx="59569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67" name="text-066: + SDRAM"/>
          <p:cNvSpPr txBox="1"/>
          <p:nvPr/>
        </p:nvSpPr>
        <p:spPr>
          <a:xfrm>
            <a:off x="11506200" y="4316578"/>
            <a:ext cx="82668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68" name="rect-067"/>
          <p:cNvSpPr/>
          <p:nvPr/>
        </p:nvSpPr>
        <p:spPr>
          <a:xfrm>
            <a:off x="228600" y="6294120"/>
            <a:ext cx="12344400" cy="12801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依据与待确认边界"/>
          <p:cNvSpPr txBox="1"/>
          <p:nvPr/>
        </p:nvSpPr>
        <p:spPr>
          <a:xfrm>
            <a:off x="365760" y="6332220"/>
            <a:ext cx="171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70" name="text-069: Datasheet V2.1：p8 最多 8 个 AXI 端口；p10 仲裁特性"/>
          <p:cNvSpPr txBox="1"/>
          <p:nvPr/>
        </p:nvSpPr>
        <p:spPr>
          <a:xfrm>
            <a:off x="365760" y="6640678"/>
            <a:ext cx="716713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71" name="text-070: p14：独立 AXI Urgent 接口不支持。优先级 / QoS 的具体寄存器"/>
          <p:cNvSpPr txBox="1"/>
          <p:nvPr/>
        </p:nvSpPr>
        <p:spPr>
          <a:xfrm>
            <a:off x="365760" y="6884518"/>
            <a:ext cx="781731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72" name="text-071: 多端口不会自动保证共享缓存一致性或旁路写的 AMO/LRSC 语义；RT 是否需"/>
          <p:cNvSpPr txBox="1"/>
          <p:nvPr/>
        </p:nvSpPr>
        <p:spPr>
          <a:xfrm>
            <a:off x="365760" y="7128358"/>
            <a:ext cx="74447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