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软件触发的 DDR–GB 缓存维护"/>
          <p:cNvSpPr txBox="1"/>
          <p:nvPr/>
        </p:nvSpPr>
        <p:spPr>
          <a:xfrm>
            <a:off x="200025" y="60488"/>
            <a:ext cx="26625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v1：软件触发的 DDR–GB 缓存维护</a:t>
            </a:r>
          </a:p>
        </p:txBody>
      </p:sp>
      <p:sp>
        <p:nvSpPr>
          <p:cNvPr id="3" name="text-003: 输入：FENCE + LLC 全量 flush；输出：软件配置范围，硬件失效 L"/>
          <p:cNvSpPr txBox="1"/>
          <p:nvPr/>
        </p:nvSpPr>
        <p:spPr>
          <a:xfrm>
            <a:off x="200025" y="280355"/>
            <a:ext cx="33823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输入：FENCE + LLC 全量 flush；输出：软件配置范围，硬件失效 L1D / LLC。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47" name="text-047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48" name="text-048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49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1" name="text-051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2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4" name="text-054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5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1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3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6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78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1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3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6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88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1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蓝：AXI 请求 / 返回（F2 仅写，F3 仅读）    绿：GB / 像素流"/>
          <p:cNvSpPr txBox="1"/>
          <p:nvPr/>
        </p:nvSpPr>
        <p:spPr>
          <a:xfrm>
            <a:off x="320040" y="6599865"/>
            <a:ext cx="53125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/ 像素流    紫：MMIO 命令 / 状态、缓存维护 / 完成</a:t>
            </a:r>
          </a:p>
        </p:txBody>
      </p:sp>
      <p:sp>
        <p:nvSpPr>
          <p:cNvPr id="93" name="text-093: 软件等待缓存维护与数据可见，再启动搬运或消费结果；虚线框为待扩展维护逻辑，数据连"/>
          <p:cNvSpPr txBox="1"/>
          <p:nvPr/>
        </p:nvSpPr>
        <p:spPr>
          <a:xfrm>
            <a:off x="320040" y="6844215"/>
            <a:ext cx="500522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软件等待缓存维护与数据可见，再启动搬运或消费结果；虚线框为待扩展维护逻辑，数据连接沿用 v1。</a:t>
            </a:r>
          </a:p>
        </p:txBody>
      </p:sp>
      <p:sp>
        <p:nvSpPr>
          <p:cNvPr id="94" name="mmio"/>
          <p:cNvSpPr/>
          <p:nvPr/>
        </p:nvSpPr>
        <p:spPr>
          <a:xfrm>
            <a:off x="3200400" y="2600325"/>
            <a:ext cx="3600450" cy="22002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既有寄存器总线 / MMIO：范围、命令、状态"/>
          <p:cNvSpPr txBox="1"/>
          <p:nvPr/>
        </p:nvSpPr>
        <p:spPr>
          <a:xfrm>
            <a:off x="3883935" y="2633689"/>
            <a:ext cx="22333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既有寄存器总线 / MMIO：范围、命令、状态</a:t>
            </a:r>
          </a:p>
        </p:txBody>
      </p:sp>
      <p:sp>
        <p:nvSpPr>
          <p:cNvPr id="96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缓存维护控制（待扩展）"/>
          <p:cNvSpPr txBox="1"/>
          <p:nvPr/>
        </p:nvSpPr>
        <p:spPr>
          <a:xfrm>
            <a:off x="4352544" y="2997735"/>
            <a:ext cx="1296162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缓存维护控制（待扩展）</a:t>
            </a:r>
          </a:p>
        </p:txBody>
      </p:sp>
      <p:sp>
        <p:nvSpPr>
          <p:cNvPr id="98" name="text-098: 范围寄存器 / 行地址发生"/>
          <p:cNvSpPr txBox="1"/>
          <p:nvPr/>
        </p:nvSpPr>
        <p:spPr>
          <a:xfrm>
            <a:off x="4418834" y="3150714"/>
            <a:ext cx="116358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范围寄存器 / 行地址发生</a:t>
            </a:r>
          </a:p>
        </p:txBody>
      </p:sp>
      <p:sp>
        <p:nvSpPr>
          <p:cNvPr id="99" name="text-099: 排空与失效状态机 / 完成与错误"/>
          <p:cNvSpPr txBox="1"/>
          <p:nvPr/>
        </p:nvSpPr>
        <p:spPr>
          <a:xfrm>
            <a:off x="4274816" y="3290731"/>
            <a:ext cx="1451619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排空与失效状态机 / 完成与错误</a:t>
            </a:r>
          </a:p>
        </p:txBody>
      </p:sp>
      <p:sp>
        <p:nvSpPr>
          <p:cNvPr id="100" name="xbar-mmio"/>
          <p:cNvSpPr/>
          <p:nvPr/>
        </p:nvSpPr>
        <p:spPr>
          <a:xfrm>
            <a:off x="3800475" y="2360295"/>
            <a:ext cx="1" cy="240030"/>
          </a:xfrm>
          <a:custGeom>
            <a:avLst/>
            <a:gdLst/>
            <a:ahLst/>
            <a:cxnLst/>
            <a:rect l="0" t="0" r="r" b="b"/>
            <a:pathLst>
              <a:path w="1" h="240030" fill="none">
                <a:moveTo>
                  <a:pt x="0" y="0"/>
                </a:moveTo>
                <a:lnTo>
                  <a:pt x="0" y="24003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mio-maint"/>
          <p:cNvSpPr/>
          <p:nvPr/>
        </p:nvSpPr>
        <p:spPr>
          <a:xfrm>
            <a:off x="5000625" y="2820352"/>
            <a:ext cx="1" cy="140018"/>
          </a:xfrm>
          <a:custGeom>
            <a:avLst/>
            <a:gdLst/>
            <a:ahLst/>
            <a:cxnLst/>
            <a:rect l="0" t="0" r="r" b="b"/>
            <a:pathLst>
              <a:path w="1" h="140018" fill="none">
                <a:moveTo>
                  <a:pt x="0" y="0"/>
                </a:moveTo>
                <a:lnTo>
                  <a:pt x="0" y="14001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软件交接、硬件维护：一次推理的数据生命周期"/>
          <p:cNvSpPr txBox="1"/>
          <p:nvPr/>
        </p:nvSpPr>
        <p:spPr>
          <a:xfrm>
            <a:off x="266700" y="80650"/>
            <a:ext cx="422452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软件交接、硬件维护：一次推理的数据生命周期</a:t>
            </a:r>
          </a:p>
        </p:txBody>
      </p:sp>
      <p:sp>
        <p:nvSpPr>
          <p:cNvPr id="3" name="text-003: 按缓冲区或计算分块同步；交接范围由软件保持所有权，CPU 可并行处理其他缓冲区。"/>
          <p:cNvSpPr txBox="1"/>
          <p:nvPr/>
        </p:nvSpPr>
        <p:spPr>
          <a:xfrm>
            <a:off x="266700" y="373807"/>
            <a:ext cx="5007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按缓冲区或计算分块同步；交接范围由软件保持所有权，CPU 可并行处理其他缓冲区。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4676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提交前：软件交出 DDR 输入与输出范围"/>
          <p:cNvSpPr txBox="1"/>
          <p:nvPr/>
        </p:nvSpPr>
        <p:spPr>
          <a:xfrm>
            <a:off x="320040" y="824636"/>
            <a:ext cx="31742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提交前：软件交出 DDR 输入与输出范围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软件提交"/>
          <p:cNvSpPr txBox="1"/>
          <p:nvPr/>
        </p:nvSpPr>
        <p:spPr>
          <a:xfrm>
            <a:off x="102679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软件提交</a:t>
            </a:r>
          </a:p>
        </p:txBody>
      </p:sp>
      <p:sp>
        <p:nvSpPr>
          <p:cNvPr id="8" name="text-008: 地址 / 长度 / 方向"/>
          <p:cNvSpPr txBox="1"/>
          <p:nvPr/>
        </p:nvSpPr>
        <p:spPr>
          <a:xfrm>
            <a:off x="795516" y="149394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方向</a:t>
            </a:r>
          </a:p>
        </p:txBody>
      </p:sp>
      <p:sp>
        <p:nvSpPr>
          <p:cNvPr id="9" name="text-009: 确认各生产者完成"/>
          <p:cNvSpPr txBox="1"/>
          <p:nvPr/>
        </p:nvSpPr>
        <p:spPr>
          <a:xfrm>
            <a:off x="81076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确认各生产者完成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L1D / 写缓冲"/>
          <p:cNvSpPr txBox="1"/>
          <p:nvPr/>
        </p:nvSpPr>
        <p:spPr>
          <a:xfrm>
            <a:off x="3371871" y="1289975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2" name="text-012: 排空相关旧写"/>
          <p:cNvSpPr txBox="1"/>
          <p:nvPr/>
        </p:nvSpPr>
        <p:spPr>
          <a:xfrm>
            <a:off x="341909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排空相关旧写</a:t>
            </a:r>
          </a:p>
        </p:txBody>
      </p:sp>
      <p:sp>
        <p:nvSpPr>
          <p:cNvPr id="13" name="text-013: FENCE 推进到 LLC"/>
          <p:cNvSpPr txBox="1"/>
          <p:nvPr/>
        </p:nvSpPr>
        <p:spPr>
          <a:xfrm>
            <a:off x="3284952" y="1680637"/>
            <a:ext cx="11643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推进到 LLC</a:t>
            </a:r>
          </a:p>
        </p:txBody>
      </p:sp>
      <p:sp>
        <p:nvSpPr>
          <p:cNvPr id="14" name="r0e1"/>
          <p:cNvSpPr/>
          <p:nvPr/>
        </p:nvSpPr>
        <p:spPr>
          <a:xfrm>
            <a:off x="245364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0b2"/>
          <p:cNvSpPr/>
          <p:nvPr/>
        </p:nvSpPr>
        <p:spPr>
          <a:xfrm>
            <a:off x="528066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LLC 全量 flush"/>
          <p:cNvSpPr txBox="1"/>
          <p:nvPr/>
        </p:nvSpPr>
        <p:spPr>
          <a:xfrm>
            <a:off x="5817794" y="1289975"/>
            <a:ext cx="105933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全量 flush</a:t>
            </a:r>
          </a:p>
        </p:txBody>
      </p:sp>
      <p:sp>
        <p:nvSpPr>
          <p:cNvPr id="17" name="text-017: 输入 / 输出旧写一起保存"/>
          <p:cNvSpPr txBox="1"/>
          <p:nvPr/>
        </p:nvSpPr>
        <p:spPr>
          <a:xfrm>
            <a:off x="5571738" y="1493947"/>
            <a:ext cx="15514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 / 输出旧写一起保存</a:t>
            </a:r>
          </a:p>
        </p:txBody>
      </p:sp>
      <p:sp>
        <p:nvSpPr>
          <p:cNvPr id="18" name="text-018: 写回并失效，等待结束"/>
          <p:cNvSpPr txBox="1"/>
          <p:nvPr/>
        </p:nvSpPr>
        <p:spPr>
          <a:xfrm>
            <a:off x="5643372" y="168063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写回并失效，等待结束</a:t>
            </a:r>
          </a:p>
        </p:txBody>
      </p:sp>
      <p:sp>
        <p:nvSpPr>
          <p:cNvPr id="19" name="r0e2"/>
          <p:cNvSpPr/>
          <p:nvPr/>
        </p:nvSpPr>
        <p:spPr>
          <a:xfrm>
            <a:off x="493395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b3"/>
          <p:cNvSpPr/>
          <p:nvPr/>
        </p:nvSpPr>
        <p:spPr>
          <a:xfrm>
            <a:off x="776097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前端 / DDR 共享点"/>
          <p:cNvSpPr txBox="1"/>
          <p:nvPr/>
        </p:nvSpPr>
        <p:spPr>
          <a:xfrm>
            <a:off x="8154011" y="1289975"/>
            <a:ext cx="134751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 / DDR 共享点</a:t>
            </a:r>
          </a:p>
        </p:txBody>
      </p:sp>
      <p:sp>
        <p:nvSpPr>
          <p:cNvPr id="22" name="text-022: 数据 / 元数据跨口可见"/>
          <p:cNvSpPr txBox="1"/>
          <p:nvPr/>
        </p:nvSpPr>
        <p:spPr>
          <a:xfrm>
            <a:off x="8116056" y="1493947"/>
            <a:ext cx="14234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 / 元数据跨口可见</a:t>
            </a:r>
          </a:p>
        </p:txBody>
      </p:sp>
      <p:sp>
        <p:nvSpPr>
          <p:cNvPr id="23" name="text-023: 软件核对响应与错误"/>
          <p:cNvSpPr txBox="1"/>
          <p:nvPr/>
        </p:nvSpPr>
        <p:spPr>
          <a:xfrm>
            <a:off x="8187690" y="168063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软件核对响应与错误</a:t>
            </a:r>
          </a:p>
        </p:txBody>
      </p:sp>
      <p:sp>
        <p:nvSpPr>
          <p:cNvPr id="24" name="r0e3"/>
          <p:cNvSpPr/>
          <p:nvPr/>
        </p:nvSpPr>
        <p:spPr>
          <a:xfrm>
            <a:off x="741426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0b4"/>
          <p:cNvSpPr/>
          <p:nvPr/>
        </p:nvSpPr>
        <p:spPr>
          <a:xfrm>
            <a:off x="1024128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允许启动"/>
          <p:cNvSpPr txBox="1"/>
          <p:nvPr/>
        </p:nvSpPr>
        <p:spPr>
          <a:xfrm>
            <a:off x="1094803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允许启动</a:t>
            </a:r>
          </a:p>
        </p:txBody>
      </p:sp>
      <p:sp>
        <p:nvSpPr>
          <p:cNvPr id="27" name="text-027: 返回维护完成"/>
          <p:cNvSpPr txBox="1"/>
          <p:nvPr/>
        </p:nvSpPr>
        <p:spPr>
          <a:xfrm>
            <a:off x="1086002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返回维护完成</a:t>
            </a:r>
          </a:p>
        </p:txBody>
      </p:sp>
      <p:sp>
        <p:nvSpPr>
          <p:cNvPr id="28" name="text-028: 软件发布 DMA 任务"/>
          <p:cNvSpPr txBox="1"/>
          <p:nvPr/>
        </p:nvSpPr>
        <p:spPr>
          <a:xfrm>
            <a:off x="10691190" y="1680637"/>
            <a:ext cx="12337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软件发布 DMA 任务</a:t>
            </a:r>
          </a:p>
        </p:txBody>
      </p:sp>
      <p:sp>
        <p:nvSpPr>
          <p:cNvPr id="29" name="r0e4"/>
          <p:cNvSpPr/>
          <p:nvPr/>
        </p:nvSpPr>
        <p:spPr>
          <a:xfrm>
            <a:off x="989457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L1D 干净副本可保留；一次全量写回保护输出未覆盖字节，此后保持范围使用约定。"/>
          <p:cNvSpPr txBox="1"/>
          <p:nvPr/>
        </p:nvSpPr>
        <p:spPr>
          <a:xfrm>
            <a:off x="346710" y="2063831"/>
            <a:ext cx="52781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干净副本可保留；一次全量写回保护输出未覆盖字节，此后保持范围使用约定。</a:t>
            </a:r>
          </a:p>
        </p:txBody>
      </p:sp>
      <p:sp>
        <p:nvSpPr>
          <p:cNvPr id="31" name="next0"/>
          <p:cNvSpPr/>
          <p:nvPr/>
        </p:nvSpPr>
        <p:spPr>
          <a:xfrm>
            <a:off x="240030" y="157353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nel1"/>
          <p:cNvSpPr/>
          <p:nvPr/>
        </p:nvSpPr>
        <p:spPr>
          <a:xfrm>
            <a:off x="186690" y="272034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② 设备持有期间：DDR 与 GB 显式搬运"/>
          <p:cNvSpPr txBox="1"/>
          <p:nvPr/>
        </p:nvSpPr>
        <p:spPr>
          <a:xfrm>
            <a:off x="320040" y="2798216"/>
            <a:ext cx="29467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设备持有期间：DDR 与 GB 显式搬运</a:t>
            </a:r>
          </a:p>
        </p:txBody>
      </p:sp>
      <p:sp>
        <p:nvSpPr>
          <p:cNvPr id="34" name="r1b0"/>
          <p:cNvSpPr/>
          <p:nvPr/>
        </p:nvSpPr>
        <p:spPr>
          <a:xfrm>
            <a:off x="32004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DDR → GB"/>
          <p:cNvSpPr txBox="1"/>
          <p:nvPr/>
        </p:nvSpPr>
        <p:spPr>
          <a:xfrm>
            <a:off x="96806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</a:t>
            </a:r>
          </a:p>
        </p:txBody>
      </p:sp>
      <p:sp>
        <p:nvSpPr>
          <p:cNvPr id="36" name="text-036: 搬运器读取输入"/>
          <p:cNvSpPr txBox="1"/>
          <p:nvPr/>
        </p:nvSpPr>
        <p:spPr>
          <a:xfrm>
            <a:off x="87477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搬运器读取输入</a:t>
            </a:r>
          </a:p>
        </p:txBody>
      </p:sp>
      <p:sp>
        <p:nvSpPr>
          <p:cNvPr id="37" name="text-037: 经共享数据代理写 GB"/>
          <p:cNvSpPr txBox="1"/>
          <p:nvPr/>
        </p:nvSpPr>
        <p:spPr>
          <a:xfrm>
            <a:off x="709755" y="3654217"/>
            <a:ext cx="135416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经共享数据代理写 GB</a:t>
            </a:r>
          </a:p>
        </p:txBody>
      </p:sp>
      <p:sp>
        <p:nvSpPr>
          <p:cNvPr id="38" name="r1b1"/>
          <p:cNvSpPr/>
          <p:nvPr/>
        </p:nvSpPr>
        <p:spPr>
          <a:xfrm>
            <a:off x="280035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B ready"/>
          <p:cNvSpPr txBox="1"/>
          <p:nvPr/>
        </p:nvSpPr>
        <p:spPr>
          <a:xfrm>
            <a:off x="3511814" y="3263555"/>
            <a:ext cx="7106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ready</a:t>
            </a:r>
          </a:p>
        </p:txBody>
      </p:sp>
      <p:sp>
        <p:nvSpPr>
          <p:cNvPr id="40" name="text-040: 数据完整后交给"/>
          <p:cNvSpPr txBox="1"/>
          <p:nvPr/>
        </p:nvSpPr>
        <p:spPr>
          <a:xfrm>
            <a:off x="335508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数据完整后交给</a:t>
            </a:r>
          </a:p>
        </p:txBody>
      </p:sp>
      <p:sp>
        <p:nvSpPr>
          <p:cNvPr id="41" name="text-041: NPU / Ara 消费"/>
          <p:cNvSpPr txBox="1"/>
          <p:nvPr/>
        </p:nvSpPr>
        <p:spPr>
          <a:xfrm>
            <a:off x="3374588" y="3654217"/>
            <a:ext cx="98512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Ara 消费</a:t>
            </a:r>
          </a:p>
        </p:txBody>
      </p:sp>
      <p:sp>
        <p:nvSpPr>
          <p:cNvPr id="42" name="r1e1"/>
          <p:cNvSpPr/>
          <p:nvPr/>
        </p:nvSpPr>
        <p:spPr>
          <a:xfrm>
            <a:off x="245364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1b2"/>
          <p:cNvSpPr/>
          <p:nvPr/>
        </p:nvSpPr>
        <p:spPr>
          <a:xfrm>
            <a:off x="528066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计算与分块复用"/>
          <p:cNvSpPr txBox="1"/>
          <p:nvPr/>
        </p:nvSpPr>
        <p:spPr>
          <a:xfrm>
            <a:off x="5771388" y="32635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计算与分块复用</a:t>
            </a:r>
          </a:p>
        </p:txBody>
      </p:sp>
      <p:sp>
        <p:nvSpPr>
          <p:cNvPr id="45" name="text-045: 独立 SRAM 保存"/>
          <p:cNvSpPr txBox="1"/>
          <p:nvPr/>
        </p:nvSpPr>
        <p:spPr>
          <a:xfrm>
            <a:off x="5821519" y="3467527"/>
            <a:ext cx="10518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保存</a:t>
            </a:r>
          </a:p>
        </p:txBody>
      </p:sp>
      <p:sp>
        <p:nvSpPr>
          <p:cNvPr id="46" name="text-046: 当前任务的数据"/>
          <p:cNvSpPr txBox="1"/>
          <p:nvPr/>
        </p:nvSpPr>
        <p:spPr>
          <a:xfrm>
            <a:off x="5835396" y="365421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当前任务的数据</a:t>
            </a:r>
          </a:p>
        </p:txBody>
      </p:sp>
      <p:sp>
        <p:nvSpPr>
          <p:cNvPr id="47" name="r1e2"/>
          <p:cNvSpPr/>
          <p:nvPr/>
        </p:nvSpPr>
        <p:spPr>
          <a:xfrm>
            <a:off x="493395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1b3"/>
          <p:cNvSpPr/>
          <p:nvPr/>
        </p:nvSpPr>
        <p:spPr>
          <a:xfrm>
            <a:off x="776097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GB → DDR"/>
          <p:cNvSpPr txBox="1"/>
          <p:nvPr/>
        </p:nvSpPr>
        <p:spPr>
          <a:xfrm>
            <a:off x="840899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50" name="text-050: 共享代理 → 搬运器"/>
          <p:cNvSpPr txBox="1"/>
          <p:nvPr/>
        </p:nvSpPr>
        <p:spPr>
          <a:xfrm>
            <a:off x="8213318" y="3467527"/>
            <a:ext cx="12289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→ 搬运器</a:t>
            </a:r>
          </a:p>
        </p:txBody>
      </p:sp>
      <p:sp>
        <p:nvSpPr>
          <p:cNvPr id="51" name="text-051: 按 WSTRB 更新输出"/>
          <p:cNvSpPr txBox="1"/>
          <p:nvPr/>
        </p:nvSpPr>
        <p:spPr>
          <a:xfrm>
            <a:off x="8202004" y="3654217"/>
            <a:ext cx="125153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更新输出</a:t>
            </a:r>
          </a:p>
        </p:txBody>
      </p:sp>
      <p:sp>
        <p:nvSpPr>
          <p:cNvPr id="52" name="r1e3"/>
          <p:cNvSpPr/>
          <p:nvPr/>
        </p:nvSpPr>
        <p:spPr>
          <a:xfrm>
            <a:off x="741426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1b4"/>
          <p:cNvSpPr/>
          <p:nvPr/>
        </p:nvSpPr>
        <p:spPr>
          <a:xfrm>
            <a:off x="1024128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设备完成"/>
          <p:cNvSpPr txBox="1"/>
          <p:nvPr/>
        </p:nvSpPr>
        <p:spPr>
          <a:xfrm>
            <a:off x="10948035" y="326355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设备完成</a:t>
            </a:r>
          </a:p>
        </p:txBody>
      </p:sp>
      <p:sp>
        <p:nvSpPr>
          <p:cNvPr id="55" name="text-055: 前端发布 / 跨口可见"/>
          <p:cNvSpPr txBox="1"/>
          <p:nvPr/>
        </p:nvSpPr>
        <p:spPr>
          <a:xfrm>
            <a:off x="10660374" y="346752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前端发布 / 跨口可见</a:t>
            </a:r>
          </a:p>
        </p:txBody>
      </p:sp>
      <p:sp>
        <p:nvSpPr>
          <p:cNvPr id="56" name="text-056: 返回任务身份与状态"/>
          <p:cNvSpPr txBox="1"/>
          <p:nvPr/>
        </p:nvSpPr>
        <p:spPr>
          <a:xfrm>
            <a:off x="10668000" y="365421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返回任务身份与状态</a:t>
            </a:r>
          </a:p>
        </p:txBody>
      </p:sp>
      <p:sp>
        <p:nvSpPr>
          <p:cNvPr id="57" name="r1e4"/>
          <p:cNvSpPr/>
          <p:nvPr/>
        </p:nvSpPr>
        <p:spPr>
          <a:xfrm>
            <a:off x="989457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CPU / Ara 的 DDR 冲突访问由任务协议限制；GB 内部交接由其独立的"/>
          <p:cNvSpPr txBox="1"/>
          <p:nvPr/>
        </p:nvSpPr>
        <p:spPr>
          <a:xfrm>
            <a:off x="346710" y="4037411"/>
            <a:ext cx="537688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的 DDR 冲突访问由任务协议限制；GB 内部交接由其独立的分块调度负责。</a:t>
            </a:r>
          </a:p>
        </p:txBody>
      </p:sp>
      <p:sp>
        <p:nvSpPr>
          <p:cNvPr id="59" name="next1"/>
          <p:cNvSpPr/>
          <p:nvPr/>
        </p:nvSpPr>
        <p:spPr>
          <a:xfrm>
            <a:off x="240030" y="354711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nel2"/>
          <p:cNvSpPr/>
          <p:nvPr/>
        </p:nvSpPr>
        <p:spPr>
          <a:xfrm>
            <a:off x="186690" y="469392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③ 消费前：硬件清除旧读副本，软件收回输出"/>
          <p:cNvSpPr txBox="1"/>
          <p:nvPr/>
        </p:nvSpPr>
        <p:spPr>
          <a:xfrm>
            <a:off x="320040" y="4771796"/>
            <a:ext cx="34083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消费前：硬件清除旧读副本，软件收回输出</a:t>
            </a:r>
          </a:p>
        </p:txBody>
      </p:sp>
      <p:sp>
        <p:nvSpPr>
          <p:cNvPr id="62" name="r2b0"/>
          <p:cNvSpPr/>
          <p:nvPr/>
        </p:nvSpPr>
        <p:spPr>
          <a:xfrm>
            <a:off x="32004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软件等待完成"/>
          <p:cNvSpPr txBox="1"/>
          <p:nvPr/>
        </p:nvSpPr>
        <p:spPr>
          <a:xfrm>
            <a:off x="882777" y="523713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软件等待完成</a:t>
            </a:r>
          </a:p>
        </p:txBody>
      </p:sp>
      <p:sp>
        <p:nvSpPr>
          <p:cNvPr id="64" name="text-064: 核对任务与错误"/>
          <p:cNvSpPr txBox="1"/>
          <p:nvPr/>
        </p:nvSpPr>
        <p:spPr>
          <a:xfrm>
            <a:off x="87477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核对任务与错误</a:t>
            </a:r>
          </a:p>
        </p:txBody>
      </p:sp>
      <p:sp>
        <p:nvSpPr>
          <p:cNvPr id="65" name="text-065: MMIO 提交输出范围"/>
          <p:cNvSpPr txBox="1"/>
          <p:nvPr/>
        </p:nvSpPr>
        <p:spPr>
          <a:xfrm>
            <a:off x="755886" y="5627797"/>
            <a:ext cx="126190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 提交输出范围</a:t>
            </a:r>
          </a:p>
        </p:txBody>
      </p:sp>
      <p:sp>
        <p:nvSpPr>
          <p:cNvPr id="66" name="r2b1"/>
          <p:cNvSpPr/>
          <p:nvPr/>
        </p:nvSpPr>
        <p:spPr>
          <a:xfrm>
            <a:off x="280035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处理旧回填"/>
          <p:cNvSpPr txBox="1"/>
          <p:nvPr/>
        </p:nvSpPr>
        <p:spPr>
          <a:xfrm>
            <a:off x="343509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</a:t>
            </a:r>
          </a:p>
        </p:txBody>
      </p:sp>
      <p:sp>
        <p:nvSpPr>
          <p:cNvPr id="68" name="text-068: 排空相关旧响应"/>
          <p:cNvSpPr txBox="1"/>
          <p:nvPr/>
        </p:nvSpPr>
        <p:spPr>
          <a:xfrm>
            <a:off x="335508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排空相关旧响应</a:t>
            </a:r>
          </a:p>
        </p:txBody>
      </p:sp>
      <p:sp>
        <p:nvSpPr>
          <p:cNvPr id="69" name="text-069: 保护失效过程"/>
          <p:cNvSpPr txBox="1"/>
          <p:nvPr/>
        </p:nvSpPr>
        <p:spPr>
          <a:xfrm>
            <a:off x="3419094" y="562779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保护失效过程</a:t>
            </a:r>
          </a:p>
        </p:txBody>
      </p:sp>
      <p:sp>
        <p:nvSpPr>
          <p:cNvPr id="70" name="r2e1"/>
          <p:cNvSpPr/>
          <p:nvPr/>
        </p:nvSpPr>
        <p:spPr>
          <a:xfrm>
            <a:off x="245364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2b2"/>
          <p:cNvSpPr/>
          <p:nvPr/>
        </p:nvSpPr>
        <p:spPr>
          <a:xfrm>
            <a:off x="528066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LLC → L1D"/>
          <p:cNvSpPr txBox="1"/>
          <p:nvPr/>
        </p:nvSpPr>
        <p:spPr>
          <a:xfrm>
            <a:off x="5917019" y="5237135"/>
            <a:ext cx="86088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→ L1D</a:t>
            </a:r>
          </a:p>
        </p:txBody>
      </p:sp>
      <p:sp>
        <p:nvSpPr>
          <p:cNvPr id="73" name="text-073: 输出 invalidate"/>
          <p:cNvSpPr txBox="1"/>
          <p:nvPr/>
        </p:nvSpPr>
        <p:spPr>
          <a:xfrm>
            <a:off x="5869213" y="5441107"/>
            <a:ext cx="956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invalidate</a:t>
            </a:r>
          </a:p>
        </p:txBody>
      </p:sp>
      <p:sp>
        <p:nvSpPr>
          <p:cNvPr id="74" name="text-074: 收齐实际完成确认"/>
          <p:cNvSpPr txBox="1"/>
          <p:nvPr/>
        </p:nvSpPr>
        <p:spPr>
          <a:xfrm>
            <a:off x="577138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收齐实际完成确认</a:t>
            </a:r>
          </a:p>
        </p:txBody>
      </p:sp>
      <p:sp>
        <p:nvSpPr>
          <p:cNvPr id="75" name="r2e2"/>
          <p:cNvSpPr/>
          <p:nvPr/>
        </p:nvSpPr>
        <p:spPr>
          <a:xfrm>
            <a:off x="493395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2b3"/>
          <p:cNvSpPr/>
          <p:nvPr/>
        </p:nvSpPr>
        <p:spPr>
          <a:xfrm>
            <a:off x="776097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交还所有权"/>
          <p:cNvSpPr txBox="1"/>
          <p:nvPr/>
        </p:nvSpPr>
        <p:spPr>
          <a:xfrm>
            <a:off x="839571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交还所有权</a:t>
            </a:r>
          </a:p>
        </p:txBody>
      </p:sp>
      <p:sp>
        <p:nvSpPr>
          <p:cNvPr id="78" name="text-078: 建立完成到读取顺序"/>
          <p:cNvSpPr txBox="1"/>
          <p:nvPr/>
        </p:nvSpPr>
        <p:spPr>
          <a:xfrm>
            <a:off x="8187690" y="544110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建立完成到读取顺序</a:t>
            </a:r>
          </a:p>
        </p:txBody>
      </p:sp>
      <p:sp>
        <p:nvSpPr>
          <p:cNvPr id="79" name="text-079: 输出可由 CPU 访问"/>
          <p:cNvSpPr txBox="1"/>
          <p:nvPr/>
        </p:nvSpPr>
        <p:spPr>
          <a:xfrm>
            <a:off x="8224945" y="5627797"/>
            <a:ext cx="12056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输出可由 CPU 访问</a:t>
            </a:r>
          </a:p>
        </p:txBody>
      </p:sp>
      <p:sp>
        <p:nvSpPr>
          <p:cNvPr id="80" name="r2e3"/>
          <p:cNvSpPr/>
          <p:nvPr/>
        </p:nvSpPr>
        <p:spPr>
          <a:xfrm>
            <a:off x="741426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2b4"/>
          <p:cNvSpPr/>
          <p:nvPr/>
        </p:nvSpPr>
        <p:spPr>
          <a:xfrm>
            <a:off x="1024128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消费 / 复用"/>
          <p:cNvSpPr txBox="1"/>
          <p:nvPr/>
        </p:nvSpPr>
        <p:spPr>
          <a:xfrm>
            <a:off x="10867442" y="5237135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消费 / 复用</a:t>
            </a:r>
          </a:p>
        </p:txBody>
      </p:sp>
      <p:sp>
        <p:nvSpPr>
          <p:cNvPr id="83" name="text-083: CPU 重新加载结果"/>
          <p:cNvSpPr txBox="1"/>
          <p:nvPr/>
        </p:nvSpPr>
        <p:spPr>
          <a:xfrm>
            <a:off x="10724445" y="544110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重新加载结果</a:t>
            </a:r>
          </a:p>
        </p:txBody>
      </p:sp>
      <p:sp>
        <p:nvSpPr>
          <p:cNvPr id="84" name="text-084: 最后消费者释放缓冲"/>
          <p:cNvSpPr txBox="1"/>
          <p:nvPr/>
        </p:nvSpPr>
        <p:spPr>
          <a:xfrm>
            <a:off x="10668000" y="562779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最后消费者释放缓冲</a:t>
            </a:r>
          </a:p>
        </p:txBody>
      </p:sp>
      <p:sp>
        <p:nvSpPr>
          <p:cNvPr id="85" name="r2e4"/>
          <p:cNvSpPr/>
          <p:nvPr/>
        </p:nvSpPr>
        <p:spPr>
          <a:xfrm>
            <a:off x="989457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超时或写错误时保留缓冲区；确认迟到事务排空或受控恢复完成后，再允许复用。"/>
          <p:cNvSpPr txBox="1"/>
          <p:nvPr/>
        </p:nvSpPr>
        <p:spPr>
          <a:xfrm>
            <a:off x="346710" y="6010991"/>
            <a:ext cx="513130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超时或写错误时保留缓冲区；确认迟到事务排空或受控恢复完成后，再允许复用。</a:t>
            </a:r>
          </a:p>
        </p:txBody>
      </p:sp>
      <p:sp>
        <p:nvSpPr>
          <p:cNvPr id="87" name="text-087: 紫：软件排序与缓存完成依赖    绿：搬运与计算    首版全量写回，写后按输出"/>
          <p:cNvSpPr txBox="1"/>
          <p:nvPr/>
        </p:nvSpPr>
        <p:spPr>
          <a:xfrm>
            <a:off x="293370" y="6565301"/>
            <a:ext cx="567410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紫：软件排序与缓存完成依赖    绿：搬运与计算    首版全量写回，写后按输出范围失效</a:t>
            </a:r>
          </a:p>
        </p:txBody>
      </p:sp>
      <p:sp>
        <p:nvSpPr>
          <p:cNvPr id="88" name="text-088: 仅整模型前后交接时，同步集中在推理两端；CPU 与设备交替处理分块时，同步放在实"/>
          <p:cNvSpPr txBox="1"/>
          <p:nvPr/>
        </p:nvSpPr>
        <p:spPr>
          <a:xfrm>
            <a:off x="293370" y="6832001"/>
            <a:ext cx="63538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仅整模型前后交接时，同步集中在推理两端；CPU 与设备交替处理分块时，同步放在实际交接点。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05541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760220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57685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FENCE 排空写缓冲 → LLC 全量 flush 并等待"/>
          <p:cNvSpPr txBox="1"/>
          <p:nvPr/>
        </p:nvSpPr>
        <p:spPr>
          <a:xfrm>
            <a:off x="4357376" y="2264283"/>
            <a:ext cx="40868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排空写缓冲 → LLC 全量 flush 并等待</a:t>
            </a:r>
          </a:p>
        </p:txBody>
      </p:sp>
      <p:sp>
        <p:nvSpPr>
          <p:cNvPr id="10" name="text-010: 同时保存输出区旧写；确认设备端口可见后启动搬运"/>
          <p:cNvSpPr txBox="1"/>
          <p:nvPr/>
        </p:nvSpPr>
        <p:spPr>
          <a:xfrm>
            <a:off x="4000500" y="2568321"/>
            <a:ext cx="48006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同时保存输出区旧写；确认设备端口可见后启动搬运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912364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960120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09829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64508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61973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结果可见；软件提交输出范围，启动缓存失效"/>
          <p:cNvSpPr txBox="1"/>
          <p:nvPr/>
        </p:nvSpPr>
        <p:spPr>
          <a:xfrm>
            <a:off x="4100512" y="4568571"/>
            <a:ext cx="46005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确认结果可见；软件提交输出范围，启动缓存失效</a:t>
            </a:r>
          </a:p>
        </p:txBody>
      </p:sp>
      <p:sp>
        <p:nvSpPr>
          <p:cNvPr id="19" name="text-019: 处理旧回填，完成 LLC／L1D 失效后交还 CPU"/>
          <p:cNvSpPr txBox="1"/>
          <p:nvPr/>
        </p:nvSpPr>
        <p:spPr>
          <a:xfrm>
            <a:off x="4290968" y="4872609"/>
            <a:ext cx="42196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处理旧回填，完成 LLC／L1D 失效后交还 CPU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216652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14117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