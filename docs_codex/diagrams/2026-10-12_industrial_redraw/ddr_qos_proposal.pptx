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9260800" cy="16459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2: DDR 多端口仲裁与 QoS"/>
          <p:cNvSpPr txBox="1"/>
          <p:nvPr/>
        </p:nvSpPr>
        <p:spPr>
          <a:xfrm>
            <a:off x="548640" y="226284"/>
            <a:ext cx="5952706" cy="8388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1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多端口仲裁与 QoS</a:t>
            </a:r>
          </a:p>
        </p:txBody>
      </p:sp>
      <p:sp>
        <p:nvSpPr>
          <p:cNvPr id="3" name="o3: 历史独立主口方案：S0 = SoC · S1 = ISP · S2 = NPU（"/>
          <p:cNvSpPr txBox="1"/>
          <p:nvPr/>
        </p:nvSpPr>
        <p:spPr>
          <a:xfrm>
            <a:off x="585216" y="1049487"/>
            <a:ext cx="10792492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历史独立主口方案：S0 = SoC · S1 = ISP · S2 = NPU（与后续 GB 三口方案区分）</a:t>
            </a:r>
          </a:p>
        </p:txBody>
      </p:sp>
      <p:sp>
        <p:nvSpPr>
          <p:cNvPr id="4" name="soc"/>
          <p:cNvSpPr/>
          <p:nvPr/>
        </p:nvSpPr>
        <p:spPr>
          <a:xfrm>
            <a:off x="731520" y="2316480"/>
            <a:ext cx="11704320" cy="4754880"/>
          </a:xfrm>
          <a:prstGeom prst="rect">
            <a:avLst/>
          </a:prstGeom>
          <a:solidFill>
            <a:srgbClr val="F1D7D9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5: SoC 主存路径"/>
          <p:cNvSpPr txBox="1"/>
          <p:nvPr/>
        </p:nvSpPr>
        <p:spPr>
          <a:xfrm>
            <a:off x="5289404" y="2445715"/>
            <a:ext cx="2588552" cy="5852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主存路径</a:t>
            </a:r>
          </a:p>
        </p:txBody>
      </p:sp>
      <p:sp>
        <p:nvSpPr>
          <p:cNvPr id="6" name="cpu-ara"/>
          <p:cNvSpPr/>
          <p:nvPr/>
        </p:nvSpPr>
        <p:spPr>
          <a:xfrm>
            <a:off x="1219200" y="3474720"/>
            <a:ext cx="2682240" cy="1706880"/>
          </a:xfrm>
          <a:prstGeom prst="rect">
            <a:avLst/>
          </a:prstGeom>
          <a:solidFill>
            <a:srgbClr val="D8E8F4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7: CVA6 + Ara"/>
          <p:cNvSpPr txBox="1"/>
          <p:nvPr/>
        </p:nvSpPr>
        <p:spPr>
          <a:xfrm>
            <a:off x="1543831" y="3868278"/>
            <a:ext cx="2032978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+ Ara</a:t>
            </a:r>
          </a:p>
        </p:txBody>
      </p:sp>
      <p:sp>
        <p:nvSpPr>
          <p:cNvPr id="8" name="o8: 现有发起端"/>
          <p:cNvSpPr txBox="1"/>
          <p:nvPr/>
        </p:nvSpPr>
        <p:spPr>
          <a:xfrm>
            <a:off x="1682496" y="4335475"/>
            <a:ext cx="1755648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现有发起端</a:t>
            </a:r>
          </a:p>
        </p:txBody>
      </p:sp>
      <p:sp>
        <p:nvSpPr>
          <p:cNvPr id="9" name="xbar"/>
          <p:cNvSpPr/>
          <p:nvPr/>
        </p:nvSpPr>
        <p:spPr>
          <a:xfrm>
            <a:off x="4632960" y="3474720"/>
            <a:ext cx="2682240" cy="1706880"/>
          </a:xfrm>
          <a:prstGeom prst="rect">
            <a:avLst/>
          </a:prstGeom>
          <a:solidFill>
            <a:srgbClr val="D8E8F4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10: Crossbar"/>
          <p:cNvSpPr txBox="1"/>
          <p:nvPr/>
        </p:nvSpPr>
        <p:spPr>
          <a:xfrm>
            <a:off x="5135299" y="3868278"/>
            <a:ext cx="1677562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Crossbar</a:t>
            </a:r>
          </a:p>
        </p:txBody>
      </p:sp>
      <p:sp>
        <p:nvSpPr>
          <p:cNvPr id="11" name="o11: 地址路由"/>
          <p:cNvSpPr txBox="1"/>
          <p:nvPr/>
        </p:nvSpPr>
        <p:spPr>
          <a:xfrm>
            <a:off x="5242560" y="4335475"/>
            <a:ext cx="146304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地址路由</a:t>
            </a:r>
          </a:p>
        </p:txBody>
      </p:sp>
      <p:sp>
        <p:nvSpPr>
          <p:cNvPr id="12" name="llc"/>
          <p:cNvSpPr/>
          <p:nvPr/>
        </p:nvSpPr>
        <p:spPr>
          <a:xfrm>
            <a:off x="8046720" y="3048000"/>
            <a:ext cx="3901440" cy="2560320"/>
          </a:xfrm>
          <a:prstGeom prst="rect">
            <a:avLst/>
          </a:prstGeom>
          <a:solidFill>
            <a:srgbClr val="D8E8F4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13: 原子适配 + LLC"/>
          <p:cNvSpPr txBox="1"/>
          <p:nvPr/>
        </p:nvSpPr>
        <p:spPr>
          <a:xfrm>
            <a:off x="8662930" y="3661014"/>
            <a:ext cx="2669019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+ LLC</a:t>
            </a:r>
          </a:p>
        </p:txBody>
      </p:sp>
      <p:sp>
        <p:nvSpPr>
          <p:cNvPr id="14" name="o14: LLC 外存出口"/>
          <p:cNvSpPr txBox="1"/>
          <p:nvPr/>
        </p:nvSpPr>
        <p:spPr>
          <a:xfrm>
            <a:off x="8985171" y="4128211"/>
            <a:ext cx="2024539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LLC 外存出口</a:t>
            </a:r>
          </a:p>
        </p:txBody>
      </p:sp>
      <p:sp>
        <p:nvSpPr>
          <p:cNvPr id="15" name="o15: SPM 访问可留在片内"/>
          <p:cNvSpPr txBox="1"/>
          <p:nvPr/>
        </p:nvSpPr>
        <p:spPr>
          <a:xfrm>
            <a:off x="8490823" y="4542739"/>
            <a:ext cx="3013234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访问可留在片内</a:t>
            </a:r>
          </a:p>
        </p:txBody>
      </p:sp>
      <p:cxnSp>
        <p:nvCxnSpPr>
          <p:cNvPr id="16" name="soc-xbar"/>
          <p:cNvCxnSpPr/>
          <p:nvPr/>
        </p:nvCxnSpPr>
        <p:spPr>
          <a:xfrm>
            <a:off x="3901440" y="4328160"/>
            <a:ext cx="731520" cy="0"/>
          </a:xfrm>
          <a:prstGeom prst="line">
            <a:avLst/>
          </a:prstGeom>
          <a:ln w="3657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7" name="xbar-llc"/>
          <p:cNvCxnSpPr/>
          <p:nvPr/>
        </p:nvCxnSpPr>
        <p:spPr>
          <a:xfrm>
            <a:off x="7315200" y="4328160"/>
            <a:ext cx="731520" cy="0"/>
          </a:xfrm>
          <a:prstGeom prst="line">
            <a:avLst/>
          </a:prstGeom>
          <a:ln w="36576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8" name="isp-domain"/>
          <p:cNvSpPr/>
          <p:nvPr/>
        </p:nvSpPr>
        <p:spPr>
          <a:xfrm>
            <a:off x="13045440" y="2316480"/>
            <a:ext cx="6827520" cy="4754880"/>
          </a:xfrm>
          <a:prstGeom prst="rect">
            <a:avLst/>
          </a:prstGeom>
          <a:solidFill>
            <a:srgbClr val="F5E1C9"/>
          </a:solidFill>
          <a:ln w="24384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19: ISP 数据主口"/>
          <p:cNvSpPr txBox="1"/>
          <p:nvPr/>
        </p:nvSpPr>
        <p:spPr>
          <a:xfrm>
            <a:off x="15226894" y="2445715"/>
            <a:ext cx="2464613" cy="5852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数据主口</a:t>
            </a:r>
          </a:p>
        </p:txBody>
      </p:sp>
      <p:sp>
        <p:nvSpPr>
          <p:cNvPr id="20" name="isp"/>
          <p:cNvSpPr/>
          <p:nvPr/>
        </p:nvSpPr>
        <p:spPr>
          <a:xfrm>
            <a:off x="13411200" y="3413760"/>
            <a:ext cx="6096000" cy="219456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21: ISP AXI Master"/>
          <p:cNvSpPr txBox="1"/>
          <p:nvPr/>
        </p:nvSpPr>
        <p:spPr>
          <a:xfrm>
            <a:off x="15187174" y="3843894"/>
            <a:ext cx="2544051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AXI Master</a:t>
            </a:r>
          </a:p>
        </p:txBody>
      </p:sp>
      <p:sp>
        <p:nvSpPr>
          <p:cNvPr id="22" name="o22: 写帧缓冲"/>
          <p:cNvSpPr txBox="1"/>
          <p:nvPr/>
        </p:nvSpPr>
        <p:spPr>
          <a:xfrm>
            <a:off x="15727680" y="4311091"/>
            <a:ext cx="146304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写帧缓冲</a:t>
            </a:r>
          </a:p>
        </p:txBody>
      </p:sp>
      <p:sp>
        <p:nvSpPr>
          <p:cNvPr id="23" name="o23: 绕过主 Crossbar / LLC"/>
          <p:cNvSpPr txBox="1"/>
          <p:nvPr/>
        </p:nvSpPr>
        <p:spPr>
          <a:xfrm>
            <a:off x="14856857" y="4725619"/>
            <a:ext cx="320468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绕过主 Crossbar / LLC</a:t>
            </a:r>
          </a:p>
        </p:txBody>
      </p:sp>
      <p:sp>
        <p:nvSpPr>
          <p:cNvPr id="24" name="npu-domain"/>
          <p:cNvSpPr/>
          <p:nvPr/>
        </p:nvSpPr>
        <p:spPr>
          <a:xfrm>
            <a:off x="20482560" y="2316480"/>
            <a:ext cx="8046720" cy="4754880"/>
          </a:xfrm>
          <a:prstGeom prst="rect">
            <a:avLst/>
          </a:prstGeom>
          <a:solidFill>
            <a:srgbClr val="D9EEE8"/>
          </a:solidFill>
          <a:ln w="24384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25: NPU 数据主口"/>
          <p:cNvSpPr txBox="1"/>
          <p:nvPr/>
        </p:nvSpPr>
        <p:spPr>
          <a:xfrm>
            <a:off x="23196833" y="2445715"/>
            <a:ext cx="2618175" cy="5852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数据主口</a:t>
            </a:r>
          </a:p>
        </p:txBody>
      </p:sp>
      <p:sp>
        <p:nvSpPr>
          <p:cNvPr id="26" name="npu"/>
          <p:cNvSpPr/>
          <p:nvPr/>
        </p:nvSpPr>
        <p:spPr>
          <a:xfrm>
            <a:off x="21092160" y="3413760"/>
            <a:ext cx="6827520" cy="219456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27: NPU AXI Master"/>
          <p:cNvSpPr txBox="1"/>
          <p:nvPr/>
        </p:nvSpPr>
        <p:spPr>
          <a:xfrm>
            <a:off x="23162209" y="3843894"/>
            <a:ext cx="2687422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AXI Master</a:t>
            </a:r>
          </a:p>
        </p:txBody>
      </p:sp>
      <p:sp>
        <p:nvSpPr>
          <p:cNvPr id="28" name="o28: 读写权重 / 特征图"/>
          <p:cNvSpPr txBox="1"/>
          <p:nvPr/>
        </p:nvSpPr>
        <p:spPr>
          <a:xfrm>
            <a:off x="23171753" y="4311091"/>
            <a:ext cx="2668334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读写权重 / 特征图</a:t>
            </a:r>
          </a:p>
        </p:txBody>
      </p:sp>
      <p:sp>
        <p:nvSpPr>
          <p:cNvPr id="29" name="o29: 绕过 LLC"/>
          <p:cNvSpPr txBox="1"/>
          <p:nvPr/>
        </p:nvSpPr>
        <p:spPr>
          <a:xfrm>
            <a:off x="23786259" y="4725619"/>
            <a:ext cx="1439323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绕过 LLC</a:t>
            </a:r>
          </a:p>
        </p:txBody>
      </p:sp>
      <p:sp>
        <p:nvSpPr>
          <p:cNvPr id="30" name="controller"/>
          <p:cNvSpPr/>
          <p:nvPr/>
        </p:nvSpPr>
        <p:spPr>
          <a:xfrm>
            <a:off x="731520" y="9022080"/>
            <a:ext cx="23164800" cy="5608320"/>
          </a:xfrm>
          <a:prstGeom prst="rect">
            <a:avLst/>
          </a:prstGeom>
          <a:solidFill>
            <a:srgbClr val="D8E8F4"/>
          </a:solidFill>
          <a:ln w="24384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31: DDR Controller 内部"/>
          <p:cNvSpPr txBox="1"/>
          <p:nvPr/>
        </p:nvSpPr>
        <p:spPr>
          <a:xfrm>
            <a:off x="10531021" y="9151315"/>
            <a:ext cx="3565798" cy="5852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内部</a:t>
            </a:r>
          </a:p>
        </p:txBody>
      </p:sp>
      <p:sp>
        <p:nvSpPr>
          <p:cNvPr id="32" name="port0"/>
          <p:cNvSpPr/>
          <p:nvPr/>
        </p:nvSpPr>
        <p:spPr>
          <a:xfrm>
            <a:off x="2682240" y="9875520"/>
            <a:ext cx="2072640" cy="115824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33: S0"/>
          <p:cNvSpPr txBox="1"/>
          <p:nvPr/>
        </p:nvSpPr>
        <p:spPr>
          <a:xfrm>
            <a:off x="3353372" y="10003780"/>
            <a:ext cx="730377" cy="5266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" name="o34: SoC 外存"/>
          <p:cNvSpPr txBox="1"/>
          <p:nvPr/>
        </p:nvSpPr>
        <p:spPr>
          <a:xfrm>
            <a:off x="3037646" y="10484145"/>
            <a:ext cx="1361827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外存</a:t>
            </a:r>
          </a:p>
        </p:txBody>
      </p:sp>
      <p:cxnSp>
        <p:nvCxnSpPr>
          <p:cNvPr id="35" name="portjoin0"/>
          <p:cNvCxnSpPr/>
          <p:nvPr/>
        </p:nvCxnSpPr>
        <p:spPr>
          <a:xfrm>
            <a:off x="3718560" y="11033760"/>
            <a:ext cx="0" cy="609600"/>
          </a:xfrm>
          <a:prstGeom prst="line">
            <a:avLst/>
          </a:prstGeom>
          <a:ln w="36576" cap="flat">
            <a:solidFill>
              <a:srgbClr val="314D66"/>
            </a:solidFill>
          </a:ln>
          <a:effectLst/>
        </p:spPr>
      </p:cxnSp>
      <p:sp>
        <p:nvSpPr>
          <p:cNvPr id="36" name="port1"/>
          <p:cNvSpPr/>
          <p:nvPr/>
        </p:nvSpPr>
        <p:spPr>
          <a:xfrm>
            <a:off x="14020800" y="9875520"/>
            <a:ext cx="2072640" cy="115824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37: S1"/>
          <p:cNvSpPr txBox="1"/>
          <p:nvPr/>
        </p:nvSpPr>
        <p:spPr>
          <a:xfrm>
            <a:off x="14691932" y="10003780"/>
            <a:ext cx="730377" cy="5266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8" name="o38: ISP 写入"/>
          <p:cNvSpPr txBox="1"/>
          <p:nvPr/>
        </p:nvSpPr>
        <p:spPr>
          <a:xfrm>
            <a:off x="14421650" y="10484145"/>
            <a:ext cx="1270940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ISP 写入</a:t>
            </a:r>
          </a:p>
        </p:txBody>
      </p:sp>
      <p:cxnSp>
        <p:nvCxnSpPr>
          <p:cNvPr id="39" name="portjoin1"/>
          <p:cNvCxnSpPr/>
          <p:nvPr/>
        </p:nvCxnSpPr>
        <p:spPr>
          <a:xfrm>
            <a:off x="15057120" y="11033760"/>
            <a:ext cx="0" cy="609600"/>
          </a:xfrm>
          <a:prstGeom prst="line">
            <a:avLst/>
          </a:prstGeom>
          <a:ln w="36576" cap="flat">
            <a:solidFill>
              <a:srgbClr val="314D66"/>
            </a:solidFill>
          </a:ln>
          <a:effectLst/>
        </p:spPr>
      </p:cxnSp>
      <p:sp>
        <p:nvSpPr>
          <p:cNvPr id="40" name="port2"/>
          <p:cNvSpPr/>
          <p:nvPr/>
        </p:nvSpPr>
        <p:spPr>
          <a:xfrm>
            <a:off x="21336000" y="9875520"/>
            <a:ext cx="2072640" cy="115824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41: S2"/>
          <p:cNvSpPr txBox="1"/>
          <p:nvPr/>
        </p:nvSpPr>
        <p:spPr>
          <a:xfrm>
            <a:off x="22007132" y="10003780"/>
            <a:ext cx="730377" cy="5266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42" name="o42: NPU 读 / 写"/>
          <p:cNvSpPr txBox="1"/>
          <p:nvPr/>
        </p:nvSpPr>
        <p:spPr>
          <a:xfrm>
            <a:off x="21530462" y="10484145"/>
            <a:ext cx="1683715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NPU 读 / 写</a:t>
            </a:r>
          </a:p>
        </p:txBody>
      </p:sp>
      <p:cxnSp>
        <p:nvCxnSpPr>
          <p:cNvPr id="43" name="portjoin2"/>
          <p:cNvCxnSpPr/>
          <p:nvPr/>
        </p:nvCxnSpPr>
        <p:spPr>
          <a:xfrm>
            <a:off x="22372320" y="11033760"/>
            <a:ext cx="0" cy="609600"/>
          </a:xfrm>
          <a:prstGeom prst="line">
            <a:avLst/>
          </a:prstGeom>
          <a:ln w="36576" cap="flat">
            <a:solidFill>
              <a:srgbClr val="314D66"/>
            </a:solidFill>
          </a:ln>
          <a:effectLst/>
        </p:spPr>
      </p:cxnSp>
      <p:sp>
        <p:nvSpPr>
          <p:cNvPr id="44" name="llc-port"/>
          <p:cNvSpPr/>
          <p:nvPr/>
        </p:nvSpPr>
        <p:spPr>
          <a:xfrm>
            <a:off x="3718560" y="5608320"/>
            <a:ext cx="6278880" cy="4267200"/>
          </a:xfrm>
          <a:custGeom>
            <a:avLst/>
            <a:gdLst/>
            <a:ahLst/>
            <a:cxnLst/>
            <a:rect l="0" t="0" r="r" b="b"/>
            <a:pathLst>
              <a:path w="6278880" h="4267200" fill="none">
                <a:moveTo>
                  <a:pt x="6278880" y="0"/>
                </a:moveTo>
                <a:lnTo>
                  <a:pt x="6278880" y="2194560"/>
                </a:lnTo>
                <a:lnTo>
                  <a:pt x="0" y="2194560"/>
                </a:lnTo>
                <a:lnTo>
                  <a:pt x="0" y="4267200"/>
                </a:lnTo>
              </a:path>
            </a:pathLst>
          </a:custGeom>
          <a:noFill/>
          <a:ln w="3657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isp-port"/>
          <p:cNvSpPr/>
          <p:nvPr/>
        </p:nvSpPr>
        <p:spPr>
          <a:xfrm>
            <a:off x="15057120" y="5608320"/>
            <a:ext cx="1402080" cy="4267200"/>
          </a:xfrm>
          <a:custGeom>
            <a:avLst/>
            <a:gdLst/>
            <a:ahLst/>
            <a:cxnLst/>
            <a:rect l="0" t="0" r="r" b="b"/>
            <a:pathLst>
              <a:path w="1402080" h="4267200" fill="none">
                <a:moveTo>
                  <a:pt x="1402080" y="0"/>
                </a:moveTo>
                <a:lnTo>
                  <a:pt x="1402080" y="2621280"/>
                </a:lnTo>
                <a:lnTo>
                  <a:pt x="0" y="2621280"/>
                </a:lnTo>
                <a:lnTo>
                  <a:pt x="0" y="4267200"/>
                </a:lnTo>
              </a:path>
            </a:pathLst>
          </a:custGeom>
          <a:noFill/>
          <a:ln w="3657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npu-port"/>
          <p:cNvSpPr/>
          <p:nvPr/>
        </p:nvSpPr>
        <p:spPr>
          <a:xfrm>
            <a:off x="22372320" y="5608320"/>
            <a:ext cx="2133600" cy="4267200"/>
          </a:xfrm>
          <a:custGeom>
            <a:avLst/>
            <a:gdLst/>
            <a:ahLst/>
            <a:cxnLst/>
            <a:rect l="0" t="0" r="r" b="b"/>
            <a:pathLst>
              <a:path w="2133600" h="4267200" fill="none">
                <a:moveTo>
                  <a:pt x="2133600" y="0"/>
                </a:moveTo>
                <a:lnTo>
                  <a:pt x="2133600" y="2194560"/>
                </a:lnTo>
                <a:lnTo>
                  <a:pt x="0" y="2194560"/>
                </a:lnTo>
                <a:lnTo>
                  <a:pt x="0" y="4267200"/>
                </a:lnTo>
              </a:path>
            </a:pathLst>
          </a:custGeom>
          <a:noFill/>
          <a:ln w="3657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7" name="merge"/>
          <p:cNvCxnSpPr/>
          <p:nvPr/>
        </p:nvCxnSpPr>
        <p:spPr>
          <a:xfrm>
            <a:off x="3718560" y="11643360"/>
            <a:ext cx="18653760" cy="0"/>
          </a:xfrm>
          <a:prstGeom prst="line">
            <a:avLst/>
          </a:prstGeom>
          <a:ln w="36576" cap="flat">
            <a:solidFill>
              <a:srgbClr val="314D66"/>
            </a:solidFill>
          </a:ln>
          <a:effectLst/>
        </p:spPr>
      </p:cxnSp>
      <p:sp>
        <p:nvSpPr>
          <p:cNvPr id="48" name="arbiter"/>
          <p:cNvSpPr/>
          <p:nvPr/>
        </p:nvSpPr>
        <p:spPr>
          <a:xfrm>
            <a:off x="1950720" y="12435840"/>
            <a:ext cx="6096000" cy="170688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49: 端口仲裁 / QoS"/>
          <p:cNvSpPr txBox="1"/>
          <p:nvPr/>
        </p:nvSpPr>
        <p:spPr>
          <a:xfrm>
            <a:off x="3644036" y="12622134"/>
            <a:ext cx="2709367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50" name="o50: 可配置优先级 · 轮询"/>
          <p:cNvSpPr txBox="1"/>
          <p:nvPr/>
        </p:nvSpPr>
        <p:spPr>
          <a:xfrm>
            <a:off x="3559254" y="13089331"/>
            <a:ext cx="2878931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可配置优先级 · 轮询</a:t>
            </a:r>
          </a:p>
        </p:txBody>
      </p:sp>
      <p:sp>
        <p:nvSpPr>
          <p:cNvPr id="51" name="o51: 页命中限制"/>
          <p:cNvSpPr txBox="1"/>
          <p:nvPr/>
        </p:nvSpPr>
        <p:spPr>
          <a:xfrm>
            <a:off x="4120896" y="13503859"/>
            <a:ext cx="1755648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页命中限制</a:t>
            </a:r>
          </a:p>
        </p:txBody>
      </p:sp>
      <p:sp>
        <p:nvSpPr>
          <p:cNvPr id="52" name="core"/>
          <p:cNvSpPr/>
          <p:nvPr/>
        </p:nvSpPr>
        <p:spPr>
          <a:xfrm>
            <a:off x="10972800" y="12435840"/>
            <a:ext cx="11338560" cy="170688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o53: Controller Core"/>
          <p:cNvSpPr txBox="1"/>
          <p:nvPr/>
        </p:nvSpPr>
        <p:spPr>
          <a:xfrm>
            <a:off x="15357053" y="12622134"/>
            <a:ext cx="2570055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 Core</a:t>
            </a:r>
          </a:p>
        </p:txBody>
      </p:sp>
      <p:sp>
        <p:nvSpPr>
          <p:cNvPr id="54" name="o54: 内部命令队列 · FR-FCFS"/>
          <p:cNvSpPr txBox="1"/>
          <p:nvPr/>
        </p:nvSpPr>
        <p:spPr>
          <a:xfrm>
            <a:off x="14969157" y="13089331"/>
            <a:ext cx="3345847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内部命令队列 · FR-FCFS</a:t>
            </a:r>
          </a:p>
        </p:txBody>
      </p:sp>
      <p:sp>
        <p:nvSpPr>
          <p:cNvPr id="55" name="o55: 遵守 DRAM 时序"/>
          <p:cNvSpPr txBox="1"/>
          <p:nvPr/>
        </p:nvSpPr>
        <p:spPr>
          <a:xfrm>
            <a:off x="15434072" y="13503859"/>
            <a:ext cx="241601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遵守 DRAM 时序</a:t>
            </a:r>
          </a:p>
        </p:txBody>
      </p:sp>
      <p:cxnSp>
        <p:nvCxnSpPr>
          <p:cNvPr id="56" name="arbiter-in"/>
          <p:cNvCxnSpPr/>
          <p:nvPr/>
        </p:nvCxnSpPr>
        <p:spPr>
          <a:xfrm>
            <a:off x="4998720" y="11643360"/>
            <a:ext cx="0" cy="792480"/>
          </a:xfrm>
          <a:prstGeom prst="line">
            <a:avLst/>
          </a:prstGeom>
          <a:ln w="3657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57" name="arbiter-core"/>
          <p:cNvCxnSpPr/>
          <p:nvPr/>
        </p:nvCxnSpPr>
        <p:spPr>
          <a:xfrm>
            <a:off x="8046720" y="13289280"/>
            <a:ext cx="2926080" cy="0"/>
          </a:xfrm>
          <a:prstGeom prst="line">
            <a:avLst/>
          </a:prstGeom>
          <a:ln w="36576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58" name="phy"/>
          <p:cNvSpPr/>
          <p:nvPr/>
        </p:nvSpPr>
        <p:spPr>
          <a:xfrm>
            <a:off x="24505920" y="12374880"/>
            <a:ext cx="4023360" cy="1828800"/>
          </a:xfrm>
          <a:prstGeom prst="rect">
            <a:avLst/>
          </a:prstGeom>
          <a:solidFill>
            <a:srgbClr val="E8DFED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o59: PHY + SDRAM"/>
          <p:cNvSpPr txBox="1"/>
          <p:nvPr/>
        </p:nvSpPr>
        <p:spPr>
          <a:xfrm>
            <a:off x="25279407" y="12829398"/>
            <a:ext cx="2476386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 + SDRAM</a:t>
            </a:r>
          </a:p>
        </p:txBody>
      </p:sp>
      <p:sp>
        <p:nvSpPr>
          <p:cNvPr id="60" name="o60: 共享外存带宽"/>
          <p:cNvSpPr txBox="1"/>
          <p:nvPr/>
        </p:nvSpPr>
        <p:spPr>
          <a:xfrm>
            <a:off x="25493472" y="13296595"/>
            <a:ext cx="204825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共享外存带宽</a:t>
            </a:r>
          </a:p>
        </p:txBody>
      </p:sp>
      <p:cxnSp>
        <p:nvCxnSpPr>
          <p:cNvPr id="61" name="core-phy"/>
          <p:cNvCxnSpPr/>
          <p:nvPr/>
        </p:nvCxnSpPr>
        <p:spPr>
          <a:xfrm>
            <a:off x="22311360" y="13289280"/>
            <a:ext cx="2194560" cy="0"/>
          </a:xfrm>
          <a:prstGeom prst="line">
            <a:avLst/>
          </a:prstGeom>
          <a:ln w="3657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62" name="legend0"/>
          <p:cNvCxnSpPr/>
          <p:nvPr/>
        </p:nvCxnSpPr>
        <p:spPr>
          <a:xfrm>
            <a:off x="670560" y="15910560"/>
            <a:ext cx="792480" cy="0"/>
          </a:xfrm>
          <a:prstGeom prst="line">
            <a:avLst/>
          </a:prstGeom>
          <a:ln w="3048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63" name="o63: AXI 请求 / 数据"/>
          <p:cNvSpPr txBox="1"/>
          <p:nvPr/>
        </p:nvSpPr>
        <p:spPr>
          <a:xfrm>
            <a:off x="1645920" y="15718414"/>
            <a:ext cx="2086070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数据</a:t>
            </a:r>
          </a:p>
        </p:txBody>
      </p:sp>
      <p:sp>
        <p:nvSpPr>
          <p:cNvPr id="64" name="dash-legend"/>
          <p:cNvSpPr/>
          <p:nvPr/>
        </p:nvSpPr>
        <p:spPr>
          <a:xfrm>
            <a:off x="7132320" y="15727680"/>
            <a:ext cx="792480" cy="329184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93939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o65: 虚线分区：尚未集成"/>
          <p:cNvSpPr txBox="1"/>
          <p:nvPr/>
        </p:nvSpPr>
        <p:spPr>
          <a:xfrm>
            <a:off x="8229600" y="15718414"/>
            <a:ext cx="2682240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虚线分区：尚未集成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