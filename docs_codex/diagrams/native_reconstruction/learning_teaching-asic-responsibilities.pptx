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227584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640080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052576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11: ASIC 交付边界：数字逻辑消费什么，工艺平台提供什么"/>
          <p:cNvSpPr txBox="1"/>
          <p:nvPr/>
        </p:nvSpPr>
        <p:spPr>
          <a:xfrm>
            <a:off x="483616" y="271109"/>
            <a:ext cx="67208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ASIC 交付边界：数字逻辑消费什么，工艺平台提供什么</a:t>
            </a:r>
          </a:p>
        </p:txBody>
      </p:sp>
      <p:sp>
        <p:nvSpPr>
          <p:cNvPr id="9" name="text-012: 当前 RTL 的功能边界与未来 SRAM / PLL / PAD / DDR 实"/>
          <p:cNvSpPr txBox="1"/>
          <p:nvPr/>
        </p:nvSpPr>
        <p:spPr>
          <a:xfrm>
            <a:off x="483616" y="676778"/>
            <a:ext cx="76635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RTL 的功能边界与未来 SRAM / PLL / PAD / DDR 实现分层；不预设供应商或最终工艺。</a:t>
            </a:r>
          </a:p>
        </p:txBody>
      </p:sp>
      <p:sp>
        <p:nvSpPr>
          <p:cNvPr id="10" name="text-013: 未来方案 / 待实现与验证"/>
          <p:cNvSpPr txBox="1"/>
          <p:nvPr/>
        </p:nvSpPr>
        <p:spPr>
          <a:xfrm>
            <a:off x="341376" y="74983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1" name="text-014: 依据：Cheshire 集成接口；tech_cells_generic；平台启动"/>
          <p:cNvSpPr txBox="1"/>
          <p:nvPr/>
        </p:nvSpPr>
        <p:spPr>
          <a:xfrm>
            <a:off x="341376" y="7726477"/>
            <a:ext cx="519887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集成接口；tech_cells_generic；平台启动与配置约定</a:t>
            </a:r>
          </a:p>
        </p:txBody>
      </p:sp>
      <p:sp>
        <p:nvSpPr>
          <p:cNvPr id="12" name="rect-015"/>
          <p:cNvSpPr/>
          <p:nvPr/>
        </p:nvSpPr>
        <p:spPr>
          <a:xfrm>
            <a:off x="391160" y="1529080"/>
            <a:ext cx="1201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6"/>
          <p:cNvSpPr/>
          <p:nvPr/>
        </p:nvSpPr>
        <p:spPr>
          <a:xfrm>
            <a:off x="391160" y="152908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7: 当前数字系统：CVA6 / Ara / AXI / Reg / LLC / 外设"/>
          <p:cNvSpPr txBox="1"/>
          <p:nvPr/>
        </p:nvSpPr>
        <p:spPr>
          <a:xfrm>
            <a:off x="512064" y="1556959"/>
            <a:ext cx="55750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当前数字系统：CVA6 / Ara / AXI / Reg / LLC / 外设</a:t>
            </a:r>
          </a:p>
        </p:txBody>
      </p:sp>
      <p:sp>
        <p:nvSpPr>
          <p:cNvPr id="15" name="text-018: 固定 Cfg、接口类型、软件地址与启动契约；RTL 存在不代表工艺实现可直接签核"/>
          <p:cNvSpPr txBox="1"/>
          <p:nvPr/>
        </p:nvSpPr>
        <p:spPr>
          <a:xfrm>
            <a:off x="512064" y="1828353"/>
            <a:ext cx="6520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 Cfg、接口类型、软件地址与启动契约；RTL 存在不代表工艺实现可直接签核</a:t>
            </a:r>
          </a:p>
        </p:txBody>
      </p:sp>
      <p:sp>
        <p:nvSpPr>
          <p:cNvPr id="16" name="rect-019"/>
          <p:cNvSpPr/>
          <p:nvPr/>
        </p:nvSpPr>
        <p:spPr>
          <a:xfrm>
            <a:off x="39116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0"/>
          <p:cNvSpPr/>
          <p:nvPr/>
        </p:nvSpPr>
        <p:spPr>
          <a:xfrm>
            <a:off x="391160" y="3378200"/>
            <a:ext cx="35560" cy="2026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1: 存储抽象 → 宏适配"/>
          <p:cNvSpPr txBox="1"/>
          <p:nvPr/>
        </p:nvSpPr>
        <p:spPr>
          <a:xfrm>
            <a:off x="512064" y="3406079"/>
            <a:ext cx="190459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存储抽象 → 宏适配</a:t>
            </a:r>
          </a:p>
        </p:txBody>
      </p:sp>
      <p:sp>
        <p:nvSpPr>
          <p:cNvPr id="19" name="text-022: SRAM / ROM 端口、深度、位宽"/>
          <p:cNvSpPr txBox="1"/>
          <p:nvPr/>
        </p:nvSpPr>
        <p:spPr>
          <a:xfrm>
            <a:off x="512064" y="3677473"/>
            <a:ext cx="275661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/ ROM 端口、深度、位宽</a:t>
            </a:r>
          </a:p>
        </p:txBody>
      </p:sp>
      <p:sp>
        <p:nvSpPr>
          <p:cNvPr id="20" name="text-023: 读延迟、字节写、碰撞语义"/>
          <p:cNvSpPr txBox="1"/>
          <p:nvPr/>
        </p:nvSpPr>
        <p:spPr>
          <a:xfrm>
            <a:off x="512064" y="38908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读延迟、字节写、碰撞语义</a:t>
            </a:r>
          </a:p>
        </p:txBody>
      </p:sp>
      <p:sp>
        <p:nvSpPr>
          <p:cNvPr id="21" name="text-024: DFT / MBIST / 修复脚"/>
          <p:cNvSpPr txBox="1"/>
          <p:nvPr/>
        </p:nvSpPr>
        <p:spPr>
          <a:xfrm>
            <a:off x="512064" y="4104193"/>
            <a:ext cx="22360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DFT / MBIST / 修复脚</a:t>
            </a:r>
          </a:p>
        </p:txBody>
      </p:sp>
      <p:sp>
        <p:nvSpPr>
          <p:cNvPr id="22" name="text-025: 多一拍延迟须与消费者匹配"/>
          <p:cNvSpPr txBox="1"/>
          <p:nvPr/>
        </p:nvSpPr>
        <p:spPr>
          <a:xfrm>
            <a:off x="512064" y="43175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多一拍延迟须与消费者匹配</a:t>
            </a:r>
          </a:p>
        </p:txBody>
      </p:sp>
      <p:sp>
        <p:nvSpPr>
          <p:cNvPr id="23" name="rect-026"/>
          <p:cNvSpPr/>
          <p:nvPr/>
        </p:nvSpPr>
        <p:spPr>
          <a:xfrm>
            <a:off x="451612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7"/>
          <p:cNvSpPr/>
          <p:nvPr/>
        </p:nvSpPr>
        <p:spPr>
          <a:xfrm>
            <a:off x="4516120" y="3378200"/>
            <a:ext cx="35560" cy="2026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8: 时钟 / 复位 / 电源"/>
          <p:cNvSpPr txBox="1"/>
          <p:nvPr/>
        </p:nvSpPr>
        <p:spPr>
          <a:xfrm>
            <a:off x="4637024" y="3406079"/>
            <a:ext cx="20155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时钟 / 复位 / 电源</a:t>
            </a:r>
          </a:p>
        </p:txBody>
      </p:sp>
      <p:sp>
        <p:nvSpPr>
          <p:cNvPr id="26" name="text-029: PLL、门控与复位同步"/>
          <p:cNvSpPr txBox="1"/>
          <p:nvPr/>
        </p:nvSpPr>
        <p:spPr>
          <a:xfrm>
            <a:off x="4637024" y="3677473"/>
            <a:ext cx="18690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PLL、门控与复位同步</a:t>
            </a:r>
          </a:p>
        </p:txBody>
      </p:sp>
      <p:sp>
        <p:nvSpPr>
          <p:cNvPr id="27" name="text-030: 安全启动、动态切换与回退"/>
          <p:cNvSpPr txBox="1"/>
          <p:nvPr/>
        </p:nvSpPr>
        <p:spPr>
          <a:xfrm>
            <a:off x="4637024" y="38908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安全启动、动态切换与回退</a:t>
            </a:r>
          </a:p>
        </p:txBody>
      </p:sp>
      <p:sp>
        <p:nvSpPr>
          <p:cNvPr id="28" name="text-031: CDC / RDC、隔离与保持"/>
          <p:cNvSpPr txBox="1"/>
          <p:nvPr/>
        </p:nvSpPr>
        <p:spPr>
          <a:xfrm>
            <a:off x="4637024" y="4104193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RDC、隔离与保持</a:t>
            </a:r>
          </a:p>
        </p:txBody>
      </p:sp>
      <p:sp>
        <p:nvSpPr>
          <p:cNvPr id="29" name="text-032: 频率 / 电压 / 域划分待确认"/>
          <p:cNvSpPr txBox="1"/>
          <p:nvPr/>
        </p:nvSpPr>
        <p:spPr>
          <a:xfrm>
            <a:off x="4637024" y="4317553"/>
            <a:ext cx="254325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频率 / 电压 / 域划分待确认</a:t>
            </a:r>
          </a:p>
        </p:txBody>
      </p:sp>
      <p:sp>
        <p:nvSpPr>
          <p:cNvPr id="30" name="rect-033"/>
          <p:cNvSpPr/>
          <p:nvPr/>
        </p:nvSpPr>
        <p:spPr>
          <a:xfrm>
            <a:off x="864108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4"/>
          <p:cNvSpPr/>
          <p:nvPr/>
        </p:nvSpPr>
        <p:spPr>
          <a:xfrm>
            <a:off x="8641080" y="3378200"/>
            <a:ext cx="35560" cy="2026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5: 外部 IO 与外存"/>
          <p:cNvSpPr txBox="1"/>
          <p:nvPr/>
        </p:nvSpPr>
        <p:spPr>
          <a:xfrm>
            <a:off x="8761984" y="3406079"/>
            <a:ext cx="15902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外部 IO 与外存</a:t>
            </a:r>
          </a:p>
        </p:txBody>
      </p:sp>
      <p:sp>
        <p:nvSpPr>
          <p:cNvPr id="33" name="text-036: PAD、电平与引脚复用"/>
          <p:cNvSpPr txBox="1"/>
          <p:nvPr/>
        </p:nvSpPr>
        <p:spPr>
          <a:xfrm>
            <a:off x="8761984" y="3677473"/>
            <a:ext cx="18690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PAD、电平与引脚复用</a:t>
            </a:r>
          </a:p>
        </p:txBody>
      </p:sp>
      <p:sp>
        <p:nvSpPr>
          <p:cNvPr id="34" name="text-037: DDR controller + PHY"/>
          <p:cNvSpPr txBox="1"/>
          <p:nvPr/>
        </p:nvSpPr>
        <p:spPr>
          <a:xfrm>
            <a:off x="8761984" y="389083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controller + PHY</a:t>
            </a:r>
          </a:p>
        </p:txBody>
      </p:sp>
      <p:sp>
        <p:nvSpPr>
          <p:cNvPr id="35" name="text-038: 训练、命令 / 数据时序与错误"/>
          <p:cNvSpPr txBox="1"/>
          <p:nvPr/>
        </p:nvSpPr>
        <p:spPr>
          <a:xfrm>
            <a:off x="8761984" y="4104193"/>
            <a:ext cx="25517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训练、命令 / 数据时序与错误</a:t>
            </a:r>
          </a:p>
        </p:txBody>
      </p:sp>
      <p:sp>
        <p:nvSpPr>
          <p:cNvPr id="36" name="text-039: 授权接口摘要及受控模型"/>
          <p:cNvSpPr txBox="1"/>
          <p:nvPr/>
        </p:nvSpPr>
        <p:spPr>
          <a:xfrm>
            <a:off x="8761984" y="43175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授权接口摘要及受控模型</a:t>
            </a:r>
          </a:p>
        </p:txBody>
      </p:sp>
      <p:sp>
        <p:nvSpPr>
          <p:cNvPr id="37" name="rect-040"/>
          <p:cNvSpPr/>
          <p:nvPr/>
        </p:nvSpPr>
        <p:spPr>
          <a:xfrm>
            <a:off x="391160" y="6329680"/>
            <a:ext cx="120192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41"/>
          <p:cNvSpPr/>
          <p:nvPr/>
        </p:nvSpPr>
        <p:spPr>
          <a:xfrm>
            <a:off x="391160" y="632968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2: 成套交付与验证"/>
          <p:cNvSpPr txBox="1"/>
          <p:nvPr/>
        </p:nvSpPr>
        <p:spPr>
          <a:xfrm>
            <a:off x="512064" y="635755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成套交付与验证</a:t>
            </a:r>
          </a:p>
        </p:txBody>
      </p:sp>
      <p:sp>
        <p:nvSpPr>
          <p:cNvPr id="40" name="text-043: 宏模型 + RTL 适配 + 平台固件 + STA / CDC / RDC 约束"/>
          <p:cNvSpPr txBox="1"/>
          <p:nvPr/>
        </p:nvSpPr>
        <p:spPr>
          <a:xfrm>
            <a:off x="512064" y="6644315"/>
            <a:ext cx="99980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宏模型 + RTL 适配 + 平台固件 + STA / CDC / RDC 约束 + DFT / MBIST + 电源意图；依次验收单元、平台启动和系统回归。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