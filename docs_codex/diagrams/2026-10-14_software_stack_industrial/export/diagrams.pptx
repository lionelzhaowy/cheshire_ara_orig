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2"/>
          <p:cNvSpPr/>
          <p:nvPr/>
        </p:nvSpPr>
        <p:spPr>
          <a:xfrm>
            <a:off x="75133" y="863905"/>
            <a:ext cx="1753667" cy="6820103"/>
          </a:xfrm>
          <a:prstGeom prst="rect">
            <a:avLst/>
          </a:prstGeom>
          <a:solidFill>
            <a:srgbClr val="F7F7F8"/>
          </a:solidFill>
          <a:ln w="9144" cap="flat">
            <a:solidFill>
              <a:srgbClr val="645C5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-003"/>
          <p:cNvSpPr/>
          <p:nvPr/>
        </p:nvSpPr>
        <p:spPr>
          <a:xfrm>
            <a:off x="2004162" y="863905"/>
            <a:ext cx="7465517" cy="6820103"/>
          </a:xfrm>
          <a:prstGeom prst="rect">
            <a:avLst/>
          </a:prstGeom>
          <a:solidFill>
            <a:srgbClr val="FFFFFF"/>
          </a:solidFill>
          <a:ln w="9144" cap="flat">
            <a:solidFill>
              <a:srgbClr val="645C5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-004"/>
          <p:cNvSpPr/>
          <p:nvPr/>
        </p:nvSpPr>
        <p:spPr>
          <a:xfrm>
            <a:off x="9720174" y="863905"/>
            <a:ext cx="1703527" cy="6820103"/>
          </a:xfrm>
          <a:prstGeom prst="rect">
            <a:avLst/>
          </a:prstGeom>
          <a:solidFill>
            <a:srgbClr val="E8DFED"/>
          </a:solidFill>
          <a:ln w="9144" cap="flat">
            <a:solidFill>
              <a:srgbClr val="645C5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-005"/>
          <p:cNvSpPr/>
          <p:nvPr/>
        </p:nvSpPr>
        <p:spPr>
          <a:xfrm>
            <a:off x="11824564" y="863905"/>
            <a:ext cx="2605430" cy="6820103"/>
          </a:xfrm>
          <a:prstGeom prst="rect">
            <a:avLst/>
          </a:prstGeom>
          <a:solidFill>
            <a:srgbClr val="D9EEE8"/>
          </a:solidFill>
          <a:ln w="9144" cap="flat">
            <a:solidFill>
              <a:srgbClr val="645C5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-006"/>
          <p:cNvSpPr/>
          <p:nvPr/>
        </p:nvSpPr>
        <p:spPr>
          <a:xfrm>
            <a:off x="2079346" y="1636827"/>
            <a:ext cx="5787034" cy="4173931"/>
          </a:xfrm>
          <a:prstGeom prst="rect">
            <a:avLst/>
          </a:prstGeom>
          <a:solidFill>
            <a:srgbClr val="EAF2F8"/>
          </a:solidFill>
          <a:ln w="9144" cap="flat">
            <a:solidFill>
              <a:srgbClr val="645C5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-007: Cheshire + CVA6 + Ara｜全组件软件栈"/>
          <p:cNvSpPr txBox="1"/>
          <p:nvPr/>
        </p:nvSpPr>
        <p:spPr>
          <a:xfrm>
            <a:off x="175362" y="46126"/>
            <a:ext cx="3765161" cy="3088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Cheshire + CVA6 + Ara｜全组件软件栈</a:t>
            </a:r>
          </a:p>
        </p:txBody>
      </p:sp>
      <p:sp>
        <p:nvSpPr>
          <p:cNvPr id="8" name="text-008: 裸机 BSP · Ara 指令通路 · Linux / SDK 可选分路"/>
          <p:cNvSpPr txBox="1"/>
          <p:nvPr/>
        </p:nvSpPr>
        <p:spPr>
          <a:xfrm>
            <a:off x="175362" y="302920"/>
            <a:ext cx="2974292" cy="21132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裸机 BSP · Ara 指令通路 · Linux / SDK 可选分路</a:t>
            </a:r>
          </a:p>
        </p:txBody>
      </p:sp>
      <p:sp>
        <p:nvSpPr>
          <p:cNvPr id="9" name="text-009: 开发主机"/>
          <p:cNvSpPr txBox="1"/>
          <p:nvPr/>
        </p:nvSpPr>
        <p:spPr>
          <a:xfrm>
            <a:off x="175362" y="551129"/>
            <a:ext cx="711200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开发主机</a:t>
            </a:r>
          </a:p>
        </p:txBody>
      </p:sp>
      <p:sp>
        <p:nvSpPr>
          <p:cNvPr id="10" name="text-010: 目标端：裸机应用与基础软件"/>
          <p:cNvSpPr txBox="1"/>
          <p:nvPr/>
        </p:nvSpPr>
        <p:spPr>
          <a:xfrm>
            <a:off x="2154479" y="551129"/>
            <a:ext cx="1991360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目标端：裸机应用与基础软件</a:t>
            </a:r>
          </a:p>
        </p:txBody>
      </p:sp>
      <p:sp>
        <p:nvSpPr>
          <p:cNvPr id="11" name="text-011: 启动与运行支撑"/>
          <p:cNvSpPr txBox="1"/>
          <p:nvPr/>
        </p:nvSpPr>
        <p:spPr>
          <a:xfrm>
            <a:off x="9795358" y="551129"/>
            <a:ext cx="1137920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启动与运行支撑</a:t>
            </a:r>
          </a:p>
        </p:txBody>
      </p:sp>
      <p:sp>
        <p:nvSpPr>
          <p:cNvPr id="12" name="text-012: Linux / SDK 可选分路"/>
          <p:cNvSpPr txBox="1"/>
          <p:nvPr/>
        </p:nvSpPr>
        <p:spPr>
          <a:xfrm>
            <a:off x="11924792" y="551129"/>
            <a:ext cx="1589659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Linux / SDK 可选分路</a:t>
            </a:r>
          </a:p>
        </p:txBody>
      </p:sp>
      <p:sp>
        <p:nvSpPr>
          <p:cNvPr id="13" name="text-013: 控制台 / 调试"/>
          <p:cNvSpPr txBox="1"/>
          <p:nvPr/>
        </p:nvSpPr>
        <p:spPr>
          <a:xfrm>
            <a:off x="2410854" y="820471"/>
            <a:ext cx="789964" cy="1788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控制台 / 调试</a:t>
            </a:r>
          </a:p>
        </p:txBody>
      </p:sp>
      <p:sp>
        <p:nvSpPr>
          <p:cNvPr id="14" name="text-014: 存储介质"/>
          <p:cNvSpPr txBox="1"/>
          <p:nvPr/>
        </p:nvSpPr>
        <p:spPr>
          <a:xfrm>
            <a:off x="3979469" y="820471"/>
            <a:ext cx="558800" cy="1788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存储介质</a:t>
            </a:r>
          </a:p>
        </p:txBody>
      </p:sp>
      <p:sp>
        <p:nvSpPr>
          <p:cNvPr id="15" name="text-015: GPIO / IRQ / 计时"/>
          <p:cNvSpPr txBox="1"/>
          <p:nvPr/>
        </p:nvSpPr>
        <p:spPr>
          <a:xfrm>
            <a:off x="5177982" y="820471"/>
            <a:ext cx="1067737" cy="1788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 / IRQ / 计时</a:t>
            </a:r>
          </a:p>
        </p:txBody>
      </p:sp>
      <p:sp>
        <p:nvSpPr>
          <p:cNvPr id="16" name="text-016: DMA / 存储控制"/>
          <p:cNvSpPr txBox="1"/>
          <p:nvPr/>
        </p:nvSpPr>
        <p:spPr>
          <a:xfrm>
            <a:off x="6682068" y="820471"/>
            <a:ext cx="965629" cy="1788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DMA / 存储控制</a:t>
            </a:r>
          </a:p>
        </p:txBody>
      </p:sp>
      <p:sp>
        <p:nvSpPr>
          <p:cNvPr id="17" name="text-017: 向量计算"/>
          <p:cNvSpPr txBox="1"/>
          <p:nvPr/>
        </p:nvSpPr>
        <p:spPr>
          <a:xfrm>
            <a:off x="8338515" y="820471"/>
            <a:ext cx="558800" cy="1788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向量计算</a:t>
            </a:r>
          </a:p>
        </p:txBody>
      </p:sp>
      <p:sp>
        <p:nvSpPr>
          <p:cNvPr id="18" name="text-018: BSP 支持代码"/>
          <p:cNvSpPr txBox="1"/>
          <p:nvPr/>
        </p:nvSpPr>
        <p:spPr>
          <a:xfrm>
            <a:off x="2154479" y="1631696"/>
            <a:ext cx="73561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BSP 支持代码</a:t>
            </a:r>
          </a:p>
        </p:txBody>
      </p:sp>
      <p:sp>
        <p:nvSpPr>
          <p:cNvPr id="19" name="rect-019"/>
          <p:cNvSpPr/>
          <p:nvPr/>
        </p:nvSpPr>
        <p:spPr>
          <a:xfrm>
            <a:off x="2154479" y="1000303"/>
            <a:ext cx="5661762" cy="409194"/>
          </a:xfrm>
          <a:prstGeom prst="rect">
            <a:avLst/>
          </a:prstGeom>
          <a:solidFill>
            <a:srgbClr val="F1D7D9"/>
          </a:solidFill>
          <a:ln w="914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-020: 裸机应用 · 外设测试 · 启动固件"/>
          <p:cNvSpPr txBox="1"/>
          <p:nvPr/>
        </p:nvSpPr>
        <p:spPr>
          <a:xfrm>
            <a:off x="4028391" y="1022248"/>
            <a:ext cx="191393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裸机应用 · 外设测试 · 启动固件</a:t>
            </a:r>
          </a:p>
        </p:txBody>
      </p:sp>
      <p:sp>
        <p:nvSpPr>
          <p:cNvPr id="21" name="text-021: main / sw/tests / flash.spm.elf"/>
          <p:cNvSpPr txBox="1"/>
          <p:nvPr/>
        </p:nvSpPr>
        <p:spPr>
          <a:xfrm>
            <a:off x="4093625" y="1160526"/>
            <a:ext cx="1783469" cy="18694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main / sw/tests / flash.spm.elf</a:t>
            </a:r>
          </a:p>
        </p:txBody>
      </p:sp>
      <p:sp>
        <p:nvSpPr>
          <p:cNvPr id="22" name="rect-022"/>
          <p:cNvSpPr/>
          <p:nvPr/>
        </p:nvSpPr>
        <p:spPr>
          <a:xfrm>
            <a:off x="7966558" y="1000303"/>
            <a:ext cx="1302715" cy="409194"/>
          </a:xfrm>
          <a:prstGeom prst="rect">
            <a:avLst/>
          </a:prstGeom>
          <a:solidFill>
            <a:srgbClr val="F1D7D9"/>
          </a:solidFill>
          <a:ln w="914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-023: Ara 应用 / benchmark"/>
          <p:cNvSpPr txBox="1"/>
          <p:nvPr/>
        </p:nvSpPr>
        <p:spPr>
          <a:xfrm>
            <a:off x="7960905" y="1038708"/>
            <a:ext cx="1314021" cy="1788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应用 / benchmark</a:t>
            </a:r>
          </a:p>
        </p:txBody>
      </p:sp>
      <p:sp>
        <p:nvSpPr>
          <p:cNvPr id="24" name="text-024: 向量内核 · RVV 测试"/>
          <p:cNvSpPr txBox="1"/>
          <p:nvPr/>
        </p:nvSpPr>
        <p:spPr>
          <a:xfrm>
            <a:off x="8025893" y="1160526"/>
            <a:ext cx="1184045" cy="18694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向量内核 · RVV 测试</a:t>
            </a:r>
          </a:p>
        </p:txBody>
      </p:sp>
      <p:sp>
        <p:nvSpPr>
          <p:cNvPr id="25" name="rect-025"/>
          <p:cNvSpPr/>
          <p:nvPr/>
        </p:nvSpPr>
        <p:spPr>
          <a:xfrm>
            <a:off x="2204568" y="2000555"/>
            <a:ext cx="1202487" cy="454660"/>
          </a:xfrm>
          <a:prstGeom prst="rect">
            <a:avLst/>
          </a:prstGeom>
          <a:solidFill>
            <a:srgbClr val="FFFFFF"/>
          </a:solidFill>
          <a:ln w="914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-026: printf"/>
          <p:cNvSpPr txBox="1"/>
          <p:nvPr/>
        </p:nvSpPr>
        <p:spPr>
          <a:xfrm>
            <a:off x="2560957" y="2022551"/>
            <a:ext cx="48976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printf</a:t>
            </a:r>
          </a:p>
        </p:txBody>
      </p:sp>
      <p:sp>
        <p:nvSpPr>
          <p:cNvPr id="27" name="text-027: 格式化 · 字符回调"/>
          <p:cNvSpPr txBox="1"/>
          <p:nvPr/>
        </p:nvSpPr>
        <p:spPr>
          <a:xfrm>
            <a:off x="2289839" y="2160829"/>
            <a:ext cx="1031994" cy="18694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格式化 · 字符回调</a:t>
            </a:r>
          </a:p>
        </p:txBody>
      </p:sp>
      <p:sp>
        <p:nvSpPr>
          <p:cNvPr id="28" name="rect-028"/>
          <p:cNvSpPr/>
          <p:nvPr/>
        </p:nvSpPr>
        <p:spPr>
          <a:xfrm>
            <a:off x="3657600" y="2000555"/>
            <a:ext cx="1202487" cy="454660"/>
          </a:xfrm>
          <a:prstGeom prst="rect">
            <a:avLst/>
          </a:prstGeom>
          <a:solidFill>
            <a:srgbClr val="FFFFFF"/>
          </a:solidFill>
          <a:ln w="914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-029: GPT 公共服务"/>
          <p:cNvSpPr txBox="1"/>
          <p:nvPr/>
        </p:nvSpPr>
        <p:spPr>
          <a:xfrm>
            <a:off x="3792414" y="2022551"/>
            <a:ext cx="93291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GPT 公共服务</a:t>
            </a:r>
          </a:p>
        </p:txBody>
      </p:sp>
      <p:sp>
        <p:nvSpPr>
          <p:cNvPr id="30" name="text-030: 分区解析 · 读回调"/>
          <p:cNvSpPr txBox="1"/>
          <p:nvPr/>
        </p:nvSpPr>
        <p:spPr>
          <a:xfrm>
            <a:off x="3742872" y="2160829"/>
            <a:ext cx="1031994" cy="18694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分区解析 · 读回调</a:t>
            </a:r>
          </a:p>
        </p:txBody>
      </p:sp>
      <p:sp>
        <p:nvSpPr>
          <p:cNvPr id="31" name="rect-031"/>
          <p:cNvSpPr/>
          <p:nvPr/>
        </p:nvSpPr>
        <p:spPr>
          <a:xfrm>
            <a:off x="2204568" y="2909926"/>
            <a:ext cx="1202487" cy="500126"/>
          </a:xfrm>
          <a:prstGeom prst="rect">
            <a:avLst/>
          </a:prstGeom>
          <a:solidFill>
            <a:srgbClr val="D8E8F4"/>
          </a:solidFill>
          <a:ln w="914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-032: UART debug HAL"/>
          <p:cNvSpPr txBox="1"/>
          <p:nvPr/>
        </p:nvSpPr>
        <p:spPr>
          <a:xfrm>
            <a:off x="2186862" y="2931871"/>
            <a:ext cx="123794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 debug HAL</a:t>
            </a:r>
          </a:p>
        </p:txBody>
      </p:sp>
      <p:sp>
        <p:nvSpPr>
          <p:cNvPr id="33" name="text-033: 命令 / 读写 / 执行"/>
          <p:cNvSpPr txBox="1"/>
          <p:nvPr/>
        </p:nvSpPr>
        <p:spPr>
          <a:xfrm>
            <a:off x="2277826" y="3070149"/>
            <a:ext cx="1056021" cy="18694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 / 读写 / 执行</a:t>
            </a:r>
          </a:p>
        </p:txBody>
      </p:sp>
      <p:sp>
        <p:nvSpPr>
          <p:cNvPr id="34" name="rect-034"/>
          <p:cNvSpPr/>
          <p:nvPr/>
        </p:nvSpPr>
        <p:spPr>
          <a:xfrm>
            <a:off x="3657600" y="2818994"/>
            <a:ext cx="1202487" cy="772922"/>
          </a:xfrm>
          <a:prstGeom prst="rect">
            <a:avLst/>
          </a:prstGeom>
          <a:solidFill>
            <a:srgbClr val="D8E8F4"/>
          </a:solidFill>
          <a:ln w="914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-035: 器件 HAL"/>
          <p:cNvSpPr txBox="1"/>
          <p:nvPr/>
        </p:nvSpPr>
        <p:spPr>
          <a:xfrm>
            <a:off x="3914826" y="2840939"/>
            <a:ext cx="688086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器件 HAL</a:t>
            </a:r>
          </a:p>
        </p:txBody>
      </p:sp>
      <p:sp>
        <p:nvSpPr>
          <p:cNvPr id="36" name="text-036: SPI Flash · SPI SD"/>
          <p:cNvSpPr txBox="1"/>
          <p:nvPr/>
        </p:nvSpPr>
        <p:spPr>
          <a:xfrm>
            <a:off x="3723865" y="2979217"/>
            <a:ext cx="1070007" cy="18694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Flash · SPI SD</a:t>
            </a:r>
          </a:p>
        </p:txBody>
      </p:sp>
      <p:sp>
        <p:nvSpPr>
          <p:cNvPr id="37" name="text-037: I²C EEPROM"/>
          <p:cNvSpPr txBox="1"/>
          <p:nvPr/>
        </p:nvSpPr>
        <p:spPr>
          <a:xfrm>
            <a:off x="3861335" y="3106522"/>
            <a:ext cx="795068" cy="18694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I²C EEPROM</a:t>
            </a:r>
          </a:p>
        </p:txBody>
      </p:sp>
      <p:sp>
        <p:nvSpPr>
          <p:cNvPr id="38" name="text-038: 器件命令 / 分块"/>
          <p:cNvSpPr txBox="1"/>
          <p:nvPr/>
        </p:nvSpPr>
        <p:spPr>
          <a:xfrm>
            <a:off x="3790394" y="3233877"/>
            <a:ext cx="936950" cy="18694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器件命令 / 分块</a:t>
            </a:r>
          </a:p>
        </p:txBody>
      </p:sp>
      <p:sp>
        <p:nvSpPr>
          <p:cNvPr id="39" name="rect-039"/>
          <p:cNvSpPr/>
          <p:nvPr/>
        </p:nvSpPr>
        <p:spPr>
          <a:xfrm>
            <a:off x="2204568" y="3978402"/>
            <a:ext cx="1202487" cy="613816"/>
          </a:xfrm>
          <a:prstGeom prst="rect">
            <a:avLst/>
          </a:prstGeom>
          <a:solidFill>
            <a:srgbClr val="D8E8F4"/>
          </a:solidFill>
          <a:ln w="914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-040: UART DIF"/>
          <p:cNvSpPr txBox="1"/>
          <p:nvPr/>
        </p:nvSpPr>
        <p:spPr>
          <a:xfrm>
            <a:off x="2438199" y="4000398"/>
            <a:ext cx="735274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 DIF</a:t>
            </a:r>
          </a:p>
        </p:txBody>
      </p:sp>
      <p:sp>
        <p:nvSpPr>
          <p:cNvPr id="41" name="text-041: 收发 · 轮询"/>
          <p:cNvSpPr txBox="1"/>
          <p:nvPr/>
        </p:nvSpPr>
        <p:spPr>
          <a:xfrm>
            <a:off x="2465099" y="4138676"/>
            <a:ext cx="681474" cy="18694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收发 · 轮询</a:t>
            </a:r>
          </a:p>
        </p:txBody>
      </p:sp>
      <p:sp>
        <p:nvSpPr>
          <p:cNvPr id="42" name="text-042: _putchar / _getchar"/>
          <p:cNvSpPr txBox="1"/>
          <p:nvPr/>
        </p:nvSpPr>
        <p:spPr>
          <a:xfrm>
            <a:off x="2210075" y="4265981"/>
            <a:ext cx="1191522" cy="18694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_putchar / _getchar</a:t>
            </a:r>
          </a:p>
        </p:txBody>
      </p:sp>
      <p:sp>
        <p:nvSpPr>
          <p:cNvPr id="43" name="rect-043"/>
          <p:cNvSpPr/>
          <p:nvPr/>
        </p:nvSpPr>
        <p:spPr>
          <a:xfrm>
            <a:off x="3657600" y="3978402"/>
            <a:ext cx="1202487" cy="613816"/>
          </a:xfrm>
          <a:prstGeom prst="rect">
            <a:avLst/>
          </a:prstGeom>
          <a:solidFill>
            <a:srgbClr val="D8E8F4"/>
          </a:solidFill>
          <a:ln w="914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-044: OpenTitan DIF"/>
          <p:cNvSpPr txBox="1"/>
          <p:nvPr/>
        </p:nvSpPr>
        <p:spPr>
          <a:xfrm>
            <a:off x="3734466" y="4000398"/>
            <a:ext cx="1048806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OpenTitan DIF</a:t>
            </a:r>
          </a:p>
        </p:txBody>
      </p:sp>
      <p:sp>
        <p:nvSpPr>
          <p:cNvPr id="45" name="text-045: SPI Host / I²C"/>
          <p:cNvSpPr txBox="1"/>
          <p:nvPr/>
        </p:nvSpPr>
        <p:spPr>
          <a:xfrm>
            <a:off x="3826216" y="4138676"/>
            <a:ext cx="865307" cy="18694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 / I²C</a:t>
            </a:r>
          </a:p>
        </p:txBody>
      </p:sp>
      <p:sp>
        <p:nvSpPr>
          <p:cNvPr id="46" name="text-046: FIFO · 事务 · 配置"/>
          <p:cNvSpPr txBox="1"/>
          <p:nvPr/>
        </p:nvSpPr>
        <p:spPr>
          <a:xfrm>
            <a:off x="3742642" y="4265981"/>
            <a:ext cx="1032454" cy="18694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FIFO · 事务 · 配置</a:t>
            </a:r>
          </a:p>
        </p:txBody>
      </p:sp>
      <p:sp>
        <p:nvSpPr>
          <p:cNvPr id="47" name="rect-047"/>
          <p:cNvSpPr/>
          <p:nvPr/>
        </p:nvSpPr>
        <p:spPr>
          <a:xfrm>
            <a:off x="5110632" y="3978402"/>
            <a:ext cx="1202487" cy="613816"/>
          </a:xfrm>
          <a:prstGeom prst="rect">
            <a:avLst/>
          </a:prstGeom>
          <a:solidFill>
            <a:srgbClr val="D8E8F4"/>
          </a:solidFill>
          <a:ln w="914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-048: GPIO / PLIC / CLINT"/>
          <p:cNvSpPr txBox="1"/>
          <p:nvPr/>
        </p:nvSpPr>
        <p:spPr>
          <a:xfrm>
            <a:off x="5099671" y="4016858"/>
            <a:ext cx="1224359" cy="1788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 / PLIC / CLINT</a:t>
            </a:r>
          </a:p>
        </p:txBody>
      </p:sp>
      <p:sp>
        <p:nvSpPr>
          <p:cNvPr id="49" name="text-049: GPIO / PLIC：OT DIF"/>
          <p:cNvSpPr txBox="1"/>
          <p:nvPr/>
        </p:nvSpPr>
        <p:spPr>
          <a:xfrm>
            <a:off x="5136092" y="4149649"/>
            <a:ext cx="1151517" cy="17068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 / PLIC：OT DIF</a:t>
            </a:r>
          </a:p>
        </p:txBody>
      </p:sp>
      <p:sp>
        <p:nvSpPr>
          <p:cNvPr id="50" name="text-050: CLINT：本地 DIF"/>
          <p:cNvSpPr txBox="1"/>
          <p:nvPr/>
        </p:nvSpPr>
        <p:spPr>
          <a:xfrm>
            <a:off x="5245379" y="4276954"/>
            <a:ext cx="932942" cy="17068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CLINT：本地 DIF</a:t>
            </a:r>
          </a:p>
        </p:txBody>
      </p:sp>
      <p:sp>
        <p:nvSpPr>
          <p:cNvPr id="51" name="rect-051"/>
          <p:cNvSpPr/>
          <p:nvPr/>
        </p:nvSpPr>
        <p:spPr>
          <a:xfrm>
            <a:off x="6563614" y="3978402"/>
            <a:ext cx="1202487" cy="613816"/>
          </a:xfrm>
          <a:prstGeom prst="rect">
            <a:avLst/>
          </a:prstGeom>
          <a:solidFill>
            <a:srgbClr val="D8E8F4"/>
          </a:solidFill>
          <a:ln w="914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-052: DMA / LLC / AXI RT"/>
          <p:cNvSpPr txBox="1"/>
          <p:nvPr/>
        </p:nvSpPr>
        <p:spPr>
          <a:xfrm>
            <a:off x="6559414" y="4016858"/>
            <a:ext cx="1210937" cy="1788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DMA / LLC / AXI RT</a:t>
            </a:r>
          </a:p>
        </p:txBody>
      </p:sp>
      <p:sp>
        <p:nvSpPr>
          <p:cNvPr id="53" name="text-053: DMA：头文件接口"/>
          <p:cNvSpPr txBox="1"/>
          <p:nvPr/>
        </p:nvSpPr>
        <p:spPr>
          <a:xfrm>
            <a:off x="6661221" y="4149649"/>
            <a:ext cx="1007324" cy="17068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DMA：头文件接口</a:t>
            </a:r>
          </a:p>
        </p:txBody>
      </p:sp>
      <p:sp>
        <p:nvSpPr>
          <p:cNvPr id="54" name="text-054: LLC / RT：依赖驱动"/>
          <p:cNvSpPr txBox="1"/>
          <p:nvPr/>
        </p:nvSpPr>
        <p:spPr>
          <a:xfrm>
            <a:off x="6637996" y="4276954"/>
            <a:ext cx="1053775" cy="17068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RT：依赖驱动</a:t>
            </a:r>
          </a:p>
        </p:txBody>
      </p:sp>
      <p:sp>
        <p:nvSpPr>
          <p:cNvPr id="55" name="rect-055"/>
          <p:cNvSpPr/>
          <p:nvPr/>
        </p:nvSpPr>
        <p:spPr>
          <a:xfrm>
            <a:off x="7966558" y="2000555"/>
            <a:ext cx="1302715" cy="500126"/>
          </a:xfrm>
          <a:prstGeom prst="rect">
            <a:avLst/>
          </a:prstGeom>
          <a:solidFill>
            <a:srgbClr val="FFFFFF"/>
          </a:solidFill>
          <a:ln w="914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-056: 向量辅助代码"/>
          <p:cNvSpPr txBox="1"/>
          <p:nvPr/>
        </p:nvSpPr>
        <p:spPr>
          <a:xfrm>
            <a:off x="8173415" y="2022551"/>
            <a:ext cx="88900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向量辅助代码</a:t>
            </a:r>
          </a:p>
        </p:txBody>
      </p:sp>
      <p:sp>
        <p:nvSpPr>
          <p:cNvPr id="57" name="text-057: cheshire_util · 计时"/>
          <p:cNvSpPr txBox="1"/>
          <p:nvPr/>
        </p:nvSpPr>
        <p:spPr>
          <a:xfrm>
            <a:off x="8121786" y="2177288"/>
            <a:ext cx="99225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cheshire_util · 计时</a:t>
            </a:r>
          </a:p>
        </p:txBody>
      </p:sp>
      <p:sp>
        <p:nvSpPr>
          <p:cNvPr id="58" name="text-058: vector_util · 校验"/>
          <p:cNvSpPr txBox="1"/>
          <p:nvPr/>
        </p:nvSpPr>
        <p:spPr>
          <a:xfrm>
            <a:off x="8172332" y="2304593"/>
            <a:ext cx="89116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vector_util · 校验</a:t>
            </a:r>
          </a:p>
        </p:txBody>
      </p:sp>
      <p:sp>
        <p:nvSpPr>
          <p:cNvPr id="59" name="rect-059"/>
          <p:cNvSpPr/>
          <p:nvPr/>
        </p:nvSpPr>
        <p:spPr>
          <a:xfrm>
            <a:off x="7966558" y="2909926"/>
            <a:ext cx="1302715" cy="636524"/>
          </a:xfrm>
          <a:prstGeom prst="rect">
            <a:avLst/>
          </a:prstGeom>
          <a:solidFill>
            <a:srgbClr val="F1D7D9"/>
          </a:solidFill>
          <a:ln w="914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text-060: 向量内核实现"/>
          <p:cNvSpPr txBox="1"/>
          <p:nvPr/>
        </p:nvSpPr>
        <p:spPr>
          <a:xfrm>
            <a:off x="8173415" y="2931871"/>
            <a:ext cx="88900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向量内核实现</a:t>
            </a:r>
          </a:p>
        </p:txBody>
      </p:sp>
      <p:sp>
        <p:nvSpPr>
          <p:cNvPr id="61" name="text-061: 内联汇编 / intrinsics"/>
          <p:cNvSpPr txBox="1"/>
          <p:nvPr/>
        </p:nvSpPr>
        <p:spPr>
          <a:xfrm>
            <a:off x="8020186" y="3070149"/>
            <a:ext cx="1195459" cy="18694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内联汇编 / intrinsics</a:t>
            </a:r>
          </a:p>
        </p:txBody>
      </p:sp>
      <p:sp>
        <p:nvSpPr>
          <p:cNvPr id="62" name="text-062: 编译器生成 RVV"/>
          <p:cNvSpPr txBox="1"/>
          <p:nvPr/>
        </p:nvSpPr>
        <p:spPr>
          <a:xfrm>
            <a:off x="8132950" y="3197504"/>
            <a:ext cx="969931" cy="18694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编译器生成 RVV</a:t>
            </a:r>
          </a:p>
        </p:txBody>
      </p:sp>
      <p:sp>
        <p:nvSpPr>
          <p:cNvPr id="63" name="text-063: VS 使能 / 按需 FS"/>
          <p:cNvSpPr txBox="1"/>
          <p:nvPr/>
        </p:nvSpPr>
        <p:spPr>
          <a:xfrm>
            <a:off x="8095374" y="3324809"/>
            <a:ext cx="1045083" cy="18694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VS 使能 / 按需 FS</a:t>
            </a:r>
          </a:p>
        </p:txBody>
      </p:sp>
      <p:sp>
        <p:nvSpPr>
          <p:cNvPr id="64" name="rect-064"/>
          <p:cNvSpPr/>
          <p:nvPr/>
        </p:nvSpPr>
        <p:spPr>
          <a:xfrm>
            <a:off x="2204568" y="5137810"/>
            <a:ext cx="5561533" cy="568350"/>
          </a:xfrm>
          <a:prstGeom prst="rect">
            <a:avLst/>
          </a:prstGeom>
          <a:solidFill>
            <a:srgbClr val="E8DFED"/>
          </a:solidFill>
          <a:ln w="914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text-065: MMIO / 位域 / 内存辅助代码 + 平台定义"/>
          <p:cNvSpPr txBox="1"/>
          <p:nvPr/>
        </p:nvSpPr>
        <p:spPr>
          <a:xfrm>
            <a:off x="3734136" y="5159807"/>
            <a:ext cx="250244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MMIO / 位域 / 内存辅助代码 + 平台定义</a:t>
            </a:r>
          </a:p>
        </p:txBody>
      </p:sp>
      <p:sp>
        <p:nvSpPr>
          <p:cNvPr id="66" name="text-066: reg8 / reg32 · mmio_region_* · bitfield "/>
          <p:cNvSpPr txBox="1"/>
          <p:nvPr/>
        </p:nvSpPr>
        <p:spPr>
          <a:xfrm>
            <a:off x="3569992" y="5298084"/>
            <a:ext cx="2830735" cy="18694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reg8 / reg32 · mmio_region_* · bitfield / memory</a:t>
            </a:r>
          </a:p>
        </p:txBody>
      </p:sp>
      <p:sp>
        <p:nvSpPr>
          <p:cNvPr id="67" name="text-067: params.h · __base_* · 生成 regs/*.h"/>
          <p:cNvSpPr txBox="1"/>
          <p:nvPr/>
        </p:nvSpPr>
        <p:spPr>
          <a:xfrm>
            <a:off x="3985624" y="5425389"/>
            <a:ext cx="1999472" cy="18694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params.h · __base_* · 生成 regs/*.h</a:t>
            </a:r>
          </a:p>
        </p:txBody>
      </p:sp>
      <p:sp>
        <p:nvSpPr>
          <p:cNvPr id="68" name="rect-068"/>
          <p:cNvSpPr/>
          <p:nvPr/>
        </p:nvSpPr>
        <p:spPr>
          <a:xfrm>
            <a:off x="7966558" y="5137810"/>
            <a:ext cx="1302715" cy="568350"/>
          </a:xfrm>
          <a:prstGeom prst="rect">
            <a:avLst/>
          </a:prstGeom>
          <a:solidFill>
            <a:srgbClr val="E8DFED"/>
          </a:solidFill>
          <a:ln w="914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text-069: CSR / 屏障辅助"/>
          <p:cNvSpPr txBox="1"/>
          <p:nvPr/>
        </p:nvSpPr>
        <p:spPr>
          <a:xfrm>
            <a:off x="8107276" y="5159807"/>
            <a:ext cx="102127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CSR / 屏障辅助</a:t>
            </a:r>
          </a:p>
        </p:txBody>
      </p:sp>
      <p:sp>
        <p:nvSpPr>
          <p:cNvPr id="70" name="text-070: util.h：CSR / fence"/>
          <p:cNvSpPr txBox="1"/>
          <p:nvPr/>
        </p:nvSpPr>
        <p:spPr>
          <a:xfrm>
            <a:off x="8039871" y="5298084"/>
            <a:ext cx="1156089" cy="18694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util.h：CSR / fence</a:t>
            </a:r>
          </a:p>
        </p:txBody>
      </p:sp>
      <p:sp>
        <p:nvSpPr>
          <p:cNvPr id="71" name="text-071: 计时 · IRQ · WFI"/>
          <p:cNvSpPr txBox="1"/>
          <p:nvPr/>
        </p:nvSpPr>
        <p:spPr>
          <a:xfrm>
            <a:off x="8135430" y="5425389"/>
            <a:ext cx="964970" cy="18694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计时 · IRQ · WFI</a:t>
            </a:r>
          </a:p>
        </p:txBody>
      </p:sp>
      <p:sp>
        <p:nvSpPr>
          <p:cNvPr id="72" name="text-072: 归档：C/S 支持对象 → libcheshire.a"/>
          <p:cNvSpPr txBox="1"/>
          <p:nvPr/>
        </p:nvSpPr>
        <p:spPr>
          <a:xfrm>
            <a:off x="2179523" y="5801055"/>
            <a:ext cx="177698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归档：C/S 支持对象 → libcheshire.a</a:t>
            </a:r>
          </a:p>
        </p:txBody>
      </p:sp>
      <p:sp>
        <p:nvSpPr>
          <p:cNvPr id="73" name="text-073: .h 内联由调用者编译；crt0 也参与归档"/>
          <p:cNvSpPr txBox="1"/>
          <p:nvPr/>
        </p:nvSpPr>
        <p:spPr>
          <a:xfrm>
            <a:off x="2179523" y="5937453"/>
            <a:ext cx="186150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.h 内联由调用者编译；crt0 也参与归档</a:t>
            </a:r>
          </a:p>
        </p:txBody>
      </p:sp>
      <p:sp>
        <p:nvSpPr>
          <p:cNvPr id="74" name="rect-074"/>
          <p:cNvSpPr/>
          <p:nvPr/>
        </p:nvSpPr>
        <p:spPr>
          <a:xfrm>
            <a:off x="2154479" y="6229045"/>
            <a:ext cx="5661762" cy="522884"/>
          </a:xfrm>
          <a:prstGeom prst="rect">
            <a:avLst/>
          </a:prstGeom>
          <a:solidFill>
            <a:srgbClr val="F5E1C9"/>
          </a:solidFill>
          <a:ln w="914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text-075: 软硬件接口：MMIO / 地址空间 / 异常与中断"/>
          <p:cNvSpPr txBox="1"/>
          <p:nvPr/>
        </p:nvSpPr>
        <p:spPr>
          <a:xfrm>
            <a:off x="3629805" y="6250991"/>
            <a:ext cx="2711109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软硬件接口：MMIO / 地址空间 / 异常与中断</a:t>
            </a:r>
          </a:p>
        </p:txBody>
      </p:sp>
      <p:sp>
        <p:nvSpPr>
          <p:cNvPr id="76" name="text-076: 地址与字段 · 访问宽度 · 副作用 · IRQ · 访问顺序 / 缓存与数据可"/>
          <p:cNvSpPr txBox="1"/>
          <p:nvPr/>
        </p:nvSpPr>
        <p:spPr>
          <a:xfrm>
            <a:off x="3247500" y="6394755"/>
            <a:ext cx="3475720" cy="1788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地址与字段 · 访问宽度 · 副作用 · IRQ · 访问顺序 / 缓存与数据可见性</a:t>
            </a:r>
          </a:p>
        </p:txBody>
      </p:sp>
      <p:sp>
        <p:nvSpPr>
          <p:cNvPr id="77" name="rect-077"/>
          <p:cNvSpPr/>
          <p:nvPr/>
        </p:nvSpPr>
        <p:spPr>
          <a:xfrm>
            <a:off x="7966558" y="6229045"/>
            <a:ext cx="1302715" cy="522884"/>
          </a:xfrm>
          <a:prstGeom prst="rect">
            <a:avLst/>
          </a:prstGeom>
          <a:solidFill>
            <a:srgbClr val="F5E1C9"/>
          </a:solidFill>
          <a:ln w="914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text-078: 指令接口：ISA / CSR"/>
          <p:cNvSpPr txBox="1"/>
          <p:nvPr/>
        </p:nvSpPr>
        <p:spPr>
          <a:xfrm>
            <a:off x="7936528" y="6250991"/>
            <a:ext cx="1362774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指令接口：ISA / CSR</a:t>
            </a:r>
          </a:p>
        </p:txBody>
      </p:sp>
      <p:sp>
        <p:nvSpPr>
          <p:cNvPr id="79" name="text-079: 标量 / RVV · 特权状态"/>
          <p:cNvSpPr txBox="1"/>
          <p:nvPr/>
        </p:nvSpPr>
        <p:spPr>
          <a:xfrm>
            <a:off x="8038807" y="6400241"/>
            <a:ext cx="1158216" cy="17068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标量 / RVV · 特权状态</a:t>
            </a:r>
          </a:p>
        </p:txBody>
      </p:sp>
      <p:sp>
        <p:nvSpPr>
          <p:cNvPr id="80" name="text-080: trap · 内存访问语义"/>
          <p:cNvSpPr txBox="1"/>
          <p:nvPr/>
        </p:nvSpPr>
        <p:spPr>
          <a:xfrm>
            <a:off x="8096338" y="6527597"/>
            <a:ext cx="1043154" cy="17068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trap · 内存访问语义</a:t>
            </a:r>
          </a:p>
        </p:txBody>
      </p:sp>
      <p:sp>
        <p:nvSpPr>
          <p:cNvPr id="81" name="rect-081"/>
          <p:cNvSpPr/>
          <p:nvPr/>
        </p:nvSpPr>
        <p:spPr>
          <a:xfrm>
            <a:off x="2154479" y="7138365"/>
            <a:ext cx="5661762" cy="409194"/>
          </a:xfrm>
          <a:prstGeom prst="rect">
            <a:avLst/>
          </a:prstGeom>
          <a:solidFill>
            <a:srgbClr val="D9EEE8"/>
          </a:solidFill>
          <a:ln w="914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text-082: SoC 控制器与存储子系统"/>
          <p:cNvSpPr txBox="1"/>
          <p:nvPr/>
        </p:nvSpPr>
        <p:spPr>
          <a:xfrm>
            <a:off x="4208755" y="7160362"/>
            <a:ext cx="155321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控制器与存储子系统</a:t>
            </a:r>
          </a:p>
        </p:txBody>
      </p:sp>
      <p:sp>
        <p:nvSpPr>
          <p:cNvPr id="83" name="text-083: UART · SPI / I²C · GPIO / PLIC / CLINT ·"/>
          <p:cNvSpPr txBox="1"/>
          <p:nvPr/>
        </p:nvSpPr>
        <p:spPr>
          <a:xfrm>
            <a:off x="3004148" y="7309612"/>
            <a:ext cx="3962424" cy="17068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 · SPI / I²C · GPIO / PLIC / CLINT · iDMA · LLC / AXI RT · AXI / Reg / 存储</a:t>
            </a:r>
          </a:p>
        </p:txBody>
      </p:sp>
      <p:sp>
        <p:nvSpPr>
          <p:cNvPr id="84" name="rect-084"/>
          <p:cNvSpPr/>
          <p:nvPr/>
        </p:nvSpPr>
        <p:spPr>
          <a:xfrm>
            <a:off x="7966558" y="7138365"/>
            <a:ext cx="1302715" cy="409194"/>
          </a:xfrm>
          <a:prstGeom prst="rect">
            <a:avLst/>
          </a:prstGeom>
          <a:solidFill>
            <a:srgbClr val="F1D7D9"/>
          </a:solidFill>
          <a:ln w="914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text-085: CVA6 + Ara"/>
          <p:cNvSpPr txBox="1"/>
          <p:nvPr/>
        </p:nvSpPr>
        <p:spPr>
          <a:xfrm>
            <a:off x="8185444" y="7160362"/>
            <a:ext cx="864941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+ Ara</a:t>
            </a:r>
          </a:p>
        </p:txBody>
      </p:sp>
      <p:sp>
        <p:nvSpPr>
          <p:cNvPr id="86" name="text-086: 取指 / 执行 / 访存"/>
          <p:cNvSpPr txBox="1"/>
          <p:nvPr/>
        </p:nvSpPr>
        <p:spPr>
          <a:xfrm>
            <a:off x="8089905" y="7298639"/>
            <a:ext cx="1056021" cy="18694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取指 / 执行 / 访存</a:t>
            </a:r>
          </a:p>
        </p:txBody>
      </p:sp>
      <p:sp>
        <p:nvSpPr>
          <p:cNvPr id="87" name="rect-087"/>
          <p:cNvSpPr/>
          <p:nvPr/>
        </p:nvSpPr>
        <p:spPr>
          <a:xfrm>
            <a:off x="150317" y="1000303"/>
            <a:ext cx="1453032" cy="500126"/>
          </a:xfrm>
          <a:prstGeom prst="rect">
            <a:avLst/>
          </a:prstGeom>
          <a:solidFill>
            <a:srgbClr val="FFFFFF"/>
          </a:solidFill>
          <a:ln w="914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text-088: 构建与依赖入口"/>
          <p:cNvSpPr txBox="1"/>
          <p:nvPr/>
        </p:nvSpPr>
        <p:spPr>
          <a:xfrm>
            <a:off x="368808" y="1022248"/>
            <a:ext cx="101600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构建与依赖入口</a:t>
            </a:r>
          </a:p>
        </p:txBody>
      </p:sp>
      <p:sp>
        <p:nvSpPr>
          <p:cNvPr id="89" name="text-089: Make · sw.mk / Ara Makefile"/>
          <p:cNvSpPr txBox="1"/>
          <p:nvPr/>
        </p:nvSpPr>
        <p:spPr>
          <a:xfrm>
            <a:off x="145621" y="1176985"/>
            <a:ext cx="146237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Make · sw.mk / Ara Makefile</a:t>
            </a:r>
          </a:p>
        </p:txBody>
      </p:sp>
      <p:sp>
        <p:nvSpPr>
          <p:cNvPr id="90" name="text-090: Bender path · 本地依赖"/>
          <p:cNvSpPr txBox="1"/>
          <p:nvPr/>
        </p:nvSpPr>
        <p:spPr>
          <a:xfrm>
            <a:off x="282746" y="1304290"/>
            <a:ext cx="118812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Bender path · 本地依赖</a:t>
            </a:r>
          </a:p>
        </p:txBody>
      </p:sp>
      <p:sp>
        <p:nvSpPr>
          <p:cNvPr id="91" name="rect-091"/>
          <p:cNvSpPr/>
          <p:nvPr/>
        </p:nvSpPr>
        <p:spPr>
          <a:xfrm>
            <a:off x="150317" y="2000555"/>
            <a:ext cx="1453032" cy="681990"/>
          </a:xfrm>
          <a:prstGeom prst="rect">
            <a:avLst/>
          </a:prstGeom>
          <a:solidFill>
            <a:srgbClr val="FFFFFF"/>
          </a:solidFill>
          <a:ln w="914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text-092: 编译 / 归档 / 链接"/>
          <p:cNvSpPr txBox="1"/>
          <p:nvPr/>
        </p:nvSpPr>
        <p:spPr>
          <a:xfrm>
            <a:off x="296616" y="2022551"/>
            <a:ext cx="1160383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编译 / 归档 / 链接</a:t>
            </a:r>
          </a:p>
        </p:txBody>
      </p:sp>
      <p:sp>
        <p:nvSpPr>
          <p:cNvPr id="93" name="text-093: GCC · as · ld · ar"/>
          <p:cNvSpPr txBox="1"/>
          <p:nvPr/>
        </p:nvSpPr>
        <p:spPr>
          <a:xfrm>
            <a:off x="385707" y="2160829"/>
            <a:ext cx="982202" cy="18694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GCC · as · ld · ar</a:t>
            </a:r>
          </a:p>
        </p:txBody>
      </p:sp>
      <p:sp>
        <p:nvSpPr>
          <p:cNvPr id="94" name="text-094: 源码 / .o / .a / .ld"/>
          <p:cNvSpPr txBox="1"/>
          <p:nvPr/>
        </p:nvSpPr>
        <p:spPr>
          <a:xfrm>
            <a:off x="358414" y="2288134"/>
            <a:ext cx="1036788" cy="18694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源码 / .o / .a / .ld</a:t>
            </a:r>
          </a:p>
        </p:txBody>
      </p:sp>
      <p:sp>
        <p:nvSpPr>
          <p:cNvPr id="95" name="text-095: → ELF / map"/>
          <p:cNvSpPr txBox="1"/>
          <p:nvPr/>
        </p:nvSpPr>
        <p:spPr>
          <a:xfrm>
            <a:off x="465669" y="2415438"/>
            <a:ext cx="822277" cy="18694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→ ELF / map</a:t>
            </a:r>
          </a:p>
        </p:txBody>
      </p:sp>
      <p:sp>
        <p:nvSpPr>
          <p:cNvPr id="96" name="rect-096"/>
          <p:cNvSpPr/>
          <p:nvPr/>
        </p:nvSpPr>
        <p:spPr>
          <a:xfrm>
            <a:off x="150317" y="3273654"/>
            <a:ext cx="1453032" cy="636524"/>
          </a:xfrm>
          <a:prstGeom prst="rect">
            <a:avLst/>
          </a:prstGeom>
          <a:solidFill>
            <a:srgbClr val="FFFFFF"/>
          </a:solidFill>
          <a:ln w="914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text-097: 寄存器 / 描述生成"/>
          <p:cNvSpPr txBox="1"/>
          <p:nvPr/>
        </p:nvSpPr>
        <p:spPr>
          <a:xfrm>
            <a:off x="300962" y="3295650"/>
            <a:ext cx="1151692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寄存器 / 描述生成</a:t>
            </a:r>
          </a:p>
        </p:txBody>
      </p:sp>
      <p:sp>
        <p:nvSpPr>
          <p:cNvPr id="98" name="text-098: Python regtool：HJSON"/>
          <p:cNvSpPr txBox="1"/>
          <p:nvPr/>
        </p:nvSpPr>
        <p:spPr>
          <a:xfrm>
            <a:off x="208391" y="3444900"/>
            <a:ext cx="1336834" cy="17068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Python regtool：HJSON</a:t>
            </a:r>
          </a:p>
        </p:txBody>
      </p:sp>
      <p:sp>
        <p:nvSpPr>
          <p:cNvPr id="99" name="text-099: → C 宏 / RTL"/>
          <p:cNvSpPr txBox="1"/>
          <p:nvPr/>
        </p:nvSpPr>
        <p:spPr>
          <a:xfrm>
            <a:off x="503896" y="3572205"/>
            <a:ext cx="745823" cy="17068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→ C 宏 / RTL</a:t>
            </a:r>
          </a:p>
        </p:txBody>
      </p:sp>
      <p:sp>
        <p:nvSpPr>
          <p:cNvPr id="100" name="text-100: dtc：DTS → DTB"/>
          <p:cNvSpPr txBox="1"/>
          <p:nvPr/>
        </p:nvSpPr>
        <p:spPr>
          <a:xfrm>
            <a:off x="403725" y="3699510"/>
            <a:ext cx="946166" cy="17068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dtc：DTS → DTB</a:t>
            </a:r>
          </a:p>
        </p:txBody>
      </p:sp>
      <p:sp>
        <p:nvSpPr>
          <p:cNvPr id="101" name="rect-101"/>
          <p:cNvSpPr/>
          <p:nvPr/>
        </p:nvSpPr>
        <p:spPr>
          <a:xfrm>
            <a:off x="150317" y="4319422"/>
            <a:ext cx="1453032" cy="704748"/>
          </a:xfrm>
          <a:prstGeom prst="rect">
            <a:avLst/>
          </a:prstGeom>
          <a:solidFill>
            <a:srgbClr val="FFFFFF"/>
          </a:solidFill>
          <a:ln w="914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text-102: 产物转换 / 检查"/>
          <p:cNvSpPr txBox="1"/>
          <p:nvPr/>
        </p:nvSpPr>
        <p:spPr>
          <a:xfrm>
            <a:off x="364462" y="4341368"/>
            <a:ext cx="1024692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产物转换 / 检查</a:t>
            </a:r>
          </a:p>
        </p:txBody>
      </p:sp>
      <p:sp>
        <p:nvSpPr>
          <p:cNvPr id="103" name="text-103: objcopy · objdump"/>
          <p:cNvSpPr txBox="1"/>
          <p:nvPr/>
        </p:nvSpPr>
        <p:spPr>
          <a:xfrm>
            <a:off x="315083" y="4485132"/>
            <a:ext cx="1123450" cy="1788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objcopy · objdump</a:t>
            </a:r>
          </a:p>
        </p:txBody>
      </p:sp>
      <p:sp>
        <p:nvSpPr>
          <p:cNvPr id="104" name="text-104: readelf · nm · size"/>
          <p:cNvSpPr txBox="1"/>
          <p:nvPr/>
        </p:nvSpPr>
        <p:spPr>
          <a:xfrm>
            <a:off x="356346" y="4612437"/>
            <a:ext cx="1040924" cy="1788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readelf · nm · size</a:t>
            </a:r>
          </a:p>
        </p:txBody>
      </p:sp>
      <p:sp>
        <p:nvSpPr>
          <p:cNvPr id="105" name="text-105: ELF → bin / memh / dump"/>
          <p:cNvSpPr txBox="1"/>
          <p:nvPr/>
        </p:nvSpPr>
        <p:spPr>
          <a:xfrm>
            <a:off x="114955" y="4739742"/>
            <a:ext cx="1523706" cy="1788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ELF → bin / memh / dump</a:t>
            </a:r>
          </a:p>
        </p:txBody>
      </p:sp>
      <p:sp>
        <p:nvSpPr>
          <p:cNvPr id="106" name="rect-106"/>
          <p:cNvSpPr/>
          <p:nvPr/>
        </p:nvSpPr>
        <p:spPr>
          <a:xfrm>
            <a:off x="150317" y="6229045"/>
            <a:ext cx="1453032" cy="681990"/>
          </a:xfrm>
          <a:prstGeom prst="rect">
            <a:avLst/>
          </a:prstGeom>
          <a:solidFill>
            <a:srgbClr val="FFFFFF"/>
          </a:solidFill>
          <a:ln w="914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" name="text-107: 装载 / 调试"/>
          <p:cNvSpPr txBox="1"/>
          <p:nvPr/>
        </p:nvSpPr>
        <p:spPr>
          <a:xfrm>
            <a:off x="491462" y="6250991"/>
            <a:ext cx="770692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装载 / 调试</a:t>
            </a:r>
          </a:p>
        </p:txBody>
      </p:sp>
      <p:sp>
        <p:nvSpPr>
          <p:cNvPr id="108" name="text-108: GDB · OpenOCD"/>
          <p:cNvSpPr txBox="1"/>
          <p:nvPr/>
        </p:nvSpPr>
        <p:spPr>
          <a:xfrm>
            <a:off x="359890" y="6389268"/>
            <a:ext cx="1033836" cy="18694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GDB · OpenOCD</a:t>
            </a:r>
          </a:p>
        </p:txBody>
      </p:sp>
      <p:sp>
        <p:nvSpPr>
          <p:cNvPr id="109" name="text-109: flash_disk.sh / .gdb"/>
          <p:cNvSpPr txBox="1"/>
          <p:nvPr/>
        </p:nvSpPr>
        <p:spPr>
          <a:xfrm>
            <a:off x="284079" y="6516624"/>
            <a:ext cx="1185458" cy="18694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flash_disk.sh / .gdb</a:t>
            </a:r>
          </a:p>
        </p:txBody>
      </p:sp>
      <p:sp>
        <p:nvSpPr>
          <p:cNvPr id="110" name="text-110: JTAG · ELF / 介质镜像"/>
          <p:cNvSpPr txBox="1"/>
          <p:nvPr/>
        </p:nvSpPr>
        <p:spPr>
          <a:xfrm>
            <a:off x="247789" y="6643929"/>
            <a:ext cx="1258038" cy="18694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· ELF / 介质镜像</a:t>
            </a:r>
          </a:p>
        </p:txBody>
      </p:sp>
      <p:sp>
        <p:nvSpPr>
          <p:cNvPr id="111" name="rect-111"/>
          <p:cNvSpPr/>
          <p:nvPr/>
        </p:nvSpPr>
        <p:spPr>
          <a:xfrm>
            <a:off x="9820402" y="1000303"/>
            <a:ext cx="1503121" cy="704748"/>
          </a:xfrm>
          <a:prstGeom prst="rect">
            <a:avLst/>
          </a:prstGeom>
          <a:solidFill>
            <a:srgbClr val="FFFFFF"/>
          </a:solidFill>
          <a:ln w="914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text-112: Boot ROM"/>
          <p:cNvSpPr txBox="1"/>
          <p:nvPr/>
        </p:nvSpPr>
        <p:spPr>
          <a:xfrm>
            <a:off x="10175510" y="1022248"/>
            <a:ext cx="792956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113" name="text-113: LLC → SPM / 栈"/>
          <p:cNvSpPr txBox="1"/>
          <p:nvPr/>
        </p:nvSpPr>
        <p:spPr>
          <a:xfrm>
            <a:off x="10100500" y="1166012"/>
            <a:ext cx="942975" cy="1788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→ SPM / 栈</a:t>
            </a:r>
          </a:p>
        </p:txBody>
      </p:sp>
      <p:sp>
        <p:nvSpPr>
          <p:cNvPr id="114" name="text-114: 启动模式 · 介质 / 调试"/>
          <p:cNvSpPr txBox="1"/>
          <p:nvPr/>
        </p:nvSpPr>
        <p:spPr>
          <a:xfrm>
            <a:off x="9965607" y="1293317"/>
            <a:ext cx="1212763" cy="1788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启动模式 · 介质 / 调试</a:t>
            </a:r>
          </a:p>
        </p:txBody>
      </p:sp>
      <p:sp>
        <p:nvSpPr>
          <p:cNvPr id="115" name="text-115: cheshire_bootrom.S / .c"/>
          <p:cNvSpPr txBox="1"/>
          <p:nvPr/>
        </p:nvSpPr>
        <p:spPr>
          <a:xfrm>
            <a:off x="9889423" y="1420622"/>
            <a:ext cx="1365131" cy="1788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cheshire_bootrom.S / .c</a:t>
            </a:r>
          </a:p>
        </p:txBody>
      </p:sp>
      <p:sp>
        <p:nvSpPr>
          <p:cNvPr id="116" name="rect-116"/>
          <p:cNvSpPr/>
          <p:nvPr/>
        </p:nvSpPr>
        <p:spPr>
          <a:xfrm>
            <a:off x="9820402" y="2364283"/>
            <a:ext cx="1503121" cy="863905"/>
          </a:xfrm>
          <a:prstGeom prst="rect">
            <a:avLst/>
          </a:prstGeom>
          <a:solidFill>
            <a:srgbClr val="FFFFFF"/>
          </a:solidFill>
          <a:ln w="914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" name="text-117: 应用 crt0 / 链接布局"/>
          <p:cNvSpPr txBox="1"/>
          <p:nvPr/>
        </p:nvSpPr>
        <p:spPr>
          <a:xfrm>
            <a:off x="9913604" y="2386279"/>
            <a:ext cx="131676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应用 crt0 / 链接布局</a:t>
            </a:r>
          </a:p>
        </p:txBody>
      </p:sp>
      <p:sp>
        <p:nvSpPr>
          <p:cNvPr id="118" name="text-118: sp / gp · BSS · FS"/>
          <p:cNvSpPr txBox="1"/>
          <p:nvPr/>
        </p:nvSpPr>
        <p:spPr>
          <a:xfrm>
            <a:off x="10072430" y="2530043"/>
            <a:ext cx="999117" cy="1788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 / gp · BSS · FS</a:t>
            </a:r>
          </a:p>
        </p:txBody>
      </p:sp>
      <p:sp>
        <p:nvSpPr>
          <p:cNvPr id="119" name="text-119: trap 入口 / _exit"/>
          <p:cNvSpPr txBox="1"/>
          <p:nvPr/>
        </p:nvSpPr>
        <p:spPr>
          <a:xfrm>
            <a:off x="10101370" y="2657348"/>
            <a:ext cx="941237" cy="1788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trap 入口 / _exit</a:t>
            </a:r>
          </a:p>
        </p:txBody>
      </p:sp>
      <p:sp>
        <p:nvSpPr>
          <p:cNvPr id="120" name="text-120: smp.h：hart 协调辅助"/>
          <p:cNvSpPr txBox="1"/>
          <p:nvPr/>
        </p:nvSpPr>
        <p:spPr>
          <a:xfrm>
            <a:off x="9949204" y="2784653"/>
            <a:ext cx="1245568" cy="1788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smp.h：hart 协调辅助</a:t>
            </a:r>
          </a:p>
        </p:txBody>
      </p:sp>
      <p:sp>
        <p:nvSpPr>
          <p:cNvPr id="121" name="text-121: link/*.ld · params.h"/>
          <p:cNvSpPr txBox="1"/>
          <p:nvPr/>
        </p:nvSpPr>
        <p:spPr>
          <a:xfrm>
            <a:off x="10017522" y="2911958"/>
            <a:ext cx="1108932" cy="1788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link/*.ld · params.h</a:t>
            </a:r>
          </a:p>
        </p:txBody>
      </p:sp>
      <p:sp>
        <p:nvSpPr>
          <p:cNvPr id="122" name="rect-122"/>
          <p:cNvSpPr/>
          <p:nvPr/>
        </p:nvSpPr>
        <p:spPr>
          <a:xfrm>
            <a:off x="9820402" y="3637382"/>
            <a:ext cx="1503121" cy="613816"/>
          </a:xfrm>
          <a:prstGeom prst="rect">
            <a:avLst/>
          </a:prstGeom>
          <a:solidFill>
            <a:srgbClr val="F5F5F6"/>
          </a:solidFill>
          <a:ln w="9144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" name="text-123: 平台初始化缺口"/>
          <p:cNvSpPr txBox="1"/>
          <p:nvPr/>
        </p:nvSpPr>
        <p:spPr>
          <a:xfrm>
            <a:off x="10063988" y="3659378"/>
            <a:ext cx="101600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平台初始化缺口</a:t>
            </a:r>
          </a:p>
        </p:txBody>
      </p:sp>
      <p:sp>
        <p:nvSpPr>
          <p:cNvPr id="124" name="text-124: DDR / 时钟 / PAD"/>
          <p:cNvSpPr txBox="1"/>
          <p:nvPr/>
        </p:nvSpPr>
        <p:spPr>
          <a:xfrm>
            <a:off x="10034044" y="3797656"/>
            <a:ext cx="1075888" cy="18694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/ 时钟 / PAD</a:t>
            </a:r>
          </a:p>
        </p:txBody>
      </p:sp>
      <p:sp>
        <p:nvSpPr>
          <p:cNvPr id="125" name="text-125: 需平台实现与独立验收"/>
          <p:cNvSpPr txBox="1"/>
          <p:nvPr/>
        </p:nvSpPr>
        <p:spPr>
          <a:xfrm>
            <a:off x="9929368" y="3924960"/>
            <a:ext cx="1285240" cy="18694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需平台实现与独立验收</a:t>
            </a:r>
          </a:p>
        </p:txBody>
      </p:sp>
      <p:sp>
        <p:nvSpPr>
          <p:cNvPr id="126" name="rect-126"/>
          <p:cNvSpPr/>
          <p:nvPr/>
        </p:nvSpPr>
        <p:spPr>
          <a:xfrm>
            <a:off x="9820402" y="4728616"/>
            <a:ext cx="1503121" cy="636524"/>
          </a:xfrm>
          <a:prstGeom prst="rect">
            <a:avLst/>
          </a:prstGeom>
          <a:solidFill>
            <a:srgbClr val="FFFFFF"/>
          </a:solidFill>
          <a:ln w="914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" name="text-127: ZSL / 介质装载"/>
          <p:cNvSpPr txBox="1"/>
          <p:nvPr/>
        </p:nvSpPr>
        <p:spPr>
          <a:xfrm>
            <a:off x="10072418" y="4750562"/>
            <a:ext cx="999141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ZSL / 介质装载</a:t>
            </a:r>
          </a:p>
        </p:txBody>
      </p:sp>
      <p:sp>
        <p:nvSpPr>
          <p:cNvPr id="128" name="text-128: GPT + ROM 读回调"/>
          <p:cNvSpPr txBox="1"/>
          <p:nvPr/>
        </p:nvSpPr>
        <p:spPr>
          <a:xfrm>
            <a:off x="10013629" y="4894377"/>
            <a:ext cx="1116719" cy="1788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GPT + ROM 读回调</a:t>
            </a:r>
          </a:p>
        </p:txBody>
      </p:sp>
      <p:sp>
        <p:nvSpPr>
          <p:cNvPr id="129" name="text-129: DTB / firmware → DRAM"/>
          <p:cNvSpPr txBox="1"/>
          <p:nvPr/>
        </p:nvSpPr>
        <p:spPr>
          <a:xfrm>
            <a:off x="9855208" y="5021682"/>
            <a:ext cx="1433560" cy="1788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DTB / firmware → DRAM</a:t>
            </a:r>
          </a:p>
        </p:txBody>
      </p:sp>
      <p:sp>
        <p:nvSpPr>
          <p:cNvPr id="130" name="text-130: sw/boot/zsl.c"/>
          <p:cNvSpPr txBox="1"/>
          <p:nvPr/>
        </p:nvSpPr>
        <p:spPr>
          <a:xfrm>
            <a:off x="10161119" y="5148986"/>
            <a:ext cx="821738" cy="1788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sw/boot/zsl.c</a:t>
            </a:r>
          </a:p>
        </p:txBody>
      </p:sp>
      <p:sp>
        <p:nvSpPr>
          <p:cNvPr id="131" name="rect-131"/>
          <p:cNvSpPr/>
          <p:nvPr/>
        </p:nvSpPr>
        <p:spPr>
          <a:xfrm>
            <a:off x="9820402" y="6047181"/>
            <a:ext cx="1503121" cy="681990"/>
          </a:xfrm>
          <a:prstGeom prst="rect">
            <a:avLst/>
          </a:prstGeom>
          <a:solidFill>
            <a:srgbClr val="FFFFFF"/>
          </a:solidFill>
          <a:ln w="914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2" name="text-132: 链接后运行支持"/>
          <p:cNvSpPr txBox="1"/>
          <p:nvPr/>
        </p:nvSpPr>
        <p:spPr>
          <a:xfrm>
            <a:off x="10063988" y="6069127"/>
            <a:ext cx="101600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链接后运行支持</a:t>
            </a:r>
          </a:p>
        </p:txBody>
      </p:sp>
      <p:sp>
        <p:nvSpPr>
          <p:cNvPr id="133" name="text-133: 工具链 libgcc / libc"/>
          <p:cNvSpPr txBox="1"/>
          <p:nvPr/>
        </p:nvSpPr>
        <p:spPr>
          <a:xfrm>
            <a:off x="10024312" y="6212891"/>
            <a:ext cx="1095351" cy="1788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工具链 libgcc / libc</a:t>
            </a:r>
          </a:p>
        </p:txBody>
      </p:sp>
      <p:sp>
        <p:nvSpPr>
          <p:cNvPr id="134" name="text-134: 按需要引入目标代码"/>
          <p:cNvSpPr txBox="1"/>
          <p:nvPr/>
        </p:nvSpPr>
        <p:spPr>
          <a:xfrm>
            <a:off x="10013188" y="6340196"/>
            <a:ext cx="1117600" cy="1788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按需要引入目标代码</a:t>
            </a:r>
          </a:p>
        </p:txBody>
      </p:sp>
      <p:sp>
        <p:nvSpPr>
          <p:cNvPr id="135" name="text-135: 系统调用 / 堆未证完整"/>
          <p:cNvSpPr txBox="1"/>
          <p:nvPr/>
        </p:nvSpPr>
        <p:spPr>
          <a:xfrm>
            <a:off x="9956244" y="6467551"/>
            <a:ext cx="1231487" cy="1788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系统调用 / 堆未证完整</a:t>
            </a:r>
          </a:p>
        </p:txBody>
      </p:sp>
      <p:sp>
        <p:nvSpPr>
          <p:cNvPr id="136" name="rect-136"/>
          <p:cNvSpPr/>
          <p:nvPr/>
        </p:nvSpPr>
        <p:spPr>
          <a:xfrm>
            <a:off x="11924792" y="1000303"/>
            <a:ext cx="2354885" cy="1182167"/>
          </a:xfrm>
          <a:prstGeom prst="rect">
            <a:avLst/>
          </a:prstGeom>
          <a:solidFill>
            <a:srgbClr val="FFFFFF"/>
          </a:solidFill>
          <a:ln w="914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7" name="text-137: 主机：CVA6 SDK"/>
          <p:cNvSpPr txBox="1"/>
          <p:nvPr/>
        </p:nvSpPr>
        <p:spPr>
          <a:xfrm>
            <a:off x="12525400" y="1022248"/>
            <a:ext cx="1153668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主机：CVA6 SDK</a:t>
            </a:r>
          </a:p>
        </p:txBody>
      </p:sp>
      <p:sp>
        <p:nvSpPr>
          <p:cNvPr id="138" name="text-138: Ara Makefile → SDK / Buildroot"/>
          <p:cNvSpPr txBox="1"/>
          <p:nvPr/>
        </p:nvSpPr>
        <p:spPr>
          <a:xfrm>
            <a:off x="12207468" y="1166012"/>
            <a:ext cx="1789533" cy="1788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Makefile → SDK / Buildroot</a:t>
            </a:r>
          </a:p>
        </p:txBody>
      </p:sp>
      <p:sp>
        <p:nvSpPr>
          <p:cNvPr id="139" name="text-139: Linux 交叉工具链 / rootfs"/>
          <p:cNvSpPr txBox="1"/>
          <p:nvPr/>
        </p:nvSpPr>
        <p:spPr>
          <a:xfrm>
            <a:off x="12395086" y="1293317"/>
            <a:ext cx="1414296" cy="1788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Linux 交叉工具链 / rootfs</a:t>
            </a:r>
          </a:p>
        </p:txBody>
      </p:sp>
      <p:sp>
        <p:nvSpPr>
          <p:cNvPr id="140" name="text-140: Linux / BusyBox 配置 · DTS → DTB"/>
          <p:cNvSpPr txBox="1"/>
          <p:nvPr/>
        </p:nvSpPr>
        <p:spPr>
          <a:xfrm>
            <a:off x="12150711" y="1420622"/>
            <a:ext cx="1903047" cy="1788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Linux / BusyBox 配置 · DTS → DTB</a:t>
            </a:r>
          </a:p>
        </p:txBody>
      </p:sp>
      <p:sp>
        <p:nvSpPr>
          <p:cNvPr id="141" name="text-141: U-Boot 源码 → mkimage（主机程序）"/>
          <p:cNvSpPr txBox="1"/>
          <p:nvPr/>
        </p:nvSpPr>
        <p:spPr>
          <a:xfrm>
            <a:off x="12052659" y="1547978"/>
            <a:ext cx="2099151" cy="1788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U-Boot 源码 → mkimage（主机程序）</a:t>
            </a:r>
          </a:p>
        </p:txBody>
      </p:sp>
      <p:sp>
        <p:nvSpPr>
          <p:cNvPr id="142" name="text-142: ELF / Image → uImage · fw_payload"/>
          <p:cNvSpPr txBox="1"/>
          <p:nvPr/>
        </p:nvSpPr>
        <p:spPr>
          <a:xfrm>
            <a:off x="12094886" y="1675282"/>
            <a:ext cx="2014696" cy="1788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ELF / Image → uImage · fw_payload</a:t>
            </a:r>
          </a:p>
        </p:txBody>
      </p:sp>
      <p:sp>
        <p:nvSpPr>
          <p:cNvPr id="143" name="text-143: Spike / riscv-tests：可选主机入口"/>
          <p:cNvSpPr txBox="1"/>
          <p:nvPr/>
        </p:nvSpPr>
        <p:spPr>
          <a:xfrm>
            <a:off x="12186283" y="1802587"/>
            <a:ext cx="1831904" cy="1788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Spike / riscv-tests：可选主机入口</a:t>
            </a:r>
          </a:p>
        </p:txBody>
      </p:sp>
      <p:sp>
        <p:nvSpPr>
          <p:cNvPr id="144" name="rect-144"/>
          <p:cNvSpPr/>
          <p:nvPr/>
        </p:nvSpPr>
        <p:spPr>
          <a:xfrm>
            <a:off x="11974881" y="2728062"/>
            <a:ext cx="2204568" cy="522884"/>
          </a:xfrm>
          <a:prstGeom prst="rect">
            <a:avLst/>
          </a:prstGeom>
          <a:solidFill>
            <a:srgbClr val="FFFFFF"/>
          </a:solidFill>
          <a:ln w="914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5" name="text-145: 目标：用户空间 / rootfs"/>
          <p:cNvSpPr txBox="1"/>
          <p:nvPr/>
        </p:nvSpPr>
        <p:spPr>
          <a:xfrm>
            <a:off x="12307899" y="2750007"/>
            <a:ext cx="1538581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目标：用户空间 / rootfs</a:t>
            </a:r>
          </a:p>
        </p:txBody>
      </p:sp>
      <p:sp>
        <p:nvSpPr>
          <p:cNvPr id="146" name="text-146: BusyBox · 应用 / 可选 RVV benchmark"/>
          <p:cNvSpPr txBox="1"/>
          <p:nvPr/>
        </p:nvSpPr>
        <p:spPr>
          <a:xfrm>
            <a:off x="12026825" y="2893771"/>
            <a:ext cx="2100731" cy="1788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BusyBox · 应用 / 可选 RVV benchmark</a:t>
            </a:r>
          </a:p>
        </p:txBody>
      </p:sp>
      <p:sp>
        <p:nvSpPr>
          <p:cNvPr id="147" name="rect-147"/>
          <p:cNvSpPr/>
          <p:nvPr/>
        </p:nvSpPr>
        <p:spPr>
          <a:xfrm>
            <a:off x="11974881" y="3705606"/>
            <a:ext cx="2204568" cy="636524"/>
          </a:xfrm>
          <a:prstGeom prst="rect">
            <a:avLst/>
          </a:prstGeom>
          <a:solidFill>
            <a:srgbClr val="FFFFFF"/>
          </a:solidFill>
          <a:ln w="914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8" name="text-148: Linux 内核 / 平台驱动"/>
          <p:cNvSpPr txBox="1"/>
          <p:nvPr/>
        </p:nvSpPr>
        <p:spPr>
          <a:xfrm>
            <a:off x="12372983" y="3727552"/>
            <a:ext cx="1408414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Linux 内核 / 平台驱动</a:t>
            </a:r>
          </a:p>
        </p:txBody>
      </p:sp>
      <p:sp>
        <p:nvSpPr>
          <p:cNvPr id="149" name="text-149: 调度 / 内存管理 / 系统调用"/>
          <p:cNvSpPr txBox="1"/>
          <p:nvPr/>
        </p:nvSpPr>
        <p:spPr>
          <a:xfrm>
            <a:off x="12315500" y="3865829"/>
            <a:ext cx="1523381" cy="18694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调度 / 内存管理 / 系统调用</a:t>
            </a:r>
          </a:p>
        </p:txBody>
      </p:sp>
      <p:sp>
        <p:nvSpPr>
          <p:cNvPr id="150" name="text-150: 设备树 · IRQ / timer / 设备驱动"/>
          <p:cNvSpPr txBox="1"/>
          <p:nvPr/>
        </p:nvSpPr>
        <p:spPr>
          <a:xfrm>
            <a:off x="12192321" y="3993185"/>
            <a:ext cx="1769737" cy="18694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设备树 · IRQ / timer / 设备驱动</a:t>
            </a:r>
          </a:p>
        </p:txBody>
      </p:sp>
      <p:sp>
        <p:nvSpPr>
          <p:cNvPr id="151" name="rect-151"/>
          <p:cNvSpPr/>
          <p:nvPr/>
        </p:nvSpPr>
        <p:spPr>
          <a:xfrm>
            <a:off x="11974881" y="4819548"/>
            <a:ext cx="2204568" cy="522884"/>
          </a:xfrm>
          <a:prstGeom prst="rect">
            <a:avLst/>
          </a:prstGeom>
          <a:solidFill>
            <a:srgbClr val="FFFFFF"/>
          </a:solidFill>
          <a:ln w="914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2" name="text-152: OpenSBI · M 模式固件"/>
          <p:cNvSpPr txBox="1"/>
          <p:nvPr/>
        </p:nvSpPr>
        <p:spPr>
          <a:xfrm>
            <a:off x="12334470" y="4841545"/>
            <a:ext cx="148544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OpenSBI · M 模式固件</a:t>
            </a:r>
          </a:p>
        </p:txBody>
      </p:sp>
      <p:sp>
        <p:nvSpPr>
          <p:cNvPr id="153" name="text-153: SBI 服务；fw_payload 含 U-Boot"/>
          <p:cNvSpPr txBox="1"/>
          <p:nvPr/>
        </p:nvSpPr>
        <p:spPr>
          <a:xfrm>
            <a:off x="12170339" y="4985309"/>
            <a:ext cx="1813703" cy="1788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SBI 服务；fw_payload 含 U-Boot</a:t>
            </a:r>
          </a:p>
        </p:txBody>
      </p:sp>
      <p:sp>
        <p:nvSpPr>
          <p:cNvPr id="154" name="rect-154"/>
          <p:cNvSpPr/>
          <p:nvPr/>
        </p:nvSpPr>
        <p:spPr>
          <a:xfrm>
            <a:off x="11974881" y="5797093"/>
            <a:ext cx="2204568" cy="522884"/>
          </a:xfrm>
          <a:prstGeom prst="rect">
            <a:avLst/>
          </a:prstGeom>
          <a:solidFill>
            <a:srgbClr val="FFFFFF"/>
          </a:solidFill>
          <a:ln w="914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5" name="text-155: U-Boot · 启动程序"/>
          <p:cNvSpPr txBox="1"/>
          <p:nvPr/>
        </p:nvSpPr>
        <p:spPr>
          <a:xfrm>
            <a:off x="12463764" y="5819089"/>
            <a:ext cx="1226852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U-Boot · 启动程序</a:t>
            </a:r>
          </a:p>
        </p:txBody>
      </p:sp>
      <p:sp>
        <p:nvSpPr>
          <p:cNvPr id="156" name="text-156: 装载 Linux / DTB · 移交执行"/>
          <p:cNvSpPr txBox="1"/>
          <p:nvPr/>
        </p:nvSpPr>
        <p:spPr>
          <a:xfrm>
            <a:off x="12283833" y="5957367"/>
            <a:ext cx="1586714" cy="18694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装载 Linux / DTB · 移交执行</a:t>
            </a:r>
          </a:p>
        </p:txBody>
      </p:sp>
      <p:sp>
        <p:nvSpPr>
          <p:cNvPr id="157" name="rect-157"/>
          <p:cNvSpPr/>
          <p:nvPr/>
        </p:nvSpPr>
        <p:spPr>
          <a:xfrm>
            <a:off x="11974881" y="6774637"/>
            <a:ext cx="2204568" cy="727456"/>
          </a:xfrm>
          <a:prstGeom prst="rect">
            <a:avLst/>
          </a:prstGeom>
          <a:solidFill>
            <a:srgbClr val="F5F5F6"/>
          </a:solidFill>
          <a:ln w="914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8" name="text-158: 支持边界"/>
          <p:cNvSpPr txBox="1"/>
          <p:nvPr/>
        </p:nvSpPr>
        <p:spPr>
          <a:xfrm>
            <a:off x="12759690" y="6796634"/>
            <a:ext cx="635000" cy="2032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支持边界</a:t>
            </a:r>
          </a:p>
        </p:txBody>
      </p:sp>
      <p:sp>
        <p:nvSpPr>
          <p:cNvPr id="159" name="text-159: 源码 / 配方存在，运行待验收"/>
          <p:cNvSpPr txBox="1"/>
          <p:nvPr/>
        </p:nvSpPr>
        <p:spPr>
          <a:xfrm>
            <a:off x="12293806" y="6940398"/>
            <a:ext cx="1566767" cy="1788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源码 / 配方存在，运行待验收</a:t>
            </a:r>
          </a:p>
        </p:txBody>
      </p:sp>
      <p:sp>
        <p:nvSpPr>
          <p:cNvPr id="160" name="text-160: 版本 / DTS / ISA / 向量上下文待验收"/>
          <p:cNvSpPr txBox="1"/>
          <p:nvPr/>
        </p:nvSpPr>
        <p:spPr>
          <a:xfrm>
            <a:off x="12099540" y="7067702"/>
            <a:ext cx="1955300" cy="1788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版本 / DTS / ISA / 向量上下文待验收</a:t>
            </a:r>
          </a:p>
        </p:txBody>
      </p:sp>
      <p:sp>
        <p:nvSpPr>
          <p:cNvPr id="161" name="text-161: RTOS：待移植，未展开为现有栈"/>
          <p:cNvSpPr txBox="1"/>
          <p:nvPr/>
        </p:nvSpPr>
        <p:spPr>
          <a:xfrm>
            <a:off x="12208708" y="7195007"/>
            <a:ext cx="1736963" cy="1788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RTOS：待移植，未展开为现有栈</a:t>
            </a:r>
          </a:p>
        </p:txBody>
      </p:sp>
      <p:sp>
        <p:nvSpPr>
          <p:cNvPr id="162" name="host_build"/>
          <p:cNvSpPr/>
          <p:nvPr/>
        </p:nvSpPr>
        <p:spPr>
          <a:xfrm>
            <a:off x="876808" y="1500429"/>
            <a:ext cx="1" cy="500126"/>
          </a:xfrm>
          <a:custGeom>
            <a:avLst/>
            <a:gdLst/>
            <a:ahLst/>
            <a:cxnLst/>
            <a:rect l="0" t="0" r="r" b="b"/>
            <a:pathLst>
              <a:path w="1" h="500126" fill="none">
                <a:moveTo>
                  <a:pt x="0" y="0"/>
                </a:moveTo>
                <a:lnTo>
                  <a:pt x="0" y="500126"/>
                </a:lnTo>
              </a:path>
            </a:pathLst>
          </a:custGeom>
          <a:noFill/>
          <a:ln w="12192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3" name="text-163: 构建"/>
          <p:cNvSpPr txBox="1"/>
          <p:nvPr/>
        </p:nvSpPr>
        <p:spPr>
          <a:xfrm>
            <a:off x="894588" y="1657096"/>
            <a:ext cx="335280" cy="1788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构建</a:t>
            </a:r>
          </a:p>
        </p:txBody>
      </p:sp>
      <p:sp>
        <p:nvSpPr>
          <p:cNvPr id="164" name="link_elf"/>
          <p:cNvSpPr/>
          <p:nvPr/>
        </p:nvSpPr>
        <p:spPr>
          <a:xfrm>
            <a:off x="1603350" y="1204874"/>
            <a:ext cx="551129" cy="977544"/>
          </a:xfrm>
          <a:custGeom>
            <a:avLst/>
            <a:gdLst/>
            <a:ahLst/>
            <a:cxnLst/>
            <a:rect l="0" t="0" r="r" b="b"/>
            <a:pathLst>
              <a:path w="551129" h="977544" fill="none">
                <a:moveTo>
                  <a:pt x="0" y="977544"/>
                </a:moveTo>
                <a:lnTo>
                  <a:pt x="225450" y="977544"/>
                </a:lnTo>
                <a:lnTo>
                  <a:pt x="225450" y="0"/>
                </a:lnTo>
                <a:lnTo>
                  <a:pt x="551129" y="0"/>
                </a:lnTo>
              </a:path>
            </a:pathLst>
          </a:custGeom>
          <a:noFill/>
          <a:ln w="12192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5" name="text-165: ELF"/>
          <p:cNvSpPr txBox="1"/>
          <p:nvPr/>
        </p:nvSpPr>
        <p:spPr>
          <a:xfrm>
            <a:off x="1673826" y="1011428"/>
            <a:ext cx="289933" cy="1788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ELF</a:t>
            </a:r>
          </a:p>
        </p:txBody>
      </p:sp>
      <p:sp>
        <p:nvSpPr>
          <p:cNvPr id="166" name="elf_inspect"/>
          <p:cNvSpPr/>
          <p:nvPr/>
        </p:nvSpPr>
        <p:spPr>
          <a:xfrm>
            <a:off x="110236" y="2409749"/>
            <a:ext cx="40081" cy="2227936"/>
          </a:xfrm>
          <a:custGeom>
            <a:avLst/>
            <a:gdLst/>
            <a:ahLst/>
            <a:cxnLst/>
            <a:rect l="0" t="0" r="r" b="b"/>
            <a:pathLst>
              <a:path w="40081" h="2227936" fill="none">
                <a:moveTo>
                  <a:pt x="40081" y="0"/>
                </a:moveTo>
                <a:lnTo>
                  <a:pt x="0" y="0"/>
                </a:lnTo>
                <a:lnTo>
                  <a:pt x="0" y="2227936"/>
                </a:lnTo>
                <a:lnTo>
                  <a:pt x="40081" y="2227936"/>
                </a:lnTo>
              </a:path>
            </a:pathLst>
          </a:custGeom>
          <a:noFill/>
          <a:ln w="12192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7" name="text-167: ELF 产物"/>
          <p:cNvSpPr txBox="1"/>
          <p:nvPr/>
        </p:nvSpPr>
        <p:spPr>
          <a:xfrm>
            <a:off x="227780" y="4075938"/>
            <a:ext cx="546521" cy="1788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ELF 产物</a:t>
            </a:r>
          </a:p>
        </p:txBody>
      </p:sp>
      <p:sp>
        <p:nvSpPr>
          <p:cNvPr id="168" name="headers"/>
          <p:cNvSpPr/>
          <p:nvPr/>
        </p:nvSpPr>
        <p:spPr>
          <a:xfrm>
            <a:off x="1603350" y="3591916"/>
            <a:ext cx="601218" cy="1818691"/>
          </a:xfrm>
          <a:custGeom>
            <a:avLst/>
            <a:gdLst/>
            <a:ahLst/>
            <a:cxnLst/>
            <a:rect l="0" t="0" r="r" b="b"/>
            <a:pathLst>
              <a:path w="601218" h="1818691" fill="none">
                <a:moveTo>
                  <a:pt x="0" y="0"/>
                </a:moveTo>
                <a:lnTo>
                  <a:pt x="275539" y="0"/>
                </a:lnTo>
                <a:lnTo>
                  <a:pt x="275539" y="1818691"/>
                </a:lnTo>
                <a:lnTo>
                  <a:pt x="601218" y="1818691"/>
                </a:lnTo>
              </a:path>
            </a:pathLst>
          </a:custGeom>
          <a:noFill/>
          <a:ln w="12192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9" name="text-169: 生成 C 宏"/>
          <p:cNvSpPr txBox="1"/>
          <p:nvPr/>
        </p:nvSpPr>
        <p:spPr>
          <a:xfrm>
            <a:off x="1290950" y="5198974"/>
            <a:ext cx="587939" cy="1788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生成 C 宏</a:t>
            </a:r>
          </a:p>
        </p:txBody>
      </p:sp>
      <p:sp>
        <p:nvSpPr>
          <p:cNvPr id="170" name="load"/>
          <p:cNvSpPr/>
          <p:nvPr/>
        </p:nvSpPr>
        <p:spPr>
          <a:xfrm>
            <a:off x="876808" y="6911035"/>
            <a:ext cx="1277671" cy="431952"/>
          </a:xfrm>
          <a:custGeom>
            <a:avLst/>
            <a:gdLst/>
            <a:ahLst/>
            <a:cxnLst/>
            <a:rect l="0" t="0" r="r" b="b"/>
            <a:pathLst>
              <a:path w="1277671" h="431952" fill="none">
                <a:moveTo>
                  <a:pt x="0" y="0"/>
                </a:moveTo>
                <a:lnTo>
                  <a:pt x="0" y="431952"/>
                </a:lnTo>
                <a:lnTo>
                  <a:pt x="1277671" y="431952"/>
                </a:lnTo>
              </a:path>
            </a:pathLst>
          </a:custGeom>
          <a:noFill/>
          <a:ln w="12192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1" name="text-171: 装载 / 调试访问"/>
          <p:cNvSpPr txBox="1"/>
          <p:nvPr/>
        </p:nvSpPr>
        <p:spPr>
          <a:xfrm>
            <a:off x="949811" y="7144969"/>
            <a:ext cx="896207" cy="1788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装载 / 调试访问</a:t>
            </a:r>
          </a:p>
        </p:txBody>
      </p:sp>
      <p:sp>
        <p:nvSpPr>
          <p:cNvPr id="172" name="use_printf"/>
          <p:cNvSpPr/>
          <p:nvPr/>
        </p:nvSpPr>
        <p:spPr>
          <a:xfrm>
            <a:off x="2805836" y="1409497"/>
            <a:ext cx="1" cy="591058"/>
          </a:xfrm>
          <a:custGeom>
            <a:avLst/>
            <a:gdLst/>
            <a:ahLst/>
            <a:cxnLst/>
            <a:rect l="0" t="0" r="r" b="b"/>
            <a:pathLst>
              <a:path w="1" h="591058" fill="none">
                <a:moveTo>
                  <a:pt x="0" y="0"/>
                </a:moveTo>
                <a:lnTo>
                  <a:pt x="0" y="591058"/>
                </a:lnTo>
              </a:path>
            </a:pathLst>
          </a:custGeom>
          <a:noFill/>
          <a:ln w="12192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3" name="text-173: 调用"/>
          <p:cNvSpPr txBox="1"/>
          <p:nvPr/>
        </p:nvSpPr>
        <p:spPr>
          <a:xfrm>
            <a:off x="2793492" y="1825295"/>
            <a:ext cx="335280" cy="1788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调用</a:t>
            </a:r>
          </a:p>
        </p:txBody>
      </p:sp>
      <p:sp>
        <p:nvSpPr>
          <p:cNvPr id="174" name="use_gpt"/>
          <p:cNvSpPr/>
          <p:nvPr/>
        </p:nvSpPr>
        <p:spPr>
          <a:xfrm>
            <a:off x="4258869" y="1409497"/>
            <a:ext cx="1" cy="591058"/>
          </a:xfrm>
          <a:custGeom>
            <a:avLst/>
            <a:gdLst/>
            <a:ahLst/>
            <a:cxnLst/>
            <a:rect l="0" t="0" r="r" b="b"/>
            <a:pathLst>
              <a:path w="1" h="591058" fill="none">
                <a:moveTo>
                  <a:pt x="0" y="0"/>
                </a:moveTo>
                <a:lnTo>
                  <a:pt x="0" y="591058"/>
                </a:lnTo>
              </a:path>
            </a:pathLst>
          </a:custGeom>
          <a:noFill/>
          <a:ln w="12192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5" name="text-175: 调用"/>
          <p:cNvSpPr txBox="1"/>
          <p:nvPr/>
        </p:nvSpPr>
        <p:spPr>
          <a:xfrm>
            <a:off x="4246524" y="1825295"/>
            <a:ext cx="335280" cy="1788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调用</a:t>
            </a:r>
          </a:p>
        </p:txBody>
      </p:sp>
      <p:sp>
        <p:nvSpPr>
          <p:cNvPr id="176" name="direct_event"/>
          <p:cNvSpPr/>
          <p:nvPr/>
        </p:nvSpPr>
        <p:spPr>
          <a:xfrm>
            <a:off x="5711850" y="1409497"/>
            <a:ext cx="1" cy="2568905"/>
          </a:xfrm>
          <a:custGeom>
            <a:avLst/>
            <a:gdLst/>
            <a:ahLst/>
            <a:cxnLst/>
            <a:rect l="0" t="0" r="r" b="b"/>
            <a:pathLst>
              <a:path w="1" h="2568905" fill="none">
                <a:moveTo>
                  <a:pt x="0" y="0"/>
                </a:moveTo>
                <a:lnTo>
                  <a:pt x="0" y="2568905"/>
                </a:lnTo>
              </a:path>
            </a:pathLst>
          </a:custGeom>
          <a:noFill/>
          <a:ln w="12192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7" name="text-177: 直接调用"/>
          <p:cNvSpPr txBox="1"/>
          <p:nvPr/>
        </p:nvSpPr>
        <p:spPr>
          <a:xfrm>
            <a:off x="5812079" y="2989275"/>
            <a:ext cx="558800" cy="1788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直接调用</a:t>
            </a:r>
          </a:p>
        </p:txBody>
      </p:sp>
      <p:sp>
        <p:nvSpPr>
          <p:cNvPr id="178" name="direct_memory"/>
          <p:cNvSpPr/>
          <p:nvPr/>
        </p:nvSpPr>
        <p:spPr>
          <a:xfrm>
            <a:off x="7164883" y="1409497"/>
            <a:ext cx="1" cy="2568905"/>
          </a:xfrm>
          <a:custGeom>
            <a:avLst/>
            <a:gdLst/>
            <a:ahLst/>
            <a:cxnLst/>
            <a:rect l="0" t="0" r="r" b="b"/>
            <a:pathLst>
              <a:path w="1" h="2568905" fill="none">
                <a:moveTo>
                  <a:pt x="0" y="0"/>
                </a:moveTo>
                <a:lnTo>
                  <a:pt x="0" y="2568905"/>
                </a:lnTo>
              </a:path>
            </a:pathLst>
          </a:custGeom>
          <a:noFill/>
          <a:ln w="12192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9" name="text-179: 直接调用"/>
          <p:cNvSpPr txBox="1"/>
          <p:nvPr/>
        </p:nvSpPr>
        <p:spPr>
          <a:xfrm>
            <a:off x="7265111" y="3234792"/>
            <a:ext cx="558800" cy="1788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直接调用</a:t>
            </a:r>
          </a:p>
        </p:txBody>
      </p:sp>
      <p:sp>
        <p:nvSpPr>
          <p:cNvPr id="180" name="debug_protocol"/>
          <p:cNvSpPr/>
          <p:nvPr/>
        </p:nvSpPr>
        <p:spPr>
          <a:xfrm>
            <a:off x="3407054" y="1409497"/>
            <a:ext cx="125273" cy="1755038"/>
          </a:xfrm>
          <a:custGeom>
            <a:avLst/>
            <a:gdLst/>
            <a:ahLst/>
            <a:cxnLst/>
            <a:rect l="0" t="0" r="r" b="b"/>
            <a:pathLst>
              <a:path w="125273" h="1755038" fill="none">
                <a:moveTo>
                  <a:pt x="0" y="0"/>
                </a:moveTo>
                <a:lnTo>
                  <a:pt x="125273" y="0"/>
                </a:lnTo>
                <a:lnTo>
                  <a:pt x="125273" y="1755038"/>
                </a:lnTo>
                <a:lnTo>
                  <a:pt x="0" y="1755038"/>
                </a:lnTo>
              </a:path>
            </a:pathLst>
          </a:custGeom>
          <a:noFill/>
          <a:ln w="12192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1" name="text-181: 协议服务"/>
          <p:cNvSpPr txBox="1"/>
          <p:nvPr/>
        </p:nvSpPr>
        <p:spPr>
          <a:xfrm>
            <a:off x="2948483" y="2657348"/>
            <a:ext cx="558800" cy="1788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协议服务</a:t>
            </a:r>
          </a:p>
        </p:txBody>
      </p:sp>
      <p:sp>
        <p:nvSpPr>
          <p:cNvPr id="182" name="printf_callback"/>
          <p:cNvSpPr/>
          <p:nvPr/>
        </p:nvSpPr>
        <p:spPr>
          <a:xfrm>
            <a:off x="2129434" y="2227885"/>
            <a:ext cx="75133" cy="1964233"/>
          </a:xfrm>
          <a:custGeom>
            <a:avLst/>
            <a:gdLst/>
            <a:ahLst/>
            <a:cxnLst/>
            <a:rect l="0" t="0" r="r" b="b"/>
            <a:pathLst>
              <a:path w="75133" h="1964233" fill="none">
                <a:moveTo>
                  <a:pt x="75133" y="0"/>
                </a:moveTo>
                <a:lnTo>
                  <a:pt x="0" y="0"/>
                </a:lnTo>
                <a:lnTo>
                  <a:pt x="0" y="1964233"/>
                </a:lnTo>
                <a:lnTo>
                  <a:pt x="75133" y="1964233"/>
                </a:lnTo>
              </a:path>
            </a:pathLst>
          </a:custGeom>
          <a:noFill/>
          <a:ln w="12192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3" name="text-183: 字符回调（直达 DIF）"/>
          <p:cNvSpPr txBox="1"/>
          <p:nvPr/>
        </p:nvSpPr>
        <p:spPr>
          <a:xfrm>
            <a:off x="2219604" y="2509215"/>
            <a:ext cx="110570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字符回调（直达 DIF）</a:t>
            </a:r>
          </a:p>
        </p:txBody>
      </p:sp>
      <p:sp>
        <p:nvSpPr>
          <p:cNvPr id="184" name="debug_uart"/>
          <p:cNvSpPr/>
          <p:nvPr/>
        </p:nvSpPr>
        <p:spPr>
          <a:xfrm>
            <a:off x="2805836" y="3410052"/>
            <a:ext cx="1" cy="568350"/>
          </a:xfrm>
          <a:custGeom>
            <a:avLst/>
            <a:gdLst/>
            <a:ahLst/>
            <a:cxnLst/>
            <a:rect l="0" t="0" r="r" b="b"/>
            <a:pathLst>
              <a:path w="1" h="568350" fill="none">
                <a:moveTo>
                  <a:pt x="0" y="0"/>
                </a:moveTo>
                <a:lnTo>
                  <a:pt x="0" y="568350"/>
                </a:lnTo>
              </a:path>
            </a:pathLst>
          </a:custGeom>
          <a:noFill/>
          <a:ln w="12192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5" name="text-185: 调用"/>
          <p:cNvSpPr txBox="1"/>
          <p:nvPr/>
        </p:nvSpPr>
        <p:spPr>
          <a:xfrm>
            <a:off x="2793492" y="3466694"/>
            <a:ext cx="335280" cy="1788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调用</a:t>
            </a:r>
          </a:p>
        </p:txBody>
      </p:sp>
      <p:sp>
        <p:nvSpPr>
          <p:cNvPr id="186" name="gpt_read"/>
          <p:cNvSpPr/>
          <p:nvPr/>
        </p:nvSpPr>
        <p:spPr>
          <a:xfrm>
            <a:off x="4258869" y="2455215"/>
            <a:ext cx="1" cy="363779"/>
          </a:xfrm>
          <a:custGeom>
            <a:avLst/>
            <a:gdLst/>
            <a:ahLst/>
            <a:cxnLst/>
            <a:rect l="0" t="0" r="r" b="b"/>
            <a:pathLst>
              <a:path w="1" h="363779" fill="none">
                <a:moveTo>
                  <a:pt x="0" y="0"/>
                </a:moveTo>
                <a:lnTo>
                  <a:pt x="0" y="363779"/>
                </a:lnTo>
              </a:path>
            </a:pathLst>
          </a:custGeom>
          <a:noFill/>
          <a:ln w="12192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7" name="text-187: 读回调"/>
          <p:cNvSpPr txBox="1"/>
          <p:nvPr/>
        </p:nvSpPr>
        <p:spPr>
          <a:xfrm>
            <a:off x="4280814" y="2543708"/>
            <a:ext cx="447040" cy="1788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读回调</a:t>
            </a:r>
          </a:p>
        </p:txBody>
      </p:sp>
      <p:sp>
        <p:nvSpPr>
          <p:cNvPr id="188" name="hal_dif"/>
          <p:cNvSpPr/>
          <p:nvPr/>
        </p:nvSpPr>
        <p:spPr>
          <a:xfrm>
            <a:off x="4258869" y="3591916"/>
            <a:ext cx="1" cy="386486"/>
          </a:xfrm>
          <a:custGeom>
            <a:avLst/>
            <a:gdLst/>
            <a:ahLst/>
            <a:cxnLst/>
            <a:rect l="0" t="0" r="r" b="b"/>
            <a:pathLst>
              <a:path w="1" h="386486" fill="none">
                <a:moveTo>
                  <a:pt x="0" y="0"/>
                </a:moveTo>
                <a:lnTo>
                  <a:pt x="0" y="386486"/>
                </a:lnTo>
              </a:path>
            </a:pathLst>
          </a:custGeom>
          <a:noFill/>
          <a:ln w="12192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9" name="text-189: 控制器调用"/>
          <p:cNvSpPr txBox="1"/>
          <p:nvPr/>
        </p:nvSpPr>
        <p:spPr>
          <a:xfrm>
            <a:off x="4209186" y="3712210"/>
            <a:ext cx="670560" cy="1788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控制器调用</a:t>
            </a:r>
          </a:p>
        </p:txBody>
      </p:sp>
      <p:sp>
        <p:nvSpPr>
          <p:cNvPr id="190" name="regs_560"/>
          <p:cNvSpPr/>
          <p:nvPr/>
        </p:nvSpPr>
        <p:spPr>
          <a:xfrm>
            <a:off x="2805836" y="4592218"/>
            <a:ext cx="1" cy="545592"/>
          </a:xfrm>
          <a:custGeom>
            <a:avLst/>
            <a:gdLst/>
            <a:ahLst/>
            <a:cxnLst/>
            <a:rect l="0" t="0" r="r" b="b"/>
            <a:pathLst>
              <a:path w="1" h="545592" fill="none">
                <a:moveTo>
                  <a:pt x="0" y="0"/>
                </a:moveTo>
                <a:lnTo>
                  <a:pt x="0" y="545592"/>
                </a:lnTo>
              </a:path>
            </a:pathLst>
          </a:custGeom>
          <a:noFill/>
          <a:ln w="12192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1" name="text-191: 寄存器访问"/>
          <p:cNvSpPr txBox="1"/>
          <p:nvPr/>
        </p:nvSpPr>
        <p:spPr>
          <a:xfrm>
            <a:off x="2875991" y="4762500"/>
            <a:ext cx="670560" cy="1788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寄存器访问</a:t>
            </a:r>
          </a:p>
        </p:txBody>
      </p:sp>
      <p:sp>
        <p:nvSpPr>
          <p:cNvPr id="192" name="regs_850"/>
          <p:cNvSpPr/>
          <p:nvPr/>
        </p:nvSpPr>
        <p:spPr>
          <a:xfrm>
            <a:off x="4258869" y="4592218"/>
            <a:ext cx="1" cy="545592"/>
          </a:xfrm>
          <a:custGeom>
            <a:avLst/>
            <a:gdLst/>
            <a:ahLst/>
            <a:cxnLst/>
            <a:rect l="0" t="0" r="r" b="b"/>
            <a:pathLst>
              <a:path w="1" h="545592" fill="none">
                <a:moveTo>
                  <a:pt x="0" y="0"/>
                </a:moveTo>
                <a:lnTo>
                  <a:pt x="0" y="545592"/>
                </a:lnTo>
              </a:path>
            </a:pathLst>
          </a:custGeom>
          <a:noFill/>
          <a:ln w="12192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3" name="text-193: 寄存器访问"/>
          <p:cNvSpPr txBox="1"/>
          <p:nvPr/>
        </p:nvSpPr>
        <p:spPr>
          <a:xfrm>
            <a:off x="4328973" y="4762500"/>
            <a:ext cx="670560" cy="1788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寄存器访问</a:t>
            </a:r>
          </a:p>
        </p:txBody>
      </p:sp>
      <p:sp>
        <p:nvSpPr>
          <p:cNvPr id="194" name="regs_1140"/>
          <p:cNvSpPr/>
          <p:nvPr/>
        </p:nvSpPr>
        <p:spPr>
          <a:xfrm>
            <a:off x="5711850" y="4592218"/>
            <a:ext cx="1" cy="545592"/>
          </a:xfrm>
          <a:custGeom>
            <a:avLst/>
            <a:gdLst/>
            <a:ahLst/>
            <a:cxnLst/>
            <a:rect l="0" t="0" r="r" b="b"/>
            <a:pathLst>
              <a:path w="1" h="545592" fill="none">
                <a:moveTo>
                  <a:pt x="0" y="0"/>
                </a:moveTo>
                <a:lnTo>
                  <a:pt x="0" y="545592"/>
                </a:lnTo>
              </a:path>
            </a:pathLst>
          </a:custGeom>
          <a:noFill/>
          <a:ln w="12192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5" name="text-195: 寄存器访问"/>
          <p:cNvSpPr txBox="1"/>
          <p:nvPr/>
        </p:nvSpPr>
        <p:spPr>
          <a:xfrm>
            <a:off x="5782005" y="4762500"/>
            <a:ext cx="670560" cy="1788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寄存器访问</a:t>
            </a:r>
          </a:p>
        </p:txBody>
      </p:sp>
      <p:sp>
        <p:nvSpPr>
          <p:cNvPr id="196" name="regs_1430"/>
          <p:cNvSpPr/>
          <p:nvPr/>
        </p:nvSpPr>
        <p:spPr>
          <a:xfrm>
            <a:off x="7164883" y="4592218"/>
            <a:ext cx="1" cy="545592"/>
          </a:xfrm>
          <a:custGeom>
            <a:avLst/>
            <a:gdLst/>
            <a:ahLst/>
            <a:cxnLst/>
            <a:rect l="0" t="0" r="r" b="b"/>
            <a:pathLst>
              <a:path w="1" h="545592" fill="none">
                <a:moveTo>
                  <a:pt x="0" y="0"/>
                </a:moveTo>
                <a:lnTo>
                  <a:pt x="0" y="545592"/>
                </a:lnTo>
              </a:path>
            </a:pathLst>
          </a:custGeom>
          <a:noFill/>
          <a:ln w="12192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7" name="text-197: 寄存器访问"/>
          <p:cNvSpPr txBox="1"/>
          <p:nvPr/>
        </p:nvSpPr>
        <p:spPr>
          <a:xfrm>
            <a:off x="7235038" y="4762500"/>
            <a:ext cx="670560" cy="1788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寄存器访问</a:t>
            </a:r>
          </a:p>
        </p:txBody>
      </p:sp>
      <p:sp>
        <p:nvSpPr>
          <p:cNvPr id="198" name="vector_helpers"/>
          <p:cNvSpPr/>
          <p:nvPr/>
        </p:nvSpPr>
        <p:spPr>
          <a:xfrm>
            <a:off x="8617915" y="1409497"/>
            <a:ext cx="1" cy="591058"/>
          </a:xfrm>
          <a:custGeom>
            <a:avLst/>
            <a:gdLst/>
            <a:ahLst/>
            <a:cxnLst/>
            <a:rect l="0" t="0" r="r" b="b"/>
            <a:pathLst>
              <a:path w="1" h="591058" fill="none">
                <a:moveTo>
                  <a:pt x="0" y="0"/>
                </a:moveTo>
                <a:lnTo>
                  <a:pt x="0" y="591058"/>
                </a:lnTo>
              </a:path>
            </a:pathLst>
          </a:custGeom>
          <a:noFill/>
          <a:ln w="12192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9" name="text-199: 调用"/>
          <p:cNvSpPr txBox="1"/>
          <p:nvPr/>
        </p:nvSpPr>
        <p:spPr>
          <a:xfrm>
            <a:off x="8650681" y="1748028"/>
            <a:ext cx="335280" cy="1788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调用</a:t>
            </a:r>
          </a:p>
        </p:txBody>
      </p:sp>
      <p:sp>
        <p:nvSpPr>
          <p:cNvPr id="200" name="vector_kernel"/>
          <p:cNvSpPr/>
          <p:nvPr/>
        </p:nvSpPr>
        <p:spPr>
          <a:xfrm>
            <a:off x="8617915" y="2500732"/>
            <a:ext cx="1" cy="409194"/>
          </a:xfrm>
          <a:custGeom>
            <a:avLst/>
            <a:gdLst/>
            <a:ahLst/>
            <a:cxnLst/>
            <a:rect l="0" t="0" r="r" b="b"/>
            <a:pathLst>
              <a:path w="1" h="409194" fill="none">
                <a:moveTo>
                  <a:pt x="0" y="0"/>
                </a:moveTo>
                <a:lnTo>
                  <a:pt x="0" y="409194"/>
                </a:lnTo>
              </a:path>
            </a:pathLst>
          </a:custGeom>
          <a:noFill/>
          <a:ln w="12192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1" name="text-201: 执行内核"/>
          <p:cNvSpPr txBox="1"/>
          <p:nvPr/>
        </p:nvSpPr>
        <p:spPr>
          <a:xfrm>
            <a:off x="8604047" y="2616454"/>
            <a:ext cx="558800" cy="1788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执行内核</a:t>
            </a:r>
          </a:p>
        </p:txBody>
      </p:sp>
      <p:sp>
        <p:nvSpPr>
          <p:cNvPr id="202" name="rvv_execute"/>
          <p:cNvSpPr/>
          <p:nvPr/>
        </p:nvSpPr>
        <p:spPr>
          <a:xfrm>
            <a:off x="9269273" y="3228188"/>
            <a:ext cx="110236" cy="3228188"/>
          </a:xfrm>
          <a:custGeom>
            <a:avLst/>
            <a:gdLst/>
            <a:ahLst/>
            <a:cxnLst/>
            <a:rect l="0" t="0" r="r" b="b"/>
            <a:pathLst>
              <a:path w="110236" h="3228188" fill="none">
                <a:moveTo>
                  <a:pt x="0" y="0"/>
                </a:moveTo>
                <a:lnTo>
                  <a:pt x="110236" y="0"/>
                </a:lnTo>
                <a:lnTo>
                  <a:pt x="110236" y="3228188"/>
                </a:lnTo>
                <a:lnTo>
                  <a:pt x="0" y="3228188"/>
                </a:lnTo>
              </a:path>
            </a:pathLst>
          </a:custGeom>
          <a:noFill/>
          <a:ln w="12192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3" name="text-203: RVV 指令执行"/>
          <p:cNvSpPr txBox="1"/>
          <p:nvPr/>
        </p:nvSpPr>
        <p:spPr>
          <a:xfrm>
            <a:off x="8718093" y="4027830"/>
            <a:ext cx="74180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RVV 指令执行</a:t>
            </a:r>
          </a:p>
        </p:txBody>
      </p:sp>
      <p:sp>
        <p:nvSpPr>
          <p:cNvPr id="204" name="csr_use"/>
          <p:cNvSpPr/>
          <p:nvPr/>
        </p:nvSpPr>
        <p:spPr>
          <a:xfrm>
            <a:off x="8617915" y="3546450"/>
            <a:ext cx="1" cy="1591361"/>
          </a:xfrm>
          <a:custGeom>
            <a:avLst/>
            <a:gdLst/>
            <a:ahLst/>
            <a:cxnLst/>
            <a:rect l="0" t="0" r="r" b="b"/>
            <a:pathLst>
              <a:path w="1" h="1591361" fill="none">
                <a:moveTo>
                  <a:pt x="0" y="0"/>
                </a:moveTo>
                <a:lnTo>
                  <a:pt x="0" y="1591361"/>
                </a:lnTo>
              </a:path>
            </a:pathLst>
          </a:custGeom>
          <a:noFill/>
          <a:ln w="12192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5" name="text-205: CSR / 屏障"/>
          <p:cNvSpPr txBox="1"/>
          <p:nvPr/>
        </p:nvSpPr>
        <p:spPr>
          <a:xfrm>
            <a:off x="8698078" y="4639716"/>
            <a:ext cx="661392" cy="1788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CSR / 屏障</a:t>
            </a:r>
          </a:p>
        </p:txBody>
      </p:sp>
      <p:sp>
        <p:nvSpPr>
          <p:cNvPr id="206" name="csr_execute"/>
          <p:cNvSpPr/>
          <p:nvPr/>
        </p:nvSpPr>
        <p:spPr>
          <a:xfrm>
            <a:off x="8617915" y="5706161"/>
            <a:ext cx="1" cy="522884"/>
          </a:xfrm>
          <a:custGeom>
            <a:avLst/>
            <a:gdLst/>
            <a:ahLst/>
            <a:cxnLst/>
            <a:rect l="0" t="0" r="r" b="b"/>
            <a:pathLst>
              <a:path w="1" h="522884" fill="none">
                <a:moveTo>
                  <a:pt x="0" y="0"/>
                </a:moveTo>
                <a:lnTo>
                  <a:pt x="0" y="522884"/>
                </a:lnTo>
              </a:path>
            </a:pathLst>
          </a:custGeom>
          <a:noFill/>
          <a:ln w="12192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7" name="text-207: CSR/fence"/>
          <p:cNvSpPr txBox="1"/>
          <p:nvPr/>
        </p:nvSpPr>
        <p:spPr>
          <a:xfrm>
            <a:off x="8718093" y="5962853"/>
            <a:ext cx="662218" cy="1788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CSR/fence</a:t>
            </a:r>
          </a:p>
        </p:txBody>
      </p:sp>
      <p:sp>
        <p:nvSpPr>
          <p:cNvPr id="208" name="mmio_access"/>
          <p:cNvSpPr/>
          <p:nvPr/>
        </p:nvSpPr>
        <p:spPr>
          <a:xfrm>
            <a:off x="4960315" y="5706161"/>
            <a:ext cx="1" cy="522884"/>
          </a:xfrm>
          <a:custGeom>
            <a:avLst/>
            <a:gdLst/>
            <a:ahLst/>
            <a:cxnLst/>
            <a:rect l="0" t="0" r="r" b="b"/>
            <a:pathLst>
              <a:path w="1" h="522884" fill="none">
                <a:moveTo>
                  <a:pt x="0" y="0"/>
                </a:moveTo>
                <a:lnTo>
                  <a:pt x="0" y="522884"/>
                </a:lnTo>
              </a:path>
            </a:pathLst>
          </a:custGeom>
          <a:noFill/>
          <a:ln w="12192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9" name="text-209: load / store"/>
          <p:cNvSpPr txBox="1"/>
          <p:nvPr/>
        </p:nvSpPr>
        <p:spPr>
          <a:xfrm>
            <a:off x="5148383" y="6021934"/>
            <a:ext cx="726122" cy="1788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load / store</a:t>
            </a:r>
          </a:p>
        </p:txBody>
      </p:sp>
      <p:sp>
        <p:nvSpPr>
          <p:cNvPr id="210" name="bus_transaction"/>
          <p:cNvSpPr/>
          <p:nvPr/>
        </p:nvSpPr>
        <p:spPr>
          <a:xfrm>
            <a:off x="4960315" y="6751930"/>
            <a:ext cx="1" cy="386436"/>
          </a:xfrm>
          <a:custGeom>
            <a:avLst/>
            <a:gdLst/>
            <a:ahLst/>
            <a:cxnLst/>
            <a:rect l="0" t="0" r="r" b="b"/>
            <a:pathLst>
              <a:path w="1" h="386436" fill="none">
                <a:moveTo>
                  <a:pt x="0" y="0"/>
                </a:moveTo>
                <a:lnTo>
                  <a:pt x="0" y="386436"/>
                </a:lnTo>
              </a:path>
            </a:pathLst>
          </a:custGeom>
          <a:noFill/>
          <a:ln w="12192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1" name="text-211: 寄存器事务 / 事件"/>
          <p:cNvSpPr txBox="1"/>
          <p:nvPr/>
        </p:nvSpPr>
        <p:spPr>
          <a:xfrm>
            <a:off x="5057550" y="6885838"/>
            <a:ext cx="1007967" cy="1788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寄存器事务 / 事件</a:t>
            </a:r>
          </a:p>
        </p:txBody>
      </p:sp>
      <p:sp>
        <p:nvSpPr>
          <p:cNvPr id="212" name="core_instruction"/>
          <p:cNvSpPr/>
          <p:nvPr/>
        </p:nvSpPr>
        <p:spPr>
          <a:xfrm>
            <a:off x="8617915" y="6751930"/>
            <a:ext cx="1" cy="386436"/>
          </a:xfrm>
          <a:custGeom>
            <a:avLst/>
            <a:gdLst/>
            <a:ahLst/>
            <a:cxnLst/>
            <a:rect l="0" t="0" r="r" b="b"/>
            <a:pathLst>
              <a:path w="1" h="386436" fill="none">
                <a:moveTo>
                  <a:pt x="0" y="0"/>
                </a:moveTo>
                <a:lnTo>
                  <a:pt x="0" y="386436"/>
                </a:lnTo>
              </a:path>
            </a:pathLst>
          </a:custGeom>
          <a:noFill/>
          <a:ln w="12192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3" name="text-213: 指令执行"/>
          <p:cNvSpPr txBox="1"/>
          <p:nvPr/>
        </p:nvSpPr>
        <p:spPr>
          <a:xfrm>
            <a:off x="8639150" y="6885838"/>
            <a:ext cx="558800" cy="1788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指令执行</a:t>
            </a:r>
          </a:p>
        </p:txBody>
      </p:sp>
      <p:sp>
        <p:nvSpPr>
          <p:cNvPr id="214" name="rom_crt"/>
          <p:cNvSpPr/>
          <p:nvPr/>
        </p:nvSpPr>
        <p:spPr>
          <a:xfrm>
            <a:off x="10571988" y="1705051"/>
            <a:ext cx="1" cy="659232"/>
          </a:xfrm>
          <a:custGeom>
            <a:avLst/>
            <a:gdLst/>
            <a:ahLst/>
            <a:cxnLst/>
            <a:rect l="0" t="0" r="r" b="b"/>
            <a:pathLst>
              <a:path w="1" h="659232" fill="none">
                <a:moveTo>
                  <a:pt x="0" y="0"/>
                </a:moveTo>
                <a:lnTo>
                  <a:pt x="0" y="659232"/>
                </a:lnTo>
              </a:path>
            </a:pathLst>
          </a:custGeom>
          <a:noFill/>
          <a:ln w="12192" cap="flat">
            <a:solidFill>
              <a:srgbClr val="60677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5" name="text-215: 裸机装载"/>
          <p:cNvSpPr txBox="1"/>
          <p:nvPr/>
        </p:nvSpPr>
        <p:spPr>
          <a:xfrm>
            <a:off x="10647121" y="1957172"/>
            <a:ext cx="558800" cy="1788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裸机装载</a:t>
            </a:r>
          </a:p>
        </p:txBody>
      </p:sp>
      <p:sp>
        <p:nvSpPr>
          <p:cNvPr id="216" name="crt_main"/>
          <p:cNvSpPr/>
          <p:nvPr/>
        </p:nvSpPr>
        <p:spPr>
          <a:xfrm>
            <a:off x="4985360" y="804774"/>
            <a:ext cx="4835042" cy="1905102"/>
          </a:xfrm>
          <a:custGeom>
            <a:avLst/>
            <a:gdLst/>
            <a:ahLst/>
            <a:cxnLst/>
            <a:rect l="0" t="0" r="r" b="b"/>
            <a:pathLst>
              <a:path w="4835042" h="1905102" fill="none">
                <a:moveTo>
                  <a:pt x="4835042" y="1905102"/>
                </a:moveTo>
                <a:lnTo>
                  <a:pt x="4609592" y="1905102"/>
                </a:lnTo>
                <a:lnTo>
                  <a:pt x="4609592" y="0"/>
                </a:lnTo>
                <a:lnTo>
                  <a:pt x="0" y="0"/>
                </a:lnTo>
                <a:lnTo>
                  <a:pt x="0" y="195529"/>
                </a:lnTo>
              </a:path>
            </a:pathLst>
          </a:custGeom>
          <a:noFill/>
          <a:ln w="12192" cap="flat">
            <a:solidFill>
              <a:srgbClr val="60677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7" name="text-217: 初始化后进入 main"/>
          <p:cNvSpPr txBox="1"/>
          <p:nvPr/>
        </p:nvSpPr>
        <p:spPr>
          <a:xfrm>
            <a:off x="6975360" y="656793"/>
            <a:ext cx="1080492" cy="1788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初始化后进入 main</a:t>
            </a:r>
          </a:p>
        </p:txBody>
      </p:sp>
      <p:sp>
        <p:nvSpPr>
          <p:cNvPr id="218" name="rom_zsl"/>
          <p:cNvSpPr/>
          <p:nvPr/>
        </p:nvSpPr>
        <p:spPr>
          <a:xfrm>
            <a:off x="11323523" y="1364031"/>
            <a:ext cx="300634" cy="3614674"/>
          </a:xfrm>
          <a:custGeom>
            <a:avLst/>
            <a:gdLst/>
            <a:ahLst/>
            <a:cxnLst/>
            <a:rect l="0" t="0" r="r" b="b"/>
            <a:pathLst>
              <a:path w="300634" h="3614674" fill="none">
                <a:moveTo>
                  <a:pt x="0" y="0"/>
                </a:moveTo>
                <a:lnTo>
                  <a:pt x="300634" y="0"/>
                </a:lnTo>
                <a:lnTo>
                  <a:pt x="300634" y="3614674"/>
                </a:lnTo>
                <a:lnTo>
                  <a:pt x="0" y="3614674"/>
                </a:lnTo>
              </a:path>
            </a:pathLst>
          </a:custGeom>
          <a:noFill/>
          <a:ln w="12192" cap="flat">
            <a:solidFill>
              <a:srgbClr val="60677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9" name="text-219: OS 介质启动"/>
          <p:cNvSpPr txBox="1"/>
          <p:nvPr/>
        </p:nvSpPr>
        <p:spPr>
          <a:xfrm>
            <a:off x="10826626" y="4471518"/>
            <a:ext cx="747443" cy="1788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OS 介质启动</a:t>
            </a:r>
          </a:p>
        </p:txBody>
      </p:sp>
      <p:sp>
        <p:nvSpPr>
          <p:cNvPr id="220" name="zsl_firmware"/>
          <p:cNvSpPr/>
          <p:nvPr/>
        </p:nvSpPr>
        <p:spPr>
          <a:xfrm>
            <a:off x="11323523" y="5069637"/>
            <a:ext cx="651358" cy="1"/>
          </a:xfrm>
          <a:custGeom>
            <a:avLst/>
            <a:gdLst/>
            <a:ahLst/>
            <a:cxnLst/>
            <a:rect l="0" t="0" r="r" b="b"/>
            <a:pathLst>
              <a:path w="651358" h="1" fill="none">
                <a:moveTo>
                  <a:pt x="0" y="0"/>
                </a:moveTo>
                <a:lnTo>
                  <a:pt x="651358" y="0"/>
                </a:lnTo>
              </a:path>
            </a:pathLst>
          </a:custGeom>
          <a:noFill/>
          <a:ln w="12192" cap="flat">
            <a:solidFill>
              <a:srgbClr val="60677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1" name="text-221: 进入固件"/>
          <p:cNvSpPr txBox="1"/>
          <p:nvPr/>
        </p:nvSpPr>
        <p:spPr>
          <a:xfrm>
            <a:off x="11364773" y="5085334"/>
            <a:ext cx="558800" cy="1788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进入固件</a:t>
            </a:r>
          </a:p>
        </p:txBody>
      </p:sp>
      <p:sp>
        <p:nvSpPr>
          <p:cNvPr id="222" name="sdk_build"/>
          <p:cNvSpPr/>
          <p:nvPr/>
        </p:nvSpPr>
        <p:spPr>
          <a:xfrm>
            <a:off x="13052146" y="2182419"/>
            <a:ext cx="1" cy="545643"/>
          </a:xfrm>
          <a:custGeom>
            <a:avLst/>
            <a:gdLst/>
            <a:ahLst/>
            <a:cxnLst/>
            <a:rect l="0" t="0" r="r" b="b"/>
            <a:pathLst>
              <a:path w="1" h="545643" fill="none">
                <a:moveTo>
                  <a:pt x="0" y="0"/>
                </a:moveTo>
                <a:lnTo>
                  <a:pt x="0" y="545643"/>
                </a:lnTo>
              </a:path>
            </a:pathLst>
          </a:custGeom>
          <a:noFill/>
          <a:ln w="12192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3" name="text-223: 构建 / 打包"/>
          <p:cNvSpPr txBox="1"/>
          <p:nvPr/>
        </p:nvSpPr>
        <p:spPr>
          <a:xfrm>
            <a:off x="13127279" y="2370938"/>
            <a:ext cx="672687" cy="1788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构建 / 打包</a:t>
            </a:r>
          </a:p>
        </p:txBody>
      </p:sp>
      <p:sp>
        <p:nvSpPr>
          <p:cNvPr id="224" name="syscall"/>
          <p:cNvSpPr/>
          <p:nvPr/>
        </p:nvSpPr>
        <p:spPr>
          <a:xfrm>
            <a:off x="13052146" y="3250895"/>
            <a:ext cx="1" cy="454711"/>
          </a:xfrm>
          <a:custGeom>
            <a:avLst/>
            <a:gdLst/>
            <a:ahLst/>
            <a:cxnLst/>
            <a:rect l="0" t="0" r="r" b="b"/>
            <a:pathLst>
              <a:path w="1" h="454711" fill="none">
                <a:moveTo>
                  <a:pt x="0" y="0"/>
                </a:moveTo>
                <a:lnTo>
                  <a:pt x="0" y="454711"/>
                </a:lnTo>
              </a:path>
            </a:pathLst>
          </a:custGeom>
          <a:noFill/>
          <a:ln w="12192" cap="flat">
            <a:solidFill>
              <a:srgbClr val="426B57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5" name="text-225: 系统调用"/>
          <p:cNvSpPr txBox="1"/>
          <p:nvPr/>
        </p:nvSpPr>
        <p:spPr>
          <a:xfrm>
            <a:off x="13098374" y="3398469"/>
            <a:ext cx="558800" cy="1788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426B57"/>
                </a:solidFill>
                <a:latin typeface="Microsoft YaHei"/>
                <a:ea typeface="Microsoft YaHei"/>
                <a:cs typeface="Microsoft YaHei"/>
              </a:rPr>
              <a:t>系统调用</a:t>
            </a:r>
          </a:p>
        </p:txBody>
      </p:sp>
      <p:sp>
        <p:nvSpPr>
          <p:cNvPr id="226" name="sbi"/>
          <p:cNvSpPr/>
          <p:nvPr/>
        </p:nvSpPr>
        <p:spPr>
          <a:xfrm>
            <a:off x="13052146" y="4342130"/>
            <a:ext cx="1" cy="477418"/>
          </a:xfrm>
          <a:custGeom>
            <a:avLst/>
            <a:gdLst/>
            <a:ahLst/>
            <a:cxnLst/>
            <a:rect l="0" t="0" r="r" b="b"/>
            <a:pathLst>
              <a:path w="1" h="477418" fill="none">
                <a:moveTo>
                  <a:pt x="0" y="0"/>
                </a:moveTo>
                <a:lnTo>
                  <a:pt x="0" y="477418"/>
                </a:lnTo>
              </a:path>
            </a:pathLst>
          </a:custGeom>
          <a:noFill/>
          <a:ln w="12192" cap="flat">
            <a:solidFill>
              <a:srgbClr val="426B57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7" name="text-227: SBI 调用"/>
          <p:cNvSpPr txBox="1"/>
          <p:nvPr/>
        </p:nvSpPr>
        <p:spPr>
          <a:xfrm>
            <a:off x="13109863" y="4489704"/>
            <a:ext cx="535821" cy="1788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426B57"/>
                </a:solidFill>
                <a:latin typeface="Microsoft YaHei"/>
                <a:ea typeface="Microsoft YaHei"/>
                <a:cs typeface="Microsoft YaHei"/>
              </a:rPr>
              <a:t>SBI 调用</a:t>
            </a:r>
          </a:p>
        </p:txBody>
      </p:sp>
      <p:sp>
        <p:nvSpPr>
          <p:cNvPr id="228" name="payload"/>
          <p:cNvSpPr/>
          <p:nvPr/>
        </p:nvSpPr>
        <p:spPr>
          <a:xfrm>
            <a:off x="13052146" y="5342433"/>
            <a:ext cx="1" cy="454660"/>
          </a:xfrm>
          <a:custGeom>
            <a:avLst/>
            <a:gdLst/>
            <a:ahLst/>
            <a:cxnLst/>
            <a:rect l="0" t="0" r="r" b="b"/>
            <a:pathLst>
              <a:path w="1" h="454660" fill="none">
                <a:moveTo>
                  <a:pt x="0" y="0"/>
                </a:moveTo>
                <a:lnTo>
                  <a:pt x="0" y="454660"/>
                </a:lnTo>
              </a:path>
            </a:pathLst>
          </a:custGeom>
          <a:noFill/>
          <a:ln w="12192" cap="flat">
            <a:solidFill>
              <a:srgbClr val="60677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9" name="text-229: 启动 payload"/>
          <p:cNvSpPr txBox="1"/>
          <p:nvPr/>
        </p:nvSpPr>
        <p:spPr>
          <a:xfrm>
            <a:off x="13032134" y="5499049"/>
            <a:ext cx="791559" cy="1788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启动 payload</a:t>
            </a:r>
          </a:p>
        </p:txBody>
      </p:sp>
      <p:sp>
        <p:nvSpPr>
          <p:cNvPr id="230" name="boot_linux"/>
          <p:cNvSpPr/>
          <p:nvPr/>
        </p:nvSpPr>
        <p:spPr>
          <a:xfrm>
            <a:off x="14179448" y="4032961"/>
            <a:ext cx="160325" cy="2014220"/>
          </a:xfrm>
          <a:custGeom>
            <a:avLst/>
            <a:gdLst/>
            <a:ahLst/>
            <a:cxnLst/>
            <a:rect l="0" t="0" r="r" b="b"/>
            <a:pathLst>
              <a:path w="160325" h="2014220" fill="none">
                <a:moveTo>
                  <a:pt x="0" y="2014220"/>
                </a:moveTo>
                <a:lnTo>
                  <a:pt x="160325" y="2014220"/>
                </a:lnTo>
                <a:lnTo>
                  <a:pt x="160325" y="0"/>
                </a:lnTo>
                <a:lnTo>
                  <a:pt x="0" y="0"/>
                </a:lnTo>
              </a:path>
            </a:pathLst>
          </a:custGeom>
          <a:noFill/>
          <a:ln w="12192" cap="flat">
            <a:solidFill>
              <a:srgbClr val="60677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1" name="text-231: 启动：ZSL → OpenSBI → U-Boot → Linux"/>
          <p:cNvSpPr txBox="1"/>
          <p:nvPr/>
        </p:nvSpPr>
        <p:spPr>
          <a:xfrm>
            <a:off x="12031143" y="6423914"/>
            <a:ext cx="209209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启动：ZSL → OpenSBI → U-Boot → Linux</a:t>
            </a:r>
          </a:p>
        </p:txBody>
      </p:sp>
      <p:sp>
        <p:nvSpPr>
          <p:cNvPr id="232" name="text-232: 覆盖缺口：VGA / Serial Link 有寄存器头；未见同级完整 DIF/"/>
          <p:cNvSpPr txBox="1"/>
          <p:nvPr/>
        </p:nvSpPr>
        <p:spPr>
          <a:xfrm>
            <a:off x="2154479" y="7716926"/>
            <a:ext cx="5021191" cy="18694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覆盖缺口：VGA / Serial Link 有寄存器头；未见同级完整 DIF/HAL。USB / CLIC 见源码索引。</a:t>
            </a:r>
          </a:p>
        </p:txBody>
      </p:sp>
      <p:sp>
        <p:nvSpPr>
          <p:cNvPr id="233" name="legend_call"/>
          <p:cNvSpPr/>
          <p:nvPr/>
        </p:nvSpPr>
        <p:spPr>
          <a:xfrm>
            <a:off x="175362" y="8047736"/>
            <a:ext cx="300634" cy="1"/>
          </a:xfrm>
          <a:custGeom>
            <a:avLst/>
            <a:gdLst/>
            <a:ahLst/>
            <a:cxnLst/>
            <a:rect l="0" t="0" r="r" b="b"/>
            <a:pathLst>
              <a:path w="300634" h="1" fill="none">
                <a:moveTo>
                  <a:pt x="0" y="0"/>
                </a:moveTo>
                <a:lnTo>
                  <a:pt x="300634" y="0"/>
                </a:lnTo>
              </a:path>
            </a:pathLst>
          </a:custGeom>
          <a:noFill/>
          <a:ln w="12192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4" name="text-234: 函数调用"/>
          <p:cNvSpPr txBox="1"/>
          <p:nvPr/>
        </p:nvSpPr>
        <p:spPr>
          <a:xfrm>
            <a:off x="551129" y="7957922"/>
            <a:ext cx="584200" cy="18694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函数调用</a:t>
            </a:r>
          </a:p>
        </p:txBody>
      </p:sp>
      <p:sp>
        <p:nvSpPr>
          <p:cNvPr id="235" name="legend_host"/>
          <p:cNvSpPr/>
          <p:nvPr/>
        </p:nvSpPr>
        <p:spPr>
          <a:xfrm>
            <a:off x="2204568" y="8047736"/>
            <a:ext cx="300634" cy="1"/>
          </a:xfrm>
          <a:custGeom>
            <a:avLst/>
            <a:gdLst/>
            <a:ahLst/>
            <a:cxnLst/>
            <a:rect l="0" t="0" r="r" b="b"/>
            <a:pathLst>
              <a:path w="300634" h="1" fill="none">
                <a:moveTo>
                  <a:pt x="0" y="0"/>
                </a:moveTo>
                <a:lnTo>
                  <a:pt x="300634" y="0"/>
                </a:lnTo>
              </a:path>
            </a:pathLst>
          </a:custGeom>
          <a:noFill/>
          <a:ln w="12192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6" name="text-236: 构建 / 装载"/>
          <p:cNvSpPr txBox="1"/>
          <p:nvPr/>
        </p:nvSpPr>
        <p:spPr>
          <a:xfrm>
            <a:off x="2580386" y="7957922"/>
            <a:ext cx="703270" cy="18694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0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构建 / 装载</a:t>
            </a:r>
          </a:p>
        </p:txBody>
      </p:sp>
      <p:sp>
        <p:nvSpPr>
          <p:cNvPr id="237" name="legend_device"/>
          <p:cNvSpPr/>
          <p:nvPr/>
        </p:nvSpPr>
        <p:spPr>
          <a:xfrm>
            <a:off x="4509364" y="8047736"/>
            <a:ext cx="300634" cy="1"/>
          </a:xfrm>
          <a:custGeom>
            <a:avLst/>
            <a:gdLst/>
            <a:ahLst/>
            <a:cxnLst/>
            <a:rect l="0" t="0" r="r" b="b"/>
            <a:pathLst>
              <a:path w="300634" h="1" fill="none">
                <a:moveTo>
                  <a:pt x="0" y="0"/>
                </a:moveTo>
                <a:lnTo>
                  <a:pt x="300634" y="0"/>
                </a:lnTo>
              </a:path>
            </a:pathLst>
          </a:custGeom>
          <a:noFill/>
          <a:ln w="12192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8" name="text-238: 寄存器访问"/>
          <p:cNvSpPr txBox="1"/>
          <p:nvPr/>
        </p:nvSpPr>
        <p:spPr>
          <a:xfrm>
            <a:off x="4885131" y="7957922"/>
            <a:ext cx="701040" cy="18694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0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寄存器访问</a:t>
            </a:r>
          </a:p>
        </p:txBody>
      </p:sp>
      <p:sp>
        <p:nvSpPr>
          <p:cNvPr id="239" name="legend_isa"/>
          <p:cNvSpPr/>
          <p:nvPr/>
        </p:nvSpPr>
        <p:spPr>
          <a:xfrm>
            <a:off x="7014566" y="8047736"/>
            <a:ext cx="300634" cy="1"/>
          </a:xfrm>
          <a:custGeom>
            <a:avLst/>
            <a:gdLst/>
            <a:ahLst/>
            <a:cxnLst/>
            <a:rect l="0" t="0" r="r" b="b"/>
            <a:pathLst>
              <a:path w="300634" h="1" fill="none">
                <a:moveTo>
                  <a:pt x="0" y="0"/>
                </a:moveTo>
                <a:lnTo>
                  <a:pt x="300634" y="0"/>
                </a:lnTo>
              </a:path>
            </a:pathLst>
          </a:custGeom>
          <a:noFill/>
          <a:ln w="12192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0" name="text-240: 指令执行"/>
          <p:cNvSpPr txBox="1"/>
          <p:nvPr/>
        </p:nvSpPr>
        <p:spPr>
          <a:xfrm>
            <a:off x="7390333" y="7957922"/>
            <a:ext cx="584200" cy="18694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0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指令执行</a:t>
            </a:r>
          </a:p>
        </p:txBody>
      </p:sp>
      <p:sp>
        <p:nvSpPr>
          <p:cNvPr id="241" name="legend_start"/>
          <p:cNvSpPr/>
          <p:nvPr/>
        </p:nvSpPr>
        <p:spPr>
          <a:xfrm>
            <a:off x="9519768" y="8047736"/>
            <a:ext cx="300634" cy="1"/>
          </a:xfrm>
          <a:custGeom>
            <a:avLst/>
            <a:gdLst/>
            <a:ahLst/>
            <a:cxnLst/>
            <a:rect l="0" t="0" r="r" b="b"/>
            <a:pathLst>
              <a:path w="300634" h="1" fill="none">
                <a:moveTo>
                  <a:pt x="0" y="0"/>
                </a:moveTo>
                <a:lnTo>
                  <a:pt x="300634" y="0"/>
                </a:lnTo>
              </a:path>
            </a:pathLst>
          </a:custGeom>
          <a:noFill/>
          <a:ln w="12192" cap="flat">
            <a:solidFill>
              <a:srgbClr val="60677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2" name="text-242: 初始化 / 启动"/>
          <p:cNvSpPr txBox="1"/>
          <p:nvPr/>
        </p:nvSpPr>
        <p:spPr>
          <a:xfrm>
            <a:off x="9895586" y="7957922"/>
            <a:ext cx="820110" cy="18694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初始化 / 启动</a:t>
            </a:r>
          </a:p>
        </p:txBody>
      </p:sp>
      <p:sp>
        <p:nvSpPr>
          <p:cNvPr id="243" name="legend_os"/>
          <p:cNvSpPr/>
          <p:nvPr/>
        </p:nvSpPr>
        <p:spPr>
          <a:xfrm>
            <a:off x="12275515" y="8047736"/>
            <a:ext cx="300634" cy="1"/>
          </a:xfrm>
          <a:custGeom>
            <a:avLst/>
            <a:gdLst/>
            <a:ahLst/>
            <a:cxnLst/>
            <a:rect l="0" t="0" r="r" b="b"/>
            <a:pathLst>
              <a:path w="300634" h="1" fill="none">
                <a:moveTo>
                  <a:pt x="0" y="0"/>
                </a:moveTo>
                <a:lnTo>
                  <a:pt x="300634" y="0"/>
                </a:lnTo>
              </a:path>
            </a:pathLst>
          </a:custGeom>
          <a:noFill/>
          <a:ln w="12192" cap="flat">
            <a:solidFill>
              <a:srgbClr val="426B57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4" name="text-244: OS 服务"/>
          <p:cNvSpPr txBox="1"/>
          <p:nvPr/>
        </p:nvSpPr>
        <p:spPr>
          <a:xfrm>
            <a:off x="12651283" y="7957922"/>
            <a:ext cx="547751" cy="18694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0" b="0" i="0">
                <a:solidFill>
                  <a:srgbClr val="426B57"/>
                </a:solidFill>
                <a:latin typeface="Microsoft YaHei"/>
                <a:ea typeface="Microsoft YaHei"/>
                <a:cs typeface="Microsoft YaHei"/>
              </a:rPr>
              <a:t>OS 服务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