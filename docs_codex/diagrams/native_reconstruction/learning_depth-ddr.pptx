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2844800" y="1351280"/>
            <a:ext cx="7467600" cy="3342640"/>
          </a:xfrm>
          <a:prstGeom prst="roundRect">
            <a:avLst>
              <a:gd name="adj" fmla="val 2553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6"/>
          <p:cNvSpPr/>
          <p:nvPr/>
        </p:nvSpPr>
        <p:spPr>
          <a:xfrm>
            <a:off x="2346960" y="279146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0" y="0"/>
                </a:moveTo>
                <a:lnTo>
                  <a:pt x="85344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8"/>
          <p:cNvSpPr/>
          <p:nvPr/>
        </p:nvSpPr>
        <p:spPr>
          <a:xfrm>
            <a:off x="6294120" y="2791460"/>
            <a:ext cx="817880" cy="1"/>
          </a:xfrm>
          <a:custGeom>
            <a:avLst/>
            <a:gdLst/>
            <a:ahLst/>
            <a:cxnLst/>
            <a:rect l="0" t="0" r="r" b="b"/>
            <a:pathLst>
              <a:path w="817880" h="1" fill="none">
                <a:moveTo>
                  <a:pt x="0" y="0"/>
                </a:moveTo>
                <a:lnTo>
                  <a:pt x="81788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0"/>
          <p:cNvSpPr/>
          <p:nvPr/>
        </p:nvSpPr>
        <p:spPr>
          <a:xfrm>
            <a:off x="9601200" y="279146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2"/>
          <p:cNvSpPr/>
          <p:nvPr/>
        </p:nvSpPr>
        <p:spPr>
          <a:xfrm>
            <a:off x="4018280" y="631190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4"/>
          <p:cNvSpPr/>
          <p:nvPr/>
        </p:nvSpPr>
        <p:spPr>
          <a:xfrm>
            <a:off x="4729480" y="3662680"/>
            <a:ext cx="2169160" cy="2062480"/>
          </a:xfrm>
          <a:custGeom>
            <a:avLst/>
            <a:gdLst/>
            <a:ahLst/>
            <a:cxnLst/>
            <a:rect l="0" t="0" r="r" b="b"/>
            <a:pathLst>
              <a:path w="2169160" h="2062480" fill="none">
                <a:moveTo>
                  <a:pt x="2169160" y="2062480"/>
                </a:moveTo>
                <a:lnTo>
                  <a:pt x="2169160" y="1564640"/>
                </a:lnTo>
                <a:lnTo>
                  <a:pt x="0" y="156464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6: DDR 子系统：AXI 事务、控制器、PHY 与器件引脚"/>
          <p:cNvSpPr txBox="1"/>
          <p:nvPr/>
        </p:nvSpPr>
        <p:spPr>
          <a:xfrm>
            <a:off x="483616" y="271109"/>
            <a:ext cx="634959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DDR 子系统：AXI 事务、控制器、PHY 与器件引脚</a:t>
            </a:r>
          </a:p>
        </p:txBody>
      </p:sp>
      <p:sp>
        <p:nvSpPr>
          <p:cNvPr id="12" name="text-017: AXI 是事务接口；DQ / DQS / 命令引脚是存储器电气接口。两侧不能直接"/>
          <p:cNvSpPr txBox="1"/>
          <p:nvPr/>
        </p:nvSpPr>
        <p:spPr>
          <a:xfrm>
            <a:off x="483616" y="676778"/>
            <a:ext cx="633857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AXI 是事务接口；DQ / DQS / 命令引脚是存储器电气接口。两侧不能直接相连。</a:t>
            </a:r>
          </a:p>
        </p:txBody>
      </p:sp>
      <p:sp>
        <p:nvSpPr>
          <p:cNvPr id="13" name="text-018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4" name="text-019: 依据：现有 FPGA dram_wrapper_xilinx 边界；ASIC 供"/>
          <p:cNvSpPr txBox="1"/>
          <p:nvPr/>
        </p:nvSpPr>
        <p:spPr>
          <a:xfrm>
            <a:off x="341376" y="7726477"/>
            <a:ext cx="631545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依据：现有 FPGA dram_wrapper_xilinx 边界；ASIC 供应商控制器/PHY 接口尚未冻结</a:t>
            </a:r>
          </a:p>
        </p:txBody>
      </p:sp>
      <p:sp>
        <p:nvSpPr>
          <p:cNvPr id="15" name="text-020: 平台存储子系统：实现由 FPGA / ASIC 平台承担"/>
          <p:cNvSpPr txBox="1"/>
          <p:nvPr/>
        </p:nvSpPr>
        <p:spPr>
          <a:xfrm>
            <a:off x="2972816" y="1408176"/>
            <a:ext cx="434721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平台存储子系统：实现由 FPGA / ASIC 平台承担</a:t>
            </a:r>
          </a:p>
        </p:txBody>
      </p:sp>
      <p:sp>
        <p:nvSpPr>
          <p:cNvPr id="16" name="rect-021"/>
          <p:cNvSpPr/>
          <p:nvPr/>
        </p:nvSpPr>
        <p:spPr>
          <a:xfrm>
            <a:off x="355600" y="1920240"/>
            <a:ext cx="1991360" cy="1742440"/>
          </a:xfrm>
          <a:prstGeom prst="roundRect">
            <a:avLst>
              <a:gd name="adj" fmla="val 2857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22"/>
          <p:cNvSpPr/>
          <p:nvPr/>
        </p:nvSpPr>
        <p:spPr>
          <a:xfrm>
            <a:off x="355600" y="1920240"/>
            <a:ext cx="35560" cy="1742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23: SoC LLC 下游"/>
          <p:cNvSpPr txBox="1"/>
          <p:nvPr/>
        </p:nvSpPr>
        <p:spPr>
          <a:xfrm>
            <a:off x="476504" y="1948119"/>
            <a:ext cx="151627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SoC LLC 下游</a:t>
            </a:r>
          </a:p>
        </p:txBody>
      </p:sp>
      <p:sp>
        <p:nvSpPr>
          <p:cNvPr id="19" name="text-024: AXI4 事务"/>
          <p:cNvSpPr txBox="1"/>
          <p:nvPr/>
        </p:nvSpPr>
        <p:spPr>
          <a:xfrm>
            <a:off x="476504" y="2227194"/>
            <a:ext cx="102235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AXI4 事务</a:t>
            </a:r>
          </a:p>
        </p:txBody>
      </p:sp>
      <p:sp>
        <p:nvSpPr>
          <p:cNvPr id="20" name="text-025: ID / burst / STRB"/>
          <p:cNvSpPr txBox="1"/>
          <p:nvPr/>
        </p:nvSpPr>
        <p:spPr>
          <a:xfrm>
            <a:off x="476504" y="2440554"/>
            <a:ext cx="197109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ID / burst / STRB</a:t>
            </a:r>
          </a:p>
        </p:txBody>
      </p:sp>
      <p:sp>
        <p:nvSpPr>
          <p:cNvPr id="21" name="text-026: RESP / 背压"/>
          <p:cNvSpPr txBox="1"/>
          <p:nvPr/>
        </p:nvSpPr>
        <p:spPr>
          <a:xfrm>
            <a:off x="476504" y="2653914"/>
            <a:ext cx="123499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RESP / 背压</a:t>
            </a:r>
          </a:p>
        </p:txBody>
      </p:sp>
      <p:sp>
        <p:nvSpPr>
          <p:cNvPr id="22" name="rect-027"/>
          <p:cNvSpPr/>
          <p:nvPr/>
        </p:nvSpPr>
        <p:spPr>
          <a:xfrm>
            <a:off x="3200400" y="1920240"/>
            <a:ext cx="3093720" cy="1742440"/>
          </a:xfrm>
          <a:prstGeom prst="roundRect">
            <a:avLst>
              <a:gd name="adj" fmla="val 285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8"/>
          <p:cNvSpPr/>
          <p:nvPr/>
        </p:nvSpPr>
        <p:spPr>
          <a:xfrm>
            <a:off x="3200400" y="1920240"/>
            <a:ext cx="35560" cy="17424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9: 适配 / 控制器"/>
          <p:cNvSpPr txBox="1"/>
          <p:nvPr/>
        </p:nvSpPr>
        <p:spPr>
          <a:xfrm>
            <a:off x="3321304" y="1948119"/>
            <a:ext cx="147005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适配 / 控制器</a:t>
            </a:r>
          </a:p>
        </p:txBody>
      </p:sp>
      <p:sp>
        <p:nvSpPr>
          <p:cNvPr id="25" name="text-030: 可选 CDC / 宽度适配"/>
          <p:cNvSpPr txBox="1"/>
          <p:nvPr/>
        </p:nvSpPr>
        <p:spPr>
          <a:xfrm>
            <a:off x="3321304" y="2227194"/>
            <a:ext cx="188930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可选 CDC / 宽度适配</a:t>
            </a:r>
          </a:p>
        </p:txBody>
      </p:sp>
      <p:sp>
        <p:nvSpPr>
          <p:cNvPr id="26" name="text-031: 地址映射、队列、调度"/>
          <p:cNvSpPr txBox="1"/>
          <p:nvPr/>
        </p:nvSpPr>
        <p:spPr>
          <a:xfrm>
            <a:off x="3321304" y="2440554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地址映射、队列、调度</a:t>
            </a:r>
          </a:p>
        </p:txBody>
      </p:sp>
      <p:sp>
        <p:nvSpPr>
          <p:cNvPr id="27" name="text-032: 刷新与错误状态"/>
          <p:cNvSpPr txBox="1"/>
          <p:nvPr/>
        </p:nvSpPr>
        <p:spPr>
          <a:xfrm>
            <a:off x="3321304" y="265391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刷新与错误状态</a:t>
            </a:r>
          </a:p>
        </p:txBody>
      </p:sp>
      <p:sp>
        <p:nvSpPr>
          <p:cNvPr id="28" name="rect-033"/>
          <p:cNvSpPr/>
          <p:nvPr/>
        </p:nvSpPr>
        <p:spPr>
          <a:xfrm>
            <a:off x="7112000" y="1920240"/>
            <a:ext cx="2489200" cy="1742440"/>
          </a:xfrm>
          <a:prstGeom prst="roundRect">
            <a:avLst>
              <a:gd name="adj" fmla="val 2857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34"/>
          <p:cNvSpPr/>
          <p:nvPr/>
        </p:nvSpPr>
        <p:spPr>
          <a:xfrm>
            <a:off x="7112000" y="1920240"/>
            <a:ext cx="35560" cy="17424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5: DDR PHY"/>
          <p:cNvSpPr txBox="1"/>
          <p:nvPr/>
        </p:nvSpPr>
        <p:spPr>
          <a:xfrm>
            <a:off x="7232904" y="1948119"/>
            <a:ext cx="102626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DDR PHY</a:t>
            </a:r>
          </a:p>
        </p:txBody>
      </p:sp>
      <p:sp>
        <p:nvSpPr>
          <p:cNvPr id="31" name="text-036: 训练、采样、对齐"/>
          <p:cNvSpPr txBox="1"/>
          <p:nvPr/>
        </p:nvSpPr>
        <p:spPr>
          <a:xfrm>
            <a:off x="7232904" y="222719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训练、采样、对齐</a:t>
            </a:r>
          </a:p>
        </p:txBody>
      </p:sp>
      <p:sp>
        <p:nvSpPr>
          <p:cNvPr id="32" name="text-037: 时钟与 DQ / DQS"/>
          <p:cNvSpPr txBox="1"/>
          <p:nvPr/>
        </p:nvSpPr>
        <p:spPr>
          <a:xfrm>
            <a:off x="7232904" y="2440554"/>
            <a:ext cx="161122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时钟与 DQ / DQS</a:t>
            </a:r>
          </a:p>
        </p:txBody>
      </p:sp>
      <p:sp>
        <p:nvSpPr>
          <p:cNvPr id="33" name="text-038: 命令 / 电气时序"/>
          <p:cNvSpPr txBox="1"/>
          <p:nvPr/>
        </p:nvSpPr>
        <p:spPr>
          <a:xfrm>
            <a:off x="7232904" y="2653914"/>
            <a:ext cx="146400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命令 / 电气时序</a:t>
            </a:r>
          </a:p>
        </p:txBody>
      </p:sp>
      <p:sp>
        <p:nvSpPr>
          <p:cNvPr id="34" name="rect-039"/>
          <p:cNvSpPr/>
          <p:nvPr/>
        </p:nvSpPr>
        <p:spPr>
          <a:xfrm>
            <a:off x="10668000" y="1920240"/>
            <a:ext cx="1742440" cy="1742440"/>
          </a:xfrm>
          <a:prstGeom prst="roundRect">
            <a:avLst>
              <a:gd name="adj" fmla="val 2857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40"/>
          <p:cNvSpPr/>
          <p:nvPr/>
        </p:nvSpPr>
        <p:spPr>
          <a:xfrm>
            <a:off x="10668000" y="1920240"/>
            <a:ext cx="35560" cy="174244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41: DRAM 器件"/>
          <p:cNvSpPr txBox="1"/>
          <p:nvPr/>
        </p:nvSpPr>
        <p:spPr>
          <a:xfrm>
            <a:off x="10788904" y="1948119"/>
            <a:ext cx="115570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DRAM 器件</a:t>
            </a:r>
          </a:p>
        </p:txBody>
      </p:sp>
      <p:sp>
        <p:nvSpPr>
          <p:cNvPr id="37" name="text-042: bank / row /"/>
          <p:cNvSpPr txBox="1"/>
          <p:nvPr/>
        </p:nvSpPr>
        <p:spPr>
          <a:xfrm>
            <a:off x="10788904" y="2227194"/>
            <a:ext cx="143946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bank / row /</a:t>
            </a:r>
          </a:p>
        </p:txBody>
      </p:sp>
      <p:sp>
        <p:nvSpPr>
          <p:cNvPr id="38" name="text-043: column"/>
          <p:cNvSpPr txBox="1"/>
          <p:nvPr/>
        </p:nvSpPr>
        <p:spPr>
          <a:xfrm>
            <a:off x="10788904" y="2440554"/>
            <a:ext cx="80152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column</a:t>
            </a:r>
          </a:p>
        </p:txBody>
      </p:sp>
      <p:sp>
        <p:nvSpPr>
          <p:cNvPr id="39" name="text-044: 存储单元 / 刷新"/>
          <p:cNvSpPr txBox="1"/>
          <p:nvPr/>
        </p:nvSpPr>
        <p:spPr>
          <a:xfrm>
            <a:off x="10788904" y="2653914"/>
            <a:ext cx="146400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存储单元 / 刷新</a:t>
            </a:r>
          </a:p>
        </p:txBody>
      </p:sp>
      <p:sp>
        <p:nvSpPr>
          <p:cNvPr id="40" name="text-045: 引脚与板级连线"/>
          <p:cNvSpPr txBox="1"/>
          <p:nvPr/>
        </p:nvSpPr>
        <p:spPr>
          <a:xfrm>
            <a:off x="10788904" y="286727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引脚与板级连线</a:t>
            </a:r>
          </a:p>
        </p:txBody>
      </p:sp>
      <p:sp>
        <p:nvSpPr>
          <p:cNvPr id="41" name="rect-046"/>
          <p:cNvSpPr/>
          <p:nvPr/>
        </p:nvSpPr>
        <p:spPr>
          <a:xfrm>
            <a:off x="462280" y="5725160"/>
            <a:ext cx="3556000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7"/>
          <p:cNvSpPr/>
          <p:nvPr/>
        </p:nvSpPr>
        <p:spPr>
          <a:xfrm>
            <a:off x="462280" y="572516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8: 平台初始化固件"/>
          <p:cNvSpPr txBox="1"/>
          <p:nvPr/>
        </p:nvSpPr>
        <p:spPr>
          <a:xfrm>
            <a:off x="583184" y="575303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平台初始化固件</a:t>
            </a:r>
          </a:p>
        </p:txBody>
      </p:sp>
      <p:sp>
        <p:nvSpPr>
          <p:cNvPr id="44" name="text-049: 配置 PLL / 控制寄存器"/>
          <p:cNvSpPr txBox="1"/>
          <p:nvPr/>
        </p:nvSpPr>
        <p:spPr>
          <a:xfrm>
            <a:off x="583184" y="6024433"/>
            <a:ext cx="214213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配置 PLL / 控制寄存器</a:t>
            </a:r>
          </a:p>
        </p:txBody>
      </p:sp>
      <p:sp>
        <p:nvSpPr>
          <p:cNvPr id="45" name="text-050: 轮询状态、超时与失败回退"/>
          <p:cNvSpPr txBox="1"/>
          <p:nvPr/>
        </p:nvSpPr>
        <p:spPr>
          <a:xfrm>
            <a:off x="583184" y="623779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轮询状态、超时与失败回退</a:t>
            </a:r>
          </a:p>
        </p:txBody>
      </p:sp>
      <p:sp>
        <p:nvSpPr>
          <p:cNvPr id="46" name="text-051: 运行软件可重复查询状态"/>
          <p:cNvSpPr txBox="1"/>
          <p:nvPr/>
        </p:nvSpPr>
        <p:spPr>
          <a:xfrm>
            <a:off x="583184" y="645115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运行软件可重复查询状态</a:t>
            </a:r>
          </a:p>
        </p:txBody>
      </p:sp>
      <p:sp>
        <p:nvSpPr>
          <p:cNvPr id="47" name="rect-052"/>
          <p:cNvSpPr/>
          <p:nvPr/>
        </p:nvSpPr>
        <p:spPr>
          <a:xfrm>
            <a:off x="5049520" y="5725160"/>
            <a:ext cx="7325360" cy="1173480"/>
          </a:xfrm>
          <a:prstGeom prst="roundRect">
            <a:avLst>
              <a:gd name="adj" fmla="val 42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53"/>
          <p:cNvSpPr/>
          <p:nvPr/>
        </p:nvSpPr>
        <p:spPr>
          <a:xfrm>
            <a:off x="5049520" y="5725160"/>
            <a:ext cx="35560" cy="11734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54: 放行条件：PLL lock + 初始化 / 校准完成 + 复位协调"/>
          <p:cNvSpPr txBox="1"/>
          <p:nvPr/>
        </p:nvSpPr>
        <p:spPr>
          <a:xfrm>
            <a:off x="5170424" y="5753039"/>
            <a:ext cx="518678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放行条件：PLL lock + 初始化 / 校准完成 + 复位协调</a:t>
            </a:r>
          </a:p>
        </p:txBody>
      </p:sp>
      <p:sp>
        <p:nvSpPr>
          <p:cNvPr id="50" name="text-055: 执行初始化的代码、栈必须先位于可用存储"/>
          <p:cNvSpPr txBox="1"/>
          <p:nvPr/>
        </p:nvSpPr>
        <p:spPr>
          <a:xfrm>
            <a:off x="5170424" y="6024433"/>
            <a:ext cx="34137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执行初始化的代码、栈必须先位于可用存储</a:t>
            </a:r>
          </a:p>
        </p:txBody>
      </p:sp>
      <p:sp>
        <p:nvSpPr>
          <p:cNvPr id="51" name="text-056: 供应商需给出 AXI 限制、容量、ECC / 错误、寄存器、模型与复位顺序"/>
          <p:cNvSpPr txBox="1"/>
          <p:nvPr/>
        </p:nvSpPr>
        <p:spPr>
          <a:xfrm>
            <a:off x="5170424" y="6237793"/>
            <a:ext cx="582899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供应商需给出 AXI 限制、容量、ECC / 错误、寄存器、模型与复位顺序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