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72009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一次推理的两次数据交接"/>
          <p:cNvSpPr txBox="1"/>
          <p:nvPr/>
        </p:nvSpPr>
        <p:spPr>
          <a:xfrm>
            <a:off x="4672584" y="112974"/>
            <a:ext cx="3456432" cy="4608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6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一次推理的两次数据交接</a:t>
            </a:r>
          </a:p>
        </p:txBody>
      </p:sp>
      <p:sp>
        <p:nvSpPr>
          <p:cNvPr id="3" name="stage-1"/>
          <p:cNvSpPr/>
          <p:nvPr/>
        </p:nvSpPr>
        <p:spPr>
          <a:xfrm>
            <a:off x="1440180" y="800100"/>
            <a:ext cx="9921240" cy="896112"/>
          </a:xfrm>
          <a:prstGeom prst="rect">
            <a:avLst/>
          </a:prstGeom>
          <a:solidFill>
            <a:srgbClr val="F1D7D9"/>
          </a:solidFill>
          <a:ln w="136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CPU／Ara 准备输入"/>
          <p:cNvSpPr txBox="1"/>
          <p:nvPr/>
        </p:nvSpPr>
        <p:spPr>
          <a:xfrm>
            <a:off x="5294468" y="829544"/>
            <a:ext cx="2212664" cy="3712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CPU／Ara 准备输入</a:t>
            </a:r>
          </a:p>
        </p:txBody>
      </p:sp>
      <p:sp>
        <p:nvSpPr>
          <p:cNvPr id="5" name="text-005: 计算结束，交出输入与输出范围"/>
          <p:cNvSpPr txBox="1"/>
          <p:nvPr/>
        </p:nvSpPr>
        <p:spPr>
          <a:xfrm>
            <a:off x="4900612" y="1224153"/>
            <a:ext cx="3000375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计算结束，交出输入与输出范围</a:t>
            </a:r>
          </a:p>
        </p:txBody>
      </p:sp>
      <p:cxnSp>
        <p:nvCxnSpPr>
          <p:cNvPr id="6" name="next-1"/>
          <p:cNvCxnSpPr/>
          <p:nvPr/>
        </p:nvCxnSpPr>
        <p:spPr>
          <a:xfrm>
            <a:off x="6400800" y="1696212"/>
            <a:ext cx="0" cy="256032"/>
          </a:xfrm>
          <a:prstGeom prst="line">
            <a:avLst/>
          </a:prstGeom>
          <a:ln w="22403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7" name="stage-2"/>
          <p:cNvSpPr/>
          <p:nvPr/>
        </p:nvSpPr>
        <p:spPr>
          <a:xfrm>
            <a:off x="1440180" y="1952244"/>
            <a:ext cx="9921240" cy="896112"/>
          </a:xfrm>
          <a:prstGeom prst="rect">
            <a:avLst/>
          </a:prstGeom>
          <a:solidFill>
            <a:srgbClr val="E8DFED"/>
          </a:solidFill>
          <a:ln w="136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8: 交接前同步"/>
          <p:cNvSpPr txBox="1"/>
          <p:nvPr/>
        </p:nvSpPr>
        <p:spPr>
          <a:xfrm>
            <a:off x="5704713" y="1981688"/>
            <a:ext cx="1392174" cy="3712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交接前同步</a:t>
            </a:r>
          </a:p>
        </p:txBody>
      </p:sp>
      <p:sp>
        <p:nvSpPr>
          <p:cNvPr id="9" name="text-009: 先排空旧事务，再清理输入、清理并失效输出"/>
          <p:cNvSpPr txBox="1"/>
          <p:nvPr/>
        </p:nvSpPr>
        <p:spPr>
          <a:xfrm>
            <a:off x="4300538" y="2280285"/>
            <a:ext cx="4200525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先排空旧事务，再清理输入、清理并失效输出</a:t>
            </a:r>
          </a:p>
        </p:txBody>
      </p:sp>
      <p:sp>
        <p:nvSpPr>
          <p:cNvPr id="10" name="text-010: 确认设备端口可见，允许启动搬运"/>
          <p:cNvSpPr txBox="1"/>
          <p:nvPr/>
        </p:nvSpPr>
        <p:spPr>
          <a:xfrm>
            <a:off x="4800600" y="2520315"/>
            <a:ext cx="3200400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确认设备端口可见，允许启动搬运</a:t>
            </a:r>
          </a:p>
        </p:txBody>
      </p:sp>
      <p:cxnSp>
        <p:nvCxnSpPr>
          <p:cNvPr id="11" name="next-2"/>
          <p:cNvCxnSpPr/>
          <p:nvPr/>
        </p:nvCxnSpPr>
        <p:spPr>
          <a:xfrm>
            <a:off x="6400800" y="2848356"/>
            <a:ext cx="0" cy="256032"/>
          </a:xfrm>
          <a:prstGeom prst="line">
            <a:avLst/>
          </a:prstGeom>
          <a:ln w="22403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2" name="stage-3"/>
          <p:cNvSpPr/>
          <p:nvPr/>
        </p:nvSpPr>
        <p:spPr>
          <a:xfrm>
            <a:off x="1440180" y="3104388"/>
            <a:ext cx="9921240" cy="896112"/>
          </a:xfrm>
          <a:prstGeom prst="rect">
            <a:avLst/>
          </a:prstGeom>
          <a:solidFill>
            <a:srgbClr val="D9EEE8"/>
          </a:solidFill>
          <a:ln w="136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设备执行"/>
          <p:cNvSpPr txBox="1"/>
          <p:nvPr/>
        </p:nvSpPr>
        <p:spPr>
          <a:xfrm>
            <a:off x="5820728" y="3133832"/>
            <a:ext cx="1160145" cy="3712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设备执行</a:t>
            </a:r>
          </a:p>
        </p:txBody>
      </p:sp>
      <p:sp>
        <p:nvSpPr>
          <p:cNvPr id="14" name="text-014: DDR → GB → NPU 计算 → 结果从 GB 写回 DDR"/>
          <p:cNvSpPr txBox="1"/>
          <p:nvPr/>
        </p:nvSpPr>
        <p:spPr>
          <a:xfrm>
            <a:off x="4171709" y="3528441"/>
            <a:ext cx="4458182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→ GB → NPU 计算 → 结果从 GB 写回 DDR</a:t>
            </a:r>
          </a:p>
        </p:txBody>
      </p:sp>
      <p:cxnSp>
        <p:nvCxnSpPr>
          <p:cNvPr id="15" name="next-3"/>
          <p:cNvCxnSpPr/>
          <p:nvPr/>
        </p:nvCxnSpPr>
        <p:spPr>
          <a:xfrm>
            <a:off x="6400800" y="4000500"/>
            <a:ext cx="0" cy="256032"/>
          </a:xfrm>
          <a:prstGeom prst="line">
            <a:avLst/>
          </a:prstGeom>
          <a:ln w="22403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6" name="stage-4"/>
          <p:cNvSpPr/>
          <p:nvPr/>
        </p:nvSpPr>
        <p:spPr>
          <a:xfrm>
            <a:off x="1440180" y="4256532"/>
            <a:ext cx="9921240" cy="896112"/>
          </a:xfrm>
          <a:prstGeom prst="rect">
            <a:avLst/>
          </a:prstGeom>
          <a:solidFill>
            <a:srgbClr val="E8DFED"/>
          </a:solidFill>
          <a:ln w="136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交回 CPU 前同步"/>
          <p:cNvSpPr txBox="1"/>
          <p:nvPr/>
        </p:nvSpPr>
        <p:spPr>
          <a:xfrm>
            <a:off x="5424197" y="4285976"/>
            <a:ext cx="1953207" cy="3712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交回 CPU 前同步</a:t>
            </a:r>
          </a:p>
        </p:txBody>
      </p:sp>
      <p:sp>
        <p:nvSpPr>
          <p:cNvPr id="18" name="text-018: 确认写回成功且 CPU 端口可见"/>
          <p:cNvSpPr txBox="1"/>
          <p:nvPr/>
        </p:nvSpPr>
        <p:spPr>
          <a:xfrm>
            <a:off x="4958826" y="4584573"/>
            <a:ext cx="2883948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确认写回成功且 CPU 端口可见</a:t>
            </a:r>
          </a:p>
        </p:txBody>
      </p:sp>
      <p:sp>
        <p:nvSpPr>
          <p:cNvPr id="19" name="text-019: 处理相关回填，再失效 L1D／LLC 输出副本"/>
          <p:cNvSpPr txBox="1"/>
          <p:nvPr/>
        </p:nvSpPr>
        <p:spPr>
          <a:xfrm>
            <a:off x="4402794" y="4824603"/>
            <a:ext cx="3996012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处理相关回填，再失效 L1D／LLC 输出副本</a:t>
            </a:r>
          </a:p>
        </p:txBody>
      </p:sp>
      <p:cxnSp>
        <p:nvCxnSpPr>
          <p:cNvPr id="20" name="next-4"/>
          <p:cNvCxnSpPr/>
          <p:nvPr/>
        </p:nvCxnSpPr>
        <p:spPr>
          <a:xfrm>
            <a:off x="6400800" y="5152644"/>
            <a:ext cx="0" cy="256032"/>
          </a:xfrm>
          <a:prstGeom prst="line">
            <a:avLst/>
          </a:prstGeom>
          <a:ln w="22403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21" name="stage-5"/>
          <p:cNvSpPr/>
          <p:nvPr/>
        </p:nvSpPr>
        <p:spPr>
          <a:xfrm>
            <a:off x="1440180" y="5408676"/>
            <a:ext cx="9921240" cy="896112"/>
          </a:xfrm>
          <a:prstGeom prst="rect">
            <a:avLst/>
          </a:prstGeom>
          <a:solidFill>
            <a:srgbClr val="F1D7D9"/>
          </a:solidFill>
          <a:ln w="136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2: CPU 读取结果并后处理"/>
          <p:cNvSpPr txBox="1"/>
          <p:nvPr/>
        </p:nvSpPr>
        <p:spPr>
          <a:xfrm>
            <a:off x="5110933" y="5438120"/>
            <a:ext cx="2579735" cy="3712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读取结果并后处理</a:t>
            </a:r>
          </a:p>
        </p:txBody>
      </p:sp>
      <p:sp>
        <p:nvSpPr>
          <p:cNvPr id="23" name="text-023: 同步成功后重新取得输出使用权"/>
          <p:cNvSpPr txBox="1"/>
          <p:nvPr/>
        </p:nvSpPr>
        <p:spPr>
          <a:xfrm>
            <a:off x="4900612" y="5832729"/>
            <a:ext cx="3000375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同步成功后重新取得输出使用权</a:t>
            </a:r>
          </a:p>
        </p:txBody>
      </p:sp>
      <p:sp>
        <p:nvSpPr>
          <p:cNvPr id="24" name="text-024: 箭头表示先后顺序；每个阶段成功后才进入下一阶段。"/>
          <p:cNvSpPr txBox="1"/>
          <p:nvPr/>
        </p:nvSpPr>
        <p:spPr>
          <a:xfrm>
            <a:off x="4000500" y="6593464"/>
            <a:ext cx="4800600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箭头表示先后顺序；每个阶段成功后才进入下一阶段。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