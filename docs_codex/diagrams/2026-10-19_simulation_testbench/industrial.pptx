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1: Cheshire + CVA6 + Ara｜仿真测试平台结构与验证流程"/>
          <p:cNvSpPr txBox="1"/>
          <p:nvPr/>
        </p:nvSpPr>
        <p:spPr>
          <a:xfrm>
            <a:off x="357188" y="89725"/>
            <a:ext cx="7675636" cy="4914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Cheshire + CVA6 + Ara｜仿真测试平台结构与验证流程</a:t>
            </a:r>
          </a:p>
        </p:txBody>
      </p:sp>
      <p:sp>
        <p:nvSpPr>
          <p:cNvPr id="3" name="t2: 工业框图版"/>
          <p:cNvSpPr txBox="1"/>
          <p:nvPr/>
        </p:nvSpPr>
        <p:spPr>
          <a:xfrm>
            <a:off x="16644938" y="182880"/>
            <a:ext cx="12858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工业框图版</a:t>
            </a:r>
          </a:p>
        </p:txBody>
      </p:sp>
      <p:sp>
        <p:nvSpPr>
          <p:cNvPr id="4" name="host"/>
          <p:cNvSpPr/>
          <p:nvPr/>
        </p:nvSpPr>
        <p:spPr>
          <a:xfrm>
            <a:off x="178594" y="642938"/>
            <a:ext cx="17930812" cy="9144000"/>
          </a:xfrm>
          <a:prstGeom prst="rect">
            <a:avLst/>
          </a:prstGeom>
          <a:solidFill>
            <a:srgbClr val="FFFFFF"/>
          </a:solidFill>
          <a:ln w="14288" cap="flat">
            <a:solidFill>
              <a:srgbClr val="8190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3: 主机侧：VCS / simv 仿真环境"/>
          <p:cNvSpPr txBox="1"/>
          <p:nvPr/>
        </p:nvSpPr>
        <p:spPr>
          <a:xfrm>
            <a:off x="342900" y="677513"/>
            <a:ext cx="2745566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主机侧：VCS / simv 仿真环境</a:t>
            </a:r>
          </a:p>
        </p:txBody>
      </p:sp>
      <p:sp>
        <p:nvSpPr>
          <p:cNvPr id="6" name="build"/>
          <p:cNvSpPr/>
          <p:nvPr/>
        </p:nvSpPr>
        <p:spPr>
          <a:xfrm>
            <a:off x="392906" y="1107281"/>
            <a:ext cx="5250656" cy="964406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4: 准备：compile → start（展开 / DPI 联编）"/>
          <p:cNvSpPr txBox="1"/>
          <p:nvPr/>
        </p:nvSpPr>
        <p:spPr>
          <a:xfrm>
            <a:off x="1027126" y="1173432"/>
            <a:ext cx="398221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准备：compile → start（展开 / DPI 联编）</a:t>
            </a:r>
          </a:p>
        </p:txBody>
      </p:sp>
      <p:sp>
        <p:nvSpPr>
          <p:cNvPr id="8" name="t5: CPU profile / Ara decoder / 宏：须独立核对"/>
          <p:cNvSpPr txBox="1"/>
          <p:nvPr/>
        </p:nvSpPr>
        <p:spPr>
          <a:xfrm>
            <a:off x="989616" y="1444895"/>
            <a:ext cx="405723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CPU profile / Ara decoder / 宏：须独立核对</a:t>
            </a:r>
          </a:p>
        </p:txBody>
      </p:sp>
      <p:sp>
        <p:nvSpPr>
          <p:cNvPr id="9" name="t6: SELCFG=3 → SelectedCfg（展开参数）"/>
          <p:cNvSpPr txBox="1"/>
          <p:nvPr/>
        </p:nvSpPr>
        <p:spPr>
          <a:xfrm>
            <a:off x="1171201" y="1716357"/>
            <a:ext cx="369406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SELCFG=3 → SelectedCfg（展开参数）</a:t>
            </a:r>
          </a:p>
        </p:txBody>
      </p:sp>
      <p:sp>
        <p:nvSpPr>
          <p:cNvPr id="10" name="input"/>
          <p:cNvSpPr/>
          <p:nvPr/>
        </p:nvSpPr>
        <p:spPr>
          <a:xfrm>
            <a:off x="6072188" y="1107281"/>
            <a:ext cx="4214812" cy="964406"/>
          </a:xfrm>
          <a:prstGeom prst="rect">
            <a:avLst/>
          </a:prstGeom>
          <a:solidFill>
            <a:srgbClr val="D9EEE8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7: 运行输入：fmatmul.spm.elf"/>
          <p:cNvSpPr txBox="1"/>
          <p:nvPr/>
        </p:nvSpPr>
        <p:spPr>
          <a:xfrm>
            <a:off x="6866316" y="1173432"/>
            <a:ext cx="26265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运行输入：fmatmul.spm.elf</a:t>
            </a:r>
          </a:p>
        </p:txBody>
      </p:sp>
      <p:sp>
        <p:nvSpPr>
          <p:cNvPr id="12" name="t8: BOOTMODE=0 · PRELMODE=1"/>
          <p:cNvSpPr txBox="1"/>
          <p:nvPr/>
        </p:nvSpPr>
        <p:spPr>
          <a:xfrm>
            <a:off x="6748611" y="1444895"/>
            <a:ext cx="28619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BOOTMODE=0 · PRELMODE=1</a:t>
            </a:r>
          </a:p>
        </p:txBody>
      </p:sp>
      <p:sp>
        <p:nvSpPr>
          <p:cNvPr id="13" name="t9: BINARY 为主机文件路径"/>
          <p:cNvSpPr txBox="1"/>
          <p:nvPr/>
        </p:nvSpPr>
        <p:spPr>
          <a:xfrm>
            <a:off x="7021821" y="1716357"/>
            <a:ext cx="231554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BINARY 为主机文件路径</a:t>
            </a:r>
          </a:p>
        </p:txBody>
      </p:sp>
      <p:sp>
        <p:nvSpPr>
          <p:cNvPr id="14" name="dpi"/>
          <p:cNvSpPr/>
          <p:nvPr/>
        </p:nvSpPr>
        <p:spPr>
          <a:xfrm>
            <a:off x="10787062" y="1107281"/>
            <a:ext cx="3000375" cy="964406"/>
          </a:xfrm>
          <a:prstGeom prst="rect">
            <a:avLst/>
          </a:prstGeom>
          <a:solidFill>
            <a:srgbClr val="D9EEE8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10: DPI · elfloader.cpp"/>
          <p:cNvSpPr txBox="1"/>
          <p:nvPr/>
        </p:nvSpPr>
        <p:spPr>
          <a:xfrm>
            <a:off x="11390330" y="1173432"/>
            <a:ext cx="17938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DPI · elfloader.cpp</a:t>
            </a:r>
          </a:p>
        </p:txBody>
      </p:sp>
      <p:sp>
        <p:nvSpPr>
          <p:cNvPr id="16" name="t11: 解析 PT_LOAD / 入口"/>
          <p:cNvSpPr txBox="1"/>
          <p:nvPr/>
        </p:nvSpPr>
        <p:spPr>
          <a:xfrm>
            <a:off x="11251456" y="1444895"/>
            <a:ext cx="207158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解析 PT_LOAD / 入口</a:t>
            </a:r>
          </a:p>
        </p:txBody>
      </p:sp>
      <p:sp>
        <p:nvSpPr>
          <p:cNvPr id="17" name="t12: 不直接写 CPU 硬件端口"/>
          <p:cNvSpPr txBox="1"/>
          <p:nvPr/>
        </p:nvSpPr>
        <p:spPr>
          <a:xfrm>
            <a:off x="11145299" y="1716357"/>
            <a:ext cx="228390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不直接写 CPU 硬件端口</a:t>
            </a:r>
          </a:p>
        </p:txBody>
      </p:sp>
      <p:sp>
        <p:nvSpPr>
          <p:cNvPr id="18" name="elf-dpi"/>
          <p:cNvSpPr/>
          <p:nvPr/>
        </p:nvSpPr>
        <p:spPr>
          <a:xfrm>
            <a:off x="10287000" y="1571625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13: ELF"/>
          <p:cNvSpPr txBox="1"/>
          <p:nvPr/>
        </p:nvSpPr>
        <p:spPr>
          <a:xfrm>
            <a:off x="10310301" y="1271588"/>
            <a:ext cx="4534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20" name="tb"/>
          <p:cNvSpPr/>
          <p:nvPr/>
        </p:nvSpPr>
        <p:spPr>
          <a:xfrm>
            <a:off x="392906" y="2321719"/>
            <a:ext cx="13608844" cy="7250906"/>
          </a:xfrm>
          <a:prstGeom prst="rect">
            <a:avLst/>
          </a:prstGeom>
          <a:solidFill>
            <a:srgbClr val="F7F8FA"/>
          </a:solidFill>
          <a:ln w="14288" cap="flat">
            <a:solidFill>
              <a:srgbClr val="5466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14: 仿真顶层：tb_cheshire_soc"/>
          <p:cNvSpPr txBox="1"/>
          <p:nvPr/>
        </p:nvSpPr>
        <p:spPr>
          <a:xfrm>
            <a:off x="571500" y="2333149"/>
            <a:ext cx="2809704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仿真顶层：tb_cheshire_soc</a:t>
            </a:r>
          </a:p>
        </p:txBody>
      </p:sp>
      <p:sp>
        <p:nvSpPr>
          <p:cNvPr id="22" name="control"/>
          <p:cNvSpPr/>
          <p:nvPr/>
        </p:nvSpPr>
        <p:spPr>
          <a:xfrm>
            <a:off x="642938" y="2750344"/>
            <a:ext cx="13108781" cy="528638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15: TB：读取 plusargs → 调用 VIP → 等待 exit_code 返"/>
          <p:cNvSpPr txBox="1"/>
          <p:nvPr/>
        </p:nvSpPr>
        <p:spPr>
          <a:xfrm>
            <a:off x="3132864" y="2862358"/>
            <a:ext cx="812892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TB：读取 plusargs → 调用 VIP → 等待 exit_code 返回及 UART 当前字节结束 → $finish</a:t>
            </a:r>
          </a:p>
        </p:txBody>
      </p:sp>
      <p:sp>
        <p:nvSpPr>
          <p:cNvPr id="24" name="args"/>
          <p:cNvSpPr/>
          <p:nvPr/>
        </p:nvSpPr>
        <p:spPr>
          <a:xfrm>
            <a:off x="8179594" y="2071688"/>
            <a:ext cx="1" cy="678656"/>
          </a:xfrm>
          <a:custGeom>
            <a:avLst/>
            <a:gdLst/>
            <a:ahLst/>
            <a:cxnLst/>
            <a:rect l="0" t="0" r="r" b="b"/>
            <a:pathLst>
              <a:path w="1" h="678656" fill="none">
                <a:moveTo>
                  <a:pt x="0" y="0"/>
                </a:moveTo>
                <a:lnTo>
                  <a:pt x="0" y="678656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16: 运行 plusargs"/>
          <p:cNvSpPr txBox="1"/>
          <p:nvPr/>
        </p:nvSpPr>
        <p:spPr>
          <a:xfrm>
            <a:off x="8517610" y="2064544"/>
            <a:ext cx="125277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运行 plusargs</a:t>
            </a:r>
          </a:p>
        </p:txBody>
      </p:sp>
      <p:sp>
        <p:nvSpPr>
          <p:cNvPr id="26" name="config"/>
          <p:cNvSpPr/>
          <p:nvPr/>
        </p:nvSpPr>
        <p:spPr>
          <a:xfrm>
            <a:off x="3000375" y="2071688"/>
            <a:ext cx="2714625" cy="678656"/>
          </a:xfrm>
          <a:custGeom>
            <a:avLst/>
            <a:gdLst/>
            <a:ahLst/>
            <a:cxnLst/>
            <a:rect l="0" t="0" r="r" b="b"/>
            <a:pathLst>
              <a:path w="2714625" h="678656" fill="none">
                <a:moveTo>
                  <a:pt x="0" y="0"/>
                </a:moveTo>
                <a:lnTo>
                  <a:pt x="0" y="142875"/>
                </a:lnTo>
                <a:lnTo>
                  <a:pt x="2714625" y="142875"/>
                </a:lnTo>
                <a:lnTo>
                  <a:pt x="2714625" y="678656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17: 展开选定结构"/>
          <p:cNvSpPr txBox="1"/>
          <p:nvPr/>
        </p:nvSpPr>
        <p:spPr>
          <a:xfrm>
            <a:off x="6090047" y="2350294"/>
            <a:ext cx="125015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展开选定结构</a:t>
            </a:r>
          </a:p>
        </p:txBody>
      </p:sp>
      <p:sp>
        <p:nvSpPr>
          <p:cNvPr id="28" name="fixture"/>
          <p:cNvSpPr/>
          <p:nvPr/>
        </p:nvSpPr>
        <p:spPr>
          <a:xfrm>
            <a:off x="571500" y="3536156"/>
            <a:ext cx="13251656" cy="5786438"/>
          </a:xfrm>
          <a:prstGeom prst="rect">
            <a:avLst/>
          </a:prstGeom>
          <a:solidFill>
            <a:srgbClr val="E9EDF1"/>
          </a:solidFill>
          <a:ln w="14288" cap="flat">
            <a:solidFill>
              <a:srgbClr val="5261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18: fixture_cheshire_soc · fix"/>
          <p:cNvSpPr txBox="1"/>
          <p:nvPr/>
        </p:nvSpPr>
        <p:spPr>
          <a:xfrm>
            <a:off x="750094" y="3555302"/>
            <a:ext cx="243726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fixture_cheshire_soc · fix</a:t>
            </a:r>
          </a:p>
        </p:txBody>
      </p:sp>
      <p:sp>
        <p:nvSpPr>
          <p:cNvPr id="30" name="vip"/>
          <p:cNvSpPr/>
          <p:nvPr/>
        </p:nvSpPr>
        <p:spPr>
          <a:xfrm>
            <a:off x="785812" y="3929062"/>
            <a:ext cx="3357562" cy="5179219"/>
          </a:xfrm>
          <a:prstGeom prst="rect">
            <a:avLst/>
          </a:prstGeom>
          <a:solidFill>
            <a:srgbClr val="EDF3EE"/>
          </a:solidFill>
          <a:ln w="14288" cap="flat">
            <a:solidFill>
              <a:srgbClr val="5477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19: vip_cheshire_soc · fix.vip"/>
          <p:cNvSpPr txBox="1"/>
          <p:nvPr/>
        </p:nvSpPr>
        <p:spPr>
          <a:xfrm>
            <a:off x="964406" y="3955923"/>
            <a:ext cx="23613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vip_cheshire_soc · fix.vip</a:t>
            </a:r>
          </a:p>
        </p:txBody>
      </p:sp>
      <p:sp>
        <p:nvSpPr>
          <p:cNvPr id="32" name="dut"/>
          <p:cNvSpPr/>
          <p:nvPr/>
        </p:nvSpPr>
        <p:spPr>
          <a:xfrm>
            <a:off x="4964906" y="3929062"/>
            <a:ext cx="8643938" cy="5179219"/>
          </a:xfrm>
          <a:prstGeom prst="rect">
            <a:avLst/>
          </a:prstGeom>
          <a:solidFill>
            <a:srgbClr val="F1D7D9"/>
          </a:solidFill>
          <a:ln w="14288" cap="flat">
            <a:solidFill>
              <a:srgbClr val="715F6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20: DUT 硬件 · fix.dut : cheshire_soc"/>
          <p:cNvSpPr txBox="1"/>
          <p:nvPr/>
        </p:nvSpPr>
        <p:spPr>
          <a:xfrm>
            <a:off x="5143500" y="3948208"/>
            <a:ext cx="3162337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DUT 硬件 · fix.dut : cheshire_soc</a:t>
            </a:r>
          </a:p>
        </p:txBody>
      </p:sp>
      <p:sp>
        <p:nvSpPr>
          <p:cNvPr id="34" name="call-vip"/>
          <p:cNvSpPr/>
          <p:nvPr/>
        </p:nvSpPr>
        <p:spPr>
          <a:xfrm>
            <a:off x="471488" y="3014662"/>
            <a:ext cx="314325" cy="1343025"/>
          </a:xfrm>
          <a:custGeom>
            <a:avLst/>
            <a:gdLst/>
            <a:ahLst/>
            <a:cxnLst/>
            <a:rect l="0" t="0" r="r" b="b"/>
            <a:pathLst>
              <a:path w="314325" h="1343025" fill="none">
                <a:moveTo>
                  <a:pt x="171450" y="0"/>
                </a:moveTo>
                <a:lnTo>
                  <a:pt x="0" y="0"/>
                </a:lnTo>
                <a:lnTo>
                  <a:pt x="0" y="1343025"/>
                </a:lnTo>
                <a:lnTo>
                  <a:pt x="314325" y="1343025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21: 调用 VIP"/>
          <p:cNvSpPr txBox="1"/>
          <p:nvPr/>
        </p:nvSpPr>
        <p:spPr>
          <a:xfrm>
            <a:off x="868083" y="3278981"/>
            <a:ext cx="83558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调用 VIP</a:t>
            </a:r>
          </a:p>
        </p:txBody>
      </p:sp>
      <p:sp>
        <p:nvSpPr>
          <p:cNvPr id="36" name="stim"/>
          <p:cNvSpPr/>
          <p:nvPr/>
        </p:nvSpPr>
        <p:spPr>
          <a:xfrm>
            <a:off x="1000125" y="4429125"/>
            <a:ext cx="2857500" cy="714375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22: VIP：时钟 / 复位 / 模式"/>
          <p:cNvSpPr txBox="1"/>
          <p:nvPr/>
        </p:nvSpPr>
        <p:spPr>
          <a:xfrm>
            <a:off x="1308495" y="4513707"/>
            <a:ext cx="224076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VIP：时钟 / 复位 / 模式</a:t>
            </a:r>
          </a:p>
        </p:txBody>
      </p:sp>
      <p:sp>
        <p:nvSpPr>
          <p:cNvPr id="38" name="t23: clk、rst_n、rtc、boot_mode"/>
          <p:cNvSpPr txBox="1"/>
          <p:nvPr/>
        </p:nvSpPr>
        <p:spPr>
          <a:xfrm>
            <a:off x="1135873" y="4785170"/>
            <a:ext cx="2586004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clk、rst_n、rtc、boot_mode</a:t>
            </a:r>
          </a:p>
        </p:txBody>
      </p:sp>
      <p:sp>
        <p:nvSpPr>
          <p:cNvPr id="39" name="stim-dut"/>
          <p:cNvSpPr/>
          <p:nvPr/>
        </p:nvSpPr>
        <p:spPr>
          <a:xfrm>
            <a:off x="3857625" y="4750594"/>
            <a:ext cx="1107281" cy="1"/>
          </a:xfrm>
          <a:custGeom>
            <a:avLst/>
            <a:gdLst/>
            <a:ahLst/>
            <a:cxnLst/>
            <a:rect l="0" t="0" r="r" b="b"/>
            <a:pathLst>
              <a:path w="1107281" h="1" fill="none">
                <a:moveTo>
                  <a:pt x="0" y="0"/>
                </a:moveTo>
                <a:lnTo>
                  <a:pt x="1107281" y="0"/>
                </a:lnTo>
              </a:path>
            </a:pathLst>
          </a:custGeom>
          <a:noFill/>
          <a:ln w="21431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24: 激励"/>
          <p:cNvSpPr txBox="1"/>
          <p:nvPr/>
        </p:nvSpPr>
        <p:spPr>
          <a:xfrm>
            <a:off x="4504134" y="4343400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41" name="slink-vip"/>
          <p:cNvSpPr/>
          <p:nvPr/>
        </p:nvSpPr>
        <p:spPr>
          <a:xfrm>
            <a:off x="1000125" y="5536406"/>
            <a:ext cx="2857500" cy="1071562"/>
          </a:xfrm>
          <a:prstGeom prst="rect">
            <a:avLst/>
          </a:prstGeom>
          <a:solidFill>
            <a:srgbClr val="D9EEE8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25: Serial Link 驱动与任务"/>
          <p:cNvSpPr txBox="1"/>
          <p:nvPr/>
        </p:nvSpPr>
        <p:spPr>
          <a:xfrm>
            <a:off x="1419106" y="5535835"/>
            <a:ext cx="2019538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Serial Link 驱动与任务</a:t>
            </a:r>
          </a:p>
        </p:txBody>
      </p:sp>
      <p:sp>
        <p:nvSpPr>
          <p:cNvPr id="43" name="t26: 等待 SPM → 装载 → 启动"/>
          <p:cNvSpPr txBox="1"/>
          <p:nvPr/>
        </p:nvSpPr>
        <p:spPr>
          <a:xfrm>
            <a:off x="1268278" y="5807297"/>
            <a:ext cx="2321194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等待 SPM → 装载 → 启动</a:t>
            </a:r>
          </a:p>
        </p:txBody>
      </p:sp>
      <p:sp>
        <p:nvSpPr>
          <p:cNvPr id="44" name="t27: 轮询完成位 · rc=完成码&gt;&gt;1"/>
          <p:cNvSpPr txBox="1"/>
          <p:nvPr/>
        </p:nvSpPr>
        <p:spPr>
          <a:xfrm>
            <a:off x="1218210" y="6078760"/>
            <a:ext cx="2421329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轮询完成位 · rc=完成码&gt;&gt;1</a:t>
            </a:r>
          </a:p>
        </p:txBody>
      </p:sp>
      <p:sp>
        <p:nvSpPr>
          <p:cNvPr id="45" name="t28: rc=0：SUCCESS；否则 FAILED"/>
          <p:cNvSpPr txBox="1"/>
          <p:nvPr/>
        </p:nvSpPr>
        <p:spPr>
          <a:xfrm>
            <a:off x="1072003" y="6350222"/>
            <a:ext cx="2713743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rc=0：SUCCESS；否则 FAILED</a:t>
            </a:r>
          </a:p>
        </p:txBody>
      </p:sp>
      <p:sp>
        <p:nvSpPr>
          <p:cNvPr id="46" name="uart-monitor"/>
          <p:cNvSpPr/>
          <p:nvPr/>
        </p:nvSpPr>
        <p:spPr>
          <a:xfrm>
            <a:off x="1000125" y="7179469"/>
            <a:ext cx="2857500" cy="585788"/>
          </a:xfrm>
          <a:prstGeom prst="rect">
            <a:avLst/>
          </a:prstGeom>
          <a:solidFill>
            <a:srgbClr val="F1F3F5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29: UART 监视"/>
          <p:cNvSpPr txBox="1"/>
          <p:nvPr/>
        </p:nvSpPr>
        <p:spPr>
          <a:xfrm>
            <a:off x="1887055" y="7199757"/>
            <a:ext cx="108364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UART 监视</a:t>
            </a:r>
          </a:p>
        </p:txBody>
      </p:sp>
      <p:sp>
        <p:nvSpPr>
          <p:cNvPr id="48" name="t30: 接收字节 → [UART] 文本"/>
          <p:cNvSpPr txBox="1"/>
          <p:nvPr/>
        </p:nvSpPr>
        <p:spPr>
          <a:xfrm>
            <a:off x="1289190" y="7471219"/>
            <a:ext cx="227937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接收字节 → [UART] 文本</a:t>
            </a:r>
          </a:p>
        </p:txBody>
      </p:sp>
      <p:sp>
        <p:nvSpPr>
          <p:cNvPr id="49" name="vip-report"/>
          <p:cNvSpPr/>
          <p:nvPr/>
        </p:nvSpPr>
        <p:spPr>
          <a:xfrm>
            <a:off x="1000125" y="8643938"/>
            <a:ext cx="2857500" cy="357188"/>
          </a:xfrm>
          <a:prstGeom prst="rect">
            <a:avLst/>
          </a:prstGeom>
          <a:solidFill>
            <a:srgbClr val="F1F3F5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31: VIP 输出：$display / $error"/>
          <p:cNvSpPr txBox="1"/>
          <p:nvPr/>
        </p:nvSpPr>
        <p:spPr>
          <a:xfrm>
            <a:off x="1261910" y="8701088"/>
            <a:ext cx="233393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 输出：$display / $error</a:t>
            </a:r>
          </a:p>
        </p:txBody>
      </p:sp>
      <p:sp>
        <p:nvSpPr>
          <p:cNvPr id="51" name="uart-report"/>
          <p:cNvSpPr/>
          <p:nvPr/>
        </p:nvSpPr>
        <p:spPr>
          <a:xfrm>
            <a:off x="2428875" y="7765256"/>
            <a:ext cx="1" cy="878681"/>
          </a:xfrm>
          <a:custGeom>
            <a:avLst/>
            <a:gdLst/>
            <a:ahLst/>
            <a:cxnLst/>
            <a:rect l="0" t="0" r="r" b="b"/>
            <a:pathLst>
              <a:path w="1" h="878681" fill="none">
                <a:moveTo>
                  <a:pt x="0" y="0"/>
                </a:moveTo>
                <a:lnTo>
                  <a:pt x="0" y="878681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slink-report"/>
          <p:cNvSpPr/>
          <p:nvPr/>
        </p:nvSpPr>
        <p:spPr>
          <a:xfrm>
            <a:off x="892969" y="6357938"/>
            <a:ext cx="107156" cy="2464594"/>
          </a:xfrm>
          <a:custGeom>
            <a:avLst/>
            <a:gdLst/>
            <a:ahLst/>
            <a:cxnLst/>
            <a:rect l="0" t="0" r="r" b="b"/>
            <a:pathLst>
              <a:path w="107156" h="2464594" fill="none">
                <a:moveTo>
                  <a:pt x="107156" y="0"/>
                </a:moveTo>
                <a:lnTo>
                  <a:pt x="0" y="0"/>
                </a:lnTo>
                <a:lnTo>
                  <a:pt x="0" y="2464594"/>
                </a:lnTo>
                <a:lnTo>
                  <a:pt x="107156" y="2464594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dpi-task"/>
          <p:cNvSpPr/>
          <p:nvPr/>
        </p:nvSpPr>
        <p:spPr>
          <a:xfrm>
            <a:off x="3857625" y="2071688"/>
            <a:ext cx="10472738" cy="3679031"/>
          </a:xfrm>
          <a:custGeom>
            <a:avLst/>
            <a:gdLst/>
            <a:ahLst/>
            <a:cxnLst/>
            <a:rect l="0" t="0" r="r" b="b"/>
            <a:pathLst>
              <a:path w="10472738" h="3679031" fill="none">
                <a:moveTo>
                  <a:pt x="8429625" y="0"/>
                </a:moveTo>
                <a:lnTo>
                  <a:pt x="8429625" y="392906"/>
                </a:lnTo>
                <a:lnTo>
                  <a:pt x="10358438" y="392906"/>
                </a:lnTo>
                <a:lnTo>
                  <a:pt x="10358438" y="842962"/>
                </a:lnTo>
                <a:cubicBezTo>
                  <a:pt x="10472738" y="842962"/>
                  <a:pt x="10472738" y="1042988"/>
                  <a:pt x="10358438" y="1042988"/>
                </a:cubicBezTo>
                <a:lnTo>
                  <a:pt x="10358438" y="1321594"/>
                </a:lnTo>
                <a:lnTo>
                  <a:pt x="142875" y="1321594"/>
                </a:lnTo>
                <a:lnTo>
                  <a:pt x="142875" y="2578894"/>
                </a:lnTo>
                <a:cubicBezTo>
                  <a:pt x="257175" y="2578894"/>
                  <a:pt x="257175" y="2778919"/>
                  <a:pt x="142875" y="2778919"/>
                </a:cubicBezTo>
                <a:lnTo>
                  <a:pt x="142875" y="3679031"/>
                </a:lnTo>
                <a:lnTo>
                  <a:pt x="0" y="3679031"/>
                </a:lnTo>
              </a:path>
            </a:pathLst>
          </a:custGeom>
          <a:noFill/>
          <a:ln w="21431" cap="flat">
            <a:solidFill>
              <a:srgbClr val="247D75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32: DPI 返回：段地址 / 段数据 / 入口"/>
          <p:cNvSpPr txBox="1"/>
          <p:nvPr/>
        </p:nvSpPr>
        <p:spPr>
          <a:xfrm>
            <a:off x="10249791" y="3629025"/>
            <a:ext cx="286048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DPI 返回：段地址 / 段数据 / 入口</a:t>
            </a:r>
          </a:p>
        </p:txBody>
      </p:sp>
      <p:sp>
        <p:nvSpPr>
          <p:cNvPr id="55" name="task-return"/>
          <p:cNvSpPr/>
          <p:nvPr/>
        </p:nvSpPr>
        <p:spPr>
          <a:xfrm>
            <a:off x="3857625" y="3278981"/>
            <a:ext cx="757238" cy="2793206"/>
          </a:xfrm>
          <a:custGeom>
            <a:avLst/>
            <a:gdLst/>
            <a:ahLst/>
            <a:cxnLst/>
            <a:rect l="0" t="0" r="r" b="b"/>
            <a:pathLst>
              <a:path w="757238" h="2793206" fill="none">
                <a:moveTo>
                  <a:pt x="0" y="2793206"/>
                </a:moveTo>
                <a:lnTo>
                  <a:pt x="642938" y="2793206"/>
                </a:lnTo>
                <a:lnTo>
                  <a:pt x="642938" y="1571625"/>
                </a:lnTo>
                <a:cubicBezTo>
                  <a:pt x="757238" y="1571625"/>
                  <a:pt x="757238" y="1371600"/>
                  <a:pt x="642938" y="1371600"/>
                </a:cubicBezTo>
                <a:lnTo>
                  <a:pt x="642938" y="214312"/>
                </a:lnTo>
                <a:cubicBezTo>
                  <a:pt x="757238" y="214312"/>
                  <a:pt x="757238" y="14288"/>
                  <a:pt x="642938" y="14288"/>
                </a:cubicBezTo>
                <a:lnTo>
                  <a:pt x="642938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33: rc"/>
          <p:cNvSpPr txBox="1"/>
          <p:nvPr/>
        </p:nvSpPr>
        <p:spPr>
          <a:xfrm>
            <a:off x="4604253" y="5200650"/>
            <a:ext cx="321257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57" name="cpu"/>
          <p:cNvSpPr/>
          <p:nvPr/>
        </p:nvSpPr>
        <p:spPr>
          <a:xfrm>
            <a:off x="5286375" y="4643438"/>
            <a:ext cx="2143125" cy="642938"/>
          </a:xfrm>
          <a:prstGeom prst="rect">
            <a:avLst/>
          </a:prstGeom>
          <a:solidFill>
            <a:srgbClr val="D8E8F4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34: CVA6 · CPU"/>
          <p:cNvSpPr txBox="1"/>
          <p:nvPr/>
        </p:nvSpPr>
        <p:spPr>
          <a:xfrm>
            <a:off x="5736934" y="4676870"/>
            <a:ext cx="1242008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CVA6 · CPU</a:t>
            </a:r>
          </a:p>
        </p:txBody>
      </p:sp>
      <p:sp>
        <p:nvSpPr>
          <p:cNvPr id="59" name="t35: i_core_cva6"/>
          <p:cNvSpPr txBox="1"/>
          <p:nvPr/>
        </p:nvSpPr>
        <p:spPr>
          <a:xfrm>
            <a:off x="5718427" y="4948333"/>
            <a:ext cx="1279021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i_core_cva6</a:t>
            </a:r>
          </a:p>
        </p:txBody>
      </p:sp>
      <p:sp>
        <p:nvSpPr>
          <p:cNvPr id="60" name="ara"/>
          <p:cNvSpPr/>
          <p:nvPr/>
        </p:nvSpPr>
        <p:spPr>
          <a:xfrm>
            <a:off x="10322719" y="4643438"/>
            <a:ext cx="2857500" cy="642938"/>
          </a:xfrm>
          <a:prstGeom prst="rect">
            <a:avLst/>
          </a:prstGeom>
          <a:solidFill>
            <a:srgbClr val="D8E8F4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36: Ara · gen_ara.i_ara"/>
          <p:cNvSpPr txBox="1"/>
          <p:nvPr/>
        </p:nvSpPr>
        <p:spPr>
          <a:xfrm>
            <a:off x="10801707" y="4676870"/>
            <a:ext cx="1899523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Ara · gen_ara.i_ara</a:t>
            </a:r>
          </a:p>
        </p:txBody>
      </p:sp>
      <p:sp>
        <p:nvSpPr>
          <p:cNvPr id="62" name="t37: 执行 RVV 运算"/>
          <p:cNvSpPr txBox="1"/>
          <p:nvPr/>
        </p:nvSpPr>
        <p:spPr>
          <a:xfrm>
            <a:off x="10991379" y="4948333"/>
            <a:ext cx="152017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 RVV 运算</a:t>
            </a:r>
          </a:p>
        </p:txBody>
      </p:sp>
      <p:sp>
        <p:nvSpPr>
          <p:cNvPr id="63" name="acc"/>
          <p:cNvSpPr/>
          <p:nvPr/>
        </p:nvSpPr>
        <p:spPr>
          <a:xfrm>
            <a:off x="7429500" y="4964906"/>
            <a:ext cx="2893219" cy="1"/>
          </a:xfrm>
          <a:custGeom>
            <a:avLst/>
            <a:gdLst/>
            <a:ahLst/>
            <a:cxnLst/>
            <a:rect l="0" t="0" r="r" b="b"/>
            <a:pathLst>
              <a:path w="2893219" h="1" fill="none">
                <a:moveTo>
                  <a:pt x="0" y="0"/>
                </a:moveTo>
                <a:lnTo>
                  <a:pt x="2893219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38: acc_req / acc_resp：请求 / 响应"/>
          <p:cNvSpPr txBox="1"/>
          <p:nvPr/>
        </p:nvSpPr>
        <p:spPr>
          <a:xfrm>
            <a:off x="7484066" y="4650581"/>
            <a:ext cx="277694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acc_req / acc_resp：请求 / 响应</a:t>
            </a:r>
          </a:p>
        </p:txBody>
      </p:sp>
      <p:sp>
        <p:nvSpPr>
          <p:cNvPr id="65" name="slink-dut"/>
          <p:cNvSpPr/>
          <p:nvPr/>
        </p:nvSpPr>
        <p:spPr>
          <a:xfrm>
            <a:off x="5286375" y="5822156"/>
            <a:ext cx="1857375" cy="642938"/>
          </a:xfrm>
          <a:prstGeom prst="rect">
            <a:avLst/>
          </a:prstGeom>
          <a:solidFill>
            <a:srgbClr val="D9EEE8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39: Serial Link"/>
          <p:cNvSpPr txBox="1"/>
          <p:nvPr/>
        </p:nvSpPr>
        <p:spPr>
          <a:xfrm>
            <a:off x="5657655" y="5863304"/>
            <a:ext cx="111481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Serial Link</a:t>
            </a:r>
          </a:p>
        </p:txBody>
      </p:sp>
      <p:sp>
        <p:nvSpPr>
          <p:cNvPr id="67" name="t40: 串行 ⇄ AXI"/>
          <p:cNvSpPr txBox="1"/>
          <p:nvPr/>
        </p:nvSpPr>
        <p:spPr>
          <a:xfrm>
            <a:off x="5682663" y="6134767"/>
            <a:ext cx="106479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串行 ⇄ AXI</a:t>
            </a:r>
          </a:p>
        </p:txBody>
      </p:sp>
      <p:sp>
        <p:nvSpPr>
          <p:cNvPr id="68" name="xbar"/>
          <p:cNvSpPr/>
          <p:nvPr/>
        </p:nvSpPr>
        <p:spPr>
          <a:xfrm>
            <a:off x="7643812" y="5822156"/>
            <a:ext cx="2500312" cy="642938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41: AXI 主互连"/>
          <p:cNvSpPr txBox="1"/>
          <p:nvPr/>
        </p:nvSpPr>
        <p:spPr>
          <a:xfrm>
            <a:off x="8307869" y="5855589"/>
            <a:ext cx="11722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AXI 主互连</a:t>
            </a:r>
          </a:p>
        </p:txBody>
      </p:sp>
      <p:sp>
        <p:nvSpPr>
          <p:cNvPr id="70" name="t42: i_axi_xbar"/>
          <p:cNvSpPr txBox="1"/>
          <p:nvPr/>
        </p:nvSpPr>
        <p:spPr>
          <a:xfrm>
            <a:off x="8345597" y="6127052"/>
            <a:ext cx="1096744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i_axi_xbar</a:t>
            </a:r>
          </a:p>
        </p:txBody>
      </p:sp>
      <p:sp>
        <p:nvSpPr>
          <p:cNvPr id="71" name="spm"/>
          <p:cNvSpPr/>
          <p:nvPr/>
        </p:nvSpPr>
        <p:spPr>
          <a:xfrm>
            <a:off x="10644188" y="5822156"/>
            <a:ext cx="2643188" cy="857250"/>
          </a:xfrm>
          <a:prstGeom prst="rect">
            <a:avLst/>
          </a:prstGeom>
          <a:solidFill>
            <a:srgbClr val="D9EEE8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43: LLC 阵列 / SPM"/>
          <p:cNvSpPr txBox="1"/>
          <p:nvPr/>
        </p:nvSpPr>
        <p:spPr>
          <a:xfrm>
            <a:off x="11162054" y="5834729"/>
            <a:ext cx="160745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LLC 阵列 / SPM</a:t>
            </a:r>
          </a:p>
        </p:txBody>
      </p:sp>
      <p:sp>
        <p:nvSpPr>
          <p:cNvPr id="73" name="t44: 0x1000_0000 起"/>
          <p:cNvSpPr txBox="1"/>
          <p:nvPr/>
        </p:nvSpPr>
        <p:spPr>
          <a:xfrm>
            <a:off x="11102096" y="6106192"/>
            <a:ext cx="172737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0x1000_0000 起</a:t>
            </a:r>
          </a:p>
        </p:txBody>
      </p:sp>
      <p:sp>
        <p:nvSpPr>
          <p:cNvPr id="74" name="t45: 程序、A/B、C、G"/>
          <p:cNvSpPr txBox="1"/>
          <p:nvPr/>
        </p:nvSpPr>
        <p:spPr>
          <a:xfrm>
            <a:off x="11068007" y="6377654"/>
            <a:ext cx="17955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程序、A/B、C、G</a:t>
            </a:r>
          </a:p>
        </p:txBody>
      </p:sp>
      <p:sp>
        <p:nvSpPr>
          <p:cNvPr id="75" name="serial"/>
          <p:cNvSpPr/>
          <p:nvPr/>
        </p:nvSpPr>
        <p:spPr>
          <a:xfrm>
            <a:off x="3857625" y="6143625"/>
            <a:ext cx="1428750" cy="107156"/>
          </a:xfrm>
          <a:custGeom>
            <a:avLst/>
            <a:gdLst/>
            <a:ahLst/>
            <a:cxnLst/>
            <a:rect l="0" t="0" r="r" b="b"/>
            <a:pathLst>
              <a:path w="1428750" h="107156" fill="none">
                <a:moveTo>
                  <a:pt x="0" y="107156"/>
                </a:moveTo>
                <a:lnTo>
                  <a:pt x="892969" y="107156"/>
                </a:lnTo>
                <a:lnTo>
                  <a:pt x="892969" y="0"/>
                </a:lnTo>
                <a:lnTo>
                  <a:pt x="1428750" y="0"/>
                </a:lnTo>
              </a:path>
            </a:pathLst>
          </a:custGeom>
          <a:noFill/>
          <a:ln w="21431" cap="flat">
            <a:solidFill>
              <a:srgbClr val="247D7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46: 串行"/>
          <p:cNvSpPr txBox="1"/>
          <p:nvPr/>
        </p:nvSpPr>
        <p:spPr>
          <a:xfrm>
            <a:off x="4482703" y="5843588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串行</a:t>
            </a:r>
          </a:p>
        </p:txBody>
      </p:sp>
      <p:sp>
        <p:nvSpPr>
          <p:cNvPr id="77" name="load-xbar"/>
          <p:cNvSpPr/>
          <p:nvPr/>
        </p:nvSpPr>
        <p:spPr>
          <a:xfrm>
            <a:off x="7143750" y="6143625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47: AXI"/>
          <p:cNvSpPr txBox="1"/>
          <p:nvPr/>
        </p:nvSpPr>
        <p:spPr>
          <a:xfrm>
            <a:off x="7183186" y="5822156"/>
            <a:ext cx="42119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</a:t>
            </a:r>
          </a:p>
        </p:txBody>
      </p:sp>
      <p:sp>
        <p:nvSpPr>
          <p:cNvPr id="79" name="xbar-spm"/>
          <p:cNvSpPr/>
          <p:nvPr/>
        </p:nvSpPr>
        <p:spPr>
          <a:xfrm>
            <a:off x="10144125" y="6143625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48: 读写"/>
          <p:cNvSpPr txBox="1"/>
          <p:nvPr/>
        </p:nvSpPr>
        <p:spPr>
          <a:xfrm>
            <a:off x="10126266" y="5822156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读写</a:t>
            </a:r>
          </a:p>
        </p:txBody>
      </p:sp>
      <p:sp>
        <p:nvSpPr>
          <p:cNvPr id="81" name="cpu-xbar"/>
          <p:cNvSpPr/>
          <p:nvPr/>
        </p:nvSpPr>
        <p:spPr>
          <a:xfrm>
            <a:off x="7215188" y="5286375"/>
            <a:ext cx="1071562" cy="535781"/>
          </a:xfrm>
          <a:custGeom>
            <a:avLst/>
            <a:gdLst/>
            <a:ahLst/>
            <a:cxnLst/>
            <a:rect l="0" t="0" r="r" b="b"/>
            <a:pathLst>
              <a:path w="1071562" h="535781" fill="none">
                <a:moveTo>
                  <a:pt x="0" y="0"/>
                </a:moveTo>
                <a:lnTo>
                  <a:pt x="0" y="250031"/>
                </a:lnTo>
                <a:lnTo>
                  <a:pt x="1071562" y="250031"/>
                </a:lnTo>
                <a:lnTo>
                  <a:pt x="1071562" y="535781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49: 取指 / 标量访存"/>
          <p:cNvSpPr txBox="1"/>
          <p:nvPr/>
        </p:nvSpPr>
        <p:spPr>
          <a:xfrm>
            <a:off x="5347169" y="5414962"/>
            <a:ext cx="145003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取指 / 标量访存</a:t>
            </a:r>
          </a:p>
        </p:txBody>
      </p:sp>
      <p:sp>
        <p:nvSpPr>
          <p:cNvPr id="83" name="ara-xbar"/>
          <p:cNvSpPr/>
          <p:nvPr/>
        </p:nvSpPr>
        <p:spPr>
          <a:xfrm>
            <a:off x="9858375" y="5286375"/>
            <a:ext cx="1821656" cy="535781"/>
          </a:xfrm>
          <a:custGeom>
            <a:avLst/>
            <a:gdLst/>
            <a:ahLst/>
            <a:cxnLst/>
            <a:rect l="0" t="0" r="r" b="b"/>
            <a:pathLst>
              <a:path w="1821656" h="535781" fill="none">
                <a:moveTo>
                  <a:pt x="1821656" y="0"/>
                </a:moveTo>
                <a:lnTo>
                  <a:pt x="1821656" y="250031"/>
                </a:lnTo>
                <a:lnTo>
                  <a:pt x="0" y="250031"/>
                </a:lnTo>
                <a:lnTo>
                  <a:pt x="0" y="535781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50: 读 A/B · 写回 C"/>
          <p:cNvSpPr txBox="1"/>
          <p:nvPr/>
        </p:nvSpPr>
        <p:spPr>
          <a:xfrm>
            <a:off x="11916143" y="5414962"/>
            <a:ext cx="138515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 A/B · 写回 C</a:t>
            </a:r>
          </a:p>
        </p:txBody>
      </p:sp>
      <p:sp>
        <p:nvSpPr>
          <p:cNvPr id="85" name="peripheral"/>
          <p:cNvSpPr/>
          <p:nvPr/>
        </p:nvSpPr>
        <p:spPr>
          <a:xfrm>
            <a:off x="5286375" y="6893719"/>
            <a:ext cx="8001000" cy="657225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51: AXI → Regbus：Boot ROM  |  SCRATCH[0:2]  "/>
          <p:cNvSpPr txBox="1"/>
          <p:nvPr/>
        </p:nvSpPr>
        <p:spPr>
          <a:xfrm>
            <a:off x="6957002" y="6949726"/>
            <a:ext cx="4659745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AXI → Regbus：Boot ROM  |  SCRATCH[0:2]  |  UART</a:t>
            </a:r>
          </a:p>
        </p:txBody>
      </p:sp>
      <p:sp>
        <p:nvSpPr>
          <p:cNvPr id="87" name="t52: ROM 取指 / SPM 配置  ·  入口与启动 / 完成码  ·  prin"/>
          <p:cNvSpPr txBox="1"/>
          <p:nvPr/>
        </p:nvSpPr>
        <p:spPr>
          <a:xfrm>
            <a:off x="6647628" y="7221188"/>
            <a:ext cx="5278495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ROM 取指 / SPM 配置  ·  入口与启动 / 完成码  ·  printf 发送</a:t>
            </a:r>
          </a:p>
        </p:txBody>
      </p:sp>
      <p:sp>
        <p:nvSpPr>
          <p:cNvPr id="88" name="xbar-reg"/>
          <p:cNvSpPr/>
          <p:nvPr/>
        </p:nvSpPr>
        <p:spPr>
          <a:xfrm>
            <a:off x="8429625" y="6465094"/>
            <a:ext cx="1" cy="428625"/>
          </a:xfrm>
          <a:custGeom>
            <a:avLst/>
            <a:gdLst/>
            <a:ahLst/>
            <a:cxnLst/>
            <a:rect l="0" t="0" r="r" b="b"/>
            <a:pathLst>
              <a:path w="1" h="428625" fill="none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53: ROM / MMIO"/>
          <p:cNvSpPr txBox="1"/>
          <p:nvPr/>
        </p:nvSpPr>
        <p:spPr>
          <a:xfrm>
            <a:off x="8681944" y="6572250"/>
            <a:ext cx="12098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ROM / MMIO</a:t>
            </a:r>
          </a:p>
        </p:txBody>
      </p:sp>
      <p:sp>
        <p:nvSpPr>
          <p:cNvPr id="90" name="uart-wire"/>
          <p:cNvSpPr/>
          <p:nvPr/>
        </p:nvSpPr>
        <p:spPr>
          <a:xfrm>
            <a:off x="3857625" y="7286625"/>
            <a:ext cx="1428750" cy="185738"/>
          </a:xfrm>
          <a:custGeom>
            <a:avLst/>
            <a:gdLst/>
            <a:ahLst/>
            <a:cxnLst/>
            <a:rect l="0" t="0" r="r" b="b"/>
            <a:pathLst>
              <a:path w="1428750" h="185738" fill="none">
                <a:moveTo>
                  <a:pt x="1428750" y="0"/>
                </a:moveTo>
                <a:lnTo>
                  <a:pt x="785812" y="0"/>
                </a:lnTo>
                <a:lnTo>
                  <a:pt x="785812" y="185738"/>
                </a:lnTo>
                <a:lnTo>
                  <a:pt x="0" y="185738"/>
                </a:lnTo>
              </a:path>
            </a:pathLst>
          </a:custGeom>
          <a:noFill/>
          <a:ln w="2143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54: UART TX 字节"/>
          <p:cNvSpPr txBox="1"/>
          <p:nvPr/>
        </p:nvSpPr>
        <p:spPr>
          <a:xfrm>
            <a:off x="3879324" y="6986588"/>
            <a:ext cx="1242477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UART TX 字节</a:t>
            </a:r>
          </a:p>
        </p:txBody>
      </p:sp>
      <p:sp>
        <p:nvSpPr>
          <p:cNvPr id="92" name="software"/>
          <p:cNvSpPr/>
          <p:nvPr/>
        </p:nvSpPr>
        <p:spPr>
          <a:xfrm>
            <a:off x="5143500" y="8001000"/>
            <a:ext cx="8286750" cy="1035844"/>
          </a:xfrm>
          <a:prstGeom prst="rect">
            <a:avLst/>
          </a:prstGeom>
          <a:solidFill>
            <a:srgbClr val="FAF1FB"/>
          </a:solidFill>
          <a:ln w="14288" cap="flat">
            <a:solidFill>
              <a:srgbClr val="9B79A5"/>
            </a:solidFill>
            <a:custDash>
              <a:ds d="500000" sp="3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55: DUT 内软件：ROM → fmatmul 32×32（CPU 执行；RVV 交"/>
          <p:cNvSpPr txBox="1"/>
          <p:nvPr/>
        </p:nvSpPr>
        <p:spPr>
          <a:xfrm>
            <a:off x="5272088" y="7999857"/>
            <a:ext cx="5891172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DUT 内软件：ROM → fmatmul 32×32（CPU 执行；RVV 交给 Ara）</a:t>
            </a:r>
          </a:p>
        </p:txBody>
      </p:sp>
      <p:sp>
        <p:nvSpPr>
          <p:cNvPr id="94" name="boot"/>
          <p:cNvSpPr/>
          <p:nvPr/>
        </p:nvSpPr>
        <p:spPr>
          <a:xfrm>
            <a:off x="5286375" y="8343900"/>
            <a:ext cx="1485900" cy="557212"/>
          </a:xfrm>
          <a:prstGeom prst="rect">
            <a:avLst/>
          </a:prstGeom>
          <a:solidFill>
            <a:srgbClr val="EFE6F0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56: 复位后 ROM"/>
          <p:cNvSpPr txBox="1"/>
          <p:nvPr/>
        </p:nvSpPr>
        <p:spPr>
          <a:xfrm>
            <a:off x="5480903" y="8373046"/>
            <a:ext cx="1096845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复位后 ROM</a:t>
            </a:r>
          </a:p>
        </p:txBody>
      </p:sp>
      <p:sp>
        <p:nvSpPr>
          <p:cNvPr id="96" name="t57: 配 SPM / 等启动"/>
          <p:cNvSpPr txBox="1"/>
          <p:nvPr/>
        </p:nvSpPr>
        <p:spPr>
          <a:xfrm>
            <a:off x="5307778" y="8644509"/>
            <a:ext cx="144309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配 SPM / 等启动</a:t>
            </a:r>
          </a:p>
        </p:txBody>
      </p:sp>
      <p:sp>
        <p:nvSpPr>
          <p:cNvPr id="97" name="init"/>
          <p:cNvSpPr/>
          <p:nvPr/>
        </p:nvSpPr>
        <p:spPr>
          <a:xfrm>
            <a:off x="6915150" y="8343900"/>
            <a:ext cx="1485900" cy="557212"/>
          </a:xfrm>
          <a:prstGeom prst="rect">
            <a:avLst/>
          </a:prstGeom>
          <a:solidFill>
            <a:srgbClr val="EFE6F0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58: crt0 → main"/>
          <p:cNvSpPr txBox="1"/>
          <p:nvPr/>
        </p:nvSpPr>
        <p:spPr>
          <a:xfrm>
            <a:off x="7104822" y="8373046"/>
            <a:ext cx="1106556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crt0 → main</a:t>
            </a:r>
          </a:p>
        </p:txBody>
      </p:sp>
      <p:sp>
        <p:nvSpPr>
          <p:cNvPr id="99" name="t59: 清BSS · 生成A/B"/>
          <p:cNvSpPr txBox="1"/>
          <p:nvPr/>
        </p:nvSpPr>
        <p:spPr>
          <a:xfrm>
            <a:off x="6938479" y="8644509"/>
            <a:ext cx="1439242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清BSS · 生成A/B</a:t>
            </a:r>
          </a:p>
        </p:txBody>
      </p:sp>
      <p:sp>
        <p:nvSpPr>
          <p:cNvPr id="100" name="sw-init"/>
          <p:cNvSpPr/>
          <p:nvPr/>
        </p:nvSpPr>
        <p:spPr>
          <a:xfrm>
            <a:off x="6772275" y="8622506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gold"/>
          <p:cNvSpPr/>
          <p:nvPr/>
        </p:nvSpPr>
        <p:spPr>
          <a:xfrm>
            <a:off x="8543925" y="8343900"/>
            <a:ext cx="1485900" cy="557212"/>
          </a:xfrm>
          <a:prstGeom prst="rect">
            <a:avLst/>
          </a:prstGeom>
          <a:solidFill>
            <a:srgbClr val="EFE6F0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60: 标量计算 G"/>
          <p:cNvSpPr txBox="1"/>
          <p:nvPr/>
        </p:nvSpPr>
        <p:spPr>
          <a:xfrm>
            <a:off x="8776041" y="8373046"/>
            <a:ext cx="1021668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标量计算 G</a:t>
            </a:r>
          </a:p>
        </p:txBody>
      </p:sp>
      <p:sp>
        <p:nvSpPr>
          <p:cNvPr id="103" name="t61: RVV fmatmul → C"/>
          <p:cNvSpPr txBox="1"/>
          <p:nvPr/>
        </p:nvSpPr>
        <p:spPr>
          <a:xfrm>
            <a:off x="8529749" y="8644509"/>
            <a:ext cx="1514252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RVV fmatmul → C</a:t>
            </a:r>
          </a:p>
        </p:txBody>
      </p:sp>
      <p:sp>
        <p:nvSpPr>
          <p:cNvPr id="104" name="sw-gold"/>
          <p:cNvSpPr/>
          <p:nvPr/>
        </p:nvSpPr>
        <p:spPr>
          <a:xfrm>
            <a:off x="8401050" y="8622506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compare"/>
          <p:cNvSpPr/>
          <p:nvPr/>
        </p:nvSpPr>
        <p:spPr>
          <a:xfrm>
            <a:off x="10172700" y="8343900"/>
            <a:ext cx="1485900" cy="557212"/>
          </a:xfrm>
          <a:prstGeom prst="rect">
            <a:avLst/>
          </a:prstGeom>
          <a:solidFill>
            <a:srgbClr val="EFE6F0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62: 逐项比较 C 与 G"/>
          <p:cNvSpPr txBox="1"/>
          <p:nvPr/>
        </p:nvSpPr>
        <p:spPr>
          <a:xfrm>
            <a:off x="10214614" y="8373046"/>
            <a:ext cx="140207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逐项比较 C 与 G</a:t>
            </a:r>
          </a:p>
        </p:txBody>
      </p:sp>
      <p:sp>
        <p:nvSpPr>
          <p:cNvPr id="107" name="t63: |C−G| ≤ 0.001"/>
          <p:cNvSpPr txBox="1"/>
          <p:nvPr/>
        </p:nvSpPr>
        <p:spPr>
          <a:xfrm>
            <a:off x="10290460" y="8644509"/>
            <a:ext cx="1250379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|C−G| ≤ 0.001</a:t>
            </a:r>
          </a:p>
        </p:txBody>
      </p:sp>
      <p:sp>
        <p:nvSpPr>
          <p:cNvPr id="108" name="sw-compare"/>
          <p:cNvSpPr/>
          <p:nvPr/>
        </p:nvSpPr>
        <p:spPr>
          <a:xfrm>
            <a:off x="10029825" y="8622506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turn"/>
          <p:cNvSpPr/>
          <p:nvPr/>
        </p:nvSpPr>
        <p:spPr>
          <a:xfrm>
            <a:off x="11801475" y="8343900"/>
            <a:ext cx="1485900" cy="557212"/>
          </a:xfrm>
          <a:prstGeom prst="rect">
            <a:avLst/>
          </a:prstGeom>
          <a:solidFill>
            <a:srgbClr val="EFE6F0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64: Passed / Error"/>
          <p:cNvSpPr txBox="1"/>
          <p:nvPr/>
        </p:nvSpPr>
        <p:spPr>
          <a:xfrm>
            <a:off x="11910780" y="8373046"/>
            <a:ext cx="1267290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Passed / Error</a:t>
            </a:r>
          </a:p>
        </p:txBody>
      </p:sp>
      <p:sp>
        <p:nvSpPr>
          <p:cNvPr id="111" name="t65: return rc → crt0"/>
          <p:cNvSpPr txBox="1"/>
          <p:nvPr/>
        </p:nvSpPr>
        <p:spPr>
          <a:xfrm>
            <a:off x="11859378" y="8644509"/>
            <a:ext cx="137009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return rc → crt0</a:t>
            </a:r>
          </a:p>
        </p:txBody>
      </p:sp>
      <p:sp>
        <p:nvSpPr>
          <p:cNvPr id="112" name="sw-return"/>
          <p:cNvSpPr/>
          <p:nvPr/>
        </p:nvSpPr>
        <p:spPr>
          <a:xfrm>
            <a:off x="11658600" y="8622506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66: 启动：SCRATCH[1:0]=入口；[2]=2"/>
          <p:cNvSpPr txBox="1"/>
          <p:nvPr/>
        </p:nvSpPr>
        <p:spPr>
          <a:xfrm>
            <a:off x="5250656" y="7643812"/>
            <a:ext cx="29096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启动：SCRATCH[1:0]=入口；[2]=2</a:t>
            </a:r>
          </a:p>
        </p:txBody>
      </p:sp>
      <p:sp>
        <p:nvSpPr>
          <p:cNvPr id="114" name="write-eoc"/>
          <p:cNvSpPr/>
          <p:nvPr/>
        </p:nvSpPr>
        <p:spPr>
          <a:xfrm>
            <a:off x="13287375" y="7179469"/>
            <a:ext cx="214312" cy="1443038"/>
          </a:xfrm>
          <a:custGeom>
            <a:avLst/>
            <a:gdLst/>
            <a:ahLst/>
            <a:cxnLst/>
            <a:rect l="0" t="0" r="r" b="b"/>
            <a:pathLst>
              <a:path w="214312" h="1443038" fill="none">
                <a:moveTo>
                  <a:pt x="0" y="1443038"/>
                </a:moveTo>
                <a:lnTo>
                  <a:pt x="214312" y="1443038"/>
                </a:lnTo>
                <a:lnTo>
                  <a:pt x="214312" y="0"/>
                </a:lnTo>
                <a:lnTo>
                  <a:pt x="0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67: CPU 写 SCRATCH[2]=(rc&lt;&lt;1)|1"/>
          <p:cNvSpPr txBox="1"/>
          <p:nvPr/>
        </p:nvSpPr>
        <p:spPr>
          <a:xfrm>
            <a:off x="10806708" y="7651528"/>
            <a:ext cx="2480667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CPU 写 SCRATCH[2]=(rc&lt;&lt;1)|1</a:t>
            </a:r>
          </a:p>
        </p:txBody>
      </p:sp>
      <p:sp>
        <p:nvSpPr>
          <p:cNvPr id="116" name="host-exit"/>
          <p:cNvSpPr/>
          <p:nvPr/>
        </p:nvSpPr>
        <p:spPr>
          <a:xfrm>
            <a:off x="14573250" y="2750344"/>
            <a:ext cx="3214688" cy="1143000"/>
          </a:xfrm>
          <a:prstGeom prst="rect">
            <a:avLst/>
          </a:prstGeom>
          <a:solidFill>
            <a:srgbClr val="F5E1C9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68: 主机进程退出状态"/>
          <p:cNvSpPr txBox="1"/>
          <p:nvPr/>
        </p:nvSpPr>
        <p:spPr>
          <a:xfrm>
            <a:off x="15280481" y="2770060"/>
            <a:ext cx="18002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主机进程退出状态</a:t>
            </a:r>
          </a:p>
        </p:txBody>
      </p:sp>
      <p:sp>
        <p:nvSpPr>
          <p:cNvPr id="118" name="t69: TB 的 $finish ≠ 目标 rc"/>
          <p:cNvSpPr txBox="1"/>
          <p:nvPr/>
        </p:nvSpPr>
        <p:spPr>
          <a:xfrm>
            <a:off x="15057965" y="3041523"/>
            <a:ext cx="22452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TB 的 $finish ≠ 目标 rc</a:t>
            </a:r>
          </a:p>
        </p:txBody>
      </p:sp>
      <p:sp>
        <p:nvSpPr>
          <p:cNvPr id="119" name="t70: 检查 simv / shell 退出状态"/>
          <p:cNvSpPr txBox="1"/>
          <p:nvPr/>
        </p:nvSpPr>
        <p:spPr>
          <a:xfrm>
            <a:off x="14899161" y="3312986"/>
            <a:ext cx="25628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 simv / shell 退出状态</a:t>
            </a:r>
          </a:p>
        </p:txBody>
      </p:sp>
      <p:sp>
        <p:nvSpPr>
          <p:cNvPr id="120" name="t71: 不能仅凭退出 0 判通过"/>
          <p:cNvSpPr txBox="1"/>
          <p:nvPr/>
        </p:nvSpPr>
        <p:spPr>
          <a:xfrm>
            <a:off x="15060526" y="3584448"/>
            <a:ext cx="224013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不能仅凭退出 0 判通过</a:t>
            </a:r>
          </a:p>
        </p:txBody>
      </p:sp>
      <p:sp>
        <p:nvSpPr>
          <p:cNvPr id="121" name="finish-host"/>
          <p:cNvSpPr/>
          <p:nvPr/>
        </p:nvSpPr>
        <p:spPr>
          <a:xfrm>
            <a:off x="13751719" y="3014662"/>
            <a:ext cx="821531" cy="1"/>
          </a:xfrm>
          <a:custGeom>
            <a:avLst/>
            <a:gdLst/>
            <a:ahLst/>
            <a:cxnLst/>
            <a:rect l="0" t="0" r="r" b="b"/>
            <a:pathLst>
              <a:path w="821531" h="1" fill="none">
                <a:moveTo>
                  <a:pt x="0" y="0"/>
                </a:moveTo>
                <a:lnTo>
                  <a:pt x="821531" y="0"/>
                </a:lnTo>
              </a:path>
            </a:pathLst>
          </a:custGeom>
          <a:noFill/>
          <a:ln w="21431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wave"/>
          <p:cNvSpPr/>
          <p:nvPr/>
        </p:nvSpPr>
        <p:spPr>
          <a:xfrm>
            <a:off x="14573250" y="4714875"/>
            <a:ext cx="3214688" cy="1071562"/>
          </a:xfrm>
          <a:prstGeom prst="rect">
            <a:avLst/>
          </a:prstGeom>
          <a:solidFill>
            <a:srgbClr val="F1F3F5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72: FSDB → Verdi（按需）"/>
          <p:cNvSpPr txBox="1"/>
          <p:nvPr/>
        </p:nvSpPr>
        <p:spPr>
          <a:xfrm>
            <a:off x="15063149" y="4698873"/>
            <a:ext cx="2234889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FSDB → Verdi（按需）</a:t>
            </a:r>
          </a:p>
        </p:txBody>
      </p:sp>
      <p:sp>
        <p:nvSpPr>
          <p:cNvPr id="124" name="t73: 记录选定信号 / 层次 / 时段"/>
          <p:cNvSpPr txBox="1"/>
          <p:nvPr/>
        </p:nvSpPr>
        <p:spPr>
          <a:xfrm>
            <a:off x="14856589" y="4970336"/>
            <a:ext cx="264801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记录选定信号 / 层次 / 时段</a:t>
            </a:r>
          </a:p>
        </p:txBody>
      </p:sp>
      <p:sp>
        <p:nvSpPr>
          <p:cNvPr id="125" name="t74: 观察与定位内部行为"/>
          <p:cNvSpPr txBox="1"/>
          <p:nvPr/>
        </p:nvSpPr>
        <p:spPr>
          <a:xfrm>
            <a:off x="15180469" y="5241798"/>
            <a:ext cx="200025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观察与定位内部行为</a:t>
            </a:r>
          </a:p>
        </p:txBody>
      </p:sp>
      <p:sp>
        <p:nvSpPr>
          <p:cNvPr id="126" name="t75: 不代替自动结果判定"/>
          <p:cNvSpPr txBox="1"/>
          <p:nvPr/>
        </p:nvSpPr>
        <p:spPr>
          <a:xfrm>
            <a:off x="15180469" y="5513260"/>
            <a:ext cx="200025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不代替自动结果判定</a:t>
            </a:r>
          </a:p>
        </p:txBody>
      </p:sp>
      <p:sp>
        <p:nvSpPr>
          <p:cNvPr id="127" name="wave-tap"/>
          <p:cNvSpPr/>
          <p:nvPr/>
        </p:nvSpPr>
        <p:spPr>
          <a:xfrm>
            <a:off x="13608844" y="5072062"/>
            <a:ext cx="964406" cy="1"/>
          </a:xfrm>
          <a:custGeom>
            <a:avLst/>
            <a:gdLst/>
            <a:ahLst/>
            <a:cxnLst/>
            <a:rect l="0" t="0" r="r" b="b"/>
            <a:pathLst>
              <a:path w="964406" h="1" fill="none">
                <a:moveTo>
                  <a:pt x="0" y="0"/>
                </a:moveTo>
                <a:lnTo>
                  <a:pt x="964406" y="0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76: 信号观察"/>
          <p:cNvSpPr txBox="1"/>
          <p:nvPr/>
        </p:nvSpPr>
        <p:spPr>
          <a:xfrm>
            <a:off x="13640991" y="4764881"/>
            <a:ext cx="89296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信号观察</a:t>
            </a:r>
          </a:p>
        </p:txBody>
      </p:sp>
      <p:sp>
        <p:nvSpPr>
          <p:cNvPr id="129" name="checks"/>
          <p:cNvSpPr/>
          <p:nvPr/>
        </p:nvSpPr>
        <p:spPr>
          <a:xfrm>
            <a:off x="14573250" y="6036469"/>
            <a:ext cx="3214688" cy="1250156"/>
          </a:xfrm>
          <a:prstGeom prst="rect">
            <a:avLst/>
          </a:prstGeom>
          <a:solidFill>
            <a:srgbClr val="F1F3F5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77: 检查职责（说明）"/>
          <p:cNvSpPr txBox="1"/>
          <p:nvPr/>
        </p:nvSpPr>
        <p:spPr>
          <a:xfrm>
            <a:off x="15312628" y="6117479"/>
            <a:ext cx="1735931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检查职责（说明）</a:t>
            </a:r>
          </a:p>
        </p:txBody>
      </p:sp>
      <p:sp>
        <p:nvSpPr>
          <p:cNvPr id="131" name="t78: VIP：AXI R/B 响应错误"/>
          <p:cNvSpPr txBox="1"/>
          <p:nvPr/>
        </p:nvSpPr>
        <p:spPr>
          <a:xfrm>
            <a:off x="15110605" y="6388941"/>
            <a:ext cx="2139977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VIP：AXI R/B 响应错误</a:t>
            </a:r>
          </a:p>
        </p:txBody>
      </p:sp>
      <p:sp>
        <p:nvSpPr>
          <p:cNvPr id="132" name="t79: RTL：参数 / 稳定性断言"/>
          <p:cNvSpPr txBox="1"/>
          <p:nvPr/>
        </p:nvSpPr>
        <p:spPr>
          <a:xfrm>
            <a:off x="15048538" y="6660404"/>
            <a:ext cx="2264111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RTL：参数 / 稳定性断言</a:t>
            </a:r>
          </a:p>
        </p:txBody>
      </p:sp>
      <p:sp>
        <p:nvSpPr>
          <p:cNvPr id="133" name="t80: 实际启用范围须按构建核实"/>
          <p:cNvSpPr txBox="1"/>
          <p:nvPr/>
        </p:nvSpPr>
        <p:spPr>
          <a:xfrm>
            <a:off x="14926866" y="6931866"/>
            <a:ext cx="2507456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实际启用范围须按构建核实</a:t>
            </a:r>
          </a:p>
        </p:txBody>
      </p:sp>
      <p:sp>
        <p:nvSpPr>
          <p:cNvPr id="134" name="console"/>
          <p:cNvSpPr/>
          <p:nvPr/>
        </p:nvSpPr>
        <p:spPr>
          <a:xfrm>
            <a:off x="14573250" y="7429500"/>
            <a:ext cx="3214688" cy="1785938"/>
          </a:xfrm>
          <a:prstGeom prst="rect">
            <a:avLst/>
          </a:prstGeom>
          <a:solidFill>
            <a:srgbClr val="F1F3F5"/>
          </a:solidFill>
          <a:ln w="14288" cap="flat">
            <a:solidFill>
              <a:srgbClr val="3444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81: simulate.log / 终端"/>
          <p:cNvSpPr txBox="1"/>
          <p:nvPr/>
        </p:nvSpPr>
        <p:spPr>
          <a:xfrm>
            <a:off x="15302872" y="7514654"/>
            <a:ext cx="1755443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simulate.log / 终端</a:t>
            </a:r>
          </a:p>
        </p:txBody>
      </p:sp>
      <p:sp>
        <p:nvSpPr>
          <p:cNvPr id="136" name="t82: [UART] Verifying result…：进度"/>
          <p:cNvSpPr txBox="1"/>
          <p:nvPr/>
        </p:nvSpPr>
        <p:spPr>
          <a:xfrm>
            <a:off x="14820201" y="7786116"/>
            <a:ext cx="2720786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Verifying result…：进度</a:t>
            </a:r>
          </a:p>
        </p:txBody>
      </p:sp>
      <p:sp>
        <p:nvSpPr>
          <p:cNvPr id="137" name="t83: [UART] Passed.：软件比较通过"/>
          <p:cNvSpPr txBox="1"/>
          <p:nvPr/>
        </p:nvSpPr>
        <p:spPr>
          <a:xfrm>
            <a:off x="14812314" y="8057579"/>
            <a:ext cx="2736559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Passed.：软件比较通过</a:t>
            </a:r>
          </a:p>
        </p:txBody>
      </p:sp>
      <p:sp>
        <p:nvSpPr>
          <p:cNvPr id="138" name="t84: [SLINK] SUCCESS：目标 rc=0"/>
          <p:cNvSpPr txBox="1"/>
          <p:nvPr/>
        </p:nvSpPr>
        <p:spPr>
          <a:xfrm>
            <a:off x="14866518" y="8329041"/>
            <a:ext cx="2628152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[SLINK] SUCCESS：目标 rc=0</a:t>
            </a:r>
          </a:p>
        </p:txBody>
      </p:sp>
      <p:sp>
        <p:nvSpPr>
          <p:cNvPr id="139" name="t85: FAILED / $error：检查错误"/>
          <p:cNvSpPr txBox="1"/>
          <p:nvPr/>
        </p:nvSpPr>
        <p:spPr>
          <a:xfrm>
            <a:off x="14994419" y="8600504"/>
            <a:ext cx="2372350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FAILED / $error：检查错误</a:t>
            </a:r>
          </a:p>
        </p:txBody>
      </p:sp>
      <p:sp>
        <p:nvSpPr>
          <p:cNvPr id="140" name="t86: [ELF]：DPI 自身打印"/>
          <p:cNvSpPr txBox="1"/>
          <p:nvPr/>
        </p:nvSpPr>
        <p:spPr>
          <a:xfrm>
            <a:off x="15259608" y="8871966"/>
            <a:ext cx="1841971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[ELF]：DPI 自身打印</a:t>
            </a:r>
          </a:p>
        </p:txBody>
      </p:sp>
      <p:sp>
        <p:nvSpPr>
          <p:cNvPr id="141" name="dpi-log"/>
          <p:cNvSpPr/>
          <p:nvPr/>
        </p:nvSpPr>
        <p:spPr>
          <a:xfrm>
            <a:off x="13787438" y="1571625"/>
            <a:ext cx="4143375" cy="6715125"/>
          </a:xfrm>
          <a:custGeom>
            <a:avLst/>
            <a:gdLst/>
            <a:ahLst/>
            <a:cxnLst/>
            <a:rect l="0" t="0" r="r" b="b"/>
            <a:pathLst>
              <a:path w="4143375" h="6715125" fill="none">
                <a:moveTo>
                  <a:pt x="0" y="0"/>
                </a:moveTo>
                <a:lnTo>
                  <a:pt x="4143375" y="0"/>
                </a:lnTo>
                <a:lnTo>
                  <a:pt x="4143375" y="6715125"/>
                </a:lnTo>
                <a:lnTo>
                  <a:pt x="4000500" y="6715125"/>
                </a:lnTo>
              </a:path>
            </a:pathLst>
          </a:custGeom>
          <a:noFill/>
          <a:ln w="21431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87: DPI printf：[ELF]"/>
          <p:cNvSpPr txBox="1"/>
          <p:nvPr/>
        </p:nvSpPr>
        <p:spPr>
          <a:xfrm>
            <a:off x="15343631" y="1264444"/>
            <a:ext cx="145961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DPI printf：[ELF]</a:t>
            </a:r>
          </a:p>
        </p:txBody>
      </p:sp>
      <p:sp>
        <p:nvSpPr>
          <p:cNvPr id="143" name="stdout"/>
          <p:cNvSpPr/>
          <p:nvPr/>
        </p:nvSpPr>
        <p:spPr>
          <a:xfrm>
            <a:off x="2428875" y="9001125"/>
            <a:ext cx="13751719" cy="428625"/>
          </a:xfrm>
          <a:custGeom>
            <a:avLst/>
            <a:gdLst/>
            <a:ahLst/>
            <a:cxnLst/>
            <a:rect l="0" t="0" r="r" b="b"/>
            <a:pathLst>
              <a:path w="13751719" h="428625" fill="none">
                <a:moveTo>
                  <a:pt x="0" y="0"/>
                </a:moveTo>
                <a:lnTo>
                  <a:pt x="0" y="428625"/>
                </a:lnTo>
                <a:lnTo>
                  <a:pt x="13751719" y="428625"/>
                </a:lnTo>
                <a:lnTo>
                  <a:pt x="13751719" y="214312"/>
                </a:lnTo>
              </a:path>
            </a:pathLst>
          </a:custGeom>
          <a:noFill/>
          <a:ln w="21431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88: 日志：UART 监视打印 + VIP 自身打印（不同来源）"/>
          <p:cNvSpPr txBox="1"/>
          <p:nvPr/>
        </p:nvSpPr>
        <p:spPr>
          <a:xfrm>
            <a:off x="6974438" y="9515475"/>
            <a:ext cx="419625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日志：UART 监视打印 + VIP 自身打印（不同来源）</a:t>
            </a:r>
          </a:p>
        </p:txBody>
      </p:sp>
      <p:sp>
        <p:nvSpPr>
          <p:cNvPr id="145" name="t89: 图例"/>
          <p:cNvSpPr txBox="1"/>
          <p:nvPr/>
        </p:nvSpPr>
        <p:spPr>
          <a:xfrm>
            <a:off x="357188" y="9879806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sp>
        <p:nvSpPr>
          <p:cNvPr id="146" name="legend-hw"/>
          <p:cNvSpPr/>
          <p:nvPr/>
        </p:nvSpPr>
        <p:spPr>
          <a:xfrm>
            <a:off x="892969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90: 硬件请求 / 返回（合并表示）"/>
          <p:cNvSpPr txBox="1"/>
          <p:nvPr/>
        </p:nvSpPr>
        <p:spPr>
          <a:xfrm>
            <a:off x="1571625" y="9879806"/>
            <a:ext cx="25215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硬件请求 / 返回（合并表示）</a:t>
            </a:r>
          </a:p>
        </p:txBody>
      </p:sp>
      <p:sp>
        <p:nvSpPr>
          <p:cNvPr id="148" name="legend-sw"/>
          <p:cNvSpPr/>
          <p:nvPr/>
        </p:nvSpPr>
        <p:spPr>
          <a:xfrm>
            <a:off x="4643438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91: 软件步骤 / 任务控制"/>
          <p:cNvSpPr txBox="1"/>
          <p:nvPr/>
        </p:nvSpPr>
        <p:spPr>
          <a:xfrm>
            <a:off x="5322094" y="9879806"/>
            <a:ext cx="180722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软件步骤 / 任务控制</a:t>
            </a:r>
          </a:p>
        </p:txBody>
      </p:sp>
      <p:sp>
        <p:nvSpPr>
          <p:cNvPr id="150" name="legend-load"/>
          <p:cNvSpPr/>
          <p:nvPr/>
        </p:nvSpPr>
        <p:spPr>
          <a:xfrm>
            <a:off x="7715250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92: 程序装载"/>
          <p:cNvSpPr txBox="1"/>
          <p:nvPr/>
        </p:nvSpPr>
        <p:spPr>
          <a:xfrm>
            <a:off x="8393906" y="9879806"/>
            <a:ext cx="89296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程序装载</a:t>
            </a:r>
          </a:p>
        </p:txBody>
      </p:sp>
      <p:sp>
        <p:nvSpPr>
          <p:cNvPr id="152" name="legend-obs"/>
          <p:cNvSpPr/>
          <p:nvPr/>
        </p:nvSpPr>
        <p:spPr>
          <a:xfrm>
            <a:off x="9929812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93: 观察 / 日志"/>
          <p:cNvSpPr txBox="1"/>
          <p:nvPr/>
        </p:nvSpPr>
        <p:spPr>
          <a:xfrm>
            <a:off x="10608469" y="9879806"/>
            <a:ext cx="10928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 / 日志</a:t>
            </a:r>
          </a:p>
        </p:txBody>
      </p:sp>
      <p:sp>
        <p:nvSpPr>
          <p:cNvPr id="154" name="t94: 配置差异与证据边界见说明"/>
          <p:cNvSpPr txBox="1"/>
          <p:nvPr/>
        </p:nvSpPr>
        <p:spPr>
          <a:xfrm>
            <a:off x="15609094" y="9879806"/>
            <a:ext cx="2321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配置差异与证据边界见说明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