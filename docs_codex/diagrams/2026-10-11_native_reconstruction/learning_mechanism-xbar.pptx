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311400" y="1294384"/>
            <a:ext cx="7396480" cy="4053840"/>
          </a:xfrm>
          <a:prstGeom prst="roundRect">
            <a:avLst>
              <a:gd name="adj" fmla="val 210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1955800" y="2275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 fill="none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9494520" y="2275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 fill="none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1955800" y="4053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 fill="none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9494520" y="4053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 fill="none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th-014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th-015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0"/>
                </a:moveTo>
                <a:cubicBezTo>
                  <a:pt x="1049020" y="0"/>
                  <a:pt x="1049020" y="1778000"/>
                  <a:pt x="2098040" y="177800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ath-016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17"/>
          <p:cNvSpPr/>
          <p:nvPr/>
        </p:nvSpPr>
        <p:spPr>
          <a:xfrm>
            <a:off x="5013960" y="4089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th-018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21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4: Crossbar 内部：选择目标、预留 W、归还 ID"/>
          <p:cNvSpPr txBox="1"/>
          <p:nvPr/>
        </p:nvSpPr>
        <p:spPr>
          <a:xfrm>
            <a:off x="483616" y="271109"/>
            <a:ext cx="591433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Crossbar 内部：选择目标、预留 W、归还 ID</a:t>
            </a:r>
          </a:p>
        </p:txBody>
      </p:sp>
      <p:sp>
        <p:nvSpPr>
          <p:cNvPr id="17" name="text-025: 2×2 教学模型：普通 AXI4；输入 ID 为 2 位；地址与延迟不使用生产地"/>
          <p:cNvSpPr txBox="1"/>
          <p:nvPr/>
        </p:nvSpPr>
        <p:spPr>
          <a:xfrm>
            <a:off x="483616" y="676778"/>
            <a:ext cx="628131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2×2 教学模型：普通 AXI4；输入 ID 为 2 位；地址与延迟不使用生产地址图。</a:t>
            </a:r>
          </a:p>
        </p:txBody>
      </p:sp>
      <p:sp>
        <p:nvSpPr>
          <p:cNvPr id="18" name="text-026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9" name="text-027: 依据：axi_xbar_unmuxed、axi_mux、axi_demux_si"/>
          <p:cNvSpPr txBox="1"/>
          <p:nvPr/>
        </p:nvSpPr>
        <p:spPr>
          <a:xfrm>
            <a:off x="341376" y="7726477"/>
            <a:ext cx="7858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依据：axi_xbar_unmuxed、axi_mux、axi_demux_simple、axi_demux_id_counters（本地 axi 依赖）</a:t>
            </a:r>
          </a:p>
        </p:txBody>
      </p:sp>
      <p:sp>
        <p:nvSpPr>
          <p:cNvPr id="20" name="text-028: 路由结构：两套输入状态 × 两套目标仲裁"/>
          <p:cNvSpPr txBox="1"/>
          <p:nvPr/>
        </p:nvSpPr>
        <p:spPr>
          <a:xfrm>
            <a:off x="2439416" y="1351280"/>
            <a:ext cx="35471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路由结构：两套输入状态 × 两套目标仲裁</a:t>
            </a:r>
          </a:p>
        </p:txBody>
      </p:sp>
      <p:sp>
        <p:nvSpPr>
          <p:cNvPr id="21" name="rect-029"/>
          <p:cNvSpPr/>
          <p:nvPr/>
        </p:nvSpPr>
        <p:spPr>
          <a:xfrm>
            <a:off x="355600" y="1920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30"/>
          <p:cNvSpPr/>
          <p:nvPr/>
        </p:nvSpPr>
        <p:spPr>
          <a:xfrm>
            <a:off x="35560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31: I0 · CPU"/>
          <p:cNvSpPr txBox="1"/>
          <p:nvPr/>
        </p:nvSpPr>
        <p:spPr>
          <a:xfrm>
            <a:off x="476504" y="194811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I0 · CPU</a:t>
            </a:r>
          </a:p>
        </p:txBody>
      </p:sp>
      <p:sp>
        <p:nvSpPr>
          <p:cNvPr id="24" name="text-032: AW / W / AR"/>
          <p:cNvSpPr txBox="1"/>
          <p:nvPr/>
        </p:nvSpPr>
        <p:spPr>
          <a:xfrm>
            <a:off x="476504" y="2219513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25" name="rect-033"/>
          <p:cNvSpPr/>
          <p:nvPr/>
        </p:nvSpPr>
        <p:spPr>
          <a:xfrm>
            <a:off x="2489200" y="1742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4"/>
          <p:cNvSpPr/>
          <p:nvPr/>
        </p:nvSpPr>
        <p:spPr>
          <a:xfrm>
            <a:off x="24892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5: DEMUX I0 · 地址分流"/>
          <p:cNvSpPr txBox="1"/>
          <p:nvPr/>
        </p:nvSpPr>
        <p:spPr>
          <a:xfrm>
            <a:off x="2610104" y="17703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I0 · 地址分流</a:t>
            </a:r>
          </a:p>
        </p:txBody>
      </p:sp>
      <p:sp>
        <p:nvSpPr>
          <p:cNvPr id="28" name="text-036: AW/AR ID → 目标 + 在途数"/>
          <p:cNvSpPr txBox="1"/>
          <p:nvPr/>
        </p:nvSpPr>
        <p:spPr>
          <a:xfrm>
            <a:off x="2610104" y="2041713"/>
            <a:ext cx="26371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29" name="text-037: w_select_q：W 的目标"/>
          <p:cNvSpPr txBox="1"/>
          <p:nvPr/>
        </p:nvSpPr>
        <p:spPr>
          <a:xfrm>
            <a:off x="2610104" y="2255073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30" name="text-038: w_open：未结束 W 数"/>
          <p:cNvSpPr txBox="1"/>
          <p:nvPr/>
        </p:nvSpPr>
        <p:spPr>
          <a:xfrm>
            <a:off x="2610104" y="2468433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31" name="rect-039"/>
          <p:cNvSpPr/>
          <p:nvPr/>
        </p:nvSpPr>
        <p:spPr>
          <a:xfrm>
            <a:off x="7112000" y="1742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40"/>
          <p:cNvSpPr/>
          <p:nvPr/>
        </p:nvSpPr>
        <p:spPr>
          <a:xfrm>
            <a:off x="71120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41: 目标 0 · mux / 仲裁"/>
          <p:cNvSpPr txBox="1"/>
          <p:nvPr/>
        </p:nvSpPr>
        <p:spPr>
          <a:xfrm>
            <a:off x="7232904" y="17703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0 · mux / 仲裁</a:t>
            </a:r>
          </a:p>
        </p:txBody>
      </p:sp>
      <p:sp>
        <p:nvSpPr>
          <p:cNvPr id="34" name="text-042: AW 轮转仲裁并预留来源"/>
          <p:cNvSpPr txBox="1"/>
          <p:nvPr/>
        </p:nvSpPr>
        <p:spPr>
          <a:xfrm>
            <a:off x="7232904" y="20417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35" name="text-043: i_w_fifo 保存来源顺序"/>
          <p:cNvSpPr txBox="1"/>
          <p:nvPr/>
        </p:nvSpPr>
        <p:spPr>
          <a:xfrm>
            <a:off x="7232904" y="225507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36" name="text-044: W 按队首来源前进"/>
          <p:cNvSpPr txBox="1"/>
          <p:nvPr/>
        </p:nvSpPr>
        <p:spPr>
          <a:xfrm>
            <a:off x="7232904" y="2468433"/>
            <a:ext cx="15873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37" name="rect-045"/>
          <p:cNvSpPr/>
          <p:nvPr/>
        </p:nvSpPr>
        <p:spPr>
          <a:xfrm>
            <a:off x="10170160" y="1920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6"/>
          <p:cNvSpPr/>
          <p:nvPr/>
        </p:nvSpPr>
        <p:spPr>
          <a:xfrm>
            <a:off x="1017016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7: T0 · 慢存储"/>
          <p:cNvSpPr txBox="1"/>
          <p:nvPr/>
        </p:nvSpPr>
        <p:spPr>
          <a:xfrm>
            <a:off x="10291064" y="1948119"/>
            <a:ext cx="13406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T0 · 慢存储</a:t>
            </a:r>
          </a:p>
        </p:txBody>
      </p:sp>
      <p:sp>
        <p:nvSpPr>
          <p:cNvPr id="40" name="text-048: 独立背压与响应"/>
          <p:cNvSpPr txBox="1"/>
          <p:nvPr/>
        </p:nvSpPr>
        <p:spPr>
          <a:xfrm>
            <a:off x="10291064" y="2219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41" name="rect-049"/>
          <p:cNvSpPr/>
          <p:nvPr/>
        </p:nvSpPr>
        <p:spPr>
          <a:xfrm>
            <a:off x="355600" y="3698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50"/>
          <p:cNvSpPr/>
          <p:nvPr/>
        </p:nvSpPr>
        <p:spPr>
          <a:xfrm>
            <a:off x="35560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51: I1 · DMA"/>
          <p:cNvSpPr txBox="1"/>
          <p:nvPr/>
        </p:nvSpPr>
        <p:spPr>
          <a:xfrm>
            <a:off x="476504" y="372611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I1 · DMA</a:t>
            </a:r>
          </a:p>
        </p:txBody>
      </p:sp>
      <p:sp>
        <p:nvSpPr>
          <p:cNvPr id="44" name="text-052: AW / W / AR"/>
          <p:cNvSpPr txBox="1"/>
          <p:nvPr/>
        </p:nvSpPr>
        <p:spPr>
          <a:xfrm>
            <a:off x="476504" y="3997513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45" name="rect-053"/>
          <p:cNvSpPr/>
          <p:nvPr/>
        </p:nvSpPr>
        <p:spPr>
          <a:xfrm>
            <a:off x="2489200" y="3520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4"/>
          <p:cNvSpPr/>
          <p:nvPr/>
        </p:nvSpPr>
        <p:spPr>
          <a:xfrm>
            <a:off x="24892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5: DEMUX I1 · 地址分流"/>
          <p:cNvSpPr txBox="1"/>
          <p:nvPr/>
        </p:nvSpPr>
        <p:spPr>
          <a:xfrm>
            <a:off x="2610104" y="35483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I1 · 地址分流</a:t>
            </a:r>
          </a:p>
        </p:txBody>
      </p:sp>
      <p:sp>
        <p:nvSpPr>
          <p:cNvPr id="48" name="text-056: AW/AR ID → 目标 + 在途数"/>
          <p:cNvSpPr txBox="1"/>
          <p:nvPr/>
        </p:nvSpPr>
        <p:spPr>
          <a:xfrm>
            <a:off x="2610104" y="3819713"/>
            <a:ext cx="26371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49" name="text-057: w_select_q：W 的目标"/>
          <p:cNvSpPr txBox="1"/>
          <p:nvPr/>
        </p:nvSpPr>
        <p:spPr>
          <a:xfrm>
            <a:off x="2610104" y="4033073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50" name="text-058: w_open：未结束 W 数"/>
          <p:cNvSpPr txBox="1"/>
          <p:nvPr/>
        </p:nvSpPr>
        <p:spPr>
          <a:xfrm>
            <a:off x="2610104" y="4246433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51" name="rect-059"/>
          <p:cNvSpPr/>
          <p:nvPr/>
        </p:nvSpPr>
        <p:spPr>
          <a:xfrm>
            <a:off x="7112000" y="3520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60"/>
          <p:cNvSpPr/>
          <p:nvPr/>
        </p:nvSpPr>
        <p:spPr>
          <a:xfrm>
            <a:off x="71120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61: 目标 1 · mux / 仲裁"/>
          <p:cNvSpPr txBox="1"/>
          <p:nvPr/>
        </p:nvSpPr>
        <p:spPr>
          <a:xfrm>
            <a:off x="7232904" y="35483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1 · mux / 仲裁</a:t>
            </a:r>
          </a:p>
        </p:txBody>
      </p:sp>
      <p:sp>
        <p:nvSpPr>
          <p:cNvPr id="54" name="text-062: AW 轮转仲裁并预留来源"/>
          <p:cNvSpPr txBox="1"/>
          <p:nvPr/>
        </p:nvSpPr>
        <p:spPr>
          <a:xfrm>
            <a:off x="7232904" y="38197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55" name="text-063: i_w_fifo 保存来源顺序"/>
          <p:cNvSpPr txBox="1"/>
          <p:nvPr/>
        </p:nvSpPr>
        <p:spPr>
          <a:xfrm>
            <a:off x="7232904" y="403307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56" name="text-064: W 按队首来源前进"/>
          <p:cNvSpPr txBox="1"/>
          <p:nvPr/>
        </p:nvSpPr>
        <p:spPr>
          <a:xfrm>
            <a:off x="7232904" y="4246433"/>
            <a:ext cx="15873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57" name="rect-065"/>
          <p:cNvSpPr/>
          <p:nvPr/>
        </p:nvSpPr>
        <p:spPr>
          <a:xfrm>
            <a:off x="10170160" y="3698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66"/>
          <p:cNvSpPr/>
          <p:nvPr/>
        </p:nvSpPr>
        <p:spPr>
          <a:xfrm>
            <a:off x="1017016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67: T1 · 快寄存器"/>
          <p:cNvSpPr txBox="1"/>
          <p:nvPr/>
        </p:nvSpPr>
        <p:spPr>
          <a:xfrm>
            <a:off x="10291064" y="3726119"/>
            <a:ext cx="15255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T1 · 快寄存器</a:t>
            </a:r>
          </a:p>
        </p:txBody>
      </p:sp>
      <p:sp>
        <p:nvSpPr>
          <p:cNvPr id="60" name="text-068: 独立背压与响应"/>
          <p:cNvSpPr txBox="1"/>
          <p:nvPr/>
        </p:nvSpPr>
        <p:spPr>
          <a:xfrm>
            <a:off x="10291064" y="3997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61" name="text-069: 两笔请求竞争 T0；T1 仲裁器独立"/>
          <p:cNvSpPr txBox="1"/>
          <p:nvPr/>
        </p:nvSpPr>
        <p:spPr>
          <a:xfrm>
            <a:off x="3940759" y="4916099"/>
            <a:ext cx="26442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两笔请求竞争 T0；T1 仲裁器独立</a:t>
            </a:r>
          </a:p>
        </p:txBody>
      </p:sp>
      <p:sp>
        <p:nvSpPr>
          <p:cNvPr id="62" name="rect-070"/>
          <p:cNvSpPr/>
          <p:nvPr/>
        </p:nvSpPr>
        <p:spPr>
          <a:xfrm>
            <a:off x="35560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71"/>
          <p:cNvSpPr/>
          <p:nvPr/>
        </p:nvSpPr>
        <p:spPr>
          <a:xfrm>
            <a:off x="355600" y="56184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72: ① W 路由先被预留"/>
          <p:cNvSpPr txBox="1"/>
          <p:nvPr/>
        </p:nvSpPr>
        <p:spPr>
          <a:xfrm>
            <a:off x="476504" y="5646359"/>
            <a:ext cx="1839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W 路由先被预留</a:t>
            </a:r>
          </a:p>
        </p:txBody>
      </p:sp>
      <p:sp>
        <p:nvSpPr>
          <p:cNvPr id="65" name="text-073: 仲裁决定可能先于外部 AW 握手"/>
          <p:cNvSpPr txBox="1"/>
          <p:nvPr/>
        </p:nvSpPr>
        <p:spPr>
          <a:xfrm>
            <a:off x="476504" y="5933115"/>
            <a:ext cx="24408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仲裁决定可能先于外部 AW 握手</a:t>
            </a:r>
          </a:p>
        </p:txBody>
      </p:sp>
      <p:sp>
        <p:nvSpPr>
          <p:cNvPr id="66" name="text-074: 背压期间保持决定，避免重复入队"/>
          <p:cNvSpPr txBox="1"/>
          <p:nvPr/>
        </p:nvSpPr>
        <p:spPr>
          <a:xfrm>
            <a:off x="476504" y="614647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背压期间保持决定，避免重复入队</a:t>
            </a:r>
          </a:p>
        </p:txBody>
      </p:sp>
      <p:sp>
        <p:nvSpPr>
          <p:cNvPr id="67" name="text-075: 内部 WLAST 握手后 FIFO 才推进"/>
          <p:cNvSpPr txBox="1"/>
          <p:nvPr/>
        </p:nvSpPr>
        <p:spPr>
          <a:xfrm>
            <a:off x="476504" y="6359835"/>
            <a:ext cx="27302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WLAST 握手后 FIFO 才推进</a:t>
            </a:r>
          </a:p>
        </p:txBody>
      </p:sp>
      <p:sp>
        <p:nvSpPr>
          <p:cNvPr id="68" name="rect-076"/>
          <p:cNvSpPr/>
          <p:nvPr/>
        </p:nvSpPr>
        <p:spPr>
          <a:xfrm>
            <a:off x="437388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77"/>
          <p:cNvSpPr/>
          <p:nvPr/>
        </p:nvSpPr>
        <p:spPr>
          <a:xfrm>
            <a:off x="4373880" y="56184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8: ② 最后 W ≠ 写响应完成"/>
          <p:cNvSpPr txBox="1"/>
          <p:nvPr/>
        </p:nvSpPr>
        <p:spPr>
          <a:xfrm>
            <a:off x="4494784" y="5646359"/>
            <a:ext cx="2450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最后 W ≠ 写响应完成</a:t>
            </a:r>
          </a:p>
        </p:txBody>
      </p:sp>
      <p:sp>
        <p:nvSpPr>
          <p:cNvPr id="71" name="text-079: B 握手释放写 ID 计数"/>
          <p:cNvSpPr txBox="1"/>
          <p:nvPr/>
        </p:nvSpPr>
        <p:spPr>
          <a:xfrm>
            <a:off x="4494784" y="5933115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握手释放写 ID 计数</a:t>
            </a:r>
          </a:p>
        </p:txBody>
      </p:sp>
      <p:sp>
        <p:nvSpPr>
          <p:cNvPr id="72" name="text-080: 最后 R 握手释放读 ID 计数"/>
          <p:cNvSpPr txBox="1"/>
          <p:nvPr/>
        </p:nvSpPr>
        <p:spPr>
          <a:xfrm>
            <a:off x="4494784" y="6146475"/>
            <a:ext cx="22765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最后 R 握手释放读 ID 计数</a:t>
            </a:r>
          </a:p>
        </p:txBody>
      </p:sp>
      <p:sp>
        <p:nvSpPr>
          <p:cNvPr id="73" name="text-081: 同 ID 跨目标须等原事务释放"/>
          <p:cNvSpPr txBox="1"/>
          <p:nvPr/>
        </p:nvSpPr>
        <p:spPr>
          <a:xfrm>
            <a:off x="4494784" y="6359835"/>
            <a:ext cx="22843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 ID 跨目标须等原事务释放</a:t>
            </a:r>
          </a:p>
        </p:txBody>
      </p:sp>
      <p:sp>
        <p:nvSpPr>
          <p:cNvPr id="74" name="rect-082"/>
          <p:cNvSpPr/>
          <p:nvPr/>
        </p:nvSpPr>
        <p:spPr>
          <a:xfrm>
            <a:off x="8392160" y="5618480"/>
            <a:ext cx="391160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-083"/>
          <p:cNvSpPr/>
          <p:nvPr/>
        </p:nvSpPr>
        <p:spPr>
          <a:xfrm>
            <a:off x="8392160" y="56184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84: ③ B / R 按 ID 来源前缀返回"/>
          <p:cNvSpPr txBox="1"/>
          <p:nvPr/>
        </p:nvSpPr>
        <p:spPr>
          <a:xfrm>
            <a:off x="8513064" y="5646359"/>
            <a:ext cx="2986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B / R 按 ID 来源前缀返回</a:t>
            </a:r>
          </a:p>
        </p:txBody>
      </p:sp>
      <p:sp>
        <p:nvSpPr>
          <p:cNvPr id="77" name="text-085: I0/id01 → 001；I1/id01 → 101"/>
          <p:cNvSpPr txBox="1"/>
          <p:nvPr/>
        </p:nvSpPr>
        <p:spPr>
          <a:xfrm>
            <a:off x="8513064" y="5933115"/>
            <a:ext cx="30666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I0/id01 → 001；I1/id01 → 101</a:t>
            </a:r>
          </a:p>
        </p:txBody>
      </p:sp>
      <p:sp>
        <p:nvSpPr>
          <p:cNvPr id="78" name="text-086: 返回时按前缀选来源，再去前缀"/>
          <p:cNvSpPr txBox="1"/>
          <p:nvPr/>
        </p:nvSpPr>
        <p:spPr>
          <a:xfrm>
            <a:off x="8513064" y="61464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返回时按前缀选来源，再去前缀</a:t>
            </a:r>
          </a:p>
        </p:txBody>
      </p:sp>
      <p:sp>
        <p:nvSpPr>
          <p:cNvPr id="79" name="text-087: 端口 cut 使内外握手不必同周期"/>
          <p:cNvSpPr txBox="1"/>
          <p:nvPr/>
        </p:nvSpPr>
        <p:spPr>
          <a:xfrm>
            <a:off x="8513064" y="6359835"/>
            <a:ext cx="25425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端口 cut 使内外握手不必同周期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