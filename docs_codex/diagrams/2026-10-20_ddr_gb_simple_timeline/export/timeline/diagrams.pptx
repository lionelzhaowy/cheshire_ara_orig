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801600" cy="72009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-002: 一次推理的两次数据交接"/>
          <p:cNvSpPr txBox="1"/>
          <p:nvPr/>
        </p:nvSpPr>
        <p:spPr>
          <a:xfrm>
            <a:off x="4672584" y="112974"/>
            <a:ext cx="3456432" cy="46085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2268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一次推理的两次数据交接</a:t>
            </a:r>
          </a:p>
        </p:txBody>
      </p:sp>
      <p:sp>
        <p:nvSpPr>
          <p:cNvPr id="3" name="stage-1"/>
          <p:cNvSpPr/>
          <p:nvPr/>
        </p:nvSpPr>
        <p:spPr>
          <a:xfrm>
            <a:off x="1440180" y="800100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4" name="text-004: CPU／Ara 准备输入"/>
          <p:cNvSpPr txBox="1"/>
          <p:nvPr/>
        </p:nvSpPr>
        <p:spPr>
          <a:xfrm>
            <a:off x="5294468" y="805541"/>
            <a:ext cx="221266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CPU／Ara 准备输入</a:t>
            </a:r>
          </a:p>
        </p:txBody>
      </p:sp>
      <p:sp>
        <p:nvSpPr>
          <p:cNvPr id="5" name="text-005: 计算结束，交出输入与输出范围"/>
          <p:cNvSpPr txBox="1"/>
          <p:nvPr/>
        </p:nvSpPr>
        <p:spPr>
          <a:xfrm>
            <a:off x="4900612" y="1224153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计算结束，交出输入与输出范围</a:t>
            </a:r>
          </a:p>
        </p:txBody>
      </p:sp>
      <p:cxnSp>
        <p:nvCxnSpPr>
          <p:cNvPr id="6" name="next-1"/>
          <p:cNvCxnSpPr/>
          <p:nvPr/>
        </p:nvCxnSpPr>
        <p:spPr>
          <a:xfrm>
            <a:off x="6400800" y="1760220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7" name="stage-2"/>
          <p:cNvSpPr/>
          <p:nvPr/>
        </p:nvSpPr>
        <p:spPr>
          <a:xfrm>
            <a:off x="1440180" y="1952244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8" name="text-008: 交接前同步"/>
          <p:cNvSpPr txBox="1"/>
          <p:nvPr/>
        </p:nvSpPr>
        <p:spPr>
          <a:xfrm>
            <a:off x="5704713" y="1957685"/>
            <a:ext cx="1392174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交接前同步</a:t>
            </a:r>
          </a:p>
        </p:txBody>
      </p:sp>
      <p:sp>
        <p:nvSpPr>
          <p:cNvPr id="9" name="text-009: 先排空旧事务，再清理输入、清理并失效输出"/>
          <p:cNvSpPr txBox="1"/>
          <p:nvPr/>
        </p:nvSpPr>
        <p:spPr>
          <a:xfrm>
            <a:off x="4300538" y="2264283"/>
            <a:ext cx="420052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先排空旧事务，再清理输入、清理并失效输出</a:t>
            </a:r>
          </a:p>
        </p:txBody>
      </p:sp>
      <p:sp>
        <p:nvSpPr>
          <p:cNvPr id="10" name="text-010: 确认设备端口可见，允许启动搬运"/>
          <p:cNvSpPr txBox="1"/>
          <p:nvPr/>
        </p:nvSpPr>
        <p:spPr>
          <a:xfrm>
            <a:off x="4800600" y="2568321"/>
            <a:ext cx="3200400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确认设备端口可见，允许启动搬运</a:t>
            </a:r>
          </a:p>
        </p:txBody>
      </p:sp>
      <p:cxnSp>
        <p:nvCxnSpPr>
          <p:cNvPr id="11" name="next-2"/>
          <p:cNvCxnSpPr/>
          <p:nvPr/>
        </p:nvCxnSpPr>
        <p:spPr>
          <a:xfrm>
            <a:off x="6400800" y="2912364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2" name="stage-3"/>
          <p:cNvSpPr/>
          <p:nvPr/>
        </p:nvSpPr>
        <p:spPr>
          <a:xfrm>
            <a:off x="1440180" y="3104388"/>
            <a:ext cx="9921240" cy="960120"/>
          </a:xfrm>
          <a:prstGeom prst="rect">
            <a:avLst/>
          </a:prstGeom>
          <a:solidFill>
            <a:srgbClr val="D9EEE8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3" name="text-013: 设备执行"/>
          <p:cNvSpPr txBox="1"/>
          <p:nvPr/>
        </p:nvSpPr>
        <p:spPr>
          <a:xfrm>
            <a:off x="5820728" y="3109829"/>
            <a:ext cx="116014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设备执行</a:t>
            </a:r>
          </a:p>
        </p:txBody>
      </p:sp>
      <p:sp>
        <p:nvSpPr>
          <p:cNvPr id="14" name="text-014: DDR → GB → NPU 计算 → 结果从 GB 写回 DDR"/>
          <p:cNvSpPr txBox="1"/>
          <p:nvPr/>
        </p:nvSpPr>
        <p:spPr>
          <a:xfrm>
            <a:off x="4171709" y="3528441"/>
            <a:ext cx="445818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DDR → GB → NPU 计算 → 结果从 GB 写回 DDR</a:t>
            </a:r>
          </a:p>
        </p:txBody>
      </p:sp>
      <p:cxnSp>
        <p:nvCxnSpPr>
          <p:cNvPr id="15" name="next-3"/>
          <p:cNvCxnSpPr/>
          <p:nvPr/>
        </p:nvCxnSpPr>
        <p:spPr>
          <a:xfrm>
            <a:off x="6400800" y="4064508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16" name="stage-4"/>
          <p:cNvSpPr/>
          <p:nvPr/>
        </p:nvSpPr>
        <p:spPr>
          <a:xfrm>
            <a:off x="1440180" y="4256532"/>
            <a:ext cx="9921240" cy="960120"/>
          </a:xfrm>
          <a:prstGeom prst="rect">
            <a:avLst/>
          </a:prstGeom>
          <a:solidFill>
            <a:srgbClr val="E8DFED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17" name="text-017: 交回 CPU 前同步"/>
          <p:cNvSpPr txBox="1"/>
          <p:nvPr/>
        </p:nvSpPr>
        <p:spPr>
          <a:xfrm>
            <a:off x="5424197" y="4261973"/>
            <a:ext cx="1953207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交回 CPU 前同步</a:t>
            </a:r>
          </a:p>
        </p:txBody>
      </p:sp>
      <p:sp>
        <p:nvSpPr>
          <p:cNvPr id="18" name="text-018: 确认写回成功且 CPU 端口可见"/>
          <p:cNvSpPr txBox="1"/>
          <p:nvPr/>
        </p:nvSpPr>
        <p:spPr>
          <a:xfrm>
            <a:off x="4958826" y="4568571"/>
            <a:ext cx="2883948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确认写回成功且 CPU 端口可见</a:t>
            </a:r>
          </a:p>
        </p:txBody>
      </p:sp>
      <p:sp>
        <p:nvSpPr>
          <p:cNvPr id="19" name="text-019: 处理相关回填，再失效 L1D／LLC 输出副本"/>
          <p:cNvSpPr txBox="1"/>
          <p:nvPr/>
        </p:nvSpPr>
        <p:spPr>
          <a:xfrm>
            <a:off x="4402794" y="4872609"/>
            <a:ext cx="3996012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处理相关回填，再失效 L1D／LLC 输出副本</a:t>
            </a:r>
          </a:p>
        </p:txBody>
      </p:sp>
      <p:cxnSp>
        <p:nvCxnSpPr>
          <p:cNvPr id="20" name="next-4"/>
          <p:cNvCxnSpPr/>
          <p:nvPr/>
        </p:nvCxnSpPr>
        <p:spPr>
          <a:xfrm>
            <a:off x="6400800" y="5216652"/>
            <a:ext cx="0" cy="192024"/>
          </a:xfrm>
          <a:prstGeom prst="line">
            <a:avLst/>
          </a:prstGeom>
          <a:ln w="22403" cap="flat">
            <a:solidFill>
              <a:srgbClr val="314D66"/>
            </a:solidFill>
            <a:tailEnd type="triangle" w="med" len="med"/>
          </a:ln>
          <a:effectLst/>
        </p:spPr>
      </p:cxnSp>
      <p:sp>
        <p:nvSpPr>
          <p:cNvPr id="21" name="stage-5"/>
          <p:cNvSpPr/>
          <p:nvPr/>
        </p:nvSpPr>
        <p:spPr>
          <a:xfrm>
            <a:off x="1440180" y="5408676"/>
            <a:ext cx="9921240" cy="960120"/>
          </a:xfrm>
          <a:prstGeom prst="rect">
            <a:avLst/>
          </a:prstGeom>
          <a:solidFill>
            <a:srgbClr val="F1D7D9"/>
          </a:solidFill>
          <a:ln w="13602" cap="flat">
            <a:solidFill>
              <a:srgbClr val="29292D"/>
            </a:solidFill>
          </a:ln>
          <a:effectLst/>
        </p:spPr>
        <p:txBody>
          <a:bodyPr rtlCol="0" anchor="ctr"/>
          <a:lstStyle/>
          <a:p>
            <a:pPr algn="ctr"/>
          </a:p>
        </p:txBody>
      </p:sp>
      <p:sp>
        <p:nvSpPr>
          <p:cNvPr id="22" name="text-022: CPU 读取结果并后处理"/>
          <p:cNvSpPr txBox="1"/>
          <p:nvPr/>
        </p:nvSpPr>
        <p:spPr>
          <a:xfrm>
            <a:off x="5110933" y="5414117"/>
            <a:ext cx="2579735" cy="371246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827" b="1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CPU 读取结果并后处理</a:t>
            </a:r>
          </a:p>
        </p:txBody>
      </p:sp>
      <p:sp>
        <p:nvSpPr>
          <p:cNvPr id="23" name="text-023: 同步成功后重新取得输出使用权"/>
          <p:cNvSpPr txBox="1"/>
          <p:nvPr/>
        </p:nvSpPr>
        <p:spPr>
          <a:xfrm>
            <a:off x="4900612" y="5832729"/>
            <a:ext cx="3000375" cy="320040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75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同步成功后重新取得输出使用权</a:t>
            </a:r>
          </a:p>
        </p:txBody>
      </p:sp>
      <p:sp>
        <p:nvSpPr>
          <p:cNvPr id="24" name="text-024: 箭头表示先后顺序；每个阶段成功后才进入下一阶段。"/>
          <p:cNvSpPr txBox="1"/>
          <p:nvPr/>
        </p:nvSpPr>
        <p:spPr>
          <a:xfrm>
            <a:off x="4000500" y="6593464"/>
            <a:ext cx="4800600" cy="307238"/>
          </a:xfrm>
          <a:prstGeom prst="rect">
            <a:avLst/>
          </a:prstGeom>
          <a:noFill/>
          <a:effectLst/>
        </p:spPr>
        <p:txBody>
          <a:bodyPr wrap="none" lIns="0" rIns="0" tIns="0" bIns="0" anchor="t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</a:pPr>
            <a:r>
              <a:rPr sz="1512" b="0" i="0">
                <a:solidFill>
                  <a:srgbClr val="29292D"/>
                </a:solidFill>
                <a:latin typeface="Microsoft YaHei"/>
                <a:ea typeface="Microsoft YaHei"/>
                <a:cs typeface="Microsoft YaHei"/>
              </a:rPr>
              <a:t>箭头表示先后顺序；每个阶段成功后才进入下一阶段。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