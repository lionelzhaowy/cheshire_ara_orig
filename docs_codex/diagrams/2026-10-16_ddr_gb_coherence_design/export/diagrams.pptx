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8016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2: DDR 互联候选结构 · 共享 Global Buffer"/>
          <p:cNvSpPr txBox="1"/>
          <p:nvPr/>
        </p:nvSpPr>
        <p:spPr>
          <a:xfrm>
            <a:off x="205740" y="84856"/>
            <a:ext cx="3547965" cy="3145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互联候选结构 · 共享 Global Buffer</a:t>
            </a:r>
          </a:p>
        </p:txBody>
      </p:sp>
      <p:sp>
        <p:nvSpPr>
          <p:cNvPr id="3" name="o3: S0 = SoC / LLC · S1 = 统一 NPU / GB 搬运 · S"/>
          <p:cNvSpPr txBox="1"/>
          <p:nvPr/>
        </p:nvSpPr>
        <p:spPr>
          <a:xfrm>
            <a:off x="219456" y="393558"/>
            <a:ext cx="3105602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S0 = SoC / LLC · S1 = 统一 NPU / GB 搬运 · S2 = 图像帧写入</a:t>
            </a:r>
          </a:p>
        </p:txBody>
      </p:sp>
      <p:sp>
        <p:nvSpPr>
          <p:cNvPr id="4" name="cpu-domain"/>
          <p:cNvSpPr/>
          <p:nvPr/>
        </p:nvSpPr>
        <p:spPr>
          <a:xfrm>
            <a:off x="274320" y="914400"/>
            <a:ext cx="3840480" cy="1965960"/>
          </a:xfrm>
          <a:prstGeom prst="rect">
            <a:avLst/>
          </a:prstGeom>
          <a:solidFill>
            <a:srgbClr val="F1D7D9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5: CVA6–Ara 系统路径"/>
          <p:cNvSpPr txBox="1"/>
          <p:nvPr/>
        </p:nvSpPr>
        <p:spPr>
          <a:xfrm>
            <a:off x="1535410" y="962863"/>
            <a:ext cx="1318300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系统路径</a:t>
            </a:r>
          </a:p>
        </p:txBody>
      </p:sp>
      <p:sp>
        <p:nvSpPr>
          <p:cNvPr id="6" name="cpu"/>
          <p:cNvSpPr/>
          <p:nvPr/>
        </p:nvSpPr>
        <p:spPr>
          <a:xfrm>
            <a:off x="411480" y="1325880"/>
            <a:ext cx="1005840" cy="617220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7: CVA6"/>
          <p:cNvSpPr txBox="1"/>
          <p:nvPr/>
        </p:nvSpPr>
        <p:spPr>
          <a:xfrm>
            <a:off x="700745" y="1462034"/>
            <a:ext cx="42731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</a:t>
            </a:r>
          </a:p>
        </p:txBody>
      </p:sp>
      <p:sp>
        <p:nvSpPr>
          <p:cNvPr id="8" name="o8: L1D / 写缓冲"/>
          <p:cNvSpPr txBox="1"/>
          <p:nvPr/>
        </p:nvSpPr>
        <p:spPr>
          <a:xfrm>
            <a:off x="537049" y="1637233"/>
            <a:ext cx="754701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L1D / 写缓冲</a:t>
            </a:r>
          </a:p>
        </p:txBody>
      </p:sp>
      <p:sp>
        <p:nvSpPr>
          <p:cNvPr id="9" name="ara"/>
          <p:cNvSpPr/>
          <p:nvPr/>
        </p:nvSpPr>
        <p:spPr>
          <a:xfrm>
            <a:off x="1828800" y="1325880"/>
            <a:ext cx="2125980" cy="502920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10: Ara"/>
          <p:cNvSpPr txBox="1"/>
          <p:nvPr/>
        </p:nvSpPr>
        <p:spPr>
          <a:xfrm>
            <a:off x="2737017" y="1404884"/>
            <a:ext cx="30954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</a:t>
            </a:r>
          </a:p>
        </p:txBody>
      </p:sp>
      <p:sp>
        <p:nvSpPr>
          <p:cNvPr id="11" name="o11: 单一 AXI 访存出口"/>
          <p:cNvSpPr txBox="1"/>
          <p:nvPr/>
        </p:nvSpPr>
        <p:spPr>
          <a:xfrm>
            <a:off x="2400318" y="1580083"/>
            <a:ext cx="982944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单一 AXI 访存出口</a:t>
            </a:r>
          </a:p>
        </p:txBody>
      </p:sp>
      <p:sp>
        <p:nvSpPr>
          <p:cNvPr id="12" name="filter"/>
          <p:cNvSpPr/>
          <p:nvPr/>
        </p:nvSpPr>
        <p:spPr>
          <a:xfrm>
            <a:off x="1828800" y="2080260"/>
            <a:ext cx="571500" cy="4572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13: 失效过滤"/>
          <p:cNvSpPr txBox="1"/>
          <p:nvPr/>
        </p:nvSpPr>
        <p:spPr>
          <a:xfrm>
            <a:off x="1828800" y="2146554"/>
            <a:ext cx="5715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4" name="o14: 现有"/>
          <p:cNvSpPr txBox="1"/>
          <p:nvPr/>
        </p:nvSpPr>
        <p:spPr>
          <a:xfrm>
            <a:off x="1963674" y="2316815"/>
            <a:ext cx="301752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现有</a:t>
            </a:r>
          </a:p>
        </p:txBody>
      </p:sp>
      <p:sp>
        <p:nvSpPr>
          <p:cNvPr id="15" name="split"/>
          <p:cNvSpPr/>
          <p:nvPr/>
        </p:nvSpPr>
        <p:spPr>
          <a:xfrm>
            <a:off x="2514600" y="2080260"/>
            <a:ext cx="571500" cy="457200"/>
          </a:xfrm>
          <a:prstGeom prst="rect">
            <a:avLst/>
          </a:prstGeom>
          <a:solidFill>
            <a:srgbClr val="E8DFED"/>
          </a:solidFill>
          <a:ln w="9144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16: 地址分流"/>
          <p:cNvSpPr txBox="1"/>
          <p:nvPr/>
        </p:nvSpPr>
        <p:spPr>
          <a:xfrm>
            <a:off x="2514600" y="2146554"/>
            <a:ext cx="5715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17" name="o17: 新增"/>
          <p:cNvSpPr txBox="1"/>
          <p:nvPr/>
        </p:nvSpPr>
        <p:spPr>
          <a:xfrm>
            <a:off x="2649474" y="2316815"/>
            <a:ext cx="301752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</a:t>
            </a:r>
          </a:p>
        </p:txBody>
      </p:sp>
      <p:sp>
        <p:nvSpPr>
          <p:cNvPr id="18" name="width"/>
          <p:cNvSpPr/>
          <p:nvPr/>
        </p:nvSpPr>
        <p:spPr>
          <a:xfrm>
            <a:off x="3200400" y="2080260"/>
            <a:ext cx="754380" cy="4572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19: 位宽适配"/>
          <p:cNvSpPr txBox="1"/>
          <p:nvPr/>
        </p:nvSpPr>
        <p:spPr>
          <a:xfrm>
            <a:off x="3291840" y="2146554"/>
            <a:ext cx="5715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20" name="o20: 普通地址"/>
          <p:cNvSpPr txBox="1"/>
          <p:nvPr/>
        </p:nvSpPr>
        <p:spPr>
          <a:xfrm>
            <a:off x="3326130" y="2316815"/>
            <a:ext cx="502920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普通地址</a:t>
            </a:r>
          </a:p>
        </p:txBody>
      </p:sp>
      <p:cxnSp>
        <p:nvCxnSpPr>
          <p:cNvPr id="21" name="ara-filter"/>
          <p:cNvCxnSpPr/>
          <p:nvPr/>
        </p:nvCxnSpPr>
        <p:spPr>
          <a:xfrm>
            <a:off x="2112264" y="1828800"/>
            <a:ext cx="0" cy="25146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22" name="filter-split"/>
          <p:cNvCxnSpPr/>
          <p:nvPr/>
        </p:nvCxnSpPr>
        <p:spPr>
          <a:xfrm>
            <a:off x="2400300" y="2308860"/>
            <a:ext cx="114300" cy="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23" name="split-width"/>
          <p:cNvCxnSpPr/>
          <p:nvPr/>
        </p:nvCxnSpPr>
        <p:spPr>
          <a:xfrm>
            <a:off x="3086100" y="2308860"/>
            <a:ext cx="114300" cy="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24" name="gb-domain"/>
          <p:cNvSpPr/>
          <p:nvPr/>
        </p:nvSpPr>
        <p:spPr>
          <a:xfrm>
            <a:off x="4251960" y="914400"/>
            <a:ext cx="4114800" cy="1965960"/>
          </a:xfrm>
          <a:prstGeom prst="rect">
            <a:avLst/>
          </a:prstGeom>
          <a:solidFill>
            <a:srgbClr val="D9EEE8"/>
          </a:solidFill>
          <a:ln w="9144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25: 独立 GB / NPU 子系统"/>
          <p:cNvSpPr txBox="1"/>
          <p:nvPr/>
        </p:nvSpPr>
        <p:spPr>
          <a:xfrm>
            <a:off x="5564896" y="962863"/>
            <a:ext cx="1488929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GB / NPU 子系统</a:t>
            </a:r>
          </a:p>
        </p:txBody>
      </p:sp>
      <p:sp>
        <p:nvSpPr>
          <p:cNvPr id="26" name="npu"/>
          <p:cNvSpPr/>
          <p:nvPr/>
        </p:nvSpPr>
        <p:spPr>
          <a:xfrm>
            <a:off x="4389120" y="1394460"/>
            <a:ext cx="1005840" cy="640080"/>
          </a:xfrm>
          <a:prstGeom prst="rect">
            <a:avLst/>
          </a:prstGeom>
          <a:solidFill>
            <a:srgbClr val="F1D7D9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27: NPU 计算"/>
          <p:cNvSpPr txBox="1"/>
          <p:nvPr/>
        </p:nvSpPr>
        <p:spPr>
          <a:xfrm>
            <a:off x="4561867" y="1542044"/>
            <a:ext cx="66034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28" name="o28: 独立于搬运器"/>
          <p:cNvSpPr txBox="1"/>
          <p:nvPr/>
        </p:nvSpPr>
        <p:spPr>
          <a:xfrm>
            <a:off x="4507992" y="1717243"/>
            <a:ext cx="768096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独立于搬运器</a:t>
            </a:r>
          </a:p>
        </p:txBody>
      </p:sp>
      <p:sp>
        <p:nvSpPr>
          <p:cNvPr id="29" name="router"/>
          <p:cNvSpPr/>
          <p:nvPr/>
        </p:nvSpPr>
        <p:spPr>
          <a:xfrm>
            <a:off x="5554980" y="1394460"/>
            <a:ext cx="1143000" cy="64008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30: 共享数据代理"/>
          <p:cNvSpPr txBox="1"/>
          <p:nvPr/>
        </p:nvSpPr>
        <p:spPr>
          <a:xfrm>
            <a:off x="5678424" y="1542044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共享数据代理</a:t>
            </a:r>
          </a:p>
        </p:txBody>
      </p:sp>
      <p:sp>
        <p:nvSpPr>
          <p:cNvPr id="31" name="o31: 仲裁 / bank 冲突"/>
          <p:cNvSpPr txBox="1"/>
          <p:nvPr/>
        </p:nvSpPr>
        <p:spPr>
          <a:xfrm>
            <a:off x="5658154" y="1717243"/>
            <a:ext cx="936653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仲裁 / bank 冲突</a:t>
            </a:r>
          </a:p>
        </p:txBody>
      </p:sp>
      <p:sp>
        <p:nvSpPr>
          <p:cNvPr id="32" name="gb"/>
          <p:cNvSpPr/>
          <p:nvPr/>
        </p:nvSpPr>
        <p:spPr>
          <a:xfrm>
            <a:off x="6858000" y="1394460"/>
            <a:ext cx="1325880" cy="640080"/>
          </a:xfrm>
          <a:prstGeom prst="rect">
            <a:avLst/>
          </a:prstGeom>
          <a:solidFill>
            <a:srgbClr val="D9EEE8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33: Global Buffer"/>
          <p:cNvSpPr txBox="1"/>
          <p:nvPr/>
        </p:nvSpPr>
        <p:spPr>
          <a:xfrm>
            <a:off x="7093937" y="1464320"/>
            <a:ext cx="85400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4" name="o34: 独立分 bank SRAM"/>
          <p:cNvSpPr txBox="1"/>
          <p:nvPr/>
        </p:nvSpPr>
        <p:spPr>
          <a:xfrm>
            <a:off x="7008840" y="1639519"/>
            <a:ext cx="1024199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独立分 bank SRAM</a:t>
            </a:r>
          </a:p>
        </p:txBody>
      </p:sp>
      <p:sp>
        <p:nvSpPr>
          <p:cNvPr id="35" name="o35: 工作区 / 双缓冲"/>
          <p:cNvSpPr txBox="1"/>
          <p:nvPr/>
        </p:nvSpPr>
        <p:spPr>
          <a:xfrm>
            <a:off x="7075491" y="1794967"/>
            <a:ext cx="890897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工作区 / 双缓冲</a:t>
            </a:r>
          </a:p>
        </p:txBody>
      </p:sp>
      <p:sp>
        <p:nvSpPr>
          <p:cNvPr id="36" name="mover"/>
          <p:cNvSpPr/>
          <p:nvPr/>
        </p:nvSpPr>
        <p:spPr>
          <a:xfrm>
            <a:off x="6858000" y="2263140"/>
            <a:ext cx="1325880" cy="457200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37: NPU / GB 搬运"/>
          <p:cNvSpPr txBox="1"/>
          <p:nvPr/>
        </p:nvSpPr>
        <p:spPr>
          <a:xfrm>
            <a:off x="7037305" y="2319284"/>
            <a:ext cx="96727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38" name="o38: DDR ↔ GB"/>
          <p:cNvSpPr txBox="1"/>
          <p:nvPr/>
        </p:nvSpPr>
        <p:spPr>
          <a:xfrm>
            <a:off x="7201882" y="2494483"/>
            <a:ext cx="638115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DDR ↔ GB</a:t>
            </a:r>
          </a:p>
        </p:txBody>
      </p:sp>
      <p:cxnSp>
        <p:nvCxnSpPr>
          <p:cNvPr id="39" name="npu-router"/>
          <p:cNvCxnSpPr/>
          <p:nvPr/>
        </p:nvCxnSpPr>
        <p:spPr>
          <a:xfrm>
            <a:off x="5394960" y="1714500"/>
            <a:ext cx="160020" cy="0"/>
          </a:xfrm>
          <a:prstGeom prst="line">
            <a:avLst/>
          </a:prstGeom>
          <a:ln w="1371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40" name="router-gb"/>
          <p:cNvCxnSpPr/>
          <p:nvPr/>
        </p:nvCxnSpPr>
        <p:spPr>
          <a:xfrm>
            <a:off x="6697980" y="1714500"/>
            <a:ext cx="160020" cy="0"/>
          </a:xfrm>
          <a:prstGeom prst="line">
            <a:avLst/>
          </a:prstGeom>
          <a:ln w="1371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41" name="mover-router"/>
          <p:cNvSpPr/>
          <p:nvPr/>
        </p:nvSpPr>
        <p:spPr>
          <a:xfrm>
            <a:off x="6126480" y="2034540"/>
            <a:ext cx="731520" cy="457200"/>
          </a:xfrm>
          <a:custGeom>
            <a:avLst/>
            <a:gdLst/>
            <a:ahLst/>
            <a:cxnLst/>
            <a:rect l="0" t="0" r="r" b="b"/>
            <a:pathLst>
              <a:path w="731520" h="457200" fill="none">
                <a:moveTo>
                  <a:pt x="731520" y="457200"/>
                </a:moveTo>
                <a:lnTo>
                  <a:pt x="0" y="457200"/>
                </a:lnTo>
                <a:lnTo>
                  <a:pt x="0" y="0"/>
                </a:lnTo>
              </a:path>
            </a:pathLst>
          </a:custGeom>
          <a:noFill/>
          <a:ln w="1371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ara-gb"/>
          <p:cNvSpPr/>
          <p:nvPr/>
        </p:nvSpPr>
        <p:spPr>
          <a:xfrm>
            <a:off x="3086100" y="1280160"/>
            <a:ext cx="2674620" cy="891540"/>
          </a:xfrm>
          <a:custGeom>
            <a:avLst/>
            <a:gdLst/>
            <a:ahLst/>
            <a:cxnLst/>
            <a:rect l="0" t="0" r="r" b="b"/>
            <a:pathLst>
              <a:path w="2674620" h="891540" fill="none">
                <a:moveTo>
                  <a:pt x="0" y="891540"/>
                </a:moveTo>
                <a:lnTo>
                  <a:pt x="50292" y="891540"/>
                </a:lnTo>
                <a:lnTo>
                  <a:pt x="50292" y="662940"/>
                </a:lnTo>
                <a:lnTo>
                  <a:pt x="1088136" y="662940"/>
                </a:lnTo>
                <a:lnTo>
                  <a:pt x="1088136" y="0"/>
                </a:lnTo>
                <a:lnTo>
                  <a:pt x="2674620" y="0"/>
                </a:lnTo>
                <a:lnTo>
                  <a:pt x="2674620" y="114300"/>
                </a:lnTo>
              </a:path>
            </a:pathLst>
          </a:custGeom>
          <a:noFill/>
          <a:ln w="1371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image-domain"/>
          <p:cNvSpPr/>
          <p:nvPr/>
        </p:nvSpPr>
        <p:spPr>
          <a:xfrm>
            <a:off x="8503920" y="914400"/>
            <a:ext cx="4023360" cy="1965960"/>
          </a:xfrm>
          <a:prstGeom prst="rect">
            <a:avLst/>
          </a:prstGeom>
          <a:solidFill>
            <a:srgbClr val="F5E1C9"/>
          </a:solidFill>
          <a:ln w="9144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o44: 图像接收 / ISP / 帧写入"/>
          <p:cNvSpPr txBox="1"/>
          <p:nvPr/>
        </p:nvSpPr>
        <p:spPr>
          <a:xfrm>
            <a:off x="9714807" y="962863"/>
            <a:ext cx="1601586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图像接收 / ISP / 帧写入</a:t>
            </a:r>
          </a:p>
        </p:txBody>
      </p:sp>
      <p:sp>
        <p:nvSpPr>
          <p:cNvPr id="45" name="lvds"/>
          <p:cNvSpPr/>
          <p:nvPr/>
        </p:nvSpPr>
        <p:spPr>
          <a:xfrm>
            <a:off x="8663940" y="1691640"/>
            <a:ext cx="640080" cy="5715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o46: LVDS"/>
          <p:cNvSpPr txBox="1"/>
          <p:nvPr/>
        </p:nvSpPr>
        <p:spPr>
          <a:xfrm>
            <a:off x="8785587" y="1811701"/>
            <a:ext cx="396785" cy="1901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" name="o47: 解串 / 帧行"/>
          <p:cNvSpPr txBox="1"/>
          <p:nvPr/>
        </p:nvSpPr>
        <p:spPr>
          <a:xfrm>
            <a:off x="8704209" y="1996775"/>
            <a:ext cx="559541" cy="1463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48" name="cdc"/>
          <p:cNvSpPr/>
          <p:nvPr/>
        </p:nvSpPr>
        <p:spPr>
          <a:xfrm>
            <a:off x="9395460" y="1691640"/>
            <a:ext cx="640080" cy="5715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49: CDC/FIFO"/>
          <p:cNvSpPr txBox="1"/>
          <p:nvPr/>
        </p:nvSpPr>
        <p:spPr>
          <a:xfrm>
            <a:off x="9400782" y="1811701"/>
            <a:ext cx="629436" cy="1901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CDC/FIFO</a:t>
            </a:r>
          </a:p>
        </p:txBody>
      </p:sp>
      <p:sp>
        <p:nvSpPr>
          <p:cNvPr id="50" name="o50: 像素缓冲"/>
          <p:cNvSpPr txBox="1"/>
          <p:nvPr/>
        </p:nvSpPr>
        <p:spPr>
          <a:xfrm>
            <a:off x="9486900" y="1996775"/>
            <a:ext cx="457200" cy="1463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像素缓冲</a:t>
            </a:r>
          </a:p>
        </p:txBody>
      </p:sp>
      <p:sp>
        <p:nvSpPr>
          <p:cNvPr id="51" name="isp"/>
          <p:cNvSpPr/>
          <p:nvPr/>
        </p:nvSpPr>
        <p:spPr>
          <a:xfrm>
            <a:off x="10126980" y="1691640"/>
            <a:ext cx="640080" cy="5715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o52: ISP"/>
          <p:cNvSpPr txBox="1"/>
          <p:nvPr/>
        </p:nvSpPr>
        <p:spPr>
          <a:xfrm>
            <a:off x="10302084" y="1811701"/>
            <a:ext cx="289872" cy="1901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53" name="o53: 处理/行缓冲"/>
          <p:cNvSpPr txBox="1"/>
          <p:nvPr/>
        </p:nvSpPr>
        <p:spPr>
          <a:xfrm>
            <a:off x="10148947" y="1996775"/>
            <a:ext cx="596146" cy="1463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处理/行缓冲</a:t>
            </a:r>
          </a:p>
        </p:txBody>
      </p:sp>
      <p:sp>
        <p:nvSpPr>
          <p:cNvPr id="54" name="select"/>
          <p:cNvSpPr/>
          <p:nvPr/>
        </p:nvSpPr>
        <p:spPr>
          <a:xfrm>
            <a:off x="10858500" y="1691640"/>
            <a:ext cx="640080" cy="5715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o55: 帧选择"/>
          <p:cNvSpPr txBox="1"/>
          <p:nvPr/>
        </p:nvSpPr>
        <p:spPr>
          <a:xfrm>
            <a:off x="10940796" y="1811701"/>
            <a:ext cx="475488" cy="1901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帧选择</a:t>
            </a:r>
          </a:p>
        </p:txBody>
      </p:sp>
      <p:sp>
        <p:nvSpPr>
          <p:cNvPr id="56" name="o56: RAW / ISP"/>
          <p:cNvSpPr txBox="1"/>
          <p:nvPr/>
        </p:nvSpPr>
        <p:spPr>
          <a:xfrm>
            <a:off x="10924526" y="1996775"/>
            <a:ext cx="508028" cy="1463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57" name="frame"/>
          <p:cNvSpPr/>
          <p:nvPr/>
        </p:nvSpPr>
        <p:spPr>
          <a:xfrm>
            <a:off x="11590020" y="1691640"/>
            <a:ext cx="731520" cy="5715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o58: 帧 DMA"/>
          <p:cNvSpPr txBox="1"/>
          <p:nvPr/>
        </p:nvSpPr>
        <p:spPr>
          <a:xfrm>
            <a:off x="11697951" y="1811701"/>
            <a:ext cx="515657" cy="1901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 DMA</a:t>
            </a:r>
          </a:p>
        </p:txBody>
      </p:sp>
      <p:sp>
        <p:nvSpPr>
          <p:cNvPr id="59" name="o59: 地址/stride"/>
          <p:cNvSpPr txBox="1"/>
          <p:nvPr/>
        </p:nvSpPr>
        <p:spPr>
          <a:xfrm>
            <a:off x="11681678" y="1996775"/>
            <a:ext cx="548204" cy="1463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地址/stride</a:t>
            </a:r>
          </a:p>
        </p:txBody>
      </p:sp>
      <p:cxnSp>
        <p:nvCxnSpPr>
          <p:cNvPr id="60" name="pixel0"/>
          <p:cNvCxnSpPr/>
          <p:nvPr/>
        </p:nvCxnSpPr>
        <p:spPr>
          <a:xfrm>
            <a:off x="9304020" y="1920240"/>
            <a:ext cx="91440" cy="0"/>
          </a:xfrm>
          <a:prstGeom prst="line">
            <a:avLst/>
          </a:prstGeom>
          <a:ln w="13716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61" name="pixel1"/>
          <p:cNvCxnSpPr/>
          <p:nvPr/>
        </p:nvCxnSpPr>
        <p:spPr>
          <a:xfrm>
            <a:off x="10035540" y="1920240"/>
            <a:ext cx="91440" cy="0"/>
          </a:xfrm>
          <a:prstGeom prst="line">
            <a:avLst/>
          </a:prstGeom>
          <a:ln w="13716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62" name="pixel2"/>
          <p:cNvCxnSpPr/>
          <p:nvPr/>
        </p:nvCxnSpPr>
        <p:spPr>
          <a:xfrm>
            <a:off x="10767060" y="1920240"/>
            <a:ext cx="91440" cy="0"/>
          </a:xfrm>
          <a:prstGeom prst="line">
            <a:avLst/>
          </a:prstGeom>
          <a:ln w="13716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63" name="pixel3"/>
          <p:cNvCxnSpPr/>
          <p:nvPr/>
        </p:nvCxnSpPr>
        <p:spPr>
          <a:xfrm>
            <a:off x="11498580" y="1920240"/>
            <a:ext cx="91440" cy="0"/>
          </a:xfrm>
          <a:prstGeom prst="line">
            <a:avLst/>
          </a:prstGeom>
          <a:ln w="13716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64" name="raw"/>
          <p:cNvSpPr/>
          <p:nvPr/>
        </p:nvSpPr>
        <p:spPr>
          <a:xfrm>
            <a:off x="10081260" y="1508760"/>
            <a:ext cx="1097280" cy="411480"/>
          </a:xfrm>
          <a:custGeom>
            <a:avLst/>
            <a:gdLst/>
            <a:ahLst/>
            <a:cxnLst/>
            <a:rect l="0" t="0" r="r" b="b"/>
            <a:pathLst>
              <a:path w="1097280" h="411480" fill="none">
                <a:moveTo>
                  <a:pt x="0" y="411480"/>
                </a:moveTo>
                <a:lnTo>
                  <a:pt x="0" y="0"/>
                </a:lnTo>
                <a:lnTo>
                  <a:pt x="1097280" y="0"/>
                </a:lnTo>
                <a:lnTo>
                  <a:pt x="1097280" y="182880"/>
                </a:lnTo>
              </a:path>
            </a:pathLst>
          </a:custGeom>
          <a:noFill/>
          <a:ln w="1371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branch"/>
          <p:cNvSpPr/>
          <p:nvPr/>
        </p:nvSpPr>
        <p:spPr>
          <a:xfrm>
            <a:off x="10062972" y="1901952"/>
            <a:ext cx="36576" cy="36576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o66: RAW 旁路"/>
          <p:cNvSpPr txBox="1"/>
          <p:nvPr/>
        </p:nvSpPr>
        <p:spPr>
          <a:xfrm>
            <a:off x="11163560" y="1345265"/>
            <a:ext cx="532881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67" name="isp-gb"/>
          <p:cNvSpPr/>
          <p:nvPr/>
        </p:nvSpPr>
        <p:spPr>
          <a:xfrm>
            <a:off x="6400800" y="1280160"/>
            <a:ext cx="4128516" cy="411480"/>
          </a:xfrm>
          <a:custGeom>
            <a:avLst/>
            <a:gdLst/>
            <a:ahLst/>
            <a:cxnLst/>
            <a:rect l="0" t="0" r="r" b="b"/>
            <a:pathLst>
              <a:path w="4128516" h="411480" fill="none">
                <a:moveTo>
                  <a:pt x="4046220" y="411480"/>
                </a:moveTo>
                <a:lnTo>
                  <a:pt x="4046220" y="274320"/>
                </a:lnTo>
                <a:cubicBezTo>
                  <a:pt x="4128516" y="274320"/>
                  <a:pt x="4128516" y="182880"/>
                  <a:pt x="4046220" y="182880"/>
                </a:cubicBezTo>
                <a:lnTo>
                  <a:pt x="4046220" y="0"/>
                </a:lnTo>
                <a:lnTo>
                  <a:pt x="0" y="0"/>
                </a:lnTo>
                <a:lnTo>
                  <a:pt x="0" y="114300"/>
                </a:lnTo>
              </a:path>
            </a:pathLst>
          </a:custGeom>
          <a:noFill/>
          <a:ln w="1371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o68: ISP 中间数据"/>
          <p:cNvSpPr txBox="1"/>
          <p:nvPr/>
        </p:nvSpPr>
        <p:spPr>
          <a:xfrm>
            <a:off x="8409044" y="1144463"/>
            <a:ext cx="646952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</a:t>
            </a:r>
          </a:p>
        </p:txBody>
      </p:sp>
      <p:sp>
        <p:nvSpPr>
          <p:cNvPr id="69" name="xbar"/>
          <p:cNvSpPr/>
          <p:nvPr/>
        </p:nvSpPr>
        <p:spPr>
          <a:xfrm>
            <a:off x="320040" y="3657600"/>
            <a:ext cx="5760720" cy="548640"/>
          </a:xfrm>
          <a:prstGeom prst="rect">
            <a:avLst/>
          </a:prstGeom>
          <a:solidFill>
            <a:srgbClr val="F5E1C9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o70: 主 AXI Crossbar"/>
          <p:cNvSpPr txBox="1"/>
          <p:nvPr/>
        </p:nvSpPr>
        <p:spPr>
          <a:xfrm>
            <a:off x="2570550" y="3735781"/>
            <a:ext cx="12597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 AXI Crossbar</a:t>
            </a:r>
          </a:p>
        </p:txBody>
      </p:sp>
      <p:sp>
        <p:nvSpPr>
          <p:cNvPr id="71" name="o71: 系统 64 bit"/>
          <p:cNvSpPr txBox="1"/>
          <p:nvPr/>
        </p:nvSpPr>
        <p:spPr>
          <a:xfrm>
            <a:off x="2876895" y="3945545"/>
            <a:ext cx="647009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系统 64 bit</a:t>
            </a:r>
          </a:p>
        </p:txBody>
      </p:sp>
      <p:sp>
        <p:nvSpPr>
          <p:cNvPr id="72" name="cpu-xbar"/>
          <p:cNvSpPr/>
          <p:nvPr/>
        </p:nvSpPr>
        <p:spPr>
          <a:xfrm>
            <a:off x="914400" y="1943100"/>
            <a:ext cx="228600" cy="1714500"/>
          </a:xfrm>
          <a:custGeom>
            <a:avLst/>
            <a:gdLst/>
            <a:ahLst/>
            <a:cxnLst/>
            <a:rect l="0" t="0" r="r" b="b"/>
            <a:pathLst>
              <a:path w="228600" h="1714500" fill="none">
                <a:moveTo>
                  <a:pt x="0" y="0"/>
                </a:moveTo>
                <a:lnTo>
                  <a:pt x="0" y="1257300"/>
                </a:lnTo>
                <a:lnTo>
                  <a:pt x="228600" y="1257300"/>
                </a:lnTo>
                <a:lnTo>
                  <a:pt x="228600" y="1714500"/>
                </a:lnTo>
              </a:path>
            </a:pathLst>
          </a:custGeom>
          <a:noFill/>
          <a:ln w="1371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ara-xbar"/>
          <p:cNvSpPr/>
          <p:nvPr/>
        </p:nvSpPr>
        <p:spPr>
          <a:xfrm>
            <a:off x="3200400" y="2537460"/>
            <a:ext cx="374904" cy="1120140"/>
          </a:xfrm>
          <a:custGeom>
            <a:avLst/>
            <a:gdLst/>
            <a:ahLst/>
            <a:cxnLst/>
            <a:rect l="0" t="0" r="r" b="b"/>
            <a:pathLst>
              <a:path w="374904" h="1120140" fill="none">
                <a:moveTo>
                  <a:pt x="374904" y="0"/>
                </a:moveTo>
                <a:lnTo>
                  <a:pt x="374904" y="754380"/>
                </a:lnTo>
                <a:lnTo>
                  <a:pt x="0" y="754380"/>
                </a:lnTo>
                <a:lnTo>
                  <a:pt x="0" y="1120140"/>
                </a:lnTo>
              </a:path>
            </a:pathLst>
          </a:custGeom>
          <a:noFill/>
          <a:ln w="1371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atomics"/>
          <p:cNvSpPr/>
          <p:nvPr/>
        </p:nvSpPr>
        <p:spPr>
          <a:xfrm>
            <a:off x="1828800" y="4800600"/>
            <a:ext cx="1188720" cy="617220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o75: 原子适配"/>
          <p:cNvSpPr txBox="1"/>
          <p:nvPr/>
        </p:nvSpPr>
        <p:spPr>
          <a:xfrm>
            <a:off x="2103120" y="4936754"/>
            <a:ext cx="6400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76" name="o76: AMO / LRSC"/>
          <p:cNvSpPr txBox="1"/>
          <p:nvPr/>
        </p:nvSpPr>
        <p:spPr>
          <a:xfrm>
            <a:off x="2065740" y="5111953"/>
            <a:ext cx="714839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77" name="llc"/>
          <p:cNvSpPr/>
          <p:nvPr/>
        </p:nvSpPr>
        <p:spPr>
          <a:xfrm>
            <a:off x="3566160" y="4800600"/>
            <a:ext cx="1325880" cy="617220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o78: LLC / SPM"/>
          <p:cNvSpPr txBox="1"/>
          <p:nvPr/>
        </p:nvSpPr>
        <p:spPr>
          <a:xfrm>
            <a:off x="3861922" y="4936754"/>
            <a:ext cx="73435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79" name="o79: WB 缓存 / 片上 SPM"/>
          <p:cNvSpPr txBox="1"/>
          <p:nvPr/>
        </p:nvSpPr>
        <p:spPr>
          <a:xfrm>
            <a:off x="3671941" y="5111953"/>
            <a:ext cx="1114318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WB 缓存 / 片上 SPM</a:t>
            </a:r>
          </a:p>
        </p:txBody>
      </p:sp>
      <p:cxnSp>
        <p:nvCxnSpPr>
          <p:cNvPr id="80" name="xbar-atomics"/>
          <p:cNvCxnSpPr/>
          <p:nvPr/>
        </p:nvCxnSpPr>
        <p:spPr>
          <a:xfrm>
            <a:off x="2423160" y="4206240"/>
            <a:ext cx="0" cy="59436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1" name="atomics-llc"/>
          <p:cNvCxnSpPr/>
          <p:nvPr/>
        </p:nvCxnSpPr>
        <p:spPr>
          <a:xfrm>
            <a:off x="3017520" y="5106924"/>
            <a:ext cx="548640" cy="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2" name="ddr"/>
          <p:cNvSpPr/>
          <p:nvPr/>
        </p:nvSpPr>
        <p:spPr>
          <a:xfrm>
            <a:off x="6400800" y="3657600"/>
            <a:ext cx="4800600" cy="2446020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o83: DDR Controller · 多 AXI slave"/>
          <p:cNvSpPr txBox="1"/>
          <p:nvPr/>
        </p:nvSpPr>
        <p:spPr>
          <a:xfrm>
            <a:off x="7904645" y="5868985"/>
            <a:ext cx="1792910" cy="21214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多 AXI slave</a:t>
            </a:r>
          </a:p>
        </p:txBody>
      </p:sp>
      <p:sp>
        <p:nvSpPr>
          <p:cNvPr id="84" name="ddr-port0"/>
          <p:cNvSpPr/>
          <p:nvPr/>
        </p:nvSpPr>
        <p:spPr>
          <a:xfrm>
            <a:off x="6675120" y="4251960"/>
            <a:ext cx="731520" cy="4572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o85: S0"/>
          <p:cNvSpPr txBox="1"/>
          <p:nvPr/>
        </p:nvSpPr>
        <p:spPr>
          <a:xfrm>
            <a:off x="6898862" y="4308104"/>
            <a:ext cx="28403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86" name="o86: SoC / LLC"/>
          <p:cNvSpPr txBox="1"/>
          <p:nvPr/>
        </p:nvSpPr>
        <p:spPr>
          <a:xfrm>
            <a:off x="6763485" y="4493179"/>
            <a:ext cx="554791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87" name="join0"/>
          <p:cNvCxnSpPr/>
          <p:nvPr/>
        </p:nvCxnSpPr>
        <p:spPr>
          <a:xfrm>
            <a:off x="7040880" y="4709160"/>
            <a:ext cx="0" cy="205740"/>
          </a:xfrm>
          <a:prstGeom prst="line">
            <a:avLst/>
          </a:prstGeom>
          <a:ln w="13716" cap="flat">
            <a:solidFill>
              <a:srgbClr val="314D66"/>
            </a:solidFill>
          </a:ln>
          <a:effectLst/>
        </p:spPr>
      </p:cxnSp>
      <p:sp>
        <p:nvSpPr>
          <p:cNvPr id="88" name="ddr-port1"/>
          <p:cNvSpPr/>
          <p:nvPr/>
        </p:nvSpPr>
        <p:spPr>
          <a:xfrm>
            <a:off x="8458200" y="4251960"/>
            <a:ext cx="731520" cy="4572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o89: S1"/>
          <p:cNvSpPr txBox="1"/>
          <p:nvPr/>
        </p:nvSpPr>
        <p:spPr>
          <a:xfrm>
            <a:off x="8681942" y="4308104"/>
            <a:ext cx="28403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90" name="o90: NPU / GB"/>
          <p:cNvSpPr txBox="1"/>
          <p:nvPr/>
        </p:nvSpPr>
        <p:spPr>
          <a:xfrm>
            <a:off x="8559634" y="4493179"/>
            <a:ext cx="528652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cxnSp>
        <p:nvCxnSpPr>
          <p:cNvPr id="91" name="join1"/>
          <p:cNvCxnSpPr/>
          <p:nvPr/>
        </p:nvCxnSpPr>
        <p:spPr>
          <a:xfrm>
            <a:off x="8823960" y="4709160"/>
            <a:ext cx="0" cy="205740"/>
          </a:xfrm>
          <a:prstGeom prst="line">
            <a:avLst/>
          </a:prstGeom>
          <a:ln w="13716" cap="flat">
            <a:solidFill>
              <a:srgbClr val="314D66"/>
            </a:solidFill>
          </a:ln>
          <a:effectLst/>
        </p:spPr>
      </p:cxnSp>
      <p:sp>
        <p:nvSpPr>
          <p:cNvPr id="92" name="ddr-port2"/>
          <p:cNvSpPr/>
          <p:nvPr/>
        </p:nvSpPr>
        <p:spPr>
          <a:xfrm>
            <a:off x="10241280" y="4251960"/>
            <a:ext cx="731520" cy="4572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o93: S2"/>
          <p:cNvSpPr txBox="1"/>
          <p:nvPr/>
        </p:nvSpPr>
        <p:spPr>
          <a:xfrm>
            <a:off x="10465022" y="4308104"/>
            <a:ext cx="28403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94" name="o94: 帧写入"/>
          <p:cNvSpPr txBox="1"/>
          <p:nvPr/>
        </p:nvSpPr>
        <p:spPr>
          <a:xfrm>
            <a:off x="10405872" y="4493179"/>
            <a:ext cx="402336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cxnSp>
        <p:nvCxnSpPr>
          <p:cNvPr id="95" name="join2"/>
          <p:cNvCxnSpPr/>
          <p:nvPr/>
        </p:nvCxnSpPr>
        <p:spPr>
          <a:xfrm>
            <a:off x="10607040" y="4709160"/>
            <a:ext cx="0" cy="205740"/>
          </a:xfrm>
          <a:prstGeom prst="line">
            <a:avLst/>
          </a:prstGeom>
          <a:ln w="13716" cap="flat">
            <a:solidFill>
              <a:srgbClr val="314D66"/>
            </a:solidFill>
          </a:ln>
          <a:effectLst/>
        </p:spPr>
      </p:cxnSp>
      <p:sp>
        <p:nvSpPr>
          <p:cNvPr id="96" name="llc-ddr"/>
          <p:cNvSpPr/>
          <p:nvPr/>
        </p:nvSpPr>
        <p:spPr>
          <a:xfrm>
            <a:off x="4892040" y="4091940"/>
            <a:ext cx="2148840" cy="1014984"/>
          </a:xfrm>
          <a:custGeom>
            <a:avLst/>
            <a:gdLst/>
            <a:ahLst/>
            <a:cxnLst/>
            <a:rect l="0" t="0" r="r" b="b"/>
            <a:pathLst>
              <a:path w="2148840" h="1014984" fill="none">
                <a:moveTo>
                  <a:pt x="0" y="1014984"/>
                </a:moveTo>
                <a:lnTo>
                  <a:pt x="1325880" y="1014984"/>
                </a:lnTo>
                <a:lnTo>
                  <a:pt x="1325880" y="0"/>
                </a:lnTo>
                <a:lnTo>
                  <a:pt x="2148840" y="0"/>
                </a:lnTo>
                <a:lnTo>
                  <a:pt x="2148840" y="160020"/>
                </a:lnTo>
              </a:path>
            </a:pathLst>
          </a:custGeom>
          <a:noFill/>
          <a:ln w="1371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over-ddr"/>
          <p:cNvSpPr/>
          <p:nvPr/>
        </p:nvSpPr>
        <p:spPr>
          <a:xfrm>
            <a:off x="8183880" y="2491740"/>
            <a:ext cx="640080" cy="1760220"/>
          </a:xfrm>
          <a:custGeom>
            <a:avLst/>
            <a:gdLst/>
            <a:ahLst/>
            <a:cxnLst/>
            <a:rect l="0" t="0" r="r" b="b"/>
            <a:pathLst>
              <a:path w="640080" h="1760220" fill="none">
                <a:moveTo>
                  <a:pt x="0" y="0"/>
                </a:moveTo>
                <a:lnTo>
                  <a:pt x="228600" y="0"/>
                </a:lnTo>
                <a:lnTo>
                  <a:pt x="228600" y="845820"/>
                </a:lnTo>
                <a:lnTo>
                  <a:pt x="640080" y="845820"/>
                </a:lnTo>
                <a:lnTo>
                  <a:pt x="640080" y="1760220"/>
                </a:lnTo>
              </a:path>
            </a:pathLst>
          </a:custGeom>
          <a:noFill/>
          <a:ln w="1371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frame-ddr"/>
          <p:cNvSpPr/>
          <p:nvPr/>
        </p:nvSpPr>
        <p:spPr>
          <a:xfrm>
            <a:off x="10607040" y="2263140"/>
            <a:ext cx="1348740" cy="1988820"/>
          </a:xfrm>
          <a:custGeom>
            <a:avLst/>
            <a:gdLst/>
            <a:ahLst/>
            <a:cxnLst/>
            <a:rect l="0" t="0" r="r" b="b"/>
            <a:pathLst>
              <a:path w="1348740" h="1988820" fill="none">
                <a:moveTo>
                  <a:pt x="1348740" y="0"/>
                </a:moveTo>
                <a:lnTo>
                  <a:pt x="1348740" y="1074420"/>
                </a:lnTo>
                <a:lnTo>
                  <a:pt x="0" y="1074420"/>
                </a:lnTo>
                <a:lnTo>
                  <a:pt x="0" y="1988820"/>
                </a:lnTo>
              </a:path>
            </a:pathLst>
          </a:custGeom>
          <a:noFill/>
          <a:ln w="1371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9" name="ports-merge"/>
          <p:cNvCxnSpPr/>
          <p:nvPr/>
        </p:nvCxnSpPr>
        <p:spPr>
          <a:xfrm>
            <a:off x="7040880" y="4914900"/>
            <a:ext cx="3566160" cy="0"/>
          </a:xfrm>
          <a:prstGeom prst="line">
            <a:avLst/>
          </a:prstGeom>
          <a:ln w="13716" cap="flat">
            <a:solidFill>
              <a:srgbClr val="314D66"/>
            </a:solidFill>
          </a:ln>
          <a:effectLst/>
        </p:spPr>
      </p:cxnSp>
      <p:sp>
        <p:nvSpPr>
          <p:cNvPr id="100" name="qos"/>
          <p:cNvSpPr/>
          <p:nvPr/>
        </p:nvSpPr>
        <p:spPr>
          <a:xfrm>
            <a:off x="6675120" y="5212080"/>
            <a:ext cx="1417320" cy="59436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o101: 端口仲裁 / QoS"/>
          <p:cNvSpPr txBox="1"/>
          <p:nvPr/>
        </p:nvSpPr>
        <p:spPr>
          <a:xfrm>
            <a:off x="6875774" y="5336804"/>
            <a:ext cx="101601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2" name="o102: 共享 DDR 带宽"/>
          <p:cNvSpPr txBox="1"/>
          <p:nvPr/>
        </p:nvSpPr>
        <p:spPr>
          <a:xfrm>
            <a:off x="6970264" y="5512003"/>
            <a:ext cx="827032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sp>
        <p:nvSpPr>
          <p:cNvPr id="103" name="scheduler"/>
          <p:cNvSpPr/>
          <p:nvPr/>
        </p:nvSpPr>
        <p:spPr>
          <a:xfrm>
            <a:off x="8412480" y="5212080"/>
            <a:ext cx="2514600" cy="59436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o104: 读写 / Bank / Row / 命令调度"/>
          <p:cNvSpPr txBox="1"/>
          <p:nvPr/>
        </p:nvSpPr>
        <p:spPr>
          <a:xfrm>
            <a:off x="8815552" y="5421295"/>
            <a:ext cx="1708456" cy="1901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 / Bank / Row / 命令调度</a:t>
            </a:r>
          </a:p>
        </p:txBody>
      </p:sp>
      <p:cxnSp>
        <p:nvCxnSpPr>
          <p:cNvPr id="105" name="qos-in"/>
          <p:cNvCxnSpPr/>
          <p:nvPr/>
        </p:nvCxnSpPr>
        <p:spPr>
          <a:xfrm>
            <a:off x="7383780" y="4914900"/>
            <a:ext cx="0" cy="29718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06" name="qos-core"/>
          <p:cNvCxnSpPr/>
          <p:nvPr/>
        </p:nvCxnSpPr>
        <p:spPr>
          <a:xfrm>
            <a:off x="8092440" y="5509260"/>
            <a:ext cx="320040" cy="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7" name="phy-ddr"/>
          <p:cNvSpPr/>
          <p:nvPr/>
        </p:nvSpPr>
        <p:spPr>
          <a:xfrm>
            <a:off x="11430000" y="5212080"/>
            <a:ext cx="1051560" cy="594360"/>
          </a:xfrm>
          <a:prstGeom prst="rect">
            <a:avLst/>
          </a:prstGeom>
          <a:solidFill>
            <a:srgbClr val="E8DFED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o108: PHY / DDR"/>
          <p:cNvSpPr txBox="1"/>
          <p:nvPr/>
        </p:nvSpPr>
        <p:spPr>
          <a:xfrm>
            <a:off x="11582283" y="5336804"/>
            <a:ext cx="74699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 / DDR</a:t>
            </a:r>
          </a:p>
        </p:txBody>
      </p:sp>
      <p:sp>
        <p:nvSpPr>
          <p:cNvPr id="109" name="o109: 外存器件"/>
          <p:cNvSpPr txBox="1"/>
          <p:nvPr/>
        </p:nvSpPr>
        <p:spPr>
          <a:xfrm>
            <a:off x="11681460" y="5512003"/>
            <a:ext cx="548640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外存器件</a:t>
            </a:r>
          </a:p>
        </p:txBody>
      </p:sp>
      <p:cxnSp>
        <p:nvCxnSpPr>
          <p:cNvPr id="110" name="ddr-phy"/>
          <p:cNvCxnSpPr/>
          <p:nvPr/>
        </p:nvCxnSpPr>
        <p:spPr>
          <a:xfrm>
            <a:off x="10927080" y="5509260"/>
            <a:ext cx="502920" cy="0"/>
          </a:xfrm>
          <a:prstGeom prst="line">
            <a:avLst/>
          </a:prstGeom>
          <a:ln w="1371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1" name="o111: GB 容量、bank、位宽及频率待定"/>
          <p:cNvSpPr txBox="1"/>
          <p:nvPr/>
        </p:nvSpPr>
        <p:spPr>
          <a:xfrm>
            <a:off x="2300230" y="5993160"/>
            <a:ext cx="1937499" cy="197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GB 容量、bank、位宽及频率待定</a:t>
            </a:r>
          </a:p>
        </p:txBody>
      </p:sp>
      <p:sp>
        <p:nvSpPr>
          <p:cNvPr id="112" name="o112: 并行能力取决于 SRAM 带宽与分区"/>
          <p:cNvSpPr txBox="1"/>
          <p:nvPr/>
        </p:nvSpPr>
        <p:spPr>
          <a:xfrm>
            <a:off x="2268044" y="6198900"/>
            <a:ext cx="2001872" cy="197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并行能力取决于 SRAM 带宽与分区</a:t>
            </a:r>
          </a:p>
        </p:txBody>
      </p:sp>
      <p:cxnSp>
        <p:nvCxnSpPr>
          <p:cNvPr id="113" name="legend0"/>
          <p:cNvCxnSpPr/>
          <p:nvPr/>
        </p:nvCxnSpPr>
        <p:spPr>
          <a:xfrm>
            <a:off x="251460" y="6995160"/>
            <a:ext cx="297180" cy="0"/>
          </a:xfrm>
          <a:prstGeom prst="line">
            <a:avLst/>
          </a:prstGeom>
          <a:ln w="1143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4" name="o114: AXI / 外存通路"/>
          <p:cNvSpPr txBox="1"/>
          <p:nvPr/>
        </p:nvSpPr>
        <p:spPr>
          <a:xfrm>
            <a:off x="617220" y="6923105"/>
            <a:ext cx="752123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/ 外存通路</a:t>
            </a:r>
          </a:p>
        </p:txBody>
      </p:sp>
      <p:cxnSp>
        <p:nvCxnSpPr>
          <p:cNvPr id="115" name="legend1"/>
          <p:cNvCxnSpPr/>
          <p:nvPr/>
        </p:nvCxnSpPr>
        <p:spPr>
          <a:xfrm>
            <a:off x="2674620" y="6995160"/>
            <a:ext cx="297180" cy="0"/>
          </a:xfrm>
          <a:prstGeom prst="line">
            <a:avLst/>
          </a:prstGeom>
          <a:ln w="11430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6" name="o116: GB 本地读写"/>
          <p:cNvSpPr txBox="1"/>
          <p:nvPr/>
        </p:nvSpPr>
        <p:spPr>
          <a:xfrm>
            <a:off x="3040380" y="6923105"/>
            <a:ext cx="661654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本地读写</a:t>
            </a:r>
          </a:p>
        </p:txBody>
      </p:sp>
      <p:cxnSp>
        <p:nvCxnSpPr>
          <p:cNvPr id="117" name="legend2"/>
          <p:cNvCxnSpPr/>
          <p:nvPr/>
        </p:nvCxnSpPr>
        <p:spPr>
          <a:xfrm>
            <a:off x="5097780" y="6995160"/>
            <a:ext cx="297180" cy="0"/>
          </a:xfrm>
          <a:prstGeom prst="line">
            <a:avLst/>
          </a:prstGeom>
          <a:ln w="11430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8" name="o118: 像素流"/>
          <p:cNvSpPr txBox="1"/>
          <p:nvPr/>
        </p:nvSpPr>
        <p:spPr>
          <a:xfrm>
            <a:off x="5463540" y="6923105"/>
            <a:ext cx="402336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19" name="coh-coordinator"/>
          <p:cNvSpPr/>
          <p:nvPr/>
        </p:nvSpPr>
        <p:spPr>
          <a:xfrm>
            <a:off x="4389120" y="2971800"/>
            <a:ext cx="3886200" cy="571500"/>
          </a:xfrm>
          <a:prstGeom prst="rect">
            <a:avLst/>
          </a:prstGeom>
          <a:solidFill>
            <a:srgbClr val="E8DFED"/>
          </a:solidFill>
          <a:ln w="7772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-120: 范围维护引擎（规划）"/>
          <p:cNvSpPr txBox="1"/>
          <p:nvPr/>
        </p:nvSpPr>
        <p:spPr>
          <a:xfrm>
            <a:off x="5653278" y="3092226"/>
            <a:ext cx="1357884" cy="197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范围维护引擎（规划）</a:t>
            </a:r>
          </a:p>
        </p:txBody>
      </p:sp>
      <p:sp>
        <p:nvSpPr>
          <p:cNvPr id="121" name="text-121: 软件触发 / L1D 与 LLC 维护 / 搬运准入 / 完成确认"/>
          <p:cNvSpPr txBox="1"/>
          <p:nvPr/>
        </p:nvSpPr>
        <p:spPr>
          <a:xfrm>
            <a:off x="5035522" y="3267060"/>
            <a:ext cx="2593396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软件触发 / L1D 与 LLC 维护 / 搬运准入 / 完成确认</a:t>
            </a:r>
          </a:p>
        </p:txBody>
      </p:sp>
      <p:sp>
        <p:nvSpPr>
          <p:cNvPr id="122" name="coh-cpu"/>
          <p:cNvSpPr/>
          <p:nvPr/>
        </p:nvSpPr>
        <p:spPr>
          <a:xfrm>
            <a:off x="914400" y="731520"/>
            <a:ext cx="3474720" cy="2377440"/>
          </a:xfrm>
          <a:custGeom>
            <a:avLst/>
            <a:gdLst/>
            <a:ahLst/>
            <a:cxnLst/>
            <a:rect l="0" t="0" r="r" b="b"/>
            <a:pathLst>
              <a:path w="3474720" h="2377440" fill="none">
                <a:moveTo>
                  <a:pt x="3474720" y="2377440"/>
                </a:moveTo>
                <a:lnTo>
                  <a:pt x="3314700" y="2377440"/>
                </a:lnTo>
                <a:lnTo>
                  <a:pt x="3314700" y="585216"/>
                </a:lnTo>
                <a:cubicBezTo>
                  <a:pt x="3354324" y="560832"/>
                  <a:pt x="3354324" y="536448"/>
                  <a:pt x="3314700" y="512064"/>
                </a:cubicBezTo>
                <a:lnTo>
                  <a:pt x="3314700" y="0"/>
                </a:lnTo>
                <a:lnTo>
                  <a:pt x="0" y="0"/>
                </a:lnTo>
                <a:lnTo>
                  <a:pt x="0" y="594360"/>
                </a:lnTo>
              </a:path>
            </a:pathLst>
          </a:custGeom>
          <a:noFill/>
          <a:ln w="128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text-123: 软件请求 / L1D 排空与失效"/>
          <p:cNvSpPr txBox="1"/>
          <p:nvPr/>
        </p:nvSpPr>
        <p:spPr>
          <a:xfrm>
            <a:off x="1143000" y="572232"/>
            <a:ext cx="1385716" cy="168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软件请求 / L1D 排空与失效</a:t>
            </a:r>
          </a:p>
        </p:txBody>
      </p:sp>
      <p:sp>
        <p:nvSpPr>
          <p:cNvPr id="124" name="coh-atomics"/>
          <p:cNvSpPr/>
          <p:nvPr/>
        </p:nvSpPr>
        <p:spPr>
          <a:xfrm>
            <a:off x="182880" y="3320796"/>
            <a:ext cx="4206240" cy="2348484"/>
          </a:xfrm>
          <a:custGeom>
            <a:avLst/>
            <a:gdLst/>
            <a:ahLst/>
            <a:cxnLst/>
            <a:rect l="0" t="0" r="r" b="b"/>
            <a:pathLst>
              <a:path w="4206240" h="2348484" fill="none">
                <a:moveTo>
                  <a:pt x="4206240" y="39624"/>
                </a:moveTo>
                <a:lnTo>
                  <a:pt x="3054096" y="39624"/>
                </a:lnTo>
                <a:cubicBezTo>
                  <a:pt x="3029712" y="0"/>
                  <a:pt x="3005328" y="0"/>
                  <a:pt x="2980944" y="39624"/>
                </a:cubicBezTo>
                <a:lnTo>
                  <a:pt x="996696" y="39624"/>
                </a:lnTo>
                <a:cubicBezTo>
                  <a:pt x="972312" y="0"/>
                  <a:pt x="947928" y="0"/>
                  <a:pt x="923544" y="39624"/>
                </a:cubicBezTo>
                <a:lnTo>
                  <a:pt x="0" y="39624"/>
                </a:lnTo>
                <a:lnTo>
                  <a:pt x="0" y="2348484"/>
                </a:lnTo>
                <a:lnTo>
                  <a:pt x="2240280" y="2348484"/>
                </a:lnTo>
                <a:lnTo>
                  <a:pt x="2240280" y="2097024"/>
                </a:lnTo>
              </a:path>
            </a:pathLst>
          </a:custGeom>
          <a:noFill/>
          <a:ln w="128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text-125: 原子域评审"/>
          <p:cNvSpPr txBox="1"/>
          <p:nvPr/>
        </p:nvSpPr>
        <p:spPr>
          <a:xfrm>
            <a:off x="320040" y="3384012"/>
            <a:ext cx="630936" cy="168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原子域评审</a:t>
            </a:r>
          </a:p>
        </p:txBody>
      </p:sp>
      <p:sp>
        <p:nvSpPr>
          <p:cNvPr id="126" name="coh-llc"/>
          <p:cNvSpPr/>
          <p:nvPr/>
        </p:nvSpPr>
        <p:spPr>
          <a:xfrm>
            <a:off x="4229100" y="3543300"/>
            <a:ext cx="1937004" cy="2034540"/>
          </a:xfrm>
          <a:custGeom>
            <a:avLst/>
            <a:gdLst/>
            <a:ahLst/>
            <a:cxnLst/>
            <a:rect l="0" t="0" r="r" b="b"/>
            <a:pathLst>
              <a:path w="1937004" h="2034540" fill="none">
                <a:moveTo>
                  <a:pt x="1897380" y="0"/>
                </a:moveTo>
                <a:lnTo>
                  <a:pt x="1897380" y="1527048"/>
                </a:lnTo>
                <a:cubicBezTo>
                  <a:pt x="1937004" y="1551432"/>
                  <a:pt x="1937004" y="1575816"/>
                  <a:pt x="1897380" y="1600200"/>
                </a:cubicBezTo>
                <a:lnTo>
                  <a:pt x="1897380" y="2034540"/>
                </a:lnTo>
                <a:lnTo>
                  <a:pt x="0" y="2034540"/>
                </a:lnTo>
                <a:lnTo>
                  <a:pt x="0" y="1874520"/>
                </a:lnTo>
              </a:path>
            </a:pathLst>
          </a:custGeom>
          <a:noFill/>
          <a:ln w="128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text-127: LLC 范围清理 / 失效确认"/>
          <p:cNvSpPr txBox="1"/>
          <p:nvPr/>
        </p:nvSpPr>
        <p:spPr>
          <a:xfrm>
            <a:off x="4572000" y="5601432"/>
            <a:ext cx="1265880" cy="168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LLC 范围清理 / 失效确认</a:t>
            </a:r>
          </a:p>
        </p:txBody>
      </p:sp>
      <p:sp>
        <p:nvSpPr>
          <p:cNvPr id="128" name="coh-s1"/>
          <p:cNvSpPr/>
          <p:nvPr/>
        </p:nvSpPr>
        <p:spPr>
          <a:xfrm>
            <a:off x="8275320" y="3160776"/>
            <a:ext cx="1097280" cy="1319784"/>
          </a:xfrm>
          <a:custGeom>
            <a:avLst/>
            <a:gdLst/>
            <a:ahLst/>
            <a:cxnLst/>
            <a:rect l="0" t="0" r="r" b="b"/>
            <a:pathLst>
              <a:path w="1097280" h="1319784" fill="none">
                <a:moveTo>
                  <a:pt x="0" y="39624"/>
                </a:moveTo>
                <a:lnTo>
                  <a:pt x="100584" y="39624"/>
                </a:lnTo>
                <a:cubicBezTo>
                  <a:pt x="124968" y="0"/>
                  <a:pt x="149352" y="0"/>
                  <a:pt x="173736" y="39624"/>
                </a:cubicBezTo>
                <a:lnTo>
                  <a:pt x="1097280" y="39624"/>
                </a:lnTo>
                <a:lnTo>
                  <a:pt x="1097280" y="1319784"/>
                </a:lnTo>
                <a:lnTo>
                  <a:pt x="914400" y="1319784"/>
                </a:lnTo>
              </a:path>
            </a:pathLst>
          </a:custGeom>
          <a:noFill/>
          <a:ln w="128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text-129: S1 维护后准入 / 完成"/>
          <p:cNvSpPr txBox="1"/>
          <p:nvPr/>
        </p:nvSpPr>
        <p:spPr>
          <a:xfrm>
            <a:off x="9441180" y="3018252"/>
            <a:ext cx="1118618" cy="168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S1 维护后准入 / 完成</a:t>
            </a:r>
          </a:p>
        </p:txBody>
      </p:sp>
      <p:sp>
        <p:nvSpPr>
          <p:cNvPr id="130" name="coh-s2"/>
          <p:cNvSpPr/>
          <p:nvPr/>
        </p:nvSpPr>
        <p:spPr>
          <a:xfrm>
            <a:off x="8275320" y="3366516"/>
            <a:ext cx="2788920" cy="1114044"/>
          </a:xfrm>
          <a:custGeom>
            <a:avLst/>
            <a:gdLst/>
            <a:ahLst/>
            <a:cxnLst/>
            <a:rect l="0" t="0" r="r" b="b"/>
            <a:pathLst>
              <a:path w="2788920" h="1114044" fill="none">
                <a:moveTo>
                  <a:pt x="0" y="39624"/>
                </a:moveTo>
                <a:lnTo>
                  <a:pt x="512064" y="39624"/>
                </a:lnTo>
                <a:cubicBezTo>
                  <a:pt x="536448" y="0"/>
                  <a:pt x="560832" y="0"/>
                  <a:pt x="585216" y="39624"/>
                </a:cubicBezTo>
                <a:lnTo>
                  <a:pt x="1060704" y="39624"/>
                </a:lnTo>
                <a:cubicBezTo>
                  <a:pt x="1085088" y="0"/>
                  <a:pt x="1109472" y="0"/>
                  <a:pt x="1133856" y="39624"/>
                </a:cubicBezTo>
                <a:lnTo>
                  <a:pt x="1325880" y="39624"/>
                </a:lnTo>
                <a:lnTo>
                  <a:pt x="1325880" y="748284"/>
                </a:lnTo>
                <a:lnTo>
                  <a:pt x="2295144" y="748284"/>
                </a:lnTo>
                <a:cubicBezTo>
                  <a:pt x="2319528" y="708660"/>
                  <a:pt x="2343912" y="708660"/>
                  <a:pt x="2368296" y="748284"/>
                </a:cubicBezTo>
                <a:lnTo>
                  <a:pt x="2788920" y="748284"/>
                </a:lnTo>
                <a:lnTo>
                  <a:pt x="2788920" y="1114044"/>
                </a:lnTo>
                <a:lnTo>
                  <a:pt x="2697480" y="1114044"/>
                </a:lnTo>
              </a:path>
            </a:pathLst>
          </a:custGeom>
          <a:noFill/>
          <a:ln w="128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text-131: S2 维护后准入 / 完成"/>
          <p:cNvSpPr txBox="1"/>
          <p:nvPr/>
        </p:nvSpPr>
        <p:spPr>
          <a:xfrm>
            <a:off x="11132820" y="3978372"/>
            <a:ext cx="1118618" cy="168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S2 维护后准入 / 完成</a:t>
            </a:r>
          </a:p>
        </p:txBody>
      </p:sp>
      <p:sp>
        <p:nvSpPr>
          <p:cNvPr id="132" name="coh-ddr"/>
          <p:cNvSpPr/>
          <p:nvPr/>
        </p:nvSpPr>
        <p:spPr>
          <a:xfrm>
            <a:off x="7909560" y="3543300"/>
            <a:ext cx="39624" cy="1668780"/>
          </a:xfrm>
          <a:custGeom>
            <a:avLst/>
            <a:gdLst/>
            <a:ahLst/>
            <a:cxnLst/>
            <a:rect l="0" t="0" r="r" b="b"/>
            <a:pathLst>
              <a:path w="39624" h="1668780" fill="none">
                <a:moveTo>
                  <a:pt x="0" y="0"/>
                </a:moveTo>
                <a:lnTo>
                  <a:pt x="0" y="1335024"/>
                </a:lnTo>
                <a:cubicBezTo>
                  <a:pt x="39624" y="1359408"/>
                  <a:pt x="39624" y="1383792"/>
                  <a:pt x="0" y="1408176"/>
                </a:cubicBezTo>
                <a:lnTo>
                  <a:pt x="0" y="1668780"/>
                </a:lnTo>
              </a:path>
            </a:pathLst>
          </a:custGeom>
          <a:noFill/>
          <a:ln w="128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text-133: 跨口可见 / 完成"/>
          <p:cNvSpPr txBox="1"/>
          <p:nvPr/>
        </p:nvSpPr>
        <p:spPr>
          <a:xfrm>
            <a:off x="8001000" y="4961352"/>
            <a:ext cx="853778" cy="168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跨口可见 / 完成</a:t>
            </a:r>
          </a:p>
        </p:txBody>
      </p:sp>
      <p:sp>
        <p:nvSpPr>
          <p:cNvPr id="134" name="coh-legend"/>
          <p:cNvSpPr/>
          <p:nvPr/>
        </p:nvSpPr>
        <p:spPr>
          <a:xfrm>
            <a:off x="7863840" y="6995160"/>
            <a:ext cx="320040" cy="1"/>
          </a:xfrm>
          <a:custGeom>
            <a:avLst/>
            <a:gdLst/>
            <a:ahLst/>
            <a:cxnLst/>
            <a:rect l="0" t="0" r="r" b="b"/>
            <a:pathLst>
              <a:path w="320040" h="1" fill="none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text-135: 软件交接与硬件维护（规划）"/>
          <p:cNvSpPr txBox="1"/>
          <p:nvPr/>
        </p:nvSpPr>
        <p:spPr>
          <a:xfrm>
            <a:off x="8252460" y="6923105"/>
            <a:ext cx="1408176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软件交接与硬件维护（规划）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缺少同步时，同一地址会出现不同数据版本"/>
          <p:cNvSpPr txBox="1"/>
          <p:nvPr/>
        </p:nvSpPr>
        <p:spPr>
          <a:xfrm>
            <a:off x="266700" y="80650"/>
            <a:ext cx="384048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缺少同步时，同一地址会出现不同数据版本</a:t>
            </a:r>
          </a:p>
        </p:txBody>
      </p:sp>
      <p:sp>
        <p:nvSpPr>
          <p:cNvPr id="3" name="text-003: 三个独立场景：输入过期、输出旧副本、迟到脏写回。数值表示所示时刻的状态。"/>
          <p:cNvSpPr txBox="1"/>
          <p:nvPr/>
        </p:nvSpPr>
        <p:spPr>
          <a:xfrm>
            <a:off x="266700" y="373807"/>
            <a:ext cx="473659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三个独立场景：输入过期、输出旧副本、迟到脏写回。数值表示所示时刻的状态。</a:t>
            </a:r>
          </a:p>
        </p:txBody>
      </p:sp>
      <p:sp>
        <p:nvSpPr>
          <p:cNvPr id="4" name="panel0"/>
          <p:cNvSpPr/>
          <p:nvPr/>
        </p:nvSpPr>
        <p:spPr>
          <a:xfrm>
            <a:off x="186690" y="773430"/>
            <a:ext cx="12428220" cy="170688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① 输入：CPU 写 x = 2，设备却搬到 x = 1"/>
          <p:cNvSpPr txBox="1"/>
          <p:nvPr/>
        </p:nvSpPr>
        <p:spPr>
          <a:xfrm>
            <a:off x="320040" y="851306"/>
            <a:ext cx="311946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① 输入：CPU 写 x = 2，设备却搬到 x = 1</a:t>
            </a:r>
          </a:p>
        </p:txBody>
      </p:sp>
      <p:sp>
        <p:nvSpPr>
          <p:cNvPr id="6" name="r0b0"/>
          <p:cNvSpPr/>
          <p:nvPr/>
        </p:nvSpPr>
        <p:spPr>
          <a:xfrm>
            <a:off x="320040" y="125349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CPU / L1D"/>
          <p:cNvSpPr txBox="1"/>
          <p:nvPr/>
        </p:nvSpPr>
        <p:spPr>
          <a:xfrm>
            <a:off x="976651" y="1369985"/>
            <a:ext cx="82037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L1D</a:t>
            </a:r>
          </a:p>
        </p:txBody>
      </p:sp>
      <p:sp>
        <p:nvSpPr>
          <p:cNvPr id="8" name="text-008: L1D 阵列仍为 x = 1"/>
          <p:cNvSpPr txBox="1"/>
          <p:nvPr/>
        </p:nvSpPr>
        <p:spPr>
          <a:xfrm>
            <a:off x="772576" y="1573957"/>
            <a:ext cx="1228529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阵列仍为 x = 1</a:t>
            </a:r>
          </a:p>
        </p:txBody>
      </p:sp>
      <p:sp>
        <p:nvSpPr>
          <p:cNvPr id="9" name="text-009: CPU 读可前递到 2"/>
          <p:cNvSpPr txBox="1"/>
          <p:nvPr/>
        </p:nvSpPr>
        <p:spPr>
          <a:xfrm>
            <a:off x="809643" y="1760647"/>
            <a:ext cx="115439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读可前递到 2</a:t>
            </a:r>
          </a:p>
        </p:txBody>
      </p:sp>
      <p:sp>
        <p:nvSpPr>
          <p:cNvPr id="10" name="r0b1"/>
          <p:cNvSpPr/>
          <p:nvPr/>
        </p:nvSpPr>
        <p:spPr>
          <a:xfrm>
            <a:off x="2800350" y="125349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写缓冲"/>
          <p:cNvSpPr txBox="1"/>
          <p:nvPr/>
        </p:nvSpPr>
        <p:spPr>
          <a:xfrm>
            <a:off x="3579114" y="1369985"/>
            <a:ext cx="57607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12" name="text-012: 待推进 x = 2"/>
          <p:cNvSpPr txBox="1"/>
          <p:nvPr/>
        </p:nvSpPr>
        <p:spPr>
          <a:xfrm>
            <a:off x="3448660" y="1573957"/>
            <a:ext cx="8369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待推进 x = 2</a:t>
            </a:r>
          </a:p>
        </p:txBody>
      </p:sp>
      <p:sp>
        <p:nvSpPr>
          <p:cNvPr id="13" name="text-013: 下层尚未收到"/>
          <p:cNvSpPr txBox="1"/>
          <p:nvPr/>
        </p:nvSpPr>
        <p:spPr>
          <a:xfrm>
            <a:off x="3419094" y="1760647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下层尚未收到</a:t>
            </a:r>
          </a:p>
        </p:txBody>
      </p:sp>
      <p:sp>
        <p:nvSpPr>
          <p:cNvPr id="14" name="r0b2"/>
          <p:cNvSpPr/>
          <p:nvPr/>
        </p:nvSpPr>
        <p:spPr>
          <a:xfrm>
            <a:off x="5280660" y="125349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WB LLC"/>
          <p:cNvSpPr txBox="1"/>
          <p:nvPr/>
        </p:nvSpPr>
        <p:spPr>
          <a:xfrm>
            <a:off x="6033683" y="1369985"/>
            <a:ext cx="627553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WB LLC</a:t>
            </a:r>
          </a:p>
        </p:txBody>
      </p:sp>
      <p:sp>
        <p:nvSpPr>
          <p:cNvPr id="16" name="text-016: 当前仍为 x = 1"/>
          <p:cNvSpPr txBox="1"/>
          <p:nvPr/>
        </p:nvSpPr>
        <p:spPr>
          <a:xfrm>
            <a:off x="5864962" y="1573957"/>
            <a:ext cx="96499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当前仍为 x = 1</a:t>
            </a:r>
          </a:p>
        </p:txBody>
      </p:sp>
      <p:sp>
        <p:nvSpPr>
          <p:cNvPr id="17" name="text-017: 收到新写后可持脏值 2"/>
          <p:cNvSpPr txBox="1"/>
          <p:nvPr/>
        </p:nvSpPr>
        <p:spPr>
          <a:xfrm>
            <a:off x="5649810" y="1760647"/>
            <a:ext cx="1395299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收到新写后可持脏值 2</a:t>
            </a:r>
          </a:p>
        </p:txBody>
      </p:sp>
      <p:sp>
        <p:nvSpPr>
          <p:cNvPr id="18" name="r0b3"/>
          <p:cNvSpPr/>
          <p:nvPr/>
        </p:nvSpPr>
        <p:spPr>
          <a:xfrm>
            <a:off x="7760970" y="125349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DDR"/>
          <p:cNvSpPr txBox="1"/>
          <p:nvPr/>
        </p:nvSpPr>
        <p:spPr>
          <a:xfrm>
            <a:off x="8616239" y="1369985"/>
            <a:ext cx="42306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20" name="text-020: x = 1"/>
          <p:cNvSpPr txBox="1"/>
          <p:nvPr/>
        </p:nvSpPr>
        <p:spPr>
          <a:xfrm>
            <a:off x="8620494" y="1573957"/>
            <a:ext cx="41455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x = 1</a:t>
            </a:r>
          </a:p>
        </p:txBody>
      </p:sp>
      <p:sp>
        <p:nvSpPr>
          <p:cNvPr id="21" name="text-021: 设备可见的旧输入"/>
          <p:cNvSpPr txBox="1"/>
          <p:nvPr/>
        </p:nvSpPr>
        <p:spPr>
          <a:xfrm>
            <a:off x="8251698" y="1760647"/>
            <a:ext cx="115214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设备可见的旧输入</a:t>
            </a:r>
          </a:p>
        </p:txBody>
      </p:sp>
      <p:sp>
        <p:nvSpPr>
          <p:cNvPr id="22" name="r0b4"/>
          <p:cNvSpPr/>
          <p:nvPr/>
        </p:nvSpPr>
        <p:spPr>
          <a:xfrm>
            <a:off x="10241280" y="1253490"/>
            <a:ext cx="2133600" cy="80010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GB"/>
          <p:cNvSpPr txBox="1"/>
          <p:nvPr/>
        </p:nvSpPr>
        <p:spPr>
          <a:xfrm>
            <a:off x="11144018" y="1369985"/>
            <a:ext cx="32812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24" name="text-024: 搬入 x = 1"/>
          <p:cNvSpPr txBox="1"/>
          <p:nvPr/>
        </p:nvSpPr>
        <p:spPr>
          <a:xfrm>
            <a:off x="10953598" y="1573957"/>
            <a:ext cx="70896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搬入 x = 1</a:t>
            </a:r>
          </a:p>
        </p:txBody>
      </p:sp>
      <p:sp>
        <p:nvSpPr>
          <p:cNvPr id="25" name="text-025: NPU 使用了旧输入"/>
          <p:cNvSpPr txBox="1"/>
          <p:nvPr/>
        </p:nvSpPr>
        <p:spPr>
          <a:xfrm>
            <a:off x="10721882" y="1760647"/>
            <a:ext cx="117239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使用了旧输入</a:t>
            </a:r>
          </a:p>
        </p:txBody>
      </p:sp>
      <p:sp>
        <p:nvSpPr>
          <p:cNvPr id="26" name="text-026: 写缓冲排空之后，新值还可能只到达 WB LLC；输入 clean 继续把它推进 "/>
          <p:cNvSpPr txBox="1"/>
          <p:nvPr/>
        </p:nvSpPr>
        <p:spPr>
          <a:xfrm>
            <a:off x="320040" y="2154509"/>
            <a:ext cx="4969088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写缓冲排空之后，新值还可能只到达 WB LLC；输入 clean 继续把它推进 DDR。</a:t>
            </a:r>
          </a:p>
        </p:txBody>
      </p:sp>
      <p:sp>
        <p:nvSpPr>
          <p:cNvPr id="27" name="panel1"/>
          <p:cNvSpPr/>
          <p:nvPr/>
        </p:nvSpPr>
        <p:spPr>
          <a:xfrm>
            <a:off x="186690" y="2720340"/>
            <a:ext cx="12428220" cy="170688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② 输出：设备已写 y = 9，CPU 仍命中 y = 0"/>
          <p:cNvSpPr txBox="1"/>
          <p:nvPr/>
        </p:nvSpPr>
        <p:spPr>
          <a:xfrm>
            <a:off x="320040" y="2798216"/>
            <a:ext cx="3273234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② 输出：设备已写 y = 9，CPU 仍命中 y = 0</a:t>
            </a:r>
          </a:p>
        </p:txBody>
      </p:sp>
      <p:sp>
        <p:nvSpPr>
          <p:cNvPr id="29" name="r1b0"/>
          <p:cNvSpPr/>
          <p:nvPr/>
        </p:nvSpPr>
        <p:spPr>
          <a:xfrm>
            <a:off x="320040" y="320040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CPU / L1D"/>
          <p:cNvSpPr txBox="1"/>
          <p:nvPr/>
        </p:nvSpPr>
        <p:spPr>
          <a:xfrm>
            <a:off x="976651" y="3316895"/>
            <a:ext cx="82037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L1D</a:t>
            </a:r>
          </a:p>
        </p:txBody>
      </p:sp>
      <p:sp>
        <p:nvSpPr>
          <p:cNvPr id="31" name="text-031: 缓存副本 y = 0"/>
          <p:cNvSpPr txBox="1"/>
          <p:nvPr/>
        </p:nvSpPr>
        <p:spPr>
          <a:xfrm>
            <a:off x="905592" y="3520867"/>
            <a:ext cx="96249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缓存副本 y = 0</a:t>
            </a:r>
          </a:p>
        </p:txBody>
      </p:sp>
      <p:sp>
        <p:nvSpPr>
          <p:cNvPr id="32" name="text-032: CPU 读取命中旧值"/>
          <p:cNvSpPr txBox="1"/>
          <p:nvPr/>
        </p:nvSpPr>
        <p:spPr>
          <a:xfrm>
            <a:off x="803205" y="3707557"/>
            <a:ext cx="116727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读取命中旧值</a:t>
            </a:r>
          </a:p>
        </p:txBody>
      </p:sp>
      <p:sp>
        <p:nvSpPr>
          <p:cNvPr id="33" name="r1b1"/>
          <p:cNvSpPr/>
          <p:nvPr/>
        </p:nvSpPr>
        <p:spPr>
          <a:xfrm>
            <a:off x="2800350" y="320040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写缓冲"/>
          <p:cNvSpPr txBox="1"/>
          <p:nvPr/>
        </p:nvSpPr>
        <p:spPr>
          <a:xfrm>
            <a:off x="3579114" y="3316895"/>
            <a:ext cx="57607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35" name="text-035: 此时为空"/>
          <p:cNvSpPr txBox="1"/>
          <p:nvPr/>
        </p:nvSpPr>
        <p:spPr>
          <a:xfrm>
            <a:off x="3547110" y="3520867"/>
            <a:ext cx="6400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此时为空</a:t>
            </a:r>
          </a:p>
        </p:txBody>
      </p:sp>
      <p:sp>
        <p:nvSpPr>
          <p:cNvPr id="36" name="text-036: 没有待完成写"/>
          <p:cNvSpPr txBox="1"/>
          <p:nvPr/>
        </p:nvSpPr>
        <p:spPr>
          <a:xfrm>
            <a:off x="3419094" y="3707557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没有待完成写</a:t>
            </a:r>
          </a:p>
        </p:txBody>
      </p:sp>
      <p:sp>
        <p:nvSpPr>
          <p:cNvPr id="37" name="r1b2"/>
          <p:cNvSpPr/>
          <p:nvPr/>
        </p:nvSpPr>
        <p:spPr>
          <a:xfrm>
            <a:off x="5280660" y="320040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LLC"/>
          <p:cNvSpPr txBox="1"/>
          <p:nvPr/>
        </p:nvSpPr>
        <p:spPr>
          <a:xfrm>
            <a:off x="6158857" y="3316895"/>
            <a:ext cx="377205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39" name="text-039: 干净旧副本 y = 0"/>
          <p:cNvSpPr txBox="1"/>
          <p:nvPr/>
        </p:nvSpPr>
        <p:spPr>
          <a:xfrm>
            <a:off x="5802204" y="3520867"/>
            <a:ext cx="109051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干净旧副本 y = 0</a:t>
            </a:r>
          </a:p>
        </p:txBody>
      </p:sp>
      <p:sp>
        <p:nvSpPr>
          <p:cNvPr id="40" name="text-040: 下次回填也可能取旧值"/>
          <p:cNvSpPr txBox="1"/>
          <p:nvPr/>
        </p:nvSpPr>
        <p:spPr>
          <a:xfrm>
            <a:off x="5643372" y="3707557"/>
            <a:ext cx="140817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下次回填也可能取旧值</a:t>
            </a:r>
          </a:p>
        </p:txBody>
      </p:sp>
      <p:sp>
        <p:nvSpPr>
          <p:cNvPr id="41" name="r1b3"/>
          <p:cNvSpPr/>
          <p:nvPr/>
        </p:nvSpPr>
        <p:spPr>
          <a:xfrm>
            <a:off x="7760970" y="320040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DDR"/>
          <p:cNvSpPr txBox="1"/>
          <p:nvPr/>
        </p:nvSpPr>
        <p:spPr>
          <a:xfrm>
            <a:off x="8616239" y="3316895"/>
            <a:ext cx="42306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3" name="text-043: y = 9"/>
          <p:cNvSpPr txBox="1"/>
          <p:nvPr/>
        </p:nvSpPr>
        <p:spPr>
          <a:xfrm>
            <a:off x="8621744" y="3520867"/>
            <a:ext cx="41205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y = 9</a:t>
            </a:r>
          </a:p>
        </p:txBody>
      </p:sp>
      <p:sp>
        <p:nvSpPr>
          <p:cNvPr id="44" name="text-044: 已收到设备结果"/>
          <p:cNvSpPr txBox="1"/>
          <p:nvPr/>
        </p:nvSpPr>
        <p:spPr>
          <a:xfrm>
            <a:off x="8315706" y="370755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已收到设备结果</a:t>
            </a:r>
          </a:p>
        </p:txBody>
      </p:sp>
      <p:sp>
        <p:nvSpPr>
          <p:cNvPr id="45" name="r1b4"/>
          <p:cNvSpPr/>
          <p:nvPr/>
        </p:nvSpPr>
        <p:spPr>
          <a:xfrm>
            <a:off x="10241280" y="3200400"/>
            <a:ext cx="2133600" cy="80010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GB"/>
          <p:cNvSpPr txBox="1"/>
          <p:nvPr/>
        </p:nvSpPr>
        <p:spPr>
          <a:xfrm>
            <a:off x="11144018" y="3316895"/>
            <a:ext cx="32812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7" name="text-047: 结果 y = 9"/>
          <p:cNvSpPr txBox="1"/>
          <p:nvPr/>
        </p:nvSpPr>
        <p:spPr>
          <a:xfrm>
            <a:off x="10954848" y="3520867"/>
            <a:ext cx="70646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结果 y = 9</a:t>
            </a:r>
          </a:p>
        </p:txBody>
      </p:sp>
      <p:sp>
        <p:nvSpPr>
          <p:cNvPr id="48" name="text-048: 设备向 DDR 搬出"/>
          <p:cNvSpPr txBox="1"/>
          <p:nvPr/>
        </p:nvSpPr>
        <p:spPr>
          <a:xfrm>
            <a:off x="10761637" y="3707557"/>
            <a:ext cx="109288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设备向 DDR 搬出</a:t>
            </a:r>
          </a:p>
        </p:txBody>
      </p:sp>
      <p:sp>
        <p:nvSpPr>
          <p:cNvPr id="49" name="text-049: 输出交还 CPU 前，对 L1D 与 LLC 执行失效，并协调此前尚未完成的旧回"/>
          <p:cNvSpPr txBox="1"/>
          <p:nvPr/>
        </p:nvSpPr>
        <p:spPr>
          <a:xfrm>
            <a:off x="320040" y="4101419"/>
            <a:ext cx="4853290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输出交还 CPU 前，对 L1D 与 LLC 执行失效，并协调此前尚未完成的旧回填。</a:t>
            </a:r>
          </a:p>
        </p:txBody>
      </p:sp>
      <p:sp>
        <p:nvSpPr>
          <p:cNvPr id="50" name="panel2"/>
          <p:cNvSpPr/>
          <p:nvPr/>
        </p:nvSpPr>
        <p:spPr>
          <a:xfrm>
            <a:off x="186690" y="4667250"/>
            <a:ext cx="12428220" cy="170688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③ 输出：设备先写 y = 9，LLC 的旧脏行随后覆盖它"/>
          <p:cNvSpPr txBox="1"/>
          <p:nvPr/>
        </p:nvSpPr>
        <p:spPr>
          <a:xfrm>
            <a:off x="320040" y="4745126"/>
            <a:ext cx="379845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③ 输出：设备先写 y = 9，LLC 的旧脏行随后覆盖它</a:t>
            </a:r>
          </a:p>
        </p:txBody>
      </p:sp>
      <p:sp>
        <p:nvSpPr>
          <p:cNvPr id="52" name="r2b0"/>
          <p:cNvSpPr/>
          <p:nvPr/>
        </p:nvSpPr>
        <p:spPr>
          <a:xfrm>
            <a:off x="320040" y="514731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CPU / L1D"/>
          <p:cNvSpPr txBox="1"/>
          <p:nvPr/>
        </p:nvSpPr>
        <p:spPr>
          <a:xfrm>
            <a:off x="976651" y="5263805"/>
            <a:ext cx="82037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L1D</a:t>
            </a:r>
          </a:p>
        </p:txBody>
      </p:sp>
      <p:sp>
        <p:nvSpPr>
          <p:cNvPr id="54" name="text-054: 先前写过 y = 3"/>
          <p:cNvSpPr txBox="1"/>
          <p:nvPr/>
        </p:nvSpPr>
        <p:spPr>
          <a:xfrm>
            <a:off x="905592" y="5467777"/>
            <a:ext cx="96249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先前写过 y = 3</a:t>
            </a:r>
          </a:p>
        </p:txBody>
      </p:sp>
      <p:sp>
        <p:nvSpPr>
          <p:cNvPr id="55" name="text-055: 此时 CPU 已停止访问"/>
          <p:cNvSpPr txBox="1"/>
          <p:nvPr/>
        </p:nvSpPr>
        <p:spPr>
          <a:xfrm>
            <a:off x="720007" y="5654467"/>
            <a:ext cx="133366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此时 CPU 已停止访问</a:t>
            </a:r>
          </a:p>
        </p:txBody>
      </p:sp>
      <p:sp>
        <p:nvSpPr>
          <p:cNvPr id="56" name="r2b1"/>
          <p:cNvSpPr/>
          <p:nvPr/>
        </p:nvSpPr>
        <p:spPr>
          <a:xfrm>
            <a:off x="2800350" y="514731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写缓冲"/>
          <p:cNvSpPr txBox="1"/>
          <p:nvPr/>
        </p:nvSpPr>
        <p:spPr>
          <a:xfrm>
            <a:off x="3579114" y="5263805"/>
            <a:ext cx="57607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58" name="text-058: 先前的写已推进"/>
          <p:cNvSpPr txBox="1"/>
          <p:nvPr/>
        </p:nvSpPr>
        <p:spPr>
          <a:xfrm>
            <a:off x="3355086" y="546777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先前的写已推进</a:t>
            </a:r>
          </a:p>
        </p:txBody>
      </p:sp>
      <p:sp>
        <p:nvSpPr>
          <p:cNvPr id="59" name="text-059: LLC 尚有脏数据"/>
          <p:cNvSpPr txBox="1"/>
          <p:nvPr/>
        </p:nvSpPr>
        <p:spPr>
          <a:xfrm>
            <a:off x="3360274" y="5654467"/>
            <a:ext cx="101375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尚有脏数据</a:t>
            </a:r>
          </a:p>
        </p:txBody>
      </p:sp>
      <p:sp>
        <p:nvSpPr>
          <p:cNvPr id="60" name="r2b2"/>
          <p:cNvSpPr/>
          <p:nvPr/>
        </p:nvSpPr>
        <p:spPr>
          <a:xfrm>
            <a:off x="5280660" y="514731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WB LLC"/>
          <p:cNvSpPr txBox="1"/>
          <p:nvPr/>
        </p:nvSpPr>
        <p:spPr>
          <a:xfrm>
            <a:off x="6033683" y="5263805"/>
            <a:ext cx="627553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WB LLC</a:t>
            </a:r>
          </a:p>
        </p:txBody>
      </p:sp>
      <p:sp>
        <p:nvSpPr>
          <p:cNvPr id="62" name="text-062: 旧脏副本 y = 3"/>
          <p:cNvSpPr txBox="1"/>
          <p:nvPr/>
        </p:nvSpPr>
        <p:spPr>
          <a:xfrm>
            <a:off x="5866212" y="5467777"/>
            <a:ext cx="96249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旧脏副本 y = 3</a:t>
            </a:r>
          </a:p>
        </p:txBody>
      </p:sp>
      <p:sp>
        <p:nvSpPr>
          <p:cNvPr id="63" name="text-063: 稍后替换并写回"/>
          <p:cNvSpPr txBox="1"/>
          <p:nvPr/>
        </p:nvSpPr>
        <p:spPr>
          <a:xfrm>
            <a:off x="5835396" y="565446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稍后替换并写回</a:t>
            </a:r>
          </a:p>
        </p:txBody>
      </p:sp>
      <p:sp>
        <p:nvSpPr>
          <p:cNvPr id="64" name="r2b3"/>
          <p:cNvSpPr/>
          <p:nvPr/>
        </p:nvSpPr>
        <p:spPr>
          <a:xfrm>
            <a:off x="7760970" y="514731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DDR"/>
          <p:cNvSpPr txBox="1"/>
          <p:nvPr/>
        </p:nvSpPr>
        <p:spPr>
          <a:xfrm>
            <a:off x="8616239" y="5263805"/>
            <a:ext cx="42306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66" name="text-066: y = 9 → y = 3"/>
          <p:cNvSpPr txBox="1"/>
          <p:nvPr/>
        </p:nvSpPr>
        <p:spPr>
          <a:xfrm>
            <a:off x="8377339" y="5467777"/>
            <a:ext cx="90086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y = 9 → y = 3</a:t>
            </a:r>
          </a:p>
        </p:txBody>
      </p:sp>
      <p:sp>
        <p:nvSpPr>
          <p:cNvPr id="67" name="text-067: 设备结果被覆盖"/>
          <p:cNvSpPr txBox="1"/>
          <p:nvPr/>
        </p:nvSpPr>
        <p:spPr>
          <a:xfrm>
            <a:off x="8315706" y="565446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设备结果被覆盖</a:t>
            </a:r>
          </a:p>
        </p:txBody>
      </p:sp>
      <p:sp>
        <p:nvSpPr>
          <p:cNvPr id="68" name="r2b4"/>
          <p:cNvSpPr/>
          <p:nvPr/>
        </p:nvSpPr>
        <p:spPr>
          <a:xfrm>
            <a:off x="10241280" y="5147310"/>
            <a:ext cx="2133600" cy="80010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GB"/>
          <p:cNvSpPr txBox="1"/>
          <p:nvPr/>
        </p:nvSpPr>
        <p:spPr>
          <a:xfrm>
            <a:off x="11144018" y="5263805"/>
            <a:ext cx="32812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70" name="text-070: 结果 y = 9"/>
          <p:cNvSpPr txBox="1"/>
          <p:nvPr/>
        </p:nvSpPr>
        <p:spPr>
          <a:xfrm>
            <a:off x="10954848" y="5467777"/>
            <a:ext cx="70646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结果 y = 9</a:t>
            </a:r>
          </a:p>
        </p:txBody>
      </p:sp>
      <p:sp>
        <p:nvSpPr>
          <p:cNvPr id="71" name="text-071: 此前已完成搬出"/>
          <p:cNvSpPr txBox="1"/>
          <p:nvPr/>
        </p:nvSpPr>
        <p:spPr>
          <a:xfrm>
            <a:off x="10796016" y="565446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此前已完成搬出</a:t>
            </a:r>
          </a:p>
        </p:txBody>
      </p:sp>
      <p:sp>
        <p:nvSpPr>
          <p:cNvPr id="72" name="text-072: 输出写入前先排空旧写、clean + invalidate；写入后再失效旧读副本"/>
          <p:cNvSpPr txBox="1"/>
          <p:nvPr/>
        </p:nvSpPr>
        <p:spPr>
          <a:xfrm>
            <a:off x="320040" y="6048329"/>
            <a:ext cx="4397266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输出写入前先排空旧写、clean + invalidate；写入后再失效旧读副本。</a:t>
            </a:r>
          </a:p>
        </p:txBody>
      </p:sp>
      <p:sp>
        <p:nvSpPr>
          <p:cNvPr id="73" name="cpu-store"/>
          <p:cNvSpPr/>
          <p:nvPr/>
        </p:nvSpPr>
        <p:spPr>
          <a:xfrm>
            <a:off x="2453640" y="165354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pending-store"/>
          <p:cNvSpPr/>
          <p:nvPr/>
        </p:nvSpPr>
        <p:spPr>
          <a:xfrm>
            <a:off x="4933950" y="165354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314D66"/>
            </a:solidFill>
            <a:custDash>
              <a:ds d="250000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stale-input"/>
          <p:cNvSpPr/>
          <p:nvPr/>
        </p:nvSpPr>
        <p:spPr>
          <a:xfrm>
            <a:off x="9894570" y="165354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output-write"/>
          <p:cNvSpPr/>
          <p:nvPr/>
        </p:nvSpPr>
        <p:spPr>
          <a:xfrm>
            <a:off x="9894570" y="360045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346710" y="0"/>
                </a:moveTo>
                <a:lnTo>
                  <a:pt x="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late-old-write"/>
          <p:cNvSpPr/>
          <p:nvPr/>
        </p:nvSpPr>
        <p:spPr>
          <a:xfrm>
            <a:off x="7414260" y="554736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earlier-device-write"/>
          <p:cNvSpPr/>
          <p:nvPr/>
        </p:nvSpPr>
        <p:spPr>
          <a:xfrm>
            <a:off x="9894570" y="554736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346710" y="0"/>
                </a:moveTo>
                <a:lnTo>
                  <a:pt x="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79: 蓝色：CPU / 缓存写入    绿色：设备搬运（经过共享数据代理）    虚线"/>
          <p:cNvSpPr txBox="1"/>
          <p:nvPr/>
        </p:nvSpPr>
        <p:spPr>
          <a:xfrm>
            <a:off x="320040" y="6571061"/>
            <a:ext cx="5316606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蓝色：CPU / 缓存写入    绿色：设备搬运（经过共享数据代理）    虚线：待完成写入</a:t>
            </a:r>
          </a:p>
        </p:txBody>
      </p:sp>
      <p:sp>
        <p:nvSpPr>
          <p:cNvPr id="80" name="text-080: 三个场景共同指向：输入先清理到 DDR，输出写前保护旧数据、写后清除旧副本。"/>
          <p:cNvSpPr txBox="1"/>
          <p:nvPr/>
        </p:nvSpPr>
        <p:spPr>
          <a:xfrm>
            <a:off x="320040" y="6837761"/>
            <a:ext cx="5164229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三个场景共同指向：输入先清理到 DDR，输出写前保护旧数据、写后清除旧副本。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裸机同步调用与硬件动作沿时间依次完成"/>
          <p:cNvSpPr txBox="1"/>
          <p:nvPr/>
        </p:nvSpPr>
        <p:spPr>
          <a:xfrm>
            <a:off x="228600" y="69129"/>
            <a:ext cx="3127248" cy="2633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裸机同步调用与硬件动作沿时间依次完成</a:t>
            </a:r>
          </a:p>
        </p:txBody>
      </p:sp>
      <p:sp>
        <p:nvSpPr>
          <p:cNvPr id="3" name="text-003: 时间向下；紫色为命令与完成依赖，蓝色为缓存写入，绿色为 DDR–GB 搬运。"/>
          <p:cNvSpPr txBox="1"/>
          <p:nvPr/>
        </p:nvSpPr>
        <p:spPr>
          <a:xfrm>
            <a:off x="228600" y="320406"/>
            <a:ext cx="3881199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时间向下；紫色为命令与完成依赖，蓝色为缓存写入，绿色为 DDR–GB 搬运。</a:t>
            </a:r>
          </a:p>
        </p:txBody>
      </p:sp>
      <p:sp>
        <p:nvSpPr>
          <p:cNvPr id="4" name="lane0"/>
          <p:cNvSpPr/>
          <p:nvPr/>
        </p:nvSpPr>
        <p:spPr>
          <a:xfrm>
            <a:off x="160020" y="594360"/>
            <a:ext cx="1737360" cy="434340"/>
          </a:xfrm>
          <a:prstGeom prst="rect">
            <a:avLst/>
          </a:prstGeom>
          <a:solidFill>
            <a:srgbClr val="F1D7D9"/>
          </a:solidFill>
          <a:ln w="777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CPU 裸机程序"/>
          <p:cNvSpPr txBox="1"/>
          <p:nvPr/>
        </p:nvSpPr>
        <p:spPr>
          <a:xfrm>
            <a:off x="589352" y="646206"/>
            <a:ext cx="878696" cy="197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裸机程序</a:t>
            </a:r>
          </a:p>
        </p:txBody>
      </p:sp>
      <p:sp>
        <p:nvSpPr>
          <p:cNvPr id="6" name="text-006: 调用 HAL / 轮询"/>
          <p:cNvSpPr txBox="1"/>
          <p:nvPr/>
        </p:nvSpPr>
        <p:spPr>
          <a:xfrm>
            <a:off x="582233" y="821040"/>
            <a:ext cx="892933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调用 HAL / 轮询</a:t>
            </a:r>
          </a:p>
        </p:txBody>
      </p:sp>
      <p:cxnSp>
        <p:nvCxnSpPr>
          <p:cNvPr id="7" name="life0"/>
          <p:cNvCxnSpPr/>
          <p:nvPr/>
        </p:nvCxnSpPr>
        <p:spPr>
          <a:xfrm>
            <a:off x="1028700" y="1028700"/>
            <a:ext cx="0" cy="5737860"/>
          </a:xfrm>
          <a:prstGeom prst="line">
            <a:avLst/>
          </a:prstGeom>
          <a:ln w="6401" cap="flat">
            <a:solidFill>
              <a:srgbClr val="BFC5CE"/>
            </a:solidFill>
            <a:custDash>
              <a:ds d="500000" sp="500000"/>
            </a:custDash>
          </a:ln>
          <a:effectLst/>
        </p:spPr>
      </p:cxnSp>
      <p:sp>
        <p:nvSpPr>
          <p:cNvPr id="8" name="lane1"/>
          <p:cNvSpPr/>
          <p:nvPr/>
        </p:nvSpPr>
        <p:spPr>
          <a:xfrm>
            <a:off x="2308860" y="594360"/>
            <a:ext cx="1737360" cy="434340"/>
          </a:xfrm>
          <a:prstGeom prst="rect">
            <a:avLst/>
          </a:prstGeom>
          <a:solidFill>
            <a:srgbClr val="E8DFED"/>
          </a:solidFill>
          <a:ln w="777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范围维护引擎"/>
          <p:cNvSpPr txBox="1"/>
          <p:nvPr/>
        </p:nvSpPr>
        <p:spPr>
          <a:xfrm>
            <a:off x="2745486" y="646206"/>
            <a:ext cx="864108" cy="197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范围维护引擎</a:t>
            </a:r>
          </a:p>
        </p:txBody>
      </p:sp>
      <p:sp>
        <p:nvSpPr>
          <p:cNvPr id="10" name="text-010: 规划：汇合维护确认"/>
          <p:cNvSpPr txBox="1"/>
          <p:nvPr/>
        </p:nvSpPr>
        <p:spPr>
          <a:xfrm>
            <a:off x="2628900" y="821040"/>
            <a:ext cx="1097280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规划：汇合维护确认</a:t>
            </a:r>
          </a:p>
        </p:txBody>
      </p:sp>
      <p:cxnSp>
        <p:nvCxnSpPr>
          <p:cNvPr id="11" name="life1"/>
          <p:cNvCxnSpPr/>
          <p:nvPr/>
        </p:nvCxnSpPr>
        <p:spPr>
          <a:xfrm>
            <a:off x="3177540" y="1028700"/>
            <a:ext cx="0" cy="5737860"/>
          </a:xfrm>
          <a:prstGeom prst="line">
            <a:avLst/>
          </a:prstGeom>
          <a:ln w="6401" cap="flat">
            <a:solidFill>
              <a:srgbClr val="BFC5CE"/>
            </a:solidFill>
            <a:custDash>
              <a:ds d="500000" sp="500000"/>
            </a:custDash>
          </a:ln>
          <a:effectLst/>
        </p:spPr>
      </p:cxnSp>
      <p:sp>
        <p:nvSpPr>
          <p:cNvPr id="12" name="lane2"/>
          <p:cNvSpPr/>
          <p:nvPr/>
        </p:nvSpPr>
        <p:spPr>
          <a:xfrm>
            <a:off x="4457700" y="594360"/>
            <a:ext cx="1737360" cy="434340"/>
          </a:xfrm>
          <a:prstGeom prst="rect">
            <a:avLst/>
          </a:prstGeom>
          <a:solidFill>
            <a:srgbClr val="F1D7D9"/>
          </a:solidFill>
          <a:ln w="777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L1D / 写缓冲"/>
          <p:cNvSpPr txBox="1"/>
          <p:nvPr/>
        </p:nvSpPr>
        <p:spPr>
          <a:xfrm>
            <a:off x="4901856" y="646206"/>
            <a:ext cx="849049" cy="197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/ 写缓冲</a:t>
            </a:r>
          </a:p>
        </p:txBody>
      </p:sp>
      <p:sp>
        <p:nvSpPr>
          <p:cNvPr id="14" name="text-014: 排空与失效"/>
          <p:cNvSpPr txBox="1"/>
          <p:nvPr/>
        </p:nvSpPr>
        <p:spPr>
          <a:xfrm>
            <a:off x="4997196" y="821040"/>
            <a:ext cx="658368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排空与失效</a:t>
            </a:r>
          </a:p>
        </p:txBody>
      </p:sp>
      <p:cxnSp>
        <p:nvCxnSpPr>
          <p:cNvPr id="15" name="life2"/>
          <p:cNvCxnSpPr/>
          <p:nvPr/>
        </p:nvCxnSpPr>
        <p:spPr>
          <a:xfrm>
            <a:off x="5326380" y="1028700"/>
            <a:ext cx="0" cy="5737860"/>
          </a:xfrm>
          <a:prstGeom prst="line">
            <a:avLst/>
          </a:prstGeom>
          <a:ln w="6401" cap="flat">
            <a:solidFill>
              <a:srgbClr val="BFC5CE"/>
            </a:solidFill>
            <a:custDash>
              <a:ds d="500000" sp="500000"/>
            </a:custDash>
          </a:ln>
          <a:effectLst/>
        </p:spPr>
      </p:cxnSp>
      <p:sp>
        <p:nvSpPr>
          <p:cNvPr id="16" name="lane3"/>
          <p:cNvSpPr/>
          <p:nvPr/>
        </p:nvSpPr>
        <p:spPr>
          <a:xfrm>
            <a:off x="6606540" y="594360"/>
            <a:ext cx="1737360" cy="434340"/>
          </a:xfrm>
          <a:prstGeom prst="rect">
            <a:avLst/>
          </a:prstGeom>
          <a:solidFill>
            <a:srgbClr val="D8E8F4"/>
          </a:solidFill>
          <a:ln w="777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WB LLC"/>
          <p:cNvSpPr txBox="1"/>
          <p:nvPr/>
        </p:nvSpPr>
        <p:spPr>
          <a:xfrm>
            <a:off x="7206269" y="646206"/>
            <a:ext cx="537903" cy="197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WB LLC</a:t>
            </a:r>
          </a:p>
        </p:txBody>
      </p:sp>
      <p:sp>
        <p:nvSpPr>
          <p:cNvPr id="18" name="text-018: 清理与失效"/>
          <p:cNvSpPr txBox="1"/>
          <p:nvPr/>
        </p:nvSpPr>
        <p:spPr>
          <a:xfrm>
            <a:off x="7146036" y="821040"/>
            <a:ext cx="658368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清理与失效</a:t>
            </a:r>
          </a:p>
        </p:txBody>
      </p:sp>
      <p:cxnSp>
        <p:nvCxnSpPr>
          <p:cNvPr id="19" name="life3"/>
          <p:cNvCxnSpPr/>
          <p:nvPr/>
        </p:nvCxnSpPr>
        <p:spPr>
          <a:xfrm>
            <a:off x="7475220" y="1028700"/>
            <a:ext cx="0" cy="5737860"/>
          </a:xfrm>
          <a:prstGeom prst="line">
            <a:avLst/>
          </a:prstGeom>
          <a:ln w="6401" cap="flat">
            <a:solidFill>
              <a:srgbClr val="BFC5CE"/>
            </a:solidFill>
            <a:custDash>
              <a:ds d="500000" sp="500000"/>
            </a:custDash>
          </a:ln>
          <a:effectLst/>
        </p:spPr>
      </p:cxnSp>
      <p:sp>
        <p:nvSpPr>
          <p:cNvPr id="20" name="lane4"/>
          <p:cNvSpPr/>
          <p:nvPr/>
        </p:nvSpPr>
        <p:spPr>
          <a:xfrm>
            <a:off x="8755380" y="594360"/>
            <a:ext cx="1737360" cy="434340"/>
          </a:xfrm>
          <a:prstGeom prst="rect">
            <a:avLst/>
          </a:prstGeom>
          <a:solidFill>
            <a:srgbClr val="D8E8F4"/>
          </a:solidFill>
          <a:ln w="777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DDR / 搬运器"/>
          <p:cNvSpPr txBox="1"/>
          <p:nvPr/>
        </p:nvSpPr>
        <p:spPr>
          <a:xfrm>
            <a:off x="9188502" y="646206"/>
            <a:ext cx="871116" cy="197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/ 搬运器</a:t>
            </a:r>
          </a:p>
        </p:txBody>
      </p:sp>
      <p:sp>
        <p:nvSpPr>
          <p:cNvPr id="22" name="text-022: 跨端口数据可见"/>
          <p:cNvSpPr txBox="1"/>
          <p:nvPr/>
        </p:nvSpPr>
        <p:spPr>
          <a:xfrm>
            <a:off x="9185148" y="821040"/>
            <a:ext cx="877824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跨端口数据可见</a:t>
            </a:r>
          </a:p>
        </p:txBody>
      </p:sp>
      <p:cxnSp>
        <p:nvCxnSpPr>
          <p:cNvPr id="23" name="life4"/>
          <p:cNvCxnSpPr/>
          <p:nvPr/>
        </p:nvCxnSpPr>
        <p:spPr>
          <a:xfrm>
            <a:off x="9624060" y="1028700"/>
            <a:ext cx="0" cy="5737860"/>
          </a:xfrm>
          <a:prstGeom prst="line">
            <a:avLst/>
          </a:prstGeom>
          <a:ln w="6401" cap="flat">
            <a:solidFill>
              <a:srgbClr val="BFC5CE"/>
            </a:solidFill>
            <a:custDash>
              <a:ds d="500000" sp="500000"/>
            </a:custDash>
          </a:ln>
          <a:effectLst/>
        </p:spPr>
      </p:cxnSp>
      <p:sp>
        <p:nvSpPr>
          <p:cNvPr id="24" name="lane5"/>
          <p:cNvSpPr/>
          <p:nvPr/>
        </p:nvSpPr>
        <p:spPr>
          <a:xfrm>
            <a:off x="10904220" y="594360"/>
            <a:ext cx="1737360" cy="434340"/>
          </a:xfrm>
          <a:prstGeom prst="rect">
            <a:avLst/>
          </a:prstGeom>
          <a:solidFill>
            <a:srgbClr val="D9EEE8"/>
          </a:solidFill>
          <a:ln w="777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共享代理 / GB / NPU"/>
          <p:cNvSpPr txBox="1"/>
          <p:nvPr/>
        </p:nvSpPr>
        <p:spPr>
          <a:xfrm>
            <a:off x="11132524" y="646206"/>
            <a:ext cx="1280753" cy="197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共享代理 / GB / NPU</a:t>
            </a:r>
          </a:p>
        </p:txBody>
      </p:sp>
      <p:sp>
        <p:nvSpPr>
          <p:cNvPr id="26" name="text-026: 装入、计算、搬出"/>
          <p:cNvSpPr txBox="1"/>
          <p:nvPr/>
        </p:nvSpPr>
        <p:spPr>
          <a:xfrm>
            <a:off x="11279124" y="821040"/>
            <a:ext cx="987552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装入、计算、搬出</a:t>
            </a:r>
          </a:p>
        </p:txBody>
      </p:sp>
      <p:cxnSp>
        <p:nvCxnSpPr>
          <p:cNvPr id="27" name="life5"/>
          <p:cNvCxnSpPr/>
          <p:nvPr/>
        </p:nvCxnSpPr>
        <p:spPr>
          <a:xfrm>
            <a:off x="11772900" y="1028700"/>
            <a:ext cx="0" cy="5737860"/>
          </a:xfrm>
          <a:prstGeom prst="line">
            <a:avLst/>
          </a:prstGeom>
          <a:ln w="6401" cap="flat">
            <a:solidFill>
              <a:srgbClr val="BFC5CE"/>
            </a:solidFill>
            <a:custDash>
              <a:ds d="500000" sp="500000"/>
            </a:custDash>
          </a:ln>
          <a:effectLst/>
        </p:spPr>
      </p:cxnSp>
      <p:sp>
        <p:nvSpPr>
          <p:cNvPr id="28" name="prepare"/>
          <p:cNvSpPr/>
          <p:nvPr/>
        </p:nvSpPr>
        <p:spPr>
          <a:xfrm>
            <a:off x="1028700" y="1325880"/>
            <a:ext cx="2148840" cy="1"/>
          </a:xfrm>
          <a:custGeom>
            <a:avLst/>
            <a:gdLst/>
            <a:ahLst/>
            <a:cxnLst/>
            <a:rect l="0" t="0" r="r" b="b"/>
            <a:pathLst>
              <a:path w="2148840" h="1" fill="none">
                <a:moveTo>
                  <a:pt x="0" y="0"/>
                </a:moveTo>
                <a:lnTo>
                  <a:pt x="214884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9"/>
          <p:cNvSpPr/>
          <p:nvPr/>
        </p:nvSpPr>
        <p:spPr>
          <a:xfrm>
            <a:off x="1493330" y="1133856"/>
            <a:ext cx="1219581" cy="160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同步输入 + 准备输出"/>
          <p:cNvSpPr txBox="1"/>
          <p:nvPr/>
        </p:nvSpPr>
        <p:spPr>
          <a:xfrm>
            <a:off x="1520233" y="1133856"/>
            <a:ext cx="1165774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同步输入 + 准备输出</a:t>
            </a:r>
          </a:p>
        </p:txBody>
      </p:sp>
      <p:sp>
        <p:nvSpPr>
          <p:cNvPr id="31" name="drain"/>
          <p:cNvSpPr/>
          <p:nvPr/>
        </p:nvSpPr>
        <p:spPr>
          <a:xfrm>
            <a:off x="3177540" y="1691640"/>
            <a:ext cx="2148840" cy="1"/>
          </a:xfrm>
          <a:custGeom>
            <a:avLst/>
            <a:gdLst/>
            <a:ahLst/>
            <a:cxnLst/>
            <a:rect l="0" t="0" r="r" b="b"/>
            <a:pathLst>
              <a:path w="2148840" h="1" fill="none">
                <a:moveTo>
                  <a:pt x="0" y="0"/>
                </a:moveTo>
                <a:lnTo>
                  <a:pt x="214884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2"/>
          <p:cNvSpPr/>
          <p:nvPr/>
        </p:nvSpPr>
        <p:spPr>
          <a:xfrm>
            <a:off x="3642170" y="1499616"/>
            <a:ext cx="1219581" cy="160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排空旧写 / 输出失效"/>
          <p:cNvSpPr txBox="1"/>
          <p:nvPr/>
        </p:nvSpPr>
        <p:spPr>
          <a:xfrm>
            <a:off x="3673648" y="1499616"/>
            <a:ext cx="1156623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排空旧写 / 输出失效</a:t>
            </a:r>
          </a:p>
        </p:txBody>
      </p:sp>
      <p:sp>
        <p:nvSpPr>
          <p:cNvPr id="34" name="wt-store"/>
          <p:cNvSpPr/>
          <p:nvPr/>
        </p:nvSpPr>
        <p:spPr>
          <a:xfrm>
            <a:off x="5326380" y="2057400"/>
            <a:ext cx="2148840" cy="1"/>
          </a:xfrm>
          <a:custGeom>
            <a:avLst/>
            <a:gdLst/>
            <a:ahLst/>
            <a:cxnLst/>
            <a:rect l="0" t="0" r="r" b="b"/>
            <a:pathLst>
              <a:path w="2148840" h="1" fill="none">
                <a:moveTo>
                  <a:pt x="0" y="0"/>
                </a:moveTo>
                <a:lnTo>
                  <a:pt x="2148840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5"/>
          <p:cNvSpPr/>
          <p:nvPr/>
        </p:nvSpPr>
        <p:spPr>
          <a:xfrm>
            <a:off x="5962460" y="1865376"/>
            <a:ext cx="876681" cy="160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WT 先行写推进"/>
          <p:cNvSpPr txBox="1"/>
          <p:nvPr/>
        </p:nvSpPr>
        <p:spPr>
          <a:xfrm>
            <a:off x="5965367" y="1865376"/>
            <a:ext cx="870866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WT 先行写推进</a:t>
            </a:r>
          </a:p>
        </p:txBody>
      </p:sp>
      <p:sp>
        <p:nvSpPr>
          <p:cNvPr id="37" name="clean"/>
          <p:cNvSpPr/>
          <p:nvPr/>
        </p:nvSpPr>
        <p:spPr>
          <a:xfrm>
            <a:off x="3177540" y="2423160"/>
            <a:ext cx="4297680" cy="1"/>
          </a:xfrm>
          <a:custGeom>
            <a:avLst/>
            <a:gdLst/>
            <a:ahLst/>
            <a:cxnLst/>
            <a:rect l="0" t="0" r="r" b="b"/>
            <a:pathLst>
              <a:path w="4297680" h="1" fill="none">
                <a:moveTo>
                  <a:pt x="0" y="0"/>
                </a:moveTo>
                <a:lnTo>
                  <a:pt x="429768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38"/>
          <p:cNvSpPr/>
          <p:nvPr/>
        </p:nvSpPr>
        <p:spPr>
          <a:xfrm>
            <a:off x="4171378" y="2231136"/>
            <a:ext cx="2310003" cy="160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输入 clean；输出 clean + invalidate"/>
          <p:cNvSpPr txBox="1"/>
          <p:nvPr/>
        </p:nvSpPr>
        <p:spPr>
          <a:xfrm>
            <a:off x="4375258" y="2231136"/>
            <a:ext cx="1902245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输入 clean；输出 clean + invalidate</a:t>
            </a:r>
          </a:p>
        </p:txBody>
      </p:sp>
      <p:sp>
        <p:nvSpPr>
          <p:cNvPr id="40" name="writeback"/>
          <p:cNvSpPr/>
          <p:nvPr/>
        </p:nvSpPr>
        <p:spPr>
          <a:xfrm>
            <a:off x="7475220" y="2788920"/>
            <a:ext cx="2148840" cy="1"/>
          </a:xfrm>
          <a:custGeom>
            <a:avLst/>
            <a:gdLst/>
            <a:ahLst/>
            <a:cxnLst/>
            <a:rect l="0" t="0" r="r" b="b"/>
            <a:pathLst>
              <a:path w="2148840" h="1" fill="none">
                <a:moveTo>
                  <a:pt x="0" y="0"/>
                </a:moveTo>
                <a:lnTo>
                  <a:pt x="2148840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1"/>
          <p:cNvSpPr/>
          <p:nvPr/>
        </p:nvSpPr>
        <p:spPr>
          <a:xfrm>
            <a:off x="8193024" y="2596896"/>
            <a:ext cx="713232" cy="160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经 S0 写回"/>
          <p:cNvSpPr txBox="1"/>
          <p:nvPr/>
        </p:nvSpPr>
        <p:spPr>
          <a:xfrm>
            <a:off x="8217120" y="2596896"/>
            <a:ext cx="665040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经 S0 写回</a:t>
            </a:r>
          </a:p>
        </p:txBody>
      </p:sp>
      <p:sp>
        <p:nvSpPr>
          <p:cNvPr id="43" name="ddr-visible"/>
          <p:cNvSpPr/>
          <p:nvPr/>
        </p:nvSpPr>
        <p:spPr>
          <a:xfrm>
            <a:off x="3177540" y="3154680"/>
            <a:ext cx="6446520" cy="1"/>
          </a:xfrm>
          <a:custGeom>
            <a:avLst/>
            <a:gdLst/>
            <a:ahLst/>
            <a:cxnLst/>
            <a:rect l="0" t="0" r="r" b="b"/>
            <a:pathLst>
              <a:path w="6446520" h="1" fill="none">
                <a:moveTo>
                  <a:pt x="6446520" y="0"/>
                </a:moveTo>
                <a:lnTo>
                  <a:pt x="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4"/>
          <p:cNvSpPr/>
          <p:nvPr/>
        </p:nvSpPr>
        <p:spPr>
          <a:xfrm>
            <a:off x="5545836" y="2962656"/>
            <a:ext cx="1709928" cy="160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跨端口可见；汇合缓存完成确认"/>
          <p:cNvSpPr txBox="1"/>
          <p:nvPr/>
        </p:nvSpPr>
        <p:spPr>
          <a:xfrm>
            <a:off x="5543550" y="2962656"/>
            <a:ext cx="17145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跨端口可见；汇合缓存完成确认</a:t>
            </a:r>
          </a:p>
        </p:txBody>
      </p:sp>
      <p:sp>
        <p:nvSpPr>
          <p:cNvPr id="46" name="prepared"/>
          <p:cNvSpPr/>
          <p:nvPr/>
        </p:nvSpPr>
        <p:spPr>
          <a:xfrm>
            <a:off x="1028700" y="3520440"/>
            <a:ext cx="2148840" cy="1"/>
          </a:xfrm>
          <a:custGeom>
            <a:avLst/>
            <a:gdLst/>
            <a:ahLst/>
            <a:cxnLst/>
            <a:rect l="0" t="0" r="r" b="b"/>
            <a:pathLst>
              <a:path w="2148840" h="1" fill="none">
                <a:moveTo>
                  <a:pt x="2148840" y="0"/>
                </a:moveTo>
                <a:lnTo>
                  <a:pt x="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47"/>
          <p:cNvSpPr/>
          <p:nvPr/>
        </p:nvSpPr>
        <p:spPr>
          <a:xfrm>
            <a:off x="1533906" y="3328416"/>
            <a:ext cx="1138428" cy="160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维护完成，返回应用"/>
          <p:cNvSpPr txBox="1"/>
          <p:nvPr/>
        </p:nvSpPr>
        <p:spPr>
          <a:xfrm>
            <a:off x="1531620" y="3328416"/>
            <a:ext cx="11430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维护完成，返回应用</a:t>
            </a:r>
          </a:p>
        </p:txBody>
      </p:sp>
      <p:sp>
        <p:nvSpPr>
          <p:cNvPr id="49" name="submit"/>
          <p:cNvSpPr/>
          <p:nvPr/>
        </p:nvSpPr>
        <p:spPr>
          <a:xfrm>
            <a:off x="1028700" y="3886200"/>
            <a:ext cx="8595360" cy="1"/>
          </a:xfrm>
          <a:custGeom>
            <a:avLst/>
            <a:gdLst/>
            <a:ahLst/>
            <a:cxnLst/>
            <a:rect l="0" t="0" r="r" b="b"/>
            <a:pathLst>
              <a:path w="8595360" h="1" fill="none">
                <a:moveTo>
                  <a:pt x="0" y="0"/>
                </a:moveTo>
                <a:lnTo>
                  <a:pt x="859536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-050"/>
          <p:cNvSpPr/>
          <p:nvPr/>
        </p:nvSpPr>
        <p:spPr>
          <a:xfrm>
            <a:off x="4414266" y="3694176"/>
            <a:ext cx="1824228" cy="160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提交任务：依次搬入、计算、搬出"/>
          <p:cNvSpPr txBox="1"/>
          <p:nvPr/>
        </p:nvSpPr>
        <p:spPr>
          <a:xfrm>
            <a:off x="4411980" y="3694176"/>
            <a:ext cx="1828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提交任务：依次搬入、计算、搬出</a:t>
            </a:r>
          </a:p>
        </p:txBody>
      </p:sp>
      <p:sp>
        <p:nvSpPr>
          <p:cNvPr id="52" name="dma-in"/>
          <p:cNvSpPr/>
          <p:nvPr/>
        </p:nvSpPr>
        <p:spPr>
          <a:xfrm>
            <a:off x="9624060" y="4251960"/>
            <a:ext cx="2148840" cy="1"/>
          </a:xfrm>
          <a:custGeom>
            <a:avLst/>
            <a:gdLst/>
            <a:ahLst/>
            <a:cxnLst/>
            <a:rect l="0" t="0" r="r" b="b"/>
            <a:pathLst>
              <a:path w="2148840" h="1" fill="none">
                <a:moveTo>
                  <a:pt x="0" y="0"/>
                </a:moveTo>
                <a:lnTo>
                  <a:pt x="214884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53"/>
          <p:cNvSpPr/>
          <p:nvPr/>
        </p:nvSpPr>
        <p:spPr>
          <a:xfrm>
            <a:off x="10317290" y="4059936"/>
            <a:ext cx="762381" cy="160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输入搬入 GB"/>
          <p:cNvSpPr txBox="1"/>
          <p:nvPr/>
        </p:nvSpPr>
        <p:spPr>
          <a:xfrm>
            <a:off x="10322540" y="4059936"/>
            <a:ext cx="751880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输入搬入 GB</a:t>
            </a:r>
          </a:p>
        </p:txBody>
      </p:sp>
      <p:sp>
        <p:nvSpPr>
          <p:cNvPr id="55" name="compute"/>
          <p:cNvSpPr/>
          <p:nvPr/>
        </p:nvSpPr>
        <p:spPr>
          <a:xfrm>
            <a:off x="10904220" y="4434840"/>
            <a:ext cx="1737360" cy="297180"/>
          </a:xfrm>
          <a:prstGeom prst="rect">
            <a:avLst/>
          </a:prstGeom>
          <a:solidFill>
            <a:srgbClr val="D9EEE8"/>
          </a:solidFill>
          <a:ln w="777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NPU 计算，结果留在 GB"/>
          <p:cNvSpPr txBox="1"/>
          <p:nvPr/>
        </p:nvSpPr>
        <p:spPr>
          <a:xfrm>
            <a:off x="11048506" y="4495830"/>
            <a:ext cx="1448788" cy="197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计算，结果留在 GB</a:t>
            </a:r>
          </a:p>
        </p:txBody>
      </p:sp>
      <p:sp>
        <p:nvSpPr>
          <p:cNvPr id="57" name="dma-out"/>
          <p:cNvSpPr/>
          <p:nvPr/>
        </p:nvSpPr>
        <p:spPr>
          <a:xfrm>
            <a:off x="9624060" y="4983480"/>
            <a:ext cx="2148840" cy="1"/>
          </a:xfrm>
          <a:custGeom>
            <a:avLst/>
            <a:gdLst/>
            <a:ahLst/>
            <a:cxnLst/>
            <a:rect l="0" t="0" r="r" b="b"/>
            <a:pathLst>
              <a:path w="2148840" h="1" fill="none">
                <a:moveTo>
                  <a:pt x="2148840" y="0"/>
                </a:moveTo>
                <a:lnTo>
                  <a:pt x="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-058"/>
          <p:cNvSpPr/>
          <p:nvPr/>
        </p:nvSpPr>
        <p:spPr>
          <a:xfrm>
            <a:off x="10284714" y="4791456"/>
            <a:ext cx="827532" cy="160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结果写入 DDR"/>
          <p:cNvSpPr txBox="1"/>
          <p:nvPr/>
        </p:nvSpPr>
        <p:spPr>
          <a:xfrm>
            <a:off x="10284868" y="4791456"/>
            <a:ext cx="827225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结果写入 DDR</a:t>
            </a:r>
          </a:p>
        </p:txBody>
      </p:sp>
      <p:sp>
        <p:nvSpPr>
          <p:cNvPr id="60" name="task-done"/>
          <p:cNvSpPr/>
          <p:nvPr/>
        </p:nvSpPr>
        <p:spPr>
          <a:xfrm>
            <a:off x="1028700" y="5349240"/>
            <a:ext cx="8595360" cy="1"/>
          </a:xfrm>
          <a:custGeom>
            <a:avLst/>
            <a:gdLst/>
            <a:ahLst/>
            <a:cxnLst/>
            <a:rect l="0" t="0" r="r" b="b"/>
            <a:pathLst>
              <a:path w="8595360" h="1" fill="none">
                <a:moveTo>
                  <a:pt x="8595360" y="0"/>
                </a:moveTo>
                <a:lnTo>
                  <a:pt x="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-061"/>
          <p:cNvSpPr/>
          <p:nvPr/>
        </p:nvSpPr>
        <p:spPr>
          <a:xfrm>
            <a:off x="4585716" y="5157216"/>
            <a:ext cx="1481328" cy="160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任务完成：结果跨端口可见"/>
          <p:cNvSpPr txBox="1"/>
          <p:nvPr/>
        </p:nvSpPr>
        <p:spPr>
          <a:xfrm>
            <a:off x="4583430" y="5157216"/>
            <a:ext cx="14859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任务完成：结果跨端口可见</a:t>
            </a:r>
          </a:p>
        </p:txBody>
      </p:sp>
      <p:sp>
        <p:nvSpPr>
          <p:cNvPr id="63" name="acquire"/>
          <p:cNvSpPr/>
          <p:nvPr/>
        </p:nvSpPr>
        <p:spPr>
          <a:xfrm>
            <a:off x="1028700" y="5715000"/>
            <a:ext cx="2148840" cy="1"/>
          </a:xfrm>
          <a:custGeom>
            <a:avLst/>
            <a:gdLst/>
            <a:ahLst/>
            <a:cxnLst/>
            <a:rect l="0" t="0" r="r" b="b"/>
            <a:pathLst>
              <a:path w="2148840" h="1" fill="none">
                <a:moveTo>
                  <a:pt x="0" y="0"/>
                </a:moveTo>
                <a:lnTo>
                  <a:pt x="214884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-064"/>
          <p:cNvSpPr/>
          <p:nvPr/>
        </p:nvSpPr>
        <p:spPr>
          <a:xfrm>
            <a:off x="1819656" y="5522976"/>
            <a:ext cx="566928" cy="160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同步输出"/>
          <p:cNvSpPr txBox="1"/>
          <p:nvPr/>
        </p:nvSpPr>
        <p:spPr>
          <a:xfrm>
            <a:off x="1817370" y="5522976"/>
            <a:ext cx="5715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同步输出</a:t>
            </a:r>
          </a:p>
        </p:txBody>
      </p:sp>
      <p:sp>
        <p:nvSpPr>
          <p:cNvPr id="66" name="post-l1"/>
          <p:cNvSpPr/>
          <p:nvPr/>
        </p:nvSpPr>
        <p:spPr>
          <a:xfrm>
            <a:off x="3177540" y="6080760"/>
            <a:ext cx="2148840" cy="1"/>
          </a:xfrm>
          <a:custGeom>
            <a:avLst/>
            <a:gdLst/>
            <a:ahLst/>
            <a:cxnLst/>
            <a:rect l="0" t="0" r="r" b="b"/>
            <a:pathLst>
              <a:path w="2148840" h="1" fill="none">
                <a:moveTo>
                  <a:pt x="0" y="0"/>
                </a:moveTo>
                <a:lnTo>
                  <a:pt x="214884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-067"/>
          <p:cNvSpPr/>
          <p:nvPr/>
        </p:nvSpPr>
        <p:spPr>
          <a:xfrm>
            <a:off x="3739896" y="5888736"/>
            <a:ext cx="1024128" cy="160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失效与旧回填处理"/>
          <p:cNvSpPr txBox="1"/>
          <p:nvPr/>
        </p:nvSpPr>
        <p:spPr>
          <a:xfrm>
            <a:off x="3737610" y="5888736"/>
            <a:ext cx="10287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失效与旧回填处理</a:t>
            </a:r>
          </a:p>
        </p:txBody>
      </p:sp>
      <p:sp>
        <p:nvSpPr>
          <p:cNvPr id="69" name="post-llc"/>
          <p:cNvSpPr/>
          <p:nvPr/>
        </p:nvSpPr>
        <p:spPr>
          <a:xfrm>
            <a:off x="3177540" y="6332220"/>
            <a:ext cx="4297680" cy="1"/>
          </a:xfrm>
          <a:custGeom>
            <a:avLst/>
            <a:gdLst/>
            <a:ahLst/>
            <a:cxnLst/>
            <a:rect l="0" t="0" r="r" b="b"/>
            <a:pathLst>
              <a:path w="4297680" h="1" fill="none">
                <a:moveTo>
                  <a:pt x="0" y="0"/>
                </a:moveTo>
                <a:lnTo>
                  <a:pt x="429768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-070"/>
          <p:cNvSpPr/>
          <p:nvPr/>
        </p:nvSpPr>
        <p:spPr>
          <a:xfrm>
            <a:off x="4741164" y="6140196"/>
            <a:ext cx="1170432" cy="160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LLC 同步清除旧副本"/>
          <p:cNvSpPr txBox="1"/>
          <p:nvPr/>
        </p:nvSpPr>
        <p:spPr>
          <a:xfrm>
            <a:off x="4759513" y="6140196"/>
            <a:ext cx="1133735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LLC 同步清除旧副本</a:t>
            </a:r>
          </a:p>
        </p:txBody>
      </p:sp>
      <p:sp>
        <p:nvSpPr>
          <p:cNvPr id="72" name="acquired"/>
          <p:cNvSpPr/>
          <p:nvPr/>
        </p:nvSpPr>
        <p:spPr>
          <a:xfrm>
            <a:off x="1028700" y="6697980"/>
            <a:ext cx="2148840" cy="1"/>
          </a:xfrm>
          <a:custGeom>
            <a:avLst/>
            <a:gdLst/>
            <a:ahLst/>
            <a:cxnLst/>
            <a:rect l="0" t="0" r="r" b="b"/>
            <a:pathLst>
              <a:path w="2148840" h="1" fill="none">
                <a:moveTo>
                  <a:pt x="2148840" y="0"/>
                </a:moveTo>
                <a:lnTo>
                  <a:pt x="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-073"/>
          <p:cNvSpPr/>
          <p:nvPr/>
        </p:nvSpPr>
        <p:spPr>
          <a:xfrm>
            <a:off x="1403604" y="6505956"/>
            <a:ext cx="1399032" cy="160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收齐确认；CPU 可读结果"/>
          <p:cNvSpPr txBox="1"/>
          <p:nvPr/>
        </p:nvSpPr>
        <p:spPr>
          <a:xfrm>
            <a:off x="1410569" y="6505956"/>
            <a:ext cx="1385102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收齐确认；CPU 可读结果</a:t>
            </a:r>
          </a:p>
        </p:txBody>
      </p:sp>
      <p:sp>
        <p:nvSpPr>
          <p:cNvPr id="75" name="text-075: 同步函数等待实际完成才返回；任务超时或错误时保留缓冲区，恢复逻辑处理迟到事务后再"/>
          <p:cNvSpPr txBox="1"/>
          <p:nvPr/>
        </p:nvSpPr>
        <p:spPr>
          <a:xfrm>
            <a:off x="251460" y="6903354"/>
            <a:ext cx="5230368" cy="1901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同步函数等待实际完成才返回；任务超时或错误时保留缓冲区，恢复逻辑处理迟到事务后再释放。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