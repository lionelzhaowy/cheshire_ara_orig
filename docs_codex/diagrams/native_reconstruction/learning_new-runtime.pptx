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4231640" y="1955800"/>
            <a:ext cx="1600200" cy="177800"/>
          </a:xfrm>
          <a:custGeom>
            <a:avLst/>
            <a:gdLst/>
            <a:ahLst/>
            <a:cxnLst/>
            <a:rect l="0" t="0" r="r" b="b"/>
            <a:pathLst>
              <a:path w="1600200" h="177800" fill="none">
                <a:moveTo>
                  <a:pt x="0" y="177800"/>
                </a:moveTo>
                <a:lnTo>
                  <a:pt x="924560" y="177800"/>
                </a:lnTo>
                <a:lnTo>
                  <a:pt x="924560" y="0"/>
                </a:lnTo>
                <a:lnTo>
                  <a:pt x="16002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4231640" y="2773680"/>
            <a:ext cx="1600200" cy="213360"/>
          </a:xfrm>
          <a:custGeom>
            <a:avLst/>
            <a:gdLst/>
            <a:ahLst/>
            <a:cxnLst/>
            <a:rect l="0" t="0" r="r" b="b"/>
            <a:pathLst>
              <a:path w="1600200" h="213360" fill="none">
                <a:moveTo>
                  <a:pt x="0" y="0"/>
                </a:moveTo>
                <a:lnTo>
                  <a:pt x="924560" y="0"/>
                </a:lnTo>
                <a:lnTo>
                  <a:pt x="924560" y="213360"/>
                </a:lnTo>
                <a:lnTo>
                  <a:pt x="1600200" y="21336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4231640" y="3413760"/>
            <a:ext cx="1600200" cy="604520"/>
          </a:xfrm>
          <a:custGeom>
            <a:avLst/>
            <a:gdLst/>
            <a:ahLst/>
            <a:cxnLst/>
            <a:rect l="0" t="0" r="r" b="b"/>
            <a:pathLst>
              <a:path w="1600200" h="604520" fill="none">
                <a:moveTo>
                  <a:pt x="0" y="0"/>
                </a:moveTo>
                <a:lnTo>
                  <a:pt x="924560" y="0"/>
                </a:lnTo>
                <a:lnTo>
                  <a:pt x="924560" y="604520"/>
                </a:lnTo>
                <a:lnTo>
                  <a:pt x="1600200" y="6045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4231640" y="4053840"/>
            <a:ext cx="1600200" cy="995680"/>
          </a:xfrm>
          <a:custGeom>
            <a:avLst/>
            <a:gdLst/>
            <a:ahLst/>
            <a:cxnLst/>
            <a:rect l="0" t="0" r="r" b="b"/>
            <a:pathLst>
              <a:path w="1600200" h="995680" fill="none">
                <a:moveTo>
                  <a:pt x="0" y="0"/>
                </a:moveTo>
                <a:lnTo>
                  <a:pt x="924560" y="0"/>
                </a:lnTo>
                <a:lnTo>
                  <a:pt x="924560" y="995680"/>
                </a:lnTo>
                <a:lnTo>
                  <a:pt x="1600200" y="9956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3: C 对象与运行内存：指令、初值、零初始化与栈"/>
          <p:cNvSpPr txBox="1"/>
          <p:nvPr/>
        </p:nvSpPr>
        <p:spPr>
          <a:xfrm>
            <a:off x="483616" y="271109"/>
            <a:ext cx="570951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 对象与运行内存：指令、初值、零初始化与栈</a:t>
            </a:r>
          </a:p>
        </p:txBody>
      </p:sp>
      <p:sp>
        <p:nvSpPr>
          <p:cNvPr id="10" name="text-014: 编译器按语义与优化分配存储；局部变量可以留在寄存器，不必全部占栈。"/>
          <p:cNvSpPr txBox="1"/>
          <p:nvPr/>
        </p:nvSpPr>
        <p:spPr>
          <a:xfrm>
            <a:off x="483616" y="676778"/>
            <a:ext cx="55615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编译器按语义与优化分配存储；局部变量可以留在寄存器，不必全部占栈。</a:t>
            </a:r>
          </a:p>
        </p:txBody>
      </p:sp>
      <p:sp>
        <p:nvSpPr>
          <p:cNvPr id="11" name="text-015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6: 源码：教材 journey.c；sw/lib/crt0.S；sw/link/co"/>
          <p:cNvSpPr txBox="1"/>
          <p:nvPr/>
        </p:nvSpPr>
        <p:spPr>
          <a:xfrm>
            <a:off x="341376" y="7726477"/>
            <a:ext cx="581050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源码：教材 journey.c；sw/lib/crt0.S；sw/link/common.ldh 与 spm.ld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1600200"/>
            <a:ext cx="3840480" cy="3235960"/>
          </a:xfrm>
          <a:prstGeom prst="roundRect">
            <a:avLst>
              <a:gd name="adj" fmla="val 153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8"/>
          <p:cNvSpPr/>
          <p:nvPr/>
        </p:nvSpPr>
        <p:spPr>
          <a:xfrm>
            <a:off x="391160" y="1600200"/>
            <a:ext cx="35560" cy="3235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9: C 层对象"/>
          <p:cNvSpPr txBox="1"/>
          <p:nvPr/>
        </p:nvSpPr>
        <p:spPr>
          <a:xfrm>
            <a:off x="512064" y="1628079"/>
            <a:ext cx="9800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 层对象</a:t>
            </a:r>
          </a:p>
        </p:txBody>
      </p:sp>
      <p:sp>
        <p:nvSpPr>
          <p:cNvPr id="16" name="text-020: 代码：main / make_value"/>
          <p:cNvSpPr txBox="1"/>
          <p:nvPr/>
        </p:nvSpPr>
        <p:spPr>
          <a:xfrm>
            <a:off x="512064" y="1899473"/>
            <a:ext cx="25688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代码：main / make_value</a:t>
            </a:r>
          </a:p>
        </p:txBody>
      </p:sp>
      <p:sp>
        <p:nvSpPr>
          <p:cNvPr id="17" name="text-021: 已初始化：seed = 1"/>
          <p:cNvSpPr txBox="1"/>
          <p:nvPr/>
        </p:nvSpPr>
        <p:spPr>
          <a:xfrm>
            <a:off x="512064" y="2112833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已初始化：seed = 1</a:t>
            </a:r>
          </a:p>
        </p:txBody>
      </p:sp>
      <p:sp>
        <p:nvSpPr>
          <p:cNvPr id="18" name="text-022: 常量：greeting[]"/>
          <p:cNvSpPr txBox="1"/>
          <p:nvPr/>
        </p:nvSpPr>
        <p:spPr>
          <a:xfrm>
            <a:off x="512064" y="2326193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常量：greeting[]</a:t>
            </a:r>
          </a:p>
        </p:txBody>
      </p:sp>
      <p:sp>
        <p:nvSpPr>
          <p:cNvPr id="19" name="text-023: 零初始化：result[137]"/>
          <p:cNvSpPr txBox="1"/>
          <p:nvPr/>
        </p:nvSpPr>
        <p:spPr>
          <a:xfrm>
            <a:off x="512064" y="2539553"/>
            <a:ext cx="22445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零初始化：result[137]</a:t>
            </a:r>
          </a:p>
        </p:txBody>
      </p:sp>
      <p:sp>
        <p:nvSpPr>
          <p:cNvPr id="20" name="text-024: 局部 temporary：可在寄存器"/>
          <p:cNvSpPr txBox="1"/>
          <p:nvPr/>
        </p:nvSpPr>
        <p:spPr>
          <a:xfrm>
            <a:off x="512064" y="2752913"/>
            <a:ext cx="26456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 temporary：可在寄存器</a:t>
            </a:r>
          </a:p>
        </p:txBody>
      </p:sp>
      <p:sp>
        <p:nvSpPr>
          <p:cNvPr id="21" name="text-025: 函数参数 / 返回值：依 ABI"/>
          <p:cNvSpPr txBox="1"/>
          <p:nvPr/>
        </p:nvSpPr>
        <p:spPr>
          <a:xfrm>
            <a:off x="512064" y="2966273"/>
            <a:ext cx="24835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函数参数 / 返回值：依 ABI</a:t>
            </a:r>
          </a:p>
        </p:txBody>
      </p:sp>
      <p:sp>
        <p:nvSpPr>
          <p:cNvPr id="22" name="rect-026"/>
          <p:cNvSpPr/>
          <p:nvPr/>
        </p:nvSpPr>
        <p:spPr>
          <a:xfrm>
            <a:off x="5831840" y="156464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7"/>
          <p:cNvSpPr/>
          <p:nvPr/>
        </p:nvSpPr>
        <p:spPr>
          <a:xfrm>
            <a:off x="5831840" y="156464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8: .text"/>
          <p:cNvSpPr txBox="1"/>
          <p:nvPr/>
        </p:nvSpPr>
        <p:spPr>
          <a:xfrm>
            <a:off x="5952744" y="1592519"/>
            <a:ext cx="7858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.text</a:t>
            </a:r>
          </a:p>
        </p:txBody>
      </p:sp>
      <p:sp>
        <p:nvSpPr>
          <p:cNvPr id="25" name="text-029: 机器指令，CPU 按 PC 取指"/>
          <p:cNvSpPr txBox="1"/>
          <p:nvPr/>
        </p:nvSpPr>
        <p:spPr>
          <a:xfrm>
            <a:off x="5952744" y="1871594"/>
            <a:ext cx="23227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机器指令，CPU 按 PC 取指</a:t>
            </a:r>
          </a:p>
        </p:txBody>
      </p:sp>
      <p:sp>
        <p:nvSpPr>
          <p:cNvPr id="26" name="rect-030"/>
          <p:cNvSpPr/>
          <p:nvPr/>
        </p:nvSpPr>
        <p:spPr>
          <a:xfrm>
            <a:off x="5831840" y="259588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5831840" y="259588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.misc"/>
          <p:cNvSpPr txBox="1"/>
          <p:nvPr/>
        </p:nvSpPr>
        <p:spPr>
          <a:xfrm>
            <a:off x="5952744" y="2623759"/>
            <a:ext cx="7858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.misc</a:t>
            </a:r>
          </a:p>
        </p:txBody>
      </p:sp>
      <p:sp>
        <p:nvSpPr>
          <p:cNvPr id="29" name="text-033: 常量与已初始化数据：greeting / seed"/>
          <p:cNvSpPr txBox="1"/>
          <p:nvPr/>
        </p:nvSpPr>
        <p:spPr>
          <a:xfrm>
            <a:off x="5952744" y="2902834"/>
            <a:ext cx="33942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常量与已初始化数据：greeting / seed</a:t>
            </a:r>
          </a:p>
        </p:txBody>
      </p:sp>
      <p:sp>
        <p:nvSpPr>
          <p:cNvPr id="30" name="rect-034"/>
          <p:cNvSpPr/>
          <p:nvPr/>
        </p:nvSpPr>
        <p:spPr>
          <a:xfrm>
            <a:off x="5831840" y="362712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5"/>
          <p:cNvSpPr/>
          <p:nvPr/>
        </p:nvSpPr>
        <p:spPr>
          <a:xfrm>
            <a:off x="5831840" y="362712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6: .bss"/>
          <p:cNvSpPr txBox="1"/>
          <p:nvPr/>
        </p:nvSpPr>
        <p:spPr>
          <a:xfrm>
            <a:off x="5952744" y="365499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.bss</a:t>
            </a:r>
          </a:p>
        </p:txBody>
      </p:sp>
      <p:sp>
        <p:nvSpPr>
          <p:cNvPr id="33" name="text-037: 运行时空间：137 × 4 = 548 B；crt0 清零"/>
          <p:cNvSpPr txBox="1"/>
          <p:nvPr/>
        </p:nvSpPr>
        <p:spPr>
          <a:xfrm>
            <a:off x="5952744" y="3934074"/>
            <a:ext cx="376224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运行时空间：137 × 4 = 548 B；crt0 清零</a:t>
            </a:r>
          </a:p>
        </p:txBody>
      </p:sp>
      <p:sp>
        <p:nvSpPr>
          <p:cNvPr id="34" name="rect-038"/>
          <p:cNvSpPr/>
          <p:nvPr/>
        </p:nvSpPr>
        <p:spPr>
          <a:xfrm>
            <a:off x="5831840" y="465836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9"/>
          <p:cNvSpPr/>
          <p:nvPr/>
        </p:nvSpPr>
        <p:spPr>
          <a:xfrm>
            <a:off x="5831840" y="4658360"/>
            <a:ext cx="35560" cy="7823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0: stack / 寄存器"/>
          <p:cNvSpPr txBox="1"/>
          <p:nvPr/>
        </p:nvSpPr>
        <p:spPr>
          <a:xfrm>
            <a:off x="5952744" y="4686239"/>
            <a:ext cx="170119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stack / 寄存器</a:t>
            </a:r>
          </a:p>
        </p:txBody>
      </p:sp>
      <p:sp>
        <p:nvSpPr>
          <p:cNvPr id="37" name="text-041: 调用保存必要状态；无默认堆"/>
          <p:cNvSpPr txBox="1"/>
          <p:nvPr/>
        </p:nvSpPr>
        <p:spPr>
          <a:xfrm>
            <a:off x="5952744" y="4965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调用保存必要状态；无默认堆</a:t>
            </a:r>
          </a:p>
        </p:txBody>
      </p:sp>
      <p:sp>
        <p:nvSpPr>
          <p:cNvPr id="38" name="rect-042"/>
          <p:cNvSpPr/>
          <p:nvPr/>
        </p:nvSpPr>
        <p:spPr>
          <a:xfrm>
            <a:off x="391160" y="6223000"/>
            <a:ext cx="561848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3"/>
          <p:cNvSpPr/>
          <p:nvPr/>
        </p:nvSpPr>
        <p:spPr>
          <a:xfrm>
            <a:off x="391160" y="622300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函数调用示例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函数调用示例</a:t>
            </a:r>
          </a:p>
        </p:txBody>
      </p:sp>
      <p:sp>
        <p:nvSpPr>
          <p:cNvPr id="41" name="text-045: main → make_value → ret；a0 传参 / 返回值，ra 保"/>
          <p:cNvSpPr txBox="1"/>
          <p:nvPr/>
        </p:nvSpPr>
        <p:spPr>
          <a:xfrm>
            <a:off x="512064" y="6537635"/>
            <a:ext cx="55544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main → make_value → ret；a0 传参 / 返回值，ra 保存返回地址</a:t>
            </a:r>
          </a:p>
        </p:txBody>
      </p:sp>
      <p:sp>
        <p:nvSpPr>
          <p:cNvPr id="42" name="text-046: 跨调用仍需保留的值按 ABI 约定保存"/>
          <p:cNvSpPr txBox="1"/>
          <p:nvPr/>
        </p:nvSpPr>
        <p:spPr>
          <a:xfrm>
            <a:off x="512064" y="6750995"/>
            <a:ext cx="285546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跨调用仍需保留的值按 ABI 约定保存</a:t>
            </a:r>
          </a:p>
        </p:txBody>
      </p:sp>
      <p:sp>
        <p:nvSpPr>
          <p:cNvPr id="43" name="rect-047"/>
          <p:cNvSpPr/>
          <p:nvPr/>
        </p:nvSpPr>
        <p:spPr>
          <a:xfrm>
            <a:off x="6578600" y="6223000"/>
            <a:ext cx="576072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8"/>
          <p:cNvSpPr/>
          <p:nvPr/>
        </p:nvSpPr>
        <p:spPr>
          <a:xfrm>
            <a:off x="6578600" y="622300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9: SPM 链接时的栈前提"/>
          <p:cNvSpPr txBox="1"/>
          <p:nvPr/>
        </p:nvSpPr>
        <p:spPr>
          <a:xfrm>
            <a:off x="6699504" y="6250879"/>
            <a:ext cx="19600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SPM 链接时的栈前提</a:t>
            </a:r>
          </a:p>
        </p:txBody>
      </p:sp>
      <p:sp>
        <p:nvSpPr>
          <p:cNvPr id="46" name="text-050: __stack_pointer$ = 0 表示应用沿用既有栈"/>
          <p:cNvSpPr txBox="1"/>
          <p:nvPr/>
        </p:nvSpPr>
        <p:spPr>
          <a:xfrm>
            <a:off x="6699504" y="6537635"/>
            <a:ext cx="37003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__stack_pointer$ = 0 表示应用沿用既有栈</a:t>
            </a:r>
          </a:p>
        </p:txBody>
      </p:sp>
      <p:sp>
        <p:nvSpPr>
          <p:cNvPr id="47" name="text-051: 不能把 0 写入 sp；首次栈访问前须有有效可写存储"/>
          <p:cNvSpPr txBox="1"/>
          <p:nvPr/>
        </p:nvSpPr>
        <p:spPr>
          <a:xfrm>
            <a:off x="6699504" y="6750995"/>
            <a:ext cx="38959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不能把 0 写入 sp；首次栈访问前须有有效可写存储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