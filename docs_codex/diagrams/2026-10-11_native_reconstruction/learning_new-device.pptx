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391160" y="4089400"/>
            <a:ext cx="12019280" cy="1671320"/>
          </a:xfrm>
          <a:prstGeom prst="roundRect">
            <a:avLst>
              <a:gd name="adj" fmla="val 5106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280924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604520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928116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6116320" y="4836160"/>
            <a:ext cx="5902960" cy="426720"/>
          </a:xfrm>
          <a:custGeom>
            <a:avLst/>
            <a:gdLst/>
            <a:ahLst/>
            <a:cxnLst/>
            <a:rect l="0" t="0" r="r" b="b"/>
            <a:pathLst>
              <a:path w="5902960" h="426720" fill="none">
                <a:moveTo>
                  <a:pt x="0" y="0"/>
                </a:moveTo>
                <a:lnTo>
                  <a:pt x="568960" y="0"/>
                </a:lnTo>
                <a:lnTo>
                  <a:pt x="568960" y="426720"/>
                </a:lnTo>
                <a:lnTo>
                  <a:pt x="1137920" y="426720"/>
                </a:lnTo>
                <a:lnTo>
                  <a:pt x="1137920" y="0"/>
                </a:lnTo>
                <a:lnTo>
                  <a:pt x="1706880" y="0"/>
                </a:lnTo>
                <a:lnTo>
                  <a:pt x="1706880" y="426720"/>
                </a:lnTo>
                <a:lnTo>
                  <a:pt x="2275840" y="426720"/>
                </a:lnTo>
                <a:lnTo>
                  <a:pt x="2275840" y="0"/>
                </a:lnTo>
                <a:lnTo>
                  <a:pt x="2844800" y="0"/>
                </a:lnTo>
                <a:lnTo>
                  <a:pt x="2844800" y="426720"/>
                </a:lnTo>
                <a:lnTo>
                  <a:pt x="3413760" y="426720"/>
                </a:lnTo>
                <a:lnTo>
                  <a:pt x="3413760" y="0"/>
                </a:lnTo>
                <a:lnTo>
                  <a:pt x="59029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3: 一次 UART 寄存器访问：地址、寄存器副作用与引脚"/>
          <p:cNvSpPr txBox="1"/>
          <p:nvPr/>
        </p:nvSpPr>
        <p:spPr>
          <a:xfrm>
            <a:off x="483616" y="271109"/>
            <a:ext cx="637519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UART 寄存器访问：地址、寄存器副作用与引脚</a:t>
            </a:r>
          </a:p>
        </p:txBody>
      </p:sp>
      <p:sp>
        <p:nvSpPr>
          <p:cNvPr id="11" name="text-014: 同一地址访问谁由译码决定；写入产生什么动作由寄存器语义、访问宽度与设备状态决定。"/>
          <p:cNvSpPr txBox="1"/>
          <p:nvPr/>
        </p:nvSpPr>
        <p:spPr>
          <a:xfrm>
            <a:off x="483616" y="676778"/>
            <a:ext cx="67066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同一地址访问谁由译码决定；写入产生什么动作由寄存器语义、访问宽度与设备状态决定。</a:t>
            </a:r>
          </a:p>
        </p:txBody>
      </p:sp>
      <p:sp>
        <p:nvSpPr>
          <p:cNvPr id="12" name="text-015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3" name="text-016: 源码：UART DIF / HAL；AXI→Reg / APB 适配；UART "/>
          <p:cNvSpPr txBox="1"/>
          <p:nvPr/>
        </p:nvSpPr>
        <p:spPr>
          <a:xfrm>
            <a:off x="341376" y="7726477"/>
            <a:ext cx="494995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源码：UART DIF / HAL；AXI→Reg / APB 适配；UART 寄存器实现</a:t>
            </a:r>
          </a:p>
        </p:txBody>
      </p:sp>
      <p:sp>
        <p:nvSpPr>
          <p:cNvPr id="14" name="rect-017"/>
          <p:cNvSpPr/>
          <p:nvPr/>
        </p:nvSpPr>
        <p:spPr>
          <a:xfrm>
            <a:off x="391160" y="1706880"/>
            <a:ext cx="241808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8"/>
          <p:cNvSpPr/>
          <p:nvPr/>
        </p:nvSpPr>
        <p:spPr>
          <a:xfrm>
            <a:off x="391160" y="17068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9: CPU / 驱动"/>
          <p:cNvSpPr txBox="1"/>
          <p:nvPr/>
        </p:nvSpPr>
        <p:spPr>
          <a:xfrm>
            <a:off x="512064" y="173475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17" name="text-020: volatile + 正确访问宽度"/>
          <p:cNvSpPr txBox="1"/>
          <p:nvPr/>
        </p:nvSpPr>
        <p:spPr>
          <a:xfrm>
            <a:off x="512064" y="2006153"/>
            <a:ext cx="24152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volatile + 正确访问宽度</a:t>
            </a:r>
          </a:p>
        </p:txBody>
      </p:sp>
      <p:sp>
        <p:nvSpPr>
          <p:cNvPr id="18" name="text-021: 读取 LSR 检查发送条件"/>
          <p:cNvSpPr txBox="1"/>
          <p:nvPr/>
        </p:nvSpPr>
        <p:spPr>
          <a:xfrm>
            <a:off x="512064" y="2219513"/>
            <a:ext cx="20909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LSR 检查发送条件</a:t>
            </a:r>
          </a:p>
        </p:txBody>
      </p:sp>
      <p:sp>
        <p:nvSpPr>
          <p:cNvPr id="19" name="text-022: 写 THR 提交一个字符"/>
          <p:cNvSpPr txBox="1"/>
          <p:nvPr/>
        </p:nvSpPr>
        <p:spPr>
          <a:xfrm>
            <a:off x="512064" y="2432873"/>
            <a:ext cx="19202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 THR 提交一个字符</a:t>
            </a:r>
          </a:p>
        </p:txBody>
      </p:sp>
      <p:sp>
        <p:nvSpPr>
          <p:cNvPr id="20" name="rect-023"/>
          <p:cNvSpPr/>
          <p:nvPr/>
        </p:nvSpPr>
        <p:spPr>
          <a:xfrm>
            <a:off x="3591560" y="17068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4"/>
          <p:cNvSpPr/>
          <p:nvPr/>
        </p:nvSpPr>
        <p:spPr>
          <a:xfrm>
            <a:off x="3591560" y="17068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5: AXI → Reg / APB"/>
          <p:cNvSpPr txBox="1"/>
          <p:nvPr/>
        </p:nvSpPr>
        <p:spPr>
          <a:xfrm>
            <a:off x="3712464" y="1734759"/>
            <a:ext cx="205252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→ Reg / APB</a:t>
            </a:r>
          </a:p>
        </p:txBody>
      </p:sp>
      <p:sp>
        <p:nvSpPr>
          <p:cNvPr id="23" name="text-026: 地址译码"/>
          <p:cNvSpPr txBox="1"/>
          <p:nvPr/>
        </p:nvSpPr>
        <p:spPr>
          <a:xfrm>
            <a:off x="3712464" y="20061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地址译码</a:t>
            </a:r>
          </a:p>
        </p:txBody>
      </p:sp>
      <p:sp>
        <p:nvSpPr>
          <p:cNvPr id="24" name="text-027: byte lane / 字节使能"/>
          <p:cNvSpPr txBox="1"/>
          <p:nvPr/>
        </p:nvSpPr>
        <p:spPr>
          <a:xfrm>
            <a:off x="3712464" y="2219513"/>
            <a:ext cx="21848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byte lane / 字节使能</a:t>
            </a:r>
          </a:p>
        </p:txBody>
      </p:sp>
      <p:sp>
        <p:nvSpPr>
          <p:cNvPr id="25" name="text-028: 握手与错误响应"/>
          <p:cNvSpPr txBox="1"/>
          <p:nvPr/>
        </p:nvSpPr>
        <p:spPr>
          <a:xfrm>
            <a:off x="3712464" y="24328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握手与错误响应</a:t>
            </a:r>
          </a:p>
        </p:txBody>
      </p:sp>
      <p:sp>
        <p:nvSpPr>
          <p:cNvPr id="26" name="rect-029"/>
          <p:cNvSpPr/>
          <p:nvPr/>
        </p:nvSpPr>
        <p:spPr>
          <a:xfrm>
            <a:off x="6827520" y="17068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0"/>
          <p:cNvSpPr/>
          <p:nvPr/>
        </p:nvSpPr>
        <p:spPr>
          <a:xfrm>
            <a:off x="6827520" y="1706880"/>
            <a:ext cx="35560" cy="13512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1: 寄存器 / TX FIFO"/>
          <p:cNvSpPr txBox="1"/>
          <p:nvPr/>
        </p:nvSpPr>
        <p:spPr>
          <a:xfrm>
            <a:off x="6948424" y="1734759"/>
            <a:ext cx="19415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寄存器 / TX FIFO</a:t>
            </a:r>
          </a:p>
        </p:txBody>
      </p:sp>
      <p:sp>
        <p:nvSpPr>
          <p:cNvPr id="29" name="text-032: DLAB 选择寄存器用途"/>
          <p:cNvSpPr txBox="1"/>
          <p:nvPr/>
        </p:nvSpPr>
        <p:spPr>
          <a:xfrm>
            <a:off x="6948424" y="2006153"/>
            <a:ext cx="19202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DLAB 选择寄存器用途</a:t>
            </a:r>
          </a:p>
        </p:txBody>
      </p:sp>
      <p:sp>
        <p:nvSpPr>
          <p:cNvPr id="30" name="text-033: 写入入队 / 状态更新"/>
          <p:cNvSpPr txBox="1"/>
          <p:nvPr/>
        </p:nvSpPr>
        <p:spPr>
          <a:xfrm>
            <a:off x="6948424" y="2219513"/>
            <a:ext cx="186903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写入入队 / 状态更新</a:t>
            </a:r>
          </a:p>
        </p:txBody>
      </p:sp>
      <p:sp>
        <p:nvSpPr>
          <p:cNvPr id="31" name="text-034: 访问成功不代表发送结束"/>
          <p:cNvSpPr txBox="1"/>
          <p:nvPr/>
        </p:nvSpPr>
        <p:spPr>
          <a:xfrm>
            <a:off x="6948424" y="24328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访问成功不代表发送结束</a:t>
            </a:r>
          </a:p>
        </p:txBody>
      </p:sp>
      <p:sp>
        <p:nvSpPr>
          <p:cNvPr id="32" name="rect-035"/>
          <p:cNvSpPr/>
          <p:nvPr/>
        </p:nvSpPr>
        <p:spPr>
          <a:xfrm>
            <a:off x="10063480" y="1706880"/>
            <a:ext cx="2346960" cy="1351280"/>
          </a:xfrm>
          <a:prstGeom prst="roundRect">
            <a:avLst>
              <a:gd name="adj" fmla="val 36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6"/>
          <p:cNvSpPr/>
          <p:nvPr/>
        </p:nvSpPr>
        <p:spPr>
          <a:xfrm>
            <a:off x="10063480" y="1706880"/>
            <a:ext cx="35560" cy="13512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7: 串行状态机"/>
          <p:cNvSpPr txBox="1"/>
          <p:nvPr/>
        </p:nvSpPr>
        <p:spPr>
          <a:xfrm>
            <a:off x="10184384" y="17347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串行状态机</a:t>
            </a:r>
          </a:p>
        </p:txBody>
      </p:sp>
      <p:sp>
        <p:nvSpPr>
          <p:cNvPr id="35" name="text-038: 波特率分频"/>
          <p:cNvSpPr txBox="1"/>
          <p:nvPr/>
        </p:nvSpPr>
        <p:spPr>
          <a:xfrm>
            <a:off x="10184384" y="20061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波特率分频</a:t>
            </a:r>
          </a:p>
        </p:txBody>
      </p:sp>
      <p:sp>
        <p:nvSpPr>
          <p:cNvPr id="36" name="text-039: 起始位 / 数据 / 停止位"/>
          <p:cNvSpPr txBox="1"/>
          <p:nvPr/>
        </p:nvSpPr>
        <p:spPr>
          <a:xfrm>
            <a:off x="10184384" y="2219513"/>
            <a:ext cx="220187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 / 数据 / 停止位</a:t>
            </a:r>
          </a:p>
        </p:txBody>
      </p:sp>
      <p:sp>
        <p:nvSpPr>
          <p:cNvPr id="37" name="text-040: TX 引脚输出"/>
          <p:cNvSpPr txBox="1"/>
          <p:nvPr/>
        </p:nvSpPr>
        <p:spPr>
          <a:xfrm>
            <a:off x="10184384" y="2432873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引脚输出</a:t>
            </a:r>
          </a:p>
        </p:txBody>
      </p:sp>
      <p:sp>
        <p:nvSpPr>
          <p:cNvPr id="38" name="text-041: 同时观察控制寄存器与外部波形"/>
          <p:cNvSpPr txBox="1"/>
          <p:nvPr/>
        </p:nvSpPr>
        <p:spPr>
          <a:xfrm>
            <a:off x="519176" y="4146296"/>
            <a:ext cx="2667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同时观察控制寄存器与外部波形</a:t>
            </a:r>
          </a:p>
        </p:txBody>
      </p:sp>
      <p:sp>
        <p:nvSpPr>
          <p:cNvPr id="39" name="text-042: LSR / FIFO 状态"/>
          <p:cNvSpPr txBox="1"/>
          <p:nvPr/>
        </p:nvSpPr>
        <p:spPr>
          <a:xfrm>
            <a:off x="640080" y="4423095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LSR / FIFO 状态</a:t>
            </a:r>
          </a:p>
        </p:txBody>
      </p:sp>
      <p:sp>
        <p:nvSpPr>
          <p:cNvPr id="40" name="text-043: UART TX"/>
          <p:cNvSpPr txBox="1"/>
          <p:nvPr/>
        </p:nvSpPr>
        <p:spPr>
          <a:xfrm>
            <a:off x="4693920" y="4423095"/>
            <a:ext cx="10262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UART TX</a:t>
            </a:r>
          </a:p>
        </p:txBody>
      </p:sp>
      <p:sp>
        <p:nvSpPr>
          <p:cNvPr id="41" name="text-044: 可继续写入？FIFO 空？移位器也已空？"/>
          <p:cNvSpPr txBox="1"/>
          <p:nvPr/>
        </p:nvSpPr>
        <p:spPr>
          <a:xfrm>
            <a:off x="640080" y="4651817"/>
            <a:ext cx="32857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可继续写入？FIFO 空？移位器也已空？</a:t>
            </a:r>
          </a:p>
        </p:txBody>
      </p:sp>
      <p:sp>
        <p:nvSpPr>
          <p:cNvPr id="42" name="text-045: 三个问题按具体状态位定义判断。"/>
          <p:cNvSpPr txBox="1"/>
          <p:nvPr/>
        </p:nvSpPr>
        <p:spPr>
          <a:xfrm>
            <a:off x="640080" y="488651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三个问题按具体状态位定义判断。</a:t>
            </a:r>
          </a:p>
        </p:txBody>
      </p:sp>
      <p:sp>
        <p:nvSpPr>
          <p:cNvPr id="43" name="text-046: 起始位"/>
          <p:cNvSpPr txBox="1"/>
          <p:nvPr/>
        </p:nvSpPr>
        <p:spPr>
          <a:xfrm>
            <a:off x="6827520" y="53783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</a:t>
            </a:r>
          </a:p>
        </p:txBody>
      </p:sp>
      <p:sp>
        <p:nvSpPr>
          <p:cNvPr id="44" name="text-047: 数据位示意"/>
          <p:cNvSpPr txBox="1"/>
          <p:nvPr/>
        </p:nvSpPr>
        <p:spPr>
          <a:xfrm>
            <a:off x="8463280" y="5378379"/>
            <a:ext cx="9387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数据位示意</a:t>
            </a:r>
          </a:p>
        </p:txBody>
      </p:sp>
      <p:sp>
        <p:nvSpPr>
          <p:cNvPr id="45" name="text-048: 停止位"/>
          <p:cNvSpPr txBox="1"/>
          <p:nvPr/>
        </p:nvSpPr>
        <p:spPr>
          <a:xfrm>
            <a:off x="11023600" y="53783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停止位</a:t>
            </a:r>
          </a:p>
        </p:txBody>
      </p:sp>
      <p:sp>
        <p:nvSpPr>
          <p:cNvPr id="46" name="rect-049"/>
          <p:cNvSpPr/>
          <p:nvPr/>
        </p:nvSpPr>
        <p:spPr>
          <a:xfrm>
            <a:off x="391160" y="64008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50"/>
          <p:cNvSpPr/>
          <p:nvPr/>
        </p:nvSpPr>
        <p:spPr>
          <a:xfrm>
            <a:off x="391160" y="64008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51: 其他外设仍沿同一分析方法"/>
          <p:cNvSpPr txBox="1"/>
          <p:nvPr/>
        </p:nvSpPr>
        <p:spPr>
          <a:xfrm>
            <a:off x="512064" y="64286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其他外设仍沿同一分析方法</a:t>
            </a:r>
          </a:p>
        </p:txBody>
      </p:sp>
      <p:sp>
        <p:nvSpPr>
          <p:cNvPr id="49" name="text-052: W1C、读弹出 FIFO、忙时写入、GPIO 电平都需要各自的寄存器契约；寄存器"/>
          <p:cNvSpPr txBox="1"/>
          <p:nvPr/>
        </p:nvSpPr>
        <p:spPr>
          <a:xfrm>
            <a:off x="512064" y="6715435"/>
            <a:ext cx="77371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W1C、读弹出 FIFO、忙时写入、GPIO 电平都需要各自的寄存器契约；寄存器地址正确只是访问的第一步。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