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6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1: Cheshire + CVA6 + Ara：AXI Crossbar 的实际结构"/>
          <p:cNvSpPr txBox="1"/>
          <p:nvPr/>
        </p:nvSpPr>
        <p:spPr>
          <a:xfrm>
            <a:off x="228600" y="497434"/>
            <a:ext cx="6549628" cy="4145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3" name="text-002: 基线：tb_cheshire_pkg::gen_cheshire_ara_cfg"/>
          <p:cNvSpPr txBox="1"/>
          <p:nvPr/>
        </p:nvSpPr>
        <p:spPr>
          <a:xfrm>
            <a:off x="228600" y="910438"/>
            <a:ext cx="6469249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4" name="rect-002"/>
          <p:cNvSpPr/>
          <p:nvPr/>
        </p:nvSpPr>
        <p:spPr>
          <a:xfrm>
            <a:off x="228600" y="12344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-003: Ara = 1  ·  2 lanes / VLEN 2048  ·  AXI "/>
          <p:cNvSpPr txBox="1"/>
          <p:nvPr/>
        </p:nvSpPr>
        <p:spPr>
          <a:xfrm>
            <a:off x="365760" y="1313078"/>
            <a:ext cx="794305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6" name="rect-003"/>
          <p:cNvSpPr/>
          <p:nvPr/>
        </p:nvSpPr>
        <p:spPr>
          <a:xfrm>
            <a:off x="4000500" y="1752600"/>
            <a:ext cx="4191000" cy="569976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-004: i_axi_xbar · 7 × 5 · 全连接"/>
          <p:cNvSpPr txBox="1"/>
          <p:nvPr/>
        </p:nvSpPr>
        <p:spPr>
          <a:xfrm>
            <a:off x="4183380" y="1813560"/>
            <a:ext cx="2581704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8" name="text-005: 发起者 / AXI master"/>
          <p:cNvSpPr txBox="1"/>
          <p:nvPr/>
        </p:nvSpPr>
        <p:spPr>
          <a:xfrm>
            <a:off x="266700" y="1752600"/>
            <a:ext cx="202361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9" name="text-006: 入端局部适配"/>
          <p:cNvSpPr txBox="1"/>
          <p:nvPr/>
        </p:nvSpPr>
        <p:spPr>
          <a:xfrm>
            <a:off x="2324100" y="1801978"/>
            <a:ext cx="101346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0" name="text-007: 目标 / AXI slave 与下游"/>
          <p:cNvSpPr txBox="1"/>
          <p:nvPr/>
        </p:nvSpPr>
        <p:spPr>
          <a:xfrm>
            <a:off x="8610600" y="1752600"/>
            <a:ext cx="227977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1" name="path-001"/>
          <p:cNvSpPr/>
          <p:nvPr/>
        </p:nvSpPr>
        <p:spPr>
          <a:xfrm>
            <a:off x="5143500" y="2400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ath-002"/>
          <p:cNvSpPr/>
          <p:nvPr/>
        </p:nvSpPr>
        <p:spPr>
          <a:xfrm>
            <a:off x="5143500" y="2400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ath-003"/>
          <p:cNvSpPr/>
          <p:nvPr/>
        </p:nvSpPr>
        <p:spPr>
          <a:xfrm>
            <a:off x="5143500" y="2400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th-004"/>
          <p:cNvSpPr/>
          <p:nvPr/>
        </p:nvSpPr>
        <p:spPr>
          <a:xfrm>
            <a:off x="5143500" y="2400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th-005"/>
          <p:cNvSpPr/>
          <p:nvPr/>
        </p:nvSpPr>
        <p:spPr>
          <a:xfrm>
            <a:off x="5143500" y="2400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ath-006"/>
          <p:cNvSpPr/>
          <p:nvPr/>
        </p:nvSpPr>
        <p:spPr>
          <a:xfrm>
            <a:off x="5143500" y="2400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th-007"/>
          <p:cNvSpPr/>
          <p:nvPr/>
        </p:nvSpPr>
        <p:spPr>
          <a:xfrm>
            <a:off x="5143500" y="3162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th-008"/>
          <p:cNvSpPr/>
          <p:nvPr/>
        </p:nvSpPr>
        <p:spPr>
          <a:xfrm>
            <a:off x="5143500" y="3162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th-009"/>
          <p:cNvSpPr/>
          <p:nvPr/>
        </p:nvSpPr>
        <p:spPr>
          <a:xfrm>
            <a:off x="5143500" y="3162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th-010"/>
          <p:cNvSpPr/>
          <p:nvPr/>
        </p:nvSpPr>
        <p:spPr>
          <a:xfrm>
            <a:off x="5143500" y="3162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ath-011"/>
          <p:cNvSpPr/>
          <p:nvPr/>
        </p:nvSpPr>
        <p:spPr>
          <a:xfrm>
            <a:off x="5143500" y="2400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th-012"/>
          <p:cNvSpPr/>
          <p:nvPr/>
        </p:nvSpPr>
        <p:spPr>
          <a:xfrm>
            <a:off x="5143500" y="3390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ath-013"/>
          <p:cNvSpPr/>
          <p:nvPr/>
        </p:nvSpPr>
        <p:spPr>
          <a:xfrm>
            <a:off x="5143500" y="3924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ath-014"/>
          <p:cNvSpPr/>
          <p:nvPr/>
        </p:nvSpPr>
        <p:spPr>
          <a:xfrm>
            <a:off x="5143500" y="3924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th-015"/>
          <p:cNvSpPr/>
          <p:nvPr/>
        </p:nvSpPr>
        <p:spPr>
          <a:xfrm>
            <a:off x="5143500" y="3924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th-016"/>
          <p:cNvSpPr/>
          <p:nvPr/>
        </p:nvSpPr>
        <p:spPr>
          <a:xfrm>
            <a:off x="5143500" y="2400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ath-017"/>
          <p:cNvSpPr/>
          <p:nvPr/>
        </p:nvSpPr>
        <p:spPr>
          <a:xfrm>
            <a:off x="5143500" y="3390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ath-018"/>
          <p:cNvSpPr/>
          <p:nvPr/>
        </p:nvSpPr>
        <p:spPr>
          <a:xfrm>
            <a:off x="5143500" y="4686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ath-019"/>
          <p:cNvSpPr/>
          <p:nvPr/>
        </p:nvSpPr>
        <p:spPr>
          <a:xfrm>
            <a:off x="5143500" y="4686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ath-020"/>
          <p:cNvSpPr/>
          <p:nvPr/>
        </p:nvSpPr>
        <p:spPr>
          <a:xfrm>
            <a:off x="5143500" y="4686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ath-021"/>
          <p:cNvSpPr/>
          <p:nvPr/>
        </p:nvSpPr>
        <p:spPr>
          <a:xfrm>
            <a:off x="5143500" y="2400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ath-022"/>
          <p:cNvSpPr/>
          <p:nvPr/>
        </p:nvSpPr>
        <p:spPr>
          <a:xfrm>
            <a:off x="5143500" y="3390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ath-023"/>
          <p:cNvSpPr/>
          <p:nvPr/>
        </p:nvSpPr>
        <p:spPr>
          <a:xfrm>
            <a:off x="5143500" y="4762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ath-024"/>
          <p:cNvSpPr/>
          <p:nvPr/>
        </p:nvSpPr>
        <p:spPr>
          <a:xfrm>
            <a:off x="5143500" y="5448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ath-025"/>
          <p:cNvSpPr/>
          <p:nvPr/>
        </p:nvSpPr>
        <p:spPr>
          <a:xfrm>
            <a:off x="5143500" y="5448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th-026"/>
          <p:cNvSpPr/>
          <p:nvPr/>
        </p:nvSpPr>
        <p:spPr>
          <a:xfrm>
            <a:off x="5143500" y="2400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ath-027"/>
          <p:cNvSpPr/>
          <p:nvPr/>
        </p:nvSpPr>
        <p:spPr>
          <a:xfrm>
            <a:off x="5143500" y="3390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ath-028"/>
          <p:cNvSpPr/>
          <p:nvPr/>
        </p:nvSpPr>
        <p:spPr>
          <a:xfrm>
            <a:off x="5143500" y="4762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ath-029"/>
          <p:cNvSpPr/>
          <p:nvPr/>
        </p:nvSpPr>
        <p:spPr>
          <a:xfrm>
            <a:off x="5143500" y="6057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ath-030"/>
          <p:cNvSpPr/>
          <p:nvPr/>
        </p:nvSpPr>
        <p:spPr>
          <a:xfrm>
            <a:off x="5143500" y="6210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path-031"/>
          <p:cNvSpPr/>
          <p:nvPr/>
        </p:nvSpPr>
        <p:spPr>
          <a:xfrm>
            <a:off x="5143500" y="2400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ath-032"/>
          <p:cNvSpPr/>
          <p:nvPr/>
        </p:nvSpPr>
        <p:spPr>
          <a:xfrm>
            <a:off x="5143500" y="3390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path-033"/>
          <p:cNvSpPr/>
          <p:nvPr/>
        </p:nvSpPr>
        <p:spPr>
          <a:xfrm>
            <a:off x="5143500" y="4762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th-034"/>
          <p:cNvSpPr/>
          <p:nvPr/>
        </p:nvSpPr>
        <p:spPr>
          <a:xfrm>
            <a:off x="5143500" y="6057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th-035"/>
          <p:cNvSpPr/>
          <p:nvPr/>
        </p:nvSpPr>
        <p:spPr>
          <a:xfrm>
            <a:off x="5143500" y="6972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path-036"/>
          <p:cNvSpPr/>
          <p:nvPr/>
        </p:nvSpPr>
        <p:spPr>
          <a:xfrm>
            <a:off x="5143500" y="2400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 cap="flat">
            <a:solidFill>
              <a:srgbClr val="C66A2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ath-037"/>
          <p:cNvSpPr/>
          <p:nvPr/>
        </p:nvSpPr>
        <p:spPr>
          <a:xfrm>
            <a:off x="5143500" y="3924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 cap="flat">
            <a:solidFill>
              <a:srgbClr val="2774C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04"/>
          <p:cNvSpPr/>
          <p:nvPr/>
        </p:nvSpPr>
        <p:spPr>
          <a:xfrm>
            <a:off x="228600" y="2156460"/>
            <a:ext cx="1600200" cy="4876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08: S0 · CVA6 core 0"/>
          <p:cNvSpPr txBox="1"/>
          <p:nvPr/>
        </p:nvSpPr>
        <p:spPr>
          <a:xfrm>
            <a:off x="350520" y="2280818"/>
            <a:ext cx="141146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0" name="rect-005"/>
          <p:cNvSpPr/>
          <p:nvPr/>
        </p:nvSpPr>
        <p:spPr>
          <a:xfrm>
            <a:off x="2042160" y="2164080"/>
            <a:ext cx="1790700" cy="47244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09: cheshire_cva6_wrap"/>
          <p:cNvSpPr txBox="1"/>
          <p:nvPr/>
        </p:nvSpPr>
        <p:spPr>
          <a:xfrm>
            <a:off x="2133600" y="2280818"/>
            <a:ext cx="1659386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2" name="line-001"/>
          <p:cNvCxnSpPr/>
          <p:nvPr/>
        </p:nvCxnSpPr>
        <p:spPr>
          <a:xfrm>
            <a:off x="1828800" y="2400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53" name="line-002"/>
          <p:cNvCxnSpPr/>
          <p:nvPr/>
        </p:nvCxnSpPr>
        <p:spPr>
          <a:xfrm>
            <a:off x="3832860" y="2400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54" name="rect-006"/>
          <p:cNvSpPr/>
          <p:nvPr/>
        </p:nvSpPr>
        <p:spPr>
          <a:xfrm>
            <a:off x="4191000" y="2179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10: AR/AW 译码"/>
          <p:cNvSpPr txBox="1"/>
          <p:nvPr/>
        </p:nvSpPr>
        <p:spPr>
          <a:xfrm>
            <a:off x="4267200" y="2229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56" name="text-011: DEMUX S0"/>
          <p:cNvSpPr txBox="1"/>
          <p:nvPr/>
        </p:nvSpPr>
        <p:spPr>
          <a:xfrm>
            <a:off x="4267200" y="2412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57" name="rect-007"/>
          <p:cNvSpPr/>
          <p:nvPr/>
        </p:nvSpPr>
        <p:spPr>
          <a:xfrm>
            <a:off x="228600" y="2918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-012: S1 · Debug / SBA"/>
          <p:cNvSpPr txBox="1"/>
          <p:nvPr/>
        </p:nvSpPr>
        <p:spPr>
          <a:xfrm>
            <a:off x="350520" y="3042818"/>
            <a:ext cx="146373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59" name="line-003"/>
          <p:cNvCxnSpPr/>
          <p:nvPr/>
        </p:nvCxnSpPr>
        <p:spPr>
          <a:xfrm>
            <a:off x="1828800" y="3162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60" name="rect-008"/>
          <p:cNvSpPr/>
          <p:nvPr/>
        </p:nvSpPr>
        <p:spPr>
          <a:xfrm>
            <a:off x="4191000" y="2941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-013: AR/AW 译码"/>
          <p:cNvSpPr txBox="1"/>
          <p:nvPr/>
        </p:nvSpPr>
        <p:spPr>
          <a:xfrm>
            <a:off x="4267200" y="2991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2" name="text-014: DEMUX S1"/>
          <p:cNvSpPr txBox="1"/>
          <p:nvPr/>
        </p:nvSpPr>
        <p:spPr>
          <a:xfrm>
            <a:off x="4267200" y="3174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3" name="rect-009"/>
          <p:cNvSpPr/>
          <p:nvPr/>
        </p:nvSpPr>
        <p:spPr>
          <a:xfrm>
            <a:off x="228600" y="3680460"/>
            <a:ext cx="1600200" cy="48768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-015: S2 · Ara 访存"/>
          <p:cNvSpPr txBox="1"/>
          <p:nvPr/>
        </p:nvSpPr>
        <p:spPr>
          <a:xfrm>
            <a:off x="350520" y="3804818"/>
            <a:ext cx="1108984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65" name="rect-010"/>
          <p:cNvSpPr/>
          <p:nvPr/>
        </p:nvSpPr>
        <p:spPr>
          <a:xfrm>
            <a:off x="2042160" y="3596640"/>
            <a:ext cx="1790700" cy="65532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-016: inval filter → 位宽适配"/>
          <p:cNvSpPr txBox="1"/>
          <p:nvPr/>
        </p:nvSpPr>
        <p:spPr>
          <a:xfrm>
            <a:off x="2148840" y="3661258"/>
            <a:ext cx="1634073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67" name="text-017: 本配置：64 → 64 bit"/>
          <p:cNvSpPr txBox="1"/>
          <p:nvPr/>
        </p:nvSpPr>
        <p:spPr>
          <a:xfrm>
            <a:off x="2148840" y="3859378"/>
            <a:ext cx="152173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68" name="text-018: 另接 CVA6 指令/MMU 接口"/>
          <p:cNvSpPr txBox="1"/>
          <p:nvPr/>
        </p:nvSpPr>
        <p:spPr>
          <a:xfrm>
            <a:off x="2148840" y="4043477"/>
            <a:ext cx="1760339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69" name="line-004"/>
          <p:cNvCxnSpPr/>
          <p:nvPr/>
        </p:nvCxnSpPr>
        <p:spPr>
          <a:xfrm>
            <a:off x="1828800" y="3924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70" name="line-005"/>
          <p:cNvCxnSpPr/>
          <p:nvPr/>
        </p:nvCxnSpPr>
        <p:spPr>
          <a:xfrm>
            <a:off x="3832860" y="3924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71" name="rect-011"/>
          <p:cNvSpPr/>
          <p:nvPr/>
        </p:nvSpPr>
        <p:spPr>
          <a:xfrm>
            <a:off x="4191000" y="3703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-019: AR/AW 译码"/>
          <p:cNvSpPr txBox="1"/>
          <p:nvPr/>
        </p:nvSpPr>
        <p:spPr>
          <a:xfrm>
            <a:off x="4267200" y="3753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73" name="text-020: DEMUX S2"/>
          <p:cNvSpPr txBox="1"/>
          <p:nvPr/>
        </p:nvSpPr>
        <p:spPr>
          <a:xfrm>
            <a:off x="4267200" y="3936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74" name="rect-012"/>
          <p:cNvSpPr/>
          <p:nvPr/>
        </p:nvSpPr>
        <p:spPr>
          <a:xfrm>
            <a:off x="228600" y="4442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-021: S3 · iDMA 数据"/>
          <p:cNvSpPr txBox="1"/>
          <p:nvPr/>
        </p:nvSpPr>
        <p:spPr>
          <a:xfrm>
            <a:off x="350520" y="4566818"/>
            <a:ext cx="128026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76" name="line-006"/>
          <p:cNvCxnSpPr/>
          <p:nvPr/>
        </p:nvCxnSpPr>
        <p:spPr>
          <a:xfrm>
            <a:off x="1828800" y="4686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77" name="rect-013"/>
          <p:cNvSpPr/>
          <p:nvPr/>
        </p:nvSpPr>
        <p:spPr>
          <a:xfrm>
            <a:off x="4191000" y="4465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-022: AR/AW 译码"/>
          <p:cNvSpPr txBox="1"/>
          <p:nvPr/>
        </p:nvSpPr>
        <p:spPr>
          <a:xfrm>
            <a:off x="4267200" y="4515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79" name="text-023: DEMUX S3"/>
          <p:cNvSpPr txBox="1"/>
          <p:nvPr/>
        </p:nvSpPr>
        <p:spPr>
          <a:xfrm>
            <a:off x="4267200" y="4698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0" name="rect-014"/>
          <p:cNvSpPr/>
          <p:nvPr/>
        </p:nvSpPr>
        <p:spPr>
          <a:xfrm>
            <a:off x="228600" y="5204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-024: S4 · Serial Link RX"/>
          <p:cNvSpPr txBox="1"/>
          <p:nvPr/>
        </p:nvSpPr>
        <p:spPr>
          <a:xfrm>
            <a:off x="350520" y="5328818"/>
            <a:ext cx="151014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82" name="line-007"/>
          <p:cNvCxnSpPr/>
          <p:nvPr/>
        </p:nvCxnSpPr>
        <p:spPr>
          <a:xfrm>
            <a:off x="1828800" y="5448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83" name="rect-015"/>
          <p:cNvSpPr/>
          <p:nvPr/>
        </p:nvSpPr>
        <p:spPr>
          <a:xfrm>
            <a:off x="4191000" y="5227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-025: AR/AW 译码"/>
          <p:cNvSpPr txBox="1"/>
          <p:nvPr/>
        </p:nvSpPr>
        <p:spPr>
          <a:xfrm>
            <a:off x="4267200" y="5277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5" name="text-026: DEMUX S4"/>
          <p:cNvSpPr txBox="1"/>
          <p:nvPr/>
        </p:nvSpPr>
        <p:spPr>
          <a:xfrm>
            <a:off x="4267200" y="5460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86" name="rect-016"/>
          <p:cNvSpPr/>
          <p:nvPr/>
        </p:nvSpPr>
        <p:spPr>
          <a:xfrm>
            <a:off x="228600" y="5966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-027: S5 · VGA 取帧"/>
          <p:cNvSpPr txBox="1"/>
          <p:nvPr/>
        </p:nvSpPr>
        <p:spPr>
          <a:xfrm>
            <a:off x="350520" y="6090818"/>
            <a:ext cx="118305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88" name="line-008"/>
          <p:cNvCxnSpPr/>
          <p:nvPr/>
        </p:nvCxnSpPr>
        <p:spPr>
          <a:xfrm>
            <a:off x="1828800" y="6210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89" name="rect-017"/>
          <p:cNvSpPr/>
          <p:nvPr/>
        </p:nvSpPr>
        <p:spPr>
          <a:xfrm>
            <a:off x="4191000" y="5989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-028: AR/AW 译码"/>
          <p:cNvSpPr txBox="1"/>
          <p:nvPr/>
        </p:nvSpPr>
        <p:spPr>
          <a:xfrm>
            <a:off x="4267200" y="6039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1" name="text-029: DEMUX S5"/>
          <p:cNvSpPr txBox="1"/>
          <p:nvPr/>
        </p:nvSpPr>
        <p:spPr>
          <a:xfrm>
            <a:off x="4267200" y="6222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92" name="rect-018"/>
          <p:cNvSpPr/>
          <p:nvPr/>
        </p:nvSpPr>
        <p:spPr>
          <a:xfrm>
            <a:off x="228600" y="6728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-030: S6 · USB DMA"/>
          <p:cNvSpPr txBox="1"/>
          <p:nvPr/>
        </p:nvSpPr>
        <p:spPr>
          <a:xfrm>
            <a:off x="350520" y="6852818"/>
            <a:ext cx="122986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94" name="line-009"/>
          <p:cNvCxnSpPr/>
          <p:nvPr/>
        </p:nvCxnSpPr>
        <p:spPr>
          <a:xfrm>
            <a:off x="1828800" y="6972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95" name="rect-019"/>
          <p:cNvSpPr/>
          <p:nvPr/>
        </p:nvSpPr>
        <p:spPr>
          <a:xfrm>
            <a:off x="4191000" y="6751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-031: AR/AW 译码"/>
          <p:cNvSpPr txBox="1"/>
          <p:nvPr/>
        </p:nvSpPr>
        <p:spPr>
          <a:xfrm>
            <a:off x="4267200" y="6801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7" name="text-032: DEMUX S6"/>
          <p:cNvSpPr txBox="1"/>
          <p:nvPr/>
        </p:nvSpPr>
        <p:spPr>
          <a:xfrm>
            <a:off x="4267200" y="6984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98" name="text-033: 图中省略部分局部缓冲/适配"/>
          <p:cNvSpPr txBox="1"/>
          <p:nvPr/>
        </p:nvSpPr>
        <p:spPr>
          <a:xfrm>
            <a:off x="2095500" y="2679497"/>
            <a:ext cx="1739360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99" name="text-034: 灰线 = 可达路径；彩线 = 请求示例"/>
          <p:cNvSpPr txBox="1"/>
          <p:nvPr/>
        </p:nvSpPr>
        <p:spPr>
          <a:xfrm>
            <a:off x="5349240" y="7213397"/>
            <a:ext cx="2159032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00" name="rect-020"/>
          <p:cNvSpPr/>
          <p:nvPr/>
        </p:nvSpPr>
        <p:spPr>
          <a:xfrm>
            <a:off x="7048500" y="2156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-035: MUX M0"/>
          <p:cNvSpPr txBox="1"/>
          <p:nvPr/>
        </p:nvSpPr>
        <p:spPr>
          <a:xfrm>
            <a:off x="7193280" y="21905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02" name="text-036: 独立仲裁"/>
          <p:cNvSpPr txBox="1"/>
          <p:nvPr/>
        </p:nvSpPr>
        <p:spPr>
          <a:xfrm>
            <a:off x="7162800" y="23887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3" name="line-010"/>
          <p:cNvCxnSpPr/>
          <p:nvPr/>
        </p:nvCxnSpPr>
        <p:spPr>
          <a:xfrm>
            <a:off x="8001000" y="2400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04" name="rect-021"/>
          <p:cNvSpPr/>
          <p:nvPr/>
        </p:nvSpPr>
        <p:spPr>
          <a:xfrm>
            <a:off x="7048500" y="3147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-037: MUX M1"/>
          <p:cNvSpPr txBox="1"/>
          <p:nvPr/>
        </p:nvSpPr>
        <p:spPr>
          <a:xfrm>
            <a:off x="7193280" y="31811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06" name="text-038: 独立仲裁"/>
          <p:cNvSpPr txBox="1"/>
          <p:nvPr/>
        </p:nvSpPr>
        <p:spPr>
          <a:xfrm>
            <a:off x="7162800" y="33793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7" name="line-011"/>
          <p:cNvCxnSpPr/>
          <p:nvPr/>
        </p:nvCxnSpPr>
        <p:spPr>
          <a:xfrm>
            <a:off x="8001000" y="3390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08" name="rect-022"/>
          <p:cNvSpPr/>
          <p:nvPr/>
        </p:nvSpPr>
        <p:spPr>
          <a:xfrm>
            <a:off x="7048500" y="45186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-039: MUX M2"/>
          <p:cNvSpPr txBox="1"/>
          <p:nvPr/>
        </p:nvSpPr>
        <p:spPr>
          <a:xfrm>
            <a:off x="7193280" y="45527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10" name="text-040: 独立仲裁"/>
          <p:cNvSpPr txBox="1"/>
          <p:nvPr/>
        </p:nvSpPr>
        <p:spPr>
          <a:xfrm>
            <a:off x="7162800" y="47509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1" name="line-012"/>
          <p:cNvCxnSpPr/>
          <p:nvPr/>
        </p:nvCxnSpPr>
        <p:spPr>
          <a:xfrm>
            <a:off x="8001000" y="47625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12" name="rect-023"/>
          <p:cNvSpPr/>
          <p:nvPr/>
        </p:nvSpPr>
        <p:spPr>
          <a:xfrm>
            <a:off x="7048500" y="5814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-041: MUX M3"/>
          <p:cNvSpPr txBox="1"/>
          <p:nvPr/>
        </p:nvSpPr>
        <p:spPr>
          <a:xfrm>
            <a:off x="7193280" y="58481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14" name="text-042: 独立仲裁"/>
          <p:cNvSpPr txBox="1"/>
          <p:nvPr/>
        </p:nvSpPr>
        <p:spPr>
          <a:xfrm>
            <a:off x="7162800" y="60463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3"/>
          <p:cNvCxnSpPr/>
          <p:nvPr/>
        </p:nvCxnSpPr>
        <p:spPr>
          <a:xfrm>
            <a:off x="8001000" y="6057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16" name="rect-024"/>
          <p:cNvSpPr/>
          <p:nvPr/>
        </p:nvSpPr>
        <p:spPr>
          <a:xfrm>
            <a:off x="7048500" y="6728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-043: MUX M4"/>
          <p:cNvSpPr txBox="1"/>
          <p:nvPr/>
        </p:nvSpPr>
        <p:spPr>
          <a:xfrm>
            <a:off x="7193280" y="67625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18" name="text-044: 独立仲裁"/>
          <p:cNvSpPr txBox="1"/>
          <p:nvPr/>
        </p:nvSpPr>
        <p:spPr>
          <a:xfrm>
            <a:off x="7162800" y="69607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9" name="line-014"/>
          <p:cNvCxnSpPr/>
          <p:nvPr/>
        </p:nvCxnSpPr>
        <p:spPr>
          <a:xfrm>
            <a:off x="8001000" y="6972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20" name="rect-025"/>
          <p:cNvSpPr/>
          <p:nvPr/>
        </p:nvSpPr>
        <p:spPr>
          <a:xfrm>
            <a:off x="8534400" y="21564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-045: M0 · Debug 目标接口"/>
          <p:cNvSpPr txBox="1"/>
          <p:nvPr/>
        </p:nvSpPr>
        <p:spPr>
          <a:xfrm>
            <a:off x="8671560" y="2156460"/>
            <a:ext cx="2158389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22" name="text-046: 调试模块地址空间（与 SBA 发起端分开）"/>
          <p:cNvSpPr txBox="1"/>
          <p:nvPr/>
        </p:nvSpPr>
        <p:spPr>
          <a:xfrm>
            <a:off x="8671560" y="2397557"/>
            <a:ext cx="2526018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23" name="rect-026"/>
          <p:cNvSpPr/>
          <p:nvPr/>
        </p:nvSpPr>
        <p:spPr>
          <a:xfrm>
            <a:off x="8534400" y="2910840"/>
            <a:ext cx="4038600" cy="96012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-047: M1 · AXI → Regbus → Reg demux"/>
          <p:cNvSpPr txBox="1"/>
          <p:nvPr/>
        </p:nvSpPr>
        <p:spPr>
          <a:xfrm>
            <a:off x="8671560" y="2941320"/>
            <a:ext cx="3440668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25" name="text-048: Boot ROM / CLINT / PLIC / SoC regs"/>
          <p:cNvSpPr txBox="1"/>
          <p:nvPr/>
        </p:nvSpPr>
        <p:spPr>
          <a:xfrm>
            <a:off x="8671560" y="3202838"/>
            <a:ext cx="291625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26" name="text-049: UART / I²C / SPI / GPIO / LLC 控制等"/>
          <p:cNvSpPr txBox="1"/>
          <p:nvPr/>
        </p:nvSpPr>
        <p:spPr>
          <a:xfrm>
            <a:off x="8671560" y="3431438"/>
            <a:ext cx="287562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27" name="rect-027"/>
          <p:cNvSpPr/>
          <p:nvPr/>
        </p:nvSpPr>
        <p:spPr>
          <a:xfrm>
            <a:off x="8534400" y="4091940"/>
            <a:ext cx="4038600" cy="150876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-050: M2 · LLC / SPM 共用一个目标端口"/>
          <p:cNvSpPr txBox="1"/>
          <p:nvPr/>
        </p:nvSpPr>
        <p:spPr>
          <a:xfrm>
            <a:off x="8671560" y="4145280"/>
            <a:ext cx="325238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29" name="text-051: AMO/LRSC 适配 → cut / 地址重映射 → LLC"/>
          <p:cNvSpPr txBox="1"/>
          <p:nvPr/>
        </p:nvSpPr>
        <p:spPr>
          <a:xfrm>
            <a:off x="8671560" y="4438498"/>
            <a:ext cx="30380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30" name="text-052: SPM：128 KiB，含 cached / uncached 别名"/>
          <p:cNvSpPr txBox="1"/>
          <p:nvPr/>
        </p:nvSpPr>
        <p:spPr>
          <a:xfrm>
            <a:off x="8671560" y="4667098"/>
            <a:ext cx="309098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31" name="text-053: 外存窗口：0x8000_0000 ≤ addr &lt; 0x1_0000_0000"/>
          <p:cNvSpPr txBox="1"/>
          <p:nvPr/>
        </p:nvSpPr>
        <p:spPr>
          <a:xfrm>
            <a:off x="8671560" y="4912157"/>
            <a:ext cx="3158264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32" name="text-054: LLC 下游 AXI 端口 → 平台 DDR 控制器"/>
          <p:cNvSpPr txBox="1"/>
          <p:nvPr/>
        </p:nvSpPr>
        <p:spPr>
          <a:xfrm>
            <a:off x="8671560" y="5162398"/>
            <a:ext cx="268575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33" name="text-055: SPM / cache 命中访问可在片内完成"/>
          <p:cNvSpPr txBox="1"/>
          <p:nvPr/>
        </p:nvSpPr>
        <p:spPr>
          <a:xfrm>
            <a:off x="8671560" y="5376977"/>
            <a:ext cx="2230624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34" name="rect-028"/>
          <p:cNvSpPr/>
          <p:nvPr/>
        </p:nvSpPr>
        <p:spPr>
          <a:xfrm>
            <a:off x="8534400" y="58140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-056: M3 · iDMA 控制接口"/>
          <p:cNvSpPr txBox="1"/>
          <p:nvPr/>
        </p:nvSpPr>
        <p:spPr>
          <a:xfrm>
            <a:off x="8671560" y="5821680"/>
            <a:ext cx="206610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36" name="text-057: 0x0100_0000 起；与 DMA 数据发起端分开"/>
          <p:cNvSpPr txBox="1"/>
          <p:nvPr/>
        </p:nvSpPr>
        <p:spPr>
          <a:xfrm>
            <a:off x="8671560" y="6070397"/>
            <a:ext cx="2663678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37" name="rect-029"/>
          <p:cNvSpPr/>
          <p:nvPr/>
        </p:nvSpPr>
        <p:spPr>
          <a:xfrm>
            <a:off x="8534400" y="6697980"/>
            <a:ext cx="4038600" cy="5486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-058: M4 · Serial Link TX 目标窗口"/>
          <p:cNvSpPr txBox="1"/>
          <p:nvPr/>
        </p:nvSpPr>
        <p:spPr>
          <a:xfrm>
            <a:off x="8671560" y="6705600"/>
            <a:ext cx="281267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39" name="text-059: 0x1_0000_0000 ≤ addr &lt; 0x2_0000_0000"/>
          <p:cNvSpPr txBox="1"/>
          <p:nvPr/>
        </p:nvSpPr>
        <p:spPr>
          <a:xfrm>
            <a:off x="8671560" y="6969557"/>
            <a:ext cx="2644592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40" name="rect-030"/>
          <p:cNvSpPr/>
          <p:nvPr/>
        </p:nvSpPr>
        <p:spPr>
          <a:xfrm>
            <a:off x="228600" y="7627620"/>
            <a:ext cx="12344400" cy="1325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-060: 如何读这张图"/>
          <p:cNvSpPr txBox="1"/>
          <p:nvPr/>
        </p:nvSpPr>
        <p:spPr>
          <a:xfrm>
            <a:off x="381000" y="7665720"/>
            <a:ext cx="13335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42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974178"/>
            <a:ext cx="6268379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43" name="text-062: ② 线代表 AXI 通道组：AR/AW/W 向目标，R/B 返回；未映射地址进入"/>
          <p:cNvSpPr txBox="1"/>
          <p:nvPr/>
        </p:nvSpPr>
        <p:spPr>
          <a:xfrm>
            <a:off x="381000" y="8195158"/>
            <a:ext cx="69118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44" name="text-063: ③ 从 Crossbar 看：S 是 slave port（接发起者），M 是 "/>
          <p:cNvSpPr txBox="1"/>
          <p:nvPr/>
        </p:nvSpPr>
        <p:spPr>
          <a:xfrm>
            <a:off x="381000" y="8416138"/>
            <a:ext cx="711278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45" name="text-064: ④ VCU118 当前加源脚本：SerialLink=0、USB=0、Ara=1"/>
          <p:cNvSpPr txBox="1"/>
          <p:nvPr/>
        </p:nvSpPr>
        <p:spPr>
          <a:xfrm>
            <a:off x="381000" y="8637118"/>
            <a:ext cx="695879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1: 参考 DDR Controller V2.1 的多端口接入建议"/>
          <p:cNvSpPr txBox="1"/>
          <p:nvPr/>
        </p:nvSpPr>
        <p:spPr>
          <a:xfrm>
            <a:off x="228600" y="1488034"/>
            <a:ext cx="5640931" cy="4145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3" name="text-002: 工程建议，当前 RTL 尚未集成供应商 IP；Crossbar 原有结构沿用，I"/>
          <p:cNvSpPr txBox="1"/>
          <p:nvPr/>
        </p:nvSpPr>
        <p:spPr>
          <a:xfrm>
            <a:off x="228600" y="1901038"/>
            <a:ext cx="768080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4" name="rect-002"/>
          <p:cNvSpPr/>
          <p:nvPr/>
        </p:nvSpPr>
        <p:spPr>
          <a:xfrm>
            <a:off x="228600" y="22250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-003: SoC → S0  ·  ISP → S1  ·  NPU → S2 ；控制器集"/>
          <p:cNvSpPr txBox="1"/>
          <p:nvPr/>
        </p:nvSpPr>
        <p:spPr>
          <a:xfrm>
            <a:off x="365760" y="2303678"/>
            <a:ext cx="6444139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6" name="rect-003"/>
          <p:cNvSpPr/>
          <p:nvPr/>
        </p:nvSpPr>
        <p:spPr>
          <a:xfrm>
            <a:off x="5905500" y="2758440"/>
            <a:ext cx="5257800" cy="369570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-004: DDR Controller 内部（仅画与接入相关的功能）"/>
          <p:cNvSpPr txBox="1"/>
          <p:nvPr/>
        </p:nvSpPr>
        <p:spPr>
          <a:xfrm>
            <a:off x="6057900" y="2811780"/>
            <a:ext cx="437071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8" name="rect-004"/>
          <p:cNvSpPr/>
          <p:nvPr/>
        </p:nvSpPr>
        <p:spPr>
          <a:xfrm>
            <a:off x="228600" y="3261360"/>
            <a:ext cx="14097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05: CVA6 + Ara"/>
          <p:cNvSpPr txBox="1"/>
          <p:nvPr/>
        </p:nvSpPr>
        <p:spPr>
          <a:xfrm>
            <a:off x="365760" y="3299460"/>
            <a:ext cx="129741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0" name="text-006: 当前 SoC 发起端"/>
          <p:cNvSpPr txBox="1"/>
          <p:nvPr/>
        </p:nvSpPr>
        <p:spPr>
          <a:xfrm>
            <a:off x="365760" y="3571037"/>
            <a:ext cx="1097661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1" name="rect-005"/>
          <p:cNvSpPr/>
          <p:nvPr/>
        </p:nvSpPr>
        <p:spPr>
          <a:xfrm>
            <a:off x="1943100" y="3261360"/>
            <a:ext cx="13716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07: Cheshire"/>
          <p:cNvSpPr txBox="1"/>
          <p:nvPr/>
        </p:nvSpPr>
        <p:spPr>
          <a:xfrm>
            <a:off x="2057400" y="3348838"/>
            <a:ext cx="74297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3" name="text-008: Crossbar"/>
          <p:cNvSpPr txBox="1"/>
          <p:nvPr/>
        </p:nvSpPr>
        <p:spPr>
          <a:xfrm>
            <a:off x="2057400" y="3554578"/>
            <a:ext cx="74666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4" name="rect-006"/>
          <p:cNvSpPr/>
          <p:nvPr/>
        </p:nvSpPr>
        <p:spPr>
          <a:xfrm>
            <a:off x="3619500" y="3162300"/>
            <a:ext cx="2057400" cy="7620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09: 现有原子适配 + LLC"/>
          <p:cNvSpPr txBox="1"/>
          <p:nvPr/>
        </p:nvSpPr>
        <p:spPr>
          <a:xfrm>
            <a:off x="3741420" y="3249778"/>
            <a:ext cx="144693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6" name="text-010: 经 LLC 出口访问外存"/>
          <p:cNvSpPr txBox="1"/>
          <p:nvPr/>
        </p:nvSpPr>
        <p:spPr>
          <a:xfrm>
            <a:off x="3741420" y="3463138"/>
            <a:ext cx="148432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7" name="text-011: SPM 访问仍可在片内完成"/>
          <p:cNvSpPr txBox="1"/>
          <p:nvPr/>
        </p:nvSpPr>
        <p:spPr>
          <a:xfrm>
            <a:off x="3741420" y="3677717"/>
            <a:ext cx="1614309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8" name="line-001"/>
          <p:cNvCxnSpPr/>
          <p:nvPr/>
        </p:nvCxnSpPr>
        <p:spPr>
          <a:xfrm>
            <a:off x="1638300" y="3543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19" name="line-002"/>
          <p:cNvCxnSpPr/>
          <p:nvPr/>
        </p:nvCxnSpPr>
        <p:spPr>
          <a:xfrm>
            <a:off x="3314700" y="3543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20" name="line-003"/>
          <p:cNvCxnSpPr/>
          <p:nvPr/>
        </p:nvCxnSpPr>
        <p:spPr>
          <a:xfrm>
            <a:off x="5676900" y="35433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1" name="rect-007"/>
          <p:cNvSpPr/>
          <p:nvPr/>
        </p:nvSpPr>
        <p:spPr>
          <a:xfrm>
            <a:off x="228600" y="4366260"/>
            <a:ext cx="2743200" cy="6400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12: ISP 数据 AXI Master"/>
          <p:cNvSpPr txBox="1"/>
          <p:nvPr/>
        </p:nvSpPr>
        <p:spPr>
          <a:xfrm>
            <a:off x="365760" y="4427220"/>
            <a:ext cx="205560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3" name="text-013: 写帧缓存，绕过 Crossbar / LLC"/>
          <p:cNvSpPr txBox="1"/>
          <p:nvPr/>
        </p:nvSpPr>
        <p:spPr>
          <a:xfrm>
            <a:off x="365760" y="4705198"/>
            <a:ext cx="219090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4" name="line-004"/>
          <p:cNvCxnSpPr/>
          <p:nvPr/>
        </p:nvCxnSpPr>
        <p:spPr>
          <a:xfrm>
            <a:off x="2971800" y="46863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5" name="rect-008"/>
          <p:cNvSpPr/>
          <p:nvPr/>
        </p:nvSpPr>
        <p:spPr>
          <a:xfrm>
            <a:off x="228600" y="5509260"/>
            <a:ext cx="2743200" cy="640080"/>
          </a:xfrm>
          <a:prstGeom prst="rect">
            <a:avLst/>
          </a:prstGeom>
          <a:solidFill>
            <a:srgbClr val="EDF5EE"/>
          </a:solidFill>
          <a:ln w="15240" cap="flat">
            <a:solidFill>
              <a:srgbClr val="A5C5A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14: NPU 数据 AXI Master"/>
          <p:cNvSpPr txBox="1"/>
          <p:nvPr/>
        </p:nvSpPr>
        <p:spPr>
          <a:xfrm>
            <a:off x="365760" y="5570220"/>
            <a:ext cx="2186571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27" name="text-015: 读写权重 / 特征图，绕过 LLC"/>
          <p:cNvSpPr txBox="1"/>
          <p:nvPr/>
        </p:nvSpPr>
        <p:spPr>
          <a:xfrm>
            <a:off x="365760" y="5848198"/>
            <a:ext cx="202336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28" name="line-005"/>
          <p:cNvCxnSpPr/>
          <p:nvPr/>
        </p:nvCxnSpPr>
        <p:spPr>
          <a:xfrm>
            <a:off x="2971800" y="58293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9" name="rect-009"/>
          <p:cNvSpPr/>
          <p:nvPr/>
        </p:nvSpPr>
        <p:spPr>
          <a:xfrm>
            <a:off x="6057900" y="3200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16: AXI S0"/>
          <p:cNvSpPr txBox="1"/>
          <p:nvPr/>
        </p:nvSpPr>
        <p:spPr>
          <a:xfrm>
            <a:off x="6172200" y="3261360"/>
            <a:ext cx="81985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1" name="text-017: SoC 外存流量"/>
          <p:cNvSpPr txBox="1"/>
          <p:nvPr/>
        </p:nvSpPr>
        <p:spPr>
          <a:xfrm>
            <a:off x="6172200" y="3578657"/>
            <a:ext cx="9297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2" name="line-006"/>
          <p:cNvCxnSpPr/>
          <p:nvPr/>
        </p:nvCxnSpPr>
        <p:spPr>
          <a:xfrm>
            <a:off x="7124700" y="3543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33" name="rect-010"/>
          <p:cNvSpPr/>
          <p:nvPr/>
        </p:nvSpPr>
        <p:spPr>
          <a:xfrm>
            <a:off x="6057900" y="4343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18: AXI S1"/>
          <p:cNvSpPr txBox="1"/>
          <p:nvPr/>
        </p:nvSpPr>
        <p:spPr>
          <a:xfrm>
            <a:off x="6172200" y="4404360"/>
            <a:ext cx="81985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35" name="text-019: ISP 写入"/>
          <p:cNvSpPr txBox="1"/>
          <p:nvPr/>
        </p:nvSpPr>
        <p:spPr>
          <a:xfrm>
            <a:off x="6172200" y="4721657"/>
            <a:ext cx="619042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36" name="line-007"/>
          <p:cNvCxnSpPr/>
          <p:nvPr/>
        </p:nvCxnSpPr>
        <p:spPr>
          <a:xfrm>
            <a:off x="7124700" y="4686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37" name="rect-011"/>
          <p:cNvSpPr/>
          <p:nvPr/>
        </p:nvSpPr>
        <p:spPr>
          <a:xfrm>
            <a:off x="6057900" y="5486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20: AXI S2"/>
          <p:cNvSpPr txBox="1"/>
          <p:nvPr/>
        </p:nvSpPr>
        <p:spPr>
          <a:xfrm>
            <a:off x="6172200" y="5547360"/>
            <a:ext cx="81985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39" name="text-021: NPU 读 / 写"/>
          <p:cNvSpPr txBox="1"/>
          <p:nvPr/>
        </p:nvSpPr>
        <p:spPr>
          <a:xfrm>
            <a:off x="6172200" y="5864657"/>
            <a:ext cx="840224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0" name="line-008"/>
          <p:cNvCxnSpPr/>
          <p:nvPr/>
        </p:nvCxnSpPr>
        <p:spPr>
          <a:xfrm>
            <a:off x="7124700" y="5829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41" name="rect-012"/>
          <p:cNvSpPr/>
          <p:nvPr/>
        </p:nvSpPr>
        <p:spPr>
          <a:xfrm>
            <a:off x="7429500" y="3200400"/>
            <a:ext cx="1524000" cy="2971800"/>
          </a:xfrm>
          <a:prstGeom prst="rect">
            <a:avLst/>
          </a:prstGeom>
          <a:solidFill>
            <a:srgbClr val="F9F5FF"/>
          </a:solidFill>
          <a:ln w="15240" cap="flat">
            <a:solidFill>
              <a:srgbClr val="B9A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22: 内部 Arbiter"/>
          <p:cNvSpPr txBox="1"/>
          <p:nvPr/>
        </p:nvSpPr>
        <p:spPr>
          <a:xfrm>
            <a:off x="7574280" y="3566160"/>
            <a:ext cx="1305127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43" name="text-023: 可配置优先级"/>
          <p:cNvSpPr txBox="1"/>
          <p:nvPr/>
        </p:nvSpPr>
        <p:spPr>
          <a:xfrm>
            <a:off x="7574280" y="3950818"/>
            <a:ext cx="101346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44" name="text-024: 轮询 / QoS"/>
          <p:cNvSpPr txBox="1"/>
          <p:nvPr/>
        </p:nvSpPr>
        <p:spPr>
          <a:xfrm>
            <a:off x="7574280" y="4217518"/>
            <a:ext cx="875467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45" name="text-025: 页命中限制"/>
          <p:cNvSpPr txBox="1"/>
          <p:nvPr/>
        </p:nvSpPr>
        <p:spPr>
          <a:xfrm>
            <a:off x="7574280" y="4796638"/>
            <a:ext cx="86868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46" name="text-026: 端口请求仲裁"/>
          <p:cNvSpPr txBox="1"/>
          <p:nvPr/>
        </p:nvSpPr>
        <p:spPr>
          <a:xfrm>
            <a:off x="7574280" y="5117897"/>
            <a:ext cx="906780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47" name="line-009"/>
          <p:cNvCxnSpPr/>
          <p:nvPr/>
        </p:nvCxnSpPr>
        <p:spPr>
          <a:xfrm>
            <a:off x="8953500" y="4686300"/>
            <a:ext cx="2667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48" name="rect-013"/>
          <p:cNvSpPr/>
          <p:nvPr/>
        </p:nvSpPr>
        <p:spPr>
          <a:xfrm>
            <a:off x="9220200" y="4000500"/>
            <a:ext cx="1752600" cy="14478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27: Controller Core"/>
          <p:cNvSpPr txBox="1"/>
          <p:nvPr/>
        </p:nvSpPr>
        <p:spPr>
          <a:xfrm>
            <a:off x="9349740" y="4133698"/>
            <a:ext cx="1203686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50" name="text-028: 内部命令队列"/>
          <p:cNvSpPr txBox="1"/>
          <p:nvPr/>
        </p:nvSpPr>
        <p:spPr>
          <a:xfrm>
            <a:off x="9349740" y="4422038"/>
            <a:ext cx="11201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51" name="text-029: FR-FCFS 调度"/>
          <p:cNvSpPr txBox="1"/>
          <p:nvPr/>
        </p:nvSpPr>
        <p:spPr>
          <a:xfrm>
            <a:off x="9349740" y="4773778"/>
            <a:ext cx="104342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52" name="text-030: 遵守 DRAM 时序"/>
          <p:cNvSpPr txBox="1"/>
          <p:nvPr/>
        </p:nvSpPr>
        <p:spPr>
          <a:xfrm>
            <a:off x="9349740" y="5086198"/>
            <a:ext cx="125770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53" name="line-010"/>
          <p:cNvCxnSpPr/>
          <p:nvPr/>
        </p:nvCxnSpPr>
        <p:spPr>
          <a:xfrm>
            <a:off x="10972800" y="46863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54" name="rect-014"/>
          <p:cNvSpPr/>
          <p:nvPr/>
        </p:nvSpPr>
        <p:spPr>
          <a:xfrm>
            <a:off x="11353800" y="4373880"/>
            <a:ext cx="1219200" cy="6248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31: PHY"/>
          <p:cNvSpPr txBox="1"/>
          <p:nvPr/>
        </p:nvSpPr>
        <p:spPr>
          <a:xfrm>
            <a:off x="11506200" y="4427220"/>
            <a:ext cx="595694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56" name="text-032: + SDRAM"/>
          <p:cNvSpPr txBox="1"/>
          <p:nvPr/>
        </p:nvSpPr>
        <p:spPr>
          <a:xfrm>
            <a:off x="11506200" y="4697578"/>
            <a:ext cx="826687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57" name="rect-015"/>
          <p:cNvSpPr/>
          <p:nvPr/>
        </p:nvSpPr>
        <p:spPr>
          <a:xfrm>
            <a:off x="228600" y="6675120"/>
            <a:ext cx="12344400" cy="12801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-033: 依据与待确认边界"/>
          <p:cNvSpPr txBox="1"/>
          <p:nvPr/>
        </p:nvSpPr>
        <p:spPr>
          <a:xfrm>
            <a:off x="365760" y="6713220"/>
            <a:ext cx="17145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59" name="text-034: Datasheet V2.1：p8 最多 8 个 AXI 端口；p10 仲裁特性"/>
          <p:cNvSpPr txBox="1"/>
          <p:nvPr/>
        </p:nvSpPr>
        <p:spPr>
          <a:xfrm>
            <a:off x="365760" y="7021678"/>
            <a:ext cx="716713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60" name="text-035: p14：独立 AXI Urgent 接口不支持。优先级 / QoS 的具体寄存器"/>
          <p:cNvSpPr txBox="1"/>
          <p:nvPr/>
        </p:nvSpPr>
        <p:spPr>
          <a:xfrm>
            <a:off x="365760" y="7265518"/>
            <a:ext cx="781731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61" name="text-036: 多端口不会自动保证共享缓存一致性或旁路写的 AMO/LRSC 语义；RT 是否需"/>
          <p:cNvSpPr txBox="1"/>
          <p:nvPr/>
        </p:nvSpPr>
        <p:spPr>
          <a:xfrm>
            <a:off x="365760" y="7509358"/>
            <a:ext cx="74447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2: 数据处理与反馈：可编辑矢量示例"/>
          <p:cNvSpPr txBox="1"/>
          <p:nvPr/>
        </p:nvSpPr>
        <p:spPr>
          <a:xfrm>
            <a:off x="480060" y="1579931"/>
            <a:ext cx="5120640" cy="5120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数据处理与反馈：可编辑矢量示例</a:t>
            </a:r>
          </a:p>
        </p:txBody>
      </p:sp>
      <p:sp>
        <p:nvSpPr>
          <p:cNvPr id="3" name="rect-003"/>
          <p:cNvSpPr/>
          <p:nvPr/>
        </p:nvSpPr>
        <p:spPr>
          <a:xfrm>
            <a:off x="640080" y="322707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-004: 输入数据"/>
          <p:cNvSpPr txBox="1"/>
          <p:nvPr/>
        </p:nvSpPr>
        <p:spPr>
          <a:xfrm>
            <a:off x="1280160" y="3716945"/>
            <a:ext cx="1386840" cy="4437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5" name="text-005: Input"/>
          <p:cNvSpPr txBox="1"/>
          <p:nvPr/>
        </p:nvSpPr>
        <p:spPr>
          <a:xfrm>
            <a:off x="1633921" y="4257172"/>
            <a:ext cx="679318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6" name="rect-006"/>
          <p:cNvSpPr/>
          <p:nvPr/>
        </p:nvSpPr>
        <p:spPr>
          <a:xfrm>
            <a:off x="5067300" y="322707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4ED"/>
          </a:solidFill>
          <a:ln w="21336" cap="flat">
            <a:solidFill>
              <a:srgbClr val="8CBD9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-007: 处理模块"/>
          <p:cNvSpPr txBox="1"/>
          <p:nvPr/>
        </p:nvSpPr>
        <p:spPr>
          <a:xfrm>
            <a:off x="5707380" y="3716945"/>
            <a:ext cx="1386840" cy="4437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8" name="text-008: Process"/>
          <p:cNvSpPr txBox="1"/>
          <p:nvPr/>
        </p:nvSpPr>
        <p:spPr>
          <a:xfrm>
            <a:off x="5958186" y="4257172"/>
            <a:ext cx="885227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Process</a:t>
            </a:r>
          </a:p>
        </p:txBody>
      </p:sp>
      <p:sp>
        <p:nvSpPr>
          <p:cNvPr id="9" name="circle-009"/>
          <p:cNvSpPr/>
          <p:nvPr/>
        </p:nvSpPr>
        <p:spPr>
          <a:xfrm>
            <a:off x="9867900" y="3227070"/>
            <a:ext cx="1920240" cy="1920240"/>
          </a:xfrm>
          <a:prstGeom prst="ellipse">
            <a:avLst/>
          </a:prstGeom>
          <a:solidFill>
            <a:srgbClr val="FFF2E5"/>
          </a:solidFill>
          <a:ln w="21336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0: 输出结果"/>
          <p:cNvSpPr txBox="1"/>
          <p:nvPr/>
        </p:nvSpPr>
        <p:spPr>
          <a:xfrm>
            <a:off x="10134600" y="3887633"/>
            <a:ext cx="1386840" cy="4437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cxnSp>
        <p:nvCxnSpPr>
          <p:cNvPr id="11" name="line-011"/>
          <p:cNvCxnSpPr/>
          <p:nvPr/>
        </p:nvCxnSpPr>
        <p:spPr>
          <a:xfrm>
            <a:off x="3307080" y="4187190"/>
            <a:ext cx="1760220" cy="0"/>
          </a:xfrm>
          <a:prstGeom prst="line">
            <a:avLst/>
          </a:prstGeom>
          <a:ln w="21336" cap="flat">
            <a:solidFill>
              <a:srgbClr val="526B80"/>
            </a:solidFill>
            <a:tailEnd type="triangle" w="med" len="med"/>
          </a:ln>
          <a:effectLst/>
        </p:spPr>
      </p:cxnSp>
      <p:cxnSp>
        <p:nvCxnSpPr>
          <p:cNvPr id="12" name="line-013"/>
          <p:cNvCxnSpPr/>
          <p:nvPr/>
        </p:nvCxnSpPr>
        <p:spPr>
          <a:xfrm>
            <a:off x="7734300" y="4187190"/>
            <a:ext cx="2133600" cy="0"/>
          </a:xfrm>
          <a:prstGeom prst="line">
            <a:avLst/>
          </a:prstGeom>
          <a:ln w="21336" cap="flat">
            <a:solidFill>
              <a:srgbClr val="526B80"/>
            </a:solidFill>
            <a:tailEnd type="triangle" w="med" len="med"/>
          </a:ln>
          <a:effectLst/>
        </p:spPr>
      </p:cxnSp>
      <p:sp>
        <p:nvSpPr>
          <p:cNvPr id="13" name="path-015"/>
          <p:cNvSpPr/>
          <p:nvPr/>
        </p:nvSpPr>
        <p:spPr>
          <a:xfrm>
            <a:off x="1973580" y="5147310"/>
            <a:ext cx="8854440" cy="1653540"/>
          </a:xfrm>
          <a:custGeom>
            <a:avLst/>
            <a:gdLst/>
            <a:ahLst/>
            <a:cxnLst/>
            <a:rect l="0" t="0" r="r" b="b"/>
            <a:pathLst>
              <a:path w="8854440" h="1653540" fill="none">
                <a:moveTo>
                  <a:pt x="8854440" y="0"/>
                </a:moveTo>
                <a:cubicBezTo>
                  <a:pt x="8854440" y="1653540"/>
                  <a:pt x="0" y="1653540"/>
                  <a:pt x="0" y="0"/>
                </a:cubicBezTo>
              </a:path>
            </a:pathLst>
          </a:custGeom>
          <a:noFill/>
          <a:ln w="32004" cap="flat">
            <a:solidFill>
              <a:srgbClr val="2774C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-017: 反馈路径 / Feedback"/>
          <p:cNvSpPr txBox="1"/>
          <p:nvPr/>
        </p:nvSpPr>
        <p:spPr>
          <a:xfrm>
            <a:off x="5275526" y="6730441"/>
            <a:ext cx="2250548" cy="34137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774C7"/>
                </a:solidFill>
                <a:latin typeface="Microsoft YaHei"/>
                <a:ea typeface="Microsoft YaHei"/>
                <a:cs typeface="Microsoft YaHei"/>
              </a:rPr>
              <a:t>反馈路径 / Feedback</a:t>
            </a:r>
          </a:p>
        </p:txBody>
      </p:sp>
      <p:sp>
        <p:nvSpPr>
          <p:cNvPr id="15" name="ellipse-018"/>
          <p:cNvSpPr/>
          <p:nvPr/>
        </p:nvSpPr>
        <p:spPr>
          <a:xfrm>
            <a:off x="693420" y="7494270"/>
            <a:ext cx="533400" cy="277368"/>
          </a:xfrm>
          <a:prstGeom prst="ellipse">
            <a:avLst/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19: 文字、圆角框、椭圆、曲线与箭头均为独立对象。"/>
          <p:cNvSpPr txBox="1"/>
          <p:nvPr/>
        </p:nvSpPr>
        <p:spPr>
          <a:xfrm>
            <a:off x="1440180" y="7500244"/>
            <a:ext cx="4416552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文字、圆角框、椭圆、曲线与箭头均为独立对象。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2: 启动初始化的软硬件对应关系"/>
          <p:cNvSpPr txBox="1"/>
          <p:nvPr/>
        </p:nvSpPr>
        <p:spPr>
          <a:xfrm>
            <a:off x="320040" y="1349289"/>
            <a:ext cx="4704588" cy="5376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3" name="text-003: 当前源码：Bootrom=1、PlatformRom=0、内部 LLC 启用；载"/>
          <p:cNvSpPr txBox="1"/>
          <p:nvPr/>
        </p:nvSpPr>
        <p:spPr>
          <a:xfrm>
            <a:off x="320040" y="1850151"/>
            <a:ext cx="7037867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当前源码：Bootrom=1、PlatformRom=0、内部 LLC 启用；载荷沿用根 SDK 启动入口</a:t>
            </a:r>
          </a:p>
        </p:txBody>
      </p:sp>
      <p:sp>
        <p:nvSpPr>
          <p:cNvPr id="4" name="rect-004"/>
          <p:cNvSpPr/>
          <p:nvPr/>
        </p:nvSpPr>
        <p:spPr>
          <a:xfrm>
            <a:off x="320040" y="2320290"/>
            <a:ext cx="5200650" cy="5200650"/>
          </a:xfrm>
          <a:prstGeom prst="roundRect">
            <a:avLst>
              <a:gd name="adj" fmla="val 2153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-005"/>
          <p:cNvSpPr/>
          <p:nvPr/>
        </p:nvSpPr>
        <p:spPr>
          <a:xfrm>
            <a:off x="7520940" y="2320290"/>
            <a:ext cx="4960620" cy="520065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-006: 硬件：存储、总线与自主状态机"/>
          <p:cNvSpPr txBox="1"/>
          <p:nvPr/>
        </p:nvSpPr>
        <p:spPr>
          <a:xfrm>
            <a:off x="560070" y="2421743"/>
            <a:ext cx="3480435" cy="3712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7" name="text-007: 软件：由同一个 CVA6 执行"/>
          <p:cNvSpPr txBox="1"/>
          <p:nvPr/>
        </p:nvSpPr>
        <p:spPr>
          <a:xfrm>
            <a:off x="7760970" y="2421743"/>
            <a:ext cx="3085036" cy="3712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8" name="rect-008"/>
          <p:cNvSpPr/>
          <p:nvPr/>
        </p:nvSpPr>
        <p:spPr>
          <a:xfrm>
            <a:off x="560070" y="2840355"/>
            <a:ext cx="4640580" cy="384048"/>
          </a:xfrm>
          <a:prstGeom prst="roundRect">
            <a:avLst>
              <a:gd name="adj" fmla="val 16666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09: 有效 clk_i / rst_ni：由外围平台提供"/>
          <p:cNvSpPr txBox="1"/>
          <p:nvPr/>
        </p:nvSpPr>
        <p:spPr>
          <a:xfrm>
            <a:off x="1393280" y="2906283"/>
            <a:ext cx="2974159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有效 clk_i / rst_ni：由外围平台提供</a:t>
            </a:r>
          </a:p>
        </p:txBody>
      </p:sp>
      <p:sp>
        <p:nvSpPr>
          <p:cNvPr id="10" name="path-010"/>
          <p:cNvSpPr/>
          <p:nvPr/>
        </p:nvSpPr>
        <p:spPr>
          <a:xfrm>
            <a:off x="1440180" y="3224403"/>
            <a:ext cx="1" cy="296037"/>
          </a:xfrm>
          <a:custGeom>
            <a:avLst/>
            <a:gdLst/>
            <a:ahLst/>
            <a:cxnLst/>
            <a:rect l="0" t="0" r="r" b="b"/>
            <a:pathLst>
              <a:path w="1" h="296037" fill="none">
                <a:moveTo>
                  <a:pt x="0" y="0"/>
                </a:moveTo>
                <a:lnTo>
                  <a:pt x="0" y="296037"/>
                </a:lnTo>
              </a:path>
            </a:pathLst>
          </a:custGeom>
          <a:noFill/>
          <a:ln w="24003" cap="flat">
            <a:solidFill>
              <a:srgbClr val="52647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th-012"/>
          <p:cNvSpPr/>
          <p:nvPr/>
        </p:nvSpPr>
        <p:spPr>
          <a:xfrm>
            <a:off x="4120515" y="3224403"/>
            <a:ext cx="1" cy="296037"/>
          </a:xfrm>
          <a:custGeom>
            <a:avLst/>
            <a:gdLst/>
            <a:ahLst/>
            <a:cxnLst/>
            <a:rect l="0" t="0" r="r" b="b"/>
            <a:pathLst>
              <a:path w="1" h="296037" fill="none">
                <a:moveTo>
                  <a:pt x="0" y="0"/>
                </a:moveTo>
                <a:lnTo>
                  <a:pt x="0" y="296037"/>
                </a:lnTo>
              </a:path>
            </a:pathLst>
          </a:custGeom>
          <a:noFill/>
          <a:ln w="24003" cap="flat">
            <a:solidFill>
              <a:srgbClr val="52647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-014"/>
          <p:cNvSpPr/>
          <p:nvPr/>
        </p:nvSpPr>
        <p:spPr>
          <a:xfrm>
            <a:off x="560070" y="3520440"/>
            <a:ext cx="1880235" cy="656082"/>
          </a:xfrm>
          <a:prstGeom prst="roundRect">
            <a:avLst>
              <a:gd name="adj" fmla="val 1219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5: CVA6"/>
          <p:cNvSpPr txBox="1"/>
          <p:nvPr/>
        </p:nvSpPr>
        <p:spPr>
          <a:xfrm>
            <a:off x="1096512" y="3567166"/>
            <a:ext cx="799350" cy="34564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4" name="text-016: 取指并执行机器指令"/>
          <p:cNvSpPr txBox="1"/>
          <p:nvPr/>
        </p:nvSpPr>
        <p:spPr>
          <a:xfrm>
            <a:off x="656082" y="3859042"/>
            <a:ext cx="1680210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5" name="rect-017"/>
          <p:cNvSpPr/>
          <p:nvPr/>
        </p:nvSpPr>
        <p:spPr>
          <a:xfrm>
            <a:off x="3040380" y="3520440"/>
            <a:ext cx="2160270" cy="656082"/>
          </a:xfrm>
          <a:prstGeom prst="roundRect">
            <a:avLst>
              <a:gd name="adj" fmla="val 12195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18: LLC tag BIST"/>
          <p:cNvSpPr txBox="1"/>
          <p:nvPr/>
        </p:nvSpPr>
        <p:spPr>
          <a:xfrm>
            <a:off x="3396687" y="3584448"/>
            <a:ext cx="1447656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17" name="text-019: 复位后自动发起读写测试"/>
          <p:cNvSpPr txBox="1"/>
          <p:nvPr/>
        </p:nvSpPr>
        <p:spPr>
          <a:xfrm>
            <a:off x="3112389" y="3859042"/>
            <a:ext cx="2016252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复位后自动发起读写测试</a:t>
            </a:r>
          </a:p>
        </p:txBody>
      </p:sp>
      <p:cxnSp>
        <p:nvCxnSpPr>
          <p:cNvPr id="18" name="line-020"/>
          <p:cNvCxnSpPr/>
          <p:nvPr/>
        </p:nvCxnSpPr>
        <p:spPr>
          <a:xfrm>
            <a:off x="1496187" y="4176522"/>
            <a:ext cx="0" cy="344043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cxnSp>
        <p:nvCxnSpPr>
          <p:cNvPr id="19" name="line-022"/>
          <p:cNvCxnSpPr/>
          <p:nvPr/>
        </p:nvCxnSpPr>
        <p:spPr>
          <a:xfrm>
            <a:off x="4120515" y="4176522"/>
            <a:ext cx="0" cy="344043"/>
          </a:xfrm>
          <a:prstGeom prst="line">
            <a:avLst/>
          </a:prstGeom>
          <a:ln w="24003" cap="flat">
            <a:solidFill>
              <a:srgbClr val="B68A2F"/>
            </a:solidFill>
            <a:tailEnd type="triangle" w="med" len="med"/>
          </a:ln>
          <a:effectLst/>
        </p:spPr>
      </p:cxnSp>
      <p:sp>
        <p:nvSpPr>
          <p:cNvPr id="20" name="rect-024"/>
          <p:cNvSpPr/>
          <p:nvPr/>
        </p:nvSpPr>
        <p:spPr>
          <a:xfrm>
            <a:off x="560070" y="4520565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5: Boot ROM ① / ②"/>
          <p:cNvSpPr txBox="1"/>
          <p:nvPr/>
        </p:nvSpPr>
        <p:spPr>
          <a:xfrm>
            <a:off x="720090" y="4594494"/>
            <a:ext cx="1691574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 ROM ① / ②</a:t>
            </a:r>
          </a:p>
        </p:txBody>
      </p:sp>
      <p:sp>
        <p:nvSpPr>
          <p:cNvPr id="22" name="text-026: 地址：0x02000000"/>
          <p:cNvSpPr txBox="1"/>
          <p:nvPr/>
        </p:nvSpPr>
        <p:spPr>
          <a:xfrm>
            <a:off x="720090" y="4843805"/>
            <a:ext cx="156572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地址：0x02000000</a:t>
            </a:r>
          </a:p>
        </p:txBody>
      </p:sp>
      <p:sp>
        <p:nvSpPr>
          <p:cNvPr id="23" name="text-027: cheshire_bootrom.sv"/>
          <p:cNvSpPr txBox="1"/>
          <p:nvPr/>
        </p:nvSpPr>
        <p:spPr>
          <a:xfrm>
            <a:off x="720090" y="5075834"/>
            <a:ext cx="1738555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4" name="text-028: S / C 预先编译为 ROM 内容"/>
          <p:cNvSpPr txBox="1"/>
          <p:nvPr/>
        </p:nvSpPr>
        <p:spPr>
          <a:xfrm>
            <a:off x="720090" y="5277140"/>
            <a:ext cx="1956782" cy="2304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S / C 预先编译为 ROM 内容</a:t>
            </a:r>
          </a:p>
        </p:txBody>
      </p:sp>
      <p:sp>
        <p:nvSpPr>
          <p:cNvPr id="25" name="rect-029"/>
          <p:cNvSpPr/>
          <p:nvPr/>
        </p:nvSpPr>
        <p:spPr>
          <a:xfrm>
            <a:off x="3040380" y="4520565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0: LLC 配置寄存器"/>
          <p:cNvSpPr txBox="1"/>
          <p:nvPr/>
        </p:nvSpPr>
        <p:spPr>
          <a:xfrm>
            <a:off x="3200400" y="4568571"/>
            <a:ext cx="1607626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27" name="text-031: DONE：自测完成"/>
          <p:cNvSpPr txBox="1"/>
          <p:nvPr/>
        </p:nvSpPr>
        <p:spPr>
          <a:xfrm>
            <a:off x="3200400" y="4843165"/>
            <a:ext cx="1502025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DONE：自测完成</a:t>
            </a:r>
          </a:p>
        </p:txBody>
      </p:sp>
      <p:sp>
        <p:nvSpPr>
          <p:cNvPr id="28" name="text-032: BIST_OUT：错误位"/>
          <p:cNvSpPr txBox="1"/>
          <p:nvPr/>
        </p:nvSpPr>
        <p:spPr>
          <a:xfrm>
            <a:off x="3200400" y="5075194"/>
            <a:ext cx="1622203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BIST_OUT：错误位</a:t>
            </a:r>
          </a:p>
        </p:txBody>
      </p:sp>
      <p:sp>
        <p:nvSpPr>
          <p:cNvPr id="29" name="text-033: CFG_SPM / COMMIT"/>
          <p:cNvSpPr txBox="1"/>
          <p:nvPr/>
        </p:nvSpPr>
        <p:spPr>
          <a:xfrm>
            <a:off x="3200400" y="5276499"/>
            <a:ext cx="1652169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30" name="line-034"/>
          <p:cNvCxnSpPr/>
          <p:nvPr/>
        </p:nvCxnSpPr>
        <p:spPr>
          <a:xfrm>
            <a:off x="1496187" y="5520690"/>
            <a:ext cx="0" cy="56007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31" name="text-036: ROM 中的设备驱动"/>
          <p:cNvSpPr txBox="1"/>
          <p:nvPr/>
        </p:nvSpPr>
        <p:spPr>
          <a:xfrm>
            <a:off x="756620" y="5628543"/>
            <a:ext cx="1479135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2" name="line-037"/>
          <p:cNvCxnSpPr/>
          <p:nvPr/>
        </p:nvCxnSpPr>
        <p:spPr>
          <a:xfrm>
            <a:off x="4120515" y="5520690"/>
            <a:ext cx="0" cy="560070"/>
          </a:xfrm>
          <a:prstGeom prst="line">
            <a:avLst/>
          </a:prstGeom>
          <a:ln w="24003" cap="flat">
            <a:solidFill>
              <a:srgbClr val="B68A2F"/>
            </a:solidFill>
            <a:tailEnd type="triangle" w="med" len="med"/>
          </a:ln>
          <a:effectLst/>
        </p:spPr>
      </p:cxnSp>
      <p:sp>
        <p:nvSpPr>
          <p:cNvPr id="33" name="text-039: CPU 提交 SPM 配置"/>
          <p:cNvSpPr txBox="1"/>
          <p:nvPr/>
        </p:nvSpPr>
        <p:spPr>
          <a:xfrm>
            <a:off x="3354263" y="5628543"/>
            <a:ext cx="1532504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CPU 提交 SPM 配置</a:t>
            </a:r>
          </a:p>
        </p:txBody>
      </p:sp>
      <p:sp>
        <p:nvSpPr>
          <p:cNvPr id="34" name="rect-040"/>
          <p:cNvSpPr/>
          <p:nvPr/>
        </p:nvSpPr>
        <p:spPr>
          <a:xfrm>
            <a:off x="560070" y="6080760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41: 装载设备与通路"/>
          <p:cNvSpPr txBox="1"/>
          <p:nvPr/>
        </p:nvSpPr>
        <p:spPr>
          <a:xfrm>
            <a:off x="720090" y="6145408"/>
            <a:ext cx="1536192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36" name="text-042: SPI NOR / SD / EEPROM"/>
          <p:cNvSpPr txBox="1"/>
          <p:nvPr/>
        </p:nvSpPr>
        <p:spPr>
          <a:xfrm>
            <a:off x="720090" y="6428643"/>
            <a:ext cx="1912702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37" name="text-043: 或 UART / JTAG / Link"/>
          <p:cNvSpPr txBox="1"/>
          <p:nvPr/>
        </p:nvSpPr>
        <p:spPr>
          <a:xfrm>
            <a:off x="720090" y="6660032"/>
            <a:ext cx="179583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或 UART / JTAG / Link</a:t>
            </a:r>
          </a:p>
        </p:txBody>
      </p:sp>
      <p:sp>
        <p:nvSpPr>
          <p:cNvPr id="38" name="text-044: 不同装载路径分别验收"/>
          <p:cNvSpPr txBox="1"/>
          <p:nvPr/>
        </p:nvSpPr>
        <p:spPr>
          <a:xfrm>
            <a:off x="720090" y="6853337"/>
            <a:ext cx="1584198" cy="2304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不同装载路径分别验收</a:t>
            </a:r>
          </a:p>
        </p:txBody>
      </p:sp>
      <p:sp>
        <p:nvSpPr>
          <p:cNvPr id="39" name="rect-045"/>
          <p:cNvSpPr/>
          <p:nvPr/>
        </p:nvSpPr>
        <p:spPr>
          <a:xfrm>
            <a:off x="3040380" y="6080760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6: LLC 数据 / SPM"/>
          <p:cNvSpPr txBox="1"/>
          <p:nvPr/>
        </p:nvSpPr>
        <p:spPr>
          <a:xfrm>
            <a:off x="3200400" y="6145408"/>
            <a:ext cx="1611589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数据 / SPM</a:t>
            </a:r>
          </a:p>
        </p:txBody>
      </p:sp>
      <p:sp>
        <p:nvSpPr>
          <p:cNvPr id="41" name="text-047: 保存载荷代码、数据和栈"/>
          <p:cNvSpPr txBox="1"/>
          <p:nvPr/>
        </p:nvSpPr>
        <p:spPr>
          <a:xfrm>
            <a:off x="3200400" y="6411361"/>
            <a:ext cx="2016252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保存载荷代码、数据和栈</a:t>
            </a:r>
          </a:p>
        </p:txBody>
      </p:sp>
      <p:sp>
        <p:nvSpPr>
          <p:cNvPr id="42" name="text-048: tag BIST 不测试数据阵列"/>
          <p:cNvSpPr txBox="1"/>
          <p:nvPr/>
        </p:nvSpPr>
        <p:spPr>
          <a:xfrm>
            <a:off x="3200400" y="6651391"/>
            <a:ext cx="2054657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sp>
        <p:nvSpPr>
          <p:cNvPr id="43" name="text-049: 应用 .bss 由 CRT0 清零"/>
          <p:cNvSpPr txBox="1"/>
          <p:nvPr/>
        </p:nvSpPr>
        <p:spPr>
          <a:xfrm>
            <a:off x="3200400" y="6853337"/>
            <a:ext cx="1647943" cy="2304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应用 .bss 由 CRT0 清零</a:t>
            </a:r>
          </a:p>
        </p:txBody>
      </p:sp>
      <p:cxnSp>
        <p:nvCxnSpPr>
          <p:cNvPr id="44" name="line-050"/>
          <p:cNvCxnSpPr/>
          <p:nvPr/>
        </p:nvCxnSpPr>
        <p:spPr>
          <a:xfrm>
            <a:off x="2440305" y="6640830"/>
            <a:ext cx="600075" cy="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5" name="text-052: 搬运"/>
          <p:cNvSpPr txBox="1"/>
          <p:nvPr/>
        </p:nvSpPr>
        <p:spPr>
          <a:xfrm>
            <a:off x="2532316" y="6221898"/>
            <a:ext cx="408051" cy="2176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6" name="text-053: 字节"/>
          <p:cNvSpPr txBox="1"/>
          <p:nvPr/>
        </p:nvSpPr>
        <p:spPr>
          <a:xfrm>
            <a:off x="2532316" y="6373917"/>
            <a:ext cx="408051" cy="2176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字节</a:t>
            </a:r>
          </a:p>
        </p:txBody>
      </p:sp>
      <p:sp>
        <p:nvSpPr>
          <p:cNvPr id="47" name="rect-054"/>
          <p:cNvSpPr/>
          <p:nvPr/>
        </p:nvSpPr>
        <p:spPr>
          <a:xfrm>
            <a:off x="7840980" y="2920365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-055: ① Boot ROM 汇编"/>
          <p:cNvSpPr txBox="1"/>
          <p:nvPr/>
        </p:nvSpPr>
        <p:spPr>
          <a:xfrm>
            <a:off x="8001000" y="2967091"/>
            <a:ext cx="2125578" cy="34564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49" name="text-056: cheshire_bootrom.S"/>
          <p:cNvSpPr txBox="1"/>
          <p:nvPr/>
        </p:nvSpPr>
        <p:spPr>
          <a:xfrm>
            <a:off x="8001000" y="3250326"/>
            <a:ext cx="1840067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50" name="text-057: 整数环境、sp / gp；等待 LLC DONE"/>
          <p:cNvSpPr txBox="1"/>
          <p:nvPr/>
        </p:nvSpPr>
        <p:spPr>
          <a:xfrm>
            <a:off x="8001000" y="3490356"/>
            <a:ext cx="3096387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51" name="text-058: 全 way 配置 SPM；建立早期栈"/>
          <p:cNvSpPr txBox="1"/>
          <p:nvPr/>
        </p:nvSpPr>
        <p:spPr>
          <a:xfrm>
            <a:off x="8001000" y="3722385"/>
            <a:ext cx="2627178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way 配置 SPM；建立早期栈</a:t>
            </a:r>
          </a:p>
        </p:txBody>
      </p:sp>
      <p:cxnSp>
        <p:nvCxnSpPr>
          <p:cNvPr id="52" name="line-059"/>
          <p:cNvCxnSpPr/>
          <p:nvPr/>
        </p:nvCxnSpPr>
        <p:spPr>
          <a:xfrm>
            <a:off x="10001250" y="4040505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53" name="text-061: call ROM main"/>
          <p:cNvSpPr txBox="1"/>
          <p:nvPr/>
        </p:nvSpPr>
        <p:spPr>
          <a:xfrm>
            <a:off x="10161270" y="4123715"/>
            <a:ext cx="12776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sp>
        <p:nvSpPr>
          <p:cNvPr id="54" name="rect-062"/>
          <p:cNvSpPr/>
          <p:nvPr/>
        </p:nvSpPr>
        <p:spPr>
          <a:xfrm>
            <a:off x="7840980" y="4480560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63: ② Boot ROM 的 C 代码"/>
          <p:cNvSpPr txBox="1"/>
          <p:nvPr/>
        </p:nvSpPr>
        <p:spPr>
          <a:xfrm>
            <a:off x="8001000" y="4527286"/>
            <a:ext cx="2615752" cy="34564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Boot ROM 的 C 代码</a:t>
            </a:r>
          </a:p>
        </p:txBody>
      </p:sp>
      <p:sp>
        <p:nvSpPr>
          <p:cNvPr id="56" name="text-064: cheshire_bootrom.c"/>
          <p:cNvSpPr txBox="1"/>
          <p:nvPr/>
        </p:nvSpPr>
        <p:spPr>
          <a:xfrm>
            <a:off x="8001000" y="4810521"/>
            <a:ext cx="1826753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57" name="text-065: 测频、选择 boot_mode、调用装载驱动"/>
          <p:cNvSpPr txBox="1"/>
          <p:nvPr/>
        </p:nvSpPr>
        <p:spPr>
          <a:xfrm>
            <a:off x="8001000" y="5050551"/>
            <a:ext cx="3310376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测频、选择 boot_mode、调用装载驱动</a:t>
            </a:r>
          </a:p>
        </p:txBody>
      </p:sp>
      <p:sp>
        <p:nvSpPr>
          <p:cNvPr id="58" name="text-066: 把载荷装入内存，再交接执行入口"/>
          <p:cNvSpPr txBox="1"/>
          <p:nvPr/>
        </p:nvSpPr>
        <p:spPr>
          <a:xfrm>
            <a:off x="8001000" y="5282580"/>
            <a:ext cx="2816352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把载荷装入内存，再交接执行入口</a:t>
            </a:r>
          </a:p>
        </p:txBody>
      </p:sp>
      <p:cxnSp>
        <p:nvCxnSpPr>
          <p:cNvPr id="59" name="line-067"/>
          <p:cNvCxnSpPr/>
          <p:nvPr/>
        </p:nvCxnSpPr>
        <p:spPr>
          <a:xfrm>
            <a:off x="10001250" y="5600700"/>
            <a:ext cx="0" cy="48006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60" name="text-069: 调用载荷入口"/>
          <p:cNvSpPr txBox="1"/>
          <p:nvPr/>
        </p:nvSpPr>
        <p:spPr>
          <a:xfrm>
            <a:off x="10161270" y="5691911"/>
            <a:ext cx="11201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61" name="rect-070"/>
          <p:cNvSpPr/>
          <p:nvPr/>
        </p:nvSpPr>
        <p:spPr>
          <a:xfrm>
            <a:off x="7840980" y="6080760"/>
            <a:ext cx="4320540" cy="1200150"/>
          </a:xfrm>
          <a:prstGeom prst="roundRect">
            <a:avLst>
              <a:gd name="adj" fmla="val 6666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-071: ③ 应用 / ZSL 的启动代码"/>
          <p:cNvSpPr txBox="1"/>
          <p:nvPr/>
        </p:nvSpPr>
        <p:spPr>
          <a:xfrm>
            <a:off x="8001000" y="6127486"/>
            <a:ext cx="2692336" cy="34564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应用 / ZSL 的启动代码</a:t>
            </a:r>
          </a:p>
        </p:txBody>
      </p:sp>
      <p:sp>
        <p:nvSpPr>
          <p:cNvPr id="63" name="text-072: sw/lib/crt0.S → 该载荷自己的 main"/>
          <p:cNvSpPr txBox="1"/>
          <p:nvPr/>
        </p:nvSpPr>
        <p:spPr>
          <a:xfrm>
            <a:off x="8001000" y="6410721"/>
            <a:ext cx="3032704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64" name="text-073: sp / gp、mtvec、.bss、FP 初始化"/>
          <p:cNvSpPr txBox="1"/>
          <p:nvPr/>
        </p:nvSpPr>
        <p:spPr>
          <a:xfrm>
            <a:off x="8001000" y="6650751"/>
            <a:ext cx="2911451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gp、mtvec、.bss、FP 初始化</a:t>
            </a:r>
          </a:p>
        </p:txBody>
      </p:sp>
      <p:sp>
        <p:nvSpPr>
          <p:cNvPr id="65" name="text-074: main 返回：发布 scratch2，然后 ret"/>
          <p:cNvSpPr txBox="1"/>
          <p:nvPr/>
        </p:nvSpPr>
        <p:spPr>
          <a:xfrm>
            <a:off x="8001000" y="6890781"/>
            <a:ext cx="3085398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sp>
        <p:nvSpPr>
          <p:cNvPr id="66" name="path-075"/>
          <p:cNvSpPr/>
          <p:nvPr/>
        </p:nvSpPr>
        <p:spPr>
          <a:xfrm>
            <a:off x="5200650" y="3560445"/>
            <a:ext cx="2640330" cy="1336167"/>
          </a:xfrm>
          <a:custGeom>
            <a:avLst/>
            <a:gdLst/>
            <a:ahLst/>
            <a:cxnLst/>
            <a:rect l="0" t="0" r="r" b="b"/>
            <a:pathLst>
              <a:path w="2640330" h="1336167" fill="none">
                <a:moveTo>
                  <a:pt x="2640330" y="0"/>
                </a:moveTo>
                <a:lnTo>
                  <a:pt x="1800225" y="0"/>
                </a:lnTo>
                <a:lnTo>
                  <a:pt x="1800225" y="1336167"/>
                </a:lnTo>
                <a:lnTo>
                  <a:pt x="0" y="1336167"/>
                </a:lnTo>
              </a:path>
            </a:pathLst>
          </a:custGeom>
          <a:noFill/>
          <a:ln w="24003" cap="flat">
            <a:solidFill>
              <a:srgbClr val="B68A2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-077: ① 轮询 DONE"/>
          <p:cNvSpPr txBox="1"/>
          <p:nvPr/>
        </p:nvSpPr>
        <p:spPr>
          <a:xfrm>
            <a:off x="5704713" y="4251731"/>
            <a:ext cx="120516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① 轮询 DONE</a:t>
            </a:r>
          </a:p>
        </p:txBody>
      </p:sp>
      <p:sp>
        <p:nvSpPr>
          <p:cNvPr id="68" name="text-078: 写 SPM 配置与提交"/>
          <p:cNvSpPr txBox="1"/>
          <p:nvPr/>
        </p:nvSpPr>
        <p:spPr>
          <a:xfrm>
            <a:off x="5704713" y="4475759"/>
            <a:ext cx="156145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写 SPM 配置与提交</a:t>
            </a:r>
          </a:p>
        </p:txBody>
      </p:sp>
      <p:cxnSp>
        <p:nvCxnSpPr>
          <p:cNvPr id="69" name="line-079"/>
          <p:cNvCxnSpPr/>
          <p:nvPr/>
        </p:nvCxnSpPr>
        <p:spPr>
          <a:xfrm>
            <a:off x="5200650" y="6720840"/>
            <a:ext cx="2640330" cy="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70" name="text-081: 镜像入口 _start"/>
          <p:cNvSpPr txBox="1"/>
          <p:nvPr/>
        </p:nvSpPr>
        <p:spPr>
          <a:xfrm>
            <a:off x="5632704" y="6195974"/>
            <a:ext cx="126705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71" name="text-082: 对应 CRT0 机器指令"/>
          <p:cNvSpPr txBox="1"/>
          <p:nvPr/>
        </p:nvSpPr>
        <p:spPr>
          <a:xfrm>
            <a:off x="5632704" y="6420002"/>
            <a:ext cx="160748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对应 CRT0 机器指令</a:t>
            </a:r>
          </a:p>
        </p:txBody>
      </p:sp>
      <p:sp>
        <p:nvSpPr>
          <p:cNvPr id="72" name="text-083: 边界：DONE ≠ 自测无错误；数据 SRAM 制造测试另行设计。Platfor"/>
          <p:cNvSpPr txBox="1"/>
          <p:nvPr/>
        </p:nvSpPr>
        <p:spPr>
          <a:xfrm>
            <a:off x="320040" y="7636154"/>
            <a:ext cx="8077635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边界：DONE ≠ 自测无错误；数据 SRAM 制造测试另行设计。Platform ROM 非零返回路径待 S01-B01 修复。</a:t>
            </a:r>
          </a:p>
        </p:txBody>
      </p:sp>
      <p:sp>
        <p:nvSpPr>
          <p:cNvPr id="73" name="text-084: 依据：hw/cheshire_soc.sv；hw/bootrom/；sw/lib"/>
          <p:cNvSpPr txBox="1"/>
          <p:nvPr/>
        </p:nvSpPr>
        <p:spPr>
          <a:xfrm>
            <a:off x="320040" y="7917470"/>
            <a:ext cx="7175884" cy="2304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依据：hw/cheshire_soc.sv；hw/bootrom/；sw/lib/crt0.S；axi_llc_hit_miss / tag_store / tag_pattern_gen</a:t>
            </a:r>
          </a:p>
        </p:txBody>
      </p:sp>
      <p:sp>
        <p:nvSpPr>
          <p:cNvPr id="74" name="text-085: 输入 HEAD 278434024 · 2026-10-08 · 源码对应图，未"/>
          <p:cNvSpPr txBox="1"/>
          <p:nvPr/>
        </p:nvSpPr>
        <p:spPr>
          <a:xfrm>
            <a:off x="320040" y="8134137"/>
            <a:ext cx="5019502" cy="2176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输入 HEAD 278434024 · 2026-10-08 · 源码对应图，未新增目标仿真 / 板测证据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2: 从复位到应用返回的程序执行流程"/>
          <p:cNvSpPr txBox="1"/>
          <p:nvPr/>
        </p:nvSpPr>
        <p:spPr>
          <a:xfrm>
            <a:off x="320040" y="1349289"/>
            <a:ext cx="5376672" cy="5376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3" name="text-003: 示例：SPI NOR 自主启动（boot_mode=2），PlatformRom"/>
          <p:cNvSpPr txBox="1"/>
          <p:nvPr/>
        </p:nvSpPr>
        <p:spPr>
          <a:xfrm>
            <a:off x="320040" y="1850151"/>
            <a:ext cx="7416539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示例：SPI NOR 自主启动（boot_mode=2），PlatformRom=0；程序使用根 SDK 的 CRT0</a:t>
            </a:r>
          </a:p>
        </p:txBody>
      </p:sp>
      <p:sp>
        <p:nvSpPr>
          <p:cNvPr id="4" name="rect-004"/>
          <p:cNvSpPr/>
          <p:nvPr/>
        </p:nvSpPr>
        <p:spPr>
          <a:xfrm>
            <a:off x="320040" y="232029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-005"/>
          <p:cNvSpPr/>
          <p:nvPr/>
        </p:nvSpPr>
        <p:spPr>
          <a:xfrm>
            <a:off x="4880610" y="232029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9441180" y="2320290"/>
            <a:ext cx="3040380" cy="5520690"/>
          </a:xfrm>
          <a:prstGeom prst="roundRect">
            <a:avLst>
              <a:gd name="adj" fmla="val 3684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-007: 片上 Boot ROM 镜像"/>
          <p:cNvSpPr txBox="1"/>
          <p:nvPr/>
        </p:nvSpPr>
        <p:spPr>
          <a:xfrm>
            <a:off x="560070" y="2413742"/>
            <a:ext cx="2515052" cy="3712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8" name="text-008: SPM 中的应用 / ZSL 镜像"/>
          <p:cNvSpPr txBox="1"/>
          <p:nvPr/>
        </p:nvSpPr>
        <p:spPr>
          <a:xfrm>
            <a:off x="5120640" y="2413742"/>
            <a:ext cx="2958370" cy="3712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9" name="text-009: 完成后的状态与观察"/>
          <p:cNvSpPr txBox="1"/>
          <p:nvPr/>
        </p:nvSpPr>
        <p:spPr>
          <a:xfrm>
            <a:off x="9681210" y="2422383"/>
            <a:ext cx="2240280" cy="35844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0" name="rect-010"/>
          <p:cNvSpPr/>
          <p:nvPr/>
        </p:nvSpPr>
        <p:spPr>
          <a:xfrm>
            <a:off x="600075" y="288036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1: 复位释放 → ROM 的 _start"/>
          <p:cNvSpPr txBox="1"/>
          <p:nvPr/>
        </p:nvSpPr>
        <p:spPr>
          <a:xfrm>
            <a:off x="760095" y="2912364"/>
            <a:ext cx="2705813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复位释放 → ROM 的 _start</a:t>
            </a:r>
          </a:p>
        </p:txBody>
      </p:sp>
      <p:sp>
        <p:nvSpPr>
          <p:cNvPr id="12" name="text-012: cheshire_bootrom.S @ Boot ROM"/>
          <p:cNvSpPr txBox="1"/>
          <p:nvPr/>
        </p:nvSpPr>
        <p:spPr>
          <a:xfrm>
            <a:off x="760095" y="3170956"/>
            <a:ext cx="2869484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 @ Boot ROM</a:t>
            </a:r>
          </a:p>
        </p:txBody>
      </p:sp>
      <p:cxnSp>
        <p:nvCxnSpPr>
          <p:cNvPr id="13" name="line-013"/>
          <p:cNvCxnSpPr/>
          <p:nvPr/>
        </p:nvCxnSpPr>
        <p:spPr>
          <a:xfrm>
            <a:off x="2400300" y="3440430"/>
            <a:ext cx="0" cy="32004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14" name="rect-015"/>
          <p:cNvSpPr/>
          <p:nvPr/>
        </p:nvSpPr>
        <p:spPr>
          <a:xfrm>
            <a:off x="600075" y="3760470"/>
            <a:ext cx="3600450" cy="880110"/>
          </a:xfrm>
          <a:prstGeom prst="roundRect">
            <a:avLst>
              <a:gd name="adj" fmla="val 909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6: 早期运行环境与 LLC 初始化"/>
          <p:cNvSpPr txBox="1"/>
          <p:nvPr/>
        </p:nvSpPr>
        <p:spPr>
          <a:xfrm>
            <a:off x="760095" y="3800475"/>
            <a:ext cx="2667333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早期运行环境与 LLC 初始化</a:t>
            </a:r>
          </a:p>
        </p:txBody>
      </p:sp>
      <p:sp>
        <p:nvSpPr>
          <p:cNvPr id="16" name="text-017: 等待硬件 BIST；配置 SPM / 栈"/>
          <p:cNvSpPr txBox="1"/>
          <p:nvPr/>
        </p:nvSpPr>
        <p:spPr>
          <a:xfrm>
            <a:off x="760095" y="4059067"/>
            <a:ext cx="2494899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等待硬件 BIST；配置 SPM / 栈</a:t>
            </a:r>
          </a:p>
        </p:txBody>
      </p:sp>
      <p:sp>
        <p:nvSpPr>
          <p:cNvPr id="17" name="text-018: PlatformRom=0：跳过平台钩子"/>
          <p:cNvSpPr txBox="1"/>
          <p:nvPr/>
        </p:nvSpPr>
        <p:spPr>
          <a:xfrm>
            <a:off x="760095" y="4283095"/>
            <a:ext cx="2625316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cxnSp>
        <p:nvCxnSpPr>
          <p:cNvPr id="18" name="line-019"/>
          <p:cNvCxnSpPr/>
          <p:nvPr/>
        </p:nvCxnSpPr>
        <p:spPr>
          <a:xfrm>
            <a:off x="2400300" y="4640580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19" name="text-021: call main"/>
          <p:cNvSpPr txBox="1"/>
          <p:nvPr/>
        </p:nvSpPr>
        <p:spPr>
          <a:xfrm>
            <a:off x="2560320" y="4715789"/>
            <a:ext cx="84081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20" name="rect-022"/>
          <p:cNvSpPr/>
          <p:nvPr/>
        </p:nvSpPr>
        <p:spPr>
          <a:xfrm>
            <a:off x="600075" y="5080635"/>
            <a:ext cx="3600450" cy="8001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3: cheshire_bootrom.c 的 main"/>
          <p:cNvSpPr txBox="1"/>
          <p:nvPr/>
        </p:nvSpPr>
        <p:spPr>
          <a:xfrm>
            <a:off x="760095" y="5120640"/>
            <a:ext cx="2996875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 的 main</a:t>
            </a:r>
          </a:p>
        </p:txBody>
      </p:sp>
      <p:sp>
        <p:nvSpPr>
          <p:cNvPr id="22" name="text-024: 读取 boot_mode / RTC，测频"/>
          <p:cNvSpPr txBox="1"/>
          <p:nvPr/>
        </p:nvSpPr>
        <p:spPr>
          <a:xfrm>
            <a:off x="760095" y="5379232"/>
            <a:ext cx="2460570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boot_mode / RTC，测频</a:t>
            </a:r>
          </a:p>
        </p:txBody>
      </p:sp>
      <p:sp>
        <p:nvSpPr>
          <p:cNvPr id="23" name="text-025: boot_spi_s25fs512s：初始化 SPI"/>
          <p:cNvSpPr txBox="1"/>
          <p:nvPr/>
        </p:nvSpPr>
        <p:spPr>
          <a:xfrm>
            <a:off x="760095" y="5603260"/>
            <a:ext cx="2687198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boot_spi_s25fs512s：初始化 SPI</a:t>
            </a:r>
          </a:p>
        </p:txBody>
      </p:sp>
      <p:cxnSp>
        <p:nvCxnSpPr>
          <p:cNvPr id="24" name="line-026"/>
          <p:cNvCxnSpPr/>
          <p:nvPr/>
        </p:nvCxnSpPr>
        <p:spPr>
          <a:xfrm>
            <a:off x="2400300" y="5880735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25" name="rect-028"/>
          <p:cNvSpPr/>
          <p:nvPr/>
        </p:nvSpPr>
        <p:spPr>
          <a:xfrm>
            <a:off x="600075" y="6320790"/>
            <a:ext cx="3600450" cy="640080"/>
          </a:xfrm>
          <a:prstGeom prst="roundRect">
            <a:avLst>
              <a:gd name="adj" fmla="val 125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29: gpt_boot_part_else_raw"/>
          <p:cNvSpPr txBox="1"/>
          <p:nvPr/>
        </p:nvSpPr>
        <p:spPr>
          <a:xfrm>
            <a:off x="760095" y="6352794"/>
            <a:ext cx="2568196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27" name="text-030: 镜像字节 → SPM 起点 code_buf"/>
          <p:cNvSpPr txBox="1"/>
          <p:nvPr/>
        </p:nvSpPr>
        <p:spPr>
          <a:xfrm>
            <a:off x="760095" y="6651391"/>
            <a:ext cx="2645281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镜像字节 → SPM 起点 code_buf</a:t>
            </a:r>
          </a:p>
        </p:txBody>
      </p:sp>
      <p:cxnSp>
        <p:nvCxnSpPr>
          <p:cNvPr id="28" name="line-031"/>
          <p:cNvCxnSpPr/>
          <p:nvPr/>
        </p:nvCxnSpPr>
        <p:spPr>
          <a:xfrm>
            <a:off x="2400300" y="6960870"/>
            <a:ext cx="0" cy="32004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29" name="rect-033"/>
          <p:cNvSpPr/>
          <p:nvPr/>
        </p:nvSpPr>
        <p:spPr>
          <a:xfrm>
            <a:off x="600075" y="7280910"/>
            <a:ext cx="3600450" cy="440055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4: boot_next_stage → jalr ra, 0(t0)"/>
          <p:cNvSpPr txBox="1"/>
          <p:nvPr/>
        </p:nvSpPr>
        <p:spPr>
          <a:xfrm>
            <a:off x="760095" y="7353559"/>
            <a:ext cx="3217677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 → jalr ra, 0(t0)</a:t>
            </a:r>
          </a:p>
        </p:txBody>
      </p:sp>
      <p:sp>
        <p:nvSpPr>
          <p:cNvPr id="31" name="path-035"/>
          <p:cNvSpPr/>
          <p:nvPr/>
        </p:nvSpPr>
        <p:spPr>
          <a:xfrm>
            <a:off x="4200525" y="3160395"/>
            <a:ext cx="960120" cy="4336542"/>
          </a:xfrm>
          <a:custGeom>
            <a:avLst/>
            <a:gdLst/>
            <a:ahLst/>
            <a:cxnLst/>
            <a:rect l="0" t="0" r="r" b="b"/>
            <a:pathLst>
              <a:path w="960120" h="4336542" fill="none">
                <a:moveTo>
                  <a:pt x="0" y="4336542"/>
                </a:moveTo>
                <a:lnTo>
                  <a:pt x="424053" y="4336542"/>
                </a:lnTo>
                <a:lnTo>
                  <a:pt x="424053" y="0"/>
                </a:lnTo>
                <a:lnTo>
                  <a:pt x="960120" y="0"/>
                </a:lnTo>
              </a:path>
            </a:pathLst>
          </a:custGeom>
          <a:noFill/>
          <a:ln w="24003" cap="flat">
            <a:solidFill>
              <a:srgbClr val="34816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7: jalr"/>
          <p:cNvSpPr txBox="1"/>
          <p:nvPr/>
        </p:nvSpPr>
        <p:spPr>
          <a:xfrm>
            <a:off x="4688586" y="5083835"/>
            <a:ext cx="394899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jalr</a:t>
            </a:r>
          </a:p>
        </p:txBody>
      </p:sp>
      <p:sp>
        <p:nvSpPr>
          <p:cNvPr id="33" name="text-038: 入口"/>
          <p:cNvSpPr txBox="1"/>
          <p:nvPr/>
        </p:nvSpPr>
        <p:spPr>
          <a:xfrm>
            <a:off x="4688586" y="5325146"/>
            <a:ext cx="432054" cy="2304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34" name="rect-039"/>
          <p:cNvSpPr/>
          <p:nvPr/>
        </p:nvSpPr>
        <p:spPr>
          <a:xfrm>
            <a:off x="5160645" y="288036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40: 载荷 _start @ 镜像起点"/>
          <p:cNvSpPr txBox="1"/>
          <p:nvPr/>
        </p:nvSpPr>
        <p:spPr>
          <a:xfrm>
            <a:off x="5320665" y="2912364"/>
            <a:ext cx="2345418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36" name="text-041: 由 sw/lib/crt0.S 提供"/>
          <p:cNvSpPr txBox="1"/>
          <p:nvPr/>
        </p:nvSpPr>
        <p:spPr>
          <a:xfrm>
            <a:off x="5320665" y="3170956"/>
            <a:ext cx="1774497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cxnSp>
        <p:nvCxnSpPr>
          <p:cNvPr id="37" name="line-042"/>
          <p:cNvCxnSpPr/>
          <p:nvPr/>
        </p:nvCxnSpPr>
        <p:spPr>
          <a:xfrm>
            <a:off x="6960870" y="3440430"/>
            <a:ext cx="0" cy="44005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38" name="rect-044"/>
          <p:cNvSpPr/>
          <p:nvPr/>
        </p:nvSpPr>
        <p:spPr>
          <a:xfrm>
            <a:off x="5160645" y="3880485"/>
            <a:ext cx="3600450" cy="920115"/>
          </a:xfrm>
          <a:prstGeom prst="roundRect">
            <a:avLst>
              <a:gd name="adj" fmla="val 869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5: CRT0：应用的运行环境"/>
          <p:cNvSpPr txBox="1"/>
          <p:nvPr/>
        </p:nvSpPr>
        <p:spPr>
          <a:xfrm>
            <a:off x="5320665" y="3928491"/>
            <a:ext cx="2318640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CRT0：应用的运行环境</a:t>
            </a:r>
          </a:p>
        </p:txBody>
      </p:sp>
      <p:sp>
        <p:nvSpPr>
          <p:cNvPr id="40" name="text-046: sp / gp、mtvec、清 BSS、FP"/>
          <p:cNvSpPr txBox="1"/>
          <p:nvPr/>
        </p:nvSpPr>
        <p:spPr>
          <a:xfrm>
            <a:off x="5320665" y="4203085"/>
            <a:ext cx="2439117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gp、mtvec、清 BSS、FP</a:t>
            </a:r>
          </a:p>
        </p:txBody>
      </p:sp>
      <p:sp>
        <p:nvSpPr>
          <p:cNvPr id="41" name="text-047: 保存进入应用的 ra；call main"/>
          <p:cNvSpPr txBox="1"/>
          <p:nvPr/>
        </p:nvSpPr>
        <p:spPr>
          <a:xfrm>
            <a:off x="5320665" y="4443115"/>
            <a:ext cx="2433792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cxnSp>
        <p:nvCxnSpPr>
          <p:cNvPr id="42" name="line-048"/>
          <p:cNvCxnSpPr/>
          <p:nvPr/>
        </p:nvCxnSpPr>
        <p:spPr>
          <a:xfrm>
            <a:off x="6960870" y="4800600"/>
            <a:ext cx="0" cy="44005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3" name="text-050: call"/>
          <p:cNvSpPr txBox="1"/>
          <p:nvPr/>
        </p:nvSpPr>
        <p:spPr>
          <a:xfrm>
            <a:off x="7120890" y="4883810"/>
            <a:ext cx="41387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sp>
        <p:nvSpPr>
          <p:cNvPr id="44" name="rect-051"/>
          <p:cNvSpPr/>
          <p:nvPr/>
        </p:nvSpPr>
        <p:spPr>
          <a:xfrm>
            <a:off x="5160645" y="5240655"/>
            <a:ext cx="3600450" cy="720090"/>
          </a:xfrm>
          <a:prstGeom prst="roundRect">
            <a:avLst>
              <a:gd name="adj" fmla="val 11111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52: 载荷自己的 main()"/>
          <p:cNvSpPr txBox="1"/>
          <p:nvPr/>
        </p:nvSpPr>
        <p:spPr>
          <a:xfrm>
            <a:off x="5320665" y="5280660"/>
            <a:ext cx="1916340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46" name="text-053: 执行任务；不返回则继续按程序运行"/>
          <p:cNvSpPr txBox="1"/>
          <p:nvPr/>
        </p:nvSpPr>
        <p:spPr>
          <a:xfrm>
            <a:off x="5320665" y="5555254"/>
            <a:ext cx="2856357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执行任务；不返回则继续按程序运行</a:t>
            </a:r>
          </a:p>
        </p:txBody>
      </p:sp>
      <p:cxnSp>
        <p:nvCxnSpPr>
          <p:cNvPr id="47" name="line-054"/>
          <p:cNvCxnSpPr/>
          <p:nvPr/>
        </p:nvCxnSpPr>
        <p:spPr>
          <a:xfrm>
            <a:off x="6960870" y="5960745"/>
            <a:ext cx="0" cy="68008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8" name="text-056: main 正常返回"/>
          <p:cNvSpPr txBox="1"/>
          <p:nvPr/>
        </p:nvSpPr>
        <p:spPr>
          <a:xfrm>
            <a:off x="7120890" y="6115964"/>
            <a:ext cx="122704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49" name="text-057: 回到 call 后的指令"/>
          <p:cNvSpPr txBox="1"/>
          <p:nvPr/>
        </p:nvSpPr>
        <p:spPr>
          <a:xfrm>
            <a:off x="7120890" y="6332631"/>
            <a:ext cx="1395262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回到 call 后的指令</a:t>
            </a:r>
          </a:p>
        </p:txBody>
      </p:sp>
      <p:sp>
        <p:nvSpPr>
          <p:cNvPr id="50" name="rect-058"/>
          <p:cNvSpPr/>
          <p:nvPr/>
        </p:nvSpPr>
        <p:spPr>
          <a:xfrm>
            <a:off x="5160645" y="6640830"/>
            <a:ext cx="360045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59: 应用 CRT0 的 _exit"/>
          <p:cNvSpPr txBox="1"/>
          <p:nvPr/>
        </p:nvSpPr>
        <p:spPr>
          <a:xfrm>
            <a:off x="5320665" y="6680835"/>
            <a:ext cx="1962358" cy="320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应用 CRT0 的 _exit</a:t>
            </a:r>
          </a:p>
        </p:txBody>
      </p:sp>
      <p:sp>
        <p:nvSpPr>
          <p:cNvPr id="52" name="text-060: scratch2 = (返回值 &lt;&lt; 1) | 1"/>
          <p:cNvSpPr txBox="1"/>
          <p:nvPr/>
        </p:nvSpPr>
        <p:spPr>
          <a:xfrm>
            <a:off x="5320665" y="6955429"/>
            <a:ext cx="2364296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53" name="text-061: 恢复栈上 sp / gp / ra，然后 ret"/>
          <p:cNvSpPr txBox="1"/>
          <p:nvPr/>
        </p:nvSpPr>
        <p:spPr>
          <a:xfrm>
            <a:off x="5320665" y="7195459"/>
            <a:ext cx="2562670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恢复栈上 sp / gp / ra，然后 ret</a:t>
            </a:r>
          </a:p>
        </p:txBody>
      </p:sp>
      <p:sp>
        <p:nvSpPr>
          <p:cNvPr id="54" name="rect-062"/>
          <p:cNvSpPr/>
          <p:nvPr/>
        </p:nvSpPr>
        <p:spPr>
          <a:xfrm>
            <a:off x="9681210" y="2880360"/>
            <a:ext cx="2560320" cy="880110"/>
          </a:xfrm>
          <a:prstGeom prst="roundRect">
            <a:avLst>
              <a:gd name="adj" fmla="val 9090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63: return 不会自动停机"/>
          <p:cNvSpPr txBox="1"/>
          <p:nvPr/>
        </p:nvSpPr>
        <p:spPr>
          <a:xfrm>
            <a:off x="9841230" y="2929646"/>
            <a:ext cx="1920303" cy="2944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56" name="text-064: 不自动复位 / 断电 / 换权限"/>
          <p:cNvSpPr txBox="1"/>
          <p:nvPr/>
        </p:nvSpPr>
        <p:spPr>
          <a:xfrm>
            <a:off x="9841230" y="3186958"/>
            <a:ext cx="2190674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57" name="text-065: CPU 仍由时钟驱动并继续取指"/>
          <p:cNvSpPr txBox="1"/>
          <p:nvPr/>
        </p:nvSpPr>
        <p:spPr>
          <a:xfrm>
            <a:off x="9841230" y="3426988"/>
            <a:ext cx="2406613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58" name="rect-066"/>
          <p:cNvSpPr/>
          <p:nvPr/>
        </p:nvSpPr>
        <p:spPr>
          <a:xfrm>
            <a:off x="9681210" y="4440555"/>
            <a:ext cx="2560320" cy="1240155"/>
          </a:xfrm>
          <a:prstGeom prst="roundRect">
            <a:avLst>
              <a:gd name="adj" fmla="val 6451"/>
            </a:avLst>
          </a:prstGeom>
          <a:solidFill>
            <a:srgbClr val="FCECEC"/>
          </a:solidFill>
          <a:ln w="16002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-067: 当前 ROM 的调用后返回点"/>
          <p:cNvSpPr txBox="1"/>
          <p:nvPr/>
        </p:nvSpPr>
        <p:spPr>
          <a:xfrm>
            <a:off x="9841230" y="4497842"/>
            <a:ext cx="2416102" cy="2944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60" name="text-068: boot_next_stage：jalr 后是 ret"/>
          <p:cNvSpPr txBox="1"/>
          <p:nvPr/>
        </p:nvSpPr>
        <p:spPr>
          <a:xfrm>
            <a:off x="9841230" y="4763155"/>
            <a:ext cx="2554707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boot_next_stage：jalr 后是 ret</a:t>
            </a:r>
          </a:p>
        </p:txBody>
      </p:sp>
      <p:sp>
        <p:nvSpPr>
          <p:cNvPr id="61" name="text-069: 未保存上一层 ra"/>
          <p:cNvSpPr txBox="1"/>
          <p:nvPr/>
        </p:nvSpPr>
        <p:spPr>
          <a:xfrm>
            <a:off x="9841230" y="5003185"/>
            <a:ext cx="1382898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62" name="text-070: 可形成 ret 自循环（源码推导）"/>
          <p:cNvSpPr txBox="1"/>
          <p:nvPr/>
        </p:nvSpPr>
        <p:spPr>
          <a:xfrm>
            <a:off x="9841230" y="5243215"/>
            <a:ext cx="2503425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63" name="text-071: 不是按设计进入 ROM 的 _exit"/>
          <p:cNvSpPr txBox="1"/>
          <p:nvPr/>
        </p:nvSpPr>
        <p:spPr>
          <a:xfrm>
            <a:off x="9841230" y="5445801"/>
            <a:ext cx="1969896" cy="2176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不是按设计进入 ROM 的 _exit</a:t>
            </a:r>
          </a:p>
        </p:txBody>
      </p:sp>
      <p:sp>
        <p:nvSpPr>
          <p:cNvPr id="64" name="path-072"/>
          <p:cNvSpPr/>
          <p:nvPr/>
        </p:nvSpPr>
        <p:spPr>
          <a:xfrm>
            <a:off x="8761095" y="5048631"/>
            <a:ext cx="920115" cy="1744218"/>
          </a:xfrm>
          <a:custGeom>
            <a:avLst/>
            <a:gdLst/>
            <a:ahLst/>
            <a:cxnLst/>
            <a:rect l="0" t="0" r="r" b="b"/>
            <a:pathLst>
              <a:path w="920115" h="1744218" fill="none">
                <a:moveTo>
                  <a:pt x="0" y="1744218"/>
                </a:moveTo>
                <a:lnTo>
                  <a:pt x="440055" y="1744218"/>
                </a:lnTo>
                <a:lnTo>
                  <a:pt x="440055" y="0"/>
                </a:lnTo>
                <a:lnTo>
                  <a:pt x="920115" y="0"/>
                </a:lnTo>
              </a:path>
            </a:pathLst>
          </a:custGeom>
          <a:noFill/>
          <a:ln w="24003" cap="flat">
            <a:solidFill>
              <a:srgbClr val="B85E5E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-074: ret"/>
          <p:cNvSpPr txBox="1"/>
          <p:nvPr/>
        </p:nvSpPr>
        <p:spPr>
          <a:xfrm>
            <a:off x="9265158" y="5964585"/>
            <a:ext cx="350794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66" name="rect-075"/>
          <p:cNvSpPr/>
          <p:nvPr/>
        </p:nvSpPr>
        <p:spPr>
          <a:xfrm>
            <a:off x="9681210" y="6480810"/>
            <a:ext cx="2560320" cy="1160145"/>
          </a:xfrm>
          <a:prstGeom prst="roundRect">
            <a:avLst>
              <a:gd name="adj" fmla="val 6896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-076: 外部观察者：仿真 / 调试器"/>
          <p:cNvSpPr txBox="1"/>
          <p:nvPr/>
        </p:nvSpPr>
        <p:spPr>
          <a:xfrm>
            <a:off x="9841230" y="6546738"/>
            <a:ext cx="2300325" cy="2816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外部观察者：仿真 / 调试器</a:t>
            </a:r>
          </a:p>
        </p:txBody>
      </p:sp>
      <p:sp>
        <p:nvSpPr>
          <p:cNvPr id="68" name="text-077: 读取 scratch2 完成标志"/>
          <p:cNvSpPr txBox="1"/>
          <p:nvPr/>
        </p:nvSpPr>
        <p:spPr>
          <a:xfrm>
            <a:off x="9841230" y="6803410"/>
            <a:ext cx="1941118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69" name="text-078: 仿真 TB 可结束仿真进程"/>
          <p:cNvSpPr txBox="1"/>
          <p:nvPr/>
        </p:nvSpPr>
        <p:spPr>
          <a:xfrm>
            <a:off x="9841230" y="7043440"/>
            <a:ext cx="1981385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仿真 TB 可结束仿真进程</a:t>
            </a:r>
          </a:p>
        </p:txBody>
      </p:sp>
      <p:sp>
        <p:nvSpPr>
          <p:cNvPr id="70" name="text-079: 完成通知 ≠ CPU 自动停机"/>
          <p:cNvSpPr txBox="1"/>
          <p:nvPr/>
        </p:nvSpPr>
        <p:spPr>
          <a:xfrm>
            <a:off x="9841230" y="7283470"/>
            <a:ext cx="2126603" cy="26883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完成通知 ≠ CPU 自动停机</a:t>
            </a:r>
          </a:p>
        </p:txBody>
      </p:sp>
      <p:cxnSp>
        <p:nvCxnSpPr>
          <p:cNvPr id="71" name="line-080"/>
          <p:cNvCxnSpPr/>
          <p:nvPr/>
        </p:nvCxnSpPr>
        <p:spPr>
          <a:xfrm>
            <a:off x="8761095" y="7176897"/>
            <a:ext cx="920115" cy="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72" name="text-082: 路径边界：JTAG 直接设置 PC、UART invoke、OS 程序退出各有不"/>
          <p:cNvSpPr txBox="1"/>
          <p:nvPr/>
        </p:nvSpPr>
        <p:spPr>
          <a:xfrm>
            <a:off x="320040" y="7900827"/>
            <a:ext cx="7286523" cy="2432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路径边界：JTAG 直接设置 PC、UART invoke、OS 程序退出各有不同契约；本图不把它们等同此调用链。</a:t>
            </a:r>
          </a:p>
        </p:txBody>
      </p:sp>
      <p:sp>
        <p:nvSpPr>
          <p:cNvPr id="73" name="text-083: 依据：cheshire_bootrom.S / .c；gpt.c；crt0.S；"/>
          <p:cNvSpPr txBox="1"/>
          <p:nvPr/>
        </p:nvSpPr>
        <p:spPr>
          <a:xfrm>
            <a:off x="320040" y="8150139"/>
            <a:ext cx="6774584" cy="2176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依据：cheshire_bootrom.S / .c；gpt.c；crt0.S；rom.ld · HEAD 278434024 · 2026-10-08 · 未新增目标运行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2: Cheshire SoC 软硬件分层结构"/>
          <p:cNvSpPr txBox="1"/>
          <p:nvPr/>
        </p:nvSpPr>
        <p:spPr>
          <a:xfrm>
            <a:off x="256032" y="98060"/>
            <a:ext cx="4376737" cy="4710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18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3" name="text-003: 以当前裸机工程为主线 · 通用功能、设备控制与指令执行各有明确边界"/>
          <p:cNvSpPr txBox="1"/>
          <p:nvPr/>
        </p:nvSpPr>
        <p:spPr>
          <a:xfrm>
            <a:off x="268834" y="512064"/>
            <a:ext cx="509383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以当前裸机工程为主线 · 通用功能、设备控制与指令执行各有明确边界</a:t>
            </a:r>
          </a:p>
        </p:txBody>
      </p:sp>
      <p:sp>
        <p:nvSpPr>
          <p:cNvPr id="4" name="text-004: 工程结构 / 规划扩展"/>
          <p:cNvSpPr txBox="1"/>
          <p:nvPr/>
        </p:nvSpPr>
        <p:spPr>
          <a:xfrm>
            <a:off x="11127761" y="263969"/>
            <a:ext cx="1417807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工程结构 / 规划扩展</a:t>
            </a:r>
          </a:p>
        </p:txBody>
      </p:sp>
      <p:sp>
        <p:nvSpPr>
          <p:cNvPr id="5" name="text-005: mp/ara-pulp-v2 · 278434024"/>
          <p:cNvSpPr txBox="1"/>
          <p:nvPr/>
        </p:nvSpPr>
        <p:spPr>
          <a:xfrm>
            <a:off x="10659012" y="508224"/>
            <a:ext cx="1886556" cy="2048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mp/ara-pulp-v2 · 278434024</a:t>
            </a:r>
          </a:p>
        </p:txBody>
      </p:sp>
      <p:sp>
        <p:nvSpPr>
          <p:cNvPr id="6" name="rect-006"/>
          <p:cNvSpPr/>
          <p:nvPr/>
        </p:nvSpPr>
        <p:spPr>
          <a:xfrm>
            <a:off x="256032" y="960120"/>
            <a:ext cx="9601200" cy="896112"/>
          </a:xfrm>
          <a:prstGeom prst="roundRect">
            <a:avLst>
              <a:gd name="adj" fmla="val 8571"/>
            </a:avLst>
          </a:prstGeom>
          <a:solidFill>
            <a:srgbClr val="F0E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-007"/>
          <p:cNvSpPr/>
          <p:nvPr/>
        </p:nvSpPr>
        <p:spPr>
          <a:xfrm>
            <a:off x="256032" y="960120"/>
            <a:ext cx="51206" cy="896112"/>
          </a:xfrm>
          <a:prstGeom prst="rect">
            <a:avLst/>
          </a:prstGeom>
          <a:solidFill>
            <a:srgbClr val="705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-008: 01"/>
          <p:cNvSpPr txBox="1"/>
          <p:nvPr/>
        </p:nvSpPr>
        <p:spPr>
          <a:xfrm>
            <a:off x="435254" y="1064069"/>
            <a:ext cx="31449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70529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-009: 应用软件"/>
          <p:cNvSpPr txBox="1"/>
          <p:nvPr/>
        </p:nvSpPr>
        <p:spPr>
          <a:xfrm>
            <a:off x="435254" y="1284513"/>
            <a:ext cx="928116" cy="296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10" name="text-010: 表达计算与任务"/>
          <p:cNvSpPr txBox="1"/>
          <p:nvPr/>
        </p:nvSpPr>
        <p:spPr>
          <a:xfrm>
            <a:off x="435254" y="1558467"/>
            <a:ext cx="972922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表达计算与任务</a:t>
            </a:r>
          </a:p>
        </p:txBody>
      </p:sp>
      <p:cxnSp>
        <p:nvCxnSpPr>
          <p:cNvPr id="11" name="line-011"/>
          <p:cNvCxnSpPr/>
          <p:nvPr/>
        </p:nvCxnSpPr>
        <p:spPr>
          <a:xfrm>
            <a:off x="1369771" y="1113739"/>
            <a:ext cx="0" cy="58887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2" name="rect-012"/>
          <p:cNvSpPr/>
          <p:nvPr/>
        </p:nvSpPr>
        <p:spPr>
          <a:xfrm>
            <a:off x="1536192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3: 裸机应用与测试"/>
          <p:cNvSpPr txBox="1"/>
          <p:nvPr/>
        </p:nvSpPr>
        <p:spPr>
          <a:xfrm>
            <a:off x="1830629" y="1183636"/>
            <a:ext cx="1331366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14" name="text-014: HelloWorld · 结果校验"/>
          <p:cNvSpPr txBox="1"/>
          <p:nvPr/>
        </p:nvSpPr>
        <p:spPr>
          <a:xfrm>
            <a:off x="1739787" y="1429427"/>
            <a:ext cx="1513049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HelloWorld · 结果校验</a:t>
            </a:r>
          </a:p>
        </p:txBody>
      </p:sp>
      <p:sp>
        <p:nvSpPr>
          <p:cNvPr id="15" name="rect-015"/>
          <p:cNvSpPr/>
          <p:nvPr/>
        </p:nvSpPr>
        <p:spPr>
          <a:xfrm>
            <a:off x="3571646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16: 向量算法"/>
          <p:cNvSpPr txBox="1"/>
          <p:nvPr/>
        </p:nvSpPr>
        <p:spPr>
          <a:xfrm>
            <a:off x="4115714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7" name="text-017: RVV · 矩阵计算"/>
          <p:cNvSpPr txBox="1"/>
          <p:nvPr/>
        </p:nvSpPr>
        <p:spPr>
          <a:xfrm>
            <a:off x="4004996" y="1429427"/>
            <a:ext cx="1053542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· 矩阵计算</a:t>
            </a:r>
          </a:p>
        </p:txBody>
      </p:sp>
      <p:sp>
        <p:nvSpPr>
          <p:cNvPr id="18" name="rect-018"/>
          <p:cNvSpPr/>
          <p:nvPr/>
        </p:nvSpPr>
        <p:spPr>
          <a:xfrm>
            <a:off x="5607101" y="1126541"/>
            <a:ext cx="1933042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19: 系统工具"/>
          <p:cNvSpPr txBox="1"/>
          <p:nvPr/>
        </p:nvSpPr>
        <p:spPr>
          <a:xfrm>
            <a:off x="6157570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20" name="text-020: 介质烧写 · 下载执行"/>
          <p:cNvSpPr txBox="1"/>
          <p:nvPr/>
        </p:nvSpPr>
        <p:spPr>
          <a:xfrm>
            <a:off x="5912794" y="1429427"/>
            <a:ext cx="1321655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介质烧写 · 下载执行</a:t>
            </a:r>
          </a:p>
        </p:txBody>
      </p:sp>
      <p:sp>
        <p:nvSpPr>
          <p:cNvPr id="21" name="rect-021"/>
          <p:cNvSpPr/>
          <p:nvPr/>
        </p:nvSpPr>
        <p:spPr>
          <a:xfrm>
            <a:off x="7655357" y="1126541"/>
            <a:ext cx="2048256" cy="563270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64: 图像处理与推理"/>
          <p:cNvSpPr txBox="1"/>
          <p:nvPr/>
        </p:nvSpPr>
        <p:spPr>
          <a:xfrm>
            <a:off x="8039405" y="1190549"/>
            <a:ext cx="12801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23" name="text-065: ISP / NPU 工作负载〔规划〕"/>
          <p:cNvSpPr txBox="1"/>
          <p:nvPr/>
        </p:nvSpPr>
        <p:spPr>
          <a:xfrm>
            <a:off x="7740627" y="1429427"/>
            <a:ext cx="1877715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24" name="rect-066"/>
          <p:cNvSpPr/>
          <p:nvPr/>
        </p:nvSpPr>
        <p:spPr>
          <a:xfrm>
            <a:off x="256032" y="1984248"/>
            <a:ext cx="9601200" cy="2944368"/>
          </a:xfrm>
          <a:prstGeom prst="roundRect">
            <a:avLst>
              <a:gd name="adj" fmla="val 2608"/>
            </a:avLst>
          </a:prstGeom>
          <a:solidFill>
            <a:srgbClr val="EAF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67"/>
          <p:cNvSpPr/>
          <p:nvPr/>
        </p:nvSpPr>
        <p:spPr>
          <a:xfrm>
            <a:off x="256032" y="1984248"/>
            <a:ext cx="51206" cy="2944368"/>
          </a:xfrm>
          <a:prstGeom prst="rect">
            <a:avLst/>
          </a:pr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68: 02"/>
          <p:cNvSpPr txBox="1"/>
          <p:nvPr/>
        </p:nvSpPr>
        <p:spPr>
          <a:xfrm>
            <a:off x="435254" y="2088197"/>
            <a:ext cx="31449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text-069: 基础软件"/>
          <p:cNvSpPr txBox="1"/>
          <p:nvPr/>
        </p:nvSpPr>
        <p:spPr>
          <a:xfrm>
            <a:off x="435254" y="2308641"/>
            <a:ext cx="928116" cy="296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基础软件</a:t>
            </a:r>
          </a:p>
        </p:txBody>
      </p:sp>
      <p:sp>
        <p:nvSpPr>
          <p:cNvPr id="28" name="text-070: 功能与设备控制"/>
          <p:cNvSpPr txBox="1"/>
          <p:nvPr/>
        </p:nvSpPr>
        <p:spPr>
          <a:xfrm>
            <a:off x="435254" y="2582595"/>
            <a:ext cx="972922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功能与设备控制</a:t>
            </a:r>
          </a:p>
        </p:txBody>
      </p:sp>
      <p:cxnSp>
        <p:nvCxnSpPr>
          <p:cNvPr id="29" name="line-071"/>
          <p:cNvCxnSpPr/>
          <p:nvPr/>
        </p:nvCxnSpPr>
        <p:spPr>
          <a:xfrm>
            <a:off x="1369771" y="2137867"/>
            <a:ext cx="0" cy="2637130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30" name="text-072: 通用功能与器件协议"/>
          <p:cNvSpPr txBox="1"/>
          <p:nvPr/>
        </p:nvSpPr>
        <p:spPr>
          <a:xfrm>
            <a:off x="1536192" y="2049792"/>
            <a:ext cx="1408176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通用功能与器件协议</a:t>
            </a:r>
          </a:p>
        </p:txBody>
      </p:sp>
      <p:sp>
        <p:nvSpPr>
          <p:cNvPr id="31" name="text-073: 应用可直接调用所需接口"/>
          <p:cNvSpPr txBox="1"/>
          <p:nvPr/>
        </p:nvSpPr>
        <p:spPr>
          <a:xfrm>
            <a:off x="8167421" y="2063618"/>
            <a:ext cx="1536192" cy="2048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应用可直接调用所需接口</a:t>
            </a:r>
          </a:p>
        </p:txBody>
      </p:sp>
      <p:sp>
        <p:nvSpPr>
          <p:cNvPr id="32" name="rect-074"/>
          <p:cNvSpPr/>
          <p:nvPr/>
        </p:nvSpPr>
        <p:spPr>
          <a:xfrm>
            <a:off x="1536192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75: printf"/>
          <p:cNvSpPr txBox="1"/>
          <p:nvPr/>
        </p:nvSpPr>
        <p:spPr>
          <a:xfrm>
            <a:off x="2060192" y="2367784"/>
            <a:ext cx="641810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34" name="text-076: 格式化文本 → _putchar"/>
          <p:cNvSpPr txBox="1"/>
          <p:nvPr/>
        </p:nvSpPr>
        <p:spPr>
          <a:xfrm>
            <a:off x="1594414" y="2613575"/>
            <a:ext cx="1573367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格式化文本 → _putchar</a:t>
            </a:r>
          </a:p>
        </p:txBody>
      </p:sp>
      <p:sp>
        <p:nvSpPr>
          <p:cNvPr id="35" name="rect-077"/>
          <p:cNvSpPr/>
          <p:nvPr/>
        </p:nvSpPr>
        <p:spPr>
          <a:xfrm>
            <a:off x="3405226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78: GPT 解析"/>
          <p:cNvSpPr txBox="1"/>
          <p:nvPr/>
        </p:nvSpPr>
        <p:spPr>
          <a:xfrm>
            <a:off x="3805316" y="2367784"/>
            <a:ext cx="889631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37" name="text-079: read 回调访问介质"/>
          <p:cNvSpPr txBox="1"/>
          <p:nvPr/>
        </p:nvSpPr>
        <p:spPr>
          <a:xfrm>
            <a:off x="3616797" y="2613575"/>
            <a:ext cx="1266668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38" name="rect-080"/>
          <p:cNvSpPr/>
          <p:nvPr/>
        </p:nvSpPr>
        <p:spPr>
          <a:xfrm>
            <a:off x="5274259" y="2310689"/>
            <a:ext cx="240670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81: 存储器件 HAL"/>
          <p:cNvSpPr txBox="1"/>
          <p:nvPr/>
        </p:nvSpPr>
        <p:spPr>
          <a:xfrm>
            <a:off x="5884095" y="2374697"/>
            <a:ext cx="118702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40" name="text-082: SPI Flash · SD · I²C EEPROM"/>
          <p:cNvSpPr txBox="1"/>
          <p:nvPr/>
        </p:nvSpPr>
        <p:spPr>
          <a:xfrm>
            <a:off x="5535597" y="2613575"/>
            <a:ext cx="1884025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SPI Flash · SD · I²C EEPROM</a:t>
            </a:r>
          </a:p>
        </p:txBody>
      </p:sp>
      <p:sp>
        <p:nvSpPr>
          <p:cNvPr id="41" name="rect-083"/>
          <p:cNvSpPr/>
          <p:nvPr/>
        </p:nvSpPr>
        <p:spPr>
          <a:xfrm>
            <a:off x="7860182" y="2310689"/>
            <a:ext cx="184343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84: UART debug HAL"/>
          <p:cNvSpPr txBox="1"/>
          <p:nvPr/>
        </p:nvSpPr>
        <p:spPr>
          <a:xfrm>
            <a:off x="8033179" y="2381610"/>
            <a:ext cx="1497437" cy="2457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43" name="text-085: READ / WRITE / EXEC"/>
          <p:cNvSpPr txBox="1"/>
          <p:nvPr/>
        </p:nvSpPr>
        <p:spPr>
          <a:xfrm>
            <a:off x="8028038" y="2613575"/>
            <a:ext cx="1507718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cxnSp>
        <p:nvCxnSpPr>
          <p:cNvPr id="44" name="line-086"/>
          <p:cNvCxnSpPr/>
          <p:nvPr/>
        </p:nvCxnSpPr>
        <p:spPr>
          <a:xfrm>
            <a:off x="5107838" y="2598725"/>
            <a:ext cx="140818" cy="0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45" name="line-088"/>
          <p:cNvCxnSpPr/>
          <p:nvPr/>
        </p:nvCxnSpPr>
        <p:spPr>
          <a:xfrm>
            <a:off x="2381098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46" name="line-090"/>
          <p:cNvCxnSpPr/>
          <p:nvPr/>
        </p:nvCxnSpPr>
        <p:spPr>
          <a:xfrm>
            <a:off x="6477610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47" name="text-092: 代表性函数调用"/>
          <p:cNvSpPr txBox="1"/>
          <p:nvPr/>
        </p:nvSpPr>
        <p:spPr>
          <a:xfrm>
            <a:off x="3648456" y="3024250"/>
            <a:ext cx="972922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代表性函数调用</a:t>
            </a:r>
          </a:p>
        </p:txBody>
      </p:sp>
      <p:sp>
        <p:nvSpPr>
          <p:cNvPr id="48" name="rect-093"/>
          <p:cNvSpPr/>
          <p:nvPr/>
        </p:nvSpPr>
        <p:spPr>
          <a:xfrm>
            <a:off x="1536192" y="3290011"/>
            <a:ext cx="1689811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94: UART DIF"/>
          <p:cNvSpPr txBox="1"/>
          <p:nvPr/>
        </p:nvSpPr>
        <p:spPr>
          <a:xfrm>
            <a:off x="1899342" y="3347106"/>
            <a:ext cx="963510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50" name="text-095: 初始化 · FIFO 字节收发"/>
          <p:cNvSpPr txBox="1"/>
          <p:nvPr/>
        </p:nvSpPr>
        <p:spPr>
          <a:xfrm>
            <a:off x="1621653" y="3592897"/>
            <a:ext cx="1518890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初始化 · FIFO 字节收发</a:t>
            </a:r>
          </a:p>
        </p:txBody>
      </p:sp>
      <p:sp>
        <p:nvSpPr>
          <p:cNvPr id="51" name="rect-096"/>
          <p:cNvSpPr/>
          <p:nvPr/>
        </p:nvSpPr>
        <p:spPr>
          <a:xfrm>
            <a:off x="3405226" y="3290011"/>
            <a:ext cx="4275734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-097: SPI / I²C / GPIO DIF"/>
          <p:cNvSpPr txBox="1"/>
          <p:nvPr/>
        </p:nvSpPr>
        <p:spPr>
          <a:xfrm>
            <a:off x="4650166" y="3347106"/>
            <a:ext cx="1785853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53" name="text-098: 控制器配置 · 传输段 · 状态与寄存器操作"/>
          <p:cNvSpPr txBox="1"/>
          <p:nvPr/>
        </p:nvSpPr>
        <p:spPr>
          <a:xfrm>
            <a:off x="4288646" y="3592897"/>
            <a:ext cx="2508894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控制器配置 · 传输段 · 状态与寄存器操作</a:t>
            </a:r>
          </a:p>
        </p:txBody>
      </p:sp>
      <p:sp>
        <p:nvSpPr>
          <p:cNvPr id="54" name="rect-099"/>
          <p:cNvSpPr/>
          <p:nvPr/>
        </p:nvSpPr>
        <p:spPr>
          <a:xfrm>
            <a:off x="7860182" y="3290011"/>
            <a:ext cx="184343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100: CLINT / DMA 接口"/>
          <p:cNvSpPr txBox="1"/>
          <p:nvPr/>
        </p:nvSpPr>
        <p:spPr>
          <a:xfrm>
            <a:off x="8016302" y="3360932"/>
            <a:ext cx="1531191" cy="2457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56" name="text-101: 计时 · 配置与提交"/>
          <p:cNvSpPr txBox="1"/>
          <p:nvPr/>
        </p:nvSpPr>
        <p:spPr>
          <a:xfrm>
            <a:off x="8188278" y="3592897"/>
            <a:ext cx="1187238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计时 · 配置与提交</a:t>
            </a:r>
          </a:p>
        </p:txBody>
      </p:sp>
      <p:cxnSp>
        <p:nvCxnSpPr>
          <p:cNvPr id="57" name="line-102"/>
          <p:cNvCxnSpPr/>
          <p:nvPr/>
        </p:nvCxnSpPr>
        <p:spPr>
          <a:xfrm>
            <a:off x="23810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58" name="line-104"/>
          <p:cNvCxnSpPr/>
          <p:nvPr/>
        </p:nvCxnSpPr>
        <p:spPr>
          <a:xfrm>
            <a:off x="6477610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59" name="line-106"/>
          <p:cNvCxnSpPr/>
          <p:nvPr/>
        </p:nvCxnSpPr>
        <p:spPr>
          <a:xfrm>
            <a:off x="87818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60" name="rect-108"/>
          <p:cNvSpPr/>
          <p:nvPr/>
        </p:nvSpPr>
        <p:spPr>
          <a:xfrm>
            <a:off x="1536192" y="4134917"/>
            <a:ext cx="8167421" cy="48646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601" cap="flat">
            <a:solidFill>
              <a:srgbClr val="A9C3D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-109: MMIO 访问工具"/>
          <p:cNvSpPr txBox="1"/>
          <p:nvPr/>
        </p:nvSpPr>
        <p:spPr>
          <a:xfrm>
            <a:off x="1664208" y="4160520"/>
            <a:ext cx="13615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MMIO 访问工具</a:t>
            </a:r>
          </a:p>
        </p:txBody>
      </p:sp>
      <p:sp>
        <p:nvSpPr>
          <p:cNvPr id="62" name="text-110: reg8 / reg32 · mmio_region_read / write"/>
          <p:cNvSpPr txBox="1"/>
          <p:nvPr/>
        </p:nvSpPr>
        <p:spPr>
          <a:xfrm>
            <a:off x="3296412" y="4174346"/>
            <a:ext cx="2950469" cy="2355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reg8 / reg32 · mmio_region_read / write</a:t>
            </a:r>
          </a:p>
        </p:txBody>
      </p:sp>
      <p:sp>
        <p:nvSpPr>
          <p:cNvPr id="63" name="text-111: 基址 + 寄存器偏移 + 访问位宽；regs 头文件提供偏移和位字段"/>
          <p:cNvSpPr txBox="1"/>
          <p:nvPr/>
        </p:nvSpPr>
        <p:spPr>
          <a:xfrm>
            <a:off x="1664208" y="4373283"/>
            <a:ext cx="4083770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基址 + 寄存器偏移 + 访问位宽；regs 头文件提供偏移和位字段</a:t>
            </a:r>
          </a:p>
        </p:txBody>
      </p:sp>
      <p:sp>
        <p:nvSpPr>
          <p:cNvPr id="64" name="text-112: 其他专用库：LLC · AXI RT     |     libcheshire"/>
          <p:cNvSpPr txBox="1"/>
          <p:nvPr/>
        </p:nvSpPr>
        <p:spPr>
          <a:xfrm>
            <a:off x="1536192" y="4667719"/>
            <a:ext cx="5039380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其他专用库：LLC · AXI RT     |     libcheshire.a：代码归档方式，涵盖多个职责</a:t>
            </a:r>
          </a:p>
        </p:txBody>
      </p:sp>
      <p:sp>
        <p:nvSpPr>
          <p:cNvPr id="65" name="rect-113"/>
          <p:cNvSpPr/>
          <p:nvPr/>
        </p:nvSpPr>
        <p:spPr>
          <a:xfrm>
            <a:off x="256032" y="5056632"/>
            <a:ext cx="9601200" cy="9601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-114"/>
          <p:cNvSpPr/>
          <p:nvPr/>
        </p:nvSpPr>
        <p:spPr>
          <a:xfrm>
            <a:off x="256032" y="5056632"/>
            <a:ext cx="51206" cy="960120"/>
          </a:xfrm>
          <a:prstGeom prst="rect">
            <a:avLst/>
          </a:prstGeom>
          <a:solidFill>
            <a:srgbClr val="217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-115: 接口"/>
          <p:cNvSpPr txBox="1"/>
          <p:nvPr/>
        </p:nvSpPr>
        <p:spPr>
          <a:xfrm>
            <a:off x="435254" y="5160581"/>
            <a:ext cx="422453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68" name="text-116: 接口边界"/>
          <p:cNvSpPr txBox="1"/>
          <p:nvPr/>
        </p:nvSpPr>
        <p:spPr>
          <a:xfrm>
            <a:off x="435254" y="5381025"/>
            <a:ext cx="928116" cy="296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69" name="text-117: 软件可见的契约"/>
          <p:cNvSpPr txBox="1"/>
          <p:nvPr/>
        </p:nvSpPr>
        <p:spPr>
          <a:xfrm>
            <a:off x="435254" y="5654979"/>
            <a:ext cx="972922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软件可见的契约</a:t>
            </a:r>
          </a:p>
        </p:txBody>
      </p:sp>
      <p:cxnSp>
        <p:nvCxnSpPr>
          <p:cNvPr id="70" name="line-118"/>
          <p:cNvCxnSpPr/>
          <p:nvPr/>
        </p:nvCxnSpPr>
        <p:spPr>
          <a:xfrm>
            <a:off x="1369771" y="5210251"/>
            <a:ext cx="0" cy="652882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71" name="rect-119"/>
          <p:cNvSpPr/>
          <p:nvPr/>
        </p:nvSpPr>
        <p:spPr>
          <a:xfrm>
            <a:off x="1536192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-120: 指令执行"/>
          <p:cNvSpPr txBox="1"/>
          <p:nvPr/>
        </p:nvSpPr>
        <p:spPr>
          <a:xfrm>
            <a:off x="2080260" y="5292950"/>
            <a:ext cx="832104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73" name="text-121: 标量指令 · RVV"/>
          <p:cNvSpPr txBox="1"/>
          <p:nvPr/>
        </p:nvSpPr>
        <p:spPr>
          <a:xfrm>
            <a:off x="1969541" y="5538740"/>
            <a:ext cx="1053542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标量指令 · RVV</a:t>
            </a:r>
          </a:p>
        </p:txBody>
      </p:sp>
      <p:sp>
        <p:nvSpPr>
          <p:cNvPr id="74" name="rect-122"/>
          <p:cNvSpPr/>
          <p:nvPr/>
        </p:nvSpPr>
        <p:spPr>
          <a:xfrm>
            <a:off x="3571646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-123: CSR 与特权状态"/>
          <p:cNvSpPr txBox="1"/>
          <p:nvPr/>
        </p:nvSpPr>
        <p:spPr>
          <a:xfrm>
            <a:off x="3843535" y="5292950"/>
            <a:ext cx="1376462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76" name="text-124: 处理器配置与控制"/>
          <p:cNvSpPr txBox="1"/>
          <p:nvPr/>
        </p:nvSpPr>
        <p:spPr>
          <a:xfrm>
            <a:off x="3926891" y="5538740"/>
            <a:ext cx="1209751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77" name="rect-125"/>
          <p:cNvSpPr/>
          <p:nvPr/>
        </p:nvSpPr>
        <p:spPr>
          <a:xfrm>
            <a:off x="5607101" y="5235854"/>
            <a:ext cx="1933042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-126: 内存与 MMIO"/>
          <p:cNvSpPr txBox="1"/>
          <p:nvPr/>
        </p:nvSpPr>
        <p:spPr>
          <a:xfrm>
            <a:off x="5972882" y="5299862"/>
            <a:ext cx="120148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79" name="text-127: 地址 · 属性 · 寄存器语义"/>
          <p:cNvSpPr txBox="1"/>
          <p:nvPr/>
        </p:nvSpPr>
        <p:spPr>
          <a:xfrm>
            <a:off x="5789634" y="5538740"/>
            <a:ext cx="1567976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地址 · 属性 · 寄存器语义</a:t>
            </a:r>
          </a:p>
        </p:txBody>
      </p:sp>
      <p:sp>
        <p:nvSpPr>
          <p:cNvPr id="80" name="rect-128"/>
          <p:cNvSpPr/>
          <p:nvPr/>
        </p:nvSpPr>
        <p:spPr>
          <a:xfrm>
            <a:off x="7655357" y="5235854"/>
            <a:ext cx="2048256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-129: 异常与中断"/>
          <p:cNvSpPr txBox="1"/>
          <p:nvPr/>
        </p:nvSpPr>
        <p:spPr>
          <a:xfrm>
            <a:off x="8180222" y="5292950"/>
            <a:ext cx="998525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82" name="text-130: 事件入口 · 处理与返回"/>
          <p:cNvSpPr txBox="1"/>
          <p:nvPr/>
        </p:nvSpPr>
        <p:spPr>
          <a:xfrm>
            <a:off x="7951449" y="5538740"/>
            <a:ext cx="1456072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事件入口 · 处理与返回</a:t>
            </a:r>
          </a:p>
        </p:txBody>
      </p:sp>
      <p:sp>
        <p:nvSpPr>
          <p:cNvPr id="83" name="rect-131"/>
          <p:cNvSpPr/>
          <p:nvPr/>
        </p:nvSpPr>
        <p:spPr>
          <a:xfrm>
            <a:off x="256032" y="6144768"/>
            <a:ext cx="9601200" cy="2176272"/>
          </a:xfrm>
          <a:prstGeom prst="roundRect">
            <a:avLst>
              <a:gd name="adj" fmla="val 3529"/>
            </a:avLst>
          </a:prstGeom>
          <a:solidFill>
            <a:srgbClr val="FFF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-132"/>
          <p:cNvSpPr/>
          <p:nvPr/>
        </p:nvSpPr>
        <p:spPr>
          <a:xfrm>
            <a:off x="256032" y="6144768"/>
            <a:ext cx="51206" cy="2176272"/>
          </a:xfrm>
          <a:prstGeom prst="rect">
            <a:avLst/>
          </a:pr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-133: 03"/>
          <p:cNvSpPr txBox="1"/>
          <p:nvPr/>
        </p:nvSpPr>
        <p:spPr>
          <a:xfrm>
            <a:off x="435254" y="6248717"/>
            <a:ext cx="31449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6" name="text-134: SoC 硬件"/>
          <p:cNvSpPr txBox="1"/>
          <p:nvPr/>
        </p:nvSpPr>
        <p:spPr>
          <a:xfrm>
            <a:off x="435254" y="6469161"/>
            <a:ext cx="970801" cy="296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SoC 硬件</a:t>
            </a:r>
          </a:p>
        </p:txBody>
      </p:sp>
      <p:sp>
        <p:nvSpPr>
          <p:cNvPr id="87" name="text-135: 执行、存储与传输"/>
          <p:cNvSpPr txBox="1"/>
          <p:nvPr/>
        </p:nvSpPr>
        <p:spPr>
          <a:xfrm>
            <a:off x="435254" y="6743115"/>
            <a:ext cx="1094537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执行、存储与传输</a:t>
            </a:r>
          </a:p>
        </p:txBody>
      </p:sp>
      <p:cxnSp>
        <p:nvCxnSpPr>
          <p:cNvPr id="88" name="line-136"/>
          <p:cNvCxnSpPr/>
          <p:nvPr/>
        </p:nvCxnSpPr>
        <p:spPr>
          <a:xfrm>
            <a:off x="1369771" y="6298387"/>
            <a:ext cx="0" cy="186903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89" name="rect-137"/>
          <p:cNvSpPr/>
          <p:nvPr/>
        </p:nvSpPr>
        <p:spPr>
          <a:xfrm>
            <a:off x="1536192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-138: CVA6"/>
          <p:cNvSpPr txBox="1"/>
          <p:nvPr/>
        </p:nvSpPr>
        <p:spPr>
          <a:xfrm>
            <a:off x="2073199" y="6457895"/>
            <a:ext cx="615797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91" name="text-139: 取指 · 执行 · 访存"/>
          <p:cNvSpPr txBox="1"/>
          <p:nvPr/>
        </p:nvSpPr>
        <p:spPr>
          <a:xfrm>
            <a:off x="1798735" y="6703686"/>
            <a:ext cx="1164726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取指 · 执行 · 访存</a:t>
            </a:r>
          </a:p>
        </p:txBody>
      </p:sp>
      <p:sp>
        <p:nvSpPr>
          <p:cNvPr id="92" name="rect-140"/>
          <p:cNvSpPr/>
          <p:nvPr/>
        </p:nvSpPr>
        <p:spPr>
          <a:xfrm>
            <a:off x="3405226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-141: Ara"/>
          <p:cNvSpPr txBox="1"/>
          <p:nvPr/>
        </p:nvSpPr>
        <p:spPr>
          <a:xfrm>
            <a:off x="4021013" y="6457895"/>
            <a:ext cx="458237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94" name="text-142: RVV 执行 · 向量访存"/>
          <p:cNvSpPr txBox="1"/>
          <p:nvPr/>
        </p:nvSpPr>
        <p:spPr>
          <a:xfrm>
            <a:off x="3569056" y="6703686"/>
            <a:ext cx="1362150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执行 · 向量访存</a:t>
            </a:r>
          </a:p>
        </p:txBody>
      </p:sp>
      <p:sp>
        <p:nvSpPr>
          <p:cNvPr id="95" name="rect-143"/>
          <p:cNvSpPr/>
          <p:nvPr/>
        </p:nvSpPr>
        <p:spPr>
          <a:xfrm>
            <a:off x="5274259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-144: iDMA"/>
          <p:cNvSpPr txBox="1"/>
          <p:nvPr/>
        </p:nvSpPr>
        <p:spPr>
          <a:xfrm>
            <a:off x="5797330" y="6457895"/>
            <a:ext cx="643670" cy="266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97" name="text-145: 硬件数据搬运"/>
          <p:cNvSpPr txBox="1"/>
          <p:nvPr/>
        </p:nvSpPr>
        <p:spPr>
          <a:xfrm>
            <a:off x="5648706" y="6703686"/>
            <a:ext cx="940918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98" name="rect-146"/>
          <p:cNvSpPr/>
          <p:nvPr/>
        </p:nvSpPr>
        <p:spPr>
          <a:xfrm>
            <a:off x="7143293" y="6400800"/>
            <a:ext cx="2560320" cy="582473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-197: NPU / ISP / 图像接入"/>
          <p:cNvSpPr txBox="1"/>
          <p:nvPr/>
        </p:nvSpPr>
        <p:spPr>
          <a:xfrm>
            <a:off x="7577567" y="6471721"/>
            <a:ext cx="1691771" cy="2457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100" name="text-198: 自定义 IP 与接口〔规划〕"/>
          <p:cNvSpPr txBox="1"/>
          <p:nvPr/>
        </p:nvSpPr>
        <p:spPr>
          <a:xfrm>
            <a:off x="7583508" y="6703686"/>
            <a:ext cx="1679890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101" name="line-199"/>
          <p:cNvCxnSpPr/>
          <p:nvPr/>
        </p:nvCxnSpPr>
        <p:spPr>
          <a:xfrm>
            <a:off x="3238805" y="6656832"/>
            <a:ext cx="153619" cy="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2" name="text-202: 专用请求 / 响应"/>
          <p:cNvSpPr txBox="1"/>
          <p:nvPr/>
        </p:nvSpPr>
        <p:spPr>
          <a:xfrm>
            <a:off x="2860002" y="6205448"/>
            <a:ext cx="975232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专用请求 / 响应</a:t>
            </a:r>
          </a:p>
        </p:txBody>
      </p:sp>
      <p:cxnSp>
        <p:nvCxnSpPr>
          <p:cNvPr id="103" name="line-203"/>
          <p:cNvCxnSpPr/>
          <p:nvPr/>
        </p:nvCxnSpPr>
        <p:spPr>
          <a:xfrm>
            <a:off x="2381098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04" name="line-206"/>
          <p:cNvCxnSpPr/>
          <p:nvPr/>
        </p:nvCxnSpPr>
        <p:spPr>
          <a:xfrm>
            <a:off x="4250131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05" name="line-209"/>
          <p:cNvCxnSpPr/>
          <p:nvPr/>
        </p:nvCxnSpPr>
        <p:spPr>
          <a:xfrm>
            <a:off x="6119165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6" name="text-212: 接入与 DDR 旁路方案待实现"/>
          <p:cNvSpPr txBox="1"/>
          <p:nvPr/>
        </p:nvSpPr>
        <p:spPr>
          <a:xfrm>
            <a:off x="7542183" y="7030639"/>
            <a:ext cx="1762540" cy="2048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接入与 DDR 旁路方案待实现</a:t>
            </a:r>
          </a:p>
        </p:txBody>
      </p:sp>
      <p:sp>
        <p:nvSpPr>
          <p:cNvPr id="107" name="rect-213"/>
          <p:cNvSpPr/>
          <p:nvPr/>
        </p:nvSpPr>
        <p:spPr>
          <a:xfrm>
            <a:off x="1536192" y="7239305"/>
            <a:ext cx="8167421" cy="294437"/>
          </a:xfrm>
          <a:prstGeom prst="roundRect">
            <a:avLst>
              <a:gd name="adj" fmla="val 13043"/>
            </a:avLst>
          </a:prstGeom>
          <a:solidFill>
            <a:srgbClr val="F8D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-214: AXI 互连与适配 · 地址路由 · 主设备共享访问"/>
          <p:cNvSpPr txBox="1"/>
          <p:nvPr/>
        </p:nvSpPr>
        <p:spPr>
          <a:xfrm>
            <a:off x="3927226" y="7264908"/>
            <a:ext cx="338535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109" name="line-215"/>
          <p:cNvCxnSpPr/>
          <p:nvPr/>
        </p:nvCxnSpPr>
        <p:spPr>
          <a:xfrm>
            <a:off x="323240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10" name="line-218"/>
          <p:cNvCxnSpPr/>
          <p:nvPr/>
        </p:nvCxnSpPr>
        <p:spPr>
          <a:xfrm>
            <a:off x="739292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rect-221"/>
          <p:cNvSpPr/>
          <p:nvPr/>
        </p:nvSpPr>
        <p:spPr>
          <a:xfrm>
            <a:off x="1536192" y="7706563"/>
            <a:ext cx="3392424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-222: 原子适配 → LLC / SPM → 主存出口"/>
          <p:cNvSpPr txBox="1"/>
          <p:nvPr/>
        </p:nvSpPr>
        <p:spPr>
          <a:xfrm>
            <a:off x="1959995" y="7739591"/>
            <a:ext cx="2544818" cy="2355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113" name="text-223: SPM 复用 LLC 存储阵列"/>
          <p:cNvSpPr txBox="1"/>
          <p:nvPr/>
        </p:nvSpPr>
        <p:spPr>
          <a:xfrm>
            <a:off x="2445096" y="7939040"/>
            <a:ext cx="1574617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SPM 复用 LLC 存储阵列</a:t>
            </a:r>
          </a:p>
        </p:txBody>
      </p:sp>
      <p:sp>
        <p:nvSpPr>
          <p:cNvPr id="114" name="rect-224"/>
          <p:cNvSpPr/>
          <p:nvPr/>
        </p:nvSpPr>
        <p:spPr>
          <a:xfrm>
            <a:off x="5082235" y="7706563"/>
            <a:ext cx="4621378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-225: 寄存器总线 → 外设 / 平台控制"/>
          <p:cNvSpPr txBox="1"/>
          <p:nvPr/>
        </p:nvSpPr>
        <p:spPr>
          <a:xfrm>
            <a:off x="6219642" y="7725766"/>
            <a:ext cx="234656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寄存器总线 → 外设 / 平台控制</a:t>
            </a:r>
          </a:p>
        </p:txBody>
      </p:sp>
      <p:sp>
        <p:nvSpPr>
          <p:cNvPr id="116" name="text-226: UART · SPI · I²C · GPIO · 中断/定时器 · ROM 接"/>
          <p:cNvSpPr txBox="1"/>
          <p:nvPr/>
        </p:nvSpPr>
        <p:spPr>
          <a:xfrm>
            <a:off x="5829824" y="7939040"/>
            <a:ext cx="3126201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UART · SPI · I²C · GPIO · 中断/定时器 · ROM 接口</a:t>
            </a:r>
          </a:p>
        </p:txBody>
      </p:sp>
      <p:sp>
        <p:nvSpPr>
          <p:cNvPr id="117" name="rect-227"/>
          <p:cNvSpPr/>
          <p:nvPr/>
        </p:nvSpPr>
        <p:spPr>
          <a:xfrm>
            <a:off x="256032" y="8449056"/>
            <a:ext cx="9601200" cy="716890"/>
          </a:xfrm>
          <a:prstGeom prst="roundRect">
            <a:avLst>
              <a:gd name="adj" fmla="val 10714"/>
            </a:avLst>
          </a:prstGeom>
          <a:solidFill>
            <a:srgbClr val="F0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-228"/>
          <p:cNvSpPr/>
          <p:nvPr/>
        </p:nvSpPr>
        <p:spPr>
          <a:xfrm>
            <a:off x="256032" y="8449056"/>
            <a:ext cx="51206" cy="716890"/>
          </a:xfrm>
          <a:prstGeom prst="rect">
            <a:avLst/>
          </a:prstGeom>
          <a:solidFill>
            <a:srgbClr val="536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-229: 04"/>
          <p:cNvSpPr txBox="1"/>
          <p:nvPr/>
        </p:nvSpPr>
        <p:spPr>
          <a:xfrm>
            <a:off x="435254" y="8424989"/>
            <a:ext cx="31449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0" name="text-230: 片外器件"/>
          <p:cNvSpPr txBox="1"/>
          <p:nvPr/>
        </p:nvSpPr>
        <p:spPr>
          <a:xfrm>
            <a:off x="435254" y="8645433"/>
            <a:ext cx="928116" cy="296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21" name="text-231: 经对应控制器连接"/>
          <p:cNvSpPr txBox="1"/>
          <p:nvPr/>
        </p:nvSpPr>
        <p:spPr>
          <a:xfrm>
            <a:off x="435254" y="8919387"/>
            <a:ext cx="1094537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经对应控制器连接</a:t>
            </a:r>
          </a:p>
        </p:txBody>
      </p:sp>
      <p:cxnSp>
        <p:nvCxnSpPr>
          <p:cNvPr id="122" name="line-232"/>
          <p:cNvCxnSpPr/>
          <p:nvPr/>
        </p:nvCxnSpPr>
        <p:spPr>
          <a:xfrm>
            <a:off x="1369771" y="8602675"/>
            <a:ext cx="0" cy="409651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cxnSp>
        <p:nvCxnSpPr>
          <p:cNvPr id="123" name="line-233"/>
          <p:cNvCxnSpPr/>
          <p:nvPr/>
        </p:nvCxnSpPr>
        <p:spPr>
          <a:xfrm>
            <a:off x="3232404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24" name="line-236"/>
          <p:cNvCxnSpPr/>
          <p:nvPr/>
        </p:nvCxnSpPr>
        <p:spPr>
          <a:xfrm>
            <a:off x="6458407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25" name="rect-239"/>
          <p:cNvSpPr/>
          <p:nvPr/>
        </p:nvSpPr>
        <p:spPr>
          <a:xfrm>
            <a:off x="1536192" y="8596274"/>
            <a:ext cx="339242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-240: DDR 存储器"/>
          <p:cNvSpPr txBox="1"/>
          <p:nvPr/>
        </p:nvSpPr>
        <p:spPr>
          <a:xfrm>
            <a:off x="2706008" y="8660282"/>
            <a:ext cx="105279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127" name="text-241: 经 DDR 控制器 / PHY 接入"/>
          <p:cNvSpPr txBox="1"/>
          <p:nvPr/>
        </p:nvSpPr>
        <p:spPr>
          <a:xfrm>
            <a:off x="2353864" y="8867156"/>
            <a:ext cx="1757080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DDR 控制器 / PHY 接入</a:t>
            </a:r>
          </a:p>
        </p:txBody>
      </p:sp>
      <p:sp>
        <p:nvSpPr>
          <p:cNvPr id="128" name="rect-242"/>
          <p:cNvSpPr/>
          <p:nvPr/>
        </p:nvSpPr>
        <p:spPr>
          <a:xfrm>
            <a:off x="5082235" y="8596274"/>
            <a:ext cx="275234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-243: Flash · SD 卡 · EEPROM"/>
          <p:cNvSpPr txBox="1"/>
          <p:nvPr/>
        </p:nvSpPr>
        <p:spPr>
          <a:xfrm>
            <a:off x="5485481" y="8667195"/>
            <a:ext cx="1945853" cy="2457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Flash · SD 卡 · EEPROM</a:t>
            </a:r>
          </a:p>
        </p:txBody>
      </p:sp>
      <p:sp>
        <p:nvSpPr>
          <p:cNvPr id="130" name="text-244: 经 SPI / I²C 接入"/>
          <p:cNvSpPr txBox="1"/>
          <p:nvPr/>
        </p:nvSpPr>
        <p:spPr>
          <a:xfrm>
            <a:off x="5890016" y="8867156"/>
            <a:ext cx="1136782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SPI / I²C 接入</a:t>
            </a:r>
          </a:p>
        </p:txBody>
      </p:sp>
      <p:sp>
        <p:nvSpPr>
          <p:cNvPr id="131" name="rect-245"/>
          <p:cNvSpPr/>
          <p:nvPr/>
        </p:nvSpPr>
        <p:spPr>
          <a:xfrm>
            <a:off x="7949794" y="8596274"/>
            <a:ext cx="1753819" cy="473659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-282: 图像传感器〔规划〕"/>
          <p:cNvSpPr txBox="1"/>
          <p:nvPr/>
        </p:nvSpPr>
        <p:spPr>
          <a:xfrm>
            <a:off x="8090611" y="8674108"/>
            <a:ext cx="1472184" cy="2355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133" name="text-283: LVDS 图像输入"/>
          <p:cNvSpPr txBox="1"/>
          <p:nvPr/>
        </p:nvSpPr>
        <p:spPr>
          <a:xfrm>
            <a:off x="8304983" y="8867156"/>
            <a:ext cx="1043440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LVDS 图像输入</a:t>
            </a:r>
          </a:p>
        </p:txBody>
      </p:sp>
      <p:sp>
        <p:nvSpPr>
          <p:cNvPr id="134" name="rect-284"/>
          <p:cNvSpPr/>
          <p:nvPr/>
        </p:nvSpPr>
        <p:spPr>
          <a:xfrm>
            <a:off x="10049256" y="960120"/>
            <a:ext cx="2496312" cy="12801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-285: 开发主机上的工具"/>
          <p:cNvSpPr txBox="1"/>
          <p:nvPr/>
        </p:nvSpPr>
        <p:spPr>
          <a:xfrm>
            <a:off x="10190074" y="1059204"/>
            <a:ext cx="1094537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开发主机上的工具</a:t>
            </a:r>
          </a:p>
        </p:txBody>
      </p:sp>
      <p:sp>
        <p:nvSpPr>
          <p:cNvPr id="136" name="text-286: 构建支持"/>
          <p:cNvSpPr txBox="1"/>
          <p:nvPr/>
        </p:nvSpPr>
        <p:spPr>
          <a:xfrm>
            <a:off x="10190074" y="1240219"/>
            <a:ext cx="896112" cy="2867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构建支持</a:t>
            </a:r>
          </a:p>
        </p:txBody>
      </p:sp>
      <p:sp>
        <p:nvSpPr>
          <p:cNvPr id="137" name="text-287: 编译器 · 汇编器 · 链接器"/>
          <p:cNvSpPr txBox="1"/>
          <p:nvPr/>
        </p:nvSpPr>
        <p:spPr>
          <a:xfrm>
            <a:off x="10190074" y="1524927"/>
            <a:ext cx="1642625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编译器 · 汇编器 · 链接器</a:t>
            </a:r>
          </a:p>
        </p:txBody>
      </p:sp>
      <p:sp>
        <p:nvSpPr>
          <p:cNvPr id="138" name="text-288: Makefile · 链接脚本 · 库归档"/>
          <p:cNvSpPr txBox="1"/>
          <p:nvPr/>
        </p:nvSpPr>
        <p:spPr>
          <a:xfrm>
            <a:off x="10190074" y="1723351"/>
            <a:ext cx="1933632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Makefile · 链接脚本 · 库归档</a:t>
            </a:r>
          </a:p>
        </p:txBody>
      </p:sp>
      <p:sp>
        <p:nvSpPr>
          <p:cNvPr id="139" name="text-289: 生成 ELF，规定代码与数据布局"/>
          <p:cNvSpPr txBox="1"/>
          <p:nvPr/>
        </p:nvSpPr>
        <p:spPr>
          <a:xfrm>
            <a:off x="10190074" y="1921776"/>
            <a:ext cx="2096792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生成 ELF，规定代码与数据布局</a:t>
            </a:r>
          </a:p>
        </p:txBody>
      </p:sp>
      <p:sp>
        <p:nvSpPr>
          <p:cNvPr id="140" name="rect-290"/>
          <p:cNvSpPr/>
          <p:nvPr/>
        </p:nvSpPr>
        <p:spPr>
          <a:xfrm>
            <a:off x="10049256" y="2368296"/>
            <a:ext cx="2496312" cy="1971446"/>
          </a:xfrm>
          <a:prstGeom prst="roundRect">
            <a:avLst>
              <a:gd name="adj" fmla="val 3246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-291: 准备并维持软件执行环境"/>
          <p:cNvSpPr txBox="1"/>
          <p:nvPr/>
        </p:nvSpPr>
        <p:spPr>
          <a:xfrm>
            <a:off x="10190074" y="2467380"/>
            <a:ext cx="1459382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准备并维持软件执行环境</a:t>
            </a:r>
          </a:p>
        </p:txBody>
      </p:sp>
      <p:sp>
        <p:nvSpPr>
          <p:cNvPr id="142" name="text-292: 启动与运行支持"/>
          <p:cNvSpPr txBox="1"/>
          <p:nvPr/>
        </p:nvSpPr>
        <p:spPr>
          <a:xfrm>
            <a:off x="10190074" y="2648395"/>
            <a:ext cx="1433779" cy="2867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143" name="text-293: Boot ROM / 载荷加载"/>
          <p:cNvSpPr txBox="1"/>
          <p:nvPr/>
        </p:nvSpPr>
        <p:spPr>
          <a:xfrm>
            <a:off x="10190074" y="2933103"/>
            <a:ext cx="1551874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144" name="text-294: crt0：栈、BSS、异常入口"/>
          <p:cNvSpPr txBox="1"/>
          <p:nvPr/>
        </p:nvSpPr>
        <p:spPr>
          <a:xfrm>
            <a:off x="10190074" y="3131527"/>
            <a:ext cx="1782083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crt0：栈、BSS、异常入口</a:t>
            </a:r>
          </a:p>
        </p:txBody>
      </p:sp>
      <p:sp>
        <p:nvSpPr>
          <p:cNvPr id="145" name="text-295: 进入 main；异常处理与返回"/>
          <p:cNvSpPr txBox="1"/>
          <p:nvPr/>
        </p:nvSpPr>
        <p:spPr>
          <a:xfrm>
            <a:off x="10190074" y="3329952"/>
            <a:ext cx="1924691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146" name="text-296: 启动交接与函数调用分别表达"/>
          <p:cNvSpPr txBox="1"/>
          <p:nvPr/>
        </p:nvSpPr>
        <p:spPr>
          <a:xfrm>
            <a:off x="10190074" y="3528377"/>
            <a:ext cx="1971446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启动交接与函数调用分别表达</a:t>
            </a:r>
          </a:p>
        </p:txBody>
      </p:sp>
      <p:sp>
        <p:nvSpPr>
          <p:cNvPr id="147" name="text-297: 运行期也可访问必要配置接口"/>
          <p:cNvSpPr txBox="1"/>
          <p:nvPr/>
        </p:nvSpPr>
        <p:spPr>
          <a:xfrm>
            <a:off x="10190074" y="3726802"/>
            <a:ext cx="1971446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运行期也可访问必要配置接口</a:t>
            </a:r>
          </a:p>
        </p:txBody>
      </p:sp>
      <p:sp>
        <p:nvSpPr>
          <p:cNvPr id="148" name="text-298: 不是每次设备调用的必经层"/>
          <p:cNvSpPr txBox="1"/>
          <p:nvPr/>
        </p:nvSpPr>
        <p:spPr>
          <a:xfrm>
            <a:off x="10190074" y="3925227"/>
            <a:ext cx="183062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不是每次设备调用的必经层</a:t>
            </a:r>
          </a:p>
        </p:txBody>
      </p:sp>
      <p:sp>
        <p:nvSpPr>
          <p:cNvPr id="149" name="rect-299"/>
          <p:cNvSpPr/>
          <p:nvPr/>
        </p:nvSpPr>
        <p:spPr>
          <a:xfrm>
            <a:off x="10049256" y="4467758"/>
            <a:ext cx="2496312" cy="1600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-300: 扩展方向 · 目标运行待验证"/>
          <p:cNvSpPr txBox="1"/>
          <p:nvPr/>
        </p:nvSpPr>
        <p:spPr>
          <a:xfrm>
            <a:off x="10190074" y="4566843"/>
            <a:ext cx="1585278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扩展方向 · 目标运行待验证</a:t>
            </a:r>
          </a:p>
        </p:txBody>
      </p:sp>
      <p:sp>
        <p:nvSpPr>
          <p:cNvPr id="151" name="text-301: 可选操作系统"/>
          <p:cNvSpPr txBox="1"/>
          <p:nvPr/>
        </p:nvSpPr>
        <p:spPr>
          <a:xfrm>
            <a:off x="10190074" y="4747857"/>
            <a:ext cx="1254557" cy="2867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152" name="text-302: RTOS：任务、调度与同步"/>
          <p:cNvSpPr txBox="1"/>
          <p:nvPr/>
        </p:nvSpPr>
        <p:spPr>
          <a:xfrm>
            <a:off x="10190074" y="5032565"/>
            <a:ext cx="1766121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RTOS：任务、调度与同步</a:t>
            </a:r>
          </a:p>
        </p:txBody>
      </p:sp>
      <p:sp>
        <p:nvSpPr>
          <p:cNvPr id="153" name="text-303: Linux：用户态 / 内核 / 驱动"/>
          <p:cNvSpPr txBox="1"/>
          <p:nvPr/>
        </p:nvSpPr>
        <p:spPr>
          <a:xfrm>
            <a:off x="10190074" y="5230990"/>
            <a:ext cx="190900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154" name="text-304: 依各自环境建立设备访问路径"/>
          <p:cNvSpPr txBox="1"/>
          <p:nvPr/>
        </p:nvSpPr>
        <p:spPr>
          <a:xfrm>
            <a:off x="10190074" y="5429415"/>
            <a:ext cx="1971446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依各自环境建立设备访问路径</a:t>
            </a:r>
          </a:p>
        </p:txBody>
      </p:sp>
      <p:sp>
        <p:nvSpPr>
          <p:cNvPr id="155" name="text-305: 不假定直接复用整套裸机 HAL"/>
          <p:cNvSpPr txBox="1"/>
          <p:nvPr/>
        </p:nvSpPr>
        <p:spPr>
          <a:xfrm>
            <a:off x="10190074" y="5627839"/>
            <a:ext cx="2011741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不假定直接复用整套裸机 HAL</a:t>
            </a:r>
          </a:p>
        </p:txBody>
      </p:sp>
      <p:sp>
        <p:nvSpPr>
          <p:cNvPr id="156" name="rect-306"/>
          <p:cNvSpPr/>
          <p:nvPr/>
        </p:nvSpPr>
        <p:spPr>
          <a:xfrm>
            <a:off x="10049256" y="6195974"/>
            <a:ext cx="2496312" cy="1292962"/>
          </a:xfrm>
          <a:prstGeom prst="roundRect">
            <a:avLst>
              <a:gd name="adj" fmla="val 495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-307: 同一结构的实现与适配维度"/>
          <p:cNvSpPr txBox="1"/>
          <p:nvPr/>
        </p:nvSpPr>
        <p:spPr>
          <a:xfrm>
            <a:off x="10190074" y="6295059"/>
            <a:ext cx="1580998" cy="194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同一结构的实现与适配维度</a:t>
            </a:r>
          </a:p>
        </p:txBody>
      </p:sp>
      <p:sp>
        <p:nvSpPr>
          <p:cNvPr id="158" name="text-308: 硬件实现平台"/>
          <p:cNvSpPr txBox="1"/>
          <p:nvPr/>
        </p:nvSpPr>
        <p:spPr>
          <a:xfrm>
            <a:off x="10190074" y="6476073"/>
            <a:ext cx="1254557" cy="2867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硬件实现平台</a:t>
            </a:r>
          </a:p>
        </p:txBody>
      </p:sp>
      <p:sp>
        <p:nvSpPr>
          <p:cNvPr id="159" name="text-309: FPGA：现有 VCU118 工程"/>
          <p:cNvSpPr txBox="1"/>
          <p:nvPr/>
        </p:nvSpPr>
        <p:spPr>
          <a:xfrm>
            <a:off x="10190074" y="6760781"/>
            <a:ext cx="1831389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160" name="text-310: ASIC：宏、时钟、PAD 等适配"/>
          <p:cNvSpPr txBox="1"/>
          <p:nvPr/>
        </p:nvSpPr>
        <p:spPr>
          <a:xfrm>
            <a:off x="10190074" y="6959206"/>
            <a:ext cx="2046526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ASIC：宏、时钟、PAD 等适配</a:t>
            </a:r>
          </a:p>
        </p:txBody>
      </p:sp>
      <p:sp>
        <p:nvSpPr>
          <p:cNvPr id="161" name="text-311: ASIC 实现与验证仍待完成"/>
          <p:cNvSpPr txBox="1"/>
          <p:nvPr/>
        </p:nvSpPr>
        <p:spPr>
          <a:xfrm>
            <a:off x="10190074" y="7157631"/>
            <a:ext cx="1765791" cy="2253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162" name="rect-312"/>
          <p:cNvSpPr/>
          <p:nvPr/>
        </p:nvSpPr>
        <p:spPr>
          <a:xfrm>
            <a:off x="10049256" y="7616952"/>
            <a:ext cx="2496312" cy="1548994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-313: 阅读图例"/>
          <p:cNvSpPr txBox="1"/>
          <p:nvPr/>
        </p:nvSpPr>
        <p:spPr>
          <a:xfrm>
            <a:off x="10190074" y="7673535"/>
            <a:ext cx="864108" cy="27651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阅读图例</a:t>
            </a:r>
          </a:p>
        </p:txBody>
      </p:sp>
      <p:sp>
        <p:nvSpPr>
          <p:cNvPr id="164" name="rect-314"/>
          <p:cNvSpPr/>
          <p:nvPr/>
        </p:nvSpPr>
        <p:spPr>
          <a:xfrm>
            <a:off x="10190074" y="8001000"/>
            <a:ext cx="224028" cy="14721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-315: 实线框：已有代码 / 结构"/>
          <p:cNvSpPr txBox="1"/>
          <p:nvPr/>
        </p:nvSpPr>
        <p:spPr>
          <a:xfrm>
            <a:off x="10510114" y="7983846"/>
            <a:ext cx="1615562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实线框：已有代码 / 结构</a:t>
            </a:r>
          </a:p>
        </p:txBody>
      </p:sp>
      <p:sp>
        <p:nvSpPr>
          <p:cNvPr id="166" name="rect-316"/>
          <p:cNvSpPr/>
          <p:nvPr/>
        </p:nvSpPr>
        <p:spPr>
          <a:xfrm>
            <a:off x="10190074" y="8257032"/>
            <a:ext cx="224028" cy="147218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-325: 虚线框：规划中的扩展"/>
          <p:cNvSpPr txBox="1"/>
          <p:nvPr/>
        </p:nvSpPr>
        <p:spPr>
          <a:xfrm>
            <a:off x="10510114" y="8239878"/>
            <a:ext cx="1478585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虚线框：规划中的扩展</a:t>
            </a:r>
          </a:p>
        </p:txBody>
      </p:sp>
      <p:cxnSp>
        <p:nvCxnSpPr>
          <p:cNvPr id="168" name="line-326"/>
          <p:cNvCxnSpPr/>
          <p:nvPr/>
        </p:nvCxnSpPr>
        <p:spPr>
          <a:xfrm>
            <a:off x="10190074" y="8577072"/>
            <a:ext cx="224028" cy="0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169" name="text-328: 蓝色箭头：代表性调用"/>
          <p:cNvSpPr txBox="1"/>
          <p:nvPr/>
        </p:nvSpPr>
        <p:spPr>
          <a:xfrm>
            <a:off x="10510114" y="8476707"/>
            <a:ext cx="1478585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蓝色箭头：代表性调用</a:t>
            </a:r>
          </a:p>
        </p:txBody>
      </p:sp>
      <p:cxnSp>
        <p:nvCxnSpPr>
          <p:cNvPr id="170" name="line-329"/>
          <p:cNvCxnSpPr/>
          <p:nvPr/>
        </p:nvCxnSpPr>
        <p:spPr>
          <a:xfrm>
            <a:off x="10190074" y="8833104"/>
            <a:ext cx="224028" cy="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71" name="text-332: 棕色箭头：硬件连接"/>
          <p:cNvSpPr txBox="1"/>
          <p:nvPr/>
        </p:nvSpPr>
        <p:spPr>
          <a:xfrm>
            <a:off x="10510114" y="8732739"/>
            <a:ext cx="1344168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棕色箭头：硬件连接</a:t>
            </a:r>
          </a:p>
        </p:txBody>
      </p:sp>
      <p:sp>
        <p:nvSpPr>
          <p:cNvPr id="172" name="text-333: 说明：图示为职责与结构总览；模块按配置启用，已有结构不代表全部功能已仿真或板测。"/>
          <p:cNvSpPr txBox="1"/>
          <p:nvPr/>
        </p:nvSpPr>
        <p:spPr>
          <a:xfrm>
            <a:off x="256032" y="9270407"/>
            <a:ext cx="5511089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说明：图示为职责与结构总览；模块按配置启用，已有结构不代表全部功能已仿真或板测。</a:t>
            </a:r>
          </a:p>
        </p:txBody>
      </p:sp>
      <p:sp>
        <p:nvSpPr>
          <p:cNvPr id="173" name="text-334: L01 · 2026-10-09"/>
          <p:cNvSpPr txBox="1"/>
          <p:nvPr/>
        </p:nvSpPr>
        <p:spPr>
          <a:xfrm>
            <a:off x="11325676" y="9270407"/>
            <a:ext cx="1219892" cy="21506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L01 · 2026-10-09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2: DDR 互联候选结构：LVDS / ISP 旁路 + 共享 Global Buf"/>
          <p:cNvSpPr txBox="1"/>
          <p:nvPr/>
        </p:nvSpPr>
        <p:spPr>
          <a:xfrm>
            <a:off x="300038" y="1335367"/>
            <a:ext cx="6456026" cy="3627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互联候选结构：LVDS / ISP 旁路 + 共享 Global Buffer</a:t>
            </a:r>
          </a:p>
        </p:txBody>
      </p:sp>
      <p:sp>
        <p:nvSpPr>
          <p:cNvPr id="3" name="text-003: Cheshire + CVA6 + Ara  |  保留 ISP / NPU 并"/>
          <p:cNvSpPr txBox="1"/>
          <p:nvPr/>
        </p:nvSpPr>
        <p:spPr>
          <a:xfrm>
            <a:off x="306705" y="1675676"/>
            <a:ext cx="5906155" cy="2240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Cheshire + CVA6 + Ara  |  保留 ISP / NPU 并行能力  |  三口分组待评审，新增路径尚未实现</a:t>
            </a:r>
          </a:p>
        </p:txBody>
      </p:sp>
      <p:sp>
        <p:nvSpPr>
          <p:cNvPr id="4" name="rect-004"/>
          <p:cNvSpPr/>
          <p:nvPr/>
        </p:nvSpPr>
        <p:spPr>
          <a:xfrm>
            <a:off x="200025" y="2033588"/>
            <a:ext cx="950118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-005"/>
          <p:cNvSpPr/>
          <p:nvPr/>
        </p:nvSpPr>
        <p:spPr>
          <a:xfrm>
            <a:off x="200025" y="3800475"/>
            <a:ext cx="9501188" cy="2166938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200025" y="6100762"/>
            <a:ext cx="9501188" cy="1300162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-007: 01  现有系统主路径 + Ara 新增分流候选"/>
          <p:cNvSpPr txBox="1"/>
          <p:nvPr/>
        </p:nvSpPr>
        <p:spPr>
          <a:xfrm>
            <a:off x="320040" y="2076793"/>
            <a:ext cx="243704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01  现有系统主路径 + Ara 新增分流候选</a:t>
            </a:r>
          </a:p>
        </p:txBody>
      </p:sp>
      <p:sp>
        <p:nvSpPr>
          <p:cNvPr id="8" name="text-008: 02  独立 GB 存储域（新增）"/>
          <p:cNvSpPr txBox="1"/>
          <p:nvPr/>
        </p:nvSpPr>
        <p:spPr>
          <a:xfrm>
            <a:off x="320040" y="3850348"/>
            <a:ext cx="1757543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02  独立 GB 存储域（新增）</a:t>
            </a:r>
          </a:p>
        </p:txBody>
      </p:sp>
      <p:sp>
        <p:nvSpPr>
          <p:cNvPr id="9" name="text-009: 03  图像采集与帧写入（新增）"/>
          <p:cNvSpPr txBox="1"/>
          <p:nvPr/>
        </p:nvSpPr>
        <p:spPr>
          <a:xfrm>
            <a:off x="320040" y="6143968"/>
            <a:ext cx="1878589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03  图像采集与帧写入（新增）</a:t>
            </a:r>
          </a:p>
        </p:txBody>
      </p:sp>
      <p:sp>
        <p:nvSpPr>
          <p:cNvPr id="10" name="rect-010"/>
          <p:cNvSpPr/>
          <p:nvPr/>
        </p:nvSpPr>
        <p:spPr>
          <a:xfrm>
            <a:off x="433388" y="234696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1: CVA6"/>
          <p:cNvSpPr txBox="1"/>
          <p:nvPr/>
        </p:nvSpPr>
        <p:spPr>
          <a:xfrm>
            <a:off x="633058" y="2448039"/>
            <a:ext cx="567446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rect-012"/>
          <p:cNvSpPr/>
          <p:nvPr/>
        </p:nvSpPr>
        <p:spPr>
          <a:xfrm>
            <a:off x="433388" y="301371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3: Ara"/>
          <p:cNvSpPr txBox="1"/>
          <p:nvPr/>
        </p:nvSpPr>
        <p:spPr>
          <a:xfrm>
            <a:off x="705656" y="3114789"/>
            <a:ext cx="422251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4" name="rect-014"/>
          <p:cNvSpPr/>
          <p:nvPr/>
        </p:nvSpPr>
        <p:spPr>
          <a:xfrm>
            <a:off x="1633538" y="301371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5: 失效过滤"/>
          <p:cNvSpPr txBox="1"/>
          <p:nvPr/>
        </p:nvSpPr>
        <p:spPr>
          <a:xfrm>
            <a:off x="1733550" y="3018111"/>
            <a:ext cx="766762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6" name="text-016: 现有 filter"/>
          <p:cNvSpPr txBox="1"/>
          <p:nvPr/>
        </p:nvSpPr>
        <p:spPr>
          <a:xfrm>
            <a:off x="1769299" y="3240272"/>
            <a:ext cx="69526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7" name="rect-017"/>
          <p:cNvSpPr/>
          <p:nvPr/>
        </p:nvSpPr>
        <p:spPr>
          <a:xfrm>
            <a:off x="2833688" y="3013710"/>
            <a:ext cx="900112" cy="440055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3335" cap="flat">
            <a:solidFill>
              <a:srgbClr val="7955A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18: 地址分流"/>
          <p:cNvSpPr txBox="1"/>
          <p:nvPr/>
        </p:nvSpPr>
        <p:spPr>
          <a:xfrm>
            <a:off x="2900362" y="3018111"/>
            <a:ext cx="766762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9" name="text-019: 拟新增"/>
          <p:cNvSpPr txBox="1"/>
          <p:nvPr/>
        </p:nvSpPr>
        <p:spPr>
          <a:xfrm>
            <a:off x="3030379" y="3240272"/>
            <a:ext cx="50673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拟新增</a:t>
            </a:r>
          </a:p>
        </p:txBody>
      </p:sp>
      <p:sp>
        <p:nvSpPr>
          <p:cNvPr id="20" name="rect-020"/>
          <p:cNvSpPr/>
          <p:nvPr/>
        </p:nvSpPr>
        <p:spPr>
          <a:xfrm>
            <a:off x="3967162" y="3013710"/>
            <a:ext cx="933450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1: 位宽转换"/>
          <p:cNvSpPr txBox="1"/>
          <p:nvPr/>
        </p:nvSpPr>
        <p:spPr>
          <a:xfrm>
            <a:off x="4050506" y="3018111"/>
            <a:ext cx="766762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位宽转换</a:t>
            </a:r>
          </a:p>
        </p:txBody>
      </p:sp>
      <p:sp>
        <p:nvSpPr>
          <p:cNvPr id="22" name="text-022: 现有转换器"/>
          <p:cNvSpPr txBox="1"/>
          <p:nvPr/>
        </p:nvSpPr>
        <p:spPr>
          <a:xfrm>
            <a:off x="4053840" y="3240272"/>
            <a:ext cx="760095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现有转换器</a:t>
            </a:r>
          </a:p>
        </p:txBody>
      </p:sp>
      <p:sp>
        <p:nvSpPr>
          <p:cNvPr id="23" name="rect-023"/>
          <p:cNvSpPr/>
          <p:nvPr/>
        </p:nvSpPr>
        <p:spPr>
          <a:xfrm>
            <a:off x="5100638" y="2433638"/>
            <a:ext cx="1166812" cy="766762"/>
          </a:xfrm>
          <a:prstGeom prst="roundRect">
            <a:avLst>
              <a:gd name="adj" fmla="val 10434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4: 主 AXI Xbar"/>
          <p:cNvSpPr txBox="1"/>
          <p:nvPr/>
        </p:nvSpPr>
        <p:spPr>
          <a:xfrm>
            <a:off x="5167297" y="2601392"/>
            <a:ext cx="1033494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主 AXI Xbar</a:t>
            </a:r>
          </a:p>
        </p:txBody>
      </p:sp>
      <p:sp>
        <p:nvSpPr>
          <p:cNvPr id="25" name="text-025: 系统 64-bit"/>
          <p:cNvSpPr txBox="1"/>
          <p:nvPr/>
        </p:nvSpPr>
        <p:spPr>
          <a:xfrm>
            <a:off x="5292677" y="2823553"/>
            <a:ext cx="782733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系统 64-bit</a:t>
            </a:r>
          </a:p>
        </p:txBody>
      </p:sp>
      <p:sp>
        <p:nvSpPr>
          <p:cNvPr id="26" name="rect-026"/>
          <p:cNvSpPr/>
          <p:nvPr/>
        </p:nvSpPr>
        <p:spPr>
          <a:xfrm>
            <a:off x="6500812" y="2500312"/>
            <a:ext cx="1066800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27: 原子适配"/>
          <p:cNvSpPr txBox="1"/>
          <p:nvPr/>
        </p:nvSpPr>
        <p:spPr>
          <a:xfrm>
            <a:off x="6650831" y="2601392"/>
            <a:ext cx="766762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28" name="text-028: AMO / LRSC"/>
          <p:cNvSpPr txBox="1"/>
          <p:nvPr/>
        </p:nvSpPr>
        <p:spPr>
          <a:xfrm>
            <a:off x="6595470" y="2823553"/>
            <a:ext cx="877485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29" name="rect-029"/>
          <p:cNvSpPr/>
          <p:nvPr/>
        </p:nvSpPr>
        <p:spPr>
          <a:xfrm>
            <a:off x="7800975" y="2500312"/>
            <a:ext cx="1500188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0: LLC / SPM"/>
          <p:cNvSpPr txBox="1"/>
          <p:nvPr/>
        </p:nvSpPr>
        <p:spPr>
          <a:xfrm>
            <a:off x="8083750" y="2601392"/>
            <a:ext cx="934638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1" name="text-031: 保留，不等于 GB"/>
          <p:cNvSpPr txBox="1"/>
          <p:nvPr/>
        </p:nvSpPr>
        <p:spPr>
          <a:xfrm>
            <a:off x="8002089" y="2823553"/>
            <a:ext cx="109796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保留，不等于 GB</a:t>
            </a:r>
          </a:p>
        </p:txBody>
      </p:sp>
      <p:sp>
        <p:nvSpPr>
          <p:cNvPr id="32" name="polyline-032"/>
          <p:cNvSpPr/>
          <p:nvPr/>
        </p:nvSpPr>
        <p:spPr>
          <a:xfrm>
            <a:off x="1400175" y="2566988"/>
            <a:ext cx="3700462" cy="1"/>
          </a:xfrm>
          <a:custGeom>
            <a:avLst/>
            <a:gdLst/>
            <a:ahLst/>
            <a:cxnLst/>
            <a:rect l="0" t="0" r="r" b="b"/>
            <a:pathLst>
              <a:path w="3700462" h="1" fill="none">
                <a:moveTo>
                  <a:pt x="0" y="0"/>
                </a:moveTo>
                <a:lnTo>
                  <a:pt x="37004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olyline-034"/>
          <p:cNvSpPr/>
          <p:nvPr/>
        </p:nvSpPr>
        <p:spPr>
          <a:xfrm>
            <a:off x="1400175" y="323373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olyline-036"/>
          <p:cNvSpPr/>
          <p:nvPr/>
        </p:nvSpPr>
        <p:spPr>
          <a:xfrm>
            <a:off x="2600325" y="323373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olyline-038"/>
          <p:cNvSpPr/>
          <p:nvPr/>
        </p:nvSpPr>
        <p:spPr>
          <a:xfrm>
            <a:off x="3733800" y="323373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olyline-040"/>
          <p:cNvSpPr/>
          <p:nvPr/>
        </p:nvSpPr>
        <p:spPr>
          <a:xfrm>
            <a:off x="4900612" y="2980372"/>
            <a:ext cx="200025" cy="253365"/>
          </a:xfrm>
          <a:custGeom>
            <a:avLst/>
            <a:gdLst/>
            <a:ahLst/>
            <a:cxnLst/>
            <a:rect l="0" t="0" r="r" b="b"/>
            <a:pathLst>
              <a:path w="200025" h="253365" fill="none">
                <a:moveTo>
                  <a:pt x="0" y="253365"/>
                </a:moveTo>
                <a:lnTo>
                  <a:pt x="100012" y="253365"/>
                </a:lnTo>
                <a:lnTo>
                  <a:pt x="100012" y="0"/>
                </a:ln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olyline-042"/>
          <p:cNvSpPr/>
          <p:nvPr/>
        </p:nvSpPr>
        <p:spPr>
          <a:xfrm>
            <a:off x="6267450" y="281368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olyline-044"/>
          <p:cNvSpPr/>
          <p:nvPr/>
        </p:nvSpPr>
        <p:spPr>
          <a:xfrm>
            <a:off x="7567612" y="281368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olyline-046"/>
          <p:cNvSpPr/>
          <p:nvPr/>
        </p:nvSpPr>
        <p:spPr>
          <a:xfrm>
            <a:off x="9301162" y="2813685"/>
            <a:ext cx="766762" cy="1"/>
          </a:xfrm>
          <a:custGeom>
            <a:avLst/>
            <a:gdLst/>
            <a:ahLst/>
            <a:cxnLst/>
            <a:rect l="0" t="0" r="r" b="b"/>
            <a:pathLst>
              <a:path w="766762" h="1" fill="none">
                <a:moveTo>
                  <a:pt x="0" y="0"/>
                </a:moveTo>
                <a:lnTo>
                  <a:pt x="7667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8: 普通地址"/>
          <p:cNvSpPr txBox="1"/>
          <p:nvPr/>
        </p:nvSpPr>
        <p:spPr>
          <a:xfrm>
            <a:off x="3967162" y="2804617"/>
            <a:ext cx="566738" cy="1813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sp>
        <p:nvSpPr>
          <p:cNvPr id="41" name="rect-049"/>
          <p:cNvSpPr/>
          <p:nvPr/>
        </p:nvSpPr>
        <p:spPr>
          <a:xfrm>
            <a:off x="433388" y="4367212"/>
            <a:ext cx="1600200" cy="666750"/>
          </a:xfrm>
          <a:prstGeom prst="roundRect">
            <a:avLst>
              <a:gd name="adj" fmla="val 120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50: NPU 计算引擎"/>
          <p:cNvSpPr txBox="1"/>
          <p:nvPr/>
        </p:nvSpPr>
        <p:spPr>
          <a:xfrm>
            <a:off x="652316" y="4484961"/>
            <a:ext cx="1162343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43" name="text-051: 独立于 DDR 搬运器"/>
          <p:cNvSpPr txBox="1"/>
          <p:nvPr/>
        </p:nvSpPr>
        <p:spPr>
          <a:xfrm>
            <a:off x="614764" y="4707122"/>
            <a:ext cx="1237446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独立于 DDR 搬运器</a:t>
            </a:r>
          </a:p>
        </p:txBody>
      </p:sp>
      <p:sp>
        <p:nvSpPr>
          <p:cNvPr id="44" name="rect-052"/>
          <p:cNvSpPr/>
          <p:nvPr/>
        </p:nvSpPr>
        <p:spPr>
          <a:xfrm>
            <a:off x="2833688" y="4333875"/>
            <a:ext cx="1466850" cy="933450"/>
          </a:xfrm>
          <a:prstGeom prst="roundRect">
            <a:avLst>
              <a:gd name="adj" fmla="val 8571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53: GB 访问适配"/>
          <p:cNvSpPr txBox="1"/>
          <p:nvPr/>
        </p:nvSpPr>
        <p:spPr>
          <a:xfrm>
            <a:off x="3049808" y="4488294"/>
            <a:ext cx="1034608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46" name="text-054: 局部仲裁 / 路由"/>
          <p:cNvSpPr txBox="1"/>
          <p:nvPr/>
        </p:nvSpPr>
        <p:spPr>
          <a:xfrm>
            <a:off x="3059179" y="4710455"/>
            <a:ext cx="1015867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47" name="text-055: 处理 bank 冲突"/>
          <p:cNvSpPr txBox="1"/>
          <p:nvPr/>
        </p:nvSpPr>
        <p:spPr>
          <a:xfrm>
            <a:off x="3064841" y="4903813"/>
            <a:ext cx="100454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处理 bank 冲突</a:t>
            </a:r>
          </a:p>
        </p:txBody>
      </p:sp>
      <p:sp>
        <p:nvSpPr>
          <p:cNvPr id="48" name="rect-056"/>
          <p:cNvSpPr/>
          <p:nvPr/>
        </p:nvSpPr>
        <p:spPr>
          <a:xfrm>
            <a:off x="4667250" y="4200525"/>
            <a:ext cx="2300288" cy="1200150"/>
          </a:xfrm>
          <a:prstGeom prst="roundRect">
            <a:avLst>
              <a:gd name="adj" fmla="val 6666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7: Global Buffer"/>
          <p:cNvSpPr txBox="1"/>
          <p:nvPr/>
        </p:nvSpPr>
        <p:spPr>
          <a:xfrm>
            <a:off x="5227591" y="4391616"/>
            <a:ext cx="1179606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50" name="text-058: 独立片上 SRAM · 分 bank"/>
          <p:cNvSpPr txBox="1"/>
          <p:nvPr/>
        </p:nvSpPr>
        <p:spPr>
          <a:xfrm>
            <a:off x="5014689" y="4613777"/>
            <a:ext cx="1605409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独立片上 SRAM · 分 bank</a:t>
            </a:r>
          </a:p>
        </p:txBody>
      </p:sp>
      <p:sp>
        <p:nvSpPr>
          <p:cNvPr id="51" name="text-059: ISP 工作区 / NPU-Ara 活跃区"/>
          <p:cNvSpPr txBox="1"/>
          <p:nvPr/>
        </p:nvSpPr>
        <p:spPr>
          <a:xfrm>
            <a:off x="4909343" y="4807134"/>
            <a:ext cx="181610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 工作区 / NPU-Ara 活跃区</a:t>
            </a:r>
          </a:p>
        </p:txBody>
      </p:sp>
      <p:sp>
        <p:nvSpPr>
          <p:cNvPr id="52" name="text-060: 搬运双缓冲 · 分区仅示意"/>
          <p:cNvSpPr txBox="1"/>
          <p:nvPr/>
        </p:nvSpPr>
        <p:spPr>
          <a:xfrm>
            <a:off x="5067909" y="5000492"/>
            <a:ext cx="1498969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搬运双缓冲 · 分区仅示意</a:t>
            </a:r>
          </a:p>
        </p:txBody>
      </p:sp>
      <p:sp>
        <p:nvSpPr>
          <p:cNvPr id="53" name="rect-061"/>
          <p:cNvSpPr/>
          <p:nvPr/>
        </p:nvSpPr>
        <p:spPr>
          <a:xfrm>
            <a:off x="7467600" y="4367212"/>
            <a:ext cx="1866900" cy="833438"/>
          </a:xfrm>
          <a:prstGeom prst="roundRect">
            <a:avLst>
              <a:gd name="adj" fmla="val 96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62: NPU / GB 搬运引擎"/>
          <p:cNvSpPr txBox="1"/>
          <p:nvPr/>
        </p:nvSpPr>
        <p:spPr>
          <a:xfrm>
            <a:off x="7626875" y="4471626"/>
            <a:ext cx="1548350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55" name="text-063: DDR ↔ GB"/>
          <p:cNvSpPr txBox="1"/>
          <p:nvPr/>
        </p:nvSpPr>
        <p:spPr>
          <a:xfrm>
            <a:off x="8031358" y="4693787"/>
            <a:ext cx="73938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56" name="text-064: 统一 DDR 出口候选"/>
          <p:cNvSpPr txBox="1"/>
          <p:nvPr/>
        </p:nvSpPr>
        <p:spPr>
          <a:xfrm>
            <a:off x="7782327" y="4887144"/>
            <a:ext cx="1237446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统一 DDR 出口候选</a:t>
            </a:r>
          </a:p>
        </p:txBody>
      </p:sp>
      <p:sp>
        <p:nvSpPr>
          <p:cNvPr id="57" name="polyline-065"/>
          <p:cNvSpPr/>
          <p:nvPr/>
        </p:nvSpPr>
        <p:spPr>
          <a:xfrm>
            <a:off x="2033588" y="470058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polyline-068"/>
          <p:cNvSpPr/>
          <p:nvPr/>
        </p:nvSpPr>
        <p:spPr>
          <a:xfrm>
            <a:off x="3280410" y="3453765"/>
            <a:ext cx="1" cy="880110"/>
          </a:xfrm>
          <a:custGeom>
            <a:avLst/>
            <a:gdLst/>
            <a:ahLst/>
            <a:cxnLst/>
            <a:rect l="0" t="0" r="r" b="b"/>
            <a:pathLst>
              <a:path w="1" h="880110" fill="none">
                <a:moveTo>
                  <a:pt x="0" y="0"/>
                </a:moveTo>
                <a:lnTo>
                  <a:pt x="0" y="88011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-071: GB 地址分支"/>
          <p:cNvSpPr txBox="1"/>
          <p:nvPr/>
        </p:nvSpPr>
        <p:spPr>
          <a:xfrm>
            <a:off x="3393758" y="3650856"/>
            <a:ext cx="800142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地址分支</a:t>
            </a:r>
          </a:p>
        </p:txBody>
      </p:sp>
      <p:sp>
        <p:nvSpPr>
          <p:cNvPr id="60" name="text-072: Ara 单 AXI 出口按地址分流"/>
          <p:cNvSpPr txBox="1"/>
          <p:nvPr/>
        </p:nvSpPr>
        <p:spPr>
          <a:xfrm>
            <a:off x="3393758" y="3998100"/>
            <a:ext cx="1492593" cy="1813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7955A0"/>
                </a:solidFill>
                <a:latin typeface="Microsoft YaHei"/>
                <a:ea typeface="Microsoft YaHei"/>
                <a:cs typeface="Microsoft YaHei"/>
              </a:rPr>
              <a:t>Ara 单 AXI 出口按地址分流</a:t>
            </a:r>
          </a:p>
        </p:txBody>
      </p:sp>
      <p:sp>
        <p:nvSpPr>
          <p:cNvPr id="61" name="polyline-073"/>
          <p:cNvSpPr/>
          <p:nvPr/>
        </p:nvSpPr>
        <p:spPr>
          <a:xfrm>
            <a:off x="4300538" y="4767262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polyline-076"/>
          <p:cNvSpPr/>
          <p:nvPr/>
        </p:nvSpPr>
        <p:spPr>
          <a:xfrm>
            <a:off x="3833812" y="5200650"/>
            <a:ext cx="4567238" cy="433388"/>
          </a:xfrm>
          <a:custGeom>
            <a:avLst/>
            <a:gdLst/>
            <a:ahLst/>
            <a:cxnLst/>
            <a:rect l="0" t="0" r="r" b="b"/>
            <a:pathLst>
              <a:path w="4567238" h="433388" fill="none">
                <a:moveTo>
                  <a:pt x="0" y="66675"/>
                </a:moveTo>
                <a:lnTo>
                  <a:pt x="0" y="433388"/>
                </a:lnTo>
                <a:lnTo>
                  <a:pt x="4567238" y="433388"/>
                </a:lnTo>
                <a:lnTo>
                  <a:pt x="4567238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-079: 搬运器也是 GB 访问者"/>
          <p:cNvSpPr txBox="1"/>
          <p:nvPr/>
        </p:nvSpPr>
        <p:spPr>
          <a:xfrm>
            <a:off x="5600700" y="5417744"/>
            <a:ext cx="1315717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搬运器也是 GB 访问者</a:t>
            </a:r>
          </a:p>
        </p:txBody>
      </p:sp>
      <p:sp>
        <p:nvSpPr>
          <p:cNvPr id="64" name="polyline-080"/>
          <p:cNvSpPr/>
          <p:nvPr/>
        </p:nvSpPr>
        <p:spPr>
          <a:xfrm>
            <a:off x="9334500" y="4733925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 fill="none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-083: GB 容量、bank 数、位宽与频率待定。"/>
          <p:cNvSpPr txBox="1"/>
          <p:nvPr/>
        </p:nvSpPr>
        <p:spPr>
          <a:xfrm>
            <a:off x="433388" y="5338267"/>
            <a:ext cx="2074343" cy="1813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GB 容量、bank 数、位宽与频率待定。</a:t>
            </a:r>
          </a:p>
        </p:txBody>
      </p:sp>
      <p:sp>
        <p:nvSpPr>
          <p:cNvPr id="66" name="text-084: 并行能力取决于 SRAM 带宽和分区。"/>
          <p:cNvSpPr txBox="1"/>
          <p:nvPr/>
        </p:nvSpPr>
        <p:spPr>
          <a:xfrm>
            <a:off x="433388" y="5544960"/>
            <a:ext cx="1983842" cy="1813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并行能力取决于 SRAM 带宽和分区。</a:t>
            </a:r>
          </a:p>
        </p:txBody>
      </p:sp>
      <p:sp>
        <p:nvSpPr>
          <p:cNvPr id="67" name="rect-085"/>
          <p:cNvSpPr/>
          <p:nvPr/>
        </p:nvSpPr>
        <p:spPr>
          <a:xfrm>
            <a:off x="366712" y="6634162"/>
            <a:ext cx="123348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-086: LVDS 接收"/>
          <p:cNvSpPr txBox="1"/>
          <p:nvPr/>
        </p:nvSpPr>
        <p:spPr>
          <a:xfrm>
            <a:off x="531785" y="6685236"/>
            <a:ext cx="903342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69" name="text-087: 解串 / 帧行解析"/>
          <p:cNvSpPr txBox="1"/>
          <p:nvPr/>
        </p:nvSpPr>
        <p:spPr>
          <a:xfrm>
            <a:off x="475523" y="6907397"/>
            <a:ext cx="1015867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解串 / 帧行解析</a:t>
            </a:r>
          </a:p>
        </p:txBody>
      </p:sp>
      <p:sp>
        <p:nvSpPr>
          <p:cNvPr id="70" name="rect-088"/>
          <p:cNvSpPr/>
          <p:nvPr/>
        </p:nvSpPr>
        <p:spPr>
          <a:xfrm>
            <a:off x="1800225" y="6634162"/>
            <a:ext cx="1166812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-089: CDC / FIFO"/>
          <p:cNvSpPr txBox="1"/>
          <p:nvPr/>
        </p:nvSpPr>
        <p:spPr>
          <a:xfrm>
            <a:off x="1887033" y="6685236"/>
            <a:ext cx="993197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72" name="text-090: 像素流缓冲"/>
          <p:cNvSpPr txBox="1"/>
          <p:nvPr/>
        </p:nvSpPr>
        <p:spPr>
          <a:xfrm>
            <a:off x="2003584" y="6907397"/>
            <a:ext cx="760095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73" name="rect-091"/>
          <p:cNvSpPr/>
          <p:nvPr/>
        </p:nvSpPr>
        <p:spPr>
          <a:xfrm>
            <a:off x="3433762" y="6634162"/>
            <a:ext cx="1466850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-092: ISP"/>
          <p:cNvSpPr txBox="1"/>
          <p:nvPr/>
        </p:nvSpPr>
        <p:spPr>
          <a:xfrm>
            <a:off x="3968272" y="6685236"/>
            <a:ext cx="397831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75" name="text-093: 保留必要行缓冲"/>
          <p:cNvSpPr txBox="1"/>
          <p:nvPr/>
        </p:nvSpPr>
        <p:spPr>
          <a:xfrm>
            <a:off x="3660458" y="6907397"/>
            <a:ext cx="101346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保留必要行缓冲</a:t>
            </a:r>
          </a:p>
        </p:txBody>
      </p:sp>
      <p:sp>
        <p:nvSpPr>
          <p:cNvPr id="76" name="rect-094"/>
          <p:cNvSpPr/>
          <p:nvPr/>
        </p:nvSpPr>
        <p:spPr>
          <a:xfrm>
            <a:off x="5500688" y="6634162"/>
            <a:ext cx="136683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-095: 帧边界选择"/>
          <p:cNvSpPr txBox="1"/>
          <p:nvPr/>
        </p:nvSpPr>
        <p:spPr>
          <a:xfrm>
            <a:off x="5724049" y="6685236"/>
            <a:ext cx="920115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78" name="text-096: RAW / ISP 二选一"/>
          <p:cNvSpPr txBox="1"/>
          <p:nvPr/>
        </p:nvSpPr>
        <p:spPr>
          <a:xfrm>
            <a:off x="5605628" y="6907397"/>
            <a:ext cx="1156957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RAW / ISP 二选一</a:t>
            </a:r>
          </a:p>
        </p:txBody>
      </p:sp>
      <p:sp>
        <p:nvSpPr>
          <p:cNvPr id="79" name="rect-097"/>
          <p:cNvSpPr/>
          <p:nvPr/>
        </p:nvSpPr>
        <p:spPr>
          <a:xfrm>
            <a:off x="7467600" y="6547485"/>
            <a:ext cx="1866900" cy="700088"/>
          </a:xfrm>
          <a:prstGeom prst="roundRect">
            <a:avLst>
              <a:gd name="adj" fmla="val 11428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-098: 图像帧写入器 / DMA"/>
          <p:cNvSpPr txBox="1"/>
          <p:nvPr/>
        </p:nvSpPr>
        <p:spPr>
          <a:xfrm>
            <a:off x="7585203" y="6585223"/>
            <a:ext cx="1631694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图像帧写入器 / DMA</a:t>
            </a:r>
          </a:p>
        </p:txBody>
      </p:sp>
      <p:sp>
        <p:nvSpPr>
          <p:cNvPr id="81" name="text-099: 地址 / stride / 打包"/>
          <p:cNvSpPr txBox="1"/>
          <p:nvPr/>
        </p:nvSpPr>
        <p:spPr>
          <a:xfrm>
            <a:off x="7784843" y="6807384"/>
            <a:ext cx="123241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 / stride / 打包</a:t>
            </a:r>
          </a:p>
        </p:txBody>
      </p:sp>
      <p:sp>
        <p:nvSpPr>
          <p:cNvPr id="82" name="text-100: 产生 AXI 写事务"/>
          <p:cNvSpPr txBox="1"/>
          <p:nvPr/>
        </p:nvSpPr>
        <p:spPr>
          <a:xfrm>
            <a:off x="7879480" y="7000742"/>
            <a:ext cx="1043141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产生 AXI 写事务</a:t>
            </a:r>
          </a:p>
        </p:txBody>
      </p:sp>
      <p:sp>
        <p:nvSpPr>
          <p:cNvPr id="83" name="polyline-101"/>
          <p:cNvSpPr/>
          <p:nvPr/>
        </p:nvSpPr>
        <p:spPr>
          <a:xfrm>
            <a:off x="1600200" y="6900862"/>
            <a:ext cx="200025" cy="1"/>
          </a:xfrm>
          <a:custGeom>
            <a:avLst/>
            <a:gdLst/>
            <a:ahLst/>
            <a:cxnLst/>
            <a:rect l="0" t="0" r="r" b="b"/>
            <a:pathLst>
              <a:path w="200025" h="1" fill="none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polyline-103"/>
          <p:cNvSpPr/>
          <p:nvPr/>
        </p:nvSpPr>
        <p:spPr>
          <a:xfrm>
            <a:off x="2967038" y="6900862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polyline-105"/>
          <p:cNvSpPr/>
          <p:nvPr/>
        </p:nvSpPr>
        <p:spPr>
          <a:xfrm>
            <a:off x="3133725" y="6427470"/>
            <a:ext cx="3033712" cy="473392"/>
          </a:xfrm>
          <a:custGeom>
            <a:avLst/>
            <a:gdLst/>
            <a:ahLst/>
            <a:cxnLst/>
            <a:rect l="0" t="0" r="r" b="b"/>
            <a:pathLst>
              <a:path w="3033712" h="473392" fill="none">
                <a:moveTo>
                  <a:pt x="0" y="473392"/>
                </a:moveTo>
                <a:lnTo>
                  <a:pt x="0" y="0"/>
                </a:lnTo>
                <a:lnTo>
                  <a:pt x="3033712" y="0"/>
                </a:lnTo>
                <a:lnTo>
                  <a:pt x="3033712" y="206692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-107: RAW 旁路（不经过 ISP）"/>
          <p:cNvSpPr txBox="1"/>
          <p:nvPr/>
        </p:nvSpPr>
        <p:spPr>
          <a:xfrm>
            <a:off x="4533900" y="6258382"/>
            <a:ext cx="1406592" cy="1813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RAW 旁路（不经过 ISP）</a:t>
            </a:r>
          </a:p>
        </p:txBody>
      </p:sp>
      <p:sp>
        <p:nvSpPr>
          <p:cNvPr id="87" name="polyline-108"/>
          <p:cNvSpPr/>
          <p:nvPr/>
        </p:nvSpPr>
        <p:spPr>
          <a:xfrm>
            <a:off x="4900612" y="690086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polyline-110"/>
          <p:cNvSpPr/>
          <p:nvPr/>
        </p:nvSpPr>
        <p:spPr>
          <a:xfrm>
            <a:off x="6867525" y="690086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polyline-112"/>
          <p:cNvSpPr/>
          <p:nvPr/>
        </p:nvSpPr>
        <p:spPr>
          <a:xfrm>
            <a:off x="9334500" y="6900862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 fill="none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polyline-114"/>
          <p:cNvSpPr/>
          <p:nvPr/>
        </p:nvSpPr>
        <p:spPr>
          <a:xfrm>
            <a:off x="3567112" y="5267325"/>
            <a:ext cx="600075" cy="1366838"/>
          </a:xfrm>
          <a:custGeom>
            <a:avLst/>
            <a:gdLst/>
            <a:ahLst/>
            <a:cxnLst/>
            <a:rect l="0" t="0" r="r" b="b"/>
            <a:pathLst>
              <a:path w="600075" h="1366838" fill="none">
                <a:moveTo>
                  <a:pt x="600075" y="1366838"/>
                </a:moveTo>
                <a:lnTo>
                  <a:pt x="600075" y="580072"/>
                </a:lnTo>
                <a:lnTo>
                  <a:pt x="0" y="580072"/>
                </a:lnTo>
                <a:lnTo>
                  <a:pt x="0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-117: ISP 中间数据 ↔ GB"/>
          <p:cNvSpPr txBox="1"/>
          <p:nvPr/>
        </p:nvSpPr>
        <p:spPr>
          <a:xfrm>
            <a:off x="4433888" y="5811126"/>
            <a:ext cx="1132829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92" name="rect-118"/>
          <p:cNvSpPr/>
          <p:nvPr/>
        </p:nvSpPr>
        <p:spPr>
          <a:xfrm>
            <a:off x="9867900" y="2033588"/>
            <a:ext cx="2000250" cy="5367338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-119: DDR 控制器 IP"/>
          <p:cNvSpPr txBox="1"/>
          <p:nvPr/>
        </p:nvSpPr>
        <p:spPr>
          <a:xfrm>
            <a:off x="10212136" y="2093595"/>
            <a:ext cx="1311779" cy="2667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控制器 IP</a:t>
            </a:r>
          </a:p>
        </p:txBody>
      </p:sp>
      <p:sp>
        <p:nvSpPr>
          <p:cNvPr id="94" name="text-120: 最多 8 个 AXI Slave"/>
          <p:cNvSpPr txBox="1"/>
          <p:nvPr/>
        </p:nvSpPr>
        <p:spPr>
          <a:xfrm>
            <a:off x="10274263" y="2337359"/>
            <a:ext cx="1187523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最多 8 个 AXI Slave</a:t>
            </a:r>
          </a:p>
        </p:txBody>
      </p:sp>
      <p:sp>
        <p:nvSpPr>
          <p:cNvPr id="95" name="rect-121"/>
          <p:cNvSpPr/>
          <p:nvPr/>
        </p:nvSpPr>
        <p:spPr>
          <a:xfrm>
            <a:off x="10067925" y="261366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-122: S0"/>
          <p:cNvSpPr txBox="1"/>
          <p:nvPr/>
        </p:nvSpPr>
        <p:spPr>
          <a:xfrm>
            <a:off x="10247880" y="2694737"/>
            <a:ext cx="340178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97" name="rect-123"/>
          <p:cNvSpPr/>
          <p:nvPr/>
        </p:nvSpPr>
        <p:spPr>
          <a:xfrm>
            <a:off x="10067925" y="453390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-124: S1"/>
          <p:cNvSpPr txBox="1"/>
          <p:nvPr/>
        </p:nvSpPr>
        <p:spPr>
          <a:xfrm>
            <a:off x="10247880" y="4614977"/>
            <a:ext cx="340178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9" name="rect-125"/>
          <p:cNvSpPr/>
          <p:nvPr/>
        </p:nvSpPr>
        <p:spPr>
          <a:xfrm>
            <a:off x="10067925" y="6700838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-126: S2"/>
          <p:cNvSpPr txBox="1"/>
          <p:nvPr/>
        </p:nvSpPr>
        <p:spPr>
          <a:xfrm>
            <a:off x="10247880" y="6781914"/>
            <a:ext cx="340178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1" name="rect-127"/>
          <p:cNvSpPr/>
          <p:nvPr/>
        </p:nvSpPr>
        <p:spPr>
          <a:xfrm>
            <a:off x="11001375" y="2667000"/>
            <a:ext cx="666750" cy="43672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-128: 端口仲裁"/>
          <p:cNvSpPr txBox="1"/>
          <p:nvPr/>
        </p:nvSpPr>
        <p:spPr>
          <a:xfrm>
            <a:off x="11018044" y="3530308"/>
            <a:ext cx="63341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端口仲裁</a:t>
            </a:r>
          </a:p>
        </p:txBody>
      </p:sp>
      <p:sp>
        <p:nvSpPr>
          <p:cNvPr id="103" name="text-129: 优先级"/>
          <p:cNvSpPr txBox="1"/>
          <p:nvPr/>
        </p:nvSpPr>
        <p:spPr>
          <a:xfrm>
            <a:off x="11081385" y="3810343"/>
            <a:ext cx="50673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104" name="text-130: / QoS"/>
          <p:cNvSpPr txBox="1"/>
          <p:nvPr/>
        </p:nvSpPr>
        <p:spPr>
          <a:xfrm>
            <a:off x="11097158" y="4090378"/>
            <a:ext cx="47518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 QoS</a:t>
            </a:r>
          </a:p>
        </p:txBody>
      </p:sp>
      <p:sp>
        <p:nvSpPr>
          <p:cNvPr id="105" name="text-131: 读写调度"/>
          <p:cNvSpPr txBox="1"/>
          <p:nvPr/>
        </p:nvSpPr>
        <p:spPr>
          <a:xfrm>
            <a:off x="11018044" y="4650448"/>
            <a:ext cx="63341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" name="text-132: Bank / Row"/>
          <p:cNvSpPr txBox="1"/>
          <p:nvPr/>
        </p:nvSpPr>
        <p:spPr>
          <a:xfrm>
            <a:off x="10928944" y="4930483"/>
            <a:ext cx="81161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107" name="text-133: 命令调度"/>
          <p:cNvSpPr txBox="1"/>
          <p:nvPr/>
        </p:nvSpPr>
        <p:spPr>
          <a:xfrm>
            <a:off x="11018044" y="5210518"/>
            <a:ext cx="63341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8" name="polyline-134"/>
          <p:cNvSpPr/>
          <p:nvPr/>
        </p:nvSpPr>
        <p:spPr>
          <a:xfrm>
            <a:off x="10768012" y="281368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polyline-136"/>
          <p:cNvSpPr/>
          <p:nvPr/>
        </p:nvSpPr>
        <p:spPr>
          <a:xfrm>
            <a:off x="10768012" y="473392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polyline-139"/>
          <p:cNvSpPr/>
          <p:nvPr/>
        </p:nvSpPr>
        <p:spPr>
          <a:xfrm>
            <a:off x="10768012" y="6900862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-141: 共享 DDR 带宽；多口不等于独占"/>
          <p:cNvSpPr txBox="1"/>
          <p:nvPr/>
        </p:nvSpPr>
        <p:spPr>
          <a:xfrm>
            <a:off x="9974387" y="7151827"/>
            <a:ext cx="1787275" cy="1813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共享 DDR 带宽；多口不等于独占</a:t>
            </a:r>
          </a:p>
        </p:txBody>
      </p:sp>
      <p:sp>
        <p:nvSpPr>
          <p:cNvPr id="112" name="rect-142"/>
          <p:cNvSpPr/>
          <p:nvPr/>
        </p:nvSpPr>
        <p:spPr>
          <a:xfrm>
            <a:off x="12068175" y="4167188"/>
            <a:ext cx="600075" cy="1066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-143: PHY"/>
          <p:cNvSpPr txBox="1"/>
          <p:nvPr/>
        </p:nvSpPr>
        <p:spPr>
          <a:xfrm>
            <a:off x="12128453" y="4388282"/>
            <a:ext cx="479518" cy="2453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14" name="text-144: /"/>
          <p:cNvSpPr txBox="1"/>
          <p:nvPr/>
        </p:nvSpPr>
        <p:spPr>
          <a:xfrm>
            <a:off x="12277811" y="4610443"/>
            <a:ext cx="18080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</p:txBody>
      </p:sp>
      <p:sp>
        <p:nvSpPr>
          <p:cNvPr id="115" name="text-145: DDR"/>
          <p:cNvSpPr txBox="1"/>
          <p:nvPr/>
        </p:nvSpPr>
        <p:spPr>
          <a:xfrm>
            <a:off x="12167021" y="4803800"/>
            <a:ext cx="402384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16" name="polyline-146"/>
          <p:cNvSpPr/>
          <p:nvPr/>
        </p:nvSpPr>
        <p:spPr>
          <a:xfrm>
            <a:off x="11668125" y="473392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-149: SoC / LLC 下游"/>
          <p:cNvSpPr txBox="1"/>
          <p:nvPr/>
        </p:nvSpPr>
        <p:spPr>
          <a:xfrm>
            <a:off x="10067925" y="3084119"/>
            <a:ext cx="943024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SoC / LLC 下游</a:t>
            </a:r>
          </a:p>
        </p:txBody>
      </p:sp>
      <p:sp>
        <p:nvSpPr>
          <p:cNvPr id="118" name="text-150: NPU / GB 搬运"/>
          <p:cNvSpPr txBox="1"/>
          <p:nvPr/>
        </p:nvSpPr>
        <p:spPr>
          <a:xfrm>
            <a:off x="10067925" y="5004359"/>
            <a:ext cx="943024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9" name="text-151: 图像帧写入"/>
          <p:cNvSpPr txBox="1"/>
          <p:nvPr/>
        </p:nvSpPr>
        <p:spPr>
          <a:xfrm>
            <a:off x="10067925" y="6424536"/>
            <a:ext cx="720090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sp>
        <p:nvSpPr>
          <p:cNvPr id="120" name="polyline-152"/>
          <p:cNvSpPr/>
          <p:nvPr/>
        </p:nvSpPr>
        <p:spPr>
          <a:xfrm>
            <a:off x="333375" y="761428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-154: AXI / 外存通路"/>
          <p:cNvSpPr txBox="1"/>
          <p:nvPr/>
        </p:nvSpPr>
        <p:spPr>
          <a:xfrm>
            <a:off x="780098" y="7524140"/>
            <a:ext cx="97058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sp>
        <p:nvSpPr>
          <p:cNvPr id="122" name="polyline-155"/>
          <p:cNvSpPr/>
          <p:nvPr/>
        </p:nvSpPr>
        <p:spPr>
          <a:xfrm>
            <a:off x="2300288" y="761428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-158: GB 本地读写（含适配）"/>
          <p:cNvSpPr txBox="1"/>
          <p:nvPr/>
        </p:nvSpPr>
        <p:spPr>
          <a:xfrm>
            <a:off x="2747010" y="7524140"/>
            <a:ext cx="1478008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本地读写（含适配）</a:t>
            </a:r>
          </a:p>
        </p:txBody>
      </p:sp>
      <p:sp>
        <p:nvSpPr>
          <p:cNvPr id="124" name="polyline-159"/>
          <p:cNvSpPr/>
          <p:nvPr/>
        </p:nvSpPr>
        <p:spPr>
          <a:xfrm>
            <a:off x="4733925" y="761428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-161: 像素流"/>
          <p:cNvSpPr txBox="1"/>
          <p:nvPr/>
        </p:nvSpPr>
        <p:spPr>
          <a:xfrm>
            <a:off x="5180648" y="7524140"/>
            <a:ext cx="50673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26" name="text-162: 箭头表示逻辑流向；AXI 返回通道未逐一展开。"/>
          <p:cNvSpPr txBox="1"/>
          <p:nvPr/>
        </p:nvSpPr>
        <p:spPr>
          <a:xfrm>
            <a:off x="6667500" y="7524140"/>
            <a:ext cx="2779212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箭头表示逻辑流向；AXI 返回通道未逐一展开。</a:t>
            </a:r>
          </a:p>
        </p:txBody>
      </p:sp>
      <p:sp>
        <p:nvSpPr>
          <p:cNvPr id="127" name="text-163: 三口成立条件：NPU 与 GB 共用 S1 搬运出口；若保留独立 NPU mas"/>
          <p:cNvSpPr txBox="1"/>
          <p:nvPr/>
        </p:nvSpPr>
        <p:spPr>
          <a:xfrm>
            <a:off x="320040" y="7783106"/>
            <a:ext cx="7557497" cy="2240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三口成立条件：NPU 与 GB 共用 S1 搬运出口；若保留独立 NPU master + GB DMA，可增加 S3，不能强行串行化。</a:t>
            </a:r>
          </a:p>
        </p:txBody>
      </p:sp>
      <p:sp>
        <p:nvSpPr>
          <p:cNvPr id="128" name="text-164: 范围：控制寄存器/中断、缓存维护与 CDC 细节未展开；GB 不自动一致；RAW"/>
          <p:cNvSpPr txBox="1"/>
          <p:nvPr/>
        </p:nvSpPr>
        <p:spPr>
          <a:xfrm>
            <a:off x="320040" y="8024203"/>
            <a:ext cx="7075780" cy="2026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范围：控制寄存器/中断、缓存维护与 CDC 细节未展开；GB 不自动一致；RAW/ISP 暂按不同时录制。  |  L01 · 2026-10-10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002: LLC 多路组相联 Cache 与按 way 切换 SPM"/>
          <p:cNvSpPr txBox="1"/>
          <p:nvPr/>
        </p:nvSpPr>
        <p:spPr>
          <a:xfrm>
            <a:off x="304800" y="684276"/>
            <a:ext cx="6343531" cy="4876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3" name="text-003: 当前 DefaultCfg：8 way × 256 行/way × 8 个 64"/>
          <p:cNvSpPr txBox="1"/>
          <p:nvPr/>
        </p:nvSpPr>
        <p:spPr>
          <a:xfrm>
            <a:off x="304800" y="1144219"/>
            <a:ext cx="7425988" cy="2804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 DefaultCfg：8 way × 256 行/way × 8 个 64-bit 数据块/行 = 128 KiB；每 way 16 KiB</a:t>
            </a:r>
          </a:p>
        </p:txBody>
      </p:sp>
      <p:sp>
        <p:nvSpPr>
          <p:cNvPr id="4" name="rect-004"/>
          <p:cNvSpPr/>
          <p:nvPr/>
        </p:nvSpPr>
        <p:spPr>
          <a:xfrm>
            <a:off x="304800" y="1584960"/>
            <a:ext cx="7772400" cy="48006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-005"/>
          <p:cNvSpPr/>
          <p:nvPr/>
        </p:nvSpPr>
        <p:spPr>
          <a:xfrm>
            <a:off x="8305800" y="1584960"/>
            <a:ext cx="4191000" cy="480060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-006: ① 全 Cache：8 路组相联（CFG_SPM = 0x00）"/>
          <p:cNvSpPr txBox="1"/>
          <p:nvPr/>
        </p:nvSpPr>
        <p:spPr>
          <a:xfrm>
            <a:off x="518160" y="1659331"/>
            <a:ext cx="4913566" cy="34137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全 Cache：8 路组相联（CFG_SPM = 0x00）</a:t>
            </a:r>
          </a:p>
        </p:txBody>
      </p:sp>
      <p:sp>
        <p:nvSpPr>
          <p:cNvPr id="7" name="text-007: 每一组有 8 个候选缓存行；每单元上部是 Tag/V/D，下部是 64 B 数据"/>
          <p:cNvSpPr txBox="1"/>
          <p:nvPr/>
        </p:nvSpPr>
        <p:spPr>
          <a:xfrm>
            <a:off x="518160" y="1968398"/>
            <a:ext cx="513761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每一组有 8 个候选缓存行；每单元上部是 Tag/V/D，下部是 64 B 数据</a:t>
            </a:r>
          </a:p>
        </p:txBody>
      </p:sp>
      <p:sp>
        <p:nvSpPr>
          <p:cNvPr id="8" name="rect-008"/>
          <p:cNvSpPr/>
          <p:nvPr/>
        </p:nvSpPr>
        <p:spPr>
          <a:xfrm>
            <a:off x="518160" y="2286000"/>
            <a:ext cx="3048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09: Tag  [47:14]"/>
          <p:cNvSpPr txBox="1"/>
          <p:nvPr/>
        </p:nvSpPr>
        <p:spPr>
          <a:xfrm>
            <a:off x="1463731" y="2295449"/>
            <a:ext cx="1156859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 [47:14]</a:t>
            </a:r>
          </a:p>
        </p:txBody>
      </p:sp>
      <p:sp>
        <p:nvSpPr>
          <p:cNvPr id="10" name="text-010: 34 bit"/>
          <p:cNvSpPr txBox="1"/>
          <p:nvPr/>
        </p:nvSpPr>
        <p:spPr>
          <a:xfrm>
            <a:off x="1770983" y="2503018"/>
            <a:ext cx="54235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1" name="rect-011"/>
          <p:cNvSpPr/>
          <p:nvPr/>
        </p:nvSpPr>
        <p:spPr>
          <a:xfrm>
            <a:off x="3566160" y="2286000"/>
            <a:ext cx="1752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12: Set  [13:6]"/>
          <p:cNvSpPr txBox="1"/>
          <p:nvPr/>
        </p:nvSpPr>
        <p:spPr>
          <a:xfrm>
            <a:off x="3930456" y="2295449"/>
            <a:ext cx="1024009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Set  [13:6]</a:t>
            </a:r>
          </a:p>
        </p:txBody>
      </p:sp>
      <p:sp>
        <p:nvSpPr>
          <p:cNvPr id="13" name="text-013: 8 bit → 256 组"/>
          <p:cNvSpPr txBox="1"/>
          <p:nvPr/>
        </p:nvSpPr>
        <p:spPr>
          <a:xfrm>
            <a:off x="3877342" y="2503018"/>
            <a:ext cx="1130236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bit → 256 组</a:t>
            </a:r>
          </a:p>
        </p:txBody>
      </p:sp>
      <p:sp>
        <p:nvSpPr>
          <p:cNvPr id="14" name="rect-014"/>
          <p:cNvSpPr/>
          <p:nvPr/>
        </p:nvSpPr>
        <p:spPr>
          <a:xfrm>
            <a:off x="5318760" y="2286000"/>
            <a:ext cx="1371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5: Block  [5:3]"/>
          <p:cNvSpPr txBox="1"/>
          <p:nvPr/>
        </p:nvSpPr>
        <p:spPr>
          <a:xfrm>
            <a:off x="5447699" y="2295449"/>
            <a:ext cx="11137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Block  [5:3]</a:t>
            </a:r>
          </a:p>
        </p:txBody>
      </p:sp>
      <p:sp>
        <p:nvSpPr>
          <p:cNvPr id="16" name="text-016: 8 个数据块"/>
          <p:cNvSpPr txBox="1"/>
          <p:nvPr/>
        </p:nvSpPr>
        <p:spPr>
          <a:xfrm>
            <a:off x="5578739" y="2503018"/>
            <a:ext cx="85164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7" name="rect-017"/>
          <p:cNvSpPr/>
          <p:nvPr/>
        </p:nvSpPr>
        <p:spPr>
          <a:xfrm>
            <a:off x="6690360" y="2286000"/>
            <a:ext cx="1143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18: Byte  [2:0]"/>
          <p:cNvSpPr txBox="1"/>
          <p:nvPr/>
        </p:nvSpPr>
        <p:spPr>
          <a:xfrm>
            <a:off x="6746742" y="2295449"/>
            <a:ext cx="103023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Byte  [2:0]</a:t>
            </a:r>
          </a:p>
        </p:txBody>
      </p:sp>
      <p:sp>
        <p:nvSpPr>
          <p:cNvPr id="19" name="text-019: 块内 8 字节"/>
          <p:cNvSpPr txBox="1"/>
          <p:nvPr/>
        </p:nvSpPr>
        <p:spPr>
          <a:xfrm>
            <a:off x="6814620" y="2503018"/>
            <a:ext cx="89448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0" name="path-020"/>
          <p:cNvSpPr/>
          <p:nvPr/>
        </p:nvSpPr>
        <p:spPr>
          <a:xfrm>
            <a:off x="1143000" y="2743200"/>
            <a:ext cx="3299460" cy="1767840"/>
          </a:xfrm>
          <a:custGeom>
            <a:avLst/>
            <a:gdLst/>
            <a:ahLst/>
            <a:cxnLst/>
            <a:rect l="0" t="0" r="r" b="b"/>
            <a:pathLst>
              <a:path w="3299460" h="1767840" fill="none">
                <a:moveTo>
                  <a:pt x="3299460" y="0"/>
                </a:moveTo>
                <a:lnTo>
                  <a:pt x="3299460" y="121920"/>
                </a:lnTo>
                <a:lnTo>
                  <a:pt x="0" y="121920"/>
                </a:lnTo>
                <a:lnTo>
                  <a:pt x="0" y="1767840"/>
                </a:lnTo>
                <a:lnTo>
                  <a:pt x="228600" y="1767840"/>
                </a:lnTo>
              </a:path>
            </a:pathLst>
          </a:custGeom>
          <a:noFill/>
          <a:ln w="22860" cap="flat">
            <a:solidFill>
              <a:srgbClr val="B68A2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2: Set 索引选中同一组，Tag 与各 way 元数据并行比较"/>
          <p:cNvSpPr txBox="1"/>
          <p:nvPr/>
        </p:nvSpPr>
        <p:spPr>
          <a:xfrm>
            <a:off x="1303020" y="2830678"/>
            <a:ext cx="350708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Set 索引选中同一组，Tag 与各 way 元数据并行比较</a:t>
            </a:r>
          </a:p>
        </p:txBody>
      </p:sp>
      <p:sp>
        <p:nvSpPr>
          <p:cNvPr id="22" name="rect-023"/>
          <p:cNvSpPr/>
          <p:nvPr/>
        </p:nvSpPr>
        <p:spPr>
          <a:xfrm>
            <a:off x="137160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-024: Way 0"/>
          <p:cNvSpPr txBox="1"/>
          <p:nvPr/>
        </p:nvSpPr>
        <p:spPr>
          <a:xfrm>
            <a:off x="140892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4" name="rect-025"/>
          <p:cNvSpPr/>
          <p:nvPr/>
        </p:nvSpPr>
        <p:spPr>
          <a:xfrm>
            <a:off x="217932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6: Way 1"/>
          <p:cNvSpPr txBox="1"/>
          <p:nvPr/>
        </p:nvSpPr>
        <p:spPr>
          <a:xfrm>
            <a:off x="221664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6" name="rect-027"/>
          <p:cNvSpPr/>
          <p:nvPr/>
        </p:nvSpPr>
        <p:spPr>
          <a:xfrm>
            <a:off x="298704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28: Way 2"/>
          <p:cNvSpPr txBox="1"/>
          <p:nvPr/>
        </p:nvSpPr>
        <p:spPr>
          <a:xfrm>
            <a:off x="302436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28" name="rect-029"/>
          <p:cNvSpPr/>
          <p:nvPr/>
        </p:nvSpPr>
        <p:spPr>
          <a:xfrm>
            <a:off x="379476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-030: Way 3"/>
          <p:cNvSpPr txBox="1"/>
          <p:nvPr/>
        </p:nvSpPr>
        <p:spPr>
          <a:xfrm>
            <a:off x="383208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30" name="rect-031"/>
          <p:cNvSpPr/>
          <p:nvPr/>
        </p:nvSpPr>
        <p:spPr>
          <a:xfrm>
            <a:off x="460248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32: Way 4"/>
          <p:cNvSpPr txBox="1"/>
          <p:nvPr/>
        </p:nvSpPr>
        <p:spPr>
          <a:xfrm>
            <a:off x="463980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32" name="rect-033"/>
          <p:cNvSpPr/>
          <p:nvPr/>
        </p:nvSpPr>
        <p:spPr>
          <a:xfrm>
            <a:off x="541020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34: Way 5"/>
          <p:cNvSpPr txBox="1"/>
          <p:nvPr/>
        </p:nvSpPr>
        <p:spPr>
          <a:xfrm>
            <a:off x="544752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34" name="rect-035"/>
          <p:cNvSpPr/>
          <p:nvPr/>
        </p:nvSpPr>
        <p:spPr>
          <a:xfrm>
            <a:off x="621792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36: Way 6"/>
          <p:cNvSpPr txBox="1"/>
          <p:nvPr/>
        </p:nvSpPr>
        <p:spPr>
          <a:xfrm>
            <a:off x="625524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36" name="rect-037"/>
          <p:cNvSpPr/>
          <p:nvPr/>
        </p:nvSpPr>
        <p:spPr>
          <a:xfrm>
            <a:off x="702564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38: Way 7"/>
          <p:cNvSpPr txBox="1"/>
          <p:nvPr/>
        </p:nvSpPr>
        <p:spPr>
          <a:xfrm>
            <a:off x="706296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38" name="rect-039"/>
          <p:cNvSpPr/>
          <p:nvPr/>
        </p:nvSpPr>
        <p:spPr>
          <a:xfrm>
            <a:off x="1295400" y="4259580"/>
            <a:ext cx="6583680" cy="502920"/>
          </a:xfrm>
          <a:prstGeom prst="roundRect">
            <a:avLst>
              <a:gd name="adj" fmla="val 7575"/>
            </a:avLst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0: 组 0"/>
          <p:cNvSpPr txBox="1"/>
          <p:nvPr/>
        </p:nvSpPr>
        <p:spPr>
          <a:xfrm>
            <a:off x="609600" y="3468929"/>
            <a:ext cx="483191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40" name="rect-041"/>
          <p:cNvSpPr/>
          <p:nvPr/>
        </p:nvSpPr>
        <p:spPr>
          <a:xfrm>
            <a:off x="137160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2"/>
          <p:cNvSpPr/>
          <p:nvPr/>
        </p:nvSpPr>
        <p:spPr>
          <a:xfrm>
            <a:off x="137160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3: T / V / D"/>
          <p:cNvSpPr txBox="1"/>
          <p:nvPr/>
        </p:nvSpPr>
        <p:spPr>
          <a:xfrm>
            <a:off x="140630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3" name="text-044: 64 B"/>
          <p:cNvSpPr txBox="1"/>
          <p:nvPr/>
        </p:nvSpPr>
        <p:spPr>
          <a:xfrm>
            <a:off x="152846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4" name="rect-045"/>
          <p:cNvSpPr/>
          <p:nvPr/>
        </p:nvSpPr>
        <p:spPr>
          <a:xfrm>
            <a:off x="217932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46"/>
          <p:cNvSpPr/>
          <p:nvPr/>
        </p:nvSpPr>
        <p:spPr>
          <a:xfrm>
            <a:off x="217932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47: T / V / D"/>
          <p:cNvSpPr txBox="1"/>
          <p:nvPr/>
        </p:nvSpPr>
        <p:spPr>
          <a:xfrm>
            <a:off x="221402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7" name="text-048: 64 B"/>
          <p:cNvSpPr txBox="1"/>
          <p:nvPr/>
        </p:nvSpPr>
        <p:spPr>
          <a:xfrm>
            <a:off x="233618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8" name="rect-049"/>
          <p:cNvSpPr/>
          <p:nvPr/>
        </p:nvSpPr>
        <p:spPr>
          <a:xfrm>
            <a:off x="298704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-050"/>
          <p:cNvSpPr/>
          <p:nvPr/>
        </p:nvSpPr>
        <p:spPr>
          <a:xfrm>
            <a:off x="298704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-051: T / V / D"/>
          <p:cNvSpPr txBox="1"/>
          <p:nvPr/>
        </p:nvSpPr>
        <p:spPr>
          <a:xfrm>
            <a:off x="302174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1" name="text-052: 64 B"/>
          <p:cNvSpPr txBox="1"/>
          <p:nvPr/>
        </p:nvSpPr>
        <p:spPr>
          <a:xfrm>
            <a:off x="314390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2" name="rect-053"/>
          <p:cNvSpPr/>
          <p:nvPr/>
        </p:nvSpPr>
        <p:spPr>
          <a:xfrm>
            <a:off x="379476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-054"/>
          <p:cNvSpPr/>
          <p:nvPr/>
        </p:nvSpPr>
        <p:spPr>
          <a:xfrm>
            <a:off x="379476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55: T / V / D"/>
          <p:cNvSpPr txBox="1"/>
          <p:nvPr/>
        </p:nvSpPr>
        <p:spPr>
          <a:xfrm>
            <a:off x="382946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5" name="text-056: 64 B"/>
          <p:cNvSpPr txBox="1"/>
          <p:nvPr/>
        </p:nvSpPr>
        <p:spPr>
          <a:xfrm>
            <a:off x="395162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6" name="rect-057"/>
          <p:cNvSpPr/>
          <p:nvPr/>
        </p:nvSpPr>
        <p:spPr>
          <a:xfrm>
            <a:off x="460248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-058"/>
          <p:cNvSpPr/>
          <p:nvPr/>
        </p:nvSpPr>
        <p:spPr>
          <a:xfrm>
            <a:off x="460248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-059: T / V / D"/>
          <p:cNvSpPr txBox="1"/>
          <p:nvPr/>
        </p:nvSpPr>
        <p:spPr>
          <a:xfrm>
            <a:off x="463718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9" name="text-060: 64 B"/>
          <p:cNvSpPr txBox="1"/>
          <p:nvPr/>
        </p:nvSpPr>
        <p:spPr>
          <a:xfrm>
            <a:off x="475934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0" name="rect-061"/>
          <p:cNvSpPr/>
          <p:nvPr/>
        </p:nvSpPr>
        <p:spPr>
          <a:xfrm>
            <a:off x="541020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-062"/>
          <p:cNvSpPr/>
          <p:nvPr/>
        </p:nvSpPr>
        <p:spPr>
          <a:xfrm>
            <a:off x="541020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-063: T / V / D"/>
          <p:cNvSpPr txBox="1"/>
          <p:nvPr/>
        </p:nvSpPr>
        <p:spPr>
          <a:xfrm>
            <a:off x="544490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3" name="text-064: 64 B"/>
          <p:cNvSpPr txBox="1"/>
          <p:nvPr/>
        </p:nvSpPr>
        <p:spPr>
          <a:xfrm>
            <a:off x="556706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4" name="rect-065"/>
          <p:cNvSpPr/>
          <p:nvPr/>
        </p:nvSpPr>
        <p:spPr>
          <a:xfrm>
            <a:off x="621792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-066"/>
          <p:cNvSpPr/>
          <p:nvPr/>
        </p:nvSpPr>
        <p:spPr>
          <a:xfrm>
            <a:off x="621792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-067: T / V / D"/>
          <p:cNvSpPr txBox="1"/>
          <p:nvPr/>
        </p:nvSpPr>
        <p:spPr>
          <a:xfrm>
            <a:off x="625262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7" name="text-068: 64 B"/>
          <p:cNvSpPr txBox="1"/>
          <p:nvPr/>
        </p:nvSpPr>
        <p:spPr>
          <a:xfrm>
            <a:off x="637478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8" name="rect-069"/>
          <p:cNvSpPr/>
          <p:nvPr/>
        </p:nvSpPr>
        <p:spPr>
          <a:xfrm>
            <a:off x="702564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-070"/>
          <p:cNvSpPr/>
          <p:nvPr/>
        </p:nvSpPr>
        <p:spPr>
          <a:xfrm>
            <a:off x="702564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-071: T / V / D"/>
          <p:cNvSpPr txBox="1"/>
          <p:nvPr/>
        </p:nvSpPr>
        <p:spPr>
          <a:xfrm>
            <a:off x="706034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1" name="text-072: 64 B"/>
          <p:cNvSpPr txBox="1"/>
          <p:nvPr/>
        </p:nvSpPr>
        <p:spPr>
          <a:xfrm>
            <a:off x="718250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2" name="text-073: 组 1"/>
          <p:cNvSpPr txBox="1"/>
          <p:nvPr/>
        </p:nvSpPr>
        <p:spPr>
          <a:xfrm>
            <a:off x="609600" y="3926129"/>
            <a:ext cx="483191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73" name="rect-074"/>
          <p:cNvSpPr/>
          <p:nvPr/>
        </p:nvSpPr>
        <p:spPr>
          <a:xfrm>
            <a:off x="137160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-075"/>
          <p:cNvSpPr/>
          <p:nvPr/>
        </p:nvSpPr>
        <p:spPr>
          <a:xfrm>
            <a:off x="137160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-076: T / V / D"/>
          <p:cNvSpPr txBox="1"/>
          <p:nvPr/>
        </p:nvSpPr>
        <p:spPr>
          <a:xfrm>
            <a:off x="140630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6" name="text-077: 64 B"/>
          <p:cNvSpPr txBox="1"/>
          <p:nvPr/>
        </p:nvSpPr>
        <p:spPr>
          <a:xfrm>
            <a:off x="152846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7" name="rect-078"/>
          <p:cNvSpPr/>
          <p:nvPr/>
        </p:nvSpPr>
        <p:spPr>
          <a:xfrm>
            <a:off x="217932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-079"/>
          <p:cNvSpPr/>
          <p:nvPr/>
        </p:nvSpPr>
        <p:spPr>
          <a:xfrm>
            <a:off x="217932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-080: T / V / D"/>
          <p:cNvSpPr txBox="1"/>
          <p:nvPr/>
        </p:nvSpPr>
        <p:spPr>
          <a:xfrm>
            <a:off x="221402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0" name="text-081: 64 B"/>
          <p:cNvSpPr txBox="1"/>
          <p:nvPr/>
        </p:nvSpPr>
        <p:spPr>
          <a:xfrm>
            <a:off x="233618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1" name="rect-082"/>
          <p:cNvSpPr/>
          <p:nvPr/>
        </p:nvSpPr>
        <p:spPr>
          <a:xfrm>
            <a:off x="298704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-083"/>
          <p:cNvSpPr/>
          <p:nvPr/>
        </p:nvSpPr>
        <p:spPr>
          <a:xfrm>
            <a:off x="298704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-084: T / V / D"/>
          <p:cNvSpPr txBox="1"/>
          <p:nvPr/>
        </p:nvSpPr>
        <p:spPr>
          <a:xfrm>
            <a:off x="302174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4" name="text-085: 64 B"/>
          <p:cNvSpPr txBox="1"/>
          <p:nvPr/>
        </p:nvSpPr>
        <p:spPr>
          <a:xfrm>
            <a:off x="314390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5" name="rect-086"/>
          <p:cNvSpPr/>
          <p:nvPr/>
        </p:nvSpPr>
        <p:spPr>
          <a:xfrm>
            <a:off x="379476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-087"/>
          <p:cNvSpPr/>
          <p:nvPr/>
        </p:nvSpPr>
        <p:spPr>
          <a:xfrm>
            <a:off x="379476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-088: T / V / D"/>
          <p:cNvSpPr txBox="1"/>
          <p:nvPr/>
        </p:nvSpPr>
        <p:spPr>
          <a:xfrm>
            <a:off x="382946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8" name="text-089: 64 B"/>
          <p:cNvSpPr txBox="1"/>
          <p:nvPr/>
        </p:nvSpPr>
        <p:spPr>
          <a:xfrm>
            <a:off x="395162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9" name="rect-090"/>
          <p:cNvSpPr/>
          <p:nvPr/>
        </p:nvSpPr>
        <p:spPr>
          <a:xfrm>
            <a:off x="460248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-091"/>
          <p:cNvSpPr/>
          <p:nvPr/>
        </p:nvSpPr>
        <p:spPr>
          <a:xfrm>
            <a:off x="460248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-092: T / V / D"/>
          <p:cNvSpPr txBox="1"/>
          <p:nvPr/>
        </p:nvSpPr>
        <p:spPr>
          <a:xfrm>
            <a:off x="463718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2" name="text-093: 64 B"/>
          <p:cNvSpPr txBox="1"/>
          <p:nvPr/>
        </p:nvSpPr>
        <p:spPr>
          <a:xfrm>
            <a:off x="475934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3" name="rect-094"/>
          <p:cNvSpPr/>
          <p:nvPr/>
        </p:nvSpPr>
        <p:spPr>
          <a:xfrm>
            <a:off x="541020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-095"/>
          <p:cNvSpPr/>
          <p:nvPr/>
        </p:nvSpPr>
        <p:spPr>
          <a:xfrm>
            <a:off x="541020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-096: T / V / D"/>
          <p:cNvSpPr txBox="1"/>
          <p:nvPr/>
        </p:nvSpPr>
        <p:spPr>
          <a:xfrm>
            <a:off x="544490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6" name="text-097: 64 B"/>
          <p:cNvSpPr txBox="1"/>
          <p:nvPr/>
        </p:nvSpPr>
        <p:spPr>
          <a:xfrm>
            <a:off x="556706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7" name="rect-098"/>
          <p:cNvSpPr/>
          <p:nvPr/>
        </p:nvSpPr>
        <p:spPr>
          <a:xfrm>
            <a:off x="621792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-099"/>
          <p:cNvSpPr/>
          <p:nvPr/>
        </p:nvSpPr>
        <p:spPr>
          <a:xfrm>
            <a:off x="621792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-100: T / V / D"/>
          <p:cNvSpPr txBox="1"/>
          <p:nvPr/>
        </p:nvSpPr>
        <p:spPr>
          <a:xfrm>
            <a:off x="625262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0" name="text-101: 64 B"/>
          <p:cNvSpPr txBox="1"/>
          <p:nvPr/>
        </p:nvSpPr>
        <p:spPr>
          <a:xfrm>
            <a:off x="637478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1" name="rect-102"/>
          <p:cNvSpPr/>
          <p:nvPr/>
        </p:nvSpPr>
        <p:spPr>
          <a:xfrm>
            <a:off x="702564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-103"/>
          <p:cNvSpPr/>
          <p:nvPr/>
        </p:nvSpPr>
        <p:spPr>
          <a:xfrm>
            <a:off x="702564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-104: T / V / D"/>
          <p:cNvSpPr txBox="1"/>
          <p:nvPr/>
        </p:nvSpPr>
        <p:spPr>
          <a:xfrm>
            <a:off x="706034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4" name="text-105: 64 B"/>
          <p:cNvSpPr txBox="1"/>
          <p:nvPr/>
        </p:nvSpPr>
        <p:spPr>
          <a:xfrm>
            <a:off x="718250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5" name="text-106: 组 42"/>
          <p:cNvSpPr txBox="1"/>
          <p:nvPr/>
        </p:nvSpPr>
        <p:spPr>
          <a:xfrm>
            <a:off x="609600" y="4383329"/>
            <a:ext cx="591979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106" name="rect-107"/>
          <p:cNvSpPr/>
          <p:nvPr/>
        </p:nvSpPr>
        <p:spPr>
          <a:xfrm>
            <a:off x="137160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-108"/>
          <p:cNvSpPr/>
          <p:nvPr/>
        </p:nvSpPr>
        <p:spPr>
          <a:xfrm>
            <a:off x="137160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-109: T / V / D"/>
          <p:cNvSpPr txBox="1"/>
          <p:nvPr/>
        </p:nvSpPr>
        <p:spPr>
          <a:xfrm>
            <a:off x="140630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9" name="text-110: 64 B"/>
          <p:cNvSpPr txBox="1"/>
          <p:nvPr/>
        </p:nvSpPr>
        <p:spPr>
          <a:xfrm>
            <a:off x="152846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0" name="rect-111"/>
          <p:cNvSpPr/>
          <p:nvPr/>
        </p:nvSpPr>
        <p:spPr>
          <a:xfrm>
            <a:off x="217932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-112"/>
          <p:cNvSpPr/>
          <p:nvPr/>
        </p:nvSpPr>
        <p:spPr>
          <a:xfrm>
            <a:off x="217932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-113: T / V / D"/>
          <p:cNvSpPr txBox="1"/>
          <p:nvPr/>
        </p:nvSpPr>
        <p:spPr>
          <a:xfrm>
            <a:off x="221402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3" name="text-114: 64 B"/>
          <p:cNvSpPr txBox="1"/>
          <p:nvPr/>
        </p:nvSpPr>
        <p:spPr>
          <a:xfrm>
            <a:off x="233618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4" name="rect-115"/>
          <p:cNvSpPr/>
          <p:nvPr/>
        </p:nvSpPr>
        <p:spPr>
          <a:xfrm>
            <a:off x="298704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-116"/>
          <p:cNvSpPr/>
          <p:nvPr/>
        </p:nvSpPr>
        <p:spPr>
          <a:xfrm>
            <a:off x="298704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-117: T / V / D"/>
          <p:cNvSpPr txBox="1"/>
          <p:nvPr/>
        </p:nvSpPr>
        <p:spPr>
          <a:xfrm>
            <a:off x="302174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7" name="text-118: 64 B"/>
          <p:cNvSpPr txBox="1"/>
          <p:nvPr/>
        </p:nvSpPr>
        <p:spPr>
          <a:xfrm>
            <a:off x="314390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8" name="rect-119"/>
          <p:cNvSpPr/>
          <p:nvPr/>
        </p:nvSpPr>
        <p:spPr>
          <a:xfrm>
            <a:off x="379476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-120"/>
          <p:cNvSpPr/>
          <p:nvPr/>
        </p:nvSpPr>
        <p:spPr>
          <a:xfrm>
            <a:off x="379476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-121: T / V / D"/>
          <p:cNvSpPr txBox="1"/>
          <p:nvPr/>
        </p:nvSpPr>
        <p:spPr>
          <a:xfrm>
            <a:off x="382946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1" name="text-122: 64 B"/>
          <p:cNvSpPr txBox="1"/>
          <p:nvPr/>
        </p:nvSpPr>
        <p:spPr>
          <a:xfrm>
            <a:off x="395162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2" name="rect-123"/>
          <p:cNvSpPr/>
          <p:nvPr/>
        </p:nvSpPr>
        <p:spPr>
          <a:xfrm>
            <a:off x="460248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-124"/>
          <p:cNvSpPr/>
          <p:nvPr/>
        </p:nvSpPr>
        <p:spPr>
          <a:xfrm>
            <a:off x="460248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-125: T / V / D"/>
          <p:cNvSpPr txBox="1"/>
          <p:nvPr/>
        </p:nvSpPr>
        <p:spPr>
          <a:xfrm>
            <a:off x="463718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5" name="text-126: 64 B"/>
          <p:cNvSpPr txBox="1"/>
          <p:nvPr/>
        </p:nvSpPr>
        <p:spPr>
          <a:xfrm>
            <a:off x="475934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6" name="rect-127"/>
          <p:cNvSpPr/>
          <p:nvPr/>
        </p:nvSpPr>
        <p:spPr>
          <a:xfrm>
            <a:off x="541020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-128"/>
          <p:cNvSpPr/>
          <p:nvPr/>
        </p:nvSpPr>
        <p:spPr>
          <a:xfrm>
            <a:off x="541020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-129: T / V / D"/>
          <p:cNvSpPr txBox="1"/>
          <p:nvPr/>
        </p:nvSpPr>
        <p:spPr>
          <a:xfrm>
            <a:off x="544490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9" name="text-130: 64 B"/>
          <p:cNvSpPr txBox="1"/>
          <p:nvPr/>
        </p:nvSpPr>
        <p:spPr>
          <a:xfrm>
            <a:off x="556706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0" name="rect-131"/>
          <p:cNvSpPr/>
          <p:nvPr/>
        </p:nvSpPr>
        <p:spPr>
          <a:xfrm>
            <a:off x="6217920" y="4305300"/>
            <a:ext cx="762000" cy="19812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-132"/>
          <p:cNvSpPr/>
          <p:nvPr/>
        </p:nvSpPr>
        <p:spPr>
          <a:xfrm>
            <a:off x="6217920" y="4503420"/>
            <a:ext cx="762000" cy="21336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-133: T / V / D"/>
          <p:cNvSpPr txBox="1"/>
          <p:nvPr/>
        </p:nvSpPr>
        <p:spPr>
          <a:xfrm>
            <a:off x="625262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3" name="text-134: 64 B"/>
          <p:cNvSpPr txBox="1"/>
          <p:nvPr/>
        </p:nvSpPr>
        <p:spPr>
          <a:xfrm>
            <a:off x="6366194" y="4507078"/>
            <a:ext cx="46545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4" name="rect-135"/>
          <p:cNvSpPr/>
          <p:nvPr/>
        </p:nvSpPr>
        <p:spPr>
          <a:xfrm>
            <a:off x="702564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-136"/>
          <p:cNvSpPr/>
          <p:nvPr/>
        </p:nvSpPr>
        <p:spPr>
          <a:xfrm>
            <a:off x="702564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-137: T / V / D"/>
          <p:cNvSpPr txBox="1"/>
          <p:nvPr/>
        </p:nvSpPr>
        <p:spPr>
          <a:xfrm>
            <a:off x="706034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7" name="text-138: 64 B"/>
          <p:cNvSpPr txBox="1"/>
          <p:nvPr/>
        </p:nvSpPr>
        <p:spPr>
          <a:xfrm>
            <a:off x="718250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8" name="text-139: 组 255"/>
          <p:cNvSpPr txBox="1"/>
          <p:nvPr/>
        </p:nvSpPr>
        <p:spPr>
          <a:xfrm>
            <a:off x="609600" y="5297729"/>
            <a:ext cx="679811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39" name="rect-140"/>
          <p:cNvSpPr/>
          <p:nvPr/>
        </p:nvSpPr>
        <p:spPr>
          <a:xfrm>
            <a:off x="137160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-141"/>
          <p:cNvSpPr/>
          <p:nvPr/>
        </p:nvSpPr>
        <p:spPr>
          <a:xfrm>
            <a:off x="137160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-142: T / V / D"/>
          <p:cNvSpPr txBox="1"/>
          <p:nvPr/>
        </p:nvSpPr>
        <p:spPr>
          <a:xfrm>
            <a:off x="140630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2" name="text-143: 64 B"/>
          <p:cNvSpPr txBox="1"/>
          <p:nvPr/>
        </p:nvSpPr>
        <p:spPr>
          <a:xfrm>
            <a:off x="152846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3" name="rect-144"/>
          <p:cNvSpPr/>
          <p:nvPr/>
        </p:nvSpPr>
        <p:spPr>
          <a:xfrm>
            <a:off x="217932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-145"/>
          <p:cNvSpPr/>
          <p:nvPr/>
        </p:nvSpPr>
        <p:spPr>
          <a:xfrm>
            <a:off x="217932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-146: T / V / D"/>
          <p:cNvSpPr txBox="1"/>
          <p:nvPr/>
        </p:nvSpPr>
        <p:spPr>
          <a:xfrm>
            <a:off x="221402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6" name="text-147: 64 B"/>
          <p:cNvSpPr txBox="1"/>
          <p:nvPr/>
        </p:nvSpPr>
        <p:spPr>
          <a:xfrm>
            <a:off x="233618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7" name="rect-148"/>
          <p:cNvSpPr/>
          <p:nvPr/>
        </p:nvSpPr>
        <p:spPr>
          <a:xfrm>
            <a:off x="298704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-149"/>
          <p:cNvSpPr/>
          <p:nvPr/>
        </p:nvSpPr>
        <p:spPr>
          <a:xfrm>
            <a:off x="298704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-150: T / V / D"/>
          <p:cNvSpPr txBox="1"/>
          <p:nvPr/>
        </p:nvSpPr>
        <p:spPr>
          <a:xfrm>
            <a:off x="302174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0" name="text-151: 64 B"/>
          <p:cNvSpPr txBox="1"/>
          <p:nvPr/>
        </p:nvSpPr>
        <p:spPr>
          <a:xfrm>
            <a:off x="314390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1" name="rect-152"/>
          <p:cNvSpPr/>
          <p:nvPr/>
        </p:nvSpPr>
        <p:spPr>
          <a:xfrm>
            <a:off x="379476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-153"/>
          <p:cNvSpPr/>
          <p:nvPr/>
        </p:nvSpPr>
        <p:spPr>
          <a:xfrm>
            <a:off x="379476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-154: T / V / D"/>
          <p:cNvSpPr txBox="1"/>
          <p:nvPr/>
        </p:nvSpPr>
        <p:spPr>
          <a:xfrm>
            <a:off x="382946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4" name="text-155: 64 B"/>
          <p:cNvSpPr txBox="1"/>
          <p:nvPr/>
        </p:nvSpPr>
        <p:spPr>
          <a:xfrm>
            <a:off x="395162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5" name="rect-156"/>
          <p:cNvSpPr/>
          <p:nvPr/>
        </p:nvSpPr>
        <p:spPr>
          <a:xfrm>
            <a:off x="460248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-157"/>
          <p:cNvSpPr/>
          <p:nvPr/>
        </p:nvSpPr>
        <p:spPr>
          <a:xfrm>
            <a:off x="460248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-158: T / V / D"/>
          <p:cNvSpPr txBox="1"/>
          <p:nvPr/>
        </p:nvSpPr>
        <p:spPr>
          <a:xfrm>
            <a:off x="463718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8" name="text-159: 64 B"/>
          <p:cNvSpPr txBox="1"/>
          <p:nvPr/>
        </p:nvSpPr>
        <p:spPr>
          <a:xfrm>
            <a:off x="475934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9" name="rect-160"/>
          <p:cNvSpPr/>
          <p:nvPr/>
        </p:nvSpPr>
        <p:spPr>
          <a:xfrm>
            <a:off x="541020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-161"/>
          <p:cNvSpPr/>
          <p:nvPr/>
        </p:nvSpPr>
        <p:spPr>
          <a:xfrm>
            <a:off x="541020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-162: T / V / D"/>
          <p:cNvSpPr txBox="1"/>
          <p:nvPr/>
        </p:nvSpPr>
        <p:spPr>
          <a:xfrm>
            <a:off x="544490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2" name="text-163: 64 B"/>
          <p:cNvSpPr txBox="1"/>
          <p:nvPr/>
        </p:nvSpPr>
        <p:spPr>
          <a:xfrm>
            <a:off x="556706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3" name="rect-164"/>
          <p:cNvSpPr/>
          <p:nvPr/>
        </p:nvSpPr>
        <p:spPr>
          <a:xfrm>
            <a:off x="621792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-165"/>
          <p:cNvSpPr/>
          <p:nvPr/>
        </p:nvSpPr>
        <p:spPr>
          <a:xfrm>
            <a:off x="621792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-166: T / V / D"/>
          <p:cNvSpPr txBox="1"/>
          <p:nvPr/>
        </p:nvSpPr>
        <p:spPr>
          <a:xfrm>
            <a:off x="625262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6" name="text-167: 64 B"/>
          <p:cNvSpPr txBox="1"/>
          <p:nvPr/>
        </p:nvSpPr>
        <p:spPr>
          <a:xfrm>
            <a:off x="637478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7" name="rect-168"/>
          <p:cNvSpPr/>
          <p:nvPr/>
        </p:nvSpPr>
        <p:spPr>
          <a:xfrm>
            <a:off x="702564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-169"/>
          <p:cNvSpPr/>
          <p:nvPr/>
        </p:nvSpPr>
        <p:spPr>
          <a:xfrm>
            <a:off x="702564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-170: T / V / D"/>
          <p:cNvSpPr txBox="1"/>
          <p:nvPr/>
        </p:nvSpPr>
        <p:spPr>
          <a:xfrm>
            <a:off x="706034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70" name="text-171: 64 B"/>
          <p:cNvSpPr txBox="1"/>
          <p:nvPr/>
        </p:nvSpPr>
        <p:spPr>
          <a:xfrm>
            <a:off x="718250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71" name="text-172: ⋮"/>
          <p:cNvSpPr txBox="1"/>
          <p:nvPr/>
        </p:nvSpPr>
        <p:spPr>
          <a:xfrm>
            <a:off x="50934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2" name="text-173: ⋮"/>
          <p:cNvSpPr txBox="1"/>
          <p:nvPr/>
        </p:nvSpPr>
        <p:spPr>
          <a:xfrm>
            <a:off x="154566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3" name="text-174: ⋮"/>
          <p:cNvSpPr txBox="1"/>
          <p:nvPr/>
        </p:nvSpPr>
        <p:spPr>
          <a:xfrm>
            <a:off x="235338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text-175: ⋮"/>
          <p:cNvSpPr txBox="1"/>
          <p:nvPr/>
        </p:nvSpPr>
        <p:spPr>
          <a:xfrm>
            <a:off x="316110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5" name="text-176: ⋮"/>
          <p:cNvSpPr txBox="1"/>
          <p:nvPr/>
        </p:nvSpPr>
        <p:spPr>
          <a:xfrm>
            <a:off x="396882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6" name="text-177: ⋮"/>
          <p:cNvSpPr txBox="1"/>
          <p:nvPr/>
        </p:nvSpPr>
        <p:spPr>
          <a:xfrm>
            <a:off x="477654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7" name="text-178: ⋮"/>
          <p:cNvSpPr txBox="1"/>
          <p:nvPr/>
        </p:nvSpPr>
        <p:spPr>
          <a:xfrm>
            <a:off x="558426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8" name="text-179: ⋮"/>
          <p:cNvSpPr txBox="1"/>
          <p:nvPr/>
        </p:nvSpPr>
        <p:spPr>
          <a:xfrm>
            <a:off x="639198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9" name="text-180: ⋮"/>
          <p:cNvSpPr txBox="1"/>
          <p:nvPr/>
        </p:nvSpPr>
        <p:spPr>
          <a:xfrm>
            <a:off x="719970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0" name="text-181: 命中举例：组 42 的 Way 6；Way 由 Tag+Valid 命中结果选择"/>
          <p:cNvSpPr txBox="1"/>
          <p:nvPr/>
        </p:nvSpPr>
        <p:spPr>
          <a:xfrm>
            <a:off x="518160" y="5702198"/>
            <a:ext cx="626709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命中举例：组 42 的 Way 6；Way 由 Tag+Valid 命中结果选择，不是 Cache 地址字段</a:t>
            </a:r>
          </a:p>
        </p:txBody>
      </p:sp>
      <p:sp>
        <p:nvSpPr>
          <p:cNvPr id="181" name="text-182: 未命中：在 Cache way 中替换 / 回填；Dirty 决定是否向下游 D"/>
          <p:cNvSpPr txBox="1"/>
          <p:nvPr/>
        </p:nvSpPr>
        <p:spPr>
          <a:xfrm>
            <a:off x="518160" y="5930798"/>
            <a:ext cx="529532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未命中：在 Cache way 中替换 / 回填；Dirty 决定是否向下游 DDR 回写</a:t>
            </a:r>
          </a:p>
        </p:txBody>
      </p:sp>
      <p:sp>
        <p:nvSpPr>
          <p:cNvPr id="182" name="text-183: 图中为逻辑行对应关系；Tag SRAM 与 Data SRAM 是不同存储阵列。"/>
          <p:cNvSpPr txBox="1"/>
          <p:nvPr/>
        </p:nvSpPr>
        <p:spPr>
          <a:xfrm>
            <a:off x="518160" y="6137758"/>
            <a:ext cx="466072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图中为逻辑行对应关系；Tag SRAM 与 Data SRAM 是不同存储阵列。</a:t>
            </a:r>
          </a:p>
        </p:txBody>
      </p:sp>
      <p:sp>
        <p:nvSpPr>
          <p:cNvPr id="183" name="text-184: ② 复用同一数据阵列：按整 way 分配"/>
          <p:cNvSpPr txBox="1"/>
          <p:nvPr/>
        </p:nvSpPr>
        <p:spPr>
          <a:xfrm>
            <a:off x="8519160" y="1675790"/>
            <a:ext cx="3545741" cy="3169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复用同一数据阵列：按整 way 分配</a:t>
            </a:r>
          </a:p>
        </p:txBody>
      </p:sp>
      <p:sp>
        <p:nvSpPr>
          <p:cNvPr id="184" name="text-185: 位图：1 = SPM（S），0 = Cache（C）"/>
          <p:cNvSpPr txBox="1"/>
          <p:nvPr/>
        </p:nvSpPr>
        <p:spPr>
          <a:xfrm>
            <a:off x="8519160" y="1968398"/>
            <a:ext cx="306572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位图：1 = SPM（S），0 = Cache（C）</a:t>
            </a:r>
          </a:p>
        </p:txBody>
      </p:sp>
      <p:sp>
        <p:nvSpPr>
          <p:cNvPr id="185" name="text-186: 全 Cache 0x00：128 KiB Cache"/>
          <p:cNvSpPr txBox="1"/>
          <p:nvPr/>
        </p:nvSpPr>
        <p:spPr>
          <a:xfrm>
            <a:off x="8519160" y="2242718"/>
            <a:ext cx="258257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Cache 0x00：128 KiB Cache</a:t>
            </a:r>
          </a:p>
        </p:txBody>
      </p:sp>
      <p:sp>
        <p:nvSpPr>
          <p:cNvPr id="186" name="rect-187"/>
          <p:cNvSpPr/>
          <p:nvPr/>
        </p:nvSpPr>
        <p:spPr>
          <a:xfrm>
            <a:off x="851916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-188: W0"/>
          <p:cNvSpPr txBox="1"/>
          <p:nvPr/>
        </p:nvSpPr>
        <p:spPr>
          <a:xfrm>
            <a:off x="855163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88" name="text-189: C"/>
          <p:cNvSpPr txBox="1"/>
          <p:nvPr/>
        </p:nvSpPr>
        <p:spPr>
          <a:xfrm>
            <a:off x="859987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9" name="rect-190"/>
          <p:cNvSpPr/>
          <p:nvPr/>
        </p:nvSpPr>
        <p:spPr>
          <a:xfrm>
            <a:off x="898398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-191: W1"/>
          <p:cNvSpPr txBox="1"/>
          <p:nvPr/>
        </p:nvSpPr>
        <p:spPr>
          <a:xfrm>
            <a:off x="901645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1" name="text-192: C"/>
          <p:cNvSpPr txBox="1"/>
          <p:nvPr/>
        </p:nvSpPr>
        <p:spPr>
          <a:xfrm>
            <a:off x="906469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2" name="rect-193"/>
          <p:cNvSpPr/>
          <p:nvPr/>
        </p:nvSpPr>
        <p:spPr>
          <a:xfrm>
            <a:off x="944880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-194: W2"/>
          <p:cNvSpPr txBox="1"/>
          <p:nvPr/>
        </p:nvSpPr>
        <p:spPr>
          <a:xfrm>
            <a:off x="948127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4" name="text-195: C"/>
          <p:cNvSpPr txBox="1"/>
          <p:nvPr/>
        </p:nvSpPr>
        <p:spPr>
          <a:xfrm>
            <a:off x="952951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5" name="rect-196"/>
          <p:cNvSpPr/>
          <p:nvPr/>
        </p:nvSpPr>
        <p:spPr>
          <a:xfrm>
            <a:off x="991362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-197: W3"/>
          <p:cNvSpPr txBox="1"/>
          <p:nvPr/>
        </p:nvSpPr>
        <p:spPr>
          <a:xfrm>
            <a:off x="994609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97" name="text-198: C"/>
          <p:cNvSpPr txBox="1"/>
          <p:nvPr/>
        </p:nvSpPr>
        <p:spPr>
          <a:xfrm>
            <a:off x="999433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8" name="rect-199"/>
          <p:cNvSpPr/>
          <p:nvPr/>
        </p:nvSpPr>
        <p:spPr>
          <a:xfrm>
            <a:off x="1037844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-200: W4"/>
          <p:cNvSpPr txBox="1"/>
          <p:nvPr/>
        </p:nvSpPr>
        <p:spPr>
          <a:xfrm>
            <a:off x="1041091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0" name="text-201: C"/>
          <p:cNvSpPr txBox="1"/>
          <p:nvPr/>
        </p:nvSpPr>
        <p:spPr>
          <a:xfrm>
            <a:off x="1045915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1" name="rect-202"/>
          <p:cNvSpPr/>
          <p:nvPr/>
        </p:nvSpPr>
        <p:spPr>
          <a:xfrm>
            <a:off x="1084326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-203: W5"/>
          <p:cNvSpPr txBox="1"/>
          <p:nvPr/>
        </p:nvSpPr>
        <p:spPr>
          <a:xfrm>
            <a:off x="1087573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3" name="text-204: C"/>
          <p:cNvSpPr txBox="1"/>
          <p:nvPr/>
        </p:nvSpPr>
        <p:spPr>
          <a:xfrm>
            <a:off x="1092397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4" name="rect-205"/>
          <p:cNvSpPr/>
          <p:nvPr/>
        </p:nvSpPr>
        <p:spPr>
          <a:xfrm>
            <a:off x="1130808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-206: W6"/>
          <p:cNvSpPr txBox="1"/>
          <p:nvPr/>
        </p:nvSpPr>
        <p:spPr>
          <a:xfrm>
            <a:off x="1134055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06" name="text-207: C"/>
          <p:cNvSpPr txBox="1"/>
          <p:nvPr/>
        </p:nvSpPr>
        <p:spPr>
          <a:xfrm>
            <a:off x="1138879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7" name="rect-208"/>
          <p:cNvSpPr/>
          <p:nvPr/>
        </p:nvSpPr>
        <p:spPr>
          <a:xfrm>
            <a:off x="1177290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-209: W7"/>
          <p:cNvSpPr txBox="1"/>
          <p:nvPr/>
        </p:nvSpPr>
        <p:spPr>
          <a:xfrm>
            <a:off x="1180537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09" name="text-210: C"/>
          <p:cNvSpPr txBox="1"/>
          <p:nvPr/>
        </p:nvSpPr>
        <p:spPr>
          <a:xfrm>
            <a:off x="1185361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0" name="text-211: 混合示例 0x0F：64 KiB SPM + 64 KiB Cache"/>
          <p:cNvSpPr txBox="1"/>
          <p:nvPr/>
        </p:nvSpPr>
        <p:spPr>
          <a:xfrm>
            <a:off x="8519160" y="3042818"/>
            <a:ext cx="357105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混合示例 0x0F：64 KiB SPM + 64 KiB Cache</a:t>
            </a:r>
          </a:p>
        </p:txBody>
      </p:sp>
      <p:sp>
        <p:nvSpPr>
          <p:cNvPr id="211" name="rect-212"/>
          <p:cNvSpPr/>
          <p:nvPr/>
        </p:nvSpPr>
        <p:spPr>
          <a:xfrm>
            <a:off x="851916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-213: W0"/>
          <p:cNvSpPr txBox="1"/>
          <p:nvPr/>
        </p:nvSpPr>
        <p:spPr>
          <a:xfrm>
            <a:off x="855163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3" name="text-214: S"/>
          <p:cNvSpPr txBox="1"/>
          <p:nvPr/>
        </p:nvSpPr>
        <p:spPr>
          <a:xfrm>
            <a:off x="860589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4" name="rect-215"/>
          <p:cNvSpPr/>
          <p:nvPr/>
        </p:nvSpPr>
        <p:spPr>
          <a:xfrm>
            <a:off x="898398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-216: W1"/>
          <p:cNvSpPr txBox="1"/>
          <p:nvPr/>
        </p:nvSpPr>
        <p:spPr>
          <a:xfrm>
            <a:off x="901645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16" name="text-217: S"/>
          <p:cNvSpPr txBox="1"/>
          <p:nvPr/>
        </p:nvSpPr>
        <p:spPr>
          <a:xfrm>
            <a:off x="907071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7" name="rect-218"/>
          <p:cNvSpPr/>
          <p:nvPr/>
        </p:nvSpPr>
        <p:spPr>
          <a:xfrm>
            <a:off x="944880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-219: W2"/>
          <p:cNvSpPr txBox="1"/>
          <p:nvPr/>
        </p:nvSpPr>
        <p:spPr>
          <a:xfrm>
            <a:off x="948127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19" name="text-220: S"/>
          <p:cNvSpPr txBox="1"/>
          <p:nvPr/>
        </p:nvSpPr>
        <p:spPr>
          <a:xfrm>
            <a:off x="953553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0" name="rect-221"/>
          <p:cNvSpPr/>
          <p:nvPr/>
        </p:nvSpPr>
        <p:spPr>
          <a:xfrm>
            <a:off x="991362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-222: W3"/>
          <p:cNvSpPr txBox="1"/>
          <p:nvPr/>
        </p:nvSpPr>
        <p:spPr>
          <a:xfrm>
            <a:off x="994609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2" name="text-223: S"/>
          <p:cNvSpPr txBox="1"/>
          <p:nvPr/>
        </p:nvSpPr>
        <p:spPr>
          <a:xfrm>
            <a:off x="1000035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3" name="rect-224"/>
          <p:cNvSpPr/>
          <p:nvPr/>
        </p:nvSpPr>
        <p:spPr>
          <a:xfrm>
            <a:off x="1037844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-225: W4"/>
          <p:cNvSpPr txBox="1"/>
          <p:nvPr/>
        </p:nvSpPr>
        <p:spPr>
          <a:xfrm>
            <a:off x="1041091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25" name="text-226: C"/>
          <p:cNvSpPr txBox="1"/>
          <p:nvPr/>
        </p:nvSpPr>
        <p:spPr>
          <a:xfrm>
            <a:off x="1045915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6" name="rect-227"/>
          <p:cNvSpPr/>
          <p:nvPr/>
        </p:nvSpPr>
        <p:spPr>
          <a:xfrm>
            <a:off x="1084326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-228: W5"/>
          <p:cNvSpPr txBox="1"/>
          <p:nvPr/>
        </p:nvSpPr>
        <p:spPr>
          <a:xfrm>
            <a:off x="1087573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28" name="text-229: C"/>
          <p:cNvSpPr txBox="1"/>
          <p:nvPr/>
        </p:nvSpPr>
        <p:spPr>
          <a:xfrm>
            <a:off x="1092397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9" name="rect-230"/>
          <p:cNvSpPr/>
          <p:nvPr/>
        </p:nvSpPr>
        <p:spPr>
          <a:xfrm>
            <a:off x="1130808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-231: W6"/>
          <p:cNvSpPr txBox="1"/>
          <p:nvPr/>
        </p:nvSpPr>
        <p:spPr>
          <a:xfrm>
            <a:off x="1134055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1" name="text-232: C"/>
          <p:cNvSpPr txBox="1"/>
          <p:nvPr/>
        </p:nvSpPr>
        <p:spPr>
          <a:xfrm>
            <a:off x="1138879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2" name="rect-233"/>
          <p:cNvSpPr/>
          <p:nvPr/>
        </p:nvSpPr>
        <p:spPr>
          <a:xfrm>
            <a:off x="1177290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-234: W7"/>
          <p:cNvSpPr txBox="1"/>
          <p:nvPr/>
        </p:nvSpPr>
        <p:spPr>
          <a:xfrm>
            <a:off x="1180537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4" name="text-235: C"/>
          <p:cNvSpPr txBox="1"/>
          <p:nvPr/>
        </p:nvSpPr>
        <p:spPr>
          <a:xfrm>
            <a:off x="1185361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5" name="text-236: 启动全 SPM 0xFF：128 KiB SPM"/>
          <p:cNvSpPr txBox="1"/>
          <p:nvPr/>
        </p:nvSpPr>
        <p:spPr>
          <a:xfrm>
            <a:off x="8519160" y="3842918"/>
            <a:ext cx="265727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启动全 SPM 0xFF：128 KiB SPM</a:t>
            </a:r>
          </a:p>
        </p:txBody>
      </p:sp>
      <p:sp>
        <p:nvSpPr>
          <p:cNvPr id="236" name="rect-237"/>
          <p:cNvSpPr/>
          <p:nvPr/>
        </p:nvSpPr>
        <p:spPr>
          <a:xfrm>
            <a:off x="851916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-238: W0"/>
          <p:cNvSpPr txBox="1"/>
          <p:nvPr/>
        </p:nvSpPr>
        <p:spPr>
          <a:xfrm>
            <a:off x="855163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38" name="text-239: S"/>
          <p:cNvSpPr txBox="1"/>
          <p:nvPr/>
        </p:nvSpPr>
        <p:spPr>
          <a:xfrm>
            <a:off x="860589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39" name="rect-240"/>
          <p:cNvSpPr/>
          <p:nvPr/>
        </p:nvSpPr>
        <p:spPr>
          <a:xfrm>
            <a:off x="898398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-241: W1"/>
          <p:cNvSpPr txBox="1"/>
          <p:nvPr/>
        </p:nvSpPr>
        <p:spPr>
          <a:xfrm>
            <a:off x="901645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1" name="text-242: S"/>
          <p:cNvSpPr txBox="1"/>
          <p:nvPr/>
        </p:nvSpPr>
        <p:spPr>
          <a:xfrm>
            <a:off x="907071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2" name="rect-243"/>
          <p:cNvSpPr/>
          <p:nvPr/>
        </p:nvSpPr>
        <p:spPr>
          <a:xfrm>
            <a:off x="944880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-244: W2"/>
          <p:cNvSpPr txBox="1"/>
          <p:nvPr/>
        </p:nvSpPr>
        <p:spPr>
          <a:xfrm>
            <a:off x="948127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4" name="text-245: S"/>
          <p:cNvSpPr txBox="1"/>
          <p:nvPr/>
        </p:nvSpPr>
        <p:spPr>
          <a:xfrm>
            <a:off x="953553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5" name="rect-246"/>
          <p:cNvSpPr/>
          <p:nvPr/>
        </p:nvSpPr>
        <p:spPr>
          <a:xfrm>
            <a:off x="991362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-247: W3"/>
          <p:cNvSpPr txBox="1"/>
          <p:nvPr/>
        </p:nvSpPr>
        <p:spPr>
          <a:xfrm>
            <a:off x="994609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47" name="text-248: S"/>
          <p:cNvSpPr txBox="1"/>
          <p:nvPr/>
        </p:nvSpPr>
        <p:spPr>
          <a:xfrm>
            <a:off x="1000035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8" name="rect-249"/>
          <p:cNvSpPr/>
          <p:nvPr/>
        </p:nvSpPr>
        <p:spPr>
          <a:xfrm>
            <a:off x="1037844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-250: W4"/>
          <p:cNvSpPr txBox="1"/>
          <p:nvPr/>
        </p:nvSpPr>
        <p:spPr>
          <a:xfrm>
            <a:off x="1041091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0" name="text-251: S"/>
          <p:cNvSpPr txBox="1"/>
          <p:nvPr/>
        </p:nvSpPr>
        <p:spPr>
          <a:xfrm>
            <a:off x="1046517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1" name="rect-252"/>
          <p:cNvSpPr/>
          <p:nvPr/>
        </p:nvSpPr>
        <p:spPr>
          <a:xfrm>
            <a:off x="1084326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-253: W5"/>
          <p:cNvSpPr txBox="1"/>
          <p:nvPr/>
        </p:nvSpPr>
        <p:spPr>
          <a:xfrm>
            <a:off x="1087573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3" name="text-254: S"/>
          <p:cNvSpPr txBox="1"/>
          <p:nvPr/>
        </p:nvSpPr>
        <p:spPr>
          <a:xfrm>
            <a:off x="1092999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4" name="rect-255"/>
          <p:cNvSpPr/>
          <p:nvPr/>
        </p:nvSpPr>
        <p:spPr>
          <a:xfrm>
            <a:off x="1130808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-256: W6"/>
          <p:cNvSpPr txBox="1"/>
          <p:nvPr/>
        </p:nvSpPr>
        <p:spPr>
          <a:xfrm>
            <a:off x="1134055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56" name="text-257: S"/>
          <p:cNvSpPr txBox="1"/>
          <p:nvPr/>
        </p:nvSpPr>
        <p:spPr>
          <a:xfrm>
            <a:off x="1139481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7" name="rect-258"/>
          <p:cNvSpPr/>
          <p:nvPr/>
        </p:nvSpPr>
        <p:spPr>
          <a:xfrm>
            <a:off x="1177290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-259: W7"/>
          <p:cNvSpPr txBox="1"/>
          <p:nvPr/>
        </p:nvSpPr>
        <p:spPr>
          <a:xfrm>
            <a:off x="1180537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59" name="text-260: S"/>
          <p:cNvSpPr txBox="1"/>
          <p:nvPr/>
        </p:nvSpPr>
        <p:spPr>
          <a:xfrm>
            <a:off x="1185963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0" name="text-261: 全 SPM：DDR 访问走旁路，SPM 访问留在阵列"/>
          <p:cNvSpPr txBox="1"/>
          <p:nvPr/>
        </p:nvSpPr>
        <p:spPr>
          <a:xfrm>
            <a:off x="8519160" y="4599127"/>
            <a:ext cx="307186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全 SPM：DDR 访问走旁路，SPM 访问留在阵列</a:t>
            </a:r>
          </a:p>
        </p:txBody>
      </p:sp>
      <p:sp>
        <p:nvSpPr>
          <p:cNvPr id="261" name="text-262: SPM 固定映射：base + way × 0x4000"/>
          <p:cNvSpPr txBox="1"/>
          <p:nvPr/>
        </p:nvSpPr>
        <p:spPr>
          <a:xfrm>
            <a:off x="8519160" y="4794809"/>
            <a:ext cx="3231832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2" name="text-263: Way 2：0x10008000–0x1000BFFF"/>
          <p:cNvSpPr txBox="1"/>
          <p:nvPr/>
        </p:nvSpPr>
        <p:spPr>
          <a:xfrm>
            <a:off x="8519160" y="4993538"/>
            <a:ext cx="270870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3" name="text-264: 地址 0x10008AAB → Way 2 / 组 42"/>
          <p:cNvSpPr txBox="1"/>
          <p:nvPr/>
        </p:nvSpPr>
        <p:spPr>
          <a:xfrm>
            <a:off x="8519160" y="5229758"/>
            <a:ext cx="278081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 0x10008AAB → Way 2 / 组 42</a:t>
            </a:r>
          </a:p>
        </p:txBody>
      </p:sp>
      <p:sp>
        <p:nvSpPr>
          <p:cNvPr id="264" name="text-265: 块 5 / 字节 3；直接寻址，不比较 Tag"/>
          <p:cNvSpPr txBox="1"/>
          <p:nvPr/>
        </p:nvSpPr>
        <p:spPr>
          <a:xfrm>
            <a:off x="8519160" y="5458358"/>
            <a:ext cx="2837319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块 5 / 字节 3；直接寻址，不比较 Tag</a:t>
            </a:r>
          </a:p>
        </p:txBody>
      </p:sp>
      <p:sp>
        <p:nvSpPr>
          <p:cNvPr id="265" name="text-266: 未设为 SPM 的 way，其 SPM 槽访问报错"/>
          <p:cNvSpPr txBox="1"/>
          <p:nvPr/>
        </p:nvSpPr>
        <p:spPr>
          <a:xfrm>
            <a:off x="8519160" y="5733288"/>
            <a:ext cx="2999732" cy="2438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未设为 SPM 的 way，其 SPM 槽访问报错</a:t>
            </a:r>
          </a:p>
        </p:txBody>
      </p:sp>
      <p:sp>
        <p:nvSpPr>
          <p:cNvPr id="266" name="text-267: 用途改变不压缩地址槽；不是新增加一块 RAM"/>
          <p:cNvSpPr txBox="1"/>
          <p:nvPr/>
        </p:nvSpPr>
        <p:spPr>
          <a:xfrm>
            <a:off x="8519160" y="5961888"/>
            <a:ext cx="3296317" cy="2438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用途改变不压缩地址槽；不是新增加一块 RAM</a:t>
            </a:r>
          </a:p>
        </p:txBody>
      </p:sp>
      <p:sp>
        <p:nvSpPr>
          <p:cNvPr id="267" name="rect-268"/>
          <p:cNvSpPr/>
          <p:nvPr/>
        </p:nvSpPr>
        <p:spPr>
          <a:xfrm>
            <a:off x="304800" y="6591300"/>
            <a:ext cx="12192000" cy="1851660"/>
          </a:xfrm>
          <a:prstGeom prst="roundRect">
            <a:avLst>
              <a:gd name="adj" fmla="val 5761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-269: ③ 转换控制：软件提出目标位图，LLC 硬件协调提交与所需刷新"/>
          <p:cNvSpPr txBox="1"/>
          <p:nvPr/>
        </p:nvSpPr>
        <p:spPr>
          <a:xfrm>
            <a:off x="518160" y="6673291"/>
            <a:ext cx="6258913" cy="34137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转换控制：软件提出目标位图，LLC 硬件协调提交与所需刷新</a:t>
            </a:r>
          </a:p>
        </p:txBody>
      </p:sp>
      <p:sp>
        <p:nvSpPr>
          <p:cNvPr id="269" name="rect-270"/>
          <p:cNvSpPr/>
          <p:nvPr/>
        </p:nvSpPr>
        <p:spPr>
          <a:xfrm>
            <a:off x="533400" y="7139940"/>
            <a:ext cx="2095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-271: 停止相关访问"/>
          <p:cNvSpPr txBox="1"/>
          <p:nvPr/>
        </p:nvSpPr>
        <p:spPr>
          <a:xfrm>
            <a:off x="994410" y="7179869"/>
            <a:ext cx="1173480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1" name="text-272: 迁移代码 / 栈 / 保留数据"/>
          <p:cNvSpPr txBox="1"/>
          <p:nvPr/>
        </p:nvSpPr>
        <p:spPr>
          <a:xfrm>
            <a:off x="617982" y="7401458"/>
            <a:ext cx="1926336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2" name="text-273: 协调缓冲与在途事务"/>
          <p:cNvSpPr txBox="1"/>
          <p:nvPr/>
        </p:nvSpPr>
        <p:spPr>
          <a:xfrm>
            <a:off x="781050" y="7614818"/>
            <a:ext cx="16002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3" name="line-274"/>
          <p:cNvCxnSpPr/>
          <p:nvPr/>
        </p:nvCxnSpPr>
        <p:spPr>
          <a:xfrm>
            <a:off x="26289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74" name="rect-276"/>
          <p:cNvSpPr/>
          <p:nvPr/>
        </p:nvSpPr>
        <p:spPr>
          <a:xfrm>
            <a:off x="2971800" y="7139940"/>
            <a:ext cx="1714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-277: 写 CFG_SPM"/>
          <p:cNvSpPr txBox="1"/>
          <p:nvPr/>
        </p:nvSpPr>
        <p:spPr>
          <a:xfrm>
            <a:off x="3239810" y="7179869"/>
            <a:ext cx="1178481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6" name="text-278: 1 → SPM；0 → Cache"/>
          <p:cNvSpPr txBox="1"/>
          <p:nvPr/>
        </p:nvSpPr>
        <p:spPr>
          <a:xfrm>
            <a:off x="2914620" y="7401458"/>
            <a:ext cx="18288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 → SPM；0 → Cache</a:t>
            </a:r>
          </a:p>
        </p:txBody>
      </p:sp>
      <p:cxnSp>
        <p:nvCxnSpPr>
          <p:cNvPr id="277" name="line-279"/>
          <p:cNvCxnSpPr/>
          <p:nvPr/>
        </p:nvCxnSpPr>
        <p:spPr>
          <a:xfrm>
            <a:off x="46863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78" name="rect-281"/>
          <p:cNvSpPr/>
          <p:nvPr/>
        </p:nvSpPr>
        <p:spPr>
          <a:xfrm>
            <a:off x="5029200" y="7139940"/>
            <a:ext cx="18288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-282: 写 COMMIT = 1"/>
          <p:cNvSpPr txBox="1"/>
          <p:nvPr/>
        </p:nvSpPr>
        <p:spPr>
          <a:xfrm>
            <a:off x="5208693" y="7179869"/>
            <a:ext cx="1469815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0" name="text-283: 发起配置提交"/>
          <p:cNvSpPr txBox="1"/>
          <p:nvPr/>
        </p:nvSpPr>
        <p:spPr>
          <a:xfrm>
            <a:off x="5383530" y="7401458"/>
            <a:ext cx="11201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1" name="line-284"/>
          <p:cNvCxnSpPr/>
          <p:nvPr/>
        </p:nvCxnSpPr>
        <p:spPr>
          <a:xfrm>
            <a:off x="68580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82" name="rect-286"/>
          <p:cNvSpPr/>
          <p:nvPr/>
        </p:nvSpPr>
        <p:spPr>
          <a:xfrm>
            <a:off x="7200900" y="7139940"/>
            <a:ext cx="24384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-287: LLC 配置 FSM"/>
          <p:cNvSpPr txBox="1"/>
          <p:nvPr/>
        </p:nvSpPr>
        <p:spPr>
          <a:xfrm>
            <a:off x="7790503" y="7179869"/>
            <a:ext cx="1259193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4" name="text-288: 等待 / 协调已有请求"/>
          <p:cNvSpPr txBox="1"/>
          <p:nvPr/>
        </p:nvSpPr>
        <p:spPr>
          <a:xfrm>
            <a:off x="7618476" y="7401458"/>
            <a:ext cx="160324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 / 协调已有请求</a:t>
            </a:r>
          </a:p>
        </p:txBody>
      </p:sp>
      <p:sp>
        <p:nvSpPr>
          <p:cNvPr id="285" name="text-289: 必要的 flush / Dirty 回写"/>
          <p:cNvSpPr txBox="1"/>
          <p:nvPr/>
        </p:nvSpPr>
        <p:spPr>
          <a:xfrm>
            <a:off x="7439073" y="7614818"/>
            <a:ext cx="1962055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必要的 flush / Dirty 回写</a:t>
            </a:r>
          </a:p>
        </p:txBody>
      </p:sp>
      <p:cxnSp>
        <p:nvCxnSpPr>
          <p:cNvPr id="286" name="line-290"/>
          <p:cNvCxnSpPr/>
          <p:nvPr/>
        </p:nvCxnSpPr>
        <p:spPr>
          <a:xfrm>
            <a:off x="96393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87" name="rect-292"/>
          <p:cNvSpPr/>
          <p:nvPr/>
        </p:nvSpPr>
        <p:spPr>
          <a:xfrm>
            <a:off x="9982200" y="7139940"/>
            <a:ext cx="2209800" cy="784860"/>
          </a:xfrm>
          <a:prstGeom prst="roundRect">
            <a:avLst>
              <a:gd name="adj" fmla="val 9708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-293: 按寄存器契约确认完成"/>
          <p:cNvSpPr txBox="1"/>
          <p:nvPr/>
        </p:nvSpPr>
        <p:spPr>
          <a:xfrm>
            <a:off x="10165080" y="7179869"/>
            <a:ext cx="1844040" cy="2682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89" name="text-294: 恢复对新用途的访问"/>
          <p:cNvSpPr txBox="1"/>
          <p:nvPr/>
        </p:nvSpPr>
        <p:spPr>
          <a:xfrm>
            <a:off x="10287000" y="7401458"/>
            <a:ext cx="16002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0" name="text-295: SPM → Cache 前保存所需内容；转换不会自动把数据复制到另一块 RAM，"/>
          <p:cNvSpPr txBox="1"/>
          <p:nvPr/>
        </p:nvSpPr>
        <p:spPr>
          <a:xfrm>
            <a:off x="518160" y="8041538"/>
            <a:ext cx="805660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SPM → Cache 前保存所需内容；转换不会自动把数据复制到另一块 RAM，原 SPM 内容将失去固定驻留保证。</a:t>
            </a:r>
          </a:p>
        </p:txBody>
      </p:sp>
      <p:sp>
        <p:nvSpPr>
          <p:cNvPr id="291" name="text-296: 注意：SPM 绕过的是 LLC Tag 管理，不等于 CPU L1 一定不缓存；"/>
          <p:cNvSpPr txBox="1"/>
          <p:nvPr/>
        </p:nvSpPr>
        <p:spPr>
          <a:xfrm>
            <a:off x="304800" y="8537448"/>
            <a:ext cx="7393698" cy="2438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注意：SPM 绕过的是 LLC Tag 管理，不等于 CPU L1 一定不缓存；0x14000000 别名映射同一 SPM 阵列。</a:t>
            </a:r>
          </a:p>
        </p:txBody>
      </p:sp>
      <p:sp>
        <p:nvSpPr>
          <p:cNvPr id="292" name="text-297: 依据：cheshire_pkg / cheshire_soc；axi_llc_b"/>
          <p:cNvSpPr txBox="1"/>
          <p:nvPr/>
        </p:nvSpPr>
        <p:spPr>
          <a:xfrm>
            <a:off x="304800" y="8805977"/>
            <a:ext cx="8488751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依据：cheshire_pkg / cheshire_soc；axi_llc_burst_cutter / hit_miss / config；Boot ROM · HEAD 278434024 · 2026-10-10 · 未新增目标运行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5689600" y="285546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5689600" y="3687572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5689600" y="4519676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5689600" y="53517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5689600" y="6183884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5689600" y="701598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7: 地址路由窗口与物理资源的映射"/>
          <p:cNvSpPr txBox="1"/>
          <p:nvPr/>
        </p:nvSpPr>
        <p:spPr>
          <a:xfrm>
            <a:off x="483616" y="1071209"/>
            <a:ext cx="3840480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地址路由窗口与物理资源的映射</a:t>
            </a:r>
          </a:p>
        </p:txBody>
      </p:sp>
      <p:sp>
        <p:nvSpPr>
          <p:cNvPr id="12" name="text-018: 区间含起点、不含终点；图不按地址跨度比例。容量、权限与就绪状态分别判断。"/>
          <p:cNvSpPr txBox="1"/>
          <p:nvPr/>
        </p:nvSpPr>
        <p:spPr>
          <a:xfrm>
            <a:off x="483616" y="1476878"/>
            <a:ext cx="605231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区间含起点、不含终点；图不按地址跨度比例。容量、权限与就绪状态分别判断。</a:t>
            </a:r>
          </a:p>
        </p:txBody>
      </p:sp>
      <p:sp>
        <p:nvSpPr>
          <p:cNvPr id="13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20: 源码：cheshire_pkg.sv::gen_axi_out / gen_re"/>
          <p:cNvSpPr txBox="1"/>
          <p:nvPr/>
        </p:nvSpPr>
        <p:spPr>
          <a:xfrm>
            <a:off x="341376" y="8526577"/>
            <a:ext cx="655015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源码：cheshire_pkg.sv::gen_axi_out / gen_reg_out / get_llc_size；默认配置</a:t>
            </a:r>
          </a:p>
        </p:txBody>
      </p:sp>
      <p:sp>
        <p:nvSpPr>
          <p:cNvPr id="15" name="text-021: AXI 地址范围"/>
          <p:cNvSpPr txBox="1"/>
          <p:nvPr/>
        </p:nvSpPr>
        <p:spPr>
          <a:xfrm>
            <a:off x="462280" y="2050674"/>
            <a:ext cx="1459382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地址范围</a:t>
            </a:r>
          </a:p>
        </p:txBody>
      </p:sp>
      <p:sp>
        <p:nvSpPr>
          <p:cNvPr id="16" name="text-022: 路由去向与实际资源"/>
          <p:cNvSpPr txBox="1"/>
          <p:nvPr/>
        </p:nvSpPr>
        <p:spPr>
          <a:xfrm>
            <a:off x="7183120" y="2050674"/>
            <a:ext cx="1920240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路由去向与实际资源</a:t>
            </a:r>
          </a:p>
        </p:txBody>
      </p:sp>
      <p:sp>
        <p:nvSpPr>
          <p:cNvPr id="17" name="rect-023"/>
          <p:cNvSpPr/>
          <p:nvPr/>
        </p:nvSpPr>
        <p:spPr>
          <a:xfrm>
            <a:off x="462280" y="254254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-024"/>
          <p:cNvSpPr/>
          <p:nvPr/>
        </p:nvSpPr>
        <p:spPr>
          <a:xfrm>
            <a:off x="462280" y="25425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25: 0x0000_0000 … 0x0004_0000"/>
          <p:cNvSpPr txBox="1"/>
          <p:nvPr/>
        </p:nvSpPr>
        <p:spPr>
          <a:xfrm>
            <a:off x="583184" y="2570419"/>
            <a:ext cx="325445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0x0000_0000 … 0x0004_0000</a:t>
            </a:r>
          </a:p>
        </p:txBody>
      </p:sp>
      <p:sp>
        <p:nvSpPr>
          <p:cNvPr id="20" name="rect-026"/>
          <p:cNvSpPr/>
          <p:nvPr/>
        </p:nvSpPr>
        <p:spPr>
          <a:xfrm>
            <a:off x="6827520" y="254254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7"/>
          <p:cNvSpPr/>
          <p:nvPr/>
        </p:nvSpPr>
        <p:spPr>
          <a:xfrm>
            <a:off x="6827520" y="25425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8: Debug 目标"/>
          <p:cNvSpPr txBox="1"/>
          <p:nvPr/>
        </p:nvSpPr>
        <p:spPr>
          <a:xfrm>
            <a:off x="6948424" y="257041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目标</a:t>
            </a:r>
          </a:p>
        </p:txBody>
      </p:sp>
      <p:sp>
        <p:nvSpPr>
          <p:cNvPr id="23" name="text-029: 256 KiB 地址窗口；与 Debug SBA 发起口不同"/>
          <p:cNvSpPr txBox="1"/>
          <p:nvPr/>
        </p:nvSpPr>
        <p:spPr>
          <a:xfrm>
            <a:off x="6948424" y="2857175"/>
            <a:ext cx="380989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KiB 地址窗口；与 Debug SBA 发起口不同</a:t>
            </a:r>
          </a:p>
        </p:txBody>
      </p:sp>
      <p:sp>
        <p:nvSpPr>
          <p:cNvPr id="24" name="rect-030"/>
          <p:cNvSpPr/>
          <p:nvPr/>
        </p:nvSpPr>
        <p:spPr>
          <a:xfrm>
            <a:off x="462280" y="3374644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31"/>
          <p:cNvSpPr/>
          <p:nvPr/>
        </p:nvSpPr>
        <p:spPr>
          <a:xfrm>
            <a:off x="462280" y="33746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2: 0x0100_0000 … 0x0100_1000"/>
          <p:cNvSpPr txBox="1"/>
          <p:nvPr/>
        </p:nvSpPr>
        <p:spPr>
          <a:xfrm>
            <a:off x="583184" y="3402523"/>
            <a:ext cx="325445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… 0x0100_1000</a:t>
            </a:r>
          </a:p>
        </p:txBody>
      </p:sp>
      <p:sp>
        <p:nvSpPr>
          <p:cNvPr id="27" name="rect-033"/>
          <p:cNvSpPr/>
          <p:nvPr/>
        </p:nvSpPr>
        <p:spPr>
          <a:xfrm>
            <a:off x="6827520" y="3374644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-034"/>
          <p:cNvSpPr/>
          <p:nvPr/>
        </p:nvSpPr>
        <p:spPr>
          <a:xfrm>
            <a:off x="6827520" y="33746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-035: iDMA 控制"/>
          <p:cNvSpPr txBox="1"/>
          <p:nvPr/>
        </p:nvSpPr>
        <p:spPr>
          <a:xfrm>
            <a:off x="6948424" y="3402523"/>
            <a:ext cx="115570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控制</a:t>
            </a:r>
          </a:p>
        </p:txBody>
      </p:sp>
      <p:sp>
        <p:nvSpPr>
          <p:cNvPr id="30" name="text-036: 4 KiB 控制窗口；数据传输使用独立发起口"/>
          <p:cNvSpPr txBox="1"/>
          <p:nvPr/>
        </p:nvSpPr>
        <p:spPr>
          <a:xfrm>
            <a:off x="6948424" y="3689279"/>
            <a:ext cx="327009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KiB 控制窗口；数据传输使用独立发起口</a:t>
            </a:r>
          </a:p>
        </p:txBody>
      </p:sp>
      <p:sp>
        <p:nvSpPr>
          <p:cNvPr id="31" name="rect-037"/>
          <p:cNvSpPr/>
          <p:nvPr/>
        </p:nvSpPr>
        <p:spPr>
          <a:xfrm>
            <a:off x="462280" y="4206748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-038"/>
          <p:cNvSpPr/>
          <p:nvPr/>
        </p:nvSpPr>
        <p:spPr>
          <a:xfrm>
            <a:off x="462280" y="42067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39: 0x0200_0000 … 0x0C00_0000"/>
          <p:cNvSpPr txBox="1"/>
          <p:nvPr/>
        </p:nvSpPr>
        <p:spPr>
          <a:xfrm>
            <a:off x="583184" y="4234627"/>
            <a:ext cx="325445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0x0200_0000 … 0x0C00_0000</a:t>
            </a:r>
          </a:p>
        </p:txBody>
      </p:sp>
      <p:sp>
        <p:nvSpPr>
          <p:cNvPr id="34" name="rect-040"/>
          <p:cNvSpPr/>
          <p:nvPr/>
        </p:nvSpPr>
        <p:spPr>
          <a:xfrm>
            <a:off x="6827520" y="4206748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41"/>
          <p:cNvSpPr/>
          <p:nvPr/>
        </p:nvSpPr>
        <p:spPr>
          <a:xfrm>
            <a:off x="6827520" y="42067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42: Reg 桥 → 二级译码"/>
          <p:cNvSpPr txBox="1"/>
          <p:nvPr/>
        </p:nvSpPr>
        <p:spPr>
          <a:xfrm>
            <a:off x="6948424" y="4234627"/>
            <a:ext cx="201554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桥 → 二级译码</a:t>
            </a:r>
          </a:p>
        </p:txBody>
      </p:sp>
      <p:sp>
        <p:nvSpPr>
          <p:cNvPr id="37" name="text-043: 160 MiB 总窗口；包含空洞，不是连续 RAM"/>
          <p:cNvSpPr txBox="1"/>
          <p:nvPr/>
        </p:nvSpPr>
        <p:spPr>
          <a:xfrm>
            <a:off x="6948424" y="4521383"/>
            <a:ext cx="341091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160 MiB 总窗口；包含空洞，不是连续 RAM</a:t>
            </a:r>
          </a:p>
        </p:txBody>
      </p:sp>
      <p:sp>
        <p:nvSpPr>
          <p:cNvPr id="38" name="rect-044"/>
          <p:cNvSpPr/>
          <p:nvPr/>
        </p:nvSpPr>
        <p:spPr>
          <a:xfrm>
            <a:off x="462280" y="5038852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5"/>
          <p:cNvSpPr/>
          <p:nvPr/>
        </p:nvSpPr>
        <p:spPr>
          <a:xfrm>
            <a:off x="462280" y="50388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6: 0x1000_0000 / 0x1400_0000"/>
          <p:cNvSpPr txBox="1"/>
          <p:nvPr/>
        </p:nvSpPr>
        <p:spPr>
          <a:xfrm>
            <a:off x="583184" y="5066731"/>
            <a:ext cx="318973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0x1000_0000 / 0x1400_0000</a:t>
            </a:r>
          </a:p>
        </p:txBody>
      </p:sp>
      <p:sp>
        <p:nvSpPr>
          <p:cNvPr id="41" name="rect-047"/>
          <p:cNvSpPr/>
          <p:nvPr/>
        </p:nvSpPr>
        <p:spPr>
          <a:xfrm>
            <a:off x="6827520" y="5038852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8"/>
          <p:cNvSpPr/>
          <p:nvPr/>
        </p:nvSpPr>
        <p:spPr>
          <a:xfrm>
            <a:off x="6827520" y="50388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9: 同一 LLC / SPM 阵列"/>
          <p:cNvSpPr txBox="1"/>
          <p:nvPr/>
        </p:nvSpPr>
        <p:spPr>
          <a:xfrm>
            <a:off x="6948424" y="5066731"/>
            <a:ext cx="22466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 LLC / SPM 阵列</a:t>
            </a:r>
          </a:p>
        </p:txBody>
      </p:sp>
      <p:sp>
        <p:nvSpPr>
          <p:cNvPr id="44" name="text-050: 默认每个 SPM 别名各 128 KiB；并非双份容量"/>
          <p:cNvSpPr txBox="1"/>
          <p:nvPr/>
        </p:nvSpPr>
        <p:spPr>
          <a:xfrm>
            <a:off x="6948424" y="5353487"/>
            <a:ext cx="366908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默认每个 SPM 别名各 128 KiB；并非双份容量</a:t>
            </a:r>
          </a:p>
        </p:txBody>
      </p:sp>
      <p:sp>
        <p:nvSpPr>
          <p:cNvPr id="45" name="rect-051"/>
          <p:cNvSpPr/>
          <p:nvPr/>
        </p:nvSpPr>
        <p:spPr>
          <a:xfrm>
            <a:off x="462280" y="5870956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52"/>
          <p:cNvSpPr/>
          <p:nvPr/>
        </p:nvSpPr>
        <p:spPr>
          <a:xfrm>
            <a:off x="462280" y="58709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3: 0x8000_0000 … 0x1_0000_0000"/>
          <p:cNvSpPr txBox="1"/>
          <p:nvPr/>
        </p:nvSpPr>
        <p:spPr>
          <a:xfrm>
            <a:off x="583184" y="5898835"/>
            <a:ext cx="349483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0x8000_0000 … 0x1_0000_0000</a:t>
            </a:r>
          </a:p>
        </p:txBody>
      </p:sp>
      <p:sp>
        <p:nvSpPr>
          <p:cNvPr id="48" name="rect-054"/>
          <p:cNvSpPr/>
          <p:nvPr/>
        </p:nvSpPr>
        <p:spPr>
          <a:xfrm>
            <a:off x="6827520" y="5870956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-055"/>
          <p:cNvSpPr/>
          <p:nvPr/>
        </p:nvSpPr>
        <p:spPr>
          <a:xfrm>
            <a:off x="6827520" y="58709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-056: LLC 下游主存"/>
          <p:cNvSpPr txBox="1"/>
          <p:nvPr/>
        </p:nvSpPr>
        <p:spPr>
          <a:xfrm>
            <a:off x="6948424" y="5898835"/>
            <a:ext cx="14053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LLC 下游主存</a:t>
            </a:r>
          </a:p>
        </p:txBody>
      </p:sp>
      <p:sp>
        <p:nvSpPr>
          <p:cNvPr id="51" name="text-057: 2 GiB 路由窗；实际 DDR 容量取决于平台"/>
          <p:cNvSpPr txBox="1"/>
          <p:nvPr/>
        </p:nvSpPr>
        <p:spPr>
          <a:xfrm>
            <a:off x="6948424" y="6185591"/>
            <a:ext cx="330921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 GiB 路由窗；实际 DDR 容量取决于平台</a:t>
            </a:r>
          </a:p>
        </p:txBody>
      </p:sp>
      <p:sp>
        <p:nvSpPr>
          <p:cNvPr id="52" name="rect-058"/>
          <p:cNvSpPr/>
          <p:nvPr/>
        </p:nvSpPr>
        <p:spPr>
          <a:xfrm>
            <a:off x="462280" y="670306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-059"/>
          <p:cNvSpPr/>
          <p:nvPr/>
        </p:nvSpPr>
        <p:spPr>
          <a:xfrm>
            <a:off x="462280" y="67030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60: 0x1_0000_0000 … 0x2_0000_0000"/>
          <p:cNvSpPr txBox="1"/>
          <p:nvPr/>
        </p:nvSpPr>
        <p:spPr>
          <a:xfrm>
            <a:off x="583184" y="6730939"/>
            <a:ext cx="373522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0x1_0000_0000 … 0x2_0000_0000</a:t>
            </a:r>
          </a:p>
        </p:txBody>
      </p:sp>
      <p:sp>
        <p:nvSpPr>
          <p:cNvPr id="55" name="rect-061"/>
          <p:cNvSpPr/>
          <p:nvPr/>
        </p:nvSpPr>
        <p:spPr>
          <a:xfrm>
            <a:off x="6827520" y="670306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-062"/>
          <p:cNvSpPr/>
          <p:nvPr/>
        </p:nvSpPr>
        <p:spPr>
          <a:xfrm>
            <a:off x="6827520" y="67030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-063: Serial Link TX"/>
          <p:cNvSpPr txBox="1"/>
          <p:nvPr/>
        </p:nvSpPr>
        <p:spPr>
          <a:xfrm>
            <a:off x="6948424" y="6730939"/>
            <a:ext cx="18676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Serial Link TX</a:t>
            </a:r>
          </a:p>
        </p:txBody>
      </p:sp>
      <p:sp>
        <p:nvSpPr>
          <p:cNvPr id="58" name="text-064: 4 GiB 对端窗口；受配置与地址映射约束"/>
          <p:cNvSpPr txBox="1"/>
          <p:nvPr/>
        </p:nvSpPr>
        <p:spPr>
          <a:xfrm>
            <a:off x="6948424" y="7017695"/>
            <a:ext cx="311363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GiB 对端窗口；受配置与地址映射约束</a:t>
            </a:r>
          </a:p>
        </p:txBody>
      </p:sp>
      <p:sp>
        <p:nvSpPr>
          <p:cNvPr id="59" name="text-065: 同一目标可有多个地址规则；关闭设备不等于其上层总窗口消失。未匹配访问应完成错误应"/>
          <p:cNvSpPr txBox="1"/>
          <p:nvPr/>
        </p:nvSpPr>
        <p:spPr>
          <a:xfrm>
            <a:off x="568960" y="7720076"/>
            <a:ext cx="76454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同一目标可有多个地址规则；关闭设备不等于其上层总窗口消失。未匹配访问应完成错误应答。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EA4DA314-AEAB-4513-9824-42E781193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779261"/>
              </p:ext>
            </p:extLst>
          </p:nvPr>
        </p:nvGraphicFramePr>
        <p:xfrm>
          <a:off x="89878" y="14490"/>
          <a:ext cx="12565420" cy="9836610"/>
        </p:xfrm>
        <a:graphic>
          <a:graphicData uri="http://schemas.openxmlformats.org/drawingml/2006/table">
            <a:tbl>
              <a:tblPr/>
              <a:tblGrid>
                <a:gridCol w="1795060">
                  <a:extLst>
                    <a:ext uri="{9D8B030D-6E8A-4147-A177-3AD203B41FA5}">
                      <a16:colId xmlns:a16="http://schemas.microsoft.com/office/drawing/2014/main" val="2302862159"/>
                    </a:ext>
                  </a:extLst>
                </a:gridCol>
                <a:gridCol w="1795060">
                  <a:extLst>
                    <a:ext uri="{9D8B030D-6E8A-4147-A177-3AD203B41FA5}">
                      <a16:colId xmlns:a16="http://schemas.microsoft.com/office/drawing/2014/main" val="154227180"/>
                    </a:ext>
                  </a:extLst>
                </a:gridCol>
                <a:gridCol w="1795060">
                  <a:extLst>
                    <a:ext uri="{9D8B030D-6E8A-4147-A177-3AD203B41FA5}">
                      <a16:colId xmlns:a16="http://schemas.microsoft.com/office/drawing/2014/main" val="708440436"/>
                    </a:ext>
                  </a:extLst>
                </a:gridCol>
                <a:gridCol w="1795060">
                  <a:extLst>
                    <a:ext uri="{9D8B030D-6E8A-4147-A177-3AD203B41FA5}">
                      <a16:colId xmlns:a16="http://schemas.microsoft.com/office/drawing/2014/main" val="4239997602"/>
                    </a:ext>
                  </a:extLst>
                </a:gridCol>
                <a:gridCol w="1795060">
                  <a:extLst>
                    <a:ext uri="{9D8B030D-6E8A-4147-A177-3AD203B41FA5}">
                      <a16:colId xmlns:a16="http://schemas.microsoft.com/office/drawing/2014/main" val="2182574090"/>
                    </a:ext>
                  </a:extLst>
                </a:gridCol>
                <a:gridCol w="1795060">
                  <a:extLst>
                    <a:ext uri="{9D8B030D-6E8A-4147-A177-3AD203B41FA5}">
                      <a16:colId xmlns:a16="http://schemas.microsoft.com/office/drawing/2014/main" val="4292041039"/>
                    </a:ext>
                  </a:extLst>
                </a:gridCol>
                <a:gridCol w="1795060">
                  <a:extLst>
                    <a:ext uri="{9D8B030D-6E8A-4147-A177-3AD203B41FA5}">
                      <a16:colId xmlns:a16="http://schemas.microsoft.com/office/drawing/2014/main" val="126571211"/>
                    </a:ext>
                  </a:extLst>
                </a:gridCol>
              </a:tblGrid>
              <a:tr h="228138">
                <a:tc>
                  <a:txBody>
                    <a:bodyPr/>
                    <a:lstStyle/>
                    <a:p>
                      <a:r>
                        <a:rPr lang="zh-CN" altLang="en-US" sz="1400"/>
                        <a:t>目标／分配状态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起始地址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结束地址（不含）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区间大小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185650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 dirty="0"/>
                        <a:t>Debug </a:t>
                      </a:r>
                      <a:r>
                        <a:rPr lang="zh-CN" altLang="en-US" sz="1400" dirty="0"/>
                        <a:t>目标窗口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0x0004_0000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878441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未分配：</a:t>
                      </a:r>
                      <a:r>
                        <a:rPr lang="en-US" altLang="zh-CN" sz="1400" dirty="0"/>
                        <a:t>AXI </a:t>
                      </a:r>
                      <a:r>
                        <a:rPr lang="zh-CN" altLang="en-US" sz="1400" dirty="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0x0004_0000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0x0100_0000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16 MiB − 256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1586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 dirty="0" err="1"/>
                        <a:t>iDMA</a:t>
                      </a:r>
                      <a:r>
                        <a:rPr lang="en-US" sz="1400" dirty="0"/>
                        <a:t> </a:t>
                      </a:r>
                      <a:r>
                        <a:rPr lang="zh-CN" altLang="en-US" sz="1400" dirty="0"/>
                        <a:t>控制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0x0100_0000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0x0100_1000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568697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altLang="zh-CN" sz="1400"/>
                        <a:t>AXI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0x0100_1000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0x0200_0000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16 MiB − 4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015758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Boot ROM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0x0200_0000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0x0204_0000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014603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CLINT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0x0204_0000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0x0208_0000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762462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IRQ router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0x0208_0000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0x020c_0000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415244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AXI RT </a:t>
                      </a:r>
                      <a:r>
                        <a:rPr lang="zh-CN" altLang="en-US" sz="1400"/>
                        <a:t>控制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0x020c_0000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0x0210_0000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931665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sz="1400"/>
                        <a:t>Regbus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0x0210_0000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 </a:t>
                      </a:r>
                      <a:r>
                        <a:rPr lang="en-US" sz="1400" dirty="0" err="1"/>
                        <a:t>MiB</a:t>
                      </a:r>
                      <a:endParaRPr lang="en-US" sz="1400" dirty="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579900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SoC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0x0300_1000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848051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LLC </a:t>
                      </a:r>
                      <a:r>
                        <a:rPr lang="zh-CN" altLang="en-US" sz="1400"/>
                        <a:t>配置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0x0300_1000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0x0300_2000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048282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UART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0x0300_2000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0x0300_3000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197819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I2C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0x0300_3000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0x0300_4000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721921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SPI host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0x0300_4000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0x0300_5000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505331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GPIO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0x0300_5000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0x0300_6000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047573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Serial Link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0x0300_6000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0x0300_7000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621716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VGA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0x0300_7000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0x0300_8000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802497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USB </a:t>
                      </a:r>
                      <a:r>
                        <a:rPr lang="zh-CN" altLang="en-US" sz="1400"/>
                        <a:t>寄存器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0x0300_8000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0x0300_9000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190642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en-US" sz="1400"/>
                        <a:t>Bus-error </a:t>
                      </a:r>
                      <a:r>
                        <a:rPr lang="zh-CN" altLang="en-US" sz="1400"/>
                        <a:t>记录（单核展开）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0x0300_9000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0x0300_90c0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192 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410553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sz="1400"/>
                        <a:t>Regbus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0x0300_90c0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0x0400_0000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0x00ff_6f40 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612699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PLIC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0x0400_0000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0x0800_0000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64 MiB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128482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altLang="zh-CN" sz="1400"/>
                        <a:t>CLIC</a:t>
                      </a:r>
                      <a:r>
                        <a:rPr lang="zh-CN" altLang="en-US" sz="1400"/>
                        <a:t>（单核展开）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0x0800_0000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0x0804_0000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15358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sz="1400"/>
                        <a:t>Regbus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0x0804_0000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0x0c00_0000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64 MiB − 256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051369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altLang="zh-CN" sz="1400"/>
                        <a:t>AXI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0x0c00_0000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0x1000_0000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64 MiB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29383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altLang="zh-CN" sz="1400"/>
                        <a:t>SPM</a:t>
                      </a:r>
                      <a:r>
                        <a:rPr lang="zh-CN" altLang="en-US" sz="1400"/>
                        <a:t>，</a:t>
                      </a:r>
                      <a:r>
                        <a:rPr lang="en-US" altLang="zh-CN" sz="1400"/>
                        <a:t>CPU </a:t>
                      </a:r>
                      <a:r>
                        <a:rPr lang="zh-CN" altLang="en-US" sz="1400"/>
                        <a:t>可缓存视图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0x1002_0000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128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601245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未分配：仅被 </a:t>
                      </a:r>
                      <a:r>
                        <a:rPr lang="en-US" altLang="zh-CN" sz="1400" b="1"/>
                        <a:t>SPM </a:t>
                      </a:r>
                      <a:r>
                        <a:rPr lang="zh-CN" altLang="en-US" sz="1400" b="1"/>
                        <a:t>执行属性覆盖</a:t>
                      </a:r>
                      <a:endParaRPr lang="zh-CN" altLang="en-US" sz="140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0x1002_0000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0x1004_0000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128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291287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altLang="zh-CN" sz="1400"/>
                        <a:t>AXI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0x1004_0000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0x1400_0000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</a:t>
                      </a:r>
                      <a:r>
                        <a:rPr lang="en-US" sz="1400" dirty="0" err="1"/>
                        <a:t>MiB</a:t>
                      </a:r>
                      <a:r>
                        <a:rPr lang="en-US" sz="1400" dirty="0"/>
                        <a:t> − 256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07874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altLang="zh-CN" sz="1400"/>
                        <a:t>SPM</a:t>
                      </a:r>
                      <a:r>
                        <a:rPr lang="zh-CN" altLang="en-US" sz="1400"/>
                        <a:t>，</a:t>
                      </a:r>
                      <a:r>
                        <a:rPr lang="en-US" altLang="zh-CN" sz="1400"/>
                        <a:t>CPU </a:t>
                      </a:r>
                      <a:r>
                        <a:rPr lang="zh-CN" altLang="en-US" sz="1400"/>
                        <a:t>非缓存别名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0x1400_0000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0x1402_0000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128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524431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zh-CN" altLang="en-US" sz="1400"/>
                        <a:t>未分配：</a:t>
                      </a:r>
                      <a:r>
                        <a:rPr lang="en-US" altLang="zh-CN" sz="1400"/>
                        <a:t>AXI </a:t>
                      </a:r>
                      <a:r>
                        <a:rPr lang="zh-CN" altLang="en-US" sz="1400"/>
                        <a:t>解码空洞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0x1402_0000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0x2000_0000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192 </a:t>
                      </a:r>
                      <a:r>
                        <a:rPr lang="en-US" sz="1400" dirty="0" err="1"/>
                        <a:t>MiB</a:t>
                      </a:r>
                      <a:r>
                        <a:rPr lang="en-US" sz="1400" dirty="0"/>
                        <a:t> − 128 KiB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10260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扩展 </a:t>
                      </a:r>
                      <a:r>
                        <a:rPr lang="en-US" altLang="zh-CN" sz="1400" b="1"/>
                        <a:t>CIE </a:t>
                      </a:r>
                      <a:r>
                        <a:rPr lang="zh-CN" altLang="en-US" sz="1400" b="1"/>
                        <a:t>属性区：未分配目标</a:t>
                      </a:r>
                      <a:endParaRPr lang="zh-CN" altLang="en-US" sz="140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0x2000_0000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0x4000_0000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512 </a:t>
                      </a:r>
                      <a:r>
                        <a:rPr lang="en-US" sz="1400" dirty="0" err="1"/>
                        <a:t>MiB</a:t>
                      </a:r>
                      <a:endParaRPr lang="en-US" sz="1400" dirty="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073346"/>
                  </a:ext>
                </a:extLst>
              </a:tr>
              <a:tr h="432157"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扩展 </a:t>
                      </a:r>
                      <a:r>
                        <a:rPr lang="en-US" sz="1400" b="1"/>
                        <a:t>non-CIE </a:t>
                      </a:r>
                      <a:r>
                        <a:rPr lang="zh-CN" altLang="en-US" sz="1400" b="1"/>
                        <a:t>属性区：未分配目标</a:t>
                      </a:r>
                      <a:endParaRPr lang="zh-CN" altLang="en-US" sz="140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0x4000_0000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0x8000_0000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</a:t>
                      </a:r>
                      <a:r>
                        <a:rPr lang="en-US" sz="1400" dirty="0" err="1"/>
                        <a:t>GiB</a:t>
                      </a:r>
                      <a:endParaRPr lang="en-US" sz="1400" dirty="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911803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LLC </a:t>
                      </a:r>
                      <a:r>
                        <a:rPr lang="zh-CN" altLang="en-US" sz="1400"/>
                        <a:t>下游／</a:t>
                      </a:r>
                      <a:r>
                        <a:rPr lang="en-US" sz="1400"/>
                        <a:t>DRAM </a:t>
                      </a:r>
                      <a:r>
                        <a:rPr lang="zh-CN" altLang="en-US" sz="1400"/>
                        <a:t>窗口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0x8000_0000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0x1_0000_0000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</a:t>
                      </a:r>
                      <a:r>
                        <a:rPr lang="en-US" sz="1400" dirty="0" err="1"/>
                        <a:t>GiB</a:t>
                      </a:r>
                      <a:endParaRPr lang="en-US" sz="1400" dirty="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64183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en-US" sz="1400"/>
                        <a:t>Serial Link </a:t>
                      </a:r>
                      <a:r>
                        <a:rPr lang="zh-CN" altLang="en-US" sz="1400"/>
                        <a:t>远端窗口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0x1_0000_0000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0x2_0000_0000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 </a:t>
                      </a:r>
                      <a:r>
                        <a:rPr lang="en-US" sz="1400" dirty="0" err="1"/>
                        <a:t>GiB</a:t>
                      </a:r>
                      <a:endParaRPr lang="en-US" sz="1400" dirty="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216115"/>
                  </a:ext>
                </a:extLst>
              </a:tr>
              <a:tr h="228138"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未分配：其余高地址空间</a:t>
                      </a:r>
                      <a:endParaRPr lang="zh-CN" altLang="en-US" sz="140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0x2_0000_0000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0x1_0000_0000_0000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256 </a:t>
                      </a:r>
                      <a:r>
                        <a:rPr lang="en-US" sz="1400" dirty="0" err="1"/>
                        <a:t>TiB</a:t>
                      </a:r>
                      <a:r>
                        <a:rPr lang="en-US" sz="1400" dirty="0"/>
                        <a:t> − 8 </a:t>
                      </a:r>
                      <a:r>
                        <a:rPr lang="en-US" sz="1400" dirty="0" err="1"/>
                        <a:t>GiB</a:t>
                      </a:r>
                      <a:endParaRPr lang="en-US" sz="1400" dirty="0"/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否</a:t>
                      </a:r>
                    </a:p>
                  </a:txBody>
                  <a:tcPr marL="18919" marR="18919" marT="9459" marB="94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40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860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33248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6863080" y="33248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1778000" y="45836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 fill="none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2951480" y="55473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4516120" y="45836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 fill="none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8249920" y="45836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 fill="none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5"/>
          <p:cNvSpPr/>
          <p:nvPr/>
        </p:nvSpPr>
        <p:spPr>
          <a:xfrm>
            <a:off x="9423400" y="55473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7"/>
          <p:cNvSpPr/>
          <p:nvPr/>
        </p:nvSpPr>
        <p:spPr>
          <a:xfrm>
            <a:off x="10988040" y="45836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 fill="none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19"/>
          <p:cNvSpPr/>
          <p:nvPr/>
        </p:nvSpPr>
        <p:spPr>
          <a:xfrm>
            <a:off x="3129280" y="29194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 fill="none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olyline-021"/>
          <p:cNvSpPr/>
          <p:nvPr/>
        </p:nvSpPr>
        <p:spPr>
          <a:xfrm>
            <a:off x="9601200" y="29194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 fill="none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olyline-023"/>
          <p:cNvSpPr/>
          <p:nvPr/>
        </p:nvSpPr>
        <p:spPr>
          <a:xfrm>
            <a:off x="5867400" y="6169660"/>
            <a:ext cx="533400" cy="462280"/>
          </a:xfrm>
          <a:custGeom>
            <a:avLst/>
            <a:gdLst/>
            <a:ahLst/>
            <a:cxnLst/>
            <a:rect l="0" t="0" r="r" b="b"/>
            <a:pathLst>
              <a:path w="533400" h="462280" fill="none">
                <a:moveTo>
                  <a:pt x="0" y="0"/>
                </a:moveTo>
                <a:lnTo>
                  <a:pt x="533400" y="0"/>
                </a:lnTo>
                <a:lnTo>
                  <a:pt x="533400" y="462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olyline-025"/>
          <p:cNvSpPr/>
          <p:nvPr/>
        </p:nvSpPr>
        <p:spPr>
          <a:xfrm>
            <a:off x="6578600" y="6169660"/>
            <a:ext cx="284480" cy="462280"/>
          </a:xfrm>
          <a:custGeom>
            <a:avLst/>
            <a:gdLst/>
            <a:ahLst/>
            <a:cxnLst/>
            <a:rect l="0" t="0" r="r" b="b"/>
            <a:pathLst>
              <a:path w="284480" h="462280" fill="none">
                <a:moveTo>
                  <a:pt x="284480" y="0"/>
                </a:moveTo>
                <a:lnTo>
                  <a:pt x="0" y="0"/>
                </a:lnTo>
                <a:lnTo>
                  <a:pt x="0" y="462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olyline-027"/>
          <p:cNvSpPr/>
          <p:nvPr/>
        </p:nvSpPr>
        <p:spPr>
          <a:xfrm>
            <a:off x="5049520" y="6383020"/>
            <a:ext cx="391160" cy="248920"/>
          </a:xfrm>
          <a:custGeom>
            <a:avLst/>
            <a:gdLst/>
            <a:ahLst/>
            <a:cxnLst/>
            <a:rect l="0" t="0" r="r" b="b"/>
            <a:pathLst>
              <a:path w="391160" h="248920" fill="none">
                <a:moveTo>
                  <a:pt x="0" y="248920"/>
                </a:moveTo>
                <a:lnTo>
                  <a:pt x="0" y="106680"/>
                </a:lnTo>
                <a:lnTo>
                  <a:pt x="391160" y="106680"/>
                </a:ln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olyline-029"/>
          <p:cNvSpPr/>
          <p:nvPr/>
        </p:nvSpPr>
        <p:spPr>
          <a:xfrm>
            <a:off x="7396480" y="6383020"/>
            <a:ext cx="355600" cy="248920"/>
          </a:xfrm>
          <a:custGeom>
            <a:avLst/>
            <a:gdLst/>
            <a:ahLst/>
            <a:cxnLst/>
            <a:rect l="0" t="0" r="r" b="b"/>
            <a:pathLst>
              <a:path w="355600" h="248920" fill="none">
                <a:moveTo>
                  <a:pt x="355600" y="248920"/>
                </a:moveTo>
                <a:lnTo>
                  <a:pt x="355600" y="106680"/>
                </a:ln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olyline-031"/>
          <p:cNvSpPr/>
          <p:nvPr/>
        </p:nvSpPr>
        <p:spPr>
          <a:xfrm>
            <a:off x="3129280" y="63830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 fill="none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olyline-033"/>
          <p:cNvSpPr/>
          <p:nvPr/>
        </p:nvSpPr>
        <p:spPr>
          <a:xfrm>
            <a:off x="9601200" y="63830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 fill="none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35: Ara 内部：向量元素分散到 lanes，再重排回内存"/>
          <p:cNvSpPr txBox="1"/>
          <p:nvPr/>
        </p:nvSpPr>
        <p:spPr>
          <a:xfrm>
            <a:off x="483616" y="1071209"/>
            <a:ext cx="627278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内部：向量元素分散到 lanes，再重排回内存</a:t>
            </a:r>
          </a:p>
        </p:txBody>
      </p:sp>
      <p:sp>
        <p:nvSpPr>
          <p:cNvPr id="22" name="text-036: 示例：VLEN=2048、2 lanes、32 个向量寄存器；每个寄存器 256"/>
          <p:cNvSpPr txBox="1"/>
          <p:nvPr/>
        </p:nvSpPr>
        <p:spPr>
          <a:xfrm>
            <a:off x="483616" y="1476878"/>
            <a:ext cx="732002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示例：VLEN=2048、2 lanes、32 个向量寄存器；每个寄存器 256 B，VRF 总计 8 KiB。</a:t>
            </a:r>
          </a:p>
        </p:txBody>
      </p:sp>
      <p:sp>
        <p:nvSpPr>
          <p:cNvPr id="23" name="text-03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38: 源码：ara.sv / lane.sv / vlsu.sv；数据分布示意，不表示"/>
          <p:cNvSpPr txBox="1"/>
          <p:nvPr/>
        </p:nvSpPr>
        <p:spPr>
          <a:xfrm>
            <a:off x="341376" y="8526577"/>
            <a:ext cx="595985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源码：ara.sv / lane.sv / vlsu.sv；数据分布示意，不表示每周期恰好完成一元素</a:t>
            </a:r>
          </a:p>
        </p:txBody>
      </p:sp>
      <p:sp>
        <p:nvSpPr>
          <p:cNvPr id="25" name="rect-039"/>
          <p:cNvSpPr/>
          <p:nvPr/>
        </p:nvSpPr>
        <p:spPr>
          <a:xfrm>
            <a:off x="391160" y="2222500"/>
            <a:ext cx="11948160" cy="696976"/>
          </a:xfrm>
          <a:prstGeom prst="roundRect">
            <a:avLst>
              <a:gd name="adj" fmla="val 71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40"/>
          <p:cNvSpPr/>
          <p:nvPr/>
        </p:nvSpPr>
        <p:spPr>
          <a:xfrm>
            <a:off x="391160" y="2222500"/>
            <a:ext cx="35560" cy="696976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41: dispatcher → sequencer"/>
          <p:cNvSpPr txBox="1"/>
          <p:nvPr/>
        </p:nvSpPr>
        <p:spPr>
          <a:xfrm>
            <a:off x="512064" y="2250379"/>
            <a:ext cx="289387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dispatcher → sequencer</a:t>
            </a:r>
          </a:p>
        </p:txBody>
      </p:sp>
      <p:sp>
        <p:nvSpPr>
          <p:cNvPr id="28" name="text-042: vtype / vl / vstart → 依赖跟踪、功能单元发出与完成汇总"/>
          <p:cNvSpPr txBox="1"/>
          <p:nvPr/>
        </p:nvSpPr>
        <p:spPr>
          <a:xfrm>
            <a:off x="512064" y="2521773"/>
            <a:ext cx="540227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vtype / vl / vstart → 依赖跟踪、功能单元发出与完成汇总</a:t>
            </a:r>
          </a:p>
        </p:txBody>
      </p:sp>
      <p:sp>
        <p:nvSpPr>
          <p:cNvPr id="29" name="text-043: lane 0：VRF 4 KiB"/>
          <p:cNvSpPr txBox="1"/>
          <p:nvPr/>
        </p:nvSpPr>
        <p:spPr>
          <a:xfrm>
            <a:off x="519176" y="3381756"/>
            <a:ext cx="20891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0：VRF 4 KiB</a:t>
            </a:r>
          </a:p>
        </p:txBody>
      </p:sp>
      <p:sp>
        <p:nvSpPr>
          <p:cNvPr id="30" name="rect-044"/>
          <p:cNvSpPr/>
          <p:nvPr/>
        </p:nvSpPr>
        <p:spPr>
          <a:xfrm>
            <a:off x="604520" y="37871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45"/>
          <p:cNvSpPr/>
          <p:nvPr/>
        </p:nvSpPr>
        <p:spPr>
          <a:xfrm>
            <a:off x="604520" y="37871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46: 分布式寄存器字节"/>
          <p:cNvSpPr txBox="1"/>
          <p:nvPr/>
        </p:nvSpPr>
        <p:spPr>
          <a:xfrm>
            <a:off x="725424" y="3815019"/>
            <a:ext cx="166420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33" name="text-047: e32 元素 0、2、4、6 …"/>
          <p:cNvSpPr txBox="1"/>
          <p:nvPr/>
        </p:nvSpPr>
        <p:spPr>
          <a:xfrm>
            <a:off x="725424" y="4086413"/>
            <a:ext cx="230428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0、2、4、6 …</a:t>
            </a:r>
          </a:p>
        </p:txBody>
      </p:sp>
      <p:sp>
        <p:nvSpPr>
          <p:cNvPr id="34" name="text-048: VLEN 与 lane 数共同决定存储分片"/>
          <p:cNvSpPr txBox="1"/>
          <p:nvPr/>
        </p:nvSpPr>
        <p:spPr>
          <a:xfrm>
            <a:off x="725424" y="4299773"/>
            <a:ext cx="309798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35" name="rect-049"/>
          <p:cNvSpPr/>
          <p:nvPr/>
        </p:nvSpPr>
        <p:spPr>
          <a:xfrm>
            <a:off x="604520" y="51384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50"/>
          <p:cNvSpPr/>
          <p:nvPr/>
        </p:nvSpPr>
        <p:spPr>
          <a:xfrm>
            <a:off x="604520" y="51384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51: 操作数队列 → ALU"/>
          <p:cNvSpPr txBox="1"/>
          <p:nvPr/>
        </p:nvSpPr>
        <p:spPr>
          <a:xfrm>
            <a:off x="725424" y="5166299"/>
            <a:ext cx="189534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38" name="text-052: 整数 / MUL / FPU"/>
          <p:cNvSpPr txBox="1"/>
          <p:nvPr/>
        </p:nvSpPr>
        <p:spPr>
          <a:xfrm>
            <a:off x="725424" y="5437693"/>
            <a:ext cx="184343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39" name="rect-053"/>
          <p:cNvSpPr/>
          <p:nvPr/>
        </p:nvSpPr>
        <p:spPr>
          <a:xfrm>
            <a:off x="3342640" y="51384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-054"/>
          <p:cNvSpPr/>
          <p:nvPr/>
        </p:nvSpPr>
        <p:spPr>
          <a:xfrm>
            <a:off x="3342640" y="51384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-055: 结果写回 VRF"/>
          <p:cNvSpPr txBox="1"/>
          <p:nvPr/>
        </p:nvSpPr>
        <p:spPr>
          <a:xfrm>
            <a:off x="3463544" y="5166299"/>
            <a:ext cx="14053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42" name="text-056: 按目标寄存器归位"/>
          <p:cNvSpPr txBox="1"/>
          <p:nvPr/>
        </p:nvSpPr>
        <p:spPr>
          <a:xfrm>
            <a:off x="3463544" y="543769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43" name="text-057: lane 1：VRF 4 KiB"/>
          <p:cNvSpPr txBox="1"/>
          <p:nvPr/>
        </p:nvSpPr>
        <p:spPr>
          <a:xfrm>
            <a:off x="6991096" y="3381756"/>
            <a:ext cx="20891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1：VRF 4 KiB</a:t>
            </a:r>
          </a:p>
        </p:txBody>
      </p:sp>
      <p:sp>
        <p:nvSpPr>
          <p:cNvPr id="44" name="rect-058"/>
          <p:cNvSpPr/>
          <p:nvPr/>
        </p:nvSpPr>
        <p:spPr>
          <a:xfrm>
            <a:off x="7076440" y="37871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59"/>
          <p:cNvSpPr/>
          <p:nvPr/>
        </p:nvSpPr>
        <p:spPr>
          <a:xfrm>
            <a:off x="7076440" y="37871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60: 分布式寄存器字节"/>
          <p:cNvSpPr txBox="1"/>
          <p:nvPr/>
        </p:nvSpPr>
        <p:spPr>
          <a:xfrm>
            <a:off x="7197344" y="3815019"/>
            <a:ext cx="166420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47" name="text-061: e32 元素 1、3、5、7 …"/>
          <p:cNvSpPr txBox="1"/>
          <p:nvPr/>
        </p:nvSpPr>
        <p:spPr>
          <a:xfrm>
            <a:off x="7197344" y="4086413"/>
            <a:ext cx="230428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1、3、5、7 …</a:t>
            </a:r>
          </a:p>
        </p:txBody>
      </p:sp>
      <p:sp>
        <p:nvSpPr>
          <p:cNvPr id="48" name="text-062: VLEN 与 lane 数共同决定存储分片"/>
          <p:cNvSpPr txBox="1"/>
          <p:nvPr/>
        </p:nvSpPr>
        <p:spPr>
          <a:xfrm>
            <a:off x="7197344" y="4299773"/>
            <a:ext cx="309798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49" name="rect-063"/>
          <p:cNvSpPr/>
          <p:nvPr/>
        </p:nvSpPr>
        <p:spPr>
          <a:xfrm>
            <a:off x="7076440" y="51384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-064"/>
          <p:cNvSpPr/>
          <p:nvPr/>
        </p:nvSpPr>
        <p:spPr>
          <a:xfrm>
            <a:off x="7076440" y="51384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65: 操作数队列 → ALU"/>
          <p:cNvSpPr txBox="1"/>
          <p:nvPr/>
        </p:nvSpPr>
        <p:spPr>
          <a:xfrm>
            <a:off x="7197344" y="5166299"/>
            <a:ext cx="189534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52" name="text-066: 整数 / MUL / FPU"/>
          <p:cNvSpPr txBox="1"/>
          <p:nvPr/>
        </p:nvSpPr>
        <p:spPr>
          <a:xfrm>
            <a:off x="7197344" y="5437693"/>
            <a:ext cx="184343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53" name="rect-067"/>
          <p:cNvSpPr/>
          <p:nvPr/>
        </p:nvSpPr>
        <p:spPr>
          <a:xfrm>
            <a:off x="9814560" y="51384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-068"/>
          <p:cNvSpPr/>
          <p:nvPr/>
        </p:nvSpPr>
        <p:spPr>
          <a:xfrm>
            <a:off x="9814560" y="51384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69: 结果写回 VRF"/>
          <p:cNvSpPr txBox="1"/>
          <p:nvPr/>
        </p:nvSpPr>
        <p:spPr>
          <a:xfrm>
            <a:off x="9935464" y="5166299"/>
            <a:ext cx="14053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56" name="text-070: 按目标寄存器归位"/>
          <p:cNvSpPr txBox="1"/>
          <p:nvPr/>
        </p:nvSpPr>
        <p:spPr>
          <a:xfrm>
            <a:off x="9935464" y="543769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57" name="rect-071"/>
          <p:cNvSpPr/>
          <p:nvPr/>
        </p:nvSpPr>
        <p:spPr>
          <a:xfrm>
            <a:off x="4516120" y="6631940"/>
            <a:ext cx="3733800" cy="497840"/>
          </a:xfrm>
          <a:prstGeom prst="roundRect">
            <a:avLst>
              <a:gd name="adj" fmla="val 10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-072"/>
          <p:cNvSpPr/>
          <p:nvPr/>
        </p:nvSpPr>
        <p:spPr>
          <a:xfrm>
            <a:off x="4516120" y="6631940"/>
            <a:ext cx="35560" cy="4978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-073: masku / sldu：使能与跨 lane 交换"/>
          <p:cNvSpPr txBox="1"/>
          <p:nvPr/>
        </p:nvSpPr>
        <p:spPr>
          <a:xfrm>
            <a:off x="4637024" y="6659819"/>
            <a:ext cx="364276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masku / sldu：使能与跨 lane 交换</a:t>
            </a:r>
          </a:p>
        </p:txBody>
      </p:sp>
      <p:sp>
        <p:nvSpPr>
          <p:cNvPr id="60" name="rect-074"/>
          <p:cNvSpPr/>
          <p:nvPr/>
        </p:nvSpPr>
        <p:spPr>
          <a:xfrm>
            <a:off x="391160" y="7414260"/>
            <a:ext cx="11948160" cy="590296"/>
          </a:xfrm>
          <a:prstGeom prst="roundRect">
            <a:avLst>
              <a:gd name="adj" fmla="val 84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-075"/>
          <p:cNvSpPr/>
          <p:nvPr/>
        </p:nvSpPr>
        <p:spPr>
          <a:xfrm>
            <a:off x="391160" y="7414260"/>
            <a:ext cx="35560" cy="59029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-076: VLSU：连续内存 → load 分发 → lanes → store 重排 →"/>
          <p:cNvSpPr txBox="1"/>
          <p:nvPr/>
        </p:nvSpPr>
        <p:spPr>
          <a:xfrm>
            <a:off x="512064" y="7442139"/>
            <a:ext cx="631474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VLSU：连续内存 → load 分发 → lanes → store 重排 → AXI</a:t>
            </a:r>
          </a:p>
        </p:txBody>
      </p:sp>
      <p:sp>
        <p:nvSpPr>
          <p:cNvPr id="63" name="text-077: VRF 与临时 FIFO 不构成 NPU 可寻址共享 cache"/>
          <p:cNvSpPr txBox="1"/>
          <p:nvPr/>
        </p:nvSpPr>
        <p:spPr>
          <a:xfrm>
            <a:off x="512064" y="7728895"/>
            <a:ext cx="401330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与临时 FIFO 不构成 NPU 可寻址共享 cache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693920" y="2115820"/>
            <a:ext cx="483616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3876040" y="2634996"/>
            <a:ext cx="1173480" cy="1970024"/>
          </a:xfrm>
          <a:custGeom>
            <a:avLst/>
            <a:gdLst/>
            <a:ahLst/>
            <a:cxnLst/>
            <a:rect l="0" t="0" r="r" b="b"/>
            <a:pathLst>
              <a:path w="1173480" h="1970024" fill="none">
                <a:moveTo>
                  <a:pt x="0" y="0"/>
                </a:moveTo>
                <a:lnTo>
                  <a:pt x="497840" y="0"/>
                </a:lnTo>
                <a:lnTo>
                  <a:pt x="497840" y="1970024"/>
                </a:lnTo>
                <a:lnTo>
                  <a:pt x="1173480" y="1970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3876040" y="3523996"/>
            <a:ext cx="1173480" cy="1081024"/>
          </a:xfrm>
          <a:custGeom>
            <a:avLst/>
            <a:gdLst/>
            <a:ahLst/>
            <a:cxnLst/>
            <a:rect l="0" t="0" r="r" b="b"/>
            <a:pathLst>
              <a:path w="1173480" h="1081024" fill="none">
                <a:moveTo>
                  <a:pt x="0" y="0"/>
                </a:moveTo>
                <a:lnTo>
                  <a:pt x="497840" y="0"/>
                </a:lnTo>
                <a:lnTo>
                  <a:pt x="497840" y="1081024"/>
                </a:lnTo>
                <a:lnTo>
                  <a:pt x="1173480" y="1081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3876040" y="4412996"/>
            <a:ext cx="1173480" cy="192024"/>
          </a:xfrm>
          <a:custGeom>
            <a:avLst/>
            <a:gdLst/>
            <a:ahLst/>
            <a:cxnLst/>
            <a:rect l="0" t="0" r="r" b="b"/>
            <a:pathLst>
              <a:path w="1173480" h="192024" fill="none">
                <a:moveTo>
                  <a:pt x="0" y="0"/>
                </a:moveTo>
                <a:lnTo>
                  <a:pt x="497840" y="0"/>
                </a:lnTo>
                <a:lnTo>
                  <a:pt x="497840" y="192024"/>
                </a:lnTo>
                <a:lnTo>
                  <a:pt x="1173480" y="192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3876040" y="4605020"/>
            <a:ext cx="1173480" cy="696976"/>
          </a:xfrm>
          <a:custGeom>
            <a:avLst/>
            <a:gdLst/>
            <a:ahLst/>
            <a:cxnLst/>
            <a:rect l="0" t="0" r="r" b="b"/>
            <a:pathLst>
              <a:path w="1173480" h="696976" fill="none">
                <a:moveTo>
                  <a:pt x="0" y="696976"/>
                </a:moveTo>
                <a:lnTo>
                  <a:pt x="497840" y="696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4"/>
          <p:cNvSpPr/>
          <p:nvPr/>
        </p:nvSpPr>
        <p:spPr>
          <a:xfrm>
            <a:off x="3876040" y="4605020"/>
            <a:ext cx="1173480" cy="1585976"/>
          </a:xfrm>
          <a:custGeom>
            <a:avLst/>
            <a:gdLst/>
            <a:ahLst/>
            <a:cxnLst/>
            <a:rect l="0" t="0" r="r" b="b"/>
            <a:pathLst>
              <a:path w="1173480" h="1585976" fill="none">
                <a:moveTo>
                  <a:pt x="0" y="1585976"/>
                </a:moveTo>
                <a:lnTo>
                  <a:pt x="497840" y="1585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6"/>
          <p:cNvSpPr/>
          <p:nvPr/>
        </p:nvSpPr>
        <p:spPr>
          <a:xfrm>
            <a:off x="9174480" y="4569460"/>
            <a:ext cx="1066800" cy="35560"/>
          </a:xfrm>
          <a:custGeom>
            <a:avLst/>
            <a:gdLst/>
            <a:ahLst/>
            <a:cxnLst/>
            <a:rect l="0" t="0" r="r" b="b"/>
            <a:pathLst>
              <a:path w="1066800" h="35560" fill="none">
                <a:moveTo>
                  <a:pt x="0" y="3556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8"/>
          <p:cNvSpPr/>
          <p:nvPr/>
        </p:nvSpPr>
        <p:spPr>
          <a:xfrm>
            <a:off x="11148060" y="5067300"/>
            <a:ext cx="160020" cy="853440"/>
          </a:xfrm>
          <a:custGeom>
            <a:avLst/>
            <a:gdLst/>
            <a:ahLst/>
            <a:cxnLst/>
            <a:rect l="0" t="0" r="r" b="b"/>
            <a:pathLst>
              <a:path w="160020" h="853440" fill="none">
                <a:moveTo>
                  <a:pt x="16002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20: 当前时钟与事件：SoC 主域、异步入口、FPGA DDR 域"/>
          <p:cNvSpPr txBox="1"/>
          <p:nvPr/>
        </p:nvSpPr>
        <p:spPr>
          <a:xfrm>
            <a:off x="483616" y="1071209"/>
            <a:ext cx="6772046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当前时钟与事件：SoC 主域、异步入口、FPGA DDR 域</a:t>
            </a:r>
          </a:p>
        </p:txBody>
      </p:sp>
      <p:sp>
        <p:nvSpPr>
          <p:cNvPr id="14" name="text-021: 时钟域由真实连接划分；UART / SPI / I2C 的分频节拍不自动成为独立"/>
          <p:cNvSpPr txBox="1"/>
          <p:nvPr/>
        </p:nvSpPr>
        <p:spPr>
          <a:xfrm>
            <a:off x="483616" y="1476878"/>
            <a:ext cx="708284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时钟域由真实连接划分；UART / SPI / I2C 的分频节拍不自动成为独立 SoC 输入时钟。</a:t>
            </a:r>
          </a:p>
        </p:txBody>
      </p:sp>
      <p:sp>
        <p:nvSpPr>
          <p:cNvPr id="15" name="text-022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3: 源码：cheshire_soc.sv；target/xilinx/src/dra"/>
          <p:cNvSpPr txBox="1"/>
          <p:nvPr/>
        </p:nvSpPr>
        <p:spPr>
          <a:xfrm>
            <a:off x="341376" y="8526577"/>
            <a:ext cx="693420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源码：cheshire_soc.sv；target/xilinx/src/dram_wrapper_xilinx.sv；各外设同步逻辑</a:t>
            </a:r>
          </a:p>
        </p:txBody>
      </p:sp>
      <p:sp>
        <p:nvSpPr>
          <p:cNvPr id="17" name="text-024: clk_i / rst_ni：SoC 主时钟域"/>
          <p:cNvSpPr txBox="1"/>
          <p:nvPr/>
        </p:nvSpPr>
        <p:spPr>
          <a:xfrm>
            <a:off x="4821936" y="2172716"/>
            <a:ext cx="314706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clk_i / rst_ni：SoC 主时钟域</a:t>
            </a:r>
          </a:p>
        </p:txBody>
      </p:sp>
      <p:sp>
        <p:nvSpPr>
          <p:cNvPr id="18" name="rect-025"/>
          <p:cNvSpPr/>
          <p:nvPr/>
        </p:nvSpPr>
        <p:spPr>
          <a:xfrm>
            <a:off x="5049520" y="4036060"/>
            <a:ext cx="41249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-026"/>
          <p:cNvSpPr/>
          <p:nvPr/>
        </p:nvSpPr>
        <p:spPr>
          <a:xfrm>
            <a:off x="5049520" y="403606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-027: CVA6 / Ara / AXI / LLC / Reg"/>
          <p:cNvSpPr txBox="1"/>
          <p:nvPr/>
        </p:nvSpPr>
        <p:spPr>
          <a:xfrm>
            <a:off x="5170424" y="4063939"/>
            <a:ext cx="35503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/ Ara / AXI / LLC / Reg</a:t>
            </a:r>
          </a:p>
        </p:txBody>
      </p:sp>
      <p:sp>
        <p:nvSpPr>
          <p:cNvPr id="21" name="text-028: LLC 下游 AXI 仍属于 clk_i"/>
          <p:cNvSpPr txBox="1"/>
          <p:nvPr/>
        </p:nvSpPr>
        <p:spPr>
          <a:xfrm>
            <a:off x="5170424" y="4335333"/>
            <a:ext cx="268833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仍属于 clk_i</a:t>
            </a:r>
          </a:p>
        </p:txBody>
      </p:sp>
      <p:sp>
        <p:nvSpPr>
          <p:cNvPr id="22" name="text-029: 外设状态机在其实际连接域运行"/>
          <p:cNvSpPr txBox="1"/>
          <p:nvPr/>
        </p:nvSpPr>
        <p:spPr>
          <a:xfrm>
            <a:off x="5170424" y="4548693"/>
            <a:ext cx="256032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外设状态机在其实际连接域运行</a:t>
            </a:r>
          </a:p>
        </p:txBody>
      </p:sp>
      <p:sp>
        <p:nvSpPr>
          <p:cNvPr id="23" name="text-030: DM ndmreset_o 在本 SoC 未连接"/>
          <p:cNvSpPr txBox="1"/>
          <p:nvPr/>
        </p:nvSpPr>
        <p:spPr>
          <a:xfrm>
            <a:off x="5170424" y="4762053"/>
            <a:ext cx="313212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 ndmreset_o 在本 SoC 未连接</a:t>
            </a:r>
          </a:p>
        </p:txBody>
      </p:sp>
      <p:sp>
        <p:nvSpPr>
          <p:cNvPr id="24" name="rect-031"/>
          <p:cNvSpPr/>
          <p:nvPr/>
        </p:nvSpPr>
        <p:spPr>
          <a:xfrm>
            <a:off x="426720" y="2293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32"/>
          <p:cNvSpPr/>
          <p:nvPr/>
        </p:nvSpPr>
        <p:spPr>
          <a:xfrm>
            <a:off x="426720" y="2293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3: rtc_i"/>
          <p:cNvSpPr txBox="1"/>
          <p:nvPr/>
        </p:nvSpPr>
        <p:spPr>
          <a:xfrm>
            <a:off x="547624" y="2321499"/>
            <a:ext cx="78587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27" name="text-034: CLINT 同步后计数"/>
          <p:cNvSpPr txBox="1"/>
          <p:nvPr/>
        </p:nvSpPr>
        <p:spPr>
          <a:xfrm>
            <a:off x="547624" y="2608255"/>
            <a:ext cx="154899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同步后计数</a:t>
            </a:r>
          </a:p>
        </p:txBody>
      </p:sp>
      <p:sp>
        <p:nvSpPr>
          <p:cNvPr id="28" name="rect-035"/>
          <p:cNvSpPr/>
          <p:nvPr/>
        </p:nvSpPr>
        <p:spPr>
          <a:xfrm>
            <a:off x="426720" y="3182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6"/>
          <p:cNvSpPr/>
          <p:nvPr/>
        </p:nvSpPr>
        <p:spPr>
          <a:xfrm>
            <a:off x="426720" y="3182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7: JTAG tck / trst_n"/>
          <p:cNvSpPr txBox="1"/>
          <p:nvPr/>
        </p:nvSpPr>
        <p:spPr>
          <a:xfrm>
            <a:off x="547624" y="3210499"/>
            <a:ext cx="222819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JTAG tck / trst_n</a:t>
            </a:r>
          </a:p>
        </p:txBody>
      </p:sp>
      <p:sp>
        <p:nvSpPr>
          <p:cNvPr id="31" name="text-038: DTM → DMI 跨域"/>
          <p:cNvSpPr txBox="1"/>
          <p:nvPr/>
        </p:nvSpPr>
        <p:spPr>
          <a:xfrm>
            <a:off x="547624" y="3497255"/>
            <a:ext cx="154117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DTM → DMI 跨域</a:t>
            </a:r>
          </a:p>
        </p:txBody>
      </p:sp>
      <p:sp>
        <p:nvSpPr>
          <p:cNvPr id="32" name="rect-039"/>
          <p:cNvSpPr/>
          <p:nvPr/>
        </p:nvSpPr>
        <p:spPr>
          <a:xfrm>
            <a:off x="426720" y="4071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40"/>
          <p:cNvSpPr/>
          <p:nvPr/>
        </p:nvSpPr>
        <p:spPr>
          <a:xfrm>
            <a:off x="426720" y="4071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41: Serial Link RX clock"/>
          <p:cNvSpPr txBox="1"/>
          <p:nvPr/>
        </p:nvSpPr>
        <p:spPr>
          <a:xfrm>
            <a:off x="547624" y="4099499"/>
            <a:ext cx="258876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Serial Link RX clock</a:t>
            </a:r>
          </a:p>
        </p:txBody>
      </p:sp>
      <p:sp>
        <p:nvSpPr>
          <p:cNvPr id="35" name="text-042: 源同步接收与跨域 FIFO"/>
          <p:cNvSpPr txBox="1"/>
          <p:nvPr/>
        </p:nvSpPr>
        <p:spPr>
          <a:xfrm>
            <a:off x="547624" y="4386255"/>
            <a:ext cx="191668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源同步接收与跨域 FIFO</a:t>
            </a:r>
          </a:p>
        </p:txBody>
      </p:sp>
      <p:sp>
        <p:nvSpPr>
          <p:cNvPr id="36" name="rect-043"/>
          <p:cNvSpPr/>
          <p:nvPr/>
        </p:nvSpPr>
        <p:spPr>
          <a:xfrm>
            <a:off x="426720" y="4960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4"/>
          <p:cNvSpPr/>
          <p:nvPr/>
        </p:nvSpPr>
        <p:spPr>
          <a:xfrm>
            <a:off x="426720" y="4960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5: USB PHY clock/reset"/>
          <p:cNvSpPr txBox="1"/>
          <p:nvPr/>
        </p:nvSpPr>
        <p:spPr>
          <a:xfrm>
            <a:off x="547624" y="4988499"/>
            <a:ext cx="246857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USB PHY clock/reset</a:t>
            </a:r>
          </a:p>
        </p:txBody>
      </p:sp>
      <p:sp>
        <p:nvSpPr>
          <p:cNvPr id="39" name="text-046: PHY 域与系统逻辑"/>
          <p:cNvSpPr txBox="1"/>
          <p:nvPr/>
        </p:nvSpPr>
        <p:spPr>
          <a:xfrm>
            <a:off x="547624" y="5275255"/>
            <a:ext cx="150205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PHY 域与系统逻辑</a:t>
            </a:r>
          </a:p>
        </p:txBody>
      </p:sp>
      <p:sp>
        <p:nvSpPr>
          <p:cNvPr id="40" name="rect-047"/>
          <p:cNvSpPr/>
          <p:nvPr/>
        </p:nvSpPr>
        <p:spPr>
          <a:xfrm>
            <a:off x="426720" y="5849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8"/>
          <p:cNvSpPr/>
          <p:nvPr/>
        </p:nvSpPr>
        <p:spPr>
          <a:xfrm>
            <a:off x="426720" y="5849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9: GPIO / 外部 IRQ"/>
          <p:cNvSpPr txBox="1"/>
          <p:nvPr/>
        </p:nvSpPr>
        <p:spPr>
          <a:xfrm>
            <a:off x="547624" y="5877499"/>
            <a:ext cx="187685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GPIO / 外部 IRQ</a:t>
            </a:r>
          </a:p>
        </p:txBody>
      </p:sp>
      <p:sp>
        <p:nvSpPr>
          <p:cNvPr id="43" name="text-050: 按配置同步 → 中断控制"/>
          <p:cNvSpPr txBox="1"/>
          <p:nvPr/>
        </p:nvSpPr>
        <p:spPr>
          <a:xfrm>
            <a:off x="547624" y="6164255"/>
            <a:ext cx="1924507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按配置同步 → 中断控制</a:t>
            </a:r>
          </a:p>
        </p:txBody>
      </p:sp>
      <p:sp>
        <p:nvSpPr>
          <p:cNvPr id="44" name="rect-051"/>
          <p:cNvSpPr/>
          <p:nvPr/>
        </p:nvSpPr>
        <p:spPr>
          <a:xfrm>
            <a:off x="10241280" y="4071620"/>
            <a:ext cx="2133600" cy="995680"/>
          </a:xfrm>
          <a:prstGeom prst="roundRect">
            <a:avLst>
              <a:gd name="adj" fmla="val 5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52"/>
          <p:cNvSpPr/>
          <p:nvPr/>
        </p:nvSpPr>
        <p:spPr>
          <a:xfrm>
            <a:off x="10241280" y="4071620"/>
            <a:ext cx="35560" cy="9956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53: AXI CDC"/>
          <p:cNvSpPr txBox="1"/>
          <p:nvPr/>
        </p:nvSpPr>
        <p:spPr>
          <a:xfrm>
            <a:off x="10362184" y="4099499"/>
            <a:ext cx="102626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AXI CDC</a:t>
            </a:r>
          </a:p>
        </p:txBody>
      </p:sp>
      <p:sp>
        <p:nvSpPr>
          <p:cNvPr id="47" name="text-054: FPGA 平台"/>
          <p:cNvSpPr txBox="1"/>
          <p:nvPr/>
        </p:nvSpPr>
        <p:spPr>
          <a:xfrm>
            <a:off x="10362184" y="4370893"/>
            <a:ext cx="106680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FPGA 平台</a:t>
            </a:r>
          </a:p>
        </p:txBody>
      </p:sp>
      <p:sp>
        <p:nvSpPr>
          <p:cNvPr id="48" name="text-055: 跨域事务队列"/>
          <p:cNvSpPr txBox="1"/>
          <p:nvPr/>
        </p:nvSpPr>
        <p:spPr>
          <a:xfrm>
            <a:off x="10362184" y="458425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跨域事务队列</a:t>
            </a:r>
          </a:p>
        </p:txBody>
      </p:sp>
      <p:sp>
        <p:nvSpPr>
          <p:cNvPr id="49" name="rect-056"/>
          <p:cNvSpPr/>
          <p:nvPr/>
        </p:nvSpPr>
        <p:spPr>
          <a:xfrm>
            <a:off x="9885680" y="5920740"/>
            <a:ext cx="252476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-057"/>
          <p:cNvSpPr/>
          <p:nvPr/>
        </p:nvSpPr>
        <p:spPr>
          <a:xfrm>
            <a:off x="9885680" y="592074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58: MIG UI clock 域"/>
          <p:cNvSpPr txBox="1"/>
          <p:nvPr/>
        </p:nvSpPr>
        <p:spPr>
          <a:xfrm>
            <a:off x="10006584" y="5948619"/>
            <a:ext cx="193233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MIG UI clock 域</a:t>
            </a:r>
          </a:p>
        </p:txBody>
      </p:sp>
      <p:sp>
        <p:nvSpPr>
          <p:cNvPr id="52" name="text-059: DDR 控制器 / PHY"/>
          <p:cNvSpPr txBox="1"/>
          <p:nvPr/>
        </p:nvSpPr>
        <p:spPr>
          <a:xfrm>
            <a:off x="10006584" y="6220013"/>
            <a:ext cx="179222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控制器 / PHY</a:t>
            </a:r>
          </a:p>
        </p:txBody>
      </p:sp>
      <p:sp>
        <p:nvSpPr>
          <p:cNvPr id="53" name="text-060: 平台复位与校准"/>
          <p:cNvSpPr txBox="1"/>
          <p:nvPr/>
        </p:nvSpPr>
        <p:spPr>
          <a:xfrm>
            <a:off x="10006584" y="643337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平台复位与校准</a:t>
            </a:r>
          </a:p>
        </p:txBody>
      </p:sp>
      <p:sp>
        <p:nvSpPr>
          <p:cNvPr id="54" name="rect-061"/>
          <p:cNvSpPr/>
          <p:nvPr/>
        </p:nvSpPr>
        <p:spPr>
          <a:xfrm>
            <a:off x="426720" y="7378700"/>
            <a:ext cx="1194816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-062"/>
          <p:cNvSpPr/>
          <p:nvPr/>
        </p:nvSpPr>
        <p:spPr>
          <a:xfrm>
            <a:off x="426720" y="737870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-063: 跨域不是只给信号加寄存器"/>
          <p:cNvSpPr txBox="1"/>
          <p:nvPr/>
        </p:nvSpPr>
        <p:spPr>
          <a:xfrm>
            <a:off x="547624" y="7406579"/>
            <a:ext cx="240385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跨域不是只给信号加寄存器</a:t>
            </a:r>
          </a:p>
        </p:txBody>
      </p:sp>
      <p:sp>
        <p:nvSpPr>
          <p:cNvPr id="57" name="text-064: 单比特事件、计数、多位数据和 AXI 事务需不同同步契约；FIFO / CDC "/>
          <p:cNvSpPr txBox="1"/>
          <p:nvPr/>
        </p:nvSpPr>
        <p:spPr>
          <a:xfrm>
            <a:off x="547624" y="7693335"/>
            <a:ext cx="772932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单比特事件、计数、多位数据和 AXI 事务需不同同步契约；FIFO / CDC 的两侧复位还需协调在途事务。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769360" y="3147060"/>
            <a:ext cx="1066800" cy="497840"/>
          </a:xfrm>
          <a:custGeom>
            <a:avLst/>
            <a:gdLst/>
            <a:ahLst/>
            <a:cxnLst/>
            <a:rect l="0" t="0" r="r" b="b"/>
            <a:pathLst>
              <a:path w="1066800" h="497840" fill="none">
                <a:moveTo>
                  <a:pt x="0" y="497840"/>
                </a:moveTo>
                <a:lnTo>
                  <a:pt x="497840" y="497840"/>
                </a:lnTo>
                <a:lnTo>
                  <a:pt x="497840" y="0"/>
                </a:ln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3769360" y="2080260"/>
            <a:ext cx="6877304" cy="853440"/>
          </a:xfrm>
          <a:custGeom>
            <a:avLst/>
            <a:gdLst/>
            <a:ahLst/>
            <a:cxnLst/>
            <a:rect l="0" t="0" r="r" b="b"/>
            <a:pathLst>
              <a:path w="6877304" h="853440" fill="none">
                <a:moveTo>
                  <a:pt x="0" y="853440"/>
                </a:moveTo>
                <a:lnTo>
                  <a:pt x="320040" y="853440"/>
                </a:lnTo>
                <a:lnTo>
                  <a:pt x="320040" y="0"/>
                </a:lnTo>
                <a:lnTo>
                  <a:pt x="6877304" y="0"/>
                </a:lnTo>
                <a:lnTo>
                  <a:pt x="6877304" y="28448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3769360" y="5067300"/>
            <a:ext cx="1066800" cy="853440"/>
          </a:xfrm>
          <a:custGeom>
            <a:avLst/>
            <a:gdLst/>
            <a:ahLst/>
            <a:cxnLst/>
            <a:rect l="0" t="0" r="r" b="b"/>
            <a:pathLst>
              <a:path w="1066800" h="853440" fill="none">
                <a:moveTo>
                  <a:pt x="0" y="0"/>
                </a:moveTo>
                <a:lnTo>
                  <a:pt x="497840" y="0"/>
                </a:lnTo>
                <a:lnTo>
                  <a:pt x="497840" y="853440"/>
                </a:lnTo>
                <a:lnTo>
                  <a:pt x="1066800" y="85344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3769360" y="6134100"/>
            <a:ext cx="6877304" cy="889000"/>
          </a:xfrm>
          <a:custGeom>
            <a:avLst/>
            <a:gdLst/>
            <a:ahLst/>
            <a:cxnLst/>
            <a:rect l="0" t="0" r="r" b="b"/>
            <a:pathLst>
              <a:path w="6877304" h="889000" fill="none">
                <a:moveTo>
                  <a:pt x="0" y="0"/>
                </a:moveTo>
                <a:lnTo>
                  <a:pt x="320040" y="0"/>
                </a:lnTo>
                <a:lnTo>
                  <a:pt x="320040" y="889000"/>
                </a:lnTo>
                <a:lnTo>
                  <a:pt x="6877304" y="889000"/>
                </a:lnTo>
                <a:lnTo>
                  <a:pt x="6877304" y="5689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13: 未来 ASIC：时钟、复位、电源分别划分责任"/>
          <p:cNvSpPr txBox="1"/>
          <p:nvPr/>
        </p:nvSpPr>
        <p:spPr>
          <a:xfrm>
            <a:off x="483616" y="1071209"/>
            <a:ext cx="5440680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ASIC：时钟、复位、电源分别划分责任</a:t>
            </a:r>
          </a:p>
        </p:txBody>
      </p:sp>
      <p:sp>
        <p:nvSpPr>
          <p:cNvPr id="10" name="text-014: 下列域为候选边界；具体频率、电压、PLL 数量和电源意图尚未冻结。"/>
          <p:cNvSpPr txBox="1"/>
          <p:nvPr/>
        </p:nvSpPr>
        <p:spPr>
          <a:xfrm>
            <a:off x="483616" y="1476878"/>
            <a:ext cx="533257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下列域为候选边界；具体频率、电压、PLL 数量和电源意图尚未冻结。</a:t>
            </a:r>
          </a:p>
        </p:txBody>
      </p:sp>
      <p:sp>
        <p:nvSpPr>
          <p:cNvPr id="11" name="text-015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2" name="text-016: 依据：平台启动与配置约定；工艺/IP 交付待确认"/>
          <p:cNvSpPr txBox="1"/>
          <p:nvPr/>
        </p:nvSpPr>
        <p:spPr>
          <a:xfrm>
            <a:off x="341376" y="8526577"/>
            <a:ext cx="3356864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依据：平台启动与配置约定；工艺/IP 交付待确认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2364740"/>
            <a:ext cx="3378200" cy="4373880"/>
          </a:xfrm>
          <a:prstGeom prst="roundRect">
            <a:avLst>
              <a:gd name="adj" fmla="val 147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-018"/>
          <p:cNvSpPr/>
          <p:nvPr/>
        </p:nvSpPr>
        <p:spPr>
          <a:xfrm>
            <a:off x="391160" y="2364740"/>
            <a:ext cx="35560" cy="4373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9: 常开控制候选域"/>
          <p:cNvSpPr txBox="1"/>
          <p:nvPr/>
        </p:nvSpPr>
        <p:spPr>
          <a:xfrm>
            <a:off x="512064" y="2392619"/>
            <a:ext cx="147929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常开控制候选域</a:t>
            </a:r>
          </a:p>
        </p:txBody>
      </p:sp>
      <p:sp>
        <p:nvSpPr>
          <p:cNvPr id="16" name="text-020: 参考时钟 / 安全启动源"/>
          <p:cNvSpPr txBox="1"/>
          <p:nvPr/>
        </p:nvSpPr>
        <p:spPr>
          <a:xfrm>
            <a:off x="512064" y="2664013"/>
            <a:ext cx="20397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 / 安全启动源</a:t>
            </a:r>
          </a:p>
        </p:txBody>
      </p:sp>
      <p:sp>
        <p:nvSpPr>
          <p:cNvPr id="17" name="text-021: PLL lock 同步与切换策略"/>
          <p:cNvSpPr txBox="1"/>
          <p:nvPr/>
        </p:nvSpPr>
        <p:spPr>
          <a:xfrm>
            <a:off x="512064" y="2877373"/>
            <a:ext cx="2364029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 lock 同步与切换策略</a:t>
            </a:r>
          </a:p>
        </p:txBody>
      </p:sp>
      <p:sp>
        <p:nvSpPr>
          <p:cNvPr id="18" name="text-022: 复位原因 / 超时 / 故障回退"/>
          <p:cNvSpPr txBox="1"/>
          <p:nvPr/>
        </p:nvSpPr>
        <p:spPr>
          <a:xfrm>
            <a:off x="512064" y="3090733"/>
            <a:ext cx="254325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复位原因 / 超时 / 故障回退</a:t>
            </a:r>
          </a:p>
        </p:txBody>
      </p:sp>
      <p:sp>
        <p:nvSpPr>
          <p:cNvPr id="19" name="text-023: 门控、隔离与保持控制"/>
          <p:cNvSpPr txBox="1"/>
          <p:nvPr/>
        </p:nvSpPr>
        <p:spPr>
          <a:xfrm>
            <a:off x="512064" y="330409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门控、隔离与保持控制</a:t>
            </a:r>
          </a:p>
        </p:txBody>
      </p:sp>
      <p:sp>
        <p:nvSpPr>
          <p:cNvPr id="20" name="text-024: 固件可重复访问的配置接口"/>
          <p:cNvSpPr txBox="1"/>
          <p:nvPr/>
        </p:nvSpPr>
        <p:spPr>
          <a:xfrm>
            <a:off x="512064" y="351745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固件可重复访问的配置接口</a:t>
            </a:r>
          </a:p>
        </p:txBody>
      </p:sp>
      <p:sp>
        <p:nvSpPr>
          <p:cNvPr id="21" name="rect-025"/>
          <p:cNvSpPr/>
          <p:nvPr/>
        </p:nvSpPr>
        <p:spPr>
          <a:xfrm>
            <a:off x="4836160" y="23647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-026"/>
          <p:cNvSpPr/>
          <p:nvPr/>
        </p:nvSpPr>
        <p:spPr>
          <a:xfrm>
            <a:off x="4836160" y="2364740"/>
            <a:ext cx="35560" cy="15646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-027: CPU / Ara / SRAM"/>
          <p:cNvSpPr txBox="1"/>
          <p:nvPr/>
        </p:nvSpPr>
        <p:spPr>
          <a:xfrm>
            <a:off x="4957064" y="2392619"/>
            <a:ext cx="210799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SRAM</a:t>
            </a:r>
          </a:p>
        </p:txBody>
      </p:sp>
      <p:sp>
        <p:nvSpPr>
          <p:cNvPr id="24" name="text-028: 同域或分域由时序与功耗决定"/>
          <p:cNvSpPr txBox="1"/>
          <p:nvPr/>
        </p:nvSpPr>
        <p:spPr>
          <a:xfrm>
            <a:off x="4957064" y="2664013"/>
            <a:ext cx="238963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同域或分域由时序与功耗决定</a:t>
            </a:r>
          </a:p>
        </p:txBody>
      </p:sp>
      <p:sp>
        <p:nvSpPr>
          <p:cNvPr id="25" name="text-029: SRAM 宏与复位策略配套"/>
          <p:cNvSpPr txBox="1"/>
          <p:nvPr/>
        </p:nvSpPr>
        <p:spPr>
          <a:xfrm>
            <a:off x="4957064" y="2877373"/>
            <a:ext cx="20909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宏与复位策略配套</a:t>
            </a:r>
          </a:p>
        </p:txBody>
      </p:sp>
      <p:sp>
        <p:nvSpPr>
          <p:cNvPr id="26" name="rect-030"/>
          <p:cNvSpPr/>
          <p:nvPr/>
        </p:nvSpPr>
        <p:spPr>
          <a:xfrm>
            <a:off x="8890000" y="23647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1"/>
          <p:cNvSpPr/>
          <p:nvPr/>
        </p:nvSpPr>
        <p:spPr>
          <a:xfrm>
            <a:off x="8890000" y="2364740"/>
            <a:ext cx="35560" cy="15646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2: DDR CTRL / PHY"/>
          <p:cNvSpPr txBox="1"/>
          <p:nvPr/>
        </p:nvSpPr>
        <p:spPr>
          <a:xfrm>
            <a:off x="9010904" y="2392619"/>
            <a:ext cx="18676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DDR CTRL / PHY</a:t>
            </a:r>
          </a:p>
        </p:txBody>
      </p:sp>
      <p:sp>
        <p:nvSpPr>
          <p:cNvPr id="29" name="text-033: 参考时钟与训练 / 校准"/>
          <p:cNvSpPr txBox="1"/>
          <p:nvPr/>
        </p:nvSpPr>
        <p:spPr>
          <a:xfrm>
            <a:off x="9010904" y="2664013"/>
            <a:ext cx="20397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参考时钟与训练 / 校准</a:t>
            </a:r>
          </a:p>
        </p:txBody>
      </p:sp>
      <p:sp>
        <p:nvSpPr>
          <p:cNvPr id="30" name="text-034: init done 后允许新内存事务"/>
          <p:cNvSpPr txBox="1"/>
          <p:nvPr/>
        </p:nvSpPr>
        <p:spPr>
          <a:xfrm>
            <a:off x="9010904" y="2877373"/>
            <a:ext cx="264566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init done 后允许新内存事务</a:t>
            </a:r>
          </a:p>
        </p:txBody>
      </p:sp>
      <p:sp>
        <p:nvSpPr>
          <p:cNvPr id="31" name="rect-035"/>
          <p:cNvSpPr/>
          <p:nvPr/>
        </p:nvSpPr>
        <p:spPr>
          <a:xfrm>
            <a:off x="4836160" y="51384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-036"/>
          <p:cNvSpPr/>
          <p:nvPr/>
        </p:nvSpPr>
        <p:spPr>
          <a:xfrm>
            <a:off x="4836160" y="51384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37: NPU / ISP 候选域"/>
          <p:cNvSpPr txBox="1"/>
          <p:nvPr/>
        </p:nvSpPr>
        <p:spPr>
          <a:xfrm>
            <a:off x="4957064" y="5166299"/>
            <a:ext cx="194157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候选域</a:t>
            </a:r>
          </a:p>
        </p:txBody>
      </p:sp>
      <p:sp>
        <p:nvSpPr>
          <p:cNvPr id="34" name="text-038: 跨域 FIFO / AXI CDC"/>
          <p:cNvSpPr txBox="1"/>
          <p:nvPr/>
        </p:nvSpPr>
        <p:spPr>
          <a:xfrm>
            <a:off x="4957064" y="5437693"/>
            <a:ext cx="217627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 FIFO / AXI CDC</a:t>
            </a:r>
          </a:p>
        </p:txBody>
      </p:sp>
      <p:sp>
        <p:nvSpPr>
          <p:cNvPr id="35" name="text-039: 停发、排空、隔离与状态恢复"/>
          <p:cNvSpPr txBox="1"/>
          <p:nvPr/>
        </p:nvSpPr>
        <p:spPr>
          <a:xfrm>
            <a:off x="4957064" y="5651053"/>
            <a:ext cx="238963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停发、排空、隔离与状态恢复</a:t>
            </a:r>
          </a:p>
        </p:txBody>
      </p:sp>
      <p:sp>
        <p:nvSpPr>
          <p:cNvPr id="36" name="rect-040"/>
          <p:cNvSpPr/>
          <p:nvPr/>
        </p:nvSpPr>
        <p:spPr>
          <a:xfrm>
            <a:off x="8890000" y="51384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1"/>
          <p:cNvSpPr/>
          <p:nvPr/>
        </p:nvSpPr>
        <p:spPr>
          <a:xfrm>
            <a:off x="8890000" y="51384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2: PAD / LVDS / 外部 IO"/>
          <p:cNvSpPr txBox="1"/>
          <p:nvPr/>
        </p:nvSpPr>
        <p:spPr>
          <a:xfrm>
            <a:off x="9010904" y="5166299"/>
            <a:ext cx="247782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PAD / LVDS / 外部 IO</a:t>
            </a:r>
          </a:p>
        </p:txBody>
      </p:sp>
      <p:sp>
        <p:nvSpPr>
          <p:cNvPr id="39" name="text-043: 电平与源同步采样"/>
          <p:cNvSpPr txBox="1"/>
          <p:nvPr/>
        </p:nvSpPr>
        <p:spPr>
          <a:xfrm>
            <a:off x="9010904" y="543769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电平与源同步采样</a:t>
            </a:r>
          </a:p>
        </p:txBody>
      </p:sp>
      <p:sp>
        <p:nvSpPr>
          <p:cNvPr id="40" name="text-044: CDC / RDC 与引脚约束"/>
          <p:cNvSpPr txBox="1"/>
          <p:nvPr/>
        </p:nvSpPr>
        <p:spPr>
          <a:xfrm>
            <a:off x="9010904" y="5651053"/>
            <a:ext cx="213360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 与引脚约束</a:t>
            </a:r>
          </a:p>
        </p:txBody>
      </p:sp>
      <p:sp>
        <p:nvSpPr>
          <p:cNvPr id="41" name="rect-045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6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7: 域边界交付需要成套证据"/>
          <p:cNvSpPr txBox="1"/>
          <p:nvPr/>
        </p:nvSpPr>
        <p:spPr>
          <a:xfrm>
            <a:off x="512064" y="7335459"/>
            <a:ext cx="221894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域边界交付需要成套证据</a:t>
            </a:r>
          </a:p>
        </p:txBody>
      </p:sp>
      <p:sp>
        <p:nvSpPr>
          <p:cNvPr id="44" name="text-048: 时钟约束 + 复位时序 + CDC/RDC + 电源意图/库单元 + 固件控制 "/>
          <p:cNvSpPr txBox="1"/>
          <p:nvPr/>
        </p:nvSpPr>
        <p:spPr>
          <a:xfrm>
            <a:off x="512064" y="7622215"/>
            <a:ext cx="875416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时钟约束 + 复位时序 + CDC/RDC + 电源意图/库单元 + 固件控制 + 故障恢复测试；图中候选域不是已实现电源域。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55600" y="2115820"/>
            <a:ext cx="3129280" cy="4622800"/>
          </a:xfrm>
          <a:prstGeom prst="roundRect">
            <a:avLst>
              <a:gd name="adj" fmla="val 2727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9245600" y="2115820"/>
            <a:ext cx="3200400" cy="462280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1920240" y="36449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10845800" y="36449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3484880" y="279146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0" y="0"/>
                </a:moveTo>
                <a:lnTo>
                  <a:pt x="57607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3484880" y="346710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5"/>
          <p:cNvSpPr/>
          <p:nvPr/>
        </p:nvSpPr>
        <p:spPr>
          <a:xfrm>
            <a:off x="3484880" y="414274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7"/>
          <p:cNvSpPr/>
          <p:nvPr/>
        </p:nvSpPr>
        <p:spPr>
          <a:xfrm>
            <a:off x="3484880" y="481838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19"/>
          <p:cNvSpPr/>
          <p:nvPr/>
        </p:nvSpPr>
        <p:spPr>
          <a:xfrm>
            <a:off x="7112000" y="6134100"/>
            <a:ext cx="3733800" cy="1137920"/>
          </a:xfrm>
          <a:custGeom>
            <a:avLst/>
            <a:gdLst/>
            <a:ahLst/>
            <a:cxnLst/>
            <a:rect l="0" t="0" r="r" b="b"/>
            <a:pathLst>
              <a:path w="3733800" h="1137920" fill="none">
                <a:moveTo>
                  <a:pt x="3733800" y="0"/>
                </a:moveTo>
                <a:lnTo>
                  <a:pt x="3733800" y="782320"/>
                </a:lnTo>
                <a:lnTo>
                  <a:pt x="0" y="782320"/>
                </a:lnTo>
                <a:lnTo>
                  <a:pt x="0" y="11379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-021: CVA6–Ara：控制协议与 AXI 数据通路分离"/>
          <p:cNvSpPr txBox="1"/>
          <p:nvPr/>
        </p:nvSpPr>
        <p:spPr>
          <a:xfrm>
            <a:off x="483616" y="1071209"/>
            <a:ext cx="5581498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CVA6–Ara：控制协议与 AXI 数据通路分离</a:t>
            </a:r>
          </a:p>
        </p:txBody>
      </p:sp>
      <p:sp>
        <p:nvSpPr>
          <p:cNvPr id="15" name="text-022: 当前 CvxifEn=0；名为 cvxif 的连接承载本地专用接口，不等于通用 "/>
          <p:cNvSpPr txBox="1"/>
          <p:nvPr/>
        </p:nvSpPr>
        <p:spPr>
          <a:xfrm>
            <a:off x="483616" y="1476878"/>
            <a:ext cx="690290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CvxifEn=0；名为 cvxif 的连接承载本地专用接口，不等于通用 CORE-V XIF。</a:t>
            </a:r>
          </a:p>
        </p:txBody>
      </p:sp>
      <p:sp>
        <p:nvSpPr>
          <p:cNvPr id="16" name="text-023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24: 源码：acc_dispatcher.sv；ara/intf_typedef.sv"/>
          <p:cNvSpPr txBox="1"/>
          <p:nvPr/>
        </p:nvSpPr>
        <p:spPr>
          <a:xfrm>
            <a:off x="341376" y="8526577"/>
            <a:ext cx="649325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源码：acc_dispatcher.sv；ara/intf_typedef.svh；cheshire_soc.sv::gen_ara</a:t>
            </a:r>
          </a:p>
        </p:txBody>
      </p:sp>
      <p:sp>
        <p:nvSpPr>
          <p:cNvPr id="18" name="text-025: CVA6 标量核"/>
          <p:cNvSpPr txBox="1"/>
          <p:nvPr/>
        </p:nvSpPr>
        <p:spPr>
          <a:xfrm>
            <a:off x="483616" y="2172716"/>
            <a:ext cx="12890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标量核</a:t>
            </a:r>
          </a:p>
        </p:txBody>
      </p:sp>
      <p:sp>
        <p:nvSpPr>
          <p:cNvPr id="19" name="text-026: Ara 向量单元"/>
          <p:cNvSpPr txBox="1"/>
          <p:nvPr/>
        </p:nvSpPr>
        <p:spPr>
          <a:xfrm>
            <a:off x="9373616" y="2172716"/>
            <a:ext cx="13512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向量单元</a:t>
            </a:r>
          </a:p>
        </p:txBody>
      </p:sp>
      <p:sp>
        <p:nvSpPr>
          <p:cNvPr id="20" name="rect-027"/>
          <p:cNvSpPr/>
          <p:nvPr/>
        </p:nvSpPr>
        <p:spPr>
          <a:xfrm>
            <a:off x="568960" y="2649220"/>
            <a:ext cx="2702560" cy="995680"/>
          </a:xfrm>
          <a:prstGeom prst="roundRect">
            <a:avLst>
              <a:gd name="adj" fmla="val 5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8"/>
          <p:cNvSpPr/>
          <p:nvPr/>
        </p:nvSpPr>
        <p:spPr>
          <a:xfrm>
            <a:off x="568960" y="2649220"/>
            <a:ext cx="35560" cy="9956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9: 译码 / scoreboard"/>
          <p:cNvSpPr txBox="1"/>
          <p:nvPr/>
        </p:nvSpPr>
        <p:spPr>
          <a:xfrm>
            <a:off x="689864" y="2677099"/>
            <a:ext cx="211724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译码 / scoreboard</a:t>
            </a:r>
          </a:p>
        </p:txBody>
      </p:sp>
      <p:sp>
        <p:nvSpPr>
          <p:cNvPr id="23" name="text-030: first-pass decoder"/>
          <p:cNvSpPr txBox="1"/>
          <p:nvPr/>
        </p:nvSpPr>
        <p:spPr>
          <a:xfrm>
            <a:off x="689864" y="2948493"/>
            <a:ext cx="216773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first-pass decoder</a:t>
            </a:r>
          </a:p>
        </p:txBody>
      </p:sp>
      <p:sp>
        <p:nvSpPr>
          <p:cNvPr id="24" name="text-031: trans_id 关联标量指令"/>
          <p:cNvSpPr txBox="1"/>
          <p:nvPr/>
        </p:nvSpPr>
        <p:spPr>
          <a:xfrm>
            <a:off x="689864" y="3161853"/>
            <a:ext cx="219334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trans_id 关联标量指令</a:t>
            </a:r>
          </a:p>
        </p:txBody>
      </p:sp>
      <p:sp>
        <p:nvSpPr>
          <p:cNvPr id="25" name="rect-032"/>
          <p:cNvSpPr/>
          <p:nvPr/>
        </p:nvSpPr>
        <p:spPr>
          <a:xfrm>
            <a:off x="568960" y="4747260"/>
            <a:ext cx="2702560" cy="1386840"/>
          </a:xfrm>
          <a:prstGeom prst="roundRect">
            <a:avLst>
              <a:gd name="adj" fmla="val 358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33"/>
          <p:cNvSpPr/>
          <p:nvPr/>
        </p:nvSpPr>
        <p:spPr>
          <a:xfrm>
            <a:off x="568960" y="4747260"/>
            <a:ext cx="35560" cy="13868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4: acc_dispatcher"/>
          <p:cNvSpPr txBox="1"/>
          <p:nvPr/>
        </p:nvSpPr>
        <p:spPr>
          <a:xfrm>
            <a:off x="689864" y="4775139"/>
            <a:ext cx="18676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acc_dispatcher</a:t>
            </a:r>
          </a:p>
        </p:txBody>
      </p:sp>
      <p:sp>
        <p:nvSpPr>
          <p:cNvPr id="28" name="text-035: 队列 / 非推测发出"/>
          <p:cNvSpPr txBox="1"/>
          <p:nvPr/>
        </p:nvSpPr>
        <p:spPr>
          <a:xfrm>
            <a:off x="689864" y="5046533"/>
            <a:ext cx="169834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 / 非推测发出</a:t>
            </a:r>
          </a:p>
        </p:txBody>
      </p:sp>
      <p:sp>
        <p:nvSpPr>
          <p:cNvPr id="29" name="text-036: pending 与完成等待"/>
          <p:cNvSpPr txBox="1"/>
          <p:nvPr/>
        </p:nvSpPr>
        <p:spPr>
          <a:xfrm>
            <a:off x="689864" y="5259893"/>
            <a:ext cx="191170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与完成等待</a:t>
            </a:r>
          </a:p>
        </p:txBody>
      </p:sp>
      <p:sp>
        <p:nvSpPr>
          <p:cNvPr id="30" name="text-037: CPU resp_ready 固定为 1"/>
          <p:cNvSpPr txBox="1"/>
          <p:nvPr/>
        </p:nvSpPr>
        <p:spPr>
          <a:xfrm>
            <a:off x="689864" y="5473253"/>
            <a:ext cx="256885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resp_ready 固定为 1</a:t>
            </a:r>
          </a:p>
        </p:txBody>
      </p:sp>
      <p:sp>
        <p:nvSpPr>
          <p:cNvPr id="31" name="rect-038"/>
          <p:cNvSpPr/>
          <p:nvPr/>
        </p:nvSpPr>
        <p:spPr>
          <a:xfrm>
            <a:off x="9458960" y="2649220"/>
            <a:ext cx="2773680" cy="99568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-039"/>
          <p:cNvSpPr/>
          <p:nvPr/>
        </p:nvSpPr>
        <p:spPr>
          <a:xfrm>
            <a:off x="9458960" y="2649220"/>
            <a:ext cx="35560" cy="9956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40: dispatcher / sequencer"/>
          <p:cNvSpPr txBox="1"/>
          <p:nvPr/>
        </p:nvSpPr>
        <p:spPr>
          <a:xfrm>
            <a:off x="9579864" y="2677099"/>
            <a:ext cx="28291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dispatcher / sequencer</a:t>
            </a:r>
          </a:p>
        </p:txBody>
      </p:sp>
      <p:sp>
        <p:nvSpPr>
          <p:cNvPr id="34" name="text-041: 完整译码、vl / vtype"/>
          <p:cNvSpPr txBox="1"/>
          <p:nvPr/>
        </p:nvSpPr>
        <p:spPr>
          <a:xfrm>
            <a:off x="9579864" y="2948493"/>
            <a:ext cx="213360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完整译码、vl / vtype</a:t>
            </a:r>
          </a:p>
        </p:txBody>
      </p:sp>
      <p:sp>
        <p:nvSpPr>
          <p:cNvPr id="35" name="text-042: 依赖与处理单元运行表"/>
          <p:cNvSpPr txBox="1"/>
          <p:nvPr/>
        </p:nvSpPr>
        <p:spPr>
          <a:xfrm>
            <a:off x="9579864" y="316185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依赖与处理单元运行表</a:t>
            </a:r>
          </a:p>
        </p:txBody>
      </p:sp>
      <p:sp>
        <p:nvSpPr>
          <p:cNvPr id="36" name="rect-043"/>
          <p:cNvSpPr/>
          <p:nvPr/>
        </p:nvSpPr>
        <p:spPr>
          <a:xfrm>
            <a:off x="9458960" y="4747260"/>
            <a:ext cx="2773680" cy="1386840"/>
          </a:xfrm>
          <a:prstGeom prst="roundRect">
            <a:avLst>
              <a:gd name="adj" fmla="val 358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4"/>
          <p:cNvSpPr/>
          <p:nvPr/>
        </p:nvSpPr>
        <p:spPr>
          <a:xfrm>
            <a:off x="9458960" y="4747260"/>
            <a:ext cx="35560" cy="13868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5: VRF / lanes / VLSU"/>
          <p:cNvSpPr txBox="1"/>
          <p:nvPr/>
        </p:nvSpPr>
        <p:spPr>
          <a:xfrm>
            <a:off x="9579864" y="4775139"/>
            <a:ext cx="234838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 / VLSU</a:t>
            </a:r>
          </a:p>
        </p:txBody>
      </p:sp>
      <p:sp>
        <p:nvSpPr>
          <p:cNvPr id="39" name="text-046: 算术在分布式 VRF 上执行"/>
          <p:cNvSpPr txBox="1"/>
          <p:nvPr/>
        </p:nvSpPr>
        <p:spPr>
          <a:xfrm>
            <a:off x="9579864" y="5046533"/>
            <a:ext cx="22616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算术在分布式 VRF 上执行</a:t>
            </a:r>
          </a:p>
        </p:txBody>
      </p:sp>
      <p:sp>
        <p:nvSpPr>
          <p:cNvPr id="40" name="text-047: 地址检查 / 可选 MMU 翻译"/>
          <p:cNvSpPr txBox="1"/>
          <p:nvPr/>
        </p:nvSpPr>
        <p:spPr>
          <a:xfrm>
            <a:off x="9579864" y="5259893"/>
            <a:ext cx="24237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地址检查 / 可选 MMU 翻译</a:t>
            </a:r>
          </a:p>
        </p:txBody>
      </p:sp>
      <p:sp>
        <p:nvSpPr>
          <p:cNvPr id="41" name="text-048: 独立 AXI 读写数据"/>
          <p:cNvSpPr txBox="1"/>
          <p:nvPr/>
        </p:nvSpPr>
        <p:spPr>
          <a:xfrm>
            <a:off x="9579864" y="5473253"/>
            <a:ext cx="174955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读写数据</a:t>
            </a:r>
          </a:p>
        </p:txBody>
      </p:sp>
      <p:sp>
        <p:nvSpPr>
          <p:cNvPr id="42" name="text-049: req_valid / insn / rs1 / rs2 / frm / tra"/>
          <p:cNvSpPr txBox="1"/>
          <p:nvPr/>
        </p:nvSpPr>
        <p:spPr>
          <a:xfrm>
            <a:off x="3963162" y="2494463"/>
            <a:ext cx="47330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req_valid / insn / rs1 / rs2 / frm / trans_id</a:t>
            </a:r>
          </a:p>
        </p:txBody>
      </p:sp>
      <p:sp>
        <p:nvSpPr>
          <p:cNvPr id="43" name="text-050: req_ready；resp_valid / result / exceptio"/>
          <p:cNvSpPr txBox="1"/>
          <p:nvPr/>
        </p:nvSpPr>
        <p:spPr>
          <a:xfrm>
            <a:off x="3884930" y="3170103"/>
            <a:ext cx="488950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req_ready；resp_valid / result / exception / ID</a:t>
            </a:r>
          </a:p>
        </p:txBody>
      </p:sp>
      <p:sp>
        <p:nvSpPr>
          <p:cNvPr id="44" name="text-051: load/store_complete / store_pending / ff"/>
          <p:cNvSpPr txBox="1"/>
          <p:nvPr/>
        </p:nvSpPr>
        <p:spPr>
          <a:xfrm>
            <a:off x="4014013" y="3845743"/>
            <a:ext cx="463133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load/store_complete / store_pending / fflags</a:t>
            </a:r>
          </a:p>
        </p:txBody>
      </p:sp>
      <p:sp>
        <p:nvSpPr>
          <p:cNvPr id="45" name="text-052: MMU 请求与应答；L1 invalidate 协作"/>
          <p:cNvSpPr txBox="1"/>
          <p:nvPr/>
        </p:nvSpPr>
        <p:spPr>
          <a:xfrm>
            <a:off x="4710278" y="4521383"/>
            <a:ext cx="323880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请求与应答；L1 invalidate 协作</a:t>
            </a:r>
          </a:p>
        </p:txBody>
      </p:sp>
      <p:sp>
        <p:nvSpPr>
          <p:cNvPr id="46" name="rect-053"/>
          <p:cNvSpPr/>
          <p:nvPr/>
        </p:nvSpPr>
        <p:spPr>
          <a:xfrm>
            <a:off x="3804920" y="5565140"/>
            <a:ext cx="5085080" cy="938784"/>
          </a:xfrm>
          <a:prstGeom prst="roundRect">
            <a:avLst>
              <a:gd name="adj" fmla="val 530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-054"/>
          <p:cNvSpPr/>
          <p:nvPr/>
        </p:nvSpPr>
        <p:spPr>
          <a:xfrm>
            <a:off x="3804920" y="5565140"/>
            <a:ext cx="35560" cy="93878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-055: 接受、应答、数据完成分别观察"/>
          <p:cNvSpPr txBox="1"/>
          <p:nvPr/>
        </p:nvSpPr>
        <p:spPr>
          <a:xfrm>
            <a:off x="3925824" y="5593019"/>
            <a:ext cx="277368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接受、应答、数据完成分别观察</a:t>
            </a:r>
          </a:p>
        </p:txBody>
      </p:sp>
      <p:sp>
        <p:nvSpPr>
          <p:cNvPr id="49" name="text-056: 算术指令可能先应答，VRF 随后完成"/>
          <p:cNvSpPr txBox="1"/>
          <p:nvPr/>
        </p:nvSpPr>
        <p:spPr>
          <a:xfrm>
            <a:off x="3925824" y="5879775"/>
            <a:ext cx="275376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算术指令可能先应答，VRF 随后完成</a:t>
            </a:r>
          </a:p>
        </p:txBody>
      </p:sp>
      <p:sp>
        <p:nvSpPr>
          <p:cNvPr id="50" name="text-057: load 地址应答不表示所有 AXI 数据已返回"/>
          <p:cNvSpPr txBox="1"/>
          <p:nvPr/>
        </p:nvSpPr>
        <p:spPr>
          <a:xfrm>
            <a:off x="3925824" y="6093135"/>
            <a:ext cx="336397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地址应答不表示所有 AXI 数据已返回</a:t>
            </a:r>
          </a:p>
        </p:txBody>
      </p:sp>
      <p:sp>
        <p:nvSpPr>
          <p:cNvPr id="51" name="rect-058"/>
          <p:cNvSpPr/>
          <p:nvPr/>
        </p:nvSpPr>
        <p:spPr>
          <a:xfrm>
            <a:off x="2844800" y="7272020"/>
            <a:ext cx="85344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-059"/>
          <p:cNvSpPr/>
          <p:nvPr/>
        </p:nvSpPr>
        <p:spPr>
          <a:xfrm>
            <a:off x="2844800" y="727202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-060: Ara AXI → invalidation filter → 位宽适配 → C"/>
          <p:cNvSpPr txBox="1"/>
          <p:nvPr/>
        </p:nvSpPr>
        <p:spPr>
          <a:xfrm>
            <a:off x="2965704" y="7299899"/>
            <a:ext cx="628700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AXI → invalidation filter → 位宽适配 → Crossbar</a:t>
            </a:r>
          </a:p>
        </p:txBody>
      </p:sp>
      <p:sp>
        <p:nvSpPr>
          <p:cNvPr id="54" name="text-061: 与 CPU L1 数据口分开；B 错误处理的本地 TODO 仍需动态验证"/>
          <p:cNvSpPr txBox="1"/>
          <p:nvPr/>
        </p:nvSpPr>
        <p:spPr>
          <a:xfrm>
            <a:off x="2965704" y="7578974"/>
            <a:ext cx="513628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CPU L1 数据口分开；B 错误处理的本地 TODO 仍需动态验证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844800" y="2151380"/>
            <a:ext cx="7467600" cy="33426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2346960" y="35915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6294120" y="359156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9601200" y="35915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4018280" y="71120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4"/>
          <p:cNvSpPr/>
          <p:nvPr/>
        </p:nvSpPr>
        <p:spPr>
          <a:xfrm>
            <a:off x="4729480" y="4462780"/>
            <a:ext cx="2169160" cy="2062480"/>
          </a:xfrm>
          <a:custGeom>
            <a:avLst/>
            <a:gdLst/>
            <a:ahLst/>
            <a:cxnLst/>
            <a:rect l="0" t="0" r="r" b="b"/>
            <a:pathLst>
              <a:path w="2169160" h="2062480" fill="none">
                <a:moveTo>
                  <a:pt x="2169160" y="2062480"/>
                </a:moveTo>
                <a:lnTo>
                  <a:pt x="2169160" y="1564640"/>
                </a:lnTo>
                <a:lnTo>
                  <a:pt x="0" y="156464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6: DDR 子系统：AXI 事务、控制器、PHY 与器件引脚"/>
          <p:cNvSpPr txBox="1"/>
          <p:nvPr/>
        </p:nvSpPr>
        <p:spPr>
          <a:xfrm>
            <a:off x="483616" y="1071209"/>
            <a:ext cx="634959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子系统：AXI 事务、控制器、PHY 与器件引脚</a:t>
            </a:r>
          </a:p>
        </p:txBody>
      </p:sp>
      <p:sp>
        <p:nvSpPr>
          <p:cNvPr id="12" name="text-017: AXI 是事务接口；DQ / DQS / 命令引脚是存储器电气接口。两侧不能直接"/>
          <p:cNvSpPr txBox="1"/>
          <p:nvPr/>
        </p:nvSpPr>
        <p:spPr>
          <a:xfrm>
            <a:off x="483616" y="1476878"/>
            <a:ext cx="633857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是事务接口；DQ / DQS / 命令引脚是存储器电气接口。两侧不能直接相连。</a:t>
            </a:r>
          </a:p>
        </p:txBody>
      </p:sp>
      <p:sp>
        <p:nvSpPr>
          <p:cNvPr id="13" name="text-018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9: 依据：现有 FPGA dram_wrapper_xilinx 边界；ASIC 供"/>
          <p:cNvSpPr txBox="1"/>
          <p:nvPr/>
        </p:nvSpPr>
        <p:spPr>
          <a:xfrm>
            <a:off x="341376" y="8526577"/>
            <a:ext cx="631545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依据：现有 FPGA dram_wrapper_xilinx 边界；ASIC 供应商控制器/PHY 接口尚未冻结</a:t>
            </a:r>
          </a:p>
        </p:txBody>
      </p:sp>
      <p:sp>
        <p:nvSpPr>
          <p:cNvPr id="15" name="text-020: 平台存储子系统：实现由 FPGA / ASIC 平台承担"/>
          <p:cNvSpPr txBox="1"/>
          <p:nvPr/>
        </p:nvSpPr>
        <p:spPr>
          <a:xfrm>
            <a:off x="2972816" y="2208276"/>
            <a:ext cx="434721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平台存储子系统：实现由 FPGA / ASIC 平台承担</a:t>
            </a:r>
          </a:p>
        </p:txBody>
      </p:sp>
      <p:sp>
        <p:nvSpPr>
          <p:cNvPr id="16" name="rect-021"/>
          <p:cNvSpPr/>
          <p:nvPr/>
        </p:nvSpPr>
        <p:spPr>
          <a:xfrm>
            <a:off x="355600" y="2720340"/>
            <a:ext cx="1991360" cy="174244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-022"/>
          <p:cNvSpPr/>
          <p:nvPr/>
        </p:nvSpPr>
        <p:spPr>
          <a:xfrm>
            <a:off x="355600" y="2720340"/>
            <a:ext cx="35560" cy="1742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23: SoC LLC 下游"/>
          <p:cNvSpPr txBox="1"/>
          <p:nvPr/>
        </p:nvSpPr>
        <p:spPr>
          <a:xfrm>
            <a:off x="476504" y="2748219"/>
            <a:ext cx="151627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SoC LLC 下游</a:t>
            </a:r>
          </a:p>
        </p:txBody>
      </p:sp>
      <p:sp>
        <p:nvSpPr>
          <p:cNvPr id="19" name="text-024: AXI4 事务"/>
          <p:cNvSpPr txBox="1"/>
          <p:nvPr/>
        </p:nvSpPr>
        <p:spPr>
          <a:xfrm>
            <a:off x="476504" y="3027294"/>
            <a:ext cx="102235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AXI4 事务</a:t>
            </a:r>
          </a:p>
        </p:txBody>
      </p:sp>
      <p:sp>
        <p:nvSpPr>
          <p:cNvPr id="20" name="text-025: ID / burst / STRB"/>
          <p:cNvSpPr txBox="1"/>
          <p:nvPr/>
        </p:nvSpPr>
        <p:spPr>
          <a:xfrm>
            <a:off x="476504" y="3240654"/>
            <a:ext cx="197109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burst / STRB</a:t>
            </a:r>
          </a:p>
        </p:txBody>
      </p:sp>
      <p:sp>
        <p:nvSpPr>
          <p:cNvPr id="21" name="text-026: RESP / 背压"/>
          <p:cNvSpPr txBox="1"/>
          <p:nvPr/>
        </p:nvSpPr>
        <p:spPr>
          <a:xfrm>
            <a:off x="476504" y="3454014"/>
            <a:ext cx="123499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RESP / 背压</a:t>
            </a:r>
          </a:p>
        </p:txBody>
      </p:sp>
      <p:sp>
        <p:nvSpPr>
          <p:cNvPr id="22" name="rect-027"/>
          <p:cNvSpPr/>
          <p:nvPr/>
        </p:nvSpPr>
        <p:spPr>
          <a:xfrm>
            <a:off x="3200400" y="2720340"/>
            <a:ext cx="3093720" cy="1742440"/>
          </a:xfrm>
          <a:prstGeom prst="roundRect">
            <a:avLst>
              <a:gd name="adj" fmla="val 285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8"/>
          <p:cNvSpPr/>
          <p:nvPr/>
        </p:nvSpPr>
        <p:spPr>
          <a:xfrm>
            <a:off x="3200400" y="2720340"/>
            <a:ext cx="35560" cy="1742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9: 适配 / 控制器"/>
          <p:cNvSpPr txBox="1"/>
          <p:nvPr/>
        </p:nvSpPr>
        <p:spPr>
          <a:xfrm>
            <a:off x="3321304" y="2748219"/>
            <a:ext cx="147005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适配 / 控制器</a:t>
            </a:r>
          </a:p>
        </p:txBody>
      </p:sp>
      <p:sp>
        <p:nvSpPr>
          <p:cNvPr id="25" name="text-030: 可选 CDC / 宽度适配"/>
          <p:cNvSpPr txBox="1"/>
          <p:nvPr/>
        </p:nvSpPr>
        <p:spPr>
          <a:xfrm>
            <a:off x="3321304" y="3027294"/>
            <a:ext cx="1889303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CDC / 宽度适配</a:t>
            </a:r>
          </a:p>
        </p:txBody>
      </p:sp>
      <p:sp>
        <p:nvSpPr>
          <p:cNvPr id="26" name="text-031: 地址映射、队列、调度"/>
          <p:cNvSpPr txBox="1"/>
          <p:nvPr/>
        </p:nvSpPr>
        <p:spPr>
          <a:xfrm>
            <a:off x="3321304" y="3240654"/>
            <a:ext cx="17993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地址映射、队列、调度</a:t>
            </a:r>
          </a:p>
        </p:txBody>
      </p:sp>
      <p:sp>
        <p:nvSpPr>
          <p:cNvPr id="27" name="text-032: 刷新与错误状态"/>
          <p:cNvSpPr txBox="1"/>
          <p:nvPr/>
        </p:nvSpPr>
        <p:spPr>
          <a:xfrm>
            <a:off x="3321304" y="345401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刷新与错误状态</a:t>
            </a:r>
          </a:p>
        </p:txBody>
      </p:sp>
      <p:sp>
        <p:nvSpPr>
          <p:cNvPr id="28" name="rect-033"/>
          <p:cNvSpPr/>
          <p:nvPr/>
        </p:nvSpPr>
        <p:spPr>
          <a:xfrm>
            <a:off x="7112000" y="2720340"/>
            <a:ext cx="2489200" cy="1742440"/>
          </a:xfrm>
          <a:prstGeom prst="roundRect">
            <a:avLst>
              <a:gd name="adj" fmla="val 2857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4"/>
          <p:cNvSpPr/>
          <p:nvPr/>
        </p:nvSpPr>
        <p:spPr>
          <a:xfrm>
            <a:off x="7112000" y="2720340"/>
            <a:ext cx="35560" cy="1742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5: DDR PHY"/>
          <p:cNvSpPr txBox="1"/>
          <p:nvPr/>
        </p:nvSpPr>
        <p:spPr>
          <a:xfrm>
            <a:off x="7232904" y="2748219"/>
            <a:ext cx="102626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DDR PHY</a:t>
            </a:r>
          </a:p>
        </p:txBody>
      </p:sp>
      <p:sp>
        <p:nvSpPr>
          <p:cNvPr id="31" name="text-036: 训练、采样、对齐"/>
          <p:cNvSpPr txBox="1"/>
          <p:nvPr/>
        </p:nvSpPr>
        <p:spPr>
          <a:xfrm>
            <a:off x="7232904" y="3027294"/>
            <a:ext cx="14721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训练、采样、对齐</a:t>
            </a:r>
          </a:p>
        </p:txBody>
      </p:sp>
      <p:sp>
        <p:nvSpPr>
          <p:cNvPr id="32" name="text-037: 时钟与 DQ / DQS"/>
          <p:cNvSpPr txBox="1"/>
          <p:nvPr/>
        </p:nvSpPr>
        <p:spPr>
          <a:xfrm>
            <a:off x="7232904" y="3240654"/>
            <a:ext cx="161122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时钟与 DQ / DQS</a:t>
            </a:r>
          </a:p>
        </p:txBody>
      </p:sp>
      <p:sp>
        <p:nvSpPr>
          <p:cNvPr id="33" name="text-038: 命令 / 电气时序"/>
          <p:cNvSpPr txBox="1"/>
          <p:nvPr/>
        </p:nvSpPr>
        <p:spPr>
          <a:xfrm>
            <a:off x="7232904" y="3454014"/>
            <a:ext cx="146400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 / 电气时序</a:t>
            </a:r>
          </a:p>
        </p:txBody>
      </p:sp>
      <p:sp>
        <p:nvSpPr>
          <p:cNvPr id="34" name="rect-039"/>
          <p:cNvSpPr/>
          <p:nvPr/>
        </p:nvSpPr>
        <p:spPr>
          <a:xfrm>
            <a:off x="10668000" y="2720340"/>
            <a:ext cx="1742440" cy="174244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40"/>
          <p:cNvSpPr/>
          <p:nvPr/>
        </p:nvSpPr>
        <p:spPr>
          <a:xfrm>
            <a:off x="10668000" y="2720340"/>
            <a:ext cx="35560" cy="1742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41: DRAM 器件"/>
          <p:cNvSpPr txBox="1"/>
          <p:nvPr/>
        </p:nvSpPr>
        <p:spPr>
          <a:xfrm>
            <a:off x="10788904" y="2748219"/>
            <a:ext cx="115570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器件</a:t>
            </a:r>
          </a:p>
        </p:txBody>
      </p:sp>
      <p:sp>
        <p:nvSpPr>
          <p:cNvPr id="37" name="text-042: bank / row /"/>
          <p:cNvSpPr txBox="1"/>
          <p:nvPr/>
        </p:nvSpPr>
        <p:spPr>
          <a:xfrm>
            <a:off x="10788904" y="3027294"/>
            <a:ext cx="143946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</a:t>
            </a:r>
          </a:p>
        </p:txBody>
      </p:sp>
      <p:sp>
        <p:nvSpPr>
          <p:cNvPr id="38" name="text-043: column"/>
          <p:cNvSpPr txBox="1"/>
          <p:nvPr/>
        </p:nvSpPr>
        <p:spPr>
          <a:xfrm>
            <a:off x="10788904" y="3240654"/>
            <a:ext cx="80152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column</a:t>
            </a:r>
          </a:p>
        </p:txBody>
      </p:sp>
      <p:sp>
        <p:nvSpPr>
          <p:cNvPr id="39" name="text-044: 存储单元 / 刷新"/>
          <p:cNvSpPr txBox="1"/>
          <p:nvPr/>
        </p:nvSpPr>
        <p:spPr>
          <a:xfrm>
            <a:off x="10788904" y="3454014"/>
            <a:ext cx="146400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存储单元 / 刷新</a:t>
            </a:r>
          </a:p>
        </p:txBody>
      </p:sp>
      <p:sp>
        <p:nvSpPr>
          <p:cNvPr id="40" name="text-045: 引脚与板级连线"/>
          <p:cNvSpPr txBox="1"/>
          <p:nvPr/>
        </p:nvSpPr>
        <p:spPr>
          <a:xfrm>
            <a:off x="10788904" y="366737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引脚与板级连线</a:t>
            </a:r>
          </a:p>
        </p:txBody>
      </p:sp>
      <p:sp>
        <p:nvSpPr>
          <p:cNvPr id="41" name="rect-046"/>
          <p:cNvSpPr/>
          <p:nvPr/>
        </p:nvSpPr>
        <p:spPr>
          <a:xfrm>
            <a:off x="462280" y="6525260"/>
            <a:ext cx="355600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7"/>
          <p:cNvSpPr/>
          <p:nvPr/>
        </p:nvSpPr>
        <p:spPr>
          <a:xfrm>
            <a:off x="462280" y="65252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8: 平台初始化固件"/>
          <p:cNvSpPr txBox="1"/>
          <p:nvPr/>
        </p:nvSpPr>
        <p:spPr>
          <a:xfrm>
            <a:off x="583184" y="6553139"/>
            <a:ext cx="147929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平台初始化固件</a:t>
            </a:r>
          </a:p>
        </p:txBody>
      </p:sp>
      <p:sp>
        <p:nvSpPr>
          <p:cNvPr id="44" name="text-049: 配置 PLL / 控制寄存器"/>
          <p:cNvSpPr txBox="1"/>
          <p:nvPr/>
        </p:nvSpPr>
        <p:spPr>
          <a:xfrm>
            <a:off x="583184" y="6824533"/>
            <a:ext cx="214213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 PLL / 控制寄存器</a:t>
            </a:r>
          </a:p>
        </p:txBody>
      </p:sp>
      <p:sp>
        <p:nvSpPr>
          <p:cNvPr id="45" name="text-050: 轮询状态、超时与失败回退"/>
          <p:cNvSpPr txBox="1"/>
          <p:nvPr/>
        </p:nvSpPr>
        <p:spPr>
          <a:xfrm>
            <a:off x="583184" y="703789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轮询状态、超时与失败回退</a:t>
            </a:r>
          </a:p>
        </p:txBody>
      </p:sp>
      <p:sp>
        <p:nvSpPr>
          <p:cNvPr id="46" name="text-051: 运行软件可重复查询状态"/>
          <p:cNvSpPr txBox="1"/>
          <p:nvPr/>
        </p:nvSpPr>
        <p:spPr>
          <a:xfrm>
            <a:off x="583184" y="725125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运行软件可重复查询状态</a:t>
            </a:r>
          </a:p>
        </p:txBody>
      </p:sp>
      <p:sp>
        <p:nvSpPr>
          <p:cNvPr id="47" name="rect-052"/>
          <p:cNvSpPr/>
          <p:nvPr/>
        </p:nvSpPr>
        <p:spPr>
          <a:xfrm>
            <a:off x="5049520" y="6525260"/>
            <a:ext cx="73253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53"/>
          <p:cNvSpPr/>
          <p:nvPr/>
        </p:nvSpPr>
        <p:spPr>
          <a:xfrm>
            <a:off x="5049520" y="65252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4: 放行条件：PLL lock + 初始化 / 校准完成 + 复位协调"/>
          <p:cNvSpPr txBox="1"/>
          <p:nvPr/>
        </p:nvSpPr>
        <p:spPr>
          <a:xfrm>
            <a:off x="5170424" y="6553139"/>
            <a:ext cx="518678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放行条件：PLL lock + 初始化 / 校准完成 + 复位协调</a:t>
            </a:r>
          </a:p>
        </p:txBody>
      </p:sp>
      <p:sp>
        <p:nvSpPr>
          <p:cNvPr id="50" name="text-055: 执行初始化的代码、栈必须先位于可用存储"/>
          <p:cNvSpPr txBox="1"/>
          <p:nvPr/>
        </p:nvSpPr>
        <p:spPr>
          <a:xfrm>
            <a:off x="5170424" y="6824533"/>
            <a:ext cx="341376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执行初始化的代码、栈必须先位于可用存储</a:t>
            </a:r>
          </a:p>
        </p:txBody>
      </p:sp>
      <p:sp>
        <p:nvSpPr>
          <p:cNvPr id="51" name="text-056: 供应商需给出 AXI 限制、容量、ECC / 错误、寄存器、模型与复位顺序"/>
          <p:cNvSpPr txBox="1"/>
          <p:nvPr/>
        </p:nvSpPr>
        <p:spPr>
          <a:xfrm>
            <a:off x="5170424" y="7037893"/>
            <a:ext cx="582899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供应商需给出 AXI 限制、容量、ECC / 错误、寄存器、模型与复位顺序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6720" y="2151380"/>
            <a:ext cx="5369560" cy="3840480"/>
          </a:xfrm>
          <a:prstGeom prst="roundRect">
            <a:avLst>
              <a:gd name="adj" fmla="val 222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6934200" y="2151380"/>
            <a:ext cx="5405120" cy="3840480"/>
          </a:xfrm>
          <a:prstGeom prst="roundRect">
            <a:avLst>
              <a:gd name="adj" fmla="val 2222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3111500" y="36804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9636760" y="36804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3107944" y="5529580"/>
            <a:ext cx="3292856" cy="1102360"/>
          </a:xfrm>
          <a:custGeom>
            <a:avLst/>
            <a:gdLst/>
            <a:ahLst/>
            <a:cxnLst/>
            <a:rect l="0" t="0" r="r" b="b"/>
            <a:pathLst>
              <a:path w="3292856" h="1102360" fill="none">
                <a:moveTo>
                  <a:pt x="3556" y="0"/>
                </a:moveTo>
                <a:lnTo>
                  <a:pt x="0" y="746760"/>
                </a:lnTo>
                <a:lnTo>
                  <a:pt x="3292856" y="746760"/>
                </a:lnTo>
                <a:lnTo>
                  <a:pt x="3292856" y="11023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6400800" y="5529580"/>
            <a:ext cx="3235960" cy="1102360"/>
          </a:xfrm>
          <a:custGeom>
            <a:avLst/>
            <a:gdLst/>
            <a:ahLst/>
            <a:cxnLst/>
            <a:rect l="0" t="0" r="r" b="b"/>
            <a:pathLst>
              <a:path w="3235960" h="1102360" fill="none">
                <a:moveTo>
                  <a:pt x="3235960" y="0"/>
                </a:moveTo>
                <a:lnTo>
                  <a:pt x="3235960" y="746760"/>
                </a:lnTo>
                <a:lnTo>
                  <a:pt x="0" y="746760"/>
                </a:ln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5: 未来 DDR 旁路：数据汇合不等于一致性自动成立"/>
          <p:cNvSpPr txBox="1"/>
          <p:nvPr/>
        </p:nvSpPr>
        <p:spPr>
          <a:xfrm>
            <a:off x="483616" y="1071209"/>
            <a:ext cx="595274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DDR 旁路：数据汇合不等于一致性自动成立</a:t>
            </a:r>
          </a:p>
        </p:txBody>
      </p:sp>
      <p:sp>
        <p:nvSpPr>
          <p:cNvPr id="12" name="text-016: CPU / Ara 保留 LLC 路径；NPU / ISP 数据绕过 LLC 是"/>
          <p:cNvSpPr txBox="1"/>
          <p:nvPr/>
        </p:nvSpPr>
        <p:spPr>
          <a:xfrm>
            <a:off x="483616" y="1476878"/>
            <a:ext cx="662482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保留 LLC 路径；NPU / ISP 数据绕过 LLC 是用户目标，尚未实现。</a:t>
            </a:r>
          </a:p>
        </p:txBody>
      </p:sp>
      <p:sp>
        <p:nvSpPr>
          <p:cNvPr id="13" name="text-017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18: 依据：当前 cheshire_soc.sv 主存路径与 M01 待定义接口契约"/>
          <p:cNvSpPr txBox="1"/>
          <p:nvPr/>
        </p:nvSpPr>
        <p:spPr>
          <a:xfrm>
            <a:off x="341376" y="8526577"/>
            <a:ext cx="459435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依据：当前 cheshire_soc.sv 主存路径与 M01 待定义接口契约</a:t>
            </a:r>
          </a:p>
        </p:txBody>
      </p:sp>
      <p:sp>
        <p:nvSpPr>
          <p:cNvPr id="15" name="text-019: 现有 CPU / Ara 主存路径"/>
          <p:cNvSpPr txBox="1"/>
          <p:nvPr/>
        </p:nvSpPr>
        <p:spPr>
          <a:xfrm>
            <a:off x="554736" y="2208276"/>
            <a:ext cx="251587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CPU / Ara 主存路径</a:t>
            </a:r>
          </a:p>
        </p:txBody>
      </p:sp>
      <p:sp>
        <p:nvSpPr>
          <p:cNvPr id="16" name="text-020: 未来 NPU / ISP 旁路"/>
          <p:cNvSpPr txBox="1"/>
          <p:nvPr/>
        </p:nvSpPr>
        <p:spPr>
          <a:xfrm>
            <a:off x="7062216" y="2208276"/>
            <a:ext cx="216027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未来 NPU / ISP 旁路</a:t>
            </a:r>
          </a:p>
        </p:txBody>
      </p:sp>
      <p:sp>
        <p:nvSpPr>
          <p:cNvPr id="17" name="rect-021"/>
          <p:cNvSpPr/>
          <p:nvPr/>
        </p:nvSpPr>
        <p:spPr>
          <a:xfrm>
            <a:off x="746760" y="2720340"/>
            <a:ext cx="472948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-022"/>
          <p:cNvSpPr/>
          <p:nvPr/>
        </p:nvSpPr>
        <p:spPr>
          <a:xfrm>
            <a:off x="746760" y="27203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23: CPU / Ara / 当前互连"/>
          <p:cNvSpPr txBox="1"/>
          <p:nvPr/>
        </p:nvSpPr>
        <p:spPr>
          <a:xfrm>
            <a:off x="867664" y="2748219"/>
            <a:ext cx="236687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当前互连</a:t>
            </a:r>
          </a:p>
        </p:txBody>
      </p:sp>
      <p:sp>
        <p:nvSpPr>
          <p:cNvPr id="20" name="text-024: L1 cache 与 pending 协作"/>
          <p:cNvSpPr txBox="1"/>
          <p:nvPr/>
        </p:nvSpPr>
        <p:spPr>
          <a:xfrm>
            <a:off x="867664" y="3019613"/>
            <a:ext cx="267980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 pending 协作</a:t>
            </a:r>
          </a:p>
        </p:txBody>
      </p:sp>
      <p:sp>
        <p:nvSpPr>
          <p:cNvPr id="21" name="text-025: 访问共享数据须遵循所有权协议"/>
          <p:cNvSpPr txBox="1"/>
          <p:nvPr/>
        </p:nvSpPr>
        <p:spPr>
          <a:xfrm>
            <a:off x="867664" y="3232973"/>
            <a:ext cx="256032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访问共享数据须遵循所有权协议</a:t>
            </a:r>
          </a:p>
        </p:txBody>
      </p:sp>
      <p:sp>
        <p:nvSpPr>
          <p:cNvPr id="22" name="rect-026"/>
          <p:cNvSpPr/>
          <p:nvPr/>
        </p:nvSpPr>
        <p:spPr>
          <a:xfrm>
            <a:off x="746760" y="4605020"/>
            <a:ext cx="4729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7"/>
          <p:cNvSpPr/>
          <p:nvPr/>
        </p:nvSpPr>
        <p:spPr>
          <a:xfrm>
            <a:off x="746760" y="460502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8: 现有原子处理 → LLC / SPM"/>
          <p:cNvSpPr txBox="1"/>
          <p:nvPr/>
        </p:nvSpPr>
        <p:spPr>
          <a:xfrm>
            <a:off x="867664" y="4632899"/>
            <a:ext cx="280141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现有原子处理 → LLC / SPM</a:t>
            </a:r>
          </a:p>
        </p:txBody>
      </p:sp>
      <p:sp>
        <p:nvSpPr>
          <p:cNvPr id="25" name="text-029: 缓存维护与 AMO / LRSC 监视边界"/>
          <p:cNvSpPr txBox="1"/>
          <p:nvPr/>
        </p:nvSpPr>
        <p:spPr>
          <a:xfrm>
            <a:off x="867664" y="4904293"/>
            <a:ext cx="303824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缓存维护与 AMO / LRSC 监视边界</a:t>
            </a:r>
          </a:p>
        </p:txBody>
      </p:sp>
      <p:sp>
        <p:nvSpPr>
          <p:cNvPr id="26" name="text-030: 小块共享 SRAM / SPM 需另定义接入口"/>
          <p:cNvSpPr txBox="1"/>
          <p:nvPr/>
        </p:nvSpPr>
        <p:spPr>
          <a:xfrm>
            <a:off x="867664" y="5117653"/>
            <a:ext cx="33796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小块共享 SRAM / SPM 需另定义接入口</a:t>
            </a:r>
          </a:p>
        </p:txBody>
      </p:sp>
      <p:sp>
        <p:nvSpPr>
          <p:cNvPr id="27" name="rect-031"/>
          <p:cNvSpPr/>
          <p:nvPr/>
        </p:nvSpPr>
        <p:spPr>
          <a:xfrm>
            <a:off x="7254240" y="2720340"/>
            <a:ext cx="476504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-032"/>
          <p:cNvSpPr/>
          <p:nvPr/>
        </p:nvSpPr>
        <p:spPr>
          <a:xfrm>
            <a:off x="7254240" y="272034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-033: NPU / ISP 独立数据主端"/>
          <p:cNvSpPr txBox="1"/>
          <p:nvPr/>
        </p:nvSpPr>
        <p:spPr>
          <a:xfrm>
            <a:off x="7375144" y="2748219"/>
            <a:ext cx="249631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独立数据主端</a:t>
            </a:r>
          </a:p>
        </p:txBody>
      </p:sp>
      <p:sp>
        <p:nvSpPr>
          <p:cNvPr id="30" name="text-034: 普通读写绕过 LLC"/>
          <p:cNvSpPr txBox="1"/>
          <p:nvPr/>
        </p:nvSpPr>
        <p:spPr>
          <a:xfrm>
            <a:off x="7375144" y="3019613"/>
            <a:ext cx="163860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普通读写绕过 LLC</a:t>
            </a:r>
          </a:p>
        </p:txBody>
      </p:sp>
      <p:sp>
        <p:nvSpPr>
          <p:cNvPr id="31" name="text-035: 控制寄存器与完成 IRQ 另走控制面"/>
          <p:cNvSpPr txBox="1"/>
          <p:nvPr/>
        </p:nvSpPr>
        <p:spPr>
          <a:xfrm>
            <a:off x="7375144" y="3232973"/>
            <a:ext cx="29443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控制寄存器与完成 IRQ 另走控制面</a:t>
            </a:r>
          </a:p>
        </p:txBody>
      </p:sp>
      <p:sp>
        <p:nvSpPr>
          <p:cNvPr id="32" name="rect-036"/>
          <p:cNvSpPr/>
          <p:nvPr/>
        </p:nvSpPr>
        <p:spPr>
          <a:xfrm>
            <a:off x="7254240" y="4605020"/>
            <a:ext cx="4765040" cy="924560"/>
          </a:xfrm>
          <a:prstGeom prst="roundRect">
            <a:avLst>
              <a:gd name="adj" fmla="val 53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7"/>
          <p:cNvSpPr/>
          <p:nvPr/>
        </p:nvSpPr>
        <p:spPr>
          <a:xfrm>
            <a:off x="7254240" y="4605020"/>
            <a:ext cx="35560" cy="9245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8: 旁路适配：CDC / 限流 / ID"/>
          <p:cNvSpPr txBox="1"/>
          <p:nvPr/>
        </p:nvSpPr>
        <p:spPr>
          <a:xfrm>
            <a:off x="7375144" y="4632899"/>
            <a:ext cx="280141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旁路适配：CDC / 限流 / ID</a:t>
            </a:r>
          </a:p>
        </p:txBody>
      </p:sp>
      <p:sp>
        <p:nvSpPr>
          <p:cNvPr id="35" name="text-039: 宽度、突发、在途数与错误恢复"/>
          <p:cNvSpPr txBox="1"/>
          <p:nvPr/>
        </p:nvSpPr>
        <p:spPr>
          <a:xfrm>
            <a:off x="7375144" y="4904293"/>
            <a:ext cx="256032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宽度、突发、在途数与错误恢复</a:t>
            </a:r>
          </a:p>
        </p:txBody>
      </p:sp>
      <p:sp>
        <p:nvSpPr>
          <p:cNvPr id="36" name="text-040: 旁路普通写也可能影响 reservation"/>
          <p:cNvSpPr txBox="1"/>
          <p:nvPr/>
        </p:nvSpPr>
        <p:spPr>
          <a:xfrm>
            <a:off x="7375144" y="5117653"/>
            <a:ext cx="320893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旁路普通写也可能影响 reservation</a:t>
            </a:r>
          </a:p>
        </p:txBody>
      </p:sp>
      <p:sp>
        <p:nvSpPr>
          <p:cNvPr id="37" name="rect-041"/>
          <p:cNvSpPr/>
          <p:nvPr/>
        </p:nvSpPr>
        <p:spPr>
          <a:xfrm>
            <a:off x="2880360" y="6631940"/>
            <a:ext cx="7040880" cy="711200"/>
          </a:xfrm>
          <a:prstGeom prst="roundRect">
            <a:avLst>
              <a:gd name="adj" fmla="val 7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2"/>
          <p:cNvSpPr/>
          <p:nvPr/>
        </p:nvSpPr>
        <p:spPr>
          <a:xfrm>
            <a:off x="2880360" y="6631940"/>
            <a:ext cx="35560" cy="7112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3: 新增仲裁 / ID 与顺序适配 → AXI4 DDR CTRL + PHY"/>
          <p:cNvSpPr txBox="1"/>
          <p:nvPr/>
        </p:nvSpPr>
        <p:spPr>
          <a:xfrm>
            <a:off x="3001264" y="6659819"/>
            <a:ext cx="527923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新增仲裁 / ID 与顺序适配 → AXI4 DDR CTRL + PHY</a:t>
            </a:r>
          </a:p>
        </p:txBody>
      </p:sp>
      <p:sp>
        <p:nvSpPr>
          <p:cNvPr id="40" name="text-044: 共享地址布局、全路径可见性与原子协议需要联合验证"/>
          <p:cNvSpPr txBox="1"/>
          <p:nvPr/>
        </p:nvSpPr>
        <p:spPr>
          <a:xfrm>
            <a:off x="3001264" y="6938894"/>
            <a:ext cx="408940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共享地址布局、全路径可见性与原子协议需要联合验证</a:t>
            </a:r>
          </a:p>
        </p:txBody>
      </p:sp>
      <p:sp>
        <p:nvSpPr>
          <p:cNvPr id="41" name="text-045: 契约选择：禁止设备进入共享原子区，或设计覆盖所有访问者的原子 / 一致性协议并验"/>
          <p:cNvSpPr txBox="1"/>
          <p:nvPr/>
        </p:nvSpPr>
        <p:spPr>
          <a:xfrm>
            <a:off x="462280" y="7705852"/>
            <a:ext cx="745871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契约选择：禁止设备进入共享原子区，或设计覆盖所有访问者的原子 / 一致性协议并验证。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449320" y="30581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7858760" y="30581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10774680" y="36093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 fill="none">
                <a:moveTo>
                  <a:pt x="0" y="0"/>
                </a:moveTo>
                <a:lnTo>
                  <a:pt x="0" y="152908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7858760" y="56896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3449320" y="56896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1955800" y="36093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 fill="none">
                <a:moveTo>
                  <a:pt x="0" y="152908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7: 未来异构任务：所有权状态与异常回收"/>
          <p:cNvSpPr txBox="1"/>
          <p:nvPr/>
        </p:nvSpPr>
        <p:spPr>
          <a:xfrm>
            <a:off x="483616" y="1071209"/>
            <a:ext cx="4608576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未来异构任务：所有权状态与异常回收</a:t>
            </a:r>
          </a:p>
        </p:txBody>
      </p:sp>
      <p:sp>
        <p:nvSpPr>
          <p:cNvPr id="12" name="text-018: 硬件完成令牌须同时匹配 buffer、epoch 与状态；IRQ 仅触发软件查询"/>
          <p:cNvSpPr txBox="1"/>
          <p:nvPr/>
        </p:nvSpPr>
        <p:spPr>
          <a:xfrm>
            <a:off x="483616" y="1476878"/>
            <a:ext cx="589691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硬件完成令牌须同时匹配 buffer、epoch 与状态；IRQ 仅触发软件查询。</a:t>
            </a:r>
          </a:p>
        </p:txBody>
      </p:sp>
      <p:sp>
        <p:nvSpPr>
          <p:cNvPr id="13" name="text-019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20: 依据：教材异构协议伪代码；NPU / ISP 尚未集成"/>
          <p:cNvSpPr txBox="1"/>
          <p:nvPr/>
        </p:nvSpPr>
        <p:spPr>
          <a:xfrm>
            <a:off x="341376" y="8526577"/>
            <a:ext cx="348488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依据：教材异构协议伪代码；NPU / ISP 尚未集成</a:t>
            </a:r>
          </a:p>
        </p:txBody>
      </p:sp>
      <p:sp>
        <p:nvSpPr>
          <p:cNvPr id="15" name="rect-021"/>
          <p:cNvSpPr/>
          <p:nvPr/>
        </p:nvSpPr>
        <p:spPr>
          <a:xfrm>
            <a:off x="462280" y="25069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-022"/>
          <p:cNvSpPr/>
          <p:nvPr/>
        </p:nvSpPr>
        <p:spPr>
          <a:xfrm>
            <a:off x="462280" y="2506980"/>
            <a:ext cx="35560" cy="11023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-023: FREE"/>
          <p:cNvSpPr txBox="1"/>
          <p:nvPr/>
        </p:nvSpPr>
        <p:spPr>
          <a:xfrm>
            <a:off x="583184" y="2534859"/>
            <a:ext cx="66568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18" name="text-024: 分配 buffer"/>
          <p:cNvSpPr txBox="1"/>
          <p:nvPr/>
        </p:nvSpPr>
        <p:spPr>
          <a:xfrm>
            <a:off x="583184" y="2806253"/>
            <a:ext cx="128869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分配 buffer</a:t>
            </a:r>
          </a:p>
        </p:txBody>
      </p:sp>
      <p:sp>
        <p:nvSpPr>
          <p:cNvPr id="19" name="text-025: 选择新 epoch"/>
          <p:cNvSpPr txBox="1"/>
          <p:nvPr/>
        </p:nvSpPr>
        <p:spPr>
          <a:xfrm>
            <a:off x="583184" y="3019613"/>
            <a:ext cx="134843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选择新 epoch</a:t>
            </a:r>
          </a:p>
        </p:txBody>
      </p:sp>
      <p:sp>
        <p:nvSpPr>
          <p:cNvPr id="20" name="rect-026"/>
          <p:cNvSpPr/>
          <p:nvPr/>
        </p:nvSpPr>
        <p:spPr>
          <a:xfrm>
            <a:off x="4871720" y="25069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7"/>
          <p:cNvSpPr/>
          <p:nvPr/>
        </p:nvSpPr>
        <p:spPr>
          <a:xfrm>
            <a:off x="4871720" y="2506980"/>
            <a:ext cx="35560" cy="11023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8: PRODUCER"/>
          <p:cNvSpPr txBox="1"/>
          <p:nvPr/>
        </p:nvSpPr>
        <p:spPr>
          <a:xfrm>
            <a:off x="4992624" y="253485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PRODUCER</a:t>
            </a:r>
          </a:p>
        </p:txBody>
      </p:sp>
      <p:sp>
        <p:nvSpPr>
          <p:cNvPr id="23" name="text-029: 独占写入"/>
          <p:cNvSpPr txBox="1"/>
          <p:nvPr/>
        </p:nvSpPr>
        <p:spPr>
          <a:xfrm>
            <a:off x="4992624" y="2806253"/>
            <a:ext cx="8534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独占写入</a:t>
            </a:r>
          </a:p>
        </p:txBody>
      </p:sp>
      <p:sp>
        <p:nvSpPr>
          <p:cNvPr id="24" name="text-030: 禁止并发修改"/>
          <p:cNvSpPr txBox="1"/>
          <p:nvPr/>
        </p:nvSpPr>
        <p:spPr>
          <a:xfrm>
            <a:off x="4992624" y="301961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禁止并发修改</a:t>
            </a:r>
          </a:p>
        </p:txBody>
      </p:sp>
      <p:sp>
        <p:nvSpPr>
          <p:cNvPr id="25" name="rect-031"/>
          <p:cNvSpPr/>
          <p:nvPr/>
        </p:nvSpPr>
        <p:spPr>
          <a:xfrm>
            <a:off x="9281160" y="25069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32"/>
          <p:cNvSpPr/>
          <p:nvPr/>
        </p:nvSpPr>
        <p:spPr>
          <a:xfrm>
            <a:off x="9281160" y="250698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3: PUBLISHED"/>
          <p:cNvSpPr txBox="1"/>
          <p:nvPr/>
        </p:nvSpPr>
        <p:spPr>
          <a:xfrm>
            <a:off x="9402064" y="253485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PUBLISHED</a:t>
            </a:r>
          </a:p>
        </p:txBody>
      </p:sp>
      <p:sp>
        <p:nvSpPr>
          <p:cNvPr id="28" name="text-034: 排空结果写入"/>
          <p:cNvSpPr txBox="1"/>
          <p:nvPr/>
        </p:nvSpPr>
        <p:spPr>
          <a:xfrm>
            <a:off x="9402064" y="280625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排空结果写入</a:t>
            </a:r>
          </a:p>
        </p:txBody>
      </p:sp>
      <p:sp>
        <p:nvSpPr>
          <p:cNvPr id="29" name="text-035: 发布描述符"/>
          <p:cNvSpPr txBox="1"/>
          <p:nvPr/>
        </p:nvSpPr>
        <p:spPr>
          <a:xfrm>
            <a:off x="9402064" y="3019613"/>
            <a:ext cx="10241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发布描述符</a:t>
            </a:r>
          </a:p>
        </p:txBody>
      </p:sp>
      <p:sp>
        <p:nvSpPr>
          <p:cNvPr id="30" name="rect-036"/>
          <p:cNvSpPr/>
          <p:nvPr/>
        </p:nvSpPr>
        <p:spPr>
          <a:xfrm>
            <a:off x="462280" y="51384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7"/>
          <p:cNvSpPr/>
          <p:nvPr/>
        </p:nvSpPr>
        <p:spPr>
          <a:xfrm>
            <a:off x="462280" y="513842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8: RECLAIM"/>
          <p:cNvSpPr txBox="1"/>
          <p:nvPr/>
        </p:nvSpPr>
        <p:spPr>
          <a:xfrm>
            <a:off x="583184" y="5166299"/>
            <a:ext cx="102626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RECLAIM</a:t>
            </a:r>
          </a:p>
        </p:txBody>
      </p:sp>
      <p:sp>
        <p:nvSpPr>
          <p:cNvPr id="33" name="text-039: 确认消费者排空"/>
          <p:cNvSpPr txBox="1"/>
          <p:nvPr/>
        </p:nvSpPr>
        <p:spPr>
          <a:xfrm>
            <a:off x="583184" y="543769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确认消费者排空</a:t>
            </a:r>
          </a:p>
        </p:txBody>
      </p:sp>
      <p:sp>
        <p:nvSpPr>
          <p:cNvPr id="34" name="text-040: 回收前验证状态"/>
          <p:cNvSpPr txBox="1"/>
          <p:nvPr/>
        </p:nvSpPr>
        <p:spPr>
          <a:xfrm>
            <a:off x="583184" y="565105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回收前验证状态</a:t>
            </a:r>
          </a:p>
        </p:txBody>
      </p:sp>
      <p:sp>
        <p:nvSpPr>
          <p:cNvPr id="35" name="rect-041"/>
          <p:cNvSpPr/>
          <p:nvPr/>
        </p:nvSpPr>
        <p:spPr>
          <a:xfrm>
            <a:off x="4871720" y="51384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2"/>
          <p:cNvSpPr/>
          <p:nvPr/>
        </p:nvSpPr>
        <p:spPr>
          <a:xfrm>
            <a:off x="4871720" y="5138420"/>
            <a:ext cx="35560" cy="11023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3: CONSUMER"/>
          <p:cNvSpPr txBox="1"/>
          <p:nvPr/>
        </p:nvSpPr>
        <p:spPr>
          <a:xfrm>
            <a:off x="4992624" y="516629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CONSUMER</a:t>
            </a:r>
          </a:p>
        </p:txBody>
      </p:sp>
      <p:sp>
        <p:nvSpPr>
          <p:cNvPr id="38" name="text-044: 读取 / 计算"/>
          <p:cNvSpPr txBox="1"/>
          <p:nvPr/>
        </p:nvSpPr>
        <p:spPr>
          <a:xfrm>
            <a:off x="4992624" y="5437693"/>
            <a:ext cx="11862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/ 计算</a:t>
            </a:r>
          </a:p>
        </p:txBody>
      </p:sp>
      <p:sp>
        <p:nvSpPr>
          <p:cNvPr id="39" name="text-045: 可写自己的结果"/>
          <p:cNvSpPr txBox="1"/>
          <p:nvPr/>
        </p:nvSpPr>
        <p:spPr>
          <a:xfrm>
            <a:off x="4992624" y="565105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可写自己的结果</a:t>
            </a:r>
          </a:p>
        </p:txBody>
      </p:sp>
      <p:sp>
        <p:nvSpPr>
          <p:cNvPr id="40" name="rect-046"/>
          <p:cNvSpPr/>
          <p:nvPr/>
        </p:nvSpPr>
        <p:spPr>
          <a:xfrm>
            <a:off x="9281160" y="51384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7"/>
          <p:cNvSpPr/>
          <p:nvPr/>
        </p:nvSpPr>
        <p:spPr>
          <a:xfrm>
            <a:off x="9281160" y="5138420"/>
            <a:ext cx="35560" cy="11023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8: QUEUED"/>
          <p:cNvSpPr txBox="1"/>
          <p:nvPr/>
        </p:nvSpPr>
        <p:spPr>
          <a:xfrm>
            <a:off x="9402064" y="51662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QUEUED</a:t>
            </a:r>
          </a:p>
        </p:txBody>
      </p:sp>
      <p:sp>
        <p:nvSpPr>
          <p:cNvPr id="43" name="text-049: 通知消费者"/>
          <p:cNvSpPr txBox="1"/>
          <p:nvPr/>
        </p:nvSpPr>
        <p:spPr>
          <a:xfrm>
            <a:off x="9402064" y="5437693"/>
            <a:ext cx="10241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通知消费者</a:t>
            </a:r>
          </a:p>
        </p:txBody>
      </p:sp>
      <p:sp>
        <p:nvSpPr>
          <p:cNvPr id="44" name="text-050: 转移所有权"/>
          <p:cNvSpPr txBox="1"/>
          <p:nvPr/>
        </p:nvSpPr>
        <p:spPr>
          <a:xfrm>
            <a:off x="9402064" y="5651053"/>
            <a:ext cx="10241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转移所有权</a:t>
            </a:r>
          </a:p>
        </p:txBody>
      </p:sp>
      <p:sp>
        <p:nvSpPr>
          <p:cNvPr id="45" name="rect-051"/>
          <p:cNvSpPr/>
          <p:nvPr/>
        </p:nvSpPr>
        <p:spPr>
          <a:xfrm>
            <a:off x="462280" y="7058660"/>
            <a:ext cx="11805920" cy="853440"/>
          </a:xfrm>
          <a:prstGeom prst="roundRect">
            <a:avLst>
              <a:gd name="adj" fmla="val 5833"/>
            </a:avLst>
          </a:prstGeom>
          <a:solidFill>
            <a:srgbClr val="FBEFF0"/>
          </a:solidFill>
          <a:ln w="11379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52"/>
          <p:cNvSpPr/>
          <p:nvPr/>
        </p:nvSpPr>
        <p:spPr>
          <a:xfrm>
            <a:off x="462280" y="7058660"/>
            <a:ext cx="35560" cy="853440"/>
          </a:xfrm>
          <a:prstGeom prst="rect">
            <a:avLst/>
          </a:prstGeom>
          <a:solidFill>
            <a:srgbClr val="A43D42"/>
          </a:solidFill>
          <a:ln w="10668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3: 任意在途状态发生超时 / 错误 → QUARANTINED"/>
          <p:cNvSpPr txBox="1"/>
          <p:nvPr/>
        </p:nvSpPr>
        <p:spPr>
          <a:xfrm>
            <a:off x="583184" y="7086539"/>
            <a:ext cx="451185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任意在途状态发生超时 / 错误 → QUARANTINED</a:t>
            </a:r>
          </a:p>
        </p:txBody>
      </p:sp>
      <p:sp>
        <p:nvSpPr>
          <p:cNvPr id="48" name="text-054: 先隔离并确认设备停止，再决定恢复或回收；过期完成令牌不得释放新 epoch 的缓"/>
          <p:cNvSpPr txBox="1"/>
          <p:nvPr/>
        </p:nvSpPr>
        <p:spPr>
          <a:xfrm>
            <a:off x="583184" y="7373295"/>
            <a:ext cx="6501079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先隔离并确认设备停止，再决定恢复或回收；过期完成令牌不得释放新 epoch 的缓冲区。</a:t>
            </a:r>
          </a:p>
        </p:txBody>
      </p:sp>
      <p:sp>
        <p:nvSpPr>
          <p:cNvPr id="49" name="text-055: 正常转移形成闭环；异常路径进入隔离状态"/>
          <p:cNvSpPr txBox="1"/>
          <p:nvPr/>
        </p:nvSpPr>
        <p:spPr>
          <a:xfrm>
            <a:off x="4409440" y="4191955"/>
            <a:ext cx="369824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正常转移形成闭环；异常路径进入隔离状态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6400800" y="368046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2098040" y="3680460"/>
            <a:ext cx="2631440" cy="1280160"/>
          </a:xfrm>
          <a:custGeom>
            <a:avLst/>
            <a:gdLst/>
            <a:ahLst/>
            <a:cxnLst/>
            <a:rect l="0" t="0" r="r" b="b"/>
            <a:pathLst>
              <a:path w="2631440" h="1280160" fill="none">
                <a:moveTo>
                  <a:pt x="2631440" y="1280160"/>
                </a:moveTo>
                <a:lnTo>
                  <a:pt x="0" y="128016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960120" y="3680460"/>
            <a:ext cx="5440680" cy="2631440"/>
          </a:xfrm>
          <a:custGeom>
            <a:avLst/>
            <a:gdLst/>
            <a:ahLst/>
            <a:cxnLst/>
            <a:rect l="0" t="0" r="r" b="b"/>
            <a:pathLst>
              <a:path w="5440680" h="2631440" fill="none">
                <a:moveTo>
                  <a:pt x="3556" y="0"/>
                </a:moveTo>
                <a:lnTo>
                  <a:pt x="0" y="2204720"/>
                </a:lnTo>
                <a:lnTo>
                  <a:pt x="5440680" y="2204720"/>
                </a:lnTo>
                <a:lnTo>
                  <a:pt x="5440680" y="2631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6400800" y="542290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 fill="none">
                <a:moveTo>
                  <a:pt x="0" y="0"/>
                </a:moveTo>
                <a:lnTo>
                  <a:pt x="0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6400800" y="3680460"/>
            <a:ext cx="4267200" cy="2631440"/>
          </a:xfrm>
          <a:custGeom>
            <a:avLst/>
            <a:gdLst/>
            <a:ahLst/>
            <a:cxnLst/>
            <a:rect l="0" t="0" r="r" b="b"/>
            <a:pathLst>
              <a:path w="4267200" h="2631440" fill="none">
                <a:moveTo>
                  <a:pt x="4267200" y="0"/>
                </a:moveTo>
                <a:lnTo>
                  <a:pt x="4267200" y="2204720"/>
                </a:lnTo>
                <a:lnTo>
                  <a:pt x="0" y="2204720"/>
                </a:lnTo>
                <a:lnTo>
                  <a:pt x="0" y="2631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5: 当前共享数据：Ara 的失效协作有明确参与者"/>
          <p:cNvSpPr txBox="1"/>
          <p:nvPr/>
        </p:nvSpPr>
        <p:spPr>
          <a:xfrm>
            <a:off x="483616" y="1071209"/>
            <a:ext cx="5530291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当前共享数据：Ara 的失效协作有明确参与者</a:t>
            </a:r>
          </a:p>
        </p:txBody>
      </p:sp>
      <p:sp>
        <p:nvSpPr>
          <p:cNvPr id="11" name="text-016: CPU / Ara 的协作不自动扩展到 iDMA、其他设备或未来 NPU。"/>
          <p:cNvSpPr txBox="1"/>
          <p:nvPr/>
        </p:nvSpPr>
        <p:spPr>
          <a:xfrm>
            <a:off x="483616" y="1476878"/>
            <a:ext cx="51281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的协作不自动扩展到 iDMA、其他设备或未来 NPU。</a:t>
            </a:r>
          </a:p>
        </p:txBody>
      </p:sp>
      <p:sp>
        <p:nvSpPr>
          <p:cNvPr id="12" name="text-01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8: 源码：csr_regfile / acc_dispatcher / axi_in"/>
          <p:cNvSpPr txBox="1"/>
          <p:nvPr/>
        </p:nvSpPr>
        <p:spPr>
          <a:xfrm>
            <a:off x="341376" y="8526577"/>
            <a:ext cx="657860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源码：csr_regfile / acc_dispatcher / axi_inval_filter / cheshire_soc.sv</a:t>
            </a:r>
          </a:p>
        </p:txBody>
      </p:sp>
      <p:sp>
        <p:nvSpPr>
          <p:cNvPr id="14" name="rect-019"/>
          <p:cNvSpPr/>
          <p:nvPr/>
        </p:nvSpPr>
        <p:spPr>
          <a:xfrm>
            <a:off x="462280" y="23291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-020"/>
          <p:cNvSpPr/>
          <p:nvPr/>
        </p:nvSpPr>
        <p:spPr>
          <a:xfrm>
            <a:off x="462280" y="23291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21: CPU · WT L1D + 写缓冲"/>
          <p:cNvSpPr txBox="1"/>
          <p:nvPr/>
        </p:nvSpPr>
        <p:spPr>
          <a:xfrm>
            <a:off x="583184" y="2357059"/>
            <a:ext cx="254254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· WT L1D + 写缓冲</a:t>
            </a:r>
          </a:p>
        </p:txBody>
      </p:sp>
      <p:sp>
        <p:nvSpPr>
          <p:cNvPr id="17" name="text-022: 一致性 CSR 与 pending 等待"/>
          <p:cNvSpPr txBox="1"/>
          <p:nvPr/>
        </p:nvSpPr>
        <p:spPr>
          <a:xfrm>
            <a:off x="583184" y="2628453"/>
            <a:ext cx="274807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一致性 CSR 与 pending 等待</a:t>
            </a:r>
          </a:p>
        </p:txBody>
      </p:sp>
      <p:sp>
        <p:nvSpPr>
          <p:cNvPr id="18" name="text-023: 是否存在缓存副本取决于属性"/>
          <p:cNvSpPr txBox="1"/>
          <p:nvPr/>
        </p:nvSpPr>
        <p:spPr>
          <a:xfrm>
            <a:off x="583184" y="2841813"/>
            <a:ext cx="238963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是否存在缓存副本取决于属性</a:t>
            </a:r>
          </a:p>
        </p:txBody>
      </p:sp>
      <p:sp>
        <p:nvSpPr>
          <p:cNvPr id="19" name="text-024: fence 与 cache 操作职责不同"/>
          <p:cNvSpPr txBox="1"/>
          <p:nvPr/>
        </p:nvSpPr>
        <p:spPr>
          <a:xfrm>
            <a:off x="583184" y="3055173"/>
            <a:ext cx="280781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fence 与 cache 操作职责不同</a:t>
            </a:r>
          </a:p>
        </p:txBody>
      </p:sp>
      <p:sp>
        <p:nvSpPr>
          <p:cNvPr id="20" name="rect-025"/>
          <p:cNvSpPr/>
          <p:nvPr/>
        </p:nvSpPr>
        <p:spPr>
          <a:xfrm>
            <a:off x="4729480" y="23291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6"/>
          <p:cNvSpPr/>
          <p:nvPr/>
        </p:nvSpPr>
        <p:spPr>
          <a:xfrm>
            <a:off x="4729480" y="23291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7: Ara · VRF / VLSU"/>
          <p:cNvSpPr txBox="1"/>
          <p:nvPr/>
        </p:nvSpPr>
        <p:spPr>
          <a:xfrm>
            <a:off x="4850384" y="2357059"/>
            <a:ext cx="210799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VRF / VLSU</a:t>
            </a:r>
          </a:p>
        </p:txBody>
      </p:sp>
      <p:sp>
        <p:nvSpPr>
          <p:cNvPr id="23" name="text-028: 无独立地址标记 D-cache"/>
          <p:cNvSpPr txBox="1"/>
          <p:nvPr/>
        </p:nvSpPr>
        <p:spPr>
          <a:xfrm>
            <a:off x="4850384" y="2628453"/>
            <a:ext cx="22530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无独立地址标记 D-cache</a:t>
            </a:r>
          </a:p>
        </p:txBody>
      </p:sp>
      <p:sp>
        <p:nvSpPr>
          <p:cNvPr id="24" name="text-029: store 通过自身 AXI AW/W"/>
          <p:cNvSpPr txBox="1"/>
          <p:nvPr/>
        </p:nvSpPr>
        <p:spPr>
          <a:xfrm>
            <a:off x="4850384" y="2841813"/>
            <a:ext cx="251764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通过自身 AXI AW/W</a:t>
            </a:r>
          </a:p>
        </p:txBody>
      </p:sp>
      <p:sp>
        <p:nvSpPr>
          <p:cNvPr id="25" name="text-030: VRF 是寄存器文件"/>
          <p:cNvSpPr txBox="1"/>
          <p:nvPr/>
        </p:nvSpPr>
        <p:spPr>
          <a:xfrm>
            <a:off x="4850384" y="3055173"/>
            <a:ext cx="163860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是寄存器文件</a:t>
            </a:r>
          </a:p>
        </p:txBody>
      </p:sp>
      <p:sp>
        <p:nvSpPr>
          <p:cNvPr id="26" name="rect-031"/>
          <p:cNvSpPr/>
          <p:nvPr/>
        </p:nvSpPr>
        <p:spPr>
          <a:xfrm>
            <a:off x="8996680" y="23291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2"/>
          <p:cNvSpPr/>
          <p:nvPr/>
        </p:nvSpPr>
        <p:spPr>
          <a:xfrm>
            <a:off x="8996680" y="2329180"/>
            <a:ext cx="35560" cy="13512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3: iDMA / 其他设备"/>
          <p:cNvSpPr txBox="1"/>
          <p:nvPr/>
        </p:nvSpPr>
        <p:spPr>
          <a:xfrm>
            <a:off x="9117584" y="2357059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/ 其他设备</a:t>
            </a:r>
          </a:p>
        </p:txBody>
      </p:sp>
      <p:sp>
        <p:nvSpPr>
          <p:cNvPr id="29" name="text-034: 独立 AXI 发起端"/>
          <p:cNvSpPr txBox="1"/>
          <p:nvPr/>
        </p:nvSpPr>
        <p:spPr>
          <a:xfrm>
            <a:off x="9117584" y="2628453"/>
            <a:ext cx="157886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发起端</a:t>
            </a:r>
          </a:p>
        </p:txBody>
      </p:sp>
      <p:sp>
        <p:nvSpPr>
          <p:cNvPr id="30" name="text-035: 未自动加入 Ara 失效协议"/>
          <p:cNvSpPr txBox="1"/>
          <p:nvPr/>
        </p:nvSpPr>
        <p:spPr>
          <a:xfrm>
            <a:off x="9117584" y="2841813"/>
            <a:ext cx="22616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未自动加入 Ara 失效协议</a:t>
            </a:r>
          </a:p>
        </p:txBody>
      </p:sp>
      <p:sp>
        <p:nvSpPr>
          <p:cNvPr id="31" name="text-036: 驱动需管理数据可见性"/>
          <p:cNvSpPr txBox="1"/>
          <p:nvPr/>
        </p:nvSpPr>
        <p:spPr>
          <a:xfrm>
            <a:off x="9117584" y="305517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驱动需管理数据可见性</a:t>
            </a:r>
          </a:p>
        </p:txBody>
      </p:sp>
      <p:sp>
        <p:nvSpPr>
          <p:cNvPr id="32" name="rect-037"/>
          <p:cNvSpPr/>
          <p:nvPr/>
        </p:nvSpPr>
        <p:spPr>
          <a:xfrm>
            <a:off x="4729480" y="4533900"/>
            <a:ext cx="3342640" cy="889000"/>
          </a:xfrm>
          <a:prstGeom prst="roundRect">
            <a:avLst>
              <a:gd name="adj" fmla="val 56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8"/>
          <p:cNvSpPr/>
          <p:nvPr/>
        </p:nvSpPr>
        <p:spPr>
          <a:xfrm>
            <a:off x="4729480" y="4533900"/>
            <a:ext cx="35560" cy="8890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9: Ara AW 失效过滤"/>
          <p:cNvSpPr txBox="1"/>
          <p:nvPr/>
        </p:nvSpPr>
        <p:spPr>
          <a:xfrm>
            <a:off x="4850384" y="4561779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AW 失效过滤</a:t>
            </a:r>
          </a:p>
        </p:txBody>
      </p:sp>
      <p:sp>
        <p:nvSpPr>
          <p:cNvPr id="35" name="text-040: 向 CPU L1 发 line invalidate"/>
          <p:cNvSpPr txBox="1"/>
          <p:nvPr/>
        </p:nvSpPr>
        <p:spPr>
          <a:xfrm>
            <a:off x="4850384" y="4833173"/>
            <a:ext cx="317479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 CPU L1 发 line invalidate</a:t>
            </a:r>
          </a:p>
        </p:txBody>
      </p:sp>
      <p:sp>
        <p:nvSpPr>
          <p:cNvPr id="36" name="text-041: 同时处理系统方向访存"/>
          <p:cNvSpPr txBox="1"/>
          <p:nvPr/>
        </p:nvSpPr>
        <p:spPr>
          <a:xfrm>
            <a:off x="4850384" y="504653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同时处理系统方向访存</a:t>
            </a:r>
          </a:p>
        </p:txBody>
      </p:sp>
      <p:sp>
        <p:nvSpPr>
          <p:cNvPr id="37" name="text-042: L1 line invalidation"/>
          <p:cNvSpPr txBox="1"/>
          <p:nvPr/>
        </p:nvSpPr>
        <p:spPr>
          <a:xfrm>
            <a:off x="462280" y="4578279"/>
            <a:ext cx="219049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L1 line invalidation</a:t>
            </a:r>
          </a:p>
        </p:txBody>
      </p:sp>
      <p:sp>
        <p:nvSpPr>
          <p:cNvPr id="38" name="rect-043"/>
          <p:cNvSpPr/>
          <p:nvPr/>
        </p:nvSpPr>
        <p:spPr>
          <a:xfrm>
            <a:off x="1991360" y="6311900"/>
            <a:ext cx="8818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4"/>
          <p:cNvSpPr/>
          <p:nvPr/>
        </p:nvSpPr>
        <p:spPr>
          <a:xfrm>
            <a:off x="1991360" y="63119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5: Crossbar → 主存原子处理 → LLC / SPM → 外存"/>
          <p:cNvSpPr txBox="1"/>
          <p:nvPr/>
        </p:nvSpPr>
        <p:spPr>
          <a:xfrm>
            <a:off x="2112264" y="6339779"/>
            <a:ext cx="498337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主存原子处理 → LLC / SPM → 外存</a:t>
            </a:r>
          </a:p>
        </p:txBody>
      </p:sp>
      <p:sp>
        <p:nvSpPr>
          <p:cNvPr id="41" name="text-046: CPU 属性、SPM 别名和 LLC way 模式共同决定缓存副本存在条件"/>
          <p:cNvSpPr txBox="1"/>
          <p:nvPr/>
        </p:nvSpPr>
        <p:spPr>
          <a:xfrm>
            <a:off x="2112264" y="6611173"/>
            <a:ext cx="547055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属性、SPM 别名和 LLC way 模式共同决定缓存副本存在条件</a:t>
            </a:r>
          </a:p>
        </p:txBody>
      </p:sp>
      <p:sp>
        <p:nvSpPr>
          <p:cNvPr id="42" name="text-047: 全路径可见性须包含写缓冲、cache、副本、通知与消费者获取顺序"/>
          <p:cNvSpPr txBox="1"/>
          <p:nvPr/>
        </p:nvSpPr>
        <p:spPr>
          <a:xfrm>
            <a:off x="2112264" y="6824533"/>
            <a:ext cx="533400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全路径可见性须包含写缓冲、cache、副本、通知与消费者获取顺序</a:t>
            </a:r>
          </a:p>
        </p:txBody>
      </p:sp>
      <p:sp>
        <p:nvSpPr>
          <p:cNvPr id="43" name="text-048: 教材实验：独占高别名 SPM 缓冲区；实验结果不能推导出任意主设备之间的硬件一致"/>
          <p:cNvSpPr txBox="1"/>
          <p:nvPr/>
        </p:nvSpPr>
        <p:spPr>
          <a:xfrm>
            <a:off x="497840" y="7720076"/>
            <a:ext cx="73342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教材实验：独占高别名 SPM 缓冲区；实验结果不能推导出任意主设备之间的硬件一致性。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520440" y="29692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8143240" y="29692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11379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1955800" y="35026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 fill="none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10845800" y="35026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 fill="none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1955800" y="58140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 fill="none">
                <a:moveTo>
                  <a:pt x="0" y="0"/>
                </a:moveTo>
                <a:lnTo>
                  <a:pt x="0" y="1472184"/>
                </a:lnTo>
                <a:lnTo>
                  <a:pt x="2311400" y="14757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8534400" y="58140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 fill="none">
                <a:moveTo>
                  <a:pt x="2311400" y="0"/>
                </a:moveTo>
                <a:lnTo>
                  <a:pt x="2311400" y="1472184"/>
                </a:lnTo>
                <a:lnTo>
                  <a:pt x="0" y="147574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7: 未来共享存储：资源位置、访问路径与协议职责"/>
          <p:cNvSpPr txBox="1"/>
          <p:nvPr/>
        </p:nvSpPr>
        <p:spPr>
          <a:xfrm>
            <a:off x="483616" y="1071209"/>
            <a:ext cx="563270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未来共享存储：资源位置、访问路径与协议职责</a:t>
            </a:r>
          </a:p>
        </p:txBody>
      </p:sp>
      <p:sp>
        <p:nvSpPr>
          <p:cNvPr id="12" name="text-018: 共享地址空间只是第一步；选择 SPM / SRAM 或 DDR 还会改变容量、延"/>
          <p:cNvSpPr txBox="1"/>
          <p:nvPr/>
        </p:nvSpPr>
        <p:spPr>
          <a:xfrm>
            <a:off x="483616" y="1476878"/>
            <a:ext cx="687837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共享地址空间只是第一步；选择 SPM / SRAM 或 DDR 还会改变容量、延迟和缓存边界。</a:t>
            </a:r>
          </a:p>
        </p:txBody>
      </p:sp>
      <p:sp>
        <p:nvSpPr>
          <p:cNvPr id="13" name="text-019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20: 依据：未来 M01 / I01 契约；当前 VRF 不是可被 NPU 共享寻址的"/>
          <p:cNvSpPr txBox="1"/>
          <p:nvPr/>
        </p:nvSpPr>
        <p:spPr>
          <a:xfrm>
            <a:off x="341376" y="8526577"/>
            <a:ext cx="534111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依据：未来 M01 / I01 契约；当前 VRF 不是可被 NPU 共享寻址的 cache</a:t>
            </a:r>
          </a:p>
        </p:txBody>
      </p:sp>
      <p:sp>
        <p:nvSpPr>
          <p:cNvPr id="15" name="rect-021"/>
          <p:cNvSpPr/>
          <p:nvPr/>
        </p:nvSpPr>
        <p:spPr>
          <a:xfrm>
            <a:off x="391160" y="24358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-022"/>
          <p:cNvSpPr/>
          <p:nvPr/>
        </p:nvSpPr>
        <p:spPr>
          <a:xfrm>
            <a:off x="391160" y="24358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-023: CPU / Ara"/>
          <p:cNvSpPr txBox="1"/>
          <p:nvPr/>
        </p:nvSpPr>
        <p:spPr>
          <a:xfrm>
            <a:off x="51206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18" name="text-024: 任务控制与后处理"/>
          <p:cNvSpPr txBox="1"/>
          <p:nvPr/>
        </p:nvSpPr>
        <p:spPr>
          <a:xfrm>
            <a:off x="512064" y="273513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任务控制与后处理</a:t>
            </a:r>
          </a:p>
        </p:txBody>
      </p:sp>
      <p:sp>
        <p:nvSpPr>
          <p:cNvPr id="19" name="text-025: 现有 LLC 路径"/>
          <p:cNvSpPr txBox="1"/>
          <p:nvPr/>
        </p:nvSpPr>
        <p:spPr>
          <a:xfrm>
            <a:off x="512064" y="2948493"/>
            <a:ext cx="140817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20" name="rect-026"/>
          <p:cNvSpPr/>
          <p:nvPr/>
        </p:nvSpPr>
        <p:spPr>
          <a:xfrm>
            <a:off x="9281160" y="24358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7"/>
          <p:cNvSpPr/>
          <p:nvPr/>
        </p:nvSpPr>
        <p:spPr>
          <a:xfrm>
            <a:off x="9281160" y="24358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8: NPU / ISP"/>
          <p:cNvSpPr txBox="1"/>
          <p:nvPr/>
        </p:nvSpPr>
        <p:spPr>
          <a:xfrm>
            <a:off x="940206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</a:t>
            </a:r>
          </a:p>
        </p:txBody>
      </p:sp>
      <p:sp>
        <p:nvSpPr>
          <p:cNvPr id="23" name="text-029: 独立数据发起端"/>
          <p:cNvSpPr txBox="1"/>
          <p:nvPr/>
        </p:nvSpPr>
        <p:spPr>
          <a:xfrm>
            <a:off x="9402064" y="273513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独立数据发起端</a:t>
            </a:r>
          </a:p>
        </p:txBody>
      </p:sp>
      <p:sp>
        <p:nvSpPr>
          <p:cNvPr id="24" name="text-030: 未来 DDR 旁路"/>
          <p:cNvSpPr txBox="1"/>
          <p:nvPr/>
        </p:nvSpPr>
        <p:spPr>
          <a:xfrm>
            <a:off x="9402064" y="2948493"/>
            <a:ext cx="140817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 DDR 旁路</a:t>
            </a:r>
          </a:p>
        </p:txBody>
      </p:sp>
      <p:sp>
        <p:nvSpPr>
          <p:cNvPr id="25" name="rect-031"/>
          <p:cNvSpPr/>
          <p:nvPr/>
        </p:nvSpPr>
        <p:spPr>
          <a:xfrm>
            <a:off x="4658360" y="2435860"/>
            <a:ext cx="3484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32"/>
          <p:cNvSpPr/>
          <p:nvPr/>
        </p:nvSpPr>
        <p:spPr>
          <a:xfrm>
            <a:off x="4658360" y="24358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3: 共享 SPM / SRAM 候选"/>
          <p:cNvSpPr txBox="1"/>
          <p:nvPr/>
        </p:nvSpPr>
        <p:spPr>
          <a:xfrm>
            <a:off x="4779264" y="2463739"/>
            <a:ext cx="236687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共享 SPM / SRAM 候选</a:t>
            </a:r>
          </a:p>
        </p:txBody>
      </p:sp>
      <p:sp>
        <p:nvSpPr>
          <p:cNvPr id="28" name="text-034: 小块数据 / 明确地址与所有权"/>
          <p:cNvSpPr txBox="1"/>
          <p:nvPr/>
        </p:nvSpPr>
        <p:spPr>
          <a:xfrm>
            <a:off x="4779264" y="2735133"/>
            <a:ext cx="255178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小块数据 / 明确地址与所有权</a:t>
            </a:r>
          </a:p>
        </p:txBody>
      </p:sp>
      <p:sp>
        <p:nvSpPr>
          <p:cNvPr id="29" name="text-035: 新增接入路径需单独定义"/>
          <p:cNvSpPr txBox="1"/>
          <p:nvPr/>
        </p:nvSpPr>
        <p:spPr>
          <a:xfrm>
            <a:off x="4779264" y="294849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新增接入路径需单独定义</a:t>
            </a:r>
          </a:p>
        </p:txBody>
      </p:sp>
      <p:sp>
        <p:nvSpPr>
          <p:cNvPr id="30" name="rect-036"/>
          <p:cNvSpPr/>
          <p:nvPr/>
        </p:nvSpPr>
        <p:spPr>
          <a:xfrm>
            <a:off x="391160" y="47472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7"/>
          <p:cNvSpPr/>
          <p:nvPr/>
        </p:nvSpPr>
        <p:spPr>
          <a:xfrm>
            <a:off x="391160" y="47472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8: 现有 LLC 路径"/>
          <p:cNvSpPr txBox="1"/>
          <p:nvPr/>
        </p:nvSpPr>
        <p:spPr>
          <a:xfrm>
            <a:off x="512064" y="4775139"/>
            <a:ext cx="152552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33" name="text-039: 缓存副本与脏数据处理"/>
          <p:cNvSpPr txBox="1"/>
          <p:nvPr/>
        </p:nvSpPr>
        <p:spPr>
          <a:xfrm>
            <a:off x="512064" y="504653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缓存副本与脏数据处理</a:t>
            </a:r>
          </a:p>
        </p:txBody>
      </p:sp>
      <p:sp>
        <p:nvSpPr>
          <p:cNvPr id="34" name="text-040: CPU / Ara 维护条件"/>
          <p:cNvSpPr txBox="1"/>
          <p:nvPr/>
        </p:nvSpPr>
        <p:spPr>
          <a:xfrm>
            <a:off x="512064" y="5259893"/>
            <a:ext cx="196291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维护条件</a:t>
            </a:r>
          </a:p>
        </p:txBody>
      </p:sp>
      <p:sp>
        <p:nvSpPr>
          <p:cNvPr id="35" name="rect-041"/>
          <p:cNvSpPr/>
          <p:nvPr/>
        </p:nvSpPr>
        <p:spPr>
          <a:xfrm>
            <a:off x="9281160" y="47472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2"/>
          <p:cNvSpPr/>
          <p:nvPr/>
        </p:nvSpPr>
        <p:spPr>
          <a:xfrm>
            <a:off x="9281160" y="47472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3: 旁路互连候选"/>
          <p:cNvSpPr txBox="1"/>
          <p:nvPr/>
        </p:nvSpPr>
        <p:spPr>
          <a:xfrm>
            <a:off x="9402064" y="477513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旁路互连候选</a:t>
            </a:r>
          </a:p>
        </p:txBody>
      </p:sp>
      <p:sp>
        <p:nvSpPr>
          <p:cNvPr id="38" name="text-044: CDC / ID / 带宽与错误"/>
          <p:cNvSpPr txBox="1"/>
          <p:nvPr/>
        </p:nvSpPr>
        <p:spPr>
          <a:xfrm>
            <a:off x="9402064" y="5046533"/>
            <a:ext cx="224454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ID / 带宽与错误</a:t>
            </a:r>
          </a:p>
        </p:txBody>
      </p:sp>
      <p:sp>
        <p:nvSpPr>
          <p:cNvPr id="39" name="text-045: 与 LLC 下游汇合"/>
          <p:cNvSpPr txBox="1"/>
          <p:nvPr/>
        </p:nvSpPr>
        <p:spPr>
          <a:xfrm>
            <a:off x="9402064" y="5259893"/>
            <a:ext cx="157886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LLC 下游汇合</a:t>
            </a:r>
          </a:p>
        </p:txBody>
      </p:sp>
      <p:sp>
        <p:nvSpPr>
          <p:cNvPr id="40" name="rect-046"/>
          <p:cNvSpPr/>
          <p:nvPr/>
        </p:nvSpPr>
        <p:spPr>
          <a:xfrm>
            <a:off x="4267200" y="6774180"/>
            <a:ext cx="426720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7"/>
          <p:cNvSpPr/>
          <p:nvPr/>
        </p:nvSpPr>
        <p:spPr>
          <a:xfrm>
            <a:off x="4267200" y="67741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8: AXI4 DDR CTRL + PHY + DRAM"/>
          <p:cNvSpPr txBox="1"/>
          <p:nvPr/>
        </p:nvSpPr>
        <p:spPr>
          <a:xfrm>
            <a:off x="4388104" y="6802059"/>
            <a:ext cx="330992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AXI4 DDR CTRL + PHY + DRAM</a:t>
            </a:r>
          </a:p>
        </p:txBody>
      </p:sp>
      <p:sp>
        <p:nvSpPr>
          <p:cNvPr id="43" name="text-049: 共用数据布局与可见性协议"/>
          <p:cNvSpPr txBox="1"/>
          <p:nvPr/>
        </p:nvSpPr>
        <p:spPr>
          <a:xfrm>
            <a:off x="4388104" y="707345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共用数据布局与可见性协议</a:t>
            </a:r>
          </a:p>
        </p:txBody>
      </p:sp>
      <p:sp>
        <p:nvSpPr>
          <p:cNvPr id="44" name="text-050: 普通旁路写也纳入原子 / LRSC 验证"/>
          <p:cNvSpPr txBox="1"/>
          <p:nvPr/>
        </p:nvSpPr>
        <p:spPr>
          <a:xfrm>
            <a:off x="4388104" y="7286813"/>
            <a:ext cx="31065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普通旁路写也纳入原子 / LRSC 验证</a:t>
            </a:r>
          </a:p>
        </p:txBody>
      </p:sp>
      <p:sp>
        <p:nvSpPr>
          <p:cNvPr id="45" name="rect-051"/>
          <p:cNvSpPr/>
          <p:nvPr/>
        </p:nvSpPr>
        <p:spPr>
          <a:xfrm>
            <a:off x="4658360" y="4533900"/>
            <a:ext cx="3484880" cy="1422400"/>
          </a:xfrm>
          <a:prstGeom prst="roundRect">
            <a:avLst>
              <a:gd name="adj" fmla="val 35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52"/>
          <p:cNvSpPr/>
          <p:nvPr/>
        </p:nvSpPr>
        <p:spPr>
          <a:xfrm>
            <a:off x="4658360" y="4533900"/>
            <a:ext cx="35560" cy="14224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3: 一次任务的协议"/>
          <p:cNvSpPr txBox="1"/>
          <p:nvPr/>
        </p:nvSpPr>
        <p:spPr>
          <a:xfrm>
            <a:off x="4779264" y="4561779"/>
            <a:ext cx="147929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一次任务的协议</a:t>
            </a:r>
          </a:p>
        </p:txBody>
      </p:sp>
      <p:sp>
        <p:nvSpPr>
          <p:cNvPr id="48" name="text-054: 谁可写？何时可读？"/>
          <p:cNvSpPr txBox="1"/>
          <p:nvPr/>
        </p:nvSpPr>
        <p:spPr>
          <a:xfrm>
            <a:off x="4779264" y="4848535"/>
            <a:ext cx="156464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谁可写？何时可读？</a:t>
            </a:r>
          </a:p>
        </p:txBody>
      </p:sp>
      <p:sp>
        <p:nvSpPr>
          <p:cNvPr id="49" name="text-055: 由谁发布、观察并核对完成？"/>
          <p:cNvSpPr txBox="1"/>
          <p:nvPr/>
        </p:nvSpPr>
        <p:spPr>
          <a:xfrm>
            <a:off x="4779264" y="5061895"/>
            <a:ext cx="219049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由谁发布、观察并核对完成？</a:t>
            </a:r>
          </a:p>
        </p:txBody>
      </p:sp>
      <p:sp>
        <p:nvSpPr>
          <p:cNvPr id="50" name="text-056: 超时后谁保证设备已停止？"/>
          <p:cNvSpPr txBox="1"/>
          <p:nvPr/>
        </p:nvSpPr>
        <p:spPr>
          <a:xfrm>
            <a:off x="4779264" y="5275255"/>
            <a:ext cx="203403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超时后谁保证设备已停止？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84480" y="2044700"/>
            <a:ext cx="1223264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3235960" y="29870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 fill="none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1884680" y="3431540"/>
            <a:ext cx="4516120" cy="568960"/>
          </a:xfrm>
          <a:custGeom>
            <a:avLst/>
            <a:gdLst/>
            <a:ahLst/>
            <a:cxnLst/>
            <a:rect l="0" t="0" r="r" b="b"/>
            <a:pathLst>
              <a:path w="4516120" h="568960" fill="none">
                <a:moveTo>
                  <a:pt x="0" y="0"/>
                </a:moveTo>
                <a:lnTo>
                  <a:pt x="0" y="248920"/>
                </a:lnTo>
                <a:lnTo>
                  <a:pt x="4516120" y="248920"/>
                </a:lnTo>
                <a:lnTo>
                  <a:pt x="451612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6400800" y="3431540"/>
            <a:ext cx="35560" cy="568960"/>
          </a:xfrm>
          <a:custGeom>
            <a:avLst/>
            <a:gdLst/>
            <a:ahLst/>
            <a:cxnLst/>
            <a:rect l="0" t="0" r="r" b="b"/>
            <a:pathLst>
              <a:path w="35560" h="568960" fill="none">
                <a:moveTo>
                  <a:pt x="35560" y="0"/>
                </a:moveTo>
                <a:lnTo>
                  <a:pt x="3556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6400800" y="3431540"/>
            <a:ext cx="4498340" cy="568960"/>
          </a:xfrm>
          <a:custGeom>
            <a:avLst/>
            <a:gdLst/>
            <a:ahLst/>
            <a:cxnLst/>
            <a:rect l="0" t="0" r="r" b="b"/>
            <a:pathLst>
              <a:path w="4498340" h="568960" fill="none">
                <a:moveTo>
                  <a:pt x="4498340" y="0"/>
                </a:moveTo>
                <a:lnTo>
                  <a:pt x="449834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4"/>
          <p:cNvSpPr/>
          <p:nvPr/>
        </p:nvSpPr>
        <p:spPr>
          <a:xfrm>
            <a:off x="2098040" y="46974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 fill="none">
                <a:moveTo>
                  <a:pt x="4302760" y="0"/>
                </a:moveTo>
                <a:lnTo>
                  <a:pt x="430276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6"/>
          <p:cNvSpPr/>
          <p:nvPr/>
        </p:nvSpPr>
        <p:spPr>
          <a:xfrm>
            <a:off x="6400800" y="4697476"/>
            <a:ext cx="1" cy="725424"/>
          </a:xfrm>
          <a:custGeom>
            <a:avLst/>
            <a:gdLst/>
            <a:ahLst/>
            <a:cxnLst/>
            <a:rect l="0" t="0" r="r" b="b"/>
            <a:pathLst>
              <a:path w="1" h="725424" fill="none">
                <a:moveTo>
                  <a:pt x="0" y="0"/>
                </a:moveTo>
                <a:lnTo>
                  <a:pt x="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8"/>
          <p:cNvSpPr/>
          <p:nvPr/>
        </p:nvSpPr>
        <p:spPr>
          <a:xfrm>
            <a:off x="6400800" y="46974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 fill="none">
                <a:moveTo>
                  <a:pt x="0" y="0"/>
                </a:moveTo>
                <a:lnTo>
                  <a:pt x="0" y="369824"/>
                </a:lnTo>
                <a:lnTo>
                  <a:pt x="4302760" y="369824"/>
                </a:lnTo>
                <a:lnTo>
                  <a:pt x="430276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20: Cheshire / CVA6 / Ara：计算、控制与存储边界"/>
          <p:cNvSpPr txBox="1"/>
          <p:nvPr/>
        </p:nvSpPr>
        <p:spPr>
          <a:xfrm>
            <a:off x="483616" y="1071209"/>
            <a:ext cx="6567221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Cheshire / CVA6 / Ara：计算、控制与存储边界</a:t>
            </a:r>
          </a:p>
        </p:txBody>
      </p:sp>
      <p:sp>
        <p:nvSpPr>
          <p:cNvPr id="14" name="text-021: 可选 IP 是否存在由 Cfg 决定；数据箭头表示请求，响应沿相应事务返回。"/>
          <p:cNvSpPr txBox="1"/>
          <p:nvPr/>
        </p:nvSpPr>
        <p:spPr>
          <a:xfrm>
            <a:off x="483616" y="1476878"/>
            <a:ext cx="586420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IP 是否存在由 Cfg 决定；数据箭头表示请求，响应沿相应事务返回。</a:t>
            </a:r>
          </a:p>
        </p:txBody>
      </p:sp>
      <p:sp>
        <p:nvSpPr>
          <p:cNvPr id="15" name="text-022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3: 源码：cheshire_soc.sv::gen_ara / i_axi_xbar"/>
          <p:cNvSpPr txBox="1"/>
          <p:nvPr/>
        </p:nvSpPr>
        <p:spPr>
          <a:xfrm>
            <a:off x="341376" y="8526577"/>
            <a:ext cx="773785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源码：cheshire_soc.sv::gen_ara / i_axi_xbar / i_reg_demux / gen_llc；cheshire_pkg.sv</a:t>
            </a:r>
          </a:p>
        </p:txBody>
      </p:sp>
      <p:sp>
        <p:nvSpPr>
          <p:cNvPr id="17" name="text-024: Cheshire 数字 SoC 边界"/>
          <p:cNvSpPr txBox="1"/>
          <p:nvPr/>
        </p:nvSpPr>
        <p:spPr>
          <a:xfrm>
            <a:off x="412496" y="2101596"/>
            <a:ext cx="25069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Cheshire 数字 SoC 边界</a:t>
            </a:r>
          </a:p>
        </p:txBody>
      </p:sp>
      <p:sp>
        <p:nvSpPr>
          <p:cNvPr id="18" name="rect-025"/>
          <p:cNvSpPr/>
          <p:nvPr/>
        </p:nvSpPr>
        <p:spPr>
          <a:xfrm>
            <a:off x="533400" y="2542540"/>
            <a:ext cx="270256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-026"/>
          <p:cNvSpPr/>
          <p:nvPr/>
        </p:nvSpPr>
        <p:spPr>
          <a:xfrm>
            <a:off x="533400" y="25425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-027: CVA6"/>
          <p:cNvSpPr txBox="1"/>
          <p:nvPr/>
        </p:nvSpPr>
        <p:spPr>
          <a:xfrm>
            <a:off x="654304" y="2570419"/>
            <a:ext cx="66568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21" name="text-028: 取指 / 标量 / FPU / MMU"/>
          <p:cNvSpPr txBox="1"/>
          <p:nvPr/>
        </p:nvSpPr>
        <p:spPr>
          <a:xfrm>
            <a:off x="654304" y="2841813"/>
            <a:ext cx="251764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取指 / 标量 / FPU / MMU</a:t>
            </a:r>
          </a:p>
        </p:txBody>
      </p:sp>
      <p:sp>
        <p:nvSpPr>
          <p:cNvPr id="22" name="text-029: L1 cache 与写缓冲"/>
          <p:cNvSpPr txBox="1"/>
          <p:nvPr/>
        </p:nvSpPr>
        <p:spPr>
          <a:xfrm>
            <a:off x="654304" y="3055173"/>
            <a:ext cx="185196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与写缓冲</a:t>
            </a:r>
          </a:p>
        </p:txBody>
      </p:sp>
      <p:sp>
        <p:nvSpPr>
          <p:cNvPr id="23" name="rect-030"/>
          <p:cNvSpPr/>
          <p:nvPr/>
        </p:nvSpPr>
        <p:spPr>
          <a:xfrm>
            <a:off x="5049520" y="2542540"/>
            <a:ext cx="277368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31"/>
          <p:cNvSpPr/>
          <p:nvPr/>
        </p:nvSpPr>
        <p:spPr>
          <a:xfrm>
            <a:off x="5049520" y="25425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32: Ara · 可选"/>
          <p:cNvSpPr txBox="1"/>
          <p:nvPr/>
        </p:nvSpPr>
        <p:spPr>
          <a:xfrm>
            <a:off x="5170424" y="257041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可选</a:t>
            </a:r>
          </a:p>
        </p:txBody>
      </p:sp>
      <p:sp>
        <p:nvSpPr>
          <p:cNvPr id="26" name="text-033: dispatcher / VRF / lanes"/>
          <p:cNvSpPr txBox="1"/>
          <p:nvPr/>
        </p:nvSpPr>
        <p:spPr>
          <a:xfrm>
            <a:off x="5170424" y="2841813"/>
            <a:ext cx="283342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dispatcher / VRF / lanes</a:t>
            </a:r>
          </a:p>
        </p:txBody>
      </p:sp>
      <p:sp>
        <p:nvSpPr>
          <p:cNvPr id="27" name="text-034: VLSU：独立 AXI 访存"/>
          <p:cNvSpPr txBox="1"/>
          <p:nvPr/>
        </p:nvSpPr>
        <p:spPr>
          <a:xfrm>
            <a:off x="5170424" y="3055173"/>
            <a:ext cx="202265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VLSU：独立 AXI 访存</a:t>
            </a:r>
          </a:p>
        </p:txBody>
      </p:sp>
      <p:sp>
        <p:nvSpPr>
          <p:cNvPr id="28" name="rect-035"/>
          <p:cNvSpPr/>
          <p:nvPr/>
        </p:nvSpPr>
        <p:spPr>
          <a:xfrm>
            <a:off x="9530080" y="2542540"/>
            <a:ext cx="273812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6"/>
          <p:cNvSpPr/>
          <p:nvPr/>
        </p:nvSpPr>
        <p:spPr>
          <a:xfrm>
            <a:off x="9530080" y="25425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7: 其他发起端"/>
          <p:cNvSpPr txBox="1"/>
          <p:nvPr/>
        </p:nvSpPr>
        <p:spPr>
          <a:xfrm>
            <a:off x="9650984" y="257041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其他发起端</a:t>
            </a:r>
          </a:p>
        </p:txBody>
      </p:sp>
      <p:sp>
        <p:nvSpPr>
          <p:cNvPr id="31" name="text-038: Debug SBA / iDMA / Link"/>
          <p:cNvSpPr txBox="1"/>
          <p:nvPr/>
        </p:nvSpPr>
        <p:spPr>
          <a:xfrm>
            <a:off x="9650984" y="2841813"/>
            <a:ext cx="272247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SBA / iDMA / Link</a:t>
            </a:r>
          </a:p>
        </p:txBody>
      </p:sp>
      <p:sp>
        <p:nvSpPr>
          <p:cNvPr id="32" name="text-039: VGA / USB 数据请求"/>
          <p:cNvSpPr txBox="1"/>
          <p:nvPr/>
        </p:nvSpPr>
        <p:spPr>
          <a:xfrm>
            <a:off x="9650984" y="3055173"/>
            <a:ext cx="196291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VGA / USB 数据请求</a:t>
            </a:r>
          </a:p>
        </p:txBody>
      </p:sp>
      <p:sp>
        <p:nvSpPr>
          <p:cNvPr id="33" name="text-040: 指令 / 操作数"/>
          <p:cNvSpPr txBox="1"/>
          <p:nvPr/>
        </p:nvSpPr>
        <p:spPr>
          <a:xfrm>
            <a:off x="3342640" y="2650927"/>
            <a:ext cx="1243889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指令 / 操作数</a:t>
            </a:r>
          </a:p>
        </p:txBody>
      </p:sp>
      <p:sp>
        <p:nvSpPr>
          <p:cNvPr id="34" name="text-041: MMU / 完成 / 失效协作"/>
          <p:cNvSpPr txBox="1"/>
          <p:nvPr/>
        </p:nvSpPr>
        <p:spPr>
          <a:xfrm>
            <a:off x="3413760" y="3114345"/>
            <a:ext cx="1827784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/ 完成 / 失效协作</a:t>
            </a:r>
          </a:p>
        </p:txBody>
      </p:sp>
      <p:sp>
        <p:nvSpPr>
          <p:cNvPr id="35" name="rect-042"/>
          <p:cNvSpPr/>
          <p:nvPr/>
        </p:nvSpPr>
        <p:spPr>
          <a:xfrm>
            <a:off x="1920240" y="4000500"/>
            <a:ext cx="8961120" cy="696976"/>
          </a:xfrm>
          <a:prstGeom prst="roundRect">
            <a:avLst>
              <a:gd name="adj" fmla="val 71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3"/>
          <p:cNvSpPr/>
          <p:nvPr/>
        </p:nvSpPr>
        <p:spPr>
          <a:xfrm>
            <a:off x="1920240" y="4000500"/>
            <a:ext cx="35560" cy="69697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4: AXI Crossbar"/>
          <p:cNvSpPr txBox="1"/>
          <p:nvPr/>
        </p:nvSpPr>
        <p:spPr>
          <a:xfrm>
            <a:off x="2041144" y="4028379"/>
            <a:ext cx="1627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 Crossbar</a:t>
            </a:r>
          </a:p>
        </p:txBody>
      </p:sp>
      <p:sp>
        <p:nvSpPr>
          <p:cNvPr id="38" name="text-045: 每输入译码 / 分流；每目标仲裁；W 路由与 ID 响应跟踪"/>
          <p:cNvSpPr txBox="1"/>
          <p:nvPr/>
        </p:nvSpPr>
        <p:spPr>
          <a:xfrm>
            <a:off x="2041144" y="4299773"/>
            <a:ext cx="475366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每输入译码 / 分流；每目标仲裁；W 路由与 ID 响应跟踪</a:t>
            </a:r>
          </a:p>
        </p:txBody>
      </p:sp>
      <p:sp>
        <p:nvSpPr>
          <p:cNvPr id="39" name="rect-046"/>
          <p:cNvSpPr/>
          <p:nvPr/>
        </p:nvSpPr>
        <p:spPr>
          <a:xfrm>
            <a:off x="533400" y="54229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-047"/>
          <p:cNvSpPr/>
          <p:nvPr/>
        </p:nvSpPr>
        <p:spPr>
          <a:xfrm>
            <a:off x="533400" y="542290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-048: AXI → Reg 桥"/>
          <p:cNvSpPr txBox="1"/>
          <p:nvPr/>
        </p:nvSpPr>
        <p:spPr>
          <a:xfrm>
            <a:off x="654304" y="5450779"/>
            <a:ext cx="163647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AXI → Reg 桥</a:t>
            </a:r>
          </a:p>
        </p:txBody>
      </p:sp>
      <p:sp>
        <p:nvSpPr>
          <p:cNvPr id="42" name="text-049: 二级地址译码 → 启动 ROM"/>
          <p:cNvSpPr txBox="1"/>
          <p:nvPr/>
        </p:nvSpPr>
        <p:spPr>
          <a:xfrm>
            <a:off x="654304" y="5722173"/>
            <a:ext cx="237256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二级地址译码 → 启动 ROM</a:t>
            </a:r>
          </a:p>
        </p:txBody>
      </p:sp>
      <p:sp>
        <p:nvSpPr>
          <p:cNvPr id="43" name="text-050: CLINT / PLIC / MMIO 控制"/>
          <p:cNvSpPr txBox="1"/>
          <p:nvPr/>
        </p:nvSpPr>
        <p:spPr>
          <a:xfrm>
            <a:off x="654304" y="5935533"/>
            <a:ext cx="273100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/ PLIC / MMIO 控制</a:t>
            </a:r>
          </a:p>
        </p:txBody>
      </p:sp>
      <p:sp>
        <p:nvSpPr>
          <p:cNvPr id="44" name="rect-051"/>
          <p:cNvSpPr/>
          <p:nvPr/>
        </p:nvSpPr>
        <p:spPr>
          <a:xfrm>
            <a:off x="4836160" y="54229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52"/>
          <p:cNvSpPr/>
          <p:nvPr/>
        </p:nvSpPr>
        <p:spPr>
          <a:xfrm>
            <a:off x="4836160" y="54229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53: 原子处理 → LLC / SPM"/>
          <p:cNvSpPr txBox="1"/>
          <p:nvPr/>
        </p:nvSpPr>
        <p:spPr>
          <a:xfrm>
            <a:off x="4957064" y="5450779"/>
            <a:ext cx="24315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原子处理 → LLC / SPM</a:t>
            </a:r>
          </a:p>
        </p:txBody>
      </p:sp>
      <p:sp>
        <p:nvSpPr>
          <p:cNvPr id="47" name="text-054: SPM / cache 共用片上阵列"/>
          <p:cNvSpPr txBox="1"/>
          <p:nvPr/>
        </p:nvSpPr>
        <p:spPr>
          <a:xfrm>
            <a:off x="4957064" y="5722173"/>
            <a:ext cx="25261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/ cache 共用片上阵列</a:t>
            </a:r>
          </a:p>
        </p:txBody>
      </p:sp>
      <p:sp>
        <p:nvSpPr>
          <p:cNvPr id="48" name="text-055: LLC 下游 AXI → 平台外存"/>
          <p:cNvSpPr txBox="1"/>
          <p:nvPr/>
        </p:nvSpPr>
        <p:spPr>
          <a:xfrm>
            <a:off x="4957064" y="5935533"/>
            <a:ext cx="247497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平台外存</a:t>
            </a:r>
          </a:p>
        </p:txBody>
      </p:sp>
      <p:sp>
        <p:nvSpPr>
          <p:cNvPr id="49" name="rect-056"/>
          <p:cNvSpPr/>
          <p:nvPr/>
        </p:nvSpPr>
        <p:spPr>
          <a:xfrm>
            <a:off x="9138920" y="54229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-057"/>
          <p:cNvSpPr/>
          <p:nvPr/>
        </p:nvSpPr>
        <p:spPr>
          <a:xfrm>
            <a:off x="9138920" y="54229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58: Debug / iDMA / Link 目标"/>
          <p:cNvSpPr txBox="1"/>
          <p:nvPr/>
        </p:nvSpPr>
        <p:spPr>
          <a:xfrm>
            <a:off x="9259824" y="5450779"/>
            <a:ext cx="295859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/ iDMA / Link 目标</a:t>
            </a:r>
          </a:p>
        </p:txBody>
      </p:sp>
      <p:sp>
        <p:nvSpPr>
          <p:cNvPr id="52" name="text-059: 配置或对端访问窗口"/>
          <p:cNvSpPr txBox="1"/>
          <p:nvPr/>
        </p:nvSpPr>
        <p:spPr>
          <a:xfrm>
            <a:off x="9259824" y="5722173"/>
            <a:ext cx="170688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配置或对端访问窗口</a:t>
            </a:r>
          </a:p>
        </p:txBody>
      </p:sp>
      <p:sp>
        <p:nvSpPr>
          <p:cNvPr id="53" name="text-060: 与各自的发起端口分开"/>
          <p:cNvSpPr txBox="1"/>
          <p:nvPr/>
        </p:nvSpPr>
        <p:spPr>
          <a:xfrm>
            <a:off x="9259824" y="593553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与各自的发起端口分开</a:t>
            </a:r>
          </a:p>
        </p:txBody>
      </p:sp>
      <p:sp>
        <p:nvSpPr>
          <p:cNvPr id="54" name="rect-061"/>
          <p:cNvSpPr/>
          <p:nvPr/>
        </p:nvSpPr>
        <p:spPr>
          <a:xfrm>
            <a:off x="533400" y="7058660"/>
            <a:ext cx="540512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-062"/>
          <p:cNvSpPr/>
          <p:nvPr/>
        </p:nvSpPr>
        <p:spPr>
          <a:xfrm>
            <a:off x="533400" y="705866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-063: 寄存器、引脚与事件"/>
          <p:cNvSpPr txBox="1"/>
          <p:nvPr/>
        </p:nvSpPr>
        <p:spPr>
          <a:xfrm>
            <a:off x="654304" y="708653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寄存器、引脚与事件</a:t>
            </a:r>
          </a:p>
        </p:txBody>
      </p:sp>
      <p:sp>
        <p:nvSpPr>
          <p:cNvPr id="57" name="text-064: CPU 写 MMIO → 外设状态机 → UART / SPI / I2C / "/>
          <p:cNvSpPr txBox="1"/>
          <p:nvPr/>
        </p:nvSpPr>
        <p:spPr>
          <a:xfrm>
            <a:off x="654304" y="7373295"/>
            <a:ext cx="548406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写 MMIO → 外设状态机 → UART / SPI / I2C / GPIO 引脚</a:t>
            </a:r>
          </a:p>
        </p:txBody>
      </p:sp>
      <p:sp>
        <p:nvSpPr>
          <p:cNvPr id="58" name="text-065: 外设 IRQ 经同步 / PLIC 等入口返回 CPU"/>
          <p:cNvSpPr txBox="1"/>
          <p:nvPr/>
        </p:nvSpPr>
        <p:spPr>
          <a:xfrm>
            <a:off x="654304" y="7586655"/>
            <a:ext cx="345003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 IRQ 经同步 / PLIC 等入口返回 CPU</a:t>
            </a:r>
          </a:p>
        </p:txBody>
      </p:sp>
      <p:sp>
        <p:nvSpPr>
          <p:cNvPr id="59" name="rect-066"/>
          <p:cNvSpPr/>
          <p:nvPr/>
        </p:nvSpPr>
        <p:spPr>
          <a:xfrm>
            <a:off x="6649720" y="7058660"/>
            <a:ext cx="5618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-067"/>
          <p:cNvSpPr/>
          <p:nvPr/>
        </p:nvSpPr>
        <p:spPr>
          <a:xfrm>
            <a:off x="6649720" y="705866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-068: 平台外存边界"/>
          <p:cNvSpPr txBox="1"/>
          <p:nvPr/>
        </p:nvSpPr>
        <p:spPr>
          <a:xfrm>
            <a:off x="6770624" y="708653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平台外存边界</a:t>
            </a:r>
          </a:p>
        </p:txBody>
      </p:sp>
      <p:sp>
        <p:nvSpPr>
          <p:cNvPr id="62" name="text-069: 仿真：RAM 模型；FPGA：MIG / DDR；ASIC：待采购 CTRL +"/>
          <p:cNvSpPr txBox="1"/>
          <p:nvPr/>
        </p:nvSpPr>
        <p:spPr>
          <a:xfrm>
            <a:off x="6770624" y="7373295"/>
            <a:ext cx="528848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仿真：RAM 模型；FPGA：MIG / DDR；ASIC：待采购 CTRL + PHY</a:t>
            </a:r>
          </a:p>
        </p:txBody>
      </p:sp>
      <p:sp>
        <p:nvSpPr>
          <p:cNvPr id="63" name="text-070: CVA6–Ara 控制接口、AXI 数据口、MMIO 与 IRQ 是不同路径"/>
          <p:cNvSpPr txBox="1"/>
          <p:nvPr/>
        </p:nvSpPr>
        <p:spPr>
          <a:xfrm>
            <a:off x="6770624" y="7586655"/>
            <a:ext cx="489732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CVA6–Ara 控制接口、AXI 数据口、MMIO 与 IRQ 是不同路径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20040" y="2115820"/>
            <a:ext cx="12161520" cy="2418080"/>
          </a:xfrm>
          <a:prstGeom prst="roundRect">
            <a:avLst>
              <a:gd name="adj" fmla="val 3529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320040" y="4889500"/>
            <a:ext cx="12161520" cy="1991360"/>
          </a:xfrm>
          <a:prstGeom prst="roundRect">
            <a:avLst>
              <a:gd name="adj" fmla="val 428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3449320" y="33248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7752080" y="316484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7752080" y="364490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145796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3449320" y="5794502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5"/>
          <p:cNvSpPr/>
          <p:nvPr/>
        </p:nvSpPr>
        <p:spPr>
          <a:xfrm>
            <a:off x="3449320" y="6226556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7"/>
          <p:cNvSpPr/>
          <p:nvPr/>
        </p:nvSpPr>
        <p:spPr>
          <a:xfrm>
            <a:off x="7752080" y="593852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19"/>
          <p:cNvSpPr/>
          <p:nvPr/>
        </p:nvSpPr>
        <p:spPr>
          <a:xfrm>
            <a:off x="6223000" y="3858260"/>
            <a:ext cx="1" cy="1600200"/>
          </a:xfrm>
          <a:custGeom>
            <a:avLst/>
            <a:gdLst/>
            <a:ahLst/>
            <a:cxnLst/>
            <a:rect l="0" t="0" r="r" b="b"/>
            <a:pathLst>
              <a:path w="1" h="1600200" fill="none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-021: 向量访存：地址翻译与数据搬运是两条路径"/>
          <p:cNvSpPr txBox="1"/>
          <p:nvPr/>
        </p:nvSpPr>
        <p:spPr>
          <a:xfrm>
            <a:off x="483616" y="1071209"/>
            <a:ext cx="5120640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向量访存：地址翻译与数据搬运是两条路径</a:t>
            </a:r>
          </a:p>
        </p:txBody>
      </p:sp>
      <p:sp>
        <p:nvSpPr>
          <p:cNvPr id="15" name="text-022: 控制平面确定地址、权限与异常；数据平面在 AXI 和分布式 VRF 之间传输。"/>
          <p:cNvSpPr txBox="1"/>
          <p:nvPr/>
        </p:nvSpPr>
        <p:spPr>
          <a:xfrm>
            <a:off x="483616" y="1476878"/>
            <a:ext cx="597052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控制平面确定地址、权限与异常；数据平面在 AXI 和分布式 VRF 之间传输。</a:t>
            </a:r>
          </a:p>
        </p:txBody>
      </p:sp>
      <p:sp>
        <p:nvSpPr>
          <p:cNvPr id="16" name="text-023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24: 源码：Ara addrgen / vldu / vstu；CVA6 load_s"/>
          <p:cNvSpPr txBox="1"/>
          <p:nvPr/>
        </p:nvSpPr>
        <p:spPr>
          <a:xfrm>
            <a:off x="341376" y="8526577"/>
            <a:ext cx="695553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 addrgen / vldu / vstu；CVA6 load_store_unit；cheshire_soc::gen_ara</a:t>
            </a:r>
          </a:p>
        </p:txBody>
      </p:sp>
      <p:sp>
        <p:nvSpPr>
          <p:cNvPr id="18" name="text-025: 地址 / 权限 / 异常平面"/>
          <p:cNvSpPr txBox="1"/>
          <p:nvPr/>
        </p:nvSpPr>
        <p:spPr>
          <a:xfrm>
            <a:off x="448056" y="2172716"/>
            <a:ext cx="229362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地址 / 权限 / 异常平面</a:t>
            </a:r>
          </a:p>
        </p:txBody>
      </p:sp>
      <p:sp>
        <p:nvSpPr>
          <p:cNvPr id="19" name="rect-026"/>
          <p:cNvSpPr/>
          <p:nvPr/>
        </p:nvSpPr>
        <p:spPr>
          <a:xfrm>
            <a:off x="533400" y="2791460"/>
            <a:ext cx="291592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-027"/>
          <p:cNvSpPr/>
          <p:nvPr/>
        </p:nvSpPr>
        <p:spPr>
          <a:xfrm>
            <a:off x="533400" y="279146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8: CVA6 标量寄存器"/>
          <p:cNvSpPr txBox="1"/>
          <p:nvPr/>
        </p:nvSpPr>
        <p:spPr>
          <a:xfrm>
            <a:off x="654304" y="2819339"/>
            <a:ext cx="171043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标量寄存器</a:t>
            </a:r>
          </a:p>
        </p:txBody>
      </p:sp>
      <p:sp>
        <p:nvSpPr>
          <p:cNvPr id="22" name="text-029: rs1 = base；rs2 = stride"/>
          <p:cNvSpPr txBox="1"/>
          <p:nvPr/>
        </p:nvSpPr>
        <p:spPr>
          <a:xfrm>
            <a:off x="654304" y="3090733"/>
            <a:ext cx="278221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rs1 = base；rs2 = stride</a:t>
            </a:r>
          </a:p>
        </p:txBody>
      </p:sp>
      <p:sp>
        <p:nvSpPr>
          <p:cNvPr id="23" name="text-030: vstart / 元素索引影响地址"/>
          <p:cNvSpPr txBox="1"/>
          <p:nvPr/>
        </p:nvSpPr>
        <p:spPr>
          <a:xfrm>
            <a:off x="654304" y="3304093"/>
            <a:ext cx="253471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vstart / 元素索引影响地址</a:t>
            </a:r>
          </a:p>
        </p:txBody>
      </p:sp>
      <p:sp>
        <p:nvSpPr>
          <p:cNvPr id="24" name="rect-031"/>
          <p:cNvSpPr/>
          <p:nvPr/>
        </p:nvSpPr>
        <p:spPr>
          <a:xfrm>
            <a:off x="4693920" y="27914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32"/>
          <p:cNvSpPr/>
          <p:nvPr/>
        </p:nvSpPr>
        <p:spPr>
          <a:xfrm>
            <a:off x="4693920" y="27914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3: Ara addrgen"/>
          <p:cNvSpPr txBox="1"/>
          <p:nvPr/>
        </p:nvSpPr>
        <p:spPr>
          <a:xfrm>
            <a:off x="4814824" y="2819339"/>
            <a:ext cx="150703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addrgen</a:t>
            </a:r>
          </a:p>
        </p:txBody>
      </p:sp>
      <p:sp>
        <p:nvSpPr>
          <p:cNvPr id="27" name="text-034: base + 元素偏移"/>
          <p:cNvSpPr txBox="1"/>
          <p:nvPr/>
        </p:nvSpPr>
        <p:spPr>
          <a:xfrm>
            <a:off x="4814824" y="3090733"/>
            <a:ext cx="16300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base + 元素偏移</a:t>
            </a:r>
          </a:p>
        </p:txBody>
      </p:sp>
      <p:sp>
        <p:nvSpPr>
          <p:cNvPr id="28" name="text-035: 可选地址翻译与异常处理"/>
          <p:cNvSpPr txBox="1"/>
          <p:nvPr/>
        </p:nvSpPr>
        <p:spPr>
          <a:xfrm>
            <a:off x="4814824" y="330409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可选地址翻译与异常处理</a:t>
            </a:r>
          </a:p>
        </p:txBody>
      </p:sp>
      <p:sp>
        <p:nvSpPr>
          <p:cNvPr id="29" name="rect-036"/>
          <p:cNvSpPr/>
          <p:nvPr/>
        </p:nvSpPr>
        <p:spPr>
          <a:xfrm>
            <a:off x="9210040" y="27914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-037"/>
          <p:cNvSpPr/>
          <p:nvPr/>
        </p:nvSpPr>
        <p:spPr>
          <a:xfrm>
            <a:off x="9210040" y="27914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38: CVA6 MMU / LSU"/>
          <p:cNvSpPr txBox="1"/>
          <p:nvPr/>
        </p:nvSpPr>
        <p:spPr>
          <a:xfrm>
            <a:off x="9330944" y="2819339"/>
            <a:ext cx="18676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CVA6 MMU / LSU</a:t>
            </a:r>
          </a:p>
        </p:txBody>
      </p:sp>
      <p:sp>
        <p:nvSpPr>
          <p:cNvPr id="32" name="text-039: 仲裁翻译、PMP / 权限"/>
          <p:cNvSpPr txBox="1"/>
          <p:nvPr/>
        </p:nvSpPr>
        <p:spPr>
          <a:xfrm>
            <a:off x="9330944" y="3090733"/>
            <a:ext cx="203118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仲裁翻译、PMP / 权限</a:t>
            </a:r>
          </a:p>
        </p:txBody>
      </p:sp>
      <p:sp>
        <p:nvSpPr>
          <p:cNvPr id="33" name="text-040: 物理地址或异常返回"/>
          <p:cNvSpPr txBox="1"/>
          <p:nvPr/>
        </p:nvSpPr>
        <p:spPr>
          <a:xfrm>
            <a:off x="9330944" y="3304093"/>
            <a:ext cx="170688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物理地址或异常返回</a:t>
            </a:r>
          </a:p>
        </p:txBody>
      </p:sp>
      <p:sp>
        <p:nvSpPr>
          <p:cNvPr id="34" name="text-041: load / store 数据平面"/>
          <p:cNvSpPr txBox="1"/>
          <p:nvPr/>
        </p:nvSpPr>
        <p:spPr>
          <a:xfrm>
            <a:off x="448056" y="4946396"/>
            <a:ext cx="239141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load / store 数据平面</a:t>
            </a:r>
          </a:p>
        </p:txBody>
      </p:sp>
      <p:sp>
        <p:nvSpPr>
          <p:cNvPr id="35" name="rect-042"/>
          <p:cNvSpPr/>
          <p:nvPr/>
        </p:nvSpPr>
        <p:spPr>
          <a:xfrm>
            <a:off x="533400" y="5458460"/>
            <a:ext cx="291592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3"/>
          <p:cNvSpPr/>
          <p:nvPr/>
        </p:nvSpPr>
        <p:spPr>
          <a:xfrm>
            <a:off x="533400" y="54584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4: VRF / lanes"/>
          <p:cNvSpPr txBox="1"/>
          <p:nvPr/>
        </p:nvSpPr>
        <p:spPr>
          <a:xfrm>
            <a:off x="654304" y="5486339"/>
            <a:ext cx="150703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</a:t>
            </a:r>
          </a:p>
        </p:txBody>
      </p:sp>
      <p:sp>
        <p:nvSpPr>
          <p:cNvPr id="38" name="text-045: store 数据 / index / mask"/>
          <p:cNvSpPr txBox="1"/>
          <p:nvPr/>
        </p:nvSpPr>
        <p:spPr>
          <a:xfrm>
            <a:off x="654304" y="5757733"/>
            <a:ext cx="284195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数据 / index / mask</a:t>
            </a:r>
          </a:p>
        </p:txBody>
      </p:sp>
      <p:sp>
        <p:nvSpPr>
          <p:cNvPr id="39" name="text-046: load 目的寄存器"/>
          <p:cNvSpPr txBox="1"/>
          <p:nvPr/>
        </p:nvSpPr>
        <p:spPr>
          <a:xfrm>
            <a:off x="654304" y="5971093"/>
            <a:ext cx="157886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目的寄存器</a:t>
            </a:r>
          </a:p>
        </p:txBody>
      </p:sp>
      <p:sp>
        <p:nvSpPr>
          <p:cNvPr id="40" name="rect-047"/>
          <p:cNvSpPr/>
          <p:nvPr/>
        </p:nvSpPr>
        <p:spPr>
          <a:xfrm>
            <a:off x="4693920" y="54584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8"/>
          <p:cNvSpPr/>
          <p:nvPr/>
        </p:nvSpPr>
        <p:spPr>
          <a:xfrm>
            <a:off x="4693920" y="54584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9: VLSU · vldu / vstu"/>
          <p:cNvSpPr txBox="1"/>
          <p:nvPr/>
        </p:nvSpPr>
        <p:spPr>
          <a:xfrm>
            <a:off x="4814824" y="5486339"/>
            <a:ext cx="234838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VLSU · vldu / vstu</a:t>
            </a:r>
          </a:p>
        </p:txBody>
      </p:sp>
      <p:sp>
        <p:nvSpPr>
          <p:cNvPr id="43" name="text-050: 队列、重排、字节计数"/>
          <p:cNvSpPr txBox="1"/>
          <p:nvPr/>
        </p:nvSpPr>
        <p:spPr>
          <a:xfrm>
            <a:off x="4814824" y="575773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队列、重排、字节计数</a:t>
            </a:r>
          </a:p>
        </p:txBody>
      </p:sp>
      <p:sp>
        <p:nvSpPr>
          <p:cNvPr id="44" name="text-051: 地址应答与数据完成分开"/>
          <p:cNvSpPr txBox="1"/>
          <p:nvPr/>
        </p:nvSpPr>
        <p:spPr>
          <a:xfrm>
            <a:off x="4814824" y="597109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地址应答与数据完成分开</a:t>
            </a:r>
          </a:p>
        </p:txBody>
      </p:sp>
      <p:sp>
        <p:nvSpPr>
          <p:cNvPr id="45" name="rect-052"/>
          <p:cNvSpPr/>
          <p:nvPr/>
        </p:nvSpPr>
        <p:spPr>
          <a:xfrm>
            <a:off x="9210040" y="54584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53"/>
          <p:cNvSpPr/>
          <p:nvPr/>
        </p:nvSpPr>
        <p:spPr>
          <a:xfrm>
            <a:off x="9210040" y="545846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4: Ara AXI"/>
          <p:cNvSpPr txBox="1"/>
          <p:nvPr/>
        </p:nvSpPr>
        <p:spPr>
          <a:xfrm>
            <a:off x="9330944" y="5486339"/>
            <a:ext cx="102626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Ara AXI</a:t>
            </a:r>
          </a:p>
        </p:txBody>
      </p:sp>
      <p:sp>
        <p:nvSpPr>
          <p:cNvPr id="48" name="text-055: AR → / R ←"/>
          <p:cNvSpPr txBox="1"/>
          <p:nvPr/>
        </p:nvSpPr>
        <p:spPr>
          <a:xfrm>
            <a:off x="9330944" y="5757733"/>
            <a:ext cx="139964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→ / R ←</a:t>
            </a:r>
          </a:p>
        </p:txBody>
      </p:sp>
      <p:sp>
        <p:nvSpPr>
          <p:cNvPr id="49" name="text-056: AW、W → / B ←"/>
          <p:cNvSpPr txBox="1"/>
          <p:nvPr/>
        </p:nvSpPr>
        <p:spPr>
          <a:xfrm>
            <a:off x="9330944" y="5971093"/>
            <a:ext cx="168127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AW、W → / B ←</a:t>
            </a:r>
          </a:p>
        </p:txBody>
      </p:sp>
      <p:sp>
        <p:nvSpPr>
          <p:cNvPr id="50" name="rect-057"/>
          <p:cNvSpPr/>
          <p:nvPr/>
        </p:nvSpPr>
        <p:spPr>
          <a:xfrm>
            <a:off x="391160" y="7307580"/>
            <a:ext cx="12019280" cy="817880"/>
          </a:xfrm>
          <a:prstGeom prst="roundRect">
            <a:avLst>
              <a:gd name="adj" fmla="val 608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-058"/>
          <p:cNvSpPr/>
          <p:nvPr/>
        </p:nvSpPr>
        <p:spPr>
          <a:xfrm>
            <a:off x="391160" y="7307580"/>
            <a:ext cx="35560" cy="8178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-059: 系统路径与验收边界"/>
          <p:cNvSpPr txBox="1"/>
          <p:nvPr/>
        </p:nvSpPr>
        <p:spPr>
          <a:xfrm>
            <a:off x="512064" y="733545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系统路径与验收边界</a:t>
            </a:r>
          </a:p>
        </p:txBody>
      </p:sp>
      <p:sp>
        <p:nvSpPr>
          <p:cNvPr id="53" name="text-060: 失效过滤 / 位宽适配 → Crossbar → SPM 或 LLC → 外存；"/>
          <p:cNvSpPr txBox="1"/>
          <p:nvPr/>
        </p:nvSpPr>
        <p:spPr>
          <a:xfrm>
            <a:off x="512064" y="7622215"/>
            <a:ext cx="736163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 → Crossbar → SPM 或 LLC → 外存；AXI 口独立于 CPU L1 数据口</a:t>
            </a:r>
          </a:p>
        </p:txBody>
      </p:sp>
      <p:sp>
        <p:nvSpPr>
          <p:cNvPr id="54" name="text-061: 本地 store B 错误处理仍有 TODO；complete 不能单独作为传输"/>
          <p:cNvSpPr txBox="1"/>
          <p:nvPr/>
        </p:nvSpPr>
        <p:spPr>
          <a:xfrm>
            <a:off x="512064" y="7835575"/>
            <a:ext cx="578134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store B 错误处理仍有 TODO；complete 不能单独作为传输成功证据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275840" y="2044700"/>
            <a:ext cx="565404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2098040" y="261366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2098040" y="322529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2098040" y="3836924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2098040" y="4448556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4"/>
          <p:cNvSpPr/>
          <p:nvPr/>
        </p:nvSpPr>
        <p:spPr>
          <a:xfrm>
            <a:off x="2098040" y="5060188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6"/>
          <p:cNvSpPr/>
          <p:nvPr/>
        </p:nvSpPr>
        <p:spPr>
          <a:xfrm>
            <a:off x="2098040" y="567182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8"/>
          <p:cNvSpPr/>
          <p:nvPr/>
        </p:nvSpPr>
        <p:spPr>
          <a:xfrm>
            <a:off x="2098040" y="628345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20"/>
          <p:cNvSpPr/>
          <p:nvPr/>
        </p:nvSpPr>
        <p:spPr>
          <a:xfrm>
            <a:off x="7752080" y="2695448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olyline-022"/>
          <p:cNvSpPr/>
          <p:nvPr/>
        </p:nvSpPr>
        <p:spPr>
          <a:xfrm>
            <a:off x="7752080" y="3598672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olyline-024"/>
          <p:cNvSpPr/>
          <p:nvPr/>
        </p:nvSpPr>
        <p:spPr>
          <a:xfrm>
            <a:off x="7752080" y="4501896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olyline-026"/>
          <p:cNvSpPr/>
          <p:nvPr/>
        </p:nvSpPr>
        <p:spPr>
          <a:xfrm>
            <a:off x="7752080" y="5405120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olyline-028"/>
          <p:cNvSpPr/>
          <p:nvPr/>
        </p:nvSpPr>
        <p:spPr>
          <a:xfrm>
            <a:off x="7752080" y="6308344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th-030"/>
          <p:cNvSpPr/>
          <p:nvPr/>
        </p:nvSpPr>
        <p:spPr>
          <a:xfrm>
            <a:off x="4124960" y="2613660"/>
            <a:ext cx="2489200" cy="78232"/>
          </a:xfrm>
          <a:custGeom>
            <a:avLst/>
            <a:gdLst/>
            <a:ahLst/>
            <a:cxnLst/>
            <a:rect l="0" t="0" r="r" b="b"/>
            <a:pathLst>
              <a:path w="2489200" h="78232" fill="none">
                <a:moveTo>
                  <a:pt x="0" y="0"/>
                </a:moveTo>
                <a:cubicBezTo>
                  <a:pt x="1244600" y="0"/>
                  <a:pt x="1244600" y="78232"/>
                  <a:pt x="2489200" y="78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th-031"/>
          <p:cNvSpPr/>
          <p:nvPr/>
        </p:nvSpPr>
        <p:spPr>
          <a:xfrm>
            <a:off x="4124960" y="26136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 fill="none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th-032"/>
          <p:cNvSpPr/>
          <p:nvPr/>
        </p:nvSpPr>
        <p:spPr>
          <a:xfrm>
            <a:off x="4124960" y="2613660"/>
            <a:ext cx="2489200" cy="1884680"/>
          </a:xfrm>
          <a:custGeom>
            <a:avLst/>
            <a:gdLst/>
            <a:ahLst/>
            <a:cxnLst/>
            <a:rect l="0" t="0" r="r" b="b"/>
            <a:pathLst>
              <a:path w="2489200" h="1884680" fill="none">
                <a:moveTo>
                  <a:pt x="0" y="0"/>
                </a:moveTo>
                <a:cubicBezTo>
                  <a:pt x="1244600" y="0"/>
                  <a:pt x="1244600" y="1884680"/>
                  <a:pt x="2489200" y="188468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ath-033"/>
          <p:cNvSpPr/>
          <p:nvPr/>
        </p:nvSpPr>
        <p:spPr>
          <a:xfrm>
            <a:off x="4124960" y="2613660"/>
            <a:ext cx="2489200" cy="2787904"/>
          </a:xfrm>
          <a:custGeom>
            <a:avLst/>
            <a:gdLst/>
            <a:ahLst/>
            <a:cxnLst/>
            <a:rect l="0" t="0" r="r" b="b"/>
            <a:pathLst>
              <a:path w="2489200" h="2787904" fill="none">
                <a:moveTo>
                  <a:pt x="0" y="0"/>
                </a:moveTo>
                <a:cubicBezTo>
                  <a:pt x="1244600" y="0"/>
                  <a:pt x="1244600" y="2787904"/>
                  <a:pt x="2489200" y="278790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th-034"/>
          <p:cNvSpPr/>
          <p:nvPr/>
        </p:nvSpPr>
        <p:spPr>
          <a:xfrm>
            <a:off x="4124960" y="2613660"/>
            <a:ext cx="2489200" cy="3691128"/>
          </a:xfrm>
          <a:custGeom>
            <a:avLst/>
            <a:gdLst/>
            <a:ahLst/>
            <a:cxnLst/>
            <a:rect l="0" t="0" r="r" b="b"/>
            <a:pathLst>
              <a:path w="2489200" h="3691128" fill="none">
                <a:moveTo>
                  <a:pt x="0" y="0"/>
                </a:moveTo>
                <a:cubicBezTo>
                  <a:pt x="1244600" y="0"/>
                  <a:pt x="1244600" y="3691128"/>
                  <a:pt x="2489200" y="369112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ath-035"/>
          <p:cNvSpPr/>
          <p:nvPr/>
        </p:nvSpPr>
        <p:spPr>
          <a:xfrm>
            <a:off x="4124960" y="2691892"/>
            <a:ext cx="2489200" cy="533400"/>
          </a:xfrm>
          <a:custGeom>
            <a:avLst/>
            <a:gdLst/>
            <a:ahLst/>
            <a:cxnLst/>
            <a:rect l="0" t="0" r="r" b="b"/>
            <a:pathLst>
              <a:path w="2489200" h="533400" fill="none">
                <a:moveTo>
                  <a:pt x="0" y="533400"/>
                </a:moveTo>
                <a:cubicBezTo>
                  <a:pt x="1244600" y="53340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ath-036"/>
          <p:cNvSpPr/>
          <p:nvPr/>
        </p:nvSpPr>
        <p:spPr>
          <a:xfrm>
            <a:off x="4124960" y="3225292"/>
            <a:ext cx="2489200" cy="369824"/>
          </a:xfrm>
          <a:custGeom>
            <a:avLst/>
            <a:gdLst/>
            <a:ahLst/>
            <a:cxnLst/>
            <a:rect l="0" t="0" r="r" b="b"/>
            <a:pathLst>
              <a:path w="2489200" h="369824" fill="none">
                <a:moveTo>
                  <a:pt x="0" y="0"/>
                </a:moveTo>
                <a:cubicBezTo>
                  <a:pt x="1244600" y="0"/>
                  <a:pt x="1244600" y="369824"/>
                  <a:pt x="2489200" y="36982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th-037"/>
          <p:cNvSpPr/>
          <p:nvPr/>
        </p:nvSpPr>
        <p:spPr>
          <a:xfrm>
            <a:off x="4124960" y="3225292"/>
            <a:ext cx="2489200" cy="1273048"/>
          </a:xfrm>
          <a:custGeom>
            <a:avLst/>
            <a:gdLst/>
            <a:ahLst/>
            <a:cxnLst/>
            <a:rect l="0" t="0" r="r" b="b"/>
            <a:pathLst>
              <a:path w="2489200" h="1273048" fill="none">
                <a:moveTo>
                  <a:pt x="0" y="0"/>
                </a:moveTo>
                <a:cubicBezTo>
                  <a:pt x="1244600" y="0"/>
                  <a:pt x="1244600" y="1273048"/>
                  <a:pt x="2489200" y="127304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th-038"/>
          <p:cNvSpPr/>
          <p:nvPr/>
        </p:nvSpPr>
        <p:spPr>
          <a:xfrm>
            <a:off x="4124960" y="3225292"/>
            <a:ext cx="2489200" cy="2176272"/>
          </a:xfrm>
          <a:custGeom>
            <a:avLst/>
            <a:gdLst/>
            <a:ahLst/>
            <a:cxnLst/>
            <a:rect l="0" t="0" r="r" b="b"/>
            <a:pathLst>
              <a:path w="2489200" h="2176272" fill="none">
                <a:moveTo>
                  <a:pt x="0" y="0"/>
                </a:moveTo>
                <a:cubicBezTo>
                  <a:pt x="1244600" y="0"/>
                  <a:pt x="1244600" y="2176272"/>
                  <a:pt x="2489200" y="217627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ath-039"/>
          <p:cNvSpPr/>
          <p:nvPr/>
        </p:nvSpPr>
        <p:spPr>
          <a:xfrm>
            <a:off x="4124960" y="3225292"/>
            <a:ext cx="2489200" cy="3079496"/>
          </a:xfrm>
          <a:custGeom>
            <a:avLst/>
            <a:gdLst/>
            <a:ahLst/>
            <a:cxnLst/>
            <a:rect l="0" t="0" r="r" b="b"/>
            <a:pathLst>
              <a:path w="2489200" h="3079496" fill="none">
                <a:moveTo>
                  <a:pt x="0" y="0"/>
                </a:moveTo>
                <a:cubicBezTo>
                  <a:pt x="1244600" y="0"/>
                  <a:pt x="1244600" y="3079496"/>
                  <a:pt x="2489200" y="307949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ath-040"/>
          <p:cNvSpPr/>
          <p:nvPr/>
        </p:nvSpPr>
        <p:spPr>
          <a:xfrm>
            <a:off x="4124960" y="2691892"/>
            <a:ext cx="2489200" cy="1145032"/>
          </a:xfrm>
          <a:custGeom>
            <a:avLst/>
            <a:gdLst/>
            <a:ahLst/>
            <a:cxnLst/>
            <a:rect l="0" t="0" r="r" b="b"/>
            <a:pathLst>
              <a:path w="2489200" h="1145032" fill="none">
                <a:moveTo>
                  <a:pt x="0" y="1145032"/>
                </a:moveTo>
                <a:cubicBezTo>
                  <a:pt x="1244600" y="114503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ath-041"/>
          <p:cNvSpPr/>
          <p:nvPr/>
        </p:nvSpPr>
        <p:spPr>
          <a:xfrm>
            <a:off x="4124960" y="3595116"/>
            <a:ext cx="2489200" cy="241808"/>
          </a:xfrm>
          <a:custGeom>
            <a:avLst/>
            <a:gdLst/>
            <a:ahLst/>
            <a:cxnLst/>
            <a:rect l="0" t="0" r="r" b="b"/>
            <a:pathLst>
              <a:path w="2489200" h="241808" fill="none">
                <a:moveTo>
                  <a:pt x="0" y="241808"/>
                </a:moveTo>
                <a:cubicBezTo>
                  <a:pt x="1244600" y="24180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ath-042"/>
          <p:cNvSpPr/>
          <p:nvPr/>
        </p:nvSpPr>
        <p:spPr>
          <a:xfrm>
            <a:off x="4124960" y="38369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 fill="none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ath-043"/>
          <p:cNvSpPr/>
          <p:nvPr/>
        </p:nvSpPr>
        <p:spPr>
          <a:xfrm>
            <a:off x="4124960" y="3836924"/>
            <a:ext cx="2489200" cy="1564640"/>
          </a:xfrm>
          <a:custGeom>
            <a:avLst/>
            <a:gdLst/>
            <a:ahLst/>
            <a:cxnLst/>
            <a:rect l="0" t="0" r="r" b="b"/>
            <a:pathLst>
              <a:path w="2489200" h="1564640" fill="none">
                <a:moveTo>
                  <a:pt x="0" y="0"/>
                </a:moveTo>
                <a:cubicBezTo>
                  <a:pt x="1244600" y="0"/>
                  <a:pt x="1244600" y="1564640"/>
                  <a:pt x="2489200" y="156464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ath-044"/>
          <p:cNvSpPr/>
          <p:nvPr/>
        </p:nvSpPr>
        <p:spPr>
          <a:xfrm>
            <a:off x="4124960" y="3836924"/>
            <a:ext cx="2489200" cy="2467864"/>
          </a:xfrm>
          <a:custGeom>
            <a:avLst/>
            <a:gdLst/>
            <a:ahLst/>
            <a:cxnLst/>
            <a:rect l="0" t="0" r="r" b="b"/>
            <a:pathLst>
              <a:path w="2489200" h="2467864" fill="none">
                <a:moveTo>
                  <a:pt x="0" y="0"/>
                </a:moveTo>
                <a:cubicBezTo>
                  <a:pt x="1244600" y="0"/>
                  <a:pt x="1244600" y="2467864"/>
                  <a:pt x="2489200" y="246786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ath-045"/>
          <p:cNvSpPr/>
          <p:nvPr/>
        </p:nvSpPr>
        <p:spPr>
          <a:xfrm>
            <a:off x="4124960" y="2691892"/>
            <a:ext cx="2489200" cy="1756664"/>
          </a:xfrm>
          <a:custGeom>
            <a:avLst/>
            <a:gdLst/>
            <a:ahLst/>
            <a:cxnLst/>
            <a:rect l="0" t="0" r="r" b="b"/>
            <a:pathLst>
              <a:path w="2489200" h="1756664" fill="none">
                <a:moveTo>
                  <a:pt x="0" y="1756664"/>
                </a:moveTo>
                <a:cubicBezTo>
                  <a:pt x="1244600" y="175666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ath-046"/>
          <p:cNvSpPr/>
          <p:nvPr/>
        </p:nvSpPr>
        <p:spPr>
          <a:xfrm>
            <a:off x="4124960" y="3595116"/>
            <a:ext cx="2489200" cy="853440"/>
          </a:xfrm>
          <a:custGeom>
            <a:avLst/>
            <a:gdLst/>
            <a:ahLst/>
            <a:cxnLst/>
            <a:rect l="0" t="0" r="r" b="b"/>
            <a:pathLst>
              <a:path w="2489200" h="853440" fill="none">
                <a:moveTo>
                  <a:pt x="0" y="853440"/>
                </a:moveTo>
                <a:cubicBezTo>
                  <a:pt x="1244600" y="85344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ath-047"/>
          <p:cNvSpPr/>
          <p:nvPr/>
        </p:nvSpPr>
        <p:spPr>
          <a:xfrm>
            <a:off x="4124960" y="4448556"/>
            <a:ext cx="2489200" cy="49784"/>
          </a:xfrm>
          <a:custGeom>
            <a:avLst/>
            <a:gdLst/>
            <a:ahLst/>
            <a:cxnLst/>
            <a:rect l="0" t="0" r="r" b="b"/>
            <a:pathLst>
              <a:path w="2489200" h="49784" fill="none">
                <a:moveTo>
                  <a:pt x="0" y="0"/>
                </a:moveTo>
                <a:cubicBezTo>
                  <a:pt x="1244600" y="0"/>
                  <a:pt x="1244600" y="49784"/>
                  <a:pt x="2489200" y="4978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th-048"/>
          <p:cNvSpPr/>
          <p:nvPr/>
        </p:nvSpPr>
        <p:spPr>
          <a:xfrm>
            <a:off x="4124960" y="4448556"/>
            <a:ext cx="2489200" cy="953008"/>
          </a:xfrm>
          <a:custGeom>
            <a:avLst/>
            <a:gdLst/>
            <a:ahLst/>
            <a:cxnLst/>
            <a:rect l="0" t="0" r="r" b="b"/>
            <a:pathLst>
              <a:path w="2489200" h="953008" fill="none">
                <a:moveTo>
                  <a:pt x="0" y="0"/>
                </a:moveTo>
                <a:cubicBezTo>
                  <a:pt x="1244600" y="0"/>
                  <a:pt x="1244600" y="953008"/>
                  <a:pt x="2489200" y="95300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ath-049"/>
          <p:cNvSpPr/>
          <p:nvPr/>
        </p:nvSpPr>
        <p:spPr>
          <a:xfrm>
            <a:off x="4124960" y="4448556"/>
            <a:ext cx="2489200" cy="1856232"/>
          </a:xfrm>
          <a:custGeom>
            <a:avLst/>
            <a:gdLst/>
            <a:ahLst/>
            <a:cxnLst/>
            <a:rect l="0" t="0" r="r" b="b"/>
            <a:pathLst>
              <a:path w="2489200" h="1856232" fill="none">
                <a:moveTo>
                  <a:pt x="0" y="0"/>
                </a:moveTo>
                <a:cubicBezTo>
                  <a:pt x="1244600" y="0"/>
                  <a:pt x="1244600" y="1856232"/>
                  <a:pt x="2489200" y="1856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ath-050"/>
          <p:cNvSpPr/>
          <p:nvPr/>
        </p:nvSpPr>
        <p:spPr>
          <a:xfrm>
            <a:off x="4124960" y="2691892"/>
            <a:ext cx="2489200" cy="2368296"/>
          </a:xfrm>
          <a:custGeom>
            <a:avLst/>
            <a:gdLst/>
            <a:ahLst/>
            <a:cxnLst/>
            <a:rect l="0" t="0" r="r" b="b"/>
            <a:pathLst>
              <a:path w="2489200" h="2368296" fill="none">
                <a:moveTo>
                  <a:pt x="0" y="2368296"/>
                </a:moveTo>
                <a:cubicBezTo>
                  <a:pt x="1244600" y="236829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ath-051"/>
          <p:cNvSpPr/>
          <p:nvPr/>
        </p:nvSpPr>
        <p:spPr>
          <a:xfrm>
            <a:off x="4124960" y="3595116"/>
            <a:ext cx="2489200" cy="1465072"/>
          </a:xfrm>
          <a:custGeom>
            <a:avLst/>
            <a:gdLst/>
            <a:ahLst/>
            <a:cxnLst/>
            <a:rect l="0" t="0" r="r" b="b"/>
            <a:pathLst>
              <a:path w="2489200" h="1465072" fill="none">
                <a:moveTo>
                  <a:pt x="0" y="1465072"/>
                </a:moveTo>
                <a:cubicBezTo>
                  <a:pt x="1244600" y="146507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ath-052"/>
          <p:cNvSpPr/>
          <p:nvPr/>
        </p:nvSpPr>
        <p:spPr>
          <a:xfrm>
            <a:off x="4124960" y="4498340"/>
            <a:ext cx="2489200" cy="561848"/>
          </a:xfrm>
          <a:custGeom>
            <a:avLst/>
            <a:gdLst/>
            <a:ahLst/>
            <a:cxnLst/>
            <a:rect l="0" t="0" r="r" b="b"/>
            <a:pathLst>
              <a:path w="2489200" h="561848" fill="none">
                <a:moveTo>
                  <a:pt x="0" y="561848"/>
                </a:moveTo>
                <a:cubicBezTo>
                  <a:pt x="1244600" y="56184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path-053"/>
          <p:cNvSpPr/>
          <p:nvPr/>
        </p:nvSpPr>
        <p:spPr>
          <a:xfrm>
            <a:off x="4124960" y="5060188"/>
            <a:ext cx="2489200" cy="341376"/>
          </a:xfrm>
          <a:custGeom>
            <a:avLst/>
            <a:gdLst/>
            <a:ahLst/>
            <a:cxnLst/>
            <a:rect l="0" t="0" r="r" b="b"/>
            <a:pathLst>
              <a:path w="2489200" h="341376" fill="none">
                <a:moveTo>
                  <a:pt x="0" y="0"/>
                </a:moveTo>
                <a:cubicBezTo>
                  <a:pt x="1244600" y="0"/>
                  <a:pt x="1244600" y="341376"/>
                  <a:pt x="2489200" y="34137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ath-054"/>
          <p:cNvSpPr/>
          <p:nvPr/>
        </p:nvSpPr>
        <p:spPr>
          <a:xfrm>
            <a:off x="4124960" y="5060188"/>
            <a:ext cx="2489200" cy="1244600"/>
          </a:xfrm>
          <a:custGeom>
            <a:avLst/>
            <a:gdLst/>
            <a:ahLst/>
            <a:cxnLst/>
            <a:rect l="0" t="0" r="r" b="b"/>
            <a:pathLst>
              <a:path w="2489200" h="1244600" fill="none">
                <a:moveTo>
                  <a:pt x="0" y="0"/>
                </a:moveTo>
                <a:cubicBezTo>
                  <a:pt x="1244600" y="0"/>
                  <a:pt x="1244600" y="1244600"/>
                  <a:pt x="2489200" y="124460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path-055"/>
          <p:cNvSpPr/>
          <p:nvPr/>
        </p:nvSpPr>
        <p:spPr>
          <a:xfrm>
            <a:off x="4124960" y="2691892"/>
            <a:ext cx="2489200" cy="2979928"/>
          </a:xfrm>
          <a:custGeom>
            <a:avLst/>
            <a:gdLst/>
            <a:ahLst/>
            <a:cxnLst/>
            <a:rect l="0" t="0" r="r" b="b"/>
            <a:pathLst>
              <a:path w="2489200" h="2979928" fill="none">
                <a:moveTo>
                  <a:pt x="0" y="2979928"/>
                </a:moveTo>
                <a:cubicBezTo>
                  <a:pt x="1244600" y="297992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th-056"/>
          <p:cNvSpPr/>
          <p:nvPr/>
        </p:nvSpPr>
        <p:spPr>
          <a:xfrm>
            <a:off x="4124960" y="3595116"/>
            <a:ext cx="2489200" cy="2076704"/>
          </a:xfrm>
          <a:custGeom>
            <a:avLst/>
            <a:gdLst/>
            <a:ahLst/>
            <a:cxnLst/>
            <a:rect l="0" t="0" r="r" b="b"/>
            <a:pathLst>
              <a:path w="2489200" h="2076704" fill="none">
                <a:moveTo>
                  <a:pt x="0" y="2076704"/>
                </a:moveTo>
                <a:cubicBezTo>
                  <a:pt x="1244600" y="207670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th-057"/>
          <p:cNvSpPr/>
          <p:nvPr/>
        </p:nvSpPr>
        <p:spPr>
          <a:xfrm>
            <a:off x="4124960" y="4498340"/>
            <a:ext cx="2489200" cy="1173480"/>
          </a:xfrm>
          <a:custGeom>
            <a:avLst/>
            <a:gdLst/>
            <a:ahLst/>
            <a:cxnLst/>
            <a:rect l="0" t="0" r="r" b="b"/>
            <a:pathLst>
              <a:path w="2489200" h="1173480" fill="none">
                <a:moveTo>
                  <a:pt x="0" y="1173480"/>
                </a:moveTo>
                <a:cubicBezTo>
                  <a:pt x="1244600" y="117348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path-058"/>
          <p:cNvSpPr/>
          <p:nvPr/>
        </p:nvSpPr>
        <p:spPr>
          <a:xfrm>
            <a:off x="4124960" y="5401564"/>
            <a:ext cx="2489200" cy="270256"/>
          </a:xfrm>
          <a:custGeom>
            <a:avLst/>
            <a:gdLst/>
            <a:ahLst/>
            <a:cxnLst/>
            <a:rect l="0" t="0" r="r" b="b"/>
            <a:pathLst>
              <a:path w="2489200" h="270256" fill="none">
                <a:moveTo>
                  <a:pt x="0" y="270256"/>
                </a:moveTo>
                <a:cubicBezTo>
                  <a:pt x="1244600" y="27025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ath-059"/>
          <p:cNvSpPr/>
          <p:nvPr/>
        </p:nvSpPr>
        <p:spPr>
          <a:xfrm>
            <a:off x="4124960" y="5671820"/>
            <a:ext cx="2489200" cy="632968"/>
          </a:xfrm>
          <a:custGeom>
            <a:avLst/>
            <a:gdLst/>
            <a:ahLst/>
            <a:cxnLst/>
            <a:rect l="0" t="0" r="r" b="b"/>
            <a:pathLst>
              <a:path w="2489200" h="632968" fill="none">
                <a:moveTo>
                  <a:pt x="0" y="0"/>
                </a:moveTo>
                <a:cubicBezTo>
                  <a:pt x="1244600" y="0"/>
                  <a:pt x="1244600" y="632968"/>
                  <a:pt x="2489200" y="63296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path-060"/>
          <p:cNvSpPr/>
          <p:nvPr/>
        </p:nvSpPr>
        <p:spPr>
          <a:xfrm>
            <a:off x="4124960" y="2691892"/>
            <a:ext cx="2489200" cy="3591560"/>
          </a:xfrm>
          <a:custGeom>
            <a:avLst/>
            <a:gdLst/>
            <a:ahLst/>
            <a:cxnLst/>
            <a:rect l="0" t="0" r="r" b="b"/>
            <a:pathLst>
              <a:path w="2489200" h="3591560" fill="none">
                <a:moveTo>
                  <a:pt x="0" y="3591560"/>
                </a:moveTo>
                <a:cubicBezTo>
                  <a:pt x="1244600" y="359156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path-061"/>
          <p:cNvSpPr/>
          <p:nvPr/>
        </p:nvSpPr>
        <p:spPr>
          <a:xfrm>
            <a:off x="4124960" y="3595116"/>
            <a:ext cx="2489200" cy="2688336"/>
          </a:xfrm>
          <a:custGeom>
            <a:avLst/>
            <a:gdLst/>
            <a:ahLst/>
            <a:cxnLst/>
            <a:rect l="0" t="0" r="r" b="b"/>
            <a:pathLst>
              <a:path w="2489200" h="2688336" fill="none">
                <a:moveTo>
                  <a:pt x="0" y="2688336"/>
                </a:moveTo>
                <a:cubicBezTo>
                  <a:pt x="1244600" y="268833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ath-062"/>
          <p:cNvSpPr/>
          <p:nvPr/>
        </p:nvSpPr>
        <p:spPr>
          <a:xfrm>
            <a:off x="4124960" y="4498340"/>
            <a:ext cx="2489200" cy="1785112"/>
          </a:xfrm>
          <a:custGeom>
            <a:avLst/>
            <a:gdLst/>
            <a:ahLst/>
            <a:cxnLst/>
            <a:rect l="0" t="0" r="r" b="b"/>
            <a:pathLst>
              <a:path w="2489200" h="1785112" fill="none">
                <a:moveTo>
                  <a:pt x="0" y="1785112"/>
                </a:moveTo>
                <a:cubicBezTo>
                  <a:pt x="1244600" y="178511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ath-063"/>
          <p:cNvSpPr/>
          <p:nvPr/>
        </p:nvSpPr>
        <p:spPr>
          <a:xfrm>
            <a:off x="4124960" y="5401564"/>
            <a:ext cx="2489200" cy="881888"/>
          </a:xfrm>
          <a:custGeom>
            <a:avLst/>
            <a:gdLst/>
            <a:ahLst/>
            <a:cxnLst/>
            <a:rect l="0" t="0" r="r" b="b"/>
            <a:pathLst>
              <a:path w="2489200" h="881888" fill="none">
                <a:moveTo>
                  <a:pt x="0" y="881888"/>
                </a:moveTo>
                <a:cubicBezTo>
                  <a:pt x="1244600" y="88188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ath-064"/>
          <p:cNvSpPr/>
          <p:nvPr/>
        </p:nvSpPr>
        <p:spPr>
          <a:xfrm>
            <a:off x="4124960" y="6283452"/>
            <a:ext cx="2489200" cy="21336"/>
          </a:xfrm>
          <a:custGeom>
            <a:avLst/>
            <a:gdLst/>
            <a:ahLst/>
            <a:cxnLst/>
            <a:rect l="0" t="0" r="r" b="b"/>
            <a:pathLst>
              <a:path w="2489200" h="21336" fill="none">
                <a:moveTo>
                  <a:pt x="0" y="0"/>
                </a:moveTo>
                <a:cubicBezTo>
                  <a:pt x="1244600" y="0"/>
                  <a:pt x="1244600" y="21336"/>
                  <a:pt x="2489200" y="2133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path-065"/>
          <p:cNvSpPr/>
          <p:nvPr/>
        </p:nvSpPr>
        <p:spPr>
          <a:xfrm>
            <a:off x="4124960" y="26136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 fill="none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35560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ath-068"/>
          <p:cNvSpPr/>
          <p:nvPr/>
        </p:nvSpPr>
        <p:spPr>
          <a:xfrm>
            <a:off x="4124960" y="38369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 fill="none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35560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71: AXI Crossbar：7 个发起端、5 个目标与两级译码"/>
          <p:cNvSpPr txBox="1"/>
          <p:nvPr/>
        </p:nvSpPr>
        <p:spPr>
          <a:xfrm>
            <a:off x="483616" y="1071209"/>
            <a:ext cx="6503213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Crossbar：7 个发起端、5 个目标与两级译码</a:t>
            </a:r>
          </a:p>
        </p:txBody>
      </p:sp>
      <p:sp>
        <p:nvSpPr>
          <p:cNvPr id="56" name="text-072: 示例配置：DefaultCfg + Ara=1；单核、无外部扩展端口。灰线为可达"/>
          <p:cNvSpPr txBox="1"/>
          <p:nvPr/>
        </p:nvSpPr>
        <p:spPr>
          <a:xfrm>
            <a:off x="483616" y="1476878"/>
            <a:ext cx="807247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示例配置：DefaultCfg + Ara=1；单核、无外部扩展端口。灰线为可达连接；橙/蓝线为两个请求示例。</a:t>
            </a:r>
          </a:p>
        </p:txBody>
      </p:sp>
      <p:sp>
        <p:nvSpPr>
          <p:cNvPr id="57" name="text-073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8" name="text-074: 源码：hw/cheshire_pkg.sv::gen_axi_in / gen_"/>
          <p:cNvSpPr txBox="1"/>
          <p:nvPr/>
        </p:nvSpPr>
        <p:spPr>
          <a:xfrm>
            <a:off x="341376" y="8526577"/>
            <a:ext cx="884732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源码：hw/cheshire_pkg.sv::gen_axi_in / gen_axi_out / gen_reg_out；hw/cheshire_soc.sv::i_axi_xbar</a:t>
            </a:r>
          </a:p>
        </p:txBody>
      </p:sp>
      <p:sp>
        <p:nvSpPr>
          <p:cNvPr id="59" name="text-075: i_axi_xbar：逐输入分流，逐目标独立仲裁"/>
          <p:cNvSpPr txBox="1"/>
          <p:nvPr/>
        </p:nvSpPr>
        <p:spPr>
          <a:xfrm>
            <a:off x="2403856" y="2101596"/>
            <a:ext cx="38227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i_axi_xbar：逐输入分流，逐目标独立仲裁</a:t>
            </a:r>
          </a:p>
        </p:txBody>
      </p:sp>
      <p:sp>
        <p:nvSpPr>
          <p:cNvPr id="60" name="text-076: 发起端 / 请求进入 S 端"/>
          <p:cNvSpPr txBox="1"/>
          <p:nvPr/>
        </p:nvSpPr>
        <p:spPr>
          <a:xfrm>
            <a:off x="320040" y="2066036"/>
            <a:ext cx="229362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发起端 / 请求进入 S 端</a:t>
            </a:r>
          </a:p>
        </p:txBody>
      </p:sp>
      <p:sp>
        <p:nvSpPr>
          <p:cNvPr id="61" name="text-077: 目标 / 请求离开 M 端"/>
          <p:cNvSpPr txBox="1"/>
          <p:nvPr/>
        </p:nvSpPr>
        <p:spPr>
          <a:xfrm>
            <a:off x="8143240" y="2066036"/>
            <a:ext cx="211582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目标 / 请求离开 M 端</a:t>
            </a:r>
          </a:p>
        </p:txBody>
      </p:sp>
      <p:sp>
        <p:nvSpPr>
          <p:cNvPr id="62" name="rect-078"/>
          <p:cNvSpPr/>
          <p:nvPr/>
        </p:nvSpPr>
        <p:spPr>
          <a:xfrm>
            <a:off x="320040" y="238607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-079"/>
          <p:cNvSpPr/>
          <p:nvPr/>
        </p:nvSpPr>
        <p:spPr>
          <a:xfrm>
            <a:off x="320040" y="2386076"/>
            <a:ext cx="35560" cy="5547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-080: S0 · CVA6 core 0"/>
          <p:cNvSpPr txBox="1"/>
          <p:nvPr/>
        </p:nvSpPr>
        <p:spPr>
          <a:xfrm>
            <a:off x="440944" y="2436998"/>
            <a:ext cx="186476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S0 · CVA6 core 0</a:t>
            </a:r>
          </a:p>
        </p:txBody>
      </p:sp>
      <p:sp>
        <p:nvSpPr>
          <p:cNvPr id="65" name="text-081: L1 / ID 适配"/>
          <p:cNvSpPr txBox="1"/>
          <p:nvPr/>
        </p:nvSpPr>
        <p:spPr>
          <a:xfrm>
            <a:off x="440944" y="2716073"/>
            <a:ext cx="116636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/ ID 适配</a:t>
            </a:r>
          </a:p>
        </p:txBody>
      </p:sp>
      <p:sp>
        <p:nvSpPr>
          <p:cNvPr id="66" name="rect-082"/>
          <p:cNvSpPr/>
          <p:nvPr/>
        </p:nvSpPr>
        <p:spPr>
          <a:xfrm>
            <a:off x="2453640" y="239318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-083"/>
          <p:cNvSpPr/>
          <p:nvPr/>
        </p:nvSpPr>
        <p:spPr>
          <a:xfrm>
            <a:off x="2453640" y="239318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-084: DEMUX S0"/>
          <p:cNvSpPr txBox="1"/>
          <p:nvPr/>
        </p:nvSpPr>
        <p:spPr>
          <a:xfrm>
            <a:off x="2574544" y="2421067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S0</a:t>
            </a:r>
          </a:p>
        </p:txBody>
      </p:sp>
      <p:sp>
        <p:nvSpPr>
          <p:cNvPr id="69" name="rect-085"/>
          <p:cNvSpPr/>
          <p:nvPr/>
        </p:nvSpPr>
        <p:spPr>
          <a:xfrm>
            <a:off x="320040" y="299770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-086"/>
          <p:cNvSpPr/>
          <p:nvPr/>
        </p:nvSpPr>
        <p:spPr>
          <a:xfrm>
            <a:off x="320040" y="299770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-087: S1 · Debug / SBA"/>
          <p:cNvSpPr txBox="1"/>
          <p:nvPr/>
        </p:nvSpPr>
        <p:spPr>
          <a:xfrm>
            <a:off x="440944" y="3048630"/>
            <a:ext cx="186476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S1 · Debug / SBA</a:t>
            </a:r>
          </a:p>
        </p:txBody>
      </p:sp>
      <p:sp>
        <p:nvSpPr>
          <p:cNvPr id="72" name="text-088: 调试装载发起端"/>
          <p:cNvSpPr txBox="1"/>
          <p:nvPr/>
        </p:nvSpPr>
        <p:spPr>
          <a:xfrm>
            <a:off x="440944" y="3327705"/>
            <a:ext cx="113792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调试装载发起端</a:t>
            </a:r>
          </a:p>
        </p:txBody>
      </p:sp>
      <p:sp>
        <p:nvSpPr>
          <p:cNvPr id="73" name="rect-089"/>
          <p:cNvSpPr/>
          <p:nvPr/>
        </p:nvSpPr>
        <p:spPr>
          <a:xfrm>
            <a:off x="2453640" y="300482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-090"/>
          <p:cNvSpPr/>
          <p:nvPr/>
        </p:nvSpPr>
        <p:spPr>
          <a:xfrm>
            <a:off x="2453640" y="300482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-091: DEMUX S1"/>
          <p:cNvSpPr txBox="1"/>
          <p:nvPr/>
        </p:nvSpPr>
        <p:spPr>
          <a:xfrm>
            <a:off x="2574544" y="303269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S1</a:t>
            </a:r>
          </a:p>
        </p:txBody>
      </p:sp>
      <p:sp>
        <p:nvSpPr>
          <p:cNvPr id="76" name="rect-092"/>
          <p:cNvSpPr/>
          <p:nvPr/>
        </p:nvSpPr>
        <p:spPr>
          <a:xfrm>
            <a:off x="320040" y="3609340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-093"/>
          <p:cNvSpPr/>
          <p:nvPr/>
        </p:nvSpPr>
        <p:spPr>
          <a:xfrm>
            <a:off x="320040" y="3609340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-094: S2 · Ara VLSU"/>
          <p:cNvSpPr txBox="1"/>
          <p:nvPr/>
        </p:nvSpPr>
        <p:spPr>
          <a:xfrm>
            <a:off x="440944" y="3637219"/>
            <a:ext cx="174741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S2 · Ara VLSU</a:t>
            </a:r>
          </a:p>
        </p:txBody>
      </p:sp>
      <p:sp>
        <p:nvSpPr>
          <p:cNvPr id="79" name="text-095: 失效过滤 / 位宽适配"/>
          <p:cNvSpPr txBox="1"/>
          <p:nvPr/>
        </p:nvSpPr>
        <p:spPr>
          <a:xfrm>
            <a:off x="440944" y="3939337"/>
            <a:ext cx="155752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80" name="rect-096"/>
          <p:cNvSpPr/>
          <p:nvPr/>
        </p:nvSpPr>
        <p:spPr>
          <a:xfrm>
            <a:off x="2453640" y="3616452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-097"/>
          <p:cNvSpPr/>
          <p:nvPr/>
        </p:nvSpPr>
        <p:spPr>
          <a:xfrm>
            <a:off x="2453640" y="3616452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-098: DEMUX S2"/>
          <p:cNvSpPr txBox="1"/>
          <p:nvPr/>
        </p:nvSpPr>
        <p:spPr>
          <a:xfrm>
            <a:off x="2574544" y="3644331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S2</a:t>
            </a:r>
          </a:p>
        </p:txBody>
      </p:sp>
      <p:sp>
        <p:nvSpPr>
          <p:cNvPr id="83" name="rect-099"/>
          <p:cNvSpPr/>
          <p:nvPr/>
        </p:nvSpPr>
        <p:spPr>
          <a:xfrm>
            <a:off x="320040" y="4220972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-100"/>
          <p:cNvSpPr/>
          <p:nvPr/>
        </p:nvSpPr>
        <p:spPr>
          <a:xfrm>
            <a:off x="320040" y="4220972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-101: S3 · iDMA 数据"/>
          <p:cNvSpPr txBox="1"/>
          <p:nvPr/>
        </p:nvSpPr>
        <p:spPr>
          <a:xfrm>
            <a:off x="440944" y="4248851"/>
            <a:ext cx="175666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S3 · iDMA 数据</a:t>
            </a:r>
          </a:p>
        </p:txBody>
      </p:sp>
      <p:sp>
        <p:nvSpPr>
          <p:cNvPr id="86" name="text-102: 主动搬运内存"/>
          <p:cNvSpPr txBox="1"/>
          <p:nvPr/>
        </p:nvSpPr>
        <p:spPr>
          <a:xfrm>
            <a:off x="440944" y="4550969"/>
            <a:ext cx="99568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主动搬运内存</a:t>
            </a:r>
          </a:p>
        </p:txBody>
      </p:sp>
      <p:sp>
        <p:nvSpPr>
          <p:cNvPr id="87" name="rect-103"/>
          <p:cNvSpPr/>
          <p:nvPr/>
        </p:nvSpPr>
        <p:spPr>
          <a:xfrm>
            <a:off x="2453640" y="4228084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-104"/>
          <p:cNvSpPr/>
          <p:nvPr/>
        </p:nvSpPr>
        <p:spPr>
          <a:xfrm>
            <a:off x="2453640" y="4228084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-105: DEMUX S3"/>
          <p:cNvSpPr txBox="1"/>
          <p:nvPr/>
        </p:nvSpPr>
        <p:spPr>
          <a:xfrm>
            <a:off x="2574544" y="4255963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S3</a:t>
            </a:r>
          </a:p>
        </p:txBody>
      </p:sp>
      <p:sp>
        <p:nvSpPr>
          <p:cNvPr id="90" name="rect-106"/>
          <p:cNvSpPr/>
          <p:nvPr/>
        </p:nvSpPr>
        <p:spPr>
          <a:xfrm>
            <a:off x="320040" y="4832604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-107"/>
          <p:cNvSpPr/>
          <p:nvPr/>
        </p:nvSpPr>
        <p:spPr>
          <a:xfrm>
            <a:off x="320040" y="4832604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-108: S4 · Link RX"/>
          <p:cNvSpPr txBox="1"/>
          <p:nvPr/>
        </p:nvSpPr>
        <p:spPr>
          <a:xfrm>
            <a:off x="440944" y="4860483"/>
            <a:ext cx="1627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S4 · Link RX</a:t>
            </a:r>
          </a:p>
        </p:txBody>
      </p:sp>
      <p:sp>
        <p:nvSpPr>
          <p:cNvPr id="93" name="text-109: Serial Link 接收侧"/>
          <p:cNvSpPr txBox="1"/>
          <p:nvPr/>
        </p:nvSpPr>
        <p:spPr>
          <a:xfrm>
            <a:off x="440944" y="5162601"/>
            <a:ext cx="167843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Serial Link 接收侧</a:t>
            </a:r>
          </a:p>
        </p:txBody>
      </p:sp>
      <p:sp>
        <p:nvSpPr>
          <p:cNvPr id="94" name="rect-110"/>
          <p:cNvSpPr/>
          <p:nvPr/>
        </p:nvSpPr>
        <p:spPr>
          <a:xfrm>
            <a:off x="2453640" y="4839716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-111"/>
          <p:cNvSpPr/>
          <p:nvPr/>
        </p:nvSpPr>
        <p:spPr>
          <a:xfrm>
            <a:off x="2453640" y="4839716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-112: DEMUX S4"/>
          <p:cNvSpPr txBox="1"/>
          <p:nvPr/>
        </p:nvSpPr>
        <p:spPr>
          <a:xfrm>
            <a:off x="2574544" y="4867595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S4</a:t>
            </a:r>
          </a:p>
        </p:txBody>
      </p:sp>
      <p:sp>
        <p:nvSpPr>
          <p:cNvPr id="97" name="rect-113"/>
          <p:cNvSpPr/>
          <p:nvPr/>
        </p:nvSpPr>
        <p:spPr>
          <a:xfrm>
            <a:off x="320040" y="544423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-114"/>
          <p:cNvSpPr/>
          <p:nvPr/>
        </p:nvSpPr>
        <p:spPr>
          <a:xfrm>
            <a:off x="320040" y="5444236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-115: S5 · VGA 取帧"/>
          <p:cNvSpPr txBox="1"/>
          <p:nvPr/>
        </p:nvSpPr>
        <p:spPr>
          <a:xfrm>
            <a:off x="440944" y="5472115"/>
            <a:ext cx="163647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S5 · VGA 取帧</a:t>
            </a:r>
          </a:p>
        </p:txBody>
      </p:sp>
      <p:sp>
        <p:nvSpPr>
          <p:cNvPr id="100" name="text-116: 读帧缓冲"/>
          <p:cNvSpPr txBox="1"/>
          <p:nvPr/>
        </p:nvSpPr>
        <p:spPr>
          <a:xfrm>
            <a:off x="440944" y="5774233"/>
            <a:ext cx="71120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读帧缓冲</a:t>
            </a:r>
          </a:p>
        </p:txBody>
      </p:sp>
      <p:sp>
        <p:nvSpPr>
          <p:cNvPr id="101" name="rect-117"/>
          <p:cNvSpPr/>
          <p:nvPr/>
        </p:nvSpPr>
        <p:spPr>
          <a:xfrm>
            <a:off x="2453640" y="545134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-118"/>
          <p:cNvSpPr/>
          <p:nvPr/>
        </p:nvSpPr>
        <p:spPr>
          <a:xfrm>
            <a:off x="2453640" y="545134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-119: DEMUX S5"/>
          <p:cNvSpPr txBox="1"/>
          <p:nvPr/>
        </p:nvSpPr>
        <p:spPr>
          <a:xfrm>
            <a:off x="2574544" y="5479227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S5</a:t>
            </a:r>
          </a:p>
        </p:txBody>
      </p:sp>
      <p:sp>
        <p:nvSpPr>
          <p:cNvPr id="104" name="rect-120"/>
          <p:cNvSpPr/>
          <p:nvPr/>
        </p:nvSpPr>
        <p:spPr>
          <a:xfrm>
            <a:off x="320040" y="605586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-121"/>
          <p:cNvSpPr/>
          <p:nvPr/>
        </p:nvSpPr>
        <p:spPr>
          <a:xfrm>
            <a:off x="320040" y="605586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-122: S6 · USB DMA"/>
          <p:cNvSpPr txBox="1"/>
          <p:nvPr/>
        </p:nvSpPr>
        <p:spPr>
          <a:xfrm>
            <a:off x="440944" y="6083747"/>
            <a:ext cx="1627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S6 · USB DMA</a:t>
            </a:r>
          </a:p>
        </p:txBody>
      </p:sp>
      <p:sp>
        <p:nvSpPr>
          <p:cNvPr id="107" name="text-123: 描述符 / 数据"/>
          <p:cNvSpPr txBox="1"/>
          <p:nvPr/>
        </p:nvSpPr>
        <p:spPr>
          <a:xfrm>
            <a:off x="440944" y="6385865"/>
            <a:ext cx="113080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描述符 / 数据</a:t>
            </a:r>
          </a:p>
        </p:txBody>
      </p:sp>
      <p:sp>
        <p:nvSpPr>
          <p:cNvPr id="108" name="rect-124"/>
          <p:cNvSpPr/>
          <p:nvPr/>
        </p:nvSpPr>
        <p:spPr>
          <a:xfrm>
            <a:off x="2453640" y="606298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-125"/>
          <p:cNvSpPr/>
          <p:nvPr/>
        </p:nvSpPr>
        <p:spPr>
          <a:xfrm>
            <a:off x="2453640" y="606298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-126: DEMUX S6"/>
          <p:cNvSpPr txBox="1"/>
          <p:nvPr/>
        </p:nvSpPr>
        <p:spPr>
          <a:xfrm>
            <a:off x="2574544" y="609085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S6</a:t>
            </a:r>
          </a:p>
        </p:txBody>
      </p:sp>
      <p:sp>
        <p:nvSpPr>
          <p:cNvPr id="111" name="rect-127"/>
          <p:cNvSpPr/>
          <p:nvPr/>
        </p:nvSpPr>
        <p:spPr>
          <a:xfrm>
            <a:off x="6614160" y="2421636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-128"/>
          <p:cNvSpPr/>
          <p:nvPr/>
        </p:nvSpPr>
        <p:spPr>
          <a:xfrm>
            <a:off x="6614160" y="2421636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-129: MUX M0"/>
          <p:cNvSpPr txBox="1"/>
          <p:nvPr/>
        </p:nvSpPr>
        <p:spPr>
          <a:xfrm>
            <a:off x="6735064" y="2449515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M0</a:t>
            </a:r>
          </a:p>
        </p:txBody>
      </p:sp>
      <p:sp>
        <p:nvSpPr>
          <p:cNvPr id="114" name="text-130: 独立仲裁"/>
          <p:cNvSpPr txBox="1"/>
          <p:nvPr/>
        </p:nvSpPr>
        <p:spPr>
          <a:xfrm>
            <a:off x="6735064" y="2736271"/>
            <a:ext cx="78232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15" name="rect-131"/>
          <p:cNvSpPr/>
          <p:nvPr/>
        </p:nvSpPr>
        <p:spPr>
          <a:xfrm>
            <a:off x="8143240" y="2371852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-132"/>
          <p:cNvSpPr/>
          <p:nvPr/>
        </p:nvSpPr>
        <p:spPr>
          <a:xfrm>
            <a:off x="8143240" y="2371852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-133: M0 · Debug 目标"/>
          <p:cNvSpPr txBox="1"/>
          <p:nvPr/>
        </p:nvSpPr>
        <p:spPr>
          <a:xfrm>
            <a:off x="8264144" y="2399731"/>
            <a:ext cx="187685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M0 · Debug 目标</a:t>
            </a:r>
          </a:p>
        </p:txBody>
      </p:sp>
      <p:sp>
        <p:nvSpPr>
          <p:cNvPr id="118" name="text-134: 调试模块地址空间；与 SBA 发起端分开"/>
          <p:cNvSpPr txBox="1"/>
          <p:nvPr/>
        </p:nvSpPr>
        <p:spPr>
          <a:xfrm>
            <a:off x="8264144" y="2686487"/>
            <a:ext cx="301193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调试模块地址空间；与 SBA 发起端分开</a:t>
            </a:r>
          </a:p>
        </p:txBody>
      </p:sp>
      <p:sp>
        <p:nvSpPr>
          <p:cNvPr id="119" name="rect-135"/>
          <p:cNvSpPr/>
          <p:nvPr/>
        </p:nvSpPr>
        <p:spPr>
          <a:xfrm>
            <a:off x="6614160" y="3324860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-136"/>
          <p:cNvSpPr/>
          <p:nvPr/>
        </p:nvSpPr>
        <p:spPr>
          <a:xfrm>
            <a:off x="6614160" y="3324860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-137: MUX M1"/>
          <p:cNvSpPr txBox="1"/>
          <p:nvPr/>
        </p:nvSpPr>
        <p:spPr>
          <a:xfrm>
            <a:off x="6735064" y="335273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M1</a:t>
            </a:r>
          </a:p>
        </p:txBody>
      </p:sp>
      <p:sp>
        <p:nvSpPr>
          <p:cNvPr id="122" name="text-138: 独立仲裁"/>
          <p:cNvSpPr txBox="1"/>
          <p:nvPr/>
        </p:nvSpPr>
        <p:spPr>
          <a:xfrm>
            <a:off x="6735064" y="3639495"/>
            <a:ext cx="78232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23" name="rect-139"/>
          <p:cNvSpPr/>
          <p:nvPr/>
        </p:nvSpPr>
        <p:spPr>
          <a:xfrm>
            <a:off x="8143240" y="3275076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-140"/>
          <p:cNvSpPr/>
          <p:nvPr/>
        </p:nvSpPr>
        <p:spPr>
          <a:xfrm>
            <a:off x="8143240" y="3275076"/>
            <a:ext cx="35560" cy="72542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-141: M1 · AXI → Reg32"/>
          <p:cNvSpPr txBox="1"/>
          <p:nvPr/>
        </p:nvSpPr>
        <p:spPr>
          <a:xfrm>
            <a:off x="8264144" y="3302955"/>
            <a:ext cx="217271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· AXI → Reg32</a:t>
            </a:r>
          </a:p>
        </p:txBody>
      </p:sp>
      <p:sp>
        <p:nvSpPr>
          <p:cNvPr id="126" name="text-142: 原子适配 / cut / 桥 → 下方二级译码"/>
          <p:cNvSpPr txBox="1"/>
          <p:nvPr/>
        </p:nvSpPr>
        <p:spPr>
          <a:xfrm>
            <a:off x="8264144" y="3589711"/>
            <a:ext cx="315275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原子适配 / cut / 桥 → 下方二级译码</a:t>
            </a:r>
          </a:p>
        </p:txBody>
      </p:sp>
      <p:sp>
        <p:nvSpPr>
          <p:cNvPr id="127" name="rect-143"/>
          <p:cNvSpPr/>
          <p:nvPr/>
        </p:nvSpPr>
        <p:spPr>
          <a:xfrm>
            <a:off x="6614160" y="4228084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-144"/>
          <p:cNvSpPr/>
          <p:nvPr/>
        </p:nvSpPr>
        <p:spPr>
          <a:xfrm>
            <a:off x="6614160" y="4228084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-145: MUX M2"/>
          <p:cNvSpPr txBox="1"/>
          <p:nvPr/>
        </p:nvSpPr>
        <p:spPr>
          <a:xfrm>
            <a:off x="6735064" y="4255963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M2</a:t>
            </a:r>
          </a:p>
        </p:txBody>
      </p:sp>
      <p:sp>
        <p:nvSpPr>
          <p:cNvPr id="130" name="text-146: 独立仲裁"/>
          <p:cNvSpPr txBox="1"/>
          <p:nvPr/>
        </p:nvSpPr>
        <p:spPr>
          <a:xfrm>
            <a:off x="6735064" y="4542719"/>
            <a:ext cx="78232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1" name="rect-147"/>
          <p:cNvSpPr/>
          <p:nvPr/>
        </p:nvSpPr>
        <p:spPr>
          <a:xfrm>
            <a:off x="8143240" y="4178300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-148"/>
          <p:cNvSpPr/>
          <p:nvPr/>
        </p:nvSpPr>
        <p:spPr>
          <a:xfrm>
            <a:off x="8143240" y="4178300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-149: M2 · LLC / SPM 共用出口"/>
          <p:cNvSpPr txBox="1"/>
          <p:nvPr/>
        </p:nvSpPr>
        <p:spPr>
          <a:xfrm>
            <a:off x="8264144" y="4206179"/>
            <a:ext cx="272745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· LLC / SPM 共用出口</a:t>
            </a:r>
          </a:p>
        </p:txBody>
      </p:sp>
      <p:sp>
        <p:nvSpPr>
          <p:cNvPr id="134" name="text-150: AMO / LRSC → cut / 地址重映射 → LLC"/>
          <p:cNvSpPr txBox="1"/>
          <p:nvPr/>
        </p:nvSpPr>
        <p:spPr>
          <a:xfrm>
            <a:off x="8264144" y="4492935"/>
            <a:ext cx="3590849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AMO / LRSC → cut / 地址重映射 → LLC</a:t>
            </a:r>
          </a:p>
        </p:txBody>
      </p:sp>
      <p:sp>
        <p:nvSpPr>
          <p:cNvPr id="135" name="rect-151"/>
          <p:cNvSpPr/>
          <p:nvPr/>
        </p:nvSpPr>
        <p:spPr>
          <a:xfrm>
            <a:off x="6614160" y="5131308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-152"/>
          <p:cNvSpPr/>
          <p:nvPr/>
        </p:nvSpPr>
        <p:spPr>
          <a:xfrm>
            <a:off x="6614160" y="5131308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-153: MUX M3"/>
          <p:cNvSpPr txBox="1"/>
          <p:nvPr/>
        </p:nvSpPr>
        <p:spPr>
          <a:xfrm>
            <a:off x="6735064" y="5159187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M3</a:t>
            </a:r>
          </a:p>
        </p:txBody>
      </p:sp>
      <p:sp>
        <p:nvSpPr>
          <p:cNvPr id="138" name="text-154: 独立仲裁"/>
          <p:cNvSpPr txBox="1"/>
          <p:nvPr/>
        </p:nvSpPr>
        <p:spPr>
          <a:xfrm>
            <a:off x="6735064" y="5445943"/>
            <a:ext cx="78232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9" name="rect-155"/>
          <p:cNvSpPr/>
          <p:nvPr/>
        </p:nvSpPr>
        <p:spPr>
          <a:xfrm>
            <a:off x="8143240" y="5081524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-156"/>
          <p:cNvSpPr/>
          <p:nvPr/>
        </p:nvSpPr>
        <p:spPr>
          <a:xfrm>
            <a:off x="8143240" y="5081524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-157: M3 · iDMA 控制"/>
          <p:cNvSpPr txBox="1"/>
          <p:nvPr/>
        </p:nvSpPr>
        <p:spPr>
          <a:xfrm>
            <a:off x="8264144" y="5109403"/>
            <a:ext cx="175666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M3 · iDMA 控制</a:t>
            </a:r>
          </a:p>
        </p:txBody>
      </p:sp>
      <p:sp>
        <p:nvSpPr>
          <p:cNvPr id="142" name="text-158: 0x0100_0000 起；与数据发起端 S3 分开"/>
          <p:cNvSpPr txBox="1"/>
          <p:nvPr/>
        </p:nvSpPr>
        <p:spPr>
          <a:xfrm>
            <a:off x="8264144" y="5396159"/>
            <a:ext cx="334833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起；与数据发起端 S3 分开</a:t>
            </a:r>
          </a:p>
        </p:txBody>
      </p:sp>
      <p:sp>
        <p:nvSpPr>
          <p:cNvPr id="143" name="rect-159"/>
          <p:cNvSpPr/>
          <p:nvPr/>
        </p:nvSpPr>
        <p:spPr>
          <a:xfrm>
            <a:off x="6614160" y="6034532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-160"/>
          <p:cNvSpPr/>
          <p:nvPr/>
        </p:nvSpPr>
        <p:spPr>
          <a:xfrm>
            <a:off x="6614160" y="6034532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-161: MUX M4"/>
          <p:cNvSpPr txBox="1"/>
          <p:nvPr/>
        </p:nvSpPr>
        <p:spPr>
          <a:xfrm>
            <a:off x="6735064" y="6062411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M4</a:t>
            </a:r>
          </a:p>
        </p:txBody>
      </p:sp>
      <p:sp>
        <p:nvSpPr>
          <p:cNvPr id="146" name="text-162: 独立仲裁"/>
          <p:cNvSpPr txBox="1"/>
          <p:nvPr/>
        </p:nvSpPr>
        <p:spPr>
          <a:xfrm>
            <a:off x="6735064" y="6349167"/>
            <a:ext cx="78232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7" name="rect-163"/>
          <p:cNvSpPr/>
          <p:nvPr/>
        </p:nvSpPr>
        <p:spPr>
          <a:xfrm>
            <a:off x="8143240" y="5984748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-164"/>
          <p:cNvSpPr/>
          <p:nvPr/>
        </p:nvSpPr>
        <p:spPr>
          <a:xfrm>
            <a:off x="8143240" y="5984748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-165: M4 · Serial Link TX"/>
          <p:cNvSpPr txBox="1"/>
          <p:nvPr/>
        </p:nvSpPr>
        <p:spPr>
          <a:xfrm>
            <a:off x="8264144" y="6012627"/>
            <a:ext cx="246857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M4 · Serial Link TX</a:t>
            </a:r>
          </a:p>
        </p:txBody>
      </p:sp>
      <p:sp>
        <p:nvSpPr>
          <p:cNvPr id="150" name="text-166: [0x1_0000_0000, 0x2_0000_0000)"/>
          <p:cNvSpPr txBox="1"/>
          <p:nvPr/>
        </p:nvSpPr>
        <p:spPr>
          <a:xfrm>
            <a:off x="8264144" y="6299383"/>
            <a:ext cx="320751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[0x1_0000_0000, 0x2_0000_0000)</a:t>
            </a:r>
          </a:p>
        </p:txBody>
      </p:sp>
      <p:sp>
        <p:nvSpPr>
          <p:cNvPr id="151" name="text-167: AR / AW 地址译码"/>
          <p:cNvSpPr txBox="1"/>
          <p:nvPr/>
        </p:nvSpPr>
        <p:spPr>
          <a:xfrm>
            <a:off x="4338320" y="2323775"/>
            <a:ext cx="159593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/ AW 地址译码</a:t>
            </a:r>
          </a:p>
        </p:txBody>
      </p:sp>
      <p:sp>
        <p:nvSpPr>
          <p:cNvPr id="152" name="text-168: W 保存路由；B/R 按来源 ID 返回"/>
          <p:cNvSpPr txBox="1"/>
          <p:nvPr/>
        </p:nvSpPr>
        <p:spPr>
          <a:xfrm>
            <a:off x="4252976" y="6583863"/>
            <a:ext cx="273812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W 保存路由；B/R 按来源 ID 返回</a:t>
            </a:r>
          </a:p>
        </p:txBody>
      </p:sp>
      <p:sp>
        <p:nvSpPr>
          <p:cNvPr id="153" name="rect-169"/>
          <p:cNvSpPr/>
          <p:nvPr/>
        </p:nvSpPr>
        <p:spPr>
          <a:xfrm>
            <a:off x="320040" y="7108444"/>
            <a:ext cx="3556000" cy="974344"/>
          </a:xfrm>
          <a:prstGeom prst="roundRect">
            <a:avLst>
              <a:gd name="adj" fmla="val 5109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-170"/>
          <p:cNvSpPr/>
          <p:nvPr/>
        </p:nvSpPr>
        <p:spPr>
          <a:xfrm>
            <a:off x="320040" y="7108444"/>
            <a:ext cx="35560" cy="974344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-171: 请求与响应的归属"/>
          <p:cNvSpPr txBox="1"/>
          <p:nvPr/>
        </p:nvSpPr>
        <p:spPr>
          <a:xfrm>
            <a:off x="440944" y="7136323"/>
            <a:ext cx="166420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请求与响应的归属</a:t>
            </a:r>
          </a:p>
        </p:txBody>
      </p:sp>
      <p:sp>
        <p:nvSpPr>
          <p:cNvPr id="156" name="text-172: 输入 ID=2 位 + 7 来源前缀=3 位"/>
          <p:cNvSpPr txBox="1"/>
          <p:nvPr/>
        </p:nvSpPr>
        <p:spPr>
          <a:xfrm>
            <a:off x="440944" y="7423079"/>
            <a:ext cx="283199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输入 ID=2 位 + 7 来源前缀=3 位</a:t>
            </a:r>
          </a:p>
        </p:txBody>
      </p:sp>
      <p:sp>
        <p:nvSpPr>
          <p:cNvPr id="157" name="text-173: Crossbar 目标侧为 5 位；后级可再适配"/>
          <p:cNvSpPr txBox="1"/>
          <p:nvPr/>
        </p:nvSpPr>
        <p:spPr>
          <a:xfrm>
            <a:off x="440944" y="7636439"/>
            <a:ext cx="325445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Crossbar 目标侧为 5 位；后级可再适配</a:t>
            </a:r>
          </a:p>
        </p:txBody>
      </p:sp>
      <p:sp>
        <p:nvSpPr>
          <p:cNvPr id="158" name="rect-174"/>
          <p:cNvSpPr/>
          <p:nvPr/>
        </p:nvSpPr>
        <p:spPr>
          <a:xfrm>
            <a:off x="4089400" y="7108444"/>
            <a:ext cx="4445000" cy="974344"/>
          </a:xfrm>
          <a:prstGeom prst="roundRect">
            <a:avLst>
              <a:gd name="adj" fmla="val 510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-175"/>
          <p:cNvSpPr/>
          <p:nvPr/>
        </p:nvSpPr>
        <p:spPr>
          <a:xfrm>
            <a:off x="4089400" y="7108444"/>
            <a:ext cx="35560" cy="97434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-176: M1 下游：reg_demux 二次译码"/>
          <p:cNvSpPr txBox="1"/>
          <p:nvPr/>
        </p:nvSpPr>
        <p:spPr>
          <a:xfrm>
            <a:off x="4210304" y="7136323"/>
            <a:ext cx="304180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下游：reg_demux 二次译码</a:t>
            </a:r>
          </a:p>
        </p:txBody>
      </p:sp>
      <p:sp>
        <p:nvSpPr>
          <p:cNvPr id="161" name="text-177: ROM / CLINT / PLIC / SoC / LLC 控制"/>
          <p:cNvSpPr txBox="1"/>
          <p:nvPr/>
        </p:nvSpPr>
        <p:spPr>
          <a:xfrm>
            <a:off x="4210304" y="7423079"/>
            <a:ext cx="362214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/ CLINT / PLIC / SoC / LLC 控制</a:t>
            </a:r>
          </a:p>
        </p:txBody>
      </p:sp>
      <p:sp>
        <p:nvSpPr>
          <p:cNvPr id="162" name="text-178: UART / I2C / SPI / GPIO / Link / VGA / U"/>
          <p:cNvSpPr txBox="1"/>
          <p:nvPr/>
        </p:nvSpPr>
        <p:spPr>
          <a:xfrm>
            <a:off x="4210304" y="7636439"/>
            <a:ext cx="442793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I2C / SPI / GPIO / Link / VGA / USB</a:t>
            </a:r>
          </a:p>
        </p:txBody>
      </p:sp>
      <p:sp>
        <p:nvSpPr>
          <p:cNvPr id="163" name="text-179: BusErr；本例 CLIC / IRQ Router 均关闭"/>
          <p:cNvSpPr txBox="1"/>
          <p:nvPr/>
        </p:nvSpPr>
        <p:spPr>
          <a:xfrm>
            <a:off x="4210304" y="7849799"/>
            <a:ext cx="363778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BusErr；本例 CLIC / IRQ Router 均关闭</a:t>
            </a:r>
          </a:p>
        </p:txBody>
      </p:sp>
      <p:sp>
        <p:nvSpPr>
          <p:cNvPr id="164" name="rect-180"/>
          <p:cNvSpPr/>
          <p:nvPr/>
        </p:nvSpPr>
        <p:spPr>
          <a:xfrm>
            <a:off x="8747760" y="7108444"/>
            <a:ext cx="3733800" cy="974344"/>
          </a:xfrm>
          <a:prstGeom prst="roundRect">
            <a:avLst>
              <a:gd name="adj" fmla="val 510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-181"/>
          <p:cNvSpPr/>
          <p:nvPr/>
        </p:nvSpPr>
        <p:spPr>
          <a:xfrm>
            <a:off x="8747760" y="7108444"/>
            <a:ext cx="35560" cy="9743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-182: M2 下游：命中与外存分支"/>
          <p:cNvSpPr txBox="1"/>
          <p:nvPr/>
        </p:nvSpPr>
        <p:spPr>
          <a:xfrm>
            <a:off x="8868664" y="7136323"/>
            <a:ext cx="23946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下游：命中与外存分支</a:t>
            </a:r>
          </a:p>
        </p:txBody>
      </p:sp>
      <p:sp>
        <p:nvSpPr>
          <p:cNvPr id="167" name="text-183: 128 KiB 阵列：SPM / cache ways"/>
          <p:cNvSpPr txBox="1"/>
          <p:nvPr/>
        </p:nvSpPr>
        <p:spPr>
          <a:xfrm>
            <a:off x="8868664" y="7423079"/>
            <a:ext cx="306669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 KiB 阵列：SPM / cache ways</a:t>
            </a:r>
          </a:p>
        </p:txBody>
      </p:sp>
      <p:sp>
        <p:nvSpPr>
          <p:cNvPr id="168" name="text-184: SPM 或 cache 命中可在片内结束"/>
          <p:cNvSpPr txBox="1"/>
          <p:nvPr/>
        </p:nvSpPr>
        <p:spPr>
          <a:xfrm>
            <a:off x="8868664" y="7636439"/>
            <a:ext cx="268335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或 cache 命中可在片内结束</a:t>
            </a:r>
          </a:p>
        </p:txBody>
      </p:sp>
      <p:sp>
        <p:nvSpPr>
          <p:cNvPr id="169" name="text-185: LLC 下游 → 平台 AXI4 DDR"/>
          <p:cNvSpPr txBox="1"/>
          <p:nvPr/>
        </p:nvSpPr>
        <p:spPr>
          <a:xfrm>
            <a:off x="8868664" y="7849799"/>
            <a:ext cx="246430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→ 平台 AXI4 DDR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915920" y="2258060"/>
            <a:ext cx="4338320" cy="3129280"/>
          </a:xfrm>
          <a:prstGeom prst="roundRect">
            <a:avLst>
              <a:gd name="adj" fmla="val 2727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2346960" y="3200400"/>
            <a:ext cx="817880" cy="35560"/>
          </a:xfrm>
          <a:custGeom>
            <a:avLst/>
            <a:gdLst/>
            <a:ahLst/>
            <a:cxnLst/>
            <a:rect l="0" t="0" r="r" b="b"/>
            <a:pathLst>
              <a:path w="817880" h="35560" fill="none">
                <a:moveTo>
                  <a:pt x="0" y="0"/>
                </a:moveTo>
                <a:lnTo>
                  <a:pt x="817880" y="355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4836160" y="32359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5120640" y="3644900"/>
            <a:ext cx="995680" cy="640080"/>
          </a:xfrm>
          <a:custGeom>
            <a:avLst/>
            <a:gdLst/>
            <a:ahLst/>
            <a:cxnLst/>
            <a:rect l="0" t="0" r="r" b="b"/>
            <a:pathLst>
              <a:path w="995680" h="640080" fill="none">
                <a:moveTo>
                  <a:pt x="995680" y="0"/>
                </a:moveTo>
                <a:lnTo>
                  <a:pt x="995680" y="462280"/>
                </a:lnTo>
                <a:lnTo>
                  <a:pt x="0" y="462280"/>
                </a:lnTo>
                <a:lnTo>
                  <a:pt x="0" y="6400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3022600" y="3644900"/>
            <a:ext cx="995680" cy="995680"/>
          </a:xfrm>
          <a:custGeom>
            <a:avLst/>
            <a:gdLst/>
            <a:ahLst/>
            <a:cxnLst/>
            <a:rect l="0" t="0" r="r" b="b"/>
            <a:pathLst>
              <a:path w="995680" h="995680" fill="none">
                <a:moveTo>
                  <a:pt x="853440" y="995680"/>
                </a:moveTo>
                <a:lnTo>
                  <a:pt x="0" y="995680"/>
                </a:lnTo>
                <a:lnTo>
                  <a:pt x="0" y="248920"/>
                </a:lnTo>
                <a:lnTo>
                  <a:pt x="995680" y="24892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4"/>
          <p:cNvSpPr/>
          <p:nvPr/>
        </p:nvSpPr>
        <p:spPr>
          <a:xfrm>
            <a:off x="6969760" y="2720340"/>
            <a:ext cx="995680" cy="533400"/>
          </a:xfrm>
          <a:custGeom>
            <a:avLst/>
            <a:gdLst/>
            <a:ahLst/>
            <a:cxnLst/>
            <a:rect l="0" t="0" r="r" b="b"/>
            <a:pathLst>
              <a:path w="995680" h="533400" fill="none">
                <a:moveTo>
                  <a:pt x="0" y="533400"/>
                </a:moveTo>
                <a:lnTo>
                  <a:pt x="640080" y="533400"/>
                </a:lnTo>
                <a:lnTo>
                  <a:pt x="640080" y="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6"/>
          <p:cNvSpPr/>
          <p:nvPr/>
        </p:nvSpPr>
        <p:spPr>
          <a:xfrm>
            <a:off x="6969760" y="3253740"/>
            <a:ext cx="995680" cy="1792224"/>
          </a:xfrm>
          <a:custGeom>
            <a:avLst/>
            <a:gdLst/>
            <a:ahLst/>
            <a:cxnLst/>
            <a:rect l="0" t="0" r="r" b="b"/>
            <a:pathLst>
              <a:path w="995680" h="1792224" fill="none">
                <a:moveTo>
                  <a:pt x="0" y="0"/>
                </a:moveTo>
                <a:lnTo>
                  <a:pt x="640080" y="0"/>
                </a:lnTo>
                <a:lnTo>
                  <a:pt x="640080" y="1792224"/>
                </a:lnTo>
                <a:lnTo>
                  <a:pt x="995680" y="179222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8"/>
          <p:cNvSpPr/>
          <p:nvPr/>
        </p:nvSpPr>
        <p:spPr>
          <a:xfrm>
            <a:off x="9672320" y="2720340"/>
            <a:ext cx="711200" cy="106680"/>
          </a:xfrm>
          <a:custGeom>
            <a:avLst/>
            <a:gdLst/>
            <a:ahLst/>
            <a:cxnLst/>
            <a:rect l="0" t="0" r="r" b="b"/>
            <a:pathLst>
              <a:path w="711200" h="106680" fill="none">
                <a:moveTo>
                  <a:pt x="0" y="0"/>
                </a:moveTo>
                <a:lnTo>
                  <a:pt x="711200" y="10668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20"/>
          <p:cNvSpPr/>
          <p:nvPr/>
        </p:nvSpPr>
        <p:spPr>
          <a:xfrm>
            <a:off x="9672320" y="5049520"/>
            <a:ext cx="711200" cy="17780"/>
          </a:xfrm>
          <a:custGeom>
            <a:avLst/>
            <a:gdLst/>
            <a:ahLst/>
            <a:cxnLst/>
            <a:rect l="0" t="0" r="r" b="b"/>
            <a:pathLst>
              <a:path w="711200" h="17780" fill="none">
                <a:moveTo>
                  <a:pt x="0" y="0"/>
                </a:moveTo>
                <a:lnTo>
                  <a:pt x="711200" y="1778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olyline-022"/>
          <p:cNvSpPr/>
          <p:nvPr/>
        </p:nvSpPr>
        <p:spPr>
          <a:xfrm>
            <a:off x="11396980" y="3289300"/>
            <a:ext cx="1" cy="1315720"/>
          </a:xfrm>
          <a:custGeom>
            <a:avLst/>
            <a:gdLst/>
            <a:ahLst/>
            <a:cxnLst/>
            <a:rect l="0" t="0" r="r" b="b"/>
            <a:pathLst>
              <a:path w="1" h="1315720" fill="none">
                <a:moveTo>
                  <a:pt x="0" y="0"/>
                </a:moveTo>
                <a:lnTo>
                  <a:pt x="0" y="13157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24: PLL、分频与门控：时钟生成和事务跨域分别设计"/>
          <p:cNvSpPr txBox="1"/>
          <p:nvPr/>
        </p:nvSpPr>
        <p:spPr>
          <a:xfrm>
            <a:off x="483616" y="1071209"/>
            <a:ext cx="587593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PLL、分频与门控：时钟生成和事务跨域分别设计</a:t>
            </a:r>
          </a:p>
        </p:txBody>
      </p:sp>
      <p:sp>
        <p:nvSpPr>
          <p:cNvPr id="16" name="text-025: 候选原理图：未指定最终 ASIC 频率、倍频值、电压或域划分。"/>
          <p:cNvSpPr txBox="1"/>
          <p:nvPr/>
        </p:nvSpPr>
        <p:spPr>
          <a:xfrm>
            <a:off x="483616" y="1476878"/>
            <a:ext cx="489092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候选原理图：未指定最终 ASIC 频率、倍频值、电压或域划分。</a:t>
            </a:r>
          </a:p>
        </p:txBody>
      </p:sp>
      <p:sp>
        <p:nvSpPr>
          <p:cNvPr id="17" name="text-026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8" name="text-027: 依据：时钟生成通用原理；当前平台边界见 depth-clocks-current"/>
          <p:cNvSpPr txBox="1"/>
          <p:nvPr/>
        </p:nvSpPr>
        <p:spPr>
          <a:xfrm>
            <a:off x="341376" y="8526577"/>
            <a:ext cx="478637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依据：时钟生成通用原理；当前平台边界见 depth-clocks-current</a:t>
            </a:r>
          </a:p>
        </p:txBody>
      </p:sp>
      <p:sp>
        <p:nvSpPr>
          <p:cNvPr id="19" name="rect-028"/>
          <p:cNvSpPr/>
          <p:nvPr/>
        </p:nvSpPr>
        <p:spPr>
          <a:xfrm>
            <a:off x="355600" y="2791460"/>
            <a:ext cx="199136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-029"/>
          <p:cNvSpPr/>
          <p:nvPr/>
        </p:nvSpPr>
        <p:spPr>
          <a:xfrm>
            <a:off x="355600" y="27914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30: 参考时钟"/>
          <p:cNvSpPr txBox="1"/>
          <p:nvPr/>
        </p:nvSpPr>
        <p:spPr>
          <a:xfrm>
            <a:off x="476504" y="2819339"/>
            <a:ext cx="92456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参考时钟</a:t>
            </a:r>
          </a:p>
        </p:txBody>
      </p:sp>
      <p:sp>
        <p:nvSpPr>
          <p:cNvPr id="22" name="text-031: f_ref"/>
          <p:cNvSpPr txBox="1"/>
          <p:nvPr/>
        </p:nvSpPr>
        <p:spPr>
          <a:xfrm>
            <a:off x="476504" y="3090733"/>
            <a:ext cx="72542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f_ref</a:t>
            </a:r>
          </a:p>
        </p:txBody>
      </p:sp>
      <p:sp>
        <p:nvSpPr>
          <p:cNvPr id="23" name="text-032: PLL 反馈环（简化原理）"/>
          <p:cNvSpPr txBox="1"/>
          <p:nvPr/>
        </p:nvSpPr>
        <p:spPr>
          <a:xfrm>
            <a:off x="3043936" y="2314956"/>
            <a:ext cx="22402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PLL 反馈环（简化原理）</a:t>
            </a:r>
          </a:p>
        </p:txBody>
      </p:sp>
      <p:sp>
        <p:nvSpPr>
          <p:cNvPr id="24" name="rect-033"/>
          <p:cNvSpPr/>
          <p:nvPr/>
        </p:nvSpPr>
        <p:spPr>
          <a:xfrm>
            <a:off x="3164840" y="28270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34"/>
          <p:cNvSpPr/>
          <p:nvPr/>
        </p:nvSpPr>
        <p:spPr>
          <a:xfrm>
            <a:off x="3164840" y="28270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5: 参考 ÷N"/>
          <p:cNvSpPr txBox="1"/>
          <p:nvPr/>
        </p:nvSpPr>
        <p:spPr>
          <a:xfrm>
            <a:off x="3285744" y="2854899"/>
            <a:ext cx="91531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参考 ÷N</a:t>
            </a:r>
          </a:p>
        </p:txBody>
      </p:sp>
      <p:sp>
        <p:nvSpPr>
          <p:cNvPr id="27" name="text-036: 送相位比较"/>
          <p:cNvSpPr txBox="1"/>
          <p:nvPr/>
        </p:nvSpPr>
        <p:spPr>
          <a:xfrm>
            <a:off x="3285744" y="3126293"/>
            <a:ext cx="10241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送相位比较</a:t>
            </a:r>
          </a:p>
        </p:txBody>
      </p:sp>
      <p:sp>
        <p:nvSpPr>
          <p:cNvPr id="28" name="rect-037"/>
          <p:cNvSpPr/>
          <p:nvPr/>
        </p:nvSpPr>
        <p:spPr>
          <a:xfrm>
            <a:off x="5298440" y="28270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8"/>
          <p:cNvSpPr/>
          <p:nvPr/>
        </p:nvSpPr>
        <p:spPr>
          <a:xfrm>
            <a:off x="5298440" y="28270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9: 相位 / 振荡源"/>
          <p:cNvSpPr txBox="1"/>
          <p:nvPr/>
        </p:nvSpPr>
        <p:spPr>
          <a:xfrm>
            <a:off x="5419344" y="2854899"/>
            <a:ext cx="147005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相位 / 振荡源</a:t>
            </a:r>
          </a:p>
        </p:txBody>
      </p:sp>
      <p:sp>
        <p:nvSpPr>
          <p:cNvPr id="31" name="text-040: 闭环调节"/>
          <p:cNvSpPr txBox="1"/>
          <p:nvPr/>
        </p:nvSpPr>
        <p:spPr>
          <a:xfrm>
            <a:off x="5419344" y="3126293"/>
            <a:ext cx="8534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闭环调节</a:t>
            </a:r>
          </a:p>
        </p:txBody>
      </p:sp>
      <p:sp>
        <p:nvSpPr>
          <p:cNvPr id="32" name="rect-041"/>
          <p:cNvSpPr/>
          <p:nvPr/>
        </p:nvSpPr>
        <p:spPr>
          <a:xfrm>
            <a:off x="3876040" y="4284980"/>
            <a:ext cx="2489200" cy="711200"/>
          </a:xfrm>
          <a:prstGeom prst="roundRect">
            <a:avLst>
              <a:gd name="adj" fmla="val 7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42"/>
          <p:cNvSpPr/>
          <p:nvPr/>
        </p:nvSpPr>
        <p:spPr>
          <a:xfrm>
            <a:off x="3876040" y="4284980"/>
            <a:ext cx="35560" cy="7112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43: 反馈 ÷M"/>
          <p:cNvSpPr txBox="1"/>
          <p:nvPr/>
        </p:nvSpPr>
        <p:spPr>
          <a:xfrm>
            <a:off x="3996944" y="4312859"/>
            <a:ext cx="91531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反馈 ÷M</a:t>
            </a:r>
          </a:p>
        </p:txBody>
      </p:sp>
      <p:sp>
        <p:nvSpPr>
          <p:cNvPr id="35" name="text-044: 锁定状态由平台监测"/>
          <p:cNvSpPr txBox="1"/>
          <p:nvPr/>
        </p:nvSpPr>
        <p:spPr>
          <a:xfrm>
            <a:off x="3996944" y="4584253"/>
            <a:ext cx="170688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锁定状态由平台监测</a:t>
            </a:r>
          </a:p>
        </p:txBody>
      </p:sp>
      <p:sp>
        <p:nvSpPr>
          <p:cNvPr id="36" name="rect-045"/>
          <p:cNvSpPr/>
          <p:nvPr/>
        </p:nvSpPr>
        <p:spPr>
          <a:xfrm>
            <a:off x="7965440" y="2364740"/>
            <a:ext cx="170688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6"/>
          <p:cNvSpPr/>
          <p:nvPr/>
        </p:nvSpPr>
        <p:spPr>
          <a:xfrm>
            <a:off x="7965440" y="23647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7: 输出 ÷C0"/>
          <p:cNvSpPr txBox="1"/>
          <p:nvPr/>
        </p:nvSpPr>
        <p:spPr>
          <a:xfrm>
            <a:off x="8086344" y="2392619"/>
            <a:ext cx="103550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输出 ÷C0</a:t>
            </a:r>
          </a:p>
        </p:txBody>
      </p:sp>
      <p:sp>
        <p:nvSpPr>
          <p:cNvPr id="39" name="text-048: 系统时钟"/>
          <p:cNvSpPr txBox="1"/>
          <p:nvPr/>
        </p:nvSpPr>
        <p:spPr>
          <a:xfrm>
            <a:off x="8086344" y="2664013"/>
            <a:ext cx="8534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系统时钟</a:t>
            </a:r>
          </a:p>
        </p:txBody>
      </p:sp>
      <p:sp>
        <p:nvSpPr>
          <p:cNvPr id="40" name="rect-049"/>
          <p:cNvSpPr/>
          <p:nvPr/>
        </p:nvSpPr>
        <p:spPr>
          <a:xfrm>
            <a:off x="10383520" y="236474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50"/>
          <p:cNvSpPr/>
          <p:nvPr/>
        </p:nvSpPr>
        <p:spPr>
          <a:xfrm>
            <a:off x="10383520" y="236474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51: 系统域"/>
          <p:cNvSpPr txBox="1"/>
          <p:nvPr/>
        </p:nvSpPr>
        <p:spPr>
          <a:xfrm>
            <a:off x="10504424" y="2392619"/>
            <a:ext cx="73964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系统域</a:t>
            </a:r>
          </a:p>
        </p:txBody>
      </p:sp>
      <p:sp>
        <p:nvSpPr>
          <p:cNvPr id="43" name="text-052: 复位同步释放"/>
          <p:cNvSpPr txBox="1"/>
          <p:nvPr/>
        </p:nvSpPr>
        <p:spPr>
          <a:xfrm>
            <a:off x="10504424" y="266401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复位同步释放</a:t>
            </a:r>
          </a:p>
        </p:txBody>
      </p:sp>
      <p:sp>
        <p:nvSpPr>
          <p:cNvPr id="44" name="text-053: CPU / 互连"/>
          <p:cNvSpPr txBox="1"/>
          <p:nvPr/>
        </p:nvSpPr>
        <p:spPr>
          <a:xfrm>
            <a:off x="10504424" y="2877373"/>
            <a:ext cx="117774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互连</a:t>
            </a:r>
          </a:p>
        </p:txBody>
      </p:sp>
      <p:sp>
        <p:nvSpPr>
          <p:cNvPr id="45" name="rect-054"/>
          <p:cNvSpPr/>
          <p:nvPr/>
        </p:nvSpPr>
        <p:spPr>
          <a:xfrm>
            <a:off x="7965440" y="4605020"/>
            <a:ext cx="1706880" cy="889000"/>
          </a:xfrm>
          <a:prstGeom prst="roundRect">
            <a:avLst>
              <a:gd name="adj" fmla="val 56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55"/>
          <p:cNvSpPr/>
          <p:nvPr/>
        </p:nvSpPr>
        <p:spPr>
          <a:xfrm>
            <a:off x="7965440" y="4605020"/>
            <a:ext cx="35560" cy="8890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6: 输出 ÷C1"/>
          <p:cNvSpPr txBox="1"/>
          <p:nvPr/>
        </p:nvSpPr>
        <p:spPr>
          <a:xfrm>
            <a:off x="8086344" y="4632899"/>
            <a:ext cx="103550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输出 ÷C1</a:t>
            </a:r>
          </a:p>
        </p:txBody>
      </p:sp>
      <p:sp>
        <p:nvSpPr>
          <p:cNvPr id="48" name="text-057: 门控：停止脉冲"/>
          <p:cNvSpPr txBox="1"/>
          <p:nvPr/>
        </p:nvSpPr>
        <p:spPr>
          <a:xfrm>
            <a:off x="8086344" y="490429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门控：停止脉冲</a:t>
            </a:r>
          </a:p>
        </p:txBody>
      </p:sp>
      <p:sp>
        <p:nvSpPr>
          <p:cNvPr id="49" name="text-058: 安全开关时钟"/>
          <p:cNvSpPr txBox="1"/>
          <p:nvPr/>
        </p:nvSpPr>
        <p:spPr>
          <a:xfrm>
            <a:off x="8086344" y="511765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安全开关时钟</a:t>
            </a:r>
          </a:p>
        </p:txBody>
      </p:sp>
      <p:sp>
        <p:nvSpPr>
          <p:cNvPr id="50" name="rect-059"/>
          <p:cNvSpPr/>
          <p:nvPr/>
        </p:nvSpPr>
        <p:spPr>
          <a:xfrm>
            <a:off x="10383520" y="460502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-060"/>
          <p:cNvSpPr/>
          <p:nvPr/>
        </p:nvSpPr>
        <p:spPr>
          <a:xfrm>
            <a:off x="10383520" y="460502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-061: 外设候选域"/>
          <p:cNvSpPr txBox="1"/>
          <p:nvPr/>
        </p:nvSpPr>
        <p:spPr>
          <a:xfrm>
            <a:off x="10504424" y="463289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外设候选域</a:t>
            </a:r>
          </a:p>
        </p:txBody>
      </p:sp>
      <p:sp>
        <p:nvSpPr>
          <p:cNvPr id="53" name="text-062: 本域复位同步"/>
          <p:cNvSpPr txBox="1"/>
          <p:nvPr/>
        </p:nvSpPr>
        <p:spPr>
          <a:xfrm>
            <a:off x="10504424" y="490429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本域复位同步</a:t>
            </a:r>
          </a:p>
        </p:txBody>
      </p:sp>
      <p:sp>
        <p:nvSpPr>
          <p:cNvPr id="54" name="text-063: 事务通过 CDC"/>
          <p:cNvSpPr txBox="1"/>
          <p:nvPr/>
        </p:nvSpPr>
        <p:spPr>
          <a:xfrm>
            <a:off x="10504424" y="5117653"/>
            <a:ext cx="1297229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事务通过 CDC</a:t>
            </a:r>
          </a:p>
        </p:txBody>
      </p:sp>
      <p:sp>
        <p:nvSpPr>
          <p:cNvPr id="55" name="text-064: CDC 桥"/>
          <p:cNvSpPr txBox="1"/>
          <p:nvPr/>
        </p:nvSpPr>
        <p:spPr>
          <a:xfrm>
            <a:off x="10810240" y="3823838"/>
            <a:ext cx="75245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CDC 桥</a:t>
            </a:r>
          </a:p>
        </p:txBody>
      </p:sp>
      <p:sp>
        <p:nvSpPr>
          <p:cNvPr id="56" name="rect-065"/>
          <p:cNvSpPr/>
          <p:nvPr/>
        </p:nvSpPr>
        <p:spPr>
          <a:xfrm>
            <a:off x="355600" y="6418580"/>
            <a:ext cx="5618480" cy="1031240"/>
          </a:xfrm>
          <a:prstGeom prst="roundRect">
            <a:avLst>
              <a:gd name="adj" fmla="val 482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-066"/>
          <p:cNvSpPr/>
          <p:nvPr/>
        </p:nvSpPr>
        <p:spPr>
          <a:xfrm>
            <a:off x="355600" y="6418580"/>
            <a:ext cx="35560" cy="10312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-067: 常开控制的事务顺序"/>
          <p:cNvSpPr txBox="1"/>
          <p:nvPr/>
        </p:nvSpPr>
        <p:spPr>
          <a:xfrm>
            <a:off x="476504" y="644645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常开控制的事务顺序</a:t>
            </a:r>
          </a:p>
        </p:txBody>
      </p:sp>
      <p:sp>
        <p:nvSpPr>
          <p:cNvPr id="59" name="text-068: 停发 → 排空 → 切换 / lock → 域内复位 / 就绪 → 放行"/>
          <p:cNvSpPr txBox="1"/>
          <p:nvPr/>
        </p:nvSpPr>
        <p:spPr>
          <a:xfrm>
            <a:off x="476504" y="6733215"/>
            <a:ext cx="480344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 → 排空 → 切换 / lock → 域内复位 / 就绪 → 放行</a:t>
            </a:r>
          </a:p>
        </p:txBody>
      </p:sp>
      <p:sp>
        <p:nvSpPr>
          <p:cNvPr id="60" name="text-069: lock、复位释放与设备可工作是三个不同条件"/>
          <p:cNvSpPr txBox="1"/>
          <p:nvPr/>
        </p:nvSpPr>
        <p:spPr>
          <a:xfrm>
            <a:off x="476504" y="6946575"/>
            <a:ext cx="337962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lock、复位释放与设备可工作是三个不同条件</a:t>
            </a:r>
          </a:p>
        </p:txBody>
      </p:sp>
      <p:sp>
        <p:nvSpPr>
          <p:cNvPr id="61" name="rect-070"/>
          <p:cNvSpPr/>
          <p:nvPr/>
        </p:nvSpPr>
        <p:spPr>
          <a:xfrm>
            <a:off x="6614160" y="6418580"/>
            <a:ext cx="579628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-071"/>
          <p:cNvSpPr/>
          <p:nvPr/>
        </p:nvSpPr>
        <p:spPr>
          <a:xfrm>
            <a:off x="6614160" y="64185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-072: 分频 / 门控 / clock-enable"/>
          <p:cNvSpPr txBox="1"/>
          <p:nvPr/>
        </p:nvSpPr>
        <p:spPr>
          <a:xfrm>
            <a:off x="6735064" y="6446459"/>
            <a:ext cx="308803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分频 / 门控 / clock-enable</a:t>
            </a:r>
          </a:p>
        </p:txBody>
      </p:sp>
      <p:sp>
        <p:nvSpPr>
          <p:cNvPr id="64" name="text-073: 分频改变周期；门控停止时钟脉冲"/>
          <p:cNvSpPr txBox="1"/>
          <p:nvPr/>
        </p:nvSpPr>
        <p:spPr>
          <a:xfrm>
            <a:off x="6735064" y="6733215"/>
            <a:ext cx="250342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分频改变周期；门控停止时钟脉冲</a:t>
            </a:r>
          </a:p>
        </p:txBody>
      </p:sp>
      <p:sp>
        <p:nvSpPr>
          <p:cNvPr id="65" name="text-074: clock-enable 决定寄存器是否更新，不是新的时钟域"/>
          <p:cNvSpPr txBox="1"/>
          <p:nvPr/>
        </p:nvSpPr>
        <p:spPr>
          <a:xfrm>
            <a:off x="6735064" y="6946575"/>
            <a:ext cx="413847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clock-enable 决定寄存器是否更新，不是新的时钟域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840480" y="29337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8107680" y="29337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1649984" y="3502660"/>
            <a:ext cx="4750816" cy="889000"/>
          </a:xfrm>
          <a:custGeom>
            <a:avLst/>
            <a:gdLst/>
            <a:ahLst/>
            <a:cxnLst/>
            <a:rect l="0" t="0" r="r" b="b"/>
            <a:pathLst>
              <a:path w="4750816" h="889000" fill="none">
                <a:moveTo>
                  <a:pt x="4750816" y="0"/>
                </a:moveTo>
                <a:lnTo>
                  <a:pt x="475081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4814824" y="3502660"/>
            <a:ext cx="1585976" cy="889000"/>
          </a:xfrm>
          <a:custGeom>
            <a:avLst/>
            <a:gdLst/>
            <a:ahLst/>
            <a:cxnLst/>
            <a:rect l="0" t="0" r="r" b="b"/>
            <a:pathLst>
              <a:path w="1585976" h="889000" fill="none">
                <a:moveTo>
                  <a:pt x="1585976" y="0"/>
                </a:moveTo>
                <a:lnTo>
                  <a:pt x="158597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6400800" y="3502660"/>
            <a:ext cx="1578864" cy="889000"/>
          </a:xfrm>
          <a:custGeom>
            <a:avLst/>
            <a:gdLst/>
            <a:ahLst/>
            <a:cxnLst/>
            <a:rect l="0" t="0" r="r" b="b"/>
            <a:pathLst>
              <a:path w="1578864" h="889000" fill="none">
                <a:moveTo>
                  <a:pt x="0" y="0"/>
                </a:moveTo>
                <a:lnTo>
                  <a:pt x="0" y="462280"/>
                </a:lnTo>
                <a:lnTo>
                  <a:pt x="1578864" y="462280"/>
                </a:lnTo>
                <a:lnTo>
                  <a:pt x="1578864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6400800" y="3502660"/>
            <a:ext cx="4743704" cy="889000"/>
          </a:xfrm>
          <a:custGeom>
            <a:avLst/>
            <a:gdLst/>
            <a:ahLst/>
            <a:cxnLst/>
            <a:rect l="0" t="0" r="r" b="b"/>
            <a:pathLst>
              <a:path w="4743704" h="889000" fill="none">
                <a:moveTo>
                  <a:pt x="0" y="0"/>
                </a:moveTo>
                <a:lnTo>
                  <a:pt x="0" y="462280"/>
                </a:lnTo>
                <a:lnTo>
                  <a:pt x="4743704" y="462280"/>
                </a:lnTo>
                <a:lnTo>
                  <a:pt x="4743704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7"/>
          <p:cNvSpPr/>
          <p:nvPr/>
        </p:nvSpPr>
        <p:spPr>
          <a:xfrm>
            <a:off x="1649984" y="5565140"/>
            <a:ext cx="4750816" cy="960120"/>
          </a:xfrm>
          <a:custGeom>
            <a:avLst/>
            <a:gdLst/>
            <a:ahLst/>
            <a:cxnLst/>
            <a:rect l="0" t="0" r="r" b="b"/>
            <a:pathLst>
              <a:path w="4750816" h="960120" fill="none">
                <a:moveTo>
                  <a:pt x="0" y="0"/>
                </a:moveTo>
                <a:lnTo>
                  <a:pt x="0" y="497840"/>
                </a:lnTo>
                <a:lnTo>
                  <a:pt x="4750816" y="497840"/>
                </a:lnTo>
                <a:lnTo>
                  <a:pt x="4750816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9"/>
          <p:cNvSpPr/>
          <p:nvPr/>
        </p:nvSpPr>
        <p:spPr>
          <a:xfrm>
            <a:off x="4814824" y="5565140"/>
            <a:ext cx="1585976" cy="960120"/>
          </a:xfrm>
          <a:custGeom>
            <a:avLst/>
            <a:gdLst/>
            <a:ahLst/>
            <a:cxnLst/>
            <a:rect l="0" t="0" r="r" b="b"/>
            <a:pathLst>
              <a:path w="1585976" h="960120" fill="none">
                <a:moveTo>
                  <a:pt x="0" y="0"/>
                </a:moveTo>
                <a:lnTo>
                  <a:pt x="0" y="497840"/>
                </a:lnTo>
                <a:lnTo>
                  <a:pt x="1585976" y="497840"/>
                </a:lnTo>
                <a:lnTo>
                  <a:pt x="1585976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21"/>
          <p:cNvSpPr/>
          <p:nvPr/>
        </p:nvSpPr>
        <p:spPr>
          <a:xfrm>
            <a:off x="6400800" y="5565140"/>
            <a:ext cx="1578864" cy="960120"/>
          </a:xfrm>
          <a:custGeom>
            <a:avLst/>
            <a:gdLst/>
            <a:ahLst/>
            <a:cxnLst/>
            <a:rect l="0" t="0" r="r" b="b"/>
            <a:pathLst>
              <a:path w="1578864" h="960120" fill="none">
                <a:moveTo>
                  <a:pt x="1578864" y="0"/>
                </a:moveTo>
                <a:lnTo>
                  <a:pt x="157886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olyline-023"/>
          <p:cNvSpPr/>
          <p:nvPr/>
        </p:nvSpPr>
        <p:spPr>
          <a:xfrm>
            <a:off x="6400800" y="5565140"/>
            <a:ext cx="4743704" cy="960120"/>
          </a:xfrm>
          <a:custGeom>
            <a:avLst/>
            <a:gdLst/>
            <a:ahLst/>
            <a:cxnLst/>
            <a:rect l="0" t="0" r="r" b="b"/>
            <a:pathLst>
              <a:path w="4743704" h="960120" fill="none">
                <a:moveTo>
                  <a:pt x="4743704" y="0"/>
                </a:moveTo>
                <a:lnTo>
                  <a:pt x="474370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25: CVA6 功能层次：发射、执行、提交与系统接口"/>
          <p:cNvSpPr txBox="1"/>
          <p:nvPr/>
        </p:nvSpPr>
        <p:spPr>
          <a:xfrm>
            <a:off x="483616" y="1071209"/>
            <a:ext cx="5696712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 功能层次：发射、执行、提交与系统接口</a:t>
            </a:r>
          </a:p>
        </p:txBody>
      </p:sp>
      <p:sp>
        <p:nvSpPr>
          <p:cNvPr id="16" name="text-026: 以职责和接口组织；不展开每一级流水线电路，也不把图中连线当成精确时序。"/>
          <p:cNvSpPr txBox="1"/>
          <p:nvPr/>
        </p:nvSpPr>
        <p:spPr>
          <a:xfrm>
            <a:off x="483616" y="1476878"/>
            <a:ext cx="58887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以职责和接口组织；不展开每一级流水线电路，也不把图中连线当成精确时序。</a:t>
            </a:r>
          </a:p>
        </p:txBody>
      </p:sp>
      <p:sp>
        <p:nvSpPr>
          <p:cNvPr id="17" name="text-02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28: 源码：core/cva6.sv / issue_stage.sv / ex_st"/>
          <p:cNvSpPr txBox="1"/>
          <p:nvPr/>
        </p:nvSpPr>
        <p:spPr>
          <a:xfrm>
            <a:off x="341376" y="8526577"/>
            <a:ext cx="620877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源码：core/cva6.sv / issue_stage.sv / ex_stage.sv / commit_stage.sv</a:t>
            </a:r>
          </a:p>
        </p:txBody>
      </p:sp>
      <p:sp>
        <p:nvSpPr>
          <p:cNvPr id="19" name="rect-029"/>
          <p:cNvSpPr/>
          <p:nvPr/>
        </p:nvSpPr>
        <p:spPr>
          <a:xfrm>
            <a:off x="426720" y="23647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-030"/>
          <p:cNvSpPr/>
          <p:nvPr/>
        </p:nvSpPr>
        <p:spPr>
          <a:xfrm>
            <a:off x="426720" y="236474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31: 取指前端 / Icache"/>
          <p:cNvSpPr txBox="1"/>
          <p:nvPr/>
        </p:nvSpPr>
        <p:spPr>
          <a:xfrm>
            <a:off x="547624" y="2392619"/>
            <a:ext cx="200629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取指前端 / Icache</a:t>
            </a:r>
          </a:p>
        </p:txBody>
      </p:sp>
      <p:sp>
        <p:nvSpPr>
          <p:cNvPr id="22" name="text-032: PC 与指令流"/>
          <p:cNvSpPr txBox="1"/>
          <p:nvPr/>
        </p:nvSpPr>
        <p:spPr>
          <a:xfrm>
            <a:off x="547624" y="2664013"/>
            <a:ext cx="11862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PC 与指令流</a:t>
            </a:r>
          </a:p>
        </p:txBody>
      </p:sp>
      <p:sp>
        <p:nvSpPr>
          <p:cNvPr id="23" name="text-033: RAS / BTB / BHT 分支预测"/>
          <p:cNvSpPr txBox="1"/>
          <p:nvPr/>
        </p:nvSpPr>
        <p:spPr>
          <a:xfrm>
            <a:off x="547624" y="2877373"/>
            <a:ext cx="262859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RAS / BTB / BHT 分支预测</a:t>
            </a:r>
          </a:p>
        </p:txBody>
      </p:sp>
      <p:sp>
        <p:nvSpPr>
          <p:cNvPr id="24" name="rect-034"/>
          <p:cNvSpPr/>
          <p:nvPr/>
        </p:nvSpPr>
        <p:spPr>
          <a:xfrm>
            <a:off x="4693920" y="23647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35"/>
          <p:cNvSpPr/>
          <p:nvPr/>
        </p:nvSpPr>
        <p:spPr>
          <a:xfrm>
            <a:off x="4693920" y="23647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6: 译码 / 发射 / scoreboard"/>
          <p:cNvSpPr txBox="1"/>
          <p:nvPr/>
        </p:nvSpPr>
        <p:spPr>
          <a:xfrm>
            <a:off x="4814824" y="2392619"/>
            <a:ext cx="284764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译码 / 发射 / scoreboard</a:t>
            </a:r>
          </a:p>
        </p:txBody>
      </p:sp>
      <p:sp>
        <p:nvSpPr>
          <p:cNvPr id="27" name="text-037: 操作数、依赖与资源检查"/>
          <p:cNvSpPr txBox="1"/>
          <p:nvPr/>
        </p:nvSpPr>
        <p:spPr>
          <a:xfrm>
            <a:off x="4814824" y="266401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操作数、依赖与资源检查</a:t>
            </a:r>
          </a:p>
        </p:txBody>
      </p:sp>
      <p:sp>
        <p:nvSpPr>
          <p:cNvPr id="28" name="text-038: 未完成指令与 trans_id 跟踪"/>
          <p:cNvSpPr txBox="1"/>
          <p:nvPr/>
        </p:nvSpPr>
        <p:spPr>
          <a:xfrm>
            <a:off x="4814824" y="2877373"/>
            <a:ext cx="264566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未完成指令与 trans_id 跟踪</a:t>
            </a:r>
          </a:p>
        </p:txBody>
      </p:sp>
      <p:sp>
        <p:nvSpPr>
          <p:cNvPr id="29" name="rect-039"/>
          <p:cNvSpPr/>
          <p:nvPr/>
        </p:nvSpPr>
        <p:spPr>
          <a:xfrm>
            <a:off x="8961120" y="23647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-040"/>
          <p:cNvSpPr/>
          <p:nvPr/>
        </p:nvSpPr>
        <p:spPr>
          <a:xfrm>
            <a:off x="8961120" y="236474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41: CSR / trap 控制"/>
          <p:cNvSpPr txBox="1"/>
          <p:nvPr/>
        </p:nvSpPr>
        <p:spPr>
          <a:xfrm>
            <a:off x="9082024" y="2392619"/>
            <a:ext cx="187685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CSR / trap 控制</a:t>
            </a:r>
          </a:p>
        </p:txBody>
      </p:sp>
      <p:sp>
        <p:nvSpPr>
          <p:cNvPr id="32" name="text-042: 特权级、异常与中断"/>
          <p:cNvSpPr txBox="1"/>
          <p:nvPr/>
        </p:nvSpPr>
        <p:spPr>
          <a:xfrm>
            <a:off x="9082024" y="2664013"/>
            <a:ext cx="170688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特权级、异常与中断</a:t>
            </a:r>
          </a:p>
        </p:txBody>
      </p:sp>
      <p:sp>
        <p:nvSpPr>
          <p:cNvPr id="33" name="text-043: FS / VS 等运行时状态"/>
          <p:cNvSpPr txBox="1"/>
          <p:nvPr/>
        </p:nvSpPr>
        <p:spPr>
          <a:xfrm>
            <a:off x="9082024" y="2877373"/>
            <a:ext cx="208239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FS / VS 等运行时状态</a:t>
            </a:r>
          </a:p>
        </p:txBody>
      </p:sp>
      <p:sp>
        <p:nvSpPr>
          <p:cNvPr id="34" name="rect-044"/>
          <p:cNvSpPr/>
          <p:nvPr/>
        </p:nvSpPr>
        <p:spPr>
          <a:xfrm>
            <a:off x="42672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45"/>
          <p:cNvSpPr/>
          <p:nvPr/>
        </p:nvSpPr>
        <p:spPr>
          <a:xfrm>
            <a:off x="426720" y="43916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46: 整数 / 分支"/>
          <p:cNvSpPr txBox="1"/>
          <p:nvPr/>
        </p:nvSpPr>
        <p:spPr>
          <a:xfrm>
            <a:off x="547624" y="4419539"/>
            <a:ext cx="128513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整数 / 分支</a:t>
            </a:r>
          </a:p>
        </p:txBody>
      </p:sp>
      <p:sp>
        <p:nvSpPr>
          <p:cNvPr id="37" name="text-047: 地址与标量计算"/>
          <p:cNvSpPr txBox="1"/>
          <p:nvPr/>
        </p:nvSpPr>
        <p:spPr>
          <a:xfrm>
            <a:off x="547624" y="469093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地址与标量计算</a:t>
            </a:r>
          </a:p>
        </p:txBody>
      </p:sp>
      <p:sp>
        <p:nvSpPr>
          <p:cNvPr id="38" name="text-048: 分支结果与控制流"/>
          <p:cNvSpPr txBox="1"/>
          <p:nvPr/>
        </p:nvSpPr>
        <p:spPr>
          <a:xfrm>
            <a:off x="547624" y="490429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分支结果与控制流</a:t>
            </a:r>
          </a:p>
        </p:txBody>
      </p:sp>
      <p:sp>
        <p:nvSpPr>
          <p:cNvPr id="39" name="rect-049"/>
          <p:cNvSpPr/>
          <p:nvPr/>
        </p:nvSpPr>
        <p:spPr>
          <a:xfrm>
            <a:off x="359156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-050"/>
          <p:cNvSpPr/>
          <p:nvPr/>
        </p:nvSpPr>
        <p:spPr>
          <a:xfrm>
            <a:off x="3591560" y="43916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-051: 标量 FPU"/>
          <p:cNvSpPr txBox="1"/>
          <p:nvPr/>
        </p:nvSpPr>
        <p:spPr>
          <a:xfrm>
            <a:off x="3712464" y="4419539"/>
            <a:ext cx="103550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标量 FPU</a:t>
            </a:r>
          </a:p>
        </p:txBody>
      </p:sp>
      <p:sp>
        <p:nvSpPr>
          <p:cNvPr id="42" name="text-052: 浮点计算 / fflags"/>
          <p:cNvSpPr txBox="1"/>
          <p:nvPr/>
        </p:nvSpPr>
        <p:spPr>
          <a:xfrm>
            <a:off x="3712464" y="4690933"/>
            <a:ext cx="185196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浮点计算 / fflags</a:t>
            </a:r>
          </a:p>
        </p:txBody>
      </p:sp>
      <p:sp>
        <p:nvSpPr>
          <p:cNvPr id="43" name="text-053: 使用前正确设置 FS"/>
          <p:cNvSpPr txBox="1"/>
          <p:nvPr/>
        </p:nvSpPr>
        <p:spPr>
          <a:xfrm>
            <a:off x="3712464" y="4904293"/>
            <a:ext cx="169834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使用前正确设置 FS</a:t>
            </a:r>
          </a:p>
        </p:txBody>
      </p:sp>
      <p:sp>
        <p:nvSpPr>
          <p:cNvPr id="44" name="rect-054"/>
          <p:cNvSpPr/>
          <p:nvPr/>
        </p:nvSpPr>
        <p:spPr>
          <a:xfrm>
            <a:off x="675640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55"/>
          <p:cNvSpPr/>
          <p:nvPr/>
        </p:nvSpPr>
        <p:spPr>
          <a:xfrm>
            <a:off x="6756400" y="43916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56: 标量 load / store"/>
          <p:cNvSpPr txBox="1"/>
          <p:nvPr/>
        </p:nvSpPr>
        <p:spPr>
          <a:xfrm>
            <a:off x="6877304" y="4419539"/>
            <a:ext cx="211724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标量 load / store</a:t>
            </a:r>
          </a:p>
        </p:txBody>
      </p:sp>
      <p:sp>
        <p:nvSpPr>
          <p:cNvPr id="47" name="text-057: MMU / PMP / Dcache"/>
          <p:cNvSpPr txBox="1"/>
          <p:nvPr/>
        </p:nvSpPr>
        <p:spPr>
          <a:xfrm>
            <a:off x="6877304" y="4690933"/>
            <a:ext cx="216773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MMU / PMP / Dcache</a:t>
            </a:r>
          </a:p>
        </p:txBody>
      </p:sp>
      <p:sp>
        <p:nvSpPr>
          <p:cNvPr id="48" name="text-058: 地址权限与数据返回"/>
          <p:cNvSpPr txBox="1"/>
          <p:nvPr/>
        </p:nvSpPr>
        <p:spPr>
          <a:xfrm>
            <a:off x="6877304" y="4904293"/>
            <a:ext cx="170688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地址权限与数据返回</a:t>
            </a:r>
          </a:p>
        </p:txBody>
      </p:sp>
      <p:sp>
        <p:nvSpPr>
          <p:cNvPr id="49" name="rect-059"/>
          <p:cNvSpPr/>
          <p:nvPr/>
        </p:nvSpPr>
        <p:spPr>
          <a:xfrm>
            <a:off x="992124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-060"/>
          <p:cNvSpPr/>
          <p:nvPr/>
        </p:nvSpPr>
        <p:spPr>
          <a:xfrm>
            <a:off x="9921240" y="4391660"/>
            <a:ext cx="35560" cy="11734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61: Ara 专用接口"/>
          <p:cNvSpPr txBox="1"/>
          <p:nvPr/>
        </p:nvSpPr>
        <p:spPr>
          <a:xfrm>
            <a:off x="10042144" y="4419539"/>
            <a:ext cx="14053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专用接口</a:t>
            </a:r>
          </a:p>
        </p:txBody>
      </p:sp>
      <p:sp>
        <p:nvSpPr>
          <p:cNvPr id="52" name="text-062: 请求 / 应答 / pending"/>
          <p:cNvSpPr txBox="1"/>
          <p:nvPr/>
        </p:nvSpPr>
        <p:spPr>
          <a:xfrm>
            <a:off x="10042144" y="4690933"/>
            <a:ext cx="229575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 / 应答 / pending</a:t>
            </a:r>
          </a:p>
        </p:txBody>
      </p:sp>
      <p:sp>
        <p:nvSpPr>
          <p:cNvPr id="53" name="text-063: Ara 自身 AXI 独立"/>
          <p:cNvSpPr txBox="1"/>
          <p:nvPr/>
        </p:nvSpPr>
        <p:spPr>
          <a:xfrm>
            <a:off x="10042144" y="4904293"/>
            <a:ext cx="185196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自身 AXI 独立</a:t>
            </a:r>
          </a:p>
        </p:txBody>
      </p:sp>
      <p:sp>
        <p:nvSpPr>
          <p:cNvPr id="54" name="rect-064"/>
          <p:cNvSpPr/>
          <p:nvPr/>
        </p:nvSpPr>
        <p:spPr>
          <a:xfrm>
            <a:off x="1778000" y="6525260"/>
            <a:ext cx="924560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-065"/>
          <p:cNvSpPr/>
          <p:nvPr/>
        </p:nvSpPr>
        <p:spPr>
          <a:xfrm>
            <a:off x="1778000" y="65252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-066: 结果关联与顺序提交"/>
          <p:cNvSpPr txBox="1"/>
          <p:nvPr/>
        </p:nvSpPr>
        <p:spPr>
          <a:xfrm>
            <a:off x="1898904" y="655313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结果关联与顺序提交</a:t>
            </a:r>
          </a:p>
        </p:txBody>
      </p:sp>
      <p:sp>
        <p:nvSpPr>
          <p:cNvPr id="57" name="text-067: 返回结果匹配未完成指令；满足条件后更新架构状态"/>
          <p:cNvSpPr txBox="1"/>
          <p:nvPr/>
        </p:nvSpPr>
        <p:spPr>
          <a:xfrm>
            <a:off x="1898904" y="6824533"/>
            <a:ext cx="409651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返回结果匹配未完成指令；满足条件后更新架构状态</a:t>
            </a:r>
          </a:p>
        </p:txBody>
      </p:sp>
      <p:sp>
        <p:nvSpPr>
          <p:cNvPr id="58" name="text-068: 异常、重定向与资源等待属于控制反馈；本图仅保留主要职责联系"/>
          <p:cNvSpPr txBox="1"/>
          <p:nvPr/>
        </p:nvSpPr>
        <p:spPr>
          <a:xfrm>
            <a:off x="1898904" y="7037893"/>
            <a:ext cx="51206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异常、重定向与资源等待属于控制反馈；本图仅保留主要职责联系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022600" y="31648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6151880" y="31648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9281160" y="31648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11094720" y="378714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 fill="none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9281160" y="59029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6151880" y="59029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7"/>
          <p:cNvSpPr/>
          <p:nvPr/>
        </p:nvSpPr>
        <p:spPr>
          <a:xfrm>
            <a:off x="3022600" y="59029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19: 一次 DDR 读：请求调度与返回数据分别穿过控制器"/>
          <p:cNvSpPr txBox="1"/>
          <p:nvPr/>
        </p:nvSpPr>
        <p:spPr>
          <a:xfrm>
            <a:off x="483616" y="1071209"/>
            <a:ext cx="6208776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DDR 读：请求调度与返回数据分别穿过控制器</a:t>
            </a:r>
          </a:p>
        </p:txBody>
      </p:sp>
      <p:sp>
        <p:nvSpPr>
          <p:cNvPr id="13" name="text-020: 通用原理图；地址位分配、bank 策略、队列容量与训练寄存器由实际供应商确定。"/>
          <p:cNvSpPr txBox="1"/>
          <p:nvPr/>
        </p:nvSpPr>
        <p:spPr>
          <a:xfrm>
            <a:off x="483616" y="1476878"/>
            <a:ext cx="625678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通用原理图；地址位分配、bank 策略、队列容量与训练寄存器由实际供应商确定。</a:t>
            </a:r>
          </a:p>
        </p:txBody>
      </p:sp>
      <p:sp>
        <p:nvSpPr>
          <p:cNvPr id="14" name="text-021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2: 依据：DDR 控制器/PHY 通用职责；不表示固定周期，也不代表已完成 DDR "/>
          <p:cNvSpPr txBox="1"/>
          <p:nvPr/>
        </p:nvSpPr>
        <p:spPr>
          <a:xfrm>
            <a:off x="341376" y="8526577"/>
            <a:ext cx="5419344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依据：DDR 控制器/PHY 通用职责；不表示固定周期，也不代表已完成 DDR 验证</a:t>
            </a:r>
          </a:p>
        </p:txBody>
      </p:sp>
      <p:sp>
        <p:nvSpPr>
          <p:cNvPr id="16" name="rect-023"/>
          <p:cNvSpPr/>
          <p:nvPr/>
        </p:nvSpPr>
        <p:spPr>
          <a:xfrm>
            <a:off x="39116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-024"/>
          <p:cNvSpPr/>
          <p:nvPr/>
        </p:nvSpPr>
        <p:spPr>
          <a:xfrm>
            <a:off x="391160" y="254254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25: AXI AR 队列"/>
          <p:cNvSpPr txBox="1"/>
          <p:nvPr/>
        </p:nvSpPr>
        <p:spPr>
          <a:xfrm>
            <a:off x="512064" y="2570419"/>
            <a:ext cx="139608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AR 队列</a:t>
            </a:r>
          </a:p>
        </p:txBody>
      </p:sp>
      <p:sp>
        <p:nvSpPr>
          <p:cNvPr id="19" name="text-026: 保存地址 / ID / burst"/>
          <p:cNvSpPr txBox="1"/>
          <p:nvPr/>
        </p:nvSpPr>
        <p:spPr>
          <a:xfrm>
            <a:off x="512064" y="2849494"/>
            <a:ext cx="220009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保存地址 / ID / burst</a:t>
            </a:r>
          </a:p>
        </p:txBody>
      </p:sp>
      <p:sp>
        <p:nvSpPr>
          <p:cNvPr id="20" name="text-027: 接受 AR 只表示收下请求"/>
          <p:cNvSpPr txBox="1"/>
          <p:nvPr/>
        </p:nvSpPr>
        <p:spPr>
          <a:xfrm>
            <a:off x="512064" y="3062854"/>
            <a:ext cx="206105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 AR 只表示收下请求</a:t>
            </a:r>
          </a:p>
        </p:txBody>
      </p:sp>
      <p:sp>
        <p:nvSpPr>
          <p:cNvPr id="21" name="rect-028"/>
          <p:cNvSpPr/>
          <p:nvPr/>
        </p:nvSpPr>
        <p:spPr>
          <a:xfrm>
            <a:off x="352044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-029"/>
          <p:cNvSpPr/>
          <p:nvPr/>
        </p:nvSpPr>
        <p:spPr>
          <a:xfrm>
            <a:off x="3520440" y="254254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-030: 映射 / 调度"/>
          <p:cNvSpPr txBox="1"/>
          <p:nvPr/>
        </p:nvSpPr>
        <p:spPr>
          <a:xfrm>
            <a:off x="3641344" y="2570419"/>
            <a:ext cx="128513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映射 / 调度</a:t>
            </a:r>
          </a:p>
        </p:txBody>
      </p:sp>
      <p:sp>
        <p:nvSpPr>
          <p:cNvPr id="24" name="text-031: bank / row / column"/>
          <p:cNvSpPr txBox="1"/>
          <p:nvPr/>
        </p:nvSpPr>
        <p:spPr>
          <a:xfrm>
            <a:off x="3641344" y="2849494"/>
            <a:ext cx="218374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 column</a:t>
            </a:r>
          </a:p>
        </p:txBody>
      </p:sp>
      <p:sp>
        <p:nvSpPr>
          <p:cNvPr id="25" name="text-032: 处理行命中、冲突、刷新"/>
          <p:cNvSpPr txBox="1"/>
          <p:nvPr/>
        </p:nvSpPr>
        <p:spPr>
          <a:xfrm>
            <a:off x="3641344" y="3062854"/>
            <a:ext cx="196291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处理行命中、冲突、刷新</a:t>
            </a:r>
          </a:p>
        </p:txBody>
      </p:sp>
      <p:sp>
        <p:nvSpPr>
          <p:cNvPr id="26" name="rect-033"/>
          <p:cNvSpPr/>
          <p:nvPr/>
        </p:nvSpPr>
        <p:spPr>
          <a:xfrm>
            <a:off x="664972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4"/>
          <p:cNvSpPr/>
          <p:nvPr/>
        </p:nvSpPr>
        <p:spPr>
          <a:xfrm>
            <a:off x="6649720" y="254254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5: PHY 命令接口"/>
          <p:cNvSpPr txBox="1"/>
          <p:nvPr/>
        </p:nvSpPr>
        <p:spPr>
          <a:xfrm>
            <a:off x="6770624" y="2570419"/>
            <a:ext cx="14053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命令接口</a:t>
            </a:r>
          </a:p>
        </p:txBody>
      </p:sp>
      <p:sp>
        <p:nvSpPr>
          <p:cNvPr id="29" name="text-036: ACT / READ / PRE"/>
          <p:cNvSpPr txBox="1"/>
          <p:nvPr/>
        </p:nvSpPr>
        <p:spPr>
          <a:xfrm>
            <a:off x="6770624" y="2849494"/>
            <a:ext cx="186476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ACT / READ / PRE</a:t>
            </a:r>
          </a:p>
        </p:txBody>
      </p:sp>
      <p:sp>
        <p:nvSpPr>
          <p:cNvPr id="30" name="text-037: 满足器件命令时序"/>
          <p:cNvSpPr txBox="1"/>
          <p:nvPr/>
        </p:nvSpPr>
        <p:spPr>
          <a:xfrm>
            <a:off x="6770624" y="3062854"/>
            <a:ext cx="14721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满足器件命令时序</a:t>
            </a:r>
          </a:p>
        </p:txBody>
      </p:sp>
      <p:sp>
        <p:nvSpPr>
          <p:cNvPr id="31" name="rect-038"/>
          <p:cNvSpPr/>
          <p:nvPr/>
        </p:nvSpPr>
        <p:spPr>
          <a:xfrm>
            <a:off x="977900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-039"/>
          <p:cNvSpPr/>
          <p:nvPr/>
        </p:nvSpPr>
        <p:spPr>
          <a:xfrm>
            <a:off x="9779000" y="254254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40: DRAM bank"/>
          <p:cNvSpPr txBox="1"/>
          <p:nvPr/>
        </p:nvSpPr>
        <p:spPr>
          <a:xfrm>
            <a:off x="9899904" y="257041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bank</a:t>
            </a:r>
          </a:p>
        </p:txBody>
      </p:sp>
      <p:sp>
        <p:nvSpPr>
          <p:cNvPr id="34" name="text-041: 开行 / 列读 / 刷新"/>
          <p:cNvSpPr txBox="1"/>
          <p:nvPr/>
        </p:nvSpPr>
        <p:spPr>
          <a:xfrm>
            <a:off x="9899904" y="2849494"/>
            <a:ext cx="178297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开行 / 列读 / 刷新</a:t>
            </a:r>
          </a:p>
        </p:txBody>
      </p:sp>
      <p:sp>
        <p:nvSpPr>
          <p:cNvPr id="35" name="text-042: 存储阵列输出数据"/>
          <p:cNvSpPr txBox="1"/>
          <p:nvPr/>
        </p:nvSpPr>
        <p:spPr>
          <a:xfrm>
            <a:off x="9899904" y="3062854"/>
            <a:ext cx="14721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存储阵列输出数据</a:t>
            </a:r>
          </a:p>
        </p:txBody>
      </p:sp>
      <p:sp>
        <p:nvSpPr>
          <p:cNvPr id="36" name="rect-043"/>
          <p:cNvSpPr/>
          <p:nvPr/>
        </p:nvSpPr>
        <p:spPr>
          <a:xfrm>
            <a:off x="39116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4"/>
          <p:cNvSpPr/>
          <p:nvPr/>
        </p:nvSpPr>
        <p:spPr>
          <a:xfrm>
            <a:off x="391160" y="528066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5: AXI R 通道"/>
          <p:cNvSpPr txBox="1"/>
          <p:nvPr/>
        </p:nvSpPr>
        <p:spPr>
          <a:xfrm>
            <a:off x="512064" y="530853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R 通道</a:t>
            </a:r>
          </a:p>
        </p:txBody>
      </p:sp>
      <p:sp>
        <p:nvSpPr>
          <p:cNvPr id="39" name="text-046: RID / RLAST / RESP"/>
          <p:cNvSpPr txBox="1"/>
          <p:nvPr/>
        </p:nvSpPr>
        <p:spPr>
          <a:xfrm>
            <a:off x="512064" y="5587614"/>
            <a:ext cx="207741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RID / RLAST / RESP</a:t>
            </a:r>
          </a:p>
        </p:txBody>
      </p:sp>
      <p:sp>
        <p:nvSpPr>
          <p:cNvPr id="40" name="text-047: RREADY 背压时保持数据"/>
          <p:cNvSpPr txBox="1"/>
          <p:nvPr/>
        </p:nvSpPr>
        <p:spPr>
          <a:xfrm>
            <a:off x="512064" y="5800974"/>
            <a:ext cx="205287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 背压时保持数据</a:t>
            </a:r>
          </a:p>
        </p:txBody>
      </p:sp>
      <p:sp>
        <p:nvSpPr>
          <p:cNvPr id="41" name="rect-048"/>
          <p:cNvSpPr/>
          <p:nvPr/>
        </p:nvSpPr>
        <p:spPr>
          <a:xfrm>
            <a:off x="352044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9"/>
          <p:cNvSpPr/>
          <p:nvPr/>
        </p:nvSpPr>
        <p:spPr>
          <a:xfrm>
            <a:off x="3520440" y="528066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50: 返回缓冲"/>
          <p:cNvSpPr txBox="1"/>
          <p:nvPr/>
        </p:nvSpPr>
        <p:spPr>
          <a:xfrm>
            <a:off x="3641344" y="5308539"/>
            <a:ext cx="92456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返回缓冲</a:t>
            </a:r>
          </a:p>
        </p:txBody>
      </p:sp>
      <p:sp>
        <p:nvSpPr>
          <p:cNvPr id="44" name="text-051: 按 AXI beat 重组"/>
          <p:cNvSpPr txBox="1"/>
          <p:nvPr/>
        </p:nvSpPr>
        <p:spPr>
          <a:xfrm>
            <a:off x="3641344" y="5587614"/>
            <a:ext cx="171754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 AXI beat 重组</a:t>
            </a:r>
          </a:p>
        </p:txBody>
      </p:sp>
      <p:sp>
        <p:nvSpPr>
          <p:cNvPr id="45" name="text-052: 与原事务 ID 对应"/>
          <p:cNvSpPr txBox="1"/>
          <p:nvPr/>
        </p:nvSpPr>
        <p:spPr>
          <a:xfrm>
            <a:off x="3641344" y="5800974"/>
            <a:ext cx="157033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与原事务 ID 对应</a:t>
            </a:r>
          </a:p>
        </p:txBody>
      </p:sp>
      <p:sp>
        <p:nvSpPr>
          <p:cNvPr id="46" name="rect-053"/>
          <p:cNvSpPr/>
          <p:nvPr/>
        </p:nvSpPr>
        <p:spPr>
          <a:xfrm>
            <a:off x="664972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-054"/>
          <p:cNvSpPr/>
          <p:nvPr/>
        </p:nvSpPr>
        <p:spPr>
          <a:xfrm>
            <a:off x="6649720" y="528066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-055: PHY 采样 / 对齐"/>
          <p:cNvSpPr txBox="1"/>
          <p:nvPr/>
        </p:nvSpPr>
        <p:spPr>
          <a:xfrm>
            <a:off x="6770624" y="5308539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采样 / 对齐</a:t>
            </a:r>
          </a:p>
        </p:txBody>
      </p:sp>
      <p:sp>
        <p:nvSpPr>
          <p:cNvPr id="49" name="text-056: 训练确定采样关系"/>
          <p:cNvSpPr txBox="1"/>
          <p:nvPr/>
        </p:nvSpPr>
        <p:spPr>
          <a:xfrm>
            <a:off x="6770624" y="5587614"/>
            <a:ext cx="14721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训练确定采样关系</a:t>
            </a:r>
          </a:p>
        </p:txBody>
      </p:sp>
      <p:sp>
        <p:nvSpPr>
          <p:cNvPr id="50" name="text-057: DQ / DQS 转为内部数据"/>
          <p:cNvSpPr txBox="1"/>
          <p:nvPr/>
        </p:nvSpPr>
        <p:spPr>
          <a:xfrm>
            <a:off x="6770624" y="5800974"/>
            <a:ext cx="210195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 转为内部数据</a:t>
            </a:r>
          </a:p>
        </p:txBody>
      </p:sp>
      <p:sp>
        <p:nvSpPr>
          <p:cNvPr id="51" name="rect-058"/>
          <p:cNvSpPr/>
          <p:nvPr/>
        </p:nvSpPr>
        <p:spPr>
          <a:xfrm>
            <a:off x="977900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-059"/>
          <p:cNvSpPr/>
          <p:nvPr/>
        </p:nvSpPr>
        <p:spPr>
          <a:xfrm>
            <a:off x="9779000" y="528066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-060: DQ / DQS"/>
          <p:cNvSpPr txBox="1"/>
          <p:nvPr/>
        </p:nvSpPr>
        <p:spPr>
          <a:xfrm>
            <a:off x="9899904" y="530853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</a:t>
            </a:r>
          </a:p>
        </p:txBody>
      </p:sp>
      <p:sp>
        <p:nvSpPr>
          <p:cNvPr id="54" name="text-061: 器件返回读数据"/>
          <p:cNvSpPr txBox="1"/>
          <p:nvPr/>
        </p:nvSpPr>
        <p:spPr>
          <a:xfrm>
            <a:off x="9899904" y="558761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器件返回读数据</a:t>
            </a:r>
          </a:p>
        </p:txBody>
      </p:sp>
      <p:sp>
        <p:nvSpPr>
          <p:cNvPr id="55" name="text-062: 引脚电气时序"/>
          <p:cNvSpPr txBox="1"/>
          <p:nvPr/>
        </p:nvSpPr>
        <p:spPr>
          <a:xfrm>
            <a:off x="9899904" y="5800974"/>
            <a:ext cx="114503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引脚电气时序</a:t>
            </a:r>
          </a:p>
        </p:txBody>
      </p:sp>
      <p:sp>
        <p:nvSpPr>
          <p:cNvPr id="56" name="rect-063"/>
          <p:cNvSpPr/>
          <p:nvPr/>
        </p:nvSpPr>
        <p:spPr>
          <a:xfrm>
            <a:off x="391160" y="72009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-064"/>
          <p:cNvSpPr/>
          <p:nvPr/>
        </p:nvSpPr>
        <p:spPr>
          <a:xfrm>
            <a:off x="391160" y="720090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-065: 一次请求的延迟取决于多层状态"/>
          <p:cNvSpPr txBox="1"/>
          <p:nvPr/>
        </p:nvSpPr>
        <p:spPr>
          <a:xfrm>
            <a:off x="512064" y="7228779"/>
            <a:ext cx="277368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一次请求的延迟取决于多层状态</a:t>
            </a:r>
          </a:p>
        </p:txBody>
      </p:sp>
      <p:sp>
        <p:nvSpPr>
          <p:cNvPr id="59" name="text-066: 行命中可以省去换行操作；行冲突、刷新、仲裁、跨域队列和 R 背压都会改变 AXI"/>
          <p:cNvSpPr txBox="1"/>
          <p:nvPr/>
        </p:nvSpPr>
        <p:spPr>
          <a:xfrm>
            <a:off x="512064" y="7515535"/>
            <a:ext cx="738510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行命中可以省去换行操作；行冲突、刷新、仲裁、跨域队列和 R 背压都会改变 AXI 侧观察到的延迟。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6720" y="2329180"/>
            <a:ext cx="3733800" cy="3591560"/>
          </a:xfrm>
          <a:prstGeom prst="roundRect">
            <a:avLst>
              <a:gd name="adj" fmla="val 237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5085080" y="2329180"/>
            <a:ext cx="7396480" cy="3591560"/>
          </a:xfrm>
          <a:prstGeom prst="roundRect">
            <a:avLst>
              <a:gd name="adj" fmla="val 237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3840480" y="3804920"/>
            <a:ext cx="1493520" cy="1"/>
          </a:xfrm>
          <a:custGeom>
            <a:avLst/>
            <a:gdLst/>
            <a:ahLst/>
            <a:cxnLst/>
            <a:rect l="0" t="0" r="r" b="b"/>
            <a:pathLst>
              <a:path w="1493520" h="1" fill="none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8498840" y="38049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2222500" y="4462780"/>
            <a:ext cx="53340" cy="604520"/>
          </a:xfrm>
          <a:custGeom>
            <a:avLst/>
            <a:gdLst/>
            <a:ahLst/>
            <a:cxnLst/>
            <a:rect l="0" t="0" r="r" b="b"/>
            <a:pathLst>
              <a:path w="53340" h="604520" fill="none">
                <a:moveTo>
                  <a:pt x="5334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3: 关电域与常开域：隔离、保持、电平转换各有职责"/>
          <p:cNvSpPr txBox="1"/>
          <p:nvPr/>
        </p:nvSpPr>
        <p:spPr>
          <a:xfrm>
            <a:off x="483616" y="1071209"/>
            <a:ext cx="5888736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关电域与常开域：隔离、保持、电平转换各有职责</a:t>
            </a:r>
          </a:p>
        </p:txBody>
      </p:sp>
      <p:sp>
        <p:nvSpPr>
          <p:cNvPr id="11" name="text-014: 示例 done 为有效高，接收协议允许隔离时钳为 0；实际钳位值按接口协议决定。"/>
          <p:cNvSpPr txBox="1"/>
          <p:nvPr/>
        </p:nvSpPr>
        <p:spPr>
          <a:xfrm>
            <a:off x="483616" y="1476878"/>
            <a:ext cx="6248603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 done 为有效高，接收协议允许隔离时钳为 0；实际钳位值按接口协议决定。</a:t>
            </a:r>
          </a:p>
        </p:txBody>
      </p:sp>
      <p:sp>
        <p:nvSpPr>
          <p:cNvPr id="12" name="text-015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3" name="text-016: 依据：ASIC 低功耗通用机制；需工艺库、UPF 与平台协议支持"/>
          <p:cNvSpPr txBox="1"/>
          <p:nvPr/>
        </p:nvSpPr>
        <p:spPr>
          <a:xfrm>
            <a:off x="341376" y="8526577"/>
            <a:ext cx="4245864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依据：ASIC 低功耗通用机制；需工艺库、UPF 与平台协议支持</a:t>
            </a:r>
          </a:p>
        </p:txBody>
      </p:sp>
      <p:sp>
        <p:nvSpPr>
          <p:cNvPr id="14" name="text-017: 可关断设备域"/>
          <p:cNvSpPr txBox="1"/>
          <p:nvPr/>
        </p:nvSpPr>
        <p:spPr>
          <a:xfrm>
            <a:off x="554736" y="2386076"/>
            <a:ext cx="12446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可关断设备域</a:t>
            </a:r>
          </a:p>
        </p:txBody>
      </p:sp>
      <p:sp>
        <p:nvSpPr>
          <p:cNvPr id="15" name="rect-018"/>
          <p:cNvSpPr/>
          <p:nvPr/>
        </p:nvSpPr>
        <p:spPr>
          <a:xfrm>
            <a:off x="711200" y="3147060"/>
            <a:ext cx="3129280" cy="1315720"/>
          </a:xfrm>
          <a:prstGeom prst="roundRect">
            <a:avLst>
              <a:gd name="adj" fmla="val 378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-019"/>
          <p:cNvSpPr/>
          <p:nvPr/>
        </p:nvSpPr>
        <p:spPr>
          <a:xfrm>
            <a:off x="711200" y="3147060"/>
            <a:ext cx="35560" cy="13157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-020: 计算状态机"/>
          <p:cNvSpPr txBox="1"/>
          <p:nvPr/>
        </p:nvSpPr>
        <p:spPr>
          <a:xfrm>
            <a:off x="832104" y="317493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计算状态机</a:t>
            </a:r>
          </a:p>
        </p:txBody>
      </p:sp>
      <p:sp>
        <p:nvSpPr>
          <p:cNvPr id="18" name="text-021: 普通寄存器掉电后丢失"/>
          <p:cNvSpPr txBox="1"/>
          <p:nvPr/>
        </p:nvSpPr>
        <p:spPr>
          <a:xfrm>
            <a:off x="832104" y="344633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普通寄存器掉电后丢失</a:t>
            </a:r>
          </a:p>
        </p:txBody>
      </p:sp>
      <p:sp>
        <p:nvSpPr>
          <p:cNvPr id="19" name="text-022: done 输出 / 任务内部状态"/>
          <p:cNvSpPr txBox="1"/>
          <p:nvPr/>
        </p:nvSpPr>
        <p:spPr>
          <a:xfrm>
            <a:off x="832104" y="3659693"/>
            <a:ext cx="24237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done 输出 / 任务内部状态</a:t>
            </a:r>
          </a:p>
        </p:txBody>
      </p:sp>
      <p:sp>
        <p:nvSpPr>
          <p:cNvPr id="20" name="text-023: 电源撤除前先完成事务"/>
          <p:cNvSpPr txBox="1"/>
          <p:nvPr/>
        </p:nvSpPr>
        <p:spPr>
          <a:xfrm>
            <a:off x="832104" y="387305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电源撤除前先完成事务</a:t>
            </a:r>
          </a:p>
        </p:txBody>
      </p:sp>
      <p:sp>
        <p:nvSpPr>
          <p:cNvPr id="21" name="text-024: 常开控制与隔离供电边界"/>
          <p:cNvSpPr txBox="1"/>
          <p:nvPr/>
        </p:nvSpPr>
        <p:spPr>
          <a:xfrm>
            <a:off x="5213096" y="2386076"/>
            <a:ext cx="21336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常开控制与隔离供电边界</a:t>
            </a:r>
          </a:p>
        </p:txBody>
      </p:sp>
      <p:sp>
        <p:nvSpPr>
          <p:cNvPr id="22" name="rect-025"/>
          <p:cNvSpPr/>
          <p:nvPr/>
        </p:nvSpPr>
        <p:spPr>
          <a:xfrm>
            <a:off x="5334000" y="3147060"/>
            <a:ext cx="3164840" cy="1315720"/>
          </a:xfrm>
          <a:prstGeom prst="roundRect">
            <a:avLst>
              <a:gd name="adj" fmla="val 378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6"/>
          <p:cNvSpPr/>
          <p:nvPr/>
        </p:nvSpPr>
        <p:spPr>
          <a:xfrm>
            <a:off x="5334000" y="3147060"/>
            <a:ext cx="35560" cy="13157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7: 输出隔离单元"/>
          <p:cNvSpPr txBox="1"/>
          <p:nvPr/>
        </p:nvSpPr>
        <p:spPr>
          <a:xfrm>
            <a:off x="5454904" y="317493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输出隔离单元</a:t>
            </a:r>
          </a:p>
        </p:txBody>
      </p:sp>
      <p:sp>
        <p:nvSpPr>
          <p:cNvPr id="25" name="text-028: 隔离有效：done_out = 0"/>
          <p:cNvSpPr txBox="1"/>
          <p:nvPr/>
        </p:nvSpPr>
        <p:spPr>
          <a:xfrm>
            <a:off x="5454904" y="3446333"/>
            <a:ext cx="235549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隔离有效：done_out = 0</a:t>
            </a:r>
          </a:p>
        </p:txBody>
      </p:sp>
      <p:sp>
        <p:nvSpPr>
          <p:cNvPr id="26" name="text-029: 隔离解除：透传 done"/>
          <p:cNvSpPr txBox="1"/>
          <p:nvPr/>
        </p:nvSpPr>
        <p:spPr>
          <a:xfrm>
            <a:off x="5454904" y="3659693"/>
            <a:ext cx="19202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隔离解除：透传 done</a:t>
            </a:r>
          </a:p>
        </p:txBody>
      </p:sp>
      <p:sp>
        <p:nvSpPr>
          <p:cNvPr id="27" name="text-030: 钳低不能撤销已接受 AXI"/>
          <p:cNvSpPr txBox="1"/>
          <p:nvPr/>
        </p:nvSpPr>
        <p:spPr>
          <a:xfrm>
            <a:off x="5454904" y="3873053"/>
            <a:ext cx="2150669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钳低不能撤销已接受 AXI</a:t>
            </a:r>
          </a:p>
        </p:txBody>
      </p:sp>
      <p:sp>
        <p:nvSpPr>
          <p:cNvPr id="28" name="rect-031"/>
          <p:cNvSpPr/>
          <p:nvPr/>
        </p:nvSpPr>
        <p:spPr>
          <a:xfrm>
            <a:off x="9245600" y="3147060"/>
            <a:ext cx="2951480" cy="1315720"/>
          </a:xfrm>
          <a:prstGeom prst="roundRect">
            <a:avLst>
              <a:gd name="adj" fmla="val 378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2"/>
          <p:cNvSpPr/>
          <p:nvPr/>
        </p:nvSpPr>
        <p:spPr>
          <a:xfrm>
            <a:off x="9245600" y="3147060"/>
            <a:ext cx="35560" cy="13157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3: 完成邮箱 / 控制器"/>
          <p:cNvSpPr txBox="1"/>
          <p:nvPr/>
        </p:nvSpPr>
        <p:spPr>
          <a:xfrm>
            <a:off x="9366504" y="3174939"/>
            <a:ext cx="183987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完成邮箱 / 控制器</a:t>
            </a:r>
          </a:p>
        </p:txBody>
      </p:sp>
      <p:sp>
        <p:nvSpPr>
          <p:cNvPr id="31" name="text-034: 记录 epoch 与所有权"/>
          <p:cNvSpPr txBox="1"/>
          <p:nvPr/>
        </p:nvSpPr>
        <p:spPr>
          <a:xfrm>
            <a:off x="9366504" y="3446333"/>
            <a:ext cx="197144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记录 epoch 与所有权</a:t>
            </a:r>
          </a:p>
        </p:txBody>
      </p:sp>
      <p:sp>
        <p:nvSpPr>
          <p:cNvPr id="32" name="text-035: 匹配状态后回收 buffer"/>
          <p:cNvSpPr txBox="1"/>
          <p:nvPr/>
        </p:nvSpPr>
        <p:spPr>
          <a:xfrm>
            <a:off x="9366504" y="3659693"/>
            <a:ext cx="214213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匹配状态后回收 buffer</a:t>
            </a:r>
          </a:p>
        </p:txBody>
      </p:sp>
      <p:sp>
        <p:nvSpPr>
          <p:cNvPr id="33" name="text-036: 处理超时与错误"/>
          <p:cNvSpPr txBox="1"/>
          <p:nvPr/>
        </p:nvSpPr>
        <p:spPr>
          <a:xfrm>
            <a:off x="9366504" y="387305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处理超时与错误</a:t>
            </a:r>
          </a:p>
        </p:txBody>
      </p:sp>
      <p:sp>
        <p:nvSpPr>
          <p:cNvPr id="34" name="rect-037"/>
          <p:cNvSpPr/>
          <p:nvPr/>
        </p:nvSpPr>
        <p:spPr>
          <a:xfrm>
            <a:off x="924560" y="5067300"/>
            <a:ext cx="2595880" cy="640080"/>
          </a:xfrm>
          <a:prstGeom prst="roundRect">
            <a:avLst>
              <a:gd name="adj" fmla="val 777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38"/>
          <p:cNvSpPr/>
          <p:nvPr/>
        </p:nvSpPr>
        <p:spPr>
          <a:xfrm>
            <a:off x="924560" y="5067300"/>
            <a:ext cx="35560" cy="6400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39: 保持资源：独立供电"/>
          <p:cNvSpPr txBox="1"/>
          <p:nvPr/>
        </p:nvSpPr>
        <p:spPr>
          <a:xfrm>
            <a:off x="1045464" y="509517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保持资源：独立供电</a:t>
            </a:r>
          </a:p>
        </p:txBody>
      </p:sp>
      <p:sp>
        <p:nvSpPr>
          <p:cNvPr id="37" name="text-040: 仅保存选定状态"/>
          <p:cNvSpPr txBox="1"/>
          <p:nvPr/>
        </p:nvSpPr>
        <p:spPr>
          <a:xfrm>
            <a:off x="1045464" y="5381935"/>
            <a:ext cx="125171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仅保存选定状态</a:t>
            </a:r>
          </a:p>
        </p:txBody>
      </p:sp>
      <p:sp>
        <p:nvSpPr>
          <p:cNvPr id="38" name="rect-041"/>
          <p:cNvSpPr/>
          <p:nvPr/>
        </p:nvSpPr>
        <p:spPr>
          <a:xfrm>
            <a:off x="426720" y="65963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2"/>
          <p:cNvSpPr/>
          <p:nvPr/>
        </p:nvSpPr>
        <p:spPr>
          <a:xfrm>
            <a:off x="426720" y="65963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3: 关断顺序（需 IP 规范确认）"/>
          <p:cNvSpPr txBox="1"/>
          <p:nvPr/>
        </p:nvSpPr>
        <p:spPr>
          <a:xfrm>
            <a:off x="547624" y="6624259"/>
            <a:ext cx="269971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关断顺序（需 IP 规范确认）</a:t>
            </a:r>
          </a:p>
        </p:txBody>
      </p:sp>
      <p:sp>
        <p:nvSpPr>
          <p:cNvPr id="41" name="text-044: 停发并排空 → 保存必要状态 → 隔离"/>
          <p:cNvSpPr txBox="1"/>
          <p:nvPr/>
        </p:nvSpPr>
        <p:spPr>
          <a:xfrm>
            <a:off x="547624" y="6911015"/>
            <a:ext cx="291023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停发并排空 → 保存必要状态 → 隔离</a:t>
            </a:r>
          </a:p>
        </p:txBody>
      </p:sp>
      <p:sp>
        <p:nvSpPr>
          <p:cNvPr id="42" name="text-045: 按平台顺序关时钟 / 电源；处理异常在途事务"/>
          <p:cNvSpPr txBox="1"/>
          <p:nvPr/>
        </p:nvSpPr>
        <p:spPr>
          <a:xfrm>
            <a:off x="547624" y="7124375"/>
            <a:ext cx="343438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按平台顺序关时钟 / 电源；处理异常在途事务</a:t>
            </a:r>
          </a:p>
        </p:txBody>
      </p:sp>
      <p:sp>
        <p:nvSpPr>
          <p:cNvPr id="43" name="rect-046"/>
          <p:cNvSpPr/>
          <p:nvPr/>
        </p:nvSpPr>
        <p:spPr>
          <a:xfrm>
            <a:off x="6649720" y="65963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-047"/>
          <p:cNvSpPr/>
          <p:nvPr/>
        </p:nvSpPr>
        <p:spPr>
          <a:xfrm>
            <a:off x="6649720" y="65963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48: 恢复顺序与电平兼容"/>
          <p:cNvSpPr txBox="1"/>
          <p:nvPr/>
        </p:nvSpPr>
        <p:spPr>
          <a:xfrm>
            <a:off x="6770624" y="662425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恢复顺序与电平兼容</a:t>
            </a:r>
          </a:p>
        </p:txBody>
      </p:sp>
      <p:sp>
        <p:nvSpPr>
          <p:cNvPr id="46" name="text-049: 供电 / 时钟稳定 → 复位 → 恢复 / 重建 → 就绪 → 解除隔离"/>
          <p:cNvSpPr txBox="1"/>
          <p:nvPr/>
        </p:nvSpPr>
        <p:spPr>
          <a:xfrm>
            <a:off x="6770624" y="6911015"/>
            <a:ext cx="502249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供电 / 时钟稳定 → 复位 → 恢复 / 重建 → 就绪 → 解除隔离</a:t>
            </a:r>
          </a:p>
        </p:txBody>
      </p:sp>
      <p:sp>
        <p:nvSpPr>
          <p:cNvPr id="47" name="text-050: 电平转换负责电压兼容；保持负责状态，均不替代隔离"/>
          <p:cNvSpPr txBox="1"/>
          <p:nvPr/>
        </p:nvSpPr>
        <p:spPr>
          <a:xfrm>
            <a:off x="6770624" y="7124375"/>
            <a:ext cx="391160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电平转换负责电压兼容；保持负责状态，均不替代隔离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311400" y="2094484"/>
            <a:ext cx="7396480" cy="4053840"/>
          </a:xfrm>
          <a:prstGeom prst="roundRect">
            <a:avLst>
              <a:gd name="adj" fmla="val 210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1955800" y="30759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 fill="none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9494520" y="30759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 fill="none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1955800" y="48539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 fill="none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9494520" y="48539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 fill="none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th-014"/>
          <p:cNvSpPr/>
          <p:nvPr/>
        </p:nvSpPr>
        <p:spPr>
          <a:xfrm>
            <a:off x="5013960" y="31115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th-015"/>
          <p:cNvSpPr/>
          <p:nvPr/>
        </p:nvSpPr>
        <p:spPr>
          <a:xfrm>
            <a:off x="5013960" y="31115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0"/>
                </a:moveTo>
                <a:cubicBezTo>
                  <a:pt x="1049020" y="0"/>
                  <a:pt x="1049020" y="1778000"/>
                  <a:pt x="2098040" y="177800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ath-016"/>
          <p:cNvSpPr/>
          <p:nvPr/>
        </p:nvSpPr>
        <p:spPr>
          <a:xfrm>
            <a:off x="5013960" y="31115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ath-017"/>
          <p:cNvSpPr/>
          <p:nvPr/>
        </p:nvSpPr>
        <p:spPr>
          <a:xfrm>
            <a:off x="5013960" y="48895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th-018"/>
          <p:cNvSpPr/>
          <p:nvPr/>
        </p:nvSpPr>
        <p:spPr>
          <a:xfrm>
            <a:off x="5013960" y="31115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th-021"/>
          <p:cNvSpPr/>
          <p:nvPr/>
        </p:nvSpPr>
        <p:spPr>
          <a:xfrm>
            <a:off x="5013960" y="31115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24: Crossbar 内部：选择目标、预留 W、归还 ID"/>
          <p:cNvSpPr txBox="1"/>
          <p:nvPr/>
        </p:nvSpPr>
        <p:spPr>
          <a:xfrm>
            <a:off x="483616" y="1071209"/>
            <a:ext cx="5914339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Crossbar 内部：选择目标、预留 W、归还 ID</a:t>
            </a:r>
          </a:p>
        </p:txBody>
      </p:sp>
      <p:sp>
        <p:nvSpPr>
          <p:cNvPr id="17" name="text-025: 2×2 教学模型：普通 AXI4；输入 ID 为 2 位；地址与延迟不使用生产地"/>
          <p:cNvSpPr txBox="1"/>
          <p:nvPr/>
        </p:nvSpPr>
        <p:spPr>
          <a:xfrm>
            <a:off x="483616" y="1476878"/>
            <a:ext cx="628131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2×2 教学模型：普通 AXI4；输入 ID 为 2 位；地址与延迟不使用生产地址图。</a:t>
            </a:r>
          </a:p>
        </p:txBody>
      </p:sp>
      <p:sp>
        <p:nvSpPr>
          <p:cNvPr id="18" name="text-02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9" name="text-027: 依据：axi_xbar_unmuxed、axi_mux、axi_demux_si"/>
          <p:cNvSpPr txBox="1"/>
          <p:nvPr/>
        </p:nvSpPr>
        <p:spPr>
          <a:xfrm>
            <a:off x="341376" y="8526577"/>
            <a:ext cx="785876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依据：axi_xbar_unmuxed、axi_mux、axi_demux_simple、axi_demux_id_counters（本地 axi 依赖）</a:t>
            </a:r>
          </a:p>
        </p:txBody>
      </p:sp>
      <p:sp>
        <p:nvSpPr>
          <p:cNvPr id="20" name="text-028: 路由结构：两套输入状态 × 两套目标仲裁"/>
          <p:cNvSpPr txBox="1"/>
          <p:nvPr/>
        </p:nvSpPr>
        <p:spPr>
          <a:xfrm>
            <a:off x="2439416" y="2151380"/>
            <a:ext cx="354711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路由结构：两套输入状态 × 两套目标仲裁</a:t>
            </a:r>
          </a:p>
        </p:txBody>
      </p:sp>
      <p:sp>
        <p:nvSpPr>
          <p:cNvPr id="21" name="rect-029"/>
          <p:cNvSpPr/>
          <p:nvPr/>
        </p:nvSpPr>
        <p:spPr>
          <a:xfrm>
            <a:off x="355600" y="27203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-030"/>
          <p:cNvSpPr/>
          <p:nvPr/>
        </p:nvSpPr>
        <p:spPr>
          <a:xfrm>
            <a:off x="355600" y="2720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-031: I0 · CPU"/>
          <p:cNvSpPr txBox="1"/>
          <p:nvPr/>
        </p:nvSpPr>
        <p:spPr>
          <a:xfrm>
            <a:off x="476504" y="274821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I0 · CPU</a:t>
            </a:r>
          </a:p>
        </p:txBody>
      </p:sp>
      <p:sp>
        <p:nvSpPr>
          <p:cNvPr id="24" name="text-032: AW / W / AR"/>
          <p:cNvSpPr txBox="1"/>
          <p:nvPr/>
        </p:nvSpPr>
        <p:spPr>
          <a:xfrm>
            <a:off x="476504" y="3019613"/>
            <a:ext cx="139110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25" name="rect-033"/>
          <p:cNvSpPr/>
          <p:nvPr/>
        </p:nvSpPr>
        <p:spPr>
          <a:xfrm>
            <a:off x="2489200" y="25425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34"/>
          <p:cNvSpPr/>
          <p:nvPr/>
        </p:nvSpPr>
        <p:spPr>
          <a:xfrm>
            <a:off x="2489200" y="2542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5: DEMUX I0 · 地址分流"/>
          <p:cNvSpPr txBox="1"/>
          <p:nvPr/>
        </p:nvSpPr>
        <p:spPr>
          <a:xfrm>
            <a:off x="2610104" y="2570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I0 · 地址分流</a:t>
            </a:r>
          </a:p>
        </p:txBody>
      </p:sp>
      <p:sp>
        <p:nvSpPr>
          <p:cNvPr id="28" name="text-036: AW/AR ID → 目标 + 在途数"/>
          <p:cNvSpPr txBox="1"/>
          <p:nvPr/>
        </p:nvSpPr>
        <p:spPr>
          <a:xfrm>
            <a:off x="2610104" y="2841813"/>
            <a:ext cx="263713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29" name="text-037: w_select_q：W 的目标"/>
          <p:cNvSpPr txBox="1"/>
          <p:nvPr/>
        </p:nvSpPr>
        <p:spPr>
          <a:xfrm>
            <a:off x="2610104" y="3055173"/>
            <a:ext cx="218480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30" name="text-038: w_open：未结束 W 数"/>
          <p:cNvSpPr txBox="1"/>
          <p:nvPr/>
        </p:nvSpPr>
        <p:spPr>
          <a:xfrm>
            <a:off x="2610104" y="3268533"/>
            <a:ext cx="202265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31" name="rect-039"/>
          <p:cNvSpPr/>
          <p:nvPr/>
        </p:nvSpPr>
        <p:spPr>
          <a:xfrm>
            <a:off x="7112000" y="25425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-040"/>
          <p:cNvSpPr/>
          <p:nvPr/>
        </p:nvSpPr>
        <p:spPr>
          <a:xfrm>
            <a:off x="7112000" y="2542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41: 目标 0 · mux / 仲裁"/>
          <p:cNvSpPr txBox="1"/>
          <p:nvPr/>
        </p:nvSpPr>
        <p:spPr>
          <a:xfrm>
            <a:off x="7232904" y="2570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0 · mux / 仲裁</a:t>
            </a:r>
          </a:p>
        </p:txBody>
      </p:sp>
      <p:sp>
        <p:nvSpPr>
          <p:cNvPr id="34" name="text-042: AW 轮转仲裁并预留来源"/>
          <p:cNvSpPr txBox="1"/>
          <p:nvPr/>
        </p:nvSpPr>
        <p:spPr>
          <a:xfrm>
            <a:off x="7232904" y="2841813"/>
            <a:ext cx="20397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35" name="text-043: i_w_fifo 保存来源顺序"/>
          <p:cNvSpPr txBox="1"/>
          <p:nvPr/>
        </p:nvSpPr>
        <p:spPr>
          <a:xfrm>
            <a:off x="7232904" y="3055173"/>
            <a:ext cx="219334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36" name="text-044: W 按队首来源前进"/>
          <p:cNvSpPr txBox="1"/>
          <p:nvPr/>
        </p:nvSpPr>
        <p:spPr>
          <a:xfrm>
            <a:off x="7232904" y="3268533"/>
            <a:ext cx="158739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37" name="rect-045"/>
          <p:cNvSpPr/>
          <p:nvPr/>
        </p:nvSpPr>
        <p:spPr>
          <a:xfrm>
            <a:off x="10170160" y="27203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6"/>
          <p:cNvSpPr/>
          <p:nvPr/>
        </p:nvSpPr>
        <p:spPr>
          <a:xfrm>
            <a:off x="10170160" y="2720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7: T0 · 慢存储"/>
          <p:cNvSpPr txBox="1"/>
          <p:nvPr/>
        </p:nvSpPr>
        <p:spPr>
          <a:xfrm>
            <a:off x="10291064" y="2748219"/>
            <a:ext cx="134061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T0 · 慢存储</a:t>
            </a:r>
          </a:p>
        </p:txBody>
      </p:sp>
      <p:sp>
        <p:nvSpPr>
          <p:cNvPr id="40" name="text-048: 独立背压与响应"/>
          <p:cNvSpPr txBox="1"/>
          <p:nvPr/>
        </p:nvSpPr>
        <p:spPr>
          <a:xfrm>
            <a:off x="10291064" y="301961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41" name="rect-049"/>
          <p:cNvSpPr/>
          <p:nvPr/>
        </p:nvSpPr>
        <p:spPr>
          <a:xfrm>
            <a:off x="355600" y="44983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50"/>
          <p:cNvSpPr/>
          <p:nvPr/>
        </p:nvSpPr>
        <p:spPr>
          <a:xfrm>
            <a:off x="355600" y="4498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51: I1 · DMA"/>
          <p:cNvSpPr txBox="1"/>
          <p:nvPr/>
        </p:nvSpPr>
        <p:spPr>
          <a:xfrm>
            <a:off x="476504" y="4526219"/>
            <a:ext cx="11464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I1 · DMA</a:t>
            </a:r>
          </a:p>
        </p:txBody>
      </p:sp>
      <p:sp>
        <p:nvSpPr>
          <p:cNvPr id="44" name="text-052: AW / W / AR"/>
          <p:cNvSpPr txBox="1"/>
          <p:nvPr/>
        </p:nvSpPr>
        <p:spPr>
          <a:xfrm>
            <a:off x="476504" y="4797613"/>
            <a:ext cx="139110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45" name="rect-053"/>
          <p:cNvSpPr/>
          <p:nvPr/>
        </p:nvSpPr>
        <p:spPr>
          <a:xfrm>
            <a:off x="2489200" y="43205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54"/>
          <p:cNvSpPr/>
          <p:nvPr/>
        </p:nvSpPr>
        <p:spPr>
          <a:xfrm>
            <a:off x="2489200" y="4320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5: DEMUX I1 · 地址分流"/>
          <p:cNvSpPr txBox="1"/>
          <p:nvPr/>
        </p:nvSpPr>
        <p:spPr>
          <a:xfrm>
            <a:off x="2610104" y="4348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I1 · 地址分流</a:t>
            </a:r>
          </a:p>
        </p:txBody>
      </p:sp>
      <p:sp>
        <p:nvSpPr>
          <p:cNvPr id="48" name="text-056: AW/AR ID → 目标 + 在途数"/>
          <p:cNvSpPr txBox="1"/>
          <p:nvPr/>
        </p:nvSpPr>
        <p:spPr>
          <a:xfrm>
            <a:off x="2610104" y="4619813"/>
            <a:ext cx="263713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49" name="text-057: w_select_q：W 的目标"/>
          <p:cNvSpPr txBox="1"/>
          <p:nvPr/>
        </p:nvSpPr>
        <p:spPr>
          <a:xfrm>
            <a:off x="2610104" y="4833173"/>
            <a:ext cx="218480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50" name="text-058: w_open：未结束 W 数"/>
          <p:cNvSpPr txBox="1"/>
          <p:nvPr/>
        </p:nvSpPr>
        <p:spPr>
          <a:xfrm>
            <a:off x="2610104" y="5046533"/>
            <a:ext cx="202265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51" name="rect-059"/>
          <p:cNvSpPr/>
          <p:nvPr/>
        </p:nvSpPr>
        <p:spPr>
          <a:xfrm>
            <a:off x="7112000" y="43205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-060"/>
          <p:cNvSpPr/>
          <p:nvPr/>
        </p:nvSpPr>
        <p:spPr>
          <a:xfrm>
            <a:off x="7112000" y="4320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-061: 目标 1 · mux / 仲裁"/>
          <p:cNvSpPr txBox="1"/>
          <p:nvPr/>
        </p:nvSpPr>
        <p:spPr>
          <a:xfrm>
            <a:off x="7232904" y="4348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1 · mux / 仲裁</a:t>
            </a:r>
          </a:p>
        </p:txBody>
      </p:sp>
      <p:sp>
        <p:nvSpPr>
          <p:cNvPr id="54" name="text-062: AW 轮转仲裁并预留来源"/>
          <p:cNvSpPr txBox="1"/>
          <p:nvPr/>
        </p:nvSpPr>
        <p:spPr>
          <a:xfrm>
            <a:off x="7232904" y="4619813"/>
            <a:ext cx="20397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55" name="text-063: i_w_fifo 保存来源顺序"/>
          <p:cNvSpPr txBox="1"/>
          <p:nvPr/>
        </p:nvSpPr>
        <p:spPr>
          <a:xfrm>
            <a:off x="7232904" y="4833173"/>
            <a:ext cx="219334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56" name="text-064: W 按队首来源前进"/>
          <p:cNvSpPr txBox="1"/>
          <p:nvPr/>
        </p:nvSpPr>
        <p:spPr>
          <a:xfrm>
            <a:off x="7232904" y="5046533"/>
            <a:ext cx="158739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57" name="rect-065"/>
          <p:cNvSpPr/>
          <p:nvPr/>
        </p:nvSpPr>
        <p:spPr>
          <a:xfrm>
            <a:off x="10170160" y="44983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-066"/>
          <p:cNvSpPr/>
          <p:nvPr/>
        </p:nvSpPr>
        <p:spPr>
          <a:xfrm>
            <a:off x="10170160" y="4498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-067: T1 · 快寄存器"/>
          <p:cNvSpPr txBox="1"/>
          <p:nvPr/>
        </p:nvSpPr>
        <p:spPr>
          <a:xfrm>
            <a:off x="10291064" y="4526219"/>
            <a:ext cx="152552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T1 · 快寄存器</a:t>
            </a:r>
          </a:p>
        </p:txBody>
      </p:sp>
      <p:sp>
        <p:nvSpPr>
          <p:cNvPr id="60" name="text-068: 独立背压与响应"/>
          <p:cNvSpPr txBox="1"/>
          <p:nvPr/>
        </p:nvSpPr>
        <p:spPr>
          <a:xfrm>
            <a:off x="10291064" y="479761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61" name="text-069: 两笔请求竞争 T0；T1 仲裁器独立"/>
          <p:cNvSpPr txBox="1"/>
          <p:nvPr/>
        </p:nvSpPr>
        <p:spPr>
          <a:xfrm>
            <a:off x="3940759" y="5716199"/>
            <a:ext cx="264424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两笔请求竞争 T0；T1 仲裁器独立</a:t>
            </a:r>
          </a:p>
        </p:txBody>
      </p:sp>
      <p:sp>
        <p:nvSpPr>
          <p:cNvPr id="62" name="rect-070"/>
          <p:cNvSpPr/>
          <p:nvPr/>
        </p:nvSpPr>
        <p:spPr>
          <a:xfrm>
            <a:off x="355600" y="64185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-071"/>
          <p:cNvSpPr/>
          <p:nvPr/>
        </p:nvSpPr>
        <p:spPr>
          <a:xfrm>
            <a:off x="355600" y="64185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-072: ① W 路由先被预留"/>
          <p:cNvSpPr txBox="1"/>
          <p:nvPr/>
        </p:nvSpPr>
        <p:spPr>
          <a:xfrm>
            <a:off x="476504" y="6446459"/>
            <a:ext cx="183987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W 路由先被预留</a:t>
            </a:r>
          </a:p>
        </p:txBody>
      </p:sp>
      <p:sp>
        <p:nvSpPr>
          <p:cNvPr id="65" name="text-073: 仲裁决定可能先于外部 AW 握手"/>
          <p:cNvSpPr txBox="1"/>
          <p:nvPr/>
        </p:nvSpPr>
        <p:spPr>
          <a:xfrm>
            <a:off x="476504" y="6733215"/>
            <a:ext cx="244083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仲裁决定可能先于外部 AW 握手</a:t>
            </a:r>
          </a:p>
        </p:txBody>
      </p:sp>
      <p:sp>
        <p:nvSpPr>
          <p:cNvPr id="66" name="text-074: 背压期间保持决定，避免重复入队"/>
          <p:cNvSpPr txBox="1"/>
          <p:nvPr/>
        </p:nvSpPr>
        <p:spPr>
          <a:xfrm>
            <a:off x="476504" y="6946575"/>
            <a:ext cx="250342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背压期间保持决定，避免重复入队</a:t>
            </a:r>
          </a:p>
        </p:txBody>
      </p:sp>
      <p:sp>
        <p:nvSpPr>
          <p:cNvPr id="67" name="text-075: 内部 WLAST 握手后 FIFO 才推进"/>
          <p:cNvSpPr txBox="1"/>
          <p:nvPr/>
        </p:nvSpPr>
        <p:spPr>
          <a:xfrm>
            <a:off x="476504" y="7159935"/>
            <a:ext cx="2730297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WLAST 握手后 FIFO 才推进</a:t>
            </a:r>
          </a:p>
        </p:txBody>
      </p:sp>
      <p:sp>
        <p:nvSpPr>
          <p:cNvPr id="68" name="rect-076"/>
          <p:cNvSpPr/>
          <p:nvPr/>
        </p:nvSpPr>
        <p:spPr>
          <a:xfrm>
            <a:off x="4373880" y="64185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-077"/>
          <p:cNvSpPr/>
          <p:nvPr/>
        </p:nvSpPr>
        <p:spPr>
          <a:xfrm>
            <a:off x="4373880" y="64185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-078: ② 最后 W ≠ 写响应完成"/>
          <p:cNvSpPr txBox="1"/>
          <p:nvPr/>
        </p:nvSpPr>
        <p:spPr>
          <a:xfrm>
            <a:off x="4494784" y="6446459"/>
            <a:ext cx="24500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最后 W ≠ 写响应完成</a:t>
            </a:r>
          </a:p>
        </p:txBody>
      </p:sp>
      <p:sp>
        <p:nvSpPr>
          <p:cNvPr id="71" name="text-079: B 握手释放写 ID 计数"/>
          <p:cNvSpPr txBox="1"/>
          <p:nvPr/>
        </p:nvSpPr>
        <p:spPr>
          <a:xfrm>
            <a:off x="4494784" y="6733215"/>
            <a:ext cx="186192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握手释放写 ID 计数</a:t>
            </a:r>
          </a:p>
        </p:txBody>
      </p:sp>
      <p:sp>
        <p:nvSpPr>
          <p:cNvPr id="72" name="text-080: 最后 R 握手释放读 ID 计数"/>
          <p:cNvSpPr txBox="1"/>
          <p:nvPr/>
        </p:nvSpPr>
        <p:spPr>
          <a:xfrm>
            <a:off x="4494784" y="6946575"/>
            <a:ext cx="2276551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最后 R 握手释放读 ID 计数</a:t>
            </a:r>
          </a:p>
        </p:txBody>
      </p:sp>
      <p:sp>
        <p:nvSpPr>
          <p:cNvPr id="73" name="text-081: 同 ID 跨目标须等原事务释放"/>
          <p:cNvSpPr txBox="1"/>
          <p:nvPr/>
        </p:nvSpPr>
        <p:spPr>
          <a:xfrm>
            <a:off x="4494784" y="7159935"/>
            <a:ext cx="228437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 ID 跨目标须等原事务释放</a:t>
            </a:r>
          </a:p>
        </p:txBody>
      </p:sp>
      <p:sp>
        <p:nvSpPr>
          <p:cNvPr id="74" name="rect-082"/>
          <p:cNvSpPr/>
          <p:nvPr/>
        </p:nvSpPr>
        <p:spPr>
          <a:xfrm>
            <a:off x="8392160" y="6418580"/>
            <a:ext cx="391160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-083"/>
          <p:cNvSpPr/>
          <p:nvPr/>
        </p:nvSpPr>
        <p:spPr>
          <a:xfrm>
            <a:off x="8392160" y="64185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-084: ③ B / R 按 ID 来源前缀返回"/>
          <p:cNvSpPr txBox="1"/>
          <p:nvPr/>
        </p:nvSpPr>
        <p:spPr>
          <a:xfrm>
            <a:off x="8513064" y="6446459"/>
            <a:ext cx="298632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B / R 按 ID 来源前缀返回</a:t>
            </a:r>
          </a:p>
        </p:txBody>
      </p:sp>
      <p:sp>
        <p:nvSpPr>
          <p:cNvPr id="77" name="text-085: I0/id01 → 001；I1/id01 → 101"/>
          <p:cNvSpPr txBox="1"/>
          <p:nvPr/>
        </p:nvSpPr>
        <p:spPr>
          <a:xfrm>
            <a:off x="8513064" y="6733215"/>
            <a:ext cx="306669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I0/id01 → 001；I1/id01 → 101</a:t>
            </a:r>
          </a:p>
        </p:txBody>
      </p:sp>
      <p:sp>
        <p:nvSpPr>
          <p:cNvPr id="78" name="text-086: 返回时按前缀选来源，再去前缀"/>
          <p:cNvSpPr txBox="1"/>
          <p:nvPr/>
        </p:nvSpPr>
        <p:spPr>
          <a:xfrm>
            <a:off x="8513064" y="6946575"/>
            <a:ext cx="234696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返回时按前缀选来源，再去前缀</a:t>
            </a:r>
          </a:p>
        </p:txBody>
      </p:sp>
      <p:sp>
        <p:nvSpPr>
          <p:cNvPr id="79" name="text-087: 端口 cut 使内外握手不必同周期"/>
          <p:cNvSpPr txBox="1"/>
          <p:nvPr/>
        </p:nvSpPr>
        <p:spPr>
          <a:xfrm>
            <a:off x="8513064" y="7159935"/>
            <a:ext cx="254254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端口 cut 使内外握手不必同周期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151380"/>
            <a:ext cx="5298440" cy="5547360"/>
          </a:xfrm>
          <a:prstGeom prst="roundRect">
            <a:avLst>
              <a:gd name="adj" fmla="val 161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7040880" y="2151380"/>
            <a:ext cx="5369560" cy="5547360"/>
          </a:xfrm>
          <a:prstGeom prst="roundRect">
            <a:avLst>
              <a:gd name="adj" fmla="val 1589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3040380" y="35595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9725660" y="35595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3040380" y="47330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9725660" y="47330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5"/>
          <p:cNvSpPr/>
          <p:nvPr/>
        </p:nvSpPr>
        <p:spPr>
          <a:xfrm>
            <a:off x="3040380" y="59065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7"/>
          <p:cNvSpPr/>
          <p:nvPr/>
        </p:nvSpPr>
        <p:spPr>
          <a:xfrm>
            <a:off x="9725660" y="59065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olyline-019"/>
          <p:cNvSpPr/>
          <p:nvPr/>
        </p:nvSpPr>
        <p:spPr>
          <a:xfrm>
            <a:off x="5476240" y="4295648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 fill="none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olyline-021"/>
          <p:cNvSpPr/>
          <p:nvPr/>
        </p:nvSpPr>
        <p:spPr>
          <a:xfrm>
            <a:off x="5476240" y="4533900"/>
            <a:ext cx="1778000" cy="938784"/>
          </a:xfrm>
          <a:custGeom>
            <a:avLst/>
            <a:gdLst/>
            <a:ahLst/>
            <a:cxnLst/>
            <a:rect l="0" t="0" r="r" b="b"/>
            <a:pathLst>
              <a:path w="1778000" h="938784" fill="none">
                <a:moveTo>
                  <a:pt x="0" y="935228"/>
                </a:moveTo>
                <a:lnTo>
                  <a:pt x="817880" y="938784"/>
                </a:lnTo>
                <a:lnTo>
                  <a:pt x="817880" y="0"/>
                </a:lnTo>
                <a:lnTo>
                  <a:pt x="1778000" y="6685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olyline-023"/>
          <p:cNvSpPr/>
          <p:nvPr/>
        </p:nvSpPr>
        <p:spPr>
          <a:xfrm>
            <a:off x="5476240" y="5469128"/>
            <a:ext cx="1778000" cy="1020572"/>
          </a:xfrm>
          <a:custGeom>
            <a:avLst/>
            <a:gdLst/>
            <a:ahLst/>
            <a:cxnLst/>
            <a:rect l="0" t="0" r="r" b="b"/>
            <a:pathLst>
              <a:path w="1778000" h="1020572" fill="none">
                <a:moveTo>
                  <a:pt x="0" y="1016020"/>
                </a:moveTo>
                <a:lnTo>
                  <a:pt x="1244600" y="1020572"/>
                </a:lnTo>
                <a:lnTo>
                  <a:pt x="1244600" y="3556"/>
                </a:ln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olyline-025"/>
          <p:cNvSpPr/>
          <p:nvPr/>
        </p:nvSpPr>
        <p:spPr>
          <a:xfrm>
            <a:off x="5476240" y="6931284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 fill="none">
                <a:moveTo>
                  <a:pt x="17780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-027: JTAG 直接装载：主机与目标两条时间线如何汇合"/>
          <p:cNvSpPr txBox="1"/>
          <p:nvPr/>
        </p:nvSpPr>
        <p:spPr>
          <a:xfrm>
            <a:off x="483616" y="1071209"/>
            <a:ext cx="595274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直接装载：主机与目标两条时间线如何汇合</a:t>
            </a:r>
          </a:p>
        </p:txBody>
      </p:sp>
      <p:sp>
        <p:nvSpPr>
          <p:cNvPr id="18" name="text-028: 当前保留内部 LLC 的启动基线；VIP 只检查指定配置位，不能由此推断栈和 R"/>
          <p:cNvSpPr txBox="1"/>
          <p:nvPr/>
        </p:nvSpPr>
        <p:spPr>
          <a:xfrm>
            <a:off x="483616" y="1476878"/>
            <a:ext cx="726277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当前保留内部 LLC 的启动基线；VIP 只检查指定配置位，不能由此推断栈和 ROM C 已完成。</a:t>
            </a:r>
          </a:p>
        </p:txBody>
      </p:sp>
      <p:sp>
        <p:nvSpPr>
          <p:cNvPr id="19" name="text-02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30: 源码：hw/bootrom；sw/lib/crt0.S；elfloader.cp"/>
          <p:cNvSpPr txBox="1"/>
          <p:nvPr/>
        </p:nvSpPr>
        <p:spPr>
          <a:xfrm>
            <a:off x="341376" y="8526577"/>
            <a:ext cx="608076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源码：hw/bootrom；sw/lib/crt0.S；elfloader.cpp；vip_cheshire_soc.sv</a:t>
            </a:r>
          </a:p>
        </p:txBody>
      </p:sp>
      <p:sp>
        <p:nvSpPr>
          <p:cNvPr id="21" name="text-031: 主机：构建器 / TB / JTAG VIP"/>
          <p:cNvSpPr txBox="1"/>
          <p:nvPr/>
        </p:nvSpPr>
        <p:spPr>
          <a:xfrm>
            <a:off x="519176" y="2208276"/>
            <a:ext cx="309372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主机：构建器 / TB / JTAG VIP</a:t>
            </a:r>
          </a:p>
        </p:txBody>
      </p:sp>
      <p:sp>
        <p:nvSpPr>
          <p:cNvPr id="22" name="text-032: 目标：ROM / 存储 / 应用"/>
          <p:cNvSpPr txBox="1"/>
          <p:nvPr/>
        </p:nvSpPr>
        <p:spPr>
          <a:xfrm>
            <a:off x="7168896" y="2208276"/>
            <a:ext cx="246253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目标：ROM / 存储 / 应用</a:t>
            </a:r>
          </a:p>
        </p:txBody>
      </p:sp>
      <p:sp>
        <p:nvSpPr>
          <p:cNvPr id="23" name="rect-033"/>
          <p:cNvSpPr/>
          <p:nvPr/>
        </p:nvSpPr>
        <p:spPr>
          <a:xfrm>
            <a:off x="604520" y="268478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34"/>
          <p:cNvSpPr/>
          <p:nvPr/>
        </p:nvSpPr>
        <p:spPr>
          <a:xfrm>
            <a:off x="604520" y="268478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35: ELF 与链接信息"/>
          <p:cNvSpPr txBox="1"/>
          <p:nvPr/>
        </p:nvSpPr>
        <p:spPr>
          <a:xfrm>
            <a:off x="725424" y="2712659"/>
            <a:ext cx="159024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与链接信息</a:t>
            </a:r>
          </a:p>
        </p:txBody>
      </p:sp>
      <p:sp>
        <p:nvSpPr>
          <p:cNvPr id="26" name="text-036: 构建字节、入口、PT_LOAD"/>
          <p:cNvSpPr txBox="1"/>
          <p:nvPr/>
        </p:nvSpPr>
        <p:spPr>
          <a:xfrm>
            <a:off x="725424" y="2991734"/>
            <a:ext cx="221645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构建字节、入口、PT_LOAD</a:t>
            </a:r>
          </a:p>
        </p:txBody>
      </p:sp>
      <p:sp>
        <p:nvSpPr>
          <p:cNvPr id="27" name="text-037: map / dump 用于静态核对"/>
          <p:cNvSpPr txBox="1"/>
          <p:nvPr/>
        </p:nvSpPr>
        <p:spPr>
          <a:xfrm>
            <a:off x="725424" y="3205094"/>
            <a:ext cx="231460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 / dump 用于静态核对</a:t>
            </a:r>
          </a:p>
        </p:txBody>
      </p:sp>
      <p:sp>
        <p:nvSpPr>
          <p:cNvPr id="28" name="rect-038"/>
          <p:cNvSpPr/>
          <p:nvPr/>
        </p:nvSpPr>
        <p:spPr>
          <a:xfrm>
            <a:off x="7254240" y="268478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9"/>
          <p:cNvSpPr/>
          <p:nvPr/>
        </p:nvSpPr>
        <p:spPr>
          <a:xfrm>
            <a:off x="7254240" y="268478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40: 复位 PC → Boot ROM"/>
          <p:cNvSpPr txBox="1"/>
          <p:nvPr/>
        </p:nvSpPr>
        <p:spPr>
          <a:xfrm>
            <a:off x="7375144" y="2712659"/>
            <a:ext cx="23021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31" name="text-041: 内部 LLC 存在：BIST / SPM 配置"/>
          <p:cNvSpPr txBox="1"/>
          <p:nvPr/>
        </p:nvSpPr>
        <p:spPr>
          <a:xfrm>
            <a:off x="7375144" y="2991734"/>
            <a:ext cx="300979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LLC 存在：BIST / SPM 配置</a:t>
            </a:r>
          </a:p>
        </p:txBody>
      </p:sp>
      <p:sp>
        <p:nvSpPr>
          <p:cNvPr id="32" name="text-042: 按容量调整栈是独立步骤"/>
          <p:cNvSpPr txBox="1"/>
          <p:nvPr/>
        </p:nvSpPr>
        <p:spPr>
          <a:xfrm>
            <a:off x="7375144" y="3205094"/>
            <a:ext cx="196291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按容量调整栈是独立步骤</a:t>
            </a:r>
          </a:p>
        </p:txBody>
      </p:sp>
      <p:sp>
        <p:nvSpPr>
          <p:cNvPr id="33" name="rect-043"/>
          <p:cNvSpPr/>
          <p:nvPr/>
        </p:nvSpPr>
        <p:spPr>
          <a:xfrm>
            <a:off x="604520" y="385826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-044"/>
          <p:cNvSpPr/>
          <p:nvPr/>
        </p:nvSpPr>
        <p:spPr>
          <a:xfrm>
            <a:off x="604520" y="385826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45: VIP 检查 SPM 配置位"/>
          <p:cNvSpPr txBox="1"/>
          <p:nvPr/>
        </p:nvSpPr>
        <p:spPr>
          <a:xfrm>
            <a:off x="725424" y="3886139"/>
            <a:ext cx="219120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VIP 检查 SPM 配置位</a:t>
            </a:r>
          </a:p>
        </p:txBody>
      </p:sp>
      <p:sp>
        <p:nvSpPr>
          <p:cNvPr id="36" name="text-046: CFG_SPM_LOW.bit0"/>
          <p:cNvSpPr txBox="1"/>
          <p:nvPr/>
        </p:nvSpPr>
        <p:spPr>
          <a:xfrm>
            <a:off x="725424" y="4165214"/>
            <a:ext cx="186476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37" name="text-047: 随后请求调试 halt"/>
          <p:cNvSpPr txBox="1"/>
          <p:nvPr/>
        </p:nvSpPr>
        <p:spPr>
          <a:xfrm>
            <a:off x="725424" y="4378574"/>
            <a:ext cx="167665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随后请求调试 halt</a:t>
            </a:r>
          </a:p>
        </p:txBody>
      </p:sp>
      <p:sp>
        <p:nvSpPr>
          <p:cNvPr id="38" name="rect-048"/>
          <p:cNvSpPr/>
          <p:nvPr/>
        </p:nvSpPr>
        <p:spPr>
          <a:xfrm>
            <a:off x="7254240" y="385826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9"/>
          <p:cNvSpPr/>
          <p:nvPr/>
        </p:nvSpPr>
        <p:spPr>
          <a:xfrm>
            <a:off x="7254240" y="385826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50: CPU 进入调试暂停"/>
          <p:cNvSpPr txBox="1"/>
          <p:nvPr/>
        </p:nvSpPr>
        <p:spPr>
          <a:xfrm>
            <a:off x="7375144" y="3886139"/>
            <a:ext cx="177515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进入调试暂停</a:t>
            </a:r>
          </a:p>
        </p:txBody>
      </p:sp>
      <p:sp>
        <p:nvSpPr>
          <p:cNvPr id="41" name="text-051: 暂停不自动证明 sp 有效"/>
          <p:cNvSpPr txBox="1"/>
          <p:nvPr/>
        </p:nvSpPr>
        <p:spPr>
          <a:xfrm>
            <a:off x="7375144" y="4165214"/>
            <a:ext cx="206105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暂停不自动证明 sp 有效</a:t>
            </a:r>
          </a:p>
        </p:txBody>
      </p:sp>
      <p:sp>
        <p:nvSpPr>
          <p:cNvPr id="42" name="text-052: 核对 PC / sp；SBA 写入段"/>
          <p:cNvSpPr txBox="1"/>
          <p:nvPr/>
        </p:nvSpPr>
        <p:spPr>
          <a:xfrm>
            <a:off x="7375144" y="4378574"/>
            <a:ext cx="242092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核对 PC / sp；SBA 写入段</a:t>
            </a:r>
          </a:p>
        </p:txBody>
      </p:sp>
      <p:sp>
        <p:nvSpPr>
          <p:cNvPr id="43" name="rect-053"/>
          <p:cNvSpPr/>
          <p:nvPr/>
        </p:nvSpPr>
        <p:spPr>
          <a:xfrm>
            <a:off x="604520" y="503174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-054"/>
          <p:cNvSpPr/>
          <p:nvPr/>
        </p:nvSpPr>
        <p:spPr>
          <a:xfrm>
            <a:off x="604520" y="503174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55: halt → SBA 写装载段"/>
          <p:cNvSpPr txBox="1"/>
          <p:nvPr/>
        </p:nvSpPr>
        <p:spPr>
          <a:xfrm>
            <a:off x="725424" y="5059619"/>
            <a:ext cx="231140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 → SBA 写装载段</a:t>
            </a:r>
          </a:p>
        </p:txBody>
      </p:sp>
      <p:sp>
        <p:nvSpPr>
          <p:cNvPr id="46" name="text-056: 目标存储须可写"/>
          <p:cNvSpPr txBox="1"/>
          <p:nvPr/>
        </p:nvSpPr>
        <p:spPr>
          <a:xfrm>
            <a:off x="725424" y="533869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目标存储须可写</a:t>
            </a:r>
          </a:p>
        </p:txBody>
      </p:sp>
      <p:sp>
        <p:nvSpPr>
          <p:cNvPr id="47" name="text-057: 按装载规则处理初值与零区"/>
          <p:cNvSpPr txBox="1"/>
          <p:nvPr/>
        </p:nvSpPr>
        <p:spPr>
          <a:xfrm>
            <a:off x="725424" y="5552054"/>
            <a:ext cx="212648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按装载规则处理初值与零区</a:t>
            </a:r>
          </a:p>
        </p:txBody>
      </p:sp>
      <p:sp>
        <p:nvSpPr>
          <p:cNvPr id="48" name="rect-058"/>
          <p:cNvSpPr/>
          <p:nvPr/>
        </p:nvSpPr>
        <p:spPr>
          <a:xfrm>
            <a:off x="7254240" y="503174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-059"/>
          <p:cNvSpPr/>
          <p:nvPr/>
        </p:nvSpPr>
        <p:spPr>
          <a:xfrm>
            <a:off x="7254240" y="503174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-060: 应用 _start / crt0"/>
          <p:cNvSpPr txBox="1"/>
          <p:nvPr/>
        </p:nvSpPr>
        <p:spPr>
          <a:xfrm>
            <a:off x="7375144" y="5059619"/>
            <a:ext cx="223743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应用 _start / crt0</a:t>
            </a:r>
          </a:p>
        </p:txBody>
      </p:sp>
      <p:sp>
        <p:nvSpPr>
          <p:cNvPr id="51" name="text-061: 继承有效栈；gp / BSS / FS"/>
          <p:cNvSpPr txBox="1"/>
          <p:nvPr/>
        </p:nvSpPr>
        <p:spPr>
          <a:xfrm>
            <a:off x="7375144" y="5338694"/>
            <a:ext cx="252724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继承有效栈；gp / BSS / FS</a:t>
            </a:r>
          </a:p>
        </p:txBody>
      </p:sp>
      <p:sp>
        <p:nvSpPr>
          <p:cNvPr id="52" name="text-062: 向量入口另正确设置 VS"/>
          <p:cNvSpPr txBox="1"/>
          <p:nvPr/>
        </p:nvSpPr>
        <p:spPr>
          <a:xfrm>
            <a:off x="7375144" y="5552054"/>
            <a:ext cx="1954733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向量入口另正确设置 VS</a:t>
            </a:r>
          </a:p>
        </p:txBody>
      </p:sp>
      <p:sp>
        <p:nvSpPr>
          <p:cNvPr id="53" name="rect-063"/>
          <p:cNvSpPr/>
          <p:nvPr/>
        </p:nvSpPr>
        <p:spPr>
          <a:xfrm>
            <a:off x="604520" y="620522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-064"/>
          <p:cNvSpPr/>
          <p:nvPr/>
        </p:nvSpPr>
        <p:spPr>
          <a:xfrm>
            <a:off x="604520" y="620522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65: 设置 DPC = ELF entry"/>
          <p:cNvSpPr txBox="1"/>
          <p:nvPr/>
        </p:nvSpPr>
        <p:spPr>
          <a:xfrm>
            <a:off x="725424" y="6233099"/>
            <a:ext cx="247782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设置 DPC = ELF entry</a:t>
            </a:r>
          </a:p>
        </p:txBody>
      </p:sp>
      <p:sp>
        <p:nvSpPr>
          <p:cNvPr id="56" name="text-066: resume 后观察 UART / 状态"/>
          <p:cNvSpPr txBox="1"/>
          <p:nvPr/>
        </p:nvSpPr>
        <p:spPr>
          <a:xfrm>
            <a:off x="725424" y="6512174"/>
            <a:ext cx="257632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resume 后观察 UART / 状态</a:t>
            </a:r>
          </a:p>
        </p:txBody>
      </p:sp>
      <p:sp>
        <p:nvSpPr>
          <p:cNvPr id="57" name="text-067: 逐项结果与返回码共同判定"/>
          <p:cNvSpPr txBox="1"/>
          <p:nvPr/>
        </p:nvSpPr>
        <p:spPr>
          <a:xfrm>
            <a:off x="725424" y="6725534"/>
            <a:ext cx="212648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逐项结果与返回码共同判定</a:t>
            </a:r>
          </a:p>
        </p:txBody>
      </p:sp>
      <p:sp>
        <p:nvSpPr>
          <p:cNvPr id="58" name="rect-068"/>
          <p:cNvSpPr/>
          <p:nvPr/>
        </p:nvSpPr>
        <p:spPr>
          <a:xfrm>
            <a:off x="7254240" y="620522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-069"/>
          <p:cNvSpPr/>
          <p:nvPr/>
        </p:nvSpPr>
        <p:spPr>
          <a:xfrm>
            <a:off x="7254240" y="620522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-070: main 与退出状态"/>
          <p:cNvSpPr txBox="1"/>
          <p:nvPr/>
        </p:nvSpPr>
        <p:spPr>
          <a:xfrm>
            <a:off x="7375144" y="6233099"/>
            <a:ext cx="171043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main 与退出状态</a:t>
            </a:r>
          </a:p>
        </p:txBody>
      </p:sp>
      <p:sp>
        <p:nvSpPr>
          <p:cNvPr id="61" name="text-071: 计算 / MMIO / UART"/>
          <p:cNvSpPr txBox="1"/>
          <p:nvPr/>
        </p:nvSpPr>
        <p:spPr>
          <a:xfrm>
            <a:off x="7375144" y="6512174"/>
            <a:ext cx="197927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计算 / MMIO / UART</a:t>
            </a:r>
          </a:p>
        </p:txBody>
      </p:sp>
      <p:sp>
        <p:nvSpPr>
          <p:cNvPr id="62" name="text-072: scratch2=(code&lt;&lt;1)|1；crt0 ret"/>
          <p:cNvSpPr txBox="1"/>
          <p:nvPr/>
        </p:nvSpPr>
        <p:spPr>
          <a:xfrm>
            <a:off x="7375144" y="6725534"/>
            <a:ext cx="330423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scratch2=(code&lt;&lt;1)|1；crt0 ret</a:t>
            </a:r>
          </a:p>
        </p:txBody>
      </p:sp>
      <p:sp>
        <p:nvSpPr>
          <p:cNvPr id="63" name="text-073: halt"/>
          <p:cNvSpPr txBox="1"/>
          <p:nvPr/>
        </p:nvSpPr>
        <p:spPr>
          <a:xfrm>
            <a:off x="5760720" y="3924544"/>
            <a:ext cx="537667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</a:t>
            </a:r>
          </a:p>
        </p:txBody>
      </p:sp>
      <p:sp>
        <p:nvSpPr>
          <p:cNvPr id="64" name="text-074: 段字节"/>
          <p:cNvSpPr txBox="1"/>
          <p:nvPr/>
        </p:nvSpPr>
        <p:spPr>
          <a:xfrm>
            <a:off x="5760720" y="5083800"/>
            <a:ext cx="5974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65" name="text-075: resume"/>
          <p:cNvSpPr txBox="1"/>
          <p:nvPr/>
        </p:nvSpPr>
        <p:spPr>
          <a:xfrm>
            <a:off x="5732272" y="6043920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66" name="text-076: 结果"/>
          <p:cNvSpPr txBox="1"/>
          <p:nvPr/>
        </p:nvSpPr>
        <p:spPr>
          <a:xfrm>
            <a:off x="5760720" y="6648440"/>
            <a:ext cx="44805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67" name="text-077: 无内部 LLC：平台另供首次栈访问前的存储与有效 sp。Bootrom=0：平台"/>
          <p:cNvSpPr txBox="1"/>
          <p:nvPr/>
        </p:nvSpPr>
        <p:spPr>
          <a:xfrm>
            <a:off x="462280" y="7834437"/>
            <a:ext cx="757854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无内部 LLC：平台另供首次栈访问前的存储与有效 sp。Bootrom=0：平台承担第一阶段启动。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022600" y="30226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6151880" y="30226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9281160" y="30226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3733800" y="56184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8143240" y="56184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6471920" y="3609340"/>
            <a:ext cx="4622800" cy="1386840"/>
          </a:xfrm>
          <a:custGeom>
            <a:avLst/>
            <a:gdLst/>
            <a:ahLst/>
            <a:cxnLst/>
            <a:rect l="0" t="0" r="r" b="b"/>
            <a:pathLst>
              <a:path w="4622800" h="1386840" fill="none">
                <a:moveTo>
                  <a:pt x="4622800" y="0"/>
                </a:moveTo>
                <a:lnTo>
                  <a:pt x="4622800" y="568960"/>
                </a:lnTo>
                <a:lnTo>
                  <a:pt x="0" y="568960"/>
                </a:lnTo>
                <a:lnTo>
                  <a:pt x="0" y="13868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7: 主机上的构建产物：每个文件回答不同问题"/>
          <p:cNvSpPr txBox="1"/>
          <p:nvPr/>
        </p:nvSpPr>
        <p:spPr>
          <a:xfrm>
            <a:off x="483616" y="1071209"/>
            <a:ext cx="5120640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主机上的构建产物：每个文件回答不同问题</a:t>
            </a:r>
          </a:p>
        </p:txBody>
      </p:sp>
      <p:sp>
        <p:nvSpPr>
          <p:cNvPr id="12" name="text-018: C / 汇编是程序描述；目标文件保存编码与重定位；ELF 将符号解析与内存布局落"/>
          <p:cNvSpPr txBox="1"/>
          <p:nvPr/>
        </p:nvSpPr>
        <p:spPr>
          <a:xfrm>
            <a:off x="483616" y="1476878"/>
            <a:ext cx="657575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 / 汇编是程序描述；目标文件保存编码与重定位；ELF 将符号解析与内存布局落实。</a:t>
            </a:r>
          </a:p>
        </p:txBody>
      </p:sp>
      <p:sp>
        <p:nvSpPr>
          <p:cNvPr id="13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20: 依据：sw/sw.mk；sw/lib/crt0.S；当前链接脚本与教材 jour"/>
          <p:cNvSpPr txBox="1"/>
          <p:nvPr/>
        </p:nvSpPr>
        <p:spPr>
          <a:xfrm>
            <a:off x="341376" y="8526577"/>
            <a:ext cx="547624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依据：sw/sw.mk；sw/lib/crt0.S；当前链接脚本与教材 journey 构建入口</a:t>
            </a:r>
          </a:p>
        </p:txBody>
      </p:sp>
      <p:sp>
        <p:nvSpPr>
          <p:cNvPr id="15" name="rect-021"/>
          <p:cNvSpPr/>
          <p:nvPr/>
        </p:nvSpPr>
        <p:spPr>
          <a:xfrm>
            <a:off x="39116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-022"/>
          <p:cNvSpPr/>
          <p:nvPr/>
        </p:nvSpPr>
        <p:spPr>
          <a:xfrm>
            <a:off x="39116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-023: journey.c"/>
          <p:cNvSpPr txBox="1"/>
          <p:nvPr/>
        </p:nvSpPr>
        <p:spPr>
          <a:xfrm>
            <a:off x="51206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journey.c</a:t>
            </a:r>
          </a:p>
        </p:txBody>
      </p:sp>
      <p:sp>
        <p:nvSpPr>
          <p:cNvPr id="18" name="text-024: 算法与结果校验"/>
          <p:cNvSpPr txBox="1"/>
          <p:nvPr/>
        </p:nvSpPr>
        <p:spPr>
          <a:xfrm>
            <a:off x="512064" y="274281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算法与结果校验</a:t>
            </a:r>
          </a:p>
        </p:txBody>
      </p:sp>
      <p:sp>
        <p:nvSpPr>
          <p:cNvPr id="19" name="text-025: 源程序"/>
          <p:cNvSpPr txBox="1"/>
          <p:nvPr/>
        </p:nvSpPr>
        <p:spPr>
          <a:xfrm>
            <a:off x="512064" y="295617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源程序</a:t>
            </a:r>
          </a:p>
        </p:txBody>
      </p:sp>
      <p:sp>
        <p:nvSpPr>
          <p:cNvPr id="20" name="rect-026"/>
          <p:cNvSpPr/>
          <p:nvPr/>
        </p:nvSpPr>
        <p:spPr>
          <a:xfrm>
            <a:off x="352044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7"/>
          <p:cNvSpPr/>
          <p:nvPr/>
        </p:nvSpPr>
        <p:spPr>
          <a:xfrm>
            <a:off x="352044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8: journey.i"/>
          <p:cNvSpPr txBox="1"/>
          <p:nvPr/>
        </p:nvSpPr>
        <p:spPr>
          <a:xfrm>
            <a:off x="364134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journey.i</a:t>
            </a:r>
          </a:p>
        </p:txBody>
      </p:sp>
      <p:sp>
        <p:nvSpPr>
          <p:cNvPr id="23" name="text-029: 宏展开、包含头文件"/>
          <p:cNvSpPr txBox="1"/>
          <p:nvPr/>
        </p:nvSpPr>
        <p:spPr>
          <a:xfrm>
            <a:off x="3641344" y="2742814"/>
            <a:ext cx="163576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宏展开、包含头文件</a:t>
            </a:r>
          </a:p>
        </p:txBody>
      </p:sp>
      <p:sp>
        <p:nvSpPr>
          <p:cNvPr id="24" name="text-030: 预处理结果"/>
          <p:cNvSpPr txBox="1"/>
          <p:nvPr/>
        </p:nvSpPr>
        <p:spPr>
          <a:xfrm>
            <a:off x="3641344" y="2956174"/>
            <a:ext cx="98145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预处理结果</a:t>
            </a:r>
          </a:p>
        </p:txBody>
      </p:sp>
      <p:sp>
        <p:nvSpPr>
          <p:cNvPr id="25" name="rect-031"/>
          <p:cNvSpPr/>
          <p:nvPr/>
        </p:nvSpPr>
        <p:spPr>
          <a:xfrm>
            <a:off x="664972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32"/>
          <p:cNvSpPr/>
          <p:nvPr/>
        </p:nvSpPr>
        <p:spPr>
          <a:xfrm>
            <a:off x="664972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3: journey.s"/>
          <p:cNvSpPr txBox="1"/>
          <p:nvPr/>
        </p:nvSpPr>
        <p:spPr>
          <a:xfrm>
            <a:off x="677062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</a:t>
            </a:r>
          </a:p>
        </p:txBody>
      </p:sp>
      <p:sp>
        <p:nvSpPr>
          <p:cNvPr id="28" name="text-034: 选定 ISA 的指令序列"/>
          <p:cNvSpPr txBox="1"/>
          <p:nvPr/>
        </p:nvSpPr>
        <p:spPr>
          <a:xfrm>
            <a:off x="6770624" y="2742814"/>
            <a:ext cx="184023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选定 ISA 的指令序列</a:t>
            </a:r>
          </a:p>
        </p:txBody>
      </p:sp>
      <p:sp>
        <p:nvSpPr>
          <p:cNvPr id="29" name="text-035: 编译结果"/>
          <p:cNvSpPr txBox="1"/>
          <p:nvPr/>
        </p:nvSpPr>
        <p:spPr>
          <a:xfrm>
            <a:off x="6770624" y="295617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编译结果</a:t>
            </a:r>
          </a:p>
        </p:txBody>
      </p:sp>
      <p:sp>
        <p:nvSpPr>
          <p:cNvPr id="30" name="rect-036"/>
          <p:cNvSpPr/>
          <p:nvPr/>
        </p:nvSpPr>
        <p:spPr>
          <a:xfrm>
            <a:off x="977900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7"/>
          <p:cNvSpPr/>
          <p:nvPr/>
        </p:nvSpPr>
        <p:spPr>
          <a:xfrm>
            <a:off x="977900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8: journey.o"/>
          <p:cNvSpPr txBox="1"/>
          <p:nvPr/>
        </p:nvSpPr>
        <p:spPr>
          <a:xfrm>
            <a:off x="989990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journey.o</a:t>
            </a:r>
          </a:p>
        </p:txBody>
      </p:sp>
      <p:sp>
        <p:nvSpPr>
          <p:cNvPr id="33" name="text-039: 字节、符号、重定位"/>
          <p:cNvSpPr txBox="1"/>
          <p:nvPr/>
        </p:nvSpPr>
        <p:spPr>
          <a:xfrm>
            <a:off x="9899904" y="2742814"/>
            <a:ext cx="163576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字节、符号、重定位</a:t>
            </a:r>
          </a:p>
        </p:txBody>
      </p:sp>
      <p:sp>
        <p:nvSpPr>
          <p:cNvPr id="34" name="text-040: 汇编结果"/>
          <p:cNvSpPr txBox="1"/>
          <p:nvPr/>
        </p:nvSpPr>
        <p:spPr>
          <a:xfrm>
            <a:off x="9899904" y="295617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汇编结果</a:t>
            </a:r>
          </a:p>
        </p:txBody>
      </p:sp>
      <p:sp>
        <p:nvSpPr>
          <p:cNvPr id="35" name="rect-041"/>
          <p:cNvSpPr/>
          <p:nvPr/>
        </p:nvSpPr>
        <p:spPr>
          <a:xfrm>
            <a:off x="391160" y="49961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2"/>
          <p:cNvSpPr/>
          <p:nvPr/>
        </p:nvSpPr>
        <p:spPr>
          <a:xfrm>
            <a:off x="391160" y="4996180"/>
            <a:ext cx="35560" cy="12446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3: crt0.o + libsupport.a"/>
          <p:cNvSpPr txBox="1"/>
          <p:nvPr/>
        </p:nvSpPr>
        <p:spPr>
          <a:xfrm>
            <a:off x="512064" y="5024059"/>
            <a:ext cx="270896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crt0.o + libsupport.a</a:t>
            </a:r>
          </a:p>
        </p:txBody>
      </p:sp>
      <p:sp>
        <p:nvSpPr>
          <p:cNvPr id="38" name="text-044: 入口 / BSS / FS 初始化"/>
          <p:cNvSpPr txBox="1"/>
          <p:nvPr/>
        </p:nvSpPr>
        <p:spPr>
          <a:xfrm>
            <a:off x="512064" y="5295453"/>
            <a:ext cx="235549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入口 / BSS / FS 初始化</a:t>
            </a:r>
          </a:p>
        </p:txBody>
      </p:sp>
      <p:sp>
        <p:nvSpPr>
          <p:cNvPr id="39" name="text-045: UART / CLINT / printf 等实现"/>
          <p:cNvSpPr txBox="1"/>
          <p:nvPr/>
        </p:nvSpPr>
        <p:spPr>
          <a:xfrm>
            <a:off x="512064" y="5508813"/>
            <a:ext cx="312359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CLINT / printf 等实现</a:t>
            </a:r>
          </a:p>
        </p:txBody>
      </p:sp>
      <p:sp>
        <p:nvSpPr>
          <p:cNvPr id="40" name="text-046: 库只提供被链接进程序的代码"/>
          <p:cNvSpPr txBox="1"/>
          <p:nvPr/>
        </p:nvSpPr>
        <p:spPr>
          <a:xfrm>
            <a:off x="512064" y="5722173"/>
            <a:ext cx="238963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库只提供被链接进程序的代码</a:t>
            </a:r>
          </a:p>
        </p:txBody>
      </p:sp>
      <p:sp>
        <p:nvSpPr>
          <p:cNvPr id="41" name="rect-047"/>
          <p:cNvSpPr/>
          <p:nvPr/>
        </p:nvSpPr>
        <p:spPr>
          <a:xfrm>
            <a:off x="4800600" y="49961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8"/>
          <p:cNvSpPr/>
          <p:nvPr/>
        </p:nvSpPr>
        <p:spPr>
          <a:xfrm>
            <a:off x="4800600" y="499618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9: 链接器 + .ld"/>
          <p:cNvSpPr txBox="1"/>
          <p:nvPr/>
        </p:nvSpPr>
        <p:spPr>
          <a:xfrm>
            <a:off x="4921504" y="5024059"/>
            <a:ext cx="146080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链接器 + .ld</a:t>
            </a:r>
          </a:p>
        </p:txBody>
      </p:sp>
      <p:sp>
        <p:nvSpPr>
          <p:cNvPr id="44" name="text-050: 解析符号与重定位"/>
          <p:cNvSpPr txBox="1"/>
          <p:nvPr/>
        </p:nvSpPr>
        <p:spPr>
          <a:xfrm>
            <a:off x="4921504" y="529545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解析符号与重定位</a:t>
            </a:r>
          </a:p>
        </p:txBody>
      </p:sp>
      <p:sp>
        <p:nvSpPr>
          <p:cNvPr id="45" name="text-051: 安排运行地址与装载段"/>
          <p:cNvSpPr txBox="1"/>
          <p:nvPr/>
        </p:nvSpPr>
        <p:spPr>
          <a:xfrm>
            <a:off x="4921504" y="5508813"/>
            <a:ext cx="187756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安排运行地址与装载段</a:t>
            </a:r>
          </a:p>
        </p:txBody>
      </p:sp>
      <p:sp>
        <p:nvSpPr>
          <p:cNvPr id="46" name="text-052: 检查容量、对齐与段布局"/>
          <p:cNvSpPr txBox="1"/>
          <p:nvPr/>
        </p:nvSpPr>
        <p:spPr>
          <a:xfrm>
            <a:off x="4921504" y="572217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检查容量、对齐与段布局</a:t>
            </a:r>
          </a:p>
        </p:txBody>
      </p:sp>
      <p:sp>
        <p:nvSpPr>
          <p:cNvPr id="47" name="rect-053"/>
          <p:cNvSpPr/>
          <p:nvPr/>
        </p:nvSpPr>
        <p:spPr>
          <a:xfrm>
            <a:off x="9210040" y="4996180"/>
            <a:ext cx="320040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54"/>
          <p:cNvSpPr/>
          <p:nvPr/>
        </p:nvSpPr>
        <p:spPr>
          <a:xfrm>
            <a:off x="9210040" y="499618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5: journey.spm.elf"/>
          <p:cNvSpPr txBox="1"/>
          <p:nvPr/>
        </p:nvSpPr>
        <p:spPr>
          <a:xfrm>
            <a:off x="9330944" y="5024059"/>
            <a:ext cx="198780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journey.spm.elf</a:t>
            </a:r>
          </a:p>
        </p:txBody>
      </p:sp>
      <p:sp>
        <p:nvSpPr>
          <p:cNvPr id="50" name="text-056: e_entry：应用入口"/>
          <p:cNvSpPr txBox="1"/>
          <p:nvPr/>
        </p:nvSpPr>
        <p:spPr>
          <a:xfrm>
            <a:off x="9330944" y="5295453"/>
            <a:ext cx="180075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e_entry：应用入口</a:t>
            </a:r>
          </a:p>
        </p:txBody>
      </p:sp>
      <p:sp>
        <p:nvSpPr>
          <p:cNvPr id="51" name="text-057: PT_LOAD：装载段"/>
          <p:cNvSpPr txBox="1"/>
          <p:nvPr/>
        </p:nvSpPr>
        <p:spPr>
          <a:xfrm>
            <a:off x="9330944" y="5508813"/>
            <a:ext cx="16300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PT_LOAD：装载段</a:t>
            </a:r>
          </a:p>
        </p:txBody>
      </p:sp>
      <p:sp>
        <p:nvSpPr>
          <p:cNvPr id="52" name="text-058: 文件字节数与运行大小可不同"/>
          <p:cNvSpPr txBox="1"/>
          <p:nvPr/>
        </p:nvSpPr>
        <p:spPr>
          <a:xfrm>
            <a:off x="9330944" y="5722173"/>
            <a:ext cx="238963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文件字节数与运行大小可不同</a:t>
            </a:r>
          </a:p>
        </p:txBody>
      </p:sp>
      <p:sp>
        <p:nvSpPr>
          <p:cNvPr id="53" name="rect-059"/>
          <p:cNvSpPr/>
          <p:nvPr/>
        </p:nvSpPr>
        <p:spPr>
          <a:xfrm>
            <a:off x="391160" y="709422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-060"/>
          <p:cNvSpPr/>
          <p:nvPr/>
        </p:nvSpPr>
        <p:spPr>
          <a:xfrm>
            <a:off x="391160" y="7094220"/>
            <a:ext cx="35560" cy="853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61: 旁证文件与验收用途"/>
          <p:cNvSpPr txBox="1"/>
          <p:nvPr/>
        </p:nvSpPr>
        <p:spPr>
          <a:xfrm>
            <a:off x="512064" y="712209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旁证文件与验收用途</a:t>
            </a:r>
          </a:p>
        </p:txBody>
      </p:sp>
      <p:sp>
        <p:nvSpPr>
          <p:cNvPr id="56" name="text-062: map：段与符号来自哪里；nm：符号地址；dump：反汇编与静态指令。链接成功之"/>
          <p:cNvSpPr txBox="1"/>
          <p:nvPr/>
        </p:nvSpPr>
        <p:spPr>
          <a:xfrm>
            <a:off x="512064" y="7408855"/>
            <a:ext cx="811265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map：段与符号来自哪里；nm：符号地址；dump：反汇编与静态指令。链接成功之后仍须装载、执行和检查数值。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580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4622800" y="22580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-007"/>
          <p:cNvSpPr/>
          <p:nvPr/>
        </p:nvSpPr>
        <p:spPr>
          <a:xfrm>
            <a:off x="8854440" y="22580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8"/>
          <p:cNvSpPr/>
          <p:nvPr/>
        </p:nvSpPr>
        <p:spPr>
          <a:xfrm>
            <a:off x="3769360" y="33248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0"/>
          <p:cNvSpPr/>
          <p:nvPr/>
        </p:nvSpPr>
        <p:spPr>
          <a:xfrm>
            <a:off x="3769360" y="45694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2"/>
          <p:cNvSpPr/>
          <p:nvPr/>
        </p:nvSpPr>
        <p:spPr>
          <a:xfrm>
            <a:off x="3769360" y="2115820"/>
            <a:ext cx="6863080" cy="3698240"/>
          </a:xfrm>
          <a:custGeom>
            <a:avLst/>
            <a:gdLst/>
            <a:ahLst/>
            <a:cxnLst/>
            <a:rect l="0" t="0" r="r" b="b"/>
            <a:pathLst>
              <a:path w="6863080" h="3698240" fill="none">
                <a:moveTo>
                  <a:pt x="0" y="3698240"/>
                </a:moveTo>
                <a:lnTo>
                  <a:pt x="426720" y="3698240"/>
                </a:lnTo>
                <a:lnTo>
                  <a:pt x="426720" y="0"/>
                </a:lnTo>
                <a:lnTo>
                  <a:pt x="6863080" y="0"/>
                </a:lnTo>
                <a:lnTo>
                  <a:pt x="6863080" y="81788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4: 配置何时生效：源码选择、展开结构与运行状态"/>
          <p:cNvSpPr txBox="1"/>
          <p:nvPr/>
        </p:nvSpPr>
        <p:spPr>
          <a:xfrm>
            <a:off x="483616" y="1071209"/>
            <a:ext cx="563270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配置何时生效：源码选择、展开结构与运行状态</a:t>
            </a:r>
          </a:p>
        </p:txBody>
      </p:sp>
      <p:sp>
        <p:nvSpPr>
          <p:cNvPr id="12" name="text-015: 同一个选项名可能属于不同阶段；软件写寄存器不能凭空增加 RTL 实例。"/>
          <p:cNvSpPr txBox="1"/>
          <p:nvPr/>
        </p:nvSpPr>
        <p:spPr>
          <a:xfrm>
            <a:off x="483616" y="1476878"/>
            <a:ext cx="560247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同一个选项名可能属于不同阶段；软件写寄存器不能凭空增加 RTL 实例。</a:t>
            </a:r>
          </a:p>
        </p:txBody>
      </p:sp>
      <p:sp>
        <p:nvSpPr>
          <p:cNvPr id="13" name="text-01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7: 源码：cheshire.mk；cheshire_pkg；gen_cva6_cfg"/>
          <p:cNvSpPr txBox="1"/>
          <p:nvPr/>
        </p:nvSpPr>
        <p:spPr>
          <a:xfrm>
            <a:off x="341376" y="8526577"/>
            <a:ext cx="497128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源码：cheshire.mk；cheshire_pkg；gen_cva6_cfg；sw/sw.mk</a:t>
            </a:r>
          </a:p>
        </p:txBody>
      </p:sp>
      <p:sp>
        <p:nvSpPr>
          <p:cNvPr id="15" name="text-018: 构建输入"/>
          <p:cNvSpPr txBox="1"/>
          <p:nvPr/>
        </p:nvSpPr>
        <p:spPr>
          <a:xfrm>
            <a:off x="519176" y="2314956"/>
            <a:ext cx="8890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构建输入</a:t>
            </a:r>
          </a:p>
        </p:txBody>
      </p:sp>
      <p:sp>
        <p:nvSpPr>
          <p:cNvPr id="16" name="text-019: 展开后的硬件"/>
          <p:cNvSpPr txBox="1"/>
          <p:nvPr/>
        </p:nvSpPr>
        <p:spPr>
          <a:xfrm>
            <a:off x="4750816" y="2314956"/>
            <a:ext cx="12446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展开后的硬件</a:t>
            </a:r>
          </a:p>
        </p:txBody>
      </p:sp>
      <p:sp>
        <p:nvSpPr>
          <p:cNvPr id="17" name="text-020: 程序与运行状态"/>
          <p:cNvSpPr txBox="1"/>
          <p:nvPr/>
        </p:nvSpPr>
        <p:spPr>
          <a:xfrm>
            <a:off x="8982456" y="2314956"/>
            <a:ext cx="14224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程序与运行状态</a:t>
            </a:r>
          </a:p>
        </p:txBody>
      </p:sp>
      <p:sp>
        <p:nvSpPr>
          <p:cNvPr id="18" name="rect-021"/>
          <p:cNvSpPr/>
          <p:nvPr/>
        </p:nvSpPr>
        <p:spPr>
          <a:xfrm>
            <a:off x="568960" y="29337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-022"/>
          <p:cNvSpPr/>
          <p:nvPr/>
        </p:nvSpPr>
        <p:spPr>
          <a:xfrm>
            <a:off x="568960" y="29337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-023: CPU profile / 宏 / targets"/>
          <p:cNvSpPr txBox="1"/>
          <p:nvPr/>
        </p:nvSpPr>
        <p:spPr>
          <a:xfrm>
            <a:off x="689864" y="2961579"/>
            <a:ext cx="325445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profile / 宏 / targets</a:t>
            </a:r>
          </a:p>
        </p:txBody>
      </p:sp>
      <p:sp>
        <p:nvSpPr>
          <p:cNvPr id="21" name="rect-024"/>
          <p:cNvSpPr/>
          <p:nvPr/>
        </p:nvSpPr>
        <p:spPr>
          <a:xfrm>
            <a:off x="568960" y="41783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-025"/>
          <p:cNvSpPr/>
          <p:nvPr/>
        </p:nvSpPr>
        <p:spPr>
          <a:xfrm>
            <a:off x="568960" y="41783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-026: SoC Cfg 与 Ara lanes / VLEN"/>
          <p:cNvSpPr txBox="1"/>
          <p:nvPr/>
        </p:nvSpPr>
        <p:spPr>
          <a:xfrm>
            <a:off x="689864" y="4206179"/>
            <a:ext cx="337464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SoC Cfg 与 Ara lanes / VLEN</a:t>
            </a:r>
          </a:p>
        </p:txBody>
      </p:sp>
      <p:sp>
        <p:nvSpPr>
          <p:cNvPr id="24" name="rect-027"/>
          <p:cNvSpPr/>
          <p:nvPr/>
        </p:nvSpPr>
        <p:spPr>
          <a:xfrm>
            <a:off x="568960" y="54229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28"/>
          <p:cNvSpPr/>
          <p:nvPr/>
        </p:nvSpPr>
        <p:spPr>
          <a:xfrm>
            <a:off x="568960" y="54229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29: 软件 -march / -mabi / .ld"/>
          <p:cNvSpPr txBox="1"/>
          <p:nvPr/>
        </p:nvSpPr>
        <p:spPr>
          <a:xfrm>
            <a:off x="689864" y="5450779"/>
            <a:ext cx="307878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 -march / -mabi / .ld</a:t>
            </a:r>
          </a:p>
        </p:txBody>
      </p:sp>
      <p:sp>
        <p:nvSpPr>
          <p:cNvPr id="27" name="rect-030"/>
          <p:cNvSpPr/>
          <p:nvPr/>
        </p:nvSpPr>
        <p:spPr>
          <a:xfrm>
            <a:off x="4800600" y="29337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-031"/>
          <p:cNvSpPr/>
          <p:nvPr/>
        </p:nvSpPr>
        <p:spPr>
          <a:xfrm>
            <a:off x="4800600" y="29337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-032: 有效 CVA6Cfg 与派生参数"/>
          <p:cNvSpPr txBox="1"/>
          <p:nvPr/>
        </p:nvSpPr>
        <p:spPr>
          <a:xfrm>
            <a:off x="4921504" y="2961579"/>
            <a:ext cx="25610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有效 CVA6Cfg 与派生参数</a:t>
            </a:r>
          </a:p>
        </p:txBody>
      </p:sp>
      <p:sp>
        <p:nvSpPr>
          <p:cNvPr id="30" name="rect-033"/>
          <p:cNvSpPr/>
          <p:nvPr/>
        </p:nvSpPr>
        <p:spPr>
          <a:xfrm>
            <a:off x="4800600" y="41783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4"/>
          <p:cNvSpPr/>
          <p:nvPr/>
        </p:nvSpPr>
        <p:spPr>
          <a:xfrm>
            <a:off x="4800600" y="41783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5: 端口数、索引、地址规则"/>
          <p:cNvSpPr txBox="1"/>
          <p:nvPr/>
        </p:nvSpPr>
        <p:spPr>
          <a:xfrm>
            <a:off x="4921504" y="4206179"/>
            <a:ext cx="221894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端口数、索引、地址规则</a:t>
            </a:r>
          </a:p>
        </p:txBody>
      </p:sp>
      <p:sp>
        <p:nvSpPr>
          <p:cNvPr id="33" name="rect-036"/>
          <p:cNvSpPr/>
          <p:nvPr/>
        </p:nvSpPr>
        <p:spPr>
          <a:xfrm>
            <a:off x="4800600" y="54229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-037"/>
          <p:cNvSpPr/>
          <p:nvPr/>
        </p:nvSpPr>
        <p:spPr>
          <a:xfrm>
            <a:off x="4800600" y="54229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38: 实例存在性与接口位宽"/>
          <p:cNvSpPr txBox="1"/>
          <p:nvPr/>
        </p:nvSpPr>
        <p:spPr>
          <a:xfrm>
            <a:off x="4921504" y="5450779"/>
            <a:ext cx="203403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实例存在性与接口位宽</a:t>
            </a:r>
          </a:p>
        </p:txBody>
      </p:sp>
      <p:sp>
        <p:nvSpPr>
          <p:cNvPr id="36" name="rect-039"/>
          <p:cNvSpPr/>
          <p:nvPr/>
        </p:nvSpPr>
        <p:spPr>
          <a:xfrm>
            <a:off x="9032240" y="29337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0"/>
          <p:cNvSpPr/>
          <p:nvPr/>
        </p:nvSpPr>
        <p:spPr>
          <a:xfrm>
            <a:off x="9032240" y="29337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1: ELF 指令与 ABI / 内存布局"/>
          <p:cNvSpPr txBox="1"/>
          <p:nvPr/>
        </p:nvSpPr>
        <p:spPr>
          <a:xfrm>
            <a:off x="9153144" y="2961579"/>
            <a:ext cx="280141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ELF 指令与 ABI / 内存布局</a:t>
            </a:r>
          </a:p>
        </p:txBody>
      </p:sp>
      <p:sp>
        <p:nvSpPr>
          <p:cNvPr id="39" name="rect-042"/>
          <p:cNvSpPr/>
          <p:nvPr/>
        </p:nvSpPr>
        <p:spPr>
          <a:xfrm>
            <a:off x="9032240" y="41783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-043"/>
          <p:cNvSpPr/>
          <p:nvPr/>
        </p:nvSpPr>
        <p:spPr>
          <a:xfrm>
            <a:off x="9032240" y="41783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-044: VS / FS、设备 MMIO 状态"/>
          <p:cNvSpPr txBox="1"/>
          <p:nvPr/>
        </p:nvSpPr>
        <p:spPr>
          <a:xfrm>
            <a:off x="9153144" y="4206179"/>
            <a:ext cx="267197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VS / FS、设备 MMIO 状态</a:t>
            </a:r>
          </a:p>
        </p:txBody>
      </p:sp>
      <p:sp>
        <p:nvSpPr>
          <p:cNvPr id="42" name="rect-045"/>
          <p:cNvSpPr/>
          <p:nvPr/>
        </p:nvSpPr>
        <p:spPr>
          <a:xfrm>
            <a:off x="9032240" y="54229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-046"/>
          <p:cNvSpPr/>
          <p:nvPr/>
        </p:nvSpPr>
        <p:spPr>
          <a:xfrm>
            <a:off x="9032240" y="54229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-047: 存储就绪、有效栈、装载入口"/>
          <p:cNvSpPr txBox="1"/>
          <p:nvPr/>
        </p:nvSpPr>
        <p:spPr>
          <a:xfrm>
            <a:off x="9153144" y="5450779"/>
            <a:ext cx="258876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存储就绪、有效栈、装载入口</a:t>
            </a:r>
          </a:p>
        </p:txBody>
      </p:sp>
      <p:sp>
        <p:nvSpPr>
          <p:cNvPr id="45" name="rect-048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-049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0: 例：增加 AXI 发起端会牵动系统结构"/>
          <p:cNvSpPr txBox="1"/>
          <p:nvPr/>
        </p:nvSpPr>
        <p:spPr>
          <a:xfrm>
            <a:off x="512064" y="7335459"/>
            <a:ext cx="337464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例：增加 AXI 发起端会牵动系统结构</a:t>
            </a:r>
          </a:p>
        </p:txBody>
      </p:sp>
      <p:sp>
        <p:nvSpPr>
          <p:cNvPr id="48" name="text-051: 默认 6 来源，加 Ara 为 7；再增加两个外部来源为 9，来源前缀由 3 位"/>
          <p:cNvSpPr txBox="1"/>
          <p:nvPr/>
        </p:nvSpPr>
        <p:spPr>
          <a:xfrm>
            <a:off x="512064" y="7622215"/>
            <a:ext cx="902797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 6 来源，加 Ara 为 7；再增加两个外部来源为 9，来源前缀由 3 位增到 4 位。有效组合仍需检查软件与启动契约。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4889500"/>
            <a:ext cx="12019280" cy="1671320"/>
          </a:xfrm>
          <a:prstGeom prst="roundRect">
            <a:avLst>
              <a:gd name="adj" fmla="val 5106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2809240" y="31826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6045200" y="31826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9281160" y="31826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6116320" y="5636260"/>
            <a:ext cx="5902960" cy="426720"/>
          </a:xfrm>
          <a:custGeom>
            <a:avLst/>
            <a:gdLst/>
            <a:ahLst/>
            <a:cxnLst/>
            <a:rect l="0" t="0" r="r" b="b"/>
            <a:pathLst>
              <a:path w="5902960" h="426720" fill="none">
                <a:moveTo>
                  <a:pt x="0" y="0"/>
                </a:moveTo>
                <a:lnTo>
                  <a:pt x="568960" y="0"/>
                </a:lnTo>
                <a:lnTo>
                  <a:pt x="568960" y="426720"/>
                </a:lnTo>
                <a:lnTo>
                  <a:pt x="1137920" y="426720"/>
                </a:lnTo>
                <a:lnTo>
                  <a:pt x="1137920" y="0"/>
                </a:lnTo>
                <a:lnTo>
                  <a:pt x="1706880" y="0"/>
                </a:lnTo>
                <a:lnTo>
                  <a:pt x="1706880" y="426720"/>
                </a:lnTo>
                <a:lnTo>
                  <a:pt x="2275840" y="426720"/>
                </a:lnTo>
                <a:lnTo>
                  <a:pt x="2275840" y="0"/>
                </a:lnTo>
                <a:lnTo>
                  <a:pt x="2844800" y="0"/>
                </a:lnTo>
                <a:lnTo>
                  <a:pt x="2844800" y="426720"/>
                </a:lnTo>
                <a:lnTo>
                  <a:pt x="3413760" y="426720"/>
                </a:lnTo>
                <a:lnTo>
                  <a:pt x="3413760" y="0"/>
                </a:lnTo>
                <a:lnTo>
                  <a:pt x="5902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3: 一次 UART 寄存器访问：地址、寄存器副作用与引脚"/>
          <p:cNvSpPr txBox="1"/>
          <p:nvPr/>
        </p:nvSpPr>
        <p:spPr>
          <a:xfrm>
            <a:off x="483616" y="1071209"/>
            <a:ext cx="6375197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UART 寄存器访问：地址、寄存器副作用与引脚</a:t>
            </a:r>
          </a:p>
        </p:txBody>
      </p:sp>
      <p:sp>
        <p:nvSpPr>
          <p:cNvPr id="11" name="text-014: 同一地址访问谁由译码决定；写入产生什么动作由寄存器语义、访问宽度与设备状态决定。"/>
          <p:cNvSpPr txBox="1"/>
          <p:nvPr/>
        </p:nvSpPr>
        <p:spPr>
          <a:xfrm>
            <a:off x="483616" y="1476878"/>
            <a:ext cx="670661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同一地址访问谁由译码决定；写入产生什么动作由寄存器语义、访问宽度与设备状态决定。</a:t>
            </a:r>
          </a:p>
        </p:txBody>
      </p:sp>
      <p:sp>
        <p:nvSpPr>
          <p:cNvPr id="12" name="text-015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6: 源码：UART DIF / HAL；AXI→Reg / APB 适配；UART "/>
          <p:cNvSpPr txBox="1"/>
          <p:nvPr/>
        </p:nvSpPr>
        <p:spPr>
          <a:xfrm>
            <a:off x="341376" y="8526577"/>
            <a:ext cx="494995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源码：UART DIF / HAL；AXI→Reg / APB 适配；UART 寄存器实现</a:t>
            </a:r>
          </a:p>
        </p:txBody>
      </p:sp>
      <p:sp>
        <p:nvSpPr>
          <p:cNvPr id="14" name="rect-017"/>
          <p:cNvSpPr/>
          <p:nvPr/>
        </p:nvSpPr>
        <p:spPr>
          <a:xfrm>
            <a:off x="391160" y="2506980"/>
            <a:ext cx="241808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-018"/>
          <p:cNvSpPr/>
          <p:nvPr/>
        </p:nvSpPr>
        <p:spPr>
          <a:xfrm>
            <a:off x="391160" y="25069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19: CPU / 驱动"/>
          <p:cNvSpPr txBox="1"/>
          <p:nvPr/>
        </p:nvSpPr>
        <p:spPr>
          <a:xfrm>
            <a:off x="512064" y="253485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17" name="text-020: volatile + 正确访问宽度"/>
          <p:cNvSpPr txBox="1"/>
          <p:nvPr/>
        </p:nvSpPr>
        <p:spPr>
          <a:xfrm>
            <a:off x="512064" y="2806253"/>
            <a:ext cx="241523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volatile + 正确访问宽度</a:t>
            </a:r>
          </a:p>
        </p:txBody>
      </p:sp>
      <p:sp>
        <p:nvSpPr>
          <p:cNvPr id="18" name="text-021: 读取 LSR 检查发送条件"/>
          <p:cNvSpPr txBox="1"/>
          <p:nvPr/>
        </p:nvSpPr>
        <p:spPr>
          <a:xfrm>
            <a:off x="512064" y="3019613"/>
            <a:ext cx="20909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LSR 检查发送条件</a:t>
            </a:r>
          </a:p>
        </p:txBody>
      </p:sp>
      <p:sp>
        <p:nvSpPr>
          <p:cNvPr id="19" name="text-022: 写 THR 提交一个字符"/>
          <p:cNvSpPr txBox="1"/>
          <p:nvPr/>
        </p:nvSpPr>
        <p:spPr>
          <a:xfrm>
            <a:off x="512064" y="3232973"/>
            <a:ext cx="19202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 THR 提交一个字符</a:t>
            </a:r>
          </a:p>
        </p:txBody>
      </p:sp>
      <p:sp>
        <p:nvSpPr>
          <p:cNvPr id="20" name="rect-023"/>
          <p:cNvSpPr/>
          <p:nvPr/>
        </p:nvSpPr>
        <p:spPr>
          <a:xfrm>
            <a:off x="3591560" y="25069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4"/>
          <p:cNvSpPr/>
          <p:nvPr/>
        </p:nvSpPr>
        <p:spPr>
          <a:xfrm>
            <a:off x="3591560" y="25069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5: AXI → Reg / APB"/>
          <p:cNvSpPr txBox="1"/>
          <p:nvPr/>
        </p:nvSpPr>
        <p:spPr>
          <a:xfrm>
            <a:off x="3712464" y="2534859"/>
            <a:ext cx="205252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→ Reg / APB</a:t>
            </a:r>
          </a:p>
        </p:txBody>
      </p:sp>
      <p:sp>
        <p:nvSpPr>
          <p:cNvPr id="23" name="text-026: 地址译码"/>
          <p:cNvSpPr txBox="1"/>
          <p:nvPr/>
        </p:nvSpPr>
        <p:spPr>
          <a:xfrm>
            <a:off x="3712464" y="2806253"/>
            <a:ext cx="8534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地址译码</a:t>
            </a:r>
          </a:p>
        </p:txBody>
      </p:sp>
      <p:sp>
        <p:nvSpPr>
          <p:cNvPr id="24" name="text-027: byte lane / 字节使能"/>
          <p:cNvSpPr txBox="1"/>
          <p:nvPr/>
        </p:nvSpPr>
        <p:spPr>
          <a:xfrm>
            <a:off x="3712464" y="3019613"/>
            <a:ext cx="218480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byte lane / 字节使能</a:t>
            </a:r>
          </a:p>
        </p:txBody>
      </p:sp>
      <p:sp>
        <p:nvSpPr>
          <p:cNvPr id="25" name="text-028: 握手与错误响应"/>
          <p:cNvSpPr txBox="1"/>
          <p:nvPr/>
        </p:nvSpPr>
        <p:spPr>
          <a:xfrm>
            <a:off x="3712464" y="323297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握手与错误响应</a:t>
            </a:r>
          </a:p>
        </p:txBody>
      </p:sp>
      <p:sp>
        <p:nvSpPr>
          <p:cNvPr id="26" name="rect-029"/>
          <p:cNvSpPr/>
          <p:nvPr/>
        </p:nvSpPr>
        <p:spPr>
          <a:xfrm>
            <a:off x="6827520" y="25069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0"/>
          <p:cNvSpPr/>
          <p:nvPr/>
        </p:nvSpPr>
        <p:spPr>
          <a:xfrm>
            <a:off x="6827520" y="2506980"/>
            <a:ext cx="35560" cy="13512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1: 寄存器 / TX FIFO"/>
          <p:cNvSpPr txBox="1"/>
          <p:nvPr/>
        </p:nvSpPr>
        <p:spPr>
          <a:xfrm>
            <a:off x="6948424" y="2534859"/>
            <a:ext cx="194157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寄存器 / TX FIFO</a:t>
            </a:r>
          </a:p>
        </p:txBody>
      </p:sp>
      <p:sp>
        <p:nvSpPr>
          <p:cNvPr id="29" name="text-032: DLAB 选择寄存器用途"/>
          <p:cNvSpPr txBox="1"/>
          <p:nvPr/>
        </p:nvSpPr>
        <p:spPr>
          <a:xfrm>
            <a:off x="6948424" y="2806253"/>
            <a:ext cx="192024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DLAB 选择寄存器用途</a:t>
            </a:r>
          </a:p>
        </p:txBody>
      </p:sp>
      <p:sp>
        <p:nvSpPr>
          <p:cNvPr id="30" name="text-033: 写入入队 / 状态更新"/>
          <p:cNvSpPr txBox="1"/>
          <p:nvPr/>
        </p:nvSpPr>
        <p:spPr>
          <a:xfrm>
            <a:off x="6948424" y="3019613"/>
            <a:ext cx="186903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写入入队 / 状态更新</a:t>
            </a:r>
          </a:p>
        </p:txBody>
      </p:sp>
      <p:sp>
        <p:nvSpPr>
          <p:cNvPr id="31" name="text-034: 访问成功不代表发送结束"/>
          <p:cNvSpPr txBox="1"/>
          <p:nvPr/>
        </p:nvSpPr>
        <p:spPr>
          <a:xfrm>
            <a:off x="6948424" y="323297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访问成功不代表发送结束</a:t>
            </a:r>
          </a:p>
        </p:txBody>
      </p:sp>
      <p:sp>
        <p:nvSpPr>
          <p:cNvPr id="32" name="rect-035"/>
          <p:cNvSpPr/>
          <p:nvPr/>
        </p:nvSpPr>
        <p:spPr>
          <a:xfrm>
            <a:off x="10063480" y="2506980"/>
            <a:ext cx="2346960" cy="1351280"/>
          </a:xfrm>
          <a:prstGeom prst="roundRect">
            <a:avLst>
              <a:gd name="adj" fmla="val 36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6"/>
          <p:cNvSpPr/>
          <p:nvPr/>
        </p:nvSpPr>
        <p:spPr>
          <a:xfrm>
            <a:off x="10063480" y="2506980"/>
            <a:ext cx="35560" cy="13512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7: 串行状态机"/>
          <p:cNvSpPr txBox="1"/>
          <p:nvPr/>
        </p:nvSpPr>
        <p:spPr>
          <a:xfrm>
            <a:off x="10184384" y="253485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串行状态机</a:t>
            </a:r>
          </a:p>
        </p:txBody>
      </p:sp>
      <p:sp>
        <p:nvSpPr>
          <p:cNvPr id="35" name="text-038: 波特率分频"/>
          <p:cNvSpPr txBox="1"/>
          <p:nvPr/>
        </p:nvSpPr>
        <p:spPr>
          <a:xfrm>
            <a:off x="10184384" y="2806253"/>
            <a:ext cx="102412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波特率分频</a:t>
            </a:r>
          </a:p>
        </p:txBody>
      </p:sp>
      <p:sp>
        <p:nvSpPr>
          <p:cNvPr id="36" name="text-039: 起始位 / 数据 / 停止位"/>
          <p:cNvSpPr txBox="1"/>
          <p:nvPr/>
        </p:nvSpPr>
        <p:spPr>
          <a:xfrm>
            <a:off x="10184384" y="3019613"/>
            <a:ext cx="220187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 / 数据 / 停止位</a:t>
            </a:r>
          </a:p>
        </p:txBody>
      </p:sp>
      <p:sp>
        <p:nvSpPr>
          <p:cNvPr id="37" name="text-040: TX 引脚输出"/>
          <p:cNvSpPr txBox="1"/>
          <p:nvPr/>
        </p:nvSpPr>
        <p:spPr>
          <a:xfrm>
            <a:off x="10184384" y="3232973"/>
            <a:ext cx="11862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引脚输出</a:t>
            </a:r>
          </a:p>
        </p:txBody>
      </p:sp>
      <p:sp>
        <p:nvSpPr>
          <p:cNvPr id="38" name="text-041: 同时观察控制寄存器与外部波形"/>
          <p:cNvSpPr txBox="1"/>
          <p:nvPr/>
        </p:nvSpPr>
        <p:spPr>
          <a:xfrm>
            <a:off x="519176" y="4946396"/>
            <a:ext cx="26670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同时观察控制寄存器与外部波形</a:t>
            </a:r>
          </a:p>
        </p:txBody>
      </p:sp>
      <p:sp>
        <p:nvSpPr>
          <p:cNvPr id="39" name="text-042: LSR / FIFO 状态"/>
          <p:cNvSpPr txBox="1"/>
          <p:nvPr/>
        </p:nvSpPr>
        <p:spPr>
          <a:xfrm>
            <a:off x="640080" y="5223195"/>
            <a:ext cx="187685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LSR / FIFO 状态</a:t>
            </a:r>
          </a:p>
        </p:txBody>
      </p:sp>
      <p:sp>
        <p:nvSpPr>
          <p:cNvPr id="40" name="text-043: UART TX"/>
          <p:cNvSpPr txBox="1"/>
          <p:nvPr/>
        </p:nvSpPr>
        <p:spPr>
          <a:xfrm>
            <a:off x="4693920" y="5223195"/>
            <a:ext cx="102626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UART TX</a:t>
            </a:r>
          </a:p>
        </p:txBody>
      </p:sp>
      <p:sp>
        <p:nvSpPr>
          <p:cNvPr id="41" name="text-044: 可继续写入？FIFO 空？移位器也已空？"/>
          <p:cNvSpPr txBox="1"/>
          <p:nvPr/>
        </p:nvSpPr>
        <p:spPr>
          <a:xfrm>
            <a:off x="640080" y="5451917"/>
            <a:ext cx="32857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可继续写入？FIFO 空？移位器也已空？</a:t>
            </a:r>
          </a:p>
        </p:txBody>
      </p:sp>
      <p:sp>
        <p:nvSpPr>
          <p:cNvPr id="42" name="text-045: 三个问题按具体状态位定义判断。"/>
          <p:cNvSpPr txBox="1"/>
          <p:nvPr/>
        </p:nvSpPr>
        <p:spPr>
          <a:xfrm>
            <a:off x="640080" y="5686613"/>
            <a:ext cx="273100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三个问题按具体状态位定义判断。</a:t>
            </a:r>
          </a:p>
        </p:txBody>
      </p:sp>
      <p:sp>
        <p:nvSpPr>
          <p:cNvPr id="43" name="text-046: 起始位"/>
          <p:cNvSpPr txBox="1"/>
          <p:nvPr/>
        </p:nvSpPr>
        <p:spPr>
          <a:xfrm>
            <a:off x="6827520" y="6178479"/>
            <a:ext cx="62585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</a:t>
            </a:r>
          </a:p>
        </p:txBody>
      </p:sp>
      <p:sp>
        <p:nvSpPr>
          <p:cNvPr id="44" name="text-047: 数据位示意"/>
          <p:cNvSpPr txBox="1"/>
          <p:nvPr/>
        </p:nvSpPr>
        <p:spPr>
          <a:xfrm>
            <a:off x="8463280" y="6178479"/>
            <a:ext cx="93878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数据位示意</a:t>
            </a:r>
          </a:p>
        </p:txBody>
      </p:sp>
      <p:sp>
        <p:nvSpPr>
          <p:cNvPr id="45" name="text-048: 停止位"/>
          <p:cNvSpPr txBox="1"/>
          <p:nvPr/>
        </p:nvSpPr>
        <p:spPr>
          <a:xfrm>
            <a:off x="11023600" y="6178479"/>
            <a:ext cx="62585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停止位</a:t>
            </a:r>
          </a:p>
        </p:txBody>
      </p:sp>
      <p:sp>
        <p:nvSpPr>
          <p:cNvPr id="46" name="rect-049"/>
          <p:cNvSpPr/>
          <p:nvPr/>
        </p:nvSpPr>
        <p:spPr>
          <a:xfrm>
            <a:off x="391160" y="72009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-050"/>
          <p:cNvSpPr/>
          <p:nvPr/>
        </p:nvSpPr>
        <p:spPr>
          <a:xfrm>
            <a:off x="391160" y="72009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-051: 其他外设仍沿同一分析方法"/>
          <p:cNvSpPr txBox="1"/>
          <p:nvPr/>
        </p:nvSpPr>
        <p:spPr>
          <a:xfrm>
            <a:off x="512064" y="7228779"/>
            <a:ext cx="240385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其他外设仍沿同一分析方法</a:t>
            </a:r>
          </a:p>
        </p:txBody>
      </p:sp>
      <p:sp>
        <p:nvSpPr>
          <p:cNvPr id="49" name="text-052: W1C、读弹出 FIFO、忙时写入、GPIO 电平都需要各自的寄存器契约；寄存器"/>
          <p:cNvSpPr txBox="1"/>
          <p:nvPr/>
        </p:nvSpPr>
        <p:spPr>
          <a:xfrm>
            <a:off x="512064" y="7515535"/>
            <a:ext cx="773714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W1C、读弹出 FIFO、忙时写入、GPIO 电平都需要各自的寄存器契约；寄存器地址正确只是访问的第一步。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93620"/>
            <a:ext cx="12019280" cy="2560320"/>
          </a:xfrm>
          <a:prstGeom prst="roundRect">
            <a:avLst>
              <a:gd name="adj" fmla="val 3333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3093720" y="36271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6045200" y="36271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8996680" y="36271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4800600" y="4249420"/>
            <a:ext cx="1600200" cy="1635760"/>
          </a:xfrm>
          <a:custGeom>
            <a:avLst/>
            <a:gdLst/>
            <a:ahLst/>
            <a:cxnLst/>
            <a:rect l="0" t="0" r="r" b="b"/>
            <a:pathLst>
              <a:path w="1600200" h="1635760" fill="none">
                <a:moveTo>
                  <a:pt x="0" y="0"/>
                </a:moveTo>
                <a:lnTo>
                  <a:pt x="0" y="1031240"/>
                </a:lnTo>
                <a:lnTo>
                  <a:pt x="1600200" y="1031240"/>
                </a:lnTo>
                <a:lnTo>
                  <a:pt x="160020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4"/>
          <p:cNvSpPr/>
          <p:nvPr/>
        </p:nvSpPr>
        <p:spPr>
          <a:xfrm>
            <a:off x="6400800" y="4249420"/>
            <a:ext cx="1351280" cy="1635760"/>
          </a:xfrm>
          <a:custGeom>
            <a:avLst/>
            <a:gdLst/>
            <a:ahLst/>
            <a:cxnLst/>
            <a:rect l="0" t="0" r="r" b="b"/>
            <a:pathLst>
              <a:path w="1351280" h="1635760" fill="none">
                <a:moveTo>
                  <a:pt x="1351280" y="0"/>
                </a:moveTo>
                <a:lnTo>
                  <a:pt x="135128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6"/>
          <p:cNvSpPr/>
          <p:nvPr/>
        </p:nvSpPr>
        <p:spPr>
          <a:xfrm>
            <a:off x="6400800" y="4249420"/>
            <a:ext cx="4302760" cy="1635760"/>
          </a:xfrm>
          <a:custGeom>
            <a:avLst/>
            <a:gdLst/>
            <a:ahLst/>
            <a:cxnLst/>
            <a:rect l="0" t="0" r="r" b="b"/>
            <a:pathLst>
              <a:path w="4302760" h="1635760" fill="none">
                <a:moveTo>
                  <a:pt x="4302760" y="0"/>
                </a:moveTo>
                <a:lnTo>
                  <a:pt x="430276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18: 未来图像系统：流数据、帧缓冲与控制路径分层"/>
          <p:cNvSpPr txBox="1"/>
          <p:nvPr/>
        </p:nvSpPr>
        <p:spPr>
          <a:xfrm>
            <a:off x="483616" y="1071209"/>
            <a:ext cx="563270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未来图像系统：流数据、帧缓冲与控制路径分层</a:t>
            </a:r>
          </a:p>
        </p:txBody>
      </p:sp>
      <p:sp>
        <p:nvSpPr>
          <p:cNvPr id="13" name="text-019: LVDS / ISP / NPU 均为待集成模块；带宽与缓存规模必须由分辨率、格"/>
          <p:cNvSpPr txBox="1"/>
          <p:nvPr/>
        </p:nvSpPr>
        <p:spPr>
          <a:xfrm>
            <a:off x="483616" y="1476878"/>
            <a:ext cx="769625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LVDS / ISP / NPU 均为待集成模块；带宽与缓存规模必须由分辨率、格式、帧率和访问次数推导。</a:t>
            </a:r>
          </a:p>
        </p:txBody>
      </p:sp>
      <p:sp>
        <p:nvSpPr>
          <p:cNvPr id="14" name="text-020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5" name="text-021: 依据：用户产品方向与未来 IP 集成契约；不代表已实现 RTL 或已验证吞吐"/>
          <p:cNvSpPr txBox="1"/>
          <p:nvPr/>
        </p:nvSpPr>
        <p:spPr>
          <a:xfrm>
            <a:off x="341376" y="8526577"/>
            <a:ext cx="5099304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依据：用户产品方向与未来 IP 集成契约；不代表已实现 RTL 或已验证吞吐</a:t>
            </a:r>
          </a:p>
        </p:txBody>
      </p:sp>
      <p:sp>
        <p:nvSpPr>
          <p:cNvPr id="16" name="text-022: 像素 / 张量处理通路：每段需要格式、背压与时钟契约"/>
          <p:cNvSpPr txBox="1"/>
          <p:nvPr/>
        </p:nvSpPr>
        <p:spPr>
          <a:xfrm>
            <a:off x="519176" y="2350516"/>
            <a:ext cx="461391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像素 / 张量处理通路：每段需要格式、背压与时钟契约</a:t>
            </a:r>
          </a:p>
        </p:txBody>
      </p:sp>
      <p:sp>
        <p:nvSpPr>
          <p:cNvPr id="17" name="rect-023"/>
          <p:cNvSpPr/>
          <p:nvPr/>
        </p:nvSpPr>
        <p:spPr>
          <a:xfrm>
            <a:off x="60452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-024"/>
          <p:cNvSpPr/>
          <p:nvPr/>
        </p:nvSpPr>
        <p:spPr>
          <a:xfrm>
            <a:off x="60452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25: LVDS 接收"/>
          <p:cNvSpPr txBox="1"/>
          <p:nvPr/>
        </p:nvSpPr>
        <p:spPr>
          <a:xfrm>
            <a:off x="725424" y="3032699"/>
            <a:ext cx="115570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20" name="text-026: 解串 / 像素打包"/>
          <p:cNvSpPr txBox="1"/>
          <p:nvPr/>
        </p:nvSpPr>
        <p:spPr>
          <a:xfrm>
            <a:off x="725424" y="3311774"/>
            <a:ext cx="146400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解串 / 像素打包</a:t>
            </a:r>
          </a:p>
        </p:txBody>
      </p:sp>
      <p:sp>
        <p:nvSpPr>
          <p:cNvPr id="21" name="text-027: 源同步采样 / 跨域 FIFO"/>
          <p:cNvSpPr txBox="1"/>
          <p:nvPr/>
        </p:nvSpPr>
        <p:spPr>
          <a:xfrm>
            <a:off x="725424" y="3525134"/>
            <a:ext cx="2159203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源同步采样 / 跨域 FIFO</a:t>
            </a:r>
          </a:p>
        </p:txBody>
      </p:sp>
      <p:sp>
        <p:nvSpPr>
          <p:cNvPr id="22" name="rect-028"/>
          <p:cNvSpPr/>
          <p:nvPr/>
        </p:nvSpPr>
        <p:spPr>
          <a:xfrm>
            <a:off x="355600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9"/>
          <p:cNvSpPr/>
          <p:nvPr/>
        </p:nvSpPr>
        <p:spPr>
          <a:xfrm>
            <a:off x="355600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30: ISP"/>
          <p:cNvSpPr txBox="1"/>
          <p:nvPr/>
        </p:nvSpPr>
        <p:spPr>
          <a:xfrm>
            <a:off x="3676904" y="3032699"/>
            <a:ext cx="54549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25" name="text-031: 行缓存与图像算法"/>
          <p:cNvSpPr txBox="1"/>
          <p:nvPr/>
        </p:nvSpPr>
        <p:spPr>
          <a:xfrm>
            <a:off x="3676904" y="3311774"/>
            <a:ext cx="14721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行缓存与图像算法</a:t>
            </a:r>
          </a:p>
        </p:txBody>
      </p:sp>
      <p:sp>
        <p:nvSpPr>
          <p:cNvPr id="26" name="text-032: 格式、位宽与边界处理"/>
          <p:cNvSpPr txBox="1"/>
          <p:nvPr/>
        </p:nvSpPr>
        <p:spPr>
          <a:xfrm>
            <a:off x="3676904" y="3525134"/>
            <a:ext cx="17993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格式、位宽与边界处理</a:t>
            </a:r>
          </a:p>
        </p:txBody>
      </p:sp>
      <p:sp>
        <p:nvSpPr>
          <p:cNvPr id="27" name="rect-033"/>
          <p:cNvSpPr/>
          <p:nvPr/>
        </p:nvSpPr>
        <p:spPr>
          <a:xfrm>
            <a:off x="650748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-034"/>
          <p:cNvSpPr/>
          <p:nvPr/>
        </p:nvSpPr>
        <p:spPr>
          <a:xfrm>
            <a:off x="650748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-035: 脉动阵列 / NPU"/>
          <p:cNvSpPr txBox="1"/>
          <p:nvPr/>
        </p:nvSpPr>
        <p:spPr>
          <a:xfrm>
            <a:off x="6628384" y="3032699"/>
            <a:ext cx="164571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脉动阵列 / NPU</a:t>
            </a:r>
          </a:p>
        </p:txBody>
      </p:sp>
      <p:sp>
        <p:nvSpPr>
          <p:cNvPr id="30" name="text-036: 命令与张量布局"/>
          <p:cNvSpPr txBox="1"/>
          <p:nvPr/>
        </p:nvSpPr>
        <p:spPr>
          <a:xfrm>
            <a:off x="6628384" y="331177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命令与张量布局</a:t>
            </a:r>
          </a:p>
        </p:txBody>
      </p:sp>
      <p:sp>
        <p:nvSpPr>
          <p:cNvPr id="31" name="text-037: 片上复用与 AXI 读写"/>
          <p:cNvSpPr txBox="1"/>
          <p:nvPr/>
        </p:nvSpPr>
        <p:spPr>
          <a:xfrm>
            <a:off x="6628384" y="3525134"/>
            <a:ext cx="184023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片上复用与 AXI 读写</a:t>
            </a:r>
          </a:p>
        </p:txBody>
      </p:sp>
      <p:sp>
        <p:nvSpPr>
          <p:cNvPr id="32" name="rect-038"/>
          <p:cNvSpPr/>
          <p:nvPr/>
        </p:nvSpPr>
        <p:spPr>
          <a:xfrm>
            <a:off x="945896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9"/>
          <p:cNvSpPr/>
          <p:nvPr/>
        </p:nvSpPr>
        <p:spPr>
          <a:xfrm>
            <a:off x="945896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40: CPU / Ara"/>
          <p:cNvSpPr txBox="1"/>
          <p:nvPr/>
        </p:nvSpPr>
        <p:spPr>
          <a:xfrm>
            <a:off x="9579864" y="3032699"/>
            <a:ext cx="126664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35" name="text-041: 调度与后处理"/>
          <p:cNvSpPr txBox="1"/>
          <p:nvPr/>
        </p:nvSpPr>
        <p:spPr>
          <a:xfrm>
            <a:off x="9579864" y="3311774"/>
            <a:ext cx="114503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调度与后处理</a:t>
            </a:r>
          </a:p>
        </p:txBody>
      </p:sp>
      <p:sp>
        <p:nvSpPr>
          <p:cNvPr id="36" name="text-042: 结果核对 / 下一阶段"/>
          <p:cNvSpPr txBox="1"/>
          <p:nvPr/>
        </p:nvSpPr>
        <p:spPr>
          <a:xfrm>
            <a:off x="9579864" y="3525134"/>
            <a:ext cx="179115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结果核对 / 下一阶段</a:t>
            </a:r>
          </a:p>
        </p:txBody>
      </p:sp>
      <p:sp>
        <p:nvSpPr>
          <p:cNvPr id="37" name="rect-043"/>
          <p:cNvSpPr/>
          <p:nvPr/>
        </p:nvSpPr>
        <p:spPr>
          <a:xfrm>
            <a:off x="2418080" y="5885180"/>
            <a:ext cx="796544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4"/>
          <p:cNvSpPr/>
          <p:nvPr/>
        </p:nvSpPr>
        <p:spPr>
          <a:xfrm>
            <a:off x="2418080" y="58851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5: 共享帧 / 张量缓冲 → AXI4 DDR 子系统"/>
          <p:cNvSpPr txBox="1"/>
          <p:nvPr/>
        </p:nvSpPr>
        <p:spPr>
          <a:xfrm>
            <a:off x="2538984" y="5913059"/>
            <a:ext cx="390164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共享帧 / 张量缓冲 → AXI4 DDR 子系统</a:t>
            </a:r>
          </a:p>
        </p:txBody>
      </p:sp>
      <p:sp>
        <p:nvSpPr>
          <p:cNvPr id="40" name="text-046: NPU / ISP 数据旁路 LLC：需新增互连、仲裁、ID 与 CDC 契约"/>
          <p:cNvSpPr txBox="1"/>
          <p:nvPr/>
        </p:nvSpPr>
        <p:spPr>
          <a:xfrm>
            <a:off x="2538984" y="6184453"/>
            <a:ext cx="55132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NPU / ISP 数据旁路 LLC：需新增互连、仲裁、ID 与 CDC 契约</a:t>
            </a:r>
          </a:p>
        </p:txBody>
      </p:sp>
      <p:sp>
        <p:nvSpPr>
          <p:cNvPr id="41" name="text-047: 所有权、可见性、QoS、背压、异常恢复与带宽预算需联合设计"/>
          <p:cNvSpPr txBox="1"/>
          <p:nvPr/>
        </p:nvSpPr>
        <p:spPr>
          <a:xfrm>
            <a:off x="2538984" y="6397813"/>
            <a:ext cx="494141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所有权、可见性、QoS、背压、异常恢复与带宽预算需联合设计</a:t>
            </a:r>
          </a:p>
        </p:txBody>
      </p:sp>
      <p:sp>
        <p:nvSpPr>
          <p:cNvPr id="42" name="rect-048"/>
          <p:cNvSpPr/>
          <p:nvPr/>
        </p:nvSpPr>
        <p:spPr>
          <a:xfrm>
            <a:off x="391160" y="737870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-049"/>
          <p:cNvSpPr/>
          <p:nvPr/>
        </p:nvSpPr>
        <p:spPr>
          <a:xfrm>
            <a:off x="391160" y="7378700"/>
            <a:ext cx="35560" cy="7112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-050: 工程实施边界"/>
          <p:cNvSpPr txBox="1"/>
          <p:nvPr/>
        </p:nvSpPr>
        <p:spPr>
          <a:xfrm>
            <a:off x="512064" y="740657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工程实施边界</a:t>
            </a:r>
          </a:p>
        </p:txBody>
      </p:sp>
      <p:sp>
        <p:nvSpPr>
          <p:cNvPr id="45" name="text-051: 独立 cheshire_ara_asic/、固定配置、静态清单；Bender 至"/>
          <p:cNvSpPr txBox="1"/>
          <p:nvPr/>
        </p:nvSpPr>
        <p:spPr>
          <a:xfrm>
            <a:off x="512064" y="7693335"/>
            <a:ext cx="890280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cheshire_ara_asic/、固定配置、静态清单；Bender 至多用于一次性离线解析。图中系统仍需正式提取与验证。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31640" y="2222500"/>
            <a:ext cx="4836160" cy="4622800"/>
          </a:xfrm>
          <a:prstGeom prst="roundRect">
            <a:avLst>
              <a:gd name="adj" fmla="val 184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3129280" y="3324860"/>
            <a:ext cx="1422400" cy="195580"/>
          </a:xfrm>
          <a:custGeom>
            <a:avLst/>
            <a:gdLst/>
            <a:ahLst/>
            <a:cxnLst/>
            <a:rect l="0" t="0" r="r" b="b"/>
            <a:pathLst>
              <a:path w="1422400" h="195580" fill="none">
                <a:moveTo>
                  <a:pt x="0" y="19558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6649720" y="392938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8747760" y="3413760"/>
            <a:ext cx="1351280" cy="2151380"/>
          </a:xfrm>
          <a:custGeom>
            <a:avLst/>
            <a:gdLst/>
            <a:ahLst/>
            <a:cxnLst/>
            <a:rect l="0" t="0" r="r" b="b"/>
            <a:pathLst>
              <a:path w="1351280" h="2151380" fill="none">
                <a:moveTo>
                  <a:pt x="0" y="2151380"/>
                </a:moveTo>
                <a:lnTo>
                  <a:pt x="13512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8747760" y="5565140"/>
            <a:ext cx="1351280" cy="53340"/>
          </a:xfrm>
          <a:custGeom>
            <a:avLst/>
            <a:gdLst/>
            <a:ahLst/>
            <a:cxnLst/>
            <a:rect l="0" t="0" r="r" b="b"/>
            <a:pathLst>
              <a:path w="1351280" h="53340" fill="none">
                <a:moveTo>
                  <a:pt x="0" y="0"/>
                </a:moveTo>
                <a:lnTo>
                  <a:pt x="1351280" y="5334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4: 新增 IP：控制面、主动数据面与完成事件独立定义"/>
          <p:cNvSpPr txBox="1"/>
          <p:nvPr/>
        </p:nvSpPr>
        <p:spPr>
          <a:xfrm>
            <a:off x="483616" y="1071209"/>
            <a:ext cx="6131966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新增 IP：控制面、主动数据面与完成事件独立定义</a:t>
            </a:r>
          </a:p>
        </p:txBody>
      </p:sp>
      <p:sp>
        <p:nvSpPr>
          <p:cNvPr id="11" name="text-015: 从只读写寄存器的计算单元起步，再按需求增加 AXI 主端与 IRQ；不改变现有接"/>
          <p:cNvSpPr txBox="1"/>
          <p:nvPr/>
        </p:nvSpPr>
        <p:spPr>
          <a:xfrm>
            <a:off x="483616" y="1476878"/>
            <a:ext cx="815426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从只读写寄存器的计算单元起步，再按需求增加 AXI 主端与 IRQ；不改变现有接口就不能假定具备新能力。</a:t>
            </a:r>
          </a:p>
        </p:txBody>
      </p:sp>
      <p:sp>
        <p:nvSpPr>
          <p:cNvPr id="12" name="text-016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3" name="text-017: 依据：Cheshire 扩展 Reg / AXI 端口；教材独立 Reg 单元；"/>
          <p:cNvSpPr txBox="1"/>
          <p:nvPr/>
        </p:nvSpPr>
        <p:spPr>
          <a:xfrm>
            <a:off x="341376" y="8526577"/>
            <a:ext cx="586740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扩展 Reg / AXI 端口；教材独立 Reg 单元；未来数据面尚需实现</a:t>
            </a:r>
          </a:p>
        </p:txBody>
      </p:sp>
      <p:sp>
        <p:nvSpPr>
          <p:cNvPr id="14" name="rect-018"/>
          <p:cNvSpPr/>
          <p:nvPr/>
        </p:nvSpPr>
        <p:spPr>
          <a:xfrm>
            <a:off x="391160" y="2791460"/>
            <a:ext cx="2738120" cy="1457960"/>
          </a:xfrm>
          <a:prstGeom prst="roundRect">
            <a:avLst>
              <a:gd name="adj" fmla="val 341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-019"/>
          <p:cNvSpPr/>
          <p:nvPr/>
        </p:nvSpPr>
        <p:spPr>
          <a:xfrm>
            <a:off x="391160" y="2791460"/>
            <a:ext cx="35560" cy="1457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20: CPU / 驱动"/>
          <p:cNvSpPr txBox="1"/>
          <p:nvPr/>
        </p:nvSpPr>
        <p:spPr>
          <a:xfrm>
            <a:off x="512064" y="281933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17" name="text-021: 写参数 → START"/>
          <p:cNvSpPr txBox="1"/>
          <p:nvPr/>
        </p:nvSpPr>
        <p:spPr>
          <a:xfrm>
            <a:off x="512064" y="3090733"/>
            <a:ext cx="16300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写参数 → START</a:t>
            </a:r>
          </a:p>
        </p:txBody>
      </p:sp>
      <p:sp>
        <p:nvSpPr>
          <p:cNvPr id="18" name="text-022: 轮询 STATUS / 读取 RESULT"/>
          <p:cNvSpPr txBox="1"/>
          <p:nvPr/>
        </p:nvSpPr>
        <p:spPr>
          <a:xfrm>
            <a:off x="512064" y="3304093"/>
            <a:ext cx="273954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 STATUS / 读取 RESULT</a:t>
            </a:r>
          </a:p>
        </p:txBody>
      </p:sp>
      <p:sp>
        <p:nvSpPr>
          <p:cNvPr id="19" name="text-023: 中断模式仍需检查设备状态"/>
          <p:cNvSpPr txBox="1"/>
          <p:nvPr/>
        </p:nvSpPr>
        <p:spPr>
          <a:xfrm>
            <a:off x="512064" y="351745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中断模式仍需检查设备状态</a:t>
            </a:r>
          </a:p>
        </p:txBody>
      </p:sp>
      <p:sp>
        <p:nvSpPr>
          <p:cNvPr id="20" name="text-024: 自有 IP 的职责边界"/>
          <p:cNvSpPr txBox="1"/>
          <p:nvPr/>
        </p:nvSpPr>
        <p:spPr>
          <a:xfrm>
            <a:off x="4359656" y="2279396"/>
            <a:ext cx="18846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自有 IP 的职责边界</a:t>
            </a:r>
          </a:p>
        </p:txBody>
      </p:sp>
      <p:sp>
        <p:nvSpPr>
          <p:cNvPr id="21" name="rect-025"/>
          <p:cNvSpPr/>
          <p:nvPr/>
        </p:nvSpPr>
        <p:spPr>
          <a:xfrm>
            <a:off x="4551680" y="2720340"/>
            <a:ext cx="4196080" cy="1209040"/>
          </a:xfrm>
          <a:prstGeom prst="roundRect">
            <a:avLst>
              <a:gd name="adj" fmla="val 411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-026"/>
          <p:cNvSpPr/>
          <p:nvPr/>
        </p:nvSpPr>
        <p:spPr>
          <a:xfrm>
            <a:off x="4551680" y="2720340"/>
            <a:ext cx="35560" cy="12090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-027: Reg 目标：START / BUSY / DONE / ERROR"/>
          <p:cNvSpPr txBox="1"/>
          <p:nvPr/>
        </p:nvSpPr>
        <p:spPr>
          <a:xfrm>
            <a:off x="4672584" y="2748219"/>
            <a:ext cx="446562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目标：START / BUSY / DONE / ERROR</a:t>
            </a:r>
          </a:p>
        </p:txBody>
      </p:sp>
      <p:sp>
        <p:nvSpPr>
          <p:cNvPr id="24" name="text-028: 地址、字节写、副作用与复位值"/>
          <p:cNvSpPr txBox="1"/>
          <p:nvPr/>
        </p:nvSpPr>
        <p:spPr>
          <a:xfrm>
            <a:off x="4672584" y="3019613"/>
            <a:ext cx="256032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地址、字节写、副作用与复位值</a:t>
            </a:r>
          </a:p>
        </p:txBody>
      </p:sp>
      <p:sp>
        <p:nvSpPr>
          <p:cNvPr id="25" name="text-029: 忙时提交、参数快照与结果稳定条件"/>
          <p:cNvSpPr txBox="1"/>
          <p:nvPr/>
        </p:nvSpPr>
        <p:spPr>
          <a:xfrm>
            <a:off x="4672584" y="3232973"/>
            <a:ext cx="290169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忙时提交、参数快照与结果稳定条件</a:t>
            </a:r>
          </a:p>
        </p:txBody>
      </p:sp>
      <p:sp>
        <p:nvSpPr>
          <p:cNvPr id="26" name="rect-030"/>
          <p:cNvSpPr/>
          <p:nvPr/>
        </p:nvSpPr>
        <p:spPr>
          <a:xfrm>
            <a:off x="4551680" y="4925060"/>
            <a:ext cx="4196080" cy="1280160"/>
          </a:xfrm>
          <a:prstGeom prst="roundRect">
            <a:avLst>
              <a:gd name="adj" fmla="val 388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1"/>
          <p:cNvSpPr/>
          <p:nvPr/>
        </p:nvSpPr>
        <p:spPr>
          <a:xfrm>
            <a:off x="4551680" y="4925060"/>
            <a:ext cx="35560" cy="12801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2: 内部状态机 / 计算资源"/>
          <p:cNvSpPr txBox="1"/>
          <p:nvPr/>
        </p:nvSpPr>
        <p:spPr>
          <a:xfrm>
            <a:off x="4672584" y="4952939"/>
            <a:ext cx="220969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内部状态机 / 计算资源</a:t>
            </a:r>
          </a:p>
        </p:txBody>
      </p:sp>
      <p:sp>
        <p:nvSpPr>
          <p:cNvPr id="29" name="text-033: 接受一次任务 → 执行 → 发布结果"/>
          <p:cNvSpPr txBox="1"/>
          <p:nvPr/>
        </p:nvSpPr>
        <p:spPr>
          <a:xfrm>
            <a:off x="4672584" y="5224333"/>
            <a:ext cx="3004109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接受一次任务 → 执行 → 发布结果</a:t>
            </a:r>
          </a:p>
        </p:txBody>
      </p:sp>
      <p:sp>
        <p:nvSpPr>
          <p:cNvPr id="30" name="text-034: 局部复位要处理已接受事务"/>
          <p:cNvSpPr txBox="1"/>
          <p:nvPr/>
        </p:nvSpPr>
        <p:spPr>
          <a:xfrm>
            <a:off x="4672584" y="543769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局部复位要处理已接受事务</a:t>
            </a:r>
          </a:p>
        </p:txBody>
      </p:sp>
      <p:sp>
        <p:nvSpPr>
          <p:cNvPr id="31" name="text-035: 异常结束须保留可诊断状态"/>
          <p:cNvSpPr txBox="1"/>
          <p:nvPr/>
        </p:nvSpPr>
        <p:spPr>
          <a:xfrm>
            <a:off x="4672584" y="565105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异常结束须保留可诊断状态</a:t>
            </a:r>
          </a:p>
        </p:txBody>
      </p:sp>
      <p:sp>
        <p:nvSpPr>
          <p:cNvPr id="32" name="rect-036"/>
          <p:cNvSpPr/>
          <p:nvPr/>
        </p:nvSpPr>
        <p:spPr>
          <a:xfrm>
            <a:off x="10099040" y="2755900"/>
            <a:ext cx="2311400" cy="1315720"/>
          </a:xfrm>
          <a:prstGeom prst="roundRect">
            <a:avLst>
              <a:gd name="adj" fmla="val 378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7"/>
          <p:cNvSpPr/>
          <p:nvPr/>
        </p:nvSpPr>
        <p:spPr>
          <a:xfrm>
            <a:off x="10099040" y="2755900"/>
            <a:ext cx="35560" cy="13157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8: 可选 AXI 主端"/>
          <p:cNvSpPr txBox="1"/>
          <p:nvPr/>
        </p:nvSpPr>
        <p:spPr>
          <a:xfrm>
            <a:off x="10219944" y="2783779"/>
            <a:ext cx="152552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可选 AXI 主端</a:t>
            </a:r>
          </a:p>
        </p:txBody>
      </p:sp>
      <p:sp>
        <p:nvSpPr>
          <p:cNvPr id="35" name="text-039: 地址 / 长度 / 对齐"/>
          <p:cNvSpPr txBox="1"/>
          <p:nvPr/>
        </p:nvSpPr>
        <p:spPr>
          <a:xfrm>
            <a:off x="10219944" y="3055173"/>
            <a:ext cx="1860499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 / 长度 / 对齐</a:t>
            </a:r>
          </a:p>
        </p:txBody>
      </p:sp>
      <p:sp>
        <p:nvSpPr>
          <p:cNvPr id="36" name="text-040: ID / 在途 / 错误恢复"/>
          <p:cNvSpPr txBox="1"/>
          <p:nvPr/>
        </p:nvSpPr>
        <p:spPr>
          <a:xfrm>
            <a:off x="10219944" y="3268533"/>
            <a:ext cx="208239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在途 / 错误恢复</a:t>
            </a:r>
          </a:p>
        </p:txBody>
      </p:sp>
      <p:sp>
        <p:nvSpPr>
          <p:cNvPr id="37" name="text-041: 共享缓冲区所有权"/>
          <p:cNvSpPr txBox="1"/>
          <p:nvPr/>
        </p:nvSpPr>
        <p:spPr>
          <a:xfrm>
            <a:off x="10219944" y="3481893"/>
            <a:ext cx="153619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共享缓冲区所有权</a:t>
            </a:r>
          </a:p>
        </p:txBody>
      </p:sp>
      <p:sp>
        <p:nvSpPr>
          <p:cNvPr id="38" name="rect-042"/>
          <p:cNvSpPr/>
          <p:nvPr/>
        </p:nvSpPr>
        <p:spPr>
          <a:xfrm>
            <a:off x="10099040" y="5031740"/>
            <a:ext cx="231140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3"/>
          <p:cNvSpPr/>
          <p:nvPr/>
        </p:nvSpPr>
        <p:spPr>
          <a:xfrm>
            <a:off x="10099040" y="503174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4: 可选 IRQ → PLIC"/>
          <p:cNvSpPr txBox="1"/>
          <p:nvPr/>
        </p:nvSpPr>
        <p:spPr>
          <a:xfrm>
            <a:off x="10219944" y="5059619"/>
            <a:ext cx="194157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可选 IRQ → PLIC</a:t>
            </a:r>
          </a:p>
        </p:txBody>
      </p:sp>
      <p:sp>
        <p:nvSpPr>
          <p:cNvPr id="41" name="text-045: 设备事件清除"/>
          <p:cNvSpPr txBox="1"/>
          <p:nvPr/>
        </p:nvSpPr>
        <p:spPr>
          <a:xfrm>
            <a:off x="10219944" y="5331013"/>
            <a:ext cx="11948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设备事件清除</a:t>
            </a:r>
          </a:p>
        </p:txBody>
      </p:sp>
      <p:sp>
        <p:nvSpPr>
          <p:cNvPr id="42" name="text-046: claim / complete"/>
          <p:cNvSpPr txBox="1"/>
          <p:nvPr/>
        </p:nvSpPr>
        <p:spPr>
          <a:xfrm>
            <a:off x="10219944" y="5544373"/>
            <a:ext cx="194584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3" name="text-047: 不替代结果检查"/>
          <p:cNvSpPr txBox="1"/>
          <p:nvPr/>
        </p:nvSpPr>
        <p:spPr>
          <a:xfrm>
            <a:off x="10219944" y="5757733"/>
            <a:ext cx="136550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不替代结果检查</a:t>
            </a:r>
          </a:p>
        </p:txBody>
      </p:sp>
      <p:sp>
        <p:nvSpPr>
          <p:cNvPr id="44" name="rect-048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49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50: 系统验收必须跨过接口边界"/>
          <p:cNvSpPr txBox="1"/>
          <p:nvPr/>
        </p:nvSpPr>
        <p:spPr>
          <a:xfrm>
            <a:off x="512064" y="7335459"/>
            <a:ext cx="240385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系统验收必须跨过接口边界</a:t>
            </a:r>
          </a:p>
        </p:txBody>
      </p:sp>
      <p:sp>
        <p:nvSpPr>
          <p:cNvPr id="47" name="text-051: 寄存器副作用 → 一次受控任务 → 数值结果 → 错误 / 超时 / 重置；增加"/>
          <p:cNvSpPr txBox="1"/>
          <p:nvPr/>
        </p:nvSpPr>
        <p:spPr>
          <a:xfrm>
            <a:off x="512064" y="7622215"/>
            <a:ext cx="920008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寄存器副作用 → 一次受控任务 → 数值结果 → 错误 / 超时 / 重置；增加主端还要验证地址权限、缓存可见性与跨域排空。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164840" y="30759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 fill="none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7787640" y="30759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 fill="none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10436860" y="3644900"/>
            <a:ext cx="586740" cy="1351280"/>
          </a:xfrm>
          <a:custGeom>
            <a:avLst/>
            <a:gdLst/>
            <a:ahLst/>
            <a:cxnLst/>
            <a:rect l="0" t="0" r="r" b="b"/>
            <a:pathLst>
              <a:path w="586740" h="1351280" fill="none">
                <a:moveTo>
                  <a:pt x="586740" y="0"/>
                </a:moveTo>
                <a:lnTo>
                  <a:pt x="0" y="1351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1778000" y="3644900"/>
            <a:ext cx="6685280" cy="1955800"/>
          </a:xfrm>
          <a:custGeom>
            <a:avLst/>
            <a:gdLst/>
            <a:ahLst/>
            <a:cxnLst/>
            <a:rect l="0" t="0" r="r" b="b"/>
            <a:pathLst>
              <a:path w="6685280" h="1955800" fill="none">
                <a:moveTo>
                  <a:pt x="6685280" y="1955800"/>
                </a:moveTo>
                <a:lnTo>
                  <a:pt x="0" y="195580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13: 外设事件进入 CPU：设备状态、PLIC 与 trap 服务闭环"/>
          <p:cNvSpPr txBox="1"/>
          <p:nvPr/>
        </p:nvSpPr>
        <p:spPr>
          <a:xfrm>
            <a:off x="483616" y="1071209"/>
            <a:ext cx="7104888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外设事件进入 CPU：设备状态、PLIC 与 trap 服务闭环</a:t>
            </a:r>
          </a:p>
        </p:txBody>
      </p:sp>
      <p:sp>
        <p:nvSpPr>
          <p:cNvPr id="10" name="text-014: PLIC 外部中断与 CLINT 定时器走不同入口；complete 不自动清除"/>
          <p:cNvSpPr txBox="1"/>
          <p:nvPr/>
        </p:nvSpPr>
        <p:spPr>
          <a:xfrm>
            <a:off x="483616" y="1476878"/>
            <a:ext cx="632221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外部中断与 CLINT 定时器走不同入口；complete 不自动清除设备事件。</a:t>
            </a:r>
          </a:p>
        </p:txBody>
      </p:sp>
      <p:sp>
        <p:nvSpPr>
          <p:cNvPr id="11" name="text-015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6: 源码：PLIC / CLINT 接入；CPU 中断门控；现有驱动与 trap h"/>
          <p:cNvSpPr txBox="1"/>
          <p:nvPr/>
        </p:nvSpPr>
        <p:spPr>
          <a:xfrm>
            <a:off x="341376" y="8526577"/>
            <a:ext cx="519176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源码：PLIC / CLINT 接入；CPU 中断门控；现有驱动与 trap handler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25069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-018"/>
          <p:cNvSpPr/>
          <p:nvPr/>
        </p:nvSpPr>
        <p:spPr>
          <a:xfrm>
            <a:off x="391160" y="25069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9: 设备事件"/>
          <p:cNvSpPr txBox="1"/>
          <p:nvPr/>
        </p:nvSpPr>
        <p:spPr>
          <a:xfrm>
            <a:off x="512064" y="2534859"/>
            <a:ext cx="92456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设备事件</a:t>
            </a:r>
          </a:p>
        </p:txBody>
      </p:sp>
      <p:sp>
        <p:nvSpPr>
          <p:cNvPr id="16" name="text-020: FIFO / 状态置位"/>
          <p:cNvSpPr txBox="1"/>
          <p:nvPr/>
        </p:nvSpPr>
        <p:spPr>
          <a:xfrm>
            <a:off x="512064" y="2806253"/>
            <a:ext cx="16300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FIFO / 状态置位</a:t>
            </a:r>
          </a:p>
        </p:txBody>
      </p:sp>
      <p:sp>
        <p:nvSpPr>
          <p:cNvPr id="17" name="text-021: 保持 IRQ 直到按协议清源"/>
          <p:cNvSpPr txBox="1"/>
          <p:nvPr/>
        </p:nvSpPr>
        <p:spPr>
          <a:xfrm>
            <a:off x="512064" y="3019613"/>
            <a:ext cx="226161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保持 IRQ 直到按协议清源</a:t>
            </a:r>
          </a:p>
        </p:txBody>
      </p:sp>
      <p:sp>
        <p:nvSpPr>
          <p:cNvPr id="18" name="rect-022"/>
          <p:cNvSpPr/>
          <p:nvPr/>
        </p:nvSpPr>
        <p:spPr>
          <a:xfrm>
            <a:off x="5013960" y="25069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-023"/>
          <p:cNvSpPr/>
          <p:nvPr/>
        </p:nvSpPr>
        <p:spPr>
          <a:xfrm>
            <a:off x="5013960" y="25069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-024: PLIC"/>
          <p:cNvSpPr txBox="1"/>
          <p:nvPr/>
        </p:nvSpPr>
        <p:spPr>
          <a:xfrm>
            <a:off x="5134864" y="2534859"/>
            <a:ext cx="66568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</a:t>
            </a:r>
          </a:p>
        </p:txBody>
      </p:sp>
      <p:sp>
        <p:nvSpPr>
          <p:cNvPr id="21" name="text-025: pending / priority"/>
          <p:cNvSpPr txBox="1"/>
          <p:nvPr/>
        </p:nvSpPr>
        <p:spPr>
          <a:xfrm>
            <a:off x="5134864" y="2806253"/>
            <a:ext cx="216773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/ priority</a:t>
            </a:r>
          </a:p>
        </p:txBody>
      </p:sp>
      <p:sp>
        <p:nvSpPr>
          <p:cNvPr id="22" name="text-026: enable / threshold"/>
          <p:cNvSpPr txBox="1"/>
          <p:nvPr/>
        </p:nvSpPr>
        <p:spPr>
          <a:xfrm>
            <a:off x="5134864" y="3019613"/>
            <a:ext cx="216773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enable / threshold</a:t>
            </a:r>
          </a:p>
        </p:txBody>
      </p:sp>
      <p:sp>
        <p:nvSpPr>
          <p:cNvPr id="23" name="rect-027"/>
          <p:cNvSpPr/>
          <p:nvPr/>
        </p:nvSpPr>
        <p:spPr>
          <a:xfrm>
            <a:off x="9636760" y="25069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28"/>
          <p:cNvSpPr/>
          <p:nvPr/>
        </p:nvSpPr>
        <p:spPr>
          <a:xfrm>
            <a:off x="9636760" y="250698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9: CPU CSR 门控"/>
          <p:cNvSpPr txBox="1"/>
          <p:nvPr/>
        </p:nvSpPr>
        <p:spPr>
          <a:xfrm>
            <a:off x="9757664" y="2534859"/>
            <a:ext cx="151627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CSR 门控</a:t>
            </a:r>
          </a:p>
        </p:txBody>
      </p:sp>
      <p:sp>
        <p:nvSpPr>
          <p:cNvPr id="26" name="text-030: mie / mstatus / mcause"/>
          <p:cNvSpPr txBox="1"/>
          <p:nvPr/>
        </p:nvSpPr>
        <p:spPr>
          <a:xfrm>
            <a:off x="9757664" y="2806253"/>
            <a:ext cx="261152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mie / mstatus / mcause</a:t>
            </a:r>
          </a:p>
        </p:txBody>
      </p:sp>
      <p:sp>
        <p:nvSpPr>
          <p:cNvPr id="27" name="text-031: 跳转 mtvec 的 trap 入口"/>
          <p:cNvSpPr txBox="1"/>
          <p:nvPr/>
        </p:nvSpPr>
        <p:spPr>
          <a:xfrm>
            <a:off x="9757664" y="3019613"/>
            <a:ext cx="246644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跳转 mtvec 的 trap 入口</a:t>
            </a:r>
          </a:p>
        </p:txBody>
      </p:sp>
      <p:sp>
        <p:nvSpPr>
          <p:cNvPr id="28" name="rect-032"/>
          <p:cNvSpPr/>
          <p:nvPr/>
        </p:nvSpPr>
        <p:spPr>
          <a:xfrm>
            <a:off x="8463280" y="4996180"/>
            <a:ext cx="39471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3"/>
          <p:cNvSpPr/>
          <p:nvPr/>
        </p:nvSpPr>
        <p:spPr>
          <a:xfrm>
            <a:off x="8463280" y="499618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4: 软件 handler"/>
          <p:cNvSpPr txBox="1"/>
          <p:nvPr/>
        </p:nvSpPr>
        <p:spPr>
          <a:xfrm>
            <a:off x="8584184" y="5024059"/>
            <a:ext cx="151627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软件 handler</a:t>
            </a:r>
          </a:p>
        </p:txBody>
      </p:sp>
      <p:sp>
        <p:nvSpPr>
          <p:cNvPr id="31" name="text-035: 识别外部中断 → PLIC claim"/>
          <p:cNvSpPr txBox="1"/>
          <p:nvPr/>
        </p:nvSpPr>
        <p:spPr>
          <a:xfrm>
            <a:off x="8584184" y="5295453"/>
            <a:ext cx="26968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识别外部中断 → PLIC claim</a:t>
            </a:r>
          </a:p>
        </p:txBody>
      </p:sp>
      <p:sp>
        <p:nvSpPr>
          <p:cNvPr id="32" name="text-036: 读取设备数据 / 清事件"/>
          <p:cNvSpPr txBox="1"/>
          <p:nvPr/>
        </p:nvSpPr>
        <p:spPr>
          <a:xfrm>
            <a:off x="8584184" y="5508813"/>
            <a:ext cx="203972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读取设备数据 / 清事件</a:t>
            </a:r>
          </a:p>
        </p:txBody>
      </p:sp>
      <p:sp>
        <p:nvSpPr>
          <p:cNvPr id="33" name="text-037: PLIC complete → mret"/>
          <p:cNvSpPr txBox="1"/>
          <p:nvPr/>
        </p:nvSpPr>
        <p:spPr>
          <a:xfrm>
            <a:off x="8584184" y="5722173"/>
            <a:ext cx="244937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complete → mret</a:t>
            </a:r>
          </a:p>
        </p:txBody>
      </p:sp>
      <p:sp>
        <p:nvSpPr>
          <p:cNvPr id="34" name="text-038: 处理并清设备源，再 complete；避免中断立即重入"/>
          <p:cNvSpPr txBox="1"/>
          <p:nvPr/>
        </p:nvSpPr>
        <p:spPr>
          <a:xfrm>
            <a:off x="2844800" y="5238557"/>
            <a:ext cx="424159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处理并清设备源，再 complete；避免中断立即重入</a:t>
            </a:r>
          </a:p>
        </p:txBody>
      </p:sp>
      <p:sp>
        <p:nvSpPr>
          <p:cNvPr id="35" name="rect-039"/>
          <p:cNvSpPr/>
          <p:nvPr/>
        </p:nvSpPr>
        <p:spPr>
          <a:xfrm>
            <a:off x="391160" y="68808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0"/>
          <p:cNvSpPr/>
          <p:nvPr/>
        </p:nvSpPr>
        <p:spPr>
          <a:xfrm>
            <a:off x="391160" y="68808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1: PLIC 的 claim / complete"/>
          <p:cNvSpPr txBox="1"/>
          <p:nvPr/>
        </p:nvSpPr>
        <p:spPr>
          <a:xfrm>
            <a:off x="512064" y="6908739"/>
            <a:ext cx="301406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 的 claim / complete</a:t>
            </a:r>
          </a:p>
        </p:txBody>
      </p:sp>
      <p:sp>
        <p:nvSpPr>
          <p:cNvPr id="38" name="text-042: claim 确认待服务来源；complete 结束服务状态"/>
          <p:cNvSpPr txBox="1"/>
          <p:nvPr/>
        </p:nvSpPr>
        <p:spPr>
          <a:xfrm>
            <a:off x="512064" y="7195495"/>
            <a:ext cx="387248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确认待服务来源；complete 结束服务状态</a:t>
            </a:r>
          </a:p>
        </p:txBody>
      </p:sp>
      <p:sp>
        <p:nvSpPr>
          <p:cNvPr id="39" name="text-043: 设备电平仍有效时，后续可能再次 pending"/>
          <p:cNvSpPr txBox="1"/>
          <p:nvPr/>
        </p:nvSpPr>
        <p:spPr>
          <a:xfrm>
            <a:off x="512064" y="7408855"/>
            <a:ext cx="3317037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设备电平仍有效时，后续可能再次 pending</a:t>
            </a:r>
          </a:p>
        </p:txBody>
      </p:sp>
      <p:sp>
        <p:nvSpPr>
          <p:cNvPr id="40" name="rect-044"/>
          <p:cNvSpPr/>
          <p:nvPr/>
        </p:nvSpPr>
        <p:spPr>
          <a:xfrm>
            <a:off x="6756400" y="68808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5"/>
          <p:cNvSpPr/>
          <p:nvPr/>
        </p:nvSpPr>
        <p:spPr>
          <a:xfrm>
            <a:off x="6756400" y="68808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6: CLINT：独立的计时器入口"/>
          <p:cNvSpPr txBox="1"/>
          <p:nvPr/>
        </p:nvSpPr>
        <p:spPr>
          <a:xfrm>
            <a:off x="6877304" y="6908739"/>
            <a:ext cx="24500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CLINT：独立的计时器入口</a:t>
            </a:r>
          </a:p>
        </p:txBody>
      </p:sp>
      <p:sp>
        <p:nvSpPr>
          <p:cNvPr id="43" name="text-047: mtime ≥ mtimecmp → MTIP → CPU 定时器中断"/>
          <p:cNvSpPr txBox="1"/>
          <p:nvPr/>
        </p:nvSpPr>
        <p:spPr>
          <a:xfrm>
            <a:off x="6877304" y="7195495"/>
            <a:ext cx="4154119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mtime ≥ mtimecmp → MTIP → CPU 定时器中断</a:t>
            </a:r>
          </a:p>
        </p:txBody>
      </p:sp>
      <p:sp>
        <p:nvSpPr>
          <p:cNvPr id="44" name="text-048: 处理后将比较值推迟到下一次到期时间"/>
          <p:cNvSpPr txBox="1"/>
          <p:nvPr/>
        </p:nvSpPr>
        <p:spPr>
          <a:xfrm>
            <a:off x="6877304" y="7408855"/>
            <a:ext cx="281635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处理后将比较值推迟到下一次到期时间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text-005: 64 位 AXI 数据拍中的 32 位寄存器访问"/>
          <p:cNvSpPr txBox="1"/>
          <p:nvPr/>
        </p:nvSpPr>
        <p:spPr>
          <a:xfrm>
            <a:off x="483616" y="1071209"/>
            <a:ext cx="5325466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64 位 AXI 数据拍中的 32 位寄存器访问</a:t>
            </a:r>
          </a:p>
        </p:txBody>
      </p:sp>
      <p:sp>
        <p:nvSpPr>
          <p:cNvPr id="6" name="text-006: 一个 64 位总线拍有 8 个字节 lane；地址、WSTRB、数据位置与读返回"/>
          <p:cNvSpPr txBox="1"/>
          <p:nvPr/>
        </p:nvSpPr>
        <p:spPr>
          <a:xfrm>
            <a:off x="483616" y="1476878"/>
            <a:ext cx="687837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一个 64 位总线拍有 8 个字节 lane；地址、WSTRB、数据位置与读返回必须一致适配。</a:t>
            </a:r>
          </a:p>
        </p:txBody>
      </p:sp>
      <p:sp>
        <p:nvSpPr>
          <p:cNvPr id="7" name="text-00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8" name="text-008: 依据：AXI byte-lane 语义；cheshire_idma_wrap 与"/>
          <p:cNvSpPr txBox="1"/>
          <p:nvPr/>
        </p:nvSpPr>
        <p:spPr>
          <a:xfrm>
            <a:off x="341376" y="8526577"/>
            <a:ext cx="731113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 byte-lane 语义；cheshire_idma_wrap 与 idma_reg64_2d_reg_top 的当前接口差异</a:t>
            </a:r>
          </a:p>
        </p:txBody>
      </p:sp>
      <p:sp>
        <p:nvSpPr>
          <p:cNvPr id="9" name="text-009: 地址 +0：低 32 位有效"/>
          <p:cNvSpPr txBox="1"/>
          <p:nvPr/>
        </p:nvSpPr>
        <p:spPr>
          <a:xfrm>
            <a:off x="426720" y="2141992"/>
            <a:ext cx="2588412" cy="329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地址 +0：低 32 位有效</a:t>
            </a:r>
          </a:p>
        </p:txBody>
      </p:sp>
      <p:sp>
        <p:nvSpPr>
          <p:cNvPr id="10" name="text-010: 地址 +4：高 32 位有效"/>
          <p:cNvSpPr txBox="1"/>
          <p:nvPr/>
        </p:nvSpPr>
        <p:spPr>
          <a:xfrm>
            <a:off x="426720" y="4311152"/>
            <a:ext cx="2588412" cy="3299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地址 +4：高 32 位有效</a:t>
            </a:r>
          </a:p>
        </p:txBody>
      </p:sp>
      <p:sp>
        <p:nvSpPr>
          <p:cNvPr id="11" name="rect-011"/>
          <p:cNvSpPr/>
          <p:nvPr/>
        </p:nvSpPr>
        <p:spPr>
          <a:xfrm>
            <a:off x="462280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-012"/>
          <p:cNvSpPr/>
          <p:nvPr/>
        </p:nvSpPr>
        <p:spPr>
          <a:xfrm>
            <a:off x="462280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3: lane 0"/>
          <p:cNvSpPr txBox="1"/>
          <p:nvPr/>
        </p:nvSpPr>
        <p:spPr>
          <a:xfrm>
            <a:off x="583184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14" name="text-014: bit 7:0"/>
          <p:cNvSpPr txBox="1"/>
          <p:nvPr/>
        </p:nvSpPr>
        <p:spPr>
          <a:xfrm>
            <a:off x="583184" y="2956174"/>
            <a:ext cx="90784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15" name="text-015: STRB[0] = 1"/>
          <p:cNvSpPr txBox="1"/>
          <p:nvPr/>
        </p:nvSpPr>
        <p:spPr>
          <a:xfrm>
            <a:off x="583184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1</a:t>
            </a:r>
          </a:p>
        </p:txBody>
      </p:sp>
      <p:sp>
        <p:nvSpPr>
          <p:cNvPr id="16" name="text-016: 有效字节"/>
          <p:cNvSpPr txBox="1"/>
          <p:nvPr/>
        </p:nvSpPr>
        <p:spPr>
          <a:xfrm>
            <a:off x="583184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7" name="rect-017"/>
          <p:cNvSpPr/>
          <p:nvPr/>
        </p:nvSpPr>
        <p:spPr>
          <a:xfrm>
            <a:off x="1948688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-018"/>
          <p:cNvSpPr/>
          <p:nvPr/>
        </p:nvSpPr>
        <p:spPr>
          <a:xfrm>
            <a:off x="1948688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19: lane 1"/>
          <p:cNvSpPr txBox="1"/>
          <p:nvPr/>
        </p:nvSpPr>
        <p:spPr>
          <a:xfrm>
            <a:off x="2069592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20" name="text-020: bit 15:8"/>
          <p:cNvSpPr txBox="1"/>
          <p:nvPr/>
        </p:nvSpPr>
        <p:spPr>
          <a:xfrm>
            <a:off x="2069592" y="2956174"/>
            <a:ext cx="101417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21" name="text-021: STRB[1] = 1"/>
          <p:cNvSpPr txBox="1"/>
          <p:nvPr/>
        </p:nvSpPr>
        <p:spPr>
          <a:xfrm>
            <a:off x="2069592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1</a:t>
            </a:r>
          </a:p>
        </p:txBody>
      </p:sp>
      <p:sp>
        <p:nvSpPr>
          <p:cNvPr id="22" name="text-022: 有效字节"/>
          <p:cNvSpPr txBox="1"/>
          <p:nvPr/>
        </p:nvSpPr>
        <p:spPr>
          <a:xfrm>
            <a:off x="2069592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3" name="rect-023"/>
          <p:cNvSpPr/>
          <p:nvPr/>
        </p:nvSpPr>
        <p:spPr>
          <a:xfrm>
            <a:off x="3435096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24"/>
          <p:cNvSpPr/>
          <p:nvPr/>
        </p:nvSpPr>
        <p:spPr>
          <a:xfrm>
            <a:off x="3435096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5: lane 2"/>
          <p:cNvSpPr txBox="1"/>
          <p:nvPr/>
        </p:nvSpPr>
        <p:spPr>
          <a:xfrm>
            <a:off x="3556000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26" name="text-026: bit 23:16"/>
          <p:cNvSpPr txBox="1"/>
          <p:nvPr/>
        </p:nvSpPr>
        <p:spPr>
          <a:xfrm>
            <a:off x="3556000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27" name="text-027: STRB[2] = 1"/>
          <p:cNvSpPr txBox="1"/>
          <p:nvPr/>
        </p:nvSpPr>
        <p:spPr>
          <a:xfrm>
            <a:off x="3556000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1</a:t>
            </a:r>
          </a:p>
        </p:txBody>
      </p:sp>
      <p:sp>
        <p:nvSpPr>
          <p:cNvPr id="28" name="text-028: 有效字节"/>
          <p:cNvSpPr txBox="1"/>
          <p:nvPr/>
        </p:nvSpPr>
        <p:spPr>
          <a:xfrm>
            <a:off x="3556000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9" name="rect-029"/>
          <p:cNvSpPr/>
          <p:nvPr/>
        </p:nvSpPr>
        <p:spPr>
          <a:xfrm>
            <a:off x="4921504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-030"/>
          <p:cNvSpPr/>
          <p:nvPr/>
        </p:nvSpPr>
        <p:spPr>
          <a:xfrm>
            <a:off x="4921504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31: lane 3"/>
          <p:cNvSpPr txBox="1"/>
          <p:nvPr/>
        </p:nvSpPr>
        <p:spPr>
          <a:xfrm>
            <a:off x="5042408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32" name="text-032: bit 31:24"/>
          <p:cNvSpPr txBox="1"/>
          <p:nvPr/>
        </p:nvSpPr>
        <p:spPr>
          <a:xfrm>
            <a:off x="5042408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33" name="text-033: STRB[3] = 1"/>
          <p:cNvSpPr txBox="1"/>
          <p:nvPr/>
        </p:nvSpPr>
        <p:spPr>
          <a:xfrm>
            <a:off x="5042408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1</a:t>
            </a:r>
          </a:p>
        </p:txBody>
      </p:sp>
      <p:sp>
        <p:nvSpPr>
          <p:cNvPr id="34" name="text-034: 有效字节"/>
          <p:cNvSpPr txBox="1"/>
          <p:nvPr/>
        </p:nvSpPr>
        <p:spPr>
          <a:xfrm>
            <a:off x="5042408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5" name="rect-035"/>
          <p:cNvSpPr/>
          <p:nvPr/>
        </p:nvSpPr>
        <p:spPr>
          <a:xfrm>
            <a:off x="6407912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36"/>
          <p:cNvSpPr/>
          <p:nvPr/>
        </p:nvSpPr>
        <p:spPr>
          <a:xfrm>
            <a:off x="6407912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37: lane 4"/>
          <p:cNvSpPr txBox="1"/>
          <p:nvPr/>
        </p:nvSpPr>
        <p:spPr>
          <a:xfrm>
            <a:off x="6528816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38" name="text-038: bit 39:32"/>
          <p:cNvSpPr txBox="1"/>
          <p:nvPr/>
        </p:nvSpPr>
        <p:spPr>
          <a:xfrm>
            <a:off x="6528816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39" name="text-039: STRB[4] = 0"/>
          <p:cNvSpPr txBox="1"/>
          <p:nvPr/>
        </p:nvSpPr>
        <p:spPr>
          <a:xfrm>
            <a:off x="6528816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0</a:t>
            </a:r>
          </a:p>
        </p:txBody>
      </p:sp>
      <p:sp>
        <p:nvSpPr>
          <p:cNvPr id="40" name="text-040: 不写入"/>
          <p:cNvSpPr txBox="1"/>
          <p:nvPr/>
        </p:nvSpPr>
        <p:spPr>
          <a:xfrm>
            <a:off x="6528816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1" name="rect-041"/>
          <p:cNvSpPr/>
          <p:nvPr/>
        </p:nvSpPr>
        <p:spPr>
          <a:xfrm>
            <a:off x="7894320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2"/>
          <p:cNvSpPr/>
          <p:nvPr/>
        </p:nvSpPr>
        <p:spPr>
          <a:xfrm>
            <a:off x="7894320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3: lane 5"/>
          <p:cNvSpPr txBox="1"/>
          <p:nvPr/>
        </p:nvSpPr>
        <p:spPr>
          <a:xfrm>
            <a:off x="8015224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44" name="text-044: bit 47:40"/>
          <p:cNvSpPr txBox="1"/>
          <p:nvPr/>
        </p:nvSpPr>
        <p:spPr>
          <a:xfrm>
            <a:off x="8015224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45" name="text-045: STRB[5] = 0"/>
          <p:cNvSpPr txBox="1"/>
          <p:nvPr/>
        </p:nvSpPr>
        <p:spPr>
          <a:xfrm>
            <a:off x="8015224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0</a:t>
            </a:r>
          </a:p>
        </p:txBody>
      </p:sp>
      <p:sp>
        <p:nvSpPr>
          <p:cNvPr id="46" name="text-046: 不写入"/>
          <p:cNvSpPr txBox="1"/>
          <p:nvPr/>
        </p:nvSpPr>
        <p:spPr>
          <a:xfrm>
            <a:off x="8015224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7" name="rect-047"/>
          <p:cNvSpPr/>
          <p:nvPr/>
        </p:nvSpPr>
        <p:spPr>
          <a:xfrm>
            <a:off x="9380728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48"/>
          <p:cNvSpPr/>
          <p:nvPr/>
        </p:nvSpPr>
        <p:spPr>
          <a:xfrm>
            <a:off x="9380728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49: lane 6"/>
          <p:cNvSpPr txBox="1"/>
          <p:nvPr/>
        </p:nvSpPr>
        <p:spPr>
          <a:xfrm>
            <a:off x="9501632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50" name="text-050: bit 55:48"/>
          <p:cNvSpPr txBox="1"/>
          <p:nvPr/>
        </p:nvSpPr>
        <p:spPr>
          <a:xfrm>
            <a:off x="9501632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51" name="text-051: STRB[6] = 0"/>
          <p:cNvSpPr txBox="1"/>
          <p:nvPr/>
        </p:nvSpPr>
        <p:spPr>
          <a:xfrm>
            <a:off x="9501632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0</a:t>
            </a:r>
          </a:p>
        </p:txBody>
      </p:sp>
      <p:sp>
        <p:nvSpPr>
          <p:cNvPr id="52" name="text-052: 不写入"/>
          <p:cNvSpPr txBox="1"/>
          <p:nvPr/>
        </p:nvSpPr>
        <p:spPr>
          <a:xfrm>
            <a:off x="9501632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3" name="rect-053"/>
          <p:cNvSpPr/>
          <p:nvPr/>
        </p:nvSpPr>
        <p:spPr>
          <a:xfrm>
            <a:off x="10867136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-054"/>
          <p:cNvSpPr/>
          <p:nvPr/>
        </p:nvSpPr>
        <p:spPr>
          <a:xfrm>
            <a:off x="10867136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-055: lane 7"/>
          <p:cNvSpPr txBox="1"/>
          <p:nvPr/>
        </p:nvSpPr>
        <p:spPr>
          <a:xfrm>
            <a:off x="10988040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56" name="text-056: bit 63:56"/>
          <p:cNvSpPr txBox="1"/>
          <p:nvPr/>
        </p:nvSpPr>
        <p:spPr>
          <a:xfrm>
            <a:off x="10988040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57" name="text-057: STRB[7] = 0"/>
          <p:cNvSpPr txBox="1"/>
          <p:nvPr/>
        </p:nvSpPr>
        <p:spPr>
          <a:xfrm>
            <a:off x="10988040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0</a:t>
            </a:r>
          </a:p>
        </p:txBody>
      </p:sp>
      <p:sp>
        <p:nvSpPr>
          <p:cNvPr id="58" name="text-058: 不写入"/>
          <p:cNvSpPr txBox="1"/>
          <p:nvPr/>
        </p:nvSpPr>
        <p:spPr>
          <a:xfrm>
            <a:off x="10988040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9" name="text-059: WSTRB = 0x0F；WDATA[31:0] = value"/>
          <p:cNvSpPr txBox="1"/>
          <p:nvPr/>
        </p:nvSpPr>
        <p:spPr>
          <a:xfrm>
            <a:off x="533400" y="3957259"/>
            <a:ext cx="409580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WSTRB = 0x0F；WDATA[31:0] = value</a:t>
            </a:r>
          </a:p>
        </p:txBody>
      </p:sp>
      <p:sp>
        <p:nvSpPr>
          <p:cNvPr id="60" name="rect-060"/>
          <p:cNvSpPr/>
          <p:nvPr/>
        </p:nvSpPr>
        <p:spPr>
          <a:xfrm>
            <a:off x="462280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-061"/>
          <p:cNvSpPr/>
          <p:nvPr/>
        </p:nvSpPr>
        <p:spPr>
          <a:xfrm>
            <a:off x="462280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-062: lane 0"/>
          <p:cNvSpPr txBox="1"/>
          <p:nvPr/>
        </p:nvSpPr>
        <p:spPr>
          <a:xfrm>
            <a:off x="583184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63" name="text-063: bit 7:0"/>
          <p:cNvSpPr txBox="1"/>
          <p:nvPr/>
        </p:nvSpPr>
        <p:spPr>
          <a:xfrm>
            <a:off x="583184" y="5125334"/>
            <a:ext cx="90784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64" name="text-064: STRB[0] = 0"/>
          <p:cNvSpPr txBox="1"/>
          <p:nvPr/>
        </p:nvSpPr>
        <p:spPr>
          <a:xfrm>
            <a:off x="583184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0</a:t>
            </a:r>
          </a:p>
        </p:txBody>
      </p:sp>
      <p:sp>
        <p:nvSpPr>
          <p:cNvPr id="65" name="text-065: 不写入"/>
          <p:cNvSpPr txBox="1"/>
          <p:nvPr/>
        </p:nvSpPr>
        <p:spPr>
          <a:xfrm>
            <a:off x="583184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6" name="rect-066"/>
          <p:cNvSpPr/>
          <p:nvPr/>
        </p:nvSpPr>
        <p:spPr>
          <a:xfrm>
            <a:off x="1948688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-067"/>
          <p:cNvSpPr/>
          <p:nvPr/>
        </p:nvSpPr>
        <p:spPr>
          <a:xfrm>
            <a:off x="1948688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-068: lane 1"/>
          <p:cNvSpPr txBox="1"/>
          <p:nvPr/>
        </p:nvSpPr>
        <p:spPr>
          <a:xfrm>
            <a:off x="2069592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69" name="text-069: bit 15:8"/>
          <p:cNvSpPr txBox="1"/>
          <p:nvPr/>
        </p:nvSpPr>
        <p:spPr>
          <a:xfrm>
            <a:off x="2069592" y="5125334"/>
            <a:ext cx="101417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70" name="text-070: STRB[1] = 0"/>
          <p:cNvSpPr txBox="1"/>
          <p:nvPr/>
        </p:nvSpPr>
        <p:spPr>
          <a:xfrm>
            <a:off x="2069592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0</a:t>
            </a:r>
          </a:p>
        </p:txBody>
      </p:sp>
      <p:sp>
        <p:nvSpPr>
          <p:cNvPr id="71" name="text-071: 不写入"/>
          <p:cNvSpPr txBox="1"/>
          <p:nvPr/>
        </p:nvSpPr>
        <p:spPr>
          <a:xfrm>
            <a:off x="2069592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2" name="rect-072"/>
          <p:cNvSpPr/>
          <p:nvPr/>
        </p:nvSpPr>
        <p:spPr>
          <a:xfrm>
            <a:off x="3435096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-073"/>
          <p:cNvSpPr/>
          <p:nvPr/>
        </p:nvSpPr>
        <p:spPr>
          <a:xfrm>
            <a:off x="3435096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-074: lane 2"/>
          <p:cNvSpPr txBox="1"/>
          <p:nvPr/>
        </p:nvSpPr>
        <p:spPr>
          <a:xfrm>
            <a:off x="3556000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75" name="text-075: bit 23:16"/>
          <p:cNvSpPr txBox="1"/>
          <p:nvPr/>
        </p:nvSpPr>
        <p:spPr>
          <a:xfrm>
            <a:off x="3556000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76" name="text-076: STRB[2] = 0"/>
          <p:cNvSpPr txBox="1"/>
          <p:nvPr/>
        </p:nvSpPr>
        <p:spPr>
          <a:xfrm>
            <a:off x="3556000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0</a:t>
            </a:r>
          </a:p>
        </p:txBody>
      </p:sp>
      <p:sp>
        <p:nvSpPr>
          <p:cNvPr id="77" name="text-077: 不写入"/>
          <p:cNvSpPr txBox="1"/>
          <p:nvPr/>
        </p:nvSpPr>
        <p:spPr>
          <a:xfrm>
            <a:off x="3556000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8" name="rect-078"/>
          <p:cNvSpPr/>
          <p:nvPr/>
        </p:nvSpPr>
        <p:spPr>
          <a:xfrm>
            <a:off x="4921504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-079"/>
          <p:cNvSpPr/>
          <p:nvPr/>
        </p:nvSpPr>
        <p:spPr>
          <a:xfrm>
            <a:off x="4921504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-080: lane 3"/>
          <p:cNvSpPr txBox="1"/>
          <p:nvPr/>
        </p:nvSpPr>
        <p:spPr>
          <a:xfrm>
            <a:off x="5042408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81" name="text-081: bit 31:24"/>
          <p:cNvSpPr txBox="1"/>
          <p:nvPr/>
        </p:nvSpPr>
        <p:spPr>
          <a:xfrm>
            <a:off x="5042408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82" name="text-082: STRB[3] = 0"/>
          <p:cNvSpPr txBox="1"/>
          <p:nvPr/>
        </p:nvSpPr>
        <p:spPr>
          <a:xfrm>
            <a:off x="5042408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0</a:t>
            </a:r>
          </a:p>
        </p:txBody>
      </p:sp>
      <p:sp>
        <p:nvSpPr>
          <p:cNvPr id="83" name="text-083: 不写入"/>
          <p:cNvSpPr txBox="1"/>
          <p:nvPr/>
        </p:nvSpPr>
        <p:spPr>
          <a:xfrm>
            <a:off x="5042408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84" name="rect-084"/>
          <p:cNvSpPr/>
          <p:nvPr/>
        </p:nvSpPr>
        <p:spPr>
          <a:xfrm>
            <a:off x="6407912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-085"/>
          <p:cNvSpPr/>
          <p:nvPr/>
        </p:nvSpPr>
        <p:spPr>
          <a:xfrm>
            <a:off x="6407912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-086: lane 4"/>
          <p:cNvSpPr txBox="1"/>
          <p:nvPr/>
        </p:nvSpPr>
        <p:spPr>
          <a:xfrm>
            <a:off x="6528816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87" name="text-087: bit 39:32"/>
          <p:cNvSpPr txBox="1"/>
          <p:nvPr/>
        </p:nvSpPr>
        <p:spPr>
          <a:xfrm>
            <a:off x="6528816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88" name="text-088: STRB[4] = 1"/>
          <p:cNvSpPr txBox="1"/>
          <p:nvPr/>
        </p:nvSpPr>
        <p:spPr>
          <a:xfrm>
            <a:off x="6528816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1</a:t>
            </a:r>
          </a:p>
        </p:txBody>
      </p:sp>
      <p:sp>
        <p:nvSpPr>
          <p:cNvPr id="89" name="text-089: 有效字节"/>
          <p:cNvSpPr txBox="1"/>
          <p:nvPr/>
        </p:nvSpPr>
        <p:spPr>
          <a:xfrm>
            <a:off x="6528816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0" name="rect-090"/>
          <p:cNvSpPr/>
          <p:nvPr/>
        </p:nvSpPr>
        <p:spPr>
          <a:xfrm>
            <a:off x="7894320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-091"/>
          <p:cNvSpPr/>
          <p:nvPr/>
        </p:nvSpPr>
        <p:spPr>
          <a:xfrm>
            <a:off x="7894320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-092: lane 5"/>
          <p:cNvSpPr txBox="1"/>
          <p:nvPr/>
        </p:nvSpPr>
        <p:spPr>
          <a:xfrm>
            <a:off x="8015224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93" name="text-093: bit 47:40"/>
          <p:cNvSpPr txBox="1"/>
          <p:nvPr/>
        </p:nvSpPr>
        <p:spPr>
          <a:xfrm>
            <a:off x="8015224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94" name="text-094: STRB[5] = 1"/>
          <p:cNvSpPr txBox="1"/>
          <p:nvPr/>
        </p:nvSpPr>
        <p:spPr>
          <a:xfrm>
            <a:off x="8015224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1</a:t>
            </a:r>
          </a:p>
        </p:txBody>
      </p:sp>
      <p:sp>
        <p:nvSpPr>
          <p:cNvPr id="95" name="text-095: 有效字节"/>
          <p:cNvSpPr txBox="1"/>
          <p:nvPr/>
        </p:nvSpPr>
        <p:spPr>
          <a:xfrm>
            <a:off x="8015224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6" name="rect-096"/>
          <p:cNvSpPr/>
          <p:nvPr/>
        </p:nvSpPr>
        <p:spPr>
          <a:xfrm>
            <a:off x="9380728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-097"/>
          <p:cNvSpPr/>
          <p:nvPr/>
        </p:nvSpPr>
        <p:spPr>
          <a:xfrm>
            <a:off x="9380728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-098: lane 6"/>
          <p:cNvSpPr txBox="1"/>
          <p:nvPr/>
        </p:nvSpPr>
        <p:spPr>
          <a:xfrm>
            <a:off x="9501632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99" name="text-099: bit 55:48"/>
          <p:cNvSpPr txBox="1"/>
          <p:nvPr/>
        </p:nvSpPr>
        <p:spPr>
          <a:xfrm>
            <a:off x="9501632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100" name="text-100: STRB[6] = 1"/>
          <p:cNvSpPr txBox="1"/>
          <p:nvPr/>
        </p:nvSpPr>
        <p:spPr>
          <a:xfrm>
            <a:off x="9501632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1</a:t>
            </a:r>
          </a:p>
        </p:txBody>
      </p:sp>
      <p:sp>
        <p:nvSpPr>
          <p:cNvPr id="101" name="text-101: 有效字节"/>
          <p:cNvSpPr txBox="1"/>
          <p:nvPr/>
        </p:nvSpPr>
        <p:spPr>
          <a:xfrm>
            <a:off x="9501632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2" name="rect-102"/>
          <p:cNvSpPr/>
          <p:nvPr/>
        </p:nvSpPr>
        <p:spPr>
          <a:xfrm>
            <a:off x="10867136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-103"/>
          <p:cNvSpPr/>
          <p:nvPr/>
        </p:nvSpPr>
        <p:spPr>
          <a:xfrm>
            <a:off x="10867136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-104: lane 7"/>
          <p:cNvSpPr txBox="1"/>
          <p:nvPr/>
        </p:nvSpPr>
        <p:spPr>
          <a:xfrm>
            <a:off x="10988040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105" name="text-105: bit 63:56"/>
          <p:cNvSpPr txBox="1"/>
          <p:nvPr/>
        </p:nvSpPr>
        <p:spPr>
          <a:xfrm>
            <a:off x="10988040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106" name="text-106: STRB[7] = 1"/>
          <p:cNvSpPr txBox="1"/>
          <p:nvPr/>
        </p:nvSpPr>
        <p:spPr>
          <a:xfrm>
            <a:off x="10988040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1</a:t>
            </a:r>
          </a:p>
        </p:txBody>
      </p:sp>
      <p:sp>
        <p:nvSpPr>
          <p:cNvPr id="107" name="text-107: 有效字节"/>
          <p:cNvSpPr txBox="1"/>
          <p:nvPr/>
        </p:nvSpPr>
        <p:spPr>
          <a:xfrm>
            <a:off x="10988040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8" name="text-108: WSTRB = 0xF0；WDATA[63:32] = value"/>
          <p:cNvSpPr txBox="1"/>
          <p:nvPr/>
        </p:nvSpPr>
        <p:spPr>
          <a:xfrm>
            <a:off x="533400" y="6126419"/>
            <a:ext cx="421599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WSTRB = 0xF0；WDATA[63:32] = value</a:t>
            </a:r>
          </a:p>
        </p:txBody>
      </p:sp>
      <p:sp>
        <p:nvSpPr>
          <p:cNvPr id="109" name="rect-109"/>
          <p:cNvSpPr/>
          <p:nvPr/>
        </p:nvSpPr>
        <p:spPr>
          <a:xfrm>
            <a:off x="462280" y="7094220"/>
            <a:ext cx="5618480" cy="910336"/>
          </a:xfrm>
          <a:prstGeom prst="roundRect">
            <a:avLst>
              <a:gd name="adj" fmla="val 546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-110"/>
          <p:cNvSpPr/>
          <p:nvPr/>
        </p:nvSpPr>
        <p:spPr>
          <a:xfrm>
            <a:off x="462280" y="7094220"/>
            <a:ext cx="35560" cy="9103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-111: 桥的写方向"/>
          <p:cNvSpPr txBox="1"/>
          <p:nvPr/>
        </p:nvSpPr>
        <p:spPr>
          <a:xfrm>
            <a:off x="583184" y="712209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桥的写方向</a:t>
            </a:r>
          </a:p>
        </p:txBody>
      </p:sp>
      <p:sp>
        <p:nvSpPr>
          <p:cNvPr id="112" name="text-112: 按地址选择 lane → 提取对应 32 位 → 保持字节使能"/>
          <p:cNvSpPr txBox="1"/>
          <p:nvPr/>
        </p:nvSpPr>
        <p:spPr>
          <a:xfrm>
            <a:off x="583184" y="7408855"/>
            <a:ext cx="4294937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按地址选择 lane → 提取对应 32 位 → 保持字节使能</a:t>
            </a:r>
          </a:p>
        </p:txBody>
      </p:sp>
      <p:sp>
        <p:nvSpPr>
          <p:cNvPr id="113" name="text-113: 只改变 typedef 位宽，不会自动完成数据搬移"/>
          <p:cNvSpPr txBox="1"/>
          <p:nvPr/>
        </p:nvSpPr>
        <p:spPr>
          <a:xfrm>
            <a:off x="583184" y="7622215"/>
            <a:ext cx="357520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只改变 typedef 位宽，不会自动完成数据搬移</a:t>
            </a:r>
          </a:p>
        </p:txBody>
      </p:sp>
      <p:sp>
        <p:nvSpPr>
          <p:cNvPr id="114" name="rect-114"/>
          <p:cNvSpPr/>
          <p:nvPr/>
        </p:nvSpPr>
        <p:spPr>
          <a:xfrm>
            <a:off x="6436360" y="7094220"/>
            <a:ext cx="5867400" cy="910336"/>
          </a:xfrm>
          <a:prstGeom prst="roundRect">
            <a:avLst>
              <a:gd name="adj" fmla="val 546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-115"/>
          <p:cNvSpPr/>
          <p:nvPr/>
        </p:nvSpPr>
        <p:spPr>
          <a:xfrm>
            <a:off x="6436360" y="7094220"/>
            <a:ext cx="35560" cy="9103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-116: 桥的读方向"/>
          <p:cNvSpPr txBox="1"/>
          <p:nvPr/>
        </p:nvSpPr>
        <p:spPr>
          <a:xfrm>
            <a:off x="6557264" y="712209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桥的读方向</a:t>
            </a:r>
          </a:p>
        </p:txBody>
      </p:sp>
      <p:sp>
        <p:nvSpPr>
          <p:cNvPr id="117" name="text-117: 32 位寄存器值须回填到正确的 64 位总线 lane"/>
          <p:cNvSpPr txBox="1"/>
          <p:nvPr/>
        </p:nvSpPr>
        <p:spPr>
          <a:xfrm>
            <a:off x="6557264" y="7408855"/>
            <a:ext cx="372384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32 位寄存器值须回填到正确的 64 位总线 lane</a:t>
            </a:r>
          </a:p>
        </p:txBody>
      </p:sp>
      <p:sp>
        <p:nvSpPr>
          <p:cNvPr id="118" name="text-118: DMA 控制位宽与 HAL ID 访问问题仍待专项验证"/>
          <p:cNvSpPr txBox="1"/>
          <p:nvPr/>
        </p:nvSpPr>
        <p:spPr>
          <a:xfrm>
            <a:off x="6557264" y="7622215"/>
            <a:ext cx="372384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DMA 控制位宽与 HAL ID 访问问题仍待专项验证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5582920" y="2222500"/>
            <a:ext cx="6614160" cy="3769360"/>
          </a:xfrm>
          <a:prstGeom prst="roundRect">
            <a:avLst>
              <a:gd name="adj" fmla="val 22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4053840" y="2933700"/>
            <a:ext cx="1529080" cy="924560"/>
          </a:xfrm>
          <a:custGeom>
            <a:avLst/>
            <a:gdLst/>
            <a:ahLst/>
            <a:cxnLst/>
            <a:rect l="0" t="0" r="r" b="b"/>
            <a:pathLst>
              <a:path w="1529080" h="924560" fill="none">
                <a:moveTo>
                  <a:pt x="0" y="0"/>
                </a:moveTo>
                <a:lnTo>
                  <a:pt x="853440" y="0"/>
                </a:lnTo>
                <a:lnTo>
                  <a:pt x="853440" y="924560"/>
                </a:lnTo>
                <a:lnTo>
                  <a:pt x="1529080" y="9245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4053840" y="4320540"/>
            <a:ext cx="1529080" cy="284480"/>
          </a:xfrm>
          <a:custGeom>
            <a:avLst/>
            <a:gdLst/>
            <a:ahLst/>
            <a:cxnLst/>
            <a:rect l="0" t="0" r="r" b="b"/>
            <a:pathLst>
              <a:path w="1529080" h="284480" fill="none">
                <a:moveTo>
                  <a:pt x="0" y="284480"/>
                </a:moveTo>
                <a:lnTo>
                  <a:pt x="1066800" y="284480"/>
                </a:lnTo>
                <a:lnTo>
                  <a:pt x="1066800" y="0"/>
                </a:lnTo>
                <a:lnTo>
                  <a:pt x="1529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5298440" y="7165340"/>
            <a:ext cx="1671320" cy="1"/>
          </a:xfrm>
          <a:custGeom>
            <a:avLst/>
            <a:gdLst/>
            <a:ahLst/>
            <a:cxnLst/>
            <a:rect l="0" t="0" r="r" b="b"/>
            <a:pathLst>
              <a:path w="1671320" h="1" fill="none">
                <a:moveTo>
                  <a:pt x="0" y="0"/>
                </a:moveTo>
                <a:lnTo>
                  <a:pt x="1671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2"/>
          <p:cNvSpPr/>
          <p:nvPr/>
        </p:nvSpPr>
        <p:spPr>
          <a:xfrm>
            <a:off x="8818880" y="5991860"/>
            <a:ext cx="568960" cy="640080"/>
          </a:xfrm>
          <a:custGeom>
            <a:avLst/>
            <a:gdLst/>
            <a:ahLst/>
            <a:cxnLst/>
            <a:rect l="0" t="0" r="r" b="b"/>
            <a:pathLst>
              <a:path w="568960" h="640080" fill="none">
                <a:moveTo>
                  <a:pt x="0" y="0"/>
                </a:moveTo>
                <a:lnTo>
                  <a:pt x="0" y="426720"/>
                </a:lnTo>
                <a:lnTo>
                  <a:pt x="568960" y="426720"/>
                </a:lnTo>
                <a:lnTo>
                  <a:pt x="568960" y="64008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4: LLC / SPM：两个别名如何访问同一组 ways"/>
          <p:cNvSpPr txBox="1"/>
          <p:nvPr/>
        </p:nvSpPr>
        <p:spPr>
          <a:xfrm>
            <a:off x="483616" y="1071209"/>
            <a:ext cx="5658307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LLC / SPM：两个别名如何访问同一组 ways</a:t>
            </a:r>
          </a:p>
        </p:txBody>
      </p:sp>
      <p:sp>
        <p:nvSpPr>
          <p:cNvPr id="11" name="text-015: 默认阵列：8 ways × 256 lines × 8 blocks × 8 B"/>
          <p:cNvSpPr txBox="1"/>
          <p:nvPr/>
        </p:nvSpPr>
        <p:spPr>
          <a:xfrm>
            <a:off x="483616" y="1476878"/>
            <a:ext cx="776986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默认阵列：8 ways × 256 lines × 8 blocks × 8 B = 128 KiB；图中 way 分配仅示意。</a:t>
            </a:r>
          </a:p>
        </p:txBody>
      </p:sp>
      <p:sp>
        <p:nvSpPr>
          <p:cNvPr id="12" name="text-01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7: 源码：cheshire_pkg.sv::get_llc_size；cheshir"/>
          <p:cNvSpPr txBox="1"/>
          <p:nvPr/>
        </p:nvSpPr>
        <p:spPr>
          <a:xfrm>
            <a:off x="341376" y="8526577"/>
            <a:ext cx="677773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源码：cheshire_pkg.sv::get_llc_size；cheshire_soc.sv::gen_llc；axi_llc 依赖</a:t>
            </a:r>
          </a:p>
        </p:txBody>
      </p:sp>
      <p:sp>
        <p:nvSpPr>
          <p:cNvPr id="14" name="rect-018"/>
          <p:cNvSpPr/>
          <p:nvPr/>
        </p:nvSpPr>
        <p:spPr>
          <a:xfrm>
            <a:off x="391160" y="247142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-019"/>
          <p:cNvSpPr/>
          <p:nvPr/>
        </p:nvSpPr>
        <p:spPr>
          <a:xfrm>
            <a:off x="391160" y="247142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20: 低 SPM 别名 · 0x1000_0000"/>
          <p:cNvSpPr txBox="1"/>
          <p:nvPr/>
        </p:nvSpPr>
        <p:spPr>
          <a:xfrm>
            <a:off x="512064" y="2499299"/>
            <a:ext cx="30233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低 SPM 别名 · 0x1000_0000</a:t>
            </a:r>
          </a:p>
        </p:txBody>
      </p:sp>
      <p:sp>
        <p:nvSpPr>
          <p:cNvPr id="17" name="text-021: CPU 属性允许缓存"/>
          <p:cNvSpPr txBox="1"/>
          <p:nvPr/>
        </p:nvSpPr>
        <p:spPr>
          <a:xfrm>
            <a:off x="512064" y="2770693"/>
            <a:ext cx="163860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属性允许缓存</a:t>
            </a:r>
          </a:p>
        </p:txBody>
      </p:sp>
      <p:sp>
        <p:nvSpPr>
          <p:cNvPr id="18" name="text-022: 与高别名映射同一物理阵列"/>
          <p:cNvSpPr txBox="1"/>
          <p:nvPr/>
        </p:nvSpPr>
        <p:spPr>
          <a:xfrm>
            <a:off x="512064" y="298405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与高别名映射同一物理阵列</a:t>
            </a:r>
          </a:p>
        </p:txBody>
      </p:sp>
      <p:sp>
        <p:nvSpPr>
          <p:cNvPr id="19" name="rect-023"/>
          <p:cNvSpPr/>
          <p:nvPr/>
        </p:nvSpPr>
        <p:spPr>
          <a:xfrm>
            <a:off x="391160" y="414274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-024"/>
          <p:cNvSpPr/>
          <p:nvPr/>
        </p:nvSpPr>
        <p:spPr>
          <a:xfrm>
            <a:off x="391160" y="414274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5: 高 SPM 别名 · 0x1400_0000"/>
          <p:cNvSpPr txBox="1"/>
          <p:nvPr/>
        </p:nvSpPr>
        <p:spPr>
          <a:xfrm>
            <a:off x="512064" y="4170619"/>
            <a:ext cx="30233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高 SPM 别名 · 0x1400_0000</a:t>
            </a:r>
          </a:p>
        </p:txBody>
      </p:sp>
      <p:sp>
        <p:nvSpPr>
          <p:cNvPr id="22" name="text-026: 教材共享实验仅通过此别名访问"/>
          <p:cNvSpPr txBox="1"/>
          <p:nvPr/>
        </p:nvSpPr>
        <p:spPr>
          <a:xfrm>
            <a:off x="512064" y="4442013"/>
            <a:ext cx="256032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教材共享实验仅通过此别名访问</a:t>
            </a:r>
          </a:p>
        </p:txBody>
      </p:sp>
      <p:sp>
        <p:nvSpPr>
          <p:cNvPr id="23" name="text-027: 仍须遵守缓冲区独占与可见性协议"/>
          <p:cNvSpPr txBox="1"/>
          <p:nvPr/>
        </p:nvSpPr>
        <p:spPr>
          <a:xfrm>
            <a:off x="512064" y="4655373"/>
            <a:ext cx="273100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仍须遵守缓冲区独占与可见性协议</a:t>
            </a:r>
          </a:p>
        </p:txBody>
      </p:sp>
      <p:sp>
        <p:nvSpPr>
          <p:cNvPr id="24" name="text-028: 同一片上阵列：SPM 直接定位，cache 通过标签定位"/>
          <p:cNvSpPr txBox="1"/>
          <p:nvPr/>
        </p:nvSpPr>
        <p:spPr>
          <a:xfrm>
            <a:off x="5710936" y="2279396"/>
            <a:ext cx="45339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同一片上阵列：SPM 直接定位，cache 通过标签定位</a:t>
            </a:r>
          </a:p>
        </p:txBody>
      </p:sp>
      <p:sp>
        <p:nvSpPr>
          <p:cNvPr id="25" name="rect-029"/>
          <p:cNvSpPr/>
          <p:nvPr/>
        </p:nvSpPr>
        <p:spPr>
          <a:xfrm>
            <a:off x="5760720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0: way 0"/>
          <p:cNvSpPr txBox="1"/>
          <p:nvPr/>
        </p:nvSpPr>
        <p:spPr>
          <a:xfrm>
            <a:off x="5791835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27" name="text-031: 16 KiB"/>
          <p:cNvSpPr txBox="1"/>
          <p:nvPr/>
        </p:nvSpPr>
        <p:spPr>
          <a:xfrm>
            <a:off x="5743296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28" name="line-032"/>
          <p:cNvCxnSpPr/>
          <p:nvPr/>
        </p:nvCxnSpPr>
        <p:spPr>
          <a:xfrm>
            <a:off x="5817616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9" name="line-033"/>
          <p:cNvCxnSpPr/>
          <p:nvPr/>
        </p:nvCxnSpPr>
        <p:spPr>
          <a:xfrm>
            <a:off x="5817616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0" name="line-034"/>
          <p:cNvCxnSpPr/>
          <p:nvPr/>
        </p:nvCxnSpPr>
        <p:spPr>
          <a:xfrm>
            <a:off x="5817616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1" name="line-035"/>
          <p:cNvCxnSpPr/>
          <p:nvPr/>
        </p:nvCxnSpPr>
        <p:spPr>
          <a:xfrm>
            <a:off x="5817616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2" name="rect-036"/>
          <p:cNvSpPr/>
          <p:nvPr/>
        </p:nvSpPr>
        <p:spPr>
          <a:xfrm>
            <a:off x="6535928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37: way 1"/>
          <p:cNvSpPr txBox="1"/>
          <p:nvPr/>
        </p:nvSpPr>
        <p:spPr>
          <a:xfrm>
            <a:off x="6567043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4" name="text-038: 16 KiB"/>
          <p:cNvSpPr txBox="1"/>
          <p:nvPr/>
        </p:nvSpPr>
        <p:spPr>
          <a:xfrm>
            <a:off x="6518504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35" name="line-039"/>
          <p:cNvCxnSpPr/>
          <p:nvPr/>
        </p:nvCxnSpPr>
        <p:spPr>
          <a:xfrm>
            <a:off x="6592824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6" name="line-040"/>
          <p:cNvCxnSpPr/>
          <p:nvPr/>
        </p:nvCxnSpPr>
        <p:spPr>
          <a:xfrm>
            <a:off x="6592824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7" name="line-041"/>
          <p:cNvCxnSpPr/>
          <p:nvPr/>
        </p:nvCxnSpPr>
        <p:spPr>
          <a:xfrm>
            <a:off x="6592824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8" name="line-042"/>
          <p:cNvCxnSpPr/>
          <p:nvPr/>
        </p:nvCxnSpPr>
        <p:spPr>
          <a:xfrm>
            <a:off x="6592824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9" name="rect-043"/>
          <p:cNvSpPr/>
          <p:nvPr/>
        </p:nvSpPr>
        <p:spPr>
          <a:xfrm>
            <a:off x="7311136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4: way 2"/>
          <p:cNvSpPr txBox="1"/>
          <p:nvPr/>
        </p:nvSpPr>
        <p:spPr>
          <a:xfrm>
            <a:off x="7342251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1" name="text-045: 16 KiB"/>
          <p:cNvSpPr txBox="1"/>
          <p:nvPr/>
        </p:nvSpPr>
        <p:spPr>
          <a:xfrm>
            <a:off x="7293712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2" name="line-046"/>
          <p:cNvCxnSpPr/>
          <p:nvPr/>
        </p:nvCxnSpPr>
        <p:spPr>
          <a:xfrm>
            <a:off x="7368032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3" name="line-047"/>
          <p:cNvCxnSpPr/>
          <p:nvPr/>
        </p:nvCxnSpPr>
        <p:spPr>
          <a:xfrm>
            <a:off x="7368032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4" name="line-048"/>
          <p:cNvCxnSpPr/>
          <p:nvPr/>
        </p:nvCxnSpPr>
        <p:spPr>
          <a:xfrm>
            <a:off x="7368032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5" name="line-049"/>
          <p:cNvCxnSpPr/>
          <p:nvPr/>
        </p:nvCxnSpPr>
        <p:spPr>
          <a:xfrm>
            <a:off x="7368032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46" name="rect-050"/>
          <p:cNvSpPr/>
          <p:nvPr/>
        </p:nvSpPr>
        <p:spPr>
          <a:xfrm>
            <a:off x="8086344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-051: way 3"/>
          <p:cNvSpPr txBox="1"/>
          <p:nvPr/>
        </p:nvSpPr>
        <p:spPr>
          <a:xfrm>
            <a:off x="8117459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48" name="text-052: 16 KiB"/>
          <p:cNvSpPr txBox="1"/>
          <p:nvPr/>
        </p:nvSpPr>
        <p:spPr>
          <a:xfrm>
            <a:off x="8068920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9" name="line-053"/>
          <p:cNvCxnSpPr/>
          <p:nvPr/>
        </p:nvCxnSpPr>
        <p:spPr>
          <a:xfrm>
            <a:off x="8143240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0" name="line-054"/>
          <p:cNvCxnSpPr/>
          <p:nvPr/>
        </p:nvCxnSpPr>
        <p:spPr>
          <a:xfrm>
            <a:off x="8143240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1" name="line-055"/>
          <p:cNvCxnSpPr/>
          <p:nvPr/>
        </p:nvCxnSpPr>
        <p:spPr>
          <a:xfrm>
            <a:off x="8143240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2" name="line-056"/>
          <p:cNvCxnSpPr/>
          <p:nvPr/>
        </p:nvCxnSpPr>
        <p:spPr>
          <a:xfrm>
            <a:off x="8143240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3" name="rect-057"/>
          <p:cNvSpPr/>
          <p:nvPr/>
        </p:nvSpPr>
        <p:spPr>
          <a:xfrm>
            <a:off x="8861552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58: way 4"/>
          <p:cNvSpPr txBox="1"/>
          <p:nvPr/>
        </p:nvSpPr>
        <p:spPr>
          <a:xfrm>
            <a:off x="8892667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4</a:t>
            </a:r>
          </a:p>
        </p:txBody>
      </p:sp>
      <p:sp>
        <p:nvSpPr>
          <p:cNvPr id="55" name="text-059: 16 KiB"/>
          <p:cNvSpPr txBox="1"/>
          <p:nvPr/>
        </p:nvSpPr>
        <p:spPr>
          <a:xfrm>
            <a:off x="8844128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56" name="line-060"/>
          <p:cNvCxnSpPr/>
          <p:nvPr/>
        </p:nvCxnSpPr>
        <p:spPr>
          <a:xfrm>
            <a:off x="8918448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7" name="line-061"/>
          <p:cNvCxnSpPr/>
          <p:nvPr/>
        </p:nvCxnSpPr>
        <p:spPr>
          <a:xfrm>
            <a:off x="8918448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8" name="line-062"/>
          <p:cNvCxnSpPr/>
          <p:nvPr/>
        </p:nvCxnSpPr>
        <p:spPr>
          <a:xfrm>
            <a:off x="8918448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9" name="line-063"/>
          <p:cNvCxnSpPr/>
          <p:nvPr/>
        </p:nvCxnSpPr>
        <p:spPr>
          <a:xfrm>
            <a:off x="8918448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0" name="rect-064"/>
          <p:cNvSpPr/>
          <p:nvPr/>
        </p:nvSpPr>
        <p:spPr>
          <a:xfrm>
            <a:off x="9636760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-065: way 5"/>
          <p:cNvSpPr txBox="1"/>
          <p:nvPr/>
        </p:nvSpPr>
        <p:spPr>
          <a:xfrm>
            <a:off x="9667875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5</a:t>
            </a:r>
          </a:p>
        </p:txBody>
      </p:sp>
      <p:sp>
        <p:nvSpPr>
          <p:cNvPr id="62" name="text-066: 16 KiB"/>
          <p:cNvSpPr txBox="1"/>
          <p:nvPr/>
        </p:nvSpPr>
        <p:spPr>
          <a:xfrm>
            <a:off x="9619336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3" name="line-067"/>
          <p:cNvCxnSpPr/>
          <p:nvPr/>
        </p:nvCxnSpPr>
        <p:spPr>
          <a:xfrm>
            <a:off x="9693656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4" name="line-068"/>
          <p:cNvCxnSpPr/>
          <p:nvPr/>
        </p:nvCxnSpPr>
        <p:spPr>
          <a:xfrm>
            <a:off x="9693656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5" name="line-069"/>
          <p:cNvCxnSpPr/>
          <p:nvPr/>
        </p:nvCxnSpPr>
        <p:spPr>
          <a:xfrm>
            <a:off x="9693656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6" name="line-070"/>
          <p:cNvCxnSpPr/>
          <p:nvPr/>
        </p:nvCxnSpPr>
        <p:spPr>
          <a:xfrm>
            <a:off x="9693656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7" name="rect-071"/>
          <p:cNvSpPr/>
          <p:nvPr/>
        </p:nvSpPr>
        <p:spPr>
          <a:xfrm>
            <a:off x="10411968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-072: way 6"/>
          <p:cNvSpPr txBox="1"/>
          <p:nvPr/>
        </p:nvSpPr>
        <p:spPr>
          <a:xfrm>
            <a:off x="10443083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6</a:t>
            </a:r>
          </a:p>
        </p:txBody>
      </p:sp>
      <p:sp>
        <p:nvSpPr>
          <p:cNvPr id="69" name="text-073: 16 KiB"/>
          <p:cNvSpPr txBox="1"/>
          <p:nvPr/>
        </p:nvSpPr>
        <p:spPr>
          <a:xfrm>
            <a:off x="10394544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0" name="line-074"/>
          <p:cNvCxnSpPr/>
          <p:nvPr/>
        </p:nvCxnSpPr>
        <p:spPr>
          <a:xfrm>
            <a:off x="10468864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1" name="line-075"/>
          <p:cNvCxnSpPr/>
          <p:nvPr/>
        </p:nvCxnSpPr>
        <p:spPr>
          <a:xfrm>
            <a:off x="10468864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2" name="line-076"/>
          <p:cNvCxnSpPr/>
          <p:nvPr/>
        </p:nvCxnSpPr>
        <p:spPr>
          <a:xfrm>
            <a:off x="10468864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3" name="line-077"/>
          <p:cNvCxnSpPr/>
          <p:nvPr/>
        </p:nvCxnSpPr>
        <p:spPr>
          <a:xfrm>
            <a:off x="10468864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4" name="rect-078"/>
          <p:cNvSpPr/>
          <p:nvPr/>
        </p:nvSpPr>
        <p:spPr>
          <a:xfrm>
            <a:off x="11187176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-079: way 7"/>
          <p:cNvSpPr txBox="1"/>
          <p:nvPr/>
        </p:nvSpPr>
        <p:spPr>
          <a:xfrm>
            <a:off x="11218291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7</a:t>
            </a:r>
          </a:p>
        </p:txBody>
      </p:sp>
      <p:sp>
        <p:nvSpPr>
          <p:cNvPr id="76" name="text-080: 16 KiB"/>
          <p:cNvSpPr txBox="1"/>
          <p:nvPr/>
        </p:nvSpPr>
        <p:spPr>
          <a:xfrm>
            <a:off x="11169752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7" name="line-081"/>
          <p:cNvCxnSpPr/>
          <p:nvPr/>
        </p:nvCxnSpPr>
        <p:spPr>
          <a:xfrm>
            <a:off x="11244072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8" name="line-082"/>
          <p:cNvCxnSpPr/>
          <p:nvPr/>
        </p:nvCxnSpPr>
        <p:spPr>
          <a:xfrm>
            <a:off x="11244072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9" name="line-083"/>
          <p:cNvCxnSpPr/>
          <p:nvPr/>
        </p:nvCxnSpPr>
        <p:spPr>
          <a:xfrm>
            <a:off x="11244072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0" name="line-084"/>
          <p:cNvCxnSpPr/>
          <p:nvPr/>
        </p:nvCxnSpPr>
        <p:spPr>
          <a:xfrm>
            <a:off x="11244072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81" name="text-085: 运行时分配可变；切换前处理脏行、栈、数据与在途事务"/>
          <p:cNvSpPr txBox="1"/>
          <p:nvPr/>
        </p:nvSpPr>
        <p:spPr>
          <a:xfrm>
            <a:off x="5831840" y="5238557"/>
            <a:ext cx="443788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运行时分配可变；切换前处理脏行、栈、数据与在途事务</a:t>
            </a:r>
          </a:p>
        </p:txBody>
      </p:sp>
      <p:sp>
        <p:nvSpPr>
          <p:cNvPr id="82" name="rect-086"/>
          <p:cNvSpPr/>
          <p:nvPr/>
        </p:nvSpPr>
        <p:spPr>
          <a:xfrm>
            <a:off x="391160" y="6631940"/>
            <a:ext cx="4907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-087"/>
          <p:cNvSpPr/>
          <p:nvPr/>
        </p:nvSpPr>
        <p:spPr>
          <a:xfrm>
            <a:off x="391160" y="663194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-088: 外存窗口 · 0x8000_0000 起"/>
          <p:cNvSpPr txBox="1"/>
          <p:nvPr/>
        </p:nvSpPr>
        <p:spPr>
          <a:xfrm>
            <a:off x="512064" y="6659819"/>
            <a:ext cx="291236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外存窗口 · 0x8000_0000 起</a:t>
            </a:r>
          </a:p>
        </p:txBody>
      </p:sp>
      <p:sp>
        <p:nvSpPr>
          <p:cNvPr id="85" name="text-089: cache 查标签：命中在片内完成"/>
          <p:cNvSpPr txBox="1"/>
          <p:nvPr/>
        </p:nvSpPr>
        <p:spPr>
          <a:xfrm>
            <a:off x="512064" y="6931213"/>
            <a:ext cx="2713939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cache 查标签：命中在片内完成</a:t>
            </a:r>
          </a:p>
        </p:txBody>
      </p:sp>
      <p:sp>
        <p:nvSpPr>
          <p:cNvPr id="86" name="text-090: 缺失：必要时脏行写回，再由外存填充"/>
          <p:cNvSpPr txBox="1"/>
          <p:nvPr/>
        </p:nvSpPr>
        <p:spPr>
          <a:xfrm>
            <a:off x="512064" y="7144573"/>
            <a:ext cx="307238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缺失：必要时脏行写回，再由外存填充</a:t>
            </a:r>
          </a:p>
        </p:txBody>
      </p:sp>
      <p:sp>
        <p:nvSpPr>
          <p:cNvPr id="87" name="rect-091"/>
          <p:cNvSpPr/>
          <p:nvPr/>
        </p:nvSpPr>
        <p:spPr>
          <a:xfrm>
            <a:off x="6969760" y="6631940"/>
            <a:ext cx="5227320" cy="1066800"/>
          </a:xfrm>
          <a:prstGeom prst="roundRect">
            <a:avLst>
              <a:gd name="adj" fmla="val 466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-092"/>
          <p:cNvSpPr/>
          <p:nvPr/>
        </p:nvSpPr>
        <p:spPr>
          <a:xfrm>
            <a:off x="6969760" y="6631940"/>
            <a:ext cx="35560" cy="10668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-093: LLC 下游 AXI → 平台内存 / DDR"/>
          <p:cNvSpPr txBox="1"/>
          <p:nvPr/>
        </p:nvSpPr>
        <p:spPr>
          <a:xfrm>
            <a:off x="7090664" y="6659819"/>
            <a:ext cx="34023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平台内存 / DDR</a:t>
            </a:r>
          </a:p>
        </p:txBody>
      </p:sp>
      <p:sp>
        <p:nvSpPr>
          <p:cNvPr id="90" name="text-094: SPM 地址命中不需要访问 DDR"/>
          <p:cNvSpPr txBox="1"/>
          <p:nvPr/>
        </p:nvSpPr>
        <p:spPr>
          <a:xfrm>
            <a:off x="7090664" y="6931213"/>
            <a:ext cx="259445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地址命中不需要访问 DDR</a:t>
            </a:r>
          </a:p>
        </p:txBody>
      </p:sp>
      <p:sp>
        <p:nvSpPr>
          <p:cNvPr id="91" name="text-095: ROM 主线在内部 LLC 存在时配置全 SPM"/>
          <p:cNvSpPr txBox="1"/>
          <p:nvPr/>
        </p:nvSpPr>
        <p:spPr>
          <a:xfrm>
            <a:off x="7090664" y="7144573"/>
            <a:ext cx="349057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主线在内部 LLC 存在时配置全 SPM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240280" y="22580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5725160" y="22580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-007"/>
          <p:cNvSpPr/>
          <p:nvPr/>
        </p:nvSpPr>
        <p:spPr>
          <a:xfrm>
            <a:off x="9210040" y="22580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8"/>
          <p:cNvSpPr/>
          <p:nvPr/>
        </p:nvSpPr>
        <p:spPr>
          <a:xfrm>
            <a:off x="5262880" y="60452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0"/>
          <p:cNvSpPr/>
          <p:nvPr/>
        </p:nvSpPr>
        <p:spPr>
          <a:xfrm>
            <a:off x="8747760" y="60452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12: 缓冲区交接：地址相同还需要所有权与可见性"/>
          <p:cNvSpPr txBox="1"/>
          <p:nvPr/>
        </p:nvSpPr>
        <p:spPr>
          <a:xfrm>
            <a:off x="483616" y="1071209"/>
            <a:ext cx="5376672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缓冲区交接：地址相同还需要所有权与可见性</a:t>
            </a:r>
          </a:p>
        </p:txBody>
      </p:sp>
      <p:sp>
        <p:nvSpPr>
          <p:cNvPr id="11" name="text-013: 以 CPU → 设备 → CPU 为例；三条泳道分别记录写入者、数据可见性和控制"/>
          <p:cNvSpPr txBox="1"/>
          <p:nvPr/>
        </p:nvSpPr>
        <p:spPr>
          <a:xfrm>
            <a:off x="483616" y="1476878"/>
            <a:ext cx="651032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 CPU → 设备 → CPU 为例；三条泳道分别记录写入者、数据可见性和控制通知。</a:t>
            </a:r>
          </a:p>
        </p:txBody>
      </p:sp>
      <p:sp>
        <p:nvSpPr>
          <p:cNvPr id="12" name="text-014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5: 依据：教材共享缓冲区协议；fence 不替代 cache 清理 / 失效；非硬件"/>
          <p:cNvSpPr txBox="1"/>
          <p:nvPr/>
        </p:nvSpPr>
        <p:spPr>
          <a:xfrm>
            <a:off x="341376" y="8526577"/>
            <a:ext cx="574649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依据：教材共享缓冲区协议；fence 不替代 cache 清理 / 失效；非硬件自动一致性</a:t>
            </a:r>
          </a:p>
        </p:txBody>
      </p:sp>
      <p:sp>
        <p:nvSpPr>
          <p:cNvPr id="14" name="text-016: CPU 拥有"/>
          <p:cNvSpPr txBox="1"/>
          <p:nvPr/>
        </p:nvSpPr>
        <p:spPr>
          <a:xfrm>
            <a:off x="2368296" y="2314956"/>
            <a:ext cx="9956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拥有</a:t>
            </a:r>
          </a:p>
        </p:txBody>
      </p:sp>
      <p:sp>
        <p:nvSpPr>
          <p:cNvPr id="15" name="text-017: 硬件拥有"/>
          <p:cNvSpPr txBox="1"/>
          <p:nvPr/>
        </p:nvSpPr>
        <p:spPr>
          <a:xfrm>
            <a:off x="5853176" y="2314956"/>
            <a:ext cx="8890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硬件拥有</a:t>
            </a:r>
          </a:p>
        </p:txBody>
      </p:sp>
      <p:sp>
        <p:nvSpPr>
          <p:cNvPr id="16" name="text-018: CPU 重新拥有"/>
          <p:cNvSpPr txBox="1"/>
          <p:nvPr/>
        </p:nvSpPr>
        <p:spPr>
          <a:xfrm>
            <a:off x="9338056" y="2314956"/>
            <a:ext cx="13512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CPU 重新拥有</a:t>
            </a:r>
          </a:p>
        </p:txBody>
      </p:sp>
      <p:sp>
        <p:nvSpPr>
          <p:cNvPr id="17" name="text-019: 数据操作"/>
          <p:cNvSpPr txBox="1"/>
          <p:nvPr/>
        </p:nvSpPr>
        <p:spPr>
          <a:xfrm>
            <a:off x="355600" y="3010794"/>
            <a:ext cx="960120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数据操作</a:t>
            </a:r>
          </a:p>
        </p:txBody>
      </p:sp>
      <p:sp>
        <p:nvSpPr>
          <p:cNvPr id="18" name="text-020: 可见性操作"/>
          <p:cNvSpPr txBox="1"/>
          <p:nvPr/>
        </p:nvSpPr>
        <p:spPr>
          <a:xfrm>
            <a:off x="355600" y="4433194"/>
            <a:ext cx="1152144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可见性操作</a:t>
            </a:r>
          </a:p>
        </p:txBody>
      </p:sp>
      <p:sp>
        <p:nvSpPr>
          <p:cNvPr id="19" name="text-021: 控制交接"/>
          <p:cNvSpPr txBox="1"/>
          <p:nvPr/>
        </p:nvSpPr>
        <p:spPr>
          <a:xfrm>
            <a:off x="355600" y="5820034"/>
            <a:ext cx="960120" cy="3072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控制交接</a:t>
            </a:r>
          </a:p>
        </p:txBody>
      </p:sp>
      <p:sp>
        <p:nvSpPr>
          <p:cNvPr id="20" name="rect-022"/>
          <p:cNvSpPr/>
          <p:nvPr/>
        </p:nvSpPr>
        <p:spPr>
          <a:xfrm>
            <a:off x="2418080" y="28270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3"/>
          <p:cNvSpPr/>
          <p:nvPr/>
        </p:nvSpPr>
        <p:spPr>
          <a:xfrm>
            <a:off x="2418080" y="28270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4: 写源数据 / 描述符"/>
          <p:cNvSpPr txBox="1"/>
          <p:nvPr/>
        </p:nvSpPr>
        <p:spPr>
          <a:xfrm>
            <a:off x="2538984" y="2854899"/>
            <a:ext cx="183987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写源数据 / 描述符</a:t>
            </a:r>
          </a:p>
        </p:txBody>
      </p:sp>
      <p:sp>
        <p:nvSpPr>
          <p:cNvPr id="23" name="rect-025"/>
          <p:cNvSpPr/>
          <p:nvPr/>
        </p:nvSpPr>
        <p:spPr>
          <a:xfrm>
            <a:off x="2418080" y="42494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26"/>
          <p:cNvSpPr/>
          <p:nvPr/>
        </p:nvSpPr>
        <p:spPr>
          <a:xfrm>
            <a:off x="2418080" y="42494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7: 同步缓存并排空必要写入"/>
          <p:cNvSpPr txBox="1"/>
          <p:nvPr/>
        </p:nvSpPr>
        <p:spPr>
          <a:xfrm>
            <a:off x="2538984" y="4277299"/>
            <a:ext cx="221894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同步缓存并排空必要写入</a:t>
            </a:r>
          </a:p>
        </p:txBody>
      </p:sp>
      <p:sp>
        <p:nvSpPr>
          <p:cNvPr id="26" name="rect-028"/>
          <p:cNvSpPr/>
          <p:nvPr/>
        </p:nvSpPr>
        <p:spPr>
          <a:xfrm>
            <a:off x="2418080" y="56718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29"/>
          <p:cNvSpPr/>
          <p:nvPr/>
        </p:nvSpPr>
        <p:spPr>
          <a:xfrm>
            <a:off x="2418080" y="56718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0: 发布任务 / doorbell"/>
          <p:cNvSpPr txBox="1"/>
          <p:nvPr/>
        </p:nvSpPr>
        <p:spPr>
          <a:xfrm>
            <a:off x="2538984" y="5699699"/>
            <a:ext cx="224668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发布任务 / doorbell</a:t>
            </a:r>
          </a:p>
        </p:txBody>
      </p:sp>
      <p:sp>
        <p:nvSpPr>
          <p:cNvPr id="29" name="rect-031"/>
          <p:cNvSpPr/>
          <p:nvPr/>
        </p:nvSpPr>
        <p:spPr>
          <a:xfrm>
            <a:off x="5902960" y="28270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-032"/>
          <p:cNvSpPr/>
          <p:nvPr/>
        </p:nvSpPr>
        <p:spPr>
          <a:xfrm>
            <a:off x="5902960" y="28270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33: DMA / Ara / 设备读写"/>
          <p:cNvSpPr txBox="1"/>
          <p:nvPr/>
        </p:nvSpPr>
        <p:spPr>
          <a:xfrm>
            <a:off x="6023864" y="2854899"/>
            <a:ext cx="236687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DMA / Ara / 设备读写</a:t>
            </a:r>
          </a:p>
        </p:txBody>
      </p:sp>
      <p:sp>
        <p:nvSpPr>
          <p:cNvPr id="32" name="rect-034"/>
          <p:cNvSpPr/>
          <p:nvPr/>
        </p:nvSpPr>
        <p:spPr>
          <a:xfrm>
            <a:off x="5902960" y="42494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5"/>
          <p:cNvSpPr/>
          <p:nvPr/>
        </p:nvSpPr>
        <p:spPr>
          <a:xfrm>
            <a:off x="5902960" y="42494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6: 完成访问并排空结果写入"/>
          <p:cNvSpPr txBox="1"/>
          <p:nvPr/>
        </p:nvSpPr>
        <p:spPr>
          <a:xfrm>
            <a:off x="6023864" y="4277299"/>
            <a:ext cx="221894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完成访问并排空结果写入</a:t>
            </a:r>
          </a:p>
        </p:txBody>
      </p:sp>
      <p:sp>
        <p:nvSpPr>
          <p:cNvPr id="35" name="rect-037"/>
          <p:cNvSpPr/>
          <p:nvPr/>
        </p:nvSpPr>
        <p:spPr>
          <a:xfrm>
            <a:off x="5902960" y="56718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38"/>
          <p:cNvSpPr/>
          <p:nvPr/>
        </p:nvSpPr>
        <p:spPr>
          <a:xfrm>
            <a:off x="5902960" y="56718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39: 发布完成状态 / IRQ"/>
          <p:cNvSpPr txBox="1"/>
          <p:nvPr/>
        </p:nvSpPr>
        <p:spPr>
          <a:xfrm>
            <a:off x="6023864" y="5699699"/>
            <a:ext cx="201554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发布完成状态 / IRQ</a:t>
            </a:r>
          </a:p>
        </p:txBody>
      </p:sp>
      <p:sp>
        <p:nvSpPr>
          <p:cNvPr id="38" name="rect-040"/>
          <p:cNvSpPr/>
          <p:nvPr/>
        </p:nvSpPr>
        <p:spPr>
          <a:xfrm>
            <a:off x="9387840" y="28270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1"/>
          <p:cNvSpPr/>
          <p:nvPr/>
        </p:nvSpPr>
        <p:spPr>
          <a:xfrm>
            <a:off x="9387840" y="28270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2: 读取并校验结果"/>
          <p:cNvSpPr txBox="1"/>
          <p:nvPr/>
        </p:nvSpPr>
        <p:spPr>
          <a:xfrm>
            <a:off x="9508744" y="2854899"/>
            <a:ext cx="147929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读取并校验结果</a:t>
            </a:r>
          </a:p>
        </p:txBody>
      </p:sp>
      <p:sp>
        <p:nvSpPr>
          <p:cNvPr id="41" name="rect-043"/>
          <p:cNvSpPr/>
          <p:nvPr/>
        </p:nvSpPr>
        <p:spPr>
          <a:xfrm>
            <a:off x="9387840" y="42494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-044"/>
          <p:cNvSpPr/>
          <p:nvPr/>
        </p:nvSpPr>
        <p:spPr>
          <a:xfrm>
            <a:off x="9387840" y="42494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5: acquire / 排序 / 必要失效"/>
          <p:cNvSpPr txBox="1"/>
          <p:nvPr/>
        </p:nvSpPr>
        <p:spPr>
          <a:xfrm>
            <a:off x="9508744" y="4277299"/>
            <a:ext cx="285689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acquire / 排序 / 必要失效</a:t>
            </a:r>
          </a:p>
        </p:txBody>
      </p:sp>
      <p:sp>
        <p:nvSpPr>
          <p:cNvPr id="44" name="rect-046"/>
          <p:cNvSpPr/>
          <p:nvPr/>
        </p:nvSpPr>
        <p:spPr>
          <a:xfrm>
            <a:off x="9387840" y="56718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47"/>
          <p:cNvSpPr/>
          <p:nvPr/>
        </p:nvSpPr>
        <p:spPr>
          <a:xfrm>
            <a:off x="9387840" y="56718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48: 确认 token / 回收缓冲区"/>
          <p:cNvSpPr txBox="1"/>
          <p:nvPr/>
        </p:nvSpPr>
        <p:spPr>
          <a:xfrm>
            <a:off x="9508744" y="5699699"/>
            <a:ext cx="25610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确认 token / 回收缓冲区</a:t>
            </a:r>
          </a:p>
        </p:txBody>
      </p:sp>
      <p:sp>
        <p:nvSpPr>
          <p:cNvPr id="47" name="rect-049"/>
          <p:cNvSpPr/>
          <p:nvPr/>
        </p:nvSpPr>
        <p:spPr>
          <a:xfrm>
            <a:off x="391160" y="734314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50"/>
          <p:cNvSpPr/>
          <p:nvPr/>
        </p:nvSpPr>
        <p:spPr>
          <a:xfrm>
            <a:off x="391160" y="734314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1: 每次交接分别回答三个问题"/>
          <p:cNvSpPr txBox="1"/>
          <p:nvPr/>
        </p:nvSpPr>
        <p:spPr>
          <a:xfrm>
            <a:off x="512064" y="7371019"/>
            <a:ext cx="240385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每次交接分别回答三个问题</a:t>
            </a:r>
          </a:p>
        </p:txBody>
      </p:sp>
      <p:sp>
        <p:nvSpPr>
          <p:cNvPr id="50" name="text-052: 请求是否接受？设备是否处理完成？结果是否已对消费者可见？三者不能互相替代。"/>
          <p:cNvSpPr txBox="1"/>
          <p:nvPr/>
        </p:nvSpPr>
        <p:spPr>
          <a:xfrm>
            <a:off x="512064" y="7657775"/>
            <a:ext cx="594563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请求是否接受？设备是否处理完成？结果是否已对消费者可见？三者不能互相替代。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4267200" y="251409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4267200" y="334619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4267200" y="41783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4267200" y="5010404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3"/>
          <p:cNvSpPr/>
          <p:nvPr/>
        </p:nvSpPr>
        <p:spPr>
          <a:xfrm>
            <a:off x="4267200" y="5842508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5"/>
          <p:cNvSpPr/>
          <p:nvPr/>
        </p:nvSpPr>
        <p:spPr>
          <a:xfrm>
            <a:off x="4267200" y="667461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7"/>
          <p:cNvSpPr/>
          <p:nvPr/>
        </p:nvSpPr>
        <p:spPr>
          <a:xfrm>
            <a:off x="4267200" y="750671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19: 七篇、30 章：由系统概念进入实现与验证"/>
          <p:cNvSpPr txBox="1"/>
          <p:nvPr/>
        </p:nvSpPr>
        <p:spPr>
          <a:xfrm>
            <a:off x="483616" y="1071209"/>
            <a:ext cx="5107838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七篇、30 章：由系统概念进入实现与验证</a:t>
            </a:r>
          </a:p>
        </p:txBody>
      </p:sp>
      <p:sp>
        <p:nvSpPr>
          <p:cNvPr id="13" name="text-020: 每一篇给出后续会消费的知识；章节编号从当前 pages.json 生成，避免沿用"/>
          <p:cNvSpPr txBox="1"/>
          <p:nvPr/>
        </p:nvSpPr>
        <p:spPr>
          <a:xfrm>
            <a:off x="483616" y="1476878"/>
            <a:ext cx="667390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每一篇给出后续会消费的知识；章节编号从当前 pages.json 生成，避免沿用旧目录。</a:t>
            </a:r>
          </a:p>
        </p:txBody>
      </p:sp>
      <p:sp>
        <p:nvSpPr>
          <p:cNvPr id="14" name="text-021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2: 维护依据：scripts/pages.json；离线教材当前目录"/>
          <p:cNvSpPr txBox="1"/>
          <p:nvPr/>
        </p:nvSpPr>
        <p:spPr>
          <a:xfrm>
            <a:off x="341376" y="8526577"/>
            <a:ext cx="379780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维护依据：scripts/pages.json；离线教材当前目录</a:t>
            </a:r>
          </a:p>
        </p:txBody>
      </p:sp>
      <p:sp>
        <p:nvSpPr>
          <p:cNvPr id="16" name="rect-023"/>
          <p:cNvSpPr/>
          <p:nvPr/>
        </p:nvSpPr>
        <p:spPr>
          <a:xfrm>
            <a:off x="391160" y="218694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-024"/>
          <p:cNvSpPr/>
          <p:nvPr/>
        </p:nvSpPr>
        <p:spPr>
          <a:xfrm>
            <a:off x="391160" y="21869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25: 第一篇 · 01—03"/>
          <p:cNvSpPr txBox="1"/>
          <p:nvPr/>
        </p:nvSpPr>
        <p:spPr>
          <a:xfrm>
            <a:off x="512064" y="2214819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第一篇 · 01—03</a:t>
            </a:r>
          </a:p>
        </p:txBody>
      </p:sp>
      <p:sp>
        <p:nvSpPr>
          <p:cNvPr id="19" name="text-026: 系统基础与配置"/>
          <p:cNvSpPr txBox="1"/>
          <p:nvPr/>
        </p:nvSpPr>
        <p:spPr>
          <a:xfrm>
            <a:off x="512064" y="2493894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系统基础与配置</a:t>
            </a:r>
          </a:p>
        </p:txBody>
      </p:sp>
      <p:sp>
        <p:nvSpPr>
          <p:cNvPr id="20" name="rect-027"/>
          <p:cNvSpPr/>
          <p:nvPr/>
        </p:nvSpPr>
        <p:spPr>
          <a:xfrm>
            <a:off x="5298440" y="218694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8"/>
          <p:cNvSpPr/>
          <p:nvPr/>
        </p:nvSpPr>
        <p:spPr>
          <a:xfrm>
            <a:off x="5298440" y="21869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9: 辨认硬件职责、CPU 能力与配置约束"/>
          <p:cNvSpPr txBox="1"/>
          <p:nvPr/>
        </p:nvSpPr>
        <p:spPr>
          <a:xfrm>
            <a:off x="5419344" y="2214819"/>
            <a:ext cx="325445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辨认硬件职责、CPU 能力与配置约束</a:t>
            </a:r>
          </a:p>
        </p:txBody>
      </p:sp>
      <p:sp>
        <p:nvSpPr>
          <p:cNvPr id="23" name="text-030: 进入各章后结合本地源码、使用条件与验证边界阅读"/>
          <p:cNvSpPr txBox="1"/>
          <p:nvPr/>
        </p:nvSpPr>
        <p:spPr>
          <a:xfrm>
            <a:off x="5419344" y="2501575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24" name="rect-031"/>
          <p:cNvSpPr/>
          <p:nvPr/>
        </p:nvSpPr>
        <p:spPr>
          <a:xfrm>
            <a:off x="391160" y="301904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32"/>
          <p:cNvSpPr/>
          <p:nvPr/>
        </p:nvSpPr>
        <p:spPr>
          <a:xfrm>
            <a:off x="391160" y="30190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33: 第二篇 · 04—06"/>
          <p:cNvSpPr txBox="1"/>
          <p:nvPr/>
        </p:nvSpPr>
        <p:spPr>
          <a:xfrm>
            <a:off x="512064" y="3046923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第二篇 · 04—06</a:t>
            </a:r>
          </a:p>
        </p:txBody>
      </p:sp>
      <p:sp>
        <p:nvSpPr>
          <p:cNvPr id="27" name="text-034: ASIC 时钟、复位与电源"/>
          <p:cNvSpPr txBox="1"/>
          <p:nvPr/>
        </p:nvSpPr>
        <p:spPr>
          <a:xfrm>
            <a:off x="512064" y="3325998"/>
            <a:ext cx="200380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ASIC 时钟、复位与电源</a:t>
            </a:r>
          </a:p>
        </p:txBody>
      </p:sp>
      <p:sp>
        <p:nvSpPr>
          <p:cNvPr id="28" name="rect-035"/>
          <p:cNvSpPr/>
          <p:nvPr/>
        </p:nvSpPr>
        <p:spPr>
          <a:xfrm>
            <a:off x="5298440" y="301904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6"/>
          <p:cNvSpPr/>
          <p:nvPr/>
        </p:nvSpPr>
        <p:spPr>
          <a:xfrm>
            <a:off x="5298440" y="30190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7: 理解域边界、启动条件与安全恢复"/>
          <p:cNvSpPr txBox="1"/>
          <p:nvPr/>
        </p:nvSpPr>
        <p:spPr>
          <a:xfrm>
            <a:off x="5419344" y="3046923"/>
            <a:ext cx="295859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理解域边界、启动条件与安全恢复</a:t>
            </a:r>
          </a:p>
        </p:txBody>
      </p:sp>
      <p:sp>
        <p:nvSpPr>
          <p:cNvPr id="31" name="text-038: 进入各章后结合本地源码、使用条件与验证边界阅读"/>
          <p:cNvSpPr txBox="1"/>
          <p:nvPr/>
        </p:nvSpPr>
        <p:spPr>
          <a:xfrm>
            <a:off x="5419344" y="3333679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32" name="rect-039"/>
          <p:cNvSpPr/>
          <p:nvPr/>
        </p:nvSpPr>
        <p:spPr>
          <a:xfrm>
            <a:off x="391160" y="3851148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40"/>
          <p:cNvSpPr/>
          <p:nvPr/>
        </p:nvSpPr>
        <p:spPr>
          <a:xfrm>
            <a:off x="391160" y="38511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41: 第三篇 · 07—12"/>
          <p:cNvSpPr txBox="1"/>
          <p:nvPr/>
        </p:nvSpPr>
        <p:spPr>
          <a:xfrm>
            <a:off x="512064" y="3879027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第三篇 · 07—12</a:t>
            </a:r>
          </a:p>
        </p:txBody>
      </p:sp>
      <p:sp>
        <p:nvSpPr>
          <p:cNvPr id="35" name="text-042: 互连与存储系统"/>
          <p:cNvSpPr txBox="1"/>
          <p:nvPr/>
        </p:nvSpPr>
        <p:spPr>
          <a:xfrm>
            <a:off x="512064" y="4158102"/>
            <a:ext cx="130860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互连与存储系统</a:t>
            </a:r>
          </a:p>
        </p:txBody>
      </p:sp>
      <p:sp>
        <p:nvSpPr>
          <p:cNvPr id="36" name="rect-043"/>
          <p:cNvSpPr/>
          <p:nvPr/>
        </p:nvSpPr>
        <p:spPr>
          <a:xfrm>
            <a:off x="5298440" y="3851148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-044"/>
          <p:cNvSpPr/>
          <p:nvPr/>
        </p:nvSpPr>
        <p:spPr>
          <a:xfrm>
            <a:off x="5298440" y="38511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-045: 跟踪地址、协议、存储和 DDR 事务"/>
          <p:cNvSpPr txBox="1"/>
          <p:nvPr/>
        </p:nvSpPr>
        <p:spPr>
          <a:xfrm>
            <a:off x="5419344" y="3879027"/>
            <a:ext cx="318973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跟踪地址、协议、存储和 DDR 事务</a:t>
            </a:r>
          </a:p>
        </p:txBody>
      </p:sp>
      <p:sp>
        <p:nvSpPr>
          <p:cNvPr id="39" name="text-046: 进入各章后结合本地源码、使用条件与验证边界阅读"/>
          <p:cNvSpPr txBox="1"/>
          <p:nvPr/>
        </p:nvSpPr>
        <p:spPr>
          <a:xfrm>
            <a:off x="5419344" y="4165783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0" name="rect-047"/>
          <p:cNvSpPr/>
          <p:nvPr/>
        </p:nvSpPr>
        <p:spPr>
          <a:xfrm>
            <a:off x="391160" y="4683252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-048"/>
          <p:cNvSpPr/>
          <p:nvPr/>
        </p:nvSpPr>
        <p:spPr>
          <a:xfrm>
            <a:off x="391160" y="46832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9: 第四篇 · 13—17"/>
          <p:cNvSpPr txBox="1"/>
          <p:nvPr/>
        </p:nvSpPr>
        <p:spPr>
          <a:xfrm>
            <a:off x="512064" y="4711131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第四篇 · 13—17</a:t>
            </a:r>
          </a:p>
        </p:txBody>
      </p:sp>
      <p:sp>
        <p:nvSpPr>
          <p:cNvPr id="43" name="text-050: 裸机软件、启动与验证"/>
          <p:cNvSpPr txBox="1"/>
          <p:nvPr/>
        </p:nvSpPr>
        <p:spPr>
          <a:xfrm>
            <a:off x="512064" y="4990206"/>
            <a:ext cx="17993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裸机软件、启动与验证</a:t>
            </a:r>
          </a:p>
        </p:txBody>
      </p:sp>
      <p:sp>
        <p:nvSpPr>
          <p:cNvPr id="44" name="rect-051"/>
          <p:cNvSpPr/>
          <p:nvPr/>
        </p:nvSpPr>
        <p:spPr>
          <a:xfrm>
            <a:off x="5298440" y="4683252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52"/>
          <p:cNvSpPr/>
          <p:nvPr/>
        </p:nvSpPr>
        <p:spPr>
          <a:xfrm>
            <a:off x="5298440" y="46832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53: 从源程序、ELF、启动到可观察执行"/>
          <p:cNvSpPr txBox="1"/>
          <p:nvPr/>
        </p:nvSpPr>
        <p:spPr>
          <a:xfrm>
            <a:off x="5419344" y="4711131"/>
            <a:ext cx="313425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从源程序、ELF、启动到可观察执行</a:t>
            </a:r>
          </a:p>
        </p:txBody>
      </p:sp>
      <p:sp>
        <p:nvSpPr>
          <p:cNvPr id="47" name="text-054: 进入各章后结合本地源码、使用条件与验证边界阅读"/>
          <p:cNvSpPr txBox="1"/>
          <p:nvPr/>
        </p:nvSpPr>
        <p:spPr>
          <a:xfrm>
            <a:off x="5419344" y="4997887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8" name="rect-055"/>
          <p:cNvSpPr/>
          <p:nvPr/>
        </p:nvSpPr>
        <p:spPr>
          <a:xfrm>
            <a:off x="391160" y="5515356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-056"/>
          <p:cNvSpPr/>
          <p:nvPr/>
        </p:nvSpPr>
        <p:spPr>
          <a:xfrm>
            <a:off x="391160" y="55153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-057: 第五篇 · 18—23"/>
          <p:cNvSpPr txBox="1"/>
          <p:nvPr/>
        </p:nvSpPr>
        <p:spPr>
          <a:xfrm>
            <a:off x="512064" y="5543235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第五篇 · 18—23</a:t>
            </a:r>
          </a:p>
        </p:txBody>
      </p:sp>
      <p:sp>
        <p:nvSpPr>
          <p:cNvPr id="51" name="text-058: 外设、事件与数据搬运"/>
          <p:cNvSpPr txBox="1"/>
          <p:nvPr/>
        </p:nvSpPr>
        <p:spPr>
          <a:xfrm>
            <a:off x="512064" y="5822310"/>
            <a:ext cx="17993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外设、事件与数据搬运</a:t>
            </a:r>
          </a:p>
        </p:txBody>
      </p:sp>
      <p:sp>
        <p:nvSpPr>
          <p:cNvPr id="52" name="rect-059"/>
          <p:cNvSpPr/>
          <p:nvPr/>
        </p:nvSpPr>
        <p:spPr>
          <a:xfrm>
            <a:off x="5298440" y="5515356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-060"/>
          <p:cNvSpPr/>
          <p:nvPr/>
        </p:nvSpPr>
        <p:spPr>
          <a:xfrm>
            <a:off x="5298440" y="55153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61: 由 MMIO、驱动和外部事件解释设备"/>
          <p:cNvSpPr txBox="1"/>
          <p:nvPr/>
        </p:nvSpPr>
        <p:spPr>
          <a:xfrm>
            <a:off x="5419344" y="5543235"/>
            <a:ext cx="318973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由 MMIO、驱动和外部事件解释设备</a:t>
            </a:r>
          </a:p>
        </p:txBody>
      </p:sp>
      <p:sp>
        <p:nvSpPr>
          <p:cNvPr id="55" name="text-062: 进入各章后结合本地源码、使用条件与验证边界阅读"/>
          <p:cNvSpPr txBox="1"/>
          <p:nvPr/>
        </p:nvSpPr>
        <p:spPr>
          <a:xfrm>
            <a:off x="5419344" y="5829991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56" name="rect-063"/>
          <p:cNvSpPr/>
          <p:nvPr/>
        </p:nvSpPr>
        <p:spPr>
          <a:xfrm>
            <a:off x="391160" y="634746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-064"/>
          <p:cNvSpPr/>
          <p:nvPr/>
        </p:nvSpPr>
        <p:spPr>
          <a:xfrm>
            <a:off x="391160" y="63474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-065: 第六篇 · 24—26"/>
          <p:cNvSpPr txBox="1"/>
          <p:nvPr/>
        </p:nvSpPr>
        <p:spPr>
          <a:xfrm>
            <a:off x="512064" y="6375339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第六篇 · 24—26</a:t>
            </a:r>
          </a:p>
        </p:txBody>
      </p:sp>
      <p:sp>
        <p:nvSpPr>
          <p:cNvPr id="59" name="text-066: Ara 向量执行与异构协作"/>
          <p:cNvSpPr txBox="1"/>
          <p:nvPr/>
        </p:nvSpPr>
        <p:spPr>
          <a:xfrm>
            <a:off x="512064" y="6654414"/>
            <a:ext cx="206105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向量执行与异构协作</a:t>
            </a:r>
          </a:p>
        </p:txBody>
      </p:sp>
      <p:sp>
        <p:nvSpPr>
          <p:cNvPr id="60" name="rect-067"/>
          <p:cNvSpPr/>
          <p:nvPr/>
        </p:nvSpPr>
        <p:spPr>
          <a:xfrm>
            <a:off x="5298440" y="634746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-068"/>
          <p:cNvSpPr/>
          <p:nvPr/>
        </p:nvSpPr>
        <p:spPr>
          <a:xfrm>
            <a:off x="5298440" y="63474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-069: 追踪向量指令、共享数据与异构交接"/>
          <p:cNvSpPr txBox="1"/>
          <p:nvPr/>
        </p:nvSpPr>
        <p:spPr>
          <a:xfrm>
            <a:off x="5419344" y="6375339"/>
            <a:ext cx="314350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追踪向量指令、共享数据与异构交接</a:t>
            </a:r>
          </a:p>
        </p:txBody>
      </p:sp>
      <p:sp>
        <p:nvSpPr>
          <p:cNvPr id="63" name="text-070: 进入各章后结合本地源码、使用条件与验证边界阅读"/>
          <p:cNvSpPr txBox="1"/>
          <p:nvPr/>
        </p:nvSpPr>
        <p:spPr>
          <a:xfrm>
            <a:off x="5419344" y="6662095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64" name="rect-071"/>
          <p:cNvSpPr/>
          <p:nvPr/>
        </p:nvSpPr>
        <p:spPr>
          <a:xfrm>
            <a:off x="391160" y="717956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-072"/>
          <p:cNvSpPr/>
          <p:nvPr/>
        </p:nvSpPr>
        <p:spPr>
          <a:xfrm>
            <a:off x="391160" y="71795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-073: 第七篇 · 27—30"/>
          <p:cNvSpPr txBox="1"/>
          <p:nvPr/>
        </p:nvSpPr>
        <p:spPr>
          <a:xfrm>
            <a:off x="512064" y="7207443"/>
            <a:ext cx="176591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第七篇 · 27—30</a:t>
            </a:r>
          </a:p>
        </p:txBody>
      </p:sp>
      <p:sp>
        <p:nvSpPr>
          <p:cNvPr id="67" name="text-074: IP 集成与 ASIC 工程规划"/>
          <p:cNvSpPr txBox="1"/>
          <p:nvPr/>
        </p:nvSpPr>
        <p:spPr>
          <a:xfrm>
            <a:off x="512064" y="7486518"/>
            <a:ext cx="226552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IP 集成与 ASIC 工程规划</a:t>
            </a:r>
          </a:p>
        </p:txBody>
      </p:sp>
      <p:sp>
        <p:nvSpPr>
          <p:cNvPr id="68" name="rect-075"/>
          <p:cNvSpPr/>
          <p:nvPr/>
        </p:nvSpPr>
        <p:spPr>
          <a:xfrm>
            <a:off x="5298440" y="717956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-076"/>
          <p:cNvSpPr/>
          <p:nvPr/>
        </p:nvSpPr>
        <p:spPr>
          <a:xfrm>
            <a:off x="5298440" y="71795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-077: 定义新 IP 契约与工艺平台交付"/>
          <p:cNvSpPr txBox="1"/>
          <p:nvPr/>
        </p:nvSpPr>
        <p:spPr>
          <a:xfrm>
            <a:off x="5419344" y="7207443"/>
            <a:ext cx="288462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定义新 IP 契约与工艺平台交付</a:t>
            </a:r>
          </a:p>
        </p:txBody>
      </p:sp>
      <p:sp>
        <p:nvSpPr>
          <p:cNvPr id="71" name="text-078: 进入各章后结合本地源码、使用条件与验证边界阅读"/>
          <p:cNvSpPr txBox="1"/>
          <p:nvPr/>
        </p:nvSpPr>
        <p:spPr>
          <a:xfrm>
            <a:off x="5419344" y="7494199"/>
            <a:ext cx="375513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4231640" y="2755900"/>
            <a:ext cx="1600200" cy="177800"/>
          </a:xfrm>
          <a:custGeom>
            <a:avLst/>
            <a:gdLst/>
            <a:ahLst/>
            <a:cxnLst/>
            <a:rect l="0" t="0" r="r" b="b"/>
            <a:pathLst>
              <a:path w="1600200" h="177800" fill="none">
                <a:moveTo>
                  <a:pt x="0" y="177800"/>
                </a:moveTo>
                <a:lnTo>
                  <a:pt x="924560" y="177800"/>
                </a:lnTo>
                <a:lnTo>
                  <a:pt x="924560" y="0"/>
                </a:lnTo>
                <a:lnTo>
                  <a:pt x="16002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4231640" y="3573780"/>
            <a:ext cx="1600200" cy="213360"/>
          </a:xfrm>
          <a:custGeom>
            <a:avLst/>
            <a:gdLst/>
            <a:ahLst/>
            <a:cxnLst/>
            <a:rect l="0" t="0" r="r" b="b"/>
            <a:pathLst>
              <a:path w="1600200" h="213360" fill="none">
                <a:moveTo>
                  <a:pt x="0" y="0"/>
                </a:moveTo>
                <a:lnTo>
                  <a:pt x="924560" y="0"/>
                </a:lnTo>
                <a:lnTo>
                  <a:pt x="924560" y="213360"/>
                </a:lnTo>
                <a:lnTo>
                  <a:pt x="1600200" y="21336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4231640" y="4213860"/>
            <a:ext cx="1600200" cy="604520"/>
          </a:xfrm>
          <a:custGeom>
            <a:avLst/>
            <a:gdLst/>
            <a:ahLst/>
            <a:cxnLst/>
            <a:rect l="0" t="0" r="r" b="b"/>
            <a:pathLst>
              <a:path w="1600200" h="604520" fill="none">
                <a:moveTo>
                  <a:pt x="0" y="0"/>
                </a:moveTo>
                <a:lnTo>
                  <a:pt x="924560" y="0"/>
                </a:lnTo>
                <a:lnTo>
                  <a:pt x="924560" y="604520"/>
                </a:lnTo>
                <a:lnTo>
                  <a:pt x="1600200" y="6045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1"/>
          <p:cNvSpPr/>
          <p:nvPr/>
        </p:nvSpPr>
        <p:spPr>
          <a:xfrm>
            <a:off x="4231640" y="4853940"/>
            <a:ext cx="1600200" cy="995680"/>
          </a:xfrm>
          <a:custGeom>
            <a:avLst/>
            <a:gdLst/>
            <a:ahLst/>
            <a:cxnLst/>
            <a:rect l="0" t="0" r="r" b="b"/>
            <a:pathLst>
              <a:path w="1600200" h="995680" fill="none">
                <a:moveTo>
                  <a:pt x="0" y="0"/>
                </a:moveTo>
                <a:lnTo>
                  <a:pt x="924560" y="0"/>
                </a:lnTo>
                <a:lnTo>
                  <a:pt x="924560" y="995680"/>
                </a:lnTo>
                <a:lnTo>
                  <a:pt x="1600200" y="9956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13: C 对象与运行内存：指令、初值、零初始化与栈"/>
          <p:cNvSpPr txBox="1"/>
          <p:nvPr/>
        </p:nvSpPr>
        <p:spPr>
          <a:xfrm>
            <a:off x="483616" y="1071209"/>
            <a:ext cx="570951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 对象与运行内存：指令、初值、零初始化与栈</a:t>
            </a:r>
          </a:p>
        </p:txBody>
      </p:sp>
      <p:sp>
        <p:nvSpPr>
          <p:cNvPr id="10" name="text-014: 编译器按语义与优化分配存储；局部变量可以留在寄存器，不必全部占栈。"/>
          <p:cNvSpPr txBox="1"/>
          <p:nvPr/>
        </p:nvSpPr>
        <p:spPr>
          <a:xfrm>
            <a:off x="483616" y="1476878"/>
            <a:ext cx="55615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编译器按语义与优化分配存储；局部变量可以留在寄存器，不必全部占栈。</a:t>
            </a:r>
          </a:p>
        </p:txBody>
      </p:sp>
      <p:sp>
        <p:nvSpPr>
          <p:cNvPr id="11" name="text-015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6: 源码：教材 journey.c；sw/lib/crt0.S；sw/link/co"/>
          <p:cNvSpPr txBox="1"/>
          <p:nvPr/>
        </p:nvSpPr>
        <p:spPr>
          <a:xfrm>
            <a:off x="341376" y="8526577"/>
            <a:ext cx="5810504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源码：教材 journey.c；sw/lib/crt0.S；sw/link/common.ldh 与 spm.ld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2400300"/>
            <a:ext cx="3840480" cy="3235960"/>
          </a:xfrm>
          <a:prstGeom prst="roundRect">
            <a:avLst>
              <a:gd name="adj" fmla="val 153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-018"/>
          <p:cNvSpPr/>
          <p:nvPr/>
        </p:nvSpPr>
        <p:spPr>
          <a:xfrm>
            <a:off x="391160" y="2400300"/>
            <a:ext cx="35560" cy="3235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9: C 层对象"/>
          <p:cNvSpPr txBox="1"/>
          <p:nvPr/>
        </p:nvSpPr>
        <p:spPr>
          <a:xfrm>
            <a:off x="512064" y="2428179"/>
            <a:ext cx="98003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 层对象</a:t>
            </a:r>
          </a:p>
        </p:txBody>
      </p:sp>
      <p:sp>
        <p:nvSpPr>
          <p:cNvPr id="16" name="text-020: 代码：main / make_value"/>
          <p:cNvSpPr txBox="1"/>
          <p:nvPr/>
        </p:nvSpPr>
        <p:spPr>
          <a:xfrm>
            <a:off x="512064" y="2699573"/>
            <a:ext cx="256885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代码：main / make_value</a:t>
            </a:r>
          </a:p>
        </p:txBody>
      </p:sp>
      <p:sp>
        <p:nvSpPr>
          <p:cNvPr id="17" name="text-021: 已初始化：seed = 1"/>
          <p:cNvSpPr txBox="1"/>
          <p:nvPr/>
        </p:nvSpPr>
        <p:spPr>
          <a:xfrm>
            <a:off x="512064" y="2912933"/>
            <a:ext cx="191170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已初始化：seed = 1</a:t>
            </a:r>
          </a:p>
        </p:txBody>
      </p:sp>
      <p:sp>
        <p:nvSpPr>
          <p:cNvPr id="18" name="text-022: 常量：greeting[]"/>
          <p:cNvSpPr txBox="1"/>
          <p:nvPr/>
        </p:nvSpPr>
        <p:spPr>
          <a:xfrm>
            <a:off x="512064" y="3126293"/>
            <a:ext cx="179222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常量：greeting[]</a:t>
            </a:r>
          </a:p>
        </p:txBody>
      </p:sp>
      <p:sp>
        <p:nvSpPr>
          <p:cNvPr id="19" name="text-023: 零初始化：result[137]"/>
          <p:cNvSpPr txBox="1"/>
          <p:nvPr/>
        </p:nvSpPr>
        <p:spPr>
          <a:xfrm>
            <a:off x="512064" y="3339653"/>
            <a:ext cx="224454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零初始化：result[137]</a:t>
            </a:r>
          </a:p>
        </p:txBody>
      </p:sp>
      <p:sp>
        <p:nvSpPr>
          <p:cNvPr id="20" name="text-024: 局部 temporary：可在寄存器"/>
          <p:cNvSpPr txBox="1"/>
          <p:nvPr/>
        </p:nvSpPr>
        <p:spPr>
          <a:xfrm>
            <a:off x="512064" y="3553013"/>
            <a:ext cx="264566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 temporary：可在寄存器</a:t>
            </a:r>
          </a:p>
        </p:txBody>
      </p:sp>
      <p:sp>
        <p:nvSpPr>
          <p:cNvPr id="21" name="text-025: 函数参数 / 返回值：依 ABI"/>
          <p:cNvSpPr txBox="1"/>
          <p:nvPr/>
        </p:nvSpPr>
        <p:spPr>
          <a:xfrm>
            <a:off x="512064" y="3766373"/>
            <a:ext cx="2483510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函数参数 / 返回值：依 ABI</a:t>
            </a:r>
          </a:p>
        </p:txBody>
      </p:sp>
      <p:sp>
        <p:nvSpPr>
          <p:cNvPr id="22" name="rect-026"/>
          <p:cNvSpPr/>
          <p:nvPr/>
        </p:nvSpPr>
        <p:spPr>
          <a:xfrm>
            <a:off x="5831840" y="236474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7"/>
          <p:cNvSpPr/>
          <p:nvPr/>
        </p:nvSpPr>
        <p:spPr>
          <a:xfrm>
            <a:off x="5831840" y="236474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8: .text"/>
          <p:cNvSpPr txBox="1"/>
          <p:nvPr/>
        </p:nvSpPr>
        <p:spPr>
          <a:xfrm>
            <a:off x="5952744" y="2392619"/>
            <a:ext cx="78587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.text</a:t>
            </a:r>
          </a:p>
        </p:txBody>
      </p:sp>
      <p:sp>
        <p:nvSpPr>
          <p:cNvPr id="25" name="text-029: 机器指令，CPU 按 PC 取指"/>
          <p:cNvSpPr txBox="1"/>
          <p:nvPr/>
        </p:nvSpPr>
        <p:spPr>
          <a:xfrm>
            <a:off x="5952744" y="2671694"/>
            <a:ext cx="232277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机器指令，CPU 按 PC 取指</a:t>
            </a:r>
          </a:p>
        </p:txBody>
      </p:sp>
      <p:sp>
        <p:nvSpPr>
          <p:cNvPr id="26" name="rect-030"/>
          <p:cNvSpPr/>
          <p:nvPr/>
        </p:nvSpPr>
        <p:spPr>
          <a:xfrm>
            <a:off x="5831840" y="339598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1"/>
          <p:cNvSpPr/>
          <p:nvPr/>
        </p:nvSpPr>
        <p:spPr>
          <a:xfrm>
            <a:off x="5831840" y="339598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2: .misc"/>
          <p:cNvSpPr txBox="1"/>
          <p:nvPr/>
        </p:nvSpPr>
        <p:spPr>
          <a:xfrm>
            <a:off x="5952744" y="3423859"/>
            <a:ext cx="78587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.misc</a:t>
            </a:r>
          </a:p>
        </p:txBody>
      </p:sp>
      <p:sp>
        <p:nvSpPr>
          <p:cNvPr id="29" name="text-033: 常量与已初始化数据：greeting / seed"/>
          <p:cNvSpPr txBox="1"/>
          <p:nvPr/>
        </p:nvSpPr>
        <p:spPr>
          <a:xfrm>
            <a:off x="5952744" y="3702934"/>
            <a:ext cx="339420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常量与已初始化数据：greeting / seed</a:t>
            </a:r>
          </a:p>
        </p:txBody>
      </p:sp>
      <p:sp>
        <p:nvSpPr>
          <p:cNvPr id="30" name="rect-034"/>
          <p:cNvSpPr/>
          <p:nvPr/>
        </p:nvSpPr>
        <p:spPr>
          <a:xfrm>
            <a:off x="5831840" y="442722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5"/>
          <p:cNvSpPr/>
          <p:nvPr/>
        </p:nvSpPr>
        <p:spPr>
          <a:xfrm>
            <a:off x="5831840" y="442722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6: .bss"/>
          <p:cNvSpPr txBox="1"/>
          <p:nvPr/>
        </p:nvSpPr>
        <p:spPr>
          <a:xfrm>
            <a:off x="5952744" y="4455099"/>
            <a:ext cx="66568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.bss</a:t>
            </a:r>
          </a:p>
        </p:txBody>
      </p:sp>
      <p:sp>
        <p:nvSpPr>
          <p:cNvPr id="33" name="text-037: 运行时空间：137 × 4 = 548 B；crt0 清零"/>
          <p:cNvSpPr txBox="1"/>
          <p:nvPr/>
        </p:nvSpPr>
        <p:spPr>
          <a:xfrm>
            <a:off x="5952744" y="4734174"/>
            <a:ext cx="376224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运行时空间：137 × 4 = 548 B；crt0 清零</a:t>
            </a:r>
          </a:p>
        </p:txBody>
      </p:sp>
      <p:sp>
        <p:nvSpPr>
          <p:cNvPr id="34" name="rect-038"/>
          <p:cNvSpPr/>
          <p:nvPr/>
        </p:nvSpPr>
        <p:spPr>
          <a:xfrm>
            <a:off x="5831840" y="545846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39"/>
          <p:cNvSpPr/>
          <p:nvPr/>
        </p:nvSpPr>
        <p:spPr>
          <a:xfrm>
            <a:off x="5831840" y="5458460"/>
            <a:ext cx="35560" cy="7823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40: stack / 寄存器"/>
          <p:cNvSpPr txBox="1"/>
          <p:nvPr/>
        </p:nvSpPr>
        <p:spPr>
          <a:xfrm>
            <a:off x="5952744" y="5486339"/>
            <a:ext cx="170119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stack / 寄存器</a:t>
            </a:r>
          </a:p>
        </p:txBody>
      </p:sp>
      <p:sp>
        <p:nvSpPr>
          <p:cNvPr id="37" name="text-041: 调用保存必要状态；无默认堆"/>
          <p:cNvSpPr txBox="1"/>
          <p:nvPr/>
        </p:nvSpPr>
        <p:spPr>
          <a:xfrm>
            <a:off x="5952744" y="5765414"/>
            <a:ext cx="229006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调用保存必要状态；无默认堆</a:t>
            </a:r>
          </a:p>
        </p:txBody>
      </p:sp>
      <p:sp>
        <p:nvSpPr>
          <p:cNvPr id="38" name="rect-042"/>
          <p:cNvSpPr/>
          <p:nvPr/>
        </p:nvSpPr>
        <p:spPr>
          <a:xfrm>
            <a:off x="391160" y="7023100"/>
            <a:ext cx="561848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3"/>
          <p:cNvSpPr/>
          <p:nvPr/>
        </p:nvSpPr>
        <p:spPr>
          <a:xfrm>
            <a:off x="391160" y="702310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4: 函数调用示例"/>
          <p:cNvSpPr txBox="1"/>
          <p:nvPr/>
        </p:nvSpPr>
        <p:spPr>
          <a:xfrm>
            <a:off x="512064" y="705097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函数调用示例</a:t>
            </a:r>
          </a:p>
        </p:txBody>
      </p:sp>
      <p:sp>
        <p:nvSpPr>
          <p:cNvPr id="41" name="text-045: main → make_value → ret；a0 传参 / 返回值，ra 保"/>
          <p:cNvSpPr txBox="1"/>
          <p:nvPr/>
        </p:nvSpPr>
        <p:spPr>
          <a:xfrm>
            <a:off x="512064" y="7337735"/>
            <a:ext cx="555447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main → make_value → ret；a0 传参 / 返回值，ra 保存返回地址</a:t>
            </a:r>
          </a:p>
        </p:txBody>
      </p:sp>
      <p:sp>
        <p:nvSpPr>
          <p:cNvPr id="42" name="text-046: 跨调用仍需保留的值按 ABI 约定保存"/>
          <p:cNvSpPr txBox="1"/>
          <p:nvPr/>
        </p:nvSpPr>
        <p:spPr>
          <a:xfrm>
            <a:off x="512064" y="7551095"/>
            <a:ext cx="285546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跨调用仍需保留的值按 ABI 约定保存</a:t>
            </a:r>
          </a:p>
        </p:txBody>
      </p:sp>
      <p:sp>
        <p:nvSpPr>
          <p:cNvPr id="43" name="rect-047"/>
          <p:cNvSpPr/>
          <p:nvPr/>
        </p:nvSpPr>
        <p:spPr>
          <a:xfrm>
            <a:off x="6578600" y="7023100"/>
            <a:ext cx="576072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-048"/>
          <p:cNvSpPr/>
          <p:nvPr/>
        </p:nvSpPr>
        <p:spPr>
          <a:xfrm>
            <a:off x="6578600" y="702310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49: SPM 链接时的栈前提"/>
          <p:cNvSpPr txBox="1"/>
          <p:nvPr/>
        </p:nvSpPr>
        <p:spPr>
          <a:xfrm>
            <a:off x="6699504" y="7050979"/>
            <a:ext cx="196006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SPM 链接时的栈前提</a:t>
            </a:r>
          </a:p>
        </p:txBody>
      </p:sp>
      <p:sp>
        <p:nvSpPr>
          <p:cNvPr id="46" name="text-050: __stack_pointer$ = 0 表示应用沿用既有栈"/>
          <p:cNvSpPr txBox="1"/>
          <p:nvPr/>
        </p:nvSpPr>
        <p:spPr>
          <a:xfrm>
            <a:off x="6699504" y="7337735"/>
            <a:ext cx="370037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__stack_pointer$ = 0 表示应用沿用既有栈</a:t>
            </a:r>
          </a:p>
        </p:txBody>
      </p:sp>
      <p:sp>
        <p:nvSpPr>
          <p:cNvPr id="47" name="text-051: 不能把 0 写入 sp；首次栈访问前须有有效可写存储"/>
          <p:cNvSpPr txBox="1"/>
          <p:nvPr/>
        </p:nvSpPr>
        <p:spPr>
          <a:xfrm>
            <a:off x="6699504" y="7551095"/>
            <a:ext cx="389595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不能把 0 写入 sp；首次栈访问前须有有效可写存储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93620"/>
            <a:ext cx="12019280" cy="2311400"/>
          </a:xfrm>
          <a:prstGeom prst="roundRect">
            <a:avLst>
              <a:gd name="adj" fmla="val 369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391160" y="5138420"/>
            <a:ext cx="12019280" cy="1849120"/>
          </a:xfrm>
          <a:prstGeom prst="roundRect">
            <a:avLst>
              <a:gd name="adj" fmla="val 461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3129280" y="35204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6080760" y="35204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9032240" y="35204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3129280" y="61341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5"/>
          <p:cNvSpPr/>
          <p:nvPr/>
        </p:nvSpPr>
        <p:spPr>
          <a:xfrm>
            <a:off x="6080760" y="61341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7"/>
          <p:cNvSpPr/>
          <p:nvPr/>
        </p:nvSpPr>
        <p:spPr>
          <a:xfrm>
            <a:off x="9032240" y="61341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9: I2C EEPROM 与 SPI NOR：控制器动作映射到器件协议"/>
          <p:cNvSpPr txBox="1"/>
          <p:nvPr/>
        </p:nvSpPr>
        <p:spPr>
          <a:xfrm>
            <a:off x="483616" y="1071209"/>
            <a:ext cx="7002475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I2C EEPROM 与 SPI NOR：控制器动作映射到器件协议</a:t>
            </a:r>
          </a:p>
        </p:txBody>
      </p:sp>
      <p:sp>
        <p:nvSpPr>
          <p:cNvPr id="14" name="text-020: 固定读 16 字节；下图表示协议阶段与片选边界，不表示按比例绘制的电气时序。"/>
          <p:cNvSpPr txBox="1"/>
          <p:nvPr/>
        </p:nvSpPr>
        <p:spPr>
          <a:xfrm>
            <a:off x="483616" y="1476878"/>
            <a:ext cx="615045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固定读 16 字节；下图表示协议阶段与片选边界，不表示按比例绘制的电气时序。</a:t>
            </a:r>
          </a:p>
        </p:txBody>
      </p:sp>
      <p:sp>
        <p:nvSpPr>
          <p:cNvPr id="15" name="text-021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2: 依据：本地 EEPROM HAL 的 STOP/START 流程；SPI NOR"/>
          <p:cNvSpPr txBox="1"/>
          <p:nvPr/>
        </p:nvSpPr>
        <p:spPr>
          <a:xfrm>
            <a:off x="341376" y="8526577"/>
            <a:ext cx="667105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EEPROM HAL 的 STOP/START 流程；SPI NOR 0x13 读命令；VIP 预填值 0x9a</a:t>
            </a:r>
          </a:p>
        </p:txBody>
      </p:sp>
      <p:sp>
        <p:nvSpPr>
          <p:cNvPr id="17" name="text-023: I2C：SDA / SCL 开漏，需要器件地址和内部地址"/>
          <p:cNvSpPr txBox="1"/>
          <p:nvPr/>
        </p:nvSpPr>
        <p:spPr>
          <a:xfrm>
            <a:off x="519176" y="2350516"/>
            <a:ext cx="434721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I2C：SDA / SCL 开漏，需要器件地址和内部地址</a:t>
            </a:r>
          </a:p>
        </p:txBody>
      </p:sp>
      <p:sp>
        <p:nvSpPr>
          <p:cNvPr id="18" name="rect-024"/>
          <p:cNvSpPr/>
          <p:nvPr/>
        </p:nvSpPr>
        <p:spPr>
          <a:xfrm>
            <a:off x="60452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-025"/>
          <p:cNvSpPr/>
          <p:nvPr/>
        </p:nvSpPr>
        <p:spPr>
          <a:xfrm>
            <a:off x="60452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-026: START + 写址"/>
          <p:cNvSpPr txBox="1"/>
          <p:nvPr/>
        </p:nvSpPr>
        <p:spPr>
          <a:xfrm>
            <a:off x="725424" y="3068259"/>
            <a:ext cx="151627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START + 写址</a:t>
            </a:r>
          </a:p>
        </p:txBody>
      </p:sp>
      <p:sp>
        <p:nvSpPr>
          <p:cNvPr id="21" name="text-027: 选择 EEPROM"/>
          <p:cNvSpPr txBox="1"/>
          <p:nvPr/>
        </p:nvSpPr>
        <p:spPr>
          <a:xfrm>
            <a:off x="725424" y="3355015"/>
            <a:ext cx="118130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EEPROM</a:t>
            </a:r>
          </a:p>
        </p:txBody>
      </p:sp>
      <p:sp>
        <p:nvSpPr>
          <p:cNvPr id="22" name="rect-028"/>
          <p:cNvSpPr/>
          <p:nvPr/>
        </p:nvSpPr>
        <p:spPr>
          <a:xfrm>
            <a:off x="355600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9"/>
          <p:cNvSpPr/>
          <p:nvPr/>
        </p:nvSpPr>
        <p:spPr>
          <a:xfrm>
            <a:off x="355600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30: 16 位内部地址"/>
          <p:cNvSpPr txBox="1"/>
          <p:nvPr/>
        </p:nvSpPr>
        <p:spPr>
          <a:xfrm>
            <a:off x="3676904" y="3068259"/>
            <a:ext cx="147005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16 位内部地址</a:t>
            </a:r>
          </a:p>
        </p:txBody>
      </p:sp>
      <p:sp>
        <p:nvSpPr>
          <p:cNvPr id="25" name="text-031: 设定器件读指针"/>
          <p:cNvSpPr txBox="1"/>
          <p:nvPr/>
        </p:nvSpPr>
        <p:spPr>
          <a:xfrm>
            <a:off x="3676904" y="3355015"/>
            <a:ext cx="125171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设定器件读指针</a:t>
            </a:r>
          </a:p>
        </p:txBody>
      </p:sp>
      <p:sp>
        <p:nvSpPr>
          <p:cNvPr id="26" name="rect-032"/>
          <p:cNvSpPr/>
          <p:nvPr/>
        </p:nvSpPr>
        <p:spPr>
          <a:xfrm>
            <a:off x="650748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3"/>
          <p:cNvSpPr/>
          <p:nvPr/>
        </p:nvSpPr>
        <p:spPr>
          <a:xfrm>
            <a:off x="650748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4: STOP；新 START"/>
          <p:cNvSpPr txBox="1"/>
          <p:nvPr/>
        </p:nvSpPr>
        <p:spPr>
          <a:xfrm>
            <a:off x="6628384" y="3068259"/>
            <a:ext cx="175666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STOP；新 START</a:t>
            </a:r>
          </a:p>
        </p:txBody>
      </p:sp>
      <p:sp>
        <p:nvSpPr>
          <p:cNvPr id="29" name="text-035: 本地 HAL 行为"/>
          <p:cNvSpPr txBox="1"/>
          <p:nvPr/>
        </p:nvSpPr>
        <p:spPr>
          <a:xfrm>
            <a:off x="6628384" y="3355015"/>
            <a:ext cx="129082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HAL 行为</a:t>
            </a:r>
          </a:p>
        </p:txBody>
      </p:sp>
      <p:sp>
        <p:nvSpPr>
          <p:cNvPr id="30" name="rect-036"/>
          <p:cNvSpPr/>
          <p:nvPr/>
        </p:nvSpPr>
        <p:spPr>
          <a:xfrm>
            <a:off x="945896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7"/>
          <p:cNvSpPr/>
          <p:nvPr/>
        </p:nvSpPr>
        <p:spPr>
          <a:xfrm>
            <a:off x="945896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8: 读址 + 16 字节"/>
          <p:cNvSpPr txBox="1"/>
          <p:nvPr/>
        </p:nvSpPr>
        <p:spPr>
          <a:xfrm>
            <a:off x="9579864" y="3068259"/>
            <a:ext cx="164571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读址 + 16 字节</a:t>
            </a:r>
          </a:p>
        </p:txBody>
      </p:sp>
      <p:sp>
        <p:nvSpPr>
          <p:cNvPr id="33" name="text-039: 接收并检查数据"/>
          <p:cNvSpPr txBox="1"/>
          <p:nvPr/>
        </p:nvSpPr>
        <p:spPr>
          <a:xfrm>
            <a:off x="9579864" y="3355015"/>
            <a:ext cx="125171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接收并检查数据</a:t>
            </a:r>
          </a:p>
        </p:txBody>
      </p:sp>
      <p:sp>
        <p:nvSpPr>
          <p:cNvPr id="34" name="text-040: SPI NOR：控制器主动驱动 SCK；一次 CS1 有效覆盖命令、地址和读数据"/>
          <p:cNvSpPr txBox="1"/>
          <p:nvPr/>
        </p:nvSpPr>
        <p:spPr>
          <a:xfrm>
            <a:off x="519176" y="5195316"/>
            <a:ext cx="629412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SPI NOR：控制器主动驱动 SCK；一次 CS1 有效覆盖命令、地址和读数据</a:t>
            </a:r>
          </a:p>
        </p:txBody>
      </p:sp>
      <p:sp>
        <p:nvSpPr>
          <p:cNvPr id="35" name="rect-041"/>
          <p:cNvSpPr/>
          <p:nvPr/>
        </p:nvSpPr>
        <p:spPr>
          <a:xfrm>
            <a:off x="60452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-042"/>
          <p:cNvSpPr/>
          <p:nvPr/>
        </p:nvSpPr>
        <p:spPr>
          <a:xfrm>
            <a:off x="60452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-043: CS1 有效"/>
          <p:cNvSpPr txBox="1"/>
          <p:nvPr/>
        </p:nvSpPr>
        <p:spPr>
          <a:xfrm>
            <a:off x="725424" y="5735259"/>
            <a:ext cx="103550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CS1 有效</a:t>
            </a:r>
          </a:p>
        </p:txBody>
      </p:sp>
      <p:sp>
        <p:nvSpPr>
          <p:cNvPr id="38" name="text-044: 选择 Flash"/>
          <p:cNvSpPr txBox="1"/>
          <p:nvPr/>
        </p:nvSpPr>
        <p:spPr>
          <a:xfrm>
            <a:off x="725424" y="6022015"/>
            <a:ext cx="107960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Flash</a:t>
            </a:r>
          </a:p>
        </p:txBody>
      </p:sp>
      <p:sp>
        <p:nvSpPr>
          <p:cNvPr id="39" name="rect-045"/>
          <p:cNvSpPr/>
          <p:nvPr/>
        </p:nvSpPr>
        <p:spPr>
          <a:xfrm>
            <a:off x="355600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-046"/>
          <p:cNvSpPr/>
          <p:nvPr/>
        </p:nvSpPr>
        <p:spPr>
          <a:xfrm>
            <a:off x="355600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-047: 命令 0x13"/>
          <p:cNvSpPr txBox="1"/>
          <p:nvPr/>
        </p:nvSpPr>
        <p:spPr>
          <a:xfrm>
            <a:off x="3676904" y="5735259"/>
            <a:ext cx="115570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命令 0x13</a:t>
            </a:r>
          </a:p>
        </p:txBody>
      </p:sp>
      <p:sp>
        <p:nvSpPr>
          <p:cNvPr id="42" name="text-048: 四字节地址读"/>
          <p:cNvSpPr txBox="1"/>
          <p:nvPr/>
        </p:nvSpPr>
        <p:spPr>
          <a:xfrm>
            <a:off x="3676904" y="6022015"/>
            <a:ext cx="109524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四字节地址读</a:t>
            </a:r>
          </a:p>
        </p:txBody>
      </p:sp>
      <p:sp>
        <p:nvSpPr>
          <p:cNvPr id="43" name="rect-049"/>
          <p:cNvSpPr/>
          <p:nvPr/>
        </p:nvSpPr>
        <p:spPr>
          <a:xfrm>
            <a:off x="650748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-050"/>
          <p:cNvSpPr/>
          <p:nvPr/>
        </p:nvSpPr>
        <p:spPr>
          <a:xfrm>
            <a:off x="650748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51: 四字节地址"/>
          <p:cNvSpPr txBox="1"/>
          <p:nvPr/>
        </p:nvSpPr>
        <p:spPr>
          <a:xfrm>
            <a:off x="6628384" y="5735259"/>
            <a:ext cx="110947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四字节地址</a:t>
            </a:r>
          </a:p>
        </p:txBody>
      </p:sp>
      <p:sp>
        <p:nvSpPr>
          <p:cNvPr id="46" name="text-052: 指定读取起点"/>
          <p:cNvSpPr txBox="1"/>
          <p:nvPr/>
        </p:nvSpPr>
        <p:spPr>
          <a:xfrm>
            <a:off x="6628384" y="6022015"/>
            <a:ext cx="109524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指定读取起点</a:t>
            </a:r>
          </a:p>
        </p:txBody>
      </p:sp>
      <p:sp>
        <p:nvSpPr>
          <p:cNvPr id="47" name="rect-053"/>
          <p:cNvSpPr/>
          <p:nvPr/>
        </p:nvSpPr>
        <p:spPr>
          <a:xfrm>
            <a:off x="945896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54"/>
          <p:cNvSpPr/>
          <p:nvPr/>
        </p:nvSpPr>
        <p:spPr>
          <a:xfrm>
            <a:off x="945896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5: RX 16 字节"/>
          <p:cNvSpPr txBox="1"/>
          <p:nvPr/>
        </p:nvSpPr>
        <p:spPr>
          <a:xfrm>
            <a:off x="9579864" y="573525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RX 16 字节</a:t>
            </a:r>
          </a:p>
        </p:txBody>
      </p:sp>
      <p:sp>
        <p:nvSpPr>
          <p:cNvPr id="50" name="text-056: 检查预期内容"/>
          <p:cNvSpPr txBox="1"/>
          <p:nvPr/>
        </p:nvSpPr>
        <p:spPr>
          <a:xfrm>
            <a:off x="9579864" y="6022015"/>
            <a:ext cx="109524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检查预期内容</a:t>
            </a:r>
          </a:p>
        </p:txBody>
      </p:sp>
      <p:sp>
        <p:nvSpPr>
          <p:cNvPr id="51" name="rect-057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-058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-059: 器件协议与平台支持分别验证"/>
          <p:cNvSpPr txBox="1"/>
          <p:nvPr/>
        </p:nvSpPr>
        <p:spPr>
          <a:xfrm>
            <a:off x="512064" y="7335459"/>
            <a:ext cx="258876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器件协议与平台支持分别验证</a:t>
            </a:r>
          </a:p>
        </p:txBody>
      </p:sp>
      <p:sp>
        <p:nvSpPr>
          <p:cNvPr id="54" name="text-060: EEPROM 当前流程不能标成 repeated START；SD 虽共用 SP"/>
          <p:cNvSpPr txBox="1"/>
          <p:nvPr/>
        </p:nvSpPr>
        <p:spPr>
          <a:xfrm>
            <a:off x="512064" y="7622215"/>
            <a:ext cx="837082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EEPROM 当前流程不能标成 repeated START；SD 虽共用 SPI 控制器，但使用不同命令、响应与块校验协议。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32918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391160" y="414274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-007"/>
          <p:cNvSpPr/>
          <p:nvPr/>
        </p:nvSpPr>
        <p:spPr>
          <a:xfrm>
            <a:off x="391160" y="595630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8"/>
          <p:cNvSpPr/>
          <p:nvPr/>
        </p:nvSpPr>
        <p:spPr>
          <a:xfrm>
            <a:off x="5120640" y="320040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0"/>
          <p:cNvSpPr/>
          <p:nvPr/>
        </p:nvSpPr>
        <p:spPr>
          <a:xfrm>
            <a:off x="5120640" y="501396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2"/>
          <p:cNvSpPr/>
          <p:nvPr/>
        </p:nvSpPr>
        <p:spPr>
          <a:xfrm>
            <a:off x="5120640" y="682752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4: 三种访问辨认 SoC：字符输出、数组计算、调试装载"/>
          <p:cNvSpPr txBox="1"/>
          <p:nvPr/>
        </p:nvSpPr>
        <p:spPr>
          <a:xfrm>
            <a:off x="483616" y="1071209"/>
            <a:ext cx="6298387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三种访问辨认 SoC：字符输出、数组计算、调试装载</a:t>
            </a:r>
          </a:p>
        </p:txBody>
      </p:sp>
      <p:sp>
        <p:nvSpPr>
          <p:cNvPr id="12" name="text-015: 用具体请求区分控制面与数据面；Ara 由 CPU 向量指令驱动，并通过自身 AX"/>
          <p:cNvSpPr txBox="1"/>
          <p:nvPr/>
        </p:nvSpPr>
        <p:spPr>
          <a:xfrm>
            <a:off x="483616" y="1476878"/>
            <a:ext cx="688655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用具体请求区分控制面与数据面；Ara 由 CPU 向量指令驱动，并通过自身 AXI 口访存。</a:t>
            </a:r>
          </a:p>
        </p:txBody>
      </p:sp>
      <p:sp>
        <p:nvSpPr>
          <p:cNvPr id="13" name="text-01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7: 源码：cheshire_soc.sv；UART DIF；CVA6–Ara 专用控"/>
          <p:cNvSpPr txBox="1"/>
          <p:nvPr/>
        </p:nvSpPr>
        <p:spPr>
          <a:xfrm>
            <a:off x="341376" y="8526577"/>
            <a:ext cx="4715256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源码：cheshire_soc.sv；UART DIF；CVA6–Ara 专用控制接口</a:t>
            </a:r>
          </a:p>
        </p:txBody>
      </p:sp>
      <p:sp>
        <p:nvSpPr>
          <p:cNvPr id="15" name="text-018: ① CPU 输出字符"/>
          <p:cNvSpPr txBox="1"/>
          <p:nvPr/>
        </p:nvSpPr>
        <p:spPr>
          <a:xfrm>
            <a:off x="519176" y="2386076"/>
            <a:ext cx="16446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CPU 输出字符</a:t>
            </a:r>
          </a:p>
        </p:txBody>
      </p:sp>
      <p:sp>
        <p:nvSpPr>
          <p:cNvPr id="16" name="rect-019"/>
          <p:cNvSpPr/>
          <p:nvPr/>
        </p:nvSpPr>
        <p:spPr>
          <a:xfrm>
            <a:off x="604520" y="279146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-020"/>
          <p:cNvSpPr/>
          <p:nvPr/>
        </p:nvSpPr>
        <p:spPr>
          <a:xfrm>
            <a:off x="604520" y="27914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21: CPU store → UART THR"/>
          <p:cNvSpPr txBox="1"/>
          <p:nvPr/>
        </p:nvSpPr>
        <p:spPr>
          <a:xfrm>
            <a:off x="725424" y="2819339"/>
            <a:ext cx="265348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store → UART THR</a:t>
            </a:r>
          </a:p>
        </p:txBody>
      </p:sp>
      <p:sp>
        <p:nvSpPr>
          <p:cNvPr id="19" name="text-022: 走寄存器控制路径"/>
          <p:cNvSpPr txBox="1"/>
          <p:nvPr/>
        </p:nvSpPr>
        <p:spPr>
          <a:xfrm>
            <a:off x="725424" y="3098414"/>
            <a:ext cx="147218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走寄存器控制路径</a:t>
            </a:r>
          </a:p>
        </p:txBody>
      </p:sp>
      <p:sp>
        <p:nvSpPr>
          <p:cNvPr id="20" name="rect-023"/>
          <p:cNvSpPr/>
          <p:nvPr/>
        </p:nvSpPr>
        <p:spPr>
          <a:xfrm>
            <a:off x="7147560" y="279146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4"/>
          <p:cNvSpPr/>
          <p:nvPr/>
        </p:nvSpPr>
        <p:spPr>
          <a:xfrm>
            <a:off x="7147560" y="27914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5: Crossbar → AXI/Reg → UART"/>
          <p:cNvSpPr txBox="1"/>
          <p:nvPr/>
        </p:nvSpPr>
        <p:spPr>
          <a:xfrm>
            <a:off x="7268464" y="2819339"/>
            <a:ext cx="331917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Crossbar → AXI/Reg → UART</a:t>
            </a:r>
          </a:p>
        </p:txBody>
      </p:sp>
      <p:sp>
        <p:nvSpPr>
          <p:cNvPr id="23" name="text-026: TX FIFO / 串行状态机 → TX 引脚"/>
          <p:cNvSpPr txBox="1"/>
          <p:nvPr/>
        </p:nvSpPr>
        <p:spPr>
          <a:xfrm>
            <a:off x="7268464" y="3098414"/>
            <a:ext cx="306705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FIFO / 串行状态机 → TX 引脚</a:t>
            </a:r>
          </a:p>
        </p:txBody>
      </p:sp>
      <p:sp>
        <p:nvSpPr>
          <p:cNvPr id="24" name="text-027: ② Ara 处理数组"/>
          <p:cNvSpPr txBox="1"/>
          <p:nvPr/>
        </p:nvSpPr>
        <p:spPr>
          <a:xfrm>
            <a:off x="519176" y="4199636"/>
            <a:ext cx="16446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Ara 处理数组</a:t>
            </a:r>
          </a:p>
        </p:txBody>
      </p:sp>
      <p:sp>
        <p:nvSpPr>
          <p:cNvPr id="25" name="rect-028"/>
          <p:cNvSpPr/>
          <p:nvPr/>
        </p:nvSpPr>
        <p:spPr>
          <a:xfrm>
            <a:off x="604520" y="460502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29"/>
          <p:cNvSpPr/>
          <p:nvPr/>
        </p:nvSpPr>
        <p:spPr>
          <a:xfrm>
            <a:off x="604520" y="46050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0: CPU 发向量指令 / 操作数"/>
          <p:cNvSpPr txBox="1"/>
          <p:nvPr/>
        </p:nvSpPr>
        <p:spPr>
          <a:xfrm>
            <a:off x="725424" y="4632899"/>
            <a:ext cx="250555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发向量指令 / 操作数</a:t>
            </a:r>
          </a:p>
        </p:txBody>
      </p:sp>
      <p:sp>
        <p:nvSpPr>
          <p:cNvPr id="28" name="text-031: Ara VLSU 主动读写数据"/>
          <p:cNvSpPr txBox="1"/>
          <p:nvPr/>
        </p:nvSpPr>
        <p:spPr>
          <a:xfrm>
            <a:off x="725424" y="4911974"/>
            <a:ext cx="210195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VLSU 主动读写数据</a:t>
            </a:r>
          </a:p>
        </p:txBody>
      </p:sp>
      <p:sp>
        <p:nvSpPr>
          <p:cNvPr id="29" name="rect-032"/>
          <p:cNvSpPr/>
          <p:nvPr/>
        </p:nvSpPr>
        <p:spPr>
          <a:xfrm>
            <a:off x="7147560" y="460502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-033"/>
          <p:cNvSpPr/>
          <p:nvPr/>
        </p:nvSpPr>
        <p:spPr>
          <a:xfrm>
            <a:off x="7147560" y="46050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34: Crossbar → LLC / SPM"/>
          <p:cNvSpPr txBox="1"/>
          <p:nvPr/>
        </p:nvSpPr>
        <p:spPr>
          <a:xfrm>
            <a:off x="7268464" y="4632899"/>
            <a:ext cx="265348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Crossbar → LLC / SPM</a:t>
            </a:r>
          </a:p>
        </p:txBody>
      </p:sp>
      <p:sp>
        <p:nvSpPr>
          <p:cNvPr id="32" name="text-035: 片上命中或 LLC 下游外存"/>
          <p:cNvSpPr txBox="1"/>
          <p:nvPr/>
        </p:nvSpPr>
        <p:spPr>
          <a:xfrm>
            <a:off x="7268464" y="4911974"/>
            <a:ext cx="216738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片上命中或 LLC 下游外存</a:t>
            </a:r>
          </a:p>
        </p:txBody>
      </p:sp>
      <p:sp>
        <p:nvSpPr>
          <p:cNvPr id="33" name="text-036: ③ Debug 装载程序"/>
          <p:cNvSpPr txBox="1"/>
          <p:nvPr/>
        </p:nvSpPr>
        <p:spPr>
          <a:xfrm>
            <a:off x="519176" y="6013196"/>
            <a:ext cx="187579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Debug 装载程序</a:t>
            </a:r>
          </a:p>
        </p:txBody>
      </p:sp>
      <p:sp>
        <p:nvSpPr>
          <p:cNvPr id="34" name="rect-037"/>
          <p:cNvSpPr/>
          <p:nvPr/>
        </p:nvSpPr>
        <p:spPr>
          <a:xfrm>
            <a:off x="604520" y="641858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38"/>
          <p:cNvSpPr/>
          <p:nvPr/>
        </p:nvSpPr>
        <p:spPr>
          <a:xfrm>
            <a:off x="604520" y="64185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39: 主机 JTAG → DTM / DM"/>
          <p:cNvSpPr txBox="1"/>
          <p:nvPr/>
        </p:nvSpPr>
        <p:spPr>
          <a:xfrm>
            <a:off x="725424" y="6446459"/>
            <a:ext cx="254254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主机 JTAG → DTM / DM</a:t>
            </a:r>
          </a:p>
        </p:txBody>
      </p:sp>
      <p:sp>
        <p:nvSpPr>
          <p:cNvPr id="37" name="text-040: SBA 成为 AXI 请求发起端"/>
          <p:cNvSpPr txBox="1"/>
          <p:nvPr/>
        </p:nvSpPr>
        <p:spPr>
          <a:xfrm>
            <a:off x="725424" y="6725534"/>
            <a:ext cx="226552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SBA 成为 AXI 请求发起端</a:t>
            </a:r>
          </a:p>
        </p:txBody>
      </p:sp>
      <p:sp>
        <p:nvSpPr>
          <p:cNvPr id="38" name="rect-041"/>
          <p:cNvSpPr/>
          <p:nvPr/>
        </p:nvSpPr>
        <p:spPr>
          <a:xfrm>
            <a:off x="7147560" y="641858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2"/>
          <p:cNvSpPr/>
          <p:nvPr/>
        </p:nvSpPr>
        <p:spPr>
          <a:xfrm>
            <a:off x="7147560" y="64185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3: Crossbar → 目标可写内存"/>
          <p:cNvSpPr txBox="1"/>
          <p:nvPr/>
        </p:nvSpPr>
        <p:spPr>
          <a:xfrm>
            <a:off x="7268464" y="6446459"/>
            <a:ext cx="268122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目标可写内存</a:t>
            </a:r>
          </a:p>
        </p:txBody>
      </p:sp>
      <p:sp>
        <p:nvSpPr>
          <p:cNvPr id="41" name="text-044: halt / 写段 / DPC / resume"/>
          <p:cNvSpPr txBox="1"/>
          <p:nvPr/>
        </p:nvSpPr>
        <p:spPr>
          <a:xfrm>
            <a:off x="7268464" y="6725534"/>
            <a:ext cx="282986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halt / 写段 / DPC / resume</a:t>
            </a:r>
          </a:p>
        </p:txBody>
      </p:sp>
      <p:sp>
        <p:nvSpPr>
          <p:cNvPr id="42" name="text-045: 控制寄存器口、主动数据口、完成事件口是不同角色；完整连接结构见下一张系统图。"/>
          <p:cNvSpPr txBox="1"/>
          <p:nvPr/>
        </p:nvSpPr>
        <p:spPr>
          <a:xfrm>
            <a:off x="462280" y="7776972"/>
            <a:ext cx="69342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控制寄存器口、主动数据口、完成事件口是不同角色；完整连接结构见下一张系统图。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5"/>
          <p:cNvCxnSpPr/>
          <p:nvPr/>
        </p:nvCxnSpPr>
        <p:spPr>
          <a:xfrm>
            <a:off x="13512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6" name="line-006"/>
          <p:cNvCxnSpPr/>
          <p:nvPr/>
        </p:nvCxnSpPr>
        <p:spPr>
          <a:xfrm>
            <a:off x="47294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7" name="line-007"/>
          <p:cNvCxnSpPr/>
          <p:nvPr/>
        </p:nvCxnSpPr>
        <p:spPr>
          <a:xfrm>
            <a:off x="81076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8" name="line-008"/>
          <p:cNvCxnSpPr/>
          <p:nvPr/>
        </p:nvCxnSpPr>
        <p:spPr>
          <a:xfrm>
            <a:off x="114858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sp>
        <p:nvSpPr>
          <p:cNvPr id="9" name="polyline-009"/>
          <p:cNvSpPr/>
          <p:nvPr/>
        </p:nvSpPr>
        <p:spPr>
          <a:xfrm>
            <a:off x="1351280" y="311150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1"/>
          <p:cNvSpPr/>
          <p:nvPr/>
        </p:nvSpPr>
        <p:spPr>
          <a:xfrm>
            <a:off x="1351280" y="396494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3"/>
          <p:cNvSpPr/>
          <p:nvPr/>
        </p:nvSpPr>
        <p:spPr>
          <a:xfrm>
            <a:off x="1351280" y="481838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olyline-015"/>
          <p:cNvSpPr/>
          <p:nvPr/>
        </p:nvSpPr>
        <p:spPr>
          <a:xfrm>
            <a:off x="1351280" y="634746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10134600" y="0"/>
                </a:moveTo>
                <a:lnTo>
                  <a:pt x="0" y="0"/>
                </a:lnTo>
              </a:path>
            </a:pathLst>
          </a:custGeom>
          <a:noFill/>
          <a:ln w="28448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7: AXI 写事务：地址、数据与响应三条独立通道"/>
          <p:cNvSpPr txBox="1"/>
          <p:nvPr/>
        </p:nvSpPr>
        <p:spPr>
          <a:xfrm>
            <a:off x="483616" y="1071209"/>
            <a:ext cx="5530291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写事务：地址、数据与响应三条独立通道</a:t>
            </a:r>
          </a:p>
        </p:txBody>
      </p:sp>
      <p:sp>
        <p:nvSpPr>
          <p:cNvPr id="14" name="text-018: 同一笔两拍写入；AW 与 W 可以独立提出。W 没有 WID，互连需要保存目标与"/>
          <p:cNvSpPr txBox="1"/>
          <p:nvPr/>
        </p:nvSpPr>
        <p:spPr>
          <a:xfrm>
            <a:off x="483616" y="1476878"/>
            <a:ext cx="651032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同一笔两拍写入；AW 与 W 可以独立提出。W 没有 WID，互连需要保存目标与来源。</a:t>
            </a:r>
          </a:p>
        </p:txBody>
      </p:sp>
      <p:sp>
        <p:nvSpPr>
          <p:cNvPr id="15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0: 依据：本地 axi_xbar / axi_mux / axi_demux_sim"/>
          <p:cNvSpPr txBox="1"/>
          <p:nvPr/>
        </p:nvSpPr>
        <p:spPr>
          <a:xfrm>
            <a:off x="341376" y="8526577"/>
            <a:ext cx="6358128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axi_xbar / axi_mux / axi_demux_simple；教学事件图，不表示固定周期</a:t>
            </a:r>
          </a:p>
        </p:txBody>
      </p:sp>
      <p:sp>
        <p:nvSpPr>
          <p:cNvPr id="17" name="rect-021"/>
          <p:cNvSpPr/>
          <p:nvPr/>
        </p:nvSpPr>
        <p:spPr>
          <a:xfrm>
            <a:off x="3556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-022"/>
          <p:cNvSpPr/>
          <p:nvPr/>
        </p:nvSpPr>
        <p:spPr>
          <a:xfrm>
            <a:off x="3556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23: 发起者"/>
          <p:cNvSpPr txBox="1"/>
          <p:nvPr/>
        </p:nvSpPr>
        <p:spPr>
          <a:xfrm>
            <a:off x="476504" y="2143699"/>
            <a:ext cx="739648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发起者</a:t>
            </a:r>
          </a:p>
        </p:txBody>
      </p:sp>
      <p:sp>
        <p:nvSpPr>
          <p:cNvPr id="20" name="rect-024"/>
          <p:cNvSpPr/>
          <p:nvPr/>
        </p:nvSpPr>
        <p:spPr>
          <a:xfrm>
            <a:off x="37338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-025"/>
          <p:cNvSpPr/>
          <p:nvPr/>
        </p:nvSpPr>
        <p:spPr>
          <a:xfrm>
            <a:off x="37338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-026: 输入 demux"/>
          <p:cNvSpPr txBox="1"/>
          <p:nvPr/>
        </p:nvSpPr>
        <p:spPr>
          <a:xfrm>
            <a:off x="3854704" y="2143699"/>
            <a:ext cx="127589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输入 demux</a:t>
            </a:r>
          </a:p>
        </p:txBody>
      </p:sp>
      <p:sp>
        <p:nvSpPr>
          <p:cNvPr id="23" name="rect-027"/>
          <p:cNvSpPr/>
          <p:nvPr/>
        </p:nvSpPr>
        <p:spPr>
          <a:xfrm>
            <a:off x="71120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28"/>
          <p:cNvSpPr/>
          <p:nvPr/>
        </p:nvSpPr>
        <p:spPr>
          <a:xfrm>
            <a:off x="71120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9: 目标 mux"/>
          <p:cNvSpPr txBox="1"/>
          <p:nvPr/>
        </p:nvSpPr>
        <p:spPr>
          <a:xfrm>
            <a:off x="7232904" y="2143699"/>
            <a:ext cx="103550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mux</a:t>
            </a:r>
          </a:p>
        </p:txBody>
      </p:sp>
      <p:sp>
        <p:nvSpPr>
          <p:cNvPr id="26" name="rect-030"/>
          <p:cNvSpPr/>
          <p:nvPr/>
        </p:nvSpPr>
        <p:spPr>
          <a:xfrm>
            <a:off x="104902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-031"/>
          <p:cNvSpPr/>
          <p:nvPr/>
        </p:nvSpPr>
        <p:spPr>
          <a:xfrm>
            <a:off x="104902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32: 目标设备"/>
          <p:cNvSpPr txBox="1"/>
          <p:nvPr/>
        </p:nvSpPr>
        <p:spPr>
          <a:xfrm>
            <a:off x="10611104" y="2143699"/>
            <a:ext cx="92456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目标设备</a:t>
            </a:r>
          </a:p>
        </p:txBody>
      </p:sp>
      <p:sp>
        <p:nvSpPr>
          <p:cNvPr id="29" name="text-033: AW：addr / ID / LEN=1"/>
          <p:cNvSpPr txBox="1"/>
          <p:nvPr/>
        </p:nvSpPr>
        <p:spPr>
          <a:xfrm>
            <a:off x="5053965" y="2798572"/>
            <a:ext cx="255143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AW：addr / ID / LEN=1</a:t>
            </a:r>
          </a:p>
        </p:txBody>
      </p:sp>
      <p:sp>
        <p:nvSpPr>
          <p:cNvPr id="30" name="text-034: W：D0 / STRB / LAST=0"/>
          <p:cNvSpPr txBox="1"/>
          <p:nvPr/>
        </p:nvSpPr>
        <p:spPr>
          <a:xfrm>
            <a:off x="5053965" y="3652012"/>
            <a:ext cx="255143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W：D0 / STRB / LAST=0</a:t>
            </a:r>
          </a:p>
        </p:txBody>
      </p:sp>
      <p:sp>
        <p:nvSpPr>
          <p:cNvPr id="31" name="text-035: W：D1 / STRB / LAST=1"/>
          <p:cNvSpPr txBox="1"/>
          <p:nvPr/>
        </p:nvSpPr>
        <p:spPr>
          <a:xfrm>
            <a:off x="5053965" y="4505452"/>
            <a:ext cx="255143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W：D1 / STRB / LAST=1</a:t>
            </a:r>
          </a:p>
        </p:txBody>
      </p:sp>
      <p:sp>
        <p:nvSpPr>
          <p:cNvPr id="32" name="text-036: B：ID / RESP；软件仍需检查结果"/>
          <p:cNvSpPr txBox="1"/>
          <p:nvPr/>
        </p:nvSpPr>
        <p:spPr>
          <a:xfrm>
            <a:off x="4773930" y="6034532"/>
            <a:ext cx="31115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B：ID / RESP；软件仍需检查结果</a:t>
            </a:r>
          </a:p>
        </p:txBody>
      </p:sp>
      <p:sp>
        <p:nvSpPr>
          <p:cNvPr id="33" name="rect-037"/>
          <p:cNvSpPr/>
          <p:nvPr/>
        </p:nvSpPr>
        <p:spPr>
          <a:xfrm>
            <a:off x="3235960" y="5422900"/>
            <a:ext cx="6258560" cy="5334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-038"/>
          <p:cNvSpPr/>
          <p:nvPr/>
        </p:nvSpPr>
        <p:spPr>
          <a:xfrm>
            <a:off x="3235960" y="5422900"/>
            <a:ext cx="35560" cy="5334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39: 路由状态跨周期保存"/>
          <p:cNvSpPr txBox="1"/>
          <p:nvPr/>
        </p:nvSpPr>
        <p:spPr>
          <a:xfrm>
            <a:off x="3356864" y="5450779"/>
            <a:ext cx="184912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路由状态跨周期保存</a:t>
            </a:r>
          </a:p>
        </p:txBody>
      </p:sp>
      <p:sp>
        <p:nvSpPr>
          <p:cNvPr id="36" name="text-040: 目标 / 来源 FIFO / 同 ID 在途数"/>
          <p:cNvSpPr txBox="1"/>
          <p:nvPr/>
        </p:nvSpPr>
        <p:spPr>
          <a:xfrm>
            <a:off x="3356864" y="5737535"/>
            <a:ext cx="293370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 / 来源 FIFO / 同 ID 在途数</a:t>
            </a:r>
          </a:p>
        </p:txBody>
      </p:sp>
      <p:sp>
        <p:nvSpPr>
          <p:cNvPr id="37" name="rect-041"/>
          <p:cNvSpPr/>
          <p:nvPr/>
        </p:nvSpPr>
        <p:spPr>
          <a:xfrm>
            <a:off x="391160" y="72009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2"/>
          <p:cNvSpPr/>
          <p:nvPr/>
        </p:nvSpPr>
        <p:spPr>
          <a:xfrm>
            <a:off x="391160" y="7200900"/>
            <a:ext cx="35560" cy="8534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3: AW 被接收"/>
          <p:cNvSpPr txBox="1"/>
          <p:nvPr/>
        </p:nvSpPr>
        <p:spPr>
          <a:xfrm>
            <a:off x="512064" y="7228779"/>
            <a:ext cx="1100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 被接收</a:t>
            </a:r>
          </a:p>
        </p:txBody>
      </p:sp>
      <p:sp>
        <p:nvSpPr>
          <p:cNvPr id="40" name="text-044: 该接口接受写地址"/>
          <p:cNvSpPr txBox="1"/>
          <p:nvPr/>
        </p:nvSpPr>
        <p:spPr>
          <a:xfrm>
            <a:off x="512064" y="7515535"/>
            <a:ext cx="140817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该接口接受写地址</a:t>
            </a:r>
          </a:p>
        </p:txBody>
      </p:sp>
      <p:sp>
        <p:nvSpPr>
          <p:cNvPr id="41" name="text-045: 不代表目标已经写入"/>
          <p:cNvSpPr txBox="1"/>
          <p:nvPr/>
        </p:nvSpPr>
        <p:spPr>
          <a:xfrm>
            <a:off x="512064" y="7728895"/>
            <a:ext cx="156464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不代表目标已经写入</a:t>
            </a:r>
          </a:p>
        </p:txBody>
      </p:sp>
      <p:sp>
        <p:nvSpPr>
          <p:cNvPr id="42" name="rect-046"/>
          <p:cNvSpPr/>
          <p:nvPr/>
        </p:nvSpPr>
        <p:spPr>
          <a:xfrm>
            <a:off x="4480560" y="72009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-047"/>
          <p:cNvSpPr/>
          <p:nvPr/>
        </p:nvSpPr>
        <p:spPr>
          <a:xfrm>
            <a:off x="4480560" y="720090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-048: W 末拍握手"/>
          <p:cNvSpPr txBox="1"/>
          <p:nvPr/>
        </p:nvSpPr>
        <p:spPr>
          <a:xfrm>
            <a:off x="4601464" y="7228779"/>
            <a:ext cx="116494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 末拍握手</a:t>
            </a:r>
          </a:p>
        </p:txBody>
      </p:sp>
      <p:sp>
        <p:nvSpPr>
          <p:cNvPr id="45" name="text-049: 该接口结束本 burst 数据"/>
          <p:cNvSpPr txBox="1"/>
          <p:nvPr/>
        </p:nvSpPr>
        <p:spPr>
          <a:xfrm>
            <a:off x="4601464" y="7515535"/>
            <a:ext cx="2120087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该接口结束本 burst 数据</a:t>
            </a:r>
          </a:p>
        </p:txBody>
      </p:sp>
      <p:sp>
        <p:nvSpPr>
          <p:cNvPr id="46" name="text-050: B 响应仍可能在途"/>
          <p:cNvSpPr txBox="1"/>
          <p:nvPr/>
        </p:nvSpPr>
        <p:spPr>
          <a:xfrm>
            <a:off x="4601464" y="7728895"/>
            <a:ext cx="1455115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响应仍可能在途</a:t>
            </a:r>
          </a:p>
        </p:txBody>
      </p:sp>
      <p:sp>
        <p:nvSpPr>
          <p:cNvPr id="47" name="rect-051"/>
          <p:cNvSpPr/>
          <p:nvPr/>
        </p:nvSpPr>
        <p:spPr>
          <a:xfrm>
            <a:off x="8569960" y="7200900"/>
            <a:ext cx="3840480" cy="853440"/>
          </a:xfrm>
          <a:prstGeom prst="roundRect">
            <a:avLst>
              <a:gd name="adj" fmla="val 583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52"/>
          <p:cNvSpPr/>
          <p:nvPr/>
        </p:nvSpPr>
        <p:spPr>
          <a:xfrm>
            <a:off x="8569960" y="7200900"/>
            <a:ext cx="35560" cy="853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3: B 握手并检查 RESP"/>
          <p:cNvSpPr txBox="1"/>
          <p:nvPr/>
        </p:nvSpPr>
        <p:spPr>
          <a:xfrm>
            <a:off x="8690864" y="7228779"/>
            <a:ext cx="195082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 握手并检查 RESP</a:t>
            </a:r>
          </a:p>
        </p:txBody>
      </p:sp>
      <p:sp>
        <p:nvSpPr>
          <p:cNvPr id="50" name="text-054: AXI 写事务响应已返回"/>
          <p:cNvSpPr txBox="1"/>
          <p:nvPr/>
        </p:nvSpPr>
        <p:spPr>
          <a:xfrm>
            <a:off x="8690864" y="7515535"/>
            <a:ext cx="181498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写事务响应已返回</a:t>
            </a:r>
          </a:p>
        </p:txBody>
      </p:sp>
      <p:sp>
        <p:nvSpPr>
          <p:cNvPr id="51" name="text-055: 设备动作完成语义仍由寄存器定义"/>
          <p:cNvSpPr txBox="1"/>
          <p:nvPr/>
        </p:nvSpPr>
        <p:spPr>
          <a:xfrm>
            <a:off x="8690864" y="7728895"/>
            <a:ext cx="250342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设备动作完成语义仍由寄存器定义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4356100"/>
            <a:ext cx="12019280" cy="2062480"/>
          </a:xfrm>
          <a:prstGeom prst="roundRect">
            <a:avLst>
              <a:gd name="adj" fmla="val 4137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6"/>
          <p:cNvSpPr/>
          <p:nvPr/>
        </p:nvSpPr>
        <p:spPr>
          <a:xfrm>
            <a:off x="3698240" y="28981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8"/>
          <p:cNvSpPr/>
          <p:nvPr/>
        </p:nvSpPr>
        <p:spPr>
          <a:xfrm>
            <a:off x="8498840" y="28981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10"/>
          <p:cNvSpPr/>
          <p:nvPr/>
        </p:nvSpPr>
        <p:spPr>
          <a:xfrm>
            <a:off x="2062480" y="3467100"/>
            <a:ext cx="8961120" cy="462280"/>
          </a:xfrm>
          <a:custGeom>
            <a:avLst/>
            <a:gdLst/>
            <a:ahLst/>
            <a:cxnLst/>
            <a:rect l="0" t="0" r="r" b="b"/>
            <a:pathLst>
              <a:path w="8961120" h="462280" fill="none">
                <a:moveTo>
                  <a:pt x="8961120" y="0"/>
                </a:moveTo>
                <a:lnTo>
                  <a:pt x="8961120" y="462280"/>
                </a:lnTo>
                <a:lnTo>
                  <a:pt x="0" y="4622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-012: 137 个 e32 元素：按实际 vl 分批执行"/>
          <p:cNvSpPr txBox="1"/>
          <p:nvPr/>
        </p:nvSpPr>
        <p:spPr>
          <a:xfrm>
            <a:off x="483616" y="1071209"/>
            <a:ext cx="5235854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137 个 e32 元素：按实际 vl 分批执行</a:t>
            </a:r>
          </a:p>
        </p:txBody>
      </p:sp>
      <p:sp>
        <p:nvSpPr>
          <p:cNvPr id="10" name="text-013: e32,m1；VLEN=2048 → VLMAX=64。示例 a[i]+b[i]"/>
          <p:cNvSpPr txBox="1"/>
          <p:nvPr/>
        </p:nvSpPr>
        <p:spPr>
          <a:xfrm>
            <a:off x="483616" y="1476878"/>
            <a:ext cx="773714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e32,m1；VLEN=2048 → VLMAX=64。示例 a[i]+b[i]→c[i]，尾部 9 个元素同样需要校验。</a:t>
            </a:r>
          </a:p>
        </p:txBody>
      </p:sp>
      <p:sp>
        <p:nvSpPr>
          <p:cNvPr id="11" name="text-014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5: 依据：教材 journey.c；RVV vsetvli 语义与当前 Ara 配置"/>
          <p:cNvSpPr txBox="1"/>
          <p:nvPr/>
        </p:nvSpPr>
        <p:spPr>
          <a:xfrm>
            <a:off x="341376" y="8526577"/>
            <a:ext cx="534111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 journey.c；RVV vsetvli 语义与当前 Ara 配置；非运行结果</a:t>
            </a:r>
          </a:p>
        </p:txBody>
      </p:sp>
      <p:sp>
        <p:nvSpPr>
          <p:cNvPr id="13" name="rect-016"/>
          <p:cNvSpPr/>
          <p:nvPr/>
        </p:nvSpPr>
        <p:spPr>
          <a:xfrm>
            <a:off x="391160" y="2329180"/>
            <a:ext cx="33070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-017"/>
          <p:cNvSpPr/>
          <p:nvPr/>
        </p:nvSpPr>
        <p:spPr>
          <a:xfrm>
            <a:off x="391160" y="23291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-018: CPU 维护循环状态"/>
          <p:cNvSpPr txBox="1"/>
          <p:nvPr/>
        </p:nvSpPr>
        <p:spPr>
          <a:xfrm>
            <a:off x="512064" y="2357059"/>
            <a:ext cx="1775155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维护循环状态</a:t>
            </a:r>
          </a:p>
        </p:txBody>
      </p:sp>
      <p:sp>
        <p:nvSpPr>
          <p:cNvPr id="16" name="text-019: 启用 VS；a0/a1/a2 = 数组地址"/>
          <p:cNvSpPr txBox="1"/>
          <p:nvPr/>
        </p:nvSpPr>
        <p:spPr>
          <a:xfrm>
            <a:off x="512064" y="2628453"/>
            <a:ext cx="291876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启用 VS；a0/a1/a2 = 数组地址</a:t>
            </a:r>
          </a:p>
        </p:txBody>
      </p:sp>
      <p:sp>
        <p:nvSpPr>
          <p:cNvPr id="17" name="text-020: remaining 初值 137"/>
          <p:cNvSpPr txBox="1"/>
          <p:nvPr/>
        </p:nvSpPr>
        <p:spPr>
          <a:xfrm>
            <a:off x="512064" y="2841813"/>
            <a:ext cx="2065325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初值 137</a:t>
            </a:r>
          </a:p>
        </p:txBody>
      </p:sp>
      <p:sp>
        <p:nvSpPr>
          <p:cNvPr id="18" name="text-021: 调用 vsetvli 取得实际 vl"/>
          <p:cNvSpPr txBox="1"/>
          <p:nvPr/>
        </p:nvSpPr>
        <p:spPr>
          <a:xfrm>
            <a:off x="512064" y="3055173"/>
            <a:ext cx="25261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 vsetvli 取得实际 vl</a:t>
            </a:r>
          </a:p>
        </p:txBody>
      </p:sp>
      <p:sp>
        <p:nvSpPr>
          <p:cNvPr id="19" name="rect-022"/>
          <p:cNvSpPr/>
          <p:nvPr/>
        </p:nvSpPr>
        <p:spPr>
          <a:xfrm>
            <a:off x="4871720" y="2329180"/>
            <a:ext cx="36271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-023"/>
          <p:cNvSpPr/>
          <p:nvPr/>
        </p:nvSpPr>
        <p:spPr>
          <a:xfrm>
            <a:off x="4871720" y="23291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4: Ara 执行一批"/>
          <p:cNvSpPr txBox="1"/>
          <p:nvPr/>
        </p:nvSpPr>
        <p:spPr>
          <a:xfrm>
            <a:off x="4992624" y="2357059"/>
            <a:ext cx="140533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执行一批</a:t>
            </a:r>
          </a:p>
        </p:txBody>
      </p:sp>
      <p:sp>
        <p:nvSpPr>
          <p:cNvPr id="22" name="text-025: vle32 a、b → vadd → vse32 c"/>
          <p:cNvSpPr txBox="1"/>
          <p:nvPr/>
        </p:nvSpPr>
        <p:spPr>
          <a:xfrm>
            <a:off x="4992624" y="2628453"/>
            <a:ext cx="323453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vle32 a、b → vadd → vse32 c</a:t>
            </a:r>
          </a:p>
        </p:txBody>
      </p:sp>
      <p:sp>
        <p:nvSpPr>
          <p:cNvPr id="23" name="text-026: 本轮只处理 vl 个有效元素"/>
          <p:cNvSpPr txBox="1"/>
          <p:nvPr/>
        </p:nvSpPr>
        <p:spPr>
          <a:xfrm>
            <a:off x="4992624" y="2841813"/>
            <a:ext cx="2321357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本轮只处理 vl 个有效元素</a:t>
            </a:r>
          </a:p>
        </p:txBody>
      </p:sp>
      <p:sp>
        <p:nvSpPr>
          <p:cNvPr id="24" name="text-027: 地址增加 vl × 4 字节"/>
          <p:cNvSpPr txBox="1"/>
          <p:nvPr/>
        </p:nvSpPr>
        <p:spPr>
          <a:xfrm>
            <a:off x="4992624" y="3055173"/>
            <a:ext cx="208239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地址增加 vl × 4 字节</a:t>
            </a:r>
          </a:p>
        </p:txBody>
      </p:sp>
      <p:sp>
        <p:nvSpPr>
          <p:cNvPr id="25" name="rect-028"/>
          <p:cNvSpPr/>
          <p:nvPr/>
        </p:nvSpPr>
        <p:spPr>
          <a:xfrm>
            <a:off x="9672320" y="2329180"/>
            <a:ext cx="273812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-029"/>
          <p:cNvSpPr/>
          <p:nvPr/>
        </p:nvSpPr>
        <p:spPr>
          <a:xfrm>
            <a:off x="9672320" y="23291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-030: 循环继续条件"/>
          <p:cNvSpPr txBox="1"/>
          <p:nvPr/>
        </p:nvSpPr>
        <p:spPr>
          <a:xfrm>
            <a:off x="9793224" y="235705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循环继续条件</a:t>
            </a:r>
          </a:p>
        </p:txBody>
      </p:sp>
      <p:sp>
        <p:nvSpPr>
          <p:cNvPr id="28" name="text-031: remaining -= vl"/>
          <p:cNvSpPr txBox="1"/>
          <p:nvPr/>
        </p:nvSpPr>
        <p:spPr>
          <a:xfrm>
            <a:off x="9793224" y="2628453"/>
            <a:ext cx="183489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-= vl</a:t>
            </a:r>
          </a:p>
        </p:txBody>
      </p:sp>
      <p:sp>
        <p:nvSpPr>
          <p:cNvPr id="29" name="text-032: 非零则再设定 vl"/>
          <p:cNvSpPr txBox="1"/>
          <p:nvPr/>
        </p:nvSpPr>
        <p:spPr>
          <a:xfrm>
            <a:off x="9793224" y="2841813"/>
            <a:ext cx="1527658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非零则再设定 vl</a:t>
            </a:r>
          </a:p>
        </p:txBody>
      </p:sp>
      <p:sp>
        <p:nvSpPr>
          <p:cNvPr id="30" name="text-033: 不能每轮固定加 64"/>
          <p:cNvSpPr txBox="1"/>
          <p:nvPr/>
        </p:nvSpPr>
        <p:spPr>
          <a:xfrm>
            <a:off x="9793224" y="3055173"/>
            <a:ext cx="169834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不能每轮固定加 64</a:t>
            </a:r>
          </a:p>
        </p:txBody>
      </p:sp>
      <p:sp>
        <p:nvSpPr>
          <p:cNvPr id="31" name="text-034: 内存中的逻辑序列（每格仅表示一段，不代表一个 lane）"/>
          <p:cNvSpPr txBox="1"/>
          <p:nvPr/>
        </p:nvSpPr>
        <p:spPr>
          <a:xfrm>
            <a:off x="519176" y="4412996"/>
            <a:ext cx="484505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内存中的逻辑序列（每格仅表示一段，不代表一个 lane）</a:t>
            </a:r>
          </a:p>
        </p:txBody>
      </p:sp>
      <p:sp>
        <p:nvSpPr>
          <p:cNvPr id="32" name="rect-035"/>
          <p:cNvSpPr/>
          <p:nvPr/>
        </p:nvSpPr>
        <p:spPr>
          <a:xfrm>
            <a:off x="604520" y="50317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6"/>
          <p:cNvSpPr/>
          <p:nvPr/>
        </p:nvSpPr>
        <p:spPr>
          <a:xfrm>
            <a:off x="604520" y="50317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7: 第 1 批 · vl=64"/>
          <p:cNvSpPr txBox="1"/>
          <p:nvPr/>
        </p:nvSpPr>
        <p:spPr>
          <a:xfrm>
            <a:off x="725424" y="5059619"/>
            <a:ext cx="187685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 1 批 · vl=64</a:t>
            </a:r>
          </a:p>
        </p:txBody>
      </p:sp>
      <p:sp>
        <p:nvSpPr>
          <p:cNvPr id="35" name="text-038: 元素 0…63"/>
          <p:cNvSpPr txBox="1"/>
          <p:nvPr/>
        </p:nvSpPr>
        <p:spPr>
          <a:xfrm>
            <a:off x="725424" y="5346375"/>
            <a:ext cx="103266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0…63</a:t>
            </a:r>
          </a:p>
        </p:txBody>
      </p:sp>
      <p:sp>
        <p:nvSpPr>
          <p:cNvPr id="36" name="text-039: 256 B"/>
          <p:cNvSpPr txBox="1"/>
          <p:nvPr/>
        </p:nvSpPr>
        <p:spPr>
          <a:xfrm>
            <a:off x="725424" y="5559735"/>
            <a:ext cx="66497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37" name="rect-040"/>
          <p:cNvSpPr/>
          <p:nvPr/>
        </p:nvSpPr>
        <p:spPr>
          <a:xfrm>
            <a:off x="5796280" y="50317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1"/>
          <p:cNvSpPr/>
          <p:nvPr/>
        </p:nvSpPr>
        <p:spPr>
          <a:xfrm>
            <a:off x="5796280" y="503174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2: 第 2 批 · vl=64"/>
          <p:cNvSpPr txBox="1"/>
          <p:nvPr/>
        </p:nvSpPr>
        <p:spPr>
          <a:xfrm>
            <a:off x="5917184" y="5059619"/>
            <a:ext cx="187685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 2 批 · vl=64</a:t>
            </a:r>
          </a:p>
        </p:txBody>
      </p:sp>
      <p:sp>
        <p:nvSpPr>
          <p:cNvPr id="40" name="text-043: 元素 64…127"/>
          <p:cNvSpPr txBox="1"/>
          <p:nvPr/>
        </p:nvSpPr>
        <p:spPr>
          <a:xfrm>
            <a:off x="5917184" y="5346375"/>
            <a:ext cx="123606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64…127</a:t>
            </a:r>
          </a:p>
        </p:txBody>
      </p:sp>
      <p:sp>
        <p:nvSpPr>
          <p:cNvPr id="41" name="text-044: 256 B"/>
          <p:cNvSpPr txBox="1"/>
          <p:nvPr/>
        </p:nvSpPr>
        <p:spPr>
          <a:xfrm>
            <a:off x="5917184" y="5559735"/>
            <a:ext cx="66497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2" name="rect-045"/>
          <p:cNvSpPr/>
          <p:nvPr/>
        </p:nvSpPr>
        <p:spPr>
          <a:xfrm>
            <a:off x="10988040" y="5031740"/>
            <a:ext cx="106680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-046"/>
          <p:cNvSpPr/>
          <p:nvPr/>
        </p:nvSpPr>
        <p:spPr>
          <a:xfrm>
            <a:off x="10988040" y="503174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-047: 尾批"/>
          <p:cNvSpPr txBox="1"/>
          <p:nvPr/>
        </p:nvSpPr>
        <p:spPr>
          <a:xfrm>
            <a:off x="11108944" y="5059619"/>
            <a:ext cx="55473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尾批</a:t>
            </a:r>
          </a:p>
        </p:txBody>
      </p:sp>
      <p:sp>
        <p:nvSpPr>
          <p:cNvPr id="45" name="text-048: 128…136"/>
          <p:cNvSpPr txBox="1"/>
          <p:nvPr/>
        </p:nvSpPr>
        <p:spPr>
          <a:xfrm>
            <a:off x="11108944" y="5346375"/>
            <a:ext cx="92313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128…136</a:t>
            </a:r>
          </a:p>
        </p:txBody>
      </p:sp>
      <p:sp>
        <p:nvSpPr>
          <p:cNvPr id="46" name="text-049: 9 / 36 B"/>
          <p:cNvSpPr txBox="1"/>
          <p:nvPr/>
        </p:nvSpPr>
        <p:spPr>
          <a:xfrm>
            <a:off x="11108944" y="5559735"/>
            <a:ext cx="970077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 / 36 B</a:t>
            </a:r>
          </a:p>
        </p:txBody>
      </p:sp>
      <p:sp>
        <p:nvSpPr>
          <p:cNvPr id="47" name="rect-050"/>
          <p:cNvSpPr/>
          <p:nvPr/>
        </p:nvSpPr>
        <p:spPr>
          <a:xfrm>
            <a:off x="391160" y="70231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-051"/>
          <p:cNvSpPr/>
          <p:nvPr/>
        </p:nvSpPr>
        <p:spPr>
          <a:xfrm>
            <a:off x="391160" y="70231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-052: 静态指令证据"/>
          <p:cNvSpPr txBox="1"/>
          <p:nvPr/>
        </p:nvSpPr>
        <p:spPr>
          <a:xfrm>
            <a:off x="512064" y="705097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静态指令证据</a:t>
            </a:r>
          </a:p>
        </p:txBody>
      </p:sp>
      <p:sp>
        <p:nvSpPr>
          <p:cNvPr id="50" name="text-053: ELF 反汇编存在 V 指令"/>
          <p:cNvSpPr txBox="1"/>
          <p:nvPr/>
        </p:nvSpPr>
        <p:spPr>
          <a:xfrm>
            <a:off x="512064" y="7337735"/>
            <a:ext cx="196362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ELF 反汇编存在 V 指令</a:t>
            </a:r>
          </a:p>
        </p:txBody>
      </p:sp>
      <p:sp>
        <p:nvSpPr>
          <p:cNvPr id="51" name="text-054: 只能确认程序文件内容"/>
          <p:cNvSpPr txBox="1"/>
          <p:nvPr/>
        </p:nvSpPr>
        <p:spPr>
          <a:xfrm>
            <a:off x="512064" y="7551095"/>
            <a:ext cx="172110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只能确认程序文件内容</a:t>
            </a:r>
          </a:p>
        </p:txBody>
      </p:sp>
      <p:sp>
        <p:nvSpPr>
          <p:cNvPr id="52" name="rect-055"/>
          <p:cNvSpPr/>
          <p:nvPr/>
        </p:nvSpPr>
        <p:spPr>
          <a:xfrm>
            <a:off x="4516120" y="70231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-056"/>
          <p:cNvSpPr/>
          <p:nvPr/>
        </p:nvSpPr>
        <p:spPr>
          <a:xfrm>
            <a:off x="4516120" y="70231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57: 执行轨迹证据"/>
          <p:cNvSpPr txBox="1"/>
          <p:nvPr/>
        </p:nvSpPr>
        <p:spPr>
          <a:xfrm>
            <a:off x="4637024" y="7050979"/>
            <a:ext cx="129438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执行轨迹证据</a:t>
            </a:r>
          </a:p>
        </p:txBody>
      </p:sp>
      <p:sp>
        <p:nvSpPr>
          <p:cNvPr id="55" name="text-058: 目标确实执行向量路径"/>
          <p:cNvSpPr txBox="1"/>
          <p:nvPr/>
        </p:nvSpPr>
        <p:spPr>
          <a:xfrm>
            <a:off x="4637024" y="7337735"/>
            <a:ext cx="1721104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目标确实执行向量路径</a:t>
            </a:r>
          </a:p>
        </p:txBody>
      </p:sp>
      <p:sp>
        <p:nvSpPr>
          <p:cNvPr id="56" name="text-059: 不能用构建成功代替"/>
          <p:cNvSpPr txBox="1"/>
          <p:nvPr/>
        </p:nvSpPr>
        <p:spPr>
          <a:xfrm>
            <a:off x="4637024" y="7551095"/>
            <a:ext cx="156464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不能用构建成功代替</a:t>
            </a:r>
          </a:p>
        </p:txBody>
      </p:sp>
      <p:sp>
        <p:nvSpPr>
          <p:cNvPr id="57" name="rect-060"/>
          <p:cNvSpPr/>
          <p:nvPr/>
        </p:nvSpPr>
        <p:spPr>
          <a:xfrm>
            <a:off x="8641080" y="7023100"/>
            <a:ext cx="376936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-061"/>
          <p:cNvSpPr/>
          <p:nvPr/>
        </p:nvSpPr>
        <p:spPr>
          <a:xfrm>
            <a:off x="8641080" y="702310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-062: 数值与边界证据"/>
          <p:cNvSpPr txBox="1"/>
          <p:nvPr/>
        </p:nvSpPr>
        <p:spPr>
          <a:xfrm>
            <a:off x="8761984" y="7050979"/>
            <a:ext cx="147929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数值与边界证据</a:t>
            </a:r>
          </a:p>
        </p:txBody>
      </p:sp>
      <p:sp>
        <p:nvSpPr>
          <p:cNvPr id="60" name="text-063: 137 项结果逐项相等"/>
          <p:cNvSpPr txBox="1"/>
          <p:nvPr/>
        </p:nvSpPr>
        <p:spPr>
          <a:xfrm>
            <a:off x="8761984" y="7337735"/>
            <a:ext cx="1658518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137 项结果逐项相等</a:t>
            </a:r>
          </a:p>
        </p:txBody>
      </p:sp>
      <p:sp>
        <p:nvSpPr>
          <p:cNvPr id="61" name="text-064: 尾部保护字保持预期"/>
          <p:cNvSpPr txBox="1"/>
          <p:nvPr/>
        </p:nvSpPr>
        <p:spPr>
          <a:xfrm>
            <a:off x="8761984" y="7551095"/>
            <a:ext cx="156464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尾部保护字保持预期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2275840" y="32537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olyline-007"/>
          <p:cNvSpPr/>
          <p:nvPr/>
        </p:nvSpPr>
        <p:spPr>
          <a:xfrm>
            <a:off x="6400800" y="32537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9"/>
          <p:cNvSpPr/>
          <p:nvPr/>
        </p:nvSpPr>
        <p:spPr>
          <a:xfrm>
            <a:off x="10525760" y="32537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-011: ASIC 交付边界：数字逻辑消费什么，工艺平台提供什么"/>
          <p:cNvSpPr txBox="1"/>
          <p:nvPr/>
        </p:nvSpPr>
        <p:spPr>
          <a:xfrm>
            <a:off x="483616" y="1071209"/>
            <a:ext cx="6720840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ASIC 交付边界：数字逻辑消费什么，工艺平台提供什么</a:t>
            </a:r>
          </a:p>
        </p:txBody>
      </p:sp>
      <p:sp>
        <p:nvSpPr>
          <p:cNvPr id="9" name="text-012: 当前 RTL 的功能边界与未来 SRAM / PLL / PAD / DDR 实"/>
          <p:cNvSpPr txBox="1"/>
          <p:nvPr/>
        </p:nvSpPr>
        <p:spPr>
          <a:xfrm>
            <a:off x="483616" y="1476878"/>
            <a:ext cx="76635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RTL 的功能边界与未来 SRAM / PLL / PAD / DDR 实现分层；不预设供应商或最终工艺。</a:t>
            </a:r>
          </a:p>
        </p:txBody>
      </p:sp>
      <p:sp>
        <p:nvSpPr>
          <p:cNvPr id="10" name="text-013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1" name="text-014: 依据：Cheshire 集成接口；tech_cells_generic；平台启动"/>
          <p:cNvSpPr txBox="1"/>
          <p:nvPr/>
        </p:nvSpPr>
        <p:spPr>
          <a:xfrm>
            <a:off x="341376" y="8526577"/>
            <a:ext cx="519887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集成接口；tech_cells_generic；平台启动与配置约定</a:t>
            </a:r>
          </a:p>
        </p:txBody>
      </p:sp>
      <p:sp>
        <p:nvSpPr>
          <p:cNvPr id="12" name="rect-015"/>
          <p:cNvSpPr/>
          <p:nvPr/>
        </p:nvSpPr>
        <p:spPr>
          <a:xfrm>
            <a:off x="391160" y="2329180"/>
            <a:ext cx="1201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-016"/>
          <p:cNvSpPr/>
          <p:nvPr/>
        </p:nvSpPr>
        <p:spPr>
          <a:xfrm>
            <a:off x="391160" y="232918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-017: 当前数字系统：CVA6 / Ara / AXI / Reg / LLC / 外设"/>
          <p:cNvSpPr txBox="1"/>
          <p:nvPr/>
        </p:nvSpPr>
        <p:spPr>
          <a:xfrm>
            <a:off x="512064" y="2357059"/>
            <a:ext cx="557509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当前数字系统：CVA6 / Ara / AXI / Reg / LLC / 外设</a:t>
            </a:r>
          </a:p>
        </p:txBody>
      </p:sp>
      <p:sp>
        <p:nvSpPr>
          <p:cNvPr id="15" name="text-018: 固定 Cfg、接口类型、软件地址与启动契约；RTL 存在不代表工艺实现可直接签核"/>
          <p:cNvSpPr txBox="1"/>
          <p:nvPr/>
        </p:nvSpPr>
        <p:spPr>
          <a:xfrm>
            <a:off x="512064" y="2628453"/>
            <a:ext cx="652028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 Cfg、接口类型、软件地址与启动契约；RTL 存在不代表工艺实现可直接签核</a:t>
            </a:r>
          </a:p>
        </p:txBody>
      </p:sp>
      <p:sp>
        <p:nvSpPr>
          <p:cNvPr id="16" name="rect-019"/>
          <p:cNvSpPr/>
          <p:nvPr/>
        </p:nvSpPr>
        <p:spPr>
          <a:xfrm>
            <a:off x="391160" y="41783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-020"/>
          <p:cNvSpPr/>
          <p:nvPr/>
        </p:nvSpPr>
        <p:spPr>
          <a:xfrm>
            <a:off x="391160" y="4178300"/>
            <a:ext cx="35560" cy="2026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21: 存储抽象 → 宏适配"/>
          <p:cNvSpPr txBox="1"/>
          <p:nvPr/>
        </p:nvSpPr>
        <p:spPr>
          <a:xfrm>
            <a:off x="512064" y="4206179"/>
            <a:ext cx="190459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存储抽象 → 宏适配</a:t>
            </a:r>
          </a:p>
        </p:txBody>
      </p:sp>
      <p:sp>
        <p:nvSpPr>
          <p:cNvPr id="19" name="text-022: SRAM / ROM 端口、深度、位宽"/>
          <p:cNvSpPr txBox="1"/>
          <p:nvPr/>
        </p:nvSpPr>
        <p:spPr>
          <a:xfrm>
            <a:off x="512064" y="4477573"/>
            <a:ext cx="275661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/ ROM 端口、深度、位宽</a:t>
            </a:r>
          </a:p>
        </p:txBody>
      </p:sp>
      <p:sp>
        <p:nvSpPr>
          <p:cNvPr id="20" name="text-023: 读延迟、字节写、碰撞语义"/>
          <p:cNvSpPr txBox="1"/>
          <p:nvPr/>
        </p:nvSpPr>
        <p:spPr>
          <a:xfrm>
            <a:off x="512064" y="469093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读延迟、字节写、碰撞语义</a:t>
            </a:r>
          </a:p>
        </p:txBody>
      </p:sp>
      <p:sp>
        <p:nvSpPr>
          <p:cNvPr id="21" name="text-024: DFT / MBIST / 修复脚"/>
          <p:cNvSpPr txBox="1"/>
          <p:nvPr/>
        </p:nvSpPr>
        <p:spPr>
          <a:xfrm>
            <a:off x="512064" y="4904293"/>
            <a:ext cx="2236013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DFT / MBIST / 修复脚</a:t>
            </a:r>
          </a:p>
        </p:txBody>
      </p:sp>
      <p:sp>
        <p:nvSpPr>
          <p:cNvPr id="22" name="text-025: 多一拍延迟须与消费者匹配"/>
          <p:cNvSpPr txBox="1"/>
          <p:nvPr/>
        </p:nvSpPr>
        <p:spPr>
          <a:xfrm>
            <a:off x="512064" y="511765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多一拍延迟须与消费者匹配</a:t>
            </a:r>
          </a:p>
        </p:txBody>
      </p:sp>
      <p:sp>
        <p:nvSpPr>
          <p:cNvPr id="23" name="rect-026"/>
          <p:cNvSpPr/>
          <p:nvPr/>
        </p:nvSpPr>
        <p:spPr>
          <a:xfrm>
            <a:off x="4516120" y="41783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27"/>
          <p:cNvSpPr/>
          <p:nvPr/>
        </p:nvSpPr>
        <p:spPr>
          <a:xfrm>
            <a:off x="4516120" y="4178300"/>
            <a:ext cx="35560" cy="2026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8: 时钟 / 复位 / 电源"/>
          <p:cNvSpPr txBox="1"/>
          <p:nvPr/>
        </p:nvSpPr>
        <p:spPr>
          <a:xfrm>
            <a:off x="4637024" y="4206179"/>
            <a:ext cx="201554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时钟 / 复位 / 电源</a:t>
            </a:r>
          </a:p>
        </p:txBody>
      </p:sp>
      <p:sp>
        <p:nvSpPr>
          <p:cNvPr id="26" name="text-029: PLL、门控与复位同步"/>
          <p:cNvSpPr txBox="1"/>
          <p:nvPr/>
        </p:nvSpPr>
        <p:spPr>
          <a:xfrm>
            <a:off x="4637024" y="4477573"/>
            <a:ext cx="186903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PLL、门控与复位同步</a:t>
            </a:r>
          </a:p>
        </p:txBody>
      </p:sp>
      <p:sp>
        <p:nvSpPr>
          <p:cNvPr id="27" name="text-030: 安全启动、动态切换与回退"/>
          <p:cNvSpPr txBox="1"/>
          <p:nvPr/>
        </p:nvSpPr>
        <p:spPr>
          <a:xfrm>
            <a:off x="4637024" y="4690933"/>
            <a:ext cx="221894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安全启动、动态切换与回退</a:t>
            </a:r>
          </a:p>
        </p:txBody>
      </p:sp>
      <p:sp>
        <p:nvSpPr>
          <p:cNvPr id="28" name="text-031: CDC / RDC、隔离与保持"/>
          <p:cNvSpPr txBox="1"/>
          <p:nvPr/>
        </p:nvSpPr>
        <p:spPr>
          <a:xfrm>
            <a:off x="4637024" y="4904293"/>
            <a:ext cx="219334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RDC、隔离与保持</a:t>
            </a:r>
          </a:p>
        </p:txBody>
      </p:sp>
      <p:sp>
        <p:nvSpPr>
          <p:cNvPr id="29" name="text-032: 频率 / 电压 / 域划分待确认"/>
          <p:cNvSpPr txBox="1"/>
          <p:nvPr/>
        </p:nvSpPr>
        <p:spPr>
          <a:xfrm>
            <a:off x="4637024" y="5117653"/>
            <a:ext cx="2543251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频率 / 电压 / 域划分待确认</a:t>
            </a:r>
          </a:p>
        </p:txBody>
      </p:sp>
      <p:sp>
        <p:nvSpPr>
          <p:cNvPr id="30" name="rect-033"/>
          <p:cNvSpPr/>
          <p:nvPr/>
        </p:nvSpPr>
        <p:spPr>
          <a:xfrm>
            <a:off x="8641080" y="41783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-034"/>
          <p:cNvSpPr/>
          <p:nvPr/>
        </p:nvSpPr>
        <p:spPr>
          <a:xfrm>
            <a:off x="8641080" y="4178300"/>
            <a:ext cx="35560" cy="2026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-035: 外部 IO 与外存"/>
          <p:cNvSpPr txBox="1"/>
          <p:nvPr/>
        </p:nvSpPr>
        <p:spPr>
          <a:xfrm>
            <a:off x="8761984" y="4206179"/>
            <a:ext cx="1590243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外部 IO 与外存</a:t>
            </a:r>
          </a:p>
        </p:txBody>
      </p:sp>
      <p:sp>
        <p:nvSpPr>
          <p:cNvPr id="33" name="text-036: PAD、电平与引脚复用"/>
          <p:cNvSpPr txBox="1"/>
          <p:nvPr/>
        </p:nvSpPr>
        <p:spPr>
          <a:xfrm>
            <a:off x="8761984" y="4477573"/>
            <a:ext cx="1869034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PAD、电平与引脚复用</a:t>
            </a:r>
          </a:p>
        </p:txBody>
      </p:sp>
      <p:sp>
        <p:nvSpPr>
          <p:cNvPr id="34" name="text-037: DDR controller + PHY"/>
          <p:cNvSpPr txBox="1"/>
          <p:nvPr/>
        </p:nvSpPr>
        <p:spPr>
          <a:xfrm>
            <a:off x="8761984" y="4690933"/>
            <a:ext cx="2389632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controller + PHY</a:t>
            </a:r>
          </a:p>
        </p:txBody>
      </p:sp>
      <p:sp>
        <p:nvSpPr>
          <p:cNvPr id="35" name="text-038: 训练、命令 / 数据时序与错误"/>
          <p:cNvSpPr txBox="1"/>
          <p:nvPr/>
        </p:nvSpPr>
        <p:spPr>
          <a:xfrm>
            <a:off x="8761984" y="4904293"/>
            <a:ext cx="255178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训练、命令 / 数据时序与错误</a:t>
            </a:r>
          </a:p>
        </p:txBody>
      </p:sp>
      <p:sp>
        <p:nvSpPr>
          <p:cNvPr id="36" name="text-039: 授权接口摘要及受控模型"/>
          <p:cNvSpPr txBox="1"/>
          <p:nvPr/>
        </p:nvSpPr>
        <p:spPr>
          <a:xfrm>
            <a:off x="8761984" y="5117653"/>
            <a:ext cx="2048256" cy="2731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授权接口摘要及受控模型</a:t>
            </a:r>
          </a:p>
        </p:txBody>
      </p:sp>
      <p:sp>
        <p:nvSpPr>
          <p:cNvPr id="37" name="rect-040"/>
          <p:cNvSpPr/>
          <p:nvPr/>
        </p:nvSpPr>
        <p:spPr>
          <a:xfrm>
            <a:off x="391160" y="7129780"/>
            <a:ext cx="120192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1"/>
          <p:cNvSpPr/>
          <p:nvPr/>
        </p:nvSpPr>
        <p:spPr>
          <a:xfrm>
            <a:off x="391160" y="712978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2: 成套交付与验证"/>
          <p:cNvSpPr txBox="1"/>
          <p:nvPr/>
        </p:nvSpPr>
        <p:spPr>
          <a:xfrm>
            <a:off x="512064" y="7157659"/>
            <a:ext cx="147929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成套交付与验证</a:t>
            </a:r>
          </a:p>
        </p:txBody>
      </p:sp>
      <p:sp>
        <p:nvSpPr>
          <p:cNvPr id="40" name="text-043: 宏模型 + RTL 适配 + 平台固件 + STA / CDC / RDC 约束"/>
          <p:cNvSpPr txBox="1"/>
          <p:nvPr/>
        </p:nvSpPr>
        <p:spPr>
          <a:xfrm>
            <a:off x="512064" y="7444415"/>
            <a:ext cx="999805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宏模型 + RTL 适配 + 平台固件 + STA / CDC / RDC 约束 + DFT / MBIST + 电源意图；依次验收单元、平台启动和系统回归。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58060"/>
            <a:ext cx="5156200" cy="4729480"/>
          </a:xfrm>
          <a:prstGeom prst="roundRect">
            <a:avLst>
              <a:gd name="adj" fmla="val 1804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7040880" y="2258060"/>
            <a:ext cx="536956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olyline-007"/>
          <p:cNvSpPr/>
          <p:nvPr/>
        </p:nvSpPr>
        <p:spPr>
          <a:xfrm>
            <a:off x="2969260" y="37160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9"/>
          <p:cNvSpPr/>
          <p:nvPr/>
        </p:nvSpPr>
        <p:spPr>
          <a:xfrm>
            <a:off x="2969260" y="51384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 fill="none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1"/>
          <p:cNvSpPr/>
          <p:nvPr/>
        </p:nvSpPr>
        <p:spPr>
          <a:xfrm>
            <a:off x="9725660" y="37160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3"/>
          <p:cNvSpPr/>
          <p:nvPr/>
        </p:nvSpPr>
        <p:spPr>
          <a:xfrm>
            <a:off x="9725660" y="51384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 fill="none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5"/>
          <p:cNvSpPr/>
          <p:nvPr/>
        </p:nvSpPr>
        <p:spPr>
          <a:xfrm>
            <a:off x="5334000" y="4690364"/>
            <a:ext cx="1920240" cy="1497076"/>
          </a:xfrm>
          <a:custGeom>
            <a:avLst/>
            <a:gdLst/>
            <a:ahLst/>
            <a:cxnLst/>
            <a:rect l="0" t="0" r="r" b="b"/>
            <a:pathLst>
              <a:path w="1920240" h="1497076" fill="none">
                <a:moveTo>
                  <a:pt x="0" y="1497076"/>
                </a:moveTo>
                <a:lnTo>
                  <a:pt x="960120" y="1493520"/>
                </a:lnTo>
                <a:lnTo>
                  <a:pt x="960120" y="0"/>
                </a:lnTo>
                <a:lnTo>
                  <a:pt x="1920240" y="3556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17: 从 C 到执行：主机产物如何变成目标内存与 CPU 状态"/>
          <p:cNvSpPr txBox="1"/>
          <p:nvPr/>
        </p:nvSpPr>
        <p:spPr>
          <a:xfrm>
            <a:off x="483616" y="1071209"/>
            <a:ext cx="6708038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从 C 到执行：主机产物如何变成目标内存与 CPU 状态</a:t>
            </a:r>
          </a:p>
        </p:txBody>
      </p:sp>
      <p:sp>
        <p:nvSpPr>
          <p:cNvPr id="13" name="text-018: JTAG 直接加载路径；自主介质启动另由 ROM 按 GPT/raw 等规则读取"/>
          <p:cNvSpPr txBox="1"/>
          <p:nvPr/>
        </p:nvSpPr>
        <p:spPr>
          <a:xfrm>
            <a:off x="483616" y="1476878"/>
            <a:ext cx="610956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JTAG 直接加载路径；自主介质启动另由 ROM 按 GPT/raw 等规则读取镜像。</a:t>
            </a:r>
          </a:p>
        </p:txBody>
      </p:sp>
      <p:sp>
        <p:nvSpPr>
          <p:cNvPr id="14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0: 源码：sw/lib/crt0.S；hw/bootrom；elfloader.cp"/>
          <p:cNvSpPr txBox="1"/>
          <p:nvPr/>
        </p:nvSpPr>
        <p:spPr>
          <a:xfrm>
            <a:off x="341376" y="8526577"/>
            <a:ext cx="6080760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源码：sw/lib/crt0.S；hw/bootrom；elfloader.cpp；vip_cheshire_soc.sv</a:t>
            </a:r>
          </a:p>
        </p:txBody>
      </p:sp>
      <p:sp>
        <p:nvSpPr>
          <p:cNvPr id="16" name="text-021: 主机侧：字节、布局与入口"/>
          <p:cNvSpPr txBox="1"/>
          <p:nvPr/>
        </p:nvSpPr>
        <p:spPr>
          <a:xfrm>
            <a:off x="519176" y="2314956"/>
            <a:ext cx="23114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主机侧：字节、布局与入口</a:t>
            </a:r>
          </a:p>
        </p:txBody>
      </p:sp>
      <p:sp>
        <p:nvSpPr>
          <p:cNvPr id="17" name="text-022: 目标侧：存储、寄存器与执行"/>
          <p:cNvSpPr txBox="1"/>
          <p:nvPr/>
        </p:nvSpPr>
        <p:spPr>
          <a:xfrm>
            <a:off x="7168896" y="2314956"/>
            <a:ext cx="24892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目标侧：存储、寄存器与执行</a:t>
            </a:r>
          </a:p>
        </p:txBody>
      </p:sp>
      <p:sp>
        <p:nvSpPr>
          <p:cNvPr id="18" name="rect-023"/>
          <p:cNvSpPr/>
          <p:nvPr/>
        </p:nvSpPr>
        <p:spPr>
          <a:xfrm>
            <a:off x="604520" y="28270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-024"/>
          <p:cNvSpPr/>
          <p:nvPr/>
        </p:nvSpPr>
        <p:spPr>
          <a:xfrm>
            <a:off x="604520" y="28270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-025: journey.c + crt0 + 支持库"/>
          <p:cNvSpPr txBox="1"/>
          <p:nvPr/>
        </p:nvSpPr>
        <p:spPr>
          <a:xfrm>
            <a:off x="725424" y="2854899"/>
            <a:ext cx="302331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journey.c + crt0 + 支持库</a:t>
            </a:r>
          </a:p>
        </p:txBody>
      </p:sp>
      <p:sp>
        <p:nvSpPr>
          <p:cNvPr id="21" name="text-026: 预处理 / 编译 / 汇编 / 链接"/>
          <p:cNvSpPr txBox="1"/>
          <p:nvPr/>
        </p:nvSpPr>
        <p:spPr>
          <a:xfrm>
            <a:off x="725424" y="3133974"/>
            <a:ext cx="259268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 / 编译 / 汇编 / 链接</a:t>
            </a:r>
          </a:p>
        </p:txBody>
      </p:sp>
      <p:sp>
        <p:nvSpPr>
          <p:cNvPr id="22" name="rect-027"/>
          <p:cNvSpPr/>
          <p:nvPr/>
        </p:nvSpPr>
        <p:spPr>
          <a:xfrm>
            <a:off x="604520" y="42494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-028"/>
          <p:cNvSpPr/>
          <p:nvPr/>
        </p:nvSpPr>
        <p:spPr>
          <a:xfrm>
            <a:off x="604520" y="42494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9: ELF / map / dump"/>
          <p:cNvSpPr txBox="1"/>
          <p:nvPr/>
        </p:nvSpPr>
        <p:spPr>
          <a:xfrm>
            <a:off x="725424" y="4277299"/>
            <a:ext cx="210799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25" name="text-030: PT_LOAD 决定段字节与地址"/>
          <p:cNvSpPr txBox="1"/>
          <p:nvPr/>
        </p:nvSpPr>
        <p:spPr>
          <a:xfrm>
            <a:off x="725424" y="4556374"/>
            <a:ext cx="232277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 决定段字节与地址</a:t>
            </a:r>
          </a:p>
        </p:txBody>
      </p:sp>
      <p:sp>
        <p:nvSpPr>
          <p:cNvPr id="26" name="text-031: e_entry 决定应用入口"/>
          <p:cNvSpPr txBox="1"/>
          <p:nvPr/>
        </p:nvSpPr>
        <p:spPr>
          <a:xfrm>
            <a:off x="725424" y="4769734"/>
            <a:ext cx="199562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 决定应用入口</a:t>
            </a:r>
          </a:p>
        </p:txBody>
      </p:sp>
      <p:sp>
        <p:nvSpPr>
          <p:cNvPr id="27" name="rect-032"/>
          <p:cNvSpPr/>
          <p:nvPr/>
        </p:nvSpPr>
        <p:spPr>
          <a:xfrm>
            <a:off x="604520" y="574294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-033"/>
          <p:cNvSpPr/>
          <p:nvPr/>
        </p:nvSpPr>
        <p:spPr>
          <a:xfrm>
            <a:off x="604520" y="574294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-034: 主机 / VIP ELF loader"/>
          <p:cNvSpPr txBox="1"/>
          <p:nvPr/>
        </p:nvSpPr>
        <p:spPr>
          <a:xfrm>
            <a:off x="725424" y="5770819"/>
            <a:ext cx="259801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 / VIP ELF loader</a:t>
            </a:r>
          </a:p>
        </p:txBody>
      </p:sp>
      <p:sp>
        <p:nvSpPr>
          <p:cNvPr id="30" name="text-035: 解析段 → JTAG SBA 写内存"/>
          <p:cNvSpPr txBox="1"/>
          <p:nvPr/>
        </p:nvSpPr>
        <p:spPr>
          <a:xfrm>
            <a:off x="725424" y="6049894"/>
            <a:ext cx="247817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解析段 → JTAG SBA 写内存</a:t>
            </a:r>
          </a:p>
        </p:txBody>
      </p:sp>
      <p:sp>
        <p:nvSpPr>
          <p:cNvPr id="31" name="text-036: 设置 DPC → resume"/>
          <p:cNvSpPr txBox="1"/>
          <p:nvPr/>
        </p:nvSpPr>
        <p:spPr>
          <a:xfrm>
            <a:off x="725424" y="6263254"/>
            <a:ext cx="1930197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设置 DPC → resume</a:t>
            </a:r>
          </a:p>
        </p:txBody>
      </p:sp>
      <p:sp>
        <p:nvSpPr>
          <p:cNvPr id="32" name="rect-037"/>
          <p:cNvSpPr/>
          <p:nvPr/>
        </p:nvSpPr>
        <p:spPr>
          <a:xfrm>
            <a:off x="7254240" y="28270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-038"/>
          <p:cNvSpPr/>
          <p:nvPr/>
        </p:nvSpPr>
        <p:spPr>
          <a:xfrm>
            <a:off x="7254240" y="28270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9: 复位 PC → Boot ROM"/>
          <p:cNvSpPr txBox="1"/>
          <p:nvPr/>
        </p:nvSpPr>
        <p:spPr>
          <a:xfrm>
            <a:off x="7375144" y="2854899"/>
            <a:ext cx="2302154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35" name="text-040: 时钟 / 复位与存储初始化"/>
          <p:cNvSpPr txBox="1"/>
          <p:nvPr/>
        </p:nvSpPr>
        <p:spPr>
          <a:xfrm>
            <a:off x="7375144" y="3133974"/>
            <a:ext cx="211830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 / 复位与存储初始化</a:t>
            </a:r>
          </a:p>
        </p:txBody>
      </p:sp>
      <p:sp>
        <p:nvSpPr>
          <p:cNvPr id="36" name="text-041: 独立确认首次栈访问条件"/>
          <p:cNvSpPr txBox="1"/>
          <p:nvPr/>
        </p:nvSpPr>
        <p:spPr>
          <a:xfrm>
            <a:off x="7375144" y="3347334"/>
            <a:ext cx="196291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独立确认首次栈访问条件</a:t>
            </a:r>
          </a:p>
        </p:txBody>
      </p:sp>
      <p:sp>
        <p:nvSpPr>
          <p:cNvPr id="37" name="rect-042"/>
          <p:cNvSpPr/>
          <p:nvPr/>
        </p:nvSpPr>
        <p:spPr>
          <a:xfrm>
            <a:off x="7254240" y="42494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-043"/>
          <p:cNvSpPr/>
          <p:nvPr/>
        </p:nvSpPr>
        <p:spPr>
          <a:xfrm>
            <a:off x="7254240" y="42494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-044: 目标处于 halt 且存储可写"/>
          <p:cNvSpPr txBox="1"/>
          <p:nvPr/>
        </p:nvSpPr>
        <p:spPr>
          <a:xfrm>
            <a:off x="7375144" y="4277299"/>
            <a:ext cx="257027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目标处于 halt 且存储可写</a:t>
            </a:r>
          </a:p>
        </p:txBody>
      </p:sp>
      <p:sp>
        <p:nvSpPr>
          <p:cNvPr id="40" name="text-045: 代码、初值到达段地址"/>
          <p:cNvSpPr txBox="1"/>
          <p:nvPr/>
        </p:nvSpPr>
        <p:spPr>
          <a:xfrm>
            <a:off x="7375144" y="4556374"/>
            <a:ext cx="17993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代码、初值到达段地址</a:t>
            </a:r>
          </a:p>
        </p:txBody>
      </p:sp>
      <p:sp>
        <p:nvSpPr>
          <p:cNvPr id="41" name="text-046: 目标寄存器可由调试接口设置"/>
          <p:cNvSpPr txBox="1"/>
          <p:nvPr/>
        </p:nvSpPr>
        <p:spPr>
          <a:xfrm>
            <a:off x="7375144" y="4769734"/>
            <a:ext cx="229006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目标寄存器可由调试接口设置</a:t>
            </a:r>
          </a:p>
        </p:txBody>
      </p:sp>
      <p:sp>
        <p:nvSpPr>
          <p:cNvPr id="42" name="rect-047"/>
          <p:cNvSpPr/>
          <p:nvPr/>
        </p:nvSpPr>
        <p:spPr>
          <a:xfrm>
            <a:off x="7254240" y="574294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-048"/>
          <p:cNvSpPr/>
          <p:nvPr/>
        </p:nvSpPr>
        <p:spPr>
          <a:xfrm>
            <a:off x="7254240" y="57429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-049: _start → crt0 → main"/>
          <p:cNvSpPr txBox="1"/>
          <p:nvPr/>
        </p:nvSpPr>
        <p:spPr>
          <a:xfrm>
            <a:off x="7375144" y="5770819"/>
            <a:ext cx="271820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_start → crt0 → main</a:t>
            </a:r>
          </a:p>
        </p:txBody>
      </p:sp>
      <p:sp>
        <p:nvSpPr>
          <p:cNvPr id="45" name="text-050: gp / BSS / FS；向量入口设置 VS"/>
          <p:cNvSpPr txBox="1"/>
          <p:nvPr/>
        </p:nvSpPr>
        <p:spPr>
          <a:xfrm>
            <a:off x="7375144" y="6049894"/>
            <a:ext cx="300979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gp / BSS / FS；向量入口设置 VS</a:t>
            </a:r>
          </a:p>
        </p:txBody>
      </p:sp>
      <p:sp>
        <p:nvSpPr>
          <p:cNvPr id="46" name="text-051: MMIO / UART / 数值与退出状态"/>
          <p:cNvSpPr txBox="1"/>
          <p:nvPr/>
        </p:nvSpPr>
        <p:spPr>
          <a:xfrm>
            <a:off x="7375144" y="6263254"/>
            <a:ext cx="2797150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MMIO / UART / 数值与退出状态</a:t>
            </a:r>
          </a:p>
        </p:txBody>
      </p:sp>
      <p:sp>
        <p:nvSpPr>
          <p:cNvPr id="47" name="text-052: 段字节"/>
          <p:cNvSpPr txBox="1"/>
          <p:nvPr/>
        </p:nvSpPr>
        <p:spPr>
          <a:xfrm>
            <a:off x="5760720" y="3938199"/>
            <a:ext cx="62585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48" name="text-053: DPC / resume"/>
          <p:cNvSpPr txBox="1"/>
          <p:nvPr/>
        </p:nvSpPr>
        <p:spPr>
          <a:xfrm>
            <a:off x="5760720" y="6498519"/>
            <a:ext cx="1376883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DPC / resume</a:t>
            </a:r>
          </a:p>
        </p:txBody>
      </p:sp>
      <p:sp>
        <p:nvSpPr>
          <p:cNvPr id="49" name="rect-054"/>
          <p:cNvSpPr/>
          <p:nvPr/>
        </p:nvSpPr>
        <p:spPr>
          <a:xfrm>
            <a:off x="391160" y="741426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-055"/>
          <p:cNvSpPr/>
          <p:nvPr/>
        </p:nvSpPr>
        <p:spPr>
          <a:xfrm>
            <a:off x="391160" y="741426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56: 三个地址属于不同阶段"/>
          <p:cNvSpPr txBox="1"/>
          <p:nvPr/>
        </p:nvSpPr>
        <p:spPr>
          <a:xfrm>
            <a:off x="512064" y="7442139"/>
            <a:ext cx="203403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三个地址属于不同阶段</a:t>
            </a:r>
          </a:p>
        </p:txBody>
      </p:sp>
      <p:sp>
        <p:nvSpPr>
          <p:cNvPr id="52" name="text-057: 复位 PC：最早取指位置；ELF e_entry：应用入口；main：由启动代码"/>
          <p:cNvSpPr txBox="1"/>
          <p:nvPr/>
        </p:nvSpPr>
        <p:spPr>
          <a:xfrm>
            <a:off x="512064" y="7728895"/>
            <a:ext cx="8081366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 PC：最早取指位置；ELF e_entry：应用入口；main：由启动代码调用的 C 函数。它们不能互相替代。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1869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-006"/>
          <p:cNvSpPr/>
          <p:nvPr/>
        </p:nvSpPr>
        <p:spPr>
          <a:xfrm>
            <a:off x="4729480" y="21869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-007"/>
          <p:cNvSpPr/>
          <p:nvPr/>
        </p:nvSpPr>
        <p:spPr>
          <a:xfrm>
            <a:off x="9067800" y="21869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lyline-008"/>
          <p:cNvSpPr/>
          <p:nvPr/>
        </p:nvSpPr>
        <p:spPr>
          <a:xfrm>
            <a:off x="2062480" y="38227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olyline-010"/>
          <p:cNvSpPr/>
          <p:nvPr/>
        </p:nvSpPr>
        <p:spPr>
          <a:xfrm>
            <a:off x="6400800" y="38227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olyline-012"/>
          <p:cNvSpPr/>
          <p:nvPr/>
        </p:nvSpPr>
        <p:spPr>
          <a:xfrm>
            <a:off x="10739120" y="38227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line-014"/>
          <p:cNvSpPr/>
          <p:nvPr/>
        </p:nvSpPr>
        <p:spPr>
          <a:xfrm>
            <a:off x="3556000" y="3289300"/>
            <a:ext cx="1351280" cy="1600200"/>
          </a:xfrm>
          <a:custGeom>
            <a:avLst/>
            <a:gdLst/>
            <a:ahLst/>
            <a:cxnLst/>
            <a:rect l="0" t="0" r="r" b="b"/>
            <a:pathLst>
              <a:path w="1351280" h="1600200" fill="none">
                <a:moveTo>
                  <a:pt x="1351280" y="0"/>
                </a:moveTo>
                <a:lnTo>
                  <a:pt x="782320" y="0"/>
                </a:lnTo>
                <a:lnTo>
                  <a:pt x="782320" y="1600200"/>
                </a:ln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-016: 配置契约：profile、SoC Cfg、软件与运行状态共同约束"/>
          <p:cNvSpPr txBox="1"/>
          <p:nvPr/>
        </p:nvSpPr>
        <p:spPr>
          <a:xfrm>
            <a:off x="483616" y="1071209"/>
            <a:ext cx="7194499" cy="40965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配置契约：profile、SoC Cfg、软件与运行状态共同约束</a:t>
            </a:r>
          </a:p>
        </p:txBody>
      </p:sp>
      <p:sp>
        <p:nvSpPr>
          <p:cNvPr id="13" name="text-017: 编译时配置生成硬件能力；软件 ISA / ABI / 链接布局必须与硬件及启动环"/>
          <p:cNvSpPr txBox="1"/>
          <p:nvPr/>
        </p:nvSpPr>
        <p:spPr>
          <a:xfrm>
            <a:off x="483616" y="1476878"/>
            <a:ext cx="661664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编译时配置生成硬件能力；软件 ISA / ABI / 链接布局必须与硬件及启动环境匹配。</a:t>
            </a:r>
          </a:p>
        </p:txBody>
      </p:sp>
      <p:sp>
        <p:nvSpPr>
          <p:cNvPr id="14" name="text-018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19: 源码：cheshire_pkg::gen_cva6_cfg / gen_axi_"/>
          <p:cNvSpPr txBox="1"/>
          <p:nvPr/>
        </p:nvSpPr>
        <p:spPr>
          <a:xfrm>
            <a:off x="341376" y="8526577"/>
            <a:ext cx="7047992" cy="227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源码：cheshire_pkg::gen_cva6_cfg / gen_axi_in/out；build_config_pkg；sw/sw.mk</a:t>
            </a:r>
          </a:p>
        </p:txBody>
      </p:sp>
      <p:sp>
        <p:nvSpPr>
          <p:cNvPr id="16" name="text-020: CPU 配置链"/>
          <p:cNvSpPr txBox="1"/>
          <p:nvPr/>
        </p:nvSpPr>
        <p:spPr>
          <a:xfrm>
            <a:off x="519176" y="2243836"/>
            <a:ext cx="117348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配置链</a:t>
            </a:r>
          </a:p>
        </p:txBody>
      </p:sp>
      <p:sp>
        <p:nvSpPr>
          <p:cNvPr id="17" name="text-021: 系统结构配置链"/>
          <p:cNvSpPr txBox="1"/>
          <p:nvPr/>
        </p:nvSpPr>
        <p:spPr>
          <a:xfrm>
            <a:off x="4857496" y="2243836"/>
            <a:ext cx="14224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系统结构配置链</a:t>
            </a:r>
          </a:p>
        </p:txBody>
      </p:sp>
      <p:sp>
        <p:nvSpPr>
          <p:cNvPr id="18" name="text-022: 软件构建链"/>
          <p:cNvSpPr txBox="1"/>
          <p:nvPr/>
        </p:nvSpPr>
        <p:spPr>
          <a:xfrm>
            <a:off x="9195816" y="2243836"/>
            <a:ext cx="1066800" cy="2844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软件构建链</a:t>
            </a:r>
          </a:p>
        </p:txBody>
      </p:sp>
      <p:sp>
        <p:nvSpPr>
          <p:cNvPr id="19" name="rect-023"/>
          <p:cNvSpPr/>
          <p:nvPr/>
        </p:nvSpPr>
        <p:spPr>
          <a:xfrm>
            <a:off x="568960" y="27559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-024"/>
          <p:cNvSpPr/>
          <p:nvPr/>
        </p:nvSpPr>
        <p:spPr>
          <a:xfrm>
            <a:off x="568960" y="27559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-025: CVA6 profile"/>
          <p:cNvSpPr txBox="1"/>
          <p:nvPr/>
        </p:nvSpPr>
        <p:spPr>
          <a:xfrm>
            <a:off x="689864" y="2783779"/>
            <a:ext cx="1627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profile</a:t>
            </a:r>
          </a:p>
        </p:txBody>
      </p:sp>
      <p:sp>
        <p:nvSpPr>
          <p:cNvPr id="22" name="text-026: ISA / cache / 资源原值"/>
          <p:cNvSpPr txBox="1"/>
          <p:nvPr/>
        </p:nvSpPr>
        <p:spPr>
          <a:xfrm>
            <a:off x="689864" y="3062854"/>
            <a:ext cx="230642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ISA / cache / 资源原值</a:t>
            </a:r>
          </a:p>
        </p:txBody>
      </p:sp>
      <p:sp>
        <p:nvSpPr>
          <p:cNvPr id="23" name="rect-027"/>
          <p:cNvSpPr/>
          <p:nvPr/>
        </p:nvSpPr>
        <p:spPr>
          <a:xfrm>
            <a:off x="568960" y="43561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-028"/>
          <p:cNvSpPr/>
          <p:nvPr/>
        </p:nvSpPr>
        <p:spPr>
          <a:xfrm>
            <a:off x="568960" y="43561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-029: gen_cva6_cfg"/>
          <p:cNvSpPr txBox="1"/>
          <p:nvPr/>
        </p:nvSpPr>
        <p:spPr>
          <a:xfrm>
            <a:off x="689864" y="4383979"/>
            <a:ext cx="1627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gen_cva6_cfg</a:t>
            </a:r>
          </a:p>
        </p:txBody>
      </p:sp>
      <p:sp>
        <p:nvSpPr>
          <p:cNvPr id="26" name="text-030: 平台覆盖 PMP / CLIC 等字段"/>
          <p:cNvSpPr txBox="1"/>
          <p:nvPr/>
        </p:nvSpPr>
        <p:spPr>
          <a:xfrm>
            <a:off x="689864" y="4663054"/>
            <a:ext cx="2584501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平台覆盖 PMP / CLIC 等字段</a:t>
            </a:r>
          </a:p>
        </p:txBody>
      </p:sp>
      <p:sp>
        <p:nvSpPr>
          <p:cNvPr id="27" name="text-031: 再由 build_config 派生内部能力"/>
          <p:cNvSpPr txBox="1"/>
          <p:nvPr/>
        </p:nvSpPr>
        <p:spPr>
          <a:xfrm>
            <a:off x="689864" y="4876414"/>
            <a:ext cx="296072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再由 build_config 派生内部能力</a:t>
            </a:r>
          </a:p>
        </p:txBody>
      </p:sp>
      <p:sp>
        <p:nvSpPr>
          <p:cNvPr id="28" name="rect-032"/>
          <p:cNvSpPr/>
          <p:nvPr/>
        </p:nvSpPr>
        <p:spPr>
          <a:xfrm>
            <a:off x="4907280" y="27559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-033"/>
          <p:cNvSpPr/>
          <p:nvPr/>
        </p:nvSpPr>
        <p:spPr>
          <a:xfrm>
            <a:off x="4907280" y="27559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-034: Cheshire Cfg"/>
          <p:cNvSpPr txBox="1"/>
          <p:nvPr/>
        </p:nvSpPr>
        <p:spPr>
          <a:xfrm>
            <a:off x="5028184" y="2783779"/>
            <a:ext cx="1627226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Cheshire Cfg</a:t>
            </a:r>
          </a:p>
        </p:txBody>
      </p:sp>
      <p:sp>
        <p:nvSpPr>
          <p:cNvPr id="31" name="text-035: Cfg.Ara / 核数 / 外设开关"/>
          <p:cNvSpPr txBox="1"/>
          <p:nvPr/>
        </p:nvSpPr>
        <p:spPr>
          <a:xfrm>
            <a:off x="5028184" y="3062854"/>
            <a:ext cx="2527249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Cfg.Ara / 核数 / 外设开关</a:t>
            </a:r>
          </a:p>
        </p:txBody>
      </p:sp>
      <p:sp>
        <p:nvSpPr>
          <p:cNvPr id="32" name="text-036: Ara lanes / VLEN"/>
          <p:cNvSpPr txBox="1"/>
          <p:nvPr/>
        </p:nvSpPr>
        <p:spPr>
          <a:xfrm>
            <a:off x="5028184" y="3276214"/>
            <a:ext cx="186476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lanes / VLEN</a:t>
            </a:r>
          </a:p>
        </p:txBody>
      </p:sp>
      <p:sp>
        <p:nvSpPr>
          <p:cNvPr id="33" name="rect-037"/>
          <p:cNvSpPr/>
          <p:nvPr/>
        </p:nvSpPr>
        <p:spPr>
          <a:xfrm>
            <a:off x="4907280" y="43561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-038"/>
          <p:cNvSpPr/>
          <p:nvPr/>
        </p:nvSpPr>
        <p:spPr>
          <a:xfrm>
            <a:off x="4907280" y="43561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39: 端口、类型与地址规则"/>
          <p:cNvSpPr txBox="1"/>
          <p:nvPr/>
        </p:nvSpPr>
        <p:spPr>
          <a:xfrm>
            <a:off x="5028184" y="4383979"/>
            <a:ext cx="2034032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端口、类型与地址规则</a:t>
            </a:r>
          </a:p>
        </p:txBody>
      </p:sp>
      <p:sp>
        <p:nvSpPr>
          <p:cNvPr id="36" name="text-040: gen_axi_in / out / reg"/>
          <p:cNvSpPr txBox="1"/>
          <p:nvPr/>
        </p:nvSpPr>
        <p:spPr>
          <a:xfrm>
            <a:off x="5028184" y="4663054"/>
            <a:ext cx="2502713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gen_axi_in / out / reg</a:t>
            </a:r>
          </a:p>
        </p:txBody>
      </p:sp>
      <p:sp>
        <p:nvSpPr>
          <p:cNvPr id="37" name="text-041: 数量变化影响索引与来源 ID"/>
          <p:cNvSpPr txBox="1"/>
          <p:nvPr/>
        </p:nvSpPr>
        <p:spPr>
          <a:xfrm>
            <a:off x="5028184" y="4876414"/>
            <a:ext cx="228188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数量变化影响索引与来源 ID</a:t>
            </a:r>
          </a:p>
        </p:txBody>
      </p:sp>
      <p:sp>
        <p:nvSpPr>
          <p:cNvPr id="38" name="rect-042"/>
          <p:cNvSpPr/>
          <p:nvPr/>
        </p:nvSpPr>
        <p:spPr>
          <a:xfrm>
            <a:off x="9245600" y="27559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-043"/>
          <p:cNvSpPr/>
          <p:nvPr/>
        </p:nvSpPr>
        <p:spPr>
          <a:xfrm>
            <a:off x="9245600" y="27559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44: 工具链 / 源码 / 库"/>
          <p:cNvSpPr txBox="1"/>
          <p:nvPr/>
        </p:nvSpPr>
        <p:spPr>
          <a:xfrm>
            <a:off x="9366504" y="2783779"/>
            <a:ext cx="2015541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工具链 / 源码 / 库</a:t>
            </a:r>
          </a:p>
        </p:txBody>
      </p:sp>
      <p:sp>
        <p:nvSpPr>
          <p:cNvPr id="41" name="text-045: -march / -mabi / 链接脚本"/>
          <p:cNvSpPr txBox="1"/>
          <p:nvPr/>
        </p:nvSpPr>
        <p:spPr>
          <a:xfrm>
            <a:off x="9366504" y="3062854"/>
            <a:ext cx="2625395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-march / -mabi / 链接脚本</a:t>
            </a:r>
          </a:p>
        </p:txBody>
      </p:sp>
      <p:sp>
        <p:nvSpPr>
          <p:cNvPr id="42" name="text-046: 启动对象与驱动头文件"/>
          <p:cNvSpPr txBox="1"/>
          <p:nvPr/>
        </p:nvSpPr>
        <p:spPr>
          <a:xfrm>
            <a:off x="9366504" y="3276214"/>
            <a:ext cx="1799336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启动对象与驱动头文件</a:t>
            </a:r>
          </a:p>
        </p:txBody>
      </p:sp>
      <p:sp>
        <p:nvSpPr>
          <p:cNvPr id="43" name="rect-047"/>
          <p:cNvSpPr/>
          <p:nvPr/>
        </p:nvSpPr>
        <p:spPr>
          <a:xfrm>
            <a:off x="9245600" y="43561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-048"/>
          <p:cNvSpPr/>
          <p:nvPr/>
        </p:nvSpPr>
        <p:spPr>
          <a:xfrm>
            <a:off x="9245600" y="43561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49: ELF / map / dump"/>
          <p:cNvSpPr txBox="1"/>
          <p:nvPr/>
        </p:nvSpPr>
        <p:spPr>
          <a:xfrm>
            <a:off x="9366504" y="4383979"/>
            <a:ext cx="2107997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46" name="text-050: 字节、符号、入口与装载段"/>
          <p:cNvSpPr txBox="1"/>
          <p:nvPr/>
        </p:nvSpPr>
        <p:spPr>
          <a:xfrm>
            <a:off x="9366504" y="4663054"/>
            <a:ext cx="2126488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字节、符号、入口与装载段</a:t>
            </a:r>
          </a:p>
        </p:txBody>
      </p:sp>
      <p:sp>
        <p:nvSpPr>
          <p:cNvPr id="47" name="text-051: 不能由编译成功推断目标运行"/>
          <p:cNvSpPr txBox="1"/>
          <p:nvPr/>
        </p:nvSpPr>
        <p:spPr>
          <a:xfrm>
            <a:off x="9366504" y="4876414"/>
            <a:ext cx="2290064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不能由编译成功推断目标运行</a:t>
            </a:r>
          </a:p>
        </p:txBody>
      </p:sp>
      <p:sp>
        <p:nvSpPr>
          <p:cNvPr id="48" name="text-052: 覆盖"/>
          <p:cNvSpPr txBox="1"/>
          <p:nvPr/>
        </p:nvSpPr>
        <p:spPr>
          <a:xfrm>
            <a:off x="3982720" y="3831519"/>
            <a:ext cx="469392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覆盖</a:t>
            </a:r>
          </a:p>
        </p:txBody>
      </p:sp>
      <p:sp>
        <p:nvSpPr>
          <p:cNvPr id="49" name="text-053: RTL 展开：CVA6 / Ara / 互连 / LLC / 外设"/>
          <p:cNvSpPr txBox="1"/>
          <p:nvPr/>
        </p:nvSpPr>
        <p:spPr>
          <a:xfrm>
            <a:off x="640080" y="5921878"/>
            <a:ext cx="407304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RTL 展开：CVA6 / Ara / 互连 / LLC / 外设</a:t>
            </a:r>
          </a:p>
        </p:txBody>
      </p:sp>
      <p:sp>
        <p:nvSpPr>
          <p:cNvPr id="50" name="text-054: 装载程序与有效硬件匹配"/>
          <p:cNvSpPr txBox="1"/>
          <p:nvPr/>
        </p:nvSpPr>
        <p:spPr>
          <a:xfrm>
            <a:off x="9245600" y="5921878"/>
            <a:ext cx="1962912" cy="261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装载程序与有效硬件匹配</a:t>
            </a:r>
          </a:p>
        </p:txBody>
      </p:sp>
      <p:sp>
        <p:nvSpPr>
          <p:cNvPr id="51" name="rect-055"/>
          <p:cNvSpPr/>
          <p:nvPr/>
        </p:nvSpPr>
        <p:spPr>
          <a:xfrm>
            <a:off x="391160" y="716534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-056"/>
          <p:cNvSpPr/>
          <p:nvPr/>
        </p:nvSpPr>
        <p:spPr>
          <a:xfrm>
            <a:off x="391160" y="7165340"/>
            <a:ext cx="35560" cy="853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-057: 运行时初始化不是再次生成硬件"/>
          <p:cNvSpPr txBox="1"/>
          <p:nvPr/>
        </p:nvSpPr>
        <p:spPr>
          <a:xfrm>
            <a:off x="512064" y="7193219"/>
            <a:ext cx="2773680" cy="29585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运行时初始化不是再次生成硬件</a:t>
            </a:r>
          </a:p>
        </p:txBody>
      </p:sp>
      <p:sp>
        <p:nvSpPr>
          <p:cNvPr id="54" name="text-058: VS / FS、MMIO 配置、存储就绪、有效栈与入口：软件使用已存在的资源；S"/>
          <p:cNvSpPr txBox="1"/>
          <p:nvPr/>
        </p:nvSpPr>
        <p:spPr>
          <a:xfrm>
            <a:off x="512064" y="7479975"/>
            <a:ext cx="8628990" cy="2503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 / FS、MMIO 配置、存储就绪、有效栈与入口：软件使用已存在的资源；SELCFG 不会自动替换 CPU profile。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7913</Words>
  <Application>Microsoft Office PowerPoint</Application>
  <PresentationFormat>A3 纸张(297x420 毫米)</PresentationFormat>
  <Paragraphs>1898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WenQuanYi Zen Hei</vt:lpstr>
      <vt:lpstr>宋体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文尧 赵</cp:lastModifiedBy>
  <cp:revision>3</cp:revision>
  <dcterms:created xsi:type="dcterms:W3CDTF">2013-01-27T09:14:16Z</dcterms:created>
  <dcterms:modified xsi:type="dcterms:W3CDTF">2026-10-12T01:46:39Z</dcterms:modified>
  <cp:category/>
</cp:coreProperties>
</file>