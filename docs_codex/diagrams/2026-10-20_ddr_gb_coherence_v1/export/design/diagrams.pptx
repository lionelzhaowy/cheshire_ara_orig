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801600" cy="72009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-002: SoC v1：DDR–GB 数据路径与范围维护"/>
          <p:cNvSpPr txBox="1"/>
          <p:nvPr/>
        </p:nvSpPr>
        <p:spPr>
          <a:xfrm>
            <a:off x="200025" y="60488"/>
            <a:ext cx="2619346" cy="23042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4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SoC v1：DDR–GB 数据路径与范围维护</a:t>
            </a:r>
          </a:p>
        </p:txBody>
      </p:sp>
      <p:sp>
        <p:nvSpPr>
          <p:cNvPr id="3" name="text-003: CPU / Ara2 共享 M5；F0–F3 共享压缩前端；控制箭头表示逻辑职责"/>
          <p:cNvSpPr txBox="1"/>
          <p:nvPr/>
        </p:nvSpPr>
        <p:spPr>
          <a:xfrm>
            <a:off x="200025" y="280355"/>
            <a:ext cx="3839261" cy="15361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6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CPU / Ara2 共享 M5；F0–F3 共享压缩前端；控制箭头表示逻辑职责，接口编码待实现。</a:t>
            </a:r>
          </a:p>
        </p:txBody>
      </p:sp>
      <p:sp>
        <p:nvSpPr>
          <p:cNvPr id="4" name="compute-region"/>
          <p:cNvSpPr/>
          <p:nvPr/>
        </p:nvSpPr>
        <p:spPr>
          <a:xfrm>
            <a:off x="240030" y="580072"/>
            <a:ext cx="3800475" cy="1920240"/>
          </a:xfrm>
          <a:prstGeom prst="rect">
            <a:avLst/>
          </a:prstGeom>
          <a:solidFill>
            <a:srgbClr val="FAF2F3"/>
          </a:solidFill>
          <a:ln w="6801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cpu"/>
          <p:cNvSpPr/>
          <p:nvPr/>
        </p:nvSpPr>
        <p:spPr>
          <a:xfrm>
            <a:off x="320040" y="720090"/>
            <a:ext cx="1440180" cy="480060"/>
          </a:xfrm>
          <a:prstGeom prst="rect">
            <a:avLst/>
          </a:prstGeom>
          <a:solidFill>
            <a:srgbClr val="F1D7D9"/>
          </a:solidFill>
          <a:ln w="6801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-006: CVA6 CPU"/>
          <p:cNvSpPr txBox="1"/>
          <p:nvPr/>
        </p:nvSpPr>
        <p:spPr>
          <a:xfrm>
            <a:off x="745468" y="815462"/>
            <a:ext cx="589324" cy="1728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CVA6 CPU</a:t>
            </a:r>
          </a:p>
        </p:txBody>
      </p:sp>
      <p:sp>
        <p:nvSpPr>
          <p:cNvPr id="7" name="text-007: L1D / WT 写缓冲"/>
          <p:cNvSpPr txBox="1"/>
          <p:nvPr/>
        </p:nvSpPr>
        <p:spPr>
          <a:xfrm>
            <a:off x="632220" y="968441"/>
            <a:ext cx="815821" cy="15361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L1D / WT 写缓冲</a:t>
            </a:r>
          </a:p>
        </p:txBody>
      </p:sp>
      <p:sp>
        <p:nvSpPr>
          <p:cNvPr id="8" name="ara"/>
          <p:cNvSpPr/>
          <p:nvPr/>
        </p:nvSpPr>
        <p:spPr>
          <a:xfrm>
            <a:off x="2240280" y="720090"/>
            <a:ext cx="1440180" cy="480060"/>
          </a:xfrm>
          <a:prstGeom prst="rect">
            <a:avLst/>
          </a:prstGeom>
          <a:solidFill>
            <a:srgbClr val="F1D7D9"/>
          </a:solidFill>
          <a:ln w="6801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-009: Ara 2 lanes"/>
          <p:cNvSpPr txBox="1"/>
          <p:nvPr/>
        </p:nvSpPr>
        <p:spPr>
          <a:xfrm>
            <a:off x="2636698" y="815462"/>
            <a:ext cx="647343" cy="1728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Ara 2 lanes</a:t>
            </a:r>
          </a:p>
        </p:txBody>
      </p:sp>
      <p:sp>
        <p:nvSpPr>
          <p:cNvPr id="10" name="text-010: VLSU / AXI64"/>
          <p:cNvSpPr txBox="1"/>
          <p:nvPr/>
        </p:nvSpPr>
        <p:spPr>
          <a:xfrm>
            <a:off x="2624562" y="968441"/>
            <a:ext cx="671615" cy="15361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VLSU / AXI64</a:t>
            </a:r>
          </a:p>
        </p:txBody>
      </p:sp>
      <p:sp>
        <p:nvSpPr>
          <p:cNvPr id="11" name="filter"/>
          <p:cNvSpPr/>
          <p:nvPr/>
        </p:nvSpPr>
        <p:spPr>
          <a:xfrm>
            <a:off x="2240280" y="1400175"/>
            <a:ext cx="1440180" cy="320040"/>
          </a:xfrm>
          <a:prstGeom prst="rect">
            <a:avLst/>
          </a:prstGeom>
          <a:solidFill>
            <a:srgbClr val="F1D7D9"/>
          </a:solidFill>
          <a:ln w="6801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-012: 既有失效过滤 / 等宽转换"/>
          <p:cNvSpPr txBox="1"/>
          <p:nvPr/>
        </p:nvSpPr>
        <p:spPr>
          <a:xfrm>
            <a:off x="2305851" y="1483545"/>
            <a:ext cx="1309039" cy="1728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既有失效过滤 / 等宽转换</a:t>
            </a:r>
          </a:p>
        </p:txBody>
      </p:sp>
      <p:sp>
        <p:nvSpPr>
          <p:cNvPr id="13" name="xbar"/>
          <p:cNvSpPr/>
          <p:nvPr/>
        </p:nvSpPr>
        <p:spPr>
          <a:xfrm>
            <a:off x="320040" y="2000250"/>
            <a:ext cx="3600450" cy="360045"/>
          </a:xfrm>
          <a:prstGeom prst="rect">
            <a:avLst/>
          </a:prstGeom>
          <a:solidFill>
            <a:srgbClr val="F5E1C9"/>
          </a:solidFill>
          <a:ln w="6801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-014: 主 AXI Crossbar · 64 bit"/>
          <p:cNvSpPr txBox="1"/>
          <p:nvPr/>
        </p:nvSpPr>
        <p:spPr>
          <a:xfrm>
            <a:off x="1509573" y="2035614"/>
            <a:ext cx="1221384" cy="1728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主 AXI Crossbar · 64 bit</a:t>
            </a:r>
          </a:p>
        </p:txBody>
      </p:sp>
      <p:sp>
        <p:nvSpPr>
          <p:cNvPr id="15" name="text-015: CPU / Ara 独立输入 · M2 主存 / M5 GB"/>
          <p:cNvSpPr txBox="1"/>
          <p:nvPr/>
        </p:nvSpPr>
        <p:spPr>
          <a:xfrm>
            <a:off x="1240358" y="2188594"/>
            <a:ext cx="1759814" cy="15361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CPU / Ara 独立输入 · M2 主存 / M5 GB</a:t>
            </a:r>
          </a:p>
        </p:txBody>
      </p:sp>
      <p:sp>
        <p:nvSpPr>
          <p:cNvPr id="16" name="llc"/>
          <p:cNvSpPr/>
          <p:nvPr/>
        </p:nvSpPr>
        <p:spPr>
          <a:xfrm>
            <a:off x="360045" y="2920365"/>
            <a:ext cx="1680210" cy="520065"/>
          </a:xfrm>
          <a:prstGeom prst="rect">
            <a:avLst/>
          </a:prstGeom>
          <a:solidFill>
            <a:srgbClr val="D8E8F4"/>
          </a:solidFill>
          <a:ln w="6801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-017: M2：原子适配 → LLC"/>
          <p:cNvSpPr txBox="1"/>
          <p:nvPr/>
        </p:nvSpPr>
        <p:spPr>
          <a:xfrm>
            <a:off x="625641" y="3035739"/>
            <a:ext cx="1149019" cy="1728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M2：原子适配 → LLC</a:t>
            </a:r>
          </a:p>
        </p:txBody>
      </p:sp>
      <p:sp>
        <p:nvSpPr>
          <p:cNvPr id="18" name="text-018: WB cache / 保留 SPM"/>
          <p:cNvSpPr txBox="1"/>
          <p:nvPr/>
        </p:nvSpPr>
        <p:spPr>
          <a:xfrm>
            <a:off x="684976" y="3188719"/>
            <a:ext cx="1030348" cy="15361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WB cache / 保留 SPM</a:t>
            </a:r>
          </a:p>
        </p:txBody>
      </p:sp>
      <p:sp>
        <p:nvSpPr>
          <p:cNvPr id="19" name="gb-region"/>
          <p:cNvSpPr/>
          <p:nvPr/>
        </p:nvSpPr>
        <p:spPr>
          <a:xfrm>
            <a:off x="4320540" y="580072"/>
            <a:ext cx="4080510" cy="2040255"/>
          </a:xfrm>
          <a:prstGeom prst="rect">
            <a:avLst/>
          </a:prstGeom>
          <a:solidFill>
            <a:srgbClr val="F0F8F5"/>
          </a:solidFill>
          <a:ln w="6801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npu"/>
          <p:cNvSpPr/>
          <p:nvPr/>
        </p:nvSpPr>
        <p:spPr>
          <a:xfrm>
            <a:off x="4480560" y="800100"/>
            <a:ext cx="1600200" cy="480060"/>
          </a:xfrm>
          <a:prstGeom prst="rect">
            <a:avLst/>
          </a:prstGeom>
          <a:solidFill>
            <a:srgbClr val="D9EEE8"/>
          </a:solidFill>
          <a:ln w="6801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-021: NPU 计算"/>
          <p:cNvSpPr txBox="1"/>
          <p:nvPr/>
        </p:nvSpPr>
        <p:spPr>
          <a:xfrm>
            <a:off x="5002081" y="895472"/>
            <a:ext cx="557157" cy="1728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计算</a:t>
            </a:r>
          </a:p>
        </p:txBody>
      </p:sp>
      <p:sp>
        <p:nvSpPr>
          <p:cNvPr id="22" name="text-022: GB 操作数 / 结果"/>
          <p:cNvSpPr txBox="1"/>
          <p:nvPr/>
        </p:nvSpPr>
        <p:spPr>
          <a:xfrm>
            <a:off x="4863139" y="1048451"/>
            <a:ext cx="835042" cy="15361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操作数 / 结果</a:t>
            </a:r>
          </a:p>
        </p:txBody>
      </p:sp>
      <p:sp>
        <p:nvSpPr>
          <p:cNvPr id="23" name="mover"/>
          <p:cNvSpPr/>
          <p:nvPr/>
        </p:nvSpPr>
        <p:spPr>
          <a:xfrm>
            <a:off x="6680835" y="800100"/>
            <a:ext cx="1600200" cy="480060"/>
          </a:xfrm>
          <a:prstGeom prst="rect">
            <a:avLst/>
          </a:prstGeom>
          <a:solidFill>
            <a:srgbClr val="D9EEE8"/>
          </a:solidFill>
          <a:ln w="6801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text-024: DDR ↔ GB 搬运器"/>
          <p:cNvSpPr txBox="1"/>
          <p:nvPr/>
        </p:nvSpPr>
        <p:spPr>
          <a:xfrm>
            <a:off x="6988642" y="895472"/>
            <a:ext cx="984586" cy="1728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↔ GB 搬运器</a:t>
            </a:r>
          </a:p>
        </p:txBody>
      </p:sp>
      <p:sp>
        <p:nvSpPr>
          <p:cNvPr id="25" name="text-025: GB 本地口 / F1 DDR 口"/>
          <p:cNvSpPr txBox="1"/>
          <p:nvPr/>
        </p:nvSpPr>
        <p:spPr>
          <a:xfrm>
            <a:off x="6937820" y="1048451"/>
            <a:ext cx="1086230" cy="15361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本地口 / F1 DDR 口</a:t>
            </a:r>
          </a:p>
        </p:txBody>
      </p:sp>
      <p:sp>
        <p:nvSpPr>
          <p:cNvPr id="26" name="adapter"/>
          <p:cNvSpPr/>
          <p:nvPr/>
        </p:nvSpPr>
        <p:spPr>
          <a:xfrm>
            <a:off x="4480560" y="2000250"/>
            <a:ext cx="1520190" cy="480060"/>
          </a:xfrm>
          <a:prstGeom prst="rect">
            <a:avLst/>
          </a:prstGeom>
          <a:solidFill>
            <a:srgbClr val="D9EEE8"/>
          </a:solidFill>
          <a:ln w="6801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text-027: GB 共享访问适配"/>
          <p:cNvSpPr txBox="1"/>
          <p:nvPr/>
        </p:nvSpPr>
        <p:spPr>
          <a:xfrm>
            <a:off x="4777375" y="2095622"/>
            <a:ext cx="926560" cy="1728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共享访问适配</a:t>
            </a:r>
          </a:p>
        </p:txBody>
      </p:sp>
      <p:sp>
        <p:nvSpPr>
          <p:cNvPr id="28" name="text-028: 仲裁 / bank 冲突处理"/>
          <p:cNvSpPr txBox="1"/>
          <p:nvPr/>
        </p:nvSpPr>
        <p:spPr>
          <a:xfrm>
            <a:off x="4734857" y="2248601"/>
            <a:ext cx="1011595" cy="15361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仲裁 / bank 冲突处理</a:t>
            </a:r>
          </a:p>
        </p:txBody>
      </p:sp>
      <p:sp>
        <p:nvSpPr>
          <p:cNvPr id="29" name="gb"/>
          <p:cNvSpPr/>
          <p:nvPr/>
        </p:nvSpPr>
        <p:spPr>
          <a:xfrm>
            <a:off x="6400800" y="2000250"/>
            <a:ext cx="1560195" cy="480060"/>
          </a:xfrm>
          <a:prstGeom prst="rect">
            <a:avLst/>
          </a:prstGeom>
          <a:solidFill>
            <a:srgbClr val="D9EEE8"/>
          </a:solidFill>
          <a:ln w="6801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text-030: Global Buffer"/>
          <p:cNvSpPr txBox="1"/>
          <p:nvPr/>
        </p:nvSpPr>
        <p:spPr>
          <a:xfrm>
            <a:off x="6820621" y="2095622"/>
            <a:ext cx="720553" cy="1728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Global Buffer</a:t>
            </a:r>
          </a:p>
        </p:txBody>
      </p:sp>
      <p:sp>
        <p:nvSpPr>
          <p:cNvPr id="31" name="text-031: 独立 SRAM · 非缓存映射建议"/>
          <p:cNvSpPr txBox="1"/>
          <p:nvPr/>
        </p:nvSpPr>
        <p:spPr>
          <a:xfrm>
            <a:off x="6520534" y="2248601"/>
            <a:ext cx="1320728" cy="15361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独立 SRAM · 非缓存映射建议</a:t>
            </a:r>
          </a:p>
        </p:txBody>
      </p:sp>
      <p:sp>
        <p:nvSpPr>
          <p:cNvPr id="32" name="isp"/>
          <p:cNvSpPr/>
          <p:nvPr/>
        </p:nvSpPr>
        <p:spPr>
          <a:xfrm>
            <a:off x="9001125" y="800100"/>
            <a:ext cx="1600200" cy="480060"/>
          </a:xfrm>
          <a:prstGeom prst="rect">
            <a:avLst/>
          </a:prstGeom>
          <a:solidFill>
            <a:srgbClr val="F5E1C9"/>
          </a:solidFill>
          <a:ln w="6801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text-033: LVDS RX / ISP"/>
          <p:cNvSpPr txBox="1"/>
          <p:nvPr/>
        </p:nvSpPr>
        <p:spPr>
          <a:xfrm>
            <a:off x="9404078" y="895472"/>
            <a:ext cx="794293" cy="1728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LVDS RX / ISP</a:t>
            </a:r>
          </a:p>
        </p:txBody>
      </p:sp>
      <p:sp>
        <p:nvSpPr>
          <p:cNvPr id="34" name="text-034: RAW 或处理后像素"/>
          <p:cNvSpPr txBox="1"/>
          <p:nvPr/>
        </p:nvSpPr>
        <p:spPr>
          <a:xfrm>
            <a:off x="9354872" y="1048451"/>
            <a:ext cx="892705" cy="15361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RAW 或处理后像素</a:t>
            </a:r>
          </a:p>
        </p:txBody>
      </p:sp>
      <p:sp>
        <p:nvSpPr>
          <p:cNvPr id="35" name="frame"/>
          <p:cNvSpPr/>
          <p:nvPr/>
        </p:nvSpPr>
        <p:spPr>
          <a:xfrm>
            <a:off x="9001125" y="2000250"/>
            <a:ext cx="1600200" cy="480060"/>
          </a:xfrm>
          <a:prstGeom prst="rect">
            <a:avLst/>
          </a:prstGeom>
          <a:solidFill>
            <a:srgbClr val="F5E1C9"/>
          </a:solidFill>
          <a:ln w="6801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text-036: 帧写入 DMA"/>
          <p:cNvSpPr txBox="1"/>
          <p:nvPr/>
        </p:nvSpPr>
        <p:spPr>
          <a:xfrm>
            <a:off x="9458935" y="2095622"/>
            <a:ext cx="684579" cy="1728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帧写入 DMA</a:t>
            </a:r>
          </a:p>
        </p:txBody>
      </p:sp>
      <p:sp>
        <p:nvSpPr>
          <p:cNvPr id="37" name="text-037: F2：AW / W，返回 B"/>
          <p:cNvSpPr txBox="1"/>
          <p:nvPr/>
        </p:nvSpPr>
        <p:spPr>
          <a:xfrm>
            <a:off x="9306022" y="2248601"/>
            <a:ext cx="990405" cy="15361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F2：AW / W，返回 B</a:t>
            </a:r>
          </a:p>
        </p:txBody>
      </p:sp>
      <p:sp>
        <p:nvSpPr>
          <p:cNvPr id="38" name="roi"/>
          <p:cNvSpPr/>
          <p:nvPr/>
        </p:nvSpPr>
        <p:spPr>
          <a:xfrm>
            <a:off x="11001375" y="2960370"/>
            <a:ext cx="1440180" cy="640080"/>
          </a:xfrm>
          <a:prstGeom prst="rect">
            <a:avLst/>
          </a:prstGeom>
          <a:solidFill>
            <a:srgbClr val="F5E1C9"/>
          </a:solidFill>
          <a:ln w="6801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text-039: ROI 调度 / 二维读 DMA"/>
          <p:cNvSpPr txBox="1"/>
          <p:nvPr/>
        </p:nvSpPr>
        <p:spPr>
          <a:xfrm>
            <a:off x="11111454" y="3067743"/>
            <a:ext cx="1220021" cy="1728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ROI 调度 / 二维读 DMA</a:t>
            </a:r>
          </a:p>
        </p:txBody>
      </p:sp>
      <p:sp>
        <p:nvSpPr>
          <p:cNvPr id="40" name="text-040: F3：AR，返回 R"/>
          <p:cNvSpPr txBox="1"/>
          <p:nvPr/>
        </p:nvSpPr>
        <p:spPr>
          <a:xfrm>
            <a:off x="11328932" y="3220723"/>
            <a:ext cx="785067" cy="15361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F3：AR，返回 R</a:t>
            </a:r>
          </a:p>
        </p:txBody>
      </p:sp>
      <p:sp>
        <p:nvSpPr>
          <p:cNvPr id="41" name="text-041: 源帧读完后交还"/>
          <p:cNvSpPr txBox="1"/>
          <p:nvPr/>
        </p:nvSpPr>
        <p:spPr>
          <a:xfrm>
            <a:off x="11337417" y="3360740"/>
            <a:ext cx="768096" cy="15361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源帧读完后交还</a:t>
            </a:r>
          </a:p>
        </p:txBody>
      </p:sp>
      <p:sp>
        <p:nvSpPr>
          <p:cNvPr id="42" name="tx"/>
          <p:cNvSpPr/>
          <p:nvPr/>
        </p:nvSpPr>
        <p:spPr>
          <a:xfrm>
            <a:off x="11001375" y="4400550"/>
            <a:ext cx="1440180" cy="480060"/>
          </a:xfrm>
          <a:prstGeom prst="rect">
            <a:avLst/>
          </a:prstGeom>
          <a:solidFill>
            <a:srgbClr val="F5E1C9"/>
          </a:solidFill>
          <a:ln w="6801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" name="text-043: 输出 FIFO / LVDS TX"/>
          <p:cNvSpPr txBox="1"/>
          <p:nvPr/>
        </p:nvSpPr>
        <p:spPr>
          <a:xfrm>
            <a:off x="11182810" y="4495922"/>
            <a:ext cx="1077310" cy="1728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输出 FIFO / LVDS TX</a:t>
            </a:r>
          </a:p>
        </p:txBody>
      </p:sp>
      <p:sp>
        <p:nvSpPr>
          <p:cNvPr id="44" name="text-044: 像素整理与发送"/>
          <p:cNvSpPr txBox="1"/>
          <p:nvPr/>
        </p:nvSpPr>
        <p:spPr>
          <a:xfrm>
            <a:off x="11337417" y="4648901"/>
            <a:ext cx="768096" cy="15361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像素整理与发送</a:t>
            </a:r>
          </a:p>
        </p:txBody>
      </p:sp>
      <p:sp>
        <p:nvSpPr>
          <p:cNvPr id="45" name="maint"/>
          <p:cNvSpPr/>
          <p:nvPr/>
        </p:nvSpPr>
        <p:spPr>
          <a:xfrm>
            <a:off x="3200400" y="2960370"/>
            <a:ext cx="3600450" cy="500062"/>
          </a:xfrm>
          <a:prstGeom prst="rect">
            <a:avLst/>
          </a:prstGeom>
          <a:solidFill>
            <a:srgbClr val="E8DFED"/>
          </a:solidFill>
          <a:ln w="6801" cap="flat">
            <a:solidFill>
              <a:srgbClr val="29292D"/>
            </a:solidFill>
            <a:custDash>
              <a:ds d="529412" sp="352941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" name="text-046: 范围维护服务（逻辑职责）"/>
          <p:cNvSpPr txBox="1"/>
          <p:nvPr/>
        </p:nvSpPr>
        <p:spPr>
          <a:xfrm>
            <a:off x="4298537" y="3065743"/>
            <a:ext cx="1404176" cy="1728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范围维护服务（逻辑职责）</a:t>
            </a:r>
          </a:p>
        </p:txBody>
      </p:sp>
      <p:sp>
        <p:nvSpPr>
          <p:cNvPr id="47" name="text-047: 软件范围命令 · 排空 / clean / invalidate · 准入与完成"/>
          <p:cNvSpPr txBox="1"/>
          <p:nvPr/>
        </p:nvSpPr>
        <p:spPr>
          <a:xfrm>
            <a:off x="3828135" y="3218722"/>
            <a:ext cx="2344981" cy="15361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软件范围命令 · 排空 / clean / invalidate · 准入与完成</a:t>
            </a:r>
          </a:p>
        </p:txBody>
      </p:sp>
      <p:sp>
        <p:nvSpPr>
          <p:cNvPr id="48" name="frontend"/>
          <p:cNvSpPr/>
          <p:nvPr/>
        </p:nvSpPr>
        <p:spPr>
          <a:xfrm>
            <a:off x="2200275" y="4080510"/>
            <a:ext cx="8401050" cy="1280160"/>
          </a:xfrm>
          <a:prstGeom prst="rect">
            <a:avLst/>
          </a:prstGeom>
          <a:solidFill>
            <a:srgbClr val="D9EEE8"/>
          </a:solidFill>
          <a:ln w="6801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9" name="text-049: 共享压缩前端 · 四入口共享服务"/>
          <p:cNvSpPr txBox="1"/>
          <p:nvPr/>
        </p:nvSpPr>
        <p:spPr>
          <a:xfrm>
            <a:off x="5599400" y="4507923"/>
            <a:ext cx="1602800" cy="1728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共享压缩前端 · 四入口共享服务</a:t>
            </a:r>
          </a:p>
        </p:txBody>
      </p:sp>
      <p:sp>
        <p:nvSpPr>
          <p:cNvPr id="50" name="text-050: 逻辑地址映射 · 共享压缩 / 解压 · 普通区域旁路"/>
          <p:cNvSpPr txBox="1"/>
          <p:nvPr/>
        </p:nvSpPr>
        <p:spPr>
          <a:xfrm>
            <a:off x="5354419" y="4660903"/>
            <a:ext cx="2092762" cy="15361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逻辑地址映射 · 共享压缩 / 解压 · 普通区域旁路</a:t>
            </a:r>
          </a:p>
        </p:txBody>
      </p:sp>
      <p:sp>
        <p:nvSpPr>
          <p:cNvPr id="51" name="text-051: 数据与元数据发布 · 子事务错误聚合 · 读写响应匹配"/>
          <p:cNvSpPr txBox="1"/>
          <p:nvPr/>
        </p:nvSpPr>
        <p:spPr>
          <a:xfrm>
            <a:off x="5264127" y="4800920"/>
            <a:ext cx="2273347" cy="15361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数据与元数据发布 · 子事务错误聚合 · 读写响应匹配</a:t>
            </a:r>
          </a:p>
        </p:txBody>
      </p:sp>
      <p:sp>
        <p:nvSpPr>
          <p:cNvPr id="52" name="controller"/>
          <p:cNvSpPr/>
          <p:nvPr/>
        </p:nvSpPr>
        <p:spPr>
          <a:xfrm>
            <a:off x="2200275" y="5720715"/>
            <a:ext cx="8401050" cy="720090"/>
          </a:xfrm>
          <a:prstGeom prst="rect">
            <a:avLst/>
          </a:prstGeom>
          <a:solidFill>
            <a:srgbClr val="D8E8F4"/>
          </a:solidFill>
          <a:ln w="6801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3" name="text-053: 一个 DDR Controller · 四个 AXI slave"/>
          <p:cNvSpPr txBox="1"/>
          <p:nvPr/>
        </p:nvSpPr>
        <p:spPr>
          <a:xfrm>
            <a:off x="5492277" y="5936102"/>
            <a:ext cx="1817046" cy="1728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一个 DDR Controller · 四个 AXI slave</a:t>
            </a:r>
          </a:p>
        </p:txBody>
      </p:sp>
      <p:sp>
        <p:nvSpPr>
          <p:cNvPr id="54" name="text-054: 四口仲裁 / 共享物理 DDR 带宽 · 排空与跨口可见性待契约确认"/>
          <p:cNvSpPr txBox="1"/>
          <p:nvPr/>
        </p:nvSpPr>
        <p:spPr>
          <a:xfrm>
            <a:off x="5032863" y="6089081"/>
            <a:ext cx="2735873" cy="15361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四口仲裁 / 共享物理 DDR 带宽 · 排空与跨口可见性待契约确认</a:t>
            </a:r>
          </a:p>
        </p:txBody>
      </p:sp>
      <p:sp>
        <p:nvSpPr>
          <p:cNvPr id="55" name="ddr"/>
          <p:cNvSpPr/>
          <p:nvPr/>
        </p:nvSpPr>
        <p:spPr>
          <a:xfrm>
            <a:off x="11001375" y="5880735"/>
            <a:ext cx="1440180" cy="480060"/>
          </a:xfrm>
          <a:prstGeom prst="rect">
            <a:avLst/>
          </a:prstGeom>
          <a:solidFill>
            <a:srgbClr val="D8E8F4"/>
          </a:solidFill>
          <a:ln w="6801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6" name="text-056: DDR PHY / DDR"/>
          <p:cNvSpPr txBox="1"/>
          <p:nvPr/>
        </p:nvSpPr>
        <p:spPr>
          <a:xfrm>
            <a:off x="11285498" y="5976107"/>
            <a:ext cx="871934" cy="1728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PHY / DDR</a:t>
            </a:r>
          </a:p>
        </p:txBody>
      </p:sp>
      <p:sp>
        <p:nvSpPr>
          <p:cNvPr id="57" name="text-057: 片外存储"/>
          <p:cNvSpPr txBox="1"/>
          <p:nvPr/>
        </p:nvSpPr>
        <p:spPr>
          <a:xfrm>
            <a:off x="11481435" y="6129086"/>
            <a:ext cx="480060" cy="15361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片外存储</a:t>
            </a:r>
          </a:p>
        </p:txBody>
      </p:sp>
      <p:sp>
        <p:nvSpPr>
          <p:cNvPr id="58" name="cpu-xbar"/>
          <p:cNvSpPr/>
          <p:nvPr/>
        </p:nvSpPr>
        <p:spPr>
          <a:xfrm>
            <a:off x="1040130" y="1200150"/>
            <a:ext cx="1" cy="800100"/>
          </a:xfrm>
          <a:custGeom>
            <a:avLst/>
            <a:gdLst/>
            <a:ahLst/>
            <a:cxnLst/>
            <a:rect l="0" t="0" r="r" b="b"/>
            <a:pathLst>
              <a:path w="1" h="800100" fill="none">
                <a:moveTo>
                  <a:pt x="0" y="0"/>
                </a:moveTo>
                <a:lnTo>
                  <a:pt x="0" y="800100"/>
                </a:lnTo>
              </a:path>
            </a:pathLst>
          </a:custGeom>
          <a:noFill/>
          <a:ln w="11201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9" name="ara-filter"/>
          <p:cNvSpPr/>
          <p:nvPr/>
        </p:nvSpPr>
        <p:spPr>
          <a:xfrm>
            <a:off x="2960370" y="1200150"/>
            <a:ext cx="1" cy="200025"/>
          </a:xfrm>
          <a:custGeom>
            <a:avLst/>
            <a:gdLst/>
            <a:ahLst/>
            <a:cxnLst/>
            <a:rect l="0" t="0" r="r" b="b"/>
            <a:pathLst>
              <a:path w="1" h="200025" fill="none">
                <a:moveTo>
                  <a:pt x="0" y="0"/>
                </a:moveTo>
                <a:lnTo>
                  <a:pt x="0" y="200025"/>
                </a:lnTo>
              </a:path>
            </a:pathLst>
          </a:custGeom>
          <a:noFill/>
          <a:ln w="11201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0" name="filter-xbar"/>
          <p:cNvSpPr/>
          <p:nvPr/>
        </p:nvSpPr>
        <p:spPr>
          <a:xfrm>
            <a:off x="2960370" y="1720215"/>
            <a:ext cx="1" cy="280035"/>
          </a:xfrm>
          <a:custGeom>
            <a:avLst/>
            <a:gdLst/>
            <a:ahLst/>
            <a:cxnLst/>
            <a:rect l="0" t="0" r="r" b="b"/>
            <a:pathLst>
              <a:path w="1" h="280035" fill="none">
                <a:moveTo>
                  <a:pt x="0" y="0"/>
                </a:moveTo>
                <a:lnTo>
                  <a:pt x="0" y="280035"/>
                </a:lnTo>
              </a:path>
            </a:pathLst>
          </a:custGeom>
          <a:noFill/>
          <a:ln w="11201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1" name="m2-llc"/>
          <p:cNvSpPr/>
          <p:nvPr/>
        </p:nvSpPr>
        <p:spPr>
          <a:xfrm>
            <a:off x="1200150" y="2360295"/>
            <a:ext cx="1" cy="560070"/>
          </a:xfrm>
          <a:custGeom>
            <a:avLst/>
            <a:gdLst/>
            <a:ahLst/>
            <a:cxnLst/>
            <a:rect l="0" t="0" r="r" b="b"/>
            <a:pathLst>
              <a:path w="1" h="560070" fill="none">
                <a:moveTo>
                  <a:pt x="0" y="0"/>
                </a:moveTo>
                <a:lnTo>
                  <a:pt x="0" y="560070"/>
                </a:lnTo>
              </a:path>
            </a:pathLst>
          </a:custGeom>
          <a:noFill/>
          <a:ln w="11201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2" name="m5-gb"/>
          <p:cNvSpPr/>
          <p:nvPr/>
        </p:nvSpPr>
        <p:spPr>
          <a:xfrm>
            <a:off x="3920490" y="2180272"/>
            <a:ext cx="560070" cy="1"/>
          </a:xfrm>
          <a:custGeom>
            <a:avLst/>
            <a:gdLst/>
            <a:ahLst/>
            <a:cxnLst/>
            <a:rect l="0" t="0" r="r" b="b"/>
            <a:pathLst>
              <a:path w="560070" h="1" fill="none">
                <a:moveTo>
                  <a:pt x="0" y="0"/>
                </a:moveTo>
                <a:lnTo>
                  <a:pt x="560070" y="0"/>
                </a:lnTo>
              </a:path>
            </a:pathLst>
          </a:custGeom>
          <a:noFill/>
          <a:ln w="11201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3" name="text-063: M5"/>
          <p:cNvSpPr txBox="1"/>
          <p:nvPr/>
        </p:nvSpPr>
        <p:spPr>
          <a:xfrm>
            <a:off x="4080510" y="1996570"/>
            <a:ext cx="232248" cy="15361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M5</a:t>
            </a:r>
          </a:p>
        </p:txBody>
      </p:sp>
      <p:sp>
        <p:nvSpPr>
          <p:cNvPr id="64" name="adapter-gb"/>
          <p:cNvSpPr/>
          <p:nvPr/>
        </p:nvSpPr>
        <p:spPr>
          <a:xfrm>
            <a:off x="6000750" y="2240280"/>
            <a:ext cx="400050" cy="1"/>
          </a:xfrm>
          <a:custGeom>
            <a:avLst/>
            <a:gdLst/>
            <a:ahLst/>
            <a:cxnLst/>
            <a:rect l="0" t="0" r="r" b="b"/>
            <a:pathLst>
              <a:path w="400050" h="1" fill="none">
                <a:moveTo>
                  <a:pt x="0" y="0"/>
                </a:moveTo>
                <a:lnTo>
                  <a:pt x="400050" y="0"/>
                </a:lnTo>
              </a:path>
            </a:pathLst>
          </a:custGeom>
          <a:noFill/>
          <a:ln w="11201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5" name="npu-gb"/>
          <p:cNvSpPr/>
          <p:nvPr/>
        </p:nvSpPr>
        <p:spPr>
          <a:xfrm>
            <a:off x="5280660" y="1280160"/>
            <a:ext cx="1" cy="720090"/>
          </a:xfrm>
          <a:custGeom>
            <a:avLst/>
            <a:gdLst/>
            <a:ahLst/>
            <a:cxnLst/>
            <a:rect l="0" t="0" r="r" b="b"/>
            <a:pathLst>
              <a:path w="1" h="720090" fill="none">
                <a:moveTo>
                  <a:pt x="0" y="0"/>
                </a:moveTo>
                <a:lnTo>
                  <a:pt x="0" y="720090"/>
                </a:lnTo>
              </a:path>
            </a:pathLst>
          </a:custGeom>
          <a:noFill/>
          <a:ln w="11201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6" name="mover-gb"/>
          <p:cNvSpPr/>
          <p:nvPr/>
        </p:nvSpPr>
        <p:spPr>
          <a:xfrm>
            <a:off x="5640705" y="1280160"/>
            <a:ext cx="1840230" cy="720090"/>
          </a:xfrm>
          <a:custGeom>
            <a:avLst/>
            <a:gdLst/>
            <a:ahLst/>
            <a:cxnLst/>
            <a:rect l="0" t="0" r="r" b="b"/>
            <a:pathLst>
              <a:path w="1840230" h="720090" fill="none">
                <a:moveTo>
                  <a:pt x="1840230" y="0"/>
                </a:moveTo>
                <a:lnTo>
                  <a:pt x="1840230" y="320040"/>
                </a:lnTo>
                <a:lnTo>
                  <a:pt x="0" y="320040"/>
                </a:lnTo>
                <a:lnTo>
                  <a:pt x="0" y="720090"/>
                </a:lnTo>
              </a:path>
            </a:pathLst>
          </a:custGeom>
          <a:noFill/>
          <a:ln w="11201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7" name="isp-gb"/>
          <p:cNvSpPr/>
          <p:nvPr/>
        </p:nvSpPr>
        <p:spPr>
          <a:xfrm>
            <a:off x="5800725" y="1040130"/>
            <a:ext cx="3200400" cy="1600200"/>
          </a:xfrm>
          <a:custGeom>
            <a:avLst/>
            <a:gdLst/>
            <a:ahLst/>
            <a:cxnLst/>
            <a:rect l="0" t="0" r="r" b="b"/>
            <a:pathLst>
              <a:path w="3200400" h="1600200" fill="none">
                <a:moveTo>
                  <a:pt x="3200400" y="0"/>
                </a:moveTo>
                <a:lnTo>
                  <a:pt x="2880360" y="0"/>
                </a:lnTo>
                <a:lnTo>
                  <a:pt x="2880360" y="1600200"/>
                </a:lnTo>
                <a:lnTo>
                  <a:pt x="0" y="1600200"/>
                </a:lnTo>
                <a:lnTo>
                  <a:pt x="0" y="1440180"/>
                </a:lnTo>
              </a:path>
            </a:pathLst>
          </a:custGeom>
          <a:noFill/>
          <a:ln w="11201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8" name="isp-frame"/>
          <p:cNvSpPr/>
          <p:nvPr/>
        </p:nvSpPr>
        <p:spPr>
          <a:xfrm>
            <a:off x="9801225" y="1280160"/>
            <a:ext cx="1" cy="720090"/>
          </a:xfrm>
          <a:custGeom>
            <a:avLst/>
            <a:gdLst/>
            <a:ahLst/>
            <a:cxnLst/>
            <a:rect l="0" t="0" r="r" b="b"/>
            <a:pathLst>
              <a:path w="1" h="720090" fill="none">
                <a:moveTo>
                  <a:pt x="0" y="0"/>
                </a:moveTo>
                <a:lnTo>
                  <a:pt x="0" y="720090"/>
                </a:lnTo>
              </a:path>
            </a:pathLst>
          </a:custGeom>
          <a:noFill/>
          <a:ln w="11201" cap="flat">
            <a:solidFill>
              <a:srgbClr val="187C78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9" name="llc-f0"/>
          <p:cNvSpPr/>
          <p:nvPr/>
        </p:nvSpPr>
        <p:spPr>
          <a:xfrm>
            <a:off x="2040255" y="3160395"/>
            <a:ext cx="680085" cy="920115"/>
          </a:xfrm>
          <a:custGeom>
            <a:avLst/>
            <a:gdLst/>
            <a:ahLst/>
            <a:cxnLst/>
            <a:rect l="0" t="0" r="r" b="b"/>
            <a:pathLst>
              <a:path w="680085" h="920115" fill="none">
                <a:moveTo>
                  <a:pt x="0" y="0"/>
                </a:moveTo>
                <a:lnTo>
                  <a:pt x="680085" y="0"/>
                </a:lnTo>
                <a:lnTo>
                  <a:pt x="680085" y="920115"/>
                </a:lnTo>
              </a:path>
            </a:pathLst>
          </a:custGeom>
          <a:noFill/>
          <a:ln w="11201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0" name="mover-f1"/>
          <p:cNvSpPr/>
          <p:nvPr/>
        </p:nvSpPr>
        <p:spPr>
          <a:xfrm>
            <a:off x="5120640" y="1040130"/>
            <a:ext cx="3355086" cy="3040380"/>
          </a:xfrm>
          <a:custGeom>
            <a:avLst/>
            <a:gdLst/>
            <a:ahLst/>
            <a:cxnLst/>
            <a:rect l="0" t="0" r="r" b="b"/>
            <a:pathLst>
              <a:path w="3355086" h="3040380" fill="none">
                <a:moveTo>
                  <a:pt x="3160395" y="0"/>
                </a:moveTo>
                <a:lnTo>
                  <a:pt x="3320415" y="0"/>
                </a:lnTo>
                <a:lnTo>
                  <a:pt x="3320415" y="1568196"/>
                </a:lnTo>
                <a:cubicBezTo>
                  <a:pt x="3355086" y="1589532"/>
                  <a:pt x="3355086" y="1610868"/>
                  <a:pt x="3320415" y="1632204"/>
                </a:cubicBezTo>
                <a:lnTo>
                  <a:pt x="3320415" y="2720340"/>
                </a:lnTo>
                <a:lnTo>
                  <a:pt x="0" y="2720340"/>
                </a:lnTo>
                <a:lnTo>
                  <a:pt x="0" y="3040380"/>
                </a:lnTo>
              </a:path>
            </a:pathLst>
          </a:custGeom>
          <a:noFill/>
          <a:ln w="11201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1" name="frame-f2"/>
          <p:cNvSpPr/>
          <p:nvPr/>
        </p:nvSpPr>
        <p:spPr>
          <a:xfrm>
            <a:off x="7520940" y="2480310"/>
            <a:ext cx="2280285" cy="1600200"/>
          </a:xfrm>
          <a:custGeom>
            <a:avLst/>
            <a:gdLst/>
            <a:ahLst/>
            <a:cxnLst/>
            <a:rect l="0" t="0" r="r" b="b"/>
            <a:pathLst>
              <a:path w="2280285" h="1600200" fill="none">
                <a:moveTo>
                  <a:pt x="2280285" y="0"/>
                </a:moveTo>
                <a:lnTo>
                  <a:pt x="2280285" y="1160145"/>
                </a:lnTo>
                <a:lnTo>
                  <a:pt x="952119" y="1160145"/>
                </a:lnTo>
                <a:cubicBezTo>
                  <a:pt x="930783" y="1125474"/>
                  <a:pt x="909447" y="1125474"/>
                  <a:pt x="888111" y="1160145"/>
                </a:cubicBezTo>
                <a:lnTo>
                  <a:pt x="0" y="1160145"/>
                </a:lnTo>
                <a:lnTo>
                  <a:pt x="0" y="1248156"/>
                </a:lnTo>
                <a:cubicBezTo>
                  <a:pt x="34671" y="1269492"/>
                  <a:pt x="34671" y="1290828"/>
                  <a:pt x="0" y="1312164"/>
                </a:cubicBezTo>
                <a:lnTo>
                  <a:pt x="0" y="1600200"/>
                </a:lnTo>
              </a:path>
            </a:pathLst>
          </a:custGeom>
          <a:noFill/>
          <a:ln w="11201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2" name="roi-f3"/>
          <p:cNvSpPr/>
          <p:nvPr/>
        </p:nvSpPr>
        <p:spPr>
          <a:xfrm>
            <a:off x="9921240" y="3200400"/>
            <a:ext cx="1080135" cy="880110"/>
          </a:xfrm>
          <a:custGeom>
            <a:avLst/>
            <a:gdLst/>
            <a:ahLst/>
            <a:cxnLst/>
            <a:rect l="0" t="0" r="r" b="b"/>
            <a:pathLst>
              <a:path w="1080135" h="880110" fill="none">
                <a:moveTo>
                  <a:pt x="1080135" y="0"/>
                </a:moveTo>
                <a:lnTo>
                  <a:pt x="800100" y="0"/>
                </a:lnTo>
                <a:lnTo>
                  <a:pt x="800100" y="680085"/>
                </a:lnTo>
                <a:lnTo>
                  <a:pt x="0" y="680085"/>
                </a:lnTo>
                <a:lnTo>
                  <a:pt x="0" y="880110"/>
                </a:lnTo>
              </a:path>
            </a:pathLst>
          </a:custGeom>
          <a:noFill/>
          <a:ln w="11201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3" name="roi-tx"/>
          <p:cNvSpPr/>
          <p:nvPr/>
        </p:nvSpPr>
        <p:spPr>
          <a:xfrm>
            <a:off x="11721465" y="3600450"/>
            <a:ext cx="1" cy="800100"/>
          </a:xfrm>
          <a:custGeom>
            <a:avLst/>
            <a:gdLst/>
            <a:ahLst/>
            <a:cxnLst/>
            <a:rect l="0" t="0" r="r" b="b"/>
            <a:pathLst>
              <a:path w="1" h="800100" fill="none">
                <a:moveTo>
                  <a:pt x="0" y="0"/>
                </a:moveTo>
                <a:lnTo>
                  <a:pt x="0" y="800100"/>
                </a:lnTo>
              </a:path>
            </a:pathLst>
          </a:custGeom>
          <a:noFill/>
          <a:ln w="11201" cap="flat">
            <a:solidFill>
              <a:srgbClr val="187C78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4" name="f0"/>
          <p:cNvSpPr/>
          <p:nvPr/>
        </p:nvSpPr>
        <p:spPr>
          <a:xfrm>
            <a:off x="2260282" y="4080510"/>
            <a:ext cx="920115" cy="220028"/>
          </a:xfrm>
          <a:prstGeom prst="rect">
            <a:avLst/>
          </a:prstGeom>
          <a:solidFill>
            <a:srgbClr val="D8E8F4"/>
          </a:solidFill>
          <a:ln w="6801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5" name="text-075: F0 · LLC"/>
          <p:cNvSpPr txBox="1"/>
          <p:nvPr/>
        </p:nvSpPr>
        <p:spPr>
          <a:xfrm>
            <a:off x="2475303" y="4113874"/>
            <a:ext cx="490074" cy="1728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F0 · LLC</a:t>
            </a:r>
          </a:p>
        </p:txBody>
      </p:sp>
      <p:sp>
        <p:nvSpPr>
          <p:cNvPr id="76" name="ddr-port0"/>
          <p:cNvSpPr/>
          <p:nvPr/>
        </p:nvSpPr>
        <p:spPr>
          <a:xfrm>
            <a:off x="2720340" y="5360670"/>
            <a:ext cx="1" cy="360045"/>
          </a:xfrm>
          <a:custGeom>
            <a:avLst/>
            <a:gdLst/>
            <a:ahLst/>
            <a:cxnLst/>
            <a:rect l="0" t="0" r="r" b="b"/>
            <a:pathLst>
              <a:path w="1" h="360045" fill="none">
                <a:moveTo>
                  <a:pt x="0" y="0"/>
                </a:moveTo>
                <a:lnTo>
                  <a:pt x="0" y="360045"/>
                </a:lnTo>
              </a:path>
            </a:pathLst>
          </a:custGeom>
          <a:noFill/>
          <a:ln w="11201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7" name="s0"/>
          <p:cNvSpPr/>
          <p:nvPr/>
        </p:nvSpPr>
        <p:spPr>
          <a:xfrm>
            <a:off x="2260282" y="5720715"/>
            <a:ext cx="920115" cy="200025"/>
          </a:xfrm>
          <a:prstGeom prst="rect">
            <a:avLst/>
          </a:prstGeom>
          <a:solidFill>
            <a:srgbClr val="D8E8F4"/>
          </a:solidFill>
          <a:ln w="6801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8" name="text-078: DDR.S0"/>
          <p:cNvSpPr txBox="1"/>
          <p:nvPr/>
        </p:nvSpPr>
        <p:spPr>
          <a:xfrm>
            <a:off x="2479679" y="5744078"/>
            <a:ext cx="481323" cy="1728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DDR.S0</a:t>
            </a:r>
          </a:p>
        </p:txBody>
      </p:sp>
      <p:sp>
        <p:nvSpPr>
          <p:cNvPr id="79" name="f1"/>
          <p:cNvSpPr/>
          <p:nvPr/>
        </p:nvSpPr>
        <p:spPr>
          <a:xfrm>
            <a:off x="4660582" y="4080510"/>
            <a:ext cx="920115" cy="220028"/>
          </a:xfrm>
          <a:prstGeom prst="rect">
            <a:avLst/>
          </a:prstGeom>
          <a:solidFill>
            <a:srgbClr val="D8E8F4"/>
          </a:solidFill>
          <a:ln w="6801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0" name="text-080: F1 · GB 搬运"/>
          <p:cNvSpPr txBox="1"/>
          <p:nvPr/>
        </p:nvSpPr>
        <p:spPr>
          <a:xfrm>
            <a:off x="4769802" y="4113874"/>
            <a:ext cx="701675" cy="1728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F1 · GB 搬运</a:t>
            </a:r>
          </a:p>
        </p:txBody>
      </p:sp>
      <p:sp>
        <p:nvSpPr>
          <p:cNvPr id="81" name="ddr-port1"/>
          <p:cNvSpPr/>
          <p:nvPr/>
        </p:nvSpPr>
        <p:spPr>
          <a:xfrm>
            <a:off x="5120640" y="5360670"/>
            <a:ext cx="1" cy="360045"/>
          </a:xfrm>
          <a:custGeom>
            <a:avLst/>
            <a:gdLst/>
            <a:ahLst/>
            <a:cxnLst/>
            <a:rect l="0" t="0" r="r" b="b"/>
            <a:pathLst>
              <a:path w="1" h="360045" fill="none">
                <a:moveTo>
                  <a:pt x="0" y="0"/>
                </a:moveTo>
                <a:lnTo>
                  <a:pt x="0" y="360045"/>
                </a:lnTo>
              </a:path>
            </a:pathLst>
          </a:custGeom>
          <a:noFill/>
          <a:ln w="11201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2" name="s1"/>
          <p:cNvSpPr/>
          <p:nvPr/>
        </p:nvSpPr>
        <p:spPr>
          <a:xfrm>
            <a:off x="4660582" y="5720715"/>
            <a:ext cx="920115" cy="200025"/>
          </a:xfrm>
          <a:prstGeom prst="rect">
            <a:avLst/>
          </a:prstGeom>
          <a:solidFill>
            <a:srgbClr val="D8E8F4"/>
          </a:solidFill>
          <a:ln w="6801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3" name="text-083: DDR.S1"/>
          <p:cNvSpPr txBox="1"/>
          <p:nvPr/>
        </p:nvSpPr>
        <p:spPr>
          <a:xfrm>
            <a:off x="4879979" y="5744078"/>
            <a:ext cx="481323" cy="1728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DDR.S1</a:t>
            </a:r>
          </a:p>
        </p:txBody>
      </p:sp>
      <p:sp>
        <p:nvSpPr>
          <p:cNvPr id="84" name="f2"/>
          <p:cNvSpPr/>
          <p:nvPr/>
        </p:nvSpPr>
        <p:spPr>
          <a:xfrm>
            <a:off x="7060882" y="4080510"/>
            <a:ext cx="920115" cy="220028"/>
          </a:xfrm>
          <a:prstGeom prst="rect">
            <a:avLst/>
          </a:prstGeom>
          <a:solidFill>
            <a:srgbClr val="D8E8F4"/>
          </a:solidFill>
          <a:ln w="6801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5" name="text-085: F2 · 帧写"/>
          <p:cNvSpPr txBox="1"/>
          <p:nvPr/>
        </p:nvSpPr>
        <p:spPr>
          <a:xfrm>
            <a:off x="7255335" y="4113874"/>
            <a:ext cx="531210" cy="1728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F2 · 帧写</a:t>
            </a:r>
          </a:p>
        </p:txBody>
      </p:sp>
      <p:sp>
        <p:nvSpPr>
          <p:cNvPr id="86" name="ddr-port2"/>
          <p:cNvSpPr/>
          <p:nvPr/>
        </p:nvSpPr>
        <p:spPr>
          <a:xfrm>
            <a:off x="7520940" y="5360670"/>
            <a:ext cx="1" cy="360045"/>
          </a:xfrm>
          <a:custGeom>
            <a:avLst/>
            <a:gdLst/>
            <a:ahLst/>
            <a:cxnLst/>
            <a:rect l="0" t="0" r="r" b="b"/>
            <a:pathLst>
              <a:path w="1" h="360045" fill="none">
                <a:moveTo>
                  <a:pt x="0" y="0"/>
                </a:moveTo>
                <a:lnTo>
                  <a:pt x="0" y="360045"/>
                </a:lnTo>
              </a:path>
            </a:pathLst>
          </a:custGeom>
          <a:noFill/>
          <a:ln w="11201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7" name="s2"/>
          <p:cNvSpPr/>
          <p:nvPr/>
        </p:nvSpPr>
        <p:spPr>
          <a:xfrm>
            <a:off x="7060882" y="5720715"/>
            <a:ext cx="920115" cy="200025"/>
          </a:xfrm>
          <a:prstGeom prst="rect">
            <a:avLst/>
          </a:prstGeom>
          <a:solidFill>
            <a:srgbClr val="D8E8F4"/>
          </a:solidFill>
          <a:ln w="6801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8" name="text-088: DDR.S2"/>
          <p:cNvSpPr txBox="1"/>
          <p:nvPr/>
        </p:nvSpPr>
        <p:spPr>
          <a:xfrm>
            <a:off x="7280279" y="5744078"/>
            <a:ext cx="481323" cy="1728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DDR.S2</a:t>
            </a:r>
          </a:p>
        </p:txBody>
      </p:sp>
      <p:sp>
        <p:nvSpPr>
          <p:cNvPr id="89" name="f3"/>
          <p:cNvSpPr/>
          <p:nvPr/>
        </p:nvSpPr>
        <p:spPr>
          <a:xfrm>
            <a:off x="9461182" y="4080510"/>
            <a:ext cx="920115" cy="220028"/>
          </a:xfrm>
          <a:prstGeom prst="rect">
            <a:avLst/>
          </a:prstGeom>
          <a:solidFill>
            <a:srgbClr val="D8E8F4"/>
          </a:solidFill>
          <a:ln w="6801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0" name="text-090: F3 · 帧读"/>
          <p:cNvSpPr txBox="1"/>
          <p:nvPr/>
        </p:nvSpPr>
        <p:spPr>
          <a:xfrm>
            <a:off x="9655635" y="4113874"/>
            <a:ext cx="531210" cy="1728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F3 · 帧读</a:t>
            </a:r>
          </a:p>
        </p:txBody>
      </p:sp>
      <p:sp>
        <p:nvSpPr>
          <p:cNvPr id="91" name="ddr-port3"/>
          <p:cNvSpPr/>
          <p:nvPr/>
        </p:nvSpPr>
        <p:spPr>
          <a:xfrm>
            <a:off x="9921240" y="5360670"/>
            <a:ext cx="1" cy="360045"/>
          </a:xfrm>
          <a:custGeom>
            <a:avLst/>
            <a:gdLst/>
            <a:ahLst/>
            <a:cxnLst/>
            <a:rect l="0" t="0" r="r" b="b"/>
            <a:pathLst>
              <a:path w="1" h="360045" fill="none">
                <a:moveTo>
                  <a:pt x="0" y="0"/>
                </a:moveTo>
                <a:lnTo>
                  <a:pt x="0" y="360045"/>
                </a:lnTo>
              </a:path>
            </a:pathLst>
          </a:custGeom>
          <a:noFill/>
          <a:ln w="11201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2" name="s3"/>
          <p:cNvSpPr/>
          <p:nvPr/>
        </p:nvSpPr>
        <p:spPr>
          <a:xfrm>
            <a:off x="9461182" y="5720715"/>
            <a:ext cx="920115" cy="200025"/>
          </a:xfrm>
          <a:prstGeom prst="rect">
            <a:avLst/>
          </a:prstGeom>
          <a:solidFill>
            <a:srgbClr val="D8E8F4"/>
          </a:solidFill>
          <a:ln w="6801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3" name="text-093: DDR.S3"/>
          <p:cNvSpPr txBox="1"/>
          <p:nvPr/>
        </p:nvSpPr>
        <p:spPr>
          <a:xfrm>
            <a:off x="9680579" y="5744078"/>
            <a:ext cx="481323" cy="1728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DDR.S3</a:t>
            </a:r>
          </a:p>
        </p:txBody>
      </p:sp>
      <p:sp>
        <p:nvSpPr>
          <p:cNvPr id="94" name="controller-ddr"/>
          <p:cNvSpPr/>
          <p:nvPr/>
        </p:nvSpPr>
        <p:spPr>
          <a:xfrm>
            <a:off x="10601325" y="6120765"/>
            <a:ext cx="400050" cy="1"/>
          </a:xfrm>
          <a:custGeom>
            <a:avLst/>
            <a:gdLst/>
            <a:ahLst/>
            <a:cxnLst/>
            <a:rect l="0" t="0" r="r" b="b"/>
            <a:pathLst>
              <a:path w="400050" h="1" fill="none">
                <a:moveTo>
                  <a:pt x="0" y="0"/>
                </a:moveTo>
                <a:lnTo>
                  <a:pt x="400050" y="0"/>
                </a:lnTo>
              </a:path>
            </a:pathLst>
          </a:custGeom>
          <a:noFill/>
          <a:ln w="11201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5" name="maint-cpu"/>
          <p:cNvSpPr/>
          <p:nvPr/>
        </p:nvSpPr>
        <p:spPr>
          <a:xfrm>
            <a:off x="160020" y="960120"/>
            <a:ext cx="3040380" cy="2100262"/>
          </a:xfrm>
          <a:custGeom>
            <a:avLst/>
            <a:gdLst/>
            <a:ahLst/>
            <a:cxnLst/>
            <a:rect l="0" t="0" r="r" b="b"/>
            <a:pathLst>
              <a:path w="3040380" h="2100262" fill="none">
                <a:moveTo>
                  <a:pt x="3040380" y="2100262"/>
                </a:moveTo>
                <a:lnTo>
                  <a:pt x="2880360" y="2100262"/>
                </a:lnTo>
                <a:lnTo>
                  <a:pt x="2880360" y="1800225"/>
                </a:lnTo>
                <a:lnTo>
                  <a:pt x="1072134" y="1800225"/>
                </a:lnTo>
                <a:cubicBezTo>
                  <a:pt x="1050798" y="1765554"/>
                  <a:pt x="1029462" y="1765554"/>
                  <a:pt x="1008126" y="1800225"/>
                </a:cubicBezTo>
                <a:lnTo>
                  <a:pt x="0" y="1800225"/>
                </a:lnTo>
                <a:lnTo>
                  <a:pt x="0" y="0"/>
                </a:lnTo>
                <a:lnTo>
                  <a:pt x="160020" y="0"/>
                </a:lnTo>
              </a:path>
            </a:pathLst>
          </a:custGeom>
          <a:noFill/>
          <a:ln w="11201" cap="flat">
            <a:solidFill>
              <a:srgbClr val="765489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6" name="maint-llc"/>
          <p:cNvSpPr/>
          <p:nvPr/>
        </p:nvSpPr>
        <p:spPr>
          <a:xfrm>
            <a:off x="2040255" y="3285744"/>
            <a:ext cx="1160145" cy="34671"/>
          </a:xfrm>
          <a:custGeom>
            <a:avLst/>
            <a:gdLst/>
            <a:ahLst/>
            <a:cxnLst/>
            <a:rect l="0" t="0" r="r" b="b"/>
            <a:pathLst>
              <a:path w="1160145" h="34671" fill="none">
                <a:moveTo>
                  <a:pt x="1160145" y="34671"/>
                </a:moveTo>
                <a:lnTo>
                  <a:pt x="712089" y="34671"/>
                </a:lnTo>
                <a:cubicBezTo>
                  <a:pt x="690753" y="0"/>
                  <a:pt x="669417" y="0"/>
                  <a:pt x="648081" y="34671"/>
                </a:cubicBezTo>
                <a:lnTo>
                  <a:pt x="0" y="34671"/>
                </a:lnTo>
              </a:path>
            </a:pathLst>
          </a:custGeom>
          <a:noFill/>
          <a:ln w="11201" cap="flat">
            <a:solidFill>
              <a:srgbClr val="765489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7" name="maint-mover"/>
          <p:cNvSpPr/>
          <p:nvPr/>
        </p:nvSpPr>
        <p:spPr>
          <a:xfrm>
            <a:off x="6800850" y="1280160"/>
            <a:ext cx="1594866" cy="1800225"/>
          </a:xfrm>
          <a:custGeom>
            <a:avLst/>
            <a:gdLst/>
            <a:ahLst/>
            <a:cxnLst/>
            <a:rect l="0" t="0" r="r" b="b"/>
            <a:pathLst>
              <a:path w="1594866" h="1800225" fill="none">
                <a:moveTo>
                  <a:pt x="0" y="1800225"/>
                </a:moveTo>
                <a:lnTo>
                  <a:pt x="1560195" y="1800225"/>
                </a:lnTo>
                <a:lnTo>
                  <a:pt x="1560195" y="1392174"/>
                </a:lnTo>
                <a:cubicBezTo>
                  <a:pt x="1594866" y="1370838"/>
                  <a:pt x="1594866" y="1349502"/>
                  <a:pt x="1560195" y="1328166"/>
                </a:cubicBezTo>
                <a:lnTo>
                  <a:pt x="1560195" y="140018"/>
                </a:lnTo>
                <a:lnTo>
                  <a:pt x="1000125" y="140018"/>
                </a:lnTo>
                <a:lnTo>
                  <a:pt x="1000125" y="0"/>
                </a:lnTo>
              </a:path>
            </a:pathLst>
          </a:custGeom>
          <a:noFill/>
          <a:ln w="11201" cap="flat">
            <a:solidFill>
              <a:srgbClr val="765489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8" name="maint-frame"/>
          <p:cNvSpPr/>
          <p:nvPr/>
        </p:nvSpPr>
        <p:spPr>
          <a:xfrm>
            <a:off x="6800850" y="2240280"/>
            <a:ext cx="2200275" cy="980122"/>
          </a:xfrm>
          <a:custGeom>
            <a:avLst/>
            <a:gdLst/>
            <a:ahLst/>
            <a:cxnLst/>
            <a:rect l="0" t="0" r="r" b="b"/>
            <a:pathLst>
              <a:path w="2200275" h="980122" fill="none">
                <a:moveTo>
                  <a:pt x="0" y="980122"/>
                </a:moveTo>
                <a:lnTo>
                  <a:pt x="1608201" y="980122"/>
                </a:lnTo>
                <a:cubicBezTo>
                  <a:pt x="1629537" y="945452"/>
                  <a:pt x="1650873" y="945452"/>
                  <a:pt x="1672209" y="980122"/>
                </a:cubicBezTo>
                <a:lnTo>
                  <a:pt x="2040255" y="980122"/>
                </a:lnTo>
                <a:lnTo>
                  <a:pt x="2040255" y="0"/>
                </a:lnTo>
                <a:lnTo>
                  <a:pt x="2200275" y="0"/>
                </a:lnTo>
              </a:path>
            </a:pathLst>
          </a:custGeom>
          <a:noFill/>
          <a:ln w="11201" cap="flat">
            <a:solidFill>
              <a:srgbClr val="765489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9" name="maint-roi"/>
          <p:cNvSpPr/>
          <p:nvPr/>
        </p:nvSpPr>
        <p:spPr>
          <a:xfrm>
            <a:off x="6800850" y="3325749"/>
            <a:ext cx="4200525" cy="34671"/>
          </a:xfrm>
          <a:custGeom>
            <a:avLst/>
            <a:gdLst/>
            <a:ahLst/>
            <a:cxnLst/>
            <a:rect l="0" t="0" r="r" b="b"/>
            <a:pathLst>
              <a:path w="4200525" h="34671" fill="none">
                <a:moveTo>
                  <a:pt x="0" y="34671"/>
                </a:moveTo>
                <a:lnTo>
                  <a:pt x="1608201" y="34671"/>
                </a:lnTo>
                <a:cubicBezTo>
                  <a:pt x="1629537" y="0"/>
                  <a:pt x="1650873" y="0"/>
                  <a:pt x="1672209" y="34671"/>
                </a:cubicBezTo>
                <a:lnTo>
                  <a:pt x="2968371" y="34671"/>
                </a:lnTo>
                <a:cubicBezTo>
                  <a:pt x="2989707" y="0"/>
                  <a:pt x="3011043" y="0"/>
                  <a:pt x="3032379" y="34671"/>
                </a:cubicBezTo>
                <a:lnTo>
                  <a:pt x="3888486" y="34671"/>
                </a:lnTo>
                <a:cubicBezTo>
                  <a:pt x="3909822" y="0"/>
                  <a:pt x="3931158" y="0"/>
                  <a:pt x="3952494" y="34671"/>
                </a:cubicBezTo>
                <a:lnTo>
                  <a:pt x="4200525" y="34671"/>
                </a:lnTo>
              </a:path>
            </a:pathLst>
          </a:custGeom>
          <a:noFill/>
          <a:ln w="11201" cap="flat">
            <a:solidFill>
              <a:srgbClr val="765489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0" name="maint-front"/>
          <p:cNvSpPr/>
          <p:nvPr/>
        </p:nvSpPr>
        <p:spPr>
          <a:xfrm>
            <a:off x="2040255" y="3460432"/>
            <a:ext cx="1160145" cy="1260158"/>
          </a:xfrm>
          <a:custGeom>
            <a:avLst/>
            <a:gdLst/>
            <a:ahLst/>
            <a:cxnLst/>
            <a:rect l="0" t="0" r="r" b="b"/>
            <a:pathLst>
              <a:path w="1160145" h="1260158" fill="none">
                <a:moveTo>
                  <a:pt x="1160145" y="0"/>
                </a:moveTo>
                <a:lnTo>
                  <a:pt x="1160145" y="460058"/>
                </a:lnTo>
                <a:lnTo>
                  <a:pt x="712089" y="460058"/>
                </a:lnTo>
                <a:cubicBezTo>
                  <a:pt x="690753" y="425387"/>
                  <a:pt x="669417" y="425387"/>
                  <a:pt x="648081" y="460058"/>
                </a:cubicBezTo>
                <a:lnTo>
                  <a:pt x="0" y="460058"/>
                </a:lnTo>
                <a:lnTo>
                  <a:pt x="0" y="1260158"/>
                </a:lnTo>
                <a:lnTo>
                  <a:pt x="160020" y="1260158"/>
                </a:lnTo>
              </a:path>
            </a:pathLst>
          </a:custGeom>
          <a:noFill/>
          <a:ln w="11201" cap="flat">
            <a:solidFill>
              <a:srgbClr val="765489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1" name="maint-ddr"/>
          <p:cNvSpPr/>
          <p:nvPr/>
        </p:nvSpPr>
        <p:spPr>
          <a:xfrm>
            <a:off x="1880235" y="3460432"/>
            <a:ext cx="1720215" cy="2700338"/>
          </a:xfrm>
          <a:custGeom>
            <a:avLst/>
            <a:gdLst/>
            <a:ahLst/>
            <a:cxnLst/>
            <a:rect l="0" t="0" r="r" b="b"/>
            <a:pathLst>
              <a:path w="1720215" h="2700338" fill="none">
                <a:moveTo>
                  <a:pt x="1720215" y="0"/>
                </a:moveTo>
                <a:lnTo>
                  <a:pt x="1720215" y="380048"/>
                </a:lnTo>
                <a:lnTo>
                  <a:pt x="1352169" y="380048"/>
                </a:lnTo>
                <a:cubicBezTo>
                  <a:pt x="1330833" y="345377"/>
                  <a:pt x="1309497" y="345377"/>
                  <a:pt x="1288161" y="380048"/>
                </a:cubicBezTo>
                <a:lnTo>
                  <a:pt x="872109" y="380048"/>
                </a:lnTo>
                <a:cubicBezTo>
                  <a:pt x="850773" y="345377"/>
                  <a:pt x="829437" y="345377"/>
                  <a:pt x="808101" y="380048"/>
                </a:cubicBezTo>
                <a:lnTo>
                  <a:pt x="0" y="380048"/>
                </a:lnTo>
                <a:lnTo>
                  <a:pt x="0" y="2700338"/>
                </a:lnTo>
                <a:lnTo>
                  <a:pt x="320040" y="2700338"/>
                </a:lnTo>
              </a:path>
            </a:pathLst>
          </a:custGeom>
          <a:noFill/>
          <a:ln w="11201" cap="flat">
            <a:solidFill>
              <a:srgbClr val="765489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2" name="text-102: 蓝：AXI 请求 / 返回（F2 仅写，F3 仅读）    绿：GB 局部访问 "/>
          <p:cNvSpPr txBox="1"/>
          <p:nvPr/>
        </p:nvSpPr>
        <p:spPr>
          <a:xfrm>
            <a:off x="320040" y="6599865"/>
            <a:ext cx="5447400" cy="1792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2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蓝：AXI 请求 / 返回（F2 仅写，F3 仅读）    绿：GB 局部访问 / 像素流    紫：软件命令、维护、准入与确认</a:t>
            </a:r>
          </a:p>
        </p:txBody>
      </p:sp>
      <p:sp>
        <p:nvSpPr>
          <p:cNvPr id="103" name="text-103: GB 本地交接管理使用权；DDR 同步涵盖缓存、共享前端与控制器。未画出的外设 "/>
          <p:cNvSpPr txBox="1"/>
          <p:nvPr/>
        </p:nvSpPr>
        <p:spPr>
          <a:xfrm>
            <a:off x="320040" y="6844215"/>
            <a:ext cx="5453557" cy="1728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本地交接管理使用权；DDR 同步涵盖缓存、共享前端与控制器。未画出的外设 / 配置 / eMMC 路径沿用 v1。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-002: 缺少同步时，同一地址会出现不同数据版本"/>
          <p:cNvSpPr txBox="1"/>
          <p:nvPr/>
        </p:nvSpPr>
        <p:spPr>
          <a:xfrm>
            <a:off x="266700" y="80650"/>
            <a:ext cx="3840480" cy="30723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12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缺少同步时，同一地址会出现不同数据版本</a:t>
            </a:r>
          </a:p>
        </p:txBody>
      </p:sp>
      <p:sp>
        <p:nvSpPr>
          <p:cNvPr id="3" name="text-003: 三个独立场景：输入过期、输出旧副本、迟到脏写回。数值表示所示时刻的状态。"/>
          <p:cNvSpPr txBox="1"/>
          <p:nvPr/>
        </p:nvSpPr>
        <p:spPr>
          <a:xfrm>
            <a:off x="266700" y="373807"/>
            <a:ext cx="4736592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三个独立场景：输入过期、输出旧副本、迟到脏写回。数值表示所示时刻的状态。</a:t>
            </a:r>
          </a:p>
        </p:txBody>
      </p:sp>
      <p:sp>
        <p:nvSpPr>
          <p:cNvPr id="4" name="panel0"/>
          <p:cNvSpPr/>
          <p:nvPr/>
        </p:nvSpPr>
        <p:spPr>
          <a:xfrm>
            <a:off x="186690" y="773430"/>
            <a:ext cx="12428220" cy="1706880"/>
          </a:xfrm>
          <a:prstGeom prst="rect">
            <a:avLst/>
          </a:prstGeom>
          <a:solidFill>
            <a:srgbClr val="F7F9FA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-005: ① 输入：CPU 写 x = 2，设备却搬到 x = 1"/>
          <p:cNvSpPr txBox="1"/>
          <p:nvPr/>
        </p:nvSpPr>
        <p:spPr>
          <a:xfrm>
            <a:off x="320040" y="851306"/>
            <a:ext cx="3119465" cy="25603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① 输入：CPU 写 x = 2，设备却搬到 x = 1</a:t>
            </a:r>
          </a:p>
        </p:txBody>
      </p:sp>
      <p:sp>
        <p:nvSpPr>
          <p:cNvPr id="6" name="r0b0"/>
          <p:cNvSpPr/>
          <p:nvPr/>
        </p:nvSpPr>
        <p:spPr>
          <a:xfrm>
            <a:off x="320040" y="1253490"/>
            <a:ext cx="2133600" cy="800100"/>
          </a:xfrm>
          <a:prstGeom prst="rect">
            <a:avLst/>
          </a:prstGeom>
          <a:solidFill>
            <a:srgbClr val="F1D7D9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-007: CPU / L1D"/>
          <p:cNvSpPr txBox="1"/>
          <p:nvPr/>
        </p:nvSpPr>
        <p:spPr>
          <a:xfrm>
            <a:off x="976651" y="1369985"/>
            <a:ext cx="820378" cy="23042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4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CPU / L1D</a:t>
            </a:r>
          </a:p>
        </p:txBody>
      </p:sp>
      <p:sp>
        <p:nvSpPr>
          <p:cNvPr id="8" name="text-008: L1D 阵列仍为 x = 1"/>
          <p:cNvSpPr txBox="1"/>
          <p:nvPr/>
        </p:nvSpPr>
        <p:spPr>
          <a:xfrm>
            <a:off x="772576" y="1573957"/>
            <a:ext cx="1228529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L1D 阵列仍为 x = 1</a:t>
            </a:r>
          </a:p>
        </p:txBody>
      </p:sp>
      <p:sp>
        <p:nvSpPr>
          <p:cNvPr id="9" name="text-009: CPU 读可前递到 2"/>
          <p:cNvSpPr txBox="1"/>
          <p:nvPr/>
        </p:nvSpPr>
        <p:spPr>
          <a:xfrm>
            <a:off x="809643" y="1760647"/>
            <a:ext cx="1154394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CPU 读可前递到 2</a:t>
            </a:r>
          </a:p>
        </p:txBody>
      </p:sp>
      <p:sp>
        <p:nvSpPr>
          <p:cNvPr id="10" name="r0b1"/>
          <p:cNvSpPr/>
          <p:nvPr/>
        </p:nvSpPr>
        <p:spPr>
          <a:xfrm>
            <a:off x="2800350" y="1253490"/>
            <a:ext cx="2133600" cy="800100"/>
          </a:xfrm>
          <a:prstGeom prst="rect">
            <a:avLst/>
          </a:prstGeom>
          <a:solidFill>
            <a:srgbClr val="F1D7D9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-011: 写缓冲"/>
          <p:cNvSpPr txBox="1"/>
          <p:nvPr/>
        </p:nvSpPr>
        <p:spPr>
          <a:xfrm>
            <a:off x="3579114" y="1369985"/>
            <a:ext cx="576072" cy="23042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4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写缓冲</a:t>
            </a:r>
          </a:p>
        </p:txBody>
      </p:sp>
      <p:sp>
        <p:nvSpPr>
          <p:cNvPr id="12" name="text-012: 待推进 x = 2"/>
          <p:cNvSpPr txBox="1"/>
          <p:nvPr/>
        </p:nvSpPr>
        <p:spPr>
          <a:xfrm>
            <a:off x="3448660" y="1573957"/>
            <a:ext cx="836980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待推进 x = 2</a:t>
            </a:r>
          </a:p>
        </p:txBody>
      </p:sp>
      <p:sp>
        <p:nvSpPr>
          <p:cNvPr id="13" name="text-013: 下层尚未收到"/>
          <p:cNvSpPr txBox="1"/>
          <p:nvPr/>
        </p:nvSpPr>
        <p:spPr>
          <a:xfrm>
            <a:off x="3419094" y="1760647"/>
            <a:ext cx="896112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下层尚未收到</a:t>
            </a:r>
          </a:p>
        </p:txBody>
      </p:sp>
      <p:sp>
        <p:nvSpPr>
          <p:cNvPr id="14" name="r0b2"/>
          <p:cNvSpPr/>
          <p:nvPr/>
        </p:nvSpPr>
        <p:spPr>
          <a:xfrm>
            <a:off x="5280660" y="1253490"/>
            <a:ext cx="2133600" cy="800100"/>
          </a:xfrm>
          <a:prstGeom prst="rect">
            <a:avLst/>
          </a:prstGeom>
          <a:solidFill>
            <a:srgbClr val="D8E8F4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-015: WB LLC"/>
          <p:cNvSpPr txBox="1"/>
          <p:nvPr/>
        </p:nvSpPr>
        <p:spPr>
          <a:xfrm>
            <a:off x="6033683" y="1369985"/>
            <a:ext cx="627553" cy="23042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4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WB LLC</a:t>
            </a:r>
          </a:p>
        </p:txBody>
      </p:sp>
      <p:sp>
        <p:nvSpPr>
          <p:cNvPr id="16" name="text-016: 当前仍为 x = 1"/>
          <p:cNvSpPr txBox="1"/>
          <p:nvPr/>
        </p:nvSpPr>
        <p:spPr>
          <a:xfrm>
            <a:off x="5864962" y="1573957"/>
            <a:ext cx="964996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当前仍为 x = 1</a:t>
            </a:r>
          </a:p>
        </p:txBody>
      </p:sp>
      <p:sp>
        <p:nvSpPr>
          <p:cNvPr id="17" name="text-017: 收到新写后可持脏值 2"/>
          <p:cNvSpPr txBox="1"/>
          <p:nvPr/>
        </p:nvSpPr>
        <p:spPr>
          <a:xfrm>
            <a:off x="5649810" y="1760647"/>
            <a:ext cx="1395299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收到新写后可持脏值 2</a:t>
            </a:r>
          </a:p>
        </p:txBody>
      </p:sp>
      <p:sp>
        <p:nvSpPr>
          <p:cNvPr id="18" name="r0b3"/>
          <p:cNvSpPr/>
          <p:nvPr/>
        </p:nvSpPr>
        <p:spPr>
          <a:xfrm>
            <a:off x="7760970" y="1253490"/>
            <a:ext cx="2133600" cy="800100"/>
          </a:xfrm>
          <a:prstGeom prst="rect">
            <a:avLst/>
          </a:prstGeom>
          <a:solidFill>
            <a:srgbClr val="D8E8F4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-019: DDR"/>
          <p:cNvSpPr txBox="1"/>
          <p:nvPr/>
        </p:nvSpPr>
        <p:spPr>
          <a:xfrm>
            <a:off x="8616239" y="1369985"/>
            <a:ext cx="423061" cy="23042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4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</a:t>
            </a:r>
          </a:p>
        </p:txBody>
      </p:sp>
      <p:sp>
        <p:nvSpPr>
          <p:cNvPr id="20" name="text-020: x = 1"/>
          <p:cNvSpPr txBox="1"/>
          <p:nvPr/>
        </p:nvSpPr>
        <p:spPr>
          <a:xfrm>
            <a:off x="8620494" y="1573957"/>
            <a:ext cx="414552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x = 1</a:t>
            </a:r>
          </a:p>
        </p:txBody>
      </p:sp>
      <p:sp>
        <p:nvSpPr>
          <p:cNvPr id="21" name="text-021: 设备可见的旧输入"/>
          <p:cNvSpPr txBox="1"/>
          <p:nvPr/>
        </p:nvSpPr>
        <p:spPr>
          <a:xfrm>
            <a:off x="8251698" y="1760647"/>
            <a:ext cx="1152144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设备可见的旧输入</a:t>
            </a:r>
          </a:p>
        </p:txBody>
      </p:sp>
      <p:sp>
        <p:nvSpPr>
          <p:cNvPr id="22" name="r0b4"/>
          <p:cNvSpPr/>
          <p:nvPr/>
        </p:nvSpPr>
        <p:spPr>
          <a:xfrm>
            <a:off x="10241280" y="1253490"/>
            <a:ext cx="2133600" cy="800100"/>
          </a:xfrm>
          <a:prstGeom prst="rect">
            <a:avLst/>
          </a:prstGeom>
          <a:solidFill>
            <a:srgbClr val="D9EEE8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text-023: GB"/>
          <p:cNvSpPr txBox="1"/>
          <p:nvPr/>
        </p:nvSpPr>
        <p:spPr>
          <a:xfrm>
            <a:off x="11144018" y="1369985"/>
            <a:ext cx="328124" cy="23042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4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</a:t>
            </a:r>
          </a:p>
        </p:txBody>
      </p:sp>
      <p:sp>
        <p:nvSpPr>
          <p:cNvPr id="24" name="text-024: 搬入 x = 1"/>
          <p:cNvSpPr txBox="1"/>
          <p:nvPr/>
        </p:nvSpPr>
        <p:spPr>
          <a:xfrm>
            <a:off x="10953598" y="1573957"/>
            <a:ext cx="708964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搬入 x = 1</a:t>
            </a:r>
          </a:p>
        </p:txBody>
      </p:sp>
      <p:sp>
        <p:nvSpPr>
          <p:cNvPr id="25" name="text-025: NPU 使用了旧输入"/>
          <p:cNvSpPr txBox="1"/>
          <p:nvPr/>
        </p:nvSpPr>
        <p:spPr>
          <a:xfrm>
            <a:off x="10721882" y="1760647"/>
            <a:ext cx="1172397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使用了旧输入</a:t>
            </a:r>
          </a:p>
        </p:txBody>
      </p:sp>
      <p:sp>
        <p:nvSpPr>
          <p:cNvPr id="26" name="text-026: 写缓冲排空之后，新值还可能只到达 WB LLC；输入 clean 继续把它推进 "/>
          <p:cNvSpPr txBox="1"/>
          <p:nvPr/>
        </p:nvSpPr>
        <p:spPr>
          <a:xfrm>
            <a:off x="320040" y="2154509"/>
            <a:ext cx="4969088" cy="22189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2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写缓冲排空之后，新值还可能只到达 WB LLC；输入 clean 继续把它推进 DDR。</a:t>
            </a:r>
          </a:p>
        </p:txBody>
      </p:sp>
      <p:sp>
        <p:nvSpPr>
          <p:cNvPr id="27" name="panel1"/>
          <p:cNvSpPr/>
          <p:nvPr/>
        </p:nvSpPr>
        <p:spPr>
          <a:xfrm>
            <a:off x="186690" y="2720340"/>
            <a:ext cx="12428220" cy="1706880"/>
          </a:xfrm>
          <a:prstGeom prst="rect">
            <a:avLst/>
          </a:prstGeom>
          <a:solidFill>
            <a:srgbClr val="F7F9FA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text-028: ② 输出：设备已写 y = 9，CPU 仍命中 y = 0"/>
          <p:cNvSpPr txBox="1"/>
          <p:nvPr/>
        </p:nvSpPr>
        <p:spPr>
          <a:xfrm>
            <a:off x="320040" y="2798216"/>
            <a:ext cx="3273234" cy="25603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② 输出：设备已写 y = 9，CPU 仍命中 y = 0</a:t>
            </a:r>
          </a:p>
        </p:txBody>
      </p:sp>
      <p:sp>
        <p:nvSpPr>
          <p:cNvPr id="29" name="r1b0"/>
          <p:cNvSpPr/>
          <p:nvPr/>
        </p:nvSpPr>
        <p:spPr>
          <a:xfrm>
            <a:off x="320040" y="3200400"/>
            <a:ext cx="2133600" cy="800100"/>
          </a:xfrm>
          <a:prstGeom prst="rect">
            <a:avLst/>
          </a:prstGeom>
          <a:solidFill>
            <a:srgbClr val="F1D7D9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text-030: CPU / L1D"/>
          <p:cNvSpPr txBox="1"/>
          <p:nvPr/>
        </p:nvSpPr>
        <p:spPr>
          <a:xfrm>
            <a:off x="976651" y="3316895"/>
            <a:ext cx="820378" cy="23042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4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CPU / L1D</a:t>
            </a:r>
          </a:p>
        </p:txBody>
      </p:sp>
      <p:sp>
        <p:nvSpPr>
          <p:cNvPr id="31" name="text-031: 缓存副本 y = 0"/>
          <p:cNvSpPr txBox="1"/>
          <p:nvPr/>
        </p:nvSpPr>
        <p:spPr>
          <a:xfrm>
            <a:off x="905592" y="3520867"/>
            <a:ext cx="962495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缓存副本 y = 0</a:t>
            </a:r>
          </a:p>
        </p:txBody>
      </p:sp>
      <p:sp>
        <p:nvSpPr>
          <p:cNvPr id="32" name="text-032: CPU 读取命中旧值"/>
          <p:cNvSpPr txBox="1"/>
          <p:nvPr/>
        </p:nvSpPr>
        <p:spPr>
          <a:xfrm>
            <a:off x="803205" y="3707557"/>
            <a:ext cx="1167271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CPU 读取命中旧值</a:t>
            </a:r>
          </a:p>
        </p:txBody>
      </p:sp>
      <p:sp>
        <p:nvSpPr>
          <p:cNvPr id="33" name="r1b1"/>
          <p:cNvSpPr/>
          <p:nvPr/>
        </p:nvSpPr>
        <p:spPr>
          <a:xfrm>
            <a:off x="2800350" y="3200400"/>
            <a:ext cx="2133600" cy="800100"/>
          </a:xfrm>
          <a:prstGeom prst="rect">
            <a:avLst/>
          </a:prstGeom>
          <a:solidFill>
            <a:srgbClr val="F1D7D9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text-034: 写缓冲"/>
          <p:cNvSpPr txBox="1"/>
          <p:nvPr/>
        </p:nvSpPr>
        <p:spPr>
          <a:xfrm>
            <a:off x="3579114" y="3316895"/>
            <a:ext cx="576072" cy="23042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4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写缓冲</a:t>
            </a:r>
          </a:p>
        </p:txBody>
      </p:sp>
      <p:sp>
        <p:nvSpPr>
          <p:cNvPr id="35" name="text-035: 此时为空"/>
          <p:cNvSpPr txBox="1"/>
          <p:nvPr/>
        </p:nvSpPr>
        <p:spPr>
          <a:xfrm>
            <a:off x="3547110" y="3520867"/>
            <a:ext cx="640080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此时为空</a:t>
            </a:r>
          </a:p>
        </p:txBody>
      </p:sp>
      <p:sp>
        <p:nvSpPr>
          <p:cNvPr id="36" name="text-036: 没有待完成写"/>
          <p:cNvSpPr txBox="1"/>
          <p:nvPr/>
        </p:nvSpPr>
        <p:spPr>
          <a:xfrm>
            <a:off x="3419094" y="3707557"/>
            <a:ext cx="896112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没有待完成写</a:t>
            </a:r>
          </a:p>
        </p:txBody>
      </p:sp>
      <p:sp>
        <p:nvSpPr>
          <p:cNvPr id="37" name="r1b2"/>
          <p:cNvSpPr/>
          <p:nvPr/>
        </p:nvSpPr>
        <p:spPr>
          <a:xfrm>
            <a:off x="5280660" y="3200400"/>
            <a:ext cx="2133600" cy="800100"/>
          </a:xfrm>
          <a:prstGeom prst="rect">
            <a:avLst/>
          </a:prstGeom>
          <a:solidFill>
            <a:srgbClr val="D8E8F4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text-038: LLC"/>
          <p:cNvSpPr txBox="1"/>
          <p:nvPr/>
        </p:nvSpPr>
        <p:spPr>
          <a:xfrm>
            <a:off x="6158857" y="3316895"/>
            <a:ext cx="377205" cy="23042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4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LLC</a:t>
            </a:r>
          </a:p>
        </p:txBody>
      </p:sp>
      <p:sp>
        <p:nvSpPr>
          <p:cNvPr id="39" name="text-039: 干净旧副本 y = 0"/>
          <p:cNvSpPr txBox="1"/>
          <p:nvPr/>
        </p:nvSpPr>
        <p:spPr>
          <a:xfrm>
            <a:off x="5802204" y="3520867"/>
            <a:ext cx="1090511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干净旧副本 y = 0</a:t>
            </a:r>
          </a:p>
        </p:txBody>
      </p:sp>
      <p:sp>
        <p:nvSpPr>
          <p:cNvPr id="40" name="text-040: 下次回填也可能取旧值"/>
          <p:cNvSpPr txBox="1"/>
          <p:nvPr/>
        </p:nvSpPr>
        <p:spPr>
          <a:xfrm>
            <a:off x="5643372" y="3707557"/>
            <a:ext cx="1408176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下次回填也可能取旧值</a:t>
            </a:r>
          </a:p>
        </p:txBody>
      </p:sp>
      <p:sp>
        <p:nvSpPr>
          <p:cNvPr id="41" name="r1b3"/>
          <p:cNvSpPr/>
          <p:nvPr/>
        </p:nvSpPr>
        <p:spPr>
          <a:xfrm>
            <a:off x="7760970" y="3200400"/>
            <a:ext cx="2133600" cy="800100"/>
          </a:xfrm>
          <a:prstGeom prst="rect">
            <a:avLst/>
          </a:prstGeom>
          <a:solidFill>
            <a:srgbClr val="D8E8F4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" name="text-042: DDR"/>
          <p:cNvSpPr txBox="1"/>
          <p:nvPr/>
        </p:nvSpPr>
        <p:spPr>
          <a:xfrm>
            <a:off x="8616239" y="3316895"/>
            <a:ext cx="423061" cy="23042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4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</a:t>
            </a:r>
          </a:p>
        </p:txBody>
      </p:sp>
      <p:sp>
        <p:nvSpPr>
          <p:cNvPr id="43" name="text-043: y = 9"/>
          <p:cNvSpPr txBox="1"/>
          <p:nvPr/>
        </p:nvSpPr>
        <p:spPr>
          <a:xfrm>
            <a:off x="8621744" y="3520867"/>
            <a:ext cx="412052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y = 9</a:t>
            </a:r>
          </a:p>
        </p:txBody>
      </p:sp>
      <p:sp>
        <p:nvSpPr>
          <p:cNvPr id="44" name="text-044: 已收到设备结果"/>
          <p:cNvSpPr txBox="1"/>
          <p:nvPr/>
        </p:nvSpPr>
        <p:spPr>
          <a:xfrm>
            <a:off x="8315706" y="3707557"/>
            <a:ext cx="1024128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已收到设备结果</a:t>
            </a:r>
          </a:p>
        </p:txBody>
      </p:sp>
      <p:sp>
        <p:nvSpPr>
          <p:cNvPr id="45" name="r1b4"/>
          <p:cNvSpPr/>
          <p:nvPr/>
        </p:nvSpPr>
        <p:spPr>
          <a:xfrm>
            <a:off x="10241280" y="3200400"/>
            <a:ext cx="2133600" cy="800100"/>
          </a:xfrm>
          <a:prstGeom prst="rect">
            <a:avLst/>
          </a:prstGeom>
          <a:solidFill>
            <a:srgbClr val="D9EEE8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" name="text-046: GB"/>
          <p:cNvSpPr txBox="1"/>
          <p:nvPr/>
        </p:nvSpPr>
        <p:spPr>
          <a:xfrm>
            <a:off x="11144018" y="3316895"/>
            <a:ext cx="328124" cy="23042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4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</a:t>
            </a:r>
          </a:p>
        </p:txBody>
      </p:sp>
      <p:sp>
        <p:nvSpPr>
          <p:cNvPr id="47" name="text-047: 结果 y = 9"/>
          <p:cNvSpPr txBox="1"/>
          <p:nvPr/>
        </p:nvSpPr>
        <p:spPr>
          <a:xfrm>
            <a:off x="10954848" y="3520867"/>
            <a:ext cx="706463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结果 y = 9</a:t>
            </a:r>
          </a:p>
        </p:txBody>
      </p:sp>
      <p:sp>
        <p:nvSpPr>
          <p:cNvPr id="48" name="text-048: 设备向 DDR 搬出"/>
          <p:cNvSpPr txBox="1"/>
          <p:nvPr/>
        </p:nvSpPr>
        <p:spPr>
          <a:xfrm>
            <a:off x="10761637" y="3707557"/>
            <a:ext cx="1092887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设备向 DDR 搬出</a:t>
            </a:r>
          </a:p>
        </p:txBody>
      </p:sp>
      <p:sp>
        <p:nvSpPr>
          <p:cNvPr id="49" name="text-049: 输出交还 CPU 前，对 L1D 与 LLC 执行失效，并协调此前尚未完成的旧回"/>
          <p:cNvSpPr txBox="1"/>
          <p:nvPr/>
        </p:nvSpPr>
        <p:spPr>
          <a:xfrm>
            <a:off x="320040" y="4101419"/>
            <a:ext cx="4853290" cy="22189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2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输出交还 CPU 前，对 L1D 与 LLC 执行失效，并协调此前尚未完成的旧回填。</a:t>
            </a:r>
          </a:p>
        </p:txBody>
      </p:sp>
      <p:sp>
        <p:nvSpPr>
          <p:cNvPr id="50" name="panel2"/>
          <p:cNvSpPr/>
          <p:nvPr/>
        </p:nvSpPr>
        <p:spPr>
          <a:xfrm>
            <a:off x="186690" y="4667250"/>
            <a:ext cx="12428220" cy="1706880"/>
          </a:xfrm>
          <a:prstGeom prst="rect">
            <a:avLst/>
          </a:prstGeom>
          <a:solidFill>
            <a:srgbClr val="F7F9FA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1" name="text-051: ③ 输出：设备先写 y = 9，LLC 的旧脏行随后覆盖它"/>
          <p:cNvSpPr txBox="1"/>
          <p:nvPr/>
        </p:nvSpPr>
        <p:spPr>
          <a:xfrm>
            <a:off x="320040" y="4745126"/>
            <a:ext cx="3798450" cy="25603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③ 输出：设备先写 y = 9，LLC 的旧脏行随后覆盖它</a:t>
            </a:r>
          </a:p>
        </p:txBody>
      </p:sp>
      <p:sp>
        <p:nvSpPr>
          <p:cNvPr id="52" name="r2b0"/>
          <p:cNvSpPr/>
          <p:nvPr/>
        </p:nvSpPr>
        <p:spPr>
          <a:xfrm>
            <a:off x="320040" y="5147310"/>
            <a:ext cx="2133600" cy="800100"/>
          </a:xfrm>
          <a:prstGeom prst="rect">
            <a:avLst/>
          </a:prstGeom>
          <a:solidFill>
            <a:srgbClr val="F1D7D9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3" name="text-053: CPU / L1D"/>
          <p:cNvSpPr txBox="1"/>
          <p:nvPr/>
        </p:nvSpPr>
        <p:spPr>
          <a:xfrm>
            <a:off x="976651" y="5263805"/>
            <a:ext cx="820378" cy="23042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4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CPU / L1D</a:t>
            </a:r>
          </a:p>
        </p:txBody>
      </p:sp>
      <p:sp>
        <p:nvSpPr>
          <p:cNvPr id="54" name="text-054: 先前写过 y = 3"/>
          <p:cNvSpPr txBox="1"/>
          <p:nvPr/>
        </p:nvSpPr>
        <p:spPr>
          <a:xfrm>
            <a:off x="905592" y="5467777"/>
            <a:ext cx="962495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先前写过 y = 3</a:t>
            </a:r>
          </a:p>
        </p:txBody>
      </p:sp>
      <p:sp>
        <p:nvSpPr>
          <p:cNvPr id="55" name="text-055: 此时 CPU 已停止访问"/>
          <p:cNvSpPr txBox="1"/>
          <p:nvPr/>
        </p:nvSpPr>
        <p:spPr>
          <a:xfrm>
            <a:off x="720007" y="5654467"/>
            <a:ext cx="1333667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此时 CPU 已停止访问</a:t>
            </a:r>
          </a:p>
        </p:txBody>
      </p:sp>
      <p:sp>
        <p:nvSpPr>
          <p:cNvPr id="56" name="r2b1"/>
          <p:cNvSpPr/>
          <p:nvPr/>
        </p:nvSpPr>
        <p:spPr>
          <a:xfrm>
            <a:off x="2800350" y="5147310"/>
            <a:ext cx="2133600" cy="800100"/>
          </a:xfrm>
          <a:prstGeom prst="rect">
            <a:avLst/>
          </a:prstGeom>
          <a:solidFill>
            <a:srgbClr val="F1D7D9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7" name="text-057: 写缓冲"/>
          <p:cNvSpPr txBox="1"/>
          <p:nvPr/>
        </p:nvSpPr>
        <p:spPr>
          <a:xfrm>
            <a:off x="3579114" y="5263805"/>
            <a:ext cx="576072" cy="23042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4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写缓冲</a:t>
            </a:r>
          </a:p>
        </p:txBody>
      </p:sp>
      <p:sp>
        <p:nvSpPr>
          <p:cNvPr id="58" name="text-058: 先前的写已推进"/>
          <p:cNvSpPr txBox="1"/>
          <p:nvPr/>
        </p:nvSpPr>
        <p:spPr>
          <a:xfrm>
            <a:off x="3355086" y="5467777"/>
            <a:ext cx="1024128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先前的写已推进</a:t>
            </a:r>
          </a:p>
        </p:txBody>
      </p:sp>
      <p:sp>
        <p:nvSpPr>
          <p:cNvPr id="59" name="text-059: LLC 尚有脏数据"/>
          <p:cNvSpPr txBox="1"/>
          <p:nvPr/>
        </p:nvSpPr>
        <p:spPr>
          <a:xfrm>
            <a:off x="3360274" y="5654467"/>
            <a:ext cx="1013752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LLC 尚有脏数据</a:t>
            </a:r>
          </a:p>
        </p:txBody>
      </p:sp>
      <p:sp>
        <p:nvSpPr>
          <p:cNvPr id="60" name="r2b2"/>
          <p:cNvSpPr/>
          <p:nvPr/>
        </p:nvSpPr>
        <p:spPr>
          <a:xfrm>
            <a:off x="5280660" y="5147310"/>
            <a:ext cx="2133600" cy="800100"/>
          </a:xfrm>
          <a:prstGeom prst="rect">
            <a:avLst/>
          </a:prstGeom>
          <a:solidFill>
            <a:srgbClr val="D8E8F4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1" name="text-061: WB LLC"/>
          <p:cNvSpPr txBox="1"/>
          <p:nvPr/>
        </p:nvSpPr>
        <p:spPr>
          <a:xfrm>
            <a:off x="6033683" y="5263805"/>
            <a:ext cx="627553" cy="23042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4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WB LLC</a:t>
            </a:r>
          </a:p>
        </p:txBody>
      </p:sp>
      <p:sp>
        <p:nvSpPr>
          <p:cNvPr id="62" name="text-062: 旧脏副本 y = 3"/>
          <p:cNvSpPr txBox="1"/>
          <p:nvPr/>
        </p:nvSpPr>
        <p:spPr>
          <a:xfrm>
            <a:off x="5866212" y="5467777"/>
            <a:ext cx="962495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旧脏副本 y = 3</a:t>
            </a:r>
          </a:p>
        </p:txBody>
      </p:sp>
      <p:sp>
        <p:nvSpPr>
          <p:cNvPr id="63" name="text-063: 稍后替换并写回"/>
          <p:cNvSpPr txBox="1"/>
          <p:nvPr/>
        </p:nvSpPr>
        <p:spPr>
          <a:xfrm>
            <a:off x="5835396" y="5654467"/>
            <a:ext cx="1024128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稍后替换并写回</a:t>
            </a:r>
          </a:p>
        </p:txBody>
      </p:sp>
      <p:sp>
        <p:nvSpPr>
          <p:cNvPr id="64" name="r2b3"/>
          <p:cNvSpPr/>
          <p:nvPr/>
        </p:nvSpPr>
        <p:spPr>
          <a:xfrm>
            <a:off x="7760970" y="5147310"/>
            <a:ext cx="2133600" cy="800100"/>
          </a:xfrm>
          <a:prstGeom prst="rect">
            <a:avLst/>
          </a:prstGeom>
          <a:solidFill>
            <a:srgbClr val="D8E8F4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5" name="text-065: DDR"/>
          <p:cNvSpPr txBox="1"/>
          <p:nvPr/>
        </p:nvSpPr>
        <p:spPr>
          <a:xfrm>
            <a:off x="8616239" y="5263805"/>
            <a:ext cx="423061" cy="23042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4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</a:t>
            </a:r>
          </a:p>
        </p:txBody>
      </p:sp>
      <p:sp>
        <p:nvSpPr>
          <p:cNvPr id="66" name="text-066: y = 9 → y = 3"/>
          <p:cNvSpPr txBox="1"/>
          <p:nvPr/>
        </p:nvSpPr>
        <p:spPr>
          <a:xfrm>
            <a:off x="8377339" y="5467777"/>
            <a:ext cx="900863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y = 9 → y = 3</a:t>
            </a:r>
          </a:p>
        </p:txBody>
      </p:sp>
      <p:sp>
        <p:nvSpPr>
          <p:cNvPr id="67" name="text-067: 设备结果被覆盖"/>
          <p:cNvSpPr txBox="1"/>
          <p:nvPr/>
        </p:nvSpPr>
        <p:spPr>
          <a:xfrm>
            <a:off x="8315706" y="5654467"/>
            <a:ext cx="1024128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设备结果被覆盖</a:t>
            </a:r>
          </a:p>
        </p:txBody>
      </p:sp>
      <p:sp>
        <p:nvSpPr>
          <p:cNvPr id="68" name="r2b4"/>
          <p:cNvSpPr/>
          <p:nvPr/>
        </p:nvSpPr>
        <p:spPr>
          <a:xfrm>
            <a:off x="10241280" y="5147310"/>
            <a:ext cx="2133600" cy="800100"/>
          </a:xfrm>
          <a:prstGeom prst="rect">
            <a:avLst/>
          </a:prstGeom>
          <a:solidFill>
            <a:srgbClr val="D9EEE8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9" name="text-069: GB"/>
          <p:cNvSpPr txBox="1"/>
          <p:nvPr/>
        </p:nvSpPr>
        <p:spPr>
          <a:xfrm>
            <a:off x="11144018" y="5263805"/>
            <a:ext cx="328124" cy="23042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4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</a:t>
            </a:r>
          </a:p>
        </p:txBody>
      </p:sp>
      <p:sp>
        <p:nvSpPr>
          <p:cNvPr id="70" name="text-070: 结果 y = 9"/>
          <p:cNvSpPr txBox="1"/>
          <p:nvPr/>
        </p:nvSpPr>
        <p:spPr>
          <a:xfrm>
            <a:off x="10954848" y="5467777"/>
            <a:ext cx="706463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结果 y = 9</a:t>
            </a:r>
          </a:p>
        </p:txBody>
      </p:sp>
      <p:sp>
        <p:nvSpPr>
          <p:cNvPr id="71" name="text-071: 此前已完成搬出"/>
          <p:cNvSpPr txBox="1"/>
          <p:nvPr/>
        </p:nvSpPr>
        <p:spPr>
          <a:xfrm>
            <a:off x="10796016" y="5654467"/>
            <a:ext cx="1024128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此前已完成搬出</a:t>
            </a:r>
          </a:p>
        </p:txBody>
      </p:sp>
      <p:sp>
        <p:nvSpPr>
          <p:cNvPr id="72" name="text-072: 输出写入前先排空旧写、clean + invalidate；写入后再失效旧读副本"/>
          <p:cNvSpPr txBox="1"/>
          <p:nvPr/>
        </p:nvSpPr>
        <p:spPr>
          <a:xfrm>
            <a:off x="320040" y="6048329"/>
            <a:ext cx="4397266" cy="22189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2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输出写入前先排空旧写、clean + invalidate；写入后再失效旧读副本。</a:t>
            </a:r>
          </a:p>
        </p:txBody>
      </p:sp>
      <p:sp>
        <p:nvSpPr>
          <p:cNvPr id="73" name="cpu-store"/>
          <p:cNvSpPr/>
          <p:nvPr/>
        </p:nvSpPr>
        <p:spPr>
          <a:xfrm>
            <a:off x="2453640" y="1653540"/>
            <a:ext cx="346710" cy="1"/>
          </a:xfrm>
          <a:custGeom>
            <a:avLst/>
            <a:gdLst/>
            <a:ahLst/>
            <a:cxnLst/>
            <a:rect l="0" t="0" r="r" b="b"/>
            <a:pathLst>
              <a:path w="346710" h="1" fill="none">
                <a:moveTo>
                  <a:pt x="0" y="0"/>
                </a:moveTo>
                <a:lnTo>
                  <a:pt x="346710" y="0"/>
                </a:lnTo>
              </a:path>
            </a:pathLst>
          </a:custGeom>
          <a:noFill/>
          <a:ln w="14935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4" name="pending-store"/>
          <p:cNvSpPr/>
          <p:nvPr/>
        </p:nvSpPr>
        <p:spPr>
          <a:xfrm>
            <a:off x="4933950" y="1653540"/>
            <a:ext cx="346710" cy="1"/>
          </a:xfrm>
          <a:custGeom>
            <a:avLst/>
            <a:gdLst/>
            <a:ahLst/>
            <a:cxnLst/>
            <a:rect l="0" t="0" r="r" b="b"/>
            <a:pathLst>
              <a:path w="346710" h="1" fill="none">
                <a:moveTo>
                  <a:pt x="0" y="0"/>
                </a:moveTo>
                <a:lnTo>
                  <a:pt x="346710" y="0"/>
                </a:lnTo>
              </a:path>
            </a:pathLst>
          </a:custGeom>
          <a:noFill/>
          <a:ln w="14935" cap="flat">
            <a:solidFill>
              <a:srgbClr val="314D66"/>
            </a:solidFill>
            <a:custDash>
              <a:ds d="250000" sp="178571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5" name="stale-input"/>
          <p:cNvSpPr/>
          <p:nvPr/>
        </p:nvSpPr>
        <p:spPr>
          <a:xfrm>
            <a:off x="9894570" y="1653540"/>
            <a:ext cx="346710" cy="1"/>
          </a:xfrm>
          <a:custGeom>
            <a:avLst/>
            <a:gdLst/>
            <a:ahLst/>
            <a:cxnLst/>
            <a:rect l="0" t="0" r="r" b="b"/>
            <a:pathLst>
              <a:path w="346710" h="1" fill="none">
                <a:moveTo>
                  <a:pt x="0" y="0"/>
                </a:moveTo>
                <a:lnTo>
                  <a:pt x="346710" y="0"/>
                </a:lnTo>
              </a:path>
            </a:pathLst>
          </a:custGeom>
          <a:noFill/>
          <a:ln w="14935" cap="flat">
            <a:solidFill>
              <a:srgbClr val="187C78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6" name="output-write"/>
          <p:cNvSpPr/>
          <p:nvPr/>
        </p:nvSpPr>
        <p:spPr>
          <a:xfrm>
            <a:off x="9894570" y="3600450"/>
            <a:ext cx="346710" cy="1"/>
          </a:xfrm>
          <a:custGeom>
            <a:avLst/>
            <a:gdLst/>
            <a:ahLst/>
            <a:cxnLst/>
            <a:rect l="0" t="0" r="r" b="b"/>
            <a:pathLst>
              <a:path w="346710" h="1" fill="none">
                <a:moveTo>
                  <a:pt x="346710" y="0"/>
                </a:moveTo>
                <a:lnTo>
                  <a:pt x="0" y="0"/>
                </a:lnTo>
              </a:path>
            </a:pathLst>
          </a:custGeom>
          <a:noFill/>
          <a:ln w="14935" cap="flat">
            <a:solidFill>
              <a:srgbClr val="187C78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7" name="late-old-write"/>
          <p:cNvSpPr/>
          <p:nvPr/>
        </p:nvSpPr>
        <p:spPr>
          <a:xfrm>
            <a:off x="7414260" y="5547360"/>
            <a:ext cx="346710" cy="1"/>
          </a:xfrm>
          <a:custGeom>
            <a:avLst/>
            <a:gdLst/>
            <a:ahLst/>
            <a:cxnLst/>
            <a:rect l="0" t="0" r="r" b="b"/>
            <a:pathLst>
              <a:path w="346710" h="1" fill="none">
                <a:moveTo>
                  <a:pt x="0" y="0"/>
                </a:moveTo>
                <a:lnTo>
                  <a:pt x="346710" y="0"/>
                </a:lnTo>
              </a:path>
            </a:pathLst>
          </a:custGeom>
          <a:noFill/>
          <a:ln w="14935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8" name="earlier-device-write"/>
          <p:cNvSpPr/>
          <p:nvPr/>
        </p:nvSpPr>
        <p:spPr>
          <a:xfrm>
            <a:off x="9894570" y="5547360"/>
            <a:ext cx="346710" cy="1"/>
          </a:xfrm>
          <a:custGeom>
            <a:avLst/>
            <a:gdLst/>
            <a:ahLst/>
            <a:cxnLst/>
            <a:rect l="0" t="0" r="r" b="b"/>
            <a:pathLst>
              <a:path w="346710" h="1" fill="none">
                <a:moveTo>
                  <a:pt x="346710" y="0"/>
                </a:moveTo>
                <a:lnTo>
                  <a:pt x="0" y="0"/>
                </a:lnTo>
              </a:path>
            </a:pathLst>
          </a:custGeom>
          <a:noFill/>
          <a:ln w="14935" cap="flat">
            <a:solidFill>
              <a:srgbClr val="187C78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9" name="text-079: 蓝色：CPU / 缓存写入    绿色：设备搬运（经过共享数据代理）    虚线"/>
          <p:cNvSpPr txBox="1"/>
          <p:nvPr/>
        </p:nvSpPr>
        <p:spPr>
          <a:xfrm>
            <a:off x="320040" y="6571061"/>
            <a:ext cx="5316606" cy="22189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2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蓝色：CPU / 缓存写入    绿色：设备搬运（经过共享数据代理）    虚线：待完成写入</a:t>
            </a:r>
          </a:p>
        </p:txBody>
      </p:sp>
      <p:sp>
        <p:nvSpPr>
          <p:cNvPr id="80" name="text-080: 三个场景共同指向：输入先清理到 DDR，输出写前保护旧数据、写后清除旧副本。"/>
          <p:cNvSpPr txBox="1"/>
          <p:nvPr/>
        </p:nvSpPr>
        <p:spPr>
          <a:xfrm>
            <a:off x="320040" y="6837761"/>
            <a:ext cx="5164229" cy="22189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2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三个场景共同指向：输入先清理到 DDR，输出写前保护旧数据、写后清除旧副本。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-002: 裸机同步调用与硬件动作沿时间依次完成"/>
          <p:cNvSpPr txBox="1"/>
          <p:nvPr/>
        </p:nvSpPr>
        <p:spPr>
          <a:xfrm>
            <a:off x="1000125" y="60488"/>
            <a:ext cx="2736342" cy="23042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4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裸机同步调用与硬件动作沿时间依次完成</a:t>
            </a:r>
          </a:p>
        </p:txBody>
      </p:sp>
      <p:sp>
        <p:nvSpPr>
          <p:cNvPr id="3" name="text-003: 时间向下；首次维护前建立上下文。紫色：命令 / 确认；蓝色：缓存写入；绿色：设备"/>
          <p:cNvSpPr txBox="1"/>
          <p:nvPr/>
        </p:nvSpPr>
        <p:spPr>
          <a:xfrm>
            <a:off x="1000125" y="280355"/>
            <a:ext cx="4043943" cy="15361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6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时间向下；首次维护前建立上下文。紫色：命令 / 确认；蓝色：缓存写入；绿色：设备搬运。</a:t>
            </a:r>
          </a:p>
        </p:txBody>
      </p:sp>
      <p:sp>
        <p:nvSpPr>
          <p:cNvPr id="4" name="lane0"/>
          <p:cNvSpPr/>
          <p:nvPr/>
        </p:nvSpPr>
        <p:spPr>
          <a:xfrm>
            <a:off x="940118" y="520065"/>
            <a:ext cx="1520190" cy="380048"/>
          </a:xfrm>
          <a:prstGeom prst="rect">
            <a:avLst/>
          </a:prstGeom>
          <a:solidFill>
            <a:srgbClr val="F1D7D9"/>
          </a:solidFill>
          <a:ln w="6801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-005: CPU 裸机程序"/>
          <p:cNvSpPr txBox="1"/>
          <p:nvPr/>
        </p:nvSpPr>
        <p:spPr>
          <a:xfrm>
            <a:off x="1315783" y="565431"/>
            <a:ext cx="768859" cy="1728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CPU 裸机程序</a:t>
            </a:r>
          </a:p>
        </p:txBody>
      </p:sp>
      <p:sp>
        <p:nvSpPr>
          <p:cNvPr id="6" name="text-006: 调用 HAL / 轮询"/>
          <p:cNvSpPr txBox="1"/>
          <p:nvPr/>
        </p:nvSpPr>
        <p:spPr>
          <a:xfrm>
            <a:off x="1309554" y="718410"/>
            <a:ext cx="781316" cy="15361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调用 HAL / 轮询</a:t>
            </a:r>
          </a:p>
        </p:txBody>
      </p:sp>
      <p:cxnSp>
        <p:nvCxnSpPr>
          <p:cNvPr id="7" name="life0"/>
          <p:cNvCxnSpPr/>
          <p:nvPr/>
        </p:nvCxnSpPr>
        <p:spPr>
          <a:xfrm>
            <a:off x="1700212" y="900112"/>
            <a:ext cx="0" cy="5740718"/>
          </a:xfrm>
          <a:prstGeom prst="line">
            <a:avLst/>
          </a:prstGeom>
          <a:ln w="5601" cap="flat">
            <a:solidFill>
              <a:srgbClr val="BFC5CE"/>
            </a:solidFill>
            <a:custDash>
              <a:ds d="500000" sp="500000"/>
            </a:custDash>
          </a:ln>
          <a:effectLst/>
        </p:spPr>
      </p:cxnSp>
      <p:sp>
        <p:nvSpPr>
          <p:cNvPr id="8" name="lane1"/>
          <p:cNvSpPr/>
          <p:nvPr/>
        </p:nvSpPr>
        <p:spPr>
          <a:xfrm>
            <a:off x="2820352" y="520065"/>
            <a:ext cx="1520190" cy="380048"/>
          </a:xfrm>
          <a:prstGeom prst="rect">
            <a:avLst/>
          </a:prstGeom>
          <a:solidFill>
            <a:srgbClr val="E8DFED"/>
          </a:solidFill>
          <a:ln w="6801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-009: 范围维护引擎"/>
          <p:cNvSpPr txBox="1"/>
          <p:nvPr/>
        </p:nvSpPr>
        <p:spPr>
          <a:xfrm>
            <a:off x="3202400" y="565431"/>
            <a:ext cx="756094" cy="1728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范围维护引擎</a:t>
            </a:r>
          </a:p>
        </p:txBody>
      </p:sp>
      <p:sp>
        <p:nvSpPr>
          <p:cNvPr id="10" name="text-010: 规划：汇合维护确认"/>
          <p:cNvSpPr txBox="1"/>
          <p:nvPr/>
        </p:nvSpPr>
        <p:spPr>
          <a:xfrm>
            <a:off x="3100388" y="718410"/>
            <a:ext cx="960120" cy="15361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规划：汇合维护确认</a:t>
            </a:r>
          </a:p>
        </p:txBody>
      </p:sp>
      <p:cxnSp>
        <p:nvCxnSpPr>
          <p:cNvPr id="11" name="life1"/>
          <p:cNvCxnSpPr/>
          <p:nvPr/>
        </p:nvCxnSpPr>
        <p:spPr>
          <a:xfrm>
            <a:off x="3580448" y="900112"/>
            <a:ext cx="0" cy="5740718"/>
          </a:xfrm>
          <a:prstGeom prst="line">
            <a:avLst/>
          </a:prstGeom>
          <a:ln w="5601" cap="flat">
            <a:solidFill>
              <a:srgbClr val="BFC5CE"/>
            </a:solidFill>
            <a:custDash>
              <a:ds d="500000" sp="500000"/>
            </a:custDash>
          </a:ln>
          <a:effectLst/>
        </p:spPr>
      </p:cxnSp>
      <p:sp>
        <p:nvSpPr>
          <p:cNvPr id="12" name="lane2"/>
          <p:cNvSpPr/>
          <p:nvPr/>
        </p:nvSpPr>
        <p:spPr>
          <a:xfrm>
            <a:off x="4700588" y="520065"/>
            <a:ext cx="1520190" cy="380048"/>
          </a:xfrm>
          <a:prstGeom prst="rect">
            <a:avLst/>
          </a:prstGeom>
          <a:solidFill>
            <a:srgbClr val="F1D7D9"/>
          </a:solidFill>
          <a:ln w="6801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-013: L1D / 写缓冲"/>
          <p:cNvSpPr txBox="1"/>
          <p:nvPr/>
        </p:nvSpPr>
        <p:spPr>
          <a:xfrm>
            <a:off x="5089224" y="565431"/>
            <a:ext cx="742918" cy="1728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L1D / 写缓冲</a:t>
            </a:r>
          </a:p>
        </p:txBody>
      </p:sp>
      <p:sp>
        <p:nvSpPr>
          <p:cNvPr id="14" name="text-014: 排空与失效"/>
          <p:cNvSpPr txBox="1"/>
          <p:nvPr/>
        </p:nvSpPr>
        <p:spPr>
          <a:xfrm>
            <a:off x="5172646" y="718410"/>
            <a:ext cx="576072" cy="15361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排空与失效</a:t>
            </a:r>
          </a:p>
        </p:txBody>
      </p:sp>
      <p:cxnSp>
        <p:nvCxnSpPr>
          <p:cNvPr id="15" name="life2"/>
          <p:cNvCxnSpPr/>
          <p:nvPr/>
        </p:nvCxnSpPr>
        <p:spPr>
          <a:xfrm>
            <a:off x="5460682" y="900112"/>
            <a:ext cx="0" cy="5740718"/>
          </a:xfrm>
          <a:prstGeom prst="line">
            <a:avLst/>
          </a:prstGeom>
          <a:ln w="5601" cap="flat">
            <a:solidFill>
              <a:srgbClr val="BFC5CE"/>
            </a:solidFill>
            <a:custDash>
              <a:ds d="500000" sp="500000"/>
            </a:custDash>
          </a:ln>
          <a:effectLst/>
        </p:spPr>
      </p:cxnSp>
      <p:sp>
        <p:nvSpPr>
          <p:cNvPr id="16" name="lane3"/>
          <p:cNvSpPr/>
          <p:nvPr/>
        </p:nvSpPr>
        <p:spPr>
          <a:xfrm>
            <a:off x="6580822" y="520065"/>
            <a:ext cx="1520190" cy="380048"/>
          </a:xfrm>
          <a:prstGeom prst="rect">
            <a:avLst/>
          </a:prstGeom>
          <a:solidFill>
            <a:srgbClr val="D8E8F4"/>
          </a:solidFill>
          <a:ln w="6801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-017: WB LLC"/>
          <p:cNvSpPr txBox="1"/>
          <p:nvPr/>
        </p:nvSpPr>
        <p:spPr>
          <a:xfrm>
            <a:off x="7105585" y="565431"/>
            <a:ext cx="470665" cy="1728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WB LLC</a:t>
            </a:r>
          </a:p>
        </p:txBody>
      </p:sp>
      <p:sp>
        <p:nvSpPr>
          <p:cNvPr id="18" name="text-018: 清理与失效"/>
          <p:cNvSpPr txBox="1"/>
          <p:nvPr/>
        </p:nvSpPr>
        <p:spPr>
          <a:xfrm>
            <a:off x="7052882" y="718410"/>
            <a:ext cx="576072" cy="15361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清理与失效</a:t>
            </a:r>
          </a:p>
        </p:txBody>
      </p:sp>
      <p:cxnSp>
        <p:nvCxnSpPr>
          <p:cNvPr id="19" name="life3"/>
          <p:cNvCxnSpPr/>
          <p:nvPr/>
        </p:nvCxnSpPr>
        <p:spPr>
          <a:xfrm>
            <a:off x="7340918" y="900112"/>
            <a:ext cx="0" cy="5740718"/>
          </a:xfrm>
          <a:prstGeom prst="line">
            <a:avLst/>
          </a:prstGeom>
          <a:ln w="5601" cap="flat">
            <a:solidFill>
              <a:srgbClr val="BFC5CE"/>
            </a:solidFill>
            <a:custDash>
              <a:ds d="500000" sp="500000"/>
            </a:custDash>
          </a:ln>
          <a:effectLst/>
        </p:spPr>
      </p:cxnSp>
      <p:sp>
        <p:nvSpPr>
          <p:cNvPr id="20" name="lane4"/>
          <p:cNvSpPr/>
          <p:nvPr/>
        </p:nvSpPr>
        <p:spPr>
          <a:xfrm>
            <a:off x="8461058" y="520065"/>
            <a:ext cx="1520190" cy="380048"/>
          </a:xfrm>
          <a:prstGeom prst="rect">
            <a:avLst/>
          </a:prstGeom>
          <a:solidFill>
            <a:srgbClr val="D8E8F4"/>
          </a:solidFill>
          <a:ln w="6801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-021: 前端 / DDR / 搬运器"/>
          <p:cNvSpPr txBox="1"/>
          <p:nvPr/>
        </p:nvSpPr>
        <p:spPr>
          <a:xfrm>
            <a:off x="8671581" y="565431"/>
            <a:ext cx="1099144" cy="1728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前端 / DDR / 搬运器</a:t>
            </a:r>
          </a:p>
        </p:txBody>
      </p:sp>
      <p:sp>
        <p:nvSpPr>
          <p:cNvPr id="22" name="text-022: 逻辑合并：跨口可见"/>
          <p:cNvSpPr txBox="1"/>
          <p:nvPr/>
        </p:nvSpPr>
        <p:spPr>
          <a:xfrm>
            <a:off x="8741092" y="718410"/>
            <a:ext cx="960120" cy="15361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逻辑合并：跨口可见</a:t>
            </a:r>
          </a:p>
        </p:txBody>
      </p:sp>
      <p:cxnSp>
        <p:nvCxnSpPr>
          <p:cNvPr id="23" name="life4"/>
          <p:cNvCxnSpPr/>
          <p:nvPr/>
        </p:nvCxnSpPr>
        <p:spPr>
          <a:xfrm>
            <a:off x="9221152" y="900112"/>
            <a:ext cx="0" cy="5740718"/>
          </a:xfrm>
          <a:prstGeom prst="line">
            <a:avLst/>
          </a:prstGeom>
          <a:ln w="5601" cap="flat">
            <a:solidFill>
              <a:srgbClr val="BFC5CE"/>
            </a:solidFill>
            <a:custDash>
              <a:ds d="500000" sp="500000"/>
            </a:custDash>
          </a:ln>
          <a:effectLst/>
        </p:spPr>
      </p:cxnSp>
      <p:sp>
        <p:nvSpPr>
          <p:cNvPr id="24" name="lane5"/>
          <p:cNvSpPr/>
          <p:nvPr/>
        </p:nvSpPr>
        <p:spPr>
          <a:xfrm>
            <a:off x="10341292" y="520065"/>
            <a:ext cx="1520190" cy="380048"/>
          </a:xfrm>
          <a:prstGeom prst="rect">
            <a:avLst/>
          </a:prstGeom>
          <a:solidFill>
            <a:srgbClr val="D9EEE8"/>
          </a:solidFill>
          <a:ln w="6801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text-025: 共享代理 / GB / NPU"/>
          <p:cNvSpPr txBox="1"/>
          <p:nvPr/>
        </p:nvSpPr>
        <p:spPr>
          <a:xfrm>
            <a:off x="10541058" y="565431"/>
            <a:ext cx="1120659" cy="1728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共享代理 / GB / NPU</a:t>
            </a:r>
          </a:p>
        </p:txBody>
      </p:sp>
      <p:sp>
        <p:nvSpPr>
          <p:cNvPr id="26" name="text-026: 装入、计算、搬出"/>
          <p:cNvSpPr txBox="1"/>
          <p:nvPr/>
        </p:nvSpPr>
        <p:spPr>
          <a:xfrm>
            <a:off x="10669334" y="718410"/>
            <a:ext cx="864108" cy="15361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装入、计算、搬出</a:t>
            </a:r>
          </a:p>
        </p:txBody>
      </p:sp>
      <p:cxnSp>
        <p:nvCxnSpPr>
          <p:cNvPr id="27" name="life5"/>
          <p:cNvCxnSpPr/>
          <p:nvPr/>
        </p:nvCxnSpPr>
        <p:spPr>
          <a:xfrm>
            <a:off x="11101388" y="900112"/>
            <a:ext cx="0" cy="5740718"/>
          </a:xfrm>
          <a:prstGeom prst="line">
            <a:avLst/>
          </a:prstGeom>
          <a:ln w="5601" cap="flat">
            <a:solidFill>
              <a:srgbClr val="BFC5CE"/>
            </a:solidFill>
            <a:custDash>
              <a:ds d="500000" sp="500000"/>
            </a:custDash>
          </a:ln>
          <a:effectLst/>
        </p:spPr>
      </p:cxnSp>
      <p:sp>
        <p:nvSpPr>
          <p:cNvPr id="28" name="prepare"/>
          <p:cNvSpPr/>
          <p:nvPr/>
        </p:nvSpPr>
        <p:spPr>
          <a:xfrm>
            <a:off x="1700212" y="1160145"/>
            <a:ext cx="1880235" cy="1"/>
          </a:xfrm>
          <a:custGeom>
            <a:avLst/>
            <a:gdLst/>
            <a:ahLst/>
            <a:cxnLst/>
            <a:rect l="0" t="0" r="r" b="b"/>
            <a:pathLst>
              <a:path w="1880235" h="1" fill="none">
                <a:moveTo>
                  <a:pt x="0" y="0"/>
                </a:moveTo>
                <a:lnTo>
                  <a:pt x="1880235" y="0"/>
                </a:lnTo>
              </a:path>
            </a:pathLst>
          </a:custGeom>
          <a:noFill/>
          <a:ln w="11201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rect-029"/>
          <p:cNvSpPr/>
          <p:nvPr/>
        </p:nvSpPr>
        <p:spPr>
          <a:xfrm>
            <a:off x="1671209" y="992124"/>
            <a:ext cx="1938242" cy="14001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text-030: 1. 登记上下文后：同步输入 + 准备输出"/>
          <p:cNvSpPr txBox="1"/>
          <p:nvPr/>
        </p:nvSpPr>
        <p:spPr>
          <a:xfrm>
            <a:off x="1720290" y="992124"/>
            <a:ext cx="1840080" cy="1600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7" b="0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1. 登记上下文后：同步输入 + 准备输出</a:t>
            </a:r>
          </a:p>
        </p:txBody>
      </p:sp>
      <p:sp>
        <p:nvSpPr>
          <p:cNvPr id="31" name="drain"/>
          <p:cNvSpPr/>
          <p:nvPr/>
        </p:nvSpPr>
        <p:spPr>
          <a:xfrm>
            <a:off x="3580448" y="1480185"/>
            <a:ext cx="1880235" cy="1"/>
          </a:xfrm>
          <a:custGeom>
            <a:avLst/>
            <a:gdLst/>
            <a:ahLst/>
            <a:cxnLst/>
            <a:rect l="0" t="0" r="r" b="b"/>
            <a:pathLst>
              <a:path w="1880235" h="1" fill="none">
                <a:moveTo>
                  <a:pt x="0" y="0"/>
                </a:moveTo>
                <a:lnTo>
                  <a:pt x="1880235" y="0"/>
                </a:lnTo>
              </a:path>
            </a:pathLst>
          </a:custGeom>
          <a:noFill/>
          <a:ln w="11201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rect-032"/>
          <p:cNvSpPr/>
          <p:nvPr/>
        </p:nvSpPr>
        <p:spPr>
          <a:xfrm>
            <a:off x="3686961" y="1312164"/>
            <a:ext cx="1667208" cy="14001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text-033: 2. 限制冲突新请求；排空已有读写"/>
          <p:cNvSpPr txBox="1"/>
          <p:nvPr/>
        </p:nvSpPr>
        <p:spPr>
          <a:xfrm>
            <a:off x="3710501" y="1312164"/>
            <a:ext cx="1620127" cy="1600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7" b="0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2. 限制冲突新请求；排空已有读写</a:t>
            </a:r>
          </a:p>
        </p:txBody>
      </p:sp>
      <p:sp>
        <p:nvSpPr>
          <p:cNvPr id="34" name="wt-store"/>
          <p:cNvSpPr/>
          <p:nvPr/>
        </p:nvSpPr>
        <p:spPr>
          <a:xfrm>
            <a:off x="5460682" y="1800225"/>
            <a:ext cx="1880235" cy="1"/>
          </a:xfrm>
          <a:custGeom>
            <a:avLst/>
            <a:gdLst/>
            <a:ahLst/>
            <a:cxnLst/>
            <a:rect l="0" t="0" r="r" b="b"/>
            <a:pathLst>
              <a:path w="1880235" h="1" fill="none">
                <a:moveTo>
                  <a:pt x="0" y="0"/>
                </a:moveTo>
                <a:lnTo>
                  <a:pt x="1880235" y="0"/>
                </a:lnTo>
              </a:path>
            </a:pathLst>
          </a:custGeom>
          <a:noFill/>
          <a:ln w="11201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rect-035"/>
          <p:cNvSpPr/>
          <p:nvPr/>
        </p:nvSpPr>
        <p:spPr>
          <a:xfrm>
            <a:off x="5567696" y="1632204"/>
            <a:ext cx="1666208" cy="14001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text-036: 3. WT 先行写推进；LLC 保持接收"/>
          <p:cNvSpPr txBox="1"/>
          <p:nvPr/>
        </p:nvSpPr>
        <p:spPr>
          <a:xfrm>
            <a:off x="5613836" y="1632204"/>
            <a:ext cx="1573928" cy="1600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7" b="0" i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3. WT 先行写推进；LLC 保持接收</a:t>
            </a:r>
          </a:p>
        </p:txBody>
      </p:sp>
      <p:sp>
        <p:nvSpPr>
          <p:cNvPr id="37" name="l1-drained"/>
          <p:cNvSpPr/>
          <p:nvPr/>
        </p:nvSpPr>
        <p:spPr>
          <a:xfrm>
            <a:off x="3580448" y="2120265"/>
            <a:ext cx="1880235" cy="1"/>
          </a:xfrm>
          <a:custGeom>
            <a:avLst/>
            <a:gdLst/>
            <a:ahLst/>
            <a:cxnLst/>
            <a:rect l="0" t="0" r="r" b="b"/>
            <a:pathLst>
              <a:path w="1880235" h="1" fill="none">
                <a:moveTo>
                  <a:pt x="1880235" y="0"/>
                </a:moveTo>
                <a:lnTo>
                  <a:pt x="0" y="0"/>
                </a:lnTo>
              </a:path>
            </a:pathLst>
          </a:custGeom>
          <a:noFill/>
          <a:ln w="11201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rect-038"/>
          <p:cNvSpPr/>
          <p:nvPr/>
        </p:nvSpPr>
        <p:spPr>
          <a:xfrm>
            <a:off x="3794474" y="1952244"/>
            <a:ext cx="1452182" cy="14001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text-039: 4. 排空及输出 L1D 失效确认"/>
          <p:cNvSpPr txBox="1"/>
          <p:nvPr/>
        </p:nvSpPr>
        <p:spPr>
          <a:xfrm>
            <a:off x="3842596" y="1952244"/>
            <a:ext cx="1355938" cy="1600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7" b="0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4. 排空及输出 L1D 失效确认</a:t>
            </a:r>
          </a:p>
        </p:txBody>
      </p:sp>
      <p:sp>
        <p:nvSpPr>
          <p:cNvPr id="40" name="clean"/>
          <p:cNvSpPr/>
          <p:nvPr/>
        </p:nvSpPr>
        <p:spPr>
          <a:xfrm>
            <a:off x="3580448" y="2440305"/>
            <a:ext cx="3760470" cy="1"/>
          </a:xfrm>
          <a:custGeom>
            <a:avLst/>
            <a:gdLst/>
            <a:ahLst/>
            <a:cxnLst/>
            <a:rect l="0" t="0" r="r" b="b"/>
            <a:pathLst>
              <a:path w="3760470" h="1" fill="none">
                <a:moveTo>
                  <a:pt x="0" y="0"/>
                </a:moveTo>
                <a:lnTo>
                  <a:pt x="3760470" y="0"/>
                </a:lnTo>
              </a:path>
            </a:pathLst>
          </a:custGeom>
          <a:noFill/>
          <a:ln w="11201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" name="rect-041"/>
          <p:cNvSpPr/>
          <p:nvPr/>
        </p:nvSpPr>
        <p:spPr>
          <a:xfrm>
            <a:off x="3978997" y="2272284"/>
            <a:ext cx="2963370" cy="14001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" name="text-042: 5. 协调在途事务；输入 clean / 输出 clean + invalida"/>
          <p:cNvSpPr txBox="1"/>
          <p:nvPr/>
        </p:nvSpPr>
        <p:spPr>
          <a:xfrm>
            <a:off x="4212476" y="2272284"/>
            <a:ext cx="2496412" cy="1600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7" b="0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5. 协调在途事务；输入 clean / 输出 clean + invalidate</a:t>
            </a:r>
          </a:p>
        </p:txBody>
      </p:sp>
      <p:sp>
        <p:nvSpPr>
          <p:cNvPr id="43" name="writeback"/>
          <p:cNvSpPr/>
          <p:nvPr/>
        </p:nvSpPr>
        <p:spPr>
          <a:xfrm>
            <a:off x="7340918" y="2760345"/>
            <a:ext cx="1880235" cy="1"/>
          </a:xfrm>
          <a:custGeom>
            <a:avLst/>
            <a:gdLst/>
            <a:ahLst/>
            <a:cxnLst/>
            <a:rect l="0" t="0" r="r" b="b"/>
            <a:pathLst>
              <a:path w="1880235" h="1" fill="none">
                <a:moveTo>
                  <a:pt x="0" y="0"/>
                </a:moveTo>
                <a:lnTo>
                  <a:pt x="1880235" y="0"/>
                </a:lnTo>
              </a:path>
            </a:pathLst>
          </a:custGeom>
          <a:noFill/>
          <a:ln w="11201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" name="rect-044"/>
          <p:cNvSpPr/>
          <p:nvPr/>
        </p:nvSpPr>
        <p:spPr>
          <a:xfrm>
            <a:off x="7533442" y="2592324"/>
            <a:ext cx="1495187" cy="14001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" name="text-045: 6. 经 F0 写回；检查聚合响应"/>
          <p:cNvSpPr txBox="1"/>
          <p:nvPr/>
        </p:nvSpPr>
        <p:spPr>
          <a:xfrm>
            <a:off x="7587048" y="2592324"/>
            <a:ext cx="1387973" cy="1600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7" b="0" i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6. 经 F0 写回；检查聚合响应</a:t>
            </a:r>
          </a:p>
        </p:txBody>
      </p:sp>
      <p:sp>
        <p:nvSpPr>
          <p:cNvPr id="46" name="ddr-visible"/>
          <p:cNvSpPr/>
          <p:nvPr/>
        </p:nvSpPr>
        <p:spPr>
          <a:xfrm>
            <a:off x="3580448" y="3080385"/>
            <a:ext cx="5640705" cy="1"/>
          </a:xfrm>
          <a:custGeom>
            <a:avLst/>
            <a:gdLst/>
            <a:ahLst/>
            <a:cxnLst/>
            <a:rect l="0" t="0" r="r" b="b"/>
            <a:pathLst>
              <a:path w="5640705" h="1" fill="none">
                <a:moveTo>
                  <a:pt x="5640705" y="0"/>
                </a:moveTo>
                <a:lnTo>
                  <a:pt x="0" y="0"/>
                </a:lnTo>
              </a:path>
            </a:pathLst>
          </a:custGeom>
          <a:noFill/>
          <a:ln w="11201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7" name="rect-047"/>
          <p:cNvSpPr/>
          <p:nvPr/>
        </p:nvSpPr>
        <p:spPr>
          <a:xfrm>
            <a:off x="5331666" y="2912364"/>
            <a:ext cx="2138267" cy="14001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8" name="text-048: 7. 前端数据 / 元数据可见；汇合完成与错误"/>
          <p:cNvSpPr txBox="1"/>
          <p:nvPr/>
        </p:nvSpPr>
        <p:spPr>
          <a:xfrm>
            <a:off x="5384751" y="2912364"/>
            <a:ext cx="2032098" cy="1600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7" b="0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7. 前端数据 / 元数据可见；汇合完成与错误</a:t>
            </a:r>
          </a:p>
        </p:txBody>
      </p:sp>
      <p:sp>
        <p:nvSpPr>
          <p:cNvPr id="49" name="prepared"/>
          <p:cNvSpPr/>
          <p:nvPr/>
        </p:nvSpPr>
        <p:spPr>
          <a:xfrm>
            <a:off x="1700212" y="3400425"/>
            <a:ext cx="1880235" cy="1"/>
          </a:xfrm>
          <a:custGeom>
            <a:avLst/>
            <a:gdLst/>
            <a:ahLst/>
            <a:cxnLst/>
            <a:rect l="0" t="0" r="r" b="b"/>
            <a:pathLst>
              <a:path w="1880235" h="1" fill="none">
                <a:moveTo>
                  <a:pt x="1880235" y="0"/>
                </a:moveTo>
                <a:lnTo>
                  <a:pt x="0" y="0"/>
                </a:lnTo>
              </a:path>
            </a:pathLst>
          </a:custGeom>
          <a:noFill/>
          <a:ln w="11201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0" name="rect-050"/>
          <p:cNvSpPr/>
          <p:nvPr/>
        </p:nvSpPr>
        <p:spPr>
          <a:xfrm>
            <a:off x="2056757" y="3232404"/>
            <a:ext cx="1167146" cy="14001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1" name="text-051: 8. 维护成功，退出窗口"/>
          <p:cNvSpPr txBox="1"/>
          <p:nvPr/>
        </p:nvSpPr>
        <p:spPr>
          <a:xfrm>
            <a:off x="2080298" y="3232404"/>
            <a:ext cx="1120065" cy="1600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7" b="0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8. 维护成功，退出窗口</a:t>
            </a:r>
          </a:p>
        </p:txBody>
      </p:sp>
      <p:sp>
        <p:nvSpPr>
          <p:cNvPr id="52" name="submit"/>
          <p:cNvSpPr/>
          <p:nvPr/>
        </p:nvSpPr>
        <p:spPr>
          <a:xfrm>
            <a:off x="1700212" y="3720465"/>
            <a:ext cx="7520940" cy="1"/>
          </a:xfrm>
          <a:custGeom>
            <a:avLst/>
            <a:gdLst/>
            <a:ahLst/>
            <a:cxnLst/>
            <a:rect l="0" t="0" r="r" b="b"/>
            <a:pathLst>
              <a:path w="7520940" h="1" fill="none">
                <a:moveTo>
                  <a:pt x="0" y="0"/>
                </a:moveTo>
                <a:lnTo>
                  <a:pt x="7520940" y="0"/>
                </a:lnTo>
              </a:path>
            </a:pathLst>
          </a:custGeom>
          <a:noFill/>
          <a:ln w="11201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3" name="rect-053"/>
          <p:cNvSpPr/>
          <p:nvPr/>
        </p:nvSpPr>
        <p:spPr>
          <a:xfrm>
            <a:off x="4413052" y="3552444"/>
            <a:ext cx="2095262" cy="14001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4" name="text-054: 9. 提交并确认接受：搬入 → 计算 → 搬出"/>
          <p:cNvSpPr txBox="1"/>
          <p:nvPr/>
        </p:nvSpPr>
        <p:spPr>
          <a:xfrm>
            <a:off x="4490636" y="3552444"/>
            <a:ext cx="1940092" cy="1600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7" b="0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9. 提交并确认接受：搬入 → 计算 → 搬出</a:t>
            </a:r>
          </a:p>
        </p:txBody>
      </p:sp>
      <p:sp>
        <p:nvSpPr>
          <p:cNvPr id="55" name="dma-in"/>
          <p:cNvSpPr/>
          <p:nvPr/>
        </p:nvSpPr>
        <p:spPr>
          <a:xfrm>
            <a:off x="9221152" y="4040505"/>
            <a:ext cx="1880235" cy="1"/>
          </a:xfrm>
          <a:custGeom>
            <a:avLst/>
            <a:gdLst/>
            <a:ahLst/>
            <a:cxnLst/>
            <a:rect l="0" t="0" r="r" b="b"/>
            <a:pathLst>
              <a:path w="1880235" h="1" fill="none">
                <a:moveTo>
                  <a:pt x="0" y="0"/>
                </a:moveTo>
                <a:lnTo>
                  <a:pt x="1880235" y="0"/>
                </a:lnTo>
              </a:path>
            </a:pathLst>
          </a:custGeom>
          <a:noFill/>
          <a:ln w="11201" cap="flat">
            <a:solidFill>
              <a:srgbClr val="187C78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6" name="rect-056"/>
          <p:cNvSpPr/>
          <p:nvPr/>
        </p:nvSpPr>
        <p:spPr>
          <a:xfrm>
            <a:off x="9435679" y="3872484"/>
            <a:ext cx="1451181" cy="14001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7" name="text-057: 10. 经 F1 读 DDR，搬入 GB"/>
          <p:cNvSpPr txBox="1"/>
          <p:nvPr/>
        </p:nvSpPr>
        <p:spPr>
          <a:xfrm>
            <a:off x="9496534" y="3872484"/>
            <a:ext cx="1329472" cy="1600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7" b="0" i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10. 经 F1 读 DDR，搬入 GB</a:t>
            </a:r>
          </a:p>
        </p:txBody>
      </p:sp>
      <p:sp>
        <p:nvSpPr>
          <p:cNvPr id="58" name="compute"/>
          <p:cNvSpPr/>
          <p:nvPr/>
        </p:nvSpPr>
        <p:spPr>
          <a:xfrm>
            <a:off x="10341292" y="4200525"/>
            <a:ext cx="1520190" cy="260032"/>
          </a:xfrm>
          <a:prstGeom prst="rect">
            <a:avLst/>
          </a:prstGeom>
          <a:solidFill>
            <a:srgbClr val="D9EEE8"/>
          </a:solidFill>
          <a:ln w="6801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9" name="text-059: NPU 计算，结果留在 GB"/>
          <p:cNvSpPr txBox="1"/>
          <p:nvPr/>
        </p:nvSpPr>
        <p:spPr>
          <a:xfrm>
            <a:off x="10467543" y="4253892"/>
            <a:ext cx="1267690" cy="1728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计算，结果留在 GB</a:t>
            </a:r>
          </a:p>
        </p:txBody>
      </p:sp>
      <p:sp>
        <p:nvSpPr>
          <p:cNvPr id="60" name="dma-out"/>
          <p:cNvSpPr/>
          <p:nvPr/>
        </p:nvSpPr>
        <p:spPr>
          <a:xfrm>
            <a:off x="9221152" y="4680585"/>
            <a:ext cx="1880235" cy="1"/>
          </a:xfrm>
          <a:custGeom>
            <a:avLst/>
            <a:gdLst/>
            <a:ahLst/>
            <a:cxnLst/>
            <a:rect l="0" t="0" r="r" b="b"/>
            <a:pathLst>
              <a:path w="1880235" h="1" fill="none">
                <a:moveTo>
                  <a:pt x="1880235" y="0"/>
                </a:moveTo>
                <a:lnTo>
                  <a:pt x="0" y="0"/>
                </a:lnTo>
              </a:path>
            </a:pathLst>
          </a:custGeom>
          <a:noFill/>
          <a:ln w="11201" cap="flat">
            <a:solidFill>
              <a:srgbClr val="187C78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1" name="rect-061"/>
          <p:cNvSpPr/>
          <p:nvPr/>
        </p:nvSpPr>
        <p:spPr>
          <a:xfrm>
            <a:off x="9535692" y="4512564"/>
            <a:ext cx="1251156" cy="14001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2" name="text-062: 11. GB 经 F1 写回 DDR"/>
          <p:cNvSpPr txBox="1"/>
          <p:nvPr/>
        </p:nvSpPr>
        <p:spPr>
          <a:xfrm>
            <a:off x="9596546" y="4512564"/>
            <a:ext cx="1129447" cy="1600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7" b="0" i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11. GB 经 F1 写回 DDR</a:t>
            </a:r>
          </a:p>
        </p:txBody>
      </p:sp>
      <p:sp>
        <p:nvSpPr>
          <p:cNvPr id="63" name="task-done"/>
          <p:cNvSpPr/>
          <p:nvPr/>
        </p:nvSpPr>
        <p:spPr>
          <a:xfrm>
            <a:off x="1700212" y="5000625"/>
            <a:ext cx="7520940" cy="1"/>
          </a:xfrm>
          <a:custGeom>
            <a:avLst/>
            <a:gdLst/>
            <a:ahLst/>
            <a:cxnLst/>
            <a:rect l="0" t="0" r="r" b="b"/>
            <a:pathLst>
              <a:path w="7520940" h="1" fill="none">
                <a:moveTo>
                  <a:pt x="7520940" y="0"/>
                </a:moveTo>
                <a:lnTo>
                  <a:pt x="0" y="0"/>
                </a:lnTo>
              </a:path>
            </a:pathLst>
          </a:custGeom>
          <a:noFill/>
          <a:ln w="11201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4" name="rect-064"/>
          <p:cNvSpPr/>
          <p:nvPr/>
        </p:nvSpPr>
        <p:spPr>
          <a:xfrm>
            <a:off x="4413052" y="4832604"/>
            <a:ext cx="2095262" cy="14001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5" name="text-065: 12. 任务成功：前端发布完成，F0 读取可见"/>
          <p:cNvSpPr txBox="1"/>
          <p:nvPr/>
        </p:nvSpPr>
        <p:spPr>
          <a:xfrm>
            <a:off x="4451666" y="4832604"/>
            <a:ext cx="2018033" cy="1600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7" b="0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12. 任务成功：前端发布完成，F0 读取可见</a:t>
            </a:r>
          </a:p>
        </p:txBody>
      </p:sp>
      <p:sp>
        <p:nvSpPr>
          <p:cNvPr id="66" name="acquire"/>
          <p:cNvSpPr/>
          <p:nvPr/>
        </p:nvSpPr>
        <p:spPr>
          <a:xfrm>
            <a:off x="1700212" y="5320665"/>
            <a:ext cx="1880235" cy="1"/>
          </a:xfrm>
          <a:custGeom>
            <a:avLst/>
            <a:gdLst/>
            <a:ahLst/>
            <a:cxnLst/>
            <a:rect l="0" t="0" r="r" b="b"/>
            <a:pathLst>
              <a:path w="1880235" h="1" fill="none">
                <a:moveTo>
                  <a:pt x="0" y="0"/>
                </a:moveTo>
                <a:lnTo>
                  <a:pt x="1880235" y="0"/>
                </a:lnTo>
              </a:path>
            </a:pathLst>
          </a:custGeom>
          <a:noFill/>
          <a:ln w="11201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7" name="rect-067"/>
          <p:cNvSpPr/>
          <p:nvPr/>
        </p:nvSpPr>
        <p:spPr>
          <a:xfrm>
            <a:off x="1778222" y="5152644"/>
            <a:ext cx="1724216" cy="14001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8" name="text-068: 13. 同步输出：再次限制冲突新请求"/>
          <p:cNvSpPr txBox="1"/>
          <p:nvPr/>
        </p:nvSpPr>
        <p:spPr>
          <a:xfrm>
            <a:off x="1800281" y="5152644"/>
            <a:ext cx="1680097" cy="1600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7" b="0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13. 同步输出：再次限制冲突新请求</a:t>
            </a:r>
          </a:p>
        </p:txBody>
      </p:sp>
      <p:sp>
        <p:nvSpPr>
          <p:cNvPr id="69" name="post-l1"/>
          <p:cNvSpPr/>
          <p:nvPr/>
        </p:nvSpPr>
        <p:spPr>
          <a:xfrm>
            <a:off x="3580448" y="5640705"/>
            <a:ext cx="1880235" cy="1"/>
          </a:xfrm>
          <a:custGeom>
            <a:avLst/>
            <a:gdLst/>
            <a:ahLst/>
            <a:cxnLst/>
            <a:rect l="0" t="0" r="r" b="b"/>
            <a:pathLst>
              <a:path w="1880235" h="1" fill="none">
                <a:moveTo>
                  <a:pt x="0" y="0"/>
                </a:moveTo>
                <a:lnTo>
                  <a:pt x="1880235" y="0"/>
                </a:lnTo>
              </a:path>
            </a:pathLst>
          </a:custGeom>
          <a:noFill/>
          <a:ln w="11201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0" name="rect-070"/>
          <p:cNvSpPr/>
          <p:nvPr/>
        </p:nvSpPr>
        <p:spPr>
          <a:xfrm>
            <a:off x="3808476" y="5472684"/>
            <a:ext cx="1424178" cy="14001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1" name="text-071: 14. 排空旧回填，再最终失效"/>
          <p:cNvSpPr txBox="1"/>
          <p:nvPr/>
        </p:nvSpPr>
        <p:spPr>
          <a:xfrm>
            <a:off x="3830535" y="5472684"/>
            <a:ext cx="1380060" cy="1600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7" b="0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14. 排空旧回填，再最终失效</a:t>
            </a:r>
          </a:p>
        </p:txBody>
      </p:sp>
      <p:sp>
        <p:nvSpPr>
          <p:cNvPr id="72" name="post-llc"/>
          <p:cNvSpPr/>
          <p:nvPr/>
        </p:nvSpPr>
        <p:spPr>
          <a:xfrm>
            <a:off x="3580448" y="5960745"/>
            <a:ext cx="3760470" cy="1"/>
          </a:xfrm>
          <a:custGeom>
            <a:avLst/>
            <a:gdLst/>
            <a:ahLst/>
            <a:cxnLst/>
            <a:rect l="0" t="0" r="r" b="b"/>
            <a:pathLst>
              <a:path w="3760470" h="1" fill="none">
                <a:moveTo>
                  <a:pt x="0" y="0"/>
                </a:moveTo>
                <a:lnTo>
                  <a:pt x="3760470" y="0"/>
                </a:lnTo>
              </a:path>
            </a:pathLst>
          </a:custGeom>
          <a:noFill/>
          <a:ln w="11201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3" name="rect-073"/>
          <p:cNvSpPr/>
          <p:nvPr/>
        </p:nvSpPr>
        <p:spPr>
          <a:xfrm>
            <a:off x="4606076" y="5792724"/>
            <a:ext cx="1709214" cy="14001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4" name="text-074: 15. 协调 LLC 在途事务，最终失效"/>
          <p:cNvSpPr txBox="1"/>
          <p:nvPr/>
        </p:nvSpPr>
        <p:spPr>
          <a:xfrm>
            <a:off x="4659701" y="5792724"/>
            <a:ext cx="1601963" cy="1600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7" b="0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15. 协调 LLC 在途事务，最终失效</a:t>
            </a:r>
          </a:p>
        </p:txBody>
      </p:sp>
      <p:sp>
        <p:nvSpPr>
          <p:cNvPr id="75" name="acquired"/>
          <p:cNvSpPr/>
          <p:nvPr/>
        </p:nvSpPr>
        <p:spPr>
          <a:xfrm>
            <a:off x="1700212" y="6440805"/>
            <a:ext cx="1880235" cy="1"/>
          </a:xfrm>
          <a:custGeom>
            <a:avLst/>
            <a:gdLst/>
            <a:ahLst/>
            <a:cxnLst/>
            <a:rect l="0" t="0" r="r" b="b"/>
            <a:pathLst>
              <a:path w="1880235" h="1" fill="none">
                <a:moveTo>
                  <a:pt x="1880235" y="0"/>
                </a:moveTo>
                <a:lnTo>
                  <a:pt x="0" y="0"/>
                </a:lnTo>
              </a:path>
            </a:pathLst>
          </a:custGeom>
          <a:noFill/>
          <a:ln w="11201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6" name="rect-076"/>
          <p:cNvSpPr/>
          <p:nvPr/>
        </p:nvSpPr>
        <p:spPr>
          <a:xfrm>
            <a:off x="1714214" y="6272784"/>
            <a:ext cx="1852232" cy="14001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7" name="text-077: 16. 收齐确认且无错误；CPU 可读结果"/>
          <p:cNvSpPr txBox="1"/>
          <p:nvPr/>
        </p:nvSpPr>
        <p:spPr>
          <a:xfrm>
            <a:off x="1744368" y="6272784"/>
            <a:ext cx="1791924" cy="1600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7" b="0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16. 收齐确认且无错误；CPU 可读结果</a:t>
            </a:r>
          </a:p>
        </p:txBody>
      </p:sp>
      <p:sp>
        <p:nvSpPr>
          <p:cNvPr id="78" name="text-078: 设备持有范围期间：CPU / Ara / 中断代码遵守访问约定；CPU 可处理其"/>
          <p:cNvSpPr txBox="1"/>
          <p:nvPr/>
        </p:nvSpPr>
        <p:spPr>
          <a:xfrm>
            <a:off x="1020128" y="6688516"/>
            <a:ext cx="4014164" cy="16642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设备持有范围期间：CPU / Ara / 中断代码遵守访问约定；CPU 可处理其他独立数据。</a:t>
            </a:r>
          </a:p>
        </p:txBody>
      </p:sp>
      <p:sp>
        <p:nvSpPr>
          <p:cNvPr id="79" name="text-079: 错误或超时：保留上下文及 DDR / GB；停止新增请求，确认旧事务结束或有效隔"/>
          <p:cNvSpPr txBox="1"/>
          <p:nvPr/>
        </p:nvSpPr>
        <p:spPr>
          <a:xfrm>
            <a:off x="1020128" y="6888541"/>
            <a:ext cx="4434586" cy="16642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错误或超时：保留上下文及 DDR / GB；停止新增请求，确认旧事务结束或有效隔离后再复用。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