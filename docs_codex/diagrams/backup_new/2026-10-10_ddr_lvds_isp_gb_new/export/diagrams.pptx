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6552000" cy="409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dr_interconnect-000"/>
          <p:cNvSpPr/>
          <p:nvPr/>
        </p:nvSpPr>
        <p:spPr>
          <a:xfrm>
            <a:off x="0" y="0"/>
            <a:ext cx="6552000" cy="409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ddr_interconnect-001"/>
          <p:cNvSpPr/>
          <p:nvPr/>
        </p:nvSpPr>
        <p:spPr>
          <a:xfrm>
            <a:off x="200200" y="254800"/>
            <a:ext cx="1019200" cy="3094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ddr_interconnect-002: CVA6"/>
          <p:cNvSpPr txBox="1"/>
          <p:nvPr/>
        </p:nvSpPr>
        <p:spPr>
          <a:xfrm>
            <a:off x="484426" y="312858"/>
            <a:ext cx="450749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CVA6</a:t>
            </a:r>
          </a:p>
        </p:txBody>
      </p:sp>
      <p:sp>
        <p:nvSpPr>
          <p:cNvPr id="5" name="ddr_interconnect-003"/>
          <p:cNvSpPr/>
          <p:nvPr/>
        </p:nvSpPr>
        <p:spPr>
          <a:xfrm>
            <a:off x="1565200" y="254800"/>
            <a:ext cx="1019200" cy="3094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dr_interconnect-004: Ara"/>
          <p:cNvSpPr txBox="1"/>
          <p:nvPr/>
        </p:nvSpPr>
        <p:spPr>
          <a:xfrm>
            <a:off x="1911974" y="312858"/>
            <a:ext cx="32565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Ara</a:t>
            </a:r>
          </a:p>
        </p:txBody>
      </p:sp>
      <p:sp>
        <p:nvSpPr>
          <p:cNvPr id="7" name="ddr_interconnect-005"/>
          <p:cNvSpPr/>
          <p:nvPr/>
        </p:nvSpPr>
        <p:spPr>
          <a:xfrm>
            <a:off x="1565200" y="846300"/>
            <a:ext cx="1019200" cy="3094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dr_interconnect-006: Inval. filter"/>
          <p:cNvSpPr txBox="1"/>
          <p:nvPr/>
        </p:nvSpPr>
        <p:spPr>
          <a:xfrm>
            <a:off x="1720817" y="904358"/>
            <a:ext cx="707966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Inval. filter</a:t>
            </a:r>
          </a:p>
        </p:txBody>
      </p:sp>
      <p:sp>
        <p:nvSpPr>
          <p:cNvPr id="9" name="ddr_interconnect-007"/>
          <p:cNvSpPr/>
          <p:nvPr/>
        </p:nvSpPr>
        <p:spPr>
          <a:xfrm>
            <a:off x="2074800" y="564200"/>
            <a:ext cx="1" cy="282100"/>
          </a:xfrm>
          <a:custGeom>
            <a:avLst/>
            <a:gdLst/>
            <a:ahLst/>
            <a:cxnLst/>
            <a:rect l="0" t="0" r="r" b="b"/>
            <a:pathLst>
              <a:path w="1" h="282100">
                <a:moveTo>
                  <a:pt x="0" y="0"/>
                </a:moveTo>
                <a:lnTo>
                  <a:pt x="0" y="2821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ddr_interconnect-008"/>
          <p:cNvSpPr/>
          <p:nvPr/>
        </p:nvSpPr>
        <p:spPr>
          <a:xfrm>
            <a:off x="2049320" y="7917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ddr_interconnect-009"/>
          <p:cNvSpPr/>
          <p:nvPr/>
        </p:nvSpPr>
        <p:spPr>
          <a:xfrm>
            <a:off x="1565200" y="1446900"/>
            <a:ext cx="1019200" cy="309400"/>
          </a:xfrm>
          <a:prstGeom prst="rect">
            <a:avLst/>
          </a:prstGeom>
          <a:noFill/>
          <a:ln w="9100" cap="flat">
            <a:solidFill>
              <a:srgbClr val="222222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ddr_interconnect-010: Addr. split"/>
          <p:cNvSpPr txBox="1"/>
          <p:nvPr/>
        </p:nvSpPr>
        <p:spPr>
          <a:xfrm>
            <a:off x="1731389" y="1504958"/>
            <a:ext cx="68682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Addr. split</a:t>
            </a:r>
          </a:p>
        </p:txBody>
      </p:sp>
      <p:sp>
        <p:nvSpPr>
          <p:cNvPr id="13" name="ddr_interconnect-011"/>
          <p:cNvSpPr/>
          <p:nvPr/>
        </p:nvSpPr>
        <p:spPr>
          <a:xfrm>
            <a:off x="2074800" y="1155700"/>
            <a:ext cx="1" cy="291200"/>
          </a:xfrm>
          <a:custGeom>
            <a:avLst/>
            <a:gdLst/>
            <a:ahLst/>
            <a:cxnLst/>
            <a:rect l="0" t="0" r="r" b="b"/>
            <a:pathLst>
              <a:path w="1" h="291200">
                <a:moveTo>
                  <a:pt x="0" y="0"/>
                </a:moveTo>
                <a:lnTo>
                  <a:pt x="0" y="2912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ddr_interconnect-012"/>
          <p:cNvSpPr/>
          <p:nvPr/>
        </p:nvSpPr>
        <p:spPr>
          <a:xfrm>
            <a:off x="2049320" y="13923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ddr_interconnect-013"/>
          <p:cNvSpPr/>
          <p:nvPr/>
        </p:nvSpPr>
        <p:spPr>
          <a:xfrm>
            <a:off x="1565200" y="2047500"/>
            <a:ext cx="1019200" cy="3094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ddr_interconnect-014: Width conv."/>
          <p:cNvSpPr txBox="1"/>
          <p:nvPr/>
        </p:nvSpPr>
        <p:spPr>
          <a:xfrm>
            <a:off x="1683059" y="2105558"/>
            <a:ext cx="78348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Width conv.</a:t>
            </a:r>
          </a:p>
        </p:txBody>
      </p:sp>
      <p:sp>
        <p:nvSpPr>
          <p:cNvPr id="17" name="ddr_interconnect-015"/>
          <p:cNvSpPr/>
          <p:nvPr/>
        </p:nvSpPr>
        <p:spPr>
          <a:xfrm>
            <a:off x="2074800" y="1756300"/>
            <a:ext cx="1" cy="291200"/>
          </a:xfrm>
          <a:custGeom>
            <a:avLst/>
            <a:gdLst/>
            <a:ahLst/>
            <a:cxnLst/>
            <a:rect l="0" t="0" r="r" b="b"/>
            <a:pathLst>
              <a:path w="1" h="291200">
                <a:moveTo>
                  <a:pt x="0" y="0"/>
                </a:moveTo>
                <a:lnTo>
                  <a:pt x="0" y="2912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ddr_interconnect-016"/>
          <p:cNvSpPr/>
          <p:nvPr/>
        </p:nvSpPr>
        <p:spPr>
          <a:xfrm>
            <a:off x="2049320" y="19929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ddr_interconnect-017"/>
          <p:cNvSpPr/>
          <p:nvPr/>
        </p:nvSpPr>
        <p:spPr>
          <a:xfrm>
            <a:off x="200200" y="2629900"/>
            <a:ext cx="2384200" cy="300300"/>
          </a:xfrm>
          <a:prstGeom prst="rect">
            <a:avLst/>
          </a:prstGeom>
          <a:solidFill>
            <a:srgbClr val="E5F0F4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ddr_interconnect-018: Main AXI Xbar"/>
          <p:cNvSpPr txBox="1"/>
          <p:nvPr/>
        </p:nvSpPr>
        <p:spPr>
          <a:xfrm>
            <a:off x="921432" y="2683408"/>
            <a:ext cx="941736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Main AXI Xbar</a:t>
            </a:r>
          </a:p>
        </p:txBody>
      </p:sp>
      <p:sp>
        <p:nvSpPr>
          <p:cNvPr id="21" name="ddr_interconnect-019"/>
          <p:cNvSpPr/>
          <p:nvPr/>
        </p:nvSpPr>
        <p:spPr>
          <a:xfrm>
            <a:off x="709800" y="564200"/>
            <a:ext cx="1" cy="2065700"/>
          </a:xfrm>
          <a:custGeom>
            <a:avLst/>
            <a:gdLst/>
            <a:ahLst/>
            <a:cxnLst/>
            <a:rect l="0" t="0" r="r" b="b"/>
            <a:pathLst>
              <a:path w="1" h="2065700">
                <a:moveTo>
                  <a:pt x="0" y="0"/>
                </a:moveTo>
                <a:lnTo>
                  <a:pt x="0" y="20657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ddr_interconnect-020"/>
          <p:cNvSpPr/>
          <p:nvPr/>
        </p:nvSpPr>
        <p:spPr>
          <a:xfrm>
            <a:off x="684320" y="25753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ddr_interconnect-021"/>
          <p:cNvSpPr/>
          <p:nvPr/>
        </p:nvSpPr>
        <p:spPr>
          <a:xfrm>
            <a:off x="2074800" y="2356900"/>
            <a:ext cx="1" cy="273000"/>
          </a:xfrm>
          <a:custGeom>
            <a:avLst/>
            <a:gdLst/>
            <a:ahLst/>
            <a:cxnLst/>
            <a:rect l="0" t="0" r="r" b="b"/>
            <a:pathLst>
              <a:path w="1" h="273000">
                <a:moveTo>
                  <a:pt x="0" y="0"/>
                </a:moveTo>
                <a:lnTo>
                  <a:pt x="0" y="2730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ddr_interconnect-022"/>
          <p:cNvSpPr/>
          <p:nvPr/>
        </p:nvSpPr>
        <p:spPr>
          <a:xfrm>
            <a:off x="2049320" y="25753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ddr_interconnect-023"/>
          <p:cNvSpPr/>
          <p:nvPr/>
        </p:nvSpPr>
        <p:spPr>
          <a:xfrm>
            <a:off x="200200" y="3185000"/>
            <a:ext cx="1019200" cy="3094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ddr_interconnect-024: AMO / LRSC"/>
          <p:cNvSpPr txBox="1"/>
          <p:nvPr/>
        </p:nvSpPr>
        <p:spPr>
          <a:xfrm>
            <a:off x="277998" y="3243058"/>
            <a:ext cx="863604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AMO / LRSC</a:t>
            </a:r>
          </a:p>
        </p:txBody>
      </p:sp>
      <p:sp>
        <p:nvSpPr>
          <p:cNvPr id="27" name="ddr_interconnect-025"/>
          <p:cNvSpPr/>
          <p:nvPr/>
        </p:nvSpPr>
        <p:spPr>
          <a:xfrm>
            <a:off x="1565200" y="3185000"/>
            <a:ext cx="1019200" cy="3094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ddr_interconnect-026: LLC / SPM"/>
          <p:cNvSpPr txBox="1"/>
          <p:nvPr/>
        </p:nvSpPr>
        <p:spPr>
          <a:xfrm>
            <a:off x="1703122" y="3243058"/>
            <a:ext cx="743356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LLC / SPM</a:t>
            </a:r>
          </a:p>
        </p:txBody>
      </p:sp>
      <p:sp>
        <p:nvSpPr>
          <p:cNvPr id="29" name="ddr_interconnect-027"/>
          <p:cNvSpPr/>
          <p:nvPr/>
        </p:nvSpPr>
        <p:spPr>
          <a:xfrm>
            <a:off x="709800" y="2930200"/>
            <a:ext cx="1" cy="254800"/>
          </a:xfrm>
          <a:custGeom>
            <a:avLst/>
            <a:gdLst/>
            <a:ahLst/>
            <a:cxnLst/>
            <a:rect l="0" t="0" r="r" b="b"/>
            <a:pathLst>
              <a:path w="1" h="254800">
                <a:moveTo>
                  <a:pt x="0" y="0"/>
                </a:moveTo>
                <a:lnTo>
                  <a:pt x="0" y="2548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ddr_interconnect-028"/>
          <p:cNvSpPr/>
          <p:nvPr/>
        </p:nvSpPr>
        <p:spPr>
          <a:xfrm>
            <a:off x="684320" y="31304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ddr_interconnect-029"/>
          <p:cNvSpPr/>
          <p:nvPr/>
        </p:nvSpPr>
        <p:spPr>
          <a:xfrm>
            <a:off x="1219400" y="3339700"/>
            <a:ext cx="345800" cy="1"/>
          </a:xfrm>
          <a:custGeom>
            <a:avLst/>
            <a:gdLst/>
            <a:ahLst/>
            <a:cxnLst/>
            <a:rect l="0" t="0" r="r" b="b"/>
            <a:pathLst>
              <a:path w="345800" h="1">
                <a:moveTo>
                  <a:pt x="0" y="0"/>
                </a:moveTo>
                <a:lnTo>
                  <a:pt x="3458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ddr_interconnect-030"/>
          <p:cNvSpPr/>
          <p:nvPr/>
        </p:nvSpPr>
        <p:spPr>
          <a:xfrm>
            <a:off x="1510600" y="33142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ddr_interconnect-031"/>
          <p:cNvSpPr/>
          <p:nvPr/>
        </p:nvSpPr>
        <p:spPr>
          <a:xfrm>
            <a:off x="3257800" y="245700"/>
            <a:ext cx="1055600" cy="318500"/>
          </a:xfrm>
          <a:prstGeom prst="rect">
            <a:avLst/>
          </a:prstGeom>
          <a:noFill/>
          <a:ln w="9100" cap="flat">
            <a:solidFill>
              <a:srgbClr val="222222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ddr_interconnect-032: NPU"/>
          <p:cNvSpPr txBox="1"/>
          <p:nvPr/>
        </p:nvSpPr>
        <p:spPr>
          <a:xfrm>
            <a:off x="3587405" y="308308"/>
            <a:ext cx="396390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NPU</a:t>
            </a:r>
          </a:p>
        </p:txBody>
      </p:sp>
      <p:sp>
        <p:nvSpPr>
          <p:cNvPr id="35" name="ddr_interconnect-033"/>
          <p:cNvSpPr/>
          <p:nvPr/>
        </p:nvSpPr>
        <p:spPr>
          <a:xfrm>
            <a:off x="5105100" y="245700"/>
            <a:ext cx="1055600" cy="318500"/>
          </a:xfrm>
          <a:prstGeom prst="rect">
            <a:avLst/>
          </a:prstGeom>
          <a:noFill/>
          <a:ln w="9100" cap="flat">
            <a:solidFill>
              <a:srgbClr val="222222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ddr_interconnect-034: ISP"/>
          <p:cNvSpPr txBox="1"/>
          <p:nvPr/>
        </p:nvSpPr>
        <p:spPr>
          <a:xfrm>
            <a:off x="5466534" y="308308"/>
            <a:ext cx="332733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ISP</a:t>
            </a:r>
          </a:p>
        </p:txBody>
      </p:sp>
      <p:sp>
        <p:nvSpPr>
          <p:cNvPr id="37" name="ddr_interconnect-035"/>
          <p:cNvSpPr/>
          <p:nvPr/>
        </p:nvSpPr>
        <p:spPr>
          <a:xfrm>
            <a:off x="3257800" y="1446900"/>
            <a:ext cx="2902900" cy="309400"/>
          </a:xfrm>
          <a:prstGeom prst="rect">
            <a:avLst/>
          </a:prstGeom>
          <a:solidFill>
            <a:srgbClr val="E5F0F4"/>
          </a:solidFill>
          <a:ln w="9100" cap="flat">
            <a:solidFill>
              <a:srgbClr val="222222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ddr_interconnect-036: GB local routing / arbitration"/>
          <p:cNvSpPr txBox="1"/>
          <p:nvPr/>
        </p:nvSpPr>
        <p:spPr>
          <a:xfrm>
            <a:off x="3856004" y="1504958"/>
            <a:ext cx="170649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GB local routing / arbitration</a:t>
            </a:r>
          </a:p>
        </p:txBody>
      </p:sp>
      <p:sp>
        <p:nvSpPr>
          <p:cNvPr id="39" name="ddr_interconnect-037"/>
          <p:cNvSpPr/>
          <p:nvPr/>
        </p:nvSpPr>
        <p:spPr>
          <a:xfrm>
            <a:off x="3785600" y="564200"/>
            <a:ext cx="1" cy="882700"/>
          </a:xfrm>
          <a:custGeom>
            <a:avLst/>
            <a:gdLst/>
            <a:ahLst/>
            <a:cxnLst/>
            <a:rect l="0" t="0" r="r" b="b"/>
            <a:pathLst>
              <a:path w="1" h="882700">
                <a:moveTo>
                  <a:pt x="0" y="0"/>
                </a:moveTo>
                <a:lnTo>
                  <a:pt x="0" y="882700"/>
                </a:lnTo>
              </a:path>
            </a:pathLst>
          </a:custGeom>
          <a:noFill/>
          <a:ln w="11830" cap="flat">
            <a:solidFill>
              <a:srgbClr val="222222"/>
            </a:solidFill>
            <a:custDash>
              <a:ds d="384615" sp="23076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ddr_interconnect-038"/>
          <p:cNvSpPr/>
          <p:nvPr/>
        </p:nvSpPr>
        <p:spPr>
          <a:xfrm>
            <a:off x="3760120" y="13923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ddr_interconnect-039"/>
          <p:cNvSpPr/>
          <p:nvPr/>
        </p:nvSpPr>
        <p:spPr>
          <a:xfrm>
            <a:off x="5632900" y="564200"/>
            <a:ext cx="1" cy="882700"/>
          </a:xfrm>
          <a:custGeom>
            <a:avLst/>
            <a:gdLst/>
            <a:ahLst/>
            <a:cxnLst/>
            <a:rect l="0" t="0" r="r" b="b"/>
            <a:pathLst>
              <a:path w="1" h="882700">
                <a:moveTo>
                  <a:pt x="0" y="0"/>
                </a:moveTo>
                <a:lnTo>
                  <a:pt x="0" y="882700"/>
                </a:lnTo>
              </a:path>
            </a:pathLst>
          </a:custGeom>
          <a:noFill/>
          <a:ln w="11830" cap="flat">
            <a:solidFill>
              <a:srgbClr val="222222"/>
            </a:solidFill>
            <a:custDash>
              <a:ds d="384615" sp="23076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ddr_interconnect-040"/>
          <p:cNvSpPr/>
          <p:nvPr/>
        </p:nvSpPr>
        <p:spPr>
          <a:xfrm>
            <a:off x="5607420" y="13923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ddr_interconnect-041"/>
          <p:cNvSpPr/>
          <p:nvPr/>
        </p:nvSpPr>
        <p:spPr>
          <a:xfrm>
            <a:off x="2584400" y="1601600"/>
            <a:ext cx="673400" cy="1"/>
          </a:xfrm>
          <a:custGeom>
            <a:avLst/>
            <a:gdLst/>
            <a:ahLst/>
            <a:cxnLst/>
            <a:rect l="0" t="0" r="r" b="b"/>
            <a:pathLst>
              <a:path w="673400" h="1">
                <a:moveTo>
                  <a:pt x="0" y="0"/>
                </a:moveTo>
                <a:lnTo>
                  <a:pt x="673400" y="0"/>
                </a:lnTo>
              </a:path>
            </a:pathLst>
          </a:custGeom>
          <a:noFill/>
          <a:ln w="11830" cap="flat">
            <a:solidFill>
              <a:srgbClr val="17658A"/>
            </a:solidFill>
            <a:custDash>
              <a:ds d="384615" sp="23076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ddr_interconnect-042"/>
          <p:cNvSpPr/>
          <p:nvPr/>
        </p:nvSpPr>
        <p:spPr>
          <a:xfrm>
            <a:off x="3203200" y="15761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1765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ddr_interconnect-043: GB"/>
          <p:cNvSpPr txBox="1"/>
          <p:nvPr/>
        </p:nvSpPr>
        <p:spPr>
          <a:xfrm>
            <a:off x="2785588" y="1355536"/>
            <a:ext cx="289224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17658A"/>
                </a:solidFill>
                <a:latin typeface="Liberation Sans"/>
                <a:ea typeface="Liberation Sans"/>
                <a:cs typeface="Liberation Sans"/>
              </a:rPr>
              <a:t>GB</a:t>
            </a:r>
          </a:p>
        </p:txBody>
      </p:sp>
      <p:sp>
        <p:nvSpPr>
          <p:cNvPr id="46" name="ddr_interconnect-044"/>
          <p:cNvSpPr/>
          <p:nvPr/>
        </p:nvSpPr>
        <p:spPr>
          <a:xfrm>
            <a:off x="3257800" y="2093000"/>
            <a:ext cx="1219400" cy="445900"/>
          </a:xfrm>
          <a:prstGeom prst="rect">
            <a:avLst/>
          </a:prstGeom>
          <a:noFill/>
          <a:ln w="9100" cap="flat">
            <a:solidFill>
              <a:srgbClr val="222222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ddr_interconnect-045: GB SRAM"/>
          <p:cNvSpPr txBox="1"/>
          <p:nvPr/>
        </p:nvSpPr>
        <p:spPr>
          <a:xfrm>
            <a:off x="3510034" y="2141958"/>
            <a:ext cx="714933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GB SRAM</a:t>
            </a:r>
          </a:p>
        </p:txBody>
      </p:sp>
      <p:sp>
        <p:nvSpPr>
          <p:cNvPr id="48" name="ddr_interconnect-046: banked"/>
          <p:cNvSpPr txBox="1"/>
          <p:nvPr/>
        </p:nvSpPr>
        <p:spPr>
          <a:xfrm>
            <a:off x="3594820" y="2296658"/>
            <a:ext cx="545360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banked</a:t>
            </a:r>
          </a:p>
        </p:txBody>
      </p:sp>
      <p:sp>
        <p:nvSpPr>
          <p:cNvPr id="49" name="ddr_interconnect-047"/>
          <p:cNvSpPr/>
          <p:nvPr/>
        </p:nvSpPr>
        <p:spPr>
          <a:xfrm>
            <a:off x="3867500" y="1756300"/>
            <a:ext cx="1" cy="336700"/>
          </a:xfrm>
          <a:custGeom>
            <a:avLst/>
            <a:gdLst/>
            <a:ahLst/>
            <a:cxnLst/>
            <a:rect l="0" t="0" r="r" b="b"/>
            <a:pathLst>
              <a:path w="1" h="336700">
                <a:moveTo>
                  <a:pt x="0" y="0"/>
                </a:moveTo>
                <a:lnTo>
                  <a:pt x="0" y="336700"/>
                </a:lnTo>
              </a:path>
            </a:pathLst>
          </a:custGeom>
          <a:noFill/>
          <a:ln w="11830" cap="flat">
            <a:solidFill>
              <a:srgbClr val="222222"/>
            </a:solidFill>
            <a:custDash>
              <a:ds d="384615" sp="23076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ddr_interconnect-048"/>
          <p:cNvSpPr/>
          <p:nvPr/>
        </p:nvSpPr>
        <p:spPr>
          <a:xfrm>
            <a:off x="3842020" y="20384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ddr_interconnect-049"/>
          <p:cNvSpPr/>
          <p:nvPr/>
        </p:nvSpPr>
        <p:spPr>
          <a:xfrm>
            <a:off x="3842020" y="17563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0"/>
                </a:moveTo>
                <a:lnTo>
                  <a:pt x="50960" y="54600"/>
                </a:lnTo>
                <a:lnTo>
                  <a:pt x="0" y="5460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ddr_interconnect-050"/>
          <p:cNvSpPr/>
          <p:nvPr/>
        </p:nvSpPr>
        <p:spPr>
          <a:xfrm>
            <a:off x="4941300" y="2093000"/>
            <a:ext cx="1219400" cy="445900"/>
          </a:xfrm>
          <a:prstGeom prst="rect">
            <a:avLst/>
          </a:prstGeom>
          <a:noFill/>
          <a:ln w="9100" cap="flat">
            <a:solidFill>
              <a:srgbClr val="222222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ddr_interconnect-051: GB / NPU DMA"/>
          <p:cNvSpPr txBox="1"/>
          <p:nvPr/>
        </p:nvSpPr>
        <p:spPr>
          <a:xfrm>
            <a:off x="5084326" y="2229136"/>
            <a:ext cx="933347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GB / NPU DMA</a:t>
            </a:r>
          </a:p>
        </p:txBody>
      </p:sp>
      <p:sp>
        <p:nvSpPr>
          <p:cNvPr id="54" name="ddr_interconnect-052"/>
          <p:cNvSpPr/>
          <p:nvPr/>
        </p:nvSpPr>
        <p:spPr>
          <a:xfrm>
            <a:off x="5551000" y="1756300"/>
            <a:ext cx="1" cy="336700"/>
          </a:xfrm>
          <a:custGeom>
            <a:avLst/>
            <a:gdLst/>
            <a:ahLst/>
            <a:cxnLst/>
            <a:rect l="0" t="0" r="r" b="b"/>
            <a:pathLst>
              <a:path w="1" h="336700">
                <a:moveTo>
                  <a:pt x="0" y="0"/>
                </a:moveTo>
                <a:lnTo>
                  <a:pt x="0" y="336700"/>
                </a:lnTo>
              </a:path>
            </a:pathLst>
          </a:custGeom>
          <a:noFill/>
          <a:ln w="11830" cap="flat">
            <a:solidFill>
              <a:srgbClr val="222222"/>
            </a:solidFill>
            <a:custDash>
              <a:ds d="384615" sp="23076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ddr_interconnect-053"/>
          <p:cNvSpPr/>
          <p:nvPr/>
        </p:nvSpPr>
        <p:spPr>
          <a:xfrm>
            <a:off x="5525520" y="20384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ddr_interconnect-054"/>
          <p:cNvSpPr/>
          <p:nvPr/>
        </p:nvSpPr>
        <p:spPr>
          <a:xfrm>
            <a:off x="5525520" y="17563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0"/>
                </a:moveTo>
                <a:lnTo>
                  <a:pt x="50960" y="54600"/>
                </a:lnTo>
                <a:lnTo>
                  <a:pt x="0" y="5460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ddr_interconnect-055"/>
          <p:cNvSpPr/>
          <p:nvPr/>
        </p:nvSpPr>
        <p:spPr>
          <a:xfrm>
            <a:off x="4941300" y="3003000"/>
            <a:ext cx="1219400" cy="327600"/>
          </a:xfrm>
          <a:prstGeom prst="rect">
            <a:avLst/>
          </a:prstGeom>
          <a:noFill/>
          <a:ln w="9100" cap="flat">
            <a:solidFill>
              <a:srgbClr val="222222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ddr_interconnect-056: Frame DMA"/>
          <p:cNvSpPr txBox="1"/>
          <p:nvPr/>
        </p:nvSpPr>
        <p:spPr>
          <a:xfrm>
            <a:off x="5144010" y="3070158"/>
            <a:ext cx="81398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Frame DMA</a:t>
            </a:r>
          </a:p>
        </p:txBody>
      </p:sp>
      <p:sp>
        <p:nvSpPr>
          <p:cNvPr id="59" name="ddr_interconnect-057"/>
          <p:cNvSpPr/>
          <p:nvPr/>
        </p:nvSpPr>
        <p:spPr>
          <a:xfrm>
            <a:off x="3048500" y="3676400"/>
            <a:ext cx="3112200" cy="273000"/>
          </a:xfrm>
          <a:prstGeom prst="rect">
            <a:avLst/>
          </a:prstGeom>
          <a:noFill/>
          <a:ln w="9100" cap="flat">
            <a:solidFill>
              <a:srgbClr val="222222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ddr_interconnect-058: DDR controller → PHY / DDR"/>
          <p:cNvSpPr txBox="1"/>
          <p:nvPr/>
        </p:nvSpPr>
        <p:spPr>
          <a:xfrm>
            <a:off x="3712985" y="3739736"/>
            <a:ext cx="167403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DDR controller → PHY / DDR</a:t>
            </a:r>
          </a:p>
        </p:txBody>
      </p:sp>
      <p:sp>
        <p:nvSpPr>
          <p:cNvPr id="61" name="ddr_interconnect-059"/>
          <p:cNvSpPr/>
          <p:nvPr/>
        </p:nvSpPr>
        <p:spPr>
          <a:xfrm>
            <a:off x="2584400" y="3339700"/>
            <a:ext cx="464100" cy="473200"/>
          </a:xfrm>
          <a:custGeom>
            <a:avLst/>
            <a:gdLst/>
            <a:ahLst/>
            <a:cxnLst/>
            <a:rect l="0" t="0" r="r" b="b"/>
            <a:pathLst>
              <a:path w="464100" h="473200">
                <a:moveTo>
                  <a:pt x="0" y="0"/>
                </a:moveTo>
                <a:lnTo>
                  <a:pt x="336700" y="0"/>
                </a:lnTo>
                <a:lnTo>
                  <a:pt x="336700" y="473200"/>
                </a:lnTo>
                <a:lnTo>
                  <a:pt x="464100" y="4732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ddr_interconnect-060"/>
          <p:cNvSpPr/>
          <p:nvPr/>
        </p:nvSpPr>
        <p:spPr>
          <a:xfrm>
            <a:off x="2993900" y="37874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ddr_interconnect-061: S0"/>
          <p:cNvSpPr txBox="1"/>
          <p:nvPr/>
        </p:nvSpPr>
        <p:spPr>
          <a:xfrm>
            <a:off x="2680405" y="3512236"/>
            <a:ext cx="2629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S0</a:t>
            </a:r>
          </a:p>
        </p:txBody>
      </p:sp>
      <p:sp>
        <p:nvSpPr>
          <p:cNvPr id="64" name="ddr_interconnect-062"/>
          <p:cNvSpPr/>
          <p:nvPr/>
        </p:nvSpPr>
        <p:spPr>
          <a:xfrm>
            <a:off x="4595500" y="2538900"/>
            <a:ext cx="955500" cy="1137500"/>
          </a:xfrm>
          <a:custGeom>
            <a:avLst/>
            <a:gdLst/>
            <a:ahLst/>
            <a:cxnLst/>
            <a:rect l="0" t="0" r="r" b="b"/>
            <a:pathLst>
              <a:path w="955500" h="1137500">
                <a:moveTo>
                  <a:pt x="955500" y="0"/>
                </a:moveTo>
                <a:lnTo>
                  <a:pt x="0" y="0"/>
                </a:lnTo>
                <a:lnTo>
                  <a:pt x="0" y="1137500"/>
                </a:lnTo>
              </a:path>
            </a:pathLst>
          </a:custGeom>
          <a:noFill/>
          <a:ln w="11830" cap="flat">
            <a:solidFill>
              <a:srgbClr val="222222"/>
            </a:solidFill>
            <a:custDash>
              <a:ds d="384615" sp="23076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ddr_interconnect-063"/>
          <p:cNvSpPr/>
          <p:nvPr/>
        </p:nvSpPr>
        <p:spPr>
          <a:xfrm>
            <a:off x="4570020" y="36218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ddr_interconnect-064: S1"/>
          <p:cNvSpPr txBox="1"/>
          <p:nvPr/>
        </p:nvSpPr>
        <p:spPr>
          <a:xfrm>
            <a:off x="4345705" y="3457636"/>
            <a:ext cx="2629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S1</a:t>
            </a:r>
          </a:p>
        </p:txBody>
      </p:sp>
      <p:sp>
        <p:nvSpPr>
          <p:cNvPr id="67" name="ddr_interconnect-065"/>
          <p:cNvSpPr/>
          <p:nvPr/>
        </p:nvSpPr>
        <p:spPr>
          <a:xfrm>
            <a:off x="5551000" y="3330600"/>
            <a:ext cx="1" cy="345800"/>
          </a:xfrm>
          <a:custGeom>
            <a:avLst/>
            <a:gdLst/>
            <a:ahLst/>
            <a:cxnLst/>
            <a:rect l="0" t="0" r="r" b="b"/>
            <a:pathLst>
              <a:path w="1" h="345800">
                <a:moveTo>
                  <a:pt x="0" y="0"/>
                </a:moveTo>
                <a:lnTo>
                  <a:pt x="0" y="345800"/>
                </a:lnTo>
              </a:path>
            </a:pathLst>
          </a:custGeom>
          <a:noFill/>
          <a:ln w="11830" cap="flat">
            <a:solidFill>
              <a:srgbClr val="222222"/>
            </a:solidFill>
            <a:custDash>
              <a:ds d="384615" sp="230769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_interconnect-066"/>
          <p:cNvSpPr/>
          <p:nvPr/>
        </p:nvSpPr>
        <p:spPr>
          <a:xfrm>
            <a:off x="5525520" y="36218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_interconnect-067: S2"/>
          <p:cNvSpPr txBox="1"/>
          <p:nvPr/>
        </p:nvSpPr>
        <p:spPr>
          <a:xfrm>
            <a:off x="5574205" y="3457636"/>
            <a:ext cx="262990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image_gb_dataflow-000"/>
          <p:cNvSpPr/>
          <p:nvPr/>
        </p:nvSpPr>
        <p:spPr>
          <a:xfrm>
            <a:off x="0" y="500500"/>
            <a:ext cx="6552000" cy="30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mage_gb_dataflow-001"/>
          <p:cNvSpPr/>
          <p:nvPr/>
        </p:nvSpPr>
        <p:spPr>
          <a:xfrm>
            <a:off x="163800" y="1010100"/>
            <a:ext cx="837200" cy="4459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image_gb_dataflow-002: LVDS RX"/>
          <p:cNvSpPr txBox="1"/>
          <p:nvPr/>
        </p:nvSpPr>
        <p:spPr>
          <a:xfrm>
            <a:off x="250840" y="1136408"/>
            <a:ext cx="663120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LVDS RX</a:t>
            </a:r>
          </a:p>
        </p:txBody>
      </p:sp>
      <p:sp>
        <p:nvSpPr>
          <p:cNvPr id="5" name="image_gb_dataflow-003"/>
          <p:cNvSpPr/>
          <p:nvPr/>
        </p:nvSpPr>
        <p:spPr>
          <a:xfrm>
            <a:off x="1283100" y="1010100"/>
            <a:ext cx="955500" cy="4459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image_gb_dataflow-004: CDC / FIFO"/>
          <p:cNvSpPr txBox="1"/>
          <p:nvPr/>
        </p:nvSpPr>
        <p:spPr>
          <a:xfrm>
            <a:off x="1360990" y="1136408"/>
            <a:ext cx="799719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CDC / FIFO</a:t>
            </a:r>
          </a:p>
        </p:txBody>
      </p:sp>
      <p:sp>
        <p:nvSpPr>
          <p:cNvPr id="7" name="image_gb_dataflow-005"/>
          <p:cNvSpPr/>
          <p:nvPr/>
        </p:nvSpPr>
        <p:spPr>
          <a:xfrm>
            <a:off x="2693600" y="1010100"/>
            <a:ext cx="1110200" cy="4459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image_gb_dataflow-006: ISP"/>
          <p:cNvSpPr txBox="1"/>
          <p:nvPr/>
        </p:nvSpPr>
        <p:spPr>
          <a:xfrm>
            <a:off x="3082334" y="1059058"/>
            <a:ext cx="332733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ISP</a:t>
            </a:r>
          </a:p>
        </p:txBody>
      </p:sp>
      <p:sp>
        <p:nvSpPr>
          <p:cNvPr id="9" name="image_gb_dataflow-007: line buffers"/>
          <p:cNvSpPr txBox="1"/>
          <p:nvPr/>
        </p:nvSpPr>
        <p:spPr>
          <a:xfrm>
            <a:off x="2874562" y="1213758"/>
            <a:ext cx="748276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line buffers</a:t>
            </a:r>
          </a:p>
        </p:txBody>
      </p:sp>
      <p:sp>
        <p:nvSpPr>
          <p:cNvPr id="10" name="image_gb_dataflow-008"/>
          <p:cNvSpPr/>
          <p:nvPr/>
        </p:nvSpPr>
        <p:spPr>
          <a:xfrm>
            <a:off x="1001000" y="1228500"/>
            <a:ext cx="282100" cy="1"/>
          </a:xfrm>
          <a:custGeom>
            <a:avLst/>
            <a:gdLst/>
            <a:ahLst/>
            <a:cxnLst/>
            <a:rect l="0" t="0" r="r" b="b"/>
            <a:pathLst>
              <a:path w="282100" h="1">
                <a:moveTo>
                  <a:pt x="0" y="0"/>
                </a:moveTo>
                <a:lnTo>
                  <a:pt x="2821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image_gb_dataflow-009"/>
          <p:cNvSpPr/>
          <p:nvPr/>
        </p:nvSpPr>
        <p:spPr>
          <a:xfrm>
            <a:off x="1228500" y="12030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image_gb_dataflow-010"/>
          <p:cNvSpPr/>
          <p:nvPr/>
        </p:nvSpPr>
        <p:spPr>
          <a:xfrm>
            <a:off x="2238600" y="1228500"/>
            <a:ext cx="455000" cy="1"/>
          </a:xfrm>
          <a:custGeom>
            <a:avLst/>
            <a:gdLst/>
            <a:ahLst/>
            <a:cxnLst/>
            <a:rect l="0" t="0" r="r" b="b"/>
            <a:pathLst>
              <a:path w="455000" h="1">
                <a:moveTo>
                  <a:pt x="0" y="0"/>
                </a:moveTo>
                <a:lnTo>
                  <a:pt x="4550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image_gb_dataflow-011"/>
          <p:cNvSpPr/>
          <p:nvPr/>
        </p:nvSpPr>
        <p:spPr>
          <a:xfrm>
            <a:off x="2639000" y="12030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image_gb_dataflow-012"/>
          <p:cNvSpPr/>
          <p:nvPr/>
        </p:nvSpPr>
        <p:spPr>
          <a:xfrm>
            <a:off x="2426970" y="1207570"/>
            <a:ext cx="41860" cy="41860"/>
          </a:xfrm>
          <a:prstGeom prst="ellipse">
            <a:avLst/>
          </a:pr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image_gb_dataflow-013"/>
          <p:cNvSpPr/>
          <p:nvPr/>
        </p:nvSpPr>
        <p:spPr>
          <a:xfrm>
            <a:off x="2447900" y="746200"/>
            <a:ext cx="1956500" cy="482300"/>
          </a:xfrm>
          <a:custGeom>
            <a:avLst/>
            <a:gdLst/>
            <a:ahLst/>
            <a:cxnLst/>
            <a:rect l="0" t="0" r="r" b="b"/>
            <a:pathLst>
              <a:path w="1956500" h="482300">
                <a:moveTo>
                  <a:pt x="0" y="482300"/>
                </a:moveTo>
                <a:lnTo>
                  <a:pt x="0" y="0"/>
                </a:lnTo>
                <a:lnTo>
                  <a:pt x="1956500" y="0"/>
                </a:lnTo>
                <a:lnTo>
                  <a:pt x="1956500" y="376740"/>
                </a:lnTo>
              </a:path>
            </a:pathLst>
          </a:custGeom>
          <a:noFill/>
          <a:ln w="11830" cap="flat">
            <a:solidFill>
              <a:srgbClr val="1765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image_gb_dataflow-014"/>
          <p:cNvSpPr/>
          <p:nvPr/>
        </p:nvSpPr>
        <p:spPr>
          <a:xfrm>
            <a:off x="4378920" y="106834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1765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image_gb_dataflow-015: RAW"/>
          <p:cNvSpPr txBox="1"/>
          <p:nvPr/>
        </p:nvSpPr>
        <p:spPr>
          <a:xfrm>
            <a:off x="3226654" y="554736"/>
            <a:ext cx="389892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17658A"/>
                </a:solidFill>
                <a:latin typeface="Liberation Sans"/>
                <a:ea typeface="Liberation Sans"/>
                <a:cs typeface="Liberation Sans"/>
              </a:rPr>
              <a:t>RAW</a:t>
            </a:r>
          </a:p>
        </p:txBody>
      </p:sp>
      <p:sp>
        <p:nvSpPr>
          <p:cNvPr id="18" name="image_gb_dataflow-016"/>
          <p:cNvSpPr/>
          <p:nvPr/>
        </p:nvSpPr>
        <p:spPr>
          <a:xfrm>
            <a:off x="4295200" y="1101100"/>
            <a:ext cx="364000" cy="582400"/>
          </a:xfrm>
          <a:custGeom>
            <a:avLst/>
            <a:gdLst/>
            <a:ahLst/>
            <a:cxnLst/>
            <a:rect l="0" t="0" r="r" b="b"/>
            <a:pathLst>
              <a:path w="364000" h="582400">
                <a:moveTo>
                  <a:pt x="0" y="0"/>
                </a:moveTo>
                <a:lnTo>
                  <a:pt x="364000" y="72800"/>
                </a:lnTo>
                <a:lnTo>
                  <a:pt x="364000" y="509600"/>
                </a:lnTo>
                <a:lnTo>
                  <a:pt x="0" y="582400"/>
                </a:lnTo>
                <a:close/>
              </a:path>
            </a:pathLst>
          </a:custGeom>
          <a:solidFill>
            <a:srgbClr val="FFFFFF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mage_gb_dataflow-017: sel"/>
          <p:cNvSpPr txBox="1"/>
          <p:nvPr/>
        </p:nvSpPr>
        <p:spPr>
          <a:xfrm>
            <a:off x="4342442" y="1337336"/>
            <a:ext cx="269516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sel</a:t>
            </a:r>
          </a:p>
        </p:txBody>
      </p:sp>
      <p:sp>
        <p:nvSpPr>
          <p:cNvPr id="20" name="image_gb_dataflow-018"/>
          <p:cNvSpPr/>
          <p:nvPr/>
        </p:nvSpPr>
        <p:spPr>
          <a:xfrm>
            <a:off x="3803800" y="1228500"/>
            <a:ext cx="491400" cy="1"/>
          </a:xfrm>
          <a:custGeom>
            <a:avLst/>
            <a:gdLst/>
            <a:ahLst/>
            <a:cxnLst/>
            <a:rect l="0" t="0" r="r" b="b"/>
            <a:pathLst>
              <a:path w="491400" h="1">
                <a:moveTo>
                  <a:pt x="0" y="0"/>
                </a:moveTo>
                <a:lnTo>
                  <a:pt x="4914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image_gb_dataflow-019"/>
          <p:cNvSpPr/>
          <p:nvPr/>
        </p:nvSpPr>
        <p:spPr>
          <a:xfrm>
            <a:off x="4240600" y="12030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mage_gb_dataflow-020: frame select"/>
          <p:cNvSpPr txBox="1"/>
          <p:nvPr/>
        </p:nvSpPr>
        <p:spPr>
          <a:xfrm>
            <a:off x="4086796" y="1728636"/>
            <a:ext cx="762608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frame select</a:t>
            </a:r>
          </a:p>
        </p:txBody>
      </p:sp>
      <p:sp>
        <p:nvSpPr>
          <p:cNvPr id="23" name="image_gb_dataflow-021"/>
          <p:cNvSpPr/>
          <p:nvPr/>
        </p:nvSpPr>
        <p:spPr>
          <a:xfrm>
            <a:off x="5041400" y="1192100"/>
            <a:ext cx="1328600" cy="4459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image_gb_dataflow-022: Frame DMA"/>
          <p:cNvSpPr txBox="1"/>
          <p:nvPr/>
        </p:nvSpPr>
        <p:spPr>
          <a:xfrm>
            <a:off x="5298710" y="1241058"/>
            <a:ext cx="813981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Frame DMA</a:t>
            </a:r>
          </a:p>
        </p:txBody>
      </p:sp>
      <p:sp>
        <p:nvSpPr>
          <p:cNvPr id="25" name="image_gb_dataflow-023: DDR S2"/>
          <p:cNvSpPr txBox="1"/>
          <p:nvPr/>
        </p:nvSpPr>
        <p:spPr>
          <a:xfrm>
            <a:off x="5408379" y="1395758"/>
            <a:ext cx="59464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DDR S2</a:t>
            </a:r>
          </a:p>
        </p:txBody>
      </p:sp>
      <p:sp>
        <p:nvSpPr>
          <p:cNvPr id="26" name="image_gb_dataflow-024"/>
          <p:cNvSpPr/>
          <p:nvPr/>
        </p:nvSpPr>
        <p:spPr>
          <a:xfrm>
            <a:off x="4659200" y="1392300"/>
            <a:ext cx="382200" cy="1"/>
          </a:xfrm>
          <a:custGeom>
            <a:avLst/>
            <a:gdLst/>
            <a:ahLst/>
            <a:cxnLst/>
            <a:rect l="0" t="0" r="r" b="b"/>
            <a:pathLst>
              <a:path w="382200" h="1">
                <a:moveTo>
                  <a:pt x="0" y="0"/>
                </a:moveTo>
                <a:lnTo>
                  <a:pt x="3822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image_gb_dataflow-025"/>
          <p:cNvSpPr/>
          <p:nvPr/>
        </p:nvSpPr>
        <p:spPr>
          <a:xfrm>
            <a:off x="4986800" y="13668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image_gb_dataflow-026"/>
          <p:cNvSpPr/>
          <p:nvPr/>
        </p:nvSpPr>
        <p:spPr>
          <a:xfrm>
            <a:off x="163800" y="2238600"/>
            <a:ext cx="837200" cy="3458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image_gb_dataflow-027: Ara"/>
          <p:cNvSpPr txBox="1"/>
          <p:nvPr/>
        </p:nvSpPr>
        <p:spPr>
          <a:xfrm>
            <a:off x="419574" y="2314858"/>
            <a:ext cx="32565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Ara</a:t>
            </a:r>
          </a:p>
        </p:txBody>
      </p:sp>
      <p:sp>
        <p:nvSpPr>
          <p:cNvPr id="30" name="image_gb_dataflow-028"/>
          <p:cNvSpPr/>
          <p:nvPr/>
        </p:nvSpPr>
        <p:spPr>
          <a:xfrm>
            <a:off x="163800" y="2984800"/>
            <a:ext cx="837200" cy="3458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image_gb_dataflow-029: NPU"/>
          <p:cNvSpPr txBox="1"/>
          <p:nvPr/>
        </p:nvSpPr>
        <p:spPr>
          <a:xfrm>
            <a:off x="384205" y="3061058"/>
            <a:ext cx="396390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NPU</a:t>
            </a:r>
          </a:p>
        </p:txBody>
      </p:sp>
      <p:sp>
        <p:nvSpPr>
          <p:cNvPr id="32" name="image_gb_dataflow-030"/>
          <p:cNvSpPr/>
          <p:nvPr/>
        </p:nvSpPr>
        <p:spPr>
          <a:xfrm>
            <a:off x="1810900" y="2238600"/>
            <a:ext cx="1774500" cy="1092000"/>
          </a:xfrm>
          <a:prstGeom prst="rect">
            <a:avLst/>
          </a:prstGeom>
          <a:solidFill>
            <a:srgbClr val="E5F0F4"/>
          </a:solidFill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image_gb_dataflow-031: GB routing"/>
          <p:cNvSpPr txBox="1"/>
          <p:nvPr/>
        </p:nvSpPr>
        <p:spPr>
          <a:xfrm>
            <a:off x="2329955" y="2610608"/>
            <a:ext cx="736389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GB routing</a:t>
            </a:r>
          </a:p>
        </p:txBody>
      </p:sp>
      <p:sp>
        <p:nvSpPr>
          <p:cNvPr id="34" name="image_gb_dataflow-032: + banked SRAM"/>
          <p:cNvSpPr txBox="1"/>
          <p:nvPr/>
        </p:nvSpPr>
        <p:spPr>
          <a:xfrm>
            <a:off x="2168836" y="2765308"/>
            <a:ext cx="1058629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+ banked SRAM</a:t>
            </a:r>
          </a:p>
        </p:txBody>
      </p:sp>
      <p:sp>
        <p:nvSpPr>
          <p:cNvPr id="35" name="image_gb_dataflow-033"/>
          <p:cNvSpPr/>
          <p:nvPr/>
        </p:nvSpPr>
        <p:spPr>
          <a:xfrm>
            <a:off x="1001000" y="2411500"/>
            <a:ext cx="809900" cy="1"/>
          </a:xfrm>
          <a:custGeom>
            <a:avLst/>
            <a:gdLst/>
            <a:ahLst/>
            <a:cxnLst/>
            <a:rect l="0" t="0" r="r" b="b"/>
            <a:pathLst>
              <a:path w="809900" h="1">
                <a:moveTo>
                  <a:pt x="0" y="0"/>
                </a:moveTo>
                <a:lnTo>
                  <a:pt x="8099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image_gb_dataflow-034"/>
          <p:cNvSpPr/>
          <p:nvPr/>
        </p:nvSpPr>
        <p:spPr>
          <a:xfrm>
            <a:off x="1756300" y="23860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image_gb_dataflow-035"/>
          <p:cNvSpPr/>
          <p:nvPr/>
        </p:nvSpPr>
        <p:spPr>
          <a:xfrm>
            <a:off x="1001000" y="23860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0" y="25480"/>
                </a:moveTo>
                <a:lnTo>
                  <a:pt x="54600" y="0"/>
                </a:lnTo>
                <a:lnTo>
                  <a:pt x="54600" y="5096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image_gb_dataflow-036"/>
          <p:cNvSpPr/>
          <p:nvPr/>
        </p:nvSpPr>
        <p:spPr>
          <a:xfrm>
            <a:off x="1001000" y="3157700"/>
            <a:ext cx="809900" cy="1"/>
          </a:xfrm>
          <a:custGeom>
            <a:avLst/>
            <a:gdLst/>
            <a:ahLst/>
            <a:cxnLst/>
            <a:rect l="0" t="0" r="r" b="b"/>
            <a:pathLst>
              <a:path w="809900" h="1">
                <a:moveTo>
                  <a:pt x="0" y="0"/>
                </a:moveTo>
                <a:lnTo>
                  <a:pt x="8099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image_gb_dataflow-037"/>
          <p:cNvSpPr/>
          <p:nvPr/>
        </p:nvSpPr>
        <p:spPr>
          <a:xfrm>
            <a:off x="1756300" y="31322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image_gb_dataflow-038"/>
          <p:cNvSpPr/>
          <p:nvPr/>
        </p:nvSpPr>
        <p:spPr>
          <a:xfrm>
            <a:off x="1001000" y="31322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0" y="25480"/>
                </a:moveTo>
                <a:lnTo>
                  <a:pt x="54600" y="0"/>
                </a:lnTo>
                <a:lnTo>
                  <a:pt x="54600" y="5096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image_gb_dataflow-039"/>
          <p:cNvSpPr/>
          <p:nvPr/>
        </p:nvSpPr>
        <p:spPr>
          <a:xfrm>
            <a:off x="3248700" y="1456000"/>
            <a:ext cx="1" cy="782600"/>
          </a:xfrm>
          <a:custGeom>
            <a:avLst/>
            <a:gdLst/>
            <a:ahLst/>
            <a:cxnLst/>
            <a:rect l="0" t="0" r="r" b="b"/>
            <a:pathLst>
              <a:path w="1" h="782600">
                <a:moveTo>
                  <a:pt x="0" y="0"/>
                </a:moveTo>
                <a:lnTo>
                  <a:pt x="0" y="78260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image_gb_dataflow-040"/>
          <p:cNvSpPr/>
          <p:nvPr/>
        </p:nvSpPr>
        <p:spPr>
          <a:xfrm>
            <a:off x="3223220" y="21840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54600"/>
                </a:moveTo>
                <a:lnTo>
                  <a:pt x="0" y="0"/>
                </a:lnTo>
                <a:lnTo>
                  <a:pt x="5096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image_gb_dataflow-041"/>
          <p:cNvSpPr/>
          <p:nvPr/>
        </p:nvSpPr>
        <p:spPr>
          <a:xfrm>
            <a:off x="3223220" y="1456000"/>
            <a:ext cx="50960" cy="54600"/>
          </a:xfrm>
          <a:custGeom>
            <a:avLst/>
            <a:gdLst/>
            <a:ahLst/>
            <a:cxnLst/>
            <a:rect l="0" t="0" r="r" b="b"/>
            <a:pathLst>
              <a:path w="50960" h="54600">
                <a:moveTo>
                  <a:pt x="25480" y="0"/>
                </a:moveTo>
                <a:lnTo>
                  <a:pt x="50960" y="54600"/>
                </a:lnTo>
                <a:lnTo>
                  <a:pt x="0" y="5460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image_gb_dataflow-042: workspace"/>
          <p:cNvSpPr txBox="1"/>
          <p:nvPr/>
        </p:nvSpPr>
        <p:spPr>
          <a:xfrm>
            <a:off x="3321500" y="1947036"/>
            <a:ext cx="683737" cy="189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1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workspace</a:t>
            </a:r>
          </a:p>
        </p:txBody>
      </p:sp>
      <p:sp>
        <p:nvSpPr>
          <p:cNvPr id="45" name="image_gb_dataflow-043"/>
          <p:cNvSpPr/>
          <p:nvPr/>
        </p:nvSpPr>
        <p:spPr>
          <a:xfrm>
            <a:off x="4422600" y="2629900"/>
            <a:ext cx="1856400" cy="445900"/>
          </a:xfrm>
          <a:prstGeom prst="rect">
            <a:avLst/>
          </a:prstGeom>
          <a:noFill/>
          <a:ln w="910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image_gb_dataflow-044: GB / NPU DMA"/>
          <p:cNvSpPr txBox="1"/>
          <p:nvPr/>
        </p:nvSpPr>
        <p:spPr>
          <a:xfrm>
            <a:off x="4848238" y="2678858"/>
            <a:ext cx="1005123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GB / NPU DMA</a:t>
            </a:r>
          </a:p>
        </p:txBody>
      </p:sp>
      <p:sp>
        <p:nvSpPr>
          <p:cNvPr id="47" name="image_gb_dataflow-045: DDR S1"/>
          <p:cNvSpPr txBox="1"/>
          <p:nvPr/>
        </p:nvSpPr>
        <p:spPr>
          <a:xfrm>
            <a:off x="5053479" y="2833558"/>
            <a:ext cx="594642" cy="20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3" b="0" i="0">
                <a:solidFill>
                  <a:srgbClr val="222222"/>
                </a:solidFill>
                <a:latin typeface="Liberation Sans"/>
                <a:ea typeface="Liberation Sans"/>
                <a:cs typeface="Liberation Sans"/>
              </a:rPr>
              <a:t>DDR S1</a:t>
            </a:r>
          </a:p>
        </p:txBody>
      </p:sp>
      <p:sp>
        <p:nvSpPr>
          <p:cNvPr id="48" name="image_gb_dataflow-046"/>
          <p:cNvSpPr/>
          <p:nvPr/>
        </p:nvSpPr>
        <p:spPr>
          <a:xfrm>
            <a:off x="3585400" y="2848300"/>
            <a:ext cx="837200" cy="1"/>
          </a:xfrm>
          <a:custGeom>
            <a:avLst/>
            <a:gdLst/>
            <a:ahLst/>
            <a:cxnLst/>
            <a:rect l="0" t="0" r="r" b="b"/>
            <a:pathLst>
              <a:path w="837200" h="1">
                <a:moveTo>
                  <a:pt x="0" y="0"/>
                </a:moveTo>
                <a:lnTo>
                  <a:pt x="837200" y="0"/>
                </a:lnTo>
              </a:path>
            </a:pathLst>
          </a:custGeom>
          <a:noFill/>
          <a:ln w="11830" cap="flat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image_gb_dataflow-047"/>
          <p:cNvSpPr/>
          <p:nvPr/>
        </p:nvSpPr>
        <p:spPr>
          <a:xfrm>
            <a:off x="4368000" y="28228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54600" y="25480"/>
                </a:moveTo>
                <a:lnTo>
                  <a:pt x="0" y="5096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mage_gb_dataflow-048"/>
          <p:cNvSpPr/>
          <p:nvPr/>
        </p:nvSpPr>
        <p:spPr>
          <a:xfrm>
            <a:off x="3585400" y="2822820"/>
            <a:ext cx="54600" cy="50960"/>
          </a:xfrm>
          <a:custGeom>
            <a:avLst/>
            <a:gdLst/>
            <a:ahLst/>
            <a:cxnLst/>
            <a:rect l="0" t="0" r="r" b="b"/>
            <a:pathLst>
              <a:path w="54600" h="50960">
                <a:moveTo>
                  <a:pt x="0" y="25480"/>
                </a:moveTo>
                <a:lnTo>
                  <a:pt x="54600" y="0"/>
                </a:lnTo>
                <a:lnTo>
                  <a:pt x="54600" y="5096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