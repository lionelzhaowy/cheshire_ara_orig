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462280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885444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8"/>
          <p:cNvSpPr/>
          <p:nvPr/>
        </p:nvSpPr>
        <p:spPr>
          <a:xfrm>
            <a:off x="3769360" y="25247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0"/>
          <p:cNvSpPr/>
          <p:nvPr/>
        </p:nvSpPr>
        <p:spPr>
          <a:xfrm>
            <a:off x="3769360" y="37693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2"/>
          <p:cNvSpPr/>
          <p:nvPr/>
        </p:nvSpPr>
        <p:spPr>
          <a:xfrm>
            <a:off x="3769360" y="1315720"/>
            <a:ext cx="6863080" cy="3698240"/>
          </a:xfrm>
          <a:custGeom>
            <a:avLst/>
            <a:gdLst/>
            <a:ahLst/>
            <a:cxnLst/>
            <a:rect l="0" t="0" r="r" b="b"/>
            <a:pathLst>
              <a:path w="6863080" h="3698240" fill="none">
                <a:moveTo>
                  <a:pt x="0" y="3698240"/>
                </a:moveTo>
                <a:lnTo>
                  <a:pt x="426720" y="3698240"/>
                </a:lnTo>
                <a:lnTo>
                  <a:pt x="426720" y="0"/>
                </a:lnTo>
                <a:lnTo>
                  <a:pt x="6863080" y="0"/>
                </a:lnTo>
                <a:lnTo>
                  <a:pt x="6863080" y="81788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4: 配置何时生效：源码选择、展开结构与运行状态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配置何时生效：源码选择、展开结构与运行状态</a:t>
            </a:r>
          </a:p>
        </p:txBody>
      </p:sp>
      <p:sp>
        <p:nvSpPr>
          <p:cNvPr id="12" name="text-015: 同一个选项名可能属于不同阶段；软件写寄存器不能凭空增加 RTL 实例。"/>
          <p:cNvSpPr txBox="1"/>
          <p:nvPr/>
        </p:nvSpPr>
        <p:spPr>
          <a:xfrm>
            <a:off x="483616" y="676778"/>
            <a:ext cx="56024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同一个选项名可能属于不同阶段；软件写寄存器不能凭空增加 RTL 实例。</a:t>
            </a:r>
          </a:p>
        </p:txBody>
      </p:sp>
      <p:sp>
        <p:nvSpPr>
          <p:cNvPr id="13" name="text-016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7: 源码：cheshire.mk；cheshire_pkg；gen_cva6_cfg"/>
          <p:cNvSpPr txBox="1"/>
          <p:nvPr/>
        </p:nvSpPr>
        <p:spPr>
          <a:xfrm>
            <a:off x="341376" y="7726477"/>
            <a:ext cx="497128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源码：cheshire.mk；cheshire_pkg；gen_cva6_cfg；sw/sw.mk</a:t>
            </a:r>
          </a:p>
        </p:txBody>
      </p:sp>
      <p:sp>
        <p:nvSpPr>
          <p:cNvPr id="15" name="text-018: 构建输入"/>
          <p:cNvSpPr txBox="1"/>
          <p:nvPr/>
        </p:nvSpPr>
        <p:spPr>
          <a:xfrm>
            <a:off x="519176" y="15148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构建输入</a:t>
            </a:r>
          </a:p>
        </p:txBody>
      </p:sp>
      <p:sp>
        <p:nvSpPr>
          <p:cNvPr id="16" name="text-019: 展开后的硬件"/>
          <p:cNvSpPr txBox="1"/>
          <p:nvPr/>
        </p:nvSpPr>
        <p:spPr>
          <a:xfrm>
            <a:off x="4750816" y="151485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展开后的硬件</a:t>
            </a:r>
          </a:p>
        </p:txBody>
      </p:sp>
      <p:sp>
        <p:nvSpPr>
          <p:cNvPr id="17" name="text-020: 程序与运行状态"/>
          <p:cNvSpPr txBox="1"/>
          <p:nvPr/>
        </p:nvSpPr>
        <p:spPr>
          <a:xfrm>
            <a:off x="8982456" y="151485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程序与运行状态</a:t>
            </a:r>
          </a:p>
        </p:txBody>
      </p:sp>
      <p:sp>
        <p:nvSpPr>
          <p:cNvPr id="18" name="rect-021"/>
          <p:cNvSpPr/>
          <p:nvPr/>
        </p:nvSpPr>
        <p:spPr>
          <a:xfrm>
            <a:off x="56896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2"/>
          <p:cNvSpPr/>
          <p:nvPr/>
        </p:nvSpPr>
        <p:spPr>
          <a:xfrm>
            <a:off x="568960" y="21336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3: CPU profile / 宏 / targets"/>
          <p:cNvSpPr txBox="1"/>
          <p:nvPr/>
        </p:nvSpPr>
        <p:spPr>
          <a:xfrm>
            <a:off x="689864" y="2161479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profile / 宏 / targets</a:t>
            </a:r>
          </a:p>
        </p:txBody>
      </p:sp>
      <p:sp>
        <p:nvSpPr>
          <p:cNvPr id="21" name="rect-024"/>
          <p:cNvSpPr/>
          <p:nvPr/>
        </p:nvSpPr>
        <p:spPr>
          <a:xfrm>
            <a:off x="56896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5"/>
          <p:cNvSpPr/>
          <p:nvPr/>
        </p:nvSpPr>
        <p:spPr>
          <a:xfrm>
            <a:off x="568960" y="33782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6: SoC Cfg 与 Ara lanes / VLEN"/>
          <p:cNvSpPr txBox="1"/>
          <p:nvPr/>
        </p:nvSpPr>
        <p:spPr>
          <a:xfrm>
            <a:off x="689864" y="3406079"/>
            <a:ext cx="33746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SoC Cfg 与 Ara lanes / VLEN</a:t>
            </a:r>
          </a:p>
        </p:txBody>
      </p:sp>
      <p:sp>
        <p:nvSpPr>
          <p:cNvPr id="24" name="rect-027"/>
          <p:cNvSpPr/>
          <p:nvPr/>
        </p:nvSpPr>
        <p:spPr>
          <a:xfrm>
            <a:off x="56896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8"/>
          <p:cNvSpPr/>
          <p:nvPr/>
        </p:nvSpPr>
        <p:spPr>
          <a:xfrm>
            <a:off x="568960" y="46228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9: 软件 -march / -mabi / .ld"/>
          <p:cNvSpPr txBox="1"/>
          <p:nvPr/>
        </p:nvSpPr>
        <p:spPr>
          <a:xfrm>
            <a:off x="689864" y="4650679"/>
            <a:ext cx="30787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 -march / -mabi / .ld</a:t>
            </a:r>
          </a:p>
        </p:txBody>
      </p:sp>
      <p:sp>
        <p:nvSpPr>
          <p:cNvPr id="27" name="rect-030"/>
          <p:cNvSpPr/>
          <p:nvPr/>
        </p:nvSpPr>
        <p:spPr>
          <a:xfrm>
            <a:off x="480060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1"/>
          <p:cNvSpPr/>
          <p:nvPr/>
        </p:nvSpPr>
        <p:spPr>
          <a:xfrm>
            <a:off x="4800600" y="21336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2: 有效 CVA6Cfg 与派生参数"/>
          <p:cNvSpPr txBox="1"/>
          <p:nvPr/>
        </p:nvSpPr>
        <p:spPr>
          <a:xfrm>
            <a:off x="4921504" y="2161479"/>
            <a:ext cx="25610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有效 CVA6Cfg 与派生参数</a:t>
            </a:r>
          </a:p>
        </p:txBody>
      </p:sp>
      <p:sp>
        <p:nvSpPr>
          <p:cNvPr id="30" name="rect-033"/>
          <p:cNvSpPr/>
          <p:nvPr/>
        </p:nvSpPr>
        <p:spPr>
          <a:xfrm>
            <a:off x="480060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4"/>
          <p:cNvSpPr/>
          <p:nvPr/>
        </p:nvSpPr>
        <p:spPr>
          <a:xfrm>
            <a:off x="4800600" y="33782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5: 端口数、索引、地址规则"/>
          <p:cNvSpPr txBox="1"/>
          <p:nvPr/>
        </p:nvSpPr>
        <p:spPr>
          <a:xfrm>
            <a:off x="4921504" y="340607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端口数、索引、地址规则</a:t>
            </a:r>
          </a:p>
        </p:txBody>
      </p:sp>
      <p:sp>
        <p:nvSpPr>
          <p:cNvPr id="33" name="rect-036"/>
          <p:cNvSpPr/>
          <p:nvPr/>
        </p:nvSpPr>
        <p:spPr>
          <a:xfrm>
            <a:off x="480060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7"/>
          <p:cNvSpPr/>
          <p:nvPr/>
        </p:nvSpPr>
        <p:spPr>
          <a:xfrm>
            <a:off x="4800600" y="46228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8: 实例存在性与接口位宽"/>
          <p:cNvSpPr txBox="1"/>
          <p:nvPr/>
        </p:nvSpPr>
        <p:spPr>
          <a:xfrm>
            <a:off x="4921504" y="46506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实例存在性与接口位宽</a:t>
            </a:r>
          </a:p>
        </p:txBody>
      </p:sp>
      <p:sp>
        <p:nvSpPr>
          <p:cNvPr id="36" name="rect-039"/>
          <p:cNvSpPr/>
          <p:nvPr/>
        </p:nvSpPr>
        <p:spPr>
          <a:xfrm>
            <a:off x="903224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0"/>
          <p:cNvSpPr/>
          <p:nvPr/>
        </p:nvSpPr>
        <p:spPr>
          <a:xfrm>
            <a:off x="9032240" y="21336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1: ELF 指令与 ABI / 内存布局"/>
          <p:cNvSpPr txBox="1"/>
          <p:nvPr/>
        </p:nvSpPr>
        <p:spPr>
          <a:xfrm>
            <a:off x="9153144" y="2161479"/>
            <a:ext cx="28014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ELF 指令与 ABI / 内存布局</a:t>
            </a:r>
          </a:p>
        </p:txBody>
      </p:sp>
      <p:sp>
        <p:nvSpPr>
          <p:cNvPr id="39" name="rect-042"/>
          <p:cNvSpPr/>
          <p:nvPr/>
        </p:nvSpPr>
        <p:spPr>
          <a:xfrm>
            <a:off x="903224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3"/>
          <p:cNvSpPr/>
          <p:nvPr/>
        </p:nvSpPr>
        <p:spPr>
          <a:xfrm>
            <a:off x="9032240" y="33782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4: VS / FS、设备 MMIO 状态"/>
          <p:cNvSpPr txBox="1"/>
          <p:nvPr/>
        </p:nvSpPr>
        <p:spPr>
          <a:xfrm>
            <a:off x="9153144" y="3406079"/>
            <a:ext cx="26719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VS / FS、设备 MMIO 状态</a:t>
            </a:r>
          </a:p>
        </p:txBody>
      </p:sp>
      <p:sp>
        <p:nvSpPr>
          <p:cNvPr id="42" name="rect-045"/>
          <p:cNvSpPr/>
          <p:nvPr/>
        </p:nvSpPr>
        <p:spPr>
          <a:xfrm>
            <a:off x="903224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6"/>
          <p:cNvSpPr/>
          <p:nvPr/>
        </p:nvSpPr>
        <p:spPr>
          <a:xfrm>
            <a:off x="9032240" y="46228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7: 存储就绪、有效栈、装载入口"/>
          <p:cNvSpPr txBox="1"/>
          <p:nvPr/>
        </p:nvSpPr>
        <p:spPr>
          <a:xfrm>
            <a:off x="9153144" y="465067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存储就绪、有效栈、装载入口</a:t>
            </a:r>
          </a:p>
        </p:txBody>
      </p:sp>
      <p:sp>
        <p:nvSpPr>
          <p:cNvPr id="45" name="rect-048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9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0: 例：增加 AXI 发起端会牵动系统结构"/>
          <p:cNvSpPr txBox="1"/>
          <p:nvPr/>
        </p:nvSpPr>
        <p:spPr>
          <a:xfrm>
            <a:off x="512064" y="6535359"/>
            <a:ext cx="33746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例：增加 AXI 发起端会牵动系统结构</a:t>
            </a:r>
          </a:p>
        </p:txBody>
      </p:sp>
      <p:sp>
        <p:nvSpPr>
          <p:cNvPr id="48" name="text-051: 默认 6 来源，加 Ara 为 7；再增加两个外部来源为 9，来源前缀由 3 位"/>
          <p:cNvSpPr txBox="1"/>
          <p:nvPr/>
        </p:nvSpPr>
        <p:spPr>
          <a:xfrm>
            <a:off x="512064" y="6822115"/>
            <a:ext cx="90279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 6 来源，加 Ara 为 7；再增加两个外部来源为 9，来源前缀由 3 位增到 4 位。有效组合仍需检查软件与启动契约。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