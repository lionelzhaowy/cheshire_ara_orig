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1493520"/>
            <a:ext cx="12019280" cy="2311400"/>
          </a:xfrm>
          <a:prstGeom prst="roundRect">
            <a:avLst>
              <a:gd name="adj" fmla="val 369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391160" y="4338320"/>
            <a:ext cx="12019280" cy="1849120"/>
          </a:xfrm>
          <a:prstGeom prst="roundRect">
            <a:avLst>
              <a:gd name="adj" fmla="val 461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12928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608076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903224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312928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608076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7"/>
          <p:cNvSpPr/>
          <p:nvPr/>
        </p:nvSpPr>
        <p:spPr>
          <a:xfrm>
            <a:off x="903224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9: I2C EEPROM 与 SPI NOR：控制器动作映射到器件协议"/>
          <p:cNvSpPr txBox="1"/>
          <p:nvPr/>
        </p:nvSpPr>
        <p:spPr>
          <a:xfrm>
            <a:off x="483616" y="271109"/>
            <a:ext cx="700247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I2C EEPROM 与 SPI NOR：控制器动作映射到器件协议</a:t>
            </a:r>
          </a:p>
        </p:txBody>
      </p:sp>
      <p:sp>
        <p:nvSpPr>
          <p:cNvPr id="14" name="text-020: 固定读 16 字节；下图表示协议阶段与片选边界，不表示按比例绘制的电气时序。"/>
          <p:cNvSpPr txBox="1"/>
          <p:nvPr/>
        </p:nvSpPr>
        <p:spPr>
          <a:xfrm>
            <a:off x="483616" y="676778"/>
            <a:ext cx="61504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固定读 16 字节；下图表示协议阶段与片选边界，不表示按比例绘制的电气时序。</a:t>
            </a:r>
          </a:p>
        </p:txBody>
      </p:sp>
      <p:sp>
        <p:nvSpPr>
          <p:cNvPr id="15" name="text-021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2: 依据：本地 EEPROM HAL 的 STOP/START 流程；SPI NOR"/>
          <p:cNvSpPr txBox="1"/>
          <p:nvPr/>
        </p:nvSpPr>
        <p:spPr>
          <a:xfrm>
            <a:off x="341376" y="7726477"/>
            <a:ext cx="66710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EEPROM HAL 的 STOP/START 流程；SPI NOR 0x13 读命令；VIP 预填值 0x9a</a:t>
            </a:r>
          </a:p>
        </p:txBody>
      </p:sp>
      <p:sp>
        <p:nvSpPr>
          <p:cNvPr id="17" name="text-023: I2C：SDA / SCL 开漏，需要器件地址和内部地址"/>
          <p:cNvSpPr txBox="1"/>
          <p:nvPr/>
        </p:nvSpPr>
        <p:spPr>
          <a:xfrm>
            <a:off x="519176" y="1550416"/>
            <a:ext cx="43472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I2C：SDA / SCL 开漏，需要器件地址和内部地址</a:t>
            </a:r>
          </a:p>
        </p:txBody>
      </p:sp>
      <p:sp>
        <p:nvSpPr>
          <p:cNvPr id="18" name="rect-024"/>
          <p:cNvSpPr/>
          <p:nvPr/>
        </p:nvSpPr>
        <p:spPr>
          <a:xfrm>
            <a:off x="60452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5"/>
          <p:cNvSpPr/>
          <p:nvPr/>
        </p:nvSpPr>
        <p:spPr>
          <a:xfrm>
            <a:off x="60452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6: START + 写址"/>
          <p:cNvSpPr txBox="1"/>
          <p:nvPr/>
        </p:nvSpPr>
        <p:spPr>
          <a:xfrm>
            <a:off x="725424" y="2268159"/>
            <a:ext cx="15162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START + 写址</a:t>
            </a:r>
          </a:p>
        </p:txBody>
      </p:sp>
      <p:sp>
        <p:nvSpPr>
          <p:cNvPr id="21" name="text-027: 选择 EEPROM"/>
          <p:cNvSpPr txBox="1"/>
          <p:nvPr/>
        </p:nvSpPr>
        <p:spPr>
          <a:xfrm>
            <a:off x="725424" y="2554915"/>
            <a:ext cx="118130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EEPROM</a:t>
            </a:r>
          </a:p>
        </p:txBody>
      </p:sp>
      <p:sp>
        <p:nvSpPr>
          <p:cNvPr id="22" name="rect-028"/>
          <p:cNvSpPr/>
          <p:nvPr/>
        </p:nvSpPr>
        <p:spPr>
          <a:xfrm>
            <a:off x="355600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9"/>
          <p:cNvSpPr/>
          <p:nvPr/>
        </p:nvSpPr>
        <p:spPr>
          <a:xfrm>
            <a:off x="355600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30: 16 位内部地址"/>
          <p:cNvSpPr txBox="1"/>
          <p:nvPr/>
        </p:nvSpPr>
        <p:spPr>
          <a:xfrm>
            <a:off x="3676904" y="2268159"/>
            <a:ext cx="14700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16 位内部地址</a:t>
            </a:r>
          </a:p>
        </p:txBody>
      </p:sp>
      <p:sp>
        <p:nvSpPr>
          <p:cNvPr id="25" name="text-031: 设定器件读指针"/>
          <p:cNvSpPr txBox="1"/>
          <p:nvPr/>
        </p:nvSpPr>
        <p:spPr>
          <a:xfrm>
            <a:off x="3676904" y="25549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设定器件读指针</a:t>
            </a:r>
          </a:p>
        </p:txBody>
      </p:sp>
      <p:sp>
        <p:nvSpPr>
          <p:cNvPr id="26" name="rect-032"/>
          <p:cNvSpPr/>
          <p:nvPr/>
        </p:nvSpPr>
        <p:spPr>
          <a:xfrm>
            <a:off x="650748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3"/>
          <p:cNvSpPr/>
          <p:nvPr/>
        </p:nvSpPr>
        <p:spPr>
          <a:xfrm>
            <a:off x="650748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4: STOP；新 START"/>
          <p:cNvSpPr txBox="1"/>
          <p:nvPr/>
        </p:nvSpPr>
        <p:spPr>
          <a:xfrm>
            <a:off x="6628384" y="2268159"/>
            <a:ext cx="17566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STOP；新 START</a:t>
            </a:r>
          </a:p>
        </p:txBody>
      </p:sp>
      <p:sp>
        <p:nvSpPr>
          <p:cNvPr id="29" name="text-035: 本地 HAL 行为"/>
          <p:cNvSpPr txBox="1"/>
          <p:nvPr/>
        </p:nvSpPr>
        <p:spPr>
          <a:xfrm>
            <a:off x="6628384" y="2554915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HAL 行为</a:t>
            </a:r>
          </a:p>
        </p:txBody>
      </p:sp>
      <p:sp>
        <p:nvSpPr>
          <p:cNvPr id="30" name="rect-036"/>
          <p:cNvSpPr/>
          <p:nvPr/>
        </p:nvSpPr>
        <p:spPr>
          <a:xfrm>
            <a:off x="945896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7"/>
          <p:cNvSpPr/>
          <p:nvPr/>
        </p:nvSpPr>
        <p:spPr>
          <a:xfrm>
            <a:off x="945896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8: 读址 + 16 字节"/>
          <p:cNvSpPr txBox="1"/>
          <p:nvPr/>
        </p:nvSpPr>
        <p:spPr>
          <a:xfrm>
            <a:off x="9579864" y="2268159"/>
            <a:ext cx="16457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读址 + 16 字节</a:t>
            </a:r>
          </a:p>
        </p:txBody>
      </p:sp>
      <p:sp>
        <p:nvSpPr>
          <p:cNvPr id="33" name="text-039: 接收并检查数据"/>
          <p:cNvSpPr txBox="1"/>
          <p:nvPr/>
        </p:nvSpPr>
        <p:spPr>
          <a:xfrm>
            <a:off x="9579864" y="25549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接收并检查数据</a:t>
            </a:r>
          </a:p>
        </p:txBody>
      </p:sp>
      <p:sp>
        <p:nvSpPr>
          <p:cNvPr id="34" name="text-040: SPI NOR：控制器主动驱动 SCK；一次 CS1 有效覆盖命令、地址和读数据"/>
          <p:cNvSpPr txBox="1"/>
          <p:nvPr/>
        </p:nvSpPr>
        <p:spPr>
          <a:xfrm>
            <a:off x="519176" y="4395216"/>
            <a:ext cx="629412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SPI NOR：控制器主动驱动 SCK；一次 CS1 有效覆盖命令、地址和读数据</a:t>
            </a:r>
          </a:p>
        </p:txBody>
      </p:sp>
      <p:sp>
        <p:nvSpPr>
          <p:cNvPr id="35" name="rect-041"/>
          <p:cNvSpPr/>
          <p:nvPr/>
        </p:nvSpPr>
        <p:spPr>
          <a:xfrm>
            <a:off x="60452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2"/>
          <p:cNvSpPr/>
          <p:nvPr/>
        </p:nvSpPr>
        <p:spPr>
          <a:xfrm>
            <a:off x="60452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3: CS1 有效"/>
          <p:cNvSpPr txBox="1"/>
          <p:nvPr/>
        </p:nvSpPr>
        <p:spPr>
          <a:xfrm>
            <a:off x="725424" y="493515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CS1 有效</a:t>
            </a:r>
          </a:p>
        </p:txBody>
      </p:sp>
      <p:sp>
        <p:nvSpPr>
          <p:cNvPr id="38" name="text-044: 选择 Flash"/>
          <p:cNvSpPr txBox="1"/>
          <p:nvPr/>
        </p:nvSpPr>
        <p:spPr>
          <a:xfrm>
            <a:off x="725424" y="5221915"/>
            <a:ext cx="10796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Flash</a:t>
            </a:r>
          </a:p>
        </p:txBody>
      </p:sp>
      <p:sp>
        <p:nvSpPr>
          <p:cNvPr id="39" name="rect-045"/>
          <p:cNvSpPr/>
          <p:nvPr/>
        </p:nvSpPr>
        <p:spPr>
          <a:xfrm>
            <a:off x="355600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6"/>
          <p:cNvSpPr/>
          <p:nvPr/>
        </p:nvSpPr>
        <p:spPr>
          <a:xfrm>
            <a:off x="355600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7: 命令 0x13"/>
          <p:cNvSpPr txBox="1"/>
          <p:nvPr/>
        </p:nvSpPr>
        <p:spPr>
          <a:xfrm>
            <a:off x="3676904" y="4935159"/>
            <a:ext cx="11557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命令 0x13</a:t>
            </a:r>
          </a:p>
        </p:txBody>
      </p:sp>
      <p:sp>
        <p:nvSpPr>
          <p:cNvPr id="42" name="text-048: 四字节地址读"/>
          <p:cNvSpPr txBox="1"/>
          <p:nvPr/>
        </p:nvSpPr>
        <p:spPr>
          <a:xfrm>
            <a:off x="367690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四字节地址读</a:t>
            </a:r>
          </a:p>
        </p:txBody>
      </p:sp>
      <p:sp>
        <p:nvSpPr>
          <p:cNvPr id="43" name="rect-049"/>
          <p:cNvSpPr/>
          <p:nvPr/>
        </p:nvSpPr>
        <p:spPr>
          <a:xfrm>
            <a:off x="650748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50"/>
          <p:cNvSpPr/>
          <p:nvPr/>
        </p:nvSpPr>
        <p:spPr>
          <a:xfrm>
            <a:off x="650748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51: 四字节地址"/>
          <p:cNvSpPr txBox="1"/>
          <p:nvPr/>
        </p:nvSpPr>
        <p:spPr>
          <a:xfrm>
            <a:off x="6628384" y="49351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四字节地址</a:t>
            </a:r>
          </a:p>
        </p:txBody>
      </p:sp>
      <p:sp>
        <p:nvSpPr>
          <p:cNvPr id="46" name="text-052: 指定读取起点"/>
          <p:cNvSpPr txBox="1"/>
          <p:nvPr/>
        </p:nvSpPr>
        <p:spPr>
          <a:xfrm>
            <a:off x="662838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指定读取起点</a:t>
            </a:r>
          </a:p>
        </p:txBody>
      </p:sp>
      <p:sp>
        <p:nvSpPr>
          <p:cNvPr id="47" name="rect-053"/>
          <p:cNvSpPr/>
          <p:nvPr/>
        </p:nvSpPr>
        <p:spPr>
          <a:xfrm>
            <a:off x="945896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4"/>
          <p:cNvSpPr/>
          <p:nvPr/>
        </p:nvSpPr>
        <p:spPr>
          <a:xfrm>
            <a:off x="945896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5: RX 16 字节"/>
          <p:cNvSpPr txBox="1"/>
          <p:nvPr/>
        </p:nvSpPr>
        <p:spPr>
          <a:xfrm>
            <a:off x="9579864" y="493515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RX 16 字节</a:t>
            </a:r>
          </a:p>
        </p:txBody>
      </p:sp>
      <p:sp>
        <p:nvSpPr>
          <p:cNvPr id="50" name="text-056: 检查预期内容"/>
          <p:cNvSpPr txBox="1"/>
          <p:nvPr/>
        </p:nvSpPr>
        <p:spPr>
          <a:xfrm>
            <a:off x="957986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检查预期内容</a:t>
            </a:r>
          </a:p>
        </p:txBody>
      </p:sp>
      <p:sp>
        <p:nvSpPr>
          <p:cNvPr id="51" name="rect-057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8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9: 器件协议与平台支持分别验证"/>
          <p:cNvSpPr txBox="1"/>
          <p:nvPr/>
        </p:nvSpPr>
        <p:spPr>
          <a:xfrm>
            <a:off x="512064" y="653535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器件协议与平台支持分别验证</a:t>
            </a:r>
          </a:p>
        </p:txBody>
      </p:sp>
      <p:sp>
        <p:nvSpPr>
          <p:cNvPr id="54" name="text-060: EEPROM 当前流程不能标成 repeated START；SD 虽共用 SP"/>
          <p:cNvSpPr txBox="1"/>
          <p:nvPr/>
        </p:nvSpPr>
        <p:spPr>
          <a:xfrm>
            <a:off x="512064" y="6822115"/>
            <a:ext cx="83708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EEPROM 当前流程不能标成 repeated START；SD 虽共用 SPI 控制器，但使用不同命令、响应与块校验协议。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