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4630400" cy="292608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1"/>
          <p:cNvSpPr/>
          <p:nvPr/>
        </p:nvSpPr>
        <p:spPr>
          <a:xfrm>
            <a:off x="548640" y="777240"/>
            <a:ext cx="4754880" cy="1874520"/>
          </a:xfrm>
          <a:prstGeom prst="roundRect">
            <a:avLst>
              <a:gd name="adj" fmla="val 2926"/>
            </a:avLst>
          </a:prstGeom>
          <a:solidFill>
            <a:srgbClr val="EAF3FA"/>
          </a:solidFill>
          <a:ln w="14630" cap="flat">
            <a:solidFill>
              <a:srgbClr val="19304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d2: 片外 eMMC · 断电保存参数"/>
          <p:cNvSpPr txBox="1"/>
          <p:nvPr/>
        </p:nvSpPr>
        <p:spPr>
          <a:xfrm>
            <a:off x="749808" y="803940"/>
            <a:ext cx="3075370" cy="38039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72" b="1" i="0">
                <a:solidFill>
                  <a:srgbClr val="193047"/>
                </a:solidFill>
                <a:latin typeface="Microsoft YaHei"/>
                <a:ea typeface="Microsoft YaHei"/>
                <a:cs typeface="Microsoft YaHei"/>
              </a:rPr>
              <a:t>片外 eMMC · 断电保存参数</a:t>
            </a:r>
          </a:p>
        </p:txBody>
      </p:sp>
      <p:sp>
        <p:nvSpPr>
          <p:cNvPr id="4" name="d3"/>
          <p:cNvSpPr/>
          <p:nvPr/>
        </p:nvSpPr>
        <p:spPr>
          <a:xfrm>
            <a:off x="777240" y="1307592"/>
            <a:ext cx="1600200" cy="1078992"/>
          </a:xfrm>
          <a:prstGeom prst="roundRect">
            <a:avLst>
              <a:gd name="adj" fmla="val 5084"/>
            </a:avLst>
          </a:prstGeom>
          <a:solidFill>
            <a:srgbClr val="D6E7F5"/>
          </a:solidFill>
          <a:ln w="14630" cap="flat">
            <a:solidFill>
              <a:srgbClr val="19304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d4: NAND 阵列"/>
          <p:cNvSpPr txBox="1"/>
          <p:nvPr/>
        </p:nvSpPr>
        <p:spPr>
          <a:xfrm>
            <a:off x="852228" y="1388425"/>
            <a:ext cx="1441080" cy="39502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44" b="1" i="0">
                <a:solidFill>
                  <a:srgbClr val="193047"/>
                </a:solidFill>
                <a:latin typeface="Microsoft YaHei"/>
                <a:ea typeface="Microsoft YaHei"/>
                <a:cs typeface="Microsoft YaHei"/>
              </a:rPr>
              <a:t>NAND 阵列</a:t>
            </a:r>
          </a:p>
        </p:txBody>
      </p:sp>
      <p:sp>
        <p:nvSpPr>
          <p:cNvPr id="6" name="d5: 校正参数"/>
          <p:cNvSpPr txBox="1"/>
          <p:nvPr/>
        </p:nvSpPr>
        <p:spPr>
          <a:xfrm>
            <a:off x="1001268" y="1801368"/>
            <a:ext cx="1143000" cy="3657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93047"/>
                </a:solidFill>
                <a:latin typeface="Microsoft YaHei"/>
                <a:ea typeface="Microsoft YaHei"/>
                <a:cs typeface="Microsoft YaHei"/>
              </a:rPr>
              <a:t>校正参数</a:t>
            </a:r>
          </a:p>
        </p:txBody>
      </p:sp>
      <p:sp>
        <p:nvSpPr>
          <p:cNvPr id="7" name="d6"/>
          <p:cNvSpPr/>
          <p:nvPr/>
        </p:nvSpPr>
        <p:spPr>
          <a:xfrm>
            <a:off x="2880360" y="1307592"/>
            <a:ext cx="2194560" cy="1078992"/>
          </a:xfrm>
          <a:prstGeom prst="roundRect">
            <a:avLst>
              <a:gd name="adj" fmla="val 5084"/>
            </a:avLst>
          </a:prstGeom>
          <a:solidFill>
            <a:srgbClr val="FFFFFF"/>
          </a:solidFill>
          <a:ln w="14630" cap="flat">
            <a:solidFill>
              <a:srgbClr val="19304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d7: 内部管理控制器"/>
          <p:cNvSpPr txBox="1"/>
          <p:nvPr/>
        </p:nvSpPr>
        <p:spPr>
          <a:xfrm>
            <a:off x="3026664" y="1334292"/>
            <a:ext cx="1901952" cy="38039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72" b="1" i="0">
                <a:solidFill>
                  <a:srgbClr val="193047"/>
                </a:solidFill>
                <a:latin typeface="Microsoft YaHei"/>
                <a:ea typeface="Microsoft YaHei"/>
                <a:cs typeface="Microsoft YaHei"/>
              </a:rPr>
              <a:t>内部管理控制器</a:t>
            </a:r>
          </a:p>
        </p:txBody>
      </p:sp>
      <p:sp>
        <p:nvSpPr>
          <p:cNvPr id="9" name="d8: 纠错 / 坏块管理"/>
          <p:cNvSpPr txBox="1"/>
          <p:nvPr/>
        </p:nvSpPr>
        <p:spPr>
          <a:xfrm>
            <a:off x="3086743" y="1683228"/>
            <a:ext cx="1781794" cy="3511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28" b="0" i="0">
                <a:solidFill>
                  <a:srgbClr val="193047"/>
                </a:solidFill>
                <a:latin typeface="Microsoft YaHei"/>
                <a:ea typeface="Microsoft YaHei"/>
                <a:cs typeface="Microsoft YaHei"/>
              </a:rPr>
              <a:t>纠错 / 坏块管理</a:t>
            </a:r>
          </a:p>
        </p:txBody>
      </p:sp>
      <p:sp>
        <p:nvSpPr>
          <p:cNvPr id="10" name="d9: 磨损均衡 / 地址映射"/>
          <p:cNvSpPr txBox="1"/>
          <p:nvPr/>
        </p:nvSpPr>
        <p:spPr>
          <a:xfrm>
            <a:off x="2959820" y="1995587"/>
            <a:ext cx="2035640" cy="32186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84" b="0" i="0">
                <a:solidFill>
                  <a:srgbClr val="193047"/>
                </a:solidFill>
                <a:latin typeface="Microsoft YaHei"/>
                <a:ea typeface="Microsoft YaHei"/>
                <a:cs typeface="Microsoft YaHei"/>
              </a:rPr>
              <a:t>磨损均衡 / 地址映射</a:t>
            </a:r>
          </a:p>
        </p:txBody>
      </p:sp>
      <p:sp>
        <p:nvSpPr>
          <p:cNvPr id="11" name="d10"/>
          <p:cNvSpPr/>
          <p:nvPr/>
        </p:nvSpPr>
        <p:spPr>
          <a:xfrm>
            <a:off x="2377440" y="1847088"/>
            <a:ext cx="502920" cy="1"/>
          </a:xfrm>
          <a:custGeom>
            <a:avLst/>
            <a:gdLst/>
            <a:ahLst/>
            <a:cxnLst/>
            <a:rect l="0" t="0" r="r" b="b"/>
            <a:pathLst>
              <a:path w="502920" h="1" fill="none">
                <a:moveTo>
                  <a:pt x="0" y="0"/>
                </a:moveTo>
                <a:lnTo>
                  <a:pt x="502920" y="0"/>
                </a:lnTo>
              </a:path>
            </a:pathLst>
          </a:custGeom>
          <a:noFill/>
          <a:ln w="25603" cap="flat">
            <a:solidFill>
              <a:srgbClr val="246DA0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d11"/>
          <p:cNvSpPr/>
          <p:nvPr/>
        </p:nvSpPr>
        <p:spPr>
          <a:xfrm>
            <a:off x="6537960" y="1307592"/>
            <a:ext cx="2331720" cy="1078992"/>
          </a:xfrm>
          <a:prstGeom prst="roundRect">
            <a:avLst>
              <a:gd name="adj" fmla="val 5084"/>
            </a:avLst>
          </a:prstGeom>
          <a:solidFill>
            <a:srgbClr val="E4F2ED"/>
          </a:solidFill>
          <a:ln w="14630" cap="flat">
            <a:solidFill>
              <a:srgbClr val="193047"/>
            </a:solidFill>
            <a:custDash>
              <a:ds d="500000" sp="312500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d12: eMMC 主机"/>
          <p:cNvSpPr txBox="1"/>
          <p:nvPr/>
        </p:nvSpPr>
        <p:spPr>
          <a:xfrm>
            <a:off x="6918765" y="1341973"/>
            <a:ext cx="1560967" cy="40965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1" i="0">
                <a:solidFill>
                  <a:srgbClr val="193047"/>
                </a:solidFill>
                <a:latin typeface="Microsoft YaHei"/>
                <a:ea typeface="Microsoft YaHei"/>
                <a:cs typeface="Microsoft YaHei"/>
              </a:rPr>
              <a:t>eMMC 主机</a:t>
            </a:r>
          </a:p>
        </p:txBody>
      </p:sp>
      <p:sp>
        <p:nvSpPr>
          <p:cNvPr id="14" name="d13: 控制器 + DMA"/>
          <p:cNvSpPr txBox="1"/>
          <p:nvPr/>
        </p:nvSpPr>
        <p:spPr>
          <a:xfrm>
            <a:off x="6805843" y="1681033"/>
            <a:ext cx="1786809" cy="39502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44" b="0" i="0">
                <a:solidFill>
                  <a:srgbClr val="193047"/>
                </a:solidFill>
                <a:latin typeface="Microsoft YaHei"/>
                <a:ea typeface="Microsoft YaHei"/>
                <a:cs typeface="Microsoft YaHei"/>
              </a:rPr>
              <a:t>控制器 + DMA</a:t>
            </a:r>
          </a:p>
        </p:txBody>
      </p:sp>
      <p:sp>
        <p:nvSpPr>
          <p:cNvPr id="15" name="d14: 拟新增 IP 与驱动"/>
          <p:cNvSpPr txBox="1"/>
          <p:nvPr/>
        </p:nvSpPr>
        <p:spPr>
          <a:xfrm>
            <a:off x="6852435" y="2032163"/>
            <a:ext cx="1693626" cy="32186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84" b="0" i="0">
                <a:solidFill>
                  <a:srgbClr val="218078"/>
                </a:solidFill>
                <a:latin typeface="Microsoft YaHei"/>
                <a:ea typeface="Microsoft YaHei"/>
                <a:cs typeface="Microsoft YaHei"/>
              </a:rPr>
              <a:t>拟新增 IP 与驱动</a:t>
            </a:r>
          </a:p>
        </p:txBody>
      </p:sp>
      <p:sp>
        <p:nvSpPr>
          <p:cNvPr id="16" name="d15"/>
          <p:cNvSpPr/>
          <p:nvPr/>
        </p:nvSpPr>
        <p:spPr>
          <a:xfrm>
            <a:off x="6858000" y="82296"/>
            <a:ext cx="1691640" cy="484632"/>
          </a:xfrm>
          <a:prstGeom prst="roundRect">
            <a:avLst>
              <a:gd name="adj" fmla="val 11320"/>
            </a:avLst>
          </a:prstGeom>
          <a:solidFill>
            <a:srgbClr val="FFFFFF"/>
          </a:solidFill>
          <a:ln w="14630" cap="flat">
            <a:solidFill>
              <a:srgbClr val="2180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d16: CPU 配置"/>
          <p:cNvSpPr txBox="1"/>
          <p:nvPr/>
        </p:nvSpPr>
        <p:spPr>
          <a:xfrm>
            <a:off x="7114246" y="164592"/>
            <a:ext cx="1170003" cy="3657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93047"/>
                </a:solidFill>
                <a:latin typeface="Microsoft YaHei"/>
                <a:ea typeface="Microsoft YaHei"/>
                <a:cs typeface="Microsoft YaHei"/>
              </a:rPr>
              <a:t>CPU 配置</a:t>
            </a:r>
          </a:p>
        </p:txBody>
      </p:sp>
      <p:sp>
        <p:nvSpPr>
          <p:cNvPr id="18" name="d17"/>
          <p:cNvSpPr/>
          <p:nvPr/>
        </p:nvSpPr>
        <p:spPr>
          <a:xfrm>
            <a:off x="7699248" y="566928"/>
            <a:ext cx="1" cy="740664"/>
          </a:xfrm>
          <a:custGeom>
            <a:avLst/>
            <a:gdLst/>
            <a:ahLst/>
            <a:cxnLst/>
            <a:rect l="0" t="0" r="r" b="b"/>
            <a:pathLst>
              <a:path w="1" h="740664" fill="none">
                <a:moveTo>
                  <a:pt x="0" y="0"/>
                </a:moveTo>
                <a:lnTo>
                  <a:pt x="0" y="740664"/>
                </a:lnTo>
              </a:path>
            </a:pathLst>
          </a:custGeom>
          <a:noFill/>
          <a:ln w="25603" cap="flat">
            <a:solidFill>
              <a:srgbClr val="218078"/>
            </a:solidFill>
            <a:custDash>
              <a:ds d="250000" sp="178571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d18: 控制口"/>
          <p:cNvSpPr txBox="1"/>
          <p:nvPr/>
        </p:nvSpPr>
        <p:spPr>
          <a:xfrm>
            <a:off x="8065008" y="706283"/>
            <a:ext cx="804672" cy="32186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84" b="0" i="0">
                <a:solidFill>
                  <a:srgbClr val="218078"/>
                </a:solidFill>
                <a:latin typeface="Microsoft YaHei"/>
                <a:ea typeface="Microsoft YaHei"/>
                <a:cs typeface="Microsoft YaHei"/>
              </a:rPr>
              <a:t>控制口</a:t>
            </a:r>
          </a:p>
        </p:txBody>
      </p:sp>
      <p:sp>
        <p:nvSpPr>
          <p:cNvPr id="20" name="d19"/>
          <p:cNvSpPr/>
          <p:nvPr/>
        </p:nvSpPr>
        <p:spPr>
          <a:xfrm>
            <a:off x="5074920" y="1847088"/>
            <a:ext cx="1463040" cy="1"/>
          </a:xfrm>
          <a:custGeom>
            <a:avLst/>
            <a:gdLst/>
            <a:ahLst/>
            <a:cxnLst/>
            <a:rect l="0" t="0" r="r" b="b"/>
            <a:pathLst>
              <a:path w="1463040" h="1" fill="none">
                <a:moveTo>
                  <a:pt x="0" y="0"/>
                </a:moveTo>
                <a:lnTo>
                  <a:pt x="1463040" y="0"/>
                </a:lnTo>
              </a:path>
            </a:pathLst>
          </a:custGeom>
          <a:noFill/>
          <a:ln w="25603" cap="flat">
            <a:solidFill>
              <a:srgbClr val="246DA0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d20: eMMC 总线"/>
          <p:cNvSpPr txBox="1"/>
          <p:nvPr/>
        </p:nvSpPr>
        <p:spPr>
          <a:xfrm>
            <a:off x="5266365" y="1419515"/>
            <a:ext cx="1226453" cy="32186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84" b="0" i="0">
                <a:solidFill>
                  <a:srgbClr val="193047"/>
                </a:solidFill>
                <a:latin typeface="Microsoft YaHei"/>
                <a:ea typeface="Microsoft YaHei"/>
                <a:cs typeface="Microsoft YaHei"/>
              </a:rPr>
              <a:t>eMMC 总线</a:t>
            </a:r>
          </a:p>
        </p:txBody>
      </p:sp>
      <p:sp>
        <p:nvSpPr>
          <p:cNvPr id="22" name="d21"/>
          <p:cNvSpPr/>
          <p:nvPr/>
        </p:nvSpPr>
        <p:spPr>
          <a:xfrm>
            <a:off x="10058400" y="1307592"/>
            <a:ext cx="1645920" cy="1078992"/>
          </a:xfrm>
          <a:prstGeom prst="roundRect">
            <a:avLst>
              <a:gd name="adj" fmla="val 5084"/>
            </a:avLst>
          </a:prstGeom>
          <a:solidFill>
            <a:srgbClr val="FFF0D9"/>
          </a:solidFill>
          <a:ln w="14630" cap="flat">
            <a:solidFill>
              <a:srgbClr val="19304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d22: DDR"/>
          <p:cNvSpPr txBox="1"/>
          <p:nvPr/>
        </p:nvSpPr>
        <p:spPr>
          <a:xfrm>
            <a:off x="10451592" y="1357335"/>
            <a:ext cx="859536" cy="4681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4" b="1" i="0">
                <a:solidFill>
                  <a:srgbClr val="193047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24" name="d23: 参数工作副本"/>
          <p:cNvSpPr txBox="1"/>
          <p:nvPr/>
        </p:nvSpPr>
        <p:spPr>
          <a:xfrm>
            <a:off x="10145268" y="1811975"/>
            <a:ext cx="1472184" cy="33649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6" b="0" i="0">
                <a:solidFill>
                  <a:srgbClr val="193047"/>
                </a:solidFill>
                <a:latin typeface="Microsoft YaHei"/>
                <a:ea typeface="Microsoft YaHei"/>
                <a:cs typeface="Microsoft YaHei"/>
              </a:rPr>
              <a:t>参数工作副本</a:t>
            </a:r>
          </a:p>
        </p:txBody>
      </p:sp>
      <p:sp>
        <p:nvSpPr>
          <p:cNvPr id="25" name="d24"/>
          <p:cNvSpPr/>
          <p:nvPr/>
        </p:nvSpPr>
        <p:spPr>
          <a:xfrm>
            <a:off x="8869680" y="1847088"/>
            <a:ext cx="1188720" cy="1"/>
          </a:xfrm>
          <a:custGeom>
            <a:avLst/>
            <a:gdLst/>
            <a:ahLst/>
            <a:cxnLst/>
            <a:rect l="0" t="0" r="r" b="b"/>
            <a:pathLst>
              <a:path w="1188720" h="1" fill="none">
                <a:moveTo>
                  <a:pt x="0" y="0"/>
                </a:moveTo>
                <a:lnTo>
                  <a:pt x="1188720" y="0"/>
                </a:lnTo>
              </a:path>
            </a:pathLst>
          </a:custGeom>
          <a:noFill/>
          <a:ln w="25603" cap="flat">
            <a:solidFill>
              <a:srgbClr val="246DA0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d25: AXI 搬运"/>
          <p:cNvSpPr txBox="1"/>
          <p:nvPr/>
        </p:nvSpPr>
        <p:spPr>
          <a:xfrm>
            <a:off x="8995496" y="1419515"/>
            <a:ext cx="937089" cy="32186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84" b="0" i="0">
                <a:solidFill>
                  <a:srgbClr val="193047"/>
                </a:solidFill>
                <a:latin typeface="Microsoft YaHei"/>
                <a:ea typeface="Microsoft YaHei"/>
                <a:cs typeface="Microsoft YaHei"/>
              </a:rPr>
              <a:t>AXI 搬运</a:t>
            </a:r>
          </a:p>
        </p:txBody>
      </p:sp>
      <p:sp>
        <p:nvSpPr>
          <p:cNvPr id="27" name="d26"/>
          <p:cNvSpPr/>
          <p:nvPr/>
        </p:nvSpPr>
        <p:spPr>
          <a:xfrm>
            <a:off x="12710160" y="1307592"/>
            <a:ext cx="1371600" cy="1078992"/>
          </a:xfrm>
          <a:prstGeom prst="roundRect">
            <a:avLst>
              <a:gd name="adj" fmla="val 5084"/>
            </a:avLst>
          </a:prstGeom>
          <a:solidFill>
            <a:srgbClr val="EEE8F6"/>
          </a:solidFill>
          <a:ln w="14630" cap="flat">
            <a:solidFill>
              <a:srgbClr val="19304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d27: ISP"/>
          <p:cNvSpPr txBox="1"/>
          <p:nvPr/>
        </p:nvSpPr>
        <p:spPr>
          <a:xfrm>
            <a:off x="13039201" y="1366479"/>
            <a:ext cx="713518" cy="4681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4" b="1" i="0">
                <a:solidFill>
                  <a:srgbClr val="193047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29" name="d28: 运行时读取"/>
          <p:cNvSpPr txBox="1"/>
          <p:nvPr/>
        </p:nvSpPr>
        <p:spPr>
          <a:xfrm>
            <a:off x="12765024" y="1830263"/>
            <a:ext cx="1261872" cy="33649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6" b="0" i="0">
                <a:solidFill>
                  <a:srgbClr val="193047"/>
                </a:solidFill>
                <a:latin typeface="Microsoft YaHei"/>
                <a:ea typeface="Microsoft YaHei"/>
                <a:cs typeface="Microsoft YaHei"/>
              </a:rPr>
              <a:t>运行时读取</a:t>
            </a:r>
          </a:p>
        </p:txBody>
      </p:sp>
      <p:sp>
        <p:nvSpPr>
          <p:cNvPr id="30" name="d29"/>
          <p:cNvSpPr/>
          <p:nvPr/>
        </p:nvSpPr>
        <p:spPr>
          <a:xfrm>
            <a:off x="11704320" y="1847088"/>
            <a:ext cx="1005840" cy="1"/>
          </a:xfrm>
          <a:custGeom>
            <a:avLst/>
            <a:gdLst/>
            <a:ahLst/>
            <a:cxnLst/>
            <a:rect l="0" t="0" r="r" b="b"/>
            <a:pathLst>
              <a:path w="1005840" h="1" fill="none">
                <a:moveTo>
                  <a:pt x="0" y="0"/>
                </a:moveTo>
                <a:lnTo>
                  <a:pt x="1005840" y="0"/>
                </a:lnTo>
              </a:path>
            </a:pathLst>
          </a:custGeom>
          <a:noFill/>
          <a:ln w="25603" cap="flat">
            <a:solidFill>
              <a:srgbClr val="246DA0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d30: 参数"/>
          <p:cNvSpPr txBox="1"/>
          <p:nvPr/>
        </p:nvSpPr>
        <p:spPr>
          <a:xfrm>
            <a:off x="11905488" y="1419515"/>
            <a:ext cx="603504" cy="32186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84" b="0" i="0">
                <a:solidFill>
                  <a:srgbClr val="193047"/>
                </a:solidFill>
                <a:latin typeface="Microsoft YaHei"/>
                <a:ea typeface="Microsoft YaHei"/>
                <a:cs typeface="Microsoft YaHei"/>
              </a:rPr>
              <a:t>参数</a:t>
            </a:r>
          </a:p>
        </p:txBody>
      </p:sp>
      <p:sp>
        <p:nvSpPr>
          <p:cNvPr id="32" name="d31: 箭头表示参数读取的数据方向；CPU 下发读命令，DMA 完成后软件检查状态与内容"/>
          <p:cNvSpPr txBox="1"/>
          <p:nvPr/>
        </p:nvSpPr>
        <p:spPr>
          <a:xfrm>
            <a:off x="3271309" y="2644079"/>
            <a:ext cx="8087782" cy="33649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6" b="0" i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rPr>
              <a:t>箭头表示参数读取的数据方向；CPU 下发读命令，DMA 完成后软件检查状态与内容。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1"/>
          <p:cNvSpPr/>
          <p:nvPr/>
        </p:nvSpPr>
        <p:spPr>
          <a:xfrm>
            <a:off x="548640" y="530352"/>
            <a:ext cx="5486400" cy="1847088"/>
          </a:xfrm>
          <a:prstGeom prst="roundRect">
            <a:avLst>
              <a:gd name="adj" fmla="val 2970"/>
            </a:avLst>
          </a:prstGeom>
          <a:solidFill>
            <a:srgbClr val="EAF3FA"/>
          </a:solidFill>
          <a:ln w="14630" cap="flat">
            <a:solidFill>
              <a:srgbClr val="19304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d2: 片外 SPI NAND · 断电保存参数"/>
          <p:cNvSpPr txBox="1"/>
          <p:nvPr/>
        </p:nvSpPr>
        <p:spPr>
          <a:xfrm>
            <a:off x="749808" y="593628"/>
            <a:ext cx="3426885" cy="38039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72" b="1" i="0">
                <a:solidFill>
                  <a:srgbClr val="193047"/>
                </a:solidFill>
                <a:latin typeface="Microsoft YaHei"/>
                <a:ea typeface="Microsoft YaHei"/>
                <a:cs typeface="Microsoft YaHei"/>
              </a:rPr>
              <a:t>片外 SPI NAND · 断电保存参数</a:t>
            </a:r>
          </a:p>
        </p:txBody>
      </p:sp>
      <p:sp>
        <p:nvSpPr>
          <p:cNvPr id="4" name="d3"/>
          <p:cNvSpPr/>
          <p:nvPr/>
        </p:nvSpPr>
        <p:spPr>
          <a:xfrm>
            <a:off x="777240" y="1115568"/>
            <a:ext cx="1417320" cy="978408"/>
          </a:xfrm>
          <a:prstGeom prst="roundRect">
            <a:avLst>
              <a:gd name="adj" fmla="val 5607"/>
            </a:avLst>
          </a:prstGeom>
          <a:solidFill>
            <a:srgbClr val="FFFFFF"/>
          </a:solidFill>
          <a:ln w="14630" cap="flat">
            <a:solidFill>
              <a:srgbClr val="19304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d4: NAND 阵列"/>
          <p:cNvSpPr txBox="1"/>
          <p:nvPr/>
        </p:nvSpPr>
        <p:spPr>
          <a:xfrm>
            <a:off x="792049" y="1242852"/>
            <a:ext cx="1387702" cy="38039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72" b="1" i="0">
                <a:solidFill>
                  <a:srgbClr val="193047"/>
                </a:solidFill>
                <a:latin typeface="Microsoft YaHei"/>
                <a:ea typeface="Microsoft YaHei"/>
                <a:cs typeface="Microsoft YaHei"/>
              </a:rPr>
              <a:t>NAND 阵列</a:t>
            </a:r>
          </a:p>
        </p:txBody>
      </p:sp>
      <p:sp>
        <p:nvSpPr>
          <p:cNvPr id="6" name="d5: 按页读取"/>
          <p:cNvSpPr txBox="1"/>
          <p:nvPr/>
        </p:nvSpPr>
        <p:spPr>
          <a:xfrm>
            <a:off x="960120" y="1629095"/>
            <a:ext cx="1051560" cy="33649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6" b="0" i="0">
                <a:solidFill>
                  <a:srgbClr val="193047"/>
                </a:solidFill>
                <a:latin typeface="Microsoft YaHei"/>
                <a:ea typeface="Microsoft YaHei"/>
                <a:cs typeface="Microsoft YaHei"/>
              </a:rPr>
              <a:t>按页读取</a:t>
            </a:r>
          </a:p>
        </p:txBody>
      </p:sp>
      <p:sp>
        <p:nvSpPr>
          <p:cNvPr id="7" name="d6"/>
          <p:cNvSpPr/>
          <p:nvPr/>
        </p:nvSpPr>
        <p:spPr>
          <a:xfrm>
            <a:off x="2651760" y="1115568"/>
            <a:ext cx="1143000" cy="978408"/>
          </a:xfrm>
          <a:prstGeom prst="roundRect">
            <a:avLst>
              <a:gd name="adj" fmla="val 5607"/>
            </a:avLst>
          </a:prstGeom>
          <a:solidFill>
            <a:srgbClr val="FFFFFF"/>
          </a:solidFill>
          <a:ln w="14630" cap="flat">
            <a:solidFill>
              <a:srgbClr val="19304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d7: ECC"/>
          <p:cNvSpPr txBox="1"/>
          <p:nvPr/>
        </p:nvSpPr>
        <p:spPr>
          <a:xfrm>
            <a:off x="2890668" y="1242852"/>
            <a:ext cx="665183" cy="38039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72" b="1" i="0">
                <a:solidFill>
                  <a:srgbClr val="193047"/>
                </a:solidFill>
                <a:latin typeface="Microsoft YaHei"/>
                <a:ea typeface="Microsoft YaHei"/>
                <a:cs typeface="Microsoft YaHei"/>
              </a:rPr>
              <a:t>ECC</a:t>
            </a:r>
          </a:p>
        </p:txBody>
      </p:sp>
      <p:sp>
        <p:nvSpPr>
          <p:cNvPr id="9" name="d8: 器件内纠错"/>
          <p:cNvSpPr txBox="1"/>
          <p:nvPr/>
        </p:nvSpPr>
        <p:spPr>
          <a:xfrm>
            <a:off x="2592324" y="1629095"/>
            <a:ext cx="1261872" cy="33649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6" b="0" i="0">
                <a:solidFill>
                  <a:srgbClr val="193047"/>
                </a:solidFill>
                <a:latin typeface="Microsoft YaHei"/>
                <a:ea typeface="Microsoft YaHei"/>
                <a:cs typeface="Microsoft YaHei"/>
              </a:rPr>
              <a:t>器件内纠错</a:t>
            </a:r>
          </a:p>
        </p:txBody>
      </p:sp>
      <p:sp>
        <p:nvSpPr>
          <p:cNvPr id="10" name="d9"/>
          <p:cNvSpPr/>
          <p:nvPr/>
        </p:nvSpPr>
        <p:spPr>
          <a:xfrm>
            <a:off x="4251960" y="1115568"/>
            <a:ext cx="1508760" cy="978408"/>
          </a:xfrm>
          <a:prstGeom prst="roundRect">
            <a:avLst>
              <a:gd name="adj" fmla="val 5607"/>
            </a:avLst>
          </a:prstGeom>
          <a:solidFill>
            <a:srgbClr val="FFFFFF"/>
          </a:solidFill>
          <a:ln w="14630" cap="flat">
            <a:solidFill>
              <a:srgbClr val="19304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d10: 页缓存"/>
          <p:cNvSpPr txBox="1"/>
          <p:nvPr/>
        </p:nvSpPr>
        <p:spPr>
          <a:xfrm>
            <a:off x="4530852" y="1242852"/>
            <a:ext cx="950976" cy="38039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72" b="1" i="0">
                <a:solidFill>
                  <a:srgbClr val="193047"/>
                </a:solidFill>
                <a:latin typeface="Microsoft YaHei"/>
                <a:ea typeface="Microsoft YaHei"/>
                <a:cs typeface="Microsoft YaHei"/>
              </a:rPr>
              <a:t>页缓存</a:t>
            </a:r>
          </a:p>
        </p:txBody>
      </p:sp>
      <p:sp>
        <p:nvSpPr>
          <p:cNvPr id="12" name="d11: 串行输出"/>
          <p:cNvSpPr txBox="1"/>
          <p:nvPr/>
        </p:nvSpPr>
        <p:spPr>
          <a:xfrm>
            <a:off x="4480560" y="1629095"/>
            <a:ext cx="1051560" cy="33649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6" b="0" i="0">
                <a:solidFill>
                  <a:srgbClr val="193047"/>
                </a:solidFill>
                <a:latin typeface="Microsoft YaHei"/>
                <a:ea typeface="Microsoft YaHei"/>
                <a:cs typeface="Microsoft YaHei"/>
              </a:rPr>
              <a:t>串行输出</a:t>
            </a:r>
          </a:p>
        </p:txBody>
      </p:sp>
      <p:sp>
        <p:nvSpPr>
          <p:cNvPr id="13" name="d12"/>
          <p:cNvSpPr/>
          <p:nvPr/>
        </p:nvSpPr>
        <p:spPr>
          <a:xfrm>
            <a:off x="2194560" y="1618488"/>
            <a:ext cx="457200" cy="1"/>
          </a:xfrm>
          <a:custGeom>
            <a:avLst/>
            <a:gdLst/>
            <a:ahLst/>
            <a:cxnLst/>
            <a:rect l="0" t="0" r="r" b="b"/>
            <a:pathLst>
              <a:path w="457200" h="1" fill="none">
                <a:moveTo>
                  <a:pt x="0" y="0"/>
                </a:moveTo>
                <a:lnTo>
                  <a:pt x="457200" y="0"/>
                </a:lnTo>
              </a:path>
            </a:pathLst>
          </a:custGeom>
          <a:noFill/>
          <a:ln w="25603" cap="flat">
            <a:solidFill>
              <a:srgbClr val="246DA0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d13"/>
          <p:cNvSpPr/>
          <p:nvPr/>
        </p:nvSpPr>
        <p:spPr>
          <a:xfrm>
            <a:off x="3794760" y="1618488"/>
            <a:ext cx="457200" cy="1"/>
          </a:xfrm>
          <a:custGeom>
            <a:avLst/>
            <a:gdLst/>
            <a:ahLst/>
            <a:cxnLst/>
            <a:rect l="0" t="0" r="r" b="b"/>
            <a:pathLst>
              <a:path w="457200" h="1" fill="none">
                <a:moveTo>
                  <a:pt x="0" y="0"/>
                </a:moveTo>
                <a:lnTo>
                  <a:pt x="457200" y="0"/>
                </a:lnTo>
              </a:path>
            </a:pathLst>
          </a:custGeom>
          <a:noFill/>
          <a:ln w="25603" cap="flat">
            <a:solidFill>
              <a:srgbClr val="246DA0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d14"/>
          <p:cNvSpPr/>
          <p:nvPr/>
        </p:nvSpPr>
        <p:spPr>
          <a:xfrm>
            <a:off x="6903720" y="1115568"/>
            <a:ext cx="1828800" cy="978408"/>
          </a:xfrm>
          <a:prstGeom prst="roundRect">
            <a:avLst>
              <a:gd name="adj" fmla="val 5607"/>
            </a:avLst>
          </a:prstGeom>
          <a:solidFill>
            <a:srgbClr val="E4F2ED"/>
          </a:solidFill>
          <a:ln w="14630" cap="flat">
            <a:solidFill>
              <a:srgbClr val="19304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d15: SPI Host"/>
          <p:cNvSpPr txBox="1"/>
          <p:nvPr/>
        </p:nvSpPr>
        <p:spPr>
          <a:xfrm>
            <a:off x="7184962" y="1213226"/>
            <a:ext cx="1266315" cy="42428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88" b="1" i="0">
                <a:solidFill>
                  <a:srgbClr val="193047"/>
                </a:solidFill>
                <a:latin typeface="Microsoft YaHei"/>
                <a:ea typeface="Microsoft YaHei"/>
                <a:cs typeface="Microsoft YaHei"/>
              </a:rPr>
              <a:t>SPI Host</a:t>
            </a:r>
          </a:p>
        </p:txBody>
      </p:sp>
      <p:sp>
        <p:nvSpPr>
          <p:cNvPr id="17" name="d16: 接收 FIFO"/>
          <p:cNvSpPr txBox="1"/>
          <p:nvPr/>
        </p:nvSpPr>
        <p:spPr>
          <a:xfrm>
            <a:off x="7249978" y="1619220"/>
            <a:ext cx="1136285" cy="3511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28" b="0" i="0">
                <a:solidFill>
                  <a:srgbClr val="193047"/>
                </a:solidFill>
                <a:latin typeface="Microsoft YaHei"/>
                <a:ea typeface="Microsoft YaHei"/>
                <a:cs typeface="Microsoft YaHei"/>
              </a:rPr>
              <a:t>接收 FIFO</a:t>
            </a:r>
          </a:p>
        </p:txBody>
      </p:sp>
      <p:sp>
        <p:nvSpPr>
          <p:cNvPr id="18" name="d17"/>
          <p:cNvSpPr/>
          <p:nvPr/>
        </p:nvSpPr>
        <p:spPr>
          <a:xfrm>
            <a:off x="5760720" y="1618488"/>
            <a:ext cx="1143000" cy="1"/>
          </a:xfrm>
          <a:custGeom>
            <a:avLst/>
            <a:gdLst/>
            <a:ahLst/>
            <a:cxnLst/>
            <a:rect l="0" t="0" r="r" b="b"/>
            <a:pathLst>
              <a:path w="1143000" h="1" fill="none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25603" cap="flat">
            <a:solidFill>
              <a:srgbClr val="246DA0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d18: Quad"/>
          <p:cNvSpPr txBox="1"/>
          <p:nvPr/>
        </p:nvSpPr>
        <p:spPr>
          <a:xfrm>
            <a:off x="6092847" y="1162751"/>
            <a:ext cx="689058" cy="33649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6" b="0" i="0">
                <a:solidFill>
                  <a:srgbClr val="193047"/>
                </a:solidFill>
                <a:latin typeface="Microsoft YaHei"/>
                <a:ea typeface="Microsoft YaHei"/>
                <a:cs typeface="Microsoft YaHei"/>
              </a:rPr>
              <a:t>Quad</a:t>
            </a:r>
          </a:p>
        </p:txBody>
      </p:sp>
      <p:sp>
        <p:nvSpPr>
          <p:cNvPr id="20" name="d19"/>
          <p:cNvSpPr/>
          <p:nvPr/>
        </p:nvSpPr>
        <p:spPr>
          <a:xfrm>
            <a:off x="9646920" y="1115568"/>
            <a:ext cx="2103120" cy="978408"/>
          </a:xfrm>
          <a:prstGeom prst="roundRect">
            <a:avLst>
              <a:gd name="adj" fmla="val 5607"/>
            </a:avLst>
          </a:prstGeom>
          <a:solidFill>
            <a:srgbClr val="F0ECF7"/>
          </a:solidFill>
          <a:ln w="14630" cap="flat">
            <a:solidFill>
              <a:srgbClr val="19304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d20: CPU / 驱动"/>
          <p:cNvSpPr txBox="1"/>
          <p:nvPr/>
        </p:nvSpPr>
        <p:spPr>
          <a:xfrm>
            <a:off x="9938371" y="1223101"/>
            <a:ext cx="1520219" cy="40965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1" i="0">
                <a:solidFill>
                  <a:srgbClr val="193047"/>
                </a:solidFill>
                <a:latin typeface="Microsoft YaHei"/>
                <a:ea typeface="Microsoft YaHei"/>
                <a:cs typeface="Microsoft YaHei"/>
              </a:rPr>
              <a:t>CPU / 驱动</a:t>
            </a:r>
          </a:p>
        </p:txBody>
      </p:sp>
      <p:sp>
        <p:nvSpPr>
          <p:cNvPr id="22" name="d21: 读 FIFO、写 DDR"/>
          <p:cNvSpPr txBox="1"/>
          <p:nvPr/>
        </p:nvSpPr>
        <p:spPr>
          <a:xfrm>
            <a:off x="9813591" y="1629095"/>
            <a:ext cx="1769778" cy="33649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6" b="0" i="0">
                <a:solidFill>
                  <a:srgbClr val="193047"/>
                </a:solidFill>
                <a:latin typeface="Microsoft YaHei"/>
                <a:ea typeface="Microsoft YaHei"/>
                <a:cs typeface="Microsoft YaHei"/>
              </a:rPr>
              <a:t>读 FIFO、写 DDR</a:t>
            </a:r>
          </a:p>
        </p:txBody>
      </p:sp>
      <p:sp>
        <p:nvSpPr>
          <p:cNvPr id="23" name="d22"/>
          <p:cNvSpPr/>
          <p:nvPr/>
        </p:nvSpPr>
        <p:spPr>
          <a:xfrm>
            <a:off x="8732520" y="1618488"/>
            <a:ext cx="914400" cy="1"/>
          </a:xfrm>
          <a:custGeom>
            <a:avLst/>
            <a:gdLst/>
            <a:ahLst/>
            <a:cxnLst/>
            <a:rect l="0" t="0" r="r" b="b"/>
            <a:pathLst>
              <a:path w="914400" h="1" fill="none">
                <a:moveTo>
                  <a:pt x="0" y="0"/>
                </a:moveTo>
                <a:lnTo>
                  <a:pt x="914400" y="0"/>
                </a:lnTo>
              </a:path>
            </a:pathLst>
          </a:custGeom>
          <a:noFill/>
          <a:ln w="25603" cap="flat">
            <a:solidFill>
              <a:srgbClr val="246DA0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d23: MMIO"/>
          <p:cNvSpPr txBox="1"/>
          <p:nvPr/>
        </p:nvSpPr>
        <p:spPr>
          <a:xfrm>
            <a:off x="8831882" y="1172627"/>
            <a:ext cx="715675" cy="32186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84" b="0" i="0">
                <a:solidFill>
                  <a:srgbClr val="193047"/>
                </a:solidFill>
                <a:latin typeface="Microsoft YaHei"/>
                <a:ea typeface="Microsoft YaHei"/>
                <a:cs typeface="Microsoft YaHei"/>
              </a:rPr>
              <a:t>MMIO</a:t>
            </a:r>
          </a:p>
        </p:txBody>
      </p:sp>
      <p:sp>
        <p:nvSpPr>
          <p:cNvPr id="25" name="d24"/>
          <p:cNvSpPr/>
          <p:nvPr/>
        </p:nvSpPr>
        <p:spPr>
          <a:xfrm>
            <a:off x="7818120" y="347472"/>
            <a:ext cx="2880360" cy="768096"/>
          </a:xfrm>
          <a:custGeom>
            <a:avLst/>
            <a:gdLst/>
            <a:ahLst/>
            <a:cxnLst/>
            <a:rect l="0" t="0" r="r" b="b"/>
            <a:pathLst>
              <a:path w="2880360" h="768096" fill="none">
                <a:moveTo>
                  <a:pt x="2880360" y="768096"/>
                </a:moveTo>
                <a:lnTo>
                  <a:pt x="2880360" y="0"/>
                </a:lnTo>
                <a:lnTo>
                  <a:pt x="0" y="0"/>
                </a:lnTo>
                <a:lnTo>
                  <a:pt x="0" y="768096"/>
                </a:lnTo>
              </a:path>
            </a:pathLst>
          </a:custGeom>
          <a:noFill/>
          <a:ln w="25603" cap="flat">
            <a:solidFill>
              <a:srgbClr val="218078"/>
            </a:solidFill>
            <a:custDash>
              <a:ds d="250000" sp="178571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d25: 配置 / 读命令"/>
          <p:cNvSpPr txBox="1"/>
          <p:nvPr/>
        </p:nvSpPr>
        <p:spPr>
          <a:xfrm>
            <a:off x="8565092" y="11339"/>
            <a:ext cx="1432136" cy="32186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84" b="0" i="0">
                <a:solidFill>
                  <a:srgbClr val="218078"/>
                </a:solidFill>
                <a:latin typeface="Microsoft YaHei"/>
                <a:ea typeface="Microsoft YaHei"/>
                <a:cs typeface="Microsoft YaHei"/>
              </a:rPr>
              <a:t>配置 / 读命令</a:t>
            </a:r>
          </a:p>
        </p:txBody>
      </p:sp>
      <p:sp>
        <p:nvSpPr>
          <p:cNvPr id="27" name="d26"/>
          <p:cNvSpPr/>
          <p:nvPr/>
        </p:nvSpPr>
        <p:spPr>
          <a:xfrm>
            <a:off x="12801600" y="1115568"/>
            <a:ext cx="1280160" cy="978408"/>
          </a:xfrm>
          <a:prstGeom prst="roundRect">
            <a:avLst>
              <a:gd name="adj" fmla="val 5607"/>
            </a:avLst>
          </a:prstGeom>
          <a:solidFill>
            <a:srgbClr val="FFF0D9"/>
          </a:solidFill>
          <a:ln w="14630" cap="flat">
            <a:solidFill>
              <a:srgbClr val="19304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d27: DDR"/>
          <p:cNvSpPr txBox="1"/>
          <p:nvPr/>
        </p:nvSpPr>
        <p:spPr>
          <a:xfrm>
            <a:off x="13038772" y="1212494"/>
            <a:ext cx="805815" cy="43891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60" b="1" i="0">
                <a:solidFill>
                  <a:srgbClr val="193047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29" name="d28: 参数副本"/>
          <p:cNvSpPr txBox="1"/>
          <p:nvPr/>
        </p:nvSpPr>
        <p:spPr>
          <a:xfrm>
            <a:off x="12915900" y="1638239"/>
            <a:ext cx="1051560" cy="33649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6" b="0" i="0">
                <a:solidFill>
                  <a:srgbClr val="193047"/>
                </a:solidFill>
                <a:latin typeface="Microsoft YaHei"/>
                <a:ea typeface="Microsoft YaHei"/>
                <a:cs typeface="Microsoft YaHei"/>
              </a:rPr>
              <a:t>参数副本</a:t>
            </a:r>
          </a:p>
        </p:txBody>
      </p:sp>
      <p:sp>
        <p:nvSpPr>
          <p:cNvPr id="30" name="d29"/>
          <p:cNvSpPr/>
          <p:nvPr/>
        </p:nvSpPr>
        <p:spPr>
          <a:xfrm>
            <a:off x="11750040" y="1618488"/>
            <a:ext cx="1051560" cy="1"/>
          </a:xfrm>
          <a:custGeom>
            <a:avLst/>
            <a:gdLst/>
            <a:ahLst/>
            <a:cxnLst/>
            <a:rect l="0" t="0" r="r" b="b"/>
            <a:pathLst>
              <a:path w="1051560" h="1" fill="none">
                <a:moveTo>
                  <a:pt x="0" y="0"/>
                </a:moveTo>
                <a:lnTo>
                  <a:pt x="1051560" y="0"/>
                </a:lnTo>
              </a:path>
            </a:pathLst>
          </a:custGeom>
          <a:noFill/>
          <a:ln w="25603" cap="flat">
            <a:solidFill>
              <a:srgbClr val="246DA0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d30: 存储写入"/>
          <p:cNvSpPr txBox="1"/>
          <p:nvPr/>
        </p:nvSpPr>
        <p:spPr>
          <a:xfrm>
            <a:off x="11791188" y="1182502"/>
            <a:ext cx="960120" cy="30723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12" b="0" i="0">
                <a:solidFill>
                  <a:srgbClr val="193047"/>
                </a:solidFill>
                <a:latin typeface="Microsoft YaHei"/>
                <a:ea typeface="Microsoft YaHei"/>
                <a:cs typeface="Microsoft YaHei"/>
              </a:rPr>
              <a:t>存储写入</a:t>
            </a:r>
          </a:p>
        </p:txBody>
      </p:sp>
      <p:sp>
        <p:nvSpPr>
          <p:cNvPr id="32" name="d31: 候选路径：复用 SPI Host，新增 NAND 驱动；未假设现有 SPI 已具"/>
          <p:cNvSpPr txBox="1"/>
          <p:nvPr/>
        </p:nvSpPr>
        <p:spPr>
          <a:xfrm>
            <a:off x="3267587" y="2442180"/>
            <a:ext cx="8095226" cy="3511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28" b="0" i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rPr>
              <a:t>候选路径：复用 SPI Host，新增 NAND 驱动；未假设现有 SPI 已具备 DMA 搬运。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