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 Cheshire 公共 Regbus 结构"/>
          <p:cNvSpPr txBox="1"/>
          <p:nvPr/>
        </p:nvSpPr>
        <p:spPr>
          <a:xfrm>
            <a:off x="293370" y="116281"/>
            <a:ext cx="2775555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公共 Regbus 结构</a:t>
            </a:r>
          </a:p>
        </p:txBody>
      </p:sp>
      <p:sp>
        <p:nvSpPr>
          <p:cNvPr id="3" name="subtitle: AXI 配置分支 → 协议转换 → 地址解码与寄存器访问分发"/>
          <p:cNvSpPr txBox="1"/>
          <p:nvPr/>
        </p:nvSpPr>
        <p:spPr>
          <a:xfrm>
            <a:off x="293370" y="405384"/>
            <a:ext cx="3448089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AXI 配置分支 → 协议转换 → 地址解码与寄存器访问分发</a:t>
            </a:r>
          </a:p>
        </p:txBody>
      </p:sp>
      <p:sp>
        <p:nvSpPr>
          <p:cNvPr id="4" name="clock-domain"/>
          <p:cNvSpPr/>
          <p:nvPr/>
        </p:nvSpPr>
        <p:spPr>
          <a:xfrm>
            <a:off x="293370" y="720090"/>
            <a:ext cx="12214860" cy="4480560"/>
          </a:xfrm>
          <a:prstGeom prst="rect">
            <a:avLst/>
          </a:prstGeom>
          <a:solidFill>
            <a:srgbClr val="FAF8FB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lock-label: 系统时钟域 clk_i  ·  桥与内部寄存器同域；解码／分发为组合逻辑；此路径"/>
          <p:cNvSpPr txBox="1"/>
          <p:nvPr/>
        </p:nvSpPr>
        <p:spPr>
          <a:xfrm>
            <a:off x="453390" y="784098"/>
            <a:ext cx="545315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系统时钟域 clk_i  ·  桥与内部寄存器同域；解码／分发为组合逻辑；此路径无分频、无 CDC</a:t>
            </a:r>
          </a:p>
        </p:txBody>
      </p:sp>
      <p:sp>
        <p:nvSpPr>
          <p:cNvPr id="6" name="xbar"/>
          <p:cNvSpPr/>
          <p:nvPr/>
        </p:nvSpPr>
        <p:spPr>
          <a:xfrm>
            <a:off x="480060" y="1173480"/>
            <a:ext cx="1920240" cy="586740"/>
          </a:xfrm>
          <a:prstGeom prst="rect">
            <a:avLst/>
          </a:prstGeom>
          <a:solidFill>
            <a:srgbClr val="F5E1C9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xbar-t0: 主 AXI Crossbar"/>
          <p:cNvSpPr txBox="1"/>
          <p:nvPr/>
        </p:nvSpPr>
        <p:spPr>
          <a:xfrm>
            <a:off x="915310" y="1200150"/>
            <a:ext cx="10497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8" name="xbar-t1: i_axi_xbar"/>
          <p:cNvSpPr txBox="1"/>
          <p:nvPr/>
        </p:nvSpPr>
        <p:spPr>
          <a:xfrm>
            <a:off x="1143680" y="1388547"/>
            <a:ext cx="59299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i_axi_xbar</a:t>
            </a:r>
          </a:p>
        </p:txBody>
      </p:sp>
      <p:sp>
        <p:nvSpPr>
          <p:cNvPr id="9" name="xbar-t2: AxiOut.reg_demux"/>
          <p:cNvSpPr txBox="1"/>
          <p:nvPr/>
        </p:nvSpPr>
        <p:spPr>
          <a:xfrm>
            <a:off x="947877" y="1553901"/>
            <a:ext cx="98460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AxiOut.reg_demux</a:t>
            </a:r>
          </a:p>
        </p:txBody>
      </p:sp>
      <p:sp>
        <p:nvSpPr>
          <p:cNvPr id="10" name="atomics"/>
          <p:cNvSpPr/>
          <p:nvPr/>
        </p:nvSpPr>
        <p:spPr>
          <a:xfrm>
            <a:off x="3040380" y="1173480"/>
            <a:ext cx="2133600" cy="58674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tomics-t0: 原子适配"/>
          <p:cNvSpPr txBox="1"/>
          <p:nvPr/>
        </p:nvSpPr>
        <p:spPr>
          <a:xfrm>
            <a:off x="3773805" y="1200150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2" name="atomics-t1: axi_riscv_atomics_structs"/>
          <p:cNvSpPr txBox="1"/>
          <p:nvPr/>
        </p:nvSpPr>
        <p:spPr>
          <a:xfrm>
            <a:off x="3424695" y="1388547"/>
            <a:ext cx="136497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axi_riscv_atomics_structs</a:t>
            </a:r>
          </a:p>
        </p:txBody>
      </p:sp>
      <p:sp>
        <p:nvSpPr>
          <p:cNvPr id="13" name="atomics-t2: i_reg_atomics"/>
          <p:cNvSpPr txBox="1"/>
          <p:nvPr/>
        </p:nvSpPr>
        <p:spPr>
          <a:xfrm>
            <a:off x="3712172" y="1553901"/>
            <a:ext cx="79001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i_reg_atomics</a:t>
            </a:r>
          </a:p>
        </p:txBody>
      </p:sp>
      <p:sp>
        <p:nvSpPr>
          <p:cNvPr id="14" name="cut"/>
          <p:cNvSpPr/>
          <p:nvPr/>
        </p:nvSpPr>
        <p:spPr>
          <a:xfrm>
            <a:off x="5814060" y="1173480"/>
            <a:ext cx="1813560" cy="58674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ut-t0: AXI 寄存器切片"/>
          <p:cNvSpPr txBox="1"/>
          <p:nvPr/>
        </p:nvSpPr>
        <p:spPr>
          <a:xfrm>
            <a:off x="6210230" y="1200150"/>
            <a:ext cx="1021219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寄存器切片</a:t>
            </a:r>
          </a:p>
        </p:txBody>
      </p:sp>
      <p:sp>
        <p:nvSpPr>
          <p:cNvPr id="16" name="cut-t1: i_reg_atomics_cut"/>
          <p:cNvSpPr txBox="1"/>
          <p:nvPr/>
        </p:nvSpPr>
        <p:spPr>
          <a:xfrm>
            <a:off x="6222899" y="1388547"/>
            <a:ext cx="99588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i_reg_atomics_cut</a:t>
            </a:r>
          </a:p>
        </p:txBody>
      </p:sp>
      <p:sp>
        <p:nvSpPr>
          <p:cNvPr id="17" name="cut-t2: RegAmoPostCut 可旁路"/>
          <p:cNvSpPr txBox="1"/>
          <p:nvPr/>
        </p:nvSpPr>
        <p:spPr>
          <a:xfrm>
            <a:off x="6088461" y="1553901"/>
            <a:ext cx="126475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RegAmoPostCut 可旁路</a:t>
            </a:r>
          </a:p>
        </p:txBody>
      </p:sp>
      <p:sp>
        <p:nvSpPr>
          <p:cNvPr id="18" name="bridge"/>
          <p:cNvSpPr/>
          <p:nvPr/>
        </p:nvSpPr>
        <p:spPr>
          <a:xfrm>
            <a:off x="8267700" y="1173480"/>
            <a:ext cx="3307080" cy="58674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ridge-t0: AXI → Regbus"/>
          <p:cNvSpPr txBox="1"/>
          <p:nvPr/>
        </p:nvSpPr>
        <p:spPr>
          <a:xfrm>
            <a:off x="9440255" y="1200150"/>
            <a:ext cx="9619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20" name="bridge-t1: i_axi_to_reg_v2"/>
          <p:cNvSpPr txBox="1"/>
          <p:nvPr/>
        </p:nvSpPr>
        <p:spPr>
          <a:xfrm>
            <a:off x="9489261" y="1388547"/>
            <a:ext cx="86395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i_axi_to_reg_v2</a:t>
            </a:r>
          </a:p>
        </p:txBody>
      </p:sp>
      <p:sp>
        <p:nvSpPr>
          <p:cNvPr id="21" name="bridge-t2: AxiDataWidth → 32 bit"/>
          <p:cNvSpPr txBox="1"/>
          <p:nvPr/>
        </p:nvSpPr>
        <p:spPr>
          <a:xfrm>
            <a:off x="9308113" y="1553901"/>
            <a:ext cx="122625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AxiDataWidth → 32 bit</a:t>
            </a:r>
          </a:p>
        </p:txBody>
      </p:sp>
      <p:sp>
        <p:nvSpPr>
          <p:cNvPr id="22" name="axi0"/>
          <p:cNvSpPr/>
          <p:nvPr/>
        </p:nvSpPr>
        <p:spPr>
          <a:xfrm>
            <a:off x="2400300" y="146685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xi1"/>
          <p:cNvSpPr/>
          <p:nvPr/>
        </p:nvSpPr>
        <p:spPr>
          <a:xfrm>
            <a:off x="5173980" y="146685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xi2"/>
          <p:cNvSpPr/>
          <p:nvPr/>
        </p:nvSpPr>
        <p:spPr>
          <a:xfrm>
            <a:off x="7627620" y="146685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g-main"/>
          <p:cNvSpPr/>
          <p:nvPr/>
        </p:nvSpPr>
        <p:spPr>
          <a:xfrm>
            <a:off x="11574780" y="1466850"/>
            <a:ext cx="746760" cy="2266950"/>
          </a:xfrm>
          <a:custGeom>
            <a:avLst/>
            <a:gdLst/>
            <a:ahLst/>
            <a:cxnLst/>
            <a:rect l="0" t="0" r="r" b="b"/>
            <a:pathLst>
              <a:path w="746760" h="2266950" fill="none">
                <a:moveTo>
                  <a:pt x="0" y="0"/>
                </a:moveTo>
                <a:lnTo>
                  <a:pt x="746760" y="0"/>
                </a:lnTo>
                <a:lnTo>
                  <a:pt x="746760" y="2266950"/>
                </a:lnTo>
                <a:lnTo>
                  <a:pt x="640080" y="226695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g-main-label: Reg"/>
          <p:cNvSpPr txBox="1"/>
          <p:nvPr/>
        </p:nvSpPr>
        <p:spPr>
          <a:xfrm>
            <a:off x="11612593" y="1521897"/>
            <a:ext cx="29775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</a:t>
            </a:r>
          </a:p>
        </p:txBody>
      </p:sp>
      <p:sp>
        <p:nvSpPr>
          <p:cNvPr id="27" name="addr-tap"/>
          <p:cNvSpPr/>
          <p:nvPr/>
        </p:nvSpPr>
        <p:spPr>
          <a:xfrm>
            <a:off x="12300204" y="1936242"/>
            <a:ext cx="42672" cy="42672"/>
          </a:xfrm>
          <a:prstGeom prst="ellipse">
            <a:avLst/>
          </a:prstGeom>
          <a:solidFill>
            <a:srgbClr val="765489"/>
          </a:solidFill>
          <a:ln w="5334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addr-to-decode"/>
          <p:cNvSpPr/>
          <p:nvPr/>
        </p:nvSpPr>
        <p:spPr>
          <a:xfrm>
            <a:off x="1706880" y="1957578"/>
            <a:ext cx="10614660" cy="176022"/>
          </a:xfrm>
          <a:custGeom>
            <a:avLst/>
            <a:gdLst/>
            <a:ahLst/>
            <a:cxnLst/>
            <a:rect l="0" t="0" r="r" b="b"/>
            <a:pathLst>
              <a:path w="10614660" h="176022" fill="none">
                <a:moveTo>
                  <a:pt x="10614660" y="0"/>
                </a:moveTo>
                <a:lnTo>
                  <a:pt x="0" y="0"/>
                </a:lnTo>
                <a:lnTo>
                  <a:pt x="0" y="176022"/>
                </a:lnTo>
              </a:path>
            </a:pathLst>
          </a:custGeom>
          <a:noFill/>
          <a:ln w="133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addr-label: reg_in_req.addr"/>
          <p:cNvSpPr txBox="1"/>
          <p:nvPr/>
        </p:nvSpPr>
        <p:spPr>
          <a:xfrm>
            <a:off x="7545076" y="1777502"/>
            <a:ext cx="91184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reg_in_req.addr</a:t>
            </a:r>
          </a:p>
        </p:txBody>
      </p:sp>
      <p:sp>
        <p:nvSpPr>
          <p:cNvPr id="30" name="decode"/>
          <p:cNvSpPr/>
          <p:nvPr/>
        </p:nvSpPr>
        <p:spPr>
          <a:xfrm>
            <a:off x="480060" y="2133600"/>
            <a:ext cx="2453640" cy="464058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ecode-t0: 地址解码  i_reg_demux_decode"/>
          <p:cNvSpPr txBox="1"/>
          <p:nvPr/>
        </p:nvSpPr>
        <p:spPr>
          <a:xfrm>
            <a:off x="762887" y="2187367"/>
            <a:ext cx="188798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地址解码  i_reg_demux_decode</a:t>
            </a:r>
          </a:p>
        </p:txBody>
      </p:sp>
      <p:sp>
        <p:nvSpPr>
          <p:cNvPr id="32" name="decode-t1: addr_decode · 未匹配 → RegOut.err"/>
          <p:cNvSpPr txBox="1"/>
          <p:nvPr/>
        </p:nvSpPr>
        <p:spPr>
          <a:xfrm>
            <a:off x="771396" y="2370003"/>
            <a:ext cx="187096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addr_decode · 未匹配 → RegOut.err</a:t>
            </a:r>
          </a:p>
        </p:txBody>
      </p:sp>
      <p:sp>
        <p:nvSpPr>
          <p:cNvPr id="33" name="map"/>
          <p:cNvSpPr/>
          <p:nvPr/>
        </p:nvSpPr>
        <p:spPr>
          <a:xfrm>
            <a:off x="3733800" y="2133600"/>
            <a:ext cx="3040380" cy="464058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map-t0: 静态地址规则 RegMap"/>
          <p:cNvSpPr txBox="1"/>
          <p:nvPr/>
        </p:nvSpPr>
        <p:spPr>
          <a:xfrm>
            <a:off x="4559153" y="2187367"/>
            <a:ext cx="138967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静态地址规则 RegMap</a:t>
            </a:r>
          </a:p>
        </p:txBody>
      </p:sp>
      <p:sp>
        <p:nvSpPr>
          <p:cNvPr id="35" name="map-t1: gen_reg_out(Cfg) → gen_reg_map()"/>
          <p:cNvSpPr txBox="1"/>
          <p:nvPr/>
        </p:nvSpPr>
        <p:spPr>
          <a:xfrm>
            <a:off x="4336284" y="2370003"/>
            <a:ext cx="183541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gen_reg_out(Cfg) → gen_reg_map()</a:t>
            </a:r>
          </a:p>
        </p:txBody>
      </p:sp>
      <p:sp>
        <p:nvSpPr>
          <p:cNvPr id="36" name="map-to-decode"/>
          <p:cNvSpPr/>
          <p:nvPr/>
        </p:nvSpPr>
        <p:spPr>
          <a:xfrm>
            <a:off x="2933700" y="236296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800100" y="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select-to-demux"/>
          <p:cNvSpPr/>
          <p:nvPr/>
        </p:nvSpPr>
        <p:spPr>
          <a:xfrm>
            <a:off x="384048" y="2453640"/>
            <a:ext cx="96012" cy="1402842"/>
          </a:xfrm>
          <a:custGeom>
            <a:avLst/>
            <a:gdLst/>
            <a:ahLst/>
            <a:cxnLst/>
            <a:rect l="0" t="0" r="r" b="b"/>
            <a:pathLst>
              <a:path w="96012" h="1402842" fill="none">
                <a:moveTo>
                  <a:pt x="96012" y="0"/>
                </a:moveTo>
                <a:lnTo>
                  <a:pt x="0" y="0"/>
                </a:lnTo>
                <a:lnTo>
                  <a:pt x="0" y="1402842"/>
                </a:lnTo>
                <a:lnTo>
                  <a:pt x="96012" y="1402842"/>
                </a:lnTo>
              </a:path>
            </a:pathLst>
          </a:custGeom>
          <a:noFill/>
          <a:ln w="133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select-label: 选择控制：reg_select"/>
          <p:cNvSpPr txBox="1"/>
          <p:nvPr/>
        </p:nvSpPr>
        <p:spPr>
          <a:xfrm>
            <a:off x="533400" y="2615367"/>
            <a:ext cx="117549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选择控制：reg_select</a:t>
            </a:r>
          </a:p>
        </p:txBody>
      </p:sp>
      <p:sp>
        <p:nvSpPr>
          <p:cNvPr id="39" name="bridge-cut-note: 桥内 CutMemReqs = Cfg.RegAdaptMemCut"/>
          <p:cNvSpPr txBox="1"/>
          <p:nvPr/>
        </p:nvSpPr>
        <p:spPr>
          <a:xfrm>
            <a:off x="7526841" y="2182886"/>
            <a:ext cx="233515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桥内 CutMemReqs = Cfg.RegAdaptMemCut</a:t>
            </a:r>
          </a:p>
        </p:txBody>
      </p:sp>
      <p:sp>
        <p:nvSpPr>
          <p:cNvPr id="40" name="bridge-width-note: 地址宽度 = Cfg.AddrWidth（默认 48 bit）"/>
          <p:cNvSpPr txBox="1"/>
          <p:nvPr/>
        </p:nvSpPr>
        <p:spPr>
          <a:xfrm>
            <a:off x="7566262" y="2374910"/>
            <a:ext cx="225631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地址宽度 = Cfg.AddrWidth（默认 48 bit）</a:t>
            </a:r>
          </a:p>
        </p:txBody>
      </p:sp>
      <p:sp>
        <p:nvSpPr>
          <p:cNvPr id="41" name="demux"/>
          <p:cNvSpPr/>
          <p:nvPr/>
        </p:nvSpPr>
        <p:spPr>
          <a:xfrm>
            <a:off x="480060" y="3600450"/>
            <a:ext cx="11734800" cy="48006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demux-name: i_reg_demux  ·  单入口／多目标"/>
          <p:cNvSpPr txBox="1"/>
          <p:nvPr/>
        </p:nvSpPr>
        <p:spPr>
          <a:xfrm>
            <a:off x="5207684" y="3614318"/>
            <a:ext cx="238623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i_reg_demux  ·  单入口／多目标</a:t>
            </a:r>
          </a:p>
        </p:txBody>
      </p:sp>
      <p:sp>
        <p:nvSpPr>
          <p:cNvPr id="43" name="demux-behavior: 请求仅送选中端口；响应从同一端口返回  ·  无事务 ID、无 burst、无独"/>
          <p:cNvSpPr txBox="1"/>
          <p:nvPr/>
        </p:nvSpPr>
        <p:spPr>
          <a:xfrm>
            <a:off x="4119319" y="3846667"/>
            <a:ext cx="45629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请求仅送选中端口；响应从同一端口返回  ·  无事务 ID、无 burst、无独立读写通道</a:t>
            </a:r>
          </a:p>
        </p:txBody>
      </p:sp>
      <p:sp>
        <p:nvSpPr>
          <p:cNvPr id="44" name="bootrom"/>
          <p:cNvSpPr/>
          <p:nvPr/>
        </p:nvSpPr>
        <p:spPr>
          <a:xfrm>
            <a:off x="480060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bootrom-t0: Boot ROM"/>
          <p:cNvSpPr txBox="1"/>
          <p:nvPr/>
        </p:nvSpPr>
        <p:spPr>
          <a:xfrm>
            <a:off x="720257" y="2862118"/>
            <a:ext cx="6930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6" name="bootrom-t1: bootrom"/>
          <p:cNvSpPr txBox="1"/>
          <p:nvPr/>
        </p:nvSpPr>
        <p:spPr>
          <a:xfrm>
            <a:off x="808368" y="3044754"/>
            <a:ext cx="51686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bootrom</a:t>
            </a:r>
          </a:p>
        </p:txBody>
      </p:sp>
      <p:sp>
        <p:nvSpPr>
          <p:cNvPr id="47" name="port-bootrom"/>
          <p:cNvSpPr/>
          <p:nvPr/>
        </p:nvSpPr>
        <p:spPr>
          <a:xfrm>
            <a:off x="1066800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lint"/>
          <p:cNvSpPr/>
          <p:nvPr/>
        </p:nvSpPr>
        <p:spPr>
          <a:xfrm>
            <a:off x="1800225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t0: CLINT"/>
          <p:cNvSpPr txBox="1"/>
          <p:nvPr/>
        </p:nvSpPr>
        <p:spPr>
          <a:xfrm>
            <a:off x="2160499" y="2862118"/>
            <a:ext cx="45293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50" name="clint-t1: clint"/>
          <p:cNvSpPr txBox="1"/>
          <p:nvPr/>
        </p:nvSpPr>
        <p:spPr>
          <a:xfrm>
            <a:off x="2229224" y="3044754"/>
            <a:ext cx="31548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51" name="port-clint"/>
          <p:cNvSpPr/>
          <p:nvPr/>
        </p:nvSpPr>
        <p:spPr>
          <a:xfrm>
            <a:off x="2386965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lic"/>
          <p:cNvSpPr/>
          <p:nvPr/>
        </p:nvSpPr>
        <p:spPr>
          <a:xfrm>
            <a:off x="3120390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lic-t0: PLIC"/>
          <p:cNvSpPr txBox="1"/>
          <p:nvPr/>
        </p:nvSpPr>
        <p:spPr>
          <a:xfrm>
            <a:off x="3519044" y="2862118"/>
            <a:ext cx="37617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54" name="plic-t1: plic"/>
          <p:cNvSpPr txBox="1"/>
          <p:nvPr/>
        </p:nvSpPr>
        <p:spPr>
          <a:xfrm>
            <a:off x="3567275" y="3044754"/>
            <a:ext cx="27971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55" name="port-plic"/>
          <p:cNvSpPr/>
          <p:nvPr/>
        </p:nvSpPr>
        <p:spPr>
          <a:xfrm>
            <a:off x="3707130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lic"/>
          <p:cNvSpPr/>
          <p:nvPr/>
        </p:nvSpPr>
        <p:spPr>
          <a:xfrm>
            <a:off x="4440555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t0: CLIC"/>
          <p:cNvSpPr txBox="1"/>
          <p:nvPr/>
        </p:nvSpPr>
        <p:spPr>
          <a:xfrm>
            <a:off x="4835396" y="2862118"/>
            <a:ext cx="38379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58" name="clic-t1: clic[i] · 每核一组"/>
          <p:cNvSpPr txBox="1"/>
          <p:nvPr/>
        </p:nvSpPr>
        <p:spPr>
          <a:xfrm>
            <a:off x="4572788" y="3044754"/>
            <a:ext cx="90901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clic[i] · 每核一组</a:t>
            </a:r>
          </a:p>
        </p:txBody>
      </p:sp>
      <p:sp>
        <p:nvSpPr>
          <p:cNvPr id="59" name="port-clic"/>
          <p:cNvSpPr/>
          <p:nvPr/>
        </p:nvSpPr>
        <p:spPr>
          <a:xfrm>
            <a:off x="5027295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irq"/>
          <p:cNvSpPr/>
          <p:nvPr/>
        </p:nvSpPr>
        <p:spPr>
          <a:xfrm>
            <a:off x="5760720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irq-t0: IRQ Router"/>
          <p:cNvSpPr txBox="1"/>
          <p:nvPr/>
        </p:nvSpPr>
        <p:spPr>
          <a:xfrm>
            <a:off x="5981789" y="2862118"/>
            <a:ext cx="73134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62" name="irq-t1: irq_router"/>
          <p:cNvSpPr txBox="1"/>
          <p:nvPr/>
        </p:nvSpPr>
        <p:spPr>
          <a:xfrm>
            <a:off x="6057740" y="3044754"/>
            <a:ext cx="57943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irq_router</a:t>
            </a:r>
          </a:p>
        </p:txBody>
      </p:sp>
      <p:sp>
        <p:nvSpPr>
          <p:cNvPr id="63" name="port-irq"/>
          <p:cNvSpPr/>
          <p:nvPr/>
        </p:nvSpPr>
        <p:spPr>
          <a:xfrm>
            <a:off x="6347460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t"/>
          <p:cNvSpPr/>
          <p:nvPr/>
        </p:nvSpPr>
        <p:spPr>
          <a:xfrm>
            <a:off x="7080885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t-t0: AXI RT 配置"/>
          <p:cNvSpPr txBox="1"/>
          <p:nvPr/>
        </p:nvSpPr>
        <p:spPr>
          <a:xfrm>
            <a:off x="7278639" y="2862118"/>
            <a:ext cx="77797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66" name="rt-t1: axirt"/>
          <p:cNvSpPr txBox="1"/>
          <p:nvPr/>
        </p:nvSpPr>
        <p:spPr>
          <a:xfrm>
            <a:off x="7507643" y="3044754"/>
            <a:ext cx="31996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axirt</a:t>
            </a:r>
          </a:p>
        </p:txBody>
      </p:sp>
      <p:sp>
        <p:nvSpPr>
          <p:cNvPr id="67" name="port-rt"/>
          <p:cNvSpPr/>
          <p:nvPr/>
        </p:nvSpPr>
        <p:spPr>
          <a:xfrm>
            <a:off x="7667625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soc"/>
          <p:cNvSpPr/>
          <p:nvPr/>
        </p:nvSpPr>
        <p:spPr>
          <a:xfrm>
            <a:off x="8401050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soc-t0: SoC 寄存器"/>
          <p:cNvSpPr txBox="1"/>
          <p:nvPr/>
        </p:nvSpPr>
        <p:spPr>
          <a:xfrm>
            <a:off x="8598804" y="2862118"/>
            <a:ext cx="77797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70" name="soc-t1: regs"/>
          <p:cNvSpPr txBox="1"/>
          <p:nvPr/>
        </p:nvSpPr>
        <p:spPr>
          <a:xfrm>
            <a:off x="8826603" y="3044754"/>
            <a:ext cx="32237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regs</a:t>
            </a:r>
          </a:p>
        </p:txBody>
      </p:sp>
      <p:sp>
        <p:nvSpPr>
          <p:cNvPr id="71" name="port-soc"/>
          <p:cNvSpPr/>
          <p:nvPr/>
        </p:nvSpPr>
        <p:spPr>
          <a:xfrm>
            <a:off x="8987790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llc"/>
          <p:cNvSpPr/>
          <p:nvPr/>
        </p:nvSpPr>
        <p:spPr>
          <a:xfrm>
            <a:off x="9721215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llc-t0: LLC 配置"/>
          <p:cNvSpPr txBox="1"/>
          <p:nvPr/>
        </p:nvSpPr>
        <p:spPr>
          <a:xfrm>
            <a:off x="9993103" y="2862118"/>
            <a:ext cx="62970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74" name="llc-t1: llc"/>
          <p:cNvSpPr txBox="1"/>
          <p:nvPr/>
        </p:nvSpPr>
        <p:spPr>
          <a:xfrm>
            <a:off x="10198291" y="3044754"/>
            <a:ext cx="21932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75" name="port-llc"/>
          <p:cNvSpPr/>
          <p:nvPr/>
        </p:nvSpPr>
        <p:spPr>
          <a:xfrm>
            <a:off x="10307955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userr"/>
          <p:cNvSpPr/>
          <p:nvPr/>
        </p:nvSpPr>
        <p:spPr>
          <a:xfrm>
            <a:off x="11041380" y="280035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buserr-t0: Bus-error 记录"/>
          <p:cNvSpPr txBox="1"/>
          <p:nvPr/>
        </p:nvSpPr>
        <p:spPr>
          <a:xfrm>
            <a:off x="11159999" y="2862118"/>
            <a:ext cx="9362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记录</a:t>
            </a:r>
          </a:p>
        </p:txBody>
      </p:sp>
      <p:sp>
        <p:nvSpPr>
          <p:cNvPr id="78" name="buserr-t1: bus_err[j] · 2+核数"/>
          <p:cNvSpPr txBox="1"/>
          <p:nvPr/>
        </p:nvSpPr>
        <p:spPr>
          <a:xfrm>
            <a:off x="11116619" y="3044754"/>
            <a:ext cx="102300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bus_err[j] · 2+核数</a:t>
            </a:r>
          </a:p>
        </p:txBody>
      </p:sp>
      <p:sp>
        <p:nvSpPr>
          <p:cNvPr id="79" name="port-buserr"/>
          <p:cNvSpPr/>
          <p:nvPr/>
        </p:nvSpPr>
        <p:spPr>
          <a:xfrm>
            <a:off x="11628120" y="328041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uart"/>
          <p:cNvSpPr/>
          <p:nvPr/>
        </p:nvSpPr>
        <p:spPr>
          <a:xfrm>
            <a:off x="480060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uart-t0: UART"/>
          <p:cNvSpPr txBox="1"/>
          <p:nvPr/>
        </p:nvSpPr>
        <p:spPr>
          <a:xfrm>
            <a:off x="854398" y="4515658"/>
            <a:ext cx="42480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82" name="uart-t1: uart"/>
          <p:cNvSpPr txBox="1"/>
          <p:nvPr/>
        </p:nvSpPr>
        <p:spPr>
          <a:xfrm>
            <a:off x="914639" y="4698294"/>
            <a:ext cx="30432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83" name="port-uart"/>
          <p:cNvSpPr/>
          <p:nvPr/>
        </p:nvSpPr>
        <p:spPr>
          <a:xfrm>
            <a:off x="1066800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i2c"/>
          <p:cNvSpPr/>
          <p:nvPr/>
        </p:nvSpPr>
        <p:spPr>
          <a:xfrm>
            <a:off x="1800225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i2c-t0: I2C"/>
          <p:cNvSpPr txBox="1"/>
          <p:nvPr/>
        </p:nvSpPr>
        <p:spPr>
          <a:xfrm>
            <a:off x="2228320" y="4515658"/>
            <a:ext cx="31729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86" name="i2c-t1: i2c"/>
          <p:cNvSpPr txBox="1"/>
          <p:nvPr/>
        </p:nvSpPr>
        <p:spPr>
          <a:xfrm>
            <a:off x="2257120" y="4698294"/>
            <a:ext cx="25969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87" name="port-i2c"/>
          <p:cNvSpPr/>
          <p:nvPr/>
        </p:nvSpPr>
        <p:spPr>
          <a:xfrm>
            <a:off x="2386965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spi"/>
          <p:cNvSpPr/>
          <p:nvPr/>
        </p:nvSpPr>
        <p:spPr>
          <a:xfrm>
            <a:off x="3120390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pi-t0: SPI Host"/>
          <p:cNvSpPr txBox="1"/>
          <p:nvPr/>
        </p:nvSpPr>
        <p:spPr>
          <a:xfrm>
            <a:off x="3401467" y="4515658"/>
            <a:ext cx="61132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0" name="spi-t1: spi_host"/>
          <p:cNvSpPr txBox="1"/>
          <p:nvPr/>
        </p:nvSpPr>
        <p:spPr>
          <a:xfrm>
            <a:off x="3443059" y="4698294"/>
            <a:ext cx="52814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spi_host</a:t>
            </a:r>
          </a:p>
        </p:txBody>
      </p:sp>
      <p:sp>
        <p:nvSpPr>
          <p:cNvPr id="91" name="port-spi"/>
          <p:cNvSpPr/>
          <p:nvPr/>
        </p:nvSpPr>
        <p:spPr>
          <a:xfrm>
            <a:off x="3707130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gpio"/>
          <p:cNvSpPr/>
          <p:nvPr/>
        </p:nvSpPr>
        <p:spPr>
          <a:xfrm>
            <a:off x="4440555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gpio-t0: GPIO"/>
          <p:cNvSpPr txBox="1"/>
          <p:nvPr/>
        </p:nvSpPr>
        <p:spPr>
          <a:xfrm>
            <a:off x="4826457" y="4515658"/>
            <a:ext cx="40167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4" name="gpio-t1: gpio"/>
          <p:cNvSpPr txBox="1"/>
          <p:nvPr/>
        </p:nvSpPr>
        <p:spPr>
          <a:xfrm>
            <a:off x="4869500" y="4698294"/>
            <a:ext cx="31558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5" name="port-gpio"/>
          <p:cNvSpPr/>
          <p:nvPr/>
        </p:nvSpPr>
        <p:spPr>
          <a:xfrm>
            <a:off x="5027295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slink"/>
          <p:cNvSpPr/>
          <p:nvPr/>
        </p:nvSpPr>
        <p:spPr>
          <a:xfrm>
            <a:off x="5760720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slink-t0: Serial Link 配置"/>
          <p:cNvSpPr txBox="1"/>
          <p:nvPr/>
        </p:nvSpPr>
        <p:spPr>
          <a:xfrm>
            <a:off x="5843522" y="4515658"/>
            <a:ext cx="10078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98" name="slink-t1: slink"/>
          <p:cNvSpPr txBox="1"/>
          <p:nvPr/>
        </p:nvSpPr>
        <p:spPr>
          <a:xfrm>
            <a:off x="6177355" y="4698294"/>
            <a:ext cx="34020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slink</a:t>
            </a:r>
          </a:p>
        </p:txBody>
      </p:sp>
      <p:sp>
        <p:nvSpPr>
          <p:cNvPr id="99" name="port-slink"/>
          <p:cNvSpPr/>
          <p:nvPr/>
        </p:nvSpPr>
        <p:spPr>
          <a:xfrm>
            <a:off x="6347460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vga"/>
          <p:cNvSpPr/>
          <p:nvPr/>
        </p:nvSpPr>
        <p:spPr>
          <a:xfrm>
            <a:off x="7080885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vga-t0: VGA 配置"/>
          <p:cNvSpPr txBox="1"/>
          <p:nvPr/>
        </p:nvSpPr>
        <p:spPr>
          <a:xfrm>
            <a:off x="7342584" y="4515658"/>
            <a:ext cx="6500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2" name="vga-t1: vga"/>
          <p:cNvSpPr txBox="1"/>
          <p:nvPr/>
        </p:nvSpPr>
        <p:spPr>
          <a:xfrm>
            <a:off x="7528812" y="4698294"/>
            <a:ext cx="27762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03" name="port-vga"/>
          <p:cNvSpPr/>
          <p:nvPr/>
        </p:nvSpPr>
        <p:spPr>
          <a:xfrm>
            <a:off x="7667625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usb"/>
          <p:cNvSpPr/>
          <p:nvPr/>
        </p:nvSpPr>
        <p:spPr>
          <a:xfrm>
            <a:off x="8401050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usb-t0: USB 配置"/>
          <p:cNvSpPr txBox="1"/>
          <p:nvPr/>
        </p:nvSpPr>
        <p:spPr>
          <a:xfrm>
            <a:off x="8656374" y="4515658"/>
            <a:ext cx="66283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6" name="usb-t1: usb"/>
          <p:cNvSpPr txBox="1"/>
          <p:nvPr/>
        </p:nvSpPr>
        <p:spPr>
          <a:xfrm>
            <a:off x="8842301" y="4698294"/>
            <a:ext cx="29097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</a:t>
            </a:r>
          </a:p>
        </p:txBody>
      </p:sp>
      <p:sp>
        <p:nvSpPr>
          <p:cNvPr id="107" name="port-usb"/>
          <p:cNvSpPr/>
          <p:nvPr/>
        </p:nvSpPr>
        <p:spPr>
          <a:xfrm>
            <a:off x="8987790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error"/>
          <p:cNvSpPr/>
          <p:nvPr/>
        </p:nvSpPr>
        <p:spPr>
          <a:xfrm>
            <a:off x="9721215" y="4453890"/>
            <a:ext cx="1173480" cy="480060"/>
          </a:xfrm>
          <a:prstGeom prst="rect">
            <a:avLst/>
          </a:prstGeom>
          <a:solidFill>
            <a:srgbClr val="F1D7D9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error-t0: 错误响应"/>
          <p:cNvSpPr txBox="1"/>
          <p:nvPr/>
        </p:nvSpPr>
        <p:spPr>
          <a:xfrm>
            <a:off x="9987915" y="4515658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错误响应</a:t>
            </a:r>
          </a:p>
        </p:txBody>
      </p:sp>
      <p:sp>
        <p:nvSpPr>
          <p:cNvPr id="110" name="error-t1: err · reg_err_slv"/>
          <p:cNvSpPr txBox="1"/>
          <p:nvPr/>
        </p:nvSpPr>
        <p:spPr>
          <a:xfrm>
            <a:off x="9873842" y="4698294"/>
            <a:ext cx="86822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err · reg_err_slv</a:t>
            </a:r>
          </a:p>
        </p:txBody>
      </p:sp>
      <p:sp>
        <p:nvSpPr>
          <p:cNvPr id="111" name="port-error"/>
          <p:cNvSpPr/>
          <p:nvPr/>
        </p:nvSpPr>
        <p:spPr>
          <a:xfrm>
            <a:off x="10307955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ext"/>
          <p:cNvSpPr/>
          <p:nvPr/>
        </p:nvSpPr>
        <p:spPr>
          <a:xfrm>
            <a:off x="11041380" y="4453890"/>
            <a:ext cx="117348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ext-t0: 外部 RegExt"/>
          <p:cNvSpPr txBox="1"/>
          <p:nvPr/>
        </p:nvSpPr>
        <p:spPr>
          <a:xfrm>
            <a:off x="11226382" y="4515658"/>
            <a:ext cx="80347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RegExt</a:t>
            </a:r>
          </a:p>
        </p:txBody>
      </p:sp>
      <p:sp>
        <p:nvSpPr>
          <p:cNvPr id="114" name="ext-t1: ext_base + k"/>
          <p:cNvSpPr txBox="1"/>
          <p:nvPr/>
        </p:nvSpPr>
        <p:spPr>
          <a:xfrm>
            <a:off x="11256582" y="4698294"/>
            <a:ext cx="74307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ext_base + k</a:t>
            </a:r>
          </a:p>
        </p:txBody>
      </p:sp>
      <p:sp>
        <p:nvSpPr>
          <p:cNvPr id="115" name="port-ext"/>
          <p:cNvSpPr/>
          <p:nvPr/>
        </p:nvSpPr>
        <p:spPr>
          <a:xfrm>
            <a:off x="11628120" y="4080510"/>
            <a:ext cx="1" cy="373380"/>
          </a:xfrm>
          <a:custGeom>
            <a:avLst/>
            <a:gdLst/>
            <a:ahLst/>
            <a:cxnLst/>
            <a:rect l="0" t="0" r="r" b="b"/>
            <a:pathLst>
              <a:path w="1" h="373380" fill="none">
                <a:moveTo>
                  <a:pt x="0" y="0"/>
                </a:moveTo>
                <a:lnTo>
                  <a:pt x="0" y="37338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ttom-port-caption: 端口下标为 RegOut.&lt;名称&gt;；每个端口独立连接 reg_out_req[p"/>
          <p:cNvSpPr txBox="1"/>
          <p:nvPr/>
        </p:nvSpPr>
        <p:spPr>
          <a:xfrm>
            <a:off x="533400" y="4967661"/>
            <a:ext cx="402778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端口下标为 RegOut.&lt;名称&gt;；每个端口独立连接 reg_out_req[p] / reg_out_rsp[p]</a:t>
            </a:r>
          </a:p>
        </p:txBody>
      </p:sp>
      <p:sp>
        <p:nvSpPr>
          <p:cNvPr id="117" name="ext-note: 同域接口；外部异步 IP 需适配"/>
          <p:cNvSpPr txBox="1"/>
          <p:nvPr/>
        </p:nvSpPr>
        <p:spPr>
          <a:xfrm>
            <a:off x="10433512" y="4973848"/>
            <a:ext cx="1461308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同域接口；外部异步 IP 需适配</a:t>
            </a:r>
          </a:p>
        </p:txBody>
      </p:sp>
      <p:sp>
        <p:nvSpPr>
          <p:cNvPr id="118" name="signals"/>
          <p:cNvSpPr/>
          <p:nvPr/>
        </p:nvSpPr>
        <p:spPr>
          <a:xfrm>
            <a:off x="293370" y="5387340"/>
            <a:ext cx="5947410" cy="96012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signals-title: Regbus 接口"/>
          <p:cNvSpPr txBox="1"/>
          <p:nvPr/>
        </p:nvSpPr>
        <p:spPr>
          <a:xfrm>
            <a:off x="453390" y="5445161"/>
            <a:ext cx="94414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接口</a:t>
            </a:r>
          </a:p>
        </p:txBody>
      </p:sp>
      <p:sp>
        <p:nvSpPr>
          <p:cNvPr id="120" name="signals-req: 请求：addr / write / wdata[31:0] / wstrb[3:"/>
          <p:cNvSpPr txBox="1"/>
          <p:nvPr/>
        </p:nvSpPr>
        <p:spPr>
          <a:xfrm>
            <a:off x="453390" y="5681137"/>
            <a:ext cx="310238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请求：addr / write / wdata[31:0] / wstrb[3:0] / valid</a:t>
            </a:r>
          </a:p>
        </p:txBody>
      </p:sp>
      <p:sp>
        <p:nvSpPr>
          <p:cNvPr id="121" name="signals-rsp: 响应：rdata[31:0] / error / ready"/>
          <p:cNvSpPr txBox="1"/>
          <p:nvPr/>
        </p:nvSpPr>
        <p:spPr>
          <a:xfrm>
            <a:off x="453390" y="5889163"/>
            <a:ext cx="199512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响应：rdata[31:0] / error / ready</a:t>
            </a:r>
          </a:p>
        </p:txBody>
      </p:sp>
      <p:sp>
        <p:nvSpPr>
          <p:cNvPr id="122" name="signals-complete: 上升沿 valid &amp;&amp; ready：当前寄存器访问完成"/>
          <p:cNvSpPr txBox="1"/>
          <p:nvPr/>
        </p:nvSpPr>
        <p:spPr>
          <a:xfrm>
            <a:off x="453390" y="6097189"/>
            <a:ext cx="26385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上升沿 valid &amp;&amp; ready：当前寄存器访问完成</a:t>
            </a:r>
          </a:p>
        </p:txBody>
      </p:sp>
      <p:sp>
        <p:nvSpPr>
          <p:cNvPr id="123" name="routing"/>
          <p:cNvSpPr/>
          <p:nvPr/>
        </p:nvSpPr>
        <p:spPr>
          <a:xfrm>
            <a:off x="6400800" y="5387340"/>
            <a:ext cx="6107430" cy="96012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outing-title: 两级地址路由"/>
          <p:cNvSpPr txBox="1"/>
          <p:nvPr/>
        </p:nvSpPr>
        <p:spPr>
          <a:xfrm>
            <a:off x="6560820" y="544516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两级地址路由</a:t>
            </a:r>
          </a:p>
        </p:txBody>
      </p:sp>
      <p:sp>
        <p:nvSpPr>
          <p:cNvPr id="125" name="routing-axi: 一级 AXI：原窗口 [0x0200_0000, 0x0c00_0000)"/>
          <p:cNvSpPr txBox="1"/>
          <p:nvPr/>
        </p:nvSpPr>
        <p:spPr>
          <a:xfrm>
            <a:off x="6560820" y="5681137"/>
            <a:ext cx="290711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一级 AXI：原窗口 [0x0200_0000, 0x0c00_0000)</a:t>
            </a:r>
          </a:p>
        </p:txBody>
      </p:sp>
      <p:sp>
        <p:nvSpPr>
          <p:cNvPr id="126" name="routing-ext: RegExtRegion* 也由 AXI 表送入同一 Regbus 分支"/>
          <p:cNvSpPr txBox="1"/>
          <p:nvPr/>
        </p:nvSpPr>
        <p:spPr>
          <a:xfrm>
            <a:off x="6560820" y="5889163"/>
            <a:ext cx="290148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RegExtRegion* 也由 AXI 表送入同一 Regbus 分支</a:t>
            </a:r>
          </a:p>
        </p:txBody>
      </p:sp>
      <p:sp>
        <p:nvSpPr>
          <p:cNvPr id="127" name="routing-reg: 二级 Reg：按 RegMap 选目标；空洞转向错误响应"/>
          <p:cNvSpPr txBox="1"/>
          <p:nvPr/>
        </p:nvSpPr>
        <p:spPr>
          <a:xfrm>
            <a:off x="6560820" y="6097189"/>
            <a:ext cx="29588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二级 Reg：按 RegMap 选目标；空洞转向错误响应</a:t>
            </a:r>
          </a:p>
        </p:txBody>
      </p:sp>
      <p:sp>
        <p:nvSpPr>
          <p:cNvPr id="128" name="legend-axi"/>
          <p:cNvSpPr/>
          <p:nvPr/>
        </p:nvSpPr>
        <p:spPr>
          <a:xfrm>
            <a:off x="400050" y="66141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legend-axi-t: AXI 请求／响应"/>
          <p:cNvSpPr txBox="1"/>
          <p:nvPr/>
        </p:nvSpPr>
        <p:spPr>
          <a:xfrm>
            <a:off x="826770" y="6530096"/>
            <a:ext cx="89867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请求／响应</a:t>
            </a:r>
          </a:p>
        </p:txBody>
      </p:sp>
      <p:sp>
        <p:nvSpPr>
          <p:cNvPr id="130" name="legend-reg"/>
          <p:cNvSpPr/>
          <p:nvPr/>
        </p:nvSpPr>
        <p:spPr>
          <a:xfrm>
            <a:off x="2240280" y="66141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33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legend-reg-t: Regbus 请求／响应"/>
          <p:cNvSpPr txBox="1"/>
          <p:nvPr/>
        </p:nvSpPr>
        <p:spPr>
          <a:xfrm>
            <a:off x="2667000" y="6530096"/>
            <a:ext cx="11213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请求／响应</a:t>
            </a:r>
          </a:p>
        </p:txBody>
      </p:sp>
      <p:sp>
        <p:nvSpPr>
          <p:cNvPr id="132" name="legend-ctl"/>
          <p:cNvSpPr/>
          <p:nvPr/>
        </p:nvSpPr>
        <p:spPr>
          <a:xfrm>
            <a:off x="4373880" y="66141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33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legend-ctl-t: 地址／选择控制"/>
          <p:cNvSpPr txBox="1"/>
          <p:nvPr/>
        </p:nvSpPr>
        <p:spPr>
          <a:xfrm>
            <a:off x="4800600" y="6530096"/>
            <a:ext cx="93878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地址／选择控制</a:t>
            </a:r>
          </a:p>
        </p:txBody>
      </p:sp>
      <p:sp>
        <p:nvSpPr>
          <p:cNvPr id="134" name="legend-optional"/>
          <p:cNvSpPr/>
          <p:nvPr/>
        </p:nvSpPr>
        <p:spPr>
          <a:xfrm>
            <a:off x="6400800" y="6539484"/>
            <a:ext cx="309372" cy="149352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legend-optional-t: 虚线：按 Cfg 条件生成的目标／扩展口"/>
          <p:cNvSpPr txBox="1"/>
          <p:nvPr/>
        </p:nvSpPr>
        <p:spPr>
          <a:xfrm>
            <a:off x="6800850" y="6530096"/>
            <a:ext cx="211443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虚线：按 Cfg 条件生成的目标／扩展口</a:t>
            </a:r>
          </a:p>
        </p:txBody>
      </p:sp>
      <p:sp>
        <p:nvSpPr>
          <p:cNvPr id="136" name="legend-scope: 目标类别按 RTL 展开；不代表某一 FPGA 配置全部启用。iDMA 使用独立"/>
          <p:cNvSpPr txBox="1"/>
          <p:nvPr/>
        </p:nvSpPr>
        <p:spPr>
          <a:xfrm>
            <a:off x="293370" y="6828373"/>
            <a:ext cx="58410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目标类别按 RTL 展开；不代表某一 FPGA 配置全部启用。iDMA 使用独立 AXI 配置目标，不在此公共分支。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