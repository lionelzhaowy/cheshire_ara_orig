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53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5344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LLC 多路组相联 Cache 与按 way 切换 SPM"/>
          <p:cNvSpPr txBox="1"/>
          <p:nvPr/>
        </p:nvSpPr>
        <p:spPr>
          <a:xfrm>
            <a:off x="304800" y="150876"/>
            <a:ext cx="6211836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4" name="text-003: 当前 DefaultCfg：8 way × 256 行/way × 8 个 64"/>
          <p:cNvSpPr txBox="1"/>
          <p:nvPr/>
        </p:nvSpPr>
        <p:spPr>
          <a:xfrm>
            <a:off x="304800" y="610819"/>
            <a:ext cx="742598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 DefaultCfg：8 way × 256 行/way × 8 个 64-bit 数据块/行 = 128 KiB；每 way 16 KiB</a:t>
            </a:r>
          </a:p>
        </p:txBody>
      </p:sp>
      <p:sp>
        <p:nvSpPr>
          <p:cNvPr id="5" name="rect-004"/>
          <p:cNvSpPr/>
          <p:nvPr/>
        </p:nvSpPr>
        <p:spPr>
          <a:xfrm>
            <a:off x="304800" y="1051560"/>
            <a:ext cx="7772400" cy="48006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8305800" y="1051560"/>
            <a:ext cx="4191000" cy="480060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① 全 Cache：8 路组相联（CFG_SPM = 0x00）"/>
          <p:cNvSpPr txBox="1"/>
          <p:nvPr/>
        </p:nvSpPr>
        <p:spPr>
          <a:xfrm>
            <a:off x="518160" y="1125931"/>
            <a:ext cx="4808803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全 Cache：8 路组相联（CFG_SPM = 0x00）</a:t>
            </a:r>
          </a:p>
        </p:txBody>
      </p:sp>
      <p:sp>
        <p:nvSpPr>
          <p:cNvPr id="8" name="text-007: 每一组有 8 个候选缓存行；每单元上部是 Tag/V/D，下部是 64 B 数据"/>
          <p:cNvSpPr txBox="1"/>
          <p:nvPr/>
        </p:nvSpPr>
        <p:spPr>
          <a:xfrm>
            <a:off x="518160" y="1434998"/>
            <a:ext cx="51376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每一组有 8 个候选缓存行；每单元上部是 Tag/V/D，下部是 64 B 数据</a:t>
            </a:r>
          </a:p>
        </p:txBody>
      </p:sp>
      <p:sp>
        <p:nvSpPr>
          <p:cNvPr id="9" name="rect-008"/>
          <p:cNvSpPr/>
          <p:nvPr/>
        </p:nvSpPr>
        <p:spPr>
          <a:xfrm>
            <a:off x="518160" y="1752600"/>
            <a:ext cx="3048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Tag  [47:14]"/>
          <p:cNvSpPr txBox="1"/>
          <p:nvPr/>
        </p:nvSpPr>
        <p:spPr>
          <a:xfrm>
            <a:off x="1497532" y="1762049"/>
            <a:ext cx="108925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 [47:14]</a:t>
            </a:r>
          </a:p>
        </p:txBody>
      </p:sp>
      <p:sp>
        <p:nvSpPr>
          <p:cNvPr id="11" name="text-010: 34 bit"/>
          <p:cNvSpPr txBox="1"/>
          <p:nvPr/>
        </p:nvSpPr>
        <p:spPr>
          <a:xfrm>
            <a:off x="1770983" y="1969618"/>
            <a:ext cx="54235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2" name="rect-011"/>
          <p:cNvSpPr/>
          <p:nvPr/>
        </p:nvSpPr>
        <p:spPr>
          <a:xfrm>
            <a:off x="3566160" y="1752600"/>
            <a:ext cx="1752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Set  [13:6]"/>
          <p:cNvSpPr txBox="1"/>
          <p:nvPr/>
        </p:nvSpPr>
        <p:spPr>
          <a:xfrm>
            <a:off x="3958239" y="1762049"/>
            <a:ext cx="968442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Set  [13:6]</a:t>
            </a:r>
          </a:p>
        </p:txBody>
      </p:sp>
      <p:sp>
        <p:nvSpPr>
          <p:cNvPr id="14" name="text-013: 8 bit → 256 组"/>
          <p:cNvSpPr txBox="1"/>
          <p:nvPr/>
        </p:nvSpPr>
        <p:spPr>
          <a:xfrm>
            <a:off x="3877342" y="1969618"/>
            <a:ext cx="113023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bit → 256 组</a:t>
            </a:r>
          </a:p>
        </p:txBody>
      </p:sp>
      <p:sp>
        <p:nvSpPr>
          <p:cNvPr id="15" name="rect-014"/>
          <p:cNvSpPr/>
          <p:nvPr/>
        </p:nvSpPr>
        <p:spPr>
          <a:xfrm>
            <a:off x="5318760" y="1752600"/>
            <a:ext cx="1371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Block  [5:3]"/>
          <p:cNvSpPr txBox="1"/>
          <p:nvPr/>
        </p:nvSpPr>
        <p:spPr>
          <a:xfrm>
            <a:off x="5480804" y="1762049"/>
            <a:ext cx="1047512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Block  [5:3]</a:t>
            </a:r>
          </a:p>
        </p:txBody>
      </p:sp>
      <p:sp>
        <p:nvSpPr>
          <p:cNvPr id="17" name="text-016: 8 个数据块"/>
          <p:cNvSpPr txBox="1"/>
          <p:nvPr/>
        </p:nvSpPr>
        <p:spPr>
          <a:xfrm>
            <a:off x="5578739" y="1969618"/>
            <a:ext cx="85164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8" name="rect-017"/>
          <p:cNvSpPr/>
          <p:nvPr/>
        </p:nvSpPr>
        <p:spPr>
          <a:xfrm>
            <a:off x="6690360" y="1752600"/>
            <a:ext cx="1143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Byte  [2:0]"/>
          <p:cNvSpPr txBox="1"/>
          <p:nvPr/>
        </p:nvSpPr>
        <p:spPr>
          <a:xfrm>
            <a:off x="6778663" y="1762049"/>
            <a:ext cx="96639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Byte  [2:0]</a:t>
            </a:r>
          </a:p>
        </p:txBody>
      </p:sp>
      <p:sp>
        <p:nvSpPr>
          <p:cNvPr id="20" name="text-019: 块内 8 字节"/>
          <p:cNvSpPr txBox="1"/>
          <p:nvPr/>
        </p:nvSpPr>
        <p:spPr>
          <a:xfrm>
            <a:off x="6814620" y="1969618"/>
            <a:ext cx="8944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1" name="path-020"/>
          <p:cNvSpPr/>
          <p:nvPr/>
        </p:nvSpPr>
        <p:spPr>
          <a:xfrm>
            <a:off x="1143000" y="2209800"/>
            <a:ext cx="3299460" cy="1767840"/>
          </a:xfrm>
          <a:custGeom>
            <a:avLst/>
            <a:gdLst/>
            <a:ahLst/>
            <a:cxnLst/>
            <a:rect l="0" t="0" r="r" b="b"/>
            <a:pathLst>
              <a:path w="3299460" h="1767840">
                <a:moveTo>
                  <a:pt x="3299460" y="0"/>
                </a:moveTo>
                <a:lnTo>
                  <a:pt x="3299460" y="121920"/>
                </a:lnTo>
                <a:lnTo>
                  <a:pt x="0" y="121920"/>
                </a:lnTo>
                <a:lnTo>
                  <a:pt x="0" y="1767840"/>
                </a:lnTo>
                <a:lnTo>
                  <a:pt x="137160" y="1767840"/>
                </a:lnTo>
              </a:path>
            </a:pathLst>
          </a:custGeom>
          <a:noFill/>
          <a:ln w="2286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1280160" y="392430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2: Set 索引选中同一组，Tag 与各 way 元数据并行比较"/>
          <p:cNvSpPr txBox="1"/>
          <p:nvPr/>
        </p:nvSpPr>
        <p:spPr>
          <a:xfrm>
            <a:off x="1303020" y="2297278"/>
            <a:ext cx="35070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Set 索引选中同一组，Tag 与各 way 元数据并行比较</a:t>
            </a:r>
          </a:p>
        </p:txBody>
      </p:sp>
      <p:sp>
        <p:nvSpPr>
          <p:cNvPr id="24" name="rect-023"/>
          <p:cNvSpPr/>
          <p:nvPr/>
        </p:nvSpPr>
        <p:spPr>
          <a:xfrm>
            <a:off x="137160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Way 0"/>
          <p:cNvSpPr txBox="1"/>
          <p:nvPr/>
        </p:nvSpPr>
        <p:spPr>
          <a:xfrm>
            <a:off x="142218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6" name="rect-025"/>
          <p:cNvSpPr/>
          <p:nvPr/>
        </p:nvSpPr>
        <p:spPr>
          <a:xfrm>
            <a:off x="217932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Way 1"/>
          <p:cNvSpPr txBox="1"/>
          <p:nvPr/>
        </p:nvSpPr>
        <p:spPr>
          <a:xfrm>
            <a:off x="222990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8" name="rect-027"/>
          <p:cNvSpPr/>
          <p:nvPr/>
        </p:nvSpPr>
        <p:spPr>
          <a:xfrm>
            <a:off x="298704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Way 2"/>
          <p:cNvSpPr txBox="1"/>
          <p:nvPr/>
        </p:nvSpPr>
        <p:spPr>
          <a:xfrm>
            <a:off x="303762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30" name="rect-029"/>
          <p:cNvSpPr/>
          <p:nvPr/>
        </p:nvSpPr>
        <p:spPr>
          <a:xfrm>
            <a:off x="379476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Way 3"/>
          <p:cNvSpPr txBox="1"/>
          <p:nvPr/>
        </p:nvSpPr>
        <p:spPr>
          <a:xfrm>
            <a:off x="384534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32" name="rect-031"/>
          <p:cNvSpPr/>
          <p:nvPr/>
        </p:nvSpPr>
        <p:spPr>
          <a:xfrm>
            <a:off x="460248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Way 4"/>
          <p:cNvSpPr txBox="1"/>
          <p:nvPr/>
        </p:nvSpPr>
        <p:spPr>
          <a:xfrm>
            <a:off x="465306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34" name="rect-033"/>
          <p:cNvSpPr/>
          <p:nvPr/>
        </p:nvSpPr>
        <p:spPr>
          <a:xfrm>
            <a:off x="541020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Way 5"/>
          <p:cNvSpPr txBox="1"/>
          <p:nvPr/>
        </p:nvSpPr>
        <p:spPr>
          <a:xfrm>
            <a:off x="546078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36" name="rect-035"/>
          <p:cNvSpPr/>
          <p:nvPr/>
        </p:nvSpPr>
        <p:spPr>
          <a:xfrm>
            <a:off x="621792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Way 6"/>
          <p:cNvSpPr txBox="1"/>
          <p:nvPr/>
        </p:nvSpPr>
        <p:spPr>
          <a:xfrm>
            <a:off x="626850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38" name="rect-037"/>
          <p:cNvSpPr/>
          <p:nvPr/>
        </p:nvSpPr>
        <p:spPr>
          <a:xfrm>
            <a:off x="702564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Way 7"/>
          <p:cNvSpPr txBox="1"/>
          <p:nvPr/>
        </p:nvSpPr>
        <p:spPr>
          <a:xfrm>
            <a:off x="707622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40" name="rect-039"/>
          <p:cNvSpPr/>
          <p:nvPr/>
        </p:nvSpPr>
        <p:spPr>
          <a:xfrm>
            <a:off x="1295400" y="3726180"/>
            <a:ext cx="6583680" cy="502920"/>
          </a:xfrm>
          <a:prstGeom prst="roundRect">
            <a:avLst>
              <a:gd name="adj" fmla="val 7575"/>
            </a:avLst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组 0"/>
          <p:cNvSpPr txBox="1"/>
          <p:nvPr/>
        </p:nvSpPr>
        <p:spPr>
          <a:xfrm>
            <a:off x="609600" y="29355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42" name="rect-041"/>
          <p:cNvSpPr/>
          <p:nvPr/>
        </p:nvSpPr>
        <p:spPr>
          <a:xfrm>
            <a:off x="137160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137160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T / V / D"/>
          <p:cNvSpPr txBox="1"/>
          <p:nvPr/>
        </p:nvSpPr>
        <p:spPr>
          <a:xfrm>
            <a:off x="140630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5" name="text-044: 64 B"/>
          <p:cNvSpPr txBox="1"/>
          <p:nvPr/>
        </p:nvSpPr>
        <p:spPr>
          <a:xfrm>
            <a:off x="152846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6" name="rect-045"/>
          <p:cNvSpPr/>
          <p:nvPr/>
        </p:nvSpPr>
        <p:spPr>
          <a:xfrm>
            <a:off x="217932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217932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T / V / D"/>
          <p:cNvSpPr txBox="1"/>
          <p:nvPr/>
        </p:nvSpPr>
        <p:spPr>
          <a:xfrm>
            <a:off x="221402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9" name="text-048: 64 B"/>
          <p:cNvSpPr txBox="1"/>
          <p:nvPr/>
        </p:nvSpPr>
        <p:spPr>
          <a:xfrm>
            <a:off x="233618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0" name="rect-049"/>
          <p:cNvSpPr/>
          <p:nvPr/>
        </p:nvSpPr>
        <p:spPr>
          <a:xfrm>
            <a:off x="298704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298704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T / V / D"/>
          <p:cNvSpPr txBox="1"/>
          <p:nvPr/>
        </p:nvSpPr>
        <p:spPr>
          <a:xfrm>
            <a:off x="302174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3" name="text-052: 64 B"/>
          <p:cNvSpPr txBox="1"/>
          <p:nvPr/>
        </p:nvSpPr>
        <p:spPr>
          <a:xfrm>
            <a:off x="314390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4" name="rect-053"/>
          <p:cNvSpPr/>
          <p:nvPr/>
        </p:nvSpPr>
        <p:spPr>
          <a:xfrm>
            <a:off x="379476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79476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T / V / D"/>
          <p:cNvSpPr txBox="1"/>
          <p:nvPr/>
        </p:nvSpPr>
        <p:spPr>
          <a:xfrm>
            <a:off x="382946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7" name="text-056: 64 B"/>
          <p:cNvSpPr txBox="1"/>
          <p:nvPr/>
        </p:nvSpPr>
        <p:spPr>
          <a:xfrm>
            <a:off x="395162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8" name="rect-057"/>
          <p:cNvSpPr/>
          <p:nvPr/>
        </p:nvSpPr>
        <p:spPr>
          <a:xfrm>
            <a:off x="460248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460248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T / V / D"/>
          <p:cNvSpPr txBox="1"/>
          <p:nvPr/>
        </p:nvSpPr>
        <p:spPr>
          <a:xfrm>
            <a:off x="463718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1" name="text-060: 64 B"/>
          <p:cNvSpPr txBox="1"/>
          <p:nvPr/>
        </p:nvSpPr>
        <p:spPr>
          <a:xfrm>
            <a:off x="475934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2" name="rect-061"/>
          <p:cNvSpPr/>
          <p:nvPr/>
        </p:nvSpPr>
        <p:spPr>
          <a:xfrm>
            <a:off x="541020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541020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T / V / D"/>
          <p:cNvSpPr txBox="1"/>
          <p:nvPr/>
        </p:nvSpPr>
        <p:spPr>
          <a:xfrm>
            <a:off x="544490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5" name="text-064: 64 B"/>
          <p:cNvSpPr txBox="1"/>
          <p:nvPr/>
        </p:nvSpPr>
        <p:spPr>
          <a:xfrm>
            <a:off x="556706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6" name="rect-065"/>
          <p:cNvSpPr/>
          <p:nvPr/>
        </p:nvSpPr>
        <p:spPr>
          <a:xfrm>
            <a:off x="621792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621792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T / V / D"/>
          <p:cNvSpPr txBox="1"/>
          <p:nvPr/>
        </p:nvSpPr>
        <p:spPr>
          <a:xfrm>
            <a:off x="625262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9" name="text-068: 64 B"/>
          <p:cNvSpPr txBox="1"/>
          <p:nvPr/>
        </p:nvSpPr>
        <p:spPr>
          <a:xfrm>
            <a:off x="637478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0" name="rect-069"/>
          <p:cNvSpPr/>
          <p:nvPr/>
        </p:nvSpPr>
        <p:spPr>
          <a:xfrm>
            <a:off x="702564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-070"/>
          <p:cNvSpPr/>
          <p:nvPr/>
        </p:nvSpPr>
        <p:spPr>
          <a:xfrm>
            <a:off x="702564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T / V / D"/>
          <p:cNvSpPr txBox="1"/>
          <p:nvPr/>
        </p:nvSpPr>
        <p:spPr>
          <a:xfrm>
            <a:off x="706034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3" name="text-072: 64 B"/>
          <p:cNvSpPr txBox="1"/>
          <p:nvPr/>
        </p:nvSpPr>
        <p:spPr>
          <a:xfrm>
            <a:off x="718250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4" name="text-073: 组 1"/>
          <p:cNvSpPr txBox="1"/>
          <p:nvPr/>
        </p:nvSpPr>
        <p:spPr>
          <a:xfrm>
            <a:off x="609600" y="33927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75" name="rect-074"/>
          <p:cNvSpPr/>
          <p:nvPr/>
        </p:nvSpPr>
        <p:spPr>
          <a:xfrm>
            <a:off x="137160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5"/>
          <p:cNvSpPr/>
          <p:nvPr/>
        </p:nvSpPr>
        <p:spPr>
          <a:xfrm>
            <a:off x="137160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T / V / D"/>
          <p:cNvSpPr txBox="1"/>
          <p:nvPr/>
        </p:nvSpPr>
        <p:spPr>
          <a:xfrm>
            <a:off x="140630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8" name="text-077: 64 B"/>
          <p:cNvSpPr txBox="1"/>
          <p:nvPr/>
        </p:nvSpPr>
        <p:spPr>
          <a:xfrm>
            <a:off x="152846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9" name="rect-078"/>
          <p:cNvSpPr/>
          <p:nvPr/>
        </p:nvSpPr>
        <p:spPr>
          <a:xfrm>
            <a:off x="217932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217932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T / V / D"/>
          <p:cNvSpPr txBox="1"/>
          <p:nvPr/>
        </p:nvSpPr>
        <p:spPr>
          <a:xfrm>
            <a:off x="221402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2" name="text-081: 64 B"/>
          <p:cNvSpPr txBox="1"/>
          <p:nvPr/>
        </p:nvSpPr>
        <p:spPr>
          <a:xfrm>
            <a:off x="233618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3" name="rect-082"/>
          <p:cNvSpPr/>
          <p:nvPr/>
        </p:nvSpPr>
        <p:spPr>
          <a:xfrm>
            <a:off x="298704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298704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T / V / D"/>
          <p:cNvSpPr txBox="1"/>
          <p:nvPr/>
        </p:nvSpPr>
        <p:spPr>
          <a:xfrm>
            <a:off x="302174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6" name="text-085: 64 B"/>
          <p:cNvSpPr txBox="1"/>
          <p:nvPr/>
        </p:nvSpPr>
        <p:spPr>
          <a:xfrm>
            <a:off x="314390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7" name="rect-086"/>
          <p:cNvSpPr/>
          <p:nvPr/>
        </p:nvSpPr>
        <p:spPr>
          <a:xfrm>
            <a:off x="379476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87"/>
          <p:cNvSpPr/>
          <p:nvPr/>
        </p:nvSpPr>
        <p:spPr>
          <a:xfrm>
            <a:off x="379476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T / V / D"/>
          <p:cNvSpPr txBox="1"/>
          <p:nvPr/>
        </p:nvSpPr>
        <p:spPr>
          <a:xfrm>
            <a:off x="382946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0" name="text-089: 64 B"/>
          <p:cNvSpPr txBox="1"/>
          <p:nvPr/>
        </p:nvSpPr>
        <p:spPr>
          <a:xfrm>
            <a:off x="395162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1" name="rect-090"/>
          <p:cNvSpPr/>
          <p:nvPr/>
        </p:nvSpPr>
        <p:spPr>
          <a:xfrm>
            <a:off x="460248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-091"/>
          <p:cNvSpPr/>
          <p:nvPr/>
        </p:nvSpPr>
        <p:spPr>
          <a:xfrm>
            <a:off x="460248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T / V / D"/>
          <p:cNvSpPr txBox="1"/>
          <p:nvPr/>
        </p:nvSpPr>
        <p:spPr>
          <a:xfrm>
            <a:off x="463718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4" name="text-093: 64 B"/>
          <p:cNvSpPr txBox="1"/>
          <p:nvPr/>
        </p:nvSpPr>
        <p:spPr>
          <a:xfrm>
            <a:off x="475934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5" name="rect-094"/>
          <p:cNvSpPr/>
          <p:nvPr/>
        </p:nvSpPr>
        <p:spPr>
          <a:xfrm>
            <a:off x="541020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-095"/>
          <p:cNvSpPr/>
          <p:nvPr/>
        </p:nvSpPr>
        <p:spPr>
          <a:xfrm>
            <a:off x="541020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6: T / V / D"/>
          <p:cNvSpPr txBox="1"/>
          <p:nvPr/>
        </p:nvSpPr>
        <p:spPr>
          <a:xfrm>
            <a:off x="544490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8" name="text-097: 64 B"/>
          <p:cNvSpPr txBox="1"/>
          <p:nvPr/>
        </p:nvSpPr>
        <p:spPr>
          <a:xfrm>
            <a:off x="556706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9" name="rect-098"/>
          <p:cNvSpPr/>
          <p:nvPr/>
        </p:nvSpPr>
        <p:spPr>
          <a:xfrm>
            <a:off x="621792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-099"/>
          <p:cNvSpPr/>
          <p:nvPr/>
        </p:nvSpPr>
        <p:spPr>
          <a:xfrm>
            <a:off x="621792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T / V / D"/>
          <p:cNvSpPr txBox="1"/>
          <p:nvPr/>
        </p:nvSpPr>
        <p:spPr>
          <a:xfrm>
            <a:off x="625262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2" name="text-101: 64 B"/>
          <p:cNvSpPr txBox="1"/>
          <p:nvPr/>
        </p:nvSpPr>
        <p:spPr>
          <a:xfrm>
            <a:off x="637478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3" name="rect-102"/>
          <p:cNvSpPr/>
          <p:nvPr/>
        </p:nvSpPr>
        <p:spPr>
          <a:xfrm>
            <a:off x="702564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-103"/>
          <p:cNvSpPr/>
          <p:nvPr/>
        </p:nvSpPr>
        <p:spPr>
          <a:xfrm>
            <a:off x="702564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T / V / D"/>
          <p:cNvSpPr txBox="1"/>
          <p:nvPr/>
        </p:nvSpPr>
        <p:spPr>
          <a:xfrm>
            <a:off x="706034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6" name="text-105: 64 B"/>
          <p:cNvSpPr txBox="1"/>
          <p:nvPr/>
        </p:nvSpPr>
        <p:spPr>
          <a:xfrm>
            <a:off x="718250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7" name="text-106: 组 42"/>
          <p:cNvSpPr txBox="1"/>
          <p:nvPr/>
        </p:nvSpPr>
        <p:spPr>
          <a:xfrm>
            <a:off x="609600" y="3849929"/>
            <a:ext cx="58150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108" name="rect-107"/>
          <p:cNvSpPr/>
          <p:nvPr/>
        </p:nvSpPr>
        <p:spPr>
          <a:xfrm>
            <a:off x="137160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-108"/>
          <p:cNvSpPr/>
          <p:nvPr/>
        </p:nvSpPr>
        <p:spPr>
          <a:xfrm>
            <a:off x="137160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09: T / V / D"/>
          <p:cNvSpPr txBox="1"/>
          <p:nvPr/>
        </p:nvSpPr>
        <p:spPr>
          <a:xfrm>
            <a:off x="140630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1" name="text-110: 64 B"/>
          <p:cNvSpPr txBox="1"/>
          <p:nvPr/>
        </p:nvSpPr>
        <p:spPr>
          <a:xfrm>
            <a:off x="152846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2" name="rect-111"/>
          <p:cNvSpPr/>
          <p:nvPr/>
        </p:nvSpPr>
        <p:spPr>
          <a:xfrm>
            <a:off x="217932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-112"/>
          <p:cNvSpPr/>
          <p:nvPr/>
        </p:nvSpPr>
        <p:spPr>
          <a:xfrm>
            <a:off x="217932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-113: T / V / D"/>
          <p:cNvSpPr txBox="1"/>
          <p:nvPr/>
        </p:nvSpPr>
        <p:spPr>
          <a:xfrm>
            <a:off x="221402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5" name="text-114: 64 B"/>
          <p:cNvSpPr txBox="1"/>
          <p:nvPr/>
        </p:nvSpPr>
        <p:spPr>
          <a:xfrm>
            <a:off x="233618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6" name="rect-115"/>
          <p:cNvSpPr/>
          <p:nvPr/>
        </p:nvSpPr>
        <p:spPr>
          <a:xfrm>
            <a:off x="298704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-116"/>
          <p:cNvSpPr/>
          <p:nvPr/>
        </p:nvSpPr>
        <p:spPr>
          <a:xfrm>
            <a:off x="298704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117: T / V / D"/>
          <p:cNvSpPr txBox="1"/>
          <p:nvPr/>
        </p:nvSpPr>
        <p:spPr>
          <a:xfrm>
            <a:off x="302174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9" name="text-118: 64 B"/>
          <p:cNvSpPr txBox="1"/>
          <p:nvPr/>
        </p:nvSpPr>
        <p:spPr>
          <a:xfrm>
            <a:off x="314390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0" name="rect-119"/>
          <p:cNvSpPr/>
          <p:nvPr/>
        </p:nvSpPr>
        <p:spPr>
          <a:xfrm>
            <a:off x="379476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-120"/>
          <p:cNvSpPr/>
          <p:nvPr/>
        </p:nvSpPr>
        <p:spPr>
          <a:xfrm>
            <a:off x="379476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-121: T / V / D"/>
          <p:cNvSpPr txBox="1"/>
          <p:nvPr/>
        </p:nvSpPr>
        <p:spPr>
          <a:xfrm>
            <a:off x="382946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3" name="text-122: 64 B"/>
          <p:cNvSpPr txBox="1"/>
          <p:nvPr/>
        </p:nvSpPr>
        <p:spPr>
          <a:xfrm>
            <a:off x="395162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4" name="rect-123"/>
          <p:cNvSpPr/>
          <p:nvPr/>
        </p:nvSpPr>
        <p:spPr>
          <a:xfrm>
            <a:off x="460248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-124"/>
          <p:cNvSpPr/>
          <p:nvPr/>
        </p:nvSpPr>
        <p:spPr>
          <a:xfrm>
            <a:off x="460248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125: T / V / D"/>
          <p:cNvSpPr txBox="1"/>
          <p:nvPr/>
        </p:nvSpPr>
        <p:spPr>
          <a:xfrm>
            <a:off x="463718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7" name="text-126: 64 B"/>
          <p:cNvSpPr txBox="1"/>
          <p:nvPr/>
        </p:nvSpPr>
        <p:spPr>
          <a:xfrm>
            <a:off x="475934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8" name="rect-127"/>
          <p:cNvSpPr/>
          <p:nvPr/>
        </p:nvSpPr>
        <p:spPr>
          <a:xfrm>
            <a:off x="541020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541020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T / V / D"/>
          <p:cNvSpPr txBox="1"/>
          <p:nvPr/>
        </p:nvSpPr>
        <p:spPr>
          <a:xfrm>
            <a:off x="544490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1" name="text-130: 64 B"/>
          <p:cNvSpPr txBox="1"/>
          <p:nvPr/>
        </p:nvSpPr>
        <p:spPr>
          <a:xfrm>
            <a:off x="556706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2" name="rect-131"/>
          <p:cNvSpPr/>
          <p:nvPr/>
        </p:nvSpPr>
        <p:spPr>
          <a:xfrm>
            <a:off x="6217920" y="3771900"/>
            <a:ext cx="762000" cy="19812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6217920" y="3970020"/>
            <a:ext cx="762000" cy="21336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T / V / D"/>
          <p:cNvSpPr txBox="1"/>
          <p:nvPr/>
        </p:nvSpPr>
        <p:spPr>
          <a:xfrm>
            <a:off x="625262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5" name="text-134: 64 B"/>
          <p:cNvSpPr txBox="1"/>
          <p:nvPr/>
        </p:nvSpPr>
        <p:spPr>
          <a:xfrm>
            <a:off x="637478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6" name="rect-135"/>
          <p:cNvSpPr/>
          <p:nvPr/>
        </p:nvSpPr>
        <p:spPr>
          <a:xfrm>
            <a:off x="702564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136"/>
          <p:cNvSpPr/>
          <p:nvPr/>
        </p:nvSpPr>
        <p:spPr>
          <a:xfrm>
            <a:off x="702564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137: T / V / D"/>
          <p:cNvSpPr txBox="1"/>
          <p:nvPr/>
        </p:nvSpPr>
        <p:spPr>
          <a:xfrm>
            <a:off x="706034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9" name="text-138: 64 B"/>
          <p:cNvSpPr txBox="1"/>
          <p:nvPr/>
        </p:nvSpPr>
        <p:spPr>
          <a:xfrm>
            <a:off x="718250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0" name="text-139: 组 255"/>
          <p:cNvSpPr txBox="1"/>
          <p:nvPr/>
        </p:nvSpPr>
        <p:spPr>
          <a:xfrm>
            <a:off x="609600" y="4764329"/>
            <a:ext cx="67981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41" name="rect-140"/>
          <p:cNvSpPr/>
          <p:nvPr/>
        </p:nvSpPr>
        <p:spPr>
          <a:xfrm>
            <a:off x="137160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-141"/>
          <p:cNvSpPr/>
          <p:nvPr/>
        </p:nvSpPr>
        <p:spPr>
          <a:xfrm>
            <a:off x="137160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-142: T / V / D"/>
          <p:cNvSpPr txBox="1"/>
          <p:nvPr/>
        </p:nvSpPr>
        <p:spPr>
          <a:xfrm>
            <a:off x="140630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4" name="text-143: 64 B"/>
          <p:cNvSpPr txBox="1"/>
          <p:nvPr/>
        </p:nvSpPr>
        <p:spPr>
          <a:xfrm>
            <a:off x="152846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5" name="rect-144"/>
          <p:cNvSpPr/>
          <p:nvPr/>
        </p:nvSpPr>
        <p:spPr>
          <a:xfrm>
            <a:off x="217932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-145"/>
          <p:cNvSpPr/>
          <p:nvPr/>
        </p:nvSpPr>
        <p:spPr>
          <a:xfrm>
            <a:off x="217932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-146: T / V / D"/>
          <p:cNvSpPr txBox="1"/>
          <p:nvPr/>
        </p:nvSpPr>
        <p:spPr>
          <a:xfrm>
            <a:off x="221402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8" name="text-147: 64 B"/>
          <p:cNvSpPr txBox="1"/>
          <p:nvPr/>
        </p:nvSpPr>
        <p:spPr>
          <a:xfrm>
            <a:off x="233618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9" name="rect-148"/>
          <p:cNvSpPr/>
          <p:nvPr/>
        </p:nvSpPr>
        <p:spPr>
          <a:xfrm>
            <a:off x="298704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-149"/>
          <p:cNvSpPr/>
          <p:nvPr/>
        </p:nvSpPr>
        <p:spPr>
          <a:xfrm>
            <a:off x="298704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-150: T / V / D"/>
          <p:cNvSpPr txBox="1"/>
          <p:nvPr/>
        </p:nvSpPr>
        <p:spPr>
          <a:xfrm>
            <a:off x="302174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2" name="text-151: 64 B"/>
          <p:cNvSpPr txBox="1"/>
          <p:nvPr/>
        </p:nvSpPr>
        <p:spPr>
          <a:xfrm>
            <a:off x="314390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3" name="rect-152"/>
          <p:cNvSpPr/>
          <p:nvPr/>
        </p:nvSpPr>
        <p:spPr>
          <a:xfrm>
            <a:off x="379476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-153"/>
          <p:cNvSpPr/>
          <p:nvPr/>
        </p:nvSpPr>
        <p:spPr>
          <a:xfrm>
            <a:off x="379476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54: T / V / D"/>
          <p:cNvSpPr txBox="1"/>
          <p:nvPr/>
        </p:nvSpPr>
        <p:spPr>
          <a:xfrm>
            <a:off x="382946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6" name="text-155: 64 B"/>
          <p:cNvSpPr txBox="1"/>
          <p:nvPr/>
        </p:nvSpPr>
        <p:spPr>
          <a:xfrm>
            <a:off x="395162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7" name="rect-156"/>
          <p:cNvSpPr/>
          <p:nvPr/>
        </p:nvSpPr>
        <p:spPr>
          <a:xfrm>
            <a:off x="460248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-157"/>
          <p:cNvSpPr/>
          <p:nvPr/>
        </p:nvSpPr>
        <p:spPr>
          <a:xfrm>
            <a:off x="460248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-158: T / V / D"/>
          <p:cNvSpPr txBox="1"/>
          <p:nvPr/>
        </p:nvSpPr>
        <p:spPr>
          <a:xfrm>
            <a:off x="463718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0" name="text-159: 64 B"/>
          <p:cNvSpPr txBox="1"/>
          <p:nvPr/>
        </p:nvSpPr>
        <p:spPr>
          <a:xfrm>
            <a:off x="475934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1" name="rect-160"/>
          <p:cNvSpPr/>
          <p:nvPr/>
        </p:nvSpPr>
        <p:spPr>
          <a:xfrm>
            <a:off x="541020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-161"/>
          <p:cNvSpPr/>
          <p:nvPr/>
        </p:nvSpPr>
        <p:spPr>
          <a:xfrm>
            <a:off x="541020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162: T / V / D"/>
          <p:cNvSpPr txBox="1"/>
          <p:nvPr/>
        </p:nvSpPr>
        <p:spPr>
          <a:xfrm>
            <a:off x="544490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4" name="text-163: 64 B"/>
          <p:cNvSpPr txBox="1"/>
          <p:nvPr/>
        </p:nvSpPr>
        <p:spPr>
          <a:xfrm>
            <a:off x="556706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5" name="rect-164"/>
          <p:cNvSpPr/>
          <p:nvPr/>
        </p:nvSpPr>
        <p:spPr>
          <a:xfrm>
            <a:off x="621792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-165"/>
          <p:cNvSpPr/>
          <p:nvPr/>
        </p:nvSpPr>
        <p:spPr>
          <a:xfrm>
            <a:off x="621792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166: T / V / D"/>
          <p:cNvSpPr txBox="1"/>
          <p:nvPr/>
        </p:nvSpPr>
        <p:spPr>
          <a:xfrm>
            <a:off x="625262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8" name="text-167: 64 B"/>
          <p:cNvSpPr txBox="1"/>
          <p:nvPr/>
        </p:nvSpPr>
        <p:spPr>
          <a:xfrm>
            <a:off x="637478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9" name="rect-168"/>
          <p:cNvSpPr/>
          <p:nvPr/>
        </p:nvSpPr>
        <p:spPr>
          <a:xfrm>
            <a:off x="702564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-169"/>
          <p:cNvSpPr/>
          <p:nvPr/>
        </p:nvSpPr>
        <p:spPr>
          <a:xfrm>
            <a:off x="702564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-170: T / V / D"/>
          <p:cNvSpPr txBox="1"/>
          <p:nvPr/>
        </p:nvSpPr>
        <p:spPr>
          <a:xfrm>
            <a:off x="706034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72" name="text-171: 64 B"/>
          <p:cNvSpPr txBox="1"/>
          <p:nvPr/>
        </p:nvSpPr>
        <p:spPr>
          <a:xfrm>
            <a:off x="718250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73" name="text-172: ⋮"/>
          <p:cNvSpPr txBox="1"/>
          <p:nvPr/>
        </p:nvSpPr>
        <p:spPr>
          <a:xfrm>
            <a:off x="50934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text-173: ⋮"/>
          <p:cNvSpPr txBox="1"/>
          <p:nvPr/>
        </p:nvSpPr>
        <p:spPr>
          <a:xfrm>
            <a:off x="154566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5" name="text-174: ⋮"/>
          <p:cNvSpPr txBox="1"/>
          <p:nvPr/>
        </p:nvSpPr>
        <p:spPr>
          <a:xfrm>
            <a:off x="235338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6" name="text-175: ⋮"/>
          <p:cNvSpPr txBox="1"/>
          <p:nvPr/>
        </p:nvSpPr>
        <p:spPr>
          <a:xfrm>
            <a:off x="316110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7" name="text-176: ⋮"/>
          <p:cNvSpPr txBox="1"/>
          <p:nvPr/>
        </p:nvSpPr>
        <p:spPr>
          <a:xfrm>
            <a:off x="396882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8" name="text-177: ⋮"/>
          <p:cNvSpPr txBox="1"/>
          <p:nvPr/>
        </p:nvSpPr>
        <p:spPr>
          <a:xfrm>
            <a:off x="477654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9" name="text-178: ⋮"/>
          <p:cNvSpPr txBox="1"/>
          <p:nvPr/>
        </p:nvSpPr>
        <p:spPr>
          <a:xfrm>
            <a:off x="558426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0" name="text-179: ⋮"/>
          <p:cNvSpPr txBox="1"/>
          <p:nvPr/>
        </p:nvSpPr>
        <p:spPr>
          <a:xfrm>
            <a:off x="639198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1" name="text-180: ⋮"/>
          <p:cNvSpPr txBox="1"/>
          <p:nvPr/>
        </p:nvSpPr>
        <p:spPr>
          <a:xfrm>
            <a:off x="719970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2" name="text-181: 命中举例：组 42 的 Way 6；Way 由 Tag+Valid 命中结果选择"/>
          <p:cNvSpPr txBox="1"/>
          <p:nvPr/>
        </p:nvSpPr>
        <p:spPr>
          <a:xfrm>
            <a:off x="518160" y="5168798"/>
            <a:ext cx="6267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命中举例：组 42 的 Way 6；Way 由 Tag+Valid 命中结果选择，不是 Cache 地址字段</a:t>
            </a:r>
          </a:p>
        </p:txBody>
      </p:sp>
      <p:sp>
        <p:nvSpPr>
          <p:cNvPr id="183" name="text-182: 未命中：在 Cache way 中替换 / 回填；Dirty 决定是否向下游 D"/>
          <p:cNvSpPr txBox="1"/>
          <p:nvPr/>
        </p:nvSpPr>
        <p:spPr>
          <a:xfrm>
            <a:off x="518160" y="5397398"/>
            <a:ext cx="52953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未命中：在 Cache way 中替换 / 回填；Dirty 决定是否向下游 DDR 回写</a:t>
            </a:r>
          </a:p>
        </p:txBody>
      </p:sp>
      <p:sp>
        <p:nvSpPr>
          <p:cNvPr id="184" name="text-183: 图中为逻辑行对应关系；Tag SRAM 与 Data SRAM 是不同存储阵列。"/>
          <p:cNvSpPr txBox="1"/>
          <p:nvPr/>
        </p:nvSpPr>
        <p:spPr>
          <a:xfrm>
            <a:off x="518160" y="5604358"/>
            <a:ext cx="466072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图中为逻辑行对应关系；Tag SRAM 与 Data SRAM 是不同存储阵列。</a:t>
            </a:r>
          </a:p>
        </p:txBody>
      </p:sp>
      <p:sp>
        <p:nvSpPr>
          <p:cNvPr id="185" name="text-184: ② 复用同一数据阵列：按整 way 分配"/>
          <p:cNvSpPr txBox="1"/>
          <p:nvPr/>
        </p:nvSpPr>
        <p:spPr>
          <a:xfrm>
            <a:off x="8519160" y="1142390"/>
            <a:ext cx="3518487" cy="316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复用同一数据阵列：按整 way 分配</a:t>
            </a:r>
          </a:p>
        </p:txBody>
      </p:sp>
      <p:sp>
        <p:nvSpPr>
          <p:cNvPr id="186" name="text-185: 位图：1 = SPM（S），0 = Cache（C）"/>
          <p:cNvSpPr txBox="1"/>
          <p:nvPr/>
        </p:nvSpPr>
        <p:spPr>
          <a:xfrm>
            <a:off x="8519160" y="1434998"/>
            <a:ext cx="30657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位图：1 = SPM（S），0 = Cache（C）</a:t>
            </a:r>
          </a:p>
        </p:txBody>
      </p:sp>
      <p:sp>
        <p:nvSpPr>
          <p:cNvPr id="187" name="text-186: 全 Cache 0x00：128 KiB Cache"/>
          <p:cNvSpPr txBox="1"/>
          <p:nvPr/>
        </p:nvSpPr>
        <p:spPr>
          <a:xfrm>
            <a:off x="8519160" y="1709318"/>
            <a:ext cx="248834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Cache 0x00：128 KiB Cache</a:t>
            </a:r>
          </a:p>
        </p:txBody>
      </p:sp>
      <p:sp>
        <p:nvSpPr>
          <p:cNvPr id="188" name="rect-187"/>
          <p:cNvSpPr/>
          <p:nvPr/>
        </p:nvSpPr>
        <p:spPr>
          <a:xfrm>
            <a:off x="851916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text-188: W0"/>
          <p:cNvSpPr txBox="1"/>
          <p:nvPr/>
        </p:nvSpPr>
        <p:spPr>
          <a:xfrm>
            <a:off x="855163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90" name="text-189: C"/>
          <p:cNvSpPr txBox="1"/>
          <p:nvPr/>
        </p:nvSpPr>
        <p:spPr>
          <a:xfrm>
            <a:off x="860024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1" name="rect-190"/>
          <p:cNvSpPr/>
          <p:nvPr/>
        </p:nvSpPr>
        <p:spPr>
          <a:xfrm>
            <a:off x="898398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-191: W1"/>
          <p:cNvSpPr txBox="1"/>
          <p:nvPr/>
        </p:nvSpPr>
        <p:spPr>
          <a:xfrm>
            <a:off x="901645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3" name="text-192: C"/>
          <p:cNvSpPr txBox="1"/>
          <p:nvPr/>
        </p:nvSpPr>
        <p:spPr>
          <a:xfrm>
            <a:off x="906506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4" name="rect-193"/>
          <p:cNvSpPr/>
          <p:nvPr/>
        </p:nvSpPr>
        <p:spPr>
          <a:xfrm>
            <a:off x="944880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-194: W2"/>
          <p:cNvSpPr txBox="1"/>
          <p:nvPr/>
        </p:nvSpPr>
        <p:spPr>
          <a:xfrm>
            <a:off x="948127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6" name="text-195: C"/>
          <p:cNvSpPr txBox="1"/>
          <p:nvPr/>
        </p:nvSpPr>
        <p:spPr>
          <a:xfrm>
            <a:off x="952988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7" name="rect-196"/>
          <p:cNvSpPr/>
          <p:nvPr/>
        </p:nvSpPr>
        <p:spPr>
          <a:xfrm>
            <a:off x="991362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-197: W3"/>
          <p:cNvSpPr txBox="1"/>
          <p:nvPr/>
        </p:nvSpPr>
        <p:spPr>
          <a:xfrm>
            <a:off x="994609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99" name="text-198: C"/>
          <p:cNvSpPr txBox="1"/>
          <p:nvPr/>
        </p:nvSpPr>
        <p:spPr>
          <a:xfrm>
            <a:off x="999470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0" name="rect-199"/>
          <p:cNvSpPr/>
          <p:nvPr/>
        </p:nvSpPr>
        <p:spPr>
          <a:xfrm>
            <a:off x="1037844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-200: W4"/>
          <p:cNvSpPr txBox="1"/>
          <p:nvPr/>
        </p:nvSpPr>
        <p:spPr>
          <a:xfrm>
            <a:off x="1041091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2" name="text-201: C"/>
          <p:cNvSpPr txBox="1"/>
          <p:nvPr/>
        </p:nvSpPr>
        <p:spPr>
          <a:xfrm>
            <a:off x="1045952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3" name="rect-202"/>
          <p:cNvSpPr/>
          <p:nvPr/>
        </p:nvSpPr>
        <p:spPr>
          <a:xfrm>
            <a:off x="1084326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-203: W5"/>
          <p:cNvSpPr txBox="1"/>
          <p:nvPr/>
        </p:nvSpPr>
        <p:spPr>
          <a:xfrm>
            <a:off x="1087573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5" name="text-204: C"/>
          <p:cNvSpPr txBox="1"/>
          <p:nvPr/>
        </p:nvSpPr>
        <p:spPr>
          <a:xfrm>
            <a:off x="1092434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6" name="rect-205"/>
          <p:cNvSpPr/>
          <p:nvPr/>
        </p:nvSpPr>
        <p:spPr>
          <a:xfrm>
            <a:off x="1130808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-206: W6"/>
          <p:cNvSpPr txBox="1"/>
          <p:nvPr/>
        </p:nvSpPr>
        <p:spPr>
          <a:xfrm>
            <a:off x="1134055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08" name="text-207: C"/>
          <p:cNvSpPr txBox="1"/>
          <p:nvPr/>
        </p:nvSpPr>
        <p:spPr>
          <a:xfrm>
            <a:off x="1138916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9" name="rect-208"/>
          <p:cNvSpPr/>
          <p:nvPr/>
        </p:nvSpPr>
        <p:spPr>
          <a:xfrm>
            <a:off x="1177290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-209: W7"/>
          <p:cNvSpPr txBox="1"/>
          <p:nvPr/>
        </p:nvSpPr>
        <p:spPr>
          <a:xfrm>
            <a:off x="1180537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11" name="text-210: C"/>
          <p:cNvSpPr txBox="1"/>
          <p:nvPr/>
        </p:nvSpPr>
        <p:spPr>
          <a:xfrm>
            <a:off x="1185398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2" name="text-211: 混合示例 0x0F：64 KiB SPM + 64 KiB Cache"/>
          <p:cNvSpPr txBox="1"/>
          <p:nvPr/>
        </p:nvSpPr>
        <p:spPr>
          <a:xfrm>
            <a:off x="8519160" y="2509418"/>
            <a:ext cx="34402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混合示例 0x0F：64 KiB SPM + 64 KiB Cache</a:t>
            </a:r>
          </a:p>
        </p:txBody>
      </p:sp>
      <p:sp>
        <p:nvSpPr>
          <p:cNvPr id="213" name="rect-212"/>
          <p:cNvSpPr/>
          <p:nvPr/>
        </p:nvSpPr>
        <p:spPr>
          <a:xfrm>
            <a:off x="851916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-213: W0"/>
          <p:cNvSpPr txBox="1"/>
          <p:nvPr/>
        </p:nvSpPr>
        <p:spPr>
          <a:xfrm>
            <a:off x="855163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5" name="text-214: S"/>
          <p:cNvSpPr txBox="1"/>
          <p:nvPr/>
        </p:nvSpPr>
        <p:spPr>
          <a:xfrm>
            <a:off x="860794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6" name="rect-215"/>
          <p:cNvSpPr/>
          <p:nvPr/>
        </p:nvSpPr>
        <p:spPr>
          <a:xfrm>
            <a:off x="898398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text-216: W1"/>
          <p:cNvSpPr txBox="1"/>
          <p:nvPr/>
        </p:nvSpPr>
        <p:spPr>
          <a:xfrm>
            <a:off x="901645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18" name="text-217: S"/>
          <p:cNvSpPr txBox="1"/>
          <p:nvPr/>
        </p:nvSpPr>
        <p:spPr>
          <a:xfrm>
            <a:off x="907276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9" name="rect-218"/>
          <p:cNvSpPr/>
          <p:nvPr/>
        </p:nvSpPr>
        <p:spPr>
          <a:xfrm>
            <a:off x="944880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-219: W2"/>
          <p:cNvSpPr txBox="1"/>
          <p:nvPr/>
        </p:nvSpPr>
        <p:spPr>
          <a:xfrm>
            <a:off x="948127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21" name="text-220: S"/>
          <p:cNvSpPr txBox="1"/>
          <p:nvPr/>
        </p:nvSpPr>
        <p:spPr>
          <a:xfrm>
            <a:off x="953758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2" name="rect-221"/>
          <p:cNvSpPr/>
          <p:nvPr/>
        </p:nvSpPr>
        <p:spPr>
          <a:xfrm>
            <a:off x="991362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2: W3"/>
          <p:cNvSpPr txBox="1"/>
          <p:nvPr/>
        </p:nvSpPr>
        <p:spPr>
          <a:xfrm>
            <a:off x="994609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4" name="text-223: S"/>
          <p:cNvSpPr txBox="1"/>
          <p:nvPr/>
        </p:nvSpPr>
        <p:spPr>
          <a:xfrm>
            <a:off x="1000240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5" name="rect-224"/>
          <p:cNvSpPr/>
          <p:nvPr/>
        </p:nvSpPr>
        <p:spPr>
          <a:xfrm>
            <a:off x="1037844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-225: W4"/>
          <p:cNvSpPr txBox="1"/>
          <p:nvPr/>
        </p:nvSpPr>
        <p:spPr>
          <a:xfrm>
            <a:off x="1041091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27" name="text-226: C"/>
          <p:cNvSpPr txBox="1"/>
          <p:nvPr/>
        </p:nvSpPr>
        <p:spPr>
          <a:xfrm>
            <a:off x="1045952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8" name="rect-227"/>
          <p:cNvSpPr/>
          <p:nvPr/>
        </p:nvSpPr>
        <p:spPr>
          <a:xfrm>
            <a:off x="1084326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-228: W5"/>
          <p:cNvSpPr txBox="1"/>
          <p:nvPr/>
        </p:nvSpPr>
        <p:spPr>
          <a:xfrm>
            <a:off x="1087573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30" name="text-229: C"/>
          <p:cNvSpPr txBox="1"/>
          <p:nvPr/>
        </p:nvSpPr>
        <p:spPr>
          <a:xfrm>
            <a:off x="1092434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1" name="rect-230"/>
          <p:cNvSpPr/>
          <p:nvPr/>
        </p:nvSpPr>
        <p:spPr>
          <a:xfrm>
            <a:off x="1130808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-231: W6"/>
          <p:cNvSpPr txBox="1"/>
          <p:nvPr/>
        </p:nvSpPr>
        <p:spPr>
          <a:xfrm>
            <a:off x="1134055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3" name="text-232: C"/>
          <p:cNvSpPr txBox="1"/>
          <p:nvPr/>
        </p:nvSpPr>
        <p:spPr>
          <a:xfrm>
            <a:off x="1138916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4" name="rect-233"/>
          <p:cNvSpPr/>
          <p:nvPr/>
        </p:nvSpPr>
        <p:spPr>
          <a:xfrm>
            <a:off x="1177290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-234: W7"/>
          <p:cNvSpPr txBox="1"/>
          <p:nvPr/>
        </p:nvSpPr>
        <p:spPr>
          <a:xfrm>
            <a:off x="1180537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6" name="text-235: C"/>
          <p:cNvSpPr txBox="1"/>
          <p:nvPr/>
        </p:nvSpPr>
        <p:spPr>
          <a:xfrm>
            <a:off x="1185398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7" name="text-236: 启动全 SPM 0xFF：128 KiB SPM"/>
          <p:cNvSpPr txBox="1"/>
          <p:nvPr/>
        </p:nvSpPr>
        <p:spPr>
          <a:xfrm>
            <a:off x="8519160" y="3309518"/>
            <a:ext cx="255380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启动全 SPM 0xFF：128 KiB SPM</a:t>
            </a:r>
          </a:p>
        </p:txBody>
      </p:sp>
      <p:sp>
        <p:nvSpPr>
          <p:cNvPr id="238" name="rect-237"/>
          <p:cNvSpPr/>
          <p:nvPr/>
        </p:nvSpPr>
        <p:spPr>
          <a:xfrm>
            <a:off x="851916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-238: W0"/>
          <p:cNvSpPr txBox="1"/>
          <p:nvPr/>
        </p:nvSpPr>
        <p:spPr>
          <a:xfrm>
            <a:off x="855163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40" name="text-239: S"/>
          <p:cNvSpPr txBox="1"/>
          <p:nvPr/>
        </p:nvSpPr>
        <p:spPr>
          <a:xfrm>
            <a:off x="860794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1" name="rect-240"/>
          <p:cNvSpPr/>
          <p:nvPr/>
        </p:nvSpPr>
        <p:spPr>
          <a:xfrm>
            <a:off x="898398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-241: W1"/>
          <p:cNvSpPr txBox="1"/>
          <p:nvPr/>
        </p:nvSpPr>
        <p:spPr>
          <a:xfrm>
            <a:off x="901645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3" name="text-242: S"/>
          <p:cNvSpPr txBox="1"/>
          <p:nvPr/>
        </p:nvSpPr>
        <p:spPr>
          <a:xfrm>
            <a:off x="907276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4" name="rect-243"/>
          <p:cNvSpPr/>
          <p:nvPr/>
        </p:nvSpPr>
        <p:spPr>
          <a:xfrm>
            <a:off x="944880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-244: W2"/>
          <p:cNvSpPr txBox="1"/>
          <p:nvPr/>
        </p:nvSpPr>
        <p:spPr>
          <a:xfrm>
            <a:off x="948127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6" name="text-245: S"/>
          <p:cNvSpPr txBox="1"/>
          <p:nvPr/>
        </p:nvSpPr>
        <p:spPr>
          <a:xfrm>
            <a:off x="953758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7" name="rect-246"/>
          <p:cNvSpPr/>
          <p:nvPr/>
        </p:nvSpPr>
        <p:spPr>
          <a:xfrm>
            <a:off x="991362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-247: W3"/>
          <p:cNvSpPr txBox="1"/>
          <p:nvPr/>
        </p:nvSpPr>
        <p:spPr>
          <a:xfrm>
            <a:off x="994609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49" name="text-248: S"/>
          <p:cNvSpPr txBox="1"/>
          <p:nvPr/>
        </p:nvSpPr>
        <p:spPr>
          <a:xfrm>
            <a:off x="1000240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0" name="rect-249"/>
          <p:cNvSpPr/>
          <p:nvPr/>
        </p:nvSpPr>
        <p:spPr>
          <a:xfrm>
            <a:off x="1037844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-250: W4"/>
          <p:cNvSpPr txBox="1"/>
          <p:nvPr/>
        </p:nvSpPr>
        <p:spPr>
          <a:xfrm>
            <a:off x="1041091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2" name="text-251: S"/>
          <p:cNvSpPr txBox="1"/>
          <p:nvPr/>
        </p:nvSpPr>
        <p:spPr>
          <a:xfrm>
            <a:off x="1046722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3" name="rect-252"/>
          <p:cNvSpPr/>
          <p:nvPr/>
        </p:nvSpPr>
        <p:spPr>
          <a:xfrm>
            <a:off x="1084326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-253: W5"/>
          <p:cNvSpPr txBox="1"/>
          <p:nvPr/>
        </p:nvSpPr>
        <p:spPr>
          <a:xfrm>
            <a:off x="1087573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5" name="text-254: S"/>
          <p:cNvSpPr txBox="1"/>
          <p:nvPr/>
        </p:nvSpPr>
        <p:spPr>
          <a:xfrm>
            <a:off x="1093204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6" name="rect-255"/>
          <p:cNvSpPr/>
          <p:nvPr/>
        </p:nvSpPr>
        <p:spPr>
          <a:xfrm>
            <a:off x="1130808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-256: W6"/>
          <p:cNvSpPr txBox="1"/>
          <p:nvPr/>
        </p:nvSpPr>
        <p:spPr>
          <a:xfrm>
            <a:off x="1134055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58" name="text-257: S"/>
          <p:cNvSpPr txBox="1"/>
          <p:nvPr/>
        </p:nvSpPr>
        <p:spPr>
          <a:xfrm>
            <a:off x="1139686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9" name="rect-258"/>
          <p:cNvSpPr/>
          <p:nvPr/>
        </p:nvSpPr>
        <p:spPr>
          <a:xfrm>
            <a:off x="1177290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-259: W7"/>
          <p:cNvSpPr txBox="1"/>
          <p:nvPr/>
        </p:nvSpPr>
        <p:spPr>
          <a:xfrm>
            <a:off x="1180537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61" name="text-260: S"/>
          <p:cNvSpPr txBox="1"/>
          <p:nvPr/>
        </p:nvSpPr>
        <p:spPr>
          <a:xfrm>
            <a:off x="1186168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2" name="text-261: 全 SPM：DDR 访问走旁路，SPM 访问留在阵列"/>
          <p:cNvSpPr txBox="1"/>
          <p:nvPr/>
        </p:nvSpPr>
        <p:spPr>
          <a:xfrm>
            <a:off x="8519160" y="4065727"/>
            <a:ext cx="307186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全 SPM：DDR 访问走旁路，SPM 访问留在阵列</a:t>
            </a:r>
          </a:p>
        </p:txBody>
      </p:sp>
      <p:sp>
        <p:nvSpPr>
          <p:cNvPr id="263" name="text-262: SPM 固定映射：base + way × 0x4000"/>
          <p:cNvSpPr txBox="1"/>
          <p:nvPr/>
        </p:nvSpPr>
        <p:spPr>
          <a:xfrm>
            <a:off x="8519160" y="4261409"/>
            <a:ext cx="312599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4" name="text-263: Way 2：0x10008000–0x1000BFFF"/>
          <p:cNvSpPr txBox="1"/>
          <p:nvPr/>
        </p:nvSpPr>
        <p:spPr>
          <a:xfrm>
            <a:off x="8519160" y="4460138"/>
            <a:ext cx="270870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5" name="text-264: 地址 0x10008AAB → Way 2 / 组 42"/>
          <p:cNvSpPr txBox="1"/>
          <p:nvPr/>
        </p:nvSpPr>
        <p:spPr>
          <a:xfrm>
            <a:off x="8519160" y="4696358"/>
            <a:ext cx="278081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 0x10008AAB → Way 2 / 组 42</a:t>
            </a:r>
          </a:p>
        </p:txBody>
      </p:sp>
      <p:sp>
        <p:nvSpPr>
          <p:cNvPr id="266" name="text-265: 块 5 / 字节 3；直接寻址，不比较 Tag"/>
          <p:cNvSpPr txBox="1"/>
          <p:nvPr/>
        </p:nvSpPr>
        <p:spPr>
          <a:xfrm>
            <a:off x="8519160" y="4924958"/>
            <a:ext cx="283731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块 5 / 字节 3；直接寻址，不比较 Tag</a:t>
            </a:r>
          </a:p>
        </p:txBody>
      </p:sp>
      <p:sp>
        <p:nvSpPr>
          <p:cNvPr id="267" name="text-266: 未设为 SPM 的 way，其 SPM 槽访问报错"/>
          <p:cNvSpPr txBox="1"/>
          <p:nvPr/>
        </p:nvSpPr>
        <p:spPr>
          <a:xfrm>
            <a:off x="8519160" y="5199888"/>
            <a:ext cx="2999732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未设为 SPM 的 way，其 SPM 槽访问报错</a:t>
            </a:r>
          </a:p>
        </p:txBody>
      </p:sp>
      <p:sp>
        <p:nvSpPr>
          <p:cNvPr id="268" name="text-267: 用途改变不压缩地址槽；不是新增加一块 RAM"/>
          <p:cNvSpPr txBox="1"/>
          <p:nvPr/>
        </p:nvSpPr>
        <p:spPr>
          <a:xfrm>
            <a:off x="8519160" y="5428488"/>
            <a:ext cx="3296317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用途改变不压缩地址槽；不是新增加一块 RAM</a:t>
            </a:r>
          </a:p>
        </p:txBody>
      </p:sp>
      <p:sp>
        <p:nvSpPr>
          <p:cNvPr id="269" name="rect-268"/>
          <p:cNvSpPr/>
          <p:nvPr/>
        </p:nvSpPr>
        <p:spPr>
          <a:xfrm>
            <a:off x="304800" y="6057900"/>
            <a:ext cx="12192000" cy="1851660"/>
          </a:xfrm>
          <a:prstGeom prst="roundRect">
            <a:avLst>
              <a:gd name="adj" fmla="val 5761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-269: ③ 转换控制：软件提出目标位图，LLC 硬件协调提交与所需刷新"/>
          <p:cNvSpPr txBox="1"/>
          <p:nvPr/>
        </p:nvSpPr>
        <p:spPr>
          <a:xfrm>
            <a:off x="518160" y="6139891"/>
            <a:ext cx="624131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转换控制：软件提出目标位图，LLC 硬件协调提交与所需刷新</a:t>
            </a:r>
          </a:p>
        </p:txBody>
      </p:sp>
      <p:sp>
        <p:nvSpPr>
          <p:cNvPr id="271" name="rect-270"/>
          <p:cNvSpPr/>
          <p:nvPr/>
        </p:nvSpPr>
        <p:spPr>
          <a:xfrm>
            <a:off x="533400" y="6606540"/>
            <a:ext cx="2095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ext-271: 停止相关访问"/>
          <p:cNvSpPr txBox="1"/>
          <p:nvPr/>
        </p:nvSpPr>
        <p:spPr>
          <a:xfrm>
            <a:off x="994410" y="6646469"/>
            <a:ext cx="117348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3" name="text-272: 迁移代码 / 栈 / 保留数据"/>
          <p:cNvSpPr txBox="1"/>
          <p:nvPr/>
        </p:nvSpPr>
        <p:spPr>
          <a:xfrm>
            <a:off x="617982" y="6868058"/>
            <a:ext cx="192633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4" name="text-273: 协调缓冲与在途事务"/>
          <p:cNvSpPr txBox="1"/>
          <p:nvPr/>
        </p:nvSpPr>
        <p:spPr>
          <a:xfrm>
            <a:off x="781050" y="708141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5" name="line-274"/>
          <p:cNvCxnSpPr/>
          <p:nvPr/>
        </p:nvCxnSpPr>
        <p:spPr>
          <a:xfrm>
            <a:off x="26289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76" name="polygon-275"/>
          <p:cNvSpPr/>
          <p:nvPr/>
        </p:nvSpPr>
        <p:spPr>
          <a:xfrm>
            <a:off x="28803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-276"/>
          <p:cNvSpPr/>
          <p:nvPr/>
        </p:nvSpPr>
        <p:spPr>
          <a:xfrm>
            <a:off x="2971800" y="6606540"/>
            <a:ext cx="1714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ext-277: 写 CFG_SPM"/>
          <p:cNvSpPr txBox="1"/>
          <p:nvPr/>
        </p:nvSpPr>
        <p:spPr>
          <a:xfrm>
            <a:off x="3254550" y="6646469"/>
            <a:ext cx="114900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9" name="text-278: 1 → SPM；0 → Cache"/>
          <p:cNvSpPr txBox="1"/>
          <p:nvPr/>
        </p:nvSpPr>
        <p:spPr>
          <a:xfrm>
            <a:off x="2914620" y="6868058"/>
            <a:ext cx="18288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 → SPM；0 → Cache</a:t>
            </a:r>
          </a:p>
        </p:txBody>
      </p:sp>
      <p:cxnSp>
        <p:nvCxnSpPr>
          <p:cNvPr id="280" name="line-279"/>
          <p:cNvCxnSpPr/>
          <p:nvPr/>
        </p:nvCxnSpPr>
        <p:spPr>
          <a:xfrm>
            <a:off x="46863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81" name="polygon-280"/>
          <p:cNvSpPr/>
          <p:nvPr/>
        </p:nvSpPr>
        <p:spPr>
          <a:xfrm>
            <a:off x="49377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-281"/>
          <p:cNvSpPr/>
          <p:nvPr/>
        </p:nvSpPr>
        <p:spPr>
          <a:xfrm>
            <a:off x="5029200" y="6606540"/>
            <a:ext cx="18288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ext-282: 写 COMMIT = 1"/>
          <p:cNvSpPr txBox="1"/>
          <p:nvPr/>
        </p:nvSpPr>
        <p:spPr>
          <a:xfrm>
            <a:off x="5230558" y="6646469"/>
            <a:ext cx="142608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4" name="text-283: 发起配置提交"/>
          <p:cNvSpPr txBox="1"/>
          <p:nvPr/>
        </p:nvSpPr>
        <p:spPr>
          <a:xfrm>
            <a:off x="5383530" y="686805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5" name="line-284"/>
          <p:cNvCxnSpPr/>
          <p:nvPr/>
        </p:nvCxnSpPr>
        <p:spPr>
          <a:xfrm>
            <a:off x="68580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86" name="polygon-285"/>
          <p:cNvSpPr/>
          <p:nvPr/>
        </p:nvSpPr>
        <p:spPr>
          <a:xfrm>
            <a:off x="71094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-286"/>
          <p:cNvSpPr/>
          <p:nvPr/>
        </p:nvSpPr>
        <p:spPr>
          <a:xfrm>
            <a:off x="7200900" y="6606540"/>
            <a:ext cx="24384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ext-287: LLC 配置 FSM"/>
          <p:cNvSpPr txBox="1"/>
          <p:nvPr/>
        </p:nvSpPr>
        <p:spPr>
          <a:xfrm>
            <a:off x="7806220" y="6646469"/>
            <a:ext cx="122776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9" name="text-288: 等待 / 协调已有请求"/>
          <p:cNvSpPr txBox="1"/>
          <p:nvPr/>
        </p:nvSpPr>
        <p:spPr>
          <a:xfrm>
            <a:off x="7618476" y="6868058"/>
            <a:ext cx="16032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 / 协调已有请求</a:t>
            </a:r>
          </a:p>
        </p:txBody>
      </p:sp>
      <p:sp>
        <p:nvSpPr>
          <p:cNvPr id="290" name="text-289: 必要的 flush / Dirty 回写"/>
          <p:cNvSpPr txBox="1"/>
          <p:nvPr/>
        </p:nvSpPr>
        <p:spPr>
          <a:xfrm>
            <a:off x="7439073" y="7081418"/>
            <a:ext cx="19620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必要的 flush / Dirty 回写</a:t>
            </a:r>
          </a:p>
        </p:txBody>
      </p:sp>
      <p:cxnSp>
        <p:nvCxnSpPr>
          <p:cNvPr id="291" name="line-290"/>
          <p:cNvCxnSpPr/>
          <p:nvPr/>
        </p:nvCxnSpPr>
        <p:spPr>
          <a:xfrm>
            <a:off x="96393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92" name="polygon-291"/>
          <p:cNvSpPr/>
          <p:nvPr/>
        </p:nvSpPr>
        <p:spPr>
          <a:xfrm>
            <a:off x="98907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-292"/>
          <p:cNvSpPr/>
          <p:nvPr/>
        </p:nvSpPr>
        <p:spPr>
          <a:xfrm>
            <a:off x="9982200" y="6606540"/>
            <a:ext cx="2209800" cy="784860"/>
          </a:xfrm>
          <a:prstGeom prst="roundRect">
            <a:avLst>
              <a:gd name="adj" fmla="val 9708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ext-293: 按寄存器契约确认完成"/>
          <p:cNvSpPr txBox="1"/>
          <p:nvPr/>
        </p:nvSpPr>
        <p:spPr>
          <a:xfrm>
            <a:off x="10165080" y="6646469"/>
            <a:ext cx="184404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95" name="text-294: 恢复对新用途的访问"/>
          <p:cNvSpPr txBox="1"/>
          <p:nvPr/>
        </p:nvSpPr>
        <p:spPr>
          <a:xfrm>
            <a:off x="10287000" y="686805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6" name="text-295: SPM → Cache 前保存所需内容；转换不会自动把数据复制到另一块 RAM，"/>
          <p:cNvSpPr txBox="1"/>
          <p:nvPr/>
        </p:nvSpPr>
        <p:spPr>
          <a:xfrm>
            <a:off x="518160" y="7508138"/>
            <a:ext cx="805660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SPM → Cache 前保存所需内容；转换不会自动把数据复制到另一块 RAM，原 SPM 内容将失去固定驻留保证。</a:t>
            </a:r>
          </a:p>
        </p:txBody>
      </p:sp>
      <p:sp>
        <p:nvSpPr>
          <p:cNvPr id="297" name="text-296: 注意：SPM 绕过的是 LLC Tag 管理，不等于 CPU L1 一定不缓存；"/>
          <p:cNvSpPr txBox="1"/>
          <p:nvPr/>
        </p:nvSpPr>
        <p:spPr>
          <a:xfrm>
            <a:off x="304800" y="8004048"/>
            <a:ext cx="7393698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注意：SPM 绕过的是 LLC Tag 管理，不等于 CPU L1 一定不缓存；0x14000000 别名映射同一 SPM 阵列。</a:t>
            </a:r>
          </a:p>
        </p:txBody>
      </p:sp>
      <p:sp>
        <p:nvSpPr>
          <p:cNvPr id="298" name="text-297: 依据：cheshire_pkg / cheshire_soc；axi_llc_b"/>
          <p:cNvSpPr txBox="1"/>
          <p:nvPr/>
        </p:nvSpPr>
        <p:spPr>
          <a:xfrm>
            <a:off x="304800" y="8272577"/>
            <a:ext cx="848875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依据：cheshire_pkg / cheshire_soc；axi_llc_burst_cutter / hit_miss / config；Boot ROM · HEAD 278434024 · 2026-10-10 · 未新增目标运行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