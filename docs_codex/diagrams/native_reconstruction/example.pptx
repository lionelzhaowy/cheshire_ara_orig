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数据处理与反馈：可编辑矢量示例"/>
          <p:cNvSpPr txBox="1"/>
          <p:nvPr/>
        </p:nvSpPr>
        <p:spPr>
          <a:xfrm>
            <a:off x="480060" y="379781"/>
            <a:ext cx="5120640" cy="5120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数据处理与反馈：可编辑矢量示例</a:t>
            </a:r>
          </a:p>
        </p:txBody>
      </p:sp>
      <p:sp>
        <p:nvSpPr>
          <p:cNvPr id="3" name="rect-003"/>
          <p:cNvSpPr/>
          <p:nvPr/>
        </p:nvSpPr>
        <p:spPr>
          <a:xfrm>
            <a:off x="640080" y="2026920"/>
            <a:ext cx="2667000" cy="1920240"/>
          </a:xfrm>
          <a:prstGeom prst="roundRect">
            <a:avLst>
              <a:gd name="adj" fmla="val 8888"/>
            </a:avLst>
          </a:prstGeom>
          <a:solidFill>
            <a:srgbClr val="E8F2FE"/>
          </a:solidFill>
          <a:ln w="21336" cap="flat">
            <a:solidFill>
              <a:srgbClr val="7FAA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输入数据"/>
          <p:cNvSpPr txBox="1"/>
          <p:nvPr/>
        </p:nvSpPr>
        <p:spPr>
          <a:xfrm>
            <a:off x="1280160" y="2516795"/>
            <a:ext cx="1386840" cy="4437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输入数据</a:t>
            </a:r>
          </a:p>
        </p:txBody>
      </p:sp>
      <p:sp>
        <p:nvSpPr>
          <p:cNvPr id="5" name="text-005: Input"/>
          <p:cNvSpPr txBox="1"/>
          <p:nvPr/>
        </p:nvSpPr>
        <p:spPr>
          <a:xfrm>
            <a:off x="1633921" y="3057022"/>
            <a:ext cx="67931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6" name="rect-006"/>
          <p:cNvSpPr/>
          <p:nvPr/>
        </p:nvSpPr>
        <p:spPr>
          <a:xfrm>
            <a:off x="5067300" y="2026920"/>
            <a:ext cx="2667000" cy="1920240"/>
          </a:xfrm>
          <a:prstGeom prst="roundRect">
            <a:avLst>
              <a:gd name="adj" fmla="val 8888"/>
            </a:avLst>
          </a:prstGeom>
          <a:solidFill>
            <a:srgbClr val="E8F4ED"/>
          </a:solidFill>
          <a:ln w="21336" cap="flat">
            <a:solidFill>
              <a:srgbClr val="8CBD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处理模块"/>
          <p:cNvSpPr txBox="1"/>
          <p:nvPr/>
        </p:nvSpPr>
        <p:spPr>
          <a:xfrm>
            <a:off x="5707380" y="2516795"/>
            <a:ext cx="1386840" cy="4437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处理模块</a:t>
            </a:r>
          </a:p>
        </p:txBody>
      </p:sp>
      <p:sp>
        <p:nvSpPr>
          <p:cNvPr id="8" name="text-008: Process"/>
          <p:cNvSpPr txBox="1"/>
          <p:nvPr/>
        </p:nvSpPr>
        <p:spPr>
          <a:xfrm>
            <a:off x="5958186" y="3057022"/>
            <a:ext cx="885227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Process</a:t>
            </a:r>
          </a:p>
        </p:txBody>
      </p:sp>
      <p:sp>
        <p:nvSpPr>
          <p:cNvPr id="9" name="circle-009"/>
          <p:cNvSpPr/>
          <p:nvPr/>
        </p:nvSpPr>
        <p:spPr>
          <a:xfrm>
            <a:off x="9867900" y="2026920"/>
            <a:ext cx="1920240" cy="1920240"/>
          </a:xfrm>
          <a:prstGeom prst="ellipse">
            <a:avLst/>
          </a:prstGeom>
          <a:solidFill>
            <a:srgbClr val="FFF2E5"/>
          </a:solidFill>
          <a:ln w="21336" cap="flat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输出结果"/>
          <p:cNvSpPr txBox="1"/>
          <p:nvPr/>
        </p:nvSpPr>
        <p:spPr>
          <a:xfrm>
            <a:off x="10134600" y="2687483"/>
            <a:ext cx="1386840" cy="4437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输出结果</a:t>
            </a:r>
          </a:p>
        </p:txBody>
      </p:sp>
      <p:cxnSp>
        <p:nvCxnSpPr>
          <p:cNvPr id="11" name="line-011"/>
          <p:cNvCxnSpPr/>
          <p:nvPr/>
        </p:nvCxnSpPr>
        <p:spPr>
          <a:xfrm>
            <a:off x="3307080" y="2987040"/>
            <a:ext cx="1760220" cy="0"/>
          </a:xfrm>
          <a:prstGeom prst="line">
            <a:avLst/>
          </a:prstGeom>
          <a:ln w="21336" cap="flat">
            <a:solidFill>
              <a:srgbClr val="526B80"/>
            </a:solidFill>
            <a:tailEnd type="triangle" w="med" len="med"/>
          </a:ln>
          <a:effectLst/>
        </p:spPr>
      </p:cxnSp>
      <p:cxnSp>
        <p:nvCxnSpPr>
          <p:cNvPr id="12" name="line-013"/>
          <p:cNvCxnSpPr/>
          <p:nvPr/>
        </p:nvCxnSpPr>
        <p:spPr>
          <a:xfrm>
            <a:off x="7734300" y="2987040"/>
            <a:ext cx="2133600" cy="0"/>
          </a:xfrm>
          <a:prstGeom prst="line">
            <a:avLst/>
          </a:prstGeom>
          <a:ln w="21336" cap="flat">
            <a:solidFill>
              <a:srgbClr val="526B80"/>
            </a:solidFill>
            <a:tailEnd type="triangle" w="med" len="med"/>
          </a:ln>
          <a:effectLst/>
        </p:spPr>
      </p:cxnSp>
      <p:sp>
        <p:nvSpPr>
          <p:cNvPr id="13" name="path-015"/>
          <p:cNvSpPr/>
          <p:nvPr/>
        </p:nvSpPr>
        <p:spPr>
          <a:xfrm>
            <a:off x="1973580" y="3947160"/>
            <a:ext cx="8854440" cy="1653540"/>
          </a:xfrm>
          <a:custGeom>
            <a:avLst/>
            <a:gdLst/>
            <a:ahLst/>
            <a:cxnLst/>
            <a:rect l="0" t="0" r="r" b="b"/>
            <a:pathLst>
              <a:path w="8854440" h="1653540" fill="none">
                <a:moveTo>
                  <a:pt x="8854440" y="0"/>
                </a:moveTo>
                <a:cubicBezTo>
                  <a:pt x="8854440" y="1653540"/>
                  <a:pt x="0" y="1653540"/>
                  <a:pt x="0" y="0"/>
                </a:cubicBezTo>
              </a:path>
            </a:pathLst>
          </a:custGeom>
          <a:noFill/>
          <a:ln w="32004" cap="flat">
            <a:solidFill>
              <a:srgbClr val="2774C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7: 反馈路径 / Feedback"/>
          <p:cNvSpPr txBox="1"/>
          <p:nvPr/>
        </p:nvSpPr>
        <p:spPr>
          <a:xfrm>
            <a:off x="5275526" y="5530291"/>
            <a:ext cx="2250548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2774C7"/>
                </a:solidFill>
                <a:latin typeface="Microsoft YaHei"/>
                <a:ea typeface="Microsoft YaHei"/>
                <a:cs typeface="Microsoft YaHei"/>
              </a:rPr>
              <a:t>反馈路径 / Feedback</a:t>
            </a:r>
          </a:p>
        </p:txBody>
      </p:sp>
      <p:sp>
        <p:nvSpPr>
          <p:cNvPr id="15" name="ellipse-018"/>
          <p:cNvSpPr/>
          <p:nvPr/>
        </p:nvSpPr>
        <p:spPr>
          <a:xfrm>
            <a:off x="693420" y="6294120"/>
            <a:ext cx="533400" cy="277368"/>
          </a:xfrm>
          <a:prstGeom prst="ellipse">
            <a:avLst/>
          </a:prstGeom>
          <a:solidFill>
            <a:srgbClr val="E8F2FE"/>
          </a:solidFill>
          <a:ln w="21336" cap="flat">
            <a:solidFill>
              <a:srgbClr val="7FAA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9: 文字、圆角框、椭圆、曲线与箭头均为独立对象。"/>
          <p:cNvSpPr txBox="1"/>
          <p:nvPr/>
        </p:nvSpPr>
        <p:spPr>
          <a:xfrm>
            <a:off x="1440180" y="6300094"/>
            <a:ext cx="4416552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文字、圆角框、椭圆、曲线与箭头均为独立对象。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