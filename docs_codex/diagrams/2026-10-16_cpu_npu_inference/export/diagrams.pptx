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CPU＋NPU 推理：从模型到一次设备任务"/>
          <p:cNvSpPr txBox="1"/>
          <p:nvPr/>
        </p:nvSpPr>
        <p:spPr>
          <a:xfrm>
            <a:off x="4275155" y="120762"/>
            <a:ext cx="4251290" cy="3584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CPU＋NPU 推理：从模型到一次设备任务</a:t>
            </a:r>
          </a:p>
        </p:txBody>
      </p:sp>
      <p:sp>
        <p:nvSpPr>
          <p:cNvPr id="3" name="text-003: 通用职责归纳；离线编译与目标执行分开，具体 API 和算子覆盖依平台实现"/>
          <p:cNvSpPr txBox="1"/>
          <p:nvPr/>
        </p:nvSpPr>
        <p:spPr>
          <a:xfrm>
            <a:off x="4044660" y="474299"/>
            <a:ext cx="4712281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通用职责归纳；离线编译与目标执行分开，具体 API 和算子覆盖依平台实现</a:t>
            </a:r>
          </a:p>
        </p:txBody>
      </p:sp>
      <p:sp>
        <p:nvSpPr>
          <p:cNvPr id="4" name="host"/>
          <p:cNvSpPr/>
          <p:nvPr/>
        </p:nvSpPr>
        <p:spPr>
          <a:xfrm>
            <a:off x="266700" y="906780"/>
            <a:ext cx="12268200" cy="1493520"/>
          </a:xfrm>
          <a:prstGeom prst="rect">
            <a:avLst/>
          </a:prstGeom>
          <a:solidFill>
            <a:srgbClr val="F5F7F9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开发主机：转换与编译"/>
          <p:cNvSpPr txBox="1"/>
          <p:nvPr/>
        </p:nvSpPr>
        <p:spPr>
          <a:xfrm>
            <a:off x="426720" y="973988"/>
            <a:ext cx="176022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开发主机：转换与编译</a:t>
            </a:r>
          </a:p>
        </p:txBody>
      </p:sp>
      <p:sp>
        <p:nvSpPr>
          <p:cNvPr id="6" name="model"/>
          <p:cNvSpPr/>
          <p:nvPr/>
        </p:nvSpPr>
        <p:spPr>
          <a:xfrm>
            <a:off x="533400" y="1413510"/>
            <a:ext cx="2667000" cy="69342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模型与输入约束"/>
          <p:cNvSpPr txBox="1"/>
          <p:nvPr/>
        </p:nvSpPr>
        <p:spPr>
          <a:xfrm>
            <a:off x="1248156" y="1545153"/>
            <a:ext cx="1237488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模型与输入约束</a:t>
            </a:r>
          </a:p>
        </p:txBody>
      </p:sp>
      <p:sp>
        <p:nvSpPr>
          <p:cNvPr id="8" name="text-008: 图 / 权重 / 校准数据 / 形状"/>
          <p:cNvSpPr txBox="1"/>
          <p:nvPr/>
        </p:nvSpPr>
        <p:spPr>
          <a:xfrm>
            <a:off x="976285" y="1770888"/>
            <a:ext cx="1781231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 / 权重 / 校准数据 / 形状</a:t>
            </a:r>
          </a:p>
        </p:txBody>
      </p:sp>
      <p:sp>
        <p:nvSpPr>
          <p:cNvPr id="9" name="compiler"/>
          <p:cNvSpPr/>
          <p:nvPr/>
        </p:nvSpPr>
        <p:spPr>
          <a:xfrm>
            <a:off x="4267200" y="1413510"/>
            <a:ext cx="3467100" cy="693420"/>
          </a:xfrm>
          <a:prstGeom prst="rect">
            <a:avLst/>
          </a:prstGeom>
          <a:solidFill>
            <a:srgbClr val="E8DFED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面向目标的编译"/>
          <p:cNvSpPr txBox="1"/>
          <p:nvPr/>
        </p:nvSpPr>
        <p:spPr>
          <a:xfrm>
            <a:off x="5382006" y="1545153"/>
            <a:ext cx="1237488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面向目标的编译</a:t>
            </a:r>
          </a:p>
        </p:txBody>
      </p:sp>
      <p:sp>
        <p:nvSpPr>
          <p:cNvPr id="11" name="text-011: 量化 / 划分 / 布局 / 分块 / 内存规划"/>
          <p:cNvSpPr txBox="1"/>
          <p:nvPr/>
        </p:nvSpPr>
        <p:spPr>
          <a:xfrm>
            <a:off x="4835488" y="1770888"/>
            <a:ext cx="233052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量化 / 划分 / 布局 / 分块 / 内存规划</a:t>
            </a:r>
          </a:p>
        </p:txBody>
      </p:sp>
      <p:sp>
        <p:nvSpPr>
          <p:cNvPr id="12" name="artifact"/>
          <p:cNvSpPr/>
          <p:nvPr/>
        </p:nvSpPr>
        <p:spPr>
          <a:xfrm>
            <a:off x="9334500" y="1413510"/>
            <a:ext cx="2667000" cy="693420"/>
          </a:xfrm>
          <a:prstGeom prst="rect">
            <a:avLst/>
          </a:prstGeom>
          <a:solidFill>
            <a:srgbClr val="F5E1C9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部署产物"/>
          <p:cNvSpPr txBox="1"/>
          <p:nvPr/>
        </p:nvSpPr>
        <p:spPr>
          <a:xfrm>
            <a:off x="10281285" y="1545153"/>
            <a:ext cx="773430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部署产物</a:t>
            </a:r>
          </a:p>
        </p:txBody>
      </p:sp>
      <p:sp>
        <p:nvSpPr>
          <p:cNvPr id="14" name="text-014: 模型包 / 命令流 / 生成代码"/>
          <p:cNvSpPr txBox="1"/>
          <p:nvPr/>
        </p:nvSpPr>
        <p:spPr>
          <a:xfrm>
            <a:off x="9785331" y="1770888"/>
            <a:ext cx="1765337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模型包 / 命令流 / 生成代码</a:t>
            </a:r>
          </a:p>
        </p:txBody>
      </p:sp>
      <p:sp>
        <p:nvSpPr>
          <p:cNvPr id="15" name="compile"/>
          <p:cNvSpPr/>
          <p:nvPr/>
        </p:nvSpPr>
        <p:spPr>
          <a:xfrm>
            <a:off x="3200400" y="176022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 fill="none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16002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emit"/>
          <p:cNvSpPr/>
          <p:nvPr/>
        </p:nvSpPr>
        <p:spPr>
          <a:xfrm>
            <a:off x="7734300" y="1760220"/>
            <a:ext cx="1600200" cy="1"/>
          </a:xfrm>
          <a:custGeom>
            <a:avLst/>
            <a:gdLst/>
            <a:ahLst/>
            <a:cxnLst/>
            <a:rect l="0" t="0" r="r" b="b"/>
            <a:pathLst>
              <a:path w="1600200" h="1" fill="none">
                <a:moveTo>
                  <a:pt x="0" y="0"/>
                </a:moveTo>
                <a:lnTo>
                  <a:pt x="1600200" y="0"/>
                </a:lnTo>
              </a:path>
            </a:pathLst>
          </a:custGeom>
          <a:noFill/>
          <a:ln w="16002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解析"/>
          <p:cNvSpPr txBox="1"/>
          <p:nvPr/>
        </p:nvSpPr>
        <p:spPr>
          <a:xfrm>
            <a:off x="3541776" y="1499281"/>
            <a:ext cx="38404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解析</a:t>
            </a:r>
          </a:p>
        </p:txBody>
      </p:sp>
      <p:sp>
        <p:nvSpPr>
          <p:cNvPr id="18" name="text-018: 目标相关产物"/>
          <p:cNvSpPr txBox="1"/>
          <p:nvPr/>
        </p:nvSpPr>
        <p:spPr>
          <a:xfrm>
            <a:off x="8086344" y="1499281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目标相关产物</a:t>
            </a:r>
          </a:p>
        </p:txBody>
      </p:sp>
      <p:sp>
        <p:nvSpPr>
          <p:cNvPr id="19" name="soc"/>
          <p:cNvSpPr/>
          <p:nvPr/>
        </p:nvSpPr>
        <p:spPr>
          <a:xfrm>
            <a:off x="266700" y="3040380"/>
            <a:ext cx="12268200" cy="3200400"/>
          </a:xfrm>
          <a:prstGeom prst="rect">
            <a:avLst/>
          </a:prstGeom>
          <a:solidFill>
            <a:srgbClr val="F5F7F9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目标 SoC：加载、调度与执行"/>
          <p:cNvSpPr txBox="1"/>
          <p:nvPr/>
        </p:nvSpPr>
        <p:spPr>
          <a:xfrm>
            <a:off x="426720" y="3096920"/>
            <a:ext cx="225263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目标 SoC：加载、调度与执行</a:t>
            </a:r>
          </a:p>
        </p:txBody>
      </p:sp>
      <p:sp>
        <p:nvSpPr>
          <p:cNvPr id="21" name="runtime"/>
          <p:cNvSpPr/>
          <p:nvPr/>
        </p:nvSpPr>
        <p:spPr>
          <a:xfrm>
            <a:off x="533400" y="3547110"/>
            <a:ext cx="2773680" cy="746760"/>
          </a:xfrm>
          <a:prstGeom prst="rect">
            <a:avLst/>
          </a:prstGeom>
          <a:solidFill>
            <a:srgbClr val="E8DFED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CPU 应用 / 推理运行时"/>
          <p:cNvSpPr txBox="1"/>
          <p:nvPr/>
        </p:nvSpPr>
        <p:spPr>
          <a:xfrm>
            <a:off x="1051115" y="3705423"/>
            <a:ext cx="1738251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应用 / 推理运行时</a:t>
            </a:r>
          </a:p>
        </p:txBody>
      </p:sp>
      <p:sp>
        <p:nvSpPr>
          <p:cNvPr id="23" name="text-023: 加载模型 / 准备张量 / 调度子图"/>
          <p:cNvSpPr txBox="1"/>
          <p:nvPr/>
        </p:nvSpPr>
        <p:spPr>
          <a:xfrm>
            <a:off x="904221" y="3931158"/>
            <a:ext cx="2032037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加载模型 / 准备张量 / 调度子图</a:t>
            </a:r>
          </a:p>
        </p:txBody>
      </p:sp>
      <p:sp>
        <p:nvSpPr>
          <p:cNvPr id="24" name="cpu"/>
          <p:cNvSpPr/>
          <p:nvPr/>
        </p:nvSpPr>
        <p:spPr>
          <a:xfrm>
            <a:off x="4533900" y="3547110"/>
            <a:ext cx="2667000" cy="746760"/>
          </a:xfrm>
          <a:prstGeom prst="rect">
            <a:avLst/>
          </a:prstGeom>
          <a:solidFill>
            <a:srgbClr val="F1D7D9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CPU 算子与后处理"/>
          <p:cNvSpPr txBox="1"/>
          <p:nvPr/>
        </p:nvSpPr>
        <p:spPr>
          <a:xfrm>
            <a:off x="5162174" y="3705423"/>
            <a:ext cx="1410451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算子与后处理</a:t>
            </a:r>
          </a:p>
        </p:txBody>
      </p:sp>
      <p:sp>
        <p:nvSpPr>
          <p:cNvPr id="26" name="text-026: 后端选择的 CPU 工作"/>
          <p:cNvSpPr txBox="1"/>
          <p:nvPr/>
        </p:nvSpPr>
        <p:spPr>
          <a:xfrm>
            <a:off x="5172784" y="3931158"/>
            <a:ext cx="138923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后端选择的 CPU 工作</a:t>
            </a:r>
          </a:p>
        </p:txBody>
      </p:sp>
      <p:sp>
        <p:nvSpPr>
          <p:cNvPr id="27" name="result"/>
          <p:cNvSpPr/>
          <p:nvPr/>
        </p:nvSpPr>
        <p:spPr>
          <a:xfrm>
            <a:off x="9441180" y="3547110"/>
            <a:ext cx="2560320" cy="74676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应用消费结果"/>
          <p:cNvSpPr txBox="1"/>
          <p:nvPr/>
        </p:nvSpPr>
        <p:spPr>
          <a:xfrm>
            <a:off x="10179939" y="3705423"/>
            <a:ext cx="1082802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应用消费结果</a:t>
            </a:r>
          </a:p>
        </p:txBody>
      </p:sp>
      <p:sp>
        <p:nvSpPr>
          <p:cNvPr id="29" name="text-029: 检查状态 / 后处理 / 输出"/>
          <p:cNvSpPr txBox="1"/>
          <p:nvPr/>
        </p:nvSpPr>
        <p:spPr>
          <a:xfrm>
            <a:off x="9905346" y="3931158"/>
            <a:ext cx="1631987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检查状态 / 后处理 / 输出</a:t>
            </a:r>
          </a:p>
        </p:txBody>
      </p:sp>
      <p:sp>
        <p:nvSpPr>
          <p:cNvPr id="30" name="driver"/>
          <p:cNvSpPr/>
          <p:nvPr/>
        </p:nvSpPr>
        <p:spPr>
          <a:xfrm>
            <a:off x="533400" y="5227320"/>
            <a:ext cx="2773680" cy="746760"/>
          </a:xfrm>
          <a:prstGeom prst="rect">
            <a:avLst/>
          </a:prstGeom>
          <a:solidFill>
            <a:srgbClr val="E8DFED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设备与平台适配"/>
          <p:cNvSpPr txBox="1"/>
          <p:nvPr/>
        </p:nvSpPr>
        <p:spPr>
          <a:xfrm>
            <a:off x="1301496" y="5385633"/>
            <a:ext cx="1237488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设备与平台适配</a:t>
            </a:r>
          </a:p>
        </p:txBody>
      </p:sp>
      <p:sp>
        <p:nvSpPr>
          <p:cNvPr id="32" name="text-032: 地址 / 同步 / 提交 / 等待 / 恢复"/>
          <p:cNvSpPr txBox="1"/>
          <p:nvPr/>
        </p:nvSpPr>
        <p:spPr>
          <a:xfrm>
            <a:off x="888328" y="5611368"/>
            <a:ext cx="206382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同步 / 提交 / 等待 / 恢复</a:t>
            </a:r>
          </a:p>
        </p:txBody>
      </p:sp>
      <p:sp>
        <p:nvSpPr>
          <p:cNvPr id="33" name="npu"/>
          <p:cNvSpPr/>
          <p:nvPr/>
        </p:nvSpPr>
        <p:spPr>
          <a:xfrm>
            <a:off x="4533900" y="5227320"/>
            <a:ext cx="2667000" cy="746760"/>
          </a:xfrm>
          <a:prstGeom prst="rect">
            <a:avLst/>
          </a:prstGeom>
          <a:solidFill>
            <a:srgbClr val="F1D7D9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NPU 执行资源"/>
          <p:cNvSpPr txBox="1"/>
          <p:nvPr/>
        </p:nvSpPr>
        <p:spPr>
          <a:xfrm>
            <a:off x="5313764" y="5385633"/>
            <a:ext cx="1107272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执行资源</a:t>
            </a:r>
          </a:p>
        </p:txBody>
      </p:sp>
      <p:sp>
        <p:nvSpPr>
          <p:cNvPr id="35" name="text-035: 命令控制 / 搬运 / 计算"/>
          <p:cNvSpPr txBox="1"/>
          <p:nvPr/>
        </p:nvSpPr>
        <p:spPr>
          <a:xfrm>
            <a:off x="5118081" y="5611368"/>
            <a:ext cx="1498637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命令控制 / 搬运 / 计算</a:t>
            </a:r>
          </a:p>
        </p:txBody>
      </p:sp>
      <p:sp>
        <p:nvSpPr>
          <p:cNvPr id="36" name="buffers"/>
          <p:cNvSpPr/>
          <p:nvPr/>
        </p:nvSpPr>
        <p:spPr>
          <a:xfrm>
            <a:off x="9441180" y="5227320"/>
            <a:ext cx="2560320" cy="746760"/>
          </a:xfrm>
          <a:prstGeom prst="rect">
            <a:avLst/>
          </a:prstGeom>
          <a:solidFill>
            <a:srgbClr val="D8E8F4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张量存储与工作区"/>
          <p:cNvSpPr txBox="1"/>
          <p:nvPr/>
        </p:nvSpPr>
        <p:spPr>
          <a:xfrm>
            <a:off x="10025253" y="5385633"/>
            <a:ext cx="1392174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张量存储与工作区</a:t>
            </a:r>
          </a:p>
        </p:txBody>
      </p:sp>
      <p:sp>
        <p:nvSpPr>
          <p:cNvPr id="38" name="text-038: 外存 / 片上 SRAM；按平台规划"/>
          <p:cNvSpPr txBox="1"/>
          <p:nvPr/>
        </p:nvSpPr>
        <p:spPr>
          <a:xfrm>
            <a:off x="9718806" y="5611368"/>
            <a:ext cx="2005067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外存 / 片上 SRAM；按平台规划</a:t>
            </a:r>
          </a:p>
        </p:txBody>
      </p:sp>
      <p:sp>
        <p:nvSpPr>
          <p:cNvPr id="39" name="deploy"/>
          <p:cNvSpPr/>
          <p:nvPr/>
        </p:nvSpPr>
        <p:spPr>
          <a:xfrm>
            <a:off x="2987040" y="2106930"/>
            <a:ext cx="7680960" cy="1440180"/>
          </a:xfrm>
          <a:custGeom>
            <a:avLst/>
            <a:gdLst/>
            <a:ahLst/>
            <a:cxnLst/>
            <a:rect l="0" t="0" r="r" b="b"/>
            <a:pathLst>
              <a:path w="7680960" h="1440180" fill="none">
                <a:moveTo>
                  <a:pt x="7680960" y="0"/>
                </a:moveTo>
                <a:lnTo>
                  <a:pt x="7680960" y="613410"/>
                </a:lnTo>
                <a:lnTo>
                  <a:pt x="0" y="613410"/>
                </a:lnTo>
                <a:lnTo>
                  <a:pt x="0" y="1440180"/>
                </a:lnTo>
              </a:path>
            </a:pathLst>
          </a:custGeom>
          <a:noFill/>
          <a:ln w="16002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0: 部署与加载"/>
          <p:cNvSpPr txBox="1"/>
          <p:nvPr/>
        </p:nvSpPr>
        <p:spPr>
          <a:xfrm>
            <a:off x="6390132" y="2459401"/>
            <a:ext cx="76809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部署与加载</a:t>
            </a:r>
          </a:p>
        </p:txBody>
      </p:sp>
      <p:sp>
        <p:nvSpPr>
          <p:cNvPr id="41" name="cpu-call"/>
          <p:cNvSpPr/>
          <p:nvPr/>
        </p:nvSpPr>
        <p:spPr>
          <a:xfrm>
            <a:off x="3307080" y="3920490"/>
            <a:ext cx="1226820" cy="1"/>
          </a:xfrm>
          <a:custGeom>
            <a:avLst/>
            <a:gdLst/>
            <a:ahLst/>
            <a:cxnLst/>
            <a:rect l="0" t="0" r="r" b="b"/>
            <a:pathLst>
              <a:path w="1226820" h="1" fill="none">
                <a:moveTo>
                  <a:pt x="0" y="0"/>
                </a:moveTo>
                <a:lnTo>
                  <a:pt x="1226820" y="0"/>
                </a:lnTo>
              </a:path>
            </a:pathLst>
          </a:custGeom>
          <a:noFill/>
          <a:ln w="16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函数调用"/>
          <p:cNvSpPr txBox="1"/>
          <p:nvPr/>
        </p:nvSpPr>
        <p:spPr>
          <a:xfrm>
            <a:off x="3600450" y="3654217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函数调用</a:t>
            </a:r>
          </a:p>
        </p:txBody>
      </p:sp>
      <p:sp>
        <p:nvSpPr>
          <p:cNvPr id="43" name="cpu-result"/>
          <p:cNvSpPr/>
          <p:nvPr/>
        </p:nvSpPr>
        <p:spPr>
          <a:xfrm>
            <a:off x="7200900" y="3920490"/>
            <a:ext cx="2240280" cy="1"/>
          </a:xfrm>
          <a:custGeom>
            <a:avLst/>
            <a:gdLst/>
            <a:ahLst/>
            <a:cxnLst/>
            <a:rect l="0" t="0" r="r" b="b"/>
            <a:pathLst>
              <a:path w="2240280" h="1" fill="none">
                <a:moveTo>
                  <a:pt x="0" y="0"/>
                </a:moveTo>
                <a:lnTo>
                  <a:pt x="2240280" y="0"/>
                </a:lnTo>
              </a:path>
            </a:pathLst>
          </a:custGeom>
          <a:noFill/>
          <a:ln w="16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CPU 路径结果"/>
          <p:cNvSpPr txBox="1"/>
          <p:nvPr/>
        </p:nvSpPr>
        <p:spPr>
          <a:xfrm>
            <a:off x="7865421" y="3654217"/>
            <a:ext cx="911239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路径结果</a:t>
            </a:r>
          </a:p>
        </p:txBody>
      </p:sp>
      <p:sp>
        <p:nvSpPr>
          <p:cNvPr id="45" name="submit"/>
          <p:cNvSpPr/>
          <p:nvPr/>
        </p:nvSpPr>
        <p:spPr>
          <a:xfrm>
            <a:off x="1920240" y="4293870"/>
            <a:ext cx="1" cy="933450"/>
          </a:xfrm>
          <a:custGeom>
            <a:avLst/>
            <a:gdLst/>
            <a:ahLst/>
            <a:cxnLst/>
            <a:rect l="0" t="0" r="r" b="b"/>
            <a:pathLst>
              <a:path w="1" h="933450" fill="none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/>
          <a:ln w="16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设备任务"/>
          <p:cNvSpPr txBox="1"/>
          <p:nvPr/>
        </p:nvSpPr>
        <p:spPr>
          <a:xfrm>
            <a:off x="2026920" y="4662343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设备任务</a:t>
            </a:r>
          </a:p>
        </p:txBody>
      </p:sp>
      <p:sp>
        <p:nvSpPr>
          <p:cNvPr id="47" name="device-control"/>
          <p:cNvSpPr/>
          <p:nvPr/>
        </p:nvSpPr>
        <p:spPr>
          <a:xfrm>
            <a:off x="3307080" y="5600700"/>
            <a:ext cx="1226820" cy="1"/>
          </a:xfrm>
          <a:custGeom>
            <a:avLst/>
            <a:gdLst/>
            <a:ahLst/>
            <a:cxnLst/>
            <a:rect l="0" t="0" r="r" b="b"/>
            <a:pathLst>
              <a:path w="1226820" h="1" fill="none">
                <a:moveTo>
                  <a:pt x="0" y="0"/>
                </a:moveTo>
                <a:lnTo>
                  <a:pt x="1226820" y="0"/>
                </a:lnTo>
              </a:path>
            </a:pathLst>
          </a:custGeom>
          <a:noFill/>
          <a:ln w="160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提交 / 完成"/>
          <p:cNvSpPr txBox="1"/>
          <p:nvPr/>
        </p:nvSpPr>
        <p:spPr>
          <a:xfrm>
            <a:off x="3528816" y="5334427"/>
            <a:ext cx="78334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提交 / 完成</a:t>
            </a:r>
          </a:p>
        </p:txBody>
      </p:sp>
      <p:sp>
        <p:nvSpPr>
          <p:cNvPr id="49" name="tensor-access"/>
          <p:cNvSpPr/>
          <p:nvPr/>
        </p:nvSpPr>
        <p:spPr>
          <a:xfrm>
            <a:off x="7200900" y="5600700"/>
            <a:ext cx="2240280" cy="1"/>
          </a:xfrm>
          <a:custGeom>
            <a:avLst/>
            <a:gdLst/>
            <a:ahLst/>
            <a:cxnLst/>
            <a:rect l="0" t="0" r="r" b="b"/>
            <a:pathLst>
              <a:path w="2240280" h="1" fill="none">
                <a:moveTo>
                  <a:pt x="0" y="0"/>
                </a:moveTo>
                <a:lnTo>
                  <a:pt x="2240280" y="0"/>
                </a:lnTo>
              </a:path>
            </a:pathLst>
          </a:custGeom>
          <a:noFill/>
          <a:ln w="16002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张量读写 / 搬运"/>
          <p:cNvSpPr txBox="1"/>
          <p:nvPr/>
        </p:nvSpPr>
        <p:spPr>
          <a:xfrm>
            <a:off x="7801350" y="5334427"/>
            <a:ext cx="10393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张量读写 / 搬运</a:t>
            </a:r>
          </a:p>
        </p:txBody>
      </p:sp>
      <p:sp>
        <p:nvSpPr>
          <p:cNvPr id="51" name="cpu-buffers"/>
          <p:cNvSpPr/>
          <p:nvPr/>
        </p:nvSpPr>
        <p:spPr>
          <a:xfrm>
            <a:off x="5867400" y="4293870"/>
            <a:ext cx="4160520" cy="933450"/>
          </a:xfrm>
          <a:custGeom>
            <a:avLst/>
            <a:gdLst/>
            <a:ahLst/>
            <a:cxnLst/>
            <a:rect l="0" t="0" r="r" b="b"/>
            <a:pathLst>
              <a:path w="4160520" h="933450" fill="none">
                <a:moveTo>
                  <a:pt x="0" y="0"/>
                </a:moveTo>
                <a:lnTo>
                  <a:pt x="0" y="400050"/>
                </a:lnTo>
                <a:lnTo>
                  <a:pt x="4160520" y="400050"/>
                </a:lnTo>
                <a:lnTo>
                  <a:pt x="4160520" y="933450"/>
                </a:lnTo>
              </a:path>
            </a:pathLst>
          </a:custGeom>
          <a:noFill/>
          <a:ln w="16002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CPU 与设备交接缓冲区"/>
          <p:cNvSpPr txBox="1"/>
          <p:nvPr/>
        </p:nvSpPr>
        <p:spPr>
          <a:xfrm>
            <a:off x="6969309" y="4432981"/>
            <a:ext cx="142330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与设备交接缓冲区</a:t>
            </a:r>
          </a:p>
        </p:txBody>
      </p:sp>
      <p:sp>
        <p:nvSpPr>
          <p:cNvPr id="53" name="consume"/>
          <p:cNvSpPr/>
          <p:nvPr/>
        </p:nvSpPr>
        <p:spPr>
          <a:xfrm>
            <a:off x="11468100" y="4293870"/>
            <a:ext cx="1" cy="933450"/>
          </a:xfrm>
          <a:custGeom>
            <a:avLst/>
            <a:gdLst/>
            <a:ahLst/>
            <a:cxnLst/>
            <a:rect l="0" t="0" r="r" b="b"/>
            <a:pathLst>
              <a:path w="1" h="933450" fill="none">
                <a:moveTo>
                  <a:pt x="0" y="933450"/>
                </a:moveTo>
                <a:lnTo>
                  <a:pt x="0" y="0"/>
                </a:lnTo>
              </a:path>
            </a:pathLst>
          </a:custGeom>
          <a:noFill/>
          <a:ln w="16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同步后消费"/>
          <p:cNvSpPr txBox="1"/>
          <p:nvPr/>
        </p:nvSpPr>
        <p:spPr>
          <a:xfrm>
            <a:off x="11574780" y="4715683"/>
            <a:ext cx="76809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同步后消费</a:t>
            </a:r>
          </a:p>
        </p:txBody>
      </p:sp>
      <p:sp>
        <p:nvSpPr>
          <p:cNvPr id="55" name="text-055: 棕：编译产物流转    紫：调用、控制与状态    蓝灰：张量与结果"/>
          <p:cNvSpPr txBox="1"/>
          <p:nvPr/>
        </p:nvSpPr>
        <p:spPr>
          <a:xfrm>
            <a:off x="4283835" y="6415949"/>
            <a:ext cx="4233929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棕：编译产物流转    紫：调用、控制与状态    蓝灰：张量与结果</a:t>
            </a:r>
          </a:p>
        </p:txBody>
      </p:sp>
      <p:sp>
        <p:nvSpPr>
          <p:cNvPr id="56" name="text-056: 图中的边界是软件职责；CPU 回退、内存共享和任务完成都需要明确实现。"/>
          <p:cNvSpPr txBox="1"/>
          <p:nvPr/>
        </p:nvSpPr>
        <p:spPr>
          <a:xfrm>
            <a:off x="4034975" y="6731081"/>
            <a:ext cx="4731650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图中的边界是软件职责；CPU 回退、内存共享和任务完成都需要明确实现。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三种加速器调用方式：相似目标，不同接口"/>
          <p:cNvSpPr txBox="1"/>
          <p:nvPr/>
        </p:nvSpPr>
        <p:spPr>
          <a:xfrm>
            <a:off x="4160520" y="120762"/>
            <a:ext cx="4480560" cy="3584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三种加速器调用方式：相似目标，不同接口</a:t>
            </a:r>
          </a:p>
        </p:txBody>
      </p:sp>
      <p:sp>
        <p:nvSpPr>
          <p:cNvPr id="3" name="text-003: 分别取 NVDLA headless Linux、Ethos-U Cortex-"/>
          <p:cNvSpPr txBox="1"/>
          <p:nvPr/>
        </p:nvSpPr>
        <p:spPr>
          <a:xfrm>
            <a:off x="4145197" y="474299"/>
            <a:ext cx="4511205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分别取 NVDLA headless Linux、Ethos-U Cortex-M、Gemmini RoCC 路径</a:t>
            </a:r>
          </a:p>
        </p:txBody>
      </p:sp>
      <p:sp>
        <p:nvSpPr>
          <p:cNvPr id="4" name="nvdlaregion"/>
          <p:cNvSpPr/>
          <p:nvPr/>
        </p:nvSpPr>
        <p:spPr>
          <a:xfrm>
            <a:off x="266700" y="933450"/>
            <a:ext cx="3893820" cy="5760720"/>
          </a:xfrm>
          <a:prstGeom prst="rect">
            <a:avLst/>
          </a:prstGeom>
          <a:solidFill>
            <a:srgbClr val="F5F7F9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VDLA"/>
          <p:cNvSpPr txBox="1"/>
          <p:nvPr/>
        </p:nvSpPr>
        <p:spPr>
          <a:xfrm>
            <a:off x="1856565" y="1030956"/>
            <a:ext cx="714089" cy="2901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NVDLA</a:t>
            </a:r>
          </a:p>
        </p:txBody>
      </p:sp>
      <p:sp>
        <p:nvSpPr>
          <p:cNvPr id="6" name="nvdlaapp"/>
          <p:cNvSpPr/>
          <p:nvPr/>
        </p:nvSpPr>
        <p:spPr>
          <a:xfrm>
            <a:off x="506730" y="1440180"/>
            <a:ext cx="3413760" cy="56007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应用加载 loadable"/>
          <p:cNvSpPr txBox="1"/>
          <p:nvPr/>
        </p:nvSpPr>
        <p:spPr>
          <a:xfrm>
            <a:off x="1516540" y="1505148"/>
            <a:ext cx="1394141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应用加载 loadable</a:t>
            </a:r>
          </a:p>
        </p:txBody>
      </p:sp>
      <p:sp>
        <p:nvSpPr>
          <p:cNvPr id="8" name="text-008: 绑定输入与输出"/>
          <p:cNvSpPr txBox="1"/>
          <p:nvPr/>
        </p:nvSpPr>
        <p:spPr>
          <a:xfrm>
            <a:off x="1680210" y="1730883"/>
            <a:ext cx="10668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绑定输入与输出</a:t>
            </a:r>
          </a:p>
        </p:txBody>
      </p:sp>
      <p:sp>
        <p:nvSpPr>
          <p:cNvPr id="9" name="nvdlarun"/>
          <p:cNvSpPr/>
          <p:nvPr/>
        </p:nvSpPr>
        <p:spPr>
          <a:xfrm>
            <a:off x="506730" y="2426970"/>
            <a:ext cx="3413760" cy="666750"/>
          </a:xfrm>
          <a:prstGeom prst="rect">
            <a:avLst/>
          </a:prstGeom>
          <a:solidFill>
            <a:srgbClr val="E8DFED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用户态运行时 UMD"/>
          <p:cNvSpPr txBox="1"/>
          <p:nvPr/>
        </p:nvSpPr>
        <p:spPr>
          <a:xfrm>
            <a:off x="1485198" y="2545278"/>
            <a:ext cx="1456824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用户态运行时 UMD</a:t>
            </a:r>
          </a:p>
        </p:txBody>
      </p:sp>
      <p:sp>
        <p:nvSpPr>
          <p:cNvPr id="11" name="text-011: 构造 DLA task"/>
          <p:cNvSpPr txBox="1"/>
          <p:nvPr/>
        </p:nvSpPr>
        <p:spPr>
          <a:xfrm>
            <a:off x="1733796" y="2771013"/>
            <a:ext cx="95962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构造 DLA task</a:t>
            </a:r>
          </a:p>
        </p:txBody>
      </p:sp>
      <p:sp>
        <p:nvSpPr>
          <p:cNvPr id="12" name="nvdlaif"/>
          <p:cNvSpPr/>
          <p:nvPr/>
        </p:nvSpPr>
        <p:spPr>
          <a:xfrm>
            <a:off x="506730" y="3547110"/>
            <a:ext cx="3413760" cy="666750"/>
          </a:xfrm>
          <a:prstGeom prst="rect">
            <a:avLst/>
          </a:prstGeom>
          <a:solidFill>
            <a:srgbClr val="E8DFED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内核驱动 KMD"/>
          <p:cNvSpPr txBox="1"/>
          <p:nvPr/>
        </p:nvSpPr>
        <p:spPr>
          <a:xfrm>
            <a:off x="1661191" y="3671179"/>
            <a:ext cx="110483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内核驱动 KMD</a:t>
            </a:r>
          </a:p>
        </p:txBody>
      </p:sp>
      <p:sp>
        <p:nvSpPr>
          <p:cNvPr id="14" name="text-014: engine scheduler / 寄存器 / IRQ"/>
          <p:cNvSpPr txBox="1"/>
          <p:nvPr/>
        </p:nvSpPr>
        <p:spPr>
          <a:xfrm>
            <a:off x="1198504" y="3891153"/>
            <a:ext cx="203021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engine scheduler / 寄存器 / IRQ</a:t>
            </a:r>
          </a:p>
        </p:txBody>
      </p:sp>
      <p:sp>
        <p:nvSpPr>
          <p:cNvPr id="15" name="nvdlahw"/>
          <p:cNvSpPr/>
          <p:nvPr/>
        </p:nvSpPr>
        <p:spPr>
          <a:xfrm>
            <a:off x="506730" y="4800600"/>
            <a:ext cx="3413760" cy="693420"/>
          </a:xfrm>
          <a:prstGeom prst="rect">
            <a:avLst/>
          </a:prstGeom>
          <a:solidFill>
            <a:srgbClr val="F1D7D9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NVDLA 功能块"/>
          <p:cNvSpPr txBox="1"/>
          <p:nvPr/>
        </p:nvSpPr>
        <p:spPr>
          <a:xfrm>
            <a:off x="1653857" y="4932243"/>
            <a:ext cx="1119507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NVDLA 功能块</a:t>
            </a:r>
          </a:p>
        </p:txBody>
      </p:sp>
      <p:sp>
        <p:nvSpPr>
          <p:cNvPr id="17" name="text-017: DMA / 卷积 / 后处理"/>
          <p:cNvSpPr txBox="1"/>
          <p:nvPr/>
        </p:nvSpPr>
        <p:spPr>
          <a:xfrm>
            <a:off x="1528429" y="5157978"/>
            <a:ext cx="1370363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 / 卷积 / 后处理</a:t>
            </a:r>
          </a:p>
        </p:txBody>
      </p:sp>
      <p:sp>
        <p:nvSpPr>
          <p:cNvPr id="18" name="nvdlamem"/>
          <p:cNvSpPr/>
          <p:nvPr/>
        </p:nvSpPr>
        <p:spPr>
          <a:xfrm>
            <a:off x="506730" y="6080760"/>
            <a:ext cx="3413760" cy="480060"/>
          </a:xfrm>
          <a:prstGeom prst="rect">
            <a:avLst/>
          </a:prstGeom>
          <a:solidFill>
            <a:srgbClr val="D8E8F4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DRAM / 可选片上 SRAM"/>
          <p:cNvSpPr txBox="1"/>
          <p:nvPr/>
        </p:nvSpPr>
        <p:spPr>
          <a:xfrm>
            <a:off x="1340380" y="6111484"/>
            <a:ext cx="174646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DRAM / 可选片上 SRAM</a:t>
            </a:r>
          </a:p>
        </p:txBody>
      </p:sp>
      <p:sp>
        <p:nvSpPr>
          <p:cNvPr id="20" name="text-020: 张量缓冲区"/>
          <p:cNvSpPr txBox="1"/>
          <p:nvPr/>
        </p:nvSpPr>
        <p:spPr>
          <a:xfrm>
            <a:off x="1813560" y="6331458"/>
            <a:ext cx="8001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张量缓冲区</a:t>
            </a:r>
          </a:p>
        </p:txBody>
      </p:sp>
      <p:sp>
        <p:nvSpPr>
          <p:cNvPr id="21" name="nvdla0"/>
          <p:cNvSpPr/>
          <p:nvPr/>
        </p:nvSpPr>
        <p:spPr>
          <a:xfrm>
            <a:off x="2213610" y="2000250"/>
            <a:ext cx="1" cy="426720"/>
          </a:xfrm>
          <a:custGeom>
            <a:avLst/>
            <a:gdLst/>
            <a:ahLst/>
            <a:cxnLst/>
            <a:rect l="0" t="0" r="r" b="b"/>
            <a:pathLst>
              <a:path w="1" h="426720" fill="none">
                <a:moveTo>
                  <a:pt x="0" y="0"/>
                </a:moveTo>
                <a:lnTo>
                  <a:pt x="0" y="426720"/>
                </a:lnTo>
              </a:path>
            </a:pathLst>
          </a:custGeom>
          <a:noFill/>
          <a:ln w="16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运行时 API"/>
          <p:cNvSpPr txBox="1"/>
          <p:nvPr/>
        </p:nvSpPr>
        <p:spPr>
          <a:xfrm>
            <a:off x="2346960" y="2112691"/>
            <a:ext cx="72696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运行时 API</a:t>
            </a:r>
          </a:p>
        </p:txBody>
      </p:sp>
      <p:sp>
        <p:nvSpPr>
          <p:cNvPr id="23" name="nvdla1"/>
          <p:cNvSpPr/>
          <p:nvPr/>
        </p:nvSpPr>
        <p:spPr>
          <a:xfrm>
            <a:off x="2213610" y="3093720"/>
            <a:ext cx="1" cy="453390"/>
          </a:xfrm>
          <a:custGeom>
            <a:avLst/>
            <a:gdLst/>
            <a:ahLst/>
            <a:cxnLst/>
            <a:rect l="0" t="0" r="r" b="b"/>
            <a:pathLst>
              <a:path w="1" h="453390" fill="none">
                <a:moveTo>
                  <a:pt x="0" y="0"/>
                </a:moveTo>
                <a:lnTo>
                  <a:pt x="0" y="453390"/>
                </a:lnTo>
              </a:path>
            </a:pathLst>
          </a:custGeom>
          <a:noFill/>
          <a:ln w="16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提交任务"/>
          <p:cNvSpPr txBox="1"/>
          <p:nvPr/>
        </p:nvSpPr>
        <p:spPr>
          <a:xfrm>
            <a:off x="2346960" y="3219496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提交任务</a:t>
            </a:r>
          </a:p>
        </p:txBody>
      </p:sp>
      <p:sp>
        <p:nvSpPr>
          <p:cNvPr id="25" name="nvdla2"/>
          <p:cNvSpPr/>
          <p:nvPr/>
        </p:nvSpPr>
        <p:spPr>
          <a:xfrm>
            <a:off x="2213610" y="4213860"/>
            <a:ext cx="1" cy="586740"/>
          </a:xfrm>
          <a:custGeom>
            <a:avLst/>
            <a:gdLst/>
            <a:ahLst/>
            <a:cxnLst/>
            <a:rect l="0" t="0" r="r" b="b"/>
            <a:pathLst>
              <a:path w="1" h="586740" fill="none">
                <a:moveTo>
                  <a:pt x="0" y="0"/>
                </a:moveTo>
                <a:lnTo>
                  <a:pt x="0" y="586740"/>
                </a:lnTo>
              </a:path>
            </a:pathLst>
          </a:custGeom>
          <a:noFill/>
          <a:ln w="160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配置 / 完成"/>
          <p:cNvSpPr txBox="1"/>
          <p:nvPr/>
        </p:nvSpPr>
        <p:spPr>
          <a:xfrm>
            <a:off x="2346960" y="4406311"/>
            <a:ext cx="78334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完成</a:t>
            </a:r>
          </a:p>
        </p:txBody>
      </p:sp>
      <p:sp>
        <p:nvSpPr>
          <p:cNvPr id="27" name="nvdladata"/>
          <p:cNvSpPr/>
          <p:nvPr/>
        </p:nvSpPr>
        <p:spPr>
          <a:xfrm>
            <a:off x="2213610" y="5494020"/>
            <a:ext cx="1" cy="586740"/>
          </a:xfrm>
          <a:custGeom>
            <a:avLst/>
            <a:gdLst/>
            <a:ahLst/>
            <a:cxnLst/>
            <a:rect l="0" t="0" r="r" b="b"/>
            <a:pathLst>
              <a:path w="1" h="586740" fill="none">
                <a:moveTo>
                  <a:pt x="0" y="0"/>
                </a:moveTo>
                <a:lnTo>
                  <a:pt x="0" y="586740"/>
                </a:lnTo>
              </a:path>
            </a:pathLst>
          </a:custGeom>
          <a:noFill/>
          <a:ln w="16002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数据访问"/>
          <p:cNvSpPr txBox="1"/>
          <p:nvPr/>
        </p:nvSpPr>
        <p:spPr>
          <a:xfrm>
            <a:off x="2346960" y="5697139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数据访问</a:t>
            </a:r>
          </a:p>
        </p:txBody>
      </p:sp>
      <p:sp>
        <p:nvSpPr>
          <p:cNvPr id="29" name="armregion"/>
          <p:cNvSpPr/>
          <p:nvPr/>
        </p:nvSpPr>
        <p:spPr>
          <a:xfrm>
            <a:off x="4453890" y="933450"/>
            <a:ext cx="3893820" cy="5760720"/>
          </a:xfrm>
          <a:prstGeom prst="rect">
            <a:avLst/>
          </a:prstGeom>
          <a:solidFill>
            <a:srgbClr val="F5F7F9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Arm Ethos-U"/>
          <p:cNvSpPr txBox="1"/>
          <p:nvPr/>
        </p:nvSpPr>
        <p:spPr>
          <a:xfrm>
            <a:off x="5819181" y="1030956"/>
            <a:ext cx="1163237" cy="2901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Arm Ethos-U</a:t>
            </a:r>
          </a:p>
        </p:txBody>
      </p:sp>
      <p:sp>
        <p:nvSpPr>
          <p:cNvPr id="31" name="armapp"/>
          <p:cNvSpPr/>
          <p:nvPr/>
        </p:nvSpPr>
        <p:spPr>
          <a:xfrm>
            <a:off x="4693920" y="1440180"/>
            <a:ext cx="3413760" cy="56007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应用执行 TFLite 模型"/>
          <p:cNvSpPr txBox="1"/>
          <p:nvPr/>
        </p:nvSpPr>
        <p:spPr>
          <a:xfrm>
            <a:off x="5613702" y="1505148"/>
            <a:ext cx="1574197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应用执行 TFLite 模型</a:t>
            </a:r>
          </a:p>
        </p:txBody>
      </p:sp>
      <p:sp>
        <p:nvSpPr>
          <p:cNvPr id="33" name="text-033: Vela 生成 NPU 子图"/>
          <p:cNvSpPr txBox="1"/>
          <p:nvPr/>
        </p:nvSpPr>
        <p:spPr>
          <a:xfrm>
            <a:off x="5758403" y="1730883"/>
            <a:ext cx="1284794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Vela 生成 NPU 子图</a:t>
            </a:r>
          </a:p>
        </p:txBody>
      </p:sp>
      <p:sp>
        <p:nvSpPr>
          <p:cNvPr id="34" name="armrun"/>
          <p:cNvSpPr/>
          <p:nvPr/>
        </p:nvSpPr>
        <p:spPr>
          <a:xfrm>
            <a:off x="4693920" y="2426970"/>
            <a:ext cx="3413760" cy="666750"/>
          </a:xfrm>
          <a:prstGeom prst="rect">
            <a:avLst/>
          </a:prstGeom>
          <a:solidFill>
            <a:srgbClr val="E8DFED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TFLM 与 CPU kernels"/>
          <p:cNvSpPr txBox="1"/>
          <p:nvPr/>
        </p:nvSpPr>
        <p:spPr>
          <a:xfrm>
            <a:off x="5610980" y="2545278"/>
            <a:ext cx="1579639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TFLM 与 CPU kernels</a:t>
            </a:r>
          </a:p>
        </p:txBody>
      </p:sp>
      <p:sp>
        <p:nvSpPr>
          <p:cNvPr id="36" name="text-036: CPU 算子 / Ethos-U custom op"/>
          <p:cNvSpPr txBox="1"/>
          <p:nvPr/>
        </p:nvSpPr>
        <p:spPr>
          <a:xfrm>
            <a:off x="5430887" y="2771013"/>
            <a:ext cx="1939826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算子 / Ethos-U custom op</a:t>
            </a:r>
          </a:p>
        </p:txBody>
      </p:sp>
      <p:sp>
        <p:nvSpPr>
          <p:cNvPr id="37" name="armif"/>
          <p:cNvSpPr/>
          <p:nvPr/>
        </p:nvSpPr>
        <p:spPr>
          <a:xfrm>
            <a:off x="4693920" y="3547110"/>
            <a:ext cx="3413760" cy="666750"/>
          </a:xfrm>
          <a:prstGeom prst="rect">
            <a:avLst/>
          </a:prstGeom>
          <a:solidFill>
            <a:srgbClr val="E8DFED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Ethos-U core driver"/>
          <p:cNvSpPr txBox="1"/>
          <p:nvPr/>
        </p:nvSpPr>
        <p:spPr>
          <a:xfrm>
            <a:off x="5707180" y="3671179"/>
            <a:ext cx="138724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Ethos-U core driver</a:t>
            </a:r>
          </a:p>
        </p:txBody>
      </p:sp>
      <p:sp>
        <p:nvSpPr>
          <p:cNvPr id="39" name="text-039: 命令流 / 区域基址 / 中断处理"/>
          <p:cNvSpPr txBox="1"/>
          <p:nvPr/>
        </p:nvSpPr>
        <p:spPr>
          <a:xfrm>
            <a:off x="5451456" y="3891153"/>
            <a:ext cx="1898687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命令流 / 区域基址 / 中断处理</a:t>
            </a:r>
          </a:p>
        </p:txBody>
      </p:sp>
      <p:sp>
        <p:nvSpPr>
          <p:cNvPr id="40" name="armhw"/>
          <p:cNvSpPr/>
          <p:nvPr/>
        </p:nvSpPr>
        <p:spPr>
          <a:xfrm>
            <a:off x="4693920" y="4800600"/>
            <a:ext cx="3413760" cy="693420"/>
          </a:xfrm>
          <a:prstGeom prst="rect">
            <a:avLst/>
          </a:prstGeom>
          <a:solidFill>
            <a:srgbClr val="F1D7D9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Ethos-U NPU"/>
          <p:cNvSpPr txBox="1"/>
          <p:nvPr/>
        </p:nvSpPr>
        <p:spPr>
          <a:xfrm>
            <a:off x="5892328" y="4932243"/>
            <a:ext cx="1016944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Ethos-U NPU</a:t>
            </a:r>
          </a:p>
        </p:txBody>
      </p:sp>
      <p:sp>
        <p:nvSpPr>
          <p:cNvPr id="42" name="text-042: 执行已编译的命令流"/>
          <p:cNvSpPr txBox="1"/>
          <p:nvPr/>
        </p:nvSpPr>
        <p:spPr>
          <a:xfrm>
            <a:off x="5734050" y="5157978"/>
            <a:ext cx="13335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执行已编译的命令流</a:t>
            </a:r>
          </a:p>
        </p:txBody>
      </p:sp>
      <p:sp>
        <p:nvSpPr>
          <p:cNvPr id="43" name="armmem"/>
          <p:cNvSpPr/>
          <p:nvPr/>
        </p:nvSpPr>
        <p:spPr>
          <a:xfrm>
            <a:off x="4693920" y="6080760"/>
            <a:ext cx="3413760" cy="480060"/>
          </a:xfrm>
          <a:prstGeom prst="rect">
            <a:avLst/>
          </a:prstGeom>
          <a:solidFill>
            <a:srgbClr val="D8E8F4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平台内存 / tensor arena"/>
          <p:cNvSpPr txBox="1"/>
          <p:nvPr/>
        </p:nvSpPr>
        <p:spPr>
          <a:xfrm>
            <a:off x="5529324" y="6111484"/>
            <a:ext cx="1742951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平台内存 / tensor arena</a:t>
            </a:r>
          </a:p>
        </p:txBody>
      </p:sp>
      <p:sp>
        <p:nvSpPr>
          <p:cNvPr id="45" name="text-045: 常量 / 激活 / scratch"/>
          <p:cNvSpPr txBox="1"/>
          <p:nvPr/>
        </p:nvSpPr>
        <p:spPr>
          <a:xfrm>
            <a:off x="5705134" y="6331458"/>
            <a:ext cx="139133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常量 / 激活 / scratch</a:t>
            </a:r>
          </a:p>
        </p:txBody>
      </p:sp>
      <p:sp>
        <p:nvSpPr>
          <p:cNvPr id="46" name="arm0"/>
          <p:cNvSpPr/>
          <p:nvPr/>
        </p:nvSpPr>
        <p:spPr>
          <a:xfrm>
            <a:off x="6400800" y="2000250"/>
            <a:ext cx="1" cy="426720"/>
          </a:xfrm>
          <a:custGeom>
            <a:avLst/>
            <a:gdLst/>
            <a:ahLst/>
            <a:cxnLst/>
            <a:rect l="0" t="0" r="r" b="b"/>
            <a:pathLst>
              <a:path w="1" h="426720" fill="none">
                <a:moveTo>
                  <a:pt x="0" y="0"/>
                </a:moveTo>
                <a:lnTo>
                  <a:pt x="0" y="426720"/>
                </a:lnTo>
              </a:path>
            </a:pathLst>
          </a:custGeom>
          <a:noFill/>
          <a:ln w="16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Invoke"/>
          <p:cNvSpPr txBox="1"/>
          <p:nvPr/>
        </p:nvSpPr>
        <p:spPr>
          <a:xfrm>
            <a:off x="6534150" y="2112691"/>
            <a:ext cx="48856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Invoke</a:t>
            </a:r>
          </a:p>
        </p:txBody>
      </p:sp>
      <p:sp>
        <p:nvSpPr>
          <p:cNvPr id="48" name="arm1"/>
          <p:cNvSpPr/>
          <p:nvPr/>
        </p:nvSpPr>
        <p:spPr>
          <a:xfrm>
            <a:off x="6400800" y="3093720"/>
            <a:ext cx="1" cy="453390"/>
          </a:xfrm>
          <a:custGeom>
            <a:avLst/>
            <a:gdLst/>
            <a:ahLst/>
            <a:cxnLst/>
            <a:rect l="0" t="0" r="r" b="b"/>
            <a:pathLst>
              <a:path w="1" h="453390" fill="none">
                <a:moveTo>
                  <a:pt x="0" y="0"/>
                </a:moveTo>
                <a:lnTo>
                  <a:pt x="0" y="453390"/>
                </a:lnTo>
              </a:path>
            </a:pathLst>
          </a:custGeom>
          <a:noFill/>
          <a:ln w="16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custom op 调用"/>
          <p:cNvSpPr txBox="1"/>
          <p:nvPr/>
        </p:nvSpPr>
        <p:spPr>
          <a:xfrm>
            <a:off x="6534150" y="3219496"/>
            <a:ext cx="101050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custom op 调用</a:t>
            </a:r>
          </a:p>
        </p:txBody>
      </p:sp>
      <p:sp>
        <p:nvSpPr>
          <p:cNvPr id="50" name="arm2"/>
          <p:cNvSpPr/>
          <p:nvPr/>
        </p:nvSpPr>
        <p:spPr>
          <a:xfrm>
            <a:off x="6400800" y="4213860"/>
            <a:ext cx="1" cy="586740"/>
          </a:xfrm>
          <a:custGeom>
            <a:avLst/>
            <a:gdLst/>
            <a:ahLst/>
            <a:cxnLst/>
            <a:rect l="0" t="0" r="r" b="b"/>
            <a:pathLst>
              <a:path w="1" h="586740" fill="none">
                <a:moveTo>
                  <a:pt x="0" y="0"/>
                </a:moveTo>
                <a:lnTo>
                  <a:pt x="0" y="586740"/>
                </a:lnTo>
              </a:path>
            </a:pathLst>
          </a:custGeom>
          <a:noFill/>
          <a:ln w="160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启动 / 完成"/>
          <p:cNvSpPr txBox="1"/>
          <p:nvPr/>
        </p:nvSpPr>
        <p:spPr>
          <a:xfrm>
            <a:off x="6534150" y="4406311"/>
            <a:ext cx="78334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启动 / 完成</a:t>
            </a:r>
          </a:p>
        </p:txBody>
      </p:sp>
      <p:sp>
        <p:nvSpPr>
          <p:cNvPr id="52" name="armdata"/>
          <p:cNvSpPr/>
          <p:nvPr/>
        </p:nvSpPr>
        <p:spPr>
          <a:xfrm>
            <a:off x="6400800" y="5494020"/>
            <a:ext cx="1" cy="586740"/>
          </a:xfrm>
          <a:custGeom>
            <a:avLst/>
            <a:gdLst/>
            <a:ahLst/>
            <a:cxnLst/>
            <a:rect l="0" t="0" r="r" b="b"/>
            <a:pathLst>
              <a:path w="1" h="586740" fill="none">
                <a:moveTo>
                  <a:pt x="0" y="0"/>
                </a:moveTo>
                <a:lnTo>
                  <a:pt x="0" y="586740"/>
                </a:lnTo>
              </a:path>
            </a:pathLst>
          </a:custGeom>
          <a:noFill/>
          <a:ln w="16002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数据访问"/>
          <p:cNvSpPr txBox="1"/>
          <p:nvPr/>
        </p:nvSpPr>
        <p:spPr>
          <a:xfrm>
            <a:off x="6534150" y="5697139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数据访问</a:t>
            </a:r>
          </a:p>
        </p:txBody>
      </p:sp>
      <p:sp>
        <p:nvSpPr>
          <p:cNvPr id="54" name="gemminiregion"/>
          <p:cNvSpPr/>
          <p:nvPr/>
        </p:nvSpPr>
        <p:spPr>
          <a:xfrm>
            <a:off x="8641080" y="933450"/>
            <a:ext cx="3893820" cy="5760720"/>
          </a:xfrm>
          <a:prstGeom prst="rect">
            <a:avLst/>
          </a:prstGeom>
          <a:solidFill>
            <a:srgbClr val="F5F7F9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Gemmini"/>
          <p:cNvSpPr txBox="1"/>
          <p:nvPr/>
        </p:nvSpPr>
        <p:spPr>
          <a:xfrm>
            <a:off x="10147793" y="1030956"/>
            <a:ext cx="880393" cy="2901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Gemmini</a:t>
            </a:r>
          </a:p>
        </p:txBody>
      </p:sp>
      <p:sp>
        <p:nvSpPr>
          <p:cNvPr id="56" name="gemminiapp"/>
          <p:cNvSpPr/>
          <p:nvPr/>
        </p:nvSpPr>
        <p:spPr>
          <a:xfrm>
            <a:off x="8881110" y="1440180"/>
            <a:ext cx="3413760" cy="56007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RISC-V 应用 / 算子库"/>
          <p:cNvSpPr txBox="1"/>
          <p:nvPr/>
        </p:nvSpPr>
        <p:spPr>
          <a:xfrm>
            <a:off x="9783977" y="1505148"/>
            <a:ext cx="1608026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RISC-V 应用 / 算子库</a:t>
            </a:r>
          </a:p>
        </p:txBody>
      </p:sp>
      <p:sp>
        <p:nvSpPr>
          <p:cNvPr id="58" name="text-058: 矩阵 / 卷积 / 可选框架适配"/>
          <p:cNvSpPr txBox="1"/>
          <p:nvPr/>
        </p:nvSpPr>
        <p:spPr>
          <a:xfrm>
            <a:off x="9705321" y="1730883"/>
            <a:ext cx="1765337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矩阵 / 卷积 / 可选框架适配</a:t>
            </a:r>
          </a:p>
        </p:txBody>
      </p:sp>
      <p:sp>
        <p:nvSpPr>
          <p:cNvPr id="59" name="gemminirun"/>
          <p:cNvSpPr/>
          <p:nvPr/>
        </p:nvSpPr>
        <p:spPr>
          <a:xfrm>
            <a:off x="8881110" y="2426970"/>
            <a:ext cx="3413760" cy="666750"/>
          </a:xfrm>
          <a:prstGeom prst="rect">
            <a:avLst/>
          </a:prstGeom>
          <a:solidFill>
            <a:srgbClr val="E8DFED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C 宏与分块算子"/>
          <p:cNvSpPr txBox="1"/>
          <p:nvPr/>
        </p:nvSpPr>
        <p:spPr>
          <a:xfrm>
            <a:off x="9975518" y="2545278"/>
            <a:ext cx="1224945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 宏与分块算子</a:t>
            </a:r>
          </a:p>
        </p:txBody>
      </p:sp>
      <p:sp>
        <p:nvSpPr>
          <p:cNvPr id="61" name="text-061: 配置 / mvin / compute / mvout"/>
          <p:cNvSpPr txBox="1"/>
          <p:nvPr/>
        </p:nvSpPr>
        <p:spPr>
          <a:xfrm>
            <a:off x="9599521" y="2771013"/>
            <a:ext cx="1976939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mvin / compute / mvout</a:t>
            </a:r>
          </a:p>
        </p:txBody>
      </p:sp>
      <p:sp>
        <p:nvSpPr>
          <p:cNvPr id="62" name="gemminiif"/>
          <p:cNvSpPr/>
          <p:nvPr/>
        </p:nvSpPr>
        <p:spPr>
          <a:xfrm>
            <a:off x="8881110" y="3547110"/>
            <a:ext cx="3413760" cy="666750"/>
          </a:xfrm>
          <a:prstGeom prst="rect">
            <a:avLst/>
          </a:prstGeom>
          <a:solidFill>
            <a:srgbClr val="E8DFED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CPU 自定义指令 → RoCC"/>
          <p:cNvSpPr txBox="1"/>
          <p:nvPr/>
        </p:nvSpPr>
        <p:spPr>
          <a:xfrm>
            <a:off x="9683335" y="3671179"/>
            <a:ext cx="1809309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自定义指令 → RoCC</a:t>
            </a:r>
          </a:p>
        </p:txBody>
      </p:sp>
      <p:sp>
        <p:nvSpPr>
          <p:cNvPr id="64" name="text-064: Gemmini 命令与同步"/>
          <p:cNvSpPr txBox="1"/>
          <p:nvPr/>
        </p:nvSpPr>
        <p:spPr>
          <a:xfrm>
            <a:off x="9910955" y="3891153"/>
            <a:ext cx="1354069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Gemmini 命令与同步</a:t>
            </a:r>
          </a:p>
        </p:txBody>
      </p:sp>
      <p:sp>
        <p:nvSpPr>
          <p:cNvPr id="65" name="gemminihw"/>
          <p:cNvSpPr/>
          <p:nvPr/>
        </p:nvSpPr>
        <p:spPr>
          <a:xfrm>
            <a:off x="8881110" y="4800600"/>
            <a:ext cx="3413760" cy="693420"/>
          </a:xfrm>
          <a:prstGeom prst="rect">
            <a:avLst/>
          </a:prstGeom>
          <a:solidFill>
            <a:srgbClr val="F1D7D9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Gemmini 阵列与本地存储"/>
          <p:cNvSpPr txBox="1"/>
          <p:nvPr/>
        </p:nvSpPr>
        <p:spPr>
          <a:xfrm>
            <a:off x="9647939" y="4932243"/>
            <a:ext cx="1880102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Gemmini 阵列与本地存储</a:t>
            </a:r>
          </a:p>
        </p:txBody>
      </p:sp>
      <p:sp>
        <p:nvSpPr>
          <p:cNvPr id="67" name="text-067: scratchpad / accumulator"/>
          <p:cNvSpPr txBox="1"/>
          <p:nvPr/>
        </p:nvSpPr>
        <p:spPr>
          <a:xfrm>
            <a:off x="9769008" y="5157978"/>
            <a:ext cx="1637963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scratchpad / accumulator</a:t>
            </a:r>
          </a:p>
        </p:txBody>
      </p:sp>
      <p:sp>
        <p:nvSpPr>
          <p:cNvPr id="68" name="gemminimem"/>
          <p:cNvSpPr/>
          <p:nvPr/>
        </p:nvSpPr>
        <p:spPr>
          <a:xfrm>
            <a:off x="8881110" y="6080760"/>
            <a:ext cx="3413760" cy="480060"/>
          </a:xfrm>
          <a:prstGeom prst="rect">
            <a:avLst/>
          </a:prstGeom>
          <a:solidFill>
            <a:srgbClr val="D8E8F4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SoC 主存层次"/>
          <p:cNvSpPr txBox="1"/>
          <p:nvPr/>
        </p:nvSpPr>
        <p:spPr>
          <a:xfrm>
            <a:off x="10059495" y="6111484"/>
            <a:ext cx="105699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主存层次</a:t>
            </a:r>
          </a:p>
        </p:txBody>
      </p:sp>
      <p:sp>
        <p:nvSpPr>
          <p:cNvPr id="70" name="text-070: 经 DMA 与 TileLink 访问"/>
          <p:cNvSpPr txBox="1"/>
          <p:nvPr/>
        </p:nvSpPr>
        <p:spPr>
          <a:xfrm>
            <a:off x="9819015" y="6331458"/>
            <a:ext cx="1537951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经 DMA 与 TileLink 访问</a:t>
            </a:r>
          </a:p>
        </p:txBody>
      </p:sp>
      <p:sp>
        <p:nvSpPr>
          <p:cNvPr id="71" name="gemmini0"/>
          <p:cNvSpPr/>
          <p:nvPr/>
        </p:nvSpPr>
        <p:spPr>
          <a:xfrm>
            <a:off x="10587990" y="2000250"/>
            <a:ext cx="1" cy="426720"/>
          </a:xfrm>
          <a:custGeom>
            <a:avLst/>
            <a:gdLst/>
            <a:ahLst/>
            <a:cxnLst/>
            <a:rect l="0" t="0" r="r" b="b"/>
            <a:pathLst>
              <a:path w="1" h="426720" fill="none">
                <a:moveTo>
                  <a:pt x="0" y="0"/>
                </a:moveTo>
                <a:lnTo>
                  <a:pt x="0" y="426720"/>
                </a:lnTo>
              </a:path>
            </a:pathLst>
          </a:custGeom>
          <a:noFill/>
          <a:ln w="16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库函数"/>
          <p:cNvSpPr txBox="1"/>
          <p:nvPr/>
        </p:nvSpPr>
        <p:spPr>
          <a:xfrm>
            <a:off x="10721340" y="2112691"/>
            <a:ext cx="51206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库函数</a:t>
            </a:r>
          </a:p>
        </p:txBody>
      </p:sp>
      <p:sp>
        <p:nvSpPr>
          <p:cNvPr id="73" name="gemmini1"/>
          <p:cNvSpPr/>
          <p:nvPr/>
        </p:nvSpPr>
        <p:spPr>
          <a:xfrm>
            <a:off x="10587990" y="3093720"/>
            <a:ext cx="1" cy="453390"/>
          </a:xfrm>
          <a:custGeom>
            <a:avLst/>
            <a:gdLst/>
            <a:ahLst/>
            <a:cxnLst/>
            <a:rect l="0" t="0" r="r" b="b"/>
            <a:pathLst>
              <a:path w="1" h="453390" fill="none">
                <a:moveTo>
                  <a:pt x="0" y="0"/>
                </a:moveTo>
                <a:lnTo>
                  <a:pt x="0" y="453390"/>
                </a:lnTo>
              </a:path>
            </a:pathLst>
          </a:custGeom>
          <a:noFill/>
          <a:ln w="16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发射指令"/>
          <p:cNvSpPr txBox="1"/>
          <p:nvPr/>
        </p:nvSpPr>
        <p:spPr>
          <a:xfrm>
            <a:off x="10721340" y="3219496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发射指令</a:t>
            </a:r>
          </a:p>
        </p:txBody>
      </p:sp>
      <p:sp>
        <p:nvSpPr>
          <p:cNvPr id="75" name="gemmini2"/>
          <p:cNvSpPr/>
          <p:nvPr/>
        </p:nvSpPr>
        <p:spPr>
          <a:xfrm>
            <a:off x="10587990" y="4213860"/>
            <a:ext cx="1" cy="586740"/>
          </a:xfrm>
          <a:custGeom>
            <a:avLst/>
            <a:gdLst/>
            <a:ahLst/>
            <a:cxnLst/>
            <a:rect l="0" t="0" r="r" b="b"/>
            <a:pathLst>
              <a:path w="1" h="586740" fill="none">
                <a:moveTo>
                  <a:pt x="0" y="0"/>
                </a:moveTo>
                <a:lnTo>
                  <a:pt x="0" y="586740"/>
                </a:lnTo>
              </a:path>
            </a:pathLst>
          </a:custGeom>
          <a:noFill/>
          <a:ln w="16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-076: 执行命令"/>
          <p:cNvSpPr txBox="1"/>
          <p:nvPr/>
        </p:nvSpPr>
        <p:spPr>
          <a:xfrm>
            <a:off x="10721340" y="4406311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执行命令</a:t>
            </a:r>
          </a:p>
        </p:txBody>
      </p:sp>
      <p:sp>
        <p:nvSpPr>
          <p:cNvPr id="77" name="gemminidata"/>
          <p:cNvSpPr/>
          <p:nvPr/>
        </p:nvSpPr>
        <p:spPr>
          <a:xfrm>
            <a:off x="10587990" y="5494020"/>
            <a:ext cx="1" cy="586740"/>
          </a:xfrm>
          <a:custGeom>
            <a:avLst/>
            <a:gdLst/>
            <a:ahLst/>
            <a:cxnLst/>
            <a:rect l="0" t="0" r="r" b="b"/>
            <a:pathLst>
              <a:path w="1" h="586740" fill="none">
                <a:moveTo>
                  <a:pt x="0" y="0"/>
                </a:moveTo>
                <a:lnTo>
                  <a:pt x="0" y="586740"/>
                </a:lnTo>
              </a:path>
            </a:pathLst>
          </a:custGeom>
          <a:noFill/>
          <a:ln w="16002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数据访问"/>
          <p:cNvSpPr txBox="1"/>
          <p:nvPr/>
        </p:nvSpPr>
        <p:spPr>
          <a:xfrm>
            <a:off x="10721340" y="5697139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数据访问</a:t>
            </a:r>
          </a:p>
        </p:txBody>
      </p:sp>
      <p:sp>
        <p:nvSpPr>
          <p:cNvPr id="79" name="text-079: 紫：调用 / 指令 / 控制    蓝灰：数据；各列省略 CPU 的普通访存，三"/>
          <p:cNvSpPr txBox="1"/>
          <p:nvPr/>
        </p:nvSpPr>
        <p:spPr>
          <a:xfrm>
            <a:off x="3498446" y="6837761"/>
            <a:ext cx="5804709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紫：调用 / 指令 / 控制    蓝灰：数据；各列省略 CPU 的普通访存，三者不是同一总线接口。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Deeploy / Siracusa：编译安排计算与显式搬运"/>
          <p:cNvSpPr txBox="1"/>
          <p:nvPr/>
        </p:nvSpPr>
        <p:spPr>
          <a:xfrm>
            <a:off x="4005071" y="120762"/>
            <a:ext cx="4791457" cy="3584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Deeploy / Siracusa：编译安排计算与显式搬运</a:t>
            </a:r>
          </a:p>
        </p:txBody>
      </p:sp>
      <p:sp>
        <p:nvSpPr>
          <p:cNvPr id="3" name="text-003: 依据论文的部署机制归纳；图中 L1 / L2 为软件管理的片上存储，不是 CVA"/>
          <p:cNvSpPr txBox="1"/>
          <p:nvPr/>
        </p:nvSpPr>
        <p:spPr>
          <a:xfrm>
            <a:off x="3845156" y="474299"/>
            <a:ext cx="5111289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依据论文的部署机制归纳；图中 L1 / L2 为软件管理的片上存储，不是 CVA6 缓存</a:t>
            </a:r>
          </a:p>
        </p:txBody>
      </p:sp>
      <p:sp>
        <p:nvSpPr>
          <p:cNvPr id="4" name="host"/>
          <p:cNvSpPr/>
          <p:nvPr/>
        </p:nvSpPr>
        <p:spPr>
          <a:xfrm>
            <a:off x="266700" y="933450"/>
            <a:ext cx="12268200" cy="1253490"/>
          </a:xfrm>
          <a:prstGeom prst="rect">
            <a:avLst/>
          </a:prstGeom>
          <a:solidFill>
            <a:srgbClr val="F5F7F9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开发主机"/>
          <p:cNvSpPr txBox="1"/>
          <p:nvPr/>
        </p:nvSpPr>
        <p:spPr>
          <a:xfrm>
            <a:off x="426720" y="979749"/>
            <a:ext cx="773430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开发主机</a:t>
            </a:r>
          </a:p>
        </p:txBody>
      </p:sp>
      <p:sp>
        <p:nvSpPr>
          <p:cNvPr id="6" name="onnx"/>
          <p:cNvSpPr/>
          <p:nvPr/>
        </p:nvSpPr>
        <p:spPr>
          <a:xfrm>
            <a:off x="533400" y="1333500"/>
            <a:ext cx="2346960" cy="58674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量化 ONNX"/>
          <p:cNvSpPr txBox="1"/>
          <p:nvPr/>
        </p:nvSpPr>
        <p:spPr>
          <a:xfrm>
            <a:off x="1257028" y="1411803"/>
            <a:ext cx="899704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量化 ONNX</a:t>
            </a:r>
          </a:p>
        </p:txBody>
      </p:sp>
      <p:sp>
        <p:nvSpPr>
          <p:cNvPr id="8" name="text-008: 模型 / 形状 / 数据类型"/>
          <p:cNvSpPr txBox="1"/>
          <p:nvPr/>
        </p:nvSpPr>
        <p:spPr>
          <a:xfrm>
            <a:off x="957561" y="1637538"/>
            <a:ext cx="1498637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形状 / 数据类型</a:t>
            </a:r>
          </a:p>
        </p:txBody>
      </p:sp>
      <p:sp>
        <p:nvSpPr>
          <p:cNvPr id="9" name="planner"/>
          <p:cNvSpPr/>
          <p:nvPr/>
        </p:nvSpPr>
        <p:spPr>
          <a:xfrm>
            <a:off x="4053840" y="1333500"/>
            <a:ext cx="4320540" cy="586740"/>
          </a:xfrm>
          <a:prstGeom prst="rect">
            <a:avLst/>
          </a:prstGeom>
          <a:solidFill>
            <a:srgbClr val="E8DFED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Deeploy 编译"/>
          <p:cNvSpPr txBox="1"/>
          <p:nvPr/>
        </p:nvSpPr>
        <p:spPr>
          <a:xfrm>
            <a:off x="5690157" y="1411803"/>
            <a:ext cx="1047906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Deeploy 编译</a:t>
            </a:r>
          </a:p>
        </p:txBody>
      </p:sp>
      <p:sp>
        <p:nvSpPr>
          <p:cNvPr id="11" name="text-011: 算子映射 / 分块约束 / 静态内存规划"/>
          <p:cNvSpPr txBox="1"/>
          <p:nvPr/>
        </p:nvSpPr>
        <p:spPr>
          <a:xfrm>
            <a:off x="5064741" y="1637538"/>
            <a:ext cx="2298737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算子映射 / 分块约束 / 静态内存规划</a:t>
            </a:r>
          </a:p>
        </p:txBody>
      </p:sp>
      <p:sp>
        <p:nvSpPr>
          <p:cNvPr id="12" name="code"/>
          <p:cNvSpPr/>
          <p:nvPr/>
        </p:nvSpPr>
        <p:spPr>
          <a:xfrm>
            <a:off x="9547860" y="1333500"/>
            <a:ext cx="2453640" cy="586740"/>
          </a:xfrm>
          <a:prstGeom prst="rect">
            <a:avLst/>
          </a:prstGeom>
          <a:solidFill>
            <a:srgbClr val="F5E1C9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生成 C 代码"/>
          <p:cNvSpPr txBox="1"/>
          <p:nvPr/>
        </p:nvSpPr>
        <p:spPr>
          <a:xfrm>
            <a:off x="10293707" y="1411803"/>
            <a:ext cx="961945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生成 C 代码</a:t>
            </a:r>
          </a:p>
        </p:txBody>
      </p:sp>
      <p:sp>
        <p:nvSpPr>
          <p:cNvPr id="14" name="text-014: 算子调用 / DMA / 同步"/>
          <p:cNvSpPr txBox="1"/>
          <p:nvPr/>
        </p:nvSpPr>
        <p:spPr>
          <a:xfrm>
            <a:off x="10022824" y="1637538"/>
            <a:ext cx="1503713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算子调用 / DMA / 同步</a:t>
            </a:r>
          </a:p>
        </p:txBody>
      </p:sp>
      <p:sp>
        <p:nvSpPr>
          <p:cNvPr id="15" name="parse"/>
          <p:cNvSpPr/>
          <p:nvPr/>
        </p:nvSpPr>
        <p:spPr>
          <a:xfrm>
            <a:off x="2880360" y="1626870"/>
            <a:ext cx="1173480" cy="1"/>
          </a:xfrm>
          <a:custGeom>
            <a:avLst/>
            <a:gdLst/>
            <a:ahLst/>
            <a:cxnLst/>
            <a:rect l="0" t="0" r="r" b="b"/>
            <a:pathLst>
              <a:path w="1173480" h="1" fill="none">
                <a:moveTo>
                  <a:pt x="0" y="0"/>
                </a:moveTo>
                <a:lnTo>
                  <a:pt x="1173480" y="0"/>
                </a:lnTo>
              </a:path>
            </a:pathLst>
          </a:custGeom>
          <a:noFill/>
          <a:ln w="16002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generate"/>
          <p:cNvSpPr/>
          <p:nvPr/>
        </p:nvSpPr>
        <p:spPr>
          <a:xfrm>
            <a:off x="8374380" y="1626870"/>
            <a:ext cx="1173480" cy="1"/>
          </a:xfrm>
          <a:custGeom>
            <a:avLst/>
            <a:gdLst/>
            <a:ahLst/>
            <a:cxnLst/>
            <a:rect l="0" t="0" r="r" b="b"/>
            <a:pathLst>
              <a:path w="1173480" h="1" fill="none">
                <a:moveTo>
                  <a:pt x="0" y="0"/>
                </a:moveTo>
                <a:lnTo>
                  <a:pt x="1173480" y="0"/>
                </a:lnTo>
              </a:path>
            </a:pathLst>
          </a:custGeom>
          <a:noFill/>
          <a:ln w="16002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hip"/>
          <p:cNvSpPr/>
          <p:nvPr/>
        </p:nvSpPr>
        <p:spPr>
          <a:xfrm>
            <a:off x="266700" y="2747010"/>
            <a:ext cx="12268200" cy="3680460"/>
          </a:xfrm>
          <a:prstGeom prst="rect">
            <a:avLst/>
          </a:prstGeom>
          <a:solidFill>
            <a:srgbClr val="F5F7F9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Siracusa：主控与异构计算集群"/>
          <p:cNvSpPr txBox="1"/>
          <p:nvPr/>
        </p:nvSpPr>
        <p:spPr>
          <a:xfrm>
            <a:off x="426720" y="2793309"/>
            <a:ext cx="2288419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Siracusa：主控与异构计算集群</a:t>
            </a:r>
          </a:p>
        </p:txBody>
      </p:sp>
      <p:sp>
        <p:nvSpPr>
          <p:cNvPr id="19" name="controller"/>
          <p:cNvSpPr/>
          <p:nvPr/>
        </p:nvSpPr>
        <p:spPr>
          <a:xfrm>
            <a:off x="533400" y="3307080"/>
            <a:ext cx="2080260" cy="746760"/>
          </a:xfrm>
          <a:prstGeom prst="rect">
            <a:avLst/>
          </a:prstGeom>
          <a:solidFill>
            <a:srgbClr val="F1D7D9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主控核"/>
          <p:cNvSpPr txBox="1"/>
          <p:nvPr/>
        </p:nvSpPr>
        <p:spPr>
          <a:xfrm>
            <a:off x="1264158" y="3465393"/>
            <a:ext cx="618744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主控核</a:t>
            </a:r>
          </a:p>
        </p:txBody>
      </p:sp>
      <p:sp>
        <p:nvSpPr>
          <p:cNvPr id="21" name="text-021: 启动计算集群 / 应用控制"/>
          <p:cNvSpPr txBox="1"/>
          <p:nvPr/>
        </p:nvSpPr>
        <p:spPr>
          <a:xfrm>
            <a:off x="765483" y="3691128"/>
            <a:ext cx="1616094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启动计算集群 / 应用控制</a:t>
            </a:r>
          </a:p>
        </p:txBody>
      </p:sp>
      <p:sp>
        <p:nvSpPr>
          <p:cNvPr id="22" name="cluster"/>
          <p:cNvSpPr/>
          <p:nvPr/>
        </p:nvSpPr>
        <p:spPr>
          <a:xfrm>
            <a:off x="4160520" y="3307080"/>
            <a:ext cx="2880360" cy="746760"/>
          </a:xfrm>
          <a:prstGeom prst="rect">
            <a:avLst/>
          </a:prstGeom>
          <a:solidFill>
            <a:srgbClr val="F1D7D9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8 核 RISC-V 集群"/>
          <p:cNvSpPr txBox="1"/>
          <p:nvPr/>
        </p:nvSpPr>
        <p:spPr>
          <a:xfrm>
            <a:off x="4945181" y="3465393"/>
            <a:ext cx="1311039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核 RISC-V 集群</a:t>
            </a:r>
          </a:p>
        </p:txBody>
      </p:sp>
      <p:sp>
        <p:nvSpPr>
          <p:cNvPr id="24" name="text-024: 执行 CPU kernels / 管理分块"/>
          <p:cNvSpPr txBox="1"/>
          <p:nvPr/>
        </p:nvSpPr>
        <p:spPr>
          <a:xfrm>
            <a:off x="4685090" y="3691128"/>
            <a:ext cx="1831221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执行 CPU kernels / 管理分块</a:t>
            </a:r>
          </a:p>
        </p:txBody>
      </p:sp>
      <p:sp>
        <p:nvSpPr>
          <p:cNvPr id="25" name="npu"/>
          <p:cNvSpPr/>
          <p:nvPr/>
        </p:nvSpPr>
        <p:spPr>
          <a:xfrm>
            <a:off x="9281160" y="3307080"/>
            <a:ext cx="2720340" cy="746760"/>
          </a:xfrm>
          <a:prstGeom prst="rect">
            <a:avLst/>
          </a:prstGeom>
          <a:solidFill>
            <a:srgbClr val="F1D7D9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N-Eureka NPU"/>
          <p:cNvSpPr txBox="1"/>
          <p:nvPr/>
        </p:nvSpPr>
        <p:spPr>
          <a:xfrm>
            <a:off x="10091170" y="3465393"/>
            <a:ext cx="1100321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N-Eureka NPU</a:t>
            </a:r>
          </a:p>
        </p:txBody>
      </p:sp>
      <p:sp>
        <p:nvSpPr>
          <p:cNvPr id="27" name="text-027: 常量权重线性层 → 1×1 卷积"/>
          <p:cNvSpPr txBox="1"/>
          <p:nvPr/>
        </p:nvSpPr>
        <p:spPr>
          <a:xfrm>
            <a:off x="9727995" y="3691128"/>
            <a:ext cx="182667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常量权重线性层 → 1×1 卷积</a:t>
            </a:r>
          </a:p>
        </p:txBody>
      </p:sp>
      <p:sp>
        <p:nvSpPr>
          <p:cNvPr id="28" name="deploy"/>
          <p:cNvSpPr/>
          <p:nvPr/>
        </p:nvSpPr>
        <p:spPr>
          <a:xfrm>
            <a:off x="1573530" y="1920240"/>
            <a:ext cx="9201150" cy="1386840"/>
          </a:xfrm>
          <a:custGeom>
            <a:avLst/>
            <a:gdLst/>
            <a:ahLst/>
            <a:cxnLst/>
            <a:rect l="0" t="0" r="r" b="b"/>
            <a:pathLst>
              <a:path w="9201150" h="1386840" fill="none">
                <a:moveTo>
                  <a:pt x="9201150" y="0"/>
                </a:moveTo>
                <a:lnTo>
                  <a:pt x="9201150" y="533400"/>
                </a:lnTo>
                <a:lnTo>
                  <a:pt x="2053590" y="533400"/>
                </a:lnTo>
                <a:lnTo>
                  <a:pt x="2053590" y="1226820"/>
                </a:lnTo>
                <a:lnTo>
                  <a:pt x="0" y="1226820"/>
                </a:lnTo>
                <a:lnTo>
                  <a:pt x="0" y="1386840"/>
                </a:lnTo>
              </a:path>
            </a:pathLst>
          </a:custGeom>
          <a:noFill/>
          <a:ln w="16002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交叉编译与加载到目标程序"/>
          <p:cNvSpPr txBox="1"/>
          <p:nvPr/>
        </p:nvSpPr>
        <p:spPr>
          <a:xfrm>
            <a:off x="5408676" y="2208703"/>
            <a:ext cx="166420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交叉编译与加载到目标程序</a:t>
            </a:r>
          </a:p>
        </p:txBody>
      </p:sp>
      <p:sp>
        <p:nvSpPr>
          <p:cNvPr id="30" name="launch"/>
          <p:cNvSpPr/>
          <p:nvPr/>
        </p:nvSpPr>
        <p:spPr>
          <a:xfrm>
            <a:off x="2613660" y="3680460"/>
            <a:ext cx="1546860" cy="1"/>
          </a:xfrm>
          <a:custGeom>
            <a:avLst/>
            <a:gdLst/>
            <a:ahLst/>
            <a:cxnLst/>
            <a:rect l="0" t="0" r="r" b="b"/>
            <a:pathLst>
              <a:path w="1546860" h="1" fill="none">
                <a:moveTo>
                  <a:pt x="0" y="0"/>
                </a:moveTo>
                <a:lnTo>
                  <a:pt x="1546860" y="0"/>
                </a:lnTo>
              </a:path>
            </a:pathLst>
          </a:custGeom>
          <a:noFill/>
          <a:ln w="16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任务派发"/>
          <p:cNvSpPr txBox="1"/>
          <p:nvPr/>
        </p:nvSpPr>
        <p:spPr>
          <a:xfrm>
            <a:off x="3067050" y="3419521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任务派发</a:t>
            </a:r>
          </a:p>
        </p:txBody>
      </p:sp>
      <p:sp>
        <p:nvSpPr>
          <p:cNvPr id="32" name="configure"/>
          <p:cNvSpPr/>
          <p:nvPr/>
        </p:nvSpPr>
        <p:spPr>
          <a:xfrm>
            <a:off x="7040880" y="3680460"/>
            <a:ext cx="2240280" cy="1"/>
          </a:xfrm>
          <a:custGeom>
            <a:avLst/>
            <a:gdLst/>
            <a:ahLst/>
            <a:cxnLst/>
            <a:rect l="0" t="0" r="r" b="b"/>
            <a:pathLst>
              <a:path w="2240280" h="1" fill="none">
                <a:moveTo>
                  <a:pt x="0" y="0"/>
                </a:moveTo>
                <a:lnTo>
                  <a:pt x="2240280" y="0"/>
                </a:lnTo>
              </a:path>
            </a:pathLst>
          </a:custGeom>
          <a:noFill/>
          <a:ln w="16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配置 / 等待 / 同步"/>
          <p:cNvSpPr txBox="1"/>
          <p:nvPr/>
        </p:nvSpPr>
        <p:spPr>
          <a:xfrm>
            <a:off x="7569696" y="3414187"/>
            <a:ext cx="118264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等待 / 同步</a:t>
            </a:r>
          </a:p>
        </p:txBody>
      </p:sp>
      <p:sp>
        <p:nvSpPr>
          <p:cNvPr id="34" name="arbiter"/>
          <p:cNvSpPr/>
          <p:nvPr/>
        </p:nvSpPr>
        <p:spPr>
          <a:xfrm>
            <a:off x="4800600" y="4613910"/>
            <a:ext cx="5440680" cy="426720"/>
          </a:xfrm>
          <a:prstGeom prst="rect">
            <a:avLst/>
          </a:prstGeom>
          <a:solidFill>
            <a:srgbClr val="F5E1C9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TCDM 访问互连 / 仲裁"/>
          <p:cNvSpPr txBox="1"/>
          <p:nvPr/>
        </p:nvSpPr>
        <p:spPr>
          <a:xfrm>
            <a:off x="6668888" y="4713549"/>
            <a:ext cx="1704105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TCDM 访问互连 / 仲裁</a:t>
            </a:r>
          </a:p>
        </p:txBody>
      </p:sp>
      <p:sp>
        <p:nvSpPr>
          <p:cNvPr id="36" name="core-access"/>
          <p:cNvSpPr/>
          <p:nvPr/>
        </p:nvSpPr>
        <p:spPr>
          <a:xfrm>
            <a:off x="5707380" y="4053840"/>
            <a:ext cx="1" cy="560070"/>
          </a:xfrm>
          <a:custGeom>
            <a:avLst/>
            <a:gdLst/>
            <a:ahLst/>
            <a:cxnLst/>
            <a:rect l="0" t="0" r="r" b="b"/>
            <a:pathLst>
              <a:path w="1" h="560070" fill="none">
                <a:moveTo>
                  <a:pt x="0" y="0"/>
                </a:moveTo>
                <a:lnTo>
                  <a:pt x="0" y="560070"/>
                </a:lnTo>
              </a:path>
            </a:pathLst>
          </a:custGeom>
          <a:noFill/>
          <a:ln w="1600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CPU 读写"/>
          <p:cNvSpPr txBox="1"/>
          <p:nvPr/>
        </p:nvSpPr>
        <p:spPr>
          <a:xfrm>
            <a:off x="5814060" y="4230289"/>
            <a:ext cx="65520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CPU 读写</a:t>
            </a:r>
          </a:p>
        </p:txBody>
      </p:sp>
      <p:sp>
        <p:nvSpPr>
          <p:cNvPr id="38" name="npu-access"/>
          <p:cNvSpPr/>
          <p:nvPr/>
        </p:nvSpPr>
        <p:spPr>
          <a:xfrm>
            <a:off x="9814560" y="4053840"/>
            <a:ext cx="1" cy="560070"/>
          </a:xfrm>
          <a:custGeom>
            <a:avLst/>
            <a:gdLst/>
            <a:ahLst/>
            <a:cxnLst/>
            <a:rect l="0" t="0" r="r" b="b"/>
            <a:pathLst>
              <a:path w="1" h="560070" fill="none">
                <a:moveTo>
                  <a:pt x="0" y="0"/>
                </a:moveTo>
                <a:lnTo>
                  <a:pt x="0" y="560070"/>
                </a:lnTo>
              </a:path>
            </a:pathLst>
          </a:custGeom>
          <a:noFill/>
          <a:ln w="1600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NPU 激活读写"/>
          <p:cNvSpPr txBox="1"/>
          <p:nvPr/>
        </p:nvSpPr>
        <p:spPr>
          <a:xfrm>
            <a:off x="8791515" y="4230289"/>
            <a:ext cx="91636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NPU 激活读写</a:t>
            </a:r>
          </a:p>
        </p:txBody>
      </p:sp>
      <p:sp>
        <p:nvSpPr>
          <p:cNvPr id="40" name="l2"/>
          <p:cNvSpPr/>
          <p:nvPr/>
        </p:nvSpPr>
        <p:spPr>
          <a:xfrm>
            <a:off x="533400" y="5520690"/>
            <a:ext cx="2080260" cy="666750"/>
          </a:xfrm>
          <a:prstGeom prst="rect">
            <a:avLst/>
          </a:prstGeom>
          <a:solidFill>
            <a:srgbClr val="D8E8F4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L2 片上存储"/>
          <p:cNvSpPr txBox="1"/>
          <p:nvPr/>
        </p:nvSpPr>
        <p:spPr>
          <a:xfrm>
            <a:off x="1078581" y="5638998"/>
            <a:ext cx="989899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L2 片上存储</a:t>
            </a:r>
          </a:p>
        </p:txBody>
      </p:sp>
      <p:sp>
        <p:nvSpPr>
          <p:cNvPr id="42" name="text-042: 输入 / 激活 / KV / 其他权重"/>
          <p:cNvSpPr txBox="1"/>
          <p:nvPr/>
        </p:nvSpPr>
        <p:spPr>
          <a:xfrm>
            <a:off x="671001" y="5864733"/>
            <a:ext cx="1805059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输入 / 激活 / KV / 其他权重</a:t>
            </a:r>
          </a:p>
        </p:txBody>
      </p:sp>
      <p:sp>
        <p:nvSpPr>
          <p:cNvPr id="43" name="dma"/>
          <p:cNvSpPr/>
          <p:nvPr/>
        </p:nvSpPr>
        <p:spPr>
          <a:xfrm>
            <a:off x="3413760" y="5520690"/>
            <a:ext cx="1600200" cy="666750"/>
          </a:xfrm>
          <a:prstGeom prst="rect">
            <a:avLst/>
          </a:prstGeom>
          <a:solidFill>
            <a:srgbClr val="F5E1C9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集群 DMA"/>
          <p:cNvSpPr txBox="1"/>
          <p:nvPr/>
        </p:nvSpPr>
        <p:spPr>
          <a:xfrm>
            <a:off x="3801013" y="5638998"/>
            <a:ext cx="825695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集群 DMA</a:t>
            </a:r>
          </a:p>
        </p:txBody>
      </p:sp>
      <p:sp>
        <p:nvSpPr>
          <p:cNvPr id="45" name="text-045: L2 ↔ L1 分块"/>
          <p:cNvSpPr txBox="1"/>
          <p:nvPr/>
        </p:nvSpPr>
        <p:spPr>
          <a:xfrm>
            <a:off x="3740555" y="5864733"/>
            <a:ext cx="94661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L2 ↔ L1 分块</a:t>
            </a:r>
          </a:p>
        </p:txBody>
      </p:sp>
      <p:sp>
        <p:nvSpPr>
          <p:cNvPr id="46" name="l1"/>
          <p:cNvSpPr/>
          <p:nvPr/>
        </p:nvSpPr>
        <p:spPr>
          <a:xfrm>
            <a:off x="5920740" y="5520690"/>
            <a:ext cx="3200400" cy="666750"/>
          </a:xfrm>
          <a:prstGeom prst="rect">
            <a:avLst/>
          </a:prstGeom>
          <a:solidFill>
            <a:srgbClr val="D9EEE8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L1 TCDM"/>
          <p:cNvSpPr txBox="1"/>
          <p:nvPr/>
        </p:nvSpPr>
        <p:spPr>
          <a:xfrm>
            <a:off x="7134454" y="5638998"/>
            <a:ext cx="772972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TCDM</a:t>
            </a:r>
          </a:p>
        </p:txBody>
      </p:sp>
      <p:sp>
        <p:nvSpPr>
          <p:cNvPr id="48" name="text-048: CPU 与 NPU 共享的数据块"/>
          <p:cNvSpPr txBox="1"/>
          <p:nvPr/>
        </p:nvSpPr>
        <p:spPr>
          <a:xfrm>
            <a:off x="6682427" y="5864733"/>
            <a:ext cx="1677026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与 NPU 共享的数据块</a:t>
            </a:r>
          </a:p>
        </p:txBody>
      </p:sp>
      <p:sp>
        <p:nvSpPr>
          <p:cNvPr id="49" name="nms"/>
          <p:cNvSpPr/>
          <p:nvPr/>
        </p:nvSpPr>
        <p:spPr>
          <a:xfrm>
            <a:off x="10134600" y="5520690"/>
            <a:ext cx="1866900" cy="666750"/>
          </a:xfrm>
          <a:prstGeom prst="rect">
            <a:avLst/>
          </a:prstGeom>
          <a:solidFill>
            <a:srgbClr val="D8E8F4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NMS 权重存储"/>
          <p:cNvSpPr txBox="1"/>
          <p:nvPr/>
        </p:nvSpPr>
        <p:spPr>
          <a:xfrm>
            <a:off x="10495912" y="5638998"/>
            <a:ext cx="1144276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NMS 权重存储</a:t>
            </a:r>
          </a:p>
        </p:txBody>
      </p:sp>
      <p:sp>
        <p:nvSpPr>
          <p:cNvPr id="51" name="text-051: SRAM / MRAM"/>
          <p:cNvSpPr txBox="1"/>
          <p:nvPr/>
        </p:nvSpPr>
        <p:spPr>
          <a:xfrm>
            <a:off x="10564412" y="5864733"/>
            <a:ext cx="1007276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/ MRAM</a:t>
            </a:r>
          </a:p>
        </p:txBody>
      </p:sp>
      <p:sp>
        <p:nvSpPr>
          <p:cNvPr id="52" name="l2-dma"/>
          <p:cNvSpPr/>
          <p:nvPr/>
        </p:nvSpPr>
        <p:spPr>
          <a:xfrm>
            <a:off x="2613660" y="5856732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6002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AXI"/>
          <p:cNvSpPr txBox="1"/>
          <p:nvPr/>
        </p:nvSpPr>
        <p:spPr>
          <a:xfrm>
            <a:off x="2862754" y="5595793"/>
            <a:ext cx="30191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</a:t>
            </a:r>
          </a:p>
        </p:txBody>
      </p:sp>
      <p:sp>
        <p:nvSpPr>
          <p:cNvPr id="54" name="dma-l1"/>
          <p:cNvSpPr/>
          <p:nvPr/>
        </p:nvSpPr>
        <p:spPr>
          <a:xfrm>
            <a:off x="5013960" y="5040630"/>
            <a:ext cx="426720" cy="816102"/>
          </a:xfrm>
          <a:custGeom>
            <a:avLst/>
            <a:gdLst/>
            <a:ahLst/>
            <a:cxnLst/>
            <a:rect l="0" t="0" r="r" b="b"/>
            <a:pathLst>
              <a:path w="426720" h="816102" fill="none">
                <a:moveTo>
                  <a:pt x="0" y="816102"/>
                </a:moveTo>
                <a:lnTo>
                  <a:pt x="426720" y="816102"/>
                </a:lnTo>
                <a:lnTo>
                  <a:pt x="426720" y="0"/>
                </a:lnTo>
              </a:path>
            </a:pathLst>
          </a:custGeom>
          <a:noFill/>
          <a:ln w="1600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cdm"/>
          <p:cNvSpPr/>
          <p:nvPr/>
        </p:nvSpPr>
        <p:spPr>
          <a:xfrm>
            <a:off x="7520940" y="5040630"/>
            <a:ext cx="1" cy="480060"/>
          </a:xfrm>
          <a:custGeom>
            <a:avLst/>
            <a:gdLst/>
            <a:ahLst/>
            <a:cxnLst/>
            <a:rect l="0" t="0" r="r" b="b"/>
            <a:pathLst>
              <a:path w="1" h="480060" fill="none">
                <a:moveTo>
                  <a:pt x="0" y="0"/>
                </a:moveTo>
                <a:lnTo>
                  <a:pt x="0" y="480060"/>
                </a:lnTo>
              </a:path>
            </a:pathLst>
          </a:custGeom>
          <a:noFill/>
          <a:ln w="1600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访问 bank"/>
          <p:cNvSpPr txBox="1"/>
          <p:nvPr/>
        </p:nvSpPr>
        <p:spPr>
          <a:xfrm>
            <a:off x="7627620" y="5185075"/>
            <a:ext cx="69346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访问 bank</a:t>
            </a:r>
          </a:p>
        </p:txBody>
      </p:sp>
      <p:sp>
        <p:nvSpPr>
          <p:cNvPr id="57" name="weights"/>
          <p:cNvSpPr/>
          <p:nvPr/>
        </p:nvSpPr>
        <p:spPr>
          <a:xfrm>
            <a:off x="11148060" y="4053840"/>
            <a:ext cx="1" cy="1466850"/>
          </a:xfrm>
          <a:custGeom>
            <a:avLst/>
            <a:gdLst/>
            <a:ahLst/>
            <a:cxnLst/>
            <a:rect l="0" t="0" r="r" b="b"/>
            <a:pathLst>
              <a:path w="1" h="1466850" fill="none">
                <a:moveTo>
                  <a:pt x="0" y="1466850"/>
                </a:moveTo>
                <a:lnTo>
                  <a:pt x="0" y="0"/>
                </a:lnTo>
              </a:path>
            </a:pathLst>
          </a:custGeom>
          <a:noFill/>
          <a:ln w="16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专用供权重"/>
          <p:cNvSpPr txBox="1"/>
          <p:nvPr/>
        </p:nvSpPr>
        <p:spPr>
          <a:xfrm>
            <a:off x="11254740" y="4822363"/>
            <a:ext cx="76809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专用供权重</a:t>
            </a:r>
          </a:p>
        </p:txBody>
      </p:sp>
      <p:sp>
        <p:nvSpPr>
          <p:cNvPr id="59" name="dma-control"/>
          <p:cNvSpPr/>
          <p:nvPr/>
        </p:nvSpPr>
        <p:spPr>
          <a:xfrm>
            <a:off x="4213860" y="4053840"/>
            <a:ext cx="373380" cy="1466850"/>
          </a:xfrm>
          <a:custGeom>
            <a:avLst/>
            <a:gdLst/>
            <a:ahLst/>
            <a:cxnLst/>
            <a:rect l="0" t="0" r="r" b="b"/>
            <a:pathLst>
              <a:path w="373380" h="1466850" fill="none">
                <a:moveTo>
                  <a:pt x="373380" y="0"/>
                </a:moveTo>
                <a:lnTo>
                  <a:pt x="373380" y="346710"/>
                </a:lnTo>
                <a:lnTo>
                  <a:pt x="0" y="346710"/>
                </a:lnTo>
                <a:lnTo>
                  <a:pt x="0" y="1466850"/>
                </a:lnTo>
              </a:path>
            </a:pathLst>
          </a:custGeom>
          <a:noFill/>
          <a:ln w="16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搬运控制"/>
          <p:cNvSpPr txBox="1"/>
          <p:nvPr/>
        </p:nvSpPr>
        <p:spPr>
          <a:xfrm>
            <a:off x="3467100" y="4822363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搬运控制</a:t>
            </a:r>
          </a:p>
        </p:txBody>
      </p:sp>
      <p:sp>
        <p:nvSpPr>
          <p:cNvPr id="61" name="text-061: 紫：控制与同步    蓝灰：主存 / 权重数据    绿：共享 TCDM 数据 "/>
          <p:cNvSpPr txBox="1"/>
          <p:nvPr/>
        </p:nvSpPr>
        <p:spPr>
          <a:xfrm>
            <a:off x="3841084" y="6544391"/>
            <a:ext cx="5119432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紫：控制与同步    蓝灰：主存 / 权重数据    绿：共享 TCDM 数据    棕：编译产物</a:t>
            </a:r>
          </a:p>
        </p:txBody>
      </p:sp>
      <p:sp>
        <p:nvSpPr>
          <p:cNvPr id="62" name="text-062: 静态权重映射到 NPU；其他算子由集群执行。数据驻留、分块和搬运由部署方案共同决"/>
          <p:cNvSpPr txBox="1"/>
          <p:nvPr/>
        </p:nvSpPr>
        <p:spPr>
          <a:xfrm>
            <a:off x="3546806" y="6837761"/>
            <a:ext cx="5707988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静态权重映射到 NPU；其他算子由集群执行。数据驻留、分块和搬运由部署方案共同决定。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LLM 推理：阶段、状态与异构分工"/>
          <p:cNvSpPr txBox="1"/>
          <p:nvPr/>
        </p:nvSpPr>
        <p:spPr>
          <a:xfrm>
            <a:off x="4595228" y="120762"/>
            <a:ext cx="3611143" cy="3584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LLM 推理：阶段、状态与异构分工</a:t>
            </a:r>
          </a:p>
        </p:txBody>
      </p:sp>
      <p:sp>
        <p:nvSpPr>
          <p:cNvPr id="3" name="text-003: 上部是通用执行关系；下部是 llm.npu 的 prefill 特有优化，不能等"/>
          <p:cNvSpPr txBox="1"/>
          <p:nvPr/>
        </p:nvSpPr>
        <p:spPr>
          <a:xfrm>
            <a:off x="3793291" y="474299"/>
            <a:ext cx="5215018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上部是通用执行关系；下部是 llm.npu 的 prefill 特有优化，不能等同于 decode 加速</a:t>
            </a:r>
          </a:p>
        </p:txBody>
      </p:sp>
      <p:sp>
        <p:nvSpPr>
          <p:cNvPr id="4" name="general"/>
          <p:cNvSpPr/>
          <p:nvPr/>
        </p:nvSpPr>
        <p:spPr>
          <a:xfrm>
            <a:off x="266700" y="906780"/>
            <a:ext cx="12268200" cy="3040380"/>
          </a:xfrm>
          <a:prstGeom prst="rect">
            <a:avLst/>
          </a:prstGeom>
          <a:solidFill>
            <a:srgbClr val="F5F7F9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通用自回归推理"/>
          <p:cNvSpPr txBox="1"/>
          <p:nvPr/>
        </p:nvSpPr>
        <p:spPr>
          <a:xfrm>
            <a:off x="426720" y="963320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通用自回归推理</a:t>
            </a:r>
          </a:p>
        </p:txBody>
      </p:sp>
      <p:sp>
        <p:nvSpPr>
          <p:cNvPr id="6" name="input"/>
          <p:cNvSpPr/>
          <p:nvPr/>
        </p:nvSpPr>
        <p:spPr>
          <a:xfrm>
            <a:off x="533400" y="1413510"/>
            <a:ext cx="1813560" cy="693420"/>
          </a:xfrm>
          <a:prstGeom prst="rect">
            <a:avLst/>
          </a:prstGeom>
          <a:solidFill>
            <a:srgbClr val="F1D7D9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CPU 输入准备"/>
          <p:cNvSpPr txBox="1"/>
          <p:nvPr/>
        </p:nvSpPr>
        <p:spPr>
          <a:xfrm>
            <a:off x="889640" y="1545153"/>
            <a:ext cx="1101079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输入准备</a:t>
            </a:r>
          </a:p>
        </p:txBody>
      </p:sp>
      <p:sp>
        <p:nvSpPr>
          <p:cNvPr id="8" name="text-008: 分词 / 输入张量"/>
          <p:cNvSpPr txBox="1"/>
          <p:nvPr/>
        </p:nvSpPr>
        <p:spPr>
          <a:xfrm>
            <a:off x="898833" y="1770888"/>
            <a:ext cx="1082694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分词 / 输入张量</a:t>
            </a:r>
          </a:p>
        </p:txBody>
      </p:sp>
      <p:sp>
        <p:nvSpPr>
          <p:cNvPr id="9" name="prefill"/>
          <p:cNvSpPr/>
          <p:nvPr/>
        </p:nvSpPr>
        <p:spPr>
          <a:xfrm>
            <a:off x="3413760" y="1413510"/>
            <a:ext cx="2506980" cy="693420"/>
          </a:xfrm>
          <a:prstGeom prst="rect">
            <a:avLst/>
          </a:prstGeom>
          <a:solidFill>
            <a:srgbClr val="E8DFED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Prefill"/>
          <p:cNvSpPr txBox="1"/>
          <p:nvPr/>
        </p:nvSpPr>
        <p:spPr>
          <a:xfrm>
            <a:off x="4401529" y="1545153"/>
            <a:ext cx="531441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Prefill</a:t>
            </a:r>
          </a:p>
        </p:txBody>
      </p:sp>
      <p:sp>
        <p:nvSpPr>
          <p:cNvPr id="11" name="text-011: 处理输入 token / 计算 logits"/>
          <p:cNvSpPr txBox="1"/>
          <p:nvPr/>
        </p:nvSpPr>
        <p:spPr>
          <a:xfrm>
            <a:off x="3766354" y="1770888"/>
            <a:ext cx="180179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处理输入 token / 计算 logits</a:t>
            </a:r>
          </a:p>
        </p:txBody>
      </p:sp>
      <p:sp>
        <p:nvSpPr>
          <p:cNvPr id="12" name="decode"/>
          <p:cNvSpPr/>
          <p:nvPr/>
        </p:nvSpPr>
        <p:spPr>
          <a:xfrm>
            <a:off x="7094220" y="1413510"/>
            <a:ext cx="2026920" cy="693420"/>
          </a:xfrm>
          <a:prstGeom prst="rect">
            <a:avLst/>
          </a:prstGeom>
          <a:solidFill>
            <a:srgbClr val="E8DFED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Decode"/>
          <p:cNvSpPr txBox="1"/>
          <p:nvPr/>
        </p:nvSpPr>
        <p:spPr>
          <a:xfrm>
            <a:off x="7775501" y="1545153"/>
            <a:ext cx="664358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Decode</a:t>
            </a:r>
          </a:p>
        </p:txBody>
      </p:sp>
      <p:sp>
        <p:nvSpPr>
          <p:cNvPr id="14" name="text-014: 逐 token 推进"/>
          <p:cNvSpPr txBox="1"/>
          <p:nvPr/>
        </p:nvSpPr>
        <p:spPr>
          <a:xfrm>
            <a:off x="7638546" y="1770888"/>
            <a:ext cx="938267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逐 token 推进</a:t>
            </a:r>
          </a:p>
        </p:txBody>
      </p:sp>
      <p:sp>
        <p:nvSpPr>
          <p:cNvPr id="15" name="sample"/>
          <p:cNvSpPr/>
          <p:nvPr/>
        </p:nvSpPr>
        <p:spPr>
          <a:xfrm>
            <a:off x="10187940" y="1413510"/>
            <a:ext cx="1813560" cy="693420"/>
          </a:xfrm>
          <a:prstGeom prst="rect">
            <a:avLst/>
          </a:prstGeom>
          <a:solidFill>
            <a:srgbClr val="F1D7D9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采样与终止判断"/>
          <p:cNvSpPr txBox="1"/>
          <p:nvPr/>
        </p:nvSpPr>
        <p:spPr>
          <a:xfrm>
            <a:off x="10475976" y="1545153"/>
            <a:ext cx="1237488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采样与终止判断</a:t>
            </a:r>
          </a:p>
        </p:txBody>
      </p:sp>
      <p:sp>
        <p:nvSpPr>
          <p:cNvPr id="17" name="text-017: 按实现分配到 CPU 等"/>
          <p:cNvSpPr txBox="1"/>
          <p:nvPr/>
        </p:nvSpPr>
        <p:spPr>
          <a:xfrm>
            <a:off x="10400104" y="1770888"/>
            <a:ext cx="138923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按实现分配到 CPU 等</a:t>
            </a:r>
          </a:p>
        </p:txBody>
      </p:sp>
      <p:sp>
        <p:nvSpPr>
          <p:cNvPr id="18" name="tokens"/>
          <p:cNvSpPr/>
          <p:nvPr/>
        </p:nvSpPr>
        <p:spPr>
          <a:xfrm>
            <a:off x="2346960" y="176022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 fill="none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16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tokens"/>
          <p:cNvSpPr txBox="1"/>
          <p:nvPr/>
        </p:nvSpPr>
        <p:spPr>
          <a:xfrm>
            <a:off x="2627141" y="1493947"/>
            <a:ext cx="50643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tokens</a:t>
            </a:r>
          </a:p>
        </p:txBody>
      </p:sp>
      <p:sp>
        <p:nvSpPr>
          <p:cNvPr id="20" name="logits0"/>
          <p:cNvSpPr/>
          <p:nvPr/>
        </p:nvSpPr>
        <p:spPr>
          <a:xfrm>
            <a:off x="4667250" y="1226820"/>
            <a:ext cx="6427470" cy="186690"/>
          </a:xfrm>
          <a:custGeom>
            <a:avLst/>
            <a:gdLst/>
            <a:ahLst/>
            <a:cxnLst/>
            <a:rect l="0" t="0" r="r" b="b"/>
            <a:pathLst>
              <a:path w="6427470" h="186690" fill="none">
                <a:moveTo>
                  <a:pt x="0" y="186690"/>
                </a:moveTo>
                <a:lnTo>
                  <a:pt x="0" y="0"/>
                </a:lnTo>
                <a:lnTo>
                  <a:pt x="6427470" y="0"/>
                </a:lnTo>
                <a:lnTo>
                  <a:pt x="6427470" y="186690"/>
                </a:lnTo>
              </a:path>
            </a:pathLst>
          </a:custGeom>
          <a:noFill/>
          <a:ln w="16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首轮 logits"/>
          <p:cNvSpPr txBox="1"/>
          <p:nvPr/>
        </p:nvSpPr>
        <p:spPr>
          <a:xfrm>
            <a:off x="7745635" y="976549"/>
            <a:ext cx="72409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首轮 logits</a:t>
            </a:r>
          </a:p>
        </p:txBody>
      </p:sp>
      <p:sp>
        <p:nvSpPr>
          <p:cNvPr id="22" name="next-token"/>
          <p:cNvSpPr/>
          <p:nvPr/>
        </p:nvSpPr>
        <p:spPr>
          <a:xfrm>
            <a:off x="9121140" y="160020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 fill="none">
                <a:moveTo>
                  <a:pt x="1066800" y="0"/>
                </a:moveTo>
                <a:lnTo>
                  <a:pt x="0" y="0"/>
                </a:lnTo>
              </a:path>
            </a:pathLst>
          </a:custGeom>
          <a:noFill/>
          <a:ln w="16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下一 token"/>
          <p:cNvSpPr txBox="1"/>
          <p:nvPr/>
        </p:nvSpPr>
        <p:spPr>
          <a:xfrm>
            <a:off x="9287369" y="1339261"/>
            <a:ext cx="73434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下一 token</a:t>
            </a:r>
          </a:p>
        </p:txBody>
      </p:sp>
      <p:sp>
        <p:nvSpPr>
          <p:cNvPr id="24" name="logits-loop"/>
          <p:cNvSpPr/>
          <p:nvPr/>
        </p:nvSpPr>
        <p:spPr>
          <a:xfrm>
            <a:off x="9121140" y="194691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 fill="none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16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后续 logits"/>
          <p:cNvSpPr txBox="1"/>
          <p:nvPr/>
        </p:nvSpPr>
        <p:spPr>
          <a:xfrm>
            <a:off x="9292495" y="2027347"/>
            <a:ext cx="72409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后续 logits</a:t>
            </a:r>
          </a:p>
        </p:txBody>
      </p:sp>
      <p:sp>
        <p:nvSpPr>
          <p:cNvPr id="26" name="kv"/>
          <p:cNvSpPr/>
          <p:nvPr/>
        </p:nvSpPr>
        <p:spPr>
          <a:xfrm>
            <a:off x="3573780" y="2933700"/>
            <a:ext cx="5547360" cy="693420"/>
          </a:xfrm>
          <a:prstGeom prst="rect">
            <a:avLst/>
          </a:prstGeom>
          <a:solidFill>
            <a:srgbClr val="D8E8F4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KV cache：跨步保留的算法张量"/>
          <p:cNvSpPr txBox="1"/>
          <p:nvPr/>
        </p:nvSpPr>
        <p:spPr>
          <a:xfrm>
            <a:off x="5183089" y="3065343"/>
            <a:ext cx="2328741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KV cache：跨步保留的算法张量</a:t>
            </a:r>
          </a:p>
        </p:txBody>
      </p:sp>
      <p:sp>
        <p:nvSpPr>
          <p:cNvPr id="28" name="text-028: 本步追加 / 后续读取；容量依上下文增长"/>
          <p:cNvSpPr txBox="1"/>
          <p:nvPr/>
        </p:nvSpPr>
        <p:spPr>
          <a:xfrm>
            <a:off x="5072688" y="3291078"/>
            <a:ext cx="2549544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本步追加 / 后续读取；容量依上下文增长</a:t>
            </a:r>
          </a:p>
        </p:txBody>
      </p:sp>
      <p:sp>
        <p:nvSpPr>
          <p:cNvPr id="29" name="out"/>
          <p:cNvSpPr/>
          <p:nvPr/>
        </p:nvSpPr>
        <p:spPr>
          <a:xfrm>
            <a:off x="10187940" y="2933700"/>
            <a:ext cx="1813560" cy="69342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应用输出"/>
          <p:cNvSpPr txBox="1"/>
          <p:nvPr/>
        </p:nvSpPr>
        <p:spPr>
          <a:xfrm>
            <a:off x="10708005" y="3065343"/>
            <a:ext cx="773430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应用输出</a:t>
            </a:r>
          </a:p>
        </p:txBody>
      </p:sp>
      <p:sp>
        <p:nvSpPr>
          <p:cNvPr id="31" name="text-031: 首 token / 持续输出"/>
          <p:cNvSpPr txBox="1"/>
          <p:nvPr/>
        </p:nvSpPr>
        <p:spPr>
          <a:xfrm>
            <a:off x="10437605" y="3291078"/>
            <a:ext cx="1314231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首 token / 持续输出</a:t>
            </a:r>
          </a:p>
        </p:txBody>
      </p:sp>
      <p:sp>
        <p:nvSpPr>
          <p:cNvPr id="32" name="create-kv"/>
          <p:cNvSpPr/>
          <p:nvPr/>
        </p:nvSpPr>
        <p:spPr>
          <a:xfrm>
            <a:off x="4667250" y="2106930"/>
            <a:ext cx="1" cy="826770"/>
          </a:xfrm>
          <a:custGeom>
            <a:avLst/>
            <a:gdLst/>
            <a:ahLst/>
            <a:cxnLst/>
            <a:rect l="0" t="0" r="r" b="b"/>
            <a:pathLst>
              <a:path w="1" h="826770" fill="none">
                <a:moveTo>
                  <a:pt x="0" y="0"/>
                </a:moveTo>
                <a:lnTo>
                  <a:pt x="0" y="826770"/>
                </a:lnTo>
              </a:path>
            </a:pathLst>
          </a:custGeom>
          <a:noFill/>
          <a:ln w="160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生成 KV"/>
          <p:cNvSpPr txBox="1"/>
          <p:nvPr/>
        </p:nvSpPr>
        <p:spPr>
          <a:xfrm>
            <a:off x="4773930" y="2416729"/>
            <a:ext cx="57332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生成 KV</a:t>
            </a:r>
          </a:p>
        </p:txBody>
      </p:sp>
      <p:sp>
        <p:nvSpPr>
          <p:cNvPr id="34" name="update-kv"/>
          <p:cNvSpPr/>
          <p:nvPr/>
        </p:nvSpPr>
        <p:spPr>
          <a:xfrm>
            <a:off x="8107680" y="2106930"/>
            <a:ext cx="1" cy="826770"/>
          </a:xfrm>
          <a:custGeom>
            <a:avLst/>
            <a:gdLst/>
            <a:ahLst/>
            <a:cxnLst/>
            <a:rect l="0" t="0" r="r" b="b"/>
            <a:pathLst>
              <a:path w="1" h="826770" fill="none">
                <a:moveTo>
                  <a:pt x="0" y="0"/>
                </a:moveTo>
                <a:lnTo>
                  <a:pt x="0" y="826770"/>
                </a:lnTo>
              </a:path>
            </a:pathLst>
          </a:custGeom>
          <a:noFill/>
          <a:ln w="1600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读取 / 追加 KV"/>
          <p:cNvSpPr txBox="1"/>
          <p:nvPr/>
        </p:nvSpPr>
        <p:spPr>
          <a:xfrm>
            <a:off x="8214360" y="2416729"/>
            <a:ext cx="97262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读取 / 追加 KV</a:t>
            </a:r>
          </a:p>
        </p:txBody>
      </p:sp>
      <p:sp>
        <p:nvSpPr>
          <p:cNvPr id="36" name="emit"/>
          <p:cNvSpPr/>
          <p:nvPr/>
        </p:nvSpPr>
        <p:spPr>
          <a:xfrm>
            <a:off x="11094720" y="2106930"/>
            <a:ext cx="1" cy="826770"/>
          </a:xfrm>
          <a:custGeom>
            <a:avLst/>
            <a:gdLst/>
            <a:ahLst/>
            <a:cxnLst/>
            <a:rect l="0" t="0" r="r" b="b"/>
            <a:pathLst>
              <a:path w="1" h="826770" fill="none">
                <a:moveTo>
                  <a:pt x="0" y="0"/>
                </a:moveTo>
                <a:lnTo>
                  <a:pt x="0" y="826770"/>
                </a:lnTo>
              </a:path>
            </a:pathLst>
          </a:custGeom>
          <a:noFill/>
          <a:ln w="16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输出 token"/>
          <p:cNvSpPr txBox="1"/>
          <p:nvPr/>
        </p:nvSpPr>
        <p:spPr>
          <a:xfrm>
            <a:off x="11201400" y="2416729"/>
            <a:ext cx="73434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输出 token</a:t>
            </a:r>
          </a:p>
        </p:txBody>
      </p:sp>
      <p:sp>
        <p:nvSpPr>
          <p:cNvPr id="38" name="special"/>
          <p:cNvSpPr/>
          <p:nvPr/>
        </p:nvSpPr>
        <p:spPr>
          <a:xfrm>
            <a:off x="266700" y="4293870"/>
            <a:ext cx="12268200" cy="2133600"/>
          </a:xfrm>
          <a:prstGeom prst="rect">
            <a:avLst/>
          </a:prstGeom>
          <a:solidFill>
            <a:srgbClr val="FAF6F0"/>
          </a:solidFill>
          <a:ln w="10668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llm.npu 案例：移动平台上的 prefill 优化"/>
          <p:cNvSpPr txBox="1"/>
          <p:nvPr/>
        </p:nvSpPr>
        <p:spPr>
          <a:xfrm>
            <a:off x="426720" y="4361078"/>
            <a:ext cx="2965054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llm.npu 案例：移动平台上的 prefill 优化</a:t>
            </a:r>
          </a:p>
        </p:txBody>
      </p:sp>
      <p:sp>
        <p:nvSpPr>
          <p:cNvPr id="40" name="chunks"/>
          <p:cNvSpPr/>
          <p:nvPr/>
        </p:nvSpPr>
        <p:spPr>
          <a:xfrm>
            <a:off x="533400" y="4960620"/>
            <a:ext cx="2186940" cy="960120"/>
          </a:xfrm>
          <a:prstGeom prst="rect">
            <a:avLst/>
          </a:prstGeom>
          <a:solidFill>
            <a:srgbClr val="E8DFED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固定大小的 prompt 块"/>
          <p:cNvSpPr txBox="1"/>
          <p:nvPr/>
        </p:nvSpPr>
        <p:spPr>
          <a:xfrm>
            <a:off x="801250" y="5124267"/>
            <a:ext cx="1651240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固定大小的 prompt 块</a:t>
            </a:r>
          </a:p>
        </p:txBody>
      </p:sp>
      <p:sp>
        <p:nvSpPr>
          <p:cNvPr id="42" name="text-042: 保持因果依赖"/>
          <p:cNvSpPr txBox="1"/>
          <p:nvPr/>
        </p:nvSpPr>
        <p:spPr>
          <a:xfrm>
            <a:off x="1160145" y="5350002"/>
            <a:ext cx="93345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保持因果依赖</a:t>
            </a:r>
          </a:p>
        </p:txBody>
      </p:sp>
      <p:sp>
        <p:nvSpPr>
          <p:cNvPr id="43" name="text-043: 复用预编译子图"/>
          <p:cNvSpPr txBox="1"/>
          <p:nvPr/>
        </p:nvSpPr>
        <p:spPr>
          <a:xfrm>
            <a:off x="1093470" y="5552694"/>
            <a:ext cx="10668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复用预编译子图</a:t>
            </a:r>
          </a:p>
        </p:txBody>
      </p:sp>
      <p:sp>
        <p:nvSpPr>
          <p:cNvPr id="44" name="split"/>
          <p:cNvSpPr/>
          <p:nvPr/>
        </p:nvSpPr>
        <p:spPr>
          <a:xfrm>
            <a:off x="3733800" y="4960620"/>
            <a:ext cx="2293620" cy="960120"/>
          </a:xfrm>
          <a:prstGeom prst="rect">
            <a:avLst/>
          </a:prstGeom>
          <a:solidFill>
            <a:srgbClr val="E8DFED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张量 / 块级分配"/>
          <p:cNvSpPr txBox="1"/>
          <p:nvPr/>
        </p:nvSpPr>
        <p:spPr>
          <a:xfrm>
            <a:off x="4252652" y="5124267"/>
            <a:ext cx="1255915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张量 / 块级分配</a:t>
            </a:r>
          </a:p>
        </p:txBody>
      </p:sp>
      <p:sp>
        <p:nvSpPr>
          <p:cNvPr id="46" name="text-046: 识别离群值与硬件适配"/>
          <p:cNvSpPr txBox="1"/>
          <p:nvPr/>
        </p:nvSpPr>
        <p:spPr>
          <a:xfrm>
            <a:off x="4147185" y="5350002"/>
            <a:ext cx="146685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识别离群值与硬件适配</a:t>
            </a:r>
          </a:p>
        </p:txBody>
      </p:sp>
      <p:sp>
        <p:nvSpPr>
          <p:cNvPr id="47" name="text-047: 按依赖安排执行"/>
          <p:cNvSpPr txBox="1"/>
          <p:nvPr/>
        </p:nvSpPr>
        <p:spPr>
          <a:xfrm>
            <a:off x="4347210" y="5552694"/>
            <a:ext cx="10668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按依赖安排执行</a:t>
            </a:r>
          </a:p>
        </p:txBody>
      </p:sp>
      <p:sp>
        <p:nvSpPr>
          <p:cNvPr id="48" name="npu"/>
          <p:cNvSpPr/>
          <p:nvPr/>
        </p:nvSpPr>
        <p:spPr>
          <a:xfrm>
            <a:off x="7414260" y="4800600"/>
            <a:ext cx="2133600" cy="533400"/>
          </a:xfrm>
          <a:prstGeom prst="rect">
            <a:avLst/>
          </a:prstGeom>
          <a:solidFill>
            <a:srgbClr val="F1D7D9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NPU 主计算"/>
          <p:cNvSpPr txBox="1"/>
          <p:nvPr/>
        </p:nvSpPr>
        <p:spPr>
          <a:xfrm>
            <a:off x="8004767" y="4852233"/>
            <a:ext cx="952586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主计算</a:t>
            </a:r>
          </a:p>
        </p:txBody>
      </p:sp>
      <p:sp>
        <p:nvSpPr>
          <p:cNvPr id="50" name="text-050: 适配的整数运算"/>
          <p:cNvSpPr txBox="1"/>
          <p:nvPr/>
        </p:nvSpPr>
        <p:spPr>
          <a:xfrm>
            <a:off x="7947660" y="5077968"/>
            <a:ext cx="10668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适配的整数运算</a:t>
            </a:r>
          </a:p>
        </p:txBody>
      </p:sp>
      <p:sp>
        <p:nvSpPr>
          <p:cNvPr id="51" name="cpu-gpu"/>
          <p:cNvSpPr/>
          <p:nvPr/>
        </p:nvSpPr>
        <p:spPr>
          <a:xfrm>
            <a:off x="7414260" y="5707380"/>
            <a:ext cx="2133600" cy="533400"/>
          </a:xfrm>
          <a:prstGeom prst="rect">
            <a:avLst/>
          </a:prstGeom>
          <a:solidFill>
            <a:srgbClr val="F1D7D9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CPU / GPU"/>
          <p:cNvSpPr txBox="1"/>
          <p:nvPr/>
        </p:nvSpPr>
        <p:spPr>
          <a:xfrm>
            <a:off x="8032787" y="5759013"/>
            <a:ext cx="896545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GPU</a:t>
            </a:r>
          </a:p>
        </p:txBody>
      </p:sp>
      <p:sp>
        <p:nvSpPr>
          <p:cNvPr id="53" name="text-053: 离群值与其他必要工作"/>
          <p:cNvSpPr txBox="1"/>
          <p:nvPr/>
        </p:nvSpPr>
        <p:spPr>
          <a:xfrm>
            <a:off x="7747635" y="5984748"/>
            <a:ext cx="146685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离群值与其他必要工作</a:t>
            </a:r>
          </a:p>
        </p:txBody>
      </p:sp>
      <p:sp>
        <p:nvSpPr>
          <p:cNvPr id="54" name="merge"/>
          <p:cNvSpPr/>
          <p:nvPr/>
        </p:nvSpPr>
        <p:spPr>
          <a:xfrm>
            <a:off x="10561320" y="5227320"/>
            <a:ext cx="1600200" cy="746760"/>
          </a:xfrm>
          <a:prstGeom prst="rect">
            <a:avLst/>
          </a:prstGeom>
          <a:solidFill>
            <a:srgbClr val="D9EEE8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同步与合并"/>
          <p:cNvSpPr txBox="1"/>
          <p:nvPr/>
        </p:nvSpPr>
        <p:spPr>
          <a:xfrm>
            <a:off x="10897362" y="5385633"/>
            <a:ext cx="928116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同步与合并</a:t>
            </a:r>
          </a:p>
        </p:txBody>
      </p:sp>
      <p:sp>
        <p:nvSpPr>
          <p:cNvPr id="56" name="text-056: 交给后续计算"/>
          <p:cNvSpPr txBox="1"/>
          <p:nvPr/>
        </p:nvSpPr>
        <p:spPr>
          <a:xfrm>
            <a:off x="10894695" y="5611368"/>
            <a:ext cx="93345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交给后续计算</a:t>
            </a:r>
          </a:p>
        </p:txBody>
      </p:sp>
      <p:sp>
        <p:nvSpPr>
          <p:cNvPr id="57" name="chunk-schedule"/>
          <p:cNvSpPr/>
          <p:nvPr/>
        </p:nvSpPr>
        <p:spPr>
          <a:xfrm>
            <a:off x="2720340" y="5440680"/>
            <a:ext cx="1013460" cy="1"/>
          </a:xfrm>
          <a:custGeom>
            <a:avLst/>
            <a:gdLst/>
            <a:ahLst/>
            <a:cxnLst/>
            <a:rect l="0" t="0" r="r" b="b"/>
            <a:pathLst>
              <a:path w="1013460" h="1" fill="none">
                <a:moveTo>
                  <a:pt x="0" y="0"/>
                </a:moveTo>
                <a:lnTo>
                  <a:pt x="1013460" y="0"/>
                </a:lnTo>
              </a:path>
            </a:pathLst>
          </a:custGeom>
          <a:noFill/>
          <a:ln w="16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调度"/>
          <p:cNvSpPr txBox="1"/>
          <p:nvPr/>
        </p:nvSpPr>
        <p:spPr>
          <a:xfrm>
            <a:off x="3035046" y="5174407"/>
            <a:ext cx="38404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调度</a:t>
            </a:r>
          </a:p>
        </p:txBody>
      </p:sp>
      <p:sp>
        <p:nvSpPr>
          <p:cNvPr id="59" name="offload"/>
          <p:cNvSpPr/>
          <p:nvPr/>
        </p:nvSpPr>
        <p:spPr>
          <a:xfrm>
            <a:off x="6027420" y="5067300"/>
            <a:ext cx="1386840" cy="133350"/>
          </a:xfrm>
          <a:custGeom>
            <a:avLst/>
            <a:gdLst/>
            <a:ahLst/>
            <a:cxnLst/>
            <a:rect l="0" t="0" r="r" b="b"/>
            <a:pathLst>
              <a:path w="1386840" h="133350" fill="none">
                <a:moveTo>
                  <a:pt x="0" y="133350"/>
                </a:moveTo>
                <a:lnTo>
                  <a:pt x="693420" y="133350"/>
                </a:lnTo>
                <a:lnTo>
                  <a:pt x="693420" y="0"/>
                </a:lnTo>
                <a:lnTo>
                  <a:pt x="1386840" y="0"/>
                </a:lnTo>
              </a:path>
            </a:pathLst>
          </a:custGeom>
          <a:noFill/>
          <a:ln w="16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shadow"/>
          <p:cNvSpPr/>
          <p:nvPr/>
        </p:nvSpPr>
        <p:spPr>
          <a:xfrm>
            <a:off x="6027420" y="5680710"/>
            <a:ext cx="1386840" cy="293370"/>
          </a:xfrm>
          <a:custGeom>
            <a:avLst/>
            <a:gdLst/>
            <a:ahLst/>
            <a:cxnLst/>
            <a:rect l="0" t="0" r="r" b="b"/>
            <a:pathLst>
              <a:path w="1386840" h="293370" fill="none">
                <a:moveTo>
                  <a:pt x="0" y="0"/>
                </a:moveTo>
                <a:lnTo>
                  <a:pt x="426720" y="0"/>
                </a:lnTo>
                <a:lnTo>
                  <a:pt x="426720" y="293370"/>
                </a:lnTo>
                <a:lnTo>
                  <a:pt x="1386840" y="293370"/>
                </a:lnTo>
              </a:path>
            </a:pathLst>
          </a:custGeom>
          <a:noFill/>
          <a:ln w="16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partial-npu"/>
          <p:cNvSpPr/>
          <p:nvPr/>
        </p:nvSpPr>
        <p:spPr>
          <a:xfrm>
            <a:off x="9547860" y="5067300"/>
            <a:ext cx="1013460" cy="320040"/>
          </a:xfrm>
          <a:custGeom>
            <a:avLst/>
            <a:gdLst/>
            <a:ahLst/>
            <a:cxnLst/>
            <a:rect l="0" t="0" r="r" b="b"/>
            <a:pathLst>
              <a:path w="1013460" h="320040" fill="none">
                <a:moveTo>
                  <a:pt x="0" y="0"/>
                </a:moveTo>
                <a:lnTo>
                  <a:pt x="533400" y="0"/>
                </a:lnTo>
                <a:lnTo>
                  <a:pt x="533400" y="320040"/>
                </a:lnTo>
                <a:lnTo>
                  <a:pt x="1013460" y="320040"/>
                </a:lnTo>
              </a:path>
            </a:pathLst>
          </a:custGeom>
          <a:noFill/>
          <a:ln w="16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partial-cpu"/>
          <p:cNvSpPr/>
          <p:nvPr/>
        </p:nvSpPr>
        <p:spPr>
          <a:xfrm>
            <a:off x="9547860" y="5814060"/>
            <a:ext cx="1013460" cy="160020"/>
          </a:xfrm>
          <a:custGeom>
            <a:avLst/>
            <a:gdLst/>
            <a:ahLst/>
            <a:cxnLst/>
            <a:rect l="0" t="0" r="r" b="b"/>
            <a:pathLst>
              <a:path w="1013460" h="160020" fill="none">
                <a:moveTo>
                  <a:pt x="0" y="160020"/>
                </a:moveTo>
                <a:lnTo>
                  <a:pt x="586740" y="160020"/>
                </a:lnTo>
                <a:lnTo>
                  <a:pt x="586740" y="0"/>
                </a:lnTo>
                <a:lnTo>
                  <a:pt x="1013460" y="0"/>
                </a:lnTo>
              </a:path>
            </a:pathLst>
          </a:custGeom>
          <a:noFill/>
          <a:ln w="16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紫：调用 / 调度    蓝灰：token / 结果    绿：KV 数据   "/>
          <p:cNvSpPr txBox="1"/>
          <p:nvPr/>
        </p:nvSpPr>
        <p:spPr>
          <a:xfrm>
            <a:off x="3921736" y="6560393"/>
            <a:ext cx="4958128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紫：调用 / 调度    蓝灰：token / 结果    绿：KV 数据    虚线区：特定论文机制</a:t>
            </a:r>
          </a:p>
        </p:txBody>
      </p:sp>
      <p:sp>
        <p:nvSpPr>
          <p:cNvPr id="64" name="text-064: 本工程没有已确认的 GPU 路径；Ara 能否承担相关算子，需要另行适配与验证。"/>
          <p:cNvSpPr txBox="1"/>
          <p:nvPr/>
        </p:nvSpPr>
        <p:spPr>
          <a:xfrm>
            <a:off x="3892295" y="6837761"/>
            <a:ext cx="5017010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本工程没有已确认的 GPU 路径；Ara 能否承担相关算子，需要另行适配与验证。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