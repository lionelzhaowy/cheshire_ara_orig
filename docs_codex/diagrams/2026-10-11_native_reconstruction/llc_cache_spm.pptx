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53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LLC 多路组相联 Cache 与按 way 切换 SPM"/>
          <p:cNvSpPr txBox="1"/>
          <p:nvPr/>
        </p:nvSpPr>
        <p:spPr>
          <a:xfrm>
            <a:off x="304800" y="150876"/>
            <a:ext cx="6343531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3" name="text-003: 当前 DefaultCfg：8 way × 256 行/way × 8 个 64"/>
          <p:cNvSpPr txBox="1"/>
          <p:nvPr/>
        </p:nvSpPr>
        <p:spPr>
          <a:xfrm>
            <a:off x="304800" y="610819"/>
            <a:ext cx="742598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 DefaultCfg：8 way × 256 行/way × 8 个 64-bit 数据块/行 = 128 KiB；每 way 16 KiB</a:t>
            </a:r>
          </a:p>
        </p:txBody>
      </p:sp>
      <p:sp>
        <p:nvSpPr>
          <p:cNvPr id="4" name="rect-004"/>
          <p:cNvSpPr/>
          <p:nvPr/>
        </p:nvSpPr>
        <p:spPr>
          <a:xfrm>
            <a:off x="304800" y="1051560"/>
            <a:ext cx="7772400" cy="48006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8305800" y="1051560"/>
            <a:ext cx="4191000" cy="480060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① 全 Cache：8 路组相联（CFG_SPM = 0x00）"/>
          <p:cNvSpPr txBox="1"/>
          <p:nvPr/>
        </p:nvSpPr>
        <p:spPr>
          <a:xfrm>
            <a:off x="518160" y="1125931"/>
            <a:ext cx="491356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全 Cache：8 路组相联（CFG_SPM = 0x00）</a:t>
            </a:r>
          </a:p>
        </p:txBody>
      </p:sp>
      <p:sp>
        <p:nvSpPr>
          <p:cNvPr id="7" name="text-007: 每一组有 8 个候选缓存行；每单元上部是 Tag/V/D，下部是 64 B 数据"/>
          <p:cNvSpPr txBox="1"/>
          <p:nvPr/>
        </p:nvSpPr>
        <p:spPr>
          <a:xfrm>
            <a:off x="518160" y="1434998"/>
            <a:ext cx="51376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每一组有 8 个候选缓存行；每单元上部是 Tag/V/D，下部是 64 B 数据</a:t>
            </a:r>
          </a:p>
        </p:txBody>
      </p:sp>
      <p:sp>
        <p:nvSpPr>
          <p:cNvPr id="8" name="rect-008"/>
          <p:cNvSpPr/>
          <p:nvPr/>
        </p:nvSpPr>
        <p:spPr>
          <a:xfrm>
            <a:off x="518160" y="1752600"/>
            <a:ext cx="3048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Tag  [47:14]"/>
          <p:cNvSpPr txBox="1"/>
          <p:nvPr/>
        </p:nvSpPr>
        <p:spPr>
          <a:xfrm>
            <a:off x="1463731" y="1762049"/>
            <a:ext cx="115685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 [47:14]</a:t>
            </a:r>
          </a:p>
        </p:txBody>
      </p:sp>
      <p:sp>
        <p:nvSpPr>
          <p:cNvPr id="10" name="text-010: 34 bit"/>
          <p:cNvSpPr txBox="1"/>
          <p:nvPr/>
        </p:nvSpPr>
        <p:spPr>
          <a:xfrm>
            <a:off x="1770983" y="1969618"/>
            <a:ext cx="54235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1" name="rect-011"/>
          <p:cNvSpPr/>
          <p:nvPr/>
        </p:nvSpPr>
        <p:spPr>
          <a:xfrm>
            <a:off x="3566160" y="1752600"/>
            <a:ext cx="1752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Set  [13:6]"/>
          <p:cNvSpPr txBox="1"/>
          <p:nvPr/>
        </p:nvSpPr>
        <p:spPr>
          <a:xfrm>
            <a:off x="3930456" y="1762049"/>
            <a:ext cx="102400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Set  [13:6]</a:t>
            </a:r>
          </a:p>
        </p:txBody>
      </p:sp>
      <p:sp>
        <p:nvSpPr>
          <p:cNvPr id="13" name="text-013: 8 bit → 256 组"/>
          <p:cNvSpPr txBox="1"/>
          <p:nvPr/>
        </p:nvSpPr>
        <p:spPr>
          <a:xfrm>
            <a:off x="3877342" y="1969618"/>
            <a:ext cx="113023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bit → 256 组</a:t>
            </a:r>
          </a:p>
        </p:txBody>
      </p:sp>
      <p:sp>
        <p:nvSpPr>
          <p:cNvPr id="14" name="rect-014"/>
          <p:cNvSpPr/>
          <p:nvPr/>
        </p:nvSpPr>
        <p:spPr>
          <a:xfrm>
            <a:off x="5318760" y="1752600"/>
            <a:ext cx="1371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Block  [5:3]"/>
          <p:cNvSpPr txBox="1"/>
          <p:nvPr/>
        </p:nvSpPr>
        <p:spPr>
          <a:xfrm>
            <a:off x="5447699" y="1762049"/>
            <a:ext cx="11137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Block  [5:3]</a:t>
            </a:r>
          </a:p>
        </p:txBody>
      </p:sp>
      <p:sp>
        <p:nvSpPr>
          <p:cNvPr id="16" name="text-016: 8 个数据块"/>
          <p:cNvSpPr txBox="1"/>
          <p:nvPr/>
        </p:nvSpPr>
        <p:spPr>
          <a:xfrm>
            <a:off x="5578739" y="1969618"/>
            <a:ext cx="85164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7" name="rect-017"/>
          <p:cNvSpPr/>
          <p:nvPr/>
        </p:nvSpPr>
        <p:spPr>
          <a:xfrm>
            <a:off x="6690360" y="1752600"/>
            <a:ext cx="1143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Byte  [2:0]"/>
          <p:cNvSpPr txBox="1"/>
          <p:nvPr/>
        </p:nvSpPr>
        <p:spPr>
          <a:xfrm>
            <a:off x="6746742" y="1762049"/>
            <a:ext cx="103023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Byte  [2:0]</a:t>
            </a:r>
          </a:p>
        </p:txBody>
      </p:sp>
      <p:sp>
        <p:nvSpPr>
          <p:cNvPr id="19" name="text-019: 块内 8 字节"/>
          <p:cNvSpPr txBox="1"/>
          <p:nvPr/>
        </p:nvSpPr>
        <p:spPr>
          <a:xfrm>
            <a:off x="6814620" y="1969618"/>
            <a:ext cx="8944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0" name="path-020"/>
          <p:cNvSpPr/>
          <p:nvPr/>
        </p:nvSpPr>
        <p:spPr>
          <a:xfrm>
            <a:off x="1143000" y="2209800"/>
            <a:ext cx="3299460" cy="1767840"/>
          </a:xfrm>
          <a:custGeom>
            <a:avLst/>
            <a:gdLst/>
            <a:ahLst/>
            <a:cxnLst/>
            <a:rect l="0" t="0" r="r" b="b"/>
            <a:pathLst>
              <a:path w="3299460" h="1767840" fill="none">
                <a:moveTo>
                  <a:pt x="3299460" y="0"/>
                </a:moveTo>
                <a:lnTo>
                  <a:pt x="3299460" y="121920"/>
                </a:lnTo>
                <a:lnTo>
                  <a:pt x="0" y="121920"/>
                </a:lnTo>
                <a:lnTo>
                  <a:pt x="0" y="1767840"/>
                </a:lnTo>
                <a:lnTo>
                  <a:pt x="228600" y="1767840"/>
                </a:lnTo>
              </a:path>
            </a:pathLst>
          </a:custGeom>
          <a:noFill/>
          <a:ln w="22860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2: Set 索引选中同一组，Tag 与各 way 元数据并行比较"/>
          <p:cNvSpPr txBox="1"/>
          <p:nvPr/>
        </p:nvSpPr>
        <p:spPr>
          <a:xfrm>
            <a:off x="1303020" y="2297278"/>
            <a:ext cx="35070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Set 索引选中同一组，Tag 与各 way 元数据并行比较</a:t>
            </a:r>
          </a:p>
        </p:txBody>
      </p:sp>
      <p:sp>
        <p:nvSpPr>
          <p:cNvPr id="22" name="rect-023"/>
          <p:cNvSpPr/>
          <p:nvPr/>
        </p:nvSpPr>
        <p:spPr>
          <a:xfrm>
            <a:off x="13716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4: Way 0"/>
          <p:cNvSpPr txBox="1"/>
          <p:nvPr/>
        </p:nvSpPr>
        <p:spPr>
          <a:xfrm>
            <a:off x="140892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4" name="rect-025"/>
          <p:cNvSpPr/>
          <p:nvPr/>
        </p:nvSpPr>
        <p:spPr>
          <a:xfrm>
            <a:off x="21793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6: Way 1"/>
          <p:cNvSpPr txBox="1"/>
          <p:nvPr/>
        </p:nvSpPr>
        <p:spPr>
          <a:xfrm>
            <a:off x="221664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6" name="rect-027"/>
          <p:cNvSpPr/>
          <p:nvPr/>
        </p:nvSpPr>
        <p:spPr>
          <a:xfrm>
            <a:off x="29870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8: Way 2"/>
          <p:cNvSpPr txBox="1"/>
          <p:nvPr/>
        </p:nvSpPr>
        <p:spPr>
          <a:xfrm>
            <a:off x="302436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28" name="rect-029"/>
          <p:cNvSpPr/>
          <p:nvPr/>
        </p:nvSpPr>
        <p:spPr>
          <a:xfrm>
            <a:off x="379476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0: Way 3"/>
          <p:cNvSpPr txBox="1"/>
          <p:nvPr/>
        </p:nvSpPr>
        <p:spPr>
          <a:xfrm>
            <a:off x="383208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30" name="rect-031"/>
          <p:cNvSpPr/>
          <p:nvPr/>
        </p:nvSpPr>
        <p:spPr>
          <a:xfrm>
            <a:off x="460248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2: Way 4"/>
          <p:cNvSpPr txBox="1"/>
          <p:nvPr/>
        </p:nvSpPr>
        <p:spPr>
          <a:xfrm>
            <a:off x="463980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32" name="rect-033"/>
          <p:cNvSpPr/>
          <p:nvPr/>
        </p:nvSpPr>
        <p:spPr>
          <a:xfrm>
            <a:off x="54102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4: Way 5"/>
          <p:cNvSpPr txBox="1"/>
          <p:nvPr/>
        </p:nvSpPr>
        <p:spPr>
          <a:xfrm>
            <a:off x="544752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34" name="rect-035"/>
          <p:cNvSpPr/>
          <p:nvPr/>
        </p:nvSpPr>
        <p:spPr>
          <a:xfrm>
            <a:off x="62179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6: Way 6"/>
          <p:cNvSpPr txBox="1"/>
          <p:nvPr/>
        </p:nvSpPr>
        <p:spPr>
          <a:xfrm>
            <a:off x="625524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36" name="rect-037"/>
          <p:cNvSpPr/>
          <p:nvPr/>
        </p:nvSpPr>
        <p:spPr>
          <a:xfrm>
            <a:off x="70256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8: Way 7"/>
          <p:cNvSpPr txBox="1"/>
          <p:nvPr/>
        </p:nvSpPr>
        <p:spPr>
          <a:xfrm>
            <a:off x="7062966" y="2569769"/>
            <a:ext cx="68734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38" name="rect-039"/>
          <p:cNvSpPr/>
          <p:nvPr/>
        </p:nvSpPr>
        <p:spPr>
          <a:xfrm>
            <a:off x="1295400" y="3726180"/>
            <a:ext cx="6583680" cy="502920"/>
          </a:xfrm>
          <a:prstGeom prst="roundRect">
            <a:avLst>
              <a:gd name="adj" fmla="val 7575"/>
            </a:avLst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0: 组 0"/>
          <p:cNvSpPr txBox="1"/>
          <p:nvPr/>
        </p:nvSpPr>
        <p:spPr>
          <a:xfrm>
            <a:off x="609600" y="29355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40" name="rect-041"/>
          <p:cNvSpPr/>
          <p:nvPr/>
        </p:nvSpPr>
        <p:spPr>
          <a:xfrm>
            <a:off x="137160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2"/>
          <p:cNvSpPr/>
          <p:nvPr/>
        </p:nvSpPr>
        <p:spPr>
          <a:xfrm>
            <a:off x="137160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3: T / V / D"/>
          <p:cNvSpPr txBox="1"/>
          <p:nvPr/>
        </p:nvSpPr>
        <p:spPr>
          <a:xfrm>
            <a:off x="140630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3" name="text-044: 64 B"/>
          <p:cNvSpPr txBox="1"/>
          <p:nvPr/>
        </p:nvSpPr>
        <p:spPr>
          <a:xfrm>
            <a:off x="152846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4" name="rect-045"/>
          <p:cNvSpPr/>
          <p:nvPr/>
        </p:nvSpPr>
        <p:spPr>
          <a:xfrm>
            <a:off x="217932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6"/>
          <p:cNvSpPr/>
          <p:nvPr/>
        </p:nvSpPr>
        <p:spPr>
          <a:xfrm>
            <a:off x="217932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7: T / V / D"/>
          <p:cNvSpPr txBox="1"/>
          <p:nvPr/>
        </p:nvSpPr>
        <p:spPr>
          <a:xfrm>
            <a:off x="221402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7" name="text-048: 64 B"/>
          <p:cNvSpPr txBox="1"/>
          <p:nvPr/>
        </p:nvSpPr>
        <p:spPr>
          <a:xfrm>
            <a:off x="233618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8" name="rect-049"/>
          <p:cNvSpPr/>
          <p:nvPr/>
        </p:nvSpPr>
        <p:spPr>
          <a:xfrm>
            <a:off x="298704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0"/>
          <p:cNvSpPr/>
          <p:nvPr/>
        </p:nvSpPr>
        <p:spPr>
          <a:xfrm>
            <a:off x="298704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1: T / V / D"/>
          <p:cNvSpPr txBox="1"/>
          <p:nvPr/>
        </p:nvSpPr>
        <p:spPr>
          <a:xfrm>
            <a:off x="302174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1" name="text-052: 64 B"/>
          <p:cNvSpPr txBox="1"/>
          <p:nvPr/>
        </p:nvSpPr>
        <p:spPr>
          <a:xfrm>
            <a:off x="314390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2" name="rect-053"/>
          <p:cNvSpPr/>
          <p:nvPr/>
        </p:nvSpPr>
        <p:spPr>
          <a:xfrm>
            <a:off x="379476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4"/>
          <p:cNvSpPr/>
          <p:nvPr/>
        </p:nvSpPr>
        <p:spPr>
          <a:xfrm>
            <a:off x="379476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5: T / V / D"/>
          <p:cNvSpPr txBox="1"/>
          <p:nvPr/>
        </p:nvSpPr>
        <p:spPr>
          <a:xfrm>
            <a:off x="382946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5" name="text-056: 64 B"/>
          <p:cNvSpPr txBox="1"/>
          <p:nvPr/>
        </p:nvSpPr>
        <p:spPr>
          <a:xfrm>
            <a:off x="395162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6" name="rect-057"/>
          <p:cNvSpPr/>
          <p:nvPr/>
        </p:nvSpPr>
        <p:spPr>
          <a:xfrm>
            <a:off x="460248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8"/>
          <p:cNvSpPr/>
          <p:nvPr/>
        </p:nvSpPr>
        <p:spPr>
          <a:xfrm>
            <a:off x="460248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9: T / V / D"/>
          <p:cNvSpPr txBox="1"/>
          <p:nvPr/>
        </p:nvSpPr>
        <p:spPr>
          <a:xfrm>
            <a:off x="463718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9" name="text-060: 64 B"/>
          <p:cNvSpPr txBox="1"/>
          <p:nvPr/>
        </p:nvSpPr>
        <p:spPr>
          <a:xfrm>
            <a:off x="475934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0" name="rect-061"/>
          <p:cNvSpPr/>
          <p:nvPr/>
        </p:nvSpPr>
        <p:spPr>
          <a:xfrm>
            <a:off x="541020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2"/>
          <p:cNvSpPr/>
          <p:nvPr/>
        </p:nvSpPr>
        <p:spPr>
          <a:xfrm>
            <a:off x="541020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3: T / V / D"/>
          <p:cNvSpPr txBox="1"/>
          <p:nvPr/>
        </p:nvSpPr>
        <p:spPr>
          <a:xfrm>
            <a:off x="544490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3" name="text-064: 64 B"/>
          <p:cNvSpPr txBox="1"/>
          <p:nvPr/>
        </p:nvSpPr>
        <p:spPr>
          <a:xfrm>
            <a:off x="556706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4" name="rect-065"/>
          <p:cNvSpPr/>
          <p:nvPr/>
        </p:nvSpPr>
        <p:spPr>
          <a:xfrm>
            <a:off x="621792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6"/>
          <p:cNvSpPr/>
          <p:nvPr/>
        </p:nvSpPr>
        <p:spPr>
          <a:xfrm>
            <a:off x="621792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7: T / V / D"/>
          <p:cNvSpPr txBox="1"/>
          <p:nvPr/>
        </p:nvSpPr>
        <p:spPr>
          <a:xfrm>
            <a:off x="625262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7" name="text-068: 64 B"/>
          <p:cNvSpPr txBox="1"/>
          <p:nvPr/>
        </p:nvSpPr>
        <p:spPr>
          <a:xfrm>
            <a:off x="637478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8" name="rect-069"/>
          <p:cNvSpPr/>
          <p:nvPr/>
        </p:nvSpPr>
        <p:spPr>
          <a:xfrm>
            <a:off x="7025640" y="28575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0"/>
          <p:cNvSpPr/>
          <p:nvPr/>
        </p:nvSpPr>
        <p:spPr>
          <a:xfrm>
            <a:off x="7025640" y="30556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1: T / V / D"/>
          <p:cNvSpPr txBox="1"/>
          <p:nvPr/>
        </p:nvSpPr>
        <p:spPr>
          <a:xfrm>
            <a:off x="7060347" y="28617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1" name="text-072: 64 B"/>
          <p:cNvSpPr txBox="1"/>
          <p:nvPr/>
        </p:nvSpPr>
        <p:spPr>
          <a:xfrm>
            <a:off x="7182505" y="30592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2" name="text-073: 组 1"/>
          <p:cNvSpPr txBox="1"/>
          <p:nvPr/>
        </p:nvSpPr>
        <p:spPr>
          <a:xfrm>
            <a:off x="609600" y="33927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73" name="rect-074"/>
          <p:cNvSpPr/>
          <p:nvPr/>
        </p:nvSpPr>
        <p:spPr>
          <a:xfrm>
            <a:off x="137160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75"/>
          <p:cNvSpPr/>
          <p:nvPr/>
        </p:nvSpPr>
        <p:spPr>
          <a:xfrm>
            <a:off x="137160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6: T / V / D"/>
          <p:cNvSpPr txBox="1"/>
          <p:nvPr/>
        </p:nvSpPr>
        <p:spPr>
          <a:xfrm>
            <a:off x="140630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6" name="text-077: 64 B"/>
          <p:cNvSpPr txBox="1"/>
          <p:nvPr/>
        </p:nvSpPr>
        <p:spPr>
          <a:xfrm>
            <a:off x="152846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7" name="rect-078"/>
          <p:cNvSpPr/>
          <p:nvPr/>
        </p:nvSpPr>
        <p:spPr>
          <a:xfrm>
            <a:off x="217932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-079"/>
          <p:cNvSpPr/>
          <p:nvPr/>
        </p:nvSpPr>
        <p:spPr>
          <a:xfrm>
            <a:off x="217932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80: T / V / D"/>
          <p:cNvSpPr txBox="1"/>
          <p:nvPr/>
        </p:nvSpPr>
        <p:spPr>
          <a:xfrm>
            <a:off x="221402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0" name="text-081: 64 B"/>
          <p:cNvSpPr txBox="1"/>
          <p:nvPr/>
        </p:nvSpPr>
        <p:spPr>
          <a:xfrm>
            <a:off x="233618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1" name="rect-082"/>
          <p:cNvSpPr/>
          <p:nvPr/>
        </p:nvSpPr>
        <p:spPr>
          <a:xfrm>
            <a:off x="298704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-083"/>
          <p:cNvSpPr/>
          <p:nvPr/>
        </p:nvSpPr>
        <p:spPr>
          <a:xfrm>
            <a:off x="298704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4: T / V / D"/>
          <p:cNvSpPr txBox="1"/>
          <p:nvPr/>
        </p:nvSpPr>
        <p:spPr>
          <a:xfrm>
            <a:off x="302174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4" name="text-085: 64 B"/>
          <p:cNvSpPr txBox="1"/>
          <p:nvPr/>
        </p:nvSpPr>
        <p:spPr>
          <a:xfrm>
            <a:off x="314390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5" name="rect-086"/>
          <p:cNvSpPr/>
          <p:nvPr/>
        </p:nvSpPr>
        <p:spPr>
          <a:xfrm>
            <a:off x="379476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7"/>
          <p:cNvSpPr/>
          <p:nvPr/>
        </p:nvSpPr>
        <p:spPr>
          <a:xfrm>
            <a:off x="379476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8: T / V / D"/>
          <p:cNvSpPr txBox="1"/>
          <p:nvPr/>
        </p:nvSpPr>
        <p:spPr>
          <a:xfrm>
            <a:off x="382946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8" name="text-089: 64 B"/>
          <p:cNvSpPr txBox="1"/>
          <p:nvPr/>
        </p:nvSpPr>
        <p:spPr>
          <a:xfrm>
            <a:off x="395162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9" name="rect-090"/>
          <p:cNvSpPr/>
          <p:nvPr/>
        </p:nvSpPr>
        <p:spPr>
          <a:xfrm>
            <a:off x="460248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-091"/>
          <p:cNvSpPr/>
          <p:nvPr/>
        </p:nvSpPr>
        <p:spPr>
          <a:xfrm>
            <a:off x="460248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2: T / V / D"/>
          <p:cNvSpPr txBox="1"/>
          <p:nvPr/>
        </p:nvSpPr>
        <p:spPr>
          <a:xfrm>
            <a:off x="463718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2" name="text-093: 64 B"/>
          <p:cNvSpPr txBox="1"/>
          <p:nvPr/>
        </p:nvSpPr>
        <p:spPr>
          <a:xfrm>
            <a:off x="475934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3" name="rect-094"/>
          <p:cNvSpPr/>
          <p:nvPr/>
        </p:nvSpPr>
        <p:spPr>
          <a:xfrm>
            <a:off x="541020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-095"/>
          <p:cNvSpPr/>
          <p:nvPr/>
        </p:nvSpPr>
        <p:spPr>
          <a:xfrm>
            <a:off x="541020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6: T / V / D"/>
          <p:cNvSpPr txBox="1"/>
          <p:nvPr/>
        </p:nvSpPr>
        <p:spPr>
          <a:xfrm>
            <a:off x="544490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6" name="text-097: 64 B"/>
          <p:cNvSpPr txBox="1"/>
          <p:nvPr/>
        </p:nvSpPr>
        <p:spPr>
          <a:xfrm>
            <a:off x="556706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7" name="rect-098"/>
          <p:cNvSpPr/>
          <p:nvPr/>
        </p:nvSpPr>
        <p:spPr>
          <a:xfrm>
            <a:off x="621792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9"/>
          <p:cNvSpPr/>
          <p:nvPr/>
        </p:nvSpPr>
        <p:spPr>
          <a:xfrm>
            <a:off x="621792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00: T / V / D"/>
          <p:cNvSpPr txBox="1"/>
          <p:nvPr/>
        </p:nvSpPr>
        <p:spPr>
          <a:xfrm>
            <a:off x="625262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0" name="text-101: 64 B"/>
          <p:cNvSpPr txBox="1"/>
          <p:nvPr/>
        </p:nvSpPr>
        <p:spPr>
          <a:xfrm>
            <a:off x="637478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1" name="rect-102"/>
          <p:cNvSpPr/>
          <p:nvPr/>
        </p:nvSpPr>
        <p:spPr>
          <a:xfrm>
            <a:off x="7025640" y="3314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-103"/>
          <p:cNvSpPr/>
          <p:nvPr/>
        </p:nvSpPr>
        <p:spPr>
          <a:xfrm>
            <a:off x="7025640" y="3512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4: T / V / D"/>
          <p:cNvSpPr txBox="1"/>
          <p:nvPr/>
        </p:nvSpPr>
        <p:spPr>
          <a:xfrm>
            <a:off x="7060347" y="3318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4" name="text-105: 64 B"/>
          <p:cNvSpPr txBox="1"/>
          <p:nvPr/>
        </p:nvSpPr>
        <p:spPr>
          <a:xfrm>
            <a:off x="7182505" y="3516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5" name="text-106: 组 42"/>
          <p:cNvSpPr txBox="1"/>
          <p:nvPr/>
        </p:nvSpPr>
        <p:spPr>
          <a:xfrm>
            <a:off x="609600" y="3849929"/>
            <a:ext cx="591979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106" name="rect-107"/>
          <p:cNvSpPr/>
          <p:nvPr/>
        </p:nvSpPr>
        <p:spPr>
          <a:xfrm>
            <a:off x="13716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-108"/>
          <p:cNvSpPr/>
          <p:nvPr/>
        </p:nvSpPr>
        <p:spPr>
          <a:xfrm>
            <a:off x="13716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9: T / V / D"/>
          <p:cNvSpPr txBox="1"/>
          <p:nvPr/>
        </p:nvSpPr>
        <p:spPr>
          <a:xfrm>
            <a:off x="14063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9" name="text-110: 64 B"/>
          <p:cNvSpPr txBox="1"/>
          <p:nvPr/>
        </p:nvSpPr>
        <p:spPr>
          <a:xfrm>
            <a:off x="15284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0" name="rect-111"/>
          <p:cNvSpPr/>
          <p:nvPr/>
        </p:nvSpPr>
        <p:spPr>
          <a:xfrm>
            <a:off x="217932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-112"/>
          <p:cNvSpPr/>
          <p:nvPr/>
        </p:nvSpPr>
        <p:spPr>
          <a:xfrm>
            <a:off x="217932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3: T / V / D"/>
          <p:cNvSpPr txBox="1"/>
          <p:nvPr/>
        </p:nvSpPr>
        <p:spPr>
          <a:xfrm>
            <a:off x="22140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3" name="text-114: 64 B"/>
          <p:cNvSpPr txBox="1"/>
          <p:nvPr/>
        </p:nvSpPr>
        <p:spPr>
          <a:xfrm>
            <a:off x="233618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4" name="rect-115"/>
          <p:cNvSpPr/>
          <p:nvPr/>
        </p:nvSpPr>
        <p:spPr>
          <a:xfrm>
            <a:off x="29870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6"/>
          <p:cNvSpPr/>
          <p:nvPr/>
        </p:nvSpPr>
        <p:spPr>
          <a:xfrm>
            <a:off x="29870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7: T / V / D"/>
          <p:cNvSpPr txBox="1"/>
          <p:nvPr/>
        </p:nvSpPr>
        <p:spPr>
          <a:xfrm>
            <a:off x="30217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7" name="text-118: 64 B"/>
          <p:cNvSpPr txBox="1"/>
          <p:nvPr/>
        </p:nvSpPr>
        <p:spPr>
          <a:xfrm>
            <a:off x="31439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8" name="rect-119"/>
          <p:cNvSpPr/>
          <p:nvPr/>
        </p:nvSpPr>
        <p:spPr>
          <a:xfrm>
            <a:off x="379476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-120"/>
          <p:cNvSpPr/>
          <p:nvPr/>
        </p:nvSpPr>
        <p:spPr>
          <a:xfrm>
            <a:off x="379476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1: T / V / D"/>
          <p:cNvSpPr txBox="1"/>
          <p:nvPr/>
        </p:nvSpPr>
        <p:spPr>
          <a:xfrm>
            <a:off x="382946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1" name="text-122: 64 B"/>
          <p:cNvSpPr txBox="1"/>
          <p:nvPr/>
        </p:nvSpPr>
        <p:spPr>
          <a:xfrm>
            <a:off x="395162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2" name="rect-123"/>
          <p:cNvSpPr/>
          <p:nvPr/>
        </p:nvSpPr>
        <p:spPr>
          <a:xfrm>
            <a:off x="460248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-124"/>
          <p:cNvSpPr/>
          <p:nvPr/>
        </p:nvSpPr>
        <p:spPr>
          <a:xfrm>
            <a:off x="460248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125: T / V / D"/>
          <p:cNvSpPr txBox="1"/>
          <p:nvPr/>
        </p:nvSpPr>
        <p:spPr>
          <a:xfrm>
            <a:off x="463718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5" name="text-126: 64 B"/>
          <p:cNvSpPr txBox="1"/>
          <p:nvPr/>
        </p:nvSpPr>
        <p:spPr>
          <a:xfrm>
            <a:off x="475934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6" name="rect-127"/>
          <p:cNvSpPr/>
          <p:nvPr/>
        </p:nvSpPr>
        <p:spPr>
          <a:xfrm>
            <a:off x="54102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-128"/>
          <p:cNvSpPr/>
          <p:nvPr/>
        </p:nvSpPr>
        <p:spPr>
          <a:xfrm>
            <a:off x="54102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129: T / V / D"/>
          <p:cNvSpPr txBox="1"/>
          <p:nvPr/>
        </p:nvSpPr>
        <p:spPr>
          <a:xfrm>
            <a:off x="54449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9" name="text-130: 64 B"/>
          <p:cNvSpPr txBox="1"/>
          <p:nvPr/>
        </p:nvSpPr>
        <p:spPr>
          <a:xfrm>
            <a:off x="55670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0" name="rect-131"/>
          <p:cNvSpPr/>
          <p:nvPr/>
        </p:nvSpPr>
        <p:spPr>
          <a:xfrm>
            <a:off x="6217920" y="3771900"/>
            <a:ext cx="762000" cy="19812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-132"/>
          <p:cNvSpPr/>
          <p:nvPr/>
        </p:nvSpPr>
        <p:spPr>
          <a:xfrm>
            <a:off x="6217920" y="3970020"/>
            <a:ext cx="762000" cy="21336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133: T / V / D"/>
          <p:cNvSpPr txBox="1"/>
          <p:nvPr/>
        </p:nvSpPr>
        <p:spPr>
          <a:xfrm>
            <a:off x="62526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3" name="text-134: 64 B"/>
          <p:cNvSpPr txBox="1"/>
          <p:nvPr/>
        </p:nvSpPr>
        <p:spPr>
          <a:xfrm>
            <a:off x="6366194" y="3973678"/>
            <a:ext cx="46545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4" name="rect-135"/>
          <p:cNvSpPr/>
          <p:nvPr/>
        </p:nvSpPr>
        <p:spPr>
          <a:xfrm>
            <a:off x="70256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-136"/>
          <p:cNvSpPr/>
          <p:nvPr/>
        </p:nvSpPr>
        <p:spPr>
          <a:xfrm>
            <a:off x="70256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-137: T / V / D"/>
          <p:cNvSpPr txBox="1"/>
          <p:nvPr/>
        </p:nvSpPr>
        <p:spPr>
          <a:xfrm>
            <a:off x="70603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7" name="text-138: 64 B"/>
          <p:cNvSpPr txBox="1"/>
          <p:nvPr/>
        </p:nvSpPr>
        <p:spPr>
          <a:xfrm>
            <a:off x="71825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8" name="text-139: 组 255"/>
          <p:cNvSpPr txBox="1"/>
          <p:nvPr/>
        </p:nvSpPr>
        <p:spPr>
          <a:xfrm>
            <a:off x="609600" y="4764329"/>
            <a:ext cx="67981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39" name="rect-140"/>
          <p:cNvSpPr/>
          <p:nvPr/>
        </p:nvSpPr>
        <p:spPr>
          <a:xfrm>
            <a:off x="13716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-141"/>
          <p:cNvSpPr/>
          <p:nvPr/>
        </p:nvSpPr>
        <p:spPr>
          <a:xfrm>
            <a:off x="13716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142: T / V / D"/>
          <p:cNvSpPr txBox="1"/>
          <p:nvPr/>
        </p:nvSpPr>
        <p:spPr>
          <a:xfrm>
            <a:off x="14063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2" name="text-143: 64 B"/>
          <p:cNvSpPr txBox="1"/>
          <p:nvPr/>
        </p:nvSpPr>
        <p:spPr>
          <a:xfrm>
            <a:off x="15284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3" name="rect-144"/>
          <p:cNvSpPr/>
          <p:nvPr/>
        </p:nvSpPr>
        <p:spPr>
          <a:xfrm>
            <a:off x="21793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-145"/>
          <p:cNvSpPr/>
          <p:nvPr/>
        </p:nvSpPr>
        <p:spPr>
          <a:xfrm>
            <a:off x="21793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6: T / V / D"/>
          <p:cNvSpPr txBox="1"/>
          <p:nvPr/>
        </p:nvSpPr>
        <p:spPr>
          <a:xfrm>
            <a:off x="22140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6" name="text-147: 64 B"/>
          <p:cNvSpPr txBox="1"/>
          <p:nvPr/>
        </p:nvSpPr>
        <p:spPr>
          <a:xfrm>
            <a:off x="23361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7" name="rect-148"/>
          <p:cNvSpPr/>
          <p:nvPr/>
        </p:nvSpPr>
        <p:spPr>
          <a:xfrm>
            <a:off x="29870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-149"/>
          <p:cNvSpPr/>
          <p:nvPr/>
        </p:nvSpPr>
        <p:spPr>
          <a:xfrm>
            <a:off x="29870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-150: T / V / D"/>
          <p:cNvSpPr txBox="1"/>
          <p:nvPr/>
        </p:nvSpPr>
        <p:spPr>
          <a:xfrm>
            <a:off x="30217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0" name="text-151: 64 B"/>
          <p:cNvSpPr txBox="1"/>
          <p:nvPr/>
        </p:nvSpPr>
        <p:spPr>
          <a:xfrm>
            <a:off x="31439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1" name="rect-152"/>
          <p:cNvSpPr/>
          <p:nvPr/>
        </p:nvSpPr>
        <p:spPr>
          <a:xfrm>
            <a:off x="379476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-153"/>
          <p:cNvSpPr/>
          <p:nvPr/>
        </p:nvSpPr>
        <p:spPr>
          <a:xfrm>
            <a:off x="379476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-154: T / V / D"/>
          <p:cNvSpPr txBox="1"/>
          <p:nvPr/>
        </p:nvSpPr>
        <p:spPr>
          <a:xfrm>
            <a:off x="382946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4" name="text-155: 64 B"/>
          <p:cNvSpPr txBox="1"/>
          <p:nvPr/>
        </p:nvSpPr>
        <p:spPr>
          <a:xfrm>
            <a:off x="395162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5" name="rect-156"/>
          <p:cNvSpPr/>
          <p:nvPr/>
        </p:nvSpPr>
        <p:spPr>
          <a:xfrm>
            <a:off x="460248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-157"/>
          <p:cNvSpPr/>
          <p:nvPr/>
        </p:nvSpPr>
        <p:spPr>
          <a:xfrm>
            <a:off x="460248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-158: T / V / D"/>
          <p:cNvSpPr txBox="1"/>
          <p:nvPr/>
        </p:nvSpPr>
        <p:spPr>
          <a:xfrm>
            <a:off x="463718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8" name="text-159: 64 B"/>
          <p:cNvSpPr txBox="1"/>
          <p:nvPr/>
        </p:nvSpPr>
        <p:spPr>
          <a:xfrm>
            <a:off x="475934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9" name="rect-160"/>
          <p:cNvSpPr/>
          <p:nvPr/>
        </p:nvSpPr>
        <p:spPr>
          <a:xfrm>
            <a:off x="54102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-161"/>
          <p:cNvSpPr/>
          <p:nvPr/>
        </p:nvSpPr>
        <p:spPr>
          <a:xfrm>
            <a:off x="54102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-162: T / V / D"/>
          <p:cNvSpPr txBox="1"/>
          <p:nvPr/>
        </p:nvSpPr>
        <p:spPr>
          <a:xfrm>
            <a:off x="54449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2" name="text-163: 64 B"/>
          <p:cNvSpPr txBox="1"/>
          <p:nvPr/>
        </p:nvSpPr>
        <p:spPr>
          <a:xfrm>
            <a:off x="55670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3" name="rect-164"/>
          <p:cNvSpPr/>
          <p:nvPr/>
        </p:nvSpPr>
        <p:spPr>
          <a:xfrm>
            <a:off x="62179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-165"/>
          <p:cNvSpPr/>
          <p:nvPr/>
        </p:nvSpPr>
        <p:spPr>
          <a:xfrm>
            <a:off x="62179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166: T / V / D"/>
          <p:cNvSpPr txBox="1"/>
          <p:nvPr/>
        </p:nvSpPr>
        <p:spPr>
          <a:xfrm>
            <a:off x="62526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6" name="text-167: 64 B"/>
          <p:cNvSpPr txBox="1"/>
          <p:nvPr/>
        </p:nvSpPr>
        <p:spPr>
          <a:xfrm>
            <a:off x="63747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7" name="rect-168"/>
          <p:cNvSpPr/>
          <p:nvPr/>
        </p:nvSpPr>
        <p:spPr>
          <a:xfrm>
            <a:off x="70256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-169"/>
          <p:cNvSpPr/>
          <p:nvPr/>
        </p:nvSpPr>
        <p:spPr>
          <a:xfrm>
            <a:off x="70256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-170: T / V / D"/>
          <p:cNvSpPr txBox="1"/>
          <p:nvPr/>
        </p:nvSpPr>
        <p:spPr>
          <a:xfrm>
            <a:off x="70603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70" name="text-171: 64 B"/>
          <p:cNvSpPr txBox="1"/>
          <p:nvPr/>
        </p:nvSpPr>
        <p:spPr>
          <a:xfrm>
            <a:off x="71825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71" name="text-172: ⋮"/>
          <p:cNvSpPr txBox="1"/>
          <p:nvPr/>
        </p:nvSpPr>
        <p:spPr>
          <a:xfrm>
            <a:off x="5093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2" name="text-173: ⋮"/>
          <p:cNvSpPr txBox="1"/>
          <p:nvPr/>
        </p:nvSpPr>
        <p:spPr>
          <a:xfrm>
            <a:off x="15456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3" name="text-174: ⋮"/>
          <p:cNvSpPr txBox="1"/>
          <p:nvPr/>
        </p:nvSpPr>
        <p:spPr>
          <a:xfrm>
            <a:off x="23533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text-175: ⋮"/>
          <p:cNvSpPr txBox="1"/>
          <p:nvPr/>
        </p:nvSpPr>
        <p:spPr>
          <a:xfrm>
            <a:off x="31611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5" name="text-176: ⋮"/>
          <p:cNvSpPr txBox="1"/>
          <p:nvPr/>
        </p:nvSpPr>
        <p:spPr>
          <a:xfrm>
            <a:off x="396882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6" name="text-177: ⋮"/>
          <p:cNvSpPr txBox="1"/>
          <p:nvPr/>
        </p:nvSpPr>
        <p:spPr>
          <a:xfrm>
            <a:off x="47765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7" name="text-178: ⋮"/>
          <p:cNvSpPr txBox="1"/>
          <p:nvPr/>
        </p:nvSpPr>
        <p:spPr>
          <a:xfrm>
            <a:off x="55842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8" name="text-179: ⋮"/>
          <p:cNvSpPr txBox="1"/>
          <p:nvPr/>
        </p:nvSpPr>
        <p:spPr>
          <a:xfrm>
            <a:off x="63919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9" name="text-180: ⋮"/>
          <p:cNvSpPr txBox="1"/>
          <p:nvPr/>
        </p:nvSpPr>
        <p:spPr>
          <a:xfrm>
            <a:off x="71997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0" name="text-181: 命中举例：组 42 的 Way 6；Way 由 Tag+Valid 命中结果选择"/>
          <p:cNvSpPr txBox="1"/>
          <p:nvPr/>
        </p:nvSpPr>
        <p:spPr>
          <a:xfrm>
            <a:off x="518160" y="5168798"/>
            <a:ext cx="6267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命中举例：组 42 的 Way 6；Way 由 Tag+Valid 命中结果选择，不是 Cache 地址字段</a:t>
            </a:r>
          </a:p>
        </p:txBody>
      </p:sp>
      <p:sp>
        <p:nvSpPr>
          <p:cNvPr id="181" name="text-182: 未命中：在 Cache way 中替换 / 回填；Dirty 决定是否向下游 D"/>
          <p:cNvSpPr txBox="1"/>
          <p:nvPr/>
        </p:nvSpPr>
        <p:spPr>
          <a:xfrm>
            <a:off x="518160" y="5397398"/>
            <a:ext cx="52953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未命中：在 Cache way 中替换 / 回填；Dirty 决定是否向下游 DDR 回写</a:t>
            </a:r>
          </a:p>
        </p:txBody>
      </p:sp>
      <p:sp>
        <p:nvSpPr>
          <p:cNvPr id="182" name="text-183: 图中为逻辑行对应关系；Tag SRAM 与 Data SRAM 是不同存储阵列。"/>
          <p:cNvSpPr txBox="1"/>
          <p:nvPr/>
        </p:nvSpPr>
        <p:spPr>
          <a:xfrm>
            <a:off x="518160" y="5604358"/>
            <a:ext cx="466072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图中为逻辑行对应关系；Tag SRAM 与 Data SRAM 是不同存储阵列。</a:t>
            </a:r>
          </a:p>
        </p:txBody>
      </p:sp>
      <p:sp>
        <p:nvSpPr>
          <p:cNvPr id="183" name="text-184: ② 复用同一数据阵列：按整 way 分配"/>
          <p:cNvSpPr txBox="1"/>
          <p:nvPr/>
        </p:nvSpPr>
        <p:spPr>
          <a:xfrm>
            <a:off x="8519160" y="1142390"/>
            <a:ext cx="3545741" cy="316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复用同一数据阵列：按整 way 分配</a:t>
            </a:r>
          </a:p>
        </p:txBody>
      </p:sp>
      <p:sp>
        <p:nvSpPr>
          <p:cNvPr id="184" name="text-185: 位图：1 = SPM（S），0 = Cache（C）"/>
          <p:cNvSpPr txBox="1"/>
          <p:nvPr/>
        </p:nvSpPr>
        <p:spPr>
          <a:xfrm>
            <a:off x="8519160" y="1434998"/>
            <a:ext cx="30657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位图：1 = SPM（S），0 = Cache（C）</a:t>
            </a:r>
          </a:p>
        </p:txBody>
      </p:sp>
      <p:sp>
        <p:nvSpPr>
          <p:cNvPr id="185" name="text-186: 全 Cache 0x00：128 KiB Cache"/>
          <p:cNvSpPr txBox="1"/>
          <p:nvPr/>
        </p:nvSpPr>
        <p:spPr>
          <a:xfrm>
            <a:off x="8519160" y="1709318"/>
            <a:ext cx="25825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Cache 0x00：128 KiB Cache</a:t>
            </a:r>
          </a:p>
        </p:txBody>
      </p:sp>
      <p:sp>
        <p:nvSpPr>
          <p:cNvPr id="186" name="rect-187"/>
          <p:cNvSpPr/>
          <p:nvPr/>
        </p:nvSpPr>
        <p:spPr>
          <a:xfrm>
            <a:off x="85191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-188: W0"/>
          <p:cNvSpPr txBox="1"/>
          <p:nvPr/>
        </p:nvSpPr>
        <p:spPr>
          <a:xfrm>
            <a:off x="85516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88" name="text-189: C"/>
          <p:cNvSpPr txBox="1"/>
          <p:nvPr/>
        </p:nvSpPr>
        <p:spPr>
          <a:xfrm>
            <a:off x="859987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9" name="rect-190"/>
          <p:cNvSpPr/>
          <p:nvPr/>
        </p:nvSpPr>
        <p:spPr>
          <a:xfrm>
            <a:off x="89839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-191: W1"/>
          <p:cNvSpPr txBox="1"/>
          <p:nvPr/>
        </p:nvSpPr>
        <p:spPr>
          <a:xfrm>
            <a:off x="90164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1" name="text-192: C"/>
          <p:cNvSpPr txBox="1"/>
          <p:nvPr/>
        </p:nvSpPr>
        <p:spPr>
          <a:xfrm>
            <a:off x="906469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2" name="rect-193"/>
          <p:cNvSpPr/>
          <p:nvPr/>
        </p:nvSpPr>
        <p:spPr>
          <a:xfrm>
            <a:off x="94488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-194: W2"/>
          <p:cNvSpPr txBox="1"/>
          <p:nvPr/>
        </p:nvSpPr>
        <p:spPr>
          <a:xfrm>
            <a:off x="94812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4" name="text-195: C"/>
          <p:cNvSpPr txBox="1"/>
          <p:nvPr/>
        </p:nvSpPr>
        <p:spPr>
          <a:xfrm>
            <a:off x="952951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5" name="rect-196"/>
          <p:cNvSpPr/>
          <p:nvPr/>
        </p:nvSpPr>
        <p:spPr>
          <a:xfrm>
            <a:off x="991362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-197: W3"/>
          <p:cNvSpPr txBox="1"/>
          <p:nvPr/>
        </p:nvSpPr>
        <p:spPr>
          <a:xfrm>
            <a:off x="994609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97" name="text-198: C"/>
          <p:cNvSpPr txBox="1"/>
          <p:nvPr/>
        </p:nvSpPr>
        <p:spPr>
          <a:xfrm>
            <a:off x="999433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8" name="rect-199"/>
          <p:cNvSpPr/>
          <p:nvPr/>
        </p:nvSpPr>
        <p:spPr>
          <a:xfrm>
            <a:off x="1037844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-200: W4"/>
          <p:cNvSpPr txBox="1"/>
          <p:nvPr/>
        </p:nvSpPr>
        <p:spPr>
          <a:xfrm>
            <a:off x="1041091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0" name="text-201: C"/>
          <p:cNvSpPr txBox="1"/>
          <p:nvPr/>
        </p:nvSpPr>
        <p:spPr>
          <a:xfrm>
            <a:off x="1045915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1" name="rect-202"/>
          <p:cNvSpPr/>
          <p:nvPr/>
        </p:nvSpPr>
        <p:spPr>
          <a:xfrm>
            <a:off x="108432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-203: W5"/>
          <p:cNvSpPr txBox="1"/>
          <p:nvPr/>
        </p:nvSpPr>
        <p:spPr>
          <a:xfrm>
            <a:off x="108757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3" name="text-204: C"/>
          <p:cNvSpPr txBox="1"/>
          <p:nvPr/>
        </p:nvSpPr>
        <p:spPr>
          <a:xfrm>
            <a:off x="1092397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4" name="rect-205"/>
          <p:cNvSpPr/>
          <p:nvPr/>
        </p:nvSpPr>
        <p:spPr>
          <a:xfrm>
            <a:off x="113080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-206: W6"/>
          <p:cNvSpPr txBox="1"/>
          <p:nvPr/>
        </p:nvSpPr>
        <p:spPr>
          <a:xfrm>
            <a:off x="113405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06" name="text-207: C"/>
          <p:cNvSpPr txBox="1"/>
          <p:nvPr/>
        </p:nvSpPr>
        <p:spPr>
          <a:xfrm>
            <a:off x="1138879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7" name="rect-208"/>
          <p:cNvSpPr/>
          <p:nvPr/>
        </p:nvSpPr>
        <p:spPr>
          <a:xfrm>
            <a:off x="117729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-209: W7"/>
          <p:cNvSpPr txBox="1"/>
          <p:nvPr/>
        </p:nvSpPr>
        <p:spPr>
          <a:xfrm>
            <a:off x="118053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09" name="text-210: C"/>
          <p:cNvSpPr txBox="1"/>
          <p:nvPr/>
        </p:nvSpPr>
        <p:spPr>
          <a:xfrm>
            <a:off x="11853618" y="22268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0" name="text-211: 混合示例 0x0F：64 KiB SPM + 64 KiB Cache"/>
          <p:cNvSpPr txBox="1"/>
          <p:nvPr/>
        </p:nvSpPr>
        <p:spPr>
          <a:xfrm>
            <a:off x="8519160" y="2509418"/>
            <a:ext cx="3571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混合示例 0x0F：64 KiB SPM + 64 KiB Cache</a:t>
            </a:r>
          </a:p>
        </p:txBody>
      </p:sp>
      <p:sp>
        <p:nvSpPr>
          <p:cNvPr id="211" name="rect-212"/>
          <p:cNvSpPr/>
          <p:nvPr/>
        </p:nvSpPr>
        <p:spPr>
          <a:xfrm>
            <a:off x="85191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-213: W0"/>
          <p:cNvSpPr txBox="1"/>
          <p:nvPr/>
        </p:nvSpPr>
        <p:spPr>
          <a:xfrm>
            <a:off x="85516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3" name="text-214: S"/>
          <p:cNvSpPr txBox="1"/>
          <p:nvPr/>
        </p:nvSpPr>
        <p:spPr>
          <a:xfrm>
            <a:off x="8605897" y="30269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4" name="rect-215"/>
          <p:cNvSpPr/>
          <p:nvPr/>
        </p:nvSpPr>
        <p:spPr>
          <a:xfrm>
            <a:off x="89839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6: W1"/>
          <p:cNvSpPr txBox="1"/>
          <p:nvPr/>
        </p:nvSpPr>
        <p:spPr>
          <a:xfrm>
            <a:off x="90164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16" name="text-217: S"/>
          <p:cNvSpPr txBox="1"/>
          <p:nvPr/>
        </p:nvSpPr>
        <p:spPr>
          <a:xfrm>
            <a:off x="9070717" y="30269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7" name="rect-218"/>
          <p:cNvSpPr/>
          <p:nvPr/>
        </p:nvSpPr>
        <p:spPr>
          <a:xfrm>
            <a:off x="94488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-219: W2"/>
          <p:cNvSpPr txBox="1"/>
          <p:nvPr/>
        </p:nvSpPr>
        <p:spPr>
          <a:xfrm>
            <a:off x="94812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19" name="text-220: S"/>
          <p:cNvSpPr txBox="1"/>
          <p:nvPr/>
        </p:nvSpPr>
        <p:spPr>
          <a:xfrm>
            <a:off x="9535537" y="30269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0" name="rect-221"/>
          <p:cNvSpPr/>
          <p:nvPr/>
        </p:nvSpPr>
        <p:spPr>
          <a:xfrm>
            <a:off x="991362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-222: W3"/>
          <p:cNvSpPr txBox="1"/>
          <p:nvPr/>
        </p:nvSpPr>
        <p:spPr>
          <a:xfrm>
            <a:off x="994609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2" name="text-223: S"/>
          <p:cNvSpPr txBox="1"/>
          <p:nvPr/>
        </p:nvSpPr>
        <p:spPr>
          <a:xfrm>
            <a:off x="10000357" y="30269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3" name="rect-224"/>
          <p:cNvSpPr/>
          <p:nvPr/>
        </p:nvSpPr>
        <p:spPr>
          <a:xfrm>
            <a:off x="1037844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-225: W4"/>
          <p:cNvSpPr txBox="1"/>
          <p:nvPr/>
        </p:nvSpPr>
        <p:spPr>
          <a:xfrm>
            <a:off x="1041091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25" name="text-226: C"/>
          <p:cNvSpPr txBox="1"/>
          <p:nvPr/>
        </p:nvSpPr>
        <p:spPr>
          <a:xfrm>
            <a:off x="10459158" y="30269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6" name="rect-227"/>
          <p:cNvSpPr/>
          <p:nvPr/>
        </p:nvSpPr>
        <p:spPr>
          <a:xfrm>
            <a:off x="108432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-228: W5"/>
          <p:cNvSpPr txBox="1"/>
          <p:nvPr/>
        </p:nvSpPr>
        <p:spPr>
          <a:xfrm>
            <a:off x="108757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28" name="text-229: C"/>
          <p:cNvSpPr txBox="1"/>
          <p:nvPr/>
        </p:nvSpPr>
        <p:spPr>
          <a:xfrm>
            <a:off x="10923978" y="30269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9" name="rect-230"/>
          <p:cNvSpPr/>
          <p:nvPr/>
        </p:nvSpPr>
        <p:spPr>
          <a:xfrm>
            <a:off x="113080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-231: W6"/>
          <p:cNvSpPr txBox="1"/>
          <p:nvPr/>
        </p:nvSpPr>
        <p:spPr>
          <a:xfrm>
            <a:off x="113405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1" name="text-232: C"/>
          <p:cNvSpPr txBox="1"/>
          <p:nvPr/>
        </p:nvSpPr>
        <p:spPr>
          <a:xfrm>
            <a:off x="11388798" y="30269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2" name="rect-233"/>
          <p:cNvSpPr/>
          <p:nvPr/>
        </p:nvSpPr>
        <p:spPr>
          <a:xfrm>
            <a:off x="117729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-234: W7"/>
          <p:cNvSpPr txBox="1"/>
          <p:nvPr/>
        </p:nvSpPr>
        <p:spPr>
          <a:xfrm>
            <a:off x="118053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4" name="text-235: C"/>
          <p:cNvSpPr txBox="1"/>
          <p:nvPr/>
        </p:nvSpPr>
        <p:spPr>
          <a:xfrm>
            <a:off x="11853618" y="3026969"/>
            <a:ext cx="28052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5" name="text-236: 启动全 SPM 0xFF：128 KiB SPM"/>
          <p:cNvSpPr txBox="1"/>
          <p:nvPr/>
        </p:nvSpPr>
        <p:spPr>
          <a:xfrm>
            <a:off x="8519160" y="3309518"/>
            <a:ext cx="26572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启动全 SPM 0xFF：128 KiB SPM</a:t>
            </a:r>
          </a:p>
        </p:txBody>
      </p:sp>
      <p:sp>
        <p:nvSpPr>
          <p:cNvPr id="236" name="rect-237"/>
          <p:cNvSpPr/>
          <p:nvPr/>
        </p:nvSpPr>
        <p:spPr>
          <a:xfrm>
            <a:off x="85191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-238: W0"/>
          <p:cNvSpPr txBox="1"/>
          <p:nvPr/>
        </p:nvSpPr>
        <p:spPr>
          <a:xfrm>
            <a:off x="85516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38" name="text-239: S"/>
          <p:cNvSpPr txBox="1"/>
          <p:nvPr/>
        </p:nvSpPr>
        <p:spPr>
          <a:xfrm>
            <a:off x="860589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39" name="rect-240"/>
          <p:cNvSpPr/>
          <p:nvPr/>
        </p:nvSpPr>
        <p:spPr>
          <a:xfrm>
            <a:off x="89839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-241: W1"/>
          <p:cNvSpPr txBox="1"/>
          <p:nvPr/>
        </p:nvSpPr>
        <p:spPr>
          <a:xfrm>
            <a:off x="90164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1" name="text-242: S"/>
          <p:cNvSpPr txBox="1"/>
          <p:nvPr/>
        </p:nvSpPr>
        <p:spPr>
          <a:xfrm>
            <a:off x="907071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2" name="rect-243"/>
          <p:cNvSpPr/>
          <p:nvPr/>
        </p:nvSpPr>
        <p:spPr>
          <a:xfrm>
            <a:off x="94488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-244: W2"/>
          <p:cNvSpPr txBox="1"/>
          <p:nvPr/>
        </p:nvSpPr>
        <p:spPr>
          <a:xfrm>
            <a:off x="94812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4" name="text-245: S"/>
          <p:cNvSpPr txBox="1"/>
          <p:nvPr/>
        </p:nvSpPr>
        <p:spPr>
          <a:xfrm>
            <a:off x="953553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5" name="rect-246"/>
          <p:cNvSpPr/>
          <p:nvPr/>
        </p:nvSpPr>
        <p:spPr>
          <a:xfrm>
            <a:off x="991362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-247: W3"/>
          <p:cNvSpPr txBox="1"/>
          <p:nvPr/>
        </p:nvSpPr>
        <p:spPr>
          <a:xfrm>
            <a:off x="994609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47" name="text-248: S"/>
          <p:cNvSpPr txBox="1"/>
          <p:nvPr/>
        </p:nvSpPr>
        <p:spPr>
          <a:xfrm>
            <a:off x="1000035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8" name="rect-249"/>
          <p:cNvSpPr/>
          <p:nvPr/>
        </p:nvSpPr>
        <p:spPr>
          <a:xfrm>
            <a:off x="1037844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text-250: W4"/>
          <p:cNvSpPr txBox="1"/>
          <p:nvPr/>
        </p:nvSpPr>
        <p:spPr>
          <a:xfrm>
            <a:off x="1041091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0" name="text-251: S"/>
          <p:cNvSpPr txBox="1"/>
          <p:nvPr/>
        </p:nvSpPr>
        <p:spPr>
          <a:xfrm>
            <a:off x="1046517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1" name="rect-252"/>
          <p:cNvSpPr/>
          <p:nvPr/>
        </p:nvSpPr>
        <p:spPr>
          <a:xfrm>
            <a:off x="108432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-253: W5"/>
          <p:cNvSpPr txBox="1"/>
          <p:nvPr/>
        </p:nvSpPr>
        <p:spPr>
          <a:xfrm>
            <a:off x="108757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3" name="text-254: S"/>
          <p:cNvSpPr txBox="1"/>
          <p:nvPr/>
        </p:nvSpPr>
        <p:spPr>
          <a:xfrm>
            <a:off x="1092999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4" name="rect-255"/>
          <p:cNvSpPr/>
          <p:nvPr/>
        </p:nvSpPr>
        <p:spPr>
          <a:xfrm>
            <a:off x="113080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-256: W6"/>
          <p:cNvSpPr txBox="1"/>
          <p:nvPr/>
        </p:nvSpPr>
        <p:spPr>
          <a:xfrm>
            <a:off x="113405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56" name="text-257: S"/>
          <p:cNvSpPr txBox="1"/>
          <p:nvPr/>
        </p:nvSpPr>
        <p:spPr>
          <a:xfrm>
            <a:off x="1139481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7" name="rect-258"/>
          <p:cNvSpPr/>
          <p:nvPr/>
        </p:nvSpPr>
        <p:spPr>
          <a:xfrm>
            <a:off x="117729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-259: W7"/>
          <p:cNvSpPr txBox="1"/>
          <p:nvPr/>
        </p:nvSpPr>
        <p:spPr>
          <a:xfrm>
            <a:off x="118053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59" name="text-260: S"/>
          <p:cNvSpPr txBox="1"/>
          <p:nvPr/>
        </p:nvSpPr>
        <p:spPr>
          <a:xfrm>
            <a:off x="11859637" y="3827069"/>
            <a:ext cx="268486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0" name="text-261: 全 SPM：DDR 访问走旁路，SPM 访问留在阵列"/>
          <p:cNvSpPr txBox="1"/>
          <p:nvPr/>
        </p:nvSpPr>
        <p:spPr>
          <a:xfrm>
            <a:off x="8519160" y="4065727"/>
            <a:ext cx="307186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全 SPM：DDR 访问走旁路，SPM 访问留在阵列</a:t>
            </a:r>
          </a:p>
        </p:txBody>
      </p:sp>
      <p:sp>
        <p:nvSpPr>
          <p:cNvPr id="261" name="text-262: SPM 固定映射：base + way × 0x4000"/>
          <p:cNvSpPr txBox="1"/>
          <p:nvPr/>
        </p:nvSpPr>
        <p:spPr>
          <a:xfrm>
            <a:off x="8519160" y="4261409"/>
            <a:ext cx="323183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2" name="text-263: Way 2：0x10008000–0x1000BFFF"/>
          <p:cNvSpPr txBox="1"/>
          <p:nvPr/>
        </p:nvSpPr>
        <p:spPr>
          <a:xfrm>
            <a:off x="8519160" y="4460138"/>
            <a:ext cx="270870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3" name="text-264: 地址 0x10008AAB → Way 2 / 组 42"/>
          <p:cNvSpPr txBox="1"/>
          <p:nvPr/>
        </p:nvSpPr>
        <p:spPr>
          <a:xfrm>
            <a:off x="8519160" y="4696358"/>
            <a:ext cx="27808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 0x10008AAB → Way 2 / 组 42</a:t>
            </a:r>
          </a:p>
        </p:txBody>
      </p:sp>
      <p:sp>
        <p:nvSpPr>
          <p:cNvPr id="264" name="text-265: 块 5 / 字节 3；直接寻址，不比较 Tag"/>
          <p:cNvSpPr txBox="1"/>
          <p:nvPr/>
        </p:nvSpPr>
        <p:spPr>
          <a:xfrm>
            <a:off x="8519160" y="4924958"/>
            <a:ext cx="283731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块 5 / 字节 3；直接寻址，不比较 Tag</a:t>
            </a:r>
          </a:p>
        </p:txBody>
      </p:sp>
      <p:sp>
        <p:nvSpPr>
          <p:cNvPr id="265" name="text-266: 未设为 SPM 的 way，其 SPM 槽访问报错"/>
          <p:cNvSpPr txBox="1"/>
          <p:nvPr/>
        </p:nvSpPr>
        <p:spPr>
          <a:xfrm>
            <a:off x="8519160" y="5199888"/>
            <a:ext cx="2999732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未设为 SPM 的 way，其 SPM 槽访问报错</a:t>
            </a:r>
          </a:p>
        </p:txBody>
      </p:sp>
      <p:sp>
        <p:nvSpPr>
          <p:cNvPr id="266" name="text-267: 用途改变不压缩地址槽；不是新增加一块 RAM"/>
          <p:cNvSpPr txBox="1"/>
          <p:nvPr/>
        </p:nvSpPr>
        <p:spPr>
          <a:xfrm>
            <a:off x="8519160" y="5428488"/>
            <a:ext cx="3296317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用途改变不压缩地址槽；不是新增加一块 RAM</a:t>
            </a:r>
          </a:p>
        </p:txBody>
      </p:sp>
      <p:sp>
        <p:nvSpPr>
          <p:cNvPr id="267" name="rect-268"/>
          <p:cNvSpPr/>
          <p:nvPr/>
        </p:nvSpPr>
        <p:spPr>
          <a:xfrm>
            <a:off x="304800" y="6057900"/>
            <a:ext cx="12192000" cy="1851660"/>
          </a:xfrm>
          <a:prstGeom prst="roundRect">
            <a:avLst>
              <a:gd name="adj" fmla="val 5761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-269: ③ 转换控制：软件提出目标位图，LLC 硬件协调提交与所需刷新"/>
          <p:cNvSpPr txBox="1"/>
          <p:nvPr/>
        </p:nvSpPr>
        <p:spPr>
          <a:xfrm>
            <a:off x="518160" y="6139891"/>
            <a:ext cx="6258913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转换控制：软件提出目标位图，LLC 硬件协调提交与所需刷新</a:t>
            </a:r>
          </a:p>
        </p:txBody>
      </p:sp>
      <p:sp>
        <p:nvSpPr>
          <p:cNvPr id="269" name="rect-270"/>
          <p:cNvSpPr/>
          <p:nvPr/>
        </p:nvSpPr>
        <p:spPr>
          <a:xfrm>
            <a:off x="533400" y="6606540"/>
            <a:ext cx="2095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-271: 停止相关访问"/>
          <p:cNvSpPr txBox="1"/>
          <p:nvPr/>
        </p:nvSpPr>
        <p:spPr>
          <a:xfrm>
            <a:off x="994410" y="6646469"/>
            <a:ext cx="117348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1" name="text-272: 迁移代码 / 栈 / 保留数据"/>
          <p:cNvSpPr txBox="1"/>
          <p:nvPr/>
        </p:nvSpPr>
        <p:spPr>
          <a:xfrm>
            <a:off x="617982" y="6868058"/>
            <a:ext cx="19263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2" name="text-273: 协调缓冲与在途事务"/>
          <p:cNvSpPr txBox="1"/>
          <p:nvPr/>
        </p:nvSpPr>
        <p:spPr>
          <a:xfrm>
            <a:off x="781050" y="708141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3" name="line-274"/>
          <p:cNvCxnSpPr/>
          <p:nvPr/>
        </p:nvCxnSpPr>
        <p:spPr>
          <a:xfrm>
            <a:off x="2628900" y="69951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4" name="rect-276"/>
          <p:cNvSpPr/>
          <p:nvPr/>
        </p:nvSpPr>
        <p:spPr>
          <a:xfrm>
            <a:off x="2971800" y="6606540"/>
            <a:ext cx="1714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-277: 写 CFG_SPM"/>
          <p:cNvSpPr txBox="1"/>
          <p:nvPr/>
        </p:nvSpPr>
        <p:spPr>
          <a:xfrm>
            <a:off x="3239810" y="6646469"/>
            <a:ext cx="117848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6" name="text-278: 1 → SPM；0 → Cache"/>
          <p:cNvSpPr txBox="1"/>
          <p:nvPr/>
        </p:nvSpPr>
        <p:spPr>
          <a:xfrm>
            <a:off x="2914620" y="6868058"/>
            <a:ext cx="18288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 → SPM；0 → Cache</a:t>
            </a:r>
          </a:p>
        </p:txBody>
      </p:sp>
      <p:cxnSp>
        <p:nvCxnSpPr>
          <p:cNvPr id="277" name="line-279"/>
          <p:cNvCxnSpPr/>
          <p:nvPr/>
        </p:nvCxnSpPr>
        <p:spPr>
          <a:xfrm>
            <a:off x="4686300" y="69951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78" name="rect-281"/>
          <p:cNvSpPr/>
          <p:nvPr/>
        </p:nvSpPr>
        <p:spPr>
          <a:xfrm>
            <a:off x="5029200" y="6606540"/>
            <a:ext cx="18288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text-282: 写 COMMIT = 1"/>
          <p:cNvSpPr txBox="1"/>
          <p:nvPr/>
        </p:nvSpPr>
        <p:spPr>
          <a:xfrm>
            <a:off x="5208693" y="6646469"/>
            <a:ext cx="146981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0" name="text-283: 发起配置提交"/>
          <p:cNvSpPr txBox="1"/>
          <p:nvPr/>
        </p:nvSpPr>
        <p:spPr>
          <a:xfrm>
            <a:off x="5383530" y="686805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1" name="line-284"/>
          <p:cNvCxnSpPr/>
          <p:nvPr/>
        </p:nvCxnSpPr>
        <p:spPr>
          <a:xfrm>
            <a:off x="6858000" y="69951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2" name="rect-286"/>
          <p:cNvSpPr/>
          <p:nvPr/>
        </p:nvSpPr>
        <p:spPr>
          <a:xfrm>
            <a:off x="7200900" y="6606540"/>
            <a:ext cx="24384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-287: LLC 配置 FSM"/>
          <p:cNvSpPr txBox="1"/>
          <p:nvPr/>
        </p:nvSpPr>
        <p:spPr>
          <a:xfrm>
            <a:off x="7790503" y="6646469"/>
            <a:ext cx="125919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4" name="text-288: 等待 / 协调已有请求"/>
          <p:cNvSpPr txBox="1"/>
          <p:nvPr/>
        </p:nvSpPr>
        <p:spPr>
          <a:xfrm>
            <a:off x="7618476" y="6868058"/>
            <a:ext cx="16032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 / 协调已有请求</a:t>
            </a:r>
          </a:p>
        </p:txBody>
      </p:sp>
      <p:sp>
        <p:nvSpPr>
          <p:cNvPr id="285" name="text-289: 必要的 flush / Dirty 回写"/>
          <p:cNvSpPr txBox="1"/>
          <p:nvPr/>
        </p:nvSpPr>
        <p:spPr>
          <a:xfrm>
            <a:off x="7439073" y="7081418"/>
            <a:ext cx="19620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必要的 flush / Dirty 回写</a:t>
            </a:r>
          </a:p>
        </p:txBody>
      </p:sp>
      <p:cxnSp>
        <p:nvCxnSpPr>
          <p:cNvPr id="286" name="line-290"/>
          <p:cNvCxnSpPr/>
          <p:nvPr/>
        </p:nvCxnSpPr>
        <p:spPr>
          <a:xfrm>
            <a:off x="9639300" y="6995160"/>
            <a:ext cx="342900" cy="0"/>
          </a:xfrm>
          <a:prstGeom prst="line">
            <a:avLst/>
          </a:prstGeom>
          <a:ln w="22860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287" name="rect-292"/>
          <p:cNvSpPr/>
          <p:nvPr/>
        </p:nvSpPr>
        <p:spPr>
          <a:xfrm>
            <a:off x="9982200" y="6606540"/>
            <a:ext cx="2209800" cy="784860"/>
          </a:xfrm>
          <a:prstGeom prst="roundRect">
            <a:avLst>
              <a:gd name="adj" fmla="val 9708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-293: 按寄存器契约确认完成"/>
          <p:cNvSpPr txBox="1"/>
          <p:nvPr/>
        </p:nvSpPr>
        <p:spPr>
          <a:xfrm>
            <a:off x="10165080" y="6646469"/>
            <a:ext cx="184404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89" name="text-294: 恢复对新用途的访问"/>
          <p:cNvSpPr txBox="1"/>
          <p:nvPr/>
        </p:nvSpPr>
        <p:spPr>
          <a:xfrm>
            <a:off x="10287000" y="686805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0" name="text-295: SPM → Cache 前保存所需内容；转换不会自动把数据复制到另一块 RAM，"/>
          <p:cNvSpPr txBox="1"/>
          <p:nvPr/>
        </p:nvSpPr>
        <p:spPr>
          <a:xfrm>
            <a:off x="518160" y="7508138"/>
            <a:ext cx="805660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SPM → Cache 前保存所需内容；转换不会自动把数据复制到另一块 RAM，原 SPM 内容将失去固定驻留保证。</a:t>
            </a:r>
          </a:p>
        </p:txBody>
      </p:sp>
      <p:sp>
        <p:nvSpPr>
          <p:cNvPr id="291" name="text-296: 注意：SPM 绕过的是 LLC Tag 管理，不等于 CPU L1 一定不缓存；"/>
          <p:cNvSpPr txBox="1"/>
          <p:nvPr/>
        </p:nvSpPr>
        <p:spPr>
          <a:xfrm>
            <a:off x="304800" y="8004048"/>
            <a:ext cx="7393698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注意：SPM 绕过的是 LLC Tag 管理，不等于 CPU L1 一定不缓存；0x14000000 别名映射同一 SPM 阵列。</a:t>
            </a:r>
          </a:p>
        </p:txBody>
      </p:sp>
      <p:sp>
        <p:nvSpPr>
          <p:cNvPr id="292" name="text-297: 依据：cheshire_pkg / cheshire_soc；axi_llc_b"/>
          <p:cNvSpPr txBox="1"/>
          <p:nvPr/>
        </p:nvSpPr>
        <p:spPr>
          <a:xfrm>
            <a:off x="304800" y="8272577"/>
            <a:ext cx="848875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依据：cheshire_pkg / cheshire_soc；axi_llc_burst_cutter / hit_miss / config；Boot ROM · HEAD 278434024 · 2026-10-10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