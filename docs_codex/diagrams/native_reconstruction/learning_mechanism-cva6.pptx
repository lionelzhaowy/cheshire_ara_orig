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polyline-005"/>
          <p:cNvSpPr/>
          <p:nvPr/>
        </p:nvSpPr>
        <p:spPr>
          <a:xfrm>
            <a:off x="3840480" y="21336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7"/>
          <p:cNvSpPr/>
          <p:nvPr/>
        </p:nvSpPr>
        <p:spPr>
          <a:xfrm>
            <a:off x="8107680" y="21336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8534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9"/>
          <p:cNvSpPr/>
          <p:nvPr/>
        </p:nvSpPr>
        <p:spPr>
          <a:xfrm>
            <a:off x="1649984" y="2702560"/>
            <a:ext cx="4750816" cy="889000"/>
          </a:xfrm>
          <a:custGeom>
            <a:avLst/>
            <a:gdLst/>
            <a:ahLst/>
            <a:cxnLst/>
            <a:rect l="0" t="0" r="r" b="b"/>
            <a:pathLst>
              <a:path w="4750816" h="889000" fill="none">
                <a:moveTo>
                  <a:pt x="4750816" y="0"/>
                </a:moveTo>
                <a:lnTo>
                  <a:pt x="4750816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1"/>
          <p:cNvSpPr/>
          <p:nvPr/>
        </p:nvSpPr>
        <p:spPr>
          <a:xfrm>
            <a:off x="4814824" y="2702560"/>
            <a:ext cx="1585976" cy="889000"/>
          </a:xfrm>
          <a:custGeom>
            <a:avLst/>
            <a:gdLst/>
            <a:ahLst/>
            <a:cxnLst/>
            <a:rect l="0" t="0" r="r" b="b"/>
            <a:pathLst>
              <a:path w="1585976" h="889000" fill="none">
                <a:moveTo>
                  <a:pt x="1585976" y="0"/>
                </a:moveTo>
                <a:lnTo>
                  <a:pt x="1585976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3"/>
          <p:cNvSpPr/>
          <p:nvPr/>
        </p:nvSpPr>
        <p:spPr>
          <a:xfrm>
            <a:off x="6400800" y="2702560"/>
            <a:ext cx="1578864" cy="889000"/>
          </a:xfrm>
          <a:custGeom>
            <a:avLst/>
            <a:gdLst/>
            <a:ahLst/>
            <a:cxnLst/>
            <a:rect l="0" t="0" r="r" b="b"/>
            <a:pathLst>
              <a:path w="1578864" h="889000" fill="none">
                <a:moveTo>
                  <a:pt x="0" y="0"/>
                </a:moveTo>
                <a:lnTo>
                  <a:pt x="0" y="462280"/>
                </a:lnTo>
                <a:lnTo>
                  <a:pt x="1578864" y="462280"/>
                </a:lnTo>
                <a:lnTo>
                  <a:pt x="1578864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5"/>
          <p:cNvSpPr/>
          <p:nvPr/>
        </p:nvSpPr>
        <p:spPr>
          <a:xfrm>
            <a:off x="6400800" y="2702560"/>
            <a:ext cx="4743704" cy="889000"/>
          </a:xfrm>
          <a:custGeom>
            <a:avLst/>
            <a:gdLst/>
            <a:ahLst/>
            <a:cxnLst/>
            <a:rect l="0" t="0" r="r" b="b"/>
            <a:pathLst>
              <a:path w="4743704" h="889000" fill="none">
                <a:moveTo>
                  <a:pt x="0" y="0"/>
                </a:moveTo>
                <a:lnTo>
                  <a:pt x="0" y="462280"/>
                </a:lnTo>
                <a:lnTo>
                  <a:pt x="4743704" y="462280"/>
                </a:lnTo>
                <a:lnTo>
                  <a:pt x="4743704" y="88900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7"/>
          <p:cNvSpPr/>
          <p:nvPr/>
        </p:nvSpPr>
        <p:spPr>
          <a:xfrm>
            <a:off x="1649984" y="4765040"/>
            <a:ext cx="4750816" cy="960120"/>
          </a:xfrm>
          <a:custGeom>
            <a:avLst/>
            <a:gdLst/>
            <a:ahLst/>
            <a:cxnLst/>
            <a:rect l="0" t="0" r="r" b="b"/>
            <a:pathLst>
              <a:path w="4750816" h="960120" fill="none">
                <a:moveTo>
                  <a:pt x="0" y="0"/>
                </a:moveTo>
                <a:lnTo>
                  <a:pt x="0" y="497840"/>
                </a:lnTo>
                <a:lnTo>
                  <a:pt x="4750816" y="497840"/>
                </a:lnTo>
                <a:lnTo>
                  <a:pt x="4750816" y="9601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9"/>
          <p:cNvSpPr/>
          <p:nvPr/>
        </p:nvSpPr>
        <p:spPr>
          <a:xfrm>
            <a:off x="4814824" y="4765040"/>
            <a:ext cx="1585976" cy="960120"/>
          </a:xfrm>
          <a:custGeom>
            <a:avLst/>
            <a:gdLst/>
            <a:ahLst/>
            <a:cxnLst/>
            <a:rect l="0" t="0" r="r" b="b"/>
            <a:pathLst>
              <a:path w="1585976" h="960120" fill="none">
                <a:moveTo>
                  <a:pt x="0" y="0"/>
                </a:moveTo>
                <a:lnTo>
                  <a:pt x="0" y="497840"/>
                </a:lnTo>
                <a:lnTo>
                  <a:pt x="1585976" y="497840"/>
                </a:lnTo>
                <a:lnTo>
                  <a:pt x="1585976" y="9601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21"/>
          <p:cNvSpPr/>
          <p:nvPr/>
        </p:nvSpPr>
        <p:spPr>
          <a:xfrm>
            <a:off x="6400800" y="4765040"/>
            <a:ext cx="1578864" cy="960120"/>
          </a:xfrm>
          <a:custGeom>
            <a:avLst/>
            <a:gdLst/>
            <a:ahLst/>
            <a:cxnLst/>
            <a:rect l="0" t="0" r="r" b="b"/>
            <a:pathLst>
              <a:path w="1578864" h="960120" fill="none">
                <a:moveTo>
                  <a:pt x="1578864" y="0"/>
                </a:moveTo>
                <a:lnTo>
                  <a:pt x="1578864" y="497840"/>
                </a:lnTo>
                <a:lnTo>
                  <a:pt x="0" y="497840"/>
                </a:lnTo>
                <a:lnTo>
                  <a:pt x="0" y="9601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23"/>
          <p:cNvSpPr/>
          <p:nvPr/>
        </p:nvSpPr>
        <p:spPr>
          <a:xfrm>
            <a:off x="6400800" y="4765040"/>
            <a:ext cx="4743704" cy="960120"/>
          </a:xfrm>
          <a:custGeom>
            <a:avLst/>
            <a:gdLst/>
            <a:ahLst/>
            <a:cxnLst/>
            <a:rect l="0" t="0" r="r" b="b"/>
            <a:pathLst>
              <a:path w="4743704" h="960120" fill="none">
                <a:moveTo>
                  <a:pt x="4743704" y="0"/>
                </a:moveTo>
                <a:lnTo>
                  <a:pt x="4743704" y="497840"/>
                </a:lnTo>
                <a:lnTo>
                  <a:pt x="0" y="497840"/>
                </a:lnTo>
                <a:lnTo>
                  <a:pt x="0" y="960120"/>
                </a:lnTo>
              </a:path>
            </a:pathLst>
          </a:custGeom>
          <a:noFill/>
          <a:ln w="21336" cap="flat">
            <a:solidFill>
              <a:srgbClr val="087E8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25: CVA6 功能层次：发射、执行、提交与系统接口"/>
          <p:cNvSpPr txBox="1"/>
          <p:nvPr/>
        </p:nvSpPr>
        <p:spPr>
          <a:xfrm>
            <a:off x="483616" y="271109"/>
            <a:ext cx="569671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CVA6 功能层次：发射、执行、提交与系统接口</a:t>
            </a:r>
          </a:p>
        </p:txBody>
      </p:sp>
      <p:sp>
        <p:nvSpPr>
          <p:cNvPr id="16" name="text-026: 以职责和接口组织；不展开每一级流水线电路，也不把图中连线当成精确时序。"/>
          <p:cNvSpPr txBox="1"/>
          <p:nvPr/>
        </p:nvSpPr>
        <p:spPr>
          <a:xfrm>
            <a:off x="483616" y="676778"/>
            <a:ext cx="58887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以职责和接口组织；不展开每一级流水线电路，也不把图中连线当成精确时序。</a:t>
            </a:r>
          </a:p>
        </p:txBody>
      </p:sp>
      <p:sp>
        <p:nvSpPr>
          <p:cNvPr id="17" name="text-027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8" name="text-028: 源码：core/cva6.sv / issue_stage.sv / ex_st"/>
          <p:cNvSpPr txBox="1"/>
          <p:nvPr/>
        </p:nvSpPr>
        <p:spPr>
          <a:xfrm>
            <a:off x="341376" y="7726477"/>
            <a:ext cx="620877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源码：core/cva6.sv / issue_stage.sv / ex_stage.sv / commit_stage.sv</a:t>
            </a:r>
          </a:p>
        </p:txBody>
      </p:sp>
      <p:sp>
        <p:nvSpPr>
          <p:cNvPr id="19" name="rect-029"/>
          <p:cNvSpPr/>
          <p:nvPr/>
        </p:nvSpPr>
        <p:spPr>
          <a:xfrm>
            <a:off x="426720" y="15646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30"/>
          <p:cNvSpPr/>
          <p:nvPr/>
        </p:nvSpPr>
        <p:spPr>
          <a:xfrm>
            <a:off x="426720" y="156464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31: 取指前端 / Icache"/>
          <p:cNvSpPr txBox="1"/>
          <p:nvPr/>
        </p:nvSpPr>
        <p:spPr>
          <a:xfrm>
            <a:off x="547624" y="1592519"/>
            <a:ext cx="200629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取指前端 / Icache</a:t>
            </a:r>
          </a:p>
        </p:txBody>
      </p:sp>
      <p:sp>
        <p:nvSpPr>
          <p:cNvPr id="22" name="text-032: PC 与指令流"/>
          <p:cNvSpPr txBox="1"/>
          <p:nvPr/>
        </p:nvSpPr>
        <p:spPr>
          <a:xfrm>
            <a:off x="547624" y="1863913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PC 与指令流</a:t>
            </a:r>
          </a:p>
        </p:txBody>
      </p:sp>
      <p:sp>
        <p:nvSpPr>
          <p:cNvPr id="23" name="text-033: RAS / BTB / BHT 分支预测"/>
          <p:cNvSpPr txBox="1"/>
          <p:nvPr/>
        </p:nvSpPr>
        <p:spPr>
          <a:xfrm>
            <a:off x="547624" y="2077273"/>
            <a:ext cx="26285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RAS / BTB / BHT 分支预测</a:t>
            </a:r>
          </a:p>
        </p:txBody>
      </p:sp>
      <p:sp>
        <p:nvSpPr>
          <p:cNvPr id="24" name="rect-034"/>
          <p:cNvSpPr/>
          <p:nvPr/>
        </p:nvSpPr>
        <p:spPr>
          <a:xfrm>
            <a:off x="4693920" y="15646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35"/>
          <p:cNvSpPr/>
          <p:nvPr/>
        </p:nvSpPr>
        <p:spPr>
          <a:xfrm>
            <a:off x="4693920" y="15646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36: 译码 / 发射 / scoreboard"/>
          <p:cNvSpPr txBox="1"/>
          <p:nvPr/>
        </p:nvSpPr>
        <p:spPr>
          <a:xfrm>
            <a:off x="4814824" y="1592519"/>
            <a:ext cx="28476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译码 / 发射 / scoreboard</a:t>
            </a:r>
          </a:p>
        </p:txBody>
      </p:sp>
      <p:sp>
        <p:nvSpPr>
          <p:cNvPr id="27" name="text-037: 操作数、依赖与资源检查"/>
          <p:cNvSpPr txBox="1"/>
          <p:nvPr/>
        </p:nvSpPr>
        <p:spPr>
          <a:xfrm>
            <a:off x="4814824" y="186391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操作数、依赖与资源检查</a:t>
            </a:r>
          </a:p>
        </p:txBody>
      </p:sp>
      <p:sp>
        <p:nvSpPr>
          <p:cNvPr id="28" name="text-038: 未完成指令与 trans_id 跟踪"/>
          <p:cNvSpPr txBox="1"/>
          <p:nvPr/>
        </p:nvSpPr>
        <p:spPr>
          <a:xfrm>
            <a:off x="4814824" y="2077273"/>
            <a:ext cx="26456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未完成指令与 trans_id 跟踪</a:t>
            </a:r>
          </a:p>
        </p:txBody>
      </p:sp>
      <p:sp>
        <p:nvSpPr>
          <p:cNvPr id="29" name="rect-039"/>
          <p:cNvSpPr/>
          <p:nvPr/>
        </p:nvSpPr>
        <p:spPr>
          <a:xfrm>
            <a:off x="8961120" y="15646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40"/>
          <p:cNvSpPr/>
          <p:nvPr/>
        </p:nvSpPr>
        <p:spPr>
          <a:xfrm>
            <a:off x="8961120" y="1564640"/>
            <a:ext cx="35560" cy="1137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41: CSR / trap 控制"/>
          <p:cNvSpPr txBox="1"/>
          <p:nvPr/>
        </p:nvSpPr>
        <p:spPr>
          <a:xfrm>
            <a:off x="9082024" y="1592519"/>
            <a:ext cx="18768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CSR / trap 控制</a:t>
            </a:r>
          </a:p>
        </p:txBody>
      </p:sp>
      <p:sp>
        <p:nvSpPr>
          <p:cNvPr id="32" name="text-042: 特权级、异常与中断"/>
          <p:cNvSpPr txBox="1"/>
          <p:nvPr/>
        </p:nvSpPr>
        <p:spPr>
          <a:xfrm>
            <a:off x="9082024" y="186391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特权级、异常与中断</a:t>
            </a:r>
          </a:p>
        </p:txBody>
      </p:sp>
      <p:sp>
        <p:nvSpPr>
          <p:cNvPr id="33" name="text-043: FS / VS 等运行时状态"/>
          <p:cNvSpPr txBox="1"/>
          <p:nvPr/>
        </p:nvSpPr>
        <p:spPr>
          <a:xfrm>
            <a:off x="9082024" y="2077273"/>
            <a:ext cx="20823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FS / VS 等运行时状态</a:t>
            </a:r>
          </a:p>
        </p:txBody>
      </p:sp>
      <p:sp>
        <p:nvSpPr>
          <p:cNvPr id="34" name="rect-044"/>
          <p:cNvSpPr/>
          <p:nvPr/>
        </p:nvSpPr>
        <p:spPr>
          <a:xfrm>
            <a:off x="42672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45"/>
          <p:cNvSpPr/>
          <p:nvPr/>
        </p:nvSpPr>
        <p:spPr>
          <a:xfrm>
            <a:off x="426720" y="359156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46: 整数 / 分支"/>
          <p:cNvSpPr txBox="1"/>
          <p:nvPr/>
        </p:nvSpPr>
        <p:spPr>
          <a:xfrm>
            <a:off x="547624" y="3619439"/>
            <a:ext cx="12851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整数 / 分支</a:t>
            </a:r>
          </a:p>
        </p:txBody>
      </p:sp>
      <p:sp>
        <p:nvSpPr>
          <p:cNvPr id="37" name="text-047: 地址与标量计算"/>
          <p:cNvSpPr txBox="1"/>
          <p:nvPr/>
        </p:nvSpPr>
        <p:spPr>
          <a:xfrm>
            <a:off x="547624" y="38908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地址与标量计算</a:t>
            </a:r>
          </a:p>
        </p:txBody>
      </p:sp>
      <p:sp>
        <p:nvSpPr>
          <p:cNvPr id="38" name="text-048: 分支结果与控制流"/>
          <p:cNvSpPr txBox="1"/>
          <p:nvPr/>
        </p:nvSpPr>
        <p:spPr>
          <a:xfrm>
            <a:off x="547624" y="41041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分支结果与控制流</a:t>
            </a:r>
          </a:p>
        </p:txBody>
      </p:sp>
      <p:sp>
        <p:nvSpPr>
          <p:cNvPr id="39" name="rect-049"/>
          <p:cNvSpPr/>
          <p:nvPr/>
        </p:nvSpPr>
        <p:spPr>
          <a:xfrm>
            <a:off x="359156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50"/>
          <p:cNvSpPr/>
          <p:nvPr/>
        </p:nvSpPr>
        <p:spPr>
          <a:xfrm>
            <a:off x="3591560" y="35915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51: 标量 FPU"/>
          <p:cNvSpPr txBox="1"/>
          <p:nvPr/>
        </p:nvSpPr>
        <p:spPr>
          <a:xfrm>
            <a:off x="3712464" y="3619439"/>
            <a:ext cx="10355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标量 FPU</a:t>
            </a:r>
          </a:p>
        </p:txBody>
      </p:sp>
      <p:sp>
        <p:nvSpPr>
          <p:cNvPr id="42" name="text-052: 浮点计算 / fflags"/>
          <p:cNvSpPr txBox="1"/>
          <p:nvPr/>
        </p:nvSpPr>
        <p:spPr>
          <a:xfrm>
            <a:off x="3712464" y="3890833"/>
            <a:ext cx="18519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浮点计算 / fflags</a:t>
            </a:r>
          </a:p>
        </p:txBody>
      </p:sp>
      <p:sp>
        <p:nvSpPr>
          <p:cNvPr id="43" name="text-053: 使用前正确设置 FS"/>
          <p:cNvSpPr txBox="1"/>
          <p:nvPr/>
        </p:nvSpPr>
        <p:spPr>
          <a:xfrm>
            <a:off x="3712464" y="4104193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使用前正确设置 FS</a:t>
            </a:r>
          </a:p>
        </p:txBody>
      </p:sp>
      <p:sp>
        <p:nvSpPr>
          <p:cNvPr id="44" name="rect-054"/>
          <p:cNvSpPr/>
          <p:nvPr/>
        </p:nvSpPr>
        <p:spPr>
          <a:xfrm>
            <a:off x="675640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55"/>
          <p:cNvSpPr/>
          <p:nvPr/>
        </p:nvSpPr>
        <p:spPr>
          <a:xfrm>
            <a:off x="6756400" y="359156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56: 标量 load / store"/>
          <p:cNvSpPr txBox="1"/>
          <p:nvPr/>
        </p:nvSpPr>
        <p:spPr>
          <a:xfrm>
            <a:off x="6877304" y="3619439"/>
            <a:ext cx="211724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标量 load / store</a:t>
            </a:r>
          </a:p>
        </p:txBody>
      </p:sp>
      <p:sp>
        <p:nvSpPr>
          <p:cNvPr id="47" name="text-057: MMU / PMP / Dcache"/>
          <p:cNvSpPr txBox="1"/>
          <p:nvPr/>
        </p:nvSpPr>
        <p:spPr>
          <a:xfrm>
            <a:off x="6877304" y="3890833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MMU / PMP / Dcache</a:t>
            </a:r>
          </a:p>
        </p:txBody>
      </p:sp>
      <p:sp>
        <p:nvSpPr>
          <p:cNvPr id="48" name="text-058: 地址权限与数据返回"/>
          <p:cNvSpPr txBox="1"/>
          <p:nvPr/>
        </p:nvSpPr>
        <p:spPr>
          <a:xfrm>
            <a:off x="6877304" y="410419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地址权限与数据返回</a:t>
            </a:r>
          </a:p>
        </p:txBody>
      </p:sp>
      <p:sp>
        <p:nvSpPr>
          <p:cNvPr id="49" name="rect-059"/>
          <p:cNvSpPr/>
          <p:nvPr/>
        </p:nvSpPr>
        <p:spPr>
          <a:xfrm>
            <a:off x="992124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60"/>
          <p:cNvSpPr/>
          <p:nvPr/>
        </p:nvSpPr>
        <p:spPr>
          <a:xfrm>
            <a:off x="9921240" y="3591560"/>
            <a:ext cx="35560" cy="11734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61: Ara 专用接口"/>
          <p:cNvSpPr txBox="1"/>
          <p:nvPr/>
        </p:nvSpPr>
        <p:spPr>
          <a:xfrm>
            <a:off x="10042144" y="3619439"/>
            <a:ext cx="14053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专用接口</a:t>
            </a:r>
          </a:p>
        </p:txBody>
      </p:sp>
      <p:sp>
        <p:nvSpPr>
          <p:cNvPr id="52" name="text-062: 请求 / 应答 / pending"/>
          <p:cNvSpPr txBox="1"/>
          <p:nvPr/>
        </p:nvSpPr>
        <p:spPr>
          <a:xfrm>
            <a:off x="10042144" y="3890833"/>
            <a:ext cx="22957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 / 应答 / pending</a:t>
            </a:r>
          </a:p>
        </p:txBody>
      </p:sp>
      <p:sp>
        <p:nvSpPr>
          <p:cNvPr id="53" name="text-063: Ara 自身 AXI 独立"/>
          <p:cNvSpPr txBox="1"/>
          <p:nvPr/>
        </p:nvSpPr>
        <p:spPr>
          <a:xfrm>
            <a:off x="10042144" y="4104193"/>
            <a:ext cx="18519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自身 AXI 独立</a:t>
            </a:r>
          </a:p>
        </p:txBody>
      </p:sp>
      <p:sp>
        <p:nvSpPr>
          <p:cNvPr id="54" name="rect-064"/>
          <p:cNvSpPr/>
          <p:nvPr/>
        </p:nvSpPr>
        <p:spPr>
          <a:xfrm>
            <a:off x="1778000" y="5725160"/>
            <a:ext cx="924560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65"/>
          <p:cNvSpPr/>
          <p:nvPr/>
        </p:nvSpPr>
        <p:spPr>
          <a:xfrm>
            <a:off x="1778000" y="572516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66: 结果关联与顺序提交"/>
          <p:cNvSpPr txBox="1"/>
          <p:nvPr/>
        </p:nvSpPr>
        <p:spPr>
          <a:xfrm>
            <a:off x="1898904" y="575303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结果关联与顺序提交</a:t>
            </a:r>
          </a:p>
        </p:txBody>
      </p:sp>
      <p:sp>
        <p:nvSpPr>
          <p:cNvPr id="57" name="text-067: 返回结果匹配未完成指令；满足条件后更新架构状态"/>
          <p:cNvSpPr txBox="1"/>
          <p:nvPr/>
        </p:nvSpPr>
        <p:spPr>
          <a:xfrm>
            <a:off x="1898904" y="6024433"/>
            <a:ext cx="40965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返回结果匹配未完成指令；满足条件后更新架构状态</a:t>
            </a:r>
          </a:p>
        </p:txBody>
      </p:sp>
      <p:sp>
        <p:nvSpPr>
          <p:cNvPr id="58" name="text-068: 异常、重定向与资源等待属于控制反馈；本图仅保留主要职责联系"/>
          <p:cNvSpPr txBox="1"/>
          <p:nvPr/>
        </p:nvSpPr>
        <p:spPr>
          <a:xfrm>
            <a:off x="1898904" y="6237793"/>
            <a:ext cx="51206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异常、重定向与资源等待属于控制反馈；本图仅保留主要职责联系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