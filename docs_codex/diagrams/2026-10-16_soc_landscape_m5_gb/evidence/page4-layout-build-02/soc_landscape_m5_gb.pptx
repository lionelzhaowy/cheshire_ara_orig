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806" r:id="rId2"/>
    <p:sldId id="807" r:id="rId10"/>
    <p:sldId id="808" r:id="rId11"/>
    <p:sldId id="809" r:id="rId12"/>
  </p:sldIdLst>
  <p:sldSz cx="12192000" cy="6858000"/>
  <p:notesSz cx="6858000" cy="9144000"/>
  <p:custDataLst>
    <p:tags r:id="rId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文尧 赵" initials="文尧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0F3F6"/>
    <a:srgbClr val="FFF0E4"/>
    <a:srgbClr val="E8F4F1"/>
    <a:srgbClr val="EAF3FC"/>
    <a:srgbClr val="F0EAF8"/>
    <a:srgbClr val="AD6631"/>
    <a:srgbClr val="00FFFF"/>
    <a:srgbClr val="FFCC00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10" autoAdjust="0"/>
    <p:restoredTop sz="97321" autoAdjust="0"/>
  </p:normalViewPr>
  <p:slideViewPr>
    <p:cSldViewPr snapToGrid="0">
      <p:cViewPr varScale="1">
        <p:scale>
          <a:sx n="117" d="100"/>
          <a:sy n="117" d="100"/>
        </p:scale>
        <p:origin x="235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4" Type="http://schemas.openxmlformats.org/officeDocument/2006/relationships/tags" Target="tags/tag1.xml"/><Relationship Id="rId9" Type="http://schemas.openxmlformats.org/officeDocument/2006/relationships/tableStyles" Target="tableStyles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B469C68-B96B-4B00-A936-4ED691395EEA}" type="datetimeFigureOut">
              <a:rPr lang="zh-CN" altLang="en-US" smtClean="0"/>
              <a:t>2026/10/16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8957953-4CC8-4E4A-AD2D-7A5A0B36E81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缺压缩</a:t>
            </a:r>
            <a:r>
              <a:rPr lang="en-US" altLang="zh-CN" dirty="0"/>
              <a:t>/</a:t>
            </a:r>
            <a:r>
              <a:rPr lang="zh-CN" altLang="en-US" dirty="0"/>
              <a:t>解压、</a:t>
            </a:r>
            <a:r>
              <a:rPr lang="en-US" altLang="zh-CN" dirty="0"/>
              <a:t>eMMC</a:t>
            </a:r>
            <a:r>
              <a:rPr lang="zh-CN" altLang="en-US" dirty="0"/>
              <a:t>、</a:t>
            </a:r>
            <a:r>
              <a:rPr lang="en-US" altLang="zh-CN" dirty="0"/>
              <a:t>LVDS TX</a:t>
            </a:r>
            <a:r>
              <a:rPr lang="zh-CN" altLang="en-US" dirty="0"/>
              <a:t>、</a:t>
            </a:r>
            <a:r>
              <a:rPr lang="en-US" altLang="zh-CN" dirty="0"/>
              <a:t>CPU</a:t>
            </a:r>
            <a:r>
              <a:rPr lang="zh-CN" altLang="en-US" dirty="0"/>
              <a:t>的</a:t>
            </a:r>
            <a:r>
              <a:rPr lang="en-US" altLang="zh-CN" dirty="0"/>
              <a:t>GB</a:t>
            </a:r>
            <a:r>
              <a:rPr lang="zh-CN" altLang="en-US"/>
              <a:t>访问接口、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5328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缺压缩</a:t>
            </a:r>
            <a:r>
              <a:rPr lang="en-US" altLang="zh-CN" dirty="0"/>
              <a:t>/</a:t>
            </a:r>
            <a:r>
              <a:rPr lang="zh-CN" altLang="en-US" dirty="0"/>
              <a:t>解压、</a:t>
            </a:r>
            <a:r>
              <a:rPr lang="en-US" altLang="zh-CN" dirty="0"/>
              <a:t>eMMC</a:t>
            </a:r>
            <a:r>
              <a:rPr lang="zh-CN" altLang="en-US" dirty="0"/>
              <a:t>、</a:t>
            </a:r>
            <a:r>
              <a:rPr lang="en-US" altLang="zh-CN" dirty="0"/>
              <a:t>LVDS TX</a:t>
            </a:r>
            <a:r>
              <a:rPr lang="zh-CN" altLang="en-US" dirty="0"/>
              <a:t>、</a:t>
            </a:r>
            <a:r>
              <a:rPr lang="en-US" altLang="zh-CN" dirty="0"/>
              <a:t>CPU</a:t>
            </a:r>
            <a:r>
              <a:rPr lang="zh-CN" altLang="en-US" dirty="0"/>
              <a:t>的</a:t>
            </a:r>
            <a:r>
              <a:rPr lang="en-US" altLang="zh-CN" dirty="0"/>
              <a:t>GB</a:t>
            </a:r>
            <a:r>
              <a:rPr lang="zh-CN" altLang="en-US"/>
              <a:t>访问接口、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5328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缺压缩</a:t>
            </a:r>
            <a:r>
              <a:rPr lang="en-US" altLang="zh-CN" dirty="0"/>
              <a:t>/</a:t>
            </a:r>
            <a:r>
              <a:rPr lang="zh-CN" altLang="en-US" dirty="0"/>
              <a:t>解压、</a:t>
            </a:r>
            <a:r>
              <a:rPr lang="en-US" altLang="zh-CN" dirty="0"/>
              <a:t>eMMC</a:t>
            </a:r>
            <a:r>
              <a:rPr lang="zh-CN" altLang="en-US" dirty="0"/>
              <a:t>、</a:t>
            </a:r>
            <a:r>
              <a:rPr lang="en-US" altLang="zh-CN" dirty="0"/>
              <a:t>LVDS TX</a:t>
            </a:r>
            <a:r>
              <a:rPr lang="zh-CN" altLang="en-US" dirty="0"/>
              <a:t>、</a:t>
            </a:r>
            <a:r>
              <a:rPr lang="en-US" altLang="zh-CN" dirty="0"/>
              <a:t>CPU</a:t>
            </a:r>
            <a:r>
              <a:rPr lang="zh-CN" altLang="en-US" dirty="0"/>
              <a:t>的</a:t>
            </a:r>
            <a:r>
              <a:rPr lang="en-US" altLang="zh-CN" dirty="0"/>
              <a:t>GB</a:t>
            </a:r>
            <a:r>
              <a:rPr lang="zh-CN" altLang="en-US"/>
              <a:t>访问接口、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5328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初版规划：eMMC 内置 DMA 经 S7/M5 加载 GB；≤256 ROI 纯裁切经 DDR S3；四口共享外置无损压缩存储前端，普通区域旁路。地址、IRQ、格式、速率与 IP 选型未冻结；未实施 RTL。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5328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442913" y="873125"/>
            <a:ext cx="4869867" cy="405102"/>
          </a:xfrm>
          <a:prstGeom prst="rect">
            <a:avLst/>
          </a:prstGeom>
        </p:spPr>
        <p:txBody>
          <a:bodyPr wrap="square" lIns="72000" tIns="36000" rIns="72000" bIns="36000">
            <a:spAutoFit/>
          </a:bodyPr>
          <a:lstStyle>
            <a:lvl1pPr algn="l">
              <a:defRPr lang="zh-CN" altLang="en-US" sz="2400" b="1" spc="0" dirty="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</a:lstStyle>
          <a:p>
            <a:pPr marL="0" lvl="0" algn="dist" fontAlgn="base"/>
            <a:r>
              <a:rPr lang="zh-CN" altLang="en-US" dirty="0"/>
              <a:t>单击此处标题</a:t>
            </a:r>
          </a:p>
        </p:txBody>
      </p:sp>
      <p:sp>
        <p:nvSpPr>
          <p:cNvPr id="121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122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2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占位符 13"/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3522388" y="2973614"/>
            <a:ext cx="5147224" cy="8309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buNone/>
              <a:defRPr lang="zh-CN" altLang="en-US" sz="6000" b="1" spc="600" dirty="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marL="0" lvl="0" algn="dist" fontAlgn="base"/>
            <a:r>
              <a:rPr lang="zh-CN" altLang="en-US" dirty="0"/>
              <a:t>输入标题</a:t>
            </a:r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0" hasCustomPrompt="1"/>
          </p:nvPr>
        </p:nvSpPr>
        <p:spPr>
          <a:xfrm>
            <a:off x="5645556" y="1886726"/>
            <a:ext cx="900888" cy="830997"/>
          </a:xfrm>
          <a:custGeom>
            <a:avLst/>
            <a:gdLst>
              <a:gd name="connsiteX0" fmla="*/ 0 w 65"/>
              <a:gd name="connsiteY0" fmla="*/ 0 h 276999"/>
              <a:gd name="connsiteX1" fmla="*/ 65 w 65"/>
              <a:gd name="connsiteY1" fmla="*/ 0 h 276999"/>
              <a:gd name="connsiteX2" fmla="*/ 65 w 65"/>
              <a:gd name="connsiteY2" fmla="*/ 276999 h 276999"/>
              <a:gd name="connsiteX3" fmla="*/ 0 w 65"/>
              <a:gd name="connsiteY3" fmla="*/ 276999 h 276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5" h="276999">
                <a:moveTo>
                  <a:pt x="0" y="0"/>
                </a:moveTo>
                <a:lnTo>
                  <a:pt x="65" y="0"/>
                </a:lnTo>
                <a:lnTo>
                  <a:pt x="65" y="276999"/>
                </a:lnTo>
                <a:lnTo>
                  <a:pt x="0" y="276999"/>
                </a:lnTo>
                <a:close/>
              </a:path>
            </a:pathLst>
          </a:custGeom>
        </p:spPr>
        <p:txBody>
          <a:bodyPr wrap="none" lIns="0" tIns="0" rIns="0" bIns="0">
            <a:spAutoFit/>
          </a:bodyPr>
          <a:lstStyle>
            <a:lvl1pPr marL="0" indent="0" algn="ctr">
              <a:buNone/>
              <a:defRPr lang="zh-CN" altLang="en-US" sz="6000" spc="0" dirty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marL="0" lvl="0" algn="dist" fontAlgn="base"/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120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121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2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6" name="文本占位符 3"/>
          <p:cNvSpPr>
            <a:spLocks noGrp="1"/>
          </p:cNvSpPr>
          <p:nvPr>
            <p:ph type="body" sz="quarter" idx="15" hasCustomPrompt="1"/>
          </p:nvPr>
        </p:nvSpPr>
        <p:spPr>
          <a:xfrm>
            <a:off x="3808179" y="2645581"/>
            <a:ext cx="4575642" cy="259267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1200" spc="3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altLang="zh-CN" dirty="0"/>
              <a:t>PART ONE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2" r:id="rId1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werpoint template design by DAJU_PPT正版来源小红书大橘PPT微信DAJU_PPT请勿抄袭搬运！盗版必究！"/>
          <p:cNvSpPr/>
          <p:nvPr/>
        </p:nvSpPr>
        <p:spPr>
          <a:xfrm>
            <a:off x="0" y="0"/>
            <a:ext cx="12192000" cy="527280"/>
          </a:xfrm>
          <a:prstGeom prst="rect">
            <a:avLst/>
          </a:prstGeom>
          <a:solidFill>
            <a:srgbClr val="00499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9" name="powerpoint template design by DAJU_PPT正版来源小红书大橘PPT微信DAJU_PPT请勿抄袭搬运！盗版必究！"/>
          <p:cNvSpPr txBox="1"/>
          <p:nvPr userDrawn="1"/>
        </p:nvSpPr>
        <p:spPr>
          <a:xfrm>
            <a:off x="3087469" y="75869"/>
            <a:ext cx="6850351" cy="375542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defRPr/>
            </a:pPr>
            <a:r>
              <a:rPr lang="en-US" altLang="zh-CN" sz="2400" b="1" kern="0" dirty="0">
                <a:solidFill>
                  <a:schemeClr val="bg1"/>
                </a:solidFill>
                <a:cs typeface="+mn-ea"/>
                <a:sym typeface="+mn-lt"/>
              </a:rPr>
              <a:t>SoC</a:t>
            </a:r>
            <a:r>
              <a:rPr lang="zh-CN" altLang="en-US" sz="2400" b="1" kern="0" dirty="0">
                <a:solidFill>
                  <a:schemeClr val="bg1"/>
                </a:solidFill>
                <a:cs typeface="+mn-ea"/>
                <a:sym typeface="+mn-lt"/>
              </a:rPr>
              <a:t>硬件层</a:t>
            </a:r>
          </a:p>
        </p:txBody>
      </p:sp>
      <p:sp>
        <p:nvSpPr>
          <p:cNvPr id="777" name="soc-boundary">
            <a:extLst>
              <a:ext uri="{FF2B5EF4-FFF2-40B4-BE49-F238E27FC236}">
                <a16:creationId xmlns:a16="http://schemas.microsoft.com/office/drawing/2014/main" id="{CB19764B-E839-45AE-B084-14D7FCBA29C1}"/>
              </a:ext>
            </a:extLst>
          </p:cNvPr>
          <p:cNvSpPr/>
          <p:nvPr/>
        </p:nvSpPr>
        <p:spPr>
          <a:xfrm>
            <a:off x="71973" y="603149"/>
            <a:ext cx="11260667" cy="6180667"/>
          </a:xfrm>
          <a:prstGeom prst="rect">
            <a:avLst/>
          </a:prstGeom>
          <a:solidFill>
            <a:srgbClr val="FFFFFF"/>
          </a:solidFill>
          <a:ln w="40640" cap="flat">
            <a:solidFill>
              <a:srgbClr val="645C5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78" name="object-005: SoC">
            <a:extLst>
              <a:ext uri="{FF2B5EF4-FFF2-40B4-BE49-F238E27FC236}">
                <a16:creationId xmlns:a16="http://schemas.microsoft.com/office/drawing/2014/main" id="{A729F37A-FE4E-4444-AC4E-C0268DDC04AC}"/>
              </a:ext>
            </a:extLst>
          </p:cNvPr>
          <p:cNvSpPr txBox="1"/>
          <p:nvPr/>
        </p:nvSpPr>
        <p:spPr>
          <a:xfrm>
            <a:off x="4789600" y="608488"/>
            <a:ext cx="1682905" cy="215444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SoC</a:t>
            </a:r>
            <a:r>
              <a:rPr lang="zh-CN" altLang="en-US"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架构</a:t>
            </a:r>
            <a:r>
              <a:rPr lang="en-US" altLang="zh-CN"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(</a:t>
            </a:r>
            <a:r>
              <a:rPr lang="zh-CN" altLang="en-US"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初版规划</a:t>
            </a:r>
            <a:r>
              <a:rPr lang="en-US" altLang="zh-CN"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)</a:t>
            </a:r>
            <a:endParaRPr sz="1400" b="1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79" name="cpu-platform">
            <a:extLst>
              <a:ext uri="{FF2B5EF4-FFF2-40B4-BE49-F238E27FC236}">
                <a16:creationId xmlns:a16="http://schemas.microsoft.com/office/drawing/2014/main" id="{AF24C96E-7639-4A3D-B153-780FAD5C80B8}"/>
              </a:ext>
            </a:extLst>
          </p:cNvPr>
          <p:cNvSpPr/>
          <p:nvPr/>
        </p:nvSpPr>
        <p:spPr>
          <a:xfrm>
            <a:off x="241307" y="840216"/>
            <a:ext cx="3166533" cy="14393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0" name="object-007: CVA6–Ara 计算平台">
            <a:extLst>
              <a:ext uri="{FF2B5EF4-FFF2-40B4-BE49-F238E27FC236}">
                <a16:creationId xmlns:a16="http://schemas.microsoft.com/office/drawing/2014/main" id="{124C73D2-9AEE-45DB-8A2C-B9E829D70CF4}"/>
              </a:ext>
            </a:extLst>
          </p:cNvPr>
          <p:cNvSpPr txBox="1"/>
          <p:nvPr/>
        </p:nvSpPr>
        <p:spPr>
          <a:xfrm>
            <a:off x="1164047" y="855252"/>
            <a:ext cx="1317668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计算平台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1" name="cva6">
            <a:extLst>
              <a:ext uri="{FF2B5EF4-FFF2-40B4-BE49-F238E27FC236}">
                <a16:creationId xmlns:a16="http://schemas.microsoft.com/office/drawing/2014/main" id="{A278632C-7678-4A74-9EF4-ED3825AC645F}"/>
              </a:ext>
            </a:extLst>
          </p:cNvPr>
          <p:cNvSpPr/>
          <p:nvPr/>
        </p:nvSpPr>
        <p:spPr>
          <a:xfrm>
            <a:off x="325973" y="1111149"/>
            <a:ext cx="846667" cy="7281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2" name="object-009: CVA6 core 0">
            <a:extLst>
              <a:ext uri="{FF2B5EF4-FFF2-40B4-BE49-F238E27FC236}">
                <a16:creationId xmlns:a16="http://schemas.microsoft.com/office/drawing/2014/main" id="{2BE65702-B1F0-4B4E-BF09-D79ADBF299AC}"/>
              </a:ext>
            </a:extLst>
          </p:cNvPr>
          <p:cNvSpPr txBox="1"/>
          <p:nvPr/>
        </p:nvSpPr>
        <p:spPr>
          <a:xfrm>
            <a:off x="435118" y="1266910"/>
            <a:ext cx="6283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783" name="object-010: L1 I / D cache">
            <a:extLst>
              <a:ext uri="{FF2B5EF4-FFF2-40B4-BE49-F238E27FC236}">
                <a16:creationId xmlns:a16="http://schemas.microsoft.com/office/drawing/2014/main" id="{C4F3F2C8-88D6-4730-A950-0FE57919B9CE}"/>
              </a:ext>
            </a:extLst>
          </p:cNvPr>
          <p:cNvSpPr txBox="1"/>
          <p:nvPr/>
        </p:nvSpPr>
        <p:spPr>
          <a:xfrm>
            <a:off x="415883" y="1403461"/>
            <a:ext cx="6668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784" name="object-011: MMU · AXI 适配">
            <a:extLst>
              <a:ext uri="{FF2B5EF4-FFF2-40B4-BE49-F238E27FC236}">
                <a16:creationId xmlns:a16="http://schemas.microsoft.com/office/drawing/2014/main" id="{1308FC2B-9804-4676-9C81-F66B696127BD}"/>
              </a:ext>
            </a:extLst>
          </p:cNvPr>
          <p:cNvSpPr txBox="1"/>
          <p:nvPr/>
        </p:nvSpPr>
        <p:spPr>
          <a:xfrm>
            <a:off x="365387" y="1511834"/>
            <a:ext cx="7678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·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适配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5" name="ara-core">
            <a:extLst>
              <a:ext uri="{FF2B5EF4-FFF2-40B4-BE49-F238E27FC236}">
                <a16:creationId xmlns:a16="http://schemas.microsoft.com/office/drawing/2014/main" id="{326B305C-1397-4FB6-907C-47D8D0CC135D}"/>
              </a:ext>
            </a:extLst>
          </p:cNvPr>
          <p:cNvSpPr/>
          <p:nvPr/>
        </p:nvSpPr>
        <p:spPr>
          <a:xfrm>
            <a:off x="1341973" y="1111149"/>
            <a:ext cx="1964267" cy="4233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6" name="object-013: Ara 向量处理器">
            <a:extLst>
              <a:ext uri="{FF2B5EF4-FFF2-40B4-BE49-F238E27FC236}">
                <a16:creationId xmlns:a16="http://schemas.microsoft.com/office/drawing/2014/main" id="{64417BFF-AAB1-4D2B-AB14-3C166730A1DE}"/>
              </a:ext>
            </a:extLst>
          </p:cNvPr>
          <p:cNvSpPr txBox="1"/>
          <p:nvPr/>
        </p:nvSpPr>
        <p:spPr>
          <a:xfrm>
            <a:off x="1962629" y="1187535"/>
            <a:ext cx="72295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向量处理器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7" name="object-014: VLSU / AXI：32 × lanes bit">
            <a:extLst>
              <a:ext uri="{FF2B5EF4-FFF2-40B4-BE49-F238E27FC236}">
                <a16:creationId xmlns:a16="http://schemas.microsoft.com/office/drawing/2014/main" id="{301DDB2E-AC9E-4A6E-9896-07E073F592EE}"/>
              </a:ext>
            </a:extLst>
          </p:cNvPr>
          <p:cNvSpPr txBox="1"/>
          <p:nvPr/>
        </p:nvSpPr>
        <p:spPr>
          <a:xfrm>
            <a:off x="1671685" y="1324086"/>
            <a:ext cx="13048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VLSU / AXI：32 × lanes bit</a:t>
            </a:r>
          </a:p>
        </p:txBody>
      </p:sp>
      <p:cxnSp>
        <p:nvCxnSpPr>
          <p:cNvPr id="788" name="cva6-ara-control">
            <a:extLst>
              <a:ext uri="{FF2B5EF4-FFF2-40B4-BE49-F238E27FC236}">
                <a16:creationId xmlns:a16="http://schemas.microsoft.com/office/drawing/2014/main" id="{A119614B-6831-451B-BA2D-3B24BC8398AF}"/>
              </a:ext>
            </a:extLst>
          </p:cNvPr>
          <p:cNvCxnSpPr/>
          <p:nvPr/>
        </p:nvCxnSpPr>
        <p:spPr>
          <a:xfrm>
            <a:off x="1172640" y="1314349"/>
            <a:ext cx="169333" cy="0"/>
          </a:xfrm>
          <a:prstGeom prst="line">
            <a:avLst/>
          </a:prstGeom>
          <a:ln w="20320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789" name="object-016: 指令 / MMU">
            <a:extLst>
              <a:ext uri="{FF2B5EF4-FFF2-40B4-BE49-F238E27FC236}">
                <a16:creationId xmlns:a16="http://schemas.microsoft.com/office/drawing/2014/main" id="{E1752098-E990-4C62-8143-B7F1B4EE3C96}"/>
              </a:ext>
            </a:extLst>
          </p:cNvPr>
          <p:cNvSpPr txBox="1"/>
          <p:nvPr/>
        </p:nvSpPr>
        <p:spPr>
          <a:xfrm>
            <a:off x="1040281" y="1007788"/>
            <a:ext cx="44082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790" name="ara-filter">
            <a:extLst>
              <a:ext uri="{FF2B5EF4-FFF2-40B4-BE49-F238E27FC236}">
                <a16:creationId xmlns:a16="http://schemas.microsoft.com/office/drawing/2014/main" id="{53C8AB6E-31EB-44B7-B4FC-68060C84843C}"/>
              </a:ext>
            </a:extLst>
          </p:cNvPr>
          <p:cNvSpPr/>
          <p:nvPr/>
        </p:nvSpPr>
        <p:spPr>
          <a:xfrm>
            <a:off x="1409706" y="1686883"/>
            <a:ext cx="643467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1" name="object-018: 失效过滤">
            <a:extLst>
              <a:ext uri="{FF2B5EF4-FFF2-40B4-BE49-F238E27FC236}">
                <a16:creationId xmlns:a16="http://schemas.microsoft.com/office/drawing/2014/main" id="{77AF999C-5811-4EB4-A28F-6FC6EB19EA75}"/>
              </a:ext>
            </a:extLst>
          </p:cNvPr>
          <p:cNvSpPr txBox="1"/>
          <p:nvPr/>
        </p:nvSpPr>
        <p:spPr>
          <a:xfrm>
            <a:off x="15262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792" name="object-019: 现有 filter">
            <a:extLst>
              <a:ext uri="{FF2B5EF4-FFF2-40B4-BE49-F238E27FC236}">
                <a16:creationId xmlns:a16="http://schemas.microsoft.com/office/drawing/2014/main" id="{E3F41616-6AF3-4FF6-850B-A98674451E27}"/>
              </a:ext>
            </a:extLst>
          </p:cNvPr>
          <p:cNvSpPr txBox="1"/>
          <p:nvPr/>
        </p:nvSpPr>
        <p:spPr>
          <a:xfrm>
            <a:off x="1501409" y="1842669"/>
            <a:ext cx="4600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793" name="ara-split">
            <a:extLst>
              <a:ext uri="{FF2B5EF4-FFF2-40B4-BE49-F238E27FC236}">
                <a16:creationId xmlns:a16="http://schemas.microsoft.com/office/drawing/2014/main" id="{A55D7C0B-C19C-4CEF-B563-825F12D30698}"/>
              </a:ext>
            </a:extLst>
          </p:cNvPr>
          <p:cNvSpPr/>
          <p:nvPr/>
        </p:nvSpPr>
        <p:spPr>
          <a:xfrm>
            <a:off x="2171706" y="1686883"/>
            <a:ext cx="508000" cy="29125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4" name="object-021: 地址分流">
            <a:extLst>
              <a:ext uri="{FF2B5EF4-FFF2-40B4-BE49-F238E27FC236}">
                <a16:creationId xmlns:a16="http://schemas.microsoft.com/office/drawing/2014/main" id="{FEB06BCD-B815-40C8-8BCD-F588F64825EC}"/>
              </a:ext>
            </a:extLst>
          </p:cNvPr>
          <p:cNvSpPr txBox="1"/>
          <p:nvPr/>
        </p:nvSpPr>
        <p:spPr>
          <a:xfrm>
            <a:off x="2220522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地址分流</a:t>
            </a:r>
          </a:p>
        </p:txBody>
      </p:sp>
      <p:sp>
        <p:nvSpPr>
          <p:cNvPr id="795" name="object-022: GB 候选">
            <a:extLst>
              <a:ext uri="{FF2B5EF4-FFF2-40B4-BE49-F238E27FC236}">
                <a16:creationId xmlns:a16="http://schemas.microsoft.com/office/drawing/2014/main" id="{310DCB16-6FDF-4034-AF76-CEACCB1F78BC}"/>
              </a:ext>
            </a:extLst>
          </p:cNvPr>
          <p:cNvSpPr txBox="1"/>
          <p:nvPr/>
        </p:nvSpPr>
        <p:spPr>
          <a:xfrm>
            <a:off x="2237353" y="1842669"/>
            <a:ext cx="3767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候选</a:t>
            </a:r>
          </a:p>
        </p:txBody>
      </p:sp>
      <p:sp>
        <p:nvSpPr>
          <p:cNvPr id="796" name="ara-width">
            <a:extLst>
              <a:ext uri="{FF2B5EF4-FFF2-40B4-BE49-F238E27FC236}">
                <a16:creationId xmlns:a16="http://schemas.microsoft.com/office/drawing/2014/main" id="{13DCB4D3-CB81-4F91-A5BB-7B8FDA91C5C7}"/>
              </a:ext>
            </a:extLst>
          </p:cNvPr>
          <p:cNvSpPr/>
          <p:nvPr/>
        </p:nvSpPr>
        <p:spPr>
          <a:xfrm>
            <a:off x="2798240" y="1686883"/>
            <a:ext cx="508000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7" name="object-024: 位宽适配">
            <a:extLst>
              <a:ext uri="{FF2B5EF4-FFF2-40B4-BE49-F238E27FC236}">
                <a16:creationId xmlns:a16="http://schemas.microsoft.com/office/drawing/2014/main" id="{B27BE7FB-D7A1-4A9A-9125-78B229034358}"/>
              </a:ext>
            </a:extLst>
          </p:cNvPr>
          <p:cNvSpPr txBox="1"/>
          <p:nvPr/>
        </p:nvSpPr>
        <p:spPr>
          <a:xfrm>
            <a:off x="28470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位宽适配</a:t>
            </a:r>
          </a:p>
        </p:txBody>
      </p:sp>
      <p:sp>
        <p:nvSpPr>
          <p:cNvPr id="798" name="object-025: → 64 bit">
            <a:extLst>
              <a:ext uri="{FF2B5EF4-FFF2-40B4-BE49-F238E27FC236}">
                <a16:creationId xmlns:a16="http://schemas.microsoft.com/office/drawing/2014/main" id="{6732B6D6-BF45-4760-884F-A62B535AA613}"/>
              </a:ext>
            </a:extLst>
          </p:cNvPr>
          <p:cNvSpPr txBox="1"/>
          <p:nvPr/>
        </p:nvSpPr>
        <p:spPr>
          <a:xfrm>
            <a:off x="2843849" y="1842669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→ 64 bit</a:t>
            </a:r>
          </a:p>
        </p:txBody>
      </p:sp>
      <p:cxnSp>
        <p:nvCxnSpPr>
          <p:cNvPr id="799" name="vlsu-filter">
            <a:extLst>
              <a:ext uri="{FF2B5EF4-FFF2-40B4-BE49-F238E27FC236}">
                <a16:creationId xmlns:a16="http://schemas.microsoft.com/office/drawing/2014/main" id="{40661750-8396-4465-BC47-BA8E6CE9F4E7}"/>
              </a:ext>
            </a:extLst>
          </p:cNvPr>
          <p:cNvCxnSpPr/>
          <p:nvPr/>
        </p:nvCxnSpPr>
        <p:spPr>
          <a:xfrm>
            <a:off x="1731440" y="1534482"/>
            <a:ext cx="0" cy="15240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00" name="filter-split">
            <a:extLst>
              <a:ext uri="{FF2B5EF4-FFF2-40B4-BE49-F238E27FC236}">
                <a16:creationId xmlns:a16="http://schemas.microsoft.com/office/drawing/2014/main" id="{2B5303ED-513A-4440-9983-0B3B03EF175E}"/>
              </a:ext>
            </a:extLst>
          </p:cNvPr>
          <p:cNvCxnSpPr/>
          <p:nvPr/>
        </p:nvCxnSpPr>
        <p:spPr>
          <a:xfrm>
            <a:off x="2053173" y="1832509"/>
            <a:ext cx="118533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01" name="split-width">
            <a:extLst>
              <a:ext uri="{FF2B5EF4-FFF2-40B4-BE49-F238E27FC236}">
                <a16:creationId xmlns:a16="http://schemas.microsoft.com/office/drawing/2014/main" id="{FABD96AB-80A1-411A-AB11-E71F4FA23129}"/>
              </a:ext>
            </a:extLst>
          </p:cNvPr>
          <p:cNvCxnSpPr/>
          <p:nvPr/>
        </p:nvCxnSpPr>
        <p:spPr>
          <a:xfrm>
            <a:off x="2679707" y="1832509"/>
            <a:ext cx="118533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02" name="npu-subsystem">
            <a:extLst>
              <a:ext uri="{FF2B5EF4-FFF2-40B4-BE49-F238E27FC236}">
                <a16:creationId xmlns:a16="http://schemas.microsoft.com/office/drawing/2014/main" id="{656E5669-F913-42EA-B7ED-87C55D399281}"/>
              </a:ext>
            </a:extLst>
          </p:cNvPr>
          <p:cNvSpPr/>
          <p:nvPr/>
        </p:nvSpPr>
        <p:spPr>
          <a:xfrm>
            <a:off x="3594106" y="840216"/>
            <a:ext cx="3843867" cy="14393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3" name="object-030: NPU / 独立 Global Buffer 子系统">
            <a:extLst>
              <a:ext uri="{FF2B5EF4-FFF2-40B4-BE49-F238E27FC236}">
                <a16:creationId xmlns:a16="http://schemas.microsoft.com/office/drawing/2014/main" id="{718B7891-A7B2-45A4-B891-5FAEC892CE9F}"/>
              </a:ext>
            </a:extLst>
          </p:cNvPr>
          <p:cNvSpPr txBox="1"/>
          <p:nvPr/>
        </p:nvSpPr>
        <p:spPr>
          <a:xfrm>
            <a:off x="4410679" y="855252"/>
            <a:ext cx="2207336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Global Buffer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子系统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4" name="npu-compute">
            <a:extLst>
              <a:ext uri="{FF2B5EF4-FFF2-40B4-BE49-F238E27FC236}">
                <a16:creationId xmlns:a16="http://schemas.microsoft.com/office/drawing/2014/main" id="{46C0F758-7B9F-4A0A-B73B-2833147897D7}"/>
              </a:ext>
            </a:extLst>
          </p:cNvPr>
          <p:cNvSpPr/>
          <p:nvPr/>
        </p:nvSpPr>
        <p:spPr>
          <a:xfrm>
            <a:off x="3678773" y="1111149"/>
            <a:ext cx="914400" cy="592667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5" name="object-032: NPU 计算引擎">
            <a:extLst>
              <a:ext uri="{FF2B5EF4-FFF2-40B4-BE49-F238E27FC236}">
                <a16:creationId xmlns:a16="http://schemas.microsoft.com/office/drawing/2014/main" id="{57A034A3-CD90-407A-9864-937692845FE0}"/>
              </a:ext>
            </a:extLst>
          </p:cNvPr>
          <p:cNvSpPr txBox="1"/>
          <p:nvPr/>
        </p:nvSpPr>
        <p:spPr>
          <a:xfrm>
            <a:off x="3798540" y="1241510"/>
            <a:ext cx="67486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806" name="object-033: GB 数据读写">
            <a:extLst>
              <a:ext uri="{FF2B5EF4-FFF2-40B4-BE49-F238E27FC236}">
                <a16:creationId xmlns:a16="http://schemas.microsoft.com/office/drawing/2014/main" id="{9CE2B4F6-7C07-4825-97E7-4CF402344E97}"/>
              </a:ext>
            </a:extLst>
          </p:cNvPr>
          <p:cNvSpPr txBox="1"/>
          <p:nvPr/>
        </p:nvSpPr>
        <p:spPr>
          <a:xfrm>
            <a:off x="3845028" y="1378061"/>
            <a:ext cx="5818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数据读写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7" name="cfg-tag-C6-33">
            <a:extLst>
              <a:ext uri="{FF2B5EF4-FFF2-40B4-BE49-F238E27FC236}">
                <a16:creationId xmlns:a16="http://schemas.microsoft.com/office/drawing/2014/main" id="{D3B7AF86-7454-4B62-89BE-78681DD60168}"/>
              </a:ext>
            </a:extLst>
          </p:cNvPr>
          <p:cNvSpPr/>
          <p:nvPr/>
        </p:nvSpPr>
        <p:spPr>
          <a:xfrm>
            <a:off x="4389973" y="155141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8" name="object-035: C6">
            <a:extLst>
              <a:ext uri="{FF2B5EF4-FFF2-40B4-BE49-F238E27FC236}">
                <a16:creationId xmlns:a16="http://schemas.microsoft.com/office/drawing/2014/main" id="{C61F99EE-C4EE-4969-94E1-ED6A835DA0FB}"/>
              </a:ext>
            </a:extLst>
          </p:cNvPr>
          <p:cNvSpPr txBox="1"/>
          <p:nvPr/>
        </p:nvSpPr>
        <p:spPr>
          <a:xfrm>
            <a:off x="4419867" y="155277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809" name="gb-router">
            <a:extLst>
              <a:ext uri="{FF2B5EF4-FFF2-40B4-BE49-F238E27FC236}">
                <a16:creationId xmlns:a16="http://schemas.microsoft.com/office/drawing/2014/main" id="{B49BD3BD-E44C-4699-B093-1981A49F63CE}"/>
              </a:ext>
            </a:extLst>
          </p:cNvPr>
          <p:cNvSpPr/>
          <p:nvPr/>
        </p:nvSpPr>
        <p:spPr>
          <a:xfrm>
            <a:off x="4711707" y="1365149"/>
            <a:ext cx="778933" cy="7958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0" name="object-037: GB 访问适配">
            <a:extLst>
              <a:ext uri="{FF2B5EF4-FFF2-40B4-BE49-F238E27FC236}">
                <a16:creationId xmlns:a16="http://schemas.microsoft.com/office/drawing/2014/main" id="{9DDF7B99-1CF7-451D-880D-F92066C2D856}"/>
              </a:ext>
            </a:extLst>
          </p:cNvPr>
          <p:cNvSpPr txBox="1"/>
          <p:nvPr/>
        </p:nvSpPr>
        <p:spPr>
          <a:xfrm>
            <a:off x="4806221" y="1556801"/>
            <a:ext cx="58990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811" name="object-038: 局部仲裁 / 路由">
            <a:extLst>
              <a:ext uri="{FF2B5EF4-FFF2-40B4-BE49-F238E27FC236}">
                <a16:creationId xmlns:a16="http://schemas.microsoft.com/office/drawing/2014/main" id="{31997707-ECEB-4690-908D-11823455FE1C}"/>
              </a:ext>
            </a:extLst>
          </p:cNvPr>
          <p:cNvSpPr txBox="1"/>
          <p:nvPr/>
        </p:nvSpPr>
        <p:spPr>
          <a:xfrm>
            <a:off x="4741299" y="1686036"/>
            <a:ext cx="7197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812" name="object-039: bank 冲突处理">
            <a:extLst>
              <a:ext uri="{FF2B5EF4-FFF2-40B4-BE49-F238E27FC236}">
                <a16:creationId xmlns:a16="http://schemas.microsoft.com/office/drawing/2014/main" id="{11961159-3445-4A6A-8ED7-CDD7022D7D18}"/>
              </a:ext>
            </a:extLst>
          </p:cNvPr>
          <p:cNvSpPr txBox="1"/>
          <p:nvPr/>
        </p:nvSpPr>
        <p:spPr>
          <a:xfrm>
            <a:off x="4760535" y="1794409"/>
            <a:ext cx="6812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冲突处理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13" name="global-buffer">
            <a:extLst>
              <a:ext uri="{FF2B5EF4-FFF2-40B4-BE49-F238E27FC236}">
                <a16:creationId xmlns:a16="http://schemas.microsoft.com/office/drawing/2014/main" id="{0F86E12E-383A-4875-BC7C-4C90F3F966C9}"/>
              </a:ext>
            </a:extLst>
          </p:cNvPr>
          <p:cNvSpPr/>
          <p:nvPr/>
        </p:nvSpPr>
        <p:spPr>
          <a:xfrm>
            <a:off x="5626106" y="1111149"/>
            <a:ext cx="1710267" cy="5757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4" name="object-041: Global Buffer">
            <a:extLst>
              <a:ext uri="{FF2B5EF4-FFF2-40B4-BE49-F238E27FC236}">
                <a16:creationId xmlns:a16="http://schemas.microsoft.com/office/drawing/2014/main" id="{0651B47D-F1D7-4756-8C2C-E0A3C6EF838A}"/>
              </a:ext>
            </a:extLst>
          </p:cNvPr>
          <p:cNvSpPr txBox="1"/>
          <p:nvPr/>
        </p:nvSpPr>
        <p:spPr>
          <a:xfrm>
            <a:off x="6094917" y="1208312"/>
            <a:ext cx="772647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815" name="object-042: 独立 SRAM · 分 bank">
            <a:extLst>
              <a:ext uri="{FF2B5EF4-FFF2-40B4-BE49-F238E27FC236}">
                <a16:creationId xmlns:a16="http://schemas.microsoft.com/office/drawing/2014/main" id="{AD1A6881-C2BE-460D-B074-A700C9C01B03}"/>
              </a:ext>
            </a:extLst>
          </p:cNvPr>
          <p:cNvSpPr txBox="1"/>
          <p:nvPr/>
        </p:nvSpPr>
        <p:spPr>
          <a:xfrm>
            <a:off x="5984309" y="1355836"/>
            <a:ext cx="99386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816" name="object-043: ISP / NPU–Ara 工作区">
            <a:extLst>
              <a:ext uri="{FF2B5EF4-FFF2-40B4-BE49-F238E27FC236}">
                <a16:creationId xmlns:a16="http://schemas.microsoft.com/office/drawing/2014/main" id="{D53F494B-0690-4734-ACA8-CACF6710407D}"/>
              </a:ext>
            </a:extLst>
          </p:cNvPr>
          <p:cNvSpPr txBox="1"/>
          <p:nvPr/>
        </p:nvSpPr>
        <p:spPr>
          <a:xfrm>
            <a:off x="5961066" y="1476908"/>
            <a:ext cx="10403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 / NPU–Ara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工作区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17" name="cfg-tag-C9-43">
            <a:extLst>
              <a:ext uri="{FF2B5EF4-FFF2-40B4-BE49-F238E27FC236}">
                <a16:creationId xmlns:a16="http://schemas.microsoft.com/office/drawing/2014/main" id="{823E72FE-055F-4BE4-8A7B-2A044874D38D}"/>
              </a:ext>
            </a:extLst>
          </p:cNvPr>
          <p:cNvSpPr/>
          <p:nvPr/>
        </p:nvSpPr>
        <p:spPr>
          <a:xfrm>
            <a:off x="7133173" y="152770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8" name="object-045: C9">
            <a:extLst>
              <a:ext uri="{FF2B5EF4-FFF2-40B4-BE49-F238E27FC236}">
                <a16:creationId xmlns:a16="http://schemas.microsoft.com/office/drawing/2014/main" id="{95D02E3B-149C-4FA4-A33D-61F0556022FE}"/>
              </a:ext>
            </a:extLst>
          </p:cNvPr>
          <p:cNvSpPr txBox="1"/>
          <p:nvPr/>
        </p:nvSpPr>
        <p:spPr>
          <a:xfrm>
            <a:off x="7163067" y="152906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cxnSp>
        <p:nvCxnSpPr>
          <p:cNvPr id="819" name="npu-router">
            <a:extLst>
              <a:ext uri="{FF2B5EF4-FFF2-40B4-BE49-F238E27FC236}">
                <a16:creationId xmlns:a16="http://schemas.microsoft.com/office/drawing/2014/main" id="{A428C493-29D6-4BBC-BA7B-070D429BC4AF}"/>
              </a:ext>
            </a:extLst>
          </p:cNvPr>
          <p:cNvCxnSpPr/>
          <p:nvPr/>
        </p:nvCxnSpPr>
        <p:spPr>
          <a:xfrm>
            <a:off x="4593173" y="1466749"/>
            <a:ext cx="118533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cxnSp>
        <p:nvCxnSpPr>
          <p:cNvPr id="820" name="router-sram">
            <a:extLst>
              <a:ext uri="{FF2B5EF4-FFF2-40B4-BE49-F238E27FC236}">
                <a16:creationId xmlns:a16="http://schemas.microsoft.com/office/drawing/2014/main" id="{D5B8C352-9067-45D3-A0F8-A71B9B5A5E13}"/>
              </a:ext>
            </a:extLst>
          </p:cNvPr>
          <p:cNvCxnSpPr/>
          <p:nvPr/>
        </p:nvCxnSpPr>
        <p:spPr>
          <a:xfrm>
            <a:off x="5490640" y="15514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1" name="npu-transfer">
            <a:extLst>
              <a:ext uri="{FF2B5EF4-FFF2-40B4-BE49-F238E27FC236}">
                <a16:creationId xmlns:a16="http://schemas.microsoft.com/office/drawing/2014/main" id="{FA38588C-CDC9-492E-8CAA-C795BC318639}"/>
              </a:ext>
            </a:extLst>
          </p:cNvPr>
          <p:cNvSpPr/>
          <p:nvPr/>
        </p:nvSpPr>
        <p:spPr>
          <a:xfrm>
            <a:off x="5626106" y="1805416"/>
            <a:ext cx="1710267" cy="406400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2" name="object-049: NPU / GB 搬运引擎">
            <a:extLst>
              <a:ext uri="{FF2B5EF4-FFF2-40B4-BE49-F238E27FC236}">
                <a16:creationId xmlns:a16="http://schemas.microsoft.com/office/drawing/2014/main" id="{B62D1668-5499-422C-A42A-7C1C8F708B4E}"/>
              </a:ext>
            </a:extLst>
          </p:cNvPr>
          <p:cNvSpPr txBox="1"/>
          <p:nvPr/>
        </p:nvSpPr>
        <p:spPr>
          <a:xfrm>
            <a:off x="6014767" y="1884977"/>
            <a:ext cx="9329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搬运引擎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3" name="object-050: DDR ↔ GB · 统一 AXI 主口">
            <a:extLst>
              <a:ext uri="{FF2B5EF4-FFF2-40B4-BE49-F238E27FC236}">
                <a16:creationId xmlns:a16="http://schemas.microsoft.com/office/drawing/2014/main" id="{85C9B0F7-F610-4D22-AFEB-406C6901B317}"/>
              </a:ext>
            </a:extLst>
          </p:cNvPr>
          <p:cNvSpPr txBox="1"/>
          <p:nvPr/>
        </p:nvSpPr>
        <p:spPr>
          <a:xfrm>
            <a:off x="5835230" y="2021527"/>
            <a:ext cx="129202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统一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4" name="cfg-tag-C7-50">
            <a:extLst>
              <a:ext uri="{FF2B5EF4-FFF2-40B4-BE49-F238E27FC236}">
                <a16:creationId xmlns:a16="http://schemas.microsoft.com/office/drawing/2014/main" id="{B1F03A49-3940-4D0A-8CD8-1BDE1A74EFAE}"/>
              </a:ext>
            </a:extLst>
          </p:cNvPr>
          <p:cNvSpPr/>
          <p:nvPr/>
        </p:nvSpPr>
        <p:spPr>
          <a:xfrm>
            <a:off x="7133173" y="206957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5" name="object-052: C7">
            <a:extLst>
              <a:ext uri="{FF2B5EF4-FFF2-40B4-BE49-F238E27FC236}">
                <a16:creationId xmlns:a16="http://schemas.microsoft.com/office/drawing/2014/main" id="{AB84474B-5CCF-43E8-BCC6-18E79C6A3986}"/>
              </a:ext>
            </a:extLst>
          </p:cNvPr>
          <p:cNvSpPr txBox="1"/>
          <p:nvPr/>
        </p:nvSpPr>
        <p:spPr>
          <a:xfrm>
            <a:off x="7163067" y="207093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cxnSp>
        <p:nvCxnSpPr>
          <p:cNvPr id="826" name="transfer-router">
            <a:extLst>
              <a:ext uri="{FF2B5EF4-FFF2-40B4-BE49-F238E27FC236}">
                <a16:creationId xmlns:a16="http://schemas.microsoft.com/office/drawing/2014/main" id="{CC73FB70-E502-4DB5-A5D7-857AF0014BBD}"/>
              </a:ext>
            </a:extLst>
          </p:cNvPr>
          <p:cNvCxnSpPr/>
          <p:nvPr/>
        </p:nvCxnSpPr>
        <p:spPr>
          <a:xfrm flipH="1">
            <a:off x="5490640" y="20086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7" name="ara-gb">
            <a:extLst>
              <a:ext uri="{FF2B5EF4-FFF2-40B4-BE49-F238E27FC236}">
                <a16:creationId xmlns:a16="http://schemas.microsoft.com/office/drawing/2014/main" id="{7EBC10B6-3F87-43DC-A06C-B5FEF9F5D846}"/>
              </a:ext>
            </a:extLst>
          </p:cNvPr>
          <p:cNvSpPr/>
          <p:nvPr/>
        </p:nvSpPr>
        <p:spPr>
          <a:xfrm>
            <a:off x="2425706" y="1978136"/>
            <a:ext cx="2675467" cy="250613"/>
          </a:xfrm>
          <a:custGeom>
            <a:avLst/>
            <a:gdLst/>
            <a:ahLst/>
            <a:cxnLst/>
            <a:rect l="0" t="0" r="r" b="b"/>
            <a:pathLst>
              <a:path w="6421120" h="601472" fill="none">
                <a:moveTo>
                  <a:pt x="0" y="0"/>
                </a:moveTo>
                <a:lnTo>
                  <a:pt x="0" y="601472"/>
                </a:lnTo>
                <a:lnTo>
                  <a:pt x="6421120" y="601472"/>
                </a:lnTo>
                <a:lnTo>
                  <a:pt x="6421120" y="438912"/>
                </a:lnTo>
              </a:path>
            </a:pathLst>
          </a:custGeom>
          <a:noFill/>
          <a:ln w="26010" cap="flat">
            <a:solidFill>
              <a:srgbClr val="187C78"/>
            </a:solidFill>
            <a:custDash>
              <a:ds d="312500" sp="187500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8" name="object-055: Ara 宽侧 GB 分支">
            <a:extLst>
              <a:ext uri="{FF2B5EF4-FFF2-40B4-BE49-F238E27FC236}">
                <a16:creationId xmlns:a16="http://schemas.microsoft.com/office/drawing/2014/main" id="{A9924EA1-3B4E-4C08-B5AE-5E7FB403349C}"/>
              </a:ext>
            </a:extLst>
          </p:cNvPr>
          <p:cNvSpPr txBox="1"/>
          <p:nvPr/>
        </p:nvSpPr>
        <p:spPr>
          <a:xfrm>
            <a:off x="3615379" y="2104073"/>
            <a:ext cx="71013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Ara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宽侧</a:t>
            </a:r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 GB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分支</a:t>
            </a:r>
            <a:endParaRPr sz="700" dirty="0">
              <a:solidFill>
                <a:srgbClr val="187C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9" name="image-subsystem">
            <a:extLst>
              <a:ext uri="{FF2B5EF4-FFF2-40B4-BE49-F238E27FC236}">
                <a16:creationId xmlns:a16="http://schemas.microsoft.com/office/drawing/2014/main" id="{6BD40024-AF2A-43AA-9F53-2CB0F0A35B7B}"/>
              </a:ext>
            </a:extLst>
          </p:cNvPr>
          <p:cNvSpPr/>
          <p:nvPr/>
        </p:nvSpPr>
        <p:spPr>
          <a:xfrm>
            <a:off x="7607306" y="840216"/>
            <a:ext cx="3606800" cy="143933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0" name="object-057: 图像采集与 ISP">
            <a:extLst>
              <a:ext uri="{FF2B5EF4-FFF2-40B4-BE49-F238E27FC236}">
                <a16:creationId xmlns:a16="http://schemas.microsoft.com/office/drawing/2014/main" id="{5D105284-8B1B-4DF6-9CD3-6DE3CB6EA6D2}"/>
              </a:ext>
            </a:extLst>
          </p:cNvPr>
          <p:cNvSpPr txBox="1"/>
          <p:nvPr/>
        </p:nvSpPr>
        <p:spPr>
          <a:xfrm>
            <a:off x="8922503" y="855252"/>
            <a:ext cx="973023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ISP</a:t>
            </a:r>
          </a:p>
        </p:txBody>
      </p:sp>
      <p:sp>
        <p:nvSpPr>
          <p:cNvPr id="831" name="lvds">
            <a:extLst>
              <a:ext uri="{FF2B5EF4-FFF2-40B4-BE49-F238E27FC236}">
                <a16:creationId xmlns:a16="http://schemas.microsoft.com/office/drawing/2014/main" id="{3678F47F-0E17-45E0-BC26-1889C2B908C0}"/>
              </a:ext>
            </a:extLst>
          </p:cNvPr>
          <p:cNvSpPr/>
          <p:nvPr/>
        </p:nvSpPr>
        <p:spPr>
          <a:xfrm>
            <a:off x="7691973" y="1314349"/>
            <a:ext cx="5588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2" name="object-059: LVDS 接收">
            <a:extLst>
              <a:ext uri="{FF2B5EF4-FFF2-40B4-BE49-F238E27FC236}">
                <a16:creationId xmlns:a16="http://schemas.microsoft.com/office/drawing/2014/main" id="{A09B5D17-5CB1-4F09-9942-523F28E11F50}"/>
              </a:ext>
            </a:extLst>
          </p:cNvPr>
          <p:cNvSpPr txBox="1"/>
          <p:nvPr/>
        </p:nvSpPr>
        <p:spPr>
          <a:xfrm>
            <a:off x="7716495" y="1462046"/>
            <a:ext cx="50975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833" name="object-060: 解串 / 帧行">
            <a:extLst>
              <a:ext uri="{FF2B5EF4-FFF2-40B4-BE49-F238E27FC236}">
                <a16:creationId xmlns:a16="http://schemas.microsoft.com/office/drawing/2014/main" id="{A4A92F41-F952-4D36-9FD8-9D4521EEAEB1}"/>
              </a:ext>
            </a:extLst>
          </p:cNvPr>
          <p:cNvSpPr txBox="1"/>
          <p:nvPr/>
        </p:nvSpPr>
        <p:spPr>
          <a:xfrm>
            <a:off x="7714091" y="1587624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834" name="cfg-tag-C4-60">
            <a:extLst>
              <a:ext uri="{FF2B5EF4-FFF2-40B4-BE49-F238E27FC236}">
                <a16:creationId xmlns:a16="http://schemas.microsoft.com/office/drawing/2014/main" id="{889DE112-44D4-4243-93D5-ABB1ACA86D6E}"/>
              </a:ext>
            </a:extLst>
          </p:cNvPr>
          <p:cNvSpPr/>
          <p:nvPr/>
        </p:nvSpPr>
        <p:spPr>
          <a:xfrm>
            <a:off x="8047573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5" name="object-062: C4">
            <a:extLst>
              <a:ext uri="{FF2B5EF4-FFF2-40B4-BE49-F238E27FC236}">
                <a16:creationId xmlns:a16="http://schemas.microsoft.com/office/drawing/2014/main" id="{3EB18B95-08AB-4276-B69A-36E4026D5732}"/>
              </a:ext>
            </a:extLst>
          </p:cNvPr>
          <p:cNvSpPr txBox="1"/>
          <p:nvPr/>
        </p:nvSpPr>
        <p:spPr>
          <a:xfrm>
            <a:off x="8077467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836" name="pixel-cdc">
            <a:extLst>
              <a:ext uri="{FF2B5EF4-FFF2-40B4-BE49-F238E27FC236}">
                <a16:creationId xmlns:a16="http://schemas.microsoft.com/office/drawing/2014/main" id="{7B21DA8E-5581-4742-85D5-AE770D9C6062}"/>
              </a:ext>
            </a:extLst>
          </p:cNvPr>
          <p:cNvSpPr/>
          <p:nvPr/>
        </p:nvSpPr>
        <p:spPr>
          <a:xfrm>
            <a:off x="8352373" y="1314349"/>
            <a:ext cx="541867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7" name="object-064: CDC / FIFO">
            <a:extLst>
              <a:ext uri="{FF2B5EF4-FFF2-40B4-BE49-F238E27FC236}">
                <a16:creationId xmlns:a16="http://schemas.microsoft.com/office/drawing/2014/main" id="{0AD2F2A6-34C1-4782-8DDB-0966C51656F8}"/>
              </a:ext>
            </a:extLst>
          </p:cNvPr>
          <p:cNvSpPr txBox="1"/>
          <p:nvPr/>
        </p:nvSpPr>
        <p:spPr>
          <a:xfrm>
            <a:off x="8342781" y="1462046"/>
            <a:ext cx="56105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838" name="object-065: 像素流缓冲">
            <a:extLst>
              <a:ext uri="{FF2B5EF4-FFF2-40B4-BE49-F238E27FC236}">
                <a16:creationId xmlns:a16="http://schemas.microsoft.com/office/drawing/2014/main" id="{9EB67424-CB21-4439-890E-47387DE671C2}"/>
              </a:ext>
            </a:extLst>
          </p:cNvPr>
          <p:cNvSpPr txBox="1"/>
          <p:nvPr/>
        </p:nvSpPr>
        <p:spPr>
          <a:xfrm>
            <a:off x="8366826" y="1587624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839" name="isp">
            <a:extLst>
              <a:ext uri="{FF2B5EF4-FFF2-40B4-BE49-F238E27FC236}">
                <a16:creationId xmlns:a16="http://schemas.microsoft.com/office/drawing/2014/main" id="{D0A0421C-79B2-4D46-8E1F-76B68034EAB1}"/>
              </a:ext>
            </a:extLst>
          </p:cNvPr>
          <p:cNvSpPr/>
          <p:nvPr/>
        </p:nvSpPr>
        <p:spPr>
          <a:xfrm>
            <a:off x="8995840" y="1314349"/>
            <a:ext cx="558800" cy="6265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0" name="object-067: ISP">
            <a:extLst>
              <a:ext uri="{FF2B5EF4-FFF2-40B4-BE49-F238E27FC236}">
                <a16:creationId xmlns:a16="http://schemas.microsoft.com/office/drawing/2014/main" id="{D8417204-1D66-47F9-AAE6-B61AAFB8EE07}"/>
              </a:ext>
            </a:extLst>
          </p:cNvPr>
          <p:cNvSpPr txBox="1"/>
          <p:nvPr/>
        </p:nvSpPr>
        <p:spPr>
          <a:xfrm>
            <a:off x="9193486" y="1462046"/>
            <a:ext cx="16350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841" name="object-068: 行缓冲 / 处理">
            <a:extLst>
              <a:ext uri="{FF2B5EF4-FFF2-40B4-BE49-F238E27FC236}">
                <a16:creationId xmlns:a16="http://schemas.microsoft.com/office/drawing/2014/main" id="{634F747F-0ED0-4BF1-9BD9-5D880E3F48CA}"/>
              </a:ext>
            </a:extLst>
          </p:cNvPr>
          <p:cNvSpPr txBox="1"/>
          <p:nvPr/>
        </p:nvSpPr>
        <p:spPr>
          <a:xfrm>
            <a:off x="8995841" y="1587624"/>
            <a:ext cx="496098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行缓冲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42" name="cfg-tag-C5-68">
            <a:extLst>
              <a:ext uri="{FF2B5EF4-FFF2-40B4-BE49-F238E27FC236}">
                <a16:creationId xmlns:a16="http://schemas.microsoft.com/office/drawing/2014/main" id="{5C076AFD-1FBD-4A5D-8C7D-74E0C3A80EAB}"/>
              </a:ext>
            </a:extLst>
          </p:cNvPr>
          <p:cNvSpPr/>
          <p:nvPr/>
        </p:nvSpPr>
        <p:spPr>
          <a:xfrm>
            <a:off x="9351440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3" name="object-070: C5">
            <a:extLst>
              <a:ext uri="{FF2B5EF4-FFF2-40B4-BE49-F238E27FC236}">
                <a16:creationId xmlns:a16="http://schemas.microsoft.com/office/drawing/2014/main" id="{F75900B3-9299-448E-A630-B81C3623B85A}"/>
              </a:ext>
            </a:extLst>
          </p:cNvPr>
          <p:cNvSpPr txBox="1"/>
          <p:nvPr/>
        </p:nvSpPr>
        <p:spPr>
          <a:xfrm>
            <a:off x="9381333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844" name="frame-select">
            <a:extLst>
              <a:ext uri="{FF2B5EF4-FFF2-40B4-BE49-F238E27FC236}">
                <a16:creationId xmlns:a16="http://schemas.microsoft.com/office/drawing/2014/main" id="{29358133-0E92-4973-90EB-96977D079B88}"/>
              </a:ext>
            </a:extLst>
          </p:cNvPr>
          <p:cNvSpPr/>
          <p:nvPr/>
        </p:nvSpPr>
        <p:spPr>
          <a:xfrm>
            <a:off x="9656240" y="1314349"/>
            <a:ext cx="6096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5" name="object-072: 帧边界选择">
            <a:extLst>
              <a:ext uri="{FF2B5EF4-FFF2-40B4-BE49-F238E27FC236}">
                <a16:creationId xmlns:a16="http://schemas.microsoft.com/office/drawing/2014/main" id="{D7CD0A41-01E5-4FE9-BA79-107B8A50C3DF}"/>
              </a:ext>
            </a:extLst>
          </p:cNvPr>
          <p:cNvSpPr txBox="1"/>
          <p:nvPr/>
        </p:nvSpPr>
        <p:spPr>
          <a:xfrm>
            <a:off x="9704559" y="1462046"/>
            <a:ext cx="5129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846" name="object-073: RAW / ISP">
            <a:extLst>
              <a:ext uri="{FF2B5EF4-FFF2-40B4-BE49-F238E27FC236}">
                <a16:creationId xmlns:a16="http://schemas.microsoft.com/office/drawing/2014/main" id="{6D9F2414-8C65-4383-AD03-DA29FA12D718}"/>
              </a:ext>
            </a:extLst>
          </p:cNvPr>
          <p:cNvSpPr txBox="1"/>
          <p:nvPr/>
        </p:nvSpPr>
        <p:spPr>
          <a:xfrm>
            <a:off x="9710971" y="1587624"/>
            <a:ext cx="50013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847" name="frame-dma">
            <a:extLst>
              <a:ext uri="{FF2B5EF4-FFF2-40B4-BE49-F238E27FC236}">
                <a16:creationId xmlns:a16="http://schemas.microsoft.com/office/drawing/2014/main" id="{CC8C5712-E151-4303-93AC-64CB6E17095D}"/>
              </a:ext>
            </a:extLst>
          </p:cNvPr>
          <p:cNvSpPr/>
          <p:nvPr/>
        </p:nvSpPr>
        <p:spPr>
          <a:xfrm>
            <a:off x="10384373" y="1314349"/>
            <a:ext cx="728133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8" name="object-075: 帧写入 DMA">
            <a:extLst>
              <a:ext uri="{FF2B5EF4-FFF2-40B4-BE49-F238E27FC236}">
                <a16:creationId xmlns:a16="http://schemas.microsoft.com/office/drawing/2014/main" id="{24C26ABC-45E2-4E21-AB00-AF8C2335CE52}"/>
              </a:ext>
            </a:extLst>
          </p:cNvPr>
          <p:cNvSpPr txBox="1"/>
          <p:nvPr/>
        </p:nvSpPr>
        <p:spPr>
          <a:xfrm>
            <a:off x="10447076" y="1462046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849" name="object-076: 地址 / stride">
            <a:extLst>
              <a:ext uri="{FF2B5EF4-FFF2-40B4-BE49-F238E27FC236}">
                <a16:creationId xmlns:a16="http://schemas.microsoft.com/office/drawing/2014/main" id="{0C54A5BA-9475-4ABD-B61F-EE92C0AB5523}"/>
              </a:ext>
            </a:extLst>
          </p:cNvPr>
          <p:cNvSpPr txBox="1"/>
          <p:nvPr/>
        </p:nvSpPr>
        <p:spPr>
          <a:xfrm>
            <a:off x="10455891" y="1587624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850" name="cfg-tag-C8-76">
            <a:extLst>
              <a:ext uri="{FF2B5EF4-FFF2-40B4-BE49-F238E27FC236}">
                <a16:creationId xmlns:a16="http://schemas.microsoft.com/office/drawing/2014/main" id="{1BC77144-E2BE-46C1-BF82-522BD58EED78}"/>
              </a:ext>
            </a:extLst>
          </p:cNvPr>
          <p:cNvSpPr/>
          <p:nvPr/>
        </p:nvSpPr>
        <p:spPr>
          <a:xfrm>
            <a:off x="10909307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1" name="object-078: C8">
            <a:extLst>
              <a:ext uri="{FF2B5EF4-FFF2-40B4-BE49-F238E27FC236}">
                <a16:creationId xmlns:a16="http://schemas.microsoft.com/office/drawing/2014/main" id="{2697A429-7A0F-44DF-B369-4C3F2764AFA0}"/>
              </a:ext>
            </a:extLst>
          </p:cNvPr>
          <p:cNvSpPr txBox="1"/>
          <p:nvPr/>
        </p:nvSpPr>
        <p:spPr>
          <a:xfrm>
            <a:off x="10939200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cxnSp>
        <p:nvCxnSpPr>
          <p:cNvPr id="852" name="lvds-cdc">
            <a:extLst>
              <a:ext uri="{FF2B5EF4-FFF2-40B4-BE49-F238E27FC236}">
                <a16:creationId xmlns:a16="http://schemas.microsoft.com/office/drawing/2014/main" id="{FADC3912-8F6A-41A4-A1AC-0683D6FEF878}"/>
              </a:ext>
            </a:extLst>
          </p:cNvPr>
          <p:cNvCxnSpPr/>
          <p:nvPr/>
        </p:nvCxnSpPr>
        <p:spPr>
          <a:xfrm>
            <a:off x="8250773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3" name="cdc-isp">
            <a:extLst>
              <a:ext uri="{FF2B5EF4-FFF2-40B4-BE49-F238E27FC236}">
                <a16:creationId xmlns:a16="http://schemas.microsoft.com/office/drawing/2014/main" id="{C8D68A84-0EDF-4C1B-97C7-070523D68F58}"/>
              </a:ext>
            </a:extLst>
          </p:cNvPr>
          <p:cNvCxnSpPr/>
          <p:nvPr/>
        </p:nvCxnSpPr>
        <p:spPr>
          <a:xfrm>
            <a:off x="88942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4" name="isp-select">
            <a:extLst>
              <a:ext uri="{FF2B5EF4-FFF2-40B4-BE49-F238E27FC236}">
                <a16:creationId xmlns:a16="http://schemas.microsoft.com/office/drawing/2014/main" id="{B9CB8D76-C114-4215-8002-C59B41C900E6}"/>
              </a:ext>
            </a:extLst>
          </p:cNvPr>
          <p:cNvCxnSpPr/>
          <p:nvPr/>
        </p:nvCxnSpPr>
        <p:spPr>
          <a:xfrm>
            <a:off x="95546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5" name="select-dma">
            <a:extLst>
              <a:ext uri="{FF2B5EF4-FFF2-40B4-BE49-F238E27FC236}">
                <a16:creationId xmlns:a16="http://schemas.microsoft.com/office/drawing/2014/main" id="{A4DF7387-49AD-4C18-8C33-962709E305CB}"/>
              </a:ext>
            </a:extLst>
          </p:cNvPr>
          <p:cNvCxnSpPr/>
          <p:nvPr/>
        </p:nvCxnSpPr>
        <p:spPr>
          <a:xfrm>
            <a:off x="10265840" y="1619149"/>
            <a:ext cx="118533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856" name="raw-bypass">
            <a:extLst>
              <a:ext uri="{FF2B5EF4-FFF2-40B4-BE49-F238E27FC236}">
                <a16:creationId xmlns:a16="http://schemas.microsoft.com/office/drawing/2014/main" id="{E31970F6-2698-453E-AFEC-330A77E21146}"/>
              </a:ext>
            </a:extLst>
          </p:cNvPr>
          <p:cNvSpPr/>
          <p:nvPr/>
        </p:nvSpPr>
        <p:spPr>
          <a:xfrm>
            <a:off x="8945040" y="1161949"/>
            <a:ext cx="1016000" cy="457200"/>
          </a:xfrm>
          <a:custGeom>
            <a:avLst/>
            <a:gdLst/>
            <a:ahLst/>
            <a:cxnLst/>
            <a:rect l="0" t="0" r="r" b="b"/>
            <a:pathLst>
              <a:path w="2438400" h="1097280" fill="none">
                <a:moveTo>
                  <a:pt x="0" y="1097280"/>
                </a:moveTo>
                <a:lnTo>
                  <a:pt x="0" y="0"/>
                </a:lnTo>
                <a:lnTo>
                  <a:pt x="2438400" y="0"/>
                </a:lnTo>
                <a:lnTo>
                  <a:pt x="2438400" y="365760"/>
                </a:lnTo>
              </a:path>
            </a:pathLst>
          </a:custGeom>
          <a:noFill/>
          <a:ln w="24384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7" name="raw-tap">
            <a:extLst>
              <a:ext uri="{FF2B5EF4-FFF2-40B4-BE49-F238E27FC236}">
                <a16:creationId xmlns:a16="http://schemas.microsoft.com/office/drawing/2014/main" id="{6B999DDA-62FA-4A7E-BBF9-40D1A20AF99E}"/>
              </a:ext>
            </a:extLst>
          </p:cNvPr>
          <p:cNvSpPr/>
          <p:nvPr/>
        </p:nvSpPr>
        <p:spPr>
          <a:xfrm>
            <a:off x="8929800" y="1603909"/>
            <a:ext cx="30480" cy="30480"/>
          </a:xfrm>
          <a:prstGeom prst="ellipse">
            <a:avLst/>
          </a:prstGeom>
          <a:solidFill>
            <a:srgbClr val="B960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8" name="object-085: RAW 旁路">
            <a:extLst>
              <a:ext uri="{FF2B5EF4-FFF2-40B4-BE49-F238E27FC236}">
                <a16:creationId xmlns:a16="http://schemas.microsoft.com/office/drawing/2014/main" id="{72B9973C-FC5E-456A-8F68-248CF7856BB7}"/>
              </a:ext>
            </a:extLst>
          </p:cNvPr>
          <p:cNvSpPr txBox="1"/>
          <p:nvPr/>
        </p:nvSpPr>
        <p:spPr>
          <a:xfrm>
            <a:off x="9293846" y="1037184"/>
            <a:ext cx="41998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859" name="object-086: RAW / ISP 二选一 · 帧打包">
            <a:extLst>
              <a:ext uri="{FF2B5EF4-FFF2-40B4-BE49-F238E27FC236}">
                <a16:creationId xmlns:a16="http://schemas.microsoft.com/office/drawing/2014/main" id="{33365FA1-2E05-4350-9729-DDEC1D772F4C}"/>
              </a:ext>
            </a:extLst>
          </p:cNvPr>
          <p:cNvSpPr txBox="1"/>
          <p:nvPr/>
        </p:nvSpPr>
        <p:spPr>
          <a:xfrm>
            <a:off x="9438563" y="2029207"/>
            <a:ext cx="107882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RAW / ISP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二选一</a:t>
            </a:r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·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帧打包</a:t>
            </a:r>
            <a:endParaRPr sz="7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0" name="isp-gb">
            <a:extLst>
              <a:ext uri="{FF2B5EF4-FFF2-40B4-BE49-F238E27FC236}">
                <a16:creationId xmlns:a16="http://schemas.microsoft.com/office/drawing/2014/main" id="{3F1E7E01-A7B9-4139-9377-4BE9A2B8B519}"/>
              </a:ext>
            </a:extLst>
          </p:cNvPr>
          <p:cNvSpPr/>
          <p:nvPr/>
        </p:nvSpPr>
        <p:spPr>
          <a:xfrm>
            <a:off x="4789600" y="1839283"/>
            <a:ext cx="4206240" cy="585893"/>
          </a:xfrm>
          <a:custGeom>
            <a:avLst/>
            <a:gdLst/>
            <a:ahLst/>
            <a:cxnLst/>
            <a:rect l="0" t="0" r="r" b="b"/>
            <a:pathLst>
              <a:path w="10094976" h="1406144" fill="none">
                <a:moveTo>
                  <a:pt x="10094976" y="0"/>
                </a:moveTo>
                <a:lnTo>
                  <a:pt x="9973056" y="0"/>
                </a:lnTo>
                <a:lnTo>
                  <a:pt x="9973056" y="1113536"/>
                </a:lnTo>
                <a:cubicBezTo>
                  <a:pt x="9777984" y="1113536"/>
                  <a:pt x="9777984" y="1324864"/>
                  <a:pt x="9973056" y="1324864"/>
                </a:cubicBezTo>
                <a:lnTo>
                  <a:pt x="9973056" y="1406144"/>
                </a:lnTo>
                <a:lnTo>
                  <a:pt x="178816" y="1406144"/>
                </a:lnTo>
                <a:lnTo>
                  <a:pt x="178816" y="1048512"/>
                </a:lnTo>
                <a:cubicBezTo>
                  <a:pt x="0" y="1048512"/>
                  <a:pt x="0" y="837184"/>
                  <a:pt x="178816" y="837184"/>
                </a:cubicBezTo>
                <a:lnTo>
                  <a:pt x="178816" y="772160"/>
                </a:lnTo>
              </a:path>
            </a:pathLst>
          </a:custGeom>
          <a:noFill/>
          <a:ln w="25197" cap="flat">
            <a:solidFill>
              <a:srgbClr val="187C78"/>
            </a:solidFill>
            <a:custDash>
              <a:ds d="322581" sp="193548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1" name="object-088: ISP 中间数据 ↔ GB">
            <a:extLst>
              <a:ext uri="{FF2B5EF4-FFF2-40B4-BE49-F238E27FC236}">
                <a16:creationId xmlns:a16="http://schemas.microsoft.com/office/drawing/2014/main" id="{C863B04F-CF8F-4E7E-B05F-17A7C6830FA7}"/>
              </a:ext>
            </a:extLst>
          </p:cNvPr>
          <p:cNvSpPr txBox="1"/>
          <p:nvPr/>
        </p:nvSpPr>
        <p:spPr>
          <a:xfrm>
            <a:off x="8092263" y="2152994"/>
            <a:ext cx="81913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中间数据</a:t>
            </a:r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 ↔ GB</a:t>
            </a:r>
          </a:p>
        </p:txBody>
      </p:sp>
      <p:sp>
        <p:nvSpPr>
          <p:cNvPr id="862" name="debug-sba">
            <a:extLst>
              <a:ext uri="{FF2B5EF4-FFF2-40B4-BE49-F238E27FC236}">
                <a16:creationId xmlns:a16="http://schemas.microsoft.com/office/drawing/2014/main" id="{1596E9AB-5246-4524-A9F6-2A23D87B0F25}"/>
              </a:ext>
            </a:extLst>
          </p:cNvPr>
          <p:cNvSpPr/>
          <p:nvPr/>
        </p:nvSpPr>
        <p:spPr>
          <a:xfrm>
            <a:off x="1341973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3" name="object-090: Debug / SBA">
            <a:extLst>
              <a:ext uri="{FF2B5EF4-FFF2-40B4-BE49-F238E27FC236}">
                <a16:creationId xmlns:a16="http://schemas.microsoft.com/office/drawing/2014/main" id="{76CF0374-0CD8-4165-8BEC-7B69F47D7596}"/>
              </a:ext>
            </a:extLst>
          </p:cNvPr>
          <p:cNvSpPr txBox="1"/>
          <p:nvPr/>
        </p:nvSpPr>
        <p:spPr>
          <a:xfrm>
            <a:off x="1441952" y="2535474"/>
            <a:ext cx="66364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864" name="object-091: JTAG 总线访问">
            <a:extLst>
              <a:ext uri="{FF2B5EF4-FFF2-40B4-BE49-F238E27FC236}">
                <a16:creationId xmlns:a16="http://schemas.microsoft.com/office/drawing/2014/main" id="{71B37969-8767-42AE-B670-5DBB47120046}"/>
              </a:ext>
            </a:extLst>
          </p:cNvPr>
          <p:cNvSpPr txBox="1"/>
          <p:nvPr/>
        </p:nvSpPr>
        <p:spPr>
          <a:xfrm>
            <a:off x="1429128" y="2664709"/>
            <a:ext cx="6892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865" name="idma-master">
            <a:extLst>
              <a:ext uri="{FF2B5EF4-FFF2-40B4-BE49-F238E27FC236}">
                <a16:creationId xmlns:a16="http://schemas.microsoft.com/office/drawing/2014/main" id="{D060EB5F-64EB-4075-A7B4-E3F6B610531A}"/>
              </a:ext>
            </a:extLst>
          </p:cNvPr>
          <p:cNvSpPr/>
          <p:nvPr/>
        </p:nvSpPr>
        <p:spPr>
          <a:xfrm>
            <a:off x="3814240" y="2508922"/>
            <a:ext cx="931333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6" name="object-093: iDMA 数据主口">
            <a:extLst>
              <a:ext uri="{FF2B5EF4-FFF2-40B4-BE49-F238E27FC236}">
                <a16:creationId xmlns:a16="http://schemas.microsoft.com/office/drawing/2014/main" id="{E6FB1EA0-D2F4-4D31-BB6F-D110A206E95D}"/>
              </a:ext>
            </a:extLst>
          </p:cNvPr>
          <p:cNvSpPr txBox="1"/>
          <p:nvPr/>
        </p:nvSpPr>
        <p:spPr>
          <a:xfrm>
            <a:off x="3912017" y="2535474"/>
            <a:ext cx="73577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</a:t>
            </a:r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数据主口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7" name="object-094: 内存 ↔ 内存">
            <a:extLst>
              <a:ext uri="{FF2B5EF4-FFF2-40B4-BE49-F238E27FC236}">
                <a16:creationId xmlns:a16="http://schemas.microsoft.com/office/drawing/2014/main" id="{C5EAB3A8-AD19-41BD-AC1F-1AE648CAF936}"/>
              </a:ext>
            </a:extLst>
          </p:cNvPr>
          <p:cNvSpPr txBox="1"/>
          <p:nvPr/>
        </p:nvSpPr>
        <p:spPr>
          <a:xfrm>
            <a:off x="3973732" y="2664709"/>
            <a:ext cx="6123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↔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8" name="slink-rx">
            <a:extLst>
              <a:ext uri="{FF2B5EF4-FFF2-40B4-BE49-F238E27FC236}">
                <a16:creationId xmlns:a16="http://schemas.microsoft.com/office/drawing/2014/main" id="{A4231CCA-B895-4849-AB55-04416D5EBB9F}"/>
              </a:ext>
            </a:extLst>
          </p:cNvPr>
          <p:cNvSpPr/>
          <p:nvPr/>
        </p:nvSpPr>
        <p:spPr>
          <a:xfrm>
            <a:off x="4965706" y="2508922"/>
            <a:ext cx="9652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9" name="object-096: Serial Link RX">
            <a:extLst>
              <a:ext uri="{FF2B5EF4-FFF2-40B4-BE49-F238E27FC236}">
                <a16:creationId xmlns:a16="http://schemas.microsoft.com/office/drawing/2014/main" id="{365954D2-D846-4F1C-BDFB-76D16D4FFB61}"/>
              </a:ext>
            </a:extLst>
          </p:cNvPr>
          <p:cNvSpPr txBox="1"/>
          <p:nvPr/>
        </p:nvSpPr>
        <p:spPr>
          <a:xfrm>
            <a:off x="5096447" y="2535474"/>
            <a:ext cx="7037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870" name="object-097: 远端请求入口">
            <a:extLst>
              <a:ext uri="{FF2B5EF4-FFF2-40B4-BE49-F238E27FC236}">
                <a16:creationId xmlns:a16="http://schemas.microsoft.com/office/drawing/2014/main" id="{217A0520-5917-422D-9C30-2EB747C9B74F}"/>
              </a:ext>
            </a:extLst>
          </p:cNvPr>
          <p:cNvSpPr txBox="1"/>
          <p:nvPr/>
        </p:nvSpPr>
        <p:spPr>
          <a:xfrm>
            <a:off x="5140530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871" name="vga-master">
            <a:extLst>
              <a:ext uri="{FF2B5EF4-FFF2-40B4-BE49-F238E27FC236}">
                <a16:creationId xmlns:a16="http://schemas.microsoft.com/office/drawing/2014/main" id="{B2224093-8A15-455D-B781-59CA21A6C635}"/>
              </a:ext>
            </a:extLst>
          </p:cNvPr>
          <p:cNvSpPr/>
          <p:nvPr/>
        </p:nvSpPr>
        <p:spPr>
          <a:xfrm>
            <a:off x="6151040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2" name="object-099: VGA">
            <a:extLst>
              <a:ext uri="{FF2B5EF4-FFF2-40B4-BE49-F238E27FC236}">
                <a16:creationId xmlns:a16="http://schemas.microsoft.com/office/drawing/2014/main" id="{25BE3015-0005-4226-9C84-4545B442FD9B}"/>
              </a:ext>
            </a:extLst>
          </p:cNvPr>
          <p:cNvSpPr txBox="1"/>
          <p:nvPr/>
        </p:nvSpPr>
        <p:spPr>
          <a:xfrm>
            <a:off x="6468225" y="2535474"/>
            <a:ext cx="22923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873" name="object-100: 帧缓冲读取">
            <a:extLst>
              <a:ext uri="{FF2B5EF4-FFF2-40B4-BE49-F238E27FC236}">
                <a16:creationId xmlns:a16="http://schemas.microsoft.com/office/drawing/2014/main" id="{FD70D967-D2C8-496B-BE8F-B24F3DD6FBA0}"/>
              </a:ext>
            </a:extLst>
          </p:cNvPr>
          <p:cNvSpPr txBox="1"/>
          <p:nvPr/>
        </p:nvSpPr>
        <p:spPr>
          <a:xfrm>
            <a:off x="6326360" y="2664709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874" name="usb-master">
            <a:extLst>
              <a:ext uri="{FF2B5EF4-FFF2-40B4-BE49-F238E27FC236}">
                <a16:creationId xmlns:a16="http://schemas.microsoft.com/office/drawing/2014/main" id="{31F02D86-354D-48BC-8FB3-AC8A1F1E3AF0}"/>
              </a:ext>
            </a:extLst>
          </p:cNvPr>
          <p:cNvSpPr/>
          <p:nvPr/>
        </p:nvSpPr>
        <p:spPr>
          <a:xfrm>
            <a:off x="7234773" y="2508922"/>
            <a:ext cx="846667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5" name="object-102: USB DMA">
            <a:extLst>
              <a:ext uri="{FF2B5EF4-FFF2-40B4-BE49-F238E27FC236}">
                <a16:creationId xmlns:a16="http://schemas.microsoft.com/office/drawing/2014/main" id="{1870D71B-ADC3-4D4F-BC58-D7D3E47D4E76}"/>
              </a:ext>
            </a:extLst>
          </p:cNvPr>
          <p:cNvSpPr txBox="1"/>
          <p:nvPr/>
        </p:nvSpPr>
        <p:spPr>
          <a:xfrm>
            <a:off x="7404031" y="2535474"/>
            <a:ext cx="50815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876" name="object-103: OHCI 主口">
            <a:extLst>
              <a:ext uri="{FF2B5EF4-FFF2-40B4-BE49-F238E27FC236}">
                <a16:creationId xmlns:a16="http://schemas.microsoft.com/office/drawing/2014/main" id="{191E51EC-6998-4A14-9357-54E80C396DC6}"/>
              </a:ext>
            </a:extLst>
          </p:cNvPr>
          <p:cNvSpPr txBox="1"/>
          <p:nvPr/>
        </p:nvSpPr>
        <p:spPr>
          <a:xfrm>
            <a:off x="7408840" y="2664709"/>
            <a:ext cx="4985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77" name="ext-master">
            <a:extLst>
              <a:ext uri="{FF2B5EF4-FFF2-40B4-BE49-F238E27FC236}">
                <a16:creationId xmlns:a16="http://schemas.microsoft.com/office/drawing/2014/main" id="{D41F2F3F-DB15-4EE3-B2D0-6286EE3AE509}"/>
              </a:ext>
            </a:extLst>
          </p:cNvPr>
          <p:cNvSpPr/>
          <p:nvPr/>
        </p:nvSpPr>
        <p:spPr>
          <a:xfrm>
            <a:off x="8318506" y="2508922"/>
            <a:ext cx="1253067" cy="338667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8" name="object-105: AXI 外部 master">
            <a:extLst>
              <a:ext uri="{FF2B5EF4-FFF2-40B4-BE49-F238E27FC236}">
                <a16:creationId xmlns:a16="http://schemas.microsoft.com/office/drawing/2014/main" id="{A36E69F6-7BBB-41B0-9F39-C22405688F34}"/>
              </a:ext>
            </a:extLst>
          </p:cNvPr>
          <p:cNvSpPr txBox="1"/>
          <p:nvPr/>
        </p:nvSpPr>
        <p:spPr>
          <a:xfrm>
            <a:off x="8541885" y="2535474"/>
            <a:ext cx="80631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879" name="object-106: 可选扩展入口">
            <a:extLst>
              <a:ext uri="{FF2B5EF4-FFF2-40B4-BE49-F238E27FC236}">
                <a16:creationId xmlns:a16="http://schemas.microsoft.com/office/drawing/2014/main" id="{F71D184D-3485-4A10-B629-6B91027A5CF1}"/>
              </a:ext>
            </a:extLst>
          </p:cNvPr>
          <p:cNvSpPr txBox="1"/>
          <p:nvPr/>
        </p:nvSpPr>
        <p:spPr>
          <a:xfrm>
            <a:off x="8637264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cxnSp>
        <p:nvCxnSpPr>
          <p:cNvPr id="880" name="cpu-master">
            <a:extLst>
              <a:ext uri="{FF2B5EF4-FFF2-40B4-BE49-F238E27FC236}">
                <a16:creationId xmlns:a16="http://schemas.microsoft.com/office/drawing/2014/main" id="{FF4EEB96-E348-415C-B377-A5ADD617D4D2}"/>
              </a:ext>
            </a:extLst>
          </p:cNvPr>
          <p:cNvCxnSpPr>
            <a:cxnSpLocks/>
            <a:endCxn id="889" idx="0"/>
          </p:cNvCxnSpPr>
          <p:nvPr/>
        </p:nvCxnSpPr>
        <p:spPr>
          <a:xfrm>
            <a:off x="749306" y="1839283"/>
            <a:ext cx="0" cy="1134533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81" name="ara-master">
            <a:extLst>
              <a:ext uri="{FF2B5EF4-FFF2-40B4-BE49-F238E27FC236}">
                <a16:creationId xmlns:a16="http://schemas.microsoft.com/office/drawing/2014/main" id="{DB1A5D2C-422A-4770-9E00-CD067600FA1E}"/>
              </a:ext>
            </a:extLst>
          </p:cNvPr>
          <p:cNvCxnSpPr>
            <a:cxnSpLocks/>
          </p:cNvCxnSpPr>
          <p:nvPr/>
        </p:nvCxnSpPr>
        <p:spPr>
          <a:xfrm>
            <a:off x="3052240" y="1978136"/>
            <a:ext cx="0" cy="99568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82" name="object-109: CPU AXI">
            <a:extLst>
              <a:ext uri="{FF2B5EF4-FFF2-40B4-BE49-F238E27FC236}">
                <a16:creationId xmlns:a16="http://schemas.microsoft.com/office/drawing/2014/main" id="{2EE32942-FF5A-4F6E-886B-B3990919F08A}"/>
              </a:ext>
            </a:extLst>
          </p:cNvPr>
          <p:cNvSpPr txBox="1"/>
          <p:nvPr/>
        </p:nvSpPr>
        <p:spPr>
          <a:xfrm>
            <a:off x="267636" y="2713042"/>
            <a:ext cx="4071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CPU AXI</a:t>
            </a:r>
          </a:p>
        </p:txBody>
      </p:sp>
      <p:sp>
        <p:nvSpPr>
          <p:cNvPr id="883" name="object-110: Ara 普通地址">
            <a:extLst>
              <a:ext uri="{FF2B5EF4-FFF2-40B4-BE49-F238E27FC236}">
                <a16:creationId xmlns:a16="http://schemas.microsoft.com/office/drawing/2014/main" id="{245061BD-FC91-47D9-88A0-2FD1347A1C20}"/>
              </a:ext>
            </a:extLst>
          </p:cNvPr>
          <p:cNvSpPr txBox="1"/>
          <p:nvPr/>
        </p:nvSpPr>
        <p:spPr>
          <a:xfrm>
            <a:off x="2376967" y="2671482"/>
            <a:ext cx="6075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Ara 普通地址</a:t>
            </a:r>
          </a:p>
        </p:txBody>
      </p:sp>
      <p:sp>
        <p:nvSpPr>
          <p:cNvPr id="884" name="axi-crossbar">
            <a:extLst>
              <a:ext uri="{FF2B5EF4-FFF2-40B4-BE49-F238E27FC236}">
                <a16:creationId xmlns:a16="http://schemas.microsoft.com/office/drawing/2014/main" id="{30D056BC-A9A4-4B51-9CC0-7274C949CB73}"/>
              </a:ext>
            </a:extLst>
          </p:cNvPr>
          <p:cNvSpPr/>
          <p:nvPr/>
        </p:nvSpPr>
        <p:spPr>
          <a:xfrm>
            <a:off x="241306" y="3024616"/>
            <a:ext cx="9584267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85" name="object-112: AXI Crossbar">
            <a:extLst>
              <a:ext uri="{FF2B5EF4-FFF2-40B4-BE49-F238E27FC236}">
                <a16:creationId xmlns:a16="http://schemas.microsoft.com/office/drawing/2014/main" id="{AB49511B-F383-45E4-AB81-15319A3F9D0A}"/>
              </a:ext>
            </a:extLst>
          </p:cNvPr>
          <p:cNvSpPr txBox="1"/>
          <p:nvPr/>
        </p:nvSpPr>
        <p:spPr>
          <a:xfrm>
            <a:off x="4575782" y="3089976"/>
            <a:ext cx="915315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886" name="object-113: 7 × 5 基础端口 + 扩展  |  64 bit 数据 / 48 bit 地">
            <a:extLst>
              <a:ext uri="{FF2B5EF4-FFF2-40B4-BE49-F238E27FC236}">
                <a16:creationId xmlns:a16="http://schemas.microsoft.com/office/drawing/2014/main" id="{FBE91108-953C-4CEE-B85B-DAEFE394EDAF}"/>
              </a:ext>
            </a:extLst>
          </p:cNvPr>
          <p:cNvSpPr txBox="1"/>
          <p:nvPr/>
        </p:nvSpPr>
        <p:spPr>
          <a:xfrm>
            <a:off x="3278954" y="3272993"/>
            <a:ext cx="350897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7 × 5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基础端口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+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扩展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|  64 bit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48 bit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| 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地址译码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各目标仲裁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7" name="object-114: 输入侧 AXI RT：按配置可选">
            <a:extLst>
              <a:ext uri="{FF2B5EF4-FFF2-40B4-BE49-F238E27FC236}">
                <a16:creationId xmlns:a16="http://schemas.microsoft.com/office/drawing/2014/main" id="{65CC9354-9373-44A2-AA26-F79E5709F129}"/>
              </a:ext>
            </a:extLst>
          </p:cNvPr>
          <p:cNvSpPr txBox="1"/>
          <p:nvPr/>
        </p:nvSpPr>
        <p:spPr>
          <a:xfrm>
            <a:off x="317441" y="3328279"/>
            <a:ext cx="95859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</a:t>
            </a:r>
            <a:r>
              <a:rPr sz="6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RT：按配置可选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8" name="object-115: 未映射请求：DECERR">
            <a:extLst>
              <a:ext uri="{FF2B5EF4-FFF2-40B4-BE49-F238E27FC236}">
                <a16:creationId xmlns:a16="http://schemas.microsoft.com/office/drawing/2014/main" id="{439D34EE-5A46-40DF-B869-C096662E2F18}"/>
              </a:ext>
            </a:extLst>
          </p:cNvPr>
          <p:cNvSpPr txBox="1"/>
          <p:nvPr/>
        </p:nvSpPr>
        <p:spPr>
          <a:xfrm>
            <a:off x="8896251" y="3314636"/>
            <a:ext cx="755015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9" name="master-port-0">
            <a:extLst>
              <a:ext uri="{FF2B5EF4-FFF2-40B4-BE49-F238E27FC236}">
                <a16:creationId xmlns:a16="http://schemas.microsoft.com/office/drawing/2014/main" id="{0F326333-1538-41CD-932C-C2F8487F53DD}"/>
              </a:ext>
            </a:extLst>
          </p:cNvPr>
          <p:cNvSpPr/>
          <p:nvPr/>
        </p:nvSpPr>
        <p:spPr>
          <a:xfrm>
            <a:off x="5867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0" name="object-117: S0">
            <a:extLst>
              <a:ext uri="{FF2B5EF4-FFF2-40B4-BE49-F238E27FC236}">
                <a16:creationId xmlns:a16="http://schemas.microsoft.com/office/drawing/2014/main" id="{78E2AFC9-AAF7-46E1-9DFE-58FE70D5E1E2}"/>
              </a:ext>
            </a:extLst>
          </p:cNvPr>
          <p:cNvSpPr txBox="1"/>
          <p:nvPr/>
        </p:nvSpPr>
        <p:spPr>
          <a:xfrm>
            <a:off x="7020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cxnSp>
        <p:nvCxnSpPr>
          <p:cNvPr id="891" name="master-input-1">
            <a:extLst>
              <a:ext uri="{FF2B5EF4-FFF2-40B4-BE49-F238E27FC236}">
                <a16:creationId xmlns:a16="http://schemas.microsoft.com/office/drawing/2014/main" id="{ECA3108C-246D-415A-B588-68B49F8AC203}"/>
              </a:ext>
            </a:extLst>
          </p:cNvPr>
          <p:cNvCxnSpPr>
            <a:cxnSpLocks/>
            <a:stCxn id="862" idx="2"/>
            <a:endCxn id="892" idx="0"/>
          </p:cNvCxnSpPr>
          <p:nvPr/>
        </p:nvCxnSpPr>
        <p:spPr>
          <a:xfrm flipH="1">
            <a:off x="1772080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2" name="master-port-1">
            <a:extLst>
              <a:ext uri="{FF2B5EF4-FFF2-40B4-BE49-F238E27FC236}">
                <a16:creationId xmlns:a16="http://schemas.microsoft.com/office/drawing/2014/main" id="{4553B0C7-9421-4373-B12A-C9174C677111}"/>
              </a:ext>
            </a:extLst>
          </p:cNvPr>
          <p:cNvSpPr/>
          <p:nvPr/>
        </p:nvSpPr>
        <p:spPr>
          <a:xfrm>
            <a:off x="160952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3" name="object-120: S1">
            <a:extLst>
              <a:ext uri="{FF2B5EF4-FFF2-40B4-BE49-F238E27FC236}">
                <a16:creationId xmlns:a16="http://schemas.microsoft.com/office/drawing/2014/main" id="{3F43181B-DE1D-484D-B55A-742D23FD99AE}"/>
              </a:ext>
            </a:extLst>
          </p:cNvPr>
          <p:cNvSpPr txBox="1"/>
          <p:nvPr/>
        </p:nvSpPr>
        <p:spPr>
          <a:xfrm>
            <a:off x="172479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894" name="master-port-2">
            <a:extLst>
              <a:ext uri="{FF2B5EF4-FFF2-40B4-BE49-F238E27FC236}">
                <a16:creationId xmlns:a16="http://schemas.microsoft.com/office/drawing/2014/main" id="{602474F8-334C-4058-878B-BB667B6B2687}"/>
              </a:ext>
            </a:extLst>
          </p:cNvPr>
          <p:cNvSpPr/>
          <p:nvPr/>
        </p:nvSpPr>
        <p:spPr>
          <a:xfrm>
            <a:off x="28896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5" name="object-122: S2">
            <a:extLst>
              <a:ext uri="{FF2B5EF4-FFF2-40B4-BE49-F238E27FC236}">
                <a16:creationId xmlns:a16="http://schemas.microsoft.com/office/drawing/2014/main" id="{6EABCA1F-85F6-4ABE-BF62-5018DF89476E}"/>
              </a:ext>
            </a:extLst>
          </p:cNvPr>
          <p:cNvSpPr txBox="1"/>
          <p:nvPr/>
        </p:nvSpPr>
        <p:spPr>
          <a:xfrm>
            <a:off x="300495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cxnSp>
        <p:nvCxnSpPr>
          <p:cNvPr id="896" name="master-input-3">
            <a:extLst>
              <a:ext uri="{FF2B5EF4-FFF2-40B4-BE49-F238E27FC236}">
                <a16:creationId xmlns:a16="http://schemas.microsoft.com/office/drawing/2014/main" id="{41BDE088-AF36-4BF2-8B7A-C3BCBB0DD0E1}"/>
              </a:ext>
            </a:extLst>
          </p:cNvPr>
          <p:cNvCxnSpPr>
            <a:cxnSpLocks/>
            <a:stCxn id="865" idx="2"/>
            <a:endCxn id="898" idx="0"/>
          </p:cNvCxnSpPr>
          <p:nvPr/>
        </p:nvCxnSpPr>
        <p:spPr>
          <a:xfrm flipH="1">
            <a:off x="4278214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7" name="master-port-3">
            <a:extLst>
              <a:ext uri="{FF2B5EF4-FFF2-40B4-BE49-F238E27FC236}">
                <a16:creationId xmlns:a16="http://schemas.microsoft.com/office/drawing/2014/main" id="{C18A6326-AF43-41B2-B23E-331005ADBDC7}"/>
              </a:ext>
            </a:extLst>
          </p:cNvPr>
          <p:cNvSpPr/>
          <p:nvPr/>
        </p:nvSpPr>
        <p:spPr>
          <a:xfrm>
            <a:off x="41156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8" name="object-125: S3">
            <a:extLst>
              <a:ext uri="{FF2B5EF4-FFF2-40B4-BE49-F238E27FC236}">
                <a16:creationId xmlns:a16="http://schemas.microsoft.com/office/drawing/2014/main" id="{6FAAD788-A730-403A-9234-9AEE68214ED7}"/>
              </a:ext>
            </a:extLst>
          </p:cNvPr>
          <p:cNvSpPr txBox="1"/>
          <p:nvPr/>
        </p:nvSpPr>
        <p:spPr>
          <a:xfrm>
            <a:off x="42309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cxnSp>
        <p:nvCxnSpPr>
          <p:cNvPr id="899" name="master-input-4">
            <a:extLst>
              <a:ext uri="{FF2B5EF4-FFF2-40B4-BE49-F238E27FC236}">
                <a16:creationId xmlns:a16="http://schemas.microsoft.com/office/drawing/2014/main" id="{63194A64-7997-47D4-9B67-6A3B8A83FBA5}"/>
              </a:ext>
            </a:extLst>
          </p:cNvPr>
          <p:cNvCxnSpPr>
            <a:cxnSpLocks/>
            <a:stCxn id="868" idx="2"/>
            <a:endCxn id="900" idx="0"/>
          </p:cNvCxnSpPr>
          <p:nvPr/>
        </p:nvCxnSpPr>
        <p:spPr>
          <a:xfrm flipH="1">
            <a:off x="5446613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0" name="master-port-4">
            <a:extLst>
              <a:ext uri="{FF2B5EF4-FFF2-40B4-BE49-F238E27FC236}">
                <a16:creationId xmlns:a16="http://schemas.microsoft.com/office/drawing/2014/main" id="{DB92E762-D25D-4D20-BAFE-7089E116CA62}"/>
              </a:ext>
            </a:extLst>
          </p:cNvPr>
          <p:cNvSpPr/>
          <p:nvPr/>
        </p:nvSpPr>
        <p:spPr>
          <a:xfrm>
            <a:off x="52840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1" name="object-128: S4">
            <a:extLst>
              <a:ext uri="{FF2B5EF4-FFF2-40B4-BE49-F238E27FC236}">
                <a16:creationId xmlns:a16="http://schemas.microsoft.com/office/drawing/2014/main" id="{DF1FF693-6631-4141-920A-04372833575E}"/>
              </a:ext>
            </a:extLst>
          </p:cNvPr>
          <p:cNvSpPr txBox="1"/>
          <p:nvPr/>
        </p:nvSpPr>
        <p:spPr>
          <a:xfrm>
            <a:off x="53993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cxnSp>
        <p:nvCxnSpPr>
          <p:cNvPr id="902" name="master-input-5">
            <a:extLst>
              <a:ext uri="{FF2B5EF4-FFF2-40B4-BE49-F238E27FC236}">
                <a16:creationId xmlns:a16="http://schemas.microsoft.com/office/drawing/2014/main" id="{8ADECD2D-C41B-4634-88FE-5A08E996B139}"/>
              </a:ext>
            </a:extLst>
          </p:cNvPr>
          <p:cNvCxnSpPr>
            <a:cxnSpLocks/>
            <a:stCxn id="871" idx="2"/>
            <a:endCxn id="904" idx="0"/>
          </p:cNvCxnSpPr>
          <p:nvPr/>
        </p:nvCxnSpPr>
        <p:spPr>
          <a:xfrm flipH="1">
            <a:off x="6581147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3" name="master-port-5">
            <a:extLst>
              <a:ext uri="{FF2B5EF4-FFF2-40B4-BE49-F238E27FC236}">
                <a16:creationId xmlns:a16="http://schemas.microsoft.com/office/drawing/2014/main" id="{FE570239-49B0-4DE8-9C5D-20F4362D2680}"/>
              </a:ext>
            </a:extLst>
          </p:cNvPr>
          <p:cNvSpPr/>
          <p:nvPr/>
        </p:nvSpPr>
        <p:spPr>
          <a:xfrm>
            <a:off x="641858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4" name="object-131: S5">
            <a:extLst>
              <a:ext uri="{FF2B5EF4-FFF2-40B4-BE49-F238E27FC236}">
                <a16:creationId xmlns:a16="http://schemas.microsoft.com/office/drawing/2014/main" id="{C2B9F0FF-B46A-4399-9351-9076AE74ECA0}"/>
              </a:ext>
            </a:extLst>
          </p:cNvPr>
          <p:cNvSpPr txBox="1"/>
          <p:nvPr/>
        </p:nvSpPr>
        <p:spPr>
          <a:xfrm>
            <a:off x="653385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cxnSp>
        <p:nvCxnSpPr>
          <p:cNvPr id="905" name="master-input-6">
            <a:extLst>
              <a:ext uri="{FF2B5EF4-FFF2-40B4-BE49-F238E27FC236}">
                <a16:creationId xmlns:a16="http://schemas.microsoft.com/office/drawing/2014/main" id="{4D4E99B8-184F-42BF-848F-3380EE686863}"/>
              </a:ext>
            </a:extLst>
          </p:cNvPr>
          <p:cNvCxnSpPr>
            <a:cxnSpLocks/>
            <a:stCxn id="874" idx="2"/>
            <a:endCxn id="906" idx="0"/>
          </p:cNvCxnSpPr>
          <p:nvPr/>
        </p:nvCxnSpPr>
        <p:spPr>
          <a:xfrm flipH="1">
            <a:off x="7658106" y="2847589"/>
            <a:ext cx="1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6" name="master-port-6">
            <a:extLst>
              <a:ext uri="{FF2B5EF4-FFF2-40B4-BE49-F238E27FC236}">
                <a16:creationId xmlns:a16="http://schemas.microsoft.com/office/drawing/2014/main" id="{03A533EB-AB9B-4BC9-9006-ACC3DD5559C6}"/>
              </a:ext>
            </a:extLst>
          </p:cNvPr>
          <p:cNvSpPr/>
          <p:nvPr/>
        </p:nvSpPr>
        <p:spPr>
          <a:xfrm>
            <a:off x="74955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7" name="object-134: S6">
            <a:extLst>
              <a:ext uri="{FF2B5EF4-FFF2-40B4-BE49-F238E27FC236}">
                <a16:creationId xmlns:a16="http://schemas.microsoft.com/office/drawing/2014/main" id="{8036A6ED-C505-4B1E-B4D3-FD1BDB6F4F22}"/>
              </a:ext>
            </a:extLst>
          </p:cNvPr>
          <p:cNvSpPr txBox="1"/>
          <p:nvPr/>
        </p:nvSpPr>
        <p:spPr>
          <a:xfrm>
            <a:off x="76108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cxnSp>
        <p:nvCxnSpPr>
          <p:cNvPr id="908" name="master-input-7">
            <a:extLst>
              <a:ext uri="{FF2B5EF4-FFF2-40B4-BE49-F238E27FC236}">
                <a16:creationId xmlns:a16="http://schemas.microsoft.com/office/drawing/2014/main" id="{CC4EED22-31D0-4799-9367-43732014B122}"/>
              </a:ext>
            </a:extLst>
          </p:cNvPr>
          <p:cNvCxnSpPr>
            <a:cxnSpLocks/>
            <a:stCxn id="877" idx="2"/>
            <a:endCxn id="910" idx="0"/>
          </p:cNvCxnSpPr>
          <p:nvPr/>
        </p:nvCxnSpPr>
        <p:spPr>
          <a:xfrm>
            <a:off x="8945040" y="2847589"/>
            <a:ext cx="1" cy="127581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09" name="master-port-7">
            <a:extLst>
              <a:ext uri="{FF2B5EF4-FFF2-40B4-BE49-F238E27FC236}">
                <a16:creationId xmlns:a16="http://schemas.microsoft.com/office/drawing/2014/main" id="{8CD622A4-E94F-49B7-9EE1-76B718FFF741}"/>
              </a:ext>
            </a:extLst>
          </p:cNvPr>
          <p:cNvSpPr/>
          <p:nvPr/>
        </p:nvSpPr>
        <p:spPr>
          <a:xfrm>
            <a:off x="87824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0" name="object-137: S_EXT">
            <a:extLst>
              <a:ext uri="{FF2B5EF4-FFF2-40B4-BE49-F238E27FC236}">
                <a16:creationId xmlns:a16="http://schemas.microsoft.com/office/drawing/2014/main" id="{A6672919-ACE5-43A4-B24D-02ED76BD260F}"/>
              </a:ext>
            </a:extLst>
          </p:cNvPr>
          <p:cNvSpPr txBox="1"/>
          <p:nvPr/>
        </p:nvSpPr>
        <p:spPr>
          <a:xfrm>
            <a:off x="8831227" y="2975170"/>
            <a:ext cx="22762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911" name="object-138: AXI master / 请求发起端">
            <a:extLst>
              <a:ext uri="{FF2B5EF4-FFF2-40B4-BE49-F238E27FC236}">
                <a16:creationId xmlns:a16="http://schemas.microsoft.com/office/drawing/2014/main" id="{6E968B6E-173B-423A-BB84-904B4B1C3F33}"/>
              </a:ext>
            </a:extLst>
          </p:cNvPr>
          <p:cNvSpPr txBox="1"/>
          <p:nvPr/>
        </p:nvSpPr>
        <p:spPr>
          <a:xfrm>
            <a:off x="3814240" y="2380500"/>
            <a:ext cx="104515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7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master / 请求发起端</a:t>
            </a:r>
          </a:p>
        </p:txBody>
      </p:sp>
      <p:cxnSp>
        <p:nvCxnSpPr>
          <p:cNvPr id="912" name="target-output-0">
            <a:extLst>
              <a:ext uri="{FF2B5EF4-FFF2-40B4-BE49-F238E27FC236}">
                <a16:creationId xmlns:a16="http://schemas.microsoft.com/office/drawing/2014/main" id="{0B0E9033-54B2-48D8-A4BA-1021732C78B5}"/>
              </a:ext>
            </a:extLst>
          </p:cNvPr>
          <p:cNvCxnSpPr/>
          <p:nvPr/>
        </p:nvCxnSpPr>
        <p:spPr>
          <a:xfrm>
            <a:off x="783173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3" name="target-port-0">
            <a:extLst>
              <a:ext uri="{FF2B5EF4-FFF2-40B4-BE49-F238E27FC236}">
                <a16:creationId xmlns:a16="http://schemas.microsoft.com/office/drawing/2014/main" id="{A3405BA2-C50F-44D0-A6DD-4AD5F991D969}"/>
              </a:ext>
            </a:extLst>
          </p:cNvPr>
          <p:cNvSpPr/>
          <p:nvPr/>
        </p:nvSpPr>
        <p:spPr>
          <a:xfrm>
            <a:off x="62061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4" name="object-141: M0">
            <a:extLst>
              <a:ext uri="{FF2B5EF4-FFF2-40B4-BE49-F238E27FC236}">
                <a16:creationId xmlns:a16="http://schemas.microsoft.com/office/drawing/2014/main" id="{3F291DD9-3BB4-4245-A46F-E73FAE70C3EC}"/>
              </a:ext>
            </a:extLst>
          </p:cNvPr>
          <p:cNvSpPr txBox="1"/>
          <p:nvPr/>
        </p:nvSpPr>
        <p:spPr>
          <a:xfrm>
            <a:off x="719854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915" name="debug-target">
            <a:extLst>
              <a:ext uri="{FF2B5EF4-FFF2-40B4-BE49-F238E27FC236}">
                <a16:creationId xmlns:a16="http://schemas.microsoft.com/office/drawing/2014/main" id="{FB1EF230-BA40-4795-B61E-DEED4108D14F}"/>
              </a:ext>
            </a:extLst>
          </p:cNvPr>
          <p:cNvSpPr/>
          <p:nvPr/>
        </p:nvSpPr>
        <p:spPr>
          <a:xfrm>
            <a:off x="241307" y="3701949"/>
            <a:ext cx="1083733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6" name="object-143: Debug 目标">
            <a:extLst>
              <a:ext uri="{FF2B5EF4-FFF2-40B4-BE49-F238E27FC236}">
                <a16:creationId xmlns:a16="http://schemas.microsoft.com/office/drawing/2014/main" id="{ED399EB3-5040-44B2-8ADF-7A62E2C276F4}"/>
              </a:ext>
            </a:extLst>
          </p:cNvPr>
          <p:cNvSpPr txBox="1"/>
          <p:nvPr/>
        </p:nvSpPr>
        <p:spPr>
          <a:xfrm>
            <a:off x="493030" y="3799997"/>
            <a:ext cx="58028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917" name="object-144: 调试模块地址窗口">
            <a:extLst>
              <a:ext uri="{FF2B5EF4-FFF2-40B4-BE49-F238E27FC236}">
                <a16:creationId xmlns:a16="http://schemas.microsoft.com/office/drawing/2014/main" id="{4439FC9B-E6E5-40DC-81F7-7402CB2AA92B}"/>
              </a:ext>
            </a:extLst>
          </p:cNvPr>
          <p:cNvSpPr txBox="1"/>
          <p:nvPr/>
        </p:nvSpPr>
        <p:spPr>
          <a:xfrm>
            <a:off x="372805" y="3932890"/>
            <a:ext cx="82073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调试模块地址窗口</a:t>
            </a:r>
          </a:p>
        </p:txBody>
      </p:sp>
      <p:cxnSp>
        <p:nvCxnSpPr>
          <p:cNvPr id="918" name="target-output-1">
            <a:extLst>
              <a:ext uri="{FF2B5EF4-FFF2-40B4-BE49-F238E27FC236}">
                <a16:creationId xmlns:a16="http://schemas.microsoft.com/office/drawing/2014/main" id="{268FC7FD-387F-4732-BA8A-D1ADA4FEB7C0}"/>
              </a:ext>
            </a:extLst>
          </p:cNvPr>
          <p:cNvCxnSpPr/>
          <p:nvPr/>
        </p:nvCxnSpPr>
        <p:spPr>
          <a:xfrm>
            <a:off x="2374906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9" name="target-port-1">
            <a:extLst>
              <a:ext uri="{FF2B5EF4-FFF2-40B4-BE49-F238E27FC236}">
                <a16:creationId xmlns:a16="http://schemas.microsoft.com/office/drawing/2014/main" id="{A6FC013D-4910-42B5-8190-821F38169B3C}"/>
              </a:ext>
            </a:extLst>
          </p:cNvPr>
          <p:cNvSpPr/>
          <p:nvPr/>
        </p:nvSpPr>
        <p:spPr>
          <a:xfrm>
            <a:off x="22123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0" name="object-147: M1">
            <a:extLst>
              <a:ext uri="{FF2B5EF4-FFF2-40B4-BE49-F238E27FC236}">
                <a16:creationId xmlns:a16="http://schemas.microsoft.com/office/drawing/2014/main" id="{721E8F9A-B021-40E1-9B2E-A43ECFD2C0B7}"/>
              </a:ext>
            </a:extLst>
          </p:cNvPr>
          <p:cNvSpPr txBox="1"/>
          <p:nvPr/>
        </p:nvSpPr>
        <p:spPr>
          <a:xfrm>
            <a:off x="2311587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921" name="reg-bridge">
            <a:extLst>
              <a:ext uri="{FF2B5EF4-FFF2-40B4-BE49-F238E27FC236}">
                <a16:creationId xmlns:a16="http://schemas.microsoft.com/office/drawing/2014/main" id="{605E5542-298C-42C7-9EEE-C221CC79B47E}"/>
              </a:ext>
            </a:extLst>
          </p:cNvPr>
          <p:cNvSpPr/>
          <p:nvPr/>
        </p:nvSpPr>
        <p:spPr>
          <a:xfrm>
            <a:off x="1528240" y="3701949"/>
            <a:ext cx="1693333" cy="5249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2" name="object-149: AXI → Regbus">
            <a:extLst>
              <a:ext uri="{FF2B5EF4-FFF2-40B4-BE49-F238E27FC236}">
                <a16:creationId xmlns:a16="http://schemas.microsoft.com/office/drawing/2014/main" id="{B5A7E11C-EBB3-4CBD-8B2B-68D85FC37EE0}"/>
              </a:ext>
            </a:extLst>
          </p:cNvPr>
          <p:cNvSpPr txBox="1"/>
          <p:nvPr/>
        </p:nvSpPr>
        <p:spPr>
          <a:xfrm>
            <a:off x="2008620" y="3799997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923" name="object-150: 原子适配 / 桥接 · 32 bit">
            <a:extLst>
              <a:ext uri="{FF2B5EF4-FFF2-40B4-BE49-F238E27FC236}">
                <a16:creationId xmlns:a16="http://schemas.microsoft.com/office/drawing/2014/main" id="{F0111D01-61C8-4DEB-A6EE-28B9C2A58D3E}"/>
              </a:ext>
            </a:extLst>
          </p:cNvPr>
          <p:cNvSpPr txBox="1"/>
          <p:nvPr/>
        </p:nvSpPr>
        <p:spPr>
          <a:xfrm>
            <a:off x="1830687" y="3932890"/>
            <a:ext cx="10884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桥接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· 32 bit</a:t>
            </a:r>
          </a:p>
        </p:txBody>
      </p:sp>
      <p:cxnSp>
        <p:nvCxnSpPr>
          <p:cNvPr id="924" name="target-output-2">
            <a:extLst>
              <a:ext uri="{FF2B5EF4-FFF2-40B4-BE49-F238E27FC236}">
                <a16:creationId xmlns:a16="http://schemas.microsoft.com/office/drawing/2014/main" id="{FFECC9CA-443B-4620-BC41-4FF2B894F371}"/>
              </a:ext>
            </a:extLst>
          </p:cNvPr>
          <p:cNvCxnSpPr/>
          <p:nvPr/>
        </p:nvCxnSpPr>
        <p:spPr>
          <a:xfrm>
            <a:off x="4254506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25" name="target-port-2">
            <a:extLst>
              <a:ext uri="{FF2B5EF4-FFF2-40B4-BE49-F238E27FC236}">
                <a16:creationId xmlns:a16="http://schemas.microsoft.com/office/drawing/2014/main" id="{2ACCD77A-F44D-479C-A71B-4CBA6C2CDD61}"/>
              </a:ext>
            </a:extLst>
          </p:cNvPr>
          <p:cNvSpPr/>
          <p:nvPr/>
        </p:nvSpPr>
        <p:spPr>
          <a:xfrm>
            <a:off x="40919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6" name="object-153: M2">
            <a:extLst>
              <a:ext uri="{FF2B5EF4-FFF2-40B4-BE49-F238E27FC236}">
                <a16:creationId xmlns:a16="http://schemas.microsoft.com/office/drawing/2014/main" id="{741BD7F3-728C-4190-BAEE-738CFEA227B4}"/>
              </a:ext>
            </a:extLst>
          </p:cNvPr>
          <p:cNvSpPr txBox="1"/>
          <p:nvPr/>
        </p:nvSpPr>
        <p:spPr>
          <a:xfrm>
            <a:off x="4191187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927" name="memory-target">
            <a:extLst>
              <a:ext uri="{FF2B5EF4-FFF2-40B4-BE49-F238E27FC236}">
                <a16:creationId xmlns:a16="http://schemas.microsoft.com/office/drawing/2014/main" id="{C003EEB8-E7DB-4700-9829-5258C7A80A8D}"/>
              </a:ext>
            </a:extLst>
          </p:cNvPr>
          <p:cNvSpPr/>
          <p:nvPr/>
        </p:nvSpPr>
        <p:spPr>
          <a:xfrm>
            <a:off x="3441706" y="3701949"/>
            <a:ext cx="16256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8" name="object-155: 主存 / SPM 共用目标">
            <a:extLst>
              <a:ext uri="{FF2B5EF4-FFF2-40B4-BE49-F238E27FC236}">
                <a16:creationId xmlns:a16="http://schemas.microsoft.com/office/drawing/2014/main" id="{908ED905-649A-4631-8BAE-49D301C712C7}"/>
              </a:ext>
            </a:extLst>
          </p:cNvPr>
          <p:cNvSpPr txBox="1"/>
          <p:nvPr/>
        </p:nvSpPr>
        <p:spPr>
          <a:xfrm>
            <a:off x="3759178" y="3743899"/>
            <a:ext cx="99065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cxnSp>
        <p:nvCxnSpPr>
          <p:cNvPr id="929" name="target-output-3">
            <a:extLst>
              <a:ext uri="{FF2B5EF4-FFF2-40B4-BE49-F238E27FC236}">
                <a16:creationId xmlns:a16="http://schemas.microsoft.com/office/drawing/2014/main" id="{AEEBB89A-B17A-4831-BEAF-00EAD409A51D}"/>
              </a:ext>
            </a:extLst>
          </p:cNvPr>
          <p:cNvCxnSpPr/>
          <p:nvPr/>
        </p:nvCxnSpPr>
        <p:spPr>
          <a:xfrm>
            <a:off x="5947840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0" name="target-port-3">
            <a:extLst>
              <a:ext uri="{FF2B5EF4-FFF2-40B4-BE49-F238E27FC236}">
                <a16:creationId xmlns:a16="http://schemas.microsoft.com/office/drawing/2014/main" id="{BEF56EB4-9E62-4F6B-B685-82A1A9B7D9C3}"/>
              </a:ext>
            </a:extLst>
          </p:cNvPr>
          <p:cNvSpPr/>
          <p:nvPr/>
        </p:nvSpPr>
        <p:spPr>
          <a:xfrm>
            <a:off x="5785280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1" name="object-158: M3">
            <a:extLst>
              <a:ext uri="{FF2B5EF4-FFF2-40B4-BE49-F238E27FC236}">
                <a16:creationId xmlns:a16="http://schemas.microsoft.com/office/drawing/2014/main" id="{19BEF351-3C7C-4364-B07E-B54FAFDD11E7}"/>
              </a:ext>
            </a:extLst>
          </p:cNvPr>
          <p:cNvSpPr txBox="1"/>
          <p:nvPr/>
        </p:nvSpPr>
        <p:spPr>
          <a:xfrm>
            <a:off x="5884521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932" name="idma-config">
            <a:extLst>
              <a:ext uri="{FF2B5EF4-FFF2-40B4-BE49-F238E27FC236}">
                <a16:creationId xmlns:a16="http://schemas.microsoft.com/office/drawing/2014/main" id="{906EA7A1-5652-4FFA-AE14-E9E6E4670187}"/>
              </a:ext>
            </a:extLst>
          </p:cNvPr>
          <p:cNvSpPr/>
          <p:nvPr/>
        </p:nvSpPr>
        <p:spPr>
          <a:xfrm>
            <a:off x="5270506" y="3701949"/>
            <a:ext cx="1354667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3" name="object-160: iDMA 配置">
            <a:extLst>
              <a:ext uri="{FF2B5EF4-FFF2-40B4-BE49-F238E27FC236}">
                <a16:creationId xmlns:a16="http://schemas.microsoft.com/office/drawing/2014/main" id="{468A9BCA-1A7B-4BE3-A31E-29444D97DAAB}"/>
              </a:ext>
            </a:extLst>
          </p:cNvPr>
          <p:cNvSpPr txBox="1"/>
          <p:nvPr/>
        </p:nvSpPr>
        <p:spPr>
          <a:xfrm>
            <a:off x="5682543" y="3766131"/>
            <a:ext cx="53059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934" name="object-161: 原子适配 → AXI→Reg">
            <a:extLst>
              <a:ext uri="{FF2B5EF4-FFF2-40B4-BE49-F238E27FC236}">
                <a16:creationId xmlns:a16="http://schemas.microsoft.com/office/drawing/2014/main" id="{409F0990-0F28-44F7-8F3F-DEB76F2BCA00}"/>
              </a:ext>
            </a:extLst>
          </p:cNvPr>
          <p:cNvSpPr txBox="1"/>
          <p:nvPr/>
        </p:nvSpPr>
        <p:spPr>
          <a:xfrm>
            <a:off x="5430071" y="3899024"/>
            <a:ext cx="103554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935" name="object-162: wrapper 内部寄存器">
            <a:extLst>
              <a:ext uri="{FF2B5EF4-FFF2-40B4-BE49-F238E27FC236}">
                <a16:creationId xmlns:a16="http://schemas.microsoft.com/office/drawing/2014/main" id="{37D0B260-A181-4043-BFF4-C7EA83B49656}"/>
              </a:ext>
            </a:extLst>
          </p:cNvPr>
          <p:cNvSpPr txBox="1"/>
          <p:nvPr/>
        </p:nvSpPr>
        <p:spPr>
          <a:xfrm>
            <a:off x="5474153" y="4007397"/>
            <a:ext cx="94737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cxnSp>
        <p:nvCxnSpPr>
          <p:cNvPr id="936" name="target-output-4">
            <a:extLst>
              <a:ext uri="{FF2B5EF4-FFF2-40B4-BE49-F238E27FC236}">
                <a16:creationId xmlns:a16="http://schemas.microsoft.com/office/drawing/2014/main" id="{2D1D5CD8-FC34-4CB6-A62D-678019C344CF}"/>
              </a:ext>
            </a:extLst>
          </p:cNvPr>
          <p:cNvCxnSpPr/>
          <p:nvPr/>
        </p:nvCxnSpPr>
        <p:spPr>
          <a:xfrm>
            <a:off x="7539573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7" name="target-port-4">
            <a:extLst>
              <a:ext uri="{FF2B5EF4-FFF2-40B4-BE49-F238E27FC236}">
                <a16:creationId xmlns:a16="http://schemas.microsoft.com/office/drawing/2014/main" id="{C27BE330-A10A-405A-A746-7CD1AB09706C}"/>
              </a:ext>
            </a:extLst>
          </p:cNvPr>
          <p:cNvSpPr/>
          <p:nvPr/>
        </p:nvSpPr>
        <p:spPr>
          <a:xfrm>
            <a:off x="737701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8" name="object-165: M4">
            <a:extLst>
              <a:ext uri="{FF2B5EF4-FFF2-40B4-BE49-F238E27FC236}">
                <a16:creationId xmlns:a16="http://schemas.microsoft.com/office/drawing/2014/main" id="{07882F63-6019-433E-AEF0-B6C15B433D91}"/>
              </a:ext>
            </a:extLst>
          </p:cNvPr>
          <p:cNvSpPr txBox="1"/>
          <p:nvPr/>
        </p:nvSpPr>
        <p:spPr>
          <a:xfrm>
            <a:off x="7476254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939" name="slink-tx">
            <a:extLst>
              <a:ext uri="{FF2B5EF4-FFF2-40B4-BE49-F238E27FC236}">
                <a16:creationId xmlns:a16="http://schemas.microsoft.com/office/drawing/2014/main" id="{718FF7D9-8D9B-4B52-8C5B-57629572744C}"/>
              </a:ext>
            </a:extLst>
          </p:cNvPr>
          <p:cNvSpPr/>
          <p:nvPr/>
        </p:nvSpPr>
        <p:spPr>
          <a:xfrm>
            <a:off x="6828373" y="3701949"/>
            <a:ext cx="14224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0" name="object-167: Serial Link TX">
            <a:extLst>
              <a:ext uri="{FF2B5EF4-FFF2-40B4-BE49-F238E27FC236}">
                <a16:creationId xmlns:a16="http://schemas.microsoft.com/office/drawing/2014/main" id="{CE6C92FE-D792-4731-91BF-92C5EB9D3372}"/>
              </a:ext>
            </a:extLst>
          </p:cNvPr>
          <p:cNvSpPr txBox="1"/>
          <p:nvPr/>
        </p:nvSpPr>
        <p:spPr>
          <a:xfrm>
            <a:off x="7191722" y="3799997"/>
            <a:ext cx="69570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941" name="object-168: 远端数据目标窗口">
            <a:extLst>
              <a:ext uri="{FF2B5EF4-FFF2-40B4-BE49-F238E27FC236}">
                <a16:creationId xmlns:a16="http://schemas.microsoft.com/office/drawing/2014/main" id="{AFD0E002-9F64-43C5-8E24-6B2D22B7B482}"/>
              </a:ext>
            </a:extLst>
          </p:cNvPr>
          <p:cNvSpPr txBox="1"/>
          <p:nvPr/>
        </p:nvSpPr>
        <p:spPr>
          <a:xfrm>
            <a:off x="7129205" y="3932890"/>
            <a:ext cx="82073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远端数据目标窗口</a:t>
            </a:r>
          </a:p>
        </p:txBody>
      </p:sp>
      <p:cxnSp>
        <p:nvCxnSpPr>
          <p:cNvPr id="942" name="target-output-5">
            <a:extLst>
              <a:ext uri="{FF2B5EF4-FFF2-40B4-BE49-F238E27FC236}">
                <a16:creationId xmlns:a16="http://schemas.microsoft.com/office/drawing/2014/main" id="{7BE14BE3-9B63-4EF3-A33C-7F1A53D9C001}"/>
              </a:ext>
            </a:extLst>
          </p:cNvPr>
          <p:cNvCxnSpPr>
            <a:cxnSpLocks/>
            <a:stCxn id="943" idx="2"/>
          </p:cNvCxnSpPr>
          <p:nvPr/>
        </p:nvCxnSpPr>
        <p:spPr>
          <a:xfrm>
            <a:off x="9131306" y="3529229"/>
            <a:ext cx="0" cy="172720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43" name="target-port-5">
            <a:extLst>
              <a:ext uri="{FF2B5EF4-FFF2-40B4-BE49-F238E27FC236}">
                <a16:creationId xmlns:a16="http://schemas.microsoft.com/office/drawing/2014/main" id="{0A82AF7F-FCCC-40AC-B0E6-5DBC2D27AA6F}"/>
              </a:ext>
            </a:extLst>
          </p:cNvPr>
          <p:cNvSpPr/>
          <p:nvPr/>
        </p:nvSpPr>
        <p:spPr>
          <a:xfrm>
            <a:off x="89687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4" name="object-171: M_EXT">
            <a:extLst>
              <a:ext uri="{FF2B5EF4-FFF2-40B4-BE49-F238E27FC236}">
                <a16:creationId xmlns:a16="http://schemas.microsoft.com/office/drawing/2014/main" id="{5ED255E7-3D69-4736-82DB-F74898973378}"/>
              </a:ext>
            </a:extLst>
          </p:cNvPr>
          <p:cNvSpPr txBox="1"/>
          <p:nvPr/>
        </p:nvSpPr>
        <p:spPr>
          <a:xfrm>
            <a:off x="9001463" y="3432370"/>
            <a:ext cx="25968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945" name="ext-target">
            <a:extLst>
              <a:ext uri="{FF2B5EF4-FFF2-40B4-BE49-F238E27FC236}">
                <a16:creationId xmlns:a16="http://schemas.microsoft.com/office/drawing/2014/main" id="{35CB4EAC-4D90-4C3D-9DD9-8ED7A33AEC4A}"/>
              </a:ext>
            </a:extLst>
          </p:cNvPr>
          <p:cNvSpPr/>
          <p:nvPr/>
        </p:nvSpPr>
        <p:spPr>
          <a:xfrm>
            <a:off x="8437040" y="3701949"/>
            <a:ext cx="1388533" cy="524933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6" name="object-173: AXI 外部 slave">
            <a:extLst>
              <a:ext uri="{FF2B5EF4-FFF2-40B4-BE49-F238E27FC236}">
                <a16:creationId xmlns:a16="http://schemas.microsoft.com/office/drawing/2014/main" id="{EDB0EE72-BBF5-487B-8CEF-12D40BA27121}"/>
              </a:ext>
            </a:extLst>
          </p:cNvPr>
          <p:cNvSpPr txBox="1"/>
          <p:nvPr/>
        </p:nvSpPr>
        <p:spPr>
          <a:xfrm>
            <a:off x="8777043" y="3766131"/>
            <a:ext cx="70852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947" name="object-174: 可选扩展 / CPU 直访 GB 待定">
            <a:extLst>
              <a:ext uri="{FF2B5EF4-FFF2-40B4-BE49-F238E27FC236}">
                <a16:creationId xmlns:a16="http://schemas.microsoft.com/office/drawing/2014/main" id="{787FA9B9-204D-46F2-9A21-C983AC71DD12}"/>
              </a:ext>
            </a:extLst>
          </p:cNvPr>
          <p:cNvSpPr txBox="1"/>
          <p:nvPr/>
        </p:nvSpPr>
        <p:spPr>
          <a:xfrm>
            <a:off x="8448427" y="3899024"/>
            <a:ext cx="136575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 / CPU 直访 GB 待定</a:t>
            </a:r>
          </a:p>
        </p:txBody>
      </p:sp>
      <p:sp>
        <p:nvSpPr>
          <p:cNvPr id="948" name="atomics">
            <a:extLst>
              <a:ext uri="{FF2B5EF4-FFF2-40B4-BE49-F238E27FC236}">
                <a16:creationId xmlns:a16="http://schemas.microsoft.com/office/drawing/2014/main" id="{A44BC17A-607E-4FD1-AE60-078D1D424947}"/>
              </a:ext>
            </a:extLst>
          </p:cNvPr>
          <p:cNvSpPr/>
          <p:nvPr/>
        </p:nvSpPr>
        <p:spPr>
          <a:xfrm>
            <a:off x="3509440" y="3905149"/>
            <a:ext cx="660400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9" name="object-176: 原子适配">
            <a:extLst>
              <a:ext uri="{FF2B5EF4-FFF2-40B4-BE49-F238E27FC236}">
                <a16:creationId xmlns:a16="http://schemas.microsoft.com/office/drawing/2014/main" id="{4A598551-AF58-4554-AB7D-26396E1BBAA6}"/>
              </a:ext>
            </a:extLst>
          </p:cNvPr>
          <p:cNvSpPr txBox="1"/>
          <p:nvPr/>
        </p:nvSpPr>
        <p:spPr>
          <a:xfrm>
            <a:off x="3660103" y="3946331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950" name="object-177: AMO / LRSC">
            <a:extLst>
              <a:ext uri="{FF2B5EF4-FFF2-40B4-BE49-F238E27FC236}">
                <a16:creationId xmlns:a16="http://schemas.microsoft.com/office/drawing/2014/main" id="{262BFCDF-2EBC-4B37-B6BD-1B3B4DDB5093}"/>
              </a:ext>
            </a:extLst>
          </p:cNvPr>
          <p:cNvSpPr txBox="1"/>
          <p:nvPr/>
        </p:nvSpPr>
        <p:spPr>
          <a:xfrm>
            <a:off x="3535070" y="4060936"/>
            <a:ext cx="60914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951" name="llc-spm">
            <a:extLst>
              <a:ext uri="{FF2B5EF4-FFF2-40B4-BE49-F238E27FC236}">
                <a16:creationId xmlns:a16="http://schemas.microsoft.com/office/drawing/2014/main" id="{CFE1928B-D279-4208-80F1-EE0A7B299153}"/>
              </a:ext>
            </a:extLst>
          </p:cNvPr>
          <p:cNvSpPr/>
          <p:nvPr/>
        </p:nvSpPr>
        <p:spPr>
          <a:xfrm>
            <a:off x="4322240" y="3905149"/>
            <a:ext cx="660400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2" name="object-179: LLC / SPM">
            <a:extLst>
              <a:ext uri="{FF2B5EF4-FFF2-40B4-BE49-F238E27FC236}">
                <a16:creationId xmlns:a16="http://schemas.microsoft.com/office/drawing/2014/main" id="{EC89ABB5-ADF1-4CCE-9076-537AD728CCF0}"/>
              </a:ext>
            </a:extLst>
          </p:cNvPr>
          <p:cNvSpPr txBox="1"/>
          <p:nvPr/>
        </p:nvSpPr>
        <p:spPr>
          <a:xfrm>
            <a:off x="4420806" y="3946331"/>
            <a:ext cx="46326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953" name="object-180: 同一 SRAM 阵列">
            <a:extLst>
              <a:ext uri="{FF2B5EF4-FFF2-40B4-BE49-F238E27FC236}">
                <a16:creationId xmlns:a16="http://schemas.microsoft.com/office/drawing/2014/main" id="{07ABD4E2-0796-48E6-BC25-4482537767A1}"/>
              </a:ext>
            </a:extLst>
          </p:cNvPr>
          <p:cNvSpPr txBox="1"/>
          <p:nvPr/>
        </p:nvSpPr>
        <p:spPr>
          <a:xfrm>
            <a:off x="4384738" y="4060936"/>
            <a:ext cx="53540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阵列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954" name="atomics-llc">
            <a:extLst>
              <a:ext uri="{FF2B5EF4-FFF2-40B4-BE49-F238E27FC236}">
                <a16:creationId xmlns:a16="http://schemas.microsoft.com/office/drawing/2014/main" id="{8785A342-A019-4871-85A3-1919CC460D6B}"/>
              </a:ext>
            </a:extLst>
          </p:cNvPr>
          <p:cNvCxnSpPr/>
          <p:nvPr/>
        </p:nvCxnSpPr>
        <p:spPr>
          <a:xfrm>
            <a:off x="4169840" y="4033842"/>
            <a:ext cx="15240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55" name="reg-subsystem">
            <a:extLst>
              <a:ext uri="{FF2B5EF4-FFF2-40B4-BE49-F238E27FC236}">
                <a16:creationId xmlns:a16="http://schemas.microsoft.com/office/drawing/2014/main" id="{17D69E55-0D49-47D7-AF34-F1100D4D8A7E}"/>
              </a:ext>
            </a:extLst>
          </p:cNvPr>
          <p:cNvSpPr/>
          <p:nvPr/>
        </p:nvSpPr>
        <p:spPr>
          <a:xfrm>
            <a:off x="173573" y="4345416"/>
            <a:ext cx="6587067" cy="1693333"/>
          </a:xfrm>
          <a:prstGeom prst="rect">
            <a:avLst/>
          </a:prstGeom>
          <a:solidFill>
            <a:srgbClr val="FAF8FB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6" name="regbus">
            <a:extLst>
              <a:ext uri="{FF2B5EF4-FFF2-40B4-BE49-F238E27FC236}">
                <a16:creationId xmlns:a16="http://schemas.microsoft.com/office/drawing/2014/main" id="{86ED39D0-8AEA-42EC-97C9-32341A19CBBF}"/>
              </a:ext>
            </a:extLst>
          </p:cNvPr>
          <p:cNvSpPr/>
          <p:nvPr/>
        </p:nvSpPr>
        <p:spPr>
          <a:xfrm>
            <a:off x="241306" y="4413149"/>
            <a:ext cx="6451600" cy="237067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7" name="object-184: Regbus decode / demux  ·  32 bit">
            <a:extLst>
              <a:ext uri="{FF2B5EF4-FFF2-40B4-BE49-F238E27FC236}">
                <a16:creationId xmlns:a16="http://schemas.microsoft.com/office/drawing/2014/main" id="{469CCA68-FD17-4980-A75E-586E8CE36AAF}"/>
              </a:ext>
            </a:extLst>
          </p:cNvPr>
          <p:cNvSpPr txBox="1"/>
          <p:nvPr/>
        </p:nvSpPr>
        <p:spPr>
          <a:xfrm>
            <a:off x="2387394" y="4455279"/>
            <a:ext cx="2156039" cy="15388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decode / </a:t>
            </a:r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demux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·  32 bit</a:t>
            </a:r>
          </a:p>
        </p:txBody>
      </p:sp>
      <p:cxnSp>
        <p:nvCxnSpPr>
          <p:cNvPr id="958" name="axi-regbus">
            <a:extLst>
              <a:ext uri="{FF2B5EF4-FFF2-40B4-BE49-F238E27FC236}">
                <a16:creationId xmlns:a16="http://schemas.microsoft.com/office/drawing/2014/main" id="{10A03DF2-6DD4-481D-88C5-13653854409F}"/>
              </a:ext>
            </a:extLst>
          </p:cNvPr>
          <p:cNvCxnSpPr/>
          <p:nvPr/>
        </p:nvCxnSpPr>
        <p:spPr>
          <a:xfrm>
            <a:off x="2374906" y="4226882"/>
            <a:ext cx="0" cy="186267"/>
          </a:xfrm>
          <a:prstGeom prst="line">
            <a:avLst/>
          </a:prstGeom>
          <a:ln w="28448" cap="flat">
            <a:solidFill>
              <a:srgbClr val="765489"/>
            </a:solidFill>
            <a:tailEnd type="triangle" w="med" len="med"/>
          </a:ln>
          <a:effectLst/>
        </p:spPr>
      </p:cxnSp>
      <p:cxnSp>
        <p:nvCxnSpPr>
          <p:cNvPr id="959" name="regbus-trunk-0">
            <a:extLst>
              <a:ext uri="{FF2B5EF4-FFF2-40B4-BE49-F238E27FC236}">
                <a16:creationId xmlns:a16="http://schemas.microsoft.com/office/drawing/2014/main" id="{E41B7A95-1325-4CC6-B264-97272CE2B4D6}"/>
              </a:ext>
            </a:extLst>
          </p:cNvPr>
          <p:cNvCxnSpPr/>
          <p:nvPr/>
        </p:nvCxnSpPr>
        <p:spPr>
          <a:xfrm>
            <a:off x="35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0" name="regbus-trunk-1">
            <a:extLst>
              <a:ext uri="{FF2B5EF4-FFF2-40B4-BE49-F238E27FC236}">
                <a16:creationId xmlns:a16="http://schemas.microsoft.com/office/drawing/2014/main" id="{015DE0DD-B6B4-4A86-9158-14FA8F8AE363}"/>
              </a:ext>
            </a:extLst>
          </p:cNvPr>
          <p:cNvCxnSpPr/>
          <p:nvPr/>
        </p:nvCxnSpPr>
        <p:spPr>
          <a:xfrm>
            <a:off x="162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1" name="regbus-trunk-2">
            <a:extLst>
              <a:ext uri="{FF2B5EF4-FFF2-40B4-BE49-F238E27FC236}">
                <a16:creationId xmlns:a16="http://schemas.microsoft.com/office/drawing/2014/main" id="{55CB0935-51FB-4F78-ABB0-9DAFE8E5AD1F}"/>
              </a:ext>
            </a:extLst>
          </p:cNvPr>
          <p:cNvCxnSpPr/>
          <p:nvPr/>
        </p:nvCxnSpPr>
        <p:spPr>
          <a:xfrm>
            <a:off x="289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2" name="regbus-trunk-3">
            <a:extLst>
              <a:ext uri="{FF2B5EF4-FFF2-40B4-BE49-F238E27FC236}">
                <a16:creationId xmlns:a16="http://schemas.microsoft.com/office/drawing/2014/main" id="{A151FA95-0104-4234-ACB1-2EDA742BE856}"/>
              </a:ext>
            </a:extLst>
          </p:cNvPr>
          <p:cNvCxnSpPr/>
          <p:nvPr/>
        </p:nvCxnSpPr>
        <p:spPr>
          <a:xfrm>
            <a:off x="416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3" name="regbus-trunk-4">
            <a:extLst>
              <a:ext uri="{FF2B5EF4-FFF2-40B4-BE49-F238E27FC236}">
                <a16:creationId xmlns:a16="http://schemas.microsoft.com/office/drawing/2014/main" id="{E745EBB6-CDA0-4804-8F8D-87FC8930FE6A}"/>
              </a:ext>
            </a:extLst>
          </p:cNvPr>
          <p:cNvCxnSpPr/>
          <p:nvPr/>
        </p:nvCxnSpPr>
        <p:spPr>
          <a:xfrm>
            <a:off x="543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sp>
        <p:nvSpPr>
          <p:cNvPr id="964" name="bootrom">
            <a:extLst>
              <a:ext uri="{FF2B5EF4-FFF2-40B4-BE49-F238E27FC236}">
                <a16:creationId xmlns:a16="http://schemas.microsoft.com/office/drawing/2014/main" id="{AE39AF04-DE57-407F-B7DE-709895A81F2C}"/>
              </a:ext>
            </a:extLst>
          </p:cNvPr>
          <p:cNvSpPr/>
          <p:nvPr/>
        </p:nvSpPr>
        <p:spPr>
          <a:xfrm>
            <a:off x="42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5" name="object-192: Boot ROM">
            <a:extLst>
              <a:ext uri="{FF2B5EF4-FFF2-40B4-BE49-F238E27FC236}">
                <a16:creationId xmlns:a16="http://schemas.microsoft.com/office/drawing/2014/main" id="{D636FB9B-631A-4505-B2AC-C11D8FE857CD}"/>
              </a:ext>
            </a:extLst>
          </p:cNvPr>
          <p:cNvSpPr txBox="1"/>
          <p:nvPr/>
        </p:nvSpPr>
        <p:spPr>
          <a:xfrm>
            <a:off x="699335" y="4765362"/>
            <a:ext cx="54021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966" name="object-193: 启动代码">
            <a:extLst>
              <a:ext uri="{FF2B5EF4-FFF2-40B4-BE49-F238E27FC236}">
                <a16:creationId xmlns:a16="http://schemas.microsoft.com/office/drawing/2014/main" id="{B1F3C28B-3DE7-4B66-9639-D8091ED92581}"/>
              </a:ext>
            </a:extLst>
          </p:cNvPr>
          <p:cNvSpPr txBox="1"/>
          <p:nvPr/>
        </p:nvSpPr>
        <p:spPr>
          <a:xfrm>
            <a:off x="789903" y="4877935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cxnSp>
        <p:nvCxnSpPr>
          <p:cNvPr id="967" name="reg-drop-bootrom">
            <a:extLst>
              <a:ext uri="{FF2B5EF4-FFF2-40B4-BE49-F238E27FC236}">
                <a16:creationId xmlns:a16="http://schemas.microsoft.com/office/drawing/2014/main" id="{0D523740-3E54-4952-AE19-2E770B0A2C04}"/>
              </a:ext>
            </a:extLst>
          </p:cNvPr>
          <p:cNvCxnSpPr/>
          <p:nvPr/>
        </p:nvCxnSpPr>
        <p:spPr>
          <a:xfrm>
            <a:off x="35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68" name="clint">
            <a:extLst>
              <a:ext uri="{FF2B5EF4-FFF2-40B4-BE49-F238E27FC236}">
                <a16:creationId xmlns:a16="http://schemas.microsoft.com/office/drawing/2014/main" id="{CDDAF346-5CE4-46DF-BA81-B635204CBE7A}"/>
              </a:ext>
            </a:extLst>
          </p:cNvPr>
          <p:cNvSpPr/>
          <p:nvPr/>
        </p:nvSpPr>
        <p:spPr>
          <a:xfrm>
            <a:off x="169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9" name="object-196: CLINT">
            <a:extLst>
              <a:ext uri="{FF2B5EF4-FFF2-40B4-BE49-F238E27FC236}">
                <a16:creationId xmlns:a16="http://schemas.microsoft.com/office/drawing/2014/main" id="{47E23EF4-3C3A-45BF-9CA9-B3E1A3098B24}"/>
              </a:ext>
            </a:extLst>
          </p:cNvPr>
          <p:cNvSpPr txBox="1"/>
          <p:nvPr/>
        </p:nvSpPr>
        <p:spPr>
          <a:xfrm>
            <a:off x="2084750" y="4765362"/>
            <a:ext cx="3093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970" name="object-197: 软件 / 定时中断">
            <a:extLst>
              <a:ext uri="{FF2B5EF4-FFF2-40B4-BE49-F238E27FC236}">
                <a16:creationId xmlns:a16="http://schemas.microsoft.com/office/drawing/2014/main" id="{DBA77C2E-F88E-463F-9298-B1136094D71E}"/>
              </a:ext>
            </a:extLst>
          </p:cNvPr>
          <p:cNvSpPr txBox="1"/>
          <p:nvPr/>
        </p:nvSpPr>
        <p:spPr>
          <a:xfrm>
            <a:off x="1923648" y="4877935"/>
            <a:ext cx="63158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cxnSp>
        <p:nvCxnSpPr>
          <p:cNvPr id="971" name="reg-drop-clint">
            <a:extLst>
              <a:ext uri="{FF2B5EF4-FFF2-40B4-BE49-F238E27FC236}">
                <a16:creationId xmlns:a16="http://schemas.microsoft.com/office/drawing/2014/main" id="{42DCD275-A0BB-4B56-B64A-833D03028D67}"/>
              </a:ext>
            </a:extLst>
          </p:cNvPr>
          <p:cNvCxnSpPr/>
          <p:nvPr/>
        </p:nvCxnSpPr>
        <p:spPr>
          <a:xfrm>
            <a:off x="162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2" name="soc-regs">
            <a:extLst>
              <a:ext uri="{FF2B5EF4-FFF2-40B4-BE49-F238E27FC236}">
                <a16:creationId xmlns:a16="http://schemas.microsoft.com/office/drawing/2014/main" id="{8E0BB8EB-9A3F-4727-86A7-E77F8277E16D}"/>
              </a:ext>
            </a:extLst>
          </p:cNvPr>
          <p:cNvSpPr/>
          <p:nvPr/>
        </p:nvSpPr>
        <p:spPr>
          <a:xfrm>
            <a:off x="296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3" name="object-200: SoC 寄存器">
            <a:extLst>
              <a:ext uri="{FF2B5EF4-FFF2-40B4-BE49-F238E27FC236}">
                <a16:creationId xmlns:a16="http://schemas.microsoft.com/office/drawing/2014/main" id="{1A6231BD-A9A6-47B3-8AB7-5A560A94B257}"/>
              </a:ext>
            </a:extLst>
          </p:cNvPr>
          <p:cNvSpPr txBox="1"/>
          <p:nvPr/>
        </p:nvSpPr>
        <p:spPr>
          <a:xfrm>
            <a:off x="3240937" y="4765362"/>
            <a:ext cx="5370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974" name="object-201: 平台信息 / scratch">
            <a:extLst>
              <a:ext uri="{FF2B5EF4-FFF2-40B4-BE49-F238E27FC236}">
                <a16:creationId xmlns:a16="http://schemas.microsoft.com/office/drawing/2014/main" id="{7A637AD7-7370-4A55-8FC7-CD690942D54B}"/>
              </a:ext>
            </a:extLst>
          </p:cNvPr>
          <p:cNvSpPr txBox="1"/>
          <p:nvPr/>
        </p:nvSpPr>
        <p:spPr>
          <a:xfrm>
            <a:off x="3131933" y="4877935"/>
            <a:ext cx="7550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cxnSp>
        <p:nvCxnSpPr>
          <p:cNvPr id="975" name="reg-drop-soc-regs">
            <a:extLst>
              <a:ext uri="{FF2B5EF4-FFF2-40B4-BE49-F238E27FC236}">
                <a16:creationId xmlns:a16="http://schemas.microsoft.com/office/drawing/2014/main" id="{CB888832-B9F6-4A8C-B7DD-6275B162BA0F}"/>
              </a:ext>
            </a:extLst>
          </p:cNvPr>
          <p:cNvCxnSpPr/>
          <p:nvPr/>
        </p:nvCxnSpPr>
        <p:spPr>
          <a:xfrm>
            <a:off x="289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6" name="plic">
            <a:extLst>
              <a:ext uri="{FF2B5EF4-FFF2-40B4-BE49-F238E27FC236}">
                <a16:creationId xmlns:a16="http://schemas.microsoft.com/office/drawing/2014/main" id="{FEA6D80F-0EB1-44E1-A21D-AAF41A576CC4}"/>
              </a:ext>
            </a:extLst>
          </p:cNvPr>
          <p:cNvSpPr/>
          <p:nvPr/>
        </p:nvSpPr>
        <p:spPr>
          <a:xfrm>
            <a:off x="423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7" name="object-204: PLIC">
            <a:extLst>
              <a:ext uri="{FF2B5EF4-FFF2-40B4-BE49-F238E27FC236}">
                <a16:creationId xmlns:a16="http://schemas.microsoft.com/office/drawing/2014/main" id="{D73A9C5A-E21A-4708-A3A7-9D21D59C37D9}"/>
              </a:ext>
            </a:extLst>
          </p:cNvPr>
          <p:cNvSpPr txBox="1"/>
          <p:nvPr/>
        </p:nvSpPr>
        <p:spPr>
          <a:xfrm>
            <a:off x="4666428" y="4765362"/>
            <a:ext cx="22602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978" name="object-205: 外部中断控制">
            <a:extLst>
              <a:ext uri="{FF2B5EF4-FFF2-40B4-BE49-F238E27FC236}">
                <a16:creationId xmlns:a16="http://schemas.microsoft.com/office/drawing/2014/main" id="{546AAC43-FD53-4A8E-87BB-29563BC461F5}"/>
              </a:ext>
            </a:extLst>
          </p:cNvPr>
          <p:cNvSpPr txBox="1"/>
          <p:nvPr/>
        </p:nvSpPr>
        <p:spPr>
          <a:xfrm>
            <a:off x="4510135" y="487793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cxnSp>
        <p:nvCxnSpPr>
          <p:cNvPr id="979" name="reg-drop-plic">
            <a:extLst>
              <a:ext uri="{FF2B5EF4-FFF2-40B4-BE49-F238E27FC236}">
                <a16:creationId xmlns:a16="http://schemas.microsoft.com/office/drawing/2014/main" id="{D5F679CD-87E7-4B65-BE9B-B53F9D43C769}"/>
              </a:ext>
            </a:extLst>
          </p:cNvPr>
          <p:cNvCxnSpPr/>
          <p:nvPr/>
        </p:nvCxnSpPr>
        <p:spPr>
          <a:xfrm>
            <a:off x="416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0" name="llc-regs">
            <a:extLst>
              <a:ext uri="{FF2B5EF4-FFF2-40B4-BE49-F238E27FC236}">
                <a16:creationId xmlns:a16="http://schemas.microsoft.com/office/drawing/2014/main" id="{D7D19DE2-0911-45C7-93C8-673A6F91921D}"/>
              </a:ext>
            </a:extLst>
          </p:cNvPr>
          <p:cNvSpPr/>
          <p:nvPr/>
        </p:nvSpPr>
        <p:spPr>
          <a:xfrm>
            <a:off x="550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1" name="object-208: LLC 配置">
            <a:extLst>
              <a:ext uri="{FF2B5EF4-FFF2-40B4-BE49-F238E27FC236}">
                <a16:creationId xmlns:a16="http://schemas.microsoft.com/office/drawing/2014/main" id="{4850A438-520E-46CE-9B5E-D7B9D1A4D6C6}"/>
              </a:ext>
            </a:extLst>
          </p:cNvPr>
          <p:cNvSpPr txBox="1"/>
          <p:nvPr/>
        </p:nvSpPr>
        <p:spPr>
          <a:xfrm>
            <a:off x="5841049" y="4765362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982" name="object-209: SPM way / cache">
            <a:extLst>
              <a:ext uri="{FF2B5EF4-FFF2-40B4-BE49-F238E27FC236}">
                <a16:creationId xmlns:a16="http://schemas.microsoft.com/office/drawing/2014/main" id="{0236DEC4-5022-405F-82F3-A2E336CD7A4E}"/>
              </a:ext>
            </a:extLst>
          </p:cNvPr>
          <p:cNvSpPr txBox="1"/>
          <p:nvPr/>
        </p:nvSpPr>
        <p:spPr>
          <a:xfrm>
            <a:off x="5685560" y="4877935"/>
            <a:ext cx="72776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cxnSp>
        <p:nvCxnSpPr>
          <p:cNvPr id="983" name="reg-drop-llc-regs">
            <a:extLst>
              <a:ext uri="{FF2B5EF4-FFF2-40B4-BE49-F238E27FC236}">
                <a16:creationId xmlns:a16="http://schemas.microsoft.com/office/drawing/2014/main" id="{71B9A931-7C71-4E1E-AD9B-A851CC840434}"/>
              </a:ext>
            </a:extLst>
          </p:cNvPr>
          <p:cNvCxnSpPr/>
          <p:nvPr/>
        </p:nvCxnSpPr>
        <p:spPr>
          <a:xfrm>
            <a:off x="543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4" name="uart">
            <a:extLst>
              <a:ext uri="{FF2B5EF4-FFF2-40B4-BE49-F238E27FC236}">
                <a16:creationId xmlns:a16="http://schemas.microsoft.com/office/drawing/2014/main" id="{0A05E195-E453-4C72-BA7E-7E289A33C4AF}"/>
              </a:ext>
            </a:extLst>
          </p:cNvPr>
          <p:cNvSpPr/>
          <p:nvPr/>
        </p:nvSpPr>
        <p:spPr>
          <a:xfrm>
            <a:off x="42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5" name="object-212: UART">
            <a:extLst>
              <a:ext uri="{FF2B5EF4-FFF2-40B4-BE49-F238E27FC236}">
                <a16:creationId xmlns:a16="http://schemas.microsoft.com/office/drawing/2014/main" id="{4D68796E-FF0C-4421-A3E2-C7DE0A86CBD3}"/>
              </a:ext>
            </a:extLst>
          </p:cNvPr>
          <p:cNvSpPr txBox="1"/>
          <p:nvPr/>
        </p:nvSpPr>
        <p:spPr>
          <a:xfrm>
            <a:off x="822764" y="5076936"/>
            <a:ext cx="29335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986" name="object-213: 串口控制">
            <a:extLst>
              <a:ext uri="{FF2B5EF4-FFF2-40B4-BE49-F238E27FC236}">
                <a16:creationId xmlns:a16="http://schemas.microsoft.com/office/drawing/2014/main" id="{33011D98-A822-4F03-A232-88E13A6EDB3A}"/>
              </a:ext>
            </a:extLst>
          </p:cNvPr>
          <p:cNvSpPr txBox="1"/>
          <p:nvPr/>
        </p:nvSpPr>
        <p:spPr>
          <a:xfrm>
            <a:off x="78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cxnSp>
        <p:nvCxnSpPr>
          <p:cNvPr id="987" name="reg-drop-uart">
            <a:extLst>
              <a:ext uri="{FF2B5EF4-FFF2-40B4-BE49-F238E27FC236}">
                <a16:creationId xmlns:a16="http://schemas.microsoft.com/office/drawing/2014/main" id="{24F9AE8A-0E0F-426D-8FA4-A44E23A7D268}"/>
              </a:ext>
            </a:extLst>
          </p:cNvPr>
          <p:cNvCxnSpPr/>
          <p:nvPr/>
        </p:nvCxnSpPr>
        <p:spPr>
          <a:xfrm>
            <a:off x="35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8" name="i2c">
            <a:extLst>
              <a:ext uri="{FF2B5EF4-FFF2-40B4-BE49-F238E27FC236}">
                <a16:creationId xmlns:a16="http://schemas.microsoft.com/office/drawing/2014/main" id="{26231ED5-CB1A-46EF-AEDD-CA9FB1C47A96}"/>
              </a:ext>
            </a:extLst>
          </p:cNvPr>
          <p:cNvSpPr/>
          <p:nvPr/>
        </p:nvSpPr>
        <p:spPr>
          <a:xfrm>
            <a:off x="169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9" name="object-216: I2C">
            <a:extLst>
              <a:ext uri="{FF2B5EF4-FFF2-40B4-BE49-F238E27FC236}">
                <a16:creationId xmlns:a16="http://schemas.microsoft.com/office/drawing/2014/main" id="{E5E59EA7-1B0D-4983-9A36-ED3811BA94D7}"/>
              </a:ext>
            </a:extLst>
          </p:cNvPr>
          <p:cNvSpPr txBox="1"/>
          <p:nvPr/>
        </p:nvSpPr>
        <p:spPr>
          <a:xfrm>
            <a:off x="2156885" y="5076936"/>
            <a:ext cx="1651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I2C</a:t>
            </a:r>
          </a:p>
        </p:txBody>
      </p:sp>
      <p:sp>
        <p:nvSpPr>
          <p:cNvPr id="990" name="object-217: 两线串行控制">
            <a:extLst>
              <a:ext uri="{FF2B5EF4-FFF2-40B4-BE49-F238E27FC236}">
                <a16:creationId xmlns:a16="http://schemas.microsoft.com/office/drawing/2014/main" id="{9DF1137C-ED31-4D8F-BA9A-AC0ED9C7B763}"/>
              </a:ext>
            </a:extLst>
          </p:cNvPr>
          <p:cNvSpPr txBox="1"/>
          <p:nvPr/>
        </p:nvSpPr>
        <p:spPr>
          <a:xfrm>
            <a:off x="1970135" y="5189509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两线串行控制</a:t>
            </a:r>
          </a:p>
        </p:txBody>
      </p:sp>
      <p:cxnSp>
        <p:nvCxnSpPr>
          <p:cNvPr id="991" name="reg-drop-i2c">
            <a:extLst>
              <a:ext uri="{FF2B5EF4-FFF2-40B4-BE49-F238E27FC236}">
                <a16:creationId xmlns:a16="http://schemas.microsoft.com/office/drawing/2014/main" id="{33C02DF2-E598-4A66-A905-FC66F701D132}"/>
              </a:ext>
            </a:extLst>
          </p:cNvPr>
          <p:cNvCxnSpPr/>
          <p:nvPr/>
        </p:nvCxnSpPr>
        <p:spPr>
          <a:xfrm>
            <a:off x="162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2" name="spi">
            <a:extLst>
              <a:ext uri="{FF2B5EF4-FFF2-40B4-BE49-F238E27FC236}">
                <a16:creationId xmlns:a16="http://schemas.microsoft.com/office/drawing/2014/main" id="{EBB02BB1-9466-4CCA-95CE-5B74B323BACF}"/>
              </a:ext>
            </a:extLst>
          </p:cNvPr>
          <p:cNvSpPr/>
          <p:nvPr/>
        </p:nvSpPr>
        <p:spPr>
          <a:xfrm>
            <a:off x="296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3" name="object-220: SPI host">
            <a:extLst>
              <a:ext uri="{FF2B5EF4-FFF2-40B4-BE49-F238E27FC236}">
                <a16:creationId xmlns:a16="http://schemas.microsoft.com/office/drawing/2014/main" id="{BFDFD177-B88E-40DB-BBDB-EAB543912B78}"/>
              </a:ext>
            </a:extLst>
          </p:cNvPr>
          <p:cNvSpPr txBox="1"/>
          <p:nvPr/>
        </p:nvSpPr>
        <p:spPr>
          <a:xfrm>
            <a:off x="3298645" y="5076936"/>
            <a:ext cx="42159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994" name="object-221: Flash / SD">
            <a:extLst>
              <a:ext uri="{FF2B5EF4-FFF2-40B4-BE49-F238E27FC236}">
                <a16:creationId xmlns:a16="http://schemas.microsoft.com/office/drawing/2014/main" id="{BE7CD425-6584-4BCA-B607-28CF337E748B}"/>
              </a:ext>
            </a:extLst>
          </p:cNvPr>
          <p:cNvSpPr txBox="1"/>
          <p:nvPr/>
        </p:nvSpPr>
        <p:spPr>
          <a:xfrm>
            <a:off x="3293836" y="5189509"/>
            <a:ext cx="43120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cxnSp>
        <p:nvCxnSpPr>
          <p:cNvPr id="995" name="reg-drop-spi">
            <a:extLst>
              <a:ext uri="{FF2B5EF4-FFF2-40B4-BE49-F238E27FC236}">
                <a16:creationId xmlns:a16="http://schemas.microsoft.com/office/drawing/2014/main" id="{75EE2A7B-F85C-44CC-9316-C28C19486904}"/>
              </a:ext>
            </a:extLst>
          </p:cNvPr>
          <p:cNvCxnSpPr/>
          <p:nvPr/>
        </p:nvCxnSpPr>
        <p:spPr>
          <a:xfrm>
            <a:off x="289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6" name="gpio">
            <a:extLst>
              <a:ext uri="{FF2B5EF4-FFF2-40B4-BE49-F238E27FC236}">
                <a16:creationId xmlns:a16="http://schemas.microsoft.com/office/drawing/2014/main" id="{531F9969-2BDC-4235-9B95-14073DC47407}"/>
              </a:ext>
            </a:extLst>
          </p:cNvPr>
          <p:cNvSpPr/>
          <p:nvPr/>
        </p:nvSpPr>
        <p:spPr>
          <a:xfrm>
            <a:off x="423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7" name="object-224: GPIO">
            <a:extLst>
              <a:ext uri="{FF2B5EF4-FFF2-40B4-BE49-F238E27FC236}">
                <a16:creationId xmlns:a16="http://schemas.microsoft.com/office/drawing/2014/main" id="{A0A68E56-1DB7-4B3B-844E-212BBEF85F06}"/>
              </a:ext>
            </a:extLst>
          </p:cNvPr>
          <p:cNvSpPr txBox="1"/>
          <p:nvPr/>
        </p:nvSpPr>
        <p:spPr>
          <a:xfrm>
            <a:off x="4647994" y="5076936"/>
            <a:ext cx="26289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998" name="object-225: 通用 IO">
            <a:extLst>
              <a:ext uri="{FF2B5EF4-FFF2-40B4-BE49-F238E27FC236}">
                <a16:creationId xmlns:a16="http://schemas.microsoft.com/office/drawing/2014/main" id="{BE3767B7-0672-4715-B191-0FE0F0537E4A}"/>
              </a:ext>
            </a:extLst>
          </p:cNvPr>
          <p:cNvSpPr txBox="1"/>
          <p:nvPr/>
        </p:nvSpPr>
        <p:spPr>
          <a:xfrm>
            <a:off x="4626353" y="5189509"/>
            <a:ext cx="3061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cxnSp>
        <p:nvCxnSpPr>
          <p:cNvPr id="999" name="reg-drop-gpio">
            <a:extLst>
              <a:ext uri="{FF2B5EF4-FFF2-40B4-BE49-F238E27FC236}">
                <a16:creationId xmlns:a16="http://schemas.microsoft.com/office/drawing/2014/main" id="{1E158469-D44F-46B6-9D3B-74C87819F220}"/>
              </a:ext>
            </a:extLst>
          </p:cNvPr>
          <p:cNvCxnSpPr/>
          <p:nvPr/>
        </p:nvCxnSpPr>
        <p:spPr>
          <a:xfrm>
            <a:off x="416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0" name="slink-regs">
            <a:extLst>
              <a:ext uri="{FF2B5EF4-FFF2-40B4-BE49-F238E27FC236}">
                <a16:creationId xmlns:a16="http://schemas.microsoft.com/office/drawing/2014/main" id="{CDD8355B-8F00-4633-BA55-AE916B8B014D}"/>
              </a:ext>
            </a:extLst>
          </p:cNvPr>
          <p:cNvSpPr/>
          <p:nvPr/>
        </p:nvSpPr>
        <p:spPr>
          <a:xfrm>
            <a:off x="550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1" name="object-228: Serial Link 配置">
            <a:extLst>
              <a:ext uri="{FF2B5EF4-FFF2-40B4-BE49-F238E27FC236}">
                <a16:creationId xmlns:a16="http://schemas.microsoft.com/office/drawing/2014/main" id="{3C4C3E06-856F-47E2-AD83-76F63FD1CD68}"/>
              </a:ext>
            </a:extLst>
          </p:cNvPr>
          <p:cNvSpPr txBox="1"/>
          <p:nvPr/>
        </p:nvSpPr>
        <p:spPr>
          <a:xfrm>
            <a:off x="5667124" y="5076936"/>
            <a:ext cx="7646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1002" name="object-229: 链路控制">
            <a:extLst>
              <a:ext uri="{FF2B5EF4-FFF2-40B4-BE49-F238E27FC236}">
                <a16:creationId xmlns:a16="http://schemas.microsoft.com/office/drawing/2014/main" id="{54185CD1-FF3C-49DC-AC94-EDB4EF44AD3B}"/>
              </a:ext>
            </a:extLst>
          </p:cNvPr>
          <p:cNvSpPr txBox="1"/>
          <p:nvPr/>
        </p:nvSpPr>
        <p:spPr>
          <a:xfrm>
            <a:off x="586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cxnSp>
        <p:nvCxnSpPr>
          <p:cNvPr id="1003" name="reg-drop-slink-regs">
            <a:extLst>
              <a:ext uri="{FF2B5EF4-FFF2-40B4-BE49-F238E27FC236}">
                <a16:creationId xmlns:a16="http://schemas.microsoft.com/office/drawing/2014/main" id="{F422A35D-92F3-45F9-A239-44FEDE569549}"/>
              </a:ext>
            </a:extLst>
          </p:cNvPr>
          <p:cNvCxnSpPr/>
          <p:nvPr/>
        </p:nvCxnSpPr>
        <p:spPr>
          <a:xfrm>
            <a:off x="543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4" name="vga-regs">
            <a:extLst>
              <a:ext uri="{FF2B5EF4-FFF2-40B4-BE49-F238E27FC236}">
                <a16:creationId xmlns:a16="http://schemas.microsoft.com/office/drawing/2014/main" id="{8EBF7778-79EB-434E-B3BD-C6A1DC6BE90A}"/>
              </a:ext>
            </a:extLst>
          </p:cNvPr>
          <p:cNvSpPr/>
          <p:nvPr/>
        </p:nvSpPr>
        <p:spPr>
          <a:xfrm>
            <a:off x="42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5" name="object-232: VGA 配置">
            <a:extLst>
              <a:ext uri="{FF2B5EF4-FFF2-40B4-BE49-F238E27FC236}">
                <a16:creationId xmlns:a16="http://schemas.microsoft.com/office/drawing/2014/main" id="{62ADDD3C-BE0D-4B59-A909-CF18BA4E758E}"/>
              </a:ext>
            </a:extLst>
          </p:cNvPr>
          <p:cNvSpPr txBox="1"/>
          <p:nvPr/>
        </p:nvSpPr>
        <p:spPr>
          <a:xfrm>
            <a:off x="737003" y="5388509"/>
            <a:ext cx="4648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1006" name="object-233: 时序 / 帧地址">
            <a:extLst>
              <a:ext uri="{FF2B5EF4-FFF2-40B4-BE49-F238E27FC236}">
                <a16:creationId xmlns:a16="http://schemas.microsoft.com/office/drawing/2014/main" id="{7A3C3F56-B602-418F-BAE9-8C9940A76380}"/>
              </a:ext>
            </a:extLst>
          </p:cNvPr>
          <p:cNvSpPr txBox="1"/>
          <p:nvPr/>
        </p:nvSpPr>
        <p:spPr>
          <a:xfrm>
            <a:off x="698533" y="5501082"/>
            <a:ext cx="5418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cxnSp>
        <p:nvCxnSpPr>
          <p:cNvPr id="1007" name="reg-drop-vga-regs">
            <a:extLst>
              <a:ext uri="{FF2B5EF4-FFF2-40B4-BE49-F238E27FC236}">
                <a16:creationId xmlns:a16="http://schemas.microsoft.com/office/drawing/2014/main" id="{284FB17E-CC08-430C-A272-1318860E022A}"/>
              </a:ext>
            </a:extLst>
          </p:cNvPr>
          <p:cNvCxnSpPr/>
          <p:nvPr/>
        </p:nvCxnSpPr>
        <p:spPr>
          <a:xfrm>
            <a:off x="35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8" name="usb-regs">
            <a:extLst>
              <a:ext uri="{FF2B5EF4-FFF2-40B4-BE49-F238E27FC236}">
                <a16:creationId xmlns:a16="http://schemas.microsoft.com/office/drawing/2014/main" id="{0B8EBE65-C149-4BCC-BFC6-D1328A87BF30}"/>
              </a:ext>
            </a:extLst>
          </p:cNvPr>
          <p:cNvSpPr/>
          <p:nvPr/>
        </p:nvSpPr>
        <p:spPr>
          <a:xfrm>
            <a:off x="169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9" name="object-236: USB 配置">
            <a:extLst>
              <a:ext uri="{FF2B5EF4-FFF2-40B4-BE49-F238E27FC236}">
                <a16:creationId xmlns:a16="http://schemas.microsoft.com/office/drawing/2014/main" id="{B1B269C9-EB8E-41F4-AA9C-809BAA64C159}"/>
              </a:ext>
            </a:extLst>
          </p:cNvPr>
          <p:cNvSpPr txBox="1"/>
          <p:nvPr/>
        </p:nvSpPr>
        <p:spPr>
          <a:xfrm>
            <a:off x="2015019" y="5388509"/>
            <a:ext cx="44884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1010" name="object-237: OHCI 寄存器">
            <a:extLst>
              <a:ext uri="{FF2B5EF4-FFF2-40B4-BE49-F238E27FC236}">
                <a16:creationId xmlns:a16="http://schemas.microsoft.com/office/drawing/2014/main" id="{38A2F12A-0BFD-48FA-9E3B-E676E3E7BCCF}"/>
              </a:ext>
            </a:extLst>
          </p:cNvPr>
          <p:cNvSpPr txBox="1"/>
          <p:nvPr/>
        </p:nvSpPr>
        <p:spPr>
          <a:xfrm>
            <a:off x="1977349" y="5501082"/>
            <a:ext cx="52418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cxnSp>
        <p:nvCxnSpPr>
          <p:cNvPr id="1011" name="reg-drop-usb-regs">
            <a:extLst>
              <a:ext uri="{FF2B5EF4-FFF2-40B4-BE49-F238E27FC236}">
                <a16:creationId xmlns:a16="http://schemas.microsoft.com/office/drawing/2014/main" id="{199126BC-EE78-4602-8075-36C775B6FB4C}"/>
              </a:ext>
            </a:extLst>
          </p:cNvPr>
          <p:cNvCxnSpPr/>
          <p:nvPr/>
        </p:nvCxnSpPr>
        <p:spPr>
          <a:xfrm>
            <a:off x="162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2" name="err-vga">
            <a:extLst>
              <a:ext uri="{FF2B5EF4-FFF2-40B4-BE49-F238E27FC236}">
                <a16:creationId xmlns:a16="http://schemas.microsoft.com/office/drawing/2014/main" id="{4971F93E-DE8F-4E5B-B7DF-E146A61F4308}"/>
              </a:ext>
            </a:extLst>
          </p:cNvPr>
          <p:cNvSpPr/>
          <p:nvPr/>
        </p:nvSpPr>
        <p:spPr>
          <a:xfrm>
            <a:off x="296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3" name="object-240: Bus-error · VGA">
            <a:extLst>
              <a:ext uri="{FF2B5EF4-FFF2-40B4-BE49-F238E27FC236}">
                <a16:creationId xmlns:a16="http://schemas.microsoft.com/office/drawing/2014/main" id="{EEA3CDCE-84C0-4DFF-AAE2-9F4939D6617F}"/>
              </a:ext>
            </a:extLst>
          </p:cNvPr>
          <p:cNvSpPr txBox="1"/>
          <p:nvPr/>
        </p:nvSpPr>
        <p:spPr>
          <a:xfrm>
            <a:off x="3097468" y="5388509"/>
            <a:ext cx="8239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1014" name="object-241: 错误记录">
            <a:extLst>
              <a:ext uri="{FF2B5EF4-FFF2-40B4-BE49-F238E27FC236}">
                <a16:creationId xmlns:a16="http://schemas.microsoft.com/office/drawing/2014/main" id="{2039AC29-21CE-44B6-B608-D5F3229760D9}"/>
              </a:ext>
            </a:extLst>
          </p:cNvPr>
          <p:cNvSpPr txBox="1"/>
          <p:nvPr/>
        </p:nvSpPr>
        <p:spPr>
          <a:xfrm>
            <a:off x="332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5" name="reg-drop-err-vga">
            <a:extLst>
              <a:ext uri="{FF2B5EF4-FFF2-40B4-BE49-F238E27FC236}">
                <a16:creationId xmlns:a16="http://schemas.microsoft.com/office/drawing/2014/main" id="{B8FCE69F-48A7-40A4-8BC8-A7382A1D3A87}"/>
              </a:ext>
            </a:extLst>
          </p:cNvPr>
          <p:cNvCxnSpPr/>
          <p:nvPr/>
        </p:nvCxnSpPr>
        <p:spPr>
          <a:xfrm>
            <a:off x="289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6" name="err-dma">
            <a:extLst>
              <a:ext uri="{FF2B5EF4-FFF2-40B4-BE49-F238E27FC236}">
                <a16:creationId xmlns:a16="http://schemas.microsoft.com/office/drawing/2014/main" id="{43E3549C-BCEC-4288-9009-5ABCA5983F94}"/>
              </a:ext>
            </a:extLst>
          </p:cNvPr>
          <p:cNvSpPr/>
          <p:nvPr/>
        </p:nvSpPr>
        <p:spPr>
          <a:xfrm>
            <a:off x="423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7" name="object-244: Bus-error · iDMA">
            <a:extLst>
              <a:ext uri="{FF2B5EF4-FFF2-40B4-BE49-F238E27FC236}">
                <a16:creationId xmlns:a16="http://schemas.microsoft.com/office/drawing/2014/main" id="{D9335C45-2A62-4A03-8717-F5B43F6397F3}"/>
              </a:ext>
            </a:extLst>
          </p:cNvPr>
          <p:cNvSpPr txBox="1"/>
          <p:nvPr/>
        </p:nvSpPr>
        <p:spPr>
          <a:xfrm>
            <a:off x="4334607" y="5388509"/>
            <a:ext cx="8896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1018" name="object-245: 错误记录">
            <a:extLst>
              <a:ext uri="{FF2B5EF4-FFF2-40B4-BE49-F238E27FC236}">
                <a16:creationId xmlns:a16="http://schemas.microsoft.com/office/drawing/2014/main" id="{F9D2C7A3-5309-4D7C-BD5F-13E2C5CFCC48}"/>
              </a:ext>
            </a:extLst>
          </p:cNvPr>
          <p:cNvSpPr txBox="1"/>
          <p:nvPr/>
        </p:nvSpPr>
        <p:spPr>
          <a:xfrm>
            <a:off x="459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9" name="reg-drop-err-dma">
            <a:extLst>
              <a:ext uri="{FF2B5EF4-FFF2-40B4-BE49-F238E27FC236}">
                <a16:creationId xmlns:a16="http://schemas.microsoft.com/office/drawing/2014/main" id="{79CD45D7-22E3-4E2D-A607-0848D0205CF7}"/>
              </a:ext>
            </a:extLst>
          </p:cNvPr>
          <p:cNvCxnSpPr/>
          <p:nvPr/>
        </p:nvCxnSpPr>
        <p:spPr>
          <a:xfrm>
            <a:off x="416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0" name="err-cpu">
            <a:extLst>
              <a:ext uri="{FF2B5EF4-FFF2-40B4-BE49-F238E27FC236}">
                <a16:creationId xmlns:a16="http://schemas.microsoft.com/office/drawing/2014/main" id="{F7273D17-4ADC-488E-B342-FF60E155EE7E}"/>
              </a:ext>
            </a:extLst>
          </p:cNvPr>
          <p:cNvSpPr/>
          <p:nvPr/>
        </p:nvSpPr>
        <p:spPr>
          <a:xfrm>
            <a:off x="550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1" name="object-248: Bus-error · CPU">
            <a:extLst>
              <a:ext uri="{FF2B5EF4-FFF2-40B4-BE49-F238E27FC236}">
                <a16:creationId xmlns:a16="http://schemas.microsoft.com/office/drawing/2014/main" id="{0174A861-FE55-4751-9DF1-CF02FEFC740E}"/>
              </a:ext>
            </a:extLst>
          </p:cNvPr>
          <p:cNvSpPr txBox="1"/>
          <p:nvPr/>
        </p:nvSpPr>
        <p:spPr>
          <a:xfrm>
            <a:off x="5643880" y="5388509"/>
            <a:ext cx="8111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1022" name="object-249: 每核错误记录">
            <a:extLst>
              <a:ext uri="{FF2B5EF4-FFF2-40B4-BE49-F238E27FC236}">
                <a16:creationId xmlns:a16="http://schemas.microsoft.com/office/drawing/2014/main" id="{958C0EE9-8E64-4C3C-8F0D-760AF4E39717}"/>
              </a:ext>
            </a:extLst>
          </p:cNvPr>
          <p:cNvSpPr txBox="1"/>
          <p:nvPr/>
        </p:nvSpPr>
        <p:spPr>
          <a:xfrm>
            <a:off x="5780135" y="5501082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cxnSp>
        <p:nvCxnSpPr>
          <p:cNvPr id="1023" name="reg-drop-err-cpu">
            <a:extLst>
              <a:ext uri="{FF2B5EF4-FFF2-40B4-BE49-F238E27FC236}">
                <a16:creationId xmlns:a16="http://schemas.microsoft.com/office/drawing/2014/main" id="{20C8931B-3EF2-45DE-9315-D08D71B4C2B7}"/>
              </a:ext>
            </a:extLst>
          </p:cNvPr>
          <p:cNvCxnSpPr/>
          <p:nvPr/>
        </p:nvCxnSpPr>
        <p:spPr>
          <a:xfrm>
            <a:off x="543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4" name="irq-router">
            <a:extLst>
              <a:ext uri="{FF2B5EF4-FFF2-40B4-BE49-F238E27FC236}">
                <a16:creationId xmlns:a16="http://schemas.microsoft.com/office/drawing/2014/main" id="{13797B51-9EEA-40B5-9B99-22B72980494E}"/>
              </a:ext>
            </a:extLst>
          </p:cNvPr>
          <p:cNvSpPr/>
          <p:nvPr/>
        </p:nvSpPr>
        <p:spPr>
          <a:xfrm>
            <a:off x="42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5" name="object-252: IRQ router">
            <a:extLst>
              <a:ext uri="{FF2B5EF4-FFF2-40B4-BE49-F238E27FC236}">
                <a16:creationId xmlns:a16="http://schemas.microsoft.com/office/drawing/2014/main" id="{B34D039D-8DF6-4EED-B0DC-08DD07C36A3C}"/>
              </a:ext>
            </a:extLst>
          </p:cNvPr>
          <p:cNvSpPr txBox="1"/>
          <p:nvPr/>
        </p:nvSpPr>
        <p:spPr>
          <a:xfrm>
            <a:off x="698532" y="5700082"/>
            <a:ext cx="54181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1026" name="object-253: 可选中断路由">
            <a:extLst>
              <a:ext uri="{FF2B5EF4-FFF2-40B4-BE49-F238E27FC236}">
                <a16:creationId xmlns:a16="http://schemas.microsoft.com/office/drawing/2014/main" id="{6B0677D4-70F1-43E5-A7BB-4E174ACC48F1}"/>
              </a:ext>
            </a:extLst>
          </p:cNvPr>
          <p:cNvSpPr txBox="1"/>
          <p:nvPr/>
        </p:nvSpPr>
        <p:spPr>
          <a:xfrm>
            <a:off x="70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cxnSp>
        <p:nvCxnSpPr>
          <p:cNvPr id="1027" name="reg-drop-irq-router">
            <a:extLst>
              <a:ext uri="{FF2B5EF4-FFF2-40B4-BE49-F238E27FC236}">
                <a16:creationId xmlns:a16="http://schemas.microsoft.com/office/drawing/2014/main" id="{6D2B767A-C641-413C-98C9-B4F951EC1933}"/>
              </a:ext>
            </a:extLst>
          </p:cNvPr>
          <p:cNvCxnSpPr/>
          <p:nvPr/>
        </p:nvCxnSpPr>
        <p:spPr>
          <a:xfrm>
            <a:off x="35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8" name="axi-rt-config">
            <a:extLst>
              <a:ext uri="{FF2B5EF4-FFF2-40B4-BE49-F238E27FC236}">
                <a16:creationId xmlns:a16="http://schemas.microsoft.com/office/drawing/2014/main" id="{23BA068B-65A2-43EC-9FE6-5A73B4991D62}"/>
              </a:ext>
            </a:extLst>
          </p:cNvPr>
          <p:cNvSpPr/>
          <p:nvPr/>
        </p:nvSpPr>
        <p:spPr>
          <a:xfrm>
            <a:off x="169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9" name="object-256: AXI RT 配置">
            <a:extLst>
              <a:ext uri="{FF2B5EF4-FFF2-40B4-BE49-F238E27FC236}">
                <a16:creationId xmlns:a16="http://schemas.microsoft.com/office/drawing/2014/main" id="{75223ABC-7E74-4916-9B7F-FB5526BAB035}"/>
              </a:ext>
            </a:extLst>
          </p:cNvPr>
          <p:cNvSpPr txBox="1"/>
          <p:nvPr/>
        </p:nvSpPr>
        <p:spPr>
          <a:xfrm>
            <a:off x="1946892" y="5700082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1030" name="object-257: 可选流量调节">
            <a:extLst>
              <a:ext uri="{FF2B5EF4-FFF2-40B4-BE49-F238E27FC236}">
                <a16:creationId xmlns:a16="http://schemas.microsoft.com/office/drawing/2014/main" id="{45B6F20A-09B8-4750-9BE3-43227AC3557B}"/>
              </a:ext>
            </a:extLst>
          </p:cNvPr>
          <p:cNvSpPr txBox="1"/>
          <p:nvPr/>
        </p:nvSpPr>
        <p:spPr>
          <a:xfrm>
            <a:off x="197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cxnSp>
        <p:nvCxnSpPr>
          <p:cNvPr id="1031" name="reg-drop-axi-rt-config">
            <a:extLst>
              <a:ext uri="{FF2B5EF4-FFF2-40B4-BE49-F238E27FC236}">
                <a16:creationId xmlns:a16="http://schemas.microsoft.com/office/drawing/2014/main" id="{4E280EBF-535F-4CFE-88E7-3B0E4A9BCA5E}"/>
              </a:ext>
            </a:extLst>
          </p:cNvPr>
          <p:cNvCxnSpPr/>
          <p:nvPr/>
        </p:nvCxnSpPr>
        <p:spPr>
          <a:xfrm>
            <a:off x="162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2" name="clic">
            <a:extLst>
              <a:ext uri="{FF2B5EF4-FFF2-40B4-BE49-F238E27FC236}">
                <a16:creationId xmlns:a16="http://schemas.microsoft.com/office/drawing/2014/main" id="{024727BA-5D26-4568-8F2F-DF105739600A}"/>
              </a:ext>
            </a:extLst>
          </p:cNvPr>
          <p:cNvSpPr/>
          <p:nvPr/>
        </p:nvSpPr>
        <p:spPr>
          <a:xfrm>
            <a:off x="296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3" name="object-260: CLIC">
            <a:extLst>
              <a:ext uri="{FF2B5EF4-FFF2-40B4-BE49-F238E27FC236}">
                <a16:creationId xmlns:a16="http://schemas.microsoft.com/office/drawing/2014/main" id="{9A26F5E1-1647-427C-99C4-FA38AAA5220C}"/>
              </a:ext>
            </a:extLst>
          </p:cNvPr>
          <p:cNvSpPr txBox="1"/>
          <p:nvPr/>
        </p:nvSpPr>
        <p:spPr>
          <a:xfrm>
            <a:off x="3395627" y="5700082"/>
            <a:ext cx="22762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1034" name="object-261: 可选每核中断控制">
            <a:extLst>
              <a:ext uri="{FF2B5EF4-FFF2-40B4-BE49-F238E27FC236}">
                <a16:creationId xmlns:a16="http://schemas.microsoft.com/office/drawing/2014/main" id="{9D7BB867-486B-4DA1-B8CC-E35945C7C943}"/>
              </a:ext>
            </a:extLst>
          </p:cNvPr>
          <p:cNvSpPr txBox="1"/>
          <p:nvPr/>
        </p:nvSpPr>
        <p:spPr>
          <a:xfrm>
            <a:off x="3150368" y="5812655"/>
            <a:ext cx="7181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cxnSp>
        <p:nvCxnSpPr>
          <p:cNvPr id="1035" name="reg-drop-clic">
            <a:extLst>
              <a:ext uri="{FF2B5EF4-FFF2-40B4-BE49-F238E27FC236}">
                <a16:creationId xmlns:a16="http://schemas.microsoft.com/office/drawing/2014/main" id="{1486CE0E-1CBD-49A6-AFA7-ABCFBCAD09BC}"/>
              </a:ext>
            </a:extLst>
          </p:cNvPr>
          <p:cNvCxnSpPr/>
          <p:nvPr/>
        </p:nvCxnSpPr>
        <p:spPr>
          <a:xfrm>
            <a:off x="289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6" name="reg-error">
            <a:extLst>
              <a:ext uri="{FF2B5EF4-FFF2-40B4-BE49-F238E27FC236}">
                <a16:creationId xmlns:a16="http://schemas.microsoft.com/office/drawing/2014/main" id="{ED53C377-7C3F-4110-80FF-EFDD6D02CF81}"/>
              </a:ext>
            </a:extLst>
          </p:cNvPr>
          <p:cNvSpPr/>
          <p:nvPr/>
        </p:nvSpPr>
        <p:spPr>
          <a:xfrm>
            <a:off x="423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7" name="object-264: reg_err_slv">
            <a:extLst>
              <a:ext uri="{FF2B5EF4-FFF2-40B4-BE49-F238E27FC236}">
                <a16:creationId xmlns:a16="http://schemas.microsoft.com/office/drawing/2014/main" id="{CDCDB789-0FB9-4F28-948E-9C4B450DCF9E}"/>
              </a:ext>
            </a:extLst>
          </p:cNvPr>
          <p:cNvSpPr txBox="1"/>
          <p:nvPr/>
        </p:nvSpPr>
        <p:spPr>
          <a:xfrm>
            <a:off x="4503723" y="5700082"/>
            <a:ext cx="5514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1038" name="object-265: 未匹配地址">
            <a:extLst>
              <a:ext uri="{FF2B5EF4-FFF2-40B4-BE49-F238E27FC236}">
                <a16:creationId xmlns:a16="http://schemas.microsoft.com/office/drawing/2014/main" id="{03E49DD8-3869-4C9B-A29F-4BBCE7E13055}"/>
              </a:ext>
            </a:extLst>
          </p:cNvPr>
          <p:cNvSpPr txBox="1"/>
          <p:nvPr/>
        </p:nvSpPr>
        <p:spPr>
          <a:xfrm>
            <a:off x="4555019" y="5812655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cxnSp>
        <p:nvCxnSpPr>
          <p:cNvPr id="1039" name="reg-drop-reg-error">
            <a:extLst>
              <a:ext uri="{FF2B5EF4-FFF2-40B4-BE49-F238E27FC236}">
                <a16:creationId xmlns:a16="http://schemas.microsoft.com/office/drawing/2014/main" id="{7E71B93C-A324-41A2-AE26-DC1D42DB4C93}"/>
              </a:ext>
            </a:extLst>
          </p:cNvPr>
          <p:cNvCxnSpPr/>
          <p:nvPr/>
        </p:nvCxnSpPr>
        <p:spPr>
          <a:xfrm>
            <a:off x="416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0" name="reg-ext">
            <a:extLst>
              <a:ext uri="{FF2B5EF4-FFF2-40B4-BE49-F238E27FC236}">
                <a16:creationId xmlns:a16="http://schemas.microsoft.com/office/drawing/2014/main" id="{F3FFC9D0-EFBF-4B4C-9718-CDD3DAB52FED}"/>
              </a:ext>
            </a:extLst>
          </p:cNvPr>
          <p:cNvSpPr/>
          <p:nvPr/>
        </p:nvSpPr>
        <p:spPr>
          <a:xfrm>
            <a:off x="550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1" name="object-268: RegExt 扩展">
            <a:extLst>
              <a:ext uri="{FF2B5EF4-FFF2-40B4-BE49-F238E27FC236}">
                <a16:creationId xmlns:a16="http://schemas.microsoft.com/office/drawing/2014/main" id="{6A2DE6BF-83C4-46D2-911D-C24494A78B35}"/>
              </a:ext>
            </a:extLst>
          </p:cNvPr>
          <p:cNvSpPr txBox="1"/>
          <p:nvPr/>
        </p:nvSpPr>
        <p:spPr>
          <a:xfrm>
            <a:off x="5750480" y="5700082"/>
            <a:ext cx="5979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1042" name="object-269: 新增 IP 配置出口">
            <a:extLst>
              <a:ext uri="{FF2B5EF4-FFF2-40B4-BE49-F238E27FC236}">
                <a16:creationId xmlns:a16="http://schemas.microsoft.com/office/drawing/2014/main" id="{42D0E2BF-9B88-4214-A270-C0C43807DB3B}"/>
              </a:ext>
            </a:extLst>
          </p:cNvPr>
          <p:cNvSpPr txBox="1"/>
          <p:nvPr/>
        </p:nvSpPr>
        <p:spPr>
          <a:xfrm>
            <a:off x="5712809" y="5812655"/>
            <a:ext cx="67326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cxnSp>
        <p:nvCxnSpPr>
          <p:cNvPr id="1043" name="reg-drop-reg-ext">
            <a:extLst>
              <a:ext uri="{FF2B5EF4-FFF2-40B4-BE49-F238E27FC236}">
                <a16:creationId xmlns:a16="http://schemas.microsoft.com/office/drawing/2014/main" id="{FCB356D9-4EA7-4651-851E-9D0E0E61EA3B}"/>
              </a:ext>
            </a:extLst>
          </p:cNvPr>
          <p:cNvCxnSpPr/>
          <p:nvPr/>
        </p:nvCxnSpPr>
        <p:spPr>
          <a:xfrm>
            <a:off x="543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4" name="ddr-controller">
            <a:extLst>
              <a:ext uri="{FF2B5EF4-FFF2-40B4-BE49-F238E27FC236}">
                <a16:creationId xmlns:a16="http://schemas.microsoft.com/office/drawing/2014/main" id="{F2CDF5A0-6C1B-4F5F-B14C-DA77524D63A3}"/>
              </a:ext>
            </a:extLst>
          </p:cNvPr>
          <p:cNvSpPr/>
          <p:nvPr/>
        </p:nvSpPr>
        <p:spPr>
          <a:xfrm>
            <a:off x="7065440" y="4582482"/>
            <a:ext cx="3285067" cy="12530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5" name="object-272: DDR Controller · 3 个 AXI slave">
            <a:extLst>
              <a:ext uri="{FF2B5EF4-FFF2-40B4-BE49-F238E27FC236}">
                <a16:creationId xmlns:a16="http://schemas.microsoft.com/office/drawing/2014/main" id="{2E607D15-407F-4CDC-9A28-3725F752D408}"/>
              </a:ext>
            </a:extLst>
          </p:cNvPr>
          <p:cNvSpPr txBox="1"/>
          <p:nvPr/>
        </p:nvSpPr>
        <p:spPr>
          <a:xfrm>
            <a:off x="7815102" y="5686873"/>
            <a:ext cx="1785745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3 个 AXI slave</a:t>
            </a:r>
          </a:p>
        </p:txBody>
      </p:sp>
      <p:sp>
        <p:nvSpPr>
          <p:cNvPr id="1046" name="cfg-tag-C2-272">
            <a:extLst>
              <a:ext uri="{FF2B5EF4-FFF2-40B4-BE49-F238E27FC236}">
                <a16:creationId xmlns:a16="http://schemas.microsoft.com/office/drawing/2014/main" id="{DC123D00-7770-4D36-BE74-0CAEF004A1C0}"/>
              </a:ext>
            </a:extLst>
          </p:cNvPr>
          <p:cNvSpPr/>
          <p:nvPr/>
        </p:nvSpPr>
        <p:spPr>
          <a:xfrm>
            <a:off x="10113440" y="57034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7" name="object-274: C2">
            <a:extLst>
              <a:ext uri="{FF2B5EF4-FFF2-40B4-BE49-F238E27FC236}">
                <a16:creationId xmlns:a16="http://schemas.microsoft.com/office/drawing/2014/main" id="{34935CB7-5BD6-47A9-A015-5E24A53424DE}"/>
              </a:ext>
            </a:extLst>
          </p:cNvPr>
          <p:cNvSpPr txBox="1"/>
          <p:nvPr/>
        </p:nvSpPr>
        <p:spPr>
          <a:xfrm>
            <a:off x="10143333" y="57048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048" name="ddr-S0">
            <a:extLst>
              <a:ext uri="{FF2B5EF4-FFF2-40B4-BE49-F238E27FC236}">
                <a16:creationId xmlns:a16="http://schemas.microsoft.com/office/drawing/2014/main" id="{6691ED0E-01BE-459F-9B68-EB9029A85852}"/>
              </a:ext>
            </a:extLst>
          </p:cNvPr>
          <p:cNvSpPr/>
          <p:nvPr/>
        </p:nvSpPr>
        <p:spPr>
          <a:xfrm>
            <a:off x="71331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9" name="object-276: S0">
            <a:extLst>
              <a:ext uri="{FF2B5EF4-FFF2-40B4-BE49-F238E27FC236}">
                <a16:creationId xmlns:a16="http://schemas.microsoft.com/office/drawing/2014/main" id="{3E638D93-F21A-4686-AF3F-03E5B0EEB55F}"/>
              </a:ext>
            </a:extLst>
          </p:cNvPr>
          <p:cNvSpPr txBox="1"/>
          <p:nvPr/>
        </p:nvSpPr>
        <p:spPr>
          <a:xfrm>
            <a:off x="74359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1050" name="object-277: SoC / LLC">
            <a:extLst>
              <a:ext uri="{FF2B5EF4-FFF2-40B4-BE49-F238E27FC236}">
                <a16:creationId xmlns:a16="http://schemas.microsoft.com/office/drawing/2014/main" id="{16A28138-BFB3-4240-B7BC-4EDC71FC712A}"/>
              </a:ext>
            </a:extLst>
          </p:cNvPr>
          <p:cNvSpPr txBox="1"/>
          <p:nvPr/>
        </p:nvSpPr>
        <p:spPr>
          <a:xfrm>
            <a:off x="7298919" y="4758860"/>
            <a:ext cx="4135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SoC / LLC</a:t>
            </a:r>
          </a:p>
        </p:txBody>
      </p:sp>
      <p:cxnSp>
        <p:nvCxnSpPr>
          <p:cNvPr id="1051" name="ddr-S-to-arb-0">
            <a:extLst>
              <a:ext uri="{FF2B5EF4-FFF2-40B4-BE49-F238E27FC236}">
                <a16:creationId xmlns:a16="http://schemas.microsoft.com/office/drawing/2014/main" id="{A7252EFA-7EE5-456E-B64D-45437FEBCBA2}"/>
              </a:ext>
            </a:extLst>
          </p:cNvPr>
          <p:cNvCxnSpPr/>
          <p:nvPr/>
        </p:nvCxnSpPr>
        <p:spPr>
          <a:xfrm>
            <a:off x="75057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2" name="ddr-S1">
            <a:extLst>
              <a:ext uri="{FF2B5EF4-FFF2-40B4-BE49-F238E27FC236}">
                <a16:creationId xmlns:a16="http://schemas.microsoft.com/office/drawing/2014/main" id="{7086A1C7-6343-4C2E-BF38-5BBB4A4DBE91}"/>
              </a:ext>
            </a:extLst>
          </p:cNvPr>
          <p:cNvSpPr/>
          <p:nvPr/>
        </p:nvSpPr>
        <p:spPr>
          <a:xfrm>
            <a:off x="82507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3" name="object-280: S1">
            <a:extLst>
              <a:ext uri="{FF2B5EF4-FFF2-40B4-BE49-F238E27FC236}">
                <a16:creationId xmlns:a16="http://schemas.microsoft.com/office/drawing/2014/main" id="{B2E7CB33-2C1D-440C-A067-0DE14C752922}"/>
              </a:ext>
            </a:extLst>
          </p:cNvPr>
          <p:cNvSpPr txBox="1"/>
          <p:nvPr/>
        </p:nvSpPr>
        <p:spPr>
          <a:xfrm>
            <a:off x="85535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54" name="object-281: NPU / GB 搬运">
            <a:extLst>
              <a:ext uri="{FF2B5EF4-FFF2-40B4-BE49-F238E27FC236}">
                <a16:creationId xmlns:a16="http://schemas.microsoft.com/office/drawing/2014/main" id="{C8652E7B-2D08-4876-A8E7-6600B2055E57}"/>
              </a:ext>
            </a:extLst>
          </p:cNvPr>
          <p:cNvSpPr txBox="1"/>
          <p:nvPr/>
        </p:nvSpPr>
        <p:spPr>
          <a:xfrm>
            <a:off x="8313928" y="4758860"/>
            <a:ext cx="61875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cxnSp>
        <p:nvCxnSpPr>
          <p:cNvPr id="1055" name="ddr-S-to-arb-1">
            <a:extLst>
              <a:ext uri="{FF2B5EF4-FFF2-40B4-BE49-F238E27FC236}">
                <a16:creationId xmlns:a16="http://schemas.microsoft.com/office/drawing/2014/main" id="{F62288E7-5AF1-4E3F-9560-60F89E32F154}"/>
              </a:ext>
            </a:extLst>
          </p:cNvPr>
          <p:cNvCxnSpPr/>
          <p:nvPr/>
        </p:nvCxnSpPr>
        <p:spPr>
          <a:xfrm>
            <a:off x="86233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6" name="ddr-S2">
            <a:extLst>
              <a:ext uri="{FF2B5EF4-FFF2-40B4-BE49-F238E27FC236}">
                <a16:creationId xmlns:a16="http://schemas.microsoft.com/office/drawing/2014/main" id="{ADCA61D9-2312-44E4-903B-EE0F6CE498B9}"/>
              </a:ext>
            </a:extLst>
          </p:cNvPr>
          <p:cNvSpPr/>
          <p:nvPr/>
        </p:nvSpPr>
        <p:spPr>
          <a:xfrm>
            <a:off x="93683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7" name="object-284: S2">
            <a:extLst>
              <a:ext uri="{FF2B5EF4-FFF2-40B4-BE49-F238E27FC236}">
                <a16:creationId xmlns:a16="http://schemas.microsoft.com/office/drawing/2014/main" id="{4A254861-34DC-4BB9-B5C8-C33C2BB93B9B}"/>
              </a:ext>
            </a:extLst>
          </p:cNvPr>
          <p:cNvSpPr txBox="1"/>
          <p:nvPr/>
        </p:nvSpPr>
        <p:spPr>
          <a:xfrm>
            <a:off x="96711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58" name="object-285: 图像帧写入">
            <a:extLst>
              <a:ext uri="{FF2B5EF4-FFF2-40B4-BE49-F238E27FC236}">
                <a16:creationId xmlns:a16="http://schemas.microsoft.com/office/drawing/2014/main" id="{64049BC4-F5D1-47E7-8AF9-CA41D18F45C4}"/>
              </a:ext>
            </a:extLst>
          </p:cNvPr>
          <p:cNvSpPr txBox="1"/>
          <p:nvPr/>
        </p:nvSpPr>
        <p:spPr>
          <a:xfrm>
            <a:off x="9516486" y="4758860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图像帧写入</a:t>
            </a:r>
          </a:p>
        </p:txBody>
      </p:sp>
      <p:cxnSp>
        <p:nvCxnSpPr>
          <p:cNvPr id="1059" name="ddr-S-to-arb-2">
            <a:extLst>
              <a:ext uri="{FF2B5EF4-FFF2-40B4-BE49-F238E27FC236}">
                <a16:creationId xmlns:a16="http://schemas.microsoft.com/office/drawing/2014/main" id="{8AB2A2C0-EF2E-4BDA-B2A9-DA763EA06B7C}"/>
              </a:ext>
            </a:extLst>
          </p:cNvPr>
          <p:cNvCxnSpPr/>
          <p:nvPr/>
        </p:nvCxnSpPr>
        <p:spPr>
          <a:xfrm>
            <a:off x="97409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0" name="ddr-port-collect">
            <a:extLst>
              <a:ext uri="{FF2B5EF4-FFF2-40B4-BE49-F238E27FC236}">
                <a16:creationId xmlns:a16="http://schemas.microsoft.com/office/drawing/2014/main" id="{4BF79ED7-23F1-49A4-A532-37A8E1C1E006}"/>
              </a:ext>
            </a:extLst>
          </p:cNvPr>
          <p:cNvCxnSpPr/>
          <p:nvPr/>
        </p:nvCxnSpPr>
        <p:spPr>
          <a:xfrm>
            <a:off x="7505706" y="5022749"/>
            <a:ext cx="2235200" cy="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1" name="ddr-all-to-arbiter">
            <a:extLst>
              <a:ext uri="{FF2B5EF4-FFF2-40B4-BE49-F238E27FC236}">
                <a16:creationId xmlns:a16="http://schemas.microsoft.com/office/drawing/2014/main" id="{2F3E0D25-8498-4BB9-A346-7C1CD68191E5}"/>
              </a:ext>
            </a:extLst>
          </p:cNvPr>
          <p:cNvCxnSpPr/>
          <p:nvPr/>
        </p:nvCxnSpPr>
        <p:spPr>
          <a:xfrm>
            <a:off x="7708906" y="5022749"/>
            <a:ext cx="0" cy="203200"/>
          </a:xfrm>
          <a:prstGeom prst="line">
            <a:avLst/>
          </a:prstGeom>
          <a:ln w="22758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2" name="ddr-scheduler">
            <a:extLst>
              <a:ext uri="{FF2B5EF4-FFF2-40B4-BE49-F238E27FC236}">
                <a16:creationId xmlns:a16="http://schemas.microsoft.com/office/drawing/2014/main" id="{AFD3DC4E-F974-47FC-A184-9DFF294C4164}"/>
              </a:ext>
            </a:extLst>
          </p:cNvPr>
          <p:cNvSpPr/>
          <p:nvPr/>
        </p:nvSpPr>
        <p:spPr>
          <a:xfrm>
            <a:off x="7200906" y="5225949"/>
            <a:ext cx="3031067" cy="45720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63" name="object-290: 端口仲裁 / QoS">
            <a:extLst>
              <a:ext uri="{FF2B5EF4-FFF2-40B4-BE49-F238E27FC236}">
                <a16:creationId xmlns:a16="http://schemas.microsoft.com/office/drawing/2014/main" id="{8C9987A2-50C6-40F9-A52B-D1939F626071}"/>
              </a:ext>
            </a:extLst>
          </p:cNvPr>
          <p:cNvSpPr txBox="1"/>
          <p:nvPr/>
        </p:nvSpPr>
        <p:spPr>
          <a:xfrm>
            <a:off x="7342620" y="5289754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端口仲裁 / QoS</a:t>
            </a:r>
          </a:p>
        </p:txBody>
      </p:sp>
      <p:sp>
        <p:nvSpPr>
          <p:cNvPr id="1064" name="object-291: 共享 DDR 带宽">
            <a:extLst>
              <a:ext uri="{FF2B5EF4-FFF2-40B4-BE49-F238E27FC236}">
                <a16:creationId xmlns:a16="http://schemas.microsoft.com/office/drawing/2014/main" id="{1B54921B-97A5-47F6-8E2B-D3B68607ADFC}"/>
              </a:ext>
            </a:extLst>
          </p:cNvPr>
          <p:cNvSpPr txBox="1"/>
          <p:nvPr/>
        </p:nvSpPr>
        <p:spPr>
          <a:xfrm>
            <a:off x="7403534" y="5432807"/>
            <a:ext cx="6107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 DDR 带宽</a:t>
            </a:r>
          </a:p>
        </p:txBody>
      </p:sp>
      <p:cxnSp>
        <p:nvCxnSpPr>
          <p:cNvPr id="1065" name="ddr-schedule-step-0">
            <a:extLst>
              <a:ext uri="{FF2B5EF4-FFF2-40B4-BE49-F238E27FC236}">
                <a16:creationId xmlns:a16="http://schemas.microsoft.com/office/drawing/2014/main" id="{F98EA5E8-9E92-4547-86F5-394597F95419}"/>
              </a:ext>
            </a:extLst>
          </p:cNvPr>
          <p:cNvCxnSpPr/>
          <p:nvPr/>
        </p:nvCxnSpPr>
        <p:spPr>
          <a:xfrm>
            <a:off x="814240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6" name="object-293: 读写调度">
            <a:extLst>
              <a:ext uri="{FF2B5EF4-FFF2-40B4-BE49-F238E27FC236}">
                <a16:creationId xmlns:a16="http://schemas.microsoft.com/office/drawing/2014/main" id="{7F171FE8-D049-412C-B70D-9912279617E1}"/>
              </a:ext>
            </a:extLst>
          </p:cNvPr>
          <p:cNvSpPr txBox="1"/>
          <p:nvPr/>
        </p:nvSpPr>
        <p:spPr>
          <a:xfrm>
            <a:off x="850956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</a:t>
            </a:r>
          </a:p>
        </p:txBody>
      </p:sp>
      <p:sp>
        <p:nvSpPr>
          <p:cNvPr id="1067" name="object-294: Bank / Row">
            <a:extLst>
              <a:ext uri="{FF2B5EF4-FFF2-40B4-BE49-F238E27FC236}">
                <a16:creationId xmlns:a16="http://schemas.microsoft.com/office/drawing/2014/main" id="{1C974FF8-9DD9-4D01-B6AB-33B5EDC09B62}"/>
              </a:ext>
            </a:extLst>
          </p:cNvPr>
          <p:cNvSpPr txBox="1"/>
          <p:nvPr/>
        </p:nvSpPr>
        <p:spPr>
          <a:xfrm>
            <a:off x="8469487" y="5432807"/>
            <a:ext cx="490520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Bank / Row</a:t>
            </a:r>
          </a:p>
        </p:txBody>
      </p:sp>
      <p:cxnSp>
        <p:nvCxnSpPr>
          <p:cNvPr id="1068" name="ddr-schedule-step-1">
            <a:extLst>
              <a:ext uri="{FF2B5EF4-FFF2-40B4-BE49-F238E27FC236}">
                <a16:creationId xmlns:a16="http://schemas.microsoft.com/office/drawing/2014/main" id="{21793AC5-2384-4291-81C6-59C037484AF5}"/>
              </a:ext>
            </a:extLst>
          </p:cNvPr>
          <p:cNvCxnSpPr/>
          <p:nvPr/>
        </p:nvCxnSpPr>
        <p:spPr>
          <a:xfrm>
            <a:off x="914824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9" name="object-296: 命令调度">
            <a:extLst>
              <a:ext uri="{FF2B5EF4-FFF2-40B4-BE49-F238E27FC236}">
                <a16:creationId xmlns:a16="http://schemas.microsoft.com/office/drawing/2014/main" id="{67D4B73D-B43A-4978-BDDB-E0ACD633264E}"/>
              </a:ext>
            </a:extLst>
          </p:cNvPr>
          <p:cNvSpPr txBox="1"/>
          <p:nvPr/>
        </p:nvSpPr>
        <p:spPr>
          <a:xfrm>
            <a:off x="951540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</a:t>
            </a:r>
          </a:p>
        </p:txBody>
      </p:sp>
      <p:sp>
        <p:nvSpPr>
          <p:cNvPr id="1070" name="object-297: 控制器 → PHY">
            <a:extLst>
              <a:ext uri="{FF2B5EF4-FFF2-40B4-BE49-F238E27FC236}">
                <a16:creationId xmlns:a16="http://schemas.microsoft.com/office/drawing/2014/main" id="{14DCFE42-BA82-4A60-8D4D-78D6F04B9F69}"/>
              </a:ext>
            </a:extLst>
          </p:cNvPr>
          <p:cNvSpPr txBox="1"/>
          <p:nvPr/>
        </p:nvSpPr>
        <p:spPr>
          <a:xfrm>
            <a:off x="9424832" y="5432807"/>
            <a:ext cx="5915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控制器 → PHY</a:t>
            </a:r>
          </a:p>
        </p:txBody>
      </p:sp>
      <p:sp>
        <p:nvSpPr>
          <p:cNvPr id="1071" name="object-298: 共享同一 DDR 地址空间">
            <a:extLst>
              <a:ext uri="{FF2B5EF4-FFF2-40B4-BE49-F238E27FC236}">
                <a16:creationId xmlns:a16="http://schemas.microsoft.com/office/drawing/2014/main" id="{32F55508-D622-4C94-9462-1D273285A090}"/>
              </a:ext>
            </a:extLst>
          </p:cNvPr>
          <p:cNvSpPr txBox="1"/>
          <p:nvPr/>
        </p:nvSpPr>
        <p:spPr>
          <a:xfrm>
            <a:off x="8578665" y="5074091"/>
            <a:ext cx="96981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共享同一 DDR 地址空间</a:t>
            </a:r>
          </a:p>
        </p:txBody>
      </p:sp>
      <p:sp>
        <p:nvSpPr>
          <p:cNvPr id="1072" name="ddr-phy">
            <a:extLst>
              <a:ext uri="{FF2B5EF4-FFF2-40B4-BE49-F238E27FC236}">
                <a16:creationId xmlns:a16="http://schemas.microsoft.com/office/drawing/2014/main" id="{159EE2B3-7138-4B9A-B3CD-98A4CE11B639}"/>
              </a:ext>
            </a:extLst>
          </p:cNvPr>
          <p:cNvSpPr/>
          <p:nvPr/>
        </p:nvSpPr>
        <p:spPr>
          <a:xfrm>
            <a:off x="10519840" y="5215789"/>
            <a:ext cx="677333" cy="4741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3" name="object-300: DDR PHY">
            <a:extLst>
              <a:ext uri="{FF2B5EF4-FFF2-40B4-BE49-F238E27FC236}">
                <a16:creationId xmlns:a16="http://schemas.microsoft.com/office/drawing/2014/main" id="{540C9B54-A5E0-4EBF-BF78-F95731B8E9BB}"/>
              </a:ext>
            </a:extLst>
          </p:cNvPr>
          <p:cNvSpPr txBox="1"/>
          <p:nvPr/>
        </p:nvSpPr>
        <p:spPr>
          <a:xfrm>
            <a:off x="10615652" y="5272547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074" name="object-301: 训练 / 校准">
            <a:extLst>
              <a:ext uri="{FF2B5EF4-FFF2-40B4-BE49-F238E27FC236}">
                <a16:creationId xmlns:a16="http://schemas.microsoft.com/office/drawing/2014/main" id="{762D8652-6DAA-47C0-9467-5CA026EB6161}"/>
              </a:ext>
            </a:extLst>
          </p:cNvPr>
          <p:cNvSpPr txBox="1"/>
          <p:nvPr/>
        </p:nvSpPr>
        <p:spPr>
          <a:xfrm>
            <a:off x="10601224" y="5405440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1075" name="cfg-tag-C3-301">
            <a:extLst>
              <a:ext uri="{FF2B5EF4-FFF2-40B4-BE49-F238E27FC236}">
                <a16:creationId xmlns:a16="http://schemas.microsoft.com/office/drawing/2014/main" id="{147500D1-D40B-4A05-AE23-8E5B12B66E0C}"/>
              </a:ext>
            </a:extLst>
          </p:cNvPr>
          <p:cNvSpPr/>
          <p:nvPr/>
        </p:nvSpPr>
        <p:spPr>
          <a:xfrm>
            <a:off x="10987200" y="555445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6" name="object-303: C3">
            <a:extLst>
              <a:ext uri="{FF2B5EF4-FFF2-40B4-BE49-F238E27FC236}">
                <a16:creationId xmlns:a16="http://schemas.microsoft.com/office/drawing/2014/main" id="{6AB24D3D-0919-4938-9FF6-B6A9107E8923}"/>
              </a:ext>
            </a:extLst>
          </p:cNvPr>
          <p:cNvSpPr txBox="1"/>
          <p:nvPr/>
        </p:nvSpPr>
        <p:spPr>
          <a:xfrm>
            <a:off x="11017093" y="555581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cxnSp>
        <p:nvCxnSpPr>
          <p:cNvPr id="1077" name="ddr-phy-path">
            <a:extLst>
              <a:ext uri="{FF2B5EF4-FFF2-40B4-BE49-F238E27FC236}">
                <a16:creationId xmlns:a16="http://schemas.microsoft.com/office/drawing/2014/main" id="{C1BBF756-77F3-4819-8895-BF7BB88FD606}"/>
              </a:ext>
            </a:extLst>
          </p:cNvPr>
          <p:cNvCxnSpPr/>
          <p:nvPr/>
        </p:nvCxnSpPr>
        <p:spPr>
          <a:xfrm>
            <a:off x="10231973" y="5429149"/>
            <a:ext cx="287867" cy="0"/>
          </a:xfrm>
          <a:prstGeom prst="line">
            <a:avLst/>
          </a:prstGeom>
          <a:ln w="28448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78" name="dram">
            <a:extLst>
              <a:ext uri="{FF2B5EF4-FFF2-40B4-BE49-F238E27FC236}">
                <a16:creationId xmlns:a16="http://schemas.microsoft.com/office/drawing/2014/main" id="{A461D61B-6A89-4A62-BAF2-EAB5497DE4BA}"/>
              </a:ext>
            </a:extLst>
          </p:cNvPr>
          <p:cNvSpPr/>
          <p:nvPr/>
        </p:nvSpPr>
        <p:spPr>
          <a:xfrm>
            <a:off x="11501973" y="5215789"/>
            <a:ext cx="508000" cy="474133"/>
          </a:xfrm>
          <a:prstGeom prst="rect">
            <a:avLst/>
          </a:prstGeom>
          <a:solidFill>
            <a:srgbClr val="EAECEE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9" name="object-306: DDR">
            <a:extLst>
              <a:ext uri="{FF2B5EF4-FFF2-40B4-BE49-F238E27FC236}">
                <a16:creationId xmlns:a16="http://schemas.microsoft.com/office/drawing/2014/main" id="{4F28D478-2D00-45B1-BC9F-F4813A2BEB73}"/>
              </a:ext>
            </a:extLst>
          </p:cNvPr>
          <p:cNvSpPr txBox="1"/>
          <p:nvPr/>
        </p:nvSpPr>
        <p:spPr>
          <a:xfrm>
            <a:off x="11624528" y="5261574"/>
            <a:ext cx="26289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080" name="object-307: 片外器件">
            <a:extLst>
              <a:ext uri="{FF2B5EF4-FFF2-40B4-BE49-F238E27FC236}">
                <a16:creationId xmlns:a16="http://schemas.microsoft.com/office/drawing/2014/main" id="{AE525BAC-9D08-4B70-9002-E8E6C69159F2}"/>
              </a:ext>
            </a:extLst>
          </p:cNvPr>
          <p:cNvSpPr txBox="1"/>
          <p:nvPr/>
        </p:nvSpPr>
        <p:spPr>
          <a:xfrm>
            <a:off x="11550789" y="5405440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cxnSp>
        <p:nvCxnSpPr>
          <p:cNvPr id="1081" name="phy-dram">
            <a:extLst>
              <a:ext uri="{FF2B5EF4-FFF2-40B4-BE49-F238E27FC236}">
                <a16:creationId xmlns:a16="http://schemas.microsoft.com/office/drawing/2014/main" id="{4D2F5ED4-8DBD-4CDD-B630-62605969ED4A}"/>
              </a:ext>
            </a:extLst>
          </p:cNvPr>
          <p:cNvCxnSpPr/>
          <p:nvPr/>
        </p:nvCxnSpPr>
        <p:spPr>
          <a:xfrm>
            <a:off x="11197173" y="5429149"/>
            <a:ext cx="304800" cy="0"/>
          </a:xfrm>
          <a:prstGeom prst="line">
            <a:avLst/>
          </a:prstGeom>
          <a:ln w="30074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82" name="npu-ddr">
            <a:extLst>
              <a:ext uri="{FF2B5EF4-FFF2-40B4-BE49-F238E27FC236}">
                <a16:creationId xmlns:a16="http://schemas.microsoft.com/office/drawing/2014/main" id="{FB80ED40-BAAF-4226-9008-6837C3A99E7A}"/>
              </a:ext>
            </a:extLst>
          </p:cNvPr>
          <p:cNvSpPr/>
          <p:nvPr/>
        </p:nvSpPr>
        <p:spPr>
          <a:xfrm>
            <a:off x="7336373" y="2008616"/>
            <a:ext cx="2980267" cy="2573867"/>
          </a:xfrm>
          <a:custGeom>
            <a:avLst/>
            <a:gdLst/>
            <a:ahLst/>
            <a:cxnLst/>
            <a:rect l="0" t="0" r="r" b="b"/>
            <a:pathLst>
              <a:path w="7152640" h="6177280" fill="none">
                <a:moveTo>
                  <a:pt x="0" y="0"/>
                </a:moveTo>
                <a:lnTo>
                  <a:pt x="422656" y="0"/>
                </a:lnTo>
                <a:lnTo>
                  <a:pt x="422656" y="812800"/>
                </a:lnTo>
                <a:lnTo>
                  <a:pt x="7152640" y="812800"/>
                </a:lnTo>
                <a:lnTo>
                  <a:pt x="7152640" y="5795264"/>
                </a:lnTo>
                <a:lnTo>
                  <a:pt x="3088640" y="5795264"/>
                </a:lnTo>
                <a:lnTo>
                  <a:pt x="3088640" y="617728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3" name="object-310: S1">
            <a:extLst>
              <a:ext uri="{FF2B5EF4-FFF2-40B4-BE49-F238E27FC236}">
                <a16:creationId xmlns:a16="http://schemas.microsoft.com/office/drawing/2014/main" id="{B3EEB8C6-B551-4571-8D04-0BFFECAC5804}"/>
              </a:ext>
            </a:extLst>
          </p:cNvPr>
          <p:cNvSpPr txBox="1"/>
          <p:nvPr/>
        </p:nvSpPr>
        <p:spPr>
          <a:xfrm>
            <a:off x="10335403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84" name="frame-ddr">
            <a:extLst>
              <a:ext uri="{FF2B5EF4-FFF2-40B4-BE49-F238E27FC236}">
                <a16:creationId xmlns:a16="http://schemas.microsoft.com/office/drawing/2014/main" id="{E5E5128B-5402-4BCE-B3A0-FCDD33B08E55}"/>
              </a:ext>
            </a:extLst>
          </p:cNvPr>
          <p:cNvSpPr/>
          <p:nvPr/>
        </p:nvSpPr>
        <p:spPr>
          <a:xfrm>
            <a:off x="9652853" y="1940882"/>
            <a:ext cx="1154853" cy="2641600"/>
          </a:xfrm>
          <a:custGeom>
            <a:avLst/>
            <a:gdLst/>
            <a:ahLst/>
            <a:cxnLst/>
            <a:rect l="0" t="0" r="r" b="b"/>
            <a:pathLst>
              <a:path w="2771648" h="6339840" fill="none">
                <a:moveTo>
                  <a:pt x="2771648" y="0"/>
                </a:moveTo>
                <a:lnTo>
                  <a:pt x="2771648" y="5648960"/>
                </a:lnTo>
                <a:lnTo>
                  <a:pt x="211328" y="5648960"/>
                </a:lnTo>
                <a:lnTo>
                  <a:pt x="211328" y="5852160"/>
                </a:lnTo>
                <a:cubicBezTo>
                  <a:pt x="0" y="5852160"/>
                  <a:pt x="0" y="6063488"/>
                  <a:pt x="211328" y="6063488"/>
                </a:cubicBezTo>
                <a:lnTo>
                  <a:pt x="211328" y="633984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5" name="object-312: S2">
            <a:extLst>
              <a:ext uri="{FF2B5EF4-FFF2-40B4-BE49-F238E27FC236}">
                <a16:creationId xmlns:a16="http://schemas.microsoft.com/office/drawing/2014/main" id="{01D1F55A-B4CA-4E35-800C-B965DD7951D0}"/>
              </a:ext>
            </a:extLst>
          </p:cNvPr>
          <p:cNvSpPr txBox="1"/>
          <p:nvPr/>
        </p:nvSpPr>
        <p:spPr>
          <a:xfrm>
            <a:off x="10829857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86" name="llc-ddr">
            <a:extLst>
              <a:ext uri="{FF2B5EF4-FFF2-40B4-BE49-F238E27FC236}">
                <a16:creationId xmlns:a16="http://schemas.microsoft.com/office/drawing/2014/main" id="{3E65ED82-8080-42FA-9917-8246D4DD099C}"/>
              </a:ext>
            </a:extLst>
          </p:cNvPr>
          <p:cNvSpPr/>
          <p:nvPr/>
        </p:nvSpPr>
        <p:spPr>
          <a:xfrm>
            <a:off x="4660906" y="4189629"/>
            <a:ext cx="2844800" cy="392853"/>
          </a:xfrm>
          <a:custGeom>
            <a:avLst/>
            <a:gdLst/>
            <a:ahLst/>
            <a:cxnLst/>
            <a:rect l="0" t="0" r="r" b="b"/>
            <a:pathLst>
              <a:path w="6827520" h="942848" fill="none">
                <a:moveTo>
                  <a:pt x="0" y="0"/>
                </a:moveTo>
                <a:lnTo>
                  <a:pt x="0" y="235712"/>
                </a:lnTo>
                <a:lnTo>
                  <a:pt x="6827520" y="235712"/>
                </a:lnTo>
                <a:lnTo>
                  <a:pt x="6827520" y="942848"/>
                </a:lnTo>
              </a:path>
            </a:pathLst>
          </a:custGeom>
          <a:noFill/>
          <a:ln w="29261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7" name="object-314: S0 · LLC 外存出口">
            <a:extLst>
              <a:ext uri="{FF2B5EF4-FFF2-40B4-BE49-F238E27FC236}">
                <a16:creationId xmlns:a16="http://schemas.microsoft.com/office/drawing/2014/main" id="{A2D3314B-A256-4C9F-8B9C-4E5FEC08A435}"/>
              </a:ext>
            </a:extLst>
          </p:cNvPr>
          <p:cNvSpPr txBox="1"/>
          <p:nvPr/>
        </p:nvSpPr>
        <p:spPr>
          <a:xfrm>
            <a:off x="7586564" y="4443954"/>
            <a:ext cx="718146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S0 · LLC </a:t>
            </a:r>
            <a:r>
              <a:rPr sz="7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外存出口</a:t>
            </a:r>
            <a:endParaRPr sz="7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88" name="clock-reset">
            <a:extLst>
              <a:ext uri="{FF2B5EF4-FFF2-40B4-BE49-F238E27FC236}">
                <a16:creationId xmlns:a16="http://schemas.microsoft.com/office/drawing/2014/main" id="{3D09B2BE-3605-4AB1-AAA7-2A5B66D33C22}"/>
              </a:ext>
            </a:extLst>
          </p:cNvPr>
          <p:cNvSpPr/>
          <p:nvPr/>
        </p:nvSpPr>
        <p:spPr>
          <a:xfrm>
            <a:off x="7200906" y="5937149"/>
            <a:ext cx="1778000" cy="25061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9" name="object-316: PLL / 时钟与复位分发">
            <a:extLst>
              <a:ext uri="{FF2B5EF4-FFF2-40B4-BE49-F238E27FC236}">
                <a16:creationId xmlns:a16="http://schemas.microsoft.com/office/drawing/2014/main" id="{6A5FCA8E-0944-4F72-B8B8-C6A7FBEA7689}"/>
              </a:ext>
            </a:extLst>
          </p:cNvPr>
          <p:cNvSpPr txBox="1"/>
          <p:nvPr/>
        </p:nvSpPr>
        <p:spPr>
          <a:xfrm>
            <a:off x="7465582" y="5993384"/>
            <a:ext cx="1130118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</a:t>
            </a:r>
            <a:r>
              <a:rPr sz="9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时钟与复位分发</a:t>
            </a:r>
            <a:endParaRPr sz="9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0" name="cfg-tag-C1-316">
            <a:extLst>
              <a:ext uri="{FF2B5EF4-FFF2-40B4-BE49-F238E27FC236}">
                <a16:creationId xmlns:a16="http://schemas.microsoft.com/office/drawing/2014/main" id="{608D59C5-D287-42EC-B634-60C52FF30DB7}"/>
              </a:ext>
            </a:extLst>
          </p:cNvPr>
          <p:cNvSpPr/>
          <p:nvPr/>
        </p:nvSpPr>
        <p:spPr>
          <a:xfrm>
            <a:off x="8738453" y="60082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1" name="object-318: C1">
            <a:extLst>
              <a:ext uri="{FF2B5EF4-FFF2-40B4-BE49-F238E27FC236}">
                <a16:creationId xmlns:a16="http://schemas.microsoft.com/office/drawing/2014/main" id="{3C2E8761-8264-40FF-8732-418504C9E1D8}"/>
              </a:ext>
            </a:extLst>
          </p:cNvPr>
          <p:cNvSpPr txBox="1"/>
          <p:nvPr/>
        </p:nvSpPr>
        <p:spPr>
          <a:xfrm>
            <a:off x="8768347" y="60096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2" name="object-319: RefClk / POR → clk_i / rst_ni">
            <a:extLst>
              <a:ext uri="{FF2B5EF4-FFF2-40B4-BE49-F238E27FC236}">
                <a16:creationId xmlns:a16="http://schemas.microsoft.com/office/drawing/2014/main" id="{D8F8F012-DECA-4F8B-822D-A1D9708813E2}"/>
              </a:ext>
            </a:extLst>
          </p:cNvPr>
          <p:cNvSpPr txBox="1"/>
          <p:nvPr/>
        </p:nvSpPr>
        <p:spPr>
          <a:xfrm>
            <a:off x="9020878" y="5983396"/>
            <a:ext cx="13673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POR →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clk_i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rst_ni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3" name="regext-control-bus">
            <a:extLst>
              <a:ext uri="{FF2B5EF4-FFF2-40B4-BE49-F238E27FC236}">
                <a16:creationId xmlns:a16="http://schemas.microsoft.com/office/drawing/2014/main" id="{339E25D4-6A77-471F-8203-9B620A43C384}"/>
              </a:ext>
            </a:extLst>
          </p:cNvPr>
          <p:cNvSpPr/>
          <p:nvPr/>
        </p:nvSpPr>
        <p:spPr>
          <a:xfrm>
            <a:off x="6591307" y="5818616"/>
            <a:ext cx="270933" cy="457200"/>
          </a:xfrm>
          <a:custGeom>
            <a:avLst/>
            <a:gdLst/>
            <a:ahLst/>
            <a:cxnLst/>
            <a:rect l="0" t="0" r="r" b="b"/>
            <a:pathLst>
              <a:path w="650240" h="1097280" fill="none">
                <a:moveTo>
                  <a:pt x="0" y="0"/>
                </a:moveTo>
                <a:lnTo>
                  <a:pt x="650240" y="0"/>
                </a:lnTo>
                <a:lnTo>
                  <a:pt x="650240" y="1097280"/>
                </a:lnTo>
              </a:path>
            </a:pathLst>
          </a:custGeom>
          <a:noFill/>
          <a:ln w="22758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cxnSp>
        <p:nvCxnSpPr>
          <p:cNvPr id="1094" name="config-bus">
            <a:extLst>
              <a:ext uri="{FF2B5EF4-FFF2-40B4-BE49-F238E27FC236}">
                <a16:creationId xmlns:a16="http://schemas.microsoft.com/office/drawing/2014/main" id="{2ABB8BBC-C019-49D7-B292-98F46D703155}"/>
              </a:ext>
            </a:extLst>
          </p:cNvPr>
          <p:cNvCxnSpPr/>
          <p:nvPr/>
        </p:nvCxnSpPr>
        <p:spPr>
          <a:xfrm>
            <a:off x="792104" y="6275816"/>
            <a:ext cx="9922933" cy="0"/>
          </a:xfrm>
          <a:prstGeom prst="line">
            <a:avLst/>
          </a:prstGeom>
          <a:ln w="24384" cap="flat">
            <a:solidFill>
              <a:srgbClr val="765489"/>
            </a:solidFill>
          </a:ln>
          <a:effectLst/>
        </p:spPr>
      </p:cxnSp>
      <p:cxnSp>
        <p:nvCxnSpPr>
          <p:cNvPr id="1095" name="cfg-drop-0">
            <a:extLst>
              <a:ext uri="{FF2B5EF4-FFF2-40B4-BE49-F238E27FC236}">
                <a16:creationId xmlns:a16="http://schemas.microsoft.com/office/drawing/2014/main" id="{CAD805B9-354A-4FB9-BB78-CF45031A22BD}"/>
              </a:ext>
            </a:extLst>
          </p:cNvPr>
          <p:cNvCxnSpPr/>
          <p:nvPr/>
        </p:nvCxnSpPr>
        <p:spPr>
          <a:xfrm>
            <a:off x="8001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96" name="config-C1">
            <a:extLst>
              <a:ext uri="{FF2B5EF4-FFF2-40B4-BE49-F238E27FC236}">
                <a16:creationId xmlns:a16="http://schemas.microsoft.com/office/drawing/2014/main" id="{E27DF2D4-D194-4023-A691-62B09700BF01}"/>
              </a:ext>
            </a:extLst>
          </p:cNvPr>
          <p:cNvSpPr/>
          <p:nvPr/>
        </p:nvSpPr>
        <p:spPr>
          <a:xfrm>
            <a:off x="2413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7" name="cfg-tag-C1-323">
            <a:extLst>
              <a:ext uri="{FF2B5EF4-FFF2-40B4-BE49-F238E27FC236}">
                <a16:creationId xmlns:a16="http://schemas.microsoft.com/office/drawing/2014/main" id="{A8C1EE9E-4B46-4523-9714-4918F5521645}"/>
              </a:ext>
            </a:extLst>
          </p:cNvPr>
          <p:cNvSpPr/>
          <p:nvPr/>
        </p:nvSpPr>
        <p:spPr>
          <a:xfrm>
            <a:off x="2684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8" name="object-325: C1">
            <a:extLst>
              <a:ext uri="{FF2B5EF4-FFF2-40B4-BE49-F238E27FC236}">
                <a16:creationId xmlns:a16="http://schemas.microsoft.com/office/drawing/2014/main" id="{1BFEF553-AAD6-436F-854D-BF5BB571E514}"/>
              </a:ext>
            </a:extLst>
          </p:cNvPr>
          <p:cNvSpPr txBox="1"/>
          <p:nvPr/>
        </p:nvSpPr>
        <p:spPr>
          <a:xfrm>
            <a:off x="2982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9" name="object-326: PLL / 时钟复位">
            <a:extLst>
              <a:ext uri="{FF2B5EF4-FFF2-40B4-BE49-F238E27FC236}">
                <a16:creationId xmlns:a16="http://schemas.microsoft.com/office/drawing/2014/main" id="{20264680-1A1F-4A47-8124-0FA5555C81B7}"/>
              </a:ext>
            </a:extLst>
          </p:cNvPr>
          <p:cNvSpPr txBox="1"/>
          <p:nvPr/>
        </p:nvSpPr>
        <p:spPr>
          <a:xfrm>
            <a:off x="535318" y="6404509"/>
            <a:ext cx="6989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时钟复位</a:t>
            </a:r>
          </a:p>
        </p:txBody>
      </p:sp>
      <p:sp>
        <p:nvSpPr>
          <p:cNvPr id="1100" name="object-327: 配置 / 锁定 / 切换">
            <a:extLst>
              <a:ext uri="{FF2B5EF4-FFF2-40B4-BE49-F238E27FC236}">
                <a16:creationId xmlns:a16="http://schemas.microsoft.com/office/drawing/2014/main" id="{23F1FE3D-28E6-44FD-84BD-614EB485E196}"/>
              </a:ext>
            </a:extLst>
          </p:cNvPr>
          <p:cNvSpPr txBox="1"/>
          <p:nvPr/>
        </p:nvSpPr>
        <p:spPr>
          <a:xfrm>
            <a:off x="4446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配置 / 锁定 / 切换</a:t>
            </a:r>
          </a:p>
        </p:txBody>
      </p:sp>
      <p:cxnSp>
        <p:nvCxnSpPr>
          <p:cNvPr id="1101" name="cfg-drop-1">
            <a:extLst>
              <a:ext uri="{FF2B5EF4-FFF2-40B4-BE49-F238E27FC236}">
                <a16:creationId xmlns:a16="http://schemas.microsoft.com/office/drawing/2014/main" id="{D9FE6EA3-93DA-43CE-A4E2-86446BDA771F}"/>
              </a:ext>
            </a:extLst>
          </p:cNvPr>
          <p:cNvCxnSpPr/>
          <p:nvPr/>
        </p:nvCxnSpPr>
        <p:spPr>
          <a:xfrm>
            <a:off x="20362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2" name="config-C2">
            <a:extLst>
              <a:ext uri="{FF2B5EF4-FFF2-40B4-BE49-F238E27FC236}">
                <a16:creationId xmlns:a16="http://schemas.microsoft.com/office/drawing/2014/main" id="{C19DDEDD-04A8-4E8E-8EB9-8C2B127698F1}"/>
              </a:ext>
            </a:extLst>
          </p:cNvPr>
          <p:cNvSpPr/>
          <p:nvPr/>
        </p:nvSpPr>
        <p:spPr>
          <a:xfrm>
            <a:off x="14774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3" name="cfg-tag-C2-329">
            <a:extLst>
              <a:ext uri="{FF2B5EF4-FFF2-40B4-BE49-F238E27FC236}">
                <a16:creationId xmlns:a16="http://schemas.microsoft.com/office/drawing/2014/main" id="{C6B67E79-B004-4BD6-BFCD-4BE0E12193A6}"/>
              </a:ext>
            </a:extLst>
          </p:cNvPr>
          <p:cNvSpPr/>
          <p:nvPr/>
        </p:nvSpPr>
        <p:spPr>
          <a:xfrm>
            <a:off x="15045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4" name="object-331: C2">
            <a:extLst>
              <a:ext uri="{FF2B5EF4-FFF2-40B4-BE49-F238E27FC236}">
                <a16:creationId xmlns:a16="http://schemas.microsoft.com/office/drawing/2014/main" id="{72633FEC-BFD3-41E8-8393-EF144745AA0C}"/>
              </a:ext>
            </a:extLst>
          </p:cNvPr>
          <p:cNvSpPr txBox="1"/>
          <p:nvPr/>
        </p:nvSpPr>
        <p:spPr>
          <a:xfrm>
            <a:off x="15344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105" name="object-332: DDR Controller">
            <a:extLst>
              <a:ext uri="{FF2B5EF4-FFF2-40B4-BE49-F238E27FC236}">
                <a16:creationId xmlns:a16="http://schemas.microsoft.com/office/drawing/2014/main" id="{146DCDAF-2610-42D5-B69A-E8CFBE1960E6}"/>
              </a:ext>
            </a:extLst>
          </p:cNvPr>
          <p:cNvSpPr txBox="1"/>
          <p:nvPr/>
        </p:nvSpPr>
        <p:spPr>
          <a:xfrm>
            <a:off x="1728171" y="6404509"/>
            <a:ext cx="7854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</a:t>
            </a:r>
          </a:p>
        </p:txBody>
      </p:sp>
      <p:sp>
        <p:nvSpPr>
          <p:cNvPr id="1106" name="object-333: 初始化 / QoS / 状态">
            <a:extLst>
              <a:ext uri="{FF2B5EF4-FFF2-40B4-BE49-F238E27FC236}">
                <a16:creationId xmlns:a16="http://schemas.microsoft.com/office/drawing/2014/main" id="{9149974A-003B-4CD3-A8EF-1EE8ECF42464}"/>
              </a:ext>
            </a:extLst>
          </p:cNvPr>
          <p:cNvSpPr txBox="1"/>
          <p:nvPr/>
        </p:nvSpPr>
        <p:spPr>
          <a:xfrm>
            <a:off x="1634249" y="6543904"/>
            <a:ext cx="81753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初始化 / QoS / 状态</a:t>
            </a:r>
          </a:p>
        </p:txBody>
      </p:sp>
      <p:cxnSp>
        <p:nvCxnSpPr>
          <p:cNvPr id="1107" name="cfg-drop-2">
            <a:extLst>
              <a:ext uri="{FF2B5EF4-FFF2-40B4-BE49-F238E27FC236}">
                <a16:creationId xmlns:a16="http://schemas.microsoft.com/office/drawing/2014/main" id="{9F4659C3-075D-4ED0-936E-DE6A6EC549DA}"/>
              </a:ext>
            </a:extLst>
          </p:cNvPr>
          <p:cNvCxnSpPr/>
          <p:nvPr/>
        </p:nvCxnSpPr>
        <p:spPr>
          <a:xfrm>
            <a:off x="32723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8" name="config-C3">
            <a:extLst>
              <a:ext uri="{FF2B5EF4-FFF2-40B4-BE49-F238E27FC236}">
                <a16:creationId xmlns:a16="http://schemas.microsoft.com/office/drawing/2014/main" id="{FD1CC228-3931-43A7-986E-2A89CFC4BB36}"/>
              </a:ext>
            </a:extLst>
          </p:cNvPr>
          <p:cNvSpPr/>
          <p:nvPr/>
        </p:nvSpPr>
        <p:spPr>
          <a:xfrm>
            <a:off x="27135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9" name="cfg-tag-C3-335">
            <a:extLst>
              <a:ext uri="{FF2B5EF4-FFF2-40B4-BE49-F238E27FC236}">
                <a16:creationId xmlns:a16="http://schemas.microsoft.com/office/drawing/2014/main" id="{8EF30D5B-7E74-4F8A-AA6F-A99B62074254}"/>
              </a:ext>
            </a:extLst>
          </p:cNvPr>
          <p:cNvSpPr/>
          <p:nvPr/>
        </p:nvSpPr>
        <p:spPr>
          <a:xfrm>
            <a:off x="27406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0" name="object-337: C3">
            <a:extLst>
              <a:ext uri="{FF2B5EF4-FFF2-40B4-BE49-F238E27FC236}">
                <a16:creationId xmlns:a16="http://schemas.microsoft.com/office/drawing/2014/main" id="{E97C60F1-2A4A-45B8-B8F5-7B67D2BFAFAC}"/>
              </a:ext>
            </a:extLst>
          </p:cNvPr>
          <p:cNvSpPr txBox="1"/>
          <p:nvPr/>
        </p:nvSpPr>
        <p:spPr>
          <a:xfrm>
            <a:off x="27705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111" name="object-338: DDR PHY">
            <a:extLst>
              <a:ext uri="{FF2B5EF4-FFF2-40B4-BE49-F238E27FC236}">
                <a16:creationId xmlns:a16="http://schemas.microsoft.com/office/drawing/2014/main" id="{2E0ECAF8-EC7A-4742-9A65-E1BECD00A38C}"/>
              </a:ext>
            </a:extLst>
          </p:cNvPr>
          <p:cNvSpPr txBox="1"/>
          <p:nvPr/>
        </p:nvSpPr>
        <p:spPr>
          <a:xfrm>
            <a:off x="3114185" y="6404509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112" name="object-339: training / 校准">
            <a:extLst>
              <a:ext uri="{FF2B5EF4-FFF2-40B4-BE49-F238E27FC236}">
                <a16:creationId xmlns:a16="http://schemas.microsoft.com/office/drawing/2014/main" id="{A6253C34-1AFB-4DF2-83A8-93EB61B5382B}"/>
              </a:ext>
            </a:extLst>
          </p:cNvPr>
          <p:cNvSpPr txBox="1"/>
          <p:nvPr/>
        </p:nvSpPr>
        <p:spPr>
          <a:xfrm>
            <a:off x="2975377" y="6543904"/>
            <a:ext cx="60753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training / 校准</a:t>
            </a:r>
          </a:p>
        </p:txBody>
      </p:sp>
      <p:cxnSp>
        <p:nvCxnSpPr>
          <p:cNvPr id="1113" name="cfg-drop-3">
            <a:extLst>
              <a:ext uri="{FF2B5EF4-FFF2-40B4-BE49-F238E27FC236}">
                <a16:creationId xmlns:a16="http://schemas.microsoft.com/office/drawing/2014/main" id="{EDF949C6-8B1D-4275-B85D-63BEABF3CA6E}"/>
              </a:ext>
            </a:extLst>
          </p:cNvPr>
          <p:cNvCxnSpPr/>
          <p:nvPr/>
        </p:nvCxnSpPr>
        <p:spPr>
          <a:xfrm>
            <a:off x="45085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14" name="config-C4">
            <a:extLst>
              <a:ext uri="{FF2B5EF4-FFF2-40B4-BE49-F238E27FC236}">
                <a16:creationId xmlns:a16="http://schemas.microsoft.com/office/drawing/2014/main" id="{D26B22F7-FB78-4AC7-97CA-8A49905BABD9}"/>
              </a:ext>
            </a:extLst>
          </p:cNvPr>
          <p:cNvSpPr/>
          <p:nvPr/>
        </p:nvSpPr>
        <p:spPr>
          <a:xfrm>
            <a:off x="39497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5" name="cfg-tag-C4-341">
            <a:extLst>
              <a:ext uri="{FF2B5EF4-FFF2-40B4-BE49-F238E27FC236}">
                <a16:creationId xmlns:a16="http://schemas.microsoft.com/office/drawing/2014/main" id="{0773182D-DD7F-4403-AD3B-10A85AE1AECF}"/>
              </a:ext>
            </a:extLst>
          </p:cNvPr>
          <p:cNvSpPr/>
          <p:nvPr/>
        </p:nvSpPr>
        <p:spPr>
          <a:xfrm>
            <a:off x="39768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6" name="object-343: C4">
            <a:extLst>
              <a:ext uri="{FF2B5EF4-FFF2-40B4-BE49-F238E27FC236}">
                <a16:creationId xmlns:a16="http://schemas.microsoft.com/office/drawing/2014/main" id="{DBFC0F46-618F-429F-82FE-2FE71B4A04FE}"/>
              </a:ext>
            </a:extLst>
          </p:cNvPr>
          <p:cNvSpPr txBox="1"/>
          <p:nvPr/>
        </p:nvSpPr>
        <p:spPr>
          <a:xfrm>
            <a:off x="40066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117" name="object-344: LVDS">
            <a:extLst>
              <a:ext uri="{FF2B5EF4-FFF2-40B4-BE49-F238E27FC236}">
                <a16:creationId xmlns:a16="http://schemas.microsoft.com/office/drawing/2014/main" id="{0D1CDD66-F4C5-4BB7-B087-7D983702C474}"/>
              </a:ext>
            </a:extLst>
          </p:cNvPr>
          <p:cNvSpPr txBox="1"/>
          <p:nvPr/>
        </p:nvSpPr>
        <p:spPr>
          <a:xfrm>
            <a:off x="4456116" y="6404509"/>
            <a:ext cx="27411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118" name="object-345: 通道 / 对齐 / 帧行">
            <a:extLst>
              <a:ext uri="{FF2B5EF4-FFF2-40B4-BE49-F238E27FC236}">
                <a16:creationId xmlns:a16="http://schemas.microsoft.com/office/drawing/2014/main" id="{4B5E9C71-3E3D-4B23-A84C-D78C2FB50C98}"/>
              </a:ext>
            </a:extLst>
          </p:cNvPr>
          <p:cNvSpPr txBox="1"/>
          <p:nvPr/>
        </p:nvSpPr>
        <p:spPr>
          <a:xfrm>
            <a:off x="41530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通道 / 对齐 / 帧行</a:t>
            </a:r>
          </a:p>
        </p:txBody>
      </p:sp>
      <p:cxnSp>
        <p:nvCxnSpPr>
          <p:cNvPr id="1119" name="cfg-drop-4">
            <a:extLst>
              <a:ext uri="{FF2B5EF4-FFF2-40B4-BE49-F238E27FC236}">
                <a16:creationId xmlns:a16="http://schemas.microsoft.com/office/drawing/2014/main" id="{9F9FC02E-13E1-44FE-9C45-C8834DC7F3CC}"/>
              </a:ext>
            </a:extLst>
          </p:cNvPr>
          <p:cNvCxnSpPr/>
          <p:nvPr/>
        </p:nvCxnSpPr>
        <p:spPr>
          <a:xfrm>
            <a:off x="57446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0" name="config-C5">
            <a:extLst>
              <a:ext uri="{FF2B5EF4-FFF2-40B4-BE49-F238E27FC236}">
                <a16:creationId xmlns:a16="http://schemas.microsoft.com/office/drawing/2014/main" id="{6CC1B4D8-D42D-4752-8341-6749419CB23B}"/>
              </a:ext>
            </a:extLst>
          </p:cNvPr>
          <p:cNvSpPr/>
          <p:nvPr/>
        </p:nvSpPr>
        <p:spPr>
          <a:xfrm>
            <a:off x="51858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1" name="cfg-tag-C5-347">
            <a:extLst>
              <a:ext uri="{FF2B5EF4-FFF2-40B4-BE49-F238E27FC236}">
                <a16:creationId xmlns:a16="http://schemas.microsoft.com/office/drawing/2014/main" id="{A611B66C-ACA7-4148-9C97-B9F2439318A7}"/>
              </a:ext>
            </a:extLst>
          </p:cNvPr>
          <p:cNvSpPr/>
          <p:nvPr/>
        </p:nvSpPr>
        <p:spPr>
          <a:xfrm>
            <a:off x="52129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2" name="object-349: C5">
            <a:extLst>
              <a:ext uri="{FF2B5EF4-FFF2-40B4-BE49-F238E27FC236}">
                <a16:creationId xmlns:a16="http://schemas.microsoft.com/office/drawing/2014/main" id="{F249507D-7BC5-45DD-AA2A-9412FE14F819}"/>
              </a:ext>
            </a:extLst>
          </p:cNvPr>
          <p:cNvSpPr txBox="1"/>
          <p:nvPr/>
        </p:nvSpPr>
        <p:spPr>
          <a:xfrm>
            <a:off x="52428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123" name="object-350: ISP">
            <a:extLst>
              <a:ext uri="{FF2B5EF4-FFF2-40B4-BE49-F238E27FC236}">
                <a16:creationId xmlns:a16="http://schemas.microsoft.com/office/drawing/2014/main" id="{E950D680-F0F9-4E72-B321-DEC64A50C971}"/>
              </a:ext>
            </a:extLst>
          </p:cNvPr>
          <p:cNvSpPr txBox="1"/>
          <p:nvPr/>
        </p:nvSpPr>
        <p:spPr>
          <a:xfrm>
            <a:off x="5747554" y="6404509"/>
            <a:ext cx="1635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124" name="object-351: 尺寸 / 模式 / 参数">
            <a:extLst>
              <a:ext uri="{FF2B5EF4-FFF2-40B4-BE49-F238E27FC236}">
                <a16:creationId xmlns:a16="http://schemas.microsoft.com/office/drawing/2014/main" id="{177F98E4-B409-41CC-A0A8-6623314AE70B}"/>
              </a:ext>
            </a:extLst>
          </p:cNvPr>
          <p:cNvSpPr txBox="1"/>
          <p:nvPr/>
        </p:nvSpPr>
        <p:spPr>
          <a:xfrm>
            <a:off x="5389136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尺寸 / 模式 / 参数</a:t>
            </a:r>
          </a:p>
        </p:txBody>
      </p:sp>
      <p:cxnSp>
        <p:nvCxnSpPr>
          <p:cNvPr id="1125" name="cfg-drop-5">
            <a:extLst>
              <a:ext uri="{FF2B5EF4-FFF2-40B4-BE49-F238E27FC236}">
                <a16:creationId xmlns:a16="http://schemas.microsoft.com/office/drawing/2014/main" id="{4B45D672-F8C3-4DEB-8A55-2083B679E3A7}"/>
              </a:ext>
            </a:extLst>
          </p:cNvPr>
          <p:cNvCxnSpPr/>
          <p:nvPr/>
        </p:nvCxnSpPr>
        <p:spPr>
          <a:xfrm>
            <a:off x="69807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6" name="config-C6">
            <a:extLst>
              <a:ext uri="{FF2B5EF4-FFF2-40B4-BE49-F238E27FC236}">
                <a16:creationId xmlns:a16="http://schemas.microsoft.com/office/drawing/2014/main" id="{278353F7-804D-45E5-91B5-6EB9B7206E50}"/>
              </a:ext>
            </a:extLst>
          </p:cNvPr>
          <p:cNvSpPr/>
          <p:nvPr/>
        </p:nvSpPr>
        <p:spPr>
          <a:xfrm>
            <a:off x="64219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7" name="cfg-tag-C6-353">
            <a:extLst>
              <a:ext uri="{FF2B5EF4-FFF2-40B4-BE49-F238E27FC236}">
                <a16:creationId xmlns:a16="http://schemas.microsoft.com/office/drawing/2014/main" id="{CDAA4FF4-2C89-4F48-BD32-CC624BA772E7}"/>
              </a:ext>
            </a:extLst>
          </p:cNvPr>
          <p:cNvSpPr/>
          <p:nvPr/>
        </p:nvSpPr>
        <p:spPr>
          <a:xfrm>
            <a:off x="64490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8" name="object-355: C6">
            <a:extLst>
              <a:ext uri="{FF2B5EF4-FFF2-40B4-BE49-F238E27FC236}">
                <a16:creationId xmlns:a16="http://schemas.microsoft.com/office/drawing/2014/main" id="{C65DB061-DE1D-4CAC-B13F-FFA1F5AC5025}"/>
              </a:ext>
            </a:extLst>
          </p:cNvPr>
          <p:cNvSpPr txBox="1"/>
          <p:nvPr/>
        </p:nvSpPr>
        <p:spPr>
          <a:xfrm>
            <a:off x="64789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129" name="object-356: NPU 计算">
            <a:extLst>
              <a:ext uri="{FF2B5EF4-FFF2-40B4-BE49-F238E27FC236}">
                <a16:creationId xmlns:a16="http://schemas.microsoft.com/office/drawing/2014/main" id="{D045C092-FDBE-4A50-AC65-C3106883E7E7}"/>
              </a:ext>
            </a:extLst>
          </p:cNvPr>
          <p:cNvSpPr txBox="1"/>
          <p:nvPr/>
        </p:nvSpPr>
        <p:spPr>
          <a:xfrm>
            <a:off x="6830600" y="6404509"/>
            <a:ext cx="4696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</a:t>
            </a:r>
          </a:p>
        </p:txBody>
      </p:sp>
      <p:sp>
        <p:nvSpPr>
          <p:cNvPr id="1130" name="object-357: 命令 / GB 数据位置">
            <a:extLst>
              <a:ext uri="{FF2B5EF4-FFF2-40B4-BE49-F238E27FC236}">
                <a16:creationId xmlns:a16="http://schemas.microsoft.com/office/drawing/2014/main" id="{7B517796-5D95-4836-A1C9-5EDEF9DDC026}"/>
              </a:ext>
            </a:extLst>
          </p:cNvPr>
          <p:cNvSpPr txBox="1"/>
          <p:nvPr/>
        </p:nvSpPr>
        <p:spPr>
          <a:xfrm>
            <a:off x="6596414" y="6543904"/>
            <a:ext cx="78226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 / GB 数据位置</a:t>
            </a:r>
          </a:p>
        </p:txBody>
      </p:sp>
      <p:cxnSp>
        <p:nvCxnSpPr>
          <p:cNvPr id="1131" name="cfg-drop-6">
            <a:extLst>
              <a:ext uri="{FF2B5EF4-FFF2-40B4-BE49-F238E27FC236}">
                <a16:creationId xmlns:a16="http://schemas.microsoft.com/office/drawing/2014/main" id="{2B85502C-86A5-4AA9-8C98-89E2660FD7CC}"/>
              </a:ext>
            </a:extLst>
          </p:cNvPr>
          <p:cNvCxnSpPr/>
          <p:nvPr/>
        </p:nvCxnSpPr>
        <p:spPr>
          <a:xfrm>
            <a:off x="82169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2" name="config-C7">
            <a:extLst>
              <a:ext uri="{FF2B5EF4-FFF2-40B4-BE49-F238E27FC236}">
                <a16:creationId xmlns:a16="http://schemas.microsoft.com/office/drawing/2014/main" id="{7D13D4CC-8DC3-465D-8EEA-291C7B7EC648}"/>
              </a:ext>
            </a:extLst>
          </p:cNvPr>
          <p:cNvSpPr/>
          <p:nvPr/>
        </p:nvSpPr>
        <p:spPr>
          <a:xfrm>
            <a:off x="76581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3" name="cfg-tag-C7-359">
            <a:extLst>
              <a:ext uri="{FF2B5EF4-FFF2-40B4-BE49-F238E27FC236}">
                <a16:creationId xmlns:a16="http://schemas.microsoft.com/office/drawing/2014/main" id="{6F73B46A-D6FB-4818-BFB5-448203DB466A}"/>
              </a:ext>
            </a:extLst>
          </p:cNvPr>
          <p:cNvSpPr/>
          <p:nvPr/>
        </p:nvSpPr>
        <p:spPr>
          <a:xfrm>
            <a:off x="76852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4" name="object-361: C7">
            <a:extLst>
              <a:ext uri="{FF2B5EF4-FFF2-40B4-BE49-F238E27FC236}">
                <a16:creationId xmlns:a16="http://schemas.microsoft.com/office/drawing/2014/main" id="{00F37390-1D4A-40CC-8738-1614EE58ECB1}"/>
              </a:ext>
            </a:extLst>
          </p:cNvPr>
          <p:cNvSpPr txBox="1"/>
          <p:nvPr/>
        </p:nvSpPr>
        <p:spPr>
          <a:xfrm>
            <a:off x="77150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135" name="object-362: NPU / GB 搬运">
            <a:extLst>
              <a:ext uri="{FF2B5EF4-FFF2-40B4-BE49-F238E27FC236}">
                <a16:creationId xmlns:a16="http://schemas.microsoft.com/office/drawing/2014/main" id="{3397B153-B8D6-4FE1-871C-9063CEEAC31E}"/>
              </a:ext>
            </a:extLst>
          </p:cNvPr>
          <p:cNvSpPr txBox="1"/>
          <p:nvPr/>
        </p:nvSpPr>
        <p:spPr>
          <a:xfrm>
            <a:off x="7937692" y="6404509"/>
            <a:ext cx="7277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sp>
        <p:nvSpPr>
          <p:cNvPr id="1136" name="object-363: 地址 / 长度 / stride">
            <a:extLst>
              <a:ext uri="{FF2B5EF4-FFF2-40B4-BE49-F238E27FC236}">
                <a16:creationId xmlns:a16="http://schemas.microsoft.com/office/drawing/2014/main" id="{46463D2C-7540-40D6-B1D7-5547CEA3990E}"/>
              </a:ext>
            </a:extLst>
          </p:cNvPr>
          <p:cNvSpPr txBox="1"/>
          <p:nvPr/>
        </p:nvSpPr>
        <p:spPr>
          <a:xfrm>
            <a:off x="7830144" y="6543904"/>
            <a:ext cx="7870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长度 / stride</a:t>
            </a:r>
          </a:p>
        </p:txBody>
      </p:sp>
      <p:cxnSp>
        <p:nvCxnSpPr>
          <p:cNvPr id="1137" name="cfg-drop-7">
            <a:extLst>
              <a:ext uri="{FF2B5EF4-FFF2-40B4-BE49-F238E27FC236}">
                <a16:creationId xmlns:a16="http://schemas.microsoft.com/office/drawing/2014/main" id="{29684AB7-0E4B-4CA2-ACA9-F9FC9F188213}"/>
              </a:ext>
            </a:extLst>
          </p:cNvPr>
          <p:cNvCxnSpPr/>
          <p:nvPr/>
        </p:nvCxnSpPr>
        <p:spPr>
          <a:xfrm>
            <a:off x="94530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8" name="config-C8">
            <a:extLst>
              <a:ext uri="{FF2B5EF4-FFF2-40B4-BE49-F238E27FC236}">
                <a16:creationId xmlns:a16="http://schemas.microsoft.com/office/drawing/2014/main" id="{2ED4E969-B01E-4966-8634-48D96A8D3A41}"/>
              </a:ext>
            </a:extLst>
          </p:cNvPr>
          <p:cNvSpPr/>
          <p:nvPr/>
        </p:nvSpPr>
        <p:spPr>
          <a:xfrm>
            <a:off x="88942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9" name="cfg-tag-C8-365">
            <a:extLst>
              <a:ext uri="{FF2B5EF4-FFF2-40B4-BE49-F238E27FC236}">
                <a16:creationId xmlns:a16="http://schemas.microsoft.com/office/drawing/2014/main" id="{EBCB35F8-0CD4-49B4-A763-33747BA3C3CD}"/>
              </a:ext>
            </a:extLst>
          </p:cNvPr>
          <p:cNvSpPr/>
          <p:nvPr/>
        </p:nvSpPr>
        <p:spPr>
          <a:xfrm>
            <a:off x="89213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0" name="object-367: C8">
            <a:extLst>
              <a:ext uri="{FF2B5EF4-FFF2-40B4-BE49-F238E27FC236}">
                <a16:creationId xmlns:a16="http://schemas.microsoft.com/office/drawing/2014/main" id="{E4E4DBFE-CDD6-4B81-A8AB-F64600ABF1A2}"/>
              </a:ext>
            </a:extLst>
          </p:cNvPr>
          <p:cNvSpPr txBox="1"/>
          <p:nvPr/>
        </p:nvSpPr>
        <p:spPr>
          <a:xfrm>
            <a:off x="89512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141" name="object-368: 帧写入 DMA">
            <a:extLst>
              <a:ext uri="{FF2B5EF4-FFF2-40B4-BE49-F238E27FC236}">
                <a16:creationId xmlns:a16="http://schemas.microsoft.com/office/drawing/2014/main" id="{CD7E6EE8-0973-4492-A197-613D4F6E6033}"/>
              </a:ext>
            </a:extLst>
          </p:cNvPr>
          <p:cNvSpPr txBox="1"/>
          <p:nvPr/>
        </p:nvSpPr>
        <p:spPr>
          <a:xfrm>
            <a:off x="9236342" y="6404509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1142" name="object-369: 缓冲区 / 格式 / 帧状态">
            <a:extLst>
              <a:ext uri="{FF2B5EF4-FFF2-40B4-BE49-F238E27FC236}">
                <a16:creationId xmlns:a16="http://schemas.microsoft.com/office/drawing/2014/main" id="{E2AE1912-A727-41EC-A486-B189C52CE142}"/>
              </a:ext>
            </a:extLst>
          </p:cNvPr>
          <p:cNvSpPr txBox="1"/>
          <p:nvPr/>
        </p:nvSpPr>
        <p:spPr>
          <a:xfrm>
            <a:off x="9007767" y="6543904"/>
            <a:ext cx="90409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缓冲区 / 格式 / 帧状态</a:t>
            </a:r>
          </a:p>
        </p:txBody>
      </p:sp>
      <p:cxnSp>
        <p:nvCxnSpPr>
          <p:cNvPr id="1143" name="cfg-drop-8">
            <a:extLst>
              <a:ext uri="{FF2B5EF4-FFF2-40B4-BE49-F238E27FC236}">
                <a16:creationId xmlns:a16="http://schemas.microsoft.com/office/drawing/2014/main" id="{6D0C51E7-3698-400F-AFB6-5FFB51C09CCC}"/>
              </a:ext>
            </a:extLst>
          </p:cNvPr>
          <p:cNvCxnSpPr/>
          <p:nvPr/>
        </p:nvCxnSpPr>
        <p:spPr>
          <a:xfrm>
            <a:off x="106891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44" name="config-C9">
            <a:extLst>
              <a:ext uri="{FF2B5EF4-FFF2-40B4-BE49-F238E27FC236}">
                <a16:creationId xmlns:a16="http://schemas.microsoft.com/office/drawing/2014/main" id="{A7DE2F09-15E5-403C-A657-5883136E6BFA}"/>
              </a:ext>
            </a:extLst>
          </p:cNvPr>
          <p:cNvSpPr/>
          <p:nvPr/>
        </p:nvSpPr>
        <p:spPr>
          <a:xfrm>
            <a:off x="101303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5" name="cfg-tag-C9-371">
            <a:extLst>
              <a:ext uri="{FF2B5EF4-FFF2-40B4-BE49-F238E27FC236}">
                <a16:creationId xmlns:a16="http://schemas.microsoft.com/office/drawing/2014/main" id="{EC19E98D-C9D9-4491-BD14-FCCCDA735527}"/>
              </a:ext>
            </a:extLst>
          </p:cNvPr>
          <p:cNvSpPr/>
          <p:nvPr/>
        </p:nvSpPr>
        <p:spPr>
          <a:xfrm>
            <a:off x="101574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6" name="object-373: C9">
            <a:extLst>
              <a:ext uri="{FF2B5EF4-FFF2-40B4-BE49-F238E27FC236}">
                <a16:creationId xmlns:a16="http://schemas.microsoft.com/office/drawing/2014/main" id="{D455D383-83D7-4D67-8F24-A05F0A6276FA}"/>
              </a:ext>
            </a:extLst>
          </p:cNvPr>
          <p:cNvSpPr txBox="1"/>
          <p:nvPr/>
        </p:nvSpPr>
        <p:spPr>
          <a:xfrm>
            <a:off x="101873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147" name="object-374: GB 管理">
            <a:extLst>
              <a:ext uri="{FF2B5EF4-FFF2-40B4-BE49-F238E27FC236}">
                <a16:creationId xmlns:a16="http://schemas.microsoft.com/office/drawing/2014/main" id="{76F57F06-D237-40EB-8501-C0713759F470}"/>
              </a:ext>
            </a:extLst>
          </p:cNvPr>
          <p:cNvSpPr txBox="1"/>
          <p:nvPr/>
        </p:nvSpPr>
        <p:spPr>
          <a:xfrm>
            <a:off x="10581480" y="6404509"/>
            <a:ext cx="3847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管理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48" name="object-375: 能力 / bank / 错误">
            <a:extLst>
              <a:ext uri="{FF2B5EF4-FFF2-40B4-BE49-F238E27FC236}">
                <a16:creationId xmlns:a16="http://schemas.microsoft.com/office/drawing/2014/main" id="{DF247AB9-4297-42BE-8D18-1EDCEA92D717}"/>
              </a:ext>
            </a:extLst>
          </p:cNvPr>
          <p:cNvSpPr txBox="1"/>
          <p:nvPr/>
        </p:nvSpPr>
        <p:spPr>
          <a:xfrm>
            <a:off x="10317638" y="6543904"/>
            <a:ext cx="75661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能力 / bank / 错误</a:t>
            </a:r>
          </a:p>
        </p:txBody>
      </p:sp>
      <p:cxnSp>
        <p:nvCxnSpPr>
          <p:cNvPr id="1149" name="legend-314D66">
            <a:extLst>
              <a:ext uri="{FF2B5EF4-FFF2-40B4-BE49-F238E27FC236}">
                <a16:creationId xmlns:a16="http://schemas.microsoft.com/office/drawing/2014/main" id="{D48C70D7-F2C8-4BCA-A764-A767E03B0994}"/>
              </a:ext>
            </a:extLst>
          </p:cNvPr>
          <p:cNvCxnSpPr/>
          <p:nvPr/>
        </p:nvCxnSpPr>
        <p:spPr>
          <a:xfrm>
            <a:off x="11387290" y="2686502"/>
            <a:ext cx="22352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150" name="object-377: AXI 请求 / 数据">
            <a:extLst>
              <a:ext uri="{FF2B5EF4-FFF2-40B4-BE49-F238E27FC236}">
                <a16:creationId xmlns:a16="http://schemas.microsoft.com/office/drawing/2014/main" id="{D19FA279-B019-40A0-80F0-D37345270BC9}"/>
              </a:ext>
            </a:extLst>
          </p:cNvPr>
          <p:cNvSpPr txBox="1"/>
          <p:nvPr/>
        </p:nvSpPr>
        <p:spPr>
          <a:xfrm>
            <a:off x="11645256" y="2610385"/>
            <a:ext cx="546744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请求</a:t>
            </a:r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数据</a:t>
            </a:r>
            <a:endParaRPr sz="8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1" name="legend-187C78">
            <a:extLst>
              <a:ext uri="{FF2B5EF4-FFF2-40B4-BE49-F238E27FC236}">
                <a16:creationId xmlns:a16="http://schemas.microsoft.com/office/drawing/2014/main" id="{B8504D5C-CC0C-4D1E-9AAF-36DC929E006E}"/>
              </a:ext>
            </a:extLst>
          </p:cNvPr>
          <p:cNvCxnSpPr/>
          <p:nvPr/>
        </p:nvCxnSpPr>
        <p:spPr>
          <a:xfrm>
            <a:off x="11378364" y="2924292"/>
            <a:ext cx="223520" cy="0"/>
          </a:xfrm>
          <a:prstGeom prst="line">
            <a:avLst/>
          </a:prstGeom>
          <a:ln w="24384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152" name="object-379: GB 读写">
            <a:extLst>
              <a:ext uri="{FF2B5EF4-FFF2-40B4-BE49-F238E27FC236}">
                <a16:creationId xmlns:a16="http://schemas.microsoft.com/office/drawing/2014/main" id="{7A3B741E-CC06-4663-B3A5-906794257738}"/>
              </a:ext>
            </a:extLst>
          </p:cNvPr>
          <p:cNvSpPr txBox="1"/>
          <p:nvPr/>
        </p:nvSpPr>
        <p:spPr>
          <a:xfrm>
            <a:off x="11670460" y="2886700"/>
            <a:ext cx="414865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读写</a:t>
            </a:r>
            <a:endParaRPr sz="800" dirty="0">
              <a:solidFill>
                <a:srgbClr val="187C78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3" name="legend-B96043">
            <a:extLst>
              <a:ext uri="{FF2B5EF4-FFF2-40B4-BE49-F238E27FC236}">
                <a16:creationId xmlns:a16="http://schemas.microsoft.com/office/drawing/2014/main" id="{E895588E-BB73-4229-80C5-7F71696E9926}"/>
              </a:ext>
            </a:extLst>
          </p:cNvPr>
          <p:cNvCxnSpPr/>
          <p:nvPr/>
        </p:nvCxnSpPr>
        <p:spPr>
          <a:xfrm>
            <a:off x="11378364" y="3123357"/>
            <a:ext cx="223520" cy="0"/>
          </a:xfrm>
          <a:prstGeom prst="line">
            <a:avLst/>
          </a:prstGeom>
          <a:ln w="24384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1154" name="object-381: 像素流">
            <a:extLst>
              <a:ext uri="{FF2B5EF4-FFF2-40B4-BE49-F238E27FC236}">
                <a16:creationId xmlns:a16="http://schemas.microsoft.com/office/drawing/2014/main" id="{3D0AACF3-BEDD-45BD-BCE9-6489BC0535FE}"/>
              </a:ext>
            </a:extLst>
          </p:cNvPr>
          <p:cNvSpPr txBox="1"/>
          <p:nvPr/>
        </p:nvSpPr>
        <p:spPr>
          <a:xfrm>
            <a:off x="11653382" y="3054448"/>
            <a:ext cx="3077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800" dirty="0" err="1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  <a:endParaRPr sz="800" dirty="0">
              <a:solidFill>
                <a:srgbClr val="B96043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5" name="legend-765489">
            <a:extLst>
              <a:ext uri="{FF2B5EF4-FFF2-40B4-BE49-F238E27FC236}">
                <a16:creationId xmlns:a16="http://schemas.microsoft.com/office/drawing/2014/main" id="{FAB5FF2C-C129-45F3-A80C-C3C411708100}"/>
              </a:ext>
            </a:extLst>
          </p:cNvPr>
          <p:cNvCxnSpPr/>
          <p:nvPr/>
        </p:nvCxnSpPr>
        <p:spPr>
          <a:xfrm>
            <a:off x="11378364" y="3302850"/>
            <a:ext cx="223520" cy="0"/>
          </a:xfrm>
          <a:prstGeom prst="line">
            <a:avLst/>
          </a:prstGeom>
          <a:ln w="24384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56" name="object-383: 配置 / 控制">
            <a:extLst>
              <a:ext uri="{FF2B5EF4-FFF2-40B4-BE49-F238E27FC236}">
                <a16:creationId xmlns:a16="http://schemas.microsoft.com/office/drawing/2014/main" id="{D1F8BDB7-8760-465C-91A5-FF1CDECEDED0}"/>
              </a:ext>
            </a:extLst>
          </p:cNvPr>
          <p:cNvSpPr txBox="1"/>
          <p:nvPr/>
        </p:nvSpPr>
        <p:spPr>
          <a:xfrm>
            <a:off x="11660508" y="3244220"/>
            <a:ext cx="514564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控制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57" name="legend-dash">
            <a:extLst>
              <a:ext uri="{FF2B5EF4-FFF2-40B4-BE49-F238E27FC236}">
                <a16:creationId xmlns:a16="http://schemas.microsoft.com/office/drawing/2014/main" id="{DE0AA521-9BB8-482B-A591-AF0C06A14B81}"/>
              </a:ext>
            </a:extLst>
          </p:cNvPr>
          <p:cNvSpPr/>
          <p:nvPr/>
        </p:nvSpPr>
        <p:spPr>
          <a:xfrm>
            <a:off x="11391536" y="3484029"/>
            <a:ext cx="182880" cy="88053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58" name="object-385: 虚线：可选或新增候选">
            <a:extLst>
              <a:ext uri="{FF2B5EF4-FFF2-40B4-BE49-F238E27FC236}">
                <a16:creationId xmlns:a16="http://schemas.microsoft.com/office/drawing/2014/main" id="{4908C77F-5911-4B28-BE29-98064CB4BEB0}"/>
              </a:ext>
            </a:extLst>
          </p:cNvPr>
          <p:cNvSpPr txBox="1"/>
          <p:nvPr/>
        </p:nvSpPr>
        <p:spPr>
          <a:xfrm>
            <a:off x="11659706" y="3428900"/>
            <a:ext cx="532293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虚线：可选或新增候选</a:t>
            </a:r>
            <a:endParaRPr sz="8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2187131506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werpoint template design by DAJU_PPT正版来源小红书大橘PPT微信DAJU_PPT请勿抄袭搬运！盗版必究！"/>
          <p:cNvSpPr/>
          <p:nvPr/>
        </p:nvSpPr>
        <p:spPr>
          <a:xfrm>
            <a:off x="0" y="0"/>
            <a:ext cx="12192000" cy="527280"/>
          </a:xfrm>
          <a:prstGeom prst="rect">
            <a:avLst/>
          </a:prstGeom>
          <a:solidFill>
            <a:srgbClr val="00499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9" name="powerpoint template design by DAJU_PPT正版来源小红书大橘PPT微信DAJU_PPT请勿抄袭搬运！盗版必究！"/>
          <p:cNvSpPr txBox="1"/>
          <p:nvPr userDrawn="1"/>
        </p:nvSpPr>
        <p:spPr>
          <a:xfrm>
            <a:off x="3087469" y="75869"/>
            <a:ext cx="6850351" cy="375542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defRPr/>
            </a:pPr>
            <a:r>
              <a:rPr lang="en-US" altLang="zh-CN" sz="2400" b="1" kern="0" dirty="0">
                <a:solidFill>
                  <a:schemeClr val="bg1"/>
                </a:solidFill>
                <a:cs typeface="+mn-ea"/>
                <a:sym typeface="+mn-lt"/>
              </a:rPr>
              <a:t>SoC</a:t>
            </a:r>
            <a:r>
              <a:rPr lang="zh-CN" altLang="en-US" sz="2400" b="1" kern="0" dirty="0">
                <a:solidFill>
                  <a:schemeClr val="bg1"/>
                </a:solidFill>
                <a:cs typeface="+mn-ea"/>
                <a:sym typeface="+mn-lt"/>
              </a:rPr>
              <a:t>硬件层</a:t>
            </a:r>
          </a:p>
        </p:txBody>
      </p:sp>
      <p:sp>
        <p:nvSpPr>
          <p:cNvPr id="777" name="soc-boundary">
            <a:extLst>
              <a:ext uri="{FF2B5EF4-FFF2-40B4-BE49-F238E27FC236}">
                <a16:creationId xmlns:a16="http://schemas.microsoft.com/office/drawing/2014/main" id="{CB19764B-E839-45AE-B084-14D7FCBA29C1}"/>
              </a:ext>
            </a:extLst>
          </p:cNvPr>
          <p:cNvSpPr/>
          <p:nvPr/>
        </p:nvSpPr>
        <p:spPr>
          <a:xfrm>
            <a:off x="71973" y="603149"/>
            <a:ext cx="11260667" cy="6180667"/>
          </a:xfrm>
          <a:prstGeom prst="rect">
            <a:avLst/>
          </a:prstGeom>
          <a:solidFill>
            <a:srgbClr val="FFFFFF"/>
          </a:solidFill>
          <a:ln w="40640" cap="flat">
            <a:solidFill>
              <a:srgbClr val="645C5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78" name="object-005: SoC">
            <a:extLst>
              <a:ext uri="{FF2B5EF4-FFF2-40B4-BE49-F238E27FC236}">
                <a16:creationId xmlns:a16="http://schemas.microsoft.com/office/drawing/2014/main" id="{A729F37A-FE4E-4444-AC4E-C0268DDC04AC}"/>
              </a:ext>
            </a:extLst>
          </p:cNvPr>
          <p:cNvSpPr txBox="1"/>
          <p:nvPr/>
        </p:nvSpPr>
        <p:spPr>
          <a:xfrm>
            <a:off x="3725333" y="608488"/>
            <a:ext cx="4064000" cy="21544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SoC 架构：CPU / Ara 共享 GB 出口</a:t>
            </a:r>
          </a:p>
        </p:txBody>
      </p:sp>
      <p:sp>
        <p:nvSpPr>
          <p:cNvPr id="779" name="cpu-platform">
            <a:extLst>
              <a:ext uri="{FF2B5EF4-FFF2-40B4-BE49-F238E27FC236}">
                <a16:creationId xmlns:a16="http://schemas.microsoft.com/office/drawing/2014/main" id="{AF24C96E-7639-4A3D-B153-780FAD5C80B8}"/>
              </a:ext>
            </a:extLst>
          </p:cNvPr>
          <p:cNvSpPr/>
          <p:nvPr/>
        </p:nvSpPr>
        <p:spPr>
          <a:xfrm>
            <a:off x="241307" y="840216"/>
            <a:ext cx="3166533" cy="14393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0" name="object-007: CVA6–Ara 计算平台">
            <a:extLst>
              <a:ext uri="{FF2B5EF4-FFF2-40B4-BE49-F238E27FC236}">
                <a16:creationId xmlns:a16="http://schemas.microsoft.com/office/drawing/2014/main" id="{124C73D2-9AEE-45DB-8A2C-B9E829D70CF4}"/>
              </a:ext>
            </a:extLst>
          </p:cNvPr>
          <p:cNvSpPr txBox="1"/>
          <p:nvPr/>
        </p:nvSpPr>
        <p:spPr>
          <a:xfrm>
            <a:off x="1164047" y="855252"/>
            <a:ext cx="1317668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计算平台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1" name="cva6">
            <a:extLst>
              <a:ext uri="{FF2B5EF4-FFF2-40B4-BE49-F238E27FC236}">
                <a16:creationId xmlns:a16="http://schemas.microsoft.com/office/drawing/2014/main" id="{A278632C-7678-4A74-9EF4-ED3825AC645F}"/>
              </a:ext>
            </a:extLst>
          </p:cNvPr>
          <p:cNvSpPr/>
          <p:nvPr/>
        </p:nvSpPr>
        <p:spPr>
          <a:xfrm>
            <a:off x="325973" y="1111149"/>
            <a:ext cx="846667" cy="7281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2" name="object-009: CVA6 core 0">
            <a:extLst>
              <a:ext uri="{FF2B5EF4-FFF2-40B4-BE49-F238E27FC236}">
                <a16:creationId xmlns:a16="http://schemas.microsoft.com/office/drawing/2014/main" id="{2BE65702-B1F0-4B4E-BF09-D79ADBF299AC}"/>
              </a:ext>
            </a:extLst>
          </p:cNvPr>
          <p:cNvSpPr txBox="1"/>
          <p:nvPr/>
        </p:nvSpPr>
        <p:spPr>
          <a:xfrm>
            <a:off x="435118" y="1266910"/>
            <a:ext cx="6283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783" name="object-010: L1 I / D cache">
            <a:extLst>
              <a:ext uri="{FF2B5EF4-FFF2-40B4-BE49-F238E27FC236}">
                <a16:creationId xmlns:a16="http://schemas.microsoft.com/office/drawing/2014/main" id="{C4F3F2C8-88D6-4730-A950-0FE57919B9CE}"/>
              </a:ext>
            </a:extLst>
          </p:cNvPr>
          <p:cNvSpPr txBox="1"/>
          <p:nvPr/>
        </p:nvSpPr>
        <p:spPr>
          <a:xfrm>
            <a:off x="415883" y="1403461"/>
            <a:ext cx="6668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784" name="object-011: MMU · AXI 适配">
            <a:extLst>
              <a:ext uri="{FF2B5EF4-FFF2-40B4-BE49-F238E27FC236}">
                <a16:creationId xmlns:a16="http://schemas.microsoft.com/office/drawing/2014/main" id="{1308FC2B-9804-4676-9C81-F66B696127BD}"/>
              </a:ext>
            </a:extLst>
          </p:cNvPr>
          <p:cNvSpPr txBox="1"/>
          <p:nvPr/>
        </p:nvSpPr>
        <p:spPr>
          <a:xfrm>
            <a:off x="365387" y="1511834"/>
            <a:ext cx="7678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·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适配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5" name="ara-core">
            <a:extLst>
              <a:ext uri="{FF2B5EF4-FFF2-40B4-BE49-F238E27FC236}">
                <a16:creationId xmlns:a16="http://schemas.microsoft.com/office/drawing/2014/main" id="{326B305C-1397-4FB6-907C-47D8D0CC135D}"/>
              </a:ext>
            </a:extLst>
          </p:cNvPr>
          <p:cNvSpPr/>
          <p:nvPr/>
        </p:nvSpPr>
        <p:spPr>
          <a:xfrm>
            <a:off x="1341973" y="1111149"/>
            <a:ext cx="1964267" cy="4233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6" name="object-013: Ara 向量处理器">
            <a:extLst>
              <a:ext uri="{FF2B5EF4-FFF2-40B4-BE49-F238E27FC236}">
                <a16:creationId xmlns:a16="http://schemas.microsoft.com/office/drawing/2014/main" id="{64417BFF-AAB1-4D2B-AB14-3C166730A1DE}"/>
              </a:ext>
            </a:extLst>
          </p:cNvPr>
          <p:cNvSpPr txBox="1"/>
          <p:nvPr/>
        </p:nvSpPr>
        <p:spPr>
          <a:xfrm>
            <a:off x="1962629" y="1187535"/>
            <a:ext cx="72295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向量处理器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7" name="object-014: VLSU / AXI：32 × lanes bit">
            <a:extLst>
              <a:ext uri="{FF2B5EF4-FFF2-40B4-BE49-F238E27FC236}">
                <a16:creationId xmlns:a16="http://schemas.microsoft.com/office/drawing/2014/main" id="{301DDB2E-AC9E-4A6E-9896-07E073F592EE}"/>
              </a:ext>
            </a:extLst>
          </p:cNvPr>
          <p:cNvSpPr txBox="1"/>
          <p:nvPr/>
        </p:nvSpPr>
        <p:spPr>
          <a:xfrm>
            <a:off x="1671685" y="1324086"/>
            <a:ext cx="13048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2 lanes · VLSU / AXI：64 bit</a:t>
            </a:r>
          </a:p>
        </p:txBody>
      </p:sp>
      <p:cxnSp>
        <p:nvCxnSpPr>
          <p:cNvPr id="788" name="cva6-ara-control">
            <a:extLst>
              <a:ext uri="{FF2B5EF4-FFF2-40B4-BE49-F238E27FC236}">
                <a16:creationId xmlns:a16="http://schemas.microsoft.com/office/drawing/2014/main" id="{A119614B-6831-451B-BA2D-3B24BC8398AF}"/>
              </a:ext>
            </a:extLst>
          </p:cNvPr>
          <p:cNvCxnSpPr/>
          <p:nvPr/>
        </p:nvCxnSpPr>
        <p:spPr>
          <a:xfrm>
            <a:off x="1172640" y="1314349"/>
            <a:ext cx="169333" cy="0"/>
          </a:xfrm>
          <a:prstGeom prst="line">
            <a:avLst/>
          </a:prstGeom>
          <a:ln w="20320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789" name="object-016: 指令 / MMU">
            <a:extLst>
              <a:ext uri="{FF2B5EF4-FFF2-40B4-BE49-F238E27FC236}">
                <a16:creationId xmlns:a16="http://schemas.microsoft.com/office/drawing/2014/main" id="{E1752098-E990-4C62-8143-B7F1B4EE3C96}"/>
              </a:ext>
            </a:extLst>
          </p:cNvPr>
          <p:cNvSpPr txBox="1"/>
          <p:nvPr/>
        </p:nvSpPr>
        <p:spPr>
          <a:xfrm>
            <a:off x="1040281" y="1007788"/>
            <a:ext cx="44082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790" name="ara-filter">
            <a:extLst>
              <a:ext uri="{FF2B5EF4-FFF2-40B4-BE49-F238E27FC236}">
                <a16:creationId xmlns:a16="http://schemas.microsoft.com/office/drawing/2014/main" id="{53C8AB6E-31EB-44B7-B4FC-68060C84843C}"/>
              </a:ext>
            </a:extLst>
          </p:cNvPr>
          <p:cNvSpPr/>
          <p:nvPr/>
        </p:nvSpPr>
        <p:spPr>
          <a:xfrm>
            <a:off x="1409706" y="1686883"/>
            <a:ext cx="643467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1" name="object-018: 失效过滤">
            <a:extLst>
              <a:ext uri="{FF2B5EF4-FFF2-40B4-BE49-F238E27FC236}">
                <a16:creationId xmlns:a16="http://schemas.microsoft.com/office/drawing/2014/main" id="{77AF999C-5811-4EB4-A28F-6FC6EB19EA75}"/>
              </a:ext>
            </a:extLst>
          </p:cNvPr>
          <p:cNvSpPr txBox="1"/>
          <p:nvPr/>
        </p:nvSpPr>
        <p:spPr>
          <a:xfrm>
            <a:off x="15262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792" name="object-019: 现有 filter">
            <a:extLst>
              <a:ext uri="{FF2B5EF4-FFF2-40B4-BE49-F238E27FC236}">
                <a16:creationId xmlns:a16="http://schemas.microsoft.com/office/drawing/2014/main" id="{E3F41616-6AF3-4FF6-850B-A98674451E27}"/>
              </a:ext>
            </a:extLst>
          </p:cNvPr>
          <p:cNvSpPr txBox="1"/>
          <p:nvPr/>
        </p:nvSpPr>
        <p:spPr>
          <a:xfrm>
            <a:off x="1501409" y="1842669"/>
            <a:ext cx="4600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796" name="ara-width">
            <a:extLst>
              <a:ext uri="{FF2B5EF4-FFF2-40B4-BE49-F238E27FC236}">
                <a16:creationId xmlns:a16="http://schemas.microsoft.com/office/drawing/2014/main" id="{13DCB4D3-CB81-4F91-A5BB-7B8FDA91C5C7}"/>
              </a:ext>
            </a:extLst>
          </p:cNvPr>
          <p:cNvSpPr/>
          <p:nvPr/>
        </p:nvSpPr>
        <p:spPr>
          <a:xfrm>
            <a:off x="2798240" y="1686883"/>
            <a:ext cx="508000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7" name="object-024: 位宽适配">
            <a:extLst>
              <a:ext uri="{FF2B5EF4-FFF2-40B4-BE49-F238E27FC236}">
                <a16:creationId xmlns:a16="http://schemas.microsoft.com/office/drawing/2014/main" id="{B27BE7FB-D7A1-4A9A-9125-78B229034358}"/>
              </a:ext>
            </a:extLst>
          </p:cNvPr>
          <p:cNvSpPr txBox="1"/>
          <p:nvPr/>
        </p:nvSpPr>
        <p:spPr>
          <a:xfrm>
            <a:off x="28470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等宽透传</a:t>
            </a:r>
          </a:p>
        </p:txBody>
      </p:sp>
      <p:sp>
        <p:nvSpPr>
          <p:cNvPr id="798" name="object-025: → 64 bit">
            <a:extLst>
              <a:ext uri="{FF2B5EF4-FFF2-40B4-BE49-F238E27FC236}">
                <a16:creationId xmlns:a16="http://schemas.microsoft.com/office/drawing/2014/main" id="{6732B6D6-BF45-4760-884F-A62B535AA613}"/>
              </a:ext>
            </a:extLst>
          </p:cNvPr>
          <p:cNvSpPr txBox="1"/>
          <p:nvPr/>
        </p:nvSpPr>
        <p:spPr>
          <a:xfrm>
            <a:off x="2843849" y="1842669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4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 → 64 bit</a:t>
            </a:r>
          </a:p>
        </p:txBody>
      </p:sp>
      <p:cxnSp>
        <p:nvCxnSpPr>
          <p:cNvPr id="799" name="vlsu-filter">
            <a:extLst>
              <a:ext uri="{FF2B5EF4-FFF2-40B4-BE49-F238E27FC236}">
                <a16:creationId xmlns:a16="http://schemas.microsoft.com/office/drawing/2014/main" id="{40661750-8396-4465-BC47-BA8E6CE9F4E7}"/>
              </a:ext>
            </a:extLst>
          </p:cNvPr>
          <p:cNvCxnSpPr/>
          <p:nvPr/>
        </p:nvCxnSpPr>
        <p:spPr>
          <a:xfrm>
            <a:off x="1731440" y="1534482"/>
            <a:ext cx="0" cy="15240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02" name="npu-subsystem">
            <a:extLst>
              <a:ext uri="{FF2B5EF4-FFF2-40B4-BE49-F238E27FC236}">
                <a16:creationId xmlns:a16="http://schemas.microsoft.com/office/drawing/2014/main" id="{656E5669-F913-42EA-B7ED-87C55D399281}"/>
              </a:ext>
            </a:extLst>
          </p:cNvPr>
          <p:cNvSpPr/>
          <p:nvPr/>
        </p:nvSpPr>
        <p:spPr>
          <a:xfrm>
            <a:off x="3594106" y="840216"/>
            <a:ext cx="3843867" cy="14393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3" name="object-030: NPU / 独立 Global Buffer 子系统">
            <a:extLst>
              <a:ext uri="{FF2B5EF4-FFF2-40B4-BE49-F238E27FC236}">
                <a16:creationId xmlns:a16="http://schemas.microsoft.com/office/drawing/2014/main" id="{718B7891-A7B2-45A4-B891-5FAEC892CE9F}"/>
              </a:ext>
            </a:extLst>
          </p:cNvPr>
          <p:cNvSpPr txBox="1"/>
          <p:nvPr/>
        </p:nvSpPr>
        <p:spPr>
          <a:xfrm>
            <a:off x="4410679" y="855252"/>
            <a:ext cx="2207336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Global Buffer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子系统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4" name="npu-compute">
            <a:extLst>
              <a:ext uri="{FF2B5EF4-FFF2-40B4-BE49-F238E27FC236}">
                <a16:creationId xmlns:a16="http://schemas.microsoft.com/office/drawing/2014/main" id="{46C0F758-7B9F-4A0A-B73B-2833147897D7}"/>
              </a:ext>
            </a:extLst>
          </p:cNvPr>
          <p:cNvSpPr/>
          <p:nvPr/>
        </p:nvSpPr>
        <p:spPr>
          <a:xfrm>
            <a:off x="3678773" y="1111149"/>
            <a:ext cx="914400" cy="592667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5" name="object-032: NPU 计算引擎">
            <a:extLst>
              <a:ext uri="{FF2B5EF4-FFF2-40B4-BE49-F238E27FC236}">
                <a16:creationId xmlns:a16="http://schemas.microsoft.com/office/drawing/2014/main" id="{57A034A3-CD90-407A-9864-937692845FE0}"/>
              </a:ext>
            </a:extLst>
          </p:cNvPr>
          <p:cNvSpPr txBox="1"/>
          <p:nvPr/>
        </p:nvSpPr>
        <p:spPr>
          <a:xfrm>
            <a:off x="3798540" y="1241510"/>
            <a:ext cx="67486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806" name="object-033: GB 数据读写">
            <a:extLst>
              <a:ext uri="{FF2B5EF4-FFF2-40B4-BE49-F238E27FC236}">
                <a16:creationId xmlns:a16="http://schemas.microsoft.com/office/drawing/2014/main" id="{9CE2B4F6-7C07-4825-97E7-4CF402344E97}"/>
              </a:ext>
            </a:extLst>
          </p:cNvPr>
          <p:cNvSpPr txBox="1"/>
          <p:nvPr/>
        </p:nvSpPr>
        <p:spPr>
          <a:xfrm>
            <a:off x="3845028" y="1378061"/>
            <a:ext cx="5818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数据读写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7" name="cfg-tag-C6-33">
            <a:extLst>
              <a:ext uri="{FF2B5EF4-FFF2-40B4-BE49-F238E27FC236}">
                <a16:creationId xmlns:a16="http://schemas.microsoft.com/office/drawing/2014/main" id="{D3B7AF86-7454-4B62-89BE-78681DD60168}"/>
              </a:ext>
            </a:extLst>
          </p:cNvPr>
          <p:cNvSpPr/>
          <p:nvPr/>
        </p:nvSpPr>
        <p:spPr>
          <a:xfrm>
            <a:off x="4389973" y="155141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8" name="object-035: C6">
            <a:extLst>
              <a:ext uri="{FF2B5EF4-FFF2-40B4-BE49-F238E27FC236}">
                <a16:creationId xmlns:a16="http://schemas.microsoft.com/office/drawing/2014/main" id="{C61F99EE-C4EE-4969-94E1-ED6A835DA0FB}"/>
              </a:ext>
            </a:extLst>
          </p:cNvPr>
          <p:cNvSpPr txBox="1"/>
          <p:nvPr/>
        </p:nvSpPr>
        <p:spPr>
          <a:xfrm>
            <a:off x="4419867" y="155277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809" name="gb-router">
            <a:extLst>
              <a:ext uri="{FF2B5EF4-FFF2-40B4-BE49-F238E27FC236}">
                <a16:creationId xmlns:a16="http://schemas.microsoft.com/office/drawing/2014/main" id="{B49BD3BD-E44C-4699-B093-1981A49F63CE}"/>
              </a:ext>
            </a:extLst>
          </p:cNvPr>
          <p:cNvSpPr/>
          <p:nvPr/>
        </p:nvSpPr>
        <p:spPr>
          <a:xfrm>
            <a:off x="4711707" y="1365149"/>
            <a:ext cx="778933" cy="7958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0" name="object-037: GB 访问适配">
            <a:extLst>
              <a:ext uri="{FF2B5EF4-FFF2-40B4-BE49-F238E27FC236}">
                <a16:creationId xmlns:a16="http://schemas.microsoft.com/office/drawing/2014/main" id="{9DDF7B99-1CF7-451D-880D-F92066C2D856}"/>
              </a:ext>
            </a:extLst>
          </p:cNvPr>
          <p:cNvSpPr txBox="1"/>
          <p:nvPr/>
        </p:nvSpPr>
        <p:spPr>
          <a:xfrm>
            <a:off x="4806221" y="1556801"/>
            <a:ext cx="58990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811" name="object-038: 局部仲裁 / 路由">
            <a:extLst>
              <a:ext uri="{FF2B5EF4-FFF2-40B4-BE49-F238E27FC236}">
                <a16:creationId xmlns:a16="http://schemas.microsoft.com/office/drawing/2014/main" id="{31997707-ECEB-4690-908D-11823455FE1C}"/>
              </a:ext>
            </a:extLst>
          </p:cNvPr>
          <p:cNvSpPr txBox="1"/>
          <p:nvPr/>
        </p:nvSpPr>
        <p:spPr>
          <a:xfrm>
            <a:off x="4741299" y="1686036"/>
            <a:ext cx="7197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812" name="object-039: bank 冲突处理">
            <a:extLst>
              <a:ext uri="{FF2B5EF4-FFF2-40B4-BE49-F238E27FC236}">
                <a16:creationId xmlns:a16="http://schemas.microsoft.com/office/drawing/2014/main" id="{11961159-3445-4A6A-8ED7-CDD7022D7D18}"/>
              </a:ext>
            </a:extLst>
          </p:cNvPr>
          <p:cNvSpPr txBox="1"/>
          <p:nvPr/>
        </p:nvSpPr>
        <p:spPr>
          <a:xfrm>
            <a:off x="4760535" y="1794409"/>
            <a:ext cx="6812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冲突处理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13" name="global-buffer">
            <a:extLst>
              <a:ext uri="{FF2B5EF4-FFF2-40B4-BE49-F238E27FC236}">
                <a16:creationId xmlns:a16="http://schemas.microsoft.com/office/drawing/2014/main" id="{0F86E12E-383A-4875-BC7C-4C90F3F966C9}"/>
              </a:ext>
            </a:extLst>
          </p:cNvPr>
          <p:cNvSpPr/>
          <p:nvPr/>
        </p:nvSpPr>
        <p:spPr>
          <a:xfrm>
            <a:off x="5626106" y="1111149"/>
            <a:ext cx="1710267" cy="5757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4" name="object-041: Global Buffer">
            <a:extLst>
              <a:ext uri="{FF2B5EF4-FFF2-40B4-BE49-F238E27FC236}">
                <a16:creationId xmlns:a16="http://schemas.microsoft.com/office/drawing/2014/main" id="{0651B47D-F1D7-4756-8C2C-E0A3C6EF838A}"/>
              </a:ext>
            </a:extLst>
          </p:cNvPr>
          <p:cNvSpPr txBox="1"/>
          <p:nvPr/>
        </p:nvSpPr>
        <p:spPr>
          <a:xfrm>
            <a:off x="6094917" y="1208312"/>
            <a:ext cx="772647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815" name="object-042: 独立 SRAM · 分 bank">
            <a:extLst>
              <a:ext uri="{FF2B5EF4-FFF2-40B4-BE49-F238E27FC236}">
                <a16:creationId xmlns:a16="http://schemas.microsoft.com/office/drawing/2014/main" id="{AD1A6881-C2BE-460D-B074-A700C9C01B03}"/>
              </a:ext>
            </a:extLst>
          </p:cNvPr>
          <p:cNvSpPr txBox="1"/>
          <p:nvPr/>
        </p:nvSpPr>
        <p:spPr>
          <a:xfrm>
            <a:off x="5984309" y="1355836"/>
            <a:ext cx="99386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816" name="object-043: ISP / NPU–Ara 工作区">
            <a:extLst>
              <a:ext uri="{FF2B5EF4-FFF2-40B4-BE49-F238E27FC236}">
                <a16:creationId xmlns:a16="http://schemas.microsoft.com/office/drawing/2014/main" id="{D53F494B-0690-4734-ACA8-CACF6710407D}"/>
              </a:ext>
            </a:extLst>
          </p:cNvPr>
          <p:cNvSpPr txBox="1"/>
          <p:nvPr/>
        </p:nvSpPr>
        <p:spPr>
          <a:xfrm>
            <a:off x="5689600" y="1476908"/>
            <a:ext cx="15748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47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NPU / ISP 工作区</a:t>
            </a:r>
          </a:p>
        </p:txBody>
      </p:sp>
      <p:sp>
        <p:nvSpPr>
          <p:cNvPr id="817" name="cfg-tag-C9-43">
            <a:extLst>
              <a:ext uri="{FF2B5EF4-FFF2-40B4-BE49-F238E27FC236}">
                <a16:creationId xmlns:a16="http://schemas.microsoft.com/office/drawing/2014/main" id="{823E72FE-055F-4BE4-8A7B-2A044874D38D}"/>
              </a:ext>
            </a:extLst>
          </p:cNvPr>
          <p:cNvSpPr/>
          <p:nvPr/>
        </p:nvSpPr>
        <p:spPr>
          <a:xfrm>
            <a:off x="7133173" y="152770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8" name="object-045: C9">
            <a:extLst>
              <a:ext uri="{FF2B5EF4-FFF2-40B4-BE49-F238E27FC236}">
                <a16:creationId xmlns:a16="http://schemas.microsoft.com/office/drawing/2014/main" id="{95D02E3B-149C-4FA4-A33D-61F0556022FE}"/>
              </a:ext>
            </a:extLst>
          </p:cNvPr>
          <p:cNvSpPr txBox="1"/>
          <p:nvPr/>
        </p:nvSpPr>
        <p:spPr>
          <a:xfrm>
            <a:off x="7163067" y="152906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cxnSp>
        <p:nvCxnSpPr>
          <p:cNvPr id="819" name="npu-router">
            <a:extLst>
              <a:ext uri="{FF2B5EF4-FFF2-40B4-BE49-F238E27FC236}">
                <a16:creationId xmlns:a16="http://schemas.microsoft.com/office/drawing/2014/main" id="{A428C493-29D6-4BBC-BA7B-070D429BC4AF}"/>
              </a:ext>
            </a:extLst>
          </p:cNvPr>
          <p:cNvCxnSpPr/>
          <p:nvPr/>
        </p:nvCxnSpPr>
        <p:spPr>
          <a:xfrm>
            <a:off x="4593173" y="1466749"/>
            <a:ext cx="118533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cxnSp>
        <p:nvCxnSpPr>
          <p:cNvPr id="820" name="router-sram">
            <a:extLst>
              <a:ext uri="{FF2B5EF4-FFF2-40B4-BE49-F238E27FC236}">
                <a16:creationId xmlns:a16="http://schemas.microsoft.com/office/drawing/2014/main" id="{D5B8C352-9067-45D3-A0F8-A71B9B5A5E13}"/>
              </a:ext>
            </a:extLst>
          </p:cNvPr>
          <p:cNvCxnSpPr/>
          <p:nvPr/>
        </p:nvCxnSpPr>
        <p:spPr>
          <a:xfrm>
            <a:off x="5490640" y="15514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1" name="npu-transfer">
            <a:extLst>
              <a:ext uri="{FF2B5EF4-FFF2-40B4-BE49-F238E27FC236}">
                <a16:creationId xmlns:a16="http://schemas.microsoft.com/office/drawing/2014/main" id="{FA38588C-CDC9-492E-8CAA-C795BC318639}"/>
              </a:ext>
            </a:extLst>
          </p:cNvPr>
          <p:cNvSpPr/>
          <p:nvPr/>
        </p:nvSpPr>
        <p:spPr>
          <a:xfrm>
            <a:off x="5626106" y="1805416"/>
            <a:ext cx="1710267" cy="406400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2" name="object-049: NPU / GB 搬运引擎">
            <a:extLst>
              <a:ext uri="{FF2B5EF4-FFF2-40B4-BE49-F238E27FC236}">
                <a16:creationId xmlns:a16="http://schemas.microsoft.com/office/drawing/2014/main" id="{B62D1668-5499-422C-A42A-7C1C8F708B4E}"/>
              </a:ext>
            </a:extLst>
          </p:cNvPr>
          <p:cNvSpPr txBox="1"/>
          <p:nvPr/>
        </p:nvSpPr>
        <p:spPr>
          <a:xfrm>
            <a:off x="6014767" y="1884977"/>
            <a:ext cx="9329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搬运引擎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3" name="object-050: DDR ↔ GB · 统一 AXI 主口">
            <a:extLst>
              <a:ext uri="{FF2B5EF4-FFF2-40B4-BE49-F238E27FC236}">
                <a16:creationId xmlns:a16="http://schemas.microsoft.com/office/drawing/2014/main" id="{85C9B0F7-F610-4D22-AFEB-406C6901B317}"/>
              </a:ext>
            </a:extLst>
          </p:cNvPr>
          <p:cNvSpPr txBox="1"/>
          <p:nvPr/>
        </p:nvSpPr>
        <p:spPr>
          <a:xfrm>
            <a:off x="5835230" y="2021527"/>
            <a:ext cx="129202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统一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4" name="cfg-tag-C7-50">
            <a:extLst>
              <a:ext uri="{FF2B5EF4-FFF2-40B4-BE49-F238E27FC236}">
                <a16:creationId xmlns:a16="http://schemas.microsoft.com/office/drawing/2014/main" id="{B1F03A49-3940-4D0A-8CD8-1BDE1A74EFAE}"/>
              </a:ext>
            </a:extLst>
          </p:cNvPr>
          <p:cNvSpPr/>
          <p:nvPr/>
        </p:nvSpPr>
        <p:spPr>
          <a:xfrm>
            <a:off x="7133173" y="206957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5" name="object-052: C7">
            <a:extLst>
              <a:ext uri="{FF2B5EF4-FFF2-40B4-BE49-F238E27FC236}">
                <a16:creationId xmlns:a16="http://schemas.microsoft.com/office/drawing/2014/main" id="{AB84474B-5CCF-43E8-BCC6-18E79C6A3986}"/>
              </a:ext>
            </a:extLst>
          </p:cNvPr>
          <p:cNvSpPr txBox="1"/>
          <p:nvPr/>
        </p:nvSpPr>
        <p:spPr>
          <a:xfrm>
            <a:off x="7163067" y="207093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cxnSp>
        <p:nvCxnSpPr>
          <p:cNvPr id="826" name="transfer-router">
            <a:extLst>
              <a:ext uri="{FF2B5EF4-FFF2-40B4-BE49-F238E27FC236}">
                <a16:creationId xmlns:a16="http://schemas.microsoft.com/office/drawing/2014/main" id="{CC73FB70-E502-4DB5-A5D7-857AF0014BBD}"/>
              </a:ext>
            </a:extLst>
          </p:cNvPr>
          <p:cNvCxnSpPr/>
          <p:nvPr/>
        </p:nvCxnSpPr>
        <p:spPr>
          <a:xfrm flipH="1">
            <a:off x="5490640" y="20086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9" name="image-subsystem">
            <a:extLst>
              <a:ext uri="{FF2B5EF4-FFF2-40B4-BE49-F238E27FC236}">
                <a16:creationId xmlns:a16="http://schemas.microsoft.com/office/drawing/2014/main" id="{6BD40024-AF2A-43AA-9F53-2CB0F0A35B7B}"/>
              </a:ext>
            </a:extLst>
          </p:cNvPr>
          <p:cNvSpPr/>
          <p:nvPr/>
        </p:nvSpPr>
        <p:spPr>
          <a:xfrm>
            <a:off x="7607306" y="840216"/>
            <a:ext cx="3606800" cy="143933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0" name="object-057: 图像采集与 ISP">
            <a:extLst>
              <a:ext uri="{FF2B5EF4-FFF2-40B4-BE49-F238E27FC236}">
                <a16:creationId xmlns:a16="http://schemas.microsoft.com/office/drawing/2014/main" id="{5D105284-8B1B-4DF6-9CD3-6DE3CB6EA6D2}"/>
              </a:ext>
            </a:extLst>
          </p:cNvPr>
          <p:cNvSpPr txBox="1"/>
          <p:nvPr/>
        </p:nvSpPr>
        <p:spPr>
          <a:xfrm>
            <a:off x="8922503" y="855252"/>
            <a:ext cx="973023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ISP</a:t>
            </a:r>
          </a:p>
        </p:txBody>
      </p:sp>
      <p:sp>
        <p:nvSpPr>
          <p:cNvPr id="831" name="lvds">
            <a:extLst>
              <a:ext uri="{FF2B5EF4-FFF2-40B4-BE49-F238E27FC236}">
                <a16:creationId xmlns:a16="http://schemas.microsoft.com/office/drawing/2014/main" id="{3678F47F-0E17-45E0-BC26-1889C2B908C0}"/>
              </a:ext>
            </a:extLst>
          </p:cNvPr>
          <p:cNvSpPr/>
          <p:nvPr/>
        </p:nvSpPr>
        <p:spPr>
          <a:xfrm>
            <a:off x="7691973" y="1314349"/>
            <a:ext cx="5588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2" name="object-059: LVDS 接收">
            <a:extLst>
              <a:ext uri="{FF2B5EF4-FFF2-40B4-BE49-F238E27FC236}">
                <a16:creationId xmlns:a16="http://schemas.microsoft.com/office/drawing/2014/main" id="{A09B5D17-5CB1-4F09-9942-523F28E11F50}"/>
              </a:ext>
            </a:extLst>
          </p:cNvPr>
          <p:cNvSpPr txBox="1"/>
          <p:nvPr/>
        </p:nvSpPr>
        <p:spPr>
          <a:xfrm>
            <a:off x="7716495" y="1462046"/>
            <a:ext cx="50975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833" name="object-060: 解串 / 帧行">
            <a:extLst>
              <a:ext uri="{FF2B5EF4-FFF2-40B4-BE49-F238E27FC236}">
                <a16:creationId xmlns:a16="http://schemas.microsoft.com/office/drawing/2014/main" id="{A4A92F41-F952-4D36-9FD8-9D4521EEAEB1}"/>
              </a:ext>
            </a:extLst>
          </p:cNvPr>
          <p:cNvSpPr txBox="1"/>
          <p:nvPr/>
        </p:nvSpPr>
        <p:spPr>
          <a:xfrm>
            <a:off x="7714091" y="1587624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834" name="cfg-tag-C4-60">
            <a:extLst>
              <a:ext uri="{FF2B5EF4-FFF2-40B4-BE49-F238E27FC236}">
                <a16:creationId xmlns:a16="http://schemas.microsoft.com/office/drawing/2014/main" id="{889DE112-44D4-4243-93D5-ABB1ACA86D6E}"/>
              </a:ext>
            </a:extLst>
          </p:cNvPr>
          <p:cNvSpPr/>
          <p:nvPr/>
        </p:nvSpPr>
        <p:spPr>
          <a:xfrm>
            <a:off x="8047573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5" name="object-062: C4">
            <a:extLst>
              <a:ext uri="{FF2B5EF4-FFF2-40B4-BE49-F238E27FC236}">
                <a16:creationId xmlns:a16="http://schemas.microsoft.com/office/drawing/2014/main" id="{3EB18B95-08AB-4276-B69A-36E4026D5732}"/>
              </a:ext>
            </a:extLst>
          </p:cNvPr>
          <p:cNvSpPr txBox="1"/>
          <p:nvPr/>
        </p:nvSpPr>
        <p:spPr>
          <a:xfrm>
            <a:off x="8077467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836" name="pixel-cdc">
            <a:extLst>
              <a:ext uri="{FF2B5EF4-FFF2-40B4-BE49-F238E27FC236}">
                <a16:creationId xmlns:a16="http://schemas.microsoft.com/office/drawing/2014/main" id="{7B21DA8E-5581-4742-85D5-AE770D9C6062}"/>
              </a:ext>
            </a:extLst>
          </p:cNvPr>
          <p:cNvSpPr/>
          <p:nvPr/>
        </p:nvSpPr>
        <p:spPr>
          <a:xfrm>
            <a:off x="8352373" y="1314349"/>
            <a:ext cx="541867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7" name="object-064: CDC / FIFO">
            <a:extLst>
              <a:ext uri="{FF2B5EF4-FFF2-40B4-BE49-F238E27FC236}">
                <a16:creationId xmlns:a16="http://schemas.microsoft.com/office/drawing/2014/main" id="{0AD2F2A6-34C1-4782-8DDB-0966C51656F8}"/>
              </a:ext>
            </a:extLst>
          </p:cNvPr>
          <p:cNvSpPr txBox="1"/>
          <p:nvPr/>
        </p:nvSpPr>
        <p:spPr>
          <a:xfrm>
            <a:off x="8342781" y="1462046"/>
            <a:ext cx="56105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838" name="object-065: 像素流缓冲">
            <a:extLst>
              <a:ext uri="{FF2B5EF4-FFF2-40B4-BE49-F238E27FC236}">
                <a16:creationId xmlns:a16="http://schemas.microsoft.com/office/drawing/2014/main" id="{9EB67424-CB21-4439-890E-47387DE671C2}"/>
              </a:ext>
            </a:extLst>
          </p:cNvPr>
          <p:cNvSpPr txBox="1"/>
          <p:nvPr/>
        </p:nvSpPr>
        <p:spPr>
          <a:xfrm>
            <a:off x="8366826" y="1587624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839" name="isp">
            <a:extLst>
              <a:ext uri="{FF2B5EF4-FFF2-40B4-BE49-F238E27FC236}">
                <a16:creationId xmlns:a16="http://schemas.microsoft.com/office/drawing/2014/main" id="{D0A0421C-79B2-4D46-8E1F-76B68034EAB1}"/>
              </a:ext>
            </a:extLst>
          </p:cNvPr>
          <p:cNvSpPr/>
          <p:nvPr/>
        </p:nvSpPr>
        <p:spPr>
          <a:xfrm>
            <a:off x="8995840" y="1314349"/>
            <a:ext cx="558800" cy="6265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0" name="object-067: ISP">
            <a:extLst>
              <a:ext uri="{FF2B5EF4-FFF2-40B4-BE49-F238E27FC236}">
                <a16:creationId xmlns:a16="http://schemas.microsoft.com/office/drawing/2014/main" id="{D8417204-1D66-47F9-AAE6-B61AAFB8EE07}"/>
              </a:ext>
            </a:extLst>
          </p:cNvPr>
          <p:cNvSpPr txBox="1"/>
          <p:nvPr/>
        </p:nvSpPr>
        <p:spPr>
          <a:xfrm>
            <a:off x="9193486" y="1462046"/>
            <a:ext cx="16350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841" name="object-068: 行缓冲 / 处理">
            <a:extLst>
              <a:ext uri="{FF2B5EF4-FFF2-40B4-BE49-F238E27FC236}">
                <a16:creationId xmlns:a16="http://schemas.microsoft.com/office/drawing/2014/main" id="{634F747F-0ED0-4BF1-9BD9-5D880E3F48CA}"/>
              </a:ext>
            </a:extLst>
          </p:cNvPr>
          <p:cNvSpPr txBox="1"/>
          <p:nvPr/>
        </p:nvSpPr>
        <p:spPr>
          <a:xfrm>
            <a:off x="8995841" y="1587624"/>
            <a:ext cx="496098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行缓冲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42" name="cfg-tag-C5-68">
            <a:extLst>
              <a:ext uri="{FF2B5EF4-FFF2-40B4-BE49-F238E27FC236}">
                <a16:creationId xmlns:a16="http://schemas.microsoft.com/office/drawing/2014/main" id="{5C076AFD-1FBD-4A5D-8C7D-74E0C3A80EAB}"/>
              </a:ext>
            </a:extLst>
          </p:cNvPr>
          <p:cNvSpPr/>
          <p:nvPr/>
        </p:nvSpPr>
        <p:spPr>
          <a:xfrm>
            <a:off x="9351440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3" name="object-070: C5">
            <a:extLst>
              <a:ext uri="{FF2B5EF4-FFF2-40B4-BE49-F238E27FC236}">
                <a16:creationId xmlns:a16="http://schemas.microsoft.com/office/drawing/2014/main" id="{F75900B3-9299-448E-A630-B81C3623B85A}"/>
              </a:ext>
            </a:extLst>
          </p:cNvPr>
          <p:cNvSpPr txBox="1"/>
          <p:nvPr/>
        </p:nvSpPr>
        <p:spPr>
          <a:xfrm>
            <a:off x="9381333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844" name="frame-select">
            <a:extLst>
              <a:ext uri="{FF2B5EF4-FFF2-40B4-BE49-F238E27FC236}">
                <a16:creationId xmlns:a16="http://schemas.microsoft.com/office/drawing/2014/main" id="{29358133-0E92-4973-90EB-96977D079B88}"/>
              </a:ext>
            </a:extLst>
          </p:cNvPr>
          <p:cNvSpPr/>
          <p:nvPr/>
        </p:nvSpPr>
        <p:spPr>
          <a:xfrm>
            <a:off x="9656240" y="1314349"/>
            <a:ext cx="6096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5" name="object-072: 帧边界选择">
            <a:extLst>
              <a:ext uri="{FF2B5EF4-FFF2-40B4-BE49-F238E27FC236}">
                <a16:creationId xmlns:a16="http://schemas.microsoft.com/office/drawing/2014/main" id="{D7CD0A41-01E5-4FE9-BA79-107B8A50C3DF}"/>
              </a:ext>
            </a:extLst>
          </p:cNvPr>
          <p:cNvSpPr txBox="1"/>
          <p:nvPr/>
        </p:nvSpPr>
        <p:spPr>
          <a:xfrm>
            <a:off x="9704559" y="1462046"/>
            <a:ext cx="5129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846" name="object-073: RAW / ISP">
            <a:extLst>
              <a:ext uri="{FF2B5EF4-FFF2-40B4-BE49-F238E27FC236}">
                <a16:creationId xmlns:a16="http://schemas.microsoft.com/office/drawing/2014/main" id="{6D9F2414-8C65-4383-AD03-DA29FA12D718}"/>
              </a:ext>
            </a:extLst>
          </p:cNvPr>
          <p:cNvSpPr txBox="1"/>
          <p:nvPr/>
        </p:nvSpPr>
        <p:spPr>
          <a:xfrm>
            <a:off x="9710971" y="1587624"/>
            <a:ext cx="50013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847" name="frame-dma">
            <a:extLst>
              <a:ext uri="{FF2B5EF4-FFF2-40B4-BE49-F238E27FC236}">
                <a16:creationId xmlns:a16="http://schemas.microsoft.com/office/drawing/2014/main" id="{CC8C5712-E151-4303-93AC-64CB6E17095D}"/>
              </a:ext>
            </a:extLst>
          </p:cNvPr>
          <p:cNvSpPr/>
          <p:nvPr/>
        </p:nvSpPr>
        <p:spPr>
          <a:xfrm>
            <a:off x="10384373" y="1314349"/>
            <a:ext cx="728133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8" name="object-075: 帧写入 DMA">
            <a:extLst>
              <a:ext uri="{FF2B5EF4-FFF2-40B4-BE49-F238E27FC236}">
                <a16:creationId xmlns:a16="http://schemas.microsoft.com/office/drawing/2014/main" id="{24C26ABC-45E2-4E21-AB00-AF8C2335CE52}"/>
              </a:ext>
            </a:extLst>
          </p:cNvPr>
          <p:cNvSpPr txBox="1"/>
          <p:nvPr/>
        </p:nvSpPr>
        <p:spPr>
          <a:xfrm>
            <a:off x="10447076" y="1462046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849" name="object-076: 地址 / stride">
            <a:extLst>
              <a:ext uri="{FF2B5EF4-FFF2-40B4-BE49-F238E27FC236}">
                <a16:creationId xmlns:a16="http://schemas.microsoft.com/office/drawing/2014/main" id="{0C54A5BA-9475-4ABD-B61F-EE92C0AB5523}"/>
              </a:ext>
            </a:extLst>
          </p:cNvPr>
          <p:cNvSpPr txBox="1"/>
          <p:nvPr/>
        </p:nvSpPr>
        <p:spPr>
          <a:xfrm>
            <a:off x="10455891" y="1587624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850" name="cfg-tag-C8-76">
            <a:extLst>
              <a:ext uri="{FF2B5EF4-FFF2-40B4-BE49-F238E27FC236}">
                <a16:creationId xmlns:a16="http://schemas.microsoft.com/office/drawing/2014/main" id="{1BC77144-E2BE-46C1-BF82-522BD58EED78}"/>
              </a:ext>
            </a:extLst>
          </p:cNvPr>
          <p:cNvSpPr/>
          <p:nvPr/>
        </p:nvSpPr>
        <p:spPr>
          <a:xfrm>
            <a:off x="10909307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1" name="object-078: C8">
            <a:extLst>
              <a:ext uri="{FF2B5EF4-FFF2-40B4-BE49-F238E27FC236}">
                <a16:creationId xmlns:a16="http://schemas.microsoft.com/office/drawing/2014/main" id="{2697A429-7A0F-44DF-B369-4C3F2764AFA0}"/>
              </a:ext>
            </a:extLst>
          </p:cNvPr>
          <p:cNvSpPr txBox="1"/>
          <p:nvPr/>
        </p:nvSpPr>
        <p:spPr>
          <a:xfrm>
            <a:off x="10939200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cxnSp>
        <p:nvCxnSpPr>
          <p:cNvPr id="852" name="lvds-cdc">
            <a:extLst>
              <a:ext uri="{FF2B5EF4-FFF2-40B4-BE49-F238E27FC236}">
                <a16:creationId xmlns:a16="http://schemas.microsoft.com/office/drawing/2014/main" id="{FADC3912-8F6A-41A4-A1AC-0683D6FEF878}"/>
              </a:ext>
            </a:extLst>
          </p:cNvPr>
          <p:cNvCxnSpPr/>
          <p:nvPr/>
        </p:nvCxnSpPr>
        <p:spPr>
          <a:xfrm>
            <a:off x="8250773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3" name="cdc-isp">
            <a:extLst>
              <a:ext uri="{FF2B5EF4-FFF2-40B4-BE49-F238E27FC236}">
                <a16:creationId xmlns:a16="http://schemas.microsoft.com/office/drawing/2014/main" id="{C8D68A84-0EDF-4C1B-97C7-070523D68F58}"/>
              </a:ext>
            </a:extLst>
          </p:cNvPr>
          <p:cNvCxnSpPr/>
          <p:nvPr/>
        </p:nvCxnSpPr>
        <p:spPr>
          <a:xfrm>
            <a:off x="88942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4" name="isp-select">
            <a:extLst>
              <a:ext uri="{FF2B5EF4-FFF2-40B4-BE49-F238E27FC236}">
                <a16:creationId xmlns:a16="http://schemas.microsoft.com/office/drawing/2014/main" id="{B9CB8D76-C114-4215-8002-C59B41C900E6}"/>
              </a:ext>
            </a:extLst>
          </p:cNvPr>
          <p:cNvCxnSpPr/>
          <p:nvPr/>
        </p:nvCxnSpPr>
        <p:spPr>
          <a:xfrm>
            <a:off x="95546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5" name="select-dma">
            <a:extLst>
              <a:ext uri="{FF2B5EF4-FFF2-40B4-BE49-F238E27FC236}">
                <a16:creationId xmlns:a16="http://schemas.microsoft.com/office/drawing/2014/main" id="{A4DF7387-49AD-4C18-8C33-962709E305CB}"/>
              </a:ext>
            </a:extLst>
          </p:cNvPr>
          <p:cNvCxnSpPr/>
          <p:nvPr/>
        </p:nvCxnSpPr>
        <p:spPr>
          <a:xfrm>
            <a:off x="10265840" y="1619149"/>
            <a:ext cx="118533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856" name="raw-bypass">
            <a:extLst>
              <a:ext uri="{FF2B5EF4-FFF2-40B4-BE49-F238E27FC236}">
                <a16:creationId xmlns:a16="http://schemas.microsoft.com/office/drawing/2014/main" id="{E31970F6-2698-453E-AFEC-330A77E21146}"/>
              </a:ext>
            </a:extLst>
          </p:cNvPr>
          <p:cNvSpPr/>
          <p:nvPr/>
        </p:nvSpPr>
        <p:spPr>
          <a:xfrm>
            <a:off x="8945040" y="1161949"/>
            <a:ext cx="1016000" cy="457200"/>
          </a:xfrm>
          <a:custGeom>
            <a:avLst/>
            <a:gdLst/>
            <a:ahLst/>
            <a:cxnLst/>
            <a:rect l="0" t="0" r="r" b="b"/>
            <a:pathLst>
              <a:path w="2438400" h="1097280" fill="none">
                <a:moveTo>
                  <a:pt x="0" y="1097280"/>
                </a:moveTo>
                <a:lnTo>
                  <a:pt x="0" y="0"/>
                </a:lnTo>
                <a:lnTo>
                  <a:pt x="2438400" y="0"/>
                </a:lnTo>
                <a:lnTo>
                  <a:pt x="2438400" y="365760"/>
                </a:lnTo>
              </a:path>
            </a:pathLst>
          </a:custGeom>
          <a:noFill/>
          <a:ln w="24384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7" name="raw-tap">
            <a:extLst>
              <a:ext uri="{FF2B5EF4-FFF2-40B4-BE49-F238E27FC236}">
                <a16:creationId xmlns:a16="http://schemas.microsoft.com/office/drawing/2014/main" id="{6B999DDA-62FA-4A7E-BBF9-40D1A20AF99E}"/>
              </a:ext>
            </a:extLst>
          </p:cNvPr>
          <p:cNvSpPr/>
          <p:nvPr/>
        </p:nvSpPr>
        <p:spPr>
          <a:xfrm>
            <a:off x="8929800" y="1603909"/>
            <a:ext cx="30480" cy="30480"/>
          </a:xfrm>
          <a:prstGeom prst="ellipse">
            <a:avLst/>
          </a:prstGeom>
          <a:solidFill>
            <a:srgbClr val="B960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8" name="object-085: RAW 旁路">
            <a:extLst>
              <a:ext uri="{FF2B5EF4-FFF2-40B4-BE49-F238E27FC236}">
                <a16:creationId xmlns:a16="http://schemas.microsoft.com/office/drawing/2014/main" id="{72B9973C-FC5E-456A-8F68-248CF7856BB7}"/>
              </a:ext>
            </a:extLst>
          </p:cNvPr>
          <p:cNvSpPr txBox="1"/>
          <p:nvPr/>
        </p:nvSpPr>
        <p:spPr>
          <a:xfrm>
            <a:off x="9293846" y="1037184"/>
            <a:ext cx="41998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859" name="object-086: RAW / ISP 二选一 · 帧打包">
            <a:extLst>
              <a:ext uri="{FF2B5EF4-FFF2-40B4-BE49-F238E27FC236}">
                <a16:creationId xmlns:a16="http://schemas.microsoft.com/office/drawing/2014/main" id="{33365FA1-2E05-4350-9729-DDEC1D772F4C}"/>
              </a:ext>
            </a:extLst>
          </p:cNvPr>
          <p:cNvSpPr txBox="1"/>
          <p:nvPr/>
        </p:nvSpPr>
        <p:spPr>
          <a:xfrm>
            <a:off x="9438563" y="2029207"/>
            <a:ext cx="107882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RAW / ISP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二选一</a:t>
            </a:r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·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帧打包</a:t>
            </a:r>
            <a:endParaRPr sz="7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0" name="isp-gb">
            <a:extLst>
              <a:ext uri="{FF2B5EF4-FFF2-40B4-BE49-F238E27FC236}">
                <a16:creationId xmlns:a16="http://schemas.microsoft.com/office/drawing/2014/main" id="{3F1E7E01-A7B9-4139-9377-4BE9A2B8B519}"/>
              </a:ext>
            </a:extLst>
          </p:cNvPr>
          <p:cNvSpPr/>
          <p:nvPr/>
        </p:nvSpPr>
        <p:spPr>
          <a:xfrm>
            <a:off x="4789600" y="1839283"/>
            <a:ext cx="4206240" cy="585893"/>
          </a:xfrm>
          <a:custGeom>
            <a:avLst/>
            <a:gdLst/>
            <a:ahLst/>
            <a:cxnLst/>
            <a:rect l="0" t="0" r="r" b="b"/>
            <a:pathLst>
              <a:path w="10094976" h="1406144" fill="none">
                <a:moveTo>
                  <a:pt x="10094976" y="0"/>
                </a:moveTo>
                <a:lnTo>
                  <a:pt x="9973056" y="0"/>
                </a:lnTo>
                <a:lnTo>
                  <a:pt x="9973056" y="1113536"/>
                </a:lnTo>
                <a:cubicBezTo>
                  <a:pt x="9777984" y="1113536"/>
                  <a:pt x="9777984" y="1324864"/>
                  <a:pt x="9973056" y="1324864"/>
                </a:cubicBezTo>
                <a:lnTo>
                  <a:pt x="9973056" y="1406144"/>
                </a:lnTo>
                <a:lnTo>
                  <a:pt x="178816" y="1406144"/>
                </a:lnTo>
                <a:lnTo>
                  <a:pt x="178816" y="1048512"/>
                </a:lnTo>
                <a:lnTo>
                  <a:pt x="178816" y="837184"/>
                </a:lnTo>
                <a:lnTo>
                  <a:pt x="178816" y="772160"/>
                </a:lnTo>
              </a:path>
            </a:pathLst>
          </a:custGeom>
          <a:noFill/>
          <a:ln w="25197" cap="flat">
            <a:solidFill>
              <a:srgbClr val="187C78"/>
            </a:solidFill>
            <a:custDash>
              <a:ds d="322581" sp="193548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1" name="object-088: ISP 中间数据 ↔ GB">
            <a:extLst>
              <a:ext uri="{FF2B5EF4-FFF2-40B4-BE49-F238E27FC236}">
                <a16:creationId xmlns:a16="http://schemas.microsoft.com/office/drawing/2014/main" id="{C863B04F-CF8F-4E7E-B05F-17A7C6830FA7}"/>
              </a:ext>
            </a:extLst>
          </p:cNvPr>
          <p:cNvSpPr txBox="1"/>
          <p:nvPr/>
        </p:nvSpPr>
        <p:spPr>
          <a:xfrm>
            <a:off x="8092263" y="2152994"/>
            <a:ext cx="81913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中间数据</a:t>
            </a:r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 ↔ GB</a:t>
            </a:r>
          </a:p>
        </p:txBody>
      </p:sp>
      <p:sp>
        <p:nvSpPr>
          <p:cNvPr id="862" name="debug-sba">
            <a:extLst>
              <a:ext uri="{FF2B5EF4-FFF2-40B4-BE49-F238E27FC236}">
                <a16:creationId xmlns:a16="http://schemas.microsoft.com/office/drawing/2014/main" id="{1596E9AB-5246-4524-A9F6-2A23D87B0F25}"/>
              </a:ext>
            </a:extLst>
          </p:cNvPr>
          <p:cNvSpPr/>
          <p:nvPr/>
        </p:nvSpPr>
        <p:spPr>
          <a:xfrm>
            <a:off x="1341973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3" name="object-090: Debug / SBA">
            <a:extLst>
              <a:ext uri="{FF2B5EF4-FFF2-40B4-BE49-F238E27FC236}">
                <a16:creationId xmlns:a16="http://schemas.microsoft.com/office/drawing/2014/main" id="{76CF0374-0CD8-4165-8BEC-7B69F47D7596}"/>
              </a:ext>
            </a:extLst>
          </p:cNvPr>
          <p:cNvSpPr txBox="1"/>
          <p:nvPr/>
        </p:nvSpPr>
        <p:spPr>
          <a:xfrm>
            <a:off x="1441952" y="2535474"/>
            <a:ext cx="66364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864" name="object-091: JTAG 总线访问">
            <a:extLst>
              <a:ext uri="{FF2B5EF4-FFF2-40B4-BE49-F238E27FC236}">
                <a16:creationId xmlns:a16="http://schemas.microsoft.com/office/drawing/2014/main" id="{71B37969-8767-42AE-B670-5DBB47120046}"/>
              </a:ext>
            </a:extLst>
          </p:cNvPr>
          <p:cNvSpPr txBox="1"/>
          <p:nvPr/>
        </p:nvSpPr>
        <p:spPr>
          <a:xfrm>
            <a:off x="1429128" y="2664709"/>
            <a:ext cx="6892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865" name="idma-master">
            <a:extLst>
              <a:ext uri="{FF2B5EF4-FFF2-40B4-BE49-F238E27FC236}">
                <a16:creationId xmlns:a16="http://schemas.microsoft.com/office/drawing/2014/main" id="{D060EB5F-64EB-4075-A7B4-E3F6B610531A}"/>
              </a:ext>
            </a:extLst>
          </p:cNvPr>
          <p:cNvSpPr/>
          <p:nvPr/>
        </p:nvSpPr>
        <p:spPr>
          <a:xfrm>
            <a:off x="3814240" y="2508922"/>
            <a:ext cx="931333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6" name="object-093: iDMA 数据主口">
            <a:extLst>
              <a:ext uri="{FF2B5EF4-FFF2-40B4-BE49-F238E27FC236}">
                <a16:creationId xmlns:a16="http://schemas.microsoft.com/office/drawing/2014/main" id="{E6FB1EA0-D2F4-4D31-BB6F-D110A206E95D}"/>
              </a:ext>
            </a:extLst>
          </p:cNvPr>
          <p:cNvSpPr txBox="1"/>
          <p:nvPr/>
        </p:nvSpPr>
        <p:spPr>
          <a:xfrm>
            <a:off x="3912017" y="2535474"/>
            <a:ext cx="73577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</a:t>
            </a:r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数据主口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7" name="object-094: 内存 ↔ 内存">
            <a:extLst>
              <a:ext uri="{FF2B5EF4-FFF2-40B4-BE49-F238E27FC236}">
                <a16:creationId xmlns:a16="http://schemas.microsoft.com/office/drawing/2014/main" id="{C5EAB3A8-AD19-41BD-AC1F-1AE648CAF936}"/>
              </a:ext>
            </a:extLst>
          </p:cNvPr>
          <p:cNvSpPr txBox="1"/>
          <p:nvPr/>
        </p:nvSpPr>
        <p:spPr>
          <a:xfrm>
            <a:off x="3973732" y="2664709"/>
            <a:ext cx="6123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↔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8" name="slink-rx">
            <a:extLst>
              <a:ext uri="{FF2B5EF4-FFF2-40B4-BE49-F238E27FC236}">
                <a16:creationId xmlns:a16="http://schemas.microsoft.com/office/drawing/2014/main" id="{A4231CCA-B895-4849-AB55-04416D5EBB9F}"/>
              </a:ext>
            </a:extLst>
          </p:cNvPr>
          <p:cNvSpPr/>
          <p:nvPr/>
        </p:nvSpPr>
        <p:spPr>
          <a:xfrm>
            <a:off x="4965706" y="2508922"/>
            <a:ext cx="9652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9" name="object-096: Serial Link RX">
            <a:extLst>
              <a:ext uri="{FF2B5EF4-FFF2-40B4-BE49-F238E27FC236}">
                <a16:creationId xmlns:a16="http://schemas.microsoft.com/office/drawing/2014/main" id="{365954D2-D846-4F1C-BDFB-76D16D4FFB61}"/>
              </a:ext>
            </a:extLst>
          </p:cNvPr>
          <p:cNvSpPr txBox="1"/>
          <p:nvPr/>
        </p:nvSpPr>
        <p:spPr>
          <a:xfrm>
            <a:off x="5096447" y="2535474"/>
            <a:ext cx="7037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870" name="object-097: 远端请求入口">
            <a:extLst>
              <a:ext uri="{FF2B5EF4-FFF2-40B4-BE49-F238E27FC236}">
                <a16:creationId xmlns:a16="http://schemas.microsoft.com/office/drawing/2014/main" id="{217A0520-5917-422D-9C30-2EB747C9B74F}"/>
              </a:ext>
            </a:extLst>
          </p:cNvPr>
          <p:cNvSpPr txBox="1"/>
          <p:nvPr/>
        </p:nvSpPr>
        <p:spPr>
          <a:xfrm>
            <a:off x="5140530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871" name="vga-master">
            <a:extLst>
              <a:ext uri="{FF2B5EF4-FFF2-40B4-BE49-F238E27FC236}">
                <a16:creationId xmlns:a16="http://schemas.microsoft.com/office/drawing/2014/main" id="{B2224093-8A15-455D-B781-59CA21A6C635}"/>
              </a:ext>
            </a:extLst>
          </p:cNvPr>
          <p:cNvSpPr/>
          <p:nvPr/>
        </p:nvSpPr>
        <p:spPr>
          <a:xfrm>
            <a:off x="6151040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2" name="object-099: VGA">
            <a:extLst>
              <a:ext uri="{FF2B5EF4-FFF2-40B4-BE49-F238E27FC236}">
                <a16:creationId xmlns:a16="http://schemas.microsoft.com/office/drawing/2014/main" id="{25BE3015-0005-4226-9C84-4545B442FD9B}"/>
              </a:ext>
            </a:extLst>
          </p:cNvPr>
          <p:cNvSpPr txBox="1"/>
          <p:nvPr/>
        </p:nvSpPr>
        <p:spPr>
          <a:xfrm>
            <a:off x="6468225" y="2535474"/>
            <a:ext cx="22923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873" name="object-100: 帧缓冲读取">
            <a:extLst>
              <a:ext uri="{FF2B5EF4-FFF2-40B4-BE49-F238E27FC236}">
                <a16:creationId xmlns:a16="http://schemas.microsoft.com/office/drawing/2014/main" id="{FD70D967-D2C8-496B-BE8F-B24F3DD6FBA0}"/>
              </a:ext>
            </a:extLst>
          </p:cNvPr>
          <p:cNvSpPr txBox="1"/>
          <p:nvPr/>
        </p:nvSpPr>
        <p:spPr>
          <a:xfrm>
            <a:off x="6326360" y="2664709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874" name="usb-master">
            <a:extLst>
              <a:ext uri="{FF2B5EF4-FFF2-40B4-BE49-F238E27FC236}">
                <a16:creationId xmlns:a16="http://schemas.microsoft.com/office/drawing/2014/main" id="{31F02D86-354D-48BC-8FB3-AC8A1F1E3AF0}"/>
              </a:ext>
            </a:extLst>
          </p:cNvPr>
          <p:cNvSpPr/>
          <p:nvPr/>
        </p:nvSpPr>
        <p:spPr>
          <a:xfrm>
            <a:off x="7234773" y="2508922"/>
            <a:ext cx="846667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5" name="object-102: USB DMA">
            <a:extLst>
              <a:ext uri="{FF2B5EF4-FFF2-40B4-BE49-F238E27FC236}">
                <a16:creationId xmlns:a16="http://schemas.microsoft.com/office/drawing/2014/main" id="{1870D71B-ADC3-4D4F-BC58-D7D3E47D4E76}"/>
              </a:ext>
            </a:extLst>
          </p:cNvPr>
          <p:cNvSpPr txBox="1"/>
          <p:nvPr/>
        </p:nvSpPr>
        <p:spPr>
          <a:xfrm>
            <a:off x="7404031" y="2535474"/>
            <a:ext cx="50815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876" name="object-103: OHCI 主口">
            <a:extLst>
              <a:ext uri="{FF2B5EF4-FFF2-40B4-BE49-F238E27FC236}">
                <a16:creationId xmlns:a16="http://schemas.microsoft.com/office/drawing/2014/main" id="{191E51EC-6998-4A14-9357-54E80C396DC6}"/>
              </a:ext>
            </a:extLst>
          </p:cNvPr>
          <p:cNvSpPr txBox="1"/>
          <p:nvPr/>
        </p:nvSpPr>
        <p:spPr>
          <a:xfrm>
            <a:off x="7408840" y="2664709"/>
            <a:ext cx="4985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77" name="ext-master">
            <a:extLst>
              <a:ext uri="{FF2B5EF4-FFF2-40B4-BE49-F238E27FC236}">
                <a16:creationId xmlns:a16="http://schemas.microsoft.com/office/drawing/2014/main" id="{D41F2F3F-DB15-4EE3-B2D0-6286EE3AE509}"/>
              </a:ext>
            </a:extLst>
          </p:cNvPr>
          <p:cNvSpPr/>
          <p:nvPr/>
        </p:nvSpPr>
        <p:spPr>
          <a:xfrm>
            <a:off x="8318506" y="2508922"/>
            <a:ext cx="1253067" cy="338667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8" name="object-105: AXI 外部 master">
            <a:extLst>
              <a:ext uri="{FF2B5EF4-FFF2-40B4-BE49-F238E27FC236}">
                <a16:creationId xmlns:a16="http://schemas.microsoft.com/office/drawing/2014/main" id="{A36E69F6-7BBB-41B0-9F39-C22405688F34}"/>
              </a:ext>
            </a:extLst>
          </p:cNvPr>
          <p:cNvSpPr txBox="1"/>
          <p:nvPr/>
        </p:nvSpPr>
        <p:spPr>
          <a:xfrm>
            <a:off x="8541885" y="2535474"/>
            <a:ext cx="80631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879" name="object-106: 可选扩展入口">
            <a:extLst>
              <a:ext uri="{FF2B5EF4-FFF2-40B4-BE49-F238E27FC236}">
                <a16:creationId xmlns:a16="http://schemas.microsoft.com/office/drawing/2014/main" id="{F71D184D-3485-4A10-B629-6B91027A5CF1}"/>
              </a:ext>
            </a:extLst>
          </p:cNvPr>
          <p:cNvSpPr txBox="1"/>
          <p:nvPr/>
        </p:nvSpPr>
        <p:spPr>
          <a:xfrm>
            <a:off x="8637264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cxnSp>
        <p:nvCxnSpPr>
          <p:cNvPr id="880" name="cpu-master">
            <a:extLst>
              <a:ext uri="{FF2B5EF4-FFF2-40B4-BE49-F238E27FC236}">
                <a16:creationId xmlns:a16="http://schemas.microsoft.com/office/drawing/2014/main" id="{FF4EEB96-E348-415C-B377-A5ADD617D4D2}"/>
              </a:ext>
            </a:extLst>
          </p:cNvPr>
          <p:cNvCxnSpPr>
            <a:cxnSpLocks/>
            <a:endCxn id="889" idx="0"/>
          </p:cNvCxnSpPr>
          <p:nvPr/>
        </p:nvCxnSpPr>
        <p:spPr>
          <a:xfrm>
            <a:off x="749306" y="1839283"/>
            <a:ext cx="0" cy="1134533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81" name="ara-master">
            <a:extLst>
              <a:ext uri="{FF2B5EF4-FFF2-40B4-BE49-F238E27FC236}">
                <a16:creationId xmlns:a16="http://schemas.microsoft.com/office/drawing/2014/main" id="{DB1A5D2C-422A-4770-9E00-CD067600FA1E}"/>
              </a:ext>
            </a:extLst>
          </p:cNvPr>
          <p:cNvCxnSpPr>
            <a:cxnSpLocks/>
          </p:cNvCxnSpPr>
          <p:nvPr/>
        </p:nvCxnSpPr>
        <p:spPr>
          <a:xfrm>
            <a:off x="3052240" y="1978136"/>
            <a:ext cx="0" cy="99568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82" name="object-109: CPU AXI">
            <a:extLst>
              <a:ext uri="{FF2B5EF4-FFF2-40B4-BE49-F238E27FC236}">
                <a16:creationId xmlns:a16="http://schemas.microsoft.com/office/drawing/2014/main" id="{2EE32942-FF5A-4F6E-886B-B3990919F08A}"/>
              </a:ext>
            </a:extLst>
          </p:cNvPr>
          <p:cNvSpPr txBox="1"/>
          <p:nvPr/>
        </p:nvSpPr>
        <p:spPr>
          <a:xfrm>
            <a:off x="267636" y="2713042"/>
            <a:ext cx="4071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CPU AXI</a:t>
            </a:r>
          </a:p>
        </p:txBody>
      </p:sp>
      <p:sp>
        <p:nvSpPr>
          <p:cNvPr id="883" name="object-110: Ara 普通地址">
            <a:extLst>
              <a:ext uri="{FF2B5EF4-FFF2-40B4-BE49-F238E27FC236}">
                <a16:creationId xmlns:a16="http://schemas.microsoft.com/office/drawing/2014/main" id="{245061BD-FC91-47D9-88A0-2FD1347A1C20}"/>
              </a:ext>
            </a:extLst>
          </p:cNvPr>
          <p:cNvSpPr txBox="1"/>
          <p:nvPr/>
        </p:nvSpPr>
        <p:spPr>
          <a:xfrm>
            <a:off x="2376967" y="2671482"/>
            <a:ext cx="6075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Ara AXI64</a:t>
            </a:r>
          </a:p>
        </p:txBody>
      </p:sp>
      <p:sp>
        <p:nvSpPr>
          <p:cNvPr id="884" name="axi-crossbar">
            <a:extLst>
              <a:ext uri="{FF2B5EF4-FFF2-40B4-BE49-F238E27FC236}">
                <a16:creationId xmlns:a16="http://schemas.microsoft.com/office/drawing/2014/main" id="{30D056BC-A9A4-4B51-9CC0-7274C949CB73}"/>
              </a:ext>
            </a:extLst>
          </p:cNvPr>
          <p:cNvSpPr/>
          <p:nvPr/>
        </p:nvSpPr>
        <p:spPr>
          <a:xfrm>
            <a:off x="241306" y="3024616"/>
            <a:ext cx="9584267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85" name="object-112: AXI Crossbar">
            <a:extLst>
              <a:ext uri="{FF2B5EF4-FFF2-40B4-BE49-F238E27FC236}">
                <a16:creationId xmlns:a16="http://schemas.microsoft.com/office/drawing/2014/main" id="{AB49511B-F383-45E4-AB81-15319A3F9D0A}"/>
              </a:ext>
            </a:extLst>
          </p:cNvPr>
          <p:cNvSpPr txBox="1"/>
          <p:nvPr/>
        </p:nvSpPr>
        <p:spPr>
          <a:xfrm>
            <a:off x="4575782" y="3089976"/>
            <a:ext cx="915315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886" name="object-113: 7 × 6 基础端口 + 扩展 | 64 bit 数据 / 48 bit 地址 | 地址译码 / 各目标仲裁">
            <a:extLst>
              <a:ext uri="{FF2B5EF4-FFF2-40B4-BE49-F238E27FC236}">
                <a16:creationId xmlns:a16="http://schemas.microsoft.com/office/drawing/2014/main" id="{FBE91108-953C-4CEE-B85B-DAEFE394EDAF}"/>
              </a:ext>
            </a:extLst>
          </p:cNvPr>
          <p:cNvSpPr txBox="1"/>
          <p:nvPr/>
        </p:nvSpPr>
        <p:spPr>
          <a:xfrm>
            <a:off x="2815167" y="3272993"/>
            <a:ext cx="44365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47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7 × 6 基础端口 + 扩展 | 64 bit 数据 / 48 bit 地址 | 地址译码 / 各目标仲裁</a:t>
            </a:r>
          </a:p>
        </p:txBody>
      </p:sp>
      <p:sp>
        <p:nvSpPr>
          <p:cNvPr id="887" name="object-114: 输入侧 AXI RT：按配置可选">
            <a:extLst>
              <a:ext uri="{FF2B5EF4-FFF2-40B4-BE49-F238E27FC236}">
                <a16:creationId xmlns:a16="http://schemas.microsoft.com/office/drawing/2014/main" id="{65CC9354-9373-44A2-AA26-F79E5709F129}"/>
              </a:ext>
            </a:extLst>
          </p:cNvPr>
          <p:cNvSpPr txBox="1"/>
          <p:nvPr/>
        </p:nvSpPr>
        <p:spPr>
          <a:xfrm>
            <a:off x="317441" y="3328279"/>
            <a:ext cx="95859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</a:t>
            </a:r>
            <a:r>
              <a:rPr sz="6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RT：按配置可选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8" name="object-115: 未映射请求：DECERR">
            <a:extLst>
              <a:ext uri="{FF2B5EF4-FFF2-40B4-BE49-F238E27FC236}">
                <a16:creationId xmlns:a16="http://schemas.microsoft.com/office/drawing/2014/main" id="{439D34EE-5A46-40DF-B869-C096662E2F18}"/>
              </a:ext>
            </a:extLst>
          </p:cNvPr>
          <p:cNvSpPr txBox="1"/>
          <p:nvPr/>
        </p:nvSpPr>
        <p:spPr>
          <a:xfrm>
            <a:off x="8896251" y="3314636"/>
            <a:ext cx="755015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9" name="master-port-0">
            <a:extLst>
              <a:ext uri="{FF2B5EF4-FFF2-40B4-BE49-F238E27FC236}">
                <a16:creationId xmlns:a16="http://schemas.microsoft.com/office/drawing/2014/main" id="{0F326333-1538-41CD-932C-C2F8487F53DD}"/>
              </a:ext>
            </a:extLst>
          </p:cNvPr>
          <p:cNvSpPr/>
          <p:nvPr/>
        </p:nvSpPr>
        <p:spPr>
          <a:xfrm>
            <a:off x="5867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0" name="object-117: S0">
            <a:extLst>
              <a:ext uri="{FF2B5EF4-FFF2-40B4-BE49-F238E27FC236}">
                <a16:creationId xmlns:a16="http://schemas.microsoft.com/office/drawing/2014/main" id="{78E2AFC9-AAF7-46E1-9DFE-58FE70D5E1E2}"/>
              </a:ext>
            </a:extLst>
          </p:cNvPr>
          <p:cNvSpPr txBox="1"/>
          <p:nvPr/>
        </p:nvSpPr>
        <p:spPr>
          <a:xfrm>
            <a:off x="7020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cxnSp>
        <p:nvCxnSpPr>
          <p:cNvPr id="891" name="master-input-1">
            <a:extLst>
              <a:ext uri="{FF2B5EF4-FFF2-40B4-BE49-F238E27FC236}">
                <a16:creationId xmlns:a16="http://schemas.microsoft.com/office/drawing/2014/main" id="{ECA3108C-246D-415A-B588-68B49F8AC203}"/>
              </a:ext>
            </a:extLst>
          </p:cNvPr>
          <p:cNvCxnSpPr>
            <a:cxnSpLocks/>
            <a:stCxn id="862" idx="2"/>
            <a:endCxn id="892" idx="0"/>
          </p:cNvCxnSpPr>
          <p:nvPr/>
        </p:nvCxnSpPr>
        <p:spPr>
          <a:xfrm flipH="1">
            <a:off x="1772080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2" name="master-port-1">
            <a:extLst>
              <a:ext uri="{FF2B5EF4-FFF2-40B4-BE49-F238E27FC236}">
                <a16:creationId xmlns:a16="http://schemas.microsoft.com/office/drawing/2014/main" id="{4553B0C7-9421-4373-B12A-C9174C677111}"/>
              </a:ext>
            </a:extLst>
          </p:cNvPr>
          <p:cNvSpPr/>
          <p:nvPr/>
        </p:nvSpPr>
        <p:spPr>
          <a:xfrm>
            <a:off x="160952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3" name="object-120: S1">
            <a:extLst>
              <a:ext uri="{FF2B5EF4-FFF2-40B4-BE49-F238E27FC236}">
                <a16:creationId xmlns:a16="http://schemas.microsoft.com/office/drawing/2014/main" id="{3F43181B-DE1D-484D-B55A-742D23FD99AE}"/>
              </a:ext>
            </a:extLst>
          </p:cNvPr>
          <p:cNvSpPr txBox="1"/>
          <p:nvPr/>
        </p:nvSpPr>
        <p:spPr>
          <a:xfrm>
            <a:off x="172479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894" name="master-port-2">
            <a:extLst>
              <a:ext uri="{FF2B5EF4-FFF2-40B4-BE49-F238E27FC236}">
                <a16:creationId xmlns:a16="http://schemas.microsoft.com/office/drawing/2014/main" id="{602474F8-334C-4058-878B-BB667B6B2687}"/>
              </a:ext>
            </a:extLst>
          </p:cNvPr>
          <p:cNvSpPr/>
          <p:nvPr/>
        </p:nvSpPr>
        <p:spPr>
          <a:xfrm>
            <a:off x="28896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5" name="object-122: S2">
            <a:extLst>
              <a:ext uri="{FF2B5EF4-FFF2-40B4-BE49-F238E27FC236}">
                <a16:creationId xmlns:a16="http://schemas.microsoft.com/office/drawing/2014/main" id="{6EABCA1F-85F6-4ABE-BF62-5018DF89476E}"/>
              </a:ext>
            </a:extLst>
          </p:cNvPr>
          <p:cNvSpPr txBox="1"/>
          <p:nvPr/>
        </p:nvSpPr>
        <p:spPr>
          <a:xfrm>
            <a:off x="300495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cxnSp>
        <p:nvCxnSpPr>
          <p:cNvPr id="896" name="master-input-3">
            <a:extLst>
              <a:ext uri="{FF2B5EF4-FFF2-40B4-BE49-F238E27FC236}">
                <a16:creationId xmlns:a16="http://schemas.microsoft.com/office/drawing/2014/main" id="{41BDE088-AF36-4BF2-8B7A-C3BCBB0DD0E1}"/>
              </a:ext>
            </a:extLst>
          </p:cNvPr>
          <p:cNvCxnSpPr>
            <a:cxnSpLocks/>
            <a:stCxn id="865" idx="2"/>
            <a:endCxn id="898" idx="0"/>
          </p:cNvCxnSpPr>
          <p:nvPr/>
        </p:nvCxnSpPr>
        <p:spPr>
          <a:xfrm flipH="1">
            <a:off x="4278214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7" name="master-port-3">
            <a:extLst>
              <a:ext uri="{FF2B5EF4-FFF2-40B4-BE49-F238E27FC236}">
                <a16:creationId xmlns:a16="http://schemas.microsoft.com/office/drawing/2014/main" id="{C18A6326-AF43-41B2-B23E-331005ADBDC7}"/>
              </a:ext>
            </a:extLst>
          </p:cNvPr>
          <p:cNvSpPr/>
          <p:nvPr/>
        </p:nvSpPr>
        <p:spPr>
          <a:xfrm>
            <a:off x="41156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8" name="object-125: S3">
            <a:extLst>
              <a:ext uri="{FF2B5EF4-FFF2-40B4-BE49-F238E27FC236}">
                <a16:creationId xmlns:a16="http://schemas.microsoft.com/office/drawing/2014/main" id="{6FAAD788-A730-403A-9234-9AEE68214ED7}"/>
              </a:ext>
            </a:extLst>
          </p:cNvPr>
          <p:cNvSpPr txBox="1"/>
          <p:nvPr/>
        </p:nvSpPr>
        <p:spPr>
          <a:xfrm>
            <a:off x="42309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cxnSp>
        <p:nvCxnSpPr>
          <p:cNvPr id="899" name="master-input-4">
            <a:extLst>
              <a:ext uri="{FF2B5EF4-FFF2-40B4-BE49-F238E27FC236}">
                <a16:creationId xmlns:a16="http://schemas.microsoft.com/office/drawing/2014/main" id="{63194A64-7997-47D4-9B67-6A3B8A83FBA5}"/>
              </a:ext>
            </a:extLst>
          </p:cNvPr>
          <p:cNvCxnSpPr>
            <a:cxnSpLocks/>
            <a:stCxn id="868" idx="2"/>
            <a:endCxn id="900" idx="0"/>
          </p:cNvCxnSpPr>
          <p:nvPr/>
        </p:nvCxnSpPr>
        <p:spPr>
          <a:xfrm flipH="1">
            <a:off x="5446613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0" name="master-port-4">
            <a:extLst>
              <a:ext uri="{FF2B5EF4-FFF2-40B4-BE49-F238E27FC236}">
                <a16:creationId xmlns:a16="http://schemas.microsoft.com/office/drawing/2014/main" id="{DB92E762-D25D-4D20-BAFE-7089E116CA62}"/>
              </a:ext>
            </a:extLst>
          </p:cNvPr>
          <p:cNvSpPr/>
          <p:nvPr/>
        </p:nvSpPr>
        <p:spPr>
          <a:xfrm>
            <a:off x="52840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1" name="object-128: S4">
            <a:extLst>
              <a:ext uri="{FF2B5EF4-FFF2-40B4-BE49-F238E27FC236}">
                <a16:creationId xmlns:a16="http://schemas.microsoft.com/office/drawing/2014/main" id="{DF1FF693-6631-4141-920A-04372833575E}"/>
              </a:ext>
            </a:extLst>
          </p:cNvPr>
          <p:cNvSpPr txBox="1"/>
          <p:nvPr/>
        </p:nvSpPr>
        <p:spPr>
          <a:xfrm>
            <a:off x="53993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cxnSp>
        <p:nvCxnSpPr>
          <p:cNvPr id="902" name="master-input-5">
            <a:extLst>
              <a:ext uri="{FF2B5EF4-FFF2-40B4-BE49-F238E27FC236}">
                <a16:creationId xmlns:a16="http://schemas.microsoft.com/office/drawing/2014/main" id="{8ADECD2D-C41B-4634-88FE-5A08E996B139}"/>
              </a:ext>
            </a:extLst>
          </p:cNvPr>
          <p:cNvCxnSpPr>
            <a:cxnSpLocks/>
            <a:stCxn id="871" idx="2"/>
            <a:endCxn id="904" idx="0"/>
          </p:cNvCxnSpPr>
          <p:nvPr/>
        </p:nvCxnSpPr>
        <p:spPr>
          <a:xfrm flipH="1">
            <a:off x="6581147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3" name="master-port-5">
            <a:extLst>
              <a:ext uri="{FF2B5EF4-FFF2-40B4-BE49-F238E27FC236}">
                <a16:creationId xmlns:a16="http://schemas.microsoft.com/office/drawing/2014/main" id="{FE570239-49B0-4DE8-9C5D-20F4362D2680}"/>
              </a:ext>
            </a:extLst>
          </p:cNvPr>
          <p:cNvSpPr/>
          <p:nvPr/>
        </p:nvSpPr>
        <p:spPr>
          <a:xfrm>
            <a:off x="641858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4" name="object-131: S5">
            <a:extLst>
              <a:ext uri="{FF2B5EF4-FFF2-40B4-BE49-F238E27FC236}">
                <a16:creationId xmlns:a16="http://schemas.microsoft.com/office/drawing/2014/main" id="{C2B9F0FF-B46A-4399-9351-9076AE74ECA0}"/>
              </a:ext>
            </a:extLst>
          </p:cNvPr>
          <p:cNvSpPr txBox="1"/>
          <p:nvPr/>
        </p:nvSpPr>
        <p:spPr>
          <a:xfrm>
            <a:off x="653385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cxnSp>
        <p:nvCxnSpPr>
          <p:cNvPr id="905" name="master-input-6">
            <a:extLst>
              <a:ext uri="{FF2B5EF4-FFF2-40B4-BE49-F238E27FC236}">
                <a16:creationId xmlns:a16="http://schemas.microsoft.com/office/drawing/2014/main" id="{4D4E99B8-184F-42BF-848F-3380EE686863}"/>
              </a:ext>
            </a:extLst>
          </p:cNvPr>
          <p:cNvCxnSpPr>
            <a:cxnSpLocks/>
            <a:stCxn id="874" idx="2"/>
            <a:endCxn id="906" idx="0"/>
          </p:cNvCxnSpPr>
          <p:nvPr/>
        </p:nvCxnSpPr>
        <p:spPr>
          <a:xfrm flipH="1">
            <a:off x="7658106" y="2847589"/>
            <a:ext cx="1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6" name="master-port-6">
            <a:extLst>
              <a:ext uri="{FF2B5EF4-FFF2-40B4-BE49-F238E27FC236}">
                <a16:creationId xmlns:a16="http://schemas.microsoft.com/office/drawing/2014/main" id="{03A533EB-AB9B-4BC9-9006-ACC3DD5559C6}"/>
              </a:ext>
            </a:extLst>
          </p:cNvPr>
          <p:cNvSpPr/>
          <p:nvPr/>
        </p:nvSpPr>
        <p:spPr>
          <a:xfrm>
            <a:off x="74955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7" name="object-134: S6">
            <a:extLst>
              <a:ext uri="{FF2B5EF4-FFF2-40B4-BE49-F238E27FC236}">
                <a16:creationId xmlns:a16="http://schemas.microsoft.com/office/drawing/2014/main" id="{8036A6ED-C505-4B1E-B4D3-FD1BDB6F4F22}"/>
              </a:ext>
            </a:extLst>
          </p:cNvPr>
          <p:cNvSpPr txBox="1"/>
          <p:nvPr/>
        </p:nvSpPr>
        <p:spPr>
          <a:xfrm>
            <a:off x="76108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cxnSp>
        <p:nvCxnSpPr>
          <p:cNvPr id="908" name="master-input-7">
            <a:extLst>
              <a:ext uri="{FF2B5EF4-FFF2-40B4-BE49-F238E27FC236}">
                <a16:creationId xmlns:a16="http://schemas.microsoft.com/office/drawing/2014/main" id="{CC4EED22-31D0-4799-9367-43732014B122}"/>
              </a:ext>
            </a:extLst>
          </p:cNvPr>
          <p:cNvCxnSpPr>
            <a:cxnSpLocks/>
            <a:stCxn id="877" idx="2"/>
            <a:endCxn id="910" idx="0"/>
          </p:cNvCxnSpPr>
          <p:nvPr/>
        </p:nvCxnSpPr>
        <p:spPr>
          <a:xfrm>
            <a:off x="8945040" y="2847589"/>
            <a:ext cx="1" cy="127581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09" name="master-port-7">
            <a:extLst>
              <a:ext uri="{FF2B5EF4-FFF2-40B4-BE49-F238E27FC236}">
                <a16:creationId xmlns:a16="http://schemas.microsoft.com/office/drawing/2014/main" id="{8CD622A4-E94F-49B7-9EE1-76B718FFF741}"/>
              </a:ext>
            </a:extLst>
          </p:cNvPr>
          <p:cNvSpPr/>
          <p:nvPr/>
        </p:nvSpPr>
        <p:spPr>
          <a:xfrm>
            <a:off x="87824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0" name="object-137: S_EXT">
            <a:extLst>
              <a:ext uri="{FF2B5EF4-FFF2-40B4-BE49-F238E27FC236}">
                <a16:creationId xmlns:a16="http://schemas.microsoft.com/office/drawing/2014/main" id="{A6672919-ACE5-43A4-B24D-02ED76BD260F}"/>
              </a:ext>
            </a:extLst>
          </p:cNvPr>
          <p:cNvSpPr txBox="1"/>
          <p:nvPr/>
        </p:nvSpPr>
        <p:spPr>
          <a:xfrm>
            <a:off x="8831227" y="2975170"/>
            <a:ext cx="22762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911" name="object-138: AXI master / 请求发起端">
            <a:extLst>
              <a:ext uri="{FF2B5EF4-FFF2-40B4-BE49-F238E27FC236}">
                <a16:creationId xmlns:a16="http://schemas.microsoft.com/office/drawing/2014/main" id="{6E968B6E-173B-423A-BB84-904B4B1C3F33}"/>
              </a:ext>
            </a:extLst>
          </p:cNvPr>
          <p:cNvSpPr txBox="1"/>
          <p:nvPr/>
        </p:nvSpPr>
        <p:spPr>
          <a:xfrm>
            <a:off x="3814240" y="2380500"/>
            <a:ext cx="104515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7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master / 请求发起端</a:t>
            </a:r>
          </a:p>
        </p:txBody>
      </p:sp>
      <p:cxnSp>
        <p:nvCxnSpPr>
          <p:cNvPr id="912" name="target-output-0">
            <a:extLst>
              <a:ext uri="{FF2B5EF4-FFF2-40B4-BE49-F238E27FC236}">
                <a16:creationId xmlns:a16="http://schemas.microsoft.com/office/drawing/2014/main" id="{0B0E9033-54B2-48D8-A4BA-1021732C78B5}"/>
              </a:ext>
            </a:extLst>
          </p:cNvPr>
          <p:cNvCxnSpPr/>
          <p:nvPr/>
        </p:nvCxnSpPr>
        <p:spPr>
          <a:xfrm>
            <a:off x="783173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3" name="target-port-0">
            <a:extLst>
              <a:ext uri="{FF2B5EF4-FFF2-40B4-BE49-F238E27FC236}">
                <a16:creationId xmlns:a16="http://schemas.microsoft.com/office/drawing/2014/main" id="{A3405BA2-C50F-44D0-A6DD-4AD5F991D969}"/>
              </a:ext>
            </a:extLst>
          </p:cNvPr>
          <p:cNvSpPr/>
          <p:nvPr/>
        </p:nvSpPr>
        <p:spPr>
          <a:xfrm>
            <a:off x="62061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4" name="object-141: M0">
            <a:extLst>
              <a:ext uri="{FF2B5EF4-FFF2-40B4-BE49-F238E27FC236}">
                <a16:creationId xmlns:a16="http://schemas.microsoft.com/office/drawing/2014/main" id="{3F291DD9-3BB4-4245-A46F-E73FAE70C3EC}"/>
              </a:ext>
            </a:extLst>
          </p:cNvPr>
          <p:cNvSpPr txBox="1"/>
          <p:nvPr/>
        </p:nvSpPr>
        <p:spPr>
          <a:xfrm>
            <a:off x="719854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915" name="debug-target">
            <a:extLst>
              <a:ext uri="{FF2B5EF4-FFF2-40B4-BE49-F238E27FC236}">
                <a16:creationId xmlns:a16="http://schemas.microsoft.com/office/drawing/2014/main" id="{FB1EF230-BA40-4795-B61E-DEED4108D14F}"/>
              </a:ext>
            </a:extLst>
          </p:cNvPr>
          <p:cNvSpPr/>
          <p:nvPr/>
        </p:nvSpPr>
        <p:spPr>
          <a:xfrm>
            <a:off x="241307" y="3701949"/>
            <a:ext cx="1083733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6" name="object-143: Debug 目标">
            <a:extLst>
              <a:ext uri="{FF2B5EF4-FFF2-40B4-BE49-F238E27FC236}">
                <a16:creationId xmlns:a16="http://schemas.microsoft.com/office/drawing/2014/main" id="{ED399EB3-5040-44B2-8ADF-7A62E2C276F4}"/>
              </a:ext>
            </a:extLst>
          </p:cNvPr>
          <p:cNvSpPr txBox="1"/>
          <p:nvPr/>
        </p:nvSpPr>
        <p:spPr>
          <a:xfrm>
            <a:off x="493030" y="3799997"/>
            <a:ext cx="58028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917" name="object-144: 调试模块地址窗口">
            <a:extLst>
              <a:ext uri="{FF2B5EF4-FFF2-40B4-BE49-F238E27FC236}">
                <a16:creationId xmlns:a16="http://schemas.microsoft.com/office/drawing/2014/main" id="{4439FC9B-E6E5-40DC-81F7-7402CB2AA92B}"/>
              </a:ext>
            </a:extLst>
          </p:cNvPr>
          <p:cNvSpPr txBox="1"/>
          <p:nvPr/>
        </p:nvSpPr>
        <p:spPr>
          <a:xfrm>
            <a:off x="372805" y="3932890"/>
            <a:ext cx="82073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调试模块地址窗口</a:t>
            </a:r>
          </a:p>
        </p:txBody>
      </p:sp>
      <p:cxnSp>
        <p:nvCxnSpPr>
          <p:cNvPr id="918" name="target-output-1">
            <a:extLst>
              <a:ext uri="{FF2B5EF4-FFF2-40B4-BE49-F238E27FC236}">
                <a16:creationId xmlns:a16="http://schemas.microsoft.com/office/drawing/2014/main" id="{268FC7FD-387F-4732-BA8A-D1ADA4FEB7C0}"/>
              </a:ext>
            </a:extLst>
          </p:cNvPr>
          <p:cNvCxnSpPr/>
          <p:nvPr/>
        </p:nvCxnSpPr>
        <p:spPr>
          <a:xfrm>
            <a:off x="2374906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9" name="target-port-1">
            <a:extLst>
              <a:ext uri="{FF2B5EF4-FFF2-40B4-BE49-F238E27FC236}">
                <a16:creationId xmlns:a16="http://schemas.microsoft.com/office/drawing/2014/main" id="{A6FC013D-4910-42B5-8190-821F38169B3C}"/>
              </a:ext>
            </a:extLst>
          </p:cNvPr>
          <p:cNvSpPr/>
          <p:nvPr/>
        </p:nvSpPr>
        <p:spPr>
          <a:xfrm>
            <a:off x="22123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0" name="object-147: M1">
            <a:extLst>
              <a:ext uri="{FF2B5EF4-FFF2-40B4-BE49-F238E27FC236}">
                <a16:creationId xmlns:a16="http://schemas.microsoft.com/office/drawing/2014/main" id="{721E8F9A-B021-40E1-9B2E-A43ECFD2C0B7}"/>
              </a:ext>
            </a:extLst>
          </p:cNvPr>
          <p:cNvSpPr txBox="1"/>
          <p:nvPr/>
        </p:nvSpPr>
        <p:spPr>
          <a:xfrm>
            <a:off x="2311587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921" name="reg-bridge">
            <a:extLst>
              <a:ext uri="{FF2B5EF4-FFF2-40B4-BE49-F238E27FC236}">
                <a16:creationId xmlns:a16="http://schemas.microsoft.com/office/drawing/2014/main" id="{605E5542-298C-42C7-9EEE-C221CC79B47E}"/>
              </a:ext>
            </a:extLst>
          </p:cNvPr>
          <p:cNvSpPr/>
          <p:nvPr/>
        </p:nvSpPr>
        <p:spPr>
          <a:xfrm>
            <a:off x="1528240" y="3701949"/>
            <a:ext cx="1693333" cy="5249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2" name="object-149: AXI → Regbus">
            <a:extLst>
              <a:ext uri="{FF2B5EF4-FFF2-40B4-BE49-F238E27FC236}">
                <a16:creationId xmlns:a16="http://schemas.microsoft.com/office/drawing/2014/main" id="{B5A7E11C-EBB3-4CBD-8B2B-68D85FC37EE0}"/>
              </a:ext>
            </a:extLst>
          </p:cNvPr>
          <p:cNvSpPr txBox="1"/>
          <p:nvPr/>
        </p:nvSpPr>
        <p:spPr>
          <a:xfrm>
            <a:off x="2008620" y="3799997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923" name="object-150: 原子适配 / 桥接 · 32 bit">
            <a:extLst>
              <a:ext uri="{FF2B5EF4-FFF2-40B4-BE49-F238E27FC236}">
                <a16:creationId xmlns:a16="http://schemas.microsoft.com/office/drawing/2014/main" id="{F0111D01-61C8-4DEB-A6EE-28B9C2A58D3E}"/>
              </a:ext>
            </a:extLst>
          </p:cNvPr>
          <p:cNvSpPr txBox="1"/>
          <p:nvPr/>
        </p:nvSpPr>
        <p:spPr>
          <a:xfrm>
            <a:off x="1830687" y="3932890"/>
            <a:ext cx="10884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桥接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· 32 bit</a:t>
            </a:r>
          </a:p>
        </p:txBody>
      </p:sp>
      <p:cxnSp>
        <p:nvCxnSpPr>
          <p:cNvPr id="924" name="target-output-2">
            <a:extLst>
              <a:ext uri="{FF2B5EF4-FFF2-40B4-BE49-F238E27FC236}">
                <a16:creationId xmlns:a16="http://schemas.microsoft.com/office/drawing/2014/main" id="{FFECC9CA-443B-4620-BC41-4FF2B894F371}"/>
              </a:ext>
            </a:extLst>
          </p:cNvPr>
          <p:cNvCxnSpPr/>
          <p:nvPr/>
        </p:nvCxnSpPr>
        <p:spPr>
          <a:xfrm>
            <a:off x="4254506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25" name="target-port-2">
            <a:extLst>
              <a:ext uri="{FF2B5EF4-FFF2-40B4-BE49-F238E27FC236}">
                <a16:creationId xmlns:a16="http://schemas.microsoft.com/office/drawing/2014/main" id="{2ACCD77A-F44D-479C-A71B-4CBA6C2CDD61}"/>
              </a:ext>
            </a:extLst>
          </p:cNvPr>
          <p:cNvSpPr/>
          <p:nvPr/>
        </p:nvSpPr>
        <p:spPr>
          <a:xfrm>
            <a:off x="40919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6" name="object-153: M2">
            <a:extLst>
              <a:ext uri="{FF2B5EF4-FFF2-40B4-BE49-F238E27FC236}">
                <a16:creationId xmlns:a16="http://schemas.microsoft.com/office/drawing/2014/main" id="{741BD7F3-728C-4190-BAEE-738CFEA227B4}"/>
              </a:ext>
            </a:extLst>
          </p:cNvPr>
          <p:cNvSpPr txBox="1"/>
          <p:nvPr/>
        </p:nvSpPr>
        <p:spPr>
          <a:xfrm>
            <a:off x="4191187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927" name="memory-target">
            <a:extLst>
              <a:ext uri="{FF2B5EF4-FFF2-40B4-BE49-F238E27FC236}">
                <a16:creationId xmlns:a16="http://schemas.microsoft.com/office/drawing/2014/main" id="{C003EEB8-E7DB-4700-9829-5258C7A80A8D}"/>
              </a:ext>
            </a:extLst>
          </p:cNvPr>
          <p:cNvSpPr/>
          <p:nvPr/>
        </p:nvSpPr>
        <p:spPr>
          <a:xfrm>
            <a:off x="3441706" y="3701949"/>
            <a:ext cx="16256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8" name="object-155: 主存 / SPM 共用目标">
            <a:extLst>
              <a:ext uri="{FF2B5EF4-FFF2-40B4-BE49-F238E27FC236}">
                <a16:creationId xmlns:a16="http://schemas.microsoft.com/office/drawing/2014/main" id="{908ED905-649A-4631-8BAE-49D301C712C7}"/>
              </a:ext>
            </a:extLst>
          </p:cNvPr>
          <p:cNvSpPr txBox="1"/>
          <p:nvPr/>
        </p:nvSpPr>
        <p:spPr>
          <a:xfrm>
            <a:off x="3759178" y="3743899"/>
            <a:ext cx="99065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cxnSp>
        <p:nvCxnSpPr>
          <p:cNvPr id="929" name="target-output-3">
            <a:extLst>
              <a:ext uri="{FF2B5EF4-FFF2-40B4-BE49-F238E27FC236}">
                <a16:creationId xmlns:a16="http://schemas.microsoft.com/office/drawing/2014/main" id="{AEEBB89A-B17A-4831-BEAF-00EAD409A51D}"/>
              </a:ext>
            </a:extLst>
          </p:cNvPr>
          <p:cNvCxnSpPr/>
          <p:nvPr/>
        </p:nvCxnSpPr>
        <p:spPr>
          <a:xfrm>
            <a:off x="5947840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0" name="target-port-3">
            <a:extLst>
              <a:ext uri="{FF2B5EF4-FFF2-40B4-BE49-F238E27FC236}">
                <a16:creationId xmlns:a16="http://schemas.microsoft.com/office/drawing/2014/main" id="{BEF56EB4-9E62-4F6B-B685-82A1A9B7D9C3}"/>
              </a:ext>
            </a:extLst>
          </p:cNvPr>
          <p:cNvSpPr/>
          <p:nvPr/>
        </p:nvSpPr>
        <p:spPr>
          <a:xfrm>
            <a:off x="5785280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1" name="object-158: M3">
            <a:extLst>
              <a:ext uri="{FF2B5EF4-FFF2-40B4-BE49-F238E27FC236}">
                <a16:creationId xmlns:a16="http://schemas.microsoft.com/office/drawing/2014/main" id="{19BEF351-3C7C-4364-B07E-B54FAFDD11E7}"/>
              </a:ext>
            </a:extLst>
          </p:cNvPr>
          <p:cNvSpPr txBox="1"/>
          <p:nvPr/>
        </p:nvSpPr>
        <p:spPr>
          <a:xfrm>
            <a:off x="5884521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932" name="idma-config">
            <a:extLst>
              <a:ext uri="{FF2B5EF4-FFF2-40B4-BE49-F238E27FC236}">
                <a16:creationId xmlns:a16="http://schemas.microsoft.com/office/drawing/2014/main" id="{906EA7A1-5652-4FFA-AE14-E9E6E4670187}"/>
              </a:ext>
            </a:extLst>
          </p:cNvPr>
          <p:cNvSpPr/>
          <p:nvPr/>
        </p:nvSpPr>
        <p:spPr>
          <a:xfrm>
            <a:off x="5270506" y="3701949"/>
            <a:ext cx="1354667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3" name="object-160: iDMA 配置">
            <a:extLst>
              <a:ext uri="{FF2B5EF4-FFF2-40B4-BE49-F238E27FC236}">
                <a16:creationId xmlns:a16="http://schemas.microsoft.com/office/drawing/2014/main" id="{468A9BCA-1A7B-4BE3-A31E-29444D97DAAB}"/>
              </a:ext>
            </a:extLst>
          </p:cNvPr>
          <p:cNvSpPr txBox="1"/>
          <p:nvPr/>
        </p:nvSpPr>
        <p:spPr>
          <a:xfrm>
            <a:off x="5682543" y="3766131"/>
            <a:ext cx="53059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934" name="object-161: 原子适配 → AXI→Reg">
            <a:extLst>
              <a:ext uri="{FF2B5EF4-FFF2-40B4-BE49-F238E27FC236}">
                <a16:creationId xmlns:a16="http://schemas.microsoft.com/office/drawing/2014/main" id="{409F0990-0F28-44F7-8F3F-DEB76F2BCA00}"/>
              </a:ext>
            </a:extLst>
          </p:cNvPr>
          <p:cNvSpPr txBox="1"/>
          <p:nvPr/>
        </p:nvSpPr>
        <p:spPr>
          <a:xfrm>
            <a:off x="5430071" y="3899024"/>
            <a:ext cx="103554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935" name="object-162: wrapper 内部寄存器">
            <a:extLst>
              <a:ext uri="{FF2B5EF4-FFF2-40B4-BE49-F238E27FC236}">
                <a16:creationId xmlns:a16="http://schemas.microsoft.com/office/drawing/2014/main" id="{37D0B260-A181-4043-BFF4-C7EA83B49656}"/>
              </a:ext>
            </a:extLst>
          </p:cNvPr>
          <p:cNvSpPr txBox="1"/>
          <p:nvPr/>
        </p:nvSpPr>
        <p:spPr>
          <a:xfrm>
            <a:off x="5474153" y="4007397"/>
            <a:ext cx="94737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cxnSp>
        <p:nvCxnSpPr>
          <p:cNvPr id="936" name="target-output-4">
            <a:extLst>
              <a:ext uri="{FF2B5EF4-FFF2-40B4-BE49-F238E27FC236}">
                <a16:creationId xmlns:a16="http://schemas.microsoft.com/office/drawing/2014/main" id="{2D1D5CD8-FC34-4CB6-A62D-678019C344CF}"/>
              </a:ext>
            </a:extLst>
          </p:cNvPr>
          <p:cNvCxnSpPr/>
          <p:nvPr/>
        </p:nvCxnSpPr>
        <p:spPr>
          <a:xfrm>
            <a:off x="7268633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7" name="target-port-4">
            <a:extLst>
              <a:ext uri="{FF2B5EF4-FFF2-40B4-BE49-F238E27FC236}">
                <a16:creationId xmlns:a16="http://schemas.microsoft.com/office/drawing/2014/main" id="{C27BE330-A10A-405A-A746-7CD1AB09706C}"/>
              </a:ext>
            </a:extLst>
          </p:cNvPr>
          <p:cNvSpPr/>
          <p:nvPr/>
        </p:nvSpPr>
        <p:spPr>
          <a:xfrm>
            <a:off x="710607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8" name="object-165: M4">
            <a:extLst>
              <a:ext uri="{FF2B5EF4-FFF2-40B4-BE49-F238E27FC236}">
                <a16:creationId xmlns:a16="http://schemas.microsoft.com/office/drawing/2014/main" id="{07882F63-6019-433E-AEF0-B6C15B433D91}"/>
              </a:ext>
            </a:extLst>
          </p:cNvPr>
          <p:cNvSpPr txBox="1"/>
          <p:nvPr/>
        </p:nvSpPr>
        <p:spPr>
          <a:xfrm>
            <a:off x="7150100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939" name="slink-tx">
            <a:extLst>
              <a:ext uri="{FF2B5EF4-FFF2-40B4-BE49-F238E27FC236}">
                <a16:creationId xmlns:a16="http://schemas.microsoft.com/office/drawing/2014/main" id="{718FF7D9-8D9B-4B52-8C5B-57629572744C}"/>
              </a:ext>
            </a:extLst>
          </p:cNvPr>
          <p:cNvSpPr/>
          <p:nvPr/>
        </p:nvSpPr>
        <p:spPr>
          <a:xfrm>
            <a:off x="6828367" y="3701949"/>
            <a:ext cx="880533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0" name="object-167: Serial Link TX">
            <a:extLst>
              <a:ext uri="{FF2B5EF4-FFF2-40B4-BE49-F238E27FC236}">
                <a16:creationId xmlns:a16="http://schemas.microsoft.com/office/drawing/2014/main" id="{CE6C92FE-D792-4731-91BF-92C5EB9D3372}"/>
              </a:ext>
            </a:extLst>
          </p:cNvPr>
          <p:cNvSpPr txBox="1"/>
          <p:nvPr/>
        </p:nvSpPr>
        <p:spPr>
          <a:xfrm>
            <a:off x="6862233" y="3799997"/>
            <a:ext cx="8128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941" name="object-168: 远端目标窗口">
            <a:extLst>
              <a:ext uri="{FF2B5EF4-FFF2-40B4-BE49-F238E27FC236}">
                <a16:creationId xmlns:a16="http://schemas.microsoft.com/office/drawing/2014/main" id="{AFD0E002-9F64-43C5-8E24-6B2D22B7B482}"/>
              </a:ext>
            </a:extLst>
          </p:cNvPr>
          <p:cNvSpPr txBox="1"/>
          <p:nvPr/>
        </p:nvSpPr>
        <p:spPr>
          <a:xfrm>
            <a:off x="6862233" y="3932890"/>
            <a:ext cx="8128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远端目标窗口</a:t>
            </a:r>
          </a:p>
        </p:txBody>
      </p:sp>
      <p:cxnSp>
        <p:nvCxnSpPr>
          <p:cNvPr id="942" name="target-output-ext">
            <a:extLst>
              <a:ext uri="{FF2B5EF4-FFF2-40B4-BE49-F238E27FC236}">
                <a16:creationId xmlns:a16="http://schemas.microsoft.com/office/drawing/2014/main" id="{7BE14BE3-9B63-4EF3-A33C-7F1A53D9C001}"/>
              </a:ext>
            </a:extLst>
          </p:cNvPr>
          <p:cNvCxnSpPr>
            <a:cxnSpLocks/>
            <a:stCxn id="943" idx="2"/>
          </p:cNvCxnSpPr>
          <p:nvPr/>
        </p:nvCxnSpPr>
        <p:spPr>
          <a:xfrm>
            <a:off x="9309100" y="3529245"/>
            <a:ext cx="0" cy="172720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43" name="target-port-ext">
            <a:extLst>
              <a:ext uri="{FF2B5EF4-FFF2-40B4-BE49-F238E27FC236}">
                <a16:creationId xmlns:a16="http://schemas.microsoft.com/office/drawing/2014/main" id="{0A82AF7F-FCCC-40AC-B0E6-5DBC2D27AA6F}"/>
              </a:ext>
            </a:extLst>
          </p:cNvPr>
          <p:cNvSpPr/>
          <p:nvPr/>
        </p:nvSpPr>
        <p:spPr>
          <a:xfrm>
            <a:off x="9146540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4" name="object-171: M_EXT">
            <a:extLst>
              <a:ext uri="{FF2B5EF4-FFF2-40B4-BE49-F238E27FC236}">
                <a16:creationId xmlns:a16="http://schemas.microsoft.com/office/drawing/2014/main" id="{5ED255E7-3D69-4736-82DB-F74898973378}"/>
              </a:ext>
            </a:extLst>
          </p:cNvPr>
          <p:cNvSpPr txBox="1"/>
          <p:nvPr/>
        </p:nvSpPr>
        <p:spPr>
          <a:xfrm>
            <a:off x="9163473" y="3432370"/>
            <a:ext cx="291253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945" name="ext-target">
            <a:extLst>
              <a:ext uri="{FF2B5EF4-FFF2-40B4-BE49-F238E27FC236}">
                <a16:creationId xmlns:a16="http://schemas.microsoft.com/office/drawing/2014/main" id="{35CB4EAC-4D90-4C3D-9DD9-8ED7A33AEC4A}"/>
              </a:ext>
            </a:extLst>
          </p:cNvPr>
          <p:cNvSpPr/>
          <p:nvPr/>
        </p:nvSpPr>
        <p:spPr>
          <a:xfrm>
            <a:off x="8792633" y="3701949"/>
            <a:ext cx="1032933" cy="524933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6" name="object-173: AXI 外部 slave">
            <a:extLst>
              <a:ext uri="{FF2B5EF4-FFF2-40B4-BE49-F238E27FC236}">
                <a16:creationId xmlns:a16="http://schemas.microsoft.com/office/drawing/2014/main" id="{EDB0EE72-BBF5-487B-8CEF-12D40BA27121}"/>
              </a:ext>
            </a:extLst>
          </p:cNvPr>
          <p:cNvSpPr txBox="1"/>
          <p:nvPr/>
        </p:nvSpPr>
        <p:spPr>
          <a:xfrm>
            <a:off x="8826500" y="3766131"/>
            <a:ext cx="9652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947" name="object-174: 可选外部目标扩展">
            <a:extLst>
              <a:ext uri="{FF2B5EF4-FFF2-40B4-BE49-F238E27FC236}">
                <a16:creationId xmlns:a16="http://schemas.microsoft.com/office/drawing/2014/main" id="{787FA9B9-204D-46F2-9A21-C983AC71DD12}"/>
              </a:ext>
            </a:extLst>
          </p:cNvPr>
          <p:cNvSpPr txBox="1"/>
          <p:nvPr/>
        </p:nvSpPr>
        <p:spPr>
          <a:xfrm>
            <a:off x="8826500" y="3899024"/>
            <a:ext cx="9652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可选外部目标扩展</a:t>
            </a:r>
          </a:p>
        </p:txBody>
      </p:sp>
      <p:sp>
        <p:nvSpPr>
          <p:cNvPr id="948" name="atomics">
            <a:extLst>
              <a:ext uri="{FF2B5EF4-FFF2-40B4-BE49-F238E27FC236}">
                <a16:creationId xmlns:a16="http://schemas.microsoft.com/office/drawing/2014/main" id="{A44BC17A-607E-4FD1-AE60-078D1D424947}"/>
              </a:ext>
            </a:extLst>
          </p:cNvPr>
          <p:cNvSpPr/>
          <p:nvPr/>
        </p:nvSpPr>
        <p:spPr>
          <a:xfrm>
            <a:off x="3509440" y="3905149"/>
            <a:ext cx="660400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9" name="object-176: 原子适配">
            <a:extLst>
              <a:ext uri="{FF2B5EF4-FFF2-40B4-BE49-F238E27FC236}">
                <a16:creationId xmlns:a16="http://schemas.microsoft.com/office/drawing/2014/main" id="{4A598551-AF58-4554-AB7D-26396E1BBAA6}"/>
              </a:ext>
            </a:extLst>
          </p:cNvPr>
          <p:cNvSpPr txBox="1"/>
          <p:nvPr/>
        </p:nvSpPr>
        <p:spPr>
          <a:xfrm>
            <a:off x="3660103" y="3946331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950" name="object-177: AMO / LRSC">
            <a:extLst>
              <a:ext uri="{FF2B5EF4-FFF2-40B4-BE49-F238E27FC236}">
                <a16:creationId xmlns:a16="http://schemas.microsoft.com/office/drawing/2014/main" id="{262BFCDF-2EBC-4B37-B6BD-1B3B4DDB5093}"/>
              </a:ext>
            </a:extLst>
          </p:cNvPr>
          <p:cNvSpPr txBox="1"/>
          <p:nvPr/>
        </p:nvSpPr>
        <p:spPr>
          <a:xfrm>
            <a:off x="3535070" y="4060936"/>
            <a:ext cx="60914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951" name="llc-spm">
            <a:extLst>
              <a:ext uri="{FF2B5EF4-FFF2-40B4-BE49-F238E27FC236}">
                <a16:creationId xmlns:a16="http://schemas.microsoft.com/office/drawing/2014/main" id="{CFE1928B-D279-4208-80F1-EE0A7B299153}"/>
              </a:ext>
            </a:extLst>
          </p:cNvPr>
          <p:cNvSpPr/>
          <p:nvPr/>
        </p:nvSpPr>
        <p:spPr>
          <a:xfrm>
            <a:off x="4322240" y="3905149"/>
            <a:ext cx="660400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2" name="object-179: LLC / SPM">
            <a:extLst>
              <a:ext uri="{FF2B5EF4-FFF2-40B4-BE49-F238E27FC236}">
                <a16:creationId xmlns:a16="http://schemas.microsoft.com/office/drawing/2014/main" id="{EC89ABB5-ADF1-4CCE-9076-537AD728CCF0}"/>
              </a:ext>
            </a:extLst>
          </p:cNvPr>
          <p:cNvSpPr txBox="1"/>
          <p:nvPr/>
        </p:nvSpPr>
        <p:spPr>
          <a:xfrm>
            <a:off x="4420806" y="3946331"/>
            <a:ext cx="46326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953" name="object-180: 同一 SRAM 阵列">
            <a:extLst>
              <a:ext uri="{FF2B5EF4-FFF2-40B4-BE49-F238E27FC236}">
                <a16:creationId xmlns:a16="http://schemas.microsoft.com/office/drawing/2014/main" id="{07ABD4E2-0796-48E6-BC25-4482537767A1}"/>
              </a:ext>
            </a:extLst>
          </p:cNvPr>
          <p:cNvSpPr txBox="1"/>
          <p:nvPr/>
        </p:nvSpPr>
        <p:spPr>
          <a:xfrm>
            <a:off x="4384738" y="4060936"/>
            <a:ext cx="53540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阵列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954" name="atomics-llc">
            <a:extLst>
              <a:ext uri="{FF2B5EF4-FFF2-40B4-BE49-F238E27FC236}">
                <a16:creationId xmlns:a16="http://schemas.microsoft.com/office/drawing/2014/main" id="{8785A342-A019-4871-85A3-1919CC460D6B}"/>
              </a:ext>
            </a:extLst>
          </p:cNvPr>
          <p:cNvCxnSpPr/>
          <p:nvPr/>
        </p:nvCxnSpPr>
        <p:spPr>
          <a:xfrm>
            <a:off x="4169840" y="4033842"/>
            <a:ext cx="15240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55" name="reg-subsystem">
            <a:extLst>
              <a:ext uri="{FF2B5EF4-FFF2-40B4-BE49-F238E27FC236}">
                <a16:creationId xmlns:a16="http://schemas.microsoft.com/office/drawing/2014/main" id="{17D69E55-0D49-47D7-AF34-F1100D4D8A7E}"/>
              </a:ext>
            </a:extLst>
          </p:cNvPr>
          <p:cNvSpPr/>
          <p:nvPr/>
        </p:nvSpPr>
        <p:spPr>
          <a:xfrm>
            <a:off x="173573" y="4345416"/>
            <a:ext cx="6587067" cy="1693333"/>
          </a:xfrm>
          <a:prstGeom prst="rect">
            <a:avLst/>
          </a:prstGeom>
          <a:solidFill>
            <a:srgbClr val="FAF8FB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6" name="regbus">
            <a:extLst>
              <a:ext uri="{FF2B5EF4-FFF2-40B4-BE49-F238E27FC236}">
                <a16:creationId xmlns:a16="http://schemas.microsoft.com/office/drawing/2014/main" id="{86ED39D0-8AEA-42EC-97C9-32341A19CBBF}"/>
              </a:ext>
            </a:extLst>
          </p:cNvPr>
          <p:cNvSpPr/>
          <p:nvPr/>
        </p:nvSpPr>
        <p:spPr>
          <a:xfrm>
            <a:off x="241306" y="4413149"/>
            <a:ext cx="6451600" cy="237067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7" name="object-184: Regbus decode / demux  ·  32 bit">
            <a:extLst>
              <a:ext uri="{FF2B5EF4-FFF2-40B4-BE49-F238E27FC236}">
                <a16:creationId xmlns:a16="http://schemas.microsoft.com/office/drawing/2014/main" id="{469CCA68-FD17-4980-A75E-586E8CE36AAF}"/>
              </a:ext>
            </a:extLst>
          </p:cNvPr>
          <p:cNvSpPr txBox="1"/>
          <p:nvPr/>
        </p:nvSpPr>
        <p:spPr>
          <a:xfrm>
            <a:off x="2387394" y="4455279"/>
            <a:ext cx="2156039" cy="15388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decode / </a:t>
            </a:r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demux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·  32 bit</a:t>
            </a:r>
          </a:p>
        </p:txBody>
      </p:sp>
      <p:cxnSp>
        <p:nvCxnSpPr>
          <p:cNvPr id="958" name="axi-regbus">
            <a:extLst>
              <a:ext uri="{FF2B5EF4-FFF2-40B4-BE49-F238E27FC236}">
                <a16:creationId xmlns:a16="http://schemas.microsoft.com/office/drawing/2014/main" id="{10A03DF2-6DD4-481D-88C5-13653854409F}"/>
              </a:ext>
            </a:extLst>
          </p:cNvPr>
          <p:cNvCxnSpPr/>
          <p:nvPr/>
        </p:nvCxnSpPr>
        <p:spPr>
          <a:xfrm>
            <a:off x="2374906" y="4226882"/>
            <a:ext cx="0" cy="186267"/>
          </a:xfrm>
          <a:prstGeom prst="line">
            <a:avLst/>
          </a:prstGeom>
          <a:ln w="28448" cap="flat">
            <a:solidFill>
              <a:srgbClr val="765489"/>
            </a:solidFill>
            <a:tailEnd type="triangle" w="med" len="med"/>
          </a:ln>
          <a:effectLst/>
        </p:spPr>
      </p:cxnSp>
      <p:cxnSp>
        <p:nvCxnSpPr>
          <p:cNvPr id="959" name="regbus-trunk-0">
            <a:extLst>
              <a:ext uri="{FF2B5EF4-FFF2-40B4-BE49-F238E27FC236}">
                <a16:creationId xmlns:a16="http://schemas.microsoft.com/office/drawing/2014/main" id="{E41B7A95-1325-4CC6-B264-97272CE2B4D6}"/>
              </a:ext>
            </a:extLst>
          </p:cNvPr>
          <p:cNvCxnSpPr/>
          <p:nvPr/>
        </p:nvCxnSpPr>
        <p:spPr>
          <a:xfrm>
            <a:off x="35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0" name="regbus-trunk-1">
            <a:extLst>
              <a:ext uri="{FF2B5EF4-FFF2-40B4-BE49-F238E27FC236}">
                <a16:creationId xmlns:a16="http://schemas.microsoft.com/office/drawing/2014/main" id="{015DE0DD-B6B4-4A86-9158-14FA8F8AE363}"/>
              </a:ext>
            </a:extLst>
          </p:cNvPr>
          <p:cNvCxnSpPr/>
          <p:nvPr/>
        </p:nvCxnSpPr>
        <p:spPr>
          <a:xfrm>
            <a:off x="162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1" name="regbus-trunk-2">
            <a:extLst>
              <a:ext uri="{FF2B5EF4-FFF2-40B4-BE49-F238E27FC236}">
                <a16:creationId xmlns:a16="http://schemas.microsoft.com/office/drawing/2014/main" id="{55CB0935-51FB-4F78-ABB0-9DAFE8E5AD1F}"/>
              </a:ext>
            </a:extLst>
          </p:cNvPr>
          <p:cNvCxnSpPr/>
          <p:nvPr/>
        </p:nvCxnSpPr>
        <p:spPr>
          <a:xfrm>
            <a:off x="289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2" name="regbus-trunk-3">
            <a:extLst>
              <a:ext uri="{FF2B5EF4-FFF2-40B4-BE49-F238E27FC236}">
                <a16:creationId xmlns:a16="http://schemas.microsoft.com/office/drawing/2014/main" id="{A151FA95-0104-4234-ACB1-2EDA742BE856}"/>
              </a:ext>
            </a:extLst>
          </p:cNvPr>
          <p:cNvCxnSpPr/>
          <p:nvPr/>
        </p:nvCxnSpPr>
        <p:spPr>
          <a:xfrm>
            <a:off x="416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3" name="regbus-trunk-4">
            <a:extLst>
              <a:ext uri="{FF2B5EF4-FFF2-40B4-BE49-F238E27FC236}">
                <a16:creationId xmlns:a16="http://schemas.microsoft.com/office/drawing/2014/main" id="{E745EBB6-CDA0-4804-8F8D-87FC8930FE6A}"/>
              </a:ext>
            </a:extLst>
          </p:cNvPr>
          <p:cNvCxnSpPr/>
          <p:nvPr/>
        </p:nvCxnSpPr>
        <p:spPr>
          <a:xfrm>
            <a:off x="543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sp>
        <p:nvSpPr>
          <p:cNvPr id="964" name="bootrom">
            <a:extLst>
              <a:ext uri="{FF2B5EF4-FFF2-40B4-BE49-F238E27FC236}">
                <a16:creationId xmlns:a16="http://schemas.microsoft.com/office/drawing/2014/main" id="{AE39AF04-DE57-407F-B7DE-709895A81F2C}"/>
              </a:ext>
            </a:extLst>
          </p:cNvPr>
          <p:cNvSpPr/>
          <p:nvPr/>
        </p:nvSpPr>
        <p:spPr>
          <a:xfrm>
            <a:off x="42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5" name="object-192: Boot ROM">
            <a:extLst>
              <a:ext uri="{FF2B5EF4-FFF2-40B4-BE49-F238E27FC236}">
                <a16:creationId xmlns:a16="http://schemas.microsoft.com/office/drawing/2014/main" id="{D636FB9B-631A-4505-B2AC-C11D8FE857CD}"/>
              </a:ext>
            </a:extLst>
          </p:cNvPr>
          <p:cNvSpPr txBox="1"/>
          <p:nvPr/>
        </p:nvSpPr>
        <p:spPr>
          <a:xfrm>
            <a:off x="699335" y="4765362"/>
            <a:ext cx="54021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966" name="object-193: 启动代码">
            <a:extLst>
              <a:ext uri="{FF2B5EF4-FFF2-40B4-BE49-F238E27FC236}">
                <a16:creationId xmlns:a16="http://schemas.microsoft.com/office/drawing/2014/main" id="{B1F3C28B-3DE7-4B66-9639-D8091ED92581}"/>
              </a:ext>
            </a:extLst>
          </p:cNvPr>
          <p:cNvSpPr txBox="1"/>
          <p:nvPr/>
        </p:nvSpPr>
        <p:spPr>
          <a:xfrm>
            <a:off x="789903" y="4877935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cxnSp>
        <p:nvCxnSpPr>
          <p:cNvPr id="967" name="reg-drop-bootrom">
            <a:extLst>
              <a:ext uri="{FF2B5EF4-FFF2-40B4-BE49-F238E27FC236}">
                <a16:creationId xmlns:a16="http://schemas.microsoft.com/office/drawing/2014/main" id="{0D523740-3E54-4952-AE19-2E770B0A2C04}"/>
              </a:ext>
            </a:extLst>
          </p:cNvPr>
          <p:cNvCxnSpPr/>
          <p:nvPr/>
        </p:nvCxnSpPr>
        <p:spPr>
          <a:xfrm>
            <a:off x="35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68" name="clint">
            <a:extLst>
              <a:ext uri="{FF2B5EF4-FFF2-40B4-BE49-F238E27FC236}">
                <a16:creationId xmlns:a16="http://schemas.microsoft.com/office/drawing/2014/main" id="{CDDAF346-5CE4-46DF-BA81-B635204CBE7A}"/>
              </a:ext>
            </a:extLst>
          </p:cNvPr>
          <p:cNvSpPr/>
          <p:nvPr/>
        </p:nvSpPr>
        <p:spPr>
          <a:xfrm>
            <a:off x="169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9" name="object-196: CLINT">
            <a:extLst>
              <a:ext uri="{FF2B5EF4-FFF2-40B4-BE49-F238E27FC236}">
                <a16:creationId xmlns:a16="http://schemas.microsoft.com/office/drawing/2014/main" id="{47E23EF4-3C3A-45BF-9CA9-B3E1A3098B24}"/>
              </a:ext>
            </a:extLst>
          </p:cNvPr>
          <p:cNvSpPr txBox="1"/>
          <p:nvPr/>
        </p:nvSpPr>
        <p:spPr>
          <a:xfrm>
            <a:off x="2084750" y="4765362"/>
            <a:ext cx="3093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970" name="object-197: 软件 / 定时中断">
            <a:extLst>
              <a:ext uri="{FF2B5EF4-FFF2-40B4-BE49-F238E27FC236}">
                <a16:creationId xmlns:a16="http://schemas.microsoft.com/office/drawing/2014/main" id="{DBA77C2E-F88E-463F-9298-B1136094D71E}"/>
              </a:ext>
            </a:extLst>
          </p:cNvPr>
          <p:cNvSpPr txBox="1"/>
          <p:nvPr/>
        </p:nvSpPr>
        <p:spPr>
          <a:xfrm>
            <a:off x="1923648" y="4877935"/>
            <a:ext cx="63158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cxnSp>
        <p:nvCxnSpPr>
          <p:cNvPr id="971" name="reg-drop-clint">
            <a:extLst>
              <a:ext uri="{FF2B5EF4-FFF2-40B4-BE49-F238E27FC236}">
                <a16:creationId xmlns:a16="http://schemas.microsoft.com/office/drawing/2014/main" id="{42DCD275-A0BB-4B56-B64A-833D03028D67}"/>
              </a:ext>
            </a:extLst>
          </p:cNvPr>
          <p:cNvCxnSpPr/>
          <p:nvPr/>
        </p:nvCxnSpPr>
        <p:spPr>
          <a:xfrm>
            <a:off x="162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2" name="soc-regs">
            <a:extLst>
              <a:ext uri="{FF2B5EF4-FFF2-40B4-BE49-F238E27FC236}">
                <a16:creationId xmlns:a16="http://schemas.microsoft.com/office/drawing/2014/main" id="{8E0BB8EB-9A3F-4727-86A7-E77F8277E16D}"/>
              </a:ext>
            </a:extLst>
          </p:cNvPr>
          <p:cNvSpPr/>
          <p:nvPr/>
        </p:nvSpPr>
        <p:spPr>
          <a:xfrm>
            <a:off x="296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3" name="object-200: SoC 寄存器">
            <a:extLst>
              <a:ext uri="{FF2B5EF4-FFF2-40B4-BE49-F238E27FC236}">
                <a16:creationId xmlns:a16="http://schemas.microsoft.com/office/drawing/2014/main" id="{1A6231BD-A9A6-47B3-8AB7-5A560A94B257}"/>
              </a:ext>
            </a:extLst>
          </p:cNvPr>
          <p:cNvSpPr txBox="1"/>
          <p:nvPr/>
        </p:nvSpPr>
        <p:spPr>
          <a:xfrm>
            <a:off x="3240937" y="4765362"/>
            <a:ext cx="5370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974" name="object-201: 平台信息 / scratch">
            <a:extLst>
              <a:ext uri="{FF2B5EF4-FFF2-40B4-BE49-F238E27FC236}">
                <a16:creationId xmlns:a16="http://schemas.microsoft.com/office/drawing/2014/main" id="{7A637AD7-7370-4A55-8FC7-CD690942D54B}"/>
              </a:ext>
            </a:extLst>
          </p:cNvPr>
          <p:cNvSpPr txBox="1"/>
          <p:nvPr/>
        </p:nvSpPr>
        <p:spPr>
          <a:xfrm>
            <a:off x="3131933" y="4877935"/>
            <a:ext cx="7550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cxnSp>
        <p:nvCxnSpPr>
          <p:cNvPr id="975" name="reg-drop-soc-regs">
            <a:extLst>
              <a:ext uri="{FF2B5EF4-FFF2-40B4-BE49-F238E27FC236}">
                <a16:creationId xmlns:a16="http://schemas.microsoft.com/office/drawing/2014/main" id="{CB888832-B9F6-4A8C-B7DD-6275B162BA0F}"/>
              </a:ext>
            </a:extLst>
          </p:cNvPr>
          <p:cNvCxnSpPr/>
          <p:nvPr/>
        </p:nvCxnSpPr>
        <p:spPr>
          <a:xfrm>
            <a:off x="289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6" name="plic">
            <a:extLst>
              <a:ext uri="{FF2B5EF4-FFF2-40B4-BE49-F238E27FC236}">
                <a16:creationId xmlns:a16="http://schemas.microsoft.com/office/drawing/2014/main" id="{FEA6D80F-0EB1-44E1-A21D-AAF41A576CC4}"/>
              </a:ext>
            </a:extLst>
          </p:cNvPr>
          <p:cNvSpPr/>
          <p:nvPr/>
        </p:nvSpPr>
        <p:spPr>
          <a:xfrm>
            <a:off x="423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7" name="object-204: PLIC">
            <a:extLst>
              <a:ext uri="{FF2B5EF4-FFF2-40B4-BE49-F238E27FC236}">
                <a16:creationId xmlns:a16="http://schemas.microsoft.com/office/drawing/2014/main" id="{D73A9C5A-E21A-4708-A3A7-9D21D59C37D9}"/>
              </a:ext>
            </a:extLst>
          </p:cNvPr>
          <p:cNvSpPr txBox="1"/>
          <p:nvPr/>
        </p:nvSpPr>
        <p:spPr>
          <a:xfrm>
            <a:off x="4666428" y="4765362"/>
            <a:ext cx="22602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978" name="object-205: 外部中断控制">
            <a:extLst>
              <a:ext uri="{FF2B5EF4-FFF2-40B4-BE49-F238E27FC236}">
                <a16:creationId xmlns:a16="http://schemas.microsoft.com/office/drawing/2014/main" id="{546AAC43-FD53-4A8E-87BB-29563BC461F5}"/>
              </a:ext>
            </a:extLst>
          </p:cNvPr>
          <p:cNvSpPr txBox="1"/>
          <p:nvPr/>
        </p:nvSpPr>
        <p:spPr>
          <a:xfrm>
            <a:off x="4510135" y="487793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cxnSp>
        <p:nvCxnSpPr>
          <p:cNvPr id="979" name="reg-drop-plic">
            <a:extLst>
              <a:ext uri="{FF2B5EF4-FFF2-40B4-BE49-F238E27FC236}">
                <a16:creationId xmlns:a16="http://schemas.microsoft.com/office/drawing/2014/main" id="{D5F679CD-87E7-4B65-BE9B-B53F9D43C769}"/>
              </a:ext>
            </a:extLst>
          </p:cNvPr>
          <p:cNvCxnSpPr/>
          <p:nvPr/>
        </p:nvCxnSpPr>
        <p:spPr>
          <a:xfrm>
            <a:off x="416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0" name="llc-regs">
            <a:extLst>
              <a:ext uri="{FF2B5EF4-FFF2-40B4-BE49-F238E27FC236}">
                <a16:creationId xmlns:a16="http://schemas.microsoft.com/office/drawing/2014/main" id="{D7D19DE2-0911-45C7-93C8-673A6F91921D}"/>
              </a:ext>
            </a:extLst>
          </p:cNvPr>
          <p:cNvSpPr/>
          <p:nvPr/>
        </p:nvSpPr>
        <p:spPr>
          <a:xfrm>
            <a:off x="550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1" name="object-208: LLC 配置">
            <a:extLst>
              <a:ext uri="{FF2B5EF4-FFF2-40B4-BE49-F238E27FC236}">
                <a16:creationId xmlns:a16="http://schemas.microsoft.com/office/drawing/2014/main" id="{4850A438-520E-46CE-9B5E-D7B9D1A4D6C6}"/>
              </a:ext>
            </a:extLst>
          </p:cNvPr>
          <p:cNvSpPr txBox="1"/>
          <p:nvPr/>
        </p:nvSpPr>
        <p:spPr>
          <a:xfrm>
            <a:off x="5841049" y="4765362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982" name="object-209: SPM way / cache">
            <a:extLst>
              <a:ext uri="{FF2B5EF4-FFF2-40B4-BE49-F238E27FC236}">
                <a16:creationId xmlns:a16="http://schemas.microsoft.com/office/drawing/2014/main" id="{0236DEC4-5022-405F-82F3-A2E336CD7A4E}"/>
              </a:ext>
            </a:extLst>
          </p:cNvPr>
          <p:cNvSpPr txBox="1"/>
          <p:nvPr/>
        </p:nvSpPr>
        <p:spPr>
          <a:xfrm>
            <a:off x="5685560" y="4877935"/>
            <a:ext cx="72776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cxnSp>
        <p:nvCxnSpPr>
          <p:cNvPr id="983" name="reg-drop-llc-regs">
            <a:extLst>
              <a:ext uri="{FF2B5EF4-FFF2-40B4-BE49-F238E27FC236}">
                <a16:creationId xmlns:a16="http://schemas.microsoft.com/office/drawing/2014/main" id="{71B9A931-7C71-4E1E-AD9B-A851CC840434}"/>
              </a:ext>
            </a:extLst>
          </p:cNvPr>
          <p:cNvCxnSpPr/>
          <p:nvPr/>
        </p:nvCxnSpPr>
        <p:spPr>
          <a:xfrm>
            <a:off x="543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4" name="uart">
            <a:extLst>
              <a:ext uri="{FF2B5EF4-FFF2-40B4-BE49-F238E27FC236}">
                <a16:creationId xmlns:a16="http://schemas.microsoft.com/office/drawing/2014/main" id="{0A05E195-E453-4C72-BA7E-7E289A33C4AF}"/>
              </a:ext>
            </a:extLst>
          </p:cNvPr>
          <p:cNvSpPr/>
          <p:nvPr/>
        </p:nvSpPr>
        <p:spPr>
          <a:xfrm>
            <a:off x="42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5" name="object-212: UART">
            <a:extLst>
              <a:ext uri="{FF2B5EF4-FFF2-40B4-BE49-F238E27FC236}">
                <a16:creationId xmlns:a16="http://schemas.microsoft.com/office/drawing/2014/main" id="{4D68796E-FF0C-4421-A3E2-C7DE0A86CBD3}"/>
              </a:ext>
            </a:extLst>
          </p:cNvPr>
          <p:cNvSpPr txBox="1"/>
          <p:nvPr/>
        </p:nvSpPr>
        <p:spPr>
          <a:xfrm>
            <a:off x="822764" y="5076936"/>
            <a:ext cx="29335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986" name="object-213: 串口控制">
            <a:extLst>
              <a:ext uri="{FF2B5EF4-FFF2-40B4-BE49-F238E27FC236}">
                <a16:creationId xmlns:a16="http://schemas.microsoft.com/office/drawing/2014/main" id="{33011D98-A822-4F03-A232-88E13A6EDB3A}"/>
              </a:ext>
            </a:extLst>
          </p:cNvPr>
          <p:cNvSpPr txBox="1"/>
          <p:nvPr/>
        </p:nvSpPr>
        <p:spPr>
          <a:xfrm>
            <a:off x="78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cxnSp>
        <p:nvCxnSpPr>
          <p:cNvPr id="987" name="reg-drop-uart">
            <a:extLst>
              <a:ext uri="{FF2B5EF4-FFF2-40B4-BE49-F238E27FC236}">
                <a16:creationId xmlns:a16="http://schemas.microsoft.com/office/drawing/2014/main" id="{24F9AE8A-0E0F-426D-8FA4-A44E23A7D268}"/>
              </a:ext>
            </a:extLst>
          </p:cNvPr>
          <p:cNvCxnSpPr/>
          <p:nvPr/>
        </p:nvCxnSpPr>
        <p:spPr>
          <a:xfrm>
            <a:off x="35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8" name="i2c">
            <a:extLst>
              <a:ext uri="{FF2B5EF4-FFF2-40B4-BE49-F238E27FC236}">
                <a16:creationId xmlns:a16="http://schemas.microsoft.com/office/drawing/2014/main" id="{26231ED5-CB1A-46EF-AEDD-CA9FB1C47A96}"/>
              </a:ext>
            </a:extLst>
          </p:cNvPr>
          <p:cNvSpPr/>
          <p:nvPr/>
        </p:nvSpPr>
        <p:spPr>
          <a:xfrm>
            <a:off x="169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9" name="object-216: I2C">
            <a:extLst>
              <a:ext uri="{FF2B5EF4-FFF2-40B4-BE49-F238E27FC236}">
                <a16:creationId xmlns:a16="http://schemas.microsoft.com/office/drawing/2014/main" id="{E5E59EA7-1B0D-4983-9A36-ED3811BA94D7}"/>
              </a:ext>
            </a:extLst>
          </p:cNvPr>
          <p:cNvSpPr txBox="1"/>
          <p:nvPr/>
        </p:nvSpPr>
        <p:spPr>
          <a:xfrm>
            <a:off x="2156885" y="5076936"/>
            <a:ext cx="1651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I2C</a:t>
            </a:r>
          </a:p>
        </p:txBody>
      </p:sp>
      <p:sp>
        <p:nvSpPr>
          <p:cNvPr id="990" name="object-217: 两线串行控制">
            <a:extLst>
              <a:ext uri="{FF2B5EF4-FFF2-40B4-BE49-F238E27FC236}">
                <a16:creationId xmlns:a16="http://schemas.microsoft.com/office/drawing/2014/main" id="{9DF1137C-ED31-4D8F-BA9A-AC0ED9C7B763}"/>
              </a:ext>
            </a:extLst>
          </p:cNvPr>
          <p:cNvSpPr txBox="1"/>
          <p:nvPr/>
        </p:nvSpPr>
        <p:spPr>
          <a:xfrm>
            <a:off x="1970135" y="5189509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两线串行控制</a:t>
            </a:r>
          </a:p>
        </p:txBody>
      </p:sp>
      <p:cxnSp>
        <p:nvCxnSpPr>
          <p:cNvPr id="991" name="reg-drop-i2c">
            <a:extLst>
              <a:ext uri="{FF2B5EF4-FFF2-40B4-BE49-F238E27FC236}">
                <a16:creationId xmlns:a16="http://schemas.microsoft.com/office/drawing/2014/main" id="{33C02DF2-E598-4A66-A905-FC66F701D132}"/>
              </a:ext>
            </a:extLst>
          </p:cNvPr>
          <p:cNvCxnSpPr/>
          <p:nvPr/>
        </p:nvCxnSpPr>
        <p:spPr>
          <a:xfrm>
            <a:off x="162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2" name="spi">
            <a:extLst>
              <a:ext uri="{FF2B5EF4-FFF2-40B4-BE49-F238E27FC236}">
                <a16:creationId xmlns:a16="http://schemas.microsoft.com/office/drawing/2014/main" id="{EBB02BB1-9466-4CCA-95CE-5B74B323BACF}"/>
              </a:ext>
            </a:extLst>
          </p:cNvPr>
          <p:cNvSpPr/>
          <p:nvPr/>
        </p:nvSpPr>
        <p:spPr>
          <a:xfrm>
            <a:off x="296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3" name="object-220: SPI host">
            <a:extLst>
              <a:ext uri="{FF2B5EF4-FFF2-40B4-BE49-F238E27FC236}">
                <a16:creationId xmlns:a16="http://schemas.microsoft.com/office/drawing/2014/main" id="{BFDFD177-B88E-40DB-BBDB-EAB543912B78}"/>
              </a:ext>
            </a:extLst>
          </p:cNvPr>
          <p:cNvSpPr txBox="1"/>
          <p:nvPr/>
        </p:nvSpPr>
        <p:spPr>
          <a:xfrm>
            <a:off x="3298645" y="5076936"/>
            <a:ext cx="42159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994" name="object-221: Flash / SD">
            <a:extLst>
              <a:ext uri="{FF2B5EF4-FFF2-40B4-BE49-F238E27FC236}">
                <a16:creationId xmlns:a16="http://schemas.microsoft.com/office/drawing/2014/main" id="{BE7CD425-6584-4BCA-B607-28CF337E748B}"/>
              </a:ext>
            </a:extLst>
          </p:cNvPr>
          <p:cNvSpPr txBox="1"/>
          <p:nvPr/>
        </p:nvSpPr>
        <p:spPr>
          <a:xfrm>
            <a:off x="3293836" y="5189509"/>
            <a:ext cx="43120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cxnSp>
        <p:nvCxnSpPr>
          <p:cNvPr id="995" name="reg-drop-spi">
            <a:extLst>
              <a:ext uri="{FF2B5EF4-FFF2-40B4-BE49-F238E27FC236}">
                <a16:creationId xmlns:a16="http://schemas.microsoft.com/office/drawing/2014/main" id="{75EE2A7B-F85C-44CC-9316-C28C19486904}"/>
              </a:ext>
            </a:extLst>
          </p:cNvPr>
          <p:cNvCxnSpPr/>
          <p:nvPr/>
        </p:nvCxnSpPr>
        <p:spPr>
          <a:xfrm>
            <a:off x="289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6" name="gpio">
            <a:extLst>
              <a:ext uri="{FF2B5EF4-FFF2-40B4-BE49-F238E27FC236}">
                <a16:creationId xmlns:a16="http://schemas.microsoft.com/office/drawing/2014/main" id="{531F9969-2BDC-4235-9B95-14073DC47407}"/>
              </a:ext>
            </a:extLst>
          </p:cNvPr>
          <p:cNvSpPr/>
          <p:nvPr/>
        </p:nvSpPr>
        <p:spPr>
          <a:xfrm>
            <a:off x="423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7" name="object-224: GPIO">
            <a:extLst>
              <a:ext uri="{FF2B5EF4-FFF2-40B4-BE49-F238E27FC236}">
                <a16:creationId xmlns:a16="http://schemas.microsoft.com/office/drawing/2014/main" id="{A0A68E56-1DB7-4B3B-844E-212BBEF85F06}"/>
              </a:ext>
            </a:extLst>
          </p:cNvPr>
          <p:cNvSpPr txBox="1"/>
          <p:nvPr/>
        </p:nvSpPr>
        <p:spPr>
          <a:xfrm>
            <a:off x="4647994" y="5076936"/>
            <a:ext cx="26289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998" name="object-225: 通用 IO">
            <a:extLst>
              <a:ext uri="{FF2B5EF4-FFF2-40B4-BE49-F238E27FC236}">
                <a16:creationId xmlns:a16="http://schemas.microsoft.com/office/drawing/2014/main" id="{BE3767B7-0672-4715-B191-0FE0F0537E4A}"/>
              </a:ext>
            </a:extLst>
          </p:cNvPr>
          <p:cNvSpPr txBox="1"/>
          <p:nvPr/>
        </p:nvSpPr>
        <p:spPr>
          <a:xfrm>
            <a:off x="4626353" y="5189509"/>
            <a:ext cx="3061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cxnSp>
        <p:nvCxnSpPr>
          <p:cNvPr id="999" name="reg-drop-gpio">
            <a:extLst>
              <a:ext uri="{FF2B5EF4-FFF2-40B4-BE49-F238E27FC236}">
                <a16:creationId xmlns:a16="http://schemas.microsoft.com/office/drawing/2014/main" id="{1E158469-D44F-46B6-9D3B-74C87819F220}"/>
              </a:ext>
            </a:extLst>
          </p:cNvPr>
          <p:cNvCxnSpPr/>
          <p:nvPr/>
        </p:nvCxnSpPr>
        <p:spPr>
          <a:xfrm>
            <a:off x="416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0" name="slink-regs">
            <a:extLst>
              <a:ext uri="{FF2B5EF4-FFF2-40B4-BE49-F238E27FC236}">
                <a16:creationId xmlns:a16="http://schemas.microsoft.com/office/drawing/2014/main" id="{CDD8355B-8F00-4633-BA55-AE916B8B014D}"/>
              </a:ext>
            </a:extLst>
          </p:cNvPr>
          <p:cNvSpPr/>
          <p:nvPr/>
        </p:nvSpPr>
        <p:spPr>
          <a:xfrm>
            <a:off x="550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1" name="object-228: Serial Link 配置">
            <a:extLst>
              <a:ext uri="{FF2B5EF4-FFF2-40B4-BE49-F238E27FC236}">
                <a16:creationId xmlns:a16="http://schemas.microsoft.com/office/drawing/2014/main" id="{3C4C3E06-856F-47E2-AD83-76F63FD1CD68}"/>
              </a:ext>
            </a:extLst>
          </p:cNvPr>
          <p:cNvSpPr txBox="1"/>
          <p:nvPr/>
        </p:nvSpPr>
        <p:spPr>
          <a:xfrm>
            <a:off x="5667124" y="5076936"/>
            <a:ext cx="7646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1002" name="object-229: 链路控制">
            <a:extLst>
              <a:ext uri="{FF2B5EF4-FFF2-40B4-BE49-F238E27FC236}">
                <a16:creationId xmlns:a16="http://schemas.microsoft.com/office/drawing/2014/main" id="{54185CD1-FF3C-49DC-AC94-EDB4EF44AD3B}"/>
              </a:ext>
            </a:extLst>
          </p:cNvPr>
          <p:cNvSpPr txBox="1"/>
          <p:nvPr/>
        </p:nvSpPr>
        <p:spPr>
          <a:xfrm>
            <a:off x="586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cxnSp>
        <p:nvCxnSpPr>
          <p:cNvPr id="1003" name="reg-drop-slink-regs">
            <a:extLst>
              <a:ext uri="{FF2B5EF4-FFF2-40B4-BE49-F238E27FC236}">
                <a16:creationId xmlns:a16="http://schemas.microsoft.com/office/drawing/2014/main" id="{F422A35D-92F3-45F9-A239-44FEDE569549}"/>
              </a:ext>
            </a:extLst>
          </p:cNvPr>
          <p:cNvCxnSpPr/>
          <p:nvPr/>
        </p:nvCxnSpPr>
        <p:spPr>
          <a:xfrm>
            <a:off x="543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4" name="vga-regs">
            <a:extLst>
              <a:ext uri="{FF2B5EF4-FFF2-40B4-BE49-F238E27FC236}">
                <a16:creationId xmlns:a16="http://schemas.microsoft.com/office/drawing/2014/main" id="{8EBF7778-79EB-434E-B3BD-C6A1DC6BE90A}"/>
              </a:ext>
            </a:extLst>
          </p:cNvPr>
          <p:cNvSpPr/>
          <p:nvPr/>
        </p:nvSpPr>
        <p:spPr>
          <a:xfrm>
            <a:off x="42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5" name="object-232: VGA 配置">
            <a:extLst>
              <a:ext uri="{FF2B5EF4-FFF2-40B4-BE49-F238E27FC236}">
                <a16:creationId xmlns:a16="http://schemas.microsoft.com/office/drawing/2014/main" id="{62ADDD3C-BE0D-4B59-A909-CF18BA4E758E}"/>
              </a:ext>
            </a:extLst>
          </p:cNvPr>
          <p:cNvSpPr txBox="1"/>
          <p:nvPr/>
        </p:nvSpPr>
        <p:spPr>
          <a:xfrm>
            <a:off x="737003" y="5388509"/>
            <a:ext cx="4648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1006" name="object-233: 时序 / 帧地址">
            <a:extLst>
              <a:ext uri="{FF2B5EF4-FFF2-40B4-BE49-F238E27FC236}">
                <a16:creationId xmlns:a16="http://schemas.microsoft.com/office/drawing/2014/main" id="{7A3C3F56-B602-418F-BAE9-8C9940A76380}"/>
              </a:ext>
            </a:extLst>
          </p:cNvPr>
          <p:cNvSpPr txBox="1"/>
          <p:nvPr/>
        </p:nvSpPr>
        <p:spPr>
          <a:xfrm>
            <a:off x="698533" y="5501082"/>
            <a:ext cx="5418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cxnSp>
        <p:nvCxnSpPr>
          <p:cNvPr id="1007" name="reg-drop-vga-regs">
            <a:extLst>
              <a:ext uri="{FF2B5EF4-FFF2-40B4-BE49-F238E27FC236}">
                <a16:creationId xmlns:a16="http://schemas.microsoft.com/office/drawing/2014/main" id="{284FB17E-CC08-430C-A272-1318860E022A}"/>
              </a:ext>
            </a:extLst>
          </p:cNvPr>
          <p:cNvCxnSpPr/>
          <p:nvPr/>
        </p:nvCxnSpPr>
        <p:spPr>
          <a:xfrm>
            <a:off x="35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8" name="usb-regs">
            <a:extLst>
              <a:ext uri="{FF2B5EF4-FFF2-40B4-BE49-F238E27FC236}">
                <a16:creationId xmlns:a16="http://schemas.microsoft.com/office/drawing/2014/main" id="{0B8EBE65-C149-4BCC-BFC6-D1328A87BF30}"/>
              </a:ext>
            </a:extLst>
          </p:cNvPr>
          <p:cNvSpPr/>
          <p:nvPr/>
        </p:nvSpPr>
        <p:spPr>
          <a:xfrm>
            <a:off x="169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9" name="object-236: USB 配置">
            <a:extLst>
              <a:ext uri="{FF2B5EF4-FFF2-40B4-BE49-F238E27FC236}">
                <a16:creationId xmlns:a16="http://schemas.microsoft.com/office/drawing/2014/main" id="{B1B269C9-EB8E-41F4-AA9C-809BAA64C159}"/>
              </a:ext>
            </a:extLst>
          </p:cNvPr>
          <p:cNvSpPr txBox="1"/>
          <p:nvPr/>
        </p:nvSpPr>
        <p:spPr>
          <a:xfrm>
            <a:off x="2015019" y="5388509"/>
            <a:ext cx="44884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1010" name="object-237: OHCI 寄存器">
            <a:extLst>
              <a:ext uri="{FF2B5EF4-FFF2-40B4-BE49-F238E27FC236}">
                <a16:creationId xmlns:a16="http://schemas.microsoft.com/office/drawing/2014/main" id="{38A2F12A-0BFD-48FA-9E3B-E676E3E7BCCF}"/>
              </a:ext>
            </a:extLst>
          </p:cNvPr>
          <p:cNvSpPr txBox="1"/>
          <p:nvPr/>
        </p:nvSpPr>
        <p:spPr>
          <a:xfrm>
            <a:off x="1977349" y="5501082"/>
            <a:ext cx="52418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cxnSp>
        <p:nvCxnSpPr>
          <p:cNvPr id="1011" name="reg-drop-usb-regs">
            <a:extLst>
              <a:ext uri="{FF2B5EF4-FFF2-40B4-BE49-F238E27FC236}">
                <a16:creationId xmlns:a16="http://schemas.microsoft.com/office/drawing/2014/main" id="{199126BC-EE78-4602-8075-36C775B6FB4C}"/>
              </a:ext>
            </a:extLst>
          </p:cNvPr>
          <p:cNvCxnSpPr/>
          <p:nvPr/>
        </p:nvCxnSpPr>
        <p:spPr>
          <a:xfrm>
            <a:off x="162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2" name="err-vga">
            <a:extLst>
              <a:ext uri="{FF2B5EF4-FFF2-40B4-BE49-F238E27FC236}">
                <a16:creationId xmlns:a16="http://schemas.microsoft.com/office/drawing/2014/main" id="{4971F93E-DE8F-4E5B-B7DF-E146A61F4308}"/>
              </a:ext>
            </a:extLst>
          </p:cNvPr>
          <p:cNvSpPr/>
          <p:nvPr/>
        </p:nvSpPr>
        <p:spPr>
          <a:xfrm>
            <a:off x="296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3" name="object-240: Bus-error · VGA">
            <a:extLst>
              <a:ext uri="{FF2B5EF4-FFF2-40B4-BE49-F238E27FC236}">
                <a16:creationId xmlns:a16="http://schemas.microsoft.com/office/drawing/2014/main" id="{EEA3CDCE-84C0-4DFF-AAE2-9F4939D6617F}"/>
              </a:ext>
            </a:extLst>
          </p:cNvPr>
          <p:cNvSpPr txBox="1"/>
          <p:nvPr/>
        </p:nvSpPr>
        <p:spPr>
          <a:xfrm>
            <a:off x="3097468" y="5388509"/>
            <a:ext cx="8239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1014" name="object-241: 错误记录">
            <a:extLst>
              <a:ext uri="{FF2B5EF4-FFF2-40B4-BE49-F238E27FC236}">
                <a16:creationId xmlns:a16="http://schemas.microsoft.com/office/drawing/2014/main" id="{2039AC29-21CE-44B6-B608-D5F3229760D9}"/>
              </a:ext>
            </a:extLst>
          </p:cNvPr>
          <p:cNvSpPr txBox="1"/>
          <p:nvPr/>
        </p:nvSpPr>
        <p:spPr>
          <a:xfrm>
            <a:off x="332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5" name="reg-drop-err-vga">
            <a:extLst>
              <a:ext uri="{FF2B5EF4-FFF2-40B4-BE49-F238E27FC236}">
                <a16:creationId xmlns:a16="http://schemas.microsoft.com/office/drawing/2014/main" id="{B8FCE69F-48A7-40A4-8BC8-A7382A1D3A87}"/>
              </a:ext>
            </a:extLst>
          </p:cNvPr>
          <p:cNvCxnSpPr/>
          <p:nvPr/>
        </p:nvCxnSpPr>
        <p:spPr>
          <a:xfrm>
            <a:off x="289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6" name="err-dma">
            <a:extLst>
              <a:ext uri="{FF2B5EF4-FFF2-40B4-BE49-F238E27FC236}">
                <a16:creationId xmlns:a16="http://schemas.microsoft.com/office/drawing/2014/main" id="{43E3549C-BCEC-4288-9009-5ABCA5983F94}"/>
              </a:ext>
            </a:extLst>
          </p:cNvPr>
          <p:cNvSpPr/>
          <p:nvPr/>
        </p:nvSpPr>
        <p:spPr>
          <a:xfrm>
            <a:off x="423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7" name="object-244: Bus-error · iDMA">
            <a:extLst>
              <a:ext uri="{FF2B5EF4-FFF2-40B4-BE49-F238E27FC236}">
                <a16:creationId xmlns:a16="http://schemas.microsoft.com/office/drawing/2014/main" id="{D9335C45-2A62-4A03-8717-F5B43F6397F3}"/>
              </a:ext>
            </a:extLst>
          </p:cNvPr>
          <p:cNvSpPr txBox="1"/>
          <p:nvPr/>
        </p:nvSpPr>
        <p:spPr>
          <a:xfrm>
            <a:off x="4334607" y="5388509"/>
            <a:ext cx="8896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1018" name="object-245: 错误记录">
            <a:extLst>
              <a:ext uri="{FF2B5EF4-FFF2-40B4-BE49-F238E27FC236}">
                <a16:creationId xmlns:a16="http://schemas.microsoft.com/office/drawing/2014/main" id="{F9D2C7A3-5309-4D7C-BD5F-13E2C5CFCC48}"/>
              </a:ext>
            </a:extLst>
          </p:cNvPr>
          <p:cNvSpPr txBox="1"/>
          <p:nvPr/>
        </p:nvSpPr>
        <p:spPr>
          <a:xfrm>
            <a:off x="459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9" name="reg-drop-err-dma">
            <a:extLst>
              <a:ext uri="{FF2B5EF4-FFF2-40B4-BE49-F238E27FC236}">
                <a16:creationId xmlns:a16="http://schemas.microsoft.com/office/drawing/2014/main" id="{79CD45D7-22E3-4E2D-A607-0848D0205CF7}"/>
              </a:ext>
            </a:extLst>
          </p:cNvPr>
          <p:cNvCxnSpPr/>
          <p:nvPr/>
        </p:nvCxnSpPr>
        <p:spPr>
          <a:xfrm>
            <a:off x="416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0" name="err-cpu">
            <a:extLst>
              <a:ext uri="{FF2B5EF4-FFF2-40B4-BE49-F238E27FC236}">
                <a16:creationId xmlns:a16="http://schemas.microsoft.com/office/drawing/2014/main" id="{F7273D17-4ADC-488E-B342-FF60E155EE7E}"/>
              </a:ext>
            </a:extLst>
          </p:cNvPr>
          <p:cNvSpPr/>
          <p:nvPr/>
        </p:nvSpPr>
        <p:spPr>
          <a:xfrm>
            <a:off x="550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1" name="object-248: Bus-error · CPU">
            <a:extLst>
              <a:ext uri="{FF2B5EF4-FFF2-40B4-BE49-F238E27FC236}">
                <a16:creationId xmlns:a16="http://schemas.microsoft.com/office/drawing/2014/main" id="{0174A861-FE55-4751-9DF1-CF02FEFC740E}"/>
              </a:ext>
            </a:extLst>
          </p:cNvPr>
          <p:cNvSpPr txBox="1"/>
          <p:nvPr/>
        </p:nvSpPr>
        <p:spPr>
          <a:xfrm>
            <a:off x="5643880" y="5388509"/>
            <a:ext cx="8111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1022" name="object-249: 每核错误记录">
            <a:extLst>
              <a:ext uri="{FF2B5EF4-FFF2-40B4-BE49-F238E27FC236}">
                <a16:creationId xmlns:a16="http://schemas.microsoft.com/office/drawing/2014/main" id="{958C0EE9-8E64-4C3C-8F0D-760AF4E39717}"/>
              </a:ext>
            </a:extLst>
          </p:cNvPr>
          <p:cNvSpPr txBox="1"/>
          <p:nvPr/>
        </p:nvSpPr>
        <p:spPr>
          <a:xfrm>
            <a:off x="5780135" y="5501082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cxnSp>
        <p:nvCxnSpPr>
          <p:cNvPr id="1023" name="reg-drop-err-cpu">
            <a:extLst>
              <a:ext uri="{FF2B5EF4-FFF2-40B4-BE49-F238E27FC236}">
                <a16:creationId xmlns:a16="http://schemas.microsoft.com/office/drawing/2014/main" id="{20C8931B-3EF2-45DE-9315-D08D71B4C2B7}"/>
              </a:ext>
            </a:extLst>
          </p:cNvPr>
          <p:cNvCxnSpPr/>
          <p:nvPr/>
        </p:nvCxnSpPr>
        <p:spPr>
          <a:xfrm>
            <a:off x="543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4" name="irq-router">
            <a:extLst>
              <a:ext uri="{FF2B5EF4-FFF2-40B4-BE49-F238E27FC236}">
                <a16:creationId xmlns:a16="http://schemas.microsoft.com/office/drawing/2014/main" id="{13797B51-9EEA-40B5-9B99-22B72980494E}"/>
              </a:ext>
            </a:extLst>
          </p:cNvPr>
          <p:cNvSpPr/>
          <p:nvPr/>
        </p:nvSpPr>
        <p:spPr>
          <a:xfrm>
            <a:off x="42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5" name="object-252: IRQ router">
            <a:extLst>
              <a:ext uri="{FF2B5EF4-FFF2-40B4-BE49-F238E27FC236}">
                <a16:creationId xmlns:a16="http://schemas.microsoft.com/office/drawing/2014/main" id="{B34D039D-8DF6-4EED-B0DC-08DD07C36A3C}"/>
              </a:ext>
            </a:extLst>
          </p:cNvPr>
          <p:cNvSpPr txBox="1"/>
          <p:nvPr/>
        </p:nvSpPr>
        <p:spPr>
          <a:xfrm>
            <a:off x="698532" y="5700082"/>
            <a:ext cx="54181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1026" name="object-253: 可选中断路由">
            <a:extLst>
              <a:ext uri="{FF2B5EF4-FFF2-40B4-BE49-F238E27FC236}">
                <a16:creationId xmlns:a16="http://schemas.microsoft.com/office/drawing/2014/main" id="{6B0677D4-70F1-43E5-A7BB-4E174ACC48F1}"/>
              </a:ext>
            </a:extLst>
          </p:cNvPr>
          <p:cNvSpPr txBox="1"/>
          <p:nvPr/>
        </p:nvSpPr>
        <p:spPr>
          <a:xfrm>
            <a:off x="70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cxnSp>
        <p:nvCxnSpPr>
          <p:cNvPr id="1027" name="reg-drop-irq-router">
            <a:extLst>
              <a:ext uri="{FF2B5EF4-FFF2-40B4-BE49-F238E27FC236}">
                <a16:creationId xmlns:a16="http://schemas.microsoft.com/office/drawing/2014/main" id="{6D2B767A-C641-413C-98C9-B4F951EC1933}"/>
              </a:ext>
            </a:extLst>
          </p:cNvPr>
          <p:cNvCxnSpPr/>
          <p:nvPr/>
        </p:nvCxnSpPr>
        <p:spPr>
          <a:xfrm>
            <a:off x="35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8" name="axi-rt-config">
            <a:extLst>
              <a:ext uri="{FF2B5EF4-FFF2-40B4-BE49-F238E27FC236}">
                <a16:creationId xmlns:a16="http://schemas.microsoft.com/office/drawing/2014/main" id="{23BA068B-65A2-43EC-9FE6-5A73B4991D62}"/>
              </a:ext>
            </a:extLst>
          </p:cNvPr>
          <p:cNvSpPr/>
          <p:nvPr/>
        </p:nvSpPr>
        <p:spPr>
          <a:xfrm>
            <a:off x="169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9" name="object-256: AXI RT 配置">
            <a:extLst>
              <a:ext uri="{FF2B5EF4-FFF2-40B4-BE49-F238E27FC236}">
                <a16:creationId xmlns:a16="http://schemas.microsoft.com/office/drawing/2014/main" id="{75223ABC-7E74-4916-9B7F-FB5526BAB035}"/>
              </a:ext>
            </a:extLst>
          </p:cNvPr>
          <p:cNvSpPr txBox="1"/>
          <p:nvPr/>
        </p:nvSpPr>
        <p:spPr>
          <a:xfrm>
            <a:off x="1946892" y="5700082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1030" name="object-257: 可选流量调节">
            <a:extLst>
              <a:ext uri="{FF2B5EF4-FFF2-40B4-BE49-F238E27FC236}">
                <a16:creationId xmlns:a16="http://schemas.microsoft.com/office/drawing/2014/main" id="{45B6F20A-09B8-4750-9BE3-43227AC3557B}"/>
              </a:ext>
            </a:extLst>
          </p:cNvPr>
          <p:cNvSpPr txBox="1"/>
          <p:nvPr/>
        </p:nvSpPr>
        <p:spPr>
          <a:xfrm>
            <a:off x="197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cxnSp>
        <p:nvCxnSpPr>
          <p:cNvPr id="1031" name="reg-drop-axi-rt-config">
            <a:extLst>
              <a:ext uri="{FF2B5EF4-FFF2-40B4-BE49-F238E27FC236}">
                <a16:creationId xmlns:a16="http://schemas.microsoft.com/office/drawing/2014/main" id="{4E280EBF-535F-4CFE-88E7-3B0E4A9BCA5E}"/>
              </a:ext>
            </a:extLst>
          </p:cNvPr>
          <p:cNvCxnSpPr/>
          <p:nvPr/>
        </p:nvCxnSpPr>
        <p:spPr>
          <a:xfrm>
            <a:off x="162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2" name="clic">
            <a:extLst>
              <a:ext uri="{FF2B5EF4-FFF2-40B4-BE49-F238E27FC236}">
                <a16:creationId xmlns:a16="http://schemas.microsoft.com/office/drawing/2014/main" id="{024727BA-5D26-4568-8F2F-DF105739600A}"/>
              </a:ext>
            </a:extLst>
          </p:cNvPr>
          <p:cNvSpPr/>
          <p:nvPr/>
        </p:nvSpPr>
        <p:spPr>
          <a:xfrm>
            <a:off x="296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3" name="object-260: CLIC">
            <a:extLst>
              <a:ext uri="{FF2B5EF4-FFF2-40B4-BE49-F238E27FC236}">
                <a16:creationId xmlns:a16="http://schemas.microsoft.com/office/drawing/2014/main" id="{9A26F5E1-1647-427C-99C4-FA38AAA5220C}"/>
              </a:ext>
            </a:extLst>
          </p:cNvPr>
          <p:cNvSpPr txBox="1"/>
          <p:nvPr/>
        </p:nvSpPr>
        <p:spPr>
          <a:xfrm>
            <a:off x="3395627" y="5700082"/>
            <a:ext cx="22762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1034" name="object-261: 可选每核中断控制">
            <a:extLst>
              <a:ext uri="{FF2B5EF4-FFF2-40B4-BE49-F238E27FC236}">
                <a16:creationId xmlns:a16="http://schemas.microsoft.com/office/drawing/2014/main" id="{9D7BB867-486B-4DA1-B8CC-E35945C7C943}"/>
              </a:ext>
            </a:extLst>
          </p:cNvPr>
          <p:cNvSpPr txBox="1"/>
          <p:nvPr/>
        </p:nvSpPr>
        <p:spPr>
          <a:xfrm>
            <a:off x="3150368" y="5812655"/>
            <a:ext cx="7181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cxnSp>
        <p:nvCxnSpPr>
          <p:cNvPr id="1035" name="reg-drop-clic">
            <a:extLst>
              <a:ext uri="{FF2B5EF4-FFF2-40B4-BE49-F238E27FC236}">
                <a16:creationId xmlns:a16="http://schemas.microsoft.com/office/drawing/2014/main" id="{1486CE0E-1CBD-49A6-AFA7-ABCFBCAD09BC}"/>
              </a:ext>
            </a:extLst>
          </p:cNvPr>
          <p:cNvCxnSpPr/>
          <p:nvPr/>
        </p:nvCxnSpPr>
        <p:spPr>
          <a:xfrm>
            <a:off x="289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6" name="reg-error">
            <a:extLst>
              <a:ext uri="{FF2B5EF4-FFF2-40B4-BE49-F238E27FC236}">
                <a16:creationId xmlns:a16="http://schemas.microsoft.com/office/drawing/2014/main" id="{ED53C377-7C3F-4110-80FF-EFDD6D02CF81}"/>
              </a:ext>
            </a:extLst>
          </p:cNvPr>
          <p:cNvSpPr/>
          <p:nvPr/>
        </p:nvSpPr>
        <p:spPr>
          <a:xfrm>
            <a:off x="423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7" name="object-264: reg_err_slv">
            <a:extLst>
              <a:ext uri="{FF2B5EF4-FFF2-40B4-BE49-F238E27FC236}">
                <a16:creationId xmlns:a16="http://schemas.microsoft.com/office/drawing/2014/main" id="{CDCDB789-0FB9-4F28-948E-9C4B450DCF9E}"/>
              </a:ext>
            </a:extLst>
          </p:cNvPr>
          <p:cNvSpPr txBox="1"/>
          <p:nvPr/>
        </p:nvSpPr>
        <p:spPr>
          <a:xfrm>
            <a:off x="4503723" y="5700082"/>
            <a:ext cx="5514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1038" name="object-265: 未匹配地址">
            <a:extLst>
              <a:ext uri="{FF2B5EF4-FFF2-40B4-BE49-F238E27FC236}">
                <a16:creationId xmlns:a16="http://schemas.microsoft.com/office/drawing/2014/main" id="{03E49DD8-3869-4C9B-A29F-4BBCE7E13055}"/>
              </a:ext>
            </a:extLst>
          </p:cNvPr>
          <p:cNvSpPr txBox="1"/>
          <p:nvPr/>
        </p:nvSpPr>
        <p:spPr>
          <a:xfrm>
            <a:off x="4555019" y="5812655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cxnSp>
        <p:nvCxnSpPr>
          <p:cNvPr id="1039" name="reg-drop-reg-error">
            <a:extLst>
              <a:ext uri="{FF2B5EF4-FFF2-40B4-BE49-F238E27FC236}">
                <a16:creationId xmlns:a16="http://schemas.microsoft.com/office/drawing/2014/main" id="{7E71B93C-A324-41A2-AE26-DC1D42DB4C93}"/>
              </a:ext>
            </a:extLst>
          </p:cNvPr>
          <p:cNvCxnSpPr/>
          <p:nvPr/>
        </p:nvCxnSpPr>
        <p:spPr>
          <a:xfrm>
            <a:off x="416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0" name="reg-ext">
            <a:extLst>
              <a:ext uri="{FF2B5EF4-FFF2-40B4-BE49-F238E27FC236}">
                <a16:creationId xmlns:a16="http://schemas.microsoft.com/office/drawing/2014/main" id="{F3FFC9D0-EFBF-4B4C-9718-CDD3DAB52FED}"/>
              </a:ext>
            </a:extLst>
          </p:cNvPr>
          <p:cNvSpPr/>
          <p:nvPr/>
        </p:nvSpPr>
        <p:spPr>
          <a:xfrm>
            <a:off x="550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1" name="object-268: RegExt 扩展">
            <a:extLst>
              <a:ext uri="{FF2B5EF4-FFF2-40B4-BE49-F238E27FC236}">
                <a16:creationId xmlns:a16="http://schemas.microsoft.com/office/drawing/2014/main" id="{6A2DE6BF-83C4-46D2-911D-C24494A78B35}"/>
              </a:ext>
            </a:extLst>
          </p:cNvPr>
          <p:cNvSpPr txBox="1"/>
          <p:nvPr/>
        </p:nvSpPr>
        <p:spPr>
          <a:xfrm>
            <a:off x="5750480" y="5700082"/>
            <a:ext cx="5979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1042" name="object-269: 新增 IP 配置出口">
            <a:extLst>
              <a:ext uri="{FF2B5EF4-FFF2-40B4-BE49-F238E27FC236}">
                <a16:creationId xmlns:a16="http://schemas.microsoft.com/office/drawing/2014/main" id="{42D0E2BF-9B88-4214-A270-C0C43807DB3B}"/>
              </a:ext>
            </a:extLst>
          </p:cNvPr>
          <p:cNvSpPr txBox="1"/>
          <p:nvPr/>
        </p:nvSpPr>
        <p:spPr>
          <a:xfrm>
            <a:off x="5712809" y="5812655"/>
            <a:ext cx="67326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cxnSp>
        <p:nvCxnSpPr>
          <p:cNvPr id="1043" name="reg-drop-reg-ext">
            <a:extLst>
              <a:ext uri="{FF2B5EF4-FFF2-40B4-BE49-F238E27FC236}">
                <a16:creationId xmlns:a16="http://schemas.microsoft.com/office/drawing/2014/main" id="{FCB356D9-4EA7-4651-851E-9D0E0E61EA3B}"/>
              </a:ext>
            </a:extLst>
          </p:cNvPr>
          <p:cNvCxnSpPr/>
          <p:nvPr/>
        </p:nvCxnSpPr>
        <p:spPr>
          <a:xfrm>
            <a:off x="543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4" name="ddr-controller">
            <a:extLst>
              <a:ext uri="{FF2B5EF4-FFF2-40B4-BE49-F238E27FC236}">
                <a16:creationId xmlns:a16="http://schemas.microsoft.com/office/drawing/2014/main" id="{F2CDF5A0-6C1B-4F5F-B14C-DA77524D63A3}"/>
              </a:ext>
            </a:extLst>
          </p:cNvPr>
          <p:cNvSpPr/>
          <p:nvPr/>
        </p:nvSpPr>
        <p:spPr>
          <a:xfrm>
            <a:off x="7065440" y="4582482"/>
            <a:ext cx="3285067" cy="12530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5" name="object-272: DDR Controller · 3 个 AXI slave">
            <a:extLst>
              <a:ext uri="{FF2B5EF4-FFF2-40B4-BE49-F238E27FC236}">
                <a16:creationId xmlns:a16="http://schemas.microsoft.com/office/drawing/2014/main" id="{2E607D15-407F-4CDC-9A28-3725F752D408}"/>
              </a:ext>
            </a:extLst>
          </p:cNvPr>
          <p:cNvSpPr txBox="1"/>
          <p:nvPr/>
        </p:nvSpPr>
        <p:spPr>
          <a:xfrm>
            <a:off x="7815102" y="5686873"/>
            <a:ext cx="1785745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3 个 AXI slave</a:t>
            </a:r>
          </a:p>
        </p:txBody>
      </p:sp>
      <p:sp>
        <p:nvSpPr>
          <p:cNvPr id="1046" name="cfg-tag-C2-272">
            <a:extLst>
              <a:ext uri="{FF2B5EF4-FFF2-40B4-BE49-F238E27FC236}">
                <a16:creationId xmlns:a16="http://schemas.microsoft.com/office/drawing/2014/main" id="{DC123D00-7770-4D36-BE74-0CAEF004A1C0}"/>
              </a:ext>
            </a:extLst>
          </p:cNvPr>
          <p:cNvSpPr/>
          <p:nvPr/>
        </p:nvSpPr>
        <p:spPr>
          <a:xfrm>
            <a:off x="10113440" y="57034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7" name="object-274: C2">
            <a:extLst>
              <a:ext uri="{FF2B5EF4-FFF2-40B4-BE49-F238E27FC236}">
                <a16:creationId xmlns:a16="http://schemas.microsoft.com/office/drawing/2014/main" id="{34935CB7-5BD6-47A9-A015-5E24A53424DE}"/>
              </a:ext>
            </a:extLst>
          </p:cNvPr>
          <p:cNvSpPr txBox="1"/>
          <p:nvPr/>
        </p:nvSpPr>
        <p:spPr>
          <a:xfrm>
            <a:off x="10143333" y="57048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048" name="ddr-S0">
            <a:extLst>
              <a:ext uri="{FF2B5EF4-FFF2-40B4-BE49-F238E27FC236}">
                <a16:creationId xmlns:a16="http://schemas.microsoft.com/office/drawing/2014/main" id="{6691ED0E-01BE-459F-9B68-EB9029A85852}"/>
              </a:ext>
            </a:extLst>
          </p:cNvPr>
          <p:cNvSpPr/>
          <p:nvPr/>
        </p:nvSpPr>
        <p:spPr>
          <a:xfrm>
            <a:off x="71331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9" name="object-276: S0">
            <a:extLst>
              <a:ext uri="{FF2B5EF4-FFF2-40B4-BE49-F238E27FC236}">
                <a16:creationId xmlns:a16="http://schemas.microsoft.com/office/drawing/2014/main" id="{3E638D93-F21A-4686-AF3F-03E5B0EEB55F}"/>
              </a:ext>
            </a:extLst>
          </p:cNvPr>
          <p:cNvSpPr txBox="1"/>
          <p:nvPr/>
        </p:nvSpPr>
        <p:spPr>
          <a:xfrm>
            <a:off x="74359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1050" name="object-277: SoC / LLC">
            <a:extLst>
              <a:ext uri="{FF2B5EF4-FFF2-40B4-BE49-F238E27FC236}">
                <a16:creationId xmlns:a16="http://schemas.microsoft.com/office/drawing/2014/main" id="{16A28138-BFB3-4240-B7BC-4EDC71FC712A}"/>
              </a:ext>
            </a:extLst>
          </p:cNvPr>
          <p:cNvSpPr txBox="1"/>
          <p:nvPr/>
        </p:nvSpPr>
        <p:spPr>
          <a:xfrm>
            <a:off x="7298919" y="4758860"/>
            <a:ext cx="4135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SoC / LLC</a:t>
            </a:r>
          </a:p>
        </p:txBody>
      </p:sp>
      <p:cxnSp>
        <p:nvCxnSpPr>
          <p:cNvPr id="1051" name="ddr-S-to-arb-0">
            <a:extLst>
              <a:ext uri="{FF2B5EF4-FFF2-40B4-BE49-F238E27FC236}">
                <a16:creationId xmlns:a16="http://schemas.microsoft.com/office/drawing/2014/main" id="{A7252EFA-7EE5-456E-B64D-45437FEBCBA2}"/>
              </a:ext>
            </a:extLst>
          </p:cNvPr>
          <p:cNvCxnSpPr/>
          <p:nvPr/>
        </p:nvCxnSpPr>
        <p:spPr>
          <a:xfrm>
            <a:off x="75057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2" name="ddr-S1">
            <a:extLst>
              <a:ext uri="{FF2B5EF4-FFF2-40B4-BE49-F238E27FC236}">
                <a16:creationId xmlns:a16="http://schemas.microsoft.com/office/drawing/2014/main" id="{7086A1C7-6343-4C2E-BF38-5BBB4A4DBE91}"/>
              </a:ext>
            </a:extLst>
          </p:cNvPr>
          <p:cNvSpPr/>
          <p:nvPr/>
        </p:nvSpPr>
        <p:spPr>
          <a:xfrm>
            <a:off x="82507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3" name="object-280: S1">
            <a:extLst>
              <a:ext uri="{FF2B5EF4-FFF2-40B4-BE49-F238E27FC236}">
                <a16:creationId xmlns:a16="http://schemas.microsoft.com/office/drawing/2014/main" id="{B2E7CB33-2C1D-440C-A067-0DE14C752922}"/>
              </a:ext>
            </a:extLst>
          </p:cNvPr>
          <p:cNvSpPr txBox="1"/>
          <p:nvPr/>
        </p:nvSpPr>
        <p:spPr>
          <a:xfrm>
            <a:off x="85535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54" name="object-281: NPU / GB 搬运">
            <a:extLst>
              <a:ext uri="{FF2B5EF4-FFF2-40B4-BE49-F238E27FC236}">
                <a16:creationId xmlns:a16="http://schemas.microsoft.com/office/drawing/2014/main" id="{C8652E7B-2D08-4876-A8E7-6600B2055E57}"/>
              </a:ext>
            </a:extLst>
          </p:cNvPr>
          <p:cNvSpPr txBox="1"/>
          <p:nvPr/>
        </p:nvSpPr>
        <p:spPr>
          <a:xfrm>
            <a:off x="8313928" y="4758860"/>
            <a:ext cx="61875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cxnSp>
        <p:nvCxnSpPr>
          <p:cNvPr id="1055" name="ddr-S-to-arb-1">
            <a:extLst>
              <a:ext uri="{FF2B5EF4-FFF2-40B4-BE49-F238E27FC236}">
                <a16:creationId xmlns:a16="http://schemas.microsoft.com/office/drawing/2014/main" id="{F62288E7-5AF1-4E3F-9560-60F89E32F154}"/>
              </a:ext>
            </a:extLst>
          </p:cNvPr>
          <p:cNvCxnSpPr/>
          <p:nvPr/>
        </p:nvCxnSpPr>
        <p:spPr>
          <a:xfrm>
            <a:off x="86233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6" name="ddr-S2">
            <a:extLst>
              <a:ext uri="{FF2B5EF4-FFF2-40B4-BE49-F238E27FC236}">
                <a16:creationId xmlns:a16="http://schemas.microsoft.com/office/drawing/2014/main" id="{ADCA61D9-2312-44E4-903B-EE0F6CE498B9}"/>
              </a:ext>
            </a:extLst>
          </p:cNvPr>
          <p:cNvSpPr/>
          <p:nvPr/>
        </p:nvSpPr>
        <p:spPr>
          <a:xfrm>
            <a:off x="93683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7" name="object-284: S2">
            <a:extLst>
              <a:ext uri="{FF2B5EF4-FFF2-40B4-BE49-F238E27FC236}">
                <a16:creationId xmlns:a16="http://schemas.microsoft.com/office/drawing/2014/main" id="{4A254861-34DC-4BB9-B5C8-C33C2BB93B9B}"/>
              </a:ext>
            </a:extLst>
          </p:cNvPr>
          <p:cNvSpPr txBox="1"/>
          <p:nvPr/>
        </p:nvSpPr>
        <p:spPr>
          <a:xfrm>
            <a:off x="96711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58" name="object-285: 图像帧写入">
            <a:extLst>
              <a:ext uri="{FF2B5EF4-FFF2-40B4-BE49-F238E27FC236}">
                <a16:creationId xmlns:a16="http://schemas.microsoft.com/office/drawing/2014/main" id="{64049BC4-F5D1-47E7-8AF9-CA41D18F45C4}"/>
              </a:ext>
            </a:extLst>
          </p:cNvPr>
          <p:cNvSpPr txBox="1"/>
          <p:nvPr/>
        </p:nvSpPr>
        <p:spPr>
          <a:xfrm>
            <a:off x="9516486" y="4758860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图像帧写入</a:t>
            </a:r>
          </a:p>
        </p:txBody>
      </p:sp>
      <p:cxnSp>
        <p:nvCxnSpPr>
          <p:cNvPr id="1059" name="ddr-S-to-arb-2">
            <a:extLst>
              <a:ext uri="{FF2B5EF4-FFF2-40B4-BE49-F238E27FC236}">
                <a16:creationId xmlns:a16="http://schemas.microsoft.com/office/drawing/2014/main" id="{8AB2A2C0-EF2E-4BDA-B2A9-DA763EA06B7C}"/>
              </a:ext>
            </a:extLst>
          </p:cNvPr>
          <p:cNvCxnSpPr/>
          <p:nvPr/>
        </p:nvCxnSpPr>
        <p:spPr>
          <a:xfrm>
            <a:off x="97409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0" name="ddr-port-collect">
            <a:extLst>
              <a:ext uri="{FF2B5EF4-FFF2-40B4-BE49-F238E27FC236}">
                <a16:creationId xmlns:a16="http://schemas.microsoft.com/office/drawing/2014/main" id="{4BF79ED7-23F1-49A4-A532-37A8E1C1E006}"/>
              </a:ext>
            </a:extLst>
          </p:cNvPr>
          <p:cNvCxnSpPr/>
          <p:nvPr/>
        </p:nvCxnSpPr>
        <p:spPr>
          <a:xfrm>
            <a:off x="7505706" y="5022749"/>
            <a:ext cx="2235200" cy="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1" name="ddr-all-to-arbiter">
            <a:extLst>
              <a:ext uri="{FF2B5EF4-FFF2-40B4-BE49-F238E27FC236}">
                <a16:creationId xmlns:a16="http://schemas.microsoft.com/office/drawing/2014/main" id="{2F3E0D25-8498-4BB9-A346-7C1CD68191E5}"/>
              </a:ext>
            </a:extLst>
          </p:cNvPr>
          <p:cNvCxnSpPr/>
          <p:nvPr/>
        </p:nvCxnSpPr>
        <p:spPr>
          <a:xfrm>
            <a:off x="7708906" y="5022749"/>
            <a:ext cx="0" cy="203200"/>
          </a:xfrm>
          <a:prstGeom prst="line">
            <a:avLst/>
          </a:prstGeom>
          <a:ln w="22758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2" name="ddr-scheduler">
            <a:extLst>
              <a:ext uri="{FF2B5EF4-FFF2-40B4-BE49-F238E27FC236}">
                <a16:creationId xmlns:a16="http://schemas.microsoft.com/office/drawing/2014/main" id="{AFD3DC4E-F974-47FC-A184-9DFF294C4164}"/>
              </a:ext>
            </a:extLst>
          </p:cNvPr>
          <p:cNvSpPr/>
          <p:nvPr/>
        </p:nvSpPr>
        <p:spPr>
          <a:xfrm>
            <a:off x="7200906" y="5225949"/>
            <a:ext cx="3031067" cy="45720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63" name="object-290: 端口仲裁 / QoS">
            <a:extLst>
              <a:ext uri="{FF2B5EF4-FFF2-40B4-BE49-F238E27FC236}">
                <a16:creationId xmlns:a16="http://schemas.microsoft.com/office/drawing/2014/main" id="{8C9987A2-50C6-40F9-A52B-D1939F626071}"/>
              </a:ext>
            </a:extLst>
          </p:cNvPr>
          <p:cNvSpPr txBox="1"/>
          <p:nvPr/>
        </p:nvSpPr>
        <p:spPr>
          <a:xfrm>
            <a:off x="7342620" y="5289754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端口仲裁 / QoS</a:t>
            </a:r>
          </a:p>
        </p:txBody>
      </p:sp>
      <p:sp>
        <p:nvSpPr>
          <p:cNvPr id="1064" name="object-291: 共享 DDR 带宽">
            <a:extLst>
              <a:ext uri="{FF2B5EF4-FFF2-40B4-BE49-F238E27FC236}">
                <a16:creationId xmlns:a16="http://schemas.microsoft.com/office/drawing/2014/main" id="{1B54921B-97A5-47F6-8E2B-D3B68607ADFC}"/>
              </a:ext>
            </a:extLst>
          </p:cNvPr>
          <p:cNvSpPr txBox="1"/>
          <p:nvPr/>
        </p:nvSpPr>
        <p:spPr>
          <a:xfrm>
            <a:off x="7403534" y="5432807"/>
            <a:ext cx="6107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 DDR 带宽</a:t>
            </a:r>
          </a:p>
        </p:txBody>
      </p:sp>
      <p:cxnSp>
        <p:nvCxnSpPr>
          <p:cNvPr id="1065" name="ddr-schedule-step-0">
            <a:extLst>
              <a:ext uri="{FF2B5EF4-FFF2-40B4-BE49-F238E27FC236}">
                <a16:creationId xmlns:a16="http://schemas.microsoft.com/office/drawing/2014/main" id="{F98EA5E8-9E92-4547-86F5-394597F95419}"/>
              </a:ext>
            </a:extLst>
          </p:cNvPr>
          <p:cNvCxnSpPr/>
          <p:nvPr/>
        </p:nvCxnSpPr>
        <p:spPr>
          <a:xfrm>
            <a:off x="814240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6" name="object-293: 读写调度">
            <a:extLst>
              <a:ext uri="{FF2B5EF4-FFF2-40B4-BE49-F238E27FC236}">
                <a16:creationId xmlns:a16="http://schemas.microsoft.com/office/drawing/2014/main" id="{7F171FE8-D049-412C-B70D-9912279617E1}"/>
              </a:ext>
            </a:extLst>
          </p:cNvPr>
          <p:cNvSpPr txBox="1"/>
          <p:nvPr/>
        </p:nvSpPr>
        <p:spPr>
          <a:xfrm>
            <a:off x="850956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</a:t>
            </a:r>
          </a:p>
        </p:txBody>
      </p:sp>
      <p:sp>
        <p:nvSpPr>
          <p:cNvPr id="1067" name="object-294: Bank / Row">
            <a:extLst>
              <a:ext uri="{FF2B5EF4-FFF2-40B4-BE49-F238E27FC236}">
                <a16:creationId xmlns:a16="http://schemas.microsoft.com/office/drawing/2014/main" id="{1C974FF8-9DD9-4D01-B6AB-33B5EDC09B62}"/>
              </a:ext>
            </a:extLst>
          </p:cNvPr>
          <p:cNvSpPr txBox="1"/>
          <p:nvPr/>
        </p:nvSpPr>
        <p:spPr>
          <a:xfrm>
            <a:off x="8469487" y="5432807"/>
            <a:ext cx="490520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Bank / Row</a:t>
            </a:r>
          </a:p>
        </p:txBody>
      </p:sp>
      <p:cxnSp>
        <p:nvCxnSpPr>
          <p:cNvPr id="1068" name="ddr-schedule-step-1">
            <a:extLst>
              <a:ext uri="{FF2B5EF4-FFF2-40B4-BE49-F238E27FC236}">
                <a16:creationId xmlns:a16="http://schemas.microsoft.com/office/drawing/2014/main" id="{21793AC5-2384-4291-81C6-59C037484AF5}"/>
              </a:ext>
            </a:extLst>
          </p:cNvPr>
          <p:cNvCxnSpPr/>
          <p:nvPr/>
        </p:nvCxnSpPr>
        <p:spPr>
          <a:xfrm>
            <a:off x="914824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9" name="object-296: 命令调度">
            <a:extLst>
              <a:ext uri="{FF2B5EF4-FFF2-40B4-BE49-F238E27FC236}">
                <a16:creationId xmlns:a16="http://schemas.microsoft.com/office/drawing/2014/main" id="{67D4B73D-B43A-4978-BDDB-E0ACD633264E}"/>
              </a:ext>
            </a:extLst>
          </p:cNvPr>
          <p:cNvSpPr txBox="1"/>
          <p:nvPr/>
        </p:nvSpPr>
        <p:spPr>
          <a:xfrm>
            <a:off x="951540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</a:t>
            </a:r>
          </a:p>
        </p:txBody>
      </p:sp>
      <p:sp>
        <p:nvSpPr>
          <p:cNvPr id="1070" name="object-297: 控制器 → PHY">
            <a:extLst>
              <a:ext uri="{FF2B5EF4-FFF2-40B4-BE49-F238E27FC236}">
                <a16:creationId xmlns:a16="http://schemas.microsoft.com/office/drawing/2014/main" id="{14DCFE42-BA82-4A60-8D4D-78D6F04B9F69}"/>
              </a:ext>
            </a:extLst>
          </p:cNvPr>
          <p:cNvSpPr txBox="1"/>
          <p:nvPr/>
        </p:nvSpPr>
        <p:spPr>
          <a:xfrm>
            <a:off x="9424832" y="5432807"/>
            <a:ext cx="5915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控制器 → PHY</a:t>
            </a:r>
          </a:p>
        </p:txBody>
      </p:sp>
      <p:sp>
        <p:nvSpPr>
          <p:cNvPr id="1071" name="object-298: 共享同一 DDR 地址空间">
            <a:extLst>
              <a:ext uri="{FF2B5EF4-FFF2-40B4-BE49-F238E27FC236}">
                <a16:creationId xmlns:a16="http://schemas.microsoft.com/office/drawing/2014/main" id="{32F55508-D622-4C94-9462-1D273285A090}"/>
              </a:ext>
            </a:extLst>
          </p:cNvPr>
          <p:cNvSpPr txBox="1"/>
          <p:nvPr/>
        </p:nvSpPr>
        <p:spPr>
          <a:xfrm>
            <a:off x="8578665" y="5074091"/>
            <a:ext cx="96981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共享同一 DDR 地址空间</a:t>
            </a:r>
          </a:p>
        </p:txBody>
      </p:sp>
      <p:sp>
        <p:nvSpPr>
          <p:cNvPr id="1072" name="ddr-phy">
            <a:extLst>
              <a:ext uri="{FF2B5EF4-FFF2-40B4-BE49-F238E27FC236}">
                <a16:creationId xmlns:a16="http://schemas.microsoft.com/office/drawing/2014/main" id="{159EE2B3-7138-4B9A-B3CD-98A4CE11B639}"/>
              </a:ext>
            </a:extLst>
          </p:cNvPr>
          <p:cNvSpPr/>
          <p:nvPr/>
        </p:nvSpPr>
        <p:spPr>
          <a:xfrm>
            <a:off x="10519840" y="5215789"/>
            <a:ext cx="677333" cy="4741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3" name="object-300: DDR PHY">
            <a:extLst>
              <a:ext uri="{FF2B5EF4-FFF2-40B4-BE49-F238E27FC236}">
                <a16:creationId xmlns:a16="http://schemas.microsoft.com/office/drawing/2014/main" id="{540C9B54-A5E0-4EBF-BF78-F95731B8E9BB}"/>
              </a:ext>
            </a:extLst>
          </p:cNvPr>
          <p:cNvSpPr txBox="1"/>
          <p:nvPr/>
        </p:nvSpPr>
        <p:spPr>
          <a:xfrm>
            <a:off x="10615652" y="5272547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074" name="object-301: 训练 / 校准">
            <a:extLst>
              <a:ext uri="{FF2B5EF4-FFF2-40B4-BE49-F238E27FC236}">
                <a16:creationId xmlns:a16="http://schemas.microsoft.com/office/drawing/2014/main" id="{762D8652-6DAA-47C0-9467-5CA026EB6161}"/>
              </a:ext>
            </a:extLst>
          </p:cNvPr>
          <p:cNvSpPr txBox="1"/>
          <p:nvPr/>
        </p:nvSpPr>
        <p:spPr>
          <a:xfrm>
            <a:off x="10601224" y="5405440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1075" name="cfg-tag-C3-301">
            <a:extLst>
              <a:ext uri="{FF2B5EF4-FFF2-40B4-BE49-F238E27FC236}">
                <a16:creationId xmlns:a16="http://schemas.microsoft.com/office/drawing/2014/main" id="{147500D1-D40B-4A05-AE23-8E5B12B66E0C}"/>
              </a:ext>
            </a:extLst>
          </p:cNvPr>
          <p:cNvSpPr/>
          <p:nvPr/>
        </p:nvSpPr>
        <p:spPr>
          <a:xfrm>
            <a:off x="10987200" y="555445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6" name="object-303: C3">
            <a:extLst>
              <a:ext uri="{FF2B5EF4-FFF2-40B4-BE49-F238E27FC236}">
                <a16:creationId xmlns:a16="http://schemas.microsoft.com/office/drawing/2014/main" id="{6AB24D3D-0919-4938-9FF6-B6A9107E8923}"/>
              </a:ext>
            </a:extLst>
          </p:cNvPr>
          <p:cNvSpPr txBox="1"/>
          <p:nvPr/>
        </p:nvSpPr>
        <p:spPr>
          <a:xfrm>
            <a:off x="11017093" y="555581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cxnSp>
        <p:nvCxnSpPr>
          <p:cNvPr id="1077" name="ddr-phy-path">
            <a:extLst>
              <a:ext uri="{FF2B5EF4-FFF2-40B4-BE49-F238E27FC236}">
                <a16:creationId xmlns:a16="http://schemas.microsoft.com/office/drawing/2014/main" id="{C1BBF756-77F3-4819-8895-BF7BB88FD606}"/>
              </a:ext>
            </a:extLst>
          </p:cNvPr>
          <p:cNvCxnSpPr/>
          <p:nvPr/>
        </p:nvCxnSpPr>
        <p:spPr>
          <a:xfrm>
            <a:off x="10231973" y="5429149"/>
            <a:ext cx="287867" cy="0"/>
          </a:xfrm>
          <a:prstGeom prst="line">
            <a:avLst/>
          </a:prstGeom>
          <a:ln w="28448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78" name="dram">
            <a:extLst>
              <a:ext uri="{FF2B5EF4-FFF2-40B4-BE49-F238E27FC236}">
                <a16:creationId xmlns:a16="http://schemas.microsoft.com/office/drawing/2014/main" id="{A461D61B-6A89-4A62-BAF2-EAB5497DE4BA}"/>
              </a:ext>
            </a:extLst>
          </p:cNvPr>
          <p:cNvSpPr/>
          <p:nvPr/>
        </p:nvSpPr>
        <p:spPr>
          <a:xfrm>
            <a:off x="11501973" y="5215789"/>
            <a:ext cx="508000" cy="474133"/>
          </a:xfrm>
          <a:prstGeom prst="rect">
            <a:avLst/>
          </a:prstGeom>
          <a:solidFill>
            <a:srgbClr val="EAECEE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9" name="object-306: DDR">
            <a:extLst>
              <a:ext uri="{FF2B5EF4-FFF2-40B4-BE49-F238E27FC236}">
                <a16:creationId xmlns:a16="http://schemas.microsoft.com/office/drawing/2014/main" id="{4F28D478-2D00-45B1-BC9F-F4813A2BEB73}"/>
              </a:ext>
            </a:extLst>
          </p:cNvPr>
          <p:cNvSpPr txBox="1"/>
          <p:nvPr/>
        </p:nvSpPr>
        <p:spPr>
          <a:xfrm>
            <a:off x="11624528" y="5261574"/>
            <a:ext cx="26289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080" name="object-307: 片外器件">
            <a:extLst>
              <a:ext uri="{FF2B5EF4-FFF2-40B4-BE49-F238E27FC236}">
                <a16:creationId xmlns:a16="http://schemas.microsoft.com/office/drawing/2014/main" id="{AE525BAC-9D08-4B70-9002-E8E6C69159F2}"/>
              </a:ext>
            </a:extLst>
          </p:cNvPr>
          <p:cNvSpPr txBox="1"/>
          <p:nvPr/>
        </p:nvSpPr>
        <p:spPr>
          <a:xfrm>
            <a:off x="11550789" y="5405440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cxnSp>
        <p:nvCxnSpPr>
          <p:cNvPr id="1081" name="phy-dram">
            <a:extLst>
              <a:ext uri="{FF2B5EF4-FFF2-40B4-BE49-F238E27FC236}">
                <a16:creationId xmlns:a16="http://schemas.microsoft.com/office/drawing/2014/main" id="{4D2F5ED4-8DBD-4CDD-B630-62605969ED4A}"/>
              </a:ext>
            </a:extLst>
          </p:cNvPr>
          <p:cNvCxnSpPr/>
          <p:nvPr/>
        </p:nvCxnSpPr>
        <p:spPr>
          <a:xfrm>
            <a:off x="11197173" y="5429149"/>
            <a:ext cx="304800" cy="0"/>
          </a:xfrm>
          <a:prstGeom prst="line">
            <a:avLst/>
          </a:prstGeom>
          <a:ln w="30074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82" name="npu-ddr">
            <a:extLst>
              <a:ext uri="{FF2B5EF4-FFF2-40B4-BE49-F238E27FC236}">
                <a16:creationId xmlns:a16="http://schemas.microsoft.com/office/drawing/2014/main" id="{FB80ED40-BAAF-4226-9008-6837C3A99E7A}"/>
              </a:ext>
            </a:extLst>
          </p:cNvPr>
          <p:cNvSpPr/>
          <p:nvPr/>
        </p:nvSpPr>
        <p:spPr>
          <a:xfrm>
            <a:off x="7336373" y="2008616"/>
            <a:ext cx="2980267" cy="2573867"/>
          </a:xfrm>
          <a:custGeom>
            <a:avLst/>
            <a:gdLst/>
            <a:ahLst/>
            <a:cxnLst/>
            <a:rect l="0" t="0" r="r" b="b"/>
            <a:pathLst>
              <a:path w="7152640" h="6177280" fill="none">
                <a:moveTo>
                  <a:pt x="0" y="0"/>
                </a:moveTo>
                <a:lnTo>
                  <a:pt x="422656" y="0"/>
                </a:lnTo>
                <a:lnTo>
                  <a:pt x="422656" y="812800"/>
                </a:lnTo>
                <a:lnTo>
                  <a:pt x="7152640" y="812800"/>
                </a:lnTo>
                <a:lnTo>
                  <a:pt x="7152640" y="5795264"/>
                </a:lnTo>
                <a:lnTo>
                  <a:pt x="3088640" y="5795264"/>
                </a:lnTo>
                <a:lnTo>
                  <a:pt x="3088640" y="617728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3" name="object-310: S1">
            <a:extLst>
              <a:ext uri="{FF2B5EF4-FFF2-40B4-BE49-F238E27FC236}">
                <a16:creationId xmlns:a16="http://schemas.microsoft.com/office/drawing/2014/main" id="{B3EEB8C6-B551-4571-8D04-0BFFECAC5804}"/>
              </a:ext>
            </a:extLst>
          </p:cNvPr>
          <p:cNvSpPr txBox="1"/>
          <p:nvPr/>
        </p:nvSpPr>
        <p:spPr>
          <a:xfrm>
            <a:off x="10335403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84" name="frame-ddr">
            <a:extLst>
              <a:ext uri="{FF2B5EF4-FFF2-40B4-BE49-F238E27FC236}">
                <a16:creationId xmlns:a16="http://schemas.microsoft.com/office/drawing/2014/main" id="{E5E5128B-5402-4BCE-B3A0-FCDD33B08E55}"/>
              </a:ext>
            </a:extLst>
          </p:cNvPr>
          <p:cNvSpPr/>
          <p:nvPr/>
        </p:nvSpPr>
        <p:spPr>
          <a:xfrm>
            <a:off x="9652853" y="1940882"/>
            <a:ext cx="1154853" cy="2641600"/>
          </a:xfrm>
          <a:custGeom>
            <a:avLst/>
            <a:gdLst/>
            <a:ahLst/>
            <a:cxnLst/>
            <a:rect l="0" t="0" r="r" b="b"/>
            <a:pathLst>
              <a:path w="2771648" h="6339840" fill="none">
                <a:moveTo>
                  <a:pt x="2771648" y="0"/>
                </a:moveTo>
                <a:lnTo>
                  <a:pt x="2771648" y="5648960"/>
                </a:lnTo>
                <a:lnTo>
                  <a:pt x="211328" y="5648960"/>
                </a:lnTo>
                <a:lnTo>
                  <a:pt x="211328" y="5852160"/>
                </a:lnTo>
                <a:cubicBezTo>
                  <a:pt x="0" y="5852160"/>
                  <a:pt x="0" y="6063488"/>
                  <a:pt x="211328" y="6063488"/>
                </a:cubicBezTo>
                <a:lnTo>
                  <a:pt x="211328" y="633984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5" name="object-312: S2">
            <a:extLst>
              <a:ext uri="{FF2B5EF4-FFF2-40B4-BE49-F238E27FC236}">
                <a16:creationId xmlns:a16="http://schemas.microsoft.com/office/drawing/2014/main" id="{01D1F55A-B4CA-4E35-800C-B965DD7951D0}"/>
              </a:ext>
            </a:extLst>
          </p:cNvPr>
          <p:cNvSpPr txBox="1"/>
          <p:nvPr/>
        </p:nvSpPr>
        <p:spPr>
          <a:xfrm>
            <a:off x="10829857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86" name="llc-ddr">
            <a:extLst>
              <a:ext uri="{FF2B5EF4-FFF2-40B4-BE49-F238E27FC236}">
                <a16:creationId xmlns:a16="http://schemas.microsoft.com/office/drawing/2014/main" id="{3E65ED82-8080-42FA-9917-8246D4DD099C}"/>
              </a:ext>
            </a:extLst>
          </p:cNvPr>
          <p:cNvSpPr/>
          <p:nvPr/>
        </p:nvSpPr>
        <p:spPr>
          <a:xfrm>
            <a:off x="4660906" y="4189629"/>
            <a:ext cx="2844800" cy="392853"/>
          </a:xfrm>
          <a:custGeom>
            <a:avLst/>
            <a:gdLst/>
            <a:ahLst/>
            <a:cxnLst/>
            <a:rect l="0" t="0" r="r" b="b"/>
            <a:pathLst>
              <a:path w="6827520" h="942848" fill="none">
                <a:moveTo>
                  <a:pt x="0" y="0"/>
                </a:moveTo>
                <a:lnTo>
                  <a:pt x="0" y="235712"/>
                </a:lnTo>
                <a:lnTo>
                  <a:pt x="6827520" y="235712"/>
                </a:lnTo>
                <a:lnTo>
                  <a:pt x="6827520" y="942848"/>
                </a:lnTo>
              </a:path>
            </a:pathLst>
          </a:custGeom>
          <a:noFill/>
          <a:ln w="29261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7" name="object-314: S0 · LLC 外存出口">
            <a:extLst>
              <a:ext uri="{FF2B5EF4-FFF2-40B4-BE49-F238E27FC236}">
                <a16:creationId xmlns:a16="http://schemas.microsoft.com/office/drawing/2014/main" id="{A2D3314B-A256-4C9F-8B9C-4E5FEC08A435}"/>
              </a:ext>
            </a:extLst>
          </p:cNvPr>
          <p:cNvSpPr txBox="1"/>
          <p:nvPr/>
        </p:nvSpPr>
        <p:spPr>
          <a:xfrm>
            <a:off x="7586564" y="4443954"/>
            <a:ext cx="718146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S0 · LLC </a:t>
            </a:r>
            <a:r>
              <a:rPr sz="7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外存出口</a:t>
            </a:r>
            <a:endParaRPr sz="7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88" name="clock-reset">
            <a:extLst>
              <a:ext uri="{FF2B5EF4-FFF2-40B4-BE49-F238E27FC236}">
                <a16:creationId xmlns:a16="http://schemas.microsoft.com/office/drawing/2014/main" id="{3D09B2BE-3605-4AB1-AAA7-2A5B66D33C22}"/>
              </a:ext>
            </a:extLst>
          </p:cNvPr>
          <p:cNvSpPr/>
          <p:nvPr/>
        </p:nvSpPr>
        <p:spPr>
          <a:xfrm>
            <a:off x="7200906" y="5937149"/>
            <a:ext cx="1778000" cy="25061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9" name="object-316: PLL / 时钟与复位分发">
            <a:extLst>
              <a:ext uri="{FF2B5EF4-FFF2-40B4-BE49-F238E27FC236}">
                <a16:creationId xmlns:a16="http://schemas.microsoft.com/office/drawing/2014/main" id="{6A5FCA8E-0944-4F72-B8B8-C6A7FBEA7689}"/>
              </a:ext>
            </a:extLst>
          </p:cNvPr>
          <p:cNvSpPr txBox="1"/>
          <p:nvPr/>
        </p:nvSpPr>
        <p:spPr>
          <a:xfrm>
            <a:off x="7465582" y="5993384"/>
            <a:ext cx="1130118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</a:t>
            </a:r>
            <a:r>
              <a:rPr sz="9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时钟与复位分发</a:t>
            </a:r>
            <a:endParaRPr sz="9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0" name="cfg-tag-C1-316">
            <a:extLst>
              <a:ext uri="{FF2B5EF4-FFF2-40B4-BE49-F238E27FC236}">
                <a16:creationId xmlns:a16="http://schemas.microsoft.com/office/drawing/2014/main" id="{608D59C5-D287-42EC-B634-60C52FF30DB7}"/>
              </a:ext>
            </a:extLst>
          </p:cNvPr>
          <p:cNvSpPr/>
          <p:nvPr/>
        </p:nvSpPr>
        <p:spPr>
          <a:xfrm>
            <a:off x="8738453" y="60082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1" name="object-318: C1">
            <a:extLst>
              <a:ext uri="{FF2B5EF4-FFF2-40B4-BE49-F238E27FC236}">
                <a16:creationId xmlns:a16="http://schemas.microsoft.com/office/drawing/2014/main" id="{3C2E8761-8264-40FF-8732-418504C9E1D8}"/>
              </a:ext>
            </a:extLst>
          </p:cNvPr>
          <p:cNvSpPr txBox="1"/>
          <p:nvPr/>
        </p:nvSpPr>
        <p:spPr>
          <a:xfrm>
            <a:off x="8768347" y="60096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2" name="object-319: RefClk / POR → clk_i / rst_ni">
            <a:extLst>
              <a:ext uri="{FF2B5EF4-FFF2-40B4-BE49-F238E27FC236}">
                <a16:creationId xmlns:a16="http://schemas.microsoft.com/office/drawing/2014/main" id="{D8F8F012-DECA-4F8B-822D-A1D9708813E2}"/>
              </a:ext>
            </a:extLst>
          </p:cNvPr>
          <p:cNvSpPr txBox="1"/>
          <p:nvPr/>
        </p:nvSpPr>
        <p:spPr>
          <a:xfrm>
            <a:off x="9020878" y="5983396"/>
            <a:ext cx="13673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POR →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clk_i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rst_ni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3" name="regext-control-bus">
            <a:extLst>
              <a:ext uri="{FF2B5EF4-FFF2-40B4-BE49-F238E27FC236}">
                <a16:creationId xmlns:a16="http://schemas.microsoft.com/office/drawing/2014/main" id="{339E25D4-6A77-471F-8203-9B620A43C384}"/>
              </a:ext>
            </a:extLst>
          </p:cNvPr>
          <p:cNvSpPr/>
          <p:nvPr/>
        </p:nvSpPr>
        <p:spPr>
          <a:xfrm>
            <a:off x="6591307" y="5818616"/>
            <a:ext cx="270933" cy="457200"/>
          </a:xfrm>
          <a:custGeom>
            <a:avLst/>
            <a:gdLst/>
            <a:ahLst/>
            <a:cxnLst/>
            <a:rect l="0" t="0" r="r" b="b"/>
            <a:pathLst>
              <a:path w="650240" h="1097280" fill="none">
                <a:moveTo>
                  <a:pt x="0" y="0"/>
                </a:moveTo>
                <a:lnTo>
                  <a:pt x="650240" y="0"/>
                </a:lnTo>
                <a:lnTo>
                  <a:pt x="650240" y="1097280"/>
                </a:lnTo>
              </a:path>
            </a:pathLst>
          </a:custGeom>
          <a:noFill/>
          <a:ln w="22758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cxnSp>
        <p:nvCxnSpPr>
          <p:cNvPr id="1094" name="config-bus">
            <a:extLst>
              <a:ext uri="{FF2B5EF4-FFF2-40B4-BE49-F238E27FC236}">
                <a16:creationId xmlns:a16="http://schemas.microsoft.com/office/drawing/2014/main" id="{2ABB8BBC-C019-49D7-B292-98F46D703155}"/>
              </a:ext>
            </a:extLst>
          </p:cNvPr>
          <p:cNvCxnSpPr/>
          <p:nvPr/>
        </p:nvCxnSpPr>
        <p:spPr>
          <a:xfrm>
            <a:off x="792104" y="6275816"/>
            <a:ext cx="9922933" cy="0"/>
          </a:xfrm>
          <a:prstGeom prst="line">
            <a:avLst/>
          </a:prstGeom>
          <a:ln w="24384" cap="flat">
            <a:solidFill>
              <a:srgbClr val="765489"/>
            </a:solidFill>
          </a:ln>
          <a:effectLst/>
        </p:spPr>
      </p:cxnSp>
      <p:cxnSp>
        <p:nvCxnSpPr>
          <p:cNvPr id="1095" name="cfg-drop-0">
            <a:extLst>
              <a:ext uri="{FF2B5EF4-FFF2-40B4-BE49-F238E27FC236}">
                <a16:creationId xmlns:a16="http://schemas.microsoft.com/office/drawing/2014/main" id="{CAD805B9-354A-4FB9-BB78-CF45031A22BD}"/>
              </a:ext>
            </a:extLst>
          </p:cNvPr>
          <p:cNvCxnSpPr/>
          <p:nvPr/>
        </p:nvCxnSpPr>
        <p:spPr>
          <a:xfrm>
            <a:off x="8001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96" name="config-C1">
            <a:extLst>
              <a:ext uri="{FF2B5EF4-FFF2-40B4-BE49-F238E27FC236}">
                <a16:creationId xmlns:a16="http://schemas.microsoft.com/office/drawing/2014/main" id="{E27DF2D4-D194-4023-A691-62B09700BF01}"/>
              </a:ext>
            </a:extLst>
          </p:cNvPr>
          <p:cNvSpPr/>
          <p:nvPr/>
        </p:nvSpPr>
        <p:spPr>
          <a:xfrm>
            <a:off x="2413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7" name="cfg-tag-C1-323">
            <a:extLst>
              <a:ext uri="{FF2B5EF4-FFF2-40B4-BE49-F238E27FC236}">
                <a16:creationId xmlns:a16="http://schemas.microsoft.com/office/drawing/2014/main" id="{A8C1EE9E-4B46-4523-9714-4918F5521645}"/>
              </a:ext>
            </a:extLst>
          </p:cNvPr>
          <p:cNvSpPr/>
          <p:nvPr/>
        </p:nvSpPr>
        <p:spPr>
          <a:xfrm>
            <a:off x="2684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8" name="object-325: C1">
            <a:extLst>
              <a:ext uri="{FF2B5EF4-FFF2-40B4-BE49-F238E27FC236}">
                <a16:creationId xmlns:a16="http://schemas.microsoft.com/office/drawing/2014/main" id="{1BFEF553-AAD6-436F-854D-BF5BB571E514}"/>
              </a:ext>
            </a:extLst>
          </p:cNvPr>
          <p:cNvSpPr txBox="1"/>
          <p:nvPr/>
        </p:nvSpPr>
        <p:spPr>
          <a:xfrm>
            <a:off x="2982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9" name="object-326: PLL / 时钟复位">
            <a:extLst>
              <a:ext uri="{FF2B5EF4-FFF2-40B4-BE49-F238E27FC236}">
                <a16:creationId xmlns:a16="http://schemas.microsoft.com/office/drawing/2014/main" id="{20264680-1A1F-4A47-8124-0FA5555C81B7}"/>
              </a:ext>
            </a:extLst>
          </p:cNvPr>
          <p:cNvSpPr txBox="1"/>
          <p:nvPr/>
        </p:nvSpPr>
        <p:spPr>
          <a:xfrm>
            <a:off x="535318" y="6404509"/>
            <a:ext cx="6989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时钟复位</a:t>
            </a:r>
          </a:p>
        </p:txBody>
      </p:sp>
      <p:sp>
        <p:nvSpPr>
          <p:cNvPr id="1100" name="object-327: 配置 / 锁定 / 切换">
            <a:extLst>
              <a:ext uri="{FF2B5EF4-FFF2-40B4-BE49-F238E27FC236}">
                <a16:creationId xmlns:a16="http://schemas.microsoft.com/office/drawing/2014/main" id="{23F1FE3D-28E6-44FD-84BD-614EB485E196}"/>
              </a:ext>
            </a:extLst>
          </p:cNvPr>
          <p:cNvSpPr txBox="1"/>
          <p:nvPr/>
        </p:nvSpPr>
        <p:spPr>
          <a:xfrm>
            <a:off x="4446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配置 / 锁定 / 切换</a:t>
            </a:r>
          </a:p>
        </p:txBody>
      </p:sp>
      <p:cxnSp>
        <p:nvCxnSpPr>
          <p:cNvPr id="1101" name="cfg-drop-1">
            <a:extLst>
              <a:ext uri="{FF2B5EF4-FFF2-40B4-BE49-F238E27FC236}">
                <a16:creationId xmlns:a16="http://schemas.microsoft.com/office/drawing/2014/main" id="{D9FE6EA3-93DA-43CE-A4E2-86446BDA771F}"/>
              </a:ext>
            </a:extLst>
          </p:cNvPr>
          <p:cNvCxnSpPr/>
          <p:nvPr/>
        </p:nvCxnSpPr>
        <p:spPr>
          <a:xfrm>
            <a:off x="20362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2" name="config-C2">
            <a:extLst>
              <a:ext uri="{FF2B5EF4-FFF2-40B4-BE49-F238E27FC236}">
                <a16:creationId xmlns:a16="http://schemas.microsoft.com/office/drawing/2014/main" id="{C19DDEDD-04A8-4E8E-8EB9-8C2B127698F1}"/>
              </a:ext>
            </a:extLst>
          </p:cNvPr>
          <p:cNvSpPr/>
          <p:nvPr/>
        </p:nvSpPr>
        <p:spPr>
          <a:xfrm>
            <a:off x="14774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3" name="cfg-tag-C2-329">
            <a:extLst>
              <a:ext uri="{FF2B5EF4-FFF2-40B4-BE49-F238E27FC236}">
                <a16:creationId xmlns:a16="http://schemas.microsoft.com/office/drawing/2014/main" id="{C6B67E79-B004-4BD6-BFCD-4BE0E12193A6}"/>
              </a:ext>
            </a:extLst>
          </p:cNvPr>
          <p:cNvSpPr/>
          <p:nvPr/>
        </p:nvSpPr>
        <p:spPr>
          <a:xfrm>
            <a:off x="15045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4" name="object-331: C2">
            <a:extLst>
              <a:ext uri="{FF2B5EF4-FFF2-40B4-BE49-F238E27FC236}">
                <a16:creationId xmlns:a16="http://schemas.microsoft.com/office/drawing/2014/main" id="{72633FEC-BFD3-41E8-8393-EF144745AA0C}"/>
              </a:ext>
            </a:extLst>
          </p:cNvPr>
          <p:cNvSpPr txBox="1"/>
          <p:nvPr/>
        </p:nvSpPr>
        <p:spPr>
          <a:xfrm>
            <a:off x="15344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105" name="object-332: DDR Controller">
            <a:extLst>
              <a:ext uri="{FF2B5EF4-FFF2-40B4-BE49-F238E27FC236}">
                <a16:creationId xmlns:a16="http://schemas.microsoft.com/office/drawing/2014/main" id="{146DCDAF-2610-42D5-B69A-E8CFBE1960E6}"/>
              </a:ext>
            </a:extLst>
          </p:cNvPr>
          <p:cNvSpPr txBox="1"/>
          <p:nvPr/>
        </p:nvSpPr>
        <p:spPr>
          <a:xfrm>
            <a:off x="1728171" y="6404509"/>
            <a:ext cx="7854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</a:t>
            </a:r>
          </a:p>
        </p:txBody>
      </p:sp>
      <p:sp>
        <p:nvSpPr>
          <p:cNvPr id="1106" name="object-333: 初始化 / QoS / 状态">
            <a:extLst>
              <a:ext uri="{FF2B5EF4-FFF2-40B4-BE49-F238E27FC236}">
                <a16:creationId xmlns:a16="http://schemas.microsoft.com/office/drawing/2014/main" id="{9149974A-003B-4CD3-A8EF-1EE8ECF42464}"/>
              </a:ext>
            </a:extLst>
          </p:cNvPr>
          <p:cNvSpPr txBox="1"/>
          <p:nvPr/>
        </p:nvSpPr>
        <p:spPr>
          <a:xfrm>
            <a:off x="1634249" y="6543904"/>
            <a:ext cx="81753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初始化 / QoS / 状态</a:t>
            </a:r>
          </a:p>
        </p:txBody>
      </p:sp>
      <p:cxnSp>
        <p:nvCxnSpPr>
          <p:cNvPr id="1107" name="cfg-drop-2">
            <a:extLst>
              <a:ext uri="{FF2B5EF4-FFF2-40B4-BE49-F238E27FC236}">
                <a16:creationId xmlns:a16="http://schemas.microsoft.com/office/drawing/2014/main" id="{9F4659C3-075D-4ED0-936E-DE6A6EC549DA}"/>
              </a:ext>
            </a:extLst>
          </p:cNvPr>
          <p:cNvCxnSpPr/>
          <p:nvPr/>
        </p:nvCxnSpPr>
        <p:spPr>
          <a:xfrm>
            <a:off x="32723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8" name="config-C3">
            <a:extLst>
              <a:ext uri="{FF2B5EF4-FFF2-40B4-BE49-F238E27FC236}">
                <a16:creationId xmlns:a16="http://schemas.microsoft.com/office/drawing/2014/main" id="{FD1CC228-3931-43A7-986E-2A89CFC4BB36}"/>
              </a:ext>
            </a:extLst>
          </p:cNvPr>
          <p:cNvSpPr/>
          <p:nvPr/>
        </p:nvSpPr>
        <p:spPr>
          <a:xfrm>
            <a:off x="27135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9" name="cfg-tag-C3-335">
            <a:extLst>
              <a:ext uri="{FF2B5EF4-FFF2-40B4-BE49-F238E27FC236}">
                <a16:creationId xmlns:a16="http://schemas.microsoft.com/office/drawing/2014/main" id="{8EF30D5B-7E74-4F8A-AA6F-A99B62074254}"/>
              </a:ext>
            </a:extLst>
          </p:cNvPr>
          <p:cNvSpPr/>
          <p:nvPr/>
        </p:nvSpPr>
        <p:spPr>
          <a:xfrm>
            <a:off x="27406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0" name="object-337: C3">
            <a:extLst>
              <a:ext uri="{FF2B5EF4-FFF2-40B4-BE49-F238E27FC236}">
                <a16:creationId xmlns:a16="http://schemas.microsoft.com/office/drawing/2014/main" id="{E97C60F1-2A4A-45B8-B8F5-7B67D2BFAFAC}"/>
              </a:ext>
            </a:extLst>
          </p:cNvPr>
          <p:cNvSpPr txBox="1"/>
          <p:nvPr/>
        </p:nvSpPr>
        <p:spPr>
          <a:xfrm>
            <a:off x="27705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111" name="object-338: DDR PHY">
            <a:extLst>
              <a:ext uri="{FF2B5EF4-FFF2-40B4-BE49-F238E27FC236}">
                <a16:creationId xmlns:a16="http://schemas.microsoft.com/office/drawing/2014/main" id="{2E0ECAF8-EC7A-4742-9A65-E1BECD00A38C}"/>
              </a:ext>
            </a:extLst>
          </p:cNvPr>
          <p:cNvSpPr txBox="1"/>
          <p:nvPr/>
        </p:nvSpPr>
        <p:spPr>
          <a:xfrm>
            <a:off x="3114185" y="6404509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112" name="object-339: training / 校准">
            <a:extLst>
              <a:ext uri="{FF2B5EF4-FFF2-40B4-BE49-F238E27FC236}">
                <a16:creationId xmlns:a16="http://schemas.microsoft.com/office/drawing/2014/main" id="{A6253C34-1AFB-4DF2-83A8-93EB61B5382B}"/>
              </a:ext>
            </a:extLst>
          </p:cNvPr>
          <p:cNvSpPr txBox="1"/>
          <p:nvPr/>
        </p:nvSpPr>
        <p:spPr>
          <a:xfrm>
            <a:off x="2975377" y="6543904"/>
            <a:ext cx="60753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training / 校准</a:t>
            </a:r>
          </a:p>
        </p:txBody>
      </p:sp>
      <p:cxnSp>
        <p:nvCxnSpPr>
          <p:cNvPr id="1113" name="cfg-drop-3">
            <a:extLst>
              <a:ext uri="{FF2B5EF4-FFF2-40B4-BE49-F238E27FC236}">
                <a16:creationId xmlns:a16="http://schemas.microsoft.com/office/drawing/2014/main" id="{EDF949C6-8B1D-4275-B85D-63BEABF3CA6E}"/>
              </a:ext>
            </a:extLst>
          </p:cNvPr>
          <p:cNvCxnSpPr/>
          <p:nvPr/>
        </p:nvCxnSpPr>
        <p:spPr>
          <a:xfrm>
            <a:off x="45085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14" name="config-C4">
            <a:extLst>
              <a:ext uri="{FF2B5EF4-FFF2-40B4-BE49-F238E27FC236}">
                <a16:creationId xmlns:a16="http://schemas.microsoft.com/office/drawing/2014/main" id="{D26B22F7-FB78-4AC7-97CA-8A49905BABD9}"/>
              </a:ext>
            </a:extLst>
          </p:cNvPr>
          <p:cNvSpPr/>
          <p:nvPr/>
        </p:nvSpPr>
        <p:spPr>
          <a:xfrm>
            <a:off x="39497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5" name="cfg-tag-C4-341">
            <a:extLst>
              <a:ext uri="{FF2B5EF4-FFF2-40B4-BE49-F238E27FC236}">
                <a16:creationId xmlns:a16="http://schemas.microsoft.com/office/drawing/2014/main" id="{0773182D-DD7F-4403-AD3B-10A85AE1AECF}"/>
              </a:ext>
            </a:extLst>
          </p:cNvPr>
          <p:cNvSpPr/>
          <p:nvPr/>
        </p:nvSpPr>
        <p:spPr>
          <a:xfrm>
            <a:off x="39768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6" name="object-343: C4">
            <a:extLst>
              <a:ext uri="{FF2B5EF4-FFF2-40B4-BE49-F238E27FC236}">
                <a16:creationId xmlns:a16="http://schemas.microsoft.com/office/drawing/2014/main" id="{DBFC0F46-618F-429F-82FE-2FE71B4A04FE}"/>
              </a:ext>
            </a:extLst>
          </p:cNvPr>
          <p:cNvSpPr txBox="1"/>
          <p:nvPr/>
        </p:nvSpPr>
        <p:spPr>
          <a:xfrm>
            <a:off x="40066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117" name="object-344: LVDS">
            <a:extLst>
              <a:ext uri="{FF2B5EF4-FFF2-40B4-BE49-F238E27FC236}">
                <a16:creationId xmlns:a16="http://schemas.microsoft.com/office/drawing/2014/main" id="{0D1CDD66-F4C5-4BB7-B087-7D983702C474}"/>
              </a:ext>
            </a:extLst>
          </p:cNvPr>
          <p:cNvSpPr txBox="1"/>
          <p:nvPr/>
        </p:nvSpPr>
        <p:spPr>
          <a:xfrm>
            <a:off x="4456116" y="6404509"/>
            <a:ext cx="27411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118" name="object-345: 通道 / 对齐 / 帧行">
            <a:extLst>
              <a:ext uri="{FF2B5EF4-FFF2-40B4-BE49-F238E27FC236}">
                <a16:creationId xmlns:a16="http://schemas.microsoft.com/office/drawing/2014/main" id="{4B5E9C71-3E3D-4B23-A84C-D78C2FB50C98}"/>
              </a:ext>
            </a:extLst>
          </p:cNvPr>
          <p:cNvSpPr txBox="1"/>
          <p:nvPr/>
        </p:nvSpPr>
        <p:spPr>
          <a:xfrm>
            <a:off x="41530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通道 / 对齐 / 帧行</a:t>
            </a:r>
          </a:p>
        </p:txBody>
      </p:sp>
      <p:cxnSp>
        <p:nvCxnSpPr>
          <p:cNvPr id="1119" name="cfg-drop-4">
            <a:extLst>
              <a:ext uri="{FF2B5EF4-FFF2-40B4-BE49-F238E27FC236}">
                <a16:creationId xmlns:a16="http://schemas.microsoft.com/office/drawing/2014/main" id="{9F9FC02E-13E1-44FE-9C45-C8834DC7F3CC}"/>
              </a:ext>
            </a:extLst>
          </p:cNvPr>
          <p:cNvCxnSpPr/>
          <p:nvPr/>
        </p:nvCxnSpPr>
        <p:spPr>
          <a:xfrm>
            <a:off x="57446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0" name="config-C5">
            <a:extLst>
              <a:ext uri="{FF2B5EF4-FFF2-40B4-BE49-F238E27FC236}">
                <a16:creationId xmlns:a16="http://schemas.microsoft.com/office/drawing/2014/main" id="{6CC1B4D8-D42D-4752-8341-6749419CB23B}"/>
              </a:ext>
            </a:extLst>
          </p:cNvPr>
          <p:cNvSpPr/>
          <p:nvPr/>
        </p:nvSpPr>
        <p:spPr>
          <a:xfrm>
            <a:off x="51858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1" name="cfg-tag-C5-347">
            <a:extLst>
              <a:ext uri="{FF2B5EF4-FFF2-40B4-BE49-F238E27FC236}">
                <a16:creationId xmlns:a16="http://schemas.microsoft.com/office/drawing/2014/main" id="{A611B66C-ACA7-4148-9C97-B9F2439318A7}"/>
              </a:ext>
            </a:extLst>
          </p:cNvPr>
          <p:cNvSpPr/>
          <p:nvPr/>
        </p:nvSpPr>
        <p:spPr>
          <a:xfrm>
            <a:off x="52129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2" name="object-349: C5">
            <a:extLst>
              <a:ext uri="{FF2B5EF4-FFF2-40B4-BE49-F238E27FC236}">
                <a16:creationId xmlns:a16="http://schemas.microsoft.com/office/drawing/2014/main" id="{F249507D-7BC5-45DD-AA2A-9412FE14F819}"/>
              </a:ext>
            </a:extLst>
          </p:cNvPr>
          <p:cNvSpPr txBox="1"/>
          <p:nvPr/>
        </p:nvSpPr>
        <p:spPr>
          <a:xfrm>
            <a:off x="52428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123" name="object-350: ISP">
            <a:extLst>
              <a:ext uri="{FF2B5EF4-FFF2-40B4-BE49-F238E27FC236}">
                <a16:creationId xmlns:a16="http://schemas.microsoft.com/office/drawing/2014/main" id="{E950D680-F0F9-4E72-B321-DEC64A50C971}"/>
              </a:ext>
            </a:extLst>
          </p:cNvPr>
          <p:cNvSpPr txBox="1"/>
          <p:nvPr/>
        </p:nvSpPr>
        <p:spPr>
          <a:xfrm>
            <a:off x="5747554" y="6404509"/>
            <a:ext cx="1635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124" name="object-351: 尺寸 / 模式 / 参数">
            <a:extLst>
              <a:ext uri="{FF2B5EF4-FFF2-40B4-BE49-F238E27FC236}">
                <a16:creationId xmlns:a16="http://schemas.microsoft.com/office/drawing/2014/main" id="{177F98E4-B409-41CC-A0A8-6623314AE70B}"/>
              </a:ext>
            </a:extLst>
          </p:cNvPr>
          <p:cNvSpPr txBox="1"/>
          <p:nvPr/>
        </p:nvSpPr>
        <p:spPr>
          <a:xfrm>
            <a:off x="5389136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尺寸 / 模式 / 参数</a:t>
            </a:r>
          </a:p>
        </p:txBody>
      </p:sp>
      <p:cxnSp>
        <p:nvCxnSpPr>
          <p:cNvPr id="1125" name="cfg-drop-5">
            <a:extLst>
              <a:ext uri="{FF2B5EF4-FFF2-40B4-BE49-F238E27FC236}">
                <a16:creationId xmlns:a16="http://schemas.microsoft.com/office/drawing/2014/main" id="{4B45D672-F8C3-4DEB-8A55-2083B679E3A7}"/>
              </a:ext>
            </a:extLst>
          </p:cNvPr>
          <p:cNvCxnSpPr/>
          <p:nvPr/>
        </p:nvCxnSpPr>
        <p:spPr>
          <a:xfrm>
            <a:off x="69807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6" name="config-C6">
            <a:extLst>
              <a:ext uri="{FF2B5EF4-FFF2-40B4-BE49-F238E27FC236}">
                <a16:creationId xmlns:a16="http://schemas.microsoft.com/office/drawing/2014/main" id="{278353F7-804D-45E5-91B5-6EB9B7206E50}"/>
              </a:ext>
            </a:extLst>
          </p:cNvPr>
          <p:cNvSpPr/>
          <p:nvPr/>
        </p:nvSpPr>
        <p:spPr>
          <a:xfrm>
            <a:off x="64219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7" name="cfg-tag-C6-353">
            <a:extLst>
              <a:ext uri="{FF2B5EF4-FFF2-40B4-BE49-F238E27FC236}">
                <a16:creationId xmlns:a16="http://schemas.microsoft.com/office/drawing/2014/main" id="{CDAA4FF4-2C89-4F48-BD32-CC624BA772E7}"/>
              </a:ext>
            </a:extLst>
          </p:cNvPr>
          <p:cNvSpPr/>
          <p:nvPr/>
        </p:nvSpPr>
        <p:spPr>
          <a:xfrm>
            <a:off x="64490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8" name="object-355: C6">
            <a:extLst>
              <a:ext uri="{FF2B5EF4-FFF2-40B4-BE49-F238E27FC236}">
                <a16:creationId xmlns:a16="http://schemas.microsoft.com/office/drawing/2014/main" id="{C65DB061-DE1D-4CAC-B13F-FFA1F5AC5025}"/>
              </a:ext>
            </a:extLst>
          </p:cNvPr>
          <p:cNvSpPr txBox="1"/>
          <p:nvPr/>
        </p:nvSpPr>
        <p:spPr>
          <a:xfrm>
            <a:off x="64789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129" name="object-356: NPU 计算">
            <a:extLst>
              <a:ext uri="{FF2B5EF4-FFF2-40B4-BE49-F238E27FC236}">
                <a16:creationId xmlns:a16="http://schemas.microsoft.com/office/drawing/2014/main" id="{D045C092-FDBE-4A50-AC65-C3106883E7E7}"/>
              </a:ext>
            </a:extLst>
          </p:cNvPr>
          <p:cNvSpPr txBox="1"/>
          <p:nvPr/>
        </p:nvSpPr>
        <p:spPr>
          <a:xfrm>
            <a:off x="6830600" y="6404509"/>
            <a:ext cx="4696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</a:t>
            </a:r>
          </a:p>
        </p:txBody>
      </p:sp>
      <p:sp>
        <p:nvSpPr>
          <p:cNvPr id="1130" name="object-357: 命令 / GB 数据位置">
            <a:extLst>
              <a:ext uri="{FF2B5EF4-FFF2-40B4-BE49-F238E27FC236}">
                <a16:creationId xmlns:a16="http://schemas.microsoft.com/office/drawing/2014/main" id="{7B517796-5D95-4836-A1C9-5EDEF9DDC026}"/>
              </a:ext>
            </a:extLst>
          </p:cNvPr>
          <p:cNvSpPr txBox="1"/>
          <p:nvPr/>
        </p:nvSpPr>
        <p:spPr>
          <a:xfrm>
            <a:off x="6596414" y="6543904"/>
            <a:ext cx="78226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 / GB 数据位置</a:t>
            </a:r>
          </a:p>
        </p:txBody>
      </p:sp>
      <p:cxnSp>
        <p:nvCxnSpPr>
          <p:cNvPr id="1131" name="cfg-drop-6">
            <a:extLst>
              <a:ext uri="{FF2B5EF4-FFF2-40B4-BE49-F238E27FC236}">
                <a16:creationId xmlns:a16="http://schemas.microsoft.com/office/drawing/2014/main" id="{2B85502C-86A5-4AA9-8C98-89E2660FD7CC}"/>
              </a:ext>
            </a:extLst>
          </p:cNvPr>
          <p:cNvCxnSpPr/>
          <p:nvPr/>
        </p:nvCxnSpPr>
        <p:spPr>
          <a:xfrm>
            <a:off x="82169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2" name="config-C7">
            <a:extLst>
              <a:ext uri="{FF2B5EF4-FFF2-40B4-BE49-F238E27FC236}">
                <a16:creationId xmlns:a16="http://schemas.microsoft.com/office/drawing/2014/main" id="{7D13D4CC-8DC3-465D-8EEA-291C7B7EC648}"/>
              </a:ext>
            </a:extLst>
          </p:cNvPr>
          <p:cNvSpPr/>
          <p:nvPr/>
        </p:nvSpPr>
        <p:spPr>
          <a:xfrm>
            <a:off x="76581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3" name="cfg-tag-C7-359">
            <a:extLst>
              <a:ext uri="{FF2B5EF4-FFF2-40B4-BE49-F238E27FC236}">
                <a16:creationId xmlns:a16="http://schemas.microsoft.com/office/drawing/2014/main" id="{6F73B46A-D6FB-4818-BFB5-448203DB466A}"/>
              </a:ext>
            </a:extLst>
          </p:cNvPr>
          <p:cNvSpPr/>
          <p:nvPr/>
        </p:nvSpPr>
        <p:spPr>
          <a:xfrm>
            <a:off x="76852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4" name="object-361: C7">
            <a:extLst>
              <a:ext uri="{FF2B5EF4-FFF2-40B4-BE49-F238E27FC236}">
                <a16:creationId xmlns:a16="http://schemas.microsoft.com/office/drawing/2014/main" id="{00F37390-1D4A-40CC-8738-1614EE58ECB1}"/>
              </a:ext>
            </a:extLst>
          </p:cNvPr>
          <p:cNvSpPr txBox="1"/>
          <p:nvPr/>
        </p:nvSpPr>
        <p:spPr>
          <a:xfrm>
            <a:off x="77150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135" name="object-362: NPU / GB 搬运">
            <a:extLst>
              <a:ext uri="{FF2B5EF4-FFF2-40B4-BE49-F238E27FC236}">
                <a16:creationId xmlns:a16="http://schemas.microsoft.com/office/drawing/2014/main" id="{3397B153-B8D6-4FE1-871C-9063CEEAC31E}"/>
              </a:ext>
            </a:extLst>
          </p:cNvPr>
          <p:cNvSpPr txBox="1"/>
          <p:nvPr/>
        </p:nvSpPr>
        <p:spPr>
          <a:xfrm>
            <a:off x="7937692" y="6404509"/>
            <a:ext cx="7277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sp>
        <p:nvSpPr>
          <p:cNvPr id="1136" name="object-363: 地址 / 长度 / stride">
            <a:extLst>
              <a:ext uri="{FF2B5EF4-FFF2-40B4-BE49-F238E27FC236}">
                <a16:creationId xmlns:a16="http://schemas.microsoft.com/office/drawing/2014/main" id="{46463D2C-7540-40D6-B1D7-5547CEA3990E}"/>
              </a:ext>
            </a:extLst>
          </p:cNvPr>
          <p:cNvSpPr txBox="1"/>
          <p:nvPr/>
        </p:nvSpPr>
        <p:spPr>
          <a:xfrm>
            <a:off x="7830144" y="6543904"/>
            <a:ext cx="7870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长度 / stride</a:t>
            </a:r>
          </a:p>
        </p:txBody>
      </p:sp>
      <p:cxnSp>
        <p:nvCxnSpPr>
          <p:cNvPr id="1137" name="cfg-drop-7">
            <a:extLst>
              <a:ext uri="{FF2B5EF4-FFF2-40B4-BE49-F238E27FC236}">
                <a16:creationId xmlns:a16="http://schemas.microsoft.com/office/drawing/2014/main" id="{29684AB7-0E4B-4CA2-ACA9-F9FC9F188213}"/>
              </a:ext>
            </a:extLst>
          </p:cNvPr>
          <p:cNvCxnSpPr/>
          <p:nvPr/>
        </p:nvCxnSpPr>
        <p:spPr>
          <a:xfrm>
            <a:off x="94530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8" name="config-C8">
            <a:extLst>
              <a:ext uri="{FF2B5EF4-FFF2-40B4-BE49-F238E27FC236}">
                <a16:creationId xmlns:a16="http://schemas.microsoft.com/office/drawing/2014/main" id="{2ED4E969-B01E-4966-8634-48D96A8D3A41}"/>
              </a:ext>
            </a:extLst>
          </p:cNvPr>
          <p:cNvSpPr/>
          <p:nvPr/>
        </p:nvSpPr>
        <p:spPr>
          <a:xfrm>
            <a:off x="88942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9" name="cfg-tag-C8-365">
            <a:extLst>
              <a:ext uri="{FF2B5EF4-FFF2-40B4-BE49-F238E27FC236}">
                <a16:creationId xmlns:a16="http://schemas.microsoft.com/office/drawing/2014/main" id="{EBCB35F8-0CD4-49B4-A763-33747BA3C3CD}"/>
              </a:ext>
            </a:extLst>
          </p:cNvPr>
          <p:cNvSpPr/>
          <p:nvPr/>
        </p:nvSpPr>
        <p:spPr>
          <a:xfrm>
            <a:off x="89213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0" name="object-367: C8">
            <a:extLst>
              <a:ext uri="{FF2B5EF4-FFF2-40B4-BE49-F238E27FC236}">
                <a16:creationId xmlns:a16="http://schemas.microsoft.com/office/drawing/2014/main" id="{E4E4DBFE-CDD6-4B81-A8AB-F64600ABF1A2}"/>
              </a:ext>
            </a:extLst>
          </p:cNvPr>
          <p:cNvSpPr txBox="1"/>
          <p:nvPr/>
        </p:nvSpPr>
        <p:spPr>
          <a:xfrm>
            <a:off x="89512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141" name="object-368: 帧写入 DMA">
            <a:extLst>
              <a:ext uri="{FF2B5EF4-FFF2-40B4-BE49-F238E27FC236}">
                <a16:creationId xmlns:a16="http://schemas.microsoft.com/office/drawing/2014/main" id="{CD7E6EE8-0973-4492-A197-613D4F6E6033}"/>
              </a:ext>
            </a:extLst>
          </p:cNvPr>
          <p:cNvSpPr txBox="1"/>
          <p:nvPr/>
        </p:nvSpPr>
        <p:spPr>
          <a:xfrm>
            <a:off x="9236342" y="6404509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1142" name="object-369: 缓冲区 / 格式 / 帧状态">
            <a:extLst>
              <a:ext uri="{FF2B5EF4-FFF2-40B4-BE49-F238E27FC236}">
                <a16:creationId xmlns:a16="http://schemas.microsoft.com/office/drawing/2014/main" id="{E2AE1912-A727-41EC-A486-B189C52CE142}"/>
              </a:ext>
            </a:extLst>
          </p:cNvPr>
          <p:cNvSpPr txBox="1"/>
          <p:nvPr/>
        </p:nvSpPr>
        <p:spPr>
          <a:xfrm>
            <a:off x="9007767" y="6543904"/>
            <a:ext cx="90409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缓冲区 / 格式 / 帧状态</a:t>
            </a:r>
          </a:p>
        </p:txBody>
      </p:sp>
      <p:cxnSp>
        <p:nvCxnSpPr>
          <p:cNvPr id="1143" name="cfg-drop-8">
            <a:extLst>
              <a:ext uri="{FF2B5EF4-FFF2-40B4-BE49-F238E27FC236}">
                <a16:creationId xmlns:a16="http://schemas.microsoft.com/office/drawing/2014/main" id="{6D0C51E7-3698-400F-AFB6-5FFB51C09CCC}"/>
              </a:ext>
            </a:extLst>
          </p:cNvPr>
          <p:cNvCxnSpPr/>
          <p:nvPr/>
        </p:nvCxnSpPr>
        <p:spPr>
          <a:xfrm>
            <a:off x="106891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44" name="config-C9">
            <a:extLst>
              <a:ext uri="{FF2B5EF4-FFF2-40B4-BE49-F238E27FC236}">
                <a16:creationId xmlns:a16="http://schemas.microsoft.com/office/drawing/2014/main" id="{A7DE2F09-15E5-403C-A657-5883136E6BFA}"/>
              </a:ext>
            </a:extLst>
          </p:cNvPr>
          <p:cNvSpPr/>
          <p:nvPr/>
        </p:nvSpPr>
        <p:spPr>
          <a:xfrm>
            <a:off x="101303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5" name="cfg-tag-C9-371">
            <a:extLst>
              <a:ext uri="{FF2B5EF4-FFF2-40B4-BE49-F238E27FC236}">
                <a16:creationId xmlns:a16="http://schemas.microsoft.com/office/drawing/2014/main" id="{EC19E98D-C9D9-4491-BD14-FCCCDA735527}"/>
              </a:ext>
            </a:extLst>
          </p:cNvPr>
          <p:cNvSpPr/>
          <p:nvPr/>
        </p:nvSpPr>
        <p:spPr>
          <a:xfrm>
            <a:off x="101574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6" name="object-373: C9">
            <a:extLst>
              <a:ext uri="{FF2B5EF4-FFF2-40B4-BE49-F238E27FC236}">
                <a16:creationId xmlns:a16="http://schemas.microsoft.com/office/drawing/2014/main" id="{D455D383-83D7-4D67-8F24-A05F0A6276FA}"/>
              </a:ext>
            </a:extLst>
          </p:cNvPr>
          <p:cNvSpPr txBox="1"/>
          <p:nvPr/>
        </p:nvSpPr>
        <p:spPr>
          <a:xfrm>
            <a:off x="101873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147" name="object-374: GB 管理">
            <a:extLst>
              <a:ext uri="{FF2B5EF4-FFF2-40B4-BE49-F238E27FC236}">
                <a16:creationId xmlns:a16="http://schemas.microsoft.com/office/drawing/2014/main" id="{76F57F06-D237-40EB-8501-C0713759F470}"/>
              </a:ext>
            </a:extLst>
          </p:cNvPr>
          <p:cNvSpPr txBox="1"/>
          <p:nvPr/>
        </p:nvSpPr>
        <p:spPr>
          <a:xfrm>
            <a:off x="10581480" y="6404509"/>
            <a:ext cx="3847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管理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48" name="object-375: 能力 / bank / 错误">
            <a:extLst>
              <a:ext uri="{FF2B5EF4-FFF2-40B4-BE49-F238E27FC236}">
                <a16:creationId xmlns:a16="http://schemas.microsoft.com/office/drawing/2014/main" id="{DF247AB9-4297-42BE-8D18-1EDCEA92D717}"/>
              </a:ext>
            </a:extLst>
          </p:cNvPr>
          <p:cNvSpPr txBox="1"/>
          <p:nvPr/>
        </p:nvSpPr>
        <p:spPr>
          <a:xfrm>
            <a:off x="10317638" y="6543904"/>
            <a:ext cx="75661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能力 / bank / 错误</a:t>
            </a:r>
          </a:p>
        </p:txBody>
      </p:sp>
      <p:cxnSp>
        <p:nvCxnSpPr>
          <p:cNvPr id="1149" name="legend-314D66">
            <a:extLst>
              <a:ext uri="{FF2B5EF4-FFF2-40B4-BE49-F238E27FC236}">
                <a16:creationId xmlns:a16="http://schemas.microsoft.com/office/drawing/2014/main" id="{D48C70D7-F2C8-4BCA-A764-A767E03B0994}"/>
              </a:ext>
            </a:extLst>
          </p:cNvPr>
          <p:cNvCxnSpPr/>
          <p:nvPr/>
        </p:nvCxnSpPr>
        <p:spPr>
          <a:xfrm>
            <a:off x="11387290" y="2686502"/>
            <a:ext cx="22352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150" name="object-377: AXI 请求 / 数据">
            <a:extLst>
              <a:ext uri="{FF2B5EF4-FFF2-40B4-BE49-F238E27FC236}">
                <a16:creationId xmlns:a16="http://schemas.microsoft.com/office/drawing/2014/main" id="{D19FA279-B019-40A0-80F0-D37345270BC9}"/>
              </a:ext>
            </a:extLst>
          </p:cNvPr>
          <p:cNvSpPr txBox="1"/>
          <p:nvPr/>
        </p:nvSpPr>
        <p:spPr>
          <a:xfrm>
            <a:off x="11645256" y="2610385"/>
            <a:ext cx="546744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请求</a:t>
            </a:r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数据</a:t>
            </a:r>
            <a:endParaRPr sz="8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1" name="legend-187C78">
            <a:extLst>
              <a:ext uri="{FF2B5EF4-FFF2-40B4-BE49-F238E27FC236}">
                <a16:creationId xmlns:a16="http://schemas.microsoft.com/office/drawing/2014/main" id="{B8504D5C-CC0C-4D1E-9AAF-36DC929E006E}"/>
              </a:ext>
            </a:extLst>
          </p:cNvPr>
          <p:cNvCxnSpPr/>
          <p:nvPr/>
        </p:nvCxnSpPr>
        <p:spPr>
          <a:xfrm>
            <a:off x="11378364" y="2924292"/>
            <a:ext cx="223520" cy="0"/>
          </a:xfrm>
          <a:prstGeom prst="line">
            <a:avLst/>
          </a:prstGeom>
          <a:ln w="24384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152" name="object-379: GB 读写">
            <a:extLst>
              <a:ext uri="{FF2B5EF4-FFF2-40B4-BE49-F238E27FC236}">
                <a16:creationId xmlns:a16="http://schemas.microsoft.com/office/drawing/2014/main" id="{7A3B741E-CC06-4663-B3A5-906794257738}"/>
              </a:ext>
            </a:extLst>
          </p:cNvPr>
          <p:cNvSpPr txBox="1"/>
          <p:nvPr/>
        </p:nvSpPr>
        <p:spPr>
          <a:xfrm>
            <a:off x="11670460" y="2886700"/>
            <a:ext cx="414865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读写</a:t>
            </a:r>
            <a:endParaRPr sz="800" dirty="0">
              <a:solidFill>
                <a:srgbClr val="187C78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3" name="legend-B96043">
            <a:extLst>
              <a:ext uri="{FF2B5EF4-FFF2-40B4-BE49-F238E27FC236}">
                <a16:creationId xmlns:a16="http://schemas.microsoft.com/office/drawing/2014/main" id="{E895588E-BB73-4229-80C5-7F71696E9926}"/>
              </a:ext>
            </a:extLst>
          </p:cNvPr>
          <p:cNvCxnSpPr/>
          <p:nvPr/>
        </p:nvCxnSpPr>
        <p:spPr>
          <a:xfrm>
            <a:off x="11378364" y="3123357"/>
            <a:ext cx="223520" cy="0"/>
          </a:xfrm>
          <a:prstGeom prst="line">
            <a:avLst/>
          </a:prstGeom>
          <a:ln w="24384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1154" name="object-381: 像素流">
            <a:extLst>
              <a:ext uri="{FF2B5EF4-FFF2-40B4-BE49-F238E27FC236}">
                <a16:creationId xmlns:a16="http://schemas.microsoft.com/office/drawing/2014/main" id="{3D0AACF3-BEDD-45BD-BCE9-6489BC0535FE}"/>
              </a:ext>
            </a:extLst>
          </p:cNvPr>
          <p:cNvSpPr txBox="1"/>
          <p:nvPr/>
        </p:nvSpPr>
        <p:spPr>
          <a:xfrm>
            <a:off x="11653382" y="3054448"/>
            <a:ext cx="3077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800" dirty="0" err="1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  <a:endParaRPr sz="800" dirty="0">
              <a:solidFill>
                <a:srgbClr val="B96043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5" name="legend-765489">
            <a:extLst>
              <a:ext uri="{FF2B5EF4-FFF2-40B4-BE49-F238E27FC236}">
                <a16:creationId xmlns:a16="http://schemas.microsoft.com/office/drawing/2014/main" id="{FAB5FF2C-C129-45F3-A80C-C3C411708100}"/>
              </a:ext>
            </a:extLst>
          </p:cNvPr>
          <p:cNvCxnSpPr/>
          <p:nvPr/>
        </p:nvCxnSpPr>
        <p:spPr>
          <a:xfrm>
            <a:off x="11378364" y="3302850"/>
            <a:ext cx="223520" cy="0"/>
          </a:xfrm>
          <a:prstGeom prst="line">
            <a:avLst/>
          </a:prstGeom>
          <a:ln w="24384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56" name="object-383: 配置 / 控制">
            <a:extLst>
              <a:ext uri="{FF2B5EF4-FFF2-40B4-BE49-F238E27FC236}">
                <a16:creationId xmlns:a16="http://schemas.microsoft.com/office/drawing/2014/main" id="{D1F8BDB7-8760-465C-91A5-FF1CDECEDED0}"/>
              </a:ext>
            </a:extLst>
          </p:cNvPr>
          <p:cNvSpPr txBox="1"/>
          <p:nvPr/>
        </p:nvSpPr>
        <p:spPr>
          <a:xfrm>
            <a:off x="11660508" y="3244220"/>
            <a:ext cx="514564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控制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57" name="legend-dash">
            <a:extLst>
              <a:ext uri="{FF2B5EF4-FFF2-40B4-BE49-F238E27FC236}">
                <a16:creationId xmlns:a16="http://schemas.microsoft.com/office/drawing/2014/main" id="{DE0AA521-9BB8-482B-A591-AF0C06A14B81}"/>
              </a:ext>
            </a:extLst>
          </p:cNvPr>
          <p:cNvSpPr/>
          <p:nvPr/>
        </p:nvSpPr>
        <p:spPr>
          <a:xfrm>
            <a:off x="11391536" y="3484029"/>
            <a:ext cx="182880" cy="88053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58" name="object-385: 虚线：可选或新增候选">
            <a:extLst>
              <a:ext uri="{FF2B5EF4-FFF2-40B4-BE49-F238E27FC236}">
                <a16:creationId xmlns:a16="http://schemas.microsoft.com/office/drawing/2014/main" id="{4908C77F-5911-4B28-BE29-98064CB4BEB0}"/>
              </a:ext>
            </a:extLst>
          </p:cNvPr>
          <p:cNvSpPr txBox="1"/>
          <p:nvPr/>
        </p:nvSpPr>
        <p:spPr>
          <a:xfrm>
            <a:off x="11659706" y="3428900"/>
            <a:ext cx="532293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虚线：可选或新增候选</a:t>
            </a:r>
            <a:endParaRPr sz="8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200" name="filter-width-direct"/>
          <p:cNvCxnSpPr/>
          <p:nvPr/>
        </p:nvCxnSpPr>
        <p:spPr>
          <a:xfrm>
            <a:off x="2053173" y="1832661"/>
            <a:ext cx="745067" cy="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1300" name="m5-target-drop"/>
          <p:cNvCxnSpPr/>
          <p:nvPr/>
        </p:nvCxnSpPr>
        <p:spPr>
          <a:xfrm>
            <a:off x="8250767" y="3529245"/>
            <a:ext cx="0" cy="17272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301" name="gb-interface-to-controller"/>
          <p:cNvSpPr/>
          <p:nvPr/>
        </p:nvSpPr>
        <p:spPr>
          <a:xfrm>
            <a:off x="5101167" y="2161032"/>
            <a:ext cx="4855633" cy="1801368"/>
          </a:xfrm>
          <a:custGeom>
            <a:avLst/>
            <a:gdLst/>
            <a:ahLst/>
            <a:cxnLst/>
            <a:rect l="0" t="0" r="r" b="b"/>
            <a:pathLst>
              <a:path w="4855633" h="1801368" fill="none">
                <a:moveTo>
                  <a:pt x="3589867" y="1801368"/>
                </a:moveTo>
                <a:lnTo>
                  <a:pt x="3640667" y="1801368"/>
                </a:lnTo>
                <a:lnTo>
                  <a:pt x="3640667" y="1456267"/>
                </a:lnTo>
                <a:lnTo>
                  <a:pt x="4167293" y="1456267"/>
                </a:lnTo>
                <a:cubicBezTo>
                  <a:pt x="4167293" y="1395307"/>
                  <a:pt x="4248573" y="1395307"/>
                  <a:pt x="4248573" y="1456267"/>
                </a:cubicBezTo>
                <a:lnTo>
                  <a:pt x="4855633" y="1456267"/>
                </a:lnTo>
                <a:lnTo>
                  <a:pt x="4855633" y="311235"/>
                </a:lnTo>
                <a:lnTo>
                  <a:pt x="0" y="311235"/>
                </a:lnTo>
                <a:lnTo>
                  <a:pt x="0" y="298027"/>
                </a:lnTo>
                <a:cubicBezTo>
                  <a:pt x="45156" y="275449"/>
                  <a:pt x="45156" y="252871"/>
                  <a:pt x="0" y="230293"/>
                </a:cubicBezTo>
                <a:lnTo>
                  <a:pt x="0" y="0"/>
                </a:lnTo>
              </a:path>
            </a:pathLst>
          </a:custGeom>
          <a:noFill/>
          <a:ln w="26010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2" name="target-port-m5"/>
          <p:cNvSpPr/>
          <p:nvPr/>
        </p:nvSpPr>
        <p:spPr>
          <a:xfrm>
            <a:off x="8088207" y="3431032"/>
            <a:ext cx="325120" cy="9821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3" name="target-label-m5: M5"/>
          <p:cNvSpPr txBox="1"/>
          <p:nvPr/>
        </p:nvSpPr>
        <p:spPr>
          <a:xfrm>
            <a:off x="8158607" y="3439837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M5</a:t>
            </a:r>
          </a:p>
        </p:txBody>
      </p:sp>
      <p:sp>
        <p:nvSpPr>
          <p:cNvPr id="1304" name="gb-axi-interface"/>
          <p:cNvSpPr/>
          <p:nvPr/>
        </p:nvSpPr>
        <p:spPr>
          <a:xfrm>
            <a:off x="7810500" y="3701965"/>
            <a:ext cx="880533" cy="5249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5" name="gb-interface-title: GB AXI 接口"/>
          <p:cNvSpPr txBox="1"/>
          <p:nvPr/>
        </p:nvSpPr>
        <p:spPr>
          <a:xfrm>
            <a:off x="7933960" y="3788325"/>
            <a:ext cx="63361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AXI 接口</a:t>
            </a:r>
          </a:p>
        </p:txBody>
      </p:sp>
      <p:sp>
        <p:nvSpPr>
          <p:cNvPr id="1306" name="gb-interface-clients: CPU / Ara 共用"/>
          <p:cNvSpPr txBox="1"/>
          <p:nvPr/>
        </p:nvSpPr>
        <p:spPr>
          <a:xfrm>
            <a:off x="7861879" y="3920405"/>
            <a:ext cx="77777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共用</a:t>
            </a:r>
          </a:p>
        </p:txBody>
      </p:sp>
      <p:sp>
        <p:nvSpPr>
          <p:cNvPr id="1307" name="gb-interface-width: 64-bit 数据窗口"/>
          <p:cNvSpPr txBox="1"/>
          <p:nvPr/>
        </p:nvSpPr>
        <p:spPr>
          <a:xfrm>
            <a:off x="7849624" y="4049099"/>
            <a:ext cx="80228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64-bit 数据窗口</a:t>
            </a:r>
          </a:p>
        </p:txBody>
      </p:sp>
    </p:spTree>
    <p:extLst>
      <p:ext uri="{BB962C8B-B14F-4D97-AF65-F5344CB8AC3E}">
        <p14:creationId xmlns:p14="http://schemas.microsoft.com/office/powerpoint/2010/main" val="2187131506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werpoint template design by DAJU_PPT正版来源小红书大橘PPT微信DAJU_PPT请勿抄袭搬运！盗版必究！"/>
          <p:cNvSpPr/>
          <p:nvPr/>
        </p:nvSpPr>
        <p:spPr>
          <a:xfrm>
            <a:off x="0" y="0"/>
            <a:ext cx="12192000" cy="527280"/>
          </a:xfrm>
          <a:prstGeom prst="rect">
            <a:avLst/>
          </a:prstGeom>
          <a:solidFill>
            <a:srgbClr val="00499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9" name="powerpoint template design by DAJU_PPT正版来源小红书大橘PPT微信DAJU_PPT请勿抄袭搬运！盗版必究！"/>
          <p:cNvSpPr txBox="1"/>
          <p:nvPr userDrawn="1"/>
        </p:nvSpPr>
        <p:spPr>
          <a:xfrm>
            <a:off x="3087469" y="75869"/>
            <a:ext cx="6850351" cy="375542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defRPr/>
            </a:pPr>
            <a:r>
              <a:rPr lang="en-US" altLang="zh-CN" sz="2400" b="1" kern="0" dirty="0">
                <a:solidFill>
                  <a:schemeClr val="bg1"/>
                </a:solidFill>
                <a:cs typeface="+mn-ea"/>
                <a:sym typeface="+mn-lt"/>
              </a:rPr>
              <a:t>SoC</a:t>
            </a:r>
            <a:r>
              <a:rPr lang="zh-CN" altLang="en-US" sz="2400" b="1" kern="0" dirty="0">
                <a:solidFill>
                  <a:schemeClr val="bg1"/>
                </a:solidFill>
                <a:cs typeface="+mn-ea"/>
                <a:sym typeface="+mn-lt"/>
              </a:rPr>
              <a:t>硬件层</a:t>
            </a:r>
          </a:p>
        </p:txBody>
      </p:sp>
      <p:sp>
        <p:nvSpPr>
          <p:cNvPr id="777" name="soc-boundary">
            <a:extLst>
              <a:ext uri="{FF2B5EF4-FFF2-40B4-BE49-F238E27FC236}">
                <a16:creationId xmlns:a16="http://schemas.microsoft.com/office/drawing/2014/main" id="{CB19764B-E839-45AE-B084-14D7FCBA29C1}"/>
              </a:ext>
            </a:extLst>
          </p:cNvPr>
          <p:cNvSpPr/>
          <p:nvPr/>
        </p:nvSpPr>
        <p:spPr>
          <a:xfrm>
            <a:off x="71973" y="603149"/>
            <a:ext cx="11260667" cy="6180667"/>
          </a:xfrm>
          <a:prstGeom prst="rect">
            <a:avLst/>
          </a:prstGeom>
          <a:solidFill>
            <a:srgbClr val="FFFFFF"/>
          </a:solidFill>
          <a:ln w="40640" cap="flat">
            <a:solidFill>
              <a:srgbClr val="645C5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78" name="object-005: SoC">
            <a:extLst>
              <a:ext uri="{FF2B5EF4-FFF2-40B4-BE49-F238E27FC236}">
                <a16:creationId xmlns:a16="http://schemas.microsoft.com/office/drawing/2014/main" id="{A729F37A-FE4E-4444-AC4E-C0268DDC04AC}"/>
              </a:ext>
            </a:extLst>
          </p:cNvPr>
          <p:cNvSpPr txBox="1"/>
          <p:nvPr/>
        </p:nvSpPr>
        <p:spPr>
          <a:xfrm>
            <a:off x="3725333" y="608488"/>
            <a:ext cx="4064000" cy="21544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SoC 架构：CPU / Ara 共享 GB 出口</a:t>
            </a:r>
          </a:p>
        </p:txBody>
      </p:sp>
      <p:sp>
        <p:nvSpPr>
          <p:cNvPr id="779" name="cpu-platform">
            <a:extLst>
              <a:ext uri="{FF2B5EF4-FFF2-40B4-BE49-F238E27FC236}">
                <a16:creationId xmlns:a16="http://schemas.microsoft.com/office/drawing/2014/main" id="{AF24C96E-7639-4A3D-B153-780FAD5C80B8}"/>
              </a:ext>
            </a:extLst>
          </p:cNvPr>
          <p:cNvSpPr/>
          <p:nvPr/>
        </p:nvSpPr>
        <p:spPr>
          <a:xfrm>
            <a:off x="241307" y="840216"/>
            <a:ext cx="3166533" cy="14393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0" name="object-007: CVA6–Ara 计算平台">
            <a:extLst>
              <a:ext uri="{FF2B5EF4-FFF2-40B4-BE49-F238E27FC236}">
                <a16:creationId xmlns:a16="http://schemas.microsoft.com/office/drawing/2014/main" id="{124C73D2-9AEE-45DB-8A2C-B9E829D70CF4}"/>
              </a:ext>
            </a:extLst>
          </p:cNvPr>
          <p:cNvSpPr txBox="1"/>
          <p:nvPr/>
        </p:nvSpPr>
        <p:spPr>
          <a:xfrm>
            <a:off x="1164047" y="855252"/>
            <a:ext cx="1317668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计算平台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1" name="cva6">
            <a:extLst>
              <a:ext uri="{FF2B5EF4-FFF2-40B4-BE49-F238E27FC236}">
                <a16:creationId xmlns:a16="http://schemas.microsoft.com/office/drawing/2014/main" id="{A278632C-7678-4A74-9EF4-ED3825AC645F}"/>
              </a:ext>
            </a:extLst>
          </p:cNvPr>
          <p:cNvSpPr/>
          <p:nvPr/>
        </p:nvSpPr>
        <p:spPr>
          <a:xfrm>
            <a:off x="325973" y="1111149"/>
            <a:ext cx="846667" cy="7281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2" name="object-009: CVA6 core 0">
            <a:extLst>
              <a:ext uri="{FF2B5EF4-FFF2-40B4-BE49-F238E27FC236}">
                <a16:creationId xmlns:a16="http://schemas.microsoft.com/office/drawing/2014/main" id="{2BE65702-B1F0-4B4E-BF09-D79ADBF299AC}"/>
              </a:ext>
            </a:extLst>
          </p:cNvPr>
          <p:cNvSpPr txBox="1"/>
          <p:nvPr/>
        </p:nvSpPr>
        <p:spPr>
          <a:xfrm>
            <a:off x="435118" y="1266910"/>
            <a:ext cx="6283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783" name="object-010: L1 I / D cache">
            <a:extLst>
              <a:ext uri="{FF2B5EF4-FFF2-40B4-BE49-F238E27FC236}">
                <a16:creationId xmlns:a16="http://schemas.microsoft.com/office/drawing/2014/main" id="{C4F3F2C8-88D6-4730-A950-0FE57919B9CE}"/>
              </a:ext>
            </a:extLst>
          </p:cNvPr>
          <p:cNvSpPr txBox="1"/>
          <p:nvPr/>
        </p:nvSpPr>
        <p:spPr>
          <a:xfrm>
            <a:off x="415883" y="1403461"/>
            <a:ext cx="6668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784" name="object-011: MMU · AXI 适配">
            <a:extLst>
              <a:ext uri="{FF2B5EF4-FFF2-40B4-BE49-F238E27FC236}">
                <a16:creationId xmlns:a16="http://schemas.microsoft.com/office/drawing/2014/main" id="{1308FC2B-9804-4676-9C81-F66B696127BD}"/>
              </a:ext>
            </a:extLst>
          </p:cNvPr>
          <p:cNvSpPr txBox="1"/>
          <p:nvPr/>
        </p:nvSpPr>
        <p:spPr>
          <a:xfrm>
            <a:off x="365387" y="1511834"/>
            <a:ext cx="7678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·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适配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5" name="ara-core">
            <a:extLst>
              <a:ext uri="{FF2B5EF4-FFF2-40B4-BE49-F238E27FC236}">
                <a16:creationId xmlns:a16="http://schemas.microsoft.com/office/drawing/2014/main" id="{326B305C-1397-4FB6-907C-47D8D0CC135D}"/>
              </a:ext>
            </a:extLst>
          </p:cNvPr>
          <p:cNvSpPr/>
          <p:nvPr/>
        </p:nvSpPr>
        <p:spPr>
          <a:xfrm>
            <a:off x="1341973" y="1111149"/>
            <a:ext cx="1964267" cy="4233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6" name="object-013: Ara 向量处理器">
            <a:extLst>
              <a:ext uri="{FF2B5EF4-FFF2-40B4-BE49-F238E27FC236}">
                <a16:creationId xmlns:a16="http://schemas.microsoft.com/office/drawing/2014/main" id="{64417BFF-AAB1-4D2B-AB14-3C166730A1DE}"/>
              </a:ext>
            </a:extLst>
          </p:cNvPr>
          <p:cNvSpPr txBox="1"/>
          <p:nvPr/>
        </p:nvSpPr>
        <p:spPr>
          <a:xfrm>
            <a:off x="1962629" y="1187535"/>
            <a:ext cx="72295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向量处理器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7" name="object-014: VLSU / AXI：32 × lanes bit">
            <a:extLst>
              <a:ext uri="{FF2B5EF4-FFF2-40B4-BE49-F238E27FC236}">
                <a16:creationId xmlns:a16="http://schemas.microsoft.com/office/drawing/2014/main" id="{301DDB2E-AC9E-4A6E-9896-07E073F592EE}"/>
              </a:ext>
            </a:extLst>
          </p:cNvPr>
          <p:cNvSpPr txBox="1"/>
          <p:nvPr/>
        </p:nvSpPr>
        <p:spPr>
          <a:xfrm>
            <a:off x="1671685" y="1324086"/>
            <a:ext cx="13048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2 lanes · VLSU / AXI：64 bit</a:t>
            </a:r>
          </a:p>
        </p:txBody>
      </p:sp>
      <p:cxnSp>
        <p:nvCxnSpPr>
          <p:cNvPr id="788" name="cva6-ara-control">
            <a:extLst>
              <a:ext uri="{FF2B5EF4-FFF2-40B4-BE49-F238E27FC236}">
                <a16:creationId xmlns:a16="http://schemas.microsoft.com/office/drawing/2014/main" id="{A119614B-6831-451B-BA2D-3B24BC8398AF}"/>
              </a:ext>
            </a:extLst>
          </p:cNvPr>
          <p:cNvCxnSpPr/>
          <p:nvPr/>
        </p:nvCxnSpPr>
        <p:spPr>
          <a:xfrm>
            <a:off x="1172640" y="1314349"/>
            <a:ext cx="169333" cy="0"/>
          </a:xfrm>
          <a:prstGeom prst="line">
            <a:avLst/>
          </a:prstGeom>
          <a:ln w="20320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789" name="object-016: 指令 / MMU">
            <a:extLst>
              <a:ext uri="{FF2B5EF4-FFF2-40B4-BE49-F238E27FC236}">
                <a16:creationId xmlns:a16="http://schemas.microsoft.com/office/drawing/2014/main" id="{E1752098-E990-4C62-8143-B7F1B4EE3C96}"/>
              </a:ext>
            </a:extLst>
          </p:cNvPr>
          <p:cNvSpPr txBox="1"/>
          <p:nvPr/>
        </p:nvSpPr>
        <p:spPr>
          <a:xfrm>
            <a:off x="1040281" y="1007788"/>
            <a:ext cx="44082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790" name="ara-filter">
            <a:extLst>
              <a:ext uri="{FF2B5EF4-FFF2-40B4-BE49-F238E27FC236}">
                <a16:creationId xmlns:a16="http://schemas.microsoft.com/office/drawing/2014/main" id="{53C8AB6E-31EB-44B7-B4FC-68060C84843C}"/>
              </a:ext>
            </a:extLst>
          </p:cNvPr>
          <p:cNvSpPr/>
          <p:nvPr/>
        </p:nvSpPr>
        <p:spPr>
          <a:xfrm>
            <a:off x="1409706" y="1686883"/>
            <a:ext cx="643467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1" name="object-018: 失效过滤">
            <a:extLst>
              <a:ext uri="{FF2B5EF4-FFF2-40B4-BE49-F238E27FC236}">
                <a16:creationId xmlns:a16="http://schemas.microsoft.com/office/drawing/2014/main" id="{77AF999C-5811-4EB4-A28F-6FC6EB19EA75}"/>
              </a:ext>
            </a:extLst>
          </p:cNvPr>
          <p:cNvSpPr txBox="1"/>
          <p:nvPr/>
        </p:nvSpPr>
        <p:spPr>
          <a:xfrm>
            <a:off x="15262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792" name="object-019: 现有 filter">
            <a:extLst>
              <a:ext uri="{FF2B5EF4-FFF2-40B4-BE49-F238E27FC236}">
                <a16:creationId xmlns:a16="http://schemas.microsoft.com/office/drawing/2014/main" id="{E3F41616-6AF3-4FF6-850B-A98674451E27}"/>
              </a:ext>
            </a:extLst>
          </p:cNvPr>
          <p:cNvSpPr txBox="1"/>
          <p:nvPr/>
        </p:nvSpPr>
        <p:spPr>
          <a:xfrm>
            <a:off x="1501409" y="1842669"/>
            <a:ext cx="4600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796" name="ara-width">
            <a:extLst>
              <a:ext uri="{FF2B5EF4-FFF2-40B4-BE49-F238E27FC236}">
                <a16:creationId xmlns:a16="http://schemas.microsoft.com/office/drawing/2014/main" id="{13DCB4D3-CB81-4F91-A5BB-7B8FDA91C5C7}"/>
              </a:ext>
            </a:extLst>
          </p:cNvPr>
          <p:cNvSpPr/>
          <p:nvPr/>
        </p:nvSpPr>
        <p:spPr>
          <a:xfrm>
            <a:off x="2798240" y="1686883"/>
            <a:ext cx="508000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7" name="object-024: 位宽适配">
            <a:extLst>
              <a:ext uri="{FF2B5EF4-FFF2-40B4-BE49-F238E27FC236}">
                <a16:creationId xmlns:a16="http://schemas.microsoft.com/office/drawing/2014/main" id="{B27BE7FB-D7A1-4A9A-9125-78B229034358}"/>
              </a:ext>
            </a:extLst>
          </p:cNvPr>
          <p:cNvSpPr txBox="1"/>
          <p:nvPr/>
        </p:nvSpPr>
        <p:spPr>
          <a:xfrm>
            <a:off x="28470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等宽透传</a:t>
            </a:r>
          </a:p>
        </p:txBody>
      </p:sp>
      <p:sp>
        <p:nvSpPr>
          <p:cNvPr id="798" name="object-025: → 64 bit">
            <a:extLst>
              <a:ext uri="{FF2B5EF4-FFF2-40B4-BE49-F238E27FC236}">
                <a16:creationId xmlns:a16="http://schemas.microsoft.com/office/drawing/2014/main" id="{6732B6D6-BF45-4760-884F-A62B535AA613}"/>
              </a:ext>
            </a:extLst>
          </p:cNvPr>
          <p:cNvSpPr txBox="1"/>
          <p:nvPr/>
        </p:nvSpPr>
        <p:spPr>
          <a:xfrm>
            <a:off x="2843849" y="1842669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4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 → 64 bit</a:t>
            </a:r>
          </a:p>
        </p:txBody>
      </p:sp>
      <p:cxnSp>
        <p:nvCxnSpPr>
          <p:cNvPr id="799" name="vlsu-filter">
            <a:extLst>
              <a:ext uri="{FF2B5EF4-FFF2-40B4-BE49-F238E27FC236}">
                <a16:creationId xmlns:a16="http://schemas.microsoft.com/office/drawing/2014/main" id="{40661750-8396-4465-BC47-BA8E6CE9F4E7}"/>
              </a:ext>
            </a:extLst>
          </p:cNvPr>
          <p:cNvCxnSpPr/>
          <p:nvPr/>
        </p:nvCxnSpPr>
        <p:spPr>
          <a:xfrm>
            <a:off x="1731440" y="1534482"/>
            <a:ext cx="0" cy="15240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02" name="npu-subsystem">
            <a:extLst>
              <a:ext uri="{FF2B5EF4-FFF2-40B4-BE49-F238E27FC236}">
                <a16:creationId xmlns:a16="http://schemas.microsoft.com/office/drawing/2014/main" id="{656E5669-F913-42EA-B7ED-87C55D399281}"/>
              </a:ext>
            </a:extLst>
          </p:cNvPr>
          <p:cNvSpPr/>
          <p:nvPr/>
        </p:nvSpPr>
        <p:spPr>
          <a:xfrm>
            <a:off x="3594106" y="840216"/>
            <a:ext cx="3843867" cy="14393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3" name="object-030: NPU / 独立 Global Buffer 子系统">
            <a:extLst>
              <a:ext uri="{FF2B5EF4-FFF2-40B4-BE49-F238E27FC236}">
                <a16:creationId xmlns:a16="http://schemas.microsoft.com/office/drawing/2014/main" id="{718B7891-A7B2-45A4-B891-5FAEC892CE9F}"/>
              </a:ext>
            </a:extLst>
          </p:cNvPr>
          <p:cNvSpPr txBox="1"/>
          <p:nvPr/>
        </p:nvSpPr>
        <p:spPr>
          <a:xfrm>
            <a:off x="4410679" y="855252"/>
            <a:ext cx="2207336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Global Buffer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子系统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4" name="npu-compute">
            <a:extLst>
              <a:ext uri="{FF2B5EF4-FFF2-40B4-BE49-F238E27FC236}">
                <a16:creationId xmlns:a16="http://schemas.microsoft.com/office/drawing/2014/main" id="{46C0F758-7B9F-4A0A-B73B-2833147897D7}"/>
              </a:ext>
            </a:extLst>
          </p:cNvPr>
          <p:cNvSpPr/>
          <p:nvPr/>
        </p:nvSpPr>
        <p:spPr>
          <a:xfrm>
            <a:off x="3678773" y="1111149"/>
            <a:ext cx="914400" cy="592667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5" name="object-032: NPU 计算引擎">
            <a:extLst>
              <a:ext uri="{FF2B5EF4-FFF2-40B4-BE49-F238E27FC236}">
                <a16:creationId xmlns:a16="http://schemas.microsoft.com/office/drawing/2014/main" id="{57A034A3-CD90-407A-9864-937692845FE0}"/>
              </a:ext>
            </a:extLst>
          </p:cNvPr>
          <p:cNvSpPr txBox="1"/>
          <p:nvPr/>
        </p:nvSpPr>
        <p:spPr>
          <a:xfrm>
            <a:off x="3798540" y="1241510"/>
            <a:ext cx="67486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806" name="object-033: GB 数据读写">
            <a:extLst>
              <a:ext uri="{FF2B5EF4-FFF2-40B4-BE49-F238E27FC236}">
                <a16:creationId xmlns:a16="http://schemas.microsoft.com/office/drawing/2014/main" id="{9CE2B4F6-7C07-4825-97E7-4CF402344E97}"/>
              </a:ext>
            </a:extLst>
          </p:cNvPr>
          <p:cNvSpPr txBox="1"/>
          <p:nvPr/>
        </p:nvSpPr>
        <p:spPr>
          <a:xfrm>
            <a:off x="3845028" y="1378061"/>
            <a:ext cx="5818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数据读写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7" name="cfg-tag-C6-33">
            <a:extLst>
              <a:ext uri="{FF2B5EF4-FFF2-40B4-BE49-F238E27FC236}">
                <a16:creationId xmlns:a16="http://schemas.microsoft.com/office/drawing/2014/main" id="{D3B7AF86-7454-4B62-89BE-78681DD60168}"/>
              </a:ext>
            </a:extLst>
          </p:cNvPr>
          <p:cNvSpPr/>
          <p:nvPr/>
        </p:nvSpPr>
        <p:spPr>
          <a:xfrm>
            <a:off x="4389973" y="155141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8" name="object-035: C6">
            <a:extLst>
              <a:ext uri="{FF2B5EF4-FFF2-40B4-BE49-F238E27FC236}">
                <a16:creationId xmlns:a16="http://schemas.microsoft.com/office/drawing/2014/main" id="{C61F99EE-C4EE-4969-94E1-ED6A835DA0FB}"/>
              </a:ext>
            </a:extLst>
          </p:cNvPr>
          <p:cNvSpPr txBox="1"/>
          <p:nvPr/>
        </p:nvSpPr>
        <p:spPr>
          <a:xfrm>
            <a:off x="4419867" y="155277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809" name="gb-router">
            <a:extLst>
              <a:ext uri="{FF2B5EF4-FFF2-40B4-BE49-F238E27FC236}">
                <a16:creationId xmlns:a16="http://schemas.microsoft.com/office/drawing/2014/main" id="{B49BD3BD-E44C-4699-B093-1981A49F63CE}"/>
              </a:ext>
            </a:extLst>
          </p:cNvPr>
          <p:cNvSpPr/>
          <p:nvPr/>
        </p:nvSpPr>
        <p:spPr>
          <a:xfrm>
            <a:off x="4711707" y="1365149"/>
            <a:ext cx="778933" cy="7958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0" name="object-037: GB 访问适配">
            <a:extLst>
              <a:ext uri="{FF2B5EF4-FFF2-40B4-BE49-F238E27FC236}">
                <a16:creationId xmlns:a16="http://schemas.microsoft.com/office/drawing/2014/main" id="{9DDF7B99-1CF7-451D-880D-F92066C2D856}"/>
              </a:ext>
            </a:extLst>
          </p:cNvPr>
          <p:cNvSpPr txBox="1"/>
          <p:nvPr/>
        </p:nvSpPr>
        <p:spPr>
          <a:xfrm>
            <a:off x="4806221" y="1556801"/>
            <a:ext cx="58990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811" name="object-038: 局部仲裁 / 路由">
            <a:extLst>
              <a:ext uri="{FF2B5EF4-FFF2-40B4-BE49-F238E27FC236}">
                <a16:creationId xmlns:a16="http://schemas.microsoft.com/office/drawing/2014/main" id="{31997707-ECEB-4690-908D-11823455FE1C}"/>
              </a:ext>
            </a:extLst>
          </p:cNvPr>
          <p:cNvSpPr txBox="1"/>
          <p:nvPr/>
        </p:nvSpPr>
        <p:spPr>
          <a:xfrm>
            <a:off x="4741299" y="1686036"/>
            <a:ext cx="7197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812" name="object-039: bank 冲突处理">
            <a:extLst>
              <a:ext uri="{FF2B5EF4-FFF2-40B4-BE49-F238E27FC236}">
                <a16:creationId xmlns:a16="http://schemas.microsoft.com/office/drawing/2014/main" id="{11961159-3445-4A6A-8ED7-CDD7022D7D18}"/>
              </a:ext>
            </a:extLst>
          </p:cNvPr>
          <p:cNvSpPr txBox="1"/>
          <p:nvPr/>
        </p:nvSpPr>
        <p:spPr>
          <a:xfrm>
            <a:off x="4760535" y="1794409"/>
            <a:ext cx="6812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冲突处理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13" name="global-buffer">
            <a:extLst>
              <a:ext uri="{FF2B5EF4-FFF2-40B4-BE49-F238E27FC236}">
                <a16:creationId xmlns:a16="http://schemas.microsoft.com/office/drawing/2014/main" id="{0F86E12E-383A-4875-BC7C-4C90F3F966C9}"/>
              </a:ext>
            </a:extLst>
          </p:cNvPr>
          <p:cNvSpPr/>
          <p:nvPr/>
        </p:nvSpPr>
        <p:spPr>
          <a:xfrm>
            <a:off x="5626106" y="1111149"/>
            <a:ext cx="1710267" cy="5757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4" name="object-041: Global Buffer">
            <a:extLst>
              <a:ext uri="{FF2B5EF4-FFF2-40B4-BE49-F238E27FC236}">
                <a16:creationId xmlns:a16="http://schemas.microsoft.com/office/drawing/2014/main" id="{0651B47D-F1D7-4756-8C2C-E0A3C6EF838A}"/>
              </a:ext>
            </a:extLst>
          </p:cNvPr>
          <p:cNvSpPr txBox="1"/>
          <p:nvPr/>
        </p:nvSpPr>
        <p:spPr>
          <a:xfrm>
            <a:off x="6094917" y="1208312"/>
            <a:ext cx="772647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815" name="object-042: 独立 SRAM · 分 bank">
            <a:extLst>
              <a:ext uri="{FF2B5EF4-FFF2-40B4-BE49-F238E27FC236}">
                <a16:creationId xmlns:a16="http://schemas.microsoft.com/office/drawing/2014/main" id="{AD1A6881-C2BE-460D-B074-A700C9C01B03}"/>
              </a:ext>
            </a:extLst>
          </p:cNvPr>
          <p:cNvSpPr txBox="1"/>
          <p:nvPr/>
        </p:nvSpPr>
        <p:spPr>
          <a:xfrm>
            <a:off x="5984309" y="1355836"/>
            <a:ext cx="99386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816" name="object-043: ISP / NPU–Ara 工作区">
            <a:extLst>
              <a:ext uri="{FF2B5EF4-FFF2-40B4-BE49-F238E27FC236}">
                <a16:creationId xmlns:a16="http://schemas.microsoft.com/office/drawing/2014/main" id="{D53F494B-0690-4734-ACA8-CACF6710407D}"/>
              </a:ext>
            </a:extLst>
          </p:cNvPr>
          <p:cNvSpPr txBox="1"/>
          <p:nvPr/>
        </p:nvSpPr>
        <p:spPr>
          <a:xfrm>
            <a:off x="5689600" y="1476908"/>
            <a:ext cx="15748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47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NPU / ISP 工作区</a:t>
            </a:r>
          </a:p>
        </p:txBody>
      </p:sp>
      <p:sp>
        <p:nvSpPr>
          <p:cNvPr id="817" name="cfg-tag-C9-43">
            <a:extLst>
              <a:ext uri="{FF2B5EF4-FFF2-40B4-BE49-F238E27FC236}">
                <a16:creationId xmlns:a16="http://schemas.microsoft.com/office/drawing/2014/main" id="{823E72FE-055F-4BE4-8A7B-2A044874D38D}"/>
              </a:ext>
            </a:extLst>
          </p:cNvPr>
          <p:cNvSpPr/>
          <p:nvPr/>
        </p:nvSpPr>
        <p:spPr>
          <a:xfrm>
            <a:off x="7133173" y="152770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8" name="object-045: C9">
            <a:extLst>
              <a:ext uri="{FF2B5EF4-FFF2-40B4-BE49-F238E27FC236}">
                <a16:creationId xmlns:a16="http://schemas.microsoft.com/office/drawing/2014/main" id="{95D02E3B-149C-4FA4-A33D-61F0556022FE}"/>
              </a:ext>
            </a:extLst>
          </p:cNvPr>
          <p:cNvSpPr txBox="1"/>
          <p:nvPr/>
        </p:nvSpPr>
        <p:spPr>
          <a:xfrm>
            <a:off x="7163067" y="152906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cxnSp>
        <p:nvCxnSpPr>
          <p:cNvPr id="819" name="npu-router">
            <a:extLst>
              <a:ext uri="{FF2B5EF4-FFF2-40B4-BE49-F238E27FC236}">
                <a16:creationId xmlns:a16="http://schemas.microsoft.com/office/drawing/2014/main" id="{A428C493-29D6-4BBC-BA7B-070D429BC4AF}"/>
              </a:ext>
            </a:extLst>
          </p:cNvPr>
          <p:cNvCxnSpPr/>
          <p:nvPr/>
        </p:nvCxnSpPr>
        <p:spPr>
          <a:xfrm>
            <a:off x="4593173" y="1466749"/>
            <a:ext cx="118533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cxnSp>
        <p:nvCxnSpPr>
          <p:cNvPr id="820" name="router-sram">
            <a:extLst>
              <a:ext uri="{FF2B5EF4-FFF2-40B4-BE49-F238E27FC236}">
                <a16:creationId xmlns:a16="http://schemas.microsoft.com/office/drawing/2014/main" id="{D5B8C352-9067-45D3-A0F8-A71B9B5A5E13}"/>
              </a:ext>
            </a:extLst>
          </p:cNvPr>
          <p:cNvCxnSpPr/>
          <p:nvPr/>
        </p:nvCxnSpPr>
        <p:spPr>
          <a:xfrm>
            <a:off x="5490640" y="15514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1" name="npu-transfer">
            <a:extLst>
              <a:ext uri="{FF2B5EF4-FFF2-40B4-BE49-F238E27FC236}">
                <a16:creationId xmlns:a16="http://schemas.microsoft.com/office/drawing/2014/main" id="{FA38588C-CDC9-492E-8CAA-C795BC318639}"/>
              </a:ext>
            </a:extLst>
          </p:cNvPr>
          <p:cNvSpPr/>
          <p:nvPr/>
        </p:nvSpPr>
        <p:spPr>
          <a:xfrm>
            <a:off x="5626106" y="1805416"/>
            <a:ext cx="1710267" cy="406400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2" name="object-049: NPU / GB 搬运引擎">
            <a:extLst>
              <a:ext uri="{FF2B5EF4-FFF2-40B4-BE49-F238E27FC236}">
                <a16:creationId xmlns:a16="http://schemas.microsoft.com/office/drawing/2014/main" id="{B62D1668-5499-422C-A42A-7C1C8F708B4E}"/>
              </a:ext>
            </a:extLst>
          </p:cNvPr>
          <p:cNvSpPr txBox="1"/>
          <p:nvPr/>
        </p:nvSpPr>
        <p:spPr>
          <a:xfrm>
            <a:off x="6014767" y="1884977"/>
            <a:ext cx="9329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搬运引擎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3" name="object-050: DDR ↔ GB · 统一 AXI 主口">
            <a:extLst>
              <a:ext uri="{FF2B5EF4-FFF2-40B4-BE49-F238E27FC236}">
                <a16:creationId xmlns:a16="http://schemas.microsoft.com/office/drawing/2014/main" id="{85C9B0F7-F610-4D22-AFEB-406C6901B317}"/>
              </a:ext>
            </a:extLst>
          </p:cNvPr>
          <p:cNvSpPr txBox="1"/>
          <p:nvPr/>
        </p:nvSpPr>
        <p:spPr>
          <a:xfrm>
            <a:off x="5835230" y="2021527"/>
            <a:ext cx="129202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统一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4" name="cfg-tag-C7-50">
            <a:extLst>
              <a:ext uri="{FF2B5EF4-FFF2-40B4-BE49-F238E27FC236}">
                <a16:creationId xmlns:a16="http://schemas.microsoft.com/office/drawing/2014/main" id="{B1F03A49-3940-4D0A-8CD8-1BDE1A74EFAE}"/>
              </a:ext>
            </a:extLst>
          </p:cNvPr>
          <p:cNvSpPr/>
          <p:nvPr/>
        </p:nvSpPr>
        <p:spPr>
          <a:xfrm>
            <a:off x="7133173" y="206957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5" name="object-052: C7">
            <a:extLst>
              <a:ext uri="{FF2B5EF4-FFF2-40B4-BE49-F238E27FC236}">
                <a16:creationId xmlns:a16="http://schemas.microsoft.com/office/drawing/2014/main" id="{AB84474B-5CCF-43E8-BCC6-18E79C6A3986}"/>
              </a:ext>
            </a:extLst>
          </p:cNvPr>
          <p:cNvSpPr txBox="1"/>
          <p:nvPr/>
        </p:nvSpPr>
        <p:spPr>
          <a:xfrm>
            <a:off x="7163067" y="207093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cxnSp>
        <p:nvCxnSpPr>
          <p:cNvPr id="826" name="transfer-router">
            <a:extLst>
              <a:ext uri="{FF2B5EF4-FFF2-40B4-BE49-F238E27FC236}">
                <a16:creationId xmlns:a16="http://schemas.microsoft.com/office/drawing/2014/main" id="{CC73FB70-E502-4DB5-A5D7-857AF0014BBD}"/>
              </a:ext>
            </a:extLst>
          </p:cNvPr>
          <p:cNvCxnSpPr/>
          <p:nvPr/>
        </p:nvCxnSpPr>
        <p:spPr>
          <a:xfrm flipH="1">
            <a:off x="5490640" y="20086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9" name="image-subsystem">
            <a:extLst>
              <a:ext uri="{FF2B5EF4-FFF2-40B4-BE49-F238E27FC236}">
                <a16:creationId xmlns:a16="http://schemas.microsoft.com/office/drawing/2014/main" id="{6BD40024-AF2A-43AA-9F53-2CB0F0A35B7B}"/>
              </a:ext>
            </a:extLst>
          </p:cNvPr>
          <p:cNvSpPr/>
          <p:nvPr/>
        </p:nvSpPr>
        <p:spPr>
          <a:xfrm>
            <a:off x="7607306" y="840216"/>
            <a:ext cx="3606800" cy="143933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0" name="object-057: 图像采集与 ISP">
            <a:extLst>
              <a:ext uri="{FF2B5EF4-FFF2-40B4-BE49-F238E27FC236}">
                <a16:creationId xmlns:a16="http://schemas.microsoft.com/office/drawing/2014/main" id="{5D105284-8B1B-4DF6-9CD3-6DE3CB6EA6D2}"/>
              </a:ext>
            </a:extLst>
          </p:cNvPr>
          <p:cNvSpPr txBox="1"/>
          <p:nvPr/>
        </p:nvSpPr>
        <p:spPr>
          <a:xfrm>
            <a:off x="8922503" y="855252"/>
            <a:ext cx="973023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ISP</a:t>
            </a:r>
          </a:p>
        </p:txBody>
      </p:sp>
      <p:sp>
        <p:nvSpPr>
          <p:cNvPr id="831" name="lvds">
            <a:extLst>
              <a:ext uri="{FF2B5EF4-FFF2-40B4-BE49-F238E27FC236}">
                <a16:creationId xmlns:a16="http://schemas.microsoft.com/office/drawing/2014/main" id="{3678F47F-0E17-45E0-BC26-1889C2B908C0}"/>
              </a:ext>
            </a:extLst>
          </p:cNvPr>
          <p:cNvSpPr/>
          <p:nvPr/>
        </p:nvSpPr>
        <p:spPr>
          <a:xfrm>
            <a:off x="7691973" y="1314349"/>
            <a:ext cx="5588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2" name="object-059: LVDS 接收">
            <a:extLst>
              <a:ext uri="{FF2B5EF4-FFF2-40B4-BE49-F238E27FC236}">
                <a16:creationId xmlns:a16="http://schemas.microsoft.com/office/drawing/2014/main" id="{A09B5D17-5CB1-4F09-9942-523F28E11F50}"/>
              </a:ext>
            </a:extLst>
          </p:cNvPr>
          <p:cNvSpPr txBox="1"/>
          <p:nvPr/>
        </p:nvSpPr>
        <p:spPr>
          <a:xfrm>
            <a:off x="7716495" y="1462046"/>
            <a:ext cx="50975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833" name="object-060: 解串 / 帧行">
            <a:extLst>
              <a:ext uri="{FF2B5EF4-FFF2-40B4-BE49-F238E27FC236}">
                <a16:creationId xmlns:a16="http://schemas.microsoft.com/office/drawing/2014/main" id="{A4A92F41-F952-4D36-9FD8-9D4521EEAEB1}"/>
              </a:ext>
            </a:extLst>
          </p:cNvPr>
          <p:cNvSpPr txBox="1"/>
          <p:nvPr/>
        </p:nvSpPr>
        <p:spPr>
          <a:xfrm>
            <a:off x="7714091" y="1587624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834" name="cfg-tag-C4-60">
            <a:extLst>
              <a:ext uri="{FF2B5EF4-FFF2-40B4-BE49-F238E27FC236}">
                <a16:creationId xmlns:a16="http://schemas.microsoft.com/office/drawing/2014/main" id="{889DE112-44D4-4243-93D5-ABB1ACA86D6E}"/>
              </a:ext>
            </a:extLst>
          </p:cNvPr>
          <p:cNvSpPr/>
          <p:nvPr/>
        </p:nvSpPr>
        <p:spPr>
          <a:xfrm>
            <a:off x="8047573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5" name="object-062: C4">
            <a:extLst>
              <a:ext uri="{FF2B5EF4-FFF2-40B4-BE49-F238E27FC236}">
                <a16:creationId xmlns:a16="http://schemas.microsoft.com/office/drawing/2014/main" id="{3EB18B95-08AB-4276-B69A-36E4026D5732}"/>
              </a:ext>
            </a:extLst>
          </p:cNvPr>
          <p:cNvSpPr txBox="1"/>
          <p:nvPr/>
        </p:nvSpPr>
        <p:spPr>
          <a:xfrm>
            <a:off x="8077467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836" name="pixel-cdc">
            <a:extLst>
              <a:ext uri="{FF2B5EF4-FFF2-40B4-BE49-F238E27FC236}">
                <a16:creationId xmlns:a16="http://schemas.microsoft.com/office/drawing/2014/main" id="{7B21DA8E-5581-4742-85D5-AE770D9C6062}"/>
              </a:ext>
            </a:extLst>
          </p:cNvPr>
          <p:cNvSpPr/>
          <p:nvPr/>
        </p:nvSpPr>
        <p:spPr>
          <a:xfrm>
            <a:off x="8352373" y="1314349"/>
            <a:ext cx="541867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7" name="object-064: CDC / FIFO">
            <a:extLst>
              <a:ext uri="{FF2B5EF4-FFF2-40B4-BE49-F238E27FC236}">
                <a16:creationId xmlns:a16="http://schemas.microsoft.com/office/drawing/2014/main" id="{0AD2F2A6-34C1-4782-8DDB-0966C51656F8}"/>
              </a:ext>
            </a:extLst>
          </p:cNvPr>
          <p:cNvSpPr txBox="1"/>
          <p:nvPr/>
        </p:nvSpPr>
        <p:spPr>
          <a:xfrm>
            <a:off x="8342781" y="1462046"/>
            <a:ext cx="56105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838" name="object-065: 像素流缓冲">
            <a:extLst>
              <a:ext uri="{FF2B5EF4-FFF2-40B4-BE49-F238E27FC236}">
                <a16:creationId xmlns:a16="http://schemas.microsoft.com/office/drawing/2014/main" id="{9EB67424-CB21-4439-890E-47387DE671C2}"/>
              </a:ext>
            </a:extLst>
          </p:cNvPr>
          <p:cNvSpPr txBox="1"/>
          <p:nvPr/>
        </p:nvSpPr>
        <p:spPr>
          <a:xfrm>
            <a:off x="8366826" y="1587624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839" name="isp">
            <a:extLst>
              <a:ext uri="{FF2B5EF4-FFF2-40B4-BE49-F238E27FC236}">
                <a16:creationId xmlns:a16="http://schemas.microsoft.com/office/drawing/2014/main" id="{D0A0421C-79B2-4D46-8E1F-76B68034EAB1}"/>
              </a:ext>
            </a:extLst>
          </p:cNvPr>
          <p:cNvSpPr/>
          <p:nvPr/>
        </p:nvSpPr>
        <p:spPr>
          <a:xfrm>
            <a:off x="8995840" y="1314349"/>
            <a:ext cx="558800" cy="6265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0" name="object-067: ISP">
            <a:extLst>
              <a:ext uri="{FF2B5EF4-FFF2-40B4-BE49-F238E27FC236}">
                <a16:creationId xmlns:a16="http://schemas.microsoft.com/office/drawing/2014/main" id="{D8417204-1D66-47F9-AAE6-B61AAFB8EE07}"/>
              </a:ext>
            </a:extLst>
          </p:cNvPr>
          <p:cNvSpPr txBox="1"/>
          <p:nvPr/>
        </p:nvSpPr>
        <p:spPr>
          <a:xfrm>
            <a:off x="9193486" y="1462046"/>
            <a:ext cx="16350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841" name="object-068: 行缓冲 / 处理">
            <a:extLst>
              <a:ext uri="{FF2B5EF4-FFF2-40B4-BE49-F238E27FC236}">
                <a16:creationId xmlns:a16="http://schemas.microsoft.com/office/drawing/2014/main" id="{634F747F-0ED0-4BF1-9BD9-5D880E3F48CA}"/>
              </a:ext>
            </a:extLst>
          </p:cNvPr>
          <p:cNvSpPr txBox="1"/>
          <p:nvPr/>
        </p:nvSpPr>
        <p:spPr>
          <a:xfrm>
            <a:off x="8995841" y="1587624"/>
            <a:ext cx="496098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行缓冲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42" name="cfg-tag-C5-68">
            <a:extLst>
              <a:ext uri="{FF2B5EF4-FFF2-40B4-BE49-F238E27FC236}">
                <a16:creationId xmlns:a16="http://schemas.microsoft.com/office/drawing/2014/main" id="{5C076AFD-1FBD-4A5D-8C7D-74E0C3A80EAB}"/>
              </a:ext>
            </a:extLst>
          </p:cNvPr>
          <p:cNvSpPr/>
          <p:nvPr/>
        </p:nvSpPr>
        <p:spPr>
          <a:xfrm>
            <a:off x="9351440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3" name="object-070: C5">
            <a:extLst>
              <a:ext uri="{FF2B5EF4-FFF2-40B4-BE49-F238E27FC236}">
                <a16:creationId xmlns:a16="http://schemas.microsoft.com/office/drawing/2014/main" id="{F75900B3-9299-448E-A630-B81C3623B85A}"/>
              </a:ext>
            </a:extLst>
          </p:cNvPr>
          <p:cNvSpPr txBox="1"/>
          <p:nvPr/>
        </p:nvSpPr>
        <p:spPr>
          <a:xfrm>
            <a:off x="9381333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844" name="frame-select">
            <a:extLst>
              <a:ext uri="{FF2B5EF4-FFF2-40B4-BE49-F238E27FC236}">
                <a16:creationId xmlns:a16="http://schemas.microsoft.com/office/drawing/2014/main" id="{29358133-0E92-4973-90EB-96977D079B88}"/>
              </a:ext>
            </a:extLst>
          </p:cNvPr>
          <p:cNvSpPr/>
          <p:nvPr/>
        </p:nvSpPr>
        <p:spPr>
          <a:xfrm>
            <a:off x="9656240" y="1314349"/>
            <a:ext cx="6096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5" name="object-072: 帧边界选择">
            <a:extLst>
              <a:ext uri="{FF2B5EF4-FFF2-40B4-BE49-F238E27FC236}">
                <a16:creationId xmlns:a16="http://schemas.microsoft.com/office/drawing/2014/main" id="{D7CD0A41-01E5-4FE9-BA79-107B8A50C3DF}"/>
              </a:ext>
            </a:extLst>
          </p:cNvPr>
          <p:cNvSpPr txBox="1"/>
          <p:nvPr/>
        </p:nvSpPr>
        <p:spPr>
          <a:xfrm>
            <a:off x="9704559" y="1462046"/>
            <a:ext cx="5129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846" name="object-073: RAW / ISP">
            <a:extLst>
              <a:ext uri="{FF2B5EF4-FFF2-40B4-BE49-F238E27FC236}">
                <a16:creationId xmlns:a16="http://schemas.microsoft.com/office/drawing/2014/main" id="{6D9F2414-8C65-4383-AD03-DA29FA12D718}"/>
              </a:ext>
            </a:extLst>
          </p:cNvPr>
          <p:cNvSpPr txBox="1"/>
          <p:nvPr/>
        </p:nvSpPr>
        <p:spPr>
          <a:xfrm>
            <a:off x="9710971" y="1587624"/>
            <a:ext cx="50013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847" name="frame-dma">
            <a:extLst>
              <a:ext uri="{FF2B5EF4-FFF2-40B4-BE49-F238E27FC236}">
                <a16:creationId xmlns:a16="http://schemas.microsoft.com/office/drawing/2014/main" id="{CC8C5712-E151-4303-93AC-64CB6E17095D}"/>
              </a:ext>
            </a:extLst>
          </p:cNvPr>
          <p:cNvSpPr/>
          <p:nvPr/>
        </p:nvSpPr>
        <p:spPr>
          <a:xfrm>
            <a:off x="10384373" y="1314349"/>
            <a:ext cx="728133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8" name="object-075: 帧写入 DMA">
            <a:extLst>
              <a:ext uri="{FF2B5EF4-FFF2-40B4-BE49-F238E27FC236}">
                <a16:creationId xmlns:a16="http://schemas.microsoft.com/office/drawing/2014/main" id="{24C26ABC-45E2-4E21-AB00-AF8C2335CE52}"/>
              </a:ext>
            </a:extLst>
          </p:cNvPr>
          <p:cNvSpPr txBox="1"/>
          <p:nvPr/>
        </p:nvSpPr>
        <p:spPr>
          <a:xfrm>
            <a:off x="10447076" y="1462046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849" name="object-076: 地址 / stride">
            <a:extLst>
              <a:ext uri="{FF2B5EF4-FFF2-40B4-BE49-F238E27FC236}">
                <a16:creationId xmlns:a16="http://schemas.microsoft.com/office/drawing/2014/main" id="{0C54A5BA-9475-4ABD-B61F-EE92C0AB5523}"/>
              </a:ext>
            </a:extLst>
          </p:cNvPr>
          <p:cNvSpPr txBox="1"/>
          <p:nvPr/>
        </p:nvSpPr>
        <p:spPr>
          <a:xfrm>
            <a:off x="10455891" y="1587624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850" name="cfg-tag-C8-76">
            <a:extLst>
              <a:ext uri="{FF2B5EF4-FFF2-40B4-BE49-F238E27FC236}">
                <a16:creationId xmlns:a16="http://schemas.microsoft.com/office/drawing/2014/main" id="{1BC77144-E2BE-46C1-BF82-522BD58EED78}"/>
              </a:ext>
            </a:extLst>
          </p:cNvPr>
          <p:cNvSpPr/>
          <p:nvPr/>
        </p:nvSpPr>
        <p:spPr>
          <a:xfrm>
            <a:off x="10909307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1" name="object-078: C8">
            <a:extLst>
              <a:ext uri="{FF2B5EF4-FFF2-40B4-BE49-F238E27FC236}">
                <a16:creationId xmlns:a16="http://schemas.microsoft.com/office/drawing/2014/main" id="{2697A429-7A0F-44DF-B369-4C3F2764AFA0}"/>
              </a:ext>
            </a:extLst>
          </p:cNvPr>
          <p:cNvSpPr txBox="1"/>
          <p:nvPr/>
        </p:nvSpPr>
        <p:spPr>
          <a:xfrm>
            <a:off x="10939200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cxnSp>
        <p:nvCxnSpPr>
          <p:cNvPr id="852" name="lvds-cdc">
            <a:extLst>
              <a:ext uri="{FF2B5EF4-FFF2-40B4-BE49-F238E27FC236}">
                <a16:creationId xmlns:a16="http://schemas.microsoft.com/office/drawing/2014/main" id="{FADC3912-8F6A-41A4-A1AC-0683D6FEF878}"/>
              </a:ext>
            </a:extLst>
          </p:cNvPr>
          <p:cNvCxnSpPr/>
          <p:nvPr/>
        </p:nvCxnSpPr>
        <p:spPr>
          <a:xfrm>
            <a:off x="8250773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3" name="cdc-isp">
            <a:extLst>
              <a:ext uri="{FF2B5EF4-FFF2-40B4-BE49-F238E27FC236}">
                <a16:creationId xmlns:a16="http://schemas.microsoft.com/office/drawing/2014/main" id="{C8D68A84-0EDF-4C1B-97C7-070523D68F58}"/>
              </a:ext>
            </a:extLst>
          </p:cNvPr>
          <p:cNvCxnSpPr/>
          <p:nvPr/>
        </p:nvCxnSpPr>
        <p:spPr>
          <a:xfrm>
            <a:off x="88942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4" name="isp-select">
            <a:extLst>
              <a:ext uri="{FF2B5EF4-FFF2-40B4-BE49-F238E27FC236}">
                <a16:creationId xmlns:a16="http://schemas.microsoft.com/office/drawing/2014/main" id="{B9CB8D76-C114-4215-8002-C59B41C900E6}"/>
              </a:ext>
            </a:extLst>
          </p:cNvPr>
          <p:cNvCxnSpPr/>
          <p:nvPr/>
        </p:nvCxnSpPr>
        <p:spPr>
          <a:xfrm>
            <a:off x="95546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5" name="select-dma">
            <a:extLst>
              <a:ext uri="{FF2B5EF4-FFF2-40B4-BE49-F238E27FC236}">
                <a16:creationId xmlns:a16="http://schemas.microsoft.com/office/drawing/2014/main" id="{A4DF7387-49AD-4C18-8C33-962709E305CB}"/>
              </a:ext>
            </a:extLst>
          </p:cNvPr>
          <p:cNvCxnSpPr/>
          <p:nvPr/>
        </p:nvCxnSpPr>
        <p:spPr>
          <a:xfrm>
            <a:off x="10265840" y="1619149"/>
            <a:ext cx="118533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856" name="raw-bypass">
            <a:extLst>
              <a:ext uri="{FF2B5EF4-FFF2-40B4-BE49-F238E27FC236}">
                <a16:creationId xmlns:a16="http://schemas.microsoft.com/office/drawing/2014/main" id="{E31970F6-2698-453E-AFEC-330A77E21146}"/>
              </a:ext>
            </a:extLst>
          </p:cNvPr>
          <p:cNvSpPr/>
          <p:nvPr/>
        </p:nvSpPr>
        <p:spPr>
          <a:xfrm>
            <a:off x="8945040" y="1161949"/>
            <a:ext cx="1016000" cy="457200"/>
          </a:xfrm>
          <a:custGeom>
            <a:avLst/>
            <a:gdLst/>
            <a:ahLst/>
            <a:cxnLst/>
            <a:rect l="0" t="0" r="r" b="b"/>
            <a:pathLst>
              <a:path w="2438400" h="1097280" fill="none">
                <a:moveTo>
                  <a:pt x="0" y="1097280"/>
                </a:moveTo>
                <a:lnTo>
                  <a:pt x="0" y="0"/>
                </a:lnTo>
                <a:lnTo>
                  <a:pt x="2438400" y="0"/>
                </a:lnTo>
                <a:lnTo>
                  <a:pt x="2438400" y="365760"/>
                </a:lnTo>
              </a:path>
            </a:pathLst>
          </a:custGeom>
          <a:noFill/>
          <a:ln w="24384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7" name="raw-tap">
            <a:extLst>
              <a:ext uri="{FF2B5EF4-FFF2-40B4-BE49-F238E27FC236}">
                <a16:creationId xmlns:a16="http://schemas.microsoft.com/office/drawing/2014/main" id="{6B999DDA-62FA-4A7E-BBF9-40D1A20AF99E}"/>
              </a:ext>
            </a:extLst>
          </p:cNvPr>
          <p:cNvSpPr/>
          <p:nvPr/>
        </p:nvSpPr>
        <p:spPr>
          <a:xfrm>
            <a:off x="8929800" y="1603909"/>
            <a:ext cx="30480" cy="30480"/>
          </a:xfrm>
          <a:prstGeom prst="ellipse">
            <a:avLst/>
          </a:prstGeom>
          <a:solidFill>
            <a:srgbClr val="B960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8" name="object-085: RAW 旁路">
            <a:extLst>
              <a:ext uri="{FF2B5EF4-FFF2-40B4-BE49-F238E27FC236}">
                <a16:creationId xmlns:a16="http://schemas.microsoft.com/office/drawing/2014/main" id="{72B9973C-FC5E-456A-8F68-248CF7856BB7}"/>
              </a:ext>
            </a:extLst>
          </p:cNvPr>
          <p:cNvSpPr txBox="1"/>
          <p:nvPr/>
        </p:nvSpPr>
        <p:spPr>
          <a:xfrm>
            <a:off x="9293846" y="1037184"/>
            <a:ext cx="41998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859" name="object-086: RAW / ISP 二选一 · 帧打包">
            <a:extLst>
              <a:ext uri="{FF2B5EF4-FFF2-40B4-BE49-F238E27FC236}">
                <a16:creationId xmlns:a16="http://schemas.microsoft.com/office/drawing/2014/main" id="{33365FA1-2E05-4350-9729-DDEC1D772F4C}"/>
              </a:ext>
            </a:extLst>
          </p:cNvPr>
          <p:cNvSpPr txBox="1"/>
          <p:nvPr/>
        </p:nvSpPr>
        <p:spPr>
          <a:xfrm>
            <a:off x="9438563" y="2029207"/>
            <a:ext cx="107882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RAW / ISP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二选一</a:t>
            </a:r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·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帧打包</a:t>
            </a:r>
            <a:endParaRPr sz="7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0" name="isp-gb">
            <a:extLst>
              <a:ext uri="{FF2B5EF4-FFF2-40B4-BE49-F238E27FC236}">
                <a16:creationId xmlns:a16="http://schemas.microsoft.com/office/drawing/2014/main" id="{3F1E7E01-A7B9-4139-9377-4BE9A2B8B519}"/>
              </a:ext>
            </a:extLst>
          </p:cNvPr>
          <p:cNvSpPr/>
          <p:nvPr/>
        </p:nvSpPr>
        <p:spPr>
          <a:xfrm>
            <a:off x="5101167" y="1839299"/>
            <a:ext cx="3894667" cy="585893"/>
          </a:xfrm>
          <a:custGeom>
            <a:avLst/>
            <a:gdLst/>
            <a:ahLst/>
            <a:cxnLst/>
            <a:rect l="0" t="0" r="r" b="b"/>
            <a:pathLst>
              <a:path w="3894667" h="585893" fill="none">
                <a:moveTo>
                  <a:pt x="3894667" y="0"/>
                </a:moveTo>
                <a:lnTo>
                  <a:pt x="3843867" y="0"/>
                </a:lnTo>
                <a:lnTo>
                  <a:pt x="3843867" y="463973"/>
                </a:lnTo>
                <a:cubicBezTo>
                  <a:pt x="3762587" y="463973"/>
                  <a:pt x="3762587" y="552027"/>
                  <a:pt x="3843867" y="552027"/>
                </a:cubicBezTo>
                <a:lnTo>
                  <a:pt x="3843867" y="585893"/>
                </a:lnTo>
                <a:lnTo>
                  <a:pt x="0" y="585893"/>
                </a:lnTo>
                <a:lnTo>
                  <a:pt x="0" y="321733"/>
                </a:lnTo>
              </a:path>
            </a:pathLst>
          </a:custGeom>
          <a:noFill/>
          <a:ln w="25197" cap="flat">
            <a:solidFill>
              <a:srgbClr val="187C78"/>
            </a:solidFill>
            <a:custDash>
              <a:ds d="322581" sp="193548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1" name="object-088: ISP 中间数据 ↔ GB">
            <a:extLst>
              <a:ext uri="{FF2B5EF4-FFF2-40B4-BE49-F238E27FC236}">
                <a16:creationId xmlns:a16="http://schemas.microsoft.com/office/drawing/2014/main" id="{C863B04F-CF8F-4E7E-B05F-17A7C6830FA7}"/>
              </a:ext>
            </a:extLst>
          </p:cNvPr>
          <p:cNvSpPr txBox="1"/>
          <p:nvPr/>
        </p:nvSpPr>
        <p:spPr>
          <a:xfrm>
            <a:off x="8092263" y="2152994"/>
            <a:ext cx="81913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中间数据</a:t>
            </a:r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 ↔ GB</a:t>
            </a:r>
          </a:p>
        </p:txBody>
      </p:sp>
      <p:sp>
        <p:nvSpPr>
          <p:cNvPr id="862" name="debug-sba">
            <a:extLst>
              <a:ext uri="{FF2B5EF4-FFF2-40B4-BE49-F238E27FC236}">
                <a16:creationId xmlns:a16="http://schemas.microsoft.com/office/drawing/2014/main" id="{1596E9AB-5246-4524-A9F6-2A23D87B0F25}"/>
              </a:ext>
            </a:extLst>
          </p:cNvPr>
          <p:cNvSpPr/>
          <p:nvPr/>
        </p:nvSpPr>
        <p:spPr>
          <a:xfrm>
            <a:off x="1341973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3" name="object-090: Debug / SBA">
            <a:extLst>
              <a:ext uri="{FF2B5EF4-FFF2-40B4-BE49-F238E27FC236}">
                <a16:creationId xmlns:a16="http://schemas.microsoft.com/office/drawing/2014/main" id="{76CF0374-0CD8-4165-8BEC-7B69F47D7596}"/>
              </a:ext>
            </a:extLst>
          </p:cNvPr>
          <p:cNvSpPr txBox="1"/>
          <p:nvPr/>
        </p:nvSpPr>
        <p:spPr>
          <a:xfrm>
            <a:off x="1441952" y="2535474"/>
            <a:ext cx="66364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864" name="object-091: JTAG 总线访问">
            <a:extLst>
              <a:ext uri="{FF2B5EF4-FFF2-40B4-BE49-F238E27FC236}">
                <a16:creationId xmlns:a16="http://schemas.microsoft.com/office/drawing/2014/main" id="{71B37969-8767-42AE-B670-5DBB47120046}"/>
              </a:ext>
            </a:extLst>
          </p:cNvPr>
          <p:cNvSpPr txBox="1"/>
          <p:nvPr/>
        </p:nvSpPr>
        <p:spPr>
          <a:xfrm>
            <a:off x="1429128" y="2664709"/>
            <a:ext cx="6892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865" name="idma-master">
            <a:extLst>
              <a:ext uri="{FF2B5EF4-FFF2-40B4-BE49-F238E27FC236}">
                <a16:creationId xmlns:a16="http://schemas.microsoft.com/office/drawing/2014/main" id="{D060EB5F-64EB-4075-A7B4-E3F6B610531A}"/>
              </a:ext>
            </a:extLst>
          </p:cNvPr>
          <p:cNvSpPr/>
          <p:nvPr/>
        </p:nvSpPr>
        <p:spPr>
          <a:xfrm>
            <a:off x="3814240" y="2508922"/>
            <a:ext cx="931333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6" name="object-093: iDMA 数据主口">
            <a:extLst>
              <a:ext uri="{FF2B5EF4-FFF2-40B4-BE49-F238E27FC236}">
                <a16:creationId xmlns:a16="http://schemas.microsoft.com/office/drawing/2014/main" id="{E6FB1EA0-D2F4-4D31-BB6F-D110A206E95D}"/>
              </a:ext>
            </a:extLst>
          </p:cNvPr>
          <p:cNvSpPr txBox="1"/>
          <p:nvPr/>
        </p:nvSpPr>
        <p:spPr>
          <a:xfrm>
            <a:off x="3912017" y="2535474"/>
            <a:ext cx="73577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</a:t>
            </a:r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数据主口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7" name="object-094: 内存 ↔ 内存">
            <a:extLst>
              <a:ext uri="{FF2B5EF4-FFF2-40B4-BE49-F238E27FC236}">
                <a16:creationId xmlns:a16="http://schemas.microsoft.com/office/drawing/2014/main" id="{C5EAB3A8-AD19-41BD-AC1F-1AE648CAF936}"/>
              </a:ext>
            </a:extLst>
          </p:cNvPr>
          <p:cNvSpPr txBox="1"/>
          <p:nvPr/>
        </p:nvSpPr>
        <p:spPr>
          <a:xfrm>
            <a:off x="3973732" y="2664709"/>
            <a:ext cx="6123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↔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8" name="slink-rx">
            <a:extLst>
              <a:ext uri="{FF2B5EF4-FFF2-40B4-BE49-F238E27FC236}">
                <a16:creationId xmlns:a16="http://schemas.microsoft.com/office/drawing/2014/main" id="{A4231CCA-B895-4849-AB55-04416D5EBB9F}"/>
              </a:ext>
            </a:extLst>
          </p:cNvPr>
          <p:cNvSpPr/>
          <p:nvPr/>
        </p:nvSpPr>
        <p:spPr>
          <a:xfrm>
            <a:off x="4965706" y="2508922"/>
            <a:ext cx="9652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9" name="object-096: Serial Link RX">
            <a:extLst>
              <a:ext uri="{FF2B5EF4-FFF2-40B4-BE49-F238E27FC236}">
                <a16:creationId xmlns:a16="http://schemas.microsoft.com/office/drawing/2014/main" id="{365954D2-D846-4F1C-BDFB-76D16D4FFB61}"/>
              </a:ext>
            </a:extLst>
          </p:cNvPr>
          <p:cNvSpPr txBox="1"/>
          <p:nvPr/>
        </p:nvSpPr>
        <p:spPr>
          <a:xfrm>
            <a:off x="5096447" y="2535474"/>
            <a:ext cx="7037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870" name="object-097: 远端请求入口">
            <a:extLst>
              <a:ext uri="{FF2B5EF4-FFF2-40B4-BE49-F238E27FC236}">
                <a16:creationId xmlns:a16="http://schemas.microsoft.com/office/drawing/2014/main" id="{217A0520-5917-422D-9C30-2EB747C9B74F}"/>
              </a:ext>
            </a:extLst>
          </p:cNvPr>
          <p:cNvSpPr txBox="1"/>
          <p:nvPr/>
        </p:nvSpPr>
        <p:spPr>
          <a:xfrm>
            <a:off x="5140530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871" name="vga-master">
            <a:extLst>
              <a:ext uri="{FF2B5EF4-FFF2-40B4-BE49-F238E27FC236}">
                <a16:creationId xmlns:a16="http://schemas.microsoft.com/office/drawing/2014/main" id="{B2224093-8A15-455D-B781-59CA21A6C635}"/>
              </a:ext>
            </a:extLst>
          </p:cNvPr>
          <p:cNvSpPr/>
          <p:nvPr/>
        </p:nvSpPr>
        <p:spPr>
          <a:xfrm>
            <a:off x="6151040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2" name="object-099: VGA">
            <a:extLst>
              <a:ext uri="{FF2B5EF4-FFF2-40B4-BE49-F238E27FC236}">
                <a16:creationId xmlns:a16="http://schemas.microsoft.com/office/drawing/2014/main" id="{25BE3015-0005-4226-9C84-4545B442FD9B}"/>
              </a:ext>
            </a:extLst>
          </p:cNvPr>
          <p:cNvSpPr txBox="1"/>
          <p:nvPr/>
        </p:nvSpPr>
        <p:spPr>
          <a:xfrm>
            <a:off x="6468225" y="2535474"/>
            <a:ext cx="22923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873" name="object-100: 帧缓冲读取">
            <a:extLst>
              <a:ext uri="{FF2B5EF4-FFF2-40B4-BE49-F238E27FC236}">
                <a16:creationId xmlns:a16="http://schemas.microsoft.com/office/drawing/2014/main" id="{FD70D967-D2C8-496B-BE8F-B24F3DD6FBA0}"/>
              </a:ext>
            </a:extLst>
          </p:cNvPr>
          <p:cNvSpPr txBox="1"/>
          <p:nvPr/>
        </p:nvSpPr>
        <p:spPr>
          <a:xfrm>
            <a:off x="6326360" y="2664709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874" name="usb-master">
            <a:extLst>
              <a:ext uri="{FF2B5EF4-FFF2-40B4-BE49-F238E27FC236}">
                <a16:creationId xmlns:a16="http://schemas.microsoft.com/office/drawing/2014/main" id="{31F02D86-354D-48BC-8FB3-AC8A1F1E3AF0}"/>
              </a:ext>
            </a:extLst>
          </p:cNvPr>
          <p:cNvSpPr/>
          <p:nvPr/>
        </p:nvSpPr>
        <p:spPr>
          <a:xfrm>
            <a:off x="7234773" y="2508922"/>
            <a:ext cx="846667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5" name="object-102: USB DMA">
            <a:extLst>
              <a:ext uri="{FF2B5EF4-FFF2-40B4-BE49-F238E27FC236}">
                <a16:creationId xmlns:a16="http://schemas.microsoft.com/office/drawing/2014/main" id="{1870D71B-ADC3-4D4F-BC58-D7D3E47D4E76}"/>
              </a:ext>
            </a:extLst>
          </p:cNvPr>
          <p:cNvSpPr txBox="1"/>
          <p:nvPr/>
        </p:nvSpPr>
        <p:spPr>
          <a:xfrm>
            <a:off x="7404031" y="2535474"/>
            <a:ext cx="50815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876" name="object-103: OHCI 主口">
            <a:extLst>
              <a:ext uri="{FF2B5EF4-FFF2-40B4-BE49-F238E27FC236}">
                <a16:creationId xmlns:a16="http://schemas.microsoft.com/office/drawing/2014/main" id="{191E51EC-6998-4A14-9357-54E80C396DC6}"/>
              </a:ext>
            </a:extLst>
          </p:cNvPr>
          <p:cNvSpPr txBox="1"/>
          <p:nvPr/>
        </p:nvSpPr>
        <p:spPr>
          <a:xfrm>
            <a:off x="7408840" y="2664709"/>
            <a:ext cx="4985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77" name="ext-master">
            <a:extLst>
              <a:ext uri="{FF2B5EF4-FFF2-40B4-BE49-F238E27FC236}">
                <a16:creationId xmlns:a16="http://schemas.microsoft.com/office/drawing/2014/main" id="{D41F2F3F-DB15-4EE3-B2D0-6286EE3AE509}"/>
              </a:ext>
            </a:extLst>
          </p:cNvPr>
          <p:cNvSpPr/>
          <p:nvPr/>
        </p:nvSpPr>
        <p:spPr>
          <a:xfrm>
            <a:off x="8318506" y="2508922"/>
            <a:ext cx="1253067" cy="338667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8" name="object-105: AXI 外部 master">
            <a:extLst>
              <a:ext uri="{FF2B5EF4-FFF2-40B4-BE49-F238E27FC236}">
                <a16:creationId xmlns:a16="http://schemas.microsoft.com/office/drawing/2014/main" id="{A36E69F6-7BBB-41B0-9F39-C22405688F34}"/>
              </a:ext>
            </a:extLst>
          </p:cNvPr>
          <p:cNvSpPr txBox="1"/>
          <p:nvPr/>
        </p:nvSpPr>
        <p:spPr>
          <a:xfrm>
            <a:off x="8541885" y="2535474"/>
            <a:ext cx="80631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879" name="object-106: 可选扩展入口">
            <a:extLst>
              <a:ext uri="{FF2B5EF4-FFF2-40B4-BE49-F238E27FC236}">
                <a16:creationId xmlns:a16="http://schemas.microsoft.com/office/drawing/2014/main" id="{F71D184D-3485-4A10-B629-6B91027A5CF1}"/>
              </a:ext>
            </a:extLst>
          </p:cNvPr>
          <p:cNvSpPr txBox="1"/>
          <p:nvPr/>
        </p:nvSpPr>
        <p:spPr>
          <a:xfrm>
            <a:off x="8637264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cxnSp>
        <p:nvCxnSpPr>
          <p:cNvPr id="880" name="cpu-master">
            <a:extLst>
              <a:ext uri="{FF2B5EF4-FFF2-40B4-BE49-F238E27FC236}">
                <a16:creationId xmlns:a16="http://schemas.microsoft.com/office/drawing/2014/main" id="{FF4EEB96-E348-415C-B377-A5ADD617D4D2}"/>
              </a:ext>
            </a:extLst>
          </p:cNvPr>
          <p:cNvCxnSpPr>
            <a:cxnSpLocks/>
            <a:endCxn id="889" idx="0"/>
          </p:cNvCxnSpPr>
          <p:nvPr/>
        </p:nvCxnSpPr>
        <p:spPr>
          <a:xfrm>
            <a:off x="749306" y="1839283"/>
            <a:ext cx="0" cy="1134533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81" name="ara-master">
            <a:extLst>
              <a:ext uri="{FF2B5EF4-FFF2-40B4-BE49-F238E27FC236}">
                <a16:creationId xmlns:a16="http://schemas.microsoft.com/office/drawing/2014/main" id="{DB1A5D2C-422A-4770-9E00-CD067600FA1E}"/>
              </a:ext>
            </a:extLst>
          </p:cNvPr>
          <p:cNvCxnSpPr>
            <a:cxnSpLocks/>
          </p:cNvCxnSpPr>
          <p:nvPr/>
        </p:nvCxnSpPr>
        <p:spPr>
          <a:xfrm>
            <a:off x="3052240" y="1978136"/>
            <a:ext cx="0" cy="99568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82" name="object-109: CPU AXI">
            <a:extLst>
              <a:ext uri="{FF2B5EF4-FFF2-40B4-BE49-F238E27FC236}">
                <a16:creationId xmlns:a16="http://schemas.microsoft.com/office/drawing/2014/main" id="{2EE32942-FF5A-4F6E-886B-B3990919F08A}"/>
              </a:ext>
            </a:extLst>
          </p:cNvPr>
          <p:cNvSpPr txBox="1"/>
          <p:nvPr/>
        </p:nvSpPr>
        <p:spPr>
          <a:xfrm>
            <a:off x="267636" y="2713042"/>
            <a:ext cx="4071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CPU AXI</a:t>
            </a:r>
          </a:p>
        </p:txBody>
      </p:sp>
      <p:sp>
        <p:nvSpPr>
          <p:cNvPr id="883" name="object-110: Ara 普通地址">
            <a:extLst>
              <a:ext uri="{FF2B5EF4-FFF2-40B4-BE49-F238E27FC236}">
                <a16:creationId xmlns:a16="http://schemas.microsoft.com/office/drawing/2014/main" id="{245061BD-FC91-47D9-88A0-2FD1347A1C20}"/>
              </a:ext>
            </a:extLst>
          </p:cNvPr>
          <p:cNvSpPr txBox="1"/>
          <p:nvPr/>
        </p:nvSpPr>
        <p:spPr>
          <a:xfrm>
            <a:off x="2376967" y="2671482"/>
            <a:ext cx="6075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Ara AXI64</a:t>
            </a:r>
          </a:p>
        </p:txBody>
      </p:sp>
      <p:sp>
        <p:nvSpPr>
          <p:cNvPr id="884" name="axi-crossbar">
            <a:extLst>
              <a:ext uri="{FF2B5EF4-FFF2-40B4-BE49-F238E27FC236}">
                <a16:creationId xmlns:a16="http://schemas.microsoft.com/office/drawing/2014/main" id="{30D056BC-A9A4-4B51-9CC0-7274C949CB73}"/>
              </a:ext>
            </a:extLst>
          </p:cNvPr>
          <p:cNvSpPr/>
          <p:nvPr/>
        </p:nvSpPr>
        <p:spPr>
          <a:xfrm>
            <a:off x="241306" y="3024616"/>
            <a:ext cx="9584267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85" name="object-112: AXI Crossbar">
            <a:extLst>
              <a:ext uri="{FF2B5EF4-FFF2-40B4-BE49-F238E27FC236}">
                <a16:creationId xmlns:a16="http://schemas.microsoft.com/office/drawing/2014/main" id="{AB49511B-F383-45E4-AB81-15319A3F9D0A}"/>
              </a:ext>
            </a:extLst>
          </p:cNvPr>
          <p:cNvSpPr txBox="1"/>
          <p:nvPr/>
        </p:nvSpPr>
        <p:spPr>
          <a:xfrm>
            <a:off x="4575782" y="3089976"/>
            <a:ext cx="915315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886" name="object-113: 7 × 6 基础端口 + 扩展 | 64 bit 数据 / 48 bit 地址 | 地址译码 / 各目标仲裁">
            <a:extLst>
              <a:ext uri="{FF2B5EF4-FFF2-40B4-BE49-F238E27FC236}">
                <a16:creationId xmlns:a16="http://schemas.microsoft.com/office/drawing/2014/main" id="{FBE91108-953C-4CEE-B85B-DAEFE394EDAF}"/>
              </a:ext>
            </a:extLst>
          </p:cNvPr>
          <p:cNvSpPr txBox="1"/>
          <p:nvPr/>
        </p:nvSpPr>
        <p:spPr>
          <a:xfrm>
            <a:off x="2815167" y="3272993"/>
            <a:ext cx="44365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47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7 × 6 基础端口 + 扩展 | 64 bit 数据 / 48 bit 地址 | 地址译码 / 各目标仲裁</a:t>
            </a:r>
          </a:p>
        </p:txBody>
      </p:sp>
      <p:sp>
        <p:nvSpPr>
          <p:cNvPr id="887" name="object-114: 输入侧 AXI RT：按配置可选">
            <a:extLst>
              <a:ext uri="{FF2B5EF4-FFF2-40B4-BE49-F238E27FC236}">
                <a16:creationId xmlns:a16="http://schemas.microsoft.com/office/drawing/2014/main" id="{65CC9354-9373-44A2-AA26-F79E5709F129}"/>
              </a:ext>
            </a:extLst>
          </p:cNvPr>
          <p:cNvSpPr txBox="1"/>
          <p:nvPr/>
        </p:nvSpPr>
        <p:spPr>
          <a:xfrm>
            <a:off x="317441" y="3328279"/>
            <a:ext cx="95859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</a:t>
            </a:r>
            <a:r>
              <a:rPr sz="6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RT：按配置可选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8" name="object-115: 未映射请求：DECERR">
            <a:extLst>
              <a:ext uri="{FF2B5EF4-FFF2-40B4-BE49-F238E27FC236}">
                <a16:creationId xmlns:a16="http://schemas.microsoft.com/office/drawing/2014/main" id="{439D34EE-5A46-40DF-B869-C096662E2F18}"/>
              </a:ext>
            </a:extLst>
          </p:cNvPr>
          <p:cNvSpPr txBox="1"/>
          <p:nvPr/>
        </p:nvSpPr>
        <p:spPr>
          <a:xfrm>
            <a:off x="8896251" y="3314636"/>
            <a:ext cx="755015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9" name="master-port-0">
            <a:extLst>
              <a:ext uri="{FF2B5EF4-FFF2-40B4-BE49-F238E27FC236}">
                <a16:creationId xmlns:a16="http://schemas.microsoft.com/office/drawing/2014/main" id="{0F326333-1538-41CD-932C-C2F8487F53DD}"/>
              </a:ext>
            </a:extLst>
          </p:cNvPr>
          <p:cNvSpPr/>
          <p:nvPr/>
        </p:nvSpPr>
        <p:spPr>
          <a:xfrm>
            <a:off x="5867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0" name="object-117: S0">
            <a:extLst>
              <a:ext uri="{FF2B5EF4-FFF2-40B4-BE49-F238E27FC236}">
                <a16:creationId xmlns:a16="http://schemas.microsoft.com/office/drawing/2014/main" id="{78E2AFC9-AAF7-46E1-9DFE-58FE70D5E1E2}"/>
              </a:ext>
            </a:extLst>
          </p:cNvPr>
          <p:cNvSpPr txBox="1"/>
          <p:nvPr/>
        </p:nvSpPr>
        <p:spPr>
          <a:xfrm>
            <a:off x="7020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cxnSp>
        <p:nvCxnSpPr>
          <p:cNvPr id="891" name="master-input-1">
            <a:extLst>
              <a:ext uri="{FF2B5EF4-FFF2-40B4-BE49-F238E27FC236}">
                <a16:creationId xmlns:a16="http://schemas.microsoft.com/office/drawing/2014/main" id="{ECA3108C-246D-415A-B588-68B49F8AC203}"/>
              </a:ext>
            </a:extLst>
          </p:cNvPr>
          <p:cNvCxnSpPr>
            <a:cxnSpLocks/>
            <a:stCxn id="862" idx="2"/>
            <a:endCxn id="892" idx="0"/>
          </p:cNvCxnSpPr>
          <p:nvPr/>
        </p:nvCxnSpPr>
        <p:spPr>
          <a:xfrm flipH="1">
            <a:off x="1772080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2" name="master-port-1">
            <a:extLst>
              <a:ext uri="{FF2B5EF4-FFF2-40B4-BE49-F238E27FC236}">
                <a16:creationId xmlns:a16="http://schemas.microsoft.com/office/drawing/2014/main" id="{4553B0C7-9421-4373-B12A-C9174C677111}"/>
              </a:ext>
            </a:extLst>
          </p:cNvPr>
          <p:cNvSpPr/>
          <p:nvPr/>
        </p:nvSpPr>
        <p:spPr>
          <a:xfrm>
            <a:off x="160952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3" name="object-120: S1">
            <a:extLst>
              <a:ext uri="{FF2B5EF4-FFF2-40B4-BE49-F238E27FC236}">
                <a16:creationId xmlns:a16="http://schemas.microsoft.com/office/drawing/2014/main" id="{3F43181B-DE1D-484D-B55A-742D23FD99AE}"/>
              </a:ext>
            </a:extLst>
          </p:cNvPr>
          <p:cNvSpPr txBox="1"/>
          <p:nvPr/>
        </p:nvSpPr>
        <p:spPr>
          <a:xfrm>
            <a:off x="172479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894" name="master-port-2">
            <a:extLst>
              <a:ext uri="{FF2B5EF4-FFF2-40B4-BE49-F238E27FC236}">
                <a16:creationId xmlns:a16="http://schemas.microsoft.com/office/drawing/2014/main" id="{602474F8-334C-4058-878B-BB667B6B2687}"/>
              </a:ext>
            </a:extLst>
          </p:cNvPr>
          <p:cNvSpPr/>
          <p:nvPr/>
        </p:nvSpPr>
        <p:spPr>
          <a:xfrm>
            <a:off x="28896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5" name="object-122: S2">
            <a:extLst>
              <a:ext uri="{FF2B5EF4-FFF2-40B4-BE49-F238E27FC236}">
                <a16:creationId xmlns:a16="http://schemas.microsoft.com/office/drawing/2014/main" id="{6EABCA1F-85F6-4ABE-BF62-5018DF89476E}"/>
              </a:ext>
            </a:extLst>
          </p:cNvPr>
          <p:cNvSpPr txBox="1"/>
          <p:nvPr/>
        </p:nvSpPr>
        <p:spPr>
          <a:xfrm>
            <a:off x="300495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cxnSp>
        <p:nvCxnSpPr>
          <p:cNvPr id="896" name="master-input-3">
            <a:extLst>
              <a:ext uri="{FF2B5EF4-FFF2-40B4-BE49-F238E27FC236}">
                <a16:creationId xmlns:a16="http://schemas.microsoft.com/office/drawing/2014/main" id="{41BDE088-AF36-4BF2-8B7A-C3BCBB0DD0E1}"/>
              </a:ext>
            </a:extLst>
          </p:cNvPr>
          <p:cNvCxnSpPr>
            <a:cxnSpLocks/>
            <a:stCxn id="865" idx="2"/>
            <a:endCxn id="898" idx="0"/>
          </p:cNvCxnSpPr>
          <p:nvPr/>
        </p:nvCxnSpPr>
        <p:spPr>
          <a:xfrm flipH="1">
            <a:off x="4278214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7" name="master-port-3">
            <a:extLst>
              <a:ext uri="{FF2B5EF4-FFF2-40B4-BE49-F238E27FC236}">
                <a16:creationId xmlns:a16="http://schemas.microsoft.com/office/drawing/2014/main" id="{C18A6326-AF43-41B2-B23E-331005ADBDC7}"/>
              </a:ext>
            </a:extLst>
          </p:cNvPr>
          <p:cNvSpPr/>
          <p:nvPr/>
        </p:nvSpPr>
        <p:spPr>
          <a:xfrm>
            <a:off x="41156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8" name="object-125: S3">
            <a:extLst>
              <a:ext uri="{FF2B5EF4-FFF2-40B4-BE49-F238E27FC236}">
                <a16:creationId xmlns:a16="http://schemas.microsoft.com/office/drawing/2014/main" id="{6FAAD788-A730-403A-9234-9AEE68214ED7}"/>
              </a:ext>
            </a:extLst>
          </p:cNvPr>
          <p:cNvSpPr txBox="1"/>
          <p:nvPr/>
        </p:nvSpPr>
        <p:spPr>
          <a:xfrm>
            <a:off x="42309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cxnSp>
        <p:nvCxnSpPr>
          <p:cNvPr id="899" name="master-input-4">
            <a:extLst>
              <a:ext uri="{FF2B5EF4-FFF2-40B4-BE49-F238E27FC236}">
                <a16:creationId xmlns:a16="http://schemas.microsoft.com/office/drawing/2014/main" id="{63194A64-7997-47D4-9B67-6A3B8A83FBA5}"/>
              </a:ext>
            </a:extLst>
          </p:cNvPr>
          <p:cNvCxnSpPr>
            <a:cxnSpLocks/>
            <a:stCxn id="868" idx="2"/>
            <a:endCxn id="900" idx="0"/>
          </p:cNvCxnSpPr>
          <p:nvPr/>
        </p:nvCxnSpPr>
        <p:spPr>
          <a:xfrm flipH="1">
            <a:off x="5446613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0" name="master-port-4">
            <a:extLst>
              <a:ext uri="{FF2B5EF4-FFF2-40B4-BE49-F238E27FC236}">
                <a16:creationId xmlns:a16="http://schemas.microsoft.com/office/drawing/2014/main" id="{DB92E762-D25D-4D20-BAFE-7089E116CA62}"/>
              </a:ext>
            </a:extLst>
          </p:cNvPr>
          <p:cNvSpPr/>
          <p:nvPr/>
        </p:nvSpPr>
        <p:spPr>
          <a:xfrm>
            <a:off x="52840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1" name="object-128: S4">
            <a:extLst>
              <a:ext uri="{FF2B5EF4-FFF2-40B4-BE49-F238E27FC236}">
                <a16:creationId xmlns:a16="http://schemas.microsoft.com/office/drawing/2014/main" id="{DF1FF693-6631-4141-920A-04372833575E}"/>
              </a:ext>
            </a:extLst>
          </p:cNvPr>
          <p:cNvSpPr txBox="1"/>
          <p:nvPr/>
        </p:nvSpPr>
        <p:spPr>
          <a:xfrm>
            <a:off x="53993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cxnSp>
        <p:nvCxnSpPr>
          <p:cNvPr id="902" name="master-input-5">
            <a:extLst>
              <a:ext uri="{FF2B5EF4-FFF2-40B4-BE49-F238E27FC236}">
                <a16:creationId xmlns:a16="http://schemas.microsoft.com/office/drawing/2014/main" id="{8ADECD2D-C41B-4634-88FE-5A08E996B139}"/>
              </a:ext>
            </a:extLst>
          </p:cNvPr>
          <p:cNvCxnSpPr>
            <a:cxnSpLocks/>
            <a:stCxn id="871" idx="2"/>
            <a:endCxn id="904" idx="0"/>
          </p:cNvCxnSpPr>
          <p:nvPr/>
        </p:nvCxnSpPr>
        <p:spPr>
          <a:xfrm flipH="1">
            <a:off x="6581147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3" name="master-port-5">
            <a:extLst>
              <a:ext uri="{FF2B5EF4-FFF2-40B4-BE49-F238E27FC236}">
                <a16:creationId xmlns:a16="http://schemas.microsoft.com/office/drawing/2014/main" id="{FE570239-49B0-4DE8-9C5D-20F4362D2680}"/>
              </a:ext>
            </a:extLst>
          </p:cNvPr>
          <p:cNvSpPr/>
          <p:nvPr/>
        </p:nvSpPr>
        <p:spPr>
          <a:xfrm>
            <a:off x="641858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4" name="object-131: S5">
            <a:extLst>
              <a:ext uri="{FF2B5EF4-FFF2-40B4-BE49-F238E27FC236}">
                <a16:creationId xmlns:a16="http://schemas.microsoft.com/office/drawing/2014/main" id="{C2B9F0FF-B46A-4399-9351-9076AE74ECA0}"/>
              </a:ext>
            </a:extLst>
          </p:cNvPr>
          <p:cNvSpPr txBox="1"/>
          <p:nvPr/>
        </p:nvSpPr>
        <p:spPr>
          <a:xfrm>
            <a:off x="653385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cxnSp>
        <p:nvCxnSpPr>
          <p:cNvPr id="905" name="master-input-6">
            <a:extLst>
              <a:ext uri="{FF2B5EF4-FFF2-40B4-BE49-F238E27FC236}">
                <a16:creationId xmlns:a16="http://schemas.microsoft.com/office/drawing/2014/main" id="{4D4E99B8-184F-42BF-848F-3380EE686863}"/>
              </a:ext>
            </a:extLst>
          </p:cNvPr>
          <p:cNvCxnSpPr>
            <a:cxnSpLocks/>
            <a:stCxn id="874" idx="2"/>
            <a:endCxn id="906" idx="0"/>
          </p:cNvCxnSpPr>
          <p:nvPr/>
        </p:nvCxnSpPr>
        <p:spPr>
          <a:xfrm flipH="1">
            <a:off x="7658106" y="2847589"/>
            <a:ext cx="1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6" name="master-port-6">
            <a:extLst>
              <a:ext uri="{FF2B5EF4-FFF2-40B4-BE49-F238E27FC236}">
                <a16:creationId xmlns:a16="http://schemas.microsoft.com/office/drawing/2014/main" id="{03A533EB-AB9B-4BC9-9006-ACC3DD5559C6}"/>
              </a:ext>
            </a:extLst>
          </p:cNvPr>
          <p:cNvSpPr/>
          <p:nvPr/>
        </p:nvSpPr>
        <p:spPr>
          <a:xfrm>
            <a:off x="74955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7" name="object-134: S6">
            <a:extLst>
              <a:ext uri="{FF2B5EF4-FFF2-40B4-BE49-F238E27FC236}">
                <a16:creationId xmlns:a16="http://schemas.microsoft.com/office/drawing/2014/main" id="{8036A6ED-C505-4B1E-B4D3-FD1BDB6F4F22}"/>
              </a:ext>
            </a:extLst>
          </p:cNvPr>
          <p:cNvSpPr txBox="1"/>
          <p:nvPr/>
        </p:nvSpPr>
        <p:spPr>
          <a:xfrm>
            <a:off x="76108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cxnSp>
        <p:nvCxnSpPr>
          <p:cNvPr id="908" name="master-input-7">
            <a:extLst>
              <a:ext uri="{FF2B5EF4-FFF2-40B4-BE49-F238E27FC236}">
                <a16:creationId xmlns:a16="http://schemas.microsoft.com/office/drawing/2014/main" id="{CC4EED22-31D0-4799-9367-43732014B122}"/>
              </a:ext>
            </a:extLst>
          </p:cNvPr>
          <p:cNvCxnSpPr>
            <a:cxnSpLocks/>
            <a:stCxn id="877" idx="2"/>
            <a:endCxn id="910" idx="0"/>
          </p:cNvCxnSpPr>
          <p:nvPr/>
        </p:nvCxnSpPr>
        <p:spPr>
          <a:xfrm>
            <a:off x="8945040" y="2847589"/>
            <a:ext cx="1" cy="127581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09" name="master-port-7">
            <a:extLst>
              <a:ext uri="{FF2B5EF4-FFF2-40B4-BE49-F238E27FC236}">
                <a16:creationId xmlns:a16="http://schemas.microsoft.com/office/drawing/2014/main" id="{8CD622A4-E94F-49B7-9EE1-76B718FFF741}"/>
              </a:ext>
            </a:extLst>
          </p:cNvPr>
          <p:cNvSpPr/>
          <p:nvPr/>
        </p:nvSpPr>
        <p:spPr>
          <a:xfrm>
            <a:off x="87824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0" name="object-137: S_EXT">
            <a:extLst>
              <a:ext uri="{FF2B5EF4-FFF2-40B4-BE49-F238E27FC236}">
                <a16:creationId xmlns:a16="http://schemas.microsoft.com/office/drawing/2014/main" id="{A6672919-ACE5-43A4-B24D-02ED76BD260F}"/>
              </a:ext>
            </a:extLst>
          </p:cNvPr>
          <p:cNvSpPr txBox="1"/>
          <p:nvPr/>
        </p:nvSpPr>
        <p:spPr>
          <a:xfrm>
            <a:off x="8831227" y="2975170"/>
            <a:ext cx="22762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911" name="object-138: AXI master / 请求发起端">
            <a:extLst>
              <a:ext uri="{FF2B5EF4-FFF2-40B4-BE49-F238E27FC236}">
                <a16:creationId xmlns:a16="http://schemas.microsoft.com/office/drawing/2014/main" id="{6E968B6E-173B-423A-BB84-904B4B1C3F33}"/>
              </a:ext>
            </a:extLst>
          </p:cNvPr>
          <p:cNvSpPr txBox="1"/>
          <p:nvPr/>
        </p:nvSpPr>
        <p:spPr>
          <a:xfrm>
            <a:off x="3746500" y="2380500"/>
            <a:ext cx="104515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7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master / 请求发起端</a:t>
            </a:r>
          </a:p>
        </p:txBody>
      </p:sp>
      <p:cxnSp>
        <p:nvCxnSpPr>
          <p:cNvPr id="912" name="target-output-0">
            <a:extLst>
              <a:ext uri="{FF2B5EF4-FFF2-40B4-BE49-F238E27FC236}">
                <a16:creationId xmlns:a16="http://schemas.microsoft.com/office/drawing/2014/main" id="{0B0E9033-54B2-48D8-A4BA-1021732C78B5}"/>
              </a:ext>
            </a:extLst>
          </p:cNvPr>
          <p:cNvCxnSpPr/>
          <p:nvPr/>
        </p:nvCxnSpPr>
        <p:spPr>
          <a:xfrm>
            <a:off x="925890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3" name="target-port-0">
            <a:extLst>
              <a:ext uri="{FF2B5EF4-FFF2-40B4-BE49-F238E27FC236}">
                <a16:creationId xmlns:a16="http://schemas.microsoft.com/office/drawing/2014/main" id="{A3405BA2-C50F-44D0-A6DD-4AD5F991D969}"/>
              </a:ext>
            </a:extLst>
          </p:cNvPr>
          <p:cNvSpPr/>
          <p:nvPr/>
        </p:nvSpPr>
        <p:spPr>
          <a:xfrm>
            <a:off x="763330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4" name="object-141: M0">
            <a:extLst>
              <a:ext uri="{FF2B5EF4-FFF2-40B4-BE49-F238E27FC236}">
                <a16:creationId xmlns:a16="http://schemas.microsoft.com/office/drawing/2014/main" id="{3F291DD9-3BB4-4245-A46F-E73FAE70C3EC}"/>
              </a:ext>
            </a:extLst>
          </p:cNvPr>
          <p:cNvSpPr txBox="1"/>
          <p:nvPr/>
        </p:nvSpPr>
        <p:spPr>
          <a:xfrm>
            <a:off x="807357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915" name="debug-target">
            <a:extLst>
              <a:ext uri="{FF2B5EF4-FFF2-40B4-BE49-F238E27FC236}">
                <a16:creationId xmlns:a16="http://schemas.microsoft.com/office/drawing/2014/main" id="{FB1EF230-BA40-4795-B61E-DEED4108D14F}"/>
              </a:ext>
            </a:extLst>
          </p:cNvPr>
          <p:cNvSpPr/>
          <p:nvPr/>
        </p:nvSpPr>
        <p:spPr>
          <a:xfrm>
            <a:off x="316290" y="3701949"/>
            <a:ext cx="12192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6" name="object-143: Debug 目标">
            <a:extLst>
              <a:ext uri="{FF2B5EF4-FFF2-40B4-BE49-F238E27FC236}">
                <a16:creationId xmlns:a16="http://schemas.microsoft.com/office/drawing/2014/main" id="{ED399EB3-5040-44B2-8ADF-7A62E2C276F4}"/>
              </a:ext>
            </a:extLst>
          </p:cNvPr>
          <p:cNvSpPr txBox="1"/>
          <p:nvPr/>
        </p:nvSpPr>
        <p:spPr>
          <a:xfrm>
            <a:off x="350157" y="3799997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917" name="object-144: 调试模块地址窗口">
            <a:extLst>
              <a:ext uri="{FF2B5EF4-FFF2-40B4-BE49-F238E27FC236}">
                <a16:creationId xmlns:a16="http://schemas.microsoft.com/office/drawing/2014/main" id="{4439FC9B-E6E5-40DC-81F7-7402CB2AA92B}"/>
              </a:ext>
            </a:extLst>
          </p:cNvPr>
          <p:cNvSpPr txBox="1"/>
          <p:nvPr/>
        </p:nvSpPr>
        <p:spPr>
          <a:xfrm>
            <a:off x="350157" y="3932890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调试模块地址窗口</a:t>
            </a:r>
          </a:p>
        </p:txBody>
      </p:sp>
      <p:cxnSp>
        <p:nvCxnSpPr>
          <p:cNvPr id="918" name="target-output-1">
            <a:extLst>
              <a:ext uri="{FF2B5EF4-FFF2-40B4-BE49-F238E27FC236}">
                <a16:creationId xmlns:a16="http://schemas.microsoft.com/office/drawing/2014/main" id="{268FC7FD-387F-4732-BA8A-D1ADA4FEB7C0}"/>
              </a:ext>
            </a:extLst>
          </p:cNvPr>
          <p:cNvCxnSpPr/>
          <p:nvPr/>
        </p:nvCxnSpPr>
        <p:spPr>
          <a:xfrm>
            <a:off x="2295071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9" name="target-port-1">
            <a:extLst>
              <a:ext uri="{FF2B5EF4-FFF2-40B4-BE49-F238E27FC236}">
                <a16:creationId xmlns:a16="http://schemas.microsoft.com/office/drawing/2014/main" id="{A6FC013D-4910-42B5-8190-821F38169B3C}"/>
              </a:ext>
            </a:extLst>
          </p:cNvPr>
          <p:cNvSpPr/>
          <p:nvPr/>
        </p:nvSpPr>
        <p:spPr>
          <a:xfrm>
            <a:off x="2132511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0" name="object-147: M1">
            <a:extLst>
              <a:ext uri="{FF2B5EF4-FFF2-40B4-BE49-F238E27FC236}">
                <a16:creationId xmlns:a16="http://schemas.microsoft.com/office/drawing/2014/main" id="{721E8F9A-B021-40E1-9B2E-A43ECFD2C0B7}"/>
              </a:ext>
            </a:extLst>
          </p:cNvPr>
          <p:cNvSpPr txBox="1"/>
          <p:nvPr/>
        </p:nvSpPr>
        <p:spPr>
          <a:xfrm>
            <a:off x="2176538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921" name="reg-bridge">
            <a:extLst>
              <a:ext uri="{FF2B5EF4-FFF2-40B4-BE49-F238E27FC236}">
                <a16:creationId xmlns:a16="http://schemas.microsoft.com/office/drawing/2014/main" id="{605E5542-298C-42C7-9EEE-C221CC79B47E}"/>
              </a:ext>
            </a:extLst>
          </p:cNvPr>
          <p:cNvSpPr/>
          <p:nvPr/>
        </p:nvSpPr>
        <p:spPr>
          <a:xfrm>
            <a:off x="1685471" y="3701949"/>
            <a:ext cx="1219200" cy="5249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2" name="object-149: AXI → Regbus">
            <a:extLst>
              <a:ext uri="{FF2B5EF4-FFF2-40B4-BE49-F238E27FC236}">
                <a16:creationId xmlns:a16="http://schemas.microsoft.com/office/drawing/2014/main" id="{B5A7E11C-EBB3-4CBD-8B2B-68D85FC37EE0}"/>
              </a:ext>
            </a:extLst>
          </p:cNvPr>
          <p:cNvSpPr txBox="1"/>
          <p:nvPr/>
        </p:nvSpPr>
        <p:spPr>
          <a:xfrm>
            <a:off x="1719338" y="3799997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923" name="object-150: 原子适配 / 桥接 · 32 bit">
            <a:extLst>
              <a:ext uri="{FF2B5EF4-FFF2-40B4-BE49-F238E27FC236}">
                <a16:creationId xmlns:a16="http://schemas.microsoft.com/office/drawing/2014/main" id="{F0111D01-61C8-4DEB-A6EE-28B9C2A58D3E}"/>
              </a:ext>
            </a:extLst>
          </p:cNvPr>
          <p:cNvSpPr txBox="1"/>
          <p:nvPr/>
        </p:nvSpPr>
        <p:spPr>
          <a:xfrm>
            <a:off x="1719338" y="3932890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桥接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· 32 bit</a:t>
            </a:r>
          </a:p>
        </p:txBody>
      </p:sp>
      <p:cxnSp>
        <p:nvCxnSpPr>
          <p:cNvPr id="924" name="target-output-2">
            <a:extLst>
              <a:ext uri="{FF2B5EF4-FFF2-40B4-BE49-F238E27FC236}">
                <a16:creationId xmlns:a16="http://schemas.microsoft.com/office/drawing/2014/main" id="{FFECC9CA-443B-4620-BC41-4FF2B894F371}"/>
              </a:ext>
            </a:extLst>
          </p:cNvPr>
          <p:cNvCxnSpPr/>
          <p:nvPr/>
        </p:nvCxnSpPr>
        <p:spPr>
          <a:xfrm>
            <a:off x="3664252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25" name="target-port-2">
            <a:extLst>
              <a:ext uri="{FF2B5EF4-FFF2-40B4-BE49-F238E27FC236}">
                <a16:creationId xmlns:a16="http://schemas.microsoft.com/office/drawing/2014/main" id="{2ACCD77A-F44D-479C-A71B-4CBA6C2CDD61}"/>
              </a:ext>
            </a:extLst>
          </p:cNvPr>
          <p:cNvSpPr/>
          <p:nvPr/>
        </p:nvSpPr>
        <p:spPr>
          <a:xfrm>
            <a:off x="3501692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6" name="object-153: M2">
            <a:extLst>
              <a:ext uri="{FF2B5EF4-FFF2-40B4-BE49-F238E27FC236}">
                <a16:creationId xmlns:a16="http://schemas.microsoft.com/office/drawing/2014/main" id="{741BD7F3-728C-4190-BAEE-738CFEA227B4}"/>
              </a:ext>
            </a:extLst>
          </p:cNvPr>
          <p:cNvSpPr txBox="1"/>
          <p:nvPr/>
        </p:nvSpPr>
        <p:spPr>
          <a:xfrm>
            <a:off x="3545719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927" name="memory-target">
            <a:extLst>
              <a:ext uri="{FF2B5EF4-FFF2-40B4-BE49-F238E27FC236}">
                <a16:creationId xmlns:a16="http://schemas.microsoft.com/office/drawing/2014/main" id="{C003EEB8-E7DB-4700-9829-5258C7A80A8D}"/>
              </a:ext>
            </a:extLst>
          </p:cNvPr>
          <p:cNvSpPr/>
          <p:nvPr/>
        </p:nvSpPr>
        <p:spPr>
          <a:xfrm>
            <a:off x="2986919" y="3701949"/>
            <a:ext cx="1354667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8" name="object-155: 主存 / SPM 共用目标">
            <a:extLst>
              <a:ext uri="{FF2B5EF4-FFF2-40B4-BE49-F238E27FC236}">
                <a16:creationId xmlns:a16="http://schemas.microsoft.com/office/drawing/2014/main" id="{908ED905-649A-4631-8BAE-49D301C712C7}"/>
              </a:ext>
            </a:extLst>
          </p:cNvPr>
          <p:cNvSpPr txBox="1"/>
          <p:nvPr/>
        </p:nvSpPr>
        <p:spPr>
          <a:xfrm>
            <a:off x="3020786" y="3743899"/>
            <a:ext cx="12869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cxnSp>
        <p:nvCxnSpPr>
          <p:cNvPr id="929" name="target-output-3">
            <a:extLst>
              <a:ext uri="{FF2B5EF4-FFF2-40B4-BE49-F238E27FC236}">
                <a16:creationId xmlns:a16="http://schemas.microsoft.com/office/drawing/2014/main" id="{AEEBB89A-B17A-4831-BEAF-00EAD409A51D}"/>
              </a:ext>
            </a:extLst>
          </p:cNvPr>
          <p:cNvCxnSpPr/>
          <p:nvPr/>
        </p:nvCxnSpPr>
        <p:spPr>
          <a:xfrm>
            <a:off x="5033433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0" name="target-port-3">
            <a:extLst>
              <a:ext uri="{FF2B5EF4-FFF2-40B4-BE49-F238E27FC236}">
                <a16:creationId xmlns:a16="http://schemas.microsoft.com/office/drawing/2014/main" id="{BEF56EB4-9E62-4F6B-B685-82A1A9B7D9C3}"/>
              </a:ext>
            </a:extLst>
          </p:cNvPr>
          <p:cNvSpPr/>
          <p:nvPr/>
        </p:nvSpPr>
        <p:spPr>
          <a:xfrm>
            <a:off x="487087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1" name="object-158: M3">
            <a:extLst>
              <a:ext uri="{FF2B5EF4-FFF2-40B4-BE49-F238E27FC236}">
                <a16:creationId xmlns:a16="http://schemas.microsoft.com/office/drawing/2014/main" id="{19BEF351-3C7C-4364-B07E-B54FAFDD11E7}"/>
              </a:ext>
            </a:extLst>
          </p:cNvPr>
          <p:cNvSpPr txBox="1"/>
          <p:nvPr/>
        </p:nvSpPr>
        <p:spPr>
          <a:xfrm>
            <a:off x="4914900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932" name="idma-config">
            <a:extLst>
              <a:ext uri="{FF2B5EF4-FFF2-40B4-BE49-F238E27FC236}">
                <a16:creationId xmlns:a16="http://schemas.microsoft.com/office/drawing/2014/main" id="{906EA7A1-5652-4FFA-AE14-E9E6E4670187}"/>
              </a:ext>
            </a:extLst>
          </p:cNvPr>
          <p:cNvSpPr/>
          <p:nvPr/>
        </p:nvSpPr>
        <p:spPr>
          <a:xfrm>
            <a:off x="4423833" y="3701949"/>
            <a:ext cx="12192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3" name="object-160: iDMA 配置">
            <a:extLst>
              <a:ext uri="{FF2B5EF4-FFF2-40B4-BE49-F238E27FC236}">
                <a16:creationId xmlns:a16="http://schemas.microsoft.com/office/drawing/2014/main" id="{468A9BCA-1A7B-4BE3-A31E-29444D97DAAB}"/>
              </a:ext>
            </a:extLst>
          </p:cNvPr>
          <p:cNvSpPr txBox="1"/>
          <p:nvPr/>
        </p:nvSpPr>
        <p:spPr>
          <a:xfrm>
            <a:off x="4457700" y="3766131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934" name="object-161: 原子适配 → AXI→Reg">
            <a:extLst>
              <a:ext uri="{FF2B5EF4-FFF2-40B4-BE49-F238E27FC236}">
                <a16:creationId xmlns:a16="http://schemas.microsoft.com/office/drawing/2014/main" id="{409F0990-0F28-44F7-8F3F-DEB76F2BCA00}"/>
              </a:ext>
            </a:extLst>
          </p:cNvPr>
          <p:cNvSpPr txBox="1"/>
          <p:nvPr/>
        </p:nvSpPr>
        <p:spPr>
          <a:xfrm>
            <a:off x="4457700" y="3899024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935" name="object-162: wrapper 内部寄存器">
            <a:extLst>
              <a:ext uri="{FF2B5EF4-FFF2-40B4-BE49-F238E27FC236}">
                <a16:creationId xmlns:a16="http://schemas.microsoft.com/office/drawing/2014/main" id="{37D0B260-A181-4043-BFF4-C7EA83B49656}"/>
              </a:ext>
            </a:extLst>
          </p:cNvPr>
          <p:cNvSpPr txBox="1"/>
          <p:nvPr/>
        </p:nvSpPr>
        <p:spPr>
          <a:xfrm>
            <a:off x="4457700" y="4007397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cxnSp>
        <p:nvCxnSpPr>
          <p:cNvPr id="936" name="target-output-4">
            <a:extLst>
              <a:ext uri="{FF2B5EF4-FFF2-40B4-BE49-F238E27FC236}">
                <a16:creationId xmlns:a16="http://schemas.microsoft.com/office/drawing/2014/main" id="{2D1D5CD8-FC34-4CB6-A62D-678019C344CF}"/>
              </a:ext>
            </a:extLst>
          </p:cNvPr>
          <p:cNvCxnSpPr/>
          <p:nvPr/>
        </p:nvCxnSpPr>
        <p:spPr>
          <a:xfrm>
            <a:off x="6402614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7" name="target-port-4">
            <a:extLst>
              <a:ext uri="{FF2B5EF4-FFF2-40B4-BE49-F238E27FC236}">
                <a16:creationId xmlns:a16="http://schemas.microsoft.com/office/drawing/2014/main" id="{C27BE330-A10A-405A-A746-7CD1AB09706C}"/>
              </a:ext>
            </a:extLst>
          </p:cNvPr>
          <p:cNvSpPr/>
          <p:nvPr/>
        </p:nvSpPr>
        <p:spPr>
          <a:xfrm>
            <a:off x="6240054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8" name="object-165: M4">
            <a:extLst>
              <a:ext uri="{FF2B5EF4-FFF2-40B4-BE49-F238E27FC236}">
                <a16:creationId xmlns:a16="http://schemas.microsoft.com/office/drawing/2014/main" id="{07882F63-6019-433E-AEF0-B6C15B433D91}"/>
              </a:ext>
            </a:extLst>
          </p:cNvPr>
          <p:cNvSpPr txBox="1"/>
          <p:nvPr/>
        </p:nvSpPr>
        <p:spPr>
          <a:xfrm>
            <a:off x="6284081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939" name="slink-tx">
            <a:extLst>
              <a:ext uri="{FF2B5EF4-FFF2-40B4-BE49-F238E27FC236}">
                <a16:creationId xmlns:a16="http://schemas.microsoft.com/office/drawing/2014/main" id="{718FF7D9-8D9B-4B52-8C5B-57629572744C}"/>
              </a:ext>
            </a:extLst>
          </p:cNvPr>
          <p:cNvSpPr/>
          <p:nvPr/>
        </p:nvSpPr>
        <p:spPr>
          <a:xfrm>
            <a:off x="5793014" y="3701949"/>
            <a:ext cx="12192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0" name="object-167: Serial Link TX">
            <a:extLst>
              <a:ext uri="{FF2B5EF4-FFF2-40B4-BE49-F238E27FC236}">
                <a16:creationId xmlns:a16="http://schemas.microsoft.com/office/drawing/2014/main" id="{CE6C92FE-D792-4731-91BF-92C5EB9D3372}"/>
              </a:ext>
            </a:extLst>
          </p:cNvPr>
          <p:cNvSpPr txBox="1"/>
          <p:nvPr/>
        </p:nvSpPr>
        <p:spPr>
          <a:xfrm>
            <a:off x="5826881" y="3799997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941" name="object-168: 远端目标窗口">
            <a:extLst>
              <a:ext uri="{FF2B5EF4-FFF2-40B4-BE49-F238E27FC236}">
                <a16:creationId xmlns:a16="http://schemas.microsoft.com/office/drawing/2014/main" id="{AFD0E002-9F64-43C5-8E24-6B2D22B7B482}"/>
              </a:ext>
            </a:extLst>
          </p:cNvPr>
          <p:cNvSpPr txBox="1"/>
          <p:nvPr/>
        </p:nvSpPr>
        <p:spPr>
          <a:xfrm>
            <a:off x="5826881" y="3932890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远端目标窗口</a:t>
            </a:r>
          </a:p>
        </p:txBody>
      </p:sp>
      <p:cxnSp>
        <p:nvCxnSpPr>
          <p:cNvPr id="942" name="target-output-ext">
            <a:extLst>
              <a:ext uri="{FF2B5EF4-FFF2-40B4-BE49-F238E27FC236}">
                <a16:creationId xmlns:a16="http://schemas.microsoft.com/office/drawing/2014/main" id="{7BE14BE3-9B63-4EF3-A33C-7F1A53D9C001}"/>
              </a:ext>
            </a:extLst>
          </p:cNvPr>
          <p:cNvCxnSpPr>
            <a:cxnSpLocks/>
            <a:stCxn id="943" idx="2"/>
          </p:cNvCxnSpPr>
          <p:nvPr/>
        </p:nvCxnSpPr>
        <p:spPr>
          <a:xfrm>
            <a:off x="9140976" y="3529245"/>
            <a:ext cx="0" cy="172720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43" name="target-port-ext">
            <a:extLst>
              <a:ext uri="{FF2B5EF4-FFF2-40B4-BE49-F238E27FC236}">
                <a16:creationId xmlns:a16="http://schemas.microsoft.com/office/drawing/2014/main" id="{0A82AF7F-FCCC-40AC-B0E6-5DBC2D27AA6F}"/>
              </a:ext>
            </a:extLst>
          </p:cNvPr>
          <p:cNvSpPr/>
          <p:nvPr/>
        </p:nvSpPr>
        <p:spPr>
          <a:xfrm>
            <a:off x="897841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4" name="object-171: M_EXT">
            <a:extLst>
              <a:ext uri="{FF2B5EF4-FFF2-40B4-BE49-F238E27FC236}">
                <a16:creationId xmlns:a16="http://schemas.microsoft.com/office/drawing/2014/main" id="{5ED255E7-3D69-4736-82DB-F74898973378}"/>
              </a:ext>
            </a:extLst>
          </p:cNvPr>
          <p:cNvSpPr txBox="1"/>
          <p:nvPr/>
        </p:nvSpPr>
        <p:spPr>
          <a:xfrm>
            <a:off x="8995350" y="3432370"/>
            <a:ext cx="291253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945" name="ext-target">
            <a:extLst>
              <a:ext uri="{FF2B5EF4-FFF2-40B4-BE49-F238E27FC236}">
                <a16:creationId xmlns:a16="http://schemas.microsoft.com/office/drawing/2014/main" id="{35CB4EAC-4D90-4C3D-9DD9-8ED7A33AEC4A}"/>
              </a:ext>
            </a:extLst>
          </p:cNvPr>
          <p:cNvSpPr/>
          <p:nvPr/>
        </p:nvSpPr>
        <p:spPr>
          <a:xfrm>
            <a:off x="8531376" y="3701949"/>
            <a:ext cx="1219200" cy="524933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6" name="object-173: AXI 外部 slave">
            <a:extLst>
              <a:ext uri="{FF2B5EF4-FFF2-40B4-BE49-F238E27FC236}">
                <a16:creationId xmlns:a16="http://schemas.microsoft.com/office/drawing/2014/main" id="{EDB0EE72-BBF5-487B-8CEF-12D40BA27121}"/>
              </a:ext>
            </a:extLst>
          </p:cNvPr>
          <p:cNvSpPr txBox="1"/>
          <p:nvPr/>
        </p:nvSpPr>
        <p:spPr>
          <a:xfrm>
            <a:off x="8565243" y="3766131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947" name="object-174: 可选外部目标扩展">
            <a:extLst>
              <a:ext uri="{FF2B5EF4-FFF2-40B4-BE49-F238E27FC236}">
                <a16:creationId xmlns:a16="http://schemas.microsoft.com/office/drawing/2014/main" id="{787FA9B9-204D-46F2-9A21-C983AC71DD12}"/>
              </a:ext>
            </a:extLst>
          </p:cNvPr>
          <p:cNvSpPr txBox="1"/>
          <p:nvPr/>
        </p:nvSpPr>
        <p:spPr>
          <a:xfrm>
            <a:off x="8565243" y="3899024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可选外部目标扩展</a:t>
            </a:r>
          </a:p>
        </p:txBody>
      </p:sp>
      <p:sp>
        <p:nvSpPr>
          <p:cNvPr id="948" name="atomics">
            <a:extLst>
              <a:ext uri="{FF2B5EF4-FFF2-40B4-BE49-F238E27FC236}">
                <a16:creationId xmlns:a16="http://schemas.microsoft.com/office/drawing/2014/main" id="{A44BC17A-607E-4FD1-AE60-078D1D424947}"/>
              </a:ext>
            </a:extLst>
          </p:cNvPr>
          <p:cNvSpPr/>
          <p:nvPr/>
        </p:nvSpPr>
        <p:spPr>
          <a:xfrm>
            <a:off x="3020786" y="3905149"/>
            <a:ext cx="626533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9" name="object-176: 原子适配">
            <a:extLst>
              <a:ext uri="{FF2B5EF4-FFF2-40B4-BE49-F238E27FC236}">
                <a16:creationId xmlns:a16="http://schemas.microsoft.com/office/drawing/2014/main" id="{4A598551-AF58-4554-AB7D-26396E1BBAA6}"/>
              </a:ext>
            </a:extLst>
          </p:cNvPr>
          <p:cNvSpPr txBox="1"/>
          <p:nvPr/>
        </p:nvSpPr>
        <p:spPr>
          <a:xfrm>
            <a:off x="3037719" y="3946331"/>
            <a:ext cx="59266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950" name="object-177: AMO / LRSC">
            <a:extLst>
              <a:ext uri="{FF2B5EF4-FFF2-40B4-BE49-F238E27FC236}">
                <a16:creationId xmlns:a16="http://schemas.microsoft.com/office/drawing/2014/main" id="{262BFCDF-2EBC-4B37-B6BD-1B3B4DDB5093}"/>
              </a:ext>
            </a:extLst>
          </p:cNvPr>
          <p:cNvSpPr txBox="1"/>
          <p:nvPr/>
        </p:nvSpPr>
        <p:spPr>
          <a:xfrm>
            <a:off x="3037719" y="4060936"/>
            <a:ext cx="5926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951" name="llc-spm">
            <a:extLst>
              <a:ext uri="{FF2B5EF4-FFF2-40B4-BE49-F238E27FC236}">
                <a16:creationId xmlns:a16="http://schemas.microsoft.com/office/drawing/2014/main" id="{CFE1928B-D279-4208-80F1-EE0A7B299153}"/>
              </a:ext>
            </a:extLst>
          </p:cNvPr>
          <p:cNvSpPr/>
          <p:nvPr/>
        </p:nvSpPr>
        <p:spPr>
          <a:xfrm>
            <a:off x="3731986" y="3905149"/>
            <a:ext cx="575733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2" name="object-179: LLC / SPM">
            <a:extLst>
              <a:ext uri="{FF2B5EF4-FFF2-40B4-BE49-F238E27FC236}">
                <a16:creationId xmlns:a16="http://schemas.microsoft.com/office/drawing/2014/main" id="{EC89ABB5-ADF1-4CCE-9076-537AD728CCF0}"/>
              </a:ext>
            </a:extLst>
          </p:cNvPr>
          <p:cNvSpPr txBox="1"/>
          <p:nvPr/>
        </p:nvSpPr>
        <p:spPr>
          <a:xfrm>
            <a:off x="3748919" y="3946331"/>
            <a:ext cx="54186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953" name="object-180: 同一 SRAM 阵列">
            <a:extLst>
              <a:ext uri="{FF2B5EF4-FFF2-40B4-BE49-F238E27FC236}">
                <a16:creationId xmlns:a16="http://schemas.microsoft.com/office/drawing/2014/main" id="{07ABD4E2-0796-48E6-BC25-4482537767A1}"/>
              </a:ext>
            </a:extLst>
          </p:cNvPr>
          <p:cNvSpPr txBox="1"/>
          <p:nvPr/>
        </p:nvSpPr>
        <p:spPr>
          <a:xfrm>
            <a:off x="3748919" y="4060936"/>
            <a:ext cx="5418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阵列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954" name="atomics-llc">
            <a:extLst>
              <a:ext uri="{FF2B5EF4-FFF2-40B4-BE49-F238E27FC236}">
                <a16:creationId xmlns:a16="http://schemas.microsoft.com/office/drawing/2014/main" id="{8785A342-A019-4871-85A3-1919CC460D6B}"/>
              </a:ext>
            </a:extLst>
          </p:cNvPr>
          <p:cNvCxnSpPr/>
          <p:nvPr/>
        </p:nvCxnSpPr>
        <p:spPr>
          <a:xfrm>
            <a:off x="3647319" y="4033842"/>
            <a:ext cx="84667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55" name="reg-subsystem">
            <a:extLst>
              <a:ext uri="{FF2B5EF4-FFF2-40B4-BE49-F238E27FC236}">
                <a16:creationId xmlns:a16="http://schemas.microsoft.com/office/drawing/2014/main" id="{17D69E55-0D49-47D7-AF34-F1100D4D8A7E}"/>
              </a:ext>
            </a:extLst>
          </p:cNvPr>
          <p:cNvSpPr/>
          <p:nvPr/>
        </p:nvSpPr>
        <p:spPr>
          <a:xfrm>
            <a:off x="173573" y="4345416"/>
            <a:ext cx="6587067" cy="1693333"/>
          </a:xfrm>
          <a:prstGeom prst="rect">
            <a:avLst/>
          </a:prstGeom>
          <a:solidFill>
            <a:srgbClr val="FAF8FB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6" name="regbus">
            <a:extLst>
              <a:ext uri="{FF2B5EF4-FFF2-40B4-BE49-F238E27FC236}">
                <a16:creationId xmlns:a16="http://schemas.microsoft.com/office/drawing/2014/main" id="{86ED39D0-8AEA-42EC-97C9-32341A19CBBF}"/>
              </a:ext>
            </a:extLst>
          </p:cNvPr>
          <p:cNvSpPr/>
          <p:nvPr/>
        </p:nvSpPr>
        <p:spPr>
          <a:xfrm>
            <a:off x="241306" y="4413149"/>
            <a:ext cx="6451600" cy="237067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7" name="object-184: Regbus decode / demux  ·  32 bit">
            <a:extLst>
              <a:ext uri="{FF2B5EF4-FFF2-40B4-BE49-F238E27FC236}">
                <a16:creationId xmlns:a16="http://schemas.microsoft.com/office/drawing/2014/main" id="{469CCA68-FD17-4980-A75E-586E8CE36AAF}"/>
              </a:ext>
            </a:extLst>
          </p:cNvPr>
          <p:cNvSpPr txBox="1"/>
          <p:nvPr/>
        </p:nvSpPr>
        <p:spPr>
          <a:xfrm>
            <a:off x="2387394" y="4455279"/>
            <a:ext cx="2156039" cy="15388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decode / </a:t>
            </a:r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demux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·  32 bit</a:t>
            </a:r>
          </a:p>
        </p:txBody>
      </p:sp>
      <p:cxnSp>
        <p:nvCxnSpPr>
          <p:cNvPr id="958" name="axi-regbus">
            <a:extLst>
              <a:ext uri="{FF2B5EF4-FFF2-40B4-BE49-F238E27FC236}">
                <a16:creationId xmlns:a16="http://schemas.microsoft.com/office/drawing/2014/main" id="{10A03DF2-6DD4-481D-88C5-13653854409F}"/>
              </a:ext>
            </a:extLst>
          </p:cNvPr>
          <p:cNvCxnSpPr/>
          <p:nvPr/>
        </p:nvCxnSpPr>
        <p:spPr>
          <a:xfrm>
            <a:off x="2295071" y="4226882"/>
            <a:ext cx="0" cy="186267"/>
          </a:xfrm>
          <a:prstGeom prst="line">
            <a:avLst/>
          </a:prstGeom>
          <a:ln w="28448" cap="flat">
            <a:solidFill>
              <a:srgbClr val="765489"/>
            </a:solidFill>
            <a:tailEnd type="triangle" w="med" len="med"/>
          </a:ln>
          <a:effectLst/>
        </p:spPr>
      </p:cxnSp>
      <p:cxnSp>
        <p:nvCxnSpPr>
          <p:cNvPr id="959" name="regbus-trunk-0">
            <a:extLst>
              <a:ext uri="{FF2B5EF4-FFF2-40B4-BE49-F238E27FC236}">
                <a16:creationId xmlns:a16="http://schemas.microsoft.com/office/drawing/2014/main" id="{E41B7A95-1325-4CC6-B264-97272CE2B4D6}"/>
              </a:ext>
            </a:extLst>
          </p:cNvPr>
          <p:cNvCxnSpPr/>
          <p:nvPr/>
        </p:nvCxnSpPr>
        <p:spPr>
          <a:xfrm>
            <a:off x="35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0" name="regbus-trunk-1">
            <a:extLst>
              <a:ext uri="{FF2B5EF4-FFF2-40B4-BE49-F238E27FC236}">
                <a16:creationId xmlns:a16="http://schemas.microsoft.com/office/drawing/2014/main" id="{015DE0DD-B6B4-4A86-9158-14FA8F8AE363}"/>
              </a:ext>
            </a:extLst>
          </p:cNvPr>
          <p:cNvCxnSpPr/>
          <p:nvPr/>
        </p:nvCxnSpPr>
        <p:spPr>
          <a:xfrm>
            <a:off x="162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1" name="regbus-trunk-2">
            <a:extLst>
              <a:ext uri="{FF2B5EF4-FFF2-40B4-BE49-F238E27FC236}">
                <a16:creationId xmlns:a16="http://schemas.microsoft.com/office/drawing/2014/main" id="{55CB0935-51FB-4F78-ABB0-9DAFE8E5AD1F}"/>
              </a:ext>
            </a:extLst>
          </p:cNvPr>
          <p:cNvCxnSpPr/>
          <p:nvPr/>
        </p:nvCxnSpPr>
        <p:spPr>
          <a:xfrm>
            <a:off x="289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2" name="regbus-trunk-3">
            <a:extLst>
              <a:ext uri="{FF2B5EF4-FFF2-40B4-BE49-F238E27FC236}">
                <a16:creationId xmlns:a16="http://schemas.microsoft.com/office/drawing/2014/main" id="{A151FA95-0104-4234-ACB1-2EDA742BE856}"/>
              </a:ext>
            </a:extLst>
          </p:cNvPr>
          <p:cNvCxnSpPr/>
          <p:nvPr/>
        </p:nvCxnSpPr>
        <p:spPr>
          <a:xfrm>
            <a:off x="416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3" name="regbus-trunk-4">
            <a:extLst>
              <a:ext uri="{FF2B5EF4-FFF2-40B4-BE49-F238E27FC236}">
                <a16:creationId xmlns:a16="http://schemas.microsoft.com/office/drawing/2014/main" id="{E745EBB6-CDA0-4804-8F8D-87FC8930FE6A}"/>
              </a:ext>
            </a:extLst>
          </p:cNvPr>
          <p:cNvCxnSpPr/>
          <p:nvPr/>
        </p:nvCxnSpPr>
        <p:spPr>
          <a:xfrm>
            <a:off x="543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sp>
        <p:nvSpPr>
          <p:cNvPr id="964" name="bootrom">
            <a:extLst>
              <a:ext uri="{FF2B5EF4-FFF2-40B4-BE49-F238E27FC236}">
                <a16:creationId xmlns:a16="http://schemas.microsoft.com/office/drawing/2014/main" id="{AE39AF04-DE57-407F-B7DE-709895A81F2C}"/>
              </a:ext>
            </a:extLst>
          </p:cNvPr>
          <p:cNvSpPr/>
          <p:nvPr/>
        </p:nvSpPr>
        <p:spPr>
          <a:xfrm>
            <a:off x="42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5" name="object-192: Boot ROM">
            <a:extLst>
              <a:ext uri="{FF2B5EF4-FFF2-40B4-BE49-F238E27FC236}">
                <a16:creationId xmlns:a16="http://schemas.microsoft.com/office/drawing/2014/main" id="{D636FB9B-631A-4505-B2AC-C11D8FE857CD}"/>
              </a:ext>
            </a:extLst>
          </p:cNvPr>
          <p:cNvSpPr txBox="1"/>
          <p:nvPr/>
        </p:nvSpPr>
        <p:spPr>
          <a:xfrm>
            <a:off x="699335" y="4765362"/>
            <a:ext cx="54021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966" name="object-193: 启动代码">
            <a:extLst>
              <a:ext uri="{FF2B5EF4-FFF2-40B4-BE49-F238E27FC236}">
                <a16:creationId xmlns:a16="http://schemas.microsoft.com/office/drawing/2014/main" id="{B1F3C28B-3DE7-4B66-9639-D8091ED92581}"/>
              </a:ext>
            </a:extLst>
          </p:cNvPr>
          <p:cNvSpPr txBox="1"/>
          <p:nvPr/>
        </p:nvSpPr>
        <p:spPr>
          <a:xfrm>
            <a:off x="789903" y="4877935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cxnSp>
        <p:nvCxnSpPr>
          <p:cNvPr id="967" name="reg-drop-bootrom">
            <a:extLst>
              <a:ext uri="{FF2B5EF4-FFF2-40B4-BE49-F238E27FC236}">
                <a16:creationId xmlns:a16="http://schemas.microsoft.com/office/drawing/2014/main" id="{0D523740-3E54-4952-AE19-2E770B0A2C04}"/>
              </a:ext>
            </a:extLst>
          </p:cNvPr>
          <p:cNvCxnSpPr/>
          <p:nvPr/>
        </p:nvCxnSpPr>
        <p:spPr>
          <a:xfrm>
            <a:off x="35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68" name="clint">
            <a:extLst>
              <a:ext uri="{FF2B5EF4-FFF2-40B4-BE49-F238E27FC236}">
                <a16:creationId xmlns:a16="http://schemas.microsoft.com/office/drawing/2014/main" id="{CDDAF346-5CE4-46DF-BA81-B635204CBE7A}"/>
              </a:ext>
            </a:extLst>
          </p:cNvPr>
          <p:cNvSpPr/>
          <p:nvPr/>
        </p:nvSpPr>
        <p:spPr>
          <a:xfrm>
            <a:off x="169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9" name="object-196: CLINT">
            <a:extLst>
              <a:ext uri="{FF2B5EF4-FFF2-40B4-BE49-F238E27FC236}">
                <a16:creationId xmlns:a16="http://schemas.microsoft.com/office/drawing/2014/main" id="{47E23EF4-3C3A-45BF-9CA9-B3E1A3098B24}"/>
              </a:ext>
            </a:extLst>
          </p:cNvPr>
          <p:cNvSpPr txBox="1"/>
          <p:nvPr/>
        </p:nvSpPr>
        <p:spPr>
          <a:xfrm>
            <a:off x="2084750" y="4765362"/>
            <a:ext cx="3093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970" name="object-197: 软件 / 定时中断">
            <a:extLst>
              <a:ext uri="{FF2B5EF4-FFF2-40B4-BE49-F238E27FC236}">
                <a16:creationId xmlns:a16="http://schemas.microsoft.com/office/drawing/2014/main" id="{DBA77C2E-F88E-463F-9298-B1136094D71E}"/>
              </a:ext>
            </a:extLst>
          </p:cNvPr>
          <p:cNvSpPr txBox="1"/>
          <p:nvPr/>
        </p:nvSpPr>
        <p:spPr>
          <a:xfrm>
            <a:off x="1923648" y="4877935"/>
            <a:ext cx="63158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cxnSp>
        <p:nvCxnSpPr>
          <p:cNvPr id="971" name="reg-drop-clint">
            <a:extLst>
              <a:ext uri="{FF2B5EF4-FFF2-40B4-BE49-F238E27FC236}">
                <a16:creationId xmlns:a16="http://schemas.microsoft.com/office/drawing/2014/main" id="{42DCD275-A0BB-4B56-B64A-833D03028D67}"/>
              </a:ext>
            </a:extLst>
          </p:cNvPr>
          <p:cNvCxnSpPr/>
          <p:nvPr/>
        </p:nvCxnSpPr>
        <p:spPr>
          <a:xfrm>
            <a:off x="162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2" name="soc-regs">
            <a:extLst>
              <a:ext uri="{FF2B5EF4-FFF2-40B4-BE49-F238E27FC236}">
                <a16:creationId xmlns:a16="http://schemas.microsoft.com/office/drawing/2014/main" id="{8E0BB8EB-9A3F-4727-86A7-E77F8277E16D}"/>
              </a:ext>
            </a:extLst>
          </p:cNvPr>
          <p:cNvSpPr/>
          <p:nvPr/>
        </p:nvSpPr>
        <p:spPr>
          <a:xfrm>
            <a:off x="296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3" name="object-200: SoC 寄存器">
            <a:extLst>
              <a:ext uri="{FF2B5EF4-FFF2-40B4-BE49-F238E27FC236}">
                <a16:creationId xmlns:a16="http://schemas.microsoft.com/office/drawing/2014/main" id="{1A6231BD-A9A6-47B3-8AB7-5A560A94B257}"/>
              </a:ext>
            </a:extLst>
          </p:cNvPr>
          <p:cNvSpPr txBox="1"/>
          <p:nvPr/>
        </p:nvSpPr>
        <p:spPr>
          <a:xfrm>
            <a:off x="3240937" y="4765362"/>
            <a:ext cx="5370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974" name="object-201: 平台信息 / scratch">
            <a:extLst>
              <a:ext uri="{FF2B5EF4-FFF2-40B4-BE49-F238E27FC236}">
                <a16:creationId xmlns:a16="http://schemas.microsoft.com/office/drawing/2014/main" id="{7A637AD7-7370-4A55-8FC7-CD690942D54B}"/>
              </a:ext>
            </a:extLst>
          </p:cNvPr>
          <p:cNvSpPr txBox="1"/>
          <p:nvPr/>
        </p:nvSpPr>
        <p:spPr>
          <a:xfrm>
            <a:off x="3131933" y="4877935"/>
            <a:ext cx="7550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cxnSp>
        <p:nvCxnSpPr>
          <p:cNvPr id="975" name="reg-drop-soc-regs">
            <a:extLst>
              <a:ext uri="{FF2B5EF4-FFF2-40B4-BE49-F238E27FC236}">
                <a16:creationId xmlns:a16="http://schemas.microsoft.com/office/drawing/2014/main" id="{CB888832-B9F6-4A8C-B7DD-6275B162BA0F}"/>
              </a:ext>
            </a:extLst>
          </p:cNvPr>
          <p:cNvCxnSpPr/>
          <p:nvPr/>
        </p:nvCxnSpPr>
        <p:spPr>
          <a:xfrm>
            <a:off x="289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6" name="plic">
            <a:extLst>
              <a:ext uri="{FF2B5EF4-FFF2-40B4-BE49-F238E27FC236}">
                <a16:creationId xmlns:a16="http://schemas.microsoft.com/office/drawing/2014/main" id="{FEA6D80F-0EB1-44E1-A21D-AAF41A576CC4}"/>
              </a:ext>
            </a:extLst>
          </p:cNvPr>
          <p:cNvSpPr/>
          <p:nvPr/>
        </p:nvSpPr>
        <p:spPr>
          <a:xfrm>
            <a:off x="423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7" name="object-204: PLIC">
            <a:extLst>
              <a:ext uri="{FF2B5EF4-FFF2-40B4-BE49-F238E27FC236}">
                <a16:creationId xmlns:a16="http://schemas.microsoft.com/office/drawing/2014/main" id="{D73A9C5A-E21A-4708-A3A7-9D21D59C37D9}"/>
              </a:ext>
            </a:extLst>
          </p:cNvPr>
          <p:cNvSpPr txBox="1"/>
          <p:nvPr/>
        </p:nvSpPr>
        <p:spPr>
          <a:xfrm>
            <a:off x="4666428" y="4765362"/>
            <a:ext cx="22602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978" name="object-205: 外部中断控制">
            <a:extLst>
              <a:ext uri="{FF2B5EF4-FFF2-40B4-BE49-F238E27FC236}">
                <a16:creationId xmlns:a16="http://schemas.microsoft.com/office/drawing/2014/main" id="{546AAC43-FD53-4A8E-87BB-29563BC461F5}"/>
              </a:ext>
            </a:extLst>
          </p:cNvPr>
          <p:cNvSpPr txBox="1"/>
          <p:nvPr/>
        </p:nvSpPr>
        <p:spPr>
          <a:xfrm>
            <a:off x="4510135" y="487793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cxnSp>
        <p:nvCxnSpPr>
          <p:cNvPr id="979" name="reg-drop-plic">
            <a:extLst>
              <a:ext uri="{FF2B5EF4-FFF2-40B4-BE49-F238E27FC236}">
                <a16:creationId xmlns:a16="http://schemas.microsoft.com/office/drawing/2014/main" id="{D5F679CD-87E7-4B65-BE9B-B53F9D43C769}"/>
              </a:ext>
            </a:extLst>
          </p:cNvPr>
          <p:cNvCxnSpPr/>
          <p:nvPr/>
        </p:nvCxnSpPr>
        <p:spPr>
          <a:xfrm>
            <a:off x="416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0" name="llc-regs">
            <a:extLst>
              <a:ext uri="{FF2B5EF4-FFF2-40B4-BE49-F238E27FC236}">
                <a16:creationId xmlns:a16="http://schemas.microsoft.com/office/drawing/2014/main" id="{D7D19DE2-0911-45C7-93C8-673A6F91921D}"/>
              </a:ext>
            </a:extLst>
          </p:cNvPr>
          <p:cNvSpPr/>
          <p:nvPr/>
        </p:nvSpPr>
        <p:spPr>
          <a:xfrm>
            <a:off x="550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1" name="object-208: LLC 配置">
            <a:extLst>
              <a:ext uri="{FF2B5EF4-FFF2-40B4-BE49-F238E27FC236}">
                <a16:creationId xmlns:a16="http://schemas.microsoft.com/office/drawing/2014/main" id="{4850A438-520E-46CE-9B5E-D7B9D1A4D6C6}"/>
              </a:ext>
            </a:extLst>
          </p:cNvPr>
          <p:cNvSpPr txBox="1"/>
          <p:nvPr/>
        </p:nvSpPr>
        <p:spPr>
          <a:xfrm>
            <a:off x="5841049" y="4765362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982" name="object-209: SPM way / cache">
            <a:extLst>
              <a:ext uri="{FF2B5EF4-FFF2-40B4-BE49-F238E27FC236}">
                <a16:creationId xmlns:a16="http://schemas.microsoft.com/office/drawing/2014/main" id="{0236DEC4-5022-405F-82F3-A2E336CD7A4E}"/>
              </a:ext>
            </a:extLst>
          </p:cNvPr>
          <p:cNvSpPr txBox="1"/>
          <p:nvPr/>
        </p:nvSpPr>
        <p:spPr>
          <a:xfrm>
            <a:off x="5685560" y="4877935"/>
            <a:ext cx="72776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cxnSp>
        <p:nvCxnSpPr>
          <p:cNvPr id="983" name="reg-drop-llc-regs">
            <a:extLst>
              <a:ext uri="{FF2B5EF4-FFF2-40B4-BE49-F238E27FC236}">
                <a16:creationId xmlns:a16="http://schemas.microsoft.com/office/drawing/2014/main" id="{71B9A931-7C71-4E1E-AD9B-A851CC840434}"/>
              </a:ext>
            </a:extLst>
          </p:cNvPr>
          <p:cNvCxnSpPr/>
          <p:nvPr/>
        </p:nvCxnSpPr>
        <p:spPr>
          <a:xfrm>
            <a:off x="543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4" name="uart">
            <a:extLst>
              <a:ext uri="{FF2B5EF4-FFF2-40B4-BE49-F238E27FC236}">
                <a16:creationId xmlns:a16="http://schemas.microsoft.com/office/drawing/2014/main" id="{0A05E195-E453-4C72-BA7E-7E289A33C4AF}"/>
              </a:ext>
            </a:extLst>
          </p:cNvPr>
          <p:cNvSpPr/>
          <p:nvPr/>
        </p:nvSpPr>
        <p:spPr>
          <a:xfrm>
            <a:off x="42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5" name="object-212: UART">
            <a:extLst>
              <a:ext uri="{FF2B5EF4-FFF2-40B4-BE49-F238E27FC236}">
                <a16:creationId xmlns:a16="http://schemas.microsoft.com/office/drawing/2014/main" id="{4D68796E-FF0C-4421-A3E2-C7DE0A86CBD3}"/>
              </a:ext>
            </a:extLst>
          </p:cNvPr>
          <p:cNvSpPr txBox="1"/>
          <p:nvPr/>
        </p:nvSpPr>
        <p:spPr>
          <a:xfrm>
            <a:off x="822764" y="5076936"/>
            <a:ext cx="29335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986" name="object-213: 串口控制">
            <a:extLst>
              <a:ext uri="{FF2B5EF4-FFF2-40B4-BE49-F238E27FC236}">
                <a16:creationId xmlns:a16="http://schemas.microsoft.com/office/drawing/2014/main" id="{33011D98-A822-4F03-A232-88E13A6EDB3A}"/>
              </a:ext>
            </a:extLst>
          </p:cNvPr>
          <p:cNvSpPr txBox="1"/>
          <p:nvPr/>
        </p:nvSpPr>
        <p:spPr>
          <a:xfrm>
            <a:off x="78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cxnSp>
        <p:nvCxnSpPr>
          <p:cNvPr id="987" name="reg-drop-uart">
            <a:extLst>
              <a:ext uri="{FF2B5EF4-FFF2-40B4-BE49-F238E27FC236}">
                <a16:creationId xmlns:a16="http://schemas.microsoft.com/office/drawing/2014/main" id="{24F9AE8A-0E0F-426D-8FA4-A44E23A7D268}"/>
              </a:ext>
            </a:extLst>
          </p:cNvPr>
          <p:cNvCxnSpPr/>
          <p:nvPr/>
        </p:nvCxnSpPr>
        <p:spPr>
          <a:xfrm>
            <a:off x="35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8" name="i2c">
            <a:extLst>
              <a:ext uri="{FF2B5EF4-FFF2-40B4-BE49-F238E27FC236}">
                <a16:creationId xmlns:a16="http://schemas.microsoft.com/office/drawing/2014/main" id="{26231ED5-CB1A-46EF-AEDD-CA9FB1C47A96}"/>
              </a:ext>
            </a:extLst>
          </p:cNvPr>
          <p:cNvSpPr/>
          <p:nvPr/>
        </p:nvSpPr>
        <p:spPr>
          <a:xfrm>
            <a:off x="169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9" name="object-216: I2C">
            <a:extLst>
              <a:ext uri="{FF2B5EF4-FFF2-40B4-BE49-F238E27FC236}">
                <a16:creationId xmlns:a16="http://schemas.microsoft.com/office/drawing/2014/main" id="{E5E59EA7-1B0D-4983-9A36-ED3811BA94D7}"/>
              </a:ext>
            </a:extLst>
          </p:cNvPr>
          <p:cNvSpPr txBox="1"/>
          <p:nvPr/>
        </p:nvSpPr>
        <p:spPr>
          <a:xfrm>
            <a:off x="2156885" y="5076936"/>
            <a:ext cx="1651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I2C</a:t>
            </a:r>
          </a:p>
        </p:txBody>
      </p:sp>
      <p:sp>
        <p:nvSpPr>
          <p:cNvPr id="990" name="object-217: 两线串行控制">
            <a:extLst>
              <a:ext uri="{FF2B5EF4-FFF2-40B4-BE49-F238E27FC236}">
                <a16:creationId xmlns:a16="http://schemas.microsoft.com/office/drawing/2014/main" id="{9DF1137C-ED31-4D8F-BA9A-AC0ED9C7B763}"/>
              </a:ext>
            </a:extLst>
          </p:cNvPr>
          <p:cNvSpPr txBox="1"/>
          <p:nvPr/>
        </p:nvSpPr>
        <p:spPr>
          <a:xfrm>
            <a:off x="1970135" y="5189509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两线串行控制</a:t>
            </a:r>
          </a:p>
        </p:txBody>
      </p:sp>
      <p:cxnSp>
        <p:nvCxnSpPr>
          <p:cNvPr id="991" name="reg-drop-i2c">
            <a:extLst>
              <a:ext uri="{FF2B5EF4-FFF2-40B4-BE49-F238E27FC236}">
                <a16:creationId xmlns:a16="http://schemas.microsoft.com/office/drawing/2014/main" id="{33C02DF2-E598-4A66-A905-FC66F701D132}"/>
              </a:ext>
            </a:extLst>
          </p:cNvPr>
          <p:cNvCxnSpPr/>
          <p:nvPr/>
        </p:nvCxnSpPr>
        <p:spPr>
          <a:xfrm>
            <a:off x="162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2" name="spi">
            <a:extLst>
              <a:ext uri="{FF2B5EF4-FFF2-40B4-BE49-F238E27FC236}">
                <a16:creationId xmlns:a16="http://schemas.microsoft.com/office/drawing/2014/main" id="{EBB02BB1-9466-4CCA-95CE-5B74B323BACF}"/>
              </a:ext>
            </a:extLst>
          </p:cNvPr>
          <p:cNvSpPr/>
          <p:nvPr/>
        </p:nvSpPr>
        <p:spPr>
          <a:xfrm>
            <a:off x="296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3" name="object-220: SPI host">
            <a:extLst>
              <a:ext uri="{FF2B5EF4-FFF2-40B4-BE49-F238E27FC236}">
                <a16:creationId xmlns:a16="http://schemas.microsoft.com/office/drawing/2014/main" id="{BFDFD177-B88E-40DB-BBDB-EAB543912B78}"/>
              </a:ext>
            </a:extLst>
          </p:cNvPr>
          <p:cNvSpPr txBox="1"/>
          <p:nvPr/>
        </p:nvSpPr>
        <p:spPr>
          <a:xfrm>
            <a:off x="3298645" y="5076936"/>
            <a:ext cx="42159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994" name="object-221: Flash / SD">
            <a:extLst>
              <a:ext uri="{FF2B5EF4-FFF2-40B4-BE49-F238E27FC236}">
                <a16:creationId xmlns:a16="http://schemas.microsoft.com/office/drawing/2014/main" id="{BE7CD425-6584-4BCA-B607-28CF337E748B}"/>
              </a:ext>
            </a:extLst>
          </p:cNvPr>
          <p:cNvSpPr txBox="1"/>
          <p:nvPr/>
        </p:nvSpPr>
        <p:spPr>
          <a:xfrm>
            <a:off x="3293836" y="5189509"/>
            <a:ext cx="43120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cxnSp>
        <p:nvCxnSpPr>
          <p:cNvPr id="995" name="reg-drop-spi">
            <a:extLst>
              <a:ext uri="{FF2B5EF4-FFF2-40B4-BE49-F238E27FC236}">
                <a16:creationId xmlns:a16="http://schemas.microsoft.com/office/drawing/2014/main" id="{75EE2A7B-F85C-44CC-9316-C28C19486904}"/>
              </a:ext>
            </a:extLst>
          </p:cNvPr>
          <p:cNvCxnSpPr/>
          <p:nvPr/>
        </p:nvCxnSpPr>
        <p:spPr>
          <a:xfrm>
            <a:off x="289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6" name="gpio">
            <a:extLst>
              <a:ext uri="{FF2B5EF4-FFF2-40B4-BE49-F238E27FC236}">
                <a16:creationId xmlns:a16="http://schemas.microsoft.com/office/drawing/2014/main" id="{531F9969-2BDC-4235-9B95-14073DC47407}"/>
              </a:ext>
            </a:extLst>
          </p:cNvPr>
          <p:cNvSpPr/>
          <p:nvPr/>
        </p:nvSpPr>
        <p:spPr>
          <a:xfrm>
            <a:off x="423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7" name="object-224: GPIO">
            <a:extLst>
              <a:ext uri="{FF2B5EF4-FFF2-40B4-BE49-F238E27FC236}">
                <a16:creationId xmlns:a16="http://schemas.microsoft.com/office/drawing/2014/main" id="{A0A68E56-1DB7-4B3B-844E-212BBEF85F06}"/>
              </a:ext>
            </a:extLst>
          </p:cNvPr>
          <p:cNvSpPr txBox="1"/>
          <p:nvPr/>
        </p:nvSpPr>
        <p:spPr>
          <a:xfrm>
            <a:off x="4647994" y="5076936"/>
            <a:ext cx="26289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998" name="object-225: 通用 IO">
            <a:extLst>
              <a:ext uri="{FF2B5EF4-FFF2-40B4-BE49-F238E27FC236}">
                <a16:creationId xmlns:a16="http://schemas.microsoft.com/office/drawing/2014/main" id="{BE3767B7-0672-4715-B191-0FE0F0537E4A}"/>
              </a:ext>
            </a:extLst>
          </p:cNvPr>
          <p:cNvSpPr txBox="1"/>
          <p:nvPr/>
        </p:nvSpPr>
        <p:spPr>
          <a:xfrm>
            <a:off x="4626353" y="5189509"/>
            <a:ext cx="3061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cxnSp>
        <p:nvCxnSpPr>
          <p:cNvPr id="999" name="reg-drop-gpio">
            <a:extLst>
              <a:ext uri="{FF2B5EF4-FFF2-40B4-BE49-F238E27FC236}">
                <a16:creationId xmlns:a16="http://schemas.microsoft.com/office/drawing/2014/main" id="{1E158469-D44F-46B6-9D3B-74C87819F220}"/>
              </a:ext>
            </a:extLst>
          </p:cNvPr>
          <p:cNvCxnSpPr/>
          <p:nvPr/>
        </p:nvCxnSpPr>
        <p:spPr>
          <a:xfrm>
            <a:off x="416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0" name="slink-regs">
            <a:extLst>
              <a:ext uri="{FF2B5EF4-FFF2-40B4-BE49-F238E27FC236}">
                <a16:creationId xmlns:a16="http://schemas.microsoft.com/office/drawing/2014/main" id="{CDD8355B-8F00-4633-BA55-AE916B8B014D}"/>
              </a:ext>
            </a:extLst>
          </p:cNvPr>
          <p:cNvSpPr/>
          <p:nvPr/>
        </p:nvSpPr>
        <p:spPr>
          <a:xfrm>
            <a:off x="550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1" name="object-228: Serial Link 配置">
            <a:extLst>
              <a:ext uri="{FF2B5EF4-FFF2-40B4-BE49-F238E27FC236}">
                <a16:creationId xmlns:a16="http://schemas.microsoft.com/office/drawing/2014/main" id="{3C4C3E06-856F-47E2-AD83-76F63FD1CD68}"/>
              </a:ext>
            </a:extLst>
          </p:cNvPr>
          <p:cNvSpPr txBox="1"/>
          <p:nvPr/>
        </p:nvSpPr>
        <p:spPr>
          <a:xfrm>
            <a:off x="5667124" y="5076936"/>
            <a:ext cx="7646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1002" name="object-229: 链路控制">
            <a:extLst>
              <a:ext uri="{FF2B5EF4-FFF2-40B4-BE49-F238E27FC236}">
                <a16:creationId xmlns:a16="http://schemas.microsoft.com/office/drawing/2014/main" id="{54185CD1-FF3C-49DC-AC94-EDB4EF44AD3B}"/>
              </a:ext>
            </a:extLst>
          </p:cNvPr>
          <p:cNvSpPr txBox="1"/>
          <p:nvPr/>
        </p:nvSpPr>
        <p:spPr>
          <a:xfrm>
            <a:off x="586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cxnSp>
        <p:nvCxnSpPr>
          <p:cNvPr id="1003" name="reg-drop-slink-regs">
            <a:extLst>
              <a:ext uri="{FF2B5EF4-FFF2-40B4-BE49-F238E27FC236}">
                <a16:creationId xmlns:a16="http://schemas.microsoft.com/office/drawing/2014/main" id="{F422A35D-92F3-45F9-A239-44FEDE569549}"/>
              </a:ext>
            </a:extLst>
          </p:cNvPr>
          <p:cNvCxnSpPr/>
          <p:nvPr/>
        </p:nvCxnSpPr>
        <p:spPr>
          <a:xfrm>
            <a:off x="543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4" name="vga-regs">
            <a:extLst>
              <a:ext uri="{FF2B5EF4-FFF2-40B4-BE49-F238E27FC236}">
                <a16:creationId xmlns:a16="http://schemas.microsoft.com/office/drawing/2014/main" id="{8EBF7778-79EB-434E-B3BD-C6A1DC6BE90A}"/>
              </a:ext>
            </a:extLst>
          </p:cNvPr>
          <p:cNvSpPr/>
          <p:nvPr/>
        </p:nvSpPr>
        <p:spPr>
          <a:xfrm>
            <a:off x="42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5" name="object-232: VGA 配置">
            <a:extLst>
              <a:ext uri="{FF2B5EF4-FFF2-40B4-BE49-F238E27FC236}">
                <a16:creationId xmlns:a16="http://schemas.microsoft.com/office/drawing/2014/main" id="{62ADDD3C-BE0D-4B59-A909-CF18BA4E758E}"/>
              </a:ext>
            </a:extLst>
          </p:cNvPr>
          <p:cNvSpPr txBox="1"/>
          <p:nvPr/>
        </p:nvSpPr>
        <p:spPr>
          <a:xfrm>
            <a:off x="737003" y="5388509"/>
            <a:ext cx="4648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1006" name="object-233: 时序 / 帧地址">
            <a:extLst>
              <a:ext uri="{FF2B5EF4-FFF2-40B4-BE49-F238E27FC236}">
                <a16:creationId xmlns:a16="http://schemas.microsoft.com/office/drawing/2014/main" id="{7A3C3F56-B602-418F-BAE9-8C9940A76380}"/>
              </a:ext>
            </a:extLst>
          </p:cNvPr>
          <p:cNvSpPr txBox="1"/>
          <p:nvPr/>
        </p:nvSpPr>
        <p:spPr>
          <a:xfrm>
            <a:off x="698533" y="5501082"/>
            <a:ext cx="5418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cxnSp>
        <p:nvCxnSpPr>
          <p:cNvPr id="1007" name="reg-drop-vga-regs">
            <a:extLst>
              <a:ext uri="{FF2B5EF4-FFF2-40B4-BE49-F238E27FC236}">
                <a16:creationId xmlns:a16="http://schemas.microsoft.com/office/drawing/2014/main" id="{284FB17E-CC08-430C-A272-1318860E022A}"/>
              </a:ext>
            </a:extLst>
          </p:cNvPr>
          <p:cNvCxnSpPr/>
          <p:nvPr/>
        </p:nvCxnSpPr>
        <p:spPr>
          <a:xfrm>
            <a:off x="35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8" name="usb-regs">
            <a:extLst>
              <a:ext uri="{FF2B5EF4-FFF2-40B4-BE49-F238E27FC236}">
                <a16:creationId xmlns:a16="http://schemas.microsoft.com/office/drawing/2014/main" id="{0B8EBE65-C149-4BCC-BFC6-D1328A87BF30}"/>
              </a:ext>
            </a:extLst>
          </p:cNvPr>
          <p:cNvSpPr/>
          <p:nvPr/>
        </p:nvSpPr>
        <p:spPr>
          <a:xfrm>
            <a:off x="169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9" name="object-236: USB 配置">
            <a:extLst>
              <a:ext uri="{FF2B5EF4-FFF2-40B4-BE49-F238E27FC236}">
                <a16:creationId xmlns:a16="http://schemas.microsoft.com/office/drawing/2014/main" id="{B1B269C9-EB8E-41F4-AA9C-809BAA64C159}"/>
              </a:ext>
            </a:extLst>
          </p:cNvPr>
          <p:cNvSpPr txBox="1"/>
          <p:nvPr/>
        </p:nvSpPr>
        <p:spPr>
          <a:xfrm>
            <a:off x="2015019" y="5388509"/>
            <a:ext cx="44884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1010" name="object-237: OHCI 寄存器">
            <a:extLst>
              <a:ext uri="{FF2B5EF4-FFF2-40B4-BE49-F238E27FC236}">
                <a16:creationId xmlns:a16="http://schemas.microsoft.com/office/drawing/2014/main" id="{38A2F12A-0BFD-48FA-9E3B-E676E3E7BCCF}"/>
              </a:ext>
            </a:extLst>
          </p:cNvPr>
          <p:cNvSpPr txBox="1"/>
          <p:nvPr/>
        </p:nvSpPr>
        <p:spPr>
          <a:xfrm>
            <a:off x="1977349" y="5501082"/>
            <a:ext cx="52418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cxnSp>
        <p:nvCxnSpPr>
          <p:cNvPr id="1011" name="reg-drop-usb-regs">
            <a:extLst>
              <a:ext uri="{FF2B5EF4-FFF2-40B4-BE49-F238E27FC236}">
                <a16:creationId xmlns:a16="http://schemas.microsoft.com/office/drawing/2014/main" id="{199126BC-EE78-4602-8075-36C775B6FB4C}"/>
              </a:ext>
            </a:extLst>
          </p:cNvPr>
          <p:cNvCxnSpPr/>
          <p:nvPr/>
        </p:nvCxnSpPr>
        <p:spPr>
          <a:xfrm>
            <a:off x="162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2" name="err-vga">
            <a:extLst>
              <a:ext uri="{FF2B5EF4-FFF2-40B4-BE49-F238E27FC236}">
                <a16:creationId xmlns:a16="http://schemas.microsoft.com/office/drawing/2014/main" id="{4971F93E-DE8F-4E5B-B7DF-E146A61F4308}"/>
              </a:ext>
            </a:extLst>
          </p:cNvPr>
          <p:cNvSpPr/>
          <p:nvPr/>
        </p:nvSpPr>
        <p:spPr>
          <a:xfrm>
            <a:off x="296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3" name="object-240: Bus-error · VGA">
            <a:extLst>
              <a:ext uri="{FF2B5EF4-FFF2-40B4-BE49-F238E27FC236}">
                <a16:creationId xmlns:a16="http://schemas.microsoft.com/office/drawing/2014/main" id="{EEA3CDCE-84C0-4DFF-AAE2-9F4939D6617F}"/>
              </a:ext>
            </a:extLst>
          </p:cNvPr>
          <p:cNvSpPr txBox="1"/>
          <p:nvPr/>
        </p:nvSpPr>
        <p:spPr>
          <a:xfrm>
            <a:off x="3097468" y="5388509"/>
            <a:ext cx="8239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1014" name="object-241: 错误记录">
            <a:extLst>
              <a:ext uri="{FF2B5EF4-FFF2-40B4-BE49-F238E27FC236}">
                <a16:creationId xmlns:a16="http://schemas.microsoft.com/office/drawing/2014/main" id="{2039AC29-21CE-44B6-B608-D5F3229760D9}"/>
              </a:ext>
            </a:extLst>
          </p:cNvPr>
          <p:cNvSpPr txBox="1"/>
          <p:nvPr/>
        </p:nvSpPr>
        <p:spPr>
          <a:xfrm>
            <a:off x="332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5" name="reg-drop-err-vga">
            <a:extLst>
              <a:ext uri="{FF2B5EF4-FFF2-40B4-BE49-F238E27FC236}">
                <a16:creationId xmlns:a16="http://schemas.microsoft.com/office/drawing/2014/main" id="{B8FCE69F-48A7-40A4-8BC8-A7382A1D3A87}"/>
              </a:ext>
            </a:extLst>
          </p:cNvPr>
          <p:cNvCxnSpPr/>
          <p:nvPr/>
        </p:nvCxnSpPr>
        <p:spPr>
          <a:xfrm>
            <a:off x="289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6" name="err-dma">
            <a:extLst>
              <a:ext uri="{FF2B5EF4-FFF2-40B4-BE49-F238E27FC236}">
                <a16:creationId xmlns:a16="http://schemas.microsoft.com/office/drawing/2014/main" id="{43E3549C-BCEC-4288-9009-5ABCA5983F94}"/>
              </a:ext>
            </a:extLst>
          </p:cNvPr>
          <p:cNvSpPr/>
          <p:nvPr/>
        </p:nvSpPr>
        <p:spPr>
          <a:xfrm>
            <a:off x="423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7" name="object-244: Bus-error · iDMA">
            <a:extLst>
              <a:ext uri="{FF2B5EF4-FFF2-40B4-BE49-F238E27FC236}">
                <a16:creationId xmlns:a16="http://schemas.microsoft.com/office/drawing/2014/main" id="{D9335C45-2A62-4A03-8717-F5B43F6397F3}"/>
              </a:ext>
            </a:extLst>
          </p:cNvPr>
          <p:cNvSpPr txBox="1"/>
          <p:nvPr/>
        </p:nvSpPr>
        <p:spPr>
          <a:xfrm>
            <a:off x="4334607" y="5388509"/>
            <a:ext cx="8896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1018" name="object-245: 错误记录">
            <a:extLst>
              <a:ext uri="{FF2B5EF4-FFF2-40B4-BE49-F238E27FC236}">
                <a16:creationId xmlns:a16="http://schemas.microsoft.com/office/drawing/2014/main" id="{F9D2C7A3-5309-4D7C-BD5F-13E2C5CFCC48}"/>
              </a:ext>
            </a:extLst>
          </p:cNvPr>
          <p:cNvSpPr txBox="1"/>
          <p:nvPr/>
        </p:nvSpPr>
        <p:spPr>
          <a:xfrm>
            <a:off x="459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9" name="reg-drop-err-dma">
            <a:extLst>
              <a:ext uri="{FF2B5EF4-FFF2-40B4-BE49-F238E27FC236}">
                <a16:creationId xmlns:a16="http://schemas.microsoft.com/office/drawing/2014/main" id="{79CD45D7-22E3-4E2D-A607-0848D0205CF7}"/>
              </a:ext>
            </a:extLst>
          </p:cNvPr>
          <p:cNvCxnSpPr/>
          <p:nvPr/>
        </p:nvCxnSpPr>
        <p:spPr>
          <a:xfrm>
            <a:off x="416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0" name="err-cpu">
            <a:extLst>
              <a:ext uri="{FF2B5EF4-FFF2-40B4-BE49-F238E27FC236}">
                <a16:creationId xmlns:a16="http://schemas.microsoft.com/office/drawing/2014/main" id="{F7273D17-4ADC-488E-B342-FF60E155EE7E}"/>
              </a:ext>
            </a:extLst>
          </p:cNvPr>
          <p:cNvSpPr/>
          <p:nvPr/>
        </p:nvSpPr>
        <p:spPr>
          <a:xfrm>
            <a:off x="550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1" name="object-248: Bus-error · CPU">
            <a:extLst>
              <a:ext uri="{FF2B5EF4-FFF2-40B4-BE49-F238E27FC236}">
                <a16:creationId xmlns:a16="http://schemas.microsoft.com/office/drawing/2014/main" id="{0174A861-FE55-4751-9DF1-CF02FEFC740E}"/>
              </a:ext>
            </a:extLst>
          </p:cNvPr>
          <p:cNvSpPr txBox="1"/>
          <p:nvPr/>
        </p:nvSpPr>
        <p:spPr>
          <a:xfrm>
            <a:off x="5643880" y="5388509"/>
            <a:ext cx="8111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1022" name="object-249: 每核错误记录">
            <a:extLst>
              <a:ext uri="{FF2B5EF4-FFF2-40B4-BE49-F238E27FC236}">
                <a16:creationId xmlns:a16="http://schemas.microsoft.com/office/drawing/2014/main" id="{958C0EE9-8E64-4C3C-8F0D-760AF4E39717}"/>
              </a:ext>
            </a:extLst>
          </p:cNvPr>
          <p:cNvSpPr txBox="1"/>
          <p:nvPr/>
        </p:nvSpPr>
        <p:spPr>
          <a:xfrm>
            <a:off x="5780135" y="5501082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cxnSp>
        <p:nvCxnSpPr>
          <p:cNvPr id="1023" name="reg-drop-err-cpu">
            <a:extLst>
              <a:ext uri="{FF2B5EF4-FFF2-40B4-BE49-F238E27FC236}">
                <a16:creationId xmlns:a16="http://schemas.microsoft.com/office/drawing/2014/main" id="{20C8931B-3EF2-45DE-9315-D08D71B4C2B7}"/>
              </a:ext>
            </a:extLst>
          </p:cNvPr>
          <p:cNvCxnSpPr/>
          <p:nvPr/>
        </p:nvCxnSpPr>
        <p:spPr>
          <a:xfrm>
            <a:off x="543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4" name="irq-router">
            <a:extLst>
              <a:ext uri="{FF2B5EF4-FFF2-40B4-BE49-F238E27FC236}">
                <a16:creationId xmlns:a16="http://schemas.microsoft.com/office/drawing/2014/main" id="{13797B51-9EEA-40B5-9B99-22B72980494E}"/>
              </a:ext>
            </a:extLst>
          </p:cNvPr>
          <p:cNvSpPr/>
          <p:nvPr/>
        </p:nvSpPr>
        <p:spPr>
          <a:xfrm>
            <a:off x="42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5" name="object-252: IRQ router">
            <a:extLst>
              <a:ext uri="{FF2B5EF4-FFF2-40B4-BE49-F238E27FC236}">
                <a16:creationId xmlns:a16="http://schemas.microsoft.com/office/drawing/2014/main" id="{B34D039D-8DF6-4EED-B0DC-08DD07C36A3C}"/>
              </a:ext>
            </a:extLst>
          </p:cNvPr>
          <p:cNvSpPr txBox="1"/>
          <p:nvPr/>
        </p:nvSpPr>
        <p:spPr>
          <a:xfrm>
            <a:off x="698532" y="5700082"/>
            <a:ext cx="54181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1026" name="object-253: 可选中断路由">
            <a:extLst>
              <a:ext uri="{FF2B5EF4-FFF2-40B4-BE49-F238E27FC236}">
                <a16:creationId xmlns:a16="http://schemas.microsoft.com/office/drawing/2014/main" id="{6B0677D4-70F1-43E5-A7BB-4E174ACC48F1}"/>
              </a:ext>
            </a:extLst>
          </p:cNvPr>
          <p:cNvSpPr txBox="1"/>
          <p:nvPr/>
        </p:nvSpPr>
        <p:spPr>
          <a:xfrm>
            <a:off x="70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cxnSp>
        <p:nvCxnSpPr>
          <p:cNvPr id="1027" name="reg-drop-irq-router">
            <a:extLst>
              <a:ext uri="{FF2B5EF4-FFF2-40B4-BE49-F238E27FC236}">
                <a16:creationId xmlns:a16="http://schemas.microsoft.com/office/drawing/2014/main" id="{6D2B767A-C641-413C-98C9-B4F951EC1933}"/>
              </a:ext>
            </a:extLst>
          </p:cNvPr>
          <p:cNvCxnSpPr/>
          <p:nvPr/>
        </p:nvCxnSpPr>
        <p:spPr>
          <a:xfrm>
            <a:off x="35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8" name="axi-rt-config">
            <a:extLst>
              <a:ext uri="{FF2B5EF4-FFF2-40B4-BE49-F238E27FC236}">
                <a16:creationId xmlns:a16="http://schemas.microsoft.com/office/drawing/2014/main" id="{23BA068B-65A2-43EC-9FE6-5A73B4991D62}"/>
              </a:ext>
            </a:extLst>
          </p:cNvPr>
          <p:cNvSpPr/>
          <p:nvPr/>
        </p:nvSpPr>
        <p:spPr>
          <a:xfrm>
            <a:off x="169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9" name="object-256: AXI RT 配置">
            <a:extLst>
              <a:ext uri="{FF2B5EF4-FFF2-40B4-BE49-F238E27FC236}">
                <a16:creationId xmlns:a16="http://schemas.microsoft.com/office/drawing/2014/main" id="{75223ABC-7E74-4916-9B7F-FB5526BAB035}"/>
              </a:ext>
            </a:extLst>
          </p:cNvPr>
          <p:cNvSpPr txBox="1"/>
          <p:nvPr/>
        </p:nvSpPr>
        <p:spPr>
          <a:xfrm>
            <a:off x="1946892" y="5700082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1030" name="object-257: 可选流量调节">
            <a:extLst>
              <a:ext uri="{FF2B5EF4-FFF2-40B4-BE49-F238E27FC236}">
                <a16:creationId xmlns:a16="http://schemas.microsoft.com/office/drawing/2014/main" id="{45B6F20A-09B8-4750-9BE3-43227AC3557B}"/>
              </a:ext>
            </a:extLst>
          </p:cNvPr>
          <p:cNvSpPr txBox="1"/>
          <p:nvPr/>
        </p:nvSpPr>
        <p:spPr>
          <a:xfrm>
            <a:off x="197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cxnSp>
        <p:nvCxnSpPr>
          <p:cNvPr id="1031" name="reg-drop-axi-rt-config">
            <a:extLst>
              <a:ext uri="{FF2B5EF4-FFF2-40B4-BE49-F238E27FC236}">
                <a16:creationId xmlns:a16="http://schemas.microsoft.com/office/drawing/2014/main" id="{4E280EBF-535F-4CFE-88E7-3B0E4A9BCA5E}"/>
              </a:ext>
            </a:extLst>
          </p:cNvPr>
          <p:cNvCxnSpPr/>
          <p:nvPr/>
        </p:nvCxnSpPr>
        <p:spPr>
          <a:xfrm>
            <a:off x="162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2" name="clic">
            <a:extLst>
              <a:ext uri="{FF2B5EF4-FFF2-40B4-BE49-F238E27FC236}">
                <a16:creationId xmlns:a16="http://schemas.microsoft.com/office/drawing/2014/main" id="{024727BA-5D26-4568-8F2F-DF105739600A}"/>
              </a:ext>
            </a:extLst>
          </p:cNvPr>
          <p:cNvSpPr/>
          <p:nvPr/>
        </p:nvSpPr>
        <p:spPr>
          <a:xfrm>
            <a:off x="296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3" name="object-260: CLIC">
            <a:extLst>
              <a:ext uri="{FF2B5EF4-FFF2-40B4-BE49-F238E27FC236}">
                <a16:creationId xmlns:a16="http://schemas.microsoft.com/office/drawing/2014/main" id="{9A26F5E1-1647-427C-99C4-FA38AAA5220C}"/>
              </a:ext>
            </a:extLst>
          </p:cNvPr>
          <p:cNvSpPr txBox="1"/>
          <p:nvPr/>
        </p:nvSpPr>
        <p:spPr>
          <a:xfrm>
            <a:off x="3395627" y="5700082"/>
            <a:ext cx="22762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1034" name="object-261: 可选每核中断控制">
            <a:extLst>
              <a:ext uri="{FF2B5EF4-FFF2-40B4-BE49-F238E27FC236}">
                <a16:creationId xmlns:a16="http://schemas.microsoft.com/office/drawing/2014/main" id="{9D7BB867-486B-4DA1-B8CC-E35945C7C943}"/>
              </a:ext>
            </a:extLst>
          </p:cNvPr>
          <p:cNvSpPr txBox="1"/>
          <p:nvPr/>
        </p:nvSpPr>
        <p:spPr>
          <a:xfrm>
            <a:off x="3150368" y="5812655"/>
            <a:ext cx="7181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cxnSp>
        <p:nvCxnSpPr>
          <p:cNvPr id="1035" name="reg-drop-clic">
            <a:extLst>
              <a:ext uri="{FF2B5EF4-FFF2-40B4-BE49-F238E27FC236}">
                <a16:creationId xmlns:a16="http://schemas.microsoft.com/office/drawing/2014/main" id="{1486CE0E-1CBD-49A6-AFA7-ABCFBCAD09BC}"/>
              </a:ext>
            </a:extLst>
          </p:cNvPr>
          <p:cNvCxnSpPr/>
          <p:nvPr/>
        </p:nvCxnSpPr>
        <p:spPr>
          <a:xfrm>
            <a:off x="289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6" name="reg-error">
            <a:extLst>
              <a:ext uri="{FF2B5EF4-FFF2-40B4-BE49-F238E27FC236}">
                <a16:creationId xmlns:a16="http://schemas.microsoft.com/office/drawing/2014/main" id="{ED53C377-7C3F-4110-80FF-EFDD6D02CF81}"/>
              </a:ext>
            </a:extLst>
          </p:cNvPr>
          <p:cNvSpPr/>
          <p:nvPr/>
        </p:nvSpPr>
        <p:spPr>
          <a:xfrm>
            <a:off x="423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7" name="object-264: reg_err_slv">
            <a:extLst>
              <a:ext uri="{FF2B5EF4-FFF2-40B4-BE49-F238E27FC236}">
                <a16:creationId xmlns:a16="http://schemas.microsoft.com/office/drawing/2014/main" id="{CDCDB789-0FB9-4F28-948E-9C4B450DCF9E}"/>
              </a:ext>
            </a:extLst>
          </p:cNvPr>
          <p:cNvSpPr txBox="1"/>
          <p:nvPr/>
        </p:nvSpPr>
        <p:spPr>
          <a:xfrm>
            <a:off x="4503723" y="5700082"/>
            <a:ext cx="5514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1038" name="object-265: 未匹配地址">
            <a:extLst>
              <a:ext uri="{FF2B5EF4-FFF2-40B4-BE49-F238E27FC236}">
                <a16:creationId xmlns:a16="http://schemas.microsoft.com/office/drawing/2014/main" id="{03E49DD8-3869-4C9B-A29F-4BBCE7E13055}"/>
              </a:ext>
            </a:extLst>
          </p:cNvPr>
          <p:cNvSpPr txBox="1"/>
          <p:nvPr/>
        </p:nvSpPr>
        <p:spPr>
          <a:xfrm>
            <a:off x="4555019" y="5812655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cxnSp>
        <p:nvCxnSpPr>
          <p:cNvPr id="1039" name="reg-drop-reg-error">
            <a:extLst>
              <a:ext uri="{FF2B5EF4-FFF2-40B4-BE49-F238E27FC236}">
                <a16:creationId xmlns:a16="http://schemas.microsoft.com/office/drawing/2014/main" id="{7E71B93C-A324-41A2-AE26-DC1D42DB4C93}"/>
              </a:ext>
            </a:extLst>
          </p:cNvPr>
          <p:cNvCxnSpPr/>
          <p:nvPr/>
        </p:nvCxnSpPr>
        <p:spPr>
          <a:xfrm>
            <a:off x="416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0" name="reg-ext">
            <a:extLst>
              <a:ext uri="{FF2B5EF4-FFF2-40B4-BE49-F238E27FC236}">
                <a16:creationId xmlns:a16="http://schemas.microsoft.com/office/drawing/2014/main" id="{F3FFC9D0-EFBF-4B4C-9718-CDD3DAB52FED}"/>
              </a:ext>
            </a:extLst>
          </p:cNvPr>
          <p:cNvSpPr/>
          <p:nvPr/>
        </p:nvSpPr>
        <p:spPr>
          <a:xfrm>
            <a:off x="550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1" name="object-268: RegExt 扩展">
            <a:extLst>
              <a:ext uri="{FF2B5EF4-FFF2-40B4-BE49-F238E27FC236}">
                <a16:creationId xmlns:a16="http://schemas.microsoft.com/office/drawing/2014/main" id="{6A2DE6BF-83C4-46D2-911D-C24494A78B35}"/>
              </a:ext>
            </a:extLst>
          </p:cNvPr>
          <p:cNvSpPr txBox="1"/>
          <p:nvPr/>
        </p:nvSpPr>
        <p:spPr>
          <a:xfrm>
            <a:off x="5750480" y="5700082"/>
            <a:ext cx="5979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1042" name="object-269: 新增 IP 配置出口">
            <a:extLst>
              <a:ext uri="{FF2B5EF4-FFF2-40B4-BE49-F238E27FC236}">
                <a16:creationId xmlns:a16="http://schemas.microsoft.com/office/drawing/2014/main" id="{42D0E2BF-9B88-4214-A270-C0C43807DB3B}"/>
              </a:ext>
            </a:extLst>
          </p:cNvPr>
          <p:cNvSpPr txBox="1"/>
          <p:nvPr/>
        </p:nvSpPr>
        <p:spPr>
          <a:xfrm>
            <a:off x="5712809" y="5812655"/>
            <a:ext cx="67326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cxnSp>
        <p:nvCxnSpPr>
          <p:cNvPr id="1043" name="reg-drop-reg-ext">
            <a:extLst>
              <a:ext uri="{FF2B5EF4-FFF2-40B4-BE49-F238E27FC236}">
                <a16:creationId xmlns:a16="http://schemas.microsoft.com/office/drawing/2014/main" id="{FCB356D9-4EA7-4651-851E-9D0E0E61EA3B}"/>
              </a:ext>
            </a:extLst>
          </p:cNvPr>
          <p:cNvCxnSpPr/>
          <p:nvPr/>
        </p:nvCxnSpPr>
        <p:spPr>
          <a:xfrm>
            <a:off x="543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4" name="ddr-controller">
            <a:extLst>
              <a:ext uri="{FF2B5EF4-FFF2-40B4-BE49-F238E27FC236}">
                <a16:creationId xmlns:a16="http://schemas.microsoft.com/office/drawing/2014/main" id="{F2CDF5A0-6C1B-4F5F-B14C-DA77524D63A3}"/>
              </a:ext>
            </a:extLst>
          </p:cNvPr>
          <p:cNvSpPr/>
          <p:nvPr/>
        </p:nvSpPr>
        <p:spPr>
          <a:xfrm>
            <a:off x="7065440" y="4582482"/>
            <a:ext cx="3285067" cy="12530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5" name="object-272: DDR Controller · 3 个 AXI slave">
            <a:extLst>
              <a:ext uri="{FF2B5EF4-FFF2-40B4-BE49-F238E27FC236}">
                <a16:creationId xmlns:a16="http://schemas.microsoft.com/office/drawing/2014/main" id="{2E607D15-407F-4CDC-9A28-3725F752D408}"/>
              </a:ext>
            </a:extLst>
          </p:cNvPr>
          <p:cNvSpPr txBox="1"/>
          <p:nvPr/>
        </p:nvSpPr>
        <p:spPr>
          <a:xfrm>
            <a:off x="7815102" y="5686873"/>
            <a:ext cx="1785745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3 个 AXI slave</a:t>
            </a:r>
          </a:p>
        </p:txBody>
      </p:sp>
      <p:sp>
        <p:nvSpPr>
          <p:cNvPr id="1046" name="cfg-tag-C2-272">
            <a:extLst>
              <a:ext uri="{FF2B5EF4-FFF2-40B4-BE49-F238E27FC236}">
                <a16:creationId xmlns:a16="http://schemas.microsoft.com/office/drawing/2014/main" id="{DC123D00-7770-4D36-BE74-0CAEF004A1C0}"/>
              </a:ext>
            </a:extLst>
          </p:cNvPr>
          <p:cNvSpPr/>
          <p:nvPr/>
        </p:nvSpPr>
        <p:spPr>
          <a:xfrm>
            <a:off x="10113440" y="57034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7" name="object-274: C2">
            <a:extLst>
              <a:ext uri="{FF2B5EF4-FFF2-40B4-BE49-F238E27FC236}">
                <a16:creationId xmlns:a16="http://schemas.microsoft.com/office/drawing/2014/main" id="{34935CB7-5BD6-47A9-A015-5E24A53424DE}"/>
              </a:ext>
            </a:extLst>
          </p:cNvPr>
          <p:cNvSpPr txBox="1"/>
          <p:nvPr/>
        </p:nvSpPr>
        <p:spPr>
          <a:xfrm>
            <a:off x="10143333" y="57048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048" name="ddr-S0">
            <a:extLst>
              <a:ext uri="{FF2B5EF4-FFF2-40B4-BE49-F238E27FC236}">
                <a16:creationId xmlns:a16="http://schemas.microsoft.com/office/drawing/2014/main" id="{6691ED0E-01BE-459F-9B68-EB9029A85852}"/>
              </a:ext>
            </a:extLst>
          </p:cNvPr>
          <p:cNvSpPr/>
          <p:nvPr/>
        </p:nvSpPr>
        <p:spPr>
          <a:xfrm>
            <a:off x="71331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9" name="object-276: S0">
            <a:extLst>
              <a:ext uri="{FF2B5EF4-FFF2-40B4-BE49-F238E27FC236}">
                <a16:creationId xmlns:a16="http://schemas.microsoft.com/office/drawing/2014/main" id="{3E638D93-F21A-4686-AF3F-03E5B0EEB55F}"/>
              </a:ext>
            </a:extLst>
          </p:cNvPr>
          <p:cNvSpPr txBox="1"/>
          <p:nvPr/>
        </p:nvSpPr>
        <p:spPr>
          <a:xfrm>
            <a:off x="74359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1050" name="object-277: SoC / LLC">
            <a:extLst>
              <a:ext uri="{FF2B5EF4-FFF2-40B4-BE49-F238E27FC236}">
                <a16:creationId xmlns:a16="http://schemas.microsoft.com/office/drawing/2014/main" id="{16A28138-BFB3-4240-B7BC-4EDC71FC712A}"/>
              </a:ext>
            </a:extLst>
          </p:cNvPr>
          <p:cNvSpPr txBox="1"/>
          <p:nvPr/>
        </p:nvSpPr>
        <p:spPr>
          <a:xfrm>
            <a:off x="7298919" y="4758860"/>
            <a:ext cx="4135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SoC / LLC</a:t>
            </a:r>
          </a:p>
        </p:txBody>
      </p:sp>
      <p:cxnSp>
        <p:nvCxnSpPr>
          <p:cNvPr id="1051" name="ddr-S-to-arb-0">
            <a:extLst>
              <a:ext uri="{FF2B5EF4-FFF2-40B4-BE49-F238E27FC236}">
                <a16:creationId xmlns:a16="http://schemas.microsoft.com/office/drawing/2014/main" id="{A7252EFA-7EE5-456E-B64D-45437FEBCBA2}"/>
              </a:ext>
            </a:extLst>
          </p:cNvPr>
          <p:cNvCxnSpPr/>
          <p:nvPr/>
        </p:nvCxnSpPr>
        <p:spPr>
          <a:xfrm>
            <a:off x="75057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2" name="ddr-S1">
            <a:extLst>
              <a:ext uri="{FF2B5EF4-FFF2-40B4-BE49-F238E27FC236}">
                <a16:creationId xmlns:a16="http://schemas.microsoft.com/office/drawing/2014/main" id="{7086A1C7-6343-4C2E-BF38-5BBB4A4DBE91}"/>
              </a:ext>
            </a:extLst>
          </p:cNvPr>
          <p:cNvSpPr/>
          <p:nvPr/>
        </p:nvSpPr>
        <p:spPr>
          <a:xfrm>
            <a:off x="82507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3" name="object-280: S1">
            <a:extLst>
              <a:ext uri="{FF2B5EF4-FFF2-40B4-BE49-F238E27FC236}">
                <a16:creationId xmlns:a16="http://schemas.microsoft.com/office/drawing/2014/main" id="{B2E7CB33-2C1D-440C-A067-0DE14C752922}"/>
              </a:ext>
            </a:extLst>
          </p:cNvPr>
          <p:cNvSpPr txBox="1"/>
          <p:nvPr/>
        </p:nvSpPr>
        <p:spPr>
          <a:xfrm>
            <a:off x="85535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54" name="object-281: NPU / GB 搬运">
            <a:extLst>
              <a:ext uri="{FF2B5EF4-FFF2-40B4-BE49-F238E27FC236}">
                <a16:creationId xmlns:a16="http://schemas.microsoft.com/office/drawing/2014/main" id="{C8652E7B-2D08-4876-A8E7-6600B2055E57}"/>
              </a:ext>
            </a:extLst>
          </p:cNvPr>
          <p:cNvSpPr txBox="1"/>
          <p:nvPr/>
        </p:nvSpPr>
        <p:spPr>
          <a:xfrm>
            <a:off x="8313928" y="4758860"/>
            <a:ext cx="61875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cxnSp>
        <p:nvCxnSpPr>
          <p:cNvPr id="1055" name="ddr-S-to-arb-1">
            <a:extLst>
              <a:ext uri="{FF2B5EF4-FFF2-40B4-BE49-F238E27FC236}">
                <a16:creationId xmlns:a16="http://schemas.microsoft.com/office/drawing/2014/main" id="{F62288E7-5AF1-4E3F-9560-60F89E32F154}"/>
              </a:ext>
            </a:extLst>
          </p:cNvPr>
          <p:cNvCxnSpPr/>
          <p:nvPr/>
        </p:nvCxnSpPr>
        <p:spPr>
          <a:xfrm>
            <a:off x="86233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6" name="ddr-S2">
            <a:extLst>
              <a:ext uri="{FF2B5EF4-FFF2-40B4-BE49-F238E27FC236}">
                <a16:creationId xmlns:a16="http://schemas.microsoft.com/office/drawing/2014/main" id="{ADCA61D9-2312-44E4-903B-EE0F6CE498B9}"/>
              </a:ext>
            </a:extLst>
          </p:cNvPr>
          <p:cNvSpPr/>
          <p:nvPr/>
        </p:nvSpPr>
        <p:spPr>
          <a:xfrm>
            <a:off x="93683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7" name="object-284: S2">
            <a:extLst>
              <a:ext uri="{FF2B5EF4-FFF2-40B4-BE49-F238E27FC236}">
                <a16:creationId xmlns:a16="http://schemas.microsoft.com/office/drawing/2014/main" id="{4A254861-34DC-4BB9-B5C8-C33C2BB93B9B}"/>
              </a:ext>
            </a:extLst>
          </p:cNvPr>
          <p:cNvSpPr txBox="1"/>
          <p:nvPr/>
        </p:nvSpPr>
        <p:spPr>
          <a:xfrm>
            <a:off x="96711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58" name="object-285: 图像帧写入">
            <a:extLst>
              <a:ext uri="{FF2B5EF4-FFF2-40B4-BE49-F238E27FC236}">
                <a16:creationId xmlns:a16="http://schemas.microsoft.com/office/drawing/2014/main" id="{64049BC4-F5D1-47E7-8AF9-CA41D18F45C4}"/>
              </a:ext>
            </a:extLst>
          </p:cNvPr>
          <p:cNvSpPr txBox="1"/>
          <p:nvPr/>
        </p:nvSpPr>
        <p:spPr>
          <a:xfrm>
            <a:off x="9516486" y="4758860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图像帧写入</a:t>
            </a:r>
          </a:p>
        </p:txBody>
      </p:sp>
      <p:cxnSp>
        <p:nvCxnSpPr>
          <p:cNvPr id="1059" name="ddr-S-to-arb-2">
            <a:extLst>
              <a:ext uri="{FF2B5EF4-FFF2-40B4-BE49-F238E27FC236}">
                <a16:creationId xmlns:a16="http://schemas.microsoft.com/office/drawing/2014/main" id="{8AB2A2C0-EF2E-4BDA-B2A9-DA763EA06B7C}"/>
              </a:ext>
            </a:extLst>
          </p:cNvPr>
          <p:cNvCxnSpPr/>
          <p:nvPr/>
        </p:nvCxnSpPr>
        <p:spPr>
          <a:xfrm>
            <a:off x="97409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0" name="ddr-port-collect">
            <a:extLst>
              <a:ext uri="{FF2B5EF4-FFF2-40B4-BE49-F238E27FC236}">
                <a16:creationId xmlns:a16="http://schemas.microsoft.com/office/drawing/2014/main" id="{4BF79ED7-23F1-49A4-A532-37A8E1C1E006}"/>
              </a:ext>
            </a:extLst>
          </p:cNvPr>
          <p:cNvCxnSpPr/>
          <p:nvPr/>
        </p:nvCxnSpPr>
        <p:spPr>
          <a:xfrm>
            <a:off x="7505706" y="5022749"/>
            <a:ext cx="2235200" cy="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1" name="ddr-all-to-arbiter">
            <a:extLst>
              <a:ext uri="{FF2B5EF4-FFF2-40B4-BE49-F238E27FC236}">
                <a16:creationId xmlns:a16="http://schemas.microsoft.com/office/drawing/2014/main" id="{2F3E0D25-8498-4BB9-A346-7C1CD68191E5}"/>
              </a:ext>
            </a:extLst>
          </p:cNvPr>
          <p:cNvCxnSpPr/>
          <p:nvPr/>
        </p:nvCxnSpPr>
        <p:spPr>
          <a:xfrm>
            <a:off x="7708906" y="5022749"/>
            <a:ext cx="0" cy="203200"/>
          </a:xfrm>
          <a:prstGeom prst="line">
            <a:avLst/>
          </a:prstGeom>
          <a:ln w="22758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2" name="ddr-scheduler">
            <a:extLst>
              <a:ext uri="{FF2B5EF4-FFF2-40B4-BE49-F238E27FC236}">
                <a16:creationId xmlns:a16="http://schemas.microsoft.com/office/drawing/2014/main" id="{AFD3DC4E-F974-47FC-A184-9DFF294C4164}"/>
              </a:ext>
            </a:extLst>
          </p:cNvPr>
          <p:cNvSpPr/>
          <p:nvPr/>
        </p:nvSpPr>
        <p:spPr>
          <a:xfrm>
            <a:off x="7200906" y="5225949"/>
            <a:ext cx="3031067" cy="45720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63" name="object-290: 端口仲裁 / QoS">
            <a:extLst>
              <a:ext uri="{FF2B5EF4-FFF2-40B4-BE49-F238E27FC236}">
                <a16:creationId xmlns:a16="http://schemas.microsoft.com/office/drawing/2014/main" id="{8C9987A2-50C6-40F9-A52B-D1939F626071}"/>
              </a:ext>
            </a:extLst>
          </p:cNvPr>
          <p:cNvSpPr txBox="1"/>
          <p:nvPr/>
        </p:nvSpPr>
        <p:spPr>
          <a:xfrm>
            <a:off x="7342620" y="5289754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端口仲裁 / QoS</a:t>
            </a:r>
          </a:p>
        </p:txBody>
      </p:sp>
      <p:sp>
        <p:nvSpPr>
          <p:cNvPr id="1064" name="object-291: 共享 DDR 带宽">
            <a:extLst>
              <a:ext uri="{FF2B5EF4-FFF2-40B4-BE49-F238E27FC236}">
                <a16:creationId xmlns:a16="http://schemas.microsoft.com/office/drawing/2014/main" id="{1B54921B-97A5-47F6-8E2B-D3B68607ADFC}"/>
              </a:ext>
            </a:extLst>
          </p:cNvPr>
          <p:cNvSpPr txBox="1"/>
          <p:nvPr/>
        </p:nvSpPr>
        <p:spPr>
          <a:xfrm>
            <a:off x="7403534" y="5432807"/>
            <a:ext cx="6107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 DDR 带宽</a:t>
            </a:r>
          </a:p>
        </p:txBody>
      </p:sp>
      <p:cxnSp>
        <p:nvCxnSpPr>
          <p:cNvPr id="1065" name="ddr-schedule-step-0">
            <a:extLst>
              <a:ext uri="{FF2B5EF4-FFF2-40B4-BE49-F238E27FC236}">
                <a16:creationId xmlns:a16="http://schemas.microsoft.com/office/drawing/2014/main" id="{F98EA5E8-9E92-4547-86F5-394597F95419}"/>
              </a:ext>
            </a:extLst>
          </p:cNvPr>
          <p:cNvCxnSpPr/>
          <p:nvPr/>
        </p:nvCxnSpPr>
        <p:spPr>
          <a:xfrm>
            <a:off x="814240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6" name="object-293: 读写调度">
            <a:extLst>
              <a:ext uri="{FF2B5EF4-FFF2-40B4-BE49-F238E27FC236}">
                <a16:creationId xmlns:a16="http://schemas.microsoft.com/office/drawing/2014/main" id="{7F171FE8-D049-412C-B70D-9912279617E1}"/>
              </a:ext>
            </a:extLst>
          </p:cNvPr>
          <p:cNvSpPr txBox="1"/>
          <p:nvPr/>
        </p:nvSpPr>
        <p:spPr>
          <a:xfrm>
            <a:off x="850956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</a:t>
            </a:r>
          </a:p>
        </p:txBody>
      </p:sp>
      <p:sp>
        <p:nvSpPr>
          <p:cNvPr id="1067" name="object-294: Bank / Row">
            <a:extLst>
              <a:ext uri="{FF2B5EF4-FFF2-40B4-BE49-F238E27FC236}">
                <a16:creationId xmlns:a16="http://schemas.microsoft.com/office/drawing/2014/main" id="{1C974FF8-9DD9-4D01-B6AB-33B5EDC09B62}"/>
              </a:ext>
            </a:extLst>
          </p:cNvPr>
          <p:cNvSpPr txBox="1"/>
          <p:nvPr/>
        </p:nvSpPr>
        <p:spPr>
          <a:xfrm>
            <a:off x="8469487" y="5432807"/>
            <a:ext cx="490520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Bank / Row</a:t>
            </a:r>
          </a:p>
        </p:txBody>
      </p:sp>
      <p:cxnSp>
        <p:nvCxnSpPr>
          <p:cNvPr id="1068" name="ddr-schedule-step-1">
            <a:extLst>
              <a:ext uri="{FF2B5EF4-FFF2-40B4-BE49-F238E27FC236}">
                <a16:creationId xmlns:a16="http://schemas.microsoft.com/office/drawing/2014/main" id="{21793AC5-2384-4291-81C6-59C037484AF5}"/>
              </a:ext>
            </a:extLst>
          </p:cNvPr>
          <p:cNvCxnSpPr/>
          <p:nvPr/>
        </p:nvCxnSpPr>
        <p:spPr>
          <a:xfrm>
            <a:off x="914824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9" name="object-296: 命令调度">
            <a:extLst>
              <a:ext uri="{FF2B5EF4-FFF2-40B4-BE49-F238E27FC236}">
                <a16:creationId xmlns:a16="http://schemas.microsoft.com/office/drawing/2014/main" id="{67D4B73D-B43A-4978-BDDB-E0ACD633264E}"/>
              </a:ext>
            </a:extLst>
          </p:cNvPr>
          <p:cNvSpPr txBox="1"/>
          <p:nvPr/>
        </p:nvSpPr>
        <p:spPr>
          <a:xfrm>
            <a:off x="951540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</a:t>
            </a:r>
          </a:p>
        </p:txBody>
      </p:sp>
      <p:sp>
        <p:nvSpPr>
          <p:cNvPr id="1070" name="object-297: 控制器 → PHY">
            <a:extLst>
              <a:ext uri="{FF2B5EF4-FFF2-40B4-BE49-F238E27FC236}">
                <a16:creationId xmlns:a16="http://schemas.microsoft.com/office/drawing/2014/main" id="{14DCFE42-BA82-4A60-8D4D-78D6F04B9F69}"/>
              </a:ext>
            </a:extLst>
          </p:cNvPr>
          <p:cNvSpPr txBox="1"/>
          <p:nvPr/>
        </p:nvSpPr>
        <p:spPr>
          <a:xfrm>
            <a:off x="9424832" y="5432807"/>
            <a:ext cx="5915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控制器 → PHY</a:t>
            </a:r>
          </a:p>
        </p:txBody>
      </p:sp>
      <p:sp>
        <p:nvSpPr>
          <p:cNvPr id="1071" name="object-298: 共享同一 DDR 地址空间">
            <a:extLst>
              <a:ext uri="{FF2B5EF4-FFF2-40B4-BE49-F238E27FC236}">
                <a16:creationId xmlns:a16="http://schemas.microsoft.com/office/drawing/2014/main" id="{32F55508-D622-4C94-9462-1D273285A090}"/>
              </a:ext>
            </a:extLst>
          </p:cNvPr>
          <p:cNvSpPr txBox="1"/>
          <p:nvPr/>
        </p:nvSpPr>
        <p:spPr>
          <a:xfrm>
            <a:off x="8578665" y="5074091"/>
            <a:ext cx="96981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共享同一 DDR 地址空间</a:t>
            </a:r>
          </a:p>
        </p:txBody>
      </p:sp>
      <p:sp>
        <p:nvSpPr>
          <p:cNvPr id="1072" name="ddr-phy">
            <a:extLst>
              <a:ext uri="{FF2B5EF4-FFF2-40B4-BE49-F238E27FC236}">
                <a16:creationId xmlns:a16="http://schemas.microsoft.com/office/drawing/2014/main" id="{159EE2B3-7138-4B9A-B3CD-98A4CE11B639}"/>
              </a:ext>
            </a:extLst>
          </p:cNvPr>
          <p:cNvSpPr/>
          <p:nvPr/>
        </p:nvSpPr>
        <p:spPr>
          <a:xfrm>
            <a:off x="10519840" y="5215789"/>
            <a:ext cx="677333" cy="4741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3" name="object-300: DDR PHY">
            <a:extLst>
              <a:ext uri="{FF2B5EF4-FFF2-40B4-BE49-F238E27FC236}">
                <a16:creationId xmlns:a16="http://schemas.microsoft.com/office/drawing/2014/main" id="{540C9B54-A5E0-4EBF-BF78-F95731B8E9BB}"/>
              </a:ext>
            </a:extLst>
          </p:cNvPr>
          <p:cNvSpPr txBox="1"/>
          <p:nvPr/>
        </p:nvSpPr>
        <p:spPr>
          <a:xfrm>
            <a:off x="10615652" y="5272547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074" name="object-301: 训练 / 校准">
            <a:extLst>
              <a:ext uri="{FF2B5EF4-FFF2-40B4-BE49-F238E27FC236}">
                <a16:creationId xmlns:a16="http://schemas.microsoft.com/office/drawing/2014/main" id="{762D8652-6DAA-47C0-9467-5CA026EB6161}"/>
              </a:ext>
            </a:extLst>
          </p:cNvPr>
          <p:cNvSpPr txBox="1"/>
          <p:nvPr/>
        </p:nvSpPr>
        <p:spPr>
          <a:xfrm>
            <a:off x="10601224" y="5405440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1075" name="cfg-tag-C3-301">
            <a:extLst>
              <a:ext uri="{FF2B5EF4-FFF2-40B4-BE49-F238E27FC236}">
                <a16:creationId xmlns:a16="http://schemas.microsoft.com/office/drawing/2014/main" id="{147500D1-D40B-4A05-AE23-8E5B12B66E0C}"/>
              </a:ext>
            </a:extLst>
          </p:cNvPr>
          <p:cNvSpPr/>
          <p:nvPr/>
        </p:nvSpPr>
        <p:spPr>
          <a:xfrm>
            <a:off x="10987200" y="555445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6" name="object-303: C3">
            <a:extLst>
              <a:ext uri="{FF2B5EF4-FFF2-40B4-BE49-F238E27FC236}">
                <a16:creationId xmlns:a16="http://schemas.microsoft.com/office/drawing/2014/main" id="{6AB24D3D-0919-4938-9FF6-B6A9107E8923}"/>
              </a:ext>
            </a:extLst>
          </p:cNvPr>
          <p:cNvSpPr txBox="1"/>
          <p:nvPr/>
        </p:nvSpPr>
        <p:spPr>
          <a:xfrm>
            <a:off x="11017093" y="555581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cxnSp>
        <p:nvCxnSpPr>
          <p:cNvPr id="1077" name="ddr-phy-path">
            <a:extLst>
              <a:ext uri="{FF2B5EF4-FFF2-40B4-BE49-F238E27FC236}">
                <a16:creationId xmlns:a16="http://schemas.microsoft.com/office/drawing/2014/main" id="{C1BBF756-77F3-4819-8895-BF7BB88FD606}"/>
              </a:ext>
            </a:extLst>
          </p:cNvPr>
          <p:cNvCxnSpPr/>
          <p:nvPr/>
        </p:nvCxnSpPr>
        <p:spPr>
          <a:xfrm>
            <a:off x="10231973" y="5429149"/>
            <a:ext cx="287867" cy="0"/>
          </a:xfrm>
          <a:prstGeom prst="line">
            <a:avLst/>
          </a:prstGeom>
          <a:ln w="28448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78" name="dram">
            <a:extLst>
              <a:ext uri="{FF2B5EF4-FFF2-40B4-BE49-F238E27FC236}">
                <a16:creationId xmlns:a16="http://schemas.microsoft.com/office/drawing/2014/main" id="{A461D61B-6A89-4A62-BAF2-EAB5497DE4BA}"/>
              </a:ext>
            </a:extLst>
          </p:cNvPr>
          <p:cNvSpPr/>
          <p:nvPr/>
        </p:nvSpPr>
        <p:spPr>
          <a:xfrm>
            <a:off x="11501973" y="5215789"/>
            <a:ext cx="508000" cy="474133"/>
          </a:xfrm>
          <a:prstGeom prst="rect">
            <a:avLst/>
          </a:prstGeom>
          <a:solidFill>
            <a:srgbClr val="EAECEE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9" name="object-306: DDR">
            <a:extLst>
              <a:ext uri="{FF2B5EF4-FFF2-40B4-BE49-F238E27FC236}">
                <a16:creationId xmlns:a16="http://schemas.microsoft.com/office/drawing/2014/main" id="{4F28D478-2D00-45B1-BC9F-F4813A2BEB73}"/>
              </a:ext>
            </a:extLst>
          </p:cNvPr>
          <p:cNvSpPr txBox="1"/>
          <p:nvPr/>
        </p:nvSpPr>
        <p:spPr>
          <a:xfrm>
            <a:off x="11624528" y="5261574"/>
            <a:ext cx="26289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080" name="object-307: 片外器件">
            <a:extLst>
              <a:ext uri="{FF2B5EF4-FFF2-40B4-BE49-F238E27FC236}">
                <a16:creationId xmlns:a16="http://schemas.microsoft.com/office/drawing/2014/main" id="{AE525BAC-9D08-4B70-9002-E8E6C69159F2}"/>
              </a:ext>
            </a:extLst>
          </p:cNvPr>
          <p:cNvSpPr txBox="1"/>
          <p:nvPr/>
        </p:nvSpPr>
        <p:spPr>
          <a:xfrm>
            <a:off x="11550789" y="5405440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cxnSp>
        <p:nvCxnSpPr>
          <p:cNvPr id="1081" name="phy-dram">
            <a:extLst>
              <a:ext uri="{FF2B5EF4-FFF2-40B4-BE49-F238E27FC236}">
                <a16:creationId xmlns:a16="http://schemas.microsoft.com/office/drawing/2014/main" id="{4D2F5ED4-8DBD-4CDD-B630-62605969ED4A}"/>
              </a:ext>
            </a:extLst>
          </p:cNvPr>
          <p:cNvCxnSpPr/>
          <p:nvPr/>
        </p:nvCxnSpPr>
        <p:spPr>
          <a:xfrm>
            <a:off x="11197173" y="5429149"/>
            <a:ext cx="304800" cy="0"/>
          </a:xfrm>
          <a:prstGeom prst="line">
            <a:avLst/>
          </a:prstGeom>
          <a:ln w="30074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82" name="npu-ddr">
            <a:extLst>
              <a:ext uri="{FF2B5EF4-FFF2-40B4-BE49-F238E27FC236}">
                <a16:creationId xmlns:a16="http://schemas.microsoft.com/office/drawing/2014/main" id="{FB80ED40-BAAF-4226-9008-6837C3A99E7A}"/>
              </a:ext>
            </a:extLst>
          </p:cNvPr>
          <p:cNvSpPr/>
          <p:nvPr/>
        </p:nvSpPr>
        <p:spPr>
          <a:xfrm>
            <a:off x="7336373" y="2008616"/>
            <a:ext cx="2980267" cy="2573867"/>
          </a:xfrm>
          <a:custGeom>
            <a:avLst/>
            <a:gdLst/>
            <a:ahLst/>
            <a:cxnLst/>
            <a:rect l="0" t="0" r="r" b="b"/>
            <a:pathLst>
              <a:path w="7152640" h="6177280" fill="none">
                <a:moveTo>
                  <a:pt x="0" y="0"/>
                </a:moveTo>
                <a:lnTo>
                  <a:pt x="422656" y="0"/>
                </a:lnTo>
                <a:lnTo>
                  <a:pt x="422656" y="812800"/>
                </a:lnTo>
                <a:lnTo>
                  <a:pt x="7152640" y="812800"/>
                </a:lnTo>
                <a:lnTo>
                  <a:pt x="7152640" y="5795264"/>
                </a:lnTo>
                <a:lnTo>
                  <a:pt x="3088640" y="5795264"/>
                </a:lnTo>
                <a:lnTo>
                  <a:pt x="3088640" y="617728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3" name="object-310: S1">
            <a:extLst>
              <a:ext uri="{FF2B5EF4-FFF2-40B4-BE49-F238E27FC236}">
                <a16:creationId xmlns:a16="http://schemas.microsoft.com/office/drawing/2014/main" id="{B3EEB8C6-B551-4571-8D04-0BFFECAC5804}"/>
              </a:ext>
            </a:extLst>
          </p:cNvPr>
          <p:cNvSpPr txBox="1"/>
          <p:nvPr/>
        </p:nvSpPr>
        <p:spPr>
          <a:xfrm>
            <a:off x="10335403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84" name="frame-ddr">
            <a:extLst>
              <a:ext uri="{FF2B5EF4-FFF2-40B4-BE49-F238E27FC236}">
                <a16:creationId xmlns:a16="http://schemas.microsoft.com/office/drawing/2014/main" id="{E5E5128B-5402-4BCE-B3A0-FCDD33B08E55}"/>
              </a:ext>
            </a:extLst>
          </p:cNvPr>
          <p:cNvSpPr/>
          <p:nvPr/>
        </p:nvSpPr>
        <p:spPr>
          <a:xfrm>
            <a:off x="9652853" y="1940882"/>
            <a:ext cx="1154853" cy="2641600"/>
          </a:xfrm>
          <a:custGeom>
            <a:avLst/>
            <a:gdLst/>
            <a:ahLst/>
            <a:cxnLst/>
            <a:rect l="0" t="0" r="r" b="b"/>
            <a:pathLst>
              <a:path w="2771648" h="6339840" fill="none">
                <a:moveTo>
                  <a:pt x="2771648" y="0"/>
                </a:moveTo>
                <a:lnTo>
                  <a:pt x="2771648" y="5648960"/>
                </a:lnTo>
                <a:lnTo>
                  <a:pt x="211328" y="5648960"/>
                </a:lnTo>
                <a:lnTo>
                  <a:pt x="211328" y="5852160"/>
                </a:lnTo>
                <a:cubicBezTo>
                  <a:pt x="0" y="5852160"/>
                  <a:pt x="0" y="6063488"/>
                  <a:pt x="211328" y="6063488"/>
                </a:cubicBezTo>
                <a:lnTo>
                  <a:pt x="211328" y="633984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5" name="object-312: S2">
            <a:extLst>
              <a:ext uri="{FF2B5EF4-FFF2-40B4-BE49-F238E27FC236}">
                <a16:creationId xmlns:a16="http://schemas.microsoft.com/office/drawing/2014/main" id="{01D1F55A-B4CA-4E35-800C-B965DD7951D0}"/>
              </a:ext>
            </a:extLst>
          </p:cNvPr>
          <p:cNvSpPr txBox="1"/>
          <p:nvPr/>
        </p:nvSpPr>
        <p:spPr>
          <a:xfrm>
            <a:off x="10829857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86" name="llc-ddr">
            <a:extLst>
              <a:ext uri="{FF2B5EF4-FFF2-40B4-BE49-F238E27FC236}">
                <a16:creationId xmlns:a16="http://schemas.microsoft.com/office/drawing/2014/main" id="{3E65ED82-8080-42FA-9917-8246D4DD099C}"/>
              </a:ext>
            </a:extLst>
          </p:cNvPr>
          <p:cNvSpPr/>
          <p:nvPr/>
        </p:nvSpPr>
        <p:spPr>
          <a:xfrm>
            <a:off x="4019852" y="4189645"/>
            <a:ext cx="3485848" cy="392853"/>
          </a:xfrm>
          <a:custGeom>
            <a:avLst/>
            <a:gdLst/>
            <a:ahLst/>
            <a:cxnLst/>
            <a:rect l="0" t="0" r="r" b="b"/>
            <a:pathLst>
              <a:path w="3485848" h="392853" fill="none">
                <a:moveTo>
                  <a:pt x="0" y="0"/>
                </a:moveTo>
                <a:lnTo>
                  <a:pt x="0" y="98213"/>
                </a:lnTo>
                <a:lnTo>
                  <a:pt x="3485848" y="98213"/>
                </a:lnTo>
                <a:lnTo>
                  <a:pt x="3485848" y="392853"/>
                </a:lnTo>
              </a:path>
            </a:pathLst>
          </a:custGeom>
          <a:noFill/>
          <a:ln w="29261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7" name="object-314: S0 · LLC 外存出口">
            <a:extLst>
              <a:ext uri="{FF2B5EF4-FFF2-40B4-BE49-F238E27FC236}">
                <a16:creationId xmlns:a16="http://schemas.microsoft.com/office/drawing/2014/main" id="{A2D3314B-A256-4C9F-8B9C-4E5FEC08A435}"/>
              </a:ext>
            </a:extLst>
          </p:cNvPr>
          <p:cNvSpPr txBox="1"/>
          <p:nvPr/>
        </p:nvSpPr>
        <p:spPr>
          <a:xfrm>
            <a:off x="7586564" y="4443954"/>
            <a:ext cx="718146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S0 · LLC </a:t>
            </a:r>
            <a:r>
              <a:rPr sz="7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外存出口</a:t>
            </a:r>
            <a:endParaRPr sz="7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88" name="clock-reset">
            <a:extLst>
              <a:ext uri="{FF2B5EF4-FFF2-40B4-BE49-F238E27FC236}">
                <a16:creationId xmlns:a16="http://schemas.microsoft.com/office/drawing/2014/main" id="{3D09B2BE-3605-4AB1-AAA7-2A5B66D33C22}"/>
              </a:ext>
            </a:extLst>
          </p:cNvPr>
          <p:cNvSpPr/>
          <p:nvPr/>
        </p:nvSpPr>
        <p:spPr>
          <a:xfrm>
            <a:off x="7200906" y="5937149"/>
            <a:ext cx="1778000" cy="25061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9" name="object-316: PLL / 时钟与复位分发">
            <a:extLst>
              <a:ext uri="{FF2B5EF4-FFF2-40B4-BE49-F238E27FC236}">
                <a16:creationId xmlns:a16="http://schemas.microsoft.com/office/drawing/2014/main" id="{6A5FCA8E-0944-4F72-B8B8-C6A7FBEA7689}"/>
              </a:ext>
            </a:extLst>
          </p:cNvPr>
          <p:cNvSpPr txBox="1"/>
          <p:nvPr/>
        </p:nvSpPr>
        <p:spPr>
          <a:xfrm>
            <a:off x="7465582" y="5993384"/>
            <a:ext cx="1130118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</a:t>
            </a:r>
            <a:r>
              <a:rPr sz="9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时钟与复位分发</a:t>
            </a:r>
            <a:endParaRPr sz="9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0" name="cfg-tag-C1-316">
            <a:extLst>
              <a:ext uri="{FF2B5EF4-FFF2-40B4-BE49-F238E27FC236}">
                <a16:creationId xmlns:a16="http://schemas.microsoft.com/office/drawing/2014/main" id="{608D59C5-D287-42EC-B634-60C52FF30DB7}"/>
              </a:ext>
            </a:extLst>
          </p:cNvPr>
          <p:cNvSpPr/>
          <p:nvPr/>
        </p:nvSpPr>
        <p:spPr>
          <a:xfrm>
            <a:off x="8738453" y="60082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1" name="object-318: C1">
            <a:extLst>
              <a:ext uri="{FF2B5EF4-FFF2-40B4-BE49-F238E27FC236}">
                <a16:creationId xmlns:a16="http://schemas.microsoft.com/office/drawing/2014/main" id="{3C2E8761-8264-40FF-8732-418504C9E1D8}"/>
              </a:ext>
            </a:extLst>
          </p:cNvPr>
          <p:cNvSpPr txBox="1"/>
          <p:nvPr/>
        </p:nvSpPr>
        <p:spPr>
          <a:xfrm>
            <a:off x="8768347" y="60096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2" name="object-319: RefClk / POR → clk_i / rst_ni">
            <a:extLst>
              <a:ext uri="{FF2B5EF4-FFF2-40B4-BE49-F238E27FC236}">
                <a16:creationId xmlns:a16="http://schemas.microsoft.com/office/drawing/2014/main" id="{D8F8F012-DECA-4F8B-822D-A1D9708813E2}"/>
              </a:ext>
            </a:extLst>
          </p:cNvPr>
          <p:cNvSpPr txBox="1"/>
          <p:nvPr/>
        </p:nvSpPr>
        <p:spPr>
          <a:xfrm>
            <a:off x="9020878" y="5983396"/>
            <a:ext cx="13673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POR →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clk_i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rst_ni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3" name="regext-control-bus">
            <a:extLst>
              <a:ext uri="{FF2B5EF4-FFF2-40B4-BE49-F238E27FC236}">
                <a16:creationId xmlns:a16="http://schemas.microsoft.com/office/drawing/2014/main" id="{339E25D4-6A77-471F-8203-9B620A43C384}"/>
              </a:ext>
            </a:extLst>
          </p:cNvPr>
          <p:cNvSpPr/>
          <p:nvPr/>
        </p:nvSpPr>
        <p:spPr>
          <a:xfrm>
            <a:off x="6591307" y="5818616"/>
            <a:ext cx="270933" cy="457200"/>
          </a:xfrm>
          <a:custGeom>
            <a:avLst/>
            <a:gdLst/>
            <a:ahLst/>
            <a:cxnLst/>
            <a:rect l="0" t="0" r="r" b="b"/>
            <a:pathLst>
              <a:path w="650240" h="1097280" fill="none">
                <a:moveTo>
                  <a:pt x="0" y="0"/>
                </a:moveTo>
                <a:lnTo>
                  <a:pt x="650240" y="0"/>
                </a:lnTo>
                <a:lnTo>
                  <a:pt x="650240" y="1097280"/>
                </a:lnTo>
              </a:path>
            </a:pathLst>
          </a:custGeom>
          <a:noFill/>
          <a:ln w="22758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cxnSp>
        <p:nvCxnSpPr>
          <p:cNvPr id="1094" name="config-bus">
            <a:extLst>
              <a:ext uri="{FF2B5EF4-FFF2-40B4-BE49-F238E27FC236}">
                <a16:creationId xmlns:a16="http://schemas.microsoft.com/office/drawing/2014/main" id="{2ABB8BBC-C019-49D7-B292-98F46D703155}"/>
              </a:ext>
            </a:extLst>
          </p:cNvPr>
          <p:cNvCxnSpPr/>
          <p:nvPr/>
        </p:nvCxnSpPr>
        <p:spPr>
          <a:xfrm>
            <a:off x="792104" y="6275816"/>
            <a:ext cx="9922933" cy="0"/>
          </a:xfrm>
          <a:prstGeom prst="line">
            <a:avLst/>
          </a:prstGeom>
          <a:ln w="24384" cap="flat">
            <a:solidFill>
              <a:srgbClr val="765489"/>
            </a:solidFill>
          </a:ln>
          <a:effectLst/>
        </p:spPr>
      </p:cxnSp>
      <p:cxnSp>
        <p:nvCxnSpPr>
          <p:cNvPr id="1095" name="cfg-drop-0">
            <a:extLst>
              <a:ext uri="{FF2B5EF4-FFF2-40B4-BE49-F238E27FC236}">
                <a16:creationId xmlns:a16="http://schemas.microsoft.com/office/drawing/2014/main" id="{CAD805B9-354A-4FB9-BB78-CF45031A22BD}"/>
              </a:ext>
            </a:extLst>
          </p:cNvPr>
          <p:cNvCxnSpPr/>
          <p:nvPr/>
        </p:nvCxnSpPr>
        <p:spPr>
          <a:xfrm>
            <a:off x="8001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96" name="config-C1">
            <a:extLst>
              <a:ext uri="{FF2B5EF4-FFF2-40B4-BE49-F238E27FC236}">
                <a16:creationId xmlns:a16="http://schemas.microsoft.com/office/drawing/2014/main" id="{E27DF2D4-D194-4023-A691-62B09700BF01}"/>
              </a:ext>
            </a:extLst>
          </p:cNvPr>
          <p:cNvSpPr/>
          <p:nvPr/>
        </p:nvSpPr>
        <p:spPr>
          <a:xfrm>
            <a:off x="2413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7" name="cfg-tag-C1-323">
            <a:extLst>
              <a:ext uri="{FF2B5EF4-FFF2-40B4-BE49-F238E27FC236}">
                <a16:creationId xmlns:a16="http://schemas.microsoft.com/office/drawing/2014/main" id="{A8C1EE9E-4B46-4523-9714-4918F5521645}"/>
              </a:ext>
            </a:extLst>
          </p:cNvPr>
          <p:cNvSpPr/>
          <p:nvPr/>
        </p:nvSpPr>
        <p:spPr>
          <a:xfrm>
            <a:off x="2684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8" name="object-325: C1">
            <a:extLst>
              <a:ext uri="{FF2B5EF4-FFF2-40B4-BE49-F238E27FC236}">
                <a16:creationId xmlns:a16="http://schemas.microsoft.com/office/drawing/2014/main" id="{1BFEF553-AAD6-436F-854D-BF5BB571E514}"/>
              </a:ext>
            </a:extLst>
          </p:cNvPr>
          <p:cNvSpPr txBox="1"/>
          <p:nvPr/>
        </p:nvSpPr>
        <p:spPr>
          <a:xfrm>
            <a:off x="2982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9" name="object-326: PLL / 时钟复位">
            <a:extLst>
              <a:ext uri="{FF2B5EF4-FFF2-40B4-BE49-F238E27FC236}">
                <a16:creationId xmlns:a16="http://schemas.microsoft.com/office/drawing/2014/main" id="{20264680-1A1F-4A47-8124-0FA5555C81B7}"/>
              </a:ext>
            </a:extLst>
          </p:cNvPr>
          <p:cNvSpPr txBox="1"/>
          <p:nvPr/>
        </p:nvSpPr>
        <p:spPr>
          <a:xfrm>
            <a:off x="535318" y="6404509"/>
            <a:ext cx="6989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时钟复位</a:t>
            </a:r>
          </a:p>
        </p:txBody>
      </p:sp>
      <p:sp>
        <p:nvSpPr>
          <p:cNvPr id="1100" name="object-327: 配置 / 锁定 / 切换">
            <a:extLst>
              <a:ext uri="{FF2B5EF4-FFF2-40B4-BE49-F238E27FC236}">
                <a16:creationId xmlns:a16="http://schemas.microsoft.com/office/drawing/2014/main" id="{23F1FE3D-28E6-44FD-84BD-614EB485E196}"/>
              </a:ext>
            </a:extLst>
          </p:cNvPr>
          <p:cNvSpPr txBox="1"/>
          <p:nvPr/>
        </p:nvSpPr>
        <p:spPr>
          <a:xfrm>
            <a:off x="4446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配置 / 锁定 / 切换</a:t>
            </a:r>
          </a:p>
        </p:txBody>
      </p:sp>
      <p:cxnSp>
        <p:nvCxnSpPr>
          <p:cNvPr id="1101" name="cfg-drop-1">
            <a:extLst>
              <a:ext uri="{FF2B5EF4-FFF2-40B4-BE49-F238E27FC236}">
                <a16:creationId xmlns:a16="http://schemas.microsoft.com/office/drawing/2014/main" id="{D9FE6EA3-93DA-43CE-A4E2-86446BDA771F}"/>
              </a:ext>
            </a:extLst>
          </p:cNvPr>
          <p:cNvCxnSpPr/>
          <p:nvPr/>
        </p:nvCxnSpPr>
        <p:spPr>
          <a:xfrm>
            <a:off x="20362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2" name="config-C2">
            <a:extLst>
              <a:ext uri="{FF2B5EF4-FFF2-40B4-BE49-F238E27FC236}">
                <a16:creationId xmlns:a16="http://schemas.microsoft.com/office/drawing/2014/main" id="{C19DDEDD-04A8-4E8E-8EB9-8C2B127698F1}"/>
              </a:ext>
            </a:extLst>
          </p:cNvPr>
          <p:cNvSpPr/>
          <p:nvPr/>
        </p:nvSpPr>
        <p:spPr>
          <a:xfrm>
            <a:off x="14774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3" name="cfg-tag-C2-329">
            <a:extLst>
              <a:ext uri="{FF2B5EF4-FFF2-40B4-BE49-F238E27FC236}">
                <a16:creationId xmlns:a16="http://schemas.microsoft.com/office/drawing/2014/main" id="{C6B67E79-B004-4BD6-BFCD-4BE0E12193A6}"/>
              </a:ext>
            </a:extLst>
          </p:cNvPr>
          <p:cNvSpPr/>
          <p:nvPr/>
        </p:nvSpPr>
        <p:spPr>
          <a:xfrm>
            <a:off x="15045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4" name="object-331: C2">
            <a:extLst>
              <a:ext uri="{FF2B5EF4-FFF2-40B4-BE49-F238E27FC236}">
                <a16:creationId xmlns:a16="http://schemas.microsoft.com/office/drawing/2014/main" id="{72633FEC-BFD3-41E8-8393-EF144745AA0C}"/>
              </a:ext>
            </a:extLst>
          </p:cNvPr>
          <p:cNvSpPr txBox="1"/>
          <p:nvPr/>
        </p:nvSpPr>
        <p:spPr>
          <a:xfrm>
            <a:off x="15344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105" name="object-332: DDR Controller">
            <a:extLst>
              <a:ext uri="{FF2B5EF4-FFF2-40B4-BE49-F238E27FC236}">
                <a16:creationId xmlns:a16="http://schemas.microsoft.com/office/drawing/2014/main" id="{146DCDAF-2610-42D5-B69A-E8CFBE1960E6}"/>
              </a:ext>
            </a:extLst>
          </p:cNvPr>
          <p:cNvSpPr txBox="1"/>
          <p:nvPr/>
        </p:nvSpPr>
        <p:spPr>
          <a:xfrm>
            <a:off x="1728171" y="6404509"/>
            <a:ext cx="7854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</a:t>
            </a:r>
          </a:p>
        </p:txBody>
      </p:sp>
      <p:sp>
        <p:nvSpPr>
          <p:cNvPr id="1106" name="object-333: 初始化 / QoS / 状态">
            <a:extLst>
              <a:ext uri="{FF2B5EF4-FFF2-40B4-BE49-F238E27FC236}">
                <a16:creationId xmlns:a16="http://schemas.microsoft.com/office/drawing/2014/main" id="{9149974A-003B-4CD3-A8EF-1EE8ECF42464}"/>
              </a:ext>
            </a:extLst>
          </p:cNvPr>
          <p:cNvSpPr txBox="1"/>
          <p:nvPr/>
        </p:nvSpPr>
        <p:spPr>
          <a:xfrm>
            <a:off x="1634249" y="6543904"/>
            <a:ext cx="81753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初始化 / QoS / 状态</a:t>
            </a:r>
          </a:p>
        </p:txBody>
      </p:sp>
      <p:cxnSp>
        <p:nvCxnSpPr>
          <p:cNvPr id="1107" name="cfg-drop-2">
            <a:extLst>
              <a:ext uri="{FF2B5EF4-FFF2-40B4-BE49-F238E27FC236}">
                <a16:creationId xmlns:a16="http://schemas.microsoft.com/office/drawing/2014/main" id="{9F4659C3-075D-4ED0-936E-DE6A6EC549DA}"/>
              </a:ext>
            </a:extLst>
          </p:cNvPr>
          <p:cNvCxnSpPr/>
          <p:nvPr/>
        </p:nvCxnSpPr>
        <p:spPr>
          <a:xfrm>
            <a:off x="32723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8" name="config-C3">
            <a:extLst>
              <a:ext uri="{FF2B5EF4-FFF2-40B4-BE49-F238E27FC236}">
                <a16:creationId xmlns:a16="http://schemas.microsoft.com/office/drawing/2014/main" id="{FD1CC228-3931-43A7-986E-2A89CFC4BB36}"/>
              </a:ext>
            </a:extLst>
          </p:cNvPr>
          <p:cNvSpPr/>
          <p:nvPr/>
        </p:nvSpPr>
        <p:spPr>
          <a:xfrm>
            <a:off x="27135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9" name="cfg-tag-C3-335">
            <a:extLst>
              <a:ext uri="{FF2B5EF4-FFF2-40B4-BE49-F238E27FC236}">
                <a16:creationId xmlns:a16="http://schemas.microsoft.com/office/drawing/2014/main" id="{8EF30D5B-7E74-4F8A-AA6F-A99B62074254}"/>
              </a:ext>
            </a:extLst>
          </p:cNvPr>
          <p:cNvSpPr/>
          <p:nvPr/>
        </p:nvSpPr>
        <p:spPr>
          <a:xfrm>
            <a:off x="27406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0" name="object-337: C3">
            <a:extLst>
              <a:ext uri="{FF2B5EF4-FFF2-40B4-BE49-F238E27FC236}">
                <a16:creationId xmlns:a16="http://schemas.microsoft.com/office/drawing/2014/main" id="{E97C60F1-2A4A-45B8-B8F5-7B67D2BFAFAC}"/>
              </a:ext>
            </a:extLst>
          </p:cNvPr>
          <p:cNvSpPr txBox="1"/>
          <p:nvPr/>
        </p:nvSpPr>
        <p:spPr>
          <a:xfrm>
            <a:off x="27705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111" name="object-338: DDR PHY">
            <a:extLst>
              <a:ext uri="{FF2B5EF4-FFF2-40B4-BE49-F238E27FC236}">
                <a16:creationId xmlns:a16="http://schemas.microsoft.com/office/drawing/2014/main" id="{2E0ECAF8-EC7A-4742-9A65-E1BECD00A38C}"/>
              </a:ext>
            </a:extLst>
          </p:cNvPr>
          <p:cNvSpPr txBox="1"/>
          <p:nvPr/>
        </p:nvSpPr>
        <p:spPr>
          <a:xfrm>
            <a:off x="3114185" y="6404509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112" name="object-339: training / 校准">
            <a:extLst>
              <a:ext uri="{FF2B5EF4-FFF2-40B4-BE49-F238E27FC236}">
                <a16:creationId xmlns:a16="http://schemas.microsoft.com/office/drawing/2014/main" id="{A6253C34-1AFB-4DF2-83A8-93EB61B5382B}"/>
              </a:ext>
            </a:extLst>
          </p:cNvPr>
          <p:cNvSpPr txBox="1"/>
          <p:nvPr/>
        </p:nvSpPr>
        <p:spPr>
          <a:xfrm>
            <a:off x="2975377" y="6543904"/>
            <a:ext cx="60753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training / 校准</a:t>
            </a:r>
          </a:p>
        </p:txBody>
      </p:sp>
      <p:cxnSp>
        <p:nvCxnSpPr>
          <p:cNvPr id="1113" name="cfg-drop-3">
            <a:extLst>
              <a:ext uri="{FF2B5EF4-FFF2-40B4-BE49-F238E27FC236}">
                <a16:creationId xmlns:a16="http://schemas.microsoft.com/office/drawing/2014/main" id="{EDF949C6-8B1D-4275-B85D-63BEABF3CA6E}"/>
              </a:ext>
            </a:extLst>
          </p:cNvPr>
          <p:cNvCxnSpPr/>
          <p:nvPr/>
        </p:nvCxnSpPr>
        <p:spPr>
          <a:xfrm>
            <a:off x="45085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14" name="config-C4">
            <a:extLst>
              <a:ext uri="{FF2B5EF4-FFF2-40B4-BE49-F238E27FC236}">
                <a16:creationId xmlns:a16="http://schemas.microsoft.com/office/drawing/2014/main" id="{D26B22F7-FB78-4AC7-97CA-8A49905BABD9}"/>
              </a:ext>
            </a:extLst>
          </p:cNvPr>
          <p:cNvSpPr/>
          <p:nvPr/>
        </p:nvSpPr>
        <p:spPr>
          <a:xfrm>
            <a:off x="39497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5" name="cfg-tag-C4-341">
            <a:extLst>
              <a:ext uri="{FF2B5EF4-FFF2-40B4-BE49-F238E27FC236}">
                <a16:creationId xmlns:a16="http://schemas.microsoft.com/office/drawing/2014/main" id="{0773182D-DD7F-4403-AD3B-10A85AE1AECF}"/>
              </a:ext>
            </a:extLst>
          </p:cNvPr>
          <p:cNvSpPr/>
          <p:nvPr/>
        </p:nvSpPr>
        <p:spPr>
          <a:xfrm>
            <a:off x="39768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6" name="object-343: C4">
            <a:extLst>
              <a:ext uri="{FF2B5EF4-FFF2-40B4-BE49-F238E27FC236}">
                <a16:creationId xmlns:a16="http://schemas.microsoft.com/office/drawing/2014/main" id="{DBFC0F46-618F-429F-82FE-2FE71B4A04FE}"/>
              </a:ext>
            </a:extLst>
          </p:cNvPr>
          <p:cNvSpPr txBox="1"/>
          <p:nvPr/>
        </p:nvSpPr>
        <p:spPr>
          <a:xfrm>
            <a:off x="40066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117" name="object-344: LVDS">
            <a:extLst>
              <a:ext uri="{FF2B5EF4-FFF2-40B4-BE49-F238E27FC236}">
                <a16:creationId xmlns:a16="http://schemas.microsoft.com/office/drawing/2014/main" id="{0D1CDD66-F4C5-4BB7-B087-7D983702C474}"/>
              </a:ext>
            </a:extLst>
          </p:cNvPr>
          <p:cNvSpPr txBox="1"/>
          <p:nvPr/>
        </p:nvSpPr>
        <p:spPr>
          <a:xfrm>
            <a:off x="4456116" y="6404509"/>
            <a:ext cx="27411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118" name="object-345: 通道 / 对齐 / 帧行">
            <a:extLst>
              <a:ext uri="{FF2B5EF4-FFF2-40B4-BE49-F238E27FC236}">
                <a16:creationId xmlns:a16="http://schemas.microsoft.com/office/drawing/2014/main" id="{4B5E9C71-3E3D-4B23-A84C-D78C2FB50C98}"/>
              </a:ext>
            </a:extLst>
          </p:cNvPr>
          <p:cNvSpPr txBox="1"/>
          <p:nvPr/>
        </p:nvSpPr>
        <p:spPr>
          <a:xfrm>
            <a:off x="41530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通道 / 对齐 / 帧行</a:t>
            </a:r>
          </a:p>
        </p:txBody>
      </p:sp>
      <p:cxnSp>
        <p:nvCxnSpPr>
          <p:cNvPr id="1119" name="cfg-drop-4">
            <a:extLst>
              <a:ext uri="{FF2B5EF4-FFF2-40B4-BE49-F238E27FC236}">
                <a16:creationId xmlns:a16="http://schemas.microsoft.com/office/drawing/2014/main" id="{9F9FC02E-13E1-44FE-9C45-C8834DC7F3CC}"/>
              </a:ext>
            </a:extLst>
          </p:cNvPr>
          <p:cNvCxnSpPr/>
          <p:nvPr/>
        </p:nvCxnSpPr>
        <p:spPr>
          <a:xfrm>
            <a:off x="57446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0" name="config-C5">
            <a:extLst>
              <a:ext uri="{FF2B5EF4-FFF2-40B4-BE49-F238E27FC236}">
                <a16:creationId xmlns:a16="http://schemas.microsoft.com/office/drawing/2014/main" id="{6CC1B4D8-D42D-4752-8341-6749419CB23B}"/>
              </a:ext>
            </a:extLst>
          </p:cNvPr>
          <p:cNvSpPr/>
          <p:nvPr/>
        </p:nvSpPr>
        <p:spPr>
          <a:xfrm>
            <a:off x="51858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1" name="cfg-tag-C5-347">
            <a:extLst>
              <a:ext uri="{FF2B5EF4-FFF2-40B4-BE49-F238E27FC236}">
                <a16:creationId xmlns:a16="http://schemas.microsoft.com/office/drawing/2014/main" id="{A611B66C-ACA7-4148-9C97-B9F2439318A7}"/>
              </a:ext>
            </a:extLst>
          </p:cNvPr>
          <p:cNvSpPr/>
          <p:nvPr/>
        </p:nvSpPr>
        <p:spPr>
          <a:xfrm>
            <a:off x="52129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2" name="object-349: C5">
            <a:extLst>
              <a:ext uri="{FF2B5EF4-FFF2-40B4-BE49-F238E27FC236}">
                <a16:creationId xmlns:a16="http://schemas.microsoft.com/office/drawing/2014/main" id="{F249507D-7BC5-45DD-AA2A-9412FE14F819}"/>
              </a:ext>
            </a:extLst>
          </p:cNvPr>
          <p:cNvSpPr txBox="1"/>
          <p:nvPr/>
        </p:nvSpPr>
        <p:spPr>
          <a:xfrm>
            <a:off x="52428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123" name="object-350: ISP">
            <a:extLst>
              <a:ext uri="{FF2B5EF4-FFF2-40B4-BE49-F238E27FC236}">
                <a16:creationId xmlns:a16="http://schemas.microsoft.com/office/drawing/2014/main" id="{E950D680-F0F9-4E72-B321-DEC64A50C971}"/>
              </a:ext>
            </a:extLst>
          </p:cNvPr>
          <p:cNvSpPr txBox="1"/>
          <p:nvPr/>
        </p:nvSpPr>
        <p:spPr>
          <a:xfrm>
            <a:off x="5747554" y="6404509"/>
            <a:ext cx="1635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124" name="object-351: 尺寸 / 模式 / 参数">
            <a:extLst>
              <a:ext uri="{FF2B5EF4-FFF2-40B4-BE49-F238E27FC236}">
                <a16:creationId xmlns:a16="http://schemas.microsoft.com/office/drawing/2014/main" id="{177F98E4-B409-41CC-A0A8-6623314AE70B}"/>
              </a:ext>
            </a:extLst>
          </p:cNvPr>
          <p:cNvSpPr txBox="1"/>
          <p:nvPr/>
        </p:nvSpPr>
        <p:spPr>
          <a:xfrm>
            <a:off x="5389136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尺寸 / 模式 / 参数</a:t>
            </a:r>
          </a:p>
        </p:txBody>
      </p:sp>
      <p:cxnSp>
        <p:nvCxnSpPr>
          <p:cNvPr id="1125" name="cfg-drop-5">
            <a:extLst>
              <a:ext uri="{FF2B5EF4-FFF2-40B4-BE49-F238E27FC236}">
                <a16:creationId xmlns:a16="http://schemas.microsoft.com/office/drawing/2014/main" id="{4B45D672-F8C3-4DEB-8A55-2083B679E3A7}"/>
              </a:ext>
            </a:extLst>
          </p:cNvPr>
          <p:cNvCxnSpPr/>
          <p:nvPr/>
        </p:nvCxnSpPr>
        <p:spPr>
          <a:xfrm>
            <a:off x="69807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6" name="config-C6">
            <a:extLst>
              <a:ext uri="{FF2B5EF4-FFF2-40B4-BE49-F238E27FC236}">
                <a16:creationId xmlns:a16="http://schemas.microsoft.com/office/drawing/2014/main" id="{278353F7-804D-45E5-91B5-6EB9B7206E50}"/>
              </a:ext>
            </a:extLst>
          </p:cNvPr>
          <p:cNvSpPr/>
          <p:nvPr/>
        </p:nvSpPr>
        <p:spPr>
          <a:xfrm>
            <a:off x="64219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7" name="cfg-tag-C6-353">
            <a:extLst>
              <a:ext uri="{FF2B5EF4-FFF2-40B4-BE49-F238E27FC236}">
                <a16:creationId xmlns:a16="http://schemas.microsoft.com/office/drawing/2014/main" id="{CDAA4FF4-2C89-4F48-BD32-CC624BA772E7}"/>
              </a:ext>
            </a:extLst>
          </p:cNvPr>
          <p:cNvSpPr/>
          <p:nvPr/>
        </p:nvSpPr>
        <p:spPr>
          <a:xfrm>
            <a:off x="64490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8" name="object-355: C6">
            <a:extLst>
              <a:ext uri="{FF2B5EF4-FFF2-40B4-BE49-F238E27FC236}">
                <a16:creationId xmlns:a16="http://schemas.microsoft.com/office/drawing/2014/main" id="{C65DB061-DE1D-4CAC-B13F-FFA1F5AC5025}"/>
              </a:ext>
            </a:extLst>
          </p:cNvPr>
          <p:cNvSpPr txBox="1"/>
          <p:nvPr/>
        </p:nvSpPr>
        <p:spPr>
          <a:xfrm>
            <a:off x="64789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129" name="object-356: NPU 计算">
            <a:extLst>
              <a:ext uri="{FF2B5EF4-FFF2-40B4-BE49-F238E27FC236}">
                <a16:creationId xmlns:a16="http://schemas.microsoft.com/office/drawing/2014/main" id="{D045C092-FDBE-4A50-AC65-C3106883E7E7}"/>
              </a:ext>
            </a:extLst>
          </p:cNvPr>
          <p:cNvSpPr txBox="1"/>
          <p:nvPr/>
        </p:nvSpPr>
        <p:spPr>
          <a:xfrm>
            <a:off x="6830600" y="6404509"/>
            <a:ext cx="4696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</a:t>
            </a:r>
          </a:p>
        </p:txBody>
      </p:sp>
      <p:sp>
        <p:nvSpPr>
          <p:cNvPr id="1130" name="object-357: 命令 / GB 数据位置">
            <a:extLst>
              <a:ext uri="{FF2B5EF4-FFF2-40B4-BE49-F238E27FC236}">
                <a16:creationId xmlns:a16="http://schemas.microsoft.com/office/drawing/2014/main" id="{7B517796-5D95-4836-A1C9-5EDEF9DDC026}"/>
              </a:ext>
            </a:extLst>
          </p:cNvPr>
          <p:cNvSpPr txBox="1"/>
          <p:nvPr/>
        </p:nvSpPr>
        <p:spPr>
          <a:xfrm>
            <a:off x="6596414" y="6543904"/>
            <a:ext cx="78226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 / GB 数据位置</a:t>
            </a:r>
          </a:p>
        </p:txBody>
      </p:sp>
      <p:cxnSp>
        <p:nvCxnSpPr>
          <p:cNvPr id="1131" name="cfg-drop-6">
            <a:extLst>
              <a:ext uri="{FF2B5EF4-FFF2-40B4-BE49-F238E27FC236}">
                <a16:creationId xmlns:a16="http://schemas.microsoft.com/office/drawing/2014/main" id="{2B85502C-86A5-4AA9-8C98-89E2660FD7CC}"/>
              </a:ext>
            </a:extLst>
          </p:cNvPr>
          <p:cNvCxnSpPr/>
          <p:nvPr/>
        </p:nvCxnSpPr>
        <p:spPr>
          <a:xfrm>
            <a:off x="82169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2" name="config-C7">
            <a:extLst>
              <a:ext uri="{FF2B5EF4-FFF2-40B4-BE49-F238E27FC236}">
                <a16:creationId xmlns:a16="http://schemas.microsoft.com/office/drawing/2014/main" id="{7D13D4CC-8DC3-465D-8EEA-291C7B7EC648}"/>
              </a:ext>
            </a:extLst>
          </p:cNvPr>
          <p:cNvSpPr/>
          <p:nvPr/>
        </p:nvSpPr>
        <p:spPr>
          <a:xfrm>
            <a:off x="76581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3" name="cfg-tag-C7-359">
            <a:extLst>
              <a:ext uri="{FF2B5EF4-FFF2-40B4-BE49-F238E27FC236}">
                <a16:creationId xmlns:a16="http://schemas.microsoft.com/office/drawing/2014/main" id="{6F73B46A-D6FB-4818-BFB5-448203DB466A}"/>
              </a:ext>
            </a:extLst>
          </p:cNvPr>
          <p:cNvSpPr/>
          <p:nvPr/>
        </p:nvSpPr>
        <p:spPr>
          <a:xfrm>
            <a:off x="76852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4" name="object-361: C7">
            <a:extLst>
              <a:ext uri="{FF2B5EF4-FFF2-40B4-BE49-F238E27FC236}">
                <a16:creationId xmlns:a16="http://schemas.microsoft.com/office/drawing/2014/main" id="{00F37390-1D4A-40CC-8738-1614EE58ECB1}"/>
              </a:ext>
            </a:extLst>
          </p:cNvPr>
          <p:cNvSpPr txBox="1"/>
          <p:nvPr/>
        </p:nvSpPr>
        <p:spPr>
          <a:xfrm>
            <a:off x="77150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135" name="object-362: NPU / GB 搬运">
            <a:extLst>
              <a:ext uri="{FF2B5EF4-FFF2-40B4-BE49-F238E27FC236}">
                <a16:creationId xmlns:a16="http://schemas.microsoft.com/office/drawing/2014/main" id="{3397B153-B8D6-4FE1-871C-9063CEEAC31E}"/>
              </a:ext>
            </a:extLst>
          </p:cNvPr>
          <p:cNvSpPr txBox="1"/>
          <p:nvPr/>
        </p:nvSpPr>
        <p:spPr>
          <a:xfrm>
            <a:off x="7937692" y="6404509"/>
            <a:ext cx="7277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sp>
        <p:nvSpPr>
          <p:cNvPr id="1136" name="object-363: 地址 / 长度 / stride">
            <a:extLst>
              <a:ext uri="{FF2B5EF4-FFF2-40B4-BE49-F238E27FC236}">
                <a16:creationId xmlns:a16="http://schemas.microsoft.com/office/drawing/2014/main" id="{46463D2C-7540-40D6-B1D7-5547CEA3990E}"/>
              </a:ext>
            </a:extLst>
          </p:cNvPr>
          <p:cNvSpPr txBox="1"/>
          <p:nvPr/>
        </p:nvSpPr>
        <p:spPr>
          <a:xfrm>
            <a:off x="7830144" y="6543904"/>
            <a:ext cx="7870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长度 / stride</a:t>
            </a:r>
          </a:p>
        </p:txBody>
      </p:sp>
      <p:cxnSp>
        <p:nvCxnSpPr>
          <p:cNvPr id="1137" name="cfg-drop-7">
            <a:extLst>
              <a:ext uri="{FF2B5EF4-FFF2-40B4-BE49-F238E27FC236}">
                <a16:creationId xmlns:a16="http://schemas.microsoft.com/office/drawing/2014/main" id="{29684AB7-0E4B-4CA2-ACA9-F9FC9F188213}"/>
              </a:ext>
            </a:extLst>
          </p:cNvPr>
          <p:cNvCxnSpPr/>
          <p:nvPr/>
        </p:nvCxnSpPr>
        <p:spPr>
          <a:xfrm>
            <a:off x="94530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8" name="config-C8">
            <a:extLst>
              <a:ext uri="{FF2B5EF4-FFF2-40B4-BE49-F238E27FC236}">
                <a16:creationId xmlns:a16="http://schemas.microsoft.com/office/drawing/2014/main" id="{2ED4E969-B01E-4966-8634-48D96A8D3A41}"/>
              </a:ext>
            </a:extLst>
          </p:cNvPr>
          <p:cNvSpPr/>
          <p:nvPr/>
        </p:nvSpPr>
        <p:spPr>
          <a:xfrm>
            <a:off x="88942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9" name="cfg-tag-C8-365">
            <a:extLst>
              <a:ext uri="{FF2B5EF4-FFF2-40B4-BE49-F238E27FC236}">
                <a16:creationId xmlns:a16="http://schemas.microsoft.com/office/drawing/2014/main" id="{EBCB35F8-0CD4-49B4-A763-33747BA3C3CD}"/>
              </a:ext>
            </a:extLst>
          </p:cNvPr>
          <p:cNvSpPr/>
          <p:nvPr/>
        </p:nvSpPr>
        <p:spPr>
          <a:xfrm>
            <a:off x="89213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0" name="object-367: C8">
            <a:extLst>
              <a:ext uri="{FF2B5EF4-FFF2-40B4-BE49-F238E27FC236}">
                <a16:creationId xmlns:a16="http://schemas.microsoft.com/office/drawing/2014/main" id="{E4E4DBFE-CDD6-4B81-A8AB-F64600ABF1A2}"/>
              </a:ext>
            </a:extLst>
          </p:cNvPr>
          <p:cNvSpPr txBox="1"/>
          <p:nvPr/>
        </p:nvSpPr>
        <p:spPr>
          <a:xfrm>
            <a:off x="89512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141" name="object-368: 帧写入 DMA">
            <a:extLst>
              <a:ext uri="{FF2B5EF4-FFF2-40B4-BE49-F238E27FC236}">
                <a16:creationId xmlns:a16="http://schemas.microsoft.com/office/drawing/2014/main" id="{CD7E6EE8-0973-4492-A197-613D4F6E6033}"/>
              </a:ext>
            </a:extLst>
          </p:cNvPr>
          <p:cNvSpPr txBox="1"/>
          <p:nvPr/>
        </p:nvSpPr>
        <p:spPr>
          <a:xfrm>
            <a:off x="9236342" y="6404509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1142" name="object-369: 缓冲区 / 格式 / 帧状态">
            <a:extLst>
              <a:ext uri="{FF2B5EF4-FFF2-40B4-BE49-F238E27FC236}">
                <a16:creationId xmlns:a16="http://schemas.microsoft.com/office/drawing/2014/main" id="{E2AE1912-A727-41EC-A486-B189C52CE142}"/>
              </a:ext>
            </a:extLst>
          </p:cNvPr>
          <p:cNvSpPr txBox="1"/>
          <p:nvPr/>
        </p:nvSpPr>
        <p:spPr>
          <a:xfrm>
            <a:off x="9007767" y="6543904"/>
            <a:ext cx="90409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缓冲区 / 格式 / 帧状态</a:t>
            </a:r>
          </a:p>
        </p:txBody>
      </p:sp>
      <p:cxnSp>
        <p:nvCxnSpPr>
          <p:cNvPr id="1143" name="cfg-drop-8">
            <a:extLst>
              <a:ext uri="{FF2B5EF4-FFF2-40B4-BE49-F238E27FC236}">
                <a16:creationId xmlns:a16="http://schemas.microsoft.com/office/drawing/2014/main" id="{6D0C51E7-3698-400F-AFB6-5FFB51C09CCC}"/>
              </a:ext>
            </a:extLst>
          </p:cNvPr>
          <p:cNvCxnSpPr/>
          <p:nvPr/>
        </p:nvCxnSpPr>
        <p:spPr>
          <a:xfrm>
            <a:off x="106891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44" name="config-C9">
            <a:extLst>
              <a:ext uri="{FF2B5EF4-FFF2-40B4-BE49-F238E27FC236}">
                <a16:creationId xmlns:a16="http://schemas.microsoft.com/office/drawing/2014/main" id="{A7DE2F09-15E5-403C-A657-5883136E6BFA}"/>
              </a:ext>
            </a:extLst>
          </p:cNvPr>
          <p:cNvSpPr/>
          <p:nvPr/>
        </p:nvSpPr>
        <p:spPr>
          <a:xfrm>
            <a:off x="101303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5" name="cfg-tag-C9-371">
            <a:extLst>
              <a:ext uri="{FF2B5EF4-FFF2-40B4-BE49-F238E27FC236}">
                <a16:creationId xmlns:a16="http://schemas.microsoft.com/office/drawing/2014/main" id="{EC19E98D-C9D9-4491-BD14-FCCCDA735527}"/>
              </a:ext>
            </a:extLst>
          </p:cNvPr>
          <p:cNvSpPr/>
          <p:nvPr/>
        </p:nvSpPr>
        <p:spPr>
          <a:xfrm>
            <a:off x="101574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6" name="object-373: C9">
            <a:extLst>
              <a:ext uri="{FF2B5EF4-FFF2-40B4-BE49-F238E27FC236}">
                <a16:creationId xmlns:a16="http://schemas.microsoft.com/office/drawing/2014/main" id="{D455D383-83D7-4D67-8F24-A05F0A6276FA}"/>
              </a:ext>
            </a:extLst>
          </p:cNvPr>
          <p:cNvSpPr txBox="1"/>
          <p:nvPr/>
        </p:nvSpPr>
        <p:spPr>
          <a:xfrm>
            <a:off x="101873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147" name="object-374: GB 管理">
            <a:extLst>
              <a:ext uri="{FF2B5EF4-FFF2-40B4-BE49-F238E27FC236}">
                <a16:creationId xmlns:a16="http://schemas.microsoft.com/office/drawing/2014/main" id="{76F57F06-D237-40EB-8501-C0713759F470}"/>
              </a:ext>
            </a:extLst>
          </p:cNvPr>
          <p:cNvSpPr txBox="1"/>
          <p:nvPr/>
        </p:nvSpPr>
        <p:spPr>
          <a:xfrm>
            <a:off x="10581480" y="6404509"/>
            <a:ext cx="3847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管理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48" name="object-375: 能力 / bank / 错误">
            <a:extLst>
              <a:ext uri="{FF2B5EF4-FFF2-40B4-BE49-F238E27FC236}">
                <a16:creationId xmlns:a16="http://schemas.microsoft.com/office/drawing/2014/main" id="{DF247AB9-4297-42BE-8D18-1EDCEA92D717}"/>
              </a:ext>
            </a:extLst>
          </p:cNvPr>
          <p:cNvSpPr txBox="1"/>
          <p:nvPr/>
        </p:nvSpPr>
        <p:spPr>
          <a:xfrm>
            <a:off x="10317638" y="6543904"/>
            <a:ext cx="75661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能力 / bank / 错误</a:t>
            </a:r>
          </a:p>
        </p:txBody>
      </p:sp>
      <p:cxnSp>
        <p:nvCxnSpPr>
          <p:cNvPr id="1149" name="legend-314D66">
            <a:extLst>
              <a:ext uri="{FF2B5EF4-FFF2-40B4-BE49-F238E27FC236}">
                <a16:creationId xmlns:a16="http://schemas.microsoft.com/office/drawing/2014/main" id="{D48C70D7-F2C8-4BCA-A764-A767E03B0994}"/>
              </a:ext>
            </a:extLst>
          </p:cNvPr>
          <p:cNvCxnSpPr/>
          <p:nvPr/>
        </p:nvCxnSpPr>
        <p:spPr>
          <a:xfrm>
            <a:off x="11387290" y="2686502"/>
            <a:ext cx="22352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150" name="object-377: AXI 请求 / 数据">
            <a:extLst>
              <a:ext uri="{FF2B5EF4-FFF2-40B4-BE49-F238E27FC236}">
                <a16:creationId xmlns:a16="http://schemas.microsoft.com/office/drawing/2014/main" id="{D19FA279-B019-40A0-80F0-D37345270BC9}"/>
              </a:ext>
            </a:extLst>
          </p:cNvPr>
          <p:cNvSpPr txBox="1"/>
          <p:nvPr/>
        </p:nvSpPr>
        <p:spPr>
          <a:xfrm>
            <a:off x="11645256" y="2610385"/>
            <a:ext cx="546744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请求</a:t>
            </a:r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数据</a:t>
            </a:r>
            <a:endParaRPr sz="8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1" name="legend-187C78">
            <a:extLst>
              <a:ext uri="{FF2B5EF4-FFF2-40B4-BE49-F238E27FC236}">
                <a16:creationId xmlns:a16="http://schemas.microsoft.com/office/drawing/2014/main" id="{B8504D5C-CC0C-4D1E-9AAF-36DC929E006E}"/>
              </a:ext>
            </a:extLst>
          </p:cNvPr>
          <p:cNvCxnSpPr/>
          <p:nvPr/>
        </p:nvCxnSpPr>
        <p:spPr>
          <a:xfrm>
            <a:off x="11378364" y="2924292"/>
            <a:ext cx="223520" cy="0"/>
          </a:xfrm>
          <a:prstGeom prst="line">
            <a:avLst/>
          </a:prstGeom>
          <a:ln w="24384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152" name="object-379: GB 读写">
            <a:extLst>
              <a:ext uri="{FF2B5EF4-FFF2-40B4-BE49-F238E27FC236}">
                <a16:creationId xmlns:a16="http://schemas.microsoft.com/office/drawing/2014/main" id="{7A3B741E-CC06-4663-B3A5-906794257738}"/>
              </a:ext>
            </a:extLst>
          </p:cNvPr>
          <p:cNvSpPr txBox="1"/>
          <p:nvPr/>
        </p:nvSpPr>
        <p:spPr>
          <a:xfrm>
            <a:off x="11670460" y="2886700"/>
            <a:ext cx="414865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读写</a:t>
            </a:r>
            <a:endParaRPr sz="800" dirty="0">
              <a:solidFill>
                <a:srgbClr val="187C78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3" name="legend-B96043">
            <a:extLst>
              <a:ext uri="{FF2B5EF4-FFF2-40B4-BE49-F238E27FC236}">
                <a16:creationId xmlns:a16="http://schemas.microsoft.com/office/drawing/2014/main" id="{E895588E-BB73-4229-80C5-7F71696E9926}"/>
              </a:ext>
            </a:extLst>
          </p:cNvPr>
          <p:cNvCxnSpPr/>
          <p:nvPr/>
        </p:nvCxnSpPr>
        <p:spPr>
          <a:xfrm>
            <a:off x="11378364" y="3123357"/>
            <a:ext cx="223520" cy="0"/>
          </a:xfrm>
          <a:prstGeom prst="line">
            <a:avLst/>
          </a:prstGeom>
          <a:ln w="24384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1154" name="object-381: 像素流">
            <a:extLst>
              <a:ext uri="{FF2B5EF4-FFF2-40B4-BE49-F238E27FC236}">
                <a16:creationId xmlns:a16="http://schemas.microsoft.com/office/drawing/2014/main" id="{3D0AACF3-BEDD-45BD-BCE9-6489BC0535FE}"/>
              </a:ext>
            </a:extLst>
          </p:cNvPr>
          <p:cNvSpPr txBox="1"/>
          <p:nvPr/>
        </p:nvSpPr>
        <p:spPr>
          <a:xfrm>
            <a:off x="11653382" y="3054448"/>
            <a:ext cx="3077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800" dirty="0" err="1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  <a:endParaRPr sz="800" dirty="0">
              <a:solidFill>
                <a:srgbClr val="B96043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5" name="legend-765489">
            <a:extLst>
              <a:ext uri="{FF2B5EF4-FFF2-40B4-BE49-F238E27FC236}">
                <a16:creationId xmlns:a16="http://schemas.microsoft.com/office/drawing/2014/main" id="{FAB5FF2C-C129-45F3-A80C-C3C411708100}"/>
              </a:ext>
            </a:extLst>
          </p:cNvPr>
          <p:cNvCxnSpPr/>
          <p:nvPr/>
        </p:nvCxnSpPr>
        <p:spPr>
          <a:xfrm>
            <a:off x="11378364" y="3302850"/>
            <a:ext cx="223520" cy="0"/>
          </a:xfrm>
          <a:prstGeom prst="line">
            <a:avLst/>
          </a:prstGeom>
          <a:ln w="24384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56" name="object-383: 配置 / 控制">
            <a:extLst>
              <a:ext uri="{FF2B5EF4-FFF2-40B4-BE49-F238E27FC236}">
                <a16:creationId xmlns:a16="http://schemas.microsoft.com/office/drawing/2014/main" id="{D1F8BDB7-8760-465C-91A5-FF1CDECEDED0}"/>
              </a:ext>
            </a:extLst>
          </p:cNvPr>
          <p:cNvSpPr txBox="1"/>
          <p:nvPr/>
        </p:nvSpPr>
        <p:spPr>
          <a:xfrm>
            <a:off x="11660508" y="3244220"/>
            <a:ext cx="514564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控制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57" name="legend-dash">
            <a:extLst>
              <a:ext uri="{FF2B5EF4-FFF2-40B4-BE49-F238E27FC236}">
                <a16:creationId xmlns:a16="http://schemas.microsoft.com/office/drawing/2014/main" id="{DE0AA521-9BB8-482B-A591-AF0C06A14B81}"/>
              </a:ext>
            </a:extLst>
          </p:cNvPr>
          <p:cNvSpPr/>
          <p:nvPr/>
        </p:nvSpPr>
        <p:spPr>
          <a:xfrm>
            <a:off x="11391536" y="3484029"/>
            <a:ext cx="182880" cy="88053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58" name="object-385: 虚线：可选或新增候选">
            <a:extLst>
              <a:ext uri="{FF2B5EF4-FFF2-40B4-BE49-F238E27FC236}">
                <a16:creationId xmlns:a16="http://schemas.microsoft.com/office/drawing/2014/main" id="{4908C77F-5911-4B28-BE29-98064CB4BEB0}"/>
              </a:ext>
            </a:extLst>
          </p:cNvPr>
          <p:cNvSpPr txBox="1"/>
          <p:nvPr/>
        </p:nvSpPr>
        <p:spPr>
          <a:xfrm>
            <a:off x="11659706" y="3428900"/>
            <a:ext cx="532293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虚线：可选或新增候选</a:t>
            </a:r>
            <a:endParaRPr sz="8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200" name="filter-width-direct"/>
          <p:cNvCxnSpPr/>
          <p:nvPr/>
        </p:nvCxnSpPr>
        <p:spPr>
          <a:xfrm>
            <a:off x="2053173" y="1832661"/>
            <a:ext cx="745067" cy="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1300" name="m5-target-drop"/>
          <p:cNvCxnSpPr/>
          <p:nvPr/>
        </p:nvCxnSpPr>
        <p:spPr>
          <a:xfrm>
            <a:off x="7771795" y="3529245"/>
            <a:ext cx="0" cy="17272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301" name="gb-interface-to-controller"/>
          <p:cNvSpPr/>
          <p:nvPr/>
        </p:nvSpPr>
        <p:spPr>
          <a:xfrm>
            <a:off x="4864100" y="2161032"/>
            <a:ext cx="5092700" cy="1801368"/>
          </a:xfrm>
          <a:custGeom>
            <a:avLst/>
            <a:gdLst/>
            <a:ahLst/>
            <a:cxnLst/>
            <a:rect l="0" t="0" r="r" b="b"/>
            <a:pathLst>
              <a:path w="5092700" h="1801368" fill="none">
                <a:moveTo>
                  <a:pt x="3517295" y="1801368"/>
                </a:moveTo>
                <a:lnTo>
                  <a:pt x="3592286" y="1801368"/>
                </a:lnTo>
                <a:lnTo>
                  <a:pt x="3592286" y="1456267"/>
                </a:lnTo>
                <a:lnTo>
                  <a:pt x="4236236" y="1456267"/>
                </a:lnTo>
                <a:cubicBezTo>
                  <a:pt x="4236236" y="1395307"/>
                  <a:pt x="4317516" y="1395307"/>
                  <a:pt x="4317516" y="1456267"/>
                </a:cubicBezTo>
                <a:lnTo>
                  <a:pt x="5092700" y="1456267"/>
                </a:lnTo>
                <a:lnTo>
                  <a:pt x="5092700" y="311235"/>
                </a:lnTo>
                <a:lnTo>
                  <a:pt x="0" y="311235"/>
                </a:lnTo>
                <a:lnTo>
                  <a:pt x="0" y="0"/>
                </a:lnTo>
              </a:path>
            </a:pathLst>
          </a:custGeom>
          <a:noFill/>
          <a:ln w="26010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2" name="target-port-m5"/>
          <p:cNvSpPr/>
          <p:nvPr/>
        </p:nvSpPr>
        <p:spPr>
          <a:xfrm>
            <a:off x="7609235" y="3431032"/>
            <a:ext cx="325120" cy="9821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3" name="target-label-m5: M5"/>
          <p:cNvSpPr txBox="1"/>
          <p:nvPr/>
        </p:nvSpPr>
        <p:spPr>
          <a:xfrm>
            <a:off x="7653262" y="3439837"/>
            <a:ext cx="237067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M5</a:t>
            </a:r>
          </a:p>
        </p:txBody>
      </p:sp>
      <p:sp>
        <p:nvSpPr>
          <p:cNvPr id="1304" name="gb-axi-interface"/>
          <p:cNvSpPr/>
          <p:nvPr/>
        </p:nvSpPr>
        <p:spPr>
          <a:xfrm>
            <a:off x="7162195" y="3701965"/>
            <a:ext cx="1219200" cy="5249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5" name="gb-interface-title: GB AXI 接口"/>
          <p:cNvSpPr txBox="1"/>
          <p:nvPr/>
        </p:nvSpPr>
        <p:spPr>
          <a:xfrm>
            <a:off x="7196062" y="3788325"/>
            <a:ext cx="115146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AXI 接口</a:t>
            </a:r>
          </a:p>
        </p:txBody>
      </p:sp>
      <p:sp>
        <p:nvSpPr>
          <p:cNvPr id="1306" name="gb-interface-clients: CPU / Ara 共用"/>
          <p:cNvSpPr txBox="1"/>
          <p:nvPr/>
        </p:nvSpPr>
        <p:spPr>
          <a:xfrm>
            <a:off x="7196062" y="3920405"/>
            <a:ext cx="115146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共用</a:t>
            </a:r>
          </a:p>
        </p:txBody>
      </p:sp>
      <p:sp>
        <p:nvSpPr>
          <p:cNvPr id="1307" name="gb-interface-width: 64-bit 数据窗口"/>
          <p:cNvSpPr txBox="1"/>
          <p:nvPr/>
        </p:nvSpPr>
        <p:spPr>
          <a:xfrm>
            <a:off x="7196062" y="4049099"/>
            <a:ext cx="115146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64-bit 数据窗口</a:t>
            </a:r>
          </a:p>
        </p:txBody>
      </p:sp>
    </p:spTree>
    <p:extLst>
      <p:ext uri="{BB962C8B-B14F-4D97-AF65-F5344CB8AC3E}">
        <p14:creationId xmlns:p14="http://schemas.microsoft.com/office/powerpoint/2010/main" val="2187131506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c-boundary"/>
          <p:cNvSpPr/>
          <p:nvPr/>
        </p:nvSpPr>
        <p:spPr>
          <a:xfrm>
            <a:off x="71967" y="67733"/>
            <a:ext cx="11260667" cy="6716099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compute"/>
          <p:cNvSpPr/>
          <p:nvPr/>
        </p:nvSpPr>
        <p:spPr>
          <a:xfrm>
            <a:off x="241300" y="203200"/>
            <a:ext cx="3166533" cy="1439333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gb-region"/>
          <p:cNvSpPr/>
          <p:nvPr/>
        </p:nvSpPr>
        <p:spPr>
          <a:xfrm>
            <a:off x="3594100" y="203200"/>
            <a:ext cx="3843867" cy="14393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image-rx"/>
          <p:cNvSpPr/>
          <p:nvPr/>
        </p:nvSpPr>
        <p:spPr>
          <a:xfrm>
            <a:off x="7607300" y="203200"/>
            <a:ext cx="3606800" cy="143933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g-region"/>
          <p:cNvSpPr/>
          <p:nvPr/>
        </p:nvSpPr>
        <p:spPr>
          <a:xfrm>
            <a:off x="173567" y="3776133"/>
            <a:ext cx="5825067" cy="2116667"/>
          </a:xfrm>
          <a:prstGeom prst="rect">
            <a:avLst/>
          </a:prstGeom>
          <a:solidFill>
            <a:srgbClr val="FAF8FB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compression-front"/>
          <p:cNvSpPr/>
          <p:nvPr/>
        </p:nvSpPr>
        <p:spPr>
          <a:xfrm>
            <a:off x="6129867" y="3962400"/>
            <a:ext cx="3793067" cy="11853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ddr-controller"/>
          <p:cNvSpPr/>
          <p:nvPr/>
        </p:nvSpPr>
        <p:spPr>
          <a:xfrm>
            <a:off x="6129867" y="5300133"/>
            <a:ext cx="3793067" cy="5757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oi-region"/>
          <p:cNvSpPr/>
          <p:nvPr/>
        </p:nvSpPr>
        <p:spPr>
          <a:xfrm>
            <a:off x="10160000" y="3776133"/>
            <a:ext cx="1083733" cy="179493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cpu-ara-command"/>
          <p:cNvSpPr/>
          <p:nvPr/>
        </p:nvSpPr>
        <p:spPr>
          <a:xfrm>
            <a:off x="1172633" y="677333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ara-filter-edge"/>
          <p:cNvSpPr/>
          <p:nvPr/>
        </p:nvSpPr>
        <p:spPr>
          <a:xfrm>
            <a:off x="1731433" y="897467"/>
            <a:ext cx="1" cy="152400"/>
          </a:xfrm>
          <a:custGeom>
            <a:avLst/>
            <a:gdLst/>
            <a:ahLst/>
            <a:cxnLst/>
            <a:rect l="0" t="0" r="r" b="b"/>
            <a:pathLst>
              <a:path w="1" h="152400" fill="none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filter-width"/>
          <p:cNvSpPr/>
          <p:nvPr/>
        </p:nvSpPr>
        <p:spPr>
          <a:xfrm>
            <a:off x="2053167" y="1195493"/>
            <a:ext cx="745067" cy="1"/>
          </a:xfrm>
          <a:custGeom>
            <a:avLst/>
            <a:gdLst/>
            <a:ahLst/>
            <a:cxnLst/>
            <a:rect l="0" t="0" r="r" b="b"/>
            <a:pathLst>
              <a:path w="745067" h="1" fill="none">
                <a:moveTo>
                  <a:pt x="0" y="0"/>
                </a:moveTo>
                <a:lnTo>
                  <a:pt x="7450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npu-gb"/>
          <p:cNvSpPr/>
          <p:nvPr/>
        </p:nvSpPr>
        <p:spPr>
          <a:xfrm>
            <a:off x="4593167" y="846667"/>
            <a:ext cx="118533" cy="1"/>
          </a:xfrm>
          <a:custGeom>
            <a:avLst/>
            <a:gdLst/>
            <a:ahLst/>
            <a:cxnLst/>
            <a:rect l="0" t="0" r="r" b="b"/>
            <a:pathLst>
              <a:path w="118533" h="1" fill="none">
                <a:moveTo>
                  <a:pt x="0" y="0"/>
                </a:moveTo>
                <a:lnTo>
                  <a:pt x="118533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adapter-sram"/>
          <p:cNvSpPr/>
          <p:nvPr/>
        </p:nvSpPr>
        <p:spPr>
          <a:xfrm>
            <a:off x="5490633" y="914400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0" y="0"/>
                </a:moveTo>
                <a:lnTo>
                  <a:pt x="135467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mover-gb"/>
          <p:cNvSpPr/>
          <p:nvPr/>
        </p:nvSpPr>
        <p:spPr>
          <a:xfrm>
            <a:off x="5490633" y="1371600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135467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lvds-rx-to-rx-cdc"/>
          <p:cNvSpPr/>
          <p:nvPr/>
        </p:nvSpPr>
        <p:spPr>
          <a:xfrm>
            <a:off x="8250767" y="982133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x-cdc-to-isp"/>
          <p:cNvSpPr/>
          <p:nvPr/>
        </p:nvSpPr>
        <p:spPr>
          <a:xfrm>
            <a:off x="8894233" y="982133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isp-to-frame-select"/>
          <p:cNvSpPr/>
          <p:nvPr/>
        </p:nvSpPr>
        <p:spPr>
          <a:xfrm>
            <a:off x="9554633" y="982133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frame-select-to-frame-dma"/>
          <p:cNvSpPr/>
          <p:nvPr/>
        </p:nvSpPr>
        <p:spPr>
          <a:xfrm>
            <a:off x="10265833" y="982133"/>
            <a:ext cx="118533" cy="1"/>
          </a:xfrm>
          <a:custGeom>
            <a:avLst/>
            <a:gdLst/>
            <a:ahLst/>
            <a:cxnLst/>
            <a:rect l="0" t="0" r="r" b="b"/>
            <a:pathLst>
              <a:path w="118533" h="1" fill="none">
                <a:moveTo>
                  <a:pt x="0" y="0"/>
                </a:moveTo>
                <a:lnTo>
                  <a:pt x="118533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aw-bypass"/>
          <p:cNvSpPr/>
          <p:nvPr/>
        </p:nvSpPr>
        <p:spPr>
          <a:xfrm>
            <a:off x="8623300" y="524933"/>
            <a:ext cx="1337733" cy="152400"/>
          </a:xfrm>
          <a:custGeom>
            <a:avLst/>
            <a:gdLst/>
            <a:ahLst/>
            <a:cxnLst/>
            <a:rect l="0" t="0" r="r" b="b"/>
            <a:pathLst>
              <a:path w="1337733" h="152400" fill="none">
                <a:moveTo>
                  <a:pt x="0" y="152400"/>
                </a:moveTo>
                <a:lnTo>
                  <a:pt x="0" y="0"/>
                </a:lnTo>
                <a:lnTo>
                  <a:pt x="1337733" y="0"/>
                </a:lnTo>
                <a:lnTo>
                  <a:pt x="1337733" y="1524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isp-gb"/>
          <p:cNvSpPr/>
          <p:nvPr/>
        </p:nvSpPr>
        <p:spPr>
          <a:xfrm>
            <a:off x="5101167" y="1168400"/>
            <a:ext cx="3894667" cy="524933"/>
          </a:xfrm>
          <a:custGeom>
            <a:avLst/>
            <a:gdLst/>
            <a:ahLst/>
            <a:cxnLst/>
            <a:rect l="0" t="0" r="r" b="b"/>
            <a:pathLst>
              <a:path w="3894667" h="524933" fill="none">
                <a:moveTo>
                  <a:pt x="3894667" y="0"/>
                </a:moveTo>
                <a:lnTo>
                  <a:pt x="3839633" y="0"/>
                </a:lnTo>
                <a:lnTo>
                  <a:pt x="3839633" y="524933"/>
                </a:lnTo>
                <a:lnTo>
                  <a:pt x="0" y="524933"/>
                </a:lnTo>
                <a:lnTo>
                  <a:pt x="0" y="355600"/>
                </a:lnTo>
              </a:path>
            </a:pathLst>
          </a:custGeom>
          <a:noFill/>
          <a:ln w="16256" cap="flat">
            <a:solidFill>
              <a:srgbClr val="187C78"/>
            </a:solidFill>
            <a:custDash>
              <a:ds d="375000" sp="229167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master-1"/>
          <p:cNvSpPr/>
          <p:nvPr/>
        </p:nvSpPr>
        <p:spPr>
          <a:xfrm>
            <a:off x="1838678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master-3"/>
          <p:cNvSpPr/>
          <p:nvPr/>
        </p:nvSpPr>
        <p:spPr>
          <a:xfrm>
            <a:off x="3968515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master-4"/>
          <p:cNvSpPr/>
          <p:nvPr/>
        </p:nvSpPr>
        <p:spPr>
          <a:xfrm>
            <a:off x="5033433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master-5"/>
          <p:cNvSpPr/>
          <p:nvPr/>
        </p:nvSpPr>
        <p:spPr>
          <a:xfrm>
            <a:off x="6098352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master-6"/>
          <p:cNvSpPr/>
          <p:nvPr/>
        </p:nvSpPr>
        <p:spPr>
          <a:xfrm>
            <a:off x="7163270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master-7"/>
          <p:cNvSpPr/>
          <p:nvPr/>
        </p:nvSpPr>
        <p:spPr>
          <a:xfrm>
            <a:off x="8228189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master-8"/>
          <p:cNvSpPr/>
          <p:nvPr/>
        </p:nvSpPr>
        <p:spPr>
          <a:xfrm>
            <a:off x="9293107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93939D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cpu-xbar"/>
          <p:cNvSpPr/>
          <p:nvPr/>
        </p:nvSpPr>
        <p:spPr>
          <a:xfrm>
            <a:off x="773759" y="1202267"/>
            <a:ext cx="1" cy="1120987"/>
          </a:xfrm>
          <a:custGeom>
            <a:avLst/>
            <a:gdLst/>
            <a:ahLst/>
            <a:cxnLst/>
            <a:rect l="0" t="0" r="r" b="b"/>
            <a:pathLst>
              <a:path w="1" h="1120987" fill="none">
                <a:moveTo>
                  <a:pt x="0" y="0"/>
                </a:moveTo>
                <a:lnTo>
                  <a:pt x="0" y="1120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ara-xbar"/>
          <p:cNvSpPr/>
          <p:nvPr/>
        </p:nvSpPr>
        <p:spPr>
          <a:xfrm>
            <a:off x="2903596" y="1341120"/>
            <a:ext cx="148637" cy="982133"/>
          </a:xfrm>
          <a:custGeom>
            <a:avLst/>
            <a:gdLst/>
            <a:ahLst/>
            <a:cxnLst/>
            <a:rect l="0" t="0" r="r" b="b"/>
            <a:pathLst>
              <a:path w="148637" h="982133" fill="none">
                <a:moveTo>
                  <a:pt x="148637" y="0"/>
                </a:moveTo>
                <a:lnTo>
                  <a:pt x="148637" y="453813"/>
                </a:lnTo>
                <a:lnTo>
                  <a:pt x="0" y="453813"/>
                </a:lnTo>
                <a:lnTo>
                  <a:pt x="0" y="98213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arget-0"/>
          <p:cNvSpPr/>
          <p:nvPr/>
        </p:nvSpPr>
        <p:spPr>
          <a:xfrm>
            <a:off x="925890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arget-1"/>
          <p:cNvSpPr/>
          <p:nvPr/>
        </p:nvSpPr>
        <p:spPr>
          <a:xfrm>
            <a:off x="2295071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arget-2"/>
          <p:cNvSpPr/>
          <p:nvPr/>
        </p:nvSpPr>
        <p:spPr>
          <a:xfrm>
            <a:off x="3664252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atomics-llc"/>
          <p:cNvSpPr/>
          <p:nvPr/>
        </p:nvSpPr>
        <p:spPr>
          <a:xfrm>
            <a:off x="3647319" y="3393440"/>
            <a:ext cx="84667" cy="1"/>
          </a:xfrm>
          <a:custGeom>
            <a:avLst/>
            <a:gdLst/>
            <a:ahLst/>
            <a:cxnLst/>
            <a:rect l="0" t="0" r="r" b="b"/>
            <a:pathLst>
              <a:path w="84667" h="1" fill="none">
                <a:moveTo>
                  <a:pt x="0" y="0"/>
                </a:moveTo>
                <a:lnTo>
                  <a:pt x="846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arget-3"/>
          <p:cNvSpPr/>
          <p:nvPr/>
        </p:nvSpPr>
        <p:spPr>
          <a:xfrm>
            <a:off x="5033433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arget-4"/>
          <p:cNvSpPr/>
          <p:nvPr/>
        </p:nvSpPr>
        <p:spPr>
          <a:xfrm>
            <a:off x="6402614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arget-5"/>
          <p:cNvSpPr/>
          <p:nvPr/>
        </p:nvSpPr>
        <p:spPr>
          <a:xfrm>
            <a:off x="7771795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arget-6"/>
          <p:cNvSpPr/>
          <p:nvPr/>
        </p:nvSpPr>
        <p:spPr>
          <a:xfrm>
            <a:off x="9140976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m5-gb"/>
          <p:cNvSpPr/>
          <p:nvPr/>
        </p:nvSpPr>
        <p:spPr>
          <a:xfrm>
            <a:off x="4910667" y="1524000"/>
            <a:ext cx="5063067" cy="1778000"/>
          </a:xfrm>
          <a:custGeom>
            <a:avLst/>
            <a:gdLst/>
            <a:ahLst/>
            <a:cxnLst/>
            <a:rect l="0" t="0" r="r" b="b"/>
            <a:pathLst>
              <a:path w="5063067" h="1778000" fill="none">
                <a:moveTo>
                  <a:pt x="3470729" y="1778000"/>
                </a:moveTo>
                <a:lnTo>
                  <a:pt x="3539067" y="1778000"/>
                </a:lnTo>
                <a:lnTo>
                  <a:pt x="3539067" y="1422400"/>
                </a:lnTo>
                <a:lnTo>
                  <a:pt x="4209990" y="1422400"/>
                </a:lnTo>
                <a:cubicBezTo>
                  <a:pt x="4223536" y="1404338"/>
                  <a:pt x="4237083" y="1404338"/>
                  <a:pt x="4250630" y="1422400"/>
                </a:cubicBezTo>
                <a:lnTo>
                  <a:pt x="5063067" y="1422400"/>
                </a:lnTo>
                <a:lnTo>
                  <a:pt x="5063067" y="237067"/>
                </a:lnTo>
                <a:lnTo>
                  <a:pt x="0" y="237067"/>
                </a:ln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emmc-physical"/>
          <p:cNvSpPr/>
          <p:nvPr/>
        </p:nvSpPr>
        <p:spPr>
          <a:xfrm>
            <a:off x="8712482" y="1793804"/>
            <a:ext cx="2700584" cy="255129"/>
          </a:xfrm>
          <a:custGeom>
            <a:avLst/>
            <a:gdLst/>
            <a:ahLst/>
            <a:cxnLst/>
            <a:rect l="0" t="0" r="r" b="b"/>
            <a:pathLst>
              <a:path w="2700584" h="255129" fill="none">
                <a:moveTo>
                  <a:pt x="2700584" y="255129"/>
                </a:moveTo>
                <a:lnTo>
                  <a:pt x="2632851" y="255129"/>
                </a:lnTo>
                <a:lnTo>
                  <a:pt x="2632851" y="18062"/>
                </a:lnTo>
                <a:lnTo>
                  <a:pt x="1281571" y="18062"/>
                </a:lnTo>
                <a:cubicBezTo>
                  <a:pt x="1268024" y="0"/>
                  <a:pt x="1254478" y="0"/>
                  <a:pt x="1240931" y="18062"/>
                </a:cubicBezTo>
                <a:lnTo>
                  <a:pt x="38664" y="18062"/>
                </a:lnTo>
                <a:lnTo>
                  <a:pt x="38664" y="255129"/>
                </a:lnTo>
                <a:lnTo>
                  <a:pt x="0" y="255129"/>
                </a:lnTo>
              </a:path>
            </a:pathLst>
          </a:custGeom>
          <a:noFill/>
          <a:ln w="16256" cap="flat">
            <a:solidFill>
              <a:srgbClr val="B96043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bridge-regbus"/>
          <p:cNvSpPr/>
          <p:nvPr/>
        </p:nvSpPr>
        <p:spPr>
          <a:xfrm>
            <a:off x="2295071" y="3572933"/>
            <a:ext cx="1" cy="270933"/>
          </a:xfrm>
          <a:custGeom>
            <a:avLst/>
            <a:gdLst/>
            <a:ahLst/>
            <a:cxnLst/>
            <a:rect l="0" t="0" r="r" b="b"/>
            <a:pathLst>
              <a:path w="1" h="270933" fill="none">
                <a:moveTo>
                  <a:pt x="0" y="0"/>
                </a:moveTo>
                <a:lnTo>
                  <a:pt x="0" y="270933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reg-column-0"/>
          <p:cNvSpPr/>
          <p:nvPr/>
        </p:nvSpPr>
        <p:spPr>
          <a:xfrm>
            <a:off x="285327" y="4064000"/>
            <a:ext cx="1" cy="1249680"/>
          </a:xfrm>
          <a:custGeom>
            <a:avLst/>
            <a:gdLst/>
            <a:ahLst/>
            <a:cxnLst/>
            <a:rect l="0" t="0" r="r" b="b"/>
            <a:pathLst>
              <a:path w="1" h="1249680" fill="none">
                <a:moveTo>
                  <a:pt x="0" y="0"/>
                </a:moveTo>
                <a:lnTo>
                  <a:pt x="0" y="124968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bootrom-cfg"/>
          <p:cNvSpPr/>
          <p:nvPr/>
        </p:nvSpPr>
        <p:spPr>
          <a:xfrm>
            <a:off x="285327" y="4297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uart-cfg"/>
          <p:cNvSpPr/>
          <p:nvPr/>
        </p:nvSpPr>
        <p:spPr>
          <a:xfrm>
            <a:off x="285327" y="4636347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vga-regs-cfg"/>
          <p:cNvSpPr/>
          <p:nvPr/>
        </p:nvSpPr>
        <p:spPr>
          <a:xfrm>
            <a:off x="285327" y="4975013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irq-router-cfg"/>
          <p:cNvSpPr/>
          <p:nvPr/>
        </p:nvSpPr>
        <p:spPr>
          <a:xfrm>
            <a:off x="285327" y="5313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reg-column-1"/>
          <p:cNvSpPr/>
          <p:nvPr/>
        </p:nvSpPr>
        <p:spPr>
          <a:xfrm>
            <a:off x="1402927" y="4064000"/>
            <a:ext cx="1" cy="1249680"/>
          </a:xfrm>
          <a:custGeom>
            <a:avLst/>
            <a:gdLst/>
            <a:ahLst/>
            <a:cxnLst/>
            <a:rect l="0" t="0" r="r" b="b"/>
            <a:pathLst>
              <a:path w="1" h="1249680" fill="none">
                <a:moveTo>
                  <a:pt x="0" y="0"/>
                </a:moveTo>
                <a:lnTo>
                  <a:pt x="0" y="124968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clint-cfg"/>
          <p:cNvSpPr/>
          <p:nvPr/>
        </p:nvSpPr>
        <p:spPr>
          <a:xfrm>
            <a:off x="1402927" y="4297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i2c-cfg"/>
          <p:cNvSpPr/>
          <p:nvPr/>
        </p:nvSpPr>
        <p:spPr>
          <a:xfrm>
            <a:off x="1402927" y="4636347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usb-regs-cfg"/>
          <p:cNvSpPr/>
          <p:nvPr/>
        </p:nvSpPr>
        <p:spPr>
          <a:xfrm>
            <a:off x="1402927" y="4975013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axi-rt-config-cfg"/>
          <p:cNvSpPr/>
          <p:nvPr/>
        </p:nvSpPr>
        <p:spPr>
          <a:xfrm>
            <a:off x="1402927" y="5313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reg-column-2"/>
          <p:cNvSpPr/>
          <p:nvPr/>
        </p:nvSpPr>
        <p:spPr>
          <a:xfrm>
            <a:off x="2520527" y="4064000"/>
            <a:ext cx="1" cy="1249680"/>
          </a:xfrm>
          <a:custGeom>
            <a:avLst/>
            <a:gdLst/>
            <a:ahLst/>
            <a:cxnLst/>
            <a:rect l="0" t="0" r="r" b="b"/>
            <a:pathLst>
              <a:path w="1" h="1249680" fill="none">
                <a:moveTo>
                  <a:pt x="0" y="0"/>
                </a:moveTo>
                <a:lnTo>
                  <a:pt x="0" y="124968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soc-regs-cfg"/>
          <p:cNvSpPr/>
          <p:nvPr/>
        </p:nvSpPr>
        <p:spPr>
          <a:xfrm>
            <a:off x="2520527" y="4297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spi-cfg"/>
          <p:cNvSpPr/>
          <p:nvPr/>
        </p:nvSpPr>
        <p:spPr>
          <a:xfrm>
            <a:off x="2520527" y="4636347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err-vga-cfg"/>
          <p:cNvSpPr/>
          <p:nvPr/>
        </p:nvSpPr>
        <p:spPr>
          <a:xfrm>
            <a:off x="2520527" y="4975013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clic-cfg"/>
          <p:cNvSpPr/>
          <p:nvPr/>
        </p:nvSpPr>
        <p:spPr>
          <a:xfrm>
            <a:off x="2520527" y="5313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reg-column-3"/>
          <p:cNvSpPr/>
          <p:nvPr/>
        </p:nvSpPr>
        <p:spPr>
          <a:xfrm>
            <a:off x="3638127" y="4064000"/>
            <a:ext cx="1" cy="1249680"/>
          </a:xfrm>
          <a:custGeom>
            <a:avLst/>
            <a:gdLst/>
            <a:ahLst/>
            <a:cxnLst/>
            <a:rect l="0" t="0" r="r" b="b"/>
            <a:pathLst>
              <a:path w="1" h="1249680" fill="none">
                <a:moveTo>
                  <a:pt x="0" y="0"/>
                </a:moveTo>
                <a:lnTo>
                  <a:pt x="0" y="124968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plic-cfg"/>
          <p:cNvSpPr/>
          <p:nvPr/>
        </p:nvSpPr>
        <p:spPr>
          <a:xfrm>
            <a:off x="3638127" y="4297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gpio-cfg"/>
          <p:cNvSpPr/>
          <p:nvPr/>
        </p:nvSpPr>
        <p:spPr>
          <a:xfrm>
            <a:off x="3638127" y="4636347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err-dma-cfg"/>
          <p:cNvSpPr/>
          <p:nvPr/>
        </p:nvSpPr>
        <p:spPr>
          <a:xfrm>
            <a:off x="3638127" y="4975013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reg-error-cfg"/>
          <p:cNvSpPr/>
          <p:nvPr/>
        </p:nvSpPr>
        <p:spPr>
          <a:xfrm>
            <a:off x="3638127" y="5313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reg-column-4"/>
          <p:cNvSpPr/>
          <p:nvPr/>
        </p:nvSpPr>
        <p:spPr>
          <a:xfrm>
            <a:off x="4755727" y="4064000"/>
            <a:ext cx="1" cy="1249680"/>
          </a:xfrm>
          <a:custGeom>
            <a:avLst/>
            <a:gdLst/>
            <a:ahLst/>
            <a:cxnLst/>
            <a:rect l="0" t="0" r="r" b="b"/>
            <a:pathLst>
              <a:path w="1" h="1249680" fill="none">
                <a:moveTo>
                  <a:pt x="0" y="0"/>
                </a:moveTo>
                <a:lnTo>
                  <a:pt x="0" y="124968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llc-regs-cfg"/>
          <p:cNvSpPr/>
          <p:nvPr/>
        </p:nvSpPr>
        <p:spPr>
          <a:xfrm>
            <a:off x="4755727" y="4297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slink-regs-cfg"/>
          <p:cNvSpPr/>
          <p:nvPr/>
        </p:nvSpPr>
        <p:spPr>
          <a:xfrm>
            <a:off x="4755727" y="4636347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err-cpu-cfg"/>
          <p:cNvSpPr/>
          <p:nvPr/>
        </p:nvSpPr>
        <p:spPr>
          <a:xfrm>
            <a:off x="4755727" y="4975013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reg-ext-cfg"/>
          <p:cNvSpPr/>
          <p:nvPr/>
        </p:nvSpPr>
        <p:spPr>
          <a:xfrm>
            <a:off x="4755727" y="5313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new-reg-config"/>
          <p:cNvSpPr/>
          <p:nvPr/>
        </p:nvSpPr>
        <p:spPr>
          <a:xfrm>
            <a:off x="1206500" y="5445760"/>
            <a:ext cx="4131733" cy="54187"/>
          </a:xfrm>
          <a:custGeom>
            <a:avLst/>
            <a:gdLst/>
            <a:ahLst/>
            <a:cxnLst/>
            <a:rect l="0" t="0" r="r" b="b"/>
            <a:pathLst>
              <a:path w="4131733" h="54187" fill="none">
                <a:moveTo>
                  <a:pt x="4131733" y="0"/>
                </a:moveTo>
                <a:lnTo>
                  <a:pt x="4131733" y="54187"/>
                </a:ln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cfg-C10"/>
          <p:cNvSpPr/>
          <p:nvPr/>
        </p:nvSpPr>
        <p:spPr>
          <a:xfrm>
            <a:off x="1206500" y="5499947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cfg-C11"/>
          <p:cNvSpPr/>
          <p:nvPr/>
        </p:nvSpPr>
        <p:spPr>
          <a:xfrm>
            <a:off x="3069167" y="5499947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cfg-C12"/>
          <p:cNvSpPr/>
          <p:nvPr/>
        </p:nvSpPr>
        <p:spPr>
          <a:xfrm>
            <a:off x="4931833" y="5499947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front-input-0"/>
          <p:cNvSpPr/>
          <p:nvPr/>
        </p:nvSpPr>
        <p:spPr>
          <a:xfrm>
            <a:off x="6604000" y="4009813"/>
            <a:ext cx="1" cy="88053"/>
          </a:xfrm>
          <a:custGeom>
            <a:avLst/>
            <a:gdLst/>
            <a:ahLst/>
            <a:cxnLst/>
            <a:rect l="0" t="0" r="r" b="b"/>
            <a:pathLst>
              <a:path w="1" h="88053" fill="none">
                <a:moveTo>
                  <a:pt x="0" y="0"/>
                </a:moveTo>
                <a:lnTo>
                  <a:pt x="0" y="88053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front-input-1"/>
          <p:cNvSpPr/>
          <p:nvPr/>
        </p:nvSpPr>
        <p:spPr>
          <a:xfrm>
            <a:off x="7535333" y="4009813"/>
            <a:ext cx="1" cy="88053"/>
          </a:xfrm>
          <a:custGeom>
            <a:avLst/>
            <a:gdLst/>
            <a:ahLst/>
            <a:cxnLst/>
            <a:rect l="0" t="0" r="r" b="b"/>
            <a:pathLst>
              <a:path w="1" h="88053" fill="none">
                <a:moveTo>
                  <a:pt x="0" y="0"/>
                </a:moveTo>
                <a:lnTo>
                  <a:pt x="0" y="88053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front-input-2"/>
          <p:cNvSpPr/>
          <p:nvPr/>
        </p:nvSpPr>
        <p:spPr>
          <a:xfrm>
            <a:off x="8466667" y="4009813"/>
            <a:ext cx="1" cy="88053"/>
          </a:xfrm>
          <a:custGeom>
            <a:avLst/>
            <a:gdLst/>
            <a:ahLst/>
            <a:cxnLst/>
            <a:rect l="0" t="0" r="r" b="b"/>
            <a:pathLst>
              <a:path w="1" h="88053" fill="none">
                <a:moveTo>
                  <a:pt x="0" y="0"/>
                </a:moveTo>
                <a:lnTo>
                  <a:pt x="0" y="88053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front-input-3"/>
          <p:cNvSpPr/>
          <p:nvPr/>
        </p:nvSpPr>
        <p:spPr>
          <a:xfrm>
            <a:off x="9398000" y="4009813"/>
            <a:ext cx="1" cy="88053"/>
          </a:xfrm>
          <a:custGeom>
            <a:avLst/>
            <a:gdLst/>
            <a:ahLst/>
            <a:cxnLst/>
            <a:rect l="0" t="0" r="r" b="b"/>
            <a:pathLst>
              <a:path w="1" h="88053" fill="none">
                <a:moveTo>
                  <a:pt x="0" y="0"/>
                </a:moveTo>
                <a:lnTo>
                  <a:pt x="0" y="88053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adapt-compressor"/>
          <p:cNvSpPr/>
          <p:nvPr/>
        </p:nvSpPr>
        <p:spPr>
          <a:xfrm>
            <a:off x="6629400" y="4301067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compressor-route"/>
          <p:cNvSpPr/>
          <p:nvPr/>
        </p:nvSpPr>
        <p:spPr>
          <a:xfrm>
            <a:off x="6629400" y="4809067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decoder-up"/>
          <p:cNvSpPr/>
          <p:nvPr/>
        </p:nvSpPr>
        <p:spPr>
          <a:xfrm>
            <a:off x="7560733" y="4301067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10160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read-to-decoder"/>
          <p:cNvSpPr/>
          <p:nvPr/>
        </p:nvSpPr>
        <p:spPr>
          <a:xfrm>
            <a:off x="7560733" y="4809067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10160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adapt-plain-bypass"/>
          <p:cNvSpPr/>
          <p:nvPr/>
        </p:nvSpPr>
        <p:spPr>
          <a:xfrm>
            <a:off x="8492067" y="4301067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plain-bypass-route"/>
          <p:cNvSpPr/>
          <p:nvPr/>
        </p:nvSpPr>
        <p:spPr>
          <a:xfrm>
            <a:off x="8492067" y="4809067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adapt-metadata"/>
          <p:cNvSpPr/>
          <p:nvPr/>
        </p:nvSpPr>
        <p:spPr>
          <a:xfrm>
            <a:off x="9423400" y="4301067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metadata-route"/>
          <p:cNvSpPr/>
          <p:nvPr/>
        </p:nvSpPr>
        <p:spPr>
          <a:xfrm>
            <a:off x="9423400" y="4809067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front-ddr-0"/>
          <p:cNvSpPr/>
          <p:nvPr/>
        </p:nvSpPr>
        <p:spPr>
          <a:xfrm>
            <a:off x="6604000" y="508000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ddr-arb-0"/>
          <p:cNvSpPr/>
          <p:nvPr/>
        </p:nvSpPr>
        <p:spPr>
          <a:xfrm>
            <a:off x="6604000" y="5347547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front-ddr-1"/>
          <p:cNvSpPr/>
          <p:nvPr/>
        </p:nvSpPr>
        <p:spPr>
          <a:xfrm>
            <a:off x="7535333" y="508000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ddr-arb-1"/>
          <p:cNvSpPr/>
          <p:nvPr/>
        </p:nvSpPr>
        <p:spPr>
          <a:xfrm>
            <a:off x="7535333" y="5347547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front-ddr-2"/>
          <p:cNvSpPr/>
          <p:nvPr/>
        </p:nvSpPr>
        <p:spPr>
          <a:xfrm>
            <a:off x="8466667" y="508000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" name="ddr-arb-2"/>
          <p:cNvSpPr/>
          <p:nvPr/>
        </p:nvSpPr>
        <p:spPr>
          <a:xfrm>
            <a:off x="8466667" y="5347547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front-ddr-3"/>
          <p:cNvSpPr/>
          <p:nvPr/>
        </p:nvSpPr>
        <p:spPr>
          <a:xfrm>
            <a:off x="9398000" y="508000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ddr-arb-3"/>
          <p:cNvSpPr/>
          <p:nvPr/>
        </p:nvSpPr>
        <p:spPr>
          <a:xfrm>
            <a:off x="9398000" y="5347547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" name="arb-rw"/>
          <p:cNvSpPr/>
          <p:nvPr/>
        </p:nvSpPr>
        <p:spPr>
          <a:xfrm>
            <a:off x="7001933" y="5537200"/>
            <a:ext cx="1" cy="33867"/>
          </a:xfrm>
          <a:custGeom>
            <a:avLst/>
            <a:gdLst/>
            <a:ahLst/>
            <a:cxnLst/>
            <a:rect l="0" t="0" r="r" b="b"/>
            <a:pathLst>
              <a:path w="1" h="33867" fill="none">
                <a:moveTo>
                  <a:pt x="0" y="0"/>
                </a:moveTo>
                <a:lnTo>
                  <a:pt x="0" y="3386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rw-command"/>
          <p:cNvSpPr/>
          <p:nvPr/>
        </p:nvSpPr>
        <p:spPr>
          <a:xfrm>
            <a:off x="7806267" y="5655733"/>
            <a:ext cx="406400" cy="1"/>
          </a:xfrm>
          <a:custGeom>
            <a:avLst/>
            <a:gdLst/>
            <a:ahLst/>
            <a:cxnLst/>
            <a:rect l="0" t="0" r="r" b="b"/>
            <a:pathLst>
              <a:path w="406400" h="1" fill="none">
                <a:moveTo>
                  <a:pt x="0" y="0"/>
                </a:moveTo>
                <a:lnTo>
                  <a:pt x="40640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controller-phy"/>
          <p:cNvSpPr/>
          <p:nvPr/>
        </p:nvSpPr>
        <p:spPr>
          <a:xfrm>
            <a:off x="9855200" y="5655733"/>
            <a:ext cx="406400" cy="135467"/>
          </a:xfrm>
          <a:custGeom>
            <a:avLst/>
            <a:gdLst/>
            <a:ahLst/>
            <a:cxnLst/>
            <a:rect l="0" t="0" r="r" b="b"/>
            <a:pathLst>
              <a:path w="406400" h="135467" fill="none">
                <a:moveTo>
                  <a:pt x="0" y="0"/>
                </a:moveTo>
                <a:lnTo>
                  <a:pt x="203200" y="0"/>
                </a:lnTo>
                <a:lnTo>
                  <a:pt x="203200" y="135467"/>
                </a:lnTo>
                <a:lnTo>
                  <a:pt x="406400" y="13546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phy-ddr"/>
          <p:cNvSpPr/>
          <p:nvPr/>
        </p:nvSpPr>
        <p:spPr>
          <a:xfrm>
            <a:off x="11125200" y="5791200"/>
            <a:ext cx="376767" cy="1"/>
          </a:xfrm>
          <a:custGeom>
            <a:avLst/>
            <a:gdLst/>
            <a:ahLst/>
            <a:cxnLst/>
            <a:rect l="0" t="0" r="r" b="b"/>
            <a:pathLst>
              <a:path w="376767" h="1" fill="none">
                <a:moveTo>
                  <a:pt x="0" y="0"/>
                </a:moveTo>
                <a:lnTo>
                  <a:pt x="376767" y="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roi-vdma-control"/>
          <p:cNvSpPr/>
          <p:nvPr/>
        </p:nvSpPr>
        <p:spPr>
          <a:xfrm>
            <a:off x="10701867" y="4385733"/>
            <a:ext cx="1" cy="84667"/>
          </a:xfrm>
          <a:custGeom>
            <a:avLst/>
            <a:gdLst/>
            <a:ahLst/>
            <a:cxnLst/>
            <a:rect l="0" t="0" r="r" b="b"/>
            <a:pathLst>
              <a:path w="1" h="84667" fill="none">
                <a:moveTo>
                  <a:pt x="0" y="0"/>
                </a:moveTo>
                <a:lnTo>
                  <a:pt x="0" y="84667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" name="vdma-pixels"/>
          <p:cNvSpPr/>
          <p:nvPr/>
        </p:nvSpPr>
        <p:spPr>
          <a:xfrm>
            <a:off x="10701867" y="4741333"/>
            <a:ext cx="1" cy="84667"/>
          </a:xfrm>
          <a:custGeom>
            <a:avLst/>
            <a:gdLst/>
            <a:ahLst/>
            <a:cxnLst/>
            <a:rect l="0" t="0" r="r" b="b"/>
            <a:pathLst>
              <a:path w="1" h="84667" fill="none">
                <a:moveTo>
                  <a:pt x="0" y="0"/>
                </a:moveTo>
                <a:lnTo>
                  <a:pt x="0" y="84667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" name="fifo-lvds"/>
          <p:cNvSpPr/>
          <p:nvPr/>
        </p:nvSpPr>
        <p:spPr>
          <a:xfrm>
            <a:off x="10701867" y="5096933"/>
            <a:ext cx="1" cy="84667"/>
          </a:xfrm>
          <a:custGeom>
            <a:avLst/>
            <a:gdLst/>
            <a:ahLst/>
            <a:cxnLst/>
            <a:rect l="0" t="0" r="r" b="b"/>
            <a:pathLst>
              <a:path w="1" h="84667" fill="none">
                <a:moveTo>
                  <a:pt x="0" y="0"/>
                </a:moveTo>
                <a:lnTo>
                  <a:pt x="0" y="84667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" name="llc-f0"/>
          <p:cNvSpPr/>
          <p:nvPr/>
        </p:nvSpPr>
        <p:spPr>
          <a:xfrm>
            <a:off x="4019852" y="3535680"/>
            <a:ext cx="2584148" cy="379307"/>
          </a:xfrm>
          <a:custGeom>
            <a:avLst/>
            <a:gdLst/>
            <a:ahLst/>
            <a:cxnLst/>
            <a:rect l="0" t="0" r="r" b="b"/>
            <a:pathLst>
              <a:path w="2584148" h="379307" fill="none">
                <a:moveTo>
                  <a:pt x="0" y="0"/>
                </a:moveTo>
                <a:lnTo>
                  <a:pt x="0" y="172720"/>
                </a:lnTo>
                <a:lnTo>
                  <a:pt x="2584148" y="172720"/>
                </a:lnTo>
                <a:lnTo>
                  <a:pt x="2584148" y="37930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mover-f1"/>
          <p:cNvSpPr/>
          <p:nvPr/>
        </p:nvSpPr>
        <p:spPr>
          <a:xfrm>
            <a:off x="7336367" y="1371600"/>
            <a:ext cx="2688167" cy="2543387"/>
          </a:xfrm>
          <a:custGeom>
            <a:avLst/>
            <a:gdLst/>
            <a:ahLst/>
            <a:cxnLst/>
            <a:rect l="0" t="0" r="r" b="b"/>
            <a:pathLst>
              <a:path w="2688167" h="2543387" fill="none">
                <a:moveTo>
                  <a:pt x="0" y="0"/>
                </a:moveTo>
                <a:lnTo>
                  <a:pt x="165100" y="0"/>
                </a:lnTo>
                <a:lnTo>
                  <a:pt x="165100" y="301413"/>
                </a:lnTo>
                <a:cubicBezTo>
                  <a:pt x="183162" y="314960"/>
                  <a:pt x="183162" y="328507"/>
                  <a:pt x="165100" y="342053"/>
                </a:cubicBezTo>
                <a:lnTo>
                  <a:pt x="165100" y="369147"/>
                </a:lnTo>
                <a:cubicBezTo>
                  <a:pt x="183162" y="382693"/>
                  <a:pt x="183162" y="396240"/>
                  <a:pt x="165100" y="409787"/>
                </a:cubicBezTo>
                <a:lnTo>
                  <a:pt x="165100" y="457200"/>
                </a:lnTo>
                <a:lnTo>
                  <a:pt x="1394460" y="457200"/>
                </a:lnTo>
                <a:cubicBezTo>
                  <a:pt x="1408007" y="439138"/>
                  <a:pt x="1421553" y="439138"/>
                  <a:pt x="1435100" y="457200"/>
                </a:cubicBezTo>
                <a:lnTo>
                  <a:pt x="2617047" y="457200"/>
                </a:lnTo>
                <a:cubicBezTo>
                  <a:pt x="2630593" y="439138"/>
                  <a:pt x="2644140" y="439138"/>
                  <a:pt x="2657687" y="457200"/>
                </a:cubicBezTo>
                <a:lnTo>
                  <a:pt x="2688167" y="457200"/>
                </a:lnTo>
                <a:lnTo>
                  <a:pt x="2688167" y="2269067"/>
                </a:lnTo>
                <a:lnTo>
                  <a:pt x="198967" y="2269067"/>
                </a:lnTo>
                <a:lnTo>
                  <a:pt x="198967" y="2543387"/>
                </a:lnTo>
              </a:path>
            </a:pathLst>
          </a:custGeom>
          <a:noFill/>
          <a:ln w="16256" cap="flat">
            <a:solidFill>
              <a:srgbClr val="314D66"/>
            </a:solidFill>
            <a:custDash>
              <a:ds d="375000" sp="229167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" name="frame-f2"/>
          <p:cNvSpPr/>
          <p:nvPr/>
        </p:nvSpPr>
        <p:spPr>
          <a:xfrm>
            <a:off x="8466667" y="1151467"/>
            <a:ext cx="2727396" cy="2763520"/>
          </a:xfrm>
          <a:custGeom>
            <a:avLst/>
            <a:gdLst/>
            <a:ahLst/>
            <a:cxnLst/>
            <a:rect l="0" t="0" r="r" b="b"/>
            <a:pathLst>
              <a:path w="2727396" h="2763520" fill="none">
                <a:moveTo>
                  <a:pt x="2645833" y="0"/>
                </a:moveTo>
                <a:lnTo>
                  <a:pt x="2709333" y="0"/>
                </a:lnTo>
                <a:lnTo>
                  <a:pt x="2709333" y="640080"/>
                </a:lnTo>
                <a:cubicBezTo>
                  <a:pt x="2727396" y="653627"/>
                  <a:pt x="2727396" y="667173"/>
                  <a:pt x="2709333" y="680720"/>
                </a:cubicBezTo>
                <a:lnTo>
                  <a:pt x="2709333" y="2438400"/>
                </a:lnTo>
                <a:lnTo>
                  <a:pt x="1578187" y="2438400"/>
                </a:lnTo>
                <a:cubicBezTo>
                  <a:pt x="1564640" y="2420338"/>
                  <a:pt x="1551093" y="2420338"/>
                  <a:pt x="1537547" y="2438400"/>
                </a:cubicBezTo>
                <a:lnTo>
                  <a:pt x="0" y="2438400"/>
                </a:lnTo>
                <a:lnTo>
                  <a:pt x="0" y="2468880"/>
                </a:lnTo>
                <a:cubicBezTo>
                  <a:pt x="18062" y="2482427"/>
                  <a:pt x="18062" y="2495973"/>
                  <a:pt x="0" y="2509520"/>
                </a:cubicBezTo>
                <a:lnTo>
                  <a:pt x="0" y="2763520"/>
                </a:lnTo>
              </a:path>
            </a:pathLst>
          </a:custGeom>
          <a:noFill/>
          <a:ln w="16256" cap="flat">
            <a:solidFill>
              <a:srgbClr val="314D66"/>
            </a:solidFill>
            <a:custDash>
              <a:ds d="375000" sp="229167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roi-f3-request"/>
          <p:cNvSpPr/>
          <p:nvPr/>
        </p:nvSpPr>
        <p:spPr>
          <a:xfrm>
            <a:off x="9347200" y="3742267"/>
            <a:ext cx="914400" cy="812800"/>
          </a:xfrm>
          <a:custGeom>
            <a:avLst/>
            <a:gdLst/>
            <a:ahLst/>
            <a:cxnLst/>
            <a:rect l="0" t="0" r="r" b="b"/>
            <a:pathLst>
              <a:path w="914400" h="812800" fill="none">
                <a:moveTo>
                  <a:pt x="914400" y="812800"/>
                </a:moveTo>
                <a:lnTo>
                  <a:pt x="728133" y="812800"/>
                </a:lnTo>
                <a:lnTo>
                  <a:pt x="728133" y="0"/>
                </a:lnTo>
                <a:lnTo>
                  <a:pt x="0" y="0"/>
                </a:ln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f3-roi-read-data"/>
          <p:cNvSpPr/>
          <p:nvPr/>
        </p:nvSpPr>
        <p:spPr>
          <a:xfrm>
            <a:off x="9448800" y="3775004"/>
            <a:ext cx="812800" cy="881662"/>
          </a:xfrm>
          <a:custGeom>
            <a:avLst/>
            <a:gdLst/>
            <a:ahLst/>
            <a:cxnLst/>
            <a:rect l="0" t="0" r="r" b="b"/>
            <a:pathLst>
              <a:path w="812800" h="881662" fill="none">
                <a:moveTo>
                  <a:pt x="0" y="139982"/>
                </a:moveTo>
                <a:lnTo>
                  <a:pt x="0" y="18062"/>
                </a:lnTo>
                <a:lnTo>
                  <a:pt x="606213" y="18062"/>
                </a:lnTo>
                <a:cubicBezTo>
                  <a:pt x="619760" y="0"/>
                  <a:pt x="633307" y="0"/>
                  <a:pt x="646853" y="18062"/>
                </a:cubicBezTo>
                <a:lnTo>
                  <a:pt x="667173" y="18062"/>
                </a:lnTo>
                <a:lnTo>
                  <a:pt x="667173" y="759742"/>
                </a:lnTo>
                <a:cubicBezTo>
                  <a:pt x="685236" y="773289"/>
                  <a:pt x="685236" y="786836"/>
                  <a:pt x="667173" y="800382"/>
                </a:cubicBezTo>
                <a:lnTo>
                  <a:pt x="667173" y="881662"/>
                </a:lnTo>
                <a:lnTo>
                  <a:pt x="812800" y="881662"/>
                </a:lnTo>
              </a:path>
            </a:pathLst>
          </a:custGeom>
          <a:noFill/>
          <a:ln w="16256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" name="regext-old-config"/>
          <p:cNvSpPr/>
          <p:nvPr/>
        </p:nvSpPr>
        <p:spPr>
          <a:xfrm>
            <a:off x="800100" y="5313680"/>
            <a:ext cx="5245100" cy="962152"/>
          </a:xfrm>
          <a:custGeom>
            <a:avLst/>
            <a:gdLst/>
            <a:ahLst/>
            <a:cxnLst/>
            <a:rect l="0" t="0" r="r" b="b"/>
            <a:pathLst>
              <a:path w="5245100" h="962152" fill="none">
                <a:moveTo>
                  <a:pt x="5046133" y="0"/>
                </a:moveTo>
                <a:lnTo>
                  <a:pt x="5245100" y="0"/>
                </a:lnTo>
                <a:lnTo>
                  <a:pt x="5245100" y="962152"/>
                </a:lnTo>
                <a:lnTo>
                  <a:pt x="0" y="962152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" name="old-config-trunk"/>
          <p:cNvSpPr/>
          <p:nvPr/>
        </p:nvSpPr>
        <p:spPr>
          <a:xfrm>
            <a:off x="800100" y="6275832"/>
            <a:ext cx="9889067" cy="1"/>
          </a:xfrm>
          <a:custGeom>
            <a:avLst/>
            <a:gdLst/>
            <a:ahLst/>
            <a:cxnLst/>
            <a:rect l="0" t="0" r="r" b="b"/>
            <a:pathLst>
              <a:path w="9889067" h="1" fill="none">
                <a:moveTo>
                  <a:pt x="0" y="0"/>
                </a:moveTo>
                <a:lnTo>
                  <a:pt x="9889067" y="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" name="old-cfg-C1"/>
          <p:cNvSpPr/>
          <p:nvPr/>
        </p:nvSpPr>
        <p:spPr>
          <a:xfrm>
            <a:off x="808567" y="6275832"/>
            <a:ext cx="1" cy="84667"/>
          </a:xfrm>
          <a:custGeom>
            <a:avLst/>
            <a:gdLst/>
            <a:ahLst/>
            <a:cxnLst/>
            <a:rect l="0" t="0" r="r" b="b"/>
            <a:pathLst>
              <a:path w="1" h="84667" fill="none">
                <a:moveTo>
                  <a:pt x="0" y="0"/>
                </a:moveTo>
                <a:lnTo>
                  <a:pt x="0" y="84667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" name="old-cfg-C2"/>
          <p:cNvSpPr/>
          <p:nvPr/>
        </p:nvSpPr>
        <p:spPr>
          <a:xfrm>
            <a:off x="2044700" y="6275832"/>
            <a:ext cx="1" cy="84667"/>
          </a:xfrm>
          <a:custGeom>
            <a:avLst/>
            <a:gdLst/>
            <a:ahLst/>
            <a:cxnLst/>
            <a:rect l="0" t="0" r="r" b="b"/>
            <a:pathLst>
              <a:path w="1" h="84667" fill="none">
                <a:moveTo>
                  <a:pt x="0" y="0"/>
                </a:moveTo>
                <a:lnTo>
                  <a:pt x="0" y="84667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" name="old-cfg-C3"/>
          <p:cNvSpPr/>
          <p:nvPr/>
        </p:nvSpPr>
        <p:spPr>
          <a:xfrm>
            <a:off x="3280833" y="6275832"/>
            <a:ext cx="1" cy="84667"/>
          </a:xfrm>
          <a:custGeom>
            <a:avLst/>
            <a:gdLst/>
            <a:ahLst/>
            <a:cxnLst/>
            <a:rect l="0" t="0" r="r" b="b"/>
            <a:pathLst>
              <a:path w="1" h="84667" fill="none">
                <a:moveTo>
                  <a:pt x="0" y="0"/>
                </a:moveTo>
                <a:lnTo>
                  <a:pt x="0" y="84667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" name="old-cfg-C4"/>
          <p:cNvSpPr/>
          <p:nvPr/>
        </p:nvSpPr>
        <p:spPr>
          <a:xfrm>
            <a:off x="4516967" y="6275832"/>
            <a:ext cx="1" cy="84667"/>
          </a:xfrm>
          <a:custGeom>
            <a:avLst/>
            <a:gdLst/>
            <a:ahLst/>
            <a:cxnLst/>
            <a:rect l="0" t="0" r="r" b="b"/>
            <a:pathLst>
              <a:path w="1" h="84667" fill="none">
                <a:moveTo>
                  <a:pt x="0" y="0"/>
                </a:moveTo>
                <a:lnTo>
                  <a:pt x="0" y="84667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" name="old-cfg-C5"/>
          <p:cNvSpPr/>
          <p:nvPr/>
        </p:nvSpPr>
        <p:spPr>
          <a:xfrm>
            <a:off x="5753100" y="6275832"/>
            <a:ext cx="1" cy="84667"/>
          </a:xfrm>
          <a:custGeom>
            <a:avLst/>
            <a:gdLst/>
            <a:ahLst/>
            <a:cxnLst/>
            <a:rect l="0" t="0" r="r" b="b"/>
            <a:pathLst>
              <a:path w="1" h="84667" fill="none">
                <a:moveTo>
                  <a:pt x="0" y="0"/>
                </a:moveTo>
                <a:lnTo>
                  <a:pt x="0" y="84667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" name="old-cfg-C6"/>
          <p:cNvSpPr/>
          <p:nvPr/>
        </p:nvSpPr>
        <p:spPr>
          <a:xfrm>
            <a:off x="6989233" y="6275832"/>
            <a:ext cx="1" cy="84667"/>
          </a:xfrm>
          <a:custGeom>
            <a:avLst/>
            <a:gdLst/>
            <a:ahLst/>
            <a:cxnLst/>
            <a:rect l="0" t="0" r="r" b="b"/>
            <a:pathLst>
              <a:path w="1" h="84667" fill="none">
                <a:moveTo>
                  <a:pt x="0" y="0"/>
                </a:moveTo>
                <a:lnTo>
                  <a:pt x="0" y="84667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" name="old-cfg-C7"/>
          <p:cNvSpPr/>
          <p:nvPr/>
        </p:nvSpPr>
        <p:spPr>
          <a:xfrm>
            <a:off x="8225367" y="6275832"/>
            <a:ext cx="1" cy="84667"/>
          </a:xfrm>
          <a:custGeom>
            <a:avLst/>
            <a:gdLst/>
            <a:ahLst/>
            <a:cxnLst/>
            <a:rect l="0" t="0" r="r" b="b"/>
            <a:pathLst>
              <a:path w="1" h="84667" fill="none">
                <a:moveTo>
                  <a:pt x="0" y="0"/>
                </a:moveTo>
                <a:lnTo>
                  <a:pt x="0" y="84667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" name="old-cfg-C8"/>
          <p:cNvSpPr/>
          <p:nvPr/>
        </p:nvSpPr>
        <p:spPr>
          <a:xfrm>
            <a:off x="9461500" y="6275832"/>
            <a:ext cx="1" cy="84667"/>
          </a:xfrm>
          <a:custGeom>
            <a:avLst/>
            <a:gdLst/>
            <a:ahLst/>
            <a:cxnLst/>
            <a:rect l="0" t="0" r="r" b="b"/>
            <a:pathLst>
              <a:path w="1" h="84667" fill="none">
                <a:moveTo>
                  <a:pt x="0" y="0"/>
                </a:moveTo>
                <a:lnTo>
                  <a:pt x="0" y="84667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" name="old-cfg-C9"/>
          <p:cNvSpPr/>
          <p:nvPr/>
        </p:nvSpPr>
        <p:spPr>
          <a:xfrm>
            <a:off x="10697633" y="6275832"/>
            <a:ext cx="1" cy="84667"/>
          </a:xfrm>
          <a:custGeom>
            <a:avLst/>
            <a:gdLst/>
            <a:ahLst/>
            <a:cxnLst/>
            <a:rect l="0" t="0" r="r" b="b"/>
            <a:pathLst>
              <a:path w="1" h="84667" fill="none">
                <a:moveTo>
                  <a:pt x="0" y="0"/>
                </a:moveTo>
                <a:lnTo>
                  <a:pt x="0" y="84667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" name="legend-data"/>
          <p:cNvSpPr/>
          <p:nvPr/>
        </p:nvSpPr>
        <p:spPr>
          <a:xfrm>
            <a:off x="10227733" y="2438400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" name="legend-gb"/>
          <p:cNvSpPr/>
          <p:nvPr/>
        </p:nvSpPr>
        <p:spPr>
          <a:xfrm>
            <a:off x="10227733" y="2692400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" name="legend-pixel"/>
          <p:cNvSpPr/>
          <p:nvPr/>
        </p:nvSpPr>
        <p:spPr>
          <a:xfrm>
            <a:off x="10227733" y="2946400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" name="legend-cfg"/>
          <p:cNvSpPr/>
          <p:nvPr/>
        </p:nvSpPr>
        <p:spPr>
          <a:xfrm>
            <a:off x="10227733" y="3200400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" name="junction-84.25-1269"/>
          <p:cNvSpPr/>
          <p:nvPr/>
        </p:nvSpPr>
        <p:spPr>
          <a:xfrm>
            <a:off x="268393" y="4280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" name="junction-84.25-1369"/>
          <p:cNvSpPr/>
          <p:nvPr/>
        </p:nvSpPr>
        <p:spPr>
          <a:xfrm>
            <a:off x="268393" y="4619413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" name="junction-84.25-1469"/>
          <p:cNvSpPr/>
          <p:nvPr/>
        </p:nvSpPr>
        <p:spPr>
          <a:xfrm>
            <a:off x="268393" y="495808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" name="junction-84.25-1569"/>
          <p:cNvSpPr/>
          <p:nvPr/>
        </p:nvSpPr>
        <p:spPr>
          <a:xfrm>
            <a:off x="268393" y="5296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" name="junction-414.25-1269"/>
          <p:cNvSpPr/>
          <p:nvPr/>
        </p:nvSpPr>
        <p:spPr>
          <a:xfrm>
            <a:off x="1385993" y="4280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" name="junction-414.25-1369"/>
          <p:cNvSpPr/>
          <p:nvPr/>
        </p:nvSpPr>
        <p:spPr>
          <a:xfrm>
            <a:off x="1385993" y="4619413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" name="junction-414.25-1469"/>
          <p:cNvSpPr/>
          <p:nvPr/>
        </p:nvSpPr>
        <p:spPr>
          <a:xfrm>
            <a:off x="1385993" y="495808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" name="junction-414.25-1569"/>
          <p:cNvSpPr/>
          <p:nvPr/>
        </p:nvSpPr>
        <p:spPr>
          <a:xfrm>
            <a:off x="1385993" y="5296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" name="junction-744.25-1269"/>
          <p:cNvSpPr/>
          <p:nvPr/>
        </p:nvSpPr>
        <p:spPr>
          <a:xfrm>
            <a:off x="2503593" y="4280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" name="junction-744.25-1369"/>
          <p:cNvSpPr/>
          <p:nvPr/>
        </p:nvSpPr>
        <p:spPr>
          <a:xfrm>
            <a:off x="2503593" y="4619413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" name="junction-744.25-1469"/>
          <p:cNvSpPr/>
          <p:nvPr/>
        </p:nvSpPr>
        <p:spPr>
          <a:xfrm>
            <a:off x="2503593" y="495808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" name="junction-744.25-1569"/>
          <p:cNvSpPr/>
          <p:nvPr/>
        </p:nvSpPr>
        <p:spPr>
          <a:xfrm>
            <a:off x="2503593" y="5296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" name="junction-1074.25-1269"/>
          <p:cNvSpPr/>
          <p:nvPr/>
        </p:nvSpPr>
        <p:spPr>
          <a:xfrm>
            <a:off x="3621193" y="4280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1" name="junction-1074.25-1369"/>
          <p:cNvSpPr/>
          <p:nvPr/>
        </p:nvSpPr>
        <p:spPr>
          <a:xfrm>
            <a:off x="3621193" y="4619413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2" name="junction-1074.25-1469"/>
          <p:cNvSpPr/>
          <p:nvPr/>
        </p:nvSpPr>
        <p:spPr>
          <a:xfrm>
            <a:off x="3621193" y="495808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3" name="junction-1074.25-1569"/>
          <p:cNvSpPr/>
          <p:nvPr/>
        </p:nvSpPr>
        <p:spPr>
          <a:xfrm>
            <a:off x="3621193" y="5296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4" name="junction-1404.25-1269"/>
          <p:cNvSpPr/>
          <p:nvPr/>
        </p:nvSpPr>
        <p:spPr>
          <a:xfrm>
            <a:off x="4738793" y="4280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5" name="junction-1404.25-1369"/>
          <p:cNvSpPr/>
          <p:nvPr/>
        </p:nvSpPr>
        <p:spPr>
          <a:xfrm>
            <a:off x="4738793" y="4619413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6" name="junction-1404.25-1469"/>
          <p:cNvSpPr/>
          <p:nvPr/>
        </p:nvSpPr>
        <p:spPr>
          <a:xfrm>
            <a:off x="4738793" y="495808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7" name="junction-1404.25-1569"/>
          <p:cNvSpPr/>
          <p:nvPr/>
        </p:nvSpPr>
        <p:spPr>
          <a:xfrm>
            <a:off x="4738793" y="5296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8" name="cva6"/>
          <p:cNvSpPr/>
          <p:nvPr/>
        </p:nvSpPr>
        <p:spPr>
          <a:xfrm>
            <a:off x="325967" y="474133"/>
            <a:ext cx="846667" cy="7281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9" name="ara"/>
          <p:cNvSpPr/>
          <p:nvPr/>
        </p:nvSpPr>
        <p:spPr>
          <a:xfrm>
            <a:off x="1341967" y="474133"/>
            <a:ext cx="1964267" cy="4233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0" name="ara-filter"/>
          <p:cNvSpPr/>
          <p:nvPr/>
        </p:nvSpPr>
        <p:spPr>
          <a:xfrm>
            <a:off x="1409700" y="1049867"/>
            <a:ext cx="643467" cy="29125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1" name="ara-width"/>
          <p:cNvSpPr/>
          <p:nvPr/>
        </p:nvSpPr>
        <p:spPr>
          <a:xfrm>
            <a:off x="2798233" y="1049867"/>
            <a:ext cx="508000" cy="29125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2" name="npu"/>
          <p:cNvSpPr/>
          <p:nvPr/>
        </p:nvSpPr>
        <p:spPr>
          <a:xfrm>
            <a:off x="3678767" y="474133"/>
            <a:ext cx="914400" cy="592667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3" name="badge-C6"/>
          <p:cNvSpPr/>
          <p:nvPr/>
        </p:nvSpPr>
        <p:spPr>
          <a:xfrm>
            <a:off x="4389967" y="924560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4" name="gb-adapter"/>
          <p:cNvSpPr/>
          <p:nvPr/>
        </p:nvSpPr>
        <p:spPr>
          <a:xfrm>
            <a:off x="4711700" y="728133"/>
            <a:ext cx="778933" cy="7958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5" name="global-buffer"/>
          <p:cNvSpPr/>
          <p:nvPr/>
        </p:nvSpPr>
        <p:spPr>
          <a:xfrm>
            <a:off x="5626100" y="474133"/>
            <a:ext cx="1710267" cy="5757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6" name="badge-C9"/>
          <p:cNvSpPr/>
          <p:nvPr/>
        </p:nvSpPr>
        <p:spPr>
          <a:xfrm>
            <a:off x="7133167" y="914400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7" name="gb-mover"/>
          <p:cNvSpPr/>
          <p:nvPr/>
        </p:nvSpPr>
        <p:spPr>
          <a:xfrm>
            <a:off x="5626100" y="1168400"/>
            <a:ext cx="1710267" cy="406400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8" name="badge-C7"/>
          <p:cNvSpPr/>
          <p:nvPr/>
        </p:nvSpPr>
        <p:spPr>
          <a:xfrm>
            <a:off x="7133167" y="144610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9" name="lvds-rx"/>
          <p:cNvSpPr/>
          <p:nvPr/>
        </p:nvSpPr>
        <p:spPr>
          <a:xfrm>
            <a:off x="7691967" y="677333"/>
            <a:ext cx="558800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0" name="rx-cdc"/>
          <p:cNvSpPr/>
          <p:nvPr/>
        </p:nvSpPr>
        <p:spPr>
          <a:xfrm>
            <a:off x="8352367" y="677333"/>
            <a:ext cx="541867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1" name="isp"/>
          <p:cNvSpPr/>
          <p:nvPr/>
        </p:nvSpPr>
        <p:spPr>
          <a:xfrm>
            <a:off x="8995833" y="677333"/>
            <a:ext cx="558800" cy="626533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2" name="frame-select"/>
          <p:cNvSpPr/>
          <p:nvPr/>
        </p:nvSpPr>
        <p:spPr>
          <a:xfrm>
            <a:off x="9656233" y="677333"/>
            <a:ext cx="609600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3" name="frame-dma"/>
          <p:cNvSpPr/>
          <p:nvPr/>
        </p:nvSpPr>
        <p:spPr>
          <a:xfrm>
            <a:off x="10384367" y="677333"/>
            <a:ext cx="728133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4" name="badge-C4"/>
          <p:cNvSpPr/>
          <p:nvPr/>
        </p:nvSpPr>
        <p:spPr>
          <a:xfrm>
            <a:off x="8047567" y="116162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5" name="badge-C5"/>
          <p:cNvSpPr/>
          <p:nvPr/>
        </p:nvSpPr>
        <p:spPr>
          <a:xfrm>
            <a:off x="9351433" y="116162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6" name="badge-C8"/>
          <p:cNvSpPr/>
          <p:nvPr/>
        </p:nvSpPr>
        <p:spPr>
          <a:xfrm>
            <a:off x="10909300" y="116162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7" name="axi-crossbar"/>
          <p:cNvSpPr/>
          <p:nvPr/>
        </p:nvSpPr>
        <p:spPr>
          <a:xfrm>
            <a:off x="241300" y="2370667"/>
            <a:ext cx="9584267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8" name="xbar-in-S0"/>
          <p:cNvSpPr/>
          <p:nvPr/>
        </p:nvSpPr>
        <p:spPr>
          <a:xfrm>
            <a:off x="611199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9" name="xbar-in-S1"/>
          <p:cNvSpPr/>
          <p:nvPr/>
        </p:nvSpPr>
        <p:spPr>
          <a:xfrm>
            <a:off x="1676118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0" name="xbar-in-S2"/>
          <p:cNvSpPr/>
          <p:nvPr/>
        </p:nvSpPr>
        <p:spPr>
          <a:xfrm>
            <a:off x="2741036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1" name="xbar-in-S3"/>
          <p:cNvSpPr/>
          <p:nvPr/>
        </p:nvSpPr>
        <p:spPr>
          <a:xfrm>
            <a:off x="3805955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2" name="xbar-in-S4"/>
          <p:cNvSpPr/>
          <p:nvPr/>
        </p:nvSpPr>
        <p:spPr>
          <a:xfrm>
            <a:off x="4870873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3" name="xbar-in-S5"/>
          <p:cNvSpPr/>
          <p:nvPr/>
        </p:nvSpPr>
        <p:spPr>
          <a:xfrm>
            <a:off x="5935792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4" name="xbar-in-S6"/>
          <p:cNvSpPr/>
          <p:nvPr/>
        </p:nvSpPr>
        <p:spPr>
          <a:xfrm>
            <a:off x="7000710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5" name="xbar-in-S7"/>
          <p:cNvSpPr/>
          <p:nvPr/>
        </p:nvSpPr>
        <p:spPr>
          <a:xfrm>
            <a:off x="8065629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6" name="xbar-in-S_EXT"/>
          <p:cNvSpPr/>
          <p:nvPr/>
        </p:nvSpPr>
        <p:spPr>
          <a:xfrm>
            <a:off x="9130547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7" name="debug-sba"/>
          <p:cNvSpPr/>
          <p:nvPr/>
        </p:nvSpPr>
        <p:spPr>
          <a:xfrm>
            <a:off x="1354384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8" name="idma-master"/>
          <p:cNvSpPr/>
          <p:nvPr/>
        </p:nvSpPr>
        <p:spPr>
          <a:xfrm>
            <a:off x="3484221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9" name="slink-rx"/>
          <p:cNvSpPr/>
          <p:nvPr/>
        </p:nvSpPr>
        <p:spPr>
          <a:xfrm>
            <a:off x="4549140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0" name="vga"/>
          <p:cNvSpPr/>
          <p:nvPr/>
        </p:nvSpPr>
        <p:spPr>
          <a:xfrm>
            <a:off x="5614059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1" name="usb-dma"/>
          <p:cNvSpPr/>
          <p:nvPr/>
        </p:nvSpPr>
        <p:spPr>
          <a:xfrm>
            <a:off x="6678977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2" name="emmc-host"/>
          <p:cNvSpPr/>
          <p:nvPr/>
        </p:nvSpPr>
        <p:spPr>
          <a:xfrm>
            <a:off x="7743896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3" name="ext-master"/>
          <p:cNvSpPr/>
          <p:nvPr/>
        </p:nvSpPr>
        <p:spPr>
          <a:xfrm>
            <a:off x="8808814" y="1879600"/>
            <a:ext cx="968587" cy="338667"/>
          </a:xfrm>
          <a:prstGeom prst="rect">
            <a:avLst/>
          </a:prstGeom>
          <a:solidFill>
            <a:srgbClr val="F5F5F7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4" name="badge-C10"/>
          <p:cNvSpPr/>
          <p:nvPr/>
        </p:nvSpPr>
        <p:spPr>
          <a:xfrm>
            <a:off x="8505896" y="2113280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5" name="xbar-out-M0"/>
          <p:cNvSpPr/>
          <p:nvPr/>
        </p:nvSpPr>
        <p:spPr>
          <a:xfrm>
            <a:off x="763330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6" name="debug-target"/>
          <p:cNvSpPr/>
          <p:nvPr/>
        </p:nvSpPr>
        <p:spPr>
          <a:xfrm>
            <a:off x="316290" y="3048000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7" name="xbar-out-M1"/>
          <p:cNvSpPr/>
          <p:nvPr/>
        </p:nvSpPr>
        <p:spPr>
          <a:xfrm>
            <a:off x="2132511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8" name="reg-bridge"/>
          <p:cNvSpPr/>
          <p:nvPr/>
        </p:nvSpPr>
        <p:spPr>
          <a:xfrm>
            <a:off x="1685471" y="3048000"/>
            <a:ext cx="1219200" cy="5249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9" name="xbar-out-M2"/>
          <p:cNvSpPr/>
          <p:nvPr/>
        </p:nvSpPr>
        <p:spPr>
          <a:xfrm>
            <a:off x="3501692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0" name="memory-target"/>
          <p:cNvSpPr/>
          <p:nvPr/>
        </p:nvSpPr>
        <p:spPr>
          <a:xfrm>
            <a:off x="2986919" y="3048000"/>
            <a:ext cx="1354667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1" name="atomics"/>
          <p:cNvSpPr/>
          <p:nvPr/>
        </p:nvSpPr>
        <p:spPr>
          <a:xfrm>
            <a:off x="3020786" y="3251200"/>
            <a:ext cx="626533" cy="28448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2" name="llc-spm"/>
          <p:cNvSpPr/>
          <p:nvPr/>
        </p:nvSpPr>
        <p:spPr>
          <a:xfrm>
            <a:off x="3731986" y="3251200"/>
            <a:ext cx="575733" cy="28448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3" name="xbar-out-M3"/>
          <p:cNvSpPr/>
          <p:nvPr/>
        </p:nvSpPr>
        <p:spPr>
          <a:xfrm>
            <a:off x="4870873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4" name="idma-config"/>
          <p:cNvSpPr/>
          <p:nvPr/>
        </p:nvSpPr>
        <p:spPr>
          <a:xfrm>
            <a:off x="4423833" y="3048000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5" name="xbar-out-M4"/>
          <p:cNvSpPr/>
          <p:nvPr/>
        </p:nvSpPr>
        <p:spPr>
          <a:xfrm>
            <a:off x="6240054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6" name="slink-tx"/>
          <p:cNvSpPr/>
          <p:nvPr/>
        </p:nvSpPr>
        <p:spPr>
          <a:xfrm>
            <a:off x="5793014" y="3048000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7" name="xbar-out-M5"/>
          <p:cNvSpPr/>
          <p:nvPr/>
        </p:nvSpPr>
        <p:spPr>
          <a:xfrm>
            <a:off x="7609235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8" name="gb-interface"/>
          <p:cNvSpPr/>
          <p:nvPr/>
        </p:nvSpPr>
        <p:spPr>
          <a:xfrm>
            <a:off x="7162195" y="3048000"/>
            <a:ext cx="1219200" cy="5249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9" name="xbar-out-M_EXT"/>
          <p:cNvSpPr/>
          <p:nvPr/>
        </p:nvSpPr>
        <p:spPr>
          <a:xfrm>
            <a:off x="8978416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0" name="ext-target"/>
          <p:cNvSpPr/>
          <p:nvPr/>
        </p:nvSpPr>
        <p:spPr>
          <a:xfrm>
            <a:off x="8531376" y="3048000"/>
            <a:ext cx="1219200" cy="524933"/>
          </a:xfrm>
          <a:prstGeom prst="rect">
            <a:avLst/>
          </a:prstGeom>
          <a:solidFill>
            <a:srgbClr val="F5F5F7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1" name="emmc-device"/>
          <p:cNvSpPr/>
          <p:nvPr/>
        </p:nvSpPr>
        <p:spPr>
          <a:xfrm>
            <a:off x="11413067" y="1879600"/>
            <a:ext cx="711200" cy="338667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2" name="regbus"/>
          <p:cNvSpPr/>
          <p:nvPr/>
        </p:nvSpPr>
        <p:spPr>
          <a:xfrm>
            <a:off x="241300" y="3843867"/>
            <a:ext cx="5689600" cy="2201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3" name="bootrom"/>
          <p:cNvSpPr/>
          <p:nvPr/>
        </p:nvSpPr>
        <p:spPr>
          <a:xfrm>
            <a:off x="359833" y="4165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4" name="uart"/>
          <p:cNvSpPr/>
          <p:nvPr/>
        </p:nvSpPr>
        <p:spPr>
          <a:xfrm>
            <a:off x="359833" y="4504267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5" name="vga-regs"/>
          <p:cNvSpPr/>
          <p:nvPr/>
        </p:nvSpPr>
        <p:spPr>
          <a:xfrm>
            <a:off x="359833" y="4842933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6" name="irq-router"/>
          <p:cNvSpPr/>
          <p:nvPr/>
        </p:nvSpPr>
        <p:spPr>
          <a:xfrm>
            <a:off x="359833" y="5181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7" name="clint"/>
          <p:cNvSpPr/>
          <p:nvPr/>
        </p:nvSpPr>
        <p:spPr>
          <a:xfrm>
            <a:off x="1477433" y="4165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8" name="i2c"/>
          <p:cNvSpPr/>
          <p:nvPr/>
        </p:nvSpPr>
        <p:spPr>
          <a:xfrm>
            <a:off x="1477433" y="4504267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9" name="usb-regs"/>
          <p:cNvSpPr/>
          <p:nvPr/>
        </p:nvSpPr>
        <p:spPr>
          <a:xfrm>
            <a:off x="1477433" y="4842933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0" name="axi-rt-config"/>
          <p:cNvSpPr/>
          <p:nvPr/>
        </p:nvSpPr>
        <p:spPr>
          <a:xfrm>
            <a:off x="1477433" y="5181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1" name="soc-regs"/>
          <p:cNvSpPr/>
          <p:nvPr/>
        </p:nvSpPr>
        <p:spPr>
          <a:xfrm>
            <a:off x="2595033" y="4165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2" name="spi"/>
          <p:cNvSpPr/>
          <p:nvPr/>
        </p:nvSpPr>
        <p:spPr>
          <a:xfrm>
            <a:off x="2595033" y="4504267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3" name="err-vga"/>
          <p:cNvSpPr/>
          <p:nvPr/>
        </p:nvSpPr>
        <p:spPr>
          <a:xfrm>
            <a:off x="2595033" y="4842933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4" name="clic"/>
          <p:cNvSpPr/>
          <p:nvPr/>
        </p:nvSpPr>
        <p:spPr>
          <a:xfrm>
            <a:off x="2595033" y="5181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5" name="plic"/>
          <p:cNvSpPr/>
          <p:nvPr/>
        </p:nvSpPr>
        <p:spPr>
          <a:xfrm>
            <a:off x="3712633" y="4165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6" name="gpio"/>
          <p:cNvSpPr/>
          <p:nvPr/>
        </p:nvSpPr>
        <p:spPr>
          <a:xfrm>
            <a:off x="3712633" y="4504267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7" name="err-dma"/>
          <p:cNvSpPr/>
          <p:nvPr/>
        </p:nvSpPr>
        <p:spPr>
          <a:xfrm>
            <a:off x="3712633" y="4842933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8" name="reg-error"/>
          <p:cNvSpPr/>
          <p:nvPr/>
        </p:nvSpPr>
        <p:spPr>
          <a:xfrm>
            <a:off x="3712633" y="5181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9" name="llc-regs"/>
          <p:cNvSpPr/>
          <p:nvPr/>
        </p:nvSpPr>
        <p:spPr>
          <a:xfrm>
            <a:off x="4830233" y="4165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0" name="slink-regs"/>
          <p:cNvSpPr/>
          <p:nvPr/>
        </p:nvSpPr>
        <p:spPr>
          <a:xfrm>
            <a:off x="4830233" y="4504267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1" name="err-cpu"/>
          <p:cNvSpPr/>
          <p:nvPr/>
        </p:nvSpPr>
        <p:spPr>
          <a:xfrm>
            <a:off x="4830233" y="4842933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2" name="reg-ext"/>
          <p:cNvSpPr/>
          <p:nvPr/>
        </p:nvSpPr>
        <p:spPr>
          <a:xfrm>
            <a:off x="4830233" y="5181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3" name="config-C10"/>
          <p:cNvSpPr/>
          <p:nvPr/>
        </p:nvSpPr>
        <p:spPr>
          <a:xfrm>
            <a:off x="359833" y="5554133"/>
            <a:ext cx="1693333" cy="264160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4" name="reg-badge-C10"/>
          <p:cNvSpPr/>
          <p:nvPr/>
        </p:nvSpPr>
        <p:spPr>
          <a:xfrm>
            <a:off x="383540" y="5564293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5" name="config-C11"/>
          <p:cNvSpPr/>
          <p:nvPr/>
        </p:nvSpPr>
        <p:spPr>
          <a:xfrm>
            <a:off x="2222500" y="5554133"/>
            <a:ext cx="1693333" cy="264160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6" name="reg-badge-C11"/>
          <p:cNvSpPr/>
          <p:nvPr/>
        </p:nvSpPr>
        <p:spPr>
          <a:xfrm>
            <a:off x="2246207" y="5564293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7" name="config-C12"/>
          <p:cNvSpPr/>
          <p:nvPr/>
        </p:nvSpPr>
        <p:spPr>
          <a:xfrm>
            <a:off x="4085167" y="5554133"/>
            <a:ext cx="1693333" cy="264160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8" name="reg-badge-C12"/>
          <p:cNvSpPr/>
          <p:nvPr/>
        </p:nvSpPr>
        <p:spPr>
          <a:xfrm>
            <a:off x="4108873" y="5564293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9" name="front-F0"/>
          <p:cNvSpPr/>
          <p:nvPr/>
        </p:nvSpPr>
        <p:spPr>
          <a:xfrm>
            <a:off x="6441440" y="3914987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0" name="front-F1"/>
          <p:cNvSpPr/>
          <p:nvPr/>
        </p:nvSpPr>
        <p:spPr>
          <a:xfrm>
            <a:off x="7372773" y="3914987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1" name="front-F2"/>
          <p:cNvSpPr/>
          <p:nvPr/>
        </p:nvSpPr>
        <p:spPr>
          <a:xfrm>
            <a:off x="8304107" y="3914987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2" name="front-F3"/>
          <p:cNvSpPr/>
          <p:nvPr/>
        </p:nvSpPr>
        <p:spPr>
          <a:xfrm>
            <a:off x="9235440" y="3914987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3" name="front-adapt"/>
          <p:cNvSpPr/>
          <p:nvPr/>
        </p:nvSpPr>
        <p:spPr>
          <a:xfrm>
            <a:off x="6197600" y="4097867"/>
            <a:ext cx="3657600" cy="203200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4" name="compressor"/>
          <p:cNvSpPr/>
          <p:nvPr/>
        </p:nvSpPr>
        <p:spPr>
          <a:xfrm>
            <a:off x="6197600" y="4402667"/>
            <a:ext cx="863600" cy="406400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5" name="decompressor"/>
          <p:cNvSpPr/>
          <p:nvPr/>
        </p:nvSpPr>
        <p:spPr>
          <a:xfrm>
            <a:off x="7128933" y="4402667"/>
            <a:ext cx="863600" cy="406400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6" name="plain-bypass"/>
          <p:cNvSpPr/>
          <p:nvPr/>
        </p:nvSpPr>
        <p:spPr>
          <a:xfrm>
            <a:off x="8060267" y="4402667"/>
            <a:ext cx="863600" cy="406400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7" name="metadata"/>
          <p:cNvSpPr/>
          <p:nvPr/>
        </p:nvSpPr>
        <p:spPr>
          <a:xfrm>
            <a:off x="8991600" y="4402667"/>
            <a:ext cx="863600" cy="406400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8" name="front-route"/>
          <p:cNvSpPr/>
          <p:nvPr/>
        </p:nvSpPr>
        <p:spPr>
          <a:xfrm>
            <a:off x="6197600" y="4910667"/>
            <a:ext cx="3657600" cy="1693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9" name="badge-C12"/>
          <p:cNvSpPr/>
          <p:nvPr/>
        </p:nvSpPr>
        <p:spPr>
          <a:xfrm>
            <a:off x="9652000" y="3992880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0" name="ddr-S0"/>
          <p:cNvSpPr/>
          <p:nvPr/>
        </p:nvSpPr>
        <p:spPr>
          <a:xfrm>
            <a:off x="6441440" y="5252720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1" name="ddr-S1"/>
          <p:cNvSpPr/>
          <p:nvPr/>
        </p:nvSpPr>
        <p:spPr>
          <a:xfrm>
            <a:off x="7372773" y="5252720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2" name="ddr-S2"/>
          <p:cNvSpPr/>
          <p:nvPr/>
        </p:nvSpPr>
        <p:spPr>
          <a:xfrm>
            <a:off x="8304107" y="5252720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3" name="ddr-S3"/>
          <p:cNvSpPr/>
          <p:nvPr/>
        </p:nvSpPr>
        <p:spPr>
          <a:xfrm>
            <a:off x="9235440" y="5252720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4" name="ddr-arb"/>
          <p:cNvSpPr/>
          <p:nvPr/>
        </p:nvSpPr>
        <p:spPr>
          <a:xfrm>
            <a:off x="6197600" y="5401733"/>
            <a:ext cx="3657600" cy="1354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5" name="ddr-rw"/>
          <p:cNvSpPr/>
          <p:nvPr/>
        </p:nvSpPr>
        <p:spPr>
          <a:xfrm>
            <a:off x="6197600" y="5571067"/>
            <a:ext cx="1608667" cy="1693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6" name="ddr-command"/>
          <p:cNvSpPr/>
          <p:nvPr/>
        </p:nvSpPr>
        <p:spPr>
          <a:xfrm>
            <a:off x="8212667" y="5571067"/>
            <a:ext cx="1642533" cy="1693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7" name="badge-C2"/>
          <p:cNvSpPr/>
          <p:nvPr/>
        </p:nvSpPr>
        <p:spPr>
          <a:xfrm>
            <a:off x="9652000" y="5757333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8" name="ddr-phy"/>
          <p:cNvSpPr/>
          <p:nvPr/>
        </p:nvSpPr>
        <p:spPr>
          <a:xfrm>
            <a:off x="10261600" y="5655733"/>
            <a:ext cx="863600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9" name="badge-C3"/>
          <p:cNvSpPr/>
          <p:nvPr/>
        </p:nvSpPr>
        <p:spPr>
          <a:xfrm>
            <a:off x="10905067" y="588602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0" name="ddr-device"/>
          <p:cNvSpPr/>
          <p:nvPr/>
        </p:nvSpPr>
        <p:spPr>
          <a:xfrm>
            <a:off x="11501967" y="5655733"/>
            <a:ext cx="508000" cy="338667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1" name="roi-scheduler"/>
          <p:cNvSpPr/>
          <p:nvPr/>
        </p:nvSpPr>
        <p:spPr>
          <a:xfrm>
            <a:off x="10261600" y="4114800"/>
            <a:ext cx="880533" cy="2709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2" name="roi-vdma"/>
          <p:cNvSpPr/>
          <p:nvPr/>
        </p:nvSpPr>
        <p:spPr>
          <a:xfrm>
            <a:off x="10261600" y="4470400"/>
            <a:ext cx="880533" cy="2709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3" name="roi-fifo"/>
          <p:cNvSpPr/>
          <p:nvPr/>
        </p:nvSpPr>
        <p:spPr>
          <a:xfrm>
            <a:off x="10261600" y="4826000"/>
            <a:ext cx="880533" cy="2709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4" name="lvds-tx"/>
          <p:cNvSpPr/>
          <p:nvPr/>
        </p:nvSpPr>
        <p:spPr>
          <a:xfrm>
            <a:off x="10261600" y="5181600"/>
            <a:ext cx="880533" cy="2709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5" name="badge-C11"/>
          <p:cNvSpPr/>
          <p:nvPr/>
        </p:nvSpPr>
        <p:spPr>
          <a:xfrm>
            <a:off x="11006667" y="546946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6" name="pll"/>
          <p:cNvSpPr/>
          <p:nvPr/>
        </p:nvSpPr>
        <p:spPr>
          <a:xfrm>
            <a:off x="7200900" y="5937165"/>
            <a:ext cx="1778000" cy="25061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7" name="badge-C1"/>
          <p:cNvSpPr/>
          <p:nvPr/>
        </p:nvSpPr>
        <p:spPr>
          <a:xfrm>
            <a:off x="8738447" y="600828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8" name="config-C1"/>
          <p:cNvSpPr/>
          <p:nvPr/>
        </p:nvSpPr>
        <p:spPr>
          <a:xfrm>
            <a:off x="241300" y="6360499"/>
            <a:ext cx="1134533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9" name="reg-badge-C1"/>
          <p:cNvSpPr/>
          <p:nvPr/>
        </p:nvSpPr>
        <p:spPr>
          <a:xfrm>
            <a:off x="268393" y="6390979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0" name="config-C2"/>
          <p:cNvSpPr/>
          <p:nvPr/>
        </p:nvSpPr>
        <p:spPr>
          <a:xfrm>
            <a:off x="1477433" y="6360499"/>
            <a:ext cx="1134533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1" name="reg-badge-C2"/>
          <p:cNvSpPr/>
          <p:nvPr/>
        </p:nvSpPr>
        <p:spPr>
          <a:xfrm>
            <a:off x="1504527" y="6390979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2" name="config-C3"/>
          <p:cNvSpPr/>
          <p:nvPr/>
        </p:nvSpPr>
        <p:spPr>
          <a:xfrm>
            <a:off x="2713567" y="6360499"/>
            <a:ext cx="1134533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3" name="reg-badge-C3"/>
          <p:cNvSpPr/>
          <p:nvPr/>
        </p:nvSpPr>
        <p:spPr>
          <a:xfrm>
            <a:off x="2740660" y="6390979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4" name="config-C4"/>
          <p:cNvSpPr/>
          <p:nvPr/>
        </p:nvSpPr>
        <p:spPr>
          <a:xfrm>
            <a:off x="3949700" y="6360499"/>
            <a:ext cx="1134533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5" name="reg-badge-C4"/>
          <p:cNvSpPr/>
          <p:nvPr/>
        </p:nvSpPr>
        <p:spPr>
          <a:xfrm>
            <a:off x="3976793" y="6390979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6" name="config-C5"/>
          <p:cNvSpPr/>
          <p:nvPr/>
        </p:nvSpPr>
        <p:spPr>
          <a:xfrm>
            <a:off x="5185833" y="6360499"/>
            <a:ext cx="1134533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7" name="reg-badge-C5"/>
          <p:cNvSpPr/>
          <p:nvPr/>
        </p:nvSpPr>
        <p:spPr>
          <a:xfrm>
            <a:off x="5212927" y="6390979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8" name="config-C6"/>
          <p:cNvSpPr/>
          <p:nvPr/>
        </p:nvSpPr>
        <p:spPr>
          <a:xfrm>
            <a:off x="6421967" y="6360499"/>
            <a:ext cx="1134533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9" name="reg-badge-C6"/>
          <p:cNvSpPr/>
          <p:nvPr/>
        </p:nvSpPr>
        <p:spPr>
          <a:xfrm>
            <a:off x="6449060" y="6390979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0" name="config-C7"/>
          <p:cNvSpPr/>
          <p:nvPr/>
        </p:nvSpPr>
        <p:spPr>
          <a:xfrm>
            <a:off x="7658100" y="6360499"/>
            <a:ext cx="1134533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1" name="reg-badge-C7"/>
          <p:cNvSpPr/>
          <p:nvPr/>
        </p:nvSpPr>
        <p:spPr>
          <a:xfrm>
            <a:off x="7685193" y="6390979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2" name="config-C8"/>
          <p:cNvSpPr/>
          <p:nvPr/>
        </p:nvSpPr>
        <p:spPr>
          <a:xfrm>
            <a:off x="8894233" y="6360499"/>
            <a:ext cx="1134533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3" name="reg-badge-C8"/>
          <p:cNvSpPr/>
          <p:nvPr/>
        </p:nvSpPr>
        <p:spPr>
          <a:xfrm>
            <a:off x="8921327" y="6390979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4" name="config-C9"/>
          <p:cNvSpPr/>
          <p:nvPr/>
        </p:nvSpPr>
        <p:spPr>
          <a:xfrm>
            <a:off x="10130367" y="6360499"/>
            <a:ext cx="1134533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5" name="reg-badge-C9"/>
          <p:cNvSpPr/>
          <p:nvPr/>
        </p:nvSpPr>
        <p:spPr>
          <a:xfrm>
            <a:off x="10157460" y="6390979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6" name="compute-title: CVA6–Ara 计算平台"/>
          <p:cNvSpPr txBox="1"/>
          <p:nvPr/>
        </p:nvSpPr>
        <p:spPr>
          <a:xfrm>
            <a:off x="1238652" y="193446"/>
            <a:ext cx="1171829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计算平台</a:t>
            </a:r>
          </a:p>
        </p:txBody>
      </p:sp>
      <p:sp>
        <p:nvSpPr>
          <p:cNvPr id="267" name="gb-region-title: NPU / 独立 Global Buffer 子系统"/>
          <p:cNvSpPr txBox="1"/>
          <p:nvPr/>
        </p:nvSpPr>
        <p:spPr>
          <a:xfrm>
            <a:off x="4586494" y="193446"/>
            <a:ext cx="1859079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独立 Global Buffer 子系统</a:t>
            </a:r>
          </a:p>
        </p:txBody>
      </p:sp>
      <p:sp>
        <p:nvSpPr>
          <p:cNvPr id="268" name="image-rx-title: 图像采集与 ISP"/>
          <p:cNvSpPr txBox="1"/>
          <p:nvPr/>
        </p:nvSpPr>
        <p:spPr>
          <a:xfrm>
            <a:off x="8938972" y="193446"/>
            <a:ext cx="943457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 ISP</a:t>
            </a:r>
          </a:p>
        </p:txBody>
      </p:sp>
      <p:sp>
        <p:nvSpPr>
          <p:cNvPr id="269" name="cva6-t0: CVA6 core 0"/>
          <p:cNvSpPr txBox="1"/>
          <p:nvPr/>
        </p:nvSpPr>
        <p:spPr>
          <a:xfrm>
            <a:off x="401743" y="640148"/>
            <a:ext cx="695113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270" name="cva6-t1: L1 I / D cache"/>
          <p:cNvSpPr txBox="1"/>
          <p:nvPr/>
        </p:nvSpPr>
        <p:spPr>
          <a:xfrm>
            <a:off x="377777" y="771144"/>
            <a:ext cx="74304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271" name="cva6-t2: MMU / AXI 适配"/>
          <p:cNvSpPr txBox="1"/>
          <p:nvPr/>
        </p:nvSpPr>
        <p:spPr>
          <a:xfrm>
            <a:off x="367345" y="894012"/>
            <a:ext cx="763910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/ AXI 适配</a:t>
            </a:r>
          </a:p>
        </p:txBody>
      </p:sp>
      <p:sp>
        <p:nvSpPr>
          <p:cNvPr id="272" name="ara-t0: Ara 向量处理器"/>
          <p:cNvSpPr txBox="1"/>
          <p:nvPr/>
        </p:nvSpPr>
        <p:spPr>
          <a:xfrm>
            <a:off x="1905900" y="544644"/>
            <a:ext cx="836401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向量处理器</a:t>
            </a:r>
          </a:p>
        </p:txBody>
      </p:sp>
      <p:sp>
        <p:nvSpPr>
          <p:cNvPr id="273" name="ara-t1: 2 lanes · VLSU / AXI：64 bit"/>
          <p:cNvSpPr txBox="1"/>
          <p:nvPr/>
        </p:nvSpPr>
        <p:spPr>
          <a:xfrm>
            <a:off x="1637948" y="675640"/>
            <a:ext cx="137230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2 lanes · VLSU / AXI：64 bit</a:t>
            </a:r>
          </a:p>
        </p:txBody>
      </p:sp>
      <p:sp>
        <p:nvSpPr>
          <p:cNvPr id="274" name="ara-filter-t0: 失效过滤"/>
          <p:cNvSpPr txBox="1"/>
          <p:nvPr/>
        </p:nvSpPr>
        <p:spPr>
          <a:xfrm>
            <a:off x="1477433" y="1067477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275" name="ara-filter-t1: 现有 filter"/>
          <p:cNvSpPr txBox="1"/>
          <p:nvPr/>
        </p:nvSpPr>
        <p:spPr>
          <a:xfrm>
            <a:off x="1500034" y="1191294"/>
            <a:ext cx="46279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276" name="ara-width-t0: 等宽透传"/>
          <p:cNvSpPr txBox="1"/>
          <p:nvPr/>
        </p:nvSpPr>
        <p:spPr>
          <a:xfrm>
            <a:off x="2798233" y="1067477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等宽透传</a:t>
            </a:r>
          </a:p>
        </p:txBody>
      </p:sp>
      <p:sp>
        <p:nvSpPr>
          <p:cNvPr id="277" name="ara-width-t1: 64 → 64 bit"/>
          <p:cNvSpPr txBox="1"/>
          <p:nvPr/>
        </p:nvSpPr>
        <p:spPr>
          <a:xfrm>
            <a:off x="2770653" y="1191294"/>
            <a:ext cx="5631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 → 64 bit</a:t>
            </a:r>
          </a:p>
        </p:txBody>
      </p:sp>
      <p:sp>
        <p:nvSpPr>
          <p:cNvPr id="278" name="command-label: 指令 / MMU"/>
          <p:cNvSpPr txBox="1"/>
          <p:nvPr/>
        </p:nvSpPr>
        <p:spPr>
          <a:xfrm>
            <a:off x="971404" y="345169"/>
            <a:ext cx="56332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279" name="npu-t0: NPU 计算引擎"/>
          <p:cNvSpPr txBox="1"/>
          <p:nvPr/>
        </p:nvSpPr>
        <p:spPr>
          <a:xfrm>
            <a:off x="3772331" y="642451"/>
            <a:ext cx="72727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280" name="npu-t1: GB 数据读写"/>
          <p:cNvSpPr txBox="1"/>
          <p:nvPr/>
        </p:nvSpPr>
        <p:spPr>
          <a:xfrm>
            <a:off x="3846351" y="766267"/>
            <a:ext cx="579231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数据读写</a:t>
            </a:r>
          </a:p>
        </p:txBody>
      </p:sp>
      <p:sp>
        <p:nvSpPr>
          <p:cNvPr id="281" name="badge-C6-text: C6"/>
          <p:cNvSpPr txBox="1"/>
          <p:nvPr/>
        </p:nvSpPr>
        <p:spPr>
          <a:xfrm>
            <a:off x="4400815" y="915484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282" name="gb-adapter-t0: GB 访问适配"/>
          <p:cNvSpPr txBox="1"/>
          <p:nvPr/>
        </p:nvSpPr>
        <p:spPr>
          <a:xfrm>
            <a:off x="4766998" y="945219"/>
            <a:ext cx="66833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283" name="gb-adapter-t1: 局部仲裁 / 路由"/>
          <p:cNvSpPr txBox="1"/>
          <p:nvPr/>
        </p:nvSpPr>
        <p:spPr>
          <a:xfrm>
            <a:off x="4743707" y="1069035"/>
            <a:ext cx="714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284" name="gb-adapter-t2: bank 冲突处理"/>
          <p:cNvSpPr txBox="1"/>
          <p:nvPr/>
        </p:nvSpPr>
        <p:spPr>
          <a:xfrm>
            <a:off x="4774621" y="1174699"/>
            <a:ext cx="65309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冲突处理</a:t>
            </a:r>
          </a:p>
        </p:txBody>
      </p:sp>
      <p:sp>
        <p:nvSpPr>
          <p:cNvPr id="285" name="global-buffer-t0: Global Buffer"/>
          <p:cNvSpPr txBox="1"/>
          <p:nvPr/>
        </p:nvSpPr>
        <p:spPr>
          <a:xfrm>
            <a:off x="6119760" y="568012"/>
            <a:ext cx="722948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286" name="global-buffer-t1: 独立 SRAM · 分 bank"/>
          <p:cNvSpPr txBox="1"/>
          <p:nvPr/>
        </p:nvSpPr>
        <p:spPr>
          <a:xfrm>
            <a:off x="5998895" y="699956"/>
            <a:ext cx="964676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287" name="global-buffer-t2: CPU / Ara / NPU / ISP"/>
          <p:cNvSpPr txBox="1"/>
          <p:nvPr/>
        </p:nvSpPr>
        <p:spPr>
          <a:xfrm>
            <a:off x="5964854" y="813748"/>
            <a:ext cx="1032759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NPU / ISP</a:t>
            </a:r>
          </a:p>
        </p:txBody>
      </p:sp>
      <p:sp>
        <p:nvSpPr>
          <p:cNvPr id="288" name="badge-C9-text: C9"/>
          <p:cNvSpPr txBox="1"/>
          <p:nvPr/>
        </p:nvSpPr>
        <p:spPr>
          <a:xfrm>
            <a:off x="7144015" y="905324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289" name="gb-mover-t0: NPU / GB 搬运引擎"/>
          <p:cNvSpPr txBox="1"/>
          <p:nvPr/>
        </p:nvSpPr>
        <p:spPr>
          <a:xfrm>
            <a:off x="5995808" y="1243584"/>
            <a:ext cx="97085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搬运引擎</a:t>
            </a:r>
          </a:p>
        </p:txBody>
      </p:sp>
      <p:sp>
        <p:nvSpPr>
          <p:cNvPr id="290" name="gb-mover-t1: DDR ↔ GB · AXI 主口"/>
          <p:cNvSpPr txBox="1"/>
          <p:nvPr/>
        </p:nvSpPr>
        <p:spPr>
          <a:xfrm>
            <a:off x="6027200" y="1367401"/>
            <a:ext cx="908066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AXI 主口</a:t>
            </a:r>
          </a:p>
        </p:txBody>
      </p:sp>
      <p:sp>
        <p:nvSpPr>
          <p:cNvPr id="291" name="badge-C7-text: C7"/>
          <p:cNvSpPr txBox="1"/>
          <p:nvPr/>
        </p:nvSpPr>
        <p:spPr>
          <a:xfrm>
            <a:off x="7144015" y="1437030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292" name="lvds-rx-t0: LVDS 接收"/>
          <p:cNvSpPr txBox="1"/>
          <p:nvPr/>
        </p:nvSpPr>
        <p:spPr>
          <a:xfrm>
            <a:off x="7684971" y="862584"/>
            <a:ext cx="57279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293" name="lvds-rx-t1: 解串 / 帧行"/>
          <p:cNvSpPr txBox="1"/>
          <p:nvPr/>
        </p:nvSpPr>
        <p:spPr>
          <a:xfrm>
            <a:off x="7701960" y="986401"/>
            <a:ext cx="53881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294" name="rx-cdc-t0: CDC / FIFO"/>
          <p:cNvSpPr txBox="1"/>
          <p:nvPr/>
        </p:nvSpPr>
        <p:spPr>
          <a:xfrm>
            <a:off x="8323858" y="862584"/>
            <a:ext cx="59888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295" name="rx-cdc-t1: 像素流缓冲"/>
          <p:cNvSpPr txBox="1"/>
          <p:nvPr/>
        </p:nvSpPr>
        <p:spPr>
          <a:xfrm>
            <a:off x="8359140" y="986401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296" name="isp-t0: ISP"/>
          <p:cNvSpPr txBox="1"/>
          <p:nvPr/>
        </p:nvSpPr>
        <p:spPr>
          <a:xfrm>
            <a:off x="9151355" y="862584"/>
            <a:ext cx="2477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297" name="isp-t1: 行缓存 / 处理"/>
          <p:cNvSpPr txBox="1"/>
          <p:nvPr/>
        </p:nvSpPr>
        <p:spPr>
          <a:xfrm>
            <a:off x="8961800" y="986401"/>
            <a:ext cx="6268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行缓存 / 处理</a:t>
            </a:r>
          </a:p>
        </p:txBody>
      </p:sp>
      <p:sp>
        <p:nvSpPr>
          <p:cNvPr id="298" name="frame-select-t0: 帧边界选择"/>
          <p:cNvSpPr txBox="1"/>
          <p:nvPr/>
        </p:nvSpPr>
        <p:spPr>
          <a:xfrm>
            <a:off x="9656233" y="862584"/>
            <a:ext cx="6096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299" name="frame-select-t1: RAW / ISP"/>
          <p:cNvSpPr txBox="1"/>
          <p:nvPr/>
        </p:nvSpPr>
        <p:spPr>
          <a:xfrm>
            <a:off x="9716431" y="986401"/>
            <a:ext cx="48920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300" name="frame-dma-t0: 帧写入 DMA"/>
          <p:cNvSpPr txBox="1"/>
          <p:nvPr/>
        </p:nvSpPr>
        <p:spPr>
          <a:xfrm>
            <a:off x="10426470" y="862584"/>
            <a:ext cx="64392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301" name="frame-dma-t1: 地址 / stride"/>
          <p:cNvSpPr txBox="1"/>
          <p:nvPr/>
        </p:nvSpPr>
        <p:spPr>
          <a:xfrm>
            <a:off x="10458088" y="986401"/>
            <a:ext cx="58069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302" name="raw-bypass-label: RAW 旁路"/>
          <p:cNvSpPr txBox="1"/>
          <p:nvPr/>
        </p:nvSpPr>
        <p:spPr>
          <a:xfrm>
            <a:off x="9046218" y="389196"/>
            <a:ext cx="46649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303" name="badge-C4-text: C4"/>
          <p:cNvSpPr txBox="1"/>
          <p:nvPr/>
        </p:nvSpPr>
        <p:spPr>
          <a:xfrm>
            <a:off x="8058415" y="1152550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304" name="badge-C5-text: C5"/>
          <p:cNvSpPr txBox="1"/>
          <p:nvPr/>
        </p:nvSpPr>
        <p:spPr>
          <a:xfrm>
            <a:off x="9362281" y="1152550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305" name="badge-C8-text: C8"/>
          <p:cNvSpPr txBox="1"/>
          <p:nvPr/>
        </p:nvSpPr>
        <p:spPr>
          <a:xfrm>
            <a:off x="10920148" y="1152550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306" name="isp-gb-label: ISP 中间数据 ↔ GB"/>
          <p:cNvSpPr txBox="1"/>
          <p:nvPr/>
        </p:nvSpPr>
        <p:spPr>
          <a:xfrm>
            <a:off x="8009424" y="1530502"/>
            <a:ext cx="846751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中间数据 ↔ GB</a:t>
            </a:r>
          </a:p>
        </p:txBody>
      </p:sp>
      <p:sp>
        <p:nvSpPr>
          <p:cNvPr id="307" name="crossbar-title: AXI Crossbar"/>
          <p:cNvSpPr txBox="1"/>
          <p:nvPr/>
        </p:nvSpPr>
        <p:spPr>
          <a:xfrm>
            <a:off x="4632783" y="2408326"/>
            <a:ext cx="801301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308" name="crossbar-caption: 8 × 6 固定端口 + 扩展 | 64 bit 数据 / 48 bit 地址 "/>
          <p:cNvSpPr txBox="1"/>
          <p:nvPr/>
        </p:nvSpPr>
        <p:spPr>
          <a:xfrm>
            <a:off x="3552023" y="2580369"/>
            <a:ext cx="29628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8 × 6 固定端口 + 扩展 | 64 bit 数据 / 48 bit 地址 | 地址译码 / 各目标仲裁</a:t>
            </a:r>
          </a:p>
        </p:txBody>
      </p:sp>
      <p:sp>
        <p:nvSpPr>
          <p:cNvPr id="309" name="crossbar-rt-note: 输入侧 AXI RT · 按配置可选"/>
          <p:cNvSpPr txBox="1"/>
          <p:nvPr/>
        </p:nvSpPr>
        <p:spPr>
          <a:xfrm>
            <a:off x="457226" y="2672351"/>
            <a:ext cx="1049814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 AXI RT · 按配置可选</a:t>
            </a:r>
          </a:p>
        </p:txBody>
      </p:sp>
      <p:sp>
        <p:nvSpPr>
          <p:cNvPr id="310" name="crossbar-error-note: 未映射请求：DECERR"/>
          <p:cNvSpPr txBox="1"/>
          <p:nvPr/>
        </p:nvSpPr>
        <p:spPr>
          <a:xfrm>
            <a:off x="8745630" y="2672351"/>
            <a:ext cx="864473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</a:p>
        </p:txBody>
      </p:sp>
      <p:sp>
        <p:nvSpPr>
          <p:cNvPr id="311" name="xbar-in-S0-t0: S0"/>
          <p:cNvSpPr txBox="1"/>
          <p:nvPr/>
        </p:nvSpPr>
        <p:spPr>
          <a:xfrm>
            <a:off x="689225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312" name="xbar-in-S1-t0: S1"/>
          <p:cNvSpPr txBox="1"/>
          <p:nvPr/>
        </p:nvSpPr>
        <p:spPr>
          <a:xfrm>
            <a:off x="1754143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313" name="xbar-in-S2-t0: S2"/>
          <p:cNvSpPr txBox="1"/>
          <p:nvPr/>
        </p:nvSpPr>
        <p:spPr>
          <a:xfrm>
            <a:off x="2819062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314" name="xbar-in-S3-t0: S3"/>
          <p:cNvSpPr txBox="1"/>
          <p:nvPr/>
        </p:nvSpPr>
        <p:spPr>
          <a:xfrm>
            <a:off x="3883980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sp>
        <p:nvSpPr>
          <p:cNvPr id="315" name="xbar-in-S4-t0: S4"/>
          <p:cNvSpPr txBox="1"/>
          <p:nvPr/>
        </p:nvSpPr>
        <p:spPr>
          <a:xfrm>
            <a:off x="4948899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sp>
        <p:nvSpPr>
          <p:cNvPr id="316" name="xbar-in-S5-t0: S5"/>
          <p:cNvSpPr txBox="1"/>
          <p:nvPr/>
        </p:nvSpPr>
        <p:spPr>
          <a:xfrm>
            <a:off x="6013817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sp>
        <p:nvSpPr>
          <p:cNvPr id="317" name="xbar-in-S6-t0: S6"/>
          <p:cNvSpPr txBox="1"/>
          <p:nvPr/>
        </p:nvSpPr>
        <p:spPr>
          <a:xfrm>
            <a:off x="7078736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sp>
        <p:nvSpPr>
          <p:cNvPr id="318" name="xbar-in-S7-t0: S7"/>
          <p:cNvSpPr txBox="1"/>
          <p:nvPr/>
        </p:nvSpPr>
        <p:spPr>
          <a:xfrm>
            <a:off x="8143655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S7</a:t>
            </a:r>
          </a:p>
        </p:txBody>
      </p:sp>
      <p:sp>
        <p:nvSpPr>
          <p:cNvPr id="319" name="xbar-in-S_EXT-t0: S_EXT"/>
          <p:cNvSpPr txBox="1"/>
          <p:nvPr/>
        </p:nvSpPr>
        <p:spPr>
          <a:xfrm>
            <a:off x="9151457" y="2314279"/>
            <a:ext cx="28330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320" name="debug-sba-t0: Debug / SBA"/>
          <p:cNvSpPr txBox="1"/>
          <p:nvPr/>
        </p:nvSpPr>
        <p:spPr>
          <a:xfrm>
            <a:off x="1498654" y="1920917"/>
            <a:ext cx="68004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321" name="debug-sba-t1: JTAG 总线访问"/>
          <p:cNvSpPr txBox="1"/>
          <p:nvPr/>
        </p:nvSpPr>
        <p:spPr>
          <a:xfrm>
            <a:off x="1512089" y="2044734"/>
            <a:ext cx="65317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322" name="idma-master-t0: iDMA 数据主口"/>
          <p:cNvSpPr txBox="1"/>
          <p:nvPr/>
        </p:nvSpPr>
        <p:spPr>
          <a:xfrm>
            <a:off x="3583596" y="1920917"/>
            <a:ext cx="76983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数据主口</a:t>
            </a:r>
          </a:p>
        </p:txBody>
      </p:sp>
      <p:sp>
        <p:nvSpPr>
          <p:cNvPr id="323" name="idma-master-t1: 内存 → 内存"/>
          <p:cNvSpPr txBox="1"/>
          <p:nvPr/>
        </p:nvSpPr>
        <p:spPr>
          <a:xfrm>
            <a:off x="3677955" y="2044734"/>
            <a:ext cx="5811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 → 内存</a:t>
            </a:r>
          </a:p>
        </p:txBody>
      </p:sp>
      <p:sp>
        <p:nvSpPr>
          <p:cNvPr id="324" name="slink-rx-t0: Serial Link RX"/>
          <p:cNvSpPr txBox="1"/>
          <p:nvPr/>
        </p:nvSpPr>
        <p:spPr>
          <a:xfrm>
            <a:off x="4676243" y="1920917"/>
            <a:ext cx="71438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325" name="slink-rx-t1: 远端请求入口"/>
          <p:cNvSpPr txBox="1"/>
          <p:nvPr/>
        </p:nvSpPr>
        <p:spPr>
          <a:xfrm>
            <a:off x="4725247" y="2044734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326" name="vga-t0: VGA"/>
          <p:cNvSpPr txBox="1"/>
          <p:nvPr/>
        </p:nvSpPr>
        <p:spPr>
          <a:xfrm>
            <a:off x="5957213" y="1920917"/>
            <a:ext cx="28227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327" name="vga-t1: 帧缓冲读取"/>
          <p:cNvSpPr txBox="1"/>
          <p:nvPr/>
        </p:nvSpPr>
        <p:spPr>
          <a:xfrm>
            <a:off x="5834192" y="2044734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328" name="usb-dma-t0: USB DMA"/>
          <p:cNvSpPr txBox="1"/>
          <p:nvPr/>
        </p:nvSpPr>
        <p:spPr>
          <a:xfrm>
            <a:off x="6898306" y="1920917"/>
            <a:ext cx="52992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329" name="usb-dma-t1: OHCI 主口"/>
          <p:cNvSpPr txBox="1"/>
          <p:nvPr/>
        </p:nvSpPr>
        <p:spPr>
          <a:xfrm>
            <a:off x="6921248" y="2044734"/>
            <a:ext cx="484045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主口</a:t>
            </a:r>
          </a:p>
        </p:txBody>
      </p:sp>
      <p:sp>
        <p:nvSpPr>
          <p:cNvPr id="330" name="emmc-host-t0: eMMC Host / DMA"/>
          <p:cNvSpPr txBox="1"/>
          <p:nvPr/>
        </p:nvSpPr>
        <p:spPr>
          <a:xfrm>
            <a:off x="7756209" y="1920917"/>
            <a:ext cx="94395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 Host / DMA</a:t>
            </a:r>
          </a:p>
        </p:txBody>
      </p:sp>
      <p:sp>
        <p:nvSpPr>
          <p:cNvPr id="331" name="emmc-host-t1: 存储块 ↔ 内存"/>
          <p:cNvSpPr txBox="1"/>
          <p:nvPr/>
        </p:nvSpPr>
        <p:spPr>
          <a:xfrm>
            <a:off x="7893602" y="2044734"/>
            <a:ext cx="66917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存储块 ↔ 内存</a:t>
            </a:r>
          </a:p>
        </p:txBody>
      </p:sp>
      <p:sp>
        <p:nvSpPr>
          <p:cNvPr id="332" name="ext-master-t0: AXI 外部 master"/>
          <p:cNvSpPr txBox="1"/>
          <p:nvPr/>
        </p:nvSpPr>
        <p:spPr>
          <a:xfrm>
            <a:off x="8886014" y="1920917"/>
            <a:ext cx="81418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333" name="ext-master-t1: 可选扩展入口"/>
          <p:cNvSpPr txBox="1"/>
          <p:nvPr/>
        </p:nvSpPr>
        <p:spPr>
          <a:xfrm>
            <a:off x="8984921" y="2044734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sp>
        <p:nvSpPr>
          <p:cNvPr id="334" name="badge-C10-text: C10"/>
          <p:cNvSpPr txBox="1"/>
          <p:nvPr/>
        </p:nvSpPr>
        <p:spPr>
          <a:xfrm>
            <a:off x="8495421" y="2104204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C10</a:t>
            </a:r>
          </a:p>
        </p:txBody>
      </p:sp>
      <p:sp>
        <p:nvSpPr>
          <p:cNvPr id="335" name="xbar-out-M0-t0: M0"/>
          <p:cNvSpPr txBox="1"/>
          <p:nvPr/>
        </p:nvSpPr>
        <p:spPr>
          <a:xfrm>
            <a:off x="833731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336" name="debug-target-t0: Debug 目标"/>
          <p:cNvSpPr txBox="1"/>
          <p:nvPr/>
        </p:nvSpPr>
        <p:spPr>
          <a:xfrm>
            <a:off x="617222" y="3182451"/>
            <a:ext cx="61733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337" name="debug-target-t1: 调试模块窗口"/>
          <p:cNvSpPr txBox="1"/>
          <p:nvPr/>
        </p:nvSpPr>
        <p:spPr>
          <a:xfrm>
            <a:off x="617704" y="3306267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调试模块窗口</a:t>
            </a:r>
          </a:p>
        </p:txBody>
      </p:sp>
      <p:sp>
        <p:nvSpPr>
          <p:cNvPr id="338" name="xbar-out-M1-t0: M1"/>
          <p:cNvSpPr txBox="1"/>
          <p:nvPr/>
        </p:nvSpPr>
        <p:spPr>
          <a:xfrm>
            <a:off x="2202912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339" name="reg-bridge-t0: AXI → Regbus"/>
          <p:cNvSpPr txBox="1"/>
          <p:nvPr/>
        </p:nvSpPr>
        <p:spPr>
          <a:xfrm>
            <a:off x="1928605" y="3182451"/>
            <a:ext cx="73293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340" name="reg-bridge-t1: 原子适配 / 32 bit 桥"/>
          <p:cNvSpPr txBox="1"/>
          <p:nvPr/>
        </p:nvSpPr>
        <p:spPr>
          <a:xfrm>
            <a:off x="1854112" y="3306267"/>
            <a:ext cx="881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/ 32 bit 桥</a:t>
            </a:r>
          </a:p>
        </p:txBody>
      </p:sp>
      <p:sp>
        <p:nvSpPr>
          <p:cNvPr id="341" name="xbar-out-M2-t0: M2"/>
          <p:cNvSpPr txBox="1"/>
          <p:nvPr/>
        </p:nvSpPr>
        <p:spPr>
          <a:xfrm>
            <a:off x="3572093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342" name="memory-title: 主存 / SPM 共用目标"/>
          <p:cNvSpPr txBox="1"/>
          <p:nvPr/>
        </p:nvSpPr>
        <p:spPr>
          <a:xfrm>
            <a:off x="3135070" y="3053419"/>
            <a:ext cx="105836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sp>
        <p:nvSpPr>
          <p:cNvPr id="343" name="atomics-t0: 原子适配"/>
          <p:cNvSpPr txBox="1"/>
          <p:nvPr/>
        </p:nvSpPr>
        <p:spPr>
          <a:xfrm>
            <a:off x="3112141" y="3266694"/>
            <a:ext cx="443823" cy="1422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344" name="atomics-t1: AMO / LRSC"/>
          <p:cNvSpPr txBox="1"/>
          <p:nvPr/>
        </p:nvSpPr>
        <p:spPr>
          <a:xfrm>
            <a:off x="3003106" y="3371596"/>
            <a:ext cx="66189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345" name="llc-spm-t0: LLC / SPM"/>
          <p:cNvSpPr txBox="1"/>
          <p:nvPr/>
        </p:nvSpPr>
        <p:spPr>
          <a:xfrm>
            <a:off x="3765270" y="3270758"/>
            <a:ext cx="509164" cy="1422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346" name="llc-spm-t1: SRAM 阵列"/>
          <p:cNvSpPr txBox="1"/>
          <p:nvPr/>
        </p:nvSpPr>
        <p:spPr>
          <a:xfrm>
            <a:off x="3739304" y="3376608"/>
            <a:ext cx="561097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阵列</a:t>
            </a:r>
          </a:p>
        </p:txBody>
      </p:sp>
      <p:sp>
        <p:nvSpPr>
          <p:cNvPr id="347" name="xbar-out-M3-t0: M3"/>
          <p:cNvSpPr txBox="1"/>
          <p:nvPr/>
        </p:nvSpPr>
        <p:spPr>
          <a:xfrm>
            <a:off x="4941274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348" name="idma-config-t0: iDMA 配置"/>
          <p:cNvSpPr txBox="1"/>
          <p:nvPr/>
        </p:nvSpPr>
        <p:spPr>
          <a:xfrm>
            <a:off x="4750115" y="3129619"/>
            <a:ext cx="56663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349" name="idma-config-t1: 原子适配 → AXI→Reg"/>
          <p:cNvSpPr txBox="1"/>
          <p:nvPr/>
        </p:nvSpPr>
        <p:spPr>
          <a:xfrm>
            <a:off x="4566034" y="3253435"/>
            <a:ext cx="93479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350" name="idma-config-t2: wrapper 内部寄存器"/>
          <p:cNvSpPr txBox="1"/>
          <p:nvPr/>
        </p:nvSpPr>
        <p:spPr>
          <a:xfrm>
            <a:off x="4603999" y="3359099"/>
            <a:ext cx="85886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sp>
        <p:nvSpPr>
          <p:cNvPr id="351" name="xbar-out-M4-t0: M4"/>
          <p:cNvSpPr txBox="1"/>
          <p:nvPr/>
        </p:nvSpPr>
        <p:spPr>
          <a:xfrm>
            <a:off x="6310455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352" name="slink-tx-t0: Serial Link TX"/>
          <p:cNvSpPr txBox="1"/>
          <p:nvPr/>
        </p:nvSpPr>
        <p:spPr>
          <a:xfrm>
            <a:off x="6051478" y="3182451"/>
            <a:ext cx="70227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353" name="slink-tx-t1: 远端目标窗口"/>
          <p:cNvSpPr txBox="1"/>
          <p:nvPr/>
        </p:nvSpPr>
        <p:spPr>
          <a:xfrm>
            <a:off x="6094428" y="3306267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远端目标窗口</a:t>
            </a:r>
          </a:p>
        </p:txBody>
      </p:sp>
      <p:sp>
        <p:nvSpPr>
          <p:cNvPr id="354" name="xbar-out-M5-t0: M5"/>
          <p:cNvSpPr txBox="1"/>
          <p:nvPr/>
        </p:nvSpPr>
        <p:spPr>
          <a:xfrm>
            <a:off x="7679636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M5</a:t>
            </a:r>
          </a:p>
        </p:txBody>
      </p:sp>
      <p:sp>
        <p:nvSpPr>
          <p:cNvPr id="355" name="gb-interface-t0: GB AXI 接口"/>
          <p:cNvSpPr txBox="1"/>
          <p:nvPr/>
        </p:nvSpPr>
        <p:spPr>
          <a:xfrm>
            <a:off x="7454988" y="3129619"/>
            <a:ext cx="63361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AXI 接口</a:t>
            </a:r>
          </a:p>
        </p:txBody>
      </p:sp>
      <p:sp>
        <p:nvSpPr>
          <p:cNvPr id="356" name="gb-interface-t1: CPU / Ara / eMMC DMA"/>
          <p:cNvSpPr txBox="1"/>
          <p:nvPr/>
        </p:nvSpPr>
        <p:spPr>
          <a:xfrm>
            <a:off x="7260665" y="3253435"/>
            <a:ext cx="10222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eMMC DMA</a:t>
            </a:r>
          </a:p>
        </p:txBody>
      </p:sp>
      <p:sp>
        <p:nvSpPr>
          <p:cNvPr id="357" name="gb-interface-t2: 64-bit 数据窗口 · 共用"/>
          <p:cNvSpPr txBox="1"/>
          <p:nvPr/>
        </p:nvSpPr>
        <p:spPr>
          <a:xfrm>
            <a:off x="7299149" y="3359099"/>
            <a:ext cx="94529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64-bit 数据窗口 · 共用</a:t>
            </a:r>
          </a:p>
        </p:txBody>
      </p:sp>
      <p:sp>
        <p:nvSpPr>
          <p:cNvPr id="358" name="xbar-out-M_EXT-t0: M_EXT"/>
          <p:cNvSpPr txBox="1"/>
          <p:nvPr/>
        </p:nvSpPr>
        <p:spPr>
          <a:xfrm>
            <a:off x="8991701" y="2771479"/>
            <a:ext cx="298551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359" name="ext-target-t0: AXI 外部 slave"/>
          <p:cNvSpPr txBox="1"/>
          <p:nvPr/>
        </p:nvSpPr>
        <p:spPr>
          <a:xfrm>
            <a:off x="8773467" y="3182451"/>
            <a:ext cx="73501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360" name="ext-target-t1: 可选外部目标扩展"/>
          <p:cNvSpPr txBox="1"/>
          <p:nvPr/>
        </p:nvSpPr>
        <p:spPr>
          <a:xfrm>
            <a:off x="8744736" y="3306267"/>
            <a:ext cx="7924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可选外部目标扩展</a:t>
            </a:r>
          </a:p>
        </p:txBody>
      </p:sp>
      <p:sp>
        <p:nvSpPr>
          <p:cNvPr id="361" name="emmc-device-t0: eMMC"/>
          <p:cNvSpPr txBox="1"/>
          <p:nvPr/>
        </p:nvSpPr>
        <p:spPr>
          <a:xfrm>
            <a:off x="11550065" y="1910893"/>
            <a:ext cx="437203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</a:t>
            </a:r>
          </a:p>
        </p:txBody>
      </p:sp>
      <p:sp>
        <p:nvSpPr>
          <p:cNvPr id="362" name="emmc-device-t1: 模型 / 校正参数"/>
          <p:cNvSpPr txBox="1"/>
          <p:nvPr/>
        </p:nvSpPr>
        <p:spPr>
          <a:xfrm>
            <a:off x="11411207" y="2052862"/>
            <a:ext cx="714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模型 / 校正参数</a:t>
            </a:r>
          </a:p>
        </p:txBody>
      </p:sp>
      <p:sp>
        <p:nvSpPr>
          <p:cNvPr id="363" name="regbus-t0: Regbus decode / demux · 32 bit"/>
          <p:cNvSpPr txBox="1"/>
          <p:nvPr/>
        </p:nvSpPr>
        <p:spPr>
          <a:xfrm>
            <a:off x="2213213" y="3868725"/>
            <a:ext cx="1745774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 decode / demux · 32 bit</a:t>
            </a:r>
          </a:p>
        </p:txBody>
      </p:sp>
      <p:sp>
        <p:nvSpPr>
          <p:cNvPr id="364" name="bootrom-t0: Boot ROM"/>
          <p:cNvSpPr txBox="1"/>
          <p:nvPr/>
        </p:nvSpPr>
        <p:spPr>
          <a:xfrm>
            <a:off x="592799" y="4169664"/>
            <a:ext cx="55006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365" name="bootrom-t1: 启动代码"/>
          <p:cNvSpPr txBox="1"/>
          <p:nvPr/>
        </p:nvSpPr>
        <p:spPr>
          <a:xfrm>
            <a:off x="647700" y="4293481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sp>
        <p:nvSpPr>
          <p:cNvPr id="366" name="uart-t0: UART"/>
          <p:cNvSpPr txBox="1"/>
          <p:nvPr/>
        </p:nvSpPr>
        <p:spPr>
          <a:xfrm>
            <a:off x="699259" y="4508331"/>
            <a:ext cx="33714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367" name="uart-t1: 串口控制"/>
          <p:cNvSpPr txBox="1"/>
          <p:nvPr/>
        </p:nvSpPr>
        <p:spPr>
          <a:xfrm>
            <a:off x="647700" y="4632147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sp>
        <p:nvSpPr>
          <p:cNvPr id="368" name="vga-regs-t0: VGA 配置"/>
          <p:cNvSpPr txBox="1"/>
          <p:nvPr/>
        </p:nvSpPr>
        <p:spPr>
          <a:xfrm>
            <a:off x="609865" y="4846997"/>
            <a:ext cx="51593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369" name="vga-regs-t1: 时序 / 帧地址"/>
          <p:cNvSpPr txBox="1"/>
          <p:nvPr/>
        </p:nvSpPr>
        <p:spPr>
          <a:xfrm>
            <a:off x="554400" y="4970814"/>
            <a:ext cx="6268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sp>
        <p:nvSpPr>
          <p:cNvPr id="370" name="irq-router-t0: IRQ router"/>
          <p:cNvSpPr txBox="1"/>
          <p:nvPr/>
        </p:nvSpPr>
        <p:spPr>
          <a:xfrm>
            <a:off x="592849" y="5185664"/>
            <a:ext cx="54996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371" name="irq-router-t1: 可选中断路由"/>
          <p:cNvSpPr txBox="1"/>
          <p:nvPr/>
        </p:nvSpPr>
        <p:spPr>
          <a:xfrm>
            <a:off x="559647" y="5309481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sp>
        <p:nvSpPr>
          <p:cNvPr id="372" name="clint-t0: CLINT"/>
          <p:cNvSpPr txBox="1"/>
          <p:nvPr/>
        </p:nvSpPr>
        <p:spPr>
          <a:xfrm>
            <a:off x="1805697" y="4169664"/>
            <a:ext cx="35947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373" name="clint-t1: 软件 / 定时中断"/>
          <p:cNvSpPr txBox="1"/>
          <p:nvPr/>
        </p:nvSpPr>
        <p:spPr>
          <a:xfrm>
            <a:off x="1627973" y="4293481"/>
            <a:ext cx="714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sp>
        <p:nvSpPr>
          <p:cNvPr id="374" name="i2c-t0: I²C"/>
          <p:cNvSpPr txBox="1"/>
          <p:nvPr/>
        </p:nvSpPr>
        <p:spPr>
          <a:xfrm>
            <a:off x="1871726" y="4508331"/>
            <a:ext cx="22741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I²C</a:t>
            </a:r>
          </a:p>
        </p:txBody>
      </p:sp>
      <p:sp>
        <p:nvSpPr>
          <p:cNvPr id="375" name="i2c-t1: 两线串行接口"/>
          <p:cNvSpPr txBox="1"/>
          <p:nvPr/>
        </p:nvSpPr>
        <p:spPr>
          <a:xfrm>
            <a:off x="1677247" y="4632147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两线串行接口</a:t>
            </a:r>
          </a:p>
        </p:txBody>
      </p:sp>
      <p:sp>
        <p:nvSpPr>
          <p:cNvPr id="376" name="usb-regs-t0: USB 配置"/>
          <p:cNvSpPr txBox="1"/>
          <p:nvPr/>
        </p:nvSpPr>
        <p:spPr>
          <a:xfrm>
            <a:off x="1722403" y="4846997"/>
            <a:ext cx="52606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377" name="usb-regs-t1: OHCI 寄存器"/>
          <p:cNvSpPr txBox="1"/>
          <p:nvPr/>
        </p:nvSpPr>
        <p:spPr>
          <a:xfrm>
            <a:off x="1699384" y="4970814"/>
            <a:ext cx="572098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sp>
        <p:nvSpPr>
          <p:cNvPr id="378" name="axi-rt-config-t0: AXI RT 配置"/>
          <p:cNvSpPr txBox="1"/>
          <p:nvPr/>
        </p:nvSpPr>
        <p:spPr>
          <a:xfrm>
            <a:off x="1676712" y="5185664"/>
            <a:ext cx="61744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379" name="axi-rt-config-t1: 可选流量调节"/>
          <p:cNvSpPr txBox="1"/>
          <p:nvPr/>
        </p:nvSpPr>
        <p:spPr>
          <a:xfrm>
            <a:off x="1677247" y="5309481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sp>
        <p:nvSpPr>
          <p:cNvPr id="380" name="soc-regs-t0: SoC 寄存器"/>
          <p:cNvSpPr txBox="1"/>
          <p:nvPr/>
        </p:nvSpPr>
        <p:spPr>
          <a:xfrm>
            <a:off x="2794312" y="4169664"/>
            <a:ext cx="61744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381" name="soc-regs-t1: 平台信息 / scratch"/>
          <p:cNvSpPr txBox="1"/>
          <p:nvPr/>
        </p:nvSpPr>
        <p:spPr>
          <a:xfrm>
            <a:off x="2692945" y="4293481"/>
            <a:ext cx="82017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sp>
        <p:nvSpPr>
          <p:cNvPr id="382" name="spi-t0: SPI Host"/>
          <p:cNvSpPr txBox="1"/>
          <p:nvPr/>
        </p:nvSpPr>
        <p:spPr>
          <a:xfrm>
            <a:off x="2860442" y="4508331"/>
            <a:ext cx="48518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383" name="spi-t1: Flash / SD"/>
          <p:cNvSpPr txBox="1"/>
          <p:nvPr/>
        </p:nvSpPr>
        <p:spPr>
          <a:xfrm>
            <a:off x="2851468" y="4632147"/>
            <a:ext cx="50313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sp>
        <p:nvSpPr>
          <p:cNvPr id="384" name="err-vga-t0: Bus-error · VGA"/>
          <p:cNvSpPr txBox="1"/>
          <p:nvPr/>
        </p:nvSpPr>
        <p:spPr>
          <a:xfrm>
            <a:off x="2715387" y="4846997"/>
            <a:ext cx="77529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385" name="err-vga-t1: 错误记录"/>
          <p:cNvSpPr txBox="1"/>
          <p:nvPr/>
        </p:nvSpPr>
        <p:spPr>
          <a:xfrm>
            <a:off x="2882900" y="4970814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sp>
        <p:nvSpPr>
          <p:cNvPr id="386" name="clic-t0: CLIC"/>
          <p:cNvSpPr txBox="1"/>
          <p:nvPr/>
        </p:nvSpPr>
        <p:spPr>
          <a:xfrm>
            <a:off x="2950729" y="5185664"/>
            <a:ext cx="30460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387" name="clic-t1: 可选每核中断控制"/>
          <p:cNvSpPr txBox="1"/>
          <p:nvPr/>
        </p:nvSpPr>
        <p:spPr>
          <a:xfrm>
            <a:off x="2706793" y="5309481"/>
            <a:ext cx="7924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sp>
        <p:nvSpPr>
          <p:cNvPr id="388" name="plic-t0: PLIC"/>
          <p:cNvSpPr txBox="1"/>
          <p:nvPr/>
        </p:nvSpPr>
        <p:spPr>
          <a:xfrm>
            <a:off x="4071355" y="4169664"/>
            <a:ext cx="2985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389" name="plic-t1: 外部中断控制"/>
          <p:cNvSpPr txBox="1"/>
          <p:nvPr/>
        </p:nvSpPr>
        <p:spPr>
          <a:xfrm>
            <a:off x="3912447" y="4293481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sp>
        <p:nvSpPr>
          <p:cNvPr id="390" name="gpio-t0: GPIO"/>
          <p:cNvSpPr txBox="1"/>
          <p:nvPr/>
        </p:nvSpPr>
        <p:spPr>
          <a:xfrm>
            <a:off x="4061238" y="4508331"/>
            <a:ext cx="31879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391" name="gpio-t1: 通用 IO"/>
          <p:cNvSpPr txBox="1"/>
          <p:nvPr/>
        </p:nvSpPr>
        <p:spPr>
          <a:xfrm>
            <a:off x="4034893" y="4632147"/>
            <a:ext cx="3714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sp>
        <p:nvSpPr>
          <p:cNvPr id="392" name="err-dma-t0: Bus-error · iDMA"/>
          <p:cNvSpPr txBox="1"/>
          <p:nvPr/>
        </p:nvSpPr>
        <p:spPr>
          <a:xfrm>
            <a:off x="3807637" y="4846997"/>
            <a:ext cx="82599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393" name="err-dma-t1: 每传输错误记录"/>
          <p:cNvSpPr txBox="1"/>
          <p:nvPr/>
        </p:nvSpPr>
        <p:spPr>
          <a:xfrm>
            <a:off x="3868420" y="4970814"/>
            <a:ext cx="70442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每传输错误记录</a:t>
            </a:r>
          </a:p>
        </p:txBody>
      </p:sp>
      <p:sp>
        <p:nvSpPr>
          <p:cNvPr id="394" name="reg-error-t0: reg_err_slv"/>
          <p:cNvSpPr txBox="1"/>
          <p:nvPr/>
        </p:nvSpPr>
        <p:spPr>
          <a:xfrm>
            <a:off x="3929327" y="5185664"/>
            <a:ext cx="58261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395" name="reg-error-t1: 未匹配地址"/>
          <p:cNvSpPr txBox="1"/>
          <p:nvPr/>
        </p:nvSpPr>
        <p:spPr>
          <a:xfrm>
            <a:off x="3956473" y="5309481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sp>
        <p:nvSpPr>
          <p:cNvPr id="396" name="llc-regs-t0: LLC 配置"/>
          <p:cNvSpPr txBox="1"/>
          <p:nvPr/>
        </p:nvSpPr>
        <p:spPr>
          <a:xfrm>
            <a:off x="5088350" y="4169664"/>
            <a:ext cx="49976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397" name="llc-regs-t1: SPM way / cache"/>
          <p:cNvSpPr txBox="1"/>
          <p:nvPr/>
        </p:nvSpPr>
        <p:spPr>
          <a:xfrm>
            <a:off x="4959099" y="4293481"/>
            <a:ext cx="75826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sp>
        <p:nvSpPr>
          <p:cNvPr id="398" name="slink-regs-t0: Serial Link 配置"/>
          <p:cNvSpPr txBox="1"/>
          <p:nvPr/>
        </p:nvSpPr>
        <p:spPr>
          <a:xfrm>
            <a:off x="4938281" y="4508331"/>
            <a:ext cx="79990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399" name="slink-regs-t1: 链路控制"/>
          <p:cNvSpPr txBox="1"/>
          <p:nvPr/>
        </p:nvSpPr>
        <p:spPr>
          <a:xfrm>
            <a:off x="5118100" y="4632147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sp>
        <p:nvSpPr>
          <p:cNvPr id="400" name="err-cpu-t0: Bus-error · CPU"/>
          <p:cNvSpPr txBox="1"/>
          <p:nvPr/>
        </p:nvSpPr>
        <p:spPr>
          <a:xfrm>
            <a:off x="4948552" y="4846997"/>
            <a:ext cx="77936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401" name="err-cpu-t1: 每核错误记录"/>
          <p:cNvSpPr txBox="1"/>
          <p:nvPr/>
        </p:nvSpPr>
        <p:spPr>
          <a:xfrm>
            <a:off x="5030047" y="4970814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sp>
        <p:nvSpPr>
          <p:cNvPr id="402" name="reg-ext-t0: RegExt 扩展"/>
          <p:cNvSpPr txBox="1"/>
          <p:nvPr/>
        </p:nvSpPr>
        <p:spPr>
          <a:xfrm>
            <a:off x="5019392" y="5185664"/>
            <a:ext cx="63768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403" name="reg-ext-t1: 新增 IP 配置出口"/>
          <p:cNvSpPr txBox="1"/>
          <p:nvPr/>
        </p:nvSpPr>
        <p:spPr>
          <a:xfrm>
            <a:off x="4967573" y="5309481"/>
            <a:ext cx="741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sp>
        <p:nvSpPr>
          <p:cNvPr id="404" name="config-C10-t0: eMMC 配置 / 状态"/>
          <p:cNvSpPr txBox="1"/>
          <p:nvPr/>
        </p:nvSpPr>
        <p:spPr>
          <a:xfrm>
            <a:off x="738338" y="5558197"/>
            <a:ext cx="93632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 配置 / 状态</a:t>
            </a:r>
          </a:p>
        </p:txBody>
      </p:sp>
      <p:sp>
        <p:nvSpPr>
          <p:cNvPr id="405" name="config-C10-t1: DMA / 完成与错误"/>
          <p:cNvSpPr txBox="1"/>
          <p:nvPr/>
        </p:nvSpPr>
        <p:spPr>
          <a:xfrm>
            <a:off x="803336" y="5682014"/>
            <a:ext cx="806328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DMA / 完成与错误</a:t>
            </a:r>
          </a:p>
        </p:txBody>
      </p:sp>
      <p:sp>
        <p:nvSpPr>
          <p:cNvPr id="406" name="reg-badge-C10-text: C10"/>
          <p:cNvSpPr txBox="1"/>
          <p:nvPr/>
        </p:nvSpPr>
        <p:spPr>
          <a:xfrm>
            <a:off x="373065" y="5555217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C10</a:t>
            </a:r>
          </a:p>
        </p:txBody>
      </p:sp>
      <p:sp>
        <p:nvSpPr>
          <p:cNvPr id="407" name="config-C11-t0: ROI / VDMA / LVDS TX"/>
          <p:cNvSpPr txBox="1"/>
          <p:nvPr/>
        </p:nvSpPr>
        <p:spPr>
          <a:xfrm>
            <a:off x="2507787" y="5558197"/>
            <a:ext cx="112275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ROI / VDMA / LVDS TX</a:t>
            </a:r>
          </a:p>
        </p:txBody>
      </p:sp>
      <p:sp>
        <p:nvSpPr>
          <p:cNvPr id="408" name="config-C11-t1: 任务表 / 完成与错误"/>
          <p:cNvSpPr txBox="1"/>
          <p:nvPr/>
        </p:nvSpPr>
        <p:spPr>
          <a:xfrm>
            <a:off x="2623653" y="5682014"/>
            <a:ext cx="89102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任务表 / 完成与错误</a:t>
            </a:r>
          </a:p>
        </p:txBody>
      </p:sp>
      <p:sp>
        <p:nvSpPr>
          <p:cNvPr id="409" name="reg-badge-C11-text: C11"/>
          <p:cNvSpPr txBox="1"/>
          <p:nvPr/>
        </p:nvSpPr>
        <p:spPr>
          <a:xfrm>
            <a:off x="2235732" y="5555217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C11</a:t>
            </a:r>
          </a:p>
        </p:txBody>
      </p:sp>
      <p:sp>
        <p:nvSpPr>
          <p:cNvPr id="410" name="config-C12-t0: 压缩存储前端配置"/>
          <p:cNvSpPr txBox="1"/>
          <p:nvPr/>
        </p:nvSpPr>
        <p:spPr>
          <a:xfrm>
            <a:off x="4474633" y="5558197"/>
            <a:ext cx="914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压缩存储前端配置</a:t>
            </a:r>
          </a:p>
        </p:txBody>
      </p:sp>
      <p:sp>
        <p:nvSpPr>
          <p:cNvPr id="411" name="config-C12-t1: 区域 / 状态 / 错误"/>
          <p:cNvSpPr txBox="1"/>
          <p:nvPr/>
        </p:nvSpPr>
        <p:spPr>
          <a:xfrm>
            <a:off x="4525100" y="5682014"/>
            <a:ext cx="8134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区域 / 状态 / 错误</a:t>
            </a:r>
          </a:p>
        </p:txBody>
      </p:sp>
      <p:sp>
        <p:nvSpPr>
          <p:cNvPr id="412" name="reg-badge-C12-text: C12"/>
          <p:cNvSpPr txBox="1"/>
          <p:nvPr/>
        </p:nvSpPr>
        <p:spPr>
          <a:xfrm>
            <a:off x="4098398" y="5555217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C12</a:t>
            </a:r>
          </a:p>
        </p:txBody>
      </p:sp>
      <p:sp>
        <p:nvSpPr>
          <p:cNvPr id="413" name="front-F0-t0: F0"/>
          <p:cNvSpPr txBox="1"/>
          <p:nvPr/>
        </p:nvSpPr>
        <p:spPr>
          <a:xfrm>
            <a:off x="6524786" y="3906012"/>
            <a:ext cx="158427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F0</a:t>
            </a:r>
          </a:p>
        </p:txBody>
      </p:sp>
      <p:sp>
        <p:nvSpPr>
          <p:cNvPr id="414" name="front-F1-t0: F1"/>
          <p:cNvSpPr txBox="1"/>
          <p:nvPr/>
        </p:nvSpPr>
        <p:spPr>
          <a:xfrm>
            <a:off x="7456120" y="3906012"/>
            <a:ext cx="158427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F1</a:t>
            </a:r>
          </a:p>
        </p:txBody>
      </p:sp>
      <p:sp>
        <p:nvSpPr>
          <p:cNvPr id="415" name="front-F2-t0: F2"/>
          <p:cNvSpPr txBox="1"/>
          <p:nvPr/>
        </p:nvSpPr>
        <p:spPr>
          <a:xfrm>
            <a:off x="8387453" y="3906012"/>
            <a:ext cx="158427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F2</a:t>
            </a:r>
          </a:p>
        </p:txBody>
      </p:sp>
      <p:sp>
        <p:nvSpPr>
          <p:cNvPr id="416" name="front-F3-t0: F3"/>
          <p:cNvSpPr txBox="1"/>
          <p:nvPr/>
        </p:nvSpPr>
        <p:spPr>
          <a:xfrm>
            <a:off x="9318786" y="3906012"/>
            <a:ext cx="158427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F3</a:t>
            </a:r>
          </a:p>
        </p:txBody>
      </p:sp>
      <p:sp>
        <p:nvSpPr>
          <p:cNvPr id="417" name="front-adapt-t0: 共享压缩存储前端 · 四口适配 / 区域选择"/>
          <p:cNvSpPr txBox="1"/>
          <p:nvPr/>
        </p:nvSpPr>
        <p:spPr>
          <a:xfrm>
            <a:off x="7063335" y="4124283"/>
            <a:ext cx="192613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共享压缩存储前端 · 四口适配 / 区域选择</a:t>
            </a:r>
          </a:p>
        </p:txBody>
      </p:sp>
      <p:sp>
        <p:nvSpPr>
          <p:cNvPr id="418" name="compressor-t0: 四口共享压缩器"/>
          <p:cNvSpPr txBox="1"/>
          <p:nvPr/>
        </p:nvSpPr>
        <p:spPr>
          <a:xfrm>
            <a:off x="6223000" y="4477851"/>
            <a:ext cx="812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四口共享压缩器</a:t>
            </a:r>
          </a:p>
        </p:txBody>
      </p:sp>
      <p:sp>
        <p:nvSpPr>
          <p:cNvPr id="419" name="compressor-t1: 写 W ↓ · 无损按块"/>
          <p:cNvSpPr txBox="1"/>
          <p:nvPr/>
        </p:nvSpPr>
        <p:spPr>
          <a:xfrm>
            <a:off x="6221807" y="4601667"/>
            <a:ext cx="81518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写 W ↓ · 无损按块</a:t>
            </a:r>
          </a:p>
        </p:txBody>
      </p:sp>
      <p:sp>
        <p:nvSpPr>
          <p:cNvPr id="420" name="decompressor-t0: 四口共享解压器"/>
          <p:cNvSpPr txBox="1"/>
          <p:nvPr/>
        </p:nvSpPr>
        <p:spPr>
          <a:xfrm>
            <a:off x="7154333" y="4477851"/>
            <a:ext cx="812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四口共享解压器</a:t>
            </a:r>
          </a:p>
        </p:txBody>
      </p:sp>
      <p:sp>
        <p:nvSpPr>
          <p:cNvPr id="421" name="decompressor-t1: 读 R ↑ · 独立解码"/>
          <p:cNvSpPr txBox="1"/>
          <p:nvPr/>
        </p:nvSpPr>
        <p:spPr>
          <a:xfrm>
            <a:off x="7161953" y="4601667"/>
            <a:ext cx="7975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 R ↑ · 独立解码</a:t>
            </a:r>
          </a:p>
        </p:txBody>
      </p:sp>
      <p:sp>
        <p:nvSpPr>
          <p:cNvPr id="422" name="plain-bypass-t0: 普通数据旁路"/>
          <p:cNvSpPr txBox="1"/>
          <p:nvPr/>
        </p:nvSpPr>
        <p:spPr>
          <a:xfrm>
            <a:off x="8136467" y="4477851"/>
            <a:ext cx="7112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普通数据旁路</a:t>
            </a:r>
          </a:p>
        </p:txBody>
      </p:sp>
      <p:sp>
        <p:nvSpPr>
          <p:cNvPr id="423" name="plain-bypass-t1: 未压缩区域 · 读写"/>
          <p:cNvSpPr txBox="1"/>
          <p:nvPr/>
        </p:nvSpPr>
        <p:spPr>
          <a:xfrm>
            <a:off x="8102920" y="4601667"/>
            <a:ext cx="77829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未压缩区域 · 读写</a:t>
            </a:r>
          </a:p>
        </p:txBody>
      </p:sp>
      <p:sp>
        <p:nvSpPr>
          <p:cNvPr id="424" name="metadata-t0: 块地址 / 元数据"/>
          <p:cNvSpPr txBox="1"/>
          <p:nvPr/>
        </p:nvSpPr>
        <p:spPr>
          <a:xfrm>
            <a:off x="9010949" y="4477851"/>
            <a:ext cx="82490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块地址 / 元数据</a:t>
            </a:r>
          </a:p>
        </p:txBody>
      </p:sp>
      <p:sp>
        <p:nvSpPr>
          <p:cNvPr id="425" name="metadata-t1: 格式 / 长度 / 状态"/>
          <p:cNvSpPr txBox="1"/>
          <p:nvPr/>
        </p:nvSpPr>
        <p:spPr>
          <a:xfrm>
            <a:off x="9016667" y="4601667"/>
            <a:ext cx="8134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格式 / 长度 / 状态</a:t>
            </a:r>
          </a:p>
        </p:txBody>
      </p:sp>
      <p:sp>
        <p:nvSpPr>
          <p:cNvPr id="426" name="front-route-t0: 端口 / 返回路由 · F0↔S0，F1↔S1，F2↔S2，F3↔S3"/>
          <p:cNvSpPr txBox="1"/>
          <p:nvPr/>
        </p:nvSpPr>
        <p:spPr>
          <a:xfrm>
            <a:off x="6833971" y="4925162"/>
            <a:ext cx="2384859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端口 / 返回路由 · F0↔S0，F1↔S1，F2↔S2，F3↔S3</a:t>
            </a:r>
          </a:p>
        </p:txBody>
      </p:sp>
      <p:sp>
        <p:nvSpPr>
          <p:cNvPr id="427" name="badge-C12-text: C12"/>
          <p:cNvSpPr txBox="1"/>
          <p:nvPr/>
        </p:nvSpPr>
        <p:spPr>
          <a:xfrm>
            <a:off x="9641525" y="3983804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C12</a:t>
            </a:r>
          </a:p>
        </p:txBody>
      </p:sp>
      <p:sp>
        <p:nvSpPr>
          <p:cNvPr id="428" name="ddr-S0-t0: S0"/>
          <p:cNvSpPr txBox="1"/>
          <p:nvPr/>
        </p:nvSpPr>
        <p:spPr>
          <a:xfrm>
            <a:off x="6519466" y="5243745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429" name="ddr-S1-t0: S1"/>
          <p:cNvSpPr txBox="1"/>
          <p:nvPr/>
        </p:nvSpPr>
        <p:spPr>
          <a:xfrm>
            <a:off x="7450799" y="5243745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430" name="ddr-S2-t0: S2"/>
          <p:cNvSpPr txBox="1"/>
          <p:nvPr/>
        </p:nvSpPr>
        <p:spPr>
          <a:xfrm>
            <a:off x="8382132" y="5243745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431" name="ddr-S3-t0: S3"/>
          <p:cNvSpPr txBox="1"/>
          <p:nvPr/>
        </p:nvSpPr>
        <p:spPr>
          <a:xfrm>
            <a:off x="9313466" y="5243745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sp>
        <p:nvSpPr>
          <p:cNvPr id="432" name="ddr-arb-t0: 四口仲裁 / QoS · 共享 DDR 带宽"/>
          <p:cNvSpPr txBox="1"/>
          <p:nvPr/>
        </p:nvSpPr>
        <p:spPr>
          <a:xfrm>
            <a:off x="7300370" y="5399295"/>
            <a:ext cx="1452060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四口仲裁 / QoS · 共享 DDR 带宽</a:t>
            </a:r>
          </a:p>
        </p:txBody>
      </p:sp>
      <p:sp>
        <p:nvSpPr>
          <p:cNvPr id="433" name="ddr-rw-t0: 读写调度 · Bank / Row"/>
          <p:cNvSpPr txBox="1"/>
          <p:nvPr/>
        </p:nvSpPr>
        <p:spPr>
          <a:xfrm>
            <a:off x="6444522" y="5580549"/>
            <a:ext cx="111482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 · Bank / Row</a:t>
            </a:r>
          </a:p>
        </p:txBody>
      </p:sp>
      <p:sp>
        <p:nvSpPr>
          <p:cNvPr id="434" name="ddr-command-t0: 命令调度 · Controller → PHY"/>
          <p:cNvSpPr txBox="1"/>
          <p:nvPr/>
        </p:nvSpPr>
        <p:spPr>
          <a:xfrm>
            <a:off x="8397216" y="5585562"/>
            <a:ext cx="1273434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 · Controller → PHY</a:t>
            </a:r>
          </a:p>
        </p:txBody>
      </p:sp>
      <p:sp>
        <p:nvSpPr>
          <p:cNvPr id="435" name="ddr-title: DDR Controller · 4 个 AXI slave"/>
          <p:cNvSpPr txBox="1"/>
          <p:nvPr/>
        </p:nvSpPr>
        <p:spPr>
          <a:xfrm>
            <a:off x="7293766" y="5732272"/>
            <a:ext cx="146526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4 个 AXI slave</a:t>
            </a:r>
          </a:p>
        </p:txBody>
      </p:sp>
      <p:sp>
        <p:nvSpPr>
          <p:cNvPr id="436" name="badge-C2-text: C2"/>
          <p:cNvSpPr txBox="1"/>
          <p:nvPr/>
        </p:nvSpPr>
        <p:spPr>
          <a:xfrm>
            <a:off x="9662848" y="5748257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437" name="ddr-phy-t0: DDR PHY"/>
          <p:cNvSpPr txBox="1"/>
          <p:nvPr/>
        </p:nvSpPr>
        <p:spPr>
          <a:xfrm>
            <a:off x="10438606" y="5692987"/>
            <a:ext cx="50958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438" name="ddr-phy-t1: 训练 / 校准"/>
          <p:cNvSpPr txBox="1"/>
          <p:nvPr/>
        </p:nvSpPr>
        <p:spPr>
          <a:xfrm>
            <a:off x="10403268" y="5815855"/>
            <a:ext cx="580263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439" name="badge-C3-text: C3"/>
          <p:cNvSpPr txBox="1"/>
          <p:nvPr/>
        </p:nvSpPr>
        <p:spPr>
          <a:xfrm>
            <a:off x="10915915" y="5876950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440" name="ddr-device-t0: DDR"/>
          <p:cNvSpPr txBox="1"/>
          <p:nvPr/>
        </p:nvSpPr>
        <p:spPr>
          <a:xfrm>
            <a:off x="11586842" y="5682962"/>
            <a:ext cx="338249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441" name="ddr-device-t1: 片外器件"/>
          <p:cNvSpPr txBox="1"/>
          <p:nvPr/>
        </p:nvSpPr>
        <p:spPr>
          <a:xfrm>
            <a:off x="11518900" y="5823983"/>
            <a:ext cx="474133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sp>
        <p:nvSpPr>
          <p:cNvPr id="442" name="roi-title: 图像裁切输出"/>
          <p:cNvSpPr txBox="1"/>
          <p:nvPr/>
        </p:nvSpPr>
        <p:spPr>
          <a:xfrm>
            <a:off x="10322560" y="3777623"/>
            <a:ext cx="758613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图像裁切输出</a:t>
            </a:r>
          </a:p>
        </p:txBody>
      </p:sp>
      <p:sp>
        <p:nvSpPr>
          <p:cNvPr id="443" name="roi-count: ≤256 ROI / 帧"/>
          <p:cNvSpPr txBox="1"/>
          <p:nvPr/>
        </p:nvSpPr>
        <p:spPr>
          <a:xfrm>
            <a:off x="10367788" y="3894396"/>
            <a:ext cx="668158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≤256 ROI / 帧</a:t>
            </a:r>
          </a:p>
        </p:txBody>
      </p:sp>
      <p:sp>
        <p:nvSpPr>
          <p:cNvPr id="444" name="roi-no-scale: 纯裁切 · 不缩放"/>
          <p:cNvSpPr txBox="1"/>
          <p:nvPr/>
        </p:nvSpPr>
        <p:spPr>
          <a:xfrm>
            <a:off x="10356747" y="3982449"/>
            <a:ext cx="69024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纯裁切 · 不缩放</a:t>
            </a:r>
          </a:p>
        </p:txBody>
      </p:sp>
      <p:sp>
        <p:nvSpPr>
          <p:cNvPr id="445" name="roi-scheduler-t0: ROI 任务表"/>
          <p:cNvSpPr txBox="1"/>
          <p:nvPr/>
        </p:nvSpPr>
        <p:spPr>
          <a:xfrm>
            <a:off x="10405300" y="4122251"/>
            <a:ext cx="5931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ROI 任务表</a:t>
            </a:r>
          </a:p>
        </p:txBody>
      </p:sp>
      <p:sp>
        <p:nvSpPr>
          <p:cNvPr id="446" name="roi-scheduler-t1: 顺序调度"/>
          <p:cNvSpPr txBox="1"/>
          <p:nvPr/>
        </p:nvSpPr>
        <p:spPr>
          <a:xfrm>
            <a:off x="10481733" y="4246067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顺序调度</a:t>
            </a:r>
          </a:p>
        </p:txBody>
      </p:sp>
      <p:sp>
        <p:nvSpPr>
          <p:cNvPr id="447" name="roi-vdma-t0: 二维读 VDMA"/>
          <p:cNvSpPr txBox="1"/>
          <p:nvPr/>
        </p:nvSpPr>
        <p:spPr>
          <a:xfrm>
            <a:off x="10351476" y="4477851"/>
            <a:ext cx="70078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二维读 VDMA</a:t>
            </a:r>
          </a:p>
        </p:txBody>
      </p:sp>
      <p:sp>
        <p:nvSpPr>
          <p:cNvPr id="448" name="roi-vdma-t1: 起址 / 行跨度"/>
          <p:cNvSpPr txBox="1"/>
          <p:nvPr/>
        </p:nvSpPr>
        <p:spPr>
          <a:xfrm>
            <a:off x="10388433" y="4601667"/>
            <a:ext cx="6268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起址 / 行跨度</a:t>
            </a:r>
          </a:p>
        </p:txBody>
      </p:sp>
      <p:sp>
        <p:nvSpPr>
          <p:cNvPr id="449" name="roi-fifo-t0: 像素整理"/>
          <p:cNvSpPr txBox="1"/>
          <p:nvPr/>
        </p:nvSpPr>
        <p:spPr>
          <a:xfrm>
            <a:off x="10447867" y="4833451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像素整理</a:t>
            </a:r>
          </a:p>
        </p:txBody>
      </p:sp>
      <p:sp>
        <p:nvSpPr>
          <p:cNvPr id="450" name="roi-fifo-t1: 输出 FIFO"/>
          <p:cNvSpPr txBox="1"/>
          <p:nvPr/>
        </p:nvSpPr>
        <p:spPr>
          <a:xfrm>
            <a:off x="10473904" y="4957267"/>
            <a:ext cx="455925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输出 FIFO</a:t>
            </a:r>
          </a:p>
        </p:txBody>
      </p:sp>
      <p:sp>
        <p:nvSpPr>
          <p:cNvPr id="451" name="lvds-tx-t0: LVDS TX"/>
          <p:cNvSpPr txBox="1"/>
          <p:nvPr/>
        </p:nvSpPr>
        <p:spPr>
          <a:xfrm>
            <a:off x="10464287" y="5189051"/>
            <a:ext cx="47516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TX</a:t>
            </a:r>
          </a:p>
        </p:txBody>
      </p:sp>
      <p:sp>
        <p:nvSpPr>
          <p:cNvPr id="452" name="lvds-tx-t1: 子图帧行封装"/>
          <p:cNvSpPr txBox="1"/>
          <p:nvPr/>
        </p:nvSpPr>
        <p:spPr>
          <a:xfrm>
            <a:off x="10393680" y="5312867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子图帧行封装</a:t>
            </a:r>
          </a:p>
        </p:txBody>
      </p:sp>
      <p:sp>
        <p:nvSpPr>
          <p:cNvPr id="453" name="badge-C11-text: C11"/>
          <p:cNvSpPr txBox="1"/>
          <p:nvPr/>
        </p:nvSpPr>
        <p:spPr>
          <a:xfrm>
            <a:off x="10996192" y="5460390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C11</a:t>
            </a:r>
          </a:p>
        </p:txBody>
      </p:sp>
      <p:sp>
        <p:nvSpPr>
          <p:cNvPr id="454" name="pll-title: PLL / 时钟与复位分发"/>
          <p:cNvSpPr txBox="1"/>
          <p:nvPr/>
        </p:nvSpPr>
        <p:spPr>
          <a:xfrm>
            <a:off x="7380023" y="5978957"/>
            <a:ext cx="1157288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时钟与复位分发</a:t>
            </a:r>
          </a:p>
        </p:txBody>
      </p:sp>
      <p:sp>
        <p:nvSpPr>
          <p:cNvPr id="455" name="badge-C1-text: C1"/>
          <p:cNvSpPr txBox="1"/>
          <p:nvPr/>
        </p:nvSpPr>
        <p:spPr>
          <a:xfrm>
            <a:off x="8749295" y="599920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456" name="pll-interface: RefClk / POR → clk_i / rst_ni"/>
          <p:cNvSpPr txBox="1"/>
          <p:nvPr/>
        </p:nvSpPr>
        <p:spPr>
          <a:xfrm>
            <a:off x="9311539" y="6000902"/>
            <a:ext cx="1222788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 / POR → clk_i / rst_ni</a:t>
            </a:r>
          </a:p>
        </p:txBody>
      </p:sp>
      <p:sp>
        <p:nvSpPr>
          <p:cNvPr id="457" name="config-C1-title: PLL / 时钟复位"/>
          <p:cNvSpPr txBox="1"/>
          <p:nvPr/>
        </p:nvSpPr>
        <p:spPr>
          <a:xfrm>
            <a:off x="477755" y="6392672"/>
            <a:ext cx="7801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时钟复位</a:t>
            </a:r>
          </a:p>
        </p:txBody>
      </p:sp>
      <p:sp>
        <p:nvSpPr>
          <p:cNvPr id="458" name="config-C1-desc: 配置 / 锁定 / 切换"/>
          <p:cNvSpPr txBox="1"/>
          <p:nvPr/>
        </p:nvSpPr>
        <p:spPr>
          <a:xfrm>
            <a:off x="401833" y="6542769"/>
            <a:ext cx="8134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配置 / 锁定 / 切换</a:t>
            </a:r>
          </a:p>
        </p:txBody>
      </p:sp>
      <p:sp>
        <p:nvSpPr>
          <p:cNvPr id="459" name="reg-badge-C1-text: C1"/>
          <p:cNvSpPr txBox="1"/>
          <p:nvPr/>
        </p:nvSpPr>
        <p:spPr>
          <a:xfrm>
            <a:off x="279241" y="6381902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460" name="config-C2-title: DDR Controller"/>
          <p:cNvSpPr txBox="1"/>
          <p:nvPr/>
        </p:nvSpPr>
        <p:spPr>
          <a:xfrm>
            <a:off x="1725546" y="6392672"/>
            <a:ext cx="75684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</a:t>
            </a:r>
          </a:p>
        </p:txBody>
      </p:sp>
      <p:sp>
        <p:nvSpPr>
          <p:cNvPr id="461" name="config-C2-desc: 初始化 / QoS / 状态"/>
          <p:cNvSpPr txBox="1"/>
          <p:nvPr/>
        </p:nvSpPr>
        <p:spPr>
          <a:xfrm>
            <a:off x="1601978" y="6542769"/>
            <a:ext cx="88544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初始化 / QoS / 状态</a:t>
            </a:r>
          </a:p>
        </p:txBody>
      </p:sp>
      <p:sp>
        <p:nvSpPr>
          <p:cNvPr id="462" name="reg-badge-C2-text: C2"/>
          <p:cNvSpPr txBox="1"/>
          <p:nvPr/>
        </p:nvSpPr>
        <p:spPr>
          <a:xfrm>
            <a:off x="1515375" y="6381902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463" name="config-C3-title: DDR PHY"/>
          <p:cNvSpPr txBox="1"/>
          <p:nvPr/>
        </p:nvSpPr>
        <p:spPr>
          <a:xfrm>
            <a:off x="3085306" y="6392672"/>
            <a:ext cx="50958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464" name="config-C3-desc: training / 校准"/>
          <p:cNvSpPr txBox="1"/>
          <p:nvPr/>
        </p:nvSpPr>
        <p:spPr>
          <a:xfrm>
            <a:off x="2957081" y="6542769"/>
            <a:ext cx="64750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training / 校准</a:t>
            </a:r>
          </a:p>
        </p:txBody>
      </p:sp>
      <p:sp>
        <p:nvSpPr>
          <p:cNvPr id="465" name="reg-badge-C3-text: C3"/>
          <p:cNvSpPr txBox="1"/>
          <p:nvPr/>
        </p:nvSpPr>
        <p:spPr>
          <a:xfrm>
            <a:off x="2751508" y="6381902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466" name="config-C4-title: LVDS RX"/>
          <p:cNvSpPr txBox="1"/>
          <p:nvPr/>
        </p:nvSpPr>
        <p:spPr>
          <a:xfrm>
            <a:off x="4332600" y="6392672"/>
            <a:ext cx="48726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RX</a:t>
            </a:r>
          </a:p>
        </p:txBody>
      </p:sp>
      <p:sp>
        <p:nvSpPr>
          <p:cNvPr id="467" name="config-C4-desc: 通道 / 对齐 / 帧行"/>
          <p:cNvSpPr txBox="1"/>
          <p:nvPr/>
        </p:nvSpPr>
        <p:spPr>
          <a:xfrm>
            <a:off x="4110233" y="6542769"/>
            <a:ext cx="8134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通道 / 对齐 / 帧行</a:t>
            </a:r>
          </a:p>
        </p:txBody>
      </p:sp>
      <p:sp>
        <p:nvSpPr>
          <p:cNvPr id="468" name="reg-badge-C4-text: C4"/>
          <p:cNvSpPr txBox="1"/>
          <p:nvPr/>
        </p:nvSpPr>
        <p:spPr>
          <a:xfrm>
            <a:off x="3987641" y="6381902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469" name="config-C5-title: ISP"/>
          <p:cNvSpPr txBox="1"/>
          <p:nvPr/>
        </p:nvSpPr>
        <p:spPr>
          <a:xfrm>
            <a:off x="5688489" y="6392672"/>
            <a:ext cx="2477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470" name="config-C5-desc: 尺寸 / 模式 / 参数"/>
          <p:cNvSpPr txBox="1"/>
          <p:nvPr/>
        </p:nvSpPr>
        <p:spPr>
          <a:xfrm>
            <a:off x="5346367" y="6542769"/>
            <a:ext cx="8134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尺寸 / 模式 / 参数</a:t>
            </a:r>
          </a:p>
        </p:txBody>
      </p:sp>
      <p:sp>
        <p:nvSpPr>
          <p:cNvPr id="471" name="reg-badge-C5-text: C5"/>
          <p:cNvSpPr txBox="1"/>
          <p:nvPr/>
        </p:nvSpPr>
        <p:spPr>
          <a:xfrm>
            <a:off x="5223775" y="6381902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472" name="config-C6-title: NPU 计算"/>
          <p:cNvSpPr txBox="1"/>
          <p:nvPr/>
        </p:nvSpPr>
        <p:spPr>
          <a:xfrm>
            <a:off x="6786465" y="6392672"/>
            <a:ext cx="52407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</a:t>
            </a:r>
          </a:p>
        </p:txBody>
      </p:sp>
      <p:sp>
        <p:nvSpPr>
          <p:cNvPr id="473" name="config-C6-desc: 命令 / GB 数据位置"/>
          <p:cNvSpPr txBox="1"/>
          <p:nvPr/>
        </p:nvSpPr>
        <p:spPr>
          <a:xfrm>
            <a:off x="6562291" y="6542769"/>
            <a:ext cx="85388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 / GB 数据位置</a:t>
            </a:r>
          </a:p>
        </p:txBody>
      </p:sp>
      <p:sp>
        <p:nvSpPr>
          <p:cNvPr id="474" name="reg-badge-C6-text: C6"/>
          <p:cNvSpPr txBox="1"/>
          <p:nvPr/>
        </p:nvSpPr>
        <p:spPr>
          <a:xfrm>
            <a:off x="6459908" y="6381902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475" name="config-C7-title: NPU / GB 搬运"/>
          <p:cNvSpPr txBox="1"/>
          <p:nvPr/>
        </p:nvSpPr>
        <p:spPr>
          <a:xfrm>
            <a:off x="7900808" y="6392672"/>
            <a:ext cx="76765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sp>
        <p:nvSpPr>
          <p:cNvPr id="476" name="config-C7-desc: 地址 / 长度 / stride"/>
          <p:cNvSpPr txBox="1"/>
          <p:nvPr/>
        </p:nvSpPr>
        <p:spPr>
          <a:xfrm>
            <a:off x="7797694" y="6542769"/>
            <a:ext cx="855345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长度 / stride</a:t>
            </a:r>
          </a:p>
        </p:txBody>
      </p:sp>
      <p:sp>
        <p:nvSpPr>
          <p:cNvPr id="477" name="reg-badge-C7-text: C7"/>
          <p:cNvSpPr txBox="1"/>
          <p:nvPr/>
        </p:nvSpPr>
        <p:spPr>
          <a:xfrm>
            <a:off x="7696041" y="6381902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478" name="config-C8-title: 帧写入 DMA"/>
          <p:cNvSpPr txBox="1"/>
          <p:nvPr/>
        </p:nvSpPr>
        <p:spPr>
          <a:xfrm>
            <a:off x="9198803" y="6392672"/>
            <a:ext cx="64392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479" name="config-C8-desc: 缓冲区 / 格式 / 帧状态"/>
          <p:cNvSpPr txBox="1"/>
          <p:nvPr/>
        </p:nvSpPr>
        <p:spPr>
          <a:xfrm>
            <a:off x="8966713" y="6542769"/>
            <a:ext cx="9895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缓冲区 / 格式 / 帧状态</a:t>
            </a:r>
          </a:p>
        </p:txBody>
      </p:sp>
      <p:sp>
        <p:nvSpPr>
          <p:cNvPr id="480" name="reg-badge-C8-text: C8"/>
          <p:cNvSpPr txBox="1"/>
          <p:nvPr/>
        </p:nvSpPr>
        <p:spPr>
          <a:xfrm>
            <a:off x="8932175" y="6381902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481" name="config-C9-title: GB 管理"/>
          <p:cNvSpPr txBox="1"/>
          <p:nvPr/>
        </p:nvSpPr>
        <p:spPr>
          <a:xfrm>
            <a:off x="10524331" y="6392672"/>
            <a:ext cx="46513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管理</a:t>
            </a:r>
          </a:p>
        </p:txBody>
      </p:sp>
      <p:sp>
        <p:nvSpPr>
          <p:cNvPr id="482" name="config-C9-desc: 能力 / bank / 错误"/>
          <p:cNvSpPr txBox="1"/>
          <p:nvPr/>
        </p:nvSpPr>
        <p:spPr>
          <a:xfrm>
            <a:off x="10285741" y="6542769"/>
            <a:ext cx="823786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能力 / bank / 错误</a:t>
            </a:r>
          </a:p>
        </p:txBody>
      </p:sp>
      <p:sp>
        <p:nvSpPr>
          <p:cNvPr id="483" name="reg-badge-C9-text: C9"/>
          <p:cNvSpPr txBox="1"/>
          <p:nvPr/>
        </p:nvSpPr>
        <p:spPr>
          <a:xfrm>
            <a:off x="10168308" y="6381902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484" name="legend-data-text: AXI 请求 / 返回"/>
          <p:cNvSpPr txBox="1"/>
          <p:nvPr/>
        </p:nvSpPr>
        <p:spPr>
          <a:xfrm>
            <a:off x="10528787" y="2377169"/>
            <a:ext cx="684826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请求 / 返回</a:t>
            </a:r>
          </a:p>
        </p:txBody>
      </p:sp>
      <p:sp>
        <p:nvSpPr>
          <p:cNvPr id="485" name="legend-gb-text: GB / 读返回"/>
          <p:cNvSpPr txBox="1"/>
          <p:nvPr/>
        </p:nvSpPr>
        <p:spPr>
          <a:xfrm>
            <a:off x="10589538" y="2631169"/>
            <a:ext cx="56332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/ 读返回</a:t>
            </a:r>
          </a:p>
        </p:txBody>
      </p:sp>
      <p:sp>
        <p:nvSpPr>
          <p:cNvPr id="486" name="legend-pixel-text: 像素 / eMMC"/>
          <p:cNvSpPr txBox="1"/>
          <p:nvPr/>
        </p:nvSpPr>
        <p:spPr>
          <a:xfrm>
            <a:off x="10566707" y="2885169"/>
            <a:ext cx="608986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 / eMMC</a:t>
            </a:r>
          </a:p>
        </p:txBody>
      </p:sp>
      <p:sp>
        <p:nvSpPr>
          <p:cNvPr id="487" name="legend-cfg-text: 配置 / 控制"/>
          <p:cNvSpPr txBox="1"/>
          <p:nvPr/>
        </p:nvSpPr>
        <p:spPr>
          <a:xfrm>
            <a:off x="10601793" y="3139169"/>
            <a:ext cx="53881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 / 控制</a:t>
            </a:r>
          </a:p>
        </p:txBody>
      </p:sp>
    </p:spTree>
    <p:extLst>
      <p:ext uri="{BB962C8B-B14F-4D97-AF65-F5344CB8AC3E}">
        <p14:creationId xmlns:p14="http://schemas.microsoft.com/office/powerpoint/2010/main" val="2187131506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Moderate&quot;,&quot;Name&quot;:&quot;适中&quot;,&quot;Kind&quot;:&quot;System&quot;,&quot;OldGuidesSetting&quot;:{&quot;HeaderHeight&quot;:13.0,&quot;FooterHeight&quot;:6.0,&quot;SideMargin&quot;:4.0,&quot;TopMargin&quot;:0.0,&quot;BottomMargin&quot;:0.0,&quot;IntervalMargin&quot;:1.5}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14659</TotalTime>
  <Words>510</Words>
  <Application>Microsoft Office PowerPoint</Application>
  <PresentationFormat>宽屏</PresentationFormat>
  <Paragraphs>197</Paragraphs>
  <Slides>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0" baseType="lpstr">
      <vt:lpstr>等线</vt:lpstr>
      <vt:lpstr>等线 Light</vt:lpstr>
      <vt:lpstr>Microsoft YaHei</vt:lpstr>
      <vt:lpstr>Microsoft YaHei</vt:lpstr>
      <vt:lpstr>Arial</vt:lpstr>
      <vt:lpstr>Office 主题​​</vt:lpstr>
      <vt:lpstr>PowerPoint 演示文稿</vt:lpstr>
      <vt:lpstr>SoC 架构：CPU / Ara 共享 GB 出口</vt:lpstr>
      <vt:lpstr>SoC 架构：等距目标端口 / GB 接入位置调整</vt:lpstr>
      <vt:lpstr>SoC 初版规划：eMMC / ROI / 四口共享压缩存储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2314981968@qq.com</dc:creator>
  <cp:lastModifiedBy>文尧 赵</cp:lastModifiedBy>
  <cp:revision>5909</cp:revision>
  <dcterms:created xsi:type="dcterms:W3CDTF">2019-11-26T03:41:00Z</dcterms:created>
  <dcterms:modified xsi:type="dcterms:W3CDTF">2026-10-16T11:05:18Z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BC69EB345F4F457288BFAD1BFA019858</vt:lpwstr>
  </property>
  <property fmtid="{D5CDD505-2E9C-101B-9397-08002B2CF9AE}" pid="3" name="KSOProductBuildVer">
    <vt:lpwstr>2052-12.1.0.25225</vt:lpwstr>
  </property>
</Properties>
</file>