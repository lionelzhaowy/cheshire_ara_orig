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205740" y="84856"/>
            <a:ext cx="3547965" cy="314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219456" y="393558"/>
            <a:ext cx="310560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274320" y="914400"/>
            <a:ext cx="3840480" cy="196596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1535410" y="962863"/>
            <a:ext cx="131830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411480" y="1325880"/>
            <a:ext cx="100584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700745" y="1462034"/>
            <a:ext cx="4273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L1D / 写缓冲"/>
          <p:cNvSpPr txBox="1"/>
          <p:nvPr/>
        </p:nvSpPr>
        <p:spPr>
          <a:xfrm>
            <a:off x="537049" y="1637233"/>
            <a:ext cx="754701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9" name="ara"/>
          <p:cNvSpPr/>
          <p:nvPr/>
        </p:nvSpPr>
        <p:spPr>
          <a:xfrm>
            <a:off x="1828800" y="1325880"/>
            <a:ext cx="2125980" cy="5029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2737017" y="1404884"/>
            <a:ext cx="30954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2400318" y="1580083"/>
            <a:ext cx="98294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1828800" y="2080260"/>
            <a:ext cx="57150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18288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19636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2514600" y="2080260"/>
            <a:ext cx="571500" cy="45720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25146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26494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3200400" y="2080260"/>
            <a:ext cx="75438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329184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3326130" y="2316815"/>
            <a:ext cx="50292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2112264" y="1828800"/>
            <a:ext cx="0" cy="2514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24003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30861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4251960" y="914400"/>
            <a:ext cx="4114800" cy="196596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5564896" y="962863"/>
            <a:ext cx="1488929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4389120" y="1394460"/>
            <a:ext cx="1005840" cy="64008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4561867" y="1542044"/>
            <a:ext cx="66034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4507992" y="1717243"/>
            <a:ext cx="7680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5554980" y="1394460"/>
            <a:ext cx="1143000" cy="64008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共享数据代理"/>
          <p:cNvSpPr txBox="1"/>
          <p:nvPr/>
        </p:nvSpPr>
        <p:spPr>
          <a:xfrm>
            <a:off x="5678424" y="1542044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5658154" y="1717243"/>
            <a:ext cx="93665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6858000" y="1394460"/>
            <a:ext cx="1325880" cy="64008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7093937" y="1464320"/>
            <a:ext cx="85400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7008840" y="1639519"/>
            <a:ext cx="1024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7075491" y="1794967"/>
            <a:ext cx="890897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6858000" y="2263140"/>
            <a:ext cx="1325880" cy="45720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7037305" y="2319284"/>
            <a:ext cx="9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7201882" y="2494483"/>
            <a:ext cx="638115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539496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669798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6126480" y="2034540"/>
            <a:ext cx="731520" cy="457200"/>
          </a:xfrm>
          <a:custGeom>
            <a:avLst/>
            <a:gdLst/>
            <a:ahLst/>
            <a:cxnLst/>
            <a:rect l="0" t="0" r="r" b="b"/>
            <a:pathLst>
              <a:path w="731520" h="457200" fill="none">
                <a:moveTo>
                  <a:pt x="731520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3086100" y="1280160"/>
            <a:ext cx="2674620" cy="891540"/>
          </a:xfrm>
          <a:custGeom>
            <a:avLst/>
            <a:gdLst/>
            <a:ahLst/>
            <a:cxnLst/>
            <a:rect l="0" t="0" r="r" b="b"/>
            <a:pathLst>
              <a:path w="2674620" h="891540" fill="none">
                <a:moveTo>
                  <a:pt x="0" y="891540"/>
                </a:moveTo>
                <a:lnTo>
                  <a:pt x="50292" y="891540"/>
                </a:lnTo>
                <a:lnTo>
                  <a:pt x="50292" y="662940"/>
                </a:lnTo>
                <a:lnTo>
                  <a:pt x="1088136" y="662940"/>
                </a:lnTo>
                <a:lnTo>
                  <a:pt x="1088136" y="0"/>
                </a:lnTo>
                <a:lnTo>
                  <a:pt x="2674620" y="0"/>
                </a:lnTo>
                <a:lnTo>
                  <a:pt x="267462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8503920" y="914400"/>
            <a:ext cx="4023360" cy="196596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9714807" y="962863"/>
            <a:ext cx="1601586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866394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8785587" y="1811701"/>
            <a:ext cx="396785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8704209" y="1996775"/>
            <a:ext cx="559541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939546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9400782" y="1811701"/>
            <a:ext cx="62943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9486900" y="1996775"/>
            <a:ext cx="457200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1012698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10302084" y="1811701"/>
            <a:ext cx="289872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10148947" y="1996775"/>
            <a:ext cx="596146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1085850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10940796" y="1811701"/>
            <a:ext cx="47548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10924526" y="1996775"/>
            <a:ext cx="508028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11590020" y="1691640"/>
            <a:ext cx="73152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11697951" y="1811701"/>
            <a:ext cx="515657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11681678" y="1996775"/>
            <a:ext cx="548204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930402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1003554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1076706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1149858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10081260" y="1508760"/>
            <a:ext cx="1097280" cy="411480"/>
          </a:xfrm>
          <a:custGeom>
            <a:avLst/>
            <a:gdLst/>
            <a:ahLst/>
            <a:cxnLst/>
            <a:rect l="0" t="0" r="r" b="b"/>
            <a:pathLst>
              <a:path w="1097280" h="411480" fill="none">
                <a:moveTo>
                  <a:pt x="0" y="4114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82880"/>
                </a:lnTo>
              </a:path>
            </a:pathLst>
          </a:custGeom>
          <a:noFill/>
          <a:ln w="1371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10062972" y="1901952"/>
            <a:ext cx="36576" cy="36576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11163560" y="1345265"/>
            <a:ext cx="53288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6400800" y="1280160"/>
            <a:ext cx="4128516" cy="411480"/>
          </a:xfrm>
          <a:custGeom>
            <a:avLst/>
            <a:gdLst/>
            <a:ahLst/>
            <a:cxnLst/>
            <a:rect l="0" t="0" r="r" b="b"/>
            <a:pathLst>
              <a:path w="4128516" h="411480" fill="none">
                <a:moveTo>
                  <a:pt x="4046220" y="411480"/>
                </a:moveTo>
                <a:lnTo>
                  <a:pt x="4046220" y="274320"/>
                </a:lnTo>
                <a:cubicBezTo>
                  <a:pt x="4128516" y="274320"/>
                  <a:pt x="4128516" y="182880"/>
                  <a:pt x="4046220" y="182880"/>
                </a:cubicBezTo>
                <a:lnTo>
                  <a:pt x="4046220" y="0"/>
                </a:lnTo>
                <a:lnTo>
                  <a:pt x="0" y="0"/>
                </a:lnTo>
                <a:lnTo>
                  <a:pt x="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8409044" y="1144463"/>
            <a:ext cx="64695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320040" y="3657600"/>
            <a:ext cx="5760720" cy="54864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2570550" y="3735781"/>
            <a:ext cx="12597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2876895" y="3945545"/>
            <a:ext cx="64700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914400" y="1943100"/>
            <a:ext cx="228600" cy="1714500"/>
          </a:xfrm>
          <a:custGeom>
            <a:avLst/>
            <a:gdLst/>
            <a:ahLst/>
            <a:cxnLst/>
            <a:rect l="0" t="0" r="r" b="b"/>
            <a:pathLst>
              <a:path w="228600" h="1714500" fill="none">
                <a:moveTo>
                  <a:pt x="0" y="0"/>
                </a:moveTo>
                <a:lnTo>
                  <a:pt x="0" y="1257300"/>
                </a:lnTo>
                <a:lnTo>
                  <a:pt x="228600" y="1257300"/>
                </a:lnTo>
                <a:lnTo>
                  <a:pt x="228600" y="171450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3200400" y="2537460"/>
            <a:ext cx="374904" cy="1120140"/>
          </a:xfrm>
          <a:custGeom>
            <a:avLst/>
            <a:gdLst/>
            <a:ahLst/>
            <a:cxnLst/>
            <a:rect l="0" t="0" r="r" b="b"/>
            <a:pathLst>
              <a:path w="374904" h="1120140" fill="none">
                <a:moveTo>
                  <a:pt x="374904" y="0"/>
                </a:moveTo>
                <a:lnTo>
                  <a:pt x="374904" y="754380"/>
                </a:lnTo>
                <a:lnTo>
                  <a:pt x="0" y="754380"/>
                </a:lnTo>
                <a:lnTo>
                  <a:pt x="0" y="112014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1828800" y="4800600"/>
            <a:ext cx="118872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2103120" y="4936754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2065740" y="5111953"/>
            <a:ext cx="71483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3566160" y="4800600"/>
            <a:ext cx="132588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3861922" y="4936754"/>
            <a:ext cx="7343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WB 缓存 / 片上 SPM"/>
          <p:cNvSpPr txBox="1"/>
          <p:nvPr/>
        </p:nvSpPr>
        <p:spPr>
          <a:xfrm>
            <a:off x="3671941" y="5111953"/>
            <a:ext cx="111431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2423160" y="4206240"/>
            <a:ext cx="0" cy="5943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3017520" y="5106924"/>
            <a:ext cx="5486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6400800" y="3657600"/>
            <a:ext cx="4800600" cy="24460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7904645" y="5868985"/>
            <a:ext cx="1792910" cy="212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667512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689886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6763485" y="4493179"/>
            <a:ext cx="55479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704088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845820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868194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8559634" y="4493179"/>
            <a:ext cx="5286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882396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1024128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1046502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10405872" y="4493179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1060704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4892040" y="4091940"/>
            <a:ext cx="2148840" cy="1014984"/>
          </a:xfrm>
          <a:custGeom>
            <a:avLst/>
            <a:gdLst/>
            <a:ahLst/>
            <a:cxnLst/>
            <a:rect l="0" t="0" r="r" b="b"/>
            <a:pathLst>
              <a:path w="2148840" h="1014984" fill="none">
                <a:moveTo>
                  <a:pt x="0" y="1014984"/>
                </a:moveTo>
                <a:lnTo>
                  <a:pt x="1325880" y="1014984"/>
                </a:lnTo>
                <a:lnTo>
                  <a:pt x="1325880" y="0"/>
                </a:lnTo>
                <a:lnTo>
                  <a:pt x="2148840" y="0"/>
                </a:lnTo>
                <a:lnTo>
                  <a:pt x="2148840" y="1600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8183880" y="2491740"/>
            <a:ext cx="640080" cy="1760220"/>
          </a:xfrm>
          <a:custGeom>
            <a:avLst/>
            <a:gdLst/>
            <a:ahLst/>
            <a:cxnLst/>
            <a:rect l="0" t="0" r="r" b="b"/>
            <a:pathLst>
              <a:path w="640080" h="1760220" fill="none">
                <a:moveTo>
                  <a:pt x="0" y="0"/>
                </a:moveTo>
                <a:lnTo>
                  <a:pt x="228600" y="0"/>
                </a:lnTo>
                <a:lnTo>
                  <a:pt x="228600" y="845820"/>
                </a:lnTo>
                <a:lnTo>
                  <a:pt x="640080" y="845820"/>
                </a:lnTo>
                <a:lnTo>
                  <a:pt x="640080" y="1760220"/>
                </a:lnTo>
              </a:path>
            </a:pathLst>
          </a:custGeom>
          <a:noFill/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10607040" y="2263140"/>
            <a:ext cx="1348740" cy="1988820"/>
          </a:xfrm>
          <a:custGeom>
            <a:avLst/>
            <a:gdLst/>
            <a:ahLst/>
            <a:cxnLst/>
            <a:rect l="0" t="0" r="r" b="b"/>
            <a:pathLst>
              <a:path w="1348740" h="1988820" fill="none">
                <a:moveTo>
                  <a:pt x="1348740" y="0"/>
                </a:moveTo>
                <a:lnTo>
                  <a:pt x="1348740" y="1074420"/>
                </a:lnTo>
                <a:lnTo>
                  <a:pt x="0" y="1074420"/>
                </a:lnTo>
                <a:lnTo>
                  <a:pt x="0" y="19888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7040880" y="4914900"/>
            <a:ext cx="3566160" cy="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6675120" y="5212080"/>
            <a:ext cx="141732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6875774" y="5336804"/>
            <a:ext cx="10160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6970264" y="5512003"/>
            <a:ext cx="82703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8412480" y="5212080"/>
            <a:ext cx="251460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8815552" y="5421295"/>
            <a:ext cx="170845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7383780" y="4914900"/>
            <a:ext cx="0" cy="29718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8092440" y="5509260"/>
            <a:ext cx="3200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11430000" y="5212080"/>
            <a:ext cx="1051560" cy="59436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11582283" y="5336804"/>
            <a:ext cx="7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11681460" y="5512003"/>
            <a:ext cx="54864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10927080" y="5509260"/>
            <a:ext cx="502920" cy="0"/>
          </a:xfrm>
          <a:prstGeom prst="line">
            <a:avLst/>
          </a:prstGeom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2300230" y="5993160"/>
            <a:ext cx="193749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2268044" y="6198900"/>
            <a:ext cx="2001872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251460" y="6995160"/>
            <a:ext cx="297180" cy="0"/>
          </a:xfrm>
          <a:prstGeom prst="line">
            <a:avLst/>
          </a:prstGeom>
          <a:ln w="1143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617220" y="6923105"/>
            <a:ext cx="752123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2674620" y="6995160"/>
            <a:ext cx="297180" cy="0"/>
          </a:xfrm>
          <a:prstGeom prst="line">
            <a:avLst/>
          </a:prstGeom>
          <a:ln w="11430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3040380" y="6923105"/>
            <a:ext cx="661654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5097780" y="6995160"/>
            <a:ext cx="297180" cy="0"/>
          </a:xfrm>
          <a:prstGeom prst="line">
            <a:avLst/>
          </a:prstGeom>
          <a:ln w="1143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5463540" y="6923105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19" name="coh-coordinator"/>
          <p:cNvSpPr/>
          <p:nvPr/>
        </p:nvSpPr>
        <p:spPr>
          <a:xfrm>
            <a:off x="4389120" y="2971800"/>
            <a:ext cx="3886200" cy="57150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0: 范围维护引擎（规划）"/>
          <p:cNvSpPr txBox="1"/>
          <p:nvPr/>
        </p:nvSpPr>
        <p:spPr>
          <a:xfrm>
            <a:off x="5653278" y="3092226"/>
            <a:ext cx="1357884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范围维护引擎（规划）</a:t>
            </a:r>
          </a:p>
        </p:txBody>
      </p:sp>
      <p:sp>
        <p:nvSpPr>
          <p:cNvPr id="121" name="text-121: 软件触发 / L1D 与 LLC 维护 / 搬运准入 / 完成确认"/>
          <p:cNvSpPr txBox="1"/>
          <p:nvPr/>
        </p:nvSpPr>
        <p:spPr>
          <a:xfrm>
            <a:off x="5035522" y="3267060"/>
            <a:ext cx="25933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软件触发 / L1D 与 LLC 维护 / 搬运准入 / 完成确认</a:t>
            </a:r>
          </a:p>
        </p:txBody>
      </p:sp>
      <p:sp>
        <p:nvSpPr>
          <p:cNvPr id="122" name="coh-cpu"/>
          <p:cNvSpPr/>
          <p:nvPr/>
        </p:nvSpPr>
        <p:spPr>
          <a:xfrm>
            <a:off x="914400" y="731520"/>
            <a:ext cx="3474720" cy="2377440"/>
          </a:xfrm>
          <a:custGeom>
            <a:avLst/>
            <a:gdLst/>
            <a:ahLst/>
            <a:cxnLst/>
            <a:rect l="0" t="0" r="r" b="b"/>
            <a:pathLst>
              <a:path w="3474720" h="2377440" fill="none">
                <a:moveTo>
                  <a:pt x="3474720" y="2377440"/>
                </a:moveTo>
                <a:lnTo>
                  <a:pt x="3314700" y="2377440"/>
                </a:lnTo>
                <a:lnTo>
                  <a:pt x="3314700" y="585216"/>
                </a:lnTo>
                <a:cubicBezTo>
                  <a:pt x="3354324" y="560832"/>
                  <a:pt x="3354324" y="536448"/>
                  <a:pt x="3314700" y="512064"/>
                </a:cubicBezTo>
                <a:lnTo>
                  <a:pt x="3314700" y="0"/>
                </a:lnTo>
                <a:lnTo>
                  <a:pt x="0" y="0"/>
                </a:lnTo>
                <a:lnTo>
                  <a:pt x="0" y="59436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软件请求 / L1D 排空与失效"/>
          <p:cNvSpPr txBox="1"/>
          <p:nvPr/>
        </p:nvSpPr>
        <p:spPr>
          <a:xfrm>
            <a:off x="1143000" y="572232"/>
            <a:ext cx="138571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软件请求 / L1D 排空与失效</a:t>
            </a:r>
          </a:p>
        </p:txBody>
      </p:sp>
      <p:sp>
        <p:nvSpPr>
          <p:cNvPr id="124" name="coh-atomics"/>
          <p:cNvSpPr/>
          <p:nvPr/>
        </p:nvSpPr>
        <p:spPr>
          <a:xfrm>
            <a:off x="182880" y="3320796"/>
            <a:ext cx="4206240" cy="2348484"/>
          </a:xfrm>
          <a:custGeom>
            <a:avLst/>
            <a:gdLst/>
            <a:ahLst/>
            <a:cxnLst/>
            <a:rect l="0" t="0" r="r" b="b"/>
            <a:pathLst>
              <a:path w="4206240" h="2348484" fill="none">
                <a:moveTo>
                  <a:pt x="4206240" y="39624"/>
                </a:moveTo>
                <a:lnTo>
                  <a:pt x="3054096" y="39624"/>
                </a:lnTo>
                <a:cubicBezTo>
                  <a:pt x="3029712" y="0"/>
                  <a:pt x="3005328" y="0"/>
                  <a:pt x="2980944" y="39624"/>
                </a:cubicBezTo>
                <a:lnTo>
                  <a:pt x="996696" y="39624"/>
                </a:lnTo>
                <a:cubicBezTo>
                  <a:pt x="972312" y="0"/>
                  <a:pt x="947928" y="0"/>
                  <a:pt x="923544" y="39624"/>
                </a:cubicBezTo>
                <a:lnTo>
                  <a:pt x="0" y="39624"/>
                </a:lnTo>
                <a:lnTo>
                  <a:pt x="0" y="2348484"/>
                </a:lnTo>
                <a:lnTo>
                  <a:pt x="2240280" y="2348484"/>
                </a:lnTo>
                <a:lnTo>
                  <a:pt x="2240280" y="209702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原子域评审"/>
          <p:cNvSpPr txBox="1"/>
          <p:nvPr/>
        </p:nvSpPr>
        <p:spPr>
          <a:xfrm>
            <a:off x="320040" y="3384012"/>
            <a:ext cx="63093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原子域评审</a:t>
            </a:r>
          </a:p>
        </p:txBody>
      </p:sp>
      <p:sp>
        <p:nvSpPr>
          <p:cNvPr id="126" name="coh-llc"/>
          <p:cNvSpPr/>
          <p:nvPr/>
        </p:nvSpPr>
        <p:spPr>
          <a:xfrm>
            <a:off x="4229100" y="3543300"/>
            <a:ext cx="1937004" cy="2034540"/>
          </a:xfrm>
          <a:custGeom>
            <a:avLst/>
            <a:gdLst/>
            <a:ahLst/>
            <a:cxnLst/>
            <a:rect l="0" t="0" r="r" b="b"/>
            <a:pathLst>
              <a:path w="1937004" h="2034540" fill="none">
                <a:moveTo>
                  <a:pt x="1897380" y="0"/>
                </a:moveTo>
                <a:lnTo>
                  <a:pt x="1897380" y="1527048"/>
                </a:lnTo>
                <a:cubicBezTo>
                  <a:pt x="1937004" y="1551432"/>
                  <a:pt x="1937004" y="1575816"/>
                  <a:pt x="1897380" y="1600200"/>
                </a:cubicBezTo>
                <a:lnTo>
                  <a:pt x="1897380" y="2034540"/>
                </a:lnTo>
                <a:lnTo>
                  <a:pt x="0" y="2034540"/>
                </a:lnTo>
                <a:lnTo>
                  <a:pt x="0" y="187452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LLC 范围清理 / 失效确认"/>
          <p:cNvSpPr txBox="1"/>
          <p:nvPr/>
        </p:nvSpPr>
        <p:spPr>
          <a:xfrm>
            <a:off x="4572000" y="5601432"/>
            <a:ext cx="1265880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范围清理 / 失效确认</a:t>
            </a:r>
          </a:p>
        </p:txBody>
      </p:sp>
      <p:sp>
        <p:nvSpPr>
          <p:cNvPr id="128" name="coh-s1"/>
          <p:cNvSpPr/>
          <p:nvPr/>
        </p:nvSpPr>
        <p:spPr>
          <a:xfrm>
            <a:off x="8275320" y="3160776"/>
            <a:ext cx="1097280" cy="1319784"/>
          </a:xfrm>
          <a:custGeom>
            <a:avLst/>
            <a:gdLst/>
            <a:ahLst/>
            <a:cxnLst/>
            <a:rect l="0" t="0" r="r" b="b"/>
            <a:pathLst>
              <a:path w="1097280" h="1319784" fill="none">
                <a:moveTo>
                  <a:pt x="0" y="39624"/>
                </a:moveTo>
                <a:lnTo>
                  <a:pt x="100584" y="39624"/>
                </a:lnTo>
                <a:cubicBezTo>
                  <a:pt x="124968" y="0"/>
                  <a:pt x="149352" y="0"/>
                  <a:pt x="173736" y="39624"/>
                </a:cubicBezTo>
                <a:lnTo>
                  <a:pt x="1097280" y="39624"/>
                </a:lnTo>
                <a:lnTo>
                  <a:pt x="1097280" y="1319784"/>
                </a:lnTo>
                <a:lnTo>
                  <a:pt x="914400" y="131978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9: S1 维护后准入 / 完成"/>
          <p:cNvSpPr txBox="1"/>
          <p:nvPr/>
        </p:nvSpPr>
        <p:spPr>
          <a:xfrm>
            <a:off x="9441180" y="301825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S1 维护后准入 / 完成</a:t>
            </a:r>
          </a:p>
        </p:txBody>
      </p:sp>
      <p:sp>
        <p:nvSpPr>
          <p:cNvPr id="130" name="coh-s2"/>
          <p:cNvSpPr/>
          <p:nvPr/>
        </p:nvSpPr>
        <p:spPr>
          <a:xfrm>
            <a:off x="8275320" y="3366516"/>
            <a:ext cx="2788920" cy="1114044"/>
          </a:xfrm>
          <a:custGeom>
            <a:avLst/>
            <a:gdLst/>
            <a:ahLst/>
            <a:cxnLst/>
            <a:rect l="0" t="0" r="r" b="b"/>
            <a:pathLst>
              <a:path w="2788920" h="1114044" fill="none">
                <a:moveTo>
                  <a:pt x="0" y="39624"/>
                </a:moveTo>
                <a:lnTo>
                  <a:pt x="512064" y="39624"/>
                </a:lnTo>
                <a:cubicBezTo>
                  <a:pt x="536448" y="0"/>
                  <a:pt x="560832" y="0"/>
                  <a:pt x="585216" y="39624"/>
                </a:cubicBezTo>
                <a:lnTo>
                  <a:pt x="1060704" y="39624"/>
                </a:lnTo>
                <a:cubicBezTo>
                  <a:pt x="1085088" y="0"/>
                  <a:pt x="1109472" y="0"/>
                  <a:pt x="1133856" y="39624"/>
                </a:cubicBezTo>
                <a:lnTo>
                  <a:pt x="1325880" y="39624"/>
                </a:lnTo>
                <a:lnTo>
                  <a:pt x="1325880" y="748284"/>
                </a:lnTo>
                <a:lnTo>
                  <a:pt x="2295144" y="748284"/>
                </a:lnTo>
                <a:cubicBezTo>
                  <a:pt x="2319528" y="708660"/>
                  <a:pt x="2343912" y="708660"/>
                  <a:pt x="2368296" y="748284"/>
                </a:cubicBezTo>
                <a:lnTo>
                  <a:pt x="2788920" y="748284"/>
                </a:lnTo>
                <a:lnTo>
                  <a:pt x="2788920" y="1114044"/>
                </a:lnTo>
                <a:lnTo>
                  <a:pt x="2697480" y="111404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S2 维护后准入 / 完成"/>
          <p:cNvSpPr txBox="1"/>
          <p:nvPr/>
        </p:nvSpPr>
        <p:spPr>
          <a:xfrm>
            <a:off x="11132820" y="397837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S2 维护后准入 / 完成</a:t>
            </a:r>
          </a:p>
        </p:txBody>
      </p:sp>
      <p:sp>
        <p:nvSpPr>
          <p:cNvPr id="132" name="coh-ddr"/>
          <p:cNvSpPr/>
          <p:nvPr/>
        </p:nvSpPr>
        <p:spPr>
          <a:xfrm>
            <a:off x="7909560" y="3543300"/>
            <a:ext cx="39624" cy="1668780"/>
          </a:xfrm>
          <a:custGeom>
            <a:avLst/>
            <a:gdLst/>
            <a:ahLst/>
            <a:cxnLst/>
            <a:rect l="0" t="0" r="r" b="b"/>
            <a:pathLst>
              <a:path w="39624" h="1668780" fill="none">
                <a:moveTo>
                  <a:pt x="0" y="0"/>
                </a:moveTo>
                <a:lnTo>
                  <a:pt x="0" y="1335024"/>
                </a:lnTo>
                <a:cubicBezTo>
                  <a:pt x="39624" y="1359408"/>
                  <a:pt x="39624" y="1383792"/>
                  <a:pt x="0" y="1408176"/>
                </a:cubicBezTo>
                <a:lnTo>
                  <a:pt x="0" y="166878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3: 跨口可见 / 完成"/>
          <p:cNvSpPr txBox="1"/>
          <p:nvPr/>
        </p:nvSpPr>
        <p:spPr>
          <a:xfrm>
            <a:off x="8001000" y="4961352"/>
            <a:ext cx="85377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跨口可见 / 完成</a:t>
            </a:r>
          </a:p>
        </p:txBody>
      </p:sp>
      <p:sp>
        <p:nvSpPr>
          <p:cNvPr id="134" name="coh-legend"/>
          <p:cNvSpPr/>
          <p:nvPr/>
        </p:nvSpPr>
        <p:spPr>
          <a:xfrm>
            <a:off x="7863840" y="699516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软件交接与硬件维护（规划）"/>
          <p:cNvSpPr txBox="1"/>
          <p:nvPr/>
        </p:nvSpPr>
        <p:spPr>
          <a:xfrm>
            <a:off x="8252460" y="6923105"/>
            <a:ext cx="140817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软件交接与硬件维护（规划）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软件交接、硬件维护：一次推理的数据生命周期"/>
          <p:cNvSpPr txBox="1"/>
          <p:nvPr/>
        </p:nvSpPr>
        <p:spPr>
          <a:xfrm>
            <a:off x="266700" y="80650"/>
            <a:ext cx="422452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软件交接、硬件维护：一次推理的数据生命周期</a:t>
            </a:r>
          </a:p>
        </p:txBody>
      </p:sp>
      <p:sp>
        <p:nvSpPr>
          <p:cNvPr id="3" name="text-003: 按缓冲区或计算分块同步；交接范围由软件保持所有权，CPU 可并行处理其他缓冲区。"/>
          <p:cNvSpPr txBox="1"/>
          <p:nvPr/>
        </p:nvSpPr>
        <p:spPr>
          <a:xfrm>
            <a:off x="266700" y="373807"/>
            <a:ext cx="5007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按缓冲区或计算分块同步；交接范围由软件保持所有权，CPU 可并行处理其他缓冲区。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4676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提交前：软件交出 DDR 输入与输出范围"/>
          <p:cNvSpPr txBox="1"/>
          <p:nvPr/>
        </p:nvSpPr>
        <p:spPr>
          <a:xfrm>
            <a:off x="320040" y="824636"/>
            <a:ext cx="31742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提交前：软件交出 DDR 输入与输出范围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软件提交"/>
          <p:cNvSpPr txBox="1"/>
          <p:nvPr/>
        </p:nvSpPr>
        <p:spPr>
          <a:xfrm>
            <a:off x="102679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软件提交</a:t>
            </a:r>
          </a:p>
        </p:txBody>
      </p:sp>
      <p:sp>
        <p:nvSpPr>
          <p:cNvPr id="8" name="text-008: 地址 / 长度 / 方向"/>
          <p:cNvSpPr txBox="1"/>
          <p:nvPr/>
        </p:nvSpPr>
        <p:spPr>
          <a:xfrm>
            <a:off x="795516" y="149394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方向</a:t>
            </a:r>
          </a:p>
        </p:txBody>
      </p:sp>
      <p:sp>
        <p:nvSpPr>
          <p:cNvPr id="9" name="text-009: 确认各生产者完成"/>
          <p:cNvSpPr txBox="1"/>
          <p:nvPr/>
        </p:nvSpPr>
        <p:spPr>
          <a:xfrm>
            <a:off x="81076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确认各生产者完成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L1D / 写缓冲"/>
          <p:cNvSpPr txBox="1"/>
          <p:nvPr/>
        </p:nvSpPr>
        <p:spPr>
          <a:xfrm>
            <a:off x="3371871" y="1289975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2" name="text-012: 排空相关旧写"/>
          <p:cNvSpPr txBox="1"/>
          <p:nvPr/>
        </p:nvSpPr>
        <p:spPr>
          <a:xfrm>
            <a:off x="341909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排空相关旧写</a:t>
            </a:r>
          </a:p>
        </p:txBody>
      </p:sp>
      <p:sp>
        <p:nvSpPr>
          <p:cNvPr id="13" name="text-013: 输出失效 / 回填协调"/>
          <p:cNvSpPr txBox="1"/>
          <p:nvPr/>
        </p:nvSpPr>
        <p:spPr>
          <a:xfrm>
            <a:off x="3219444" y="168063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输出失效 / 回填协调</a:t>
            </a:r>
          </a:p>
        </p:txBody>
      </p:sp>
      <p:sp>
        <p:nvSpPr>
          <p:cNvPr id="14" name="r0e1"/>
          <p:cNvSpPr/>
          <p:nvPr/>
        </p:nvSpPr>
        <p:spPr>
          <a:xfrm>
            <a:off x="245364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0b2"/>
          <p:cNvSpPr/>
          <p:nvPr/>
        </p:nvSpPr>
        <p:spPr>
          <a:xfrm>
            <a:off x="528066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LLC 范围维护"/>
          <p:cNvSpPr txBox="1"/>
          <p:nvPr/>
        </p:nvSpPr>
        <p:spPr>
          <a:xfrm>
            <a:off x="5849231" y="1289975"/>
            <a:ext cx="99645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范围维护</a:t>
            </a:r>
          </a:p>
        </p:txBody>
      </p:sp>
      <p:sp>
        <p:nvSpPr>
          <p:cNvPr id="17" name="text-017: 输入：clean"/>
          <p:cNvSpPr txBox="1"/>
          <p:nvPr/>
        </p:nvSpPr>
        <p:spPr>
          <a:xfrm>
            <a:off x="5941909" y="1493947"/>
            <a:ext cx="81110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输入：clean</a:t>
            </a:r>
          </a:p>
        </p:txBody>
      </p:sp>
      <p:sp>
        <p:nvSpPr>
          <p:cNvPr id="18" name="text-018: 输出：clean + invalidate"/>
          <p:cNvSpPr txBox="1"/>
          <p:nvPr/>
        </p:nvSpPr>
        <p:spPr>
          <a:xfrm>
            <a:off x="5598116" y="1680637"/>
            <a:ext cx="14986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输出：clean + invalidate</a:t>
            </a:r>
          </a:p>
        </p:txBody>
      </p:sp>
      <p:sp>
        <p:nvSpPr>
          <p:cNvPr id="19" name="r0e2"/>
          <p:cNvSpPr/>
          <p:nvPr/>
        </p:nvSpPr>
        <p:spPr>
          <a:xfrm>
            <a:off x="493395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b3"/>
          <p:cNvSpPr/>
          <p:nvPr/>
        </p:nvSpPr>
        <p:spPr>
          <a:xfrm>
            <a:off x="776097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共享点"/>
          <p:cNvSpPr txBox="1"/>
          <p:nvPr/>
        </p:nvSpPr>
        <p:spPr>
          <a:xfrm>
            <a:off x="8378622" y="1289975"/>
            <a:ext cx="89829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共享点</a:t>
            </a:r>
          </a:p>
        </p:txBody>
      </p:sp>
      <p:sp>
        <p:nvSpPr>
          <p:cNvPr id="22" name="text-022: 确认写回跨端口可见"/>
          <p:cNvSpPr txBox="1"/>
          <p:nvPr/>
        </p:nvSpPr>
        <p:spPr>
          <a:xfrm>
            <a:off x="8187690" y="149394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确认写回跨端口可见</a:t>
            </a:r>
          </a:p>
        </p:txBody>
      </p:sp>
      <p:sp>
        <p:nvSpPr>
          <p:cNvPr id="23" name="text-023: 汇合缓存维护确认"/>
          <p:cNvSpPr txBox="1"/>
          <p:nvPr/>
        </p:nvSpPr>
        <p:spPr>
          <a:xfrm>
            <a:off x="825169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汇合缓存维护确认</a:t>
            </a:r>
          </a:p>
        </p:txBody>
      </p:sp>
      <p:sp>
        <p:nvSpPr>
          <p:cNvPr id="24" name="r0e3"/>
          <p:cNvSpPr/>
          <p:nvPr/>
        </p:nvSpPr>
        <p:spPr>
          <a:xfrm>
            <a:off x="741426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0b4"/>
          <p:cNvSpPr/>
          <p:nvPr/>
        </p:nvSpPr>
        <p:spPr>
          <a:xfrm>
            <a:off x="1024128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允许启动"/>
          <p:cNvSpPr txBox="1"/>
          <p:nvPr/>
        </p:nvSpPr>
        <p:spPr>
          <a:xfrm>
            <a:off x="1094803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允许启动</a:t>
            </a:r>
          </a:p>
        </p:txBody>
      </p:sp>
      <p:sp>
        <p:nvSpPr>
          <p:cNvPr id="27" name="text-027: 返回维护完成"/>
          <p:cNvSpPr txBox="1"/>
          <p:nvPr/>
        </p:nvSpPr>
        <p:spPr>
          <a:xfrm>
            <a:off x="1086002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返回维护完成</a:t>
            </a:r>
          </a:p>
        </p:txBody>
      </p:sp>
      <p:sp>
        <p:nvSpPr>
          <p:cNvPr id="28" name="text-028: 软件发布 DMA 任务"/>
          <p:cNvSpPr txBox="1"/>
          <p:nvPr/>
        </p:nvSpPr>
        <p:spPr>
          <a:xfrm>
            <a:off x="10691190" y="1680637"/>
            <a:ext cx="12337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软件发布 DMA 任务</a:t>
            </a:r>
          </a:p>
        </p:txBody>
      </p:sp>
      <p:sp>
        <p:nvSpPr>
          <p:cNvPr id="29" name="r0e4"/>
          <p:cNvSpPr/>
          <p:nvPr/>
        </p:nvSpPr>
        <p:spPr>
          <a:xfrm>
            <a:off x="989457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输入的干净副本可保留；输出预清理保护未覆盖字节，预失效清除旧副本。"/>
          <p:cNvSpPr txBox="1"/>
          <p:nvPr/>
        </p:nvSpPr>
        <p:spPr>
          <a:xfrm>
            <a:off x="346710" y="2063831"/>
            <a:ext cx="471525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输入的干净副本可保留；输出预清理保护未覆盖字节，预失效清除旧副本。</a:t>
            </a:r>
          </a:p>
        </p:txBody>
      </p:sp>
      <p:sp>
        <p:nvSpPr>
          <p:cNvPr id="31" name="next0"/>
          <p:cNvSpPr/>
          <p:nvPr/>
        </p:nvSpPr>
        <p:spPr>
          <a:xfrm>
            <a:off x="240030" y="157353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nel1"/>
          <p:cNvSpPr/>
          <p:nvPr/>
        </p:nvSpPr>
        <p:spPr>
          <a:xfrm>
            <a:off x="186690" y="272034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② 设备持有期间：DDR 与 GB 显式搬运"/>
          <p:cNvSpPr txBox="1"/>
          <p:nvPr/>
        </p:nvSpPr>
        <p:spPr>
          <a:xfrm>
            <a:off x="320040" y="2798216"/>
            <a:ext cx="29467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设备持有期间：DDR 与 GB 显式搬运</a:t>
            </a:r>
          </a:p>
        </p:txBody>
      </p:sp>
      <p:sp>
        <p:nvSpPr>
          <p:cNvPr id="34" name="r1b0"/>
          <p:cNvSpPr/>
          <p:nvPr/>
        </p:nvSpPr>
        <p:spPr>
          <a:xfrm>
            <a:off x="32004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DDR → GB"/>
          <p:cNvSpPr txBox="1"/>
          <p:nvPr/>
        </p:nvSpPr>
        <p:spPr>
          <a:xfrm>
            <a:off x="96806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</a:t>
            </a:r>
          </a:p>
        </p:txBody>
      </p:sp>
      <p:sp>
        <p:nvSpPr>
          <p:cNvPr id="36" name="text-036: 搬运器读取输入"/>
          <p:cNvSpPr txBox="1"/>
          <p:nvPr/>
        </p:nvSpPr>
        <p:spPr>
          <a:xfrm>
            <a:off x="87477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搬运器读取输入</a:t>
            </a:r>
          </a:p>
        </p:txBody>
      </p:sp>
      <p:sp>
        <p:nvSpPr>
          <p:cNvPr id="37" name="text-037: 经共享数据代理写 GB"/>
          <p:cNvSpPr txBox="1"/>
          <p:nvPr/>
        </p:nvSpPr>
        <p:spPr>
          <a:xfrm>
            <a:off x="709755" y="3654217"/>
            <a:ext cx="135416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经共享数据代理写 GB</a:t>
            </a:r>
          </a:p>
        </p:txBody>
      </p:sp>
      <p:sp>
        <p:nvSpPr>
          <p:cNvPr id="38" name="r1b1"/>
          <p:cNvSpPr/>
          <p:nvPr/>
        </p:nvSpPr>
        <p:spPr>
          <a:xfrm>
            <a:off x="280035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B ready"/>
          <p:cNvSpPr txBox="1"/>
          <p:nvPr/>
        </p:nvSpPr>
        <p:spPr>
          <a:xfrm>
            <a:off x="3511814" y="3263555"/>
            <a:ext cx="7106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ready</a:t>
            </a:r>
          </a:p>
        </p:txBody>
      </p:sp>
      <p:sp>
        <p:nvSpPr>
          <p:cNvPr id="40" name="text-040: 数据完整后交给"/>
          <p:cNvSpPr txBox="1"/>
          <p:nvPr/>
        </p:nvSpPr>
        <p:spPr>
          <a:xfrm>
            <a:off x="335508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数据完整后交给</a:t>
            </a:r>
          </a:p>
        </p:txBody>
      </p:sp>
      <p:sp>
        <p:nvSpPr>
          <p:cNvPr id="41" name="text-041: NPU / Ara 消费"/>
          <p:cNvSpPr txBox="1"/>
          <p:nvPr/>
        </p:nvSpPr>
        <p:spPr>
          <a:xfrm>
            <a:off x="3374588" y="3654217"/>
            <a:ext cx="98512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Ara 消费</a:t>
            </a:r>
          </a:p>
        </p:txBody>
      </p:sp>
      <p:sp>
        <p:nvSpPr>
          <p:cNvPr id="42" name="r1e1"/>
          <p:cNvSpPr/>
          <p:nvPr/>
        </p:nvSpPr>
        <p:spPr>
          <a:xfrm>
            <a:off x="245364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1b2"/>
          <p:cNvSpPr/>
          <p:nvPr/>
        </p:nvSpPr>
        <p:spPr>
          <a:xfrm>
            <a:off x="528066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计算与分块复用"/>
          <p:cNvSpPr txBox="1"/>
          <p:nvPr/>
        </p:nvSpPr>
        <p:spPr>
          <a:xfrm>
            <a:off x="5771388" y="32635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计算与分块复用</a:t>
            </a:r>
          </a:p>
        </p:txBody>
      </p:sp>
      <p:sp>
        <p:nvSpPr>
          <p:cNvPr id="45" name="text-045: 独立 SRAM 保存"/>
          <p:cNvSpPr txBox="1"/>
          <p:nvPr/>
        </p:nvSpPr>
        <p:spPr>
          <a:xfrm>
            <a:off x="5821519" y="3467527"/>
            <a:ext cx="10518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保存</a:t>
            </a:r>
          </a:p>
        </p:txBody>
      </p:sp>
      <p:sp>
        <p:nvSpPr>
          <p:cNvPr id="46" name="text-046: 当前任务的数据"/>
          <p:cNvSpPr txBox="1"/>
          <p:nvPr/>
        </p:nvSpPr>
        <p:spPr>
          <a:xfrm>
            <a:off x="5835396" y="365421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当前任务的数据</a:t>
            </a:r>
          </a:p>
        </p:txBody>
      </p:sp>
      <p:sp>
        <p:nvSpPr>
          <p:cNvPr id="47" name="r1e2"/>
          <p:cNvSpPr/>
          <p:nvPr/>
        </p:nvSpPr>
        <p:spPr>
          <a:xfrm>
            <a:off x="493395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1b3"/>
          <p:cNvSpPr/>
          <p:nvPr/>
        </p:nvSpPr>
        <p:spPr>
          <a:xfrm>
            <a:off x="776097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GB → DDR"/>
          <p:cNvSpPr txBox="1"/>
          <p:nvPr/>
        </p:nvSpPr>
        <p:spPr>
          <a:xfrm>
            <a:off x="840899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50" name="text-050: 共享代理 → 搬运器"/>
          <p:cNvSpPr txBox="1"/>
          <p:nvPr/>
        </p:nvSpPr>
        <p:spPr>
          <a:xfrm>
            <a:off x="8213318" y="3467527"/>
            <a:ext cx="12289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→ 搬运器</a:t>
            </a:r>
          </a:p>
        </p:txBody>
      </p:sp>
      <p:sp>
        <p:nvSpPr>
          <p:cNvPr id="51" name="text-051: 按 WSTRB 更新输出"/>
          <p:cNvSpPr txBox="1"/>
          <p:nvPr/>
        </p:nvSpPr>
        <p:spPr>
          <a:xfrm>
            <a:off x="8202004" y="3654217"/>
            <a:ext cx="125153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更新输出</a:t>
            </a:r>
          </a:p>
        </p:txBody>
      </p:sp>
      <p:sp>
        <p:nvSpPr>
          <p:cNvPr id="52" name="r1e3"/>
          <p:cNvSpPr/>
          <p:nvPr/>
        </p:nvSpPr>
        <p:spPr>
          <a:xfrm>
            <a:off x="741426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1b4"/>
          <p:cNvSpPr/>
          <p:nvPr/>
        </p:nvSpPr>
        <p:spPr>
          <a:xfrm>
            <a:off x="1024128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设备完成"/>
          <p:cNvSpPr txBox="1"/>
          <p:nvPr/>
        </p:nvSpPr>
        <p:spPr>
          <a:xfrm>
            <a:off x="10948035" y="326355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设备完成</a:t>
            </a:r>
          </a:p>
        </p:txBody>
      </p:sp>
      <p:sp>
        <p:nvSpPr>
          <p:cNvPr id="55" name="text-055: DDR 跨口可见"/>
          <p:cNvSpPr txBox="1"/>
          <p:nvPr/>
        </p:nvSpPr>
        <p:spPr>
          <a:xfrm>
            <a:off x="10844835" y="3467527"/>
            <a:ext cx="92649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跨口可见</a:t>
            </a:r>
          </a:p>
        </p:txBody>
      </p:sp>
      <p:sp>
        <p:nvSpPr>
          <p:cNvPr id="56" name="text-056: 返回任务身份与状态"/>
          <p:cNvSpPr txBox="1"/>
          <p:nvPr/>
        </p:nvSpPr>
        <p:spPr>
          <a:xfrm>
            <a:off x="10668000" y="365421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返回任务身份与状态</a:t>
            </a:r>
          </a:p>
        </p:txBody>
      </p:sp>
      <p:sp>
        <p:nvSpPr>
          <p:cNvPr id="57" name="r1e4"/>
          <p:cNvSpPr/>
          <p:nvPr/>
        </p:nvSpPr>
        <p:spPr>
          <a:xfrm>
            <a:off x="989457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CPU / Ara 的 DDR 冲突访问由任务协议限制；GB 内部交接由其独立的"/>
          <p:cNvSpPr txBox="1"/>
          <p:nvPr/>
        </p:nvSpPr>
        <p:spPr>
          <a:xfrm>
            <a:off x="346710" y="4037411"/>
            <a:ext cx="537688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的 DDR 冲突访问由任务协议限制；GB 内部交接由其独立的分块调度负责。</a:t>
            </a:r>
          </a:p>
        </p:txBody>
      </p:sp>
      <p:sp>
        <p:nvSpPr>
          <p:cNvPr id="59" name="next1"/>
          <p:cNvSpPr/>
          <p:nvPr/>
        </p:nvSpPr>
        <p:spPr>
          <a:xfrm>
            <a:off x="240030" y="354711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nel2"/>
          <p:cNvSpPr/>
          <p:nvPr/>
        </p:nvSpPr>
        <p:spPr>
          <a:xfrm>
            <a:off x="186690" y="469392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③ 消费前：硬件清除旧读副本，软件收回输出"/>
          <p:cNvSpPr txBox="1"/>
          <p:nvPr/>
        </p:nvSpPr>
        <p:spPr>
          <a:xfrm>
            <a:off x="320040" y="4771796"/>
            <a:ext cx="34083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消费前：硬件清除旧读副本，软件收回输出</a:t>
            </a:r>
          </a:p>
        </p:txBody>
      </p:sp>
      <p:sp>
        <p:nvSpPr>
          <p:cNvPr id="62" name="r2b0"/>
          <p:cNvSpPr/>
          <p:nvPr/>
        </p:nvSpPr>
        <p:spPr>
          <a:xfrm>
            <a:off x="32004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软件等待完成"/>
          <p:cNvSpPr txBox="1"/>
          <p:nvPr/>
        </p:nvSpPr>
        <p:spPr>
          <a:xfrm>
            <a:off x="882777" y="523713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软件等待完成</a:t>
            </a:r>
          </a:p>
        </p:txBody>
      </p:sp>
      <p:sp>
        <p:nvSpPr>
          <p:cNvPr id="64" name="text-064: 核对任务与错误"/>
          <p:cNvSpPr txBox="1"/>
          <p:nvPr/>
        </p:nvSpPr>
        <p:spPr>
          <a:xfrm>
            <a:off x="87477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核对任务与错误</a:t>
            </a:r>
          </a:p>
        </p:txBody>
      </p:sp>
      <p:sp>
        <p:nvSpPr>
          <p:cNvPr id="65" name="text-065: 请求输出范围同步"/>
          <p:cNvSpPr txBox="1"/>
          <p:nvPr/>
        </p:nvSpPr>
        <p:spPr>
          <a:xfrm>
            <a:off x="81076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请求输出范围同步</a:t>
            </a:r>
          </a:p>
        </p:txBody>
      </p:sp>
      <p:sp>
        <p:nvSpPr>
          <p:cNvPr id="66" name="r2b1"/>
          <p:cNvSpPr/>
          <p:nvPr/>
        </p:nvSpPr>
        <p:spPr>
          <a:xfrm>
            <a:off x="280035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处理旧回填"/>
          <p:cNvSpPr txBox="1"/>
          <p:nvPr/>
        </p:nvSpPr>
        <p:spPr>
          <a:xfrm>
            <a:off x="343509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</a:t>
            </a:r>
          </a:p>
        </p:txBody>
      </p:sp>
      <p:sp>
        <p:nvSpPr>
          <p:cNvPr id="68" name="text-068: 排空 / 作废旧响应"/>
          <p:cNvSpPr txBox="1"/>
          <p:nvPr/>
        </p:nvSpPr>
        <p:spPr>
          <a:xfrm>
            <a:off x="3283452" y="5441107"/>
            <a:ext cx="11673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 / 作废旧响应</a:t>
            </a:r>
          </a:p>
        </p:txBody>
      </p:sp>
      <p:sp>
        <p:nvSpPr>
          <p:cNvPr id="69" name="text-069: 保护失效过程"/>
          <p:cNvSpPr txBox="1"/>
          <p:nvPr/>
        </p:nvSpPr>
        <p:spPr>
          <a:xfrm>
            <a:off x="3419094" y="562779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保护失效过程</a:t>
            </a:r>
          </a:p>
        </p:txBody>
      </p:sp>
      <p:sp>
        <p:nvSpPr>
          <p:cNvPr id="70" name="r2e1"/>
          <p:cNvSpPr/>
          <p:nvPr/>
        </p:nvSpPr>
        <p:spPr>
          <a:xfrm>
            <a:off x="245364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2b2"/>
          <p:cNvSpPr/>
          <p:nvPr/>
        </p:nvSpPr>
        <p:spPr>
          <a:xfrm>
            <a:off x="528066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L1D + LLC"/>
          <p:cNvSpPr txBox="1"/>
          <p:nvPr/>
        </p:nvSpPr>
        <p:spPr>
          <a:xfrm>
            <a:off x="5945851" y="5237135"/>
            <a:ext cx="80321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+ LLC</a:t>
            </a:r>
          </a:p>
        </p:txBody>
      </p:sp>
      <p:sp>
        <p:nvSpPr>
          <p:cNvPr id="73" name="text-073: 输出 invalidate"/>
          <p:cNvSpPr txBox="1"/>
          <p:nvPr/>
        </p:nvSpPr>
        <p:spPr>
          <a:xfrm>
            <a:off x="5869213" y="5441107"/>
            <a:ext cx="956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invalidate</a:t>
            </a:r>
          </a:p>
        </p:txBody>
      </p:sp>
      <p:sp>
        <p:nvSpPr>
          <p:cNvPr id="74" name="text-074: 收齐实际完成确认"/>
          <p:cNvSpPr txBox="1"/>
          <p:nvPr/>
        </p:nvSpPr>
        <p:spPr>
          <a:xfrm>
            <a:off x="577138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收齐实际完成确认</a:t>
            </a:r>
          </a:p>
        </p:txBody>
      </p:sp>
      <p:sp>
        <p:nvSpPr>
          <p:cNvPr id="75" name="r2e2"/>
          <p:cNvSpPr/>
          <p:nvPr/>
        </p:nvSpPr>
        <p:spPr>
          <a:xfrm>
            <a:off x="493395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2b3"/>
          <p:cNvSpPr/>
          <p:nvPr/>
        </p:nvSpPr>
        <p:spPr>
          <a:xfrm>
            <a:off x="776097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交还所有权"/>
          <p:cNvSpPr txBox="1"/>
          <p:nvPr/>
        </p:nvSpPr>
        <p:spPr>
          <a:xfrm>
            <a:off x="839571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交还所有权</a:t>
            </a:r>
          </a:p>
        </p:txBody>
      </p:sp>
      <p:sp>
        <p:nvSpPr>
          <p:cNvPr id="78" name="text-078: 建立完成到读取顺序"/>
          <p:cNvSpPr txBox="1"/>
          <p:nvPr/>
        </p:nvSpPr>
        <p:spPr>
          <a:xfrm>
            <a:off x="8187690" y="544110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建立完成到读取顺序</a:t>
            </a:r>
          </a:p>
        </p:txBody>
      </p:sp>
      <p:sp>
        <p:nvSpPr>
          <p:cNvPr id="79" name="text-079: 输出可由 CPU 访问"/>
          <p:cNvSpPr txBox="1"/>
          <p:nvPr/>
        </p:nvSpPr>
        <p:spPr>
          <a:xfrm>
            <a:off x="8224945" y="5627797"/>
            <a:ext cx="12056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输出可由 CPU 访问</a:t>
            </a:r>
          </a:p>
        </p:txBody>
      </p:sp>
      <p:sp>
        <p:nvSpPr>
          <p:cNvPr id="80" name="r2e3"/>
          <p:cNvSpPr/>
          <p:nvPr/>
        </p:nvSpPr>
        <p:spPr>
          <a:xfrm>
            <a:off x="741426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2b4"/>
          <p:cNvSpPr/>
          <p:nvPr/>
        </p:nvSpPr>
        <p:spPr>
          <a:xfrm>
            <a:off x="1024128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消费 / 复用"/>
          <p:cNvSpPr txBox="1"/>
          <p:nvPr/>
        </p:nvSpPr>
        <p:spPr>
          <a:xfrm>
            <a:off x="10867442" y="5237135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消费 / 复用</a:t>
            </a:r>
          </a:p>
        </p:txBody>
      </p:sp>
      <p:sp>
        <p:nvSpPr>
          <p:cNvPr id="83" name="text-083: CPU 重新加载结果"/>
          <p:cNvSpPr txBox="1"/>
          <p:nvPr/>
        </p:nvSpPr>
        <p:spPr>
          <a:xfrm>
            <a:off x="10724445" y="544110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重新加载结果</a:t>
            </a:r>
          </a:p>
        </p:txBody>
      </p:sp>
      <p:sp>
        <p:nvSpPr>
          <p:cNvPr id="84" name="text-084: 最后消费者释放缓冲"/>
          <p:cNvSpPr txBox="1"/>
          <p:nvPr/>
        </p:nvSpPr>
        <p:spPr>
          <a:xfrm>
            <a:off x="10668000" y="562779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最后消费者释放缓冲</a:t>
            </a:r>
          </a:p>
        </p:txBody>
      </p:sp>
      <p:sp>
        <p:nvSpPr>
          <p:cNvPr id="85" name="r2e4"/>
          <p:cNvSpPr/>
          <p:nvPr/>
        </p:nvSpPr>
        <p:spPr>
          <a:xfrm>
            <a:off x="989457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超时或写错误时保留缓冲区；确认迟到事务排空或受控恢复完成后，再允许复用。"/>
          <p:cNvSpPr txBox="1"/>
          <p:nvPr/>
        </p:nvSpPr>
        <p:spPr>
          <a:xfrm>
            <a:off x="346710" y="6010991"/>
            <a:ext cx="513130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超时或写错误时保留缓冲区；确认迟到事务排空或受控恢复完成后，再允许复用。</a:t>
            </a:r>
          </a:p>
        </p:txBody>
      </p:sp>
      <p:sp>
        <p:nvSpPr>
          <p:cNvPr id="87" name="text-087: 紫色箭头：阶段顺序与完成依赖    绿色箭头：设备搬运与计算阶段    维护动作"/>
          <p:cNvSpPr txBox="1"/>
          <p:nvPr/>
        </p:nvSpPr>
        <p:spPr>
          <a:xfrm>
            <a:off x="293370" y="6565301"/>
            <a:ext cx="653821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紫色箭头：阶段顺序与完成依赖    绿色箭头：设备搬运与计算阶段    维护动作以目标物理范围为单位</a:t>
            </a:r>
          </a:p>
        </p:txBody>
      </p:sp>
      <p:sp>
        <p:nvSpPr>
          <p:cNvPr id="88" name="text-088: 仅整模型前后交接时，同步集中在推理两端；CPU 与设备交替处理分块时，同步放在实"/>
          <p:cNvSpPr txBox="1"/>
          <p:nvPr/>
        </p:nvSpPr>
        <p:spPr>
          <a:xfrm>
            <a:off x="293370" y="6832001"/>
            <a:ext cx="63538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仅整模型前后交接时，同步集中在推理两端；CPU 与设备交替处理分块时，同步放在实际交接点。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经 DDR 与缓存直供：数据路径和代价"/>
          <p:cNvSpPr txBox="1"/>
          <p:nvPr/>
        </p:nvSpPr>
        <p:spPr>
          <a:xfrm>
            <a:off x="266700" y="80650"/>
            <a:ext cx="336756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 DDR 与缓存直供：数据路径和代价</a:t>
            </a:r>
          </a:p>
        </p:txBody>
      </p:sp>
      <p:sp>
        <p:nvSpPr>
          <p:cNvPr id="3" name="text-003: 比较场景：CPU 的最新数据在 LLC 脏行中，DMA 将该行搬入独立 GB。"/>
          <p:cNvSpPr txBox="1"/>
          <p:nvPr/>
        </p:nvSpPr>
        <p:spPr>
          <a:xfrm>
            <a:off x="266700" y="373807"/>
            <a:ext cx="412889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比较场景：CPU 的最新数据在 LLC 脏行中，DMA 将该行搬入独立 GB。</a:t>
            </a:r>
          </a:p>
        </p:txBody>
      </p:sp>
      <p:sp>
        <p:nvSpPr>
          <p:cNvPr id="4" name="cleanpanel"/>
          <p:cNvSpPr/>
          <p:nvPr/>
        </p:nvSpPr>
        <p:spPr>
          <a:xfrm>
            <a:off x="26670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本方案：先清理到 DDR，再搬运"/>
          <p:cNvSpPr txBox="1"/>
          <p:nvPr/>
        </p:nvSpPr>
        <p:spPr>
          <a:xfrm>
            <a:off x="400050" y="833598"/>
            <a:ext cx="2763387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本方案：先清理到 DDR，再搬运</a:t>
            </a:r>
          </a:p>
        </p:txBody>
      </p:sp>
      <p:sp>
        <p:nvSpPr>
          <p:cNvPr id="6" name="cleanprivate"/>
          <p:cNvSpPr/>
          <p:nvPr/>
        </p:nvSpPr>
        <p:spPr>
          <a:xfrm>
            <a:off x="48006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L1D / 写缓冲"/>
          <p:cNvSpPr txBox="1"/>
          <p:nvPr/>
        </p:nvSpPr>
        <p:spPr>
          <a:xfrm>
            <a:off x="62486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8" name="cleanllc"/>
          <p:cNvSpPr/>
          <p:nvPr/>
        </p:nvSpPr>
        <p:spPr>
          <a:xfrm>
            <a:off x="48006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LLC"/>
          <p:cNvSpPr txBox="1"/>
          <p:nvPr/>
        </p:nvSpPr>
        <p:spPr>
          <a:xfrm>
            <a:off x="93153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0" name="text-010: 持有最新脏行"/>
          <p:cNvSpPr txBox="1"/>
          <p:nvPr/>
        </p:nvSpPr>
        <p:spPr>
          <a:xfrm>
            <a:off x="67208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11" name="cleancoord"/>
          <p:cNvSpPr/>
          <p:nvPr/>
        </p:nvSpPr>
        <p:spPr>
          <a:xfrm>
            <a:off x="240030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缓存维护与协调"/>
          <p:cNvSpPr txBox="1"/>
          <p:nvPr/>
        </p:nvSpPr>
        <p:spPr>
          <a:xfrm>
            <a:off x="342442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13" name="text-013: 软件交接 / 缓存维护 / 搬运准入与完成"/>
          <p:cNvSpPr txBox="1"/>
          <p:nvPr/>
        </p:nvSpPr>
        <p:spPr>
          <a:xfrm>
            <a:off x="283310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14" name="cleanddr"/>
          <p:cNvSpPr/>
          <p:nvPr/>
        </p:nvSpPr>
        <p:spPr>
          <a:xfrm>
            <a:off x="48006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DDR"/>
          <p:cNvSpPr txBox="1"/>
          <p:nvPr/>
        </p:nvSpPr>
        <p:spPr>
          <a:xfrm>
            <a:off x="90860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6" name="cleandma"/>
          <p:cNvSpPr/>
          <p:nvPr/>
        </p:nvSpPr>
        <p:spPr>
          <a:xfrm>
            <a:off x="240030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搬运器 / DMA"/>
          <p:cNvSpPr txBox="1"/>
          <p:nvPr/>
        </p:nvSpPr>
        <p:spPr>
          <a:xfrm>
            <a:off x="252499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18" name="cleanproxy"/>
          <p:cNvSpPr/>
          <p:nvPr/>
        </p:nvSpPr>
        <p:spPr>
          <a:xfrm>
            <a:off x="432054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共享数据代理"/>
          <p:cNvSpPr txBox="1"/>
          <p:nvPr/>
        </p:nvSpPr>
        <p:spPr>
          <a:xfrm>
            <a:off x="445655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20" name="cleangb"/>
          <p:cNvSpPr/>
          <p:nvPr/>
        </p:nvSpPr>
        <p:spPr>
          <a:xfrm>
            <a:off x="432054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GB"/>
          <p:cNvSpPr txBox="1"/>
          <p:nvPr/>
        </p:nvSpPr>
        <p:spPr>
          <a:xfrm>
            <a:off x="479655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2" name="text-022: 独立 SRAM"/>
          <p:cNvSpPr txBox="1"/>
          <p:nvPr/>
        </p:nvSpPr>
        <p:spPr>
          <a:xfrm>
            <a:off x="458188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23" name="cleanprivate-llc"/>
          <p:cNvSpPr/>
          <p:nvPr/>
        </p:nvSpPr>
        <p:spPr>
          <a:xfrm>
            <a:off x="112014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eanllc-ddr"/>
          <p:cNvSpPr/>
          <p:nvPr/>
        </p:nvSpPr>
        <p:spPr>
          <a:xfrm>
            <a:off x="11201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eanprobe-private"/>
          <p:cNvSpPr/>
          <p:nvPr/>
        </p:nvSpPr>
        <p:spPr>
          <a:xfrm>
            <a:off x="176022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leanprobe-llc"/>
          <p:cNvSpPr/>
          <p:nvPr/>
        </p:nvSpPr>
        <p:spPr>
          <a:xfrm>
            <a:off x="176022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leanadmit"/>
          <p:cNvSpPr/>
          <p:nvPr/>
        </p:nvSpPr>
        <p:spPr>
          <a:xfrm>
            <a:off x="346710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leanclean-data"/>
          <p:cNvSpPr/>
          <p:nvPr/>
        </p:nvSpPr>
        <p:spPr>
          <a:xfrm>
            <a:off x="144018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leanddr-data"/>
          <p:cNvSpPr/>
          <p:nvPr/>
        </p:nvSpPr>
        <p:spPr>
          <a:xfrm>
            <a:off x="176022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② clean"/>
          <p:cNvSpPr txBox="1"/>
          <p:nvPr/>
        </p:nvSpPr>
        <p:spPr>
          <a:xfrm>
            <a:off x="1786890" y="3242219"/>
            <a:ext cx="66763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clean</a:t>
            </a:r>
          </a:p>
        </p:txBody>
      </p:sp>
      <p:sp>
        <p:nvSpPr>
          <p:cNvPr id="31" name="text-031: 等待 DDR 可见"/>
          <p:cNvSpPr txBox="1"/>
          <p:nvPr/>
        </p:nvSpPr>
        <p:spPr>
          <a:xfrm>
            <a:off x="1786890" y="3450245"/>
            <a:ext cx="108549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等待 DDR 可见</a:t>
            </a:r>
          </a:p>
        </p:txBody>
      </p:sp>
      <p:sp>
        <p:nvSpPr>
          <p:cNvPr id="32" name="cleandma-proxy"/>
          <p:cNvSpPr/>
          <p:nvPr/>
        </p:nvSpPr>
        <p:spPr>
          <a:xfrm>
            <a:off x="368046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leanproxy-gb"/>
          <p:cNvSpPr/>
          <p:nvPr/>
        </p:nvSpPr>
        <p:spPr>
          <a:xfrm>
            <a:off x="496062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① 交接与缓存维护"/>
          <p:cNvSpPr txBox="1"/>
          <p:nvPr/>
        </p:nvSpPr>
        <p:spPr>
          <a:xfrm>
            <a:off x="373380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35" name="text-035: ③ 写入 GB"/>
          <p:cNvSpPr txBox="1"/>
          <p:nvPr/>
        </p:nvSpPr>
        <p:spPr>
          <a:xfrm>
            <a:off x="512064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36" name="text-036: 保留 DDR 供数路径；脏数据经历写回与再次读取。"/>
          <p:cNvSpPr txBox="1"/>
          <p:nvPr/>
        </p:nvSpPr>
        <p:spPr>
          <a:xfrm>
            <a:off x="400050" y="4496135"/>
            <a:ext cx="3264233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 DDR 供数路径；脏数据经历写回与再次读取。</a:t>
            </a:r>
          </a:p>
        </p:txBody>
      </p:sp>
      <p:sp>
        <p:nvSpPr>
          <p:cNvPr id="37" name="text-037: 设备不分配 LLC 行；GB 按任务显式管理。"/>
          <p:cNvSpPr txBox="1"/>
          <p:nvPr/>
        </p:nvSpPr>
        <p:spPr>
          <a:xfrm>
            <a:off x="40005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38" name="supplypanel"/>
          <p:cNvSpPr/>
          <p:nvPr/>
        </p:nvSpPr>
        <p:spPr>
          <a:xfrm>
            <a:off x="656082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比较项：缓存直供（本方案不采用）"/>
          <p:cNvSpPr txBox="1"/>
          <p:nvPr/>
        </p:nvSpPr>
        <p:spPr>
          <a:xfrm>
            <a:off x="6694170" y="833598"/>
            <a:ext cx="3083052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比较项：缓存直供（本方案不采用）</a:t>
            </a:r>
          </a:p>
        </p:txBody>
      </p:sp>
      <p:sp>
        <p:nvSpPr>
          <p:cNvPr id="40" name="supplyprivate"/>
          <p:cNvSpPr/>
          <p:nvPr/>
        </p:nvSpPr>
        <p:spPr>
          <a:xfrm>
            <a:off x="677418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D / 写缓冲"/>
          <p:cNvSpPr txBox="1"/>
          <p:nvPr/>
        </p:nvSpPr>
        <p:spPr>
          <a:xfrm>
            <a:off x="691898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42" name="supplyllc"/>
          <p:cNvSpPr/>
          <p:nvPr/>
        </p:nvSpPr>
        <p:spPr>
          <a:xfrm>
            <a:off x="677418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LC"/>
          <p:cNvSpPr txBox="1"/>
          <p:nvPr/>
        </p:nvSpPr>
        <p:spPr>
          <a:xfrm>
            <a:off x="722565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4" name="text-044: 持有最新脏行"/>
          <p:cNvSpPr txBox="1"/>
          <p:nvPr/>
        </p:nvSpPr>
        <p:spPr>
          <a:xfrm>
            <a:off x="696620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45" name="supplycoord"/>
          <p:cNvSpPr/>
          <p:nvPr/>
        </p:nvSpPr>
        <p:spPr>
          <a:xfrm>
            <a:off x="869442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缓存维护与协调"/>
          <p:cNvSpPr txBox="1"/>
          <p:nvPr/>
        </p:nvSpPr>
        <p:spPr>
          <a:xfrm>
            <a:off x="971854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47" name="text-047: 软件交接 / 缓存维护 / 搬运准入与完成"/>
          <p:cNvSpPr txBox="1"/>
          <p:nvPr/>
        </p:nvSpPr>
        <p:spPr>
          <a:xfrm>
            <a:off x="912722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48" name="supplyddr"/>
          <p:cNvSpPr/>
          <p:nvPr/>
        </p:nvSpPr>
        <p:spPr>
          <a:xfrm>
            <a:off x="677418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DDR"/>
          <p:cNvSpPr txBox="1"/>
          <p:nvPr/>
        </p:nvSpPr>
        <p:spPr>
          <a:xfrm>
            <a:off x="720272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50" name="supplydma"/>
          <p:cNvSpPr/>
          <p:nvPr/>
        </p:nvSpPr>
        <p:spPr>
          <a:xfrm>
            <a:off x="869442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搬运器 / DMA"/>
          <p:cNvSpPr txBox="1"/>
          <p:nvPr/>
        </p:nvSpPr>
        <p:spPr>
          <a:xfrm>
            <a:off x="881911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52" name="supplyproxy"/>
          <p:cNvSpPr/>
          <p:nvPr/>
        </p:nvSpPr>
        <p:spPr>
          <a:xfrm>
            <a:off x="1061466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共享数据代理"/>
          <p:cNvSpPr txBox="1"/>
          <p:nvPr/>
        </p:nvSpPr>
        <p:spPr>
          <a:xfrm>
            <a:off x="1075067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54" name="supplygb"/>
          <p:cNvSpPr/>
          <p:nvPr/>
        </p:nvSpPr>
        <p:spPr>
          <a:xfrm>
            <a:off x="1061466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GB"/>
          <p:cNvSpPr txBox="1"/>
          <p:nvPr/>
        </p:nvSpPr>
        <p:spPr>
          <a:xfrm>
            <a:off x="1109067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6" name="text-056: 独立 SRAM"/>
          <p:cNvSpPr txBox="1"/>
          <p:nvPr/>
        </p:nvSpPr>
        <p:spPr>
          <a:xfrm>
            <a:off x="1087600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7" name="supplyprivate-llc"/>
          <p:cNvSpPr/>
          <p:nvPr/>
        </p:nvSpPr>
        <p:spPr>
          <a:xfrm>
            <a:off x="741426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upplyllc-ddr"/>
          <p:cNvSpPr/>
          <p:nvPr/>
        </p:nvSpPr>
        <p:spPr>
          <a:xfrm>
            <a:off x="741426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upplyprobe-private"/>
          <p:cNvSpPr/>
          <p:nvPr/>
        </p:nvSpPr>
        <p:spPr>
          <a:xfrm>
            <a:off x="805434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upplyprobe-llc"/>
          <p:cNvSpPr/>
          <p:nvPr/>
        </p:nvSpPr>
        <p:spPr>
          <a:xfrm>
            <a:off x="805434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upplyadmit"/>
          <p:cNvSpPr/>
          <p:nvPr/>
        </p:nvSpPr>
        <p:spPr>
          <a:xfrm>
            <a:off x="976122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supplyddr-fallback"/>
          <p:cNvSpPr/>
          <p:nvPr/>
        </p:nvSpPr>
        <p:spPr>
          <a:xfrm>
            <a:off x="8054340" y="424053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upplycache-data"/>
          <p:cNvSpPr/>
          <p:nvPr/>
        </p:nvSpPr>
        <p:spPr>
          <a:xfrm>
            <a:off x="8054340" y="2960370"/>
            <a:ext cx="1280160" cy="906780"/>
          </a:xfrm>
          <a:custGeom>
            <a:avLst/>
            <a:gdLst/>
            <a:ahLst/>
            <a:cxnLst/>
            <a:rect l="0" t="0" r="r" b="b"/>
            <a:pathLst>
              <a:path w="1280160" h="906780" fill="none">
                <a:moveTo>
                  <a:pt x="0" y="0"/>
                </a:moveTo>
                <a:lnTo>
                  <a:pt x="426720" y="0"/>
                </a:lnTo>
                <a:lnTo>
                  <a:pt x="426720" y="586740"/>
                </a:lnTo>
                <a:lnTo>
                  <a:pt x="1280160" y="586740"/>
                </a:lnTo>
                <a:lnTo>
                  <a:pt x="128016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② 最新数据"/>
          <p:cNvSpPr txBox="1"/>
          <p:nvPr/>
        </p:nvSpPr>
        <p:spPr>
          <a:xfrm>
            <a:off x="8587740" y="3210215"/>
            <a:ext cx="9072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最新数据</a:t>
            </a:r>
          </a:p>
        </p:txBody>
      </p:sp>
      <p:sp>
        <p:nvSpPr>
          <p:cNvPr id="65" name="text-065: DDR 可暂时保留旧值；由 LLC 提供本次读数据。"/>
          <p:cNvSpPr txBox="1"/>
          <p:nvPr/>
        </p:nvSpPr>
        <p:spPr>
          <a:xfrm>
            <a:off x="6694170" y="4496135"/>
            <a:ext cx="311431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可暂时保留旧值；由 LLC 提供本次读数据。</a:t>
            </a:r>
          </a:p>
        </p:txBody>
      </p:sp>
      <p:sp>
        <p:nvSpPr>
          <p:cNvPr id="66" name="supplydma-proxy"/>
          <p:cNvSpPr/>
          <p:nvPr/>
        </p:nvSpPr>
        <p:spPr>
          <a:xfrm>
            <a:off x="997458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supplyproxy-gb"/>
          <p:cNvSpPr/>
          <p:nvPr/>
        </p:nvSpPr>
        <p:spPr>
          <a:xfrm>
            <a:off x="112547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① 交接与缓存维护"/>
          <p:cNvSpPr txBox="1"/>
          <p:nvPr/>
        </p:nvSpPr>
        <p:spPr>
          <a:xfrm>
            <a:off x="1002792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69" name="text-069: ③ 写入 GB"/>
          <p:cNvSpPr txBox="1"/>
          <p:nvPr/>
        </p:nvSpPr>
        <p:spPr>
          <a:xfrm>
            <a:off x="1141476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70" name="text-070: 设备不分配 LLC 行；GB 按任务显式管理。"/>
          <p:cNvSpPr txBox="1"/>
          <p:nvPr/>
        </p:nvSpPr>
        <p:spPr>
          <a:xfrm>
            <a:off x="669417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71" name="text-071: 本方案的输出交接：先保护旧字节，最后清除旧读副本"/>
          <p:cNvSpPr txBox="1"/>
          <p:nvPr/>
        </p:nvSpPr>
        <p:spPr>
          <a:xfrm>
            <a:off x="293370" y="5128321"/>
            <a:ext cx="4267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本方案的输出交接：先保护旧字节，最后清除旧读副本</a:t>
            </a:r>
          </a:p>
        </p:txBody>
      </p:sp>
      <p:sp>
        <p:nvSpPr>
          <p:cNvPr id="72" name="write0"/>
          <p:cNvSpPr/>
          <p:nvPr/>
        </p:nvSpPr>
        <p:spPr>
          <a:xfrm>
            <a:off x="29337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交接目标范围"/>
          <p:cNvSpPr txBox="1"/>
          <p:nvPr/>
        </p:nvSpPr>
        <p:spPr>
          <a:xfrm>
            <a:off x="86944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交接目标范围</a:t>
            </a:r>
          </a:p>
        </p:txBody>
      </p:sp>
      <p:sp>
        <p:nvSpPr>
          <p:cNvPr id="74" name="write1"/>
          <p:cNvSpPr/>
          <p:nvPr/>
        </p:nvSpPr>
        <p:spPr>
          <a:xfrm>
            <a:off x="277368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写前清理与失效"/>
          <p:cNvSpPr txBox="1"/>
          <p:nvPr/>
        </p:nvSpPr>
        <p:spPr>
          <a:xfrm>
            <a:off x="327774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写前清理与失效</a:t>
            </a:r>
          </a:p>
        </p:txBody>
      </p:sp>
      <p:sp>
        <p:nvSpPr>
          <p:cNvPr id="76" name="write-seq1"/>
          <p:cNvSpPr/>
          <p:nvPr/>
        </p:nvSpPr>
        <p:spPr>
          <a:xfrm>
            <a:off x="245364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write2"/>
          <p:cNvSpPr/>
          <p:nvPr/>
        </p:nvSpPr>
        <p:spPr>
          <a:xfrm>
            <a:off x="525399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GB → DDR"/>
          <p:cNvSpPr txBox="1"/>
          <p:nvPr/>
        </p:nvSpPr>
        <p:spPr>
          <a:xfrm>
            <a:off x="5915352" y="5685191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79" name="write-seq2"/>
          <p:cNvSpPr/>
          <p:nvPr/>
        </p:nvSpPr>
        <p:spPr>
          <a:xfrm>
            <a:off x="493395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write3"/>
          <p:cNvSpPr/>
          <p:nvPr/>
        </p:nvSpPr>
        <p:spPr>
          <a:xfrm>
            <a:off x="7734300" y="5547360"/>
            <a:ext cx="216027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写后失效确认"/>
          <p:cNvSpPr txBox="1"/>
          <p:nvPr/>
        </p:nvSpPr>
        <p:spPr>
          <a:xfrm>
            <a:off x="831037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写后失效确认</a:t>
            </a:r>
          </a:p>
        </p:txBody>
      </p:sp>
      <p:sp>
        <p:nvSpPr>
          <p:cNvPr id="82" name="write-seq3"/>
          <p:cNvSpPr/>
          <p:nvPr/>
        </p:nvSpPr>
        <p:spPr>
          <a:xfrm>
            <a:off x="741426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write4"/>
          <p:cNvSpPr/>
          <p:nvPr/>
        </p:nvSpPr>
        <p:spPr>
          <a:xfrm>
            <a:off x="1021461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CPU 获取结果"/>
          <p:cNvSpPr txBox="1"/>
          <p:nvPr/>
        </p:nvSpPr>
        <p:spPr>
          <a:xfrm>
            <a:off x="10782173" y="5685191"/>
            <a:ext cx="102514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获取结果</a:t>
            </a:r>
          </a:p>
        </p:txBody>
      </p:sp>
      <p:sp>
        <p:nvSpPr>
          <p:cNvPr id="85" name="write-seq4"/>
          <p:cNvSpPr/>
          <p:nvPr/>
        </p:nvSpPr>
        <p:spPr>
          <a:xfrm>
            <a:off x="989457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脏行经 DDR 需写回后重读；缓存直供减少当次 DDR 往返，同时增加片上数据响"/>
          <p:cNvSpPr txBox="1"/>
          <p:nvPr/>
        </p:nvSpPr>
        <p:spPr>
          <a:xfrm>
            <a:off x="293370" y="6185306"/>
            <a:ext cx="64126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脏行经 DDR 需写回后重读；缓存直供减少当次 DDR 往返，同时增加片上数据响应通路。</a:t>
            </a:r>
          </a:p>
        </p:txBody>
      </p:sp>
      <p:sp>
        <p:nvSpPr>
          <p:cNvPr id="87" name="text-087: 当前规划采用左侧路径；右侧用于成本比较。软件保持交接范围的所有权，硬件完成维护。"/>
          <p:cNvSpPr txBox="1"/>
          <p:nvPr/>
        </p:nvSpPr>
        <p:spPr>
          <a:xfrm>
            <a:off x="293370" y="6441338"/>
            <a:ext cx="65608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当前规划采用左侧路径；右侧用于成本比较。软件保持交接范围的所有权，硬件完成维护。</a:t>
            </a:r>
          </a:p>
        </p:txBody>
      </p:sp>
      <p:sp>
        <p:nvSpPr>
          <p:cNvPr id="88" name="text-088: 蓝灰：常规访存 / 后备路径    绿色：本场景的数据    紫色：控制与确认 "/>
          <p:cNvSpPr txBox="1"/>
          <p:nvPr/>
        </p:nvSpPr>
        <p:spPr>
          <a:xfrm>
            <a:off x="293370" y="6790182"/>
            <a:ext cx="609635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蓝灰：常规访存 / 后备路径    绿色：本场景的数据    紫色：控制与确认    虚线框：待实现的维护职责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交接方式：软件发起，缓存维护由谁执行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交接方式：软件发起，缓存维护由谁执行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A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软件维护 + 非一致性 DMA"/>
          <p:cNvSpPr txBox="1"/>
          <p:nvPr/>
        </p:nvSpPr>
        <p:spPr>
          <a:xfrm>
            <a:off x="381000" y="1025652"/>
            <a:ext cx="313096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软件维护 + 非一致性 DMA</a:t>
            </a:r>
          </a:p>
        </p:txBody>
      </p:sp>
      <p:sp>
        <p:nvSpPr>
          <p:cNvPr id="6" name="text-006: 软件维护全层次；硬件直接访问内存"/>
          <p:cNvSpPr txBox="1"/>
          <p:nvPr/>
        </p:nvSpPr>
        <p:spPr>
          <a:xfrm>
            <a:off x="381000" y="138043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软件维护全层次；硬件直接访问内存</a:t>
            </a:r>
          </a:p>
        </p:txBody>
      </p:sp>
      <p:sp>
        <p:nvSpPr>
          <p:cNvPr id="7" name="A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A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A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A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A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A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A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A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A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普通互连"/>
          <p:cNvSpPr txBox="1"/>
          <p:nvPr/>
        </p:nvSpPr>
        <p:spPr>
          <a:xfrm>
            <a:off x="4171950" y="4315511"/>
            <a:ext cx="10287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普通互连</a:t>
            </a:r>
          </a:p>
        </p:txBody>
      </p:sp>
      <p:sp>
        <p:nvSpPr>
          <p:cNvPr id="29" name="text-029: 软件交接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</a:t>
            </a:r>
          </a:p>
        </p:txBody>
      </p:sp>
      <p:sp>
        <p:nvSpPr>
          <p:cNvPr id="30" name="A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A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sw-llc"/>
          <p:cNvSpPr/>
          <p:nvPr/>
        </p:nvSpPr>
        <p:spPr>
          <a:xfrm>
            <a:off x="2171700" y="2247900"/>
            <a:ext cx="990600" cy="2476500"/>
          </a:xfrm>
          <a:custGeom>
            <a:avLst/>
            <a:gdLst/>
            <a:ahLst/>
            <a:cxnLst/>
            <a:rect l="0" t="0" r="r" b="b"/>
            <a:pathLst>
              <a:path w="990600" h="2476500" fill="none">
                <a:moveTo>
                  <a:pt x="990600" y="0"/>
                </a:moveTo>
                <a:lnTo>
                  <a:pt x="990600" y="2476500"/>
                </a:lnTo>
                <a:lnTo>
                  <a:pt x="0" y="24765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交接前后由软件 clean / invalidate"/>
          <p:cNvSpPr txBox="1"/>
          <p:nvPr/>
        </p:nvSpPr>
        <p:spPr>
          <a:xfrm>
            <a:off x="381000" y="6005779"/>
            <a:ext cx="27913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交接前后由软件 clean / invalidate</a:t>
            </a:r>
          </a:p>
        </p:txBody>
      </p:sp>
      <p:sp>
        <p:nvSpPr>
          <p:cNvPr id="36" name="text-036: 设备直访 DDR；交接区限制冲突访问"/>
          <p:cNvSpPr txBox="1"/>
          <p:nvPr/>
        </p:nvSpPr>
        <p:spPr>
          <a:xfrm>
            <a:off x="381000" y="6249619"/>
            <a:ext cx="3021009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设备直访 DDR；交接区限制冲突访问</a:t>
            </a:r>
          </a:p>
        </p:txBody>
      </p:sp>
      <p:sp>
        <p:nvSpPr>
          <p:cNvPr id="37" name="B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B  软硬件协同范围维护"/>
          <p:cNvSpPr txBox="1"/>
          <p:nvPr/>
        </p:nvSpPr>
        <p:spPr>
          <a:xfrm>
            <a:off x="6705600" y="1025652"/>
            <a:ext cx="256460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软硬件协同范围维护</a:t>
            </a:r>
          </a:p>
        </p:txBody>
      </p:sp>
      <p:sp>
        <p:nvSpPr>
          <p:cNvPr id="39" name="text-039: 软件触发批量维护；传输期保持范围所有权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软件触发批量维护；传输期保持范围所有权</a:t>
            </a:r>
          </a:p>
        </p:txBody>
      </p:sp>
      <p:sp>
        <p:nvSpPr>
          <p:cNvPr id="40" name="B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2" name="B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4" name="text-044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5" name="B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7" name="text-047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8" name="B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50" name="B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2" name="text-052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3" name="B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5" name="B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B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B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维护 / 准入引擎"/>
          <p:cNvSpPr txBox="1"/>
          <p:nvPr/>
        </p:nvSpPr>
        <p:spPr>
          <a:xfrm>
            <a:off x="10175677" y="4315511"/>
            <a:ext cx="1670447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维护 / 准入引擎</a:t>
            </a:r>
          </a:p>
        </p:txBody>
      </p:sp>
      <p:sp>
        <p:nvSpPr>
          <p:cNvPr id="62" name="text-062: 搬运边界"/>
          <p:cNvSpPr txBox="1"/>
          <p:nvPr/>
        </p:nvSpPr>
        <p:spPr>
          <a:xfrm>
            <a:off x="105537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搬运边界</a:t>
            </a:r>
          </a:p>
        </p:txBody>
      </p:sp>
      <p:sp>
        <p:nvSpPr>
          <p:cNvPr id="63" name="Bdevice-ddr"/>
          <p:cNvSpPr/>
          <p:nvPr/>
        </p:nvSpPr>
        <p:spPr>
          <a:xfrm>
            <a:off x="110109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软件交接所有权；硬件排空、维护并确认"/>
          <p:cNvSpPr txBox="1"/>
          <p:nvPr/>
        </p:nvSpPr>
        <p:spPr>
          <a:xfrm>
            <a:off x="6705600" y="600577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软件交接所有权；硬件排空、维护并确认</a:t>
            </a:r>
          </a:p>
        </p:txBody>
      </p:sp>
      <p:sp>
        <p:nvSpPr>
          <p:cNvPr id="67" name="text-067: 本项目方向：按缓冲区 / 分块批量同步"/>
          <p:cNvSpPr txBox="1"/>
          <p:nvPr/>
        </p:nvSpPr>
        <p:spPr>
          <a:xfrm>
            <a:off x="6705600" y="6249619"/>
            <a:ext cx="3175564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本项目方向：按缓冲区 / 分块批量同步</a:t>
            </a:r>
          </a:p>
        </p:txBody>
      </p:sp>
      <p:sp>
        <p:nvSpPr>
          <p:cNvPr id="68" name="text-068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  <p:sp>
        <p:nvSpPr>
          <p:cNvPr id="69" name="Bdriver"/>
          <p:cNvSpPr/>
          <p:nvPr/>
        </p:nvSpPr>
        <p:spPr>
          <a:xfrm>
            <a:off x="88392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驱动"/>
          <p:cNvSpPr txBox="1"/>
          <p:nvPr/>
        </p:nvSpPr>
        <p:spPr>
          <a:xfrm>
            <a:off x="91782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71" name="Bsoftware-submit"/>
          <p:cNvSpPr/>
          <p:nvPr/>
        </p:nvSpPr>
        <p:spPr>
          <a:xfrm>
            <a:off x="9486900" y="2247900"/>
            <a:ext cx="1524000" cy="2019300"/>
          </a:xfrm>
          <a:custGeom>
            <a:avLst/>
            <a:gdLst/>
            <a:ahLst/>
            <a:cxnLst/>
            <a:rect l="0" t="0" r="r" b="b"/>
            <a:pathLst>
              <a:path w="1524000" h="2019300" fill="none">
                <a:moveTo>
                  <a:pt x="0" y="0"/>
                </a:moveTo>
                <a:lnTo>
                  <a:pt x="0" y="1752600"/>
                </a:lnTo>
                <a:lnTo>
                  <a:pt x="1524000" y="1752600"/>
                </a:lnTo>
                <a:lnTo>
                  <a:pt x="1524000" y="20193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协调范围：只到 LLC，还是覆盖 CPU 私有缓存"/>
          <p:cNvSpPr txBox="1"/>
          <p:nvPr/>
        </p:nvSpPr>
        <p:spPr>
          <a:xfrm>
            <a:off x="381000" y="115214"/>
            <a:ext cx="62097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协调范围：只到 LLC，还是覆盖 CPU 私有缓存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C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  LLC-coherent DMA"/>
          <p:cNvSpPr txBox="1"/>
          <p:nvPr/>
        </p:nvSpPr>
        <p:spPr>
          <a:xfrm>
            <a:off x="381000" y="1025652"/>
            <a:ext cx="235206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LLC-coherent DMA</a:t>
            </a:r>
          </a:p>
        </p:txBody>
      </p:sp>
      <p:sp>
        <p:nvSpPr>
          <p:cNvPr id="6" name="text-006: LLC 硬件协调；CPU 私有缓存仍需软件维护"/>
          <p:cNvSpPr txBox="1"/>
          <p:nvPr/>
        </p:nvSpPr>
        <p:spPr>
          <a:xfrm>
            <a:off x="381000" y="1380439"/>
            <a:ext cx="351171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硬件协调；CPU 私有缓存仍需软件维护</a:t>
            </a:r>
          </a:p>
        </p:txBody>
      </p:sp>
      <p:sp>
        <p:nvSpPr>
          <p:cNvPr id="7" name="C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C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C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C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C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C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C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LLC 接入"/>
          <p:cNvSpPr txBox="1"/>
          <p:nvPr/>
        </p:nvSpPr>
        <p:spPr>
          <a:xfrm>
            <a:off x="4180284" y="4315511"/>
            <a:ext cx="1012031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接入</a:t>
            </a:r>
          </a:p>
        </p:txBody>
      </p:sp>
      <p:sp>
        <p:nvSpPr>
          <p:cNvPr id="29" name="text-029: 局部协调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局部协调</a:t>
            </a:r>
          </a:p>
        </p:txBody>
      </p:sp>
      <p:sp>
        <p:nvSpPr>
          <p:cNvPr id="30" name="Cdevice-llc"/>
          <p:cNvSpPr/>
          <p:nvPr/>
        </p:nvSpPr>
        <p:spPr>
          <a:xfrm>
            <a:off x="21717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C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CPU 私有缓存由软件维护"/>
          <p:cNvSpPr txBox="1"/>
          <p:nvPr/>
        </p:nvSpPr>
        <p:spPr>
          <a:xfrm>
            <a:off x="381000" y="6005779"/>
            <a:ext cx="21238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私有缓存由软件维护</a:t>
            </a:r>
          </a:p>
        </p:txBody>
      </p:sp>
      <p:sp>
        <p:nvSpPr>
          <p:cNvPr id="35" name="text-035: LLC 可供数；设备访问经过 LLC"/>
          <p:cNvSpPr txBox="1"/>
          <p:nvPr/>
        </p:nvSpPr>
        <p:spPr>
          <a:xfrm>
            <a:off x="381000" y="6249619"/>
            <a:ext cx="260049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可供数；设备访问经过 LLC</a:t>
            </a:r>
          </a:p>
        </p:txBody>
      </p:sp>
      <p:sp>
        <p:nvSpPr>
          <p:cNvPr id="36" name="D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D  I/O 一致性 · 分配缓存行"/>
          <p:cNvSpPr txBox="1"/>
          <p:nvPr/>
        </p:nvSpPr>
        <p:spPr>
          <a:xfrm>
            <a:off x="6705600" y="1025652"/>
            <a:ext cx="293428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I/O 一致性 · 分配缓存行</a:t>
            </a:r>
          </a:p>
        </p:txBody>
      </p:sp>
      <p:sp>
        <p:nvSpPr>
          <p:cNvPr id="38" name="text-038: CPU 缓存由硬件协调；允许设备分配 LLC"/>
          <p:cNvSpPr txBox="1"/>
          <p:nvPr/>
        </p:nvSpPr>
        <p:spPr>
          <a:xfrm>
            <a:off x="6705600" y="1380439"/>
            <a:ext cx="333645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缓存由硬件协调；允许设备分配 LLC</a:t>
            </a:r>
          </a:p>
        </p:txBody>
      </p:sp>
      <p:sp>
        <p:nvSpPr>
          <p:cNvPr id="39" name="D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1" name="D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3" name="text-043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4" name="D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6" name="text-046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7" name="D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9" name="D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1" name="text-051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2" name="D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4" name="D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一致性协调点"/>
          <p:cNvSpPr txBox="1"/>
          <p:nvPr/>
        </p:nvSpPr>
        <p:spPr>
          <a:xfrm>
            <a:off x="102908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61" name="text-061: 含缓存分配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含缓存分配</a:t>
            </a:r>
          </a:p>
        </p:txBody>
      </p:sp>
      <p:sp>
        <p:nvSpPr>
          <p:cNvPr id="62" name="D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硬件协调 CPU 私有缓存和 LLC"/>
          <p:cNvSpPr txBox="1"/>
          <p:nvPr/>
        </p:nvSpPr>
        <p:spPr>
          <a:xfrm>
            <a:off x="6705600" y="6005779"/>
            <a:ext cx="251269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硬件协调 CPU 私有缓存和 LLC</a:t>
            </a:r>
          </a:p>
        </p:txBody>
      </p:sp>
      <p:sp>
        <p:nvSpPr>
          <p:cNvPr id="66" name="text-066: 设备可分配 LLC 行，利用片上复用"/>
          <p:cNvSpPr txBox="1"/>
          <p:nvPr/>
        </p:nvSpPr>
        <p:spPr>
          <a:xfrm>
            <a:off x="6705600" y="6249619"/>
            <a:ext cx="284249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设备可分配 LLC 行，利用片上复用</a:t>
            </a:r>
          </a:p>
        </p:txBody>
      </p:sp>
      <p:sp>
        <p:nvSpPr>
          <p:cNvPr id="67" name="text-067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③ 分配策略与设备缓存：区分两个分类维度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分配策略与设备缓存：区分两个分类维度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E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5FAF7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E  I/O 一致性 · 不分配 LLC"/>
          <p:cNvSpPr txBox="1"/>
          <p:nvPr/>
        </p:nvSpPr>
        <p:spPr>
          <a:xfrm>
            <a:off x="381000" y="1025652"/>
            <a:ext cx="289299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  I/O 一致性 · 不分配 LLC</a:t>
            </a:r>
          </a:p>
        </p:txBody>
      </p:sp>
      <p:sp>
        <p:nvSpPr>
          <p:cNvPr id="6" name="text-006: 逐事务协调机制；供文献比较"/>
          <p:cNvSpPr txBox="1"/>
          <p:nvPr/>
        </p:nvSpPr>
        <p:spPr>
          <a:xfrm>
            <a:off x="381000" y="1380439"/>
            <a:ext cx="24536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逐事务协调机制；供文献比较</a:t>
            </a:r>
          </a:p>
        </p:txBody>
      </p:sp>
      <p:sp>
        <p:nvSpPr>
          <p:cNvPr id="7" name="E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E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E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E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E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E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E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一致性协调点"/>
          <p:cNvSpPr txBox="1"/>
          <p:nvPr/>
        </p:nvSpPr>
        <p:spPr>
          <a:xfrm>
            <a:off x="39662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29" name="text-029: 设备不分配 LLC"/>
          <p:cNvSpPr txBox="1"/>
          <p:nvPr/>
        </p:nvSpPr>
        <p:spPr>
          <a:xfrm>
            <a:off x="3962192" y="4606900"/>
            <a:ext cx="144821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</a:t>
            </a:r>
          </a:p>
        </p:txBody>
      </p:sp>
      <p:sp>
        <p:nvSpPr>
          <p:cNvPr id="30" name="E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probe-private"/>
          <p:cNvSpPr/>
          <p:nvPr/>
        </p:nvSpPr>
        <p:spPr>
          <a:xfrm>
            <a:off x="21717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probe-llc"/>
          <p:cNvSpPr/>
          <p:nvPr/>
        </p:nvSpPr>
        <p:spPr>
          <a:xfrm>
            <a:off x="21717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逐事务协调；设备不分配 LLC 行"/>
          <p:cNvSpPr txBox="1"/>
          <p:nvPr/>
        </p:nvSpPr>
        <p:spPr>
          <a:xfrm>
            <a:off x="381000" y="6005779"/>
            <a:ext cx="266723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逐事务协调；设备不分配 LLC 行</a:t>
            </a:r>
          </a:p>
        </p:txBody>
      </p:sp>
      <p:sp>
        <p:nvSpPr>
          <p:cNvPr id="34" name="text-034: 本项目沿用旁路拓扑，采用软件范围交接"/>
          <p:cNvSpPr txBox="1"/>
          <p:nvPr/>
        </p:nvSpPr>
        <p:spPr>
          <a:xfrm>
            <a:off x="381000" y="624961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本项目沿用旁路拓扑，采用软件范围交接</a:t>
            </a:r>
          </a:p>
        </p:txBody>
      </p:sp>
      <p:sp>
        <p:nvSpPr>
          <p:cNvPr id="35" name="F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F  完整缓存代理一致性"/>
          <p:cNvSpPr txBox="1"/>
          <p:nvPr/>
        </p:nvSpPr>
        <p:spPr>
          <a:xfrm>
            <a:off x="6705600" y="1025652"/>
            <a:ext cx="253267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  完整缓存代理一致性</a:t>
            </a:r>
          </a:p>
        </p:txBody>
      </p:sp>
      <p:sp>
        <p:nvSpPr>
          <p:cNvPr id="37" name="text-037: 设备持有可探测的私有缓存；本项目不采用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设备持有可探测的私有缓存；本项目不采用</a:t>
            </a:r>
          </a:p>
        </p:txBody>
      </p:sp>
      <p:sp>
        <p:nvSpPr>
          <p:cNvPr id="38" name="F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0" name="F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2" name="text-042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3" name="F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5" name="text-045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6" name="F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8" name="F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0" name="text-050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1" name="F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3" name="F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devcache"/>
          <p:cNvSpPr/>
          <p:nvPr/>
        </p:nvSpPr>
        <p:spPr>
          <a:xfrm>
            <a:off x="10477500" y="3581400"/>
            <a:ext cx="16764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设备私有缓存"/>
          <p:cNvSpPr txBox="1"/>
          <p:nvPr/>
        </p:nvSpPr>
        <p:spPr>
          <a:xfrm>
            <a:off x="10595610" y="364495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</a:t>
            </a:r>
          </a:p>
        </p:txBody>
      </p:sp>
      <p:sp>
        <p:nvSpPr>
          <p:cNvPr id="59" name="Fdma-cache"/>
          <p:cNvSpPr/>
          <p:nvPr/>
        </p:nvSpPr>
        <p:spPr>
          <a:xfrm>
            <a:off x="11315700" y="32766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cache-fabric"/>
          <p:cNvSpPr/>
          <p:nvPr/>
        </p:nvSpPr>
        <p:spPr>
          <a:xfrm>
            <a:off x="11315700" y="400050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一致性互连"/>
          <p:cNvSpPr txBox="1"/>
          <p:nvPr/>
        </p:nvSpPr>
        <p:spPr>
          <a:xfrm>
            <a:off x="10393680" y="4315511"/>
            <a:ext cx="123444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一致性互连</a:t>
            </a:r>
          </a:p>
        </p:txBody>
      </p:sp>
      <p:sp>
        <p:nvSpPr>
          <p:cNvPr id="63" name="text-063: 多缓存代理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多缓存代理</a:t>
            </a:r>
          </a:p>
        </p:txBody>
      </p:sp>
      <p:sp>
        <p:nvSpPr>
          <p:cNvPr id="64" name="F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probe-devcache"/>
          <p:cNvSpPr/>
          <p:nvPr/>
        </p:nvSpPr>
        <p:spPr>
          <a:xfrm>
            <a:off x="12153900" y="3794760"/>
            <a:ext cx="266700" cy="929640"/>
          </a:xfrm>
          <a:custGeom>
            <a:avLst/>
            <a:gdLst/>
            <a:ahLst/>
            <a:cxnLst/>
            <a:rect l="0" t="0" r="r" b="b"/>
            <a:pathLst>
              <a:path w="266700" h="929640" fill="none">
                <a:moveTo>
                  <a:pt x="0" y="929640"/>
                </a:moveTo>
                <a:lnTo>
                  <a:pt x="266700" y="929640"/>
                </a:lnTo>
                <a:lnTo>
                  <a:pt x="2667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设备私有缓存也接收探测并返回数据"/>
          <p:cNvSpPr txBox="1"/>
          <p:nvPr/>
        </p:nvSpPr>
        <p:spPr>
          <a:xfrm>
            <a:off x="6705600" y="600577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设备私有缓存也接收探测并返回数据</a:t>
            </a:r>
          </a:p>
        </p:txBody>
      </p:sp>
      <p:sp>
        <p:nvSpPr>
          <p:cNvPr id="69" name="text-069: 本地 SRAM 仍显式管理；分配策略另设"/>
          <p:cNvSpPr txBox="1"/>
          <p:nvPr/>
        </p:nvSpPr>
        <p:spPr>
          <a:xfrm>
            <a:off x="6705600" y="6249619"/>
            <a:ext cx="319268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本地 SRAM 仍显式管理；分配策略另设</a:t>
            </a:r>
          </a:p>
        </p:txBody>
      </p:sp>
      <p:sp>
        <p:nvSpPr>
          <p:cNvPr id="70" name="text-070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