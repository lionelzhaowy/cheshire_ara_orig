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677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09867" y="6426200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3850076"/>
                </a:lnTo>
                <a:cubicBezTo>
                  <a:pt x="5656862" y="3863622"/>
                  <a:pt x="5656862" y="3877169"/>
                  <a:pt x="5638800" y="389071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72347" y="1412240"/>
                </a:lnTo>
                <a:cubicBezTo>
                  <a:pt x="558800" y="1394178"/>
                  <a:pt x="545253" y="1394178"/>
                  <a:pt x="531707" y="1412240"/>
                </a:cubicBezTo>
                <a:lnTo>
                  <a:pt x="508000" y="1412240"/>
                </a:lnTo>
                <a:lnTo>
                  <a:pt x="508000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30683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304800" y="4572000"/>
            <a:ext cx="5520267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181600"/>
            <a:ext cx="9144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181600"/>
            <a:ext cx="1049867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440267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06667" y="61908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41863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crossbar-rt-note: 输入侧 AXI RT · 按配置可选"/>
          <p:cNvSpPr txBox="1"/>
          <p:nvPr/>
        </p:nvSpPr>
        <p:spPr>
          <a:xfrm>
            <a:off x="626560" y="347499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34" name="crossbar-error-note: 未映射请求：DECERR"/>
          <p:cNvSpPr txBox="1"/>
          <p:nvPr/>
        </p:nvSpPr>
        <p:spPr>
          <a:xfrm>
            <a:off x="9456830" y="347499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35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6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7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8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9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40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41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2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3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4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5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6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7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8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9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50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51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2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3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4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5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6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7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8" name="badge-C10-text: C10"/>
          <p:cNvSpPr txBox="1"/>
          <p:nvPr/>
        </p:nvSpPr>
        <p:spPr>
          <a:xfrm>
            <a:off x="9168521" y="305924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9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60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61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2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3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4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5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6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7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8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9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70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71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2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3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4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5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6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7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8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9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80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81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2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3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4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5" name="regbus-t0: Regbus decode / demux · 32 bit"/>
          <p:cNvSpPr txBox="1"/>
          <p:nvPr/>
        </p:nvSpPr>
        <p:spPr>
          <a:xfrm>
            <a:off x="2192046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6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7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8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9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90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91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2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3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4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5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6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7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8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9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00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01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2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3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4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5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6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7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8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9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10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11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2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3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4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5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6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7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8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9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20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21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2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3" name="compressor-t0: 共享压缩器"/>
          <p:cNvSpPr txBox="1"/>
          <p:nvPr/>
        </p:nvSpPr>
        <p:spPr>
          <a:xfrm>
            <a:off x="6485467" y="520395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424" name="compressor-t1: 写入 W ↓"/>
          <p:cNvSpPr txBox="1"/>
          <p:nvPr/>
        </p:nvSpPr>
        <p:spPr>
          <a:xfrm>
            <a:off x="6551687" y="5327769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5" name="compressor-t2: 无损 / 按块"/>
          <p:cNvSpPr txBox="1"/>
          <p:nvPr/>
        </p:nvSpPr>
        <p:spPr>
          <a:xfrm>
            <a:off x="6520860" y="5433433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6" name="decompressor-t0: 共享解压器"/>
          <p:cNvSpPr txBox="1"/>
          <p:nvPr/>
        </p:nvSpPr>
        <p:spPr>
          <a:xfrm>
            <a:off x="7535333" y="520395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427" name="decompressor-t1: 读返回 R ↑"/>
          <p:cNvSpPr txBox="1"/>
          <p:nvPr/>
        </p:nvSpPr>
        <p:spPr>
          <a:xfrm>
            <a:off x="7566340" y="5327769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8" name="decompressor-t2: 独立块解码"/>
          <p:cNvSpPr txBox="1"/>
          <p:nvPr/>
        </p:nvSpPr>
        <p:spPr>
          <a:xfrm>
            <a:off x="7575973" y="543343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9" name="plain-bypass-t0: 普通数据旁路"/>
          <p:cNvSpPr txBox="1"/>
          <p:nvPr/>
        </p:nvSpPr>
        <p:spPr>
          <a:xfrm>
            <a:off x="8534400" y="520395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30" name="plain-bypass-t1: 未压缩区域"/>
          <p:cNvSpPr txBox="1"/>
          <p:nvPr/>
        </p:nvSpPr>
        <p:spPr>
          <a:xfrm>
            <a:off x="8625840" y="5327769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31" name="plain-bypass-t2: 读 / 写"/>
          <p:cNvSpPr txBox="1"/>
          <p:nvPr/>
        </p:nvSpPr>
        <p:spPr>
          <a:xfrm>
            <a:off x="8708647" y="5433433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2" name="metadata-t0: 块地址 / 元数据"/>
          <p:cNvSpPr txBox="1"/>
          <p:nvPr/>
        </p:nvSpPr>
        <p:spPr>
          <a:xfrm>
            <a:off x="9595149" y="5256784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3" name="metadata-t1: 格式 / 长度 / 状态"/>
          <p:cNvSpPr txBox="1"/>
          <p:nvPr/>
        </p:nvSpPr>
        <p:spPr>
          <a:xfrm>
            <a:off x="9600867" y="5380601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4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5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6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7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8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9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40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1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2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3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4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5" name="ddr-phy-t0: DDR PHY"/>
          <p:cNvSpPr txBox="1"/>
          <p:nvPr/>
        </p:nvSpPr>
        <p:spPr>
          <a:xfrm>
            <a:off x="10751918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6" name="ddr-phy-t1: 训练 / 校准"/>
          <p:cNvSpPr txBox="1"/>
          <p:nvPr/>
        </p:nvSpPr>
        <p:spPr>
          <a:xfrm>
            <a:off x="10741051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7" name="badge-C3-text: C3"/>
          <p:cNvSpPr txBox="1"/>
          <p:nvPr/>
        </p:nvSpPr>
        <p:spPr>
          <a:xfrm>
            <a:off x="11017515" y="61817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8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9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0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51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2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3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4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5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6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7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8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9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60" name="legend-irq-b: 外部中断"/>
          <p:cNvSpPr txBox="1"/>
          <p:nvPr/>
        </p:nvSpPr>
        <p:spPr>
          <a:xfrm>
            <a:off x="11650133" y="4988831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外部中断</a:t>
            </a:r>
          </a:p>
        </p:txBody>
      </p:sp>
      <p:sp>
        <p:nvSpPr>
          <p:cNvPr id="461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2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