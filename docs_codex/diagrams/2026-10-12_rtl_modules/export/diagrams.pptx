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0080000" cy="54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① Regbus 全路径：现有互连 + 自有 IP 接入边界"/>
          <p:cNvSpPr txBox="1"/>
          <p:nvPr/>
        </p:nvSpPr>
        <p:spPr>
          <a:xfrm>
            <a:off x="196000" y="70560"/>
            <a:ext cx="3775572" cy="268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① Regbus 全路径：现有互连 + 自有 IP 接入边界</a:t>
            </a:r>
          </a:p>
        </p:txBody>
      </p:sp>
      <p:sp>
        <p:nvSpPr>
          <p:cNvPr id="4" name="text-003: 蓝色双向线 = 请求向右 / 响应返回；棕色虚线 = 地址与选择；虚线边框 = "/>
          <p:cNvSpPr txBox="1"/>
          <p:nvPr/>
        </p:nvSpPr>
        <p:spPr>
          <a:xfrm>
            <a:off x="196000" y="358848"/>
            <a:ext cx="50691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蓝色双向线 = 请求向右 / 响应返回；棕色虚线 = 地址与选择；虚线边框 = 拟新增。</a:t>
            </a:r>
          </a:p>
        </p:txBody>
      </p:sp>
      <p:sp>
        <p:nvSpPr>
          <p:cNvPr id="5" name="rect-004"/>
          <p:cNvSpPr/>
          <p:nvPr/>
        </p:nvSpPr>
        <p:spPr>
          <a:xfrm>
            <a:off x="1232000" y="840000"/>
            <a:ext cx="8652000" cy="3276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5: Cheshire 内部互连与寄存器目标：clk_i / rst_ni"/>
          <p:cNvSpPr txBox="1"/>
          <p:nvPr/>
        </p:nvSpPr>
        <p:spPr>
          <a:xfrm>
            <a:off x="1372000" y="901600"/>
            <a:ext cx="3033380" cy="22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Cheshire 内部互连与寄存器目标：clk_i / rst_ni</a:t>
            </a:r>
          </a:p>
        </p:txBody>
      </p:sp>
      <p:sp>
        <p:nvSpPr>
          <p:cNvPr id="7" name="rect-006"/>
          <p:cNvSpPr/>
          <p:nvPr/>
        </p:nvSpPr>
        <p:spPr>
          <a:xfrm>
            <a:off x="140000" y="1848000"/>
            <a:ext cx="868000" cy="588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CPU 等"/>
          <p:cNvSpPr txBox="1"/>
          <p:nvPr/>
        </p:nvSpPr>
        <p:spPr>
          <a:xfrm>
            <a:off x="297259" y="1893248"/>
            <a:ext cx="5534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CPU 等</a:t>
            </a:r>
          </a:p>
        </p:txBody>
      </p:sp>
      <p:sp>
        <p:nvSpPr>
          <p:cNvPr id="9" name="text-008: AXI 发起端"/>
          <p:cNvSpPr txBox="1"/>
          <p:nvPr/>
        </p:nvSpPr>
        <p:spPr>
          <a:xfrm>
            <a:off x="193769" y="2072448"/>
            <a:ext cx="7604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AXI 发起端</a:t>
            </a:r>
          </a:p>
        </p:txBody>
      </p:sp>
      <p:sp>
        <p:nvSpPr>
          <p:cNvPr id="10" name="rect-009"/>
          <p:cNvSpPr/>
          <p:nvPr/>
        </p:nvSpPr>
        <p:spPr>
          <a:xfrm>
            <a:off x="1400000" y="1764000"/>
            <a:ext cx="1008000" cy="78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0: 主 AXI"/>
          <p:cNvSpPr txBox="1"/>
          <p:nvPr/>
        </p:nvSpPr>
        <p:spPr>
          <a:xfrm>
            <a:off x="1658169" y="1809248"/>
            <a:ext cx="4916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主 AXI</a:t>
            </a:r>
          </a:p>
        </p:txBody>
      </p:sp>
      <p:sp>
        <p:nvSpPr>
          <p:cNvPr id="12" name="text-011: Crossbar"/>
          <p:cNvSpPr txBox="1"/>
          <p:nvPr/>
        </p:nvSpPr>
        <p:spPr>
          <a:xfrm>
            <a:off x="1573775" y="1988448"/>
            <a:ext cx="6604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Crossbar</a:t>
            </a:r>
          </a:p>
        </p:txBody>
      </p:sp>
      <p:sp>
        <p:nvSpPr>
          <p:cNvPr id="13" name="text-012: 第一级选路"/>
          <p:cNvSpPr txBox="1"/>
          <p:nvPr/>
        </p:nvSpPr>
        <p:spPr>
          <a:xfrm>
            <a:off x="1500800" y="2167648"/>
            <a:ext cx="8064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第一级选路</a:t>
            </a:r>
          </a:p>
        </p:txBody>
      </p:sp>
      <p:sp>
        <p:nvSpPr>
          <p:cNvPr id="14" name="polyline-013"/>
          <p:cNvSpPr/>
          <p:nvPr/>
        </p:nvSpPr>
        <p:spPr>
          <a:xfrm>
            <a:off x="1008000" y="2156000"/>
            <a:ext cx="392000" cy="1"/>
          </a:xfrm>
          <a:custGeom>
            <a:avLst/>
            <a:gdLst/>
            <a:ahLst/>
            <a:cxnLst/>
            <a:rect l="0" t="0" r="r" b="b"/>
            <a:pathLst>
              <a:path w="392000" h="1">
                <a:moveTo>
                  <a:pt x="0" y="0"/>
                </a:moveTo>
                <a:lnTo>
                  <a:pt x="392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13384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10080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6"/>
          <p:cNvSpPr/>
          <p:nvPr/>
        </p:nvSpPr>
        <p:spPr>
          <a:xfrm>
            <a:off x="2800000" y="1596000"/>
            <a:ext cx="1960000" cy="1092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现有 AXI → Regbus 通路"/>
          <p:cNvSpPr txBox="1"/>
          <p:nvPr/>
        </p:nvSpPr>
        <p:spPr>
          <a:xfrm>
            <a:off x="2986134" y="1641248"/>
            <a:ext cx="158773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现有 AXI → Regbus 通路</a:t>
            </a:r>
          </a:p>
        </p:txBody>
      </p:sp>
      <p:sp>
        <p:nvSpPr>
          <p:cNvPr id="19" name="text-018: i_reg_atomics"/>
          <p:cNvSpPr txBox="1"/>
          <p:nvPr/>
        </p:nvSpPr>
        <p:spPr>
          <a:xfrm>
            <a:off x="3306056" y="1820448"/>
            <a:ext cx="9478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i_reg_atomics</a:t>
            </a:r>
          </a:p>
        </p:txBody>
      </p:sp>
      <p:sp>
        <p:nvSpPr>
          <p:cNvPr id="20" name="text-019: → i_reg_atomics_cut"/>
          <p:cNvSpPr txBox="1"/>
          <p:nvPr/>
        </p:nvSpPr>
        <p:spPr>
          <a:xfrm>
            <a:off x="3095203" y="1999648"/>
            <a:ext cx="13695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→ i_reg_atomics_cut</a:t>
            </a:r>
          </a:p>
        </p:txBody>
      </p:sp>
      <p:sp>
        <p:nvSpPr>
          <p:cNvPr id="21" name="text-020: → i_axi_to_reg_v2"/>
          <p:cNvSpPr txBox="1"/>
          <p:nvPr/>
        </p:nvSpPr>
        <p:spPr>
          <a:xfrm>
            <a:off x="3174347" y="2178848"/>
            <a:ext cx="12113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→ i_axi_to_reg_v2</a:t>
            </a:r>
          </a:p>
        </p:txBody>
      </p:sp>
      <p:sp>
        <p:nvSpPr>
          <p:cNvPr id="22" name="text-021: 64-bit AXI → 32-bit Reg"/>
          <p:cNvSpPr txBox="1"/>
          <p:nvPr/>
        </p:nvSpPr>
        <p:spPr>
          <a:xfrm>
            <a:off x="3013303" y="2358048"/>
            <a:ext cx="15333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64-bit AXI → 32-bit Reg</a:t>
            </a:r>
          </a:p>
        </p:txBody>
      </p:sp>
      <p:sp>
        <p:nvSpPr>
          <p:cNvPr id="23" name="polyline-022"/>
          <p:cNvSpPr/>
          <p:nvPr/>
        </p:nvSpPr>
        <p:spPr>
          <a:xfrm>
            <a:off x="2408000" y="2156000"/>
            <a:ext cx="392000" cy="1"/>
          </a:xfrm>
          <a:custGeom>
            <a:avLst/>
            <a:gdLst/>
            <a:ahLst/>
            <a:cxnLst/>
            <a:rect l="0" t="0" r="r" b="b"/>
            <a:pathLst>
              <a:path w="392000" h="1">
                <a:moveTo>
                  <a:pt x="0" y="0"/>
                </a:moveTo>
                <a:lnTo>
                  <a:pt x="392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27384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24080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AxiOut.reg_demux"/>
          <p:cNvSpPr txBox="1"/>
          <p:nvPr/>
        </p:nvSpPr>
        <p:spPr>
          <a:xfrm>
            <a:off x="2520000" y="1378496"/>
            <a:ext cx="113217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AxiOut.reg_demux</a:t>
            </a:r>
          </a:p>
        </p:txBody>
      </p:sp>
      <p:sp>
        <p:nvSpPr>
          <p:cNvPr id="27" name="rect-026"/>
          <p:cNvSpPr/>
          <p:nvPr/>
        </p:nvSpPr>
        <p:spPr>
          <a:xfrm>
            <a:off x="5600000" y="1764000"/>
            <a:ext cx="1344000" cy="840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i_reg_demux"/>
          <p:cNvSpPr txBox="1"/>
          <p:nvPr/>
        </p:nvSpPr>
        <p:spPr>
          <a:xfrm>
            <a:off x="5836972" y="1809248"/>
            <a:ext cx="8700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i_reg_demux</a:t>
            </a:r>
          </a:p>
        </p:txBody>
      </p:sp>
      <p:sp>
        <p:nvSpPr>
          <p:cNvPr id="29" name="text-028: 请求分发"/>
          <p:cNvSpPr txBox="1"/>
          <p:nvPr/>
        </p:nvSpPr>
        <p:spPr>
          <a:xfrm>
            <a:off x="5936000" y="1988448"/>
            <a:ext cx="6720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请求分发</a:t>
            </a:r>
          </a:p>
        </p:txBody>
      </p:sp>
      <p:sp>
        <p:nvSpPr>
          <p:cNvPr id="30" name="text-029: 响应选择"/>
          <p:cNvSpPr txBox="1"/>
          <p:nvPr/>
        </p:nvSpPr>
        <p:spPr>
          <a:xfrm>
            <a:off x="5936000" y="2167648"/>
            <a:ext cx="6720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响应选择</a:t>
            </a:r>
          </a:p>
        </p:txBody>
      </p:sp>
      <p:sp>
        <p:nvSpPr>
          <p:cNvPr id="31" name="polyline-030"/>
          <p:cNvSpPr/>
          <p:nvPr/>
        </p:nvSpPr>
        <p:spPr>
          <a:xfrm>
            <a:off x="4760000" y="2156000"/>
            <a:ext cx="840000" cy="1"/>
          </a:xfrm>
          <a:custGeom>
            <a:avLst/>
            <a:gdLst/>
            <a:ahLst/>
            <a:cxnLst/>
            <a:rect l="0" t="0" r="r" b="b"/>
            <a:pathLst>
              <a:path w="840000" h="1">
                <a:moveTo>
                  <a:pt x="0" y="0"/>
                </a:moveTo>
                <a:lnTo>
                  <a:pt x="840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55384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47600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Regbus"/>
          <p:cNvSpPr txBox="1"/>
          <p:nvPr/>
        </p:nvSpPr>
        <p:spPr>
          <a:xfrm>
            <a:off x="5068000" y="2234848"/>
            <a:ext cx="5719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Regbus</a:t>
            </a:r>
          </a:p>
        </p:txBody>
      </p:sp>
      <p:sp>
        <p:nvSpPr>
          <p:cNvPr id="35" name="rect-034"/>
          <p:cNvSpPr/>
          <p:nvPr/>
        </p:nvSpPr>
        <p:spPr>
          <a:xfrm>
            <a:off x="5600000" y="1120000"/>
            <a:ext cx="1344000" cy="420000"/>
          </a:xfrm>
          <a:prstGeom prst="rect">
            <a:avLst/>
          </a:prstGeom>
          <a:solidFill>
            <a:srgbClr val="F8F0E6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地址解码 RegMap"/>
          <p:cNvSpPr txBox="1"/>
          <p:nvPr/>
        </p:nvSpPr>
        <p:spPr>
          <a:xfrm>
            <a:off x="5676912" y="1165248"/>
            <a:ext cx="11901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地址解码 RegMap</a:t>
            </a:r>
          </a:p>
        </p:txBody>
      </p:sp>
      <p:sp>
        <p:nvSpPr>
          <p:cNvPr id="37" name="polyline-036"/>
          <p:cNvSpPr/>
          <p:nvPr/>
        </p:nvSpPr>
        <p:spPr>
          <a:xfrm>
            <a:off x="4956000" y="1316000"/>
            <a:ext cx="644000" cy="840000"/>
          </a:xfrm>
          <a:custGeom>
            <a:avLst/>
            <a:gdLst/>
            <a:ahLst/>
            <a:cxnLst/>
            <a:rect l="0" t="0" r="r" b="b"/>
            <a:pathLst>
              <a:path w="644000" h="840000">
                <a:moveTo>
                  <a:pt x="0" y="840000"/>
                </a:moveTo>
                <a:lnTo>
                  <a:pt x="0" y="0"/>
                </a:lnTo>
                <a:lnTo>
                  <a:pt x="644000" y="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gon-037"/>
          <p:cNvSpPr/>
          <p:nvPr/>
        </p:nvSpPr>
        <p:spPr>
          <a:xfrm>
            <a:off x="5538400" y="129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ircle-038"/>
          <p:cNvSpPr/>
          <p:nvPr/>
        </p:nvSpPr>
        <p:spPr>
          <a:xfrm>
            <a:off x="4933600" y="2133600"/>
            <a:ext cx="44800" cy="44800"/>
          </a:xfrm>
          <a:prstGeom prst="ellipse">
            <a:avLst/>
          </a:pr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addr"/>
          <p:cNvSpPr txBox="1"/>
          <p:nvPr/>
        </p:nvSpPr>
        <p:spPr>
          <a:xfrm>
            <a:off x="4900000" y="1070496"/>
            <a:ext cx="37822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addr</a:t>
            </a:r>
          </a:p>
        </p:txBody>
      </p:sp>
      <p:sp>
        <p:nvSpPr>
          <p:cNvPr id="41" name="polyline-040"/>
          <p:cNvSpPr/>
          <p:nvPr/>
        </p:nvSpPr>
        <p:spPr>
          <a:xfrm>
            <a:off x="6272000" y="1540000"/>
            <a:ext cx="1" cy="224000"/>
          </a:xfrm>
          <a:custGeom>
            <a:avLst/>
            <a:gdLst/>
            <a:ahLst/>
            <a:cxnLst/>
            <a:rect l="0" t="0" r="r" b="b"/>
            <a:pathLst>
              <a:path w="1" h="224000">
                <a:moveTo>
                  <a:pt x="0" y="0"/>
                </a:moveTo>
                <a:lnTo>
                  <a:pt x="0" y="22400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6246800" y="17024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61600"/>
                </a:moveTo>
                <a:lnTo>
                  <a:pt x="5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reg_select"/>
          <p:cNvSpPr txBox="1"/>
          <p:nvPr/>
        </p:nvSpPr>
        <p:spPr>
          <a:xfrm>
            <a:off x="6440000" y="1546944"/>
            <a:ext cx="6768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reg_select</a:t>
            </a:r>
          </a:p>
        </p:txBody>
      </p:sp>
      <p:sp>
        <p:nvSpPr>
          <p:cNvPr id="44" name="rect-043"/>
          <p:cNvSpPr/>
          <p:nvPr/>
        </p:nvSpPr>
        <p:spPr>
          <a:xfrm>
            <a:off x="7840000" y="1204000"/>
            <a:ext cx="1792000" cy="50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片内寄存器目标"/>
          <p:cNvSpPr txBox="1"/>
          <p:nvPr/>
        </p:nvSpPr>
        <p:spPr>
          <a:xfrm>
            <a:off x="8198400" y="1249248"/>
            <a:ext cx="10752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片内寄存器目标</a:t>
            </a:r>
          </a:p>
        </p:txBody>
      </p:sp>
      <p:sp>
        <p:nvSpPr>
          <p:cNvPr id="46" name="text-045: SoC / UART / GPIO / …"/>
          <p:cNvSpPr txBox="1"/>
          <p:nvPr/>
        </p:nvSpPr>
        <p:spPr>
          <a:xfrm>
            <a:off x="7957097" y="1428448"/>
            <a:ext cx="15578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SoC / UART / GPIO / …</a:t>
            </a:r>
          </a:p>
        </p:txBody>
      </p:sp>
      <p:sp>
        <p:nvSpPr>
          <p:cNvPr id="47" name="rect-046"/>
          <p:cNvSpPr/>
          <p:nvPr/>
        </p:nvSpPr>
        <p:spPr>
          <a:xfrm>
            <a:off x="7840000" y="2100000"/>
            <a:ext cx="1792000" cy="50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i_reg_err_slv"/>
          <p:cNvSpPr txBox="1"/>
          <p:nvPr/>
        </p:nvSpPr>
        <p:spPr>
          <a:xfrm>
            <a:off x="8300972" y="2145248"/>
            <a:ext cx="8700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i_reg_err_slv</a:t>
            </a:r>
          </a:p>
        </p:txBody>
      </p:sp>
      <p:sp>
        <p:nvSpPr>
          <p:cNvPr id="49" name="text-048: 未命中：ready=1, error=1"/>
          <p:cNvSpPr txBox="1"/>
          <p:nvPr/>
        </p:nvSpPr>
        <p:spPr>
          <a:xfrm>
            <a:off x="7903350" y="2324448"/>
            <a:ext cx="16653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未命中：ready=1, error=1</a:t>
            </a:r>
          </a:p>
        </p:txBody>
      </p:sp>
      <p:sp>
        <p:nvSpPr>
          <p:cNvPr id="50" name="rect-049"/>
          <p:cNvSpPr/>
          <p:nvPr/>
        </p:nvSpPr>
        <p:spPr>
          <a:xfrm>
            <a:off x="7840000" y="3024000"/>
            <a:ext cx="1792000" cy="644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外部 Regbus 端口 [k]"/>
          <p:cNvSpPr txBox="1"/>
          <p:nvPr/>
        </p:nvSpPr>
        <p:spPr>
          <a:xfrm>
            <a:off x="8046872" y="3069248"/>
            <a:ext cx="13782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外部 Regbus 端口 [k]</a:t>
            </a:r>
          </a:p>
        </p:txBody>
      </p:sp>
      <p:sp>
        <p:nvSpPr>
          <p:cNvPr id="52" name="text-051: reg_ext_slv_req_o[k]"/>
          <p:cNvSpPr txBox="1"/>
          <p:nvPr/>
        </p:nvSpPr>
        <p:spPr>
          <a:xfrm>
            <a:off x="8071350" y="3248448"/>
            <a:ext cx="13293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53" name="text-052: reg_ext_slv_rsp_i[k]"/>
          <p:cNvSpPr txBox="1"/>
          <p:nvPr/>
        </p:nvSpPr>
        <p:spPr>
          <a:xfrm>
            <a:off x="8092809" y="3427648"/>
            <a:ext cx="12863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54" name="polyline-053"/>
          <p:cNvSpPr/>
          <p:nvPr/>
        </p:nvSpPr>
        <p:spPr>
          <a:xfrm>
            <a:off x="6944000" y="1456000"/>
            <a:ext cx="896000" cy="448000"/>
          </a:xfrm>
          <a:custGeom>
            <a:avLst/>
            <a:gdLst/>
            <a:ahLst/>
            <a:cxnLst/>
            <a:rect l="0" t="0" r="r" b="b"/>
            <a:pathLst>
              <a:path w="896000" h="448000">
                <a:moveTo>
                  <a:pt x="0" y="448000"/>
                </a:moveTo>
                <a:lnTo>
                  <a:pt x="224000" y="448000"/>
                </a:lnTo>
                <a:lnTo>
                  <a:pt x="224000" y="0"/>
                </a:lnTo>
                <a:lnTo>
                  <a:pt x="896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-054"/>
          <p:cNvSpPr/>
          <p:nvPr/>
        </p:nvSpPr>
        <p:spPr>
          <a:xfrm>
            <a:off x="7778400" y="14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-055"/>
          <p:cNvSpPr/>
          <p:nvPr/>
        </p:nvSpPr>
        <p:spPr>
          <a:xfrm>
            <a:off x="6944000" y="187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line-056"/>
          <p:cNvSpPr/>
          <p:nvPr/>
        </p:nvSpPr>
        <p:spPr>
          <a:xfrm>
            <a:off x="6944000" y="2184000"/>
            <a:ext cx="896000" cy="168000"/>
          </a:xfrm>
          <a:custGeom>
            <a:avLst/>
            <a:gdLst/>
            <a:ahLst/>
            <a:cxnLst/>
            <a:rect l="0" t="0" r="r" b="b"/>
            <a:pathLst>
              <a:path w="896000" h="168000">
                <a:moveTo>
                  <a:pt x="0" y="0"/>
                </a:moveTo>
                <a:lnTo>
                  <a:pt x="448000" y="0"/>
                </a:lnTo>
                <a:lnTo>
                  <a:pt x="448000" y="168000"/>
                </a:lnTo>
                <a:lnTo>
                  <a:pt x="896000" y="16800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-057"/>
          <p:cNvSpPr/>
          <p:nvPr/>
        </p:nvSpPr>
        <p:spPr>
          <a:xfrm>
            <a:off x="7778400" y="232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-058"/>
          <p:cNvSpPr/>
          <p:nvPr/>
        </p:nvSpPr>
        <p:spPr>
          <a:xfrm>
            <a:off x="6944000" y="215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line-059"/>
          <p:cNvSpPr/>
          <p:nvPr/>
        </p:nvSpPr>
        <p:spPr>
          <a:xfrm>
            <a:off x="6944000" y="2464000"/>
            <a:ext cx="896000" cy="868000"/>
          </a:xfrm>
          <a:custGeom>
            <a:avLst/>
            <a:gdLst/>
            <a:ahLst/>
            <a:cxnLst/>
            <a:rect l="0" t="0" r="r" b="b"/>
            <a:pathLst>
              <a:path w="896000" h="868000">
                <a:moveTo>
                  <a:pt x="0" y="0"/>
                </a:moveTo>
                <a:lnTo>
                  <a:pt x="644000" y="0"/>
                </a:lnTo>
                <a:lnTo>
                  <a:pt x="644000" y="868000"/>
                </a:lnTo>
                <a:lnTo>
                  <a:pt x="896000" y="86800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-060"/>
          <p:cNvSpPr/>
          <p:nvPr/>
        </p:nvSpPr>
        <p:spPr>
          <a:xfrm>
            <a:off x="7778400" y="330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gon-061"/>
          <p:cNvSpPr/>
          <p:nvPr/>
        </p:nvSpPr>
        <p:spPr>
          <a:xfrm>
            <a:off x="6944000" y="243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需要配置：RegExtNumSlv / RegExtNumRules"/>
          <p:cNvSpPr txBox="1"/>
          <p:nvPr/>
        </p:nvSpPr>
        <p:spPr>
          <a:xfrm>
            <a:off x="2632000" y="2923648"/>
            <a:ext cx="28037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需要配置：RegExtNumSlv / RegExtNumRules</a:t>
            </a:r>
          </a:p>
        </p:txBody>
      </p:sp>
      <p:sp>
        <p:nvSpPr>
          <p:cNvPr id="64" name="text-063: RegExtRegionStart / End / Idx"/>
          <p:cNvSpPr txBox="1"/>
          <p:nvPr/>
        </p:nvSpPr>
        <p:spPr>
          <a:xfrm>
            <a:off x="2632000" y="3142048"/>
            <a:ext cx="19061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RegExtRegionStart / End / Idx</a:t>
            </a:r>
          </a:p>
        </p:txBody>
      </p:sp>
      <p:sp>
        <p:nvSpPr>
          <p:cNvPr id="65" name="text-064: gen_axi_out + gen_reg_out 自动生成两级地址规则"/>
          <p:cNvSpPr txBox="1"/>
          <p:nvPr/>
        </p:nvSpPr>
        <p:spPr>
          <a:xfrm>
            <a:off x="2632000" y="3366048"/>
            <a:ext cx="30947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gen_axi_out + gen_reg_out 自动生成两级地址规则</a:t>
            </a:r>
          </a:p>
        </p:txBody>
      </p:sp>
      <p:sp>
        <p:nvSpPr>
          <p:cNvPr id="66" name="text-065: 默认外部端口数为 0；打开端口后，还要在外层顶层接线。"/>
          <p:cNvSpPr txBox="1"/>
          <p:nvPr/>
        </p:nvSpPr>
        <p:spPr>
          <a:xfrm>
            <a:off x="2632000" y="3685248"/>
            <a:ext cx="36152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默认外部端口数为 0；打开端口后，还要在外层顶层接线。</a:t>
            </a:r>
          </a:p>
        </p:txBody>
      </p:sp>
      <p:sp>
        <p:nvSpPr>
          <p:cNvPr id="67" name="rect-066"/>
          <p:cNvSpPr/>
          <p:nvPr/>
        </p:nvSpPr>
        <p:spPr>
          <a:xfrm>
            <a:off x="7728000" y="4508000"/>
            <a:ext cx="1960000" cy="672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  <a:custDash>
              <a:ds d="40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自有 IP 寄存器接口"/>
          <p:cNvSpPr txBox="1"/>
          <p:nvPr/>
        </p:nvSpPr>
        <p:spPr>
          <a:xfrm>
            <a:off x="8022297" y="4552352"/>
            <a:ext cx="1371405" cy="2329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69" name="text-068: NPU / ISP / DMA / …"/>
          <p:cNvSpPr txBox="1"/>
          <p:nvPr/>
        </p:nvSpPr>
        <p:spPr>
          <a:xfrm>
            <a:off x="7989472" y="4766048"/>
            <a:ext cx="14370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70" name="text-069: 内部职责见图②"/>
          <p:cNvSpPr txBox="1"/>
          <p:nvPr/>
        </p:nvSpPr>
        <p:spPr>
          <a:xfrm>
            <a:off x="8192800" y="4945696"/>
            <a:ext cx="103040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71" name="polyline-070"/>
          <p:cNvSpPr/>
          <p:nvPr/>
        </p:nvSpPr>
        <p:spPr>
          <a:xfrm>
            <a:off x="8736000" y="3668000"/>
            <a:ext cx="1" cy="840000"/>
          </a:xfrm>
          <a:custGeom>
            <a:avLst/>
            <a:gdLst/>
            <a:ahLst/>
            <a:cxnLst/>
            <a:rect l="0" t="0" r="r" b="b"/>
            <a:pathLst>
              <a:path w="1" h="840000">
                <a:moveTo>
                  <a:pt x="0" y="0"/>
                </a:moveTo>
                <a:lnTo>
                  <a:pt x="0" y="84000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olygon-071"/>
          <p:cNvSpPr/>
          <p:nvPr/>
        </p:nvSpPr>
        <p:spPr>
          <a:xfrm>
            <a:off x="8710800" y="44464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61600"/>
                </a:moveTo>
                <a:lnTo>
                  <a:pt x="5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polygon-072"/>
          <p:cNvSpPr/>
          <p:nvPr/>
        </p:nvSpPr>
        <p:spPr>
          <a:xfrm>
            <a:off x="8710800" y="36680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0"/>
                </a:moveTo>
                <a:lnTo>
                  <a:pt x="0" y="61600"/>
                </a:lnTo>
                <a:lnTo>
                  <a:pt x="50400" y="616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同域直连；异域增加 reg_cdc"/>
          <p:cNvSpPr txBox="1"/>
          <p:nvPr/>
        </p:nvSpPr>
        <p:spPr>
          <a:xfrm>
            <a:off x="6440000" y="4166848"/>
            <a:ext cx="18354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同域直连；异域增加 reg_cdc</a:t>
            </a:r>
          </a:p>
        </p:txBody>
      </p:sp>
      <p:sp>
        <p:nvSpPr>
          <p:cNvPr id="75" name="text-074: IP 收到：addr[47:0] / write / wdata[31:0] /"/>
          <p:cNvSpPr txBox="1"/>
          <p:nvPr/>
        </p:nvSpPr>
        <p:spPr>
          <a:xfrm>
            <a:off x="224000" y="4390848"/>
            <a:ext cx="37701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收到：addr[47:0] / write / wdata[31:0] / wstrb[3:0] / valid</a:t>
            </a:r>
          </a:p>
        </p:txBody>
      </p:sp>
      <p:sp>
        <p:nvSpPr>
          <p:cNvPr id="76" name="text-075: IP 返回：rdata[31:0] / error / ready"/>
          <p:cNvSpPr txBox="1"/>
          <p:nvPr/>
        </p:nvSpPr>
        <p:spPr>
          <a:xfrm>
            <a:off x="224000" y="4620448"/>
            <a:ext cx="224503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返回：rdata[31:0] / error / ready</a:t>
            </a:r>
          </a:p>
        </p:txBody>
      </p:sp>
      <p:sp>
        <p:nvSpPr>
          <p:cNvPr id="77" name="text-076: 配置走 Regbus；图像、权重、帧数据等批量搬运走独立的数据接口。"/>
          <p:cNvSpPr txBox="1"/>
          <p:nvPr/>
        </p:nvSpPr>
        <p:spPr>
          <a:xfrm>
            <a:off x="224000" y="4917248"/>
            <a:ext cx="42410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配置走 Regbus；图像、权重、帧数据等批量搬运走独立的数据接口。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28000"/>
            <a:ext cx="10080000" cy="5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② 自有 IP：需要实现的寄存器接口（建议结构，尚未接入）"/>
          <p:cNvSpPr txBox="1"/>
          <p:nvPr/>
        </p:nvSpPr>
        <p:spPr>
          <a:xfrm>
            <a:off x="196000" y="98560"/>
            <a:ext cx="4606385" cy="268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② 自有 IP：需要实现的寄存器接口（建议结构，尚未接入）</a:t>
            </a:r>
          </a:p>
        </p:txBody>
      </p:sp>
      <p:sp>
        <p:nvSpPr>
          <p:cNvPr id="4" name="text-003: 本图采用同 clk_i 域示例；配置访问完成与 IP 运算完成是两个事件。"/>
          <p:cNvSpPr txBox="1"/>
          <p:nvPr/>
        </p:nvSpPr>
        <p:spPr>
          <a:xfrm>
            <a:off x="196000" y="386848"/>
            <a:ext cx="41632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本图采用同 clk_i 域示例；配置访问完成与 IP 运算完成是两个事件。</a:t>
            </a:r>
          </a:p>
        </p:txBody>
      </p:sp>
      <p:sp>
        <p:nvSpPr>
          <p:cNvPr id="5" name="rect-004"/>
          <p:cNvSpPr/>
          <p:nvPr/>
        </p:nvSpPr>
        <p:spPr>
          <a:xfrm>
            <a:off x="1904000" y="980000"/>
            <a:ext cx="5824000" cy="3556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253447"/>
            </a:solidFill>
            <a:custDash>
              <a:ds d="40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5: IP 寄存器封装：可手写，或使用现有 reggen 生成"/>
          <p:cNvSpPr txBox="1"/>
          <p:nvPr/>
        </p:nvSpPr>
        <p:spPr>
          <a:xfrm>
            <a:off x="2044000" y="1047200"/>
            <a:ext cx="3171735" cy="22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寄存器封装：可手写，或使用现有 reggen 生成</a:t>
            </a:r>
          </a:p>
        </p:txBody>
      </p:sp>
      <p:sp>
        <p:nvSpPr>
          <p:cNvPr id="7" name="text-006: reg_ext_slv_req_o[k]"/>
          <p:cNvSpPr txBox="1"/>
          <p:nvPr/>
        </p:nvSpPr>
        <p:spPr>
          <a:xfrm>
            <a:off x="196000" y="1529248"/>
            <a:ext cx="13293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8" name="text-007: addr / write / wdata"/>
          <p:cNvSpPr txBox="1"/>
          <p:nvPr/>
        </p:nvSpPr>
        <p:spPr>
          <a:xfrm>
            <a:off x="196000" y="1725248"/>
            <a:ext cx="13233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addr / write / wdata</a:t>
            </a:r>
          </a:p>
        </p:txBody>
      </p:sp>
      <p:sp>
        <p:nvSpPr>
          <p:cNvPr id="9" name="text-008: wstrb / valid"/>
          <p:cNvSpPr txBox="1"/>
          <p:nvPr/>
        </p:nvSpPr>
        <p:spPr>
          <a:xfrm>
            <a:off x="196000" y="1921248"/>
            <a:ext cx="8697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wstrb / valid</a:t>
            </a:r>
          </a:p>
        </p:txBody>
      </p:sp>
      <p:sp>
        <p:nvSpPr>
          <p:cNvPr id="10" name="polyline-009"/>
          <p:cNvSpPr/>
          <p:nvPr/>
        </p:nvSpPr>
        <p:spPr>
          <a:xfrm>
            <a:off x="252000" y="2212000"/>
            <a:ext cx="2044000" cy="1"/>
          </a:xfrm>
          <a:custGeom>
            <a:avLst/>
            <a:gdLst/>
            <a:ahLst/>
            <a:cxnLst/>
            <a:rect l="0" t="0" r="r" b="b"/>
            <a:pathLst>
              <a:path w="2044000" h="1">
                <a:moveTo>
                  <a:pt x="0" y="0"/>
                </a:moveTo>
                <a:lnTo>
                  <a:pt x="204400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2234400" y="218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1"/>
          <p:cNvSpPr/>
          <p:nvPr/>
        </p:nvSpPr>
        <p:spPr>
          <a:xfrm>
            <a:off x="2296000" y="1484000"/>
            <a:ext cx="1736000" cy="1036000"/>
          </a:xfrm>
          <a:prstGeom prst="rect">
            <a:avLst/>
          </a:prstGeom>
          <a:solidFill>
            <a:srgbClr val="F8F0E6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地址译码与访问控制"/>
          <p:cNvSpPr txBox="1"/>
          <p:nvPr/>
        </p:nvSpPr>
        <p:spPr>
          <a:xfrm>
            <a:off x="2492000" y="1529248"/>
            <a:ext cx="13440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地址译码与访问控制</a:t>
            </a:r>
          </a:p>
        </p:txBody>
      </p:sp>
      <p:sp>
        <p:nvSpPr>
          <p:cNvPr id="14" name="text-013: offset = addr - BASE"/>
          <p:cNvSpPr txBox="1"/>
          <p:nvPr/>
        </p:nvSpPr>
        <p:spPr>
          <a:xfrm>
            <a:off x="2498103" y="1708448"/>
            <a:ext cx="13317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offset = addr - BASE</a:t>
            </a:r>
          </a:p>
        </p:txBody>
      </p:sp>
      <p:sp>
        <p:nvSpPr>
          <p:cNvPr id="15" name="text-014: fire = valid &amp; ready"/>
          <p:cNvSpPr txBox="1"/>
          <p:nvPr/>
        </p:nvSpPr>
        <p:spPr>
          <a:xfrm>
            <a:off x="2543844" y="1887648"/>
            <a:ext cx="12403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fire = valid &amp; ready</a:t>
            </a:r>
          </a:p>
        </p:txBody>
      </p:sp>
      <p:sp>
        <p:nvSpPr>
          <p:cNvPr id="16" name="text-015: wr_en = fire &amp; write"/>
          <p:cNvSpPr txBox="1"/>
          <p:nvPr/>
        </p:nvSpPr>
        <p:spPr>
          <a:xfrm>
            <a:off x="2525009" y="2066848"/>
            <a:ext cx="12779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wr_en = fire &amp; write</a:t>
            </a:r>
          </a:p>
        </p:txBody>
      </p:sp>
      <p:sp>
        <p:nvSpPr>
          <p:cNvPr id="17" name="text-016: 按译码 / wstrb 写入"/>
          <p:cNvSpPr txBox="1"/>
          <p:nvPr/>
        </p:nvSpPr>
        <p:spPr>
          <a:xfrm>
            <a:off x="2507094" y="2246048"/>
            <a:ext cx="13138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按译码 / wstrb 写入</a:t>
            </a:r>
          </a:p>
        </p:txBody>
      </p:sp>
      <p:sp>
        <p:nvSpPr>
          <p:cNvPr id="18" name="rect-017"/>
          <p:cNvSpPr/>
          <p:nvPr/>
        </p:nvSpPr>
        <p:spPr>
          <a:xfrm>
            <a:off x="5376000" y="1540000"/>
            <a:ext cx="2016000" cy="728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配置 / 命令寄存器"/>
          <p:cNvSpPr txBox="1"/>
          <p:nvPr/>
        </p:nvSpPr>
        <p:spPr>
          <a:xfrm>
            <a:off x="5771194" y="1585248"/>
            <a:ext cx="12256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配置 / 命令寄存器</a:t>
            </a:r>
          </a:p>
        </p:txBody>
      </p:sp>
      <p:sp>
        <p:nvSpPr>
          <p:cNvPr id="20" name="text-019: 参数、地址低位 / 高位"/>
          <p:cNvSpPr txBox="1"/>
          <p:nvPr/>
        </p:nvSpPr>
        <p:spPr>
          <a:xfrm>
            <a:off x="5636794" y="1764448"/>
            <a:ext cx="14944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参数、地址低位 / 高位</a:t>
            </a:r>
          </a:p>
        </p:txBody>
      </p:sp>
      <p:sp>
        <p:nvSpPr>
          <p:cNvPr id="21" name="text-020: 写 START 时提交命令"/>
          <p:cNvSpPr txBox="1"/>
          <p:nvPr/>
        </p:nvSpPr>
        <p:spPr>
          <a:xfrm>
            <a:off x="5685291" y="1943648"/>
            <a:ext cx="139741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写 START 时提交命令</a:t>
            </a:r>
          </a:p>
        </p:txBody>
      </p:sp>
      <p:sp>
        <p:nvSpPr>
          <p:cNvPr id="22" name="polyline-021"/>
          <p:cNvSpPr/>
          <p:nvPr/>
        </p:nvSpPr>
        <p:spPr>
          <a:xfrm>
            <a:off x="4032000" y="1932000"/>
            <a:ext cx="1344000" cy="1"/>
          </a:xfrm>
          <a:custGeom>
            <a:avLst/>
            <a:gdLst/>
            <a:ahLst/>
            <a:cxnLst/>
            <a:rect l="0" t="0" r="r" b="b"/>
            <a:pathLst>
              <a:path w="1344000" h="1">
                <a:moveTo>
                  <a:pt x="0" y="0"/>
                </a:moveTo>
                <a:lnTo>
                  <a:pt x="134400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5314400" y="190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写使能 / 写数据"/>
          <p:cNvSpPr txBox="1"/>
          <p:nvPr/>
        </p:nvSpPr>
        <p:spPr>
          <a:xfrm>
            <a:off x="4172000" y="1658496"/>
            <a:ext cx="104574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写使能 / 写数据</a:t>
            </a:r>
          </a:p>
        </p:txBody>
      </p:sp>
      <p:sp>
        <p:nvSpPr>
          <p:cNvPr id="25" name="rect-024"/>
          <p:cNvSpPr/>
          <p:nvPr/>
        </p:nvSpPr>
        <p:spPr>
          <a:xfrm>
            <a:off x="8232000" y="1596000"/>
            <a:ext cx="1624000" cy="232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IP 工作逻辑"/>
          <p:cNvSpPr txBox="1"/>
          <p:nvPr/>
        </p:nvSpPr>
        <p:spPr>
          <a:xfrm>
            <a:off x="8632794" y="1674848"/>
            <a:ext cx="8224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27" name="text-026: 接受命令"/>
          <p:cNvSpPr txBox="1"/>
          <p:nvPr/>
        </p:nvSpPr>
        <p:spPr>
          <a:xfrm>
            <a:off x="8708000" y="2122848"/>
            <a:ext cx="6720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28" name="text-027: 计算 / 搬运 / 接收"/>
          <p:cNvSpPr txBox="1"/>
          <p:nvPr/>
        </p:nvSpPr>
        <p:spPr>
          <a:xfrm>
            <a:off x="8423188" y="2402848"/>
            <a:ext cx="12416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29" name="text-028: 维护 busy / done / error"/>
          <p:cNvSpPr txBox="1"/>
          <p:nvPr/>
        </p:nvSpPr>
        <p:spPr>
          <a:xfrm>
            <a:off x="8254531" y="2878848"/>
            <a:ext cx="15789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30" name="text-029: 数据口另接 AXI / 流接口"/>
          <p:cNvSpPr txBox="1"/>
          <p:nvPr/>
        </p:nvSpPr>
        <p:spPr>
          <a:xfrm>
            <a:off x="8252562" y="3354848"/>
            <a:ext cx="15828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31" name="polyline-030"/>
          <p:cNvSpPr/>
          <p:nvPr/>
        </p:nvSpPr>
        <p:spPr>
          <a:xfrm>
            <a:off x="7392000" y="1932000"/>
            <a:ext cx="840000" cy="1"/>
          </a:xfrm>
          <a:custGeom>
            <a:avLst/>
            <a:gdLst/>
            <a:ahLst/>
            <a:cxnLst/>
            <a:rect l="0" t="0" r="r" b="b"/>
            <a:pathLst>
              <a:path w="840000" h="1">
                <a:moveTo>
                  <a:pt x="0" y="0"/>
                </a:moveTo>
                <a:lnTo>
                  <a:pt x="84000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8170400" y="190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配置 / 启动"/>
          <p:cNvSpPr txBox="1"/>
          <p:nvPr/>
        </p:nvSpPr>
        <p:spPr>
          <a:xfrm>
            <a:off x="7504000" y="1680896"/>
            <a:ext cx="78814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配置 / 启动</a:t>
            </a:r>
          </a:p>
        </p:txBody>
      </p:sp>
      <p:sp>
        <p:nvSpPr>
          <p:cNvPr id="34" name="rect-033"/>
          <p:cNvSpPr/>
          <p:nvPr/>
        </p:nvSpPr>
        <p:spPr>
          <a:xfrm>
            <a:off x="6048000" y="3528000"/>
            <a:ext cx="1512000" cy="616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状态 / 中断状态"/>
          <p:cNvSpPr txBox="1"/>
          <p:nvPr/>
        </p:nvSpPr>
        <p:spPr>
          <a:xfrm>
            <a:off x="6258394" y="3573248"/>
            <a:ext cx="10912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状态 / 中断状态</a:t>
            </a:r>
          </a:p>
        </p:txBody>
      </p:sp>
      <p:sp>
        <p:nvSpPr>
          <p:cNvPr id="36" name="text-035: busy / done / error"/>
          <p:cNvSpPr txBox="1"/>
          <p:nvPr/>
        </p:nvSpPr>
        <p:spPr>
          <a:xfrm>
            <a:off x="6169078" y="3752448"/>
            <a:ext cx="12698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busy / done / error</a:t>
            </a:r>
          </a:p>
        </p:txBody>
      </p:sp>
      <p:sp>
        <p:nvSpPr>
          <p:cNvPr id="37" name="text-036: 建议写 1 清除事件位"/>
          <p:cNvSpPr txBox="1"/>
          <p:nvPr/>
        </p:nvSpPr>
        <p:spPr>
          <a:xfrm>
            <a:off x="6118612" y="3931648"/>
            <a:ext cx="13707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建议写 1 清除事件位</a:t>
            </a:r>
          </a:p>
        </p:txBody>
      </p:sp>
      <p:sp>
        <p:nvSpPr>
          <p:cNvPr id="38" name="polyline-037"/>
          <p:cNvSpPr/>
          <p:nvPr/>
        </p:nvSpPr>
        <p:spPr>
          <a:xfrm>
            <a:off x="7560000" y="3808000"/>
            <a:ext cx="672000" cy="1"/>
          </a:xfrm>
          <a:custGeom>
            <a:avLst/>
            <a:gdLst/>
            <a:ahLst/>
            <a:cxnLst/>
            <a:rect l="0" t="0" r="r" b="b"/>
            <a:pathLst>
              <a:path w="672000" h="1">
                <a:moveTo>
                  <a:pt x="672000" y="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lygon-038"/>
          <p:cNvSpPr/>
          <p:nvPr/>
        </p:nvSpPr>
        <p:spPr>
          <a:xfrm>
            <a:off x="7560000" y="3782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状态"/>
          <p:cNvSpPr txBox="1"/>
          <p:nvPr/>
        </p:nvSpPr>
        <p:spPr>
          <a:xfrm>
            <a:off x="7784000" y="3523296"/>
            <a:ext cx="38640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状态</a:t>
            </a:r>
          </a:p>
        </p:txBody>
      </p:sp>
      <p:sp>
        <p:nvSpPr>
          <p:cNvPr id="41" name="rect-040"/>
          <p:cNvSpPr/>
          <p:nvPr/>
        </p:nvSpPr>
        <p:spPr>
          <a:xfrm>
            <a:off x="2744000" y="3248000"/>
            <a:ext cx="1960000" cy="952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读数据选择与访问响应"/>
          <p:cNvSpPr txBox="1"/>
          <p:nvPr/>
        </p:nvSpPr>
        <p:spPr>
          <a:xfrm>
            <a:off x="2984800" y="3293248"/>
            <a:ext cx="14784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读数据选择与访问响应</a:t>
            </a:r>
          </a:p>
        </p:txBody>
      </p:sp>
      <p:sp>
        <p:nvSpPr>
          <p:cNvPr id="43" name="text-042: rdata = 选中寄存器值"/>
          <p:cNvSpPr txBox="1"/>
          <p:nvPr/>
        </p:nvSpPr>
        <p:spPr>
          <a:xfrm>
            <a:off x="3021419" y="3472448"/>
            <a:ext cx="14051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rdata = 选中寄存器值</a:t>
            </a:r>
          </a:p>
        </p:txBody>
      </p:sp>
      <p:sp>
        <p:nvSpPr>
          <p:cNvPr id="44" name="text-043: ready = 本次访问可完成"/>
          <p:cNvSpPr txBox="1"/>
          <p:nvPr/>
        </p:nvSpPr>
        <p:spPr>
          <a:xfrm>
            <a:off x="2947459" y="3651648"/>
            <a:ext cx="15530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ready = 本次访问可完成</a:t>
            </a:r>
          </a:p>
        </p:txBody>
      </p:sp>
      <p:sp>
        <p:nvSpPr>
          <p:cNvPr id="45" name="text-044: error = 地址 / 权限等错误"/>
          <p:cNvSpPr txBox="1"/>
          <p:nvPr/>
        </p:nvSpPr>
        <p:spPr>
          <a:xfrm>
            <a:off x="2893778" y="3830848"/>
            <a:ext cx="16604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error = 地址 / 权限等错误</a:t>
            </a:r>
          </a:p>
        </p:txBody>
      </p:sp>
      <p:sp>
        <p:nvSpPr>
          <p:cNvPr id="46" name="polyline-045"/>
          <p:cNvSpPr/>
          <p:nvPr/>
        </p:nvSpPr>
        <p:spPr>
          <a:xfrm>
            <a:off x="3192000" y="2520000"/>
            <a:ext cx="1" cy="728000"/>
          </a:xfrm>
          <a:custGeom>
            <a:avLst/>
            <a:gdLst/>
            <a:ahLst/>
            <a:cxnLst/>
            <a:rect l="0" t="0" r="r" b="b"/>
            <a:pathLst>
              <a:path w="1" h="728000">
                <a:moveTo>
                  <a:pt x="0" y="0"/>
                </a:moveTo>
                <a:lnTo>
                  <a:pt x="0" y="72800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gon-046"/>
          <p:cNvSpPr/>
          <p:nvPr/>
        </p:nvSpPr>
        <p:spPr>
          <a:xfrm>
            <a:off x="3166800" y="31864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61600"/>
                </a:moveTo>
                <a:lnTo>
                  <a:pt x="5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offset / 访问属性"/>
          <p:cNvSpPr txBox="1"/>
          <p:nvPr/>
        </p:nvSpPr>
        <p:spPr>
          <a:xfrm>
            <a:off x="3326400" y="2772896"/>
            <a:ext cx="111229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offset / 访问属性</a:t>
            </a:r>
          </a:p>
        </p:txBody>
      </p:sp>
      <p:sp>
        <p:nvSpPr>
          <p:cNvPr id="49" name="polyline-048"/>
          <p:cNvSpPr/>
          <p:nvPr/>
        </p:nvSpPr>
        <p:spPr>
          <a:xfrm>
            <a:off x="4704000" y="2268000"/>
            <a:ext cx="1568000" cy="1232000"/>
          </a:xfrm>
          <a:custGeom>
            <a:avLst/>
            <a:gdLst/>
            <a:ahLst/>
            <a:cxnLst/>
            <a:rect l="0" t="0" r="r" b="b"/>
            <a:pathLst>
              <a:path w="1568000" h="1232000">
                <a:moveTo>
                  <a:pt x="1568000" y="0"/>
                </a:moveTo>
                <a:lnTo>
                  <a:pt x="1568000" y="448000"/>
                </a:lnTo>
                <a:lnTo>
                  <a:pt x="336000" y="448000"/>
                </a:lnTo>
                <a:lnTo>
                  <a:pt x="336000" y="1232000"/>
                </a:lnTo>
                <a:lnTo>
                  <a:pt x="0" y="123200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4704000" y="3474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配置回读"/>
          <p:cNvSpPr txBox="1"/>
          <p:nvPr/>
        </p:nvSpPr>
        <p:spPr>
          <a:xfrm>
            <a:off x="5320000" y="2476096"/>
            <a:ext cx="64400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配置回读</a:t>
            </a:r>
          </a:p>
        </p:txBody>
      </p:sp>
      <p:sp>
        <p:nvSpPr>
          <p:cNvPr id="52" name="polyline-051"/>
          <p:cNvSpPr/>
          <p:nvPr/>
        </p:nvSpPr>
        <p:spPr>
          <a:xfrm>
            <a:off x="4704000" y="3864000"/>
            <a:ext cx="1344000" cy="1"/>
          </a:xfrm>
          <a:custGeom>
            <a:avLst/>
            <a:gdLst/>
            <a:ahLst/>
            <a:cxnLst/>
            <a:rect l="0" t="0" r="r" b="b"/>
            <a:pathLst>
              <a:path w="1344000" h="1">
                <a:moveTo>
                  <a:pt x="1344000" y="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4704000" y="383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状态回读"/>
          <p:cNvSpPr txBox="1"/>
          <p:nvPr/>
        </p:nvSpPr>
        <p:spPr>
          <a:xfrm>
            <a:off x="5045600" y="3618496"/>
            <a:ext cx="64400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状态回读</a:t>
            </a:r>
          </a:p>
        </p:txBody>
      </p:sp>
      <p:sp>
        <p:nvSpPr>
          <p:cNvPr id="55" name="polyline-054"/>
          <p:cNvSpPr/>
          <p:nvPr/>
        </p:nvSpPr>
        <p:spPr>
          <a:xfrm>
            <a:off x="6804000" y="4144000"/>
            <a:ext cx="1" cy="207200"/>
          </a:xfrm>
          <a:custGeom>
            <a:avLst/>
            <a:gdLst/>
            <a:ahLst/>
            <a:cxnLst/>
            <a:rect l="0" t="0" r="r" b="b"/>
            <a:pathLst>
              <a:path w="1" h="207200">
                <a:moveTo>
                  <a:pt x="0" y="20720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-055"/>
          <p:cNvSpPr/>
          <p:nvPr/>
        </p:nvSpPr>
        <p:spPr>
          <a:xfrm>
            <a:off x="6778800" y="41440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0"/>
                </a:moveTo>
                <a:lnTo>
                  <a:pt x="0" y="61600"/>
                </a:lnTo>
                <a:lnTo>
                  <a:pt x="50400" y="6160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合法 W1C 写生成清除使能"/>
          <p:cNvSpPr txBox="1"/>
          <p:nvPr/>
        </p:nvSpPr>
        <p:spPr>
          <a:xfrm>
            <a:off x="5992000" y="4352096"/>
            <a:ext cx="1627736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合法 W1C 写生成清除使能</a:t>
            </a:r>
          </a:p>
        </p:txBody>
      </p:sp>
      <p:sp>
        <p:nvSpPr>
          <p:cNvPr id="58" name="polyline-057"/>
          <p:cNvSpPr/>
          <p:nvPr/>
        </p:nvSpPr>
        <p:spPr>
          <a:xfrm>
            <a:off x="252000" y="3696000"/>
            <a:ext cx="2492000" cy="1"/>
          </a:xfrm>
          <a:custGeom>
            <a:avLst/>
            <a:gdLst/>
            <a:ahLst/>
            <a:cxnLst/>
            <a:rect l="0" t="0" r="r" b="b"/>
            <a:pathLst>
              <a:path w="2492000" h="1">
                <a:moveTo>
                  <a:pt x="2492000" y="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-058"/>
          <p:cNvSpPr/>
          <p:nvPr/>
        </p:nvSpPr>
        <p:spPr>
          <a:xfrm>
            <a:off x="252000" y="367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reg_ext_slv_rsp_i[k]"/>
          <p:cNvSpPr txBox="1"/>
          <p:nvPr/>
        </p:nvSpPr>
        <p:spPr>
          <a:xfrm>
            <a:off x="196000" y="3237248"/>
            <a:ext cx="12863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61" name="text-060: rdata / error / ready"/>
          <p:cNvSpPr txBox="1"/>
          <p:nvPr/>
        </p:nvSpPr>
        <p:spPr>
          <a:xfrm>
            <a:off x="196000" y="3433248"/>
            <a:ext cx="13287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62" name="text-061: 短寄存器访问及时应答；长任务用 busy / done 或中断报告，不让 rea"/>
          <p:cNvSpPr txBox="1"/>
          <p:nvPr/>
        </p:nvSpPr>
        <p:spPr>
          <a:xfrm>
            <a:off x="224000" y="4710048"/>
            <a:ext cx="56244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短寄存器访问及时应答；长任务用 busy / done 或中断报告，不让 ready 一直等到任务完成。</a:t>
            </a:r>
          </a:p>
        </p:txBody>
      </p:sp>
      <p:sp>
        <p:nvSpPr>
          <p:cNvPr id="63" name="text-062: 中断另接 SoC 中断输入；跨时钟时，事务或配置/状态传递必须有明确的 CDC "/>
          <p:cNvSpPr txBox="1"/>
          <p:nvPr/>
        </p:nvSpPr>
        <p:spPr>
          <a:xfrm>
            <a:off x="224000" y="4973248"/>
            <a:ext cx="55632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中断另接 SoC 中断输入；跨时钟时，事务或配置/状态传递必须有明确的 CDC 与复位方案。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1  UART：寄存器访问与独立收发通路"/>
          <p:cNvSpPr txBox="1"/>
          <p:nvPr/>
        </p:nvSpPr>
        <p:spPr>
          <a:xfrm>
            <a:off x="224000" y="80864"/>
            <a:ext cx="324660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01  UART：寄存器访问与独立收发通路</a:t>
            </a:r>
          </a:p>
        </p:txBody>
      </p:sp>
      <p:sp>
        <p:nvSpPr>
          <p:cNvPr id="4" name="text-003: apb_uart 内部展开：CLK = clk_i；收发节拍由波特率计数器产生"/>
          <p:cNvSpPr txBox="1"/>
          <p:nvPr/>
        </p:nvSpPr>
        <p:spPr>
          <a:xfrm>
            <a:off x="2324000" y="644896"/>
            <a:ext cx="373898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apb_uart 内部展开：CLK = clk_i；收发节拍由波特率计数器产生</a:t>
            </a:r>
          </a:p>
        </p:txBody>
      </p:sp>
      <p:sp>
        <p:nvSpPr>
          <p:cNvPr id="5" name="rect-004"/>
          <p:cNvSpPr/>
          <p:nvPr/>
        </p:nvSpPr>
        <p:spPr>
          <a:xfrm>
            <a:off x="224000" y="2016000"/>
            <a:ext cx="1596000" cy="756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5: 1  reg_uart_wrap"/>
          <p:cNvSpPr txBox="1"/>
          <p:nvPr/>
        </p:nvSpPr>
        <p:spPr>
          <a:xfrm>
            <a:off x="462153" y="2114448"/>
            <a:ext cx="11196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reg_uart_wrap</a:t>
            </a:r>
          </a:p>
        </p:txBody>
      </p:sp>
      <p:sp>
        <p:nvSpPr>
          <p:cNvPr id="7" name="text-006: reg_to_apb"/>
          <p:cNvSpPr txBox="1"/>
          <p:nvPr/>
        </p:nvSpPr>
        <p:spPr>
          <a:xfrm>
            <a:off x="662629" y="2305744"/>
            <a:ext cx="718743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reg_to_apb</a:t>
            </a:r>
          </a:p>
        </p:txBody>
      </p:sp>
      <p:sp>
        <p:nvSpPr>
          <p:cNvPr id="8" name="text-007: Regbus 32 → APB 32"/>
          <p:cNvSpPr txBox="1"/>
          <p:nvPr/>
        </p:nvSpPr>
        <p:spPr>
          <a:xfrm>
            <a:off x="369534" y="2484944"/>
            <a:ext cx="130493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→ APB 32</a:t>
            </a:r>
          </a:p>
        </p:txBody>
      </p:sp>
      <p:sp>
        <p:nvSpPr>
          <p:cNvPr id="9" name="text-008: Regbus 请求 / 响应"/>
          <p:cNvSpPr txBox="1"/>
          <p:nvPr/>
        </p:nvSpPr>
        <p:spPr>
          <a:xfrm>
            <a:off x="252000" y="1646848"/>
            <a:ext cx="13002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10" name="rect-009"/>
          <p:cNvSpPr/>
          <p:nvPr/>
        </p:nvSpPr>
        <p:spPr>
          <a:xfrm>
            <a:off x="2380000" y="2016000"/>
            <a:ext cx="1624000" cy="868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0: 2  APB 地址译码"/>
          <p:cNvSpPr txBox="1"/>
          <p:nvPr/>
        </p:nvSpPr>
        <p:spPr>
          <a:xfrm>
            <a:off x="2638453" y="2080848"/>
            <a:ext cx="11070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APB 地址译码</a:t>
            </a:r>
          </a:p>
        </p:txBody>
      </p:sp>
      <p:sp>
        <p:nvSpPr>
          <p:cNvPr id="12" name="text-011: PADDR = addr[4:2]"/>
          <p:cNvSpPr txBox="1"/>
          <p:nvPr/>
        </p:nvSpPr>
        <p:spPr>
          <a:xfrm>
            <a:off x="2619671" y="2272144"/>
            <a:ext cx="114465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PADDR = addr[4:2]</a:t>
            </a:r>
          </a:p>
        </p:txBody>
      </p:sp>
      <p:sp>
        <p:nvSpPr>
          <p:cNvPr id="13" name="text-012: DLAB / THR / RBR"/>
          <p:cNvSpPr txBox="1"/>
          <p:nvPr/>
        </p:nvSpPr>
        <p:spPr>
          <a:xfrm>
            <a:off x="2624541" y="2451344"/>
            <a:ext cx="113491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DLAB / THR / RBR</a:t>
            </a:r>
          </a:p>
        </p:txBody>
      </p:sp>
      <p:sp>
        <p:nvSpPr>
          <p:cNvPr id="14" name="text-013: IER / IIR / LSR …"/>
          <p:cNvSpPr txBox="1"/>
          <p:nvPr/>
        </p:nvSpPr>
        <p:spPr>
          <a:xfrm>
            <a:off x="2646612" y="2630544"/>
            <a:ext cx="109077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IER / IIR / LSR …</a:t>
            </a:r>
          </a:p>
        </p:txBody>
      </p:sp>
      <p:sp>
        <p:nvSpPr>
          <p:cNvPr id="15" name="polyline-014"/>
          <p:cNvSpPr/>
          <p:nvPr/>
        </p:nvSpPr>
        <p:spPr>
          <a:xfrm>
            <a:off x="1820000" y="2380000"/>
            <a:ext cx="560000" cy="1"/>
          </a:xfrm>
          <a:custGeom>
            <a:avLst/>
            <a:gdLst/>
            <a:ahLst/>
            <a:cxnLst/>
            <a:rect l="0" t="0" r="r" b="b"/>
            <a:pathLst>
              <a:path w="560000" h="1">
                <a:moveTo>
                  <a:pt x="0" y="0"/>
                </a:moveTo>
                <a:lnTo>
                  <a:pt x="56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312800" y="23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820000" y="23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7"/>
          <p:cNvSpPr/>
          <p:nvPr/>
        </p:nvSpPr>
        <p:spPr>
          <a:xfrm>
            <a:off x="4424000" y="1036000"/>
            <a:ext cx="1736000" cy="672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3  uart_baudgen"/>
          <p:cNvSpPr txBox="1"/>
          <p:nvPr/>
        </p:nvSpPr>
        <p:spPr>
          <a:xfrm>
            <a:off x="4744294" y="1182048"/>
            <a:ext cx="10954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uart_baudgen</a:t>
            </a:r>
          </a:p>
        </p:txBody>
      </p:sp>
      <p:sp>
        <p:nvSpPr>
          <p:cNvPr id="20" name="text-019: DLL / DLM → baud ticks"/>
          <p:cNvSpPr txBox="1"/>
          <p:nvPr/>
        </p:nvSpPr>
        <p:spPr>
          <a:xfrm>
            <a:off x="4560811" y="1373344"/>
            <a:ext cx="146237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DLL / DLM → baud ticks</a:t>
            </a:r>
          </a:p>
        </p:txBody>
      </p:sp>
      <p:sp>
        <p:nvSpPr>
          <p:cNvPr id="21" name="polyline-020"/>
          <p:cNvSpPr/>
          <p:nvPr/>
        </p:nvSpPr>
        <p:spPr>
          <a:xfrm>
            <a:off x="3192000" y="1372000"/>
            <a:ext cx="1232000" cy="644000"/>
          </a:xfrm>
          <a:custGeom>
            <a:avLst/>
            <a:gdLst/>
            <a:ahLst/>
            <a:cxnLst/>
            <a:rect l="0" t="0" r="r" b="b"/>
            <a:pathLst>
              <a:path w="1232000" h="644000">
                <a:moveTo>
                  <a:pt x="0" y="644000"/>
                </a:moveTo>
                <a:lnTo>
                  <a:pt x="0" y="0"/>
                </a:lnTo>
                <a:lnTo>
                  <a:pt x="1232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4356800" y="13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4424000" y="2184000"/>
            <a:ext cx="1512000" cy="67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line-023"/>
          <p:cNvCxnSpPr/>
          <p:nvPr/>
        </p:nvCxnSpPr>
        <p:spPr>
          <a:xfrm>
            <a:off x="4491200" y="2184000"/>
            <a:ext cx="0" cy="672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25" name="text-024: 4  TX FIFO"/>
          <p:cNvSpPr txBox="1"/>
          <p:nvPr/>
        </p:nvSpPr>
        <p:spPr>
          <a:xfrm>
            <a:off x="4816044" y="2330048"/>
            <a:ext cx="7279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TX FIFO</a:t>
            </a:r>
          </a:p>
        </p:txBody>
      </p:sp>
      <p:sp>
        <p:nvSpPr>
          <p:cNvPr id="26" name="text-025: slib_fifo：字节队列"/>
          <p:cNvSpPr txBox="1"/>
          <p:nvPr/>
        </p:nvSpPr>
        <p:spPr>
          <a:xfrm>
            <a:off x="4600032" y="2521344"/>
            <a:ext cx="115993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slib_fifo：字节队列</a:t>
            </a:r>
          </a:p>
        </p:txBody>
      </p:sp>
      <p:sp>
        <p:nvSpPr>
          <p:cNvPr id="27" name="rect-026"/>
          <p:cNvSpPr/>
          <p:nvPr/>
        </p:nvSpPr>
        <p:spPr>
          <a:xfrm>
            <a:off x="6608000" y="2184000"/>
            <a:ext cx="1848000" cy="672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5  uart_transmitter"/>
          <p:cNvSpPr txBox="1"/>
          <p:nvPr/>
        </p:nvSpPr>
        <p:spPr>
          <a:xfrm>
            <a:off x="6913222" y="2330048"/>
            <a:ext cx="12375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uart_transmitter</a:t>
            </a:r>
          </a:p>
        </p:txBody>
      </p:sp>
      <p:sp>
        <p:nvSpPr>
          <p:cNvPr id="29" name="text-028: 起始 / 数据 / 校验 / 停止"/>
          <p:cNvSpPr txBox="1"/>
          <p:nvPr/>
        </p:nvSpPr>
        <p:spPr>
          <a:xfrm>
            <a:off x="6770789" y="2521344"/>
            <a:ext cx="152242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起始 / 数据 / 校验 / 停止</a:t>
            </a:r>
          </a:p>
        </p:txBody>
      </p:sp>
      <p:sp>
        <p:nvSpPr>
          <p:cNvPr id="30" name="polyline-029"/>
          <p:cNvSpPr/>
          <p:nvPr/>
        </p:nvSpPr>
        <p:spPr>
          <a:xfrm>
            <a:off x="4004000" y="2520000"/>
            <a:ext cx="420000" cy="1"/>
          </a:xfrm>
          <a:custGeom>
            <a:avLst/>
            <a:gdLst/>
            <a:ahLst/>
            <a:cxnLst/>
            <a:rect l="0" t="0" r="r" b="b"/>
            <a:pathLst>
              <a:path w="420000" h="1">
                <a:moveTo>
                  <a:pt x="0" y="0"/>
                </a:moveTo>
                <a:lnTo>
                  <a:pt x="42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4356800" y="249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1"/>
          <p:cNvSpPr/>
          <p:nvPr/>
        </p:nvSpPr>
        <p:spPr>
          <a:xfrm>
            <a:off x="5936000" y="2520000"/>
            <a:ext cx="672000" cy="1"/>
          </a:xfrm>
          <a:custGeom>
            <a:avLst/>
            <a:gdLst/>
            <a:ahLst/>
            <a:cxnLst/>
            <a:rect l="0" t="0" r="r" b="b"/>
            <a:pathLst>
              <a:path w="672000" h="1">
                <a:moveTo>
                  <a:pt x="0" y="0"/>
                </a:moveTo>
                <a:lnTo>
                  <a:pt x="67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6540800" y="249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3"/>
          <p:cNvSpPr/>
          <p:nvPr/>
        </p:nvSpPr>
        <p:spPr>
          <a:xfrm>
            <a:off x="8456000" y="2520000"/>
            <a:ext cx="1232000" cy="1"/>
          </a:xfrm>
          <a:custGeom>
            <a:avLst/>
            <a:gdLst/>
            <a:ahLst/>
            <a:cxnLst/>
            <a:rect l="0" t="0" r="r" b="b"/>
            <a:pathLst>
              <a:path w="1232000" h="1">
                <a:moveTo>
                  <a:pt x="0" y="0"/>
                </a:moveTo>
                <a:lnTo>
                  <a:pt x="12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9620800" y="249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TX → 引脚"/>
          <p:cNvSpPr txBox="1"/>
          <p:nvPr/>
        </p:nvSpPr>
        <p:spPr>
          <a:xfrm>
            <a:off x="8792000" y="2235296"/>
            <a:ext cx="726259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→ 引脚</a:t>
            </a:r>
          </a:p>
        </p:txBody>
      </p:sp>
      <p:sp>
        <p:nvSpPr>
          <p:cNvPr id="37" name="rect-036"/>
          <p:cNvSpPr/>
          <p:nvPr/>
        </p:nvSpPr>
        <p:spPr>
          <a:xfrm>
            <a:off x="4424000" y="3640000"/>
            <a:ext cx="1512000" cy="67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line-037"/>
          <p:cNvCxnSpPr/>
          <p:nvPr/>
        </p:nvCxnSpPr>
        <p:spPr>
          <a:xfrm>
            <a:off x="4491200" y="3640000"/>
            <a:ext cx="0" cy="672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9" name="text-038: 7  RX FIFO"/>
          <p:cNvSpPr txBox="1"/>
          <p:nvPr/>
        </p:nvSpPr>
        <p:spPr>
          <a:xfrm>
            <a:off x="4808038" y="3786048"/>
            <a:ext cx="7439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RX FIFO</a:t>
            </a:r>
          </a:p>
        </p:txBody>
      </p:sp>
      <p:sp>
        <p:nvSpPr>
          <p:cNvPr id="40" name="text-039: 字节 + 接收错误位"/>
          <p:cNvSpPr txBox="1"/>
          <p:nvPr/>
        </p:nvSpPr>
        <p:spPr>
          <a:xfrm>
            <a:off x="4613328" y="3977344"/>
            <a:ext cx="113334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 + 接收错误位</a:t>
            </a:r>
          </a:p>
        </p:txBody>
      </p:sp>
      <p:sp>
        <p:nvSpPr>
          <p:cNvPr id="41" name="rect-040"/>
          <p:cNvSpPr/>
          <p:nvPr/>
        </p:nvSpPr>
        <p:spPr>
          <a:xfrm>
            <a:off x="6608000" y="3640000"/>
            <a:ext cx="1848000" cy="672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6  uart_receiver"/>
          <p:cNvSpPr txBox="1"/>
          <p:nvPr/>
        </p:nvSpPr>
        <p:spPr>
          <a:xfrm>
            <a:off x="7005819" y="3786048"/>
            <a:ext cx="10523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uart_receiver</a:t>
            </a:r>
          </a:p>
        </p:txBody>
      </p:sp>
      <p:sp>
        <p:nvSpPr>
          <p:cNvPr id="43" name="text-042: 采样 / 组字节 / 校验"/>
          <p:cNvSpPr txBox="1"/>
          <p:nvPr/>
        </p:nvSpPr>
        <p:spPr>
          <a:xfrm>
            <a:off x="6901326" y="3977344"/>
            <a:ext cx="126134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 / 组字节 / 校验</a:t>
            </a:r>
          </a:p>
        </p:txBody>
      </p:sp>
      <p:sp>
        <p:nvSpPr>
          <p:cNvPr id="44" name="polyline-043"/>
          <p:cNvSpPr/>
          <p:nvPr/>
        </p:nvSpPr>
        <p:spPr>
          <a:xfrm>
            <a:off x="8456000" y="3976000"/>
            <a:ext cx="1232000" cy="1"/>
          </a:xfrm>
          <a:custGeom>
            <a:avLst/>
            <a:gdLst/>
            <a:ahLst/>
            <a:cxnLst/>
            <a:rect l="0" t="0" r="r" b="b"/>
            <a:pathLst>
              <a:path w="1232000" h="1">
                <a:moveTo>
                  <a:pt x="1232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gon-044"/>
          <p:cNvSpPr/>
          <p:nvPr/>
        </p:nvSpPr>
        <p:spPr>
          <a:xfrm>
            <a:off x="8456000" y="394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RX ← 引脚"/>
          <p:cNvSpPr txBox="1"/>
          <p:nvPr/>
        </p:nvSpPr>
        <p:spPr>
          <a:xfrm>
            <a:off x="8792000" y="3691296"/>
            <a:ext cx="741606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RX ← 引脚</a:t>
            </a:r>
          </a:p>
        </p:txBody>
      </p:sp>
      <p:sp>
        <p:nvSpPr>
          <p:cNvPr id="47" name="polyline-046"/>
          <p:cNvSpPr/>
          <p:nvPr/>
        </p:nvSpPr>
        <p:spPr>
          <a:xfrm>
            <a:off x="5936000" y="3976000"/>
            <a:ext cx="672000" cy="1"/>
          </a:xfrm>
          <a:custGeom>
            <a:avLst/>
            <a:gdLst/>
            <a:ahLst/>
            <a:cxnLst/>
            <a:rect l="0" t="0" r="r" b="b"/>
            <a:pathLst>
              <a:path w="672000" h="1">
                <a:moveTo>
                  <a:pt x="672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-047"/>
          <p:cNvSpPr/>
          <p:nvPr/>
        </p:nvSpPr>
        <p:spPr>
          <a:xfrm>
            <a:off x="5936000" y="394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3220000" y="2884000"/>
            <a:ext cx="1204000" cy="1092000"/>
          </a:xfrm>
          <a:custGeom>
            <a:avLst/>
            <a:gdLst/>
            <a:ahLst/>
            <a:cxnLst/>
            <a:rect l="0" t="0" r="r" b="b"/>
            <a:pathLst>
              <a:path w="1204000" h="1092000">
                <a:moveTo>
                  <a:pt x="1204000" y="1092000"/>
                </a:moveTo>
                <a:lnTo>
                  <a:pt x="0" y="1092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3192000" y="288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RBR 读出队头"/>
          <p:cNvSpPr txBox="1"/>
          <p:nvPr/>
        </p:nvSpPr>
        <p:spPr>
          <a:xfrm>
            <a:off x="3337600" y="3383744"/>
            <a:ext cx="88178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RBR 读出队头</a:t>
            </a:r>
          </a:p>
        </p:txBody>
      </p:sp>
      <p:sp>
        <p:nvSpPr>
          <p:cNvPr id="52" name="polyline-051"/>
          <p:cNvSpPr/>
          <p:nvPr/>
        </p:nvSpPr>
        <p:spPr>
          <a:xfrm>
            <a:off x="6160000" y="1372000"/>
            <a:ext cx="1400000" cy="812000"/>
          </a:xfrm>
          <a:custGeom>
            <a:avLst/>
            <a:gdLst/>
            <a:ahLst/>
            <a:cxnLst/>
            <a:rect l="0" t="0" r="r" b="b"/>
            <a:pathLst>
              <a:path w="1400000" h="812000">
                <a:moveTo>
                  <a:pt x="0" y="0"/>
                </a:moveTo>
                <a:lnTo>
                  <a:pt x="1400000" y="0"/>
                </a:lnTo>
                <a:lnTo>
                  <a:pt x="1400000" y="812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7532000" y="211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7560000" y="1372000"/>
            <a:ext cx="2240000" cy="2268000"/>
          </a:xfrm>
          <a:custGeom>
            <a:avLst/>
            <a:gdLst/>
            <a:ahLst/>
            <a:cxnLst/>
            <a:rect l="0" t="0" r="r" b="b"/>
            <a:pathLst>
              <a:path w="2240000" h="2268000">
                <a:moveTo>
                  <a:pt x="0" y="0"/>
                </a:moveTo>
                <a:lnTo>
                  <a:pt x="2240000" y="0"/>
                </a:lnTo>
                <a:lnTo>
                  <a:pt x="2240000" y="1960000"/>
                </a:lnTo>
                <a:lnTo>
                  <a:pt x="0" y="1960000"/>
                </a:lnTo>
                <a:lnTo>
                  <a:pt x="0" y="2268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-054"/>
          <p:cNvSpPr/>
          <p:nvPr/>
        </p:nvSpPr>
        <p:spPr>
          <a:xfrm>
            <a:off x="7532000" y="3572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ircle-055"/>
          <p:cNvSpPr/>
          <p:nvPr/>
        </p:nvSpPr>
        <p:spPr>
          <a:xfrm>
            <a:off x="7537600" y="1349600"/>
            <a:ext cx="44800" cy="44800"/>
          </a:xfrm>
          <a:prstGeom prst="ellipse">
            <a:avLst/>
          </a:pr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224000" y="3836000"/>
            <a:ext cx="1596000" cy="64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8  uart_interrupt"/>
          <p:cNvSpPr txBox="1"/>
          <p:nvPr/>
        </p:nvSpPr>
        <p:spPr>
          <a:xfrm>
            <a:off x="478428" y="3968048"/>
            <a:ext cx="10871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uart_interrupt</a:t>
            </a:r>
          </a:p>
        </p:txBody>
      </p:sp>
      <p:sp>
        <p:nvSpPr>
          <p:cNvPr id="59" name="text-058: 状态 / IER → INT"/>
          <p:cNvSpPr txBox="1"/>
          <p:nvPr/>
        </p:nvSpPr>
        <p:spPr>
          <a:xfrm>
            <a:off x="493706" y="4159344"/>
            <a:ext cx="105658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IER → INT</a:t>
            </a:r>
          </a:p>
        </p:txBody>
      </p:sp>
      <p:sp>
        <p:nvSpPr>
          <p:cNvPr id="60" name="polyline-059"/>
          <p:cNvSpPr/>
          <p:nvPr/>
        </p:nvSpPr>
        <p:spPr>
          <a:xfrm>
            <a:off x="1019200" y="4312000"/>
            <a:ext cx="3404800" cy="364000"/>
          </a:xfrm>
          <a:custGeom>
            <a:avLst/>
            <a:gdLst/>
            <a:ahLst/>
            <a:cxnLst/>
            <a:rect l="0" t="0" r="r" b="b"/>
            <a:pathLst>
              <a:path w="3404800" h="364000">
                <a:moveTo>
                  <a:pt x="3404800" y="0"/>
                </a:moveTo>
                <a:lnTo>
                  <a:pt x="3404800" y="364000"/>
                </a:lnTo>
                <a:lnTo>
                  <a:pt x="0" y="364000"/>
                </a:lnTo>
                <a:lnTo>
                  <a:pt x="0" y="16800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-060"/>
          <p:cNvSpPr/>
          <p:nvPr/>
        </p:nvSpPr>
        <p:spPr>
          <a:xfrm>
            <a:off x="991200" y="448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收发状态汇入中断逻辑"/>
          <p:cNvSpPr txBox="1"/>
          <p:nvPr/>
        </p:nvSpPr>
        <p:spPr>
          <a:xfrm>
            <a:off x="2044000" y="4453344"/>
            <a:ext cx="13552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收发状态汇入中断逻辑</a:t>
            </a:r>
          </a:p>
        </p:txBody>
      </p:sp>
      <p:sp>
        <p:nvSpPr>
          <p:cNvPr id="63" name="polyline-062"/>
          <p:cNvSpPr/>
          <p:nvPr/>
        </p:nvSpPr>
        <p:spPr>
          <a:xfrm>
            <a:off x="1820000" y="2744000"/>
            <a:ext cx="560000" cy="1400000"/>
          </a:xfrm>
          <a:custGeom>
            <a:avLst/>
            <a:gdLst/>
            <a:ahLst/>
            <a:cxnLst/>
            <a:rect l="0" t="0" r="r" b="b"/>
            <a:pathLst>
              <a:path w="560000" h="1400000">
                <a:moveTo>
                  <a:pt x="560000" y="0"/>
                </a:moveTo>
                <a:lnTo>
                  <a:pt x="252000" y="0"/>
                </a:lnTo>
                <a:lnTo>
                  <a:pt x="252000" y="1400000"/>
                </a:lnTo>
                <a:lnTo>
                  <a:pt x="0" y="140000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olygon-063"/>
          <p:cNvSpPr/>
          <p:nvPr/>
        </p:nvSpPr>
        <p:spPr>
          <a:xfrm>
            <a:off x="1820000" y="411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olyline-064"/>
          <p:cNvSpPr/>
          <p:nvPr/>
        </p:nvSpPr>
        <p:spPr>
          <a:xfrm>
            <a:off x="1019200" y="3248000"/>
            <a:ext cx="1" cy="588000"/>
          </a:xfrm>
          <a:custGeom>
            <a:avLst/>
            <a:gdLst/>
            <a:ahLst/>
            <a:cxnLst/>
            <a:rect l="0" t="0" r="r" b="b"/>
            <a:pathLst>
              <a:path w="1" h="588000">
                <a:moveTo>
                  <a:pt x="0" y="58800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olygon-065"/>
          <p:cNvSpPr/>
          <p:nvPr/>
        </p:nvSpPr>
        <p:spPr>
          <a:xfrm>
            <a:off x="991200" y="3248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6: IRQ → SoC 中断源"/>
          <p:cNvSpPr txBox="1"/>
          <p:nvPr/>
        </p:nvSpPr>
        <p:spPr>
          <a:xfrm>
            <a:off x="252000" y="2980544"/>
            <a:ext cx="113527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IRQ → SoC 中断源</a:t>
            </a:r>
          </a:p>
        </p:txBody>
      </p:sp>
      <p:sp>
        <p:nvSpPr>
          <p:cNvPr id="68" name="polyline-067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polygon-068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71" name="polyline-070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olygon-071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74" name="text-073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2  I²C：命令 FIFO 驱动总线时序，接收 FIFO 返回字节"/>
          <p:cNvSpPr txBox="1"/>
          <p:nvPr/>
        </p:nvSpPr>
        <p:spPr>
          <a:xfrm>
            <a:off x="224000" y="80864"/>
            <a:ext cx="447860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02  I²C：命令 FIFO 驱动总线时序，接收 FIFO 返回字节</a:t>
            </a:r>
          </a:p>
        </p:txBody>
      </p:sp>
      <p:sp>
        <p:nvSpPr>
          <p:cNvPr id="4" name="rect-003"/>
          <p:cNvSpPr/>
          <p:nvPr/>
        </p:nvSpPr>
        <p:spPr>
          <a:xfrm>
            <a:off x="2072000" y="728000"/>
            <a:ext cx="7784000" cy="4172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9DAABA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i2c_core：Host 与 Target 使用不同队列；当前整合使用 clk"/>
          <p:cNvSpPr txBox="1"/>
          <p:nvPr/>
        </p:nvSpPr>
        <p:spPr>
          <a:xfrm>
            <a:off x="2156000" y="756896"/>
            <a:ext cx="355572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i2c_core：Host 与 Target 使用不同队列；当前整合使用 clk_i</a:t>
            </a:r>
          </a:p>
        </p:txBody>
      </p:sp>
      <p:sp>
        <p:nvSpPr>
          <p:cNvPr id="6" name="rect-005"/>
          <p:cNvSpPr/>
          <p:nvPr/>
        </p:nvSpPr>
        <p:spPr>
          <a:xfrm>
            <a:off x="224000" y="1008000"/>
            <a:ext cx="1540000" cy="840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1  i2c_reg_top"/>
          <p:cNvSpPr txBox="1"/>
          <p:nvPr/>
        </p:nvSpPr>
        <p:spPr>
          <a:xfrm>
            <a:off x="505225" y="1058848"/>
            <a:ext cx="9775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i2c_reg_top</a:t>
            </a:r>
          </a:p>
        </p:txBody>
      </p:sp>
      <p:sp>
        <p:nvSpPr>
          <p:cNvPr id="8" name="text-007: CONTROL / TIMING"/>
          <p:cNvSpPr txBox="1"/>
          <p:nvPr/>
        </p:nvSpPr>
        <p:spPr>
          <a:xfrm>
            <a:off x="409281" y="1250144"/>
            <a:ext cx="116943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TIMING</a:t>
            </a:r>
          </a:p>
        </p:txBody>
      </p:sp>
      <p:sp>
        <p:nvSpPr>
          <p:cNvPr id="9" name="text-008: FDATA / RDATA"/>
          <p:cNvSpPr txBox="1"/>
          <p:nvPr/>
        </p:nvSpPr>
        <p:spPr>
          <a:xfrm>
            <a:off x="515095" y="1429344"/>
            <a:ext cx="95781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FDATA / RDATA</a:t>
            </a:r>
          </a:p>
        </p:txBody>
      </p:sp>
      <p:sp>
        <p:nvSpPr>
          <p:cNvPr id="10" name="text-009: INTR_STATE / ENABLE"/>
          <p:cNvSpPr txBox="1"/>
          <p:nvPr/>
        </p:nvSpPr>
        <p:spPr>
          <a:xfrm>
            <a:off x="325474" y="1608544"/>
            <a:ext cx="133705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INTR_STATE / ENABLE</a:t>
            </a:r>
          </a:p>
        </p:txBody>
      </p:sp>
      <p:sp>
        <p:nvSpPr>
          <p:cNvPr id="11" name="text-010: Regbus 32"/>
          <p:cNvSpPr txBox="1"/>
          <p:nvPr/>
        </p:nvSpPr>
        <p:spPr>
          <a:xfrm>
            <a:off x="224000" y="638848"/>
            <a:ext cx="7734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2" name="rect-011"/>
          <p:cNvSpPr/>
          <p:nvPr/>
        </p:nvSpPr>
        <p:spPr>
          <a:xfrm>
            <a:off x="2296000" y="1232000"/>
            <a:ext cx="1848000" cy="700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line-012"/>
          <p:cNvCxnSpPr/>
          <p:nvPr/>
        </p:nvCxnSpPr>
        <p:spPr>
          <a:xfrm>
            <a:off x="2363200" y="1232000"/>
            <a:ext cx="0" cy="700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14" name="text-013: 2  Host FMT FIFO"/>
          <p:cNvSpPr txBox="1"/>
          <p:nvPr/>
        </p:nvSpPr>
        <p:spPr>
          <a:xfrm>
            <a:off x="2647947" y="1302448"/>
            <a:ext cx="11441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Host FMT FIFO</a:t>
            </a:r>
          </a:p>
        </p:txBody>
      </p:sp>
      <p:sp>
        <p:nvSpPr>
          <p:cNvPr id="15" name="text-014: 8-bit 字节 + 5-bit 标志"/>
          <p:cNvSpPr txBox="1"/>
          <p:nvPr/>
        </p:nvSpPr>
        <p:spPr>
          <a:xfrm>
            <a:off x="2555153" y="1493744"/>
            <a:ext cx="132969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8-bit 字节 + 5-bit 标志</a:t>
            </a:r>
          </a:p>
        </p:txBody>
      </p:sp>
      <p:sp>
        <p:nvSpPr>
          <p:cNvPr id="16" name="text-015: START / STOP / READ …"/>
          <p:cNvSpPr txBox="1"/>
          <p:nvPr/>
        </p:nvSpPr>
        <p:spPr>
          <a:xfrm>
            <a:off x="2476403" y="1672944"/>
            <a:ext cx="148719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 / STOP / READ …</a:t>
            </a:r>
          </a:p>
        </p:txBody>
      </p:sp>
      <p:sp>
        <p:nvSpPr>
          <p:cNvPr id="17" name="polyline-016"/>
          <p:cNvSpPr/>
          <p:nvPr/>
        </p:nvSpPr>
        <p:spPr>
          <a:xfrm>
            <a:off x="1764000" y="1372000"/>
            <a:ext cx="532000" cy="1"/>
          </a:xfrm>
          <a:custGeom>
            <a:avLst/>
            <a:gdLst/>
            <a:ahLst/>
            <a:cxnLst/>
            <a:rect l="0" t="0" r="r" b="b"/>
            <a:pathLst>
              <a:path w="532000" h="1">
                <a:moveTo>
                  <a:pt x="0" y="0"/>
                </a:moveTo>
                <a:lnTo>
                  <a:pt x="5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2228800" y="13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2296000" y="2380000"/>
            <a:ext cx="1848000" cy="616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line-019"/>
          <p:cNvCxnSpPr/>
          <p:nvPr/>
        </p:nvCxnSpPr>
        <p:spPr>
          <a:xfrm>
            <a:off x="2363200" y="2380000"/>
            <a:ext cx="0" cy="616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21" name="text-020: 4  Host RX FIFO"/>
          <p:cNvSpPr txBox="1"/>
          <p:nvPr/>
        </p:nvSpPr>
        <p:spPr>
          <a:xfrm>
            <a:off x="2690997" y="2498048"/>
            <a:ext cx="10580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Host RX FIFO</a:t>
            </a:r>
          </a:p>
        </p:txBody>
      </p:sp>
      <p:sp>
        <p:nvSpPr>
          <p:cNvPr id="22" name="text-021: 接收字节 → RDATA"/>
          <p:cNvSpPr txBox="1"/>
          <p:nvPr/>
        </p:nvSpPr>
        <p:spPr>
          <a:xfrm>
            <a:off x="2634979" y="2689344"/>
            <a:ext cx="117004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RDATA</a:t>
            </a:r>
          </a:p>
        </p:txBody>
      </p:sp>
      <p:sp>
        <p:nvSpPr>
          <p:cNvPr id="23" name="rect-022"/>
          <p:cNvSpPr/>
          <p:nvPr/>
        </p:nvSpPr>
        <p:spPr>
          <a:xfrm>
            <a:off x="4928000" y="1512000"/>
            <a:ext cx="1960000" cy="142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3  i2c_fsm"/>
          <p:cNvSpPr txBox="1"/>
          <p:nvPr/>
        </p:nvSpPr>
        <p:spPr>
          <a:xfrm>
            <a:off x="5527900" y="1767248"/>
            <a:ext cx="7602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i2c_fsm</a:t>
            </a:r>
          </a:p>
        </p:txBody>
      </p:sp>
      <p:sp>
        <p:nvSpPr>
          <p:cNvPr id="25" name="text-024: SCL / SDA 时序状态机"/>
          <p:cNvSpPr txBox="1"/>
          <p:nvPr/>
        </p:nvSpPr>
        <p:spPr>
          <a:xfrm>
            <a:off x="5230698" y="1958544"/>
            <a:ext cx="135460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SCL / SDA 时序状态机</a:t>
            </a:r>
          </a:p>
        </p:txBody>
      </p:sp>
      <p:sp>
        <p:nvSpPr>
          <p:cNvPr id="26" name="text-025: Host / Target 控制"/>
          <p:cNvSpPr txBox="1"/>
          <p:nvPr/>
        </p:nvSpPr>
        <p:spPr>
          <a:xfrm>
            <a:off x="5342960" y="2137744"/>
            <a:ext cx="113008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Host / Target 控制</a:t>
            </a:r>
          </a:p>
        </p:txBody>
      </p:sp>
      <p:sp>
        <p:nvSpPr>
          <p:cNvPr id="27" name="text-026: ACK / NAK / stretching"/>
          <p:cNvSpPr txBox="1"/>
          <p:nvPr/>
        </p:nvSpPr>
        <p:spPr>
          <a:xfrm>
            <a:off x="5218850" y="2316944"/>
            <a:ext cx="13783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ACK / NAK / stretching</a:t>
            </a:r>
          </a:p>
        </p:txBody>
      </p:sp>
      <p:sp>
        <p:nvSpPr>
          <p:cNvPr id="28" name="text-027: 按 TIMING 寄存器计数"/>
          <p:cNvSpPr txBox="1"/>
          <p:nvPr/>
        </p:nvSpPr>
        <p:spPr>
          <a:xfrm>
            <a:off x="5245380" y="2496144"/>
            <a:ext cx="132524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TIMING 寄存器计数</a:t>
            </a:r>
          </a:p>
        </p:txBody>
      </p:sp>
      <p:sp>
        <p:nvSpPr>
          <p:cNvPr id="29" name="polyline-028"/>
          <p:cNvSpPr/>
          <p:nvPr/>
        </p:nvSpPr>
        <p:spPr>
          <a:xfrm>
            <a:off x="4144000" y="1579200"/>
            <a:ext cx="784000" cy="268800"/>
          </a:xfrm>
          <a:custGeom>
            <a:avLst/>
            <a:gdLst/>
            <a:ahLst/>
            <a:cxnLst/>
            <a:rect l="0" t="0" r="r" b="b"/>
            <a:pathLst>
              <a:path w="784000" h="268800">
                <a:moveTo>
                  <a:pt x="0" y="0"/>
                </a:moveTo>
                <a:lnTo>
                  <a:pt x="336000" y="0"/>
                </a:lnTo>
                <a:lnTo>
                  <a:pt x="336000" y="268800"/>
                </a:lnTo>
                <a:lnTo>
                  <a:pt x="784000" y="2688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gon-029"/>
          <p:cNvSpPr/>
          <p:nvPr/>
        </p:nvSpPr>
        <p:spPr>
          <a:xfrm>
            <a:off x="4860800" y="182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line-030"/>
          <p:cNvSpPr/>
          <p:nvPr/>
        </p:nvSpPr>
        <p:spPr>
          <a:xfrm>
            <a:off x="4144000" y="2688000"/>
            <a:ext cx="784000" cy="1"/>
          </a:xfrm>
          <a:custGeom>
            <a:avLst/>
            <a:gdLst/>
            <a:ahLst/>
            <a:cxnLst/>
            <a:rect l="0" t="0" r="r" b="b"/>
            <a:pathLst>
              <a:path w="784000" h="1">
                <a:moveTo>
                  <a:pt x="784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4144000" y="266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2"/>
          <p:cNvSpPr/>
          <p:nvPr/>
        </p:nvSpPr>
        <p:spPr>
          <a:xfrm>
            <a:off x="980000" y="1848000"/>
            <a:ext cx="1316000" cy="840000"/>
          </a:xfrm>
          <a:custGeom>
            <a:avLst/>
            <a:gdLst/>
            <a:ahLst/>
            <a:cxnLst/>
            <a:rect l="0" t="0" r="r" b="b"/>
            <a:pathLst>
              <a:path w="1316000" h="840000">
                <a:moveTo>
                  <a:pt x="1316000" y="840000"/>
                </a:moveTo>
                <a:lnTo>
                  <a:pt x="0" y="840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gon-033"/>
          <p:cNvSpPr/>
          <p:nvPr/>
        </p:nvSpPr>
        <p:spPr>
          <a:xfrm>
            <a:off x="952000" y="1848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7784000" y="1708000"/>
            <a:ext cx="1736000" cy="980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5  SCL / SDA 接口"/>
          <p:cNvSpPr txBox="1"/>
          <p:nvPr/>
        </p:nvSpPr>
        <p:spPr>
          <a:xfrm>
            <a:off x="8034141" y="1828848"/>
            <a:ext cx="123571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SCL / SDA 接口</a:t>
            </a:r>
          </a:p>
        </p:txBody>
      </p:sp>
      <p:sp>
        <p:nvSpPr>
          <p:cNvPr id="37" name="text-036: 采样输入"/>
          <p:cNvSpPr txBox="1"/>
          <p:nvPr/>
        </p:nvSpPr>
        <p:spPr>
          <a:xfrm>
            <a:off x="8344000" y="2020144"/>
            <a:ext cx="616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采样输入</a:t>
            </a:r>
          </a:p>
        </p:txBody>
      </p:sp>
      <p:sp>
        <p:nvSpPr>
          <p:cNvPr id="38" name="text-037: 输出值 + 输出使能"/>
          <p:cNvSpPr txBox="1"/>
          <p:nvPr/>
        </p:nvSpPr>
        <p:spPr>
          <a:xfrm>
            <a:off x="8085328" y="2199344"/>
            <a:ext cx="113334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+ 输出使能</a:t>
            </a:r>
          </a:p>
        </p:txBody>
      </p:sp>
      <p:sp>
        <p:nvSpPr>
          <p:cNvPr id="39" name="text-038: 外层 PAD / 上拉另接"/>
          <p:cNvSpPr txBox="1"/>
          <p:nvPr/>
        </p:nvSpPr>
        <p:spPr>
          <a:xfrm>
            <a:off x="8023851" y="2378544"/>
            <a:ext cx="125629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 PAD / 上拉另接</a:t>
            </a:r>
          </a:p>
        </p:txBody>
      </p:sp>
      <p:sp>
        <p:nvSpPr>
          <p:cNvPr id="40" name="polyline-039"/>
          <p:cNvSpPr/>
          <p:nvPr/>
        </p:nvSpPr>
        <p:spPr>
          <a:xfrm>
            <a:off x="6888000" y="2184000"/>
            <a:ext cx="896000" cy="1"/>
          </a:xfrm>
          <a:custGeom>
            <a:avLst/>
            <a:gdLst/>
            <a:ahLst/>
            <a:cxnLst/>
            <a:rect l="0" t="0" r="r" b="b"/>
            <a:pathLst>
              <a:path w="896000" h="1">
                <a:moveTo>
                  <a:pt x="0" y="0"/>
                </a:moveTo>
                <a:lnTo>
                  <a:pt x="89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gon-040"/>
          <p:cNvSpPr/>
          <p:nvPr/>
        </p:nvSpPr>
        <p:spPr>
          <a:xfrm>
            <a:off x="7716800" y="21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6888000" y="21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2296000" y="3724000"/>
            <a:ext cx="1848000" cy="67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line-043"/>
          <p:cNvCxnSpPr/>
          <p:nvPr/>
        </p:nvCxnSpPr>
        <p:spPr>
          <a:xfrm>
            <a:off x="2363200" y="3724000"/>
            <a:ext cx="0" cy="672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45" name="text-044: 6  Target TX FIFO"/>
          <p:cNvSpPr txBox="1"/>
          <p:nvPr/>
        </p:nvSpPr>
        <p:spPr>
          <a:xfrm>
            <a:off x="2653328" y="3870048"/>
            <a:ext cx="11333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Target TX FIFO</a:t>
            </a:r>
          </a:p>
        </p:txBody>
      </p:sp>
      <p:sp>
        <p:nvSpPr>
          <p:cNvPr id="46" name="text-045: 软件送字节 → 总线"/>
          <p:cNvSpPr txBox="1"/>
          <p:nvPr/>
        </p:nvSpPr>
        <p:spPr>
          <a:xfrm>
            <a:off x="2628666" y="4061344"/>
            <a:ext cx="118266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软件送字节 → 总线</a:t>
            </a:r>
          </a:p>
        </p:txBody>
      </p:sp>
      <p:sp>
        <p:nvSpPr>
          <p:cNvPr id="47" name="rect-046"/>
          <p:cNvSpPr/>
          <p:nvPr/>
        </p:nvSpPr>
        <p:spPr>
          <a:xfrm>
            <a:off x="4928000" y="3724000"/>
            <a:ext cx="1960000" cy="67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line-047"/>
          <p:cNvCxnSpPr/>
          <p:nvPr/>
        </p:nvCxnSpPr>
        <p:spPr>
          <a:xfrm>
            <a:off x="4995200" y="3724000"/>
            <a:ext cx="0" cy="672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49" name="text-048: 7  Target ACQ FIFO"/>
          <p:cNvSpPr txBox="1"/>
          <p:nvPr/>
        </p:nvSpPr>
        <p:spPr>
          <a:xfrm>
            <a:off x="5287647" y="3870048"/>
            <a:ext cx="12407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Target ACQ FIFO</a:t>
            </a:r>
          </a:p>
        </p:txBody>
      </p:sp>
      <p:sp>
        <p:nvSpPr>
          <p:cNvPr id="50" name="text-049: 接收字节 + 事务标志"/>
          <p:cNvSpPr txBox="1"/>
          <p:nvPr/>
        </p:nvSpPr>
        <p:spPr>
          <a:xfrm>
            <a:off x="5279728" y="4061344"/>
            <a:ext cx="125654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+ 事务标志</a:t>
            </a:r>
          </a:p>
        </p:txBody>
      </p:sp>
      <p:sp>
        <p:nvSpPr>
          <p:cNvPr id="51" name="polyline-050"/>
          <p:cNvSpPr/>
          <p:nvPr/>
        </p:nvSpPr>
        <p:spPr>
          <a:xfrm>
            <a:off x="4144000" y="2940000"/>
            <a:ext cx="1176000" cy="1120000"/>
          </a:xfrm>
          <a:custGeom>
            <a:avLst/>
            <a:gdLst/>
            <a:ahLst/>
            <a:cxnLst/>
            <a:rect l="0" t="0" r="r" b="b"/>
            <a:pathLst>
              <a:path w="1176000" h="1120000">
                <a:moveTo>
                  <a:pt x="0" y="1120000"/>
                </a:moveTo>
                <a:lnTo>
                  <a:pt x="308000" y="1120000"/>
                </a:lnTo>
                <a:lnTo>
                  <a:pt x="308000" y="252000"/>
                </a:lnTo>
                <a:lnTo>
                  <a:pt x="1176000" y="252000"/>
                </a:lnTo>
                <a:lnTo>
                  <a:pt x="117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-051"/>
          <p:cNvSpPr/>
          <p:nvPr/>
        </p:nvSpPr>
        <p:spPr>
          <a:xfrm>
            <a:off x="5292000" y="294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6104000" y="2940000"/>
            <a:ext cx="1" cy="784000"/>
          </a:xfrm>
          <a:custGeom>
            <a:avLst/>
            <a:gdLst/>
            <a:ahLst/>
            <a:cxnLst/>
            <a:rect l="0" t="0" r="r" b="b"/>
            <a:pathLst>
              <a:path w="1" h="784000">
                <a:moveTo>
                  <a:pt x="0" y="0"/>
                </a:moveTo>
                <a:lnTo>
                  <a:pt x="0" y="784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gon-053"/>
          <p:cNvSpPr/>
          <p:nvPr/>
        </p:nvSpPr>
        <p:spPr>
          <a:xfrm>
            <a:off x="6076000" y="365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line-054"/>
          <p:cNvSpPr/>
          <p:nvPr/>
        </p:nvSpPr>
        <p:spPr>
          <a:xfrm>
            <a:off x="980000" y="560000"/>
            <a:ext cx="4928000" cy="952000"/>
          </a:xfrm>
          <a:custGeom>
            <a:avLst/>
            <a:gdLst/>
            <a:ahLst/>
            <a:cxnLst/>
            <a:rect l="0" t="0" r="r" b="b"/>
            <a:pathLst>
              <a:path w="4928000" h="952000">
                <a:moveTo>
                  <a:pt x="0" y="448000"/>
                </a:moveTo>
                <a:lnTo>
                  <a:pt x="0" y="0"/>
                </a:lnTo>
                <a:lnTo>
                  <a:pt x="4928000" y="0"/>
                </a:lnTo>
                <a:lnTo>
                  <a:pt x="4928000" y="952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-055"/>
          <p:cNvSpPr/>
          <p:nvPr/>
        </p:nvSpPr>
        <p:spPr>
          <a:xfrm>
            <a:off x="5880000" y="1444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CONTROL / TIMING / FIFO reset"/>
          <p:cNvSpPr txBox="1"/>
          <p:nvPr/>
        </p:nvSpPr>
        <p:spPr>
          <a:xfrm>
            <a:off x="3276000" y="376096"/>
            <a:ext cx="193529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CONTROL / TIMING / FIFO reset</a:t>
            </a:r>
          </a:p>
        </p:txBody>
      </p:sp>
      <p:sp>
        <p:nvSpPr>
          <p:cNvPr id="58" name="rect-057"/>
          <p:cNvSpPr/>
          <p:nvPr/>
        </p:nvSpPr>
        <p:spPr>
          <a:xfrm>
            <a:off x="7784000" y="3724000"/>
            <a:ext cx="1736000" cy="67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8  prim_intr_hw × 事件"/>
          <p:cNvSpPr txBox="1"/>
          <p:nvPr/>
        </p:nvSpPr>
        <p:spPr>
          <a:xfrm>
            <a:off x="7917459" y="3780448"/>
            <a:ext cx="14690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prim_intr_hw × 事件</a:t>
            </a:r>
          </a:p>
        </p:txBody>
      </p:sp>
      <p:sp>
        <p:nvSpPr>
          <p:cNvPr id="60" name="text-059: 状态锁存 / 屏蔽 / 测试"/>
          <p:cNvSpPr txBox="1"/>
          <p:nvPr/>
        </p:nvSpPr>
        <p:spPr>
          <a:xfrm>
            <a:off x="7959726" y="3971744"/>
            <a:ext cx="138454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状态锁存 / 屏蔽 / 测试</a:t>
            </a:r>
          </a:p>
        </p:txBody>
      </p:sp>
      <p:sp>
        <p:nvSpPr>
          <p:cNvPr id="61" name="text-060: 15 路 IRQ → SoC"/>
          <p:cNvSpPr txBox="1"/>
          <p:nvPr/>
        </p:nvSpPr>
        <p:spPr>
          <a:xfrm>
            <a:off x="8115218" y="4150944"/>
            <a:ext cx="107356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路 IRQ → SoC</a:t>
            </a:r>
          </a:p>
        </p:txBody>
      </p:sp>
      <p:sp>
        <p:nvSpPr>
          <p:cNvPr id="62" name="polyline-061"/>
          <p:cNvSpPr/>
          <p:nvPr/>
        </p:nvSpPr>
        <p:spPr>
          <a:xfrm>
            <a:off x="6888000" y="2520000"/>
            <a:ext cx="896000" cy="1540000"/>
          </a:xfrm>
          <a:custGeom>
            <a:avLst/>
            <a:gdLst/>
            <a:ahLst/>
            <a:cxnLst/>
            <a:rect l="0" t="0" r="r" b="b"/>
            <a:pathLst>
              <a:path w="896000" h="1540000">
                <a:moveTo>
                  <a:pt x="0" y="0"/>
                </a:moveTo>
                <a:lnTo>
                  <a:pt x="504000" y="0"/>
                </a:lnTo>
                <a:lnTo>
                  <a:pt x="504000" y="1540000"/>
                </a:lnTo>
                <a:lnTo>
                  <a:pt x="896000" y="154000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olygon-062"/>
          <p:cNvSpPr/>
          <p:nvPr/>
        </p:nvSpPr>
        <p:spPr>
          <a:xfrm>
            <a:off x="7716800" y="403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olyline-063"/>
          <p:cNvSpPr/>
          <p:nvPr/>
        </p:nvSpPr>
        <p:spPr>
          <a:xfrm>
            <a:off x="1764000" y="1596000"/>
            <a:ext cx="6888000" cy="3052000"/>
          </a:xfrm>
          <a:custGeom>
            <a:avLst/>
            <a:gdLst/>
            <a:ahLst/>
            <a:cxnLst/>
            <a:rect l="0" t="0" r="r" b="b"/>
            <a:pathLst>
              <a:path w="6888000" h="3052000">
                <a:moveTo>
                  <a:pt x="0" y="0"/>
                </a:moveTo>
                <a:lnTo>
                  <a:pt x="196000" y="0"/>
                </a:lnTo>
                <a:lnTo>
                  <a:pt x="196000" y="3052000"/>
                </a:lnTo>
                <a:lnTo>
                  <a:pt x="6888000" y="3052000"/>
                </a:lnTo>
                <a:lnTo>
                  <a:pt x="6888000" y="280000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olygon-064"/>
          <p:cNvSpPr/>
          <p:nvPr/>
        </p:nvSpPr>
        <p:spPr>
          <a:xfrm>
            <a:off x="8624000" y="4396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Target 队列的软件读写也经 reg_top；图中省略其回线。"/>
          <p:cNvSpPr txBox="1"/>
          <p:nvPr/>
        </p:nvSpPr>
        <p:spPr>
          <a:xfrm>
            <a:off x="2324000" y="4934944"/>
            <a:ext cx="315049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队列的软件读写也经 reg_top；图中省略其回线。</a:t>
            </a:r>
          </a:p>
        </p:txBody>
      </p:sp>
      <p:sp>
        <p:nvSpPr>
          <p:cNvPr id="67" name="polyline-066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olygon-067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70" name="polyline-069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polygon-070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73" name="text-072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3  SPI Host：命令队列控制移位，数据窗口连接收发 FIFO"/>
          <p:cNvSpPr txBox="1"/>
          <p:nvPr/>
        </p:nvSpPr>
        <p:spPr>
          <a:xfrm>
            <a:off x="224000" y="80864"/>
            <a:ext cx="479395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03  SPI Host：命令队列控制移位，数据窗口连接收发 FIFO</a:t>
            </a:r>
          </a:p>
        </p:txBody>
      </p:sp>
      <p:sp>
        <p:nvSpPr>
          <p:cNvPr id="4" name="rect-003"/>
          <p:cNvSpPr/>
          <p:nvPr/>
        </p:nvSpPr>
        <p:spPr>
          <a:xfrm>
            <a:off x="4228000" y="840000"/>
            <a:ext cx="5628000" cy="3584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9DAABA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spi_host_core：一个命令可以包含多个串行数据拍"/>
          <p:cNvSpPr txBox="1"/>
          <p:nvPr/>
        </p:nvSpPr>
        <p:spPr>
          <a:xfrm>
            <a:off x="4312000" y="868896"/>
            <a:ext cx="2974239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spi_host_core：一个命令可以包含多个串行数据拍</a:t>
            </a:r>
          </a:p>
        </p:txBody>
      </p:sp>
      <p:sp>
        <p:nvSpPr>
          <p:cNvPr id="6" name="rect-005"/>
          <p:cNvSpPr/>
          <p:nvPr/>
        </p:nvSpPr>
        <p:spPr>
          <a:xfrm>
            <a:off x="224000" y="980000"/>
            <a:ext cx="1680000" cy="812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1  spi_host_reg_top"/>
          <p:cNvSpPr txBox="1"/>
          <p:nvPr/>
        </p:nvSpPr>
        <p:spPr>
          <a:xfrm>
            <a:off x="414181" y="1016848"/>
            <a:ext cx="12996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spi_host_reg_top</a:t>
            </a:r>
          </a:p>
        </p:txBody>
      </p:sp>
      <p:sp>
        <p:nvSpPr>
          <p:cNvPr id="8" name="text-007: CONTROL / CONFIGOPTS"/>
          <p:cNvSpPr txBox="1"/>
          <p:nvPr/>
        </p:nvSpPr>
        <p:spPr>
          <a:xfrm>
            <a:off x="324257" y="1208144"/>
            <a:ext cx="147948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CONFIGOPTS</a:t>
            </a:r>
          </a:p>
        </p:txBody>
      </p:sp>
      <p:sp>
        <p:nvSpPr>
          <p:cNvPr id="9" name="text-008: CSID / COMMAND"/>
          <p:cNvSpPr txBox="1"/>
          <p:nvPr/>
        </p:nvSpPr>
        <p:spPr>
          <a:xfrm>
            <a:off x="505208" y="1387344"/>
            <a:ext cx="111758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CSID / COMMAND</a:t>
            </a:r>
          </a:p>
        </p:txBody>
      </p:sp>
      <p:sp>
        <p:nvSpPr>
          <p:cNvPr id="10" name="text-009: STATUS / INTR_*"/>
          <p:cNvSpPr txBox="1"/>
          <p:nvPr/>
        </p:nvSpPr>
        <p:spPr>
          <a:xfrm>
            <a:off x="528421" y="1566544"/>
            <a:ext cx="107115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STATUS / INTR_*</a:t>
            </a:r>
          </a:p>
        </p:txBody>
      </p:sp>
      <p:sp>
        <p:nvSpPr>
          <p:cNvPr id="11" name="text-010: Regbus 32"/>
          <p:cNvSpPr txBox="1"/>
          <p:nvPr/>
        </p:nvSpPr>
        <p:spPr>
          <a:xfrm>
            <a:off x="224000" y="582848"/>
            <a:ext cx="7734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2" name="rect-011"/>
          <p:cNvSpPr/>
          <p:nvPr/>
        </p:nvSpPr>
        <p:spPr>
          <a:xfrm>
            <a:off x="2324000" y="1008000"/>
            <a:ext cx="1540000" cy="728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line-012"/>
          <p:cNvCxnSpPr/>
          <p:nvPr/>
        </p:nvCxnSpPr>
        <p:spPr>
          <a:xfrm>
            <a:off x="2391200" y="1008000"/>
            <a:ext cx="0" cy="728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14" name="text-013: 2  command_queue"/>
          <p:cNvSpPr txBox="1"/>
          <p:nvPr/>
        </p:nvSpPr>
        <p:spPr>
          <a:xfrm>
            <a:off x="2444247" y="1092448"/>
            <a:ext cx="12995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command_queue</a:t>
            </a:r>
          </a:p>
        </p:txBody>
      </p:sp>
      <p:sp>
        <p:nvSpPr>
          <p:cNvPr id="15" name="text-014: 方向 / 长度 / 速度"/>
          <p:cNvSpPr txBox="1"/>
          <p:nvPr/>
        </p:nvSpPr>
        <p:spPr>
          <a:xfrm>
            <a:off x="2524926" y="1283744"/>
            <a:ext cx="113814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方向 / 长度 / 速度</a:t>
            </a:r>
          </a:p>
        </p:txBody>
      </p:sp>
      <p:sp>
        <p:nvSpPr>
          <p:cNvPr id="16" name="text-015: 片选与时序配置"/>
          <p:cNvSpPr txBox="1"/>
          <p:nvPr/>
        </p:nvSpPr>
        <p:spPr>
          <a:xfrm>
            <a:off x="2601200" y="14629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片选与时序配置</a:t>
            </a:r>
          </a:p>
        </p:txBody>
      </p:sp>
      <p:sp>
        <p:nvSpPr>
          <p:cNvPr id="17" name="polyline-016"/>
          <p:cNvSpPr/>
          <p:nvPr/>
        </p:nvSpPr>
        <p:spPr>
          <a:xfrm>
            <a:off x="1904000" y="1316000"/>
            <a:ext cx="420000" cy="1"/>
          </a:xfrm>
          <a:custGeom>
            <a:avLst/>
            <a:gdLst/>
            <a:ahLst/>
            <a:cxnLst/>
            <a:rect l="0" t="0" r="r" b="b"/>
            <a:pathLst>
              <a:path w="420000" h="1">
                <a:moveTo>
                  <a:pt x="0" y="0"/>
                </a:moveTo>
                <a:lnTo>
                  <a:pt x="42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2256800" y="128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4508000" y="1092000"/>
            <a:ext cx="1960000" cy="72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3  spi_host_fsm"/>
          <p:cNvSpPr txBox="1"/>
          <p:nvPr/>
        </p:nvSpPr>
        <p:spPr>
          <a:xfrm>
            <a:off x="4946856" y="1176448"/>
            <a:ext cx="10822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spi_host_fsm</a:t>
            </a:r>
          </a:p>
        </p:txBody>
      </p:sp>
      <p:sp>
        <p:nvSpPr>
          <p:cNvPr id="21" name="text-020: SCK / CS / sample / shift"/>
          <p:cNvSpPr txBox="1"/>
          <p:nvPr/>
        </p:nvSpPr>
        <p:spPr>
          <a:xfrm>
            <a:off x="4713966" y="1367744"/>
            <a:ext cx="154806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SCK / CS / sample / shift</a:t>
            </a:r>
          </a:p>
        </p:txBody>
      </p:sp>
      <p:sp>
        <p:nvSpPr>
          <p:cNvPr id="22" name="text-021: CPOL / CPHA / 分频"/>
          <p:cNvSpPr txBox="1"/>
          <p:nvPr/>
        </p:nvSpPr>
        <p:spPr>
          <a:xfrm>
            <a:off x="4873623" y="1546944"/>
            <a:ext cx="122875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CPOL / CPHA / 分频</a:t>
            </a:r>
          </a:p>
        </p:txBody>
      </p:sp>
      <p:sp>
        <p:nvSpPr>
          <p:cNvPr id="23" name="polyline-022"/>
          <p:cNvSpPr/>
          <p:nvPr/>
        </p:nvSpPr>
        <p:spPr>
          <a:xfrm>
            <a:off x="3864000" y="1372000"/>
            <a:ext cx="644000" cy="1"/>
          </a:xfrm>
          <a:custGeom>
            <a:avLst/>
            <a:gdLst/>
            <a:ahLst/>
            <a:cxnLst/>
            <a:rect l="0" t="0" r="r" b="b"/>
            <a:pathLst>
              <a:path w="644000" h="1">
                <a:moveTo>
                  <a:pt x="0" y="0"/>
                </a:moveTo>
                <a:lnTo>
                  <a:pt x="644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4440800" y="13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224000" y="2548000"/>
            <a:ext cx="1680000" cy="86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4  spi_host_window"/>
          <p:cNvSpPr txBox="1"/>
          <p:nvPr/>
        </p:nvSpPr>
        <p:spPr>
          <a:xfrm>
            <a:off x="419628" y="2612848"/>
            <a:ext cx="12887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spi_host_window</a:t>
            </a:r>
          </a:p>
        </p:txBody>
      </p:sp>
      <p:sp>
        <p:nvSpPr>
          <p:cNvPr id="27" name="text-026: TX 写窗口 / RX 读窗口"/>
          <p:cNvSpPr txBox="1"/>
          <p:nvPr/>
        </p:nvSpPr>
        <p:spPr>
          <a:xfrm>
            <a:off x="391576" y="2804144"/>
            <a:ext cx="134484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写窗口 / RX 读窗口</a:t>
            </a:r>
          </a:p>
        </p:txBody>
      </p:sp>
      <p:sp>
        <p:nvSpPr>
          <p:cNvPr id="28" name="text-027: 32-bit + byte enables"/>
          <p:cNvSpPr txBox="1"/>
          <p:nvPr/>
        </p:nvSpPr>
        <p:spPr>
          <a:xfrm>
            <a:off x="425377" y="2983344"/>
            <a:ext cx="127724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+ byte enables</a:t>
            </a:r>
          </a:p>
        </p:txBody>
      </p:sp>
      <p:sp>
        <p:nvSpPr>
          <p:cNvPr id="29" name="text-028: FIFO 满空由软件检查"/>
          <p:cNvSpPr txBox="1"/>
          <p:nvPr/>
        </p:nvSpPr>
        <p:spPr>
          <a:xfrm>
            <a:off x="437054" y="3162544"/>
            <a:ext cx="125389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满空由软件检查</a:t>
            </a:r>
          </a:p>
        </p:txBody>
      </p:sp>
      <p:sp>
        <p:nvSpPr>
          <p:cNvPr id="30" name="polyline-029"/>
          <p:cNvSpPr/>
          <p:nvPr/>
        </p:nvSpPr>
        <p:spPr>
          <a:xfrm>
            <a:off x="1064000" y="1792000"/>
            <a:ext cx="1" cy="756000"/>
          </a:xfrm>
          <a:custGeom>
            <a:avLst/>
            <a:gdLst/>
            <a:ahLst/>
            <a:cxnLst/>
            <a:rect l="0" t="0" r="r" b="b"/>
            <a:pathLst>
              <a:path w="1" h="756000">
                <a:moveTo>
                  <a:pt x="0" y="0"/>
                </a:moveTo>
                <a:lnTo>
                  <a:pt x="0" y="75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1036000" y="248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1036000" y="1792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2296000" y="2436000"/>
            <a:ext cx="1624000" cy="64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line-033"/>
          <p:cNvCxnSpPr/>
          <p:nvPr/>
        </p:nvCxnSpPr>
        <p:spPr>
          <a:xfrm>
            <a:off x="2363200" y="2436000"/>
            <a:ext cx="0" cy="644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5" name="text-034: 5  data_fifos：TX"/>
          <p:cNvSpPr txBox="1"/>
          <p:nvPr/>
        </p:nvSpPr>
        <p:spPr>
          <a:xfrm>
            <a:off x="2531944" y="2568048"/>
            <a:ext cx="11521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data_fifos：TX</a:t>
            </a:r>
          </a:p>
        </p:txBody>
      </p:sp>
      <p:sp>
        <p:nvSpPr>
          <p:cNvPr id="36" name="text-035: 32-bit 数据队列"/>
          <p:cNvSpPr txBox="1"/>
          <p:nvPr/>
        </p:nvSpPr>
        <p:spPr>
          <a:xfrm>
            <a:off x="2621574" y="2759344"/>
            <a:ext cx="97285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数据队列</a:t>
            </a:r>
          </a:p>
        </p:txBody>
      </p:sp>
      <p:sp>
        <p:nvSpPr>
          <p:cNvPr id="37" name="rect-036"/>
          <p:cNvSpPr/>
          <p:nvPr/>
        </p:nvSpPr>
        <p:spPr>
          <a:xfrm>
            <a:off x="2296000" y="3752000"/>
            <a:ext cx="1624000" cy="64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line-037"/>
          <p:cNvCxnSpPr/>
          <p:nvPr/>
        </p:nvCxnSpPr>
        <p:spPr>
          <a:xfrm>
            <a:off x="2363200" y="3752000"/>
            <a:ext cx="0" cy="644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9" name="text-038: 9  data_fifos：RX"/>
          <p:cNvSpPr txBox="1"/>
          <p:nvPr/>
        </p:nvSpPr>
        <p:spPr>
          <a:xfrm>
            <a:off x="2523938" y="3884048"/>
            <a:ext cx="11681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9  data_fifos：RX</a:t>
            </a:r>
          </a:p>
        </p:txBody>
      </p:sp>
      <p:sp>
        <p:nvSpPr>
          <p:cNvPr id="40" name="text-039: 32-bit 接收字队列"/>
          <p:cNvSpPr txBox="1"/>
          <p:nvPr/>
        </p:nvSpPr>
        <p:spPr>
          <a:xfrm>
            <a:off x="2559974" y="4075344"/>
            <a:ext cx="109605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接收字队列</a:t>
            </a:r>
          </a:p>
        </p:txBody>
      </p:sp>
      <p:sp>
        <p:nvSpPr>
          <p:cNvPr id="41" name="polyline-040"/>
          <p:cNvSpPr/>
          <p:nvPr/>
        </p:nvSpPr>
        <p:spPr>
          <a:xfrm>
            <a:off x="1904000" y="2744000"/>
            <a:ext cx="392000" cy="1"/>
          </a:xfrm>
          <a:custGeom>
            <a:avLst/>
            <a:gdLst/>
            <a:ahLst/>
            <a:cxnLst/>
            <a:rect l="0" t="0" r="r" b="b"/>
            <a:pathLst>
              <a:path w="392000" h="1">
                <a:moveTo>
                  <a:pt x="0" y="0"/>
                </a:moveTo>
                <a:lnTo>
                  <a:pt x="39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2228800" y="271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line-042"/>
          <p:cNvSpPr/>
          <p:nvPr/>
        </p:nvSpPr>
        <p:spPr>
          <a:xfrm>
            <a:off x="1064000" y="3416000"/>
            <a:ext cx="1232000" cy="644000"/>
          </a:xfrm>
          <a:custGeom>
            <a:avLst/>
            <a:gdLst/>
            <a:ahLst/>
            <a:cxnLst/>
            <a:rect l="0" t="0" r="r" b="b"/>
            <a:pathLst>
              <a:path w="1232000" h="644000">
                <a:moveTo>
                  <a:pt x="1232000" y="644000"/>
                </a:moveTo>
                <a:lnTo>
                  <a:pt x="0" y="644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1036000" y="3416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4508000" y="2436000"/>
            <a:ext cx="1960000" cy="64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6  byte_select"/>
          <p:cNvSpPr txBox="1"/>
          <p:nvPr/>
        </p:nvSpPr>
        <p:spPr>
          <a:xfrm>
            <a:off x="5007362" y="2568048"/>
            <a:ext cx="9612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byte_select</a:t>
            </a:r>
          </a:p>
        </p:txBody>
      </p:sp>
      <p:sp>
        <p:nvSpPr>
          <p:cNvPr id="47" name="text-046: 32-bit → 有效发送字节"/>
          <p:cNvSpPr txBox="1"/>
          <p:nvPr/>
        </p:nvSpPr>
        <p:spPr>
          <a:xfrm>
            <a:off x="4798308" y="2759344"/>
            <a:ext cx="137938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→ 有效发送字节</a:t>
            </a:r>
          </a:p>
        </p:txBody>
      </p:sp>
      <p:sp>
        <p:nvSpPr>
          <p:cNvPr id="48" name="rect-047"/>
          <p:cNvSpPr/>
          <p:nvPr/>
        </p:nvSpPr>
        <p:spPr>
          <a:xfrm>
            <a:off x="4508000" y="3752000"/>
            <a:ext cx="1960000" cy="64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8  byte_merge"/>
          <p:cNvSpPr txBox="1"/>
          <p:nvPr/>
        </p:nvSpPr>
        <p:spPr>
          <a:xfrm>
            <a:off x="5001916" y="3884048"/>
            <a:ext cx="97216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byte_merge</a:t>
            </a:r>
          </a:p>
        </p:txBody>
      </p:sp>
      <p:sp>
        <p:nvSpPr>
          <p:cNvPr id="50" name="text-049: 接收字节 → 32-bit"/>
          <p:cNvSpPr txBox="1"/>
          <p:nvPr/>
        </p:nvSpPr>
        <p:spPr>
          <a:xfrm>
            <a:off x="4921508" y="4075344"/>
            <a:ext cx="113298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32-bit</a:t>
            </a:r>
          </a:p>
        </p:txBody>
      </p:sp>
      <p:sp>
        <p:nvSpPr>
          <p:cNvPr id="51" name="polyline-050"/>
          <p:cNvSpPr/>
          <p:nvPr/>
        </p:nvSpPr>
        <p:spPr>
          <a:xfrm>
            <a:off x="3920000" y="2744000"/>
            <a:ext cx="588000" cy="1"/>
          </a:xfrm>
          <a:custGeom>
            <a:avLst/>
            <a:gdLst/>
            <a:ahLst/>
            <a:cxnLst/>
            <a:rect l="0" t="0" r="r" b="b"/>
            <a:pathLst>
              <a:path w="588000" h="1">
                <a:moveTo>
                  <a:pt x="0" y="0"/>
                </a:moveTo>
                <a:lnTo>
                  <a:pt x="58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-051"/>
          <p:cNvSpPr/>
          <p:nvPr/>
        </p:nvSpPr>
        <p:spPr>
          <a:xfrm>
            <a:off x="4440800" y="271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3920000" y="4060000"/>
            <a:ext cx="588000" cy="1"/>
          </a:xfrm>
          <a:custGeom>
            <a:avLst/>
            <a:gdLst/>
            <a:ahLst/>
            <a:cxnLst/>
            <a:rect l="0" t="0" r="r" b="b"/>
            <a:pathLst>
              <a:path w="588000" h="1">
                <a:moveTo>
                  <a:pt x="588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gon-053"/>
          <p:cNvSpPr/>
          <p:nvPr/>
        </p:nvSpPr>
        <p:spPr>
          <a:xfrm>
            <a:off x="3920000" y="403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7448000" y="2380000"/>
            <a:ext cx="2016000" cy="92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7  shift_register"/>
          <p:cNvSpPr txBox="1"/>
          <p:nvPr/>
        </p:nvSpPr>
        <p:spPr>
          <a:xfrm>
            <a:off x="7924372" y="2472848"/>
            <a:ext cx="10632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shift_register</a:t>
            </a:r>
          </a:p>
        </p:txBody>
      </p:sp>
      <p:sp>
        <p:nvSpPr>
          <p:cNvPr id="57" name="text-056: 串 / 并转换"/>
          <p:cNvSpPr txBox="1"/>
          <p:nvPr/>
        </p:nvSpPr>
        <p:spPr>
          <a:xfrm>
            <a:off x="8079063" y="2664144"/>
            <a:ext cx="7538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串 / 并转换</a:t>
            </a:r>
          </a:p>
        </p:txBody>
      </p:sp>
      <p:sp>
        <p:nvSpPr>
          <p:cNvPr id="58" name="text-057: 标准 / 双线 / 四线"/>
          <p:cNvSpPr txBox="1"/>
          <p:nvPr/>
        </p:nvSpPr>
        <p:spPr>
          <a:xfrm>
            <a:off x="7886926" y="2843344"/>
            <a:ext cx="113814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标准 / 双线 / 四线</a:t>
            </a:r>
          </a:p>
        </p:txBody>
      </p:sp>
      <p:sp>
        <p:nvSpPr>
          <p:cNvPr id="59" name="text-058: SD[3:0] 输入 / 输出 / OE"/>
          <p:cNvSpPr txBox="1"/>
          <p:nvPr/>
        </p:nvSpPr>
        <p:spPr>
          <a:xfrm>
            <a:off x="7708562" y="3022544"/>
            <a:ext cx="149487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SD[3:0] 输入 / 输出 / OE</a:t>
            </a:r>
          </a:p>
        </p:txBody>
      </p:sp>
      <p:sp>
        <p:nvSpPr>
          <p:cNvPr id="60" name="polyline-059"/>
          <p:cNvSpPr/>
          <p:nvPr/>
        </p:nvSpPr>
        <p:spPr>
          <a:xfrm>
            <a:off x="6468000" y="2744000"/>
            <a:ext cx="980000" cy="1"/>
          </a:xfrm>
          <a:custGeom>
            <a:avLst/>
            <a:gdLst/>
            <a:ahLst/>
            <a:cxnLst/>
            <a:rect l="0" t="0" r="r" b="b"/>
            <a:pathLst>
              <a:path w="980000" h="1">
                <a:moveTo>
                  <a:pt x="0" y="0"/>
                </a:moveTo>
                <a:lnTo>
                  <a:pt x="98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-060"/>
          <p:cNvSpPr/>
          <p:nvPr/>
        </p:nvSpPr>
        <p:spPr>
          <a:xfrm>
            <a:off x="7380800" y="271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line-061"/>
          <p:cNvSpPr/>
          <p:nvPr/>
        </p:nvSpPr>
        <p:spPr>
          <a:xfrm>
            <a:off x="6468000" y="3304000"/>
            <a:ext cx="1988000" cy="756000"/>
          </a:xfrm>
          <a:custGeom>
            <a:avLst/>
            <a:gdLst/>
            <a:ahLst/>
            <a:cxnLst/>
            <a:rect l="0" t="0" r="r" b="b"/>
            <a:pathLst>
              <a:path w="1988000" h="756000">
                <a:moveTo>
                  <a:pt x="1988000" y="0"/>
                </a:moveTo>
                <a:lnTo>
                  <a:pt x="1988000" y="756000"/>
                </a:lnTo>
                <a:lnTo>
                  <a:pt x="0" y="75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olygon-062"/>
          <p:cNvSpPr/>
          <p:nvPr/>
        </p:nvSpPr>
        <p:spPr>
          <a:xfrm>
            <a:off x="6468000" y="403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olyline-063"/>
          <p:cNvSpPr/>
          <p:nvPr/>
        </p:nvSpPr>
        <p:spPr>
          <a:xfrm>
            <a:off x="6468000" y="1456000"/>
            <a:ext cx="1988000" cy="924000"/>
          </a:xfrm>
          <a:custGeom>
            <a:avLst/>
            <a:gdLst/>
            <a:ahLst/>
            <a:cxnLst/>
            <a:rect l="0" t="0" r="r" b="b"/>
            <a:pathLst>
              <a:path w="1988000" h="924000">
                <a:moveTo>
                  <a:pt x="0" y="0"/>
                </a:moveTo>
                <a:lnTo>
                  <a:pt x="1988000" y="0"/>
                </a:lnTo>
                <a:lnTo>
                  <a:pt x="1988000" y="924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olygon-064"/>
          <p:cNvSpPr/>
          <p:nvPr/>
        </p:nvSpPr>
        <p:spPr>
          <a:xfrm>
            <a:off x="8428000" y="2312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SCK / CS 与移位节拍"/>
          <p:cNvSpPr txBox="1"/>
          <p:nvPr/>
        </p:nvSpPr>
        <p:spPr>
          <a:xfrm>
            <a:off x="7000000" y="1222144"/>
            <a:ext cx="129542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SCK / CS 与移位节拍</a:t>
            </a:r>
          </a:p>
        </p:txBody>
      </p:sp>
      <p:sp>
        <p:nvSpPr>
          <p:cNvPr id="67" name="text-066: IRQ：ERROR / SPI_EVENT；片选数量、FIFO 深度和字节顺序以"/>
          <p:cNvSpPr txBox="1"/>
          <p:nvPr/>
        </p:nvSpPr>
        <p:spPr>
          <a:xfrm>
            <a:off x="504000" y="4682048"/>
            <a:ext cx="47964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IRQ：ERROR / SPI_EVENT；片选数量、FIFO 深度和字节顺序以当前参数为准。</a:t>
            </a:r>
          </a:p>
        </p:txBody>
      </p:sp>
      <p:sp>
        <p:nvSpPr>
          <p:cNvPr id="68" name="polyline-067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polygon-068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71" name="polyline-070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olygon-071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74" name="text-073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4  GPIO：输入滤波、边沿检测与独立的输出值 / 输出使能"/>
          <p:cNvSpPr txBox="1"/>
          <p:nvPr/>
        </p:nvSpPr>
        <p:spPr>
          <a:xfrm>
            <a:off x="224000" y="80864"/>
            <a:ext cx="484837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04  GPIO：输入滤波、边沿检测与独立的输出值 / 输出使能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1120000"/>
            <a:ext cx="1624000" cy="700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GPIO 输入 32 路"/>
          <p:cNvSpPr txBox="1"/>
          <p:nvPr/>
        </p:nvSpPr>
        <p:spPr>
          <a:xfrm>
            <a:off x="482519" y="1280048"/>
            <a:ext cx="11069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输入 32 路</a:t>
            </a:r>
          </a:p>
        </p:txBody>
      </p:sp>
      <p:sp>
        <p:nvSpPr>
          <p:cNvPr id="6" name="text-005: gpio_i[31:0]"/>
          <p:cNvSpPr txBox="1"/>
          <p:nvPr/>
        </p:nvSpPr>
        <p:spPr>
          <a:xfrm>
            <a:off x="650694" y="1471344"/>
            <a:ext cx="77061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gpio_i[31:0]</a:t>
            </a:r>
          </a:p>
        </p:txBody>
      </p:sp>
      <p:sp>
        <p:nvSpPr>
          <p:cNvPr id="7" name="rect-006"/>
          <p:cNvSpPr/>
          <p:nvPr/>
        </p:nvSpPr>
        <p:spPr>
          <a:xfrm>
            <a:off x="2436000" y="980000"/>
            <a:ext cx="1904000" cy="86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1  prim_filter_ctr × 32"/>
          <p:cNvSpPr txBox="1"/>
          <p:nvPr/>
        </p:nvSpPr>
        <p:spPr>
          <a:xfrm>
            <a:off x="2676428" y="1044848"/>
            <a:ext cx="14231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prim_filter_ctr × 32</a:t>
            </a:r>
          </a:p>
        </p:txBody>
      </p:sp>
      <p:sp>
        <p:nvSpPr>
          <p:cNvPr id="9" name="text-008: 可选输入同步"/>
          <p:cNvSpPr txBox="1"/>
          <p:nvPr/>
        </p:nvSpPr>
        <p:spPr>
          <a:xfrm>
            <a:off x="2956800" y="1236144"/>
            <a:ext cx="8624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可选输入同步</a:t>
            </a:r>
          </a:p>
        </p:txBody>
      </p:sp>
      <p:sp>
        <p:nvSpPr>
          <p:cNvPr id="10" name="text-009: 可选计数滤波"/>
          <p:cNvSpPr txBox="1"/>
          <p:nvPr/>
        </p:nvSpPr>
        <p:spPr>
          <a:xfrm>
            <a:off x="2956800" y="1415344"/>
            <a:ext cx="8624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可选计数滤波</a:t>
            </a:r>
          </a:p>
        </p:txBody>
      </p:sp>
      <p:sp>
        <p:nvSpPr>
          <p:cNvPr id="11" name="text-010: DATA_IN → 软件"/>
          <p:cNvSpPr txBox="1"/>
          <p:nvPr/>
        </p:nvSpPr>
        <p:spPr>
          <a:xfrm>
            <a:off x="2876912" y="1594544"/>
            <a:ext cx="102217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DATA_IN → 软件</a:t>
            </a:r>
          </a:p>
        </p:txBody>
      </p:sp>
      <p:sp>
        <p:nvSpPr>
          <p:cNvPr id="12" name="polyline-011"/>
          <p:cNvSpPr/>
          <p:nvPr/>
        </p:nvSpPr>
        <p:spPr>
          <a:xfrm>
            <a:off x="1848000" y="1456000"/>
            <a:ext cx="588000" cy="1"/>
          </a:xfrm>
          <a:custGeom>
            <a:avLst/>
            <a:gdLst/>
            <a:ahLst/>
            <a:cxnLst/>
            <a:rect l="0" t="0" r="r" b="b"/>
            <a:pathLst>
              <a:path w="588000" h="1">
                <a:moveTo>
                  <a:pt x="0" y="0"/>
                </a:moveTo>
                <a:lnTo>
                  <a:pt x="58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2368800" y="142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3"/>
          <p:cNvSpPr/>
          <p:nvPr/>
        </p:nvSpPr>
        <p:spPr>
          <a:xfrm>
            <a:off x="5012000" y="1008000"/>
            <a:ext cx="1904000" cy="812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2  data_in_q + 比较"/>
          <p:cNvSpPr txBox="1"/>
          <p:nvPr/>
        </p:nvSpPr>
        <p:spPr>
          <a:xfrm>
            <a:off x="5315362" y="1134448"/>
            <a:ext cx="12972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data_in_q + 比较</a:t>
            </a:r>
          </a:p>
        </p:txBody>
      </p:sp>
      <p:sp>
        <p:nvSpPr>
          <p:cNvPr id="16" name="text-015: 上升沿 / 下降沿"/>
          <p:cNvSpPr txBox="1"/>
          <p:nvPr/>
        </p:nvSpPr>
        <p:spPr>
          <a:xfrm>
            <a:off x="5463863" y="1325744"/>
            <a:ext cx="1000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上升沿 / 下降沿</a:t>
            </a:r>
          </a:p>
        </p:txBody>
      </p:sp>
      <p:sp>
        <p:nvSpPr>
          <p:cNvPr id="17" name="text-016: 高电平 / 低电平"/>
          <p:cNvSpPr txBox="1"/>
          <p:nvPr/>
        </p:nvSpPr>
        <p:spPr>
          <a:xfrm>
            <a:off x="5463863" y="1504944"/>
            <a:ext cx="1000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高电平 / 低电平</a:t>
            </a:r>
          </a:p>
        </p:txBody>
      </p:sp>
      <p:sp>
        <p:nvSpPr>
          <p:cNvPr id="18" name="polyline-017"/>
          <p:cNvSpPr/>
          <p:nvPr/>
        </p:nvSpPr>
        <p:spPr>
          <a:xfrm>
            <a:off x="4340000" y="1456000"/>
            <a:ext cx="672000" cy="1"/>
          </a:xfrm>
          <a:custGeom>
            <a:avLst/>
            <a:gdLst/>
            <a:ahLst/>
            <a:cxnLst/>
            <a:rect l="0" t="0" r="r" b="b"/>
            <a:pathLst>
              <a:path w="672000" h="1">
                <a:moveTo>
                  <a:pt x="0" y="0"/>
                </a:moveTo>
                <a:lnTo>
                  <a:pt x="67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4944800" y="142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7672000" y="1008000"/>
            <a:ext cx="1988000" cy="81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3  prim_intr_hw"/>
          <p:cNvSpPr txBox="1"/>
          <p:nvPr/>
        </p:nvSpPr>
        <p:spPr>
          <a:xfrm>
            <a:off x="8146447" y="1134448"/>
            <a:ext cx="10391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prim_intr_hw</a:t>
            </a:r>
          </a:p>
        </p:txBody>
      </p:sp>
      <p:sp>
        <p:nvSpPr>
          <p:cNvPr id="22" name="text-021: 事件状态 + enable/test"/>
          <p:cNvSpPr txBox="1"/>
          <p:nvPr/>
        </p:nvSpPr>
        <p:spPr>
          <a:xfrm>
            <a:off x="7966805" y="1325744"/>
            <a:ext cx="139839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事件状态 + enable/test</a:t>
            </a:r>
          </a:p>
        </p:txBody>
      </p:sp>
      <p:sp>
        <p:nvSpPr>
          <p:cNvPr id="23" name="text-022: 32 路 intr_gpio_o"/>
          <p:cNvSpPr txBox="1"/>
          <p:nvPr/>
        </p:nvSpPr>
        <p:spPr>
          <a:xfrm>
            <a:off x="8137946" y="1504944"/>
            <a:ext cx="105610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 路 intr_gpio_o</a:t>
            </a:r>
          </a:p>
        </p:txBody>
      </p:sp>
      <p:sp>
        <p:nvSpPr>
          <p:cNvPr id="24" name="polyline-023"/>
          <p:cNvSpPr/>
          <p:nvPr/>
        </p:nvSpPr>
        <p:spPr>
          <a:xfrm>
            <a:off x="6916000" y="1456000"/>
            <a:ext cx="756000" cy="1"/>
          </a:xfrm>
          <a:custGeom>
            <a:avLst/>
            <a:gdLst/>
            <a:ahLst/>
            <a:cxnLst/>
            <a:rect l="0" t="0" r="r" b="b"/>
            <a:pathLst>
              <a:path w="756000" h="1">
                <a:moveTo>
                  <a:pt x="0" y="0"/>
                </a:moveTo>
                <a:lnTo>
                  <a:pt x="75600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7604800" y="142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2464000" y="3164000"/>
            <a:ext cx="2072000" cy="1204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4  gpio_reg_top"/>
          <p:cNvSpPr txBox="1"/>
          <p:nvPr/>
        </p:nvSpPr>
        <p:spPr>
          <a:xfrm>
            <a:off x="2977691" y="3307248"/>
            <a:ext cx="104461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gpio_reg_top</a:t>
            </a:r>
          </a:p>
        </p:txBody>
      </p:sp>
      <p:sp>
        <p:nvSpPr>
          <p:cNvPr id="28" name="text-027: DIRECT_OUT / DIRECT_OE"/>
          <p:cNvSpPr txBox="1"/>
          <p:nvPr/>
        </p:nvSpPr>
        <p:spPr>
          <a:xfrm>
            <a:off x="2725660" y="3498544"/>
            <a:ext cx="154868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DIRECT_OUT / DIRECT_OE</a:t>
            </a:r>
          </a:p>
        </p:txBody>
      </p:sp>
      <p:sp>
        <p:nvSpPr>
          <p:cNvPr id="29" name="text-028: MASKED_OUT / MASKED_OE"/>
          <p:cNvSpPr txBox="1"/>
          <p:nvPr/>
        </p:nvSpPr>
        <p:spPr>
          <a:xfrm>
            <a:off x="2649386" y="3677744"/>
            <a:ext cx="1701227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MASKED_OUT / MASKED_OE</a:t>
            </a:r>
          </a:p>
        </p:txBody>
      </p:sp>
      <p:sp>
        <p:nvSpPr>
          <p:cNvPr id="30" name="text-029: INTR_CTRL / STATE"/>
          <p:cNvSpPr txBox="1"/>
          <p:nvPr/>
        </p:nvSpPr>
        <p:spPr>
          <a:xfrm>
            <a:off x="2906549" y="3856944"/>
            <a:ext cx="118690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INTR_CTRL / STATE</a:t>
            </a:r>
          </a:p>
        </p:txBody>
      </p:sp>
      <p:sp>
        <p:nvSpPr>
          <p:cNvPr id="31" name="text-030: INPUT_FILTER / DATA_IN"/>
          <p:cNvSpPr txBox="1"/>
          <p:nvPr/>
        </p:nvSpPr>
        <p:spPr>
          <a:xfrm>
            <a:off x="2769878" y="4036144"/>
            <a:ext cx="146024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INPUT_FILTER / DATA_IN</a:t>
            </a:r>
          </a:p>
        </p:txBody>
      </p:sp>
      <p:sp>
        <p:nvSpPr>
          <p:cNvPr id="32" name="text-031: Regbus 请求 / 响应"/>
          <p:cNvSpPr txBox="1"/>
          <p:nvPr/>
        </p:nvSpPr>
        <p:spPr>
          <a:xfrm>
            <a:off x="280000" y="3287648"/>
            <a:ext cx="13002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3" name="rect-032"/>
          <p:cNvSpPr/>
          <p:nvPr/>
        </p:nvSpPr>
        <p:spPr>
          <a:xfrm>
            <a:off x="5768000" y="3192000"/>
            <a:ext cx="1932000" cy="50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line-033"/>
          <p:cNvCxnSpPr/>
          <p:nvPr/>
        </p:nvCxnSpPr>
        <p:spPr>
          <a:xfrm>
            <a:off x="5835200" y="3192000"/>
            <a:ext cx="0" cy="504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5" name="text-034: 5  cio_gpio_q[31:0]"/>
          <p:cNvSpPr txBox="1"/>
          <p:nvPr/>
        </p:nvSpPr>
        <p:spPr>
          <a:xfrm>
            <a:off x="6094812" y="3343648"/>
            <a:ext cx="12783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cio_gpio_q[31:0]</a:t>
            </a:r>
          </a:p>
        </p:txBody>
      </p:sp>
      <p:sp>
        <p:nvSpPr>
          <p:cNvPr id="36" name="rect-035"/>
          <p:cNvSpPr/>
          <p:nvPr/>
        </p:nvSpPr>
        <p:spPr>
          <a:xfrm>
            <a:off x="5768000" y="4004000"/>
            <a:ext cx="1932000" cy="50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line-036"/>
          <p:cNvCxnSpPr/>
          <p:nvPr/>
        </p:nvCxnSpPr>
        <p:spPr>
          <a:xfrm>
            <a:off x="5835200" y="4004000"/>
            <a:ext cx="0" cy="504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8" name="text-037: 6  cio_gpio_en_q[31:0]"/>
          <p:cNvSpPr txBox="1"/>
          <p:nvPr/>
        </p:nvSpPr>
        <p:spPr>
          <a:xfrm>
            <a:off x="5988762" y="4155648"/>
            <a:ext cx="14904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cio_gpio_en_q[31:0]</a:t>
            </a:r>
          </a:p>
        </p:txBody>
      </p:sp>
      <p:sp>
        <p:nvSpPr>
          <p:cNvPr id="39" name="polyline-038"/>
          <p:cNvSpPr/>
          <p:nvPr/>
        </p:nvSpPr>
        <p:spPr>
          <a:xfrm>
            <a:off x="4536000" y="3472000"/>
            <a:ext cx="1232000" cy="1"/>
          </a:xfrm>
          <a:custGeom>
            <a:avLst/>
            <a:gdLst/>
            <a:ahLst/>
            <a:cxnLst/>
            <a:rect l="0" t="0" r="r" b="b"/>
            <a:pathLst>
              <a:path w="1232000" h="1">
                <a:moveTo>
                  <a:pt x="0" y="0"/>
                </a:moveTo>
                <a:lnTo>
                  <a:pt x="12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olygon-039"/>
          <p:cNvSpPr/>
          <p:nvPr/>
        </p:nvSpPr>
        <p:spPr>
          <a:xfrm>
            <a:off x="5700800" y="34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0"/>
          <p:cNvSpPr/>
          <p:nvPr/>
        </p:nvSpPr>
        <p:spPr>
          <a:xfrm>
            <a:off x="4536000" y="4172000"/>
            <a:ext cx="1232000" cy="1"/>
          </a:xfrm>
          <a:custGeom>
            <a:avLst/>
            <a:gdLst/>
            <a:ahLst/>
            <a:cxnLst/>
            <a:rect l="0" t="0" r="r" b="b"/>
            <a:pathLst>
              <a:path w="1232000" h="1">
                <a:moveTo>
                  <a:pt x="0" y="0"/>
                </a:moveTo>
                <a:lnTo>
                  <a:pt x="12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5700800" y="41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line-042"/>
          <p:cNvSpPr/>
          <p:nvPr/>
        </p:nvSpPr>
        <p:spPr>
          <a:xfrm>
            <a:off x="7700000" y="3472000"/>
            <a:ext cx="1932000" cy="1"/>
          </a:xfrm>
          <a:custGeom>
            <a:avLst/>
            <a:gdLst/>
            <a:ahLst/>
            <a:cxnLst/>
            <a:rect l="0" t="0" r="r" b="b"/>
            <a:pathLst>
              <a:path w="1932000" h="1">
                <a:moveTo>
                  <a:pt x="0" y="0"/>
                </a:moveTo>
                <a:lnTo>
                  <a:pt x="19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9564800" y="34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输出值 → PAD"/>
          <p:cNvSpPr txBox="1"/>
          <p:nvPr/>
        </p:nvSpPr>
        <p:spPr>
          <a:xfrm>
            <a:off x="8064000" y="3209696"/>
            <a:ext cx="950276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→ PAD</a:t>
            </a:r>
          </a:p>
        </p:txBody>
      </p:sp>
      <p:sp>
        <p:nvSpPr>
          <p:cNvPr id="46" name="polyline-045"/>
          <p:cNvSpPr/>
          <p:nvPr/>
        </p:nvSpPr>
        <p:spPr>
          <a:xfrm>
            <a:off x="7700000" y="4256000"/>
            <a:ext cx="1932000" cy="1"/>
          </a:xfrm>
          <a:custGeom>
            <a:avLst/>
            <a:gdLst/>
            <a:ahLst/>
            <a:cxnLst/>
            <a:rect l="0" t="0" r="r" b="b"/>
            <a:pathLst>
              <a:path w="1932000" h="1">
                <a:moveTo>
                  <a:pt x="0" y="0"/>
                </a:moveTo>
                <a:lnTo>
                  <a:pt x="19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gon-046"/>
          <p:cNvSpPr/>
          <p:nvPr/>
        </p:nvSpPr>
        <p:spPr>
          <a:xfrm>
            <a:off x="9564800" y="422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输出使能 → PAD"/>
          <p:cNvSpPr txBox="1"/>
          <p:nvPr/>
        </p:nvSpPr>
        <p:spPr>
          <a:xfrm>
            <a:off x="7952000" y="3976896"/>
            <a:ext cx="1079076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输出使能 → PAD</a:t>
            </a:r>
          </a:p>
        </p:txBody>
      </p:sp>
      <p:sp>
        <p:nvSpPr>
          <p:cNvPr id="49" name="polyline-048"/>
          <p:cNvSpPr/>
          <p:nvPr/>
        </p:nvSpPr>
        <p:spPr>
          <a:xfrm>
            <a:off x="3388000" y="1848000"/>
            <a:ext cx="1" cy="1316000"/>
          </a:xfrm>
          <a:custGeom>
            <a:avLst/>
            <a:gdLst/>
            <a:ahLst/>
            <a:cxnLst/>
            <a:rect l="0" t="0" r="r" b="b"/>
            <a:pathLst>
              <a:path w="1" h="1316000">
                <a:moveTo>
                  <a:pt x="0" y="131600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3360000" y="1848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4116000" y="1820000"/>
            <a:ext cx="1848000" cy="1344000"/>
          </a:xfrm>
          <a:custGeom>
            <a:avLst/>
            <a:gdLst/>
            <a:ahLst/>
            <a:cxnLst/>
            <a:rect l="0" t="0" r="r" b="b"/>
            <a:pathLst>
              <a:path w="1848000" h="1344000">
                <a:moveTo>
                  <a:pt x="0" y="1344000"/>
                </a:moveTo>
                <a:lnTo>
                  <a:pt x="0" y="588000"/>
                </a:lnTo>
                <a:lnTo>
                  <a:pt x="1848000" y="588000"/>
                </a:lnTo>
                <a:lnTo>
                  <a:pt x="18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-051"/>
          <p:cNvSpPr/>
          <p:nvPr/>
        </p:nvSpPr>
        <p:spPr>
          <a:xfrm>
            <a:off x="5936000" y="182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4536000" y="1820000"/>
            <a:ext cx="4116000" cy="1988000"/>
          </a:xfrm>
          <a:custGeom>
            <a:avLst/>
            <a:gdLst/>
            <a:ahLst/>
            <a:cxnLst/>
            <a:rect l="0" t="0" r="r" b="b"/>
            <a:pathLst>
              <a:path w="4116000" h="1988000">
                <a:moveTo>
                  <a:pt x="0" y="1988000"/>
                </a:moveTo>
                <a:lnTo>
                  <a:pt x="280000" y="1988000"/>
                </a:lnTo>
                <a:lnTo>
                  <a:pt x="280000" y="868000"/>
                </a:lnTo>
                <a:lnTo>
                  <a:pt x="4116000" y="868000"/>
                </a:lnTo>
                <a:lnTo>
                  <a:pt x="411600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gon-053"/>
          <p:cNvSpPr/>
          <p:nvPr/>
        </p:nvSpPr>
        <p:spPr>
          <a:xfrm>
            <a:off x="8624000" y="182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中断使能 / 清除 / 测试"/>
          <p:cNvSpPr txBox="1"/>
          <p:nvPr/>
        </p:nvSpPr>
        <p:spPr>
          <a:xfrm>
            <a:off x="5600000" y="2470944"/>
            <a:ext cx="138454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中断使能 / 清除 / 测试</a:t>
            </a:r>
          </a:p>
        </p:txBody>
      </p:sp>
      <p:sp>
        <p:nvSpPr>
          <p:cNvPr id="56" name="text-055: MASKED 写：掩码选中哪些位，只更新这些位；输入、输出值和输出使能是三条不同"/>
          <p:cNvSpPr txBox="1"/>
          <p:nvPr/>
        </p:nvSpPr>
        <p:spPr>
          <a:xfrm>
            <a:off x="252000" y="4726848"/>
            <a:ext cx="55286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 写：掩码选中哪些位，只更新这些位；输入、输出值和输出使能是三条不同路径。</a:t>
            </a:r>
          </a:p>
        </p:txBody>
      </p:sp>
      <p:sp>
        <p:nvSpPr>
          <p:cNvPr id="57" name="polyline-056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-057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60" name="polyline-059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-060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3" name="text-062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5  PLIC：源侧 pending / active 与目标侧优先级选择"/>
          <p:cNvSpPr txBox="1"/>
          <p:nvPr/>
        </p:nvSpPr>
        <p:spPr>
          <a:xfrm>
            <a:off x="224000" y="80864"/>
            <a:ext cx="438077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05  PLIC：源侧 pending / active 与目标侧优先级选择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1148000"/>
            <a:ext cx="1568000" cy="78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外设 IRQ 电平"/>
          <p:cNvSpPr txBox="1"/>
          <p:nvPr/>
        </p:nvSpPr>
        <p:spPr>
          <a:xfrm>
            <a:off x="528347" y="1260448"/>
            <a:ext cx="9593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外设 IRQ 电平</a:t>
            </a:r>
          </a:p>
        </p:txBody>
      </p:sp>
      <p:sp>
        <p:nvSpPr>
          <p:cNvPr id="6" name="text-005: 经 IRQ Router"/>
          <p:cNvSpPr txBox="1"/>
          <p:nvPr/>
        </p:nvSpPr>
        <p:spPr>
          <a:xfrm>
            <a:off x="576017" y="1451744"/>
            <a:ext cx="8639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经 IRQ Router</a:t>
            </a:r>
          </a:p>
        </p:txBody>
      </p:sp>
      <p:sp>
        <p:nvSpPr>
          <p:cNvPr id="7" name="text-006: PLIC 目标分支"/>
          <p:cNvSpPr txBox="1"/>
          <p:nvPr/>
        </p:nvSpPr>
        <p:spPr>
          <a:xfrm>
            <a:off x="562118" y="1630944"/>
            <a:ext cx="89176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 目标分支</a:t>
            </a:r>
          </a:p>
        </p:txBody>
      </p:sp>
      <p:sp>
        <p:nvSpPr>
          <p:cNvPr id="8" name="rect-007"/>
          <p:cNvSpPr/>
          <p:nvPr/>
        </p:nvSpPr>
        <p:spPr>
          <a:xfrm>
            <a:off x="2352000" y="1148000"/>
            <a:ext cx="1680000" cy="78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8: 1  prim_flop_2sync"/>
          <p:cNvSpPr txBox="1"/>
          <p:nvPr/>
        </p:nvSpPr>
        <p:spPr>
          <a:xfrm>
            <a:off x="2567644" y="1260448"/>
            <a:ext cx="12487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prim_flop_2sync</a:t>
            </a:r>
          </a:p>
        </p:txBody>
      </p:sp>
      <p:sp>
        <p:nvSpPr>
          <p:cNvPr id="10" name="text-009: 同步输入"/>
          <p:cNvSpPr txBox="1"/>
          <p:nvPr/>
        </p:nvSpPr>
        <p:spPr>
          <a:xfrm>
            <a:off x="2884000" y="1451744"/>
            <a:ext cx="616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同步输入</a:t>
            </a:r>
          </a:p>
        </p:txBody>
      </p:sp>
      <p:sp>
        <p:nvSpPr>
          <p:cNvPr id="11" name="text-010: 本集成按电平触发"/>
          <p:cNvSpPr txBox="1"/>
          <p:nvPr/>
        </p:nvSpPr>
        <p:spPr>
          <a:xfrm>
            <a:off x="2637600" y="1630944"/>
            <a:ext cx="11088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本集成按电平触发</a:t>
            </a:r>
          </a:p>
        </p:txBody>
      </p:sp>
      <p:sp>
        <p:nvSpPr>
          <p:cNvPr id="12" name="polyline-011"/>
          <p:cNvSpPr/>
          <p:nvPr/>
        </p:nvSpPr>
        <p:spPr>
          <a:xfrm>
            <a:off x="1792000" y="1540000"/>
            <a:ext cx="560000" cy="1"/>
          </a:xfrm>
          <a:custGeom>
            <a:avLst/>
            <a:gdLst/>
            <a:ahLst/>
            <a:cxnLst/>
            <a:rect l="0" t="0" r="r" b="b"/>
            <a:pathLst>
              <a:path w="560000" h="1">
                <a:moveTo>
                  <a:pt x="0" y="0"/>
                </a:moveTo>
                <a:lnTo>
                  <a:pt x="56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2284800" y="151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3"/>
          <p:cNvSpPr/>
          <p:nvPr/>
        </p:nvSpPr>
        <p:spPr>
          <a:xfrm>
            <a:off x="4676000" y="1008000"/>
            <a:ext cx="1960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2  rv_plic_gateway"/>
          <p:cNvSpPr txBox="1"/>
          <p:nvPr/>
        </p:nvSpPr>
        <p:spPr>
          <a:xfrm>
            <a:off x="5053169" y="1081248"/>
            <a:ext cx="12056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rv_plic_gateway</a:t>
            </a:r>
          </a:p>
        </p:txBody>
      </p:sp>
      <p:sp>
        <p:nvSpPr>
          <p:cNvPr id="16" name="text-015: 每源 pending：ip"/>
          <p:cNvSpPr txBox="1"/>
          <p:nvPr/>
        </p:nvSpPr>
        <p:spPr>
          <a:xfrm>
            <a:off x="5131617" y="1272544"/>
            <a:ext cx="10487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pending：ip</a:t>
            </a:r>
          </a:p>
        </p:txBody>
      </p:sp>
      <p:sp>
        <p:nvSpPr>
          <p:cNvPr id="17" name="text-016: 每源 active：ia"/>
          <p:cNvSpPr txBox="1"/>
          <p:nvPr/>
        </p:nvSpPr>
        <p:spPr>
          <a:xfrm>
            <a:off x="5185758" y="1451744"/>
            <a:ext cx="94048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active：ia</a:t>
            </a:r>
          </a:p>
        </p:txBody>
      </p:sp>
      <p:sp>
        <p:nvSpPr>
          <p:cNvPr id="18" name="text-017: claim 清 pending"/>
          <p:cNvSpPr txBox="1"/>
          <p:nvPr/>
        </p:nvSpPr>
        <p:spPr>
          <a:xfrm>
            <a:off x="5141605" y="1630944"/>
            <a:ext cx="102879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claim 清 pending</a:t>
            </a:r>
          </a:p>
        </p:txBody>
      </p:sp>
      <p:sp>
        <p:nvSpPr>
          <p:cNvPr id="19" name="text-018: complete 允许再触发"/>
          <p:cNvSpPr txBox="1"/>
          <p:nvPr/>
        </p:nvSpPr>
        <p:spPr>
          <a:xfrm>
            <a:off x="5020693" y="1810144"/>
            <a:ext cx="127061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complete 允许再触发</a:t>
            </a:r>
          </a:p>
        </p:txBody>
      </p:sp>
      <p:sp>
        <p:nvSpPr>
          <p:cNvPr id="20" name="polyline-019"/>
          <p:cNvSpPr/>
          <p:nvPr/>
        </p:nvSpPr>
        <p:spPr>
          <a:xfrm>
            <a:off x="4032000" y="1540000"/>
            <a:ext cx="644000" cy="1"/>
          </a:xfrm>
          <a:custGeom>
            <a:avLst/>
            <a:gdLst/>
            <a:ahLst/>
            <a:cxnLst/>
            <a:rect l="0" t="0" r="r" b="b"/>
            <a:pathLst>
              <a:path w="644000" h="1">
                <a:moveTo>
                  <a:pt x="0" y="0"/>
                </a:moveTo>
                <a:lnTo>
                  <a:pt x="644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4608800" y="151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7532000" y="1008000"/>
            <a:ext cx="2156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2: 3  rv_plic_target × 目标"/>
          <p:cNvSpPr txBox="1"/>
          <p:nvPr/>
        </p:nvSpPr>
        <p:spPr>
          <a:xfrm>
            <a:off x="7858003" y="1170848"/>
            <a:ext cx="15039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rv_plic_target × 目标</a:t>
            </a:r>
          </a:p>
        </p:txBody>
      </p:sp>
      <p:sp>
        <p:nvSpPr>
          <p:cNvPr id="24" name="text-023: pending &amp; enable"/>
          <p:cNvSpPr txBox="1"/>
          <p:nvPr/>
        </p:nvSpPr>
        <p:spPr>
          <a:xfrm>
            <a:off x="8077256" y="1362144"/>
            <a:ext cx="106548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&amp; enable</a:t>
            </a:r>
          </a:p>
        </p:txBody>
      </p:sp>
      <p:sp>
        <p:nvSpPr>
          <p:cNvPr id="25" name="text-024: priority &gt; threshold"/>
          <p:cNvSpPr txBox="1"/>
          <p:nvPr/>
        </p:nvSpPr>
        <p:spPr>
          <a:xfrm>
            <a:off x="8041644" y="1541344"/>
            <a:ext cx="113671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priority &gt; threshold</a:t>
            </a:r>
          </a:p>
        </p:txBody>
      </p:sp>
      <p:sp>
        <p:nvSpPr>
          <p:cNvPr id="26" name="text-025: 选择获胜源 / 产生 IRQ"/>
          <p:cNvSpPr txBox="1"/>
          <p:nvPr/>
        </p:nvSpPr>
        <p:spPr>
          <a:xfrm>
            <a:off x="7935047" y="1720544"/>
            <a:ext cx="13499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选择获胜源 / 产生 IRQ</a:t>
            </a:r>
          </a:p>
        </p:txBody>
      </p:sp>
      <p:sp>
        <p:nvSpPr>
          <p:cNvPr id="27" name="polyline-026"/>
          <p:cNvSpPr/>
          <p:nvPr/>
        </p:nvSpPr>
        <p:spPr>
          <a:xfrm>
            <a:off x="6636000" y="1540000"/>
            <a:ext cx="896000" cy="1"/>
          </a:xfrm>
          <a:custGeom>
            <a:avLst/>
            <a:gdLst/>
            <a:ahLst/>
            <a:cxnLst/>
            <a:rect l="0" t="0" r="r" b="b"/>
            <a:pathLst>
              <a:path w="896000" h="1">
                <a:moveTo>
                  <a:pt x="0" y="0"/>
                </a:moveTo>
                <a:lnTo>
                  <a:pt x="89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gon-027"/>
          <p:cNvSpPr/>
          <p:nvPr/>
        </p:nvSpPr>
        <p:spPr>
          <a:xfrm>
            <a:off x="7464800" y="151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8"/>
          <p:cNvSpPr/>
          <p:nvPr/>
        </p:nvSpPr>
        <p:spPr>
          <a:xfrm>
            <a:off x="8596000" y="2072000"/>
            <a:ext cx="1" cy="560000"/>
          </a:xfrm>
          <a:custGeom>
            <a:avLst/>
            <a:gdLst/>
            <a:ahLst/>
            <a:cxnLst/>
            <a:rect l="0" t="0" r="r" b="b"/>
            <a:pathLst>
              <a:path w="1" h="560000">
                <a:moveTo>
                  <a:pt x="0" y="0"/>
                </a:moveTo>
                <a:lnTo>
                  <a:pt x="0" y="56000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gon-029"/>
          <p:cNvSpPr/>
          <p:nvPr/>
        </p:nvSpPr>
        <p:spPr>
          <a:xfrm>
            <a:off x="8568000" y="2564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xeip → hart"/>
          <p:cNvSpPr txBox="1"/>
          <p:nvPr/>
        </p:nvSpPr>
        <p:spPr>
          <a:xfrm>
            <a:off x="8344000" y="2654848"/>
            <a:ext cx="8162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32" name="text-031: M / S 外部中断"/>
          <p:cNvSpPr txBox="1"/>
          <p:nvPr/>
        </p:nvSpPr>
        <p:spPr>
          <a:xfrm>
            <a:off x="8344000" y="2868544"/>
            <a:ext cx="96803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 / S 外部中断</a:t>
            </a:r>
          </a:p>
        </p:txBody>
      </p:sp>
      <p:sp>
        <p:nvSpPr>
          <p:cNvPr id="33" name="rect-032"/>
          <p:cNvSpPr/>
          <p:nvPr/>
        </p:nvSpPr>
        <p:spPr>
          <a:xfrm>
            <a:off x="2296000" y="3668000"/>
            <a:ext cx="4340000" cy="1008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4  rv_plic_reg_top"/>
          <p:cNvSpPr txBox="1"/>
          <p:nvPr/>
        </p:nvSpPr>
        <p:spPr>
          <a:xfrm>
            <a:off x="3880625" y="3802848"/>
            <a:ext cx="11707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rv_plic_reg_top</a:t>
            </a:r>
          </a:p>
        </p:txBody>
      </p:sp>
      <p:sp>
        <p:nvSpPr>
          <p:cNvPr id="35" name="text-034: 源 priority；每目标 enable / threshold"/>
          <p:cNvSpPr txBox="1"/>
          <p:nvPr/>
        </p:nvSpPr>
        <p:spPr>
          <a:xfrm>
            <a:off x="3376874" y="3994144"/>
            <a:ext cx="217825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priority；每目标 enable / threshold</a:t>
            </a:r>
          </a:p>
        </p:txBody>
      </p:sp>
      <p:sp>
        <p:nvSpPr>
          <p:cNvPr id="36" name="text-035: 读 claim → 源 ID；写 complete ← 已处理 ID"/>
          <p:cNvSpPr txBox="1"/>
          <p:nvPr/>
        </p:nvSpPr>
        <p:spPr>
          <a:xfrm>
            <a:off x="3199118" y="4173344"/>
            <a:ext cx="253376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 claim → 源 ID；写 complete ← 已处理 ID</a:t>
            </a:r>
          </a:p>
        </p:txBody>
      </p:sp>
      <p:sp>
        <p:nvSpPr>
          <p:cNvPr id="37" name="text-036: 源 ID = 0 保留；设备自身状态需驱动清除"/>
          <p:cNvSpPr txBox="1"/>
          <p:nvPr/>
        </p:nvSpPr>
        <p:spPr>
          <a:xfrm>
            <a:off x="3276048" y="4352544"/>
            <a:ext cx="237990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ID = 0 保留；设备自身状态需驱动清除</a:t>
            </a:r>
          </a:p>
        </p:txBody>
      </p:sp>
      <p:sp>
        <p:nvSpPr>
          <p:cNvPr id="38" name="text-037: Regbus 请求 / 响应"/>
          <p:cNvSpPr txBox="1"/>
          <p:nvPr/>
        </p:nvSpPr>
        <p:spPr>
          <a:xfrm>
            <a:off x="2464000" y="3298848"/>
            <a:ext cx="13002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9" name="polyline-038"/>
          <p:cNvSpPr/>
          <p:nvPr/>
        </p:nvSpPr>
        <p:spPr>
          <a:xfrm>
            <a:off x="5656000" y="2072000"/>
            <a:ext cx="336000" cy="1596000"/>
          </a:xfrm>
          <a:custGeom>
            <a:avLst/>
            <a:gdLst/>
            <a:ahLst/>
            <a:cxnLst/>
            <a:rect l="0" t="0" r="r" b="b"/>
            <a:pathLst>
              <a:path w="336000" h="1596000">
                <a:moveTo>
                  <a:pt x="336000" y="1596000"/>
                </a:moveTo>
                <a:lnTo>
                  <a:pt x="336000" y="924000"/>
                </a:lnTo>
                <a:lnTo>
                  <a:pt x="0" y="924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olygon-039"/>
          <p:cNvSpPr/>
          <p:nvPr/>
        </p:nvSpPr>
        <p:spPr>
          <a:xfrm>
            <a:off x="5628000" y="2072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claim / complete"/>
          <p:cNvSpPr txBox="1"/>
          <p:nvPr/>
        </p:nvSpPr>
        <p:spPr>
          <a:xfrm>
            <a:off x="4256000" y="2716896"/>
            <a:ext cx="1088272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2" name="polyline-041"/>
          <p:cNvSpPr/>
          <p:nvPr/>
        </p:nvSpPr>
        <p:spPr>
          <a:xfrm>
            <a:off x="6384000" y="2072000"/>
            <a:ext cx="1512000" cy="1596000"/>
          </a:xfrm>
          <a:custGeom>
            <a:avLst/>
            <a:gdLst/>
            <a:ahLst/>
            <a:cxnLst/>
            <a:rect l="0" t="0" r="r" b="b"/>
            <a:pathLst>
              <a:path w="1512000" h="1596000">
                <a:moveTo>
                  <a:pt x="1512000" y="0"/>
                </a:moveTo>
                <a:lnTo>
                  <a:pt x="1512000" y="1120000"/>
                </a:lnTo>
                <a:lnTo>
                  <a:pt x="0" y="1120000"/>
                </a:lnTo>
                <a:lnTo>
                  <a:pt x="0" y="159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gon-042"/>
          <p:cNvSpPr/>
          <p:nvPr/>
        </p:nvSpPr>
        <p:spPr>
          <a:xfrm>
            <a:off x="6356000" y="360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获胜源 ID"/>
          <p:cNvSpPr txBox="1"/>
          <p:nvPr/>
        </p:nvSpPr>
        <p:spPr>
          <a:xfrm>
            <a:off x="6776000" y="3193344"/>
            <a:ext cx="64295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 ID</a:t>
            </a:r>
          </a:p>
        </p:txBody>
      </p:sp>
      <p:sp>
        <p:nvSpPr>
          <p:cNvPr id="45" name="polyline-044"/>
          <p:cNvSpPr/>
          <p:nvPr/>
        </p:nvSpPr>
        <p:spPr>
          <a:xfrm>
            <a:off x="6636000" y="2072000"/>
            <a:ext cx="2856000" cy="2184000"/>
          </a:xfrm>
          <a:custGeom>
            <a:avLst/>
            <a:gdLst/>
            <a:ahLst/>
            <a:cxnLst/>
            <a:rect l="0" t="0" r="r" b="b"/>
            <a:pathLst>
              <a:path w="2856000" h="2184000">
                <a:moveTo>
                  <a:pt x="0" y="2184000"/>
                </a:moveTo>
                <a:lnTo>
                  <a:pt x="2856000" y="2184000"/>
                </a:lnTo>
                <a:lnTo>
                  <a:pt x="2856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gon-045"/>
          <p:cNvSpPr/>
          <p:nvPr/>
        </p:nvSpPr>
        <p:spPr>
          <a:xfrm>
            <a:off x="9464000" y="2072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priority / enable / threshold"/>
          <p:cNvSpPr txBox="1"/>
          <p:nvPr/>
        </p:nvSpPr>
        <p:spPr>
          <a:xfrm>
            <a:off x="7392000" y="4346496"/>
            <a:ext cx="1700212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priority / enable / threshold</a:t>
            </a:r>
          </a:p>
        </p:txBody>
      </p:sp>
      <p:sp>
        <p:nvSpPr>
          <p:cNvPr id="48" name="polyline-047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gon-048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51" name="polyline-050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-051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54" name="text-053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6A  CLINT：RTC 边沿变为计数使能；比较器产生定时中断"/>
          <p:cNvSpPr txBox="1"/>
          <p:nvPr/>
        </p:nvSpPr>
        <p:spPr>
          <a:xfrm>
            <a:off x="224000" y="80864"/>
            <a:ext cx="482667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06A  CLINT：RTC 边沿变为计数使能；比较器产生定时中断</a:t>
            </a:r>
          </a:p>
        </p:txBody>
      </p:sp>
      <p:sp>
        <p:nvSpPr>
          <p:cNvPr id="4" name="rect-003"/>
          <p:cNvSpPr/>
          <p:nvPr/>
        </p:nvSpPr>
        <p:spPr>
          <a:xfrm>
            <a:off x="2072000" y="812000"/>
            <a:ext cx="7700000" cy="3864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9DAABA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clint：寄存器、计数器和比较器均在 clk_i / rst_ni 域"/>
          <p:cNvSpPr txBox="1"/>
          <p:nvPr/>
        </p:nvSpPr>
        <p:spPr>
          <a:xfrm>
            <a:off x="2156000" y="840896"/>
            <a:ext cx="308216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clint：寄存器、计数器和比较器均在 clk_i / rst_ni 域</a:t>
            </a:r>
          </a:p>
        </p:txBody>
      </p:sp>
      <p:sp>
        <p:nvSpPr>
          <p:cNvPr id="6" name="text-005: rtc_i"/>
          <p:cNvSpPr txBox="1"/>
          <p:nvPr/>
        </p:nvSpPr>
        <p:spPr>
          <a:xfrm>
            <a:off x="392000" y="1342656"/>
            <a:ext cx="448061" cy="250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7" name="polyline-006"/>
          <p:cNvSpPr/>
          <p:nvPr/>
        </p:nvSpPr>
        <p:spPr>
          <a:xfrm>
            <a:off x="364000" y="1680000"/>
            <a:ext cx="1960000" cy="1"/>
          </a:xfrm>
          <a:custGeom>
            <a:avLst/>
            <a:gdLst/>
            <a:ahLst/>
            <a:cxnLst/>
            <a:rect l="0" t="0" r="r" b="b"/>
            <a:pathLst>
              <a:path w="1960000" h="1">
                <a:moveTo>
                  <a:pt x="0" y="0"/>
                </a:moveTo>
                <a:lnTo>
                  <a:pt x="196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2256800" y="16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8"/>
          <p:cNvSpPr/>
          <p:nvPr/>
        </p:nvSpPr>
        <p:spPr>
          <a:xfrm>
            <a:off x="2324000" y="1316000"/>
            <a:ext cx="1904000" cy="78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1  clint_sync_wedge"/>
          <p:cNvSpPr txBox="1"/>
          <p:nvPr/>
        </p:nvSpPr>
        <p:spPr>
          <a:xfrm>
            <a:off x="2620800" y="1428448"/>
            <a:ext cx="13104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clint_sync_wedge</a:t>
            </a:r>
          </a:p>
        </p:txBody>
      </p:sp>
      <p:sp>
        <p:nvSpPr>
          <p:cNvPr id="11" name="text-010: 同步 + 上升沿检测"/>
          <p:cNvSpPr txBox="1"/>
          <p:nvPr/>
        </p:nvSpPr>
        <p:spPr>
          <a:xfrm>
            <a:off x="2709328" y="1619744"/>
            <a:ext cx="113334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 + 上升沿检测</a:t>
            </a:r>
          </a:p>
        </p:txBody>
      </p:sp>
      <p:sp>
        <p:nvSpPr>
          <p:cNvPr id="12" name="text-011: increase_timer：一拍使能"/>
          <p:cNvSpPr txBox="1"/>
          <p:nvPr/>
        </p:nvSpPr>
        <p:spPr>
          <a:xfrm>
            <a:off x="2509071" y="1798944"/>
            <a:ext cx="153385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increase_timer：一拍使能</a:t>
            </a:r>
          </a:p>
        </p:txBody>
      </p:sp>
      <p:sp>
        <p:nvSpPr>
          <p:cNvPr id="13" name="rect-012"/>
          <p:cNvSpPr/>
          <p:nvPr/>
        </p:nvSpPr>
        <p:spPr>
          <a:xfrm>
            <a:off x="5040000" y="1316000"/>
            <a:ext cx="1960000" cy="78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line-013"/>
          <p:cNvCxnSpPr/>
          <p:nvPr/>
        </p:nvCxnSpPr>
        <p:spPr>
          <a:xfrm>
            <a:off x="5107200" y="1316000"/>
            <a:ext cx="0" cy="784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15" name="text-014: 2  MTIME[63:0]"/>
          <p:cNvSpPr txBox="1"/>
          <p:nvPr/>
        </p:nvSpPr>
        <p:spPr>
          <a:xfrm>
            <a:off x="5492112" y="1428448"/>
            <a:ext cx="10557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MTIME[63:0]</a:t>
            </a:r>
          </a:p>
        </p:txBody>
      </p:sp>
      <p:sp>
        <p:nvSpPr>
          <p:cNvPr id="16" name="text-015: 寄存器反馈 + 加 1"/>
          <p:cNvSpPr txBox="1"/>
          <p:nvPr/>
        </p:nvSpPr>
        <p:spPr>
          <a:xfrm>
            <a:off x="5459523" y="1619744"/>
            <a:ext cx="112095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寄存器反馈 + 加 1</a:t>
            </a:r>
          </a:p>
        </p:txBody>
      </p:sp>
      <p:sp>
        <p:nvSpPr>
          <p:cNvPr id="17" name="text-016: 仅 RTC 上升沿使能更新"/>
          <p:cNvSpPr txBox="1"/>
          <p:nvPr/>
        </p:nvSpPr>
        <p:spPr>
          <a:xfrm>
            <a:off x="5321584" y="1798944"/>
            <a:ext cx="139683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仅 RTC 上升沿使能更新</a:t>
            </a:r>
          </a:p>
        </p:txBody>
      </p:sp>
      <p:sp>
        <p:nvSpPr>
          <p:cNvPr id="18" name="polyline-017"/>
          <p:cNvSpPr/>
          <p:nvPr/>
        </p:nvSpPr>
        <p:spPr>
          <a:xfrm>
            <a:off x="4228000" y="1680000"/>
            <a:ext cx="812000" cy="1"/>
          </a:xfrm>
          <a:custGeom>
            <a:avLst/>
            <a:gdLst/>
            <a:ahLst/>
            <a:cxnLst/>
            <a:rect l="0" t="0" r="r" b="b"/>
            <a:pathLst>
              <a:path w="812000" h="1">
                <a:moveTo>
                  <a:pt x="0" y="0"/>
                </a:moveTo>
                <a:lnTo>
                  <a:pt x="812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4972800" y="16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7728000" y="1400000"/>
            <a:ext cx="1232000" cy="672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3  ≥ 比较"/>
          <p:cNvSpPr txBox="1"/>
          <p:nvPr/>
        </p:nvSpPr>
        <p:spPr>
          <a:xfrm>
            <a:off x="7985753" y="1546048"/>
            <a:ext cx="7164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≥ 比较</a:t>
            </a:r>
          </a:p>
        </p:txBody>
      </p:sp>
      <p:sp>
        <p:nvSpPr>
          <p:cNvPr id="22" name="text-021: 无条件保持比较"/>
          <p:cNvSpPr txBox="1"/>
          <p:nvPr/>
        </p:nvSpPr>
        <p:spPr>
          <a:xfrm>
            <a:off x="7851200" y="17373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无条件保持比较</a:t>
            </a:r>
          </a:p>
        </p:txBody>
      </p:sp>
      <p:sp>
        <p:nvSpPr>
          <p:cNvPr id="23" name="polyline-022"/>
          <p:cNvSpPr/>
          <p:nvPr/>
        </p:nvSpPr>
        <p:spPr>
          <a:xfrm>
            <a:off x="7000000" y="1680000"/>
            <a:ext cx="728000" cy="1"/>
          </a:xfrm>
          <a:custGeom>
            <a:avLst/>
            <a:gdLst/>
            <a:ahLst/>
            <a:cxnLst/>
            <a:rect l="0" t="0" r="r" b="b"/>
            <a:pathLst>
              <a:path w="728000" h="1">
                <a:moveTo>
                  <a:pt x="0" y="0"/>
                </a:moveTo>
                <a:lnTo>
                  <a:pt x="72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7660800" y="16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line-024"/>
          <p:cNvSpPr/>
          <p:nvPr/>
        </p:nvSpPr>
        <p:spPr>
          <a:xfrm>
            <a:off x="8960000" y="1680000"/>
            <a:ext cx="672000" cy="672000"/>
          </a:xfrm>
          <a:custGeom>
            <a:avLst/>
            <a:gdLst/>
            <a:ahLst/>
            <a:cxnLst/>
            <a:rect l="0" t="0" r="r" b="b"/>
            <a:pathLst>
              <a:path w="672000" h="672000">
                <a:moveTo>
                  <a:pt x="0" y="0"/>
                </a:moveTo>
                <a:lnTo>
                  <a:pt x="672000" y="0"/>
                </a:lnTo>
                <a:lnTo>
                  <a:pt x="672000" y="67200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gon-025"/>
          <p:cNvSpPr/>
          <p:nvPr/>
        </p:nvSpPr>
        <p:spPr>
          <a:xfrm>
            <a:off x="9604000" y="2284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MTIP → hart"/>
          <p:cNvSpPr txBox="1"/>
          <p:nvPr/>
        </p:nvSpPr>
        <p:spPr>
          <a:xfrm>
            <a:off x="8792000" y="2447648"/>
            <a:ext cx="8675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MTIP → hart</a:t>
            </a:r>
          </a:p>
        </p:txBody>
      </p:sp>
      <p:sp>
        <p:nvSpPr>
          <p:cNvPr id="28" name="rect-027"/>
          <p:cNvSpPr/>
          <p:nvPr/>
        </p:nvSpPr>
        <p:spPr>
          <a:xfrm>
            <a:off x="5040000" y="2940000"/>
            <a:ext cx="1960000" cy="67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line-028"/>
          <p:cNvCxnSpPr/>
          <p:nvPr/>
        </p:nvCxnSpPr>
        <p:spPr>
          <a:xfrm>
            <a:off x="5107200" y="2940000"/>
            <a:ext cx="0" cy="672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0" name="text-029: 4  MTIMECMP[63:0]"/>
          <p:cNvSpPr txBox="1"/>
          <p:nvPr/>
        </p:nvSpPr>
        <p:spPr>
          <a:xfrm>
            <a:off x="5357844" y="3086048"/>
            <a:ext cx="13243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MTIMECMP[63:0]</a:t>
            </a:r>
          </a:p>
        </p:txBody>
      </p:sp>
      <p:sp>
        <p:nvSpPr>
          <p:cNvPr id="31" name="text-030: 每 hart 一个比较值"/>
          <p:cNvSpPr txBox="1"/>
          <p:nvPr/>
        </p:nvSpPr>
        <p:spPr>
          <a:xfrm>
            <a:off x="5446114" y="3277344"/>
            <a:ext cx="114777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 hart 一个比较值</a:t>
            </a:r>
          </a:p>
        </p:txBody>
      </p:sp>
      <p:sp>
        <p:nvSpPr>
          <p:cNvPr id="32" name="polyline-031"/>
          <p:cNvSpPr/>
          <p:nvPr/>
        </p:nvSpPr>
        <p:spPr>
          <a:xfrm>
            <a:off x="7000000" y="2072000"/>
            <a:ext cx="1344000" cy="1204000"/>
          </a:xfrm>
          <a:custGeom>
            <a:avLst/>
            <a:gdLst/>
            <a:ahLst/>
            <a:cxnLst/>
            <a:rect l="0" t="0" r="r" b="b"/>
            <a:pathLst>
              <a:path w="1344000" h="1204000">
                <a:moveTo>
                  <a:pt x="0" y="1204000"/>
                </a:moveTo>
                <a:lnTo>
                  <a:pt x="1344000" y="1204000"/>
                </a:lnTo>
                <a:lnTo>
                  <a:pt x="1344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8316000" y="2072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2324000" y="3108000"/>
            <a:ext cx="1904000" cy="924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5  clint_reg_top"/>
          <p:cNvSpPr txBox="1"/>
          <p:nvPr/>
        </p:nvSpPr>
        <p:spPr>
          <a:xfrm>
            <a:off x="2753756" y="3200848"/>
            <a:ext cx="10444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clint_reg_top</a:t>
            </a:r>
          </a:p>
        </p:txBody>
      </p:sp>
      <p:sp>
        <p:nvSpPr>
          <p:cNvPr id="36" name="text-035: MTIME_LO / HI"/>
          <p:cNvSpPr txBox="1"/>
          <p:nvPr/>
        </p:nvSpPr>
        <p:spPr>
          <a:xfrm>
            <a:off x="2804436" y="3392144"/>
            <a:ext cx="94312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MTIME_LO / HI</a:t>
            </a:r>
          </a:p>
        </p:txBody>
      </p:sp>
      <p:sp>
        <p:nvSpPr>
          <p:cNvPr id="37" name="text-036: MTIMECMP_LO / HI"/>
          <p:cNvSpPr txBox="1"/>
          <p:nvPr/>
        </p:nvSpPr>
        <p:spPr>
          <a:xfrm>
            <a:off x="2681354" y="3571344"/>
            <a:ext cx="11892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MTIMECMP_LO / HI</a:t>
            </a:r>
          </a:p>
        </p:txBody>
      </p:sp>
      <p:sp>
        <p:nvSpPr>
          <p:cNvPr id="38" name="text-037: MSIP"/>
          <p:cNvSpPr txBox="1"/>
          <p:nvPr/>
        </p:nvSpPr>
        <p:spPr>
          <a:xfrm>
            <a:off x="3075314" y="3750544"/>
            <a:ext cx="40137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</a:t>
            </a:r>
          </a:p>
        </p:txBody>
      </p:sp>
      <p:sp>
        <p:nvSpPr>
          <p:cNvPr id="39" name="text-038: Regbus 32"/>
          <p:cNvSpPr txBox="1"/>
          <p:nvPr/>
        </p:nvSpPr>
        <p:spPr>
          <a:xfrm>
            <a:off x="392000" y="3376800"/>
            <a:ext cx="805691" cy="22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40" name="polyline-039"/>
          <p:cNvSpPr/>
          <p:nvPr/>
        </p:nvSpPr>
        <p:spPr>
          <a:xfrm>
            <a:off x="364000" y="3724000"/>
            <a:ext cx="1960000" cy="1"/>
          </a:xfrm>
          <a:custGeom>
            <a:avLst/>
            <a:gdLst/>
            <a:ahLst/>
            <a:cxnLst/>
            <a:rect l="0" t="0" r="r" b="b"/>
            <a:pathLst>
              <a:path w="1960000" h="1">
                <a:moveTo>
                  <a:pt x="0" y="0"/>
                </a:moveTo>
                <a:lnTo>
                  <a:pt x="196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gon-040"/>
          <p:cNvSpPr/>
          <p:nvPr/>
        </p:nvSpPr>
        <p:spPr>
          <a:xfrm>
            <a:off x="22568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3640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line-042"/>
          <p:cNvSpPr/>
          <p:nvPr/>
        </p:nvSpPr>
        <p:spPr>
          <a:xfrm>
            <a:off x="4228000" y="3360000"/>
            <a:ext cx="812000" cy="1"/>
          </a:xfrm>
          <a:custGeom>
            <a:avLst/>
            <a:gdLst/>
            <a:ahLst/>
            <a:cxnLst/>
            <a:rect l="0" t="0" r="r" b="b"/>
            <a:pathLst>
              <a:path w="812000" h="1">
                <a:moveTo>
                  <a:pt x="0" y="0"/>
                </a:moveTo>
                <a:lnTo>
                  <a:pt x="81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4972800" y="333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3948000" y="2100000"/>
            <a:ext cx="1596000" cy="1008000"/>
          </a:xfrm>
          <a:custGeom>
            <a:avLst/>
            <a:gdLst/>
            <a:ahLst/>
            <a:cxnLst/>
            <a:rect l="0" t="0" r="r" b="b"/>
            <a:pathLst>
              <a:path w="1596000" h="1008000">
                <a:moveTo>
                  <a:pt x="0" y="1008000"/>
                </a:moveTo>
                <a:lnTo>
                  <a:pt x="0" y="364000"/>
                </a:lnTo>
                <a:lnTo>
                  <a:pt x="1596000" y="364000"/>
                </a:lnTo>
                <a:lnTo>
                  <a:pt x="159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gon-045"/>
          <p:cNvSpPr/>
          <p:nvPr/>
        </p:nvSpPr>
        <p:spPr>
          <a:xfrm>
            <a:off x="5516000" y="210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gon-046"/>
          <p:cNvSpPr/>
          <p:nvPr/>
        </p:nvSpPr>
        <p:spPr>
          <a:xfrm>
            <a:off x="3920000" y="304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7728000" y="3780000"/>
            <a:ext cx="1400000" cy="560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line-048"/>
          <p:cNvCxnSpPr/>
          <p:nvPr/>
        </p:nvCxnSpPr>
        <p:spPr>
          <a:xfrm>
            <a:off x="7795200" y="3780000"/>
            <a:ext cx="0" cy="560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50" name="text-049: 6  MSIP 位"/>
          <p:cNvSpPr txBox="1"/>
          <p:nvPr/>
        </p:nvSpPr>
        <p:spPr>
          <a:xfrm>
            <a:off x="8041141" y="3870048"/>
            <a:ext cx="77371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MSIP 位</a:t>
            </a:r>
          </a:p>
        </p:txBody>
      </p:sp>
      <p:sp>
        <p:nvSpPr>
          <p:cNvPr id="51" name="text-050: 软件置位 / 清零"/>
          <p:cNvSpPr txBox="1"/>
          <p:nvPr/>
        </p:nvSpPr>
        <p:spPr>
          <a:xfrm>
            <a:off x="7927863" y="4061344"/>
            <a:ext cx="1000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软件置位 / 清零</a:t>
            </a:r>
          </a:p>
        </p:txBody>
      </p:sp>
      <p:sp>
        <p:nvSpPr>
          <p:cNvPr id="52" name="polyline-051"/>
          <p:cNvSpPr/>
          <p:nvPr/>
        </p:nvSpPr>
        <p:spPr>
          <a:xfrm>
            <a:off x="4228000" y="3864000"/>
            <a:ext cx="3500000" cy="392000"/>
          </a:xfrm>
          <a:custGeom>
            <a:avLst/>
            <a:gdLst/>
            <a:ahLst/>
            <a:cxnLst/>
            <a:rect l="0" t="0" r="r" b="b"/>
            <a:pathLst>
              <a:path w="3500000" h="392000">
                <a:moveTo>
                  <a:pt x="0" y="0"/>
                </a:moveTo>
                <a:lnTo>
                  <a:pt x="448000" y="0"/>
                </a:lnTo>
                <a:lnTo>
                  <a:pt x="448000" y="392000"/>
                </a:lnTo>
                <a:lnTo>
                  <a:pt x="3500000" y="392000"/>
                </a:lnTo>
                <a:lnTo>
                  <a:pt x="3500000" y="19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7700000" y="406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9128000" y="4060000"/>
            <a:ext cx="504000" cy="1"/>
          </a:xfrm>
          <a:custGeom>
            <a:avLst/>
            <a:gdLst/>
            <a:ahLst/>
            <a:cxnLst/>
            <a:rect l="0" t="0" r="r" b="b"/>
            <a:pathLst>
              <a:path w="504000" h="1">
                <a:moveTo>
                  <a:pt x="0" y="0"/>
                </a:moveTo>
                <a:lnTo>
                  <a:pt x="50400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-054"/>
          <p:cNvSpPr/>
          <p:nvPr/>
        </p:nvSpPr>
        <p:spPr>
          <a:xfrm>
            <a:off x="9564800" y="403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MSIP → hart"/>
          <p:cNvSpPr txBox="1"/>
          <p:nvPr/>
        </p:nvSpPr>
        <p:spPr>
          <a:xfrm>
            <a:off x="7840000" y="4390848"/>
            <a:ext cx="8835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MSIP → hart</a:t>
            </a:r>
          </a:p>
        </p:txBody>
      </p:sp>
      <p:sp>
        <p:nvSpPr>
          <p:cNvPr id="57" name="text-056: MTIP 的清除方法是让 MTIMECMP 大于 MTIME；这里没有 PLIC"/>
          <p:cNvSpPr txBox="1"/>
          <p:nvPr/>
        </p:nvSpPr>
        <p:spPr>
          <a:xfrm>
            <a:off x="252000" y="4838848"/>
            <a:ext cx="50049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的清除方法是让 MTIMECMP 大于 MTIME；这里没有 PLIC claim / complete。</a:t>
            </a:r>
          </a:p>
        </p:txBody>
      </p:sp>
      <p:sp>
        <p:nvSpPr>
          <p:cNvPr id="58" name="polyline-057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-058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61" name="polyline-060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gon-061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4" name="text-063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6B  CLIC：每个 hart 的中断选择器与 CPU 握手接口"/>
          <p:cNvSpPr txBox="1"/>
          <p:nvPr/>
        </p:nvSpPr>
        <p:spPr>
          <a:xfrm>
            <a:off x="224000" y="80864"/>
            <a:ext cx="432775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06B  CLIC：每个 hart 的中断选择器与 CPU 握手接口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1064000"/>
            <a:ext cx="2044000" cy="120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1  clic_intr 输入拼装"/>
          <p:cNvSpPr txBox="1"/>
          <p:nvPr/>
        </p:nvSpPr>
        <p:spPr>
          <a:xfrm>
            <a:off x="583844" y="1207248"/>
            <a:ext cx="13243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clic_intr 输入拼装</a:t>
            </a:r>
          </a:p>
        </p:txBody>
      </p:sp>
      <p:sp>
        <p:nvSpPr>
          <p:cNvPr id="6" name="text-005: IRQ Router 的本 hart 分支"/>
          <p:cNvSpPr txBox="1"/>
          <p:nvPr/>
        </p:nvSpPr>
        <p:spPr>
          <a:xfrm>
            <a:off x="486531" y="1398544"/>
            <a:ext cx="151893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的本 hart 分支</a:t>
            </a:r>
          </a:p>
        </p:txBody>
      </p:sp>
      <p:sp>
        <p:nvSpPr>
          <p:cNvPr id="7" name="text-006: MEIP / SEIP（来自 PLIC）"/>
          <p:cNvSpPr txBox="1"/>
          <p:nvPr/>
        </p:nvSpPr>
        <p:spPr>
          <a:xfrm>
            <a:off x="472679" y="1577744"/>
            <a:ext cx="154664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MEIP / SEIP（来自 PLIC）</a:t>
            </a:r>
          </a:p>
        </p:txBody>
      </p:sp>
      <p:sp>
        <p:nvSpPr>
          <p:cNvPr id="8" name="text-007: MTIP / MSIP（来自 CLINT）"/>
          <p:cNvSpPr txBox="1"/>
          <p:nvPr/>
        </p:nvSpPr>
        <p:spPr>
          <a:xfrm>
            <a:off x="423417" y="1756944"/>
            <a:ext cx="16451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MSIP（来自 CLINT）</a:t>
            </a:r>
          </a:p>
        </p:txBody>
      </p:sp>
      <p:sp>
        <p:nvSpPr>
          <p:cNvPr id="9" name="text-008: 保留源按 SoC 定义连接"/>
          <p:cNvSpPr txBox="1"/>
          <p:nvPr/>
        </p:nvSpPr>
        <p:spPr>
          <a:xfrm>
            <a:off x="545178" y="1936144"/>
            <a:ext cx="14016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保留源按 SoC 定义连接</a:t>
            </a:r>
          </a:p>
        </p:txBody>
      </p:sp>
      <p:sp>
        <p:nvSpPr>
          <p:cNvPr id="10" name="rect-009"/>
          <p:cNvSpPr/>
          <p:nvPr/>
        </p:nvSpPr>
        <p:spPr>
          <a:xfrm>
            <a:off x="3192000" y="1148000"/>
            <a:ext cx="1848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0: 2  clic_gateway"/>
          <p:cNvSpPr txBox="1"/>
          <p:nvPr/>
        </p:nvSpPr>
        <p:spPr>
          <a:xfrm>
            <a:off x="3601762" y="1310848"/>
            <a:ext cx="10284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clic_gateway</a:t>
            </a:r>
          </a:p>
        </p:txBody>
      </p:sp>
      <p:sp>
        <p:nvSpPr>
          <p:cNvPr id="12" name="text-011: 电平 / 边沿 pending"/>
          <p:cNvSpPr txBox="1"/>
          <p:nvPr/>
        </p:nvSpPr>
        <p:spPr>
          <a:xfrm>
            <a:off x="3509026" y="1502144"/>
            <a:ext cx="121394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电平 / 边沿 pending</a:t>
            </a:r>
          </a:p>
        </p:txBody>
      </p:sp>
      <p:sp>
        <p:nvSpPr>
          <p:cNvPr id="13" name="text-012: 软件置 pending"/>
          <p:cNvSpPr txBox="1"/>
          <p:nvPr/>
        </p:nvSpPr>
        <p:spPr>
          <a:xfrm>
            <a:off x="3639562" y="1681344"/>
            <a:ext cx="95287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软件置 pending</a:t>
            </a:r>
          </a:p>
        </p:txBody>
      </p:sp>
      <p:sp>
        <p:nvSpPr>
          <p:cNvPr id="14" name="text-013: 来自 target 的 claim"/>
          <p:cNvSpPr txBox="1"/>
          <p:nvPr/>
        </p:nvSpPr>
        <p:spPr>
          <a:xfrm>
            <a:off x="3515286" y="1860544"/>
            <a:ext cx="120142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target 的 claim</a:t>
            </a:r>
          </a:p>
        </p:txBody>
      </p:sp>
      <p:sp>
        <p:nvSpPr>
          <p:cNvPr id="15" name="polyline-014"/>
          <p:cNvSpPr/>
          <p:nvPr/>
        </p:nvSpPr>
        <p:spPr>
          <a:xfrm>
            <a:off x="2268000" y="1680000"/>
            <a:ext cx="924000" cy="1"/>
          </a:xfrm>
          <a:custGeom>
            <a:avLst/>
            <a:gdLst/>
            <a:ahLst/>
            <a:cxnLst/>
            <a:rect l="0" t="0" r="r" b="b"/>
            <a:pathLst>
              <a:path w="924000" h="1">
                <a:moveTo>
                  <a:pt x="0" y="0"/>
                </a:moveTo>
                <a:lnTo>
                  <a:pt x="924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3124800" y="16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6"/>
          <p:cNvSpPr/>
          <p:nvPr/>
        </p:nvSpPr>
        <p:spPr>
          <a:xfrm>
            <a:off x="5992000" y="1148000"/>
            <a:ext cx="1876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3  clic_target"/>
          <p:cNvSpPr txBox="1"/>
          <p:nvPr/>
        </p:nvSpPr>
        <p:spPr>
          <a:xfrm>
            <a:off x="6481584" y="1310848"/>
            <a:ext cx="89683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clic_target</a:t>
            </a:r>
          </a:p>
        </p:txBody>
      </p:sp>
      <p:sp>
        <p:nvSpPr>
          <p:cNvPr id="19" name="text-018: pending / enable"/>
          <p:cNvSpPr txBox="1"/>
          <p:nvPr/>
        </p:nvSpPr>
        <p:spPr>
          <a:xfrm>
            <a:off x="6407122" y="1502144"/>
            <a:ext cx="104575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</a:t>
            </a:r>
          </a:p>
        </p:txBody>
      </p:sp>
      <p:sp>
        <p:nvSpPr>
          <p:cNvPr id="20" name="text-019: level / priority / mode"/>
          <p:cNvSpPr txBox="1"/>
          <p:nvPr/>
        </p:nvSpPr>
        <p:spPr>
          <a:xfrm>
            <a:off x="6276703" y="1681344"/>
            <a:ext cx="130659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level / priority / mode</a:t>
            </a:r>
          </a:p>
        </p:txBody>
      </p:sp>
      <p:sp>
        <p:nvSpPr>
          <p:cNvPr id="21" name="text-020: 选择待提交中断"/>
          <p:cNvSpPr txBox="1"/>
          <p:nvPr/>
        </p:nvSpPr>
        <p:spPr>
          <a:xfrm>
            <a:off x="6437200" y="18605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选择待提交中断</a:t>
            </a:r>
          </a:p>
        </p:txBody>
      </p:sp>
      <p:sp>
        <p:nvSpPr>
          <p:cNvPr id="22" name="polyline-021"/>
          <p:cNvSpPr/>
          <p:nvPr/>
        </p:nvSpPr>
        <p:spPr>
          <a:xfrm>
            <a:off x="5040000" y="1680000"/>
            <a:ext cx="952000" cy="1"/>
          </a:xfrm>
          <a:custGeom>
            <a:avLst/>
            <a:gdLst/>
            <a:ahLst/>
            <a:cxnLst/>
            <a:rect l="0" t="0" r="r" b="b"/>
            <a:pathLst>
              <a:path w="952000" h="1">
                <a:moveTo>
                  <a:pt x="0" y="0"/>
                </a:moveTo>
                <a:lnTo>
                  <a:pt x="95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5924800" y="16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4116000" y="2212000"/>
            <a:ext cx="2380000" cy="420000"/>
          </a:xfrm>
          <a:custGeom>
            <a:avLst/>
            <a:gdLst/>
            <a:ahLst/>
            <a:cxnLst/>
            <a:rect l="0" t="0" r="r" b="b"/>
            <a:pathLst>
              <a:path w="2380000" h="420000">
                <a:moveTo>
                  <a:pt x="2380000" y="0"/>
                </a:moveTo>
                <a:lnTo>
                  <a:pt x="2380000" y="420000"/>
                </a:lnTo>
                <a:lnTo>
                  <a:pt x="0" y="420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9C5B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4088000" y="2212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laim"/>
          <p:cNvSpPr txBox="1"/>
          <p:nvPr/>
        </p:nvSpPr>
        <p:spPr>
          <a:xfrm>
            <a:off x="5012000" y="2414496"/>
            <a:ext cx="42715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</a:t>
            </a:r>
          </a:p>
        </p:txBody>
      </p:sp>
      <p:sp>
        <p:nvSpPr>
          <p:cNvPr id="27" name="rect-026"/>
          <p:cNvSpPr/>
          <p:nvPr/>
        </p:nvSpPr>
        <p:spPr>
          <a:xfrm>
            <a:off x="8428000" y="980000"/>
            <a:ext cx="1428000" cy="137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4  CVA6 CLIC 接口"/>
          <p:cNvSpPr txBox="1"/>
          <p:nvPr/>
        </p:nvSpPr>
        <p:spPr>
          <a:xfrm>
            <a:off x="8528144" y="1207248"/>
            <a:ext cx="12277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CVA6 CLIC 接口</a:t>
            </a:r>
          </a:p>
        </p:txBody>
      </p:sp>
      <p:sp>
        <p:nvSpPr>
          <p:cNvPr id="29" name="text-028: valid / ready"/>
          <p:cNvSpPr txBox="1"/>
          <p:nvPr/>
        </p:nvSpPr>
        <p:spPr>
          <a:xfrm>
            <a:off x="8743341" y="1398544"/>
            <a:ext cx="79731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valid / ready</a:t>
            </a:r>
          </a:p>
        </p:txBody>
      </p:sp>
      <p:sp>
        <p:nvSpPr>
          <p:cNvPr id="30" name="text-029: id / level"/>
          <p:cNvSpPr txBox="1"/>
          <p:nvPr/>
        </p:nvSpPr>
        <p:spPr>
          <a:xfrm>
            <a:off x="8840554" y="1577744"/>
            <a:ext cx="60289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id / level</a:t>
            </a:r>
          </a:p>
        </p:txBody>
      </p:sp>
      <p:sp>
        <p:nvSpPr>
          <p:cNvPr id="31" name="text-030: shv / priv"/>
          <p:cNvSpPr txBox="1"/>
          <p:nvPr/>
        </p:nvSpPr>
        <p:spPr>
          <a:xfrm>
            <a:off x="8824493" y="1756944"/>
            <a:ext cx="63501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shv / priv</a:t>
            </a:r>
          </a:p>
        </p:txBody>
      </p:sp>
      <p:sp>
        <p:nvSpPr>
          <p:cNvPr id="32" name="text-031: kill_req / kill_ack"/>
          <p:cNvSpPr txBox="1"/>
          <p:nvPr/>
        </p:nvSpPr>
        <p:spPr>
          <a:xfrm>
            <a:off x="8620202" y="1936144"/>
            <a:ext cx="104359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kill_req / kill_ack</a:t>
            </a:r>
          </a:p>
        </p:txBody>
      </p:sp>
      <p:sp>
        <p:nvSpPr>
          <p:cNvPr id="33" name="polyline-032"/>
          <p:cNvSpPr/>
          <p:nvPr/>
        </p:nvSpPr>
        <p:spPr>
          <a:xfrm>
            <a:off x="7868000" y="1568000"/>
            <a:ext cx="560000" cy="1"/>
          </a:xfrm>
          <a:custGeom>
            <a:avLst/>
            <a:gdLst/>
            <a:ahLst/>
            <a:cxnLst/>
            <a:rect l="0" t="0" r="r" b="b"/>
            <a:pathLst>
              <a:path w="560000" h="1">
                <a:moveTo>
                  <a:pt x="0" y="0"/>
                </a:moveTo>
                <a:lnTo>
                  <a:pt x="56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gon-033"/>
          <p:cNvSpPr/>
          <p:nvPr/>
        </p:nvSpPr>
        <p:spPr>
          <a:xfrm>
            <a:off x="83608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78680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3108000" y="3584000"/>
            <a:ext cx="4844000" cy="1008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5  mclic_reg_top + clicint_reg_top × 源"/>
          <p:cNvSpPr txBox="1"/>
          <p:nvPr/>
        </p:nvSpPr>
        <p:spPr>
          <a:xfrm>
            <a:off x="4327028" y="3718848"/>
            <a:ext cx="24059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mclic_reg_top + clicint_reg_top × 源</a:t>
            </a:r>
          </a:p>
        </p:txBody>
      </p:sp>
      <p:sp>
        <p:nvSpPr>
          <p:cNvPr id="38" name="text-037: 全局配置：level / priority 的划分"/>
          <p:cNvSpPr txBox="1"/>
          <p:nvPr/>
        </p:nvSpPr>
        <p:spPr>
          <a:xfrm>
            <a:off x="4584462" y="3910144"/>
            <a:ext cx="189107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全局配置：level / priority 的划分</a:t>
            </a:r>
          </a:p>
        </p:txBody>
      </p:sp>
      <p:sp>
        <p:nvSpPr>
          <p:cNvPr id="39" name="text-038: 每源配置：pending / enable / attr / ctl"/>
          <p:cNvSpPr txBox="1"/>
          <p:nvPr/>
        </p:nvSpPr>
        <p:spPr>
          <a:xfrm>
            <a:off x="4405087" y="4089344"/>
            <a:ext cx="224982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每源配置：pending / enable / attr / ctl</a:t>
            </a:r>
          </a:p>
        </p:txBody>
      </p:sp>
      <p:sp>
        <p:nvSpPr>
          <p:cNvPr id="40" name="text-039: Regbus → reg_adapter → 对应寄存器"/>
          <p:cNvSpPr txBox="1"/>
          <p:nvPr/>
        </p:nvSpPr>
        <p:spPr>
          <a:xfrm>
            <a:off x="4442922" y="4268544"/>
            <a:ext cx="217415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→ reg_adapter → 对应寄存器</a:t>
            </a:r>
          </a:p>
        </p:txBody>
      </p:sp>
      <p:sp>
        <p:nvSpPr>
          <p:cNvPr id="41" name="text-040: Cfg.Clic 控制生成"/>
          <p:cNvSpPr txBox="1"/>
          <p:nvPr/>
        </p:nvSpPr>
        <p:spPr>
          <a:xfrm>
            <a:off x="252000" y="3024896"/>
            <a:ext cx="1107129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Cfg.Clic 控制生成</a:t>
            </a:r>
          </a:p>
        </p:txBody>
      </p:sp>
      <p:sp>
        <p:nvSpPr>
          <p:cNvPr id="42" name="polyline-041"/>
          <p:cNvSpPr/>
          <p:nvPr/>
        </p:nvSpPr>
        <p:spPr>
          <a:xfrm>
            <a:off x="3500000" y="2212000"/>
            <a:ext cx="560000" cy="1372000"/>
          </a:xfrm>
          <a:custGeom>
            <a:avLst/>
            <a:gdLst/>
            <a:ahLst/>
            <a:cxnLst/>
            <a:rect l="0" t="0" r="r" b="b"/>
            <a:pathLst>
              <a:path w="560000" h="1372000">
                <a:moveTo>
                  <a:pt x="560000" y="1372000"/>
                </a:moveTo>
                <a:lnTo>
                  <a:pt x="560000" y="700000"/>
                </a:lnTo>
                <a:lnTo>
                  <a:pt x="0" y="700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gon-042"/>
          <p:cNvSpPr/>
          <p:nvPr/>
        </p:nvSpPr>
        <p:spPr>
          <a:xfrm>
            <a:off x="3472000" y="2212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line-043"/>
          <p:cNvSpPr/>
          <p:nvPr/>
        </p:nvSpPr>
        <p:spPr>
          <a:xfrm>
            <a:off x="6804000" y="2212000"/>
            <a:ext cx="1" cy="1372000"/>
          </a:xfrm>
          <a:custGeom>
            <a:avLst/>
            <a:gdLst/>
            <a:ahLst/>
            <a:cxnLst/>
            <a:rect l="0" t="0" r="r" b="b"/>
            <a:pathLst>
              <a:path w="1" h="1372000">
                <a:moveTo>
                  <a:pt x="0" y="137200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gon-044"/>
          <p:cNvSpPr/>
          <p:nvPr/>
        </p:nvSpPr>
        <p:spPr>
          <a:xfrm>
            <a:off x="6776000" y="2212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CLIC 不产生 RTC 计数；CPU 接受中断的握手也不等于清除了外设事件。"/>
          <p:cNvSpPr txBox="1"/>
          <p:nvPr/>
        </p:nvSpPr>
        <p:spPr>
          <a:xfrm>
            <a:off x="252000" y="4698848"/>
            <a:ext cx="44021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CLIC 不产生 RTC 计数；CPU 接受中断的握手也不等于清除了外设事件。</a:t>
            </a:r>
          </a:p>
        </p:txBody>
      </p:sp>
      <p:sp>
        <p:nvSpPr>
          <p:cNvPr id="47" name="polyline-046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-047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50" name="polyline-049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gon-050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53" name="text-052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7  IRQ Router：每条源中断对应一个目标位掩码"/>
          <p:cNvSpPr txBox="1"/>
          <p:nvPr/>
        </p:nvSpPr>
        <p:spPr>
          <a:xfrm>
            <a:off x="224000" y="80864"/>
            <a:ext cx="403410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07  IRQ Router：每条源中断对应一个目标位掩码</a:t>
            </a:r>
          </a:p>
        </p:txBody>
      </p:sp>
      <p:sp>
        <p:nvSpPr>
          <p:cNvPr id="4" name="rect-003"/>
          <p:cNvSpPr/>
          <p:nvPr/>
        </p:nvSpPr>
        <p:spPr>
          <a:xfrm>
            <a:off x="252000" y="1008000"/>
            <a:ext cx="1764000" cy="100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1  intr 源向量"/>
          <p:cNvSpPr txBox="1"/>
          <p:nvPr/>
        </p:nvSpPr>
        <p:spPr>
          <a:xfrm>
            <a:off x="669244" y="1142848"/>
            <a:ext cx="9295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intr 源向量</a:t>
            </a:r>
          </a:p>
        </p:txBody>
      </p:sp>
      <p:sp>
        <p:nvSpPr>
          <p:cNvPr id="6" name="text-005: 片内外设 IRQ"/>
          <p:cNvSpPr txBox="1"/>
          <p:nvPr/>
        </p:nvSpPr>
        <p:spPr>
          <a:xfrm>
            <a:off x="712784" y="1334144"/>
            <a:ext cx="84243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片内外设 IRQ</a:t>
            </a:r>
          </a:p>
        </p:txBody>
      </p:sp>
      <p:sp>
        <p:nvSpPr>
          <p:cNvPr id="7" name="text-006: 外部 IRQ 经 sync"/>
          <p:cNvSpPr txBox="1"/>
          <p:nvPr/>
        </p:nvSpPr>
        <p:spPr>
          <a:xfrm>
            <a:off x="616836" y="1513344"/>
            <a:ext cx="103432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经 sync</a:t>
            </a:r>
          </a:p>
        </p:txBody>
      </p:sp>
      <p:sp>
        <p:nvSpPr>
          <p:cNvPr id="8" name="text-007: 源 0 固定为 0"/>
          <p:cNvSpPr txBox="1"/>
          <p:nvPr/>
        </p:nvSpPr>
        <p:spPr>
          <a:xfrm>
            <a:off x="696723" y="1692544"/>
            <a:ext cx="87455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0 固定为 0</a:t>
            </a:r>
          </a:p>
        </p:txBody>
      </p:sp>
      <p:sp>
        <p:nvSpPr>
          <p:cNvPr id="9" name="rect-008"/>
          <p:cNvSpPr/>
          <p:nvPr/>
        </p:nvSpPr>
        <p:spPr>
          <a:xfrm>
            <a:off x="2716000" y="1092000"/>
            <a:ext cx="1848000" cy="812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2  irqs_cloned"/>
          <p:cNvSpPr txBox="1"/>
          <p:nvPr/>
        </p:nvSpPr>
        <p:spPr>
          <a:xfrm>
            <a:off x="3156738" y="1218448"/>
            <a:ext cx="9665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irqs_cloned</a:t>
            </a:r>
          </a:p>
        </p:txBody>
      </p:sp>
      <p:sp>
        <p:nvSpPr>
          <p:cNvPr id="11" name="text-010: 每个目标一份源向量"/>
          <p:cNvSpPr txBox="1"/>
          <p:nvPr/>
        </p:nvSpPr>
        <p:spPr>
          <a:xfrm>
            <a:off x="3024000" y="14097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每个目标一份源向量</a:t>
            </a:r>
          </a:p>
        </p:txBody>
      </p:sp>
      <p:sp>
        <p:nvSpPr>
          <p:cNvPr id="12" name="text-011: 组合逻辑复制"/>
          <p:cNvSpPr txBox="1"/>
          <p:nvPr/>
        </p:nvSpPr>
        <p:spPr>
          <a:xfrm>
            <a:off x="3208800" y="1588944"/>
            <a:ext cx="8624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组合逻辑复制</a:t>
            </a:r>
          </a:p>
        </p:txBody>
      </p:sp>
      <p:sp>
        <p:nvSpPr>
          <p:cNvPr id="13" name="polyline-012"/>
          <p:cNvSpPr/>
          <p:nvPr/>
        </p:nvSpPr>
        <p:spPr>
          <a:xfrm>
            <a:off x="2016000" y="1512000"/>
            <a:ext cx="700000" cy="1"/>
          </a:xfrm>
          <a:custGeom>
            <a:avLst/>
            <a:gdLst/>
            <a:ahLst/>
            <a:cxnLst/>
            <a:rect l="0" t="0" r="r" b="b"/>
            <a:pathLst>
              <a:path w="700000" h="1">
                <a:moveTo>
                  <a:pt x="0" y="0"/>
                </a:moveTo>
                <a:lnTo>
                  <a:pt x="70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648800" y="148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4"/>
          <p:cNvSpPr/>
          <p:nvPr/>
        </p:nvSpPr>
        <p:spPr>
          <a:xfrm>
            <a:off x="5600000" y="1008000"/>
            <a:ext cx="1596000" cy="100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3  按位 AND"/>
          <p:cNvSpPr txBox="1"/>
          <p:nvPr/>
        </p:nvSpPr>
        <p:spPr>
          <a:xfrm>
            <a:off x="5969469" y="1142848"/>
            <a:ext cx="8570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按位 AND</a:t>
            </a:r>
          </a:p>
        </p:txBody>
      </p:sp>
      <p:sp>
        <p:nvSpPr>
          <p:cNvPr id="17" name="text-016: out[target][source]"/>
          <p:cNvSpPr txBox="1"/>
          <p:nvPr/>
        </p:nvSpPr>
        <p:spPr>
          <a:xfrm>
            <a:off x="5839400" y="1334144"/>
            <a:ext cx="11172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out[target][source]</a:t>
            </a:r>
          </a:p>
        </p:txBody>
      </p:sp>
      <p:sp>
        <p:nvSpPr>
          <p:cNvPr id="18" name="text-017: = src[source]"/>
          <p:cNvSpPr txBox="1"/>
          <p:nvPr/>
        </p:nvSpPr>
        <p:spPr>
          <a:xfrm>
            <a:off x="5982025" y="1513344"/>
            <a:ext cx="83195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= src[source]</a:t>
            </a:r>
          </a:p>
        </p:txBody>
      </p:sp>
      <p:sp>
        <p:nvSpPr>
          <p:cNvPr id="19" name="text-018: &amp; mask[source][target]"/>
          <p:cNvSpPr txBox="1"/>
          <p:nvPr/>
        </p:nvSpPr>
        <p:spPr>
          <a:xfrm>
            <a:off x="5718668" y="1692544"/>
            <a:ext cx="135866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&amp; mask[source][target]</a:t>
            </a:r>
          </a:p>
        </p:txBody>
      </p:sp>
      <p:sp>
        <p:nvSpPr>
          <p:cNvPr id="20" name="polyline-019"/>
          <p:cNvSpPr/>
          <p:nvPr/>
        </p:nvSpPr>
        <p:spPr>
          <a:xfrm>
            <a:off x="4564000" y="1512000"/>
            <a:ext cx="1036000" cy="1"/>
          </a:xfrm>
          <a:custGeom>
            <a:avLst/>
            <a:gdLst/>
            <a:ahLst/>
            <a:cxnLst/>
            <a:rect l="0" t="0" r="r" b="b"/>
            <a:pathLst>
              <a:path w="1036000" h="1">
                <a:moveTo>
                  <a:pt x="0" y="0"/>
                </a:moveTo>
                <a:lnTo>
                  <a:pt x="103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5532800" y="148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7196000" y="1260000"/>
            <a:ext cx="728000" cy="1"/>
          </a:xfrm>
          <a:custGeom>
            <a:avLst/>
            <a:gdLst/>
            <a:ahLst/>
            <a:cxnLst/>
            <a:rect l="0" t="0" r="r" b="b"/>
            <a:pathLst>
              <a:path w="728000" h="1">
                <a:moveTo>
                  <a:pt x="0" y="0"/>
                </a:moveTo>
                <a:lnTo>
                  <a:pt x="72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7856800" y="123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7196000" y="1540000"/>
            <a:ext cx="728000" cy="1"/>
          </a:xfrm>
          <a:custGeom>
            <a:avLst/>
            <a:gdLst/>
            <a:ahLst/>
            <a:cxnLst/>
            <a:rect l="0" t="0" r="r" b="b"/>
            <a:pathLst>
              <a:path w="728000" h="1">
                <a:moveTo>
                  <a:pt x="0" y="0"/>
                </a:moveTo>
                <a:lnTo>
                  <a:pt x="72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7856800" y="151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5"/>
          <p:cNvSpPr/>
          <p:nvPr/>
        </p:nvSpPr>
        <p:spPr>
          <a:xfrm>
            <a:off x="7196000" y="1820000"/>
            <a:ext cx="728000" cy="1"/>
          </a:xfrm>
          <a:custGeom>
            <a:avLst/>
            <a:gdLst/>
            <a:ahLst/>
            <a:cxnLst/>
            <a:rect l="0" t="0" r="r" b="b"/>
            <a:pathLst>
              <a:path w="728000" h="1">
                <a:moveTo>
                  <a:pt x="0" y="0"/>
                </a:moveTo>
                <a:lnTo>
                  <a:pt x="72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7856800" y="179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target 0 → PLIC"/>
          <p:cNvSpPr txBox="1"/>
          <p:nvPr/>
        </p:nvSpPr>
        <p:spPr>
          <a:xfrm>
            <a:off x="8036000" y="1148448"/>
            <a:ext cx="10716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29" name="text-028: target 1… → 各 hart CLIC"/>
          <p:cNvSpPr txBox="1"/>
          <p:nvPr/>
        </p:nvSpPr>
        <p:spPr>
          <a:xfrm>
            <a:off x="8036000" y="1428448"/>
            <a:ext cx="16597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1… → 各 hart CLIC</a:t>
            </a:r>
          </a:p>
        </p:txBody>
      </p:sp>
      <p:sp>
        <p:nvSpPr>
          <p:cNvPr id="30" name="text-029: 后续 target → 外部输出"/>
          <p:cNvSpPr txBox="1"/>
          <p:nvPr/>
        </p:nvSpPr>
        <p:spPr>
          <a:xfrm>
            <a:off x="8036000" y="1708448"/>
            <a:ext cx="15369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后续 target → 外部输出</a:t>
            </a:r>
          </a:p>
        </p:txBody>
      </p:sp>
      <p:sp>
        <p:nvSpPr>
          <p:cNvPr id="31" name="rect-030"/>
          <p:cNvSpPr/>
          <p:nvPr/>
        </p:nvSpPr>
        <p:spPr>
          <a:xfrm>
            <a:off x="2520000" y="3332000"/>
            <a:ext cx="2632000" cy="1092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4  irq_router_reg_top × 源"/>
          <p:cNvSpPr txBox="1"/>
          <p:nvPr/>
        </p:nvSpPr>
        <p:spPr>
          <a:xfrm>
            <a:off x="3007616" y="3508848"/>
            <a:ext cx="165676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irq_router_reg_top × 源</a:t>
            </a:r>
          </a:p>
        </p:txBody>
      </p:sp>
      <p:sp>
        <p:nvSpPr>
          <p:cNvPr id="33" name="text-032: 每源一个 IRQ_TARGET_MASK"/>
          <p:cNvSpPr txBox="1"/>
          <p:nvPr/>
        </p:nvSpPr>
        <p:spPr>
          <a:xfrm>
            <a:off x="2982674" y="3700144"/>
            <a:ext cx="170665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每源一个 IRQ_TARGET_MASK</a:t>
            </a:r>
          </a:p>
        </p:txBody>
      </p:sp>
      <p:sp>
        <p:nvSpPr>
          <p:cNvPr id="34" name="text-033: 地址低位 addr[15:2] 选择源"/>
          <p:cNvSpPr txBox="1"/>
          <p:nvPr/>
        </p:nvSpPr>
        <p:spPr>
          <a:xfrm>
            <a:off x="3020762" y="3879344"/>
            <a:ext cx="163047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地址低位 addr[15:2] 选择源</a:t>
            </a:r>
          </a:p>
        </p:txBody>
      </p:sp>
      <p:sp>
        <p:nvSpPr>
          <p:cNvPr id="35" name="text-034: 复位 mask = 1：仅 target 0"/>
          <p:cNvSpPr txBox="1"/>
          <p:nvPr/>
        </p:nvSpPr>
        <p:spPr>
          <a:xfrm>
            <a:off x="3022149" y="4058544"/>
            <a:ext cx="162770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复位 mask = 1：仅 target 0</a:t>
            </a:r>
          </a:p>
        </p:txBody>
      </p:sp>
      <p:sp>
        <p:nvSpPr>
          <p:cNvPr id="36" name="text-035: Regbus 请求 / 响应"/>
          <p:cNvSpPr txBox="1"/>
          <p:nvPr/>
        </p:nvSpPr>
        <p:spPr>
          <a:xfrm>
            <a:off x="2548000" y="2923648"/>
            <a:ext cx="13002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7" name="polyline-036"/>
          <p:cNvSpPr/>
          <p:nvPr/>
        </p:nvSpPr>
        <p:spPr>
          <a:xfrm>
            <a:off x="5152000" y="2016000"/>
            <a:ext cx="1232000" cy="1848000"/>
          </a:xfrm>
          <a:custGeom>
            <a:avLst/>
            <a:gdLst/>
            <a:ahLst/>
            <a:cxnLst/>
            <a:rect l="0" t="0" r="r" b="b"/>
            <a:pathLst>
              <a:path w="1232000" h="1848000">
                <a:moveTo>
                  <a:pt x="0" y="1848000"/>
                </a:moveTo>
                <a:lnTo>
                  <a:pt x="1232000" y="1848000"/>
                </a:lnTo>
                <a:lnTo>
                  <a:pt x="1232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gon-037"/>
          <p:cNvSpPr/>
          <p:nvPr/>
        </p:nvSpPr>
        <p:spPr>
          <a:xfrm>
            <a:off x="6356000" y="2016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掩码重排为目标 × 源"/>
          <p:cNvSpPr txBox="1"/>
          <p:nvPr/>
        </p:nvSpPr>
        <p:spPr>
          <a:xfrm>
            <a:off x="6552000" y="2862496"/>
            <a:ext cx="131365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掩码重排为目标 × 源</a:t>
            </a:r>
          </a:p>
        </p:txBody>
      </p:sp>
      <p:sp>
        <p:nvSpPr>
          <p:cNvPr id="40" name="text-039: Cfg.IrqRouter = 0 时：绕过掩码，原始源向量复制给各目标；模块没"/>
          <p:cNvSpPr txBox="1"/>
          <p:nvPr/>
        </p:nvSpPr>
        <p:spPr>
          <a:xfrm>
            <a:off x="308000" y="4726848"/>
            <a:ext cx="575833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Cfg.IrqRouter = 0 时：绕过掩码，原始源向量复制给各目标；模块没有 pending 或优先级队列。</a:t>
            </a:r>
          </a:p>
        </p:txBody>
      </p:sp>
      <p:sp>
        <p:nvSpPr>
          <p:cNvPr id="41" name="polyline-040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44" name="polyline-043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gon-044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47" name="text-046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8  BootROM：组合 ROM 内容与 Regbus 应答延迟"/>
          <p:cNvSpPr txBox="1"/>
          <p:nvPr/>
        </p:nvSpPr>
        <p:spPr>
          <a:xfrm>
            <a:off x="224000" y="80864"/>
            <a:ext cx="420507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08  BootROM：组合 ROM 内容与 Regbus 应答延迟</a:t>
            </a:r>
          </a:p>
        </p:txBody>
      </p:sp>
      <p:sp>
        <p:nvSpPr>
          <p:cNvPr id="4" name="rect-003"/>
          <p:cNvSpPr/>
          <p:nvPr/>
        </p:nvSpPr>
        <p:spPr>
          <a:xfrm>
            <a:off x="2044000" y="868000"/>
            <a:ext cx="7700000" cy="3164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9DAABA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Cfg.Bootrom 生成分支；clk_i / rst_ni"/>
          <p:cNvSpPr txBox="1"/>
          <p:nvPr/>
        </p:nvSpPr>
        <p:spPr>
          <a:xfrm>
            <a:off x="2128000" y="896896"/>
            <a:ext cx="221880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Cfg.Bootrom 生成分支；clk_i / rst_ni</a:t>
            </a:r>
          </a:p>
        </p:txBody>
      </p:sp>
      <p:sp>
        <p:nvSpPr>
          <p:cNvPr id="6" name="text-005: Regbus 32"/>
          <p:cNvSpPr txBox="1"/>
          <p:nvPr/>
        </p:nvSpPr>
        <p:spPr>
          <a:xfrm>
            <a:off x="252000" y="1416800"/>
            <a:ext cx="805691" cy="22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7" name="rect-006"/>
          <p:cNvSpPr/>
          <p:nvPr/>
        </p:nvSpPr>
        <p:spPr>
          <a:xfrm>
            <a:off x="2268000" y="1288000"/>
            <a:ext cx="1932000" cy="1092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1  reg_to_mem"/>
          <p:cNvSpPr txBox="1"/>
          <p:nvPr/>
        </p:nvSpPr>
        <p:spPr>
          <a:xfrm>
            <a:off x="2723700" y="1375248"/>
            <a:ext cx="10206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reg_to_mem</a:t>
            </a:r>
          </a:p>
        </p:txBody>
      </p:sp>
      <p:sp>
        <p:nvSpPr>
          <p:cNvPr id="9" name="text-008: 地址截为 16-bit"/>
          <p:cNvSpPr txBox="1"/>
          <p:nvPr/>
        </p:nvSpPr>
        <p:spPr>
          <a:xfrm>
            <a:off x="2747574" y="1566544"/>
            <a:ext cx="97285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地址截为 16-bit</a:t>
            </a:r>
          </a:p>
        </p:txBody>
      </p:sp>
      <p:sp>
        <p:nvSpPr>
          <p:cNvPr id="10" name="text-009: req / we / addr"/>
          <p:cNvSpPr txBox="1"/>
          <p:nvPr/>
        </p:nvSpPr>
        <p:spPr>
          <a:xfrm>
            <a:off x="2755344" y="1745744"/>
            <a:ext cx="95731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 / we / addr</a:t>
            </a:r>
          </a:p>
        </p:txBody>
      </p:sp>
      <p:sp>
        <p:nvSpPr>
          <p:cNvPr id="11" name="text-010: gnt = req"/>
          <p:cNvSpPr txBox="1"/>
          <p:nvPr/>
        </p:nvSpPr>
        <p:spPr>
          <a:xfrm>
            <a:off x="2928769" y="1924944"/>
            <a:ext cx="61046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gnt = req</a:t>
            </a:r>
          </a:p>
        </p:txBody>
      </p:sp>
      <p:sp>
        <p:nvSpPr>
          <p:cNvPr id="12" name="text-011: rvalid / rerror 返回"/>
          <p:cNvSpPr txBox="1"/>
          <p:nvPr/>
        </p:nvSpPr>
        <p:spPr>
          <a:xfrm>
            <a:off x="2674070" y="2104144"/>
            <a:ext cx="111986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rvalid / rerror 返回</a:t>
            </a:r>
          </a:p>
        </p:txBody>
      </p:sp>
      <p:sp>
        <p:nvSpPr>
          <p:cNvPr id="13" name="polyline-012"/>
          <p:cNvSpPr/>
          <p:nvPr/>
        </p:nvSpPr>
        <p:spPr>
          <a:xfrm>
            <a:off x="280000" y="1848000"/>
            <a:ext cx="1988000" cy="1"/>
          </a:xfrm>
          <a:custGeom>
            <a:avLst/>
            <a:gdLst/>
            <a:ahLst/>
            <a:cxnLst/>
            <a:rect l="0" t="0" r="r" b="b"/>
            <a:pathLst>
              <a:path w="1988000" h="1">
                <a:moveTo>
                  <a:pt x="0" y="0"/>
                </a:moveTo>
                <a:lnTo>
                  <a:pt x="198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200800" y="182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280000" y="182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5"/>
          <p:cNvSpPr/>
          <p:nvPr/>
        </p:nvSpPr>
        <p:spPr>
          <a:xfrm>
            <a:off x="5040000" y="1232000"/>
            <a:ext cx="2240000" cy="109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line-016"/>
          <p:cNvCxnSpPr/>
          <p:nvPr/>
        </p:nvCxnSpPr>
        <p:spPr>
          <a:xfrm>
            <a:off x="5107200" y="1232000"/>
            <a:ext cx="0" cy="1092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18" name="text-017: 2  cheshire_bootrom"/>
          <p:cNvSpPr txBox="1"/>
          <p:nvPr/>
        </p:nvSpPr>
        <p:spPr>
          <a:xfrm>
            <a:off x="5486162" y="1319248"/>
            <a:ext cx="13476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cheshire_bootrom</a:t>
            </a:r>
          </a:p>
        </p:txBody>
      </p:sp>
      <p:sp>
        <p:nvSpPr>
          <p:cNvPr id="19" name="text-018: word = addr / 4"/>
          <p:cNvSpPr txBox="1"/>
          <p:nvPr/>
        </p:nvSpPr>
        <p:spPr>
          <a:xfrm>
            <a:off x="5672678" y="1510544"/>
            <a:ext cx="9746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word = addr / 4</a:t>
            </a:r>
          </a:p>
        </p:txBody>
      </p:sp>
      <p:sp>
        <p:nvSpPr>
          <p:cNvPr id="20" name="text-019: case(word) → data[31:0]"/>
          <p:cNvSpPr txBox="1"/>
          <p:nvPr/>
        </p:nvSpPr>
        <p:spPr>
          <a:xfrm>
            <a:off x="5422791" y="1689744"/>
            <a:ext cx="147441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case(word) → data[31:0]</a:t>
            </a:r>
          </a:p>
        </p:txBody>
      </p:sp>
      <p:sp>
        <p:nvSpPr>
          <p:cNvPr id="21" name="text-020: 当前生成内容：2048 words"/>
          <p:cNvSpPr txBox="1"/>
          <p:nvPr/>
        </p:nvSpPr>
        <p:spPr>
          <a:xfrm>
            <a:off x="5342291" y="1868944"/>
            <a:ext cx="163541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当前生成内容：2048 words</a:t>
            </a:r>
          </a:p>
        </p:txBody>
      </p:sp>
      <p:sp>
        <p:nvSpPr>
          <p:cNvPr id="22" name="text-021: 组合查表；clk / rst 未用"/>
          <p:cNvSpPr txBox="1"/>
          <p:nvPr/>
        </p:nvSpPr>
        <p:spPr>
          <a:xfrm>
            <a:off x="5433378" y="2048144"/>
            <a:ext cx="145324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组合查表；clk / rst 未用</a:t>
            </a:r>
          </a:p>
        </p:txBody>
      </p:sp>
      <p:sp>
        <p:nvSpPr>
          <p:cNvPr id="23" name="polyline-022"/>
          <p:cNvSpPr/>
          <p:nvPr/>
        </p:nvSpPr>
        <p:spPr>
          <a:xfrm>
            <a:off x="4200000" y="1568000"/>
            <a:ext cx="840000" cy="1"/>
          </a:xfrm>
          <a:custGeom>
            <a:avLst/>
            <a:gdLst/>
            <a:ahLst/>
            <a:cxnLst/>
            <a:rect l="0" t="0" r="r" b="b"/>
            <a:pathLst>
              <a:path w="840000" h="1">
                <a:moveTo>
                  <a:pt x="0" y="0"/>
                </a:moveTo>
                <a:lnTo>
                  <a:pt x="84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49728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8064000" y="1232000"/>
            <a:ext cx="1372000" cy="1092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line-025"/>
          <p:cNvCxnSpPr/>
          <p:nvPr/>
        </p:nvCxnSpPr>
        <p:spPr>
          <a:xfrm>
            <a:off x="8131200" y="1232000"/>
            <a:ext cx="0" cy="1092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27" name="text-026: 3  FF 延迟对齐"/>
          <p:cNvSpPr txBox="1"/>
          <p:nvPr/>
        </p:nvSpPr>
        <p:spPr>
          <a:xfrm>
            <a:off x="8248822" y="1408848"/>
            <a:ext cx="10023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FF 延迟对齐</a:t>
            </a:r>
          </a:p>
        </p:txBody>
      </p:sp>
      <p:sp>
        <p:nvSpPr>
          <p:cNvPr id="28" name="text-027: data_q ← data"/>
          <p:cNvSpPr txBox="1"/>
          <p:nvPr/>
        </p:nvSpPr>
        <p:spPr>
          <a:xfrm>
            <a:off x="8287282" y="1600144"/>
            <a:ext cx="92543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data_q ← data</a:t>
            </a:r>
          </a:p>
        </p:txBody>
      </p:sp>
      <p:sp>
        <p:nvSpPr>
          <p:cNvPr id="29" name="text-028: req_q ← req"/>
          <p:cNvSpPr txBox="1"/>
          <p:nvPr/>
        </p:nvSpPr>
        <p:spPr>
          <a:xfrm>
            <a:off x="8353695" y="1779344"/>
            <a:ext cx="79261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req_q ← req</a:t>
            </a:r>
          </a:p>
        </p:txBody>
      </p:sp>
      <p:sp>
        <p:nvSpPr>
          <p:cNvPr id="30" name="text-029: we_q ← we"/>
          <p:cNvSpPr txBox="1"/>
          <p:nvPr/>
        </p:nvSpPr>
        <p:spPr>
          <a:xfrm>
            <a:off x="8378239" y="1958544"/>
            <a:ext cx="74352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we_q ← we</a:t>
            </a:r>
          </a:p>
        </p:txBody>
      </p:sp>
      <p:sp>
        <p:nvSpPr>
          <p:cNvPr id="31" name="polyline-030"/>
          <p:cNvSpPr/>
          <p:nvPr/>
        </p:nvSpPr>
        <p:spPr>
          <a:xfrm>
            <a:off x="7280000" y="1568000"/>
            <a:ext cx="784000" cy="1"/>
          </a:xfrm>
          <a:custGeom>
            <a:avLst/>
            <a:gdLst/>
            <a:ahLst/>
            <a:cxnLst/>
            <a:rect l="0" t="0" r="r" b="b"/>
            <a:pathLst>
              <a:path w="784000" h="1">
                <a:moveTo>
                  <a:pt x="0" y="0"/>
                </a:moveTo>
                <a:lnTo>
                  <a:pt x="784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79968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2"/>
          <p:cNvSpPr/>
          <p:nvPr/>
        </p:nvSpPr>
        <p:spPr>
          <a:xfrm>
            <a:off x="4200000" y="2128000"/>
            <a:ext cx="4536000" cy="560000"/>
          </a:xfrm>
          <a:custGeom>
            <a:avLst/>
            <a:gdLst/>
            <a:ahLst/>
            <a:cxnLst/>
            <a:rect l="0" t="0" r="r" b="b"/>
            <a:pathLst>
              <a:path w="4536000" h="560000">
                <a:moveTo>
                  <a:pt x="0" y="0"/>
                </a:moveTo>
                <a:lnTo>
                  <a:pt x="364000" y="0"/>
                </a:lnTo>
                <a:lnTo>
                  <a:pt x="364000" y="560000"/>
                </a:lnTo>
                <a:lnTo>
                  <a:pt x="4536000" y="560000"/>
                </a:lnTo>
                <a:lnTo>
                  <a:pt x="4536000" y="196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gon-033"/>
          <p:cNvSpPr/>
          <p:nvPr/>
        </p:nvSpPr>
        <p:spPr>
          <a:xfrm>
            <a:off x="8708000" y="232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req / we 同步延迟"/>
          <p:cNvSpPr txBox="1"/>
          <p:nvPr/>
        </p:nvSpPr>
        <p:spPr>
          <a:xfrm>
            <a:off x="5712000" y="2487744"/>
            <a:ext cx="111059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req / we 同步延迟</a:t>
            </a:r>
          </a:p>
        </p:txBody>
      </p:sp>
      <p:sp>
        <p:nvSpPr>
          <p:cNvPr id="36" name="polyline-035"/>
          <p:cNvSpPr/>
          <p:nvPr/>
        </p:nvSpPr>
        <p:spPr>
          <a:xfrm>
            <a:off x="3276000" y="1960000"/>
            <a:ext cx="4788000" cy="1372000"/>
          </a:xfrm>
          <a:custGeom>
            <a:avLst/>
            <a:gdLst/>
            <a:ahLst/>
            <a:cxnLst/>
            <a:rect l="0" t="0" r="r" b="b"/>
            <a:pathLst>
              <a:path w="4788000" h="1372000">
                <a:moveTo>
                  <a:pt x="4788000" y="0"/>
                </a:moveTo>
                <a:lnTo>
                  <a:pt x="4396000" y="0"/>
                </a:lnTo>
                <a:lnTo>
                  <a:pt x="4396000" y="1372000"/>
                </a:lnTo>
                <a:lnTo>
                  <a:pt x="0" y="1372000"/>
                </a:lnTo>
                <a:lnTo>
                  <a:pt x="0" y="420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gon-036"/>
          <p:cNvSpPr/>
          <p:nvPr/>
        </p:nvSpPr>
        <p:spPr>
          <a:xfrm>
            <a:off x="3248000" y="238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rdata = data_q；rvalid = req_q；rerror = w"/>
          <p:cNvSpPr txBox="1"/>
          <p:nvPr/>
        </p:nvSpPr>
        <p:spPr>
          <a:xfrm>
            <a:off x="4676000" y="3080896"/>
            <a:ext cx="2727209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data_q；rvalid = req_q；rerror = we_q</a:t>
            </a:r>
          </a:p>
        </p:txBody>
      </p:sp>
      <p:sp>
        <p:nvSpPr>
          <p:cNvPr id="39" name="text-038: 软件源 .S / .c → 链接与 ROM 生成脚本 → cheshire_bo"/>
          <p:cNvSpPr txBox="1"/>
          <p:nvPr/>
        </p:nvSpPr>
        <p:spPr>
          <a:xfrm>
            <a:off x="336000" y="4294752"/>
            <a:ext cx="4863154" cy="2329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软件源 .S / .c → 链接与 ROM 生成脚本 → cheshire_bootrom.sv 常量内容</a:t>
            </a:r>
          </a:p>
        </p:txBody>
      </p:sp>
      <p:sp>
        <p:nvSpPr>
          <p:cNvPr id="40" name="text-039: 写访问返回错误；16-bit 接口窗口不等于 64 KiB 唯一 ROM 内容。"/>
          <p:cNvSpPr txBox="1"/>
          <p:nvPr/>
        </p:nvSpPr>
        <p:spPr>
          <a:xfrm>
            <a:off x="336000" y="4620448"/>
            <a:ext cx="40548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写访问返回错误；16-bit 接口窗口不等于 64 KiB 唯一 ROM 内容。</a:t>
            </a:r>
          </a:p>
        </p:txBody>
      </p:sp>
      <p:sp>
        <p:nvSpPr>
          <p:cNvPr id="41" name="polyline-040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44" name="polyline-043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gon-044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47" name="text-046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09  SoC Regs：软件 scratch 与只读硬件能力信息"/>
          <p:cNvSpPr txBox="1"/>
          <p:nvPr/>
        </p:nvSpPr>
        <p:spPr>
          <a:xfrm>
            <a:off x="224000" y="80864"/>
            <a:ext cx="409447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09  SoC Regs：软件 scratch 与只读硬件能力信息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1904000"/>
            <a:ext cx="1736000" cy="896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Regbus 32 请求"/>
          <p:cNvSpPr txBox="1"/>
          <p:nvPr/>
        </p:nvSpPr>
        <p:spPr>
          <a:xfrm>
            <a:off x="550725" y="2072448"/>
            <a:ext cx="10825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请求</a:t>
            </a:r>
          </a:p>
        </p:txBody>
      </p:sp>
      <p:sp>
        <p:nvSpPr>
          <p:cNvPr id="6" name="text-005: addr / write / wstrb"/>
          <p:cNvSpPr txBox="1"/>
          <p:nvPr/>
        </p:nvSpPr>
        <p:spPr>
          <a:xfrm>
            <a:off x="500194" y="2263744"/>
            <a:ext cx="118361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wstrb</a:t>
            </a:r>
          </a:p>
        </p:txBody>
      </p:sp>
      <p:sp>
        <p:nvSpPr>
          <p:cNvPr id="7" name="text-006: wdata / valid"/>
          <p:cNvSpPr txBox="1"/>
          <p:nvPr/>
        </p:nvSpPr>
        <p:spPr>
          <a:xfrm>
            <a:off x="678606" y="2442944"/>
            <a:ext cx="82678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wdata / valid</a:t>
            </a:r>
          </a:p>
        </p:txBody>
      </p:sp>
      <p:sp>
        <p:nvSpPr>
          <p:cNvPr id="8" name="rect-007"/>
          <p:cNvSpPr/>
          <p:nvPr/>
        </p:nvSpPr>
        <p:spPr>
          <a:xfrm>
            <a:off x="2688000" y="1092000"/>
            <a:ext cx="2408000" cy="1036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8: 1  地址与访问译码"/>
          <p:cNvSpPr txBox="1"/>
          <p:nvPr/>
        </p:nvSpPr>
        <p:spPr>
          <a:xfrm>
            <a:off x="3273812" y="1240848"/>
            <a:ext cx="12363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地址与访问译码</a:t>
            </a:r>
          </a:p>
        </p:txBody>
      </p:sp>
      <p:sp>
        <p:nvSpPr>
          <p:cNvPr id="10" name="text-009: cheshire_reg_top"/>
          <p:cNvSpPr txBox="1"/>
          <p:nvPr/>
        </p:nvSpPr>
        <p:spPr>
          <a:xfrm>
            <a:off x="3370268" y="1432144"/>
            <a:ext cx="104346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cheshire_reg_top</a:t>
            </a:r>
          </a:p>
        </p:txBody>
      </p:sp>
      <p:sp>
        <p:nvSpPr>
          <p:cNvPr id="11" name="text-010: reg_we / reg_re"/>
          <p:cNvSpPr txBox="1"/>
          <p:nvPr/>
        </p:nvSpPr>
        <p:spPr>
          <a:xfrm>
            <a:off x="3405824" y="1611344"/>
            <a:ext cx="97235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reg_we / reg_re</a:t>
            </a:r>
          </a:p>
        </p:txBody>
      </p:sp>
      <p:sp>
        <p:nvSpPr>
          <p:cNvPr id="12" name="text-011: 字节写使能 / 未命中错误"/>
          <p:cNvSpPr txBox="1"/>
          <p:nvPr/>
        </p:nvSpPr>
        <p:spPr>
          <a:xfrm>
            <a:off x="3145463" y="1790544"/>
            <a:ext cx="14930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字节写使能 / 未命中错误</a:t>
            </a:r>
          </a:p>
        </p:txBody>
      </p:sp>
      <p:sp>
        <p:nvSpPr>
          <p:cNvPr id="13" name="polyline-012"/>
          <p:cNvSpPr/>
          <p:nvPr/>
        </p:nvSpPr>
        <p:spPr>
          <a:xfrm>
            <a:off x="1960000" y="1596000"/>
            <a:ext cx="728000" cy="644000"/>
          </a:xfrm>
          <a:custGeom>
            <a:avLst/>
            <a:gdLst/>
            <a:ahLst/>
            <a:cxnLst/>
            <a:rect l="0" t="0" r="r" b="b"/>
            <a:pathLst>
              <a:path w="728000" h="644000">
                <a:moveTo>
                  <a:pt x="0" y="644000"/>
                </a:moveTo>
                <a:lnTo>
                  <a:pt x="336000" y="644000"/>
                </a:lnTo>
                <a:lnTo>
                  <a:pt x="336000" y="0"/>
                </a:lnTo>
                <a:lnTo>
                  <a:pt x="72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620800" y="156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4"/>
          <p:cNvSpPr/>
          <p:nvPr/>
        </p:nvSpPr>
        <p:spPr>
          <a:xfrm>
            <a:off x="6160000" y="868000"/>
            <a:ext cx="3444000" cy="92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line-015"/>
          <p:cNvCxnSpPr/>
          <p:nvPr/>
        </p:nvCxnSpPr>
        <p:spPr>
          <a:xfrm>
            <a:off x="6227200" y="868000"/>
            <a:ext cx="0" cy="924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17" name="text-016: 2  scratch[0…15]"/>
          <p:cNvSpPr txBox="1"/>
          <p:nvPr/>
        </p:nvSpPr>
        <p:spPr>
          <a:xfrm>
            <a:off x="7291112" y="1050448"/>
            <a:ext cx="11817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scratch[0…15]</a:t>
            </a:r>
          </a:p>
        </p:txBody>
      </p:sp>
      <p:sp>
        <p:nvSpPr>
          <p:cNvPr id="18" name="text-017: prim_subreg：16 × 32-bit RW"/>
          <p:cNvSpPr txBox="1"/>
          <p:nvPr/>
        </p:nvSpPr>
        <p:spPr>
          <a:xfrm>
            <a:off x="7013038" y="1241744"/>
            <a:ext cx="173792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prim_subreg：16 × 32-bit RW</a:t>
            </a:r>
          </a:p>
        </p:txBody>
      </p:sp>
      <p:sp>
        <p:nvSpPr>
          <p:cNvPr id="19" name="text-018: 保存软件数据；复位为 0；不是 SRAM"/>
          <p:cNvSpPr txBox="1"/>
          <p:nvPr/>
        </p:nvSpPr>
        <p:spPr>
          <a:xfrm>
            <a:off x="6784505" y="1420944"/>
            <a:ext cx="219499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保存软件数据；复位为 0；不是 SRAM</a:t>
            </a:r>
          </a:p>
        </p:txBody>
      </p:sp>
      <p:sp>
        <p:nvSpPr>
          <p:cNvPr id="20" name="polyline-019"/>
          <p:cNvSpPr/>
          <p:nvPr/>
        </p:nvSpPr>
        <p:spPr>
          <a:xfrm>
            <a:off x="5096000" y="1400000"/>
            <a:ext cx="1064000" cy="1"/>
          </a:xfrm>
          <a:custGeom>
            <a:avLst/>
            <a:gdLst/>
            <a:ahLst/>
            <a:cxnLst/>
            <a:rect l="0" t="0" r="r" b="b"/>
            <a:pathLst>
              <a:path w="1064000" h="1">
                <a:moveTo>
                  <a:pt x="0" y="0"/>
                </a:moveTo>
                <a:lnTo>
                  <a:pt x="1064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6092800" y="137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6160000" y="2576000"/>
            <a:ext cx="3444000" cy="1092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2: 3  硬件只读字段"/>
          <p:cNvSpPr txBox="1"/>
          <p:nvPr/>
        </p:nvSpPr>
        <p:spPr>
          <a:xfrm>
            <a:off x="7331012" y="2663248"/>
            <a:ext cx="11019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硬件只读字段</a:t>
            </a:r>
          </a:p>
        </p:txBody>
      </p:sp>
      <p:sp>
        <p:nvSpPr>
          <p:cNvPr id="24" name="text-023: boot_mode_i；RtcFreq；PlatformRom"/>
          <p:cNvSpPr txBox="1"/>
          <p:nvPr/>
        </p:nvSpPr>
        <p:spPr>
          <a:xfrm>
            <a:off x="6802801" y="2854544"/>
            <a:ext cx="215839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boot_mode_i；RtcFreq；PlatformRom</a:t>
            </a:r>
          </a:p>
        </p:txBody>
      </p:sp>
      <p:sp>
        <p:nvSpPr>
          <p:cNvPr id="25" name="text-024: NumIntHarts；HW_FEATURES；LLC_SIZE"/>
          <p:cNvSpPr txBox="1"/>
          <p:nvPr/>
        </p:nvSpPr>
        <p:spPr>
          <a:xfrm>
            <a:off x="6705217" y="3033744"/>
            <a:ext cx="23535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NumIntHarts；HW_FEATURES；LLC_SIZE</a:t>
            </a:r>
          </a:p>
        </p:txBody>
      </p:sp>
      <p:sp>
        <p:nvSpPr>
          <p:cNvPr id="26" name="text-025: VGA RGB 位宽"/>
          <p:cNvSpPr txBox="1"/>
          <p:nvPr/>
        </p:nvSpPr>
        <p:spPr>
          <a:xfrm>
            <a:off x="7433834" y="3212944"/>
            <a:ext cx="89633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VGA RGB 位宽</a:t>
            </a:r>
          </a:p>
        </p:txBody>
      </p:sp>
      <p:sp>
        <p:nvSpPr>
          <p:cNvPr id="27" name="text-026: 来自 SoC 的 hw2reg 连线"/>
          <p:cNvSpPr txBox="1"/>
          <p:nvPr/>
        </p:nvSpPr>
        <p:spPr>
          <a:xfrm>
            <a:off x="7134619" y="3392144"/>
            <a:ext cx="149476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SoC 的 hw2reg 连线</a:t>
            </a:r>
          </a:p>
        </p:txBody>
      </p:sp>
      <p:sp>
        <p:nvSpPr>
          <p:cNvPr id="28" name="rect-027"/>
          <p:cNvSpPr/>
          <p:nvPr/>
        </p:nvSpPr>
        <p:spPr>
          <a:xfrm>
            <a:off x="2688000" y="3528000"/>
            <a:ext cx="2408000" cy="86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4  读回选择 / 响应"/>
          <p:cNvSpPr txBox="1"/>
          <p:nvPr/>
        </p:nvSpPr>
        <p:spPr>
          <a:xfrm>
            <a:off x="3265806" y="3682448"/>
            <a:ext cx="12523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读回选择 / 响应</a:t>
            </a:r>
          </a:p>
        </p:txBody>
      </p:sp>
      <p:sp>
        <p:nvSpPr>
          <p:cNvPr id="30" name="text-029: rdata = 地址选中值"/>
          <p:cNvSpPr txBox="1"/>
          <p:nvPr/>
        </p:nvSpPr>
        <p:spPr>
          <a:xfrm>
            <a:off x="3309569" y="3873744"/>
            <a:ext cx="116486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地址选中值</a:t>
            </a:r>
          </a:p>
        </p:txBody>
      </p:sp>
      <p:sp>
        <p:nvSpPr>
          <p:cNvPr id="31" name="text-030: ready = 1；error = 非法访问"/>
          <p:cNvSpPr txBox="1"/>
          <p:nvPr/>
        </p:nvSpPr>
        <p:spPr>
          <a:xfrm>
            <a:off x="3067138" y="4052944"/>
            <a:ext cx="164972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1；error = 非法访问</a:t>
            </a:r>
          </a:p>
        </p:txBody>
      </p:sp>
      <p:sp>
        <p:nvSpPr>
          <p:cNvPr id="32" name="polyline-031"/>
          <p:cNvSpPr/>
          <p:nvPr/>
        </p:nvSpPr>
        <p:spPr>
          <a:xfrm>
            <a:off x="5096000" y="1792000"/>
            <a:ext cx="1624000" cy="2016000"/>
          </a:xfrm>
          <a:custGeom>
            <a:avLst/>
            <a:gdLst/>
            <a:ahLst/>
            <a:cxnLst/>
            <a:rect l="0" t="0" r="r" b="b"/>
            <a:pathLst>
              <a:path w="1624000" h="2016000">
                <a:moveTo>
                  <a:pt x="1624000" y="0"/>
                </a:moveTo>
                <a:lnTo>
                  <a:pt x="1624000" y="420000"/>
                </a:lnTo>
                <a:lnTo>
                  <a:pt x="336000" y="420000"/>
                </a:lnTo>
                <a:lnTo>
                  <a:pt x="336000" y="2016000"/>
                </a:lnTo>
                <a:lnTo>
                  <a:pt x="0" y="201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5096000" y="378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3"/>
          <p:cNvSpPr/>
          <p:nvPr/>
        </p:nvSpPr>
        <p:spPr>
          <a:xfrm>
            <a:off x="5096000" y="3192000"/>
            <a:ext cx="1064000" cy="924000"/>
          </a:xfrm>
          <a:custGeom>
            <a:avLst/>
            <a:gdLst/>
            <a:ahLst/>
            <a:cxnLst/>
            <a:rect l="0" t="0" r="r" b="b"/>
            <a:pathLst>
              <a:path w="1064000" h="924000">
                <a:moveTo>
                  <a:pt x="1064000" y="0"/>
                </a:moveTo>
                <a:lnTo>
                  <a:pt x="616000" y="0"/>
                </a:lnTo>
                <a:lnTo>
                  <a:pt x="616000" y="924000"/>
                </a:lnTo>
                <a:lnTo>
                  <a:pt x="0" y="924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5096000" y="408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olyline-035"/>
          <p:cNvSpPr/>
          <p:nvPr/>
        </p:nvSpPr>
        <p:spPr>
          <a:xfrm>
            <a:off x="3864000" y="2128000"/>
            <a:ext cx="1" cy="1400000"/>
          </a:xfrm>
          <a:custGeom>
            <a:avLst/>
            <a:gdLst/>
            <a:ahLst/>
            <a:cxnLst/>
            <a:rect l="0" t="0" r="r" b="b"/>
            <a:pathLst>
              <a:path w="1" h="1400000">
                <a:moveTo>
                  <a:pt x="0" y="0"/>
                </a:moveTo>
                <a:lnTo>
                  <a:pt x="0" y="1400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gon-036"/>
          <p:cNvSpPr/>
          <p:nvPr/>
        </p:nvSpPr>
        <p:spPr>
          <a:xfrm>
            <a:off x="3836000" y="346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37"/>
          <p:cNvSpPr/>
          <p:nvPr/>
        </p:nvSpPr>
        <p:spPr>
          <a:xfrm>
            <a:off x="1092000" y="2800000"/>
            <a:ext cx="1596000" cy="1176000"/>
          </a:xfrm>
          <a:custGeom>
            <a:avLst/>
            <a:gdLst/>
            <a:ahLst/>
            <a:cxnLst/>
            <a:rect l="0" t="0" r="r" b="b"/>
            <a:pathLst>
              <a:path w="1596000" h="1176000">
                <a:moveTo>
                  <a:pt x="1596000" y="1176000"/>
                </a:moveTo>
                <a:lnTo>
                  <a:pt x="0" y="1176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lygon-038"/>
          <p:cNvSpPr/>
          <p:nvPr/>
        </p:nvSpPr>
        <p:spPr>
          <a:xfrm>
            <a:off x="1064000" y="280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rdata / error / ready"/>
          <p:cNvSpPr txBox="1"/>
          <p:nvPr/>
        </p:nvSpPr>
        <p:spPr>
          <a:xfrm>
            <a:off x="252000" y="4295648"/>
            <a:ext cx="13287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41" name="text-040: 功能位描述当前综合配置，不是动态电源开关，也不是 PLL 或 DDR 初始化控制"/>
          <p:cNvSpPr txBox="1"/>
          <p:nvPr/>
        </p:nvSpPr>
        <p:spPr>
          <a:xfrm>
            <a:off x="336000" y="4698848"/>
            <a:ext cx="50663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功能位描述当前综合配置，不是动态电源开关，也不是 PLL 或 DDR 初始化控制器。</a:t>
            </a:r>
          </a:p>
        </p:txBody>
      </p:sp>
      <p:sp>
        <p:nvSpPr>
          <p:cNvPr id="42" name="polyline-041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gon-042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45" name="polyline-044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gon-045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48" name="text-047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0  JTAG Debug：DMI 控制、hart 调试与系统总线访问"/>
          <p:cNvSpPr txBox="1"/>
          <p:nvPr/>
        </p:nvSpPr>
        <p:spPr>
          <a:xfrm>
            <a:off x="224000" y="80864"/>
            <a:ext cx="448857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10  JTAG Debug：DMI 控制、hart 调试与系统总线访问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1036000"/>
            <a:ext cx="1512000" cy="86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JTAG 引脚"/>
          <p:cNvSpPr txBox="1"/>
          <p:nvPr/>
        </p:nvSpPr>
        <p:spPr>
          <a:xfrm>
            <a:off x="615912" y="1190448"/>
            <a:ext cx="7281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引脚</a:t>
            </a:r>
          </a:p>
        </p:txBody>
      </p:sp>
      <p:sp>
        <p:nvSpPr>
          <p:cNvPr id="6" name="text-005: TCK / TMS / TDI"/>
          <p:cNvSpPr txBox="1"/>
          <p:nvPr/>
        </p:nvSpPr>
        <p:spPr>
          <a:xfrm>
            <a:off x="466624" y="1381744"/>
            <a:ext cx="102675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/ TMS / TDI</a:t>
            </a:r>
          </a:p>
        </p:txBody>
      </p:sp>
      <p:sp>
        <p:nvSpPr>
          <p:cNvPr id="7" name="text-006: TDO / TRSTn"/>
          <p:cNvSpPr txBox="1"/>
          <p:nvPr/>
        </p:nvSpPr>
        <p:spPr>
          <a:xfrm>
            <a:off x="566366" y="1560944"/>
            <a:ext cx="82726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TDO / TRSTn</a:t>
            </a:r>
          </a:p>
        </p:txBody>
      </p:sp>
      <p:sp>
        <p:nvSpPr>
          <p:cNvPr id="8" name="rect-007"/>
          <p:cNvSpPr/>
          <p:nvPr/>
        </p:nvSpPr>
        <p:spPr>
          <a:xfrm>
            <a:off x="2408000" y="980000"/>
            <a:ext cx="2184000" cy="980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8: 1  dmi_jtag"/>
          <p:cNvSpPr txBox="1"/>
          <p:nvPr/>
        </p:nvSpPr>
        <p:spPr>
          <a:xfrm>
            <a:off x="3105200" y="1100848"/>
            <a:ext cx="7896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dmi_jtag</a:t>
            </a:r>
          </a:p>
        </p:txBody>
      </p:sp>
      <p:sp>
        <p:nvSpPr>
          <p:cNvPr id="10" name="text-009: JTAG TAP / DTM"/>
          <p:cNvSpPr txBox="1"/>
          <p:nvPr/>
        </p:nvSpPr>
        <p:spPr>
          <a:xfrm>
            <a:off x="2998901" y="1292144"/>
            <a:ext cx="100219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TAP / DTM</a:t>
            </a:r>
          </a:p>
        </p:txBody>
      </p:sp>
      <p:sp>
        <p:nvSpPr>
          <p:cNvPr id="11" name="text-010: DMI 请求 / 响应跨域"/>
          <p:cNvSpPr txBox="1"/>
          <p:nvPr/>
        </p:nvSpPr>
        <p:spPr>
          <a:xfrm>
            <a:off x="2874318" y="1471344"/>
            <a:ext cx="125136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 请求 / 响应跨域</a:t>
            </a:r>
          </a:p>
        </p:txBody>
      </p:sp>
      <p:sp>
        <p:nvSpPr>
          <p:cNvPr id="12" name="text-011: TCK 域 ↔ clk_i 域"/>
          <p:cNvSpPr txBox="1"/>
          <p:nvPr/>
        </p:nvSpPr>
        <p:spPr>
          <a:xfrm>
            <a:off x="2952036" y="1650544"/>
            <a:ext cx="109592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域 ↔ clk_i 域</a:t>
            </a:r>
          </a:p>
        </p:txBody>
      </p:sp>
      <p:sp>
        <p:nvSpPr>
          <p:cNvPr id="13" name="polyline-012"/>
          <p:cNvSpPr/>
          <p:nvPr/>
        </p:nvSpPr>
        <p:spPr>
          <a:xfrm>
            <a:off x="1736000" y="1484000"/>
            <a:ext cx="672000" cy="1"/>
          </a:xfrm>
          <a:custGeom>
            <a:avLst/>
            <a:gdLst/>
            <a:ahLst/>
            <a:cxnLst/>
            <a:rect l="0" t="0" r="r" b="b"/>
            <a:pathLst>
              <a:path w="672000" h="1">
                <a:moveTo>
                  <a:pt x="0" y="0"/>
                </a:moveTo>
                <a:lnTo>
                  <a:pt x="67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340800" y="14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1736000" y="14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5"/>
          <p:cNvSpPr/>
          <p:nvPr/>
        </p:nvSpPr>
        <p:spPr>
          <a:xfrm>
            <a:off x="5460000" y="896000"/>
            <a:ext cx="2100000" cy="1148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2  dm_top"/>
          <p:cNvSpPr txBox="1"/>
          <p:nvPr/>
        </p:nvSpPr>
        <p:spPr>
          <a:xfrm>
            <a:off x="6143419" y="1011248"/>
            <a:ext cx="7331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dm_top</a:t>
            </a:r>
          </a:p>
        </p:txBody>
      </p:sp>
      <p:sp>
        <p:nvSpPr>
          <p:cNvPr id="18" name="text-017: dm_csrs：DMI 配置"/>
          <p:cNvSpPr txBox="1"/>
          <p:nvPr/>
        </p:nvSpPr>
        <p:spPr>
          <a:xfrm>
            <a:off x="5910367" y="1202544"/>
            <a:ext cx="11992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dm_csrs：DMI 配置</a:t>
            </a:r>
          </a:p>
        </p:txBody>
      </p:sp>
      <p:sp>
        <p:nvSpPr>
          <p:cNvPr id="19" name="text-018: dm_mem：调试执行存储窗"/>
          <p:cNvSpPr txBox="1"/>
          <p:nvPr/>
        </p:nvSpPr>
        <p:spPr>
          <a:xfrm>
            <a:off x="5706978" y="1381744"/>
            <a:ext cx="16060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dm_mem：调试执行存储窗</a:t>
            </a:r>
          </a:p>
        </p:txBody>
      </p:sp>
      <p:sp>
        <p:nvSpPr>
          <p:cNvPr id="20" name="text-019: dm_sba：系统总线访问"/>
          <p:cNvSpPr txBox="1"/>
          <p:nvPr/>
        </p:nvSpPr>
        <p:spPr>
          <a:xfrm>
            <a:off x="5804308" y="1560944"/>
            <a:ext cx="141138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dm_sba：系统总线访问</a:t>
            </a:r>
          </a:p>
        </p:txBody>
      </p:sp>
      <p:sp>
        <p:nvSpPr>
          <p:cNvPr id="21" name="text-020: dmactive → dbg_active_o"/>
          <p:cNvSpPr txBox="1"/>
          <p:nvPr/>
        </p:nvSpPr>
        <p:spPr>
          <a:xfrm>
            <a:off x="5759311" y="1740144"/>
            <a:ext cx="1501377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dmactive → dbg_active_o</a:t>
            </a:r>
          </a:p>
        </p:txBody>
      </p:sp>
      <p:sp>
        <p:nvSpPr>
          <p:cNvPr id="22" name="polyline-021"/>
          <p:cNvSpPr/>
          <p:nvPr/>
        </p:nvSpPr>
        <p:spPr>
          <a:xfrm>
            <a:off x="4592000" y="1484000"/>
            <a:ext cx="868000" cy="1"/>
          </a:xfrm>
          <a:custGeom>
            <a:avLst/>
            <a:gdLst/>
            <a:ahLst/>
            <a:cxnLst/>
            <a:rect l="0" t="0" r="r" b="b"/>
            <a:pathLst>
              <a:path w="868000" h="1">
                <a:moveTo>
                  <a:pt x="0" y="0"/>
                </a:moveTo>
                <a:lnTo>
                  <a:pt x="86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5392800" y="14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4592000" y="14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DMI"/>
          <p:cNvSpPr txBox="1"/>
          <p:nvPr/>
        </p:nvSpPr>
        <p:spPr>
          <a:xfrm>
            <a:off x="4788000" y="1221696"/>
            <a:ext cx="35269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</a:t>
            </a:r>
          </a:p>
        </p:txBody>
      </p:sp>
      <p:sp>
        <p:nvSpPr>
          <p:cNvPr id="26" name="rect-025"/>
          <p:cNvSpPr/>
          <p:nvPr/>
        </p:nvSpPr>
        <p:spPr>
          <a:xfrm>
            <a:off x="8316000" y="980000"/>
            <a:ext cx="1484000" cy="980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3  hart 调试入口"/>
          <p:cNvSpPr txBox="1"/>
          <p:nvPr/>
        </p:nvSpPr>
        <p:spPr>
          <a:xfrm>
            <a:off x="8505897" y="1100848"/>
            <a:ext cx="11042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hart 调试入口</a:t>
            </a:r>
          </a:p>
        </p:txBody>
      </p:sp>
      <p:sp>
        <p:nvSpPr>
          <p:cNvPr id="28" name="text-027: debug_req"/>
          <p:cNvSpPr txBox="1"/>
          <p:nvPr/>
        </p:nvSpPr>
        <p:spPr>
          <a:xfrm>
            <a:off x="8715892" y="1292144"/>
            <a:ext cx="68421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debug_req</a:t>
            </a:r>
          </a:p>
        </p:txBody>
      </p:sp>
      <p:sp>
        <p:nvSpPr>
          <p:cNvPr id="29" name="text-028: 执行 debug ROM"/>
          <p:cNvSpPr txBox="1"/>
          <p:nvPr/>
        </p:nvSpPr>
        <p:spPr>
          <a:xfrm>
            <a:off x="8543426" y="1471344"/>
            <a:ext cx="102914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debug ROM</a:t>
            </a:r>
          </a:p>
        </p:txBody>
      </p:sp>
      <p:sp>
        <p:nvSpPr>
          <p:cNvPr id="30" name="text-029: 访问程序缓冲区"/>
          <p:cNvSpPr txBox="1"/>
          <p:nvPr/>
        </p:nvSpPr>
        <p:spPr>
          <a:xfrm>
            <a:off x="8565200" y="16505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访问程序缓冲区</a:t>
            </a:r>
          </a:p>
        </p:txBody>
      </p:sp>
      <p:sp>
        <p:nvSpPr>
          <p:cNvPr id="31" name="polyline-030"/>
          <p:cNvSpPr/>
          <p:nvPr/>
        </p:nvSpPr>
        <p:spPr>
          <a:xfrm>
            <a:off x="7560000" y="1400000"/>
            <a:ext cx="756000" cy="1"/>
          </a:xfrm>
          <a:custGeom>
            <a:avLst/>
            <a:gdLst/>
            <a:ahLst/>
            <a:cxnLst/>
            <a:rect l="0" t="0" r="r" b="b"/>
            <a:pathLst>
              <a:path w="756000" h="1">
                <a:moveTo>
                  <a:pt x="0" y="0"/>
                </a:moveTo>
                <a:lnTo>
                  <a:pt x="75600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8248800" y="137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5656000" y="3416000"/>
            <a:ext cx="2100000" cy="952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4  axi_from_mem"/>
          <p:cNvSpPr txBox="1"/>
          <p:nvPr/>
        </p:nvSpPr>
        <p:spPr>
          <a:xfrm>
            <a:off x="6129944" y="3522848"/>
            <a:ext cx="11521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axi_from_mem</a:t>
            </a:r>
          </a:p>
        </p:txBody>
      </p:sp>
      <p:sp>
        <p:nvSpPr>
          <p:cNvPr id="35" name="text-034: SBA req / gnt / rvalid"/>
          <p:cNvSpPr txBox="1"/>
          <p:nvPr/>
        </p:nvSpPr>
        <p:spPr>
          <a:xfrm>
            <a:off x="6064914" y="3714144"/>
            <a:ext cx="128217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SBA req / gnt / rvalid</a:t>
            </a:r>
          </a:p>
        </p:txBody>
      </p:sp>
      <p:sp>
        <p:nvSpPr>
          <p:cNvPr id="36" name="text-035: → AXI master"/>
          <p:cNvSpPr txBox="1"/>
          <p:nvPr/>
        </p:nvSpPr>
        <p:spPr>
          <a:xfrm>
            <a:off x="6273960" y="3893344"/>
            <a:ext cx="86408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AXI master</a:t>
            </a:r>
          </a:p>
        </p:txBody>
      </p:sp>
      <p:sp>
        <p:nvSpPr>
          <p:cNvPr id="37" name="text-036: AxiIn.dbg"/>
          <p:cNvSpPr txBox="1"/>
          <p:nvPr/>
        </p:nvSpPr>
        <p:spPr>
          <a:xfrm>
            <a:off x="6403228" y="4072544"/>
            <a:ext cx="60554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AxiIn.dbg</a:t>
            </a:r>
          </a:p>
        </p:txBody>
      </p:sp>
      <p:sp>
        <p:nvSpPr>
          <p:cNvPr id="38" name="polyline-037"/>
          <p:cNvSpPr/>
          <p:nvPr/>
        </p:nvSpPr>
        <p:spPr>
          <a:xfrm>
            <a:off x="6580000" y="2044000"/>
            <a:ext cx="1" cy="1372000"/>
          </a:xfrm>
          <a:custGeom>
            <a:avLst/>
            <a:gdLst/>
            <a:ahLst/>
            <a:cxnLst/>
            <a:rect l="0" t="0" r="r" b="b"/>
            <a:pathLst>
              <a:path w="1" h="1372000">
                <a:moveTo>
                  <a:pt x="0" y="0"/>
                </a:moveTo>
                <a:lnTo>
                  <a:pt x="0" y="1372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lygon-038"/>
          <p:cNvSpPr/>
          <p:nvPr/>
        </p:nvSpPr>
        <p:spPr>
          <a:xfrm>
            <a:off x="6552000" y="3348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olygon-039"/>
          <p:cNvSpPr/>
          <p:nvPr/>
        </p:nvSpPr>
        <p:spPr>
          <a:xfrm>
            <a:off x="6552000" y="204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0"/>
          <p:cNvSpPr/>
          <p:nvPr/>
        </p:nvSpPr>
        <p:spPr>
          <a:xfrm>
            <a:off x="6692000" y="4368000"/>
            <a:ext cx="2940000" cy="448000"/>
          </a:xfrm>
          <a:custGeom>
            <a:avLst/>
            <a:gdLst/>
            <a:ahLst/>
            <a:cxnLst/>
            <a:rect l="0" t="0" r="r" b="b"/>
            <a:pathLst>
              <a:path w="2940000" h="448000">
                <a:moveTo>
                  <a:pt x="0" y="0"/>
                </a:moveTo>
                <a:lnTo>
                  <a:pt x="0" y="448000"/>
                </a:lnTo>
                <a:lnTo>
                  <a:pt x="2940000" y="448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9564800" y="478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gon-042"/>
          <p:cNvSpPr/>
          <p:nvPr/>
        </p:nvSpPr>
        <p:spPr>
          <a:xfrm>
            <a:off x="6664000" y="4368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访问系统地址空间"/>
          <p:cNvSpPr txBox="1"/>
          <p:nvPr/>
        </p:nvSpPr>
        <p:spPr>
          <a:xfrm>
            <a:off x="7896000" y="4570496"/>
            <a:ext cx="115920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访问系统地址空间</a:t>
            </a:r>
          </a:p>
        </p:txBody>
      </p:sp>
      <p:sp>
        <p:nvSpPr>
          <p:cNvPr id="45" name="rect-044"/>
          <p:cNvSpPr/>
          <p:nvPr/>
        </p:nvSpPr>
        <p:spPr>
          <a:xfrm>
            <a:off x="2408000" y="3388000"/>
            <a:ext cx="2184000" cy="1036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5  调试存储窗适配"/>
          <p:cNvSpPr txBox="1"/>
          <p:nvPr/>
        </p:nvSpPr>
        <p:spPr>
          <a:xfrm>
            <a:off x="2881812" y="3447248"/>
            <a:ext cx="12363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调试存储窗适配</a:t>
            </a:r>
          </a:p>
        </p:txBody>
      </p:sp>
      <p:sp>
        <p:nvSpPr>
          <p:cNvPr id="47" name="text-046: AXI atomics / cut"/>
          <p:cNvSpPr txBox="1"/>
          <p:nvPr/>
        </p:nvSpPr>
        <p:spPr>
          <a:xfrm>
            <a:off x="2972073" y="3638544"/>
            <a:ext cx="105585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atomics / cut</a:t>
            </a:r>
          </a:p>
        </p:txBody>
      </p:sp>
      <p:sp>
        <p:nvSpPr>
          <p:cNvPr id="48" name="text-047: axi_to_mem_interleaved"/>
          <p:cNvSpPr txBox="1"/>
          <p:nvPr/>
        </p:nvSpPr>
        <p:spPr>
          <a:xfrm>
            <a:off x="2788831" y="3817744"/>
            <a:ext cx="142233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axi_to_mem_interleaved</a:t>
            </a:r>
          </a:p>
        </p:txBody>
      </p:sp>
      <p:sp>
        <p:nvSpPr>
          <p:cNvPr id="49" name="text-048: → dm_top.slave_*"/>
          <p:cNvSpPr txBox="1"/>
          <p:nvPr/>
        </p:nvSpPr>
        <p:spPr>
          <a:xfrm>
            <a:off x="2931342" y="3996944"/>
            <a:ext cx="113731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dm_top.slave_*</a:t>
            </a:r>
          </a:p>
        </p:txBody>
      </p:sp>
      <p:sp>
        <p:nvSpPr>
          <p:cNvPr id="50" name="text-049: 供 hart 执行调试代码"/>
          <p:cNvSpPr txBox="1"/>
          <p:nvPr/>
        </p:nvSpPr>
        <p:spPr>
          <a:xfrm>
            <a:off x="2864514" y="4176144"/>
            <a:ext cx="127097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供 hart 执行调试代码</a:t>
            </a:r>
          </a:p>
        </p:txBody>
      </p:sp>
      <p:sp>
        <p:nvSpPr>
          <p:cNvPr id="51" name="polyline-050"/>
          <p:cNvSpPr/>
          <p:nvPr/>
        </p:nvSpPr>
        <p:spPr>
          <a:xfrm>
            <a:off x="224000" y="3864000"/>
            <a:ext cx="2184000" cy="1"/>
          </a:xfrm>
          <a:custGeom>
            <a:avLst/>
            <a:gdLst/>
            <a:ahLst/>
            <a:cxnLst/>
            <a:rect l="0" t="0" r="r" b="b"/>
            <a:pathLst>
              <a:path w="2184000" h="1">
                <a:moveTo>
                  <a:pt x="0" y="0"/>
                </a:moveTo>
                <a:lnTo>
                  <a:pt x="2184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-051"/>
          <p:cNvSpPr/>
          <p:nvPr/>
        </p:nvSpPr>
        <p:spPr>
          <a:xfrm>
            <a:off x="2340800" y="38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224000" y="38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AxiOut.dbg"/>
          <p:cNvSpPr txBox="1"/>
          <p:nvPr/>
        </p:nvSpPr>
        <p:spPr>
          <a:xfrm>
            <a:off x="252000" y="3494848"/>
            <a:ext cx="7571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AxiOut.dbg</a:t>
            </a:r>
          </a:p>
        </p:txBody>
      </p:sp>
      <p:sp>
        <p:nvSpPr>
          <p:cNvPr id="55" name="polyline-054"/>
          <p:cNvSpPr/>
          <p:nvPr/>
        </p:nvSpPr>
        <p:spPr>
          <a:xfrm>
            <a:off x="3500000" y="2044000"/>
            <a:ext cx="2268000" cy="1344000"/>
          </a:xfrm>
          <a:custGeom>
            <a:avLst/>
            <a:gdLst/>
            <a:ahLst/>
            <a:cxnLst/>
            <a:rect l="0" t="0" r="r" b="b"/>
            <a:pathLst>
              <a:path w="2268000" h="1344000">
                <a:moveTo>
                  <a:pt x="0" y="1344000"/>
                </a:moveTo>
                <a:lnTo>
                  <a:pt x="0" y="560000"/>
                </a:lnTo>
                <a:lnTo>
                  <a:pt x="2268000" y="560000"/>
                </a:lnTo>
                <a:lnTo>
                  <a:pt x="226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-055"/>
          <p:cNvSpPr/>
          <p:nvPr/>
        </p:nvSpPr>
        <p:spPr>
          <a:xfrm>
            <a:off x="5740000" y="204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3472000" y="332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当前 ndmreset_o 未接出；不能由 DMI 寄存器存在就推断 SoC 复"/>
          <p:cNvSpPr txBox="1"/>
          <p:nvPr/>
        </p:nvSpPr>
        <p:spPr>
          <a:xfrm>
            <a:off x="252000" y="4693248"/>
            <a:ext cx="46350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ndmreset_o 未接出；不能由 DMI 寄存器存在就推断 SoC 复位已实现。</a:t>
            </a:r>
          </a:p>
        </p:txBody>
      </p:sp>
      <p:sp>
        <p:nvSpPr>
          <p:cNvPr id="59" name="polyline-058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gon-059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62" name="polyline-061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olygon-062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5" name="text-064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1  Serial Link：AXI 通道编码、流控与源同步物理传输"/>
          <p:cNvSpPr txBox="1"/>
          <p:nvPr/>
        </p:nvSpPr>
        <p:spPr>
          <a:xfrm>
            <a:off x="224000" y="80864"/>
            <a:ext cx="448542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11  Serial Link：AXI 通道编码、流控与源同步物理传输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1036000"/>
            <a:ext cx="1876000" cy="106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1  SoC 外层适配"/>
          <p:cNvSpPr txBox="1"/>
          <p:nvPr/>
        </p:nvSpPr>
        <p:spPr>
          <a:xfrm>
            <a:off x="605828" y="1109248"/>
            <a:ext cx="11123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SoC 外层适配</a:t>
            </a:r>
          </a:p>
        </p:txBody>
      </p:sp>
      <p:sp>
        <p:nvSpPr>
          <p:cNvPr id="6" name="text-005: 出站地址 domain / mask"/>
          <p:cNvSpPr txBox="1"/>
          <p:nvPr/>
        </p:nvSpPr>
        <p:spPr>
          <a:xfrm>
            <a:off x="422082" y="1300544"/>
            <a:ext cx="147983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出站地址 domain / mask</a:t>
            </a:r>
          </a:p>
        </p:txBody>
      </p:sp>
      <p:sp>
        <p:nvSpPr>
          <p:cNvPr id="7" name="text-006: axi_id_remap"/>
          <p:cNvSpPr txBox="1"/>
          <p:nvPr/>
        </p:nvSpPr>
        <p:spPr>
          <a:xfrm>
            <a:off x="746078" y="1479744"/>
            <a:ext cx="8318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axi_id_remap</a:t>
            </a:r>
          </a:p>
        </p:txBody>
      </p:sp>
      <p:sp>
        <p:nvSpPr>
          <p:cNvPr id="8" name="text-007: AMO 标记适配"/>
          <p:cNvSpPr txBox="1"/>
          <p:nvPr/>
        </p:nvSpPr>
        <p:spPr>
          <a:xfrm>
            <a:off x="709988" y="1658944"/>
            <a:ext cx="90402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AMO 标记适配</a:t>
            </a:r>
          </a:p>
        </p:txBody>
      </p:sp>
      <p:sp>
        <p:nvSpPr>
          <p:cNvPr id="9" name="text-008: 对端入站 → 本地 AXI"/>
          <p:cNvSpPr txBox="1"/>
          <p:nvPr/>
        </p:nvSpPr>
        <p:spPr>
          <a:xfrm>
            <a:off x="530119" y="1838144"/>
            <a:ext cx="126376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对端入站 → 本地 AXI</a:t>
            </a:r>
          </a:p>
        </p:txBody>
      </p:sp>
      <p:sp>
        <p:nvSpPr>
          <p:cNvPr id="10" name="rect-009"/>
          <p:cNvSpPr/>
          <p:nvPr/>
        </p:nvSpPr>
        <p:spPr>
          <a:xfrm>
            <a:off x="2800000" y="1036000"/>
            <a:ext cx="2044000" cy="106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0: 2  serial_link_network"/>
          <p:cNvSpPr txBox="1"/>
          <p:nvPr/>
        </p:nvSpPr>
        <p:spPr>
          <a:xfrm>
            <a:off x="3114562" y="1198848"/>
            <a:ext cx="14148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serial_link_network</a:t>
            </a:r>
          </a:p>
        </p:txBody>
      </p:sp>
      <p:sp>
        <p:nvSpPr>
          <p:cNvPr id="12" name="text-011: AXI AW / W / B / AR / R"/>
          <p:cNvSpPr txBox="1"/>
          <p:nvPr/>
        </p:nvSpPr>
        <p:spPr>
          <a:xfrm>
            <a:off x="3098200" y="1390144"/>
            <a:ext cx="1447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AW / W / B / AR / R</a:t>
            </a:r>
          </a:p>
        </p:txBody>
      </p:sp>
      <p:sp>
        <p:nvSpPr>
          <p:cNvPr id="13" name="text-012: 通道仲裁 / 封装 / 还原"/>
          <p:cNvSpPr txBox="1"/>
          <p:nvPr/>
        </p:nvSpPr>
        <p:spPr>
          <a:xfrm>
            <a:off x="3129726" y="1569344"/>
            <a:ext cx="138454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通道仲裁 / 封装 / 还原</a:t>
            </a:r>
          </a:p>
        </p:txBody>
      </p:sp>
      <p:sp>
        <p:nvSpPr>
          <p:cNvPr id="14" name="text-013: AXI ↔ payload stream"/>
          <p:cNvSpPr txBox="1"/>
          <p:nvPr/>
        </p:nvSpPr>
        <p:spPr>
          <a:xfrm>
            <a:off x="3164853" y="1748544"/>
            <a:ext cx="131429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payload stream</a:t>
            </a:r>
          </a:p>
        </p:txBody>
      </p:sp>
      <p:sp>
        <p:nvSpPr>
          <p:cNvPr id="15" name="polyline-014"/>
          <p:cNvSpPr/>
          <p:nvPr/>
        </p:nvSpPr>
        <p:spPr>
          <a:xfrm>
            <a:off x="2100000" y="1568000"/>
            <a:ext cx="700000" cy="1"/>
          </a:xfrm>
          <a:custGeom>
            <a:avLst/>
            <a:gdLst/>
            <a:ahLst/>
            <a:cxnLst/>
            <a:rect l="0" t="0" r="r" b="b"/>
            <a:pathLst>
              <a:path w="700000" h="1">
                <a:moveTo>
                  <a:pt x="0" y="0"/>
                </a:moveTo>
                <a:lnTo>
                  <a:pt x="70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7328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21000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7"/>
          <p:cNvSpPr/>
          <p:nvPr/>
        </p:nvSpPr>
        <p:spPr>
          <a:xfrm>
            <a:off x="5600000" y="1036000"/>
            <a:ext cx="1932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3  serial_link_data_link"/>
          <p:cNvSpPr txBox="1"/>
          <p:nvPr/>
        </p:nvSpPr>
        <p:spPr>
          <a:xfrm>
            <a:off x="5822338" y="1198848"/>
            <a:ext cx="14873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serial_link_data_link</a:t>
            </a:r>
          </a:p>
        </p:txBody>
      </p:sp>
      <p:sp>
        <p:nvSpPr>
          <p:cNvPr id="20" name="text-019: 接收缓冲 / 流控"/>
          <p:cNvSpPr txBox="1"/>
          <p:nvPr/>
        </p:nvSpPr>
        <p:spPr>
          <a:xfrm>
            <a:off x="6065863" y="1390144"/>
            <a:ext cx="1000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接收缓冲 / 流控</a:t>
            </a:r>
          </a:p>
        </p:txBody>
      </p:sp>
      <p:sp>
        <p:nvSpPr>
          <p:cNvPr id="21" name="text-020: payload 拆分 / 重组"/>
          <p:cNvSpPr txBox="1"/>
          <p:nvPr/>
        </p:nvSpPr>
        <p:spPr>
          <a:xfrm>
            <a:off x="5963956" y="1569344"/>
            <a:ext cx="120408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payload 拆分 / 重组</a:t>
            </a:r>
          </a:p>
        </p:txBody>
      </p:sp>
      <p:sp>
        <p:nvSpPr>
          <p:cNvPr id="22" name="text-021: raw mode 支路"/>
          <p:cNvSpPr txBox="1"/>
          <p:nvPr/>
        </p:nvSpPr>
        <p:spPr>
          <a:xfrm>
            <a:off x="6100697" y="1748544"/>
            <a:ext cx="9306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raw mode 支路</a:t>
            </a:r>
          </a:p>
        </p:txBody>
      </p:sp>
      <p:sp>
        <p:nvSpPr>
          <p:cNvPr id="23" name="polyline-022"/>
          <p:cNvSpPr/>
          <p:nvPr/>
        </p:nvSpPr>
        <p:spPr>
          <a:xfrm>
            <a:off x="4844000" y="1568000"/>
            <a:ext cx="756000" cy="1"/>
          </a:xfrm>
          <a:custGeom>
            <a:avLst/>
            <a:gdLst/>
            <a:ahLst/>
            <a:cxnLst/>
            <a:rect l="0" t="0" r="r" b="b"/>
            <a:pathLst>
              <a:path w="756000" h="1">
                <a:moveTo>
                  <a:pt x="0" y="0"/>
                </a:moveTo>
                <a:lnTo>
                  <a:pt x="75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55328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48440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8064000" y="1092000"/>
            <a:ext cx="1792000" cy="952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4  channel_allocator"/>
          <p:cNvSpPr txBox="1"/>
          <p:nvPr/>
        </p:nvSpPr>
        <p:spPr>
          <a:xfrm>
            <a:off x="8296991" y="1198848"/>
            <a:ext cx="132601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channel_allocator</a:t>
            </a:r>
          </a:p>
        </p:txBody>
      </p:sp>
      <p:sp>
        <p:nvSpPr>
          <p:cNvPr id="28" name="text-027: NumChannels &gt; 1 时"/>
          <p:cNvSpPr txBox="1"/>
          <p:nvPr/>
        </p:nvSpPr>
        <p:spPr>
          <a:xfrm>
            <a:off x="8332328" y="1390144"/>
            <a:ext cx="12553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NumChannels &gt; 1 时</a:t>
            </a:r>
          </a:p>
        </p:txBody>
      </p:sp>
      <p:sp>
        <p:nvSpPr>
          <p:cNvPr id="29" name="text-028: 分配与还原通道"/>
          <p:cNvSpPr txBox="1"/>
          <p:nvPr/>
        </p:nvSpPr>
        <p:spPr>
          <a:xfrm>
            <a:off x="8467200" y="15693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分配与还原通道</a:t>
            </a:r>
          </a:p>
        </p:txBody>
      </p:sp>
      <p:sp>
        <p:nvSpPr>
          <p:cNvPr id="30" name="text-029: 单通道直接连接"/>
          <p:cNvSpPr txBox="1"/>
          <p:nvPr/>
        </p:nvSpPr>
        <p:spPr>
          <a:xfrm>
            <a:off x="8467200" y="17485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单通道直接连接</a:t>
            </a:r>
          </a:p>
        </p:txBody>
      </p:sp>
      <p:sp>
        <p:nvSpPr>
          <p:cNvPr id="31" name="polyline-030"/>
          <p:cNvSpPr/>
          <p:nvPr/>
        </p:nvSpPr>
        <p:spPr>
          <a:xfrm>
            <a:off x="7532000" y="1568000"/>
            <a:ext cx="532000" cy="1"/>
          </a:xfrm>
          <a:custGeom>
            <a:avLst/>
            <a:gdLst/>
            <a:ahLst/>
            <a:cxnLst/>
            <a:rect l="0" t="0" r="r" b="b"/>
            <a:pathLst>
              <a:path w="532000" h="1">
                <a:moveTo>
                  <a:pt x="0" y="0"/>
                </a:moveTo>
                <a:lnTo>
                  <a:pt x="5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79968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75320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7056000" y="3360000"/>
            <a:ext cx="2660000" cy="100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5  serial_link_physical × 通道"/>
          <p:cNvSpPr txBox="1"/>
          <p:nvPr/>
        </p:nvSpPr>
        <p:spPr>
          <a:xfrm>
            <a:off x="7456881" y="3494848"/>
            <a:ext cx="18582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serial_link_physical × 通道</a:t>
            </a:r>
          </a:p>
        </p:txBody>
      </p:sp>
      <p:sp>
        <p:nvSpPr>
          <p:cNvPr id="36" name="text-035: 发送时钟分频 / 相位控制"/>
          <p:cNvSpPr txBox="1"/>
          <p:nvPr/>
        </p:nvSpPr>
        <p:spPr>
          <a:xfrm>
            <a:off x="7639463" y="3686144"/>
            <a:ext cx="14930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发送时钟分频 / 相位控制</a:t>
            </a:r>
          </a:p>
        </p:txBody>
      </p:sp>
      <p:sp>
        <p:nvSpPr>
          <p:cNvPr id="37" name="text-036: DDR 引脚收发 / 接收跨域"/>
          <p:cNvSpPr txBox="1"/>
          <p:nvPr/>
        </p:nvSpPr>
        <p:spPr>
          <a:xfrm>
            <a:off x="7624846" y="3865344"/>
            <a:ext cx="152230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引脚收发 / 接收跨域</a:t>
            </a:r>
          </a:p>
        </p:txBody>
      </p:sp>
      <p:sp>
        <p:nvSpPr>
          <p:cNvPr id="38" name="text-037: ddr_rcv_clk + ddr 数据 lanes"/>
          <p:cNvSpPr txBox="1"/>
          <p:nvPr/>
        </p:nvSpPr>
        <p:spPr>
          <a:xfrm>
            <a:off x="7558915" y="4044544"/>
            <a:ext cx="165417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ddr_rcv_clk + ddr 数据 lanes</a:t>
            </a:r>
          </a:p>
        </p:txBody>
      </p:sp>
      <p:sp>
        <p:nvSpPr>
          <p:cNvPr id="39" name="polyline-038"/>
          <p:cNvSpPr/>
          <p:nvPr/>
        </p:nvSpPr>
        <p:spPr>
          <a:xfrm>
            <a:off x="8960000" y="2044000"/>
            <a:ext cx="1" cy="1316000"/>
          </a:xfrm>
          <a:custGeom>
            <a:avLst/>
            <a:gdLst/>
            <a:ahLst/>
            <a:cxnLst/>
            <a:rect l="0" t="0" r="r" b="b"/>
            <a:pathLst>
              <a:path w="1" h="1316000">
                <a:moveTo>
                  <a:pt x="0" y="0"/>
                </a:moveTo>
                <a:lnTo>
                  <a:pt x="0" y="131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olygon-039"/>
          <p:cNvSpPr/>
          <p:nvPr/>
        </p:nvSpPr>
        <p:spPr>
          <a:xfrm>
            <a:off x="8932000" y="3292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gon-040"/>
          <p:cNvSpPr/>
          <p:nvPr/>
        </p:nvSpPr>
        <p:spPr>
          <a:xfrm>
            <a:off x="8932000" y="204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line-041"/>
          <p:cNvSpPr/>
          <p:nvPr/>
        </p:nvSpPr>
        <p:spPr>
          <a:xfrm>
            <a:off x="8316000" y="4368000"/>
            <a:ext cx="1" cy="504000"/>
          </a:xfrm>
          <a:custGeom>
            <a:avLst/>
            <a:gdLst/>
            <a:ahLst/>
            <a:cxnLst/>
            <a:rect l="0" t="0" r="r" b="b"/>
            <a:pathLst>
              <a:path w="1" h="504000">
                <a:moveTo>
                  <a:pt x="0" y="0"/>
                </a:moveTo>
                <a:lnTo>
                  <a:pt x="0" y="504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gon-042"/>
          <p:cNvSpPr/>
          <p:nvPr/>
        </p:nvSpPr>
        <p:spPr>
          <a:xfrm>
            <a:off x="8288000" y="4804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8288000" y="4368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外部串行链路；此处 DDR 指双边沿传输"/>
          <p:cNvSpPr txBox="1"/>
          <p:nvPr/>
        </p:nvSpPr>
        <p:spPr>
          <a:xfrm>
            <a:off x="6412000" y="4928896"/>
            <a:ext cx="238757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外部串行链路；此处 DDR 指双边沿传输</a:t>
            </a:r>
          </a:p>
        </p:txBody>
      </p:sp>
      <p:sp>
        <p:nvSpPr>
          <p:cNvPr id="46" name="rect-045"/>
          <p:cNvSpPr/>
          <p:nvPr/>
        </p:nvSpPr>
        <p:spPr>
          <a:xfrm>
            <a:off x="2604000" y="3472000"/>
            <a:ext cx="3024000" cy="896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6  serial_link_reg_top"/>
          <p:cNvSpPr txBox="1"/>
          <p:nvPr/>
        </p:nvSpPr>
        <p:spPr>
          <a:xfrm>
            <a:off x="3419259" y="3550848"/>
            <a:ext cx="13934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serial_link_reg_top</a:t>
            </a:r>
          </a:p>
        </p:txBody>
      </p:sp>
      <p:sp>
        <p:nvSpPr>
          <p:cNvPr id="48" name="text-047: Regbus → 可选 reg_cdc → 配置"/>
          <p:cNvSpPr txBox="1"/>
          <p:nvPr/>
        </p:nvSpPr>
        <p:spPr>
          <a:xfrm>
            <a:off x="3185149" y="3742144"/>
            <a:ext cx="186170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→ 可选 reg_cdc → 配置</a:t>
            </a:r>
          </a:p>
        </p:txBody>
      </p:sp>
      <p:sp>
        <p:nvSpPr>
          <p:cNvPr id="49" name="text-048: TX clk_div / raw mode / FIFO 控制"/>
          <p:cNvSpPr txBox="1"/>
          <p:nvPr/>
        </p:nvSpPr>
        <p:spPr>
          <a:xfrm>
            <a:off x="3133778" y="3921344"/>
            <a:ext cx="19644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clk_div / raw mode / FIFO 控制</a:t>
            </a:r>
          </a:p>
        </p:txBody>
      </p:sp>
      <p:sp>
        <p:nvSpPr>
          <p:cNvPr id="50" name="text-049: 当前 SoC 的三路逻辑时钟都接 clk_i"/>
          <p:cNvSpPr txBox="1"/>
          <p:nvPr/>
        </p:nvSpPr>
        <p:spPr>
          <a:xfrm>
            <a:off x="3091296" y="4100544"/>
            <a:ext cx="204940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SoC 的三路逻辑时钟都接 clk_i</a:t>
            </a:r>
          </a:p>
        </p:txBody>
      </p:sp>
      <p:sp>
        <p:nvSpPr>
          <p:cNvPr id="51" name="polyline-050"/>
          <p:cNvSpPr/>
          <p:nvPr/>
        </p:nvSpPr>
        <p:spPr>
          <a:xfrm>
            <a:off x="5628000" y="3892000"/>
            <a:ext cx="1428000" cy="1"/>
          </a:xfrm>
          <a:custGeom>
            <a:avLst/>
            <a:gdLst/>
            <a:ahLst/>
            <a:cxnLst/>
            <a:rect l="0" t="0" r="r" b="b"/>
            <a:pathLst>
              <a:path w="1428000" h="1">
                <a:moveTo>
                  <a:pt x="0" y="0"/>
                </a:moveTo>
                <a:lnTo>
                  <a:pt x="142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-051"/>
          <p:cNvSpPr/>
          <p:nvPr/>
        </p:nvSpPr>
        <p:spPr>
          <a:xfrm>
            <a:off x="6988800" y="386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4116000" y="2100000"/>
            <a:ext cx="2436000" cy="1372000"/>
          </a:xfrm>
          <a:custGeom>
            <a:avLst/>
            <a:gdLst/>
            <a:ahLst/>
            <a:cxnLst/>
            <a:rect l="0" t="0" r="r" b="b"/>
            <a:pathLst>
              <a:path w="2436000" h="1372000">
                <a:moveTo>
                  <a:pt x="0" y="1372000"/>
                </a:moveTo>
                <a:lnTo>
                  <a:pt x="0" y="616000"/>
                </a:lnTo>
                <a:lnTo>
                  <a:pt x="2436000" y="616000"/>
                </a:lnTo>
                <a:lnTo>
                  <a:pt x="2436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gon-053"/>
          <p:cNvSpPr/>
          <p:nvPr/>
        </p:nvSpPr>
        <p:spPr>
          <a:xfrm>
            <a:off x="6524000" y="210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AXI 事务跨芯片传输，不是 UART，也不自动提供缓存一致性。"/>
          <p:cNvSpPr txBox="1"/>
          <p:nvPr/>
        </p:nvSpPr>
        <p:spPr>
          <a:xfrm>
            <a:off x="252000" y="4642848"/>
            <a:ext cx="38003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事务跨芯片传输，不是 UART，也不自动提供缓存一致性。</a:t>
            </a:r>
          </a:p>
        </p:txBody>
      </p:sp>
      <p:sp>
        <p:nvSpPr>
          <p:cNvPr id="56" name="polyline-055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59" name="polyline-058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gon-059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2" name="text-061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2  VGA：AXI 读取帧缓冲，再按像素节拍消耗数据"/>
          <p:cNvSpPr txBox="1"/>
          <p:nvPr/>
        </p:nvSpPr>
        <p:spPr>
          <a:xfrm>
            <a:off x="224000" y="80864"/>
            <a:ext cx="416377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12  VGA：AXI 读取帧缓冲，再按像素节拍消耗数据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1008000"/>
            <a:ext cx="1932000" cy="1036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1  axi_vga_reg_top"/>
          <p:cNvSpPr txBox="1"/>
          <p:nvPr/>
        </p:nvSpPr>
        <p:spPr>
          <a:xfrm>
            <a:off x="575028" y="1067248"/>
            <a:ext cx="12299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axi_vga_reg_top</a:t>
            </a:r>
          </a:p>
        </p:txBody>
      </p:sp>
      <p:sp>
        <p:nvSpPr>
          <p:cNvPr id="6" name="text-005: START_ADDR / FRAME_SIZE"/>
          <p:cNvSpPr txBox="1"/>
          <p:nvPr/>
        </p:nvSpPr>
        <p:spPr>
          <a:xfrm>
            <a:off x="362779" y="1258544"/>
            <a:ext cx="165444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START_ADDR / FRAME_SIZE</a:t>
            </a:r>
          </a:p>
        </p:txBody>
      </p:sp>
      <p:sp>
        <p:nvSpPr>
          <p:cNvPr id="7" name="text-006: BURST_LEN / ENABLE"/>
          <p:cNvSpPr txBox="1"/>
          <p:nvPr/>
        </p:nvSpPr>
        <p:spPr>
          <a:xfrm>
            <a:off x="525206" y="1437744"/>
            <a:ext cx="132958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BURST_LEN / ENABLE</a:t>
            </a:r>
          </a:p>
        </p:txBody>
      </p:sp>
      <p:sp>
        <p:nvSpPr>
          <p:cNvPr id="8" name="text-007: 水平 / 垂直时序"/>
          <p:cNvSpPr txBox="1"/>
          <p:nvPr/>
        </p:nvSpPr>
        <p:spPr>
          <a:xfrm>
            <a:off x="689863" y="1616944"/>
            <a:ext cx="1000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垂直时序</a:t>
            </a:r>
          </a:p>
        </p:txBody>
      </p:sp>
      <p:sp>
        <p:nvSpPr>
          <p:cNvPr id="9" name="text-008: CLK_DIV"/>
          <p:cNvSpPr txBox="1"/>
          <p:nvPr/>
        </p:nvSpPr>
        <p:spPr>
          <a:xfrm>
            <a:off x="899439" y="1796144"/>
            <a:ext cx="58112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CLK_DIV</a:t>
            </a:r>
          </a:p>
        </p:txBody>
      </p:sp>
      <p:sp>
        <p:nvSpPr>
          <p:cNvPr id="10" name="text-009: Regbus 32"/>
          <p:cNvSpPr txBox="1"/>
          <p:nvPr/>
        </p:nvSpPr>
        <p:spPr>
          <a:xfrm>
            <a:off x="252000" y="582848"/>
            <a:ext cx="7734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" name="rect-010"/>
          <p:cNvSpPr/>
          <p:nvPr/>
        </p:nvSpPr>
        <p:spPr>
          <a:xfrm>
            <a:off x="2828000" y="1036000"/>
            <a:ext cx="2016000" cy="980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1: 2  axi_vga_fetcher"/>
          <p:cNvSpPr txBox="1"/>
          <p:nvPr/>
        </p:nvSpPr>
        <p:spPr>
          <a:xfrm>
            <a:off x="3235859" y="1156848"/>
            <a:ext cx="12002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axi_vga_fetcher</a:t>
            </a:r>
          </a:p>
        </p:txBody>
      </p:sp>
      <p:sp>
        <p:nvSpPr>
          <p:cNvPr id="13" name="text-012: 地址 / 长度状态机"/>
          <p:cNvSpPr txBox="1"/>
          <p:nvPr/>
        </p:nvSpPr>
        <p:spPr>
          <a:xfrm>
            <a:off x="3274263" y="1348144"/>
            <a:ext cx="11234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长度状态机</a:t>
            </a:r>
          </a:p>
        </p:txBody>
      </p:sp>
      <p:sp>
        <p:nvSpPr>
          <p:cNvPr id="14" name="text-013: 拆取 RGB 像素"/>
          <p:cNvSpPr txBox="1"/>
          <p:nvPr/>
        </p:nvSpPr>
        <p:spPr>
          <a:xfrm>
            <a:off x="3374179" y="1527344"/>
            <a:ext cx="92364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拆取 RGB 像素</a:t>
            </a:r>
          </a:p>
        </p:txBody>
      </p:sp>
      <p:sp>
        <p:nvSpPr>
          <p:cNvPr id="15" name="text-014: 保持 beat / pixel offset"/>
          <p:cNvSpPr txBox="1"/>
          <p:nvPr/>
        </p:nvSpPr>
        <p:spPr>
          <a:xfrm>
            <a:off x="3148058" y="1706544"/>
            <a:ext cx="137588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保持 beat / pixel offset</a:t>
            </a:r>
          </a:p>
        </p:txBody>
      </p:sp>
      <p:sp>
        <p:nvSpPr>
          <p:cNvPr id="16" name="polyline-015"/>
          <p:cNvSpPr/>
          <p:nvPr/>
        </p:nvSpPr>
        <p:spPr>
          <a:xfrm>
            <a:off x="2156000" y="1400000"/>
            <a:ext cx="672000" cy="1"/>
          </a:xfrm>
          <a:custGeom>
            <a:avLst/>
            <a:gdLst/>
            <a:ahLst/>
            <a:cxnLst/>
            <a:rect l="0" t="0" r="r" b="b"/>
            <a:pathLst>
              <a:path w="672000" h="1">
                <a:moveTo>
                  <a:pt x="0" y="0"/>
                </a:moveTo>
                <a:lnTo>
                  <a:pt x="672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2760800" y="137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7"/>
          <p:cNvSpPr/>
          <p:nvPr/>
        </p:nvSpPr>
        <p:spPr>
          <a:xfrm>
            <a:off x="5824000" y="1036000"/>
            <a:ext cx="2072000" cy="980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3  timing_fsm"/>
          <p:cNvSpPr txBox="1"/>
          <p:nvPr/>
        </p:nvSpPr>
        <p:spPr>
          <a:xfrm>
            <a:off x="6389994" y="1156848"/>
            <a:ext cx="9400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timing_fsm</a:t>
            </a:r>
          </a:p>
        </p:txBody>
      </p:sp>
      <p:sp>
        <p:nvSpPr>
          <p:cNvPr id="20" name="text-019: 水平 / 垂直计数"/>
          <p:cNvSpPr txBox="1"/>
          <p:nvPr/>
        </p:nvSpPr>
        <p:spPr>
          <a:xfrm>
            <a:off x="6359863" y="1348144"/>
            <a:ext cx="1000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垂直计数</a:t>
            </a:r>
          </a:p>
        </p:txBody>
      </p:sp>
      <p:sp>
        <p:nvSpPr>
          <p:cNvPr id="21" name="text-020: 可见区与消隐区"/>
          <p:cNvSpPr txBox="1"/>
          <p:nvPr/>
        </p:nvSpPr>
        <p:spPr>
          <a:xfrm>
            <a:off x="6367200" y="15273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可见区与消隐区</a:t>
            </a:r>
          </a:p>
        </p:txBody>
      </p:sp>
      <p:sp>
        <p:nvSpPr>
          <p:cNvPr id="22" name="text-021: 消费像素 valid / ready"/>
          <p:cNvSpPr txBox="1"/>
          <p:nvPr/>
        </p:nvSpPr>
        <p:spPr>
          <a:xfrm>
            <a:off x="6196474" y="1706544"/>
            <a:ext cx="132705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消费像素 valid / ready</a:t>
            </a:r>
          </a:p>
        </p:txBody>
      </p:sp>
      <p:sp>
        <p:nvSpPr>
          <p:cNvPr id="23" name="polyline-022"/>
          <p:cNvSpPr/>
          <p:nvPr/>
        </p:nvSpPr>
        <p:spPr>
          <a:xfrm>
            <a:off x="4844000" y="1568000"/>
            <a:ext cx="980000" cy="1"/>
          </a:xfrm>
          <a:custGeom>
            <a:avLst/>
            <a:gdLst/>
            <a:ahLst/>
            <a:cxnLst/>
            <a:rect l="0" t="0" r="r" b="b"/>
            <a:pathLst>
              <a:path w="980000" h="1">
                <a:moveTo>
                  <a:pt x="0" y="0"/>
                </a:moveTo>
                <a:lnTo>
                  <a:pt x="98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5756800" y="154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RGB"/>
          <p:cNvSpPr txBox="1"/>
          <p:nvPr/>
        </p:nvSpPr>
        <p:spPr>
          <a:xfrm>
            <a:off x="4900000" y="1316896"/>
            <a:ext cx="373196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</a:t>
            </a:r>
          </a:p>
        </p:txBody>
      </p:sp>
      <p:sp>
        <p:nvSpPr>
          <p:cNvPr id="26" name="polyline-025"/>
          <p:cNvSpPr/>
          <p:nvPr/>
        </p:nvSpPr>
        <p:spPr>
          <a:xfrm>
            <a:off x="7896000" y="1484000"/>
            <a:ext cx="1736000" cy="1"/>
          </a:xfrm>
          <a:custGeom>
            <a:avLst/>
            <a:gdLst/>
            <a:ahLst/>
            <a:cxnLst/>
            <a:rect l="0" t="0" r="r" b="b"/>
            <a:pathLst>
              <a:path w="1736000" h="1">
                <a:moveTo>
                  <a:pt x="0" y="0"/>
                </a:moveTo>
                <a:lnTo>
                  <a:pt x="173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9564800" y="14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RGB / HS / VS"/>
          <p:cNvSpPr txBox="1"/>
          <p:nvPr/>
        </p:nvSpPr>
        <p:spPr>
          <a:xfrm>
            <a:off x="8120000" y="1227296"/>
            <a:ext cx="97796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 / HS / VS</a:t>
            </a:r>
          </a:p>
        </p:txBody>
      </p:sp>
      <p:sp>
        <p:nvSpPr>
          <p:cNvPr id="29" name="rect-028"/>
          <p:cNvSpPr/>
          <p:nvPr/>
        </p:nvSpPr>
        <p:spPr>
          <a:xfrm>
            <a:off x="2828000" y="3528000"/>
            <a:ext cx="2016000" cy="840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4  axi_burst_splitter"/>
          <p:cNvSpPr txBox="1"/>
          <p:nvPr/>
        </p:nvSpPr>
        <p:spPr>
          <a:xfrm>
            <a:off x="3185000" y="3668448"/>
            <a:ext cx="13020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axi_burst_splitter</a:t>
            </a:r>
          </a:p>
        </p:txBody>
      </p:sp>
      <p:sp>
        <p:nvSpPr>
          <p:cNvPr id="31" name="text-030: 把请求拆成单拍事务"/>
          <p:cNvSpPr txBox="1"/>
          <p:nvPr/>
        </p:nvSpPr>
        <p:spPr>
          <a:xfrm>
            <a:off x="3220000" y="38597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把请求拆成单拍事务</a:t>
            </a:r>
          </a:p>
        </p:txBody>
      </p:sp>
      <p:sp>
        <p:nvSpPr>
          <p:cNvPr id="32" name="text-031: 信用计数限制在途读取"/>
          <p:cNvSpPr txBox="1"/>
          <p:nvPr/>
        </p:nvSpPr>
        <p:spPr>
          <a:xfrm>
            <a:off x="3158400" y="4038944"/>
            <a:ext cx="13552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信用计数限制在途读取</a:t>
            </a:r>
          </a:p>
        </p:txBody>
      </p:sp>
      <p:sp>
        <p:nvSpPr>
          <p:cNvPr id="33" name="polyline-032"/>
          <p:cNvSpPr/>
          <p:nvPr/>
        </p:nvSpPr>
        <p:spPr>
          <a:xfrm>
            <a:off x="3472000" y="2016000"/>
            <a:ext cx="1" cy="1512000"/>
          </a:xfrm>
          <a:custGeom>
            <a:avLst/>
            <a:gdLst/>
            <a:ahLst/>
            <a:cxnLst/>
            <a:rect l="0" t="0" r="r" b="b"/>
            <a:pathLst>
              <a:path w="1" h="1512000">
                <a:moveTo>
                  <a:pt x="0" y="0"/>
                </a:moveTo>
                <a:lnTo>
                  <a:pt x="0" y="1512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gon-033"/>
          <p:cNvSpPr/>
          <p:nvPr/>
        </p:nvSpPr>
        <p:spPr>
          <a:xfrm>
            <a:off x="3444000" y="346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AR 请求"/>
          <p:cNvSpPr txBox="1"/>
          <p:nvPr/>
        </p:nvSpPr>
        <p:spPr>
          <a:xfrm>
            <a:off x="3595200" y="2565696"/>
            <a:ext cx="57683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请求</a:t>
            </a:r>
          </a:p>
        </p:txBody>
      </p:sp>
      <p:sp>
        <p:nvSpPr>
          <p:cNvPr id="36" name="rect-035"/>
          <p:cNvSpPr/>
          <p:nvPr/>
        </p:nvSpPr>
        <p:spPr>
          <a:xfrm>
            <a:off x="5824000" y="3528000"/>
            <a:ext cx="2072000" cy="840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line-036"/>
          <p:cNvCxnSpPr/>
          <p:nvPr/>
        </p:nvCxnSpPr>
        <p:spPr>
          <a:xfrm>
            <a:off x="5891200" y="3528000"/>
            <a:ext cx="0" cy="840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8" name="text-037: 5  R 通道 FIFO"/>
          <p:cNvSpPr txBox="1"/>
          <p:nvPr/>
        </p:nvSpPr>
        <p:spPr>
          <a:xfrm>
            <a:off x="6369716" y="3668448"/>
            <a:ext cx="980569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 通道 FIFO</a:t>
            </a:r>
          </a:p>
        </p:txBody>
      </p:sp>
      <p:sp>
        <p:nvSpPr>
          <p:cNvPr id="39" name="text-038: BufferDepth + 1"/>
          <p:cNvSpPr txBox="1"/>
          <p:nvPr/>
        </p:nvSpPr>
        <p:spPr>
          <a:xfrm>
            <a:off x="6366539" y="3859744"/>
            <a:ext cx="98692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BufferDepth + 1</a:t>
            </a:r>
          </a:p>
        </p:txBody>
      </p:sp>
      <p:sp>
        <p:nvSpPr>
          <p:cNvPr id="40" name="text-039: 缓冲存储器返回数据"/>
          <p:cNvSpPr txBox="1"/>
          <p:nvPr/>
        </p:nvSpPr>
        <p:spPr>
          <a:xfrm>
            <a:off x="6244000" y="40389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缓冲存储器返回数据</a:t>
            </a:r>
          </a:p>
        </p:txBody>
      </p:sp>
      <p:sp>
        <p:nvSpPr>
          <p:cNvPr id="41" name="polyline-040"/>
          <p:cNvSpPr/>
          <p:nvPr/>
        </p:nvSpPr>
        <p:spPr>
          <a:xfrm>
            <a:off x="4844000" y="3920000"/>
            <a:ext cx="4788000" cy="896000"/>
          </a:xfrm>
          <a:custGeom>
            <a:avLst/>
            <a:gdLst/>
            <a:ahLst/>
            <a:cxnLst/>
            <a:rect l="0" t="0" r="r" b="b"/>
            <a:pathLst>
              <a:path w="4788000" h="896000">
                <a:moveTo>
                  <a:pt x="0" y="0"/>
                </a:moveTo>
                <a:lnTo>
                  <a:pt x="616000" y="0"/>
                </a:lnTo>
                <a:lnTo>
                  <a:pt x="616000" y="896000"/>
                </a:lnTo>
                <a:lnTo>
                  <a:pt x="4788000" y="89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9564800" y="478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AR → 内存"/>
          <p:cNvSpPr txBox="1"/>
          <p:nvPr/>
        </p:nvSpPr>
        <p:spPr>
          <a:xfrm>
            <a:off x="6272000" y="4822496"/>
            <a:ext cx="744249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→ 内存</a:t>
            </a:r>
          </a:p>
        </p:txBody>
      </p:sp>
      <p:sp>
        <p:nvSpPr>
          <p:cNvPr id="44" name="polyline-043"/>
          <p:cNvSpPr/>
          <p:nvPr/>
        </p:nvSpPr>
        <p:spPr>
          <a:xfrm>
            <a:off x="7896000" y="3976000"/>
            <a:ext cx="1736000" cy="1"/>
          </a:xfrm>
          <a:custGeom>
            <a:avLst/>
            <a:gdLst/>
            <a:ahLst/>
            <a:cxnLst/>
            <a:rect l="0" t="0" r="r" b="b"/>
            <a:pathLst>
              <a:path w="1736000" h="1">
                <a:moveTo>
                  <a:pt x="1736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gon-044"/>
          <p:cNvSpPr/>
          <p:nvPr/>
        </p:nvSpPr>
        <p:spPr>
          <a:xfrm>
            <a:off x="7896000" y="394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R ← 内存"/>
          <p:cNvSpPr txBox="1"/>
          <p:nvPr/>
        </p:nvSpPr>
        <p:spPr>
          <a:xfrm>
            <a:off x="8344000" y="3691296"/>
            <a:ext cx="67217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 ← 内存</a:t>
            </a:r>
          </a:p>
        </p:txBody>
      </p:sp>
      <p:sp>
        <p:nvSpPr>
          <p:cNvPr id="47" name="polyline-046"/>
          <p:cNvSpPr/>
          <p:nvPr/>
        </p:nvSpPr>
        <p:spPr>
          <a:xfrm>
            <a:off x="4844000" y="4032000"/>
            <a:ext cx="980000" cy="1"/>
          </a:xfrm>
          <a:custGeom>
            <a:avLst/>
            <a:gdLst/>
            <a:ahLst/>
            <a:cxnLst/>
            <a:rect l="0" t="0" r="r" b="b"/>
            <a:pathLst>
              <a:path w="980000" h="1">
                <a:moveTo>
                  <a:pt x="980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-047"/>
          <p:cNvSpPr/>
          <p:nvPr/>
        </p:nvSpPr>
        <p:spPr>
          <a:xfrm>
            <a:off x="4844000" y="400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4284000" y="2016000"/>
            <a:ext cx="1" cy="1512000"/>
          </a:xfrm>
          <a:custGeom>
            <a:avLst/>
            <a:gdLst/>
            <a:ahLst/>
            <a:cxnLst/>
            <a:rect l="0" t="0" r="r" b="b"/>
            <a:pathLst>
              <a:path w="1" h="1512000">
                <a:moveTo>
                  <a:pt x="0" y="151200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4256000" y="2016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返回 beat"/>
          <p:cNvSpPr txBox="1"/>
          <p:nvPr/>
        </p:nvSpPr>
        <p:spPr>
          <a:xfrm>
            <a:off x="4379200" y="3019744"/>
            <a:ext cx="64511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返回 beat</a:t>
            </a:r>
          </a:p>
        </p:txBody>
      </p:sp>
      <p:sp>
        <p:nvSpPr>
          <p:cNvPr id="52" name="polyline-051"/>
          <p:cNvSpPr/>
          <p:nvPr/>
        </p:nvSpPr>
        <p:spPr>
          <a:xfrm>
            <a:off x="2156000" y="1764000"/>
            <a:ext cx="4732000" cy="672000"/>
          </a:xfrm>
          <a:custGeom>
            <a:avLst/>
            <a:gdLst/>
            <a:ahLst/>
            <a:cxnLst/>
            <a:rect l="0" t="0" r="r" b="b"/>
            <a:pathLst>
              <a:path w="4732000" h="672000">
                <a:moveTo>
                  <a:pt x="0" y="0"/>
                </a:moveTo>
                <a:lnTo>
                  <a:pt x="280000" y="0"/>
                </a:lnTo>
                <a:lnTo>
                  <a:pt x="280000" y="672000"/>
                </a:lnTo>
                <a:lnTo>
                  <a:pt x="4732000" y="672000"/>
                </a:lnTo>
                <a:lnTo>
                  <a:pt x="4732000" y="252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6860000" y="2016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clk_cnt_q == 0 → fsm_en"/>
          <p:cNvSpPr txBox="1"/>
          <p:nvPr/>
        </p:nvSpPr>
        <p:spPr>
          <a:xfrm>
            <a:off x="5544000" y="2520896"/>
            <a:ext cx="1585596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clk_cnt_q == 0 → fsm_en</a:t>
            </a:r>
          </a:p>
        </p:txBody>
      </p:sp>
      <p:sp>
        <p:nvSpPr>
          <p:cNvPr id="55" name="text-054: 同一个 clk_i 域；CLK_DIV 控制像素状态机使能。"/>
          <p:cNvSpPr txBox="1"/>
          <p:nvPr/>
        </p:nvSpPr>
        <p:spPr>
          <a:xfrm>
            <a:off x="252000" y="4620896"/>
            <a:ext cx="2907564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同一个 clk_i 域；CLK_DIV 控制像素状态机使能。</a:t>
            </a:r>
          </a:p>
        </p:txBody>
      </p:sp>
      <p:sp>
        <p:nvSpPr>
          <p:cNvPr id="56" name="polyline-055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59" name="polyline-058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gon-059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2" name="text-061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3  USB OHCI：控制适配、描述符 DMA 与独立 PHY 时钟域"/>
          <p:cNvSpPr txBox="1"/>
          <p:nvPr/>
        </p:nvSpPr>
        <p:spPr>
          <a:xfrm>
            <a:off x="224000" y="80864"/>
            <a:ext cx="487235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13  USB OHCI：控制适配、描述符 DMA 与独立 PHY 时钟域</a:t>
            </a:r>
          </a:p>
        </p:txBody>
      </p:sp>
      <p:sp>
        <p:nvSpPr>
          <p:cNvPr id="4" name="rect-003"/>
          <p:cNvSpPr/>
          <p:nvPr/>
        </p:nvSpPr>
        <p:spPr>
          <a:xfrm>
            <a:off x="2156000" y="644000"/>
            <a:ext cx="7616000" cy="4032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9DAABA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spinal_usb_ohci：控制 / DMA 在 soc_clk_i；PHY"/>
          <p:cNvSpPr txBox="1"/>
          <p:nvPr/>
        </p:nvSpPr>
        <p:spPr>
          <a:xfrm>
            <a:off x="2240000" y="672896"/>
            <a:ext cx="3747669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spinal_usb_ohci：控制 / DMA 在 soc_clk_i；PHY 使用 phy_clk_i</a:t>
            </a:r>
          </a:p>
        </p:txBody>
      </p:sp>
      <p:sp>
        <p:nvSpPr>
          <p:cNvPr id="6" name="rect-005"/>
          <p:cNvSpPr/>
          <p:nvPr/>
        </p:nvSpPr>
        <p:spPr>
          <a:xfrm>
            <a:off x="196000" y="1036000"/>
            <a:ext cx="1540000" cy="78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Regbus 32"/>
          <p:cNvSpPr txBox="1"/>
          <p:nvPr/>
        </p:nvSpPr>
        <p:spPr>
          <a:xfrm>
            <a:off x="579272" y="1238048"/>
            <a:ext cx="7734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8" name="text-007: ctrl_req / ctrl_rsp"/>
          <p:cNvSpPr txBox="1"/>
          <p:nvPr/>
        </p:nvSpPr>
        <p:spPr>
          <a:xfrm>
            <a:off x="435671" y="1429344"/>
            <a:ext cx="106065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ctrl_req / ctrl_rsp</a:t>
            </a:r>
          </a:p>
        </p:txBody>
      </p:sp>
      <p:sp>
        <p:nvSpPr>
          <p:cNvPr id="9" name="rect-008"/>
          <p:cNvSpPr/>
          <p:nvPr/>
        </p:nvSpPr>
        <p:spPr>
          <a:xfrm>
            <a:off x="2352000" y="1036000"/>
            <a:ext cx="1848000" cy="78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1  reg_to_axi"/>
          <p:cNvSpPr txBox="1"/>
          <p:nvPr/>
        </p:nvSpPr>
        <p:spPr>
          <a:xfrm>
            <a:off x="2830209" y="1148448"/>
            <a:ext cx="8915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reg_to_axi</a:t>
            </a:r>
          </a:p>
        </p:txBody>
      </p:sp>
      <p:sp>
        <p:nvSpPr>
          <p:cNvPr id="11" name="text-010: 32-bit Reg → AXI32"/>
          <p:cNvSpPr txBox="1"/>
          <p:nvPr/>
        </p:nvSpPr>
        <p:spPr>
          <a:xfrm>
            <a:off x="2677736" y="1339744"/>
            <a:ext cx="119652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Reg → AXI32</a:t>
            </a:r>
          </a:p>
        </p:txBody>
      </p:sp>
      <p:sp>
        <p:nvSpPr>
          <p:cNvPr id="12" name="text-011: 控制地址取低 12 位"/>
          <p:cNvSpPr txBox="1"/>
          <p:nvPr/>
        </p:nvSpPr>
        <p:spPr>
          <a:xfrm>
            <a:off x="2672390" y="1518944"/>
            <a:ext cx="120722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控制地址取低 12 位</a:t>
            </a:r>
          </a:p>
        </p:txBody>
      </p:sp>
      <p:sp>
        <p:nvSpPr>
          <p:cNvPr id="13" name="polyline-012"/>
          <p:cNvSpPr/>
          <p:nvPr/>
        </p:nvSpPr>
        <p:spPr>
          <a:xfrm>
            <a:off x="1736000" y="1428000"/>
            <a:ext cx="616000" cy="1"/>
          </a:xfrm>
          <a:custGeom>
            <a:avLst/>
            <a:gdLst/>
            <a:ahLst/>
            <a:cxnLst/>
            <a:rect l="0" t="0" r="r" b="b"/>
            <a:pathLst>
              <a:path w="616000" h="1">
                <a:moveTo>
                  <a:pt x="0" y="0"/>
                </a:moveTo>
                <a:lnTo>
                  <a:pt x="61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284800" y="140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1736000" y="140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5"/>
          <p:cNvSpPr/>
          <p:nvPr/>
        </p:nvSpPr>
        <p:spPr>
          <a:xfrm>
            <a:off x="5012000" y="1036000"/>
            <a:ext cx="2296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2  UsbOhciAxi4：前端"/>
          <p:cNvSpPr txBox="1"/>
          <p:nvPr/>
        </p:nvSpPr>
        <p:spPr>
          <a:xfrm>
            <a:off x="5444162" y="1109248"/>
            <a:ext cx="14316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UsbOhciAxi4：前端</a:t>
            </a:r>
          </a:p>
        </p:txBody>
      </p:sp>
      <p:sp>
        <p:nvSpPr>
          <p:cNvPr id="18" name="text-017: ctrlBridge → front_ohci"/>
          <p:cNvSpPr txBox="1"/>
          <p:nvPr/>
        </p:nvSpPr>
        <p:spPr>
          <a:xfrm>
            <a:off x="5480781" y="1300544"/>
            <a:ext cx="135843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ctrlBridge → front_ohci</a:t>
            </a:r>
          </a:p>
        </p:txBody>
      </p:sp>
      <p:sp>
        <p:nvSpPr>
          <p:cNvPr id="19" name="text-018: OHCI 寄存器 / 帧调度"/>
          <p:cNvSpPr txBox="1"/>
          <p:nvPr/>
        </p:nvSpPr>
        <p:spPr>
          <a:xfrm>
            <a:off x="5506042" y="1479744"/>
            <a:ext cx="130791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OHCI 寄存器 / 帧调度</a:t>
            </a:r>
          </a:p>
        </p:txBody>
      </p:sp>
      <p:sp>
        <p:nvSpPr>
          <p:cNvPr id="20" name="text-019: 读取 ED / TD、搬运数据"/>
          <p:cNvSpPr txBox="1"/>
          <p:nvPr/>
        </p:nvSpPr>
        <p:spPr>
          <a:xfrm>
            <a:off x="5433317" y="1658944"/>
            <a:ext cx="14533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读取 ED / TD、搬运数据</a:t>
            </a:r>
          </a:p>
        </p:txBody>
      </p:sp>
      <p:sp>
        <p:nvSpPr>
          <p:cNvPr id="21" name="text-020: 完成状态 / IRQ"/>
          <p:cNvSpPr txBox="1"/>
          <p:nvPr/>
        </p:nvSpPr>
        <p:spPr>
          <a:xfrm>
            <a:off x="5688314" y="1838144"/>
            <a:ext cx="94337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完成状态 / IRQ</a:t>
            </a:r>
          </a:p>
        </p:txBody>
      </p:sp>
      <p:sp>
        <p:nvSpPr>
          <p:cNvPr id="22" name="polyline-021"/>
          <p:cNvSpPr/>
          <p:nvPr/>
        </p:nvSpPr>
        <p:spPr>
          <a:xfrm>
            <a:off x="4200000" y="1428000"/>
            <a:ext cx="812000" cy="1"/>
          </a:xfrm>
          <a:custGeom>
            <a:avLst/>
            <a:gdLst/>
            <a:ahLst/>
            <a:cxnLst/>
            <a:rect l="0" t="0" r="r" b="b"/>
            <a:pathLst>
              <a:path w="812000" h="1">
                <a:moveTo>
                  <a:pt x="0" y="0"/>
                </a:moveTo>
                <a:lnTo>
                  <a:pt x="81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4944800" y="140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4200000" y="140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2352000" y="3332000"/>
            <a:ext cx="2212000" cy="840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5  AXI DMA 适配"/>
          <p:cNvSpPr txBox="1"/>
          <p:nvPr/>
        </p:nvSpPr>
        <p:spPr>
          <a:xfrm>
            <a:off x="2907275" y="3382848"/>
            <a:ext cx="11014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 DMA 适配</a:t>
            </a:r>
          </a:p>
        </p:txBody>
      </p:sp>
      <p:sp>
        <p:nvSpPr>
          <p:cNvPr id="27" name="text-026: axi_dw_converter：32 → 系统"/>
          <p:cNvSpPr txBox="1"/>
          <p:nvPr/>
        </p:nvSpPr>
        <p:spPr>
          <a:xfrm>
            <a:off x="2580318" y="3574144"/>
            <a:ext cx="175536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axi_dw_converter：32 → 系统</a:t>
            </a:r>
          </a:p>
        </p:txBody>
      </p:sp>
      <p:sp>
        <p:nvSpPr>
          <p:cNvPr id="28" name="text-027: axi_modify_address"/>
          <p:cNvSpPr txBox="1"/>
          <p:nvPr/>
        </p:nvSpPr>
        <p:spPr>
          <a:xfrm>
            <a:off x="2867322" y="3753344"/>
            <a:ext cx="118135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axi_modify_address</a:t>
            </a:r>
          </a:p>
        </p:txBody>
      </p:sp>
      <p:sp>
        <p:nvSpPr>
          <p:cNvPr id="29" name="text-028: 32-bit 地址 domain / mask"/>
          <p:cNvSpPr txBox="1"/>
          <p:nvPr/>
        </p:nvSpPr>
        <p:spPr>
          <a:xfrm>
            <a:off x="2662857" y="3932544"/>
            <a:ext cx="159028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地址 domain / mask</a:t>
            </a:r>
          </a:p>
        </p:txBody>
      </p:sp>
      <p:sp>
        <p:nvSpPr>
          <p:cNvPr id="30" name="polyline-029"/>
          <p:cNvSpPr/>
          <p:nvPr/>
        </p:nvSpPr>
        <p:spPr>
          <a:xfrm>
            <a:off x="4564000" y="1904000"/>
            <a:ext cx="448000" cy="1820000"/>
          </a:xfrm>
          <a:custGeom>
            <a:avLst/>
            <a:gdLst/>
            <a:ahLst/>
            <a:cxnLst/>
            <a:rect l="0" t="0" r="r" b="b"/>
            <a:pathLst>
              <a:path w="448000" h="1820000">
                <a:moveTo>
                  <a:pt x="448000" y="0"/>
                </a:moveTo>
                <a:lnTo>
                  <a:pt x="252000" y="0"/>
                </a:lnTo>
                <a:lnTo>
                  <a:pt x="252000" y="1820000"/>
                </a:lnTo>
                <a:lnTo>
                  <a:pt x="0" y="1820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45640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4944800" y="187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2"/>
          <p:cNvSpPr/>
          <p:nvPr/>
        </p:nvSpPr>
        <p:spPr>
          <a:xfrm>
            <a:off x="308000" y="3724000"/>
            <a:ext cx="2044000" cy="1"/>
          </a:xfrm>
          <a:custGeom>
            <a:avLst/>
            <a:gdLst/>
            <a:ahLst/>
            <a:cxnLst/>
            <a:rect l="0" t="0" r="r" b="b"/>
            <a:pathLst>
              <a:path w="2044000" h="1">
                <a:moveTo>
                  <a:pt x="2044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gon-033"/>
          <p:cNvSpPr/>
          <p:nvPr/>
        </p:nvSpPr>
        <p:spPr>
          <a:xfrm>
            <a:off x="3080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22848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AXI DMA ↔ 内存"/>
          <p:cNvSpPr txBox="1"/>
          <p:nvPr/>
        </p:nvSpPr>
        <p:spPr>
          <a:xfrm>
            <a:off x="280000" y="3372096"/>
            <a:ext cx="106851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DMA ↔ 内存</a:t>
            </a:r>
          </a:p>
        </p:txBody>
      </p:sp>
      <p:sp>
        <p:nvSpPr>
          <p:cNvPr id="37" name="rect-036"/>
          <p:cNvSpPr/>
          <p:nvPr/>
        </p:nvSpPr>
        <p:spPr>
          <a:xfrm>
            <a:off x="5292000" y="3248000"/>
            <a:ext cx="2044000" cy="92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3  CtrlCc"/>
          <p:cNvSpPr txBox="1"/>
          <p:nvPr/>
        </p:nvSpPr>
        <p:spPr>
          <a:xfrm>
            <a:off x="5991781" y="3340848"/>
            <a:ext cx="6444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CtrlCc</a:t>
            </a:r>
          </a:p>
        </p:txBody>
      </p:sp>
      <p:sp>
        <p:nvSpPr>
          <p:cNvPr id="39" name="text-038: 命令 / 数据 / 状态跨域"/>
          <p:cNvSpPr txBox="1"/>
          <p:nvPr/>
        </p:nvSpPr>
        <p:spPr>
          <a:xfrm>
            <a:off x="5621726" y="3532144"/>
            <a:ext cx="138454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数据 / 状态跨域</a:t>
            </a:r>
          </a:p>
        </p:txBody>
      </p:sp>
      <p:sp>
        <p:nvSpPr>
          <p:cNvPr id="40" name="text-039: 生成 RTL 的握手同步"/>
          <p:cNvSpPr txBox="1"/>
          <p:nvPr/>
        </p:nvSpPr>
        <p:spPr>
          <a:xfrm>
            <a:off x="5684525" y="3711344"/>
            <a:ext cx="125895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生成 RTL 的握手同步</a:t>
            </a:r>
          </a:p>
        </p:txBody>
      </p:sp>
      <p:sp>
        <p:nvSpPr>
          <p:cNvPr id="41" name="text-040: 两域分别复位"/>
          <p:cNvSpPr txBox="1"/>
          <p:nvPr/>
        </p:nvSpPr>
        <p:spPr>
          <a:xfrm>
            <a:off x="5882800" y="3890544"/>
            <a:ext cx="8624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两域分别复位</a:t>
            </a:r>
          </a:p>
        </p:txBody>
      </p:sp>
      <p:sp>
        <p:nvSpPr>
          <p:cNvPr id="42" name="polyline-041"/>
          <p:cNvSpPr/>
          <p:nvPr/>
        </p:nvSpPr>
        <p:spPr>
          <a:xfrm>
            <a:off x="6300000" y="2100000"/>
            <a:ext cx="1" cy="1148000"/>
          </a:xfrm>
          <a:custGeom>
            <a:avLst/>
            <a:gdLst/>
            <a:ahLst/>
            <a:cxnLst/>
            <a:rect l="0" t="0" r="r" b="b"/>
            <a:pathLst>
              <a:path w="1" h="1148000">
                <a:moveTo>
                  <a:pt x="0" y="0"/>
                </a:moveTo>
                <a:lnTo>
                  <a:pt x="0" y="1148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gon-042"/>
          <p:cNvSpPr/>
          <p:nvPr/>
        </p:nvSpPr>
        <p:spPr>
          <a:xfrm>
            <a:off x="6272000" y="318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6272000" y="210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7924000" y="3220000"/>
            <a:ext cx="1568000" cy="980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4  UsbLsFsPhy"/>
          <p:cNvSpPr txBox="1"/>
          <p:nvPr/>
        </p:nvSpPr>
        <p:spPr>
          <a:xfrm>
            <a:off x="8208397" y="3340848"/>
            <a:ext cx="9992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UsbLsFsPhy</a:t>
            </a:r>
          </a:p>
        </p:txBody>
      </p:sp>
      <p:sp>
        <p:nvSpPr>
          <p:cNvPr id="47" name="text-046: 数字收发逻辑"/>
          <p:cNvSpPr txBox="1"/>
          <p:nvPr/>
        </p:nvSpPr>
        <p:spPr>
          <a:xfrm>
            <a:off x="8276800" y="3532144"/>
            <a:ext cx="8624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数字收发逻辑</a:t>
            </a:r>
          </a:p>
        </p:txBody>
      </p:sp>
      <p:sp>
        <p:nvSpPr>
          <p:cNvPr id="48" name="text-047: LS / FS；4 个端口"/>
          <p:cNvSpPr txBox="1"/>
          <p:nvPr/>
        </p:nvSpPr>
        <p:spPr>
          <a:xfrm>
            <a:off x="8139040" y="3711344"/>
            <a:ext cx="113792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LS / FS；4 个端口</a:t>
            </a:r>
          </a:p>
        </p:txBody>
      </p:sp>
      <p:sp>
        <p:nvSpPr>
          <p:cNvPr id="49" name="text-048: DP / DM + OE"/>
          <p:cNvSpPr txBox="1"/>
          <p:nvPr/>
        </p:nvSpPr>
        <p:spPr>
          <a:xfrm>
            <a:off x="8262367" y="3890544"/>
            <a:ext cx="8912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+ OE</a:t>
            </a:r>
          </a:p>
        </p:txBody>
      </p:sp>
      <p:sp>
        <p:nvSpPr>
          <p:cNvPr id="50" name="polyline-049"/>
          <p:cNvSpPr/>
          <p:nvPr/>
        </p:nvSpPr>
        <p:spPr>
          <a:xfrm>
            <a:off x="7336000" y="3724000"/>
            <a:ext cx="588000" cy="1"/>
          </a:xfrm>
          <a:custGeom>
            <a:avLst/>
            <a:gdLst/>
            <a:ahLst/>
            <a:cxnLst/>
            <a:rect l="0" t="0" r="r" b="b"/>
            <a:pathLst>
              <a:path w="588000" h="1">
                <a:moveTo>
                  <a:pt x="0" y="0"/>
                </a:moveTo>
                <a:lnTo>
                  <a:pt x="58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gon-050"/>
          <p:cNvSpPr/>
          <p:nvPr/>
        </p:nvSpPr>
        <p:spPr>
          <a:xfrm>
            <a:off x="78568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-051"/>
          <p:cNvSpPr/>
          <p:nvPr/>
        </p:nvSpPr>
        <p:spPr>
          <a:xfrm>
            <a:off x="73360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7308000" y="1428000"/>
            <a:ext cx="1484000" cy="1"/>
          </a:xfrm>
          <a:custGeom>
            <a:avLst/>
            <a:gdLst/>
            <a:ahLst/>
            <a:cxnLst/>
            <a:rect l="0" t="0" r="r" b="b"/>
            <a:pathLst>
              <a:path w="1484000" h="1">
                <a:moveTo>
                  <a:pt x="0" y="0"/>
                </a:moveTo>
                <a:lnTo>
                  <a:pt x="148400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gon-053"/>
          <p:cNvSpPr/>
          <p:nvPr/>
        </p:nvSpPr>
        <p:spPr>
          <a:xfrm>
            <a:off x="8724800" y="140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intr_o → SoC"/>
          <p:cNvSpPr txBox="1"/>
          <p:nvPr/>
        </p:nvSpPr>
        <p:spPr>
          <a:xfrm>
            <a:off x="7672000" y="1165696"/>
            <a:ext cx="88010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intr_o → SoC</a:t>
            </a:r>
          </a:p>
        </p:txBody>
      </p:sp>
      <p:sp>
        <p:nvSpPr>
          <p:cNvPr id="56" name="polyline-055"/>
          <p:cNvSpPr/>
          <p:nvPr/>
        </p:nvSpPr>
        <p:spPr>
          <a:xfrm>
            <a:off x="8792000" y="4200000"/>
            <a:ext cx="1" cy="728000"/>
          </a:xfrm>
          <a:custGeom>
            <a:avLst/>
            <a:gdLst/>
            <a:ahLst/>
            <a:cxnLst/>
            <a:rect l="0" t="0" r="r" b="b"/>
            <a:pathLst>
              <a:path w="1" h="728000">
                <a:moveTo>
                  <a:pt x="0" y="0"/>
                </a:moveTo>
                <a:lnTo>
                  <a:pt x="0" y="728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8764000" y="4860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-057"/>
          <p:cNvSpPr/>
          <p:nvPr/>
        </p:nvSpPr>
        <p:spPr>
          <a:xfrm>
            <a:off x="8764000" y="4200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PAD / 电气 / VBUS 由平台实现"/>
          <p:cNvSpPr txBox="1"/>
          <p:nvPr/>
        </p:nvSpPr>
        <p:spPr>
          <a:xfrm>
            <a:off x="6608000" y="4945696"/>
            <a:ext cx="1900316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 / 电气 / VBUS 由平台实现</a:t>
            </a:r>
          </a:p>
        </p:txBody>
      </p:sp>
      <p:sp>
        <p:nvSpPr>
          <p:cNvPr id="60" name="text-059: DMA 内核地址为 32-bit；系统 AXI 更宽不会自动解除这一限制。"/>
          <p:cNvSpPr txBox="1"/>
          <p:nvPr/>
        </p:nvSpPr>
        <p:spPr>
          <a:xfrm>
            <a:off x="252000" y="4704448"/>
            <a:ext cx="392345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 内核地址为 32-bit；系统 AXI 更宽不会自动解除这一限制。</a:t>
            </a:r>
          </a:p>
        </p:txBody>
      </p:sp>
      <p:sp>
        <p:nvSpPr>
          <p:cNvPr id="61" name="polyline-060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gon-061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64" name="polyline-063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olygon-064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7" name="text-066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4  iDMA：AXI 控制入口、任务前端与独立搬运后端"/>
          <p:cNvSpPr txBox="1"/>
          <p:nvPr/>
        </p:nvSpPr>
        <p:spPr>
          <a:xfrm>
            <a:off x="224000" y="80864"/>
            <a:ext cx="425320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14  iDMA：AXI 控制入口、任务前端与独立搬运后端</a:t>
            </a:r>
          </a:p>
        </p:txBody>
      </p:sp>
      <p:sp>
        <p:nvSpPr>
          <p:cNvPr id="4" name="rect-003"/>
          <p:cNvSpPr/>
          <p:nvPr/>
        </p:nvSpPr>
        <p:spPr>
          <a:xfrm>
            <a:off x="196000" y="1036000"/>
            <a:ext cx="1540000" cy="92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AXI slave 控制口"/>
          <p:cNvSpPr txBox="1"/>
          <p:nvPr/>
        </p:nvSpPr>
        <p:spPr>
          <a:xfrm>
            <a:off x="412650" y="1128848"/>
            <a:ext cx="110670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slave 控制口</a:t>
            </a:r>
          </a:p>
        </p:txBody>
      </p:sp>
      <p:sp>
        <p:nvSpPr>
          <p:cNvPr id="6" name="text-005: AxiOut.dma"/>
          <p:cNvSpPr txBox="1"/>
          <p:nvPr/>
        </p:nvSpPr>
        <p:spPr>
          <a:xfrm>
            <a:off x="599288" y="1320144"/>
            <a:ext cx="73342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AxiOut.dma</a:t>
            </a:r>
          </a:p>
        </p:txBody>
      </p:sp>
      <p:sp>
        <p:nvSpPr>
          <p:cNvPr id="7" name="text-006: atomics / cut"/>
          <p:cNvSpPr txBox="1"/>
          <p:nvPr/>
        </p:nvSpPr>
        <p:spPr>
          <a:xfrm>
            <a:off x="540221" y="1499344"/>
            <a:ext cx="85155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atomics / cut</a:t>
            </a:r>
          </a:p>
        </p:txBody>
      </p:sp>
      <p:sp>
        <p:nvSpPr>
          <p:cNvPr id="8" name="text-007: CPU 发起配置访问"/>
          <p:cNvSpPr txBox="1"/>
          <p:nvPr/>
        </p:nvSpPr>
        <p:spPr>
          <a:xfrm>
            <a:off x="404320" y="1678544"/>
            <a:ext cx="112336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发起配置访问</a:t>
            </a:r>
          </a:p>
        </p:txBody>
      </p:sp>
      <p:sp>
        <p:nvSpPr>
          <p:cNvPr id="9" name="rect-008"/>
          <p:cNvSpPr/>
          <p:nvPr/>
        </p:nvSpPr>
        <p:spPr>
          <a:xfrm>
            <a:off x="2352000" y="1036000"/>
            <a:ext cx="1792000" cy="924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1  axi_to_reg"/>
          <p:cNvSpPr txBox="1"/>
          <p:nvPr/>
        </p:nvSpPr>
        <p:spPr>
          <a:xfrm>
            <a:off x="2802209" y="1128848"/>
            <a:ext cx="8915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axi_to_reg</a:t>
            </a:r>
          </a:p>
        </p:txBody>
      </p:sp>
      <p:sp>
        <p:nvSpPr>
          <p:cNvPr id="11" name="text-010: i_axi_translate"/>
          <p:cNvSpPr txBox="1"/>
          <p:nvPr/>
        </p:nvSpPr>
        <p:spPr>
          <a:xfrm>
            <a:off x="2796465" y="1320144"/>
            <a:ext cx="90307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i_axi_translate</a:t>
            </a:r>
          </a:p>
        </p:txBody>
      </p:sp>
      <p:sp>
        <p:nvSpPr>
          <p:cNvPr id="12" name="text-011: 内部 Reg 数据宽度"/>
          <p:cNvSpPr txBox="1"/>
          <p:nvPr/>
        </p:nvSpPr>
        <p:spPr>
          <a:xfrm>
            <a:off x="2677719" y="1499344"/>
            <a:ext cx="114056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 Reg 数据宽度</a:t>
            </a:r>
          </a:p>
        </p:txBody>
      </p:sp>
      <p:sp>
        <p:nvSpPr>
          <p:cNvPr id="13" name="text-012: 随 AxiDataWidth"/>
          <p:cNvSpPr txBox="1"/>
          <p:nvPr/>
        </p:nvSpPr>
        <p:spPr>
          <a:xfrm>
            <a:off x="2752072" y="1678544"/>
            <a:ext cx="99185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随 AxiDataWidth</a:t>
            </a:r>
          </a:p>
        </p:txBody>
      </p:sp>
      <p:sp>
        <p:nvSpPr>
          <p:cNvPr id="14" name="polyline-013"/>
          <p:cNvSpPr/>
          <p:nvPr/>
        </p:nvSpPr>
        <p:spPr>
          <a:xfrm>
            <a:off x="1736000" y="1512000"/>
            <a:ext cx="616000" cy="1"/>
          </a:xfrm>
          <a:custGeom>
            <a:avLst/>
            <a:gdLst/>
            <a:ahLst/>
            <a:cxnLst/>
            <a:rect l="0" t="0" r="r" b="b"/>
            <a:pathLst>
              <a:path w="616000" h="1">
                <a:moveTo>
                  <a:pt x="0" y="0"/>
                </a:moveTo>
                <a:lnTo>
                  <a:pt x="61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2284800" y="148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1736000" y="148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6"/>
          <p:cNvSpPr/>
          <p:nvPr/>
        </p:nvSpPr>
        <p:spPr>
          <a:xfrm>
            <a:off x="4760000" y="980000"/>
            <a:ext cx="2268000" cy="1064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2  idma_reg64_1d / 2d"/>
          <p:cNvSpPr txBox="1"/>
          <p:nvPr/>
        </p:nvSpPr>
        <p:spPr>
          <a:xfrm>
            <a:off x="5135309" y="1053248"/>
            <a:ext cx="15173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idma_reg64_1d / 2d</a:t>
            </a:r>
          </a:p>
        </p:txBody>
      </p:sp>
      <p:sp>
        <p:nvSpPr>
          <p:cNvPr id="19" name="text-018: SRC / DST / LENGTH"/>
          <p:cNvSpPr txBox="1"/>
          <p:nvPr/>
        </p:nvSpPr>
        <p:spPr>
          <a:xfrm>
            <a:off x="5252673" y="1244544"/>
            <a:ext cx="128265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SRC / DST / LENGTH</a:t>
            </a:r>
          </a:p>
        </p:txBody>
      </p:sp>
      <p:sp>
        <p:nvSpPr>
          <p:cNvPr id="20" name="text-019: STRIDE / REPS（2D）"/>
          <p:cNvSpPr txBox="1"/>
          <p:nvPr/>
        </p:nvSpPr>
        <p:spPr>
          <a:xfrm>
            <a:off x="5219336" y="1423744"/>
            <a:ext cx="134932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STRIDE / REPS（2D）</a:t>
            </a:r>
          </a:p>
        </p:txBody>
      </p:sp>
      <p:sp>
        <p:nvSpPr>
          <p:cNvPr id="21" name="text-020: NEXT_ID / DONE_ID"/>
          <p:cNvSpPr txBox="1"/>
          <p:nvPr/>
        </p:nvSpPr>
        <p:spPr>
          <a:xfrm>
            <a:off x="5293282" y="1602944"/>
            <a:ext cx="120143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NEXT_ID / DONE_ID</a:t>
            </a:r>
          </a:p>
        </p:txBody>
      </p:sp>
      <p:sp>
        <p:nvSpPr>
          <p:cNvPr id="22" name="text-021: 访问触发任务提交"/>
          <p:cNvSpPr txBox="1"/>
          <p:nvPr/>
        </p:nvSpPr>
        <p:spPr>
          <a:xfrm>
            <a:off x="5339600" y="1782144"/>
            <a:ext cx="11088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访问触发任务提交</a:t>
            </a:r>
          </a:p>
        </p:txBody>
      </p:sp>
      <p:sp>
        <p:nvSpPr>
          <p:cNvPr id="23" name="polyline-022"/>
          <p:cNvSpPr/>
          <p:nvPr/>
        </p:nvSpPr>
        <p:spPr>
          <a:xfrm>
            <a:off x="4144000" y="1512000"/>
            <a:ext cx="616000" cy="1"/>
          </a:xfrm>
          <a:custGeom>
            <a:avLst/>
            <a:gdLst/>
            <a:ahLst/>
            <a:cxnLst/>
            <a:rect l="0" t="0" r="r" b="b"/>
            <a:pathLst>
              <a:path w="616000" h="1">
                <a:moveTo>
                  <a:pt x="0" y="0"/>
                </a:moveTo>
                <a:lnTo>
                  <a:pt x="61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4692800" y="148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4144000" y="148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7784000" y="980000"/>
            <a:ext cx="2044000" cy="1064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line-026"/>
          <p:cNvCxnSpPr/>
          <p:nvPr/>
        </p:nvCxnSpPr>
        <p:spPr>
          <a:xfrm>
            <a:off x="7851200" y="980000"/>
            <a:ext cx="0" cy="1064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28" name="text-027: 3  Job FIFO + midend"/>
          <p:cNvSpPr txBox="1"/>
          <p:nvPr/>
        </p:nvSpPr>
        <p:spPr>
          <a:xfrm>
            <a:off x="8115953" y="1142848"/>
            <a:ext cx="13800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Job FIFO + midend</a:t>
            </a:r>
          </a:p>
        </p:txBody>
      </p:sp>
      <p:sp>
        <p:nvSpPr>
          <p:cNvPr id="29" name="text-028: 队列缓冲传输请求"/>
          <p:cNvSpPr txBox="1"/>
          <p:nvPr/>
        </p:nvSpPr>
        <p:spPr>
          <a:xfrm>
            <a:off x="8251600" y="1334144"/>
            <a:ext cx="11088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队列缓冲传输请求</a:t>
            </a:r>
          </a:p>
        </p:txBody>
      </p:sp>
      <p:sp>
        <p:nvSpPr>
          <p:cNvPr id="30" name="text-029: 2D：idma_nd_midend"/>
          <p:cNvSpPr txBox="1"/>
          <p:nvPr/>
        </p:nvSpPr>
        <p:spPr>
          <a:xfrm>
            <a:off x="8147589" y="1513344"/>
            <a:ext cx="131682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2D：idma_nd_midend</a:t>
            </a:r>
          </a:p>
        </p:txBody>
      </p:sp>
      <p:sp>
        <p:nvSpPr>
          <p:cNvPr id="31" name="text-030: 展开为一维传输"/>
          <p:cNvSpPr txBox="1"/>
          <p:nvPr/>
        </p:nvSpPr>
        <p:spPr>
          <a:xfrm>
            <a:off x="8313200" y="16925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展开为一维传输</a:t>
            </a:r>
          </a:p>
        </p:txBody>
      </p:sp>
      <p:sp>
        <p:nvSpPr>
          <p:cNvPr id="32" name="polyline-031"/>
          <p:cNvSpPr/>
          <p:nvPr/>
        </p:nvSpPr>
        <p:spPr>
          <a:xfrm>
            <a:off x="7028000" y="1512000"/>
            <a:ext cx="756000" cy="1"/>
          </a:xfrm>
          <a:custGeom>
            <a:avLst/>
            <a:gdLst/>
            <a:ahLst/>
            <a:cxnLst/>
            <a:rect l="0" t="0" r="r" b="b"/>
            <a:pathLst>
              <a:path w="756000" h="1">
                <a:moveTo>
                  <a:pt x="0" y="0"/>
                </a:moveTo>
                <a:lnTo>
                  <a:pt x="75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7716800" y="148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5572000" y="3220000"/>
            <a:ext cx="3332000" cy="1176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4  idma_backend_rw_axi"/>
          <p:cNvSpPr txBox="1"/>
          <p:nvPr/>
        </p:nvSpPr>
        <p:spPr>
          <a:xfrm>
            <a:off x="6451288" y="3349248"/>
            <a:ext cx="15734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idma_backend_rw_axi</a:t>
            </a:r>
          </a:p>
        </p:txBody>
      </p:sp>
      <p:sp>
        <p:nvSpPr>
          <p:cNvPr id="36" name="text-035: legalizer：长度 / 地址 / burst 合法化"/>
          <p:cNvSpPr txBox="1"/>
          <p:nvPr/>
        </p:nvSpPr>
        <p:spPr>
          <a:xfrm>
            <a:off x="6169328" y="3540544"/>
            <a:ext cx="21373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legalizer：长度 / 地址 / burst 合法化</a:t>
            </a:r>
          </a:p>
        </p:txBody>
      </p:sp>
      <p:sp>
        <p:nvSpPr>
          <p:cNvPr id="37" name="text-036: transport：读数据、移位 / 缓冲、写数据"/>
          <p:cNvSpPr txBox="1"/>
          <p:nvPr/>
        </p:nvSpPr>
        <p:spPr>
          <a:xfrm>
            <a:off x="6063155" y="3719744"/>
            <a:ext cx="234969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transport：读数据、移位 / 缓冲、写数据</a:t>
            </a:r>
          </a:p>
        </p:txBody>
      </p:sp>
      <p:sp>
        <p:nvSpPr>
          <p:cNvPr id="38" name="text-037: 独立 AXI read / write 通道"/>
          <p:cNvSpPr txBox="1"/>
          <p:nvPr/>
        </p:nvSpPr>
        <p:spPr>
          <a:xfrm>
            <a:off x="6474803" y="3898944"/>
            <a:ext cx="152639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AXI read / write 通道</a:t>
            </a:r>
          </a:p>
        </p:txBody>
      </p:sp>
      <p:sp>
        <p:nvSpPr>
          <p:cNvPr id="39" name="text-038: 当前 ErrorCap = NO_ERROR_HANDLING"/>
          <p:cNvSpPr txBox="1"/>
          <p:nvPr/>
        </p:nvSpPr>
        <p:spPr>
          <a:xfrm>
            <a:off x="6113017" y="4078144"/>
            <a:ext cx="22499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ErrorCap = NO_ERROR_HANDLING</a:t>
            </a:r>
          </a:p>
        </p:txBody>
      </p:sp>
      <p:sp>
        <p:nvSpPr>
          <p:cNvPr id="40" name="polyline-039"/>
          <p:cNvSpPr/>
          <p:nvPr/>
        </p:nvSpPr>
        <p:spPr>
          <a:xfrm>
            <a:off x="8792000" y="2044000"/>
            <a:ext cx="1" cy="1176000"/>
          </a:xfrm>
          <a:custGeom>
            <a:avLst/>
            <a:gdLst/>
            <a:ahLst/>
            <a:cxnLst/>
            <a:rect l="0" t="0" r="r" b="b"/>
            <a:pathLst>
              <a:path w="1" h="1176000">
                <a:moveTo>
                  <a:pt x="0" y="0"/>
                </a:moveTo>
                <a:lnTo>
                  <a:pt x="0" y="1176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gon-040"/>
          <p:cNvSpPr/>
          <p:nvPr/>
        </p:nvSpPr>
        <p:spPr>
          <a:xfrm>
            <a:off x="8764000" y="3152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2352000" y="3416000"/>
            <a:ext cx="2212000" cy="756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5  axi_rw_join"/>
          <p:cNvSpPr txBox="1"/>
          <p:nvPr/>
        </p:nvSpPr>
        <p:spPr>
          <a:xfrm>
            <a:off x="2992128" y="3514448"/>
            <a:ext cx="9317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axi_rw_join</a:t>
            </a:r>
          </a:p>
        </p:txBody>
      </p:sp>
      <p:sp>
        <p:nvSpPr>
          <p:cNvPr id="44" name="text-043: 合并 AXI 读写端口"/>
          <p:cNvSpPr txBox="1"/>
          <p:nvPr/>
        </p:nvSpPr>
        <p:spPr>
          <a:xfrm>
            <a:off x="2906186" y="3705744"/>
            <a:ext cx="110362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合并 AXI 读写端口</a:t>
            </a:r>
          </a:p>
        </p:txBody>
      </p:sp>
      <p:sp>
        <p:nvSpPr>
          <p:cNvPr id="45" name="text-044: AXI master → AxiIn.dma"/>
          <p:cNvSpPr txBox="1"/>
          <p:nvPr/>
        </p:nvSpPr>
        <p:spPr>
          <a:xfrm>
            <a:off x="2746651" y="3884944"/>
            <a:ext cx="142269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master → AxiIn.dma</a:t>
            </a:r>
          </a:p>
        </p:txBody>
      </p:sp>
      <p:sp>
        <p:nvSpPr>
          <p:cNvPr id="46" name="polyline-045"/>
          <p:cNvSpPr/>
          <p:nvPr/>
        </p:nvSpPr>
        <p:spPr>
          <a:xfrm>
            <a:off x="4564000" y="3724000"/>
            <a:ext cx="1008000" cy="1"/>
          </a:xfrm>
          <a:custGeom>
            <a:avLst/>
            <a:gdLst/>
            <a:ahLst/>
            <a:cxnLst/>
            <a:rect l="0" t="0" r="r" b="b"/>
            <a:pathLst>
              <a:path w="1008000" h="1">
                <a:moveTo>
                  <a:pt x="1008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gon-046"/>
          <p:cNvSpPr/>
          <p:nvPr/>
        </p:nvSpPr>
        <p:spPr>
          <a:xfrm>
            <a:off x="45640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-047"/>
          <p:cNvSpPr/>
          <p:nvPr/>
        </p:nvSpPr>
        <p:spPr>
          <a:xfrm>
            <a:off x="55048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308000" y="3780000"/>
            <a:ext cx="2044000" cy="1"/>
          </a:xfrm>
          <a:custGeom>
            <a:avLst/>
            <a:gdLst/>
            <a:ahLst/>
            <a:cxnLst/>
            <a:rect l="0" t="0" r="r" b="b"/>
            <a:pathLst>
              <a:path w="2044000" h="1">
                <a:moveTo>
                  <a:pt x="2044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308000" y="37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gon-050"/>
          <p:cNvSpPr/>
          <p:nvPr/>
        </p:nvSpPr>
        <p:spPr>
          <a:xfrm>
            <a:off x="2284800" y="3752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AXI ↔ SRC / DST 内存"/>
          <p:cNvSpPr txBox="1"/>
          <p:nvPr/>
        </p:nvSpPr>
        <p:spPr>
          <a:xfrm>
            <a:off x="280000" y="3428096"/>
            <a:ext cx="141844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SRC / DST 内存</a:t>
            </a:r>
          </a:p>
        </p:txBody>
      </p:sp>
      <p:sp>
        <p:nvSpPr>
          <p:cNvPr id="53" name="rect-052"/>
          <p:cNvSpPr/>
          <p:nvPr/>
        </p:nvSpPr>
        <p:spPr>
          <a:xfrm>
            <a:off x="2548000" y="2352000"/>
            <a:ext cx="1904000" cy="616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6  transfer_id_gen"/>
          <p:cNvSpPr txBox="1"/>
          <p:nvPr/>
        </p:nvSpPr>
        <p:spPr>
          <a:xfrm>
            <a:off x="2898547" y="2470048"/>
            <a:ext cx="12029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transfer_id_gen</a:t>
            </a:r>
          </a:p>
        </p:txBody>
      </p:sp>
      <p:sp>
        <p:nvSpPr>
          <p:cNvPr id="55" name="text-054: issue / retire → ID"/>
          <p:cNvSpPr txBox="1"/>
          <p:nvPr/>
        </p:nvSpPr>
        <p:spPr>
          <a:xfrm>
            <a:off x="2929001" y="2661344"/>
            <a:ext cx="114199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issue / retire → ID</a:t>
            </a:r>
          </a:p>
        </p:txBody>
      </p:sp>
      <p:sp>
        <p:nvSpPr>
          <p:cNvPr id="56" name="polyline-055"/>
          <p:cNvSpPr/>
          <p:nvPr/>
        </p:nvSpPr>
        <p:spPr>
          <a:xfrm>
            <a:off x="4452000" y="1764000"/>
            <a:ext cx="3332000" cy="868000"/>
          </a:xfrm>
          <a:custGeom>
            <a:avLst/>
            <a:gdLst/>
            <a:ahLst/>
            <a:cxnLst/>
            <a:rect l="0" t="0" r="r" b="b"/>
            <a:pathLst>
              <a:path w="3332000" h="868000">
                <a:moveTo>
                  <a:pt x="3332000" y="0"/>
                </a:moveTo>
                <a:lnTo>
                  <a:pt x="2996000" y="0"/>
                </a:lnTo>
                <a:lnTo>
                  <a:pt x="2996000" y="868000"/>
                </a:lnTo>
                <a:lnTo>
                  <a:pt x="0" y="868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4452000" y="260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line-057"/>
          <p:cNvSpPr/>
          <p:nvPr/>
        </p:nvSpPr>
        <p:spPr>
          <a:xfrm>
            <a:off x="4452000" y="2828000"/>
            <a:ext cx="1820000" cy="392000"/>
          </a:xfrm>
          <a:custGeom>
            <a:avLst/>
            <a:gdLst/>
            <a:ahLst/>
            <a:cxnLst/>
            <a:rect l="0" t="0" r="r" b="b"/>
            <a:pathLst>
              <a:path w="1820000" h="392000">
                <a:moveTo>
                  <a:pt x="1820000" y="392000"/>
                </a:moveTo>
                <a:lnTo>
                  <a:pt x="1820000" y="140000"/>
                </a:lnTo>
                <a:lnTo>
                  <a:pt x="0" y="140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-058"/>
          <p:cNvSpPr/>
          <p:nvPr/>
        </p:nvSpPr>
        <p:spPr>
          <a:xfrm>
            <a:off x="4424000" y="2828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line-059"/>
          <p:cNvSpPr/>
          <p:nvPr/>
        </p:nvSpPr>
        <p:spPr>
          <a:xfrm>
            <a:off x="3500000" y="2044000"/>
            <a:ext cx="1932000" cy="308000"/>
          </a:xfrm>
          <a:custGeom>
            <a:avLst/>
            <a:gdLst/>
            <a:ahLst/>
            <a:cxnLst/>
            <a:rect l="0" t="0" r="r" b="b"/>
            <a:pathLst>
              <a:path w="1932000" h="308000">
                <a:moveTo>
                  <a:pt x="0" y="308000"/>
                </a:moveTo>
                <a:lnTo>
                  <a:pt x="0" y="168000"/>
                </a:lnTo>
                <a:lnTo>
                  <a:pt x="1932000" y="168000"/>
                </a:lnTo>
                <a:lnTo>
                  <a:pt x="1932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-060"/>
          <p:cNvSpPr/>
          <p:nvPr/>
        </p:nvSpPr>
        <p:spPr>
          <a:xfrm>
            <a:off x="5404000" y="204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既有控制宽度缺口未关闭；wrapper 未导出任务完成 IRQ；总线错误 IRQ"/>
          <p:cNvSpPr txBox="1"/>
          <p:nvPr/>
        </p:nvSpPr>
        <p:spPr>
          <a:xfrm>
            <a:off x="252000" y="4698848"/>
            <a:ext cx="50708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既有控制宽度缺口未关闭；wrapper 未导出任务完成 IRQ；总线错误 IRQ 是另一路。</a:t>
            </a:r>
          </a:p>
        </p:txBody>
      </p:sp>
      <p:sp>
        <p:nvSpPr>
          <p:cNvPr id="63" name="polyline-062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olygon-063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4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66" name="polyline-065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gon-066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9" name="text-068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5  CVA6 Trap：异步中断与同步异常在提交路径汇合"/>
          <p:cNvSpPr txBox="1"/>
          <p:nvPr/>
        </p:nvSpPr>
        <p:spPr>
          <a:xfrm>
            <a:off x="224000" y="80864"/>
            <a:ext cx="436065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 CVA6 Trap：异步中断与同步异常在提交路径汇合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924000"/>
            <a:ext cx="1848000" cy="100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1  平台中断输入"/>
          <p:cNvSpPr txBox="1"/>
          <p:nvPr/>
        </p:nvSpPr>
        <p:spPr>
          <a:xfrm>
            <a:off x="597012" y="1058848"/>
            <a:ext cx="110197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平台中断输入</a:t>
            </a:r>
          </a:p>
        </p:txBody>
      </p:sp>
      <p:sp>
        <p:nvSpPr>
          <p:cNvPr id="6" name="text-005: PLIC：irq_i（M / S）"/>
          <p:cNvSpPr txBox="1"/>
          <p:nvPr/>
        </p:nvSpPr>
        <p:spPr>
          <a:xfrm>
            <a:off x="511481" y="1250144"/>
            <a:ext cx="127303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PLIC：irq_i（M / S）</a:t>
            </a:r>
          </a:p>
        </p:txBody>
      </p:sp>
      <p:sp>
        <p:nvSpPr>
          <p:cNvPr id="7" name="text-006: CLINT：time_irq_i / ipi_i"/>
          <p:cNvSpPr txBox="1"/>
          <p:nvPr/>
        </p:nvSpPr>
        <p:spPr>
          <a:xfrm>
            <a:off x="429249" y="1429344"/>
            <a:ext cx="143750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CLINT：time_irq_i / ipi_i</a:t>
            </a:r>
          </a:p>
        </p:txBody>
      </p:sp>
      <p:sp>
        <p:nvSpPr>
          <p:cNvPr id="8" name="text-007: 可选 CLIC 握手"/>
          <p:cNvSpPr txBox="1"/>
          <p:nvPr/>
        </p:nvSpPr>
        <p:spPr>
          <a:xfrm>
            <a:off x="679980" y="1608544"/>
            <a:ext cx="93604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 CLIC 握手</a:t>
            </a:r>
          </a:p>
        </p:txBody>
      </p:sp>
      <p:sp>
        <p:nvSpPr>
          <p:cNvPr id="9" name="rect-008"/>
          <p:cNvSpPr/>
          <p:nvPr/>
        </p:nvSpPr>
        <p:spPr>
          <a:xfrm>
            <a:off x="2688000" y="868000"/>
            <a:ext cx="2212000" cy="1120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2  csr_regfile"/>
          <p:cNvSpPr txBox="1"/>
          <p:nvPr/>
        </p:nvSpPr>
        <p:spPr>
          <a:xfrm>
            <a:off x="3344206" y="969248"/>
            <a:ext cx="8995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csr_regfile</a:t>
            </a:r>
          </a:p>
        </p:txBody>
      </p:sp>
      <p:sp>
        <p:nvSpPr>
          <p:cNvPr id="11" name="text-010: pending / enable / 委托"/>
          <p:cNvSpPr txBox="1"/>
          <p:nvPr/>
        </p:nvSpPr>
        <p:spPr>
          <a:xfrm>
            <a:off x="3078985" y="1160544"/>
            <a:ext cx="143003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 / 委托</a:t>
            </a:r>
          </a:p>
        </p:txBody>
      </p:sp>
      <p:sp>
        <p:nvSpPr>
          <p:cNvPr id="12" name="text-011: mip / mie / mstatus …"/>
          <p:cNvSpPr txBox="1"/>
          <p:nvPr/>
        </p:nvSpPr>
        <p:spPr>
          <a:xfrm>
            <a:off x="3097399" y="1339744"/>
            <a:ext cx="139320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mip / mie / mstatus …</a:t>
            </a:r>
          </a:p>
        </p:txBody>
      </p:sp>
      <p:sp>
        <p:nvSpPr>
          <p:cNvPr id="13" name="text-012: trap 状态：epc / cause / tval"/>
          <p:cNvSpPr txBox="1"/>
          <p:nvPr/>
        </p:nvSpPr>
        <p:spPr>
          <a:xfrm>
            <a:off x="2933713" y="1518944"/>
            <a:ext cx="17205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 状态：epc / cause / tval</a:t>
            </a:r>
          </a:p>
        </p:txBody>
      </p:sp>
      <p:sp>
        <p:nvSpPr>
          <p:cNvPr id="14" name="text-013: trap_vector_base / eret"/>
          <p:cNvSpPr txBox="1"/>
          <p:nvPr/>
        </p:nvSpPr>
        <p:spPr>
          <a:xfrm>
            <a:off x="3096376" y="1698144"/>
            <a:ext cx="139524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trap_vector_base / eret</a:t>
            </a:r>
          </a:p>
        </p:txBody>
      </p:sp>
      <p:sp>
        <p:nvSpPr>
          <p:cNvPr id="15" name="polyline-014"/>
          <p:cNvSpPr/>
          <p:nvPr/>
        </p:nvSpPr>
        <p:spPr>
          <a:xfrm>
            <a:off x="2072000" y="1372000"/>
            <a:ext cx="616000" cy="1"/>
          </a:xfrm>
          <a:custGeom>
            <a:avLst/>
            <a:gdLst/>
            <a:ahLst/>
            <a:cxnLst/>
            <a:rect l="0" t="0" r="r" b="b"/>
            <a:pathLst>
              <a:path w="616000" h="1">
                <a:moveTo>
                  <a:pt x="0" y="0"/>
                </a:moveTo>
                <a:lnTo>
                  <a:pt x="61600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620800" y="13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6"/>
          <p:cNvSpPr/>
          <p:nvPr/>
        </p:nvSpPr>
        <p:spPr>
          <a:xfrm>
            <a:off x="5768000" y="868000"/>
            <a:ext cx="1960000" cy="1120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3  decoder / id_stage"/>
          <p:cNvSpPr txBox="1"/>
          <p:nvPr/>
        </p:nvSpPr>
        <p:spPr>
          <a:xfrm>
            <a:off x="6041875" y="969248"/>
            <a:ext cx="14122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decoder / id_stage</a:t>
            </a:r>
          </a:p>
        </p:txBody>
      </p:sp>
      <p:sp>
        <p:nvSpPr>
          <p:cNvPr id="19" name="text-018: 结合特权级与 IRQ 控制"/>
          <p:cNvSpPr txBox="1"/>
          <p:nvPr/>
        </p:nvSpPr>
        <p:spPr>
          <a:xfrm>
            <a:off x="6061917" y="1160544"/>
            <a:ext cx="137216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结合特权级与 IRQ 控制</a:t>
            </a:r>
          </a:p>
        </p:txBody>
      </p:sp>
      <p:sp>
        <p:nvSpPr>
          <p:cNvPr id="20" name="text-019: 选出可接受的中断"/>
          <p:cNvSpPr txBox="1"/>
          <p:nvPr/>
        </p:nvSpPr>
        <p:spPr>
          <a:xfrm>
            <a:off x="6193600" y="1339744"/>
            <a:ext cx="11088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选出可接受的中断</a:t>
            </a:r>
          </a:p>
        </p:txBody>
      </p:sp>
      <p:sp>
        <p:nvSpPr>
          <p:cNvPr id="21" name="text-020: 或生成译码异常"/>
          <p:cNvSpPr txBox="1"/>
          <p:nvPr/>
        </p:nvSpPr>
        <p:spPr>
          <a:xfrm>
            <a:off x="6255200" y="15189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或生成译码异常</a:t>
            </a:r>
          </a:p>
        </p:txBody>
      </p:sp>
      <p:sp>
        <p:nvSpPr>
          <p:cNvPr id="22" name="text-021: 写入指令的 ex 信息"/>
          <p:cNvSpPr txBox="1"/>
          <p:nvPr/>
        </p:nvSpPr>
        <p:spPr>
          <a:xfrm>
            <a:off x="6157988" y="1698144"/>
            <a:ext cx="118002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写入指令的 ex 信息</a:t>
            </a:r>
          </a:p>
        </p:txBody>
      </p:sp>
      <p:sp>
        <p:nvSpPr>
          <p:cNvPr id="23" name="polyline-022"/>
          <p:cNvSpPr/>
          <p:nvPr/>
        </p:nvSpPr>
        <p:spPr>
          <a:xfrm>
            <a:off x="4900000" y="1372000"/>
            <a:ext cx="868000" cy="1"/>
          </a:xfrm>
          <a:custGeom>
            <a:avLst/>
            <a:gdLst/>
            <a:ahLst/>
            <a:cxnLst/>
            <a:rect l="0" t="0" r="r" b="b"/>
            <a:pathLst>
              <a:path w="868000" h="1">
                <a:moveTo>
                  <a:pt x="0" y="0"/>
                </a:moveTo>
                <a:lnTo>
                  <a:pt x="868000" y="0"/>
                </a:lnTo>
              </a:path>
            </a:pathLst>
          </a:custGeom>
          <a:noFill/>
          <a:ln w="14000" cap="flat">
            <a:solidFill>
              <a:srgbClr val="765096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5700800" y="13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7650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8288000" y="980000"/>
            <a:ext cx="1568000" cy="896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line-025"/>
          <p:cNvCxnSpPr/>
          <p:nvPr/>
        </p:nvCxnSpPr>
        <p:spPr>
          <a:xfrm>
            <a:off x="8355200" y="980000"/>
            <a:ext cx="0" cy="896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27" name="text-026: 4  scoreboard"/>
          <p:cNvSpPr txBox="1"/>
          <p:nvPr/>
        </p:nvSpPr>
        <p:spPr>
          <a:xfrm>
            <a:off x="8596809" y="1148448"/>
            <a:ext cx="950381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scoreboard</a:t>
            </a:r>
          </a:p>
        </p:txBody>
      </p:sp>
      <p:sp>
        <p:nvSpPr>
          <p:cNvPr id="28" name="text-027: 指令与结果关联"/>
          <p:cNvSpPr txBox="1"/>
          <p:nvPr/>
        </p:nvSpPr>
        <p:spPr>
          <a:xfrm>
            <a:off x="8579200" y="13397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指令与结果关联</a:t>
            </a:r>
          </a:p>
        </p:txBody>
      </p:sp>
      <p:sp>
        <p:nvSpPr>
          <p:cNvPr id="29" name="text-028: ex 随指令保存"/>
          <p:cNvSpPr txBox="1"/>
          <p:nvPr/>
        </p:nvSpPr>
        <p:spPr>
          <a:xfrm>
            <a:off x="8623654" y="1518944"/>
            <a:ext cx="8966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 随指令保存</a:t>
            </a:r>
          </a:p>
        </p:txBody>
      </p:sp>
      <p:sp>
        <p:nvSpPr>
          <p:cNvPr id="30" name="polyline-029"/>
          <p:cNvSpPr/>
          <p:nvPr/>
        </p:nvSpPr>
        <p:spPr>
          <a:xfrm>
            <a:off x="7728000" y="1372000"/>
            <a:ext cx="560000" cy="1"/>
          </a:xfrm>
          <a:custGeom>
            <a:avLst/>
            <a:gdLst/>
            <a:ahLst/>
            <a:cxnLst/>
            <a:rect l="0" t="0" r="r" b="b"/>
            <a:pathLst>
              <a:path w="560000" h="1">
                <a:moveTo>
                  <a:pt x="0" y="0"/>
                </a:moveTo>
                <a:lnTo>
                  <a:pt x="560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8220800" y="134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8232000" y="3164000"/>
            <a:ext cx="1652000" cy="100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5  commit_stage"/>
          <p:cNvSpPr txBox="1"/>
          <p:nvPr/>
        </p:nvSpPr>
        <p:spPr>
          <a:xfrm>
            <a:off x="8498088" y="3298848"/>
            <a:ext cx="11198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commit_stage</a:t>
            </a:r>
          </a:p>
        </p:txBody>
      </p:sp>
      <p:sp>
        <p:nvSpPr>
          <p:cNvPr id="34" name="text-033: 按提交顺序选异常"/>
          <p:cNvSpPr txBox="1"/>
          <p:nvPr/>
        </p:nvSpPr>
        <p:spPr>
          <a:xfrm>
            <a:off x="8503600" y="3490144"/>
            <a:ext cx="11088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按提交顺序选异常</a:t>
            </a:r>
          </a:p>
        </p:txBody>
      </p:sp>
      <p:sp>
        <p:nvSpPr>
          <p:cNvPr id="35" name="text-034: 阻止错误指令提交"/>
          <p:cNvSpPr txBox="1"/>
          <p:nvPr/>
        </p:nvSpPr>
        <p:spPr>
          <a:xfrm>
            <a:off x="8503600" y="3669344"/>
            <a:ext cx="11088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阻止错误指令提交</a:t>
            </a:r>
          </a:p>
        </p:txBody>
      </p:sp>
      <p:sp>
        <p:nvSpPr>
          <p:cNvPr id="36" name="text-035: ex_commit → CSR"/>
          <p:cNvSpPr txBox="1"/>
          <p:nvPr/>
        </p:nvSpPr>
        <p:spPr>
          <a:xfrm>
            <a:off x="8494272" y="3848544"/>
            <a:ext cx="112745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→ CSR</a:t>
            </a:r>
          </a:p>
        </p:txBody>
      </p:sp>
      <p:sp>
        <p:nvSpPr>
          <p:cNvPr id="37" name="polyline-036"/>
          <p:cNvSpPr/>
          <p:nvPr/>
        </p:nvSpPr>
        <p:spPr>
          <a:xfrm>
            <a:off x="9072000" y="1876000"/>
            <a:ext cx="1" cy="1288000"/>
          </a:xfrm>
          <a:custGeom>
            <a:avLst/>
            <a:gdLst/>
            <a:ahLst/>
            <a:cxnLst/>
            <a:rect l="0" t="0" r="r" b="b"/>
            <a:pathLst>
              <a:path w="1" h="1288000">
                <a:moveTo>
                  <a:pt x="0" y="0"/>
                </a:moveTo>
                <a:lnTo>
                  <a:pt x="0" y="1288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gon-037"/>
          <p:cNvSpPr/>
          <p:nvPr/>
        </p:nvSpPr>
        <p:spPr>
          <a:xfrm>
            <a:off x="9044000" y="309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5488000" y="3248000"/>
            <a:ext cx="1848000" cy="86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执行 / 访存异常"/>
          <p:cNvSpPr txBox="1"/>
          <p:nvPr/>
        </p:nvSpPr>
        <p:spPr>
          <a:xfrm>
            <a:off x="5866394" y="3402448"/>
            <a:ext cx="10912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/ 访存异常</a:t>
            </a:r>
          </a:p>
        </p:txBody>
      </p:sp>
      <p:sp>
        <p:nvSpPr>
          <p:cNvPr id="41" name="text-040: 非法操作 / 访问故障等"/>
          <p:cNvSpPr txBox="1"/>
          <p:nvPr/>
        </p:nvSpPr>
        <p:spPr>
          <a:xfrm>
            <a:off x="5727063" y="3593744"/>
            <a:ext cx="13698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非法操作 / 访问故障等</a:t>
            </a:r>
          </a:p>
        </p:txBody>
      </p:sp>
      <p:sp>
        <p:nvSpPr>
          <p:cNvPr id="42" name="text-041: 结果携带 exception_t"/>
          <p:cNvSpPr txBox="1"/>
          <p:nvPr/>
        </p:nvSpPr>
        <p:spPr>
          <a:xfrm>
            <a:off x="5778014" y="3772944"/>
            <a:ext cx="126797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结果携带 exception_t</a:t>
            </a:r>
          </a:p>
        </p:txBody>
      </p:sp>
      <p:sp>
        <p:nvSpPr>
          <p:cNvPr id="43" name="polyline-042"/>
          <p:cNvSpPr/>
          <p:nvPr/>
        </p:nvSpPr>
        <p:spPr>
          <a:xfrm>
            <a:off x="6412000" y="1876000"/>
            <a:ext cx="2268000" cy="1372000"/>
          </a:xfrm>
          <a:custGeom>
            <a:avLst/>
            <a:gdLst/>
            <a:ahLst/>
            <a:cxnLst/>
            <a:rect l="0" t="0" r="r" b="b"/>
            <a:pathLst>
              <a:path w="2268000" h="1372000">
                <a:moveTo>
                  <a:pt x="0" y="1372000"/>
                </a:moveTo>
                <a:lnTo>
                  <a:pt x="0" y="588000"/>
                </a:lnTo>
                <a:lnTo>
                  <a:pt x="2268000" y="588000"/>
                </a:lnTo>
                <a:lnTo>
                  <a:pt x="2268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8652000" y="1876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4340000" y="1988000"/>
            <a:ext cx="4452000" cy="2520000"/>
          </a:xfrm>
          <a:custGeom>
            <a:avLst/>
            <a:gdLst/>
            <a:ahLst/>
            <a:cxnLst/>
            <a:rect l="0" t="0" r="r" b="b"/>
            <a:pathLst>
              <a:path w="4452000" h="2520000">
                <a:moveTo>
                  <a:pt x="4452000" y="2184000"/>
                </a:moveTo>
                <a:lnTo>
                  <a:pt x="4452000" y="2520000"/>
                </a:lnTo>
                <a:lnTo>
                  <a:pt x="868000" y="2520000"/>
                </a:lnTo>
                <a:lnTo>
                  <a:pt x="868000" y="252000"/>
                </a:lnTo>
                <a:lnTo>
                  <a:pt x="0" y="252000"/>
                </a:ln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gon-045"/>
          <p:cNvSpPr/>
          <p:nvPr/>
        </p:nvSpPr>
        <p:spPr>
          <a:xfrm>
            <a:off x="4312000" y="1988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ex_commit / PC"/>
          <p:cNvSpPr txBox="1"/>
          <p:nvPr/>
        </p:nvSpPr>
        <p:spPr>
          <a:xfrm>
            <a:off x="6104000" y="4548096"/>
            <a:ext cx="102941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/ PC</a:t>
            </a:r>
          </a:p>
        </p:txBody>
      </p:sp>
      <p:sp>
        <p:nvSpPr>
          <p:cNvPr id="48" name="rect-047"/>
          <p:cNvSpPr/>
          <p:nvPr/>
        </p:nvSpPr>
        <p:spPr>
          <a:xfrm>
            <a:off x="2520000" y="3304000"/>
            <a:ext cx="2072000" cy="896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6  controller + frontend"/>
          <p:cNvSpPr txBox="1"/>
          <p:nvPr/>
        </p:nvSpPr>
        <p:spPr>
          <a:xfrm>
            <a:off x="2809778" y="3382848"/>
            <a:ext cx="14924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controller + frontend</a:t>
            </a:r>
          </a:p>
        </p:txBody>
      </p:sp>
      <p:sp>
        <p:nvSpPr>
          <p:cNvPr id="50" name="text-049: flush 错误路径流水线"/>
          <p:cNvSpPr txBox="1"/>
          <p:nvPr/>
        </p:nvSpPr>
        <p:spPr>
          <a:xfrm>
            <a:off x="2913111" y="3574144"/>
            <a:ext cx="128577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flush 错误路径流水线</a:t>
            </a:r>
          </a:p>
        </p:txBody>
      </p:sp>
      <p:sp>
        <p:nvSpPr>
          <p:cNvPr id="51" name="text-050: PC 转向 trap 入口"/>
          <p:cNvSpPr txBox="1"/>
          <p:nvPr/>
        </p:nvSpPr>
        <p:spPr>
          <a:xfrm>
            <a:off x="3014235" y="3753344"/>
            <a:ext cx="108353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PC 转向 trap 入口</a:t>
            </a:r>
          </a:p>
        </p:txBody>
      </p:sp>
      <p:sp>
        <p:nvSpPr>
          <p:cNvPr id="52" name="text-051: xRET 恢复返回 PC"/>
          <p:cNvSpPr txBox="1"/>
          <p:nvPr/>
        </p:nvSpPr>
        <p:spPr>
          <a:xfrm>
            <a:off x="3007970" y="3932544"/>
            <a:ext cx="109606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xRET 恢复返回 PC</a:t>
            </a:r>
          </a:p>
        </p:txBody>
      </p:sp>
      <p:sp>
        <p:nvSpPr>
          <p:cNvPr id="53" name="polyline-052"/>
          <p:cNvSpPr/>
          <p:nvPr/>
        </p:nvSpPr>
        <p:spPr>
          <a:xfrm>
            <a:off x="3304000" y="1988000"/>
            <a:ext cx="1" cy="1316000"/>
          </a:xfrm>
          <a:custGeom>
            <a:avLst/>
            <a:gdLst/>
            <a:ahLst/>
            <a:cxnLst/>
            <a:rect l="0" t="0" r="r" b="b"/>
            <a:pathLst>
              <a:path w="1" h="1316000">
                <a:moveTo>
                  <a:pt x="0" y="0"/>
                </a:moveTo>
                <a:lnTo>
                  <a:pt x="0" y="131600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gon-053"/>
          <p:cNvSpPr/>
          <p:nvPr/>
        </p:nvSpPr>
        <p:spPr>
          <a:xfrm>
            <a:off x="3276000" y="323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line-054"/>
          <p:cNvSpPr/>
          <p:nvPr/>
        </p:nvSpPr>
        <p:spPr>
          <a:xfrm>
            <a:off x="336000" y="3724000"/>
            <a:ext cx="2184000" cy="1"/>
          </a:xfrm>
          <a:custGeom>
            <a:avLst/>
            <a:gdLst/>
            <a:ahLst/>
            <a:cxnLst/>
            <a:rect l="0" t="0" r="r" b="b"/>
            <a:pathLst>
              <a:path w="2184000" h="1">
                <a:moveTo>
                  <a:pt x="2184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-055"/>
          <p:cNvSpPr/>
          <p:nvPr/>
        </p:nvSpPr>
        <p:spPr>
          <a:xfrm>
            <a:off x="336000" y="369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CPU 开始执行处理程序"/>
          <p:cNvSpPr txBox="1"/>
          <p:nvPr/>
        </p:nvSpPr>
        <p:spPr>
          <a:xfrm>
            <a:off x="280000" y="3366496"/>
            <a:ext cx="143202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开始执行处理程序</a:t>
            </a:r>
          </a:p>
        </p:txBody>
      </p:sp>
      <p:sp>
        <p:nvSpPr>
          <p:cNvPr id="58" name="text-057: 图中软件处理程序不在硬件中：保存现场、处理设备 / 控制器、恢复现场，再执行返回"/>
          <p:cNvSpPr txBox="1"/>
          <p:nvPr/>
        </p:nvSpPr>
        <p:spPr>
          <a:xfrm>
            <a:off x="252000" y="4698848"/>
            <a:ext cx="566081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图中软件处理程序不在硬件中：保存现场、处理设备 / 控制器、恢复现场，再执行返回指令。</a:t>
            </a:r>
          </a:p>
        </p:txBody>
      </p:sp>
      <p:sp>
        <p:nvSpPr>
          <p:cNvPr id="59" name="polyline-058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gon-059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62" name="polyline-061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olygon-062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5" name="text-064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6A  LLC：描述符命中 / 缺失路径与共享数据 SRAM"/>
          <p:cNvSpPr txBox="1"/>
          <p:nvPr/>
        </p:nvSpPr>
        <p:spPr>
          <a:xfrm>
            <a:off x="224000" y="80864"/>
            <a:ext cx="4303250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16A  LLC：描述符命中 / 缺失路径与共享数据 SRAM</a:t>
            </a:r>
          </a:p>
        </p:txBody>
      </p:sp>
      <p:sp>
        <p:nvSpPr>
          <p:cNvPr id="4" name="rect-003"/>
          <p:cNvSpPr/>
          <p:nvPr/>
        </p:nvSpPr>
        <p:spPr>
          <a:xfrm>
            <a:off x="196000" y="1036000"/>
            <a:ext cx="1904000" cy="100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1  isolate / demux"/>
          <p:cNvSpPr txBox="1"/>
          <p:nvPr/>
        </p:nvSpPr>
        <p:spPr>
          <a:xfrm>
            <a:off x="534538" y="1170848"/>
            <a:ext cx="12269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isolate / demux</a:t>
            </a:r>
          </a:p>
        </p:txBody>
      </p:sp>
      <p:sp>
        <p:nvSpPr>
          <p:cNvPr id="6" name="text-005: 入口隔离与 bypass"/>
          <p:cNvSpPr txBox="1"/>
          <p:nvPr/>
        </p:nvSpPr>
        <p:spPr>
          <a:xfrm>
            <a:off x="570439" y="1362144"/>
            <a:ext cx="115512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入口隔离与 bypass</a:t>
            </a:r>
          </a:p>
        </p:txBody>
      </p:sp>
      <p:sp>
        <p:nvSpPr>
          <p:cNvPr id="7" name="text-006: chan_splitter / 仲裁"/>
          <p:cNvSpPr txBox="1"/>
          <p:nvPr/>
        </p:nvSpPr>
        <p:spPr>
          <a:xfrm>
            <a:off x="547404" y="1541344"/>
            <a:ext cx="12011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chan_splitter / 仲裁</a:t>
            </a:r>
          </a:p>
        </p:txBody>
      </p:sp>
      <p:sp>
        <p:nvSpPr>
          <p:cNvPr id="8" name="text-007: AW / AR → 描述符"/>
          <p:cNvSpPr txBox="1"/>
          <p:nvPr/>
        </p:nvSpPr>
        <p:spPr>
          <a:xfrm>
            <a:off x="576577" y="1720544"/>
            <a:ext cx="114284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/ AR → 描述符</a:t>
            </a:r>
          </a:p>
        </p:txBody>
      </p:sp>
      <p:sp>
        <p:nvSpPr>
          <p:cNvPr id="9" name="rect-008"/>
          <p:cNvSpPr/>
          <p:nvPr/>
        </p:nvSpPr>
        <p:spPr>
          <a:xfrm>
            <a:off x="2856000" y="1036000"/>
            <a:ext cx="1904000" cy="100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2  axi_llc_hit_miss"/>
          <p:cNvSpPr txBox="1"/>
          <p:nvPr/>
        </p:nvSpPr>
        <p:spPr>
          <a:xfrm>
            <a:off x="3198475" y="1170848"/>
            <a:ext cx="1219050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axi_llc_hit_miss</a:t>
            </a:r>
          </a:p>
        </p:txBody>
      </p:sp>
      <p:sp>
        <p:nvSpPr>
          <p:cNvPr id="11" name="text-010: tag_store / valid / dirty"/>
          <p:cNvSpPr txBox="1"/>
          <p:nvPr/>
        </p:nvSpPr>
        <p:spPr>
          <a:xfrm>
            <a:off x="3120176" y="1362144"/>
            <a:ext cx="1375649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tag_store / valid / dirty</a:t>
            </a:r>
          </a:p>
        </p:txBody>
      </p:sp>
      <p:sp>
        <p:nvSpPr>
          <p:cNvPr id="12" name="text-011: 锁定与同 ID 顺序约束"/>
          <p:cNvSpPr txBox="1"/>
          <p:nvPr/>
        </p:nvSpPr>
        <p:spPr>
          <a:xfrm>
            <a:off x="3160058" y="1541344"/>
            <a:ext cx="129588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锁定与同 ID 顺序约束</a:t>
            </a:r>
          </a:p>
        </p:txBody>
      </p:sp>
      <p:sp>
        <p:nvSpPr>
          <p:cNvPr id="13" name="text-012: cache 或 SPM 地址判定"/>
          <p:cNvSpPr txBox="1"/>
          <p:nvPr/>
        </p:nvSpPr>
        <p:spPr>
          <a:xfrm>
            <a:off x="3101228" y="1720544"/>
            <a:ext cx="141354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或 SPM 地址判定</a:t>
            </a:r>
          </a:p>
        </p:txBody>
      </p:sp>
      <p:sp>
        <p:nvSpPr>
          <p:cNvPr id="14" name="polyline-013"/>
          <p:cNvSpPr/>
          <p:nvPr/>
        </p:nvSpPr>
        <p:spPr>
          <a:xfrm>
            <a:off x="2100000" y="1484000"/>
            <a:ext cx="756000" cy="1"/>
          </a:xfrm>
          <a:custGeom>
            <a:avLst/>
            <a:gdLst/>
            <a:ahLst/>
            <a:cxnLst/>
            <a:rect l="0" t="0" r="r" b="b"/>
            <a:pathLst>
              <a:path w="756000" h="1">
                <a:moveTo>
                  <a:pt x="0" y="0"/>
                </a:moveTo>
                <a:lnTo>
                  <a:pt x="75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2788800" y="14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5"/>
          <p:cNvSpPr/>
          <p:nvPr/>
        </p:nvSpPr>
        <p:spPr>
          <a:xfrm>
            <a:off x="5656000" y="1036000"/>
            <a:ext cx="1876000" cy="1008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3  evict → refill"/>
          <p:cNvSpPr txBox="1"/>
          <p:nvPr/>
        </p:nvSpPr>
        <p:spPr>
          <a:xfrm>
            <a:off x="6077138" y="1170848"/>
            <a:ext cx="1033725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evict → refill</a:t>
            </a:r>
          </a:p>
        </p:txBody>
      </p:sp>
      <p:sp>
        <p:nvSpPr>
          <p:cNvPr id="18" name="text-017: 必要时写回脏行"/>
          <p:cNvSpPr txBox="1"/>
          <p:nvPr/>
        </p:nvSpPr>
        <p:spPr>
          <a:xfrm>
            <a:off x="6101200" y="13621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19" name="text-018: 从外存补入 cache line"/>
          <p:cNvSpPr txBox="1"/>
          <p:nvPr/>
        </p:nvSpPr>
        <p:spPr>
          <a:xfrm>
            <a:off x="5932885" y="1541344"/>
            <a:ext cx="132223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从外存补入 cache line</a:t>
            </a:r>
          </a:p>
        </p:txBody>
      </p:sp>
      <p:sp>
        <p:nvSpPr>
          <p:cNvPr id="20" name="text-019: 完成后传递描述符"/>
          <p:cNvSpPr txBox="1"/>
          <p:nvPr/>
        </p:nvSpPr>
        <p:spPr>
          <a:xfrm>
            <a:off x="6039600" y="1720544"/>
            <a:ext cx="11088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完成后传递描述符</a:t>
            </a:r>
          </a:p>
        </p:txBody>
      </p:sp>
      <p:sp>
        <p:nvSpPr>
          <p:cNvPr id="21" name="polyline-020"/>
          <p:cNvSpPr/>
          <p:nvPr/>
        </p:nvSpPr>
        <p:spPr>
          <a:xfrm>
            <a:off x="4760000" y="1708000"/>
            <a:ext cx="896000" cy="1"/>
          </a:xfrm>
          <a:custGeom>
            <a:avLst/>
            <a:gdLst/>
            <a:ahLst/>
            <a:cxnLst/>
            <a:rect l="0" t="0" r="r" b="b"/>
            <a:pathLst>
              <a:path w="896000" h="1">
                <a:moveTo>
                  <a:pt x="0" y="0"/>
                </a:moveTo>
                <a:lnTo>
                  <a:pt x="89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5588800" y="1680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2: miss"/>
          <p:cNvSpPr txBox="1"/>
          <p:nvPr/>
        </p:nvSpPr>
        <p:spPr>
          <a:xfrm>
            <a:off x="4900000" y="1479296"/>
            <a:ext cx="39899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miss</a:t>
            </a:r>
          </a:p>
        </p:txBody>
      </p:sp>
      <p:sp>
        <p:nvSpPr>
          <p:cNvPr id="24" name="rect-023"/>
          <p:cNvSpPr/>
          <p:nvPr/>
        </p:nvSpPr>
        <p:spPr>
          <a:xfrm>
            <a:off x="8148000" y="1036000"/>
            <a:ext cx="1680000" cy="100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4  merge_unit"/>
          <p:cNvSpPr txBox="1"/>
          <p:nvPr/>
        </p:nvSpPr>
        <p:spPr>
          <a:xfrm>
            <a:off x="8514056" y="1260448"/>
            <a:ext cx="9478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merge_unit</a:t>
            </a:r>
          </a:p>
        </p:txBody>
      </p:sp>
      <p:sp>
        <p:nvSpPr>
          <p:cNvPr id="26" name="text-025: 汇合命中 / 补入路径"/>
          <p:cNvSpPr txBox="1"/>
          <p:nvPr/>
        </p:nvSpPr>
        <p:spPr>
          <a:xfrm>
            <a:off x="8364663" y="1451744"/>
            <a:ext cx="12466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汇合命中 / 补入路径</a:t>
            </a:r>
          </a:p>
        </p:txBody>
      </p:sp>
      <p:sp>
        <p:nvSpPr>
          <p:cNvPr id="27" name="text-026: 分发 read / write"/>
          <p:cNvSpPr txBox="1"/>
          <p:nvPr/>
        </p:nvSpPr>
        <p:spPr>
          <a:xfrm>
            <a:off x="8468618" y="1630944"/>
            <a:ext cx="103876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分发 read / write</a:t>
            </a:r>
          </a:p>
        </p:txBody>
      </p:sp>
      <p:sp>
        <p:nvSpPr>
          <p:cNvPr id="28" name="polyline-027"/>
          <p:cNvSpPr/>
          <p:nvPr/>
        </p:nvSpPr>
        <p:spPr>
          <a:xfrm>
            <a:off x="7532000" y="1596000"/>
            <a:ext cx="616000" cy="1"/>
          </a:xfrm>
          <a:custGeom>
            <a:avLst/>
            <a:gdLst/>
            <a:ahLst/>
            <a:cxnLst/>
            <a:rect l="0" t="0" r="r" b="b"/>
            <a:pathLst>
              <a:path w="616000" h="1">
                <a:moveTo>
                  <a:pt x="0" y="0"/>
                </a:moveTo>
                <a:lnTo>
                  <a:pt x="61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gon-028"/>
          <p:cNvSpPr/>
          <p:nvPr/>
        </p:nvSpPr>
        <p:spPr>
          <a:xfrm>
            <a:off x="8080800" y="156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line-029"/>
          <p:cNvSpPr/>
          <p:nvPr/>
        </p:nvSpPr>
        <p:spPr>
          <a:xfrm>
            <a:off x="3808000" y="588000"/>
            <a:ext cx="5180000" cy="448000"/>
          </a:xfrm>
          <a:custGeom>
            <a:avLst/>
            <a:gdLst/>
            <a:ahLst/>
            <a:cxnLst/>
            <a:rect l="0" t="0" r="r" b="b"/>
            <a:pathLst>
              <a:path w="5180000" h="448000">
                <a:moveTo>
                  <a:pt x="0" y="448000"/>
                </a:moveTo>
                <a:lnTo>
                  <a:pt x="0" y="0"/>
                </a:lnTo>
                <a:lnTo>
                  <a:pt x="5180000" y="0"/>
                </a:lnTo>
                <a:lnTo>
                  <a:pt x="5180000" y="448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8960000" y="968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hit / SPM 快路径（仍受顺序约束）"/>
          <p:cNvSpPr txBox="1"/>
          <p:nvPr/>
        </p:nvSpPr>
        <p:spPr>
          <a:xfrm>
            <a:off x="4984000" y="376096"/>
            <a:ext cx="2127099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hit / SPM 快路径（仍受顺序约束）</a:t>
            </a:r>
          </a:p>
        </p:txBody>
      </p:sp>
      <p:sp>
        <p:nvSpPr>
          <p:cNvPr id="33" name="rect-032"/>
          <p:cNvSpPr/>
          <p:nvPr/>
        </p:nvSpPr>
        <p:spPr>
          <a:xfrm>
            <a:off x="7812000" y="3164000"/>
            <a:ext cx="1988000" cy="812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5  read_unit / write_unit"/>
          <p:cNvSpPr txBox="1"/>
          <p:nvPr/>
        </p:nvSpPr>
        <p:spPr>
          <a:xfrm>
            <a:off x="8026178" y="3290448"/>
            <a:ext cx="15596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read_unit / write_unit</a:t>
            </a:r>
          </a:p>
        </p:txBody>
      </p:sp>
      <p:sp>
        <p:nvSpPr>
          <p:cNvPr id="35" name="text-034: 连接 AXI R / W / B"/>
          <p:cNvSpPr txBox="1"/>
          <p:nvPr/>
        </p:nvSpPr>
        <p:spPr>
          <a:xfrm>
            <a:off x="8235959" y="3481744"/>
            <a:ext cx="114008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连接 AXI R / W / B</a:t>
            </a:r>
          </a:p>
        </p:txBody>
      </p:sp>
      <p:sp>
        <p:nvSpPr>
          <p:cNvPr id="36" name="text-035: 访问选定的数据 way"/>
          <p:cNvSpPr txBox="1"/>
          <p:nvPr/>
        </p:nvSpPr>
        <p:spPr>
          <a:xfrm>
            <a:off x="8195053" y="3660944"/>
            <a:ext cx="122189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访问选定的数据 way</a:t>
            </a:r>
          </a:p>
        </p:txBody>
      </p:sp>
      <p:sp>
        <p:nvSpPr>
          <p:cNvPr id="37" name="polyline-036"/>
          <p:cNvSpPr/>
          <p:nvPr/>
        </p:nvSpPr>
        <p:spPr>
          <a:xfrm>
            <a:off x="9016000" y="2044000"/>
            <a:ext cx="1" cy="1120000"/>
          </a:xfrm>
          <a:custGeom>
            <a:avLst/>
            <a:gdLst/>
            <a:ahLst/>
            <a:cxnLst/>
            <a:rect l="0" t="0" r="r" b="b"/>
            <a:pathLst>
              <a:path w="1" h="1120000">
                <a:moveTo>
                  <a:pt x="0" y="0"/>
                </a:moveTo>
                <a:lnTo>
                  <a:pt x="0" y="1120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gon-037"/>
          <p:cNvSpPr/>
          <p:nvPr/>
        </p:nvSpPr>
        <p:spPr>
          <a:xfrm>
            <a:off x="8988000" y="309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200000" y="3192000"/>
            <a:ext cx="2632000" cy="1008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line-039"/>
          <p:cNvCxnSpPr/>
          <p:nvPr/>
        </p:nvCxnSpPr>
        <p:spPr>
          <a:xfrm>
            <a:off x="4267200" y="3192000"/>
            <a:ext cx="0" cy="1008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41" name="text-040: 6  axi_llc_ways"/>
          <p:cNvSpPr txBox="1"/>
          <p:nvPr/>
        </p:nvSpPr>
        <p:spPr>
          <a:xfrm>
            <a:off x="5011147" y="3326848"/>
            <a:ext cx="1009706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axi_llc_ways</a:t>
            </a:r>
          </a:p>
        </p:txBody>
      </p:sp>
      <p:sp>
        <p:nvSpPr>
          <p:cNvPr id="42" name="text-041: read / write / evict / refill 仲裁"/>
          <p:cNvSpPr txBox="1"/>
          <p:nvPr/>
        </p:nvSpPr>
        <p:spPr>
          <a:xfrm>
            <a:off x="4618959" y="3518144"/>
            <a:ext cx="1794082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 / write / evict / refill 仲裁</a:t>
            </a:r>
          </a:p>
        </p:txBody>
      </p:sp>
      <p:sp>
        <p:nvSpPr>
          <p:cNvPr id="43" name="text-042: 每个 way 的 SRAM"/>
          <p:cNvSpPr txBox="1"/>
          <p:nvPr/>
        </p:nvSpPr>
        <p:spPr>
          <a:xfrm>
            <a:off x="4953296" y="3697344"/>
            <a:ext cx="112540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 way 的 SRAM</a:t>
            </a:r>
          </a:p>
        </p:txBody>
      </p:sp>
      <p:sp>
        <p:nvSpPr>
          <p:cNvPr id="44" name="text-043: 按地址、way、byte strobe 访问"/>
          <p:cNvSpPr txBox="1"/>
          <p:nvPr/>
        </p:nvSpPr>
        <p:spPr>
          <a:xfrm>
            <a:off x="4603672" y="3876544"/>
            <a:ext cx="182465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按地址、way、byte strobe 访问</a:t>
            </a:r>
          </a:p>
        </p:txBody>
      </p:sp>
      <p:sp>
        <p:nvSpPr>
          <p:cNvPr id="45" name="polyline-044"/>
          <p:cNvSpPr/>
          <p:nvPr/>
        </p:nvSpPr>
        <p:spPr>
          <a:xfrm>
            <a:off x="6832000" y="3584000"/>
            <a:ext cx="980000" cy="1"/>
          </a:xfrm>
          <a:custGeom>
            <a:avLst/>
            <a:gdLst/>
            <a:ahLst/>
            <a:cxnLst/>
            <a:rect l="0" t="0" r="r" b="b"/>
            <a:pathLst>
              <a:path w="980000" h="1">
                <a:moveTo>
                  <a:pt x="980000" y="0"/>
                </a:moveTo>
                <a:lnTo>
                  <a:pt x="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gon-045"/>
          <p:cNvSpPr/>
          <p:nvPr/>
        </p:nvSpPr>
        <p:spPr>
          <a:xfrm>
            <a:off x="6832000" y="35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gon-046"/>
          <p:cNvSpPr/>
          <p:nvPr/>
        </p:nvSpPr>
        <p:spPr>
          <a:xfrm>
            <a:off x="7744800" y="355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6580000" y="2044000"/>
            <a:ext cx="1" cy="1148000"/>
          </a:xfrm>
          <a:custGeom>
            <a:avLst/>
            <a:gdLst/>
            <a:ahLst/>
            <a:cxnLst/>
            <a:rect l="0" t="0" r="r" b="b"/>
            <a:pathLst>
              <a:path w="1" h="1148000">
                <a:moveTo>
                  <a:pt x="0" y="0"/>
                </a:moveTo>
                <a:lnTo>
                  <a:pt x="0" y="1148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gon-048"/>
          <p:cNvSpPr/>
          <p:nvPr/>
        </p:nvSpPr>
        <p:spPr>
          <a:xfrm>
            <a:off x="6552000" y="3124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6552000" y="204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224000" y="3444000"/>
            <a:ext cx="2352000" cy="72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7  AXI 外存出口"/>
          <p:cNvSpPr txBox="1"/>
          <p:nvPr/>
        </p:nvSpPr>
        <p:spPr>
          <a:xfrm>
            <a:off x="871981" y="3528448"/>
            <a:ext cx="105603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AXI 外存出口</a:t>
            </a:r>
          </a:p>
        </p:txBody>
      </p:sp>
      <p:sp>
        <p:nvSpPr>
          <p:cNvPr id="53" name="text-052: bypass 与 refill / evict"/>
          <p:cNvSpPr txBox="1"/>
          <p:nvPr/>
        </p:nvSpPr>
        <p:spPr>
          <a:xfrm>
            <a:off x="741650" y="3719744"/>
            <a:ext cx="13167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 与 refill / evict</a:t>
            </a:r>
          </a:p>
        </p:txBody>
      </p:sp>
      <p:sp>
        <p:nvSpPr>
          <p:cNvPr id="54" name="text-053: 经 axi_bypass_mux 汇合"/>
          <p:cNvSpPr txBox="1"/>
          <p:nvPr/>
        </p:nvSpPr>
        <p:spPr>
          <a:xfrm>
            <a:off x="679805" y="3898944"/>
            <a:ext cx="144039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经 axi_bypass_mux 汇合</a:t>
            </a:r>
          </a:p>
        </p:txBody>
      </p:sp>
      <p:sp>
        <p:nvSpPr>
          <p:cNvPr id="55" name="polyline-054"/>
          <p:cNvSpPr/>
          <p:nvPr/>
        </p:nvSpPr>
        <p:spPr>
          <a:xfrm>
            <a:off x="655200" y="2044000"/>
            <a:ext cx="1" cy="1400000"/>
          </a:xfrm>
          <a:custGeom>
            <a:avLst/>
            <a:gdLst/>
            <a:ahLst/>
            <a:cxnLst/>
            <a:rect l="0" t="0" r="r" b="b"/>
            <a:pathLst>
              <a:path w="1" h="1400000">
                <a:moveTo>
                  <a:pt x="0" y="0"/>
                </a:moveTo>
                <a:lnTo>
                  <a:pt x="0" y="1400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-055"/>
          <p:cNvSpPr/>
          <p:nvPr/>
        </p:nvSpPr>
        <p:spPr>
          <a:xfrm>
            <a:off x="627200" y="337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627200" y="20440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0"/>
                </a:moveTo>
                <a:lnTo>
                  <a:pt x="0" y="67200"/>
                </a:lnTo>
                <a:lnTo>
                  <a:pt x="56000" y="672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bypass"/>
          <p:cNvSpPr txBox="1"/>
          <p:nvPr/>
        </p:nvSpPr>
        <p:spPr>
          <a:xfrm>
            <a:off x="756000" y="2632896"/>
            <a:ext cx="52501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</a:t>
            </a:r>
          </a:p>
        </p:txBody>
      </p:sp>
      <p:sp>
        <p:nvSpPr>
          <p:cNvPr id="59" name="polyline-058"/>
          <p:cNvSpPr/>
          <p:nvPr/>
        </p:nvSpPr>
        <p:spPr>
          <a:xfrm>
            <a:off x="1960000" y="1932000"/>
            <a:ext cx="3696000" cy="1512000"/>
          </a:xfrm>
          <a:custGeom>
            <a:avLst/>
            <a:gdLst/>
            <a:ahLst/>
            <a:cxnLst/>
            <a:rect l="0" t="0" r="r" b="b"/>
            <a:pathLst>
              <a:path w="3696000" h="1512000">
                <a:moveTo>
                  <a:pt x="3696000" y="0"/>
                </a:moveTo>
                <a:lnTo>
                  <a:pt x="3276000" y="0"/>
                </a:lnTo>
                <a:lnTo>
                  <a:pt x="3276000" y="672000"/>
                </a:lnTo>
                <a:lnTo>
                  <a:pt x="0" y="672000"/>
                </a:lnTo>
                <a:lnTo>
                  <a:pt x="0" y="1512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gon-059"/>
          <p:cNvSpPr/>
          <p:nvPr/>
        </p:nvSpPr>
        <p:spPr>
          <a:xfrm>
            <a:off x="1932000" y="337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-060"/>
          <p:cNvSpPr/>
          <p:nvPr/>
        </p:nvSpPr>
        <p:spPr>
          <a:xfrm>
            <a:off x="5588800" y="1904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外存读 / 写"/>
          <p:cNvSpPr txBox="1"/>
          <p:nvPr/>
        </p:nvSpPr>
        <p:spPr>
          <a:xfrm>
            <a:off x="2688000" y="2358496"/>
            <a:ext cx="788148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外存读 / 写</a:t>
            </a:r>
          </a:p>
        </p:txBody>
      </p:sp>
      <p:sp>
        <p:nvSpPr>
          <p:cNvPr id="63" name="text-062: 实线表示描述符或数据路径，标签区分；图中省略返回 ID 队列与逐通道握手。"/>
          <p:cNvSpPr txBox="1"/>
          <p:nvPr/>
        </p:nvSpPr>
        <p:spPr>
          <a:xfrm>
            <a:off x="252000" y="4698848"/>
            <a:ext cx="47736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实线表示描述符或数据路径，标签区分；图中省略返回 ID 队列与逐通道握手。</a:t>
            </a:r>
          </a:p>
        </p:txBody>
      </p:sp>
      <p:sp>
        <p:nvSpPr>
          <p:cNvPr id="64" name="polyline-063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olygon-064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67" name="polyline-066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olygon-067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70" name="text-069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16B  LLC / SPM：相同 SRAM 的 way 分配与配置提交"/>
          <p:cNvSpPr txBox="1"/>
          <p:nvPr/>
        </p:nvSpPr>
        <p:spPr>
          <a:xfrm>
            <a:off x="224000" y="80864"/>
            <a:ext cx="4406325" cy="286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16B  LLC / SPM：相同 SRAM 的 way 分配与配置提交</a:t>
            </a:r>
          </a:p>
        </p:txBody>
      </p:sp>
      <p:sp>
        <p:nvSpPr>
          <p:cNvPr id="4" name="rect-003"/>
          <p:cNvSpPr/>
          <p:nvPr/>
        </p:nvSpPr>
        <p:spPr>
          <a:xfrm>
            <a:off x="224000" y="980000"/>
            <a:ext cx="2184000" cy="1064000"/>
          </a:xfrm>
          <a:prstGeom prst="rect">
            <a:avLst/>
          </a:prstGeom>
          <a:solidFill>
            <a:srgbClr val="E8F2EA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1  axi_llc_reg_top"/>
          <p:cNvSpPr txBox="1"/>
          <p:nvPr/>
        </p:nvSpPr>
        <p:spPr>
          <a:xfrm>
            <a:off x="736006" y="1053248"/>
            <a:ext cx="1159988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axi_llc_reg_top</a:t>
            </a:r>
          </a:p>
        </p:txBody>
      </p:sp>
      <p:sp>
        <p:nvSpPr>
          <p:cNvPr id="6" name="text-005: CFG_SPM / CFG_FLUSH"/>
          <p:cNvSpPr txBox="1"/>
          <p:nvPr/>
        </p:nvSpPr>
        <p:spPr>
          <a:xfrm>
            <a:off x="605736" y="1244544"/>
            <a:ext cx="142052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CFG_SPM / CFG_FLUSH</a:t>
            </a:r>
          </a:p>
        </p:txBody>
      </p:sp>
      <p:sp>
        <p:nvSpPr>
          <p:cNvPr id="7" name="text-006: COMMIT_CFG / FLUSHED"/>
          <p:cNvSpPr txBox="1"/>
          <p:nvPr/>
        </p:nvSpPr>
        <p:spPr>
          <a:xfrm>
            <a:off x="566335" y="1423744"/>
            <a:ext cx="149933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COMMIT_CFG / FLUSHED</a:t>
            </a:r>
          </a:p>
        </p:txBody>
      </p:sp>
      <p:sp>
        <p:nvSpPr>
          <p:cNvPr id="8" name="text-007: BIST / 容量 / 版本"/>
          <p:cNvSpPr txBox="1"/>
          <p:nvPr/>
        </p:nvSpPr>
        <p:spPr>
          <a:xfrm>
            <a:off x="747040" y="1602944"/>
            <a:ext cx="113792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BIST / 容量 / 版本</a:t>
            </a:r>
          </a:p>
        </p:txBody>
      </p:sp>
      <p:sp>
        <p:nvSpPr>
          <p:cNvPr id="9" name="text-008: 当前控制接口：Regbus"/>
          <p:cNvSpPr txBox="1"/>
          <p:nvPr/>
        </p:nvSpPr>
        <p:spPr>
          <a:xfrm>
            <a:off x="622637" y="1782144"/>
            <a:ext cx="138672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当前控制接口：Regbus</a:t>
            </a:r>
          </a:p>
        </p:txBody>
      </p:sp>
      <p:sp>
        <p:nvSpPr>
          <p:cNvPr id="10" name="rect-009"/>
          <p:cNvSpPr/>
          <p:nvPr/>
        </p:nvSpPr>
        <p:spPr>
          <a:xfrm>
            <a:off x="3304000" y="980000"/>
            <a:ext cx="2408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0: 2  axi_llc_config"/>
          <p:cNvSpPr txBox="1"/>
          <p:nvPr/>
        </p:nvSpPr>
        <p:spPr>
          <a:xfrm>
            <a:off x="3972303" y="1053248"/>
            <a:ext cx="10713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axi_llc_config</a:t>
            </a:r>
          </a:p>
        </p:txBody>
      </p:sp>
      <p:sp>
        <p:nvSpPr>
          <p:cNvPr id="12" name="text-011: 提交新配置 / 停止接收新事务"/>
          <p:cNvSpPr txBox="1"/>
          <p:nvPr/>
        </p:nvSpPr>
        <p:spPr>
          <a:xfrm>
            <a:off x="3638263" y="1244544"/>
            <a:ext cx="17394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提交新配置 / 停止接收新事务</a:t>
            </a:r>
          </a:p>
        </p:txBody>
      </p:sp>
      <p:sp>
        <p:nvSpPr>
          <p:cNvPr id="13" name="text-012: 等待在途工作 / 发 flush 描述符"/>
          <p:cNvSpPr txBox="1"/>
          <p:nvPr/>
        </p:nvSpPr>
        <p:spPr>
          <a:xfrm>
            <a:off x="3592908" y="1423744"/>
            <a:ext cx="1830185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等待在途工作 / 发 flush 描述符</a:t>
            </a:r>
          </a:p>
        </p:txBody>
      </p:sp>
      <p:sp>
        <p:nvSpPr>
          <p:cNvPr id="14" name="text-013: 必要时写回脏行"/>
          <p:cNvSpPr txBox="1"/>
          <p:nvPr/>
        </p:nvSpPr>
        <p:spPr>
          <a:xfrm>
            <a:off x="4015200" y="1602944"/>
            <a:ext cx="9856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15" name="text-014: 更新 spm_lock / flushed"/>
          <p:cNvSpPr txBox="1"/>
          <p:nvPr/>
        </p:nvSpPr>
        <p:spPr>
          <a:xfrm>
            <a:off x="3783001" y="1782144"/>
            <a:ext cx="1449998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更新 spm_lock / flushed</a:t>
            </a:r>
          </a:p>
        </p:txBody>
      </p:sp>
      <p:sp>
        <p:nvSpPr>
          <p:cNvPr id="16" name="polyline-015"/>
          <p:cNvSpPr/>
          <p:nvPr/>
        </p:nvSpPr>
        <p:spPr>
          <a:xfrm>
            <a:off x="2408000" y="1456000"/>
            <a:ext cx="896000" cy="1"/>
          </a:xfrm>
          <a:custGeom>
            <a:avLst/>
            <a:gdLst/>
            <a:ahLst/>
            <a:cxnLst/>
            <a:rect l="0" t="0" r="r" b="b"/>
            <a:pathLst>
              <a:path w="896000" h="1">
                <a:moveTo>
                  <a:pt x="0" y="0"/>
                </a:moveTo>
                <a:lnTo>
                  <a:pt x="8960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236800" y="142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2408000" y="142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0" y="28000"/>
                </a:moveTo>
                <a:lnTo>
                  <a:pt x="67200" y="56000"/>
                </a:lnTo>
                <a:lnTo>
                  <a:pt x="6720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6552000" y="980000"/>
            <a:ext cx="3164000" cy="1064000"/>
          </a:xfrm>
          <a:prstGeom prst="rect">
            <a:avLst/>
          </a:prstGeom>
          <a:solidFill>
            <a:srgbClr val="FFF0DB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3  地址与 way 选择"/>
          <p:cNvSpPr txBox="1"/>
          <p:nvPr/>
        </p:nvSpPr>
        <p:spPr>
          <a:xfrm>
            <a:off x="7501178" y="1053248"/>
            <a:ext cx="126564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地址与 way 选择</a:t>
            </a:r>
          </a:p>
        </p:txBody>
      </p:sp>
      <p:sp>
        <p:nvSpPr>
          <p:cNvPr id="21" name="text-020: cache 地址：tag lookup → cache way"/>
          <p:cNvSpPr txBox="1"/>
          <p:nvPr/>
        </p:nvSpPr>
        <p:spPr>
          <a:xfrm>
            <a:off x="7054565" y="1244544"/>
            <a:ext cx="215887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地址：tag lookup → cache way</a:t>
            </a:r>
          </a:p>
        </p:txBody>
      </p:sp>
      <p:sp>
        <p:nvSpPr>
          <p:cNvPr id="22" name="text-021: SPM 地址：直接选择被锁定的 way"/>
          <p:cNvSpPr txBox="1"/>
          <p:nvPr/>
        </p:nvSpPr>
        <p:spPr>
          <a:xfrm>
            <a:off x="7135104" y="1423744"/>
            <a:ext cx="19977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地址：直接选择被锁定的 way</a:t>
            </a:r>
          </a:p>
        </p:txBody>
      </p:sp>
      <p:sp>
        <p:nvSpPr>
          <p:cNvPr id="23" name="text-022: 未配置为 SPM 的对应 way 不可当 RAM 用"/>
          <p:cNvSpPr txBox="1"/>
          <p:nvPr/>
        </p:nvSpPr>
        <p:spPr>
          <a:xfrm>
            <a:off x="6938155" y="1602944"/>
            <a:ext cx="239169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未配置为 SPM 的对应 way 不可当 RAM 用</a:t>
            </a:r>
          </a:p>
        </p:txBody>
      </p:sp>
      <p:sp>
        <p:nvSpPr>
          <p:cNvPr id="24" name="text-023: SPM 访问不进行外存 refill"/>
          <p:cNvSpPr txBox="1"/>
          <p:nvPr/>
        </p:nvSpPr>
        <p:spPr>
          <a:xfrm>
            <a:off x="7365623" y="1782144"/>
            <a:ext cx="153675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访问不进行外存 refill</a:t>
            </a:r>
          </a:p>
        </p:txBody>
      </p:sp>
      <p:sp>
        <p:nvSpPr>
          <p:cNvPr id="25" name="polyline-024"/>
          <p:cNvSpPr/>
          <p:nvPr/>
        </p:nvSpPr>
        <p:spPr>
          <a:xfrm>
            <a:off x="5712000" y="1456000"/>
            <a:ext cx="840000" cy="1"/>
          </a:xfrm>
          <a:custGeom>
            <a:avLst/>
            <a:gdLst/>
            <a:ahLst/>
            <a:cxnLst/>
            <a:rect l="0" t="0" r="r" b="b"/>
            <a:pathLst>
              <a:path w="840000" h="1">
                <a:moveTo>
                  <a:pt x="0" y="0"/>
                </a:moveTo>
                <a:lnTo>
                  <a:pt x="840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gon-025"/>
          <p:cNvSpPr/>
          <p:nvPr/>
        </p:nvSpPr>
        <p:spPr>
          <a:xfrm>
            <a:off x="6484800" y="1428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416000" y="2884000"/>
            <a:ext cx="6300000" cy="1568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9DAABA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4  同一组数据 SRAM：下图仅为分区示例，不代表当前运行配置"/>
          <p:cNvSpPr txBox="1"/>
          <p:nvPr/>
        </p:nvSpPr>
        <p:spPr>
          <a:xfrm>
            <a:off x="3500000" y="2912896"/>
            <a:ext cx="3750171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4  同一组数据 SRAM：下图仅为分区示例，不代表当前运行配置</a:t>
            </a:r>
          </a:p>
        </p:txBody>
      </p:sp>
      <p:sp>
        <p:nvSpPr>
          <p:cNvPr id="29" name="rect-028"/>
          <p:cNvSpPr/>
          <p:nvPr/>
        </p:nvSpPr>
        <p:spPr>
          <a:xfrm>
            <a:off x="3612000" y="3276000"/>
            <a:ext cx="1344000" cy="868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line-029"/>
          <p:cNvCxnSpPr/>
          <p:nvPr/>
        </p:nvCxnSpPr>
        <p:spPr>
          <a:xfrm>
            <a:off x="3679200" y="3276000"/>
            <a:ext cx="0" cy="868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1" name="text-030: way 0"/>
          <p:cNvSpPr txBox="1"/>
          <p:nvPr/>
        </p:nvSpPr>
        <p:spPr>
          <a:xfrm>
            <a:off x="4047619" y="3430448"/>
            <a:ext cx="4727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32" name="text-031: SPM"/>
          <p:cNvSpPr txBox="1"/>
          <p:nvPr/>
        </p:nvSpPr>
        <p:spPr>
          <a:xfrm>
            <a:off x="4099318" y="3621744"/>
            <a:ext cx="36936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33" name="text-032: 相同 data SRAM"/>
          <p:cNvSpPr txBox="1"/>
          <p:nvPr/>
        </p:nvSpPr>
        <p:spPr>
          <a:xfrm>
            <a:off x="3781754" y="3800944"/>
            <a:ext cx="10044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34" name="rect-033"/>
          <p:cNvSpPr/>
          <p:nvPr/>
        </p:nvSpPr>
        <p:spPr>
          <a:xfrm>
            <a:off x="5096000" y="3276000"/>
            <a:ext cx="1344000" cy="868000"/>
          </a:xfrm>
          <a:prstGeom prst="rect">
            <a:avLst/>
          </a:prstGeom>
          <a:solidFill>
            <a:srgbClr val="F2EE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line-034"/>
          <p:cNvCxnSpPr/>
          <p:nvPr/>
        </p:nvCxnSpPr>
        <p:spPr>
          <a:xfrm>
            <a:off x="5163200" y="3276000"/>
            <a:ext cx="0" cy="868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36" name="text-035: way 1"/>
          <p:cNvSpPr txBox="1"/>
          <p:nvPr/>
        </p:nvSpPr>
        <p:spPr>
          <a:xfrm>
            <a:off x="5531619" y="3430448"/>
            <a:ext cx="4727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7" name="text-036: SPM"/>
          <p:cNvSpPr txBox="1"/>
          <p:nvPr/>
        </p:nvSpPr>
        <p:spPr>
          <a:xfrm>
            <a:off x="5583318" y="3621744"/>
            <a:ext cx="36936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38" name="text-037: 相同 data SRAM"/>
          <p:cNvSpPr txBox="1"/>
          <p:nvPr/>
        </p:nvSpPr>
        <p:spPr>
          <a:xfrm>
            <a:off x="5265754" y="3800944"/>
            <a:ext cx="10044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39" name="rect-038"/>
          <p:cNvSpPr/>
          <p:nvPr/>
        </p:nvSpPr>
        <p:spPr>
          <a:xfrm>
            <a:off x="6580000" y="3276000"/>
            <a:ext cx="1344000" cy="86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line-039"/>
          <p:cNvCxnSpPr/>
          <p:nvPr/>
        </p:nvCxnSpPr>
        <p:spPr>
          <a:xfrm>
            <a:off x="6647200" y="3276000"/>
            <a:ext cx="0" cy="868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41" name="text-040: way 2"/>
          <p:cNvSpPr txBox="1"/>
          <p:nvPr/>
        </p:nvSpPr>
        <p:spPr>
          <a:xfrm>
            <a:off x="7015619" y="3430448"/>
            <a:ext cx="4727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2" name="text-041: Cache"/>
          <p:cNvSpPr txBox="1"/>
          <p:nvPr/>
        </p:nvSpPr>
        <p:spPr>
          <a:xfrm>
            <a:off x="7023104" y="3621744"/>
            <a:ext cx="4577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43" name="text-042: 相同 data SRAM"/>
          <p:cNvSpPr txBox="1"/>
          <p:nvPr/>
        </p:nvSpPr>
        <p:spPr>
          <a:xfrm>
            <a:off x="6749754" y="3800944"/>
            <a:ext cx="10044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4" name="rect-043"/>
          <p:cNvSpPr/>
          <p:nvPr/>
        </p:nvSpPr>
        <p:spPr>
          <a:xfrm>
            <a:off x="8064000" y="3276000"/>
            <a:ext cx="1344000" cy="868000"/>
          </a:xfrm>
          <a:prstGeom prst="rect">
            <a:avLst/>
          </a:prstGeom>
          <a:solidFill>
            <a:srgbClr val="EAF1F8"/>
          </a:solidFill>
          <a:ln w="1120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line-044"/>
          <p:cNvCxnSpPr/>
          <p:nvPr/>
        </p:nvCxnSpPr>
        <p:spPr>
          <a:xfrm>
            <a:off x="8131200" y="3276000"/>
            <a:ext cx="0" cy="868000"/>
          </a:xfrm>
          <a:prstGeom prst="line">
            <a:avLst/>
          </a:prstGeom>
          <a:ln w="8400" cap="flat">
            <a:solidFill>
              <a:srgbClr val="23354B"/>
            </a:solidFill>
          </a:ln>
          <a:effectLst/>
        </p:spPr>
      </p:cxnSp>
      <p:sp>
        <p:nvSpPr>
          <p:cNvPr id="46" name="text-045: way 3"/>
          <p:cNvSpPr txBox="1"/>
          <p:nvPr/>
        </p:nvSpPr>
        <p:spPr>
          <a:xfrm>
            <a:off x="8499619" y="3430448"/>
            <a:ext cx="472762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47" name="text-046: Cache"/>
          <p:cNvSpPr txBox="1"/>
          <p:nvPr/>
        </p:nvSpPr>
        <p:spPr>
          <a:xfrm>
            <a:off x="8507104" y="3621744"/>
            <a:ext cx="4577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48" name="text-047: 相同 data SRAM"/>
          <p:cNvSpPr txBox="1"/>
          <p:nvPr/>
        </p:nvSpPr>
        <p:spPr>
          <a:xfrm>
            <a:off x="8233754" y="3800944"/>
            <a:ext cx="1004491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9" name="polyline-048"/>
          <p:cNvSpPr/>
          <p:nvPr/>
        </p:nvSpPr>
        <p:spPr>
          <a:xfrm>
            <a:off x="7952000" y="2044000"/>
            <a:ext cx="1" cy="840000"/>
          </a:xfrm>
          <a:custGeom>
            <a:avLst/>
            <a:gdLst/>
            <a:ahLst/>
            <a:cxnLst/>
            <a:rect l="0" t="0" r="r" b="b"/>
            <a:pathLst>
              <a:path w="1" h="840000">
                <a:moveTo>
                  <a:pt x="0" y="0"/>
                </a:moveTo>
                <a:lnTo>
                  <a:pt x="0" y="84000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7924000" y="2816800"/>
            <a:ext cx="56000" cy="67200"/>
          </a:xfrm>
          <a:custGeom>
            <a:avLst/>
            <a:gdLst/>
            <a:ahLst/>
            <a:cxnLst/>
            <a:rect l="0" t="0" r="r" b="b"/>
            <a:pathLst>
              <a:path w="56000" h="67200">
                <a:moveTo>
                  <a:pt x="28000" y="67200"/>
                </a:moveTo>
                <a:lnTo>
                  <a:pt x="5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SoC 的 SPM 地址别名"/>
          <p:cNvSpPr txBox="1"/>
          <p:nvPr/>
        </p:nvSpPr>
        <p:spPr>
          <a:xfrm>
            <a:off x="392000" y="3102848"/>
            <a:ext cx="14346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的 SPM 地址别名</a:t>
            </a:r>
          </a:p>
        </p:txBody>
      </p:sp>
      <p:sp>
        <p:nvSpPr>
          <p:cNvPr id="52" name="text-051: AmSpm / AmSpmBaseUncached"/>
          <p:cNvSpPr txBox="1"/>
          <p:nvPr/>
        </p:nvSpPr>
        <p:spPr>
          <a:xfrm>
            <a:off x="392000" y="3394944"/>
            <a:ext cx="1890227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AmSpm / AmSpmBaseUncached</a:t>
            </a:r>
          </a:p>
        </p:txBody>
      </p:sp>
      <p:sp>
        <p:nvSpPr>
          <p:cNvPr id="53" name="text-052: 外层地址重映射到同一存储"/>
          <p:cNvSpPr txBox="1"/>
          <p:nvPr/>
        </p:nvSpPr>
        <p:spPr>
          <a:xfrm>
            <a:off x="392000" y="3668896"/>
            <a:ext cx="1674400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外层地址重映射到同一存储</a:t>
            </a:r>
          </a:p>
        </p:txBody>
      </p:sp>
      <p:sp>
        <p:nvSpPr>
          <p:cNvPr id="54" name="text-053: CPU 缓存属性需另外匹配"/>
          <p:cNvSpPr txBox="1"/>
          <p:nvPr/>
        </p:nvSpPr>
        <p:spPr>
          <a:xfrm>
            <a:off x="392000" y="3948896"/>
            <a:ext cx="1560825" cy="206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缓存属性需另外匹配</a:t>
            </a:r>
          </a:p>
        </p:txBody>
      </p:sp>
      <p:sp>
        <p:nvSpPr>
          <p:cNvPr id="55" name="text-054: LLC/SPM 不是独立 Global Buffer；DDR 旁路 master"/>
          <p:cNvSpPr txBox="1"/>
          <p:nvPr/>
        </p:nvSpPr>
        <p:spPr>
          <a:xfrm>
            <a:off x="252000" y="4698848"/>
            <a:ext cx="5706094" cy="215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LLC/SPM 不是独立 Global Buffer；DDR 旁路 master 也不会自动窥探 CPU / LLC 中的脏数据。</a:t>
            </a:r>
          </a:p>
        </p:txBody>
      </p:sp>
      <p:sp>
        <p:nvSpPr>
          <p:cNvPr id="56" name="polyline-055"/>
          <p:cNvSpPr/>
          <p:nvPr/>
        </p:nvSpPr>
        <p:spPr>
          <a:xfrm>
            <a:off x="235200" y="5264000"/>
            <a:ext cx="425600" cy="1"/>
          </a:xfrm>
          <a:custGeom>
            <a:avLst/>
            <a:gdLst/>
            <a:ahLst/>
            <a:cxnLst/>
            <a:rect l="0" t="0" r="r" b="b"/>
            <a:pathLst>
              <a:path w="425600" h="1">
                <a:moveTo>
                  <a:pt x="0" y="0"/>
                </a:moveTo>
                <a:lnTo>
                  <a:pt x="425600" y="0"/>
                </a:lnTo>
              </a:path>
            </a:pathLst>
          </a:custGeom>
          <a:noFill/>
          <a:ln w="14000" cap="flat">
            <a:solidFill>
              <a:srgbClr val="2869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5936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2869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数据 / 请求；双箭头含返回"/>
          <p:cNvSpPr txBox="1"/>
          <p:nvPr/>
        </p:nvSpPr>
        <p:spPr>
          <a:xfrm>
            <a:off x="728000" y="5164544"/>
            <a:ext cx="1616274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 / 请求；双箭头含返回</a:t>
            </a:r>
          </a:p>
        </p:txBody>
      </p:sp>
      <p:sp>
        <p:nvSpPr>
          <p:cNvPr id="59" name="polyline-058"/>
          <p:cNvSpPr/>
          <p:nvPr/>
        </p:nvSpPr>
        <p:spPr>
          <a:xfrm>
            <a:off x="3220000" y="5264000"/>
            <a:ext cx="448000" cy="1"/>
          </a:xfrm>
          <a:custGeom>
            <a:avLst/>
            <a:gdLst/>
            <a:ahLst/>
            <a:cxnLst/>
            <a:rect l="0" t="0" r="r" b="b"/>
            <a:pathLst>
              <a:path w="448000" h="1">
                <a:moveTo>
                  <a:pt x="0" y="0"/>
                </a:moveTo>
                <a:lnTo>
                  <a:pt x="448000" y="0"/>
                </a:lnTo>
              </a:path>
            </a:pathLst>
          </a:custGeom>
          <a:noFill/>
          <a:ln w="14000" cap="flat">
            <a:solidFill>
              <a:srgbClr val="9C5B25"/>
            </a:solidFill>
            <a:custDash>
              <a:ds d="320000" sp="2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gon-059"/>
          <p:cNvSpPr/>
          <p:nvPr/>
        </p:nvSpPr>
        <p:spPr>
          <a:xfrm>
            <a:off x="3600800" y="5236000"/>
            <a:ext cx="67200" cy="56000"/>
          </a:xfrm>
          <a:custGeom>
            <a:avLst/>
            <a:gdLst/>
            <a:ahLst/>
            <a:cxnLst/>
            <a:rect l="0" t="0" r="r" b="b"/>
            <a:pathLst>
              <a:path w="67200" h="56000">
                <a:moveTo>
                  <a:pt x="67200" y="28000"/>
                </a:moveTo>
                <a:lnTo>
                  <a:pt x="0" y="0"/>
                </a:lnTo>
                <a:lnTo>
                  <a:pt x="0" y="56000"/>
                </a:lnTo>
                <a:close/>
              </a:path>
            </a:pathLst>
          </a:cu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配置 / 控制（标注 IRQ、使能时按标签）"/>
          <p:cNvSpPr txBox="1"/>
          <p:nvPr/>
        </p:nvSpPr>
        <p:spPr>
          <a:xfrm>
            <a:off x="3735200" y="5164544"/>
            <a:ext cx="2335506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控制（标注 IRQ、使能时按标签）</a:t>
            </a:r>
          </a:p>
        </p:txBody>
      </p:sp>
      <p:sp>
        <p:nvSpPr>
          <p:cNvPr id="62" name="text-061: 编号与正文逐块对应"/>
          <p:cNvSpPr txBox="1"/>
          <p:nvPr/>
        </p:nvSpPr>
        <p:spPr>
          <a:xfrm>
            <a:off x="7112000" y="5164544"/>
            <a:ext cx="1232000" cy="197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编号与正文逐块对应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