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60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960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Cheshire SoC 软硬件分层结构"/>
          <p:cNvSpPr txBox="1"/>
          <p:nvPr/>
        </p:nvSpPr>
        <p:spPr>
          <a:xfrm>
            <a:off x="256032" y="98060"/>
            <a:ext cx="4300387" cy="471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18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Cheshire SoC 软硬件分层结构</a:t>
            </a:r>
          </a:p>
        </p:txBody>
      </p:sp>
      <p:sp>
        <p:nvSpPr>
          <p:cNvPr id="4" name="text-003: 以当前裸机工程为主线 · 通用功能、设备控制与指令执行各有明确边界"/>
          <p:cNvSpPr txBox="1"/>
          <p:nvPr/>
        </p:nvSpPr>
        <p:spPr>
          <a:xfrm>
            <a:off x="268834" y="512064"/>
            <a:ext cx="509383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以当前裸机工程为主线 · 通用功能、设备控制与指令执行各有明确边界</a:t>
            </a:r>
          </a:p>
        </p:txBody>
      </p:sp>
      <p:sp>
        <p:nvSpPr>
          <p:cNvPr id="5" name="text-004: 工程结构 / 规划扩展"/>
          <p:cNvSpPr txBox="1"/>
          <p:nvPr/>
        </p:nvSpPr>
        <p:spPr>
          <a:xfrm>
            <a:off x="11134712" y="263969"/>
            <a:ext cx="141085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工程结构 / 规划扩展</a:t>
            </a:r>
          </a:p>
        </p:txBody>
      </p:sp>
      <p:sp>
        <p:nvSpPr>
          <p:cNvPr id="6" name="text-005: mp/ara-pulp-v2 · 278434024"/>
          <p:cNvSpPr txBox="1"/>
          <p:nvPr/>
        </p:nvSpPr>
        <p:spPr>
          <a:xfrm>
            <a:off x="10659012" y="508224"/>
            <a:ext cx="188655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mp/ara-pulp-v2 · 278434024</a:t>
            </a:r>
          </a:p>
        </p:txBody>
      </p:sp>
      <p:sp>
        <p:nvSpPr>
          <p:cNvPr id="7" name="rect-006"/>
          <p:cNvSpPr/>
          <p:nvPr/>
        </p:nvSpPr>
        <p:spPr>
          <a:xfrm>
            <a:off x="256032" y="960120"/>
            <a:ext cx="9601200" cy="896112"/>
          </a:xfrm>
          <a:prstGeom prst="roundRect">
            <a:avLst>
              <a:gd name="adj" fmla="val 8571"/>
            </a:avLst>
          </a:prstGeom>
          <a:solidFill>
            <a:srgbClr val="F0EA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256032" y="960120"/>
            <a:ext cx="51206" cy="896112"/>
          </a:xfrm>
          <a:prstGeom prst="rect">
            <a:avLst/>
          </a:prstGeom>
          <a:solidFill>
            <a:srgbClr val="705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8: 01"/>
          <p:cNvSpPr txBox="1"/>
          <p:nvPr/>
        </p:nvSpPr>
        <p:spPr>
          <a:xfrm>
            <a:off x="435254" y="1064069"/>
            <a:ext cx="305978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70529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-009: 应用软件"/>
          <p:cNvSpPr txBox="1"/>
          <p:nvPr/>
        </p:nvSpPr>
        <p:spPr>
          <a:xfrm>
            <a:off x="435254" y="1284513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应用软件</a:t>
            </a:r>
          </a:p>
        </p:txBody>
      </p:sp>
      <p:sp>
        <p:nvSpPr>
          <p:cNvPr id="11" name="text-010: 表达计算与任务"/>
          <p:cNvSpPr txBox="1"/>
          <p:nvPr/>
        </p:nvSpPr>
        <p:spPr>
          <a:xfrm>
            <a:off x="435254" y="1558467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表达计算与任务</a:t>
            </a:r>
          </a:p>
        </p:txBody>
      </p:sp>
      <p:cxnSp>
        <p:nvCxnSpPr>
          <p:cNvPr id="12" name="line-011"/>
          <p:cNvCxnSpPr/>
          <p:nvPr/>
        </p:nvCxnSpPr>
        <p:spPr>
          <a:xfrm>
            <a:off x="1369771" y="1113739"/>
            <a:ext cx="0" cy="58887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13" name="rect-012"/>
          <p:cNvSpPr/>
          <p:nvPr/>
        </p:nvSpPr>
        <p:spPr>
          <a:xfrm>
            <a:off x="1536192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裸机应用与测试"/>
          <p:cNvSpPr txBox="1"/>
          <p:nvPr/>
        </p:nvSpPr>
        <p:spPr>
          <a:xfrm>
            <a:off x="1830629" y="1183636"/>
            <a:ext cx="1331366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裸机应用与测试</a:t>
            </a:r>
          </a:p>
        </p:txBody>
      </p:sp>
      <p:sp>
        <p:nvSpPr>
          <p:cNvPr id="15" name="text-014: HelloWorld · 结果校验"/>
          <p:cNvSpPr txBox="1"/>
          <p:nvPr/>
        </p:nvSpPr>
        <p:spPr>
          <a:xfrm>
            <a:off x="1739787" y="1429427"/>
            <a:ext cx="1513049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HelloWorld · 结果校验</a:t>
            </a:r>
          </a:p>
        </p:txBody>
      </p:sp>
      <p:sp>
        <p:nvSpPr>
          <p:cNvPr id="16" name="rect-015"/>
          <p:cNvSpPr/>
          <p:nvPr/>
        </p:nvSpPr>
        <p:spPr>
          <a:xfrm>
            <a:off x="3571646" y="1126541"/>
            <a:ext cx="1920240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向量算法"/>
          <p:cNvSpPr txBox="1"/>
          <p:nvPr/>
        </p:nvSpPr>
        <p:spPr>
          <a:xfrm>
            <a:off x="4115714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向量算法</a:t>
            </a:r>
          </a:p>
        </p:txBody>
      </p:sp>
      <p:sp>
        <p:nvSpPr>
          <p:cNvPr id="18" name="text-017: RVV · 矩阵计算"/>
          <p:cNvSpPr txBox="1"/>
          <p:nvPr/>
        </p:nvSpPr>
        <p:spPr>
          <a:xfrm>
            <a:off x="4004996" y="1429427"/>
            <a:ext cx="105354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· 矩阵计算</a:t>
            </a:r>
          </a:p>
        </p:txBody>
      </p:sp>
      <p:sp>
        <p:nvSpPr>
          <p:cNvPr id="19" name="rect-018"/>
          <p:cNvSpPr/>
          <p:nvPr/>
        </p:nvSpPr>
        <p:spPr>
          <a:xfrm>
            <a:off x="5607101" y="1126541"/>
            <a:ext cx="1933042" cy="56327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系统工具"/>
          <p:cNvSpPr txBox="1"/>
          <p:nvPr/>
        </p:nvSpPr>
        <p:spPr>
          <a:xfrm>
            <a:off x="6157570" y="1183636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系统工具</a:t>
            </a:r>
          </a:p>
        </p:txBody>
      </p:sp>
      <p:sp>
        <p:nvSpPr>
          <p:cNvPr id="21" name="text-020: 介质烧写 · 下载执行"/>
          <p:cNvSpPr txBox="1"/>
          <p:nvPr/>
        </p:nvSpPr>
        <p:spPr>
          <a:xfrm>
            <a:off x="5912794" y="1429427"/>
            <a:ext cx="132165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介质烧写 · 下载执行</a:t>
            </a:r>
          </a:p>
        </p:txBody>
      </p:sp>
      <p:sp>
        <p:nvSpPr>
          <p:cNvPr id="22" name="rect-021"/>
          <p:cNvSpPr/>
          <p:nvPr/>
        </p:nvSpPr>
        <p:spPr>
          <a:xfrm>
            <a:off x="7655357" y="1126541"/>
            <a:ext cx="2048256" cy="563270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line-022"/>
          <p:cNvCxnSpPr/>
          <p:nvPr/>
        </p:nvCxnSpPr>
        <p:spPr>
          <a:xfrm>
            <a:off x="7655357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4" name="line-023"/>
          <p:cNvCxnSpPr/>
          <p:nvPr/>
        </p:nvCxnSpPr>
        <p:spPr>
          <a:xfrm>
            <a:off x="7783373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" name="line-024"/>
          <p:cNvCxnSpPr/>
          <p:nvPr/>
        </p:nvCxnSpPr>
        <p:spPr>
          <a:xfrm>
            <a:off x="7911389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" name="line-025"/>
          <p:cNvCxnSpPr/>
          <p:nvPr/>
        </p:nvCxnSpPr>
        <p:spPr>
          <a:xfrm>
            <a:off x="8039405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" name="line-026"/>
          <p:cNvCxnSpPr/>
          <p:nvPr/>
        </p:nvCxnSpPr>
        <p:spPr>
          <a:xfrm>
            <a:off x="8167421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8" name="line-027"/>
          <p:cNvCxnSpPr/>
          <p:nvPr/>
        </p:nvCxnSpPr>
        <p:spPr>
          <a:xfrm>
            <a:off x="8295437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9" name="line-028"/>
          <p:cNvCxnSpPr/>
          <p:nvPr/>
        </p:nvCxnSpPr>
        <p:spPr>
          <a:xfrm>
            <a:off x="8423453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0" name="line-029"/>
          <p:cNvCxnSpPr/>
          <p:nvPr/>
        </p:nvCxnSpPr>
        <p:spPr>
          <a:xfrm>
            <a:off x="8551469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1" name="line-030"/>
          <p:cNvCxnSpPr/>
          <p:nvPr/>
        </p:nvCxnSpPr>
        <p:spPr>
          <a:xfrm>
            <a:off x="8679485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" name="line-031"/>
          <p:cNvCxnSpPr/>
          <p:nvPr/>
        </p:nvCxnSpPr>
        <p:spPr>
          <a:xfrm>
            <a:off x="8807501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3" name="line-032"/>
          <p:cNvCxnSpPr/>
          <p:nvPr/>
        </p:nvCxnSpPr>
        <p:spPr>
          <a:xfrm>
            <a:off x="8935517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9063533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9191549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9319565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7" name="line-036"/>
          <p:cNvCxnSpPr/>
          <p:nvPr/>
        </p:nvCxnSpPr>
        <p:spPr>
          <a:xfrm>
            <a:off x="9447581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8" name="line-037"/>
          <p:cNvCxnSpPr/>
          <p:nvPr/>
        </p:nvCxnSpPr>
        <p:spPr>
          <a:xfrm>
            <a:off x="9575597" y="112654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9" name="line-038"/>
          <p:cNvCxnSpPr/>
          <p:nvPr/>
        </p:nvCxnSpPr>
        <p:spPr>
          <a:xfrm>
            <a:off x="7655357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0" name="line-039"/>
          <p:cNvCxnSpPr/>
          <p:nvPr/>
        </p:nvCxnSpPr>
        <p:spPr>
          <a:xfrm>
            <a:off x="7783373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7911389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8039405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8167421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4" name="line-043"/>
          <p:cNvCxnSpPr/>
          <p:nvPr/>
        </p:nvCxnSpPr>
        <p:spPr>
          <a:xfrm>
            <a:off x="8295437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5" name="line-044"/>
          <p:cNvCxnSpPr/>
          <p:nvPr/>
        </p:nvCxnSpPr>
        <p:spPr>
          <a:xfrm>
            <a:off x="8423453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6" name="line-045"/>
          <p:cNvCxnSpPr/>
          <p:nvPr/>
        </p:nvCxnSpPr>
        <p:spPr>
          <a:xfrm>
            <a:off x="8551469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7" name="line-046"/>
          <p:cNvCxnSpPr/>
          <p:nvPr/>
        </p:nvCxnSpPr>
        <p:spPr>
          <a:xfrm>
            <a:off x="8679485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8" name="line-047"/>
          <p:cNvCxnSpPr/>
          <p:nvPr/>
        </p:nvCxnSpPr>
        <p:spPr>
          <a:xfrm>
            <a:off x="8807501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49" name="line-048"/>
          <p:cNvCxnSpPr/>
          <p:nvPr/>
        </p:nvCxnSpPr>
        <p:spPr>
          <a:xfrm>
            <a:off x="8935517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0" name="line-049"/>
          <p:cNvCxnSpPr/>
          <p:nvPr/>
        </p:nvCxnSpPr>
        <p:spPr>
          <a:xfrm>
            <a:off x="9063533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1" name="line-050"/>
          <p:cNvCxnSpPr/>
          <p:nvPr/>
        </p:nvCxnSpPr>
        <p:spPr>
          <a:xfrm>
            <a:off x="9191549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2" name="line-051"/>
          <p:cNvCxnSpPr/>
          <p:nvPr/>
        </p:nvCxnSpPr>
        <p:spPr>
          <a:xfrm>
            <a:off x="9319565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3" name="line-052"/>
          <p:cNvCxnSpPr/>
          <p:nvPr/>
        </p:nvCxnSpPr>
        <p:spPr>
          <a:xfrm>
            <a:off x="9447581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4" name="line-053"/>
          <p:cNvCxnSpPr/>
          <p:nvPr/>
        </p:nvCxnSpPr>
        <p:spPr>
          <a:xfrm>
            <a:off x="9575597" y="1689811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5" name="line-054"/>
          <p:cNvCxnSpPr/>
          <p:nvPr/>
        </p:nvCxnSpPr>
        <p:spPr>
          <a:xfrm>
            <a:off x="7655357" y="1126541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6" name="line-055"/>
          <p:cNvCxnSpPr/>
          <p:nvPr/>
        </p:nvCxnSpPr>
        <p:spPr>
          <a:xfrm>
            <a:off x="7655357" y="1254557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7" name="line-056"/>
          <p:cNvCxnSpPr/>
          <p:nvPr/>
        </p:nvCxnSpPr>
        <p:spPr>
          <a:xfrm>
            <a:off x="7655357" y="1382573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8" name="line-057"/>
          <p:cNvCxnSpPr/>
          <p:nvPr/>
        </p:nvCxnSpPr>
        <p:spPr>
          <a:xfrm>
            <a:off x="7655357" y="1510589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59" name="line-058"/>
          <p:cNvCxnSpPr/>
          <p:nvPr/>
        </p:nvCxnSpPr>
        <p:spPr>
          <a:xfrm>
            <a:off x="7655357" y="1638605"/>
            <a:ext cx="0" cy="51206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0" name="line-059"/>
          <p:cNvCxnSpPr/>
          <p:nvPr/>
        </p:nvCxnSpPr>
        <p:spPr>
          <a:xfrm>
            <a:off x="9703613" y="1126541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1" name="line-060"/>
          <p:cNvCxnSpPr/>
          <p:nvPr/>
        </p:nvCxnSpPr>
        <p:spPr>
          <a:xfrm>
            <a:off x="9703613" y="1254557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2" name="line-061"/>
          <p:cNvCxnSpPr/>
          <p:nvPr/>
        </p:nvCxnSpPr>
        <p:spPr>
          <a:xfrm>
            <a:off x="9703613" y="1382573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3" name="line-062"/>
          <p:cNvCxnSpPr/>
          <p:nvPr/>
        </p:nvCxnSpPr>
        <p:spPr>
          <a:xfrm>
            <a:off x="9703613" y="1510589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64" name="line-063"/>
          <p:cNvCxnSpPr/>
          <p:nvPr/>
        </p:nvCxnSpPr>
        <p:spPr>
          <a:xfrm>
            <a:off x="9703613" y="1638605"/>
            <a:ext cx="0" cy="51206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sp>
        <p:nvSpPr>
          <p:cNvPr id="65" name="text-064: 图像处理与推理"/>
          <p:cNvSpPr txBox="1"/>
          <p:nvPr/>
        </p:nvSpPr>
        <p:spPr>
          <a:xfrm>
            <a:off x="8039405" y="1190549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图像处理与推理</a:t>
            </a:r>
          </a:p>
        </p:txBody>
      </p:sp>
      <p:sp>
        <p:nvSpPr>
          <p:cNvPr id="66" name="text-065: ISP / NPU 工作负载〔规划〕"/>
          <p:cNvSpPr txBox="1"/>
          <p:nvPr/>
        </p:nvSpPr>
        <p:spPr>
          <a:xfrm>
            <a:off x="7740627" y="1429427"/>
            <a:ext cx="187771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ISP / NPU 工作负载〔规划〕</a:t>
            </a:r>
          </a:p>
        </p:txBody>
      </p:sp>
      <p:sp>
        <p:nvSpPr>
          <p:cNvPr id="67" name="rect-066"/>
          <p:cNvSpPr/>
          <p:nvPr/>
        </p:nvSpPr>
        <p:spPr>
          <a:xfrm>
            <a:off x="256032" y="1984248"/>
            <a:ext cx="9601200" cy="2944368"/>
          </a:xfrm>
          <a:prstGeom prst="roundRect">
            <a:avLst>
              <a:gd name="adj" fmla="val 2608"/>
            </a:avLst>
          </a:prstGeom>
          <a:solidFill>
            <a:srgbClr val="EAF3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-067"/>
          <p:cNvSpPr/>
          <p:nvPr/>
        </p:nvSpPr>
        <p:spPr>
          <a:xfrm>
            <a:off x="256032" y="1984248"/>
            <a:ext cx="51206" cy="2944368"/>
          </a:xfrm>
          <a:prstGeom prst="rect">
            <a:avLst/>
          </a:pr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02"/>
          <p:cNvSpPr txBox="1"/>
          <p:nvPr/>
        </p:nvSpPr>
        <p:spPr>
          <a:xfrm>
            <a:off x="435254" y="2088197"/>
            <a:ext cx="305978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0" name="text-069: 基础软件"/>
          <p:cNvSpPr txBox="1"/>
          <p:nvPr/>
        </p:nvSpPr>
        <p:spPr>
          <a:xfrm>
            <a:off x="435254" y="2308641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基础软件</a:t>
            </a:r>
          </a:p>
        </p:txBody>
      </p:sp>
      <p:sp>
        <p:nvSpPr>
          <p:cNvPr id="71" name="text-070: 功能与设备控制"/>
          <p:cNvSpPr txBox="1"/>
          <p:nvPr/>
        </p:nvSpPr>
        <p:spPr>
          <a:xfrm>
            <a:off x="435254" y="2582595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功能与设备控制</a:t>
            </a:r>
          </a:p>
        </p:txBody>
      </p:sp>
      <p:cxnSp>
        <p:nvCxnSpPr>
          <p:cNvPr id="72" name="line-071"/>
          <p:cNvCxnSpPr/>
          <p:nvPr/>
        </p:nvCxnSpPr>
        <p:spPr>
          <a:xfrm>
            <a:off x="1369771" y="2137867"/>
            <a:ext cx="0" cy="2637130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73" name="text-072: 通用功能与器件协议"/>
          <p:cNvSpPr txBox="1"/>
          <p:nvPr/>
        </p:nvSpPr>
        <p:spPr>
          <a:xfrm>
            <a:off x="1536192" y="2049792"/>
            <a:ext cx="140817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通用功能与器件协议</a:t>
            </a:r>
          </a:p>
        </p:txBody>
      </p:sp>
      <p:sp>
        <p:nvSpPr>
          <p:cNvPr id="74" name="text-073: 应用可直接调用所需接口"/>
          <p:cNvSpPr txBox="1"/>
          <p:nvPr/>
        </p:nvSpPr>
        <p:spPr>
          <a:xfrm>
            <a:off x="8167421" y="2063618"/>
            <a:ext cx="15361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应用可直接调用所需接口</a:t>
            </a:r>
          </a:p>
        </p:txBody>
      </p:sp>
      <p:sp>
        <p:nvSpPr>
          <p:cNvPr id="75" name="rect-074"/>
          <p:cNvSpPr/>
          <p:nvPr/>
        </p:nvSpPr>
        <p:spPr>
          <a:xfrm>
            <a:off x="1536192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5: printf"/>
          <p:cNvSpPr txBox="1"/>
          <p:nvPr/>
        </p:nvSpPr>
        <p:spPr>
          <a:xfrm>
            <a:off x="2079700" y="2367784"/>
            <a:ext cx="60279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77" name="text-076: 格式化文本 → _putchar"/>
          <p:cNvSpPr txBox="1"/>
          <p:nvPr/>
        </p:nvSpPr>
        <p:spPr>
          <a:xfrm>
            <a:off x="1594414" y="2613575"/>
            <a:ext cx="1573367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格式化文本 → _putchar</a:t>
            </a:r>
          </a:p>
        </p:txBody>
      </p:sp>
      <p:sp>
        <p:nvSpPr>
          <p:cNvPr id="78" name="rect-077"/>
          <p:cNvSpPr/>
          <p:nvPr/>
        </p:nvSpPr>
        <p:spPr>
          <a:xfrm>
            <a:off x="3405226" y="2310689"/>
            <a:ext cx="168981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8: GPT 解析"/>
          <p:cNvSpPr txBox="1"/>
          <p:nvPr/>
        </p:nvSpPr>
        <p:spPr>
          <a:xfrm>
            <a:off x="3815387" y="2367784"/>
            <a:ext cx="869489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GPT 解析</a:t>
            </a:r>
          </a:p>
        </p:txBody>
      </p:sp>
      <p:sp>
        <p:nvSpPr>
          <p:cNvPr id="80" name="text-079: read 回调访问介质"/>
          <p:cNvSpPr txBox="1"/>
          <p:nvPr/>
        </p:nvSpPr>
        <p:spPr>
          <a:xfrm>
            <a:off x="3616797" y="2613575"/>
            <a:ext cx="126666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回调访问介质</a:t>
            </a:r>
          </a:p>
        </p:txBody>
      </p:sp>
      <p:sp>
        <p:nvSpPr>
          <p:cNvPr id="81" name="rect-080"/>
          <p:cNvSpPr/>
          <p:nvPr/>
        </p:nvSpPr>
        <p:spPr>
          <a:xfrm>
            <a:off x="5274259" y="2310689"/>
            <a:ext cx="2406701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1: 存储器件 HAL"/>
          <p:cNvSpPr txBox="1"/>
          <p:nvPr/>
        </p:nvSpPr>
        <p:spPr>
          <a:xfrm>
            <a:off x="5894647" y="2374697"/>
            <a:ext cx="116592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存储器件 HAL</a:t>
            </a:r>
          </a:p>
        </p:txBody>
      </p:sp>
      <p:sp>
        <p:nvSpPr>
          <p:cNvPr id="83" name="text-082: SPI Flash · SD · I²C EEPROM"/>
          <p:cNvSpPr txBox="1"/>
          <p:nvPr/>
        </p:nvSpPr>
        <p:spPr>
          <a:xfrm>
            <a:off x="5535597" y="2613575"/>
            <a:ext cx="188402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SPI Flash · SD · I²C EEPROM</a:t>
            </a:r>
          </a:p>
        </p:txBody>
      </p:sp>
      <p:sp>
        <p:nvSpPr>
          <p:cNvPr id="84" name="rect-083"/>
          <p:cNvSpPr/>
          <p:nvPr/>
        </p:nvSpPr>
        <p:spPr>
          <a:xfrm>
            <a:off x="7860182" y="2310689"/>
            <a:ext cx="184343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UART debug HAL"/>
          <p:cNvSpPr txBox="1"/>
          <p:nvPr/>
        </p:nvSpPr>
        <p:spPr>
          <a:xfrm>
            <a:off x="8066743" y="2381610"/>
            <a:ext cx="1430309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86" name="text-085: READ / WRITE / EXEC"/>
          <p:cNvSpPr txBox="1"/>
          <p:nvPr/>
        </p:nvSpPr>
        <p:spPr>
          <a:xfrm>
            <a:off x="8028038" y="2613575"/>
            <a:ext cx="150771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READ / WRITE / EXEC</a:t>
            </a:r>
          </a:p>
        </p:txBody>
      </p:sp>
      <p:cxnSp>
        <p:nvCxnSpPr>
          <p:cNvPr id="87" name="line-086"/>
          <p:cNvCxnSpPr/>
          <p:nvPr/>
        </p:nvCxnSpPr>
        <p:spPr>
          <a:xfrm>
            <a:off x="5107838" y="2598725"/>
            <a:ext cx="140818" cy="0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88" name="polygon-087"/>
          <p:cNvSpPr/>
          <p:nvPr/>
        </p:nvSpPr>
        <p:spPr>
          <a:xfrm>
            <a:off x="5191049" y="2573122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57607" y="25603"/>
                </a:moveTo>
                <a:lnTo>
                  <a:pt x="0" y="51206"/>
                </a:lnTo>
                <a:lnTo>
                  <a:pt x="0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line-088"/>
          <p:cNvCxnSpPr/>
          <p:nvPr/>
        </p:nvCxnSpPr>
        <p:spPr>
          <a:xfrm>
            <a:off x="2381098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90" name="polygon-089"/>
          <p:cNvSpPr/>
          <p:nvPr/>
        </p:nvSpPr>
        <p:spPr>
          <a:xfrm>
            <a:off x="2355494" y="3206801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1" name="line-090"/>
          <p:cNvCxnSpPr/>
          <p:nvPr/>
        </p:nvCxnSpPr>
        <p:spPr>
          <a:xfrm>
            <a:off x="6477610" y="2931566"/>
            <a:ext cx="0" cy="332842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92" name="polygon-091"/>
          <p:cNvSpPr/>
          <p:nvPr/>
        </p:nvSpPr>
        <p:spPr>
          <a:xfrm>
            <a:off x="6452006" y="3206801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2: 代表性函数调用"/>
          <p:cNvSpPr txBox="1"/>
          <p:nvPr/>
        </p:nvSpPr>
        <p:spPr>
          <a:xfrm>
            <a:off x="3648456" y="3024250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代表性函数调用</a:t>
            </a:r>
          </a:p>
        </p:txBody>
      </p:sp>
      <p:sp>
        <p:nvSpPr>
          <p:cNvPr id="94" name="rect-093"/>
          <p:cNvSpPr/>
          <p:nvPr/>
        </p:nvSpPr>
        <p:spPr>
          <a:xfrm>
            <a:off x="1536192" y="3290011"/>
            <a:ext cx="1689811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4: UART DIF"/>
          <p:cNvSpPr txBox="1"/>
          <p:nvPr/>
        </p:nvSpPr>
        <p:spPr>
          <a:xfrm>
            <a:off x="1922625" y="3347106"/>
            <a:ext cx="91694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96" name="text-095: 初始化 · FIFO 字节收发"/>
          <p:cNvSpPr txBox="1"/>
          <p:nvPr/>
        </p:nvSpPr>
        <p:spPr>
          <a:xfrm>
            <a:off x="1621653" y="3592897"/>
            <a:ext cx="151889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初始化 · FIFO 字节收发</a:t>
            </a:r>
          </a:p>
        </p:txBody>
      </p:sp>
      <p:sp>
        <p:nvSpPr>
          <p:cNvPr id="97" name="rect-096"/>
          <p:cNvSpPr/>
          <p:nvPr/>
        </p:nvSpPr>
        <p:spPr>
          <a:xfrm>
            <a:off x="3405226" y="3290011"/>
            <a:ext cx="4275734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7: SPI / I²C / GPIO DIF"/>
          <p:cNvSpPr txBox="1"/>
          <p:nvPr/>
        </p:nvSpPr>
        <p:spPr>
          <a:xfrm>
            <a:off x="4691726" y="3347106"/>
            <a:ext cx="1702733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SPI / I²C / GPIO DIF</a:t>
            </a:r>
          </a:p>
        </p:txBody>
      </p:sp>
      <p:sp>
        <p:nvSpPr>
          <p:cNvPr id="99" name="text-098: 控制器配置 · 传输段 · 状态与寄存器操作"/>
          <p:cNvSpPr txBox="1"/>
          <p:nvPr/>
        </p:nvSpPr>
        <p:spPr>
          <a:xfrm>
            <a:off x="4288646" y="3592897"/>
            <a:ext cx="2508894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控制器配置 · 传输段 · 状态与寄存器操作</a:t>
            </a:r>
          </a:p>
        </p:txBody>
      </p:sp>
      <p:sp>
        <p:nvSpPr>
          <p:cNvPr id="100" name="rect-099"/>
          <p:cNvSpPr/>
          <p:nvPr/>
        </p:nvSpPr>
        <p:spPr>
          <a:xfrm>
            <a:off x="7860182" y="3290011"/>
            <a:ext cx="184343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0: CLINT / DMA 接口"/>
          <p:cNvSpPr txBox="1"/>
          <p:nvPr/>
        </p:nvSpPr>
        <p:spPr>
          <a:xfrm>
            <a:off x="8043005" y="3360932"/>
            <a:ext cx="1477785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CLINT / DMA 接口</a:t>
            </a:r>
          </a:p>
        </p:txBody>
      </p:sp>
      <p:sp>
        <p:nvSpPr>
          <p:cNvPr id="102" name="text-101: 计时 · 配置与提交"/>
          <p:cNvSpPr txBox="1"/>
          <p:nvPr/>
        </p:nvSpPr>
        <p:spPr>
          <a:xfrm>
            <a:off x="8188278" y="3592897"/>
            <a:ext cx="118723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计时 · 配置与提交</a:t>
            </a:r>
          </a:p>
        </p:txBody>
      </p:sp>
      <p:cxnSp>
        <p:nvCxnSpPr>
          <p:cNvPr id="103" name="line-102"/>
          <p:cNvCxnSpPr/>
          <p:nvPr/>
        </p:nvCxnSpPr>
        <p:spPr>
          <a:xfrm>
            <a:off x="23810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104" name="polygon-103"/>
          <p:cNvSpPr/>
          <p:nvPr/>
        </p:nvSpPr>
        <p:spPr>
          <a:xfrm>
            <a:off x="2355494" y="4051706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line-104"/>
          <p:cNvCxnSpPr/>
          <p:nvPr/>
        </p:nvCxnSpPr>
        <p:spPr>
          <a:xfrm>
            <a:off x="6477610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106" name="polygon-105"/>
          <p:cNvSpPr/>
          <p:nvPr/>
        </p:nvSpPr>
        <p:spPr>
          <a:xfrm>
            <a:off x="6452006" y="4051706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" name="line-106"/>
          <p:cNvCxnSpPr/>
          <p:nvPr/>
        </p:nvCxnSpPr>
        <p:spPr>
          <a:xfrm>
            <a:off x="8781898" y="3878885"/>
            <a:ext cx="0" cy="230429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108" name="polygon-107"/>
          <p:cNvSpPr/>
          <p:nvPr/>
        </p:nvSpPr>
        <p:spPr>
          <a:xfrm>
            <a:off x="8756294" y="4051706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-108"/>
          <p:cNvSpPr/>
          <p:nvPr/>
        </p:nvSpPr>
        <p:spPr>
          <a:xfrm>
            <a:off x="1536192" y="4134917"/>
            <a:ext cx="8167421" cy="486461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601" cap="flat">
            <a:solidFill>
              <a:srgbClr val="A9C3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-109: MMIO 访问工具"/>
          <p:cNvSpPr txBox="1"/>
          <p:nvPr/>
        </p:nvSpPr>
        <p:spPr>
          <a:xfrm>
            <a:off x="1664208" y="4160520"/>
            <a:ext cx="133758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MMIO 访问工具</a:t>
            </a:r>
          </a:p>
        </p:txBody>
      </p:sp>
      <p:sp>
        <p:nvSpPr>
          <p:cNvPr id="111" name="text-110: reg8 / reg32 · mmio_region_read / write"/>
          <p:cNvSpPr txBox="1"/>
          <p:nvPr/>
        </p:nvSpPr>
        <p:spPr>
          <a:xfrm>
            <a:off x="3296412" y="4174346"/>
            <a:ext cx="2950469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0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reg8 / reg32 · mmio_region_read / write</a:t>
            </a:r>
          </a:p>
        </p:txBody>
      </p:sp>
      <p:sp>
        <p:nvSpPr>
          <p:cNvPr id="112" name="text-111: 基址 + 寄存器偏移 + 访问位宽；regs 头文件提供偏移和位字段"/>
          <p:cNvSpPr txBox="1"/>
          <p:nvPr/>
        </p:nvSpPr>
        <p:spPr>
          <a:xfrm>
            <a:off x="1664208" y="4373283"/>
            <a:ext cx="4083770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基址 + 寄存器偏移 + 访问位宽；regs 头文件提供偏移和位字段</a:t>
            </a:r>
          </a:p>
        </p:txBody>
      </p:sp>
      <p:sp>
        <p:nvSpPr>
          <p:cNvPr id="113" name="text-112: 其他专用库：LLC · AXI RT     |     libcheshire"/>
          <p:cNvSpPr txBox="1"/>
          <p:nvPr/>
        </p:nvSpPr>
        <p:spPr>
          <a:xfrm>
            <a:off x="1536192" y="4667719"/>
            <a:ext cx="5039380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其他专用库：LLC · AXI RT     |     libcheshire.a：代码归档方式，涵盖多个职责</a:t>
            </a:r>
          </a:p>
        </p:txBody>
      </p:sp>
      <p:sp>
        <p:nvSpPr>
          <p:cNvPr id="114" name="rect-113"/>
          <p:cNvSpPr/>
          <p:nvPr/>
        </p:nvSpPr>
        <p:spPr>
          <a:xfrm>
            <a:off x="256032" y="5056632"/>
            <a:ext cx="9601200" cy="96012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-114"/>
          <p:cNvSpPr/>
          <p:nvPr/>
        </p:nvSpPr>
        <p:spPr>
          <a:xfrm>
            <a:off x="256032" y="5056632"/>
            <a:ext cx="51206" cy="960120"/>
          </a:xfrm>
          <a:prstGeom prst="rect">
            <a:avLst/>
          </a:prstGeom>
          <a:solidFill>
            <a:srgbClr val="217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5: 接口"/>
          <p:cNvSpPr txBox="1"/>
          <p:nvPr/>
        </p:nvSpPr>
        <p:spPr>
          <a:xfrm>
            <a:off x="435254" y="5160581"/>
            <a:ext cx="422453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17" name="text-116: 接口边界"/>
          <p:cNvSpPr txBox="1"/>
          <p:nvPr/>
        </p:nvSpPr>
        <p:spPr>
          <a:xfrm>
            <a:off x="435254" y="5381025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</a:p>
        </p:txBody>
      </p:sp>
      <p:sp>
        <p:nvSpPr>
          <p:cNvPr id="118" name="text-117: 软件可见的契约"/>
          <p:cNvSpPr txBox="1"/>
          <p:nvPr/>
        </p:nvSpPr>
        <p:spPr>
          <a:xfrm>
            <a:off x="435254" y="5654979"/>
            <a:ext cx="97292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软件可见的契约</a:t>
            </a:r>
          </a:p>
        </p:txBody>
      </p:sp>
      <p:cxnSp>
        <p:nvCxnSpPr>
          <p:cNvPr id="119" name="line-118"/>
          <p:cNvCxnSpPr/>
          <p:nvPr/>
        </p:nvCxnSpPr>
        <p:spPr>
          <a:xfrm>
            <a:off x="1369771" y="5210251"/>
            <a:ext cx="0" cy="652882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120" name="rect-119"/>
          <p:cNvSpPr/>
          <p:nvPr/>
        </p:nvSpPr>
        <p:spPr>
          <a:xfrm>
            <a:off x="1536192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-120: 指令执行"/>
          <p:cNvSpPr txBox="1"/>
          <p:nvPr/>
        </p:nvSpPr>
        <p:spPr>
          <a:xfrm>
            <a:off x="2080260" y="5292950"/>
            <a:ext cx="83210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122" name="text-121: 标量指令 · RVV"/>
          <p:cNvSpPr txBox="1"/>
          <p:nvPr/>
        </p:nvSpPr>
        <p:spPr>
          <a:xfrm>
            <a:off x="1969541" y="5538740"/>
            <a:ext cx="105354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标量指令 · RVV</a:t>
            </a:r>
          </a:p>
        </p:txBody>
      </p:sp>
      <p:sp>
        <p:nvSpPr>
          <p:cNvPr id="123" name="rect-122"/>
          <p:cNvSpPr/>
          <p:nvPr/>
        </p:nvSpPr>
        <p:spPr>
          <a:xfrm>
            <a:off x="3571646" y="5235854"/>
            <a:ext cx="1920240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-123: CSR 与特权状态"/>
          <p:cNvSpPr txBox="1"/>
          <p:nvPr/>
        </p:nvSpPr>
        <p:spPr>
          <a:xfrm>
            <a:off x="3849871" y="5292950"/>
            <a:ext cx="1363790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CSR 与特权状态</a:t>
            </a:r>
          </a:p>
        </p:txBody>
      </p:sp>
      <p:sp>
        <p:nvSpPr>
          <p:cNvPr id="125" name="text-124: 处理器配置与控制"/>
          <p:cNvSpPr txBox="1"/>
          <p:nvPr/>
        </p:nvSpPr>
        <p:spPr>
          <a:xfrm>
            <a:off x="3926891" y="5538740"/>
            <a:ext cx="1209751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处理器配置与控制</a:t>
            </a:r>
          </a:p>
        </p:txBody>
      </p:sp>
      <p:sp>
        <p:nvSpPr>
          <p:cNvPr id="126" name="rect-125"/>
          <p:cNvSpPr/>
          <p:nvPr/>
        </p:nvSpPr>
        <p:spPr>
          <a:xfrm>
            <a:off x="5607101" y="5235854"/>
            <a:ext cx="1933042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6: 内存与 MMIO"/>
          <p:cNvSpPr txBox="1"/>
          <p:nvPr/>
        </p:nvSpPr>
        <p:spPr>
          <a:xfrm>
            <a:off x="5984838" y="5299862"/>
            <a:ext cx="117756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内存与 MMIO</a:t>
            </a:r>
          </a:p>
        </p:txBody>
      </p:sp>
      <p:sp>
        <p:nvSpPr>
          <p:cNvPr id="128" name="text-127: 地址 · 属性 · 寄存器语义"/>
          <p:cNvSpPr txBox="1"/>
          <p:nvPr/>
        </p:nvSpPr>
        <p:spPr>
          <a:xfrm>
            <a:off x="5789634" y="5538740"/>
            <a:ext cx="1567976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地址 · 属性 · 寄存器语义</a:t>
            </a:r>
          </a:p>
        </p:txBody>
      </p:sp>
      <p:sp>
        <p:nvSpPr>
          <p:cNvPr id="129" name="rect-128"/>
          <p:cNvSpPr/>
          <p:nvPr/>
        </p:nvSpPr>
        <p:spPr>
          <a:xfrm>
            <a:off x="7655357" y="5235854"/>
            <a:ext cx="2048256" cy="601675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29: 异常与中断"/>
          <p:cNvSpPr txBox="1"/>
          <p:nvPr/>
        </p:nvSpPr>
        <p:spPr>
          <a:xfrm>
            <a:off x="8180222" y="5292950"/>
            <a:ext cx="99852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21756C"/>
                </a:solidFill>
                <a:latin typeface="Microsoft YaHei"/>
                <a:ea typeface="Microsoft YaHei"/>
                <a:cs typeface="Microsoft YaHei"/>
              </a:rPr>
              <a:t>异常与中断</a:t>
            </a:r>
          </a:p>
        </p:txBody>
      </p:sp>
      <p:sp>
        <p:nvSpPr>
          <p:cNvPr id="131" name="text-130: 事件入口 · 处理与返回"/>
          <p:cNvSpPr txBox="1"/>
          <p:nvPr/>
        </p:nvSpPr>
        <p:spPr>
          <a:xfrm>
            <a:off x="7951449" y="5538740"/>
            <a:ext cx="145607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事件入口 · 处理与返回</a:t>
            </a:r>
          </a:p>
        </p:txBody>
      </p:sp>
      <p:sp>
        <p:nvSpPr>
          <p:cNvPr id="132" name="rect-131"/>
          <p:cNvSpPr/>
          <p:nvPr/>
        </p:nvSpPr>
        <p:spPr>
          <a:xfrm>
            <a:off x="256032" y="6144768"/>
            <a:ext cx="9601200" cy="2176272"/>
          </a:xfrm>
          <a:prstGeom prst="roundRect">
            <a:avLst>
              <a:gd name="adj" fmla="val 3529"/>
            </a:avLst>
          </a:prstGeom>
          <a:solidFill>
            <a:srgbClr val="FFF0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-132"/>
          <p:cNvSpPr/>
          <p:nvPr/>
        </p:nvSpPr>
        <p:spPr>
          <a:xfrm>
            <a:off x="256032" y="6144768"/>
            <a:ext cx="51206" cy="2176272"/>
          </a:xfrm>
          <a:prstGeom prst="rect">
            <a:avLst/>
          </a:pr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-133: 03"/>
          <p:cNvSpPr txBox="1"/>
          <p:nvPr/>
        </p:nvSpPr>
        <p:spPr>
          <a:xfrm>
            <a:off x="435254" y="6248717"/>
            <a:ext cx="305978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5" name="text-134: SoC 硬件"/>
          <p:cNvSpPr txBox="1"/>
          <p:nvPr/>
        </p:nvSpPr>
        <p:spPr>
          <a:xfrm>
            <a:off x="435254" y="6469161"/>
            <a:ext cx="961110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SoC 硬件</a:t>
            </a:r>
          </a:p>
        </p:txBody>
      </p:sp>
      <p:sp>
        <p:nvSpPr>
          <p:cNvPr id="136" name="text-135: 执行、存储与传输"/>
          <p:cNvSpPr txBox="1"/>
          <p:nvPr/>
        </p:nvSpPr>
        <p:spPr>
          <a:xfrm>
            <a:off x="435254" y="6743115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执行、存储与传输</a:t>
            </a:r>
          </a:p>
        </p:txBody>
      </p:sp>
      <p:cxnSp>
        <p:nvCxnSpPr>
          <p:cNvPr id="137" name="line-136"/>
          <p:cNvCxnSpPr/>
          <p:nvPr/>
        </p:nvCxnSpPr>
        <p:spPr>
          <a:xfrm>
            <a:off x="1369771" y="6298387"/>
            <a:ext cx="0" cy="1869034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sp>
        <p:nvSpPr>
          <p:cNvPr id="138" name="rect-137"/>
          <p:cNvSpPr/>
          <p:nvPr/>
        </p:nvSpPr>
        <p:spPr>
          <a:xfrm>
            <a:off x="1536192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-138: CVA6"/>
          <p:cNvSpPr txBox="1"/>
          <p:nvPr/>
        </p:nvSpPr>
        <p:spPr>
          <a:xfrm>
            <a:off x="2083730" y="6457895"/>
            <a:ext cx="594734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40" name="text-139: 取指 · 执行 · 访存"/>
          <p:cNvSpPr txBox="1"/>
          <p:nvPr/>
        </p:nvSpPr>
        <p:spPr>
          <a:xfrm>
            <a:off x="1798735" y="6703686"/>
            <a:ext cx="1164726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取指 · 执行 · 访存</a:t>
            </a:r>
          </a:p>
        </p:txBody>
      </p:sp>
      <p:sp>
        <p:nvSpPr>
          <p:cNvPr id="141" name="rect-140"/>
          <p:cNvSpPr/>
          <p:nvPr/>
        </p:nvSpPr>
        <p:spPr>
          <a:xfrm>
            <a:off x="3405226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-141: Ara"/>
          <p:cNvSpPr txBox="1"/>
          <p:nvPr/>
        </p:nvSpPr>
        <p:spPr>
          <a:xfrm>
            <a:off x="4030604" y="6457895"/>
            <a:ext cx="439055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43" name="text-142: RVV 执行 · 向量访存"/>
          <p:cNvSpPr txBox="1"/>
          <p:nvPr/>
        </p:nvSpPr>
        <p:spPr>
          <a:xfrm>
            <a:off x="3569056" y="6703686"/>
            <a:ext cx="136215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RVV 执行 · 向量访存</a:t>
            </a:r>
          </a:p>
        </p:txBody>
      </p:sp>
      <p:sp>
        <p:nvSpPr>
          <p:cNvPr id="144" name="rect-143"/>
          <p:cNvSpPr/>
          <p:nvPr/>
        </p:nvSpPr>
        <p:spPr>
          <a:xfrm>
            <a:off x="5274259" y="6400800"/>
            <a:ext cx="1689811" cy="582473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144: iDMA"/>
          <p:cNvSpPr txBox="1"/>
          <p:nvPr/>
        </p:nvSpPr>
        <p:spPr>
          <a:xfrm>
            <a:off x="5810581" y="6457895"/>
            <a:ext cx="617167" cy="266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iDMA</a:t>
            </a:r>
          </a:p>
        </p:txBody>
      </p:sp>
      <p:sp>
        <p:nvSpPr>
          <p:cNvPr id="146" name="text-145: 硬件数据搬运"/>
          <p:cNvSpPr txBox="1"/>
          <p:nvPr/>
        </p:nvSpPr>
        <p:spPr>
          <a:xfrm>
            <a:off x="5648706" y="6703686"/>
            <a:ext cx="94091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硬件数据搬运</a:t>
            </a:r>
          </a:p>
        </p:txBody>
      </p:sp>
      <p:sp>
        <p:nvSpPr>
          <p:cNvPr id="147" name="rect-146"/>
          <p:cNvSpPr/>
          <p:nvPr/>
        </p:nvSpPr>
        <p:spPr>
          <a:xfrm>
            <a:off x="7143293" y="6400800"/>
            <a:ext cx="2560320" cy="582473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8" name="line-147"/>
          <p:cNvCxnSpPr/>
          <p:nvPr/>
        </p:nvCxnSpPr>
        <p:spPr>
          <a:xfrm>
            <a:off x="7143293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49" name="line-148"/>
          <p:cNvCxnSpPr/>
          <p:nvPr/>
        </p:nvCxnSpPr>
        <p:spPr>
          <a:xfrm>
            <a:off x="7271309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0" name="line-149"/>
          <p:cNvCxnSpPr/>
          <p:nvPr/>
        </p:nvCxnSpPr>
        <p:spPr>
          <a:xfrm>
            <a:off x="7399325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1" name="line-150"/>
          <p:cNvCxnSpPr/>
          <p:nvPr/>
        </p:nvCxnSpPr>
        <p:spPr>
          <a:xfrm>
            <a:off x="7527341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2" name="line-151"/>
          <p:cNvCxnSpPr/>
          <p:nvPr/>
        </p:nvCxnSpPr>
        <p:spPr>
          <a:xfrm>
            <a:off x="7655357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3" name="line-152"/>
          <p:cNvCxnSpPr/>
          <p:nvPr/>
        </p:nvCxnSpPr>
        <p:spPr>
          <a:xfrm>
            <a:off x="7783373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4" name="line-153"/>
          <p:cNvCxnSpPr/>
          <p:nvPr/>
        </p:nvCxnSpPr>
        <p:spPr>
          <a:xfrm>
            <a:off x="7911389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5" name="line-154"/>
          <p:cNvCxnSpPr/>
          <p:nvPr/>
        </p:nvCxnSpPr>
        <p:spPr>
          <a:xfrm>
            <a:off x="8039405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6" name="line-155"/>
          <p:cNvCxnSpPr/>
          <p:nvPr/>
        </p:nvCxnSpPr>
        <p:spPr>
          <a:xfrm>
            <a:off x="8167421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7" name="line-156"/>
          <p:cNvCxnSpPr/>
          <p:nvPr/>
        </p:nvCxnSpPr>
        <p:spPr>
          <a:xfrm>
            <a:off x="8295437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8" name="line-157"/>
          <p:cNvCxnSpPr/>
          <p:nvPr/>
        </p:nvCxnSpPr>
        <p:spPr>
          <a:xfrm>
            <a:off x="8423453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59" name="line-158"/>
          <p:cNvCxnSpPr/>
          <p:nvPr/>
        </p:nvCxnSpPr>
        <p:spPr>
          <a:xfrm>
            <a:off x="8551469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0" name="line-159"/>
          <p:cNvCxnSpPr/>
          <p:nvPr/>
        </p:nvCxnSpPr>
        <p:spPr>
          <a:xfrm>
            <a:off x="8679485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1" name="line-160"/>
          <p:cNvCxnSpPr/>
          <p:nvPr/>
        </p:nvCxnSpPr>
        <p:spPr>
          <a:xfrm>
            <a:off x="8807501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2" name="line-161"/>
          <p:cNvCxnSpPr/>
          <p:nvPr/>
        </p:nvCxnSpPr>
        <p:spPr>
          <a:xfrm>
            <a:off x="8935517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3" name="line-162"/>
          <p:cNvCxnSpPr/>
          <p:nvPr/>
        </p:nvCxnSpPr>
        <p:spPr>
          <a:xfrm>
            <a:off x="9063533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4" name="line-163"/>
          <p:cNvCxnSpPr/>
          <p:nvPr/>
        </p:nvCxnSpPr>
        <p:spPr>
          <a:xfrm>
            <a:off x="9191549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5" name="line-164"/>
          <p:cNvCxnSpPr/>
          <p:nvPr/>
        </p:nvCxnSpPr>
        <p:spPr>
          <a:xfrm>
            <a:off x="9319565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6" name="line-165"/>
          <p:cNvCxnSpPr/>
          <p:nvPr/>
        </p:nvCxnSpPr>
        <p:spPr>
          <a:xfrm>
            <a:off x="9447581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7" name="line-166"/>
          <p:cNvCxnSpPr/>
          <p:nvPr/>
        </p:nvCxnSpPr>
        <p:spPr>
          <a:xfrm>
            <a:off x="9575597" y="6400800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8" name="line-167"/>
          <p:cNvCxnSpPr/>
          <p:nvPr/>
        </p:nvCxnSpPr>
        <p:spPr>
          <a:xfrm>
            <a:off x="7143293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69" name="line-168"/>
          <p:cNvCxnSpPr/>
          <p:nvPr/>
        </p:nvCxnSpPr>
        <p:spPr>
          <a:xfrm>
            <a:off x="7271309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0" name="line-169"/>
          <p:cNvCxnSpPr/>
          <p:nvPr/>
        </p:nvCxnSpPr>
        <p:spPr>
          <a:xfrm>
            <a:off x="7399325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1" name="line-170"/>
          <p:cNvCxnSpPr/>
          <p:nvPr/>
        </p:nvCxnSpPr>
        <p:spPr>
          <a:xfrm>
            <a:off x="7527341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2" name="line-171"/>
          <p:cNvCxnSpPr/>
          <p:nvPr/>
        </p:nvCxnSpPr>
        <p:spPr>
          <a:xfrm>
            <a:off x="7655357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3" name="line-172"/>
          <p:cNvCxnSpPr/>
          <p:nvPr/>
        </p:nvCxnSpPr>
        <p:spPr>
          <a:xfrm>
            <a:off x="7783373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4" name="line-173"/>
          <p:cNvCxnSpPr/>
          <p:nvPr/>
        </p:nvCxnSpPr>
        <p:spPr>
          <a:xfrm>
            <a:off x="7911389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5" name="line-174"/>
          <p:cNvCxnSpPr/>
          <p:nvPr/>
        </p:nvCxnSpPr>
        <p:spPr>
          <a:xfrm>
            <a:off x="8039405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6" name="line-175"/>
          <p:cNvCxnSpPr/>
          <p:nvPr/>
        </p:nvCxnSpPr>
        <p:spPr>
          <a:xfrm>
            <a:off x="8167421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7" name="line-176"/>
          <p:cNvCxnSpPr/>
          <p:nvPr/>
        </p:nvCxnSpPr>
        <p:spPr>
          <a:xfrm>
            <a:off x="8295437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8" name="line-177"/>
          <p:cNvCxnSpPr/>
          <p:nvPr/>
        </p:nvCxnSpPr>
        <p:spPr>
          <a:xfrm>
            <a:off x="8423453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79" name="line-178"/>
          <p:cNvCxnSpPr/>
          <p:nvPr/>
        </p:nvCxnSpPr>
        <p:spPr>
          <a:xfrm>
            <a:off x="8551469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0" name="line-179"/>
          <p:cNvCxnSpPr/>
          <p:nvPr/>
        </p:nvCxnSpPr>
        <p:spPr>
          <a:xfrm>
            <a:off x="8679485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1" name="line-180"/>
          <p:cNvCxnSpPr/>
          <p:nvPr/>
        </p:nvCxnSpPr>
        <p:spPr>
          <a:xfrm>
            <a:off x="8807501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2" name="line-181"/>
          <p:cNvCxnSpPr/>
          <p:nvPr/>
        </p:nvCxnSpPr>
        <p:spPr>
          <a:xfrm>
            <a:off x="8935517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3" name="line-182"/>
          <p:cNvCxnSpPr/>
          <p:nvPr/>
        </p:nvCxnSpPr>
        <p:spPr>
          <a:xfrm>
            <a:off x="9063533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4" name="line-183"/>
          <p:cNvCxnSpPr/>
          <p:nvPr/>
        </p:nvCxnSpPr>
        <p:spPr>
          <a:xfrm>
            <a:off x="9191549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5" name="line-184"/>
          <p:cNvCxnSpPr/>
          <p:nvPr/>
        </p:nvCxnSpPr>
        <p:spPr>
          <a:xfrm>
            <a:off x="9319565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6" name="line-185"/>
          <p:cNvCxnSpPr/>
          <p:nvPr/>
        </p:nvCxnSpPr>
        <p:spPr>
          <a:xfrm>
            <a:off x="9447581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7" name="line-186"/>
          <p:cNvCxnSpPr/>
          <p:nvPr/>
        </p:nvCxnSpPr>
        <p:spPr>
          <a:xfrm>
            <a:off x="9575597" y="6983273"/>
            <a:ext cx="70409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8" name="line-187"/>
          <p:cNvCxnSpPr/>
          <p:nvPr/>
        </p:nvCxnSpPr>
        <p:spPr>
          <a:xfrm>
            <a:off x="7143293" y="6400800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89" name="line-188"/>
          <p:cNvCxnSpPr/>
          <p:nvPr/>
        </p:nvCxnSpPr>
        <p:spPr>
          <a:xfrm>
            <a:off x="7143293" y="6528816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0" name="line-189"/>
          <p:cNvCxnSpPr/>
          <p:nvPr/>
        </p:nvCxnSpPr>
        <p:spPr>
          <a:xfrm>
            <a:off x="7143293" y="665683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1" name="line-190"/>
          <p:cNvCxnSpPr/>
          <p:nvPr/>
        </p:nvCxnSpPr>
        <p:spPr>
          <a:xfrm>
            <a:off x="7143293" y="6784848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2" name="line-191"/>
          <p:cNvCxnSpPr/>
          <p:nvPr/>
        </p:nvCxnSpPr>
        <p:spPr>
          <a:xfrm>
            <a:off x="7143293" y="6912864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3" name="line-192"/>
          <p:cNvCxnSpPr/>
          <p:nvPr/>
        </p:nvCxnSpPr>
        <p:spPr>
          <a:xfrm>
            <a:off x="9703613" y="6400800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4" name="line-193"/>
          <p:cNvCxnSpPr/>
          <p:nvPr/>
        </p:nvCxnSpPr>
        <p:spPr>
          <a:xfrm>
            <a:off x="9703613" y="6528816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5" name="line-194"/>
          <p:cNvCxnSpPr/>
          <p:nvPr/>
        </p:nvCxnSpPr>
        <p:spPr>
          <a:xfrm>
            <a:off x="9703613" y="665683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6" name="line-195"/>
          <p:cNvCxnSpPr/>
          <p:nvPr/>
        </p:nvCxnSpPr>
        <p:spPr>
          <a:xfrm>
            <a:off x="9703613" y="6784848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197" name="line-196"/>
          <p:cNvCxnSpPr/>
          <p:nvPr/>
        </p:nvCxnSpPr>
        <p:spPr>
          <a:xfrm>
            <a:off x="9703613" y="6912864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sp>
        <p:nvSpPr>
          <p:cNvPr id="198" name="text-197: NPU / ISP / 图像接入"/>
          <p:cNvSpPr txBox="1"/>
          <p:nvPr/>
        </p:nvSpPr>
        <p:spPr>
          <a:xfrm>
            <a:off x="7602160" y="6471721"/>
            <a:ext cx="1642585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NPU / ISP / 图像接入</a:t>
            </a:r>
          </a:p>
        </p:txBody>
      </p:sp>
      <p:sp>
        <p:nvSpPr>
          <p:cNvPr id="199" name="text-198: 自定义 IP 与接口〔规划〕"/>
          <p:cNvSpPr txBox="1"/>
          <p:nvPr/>
        </p:nvSpPr>
        <p:spPr>
          <a:xfrm>
            <a:off x="7583508" y="6703686"/>
            <a:ext cx="167989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自定义 IP 与接口〔规划〕</a:t>
            </a:r>
          </a:p>
        </p:txBody>
      </p:sp>
      <p:cxnSp>
        <p:nvCxnSpPr>
          <p:cNvPr id="200" name="line-199"/>
          <p:cNvCxnSpPr/>
          <p:nvPr/>
        </p:nvCxnSpPr>
        <p:spPr>
          <a:xfrm>
            <a:off x="3238805" y="6656832"/>
            <a:ext cx="153619" cy="0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01" name="polygon-200"/>
          <p:cNvSpPr/>
          <p:nvPr/>
        </p:nvSpPr>
        <p:spPr>
          <a:xfrm>
            <a:off x="3334817" y="6631229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57607" y="25603"/>
                </a:moveTo>
                <a:lnTo>
                  <a:pt x="0" y="51206"/>
                </a:lnTo>
                <a:lnTo>
                  <a:pt x="0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polygon-201"/>
          <p:cNvSpPr/>
          <p:nvPr/>
        </p:nvSpPr>
        <p:spPr>
          <a:xfrm>
            <a:off x="3238805" y="6631229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0" y="25603"/>
                </a:moveTo>
                <a:lnTo>
                  <a:pt x="57607" y="0"/>
                </a:lnTo>
                <a:lnTo>
                  <a:pt x="57607" y="51206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ext-202: 专用请求 / 响应"/>
          <p:cNvSpPr txBox="1"/>
          <p:nvPr/>
        </p:nvSpPr>
        <p:spPr>
          <a:xfrm>
            <a:off x="2860002" y="6205448"/>
            <a:ext cx="97523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专用请求 / 响应</a:t>
            </a:r>
          </a:p>
        </p:txBody>
      </p:sp>
      <p:cxnSp>
        <p:nvCxnSpPr>
          <p:cNvPr id="204" name="line-203"/>
          <p:cNvCxnSpPr/>
          <p:nvPr/>
        </p:nvCxnSpPr>
        <p:spPr>
          <a:xfrm>
            <a:off x="2381098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05" name="polygon-204"/>
          <p:cNvSpPr/>
          <p:nvPr/>
        </p:nvSpPr>
        <p:spPr>
          <a:xfrm>
            <a:off x="2355494" y="715609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polygon-205"/>
          <p:cNvSpPr/>
          <p:nvPr/>
        </p:nvSpPr>
        <p:spPr>
          <a:xfrm>
            <a:off x="2355494" y="699607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7" name="line-206"/>
          <p:cNvCxnSpPr/>
          <p:nvPr/>
        </p:nvCxnSpPr>
        <p:spPr>
          <a:xfrm>
            <a:off x="4250131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08" name="polygon-207"/>
          <p:cNvSpPr/>
          <p:nvPr/>
        </p:nvSpPr>
        <p:spPr>
          <a:xfrm>
            <a:off x="4224528" y="715609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polygon-208"/>
          <p:cNvSpPr/>
          <p:nvPr/>
        </p:nvSpPr>
        <p:spPr>
          <a:xfrm>
            <a:off x="4224528" y="699607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0" name="line-209"/>
          <p:cNvCxnSpPr/>
          <p:nvPr/>
        </p:nvCxnSpPr>
        <p:spPr>
          <a:xfrm>
            <a:off x="6119165" y="6996074"/>
            <a:ext cx="0" cy="217628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11" name="polygon-210"/>
          <p:cNvSpPr/>
          <p:nvPr/>
        </p:nvSpPr>
        <p:spPr>
          <a:xfrm>
            <a:off x="6093562" y="715609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polygon-211"/>
          <p:cNvSpPr/>
          <p:nvPr/>
        </p:nvSpPr>
        <p:spPr>
          <a:xfrm>
            <a:off x="6093562" y="6996074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-212: 接入与 DDR 旁路方案待实现"/>
          <p:cNvSpPr txBox="1"/>
          <p:nvPr/>
        </p:nvSpPr>
        <p:spPr>
          <a:xfrm>
            <a:off x="7542183" y="7030639"/>
            <a:ext cx="176254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AD6631"/>
                </a:solidFill>
                <a:latin typeface="Microsoft YaHei"/>
                <a:ea typeface="Microsoft YaHei"/>
                <a:cs typeface="Microsoft YaHei"/>
              </a:rPr>
              <a:t>接入与 DDR 旁路方案待实现</a:t>
            </a:r>
          </a:p>
        </p:txBody>
      </p:sp>
      <p:sp>
        <p:nvSpPr>
          <p:cNvPr id="214" name="rect-213"/>
          <p:cNvSpPr/>
          <p:nvPr/>
        </p:nvSpPr>
        <p:spPr>
          <a:xfrm>
            <a:off x="1536192" y="7239305"/>
            <a:ext cx="8167421" cy="294437"/>
          </a:xfrm>
          <a:prstGeom prst="roundRect">
            <a:avLst>
              <a:gd name="adj" fmla="val 13043"/>
            </a:avLst>
          </a:prstGeom>
          <a:solidFill>
            <a:srgbClr val="F8D9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text-214: AXI 互连与适配 · 地址路由 · 主设备共享访问"/>
          <p:cNvSpPr txBox="1"/>
          <p:nvPr/>
        </p:nvSpPr>
        <p:spPr>
          <a:xfrm>
            <a:off x="3971421" y="7264908"/>
            <a:ext cx="329696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AXI 互连与适配 · 地址路由 · 主设备共享访问</a:t>
            </a:r>
          </a:p>
        </p:txBody>
      </p:sp>
      <p:cxnSp>
        <p:nvCxnSpPr>
          <p:cNvPr id="216" name="line-215"/>
          <p:cNvCxnSpPr/>
          <p:nvPr/>
        </p:nvCxnSpPr>
        <p:spPr>
          <a:xfrm>
            <a:off x="323240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17" name="polygon-216"/>
          <p:cNvSpPr/>
          <p:nvPr/>
        </p:nvSpPr>
        <p:spPr>
          <a:xfrm>
            <a:off x="3206801" y="7623353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polygon-217"/>
          <p:cNvSpPr/>
          <p:nvPr/>
        </p:nvSpPr>
        <p:spPr>
          <a:xfrm>
            <a:off x="3206801" y="7546543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line-218"/>
          <p:cNvCxnSpPr/>
          <p:nvPr/>
        </p:nvCxnSpPr>
        <p:spPr>
          <a:xfrm>
            <a:off x="7392924" y="7546543"/>
            <a:ext cx="0" cy="134417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20" name="polygon-219"/>
          <p:cNvSpPr/>
          <p:nvPr/>
        </p:nvSpPr>
        <p:spPr>
          <a:xfrm>
            <a:off x="7367321" y="7623353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polygon-220"/>
          <p:cNvSpPr/>
          <p:nvPr/>
        </p:nvSpPr>
        <p:spPr>
          <a:xfrm>
            <a:off x="7367321" y="7546543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-221"/>
          <p:cNvSpPr/>
          <p:nvPr/>
        </p:nvSpPr>
        <p:spPr>
          <a:xfrm>
            <a:off x="1536192" y="7706563"/>
            <a:ext cx="3392424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-222: 原子适配 → LLC / SPM → 主存出口"/>
          <p:cNvSpPr txBox="1"/>
          <p:nvPr/>
        </p:nvSpPr>
        <p:spPr>
          <a:xfrm>
            <a:off x="1978877" y="7739591"/>
            <a:ext cx="2507053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原子适配 → LLC / SPM → 主存出口</a:t>
            </a:r>
          </a:p>
        </p:txBody>
      </p:sp>
      <p:sp>
        <p:nvSpPr>
          <p:cNvPr id="224" name="text-223: SPM 复用 LLC 存储阵列"/>
          <p:cNvSpPr txBox="1"/>
          <p:nvPr/>
        </p:nvSpPr>
        <p:spPr>
          <a:xfrm>
            <a:off x="2445096" y="7939040"/>
            <a:ext cx="1574617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SPM 复用 LLC 存储阵列</a:t>
            </a:r>
          </a:p>
        </p:txBody>
      </p:sp>
      <p:sp>
        <p:nvSpPr>
          <p:cNvPr id="225" name="rect-224"/>
          <p:cNvSpPr/>
          <p:nvPr/>
        </p:nvSpPr>
        <p:spPr>
          <a:xfrm>
            <a:off x="5082235" y="7706563"/>
            <a:ext cx="4621378" cy="46085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-225: 寄存器总线 → 外设 / 平台控制"/>
          <p:cNvSpPr txBox="1"/>
          <p:nvPr/>
        </p:nvSpPr>
        <p:spPr>
          <a:xfrm>
            <a:off x="6223918" y="7725766"/>
            <a:ext cx="233801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寄存器总线 → 外设 / 平台控制</a:t>
            </a:r>
          </a:p>
        </p:txBody>
      </p:sp>
      <p:sp>
        <p:nvSpPr>
          <p:cNvPr id="227" name="text-226: UART · SPI · I²C · GPIO · 中断/定时器 · ROM 接"/>
          <p:cNvSpPr txBox="1"/>
          <p:nvPr/>
        </p:nvSpPr>
        <p:spPr>
          <a:xfrm>
            <a:off x="5829824" y="7939040"/>
            <a:ext cx="3126201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UART · SPI · I²C · GPIO · 中断/定时器 · ROM 接口</a:t>
            </a:r>
          </a:p>
        </p:txBody>
      </p:sp>
      <p:sp>
        <p:nvSpPr>
          <p:cNvPr id="228" name="rect-227"/>
          <p:cNvSpPr/>
          <p:nvPr/>
        </p:nvSpPr>
        <p:spPr>
          <a:xfrm>
            <a:off x="256032" y="8449056"/>
            <a:ext cx="9601200" cy="716890"/>
          </a:xfrm>
          <a:prstGeom prst="roundRect">
            <a:avLst>
              <a:gd name="adj" fmla="val 10714"/>
            </a:avLst>
          </a:prstGeom>
          <a:solidFill>
            <a:srgbClr val="F0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-228"/>
          <p:cNvSpPr/>
          <p:nvPr/>
        </p:nvSpPr>
        <p:spPr>
          <a:xfrm>
            <a:off x="256032" y="8449056"/>
            <a:ext cx="51206" cy="716890"/>
          </a:xfrm>
          <a:prstGeom prst="rect">
            <a:avLst/>
          </a:prstGeom>
          <a:solidFill>
            <a:srgbClr val="5367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-229: 04"/>
          <p:cNvSpPr txBox="1"/>
          <p:nvPr/>
        </p:nvSpPr>
        <p:spPr>
          <a:xfrm>
            <a:off x="435254" y="8424989"/>
            <a:ext cx="305978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1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1" name="text-230: 片外器件"/>
          <p:cNvSpPr txBox="1"/>
          <p:nvPr/>
        </p:nvSpPr>
        <p:spPr>
          <a:xfrm>
            <a:off x="435254" y="8645433"/>
            <a:ext cx="928116" cy="296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232" name="text-231: 经对应控制器连接"/>
          <p:cNvSpPr txBox="1"/>
          <p:nvPr/>
        </p:nvSpPr>
        <p:spPr>
          <a:xfrm>
            <a:off x="435254" y="8919387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经对应控制器连接</a:t>
            </a:r>
          </a:p>
        </p:txBody>
      </p:sp>
      <p:cxnSp>
        <p:nvCxnSpPr>
          <p:cNvPr id="233" name="line-232"/>
          <p:cNvCxnSpPr/>
          <p:nvPr/>
        </p:nvCxnSpPr>
        <p:spPr>
          <a:xfrm>
            <a:off x="1369771" y="8602675"/>
            <a:ext cx="0" cy="409651"/>
          </a:xfrm>
          <a:prstGeom prst="line">
            <a:avLst/>
          </a:prstGeom>
          <a:ln w="9601" cap="flat">
            <a:solidFill>
              <a:srgbClr val="CFD9E2"/>
            </a:solidFill>
          </a:ln>
          <a:effectLst/>
        </p:spPr>
      </p:cxnSp>
      <p:cxnSp>
        <p:nvCxnSpPr>
          <p:cNvPr id="234" name="line-233"/>
          <p:cNvCxnSpPr/>
          <p:nvPr/>
        </p:nvCxnSpPr>
        <p:spPr>
          <a:xfrm>
            <a:off x="3232404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35" name="polygon-234"/>
          <p:cNvSpPr/>
          <p:nvPr/>
        </p:nvSpPr>
        <p:spPr>
          <a:xfrm>
            <a:off x="3206801" y="8519465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polygon-235"/>
          <p:cNvSpPr/>
          <p:nvPr/>
        </p:nvSpPr>
        <p:spPr>
          <a:xfrm>
            <a:off x="3206801" y="8180222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7" name="line-236"/>
          <p:cNvCxnSpPr/>
          <p:nvPr/>
        </p:nvCxnSpPr>
        <p:spPr>
          <a:xfrm>
            <a:off x="6458407" y="8180222"/>
            <a:ext cx="0" cy="396850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238" name="polygon-237"/>
          <p:cNvSpPr/>
          <p:nvPr/>
        </p:nvSpPr>
        <p:spPr>
          <a:xfrm>
            <a:off x="6432804" y="8519465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57607"/>
                </a:moveTo>
                <a:lnTo>
                  <a:pt x="0" y="0"/>
                </a:lnTo>
                <a:lnTo>
                  <a:pt x="51206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polygon-238"/>
          <p:cNvSpPr/>
          <p:nvPr/>
        </p:nvSpPr>
        <p:spPr>
          <a:xfrm>
            <a:off x="6432804" y="8180222"/>
            <a:ext cx="51206" cy="57607"/>
          </a:xfrm>
          <a:custGeom>
            <a:avLst/>
            <a:gdLst/>
            <a:ahLst/>
            <a:cxnLst/>
            <a:rect l="0" t="0" r="r" b="b"/>
            <a:pathLst>
              <a:path w="51206" h="57607">
                <a:moveTo>
                  <a:pt x="25603" y="0"/>
                </a:moveTo>
                <a:lnTo>
                  <a:pt x="51206" y="57607"/>
                </a:lnTo>
                <a:lnTo>
                  <a:pt x="0" y="57607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-239"/>
          <p:cNvSpPr/>
          <p:nvPr/>
        </p:nvSpPr>
        <p:spPr>
          <a:xfrm>
            <a:off x="1536192" y="8596274"/>
            <a:ext cx="339242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-240: DDR 存储器"/>
          <p:cNvSpPr txBox="1"/>
          <p:nvPr/>
        </p:nvSpPr>
        <p:spPr>
          <a:xfrm>
            <a:off x="2714564" y="8660282"/>
            <a:ext cx="103567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DDR 存储器</a:t>
            </a:r>
          </a:p>
        </p:txBody>
      </p:sp>
      <p:sp>
        <p:nvSpPr>
          <p:cNvPr id="242" name="text-241: 经 DDR 控制器 / PHY 接入"/>
          <p:cNvSpPr txBox="1"/>
          <p:nvPr/>
        </p:nvSpPr>
        <p:spPr>
          <a:xfrm>
            <a:off x="2353864" y="8899160"/>
            <a:ext cx="175708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DDR 控制器 / PHY 接入</a:t>
            </a:r>
          </a:p>
        </p:txBody>
      </p:sp>
      <p:sp>
        <p:nvSpPr>
          <p:cNvPr id="243" name="rect-242"/>
          <p:cNvSpPr/>
          <p:nvPr/>
        </p:nvSpPr>
        <p:spPr>
          <a:xfrm>
            <a:off x="5082235" y="8596274"/>
            <a:ext cx="2752344" cy="473659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-243: Flash · SD 卡 · EEPROM"/>
          <p:cNvSpPr txBox="1"/>
          <p:nvPr/>
        </p:nvSpPr>
        <p:spPr>
          <a:xfrm>
            <a:off x="5546348" y="8667195"/>
            <a:ext cx="1824118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Flash · SD 卡 · EEPROM</a:t>
            </a:r>
          </a:p>
        </p:txBody>
      </p:sp>
      <p:sp>
        <p:nvSpPr>
          <p:cNvPr id="245" name="text-244: 经 SPI / I²C 接入"/>
          <p:cNvSpPr txBox="1"/>
          <p:nvPr/>
        </p:nvSpPr>
        <p:spPr>
          <a:xfrm>
            <a:off x="5890016" y="8899160"/>
            <a:ext cx="113678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经 SPI / I²C 接入</a:t>
            </a:r>
          </a:p>
        </p:txBody>
      </p:sp>
      <p:sp>
        <p:nvSpPr>
          <p:cNvPr id="246" name="rect-245"/>
          <p:cNvSpPr/>
          <p:nvPr/>
        </p:nvSpPr>
        <p:spPr>
          <a:xfrm>
            <a:off x="7949794" y="8596274"/>
            <a:ext cx="1753819" cy="473659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7" name="line-246"/>
          <p:cNvCxnSpPr/>
          <p:nvPr/>
        </p:nvCxnSpPr>
        <p:spPr>
          <a:xfrm>
            <a:off x="7949794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48" name="line-247"/>
          <p:cNvCxnSpPr/>
          <p:nvPr/>
        </p:nvCxnSpPr>
        <p:spPr>
          <a:xfrm>
            <a:off x="8077810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49" name="line-248"/>
          <p:cNvCxnSpPr/>
          <p:nvPr/>
        </p:nvCxnSpPr>
        <p:spPr>
          <a:xfrm>
            <a:off x="8205826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0" name="line-249"/>
          <p:cNvCxnSpPr/>
          <p:nvPr/>
        </p:nvCxnSpPr>
        <p:spPr>
          <a:xfrm>
            <a:off x="8333842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1" name="line-250"/>
          <p:cNvCxnSpPr/>
          <p:nvPr/>
        </p:nvCxnSpPr>
        <p:spPr>
          <a:xfrm>
            <a:off x="8461858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2" name="line-251"/>
          <p:cNvCxnSpPr/>
          <p:nvPr/>
        </p:nvCxnSpPr>
        <p:spPr>
          <a:xfrm>
            <a:off x="8589874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3" name="line-252"/>
          <p:cNvCxnSpPr/>
          <p:nvPr/>
        </p:nvCxnSpPr>
        <p:spPr>
          <a:xfrm>
            <a:off x="8717890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4" name="line-253"/>
          <p:cNvCxnSpPr/>
          <p:nvPr/>
        </p:nvCxnSpPr>
        <p:spPr>
          <a:xfrm>
            <a:off x="8845906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5" name="line-254"/>
          <p:cNvCxnSpPr/>
          <p:nvPr/>
        </p:nvCxnSpPr>
        <p:spPr>
          <a:xfrm>
            <a:off x="8973922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6" name="line-255"/>
          <p:cNvCxnSpPr/>
          <p:nvPr/>
        </p:nvCxnSpPr>
        <p:spPr>
          <a:xfrm>
            <a:off x="9101938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7" name="line-256"/>
          <p:cNvCxnSpPr/>
          <p:nvPr/>
        </p:nvCxnSpPr>
        <p:spPr>
          <a:xfrm>
            <a:off x="9229954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8" name="line-257"/>
          <p:cNvCxnSpPr/>
          <p:nvPr/>
        </p:nvCxnSpPr>
        <p:spPr>
          <a:xfrm>
            <a:off x="9357970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59" name="line-258"/>
          <p:cNvCxnSpPr/>
          <p:nvPr/>
        </p:nvCxnSpPr>
        <p:spPr>
          <a:xfrm>
            <a:off x="9485986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0" name="line-259"/>
          <p:cNvCxnSpPr/>
          <p:nvPr/>
        </p:nvCxnSpPr>
        <p:spPr>
          <a:xfrm>
            <a:off x="9614002" y="859627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1" name="line-260"/>
          <p:cNvCxnSpPr/>
          <p:nvPr/>
        </p:nvCxnSpPr>
        <p:spPr>
          <a:xfrm>
            <a:off x="7949794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2" name="line-261"/>
          <p:cNvCxnSpPr/>
          <p:nvPr/>
        </p:nvCxnSpPr>
        <p:spPr>
          <a:xfrm>
            <a:off x="8077810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3" name="line-262"/>
          <p:cNvCxnSpPr/>
          <p:nvPr/>
        </p:nvCxnSpPr>
        <p:spPr>
          <a:xfrm>
            <a:off x="8205826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4" name="line-263"/>
          <p:cNvCxnSpPr/>
          <p:nvPr/>
        </p:nvCxnSpPr>
        <p:spPr>
          <a:xfrm>
            <a:off x="8333842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5" name="line-264"/>
          <p:cNvCxnSpPr/>
          <p:nvPr/>
        </p:nvCxnSpPr>
        <p:spPr>
          <a:xfrm>
            <a:off x="8461858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6" name="line-265"/>
          <p:cNvCxnSpPr/>
          <p:nvPr/>
        </p:nvCxnSpPr>
        <p:spPr>
          <a:xfrm>
            <a:off x="8589874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7" name="line-266"/>
          <p:cNvCxnSpPr/>
          <p:nvPr/>
        </p:nvCxnSpPr>
        <p:spPr>
          <a:xfrm>
            <a:off x="8717890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8" name="line-267"/>
          <p:cNvCxnSpPr/>
          <p:nvPr/>
        </p:nvCxnSpPr>
        <p:spPr>
          <a:xfrm>
            <a:off x="8845906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69" name="line-268"/>
          <p:cNvCxnSpPr/>
          <p:nvPr/>
        </p:nvCxnSpPr>
        <p:spPr>
          <a:xfrm>
            <a:off x="8973922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0" name="line-269"/>
          <p:cNvCxnSpPr/>
          <p:nvPr/>
        </p:nvCxnSpPr>
        <p:spPr>
          <a:xfrm>
            <a:off x="9101938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1" name="line-270"/>
          <p:cNvCxnSpPr/>
          <p:nvPr/>
        </p:nvCxnSpPr>
        <p:spPr>
          <a:xfrm>
            <a:off x="9229954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2" name="line-271"/>
          <p:cNvCxnSpPr/>
          <p:nvPr/>
        </p:nvCxnSpPr>
        <p:spPr>
          <a:xfrm>
            <a:off x="9357970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3" name="line-272"/>
          <p:cNvCxnSpPr/>
          <p:nvPr/>
        </p:nvCxnSpPr>
        <p:spPr>
          <a:xfrm>
            <a:off x="9485986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4" name="line-273"/>
          <p:cNvCxnSpPr/>
          <p:nvPr/>
        </p:nvCxnSpPr>
        <p:spPr>
          <a:xfrm>
            <a:off x="9614002" y="9069934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5" name="line-274"/>
          <p:cNvCxnSpPr/>
          <p:nvPr/>
        </p:nvCxnSpPr>
        <p:spPr>
          <a:xfrm>
            <a:off x="7949794" y="8596274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6" name="line-275"/>
          <p:cNvCxnSpPr/>
          <p:nvPr/>
        </p:nvCxnSpPr>
        <p:spPr>
          <a:xfrm>
            <a:off x="7949794" y="8724290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7" name="line-276"/>
          <p:cNvCxnSpPr/>
          <p:nvPr/>
        </p:nvCxnSpPr>
        <p:spPr>
          <a:xfrm>
            <a:off x="7949794" y="8852306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8" name="line-277"/>
          <p:cNvCxnSpPr/>
          <p:nvPr/>
        </p:nvCxnSpPr>
        <p:spPr>
          <a:xfrm>
            <a:off x="7949794" y="898032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79" name="line-278"/>
          <p:cNvCxnSpPr/>
          <p:nvPr/>
        </p:nvCxnSpPr>
        <p:spPr>
          <a:xfrm>
            <a:off x="9703613" y="8596274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80" name="line-279"/>
          <p:cNvCxnSpPr/>
          <p:nvPr/>
        </p:nvCxnSpPr>
        <p:spPr>
          <a:xfrm>
            <a:off x="9703613" y="8724290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81" name="line-280"/>
          <p:cNvCxnSpPr/>
          <p:nvPr/>
        </p:nvCxnSpPr>
        <p:spPr>
          <a:xfrm>
            <a:off x="9703613" y="8852306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282" name="line-281"/>
          <p:cNvCxnSpPr/>
          <p:nvPr/>
        </p:nvCxnSpPr>
        <p:spPr>
          <a:xfrm>
            <a:off x="9703613" y="898032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sp>
        <p:nvSpPr>
          <p:cNvPr id="283" name="text-282: 图像传感器〔规划〕"/>
          <p:cNvSpPr txBox="1"/>
          <p:nvPr/>
        </p:nvSpPr>
        <p:spPr>
          <a:xfrm>
            <a:off x="8090611" y="8674108"/>
            <a:ext cx="1472184" cy="2355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9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图像传感器〔规划〕</a:t>
            </a:r>
          </a:p>
        </p:txBody>
      </p:sp>
      <p:sp>
        <p:nvSpPr>
          <p:cNvPr id="284" name="text-283: LVDS 图像输入"/>
          <p:cNvSpPr txBox="1"/>
          <p:nvPr/>
        </p:nvSpPr>
        <p:spPr>
          <a:xfrm>
            <a:off x="8304983" y="8899160"/>
            <a:ext cx="1043440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LVDS 图像输入</a:t>
            </a:r>
          </a:p>
        </p:txBody>
      </p:sp>
      <p:sp>
        <p:nvSpPr>
          <p:cNvPr id="285" name="rect-284"/>
          <p:cNvSpPr/>
          <p:nvPr/>
        </p:nvSpPr>
        <p:spPr>
          <a:xfrm>
            <a:off x="10049256" y="960120"/>
            <a:ext cx="2496312" cy="12801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text-285: 开发主机上的工具"/>
          <p:cNvSpPr txBox="1"/>
          <p:nvPr/>
        </p:nvSpPr>
        <p:spPr>
          <a:xfrm>
            <a:off x="10190074" y="1059204"/>
            <a:ext cx="1094537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开发主机上的工具</a:t>
            </a:r>
          </a:p>
        </p:txBody>
      </p:sp>
      <p:sp>
        <p:nvSpPr>
          <p:cNvPr id="287" name="text-286: 构建支持"/>
          <p:cNvSpPr txBox="1"/>
          <p:nvPr/>
        </p:nvSpPr>
        <p:spPr>
          <a:xfrm>
            <a:off x="10190074" y="1240219"/>
            <a:ext cx="896112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构建支持</a:t>
            </a:r>
          </a:p>
        </p:txBody>
      </p:sp>
      <p:sp>
        <p:nvSpPr>
          <p:cNvPr id="288" name="text-287: 编译器 · 汇编器 · 链接器"/>
          <p:cNvSpPr txBox="1"/>
          <p:nvPr/>
        </p:nvSpPr>
        <p:spPr>
          <a:xfrm>
            <a:off x="10190074" y="1524927"/>
            <a:ext cx="1642625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编译器 · 汇编器 · 链接器</a:t>
            </a:r>
          </a:p>
        </p:txBody>
      </p:sp>
      <p:sp>
        <p:nvSpPr>
          <p:cNvPr id="289" name="text-288: Makefile · 链接脚本 · 库归档"/>
          <p:cNvSpPr txBox="1"/>
          <p:nvPr/>
        </p:nvSpPr>
        <p:spPr>
          <a:xfrm>
            <a:off x="10190074" y="1723351"/>
            <a:ext cx="1933632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Makefile · 链接脚本 · 库归档</a:t>
            </a:r>
          </a:p>
        </p:txBody>
      </p:sp>
      <p:sp>
        <p:nvSpPr>
          <p:cNvPr id="290" name="text-289: 生成 ELF，规定代码与数据布局"/>
          <p:cNvSpPr txBox="1"/>
          <p:nvPr/>
        </p:nvSpPr>
        <p:spPr>
          <a:xfrm>
            <a:off x="10190074" y="1921776"/>
            <a:ext cx="2096792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生成 ELF，规定代码与数据布局</a:t>
            </a:r>
          </a:p>
        </p:txBody>
      </p:sp>
      <p:sp>
        <p:nvSpPr>
          <p:cNvPr id="291" name="rect-290"/>
          <p:cNvSpPr/>
          <p:nvPr/>
        </p:nvSpPr>
        <p:spPr>
          <a:xfrm>
            <a:off x="10049256" y="2368296"/>
            <a:ext cx="2496312" cy="1971446"/>
          </a:xfrm>
          <a:prstGeom prst="roundRect">
            <a:avLst>
              <a:gd name="adj" fmla="val 3246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ext-291: 准备并维持软件执行环境"/>
          <p:cNvSpPr txBox="1"/>
          <p:nvPr/>
        </p:nvSpPr>
        <p:spPr>
          <a:xfrm>
            <a:off x="10190074" y="2467380"/>
            <a:ext cx="1459382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准备并维持软件执行环境</a:t>
            </a:r>
          </a:p>
        </p:txBody>
      </p:sp>
      <p:sp>
        <p:nvSpPr>
          <p:cNvPr id="293" name="text-292: 启动与运行支持"/>
          <p:cNvSpPr txBox="1"/>
          <p:nvPr/>
        </p:nvSpPr>
        <p:spPr>
          <a:xfrm>
            <a:off x="10190074" y="2648395"/>
            <a:ext cx="1433779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启动与运行支持</a:t>
            </a:r>
          </a:p>
        </p:txBody>
      </p:sp>
      <p:sp>
        <p:nvSpPr>
          <p:cNvPr id="294" name="text-293: Boot ROM / 载荷加载"/>
          <p:cNvSpPr txBox="1"/>
          <p:nvPr/>
        </p:nvSpPr>
        <p:spPr>
          <a:xfrm>
            <a:off x="10190074" y="2933103"/>
            <a:ext cx="1551874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Boot ROM / 载荷加载</a:t>
            </a:r>
          </a:p>
        </p:txBody>
      </p:sp>
      <p:sp>
        <p:nvSpPr>
          <p:cNvPr id="295" name="text-294: crt0：栈、BSS、异常入口"/>
          <p:cNvSpPr txBox="1"/>
          <p:nvPr/>
        </p:nvSpPr>
        <p:spPr>
          <a:xfrm>
            <a:off x="10190074" y="3131527"/>
            <a:ext cx="1782083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crt0：栈、BSS、异常入口</a:t>
            </a:r>
          </a:p>
        </p:txBody>
      </p:sp>
      <p:sp>
        <p:nvSpPr>
          <p:cNvPr id="296" name="text-295: 进入 main；异常处理与返回"/>
          <p:cNvSpPr txBox="1"/>
          <p:nvPr/>
        </p:nvSpPr>
        <p:spPr>
          <a:xfrm>
            <a:off x="10190074" y="3329952"/>
            <a:ext cx="192469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进入 main；异常处理与返回</a:t>
            </a:r>
          </a:p>
        </p:txBody>
      </p:sp>
      <p:sp>
        <p:nvSpPr>
          <p:cNvPr id="297" name="text-296: 启动交接与函数调用分别表达"/>
          <p:cNvSpPr txBox="1"/>
          <p:nvPr/>
        </p:nvSpPr>
        <p:spPr>
          <a:xfrm>
            <a:off x="10190074" y="3528377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启动交接与函数调用分别表达</a:t>
            </a:r>
          </a:p>
        </p:txBody>
      </p:sp>
      <p:sp>
        <p:nvSpPr>
          <p:cNvPr id="298" name="text-297: 运行期也可访问必要配置接口"/>
          <p:cNvSpPr txBox="1"/>
          <p:nvPr/>
        </p:nvSpPr>
        <p:spPr>
          <a:xfrm>
            <a:off x="10190074" y="3726802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运行期也可访问必要配置接口</a:t>
            </a:r>
          </a:p>
        </p:txBody>
      </p:sp>
      <p:sp>
        <p:nvSpPr>
          <p:cNvPr id="299" name="text-298: 不是每次设备调用的必经层"/>
          <p:cNvSpPr txBox="1"/>
          <p:nvPr/>
        </p:nvSpPr>
        <p:spPr>
          <a:xfrm>
            <a:off x="10190074" y="3925227"/>
            <a:ext cx="183062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不是每次设备调用的必经层</a:t>
            </a:r>
          </a:p>
        </p:txBody>
      </p:sp>
      <p:sp>
        <p:nvSpPr>
          <p:cNvPr id="300" name="rect-299"/>
          <p:cNvSpPr/>
          <p:nvPr/>
        </p:nvSpPr>
        <p:spPr>
          <a:xfrm>
            <a:off x="10049256" y="4467758"/>
            <a:ext cx="2496312" cy="1600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text-300: 扩展方向 · 目标运行待验证"/>
          <p:cNvSpPr txBox="1"/>
          <p:nvPr/>
        </p:nvSpPr>
        <p:spPr>
          <a:xfrm>
            <a:off x="10190074" y="4566843"/>
            <a:ext cx="1560625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扩展方向 · 目标运行待验证</a:t>
            </a:r>
          </a:p>
        </p:txBody>
      </p:sp>
      <p:sp>
        <p:nvSpPr>
          <p:cNvPr id="302" name="text-301: 可选操作系统"/>
          <p:cNvSpPr txBox="1"/>
          <p:nvPr/>
        </p:nvSpPr>
        <p:spPr>
          <a:xfrm>
            <a:off x="10190074" y="4747857"/>
            <a:ext cx="125455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可选操作系统</a:t>
            </a:r>
          </a:p>
        </p:txBody>
      </p:sp>
      <p:sp>
        <p:nvSpPr>
          <p:cNvPr id="303" name="text-302: RTOS：任务、调度与同步"/>
          <p:cNvSpPr txBox="1"/>
          <p:nvPr/>
        </p:nvSpPr>
        <p:spPr>
          <a:xfrm>
            <a:off x="10190074" y="5032565"/>
            <a:ext cx="176612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RTOS：任务、调度与同步</a:t>
            </a:r>
          </a:p>
        </p:txBody>
      </p:sp>
      <p:sp>
        <p:nvSpPr>
          <p:cNvPr id="304" name="text-303: Linux：用户态 / 内核 / 驱动"/>
          <p:cNvSpPr txBox="1"/>
          <p:nvPr/>
        </p:nvSpPr>
        <p:spPr>
          <a:xfrm>
            <a:off x="10190074" y="5230990"/>
            <a:ext cx="190900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Linux：用户态 / 内核 / 驱动</a:t>
            </a:r>
          </a:p>
        </p:txBody>
      </p:sp>
      <p:sp>
        <p:nvSpPr>
          <p:cNvPr id="305" name="text-304: 依各自环境建立设备访问路径"/>
          <p:cNvSpPr txBox="1"/>
          <p:nvPr/>
        </p:nvSpPr>
        <p:spPr>
          <a:xfrm>
            <a:off x="10190074" y="5429415"/>
            <a:ext cx="197144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依各自环境建立设备访问路径</a:t>
            </a:r>
          </a:p>
        </p:txBody>
      </p:sp>
      <p:sp>
        <p:nvSpPr>
          <p:cNvPr id="306" name="text-305: 不假定直接复用整套裸机 HAL"/>
          <p:cNvSpPr txBox="1"/>
          <p:nvPr/>
        </p:nvSpPr>
        <p:spPr>
          <a:xfrm>
            <a:off x="10190074" y="5627839"/>
            <a:ext cx="201174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不假定直接复用整套裸机 HAL</a:t>
            </a:r>
          </a:p>
        </p:txBody>
      </p:sp>
      <p:sp>
        <p:nvSpPr>
          <p:cNvPr id="307" name="rect-306"/>
          <p:cNvSpPr/>
          <p:nvPr/>
        </p:nvSpPr>
        <p:spPr>
          <a:xfrm>
            <a:off x="10049256" y="6195974"/>
            <a:ext cx="2496312" cy="1292962"/>
          </a:xfrm>
          <a:prstGeom prst="roundRect">
            <a:avLst>
              <a:gd name="adj" fmla="val 4950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text-307: 同一结构的实现与适配维度"/>
          <p:cNvSpPr txBox="1"/>
          <p:nvPr/>
        </p:nvSpPr>
        <p:spPr>
          <a:xfrm>
            <a:off x="10190074" y="6295059"/>
            <a:ext cx="1580998" cy="194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1" i="0">
                <a:solidFill>
                  <a:srgbClr val="28619B"/>
                </a:solidFill>
                <a:latin typeface="Microsoft YaHei"/>
                <a:ea typeface="Microsoft YaHei"/>
                <a:cs typeface="Microsoft YaHei"/>
              </a:rPr>
              <a:t>同一结构的实现与适配维度</a:t>
            </a:r>
          </a:p>
        </p:txBody>
      </p:sp>
      <p:sp>
        <p:nvSpPr>
          <p:cNvPr id="309" name="text-308: 硬件实现平台"/>
          <p:cNvSpPr txBox="1"/>
          <p:nvPr/>
        </p:nvSpPr>
        <p:spPr>
          <a:xfrm>
            <a:off x="10190074" y="6476073"/>
            <a:ext cx="1254557" cy="2867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硬件实现平台</a:t>
            </a:r>
          </a:p>
        </p:txBody>
      </p:sp>
      <p:sp>
        <p:nvSpPr>
          <p:cNvPr id="310" name="text-309: FPGA：现有 VCU118 工程"/>
          <p:cNvSpPr txBox="1"/>
          <p:nvPr/>
        </p:nvSpPr>
        <p:spPr>
          <a:xfrm>
            <a:off x="10190074" y="6760781"/>
            <a:ext cx="1831389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FPGA：现有 VCU118 工程</a:t>
            </a:r>
          </a:p>
        </p:txBody>
      </p:sp>
      <p:sp>
        <p:nvSpPr>
          <p:cNvPr id="311" name="text-310: ASIC：宏、时钟、PAD 等适配"/>
          <p:cNvSpPr txBox="1"/>
          <p:nvPr/>
        </p:nvSpPr>
        <p:spPr>
          <a:xfrm>
            <a:off x="10190074" y="6959206"/>
            <a:ext cx="2046526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ASIC：宏、时钟、PAD 等适配</a:t>
            </a:r>
          </a:p>
        </p:txBody>
      </p:sp>
      <p:sp>
        <p:nvSpPr>
          <p:cNvPr id="312" name="text-311: ASIC 实现与验证仍待完成"/>
          <p:cNvSpPr txBox="1"/>
          <p:nvPr/>
        </p:nvSpPr>
        <p:spPr>
          <a:xfrm>
            <a:off x="10190074" y="7157631"/>
            <a:ext cx="1765791" cy="2253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ASIC 实现与验证仍待完成</a:t>
            </a:r>
          </a:p>
        </p:txBody>
      </p:sp>
      <p:sp>
        <p:nvSpPr>
          <p:cNvPr id="313" name="rect-312"/>
          <p:cNvSpPr/>
          <p:nvPr/>
        </p:nvSpPr>
        <p:spPr>
          <a:xfrm>
            <a:off x="10049256" y="7616952"/>
            <a:ext cx="2496312" cy="1548994"/>
          </a:xfrm>
          <a:prstGeom prst="roundRect">
            <a:avLst>
              <a:gd name="adj" fmla="val 4132"/>
            </a:avLst>
          </a:prstGeom>
          <a:solidFill>
            <a:srgbClr val="F3F6F9"/>
          </a:solidFill>
          <a:ln w="9601" cap="flat">
            <a:solidFill>
              <a:srgbClr val="D9E2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text-313: 阅读图例"/>
          <p:cNvSpPr txBox="1"/>
          <p:nvPr/>
        </p:nvSpPr>
        <p:spPr>
          <a:xfrm>
            <a:off x="10190074" y="7673535"/>
            <a:ext cx="864108" cy="2765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83247"/>
                </a:solidFill>
                <a:latin typeface="Microsoft YaHei"/>
                <a:ea typeface="Microsoft YaHei"/>
                <a:cs typeface="Microsoft YaHei"/>
              </a:rPr>
              <a:t>阅读图例</a:t>
            </a:r>
          </a:p>
        </p:txBody>
      </p:sp>
      <p:sp>
        <p:nvSpPr>
          <p:cNvPr id="315" name="rect-314"/>
          <p:cNvSpPr/>
          <p:nvPr/>
        </p:nvSpPr>
        <p:spPr>
          <a:xfrm>
            <a:off x="10190074" y="8001000"/>
            <a:ext cx="224028" cy="147218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601" cap="flat">
            <a:solidFill>
              <a:srgbClr val="C6D3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ext-315: 实线框：已有代码 / 结构"/>
          <p:cNvSpPr txBox="1"/>
          <p:nvPr/>
        </p:nvSpPr>
        <p:spPr>
          <a:xfrm>
            <a:off x="10510114" y="7983846"/>
            <a:ext cx="161556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实线框：已有代码 / 结构</a:t>
            </a:r>
          </a:p>
        </p:txBody>
      </p:sp>
      <p:sp>
        <p:nvSpPr>
          <p:cNvPr id="317" name="rect-316"/>
          <p:cNvSpPr/>
          <p:nvPr/>
        </p:nvSpPr>
        <p:spPr>
          <a:xfrm>
            <a:off x="10190074" y="8257032"/>
            <a:ext cx="224028" cy="147218"/>
          </a:xfrm>
          <a:prstGeom prst="rect">
            <a:avLst/>
          </a:prstGeom>
          <a:solidFill>
            <a:srgbClr val="FFF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line-317"/>
          <p:cNvCxnSpPr/>
          <p:nvPr/>
        </p:nvCxnSpPr>
        <p:spPr>
          <a:xfrm>
            <a:off x="10190074" y="8257032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19" name="line-318"/>
          <p:cNvCxnSpPr/>
          <p:nvPr/>
        </p:nvCxnSpPr>
        <p:spPr>
          <a:xfrm>
            <a:off x="10318090" y="8257032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0" name="line-319"/>
          <p:cNvCxnSpPr/>
          <p:nvPr/>
        </p:nvCxnSpPr>
        <p:spPr>
          <a:xfrm>
            <a:off x="10190074" y="8404250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1" name="line-320"/>
          <p:cNvCxnSpPr/>
          <p:nvPr/>
        </p:nvCxnSpPr>
        <p:spPr>
          <a:xfrm>
            <a:off x="10318090" y="8404250"/>
            <a:ext cx="70408" cy="0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2" name="line-321"/>
          <p:cNvCxnSpPr/>
          <p:nvPr/>
        </p:nvCxnSpPr>
        <p:spPr>
          <a:xfrm>
            <a:off x="10190074" y="825703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3" name="line-322"/>
          <p:cNvCxnSpPr/>
          <p:nvPr/>
        </p:nvCxnSpPr>
        <p:spPr>
          <a:xfrm>
            <a:off x="10190074" y="8385048"/>
            <a:ext cx="0" cy="19202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4" name="line-323"/>
          <p:cNvCxnSpPr/>
          <p:nvPr/>
        </p:nvCxnSpPr>
        <p:spPr>
          <a:xfrm>
            <a:off x="10414102" y="8257032"/>
            <a:ext cx="0" cy="70409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cxnSp>
        <p:nvCxnSpPr>
          <p:cNvPr id="325" name="line-324"/>
          <p:cNvCxnSpPr/>
          <p:nvPr/>
        </p:nvCxnSpPr>
        <p:spPr>
          <a:xfrm>
            <a:off x="10414102" y="8385048"/>
            <a:ext cx="0" cy="19202"/>
          </a:xfrm>
          <a:prstGeom prst="line">
            <a:avLst/>
          </a:prstGeom>
          <a:ln w="11521" cap="flat">
            <a:solidFill>
              <a:srgbClr val="AD6631"/>
            </a:solidFill>
          </a:ln>
          <a:effectLst/>
        </p:spPr>
      </p:cxnSp>
      <p:sp>
        <p:nvSpPr>
          <p:cNvPr id="326" name="text-325: 虚线框：规划中的扩展"/>
          <p:cNvSpPr txBox="1"/>
          <p:nvPr/>
        </p:nvSpPr>
        <p:spPr>
          <a:xfrm>
            <a:off x="10510114" y="8239878"/>
            <a:ext cx="147858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虚线框：规划中的扩展</a:t>
            </a:r>
          </a:p>
        </p:txBody>
      </p:sp>
      <p:cxnSp>
        <p:nvCxnSpPr>
          <p:cNvPr id="327" name="line-326"/>
          <p:cNvCxnSpPr/>
          <p:nvPr/>
        </p:nvCxnSpPr>
        <p:spPr>
          <a:xfrm>
            <a:off x="10190074" y="8577072"/>
            <a:ext cx="224028" cy="0"/>
          </a:xfrm>
          <a:prstGeom prst="line">
            <a:avLst/>
          </a:prstGeom>
          <a:ln w="16002" cap="flat">
            <a:solidFill>
              <a:srgbClr val="28619B"/>
            </a:solidFill>
          </a:ln>
          <a:effectLst/>
        </p:spPr>
      </p:cxnSp>
      <p:sp>
        <p:nvSpPr>
          <p:cNvPr id="328" name="polygon-327"/>
          <p:cNvSpPr/>
          <p:nvPr/>
        </p:nvSpPr>
        <p:spPr>
          <a:xfrm>
            <a:off x="10356494" y="8551469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57607" y="25603"/>
                </a:moveTo>
                <a:lnTo>
                  <a:pt x="0" y="51206"/>
                </a:lnTo>
                <a:lnTo>
                  <a:pt x="0" y="0"/>
                </a:lnTo>
                <a:close/>
              </a:path>
            </a:pathLst>
          </a:custGeom>
          <a:solidFill>
            <a:srgbClr val="2861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text-328: 蓝色箭头：代表性调用"/>
          <p:cNvSpPr txBox="1"/>
          <p:nvPr/>
        </p:nvSpPr>
        <p:spPr>
          <a:xfrm>
            <a:off x="10510114" y="8476707"/>
            <a:ext cx="1478585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蓝色箭头：代表性调用</a:t>
            </a:r>
          </a:p>
        </p:txBody>
      </p:sp>
      <p:cxnSp>
        <p:nvCxnSpPr>
          <p:cNvPr id="330" name="line-329"/>
          <p:cNvCxnSpPr/>
          <p:nvPr/>
        </p:nvCxnSpPr>
        <p:spPr>
          <a:xfrm>
            <a:off x="10190074" y="8833104"/>
            <a:ext cx="224028" cy="0"/>
          </a:xfrm>
          <a:prstGeom prst="line">
            <a:avLst/>
          </a:prstGeom>
          <a:ln w="16002" cap="flat">
            <a:solidFill>
              <a:srgbClr val="AD6631"/>
            </a:solidFill>
          </a:ln>
          <a:effectLst/>
        </p:spPr>
      </p:cxnSp>
      <p:sp>
        <p:nvSpPr>
          <p:cNvPr id="331" name="polygon-330"/>
          <p:cNvSpPr/>
          <p:nvPr/>
        </p:nvSpPr>
        <p:spPr>
          <a:xfrm>
            <a:off x="10356494" y="8807501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57607" y="25603"/>
                </a:moveTo>
                <a:lnTo>
                  <a:pt x="0" y="51206"/>
                </a:lnTo>
                <a:lnTo>
                  <a:pt x="0" y="0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polygon-331"/>
          <p:cNvSpPr/>
          <p:nvPr/>
        </p:nvSpPr>
        <p:spPr>
          <a:xfrm>
            <a:off x="10190074" y="8807501"/>
            <a:ext cx="57607" cy="51206"/>
          </a:xfrm>
          <a:custGeom>
            <a:avLst/>
            <a:gdLst/>
            <a:ahLst/>
            <a:cxnLst/>
            <a:rect l="0" t="0" r="r" b="b"/>
            <a:pathLst>
              <a:path w="57607" h="51206">
                <a:moveTo>
                  <a:pt x="0" y="25603"/>
                </a:moveTo>
                <a:lnTo>
                  <a:pt x="57607" y="0"/>
                </a:lnTo>
                <a:lnTo>
                  <a:pt x="57607" y="51206"/>
                </a:lnTo>
                <a:close/>
              </a:path>
            </a:pathLst>
          </a:custGeom>
          <a:solidFill>
            <a:srgbClr val="AD66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text-332: 棕色箭头：硬件连接"/>
          <p:cNvSpPr txBox="1"/>
          <p:nvPr/>
        </p:nvSpPr>
        <p:spPr>
          <a:xfrm>
            <a:off x="10510114" y="8732739"/>
            <a:ext cx="1344168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棕色箭头：硬件连接</a:t>
            </a:r>
          </a:p>
        </p:txBody>
      </p:sp>
      <p:sp>
        <p:nvSpPr>
          <p:cNvPr id="334" name="text-333: 说明：图示为职责与结构总览；模块按配置启用，已有结构不代表全部功能已仿真或板测。"/>
          <p:cNvSpPr txBox="1"/>
          <p:nvPr/>
        </p:nvSpPr>
        <p:spPr>
          <a:xfrm>
            <a:off x="256032" y="9270407"/>
            <a:ext cx="5511089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说明：图示为职责与结构总览；模块按配置启用，已有结构不代表全部功能已仿真或板测。</a:t>
            </a:r>
          </a:p>
        </p:txBody>
      </p:sp>
      <p:sp>
        <p:nvSpPr>
          <p:cNvPr id="335" name="text-334: L01 · 2026-10-09"/>
          <p:cNvSpPr txBox="1"/>
          <p:nvPr/>
        </p:nvSpPr>
        <p:spPr>
          <a:xfrm>
            <a:off x="11325676" y="9270407"/>
            <a:ext cx="1219892" cy="2150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L01 · 2026-10-09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