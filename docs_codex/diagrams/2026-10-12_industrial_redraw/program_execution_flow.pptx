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260800" cy="1645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从复位到应用返回的程序执行流程"/>
          <p:cNvSpPr txBox="1"/>
          <p:nvPr/>
        </p:nvSpPr>
        <p:spPr>
          <a:xfrm>
            <a:off x="548640" y="226284"/>
            <a:ext cx="8388096" cy="8388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1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从复位到应用返回的程序执行流程</a:t>
            </a:r>
          </a:p>
        </p:txBody>
      </p:sp>
      <p:sp>
        <p:nvSpPr>
          <p:cNvPr id="3" name="o3: SPI NOR 自主启动：boot_mode=2 · PlatformRom=0"/>
          <p:cNvSpPr txBox="1"/>
          <p:nvPr/>
        </p:nvSpPr>
        <p:spPr>
          <a:xfrm>
            <a:off x="585216" y="1049487"/>
            <a:ext cx="888711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SPI NOR 自主启动：boot_mode=2 · PlatformRom=0 · 根 SDK CRT0</a:t>
            </a:r>
          </a:p>
        </p:txBody>
      </p:sp>
      <p:sp>
        <p:nvSpPr>
          <p:cNvPr id="4" name="rom-domain"/>
          <p:cNvSpPr/>
          <p:nvPr/>
        </p:nvSpPr>
        <p:spPr>
          <a:xfrm>
            <a:off x="731520" y="2316480"/>
            <a:ext cx="9022080" cy="12557760"/>
          </a:xfrm>
          <a:prstGeom prst="rect">
            <a:avLst/>
          </a:prstGeom>
          <a:solidFill>
            <a:srgbClr val="D8E8F4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片上 Boot ROM 镜像"/>
          <p:cNvSpPr txBox="1"/>
          <p:nvPr/>
        </p:nvSpPr>
        <p:spPr>
          <a:xfrm>
            <a:off x="3411264" y="2445715"/>
            <a:ext cx="3662591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片上 Boot ROM 镜像</a:t>
            </a:r>
          </a:p>
        </p:txBody>
      </p:sp>
      <p:sp>
        <p:nvSpPr>
          <p:cNvPr id="6" name="payload-domain"/>
          <p:cNvSpPr/>
          <p:nvPr/>
        </p:nvSpPr>
        <p:spPr>
          <a:xfrm>
            <a:off x="10363200" y="2316480"/>
            <a:ext cx="9022080" cy="12557760"/>
          </a:xfrm>
          <a:prstGeom prst="rect">
            <a:avLst/>
          </a:prstGeom>
          <a:solidFill>
            <a:srgbClr val="D9EEE8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SPM 中的应用 / ZSL 镜像"/>
          <p:cNvSpPr txBox="1"/>
          <p:nvPr/>
        </p:nvSpPr>
        <p:spPr>
          <a:xfrm>
            <a:off x="12611100" y="2445715"/>
            <a:ext cx="4526280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中的应用 / ZSL 镜像</a:t>
            </a:r>
          </a:p>
        </p:txBody>
      </p:sp>
      <p:sp>
        <p:nvSpPr>
          <p:cNvPr id="8" name="state-domain"/>
          <p:cNvSpPr/>
          <p:nvPr/>
        </p:nvSpPr>
        <p:spPr>
          <a:xfrm>
            <a:off x="19994880" y="2316480"/>
            <a:ext cx="8534400" cy="12557760"/>
          </a:xfrm>
          <a:prstGeom prst="rect">
            <a:avLst/>
          </a:prstGeom>
          <a:solidFill>
            <a:srgbClr val="E8DFED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9: 完成后的状态与观察"/>
          <p:cNvSpPr txBox="1"/>
          <p:nvPr/>
        </p:nvSpPr>
        <p:spPr>
          <a:xfrm>
            <a:off x="22433280" y="2445715"/>
            <a:ext cx="3657600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完成后的状态与观察</a:t>
            </a:r>
          </a:p>
        </p:txBody>
      </p:sp>
      <p:sp>
        <p:nvSpPr>
          <p:cNvPr id="10" name="reset"/>
          <p:cNvSpPr/>
          <p:nvPr/>
        </p:nvSpPr>
        <p:spPr>
          <a:xfrm>
            <a:off x="1219200" y="3413760"/>
            <a:ext cx="8046720" cy="12192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11: 复位释放 → ROM _start"/>
          <p:cNvSpPr txBox="1"/>
          <p:nvPr/>
        </p:nvSpPr>
        <p:spPr>
          <a:xfrm>
            <a:off x="3207134" y="3554456"/>
            <a:ext cx="4070852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复位释放 → ROM _start</a:t>
            </a:r>
          </a:p>
        </p:txBody>
      </p:sp>
      <p:sp>
        <p:nvSpPr>
          <p:cNvPr id="12" name="o12: cheshire_bootrom.S @ ROM"/>
          <p:cNvSpPr txBox="1"/>
          <p:nvPr/>
        </p:nvSpPr>
        <p:spPr>
          <a:xfrm>
            <a:off x="3304889" y="4034820"/>
            <a:ext cx="387534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cheshire_bootrom.S @ ROM</a:t>
            </a:r>
          </a:p>
        </p:txBody>
      </p:sp>
      <p:sp>
        <p:nvSpPr>
          <p:cNvPr id="13" name="early"/>
          <p:cNvSpPr/>
          <p:nvPr/>
        </p:nvSpPr>
        <p:spPr>
          <a:xfrm>
            <a:off x="1219200" y="5486400"/>
            <a:ext cx="8046720" cy="18288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14: 早期环境与 LLC 初始化"/>
          <p:cNvSpPr txBox="1"/>
          <p:nvPr/>
        </p:nvSpPr>
        <p:spPr>
          <a:xfrm>
            <a:off x="3259274" y="5724632"/>
            <a:ext cx="3966572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早期环境与 LLC 初始化</a:t>
            </a:r>
          </a:p>
        </p:txBody>
      </p:sp>
      <p:sp>
        <p:nvSpPr>
          <p:cNvPr id="15" name="o15: 等待 BIST · 配置 SPM / 栈"/>
          <p:cNvSpPr txBox="1"/>
          <p:nvPr/>
        </p:nvSpPr>
        <p:spPr>
          <a:xfrm>
            <a:off x="3405902" y="6204996"/>
            <a:ext cx="367331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等待 BIST · 配置 SPM / 栈</a:t>
            </a:r>
          </a:p>
        </p:txBody>
      </p:sp>
      <p:sp>
        <p:nvSpPr>
          <p:cNvPr id="16" name="o16: PlatformRom=0：跳过平台钩子"/>
          <p:cNvSpPr txBox="1"/>
          <p:nvPr/>
        </p:nvSpPr>
        <p:spPr>
          <a:xfrm>
            <a:off x="3075575" y="6619524"/>
            <a:ext cx="433397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PlatformRom=0：跳过平台钩子</a:t>
            </a:r>
          </a:p>
        </p:txBody>
      </p:sp>
      <p:sp>
        <p:nvSpPr>
          <p:cNvPr id="17" name="rom-main"/>
          <p:cNvSpPr/>
          <p:nvPr/>
        </p:nvSpPr>
        <p:spPr>
          <a:xfrm>
            <a:off x="1219200" y="8168640"/>
            <a:ext cx="8046720" cy="18288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18: cheshire_bootrom.c · main"/>
          <p:cNvSpPr txBox="1"/>
          <p:nvPr/>
        </p:nvSpPr>
        <p:spPr>
          <a:xfrm>
            <a:off x="3018082" y="8406872"/>
            <a:ext cx="4448956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cheshire_bootrom.c · main</a:t>
            </a:r>
          </a:p>
        </p:txBody>
      </p:sp>
      <p:sp>
        <p:nvSpPr>
          <p:cNvPr id="19" name="o19: boot_mode / RTC 测频"/>
          <p:cNvSpPr txBox="1"/>
          <p:nvPr/>
        </p:nvSpPr>
        <p:spPr>
          <a:xfrm>
            <a:off x="3628787" y="8887236"/>
            <a:ext cx="322754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boot_mode / RTC 测频</a:t>
            </a:r>
          </a:p>
        </p:txBody>
      </p:sp>
      <p:sp>
        <p:nvSpPr>
          <p:cNvPr id="20" name="o20: boot_spi_s25fs512s 初始化 SPI"/>
          <p:cNvSpPr txBox="1"/>
          <p:nvPr/>
        </p:nvSpPr>
        <p:spPr>
          <a:xfrm>
            <a:off x="3029140" y="9301764"/>
            <a:ext cx="4426839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boot_spi_s25fs512s 初始化 SPI</a:t>
            </a:r>
          </a:p>
        </p:txBody>
      </p:sp>
      <p:sp>
        <p:nvSpPr>
          <p:cNvPr id="21" name="gpt-load"/>
          <p:cNvSpPr/>
          <p:nvPr/>
        </p:nvSpPr>
        <p:spPr>
          <a:xfrm>
            <a:off x="1219200" y="10850880"/>
            <a:ext cx="8046720" cy="134112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22: gpt_boot_part_else_raw"/>
          <p:cNvSpPr txBox="1"/>
          <p:nvPr/>
        </p:nvSpPr>
        <p:spPr>
          <a:xfrm>
            <a:off x="3233185" y="11052536"/>
            <a:ext cx="4018750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gpt_boot_part_else_raw</a:t>
            </a:r>
          </a:p>
        </p:txBody>
      </p:sp>
      <p:sp>
        <p:nvSpPr>
          <p:cNvPr id="23" name="o23: 镜像字节 → SPM 的 code_buf"/>
          <p:cNvSpPr txBox="1"/>
          <p:nvPr/>
        </p:nvSpPr>
        <p:spPr>
          <a:xfrm>
            <a:off x="3169158" y="11532900"/>
            <a:ext cx="414680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镜像字节 → SPM 的 code_buf</a:t>
            </a:r>
          </a:p>
        </p:txBody>
      </p:sp>
      <p:sp>
        <p:nvSpPr>
          <p:cNvPr id="24" name="handoff"/>
          <p:cNvSpPr/>
          <p:nvPr/>
        </p:nvSpPr>
        <p:spPr>
          <a:xfrm>
            <a:off x="1219200" y="13167360"/>
            <a:ext cx="8046720" cy="11582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25: boot_next_stage"/>
          <p:cNvSpPr txBox="1"/>
          <p:nvPr/>
        </p:nvSpPr>
        <p:spPr>
          <a:xfrm>
            <a:off x="3794617" y="13277576"/>
            <a:ext cx="2895886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boot_next_stage</a:t>
            </a:r>
          </a:p>
        </p:txBody>
      </p:sp>
      <p:sp>
        <p:nvSpPr>
          <p:cNvPr id="26" name="o26: jalr ra, 0(t0)"/>
          <p:cNvSpPr txBox="1"/>
          <p:nvPr/>
        </p:nvSpPr>
        <p:spPr>
          <a:xfrm>
            <a:off x="4336447" y="13757940"/>
            <a:ext cx="181222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jalr ra, 0(t0)</a:t>
            </a:r>
          </a:p>
        </p:txBody>
      </p:sp>
      <p:sp>
        <p:nvSpPr>
          <p:cNvPr id="27" name="payload-start"/>
          <p:cNvSpPr/>
          <p:nvPr/>
        </p:nvSpPr>
        <p:spPr>
          <a:xfrm>
            <a:off x="10850880" y="3413760"/>
            <a:ext cx="8046720" cy="12192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28: 载荷 _start @ 镜像起点"/>
          <p:cNvSpPr txBox="1"/>
          <p:nvPr/>
        </p:nvSpPr>
        <p:spPr>
          <a:xfrm>
            <a:off x="12891468" y="3554456"/>
            <a:ext cx="3965543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载荷 _start @ 镜像起点</a:t>
            </a:r>
          </a:p>
        </p:txBody>
      </p:sp>
      <p:sp>
        <p:nvSpPr>
          <p:cNvPr id="29" name="o29: 由 sw/lib/crt0.S 提供"/>
          <p:cNvSpPr txBox="1"/>
          <p:nvPr/>
        </p:nvSpPr>
        <p:spPr>
          <a:xfrm>
            <a:off x="13342191" y="4034820"/>
            <a:ext cx="3064097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由 sw/lib/crt0.S 提供</a:t>
            </a:r>
          </a:p>
        </p:txBody>
      </p:sp>
      <p:sp>
        <p:nvSpPr>
          <p:cNvPr id="30" name="runtime"/>
          <p:cNvSpPr/>
          <p:nvPr/>
        </p:nvSpPr>
        <p:spPr>
          <a:xfrm>
            <a:off x="10850880" y="5486400"/>
            <a:ext cx="8046720" cy="195072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31: CRT0：应用运行环境"/>
          <p:cNvSpPr txBox="1"/>
          <p:nvPr/>
        </p:nvSpPr>
        <p:spPr>
          <a:xfrm>
            <a:off x="13046669" y="5785592"/>
            <a:ext cx="3655143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CRT0：应用运行环境</a:t>
            </a:r>
          </a:p>
        </p:txBody>
      </p:sp>
      <p:sp>
        <p:nvSpPr>
          <p:cNvPr id="32" name="o32: sp / gp、mtvec、BSS、FP"/>
          <p:cNvSpPr txBox="1"/>
          <p:nvPr/>
        </p:nvSpPr>
        <p:spPr>
          <a:xfrm>
            <a:off x="13014722" y="6265956"/>
            <a:ext cx="371903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 / gp、mtvec、BSS、FP</a:t>
            </a:r>
          </a:p>
        </p:txBody>
      </p:sp>
      <p:sp>
        <p:nvSpPr>
          <p:cNvPr id="33" name="o33: 保存进入应用的 ra；call main"/>
          <p:cNvSpPr txBox="1"/>
          <p:nvPr/>
        </p:nvSpPr>
        <p:spPr>
          <a:xfrm>
            <a:off x="12812554" y="6680484"/>
            <a:ext cx="412337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保存进入应用的 ra；call main</a:t>
            </a:r>
          </a:p>
        </p:txBody>
      </p:sp>
      <p:sp>
        <p:nvSpPr>
          <p:cNvPr id="34" name="app"/>
          <p:cNvSpPr/>
          <p:nvPr/>
        </p:nvSpPr>
        <p:spPr>
          <a:xfrm>
            <a:off x="10850880" y="8656320"/>
            <a:ext cx="8046720" cy="20726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35: 载荷自己的 main()"/>
          <p:cNvSpPr txBox="1"/>
          <p:nvPr/>
        </p:nvSpPr>
        <p:spPr>
          <a:xfrm>
            <a:off x="13276802" y="9016472"/>
            <a:ext cx="3194876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载荷自己的 main()</a:t>
            </a:r>
          </a:p>
        </p:txBody>
      </p:sp>
      <p:sp>
        <p:nvSpPr>
          <p:cNvPr id="36" name="o36: 执行任务"/>
          <p:cNvSpPr txBox="1"/>
          <p:nvPr/>
        </p:nvSpPr>
        <p:spPr>
          <a:xfrm>
            <a:off x="14142720" y="9496836"/>
            <a:ext cx="146304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执行任务</a:t>
            </a:r>
          </a:p>
        </p:txBody>
      </p:sp>
      <p:sp>
        <p:nvSpPr>
          <p:cNvPr id="37" name="o37: 不返回则继续按程序运行"/>
          <p:cNvSpPr txBox="1"/>
          <p:nvPr/>
        </p:nvSpPr>
        <p:spPr>
          <a:xfrm>
            <a:off x="13118592" y="9911364"/>
            <a:ext cx="351129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不返回则继续按程序运行</a:t>
            </a:r>
          </a:p>
        </p:txBody>
      </p:sp>
      <p:sp>
        <p:nvSpPr>
          <p:cNvPr id="38" name="exit"/>
          <p:cNvSpPr/>
          <p:nvPr/>
        </p:nvSpPr>
        <p:spPr>
          <a:xfrm>
            <a:off x="10850880" y="12557760"/>
            <a:ext cx="8046720" cy="17678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39: 应用 CRT0 · _exit"/>
          <p:cNvSpPr txBox="1"/>
          <p:nvPr/>
        </p:nvSpPr>
        <p:spPr>
          <a:xfrm>
            <a:off x="13369166" y="12765512"/>
            <a:ext cx="3010148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应用 CRT0 · _exit</a:t>
            </a:r>
          </a:p>
        </p:txBody>
      </p:sp>
      <p:sp>
        <p:nvSpPr>
          <p:cNvPr id="40" name="o40: scratch2 = (返回值 &lt;&lt; 1) | 1"/>
          <p:cNvSpPr txBox="1"/>
          <p:nvPr/>
        </p:nvSpPr>
        <p:spPr>
          <a:xfrm>
            <a:off x="12906280" y="13245876"/>
            <a:ext cx="393592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scratch2 = (返回值 &lt;&lt; 1) | 1</a:t>
            </a:r>
          </a:p>
        </p:txBody>
      </p:sp>
      <p:sp>
        <p:nvSpPr>
          <p:cNvPr id="41" name="o41: 恢复栈上 sp / gp / ra，然后 ret"/>
          <p:cNvSpPr txBox="1"/>
          <p:nvPr/>
        </p:nvSpPr>
        <p:spPr>
          <a:xfrm>
            <a:off x="12683823" y="13660404"/>
            <a:ext cx="438083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恢复栈上 sp / gp / ra，然后 ret</a:t>
            </a:r>
          </a:p>
        </p:txBody>
      </p:sp>
      <p:sp>
        <p:nvSpPr>
          <p:cNvPr id="42" name="running"/>
          <p:cNvSpPr/>
          <p:nvPr/>
        </p:nvSpPr>
        <p:spPr>
          <a:xfrm>
            <a:off x="20482560" y="3413760"/>
            <a:ext cx="7559040" cy="26822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43: return 不会自动停机"/>
          <p:cNvSpPr txBox="1"/>
          <p:nvPr/>
        </p:nvSpPr>
        <p:spPr>
          <a:xfrm>
            <a:off x="22516338" y="4078712"/>
            <a:ext cx="3491484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return 不会自动停机</a:t>
            </a:r>
          </a:p>
        </p:txBody>
      </p:sp>
      <p:sp>
        <p:nvSpPr>
          <p:cNvPr id="44" name="o44: 不自动复位 / 断电 / 换权限"/>
          <p:cNvSpPr txBox="1"/>
          <p:nvPr/>
        </p:nvSpPr>
        <p:spPr>
          <a:xfrm>
            <a:off x="22325266" y="4559076"/>
            <a:ext cx="3873627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不自动复位 / 断电 / 换权限</a:t>
            </a:r>
          </a:p>
        </p:txBody>
      </p:sp>
      <p:sp>
        <p:nvSpPr>
          <p:cNvPr id="45" name="o45: CPU 仍由时钟驱动并继续取指"/>
          <p:cNvSpPr txBox="1"/>
          <p:nvPr/>
        </p:nvSpPr>
        <p:spPr>
          <a:xfrm>
            <a:off x="22196536" y="4973604"/>
            <a:ext cx="413108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CPU 仍由时钟驱动并继续取指</a:t>
            </a:r>
          </a:p>
        </p:txBody>
      </p:sp>
      <p:sp>
        <p:nvSpPr>
          <p:cNvPr id="46" name="rom-return"/>
          <p:cNvSpPr/>
          <p:nvPr/>
        </p:nvSpPr>
        <p:spPr>
          <a:xfrm>
            <a:off x="20482560" y="8046720"/>
            <a:ext cx="7559040" cy="3657600"/>
          </a:xfrm>
          <a:prstGeom prst="rect">
            <a:avLst/>
          </a:prstGeom>
          <a:solidFill>
            <a:srgbClr val="F1D7D9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47: 当前 ROM 的调用后返回点"/>
          <p:cNvSpPr txBox="1"/>
          <p:nvPr/>
        </p:nvSpPr>
        <p:spPr>
          <a:xfrm>
            <a:off x="22017418" y="8784824"/>
            <a:ext cx="4489323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 ROM 的调用后返回点</a:t>
            </a:r>
          </a:p>
        </p:txBody>
      </p:sp>
      <p:sp>
        <p:nvSpPr>
          <p:cNvPr id="48" name="o48: boot_next_stage：jalr 后为 ret"/>
          <p:cNvSpPr txBox="1"/>
          <p:nvPr/>
        </p:nvSpPr>
        <p:spPr>
          <a:xfrm>
            <a:off x="22172104" y="9265188"/>
            <a:ext cx="417995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boot_next_stage：jalr 后为 ret</a:t>
            </a:r>
          </a:p>
        </p:txBody>
      </p:sp>
      <p:sp>
        <p:nvSpPr>
          <p:cNvPr id="49" name="o49: 未保存上一层 ra"/>
          <p:cNvSpPr txBox="1"/>
          <p:nvPr/>
        </p:nvSpPr>
        <p:spPr>
          <a:xfrm>
            <a:off x="23068502" y="9679716"/>
            <a:ext cx="238715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未保存上一层 ra</a:t>
            </a:r>
          </a:p>
        </p:txBody>
      </p:sp>
      <p:sp>
        <p:nvSpPr>
          <p:cNvPr id="50" name="o50: 可形成 ret 自循环（源码推导）"/>
          <p:cNvSpPr txBox="1"/>
          <p:nvPr/>
        </p:nvSpPr>
        <p:spPr>
          <a:xfrm>
            <a:off x="22100096" y="10094244"/>
            <a:ext cx="4323969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可形成 ret 自循环（源码推导）</a:t>
            </a:r>
          </a:p>
        </p:txBody>
      </p:sp>
      <p:sp>
        <p:nvSpPr>
          <p:cNvPr id="51" name="o51: 不是按设计进入 ROM _exit"/>
          <p:cNvSpPr txBox="1"/>
          <p:nvPr/>
        </p:nvSpPr>
        <p:spPr>
          <a:xfrm>
            <a:off x="22398990" y="10508772"/>
            <a:ext cx="372618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不是按设计进入 ROM _exit</a:t>
            </a:r>
          </a:p>
        </p:txBody>
      </p:sp>
      <p:sp>
        <p:nvSpPr>
          <p:cNvPr id="52" name="observer"/>
          <p:cNvSpPr/>
          <p:nvPr/>
        </p:nvSpPr>
        <p:spPr>
          <a:xfrm>
            <a:off x="20482560" y="12679680"/>
            <a:ext cx="7559040" cy="18288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53: 仿真 / 调试器等外部观察者"/>
          <p:cNvSpPr txBox="1"/>
          <p:nvPr/>
        </p:nvSpPr>
        <p:spPr>
          <a:xfrm>
            <a:off x="21942828" y="12917912"/>
            <a:ext cx="4638504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仿真 / 调试器等外部观察者</a:t>
            </a:r>
          </a:p>
        </p:txBody>
      </p:sp>
      <p:sp>
        <p:nvSpPr>
          <p:cNvPr id="54" name="o54: 读取 scratch2 完成标志"/>
          <p:cNvSpPr txBox="1"/>
          <p:nvPr/>
        </p:nvSpPr>
        <p:spPr>
          <a:xfrm>
            <a:off x="22595014" y="13398276"/>
            <a:ext cx="333413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读取 scratch2 完成标志</a:t>
            </a:r>
          </a:p>
        </p:txBody>
      </p:sp>
      <p:sp>
        <p:nvSpPr>
          <p:cNvPr id="55" name="o55: TB 可结束仿真；不等于 CPU 停机"/>
          <p:cNvSpPr txBox="1"/>
          <p:nvPr/>
        </p:nvSpPr>
        <p:spPr>
          <a:xfrm>
            <a:off x="21945076" y="13812804"/>
            <a:ext cx="463400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TB 可结束仿真；不等于 CPU 停机</a:t>
            </a:r>
          </a:p>
        </p:txBody>
      </p:sp>
      <p:cxnSp>
        <p:nvCxnSpPr>
          <p:cNvPr id="56" name="rom-step0"/>
          <p:cNvCxnSpPr/>
          <p:nvPr/>
        </p:nvCxnSpPr>
        <p:spPr>
          <a:xfrm>
            <a:off x="5242560" y="4632960"/>
            <a:ext cx="0" cy="85344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57" name="rom-step1"/>
          <p:cNvCxnSpPr/>
          <p:nvPr/>
        </p:nvCxnSpPr>
        <p:spPr>
          <a:xfrm>
            <a:off x="5242560" y="7315200"/>
            <a:ext cx="0" cy="85344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58" name="rom-step2"/>
          <p:cNvCxnSpPr/>
          <p:nvPr/>
        </p:nvCxnSpPr>
        <p:spPr>
          <a:xfrm>
            <a:off x="5242560" y="9997440"/>
            <a:ext cx="0" cy="85344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59" name="rom-step3"/>
          <p:cNvCxnSpPr/>
          <p:nvPr/>
        </p:nvCxnSpPr>
        <p:spPr>
          <a:xfrm>
            <a:off x="5242560" y="12192000"/>
            <a:ext cx="0" cy="97536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60" name="o60: call main"/>
          <p:cNvSpPr txBox="1"/>
          <p:nvPr/>
        </p:nvSpPr>
        <p:spPr>
          <a:xfrm>
            <a:off x="6104906" y="7561966"/>
            <a:ext cx="1323308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call main</a:t>
            </a:r>
          </a:p>
        </p:txBody>
      </p:sp>
      <p:sp>
        <p:nvSpPr>
          <p:cNvPr id="61" name="jalr-entry"/>
          <p:cNvSpPr/>
          <p:nvPr/>
        </p:nvSpPr>
        <p:spPr>
          <a:xfrm>
            <a:off x="9265920" y="4023360"/>
            <a:ext cx="1584960" cy="9717024"/>
          </a:xfrm>
          <a:custGeom>
            <a:avLst/>
            <a:gdLst/>
            <a:ahLst/>
            <a:cxnLst/>
            <a:rect l="0" t="0" r="r" b="b"/>
            <a:pathLst>
              <a:path w="1584960" h="9717024" fill="none">
                <a:moveTo>
                  <a:pt x="0" y="9717024"/>
                </a:moveTo>
                <a:lnTo>
                  <a:pt x="731520" y="9717024"/>
                </a:lnTo>
                <a:lnTo>
                  <a:pt x="731520" y="0"/>
                </a:lnTo>
                <a:lnTo>
                  <a:pt x="1584960" y="0"/>
                </a:lnTo>
              </a:path>
            </a:pathLst>
          </a:custGeom>
          <a:noFill/>
          <a:ln w="3657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62: jalr：转入载荷入口"/>
          <p:cNvSpPr txBox="1"/>
          <p:nvPr/>
        </p:nvSpPr>
        <p:spPr>
          <a:xfrm>
            <a:off x="8609886" y="15289743"/>
            <a:ext cx="272634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jalr：转入载荷入口</a:t>
            </a:r>
          </a:p>
        </p:txBody>
      </p:sp>
      <p:cxnSp>
        <p:nvCxnSpPr>
          <p:cNvPr id="63" name="start-runtime"/>
          <p:cNvCxnSpPr/>
          <p:nvPr/>
        </p:nvCxnSpPr>
        <p:spPr>
          <a:xfrm>
            <a:off x="14874240" y="4632960"/>
            <a:ext cx="0" cy="853440"/>
          </a:xfrm>
          <a:prstGeom prst="line">
            <a:avLst/>
          </a:prstGeom>
          <a:ln w="36576" cap="flat">
            <a:solidFill>
              <a:srgbClr val="187C78"/>
            </a:solidFill>
            <a:tailEnd type="triangle" w="med" len="med"/>
          </a:ln>
          <a:effectLst/>
        </p:spPr>
      </p:cxnSp>
      <p:cxnSp>
        <p:nvCxnSpPr>
          <p:cNvPr id="64" name="runtime-main"/>
          <p:cNvCxnSpPr/>
          <p:nvPr/>
        </p:nvCxnSpPr>
        <p:spPr>
          <a:xfrm>
            <a:off x="14874240" y="7437120"/>
            <a:ext cx="0" cy="1219200"/>
          </a:xfrm>
          <a:prstGeom prst="line">
            <a:avLst/>
          </a:prstGeom>
          <a:ln w="36576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65" name="o65: call"/>
          <p:cNvSpPr txBox="1"/>
          <p:nvPr/>
        </p:nvSpPr>
        <p:spPr>
          <a:xfrm>
            <a:off x="16596770" y="7817023"/>
            <a:ext cx="700221" cy="448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call</a:t>
            </a:r>
          </a:p>
        </p:txBody>
      </p:sp>
      <p:cxnSp>
        <p:nvCxnSpPr>
          <p:cNvPr id="66" name="main-exit"/>
          <p:cNvCxnSpPr/>
          <p:nvPr/>
        </p:nvCxnSpPr>
        <p:spPr>
          <a:xfrm>
            <a:off x="14874240" y="10728960"/>
            <a:ext cx="0" cy="1828800"/>
          </a:xfrm>
          <a:prstGeom prst="line">
            <a:avLst/>
          </a:prstGeom>
          <a:ln w="36576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67" name="o67: main 正常返回"/>
          <p:cNvSpPr txBox="1"/>
          <p:nvPr/>
        </p:nvSpPr>
        <p:spPr>
          <a:xfrm>
            <a:off x="15904216" y="11486815"/>
            <a:ext cx="2085327" cy="448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main 正常返回</a:t>
            </a:r>
          </a:p>
        </p:txBody>
      </p:sp>
      <p:sp>
        <p:nvSpPr>
          <p:cNvPr id="68" name="return-rom"/>
          <p:cNvSpPr/>
          <p:nvPr/>
        </p:nvSpPr>
        <p:spPr>
          <a:xfrm>
            <a:off x="18897600" y="9875520"/>
            <a:ext cx="1584960" cy="3560064"/>
          </a:xfrm>
          <a:custGeom>
            <a:avLst/>
            <a:gdLst/>
            <a:ahLst/>
            <a:cxnLst/>
            <a:rect l="0" t="0" r="r" b="b"/>
            <a:pathLst>
              <a:path w="1584960" h="3560064" fill="none">
                <a:moveTo>
                  <a:pt x="0" y="3560064"/>
                </a:moveTo>
                <a:lnTo>
                  <a:pt x="609600" y="3560064"/>
                </a:lnTo>
                <a:lnTo>
                  <a:pt x="609600" y="0"/>
                </a:lnTo>
                <a:lnTo>
                  <a:pt x="1584960" y="0"/>
                </a:lnTo>
              </a:path>
            </a:pathLst>
          </a:custGeom>
          <a:noFill/>
          <a:ln w="3657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69: ret"/>
          <p:cNvSpPr txBox="1"/>
          <p:nvPr/>
        </p:nvSpPr>
        <p:spPr>
          <a:xfrm>
            <a:off x="19337064" y="9220078"/>
            <a:ext cx="584111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ret</a:t>
            </a:r>
          </a:p>
        </p:txBody>
      </p:sp>
      <p:sp>
        <p:nvSpPr>
          <p:cNvPr id="70" name="observe"/>
          <p:cNvSpPr/>
          <p:nvPr/>
        </p:nvSpPr>
        <p:spPr>
          <a:xfrm>
            <a:off x="18897600" y="13594080"/>
            <a:ext cx="1584960" cy="451104"/>
          </a:xfrm>
          <a:custGeom>
            <a:avLst/>
            <a:gdLst/>
            <a:ahLst/>
            <a:cxnLst/>
            <a:rect l="0" t="0" r="r" b="b"/>
            <a:pathLst>
              <a:path w="1584960" h="451104" fill="none">
                <a:moveTo>
                  <a:pt x="0" y="451104"/>
                </a:moveTo>
                <a:lnTo>
                  <a:pt x="853440" y="451104"/>
                </a:lnTo>
                <a:lnTo>
                  <a:pt x="853440" y="0"/>
                </a:lnTo>
                <a:lnTo>
                  <a:pt x="1584960" y="0"/>
                </a:lnTo>
              </a:path>
            </a:pathLst>
          </a:custGeom>
          <a:noFill/>
          <a:ln w="3657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t-loop"/>
          <p:cNvSpPr/>
          <p:nvPr/>
        </p:nvSpPr>
        <p:spPr>
          <a:xfrm>
            <a:off x="25603200" y="7437120"/>
            <a:ext cx="2682240" cy="2438400"/>
          </a:xfrm>
          <a:custGeom>
            <a:avLst/>
            <a:gdLst/>
            <a:ahLst/>
            <a:cxnLst/>
            <a:rect l="0" t="0" r="r" b="b"/>
            <a:pathLst>
              <a:path w="2682240" h="2438400" fill="none">
                <a:moveTo>
                  <a:pt x="2438400" y="2438400"/>
                </a:moveTo>
                <a:lnTo>
                  <a:pt x="2682240" y="2438400"/>
                </a:lnTo>
                <a:lnTo>
                  <a:pt x="2682240" y="0"/>
                </a:lnTo>
                <a:lnTo>
                  <a:pt x="0" y="0"/>
                </a:lnTo>
                <a:lnTo>
                  <a:pt x="0" y="609600"/>
                </a:lnTo>
              </a:path>
            </a:pathLst>
          </a:custGeom>
          <a:noFill/>
          <a:ln w="3657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o72: 可能 ret 自循环"/>
          <p:cNvSpPr txBox="1"/>
          <p:nvPr/>
        </p:nvSpPr>
        <p:spPr>
          <a:xfrm>
            <a:off x="24512749" y="6829471"/>
            <a:ext cx="2180901" cy="448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可能 ret 自循环</a:t>
            </a:r>
          </a:p>
        </p:txBody>
      </p:sp>
      <p:cxnSp>
        <p:nvCxnSpPr>
          <p:cNvPr id="73" name="legend0"/>
          <p:cNvCxnSpPr/>
          <p:nvPr/>
        </p:nvCxnSpPr>
        <p:spPr>
          <a:xfrm>
            <a:off x="670560" y="15910560"/>
            <a:ext cx="792480" cy="0"/>
          </a:xfrm>
          <a:prstGeom prst="line">
            <a:avLst/>
          </a:prstGeom>
          <a:ln w="3048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74" name="o74: ROM 流程 / 观察"/>
          <p:cNvSpPr txBox="1"/>
          <p:nvPr/>
        </p:nvSpPr>
        <p:spPr>
          <a:xfrm>
            <a:off x="1645920" y="15718414"/>
            <a:ext cx="2284343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ROM 流程 / 观察</a:t>
            </a:r>
          </a:p>
        </p:txBody>
      </p:sp>
      <p:cxnSp>
        <p:nvCxnSpPr>
          <p:cNvPr id="75" name="legend1"/>
          <p:cNvCxnSpPr/>
          <p:nvPr/>
        </p:nvCxnSpPr>
        <p:spPr>
          <a:xfrm>
            <a:off x="7132320" y="15910560"/>
            <a:ext cx="792480" cy="0"/>
          </a:xfrm>
          <a:prstGeom prst="line">
            <a:avLst/>
          </a:prstGeom>
          <a:ln w="30480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76" name="o76: 载荷执行"/>
          <p:cNvSpPr txBox="1"/>
          <p:nvPr/>
        </p:nvSpPr>
        <p:spPr>
          <a:xfrm>
            <a:off x="8107680" y="15718414"/>
            <a:ext cx="1341120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载荷执行</a:t>
            </a:r>
          </a:p>
        </p:txBody>
      </p:sp>
      <p:cxnSp>
        <p:nvCxnSpPr>
          <p:cNvPr id="77" name="legend2"/>
          <p:cNvCxnSpPr/>
          <p:nvPr/>
        </p:nvCxnSpPr>
        <p:spPr>
          <a:xfrm>
            <a:off x="13594080" y="15910560"/>
            <a:ext cx="792480" cy="0"/>
          </a:xfrm>
          <a:prstGeom prst="line">
            <a:avLst/>
          </a:prstGeom>
          <a:ln w="30480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78" name="o78: 当前返回路径缺口"/>
          <p:cNvSpPr txBox="1"/>
          <p:nvPr/>
        </p:nvSpPr>
        <p:spPr>
          <a:xfrm>
            <a:off x="14569440" y="15718414"/>
            <a:ext cx="2414016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当前返回路径缺口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