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1457960"/>
            <a:ext cx="5156200" cy="4729480"/>
          </a:xfrm>
          <a:prstGeom prst="roundRect">
            <a:avLst>
              <a:gd name="adj" fmla="val 1804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7040880" y="1457960"/>
            <a:ext cx="5369560" cy="4729480"/>
          </a:xfrm>
          <a:prstGeom prst="roundRect">
            <a:avLst>
              <a:gd name="adj" fmla="val 180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2969260" y="291592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2969260" y="4338320"/>
            <a:ext cx="1" cy="604520"/>
          </a:xfrm>
          <a:custGeom>
            <a:avLst/>
            <a:gdLst/>
            <a:ahLst/>
            <a:cxnLst/>
            <a:rect l="0" t="0" r="r" b="b"/>
            <a:pathLst>
              <a:path w="1" h="604520" fill="none">
                <a:moveTo>
                  <a:pt x="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9725660" y="291592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3"/>
          <p:cNvSpPr/>
          <p:nvPr/>
        </p:nvSpPr>
        <p:spPr>
          <a:xfrm>
            <a:off x="9725660" y="4338320"/>
            <a:ext cx="1" cy="604520"/>
          </a:xfrm>
          <a:custGeom>
            <a:avLst/>
            <a:gdLst/>
            <a:ahLst/>
            <a:cxnLst/>
            <a:rect l="0" t="0" r="r" b="b"/>
            <a:pathLst>
              <a:path w="1" h="604520" fill="none">
                <a:moveTo>
                  <a:pt x="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5"/>
          <p:cNvSpPr/>
          <p:nvPr/>
        </p:nvSpPr>
        <p:spPr>
          <a:xfrm>
            <a:off x="5334000" y="3890264"/>
            <a:ext cx="1920240" cy="1497076"/>
          </a:xfrm>
          <a:custGeom>
            <a:avLst/>
            <a:gdLst/>
            <a:ahLst/>
            <a:cxnLst/>
            <a:rect l="0" t="0" r="r" b="b"/>
            <a:pathLst>
              <a:path w="1920240" h="1497076" fill="none">
                <a:moveTo>
                  <a:pt x="0" y="1497076"/>
                </a:moveTo>
                <a:lnTo>
                  <a:pt x="960120" y="1493520"/>
                </a:lnTo>
                <a:lnTo>
                  <a:pt x="960120" y="0"/>
                </a:lnTo>
                <a:lnTo>
                  <a:pt x="1920240" y="3556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7: 从 C 到执行：主机产物如何变成目标内存与 CPU 状态"/>
          <p:cNvSpPr txBox="1"/>
          <p:nvPr/>
        </p:nvSpPr>
        <p:spPr>
          <a:xfrm>
            <a:off x="483616" y="271109"/>
            <a:ext cx="670803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从 C 到执行：主机产物如何变成目标内存与 CPU 状态</a:t>
            </a:r>
          </a:p>
        </p:txBody>
      </p:sp>
      <p:sp>
        <p:nvSpPr>
          <p:cNvPr id="13" name="text-018: JTAG 直接加载路径；自主介质启动另由 ROM 按 GPT/raw 等规则读取"/>
          <p:cNvSpPr txBox="1"/>
          <p:nvPr/>
        </p:nvSpPr>
        <p:spPr>
          <a:xfrm>
            <a:off x="483616" y="676778"/>
            <a:ext cx="61095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JTAG 直接加载路径；自主介质启动另由 ROM 按 GPT/raw 等规则读取镜像。</a:t>
            </a:r>
          </a:p>
        </p:txBody>
      </p:sp>
      <p:sp>
        <p:nvSpPr>
          <p:cNvPr id="14" name="text-019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5" name="text-020: 源码：sw/lib/crt0.S；hw/bootrom；elfloader.cp"/>
          <p:cNvSpPr txBox="1"/>
          <p:nvPr/>
        </p:nvSpPr>
        <p:spPr>
          <a:xfrm>
            <a:off x="341376" y="7726477"/>
            <a:ext cx="608076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源码：sw/lib/crt0.S；hw/bootrom；elfloader.cpp；vip_cheshire_soc.sv</a:t>
            </a:r>
          </a:p>
        </p:txBody>
      </p:sp>
      <p:sp>
        <p:nvSpPr>
          <p:cNvPr id="16" name="text-021: 主机侧：字节、布局与入口"/>
          <p:cNvSpPr txBox="1"/>
          <p:nvPr/>
        </p:nvSpPr>
        <p:spPr>
          <a:xfrm>
            <a:off x="519176" y="1514856"/>
            <a:ext cx="2311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主机侧：字节、布局与入口</a:t>
            </a:r>
          </a:p>
        </p:txBody>
      </p:sp>
      <p:sp>
        <p:nvSpPr>
          <p:cNvPr id="17" name="text-022: 目标侧：存储、寄存器与执行"/>
          <p:cNvSpPr txBox="1"/>
          <p:nvPr/>
        </p:nvSpPr>
        <p:spPr>
          <a:xfrm>
            <a:off x="7168896" y="1514856"/>
            <a:ext cx="24892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目标侧：存储、寄存器与执行</a:t>
            </a:r>
          </a:p>
        </p:txBody>
      </p:sp>
      <p:sp>
        <p:nvSpPr>
          <p:cNvPr id="18" name="rect-023"/>
          <p:cNvSpPr/>
          <p:nvPr/>
        </p:nvSpPr>
        <p:spPr>
          <a:xfrm>
            <a:off x="604520" y="202692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24"/>
          <p:cNvSpPr/>
          <p:nvPr/>
        </p:nvSpPr>
        <p:spPr>
          <a:xfrm>
            <a:off x="604520" y="202692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5: journey.c + crt0 + 支持库"/>
          <p:cNvSpPr txBox="1"/>
          <p:nvPr/>
        </p:nvSpPr>
        <p:spPr>
          <a:xfrm>
            <a:off x="725424" y="2054799"/>
            <a:ext cx="30233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journey.c + crt0 + 支持库</a:t>
            </a:r>
          </a:p>
        </p:txBody>
      </p:sp>
      <p:sp>
        <p:nvSpPr>
          <p:cNvPr id="21" name="text-026: 预处理 / 编译 / 汇编 / 链接"/>
          <p:cNvSpPr txBox="1"/>
          <p:nvPr/>
        </p:nvSpPr>
        <p:spPr>
          <a:xfrm>
            <a:off x="725424" y="2333874"/>
            <a:ext cx="25926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预处理 / 编译 / 汇编 / 链接</a:t>
            </a:r>
          </a:p>
        </p:txBody>
      </p:sp>
      <p:sp>
        <p:nvSpPr>
          <p:cNvPr id="22" name="rect-027"/>
          <p:cNvSpPr/>
          <p:nvPr/>
        </p:nvSpPr>
        <p:spPr>
          <a:xfrm>
            <a:off x="604520" y="344932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8"/>
          <p:cNvSpPr/>
          <p:nvPr/>
        </p:nvSpPr>
        <p:spPr>
          <a:xfrm>
            <a:off x="604520" y="344932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9: ELF / map / dump"/>
          <p:cNvSpPr txBox="1"/>
          <p:nvPr/>
        </p:nvSpPr>
        <p:spPr>
          <a:xfrm>
            <a:off x="725424" y="3477199"/>
            <a:ext cx="2107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/ map / dump</a:t>
            </a:r>
          </a:p>
        </p:txBody>
      </p:sp>
      <p:sp>
        <p:nvSpPr>
          <p:cNvPr id="25" name="text-030: PT_LOAD 决定段字节与地址"/>
          <p:cNvSpPr txBox="1"/>
          <p:nvPr/>
        </p:nvSpPr>
        <p:spPr>
          <a:xfrm>
            <a:off x="725424" y="3756274"/>
            <a:ext cx="232277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PT_LOAD 决定段字节与地址</a:t>
            </a:r>
          </a:p>
        </p:txBody>
      </p:sp>
      <p:sp>
        <p:nvSpPr>
          <p:cNvPr id="26" name="text-031: e_entry 决定应用入口"/>
          <p:cNvSpPr txBox="1"/>
          <p:nvPr/>
        </p:nvSpPr>
        <p:spPr>
          <a:xfrm>
            <a:off x="725424" y="3969634"/>
            <a:ext cx="199562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e_entry 决定应用入口</a:t>
            </a:r>
          </a:p>
        </p:txBody>
      </p:sp>
      <p:sp>
        <p:nvSpPr>
          <p:cNvPr id="27" name="rect-032"/>
          <p:cNvSpPr/>
          <p:nvPr/>
        </p:nvSpPr>
        <p:spPr>
          <a:xfrm>
            <a:off x="604520" y="494284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33"/>
          <p:cNvSpPr/>
          <p:nvPr/>
        </p:nvSpPr>
        <p:spPr>
          <a:xfrm>
            <a:off x="604520" y="494284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34: 主机 / VIP ELF loader"/>
          <p:cNvSpPr txBox="1"/>
          <p:nvPr/>
        </p:nvSpPr>
        <p:spPr>
          <a:xfrm>
            <a:off x="725424" y="4970719"/>
            <a:ext cx="259801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 / VIP ELF loader</a:t>
            </a:r>
          </a:p>
        </p:txBody>
      </p:sp>
      <p:sp>
        <p:nvSpPr>
          <p:cNvPr id="30" name="text-035: 解析段 → JTAG SBA 写内存"/>
          <p:cNvSpPr txBox="1"/>
          <p:nvPr/>
        </p:nvSpPr>
        <p:spPr>
          <a:xfrm>
            <a:off x="725424" y="5249794"/>
            <a:ext cx="247817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解析段 → JTAG SBA 写内存</a:t>
            </a:r>
          </a:p>
        </p:txBody>
      </p:sp>
      <p:sp>
        <p:nvSpPr>
          <p:cNvPr id="31" name="text-036: 设置 DPC → resume"/>
          <p:cNvSpPr txBox="1"/>
          <p:nvPr/>
        </p:nvSpPr>
        <p:spPr>
          <a:xfrm>
            <a:off x="725424" y="5463154"/>
            <a:ext cx="19301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设置 DPC → resume</a:t>
            </a:r>
          </a:p>
        </p:txBody>
      </p:sp>
      <p:sp>
        <p:nvSpPr>
          <p:cNvPr id="32" name="rect-037"/>
          <p:cNvSpPr/>
          <p:nvPr/>
        </p:nvSpPr>
        <p:spPr>
          <a:xfrm>
            <a:off x="7254240" y="202692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8"/>
          <p:cNvSpPr/>
          <p:nvPr/>
        </p:nvSpPr>
        <p:spPr>
          <a:xfrm>
            <a:off x="7254240" y="202692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9: 复位 PC → Boot ROM"/>
          <p:cNvSpPr txBox="1"/>
          <p:nvPr/>
        </p:nvSpPr>
        <p:spPr>
          <a:xfrm>
            <a:off x="7375144" y="2054799"/>
            <a:ext cx="23021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复位 PC → Boot ROM</a:t>
            </a:r>
          </a:p>
        </p:txBody>
      </p:sp>
      <p:sp>
        <p:nvSpPr>
          <p:cNvPr id="35" name="text-040: 时钟 / 复位与存储初始化"/>
          <p:cNvSpPr txBox="1"/>
          <p:nvPr/>
        </p:nvSpPr>
        <p:spPr>
          <a:xfrm>
            <a:off x="7375144" y="2333874"/>
            <a:ext cx="211830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 / 复位与存储初始化</a:t>
            </a:r>
          </a:p>
        </p:txBody>
      </p:sp>
      <p:sp>
        <p:nvSpPr>
          <p:cNvPr id="36" name="text-041: 独立确认首次栈访问条件"/>
          <p:cNvSpPr txBox="1"/>
          <p:nvPr/>
        </p:nvSpPr>
        <p:spPr>
          <a:xfrm>
            <a:off x="7375144" y="254723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独立确认首次栈访问条件</a:t>
            </a:r>
          </a:p>
        </p:txBody>
      </p:sp>
      <p:sp>
        <p:nvSpPr>
          <p:cNvPr id="37" name="rect-042"/>
          <p:cNvSpPr/>
          <p:nvPr/>
        </p:nvSpPr>
        <p:spPr>
          <a:xfrm>
            <a:off x="7254240" y="344932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3"/>
          <p:cNvSpPr/>
          <p:nvPr/>
        </p:nvSpPr>
        <p:spPr>
          <a:xfrm>
            <a:off x="7254240" y="344932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4: 目标处于 halt 且存储可写"/>
          <p:cNvSpPr txBox="1"/>
          <p:nvPr/>
        </p:nvSpPr>
        <p:spPr>
          <a:xfrm>
            <a:off x="7375144" y="3477199"/>
            <a:ext cx="257027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目标处于 halt 且存储可写</a:t>
            </a:r>
          </a:p>
        </p:txBody>
      </p:sp>
      <p:sp>
        <p:nvSpPr>
          <p:cNvPr id="40" name="text-045: 代码、初值到达段地址"/>
          <p:cNvSpPr txBox="1"/>
          <p:nvPr/>
        </p:nvSpPr>
        <p:spPr>
          <a:xfrm>
            <a:off x="7375144" y="375627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代码、初值到达段地址</a:t>
            </a:r>
          </a:p>
        </p:txBody>
      </p:sp>
      <p:sp>
        <p:nvSpPr>
          <p:cNvPr id="41" name="text-046: 目标寄存器可由调试接口设置"/>
          <p:cNvSpPr txBox="1"/>
          <p:nvPr/>
        </p:nvSpPr>
        <p:spPr>
          <a:xfrm>
            <a:off x="7375144" y="396963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目标寄存器可由调试接口设置</a:t>
            </a:r>
          </a:p>
        </p:txBody>
      </p:sp>
      <p:sp>
        <p:nvSpPr>
          <p:cNvPr id="42" name="rect-047"/>
          <p:cNvSpPr/>
          <p:nvPr/>
        </p:nvSpPr>
        <p:spPr>
          <a:xfrm>
            <a:off x="7254240" y="494284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8"/>
          <p:cNvSpPr/>
          <p:nvPr/>
        </p:nvSpPr>
        <p:spPr>
          <a:xfrm>
            <a:off x="7254240" y="49428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9: _start → crt0 → main"/>
          <p:cNvSpPr txBox="1"/>
          <p:nvPr/>
        </p:nvSpPr>
        <p:spPr>
          <a:xfrm>
            <a:off x="7375144" y="4970719"/>
            <a:ext cx="271820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_start → crt0 → main</a:t>
            </a:r>
          </a:p>
        </p:txBody>
      </p:sp>
      <p:sp>
        <p:nvSpPr>
          <p:cNvPr id="45" name="text-050: gp / BSS / FS；向量入口设置 VS"/>
          <p:cNvSpPr txBox="1"/>
          <p:nvPr/>
        </p:nvSpPr>
        <p:spPr>
          <a:xfrm>
            <a:off x="7375144" y="5249794"/>
            <a:ext cx="30097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gp / BSS / FS；向量入口设置 VS</a:t>
            </a:r>
          </a:p>
        </p:txBody>
      </p:sp>
      <p:sp>
        <p:nvSpPr>
          <p:cNvPr id="46" name="text-051: MMIO / UART / 数值与退出状态"/>
          <p:cNvSpPr txBox="1"/>
          <p:nvPr/>
        </p:nvSpPr>
        <p:spPr>
          <a:xfrm>
            <a:off x="7375144" y="5463154"/>
            <a:ext cx="27971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MMIO / UART / 数值与退出状态</a:t>
            </a:r>
          </a:p>
        </p:txBody>
      </p:sp>
      <p:sp>
        <p:nvSpPr>
          <p:cNvPr id="47" name="text-052: 段字节"/>
          <p:cNvSpPr txBox="1"/>
          <p:nvPr/>
        </p:nvSpPr>
        <p:spPr>
          <a:xfrm>
            <a:off x="5760720" y="313809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段字节</a:t>
            </a:r>
          </a:p>
        </p:txBody>
      </p:sp>
      <p:sp>
        <p:nvSpPr>
          <p:cNvPr id="48" name="text-053: DPC / resume"/>
          <p:cNvSpPr txBox="1"/>
          <p:nvPr/>
        </p:nvSpPr>
        <p:spPr>
          <a:xfrm>
            <a:off x="5760720" y="5698419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DPC / resume</a:t>
            </a:r>
          </a:p>
        </p:txBody>
      </p:sp>
      <p:sp>
        <p:nvSpPr>
          <p:cNvPr id="49" name="rect-054"/>
          <p:cNvSpPr/>
          <p:nvPr/>
        </p:nvSpPr>
        <p:spPr>
          <a:xfrm>
            <a:off x="391160" y="661416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55"/>
          <p:cNvSpPr/>
          <p:nvPr/>
        </p:nvSpPr>
        <p:spPr>
          <a:xfrm>
            <a:off x="391160" y="661416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6: 三个地址属于不同阶段"/>
          <p:cNvSpPr txBox="1"/>
          <p:nvPr/>
        </p:nvSpPr>
        <p:spPr>
          <a:xfrm>
            <a:off x="512064" y="664203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三个地址属于不同阶段</a:t>
            </a:r>
          </a:p>
        </p:txBody>
      </p:sp>
      <p:sp>
        <p:nvSpPr>
          <p:cNvPr id="52" name="text-057: 复位 PC：最早取指位置；ELF e_entry：应用入口；main：由启动代码"/>
          <p:cNvSpPr txBox="1"/>
          <p:nvPr/>
        </p:nvSpPr>
        <p:spPr>
          <a:xfrm>
            <a:off x="512064" y="6928795"/>
            <a:ext cx="808136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 PC：最早取指位置；ELF e_entry：应用入口；main：由启动代码调用的 C 函数。它们不能互相替代。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