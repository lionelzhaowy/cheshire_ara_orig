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806" r:id="rId2"/>
    <p:sldId id="807" r:id="rId10"/>
    <p:sldId id="808" r:id="rId11"/>
    <p:sldId id="809" r:id="rId1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文尧 赵" initials="文尧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3F6"/>
    <a:srgbClr val="FFF0E4"/>
    <a:srgbClr val="E8F4F1"/>
    <a:srgbClr val="EAF3FC"/>
    <a:srgbClr val="F0EAF8"/>
    <a:srgbClr val="AD6631"/>
    <a:srgbClr val="00FFFF"/>
    <a:srgbClr val="FFCC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0" autoAdjust="0"/>
    <p:restoredTop sz="97321" autoAdjust="0"/>
  </p:normalViewPr>
  <p:slideViewPr>
    <p:cSldViewPr snapToGrid="0">
      <p:cViewPr varScale="1">
        <p:scale>
          <a:sx n="117" d="100"/>
          <a:sy n="117" d="100"/>
        </p:scale>
        <p:origin x="23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tags" Target="tags/tag1.xml"/><Relationship Id="rId9" Type="http://schemas.openxmlformats.org/officeDocument/2006/relationships/tableStyles" Target="tableStyles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  <a:t>2026/10/16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初版规划：eMMC 内置 DMA 经 S7/M5 加载 GB；≤256 ROI 纯裁切经 DDR S3；四口共享外置无损压缩存储前端，普通区域旁路。地址、IRQ、格式、速率与 IP 选型未冻结；未实施 RTL。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486986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2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2973614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1886726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808179" y="2645581"/>
            <a:ext cx="457564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4789600" y="608488"/>
            <a:ext cx="1682905" cy="2154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架构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初版规划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1400" b="1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AXI：32 × lanes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3" name="ara-split">
            <a:extLst>
              <a:ext uri="{FF2B5EF4-FFF2-40B4-BE49-F238E27FC236}">
                <a16:creationId xmlns:a16="http://schemas.microsoft.com/office/drawing/2014/main" id="{A55D7C0B-C19C-4CEF-B563-825F12D30698}"/>
              </a:ext>
            </a:extLst>
          </p:cNvPr>
          <p:cNvSpPr/>
          <p:nvPr/>
        </p:nvSpPr>
        <p:spPr>
          <a:xfrm>
            <a:off x="2171706" y="1686883"/>
            <a:ext cx="508000" cy="29125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4" name="object-021: 地址分流">
            <a:extLst>
              <a:ext uri="{FF2B5EF4-FFF2-40B4-BE49-F238E27FC236}">
                <a16:creationId xmlns:a16="http://schemas.microsoft.com/office/drawing/2014/main" id="{FEB06BCD-B815-40C8-8BCD-F588F64825EC}"/>
              </a:ext>
            </a:extLst>
          </p:cNvPr>
          <p:cNvSpPr txBox="1"/>
          <p:nvPr/>
        </p:nvSpPr>
        <p:spPr>
          <a:xfrm>
            <a:off x="2220522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795" name="object-022: GB 候选">
            <a:extLst>
              <a:ext uri="{FF2B5EF4-FFF2-40B4-BE49-F238E27FC236}">
                <a16:creationId xmlns:a16="http://schemas.microsoft.com/office/drawing/2014/main" id="{310DCB16-6FDF-4034-AF76-CEACCB1F78BC}"/>
              </a:ext>
            </a:extLst>
          </p:cNvPr>
          <p:cNvSpPr txBox="1"/>
          <p:nvPr/>
        </p:nvSpPr>
        <p:spPr>
          <a:xfrm>
            <a:off x="2237353" y="1842669"/>
            <a:ext cx="3767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候选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0" name="filter-split">
            <a:extLst>
              <a:ext uri="{FF2B5EF4-FFF2-40B4-BE49-F238E27FC236}">
                <a16:creationId xmlns:a16="http://schemas.microsoft.com/office/drawing/2014/main" id="{2B5303ED-513A-4440-9983-0B3B03EF175E}"/>
              </a:ext>
            </a:extLst>
          </p:cNvPr>
          <p:cNvCxnSpPr/>
          <p:nvPr/>
        </p:nvCxnSpPr>
        <p:spPr>
          <a:xfrm>
            <a:off x="2053173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1" name="split-width">
            <a:extLst>
              <a:ext uri="{FF2B5EF4-FFF2-40B4-BE49-F238E27FC236}">
                <a16:creationId xmlns:a16="http://schemas.microsoft.com/office/drawing/2014/main" id="{FABD96AB-80A1-411A-AB11-E71F4FA23129}"/>
              </a:ext>
            </a:extLst>
          </p:cNvPr>
          <p:cNvCxnSpPr/>
          <p:nvPr/>
        </p:nvCxnSpPr>
        <p:spPr>
          <a:xfrm>
            <a:off x="2679707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961066" y="1476908"/>
            <a:ext cx="10403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 / NPU–Ara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工作区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7" name="ara-gb">
            <a:extLst>
              <a:ext uri="{FF2B5EF4-FFF2-40B4-BE49-F238E27FC236}">
                <a16:creationId xmlns:a16="http://schemas.microsoft.com/office/drawing/2014/main" id="{7EBC10B6-3F87-43DC-A06C-B5FEF9F5D846}"/>
              </a:ext>
            </a:extLst>
          </p:cNvPr>
          <p:cNvSpPr/>
          <p:nvPr/>
        </p:nvSpPr>
        <p:spPr>
          <a:xfrm>
            <a:off x="2425706" y="1978136"/>
            <a:ext cx="2675467" cy="250613"/>
          </a:xfrm>
          <a:custGeom>
            <a:avLst/>
            <a:gdLst/>
            <a:ahLst/>
            <a:cxnLst/>
            <a:rect l="0" t="0" r="r" b="b"/>
            <a:pathLst>
              <a:path w="6421120" h="601472" fill="none">
                <a:moveTo>
                  <a:pt x="0" y="0"/>
                </a:moveTo>
                <a:lnTo>
                  <a:pt x="0" y="601472"/>
                </a:lnTo>
                <a:lnTo>
                  <a:pt x="6421120" y="601472"/>
                </a:lnTo>
                <a:lnTo>
                  <a:pt x="6421120" y="438912"/>
                </a:lnTo>
              </a:path>
            </a:pathLst>
          </a:custGeom>
          <a:noFill/>
          <a:ln w="26010" cap="flat">
            <a:solidFill>
              <a:srgbClr val="187C78"/>
            </a:solidFill>
            <a:custDash>
              <a:ds d="312500" sp="1875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8" name="object-055: Ara 宽侧 GB 分支">
            <a:extLst>
              <a:ext uri="{FF2B5EF4-FFF2-40B4-BE49-F238E27FC236}">
                <a16:creationId xmlns:a16="http://schemas.microsoft.com/office/drawing/2014/main" id="{A9924EA1-3B4E-4C08-B5AE-5E7FB403349C}"/>
              </a:ext>
            </a:extLst>
          </p:cNvPr>
          <p:cNvSpPr txBox="1"/>
          <p:nvPr/>
        </p:nvSpPr>
        <p:spPr>
          <a:xfrm>
            <a:off x="3615379" y="2104073"/>
            <a:ext cx="7101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宽侧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GB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分支</a:t>
            </a:r>
            <a:endParaRPr sz="7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cubicBezTo>
                  <a:pt x="0" y="1048512"/>
                  <a:pt x="0" y="837184"/>
                  <a:pt x="178816" y="837184"/>
                </a:cubicBez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普通地址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5 基础端口 + 扩展  |  64 bit 数据 / 48 bit 地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3278954" y="3272993"/>
            <a:ext cx="350897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5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基础端口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扩展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64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48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地址译码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各目标仲裁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5395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3770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4762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73" y="3701949"/>
            <a:ext cx="14224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7191722" y="3799997"/>
            <a:ext cx="69570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数据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71292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远端数据目标窗口</a:t>
            </a:r>
          </a:p>
        </p:txBody>
      </p:sp>
      <p:cxnSp>
        <p:nvCxnSpPr>
          <p:cNvPr id="942" name="target-output-5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31306" y="3529229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5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687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001463" y="3432370"/>
            <a:ext cx="25968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437040" y="3701949"/>
            <a:ext cx="13885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777043" y="3766131"/>
            <a:ext cx="70852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扩展 / CPU 直访 GB 待定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448427" y="3899024"/>
            <a:ext cx="13657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 / CPU 直访 GB 待定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lnTo>
                  <a:pt x="178816" y="837184"/>
                </a:ln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2686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1060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1501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67" y="3701949"/>
            <a:ext cx="8805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6862233" y="3799997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6862233" y="3932890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309100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914654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163473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792633" y="3701949"/>
            <a:ext cx="10329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826500" y="3766131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826500" y="3899024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8250767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5101167" y="2161032"/>
            <a:ext cx="4855633" cy="1801368"/>
          </a:xfrm>
          <a:custGeom>
            <a:avLst/>
            <a:gdLst/>
            <a:ahLst/>
            <a:cxnLst/>
            <a:rect l="0" t="0" r="r" b="b"/>
            <a:pathLst>
              <a:path w="4855633" h="1801368" fill="none">
                <a:moveTo>
                  <a:pt x="3589867" y="1801368"/>
                </a:moveTo>
                <a:lnTo>
                  <a:pt x="3640667" y="1801368"/>
                </a:lnTo>
                <a:lnTo>
                  <a:pt x="3640667" y="1456267"/>
                </a:lnTo>
                <a:lnTo>
                  <a:pt x="4167293" y="1456267"/>
                </a:lnTo>
                <a:cubicBezTo>
                  <a:pt x="4167293" y="1395307"/>
                  <a:pt x="4248573" y="1395307"/>
                  <a:pt x="4248573" y="1456267"/>
                </a:cubicBezTo>
                <a:lnTo>
                  <a:pt x="4855633" y="1456267"/>
                </a:lnTo>
                <a:lnTo>
                  <a:pt x="4855633" y="311235"/>
                </a:lnTo>
                <a:lnTo>
                  <a:pt x="0" y="311235"/>
                </a:lnTo>
                <a:lnTo>
                  <a:pt x="0" y="298027"/>
                </a:lnTo>
                <a:cubicBezTo>
                  <a:pt x="45156" y="275449"/>
                  <a:pt x="45156" y="252871"/>
                  <a:pt x="0" y="230293"/>
                </a:cubicBez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8088207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8158607" y="3439837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810500" y="3701965"/>
            <a:ext cx="880533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933960" y="3788325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861879" y="3920405"/>
            <a:ext cx="7777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849624" y="4049099"/>
            <a:ext cx="80228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5101167" y="1839299"/>
            <a:ext cx="3894667" cy="585893"/>
          </a:xfrm>
          <a:custGeom>
            <a:avLst/>
            <a:gdLst/>
            <a:ahLst/>
            <a:cxnLst/>
            <a:rect l="0" t="0" r="r" b="b"/>
            <a:pathLst>
              <a:path w="3894667" h="585893" fill="none">
                <a:moveTo>
                  <a:pt x="3894667" y="0"/>
                </a:moveTo>
                <a:lnTo>
                  <a:pt x="3843867" y="0"/>
                </a:lnTo>
                <a:lnTo>
                  <a:pt x="3843867" y="463973"/>
                </a:lnTo>
                <a:cubicBezTo>
                  <a:pt x="3762587" y="463973"/>
                  <a:pt x="3762587" y="552027"/>
                  <a:pt x="3843867" y="552027"/>
                </a:cubicBezTo>
                <a:lnTo>
                  <a:pt x="3843867" y="585893"/>
                </a:lnTo>
                <a:lnTo>
                  <a:pt x="0" y="585893"/>
                </a:lnTo>
                <a:lnTo>
                  <a:pt x="0" y="321733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74650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925890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76333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807357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316290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350157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50157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295071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132511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176538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685471" y="3701949"/>
            <a:ext cx="1219200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1719338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719338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3664252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3501692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3545719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2986919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020786" y="3743899"/>
            <a:ext cx="12869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0334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48708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49149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4423833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4457700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4457700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4457700" y="40073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6402614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6240054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6284081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5793014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5826881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5826881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40976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7841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8995350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531376" y="3701949"/>
            <a:ext cx="1219200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565243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565243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020786" y="3905149"/>
            <a:ext cx="6265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037719" y="3946331"/>
            <a:ext cx="5926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037719" y="4060936"/>
            <a:ext cx="592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3731986" y="3905149"/>
            <a:ext cx="5757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3748919" y="3946331"/>
            <a:ext cx="5418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3748919" y="4060936"/>
            <a:ext cx="5418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3647319" y="4033842"/>
            <a:ext cx="84667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295071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019852" y="4189645"/>
            <a:ext cx="3485848" cy="392853"/>
          </a:xfrm>
          <a:custGeom>
            <a:avLst/>
            <a:gdLst/>
            <a:ahLst/>
            <a:cxnLst/>
            <a:rect l="0" t="0" r="r" b="b"/>
            <a:pathLst>
              <a:path w="3485848" h="392853" fill="none">
                <a:moveTo>
                  <a:pt x="0" y="0"/>
                </a:moveTo>
                <a:lnTo>
                  <a:pt x="0" y="98213"/>
                </a:lnTo>
                <a:lnTo>
                  <a:pt x="3485848" y="98213"/>
                </a:lnTo>
                <a:lnTo>
                  <a:pt x="3485848" y="392853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7771795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4864100" y="2161032"/>
            <a:ext cx="5092700" cy="1801368"/>
          </a:xfrm>
          <a:custGeom>
            <a:avLst/>
            <a:gdLst/>
            <a:ahLst/>
            <a:cxnLst/>
            <a:rect l="0" t="0" r="r" b="b"/>
            <a:pathLst>
              <a:path w="5092700" h="1801368" fill="none">
                <a:moveTo>
                  <a:pt x="3517295" y="1801368"/>
                </a:moveTo>
                <a:lnTo>
                  <a:pt x="3592286" y="1801368"/>
                </a:lnTo>
                <a:lnTo>
                  <a:pt x="3592286" y="1456267"/>
                </a:lnTo>
                <a:lnTo>
                  <a:pt x="4236236" y="1456267"/>
                </a:lnTo>
                <a:cubicBezTo>
                  <a:pt x="4236236" y="1395307"/>
                  <a:pt x="4317516" y="1395307"/>
                  <a:pt x="4317516" y="1456267"/>
                </a:cubicBezTo>
                <a:lnTo>
                  <a:pt x="5092700" y="1456267"/>
                </a:lnTo>
                <a:lnTo>
                  <a:pt x="5092700" y="311235"/>
                </a:lnTo>
                <a:lnTo>
                  <a:pt x="0" y="311235"/>
                </a:ln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7609235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7653262" y="3439837"/>
            <a:ext cx="23706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162195" y="3701965"/>
            <a:ext cx="1219200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196062" y="378832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196062" y="392040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196062" y="4049099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band"/>
          <p:cNvSpPr/>
          <p:nvPr/>
        </p:nvSpPr>
        <p:spPr>
          <a:xfrm>
            <a:off x="0" y="0"/>
            <a:ext cx="12192000" cy="372533"/>
          </a:xfrm>
          <a:prstGeom prst="rect">
            <a:avLst/>
          </a:prstGeom>
          <a:solidFill>
            <a:srgbClr val="084B8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soc-boundary"/>
          <p:cNvSpPr/>
          <p:nvPr/>
        </p:nvSpPr>
        <p:spPr>
          <a:xfrm>
            <a:off x="101600" y="508000"/>
            <a:ext cx="11226800" cy="6248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ompute"/>
          <p:cNvSpPr/>
          <p:nvPr/>
        </p:nvSpPr>
        <p:spPr>
          <a:xfrm>
            <a:off x="237067" y="609600"/>
            <a:ext cx="3014133" cy="12869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gb-region"/>
          <p:cNvSpPr/>
          <p:nvPr/>
        </p:nvSpPr>
        <p:spPr>
          <a:xfrm>
            <a:off x="3386667" y="609600"/>
            <a:ext cx="3522133" cy="1286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image-rx"/>
          <p:cNvSpPr/>
          <p:nvPr/>
        </p:nvSpPr>
        <p:spPr>
          <a:xfrm>
            <a:off x="7044267" y="609600"/>
            <a:ext cx="3589867" cy="1286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i-region"/>
          <p:cNvSpPr/>
          <p:nvPr/>
        </p:nvSpPr>
        <p:spPr>
          <a:xfrm>
            <a:off x="7044267" y="2133600"/>
            <a:ext cx="3556000" cy="5418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g-region"/>
          <p:cNvSpPr/>
          <p:nvPr/>
        </p:nvSpPr>
        <p:spPr>
          <a:xfrm>
            <a:off x="237067" y="4470400"/>
            <a:ext cx="5655733" cy="2201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ompression-front"/>
          <p:cNvSpPr/>
          <p:nvPr/>
        </p:nvSpPr>
        <p:spPr>
          <a:xfrm>
            <a:off x="6231467" y="4741333"/>
            <a:ext cx="4402667" cy="1185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ddr-controller"/>
          <p:cNvSpPr/>
          <p:nvPr/>
        </p:nvSpPr>
        <p:spPr>
          <a:xfrm>
            <a:off x="6231467" y="6045200"/>
            <a:ext cx="4402667" cy="592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pu-ara-command"/>
          <p:cNvSpPr/>
          <p:nvPr/>
        </p:nvSpPr>
        <p:spPr>
          <a:xfrm>
            <a:off x="1185333" y="1049867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ara-filter-edge"/>
          <p:cNvSpPr/>
          <p:nvPr/>
        </p:nvSpPr>
        <p:spPr>
          <a:xfrm>
            <a:off x="1676400" y="1236133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filter-width"/>
          <p:cNvSpPr/>
          <p:nvPr/>
        </p:nvSpPr>
        <p:spPr>
          <a:xfrm>
            <a:off x="2032000" y="1557867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npu-gb"/>
          <p:cNvSpPr/>
          <p:nvPr/>
        </p:nvSpPr>
        <p:spPr>
          <a:xfrm>
            <a:off x="4216400" y="1151467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adapter-sram"/>
          <p:cNvSpPr/>
          <p:nvPr/>
        </p:nvSpPr>
        <p:spPr>
          <a:xfrm>
            <a:off x="5181600" y="11684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over-gb"/>
          <p:cNvSpPr/>
          <p:nvPr/>
        </p:nvSpPr>
        <p:spPr>
          <a:xfrm>
            <a:off x="5181600" y="1540933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lvds-rx-to-rx-cdc"/>
          <p:cNvSpPr/>
          <p:nvPr/>
        </p:nvSpPr>
        <p:spPr>
          <a:xfrm>
            <a:off x="7738533" y="12869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x-cdc-to-isp"/>
          <p:cNvSpPr/>
          <p:nvPr/>
        </p:nvSpPr>
        <p:spPr>
          <a:xfrm>
            <a:off x="8415867" y="1286933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isp-to-frame-select"/>
          <p:cNvSpPr/>
          <p:nvPr/>
        </p:nvSpPr>
        <p:spPr>
          <a:xfrm>
            <a:off x="9127067" y="12869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frame-select-to-frame-dma"/>
          <p:cNvSpPr/>
          <p:nvPr/>
        </p:nvSpPr>
        <p:spPr>
          <a:xfrm>
            <a:off x="9804400" y="1286933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aw-bypass"/>
          <p:cNvSpPr/>
          <p:nvPr/>
        </p:nvSpPr>
        <p:spPr>
          <a:xfrm>
            <a:off x="8128000" y="880533"/>
            <a:ext cx="1388533" cy="135467"/>
          </a:xfrm>
          <a:custGeom>
            <a:avLst/>
            <a:gdLst/>
            <a:ahLst/>
            <a:cxnLst/>
            <a:rect l="0" t="0" r="r" b="b"/>
            <a:pathLst>
              <a:path w="1388533" h="135467" fill="none">
                <a:moveTo>
                  <a:pt x="0" y="135467"/>
                </a:moveTo>
                <a:lnTo>
                  <a:pt x="0" y="0"/>
                </a:lnTo>
                <a:lnTo>
                  <a:pt x="1388533" y="0"/>
                </a:lnTo>
                <a:lnTo>
                  <a:pt x="1388533" y="135467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isp-gb"/>
          <p:cNvSpPr/>
          <p:nvPr/>
        </p:nvSpPr>
        <p:spPr>
          <a:xfrm>
            <a:off x="4978400" y="1422400"/>
            <a:ext cx="3556000" cy="524933"/>
          </a:xfrm>
          <a:custGeom>
            <a:avLst/>
            <a:gdLst/>
            <a:ahLst/>
            <a:cxnLst/>
            <a:rect l="0" t="0" r="r" b="b"/>
            <a:pathLst>
              <a:path w="3556000" h="524933" fill="none">
                <a:moveTo>
                  <a:pt x="3556000" y="0"/>
                </a:moveTo>
                <a:lnTo>
                  <a:pt x="3488267" y="0"/>
                </a:lnTo>
                <a:lnTo>
                  <a:pt x="3488267" y="524933"/>
                </a:lnTo>
                <a:lnTo>
                  <a:pt x="0" y="524933"/>
                </a:lnTo>
                <a:lnTo>
                  <a:pt x="0" y="304800"/>
                </a:lnTo>
              </a:path>
            </a:pathLst>
          </a:custGeom>
          <a:noFill/>
          <a:ln w="16256" cap="flat">
            <a:solidFill>
              <a:srgbClr val="187C78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i-vdma-control"/>
          <p:cNvSpPr/>
          <p:nvPr/>
        </p:nvSpPr>
        <p:spPr>
          <a:xfrm>
            <a:off x="7958667" y="2472267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vdma-pixels"/>
          <p:cNvSpPr/>
          <p:nvPr/>
        </p:nvSpPr>
        <p:spPr>
          <a:xfrm>
            <a:off x="8839200" y="2472267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fifo-lvds"/>
          <p:cNvSpPr/>
          <p:nvPr/>
        </p:nvSpPr>
        <p:spPr>
          <a:xfrm>
            <a:off x="9652000" y="2472267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master-1"/>
          <p:cNvSpPr/>
          <p:nvPr/>
        </p:nvSpPr>
        <p:spPr>
          <a:xfrm>
            <a:off x="1969911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ster-3"/>
          <p:cNvSpPr/>
          <p:nvPr/>
        </p:nvSpPr>
        <p:spPr>
          <a:xfrm>
            <a:off x="4280370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master-4"/>
          <p:cNvSpPr/>
          <p:nvPr/>
        </p:nvSpPr>
        <p:spPr>
          <a:xfrm>
            <a:off x="5435600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master-5"/>
          <p:cNvSpPr/>
          <p:nvPr/>
        </p:nvSpPr>
        <p:spPr>
          <a:xfrm>
            <a:off x="6590830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master-6"/>
          <p:cNvSpPr/>
          <p:nvPr/>
        </p:nvSpPr>
        <p:spPr>
          <a:xfrm>
            <a:off x="7746059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master-7"/>
          <p:cNvSpPr/>
          <p:nvPr/>
        </p:nvSpPr>
        <p:spPr>
          <a:xfrm>
            <a:off x="8901289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master-8"/>
          <p:cNvSpPr/>
          <p:nvPr/>
        </p:nvSpPr>
        <p:spPr>
          <a:xfrm>
            <a:off x="10056519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93939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cpu-xbar"/>
          <p:cNvSpPr/>
          <p:nvPr/>
        </p:nvSpPr>
        <p:spPr>
          <a:xfrm>
            <a:off x="814681" y="1727200"/>
            <a:ext cx="1" cy="1544320"/>
          </a:xfrm>
          <a:custGeom>
            <a:avLst/>
            <a:gdLst/>
            <a:ahLst/>
            <a:cxnLst/>
            <a:rect l="0" t="0" r="r" b="b"/>
            <a:pathLst>
              <a:path w="1" h="1544320" fill="none">
                <a:moveTo>
                  <a:pt x="0" y="0"/>
                </a:moveTo>
                <a:lnTo>
                  <a:pt x="0" y="15443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ara-xbar"/>
          <p:cNvSpPr/>
          <p:nvPr/>
        </p:nvSpPr>
        <p:spPr>
          <a:xfrm>
            <a:off x="2777067" y="1727200"/>
            <a:ext cx="348074" cy="1544320"/>
          </a:xfrm>
          <a:custGeom>
            <a:avLst/>
            <a:gdLst/>
            <a:ahLst/>
            <a:cxnLst/>
            <a:rect l="0" t="0" r="r" b="b"/>
            <a:pathLst>
              <a:path w="348074" h="1544320" fill="none">
                <a:moveTo>
                  <a:pt x="0" y="0"/>
                </a:moveTo>
                <a:lnTo>
                  <a:pt x="0" y="914400"/>
                </a:lnTo>
                <a:lnTo>
                  <a:pt x="348074" y="914400"/>
                </a:lnTo>
                <a:lnTo>
                  <a:pt x="348074" y="15443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arget-0"/>
          <p:cNvSpPr/>
          <p:nvPr/>
        </p:nvSpPr>
        <p:spPr>
          <a:xfrm>
            <a:off x="979714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arget-1"/>
          <p:cNvSpPr/>
          <p:nvPr/>
        </p:nvSpPr>
        <p:spPr>
          <a:xfrm>
            <a:off x="2465010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arget-2"/>
          <p:cNvSpPr/>
          <p:nvPr/>
        </p:nvSpPr>
        <p:spPr>
          <a:xfrm>
            <a:off x="3950305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atomics-llc"/>
          <p:cNvSpPr/>
          <p:nvPr/>
        </p:nvSpPr>
        <p:spPr>
          <a:xfrm>
            <a:off x="3882571" y="414528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arget-3"/>
          <p:cNvSpPr/>
          <p:nvPr/>
        </p:nvSpPr>
        <p:spPr>
          <a:xfrm>
            <a:off x="5435600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arget-4"/>
          <p:cNvSpPr/>
          <p:nvPr/>
        </p:nvSpPr>
        <p:spPr>
          <a:xfrm>
            <a:off x="6920895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arget-5"/>
          <p:cNvSpPr/>
          <p:nvPr/>
        </p:nvSpPr>
        <p:spPr>
          <a:xfrm>
            <a:off x="8406190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arget-6"/>
          <p:cNvSpPr/>
          <p:nvPr/>
        </p:nvSpPr>
        <p:spPr>
          <a:xfrm>
            <a:off x="9891486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m5-gb"/>
          <p:cNvSpPr/>
          <p:nvPr/>
        </p:nvSpPr>
        <p:spPr>
          <a:xfrm>
            <a:off x="4521200" y="1727200"/>
            <a:ext cx="6214533" cy="2336800"/>
          </a:xfrm>
          <a:custGeom>
            <a:avLst/>
            <a:gdLst/>
            <a:ahLst/>
            <a:cxnLst/>
            <a:rect l="0" t="0" r="r" b="b"/>
            <a:pathLst>
              <a:path w="6214533" h="2336800" fill="none">
                <a:moveTo>
                  <a:pt x="4562324" y="2336800"/>
                </a:moveTo>
                <a:lnTo>
                  <a:pt x="4656667" y="2336800"/>
                </a:lnTo>
                <a:lnTo>
                  <a:pt x="4656667" y="2015067"/>
                </a:lnTo>
                <a:lnTo>
                  <a:pt x="5349966" y="2015067"/>
                </a:lnTo>
                <a:cubicBezTo>
                  <a:pt x="5363512" y="1997004"/>
                  <a:pt x="5377059" y="1997004"/>
                  <a:pt x="5390606" y="2015067"/>
                </a:cubicBezTo>
                <a:lnTo>
                  <a:pt x="6214533" y="2015067"/>
                </a:lnTo>
                <a:lnTo>
                  <a:pt x="6214533" y="287867"/>
                </a:lnTo>
                <a:lnTo>
                  <a:pt x="0" y="2878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llc-f0"/>
          <p:cNvSpPr/>
          <p:nvPr/>
        </p:nvSpPr>
        <p:spPr>
          <a:xfrm>
            <a:off x="4322838" y="4284133"/>
            <a:ext cx="2467429" cy="409787"/>
          </a:xfrm>
          <a:custGeom>
            <a:avLst/>
            <a:gdLst/>
            <a:ahLst/>
            <a:cxnLst/>
            <a:rect l="0" t="0" r="r" b="b"/>
            <a:pathLst>
              <a:path w="2467429" h="409787" fill="none">
                <a:moveTo>
                  <a:pt x="0" y="0"/>
                </a:moveTo>
                <a:lnTo>
                  <a:pt x="0" y="101600"/>
                </a:lnTo>
                <a:lnTo>
                  <a:pt x="2467429" y="101600"/>
                </a:lnTo>
                <a:lnTo>
                  <a:pt x="2467429" y="409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mover-f1"/>
          <p:cNvSpPr/>
          <p:nvPr/>
        </p:nvSpPr>
        <p:spPr>
          <a:xfrm>
            <a:off x="6807200" y="1540933"/>
            <a:ext cx="4064000" cy="3152987"/>
          </a:xfrm>
          <a:custGeom>
            <a:avLst/>
            <a:gdLst/>
            <a:ahLst/>
            <a:cxnLst/>
            <a:rect l="0" t="0" r="r" b="b"/>
            <a:pathLst>
              <a:path w="4064000" h="3152987" fill="none">
                <a:moveTo>
                  <a:pt x="0" y="0"/>
                </a:moveTo>
                <a:lnTo>
                  <a:pt x="67733" y="0"/>
                </a:lnTo>
                <a:lnTo>
                  <a:pt x="67733" y="386080"/>
                </a:lnTo>
                <a:cubicBezTo>
                  <a:pt x="85796" y="399627"/>
                  <a:pt x="85796" y="413173"/>
                  <a:pt x="67733" y="426720"/>
                </a:cubicBezTo>
                <a:lnTo>
                  <a:pt x="67733" y="453813"/>
                </a:lnTo>
                <a:cubicBezTo>
                  <a:pt x="85796" y="467360"/>
                  <a:pt x="85796" y="480907"/>
                  <a:pt x="67733" y="494453"/>
                </a:cubicBezTo>
                <a:lnTo>
                  <a:pt x="67733" y="541867"/>
                </a:lnTo>
                <a:lnTo>
                  <a:pt x="3908213" y="541867"/>
                </a:lnTo>
                <a:cubicBezTo>
                  <a:pt x="3921760" y="523804"/>
                  <a:pt x="3935307" y="523804"/>
                  <a:pt x="3948853" y="541867"/>
                </a:cubicBezTo>
                <a:lnTo>
                  <a:pt x="4064000" y="541867"/>
                </a:lnTo>
                <a:lnTo>
                  <a:pt x="4064000" y="2895600"/>
                </a:lnTo>
                <a:lnTo>
                  <a:pt x="1032933" y="2895600"/>
                </a:lnTo>
                <a:lnTo>
                  <a:pt x="1032933" y="3152987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frame-f2"/>
          <p:cNvSpPr/>
          <p:nvPr/>
        </p:nvSpPr>
        <p:spPr>
          <a:xfrm>
            <a:off x="8890000" y="1388533"/>
            <a:ext cx="2116667" cy="3305387"/>
          </a:xfrm>
          <a:custGeom>
            <a:avLst/>
            <a:gdLst/>
            <a:ahLst/>
            <a:cxnLst/>
            <a:rect l="0" t="0" r="r" b="b"/>
            <a:pathLst>
              <a:path w="2116667" h="3305387" fill="none">
                <a:moveTo>
                  <a:pt x="1676400" y="0"/>
                </a:moveTo>
                <a:lnTo>
                  <a:pt x="2116667" y="0"/>
                </a:lnTo>
                <a:lnTo>
                  <a:pt x="2116667" y="3098800"/>
                </a:lnTo>
                <a:lnTo>
                  <a:pt x="0" y="3098800"/>
                </a:lnTo>
                <a:lnTo>
                  <a:pt x="0" y="3305387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oi-f3-request"/>
          <p:cNvSpPr/>
          <p:nvPr/>
        </p:nvSpPr>
        <p:spPr>
          <a:xfrm>
            <a:off x="8449733" y="2624667"/>
            <a:ext cx="2692400" cy="2069253"/>
          </a:xfrm>
          <a:custGeom>
            <a:avLst/>
            <a:gdLst/>
            <a:ahLst/>
            <a:cxnLst/>
            <a:rect l="0" t="0" r="r" b="b"/>
            <a:pathLst>
              <a:path w="2692400" h="2069253" fill="none">
                <a:moveTo>
                  <a:pt x="0" y="0"/>
                </a:moveTo>
                <a:lnTo>
                  <a:pt x="0" y="50800"/>
                </a:lnTo>
                <a:lnTo>
                  <a:pt x="2265680" y="50800"/>
                </a:lnTo>
                <a:cubicBezTo>
                  <a:pt x="2279227" y="32738"/>
                  <a:pt x="2292773" y="32738"/>
                  <a:pt x="2306320" y="50800"/>
                </a:cubicBezTo>
                <a:lnTo>
                  <a:pt x="2401147" y="50800"/>
                </a:lnTo>
                <a:cubicBezTo>
                  <a:pt x="2414693" y="32738"/>
                  <a:pt x="2428240" y="32738"/>
                  <a:pt x="2441787" y="50800"/>
                </a:cubicBezTo>
                <a:lnTo>
                  <a:pt x="2536613" y="50800"/>
                </a:lnTo>
                <a:cubicBezTo>
                  <a:pt x="2550160" y="32738"/>
                  <a:pt x="2563707" y="32738"/>
                  <a:pt x="2577253" y="50800"/>
                </a:cubicBezTo>
                <a:lnTo>
                  <a:pt x="2692400" y="50800"/>
                </a:lnTo>
                <a:lnTo>
                  <a:pt x="2692400" y="1981200"/>
                </a:lnTo>
                <a:lnTo>
                  <a:pt x="1507067" y="1981200"/>
                </a:lnTo>
                <a:lnTo>
                  <a:pt x="1507067" y="20692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f3-roi-read-data"/>
          <p:cNvSpPr/>
          <p:nvPr/>
        </p:nvSpPr>
        <p:spPr>
          <a:xfrm>
            <a:off x="8517467" y="2624667"/>
            <a:ext cx="2658533" cy="2069253"/>
          </a:xfrm>
          <a:custGeom>
            <a:avLst/>
            <a:gdLst/>
            <a:ahLst/>
            <a:cxnLst/>
            <a:rect l="0" t="0" r="r" b="b"/>
            <a:pathLst>
              <a:path w="2658533" h="2069253" fill="none">
                <a:moveTo>
                  <a:pt x="1540933" y="2069253"/>
                </a:moveTo>
                <a:lnTo>
                  <a:pt x="1540933" y="2032000"/>
                </a:lnTo>
                <a:lnTo>
                  <a:pt x="2658533" y="2032000"/>
                </a:lnTo>
                <a:lnTo>
                  <a:pt x="2658533" y="118533"/>
                </a:lnTo>
                <a:lnTo>
                  <a:pt x="2644987" y="118533"/>
                </a:lnTo>
                <a:cubicBezTo>
                  <a:pt x="2631440" y="100471"/>
                  <a:pt x="2617893" y="100471"/>
                  <a:pt x="2604347" y="118533"/>
                </a:cubicBezTo>
                <a:lnTo>
                  <a:pt x="2509520" y="118533"/>
                </a:lnTo>
                <a:cubicBezTo>
                  <a:pt x="2495973" y="100471"/>
                  <a:pt x="2482427" y="100471"/>
                  <a:pt x="2468880" y="118533"/>
                </a:cubicBezTo>
                <a:lnTo>
                  <a:pt x="2374053" y="118533"/>
                </a:lnTo>
                <a:cubicBezTo>
                  <a:pt x="2360507" y="100471"/>
                  <a:pt x="2346960" y="100471"/>
                  <a:pt x="2333413" y="118533"/>
                </a:cubicBezTo>
                <a:lnTo>
                  <a:pt x="2238587" y="118533"/>
                </a:lnTo>
                <a:cubicBezTo>
                  <a:pt x="2225040" y="100471"/>
                  <a:pt x="2211493" y="100471"/>
                  <a:pt x="2197947" y="118533"/>
                </a:cubicBezTo>
                <a:lnTo>
                  <a:pt x="0" y="118533"/>
                </a:lnTo>
                <a:lnTo>
                  <a:pt x="0" y="71120"/>
                </a:lnTo>
                <a:cubicBezTo>
                  <a:pt x="18062" y="57573"/>
                  <a:pt x="18062" y="44027"/>
                  <a:pt x="0" y="30480"/>
                </a:cubicBez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lvds-external"/>
          <p:cNvSpPr/>
          <p:nvPr/>
        </p:nvSpPr>
        <p:spPr>
          <a:xfrm>
            <a:off x="10498667" y="2454204"/>
            <a:ext cx="914400" cy="18062"/>
          </a:xfrm>
          <a:custGeom>
            <a:avLst/>
            <a:gdLst/>
            <a:ahLst/>
            <a:cxnLst/>
            <a:rect l="0" t="0" r="r" b="b"/>
            <a:pathLst>
              <a:path w="914400" h="18062" fill="none">
                <a:moveTo>
                  <a:pt x="0" y="18062"/>
                </a:moveTo>
                <a:lnTo>
                  <a:pt x="216747" y="18062"/>
                </a:lnTo>
                <a:cubicBezTo>
                  <a:pt x="230293" y="0"/>
                  <a:pt x="243840" y="0"/>
                  <a:pt x="257387" y="18062"/>
                </a:cubicBezTo>
                <a:lnTo>
                  <a:pt x="352213" y="18062"/>
                </a:lnTo>
                <a:cubicBezTo>
                  <a:pt x="365760" y="0"/>
                  <a:pt x="379307" y="0"/>
                  <a:pt x="392853" y="18062"/>
                </a:cubicBezTo>
                <a:lnTo>
                  <a:pt x="487680" y="18062"/>
                </a:lnTo>
                <a:cubicBezTo>
                  <a:pt x="501227" y="0"/>
                  <a:pt x="514773" y="0"/>
                  <a:pt x="528320" y="18062"/>
                </a:cubicBezTo>
                <a:lnTo>
                  <a:pt x="914400" y="18062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emmc-physical"/>
          <p:cNvSpPr/>
          <p:nvPr/>
        </p:nvSpPr>
        <p:spPr>
          <a:xfrm>
            <a:off x="8365067" y="2786098"/>
            <a:ext cx="3048000" cy="92569"/>
          </a:xfrm>
          <a:custGeom>
            <a:avLst/>
            <a:gdLst/>
            <a:ahLst/>
            <a:cxnLst/>
            <a:rect l="0" t="0" r="r" b="b"/>
            <a:pathLst>
              <a:path w="3048000" h="92569" fill="none">
                <a:moveTo>
                  <a:pt x="3048000" y="92569"/>
                </a:moveTo>
                <a:lnTo>
                  <a:pt x="2980267" y="92569"/>
                </a:lnTo>
                <a:lnTo>
                  <a:pt x="2980267" y="18062"/>
                </a:lnTo>
                <a:lnTo>
                  <a:pt x="2831253" y="18062"/>
                </a:lnTo>
                <a:cubicBezTo>
                  <a:pt x="2817707" y="0"/>
                  <a:pt x="2804160" y="0"/>
                  <a:pt x="2790613" y="18062"/>
                </a:cubicBezTo>
                <a:lnTo>
                  <a:pt x="2797387" y="18062"/>
                </a:lnTo>
                <a:cubicBezTo>
                  <a:pt x="2783840" y="0"/>
                  <a:pt x="2770293" y="0"/>
                  <a:pt x="2756747" y="18062"/>
                </a:cubicBezTo>
                <a:lnTo>
                  <a:pt x="2661920" y="18062"/>
                </a:lnTo>
                <a:cubicBezTo>
                  <a:pt x="2648373" y="0"/>
                  <a:pt x="2634827" y="0"/>
                  <a:pt x="2621280" y="18062"/>
                </a:cubicBezTo>
                <a:lnTo>
                  <a:pt x="2526453" y="18062"/>
                </a:lnTo>
                <a:cubicBezTo>
                  <a:pt x="2512907" y="0"/>
                  <a:pt x="2499360" y="0"/>
                  <a:pt x="2485813" y="18062"/>
                </a:cubicBezTo>
                <a:lnTo>
                  <a:pt x="2390987" y="18062"/>
                </a:lnTo>
                <a:cubicBezTo>
                  <a:pt x="2377440" y="0"/>
                  <a:pt x="2363893" y="0"/>
                  <a:pt x="2350347" y="18062"/>
                </a:cubicBezTo>
                <a:lnTo>
                  <a:pt x="0" y="18062"/>
                </a:lnTo>
                <a:lnTo>
                  <a:pt x="0" y="92569"/>
                </a:lnTo>
                <a:lnTo>
                  <a:pt x="51929" y="92569"/>
                </a:lnTo>
              </a:path>
            </a:pathLst>
          </a:custGeom>
          <a:noFill/>
          <a:ln w="16256" cap="flat">
            <a:solidFill>
              <a:srgbClr val="B96043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bridge-regbus"/>
          <p:cNvSpPr/>
          <p:nvPr/>
        </p:nvSpPr>
        <p:spPr>
          <a:xfrm>
            <a:off x="2465010" y="4318000"/>
            <a:ext cx="1" cy="254000"/>
          </a:xfrm>
          <a:custGeom>
            <a:avLst/>
            <a:gdLst/>
            <a:ahLst/>
            <a:cxnLst/>
            <a:rect l="0" t="0" r="r" b="b"/>
            <a:pathLst>
              <a:path w="1" h="254000" fill="none">
                <a:moveTo>
                  <a:pt x="0" y="0"/>
                </a:moveTo>
                <a:lnTo>
                  <a:pt x="0" y="2540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g-column-0"/>
          <p:cNvSpPr/>
          <p:nvPr/>
        </p:nvSpPr>
        <p:spPr>
          <a:xfrm>
            <a:off x="298027" y="4758267"/>
            <a:ext cx="1" cy="1473200"/>
          </a:xfrm>
          <a:custGeom>
            <a:avLst/>
            <a:gdLst/>
            <a:ahLst/>
            <a:cxnLst/>
            <a:rect l="0" t="0" r="r" b="b"/>
            <a:pathLst>
              <a:path w="1" h="1473200" fill="none">
                <a:moveTo>
                  <a:pt x="0" y="0"/>
                </a:moveTo>
                <a:lnTo>
                  <a:pt x="0" y="147320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g-0-0-cfg"/>
          <p:cNvSpPr/>
          <p:nvPr/>
        </p:nvSpPr>
        <p:spPr>
          <a:xfrm>
            <a:off x="298027" y="494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g-1-0-cfg"/>
          <p:cNvSpPr/>
          <p:nvPr/>
        </p:nvSpPr>
        <p:spPr>
          <a:xfrm>
            <a:off x="298027" y="5198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g-2-0-cfg"/>
          <p:cNvSpPr/>
          <p:nvPr/>
        </p:nvSpPr>
        <p:spPr>
          <a:xfrm>
            <a:off x="298027" y="5452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g-3-0-cfg"/>
          <p:cNvSpPr/>
          <p:nvPr/>
        </p:nvSpPr>
        <p:spPr>
          <a:xfrm>
            <a:off x="298027" y="5706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g-4-0-cfg"/>
          <p:cNvSpPr/>
          <p:nvPr/>
        </p:nvSpPr>
        <p:spPr>
          <a:xfrm>
            <a:off x="298027" y="5960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g-5-0-cfg"/>
          <p:cNvSpPr/>
          <p:nvPr/>
        </p:nvSpPr>
        <p:spPr>
          <a:xfrm>
            <a:off x="298027" y="621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g-column-1"/>
          <p:cNvSpPr/>
          <p:nvPr/>
        </p:nvSpPr>
        <p:spPr>
          <a:xfrm>
            <a:off x="1381760" y="4758267"/>
            <a:ext cx="1" cy="1473200"/>
          </a:xfrm>
          <a:custGeom>
            <a:avLst/>
            <a:gdLst/>
            <a:ahLst/>
            <a:cxnLst/>
            <a:rect l="0" t="0" r="r" b="b"/>
            <a:pathLst>
              <a:path w="1" h="1473200" fill="none">
                <a:moveTo>
                  <a:pt x="0" y="0"/>
                </a:moveTo>
                <a:lnTo>
                  <a:pt x="0" y="147320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g-0-1-cfg"/>
          <p:cNvSpPr/>
          <p:nvPr/>
        </p:nvSpPr>
        <p:spPr>
          <a:xfrm>
            <a:off x="1381760" y="494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g-1-1-cfg"/>
          <p:cNvSpPr/>
          <p:nvPr/>
        </p:nvSpPr>
        <p:spPr>
          <a:xfrm>
            <a:off x="1381760" y="5198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g-2-1-cfg"/>
          <p:cNvSpPr/>
          <p:nvPr/>
        </p:nvSpPr>
        <p:spPr>
          <a:xfrm>
            <a:off x="1381760" y="5452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g-3-1-cfg"/>
          <p:cNvSpPr/>
          <p:nvPr/>
        </p:nvSpPr>
        <p:spPr>
          <a:xfrm>
            <a:off x="1381760" y="5706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g-4-1-cfg"/>
          <p:cNvSpPr/>
          <p:nvPr/>
        </p:nvSpPr>
        <p:spPr>
          <a:xfrm>
            <a:off x="1381760" y="5960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g-5-1-cfg"/>
          <p:cNvSpPr/>
          <p:nvPr/>
        </p:nvSpPr>
        <p:spPr>
          <a:xfrm>
            <a:off x="1381760" y="621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g-column-2"/>
          <p:cNvSpPr/>
          <p:nvPr/>
        </p:nvSpPr>
        <p:spPr>
          <a:xfrm>
            <a:off x="2465493" y="4758267"/>
            <a:ext cx="1" cy="1473200"/>
          </a:xfrm>
          <a:custGeom>
            <a:avLst/>
            <a:gdLst/>
            <a:ahLst/>
            <a:cxnLst/>
            <a:rect l="0" t="0" r="r" b="b"/>
            <a:pathLst>
              <a:path w="1" h="1473200" fill="none">
                <a:moveTo>
                  <a:pt x="0" y="0"/>
                </a:moveTo>
                <a:lnTo>
                  <a:pt x="0" y="147320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g-0-2-cfg"/>
          <p:cNvSpPr/>
          <p:nvPr/>
        </p:nvSpPr>
        <p:spPr>
          <a:xfrm>
            <a:off x="2465493" y="494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g-1-2-cfg"/>
          <p:cNvSpPr/>
          <p:nvPr/>
        </p:nvSpPr>
        <p:spPr>
          <a:xfrm>
            <a:off x="2465493" y="5198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g-2-2-cfg"/>
          <p:cNvSpPr/>
          <p:nvPr/>
        </p:nvSpPr>
        <p:spPr>
          <a:xfrm>
            <a:off x="2465493" y="5452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eg-3-2-cfg"/>
          <p:cNvSpPr/>
          <p:nvPr/>
        </p:nvSpPr>
        <p:spPr>
          <a:xfrm>
            <a:off x="2465493" y="5706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eg-4-2-cfg"/>
          <p:cNvSpPr/>
          <p:nvPr/>
        </p:nvSpPr>
        <p:spPr>
          <a:xfrm>
            <a:off x="2465493" y="5960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eg-5-2-cfg"/>
          <p:cNvSpPr/>
          <p:nvPr/>
        </p:nvSpPr>
        <p:spPr>
          <a:xfrm>
            <a:off x="2465493" y="621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eg-column-3"/>
          <p:cNvSpPr/>
          <p:nvPr/>
        </p:nvSpPr>
        <p:spPr>
          <a:xfrm>
            <a:off x="3549227" y="4758267"/>
            <a:ext cx="1" cy="1473200"/>
          </a:xfrm>
          <a:custGeom>
            <a:avLst/>
            <a:gdLst/>
            <a:ahLst/>
            <a:cxnLst/>
            <a:rect l="0" t="0" r="r" b="b"/>
            <a:pathLst>
              <a:path w="1" h="1473200" fill="none">
                <a:moveTo>
                  <a:pt x="0" y="0"/>
                </a:moveTo>
                <a:lnTo>
                  <a:pt x="0" y="147320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eg-0-3-cfg"/>
          <p:cNvSpPr/>
          <p:nvPr/>
        </p:nvSpPr>
        <p:spPr>
          <a:xfrm>
            <a:off x="3549227" y="494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eg-1-3-cfg"/>
          <p:cNvSpPr/>
          <p:nvPr/>
        </p:nvSpPr>
        <p:spPr>
          <a:xfrm>
            <a:off x="3549227" y="5198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eg-2-3-cfg"/>
          <p:cNvSpPr/>
          <p:nvPr/>
        </p:nvSpPr>
        <p:spPr>
          <a:xfrm>
            <a:off x="3549227" y="5452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eg-3-3-cfg"/>
          <p:cNvSpPr/>
          <p:nvPr/>
        </p:nvSpPr>
        <p:spPr>
          <a:xfrm>
            <a:off x="3549227" y="5706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g-4-3-cfg"/>
          <p:cNvSpPr/>
          <p:nvPr/>
        </p:nvSpPr>
        <p:spPr>
          <a:xfrm>
            <a:off x="3549227" y="5960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eg-5-3-cfg"/>
          <p:cNvSpPr/>
          <p:nvPr/>
        </p:nvSpPr>
        <p:spPr>
          <a:xfrm>
            <a:off x="3549227" y="621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eg-column-4"/>
          <p:cNvSpPr/>
          <p:nvPr/>
        </p:nvSpPr>
        <p:spPr>
          <a:xfrm>
            <a:off x="4632960" y="4758267"/>
            <a:ext cx="1" cy="1473200"/>
          </a:xfrm>
          <a:custGeom>
            <a:avLst/>
            <a:gdLst/>
            <a:ahLst/>
            <a:cxnLst/>
            <a:rect l="0" t="0" r="r" b="b"/>
            <a:pathLst>
              <a:path w="1" h="1473200" fill="none">
                <a:moveTo>
                  <a:pt x="0" y="0"/>
                </a:moveTo>
                <a:lnTo>
                  <a:pt x="0" y="147320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reg-0-4-cfg"/>
          <p:cNvSpPr/>
          <p:nvPr/>
        </p:nvSpPr>
        <p:spPr>
          <a:xfrm>
            <a:off x="4632960" y="494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eg-1-4-cfg"/>
          <p:cNvSpPr/>
          <p:nvPr/>
        </p:nvSpPr>
        <p:spPr>
          <a:xfrm>
            <a:off x="4632960" y="5198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g-2-4-cfg"/>
          <p:cNvSpPr/>
          <p:nvPr/>
        </p:nvSpPr>
        <p:spPr>
          <a:xfrm>
            <a:off x="4632960" y="5452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reg-3-4-cfg"/>
          <p:cNvSpPr/>
          <p:nvPr/>
        </p:nvSpPr>
        <p:spPr>
          <a:xfrm>
            <a:off x="4632960" y="5706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reg-4-4-cfg"/>
          <p:cNvSpPr/>
          <p:nvPr/>
        </p:nvSpPr>
        <p:spPr>
          <a:xfrm>
            <a:off x="4632960" y="5960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front-input-0"/>
          <p:cNvSpPr/>
          <p:nvPr/>
        </p:nvSpPr>
        <p:spPr>
          <a:xfrm>
            <a:off x="6790267" y="478874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front-input-1"/>
          <p:cNvSpPr/>
          <p:nvPr/>
        </p:nvSpPr>
        <p:spPr>
          <a:xfrm>
            <a:off x="7840133" y="478874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front-input-2"/>
          <p:cNvSpPr/>
          <p:nvPr/>
        </p:nvSpPr>
        <p:spPr>
          <a:xfrm>
            <a:off x="8890000" y="478874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front-input-3"/>
          <p:cNvSpPr/>
          <p:nvPr/>
        </p:nvSpPr>
        <p:spPr>
          <a:xfrm>
            <a:off x="10007600" y="478874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adapt-compressor"/>
          <p:cNvSpPr/>
          <p:nvPr/>
        </p:nvSpPr>
        <p:spPr>
          <a:xfrm>
            <a:off x="6790267" y="5080000"/>
            <a:ext cx="1" cy="135467"/>
          </a:xfrm>
          <a:custGeom>
            <a:avLst/>
            <a:gdLst/>
            <a:ahLst/>
            <a:cxnLst/>
            <a:rect l="0" t="0" r="r" b="b"/>
            <a:pathLst>
              <a:path w="1" h="135467" fill="none">
                <a:moveTo>
                  <a:pt x="0" y="0"/>
                </a:moveTo>
                <a:lnTo>
                  <a:pt x="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compressor-route"/>
          <p:cNvSpPr/>
          <p:nvPr/>
        </p:nvSpPr>
        <p:spPr>
          <a:xfrm>
            <a:off x="6790267" y="5537200"/>
            <a:ext cx="1" cy="118533"/>
          </a:xfrm>
          <a:custGeom>
            <a:avLst/>
            <a:gdLst/>
            <a:ahLst/>
            <a:cxnLst/>
            <a:rect l="0" t="0" r="r" b="b"/>
            <a:pathLst>
              <a:path w="1" h="118533" fill="none">
                <a:moveTo>
                  <a:pt x="0" y="0"/>
                </a:moveTo>
                <a:lnTo>
                  <a:pt x="0" y="1185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decoder-up"/>
          <p:cNvSpPr/>
          <p:nvPr/>
        </p:nvSpPr>
        <p:spPr>
          <a:xfrm>
            <a:off x="7840133" y="5080000"/>
            <a:ext cx="1" cy="135467"/>
          </a:xfrm>
          <a:custGeom>
            <a:avLst/>
            <a:gdLst/>
            <a:ahLst/>
            <a:cxnLst/>
            <a:rect l="0" t="0" r="r" b="b"/>
            <a:pathLst>
              <a:path w="1" h="135467" fill="none">
                <a:moveTo>
                  <a:pt x="0" y="1354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read-to-decoder"/>
          <p:cNvSpPr/>
          <p:nvPr/>
        </p:nvSpPr>
        <p:spPr>
          <a:xfrm>
            <a:off x="7840133" y="5537200"/>
            <a:ext cx="1" cy="118533"/>
          </a:xfrm>
          <a:custGeom>
            <a:avLst/>
            <a:gdLst/>
            <a:ahLst/>
            <a:cxnLst/>
            <a:rect l="0" t="0" r="r" b="b"/>
            <a:pathLst>
              <a:path w="1" h="118533" fill="none">
                <a:moveTo>
                  <a:pt x="0" y="118533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adapt-plain-bypass"/>
          <p:cNvSpPr/>
          <p:nvPr/>
        </p:nvSpPr>
        <p:spPr>
          <a:xfrm>
            <a:off x="8890000" y="5080000"/>
            <a:ext cx="1" cy="135467"/>
          </a:xfrm>
          <a:custGeom>
            <a:avLst/>
            <a:gdLst/>
            <a:ahLst/>
            <a:cxnLst/>
            <a:rect l="0" t="0" r="r" b="b"/>
            <a:pathLst>
              <a:path w="1" h="135467" fill="none">
                <a:moveTo>
                  <a:pt x="0" y="0"/>
                </a:moveTo>
                <a:lnTo>
                  <a:pt x="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plain-bypass-route"/>
          <p:cNvSpPr/>
          <p:nvPr/>
        </p:nvSpPr>
        <p:spPr>
          <a:xfrm>
            <a:off x="8890000" y="5537200"/>
            <a:ext cx="1" cy="118533"/>
          </a:xfrm>
          <a:custGeom>
            <a:avLst/>
            <a:gdLst/>
            <a:ahLst/>
            <a:cxnLst/>
            <a:rect l="0" t="0" r="r" b="b"/>
            <a:pathLst>
              <a:path w="1" h="118533" fill="none">
                <a:moveTo>
                  <a:pt x="0" y="0"/>
                </a:moveTo>
                <a:lnTo>
                  <a:pt x="0" y="11853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adapt-metadata"/>
          <p:cNvSpPr/>
          <p:nvPr/>
        </p:nvSpPr>
        <p:spPr>
          <a:xfrm>
            <a:off x="10007600" y="5080000"/>
            <a:ext cx="1" cy="135467"/>
          </a:xfrm>
          <a:custGeom>
            <a:avLst/>
            <a:gdLst/>
            <a:ahLst/>
            <a:cxnLst/>
            <a:rect l="0" t="0" r="r" b="b"/>
            <a:pathLst>
              <a:path w="1" h="135467" fill="none">
                <a:moveTo>
                  <a:pt x="0" y="0"/>
                </a:moveTo>
                <a:lnTo>
                  <a:pt x="0" y="135467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metadata-route"/>
          <p:cNvSpPr/>
          <p:nvPr/>
        </p:nvSpPr>
        <p:spPr>
          <a:xfrm>
            <a:off x="10007600" y="5537200"/>
            <a:ext cx="1" cy="118533"/>
          </a:xfrm>
          <a:custGeom>
            <a:avLst/>
            <a:gdLst/>
            <a:ahLst/>
            <a:cxnLst/>
            <a:rect l="0" t="0" r="r" b="b"/>
            <a:pathLst>
              <a:path w="1" h="118533" fill="none">
                <a:moveTo>
                  <a:pt x="0" y="0"/>
                </a:moveTo>
                <a:lnTo>
                  <a:pt x="0" y="118533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front-ddr-0"/>
          <p:cNvSpPr/>
          <p:nvPr/>
        </p:nvSpPr>
        <p:spPr>
          <a:xfrm>
            <a:off x="6790267" y="5858933"/>
            <a:ext cx="1" cy="138853"/>
          </a:xfrm>
          <a:custGeom>
            <a:avLst/>
            <a:gdLst/>
            <a:ahLst/>
            <a:cxnLst/>
            <a:rect l="0" t="0" r="r" b="b"/>
            <a:pathLst>
              <a:path w="1" h="138853" fill="none">
                <a:moveTo>
                  <a:pt x="0" y="0"/>
                </a:moveTo>
                <a:lnTo>
                  <a:pt x="0" y="1388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ddr-arb-0"/>
          <p:cNvSpPr/>
          <p:nvPr/>
        </p:nvSpPr>
        <p:spPr>
          <a:xfrm>
            <a:off x="6790267" y="6092613"/>
            <a:ext cx="1" cy="64347"/>
          </a:xfrm>
          <a:custGeom>
            <a:avLst/>
            <a:gdLst/>
            <a:ahLst/>
            <a:cxnLst/>
            <a:rect l="0" t="0" r="r" b="b"/>
            <a:pathLst>
              <a:path w="1" h="64347" fill="none">
                <a:moveTo>
                  <a:pt x="0" y="0"/>
                </a:moveTo>
                <a:lnTo>
                  <a:pt x="0" y="6434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front-ddr-1"/>
          <p:cNvSpPr/>
          <p:nvPr/>
        </p:nvSpPr>
        <p:spPr>
          <a:xfrm>
            <a:off x="7840133" y="5858933"/>
            <a:ext cx="1" cy="138853"/>
          </a:xfrm>
          <a:custGeom>
            <a:avLst/>
            <a:gdLst/>
            <a:ahLst/>
            <a:cxnLst/>
            <a:rect l="0" t="0" r="r" b="b"/>
            <a:pathLst>
              <a:path w="1" h="138853" fill="none">
                <a:moveTo>
                  <a:pt x="0" y="0"/>
                </a:moveTo>
                <a:lnTo>
                  <a:pt x="0" y="1388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ddr-arb-1"/>
          <p:cNvSpPr/>
          <p:nvPr/>
        </p:nvSpPr>
        <p:spPr>
          <a:xfrm>
            <a:off x="7840133" y="6092613"/>
            <a:ext cx="1" cy="64347"/>
          </a:xfrm>
          <a:custGeom>
            <a:avLst/>
            <a:gdLst/>
            <a:ahLst/>
            <a:cxnLst/>
            <a:rect l="0" t="0" r="r" b="b"/>
            <a:pathLst>
              <a:path w="1" h="64347" fill="none">
                <a:moveTo>
                  <a:pt x="0" y="0"/>
                </a:moveTo>
                <a:lnTo>
                  <a:pt x="0" y="6434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front-ddr-2"/>
          <p:cNvSpPr/>
          <p:nvPr/>
        </p:nvSpPr>
        <p:spPr>
          <a:xfrm>
            <a:off x="8890000" y="5858933"/>
            <a:ext cx="1" cy="138853"/>
          </a:xfrm>
          <a:custGeom>
            <a:avLst/>
            <a:gdLst/>
            <a:ahLst/>
            <a:cxnLst/>
            <a:rect l="0" t="0" r="r" b="b"/>
            <a:pathLst>
              <a:path w="1" h="138853" fill="none">
                <a:moveTo>
                  <a:pt x="0" y="0"/>
                </a:moveTo>
                <a:lnTo>
                  <a:pt x="0" y="1388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ddr-arb-2"/>
          <p:cNvSpPr/>
          <p:nvPr/>
        </p:nvSpPr>
        <p:spPr>
          <a:xfrm>
            <a:off x="8890000" y="6092613"/>
            <a:ext cx="1" cy="64347"/>
          </a:xfrm>
          <a:custGeom>
            <a:avLst/>
            <a:gdLst/>
            <a:ahLst/>
            <a:cxnLst/>
            <a:rect l="0" t="0" r="r" b="b"/>
            <a:pathLst>
              <a:path w="1" h="64347" fill="none">
                <a:moveTo>
                  <a:pt x="0" y="0"/>
                </a:moveTo>
                <a:lnTo>
                  <a:pt x="0" y="6434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front-ddr-3"/>
          <p:cNvSpPr/>
          <p:nvPr/>
        </p:nvSpPr>
        <p:spPr>
          <a:xfrm>
            <a:off x="10007600" y="5858933"/>
            <a:ext cx="1" cy="138853"/>
          </a:xfrm>
          <a:custGeom>
            <a:avLst/>
            <a:gdLst/>
            <a:ahLst/>
            <a:cxnLst/>
            <a:rect l="0" t="0" r="r" b="b"/>
            <a:pathLst>
              <a:path w="1" h="138853" fill="none">
                <a:moveTo>
                  <a:pt x="0" y="0"/>
                </a:moveTo>
                <a:lnTo>
                  <a:pt x="0" y="1388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ddr-arb-3"/>
          <p:cNvSpPr/>
          <p:nvPr/>
        </p:nvSpPr>
        <p:spPr>
          <a:xfrm>
            <a:off x="10007600" y="6092613"/>
            <a:ext cx="1" cy="64347"/>
          </a:xfrm>
          <a:custGeom>
            <a:avLst/>
            <a:gdLst/>
            <a:ahLst/>
            <a:cxnLst/>
            <a:rect l="0" t="0" r="r" b="b"/>
            <a:pathLst>
              <a:path w="1" h="64347" fill="none">
                <a:moveTo>
                  <a:pt x="0" y="0"/>
                </a:moveTo>
                <a:lnTo>
                  <a:pt x="0" y="6434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arb-rw"/>
          <p:cNvSpPr/>
          <p:nvPr/>
        </p:nvSpPr>
        <p:spPr>
          <a:xfrm>
            <a:off x="7179733" y="6292427"/>
            <a:ext cx="1" cy="40640"/>
          </a:xfrm>
          <a:custGeom>
            <a:avLst/>
            <a:gdLst/>
            <a:ahLst/>
            <a:cxnLst/>
            <a:rect l="0" t="0" r="r" b="b"/>
            <a:pathLst>
              <a:path w="1" h="40640" fill="none">
                <a:moveTo>
                  <a:pt x="0" y="0"/>
                </a:moveTo>
                <a:lnTo>
                  <a:pt x="0" y="40640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rw-command"/>
          <p:cNvSpPr/>
          <p:nvPr/>
        </p:nvSpPr>
        <p:spPr>
          <a:xfrm>
            <a:off x="8026400" y="6426200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controller-phy"/>
          <p:cNvSpPr/>
          <p:nvPr/>
        </p:nvSpPr>
        <p:spPr>
          <a:xfrm>
            <a:off x="10532533" y="6426200"/>
            <a:ext cx="237067" cy="1"/>
          </a:xfrm>
          <a:custGeom>
            <a:avLst/>
            <a:gdLst/>
            <a:ahLst/>
            <a:cxnLst/>
            <a:rect l="0" t="0" r="r" b="b"/>
            <a:pathLst>
              <a:path w="237067" h="1" fill="none">
                <a:moveTo>
                  <a:pt x="0" y="0"/>
                </a:moveTo>
                <a:lnTo>
                  <a:pt x="237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phy-ddr"/>
          <p:cNvSpPr/>
          <p:nvPr/>
        </p:nvSpPr>
        <p:spPr>
          <a:xfrm>
            <a:off x="11277600" y="64262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regext-new-config"/>
          <p:cNvSpPr/>
          <p:nvPr/>
        </p:nvSpPr>
        <p:spPr>
          <a:xfrm>
            <a:off x="5638800" y="2257778"/>
            <a:ext cx="5589129" cy="3448756"/>
          </a:xfrm>
          <a:custGeom>
            <a:avLst/>
            <a:gdLst/>
            <a:ahLst/>
            <a:cxnLst/>
            <a:rect l="0" t="0" r="r" b="b"/>
            <a:pathLst>
              <a:path w="5589129" h="3448756" fill="none">
                <a:moveTo>
                  <a:pt x="0" y="3448756"/>
                </a:moveTo>
                <a:lnTo>
                  <a:pt x="321733" y="3448756"/>
                </a:lnTo>
                <a:lnTo>
                  <a:pt x="321733" y="2161822"/>
                </a:lnTo>
                <a:lnTo>
                  <a:pt x="1131147" y="2161822"/>
                </a:lnTo>
                <a:cubicBezTo>
                  <a:pt x="1144693" y="2143760"/>
                  <a:pt x="1158240" y="2143760"/>
                  <a:pt x="1171787" y="2161822"/>
                </a:cubicBezTo>
                <a:lnTo>
                  <a:pt x="5212080" y="2161822"/>
                </a:lnTo>
                <a:cubicBezTo>
                  <a:pt x="5225627" y="2143760"/>
                  <a:pt x="5239173" y="2143760"/>
                  <a:pt x="5252720" y="2161822"/>
                </a:cubicBezTo>
                <a:lnTo>
                  <a:pt x="5347547" y="2161822"/>
                </a:lnTo>
                <a:cubicBezTo>
                  <a:pt x="5361093" y="2143760"/>
                  <a:pt x="5374640" y="2143760"/>
                  <a:pt x="5388187" y="2161822"/>
                </a:cubicBezTo>
                <a:lnTo>
                  <a:pt x="5483013" y="2161822"/>
                </a:lnTo>
                <a:cubicBezTo>
                  <a:pt x="5496560" y="2143760"/>
                  <a:pt x="5510107" y="2143760"/>
                  <a:pt x="5523653" y="2161822"/>
                </a:cubicBezTo>
                <a:lnTo>
                  <a:pt x="5516880" y="2161822"/>
                </a:lnTo>
                <a:cubicBezTo>
                  <a:pt x="5530427" y="2143760"/>
                  <a:pt x="5543973" y="2143760"/>
                  <a:pt x="5557520" y="2161822"/>
                </a:cubicBezTo>
                <a:lnTo>
                  <a:pt x="5571067" y="2161822"/>
                </a:lnTo>
                <a:lnTo>
                  <a:pt x="5571067" y="566702"/>
                </a:lnTo>
                <a:cubicBezTo>
                  <a:pt x="5589129" y="553156"/>
                  <a:pt x="5589129" y="539609"/>
                  <a:pt x="5571067" y="526062"/>
                </a:cubicBezTo>
                <a:lnTo>
                  <a:pt x="5571067" y="234809"/>
                </a:lnTo>
                <a:cubicBezTo>
                  <a:pt x="5589129" y="221262"/>
                  <a:pt x="5589129" y="207716"/>
                  <a:pt x="5571067" y="194169"/>
                </a:cubicBezTo>
                <a:lnTo>
                  <a:pt x="5571067" y="18062"/>
                </a:lnTo>
                <a:lnTo>
                  <a:pt x="5388187" y="18062"/>
                </a:lnTo>
                <a:cubicBezTo>
                  <a:pt x="5374640" y="0"/>
                  <a:pt x="5361093" y="0"/>
                  <a:pt x="5347547" y="18062"/>
                </a:cubicBezTo>
                <a:lnTo>
                  <a:pt x="5252720" y="18062"/>
                </a:lnTo>
                <a:cubicBezTo>
                  <a:pt x="5239173" y="0"/>
                  <a:pt x="5225627" y="0"/>
                  <a:pt x="5212080" y="18062"/>
                </a:cubicBezTo>
                <a:lnTo>
                  <a:pt x="5117253" y="18062"/>
                </a:lnTo>
                <a:cubicBezTo>
                  <a:pt x="5103707" y="0"/>
                  <a:pt x="5090160" y="0"/>
                  <a:pt x="5076613" y="18062"/>
                </a:cubicBezTo>
                <a:lnTo>
                  <a:pt x="4961467" y="18062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config-emmc"/>
          <p:cNvSpPr/>
          <p:nvPr/>
        </p:nvSpPr>
        <p:spPr>
          <a:xfrm>
            <a:off x="9110133" y="3166533"/>
            <a:ext cx="2099733" cy="33867"/>
          </a:xfrm>
          <a:custGeom>
            <a:avLst/>
            <a:gdLst/>
            <a:ahLst/>
            <a:cxnLst/>
            <a:rect l="0" t="0" r="r" b="b"/>
            <a:pathLst>
              <a:path w="2099733" h="33867" fill="none">
                <a:moveTo>
                  <a:pt x="2099733" y="33867"/>
                </a:moveTo>
                <a:lnTo>
                  <a:pt x="2086187" y="33867"/>
                </a:lnTo>
                <a:cubicBezTo>
                  <a:pt x="2072640" y="15804"/>
                  <a:pt x="2059093" y="15804"/>
                  <a:pt x="2045547" y="33867"/>
                </a:cubicBezTo>
                <a:lnTo>
                  <a:pt x="2052320" y="33867"/>
                </a:lnTo>
                <a:cubicBezTo>
                  <a:pt x="2038773" y="15804"/>
                  <a:pt x="2025227" y="15804"/>
                  <a:pt x="2011680" y="33867"/>
                </a:cubicBezTo>
                <a:lnTo>
                  <a:pt x="1916853" y="33867"/>
                </a:lnTo>
                <a:cubicBezTo>
                  <a:pt x="1903307" y="15804"/>
                  <a:pt x="1889760" y="15804"/>
                  <a:pt x="1876213" y="33867"/>
                </a:cubicBezTo>
                <a:lnTo>
                  <a:pt x="1781387" y="33867"/>
                </a:lnTo>
                <a:cubicBezTo>
                  <a:pt x="1767840" y="15804"/>
                  <a:pt x="1754293" y="15804"/>
                  <a:pt x="1740747" y="33867"/>
                </a:cubicBezTo>
                <a:lnTo>
                  <a:pt x="1645920" y="33867"/>
                </a:lnTo>
                <a:cubicBezTo>
                  <a:pt x="1632373" y="15804"/>
                  <a:pt x="1618827" y="15804"/>
                  <a:pt x="1605280" y="33867"/>
                </a:cubicBezTo>
                <a:lnTo>
                  <a:pt x="966705" y="33867"/>
                </a:lnTo>
                <a:cubicBezTo>
                  <a:pt x="953159" y="15804"/>
                  <a:pt x="939612" y="15804"/>
                  <a:pt x="926065" y="33867"/>
                </a:cubicBezTo>
                <a:lnTo>
                  <a:pt x="0" y="338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config-codec"/>
          <p:cNvSpPr/>
          <p:nvPr/>
        </p:nvSpPr>
        <p:spPr>
          <a:xfrm>
            <a:off x="10634133" y="4419600"/>
            <a:ext cx="575733" cy="728133"/>
          </a:xfrm>
          <a:custGeom>
            <a:avLst/>
            <a:gdLst/>
            <a:ahLst/>
            <a:cxnLst/>
            <a:rect l="0" t="0" r="r" b="b"/>
            <a:pathLst>
              <a:path w="575733" h="728133" fill="none">
                <a:moveTo>
                  <a:pt x="575733" y="0"/>
                </a:moveTo>
                <a:lnTo>
                  <a:pt x="575733" y="728133"/>
                </a:lnTo>
                <a:lnTo>
                  <a:pt x="0" y="7281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roi-irq"/>
          <p:cNvSpPr/>
          <p:nvPr/>
        </p:nvSpPr>
        <p:spPr>
          <a:xfrm>
            <a:off x="5638800" y="2555804"/>
            <a:ext cx="5656862" cy="4109156"/>
          </a:xfrm>
          <a:custGeom>
            <a:avLst/>
            <a:gdLst/>
            <a:ahLst/>
            <a:cxnLst/>
            <a:rect l="0" t="0" r="r" b="b"/>
            <a:pathLst>
              <a:path w="5656862" h="4109156" fill="none">
                <a:moveTo>
                  <a:pt x="4961467" y="18062"/>
                </a:moveTo>
                <a:lnTo>
                  <a:pt x="5076613" y="18062"/>
                </a:lnTo>
                <a:cubicBezTo>
                  <a:pt x="5090160" y="0"/>
                  <a:pt x="5103707" y="0"/>
                  <a:pt x="5117253" y="18062"/>
                </a:cubicBezTo>
                <a:lnTo>
                  <a:pt x="5212080" y="18062"/>
                </a:lnTo>
                <a:cubicBezTo>
                  <a:pt x="5225627" y="0"/>
                  <a:pt x="5239173" y="0"/>
                  <a:pt x="5252720" y="18062"/>
                </a:cubicBezTo>
                <a:lnTo>
                  <a:pt x="5347547" y="18062"/>
                </a:lnTo>
                <a:cubicBezTo>
                  <a:pt x="5361093" y="0"/>
                  <a:pt x="5374640" y="0"/>
                  <a:pt x="5388187" y="18062"/>
                </a:cubicBezTo>
                <a:lnTo>
                  <a:pt x="5550747" y="18062"/>
                </a:lnTo>
                <a:cubicBezTo>
                  <a:pt x="5564293" y="0"/>
                  <a:pt x="5577840" y="0"/>
                  <a:pt x="5591387" y="18062"/>
                </a:cubicBezTo>
                <a:lnTo>
                  <a:pt x="5638800" y="18062"/>
                </a:lnTo>
                <a:lnTo>
                  <a:pt x="5638800" y="228036"/>
                </a:lnTo>
                <a:cubicBezTo>
                  <a:pt x="5656862" y="241582"/>
                  <a:pt x="5656862" y="255129"/>
                  <a:pt x="5638800" y="268676"/>
                </a:cubicBezTo>
                <a:lnTo>
                  <a:pt x="5638800" y="4109156"/>
                </a:lnTo>
                <a:lnTo>
                  <a:pt x="67733" y="4109156"/>
                </a:lnTo>
                <a:lnTo>
                  <a:pt x="67733" y="3658729"/>
                </a:lnTo>
                <a:lnTo>
                  <a:pt x="0" y="3658729"/>
                </a:lnTo>
              </a:path>
            </a:pathLst>
          </a:custGeom>
          <a:noFill/>
          <a:ln w="16256" cap="flat">
            <a:solidFill>
              <a:srgbClr val="A54D5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emmc-irq"/>
          <p:cNvSpPr/>
          <p:nvPr/>
        </p:nvSpPr>
        <p:spPr>
          <a:xfrm>
            <a:off x="9385582" y="3064933"/>
            <a:ext cx="1892018" cy="169333"/>
          </a:xfrm>
          <a:custGeom>
            <a:avLst/>
            <a:gdLst/>
            <a:ahLst/>
            <a:cxnLst/>
            <a:rect l="0" t="0" r="r" b="b"/>
            <a:pathLst>
              <a:path w="1892018" h="169333" fill="none">
                <a:moveTo>
                  <a:pt x="0" y="0"/>
                </a:moveTo>
                <a:lnTo>
                  <a:pt x="63218" y="0"/>
                </a:lnTo>
                <a:lnTo>
                  <a:pt x="63218" y="115147"/>
                </a:lnTo>
                <a:cubicBezTo>
                  <a:pt x="81280" y="128693"/>
                  <a:pt x="81280" y="142240"/>
                  <a:pt x="63218" y="155787"/>
                </a:cubicBezTo>
                <a:lnTo>
                  <a:pt x="63218" y="169333"/>
                </a:lnTo>
                <a:lnTo>
                  <a:pt x="650616" y="169333"/>
                </a:lnTo>
                <a:cubicBezTo>
                  <a:pt x="664163" y="151271"/>
                  <a:pt x="677710" y="151271"/>
                  <a:pt x="691256" y="169333"/>
                </a:cubicBezTo>
                <a:lnTo>
                  <a:pt x="1329831" y="169333"/>
                </a:lnTo>
                <a:cubicBezTo>
                  <a:pt x="1343378" y="151271"/>
                  <a:pt x="1356924" y="151271"/>
                  <a:pt x="1370471" y="169333"/>
                </a:cubicBezTo>
                <a:lnTo>
                  <a:pt x="1465298" y="169333"/>
                </a:lnTo>
                <a:cubicBezTo>
                  <a:pt x="1478844" y="151271"/>
                  <a:pt x="1492391" y="151271"/>
                  <a:pt x="1505938" y="169333"/>
                </a:cubicBezTo>
                <a:lnTo>
                  <a:pt x="1600764" y="169333"/>
                </a:lnTo>
                <a:cubicBezTo>
                  <a:pt x="1614311" y="151271"/>
                  <a:pt x="1627858" y="151271"/>
                  <a:pt x="1641404" y="169333"/>
                </a:cubicBezTo>
                <a:lnTo>
                  <a:pt x="1736231" y="169333"/>
                </a:lnTo>
                <a:cubicBezTo>
                  <a:pt x="1749778" y="151271"/>
                  <a:pt x="1763324" y="151271"/>
                  <a:pt x="1776871" y="169333"/>
                </a:cubicBezTo>
                <a:lnTo>
                  <a:pt x="1770098" y="169333"/>
                </a:lnTo>
                <a:cubicBezTo>
                  <a:pt x="1783644" y="151271"/>
                  <a:pt x="1797191" y="151271"/>
                  <a:pt x="1810738" y="169333"/>
                </a:cubicBezTo>
                <a:lnTo>
                  <a:pt x="1803964" y="169333"/>
                </a:lnTo>
                <a:cubicBezTo>
                  <a:pt x="1817511" y="151271"/>
                  <a:pt x="1831058" y="151271"/>
                  <a:pt x="1844604" y="169333"/>
                </a:cubicBezTo>
                <a:lnTo>
                  <a:pt x="1892018" y="169333"/>
                </a:lnTo>
              </a:path>
            </a:pathLst>
          </a:custGeom>
          <a:noFill/>
          <a:ln w="16256" cap="flat">
            <a:solidFill>
              <a:srgbClr val="A54D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codec-irq"/>
          <p:cNvSpPr/>
          <p:nvPr/>
        </p:nvSpPr>
        <p:spPr>
          <a:xfrm>
            <a:off x="10634133" y="5604933"/>
            <a:ext cx="643467" cy="1"/>
          </a:xfrm>
          <a:custGeom>
            <a:avLst/>
            <a:gdLst/>
            <a:ahLst/>
            <a:cxnLst/>
            <a:rect l="0" t="0" r="r" b="b"/>
            <a:pathLst>
              <a:path w="643467" h="1" fill="none">
                <a:moveTo>
                  <a:pt x="0" y="0"/>
                </a:moveTo>
                <a:lnTo>
                  <a:pt x="643467" y="0"/>
                </a:lnTo>
              </a:path>
            </a:pathLst>
          </a:custGeom>
          <a:noFill/>
          <a:ln w="16256" cap="flat">
            <a:solidFill>
              <a:srgbClr val="A54D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new-irq-plic"/>
          <p:cNvSpPr/>
          <p:nvPr/>
        </p:nvSpPr>
        <p:spPr>
          <a:xfrm>
            <a:off x="4080933" y="4802293"/>
            <a:ext cx="609600" cy="1412240"/>
          </a:xfrm>
          <a:custGeom>
            <a:avLst/>
            <a:gdLst/>
            <a:ahLst/>
            <a:cxnLst/>
            <a:rect l="0" t="0" r="r" b="b"/>
            <a:pathLst>
              <a:path w="609600" h="1412240" fill="none">
                <a:moveTo>
                  <a:pt x="609600" y="1412240"/>
                </a:moveTo>
                <a:lnTo>
                  <a:pt x="541867" y="1412240"/>
                </a:lnTo>
                <a:lnTo>
                  <a:pt x="541867" y="0"/>
                </a:lnTo>
                <a:lnTo>
                  <a:pt x="0" y="0"/>
                </a:lnTo>
                <a:lnTo>
                  <a:pt x="0" y="40640"/>
                </a:lnTo>
              </a:path>
            </a:pathLst>
          </a:custGeom>
          <a:noFill/>
          <a:ln w="16256" cap="flat">
            <a:solidFill>
              <a:srgbClr val="A54D5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legend-data"/>
          <p:cNvSpPr/>
          <p:nvPr/>
        </p:nvSpPr>
        <p:spPr>
          <a:xfrm>
            <a:off x="11413067" y="369146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legend-gb"/>
          <p:cNvSpPr/>
          <p:nvPr/>
        </p:nvSpPr>
        <p:spPr>
          <a:xfrm>
            <a:off x="11413067" y="40132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legend-pixel"/>
          <p:cNvSpPr/>
          <p:nvPr/>
        </p:nvSpPr>
        <p:spPr>
          <a:xfrm>
            <a:off x="11413067" y="433493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legend-cfg"/>
          <p:cNvSpPr/>
          <p:nvPr/>
        </p:nvSpPr>
        <p:spPr>
          <a:xfrm>
            <a:off x="11413067" y="465666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legend-irq"/>
          <p:cNvSpPr/>
          <p:nvPr/>
        </p:nvSpPr>
        <p:spPr>
          <a:xfrm>
            <a:off x="11413067" y="4978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A54D5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legend-optional"/>
          <p:cNvSpPr/>
          <p:nvPr/>
        </p:nvSpPr>
        <p:spPr>
          <a:xfrm>
            <a:off x="11413067" y="530013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75000" sp="229167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junction-88-1460"/>
          <p:cNvSpPr/>
          <p:nvPr/>
        </p:nvSpPr>
        <p:spPr>
          <a:xfrm>
            <a:off x="281093" y="492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junction-88-1535"/>
          <p:cNvSpPr/>
          <p:nvPr/>
        </p:nvSpPr>
        <p:spPr>
          <a:xfrm>
            <a:off x="281093" y="5181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junction-88-1610"/>
          <p:cNvSpPr/>
          <p:nvPr/>
        </p:nvSpPr>
        <p:spPr>
          <a:xfrm>
            <a:off x="281093" y="5435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junction-88-1685"/>
          <p:cNvSpPr/>
          <p:nvPr/>
        </p:nvSpPr>
        <p:spPr>
          <a:xfrm>
            <a:off x="281093" y="5689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junction-88-1760"/>
          <p:cNvSpPr/>
          <p:nvPr/>
        </p:nvSpPr>
        <p:spPr>
          <a:xfrm>
            <a:off x="281093" y="5943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junction-88-1835"/>
          <p:cNvSpPr/>
          <p:nvPr/>
        </p:nvSpPr>
        <p:spPr>
          <a:xfrm>
            <a:off x="281093" y="619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junction-408-1460"/>
          <p:cNvSpPr/>
          <p:nvPr/>
        </p:nvSpPr>
        <p:spPr>
          <a:xfrm>
            <a:off x="1364827" y="492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junction-408-1535"/>
          <p:cNvSpPr/>
          <p:nvPr/>
        </p:nvSpPr>
        <p:spPr>
          <a:xfrm>
            <a:off x="1364827" y="5181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junction-408-1610"/>
          <p:cNvSpPr/>
          <p:nvPr/>
        </p:nvSpPr>
        <p:spPr>
          <a:xfrm>
            <a:off x="1364827" y="5435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junction-408-1685"/>
          <p:cNvSpPr/>
          <p:nvPr/>
        </p:nvSpPr>
        <p:spPr>
          <a:xfrm>
            <a:off x="1364827" y="5689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junction-408-1760"/>
          <p:cNvSpPr/>
          <p:nvPr/>
        </p:nvSpPr>
        <p:spPr>
          <a:xfrm>
            <a:off x="1364827" y="5943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junction-408-1835"/>
          <p:cNvSpPr/>
          <p:nvPr/>
        </p:nvSpPr>
        <p:spPr>
          <a:xfrm>
            <a:off x="1364827" y="619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junction-728-1460"/>
          <p:cNvSpPr/>
          <p:nvPr/>
        </p:nvSpPr>
        <p:spPr>
          <a:xfrm>
            <a:off x="2448560" y="492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junction-728-1535"/>
          <p:cNvSpPr/>
          <p:nvPr/>
        </p:nvSpPr>
        <p:spPr>
          <a:xfrm>
            <a:off x="2448560" y="5181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junction-728-1610"/>
          <p:cNvSpPr/>
          <p:nvPr/>
        </p:nvSpPr>
        <p:spPr>
          <a:xfrm>
            <a:off x="2448560" y="5435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junction-728-1685"/>
          <p:cNvSpPr/>
          <p:nvPr/>
        </p:nvSpPr>
        <p:spPr>
          <a:xfrm>
            <a:off x="2448560" y="5689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junction-728-1760"/>
          <p:cNvSpPr/>
          <p:nvPr/>
        </p:nvSpPr>
        <p:spPr>
          <a:xfrm>
            <a:off x="2448560" y="5943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junction-728-1835"/>
          <p:cNvSpPr/>
          <p:nvPr/>
        </p:nvSpPr>
        <p:spPr>
          <a:xfrm>
            <a:off x="2448560" y="619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junction-1048-1460"/>
          <p:cNvSpPr/>
          <p:nvPr/>
        </p:nvSpPr>
        <p:spPr>
          <a:xfrm>
            <a:off x="3532293" y="492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junction-1048-1535"/>
          <p:cNvSpPr/>
          <p:nvPr/>
        </p:nvSpPr>
        <p:spPr>
          <a:xfrm>
            <a:off x="3532293" y="5181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junction-1048-1610"/>
          <p:cNvSpPr/>
          <p:nvPr/>
        </p:nvSpPr>
        <p:spPr>
          <a:xfrm>
            <a:off x="3532293" y="5435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junction-1048-1685"/>
          <p:cNvSpPr/>
          <p:nvPr/>
        </p:nvSpPr>
        <p:spPr>
          <a:xfrm>
            <a:off x="3532293" y="5689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junction-1048-1760"/>
          <p:cNvSpPr/>
          <p:nvPr/>
        </p:nvSpPr>
        <p:spPr>
          <a:xfrm>
            <a:off x="3532293" y="5943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junction-1048-1835"/>
          <p:cNvSpPr/>
          <p:nvPr/>
        </p:nvSpPr>
        <p:spPr>
          <a:xfrm>
            <a:off x="3532293" y="619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junction-1368-1460"/>
          <p:cNvSpPr/>
          <p:nvPr/>
        </p:nvSpPr>
        <p:spPr>
          <a:xfrm>
            <a:off x="4616027" y="492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junction-1368-1535"/>
          <p:cNvSpPr/>
          <p:nvPr/>
        </p:nvSpPr>
        <p:spPr>
          <a:xfrm>
            <a:off x="4616027" y="5181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junction-1368-1610"/>
          <p:cNvSpPr/>
          <p:nvPr/>
        </p:nvSpPr>
        <p:spPr>
          <a:xfrm>
            <a:off x="4616027" y="5435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junction-1368-1685"/>
          <p:cNvSpPr/>
          <p:nvPr/>
        </p:nvSpPr>
        <p:spPr>
          <a:xfrm>
            <a:off x="4616027" y="5689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junction-1368-1760"/>
          <p:cNvSpPr/>
          <p:nvPr/>
        </p:nvSpPr>
        <p:spPr>
          <a:xfrm>
            <a:off x="4616027" y="5943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junction-3310-945"/>
          <p:cNvSpPr/>
          <p:nvPr/>
        </p:nvSpPr>
        <p:spPr>
          <a:xfrm>
            <a:off x="11192933" y="318346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junction-3310-1305"/>
          <p:cNvSpPr/>
          <p:nvPr/>
        </p:nvSpPr>
        <p:spPr>
          <a:xfrm>
            <a:off x="11192933" y="440266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junction-3330-955"/>
          <p:cNvSpPr/>
          <p:nvPr/>
        </p:nvSpPr>
        <p:spPr>
          <a:xfrm>
            <a:off x="11260667" y="3217333"/>
            <a:ext cx="33867" cy="33867"/>
          </a:xfrm>
          <a:prstGeom prst="ellipse">
            <a:avLst/>
          </a:prstGeom>
          <a:solidFill>
            <a:srgbClr val="A54D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junction-3330-1655"/>
          <p:cNvSpPr/>
          <p:nvPr/>
        </p:nvSpPr>
        <p:spPr>
          <a:xfrm>
            <a:off x="11260667" y="5588000"/>
            <a:ext cx="33867" cy="33867"/>
          </a:xfrm>
          <a:prstGeom prst="ellipse">
            <a:avLst/>
          </a:prstGeom>
          <a:solidFill>
            <a:srgbClr val="A54D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cva6"/>
          <p:cNvSpPr/>
          <p:nvPr/>
        </p:nvSpPr>
        <p:spPr>
          <a:xfrm>
            <a:off x="338667" y="880533"/>
            <a:ext cx="846667" cy="846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ara"/>
          <p:cNvSpPr/>
          <p:nvPr/>
        </p:nvSpPr>
        <p:spPr>
          <a:xfrm>
            <a:off x="1320800" y="880533"/>
            <a:ext cx="1794933" cy="3556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ara-filter"/>
          <p:cNvSpPr/>
          <p:nvPr/>
        </p:nvSpPr>
        <p:spPr>
          <a:xfrm>
            <a:off x="1320800" y="1388533"/>
            <a:ext cx="711200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ara-width"/>
          <p:cNvSpPr/>
          <p:nvPr/>
        </p:nvSpPr>
        <p:spPr>
          <a:xfrm>
            <a:off x="2438400" y="1388533"/>
            <a:ext cx="677333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npu"/>
          <p:cNvSpPr/>
          <p:nvPr/>
        </p:nvSpPr>
        <p:spPr>
          <a:xfrm>
            <a:off x="3454400" y="846667"/>
            <a:ext cx="762000" cy="6434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badge-C6"/>
          <p:cNvSpPr/>
          <p:nvPr/>
        </p:nvSpPr>
        <p:spPr>
          <a:xfrm>
            <a:off x="3996267" y="138853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gb-adapter"/>
          <p:cNvSpPr/>
          <p:nvPr/>
        </p:nvSpPr>
        <p:spPr>
          <a:xfrm>
            <a:off x="4334933" y="982133"/>
            <a:ext cx="846667" cy="7450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global-buffer"/>
          <p:cNvSpPr/>
          <p:nvPr/>
        </p:nvSpPr>
        <p:spPr>
          <a:xfrm>
            <a:off x="5317067" y="846667"/>
            <a:ext cx="1490133" cy="38946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badge-C9"/>
          <p:cNvSpPr/>
          <p:nvPr/>
        </p:nvSpPr>
        <p:spPr>
          <a:xfrm>
            <a:off x="6604000" y="112437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gb-mover"/>
          <p:cNvSpPr/>
          <p:nvPr/>
        </p:nvSpPr>
        <p:spPr>
          <a:xfrm>
            <a:off x="5317067" y="1371600"/>
            <a:ext cx="1490133" cy="3725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badge-C7"/>
          <p:cNvSpPr/>
          <p:nvPr/>
        </p:nvSpPr>
        <p:spPr>
          <a:xfrm>
            <a:off x="6604000" y="163237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lvds-rx"/>
          <p:cNvSpPr/>
          <p:nvPr/>
        </p:nvSpPr>
        <p:spPr>
          <a:xfrm>
            <a:off x="7145867" y="1016000"/>
            <a:ext cx="592667" cy="541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rx-cdc"/>
          <p:cNvSpPr/>
          <p:nvPr/>
        </p:nvSpPr>
        <p:spPr>
          <a:xfrm>
            <a:off x="7840133" y="1016000"/>
            <a:ext cx="575733" cy="541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isp"/>
          <p:cNvSpPr/>
          <p:nvPr/>
        </p:nvSpPr>
        <p:spPr>
          <a:xfrm>
            <a:off x="8534400" y="1016000"/>
            <a:ext cx="592667" cy="5418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frame-select"/>
          <p:cNvSpPr/>
          <p:nvPr/>
        </p:nvSpPr>
        <p:spPr>
          <a:xfrm>
            <a:off x="9228667" y="1016000"/>
            <a:ext cx="575733" cy="541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frame-dma"/>
          <p:cNvSpPr/>
          <p:nvPr/>
        </p:nvSpPr>
        <p:spPr>
          <a:xfrm>
            <a:off x="9922933" y="1016000"/>
            <a:ext cx="643467" cy="541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badge-C4"/>
          <p:cNvSpPr/>
          <p:nvPr/>
        </p:nvSpPr>
        <p:spPr>
          <a:xfrm>
            <a:off x="7518400" y="144272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badge-C5"/>
          <p:cNvSpPr/>
          <p:nvPr/>
        </p:nvSpPr>
        <p:spPr>
          <a:xfrm>
            <a:off x="8906933" y="144272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badge-C8"/>
          <p:cNvSpPr/>
          <p:nvPr/>
        </p:nvSpPr>
        <p:spPr>
          <a:xfrm>
            <a:off x="10346267" y="144272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pll"/>
          <p:cNvSpPr/>
          <p:nvPr/>
        </p:nvSpPr>
        <p:spPr>
          <a:xfrm>
            <a:off x="3522133" y="2235200"/>
            <a:ext cx="3251200" cy="355600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badge-C1"/>
          <p:cNvSpPr/>
          <p:nvPr/>
        </p:nvSpPr>
        <p:spPr>
          <a:xfrm>
            <a:off x="6553200" y="225890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badge-C11"/>
          <p:cNvSpPr/>
          <p:nvPr/>
        </p:nvSpPr>
        <p:spPr>
          <a:xfrm>
            <a:off x="10397067" y="216069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roi-scheduler"/>
          <p:cNvSpPr/>
          <p:nvPr/>
        </p:nvSpPr>
        <p:spPr>
          <a:xfrm>
            <a:off x="7145867" y="2319867"/>
            <a:ext cx="812800" cy="3048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roi-vdma"/>
          <p:cNvSpPr/>
          <p:nvPr/>
        </p:nvSpPr>
        <p:spPr>
          <a:xfrm>
            <a:off x="8060267" y="2319867"/>
            <a:ext cx="778933" cy="3048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roi-fifo"/>
          <p:cNvSpPr/>
          <p:nvPr/>
        </p:nvSpPr>
        <p:spPr>
          <a:xfrm>
            <a:off x="8940800" y="2319867"/>
            <a:ext cx="711200" cy="3048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lvds-tx"/>
          <p:cNvSpPr/>
          <p:nvPr/>
        </p:nvSpPr>
        <p:spPr>
          <a:xfrm>
            <a:off x="9753600" y="2319867"/>
            <a:ext cx="745067" cy="3048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lvds-peer"/>
          <p:cNvSpPr/>
          <p:nvPr/>
        </p:nvSpPr>
        <p:spPr>
          <a:xfrm>
            <a:off x="11413067" y="2319867"/>
            <a:ext cx="711200" cy="304800"/>
          </a:xfrm>
          <a:prstGeom prst="rect">
            <a:avLst/>
          </a:prstGeom>
          <a:solidFill>
            <a:srgbClr val="EEEE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emmc-device"/>
          <p:cNvSpPr/>
          <p:nvPr/>
        </p:nvSpPr>
        <p:spPr>
          <a:xfrm>
            <a:off x="11413067" y="2709333"/>
            <a:ext cx="711200" cy="338667"/>
          </a:xfrm>
          <a:prstGeom prst="rect">
            <a:avLst/>
          </a:prstGeom>
          <a:solidFill>
            <a:srgbClr val="EEEE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axi-crossbar"/>
          <p:cNvSpPr/>
          <p:nvPr/>
        </p:nvSpPr>
        <p:spPr>
          <a:xfrm>
            <a:off x="237067" y="3318933"/>
            <a:ext cx="10397067" cy="304800"/>
          </a:xfrm>
          <a:prstGeom prst="rect">
            <a:avLst/>
          </a:prstGeom>
          <a:solidFill>
            <a:srgbClr val="4776C2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xbar-in-S0"/>
          <p:cNvSpPr/>
          <p:nvPr/>
        </p:nvSpPr>
        <p:spPr>
          <a:xfrm>
            <a:off x="652121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xbar-in-S1"/>
          <p:cNvSpPr/>
          <p:nvPr/>
        </p:nvSpPr>
        <p:spPr>
          <a:xfrm>
            <a:off x="1807351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xbar-in-S2"/>
          <p:cNvSpPr/>
          <p:nvPr/>
        </p:nvSpPr>
        <p:spPr>
          <a:xfrm>
            <a:off x="2962581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xbar-in-S3"/>
          <p:cNvSpPr/>
          <p:nvPr/>
        </p:nvSpPr>
        <p:spPr>
          <a:xfrm>
            <a:off x="4117810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xbar-in-S4"/>
          <p:cNvSpPr/>
          <p:nvPr/>
        </p:nvSpPr>
        <p:spPr>
          <a:xfrm>
            <a:off x="5273040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xbar-in-S5"/>
          <p:cNvSpPr/>
          <p:nvPr/>
        </p:nvSpPr>
        <p:spPr>
          <a:xfrm>
            <a:off x="6428270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xbar-in-S6"/>
          <p:cNvSpPr/>
          <p:nvPr/>
        </p:nvSpPr>
        <p:spPr>
          <a:xfrm>
            <a:off x="7583499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xbar-in-S7"/>
          <p:cNvSpPr/>
          <p:nvPr/>
        </p:nvSpPr>
        <p:spPr>
          <a:xfrm>
            <a:off x="8738729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xbar-in-S_EXT"/>
          <p:cNvSpPr/>
          <p:nvPr/>
        </p:nvSpPr>
        <p:spPr>
          <a:xfrm>
            <a:off x="9893959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debug-sba"/>
          <p:cNvSpPr/>
          <p:nvPr/>
        </p:nvSpPr>
        <p:spPr>
          <a:xfrm>
            <a:off x="1485618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idma-master"/>
          <p:cNvSpPr/>
          <p:nvPr/>
        </p:nvSpPr>
        <p:spPr>
          <a:xfrm>
            <a:off x="3796077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slink-rx"/>
          <p:cNvSpPr/>
          <p:nvPr/>
        </p:nvSpPr>
        <p:spPr>
          <a:xfrm>
            <a:off x="4951307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vga"/>
          <p:cNvSpPr/>
          <p:nvPr/>
        </p:nvSpPr>
        <p:spPr>
          <a:xfrm>
            <a:off x="6106536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usb-dma"/>
          <p:cNvSpPr/>
          <p:nvPr/>
        </p:nvSpPr>
        <p:spPr>
          <a:xfrm>
            <a:off x="7261766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emmc-host"/>
          <p:cNvSpPr/>
          <p:nvPr/>
        </p:nvSpPr>
        <p:spPr>
          <a:xfrm>
            <a:off x="8416996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ext-master"/>
          <p:cNvSpPr/>
          <p:nvPr/>
        </p:nvSpPr>
        <p:spPr>
          <a:xfrm>
            <a:off x="9572225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badge-C10"/>
          <p:cNvSpPr/>
          <p:nvPr/>
        </p:nvSpPr>
        <p:spPr>
          <a:xfrm>
            <a:off x="9178996" y="28380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xbar-out-M0"/>
          <p:cNvSpPr/>
          <p:nvPr/>
        </p:nvSpPr>
        <p:spPr>
          <a:xfrm>
            <a:off x="817154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debug-target"/>
          <p:cNvSpPr/>
          <p:nvPr/>
        </p:nvSpPr>
        <p:spPr>
          <a:xfrm>
            <a:off x="302381" y="3826933"/>
            <a:ext cx="1354667" cy="4910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xbar-out-M1"/>
          <p:cNvSpPr/>
          <p:nvPr/>
        </p:nvSpPr>
        <p:spPr>
          <a:xfrm>
            <a:off x="2302450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reg-bridge"/>
          <p:cNvSpPr/>
          <p:nvPr/>
        </p:nvSpPr>
        <p:spPr>
          <a:xfrm>
            <a:off x="1787676" y="3826933"/>
            <a:ext cx="1354667" cy="4910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xbar-out-M2"/>
          <p:cNvSpPr/>
          <p:nvPr/>
        </p:nvSpPr>
        <p:spPr>
          <a:xfrm>
            <a:off x="3787745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memory-target"/>
          <p:cNvSpPr/>
          <p:nvPr/>
        </p:nvSpPr>
        <p:spPr>
          <a:xfrm>
            <a:off x="3239105" y="3826933"/>
            <a:ext cx="1422400" cy="4910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atomics"/>
          <p:cNvSpPr/>
          <p:nvPr/>
        </p:nvSpPr>
        <p:spPr>
          <a:xfrm>
            <a:off x="3272971" y="4003040"/>
            <a:ext cx="609600" cy="28109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llc-spm"/>
          <p:cNvSpPr/>
          <p:nvPr/>
        </p:nvSpPr>
        <p:spPr>
          <a:xfrm>
            <a:off x="4018038" y="4003040"/>
            <a:ext cx="609600" cy="28109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xbar-out-M3"/>
          <p:cNvSpPr/>
          <p:nvPr/>
        </p:nvSpPr>
        <p:spPr>
          <a:xfrm>
            <a:off x="5273040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idma-config"/>
          <p:cNvSpPr/>
          <p:nvPr/>
        </p:nvSpPr>
        <p:spPr>
          <a:xfrm>
            <a:off x="4758267" y="3826933"/>
            <a:ext cx="1354667" cy="4910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xbar-out-M4"/>
          <p:cNvSpPr/>
          <p:nvPr/>
        </p:nvSpPr>
        <p:spPr>
          <a:xfrm>
            <a:off x="6758335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slink-tx"/>
          <p:cNvSpPr/>
          <p:nvPr/>
        </p:nvSpPr>
        <p:spPr>
          <a:xfrm>
            <a:off x="6243562" y="3826933"/>
            <a:ext cx="1354667" cy="4910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xbar-out-M5"/>
          <p:cNvSpPr/>
          <p:nvPr/>
        </p:nvSpPr>
        <p:spPr>
          <a:xfrm>
            <a:off x="8243630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gb-interface"/>
          <p:cNvSpPr/>
          <p:nvPr/>
        </p:nvSpPr>
        <p:spPr>
          <a:xfrm>
            <a:off x="7728857" y="3826933"/>
            <a:ext cx="1354667" cy="49106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xbar-out-M_EXT"/>
          <p:cNvSpPr/>
          <p:nvPr/>
        </p:nvSpPr>
        <p:spPr>
          <a:xfrm>
            <a:off x="9728926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ext-target"/>
          <p:cNvSpPr/>
          <p:nvPr/>
        </p:nvSpPr>
        <p:spPr>
          <a:xfrm>
            <a:off x="9214152" y="3826933"/>
            <a:ext cx="1354667" cy="4910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regbus"/>
          <p:cNvSpPr/>
          <p:nvPr/>
        </p:nvSpPr>
        <p:spPr>
          <a:xfrm>
            <a:off x="304800" y="4572000"/>
            <a:ext cx="5520267" cy="1862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reg-0-0"/>
          <p:cNvSpPr/>
          <p:nvPr/>
        </p:nvSpPr>
        <p:spPr>
          <a:xfrm>
            <a:off x="355600" y="484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reg-1-0"/>
          <p:cNvSpPr/>
          <p:nvPr/>
        </p:nvSpPr>
        <p:spPr>
          <a:xfrm>
            <a:off x="355600" y="5096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reg-2-0"/>
          <p:cNvSpPr/>
          <p:nvPr/>
        </p:nvSpPr>
        <p:spPr>
          <a:xfrm>
            <a:off x="355600" y="5350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reg-3-0"/>
          <p:cNvSpPr/>
          <p:nvPr/>
        </p:nvSpPr>
        <p:spPr>
          <a:xfrm>
            <a:off x="355600" y="5604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reg-4-0"/>
          <p:cNvSpPr/>
          <p:nvPr/>
        </p:nvSpPr>
        <p:spPr>
          <a:xfrm>
            <a:off x="355600" y="5858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reg-5-0"/>
          <p:cNvSpPr/>
          <p:nvPr/>
        </p:nvSpPr>
        <p:spPr>
          <a:xfrm>
            <a:off x="355600" y="611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reg-0-1"/>
          <p:cNvSpPr/>
          <p:nvPr/>
        </p:nvSpPr>
        <p:spPr>
          <a:xfrm>
            <a:off x="1439333" y="484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reg-1-1"/>
          <p:cNvSpPr/>
          <p:nvPr/>
        </p:nvSpPr>
        <p:spPr>
          <a:xfrm>
            <a:off x="1439333" y="5096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reg-2-1"/>
          <p:cNvSpPr/>
          <p:nvPr/>
        </p:nvSpPr>
        <p:spPr>
          <a:xfrm>
            <a:off x="1439333" y="5350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reg-3-1"/>
          <p:cNvSpPr/>
          <p:nvPr/>
        </p:nvSpPr>
        <p:spPr>
          <a:xfrm>
            <a:off x="1439333" y="5604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reg-4-1"/>
          <p:cNvSpPr/>
          <p:nvPr/>
        </p:nvSpPr>
        <p:spPr>
          <a:xfrm>
            <a:off x="1439333" y="5858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reg-5-1"/>
          <p:cNvSpPr/>
          <p:nvPr/>
        </p:nvSpPr>
        <p:spPr>
          <a:xfrm>
            <a:off x="1439333" y="611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reg-0-2"/>
          <p:cNvSpPr/>
          <p:nvPr/>
        </p:nvSpPr>
        <p:spPr>
          <a:xfrm>
            <a:off x="2523067" y="484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reg-1-2"/>
          <p:cNvSpPr/>
          <p:nvPr/>
        </p:nvSpPr>
        <p:spPr>
          <a:xfrm>
            <a:off x="2523067" y="5096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reg-2-2"/>
          <p:cNvSpPr/>
          <p:nvPr/>
        </p:nvSpPr>
        <p:spPr>
          <a:xfrm>
            <a:off x="2523067" y="5350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reg-3-2"/>
          <p:cNvSpPr/>
          <p:nvPr/>
        </p:nvSpPr>
        <p:spPr>
          <a:xfrm>
            <a:off x="2523067" y="5604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reg-4-2"/>
          <p:cNvSpPr/>
          <p:nvPr/>
        </p:nvSpPr>
        <p:spPr>
          <a:xfrm>
            <a:off x="2523067" y="5858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reg-5-2"/>
          <p:cNvSpPr/>
          <p:nvPr/>
        </p:nvSpPr>
        <p:spPr>
          <a:xfrm>
            <a:off x="2523067" y="611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reg-0-3"/>
          <p:cNvSpPr/>
          <p:nvPr/>
        </p:nvSpPr>
        <p:spPr>
          <a:xfrm>
            <a:off x="3606800" y="484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reg-1-3"/>
          <p:cNvSpPr/>
          <p:nvPr/>
        </p:nvSpPr>
        <p:spPr>
          <a:xfrm>
            <a:off x="3606800" y="5096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reg-2-3"/>
          <p:cNvSpPr/>
          <p:nvPr/>
        </p:nvSpPr>
        <p:spPr>
          <a:xfrm>
            <a:off x="3606800" y="5350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reg-3-3"/>
          <p:cNvSpPr/>
          <p:nvPr/>
        </p:nvSpPr>
        <p:spPr>
          <a:xfrm>
            <a:off x="3606800" y="5604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reg-4-3"/>
          <p:cNvSpPr/>
          <p:nvPr/>
        </p:nvSpPr>
        <p:spPr>
          <a:xfrm>
            <a:off x="3606800" y="5858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reg-5-3"/>
          <p:cNvSpPr/>
          <p:nvPr/>
        </p:nvSpPr>
        <p:spPr>
          <a:xfrm>
            <a:off x="3606800" y="611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reg-0-4"/>
          <p:cNvSpPr/>
          <p:nvPr/>
        </p:nvSpPr>
        <p:spPr>
          <a:xfrm>
            <a:off x="4690533" y="484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reg-1-4"/>
          <p:cNvSpPr/>
          <p:nvPr/>
        </p:nvSpPr>
        <p:spPr>
          <a:xfrm>
            <a:off x="4690533" y="5096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reg-2-4"/>
          <p:cNvSpPr/>
          <p:nvPr/>
        </p:nvSpPr>
        <p:spPr>
          <a:xfrm>
            <a:off x="4690533" y="5350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reg-3-4"/>
          <p:cNvSpPr/>
          <p:nvPr/>
        </p:nvSpPr>
        <p:spPr>
          <a:xfrm>
            <a:off x="4690533" y="5604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reg-4-4"/>
          <p:cNvSpPr/>
          <p:nvPr/>
        </p:nvSpPr>
        <p:spPr>
          <a:xfrm>
            <a:off x="4690533" y="5858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new-irq-sync"/>
          <p:cNvSpPr/>
          <p:nvPr/>
        </p:nvSpPr>
        <p:spPr>
          <a:xfrm>
            <a:off x="4690533" y="6112933"/>
            <a:ext cx="948267" cy="203200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front-F0"/>
          <p:cNvSpPr/>
          <p:nvPr/>
        </p:nvSpPr>
        <p:spPr>
          <a:xfrm>
            <a:off x="6620933" y="4693920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front-F1"/>
          <p:cNvSpPr/>
          <p:nvPr/>
        </p:nvSpPr>
        <p:spPr>
          <a:xfrm>
            <a:off x="7670800" y="4693920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front-F2"/>
          <p:cNvSpPr/>
          <p:nvPr/>
        </p:nvSpPr>
        <p:spPr>
          <a:xfrm>
            <a:off x="8720667" y="4693920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front-F3"/>
          <p:cNvSpPr/>
          <p:nvPr/>
        </p:nvSpPr>
        <p:spPr>
          <a:xfrm>
            <a:off x="9838267" y="4693920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front-adapt"/>
          <p:cNvSpPr/>
          <p:nvPr/>
        </p:nvSpPr>
        <p:spPr>
          <a:xfrm>
            <a:off x="6333067" y="4876800"/>
            <a:ext cx="4199467" cy="2032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compressor"/>
          <p:cNvSpPr/>
          <p:nvPr/>
        </p:nvSpPr>
        <p:spPr>
          <a:xfrm>
            <a:off x="6333067" y="5215467"/>
            <a:ext cx="914400" cy="3217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decompressor"/>
          <p:cNvSpPr/>
          <p:nvPr/>
        </p:nvSpPr>
        <p:spPr>
          <a:xfrm>
            <a:off x="7382933" y="5215467"/>
            <a:ext cx="914400" cy="3217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plain-bypass"/>
          <p:cNvSpPr/>
          <p:nvPr/>
        </p:nvSpPr>
        <p:spPr>
          <a:xfrm>
            <a:off x="8432800" y="5215467"/>
            <a:ext cx="914400" cy="321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metadata"/>
          <p:cNvSpPr/>
          <p:nvPr/>
        </p:nvSpPr>
        <p:spPr>
          <a:xfrm>
            <a:off x="9482667" y="5215467"/>
            <a:ext cx="1049867" cy="3217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front-route"/>
          <p:cNvSpPr/>
          <p:nvPr/>
        </p:nvSpPr>
        <p:spPr>
          <a:xfrm>
            <a:off x="6333067" y="5655733"/>
            <a:ext cx="4199467" cy="2032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badge-C12"/>
          <p:cNvSpPr/>
          <p:nvPr/>
        </p:nvSpPr>
        <p:spPr>
          <a:xfrm>
            <a:off x="10430933" y="510370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ddr-S0"/>
          <p:cNvSpPr/>
          <p:nvPr/>
        </p:nvSpPr>
        <p:spPr>
          <a:xfrm>
            <a:off x="6620933" y="5997787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ddr-S1"/>
          <p:cNvSpPr/>
          <p:nvPr/>
        </p:nvSpPr>
        <p:spPr>
          <a:xfrm>
            <a:off x="7670800" y="5997787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ddr-S2"/>
          <p:cNvSpPr/>
          <p:nvPr/>
        </p:nvSpPr>
        <p:spPr>
          <a:xfrm>
            <a:off x="8720667" y="5997787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ddr-S3"/>
          <p:cNvSpPr/>
          <p:nvPr/>
        </p:nvSpPr>
        <p:spPr>
          <a:xfrm>
            <a:off x="9838267" y="5997787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ddr-arb"/>
          <p:cNvSpPr/>
          <p:nvPr/>
        </p:nvSpPr>
        <p:spPr>
          <a:xfrm>
            <a:off x="6333067" y="6156960"/>
            <a:ext cx="4199467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ddr-rw"/>
          <p:cNvSpPr/>
          <p:nvPr/>
        </p:nvSpPr>
        <p:spPr>
          <a:xfrm>
            <a:off x="6333067" y="6333067"/>
            <a:ext cx="1693333" cy="1862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ddr-command"/>
          <p:cNvSpPr/>
          <p:nvPr/>
        </p:nvSpPr>
        <p:spPr>
          <a:xfrm>
            <a:off x="8432800" y="6333067"/>
            <a:ext cx="2099733" cy="1862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badge-C2"/>
          <p:cNvSpPr/>
          <p:nvPr/>
        </p:nvSpPr>
        <p:spPr>
          <a:xfrm>
            <a:off x="10424160" y="65328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ddr-phy"/>
          <p:cNvSpPr/>
          <p:nvPr/>
        </p:nvSpPr>
        <p:spPr>
          <a:xfrm>
            <a:off x="10769600" y="6299200"/>
            <a:ext cx="508000" cy="304800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badge-C3"/>
          <p:cNvSpPr/>
          <p:nvPr/>
        </p:nvSpPr>
        <p:spPr>
          <a:xfrm>
            <a:off x="11081173" y="650240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ddr-device"/>
          <p:cNvSpPr/>
          <p:nvPr/>
        </p:nvSpPr>
        <p:spPr>
          <a:xfrm>
            <a:off x="11413067" y="6299200"/>
            <a:ext cx="711200" cy="304800"/>
          </a:xfrm>
          <a:prstGeom prst="rect">
            <a:avLst/>
          </a:prstGeom>
          <a:solidFill>
            <a:srgbClr val="EEEE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page-title: SoC 硬件层"/>
          <p:cNvSpPr txBox="1"/>
          <p:nvPr/>
        </p:nvSpPr>
        <p:spPr>
          <a:xfrm>
            <a:off x="5478560" y="34544"/>
            <a:ext cx="1234879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SoC 硬件层</a:t>
            </a:r>
          </a:p>
        </p:txBody>
      </p:sp>
      <p:sp>
        <p:nvSpPr>
          <p:cNvPr id="272" name="subtitle: SoC 初版规划：参数加载 / ROI 子图输出 / 四口共享压缩存储"/>
          <p:cNvSpPr txBox="1"/>
          <p:nvPr/>
        </p:nvSpPr>
        <p:spPr>
          <a:xfrm>
            <a:off x="4000976" y="359935"/>
            <a:ext cx="3241781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初版规划：参数加载 / ROI 子图输出 / 四口共享压缩存储</a:t>
            </a:r>
          </a:p>
        </p:txBody>
      </p:sp>
      <p:sp>
        <p:nvSpPr>
          <p:cNvPr id="273" name="compute-title: CVA6–Ara 计算平台"/>
          <p:cNvSpPr txBox="1"/>
          <p:nvPr/>
        </p:nvSpPr>
        <p:spPr>
          <a:xfrm>
            <a:off x="1158219" y="613393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274" name="gb-region-title: NPU / 独立 Global Buffer 子系统"/>
          <p:cNvSpPr txBox="1"/>
          <p:nvPr/>
        </p:nvSpPr>
        <p:spPr>
          <a:xfrm>
            <a:off x="4218194" y="613393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275" name="image-rx-title: 图像采集与 ISP"/>
          <p:cNvSpPr txBox="1"/>
          <p:nvPr/>
        </p:nvSpPr>
        <p:spPr>
          <a:xfrm>
            <a:off x="8367472" y="613393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276" name="cva6-t0: CVA6 core 0"/>
          <p:cNvSpPr txBox="1"/>
          <p:nvPr/>
        </p:nvSpPr>
        <p:spPr>
          <a:xfrm>
            <a:off x="414443" y="1105814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277" name="cva6-t1: L1 I / D cache"/>
          <p:cNvSpPr txBox="1"/>
          <p:nvPr/>
        </p:nvSpPr>
        <p:spPr>
          <a:xfrm>
            <a:off x="390477" y="1236811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278" name="cva6-t2: MMU / AXI 适配"/>
          <p:cNvSpPr txBox="1"/>
          <p:nvPr/>
        </p:nvSpPr>
        <p:spPr>
          <a:xfrm>
            <a:off x="380045" y="1359679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279" name="ara-t0: Ara 向量处理器"/>
          <p:cNvSpPr txBox="1"/>
          <p:nvPr/>
        </p:nvSpPr>
        <p:spPr>
          <a:xfrm>
            <a:off x="1800066" y="917177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280" name="ara-t1: 2 lanes · VLSU / AXI：64 bit"/>
          <p:cNvSpPr txBox="1"/>
          <p:nvPr/>
        </p:nvSpPr>
        <p:spPr>
          <a:xfrm>
            <a:off x="1532115" y="1048173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281" name="ara-filter-t0: 失效过滤"/>
          <p:cNvSpPr txBox="1"/>
          <p:nvPr/>
        </p:nvSpPr>
        <p:spPr>
          <a:xfrm>
            <a:off x="1422400" y="142985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282" name="ara-filter-t1: 现有 filter"/>
          <p:cNvSpPr txBox="1"/>
          <p:nvPr/>
        </p:nvSpPr>
        <p:spPr>
          <a:xfrm>
            <a:off x="1445001" y="1553667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283" name="ara-width-t0: 等宽透传"/>
          <p:cNvSpPr txBox="1"/>
          <p:nvPr/>
        </p:nvSpPr>
        <p:spPr>
          <a:xfrm>
            <a:off x="2523067" y="142985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284" name="ara-width-t1: 64 → 64 bit"/>
          <p:cNvSpPr txBox="1"/>
          <p:nvPr/>
        </p:nvSpPr>
        <p:spPr>
          <a:xfrm>
            <a:off x="2495486" y="1553667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285" name="command-label: 指令 / MMU"/>
          <p:cNvSpPr txBox="1"/>
          <p:nvPr/>
        </p:nvSpPr>
        <p:spPr>
          <a:xfrm>
            <a:off x="1564071" y="748182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286" name="npu-t0: NPU 计算引擎"/>
          <p:cNvSpPr txBox="1"/>
          <p:nvPr/>
        </p:nvSpPr>
        <p:spPr>
          <a:xfrm>
            <a:off x="3471765" y="1040384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287" name="npu-t1: GB 数据读写"/>
          <p:cNvSpPr txBox="1"/>
          <p:nvPr/>
        </p:nvSpPr>
        <p:spPr>
          <a:xfrm>
            <a:off x="3545784" y="1164201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288" name="badge-C6-text: C6"/>
          <p:cNvSpPr txBox="1"/>
          <p:nvPr/>
        </p:nvSpPr>
        <p:spPr>
          <a:xfrm>
            <a:off x="4007115" y="137945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289" name="gb-adapter-t0: GB 访问适配"/>
          <p:cNvSpPr txBox="1"/>
          <p:nvPr/>
        </p:nvSpPr>
        <p:spPr>
          <a:xfrm>
            <a:off x="4424098" y="1173819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290" name="gb-adapter-t1: 局部仲裁 / 路由"/>
          <p:cNvSpPr txBox="1"/>
          <p:nvPr/>
        </p:nvSpPr>
        <p:spPr>
          <a:xfrm>
            <a:off x="4400807" y="1297635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291" name="gb-adapter-t2: bank 冲突处理"/>
          <p:cNvSpPr txBox="1"/>
          <p:nvPr/>
        </p:nvSpPr>
        <p:spPr>
          <a:xfrm>
            <a:off x="4431721" y="1403299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292" name="global-buffer-t0: Global Buffer"/>
          <p:cNvSpPr txBox="1"/>
          <p:nvPr/>
        </p:nvSpPr>
        <p:spPr>
          <a:xfrm>
            <a:off x="5700660" y="855540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293" name="global-buffer-t1: 独立 SRAM · 分 bank"/>
          <p:cNvSpPr txBox="1"/>
          <p:nvPr/>
        </p:nvSpPr>
        <p:spPr>
          <a:xfrm>
            <a:off x="5614252" y="988433"/>
            <a:ext cx="89576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294" name="global-buffer-t2: CPU / Ara / NPU / ISP"/>
          <p:cNvSpPr txBox="1"/>
          <p:nvPr/>
        </p:nvSpPr>
        <p:spPr>
          <a:xfrm>
            <a:off x="5582647" y="1094097"/>
            <a:ext cx="95897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295" name="badge-C9-text: C9"/>
          <p:cNvSpPr txBox="1"/>
          <p:nvPr/>
        </p:nvSpPr>
        <p:spPr>
          <a:xfrm>
            <a:off x="6614848" y="111529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296" name="gb-mover-t0: NPU / GB 搬运引擎"/>
          <p:cNvSpPr txBox="1"/>
          <p:nvPr/>
        </p:nvSpPr>
        <p:spPr>
          <a:xfrm>
            <a:off x="5576708" y="1429851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297" name="gb-mover-t1: DDR ↔ GB · AXI 主口"/>
          <p:cNvSpPr txBox="1"/>
          <p:nvPr/>
        </p:nvSpPr>
        <p:spPr>
          <a:xfrm>
            <a:off x="5608100" y="1553667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298" name="badge-C7-text: C7"/>
          <p:cNvSpPr txBox="1"/>
          <p:nvPr/>
        </p:nvSpPr>
        <p:spPr>
          <a:xfrm>
            <a:off x="6614848" y="162329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299" name="lvds-rx-t0: LVDS 接收"/>
          <p:cNvSpPr txBox="1"/>
          <p:nvPr/>
        </p:nvSpPr>
        <p:spPr>
          <a:xfrm>
            <a:off x="7155804" y="1158917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300" name="lvds-rx-t1: 解串 / 帧行"/>
          <p:cNvSpPr txBox="1"/>
          <p:nvPr/>
        </p:nvSpPr>
        <p:spPr>
          <a:xfrm>
            <a:off x="7172793" y="1282734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301" name="rx-cdc-t0: CDC / FIFO"/>
          <p:cNvSpPr txBox="1"/>
          <p:nvPr/>
        </p:nvSpPr>
        <p:spPr>
          <a:xfrm>
            <a:off x="7828558" y="1158917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302" name="rx-cdc-t1: 像素流缓冲"/>
          <p:cNvSpPr txBox="1"/>
          <p:nvPr/>
        </p:nvSpPr>
        <p:spPr>
          <a:xfrm>
            <a:off x="7863840" y="1282734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303" name="isp-t0: ISP"/>
          <p:cNvSpPr txBox="1"/>
          <p:nvPr/>
        </p:nvSpPr>
        <p:spPr>
          <a:xfrm>
            <a:off x="8706855" y="1158917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304" name="isp-t1: 行缓存 / 处理"/>
          <p:cNvSpPr txBox="1"/>
          <p:nvPr/>
        </p:nvSpPr>
        <p:spPr>
          <a:xfrm>
            <a:off x="8517300" y="1282734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305" name="frame-select-t0: 帧边界选择"/>
          <p:cNvSpPr txBox="1"/>
          <p:nvPr/>
        </p:nvSpPr>
        <p:spPr>
          <a:xfrm>
            <a:off x="9211733" y="1158917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306" name="frame-select-t1: RAW / ISP"/>
          <p:cNvSpPr txBox="1"/>
          <p:nvPr/>
        </p:nvSpPr>
        <p:spPr>
          <a:xfrm>
            <a:off x="9271931" y="1282734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307" name="frame-dma-t0: 帧写入 DMA"/>
          <p:cNvSpPr txBox="1"/>
          <p:nvPr/>
        </p:nvSpPr>
        <p:spPr>
          <a:xfrm>
            <a:off x="9922703" y="1158917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08" name="frame-dma-t1: 地址 / stride"/>
          <p:cNvSpPr txBox="1"/>
          <p:nvPr/>
        </p:nvSpPr>
        <p:spPr>
          <a:xfrm>
            <a:off x="9954321" y="1282734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309" name="raw-bypass-label: RAW 旁路"/>
          <p:cNvSpPr txBox="1"/>
          <p:nvPr/>
        </p:nvSpPr>
        <p:spPr>
          <a:xfrm>
            <a:off x="8572085" y="751569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310" name="badge-C4-text: C4"/>
          <p:cNvSpPr txBox="1"/>
          <p:nvPr/>
        </p:nvSpPr>
        <p:spPr>
          <a:xfrm>
            <a:off x="7529248" y="143364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311" name="badge-C5-text: C5"/>
          <p:cNvSpPr txBox="1"/>
          <p:nvPr/>
        </p:nvSpPr>
        <p:spPr>
          <a:xfrm>
            <a:off x="8917781" y="143364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312" name="badge-C8-text: C8"/>
          <p:cNvSpPr txBox="1"/>
          <p:nvPr/>
        </p:nvSpPr>
        <p:spPr>
          <a:xfrm>
            <a:off x="10357115" y="143364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313" name="isp-gb-label: ISP 中间数据 ↔ GB"/>
          <p:cNvSpPr txBox="1"/>
          <p:nvPr/>
        </p:nvSpPr>
        <p:spPr>
          <a:xfrm>
            <a:off x="6857958" y="1774342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314" name="pll-t0: PLL / 时钟与复位分发"/>
          <p:cNvSpPr txBox="1"/>
          <p:nvPr/>
        </p:nvSpPr>
        <p:spPr>
          <a:xfrm>
            <a:off x="4532924" y="2270895"/>
            <a:ext cx="122961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315" name="pll-t1: RefClk / POR → clk_i / rst_ni"/>
          <p:cNvSpPr txBox="1"/>
          <p:nvPr/>
        </p:nvSpPr>
        <p:spPr>
          <a:xfrm>
            <a:off x="4489297" y="2411916"/>
            <a:ext cx="131687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316" name="badge-C1-text: C1"/>
          <p:cNvSpPr txBox="1"/>
          <p:nvPr/>
        </p:nvSpPr>
        <p:spPr>
          <a:xfrm>
            <a:off x="6564048" y="224983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317" name="roi-title: 图像裁切输出 · ≤256 ROI / 帧 · 不缩放"/>
          <p:cNvSpPr txBox="1"/>
          <p:nvPr/>
        </p:nvSpPr>
        <p:spPr>
          <a:xfrm>
            <a:off x="7815580" y="2118157"/>
            <a:ext cx="1979507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 · ≤256 ROI / 帧 · 不缩放</a:t>
            </a:r>
          </a:p>
        </p:txBody>
      </p:sp>
      <p:sp>
        <p:nvSpPr>
          <p:cNvPr id="318" name="badge-C11-text: C11"/>
          <p:cNvSpPr txBox="1"/>
          <p:nvPr/>
        </p:nvSpPr>
        <p:spPr>
          <a:xfrm>
            <a:off x="10386592" y="215161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319" name="roi-scheduler-t0: ROI 任务表"/>
          <p:cNvSpPr txBox="1"/>
          <p:nvPr/>
        </p:nvSpPr>
        <p:spPr>
          <a:xfrm>
            <a:off x="7255700" y="2344251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320" name="roi-scheduler-t1: 顺序调度"/>
          <p:cNvSpPr txBox="1"/>
          <p:nvPr/>
        </p:nvSpPr>
        <p:spPr>
          <a:xfrm>
            <a:off x="7332133" y="246806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321" name="roi-vdma-t0: 二维读 VDMA"/>
          <p:cNvSpPr txBox="1"/>
          <p:nvPr/>
        </p:nvSpPr>
        <p:spPr>
          <a:xfrm>
            <a:off x="8099343" y="2344251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二维读 VDMA</a:t>
            </a:r>
          </a:p>
        </p:txBody>
      </p:sp>
      <p:sp>
        <p:nvSpPr>
          <p:cNvPr id="322" name="roi-vdma-t1: 起址 / 行跨度"/>
          <p:cNvSpPr txBox="1"/>
          <p:nvPr/>
        </p:nvSpPr>
        <p:spPr>
          <a:xfrm>
            <a:off x="8136300" y="2468067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起址 / 行跨度</a:t>
            </a:r>
          </a:p>
        </p:txBody>
      </p:sp>
      <p:sp>
        <p:nvSpPr>
          <p:cNvPr id="323" name="roi-fifo-t0: 像素整理"/>
          <p:cNvSpPr txBox="1"/>
          <p:nvPr/>
        </p:nvSpPr>
        <p:spPr>
          <a:xfrm>
            <a:off x="9042400" y="234425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324" name="roi-fifo-t1: 输出 FIFO"/>
          <p:cNvSpPr txBox="1"/>
          <p:nvPr/>
        </p:nvSpPr>
        <p:spPr>
          <a:xfrm>
            <a:off x="9068438" y="2468067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325" name="lvds-tx-t0: LVDS TX"/>
          <p:cNvSpPr txBox="1"/>
          <p:nvPr/>
        </p:nvSpPr>
        <p:spPr>
          <a:xfrm>
            <a:off x="9888553" y="2344251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326" name="lvds-tx-t1: 子图帧行封装"/>
          <p:cNvSpPr txBox="1"/>
          <p:nvPr/>
        </p:nvSpPr>
        <p:spPr>
          <a:xfrm>
            <a:off x="9817947" y="24680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327" name="lvds-peer-t0: 片外接收端"/>
          <p:cNvSpPr txBox="1"/>
          <p:nvPr/>
        </p:nvSpPr>
        <p:spPr>
          <a:xfrm>
            <a:off x="11463867" y="2344251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片外接收端</a:t>
            </a:r>
          </a:p>
        </p:txBody>
      </p:sp>
      <p:sp>
        <p:nvSpPr>
          <p:cNvPr id="328" name="lvds-peer-t1: LVDS 子图"/>
          <p:cNvSpPr txBox="1"/>
          <p:nvPr/>
        </p:nvSpPr>
        <p:spPr>
          <a:xfrm>
            <a:off x="11520456" y="2468067"/>
            <a:ext cx="49642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子图</a:t>
            </a:r>
          </a:p>
        </p:txBody>
      </p:sp>
      <p:sp>
        <p:nvSpPr>
          <p:cNvPr id="329" name="emmc-device-t0: eMMC"/>
          <p:cNvSpPr txBox="1"/>
          <p:nvPr/>
        </p:nvSpPr>
        <p:spPr>
          <a:xfrm>
            <a:off x="11550065" y="2740626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330" name="emmc-device-t1: 模型 / 校正参数"/>
          <p:cNvSpPr txBox="1"/>
          <p:nvPr/>
        </p:nvSpPr>
        <p:spPr>
          <a:xfrm>
            <a:off x="11411207" y="2882595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331" name="crossbar-title: AXI Crossbar"/>
          <p:cNvSpPr txBox="1"/>
          <p:nvPr/>
        </p:nvSpPr>
        <p:spPr>
          <a:xfrm>
            <a:off x="5034949" y="3343046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332" name="crossbar-caption: 8 × 6 固定端口 + 扩展 | 64 bit 数据 / 48 bit 地址 "/>
          <p:cNvSpPr txBox="1"/>
          <p:nvPr/>
        </p:nvSpPr>
        <p:spPr>
          <a:xfrm>
            <a:off x="3954190" y="3467676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333" name="xbar-in-S0-t0: S0"/>
          <p:cNvSpPr txBox="1"/>
          <p:nvPr/>
        </p:nvSpPr>
        <p:spPr>
          <a:xfrm>
            <a:off x="730147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334" name="xbar-in-S1-t0: S1"/>
          <p:cNvSpPr txBox="1"/>
          <p:nvPr/>
        </p:nvSpPr>
        <p:spPr>
          <a:xfrm>
            <a:off x="1885377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335" name="xbar-in-S2-t0: S2"/>
          <p:cNvSpPr txBox="1"/>
          <p:nvPr/>
        </p:nvSpPr>
        <p:spPr>
          <a:xfrm>
            <a:off x="3040606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336" name="xbar-in-S3-t0: S3"/>
          <p:cNvSpPr txBox="1"/>
          <p:nvPr/>
        </p:nvSpPr>
        <p:spPr>
          <a:xfrm>
            <a:off x="4195836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337" name="xbar-in-S4-t0: S4"/>
          <p:cNvSpPr txBox="1"/>
          <p:nvPr/>
        </p:nvSpPr>
        <p:spPr>
          <a:xfrm>
            <a:off x="5351066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338" name="xbar-in-S5-t0: S5"/>
          <p:cNvSpPr txBox="1"/>
          <p:nvPr/>
        </p:nvSpPr>
        <p:spPr>
          <a:xfrm>
            <a:off x="6506295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339" name="xbar-in-S6-t0: S6"/>
          <p:cNvSpPr txBox="1"/>
          <p:nvPr/>
        </p:nvSpPr>
        <p:spPr>
          <a:xfrm>
            <a:off x="7661525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340" name="xbar-in-S7-t0: S7"/>
          <p:cNvSpPr txBox="1"/>
          <p:nvPr/>
        </p:nvSpPr>
        <p:spPr>
          <a:xfrm>
            <a:off x="8816755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341" name="xbar-in-S_EXT-t0: S_EXT"/>
          <p:cNvSpPr txBox="1"/>
          <p:nvPr/>
        </p:nvSpPr>
        <p:spPr>
          <a:xfrm>
            <a:off x="9914869" y="3262545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342" name="debug-sba-t0: Debug / SBA"/>
          <p:cNvSpPr txBox="1"/>
          <p:nvPr/>
        </p:nvSpPr>
        <p:spPr>
          <a:xfrm>
            <a:off x="1629887" y="2869184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343" name="debug-sba-t1: JTAG 总线访问"/>
          <p:cNvSpPr txBox="1"/>
          <p:nvPr/>
        </p:nvSpPr>
        <p:spPr>
          <a:xfrm>
            <a:off x="1643323" y="2993001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344" name="idma-master-t0: iDMA 数据主口"/>
          <p:cNvSpPr txBox="1"/>
          <p:nvPr/>
        </p:nvSpPr>
        <p:spPr>
          <a:xfrm>
            <a:off x="3895452" y="2869184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345" name="idma-master-t1: 内存 → 内存"/>
          <p:cNvSpPr txBox="1"/>
          <p:nvPr/>
        </p:nvSpPr>
        <p:spPr>
          <a:xfrm>
            <a:off x="3989810" y="2993001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346" name="slink-rx-t0: Serial Link RX"/>
          <p:cNvSpPr txBox="1"/>
          <p:nvPr/>
        </p:nvSpPr>
        <p:spPr>
          <a:xfrm>
            <a:off x="5078410" y="2869184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347" name="slink-rx-t1: 远端请求入口"/>
          <p:cNvSpPr txBox="1"/>
          <p:nvPr/>
        </p:nvSpPr>
        <p:spPr>
          <a:xfrm>
            <a:off x="5127413" y="299300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348" name="vga-t0: VGA"/>
          <p:cNvSpPr txBox="1"/>
          <p:nvPr/>
        </p:nvSpPr>
        <p:spPr>
          <a:xfrm>
            <a:off x="6449690" y="2869184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349" name="vga-t1: 帧缓冲读取"/>
          <p:cNvSpPr txBox="1"/>
          <p:nvPr/>
        </p:nvSpPr>
        <p:spPr>
          <a:xfrm>
            <a:off x="6326670" y="299300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350" name="usb-dma-t0: USB DMA"/>
          <p:cNvSpPr txBox="1"/>
          <p:nvPr/>
        </p:nvSpPr>
        <p:spPr>
          <a:xfrm>
            <a:off x="7481095" y="2869184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351" name="usb-dma-t1: OHCI 主口"/>
          <p:cNvSpPr txBox="1"/>
          <p:nvPr/>
        </p:nvSpPr>
        <p:spPr>
          <a:xfrm>
            <a:off x="7504037" y="2993001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352" name="emmc-host-t0: eMMC Host / DMA"/>
          <p:cNvSpPr txBox="1"/>
          <p:nvPr/>
        </p:nvSpPr>
        <p:spPr>
          <a:xfrm>
            <a:off x="8429309" y="2869184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353" name="emmc-host-t1: 存储块 ↔ 内存"/>
          <p:cNvSpPr txBox="1"/>
          <p:nvPr/>
        </p:nvSpPr>
        <p:spPr>
          <a:xfrm>
            <a:off x="8566702" y="2993001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354" name="ext-master-t0: AXI 外部 master"/>
          <p:cNvSpPr txBox="1"/>
          <p:nvPr/>
        </p:nvSpPr>
        <p:spPr>
          <a:xfrm>
            <a:off x="9649425" y="2869184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355" name="ext-master-t1: 可选扩展入口"/>
          <p:cNvSpPr txBox="1"/>
          <p:nvPr/>
        </p:nvSpPr>
        <p:spPr>
          <a:xfrm>
            <a:off x="9748332" y="299300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356" name="badge-C10-text: C10"/>
          <p:cNvSpPr txBox="1"/>
          <p:nvPr/>
        </p:nvSpPr>
        <p:spPr>
          <a:xfrm>
            <a:off x="9168521" y="282895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357" name="xbar-out-M0-t0: M0"/>
          <p:cNvSpPr txBox="1"/>
          <p:nvPr/>
        </p:nvSpPr>
        <p:spPr>
          <a:xfrm>
            <a:off x="887555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358" name="debug-target-t0: Debug 目标"/>
          <p:cNvSpPr txBox="1"/>
          <p:nvPr/>
        </p:nvSpPr>
        <p:spPr>
          <a:xfrm>
            <a:off x="671046" y="3944451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359" name="debug-target-t1: 调试模块窗口"/>
          <p:cNvSpPr txBox="1"/>
          <p:nvPr/>
        </p:nvSpPr>
        <p:spPr>
          <a:xfrm>
            <a:off x="671528" y="4068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360" name="xbar-out-M1-t0: M1"/>
          <p:cNvSpPr txBox="1"/>
          <p:nvPr/>
        </p:nvSpPr>
        <p:spPr>
          <a:xfrm>
            <a:off x="2372850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361" name="reg-bridge-t0: AXI → Regbus"/>
          <p:cNvSpPr txBox="1"/>
          <p:nvPr/>
        </p:nvSpPr>
        <p:spPr>
          <a:xfrm>
            <a:off x="2098543" y="3944451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362" name="reg-bridge-t1: 原子适配 / 32 bit 桥"/>
          <p:cNvSpPr txBox="1"/>
          <p:nvPr/>
        </p:nvSpPr>
        <p:spPr>
          <a:xfrm>
            <a:off x="2024050" y="4068267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363" name="xbar-out-M2-t0: M2"/>
          <p:cNvSpPr txBox="1"/>
          <p:nvPr/>
        </p:nvSpPr>
        <p:spPr>
          <a:xfrm>
            <a:off x="3858145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364" name="memory-title: 主存 / SPM 共用目标"/>
          <p:cNvSpPr txBox="1"/>
          <p:nvPr/>
        </p:nvSpPr>
        <p:spPr>
          <a:xfrm>
            <a:off x="3421122" y="3835739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365" name="atomics-t0: 原子适配"/>
          <p:cNvSpPr txBox="1"/>
          <p:nvPr/>
        </p:nvSpPr>
        <p:spPr>
          <a:xfrm>
            <a:off x="3355860" y="4016841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366" name="atomics-t1: AMO / LRSC"/>
          <p:cNvSpPr txBox="1"/>
          <p:nvPr/>
        </p:nvSpPr>
        <p:spPr>
          <a:xfrm>
            <a:off x="3246825" y="4121743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367" name="llc-spm-t0: LLC / SPM"/>
          <p:cNvSpPr txBox="1"/>
          <p:nvPr/>
        </p:nvSpPr>
        <p:spPr>
          <a:xfrm>
            <a:off x="4068256" y="4016841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368" name="llc-spm-t1: SRAM 阵列"/>
          <p:cNvSpPr txBox="1"/>
          <p:nvPr/>
        </p:nvSpPr>
        <p:spPr>
          <a:xfrm>
            <a:off x="4022253" y="4121743"/>
            <a:ext cx="60117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369" name="xbar-out-M3-t0: M3"/>
          <p:cNvSpPr txBox="1"/>
          <p:nvPr/>
        </p:nvSpPr>
        <p:spPr>
          <a:xfrm>
            <a:off x="5343440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370" name="idma-config-t0: iDMA 配置"/>
          <p:cNvSpPr txBox="1"/>
          <p:nvPr/>
        </p:nvSpPr>
        <p:spPr>
          <a:xfrm>
            <a:off x="5152282" y="3891619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371" name="idma-config-t1: 原子适配 → AXI→Reg"/>
          <p:cNvSpPr txBox="1"/>
          <p:nvPr/>
        </p:nvSpPr>
        <p:spPr>
          <a:xfrm>
            <a:off x="4968200" y="4015435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372" name="idma-config-t2: wrapper 内部寄存器"/>
          <p:cNvSpPr txBox="1"/>
          <p:nvPr/>
        </p:nvSpPr>
        <p:spPr>
          <a:xfrm>
            <a:off x="5006165" y="4121099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373" name="xbar-out-M4-t0: M4"/>
          <p:cNvSpPr txBox="1"/>
          <p:nvPr/>
        </p:nvSpPr>
        <p:spPr>
          <a:xfrm>
            <a:off x="6828736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374" name="slink-tx-t0: Serial Link TX"/>
          <p:cNvSpPr txBox="1"/>
          <p:nvPr/>
        </p:nvSpPr>
        <p:spPr>
          <a:xfrm>
            <a:off x="6569759" y="3944451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375" name="slink-tx-t1: 远端目标窗口"/>
          <p:cNvSpPr txBox="1"/>
          <p:nvPr/>
        </p:nvSpPr>
        <p:spPr>
          <a:xfrm>
            <a:off x="6612709" y="4068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376" name="xbar-out-M5-t0: M5"/>
          <p:cNvSpPr txBox="1"/>
          <p:nvPr/>
        </p:nvSpPr>
        <p:spPr>
          <a:xfrm>
            <a:off x="8314031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377" name="gb-interface-t0: GB AXI 接口"/>
          <p:cNvSpPr txBox="1"/>
          <p:nvPr/>
        </p:nvSpPr>
        <p:spPr>
          <a:xfrm>
            <a:off x="8089384" y="3891619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378" name="gb-interface-t1: CPU / Ara / eMMC DMA"/>
          <p:cNvSpPr txBox="1"/>
          <p:nvPr/>
        </p:nvSpPr>
        <p:spPr>
          <a:xfrm>
            <a:off x="7895060" y="4015435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379" name="gb-interface-t2: 64-bit 数据窗口 · 共用"/>
          <p:cNvSpPr txBox="1"/>
          <p:nvPr/>
        </p:nvSpPr>
        <p:spPr>
          <a:xfrm>
            <a:off x="7933544" y="4121099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380" name="xbar-out-M_EXT-t0: M_EXT"/>
          <p:cNvSpPr txBox="1"/>
          <p:nvPr/>
        </p:nvSpPr>
        <p:spPr>
          <a:xfrm>
            <a:off x="9742210" y="3567345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381" name="ext-target-t0: AXI 外部 slave"/>
          <p:cNvSpPr txBox="1"/>
          <p:nvPr/>
        </p:nvSpPr>
        <p:spPr>
          <a:xfrm>
            <a:off x="9523977" y="3944451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382" name="ext-target-t1: 可选外部目标扩展"/>
          <p:cNvSpPr txBox="1"/>
          <p:nvPr/>
        </p:nvSpPr>
        <p:spPr>
          <a:xfrm>
            <a:off x="9495246" y="4068267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383" name="regbus-t0: Regbus decode / demux · 32 bit"/>
          <p:cNvSpPr txBox="1"/>
          <p:nvPr/>
        </p:nvSpPr>
        <p:spPr>
          <a:xfrm>
            <a:off x="2192046" y="4579925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384" name="reg-0-0-t0: Boot ROM"/>
          <p:cNvSpPr txBox="1"/>
          <p:nvPr/>
        </p:nvSpPr>
        <p:spPr>
          <a:xfrm>
            <a:off x="554699" y="4869349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385" name="reg-1-0-t0: UART"/>
          <p:cNvSpPr txBox="1"/>
          <p:nvPr/>
        </p:nvSpPr>
        <p:spPr>
          <a:xfrm>
            <a:off x="661159" y="5123349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386" name="reg-2-0-t0: VGA 配置"/>
          <p:cNvSpPr txBox="1"/>
          <p:nvPr/>
        </p:nvSpPr>
        <p:spPr>
          <a:xfrm>
            <a:off x="571765" y="5377349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387" name="reg-3-0-t0: IRQ router"/>
          <p:cNvSpPr txBox="1"/>
          <p:nvPr/>
        </p:nvSpPr>
        <p:spPr>
          <a:xfrm>
            <a:off x="554749" y="5631349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388" name="reg-4-0-t0: C1 · PLL 配置"/>
          <p:cNvSpPr txBox="1"/>
          <p:nvPr/>
        </p:nvSpPr>
        <p:spPr>
          <a:xfrm>
            <a:off x="478348" y="5885349"/>
            <a:ext cx="70277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C1 · PLL 配置</a:t>
            </a:r>
          </a:p>
        </p:txBody>
      </p:sp>
      <p:sp>
        <p:nvSpPr>
          <p:cNvPr id="389" name="reg-5-0-t0: C6 · NPU 配置"/>
          <p:cNvSpPr txBox="1"/>
          <p:nvPr/>
        </p:nvSpPr>
        <p:spPr>
          <a:xfrm>
            <a:off x="463169" y="6139349"/>
            <a:ext cx="7331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C6 · NPU 配置</a:t>
            </a:r>
          </a:p>
        </p:txBody>
      </p:sp>
      <p:sp>
        <p:nvSpPr>
          <p:cNvPr id="390" name="reg-0-1-t0: CLINT"/>
          <p:cNvSpPr txBox="1"/>
          <p:nvPr/>
        </p:nvSpPr>
        <p:spPr>
          <a:xfrm>
            <a:off x="1733730" y="4869349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391" name="reg-1-1-t0: I²C"/>
          <p:cNvSpPr txBox="1"/>
          <p:nvPr/>
        </p:nvSpPr>
        <p:spPr>
          <a:xfrm>
            <a:off x="1799759" y="5123349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392" name="reg-2-1-t0: USB 配置"/>
          <p:cNvSpPr txBox="1"/>
          <p:nvPr/>
        </p:nvSpPr>
        <p:spPr>
          <a:xfrm>
            <a:off x="1650436" y="5377349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393" name="reg-3-1-t0: AXI RT 配置"/>
          <p:cNvSpPr txBox="1"/>
          <p:nvPr/>
        </p:nvSpPr>
        <p:spPr>
          <a:xfrm>
            <a:off x="1604746" y="5631349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394" name="reg-4-1-t0: C2 · DDR 配置"/>
          <p:cNvSpPr txBox="1"/>
          <p:nvPr/>
        </p:nvSpPr>
        <p:spPr>
          <a:xfrm>
            <a:off x="1542883" y="5885349"/>
            <a:ext cx="7411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C2 · DDR 配置</a:t>
            </a:r>
          </a:p>
        </p:txBody>
      </p:sp>
      <p:sp>
        <p:nvSpPr>
          <p:cNvPr id="395" name="reg-5-1-t0: C7 · GB 搬运"/>
          <p:cNvSpPr txBox="1"/>
          <p:nvPr/>
        </p:nvSpPr>
        <p:spPr>
          <a:xfrm>
            <a:off x="1576369" y="6139349"/>
            <a:ext cx="67419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C7 · GB 搬运</a:t>
            </a:r>
          </a:p>
        </p:txBody>
      </p:sp>
      <p:sp>
        <p:nvSpPr>
          <p:cNvPr id="396" name="reg-0-2-t0: SoC 寄存器"/>
          <p:cNvSpPr txBox="1"/>
          <p:nvPr/>
        </p:nvSpPr>
        <p:spPr>
          <a:xfrm>
            <a:off x="2688479" y="4869349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397" name="reg-1-2-t0: SPI Host"/>
          <p:cNvSpPr txBox="1"/>
          <p:nvPr/>
        </p:nvSpPr>
        <p:spPr>
          <a:xfrm>
            <a:off x="2754609" y="5123349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398" name="reg-2-2-t0: Bus-error · VGA"/>
          <p:cNvSpPr txBox="1"/>
          <p:nvPr/>
        </p:nvSpPr>
        <p:spPr>
          <a:xfrm>
            <a:off x="2609554" y="5377349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399" name="reg-3-2-t0: CLIC"/>
          <p:cNvSpPr txBox="1"/>
          <p:nvPr/>
        </p:nvSpPr>
        <p:spPr>
          <a:xfrm>
            <a:off x="2844895" y="5631349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400" name="reg-4-2-t0: C3 · PHY 配置"/>
          <p:cNvSpPr txBox="1"/>
          <p:nvPr/>
        </p:nvSpPr>
        <p:spPr>
          <a:xfrm>
            <a:off x="2634702" y="5885349"/>
            <a:ext cx="72499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C3 · PHY 配置</a:t>
            </a:r>
          </a:p>
        </p:txBody>
      </p:sp>
      <p:sp>
        <p:nvSpPr>
          <p:cNvPr id="401" name="reg-5-2-t0: C8 · 帧写 DMA"/>
          <p:cNvSpPr txBox="1"/>
          <p:nvPr/>
        </p:nvSpPr>
        <p:spPr>
          <a:xfrm>
            <a:off x="2621508" y="6139349"/>
            <a:ext cx="75138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C8 · 帧写 DMA</a:t>
            </a:r>
          </a:p>
        </p:txBody>
      </p:sp>
      <p:sp>
        <p:nvSpPr>
          <p:cNvPr id="402" name="reg-0-3-t0: PLIC"/>
          <p:cNvSpPr txBox="1"/>
          <p:nvPr/>
        </p:nvSpPr>
        <p:spPr>
          <a:xfrm>
            <a:off x="3931655" y="4869349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403" name="reg-1-3-t0: GPIO"/>
          <p:cNvSpPr txBox="1"/>
          <p:nvPr/>
        </p:nvSpPr>
        <p:spPr>
          <a:xfrm>
            <a:off x="3921538" y="5123349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404" name="reg-2-3-t0: Bus-error · iDMA"/>
          <p:cNvSpPr txBox="1"/>
          <p:nvPr/>
        </p:nvSpPr>
        <p:spPr>
          <a:xfrm>
            <a:off x="3667937" y="5377349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405" name="reg-3-3-t0: reg_err_slv"/>
          <p:cNvSpPr txBox="1"/>
          <p:nvPr/>
        </p:nvSpPr>
        <p:spPr>
          <a:xfrm>
            <a:off x="3789627" y="5631349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406" name="reg-4-3-t0: C4 · LVDS RX"/>
          <p:cNvSpPr txBox="1"/>
          <p:nvPr/>
        </p:nvSpPr>
        <p:spPr>
          <a:xfrm>
            <a:off x="3732771" y="5885349"/>
            <a:ext cx="69632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C4 · LVDS RX</a:t>
            </a:r>
          </a:p>
        </p:txBody>
      </p:sp>
      <p:sp>
        <p:nvSpPr>
          <p:cNvPr id="407" name="reg-5-3-t0: C9 · GB 管理"/>
          <p:cNvSpPr txBox="1"/>
          <p:nvPr/>
        </p:nvSpPr>
        <p:spPr>
          <a:xfrm>
            <a:off x="3743836" y="6139349"/>
            <a:ext cx="67419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C9 · GB 管理</a:t>
            </a:r>
          </a:p>
        </p:txBody>
      </p:sp>
      <p:sp>
        <p:nvSpPr>
          <p:cNvPr id="408" name="reg-0-4-t0: LLC 配置"/>
          <p:cNvSpPr txBox="1"/>
          <p:nvPr/>
        </p:nvSpPr>
        <p:spPr>
          <a:xfrm>
            <a:off x="4914784" y="4869349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409" name="reg-1-4-t0: Serial Link 配置"/>
          <p:cNvSpPr txBox="1"/>
          <p:nvPr/>
        </p:nvSpPr>
        <p:spPr>
          <a:xfrm>
            <a:off x="4764715" y="5123349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410" name="reg-2-4-t0: Bus-error · CPU"/>
          <p:cNvSpPr txBox="1"/>
          <p:nvPr/>
        </p:nvSpPr>
        <p:spPr>
          <a:xfrm>
            <a:off x="4774986" y="5377349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411" name="reg-3-4-t0: RegExt 扩展译码"/>
          <p:cNvSpPr txBox="1"/>
          <p:nvPr/>
        </p:nvSpPr>
        <p:spPr>
          <a:xfrm>
            <a:off x="4744225" y="5631349"/>
            <a:ext cx="8408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扩展译码</a:t>
            </a:r>
          </a:p>
        </p:txBody>
      </p:sp>
      <p:sp>
        <p:nvSpPr>
          <p:cNvPr id="412" name="reg-4-4-t0: C5 · ISP 配置"/>
          <p:cNvSpPr txBox="1"/>
          <p:nvPr/>
        </p:nvSpPr>
        <p:spPr>
          <a:xfrm>
            <a:off x="4819430" y="5885349"/>
            <a:ext cx="6904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C5 · ISP 配置</a:t>
            </a:r>
          </a:p>
        </p:txBody>
      </p:sp>
      <p:sp>
        <p:nvSpPr>
          <p:cNvPr id="413" name="new-irq-sync-t0: 外部 IRQ 同步 / 路由"/>
          <p:cNvSpPr txBox="1"/>
          <p:nvPr/>
        </p:nvSpPr>
        <p:spPr>
          <a:xfrm>
            <a:off x="4713086" y="6149374"/>
            <a:ext cx="90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 IRQ 同步 / 路由</a:t>
            </a:r>
          </a:p>
        </p:txBody>
      </p:sp>
      <p:sp>
        <p:nvSpPr>
          <p:cNvPr id="414" name="reg-config-note: C1–C9：原有 IP 配置目标；新增 C10–C12 经 RegExt 接出"/>
          <p:cNvSpPr txBox="1"/>
          <p:nvPr/>
        </p:nvSpPr>
        <p:spPr>
          <a:xfrm>
            <a:off x="1852001" y="6393756"/>
            <a:ext cx="23581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C1–C9：原有 IP 配置目标；新增 C10–C12 经 RegExt 接出</a:t>
            </a:r>
          </a:p>
        </p:txBody>
      </p:sp>
      <p:sp>
        <p:nvSpPr>
          <p:cNvPr id="415" name="reg-init-note: 配置地址、IRQ 编号及各 IP 参数尚未冻结"/>
          <p:cNvSpPr txBox="1"/>
          <p:nvPr/>
        </p:nvSpPr>
        <p:spPr>
          <a:xfrm>
            <a:off x="2183246" y="6525836"/>
            <a:ext cx="16956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配置地址、IRQ 编号及各 IP 参数尚未冻结</a:t>
            </a:r>
          </a:p>
        </p:txBody>
      </p:sp>
      <p:sp>
        <p:nvSpPr>
          <p:cNvPr id="416" name="front-F0-t0: F0"/>
          <p:cNvSpPr txBox="1"/>
          <p:nvPr/>
        </p:nvSpPr>
        <p:spPr>
          <a:xfrm>
            <a:off x="6711053" y="4684945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</a:t>
            </a:r>
          </a:p>
        </p:txBody>
      </p:sp>
      <p:sp>
        <p:nvSpPr>
          <p:cNvPr id="417" name="front-F1-t0: F1"/>
          <p:cNvSpPr txBox="1"/>
          <p:nvPr/>
        </p:nvSpPr>
        <p:spPr>
          <a:xfrm>
            <a:off x="7760920" y="4684945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</a:t>
            </a:r>
          </a:p>
        </p:txBody>
      </p:sp>
      <p:sp>
        <p:nvSpPr>
          <p:cNvPr id="418" name="front-F2-t0: F2"/>
          <p:cNvSpPr txBox="1"/>
          <p:nvPr/>
        </p:nvSpPr>
        <p:spPr>
          <a:xfrm>
            <a:off x="8810786" y="4684945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</a:t>
            </a:r>
          </a:p>
        </p:txBody>
      </p:sp>
      <p:sp>
        <p:nvSpPr>
          <p:cNvPr id="419" name="front-F3-t0: F3"/>
          <p:cNvSpPr txBox="1"/>
          <p:nvPr/>
        </p:nvSpPr>
        <p:spPr>
          <a:xfrm>
            <a:off x="9928386" y="4684945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</a:t>
            </a:r>
          </a:p>
        </p:txBody>
      </p:sp>
      <p:sp>
        <p:nvSpPr>
          <p:cNvPr id="420" name="front-adapt-t0: 共享压缩存储前端 · 四口事务适配 / 区域选择"/>
          <p:cNvSpPr txBox="1"/>
          <p:nvPr/>
        </p:nvSpPr>
        <p:spPr>
          <a:xfrm>
            <a:off x="7368135" y="4903216"/>
            <a:ext cx="21293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共享压缩存储前端 · 四口事务适配 / 区域选择</a:t>
            </a:r>
          </a:p>
        </p:txBody>
      </p:sp>
      <p:sp>
        <p:nvSpPr>
          <p:cNvPr id="421" name="compressor-t0: 共享压缩器"/>
          <p:cNvSpPr txBox="1"/>
          <p:nvPr/>
        </p:nvSpPr>
        <p:spPr>
          <a:xfrm>
            <a:off x="6485467" y="5195485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422" name="compressor-t1: 写入 W ↓"/>
          <p:cNvSpPr txBox="1"/>
          <p:nvPr/>
        </p:nvSpPr>
        <p:spPr>
          <a:xfrm>
            <a:off x="6551687" y="5319302"/>
            <a:ext cx="477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写入 W ↓</a:t>
            </a:r>
          </a:p>
        </p:txBody>
      </p:sp>
      <p:sp>
        <p:nvSpPr>
          <p:cNvPr id="423" name="compressor-t2: 无损 / 按块"/>
          <p:cNvSpPr txBox="1"/>
          <p:nvPr/>
        </p:nvSpPr>
        <p:spPr>
          <a:xfrm>
            <a:off x="6520860" y="5424966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无损 / 按块</a:t>
            </a:r>
          </a:p>
        </p:txBody>
      </p:sp>
      <p:sp>
        <p:nvSpPr>
          <p:cNvPr id="424" name="decompressor-t0: 共享解压器"/>
          <p:cNvSpPr txBox="1"/>
          <p:nvPr/>
        </p:nvSpPr>
        <p:spPr>
          <a:xfrm>
            <a:off x="7535333" y="5195485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425" name="decompressor-t1: 读返回 R ↑"/>
          <p:cNvSpPr txBox="1"/>
          <p:nvPr/>
        </p:nvSpPr>
        <p:spPr>
          <a:xfrm>
            <a:off x="7566340" y="5319302"/>
            <a:ext cx="54758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读返回 R ↑</a:t>
            </a:r>
          </a:p>
        </p:txBody>
      </p:sp>
      <p:sp>
        <p:nvSpPr>
          <p:cNvPr id="426" name="decompressor-t2: 独立块解码"/>
          <p:cNvSpPr txBox="1"/>
          <p:nvPr/>
        </p:nvSpPr>
        <p:spPr>
          <a:xfrm>
            <a:off x="7575973" y="5424966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独立块解码</a:t>
            </a:r>
          </a:p>
        </p:txBody>
      </p:sp>
      <p:sp>
        <p:nvSpPr>
          <p:cNvPr id="427" name="plain-bypass-t0: 普通数据旁路"/>
          <p:cNvSpPr txBox="1"/>
          <p:nvPr/>
        </p:nvSpPr>
        <p:spPr>
          <a:xfrm>
            <a:off x="8534400" y="5195485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428" name="plain-bypass-t1: 未压缩区域"/>
          <p:cNvSpPr txBox="1"/>
          <p:nvPr/>
        </p:nvSpPr>
        <p:spPr>
          <a:xfrm>
            <a:off x="8625840" y="5319302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未压缩区域</a:t>
            </a:r>
          </a:p>
        </p:txBody>
      </p:sp>
      <p:sp>
        <p:nvSpPr>
          <p:cNvPr id="429" name="plain-bypass-t2: 读 / 写"/>
          <p:cNvSpPr txBox="1"/>
          <p:nvPr/>
        </p:nvSpPr>
        <p:spPr>
          <a:xfrm>
            <a:off x="8708647" y="5424966"/>
            <a:ext cx="36270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 / 写</a:t>
            </a:r>
          </a:p>
        </p:txBody>
      </p:sp>
      <p:sp>
        <p:nvSpPr>
          <p:cNvPr id="430" name="metadata-t0: 块地址 / 元数据"/>
          <p:cNvSpPr txBox="1"/>
          <p:nvPr/>
        </p:nvSpPr>
        <p:spPr>
          <a:xfrm>
            <a:off x="9595149" y="5248317"/>
            <a:ext cx="8249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431" name="metadata-t1: 格式 / 长度 / 状态"/>
          <p:cNvSpPr txBox="1"/>
          <p:nvPr/>
        </p:nvSpPr>
        <p:spPr>
          <a:xfrm>
            <a:off x="9600867" y="5372134"/>
            <a:ext cx="8134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格式 / 长度 / 状态</a:t>
            </a:r>
          </a:p>
        </p:txBody>
      </p:sp>
      <p:sp>
        <p:nvSpPr>
          <p:cNvPr id="432" name="front-route-t0: 端口路由 / B、R 响应匹配 · F0↔S0，F1↔S1，F2↔S2，F3↔S"/>
          <p:cNvSpPr txBox="1"/>
          <p:nvPr/>
        </p:nvSpPr>
        <p:spPr>
          <a:xfrm>
            <a:off x="7025203" y="5687162"/>
            <a:ext cx="281519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端口路由 / B、R 响应匹配 · F0↔S0，F1↔S1，F2↔S2，F3↔S3</a:t>
            </a:r>
          </a:p>
        </p:txBody>
      </p:sp>
      <p:sp>
        <p:nvSpPr>
          <p:cNvPr id="433" name="badge-C12-text: C12"/>
          <p:cNvSpPr txBox="1"/>
          <p:nvPr/>
        </p:nvSpPr>
        <p:spPr>
          <a:xfrm>
            <a:off x="10420458" y="509463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434" name="ddr-S0-t0: S0"/>
          <p:cNvSpPr txBox="1"/>
          <p:nvPr/>
        </p:nvSpPr>
        <p:spPr>
          <a:xfrm>
            <a:off x="6705732" y="5988812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435" name="ddr-S1-t0: S1"/>
          <p:cNvSpPr txBox="1"/>
          <p:nvPr/>
        </p:nvSpPr>
        <p:spPr>
          <a:xfrm>
            <a:off x="7755599" y="5988812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436" name="ddr-S2-t0: S2"/>
          <p:cNvSpPr txBox="1"/>
          <p:nvPr/>
        </p:nvSpPr>
        <p:spPr>
          <a:xfrm>
            <a:off x="8805466" y="5988812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437" name="ddr-S3-t0: S3"/>
          <p:cNvSpPr txBox="1"/>
          <p:nvPr/>
        </p:nvSpPr>
        <p:spPr>
          <a:xfrm>
            <a:off x="9923066" y="5988812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438" name="ddr-arb-t0: 四口仲裁 / QoS · 共享 DDR 带宽"/>
          <p:cNvSpPr txBox="1"/>
          <p:nvPr/>
        </p:nvSpPr>
        <p:spPr>
          <a:xfrm>
            <a:off x="7706770" y="6154522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439" name="ddr-rw-t0: 读写调度 · Bank / Row"/>
          <p:cNvSpPr txBox="1"/>
          <p:nvPr/>
        </p:nvSpPr>
        <p:spPr>
          <a:xfrm>
            <a:off x="6622322" y="6351016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440" name="ddr-command-t0: 命令调度 · Controller → PHY"/>
          <p:cNvSpPr txBox="1"/>
          <p:nvPr/>
        </p:nvSpPr>
        <p:spPr>
          <a:xfrm>
            <a:off x="8800489" y="6351016"/>
            <a:ext cx="13643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441" name="ddr-title: DDR Controller · 4 个 AXI slave"/>
          <p:cNvSpPr txBox="1"/>
          <p:nvPr/>
        </p:nvSpPr>
        <p:spPr>
          <a:xfrm>
            <a:off x="7700166" y="6494272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442" name="badge-C2-text: C2"/>
          <p:cNvSpPr txBox="1"/>
          <p:nvPr/>
        </p:nvSpPr>
        <p:spPr>
          <a:xfrm>
            <a:off x="10435008" y="652380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43" name="ddr-phy-t0: DDR PHY"/>
          <p:cNvSpPr txBox="1"/>
          <p:nvPr/>
        </p:nvSpPr>
        <p:spPr>
          <a:xfrm>
            <a:off x="10785785" y="6332660"/>
            <a:ext cx="475631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444" name="ddr-phy-t1: 训练 / 校准"/>
          <p:cNvSpPr txBox="1"/>
          <p:nvPr/>
        </p:nvSpPr>
        <p:spPr>
          <a:xfrm>
            <a:off x="10774918" y="6448349"/>
            <a:ext cx="49736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445" name="badge-C3-text: C3"/>
          <p:cNvSpPr txBox="1"/>
          <p:nvPr/>
        </p:nvSpPr>
        <p:spPr>
          <a:xfrm>
            <a:off x="11092021" y="649332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46" name="ddr-device-t0: DDR"/>
          <p:cNvSpPr txBox="1"/>
          <p:nvPr/>
        </p:nvSpPr>
        <p:spPr>
          <a:xfrm>
            <a:off x="11599542" y="6309495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47" name="ddr-device-t1: 片外器件"/>
          <p:cNvSpPr txBox="1"/>
          <p:nvPr/>
        </p:nvSpPr>
        <p:spPr>
          <a:xfrm>
            <a:off x="11531600" y="6450516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448" name="legend-title: 接口图例"/>
          <p:cNvSpPr txBox="1"/>
          <p:nvPr/>
        </p:nvSpPr>
        <p:spPr>
          <a:xfrm>
            <a:off x="11514667" y="3378539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接口图例</a:t>
            </a:r>
          </a:p>
        </p:txBody>
      </p:sp>
      <p:sp>
        <p:nvSpPr>
          <p:cNvPr id="449" name="legend-data-a: AXI 请求"/>
          <p:cNvSpPr txBox="1"/>
          <p:nvPr/>
        </p:nvSpPr>
        <p:spPr>
          <a:xfrm>
            <a:off x="11664024" y="3590138"/>
            <a:ext cx="378619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</a:t>
            </a:r>
          </a:p>
        </p:txBody>
      </p:sp>
      <p:sp>
        <p:nvSpPr>
          <p:cNvPr id="450" name="legend-data-b: 响应沿接口返回"/>
          <p:cNvSpPr txBox="1"/>
          <p:nvPr/>
        </p:nvSpPr>
        <p:spPr>
          <a:xfrm>
            <a:off x="11528213" y="3701898"/>
            <a:ext cx="65024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响应沿接口返回</a:t>
            </a:r>
          </a:p>
        </p:txBody>
      </p:sp>
      <p:sp>
        <p:nvSpPr>
          <p:cNvPr id="451" name="legend-gb-a: GB 读写 /"/>
          <p:cNvSpPr txBox="1"/>
          <p:nvPr/>
        </p:nvSpPr>
        <p:spPr>
          <a:xfrm>
            <a:off x="11633981" y="3911871"/>
            <a:ext cx="438706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读写 /</a:t>
            </a:r>
          </a:p>
        </p:txBody>
      </p:sp>
      <p:sp>
        <p:nvSpPr>
          <p:cNvPr id="452" name="legend-gb-b: S3 读返回"/>
          <p:cNvSpPr txBox="1"/>
          <p:nvPr/>
        </p:nvSpPr>
        <p:spPr>
          <a:xfrm>
            <a:off x="11629059" y="4023631"/>
            <a:ext cx="448548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S3 读返回</a:t>
            </a:r>
          </a:p>
        </p:txBody>
      </p:sp>
      <p:sp>
        <p:nvSpPr>
          <p:cNvPr id="453" name="legend-pixel-a: 像素流 /"/>
          <p:cNvSpPr txBox="1"/>
          <p:nvPr/>
        </p:nvSpPr>
        <p:spPr>
          <a:xfrm>
            <a:off x="11657476" y="4233604"/>
            <a:ext cx="391716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 /</a:t>
            </a:r>
          </a:p>
        </p:txBody>
      </p:sp>
      <p:sp>
        <p:nvSpPr>
          <p:cNvPr id="454" name="legend-pixel-b: eMMC 数据"/>
          <p:cNvSpPr txBox="1"/>
          <p:nvPr/>
        </p:nvSpPr>
        <p:spPr>
          <a:xfrm>
            <a:off x="11605564" y="4345364"/>
            <a:ext cx="495538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eMMC 数据</a:t>
            </a:r>
          </a:p>
        </p:txBody>
      </p:sp>
      <p:sp>
        <p:nvSpPr>
          <p:cNvPr id="455" name="legend-cfg-a: Regbus"/>
          <p:cNvSpPr txBox="1"/>
          <p:nvPr/>
        </p:nvSpPr>
        <p:spPr>
          <a:xfrm>
            <a:off x="11680375" y="4555338"/>
            <a:ext cx="345916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Regbus</a:t>
            </a:r>
          </a:p>
        </p:txBody>
      </p:sp>
      <p:sp>
        <p:nvSpPr>
          <p:cNvPr id="456" name="legend-cfg-b: 配置访问"/>
          <p:cNvSpPr txBox="1"/>
          <p:nvPr/>
        </p:nvSpPr>
        <p:spPr>
          <a:xfrm>
            <a:off x="11650133" y="4667098"/>
            <a:ext cx="40640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配置访问</a:t>
            </a:r>
          </a:p>
        </p:txBody>
      </p:sp>
      <p:sp>
        <p:nvSpPr>
          <p:cNvPr id="457" name="legend-irq-a: 完成 / 错误"/>
          <p:cNvSpPr txBox="1"/>
          <p:nvPr/>
        </p:nvSpPr>
        <p:spPr>
          <a:xfrm>
            <a:off x="11604651" y="4877071"/>
            <a:ext cx="49736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A54D5D"/>
                </a:solidFill>
                <a:latin typeface="Microsoft YaHei"/>
                <a:ea typeface="Microsoft YaHei"/>
                <a:cs typeface="Microsoft YaHei"/>
              </a:rPr>
              <a:t>完成 / 错误</a:t>
            </a:r>
          </a:p>
        </p:txBody>
      </p:sp>
      <p:sp>
        <p:nvSpPr>
          <p:cNvPr id="458" name="legend-irq-b: 外部中断"/>
          <p:cNvSpPr txBox="1"/>
          <p:nvPr/>
        </p:nvSpPr>
        <p:spPr>
          <a:xfrm>
            <a:off x="11650133" y="4988831"/>
            <a:ext cx="40640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A54D5D"/>
                </a:solidFill>
                <a:latin typeface="Microsoft YaHei"/>
                <a:ea typeface="Microsoft YaHei"/>
                <a:cs typeface="Microsoft YaHei"/>
              </a:rPr>
              <a:t>外部中断</a:t>
            </a:r>
          </a:p>
        </p:txBody>
      </p:sp>
      <p:sp>
        <p:nvSpPr>
          <p:cNvPr id="459" name="legend-optional-a: 虚线：可选"/>
          <p:cNvSpPr txBox="1"/>
          <p:nvPr/>
        </p:nvSpPr>
        <p:spPr>
          <a:xfrm>
            <a:off x="11609493" y="5198804"/>
            <a:ext cx="48768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虚线：可选</a:t>
            </a:r>
          </a:p>
        </p:txBody>
      </p:sp>
      <p:sp>
        <p:nvSpPr>
          <p:cNvPr id="460" name="legend-optional-b: 或新增规划"/>
          <p:cNvSpPr txBox="1"/>
          <p:nvPr/>
        </p:nvSpPr>
        <p:spPr>
          <a:xfrm>
            <a:off x="11609493" y="5310564"/>
            <a:ext cx="48768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或新增规划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14659</TotalTime>
  <Words>510</Words>
  <Application>Microsoft Office PowerPoint</Application>
  <PresentationFormat>宽屏</PresentationFormat>
  <Paragraphs>197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  <vt:lpstr>SoC 架构：CPU / Ara 共享 GB 出口</vt:lpstr>
      <vt:lpstr>SoC 架构：等距目标端口 / GB 接入位置调整</vt:lpstr>
      <vt:lpstr>SoC 初版规划：eMMC / ROI / 四口共享压缩存储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2314981968@qq.com</dc:creator>
  <cp:lastModifiedBy>文尧 赵</cp:lastModifiedBy>
  <cp:revision>5909</cp:revision>
  <dcterms:created xsi:type="dcterms:W3CDTF">2019-11-26T03:41:00Z</dcterms:created>
  <dcterms:modified xsi:type="dcterms:W3CDTF">2026-10-16T11:05:18Z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BC69EB345F4F457288BFAD1BFA019858</vt:lpwstr>
  </property>
  <property fmtid="{D5CDD505-2E9C-101B-9397-08002B2CF9AE}" pid="3" name="KSOProductBuildVer">
    <vt:lpwstr>2052-12.1.0.25225</vt:lpwstr>
  </property>
</Properties>
</file>