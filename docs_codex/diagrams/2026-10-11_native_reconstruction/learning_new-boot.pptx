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801600" cy="8001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4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5" name="rect-005"/>
          <p:cNvSpPr/>
          <p:nvPr/>
        </p:nvSpPr>
        <p:spPr>
          <a:xfrm>
            <a:off x="391160" y="1351280"/>
            <a:ext cx="5298440" cy="5547360"/>
          </a:xfrm>
          <a:prstGeom prst="roundRect">
            <a:avLst>
              <a:gd name="adj" fmla="val 1610"/>
            </a:avLst>
          </a:prstGeom>
          <a:solidFill>
            <a:srgbClr val="FFF3E7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-006"/>
          <p:cNvSpPr/>
          <p:nvPr/>
        </p:nvSpPr>
        <p:spPr>
          <a:xfrm>
            <a:off x="7040880" y="1351280"/>
            <a:ext cx="5369560" cy="5547360"/>
          </a:xfrm>
          <a:prstGeom prst="roundRect">
            <a:avLst>
              <a:gd name="adj" fmla="val 1589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line-007"/>
          <p:cNvSpPr/>
          <p:nvPr/>
        </p:nvSpPr>
        <p:spPr>
          <a:xfrm>
            <a:off x="3040380" y="2759456"/>
            <a:ext cx="1" cy="298704"/>
          </a:xfrm>
          <a:custGeom>
            <a:avLst/>
            <a:gdLst/>
            <a:ahLst/>
            <a:cxnLst/>
            <a:rect l="0" t="0" r="r" b="b"/>
            <a:pathLst>
              <a:path w="1" h="298704" fill="none">
                <a:moveTo>
                  <a:pt x="0" y="0"/>
                </a:moveTo>
                <a:lnTo>
                  <a:pt x="0" y="298704"/>
                </a:lnTo>
              </a:path>
            </a:pathLst>
          </a:custGeom>
          <a:noFill/>
          <a:ln w="21336" cap="flat">
            <a:solidFill>
              <a:srgbClr val="B7631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09"/>
          <p:cNvSpPr/>
          <p:nvPr/>
        </p:nvSpPr>
        <p:spPr>
          <a:xfrm>
            <a:off x="9725660" y="2759456"/>
            <a:ext cx="1" cy="298704"/>
          </a:xfrm>
          <a:custGeom>
            <a:avLst/>
            <a:gdLst/>
            <a:ahLst/>
            <a:cxnLst/>
            <a:rect l="0" t="0" r="r" b="b"/>
            <a:pathLst>
              <a:path w="1" h="298704" fill="none">
                <a:moveTo>
                  <a:pt x="0" y="0"/>
                </a:moveTo>
                <a:lnTo>
                  <a:pt x="0" y="298704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line-011"/>
          <p:cNvSpPr/>
          <p:nvPr/>
        </p:nvSpPr>
        <p:spPr>
          <a:xfrm>
            <a:off x="3040380" y="3932936"/>
            <a:ext cx="1" cy="298704"/>
          </a:xfrm>
          <a:custGeom>
            <a:avLst/>
            <a:gdLst/>
            <a:ahLst/>
            <a:cxnLst/>
            <a:rect l="0" t="0" r="r" b="b"/>
            <a:pathLst>
              <a:path w="1" h="298704" fill="none">
                <a:moveTo>
                  <a:pt x="0" y="0"/>
                </a:moveTo>
                <a:lnTo>
                  <a:pt x="0" y="298704"/>
                </a:lnTo>
              </a:path>
            </a:pathLst>
          </a:custGeom>
          <a:noFill/>
          <a:ln w="21336" cap="flat">
            <a:solidFill>
              <a:srgbClr val="B7631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line-013"/>
          <p:cNvSpPr/>
          <p:nvPr/>
        </p:nvSpPr>
        <p:spPr>
          <a:xfrm>
            <a:off x="9725660" y="3932936"/>
            <a:ext cx="1" cy="298704"/>
          </a:xfrm>
          <a:custGeom>
            <a:avLst/>
            <a:gdLst/>
            <a:ahLst/>
            <a:cxnLst/>
            <a:rect l="0" t="0" r="r" b="b"/>
            <a:pathLst>
              <a:path w="1" h="298704" fill="none">
                <a:moveTo>
                  <a:pt x="0" y="0"/>
                </a:moveTo>
                <a:lnTo>
                  <a:pt x="0" y="298704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line-015"/>
          <p:cNvSpPr/>
          <p:nvPr/>
        </p:nvSpPr>
        <p:spPr>
          <a:xfrm>
            <a:off x="3040380" y="5106416"/>
            <a:ext cx="1" cy="298704"/>
          </a:xfrm>
          <a:custGeom>
            <a:avLst/>
            <a:gdLst/>
            <a:ahLst/>
            <a:cxnLst/>
            <a:rect l="0" t="0" r="r" b="b"/>
            <a:pathLst>
              <a:path w="1" h="298704" fill="none">
                <a:moveTo>
                  <a:pt x="0" y="0"/>
                </a:moveTo>
                <a:lnTo>
                  <a:pt x="0" y="298704"/>
                </a:lnTo>
              </a:path>
            </a:pathLst>
          </a:custGeom>
          <a:noFill/>
          <a:ln w="21336" cap="flat">
            <a:solidFill>
              <a:srgbClr val="B7631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line-017"/>
          <p:cNvSpPr/>
          <p:nvPr/>
        </p:nvSpPr>
        <p:spPr>
          <a:xfrm>
            <a:off x="9725660" y="5106416"/>
            <a:ext cx="1" cy="298704"/>
          </a:xfrm>
          <a:custGeom>
            <a:avLst/>
            <a:gdLst/>
            <a:ahLst/>
            <a:cxnLst/>
            <a:rect l="0" t="0" r="r" b="b"/>
            <a:pathLst>
              <a:path w="1" h="298704" fill="none">
                <a:moveTo>
                  <a:pt x="0" y="0"/>
                </a:moveTo>
                <a:lnTo>
                  <a:pt x="0" y="298704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line-019"/>
          <p:cNvSpPr/>
          <p:nvPr/>
        </p:nvSpPr>
        <p:spPr>
          <a:xfrm>
            <a:off x="5476240" y="3495548"/>
            <a:ext cx="1778000" cy="1"/>
          </a:xfrm>
          <a:custGeom>
            <a:avLst/>
            <a:gdLst/>
            <a:ahLst/>
            <a:cxnLst/>
            <a:rect l="0" t="0" r="r" b="b"/>
            <a:pathLst>
              <a:path w="1778000" h="1" fill="none">
                <a:moveTo>
                  <a:pt x="0" y="0"/>
                </a:moveTo>
                <a:lnTo>
                  <a:pt x="1778000" y="0"/>
                </a:lnTo>
              </a:path>
            </a:pathLst>
          </a:custGeom>
          <a:noFill/>
          <a:ln w="21336" cap="flat">
            <a:solidFill>
              <a:srgbClr val="B7631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olyline-021"/>
          <p:cNvSpPr/>
          <p:nvPr/>
        </p:nvSpPr>
        <p:spPr>
          <a:xfrm>
            <a:off x="5476240" y="3733800"/>
            <a:ext cx="1778000" cy="938784"/>
          </a:xfrm>
          <a:custGeom>
            <a:avLst/>
            <a:gdLst/>
            <a:ahLst/>
            <a:cxnLst/>
            <a:rect l="0" t="0" r="r" b="b"/>
            <a:pathLst>
              <a:path w="1778000" h="938784" fill="none">
                <a:moveTo>
                  <a:pt x="0" y="935228"/>
                </a:moveTo>
                <a:lnTo>
                  <a:pt x="817880" y="938784"/>
                </a:lnTo>
                <a:lnTo>
                  <a:pt x="817880" y="0"/>
                </a:lnTo>
                <a:lnTo>
                  <a:pt x="1778000" y="6685"/>
                </a:lnTo>
              </a:path>
            </a:pathLst>
          </a:custGeom>
          <a:noFill/>
          <a:ln w="21336" cap="flat">
            <a:solidFill>
              <a:srgbClr val="B7631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polyline-023"/>
          <p:cNvSpPr/>
          <p:nvPr/>
        </p:nvSpPr>
        <p:spPr>
          <a:xfrm>
            <a:off x="5476240" y="4669028"/>
            <a:ext cx="1778000" cy="1020572"/>
          </a:xfrm>
          <a:custGeom>
            <a:avLst/>
            <a:gdLst/>
            <a:ahLst/>
            <a:cxnLst/>
            <a:rect l="0" t="0" r="r" b="b"/>
            <a:pathLst>
              <a:path w="1778000" h="1020572" fill="none">
                <a:moveTo>
                  <a:pt x="0" y="1016020"/>
                </a:moveTo>
                <a:lnTo>
                  <a:pt x="1244600" y="1020572"/>
                </a:lnTo>
                <a:lnTo>
                  <a:pt x="1244600" y="3556"/>
                </a:lnTo>
                <a:lnTo>
                  <a:pt x="1778000" y="0"/>
                </a:lnTo>
              </a:path>
            </a:pathLst>
          </a:custGeom>
          <a:noFill/>
          <a:ln w="21336" cap="flat">
            <a:solidFill>
              <a:srgbClr val="B7631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polyline-025"/>
          <p:cNvSpPr/>
          <p:nvPr/>
        </p:nvSpPr>
        <p:spPr>
          <a:xfrm>
            <a:off x="5476240" y="6131184"/>
            <a:ext cx="1778000" cy="1"/>
          </a:xfrm>
          <a:custGeom>
            <a:avLst/>
            <a:gdLst/>
            <a:ahLst/>
            <a:cxnLst/>
            <a:rect l="0" t="0" r="r" b="b"/>
            <a:pathLst>
              <a:path w="1778000" h="1" fill="none">
                <a:moveTo>
                  <a:pt x="1778000" y="0"/>
                </a:move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-027: JTAG 直接装载：主机与目标两条时间线如何汇合"/>
          <p:cNvSpPr txBox="1"/>
          <p:nvPr/>
        </p:nvSpPr>
        <p:spPr>
          <a:xfrm>
            <a:off x="483616" y="271109"/>
            <a:ext cx="5952744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JTAG 直接装载：主机与目标两条时间线如何汇合</a:t>
            </a:r>
          </a:p>
        </p:txBody>
      </p:sp>
      <p:sp>
        <p:nvSpPr>
          <p:cNvPr id="18" name="text-028: 当前保留内部 LLC 的启动基线；VIP 只检查指定配置位，不能由此推断栈和 R"/>
          <p:cNvSpPr txBox="1"/>
          <p:nvPr/>
        </p:nvSpPr>
        <p:spPr>
          <a:xfrm>
            <a:off x="483616" y="676778"/>
            <a:ext cx="726277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当前保留内部 LLC 的启动基线；VIP 只检查指定配置位，不能由此推断栈和 ROM C 已完成。</a:t>
            </a:r>
          </a:p>
        </p:txBody>
      </p:sp>
      <p:sp>
        <p:nvSpPr>
          <p:cNvPr id="19" name="text-029: 当前源码结构 / 教学示意；非运行证据"/>
          <p:cNvSpPr txBox="1"/>
          <p:nvPr/>
        </p:nvSpPr>
        <p:spPr>
          <a:xfrm>
            <a:off x="341376" y="7498324"/>
            <a:ext cx="2830220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20" name="text-030: 源码：hw/bootrom；sw/lib/crt0.S；elfloader.cp"/>
          <p:cNvSpPr txBox="1"/>
          <p:nvPr/>
        </p:nvSpPr>
        <p:spPr>
          <a:xfrm>
            <a:off x="341376" y="7726477"/>
            <a:ext cx="6080760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源码：hw/bootrom；sw/lib/crt0.S；elfloader.cpp；vip_cheshire_soc.sv</a:t>
            </a:r>
          </a:p>
        </p:txBody>
      </p:sp>
      <p:sp>
        <p:nvSpPr>
          <p:cNvPr id="21" name="text-031: 主机：构建器 / TB / JTAG VIP"/>
          <p:cNvSpPr txBox="1"/>
          <p:nvPr/>
        </p:nvSpPr>
        <p:spPr>
          <a:xfrm>
            <a:off x="519176" y="1408176"/>
            <a:ext cx="309372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主机：构建器 / TB / JTAG VIP</a:t>
            </a:r>
          </a:p>
        </p:txBody>
      </p:sp>
      <p:sp>
        <p:nvSpPr>
          <p:cNvPr id="22" name="text-032: 目标：ROM / 存储 / 应用"/>
          <p:cNvSpPr txBox="1"/>
          <p:nvPr/>
        </p:nvSpPr>
        <p:spPr>
          <a:xfrm>
            <a:off x="7168896" y="1408176"/>
            <a:ext cx="246253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目标：ROM / 存储 / 应用</a:t>
            </a:r>
          </a:p>
        </p:txBody>
      </p:sp>
      <p:sp>
        <p:nvSpPr>
          <p:cNvPr id="23" name="rect-033"/>
          <p:cNvSpPr/>
          <p:nvPr/>
        </p:nvSpPr>
        <p:spPr>
          <a:xfrm>
            <a:off x="604520" y="1884680"/>
            <a:ext cx="4871720" cy="874776"/>
          </a:xfrm>
          <a:prstGeom prst="roundRect">
            <a:avLst>
              <a:gd name="adj" fmla="val 5691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-034"/>
          <p:cNvSpPr/>
          <p:nvPr/>
        </p:nvSpPr>
        <p:spPr>
          <a:xfrm>
            <a:off x="604520" y="1884680"/>
            <a:ext cx="35560" cy="874776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-035: ELF 与链接信息"/>
          <p:cNvSpPr txBox="1"/>
          <p:nvPr/>
        </p:nvSpPr>
        <p:spPr>
          <a:xfrm>
            <a:off x="725424" y="1912559"/>
            <a:ext cx="159024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ELF 与链接信息</a:t>
            </a:r>
          </a:p>
        </p:txBody>
      </p:sp>
      <p:sp>
        <p:nvSpPr>
          <p:cNvPr id="26" name="text-036: 构建字节、入口、PT_LOAD"/>
          <p:cNvSpPr txBox="1"/>
          <p:nvPr/>
        </p:nvSpPr>
        <p:spPr>
          <a:xfrm>
            <a:off x="725424" y="2191634"/>
            <a:ext cx="2216455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构建字节、入口、PT_LOAD</a:t>
            </a:r>
          </a:p>
        </p:txBody>
      </p:sp>
      <p:sp>
        <p:nvSpPr>
          <p:cNvPr id="27" name="text-037: map / dump 用于静态核对"/>
          <p:cNvSpPr txBox="1"/>
          <p:nvPr/>
        </p:nvSpPr>
        <p:spPr>
          <a:xfrm>
            <a:off x="725424" y="2404994"/>
            <a:ext cx="231460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map / dump 用于静态核对</a:t>
            </a:r>
          </a:p>
        </p:txBody>
      </p:sp>
      <p:sp>
        <p:nvSpPr>
          <p:cNvPr id="28" name="rect-038"/>
          <p:cNvSpPr/>
          <p:nvPr/>
        </p:nvSpPr>
        <p:spPr>
          <a:xfrm>
            <a:off x="7254240" y="1884680"/>
            <a:ext cx="4942840" cy="874776"/>
          </a:xfrm>
          <a:prstGeom prst="roundRect">
            <a:avLst>
              <a:gd name="adj" fmla="val 5691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-039"/>
          <p:cNvSpPr/>
          <p:nvPr/>
        </p:nvSpPr>
        <p:spPr>
          <a:xfrm>
            <a:off x="7254240" y="1884680"/>
            <a:ext cx="35560" cy="874776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40: 复位 PC → Boot ROM"/>
          <p:cNvSpPr txBox="1"/>
          <p:nvPr/>
        </p:nvSpPr>
        <p:spPr>
          <a:xfrm>
            <a:off x="7375144" y="1912559"/>
            <a:ext cx="230215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复位 PC → Boot ROM</a:t>
            </a:r>
          </a:p>
        </p:txBody>
      </p:sp>
      <p:sp>
        <p:nvSpPr>
          <p:cNvPr id="31" name="text-041: 内部 LLC 存在：BIST / SPM 配置"/>
          <p:cNvSpPr txBox="1"/>
          <p:nvPr/>
        </p:nvSpPr>
        <p:spPr>
          <a:xfrm>
            <a:off x="7375144" y="2191634"/>
            <a:ext cx="300979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内部 LLC 存在：BIST / SPM 配置</a:t>
            </a:r>
          </a:p>
        </p:txBody>
      </p:sp>
      <p:sp>
        <p:nvSpPr>
          <p:cNvPr id="32" name="text-042: 按容量调整栈是独立步骤"/>
          <p:cNvSpPr txBox="1"/>
          <p:nvPr/>
        </p:nvSpPr>
        <p:spPr>
          <a:xfrm>
            <a:off x="7375144" y="2404994"/>
            <a:ext cx="196291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按容量调整栈是独立步骤</a:t>
            </a:r>
          </a:p>
        </p:txBody>
      </p:sp>
      <p:sp>
        <p:nvSpPr>
          <p:cNvPr id="33" name="rect-043"/>
          <p:cNvSpPr/>
          <p:nvPr/>
        </p:nvSpPr>
        <p:spPr>
          <a:xfrm>
            <a:off x="604520" y="3058160"/>
            <a:ext cx="4871720" cy="874776"/>
          </a:xfrm>
          <a:prstGeom prst="roundRect">
            <a:avLst>
              <a:gd name="adj" fmla="val 5691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ect-044"/>
          <p:cNvSpPr/>
          <p:nvPr/>
        </p:nvSpPr>
        <p:spPr>
          <a:xfrm>
            <a:off x="604520" y="3058160"/>
            <a:ext cx="35560" cy="874776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-045: VIP 检查 SPM 配置位"/>
          <p:cNvSpPr txBox="1"/>
          <p:nvPr/>
        </p:nvSpPr>
        <p:spPr>
          <a:xfrm>
            <a:off x="725424" y="3086039"/>
            <a:ext cx="219120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VIP 检查 SPM 配置位</a:t>
            </a:r>
          </a:p>
        </p:txBody>
      </p:sp>
      <p:sp>
        <p:nvSpPr>
          <p:cNvPr id="36" name="text-046: CFG_SPM_LOW.bit0"/>
          <p:cNvSpPr txBox="1"/>
          <p:nvPr/>
        </p:nvSpPr>
        <p:spPr>
          <a:xfrm>
            <a:off x="725424" y="3365114"/>
            <a:ext cx="186476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CFG_SPM_LOW.bit0</a:t>
            </a:r>
          </a:p>
        </p:txBody>
      </p:sp>
      <p:sp>
        <p:nvSpPr>
          <p:cNvPr id="37" name="text-047: 随后请求调试 halt"/>
          <p:cNvSpPr txBox="1"/>
          <p:nvPr/>
        </p:nvSpPr>
        <p:spPr>
          <a:xfrm>
            <a:off x="725424" y="3578474"/>
            <a:ext cx="167665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随后请求调试 halt</a:t>
            </a:r>
          </a:p>
        </p:txBody>
      </p:sp>
      <p:sp>
        <p:nvSpPr>
          <p:cNvPr id="38" name="rect-048"/>
          <p:cNvSpPr/>
          <p:nvPr/>
        </p:nvSpPr>
        <p:spPr>
          <a:xfrm>
            <a:off x="7254240" y="3058160"/>
            <a:ext cx="4942840" cy="874776"/>
          </a:xfrm>
          <a:prstGeom prst="roundRect">
            <a:avLst>
              <a:gd name="adj" fmla="val 5691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ect-049"/>
          <p:cNvSpPr/>
          <p:nvPr/>
        </p:nvSpPr>
        <p:spPr>
          <a:xfrm>
            <a:off x="7254240" y="3058160"/>
            <a:ext cx="35560" cy="874776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-050: CPU 进入调试暂停"/>
          <p:cNvSpPr txBox="1"/>
          <p:nvPr/>
        </p:nvSpPr>
        <p:spPr>
          <a:xfrm>
            <a:off x="7375144" y="3086039"/>
            <a:ext cx="177515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CPU 进入调试暂停</a:t>
            </a:r>
          </a:p>
        </p:txBody>
      </p:sp>
      <p:sp>
        <p:nvSpPr>
          <p:cNvPr id="41" name="text-051: 暂停不自动证明 sp 有效"/>
          <p:cNvSpPr txBox="1"/>
          <p:nvPr/>
        </p:nvSpPr>
        <p:spPr>
          <a:xfrm>
            <a:off x="7375144" y="3365114"/>
            <a:ext cx="206105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暂停不自动证明 sp 有效</a:t>
            </a:r>
          </a:p>
        </p:txBody>
      </p:sp>
      <p:sp>
        <p:nvSpPr>
          <p:cNvPr id="42" name="text-052: 核对 PC / sp；SBA 写入段"/>
          <p:cNvSpPr txBox="1"/>
          <p:nvPr/>
        </p:nvSpPr>
        <p:spPr>
          <a:xfrm>
            <a:off x="7375144" y="3578474"/>
            <a:ext cx="2420925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核对 PC / sp；SBA 写入段</a:t>
            </a:r>
          </a:p>
        </p:txBody>
      </p:sp>
      <p:sp>
        <p:nvSpPr>
          <p:cNvPr id="43" name="rect-053"/>
          <p:cNvSpPr/>
          <p:nvPr/>
        </p:nvSpPr>
        <p:spPr>
          <a:xfrm>
            <a:off x="604520" y="4231640"/>
            <a:ext cx="4871720" cy="874776"/>
          </a:xfrm>
          <a:prstGeom prst="roundRect">
            <a:avLst>
              <a:gd name="adj" fmla="val 5691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rect-054"/>
          <p:cNvSpPr/>
          <p:nvPr/>
        </p:nvSpPr>
        <p:spPr>
          <a:xfrm>
            <a:off x="604520" y="4231640"/>
            <a:ext cx="35560" cy="874776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-055: halt → SBA 写装载段"/>
          <p:cNvSpPr txBox="1"/>
          <p:nvPr/>
        </p:nvSpPr>
        <p:spPr>
          <a:xfrm>
            <a:off x="725424" y="4259519"/>
            <a:ext cx="231140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halt → SBA 写装载段</a:t>
            </a:r>
          </a:p>
        </p:txBody>
      </p:sp>
      <p:sp>
        <p:nvSpPr>
          <p:cNvPr id="46" name="text-056: 目标存储须可写"/>
          <p:cNvSpPr txBox="1"/>
          <p:nvPr/>
        </p:nvSpPr>
        <p:spPr>
          <a:xfrm>
            <a:off x="725424" y="4538594"/>
            <a:ext cx="130860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目标存储须可写</a:t>
            </a:r>
          </a:p>
        </p:txBody>
      </p:sp>
      <p:sp>
        <p:nvSpPr>
          <p:cNvPr id="47" name="text-057: 按装载规则处理初值与零区"/>
          <p:cNvSpPr txBox="1"/>
          <p:nvPr/>
        </p:nvSpPr>
        <p:spPr>
          <a:xfrm>
            <a:off x="725424" y="4751954"/>
            <a:ext cx="212648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按装载规则处理初值与零区</a:t>
            </a:r>
          </a:p>
        </p:txBody>
      </p:sp>
      <p:sp>
        <p:nvSpPr>
          <p:cNvPr id="48" name="rect-058"/>
          <p:cNvSpPr/>
          <p:nvPr/>
        </p:nvSpPr>
        <p:spPr>
          <a:xfrm>
            <a:off x="7254240" y="4231640"/>
            <a:ext cx="4942840" cy="874776"/>
          </a:xfrm>
          <a:prstGeom prst="roundRect">
            <a:avLst>
              <a:gd name="adj" fmla="val 5691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rect-059"/>
          <p:cNvSpPr/>
          <p:nvPr/>
        </p:nvSpPr>
        <p:spPr>
          <a:xfrm>
            <a:off x="7254240" y="4231640"/>
            <a:ext cx="35560" cy="874776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-060: 应用 _start / crt0"/>
          <p:cNvSpPr txBox="1"/>
          <p:nvPr/>
        </p:nvSpPr>
        <p:spPr>
          <a:xfrm>
            <a:off x="7375144" y="4259519"/>
            <a:ext cx="223743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应用 _start / crt0</a:t>
            </a:r>
          </a:p>
        </p:txBody>
      </p:sp>
      <p:sp>
        <p:nvSpPr>
          <p:cNvPr id="51" name="text-061: 继承有效栈；gp / BSS / FS"/>
          <p:cNvSpPr txBox="1"/>
          <p:nvPr/>
        </p:nvSpPr>
        <p:spPr>
          <a:xfrm>
            <a:off x="7375144" y="4538594"/>
            <a:ext cx="2527249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继承有效栈；gp / BSS / FS</a:t>
            </a:r>
          </a:p>
        </p:txBody>
      </p:sp>
      <p:sp>
        <p:nvSpPr>
          <p:cNvPr id="52" name="text-062: 向量入口另正确设置 VS"/>
          <p:cNvSpPr txBox="1"/>
          <p:nvPr/>
        </p:nvSpPr>
        <p:spPr>
          <a:xfrm>
            <a:off x="7375144" y="4751954"/>
            <a:ext cx="1954733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向量入口另正确设置 VS</a:t>
            </a:r>
          </a:p>
        </p:txBody>
      </p:sp>
      <p:sp>
        <p:nvSpPr>
          <p:cNvPr id="53" name="rect-063"/>
          <p:cNvSpPr/>
          <p:nvPr/>
        </p:nvSpPr>
        <p:spPr>
          <a:xfrm>
            <a:off x="604520" y="5405120"/>
            <a:ext cx="4871720" cy="874776"/>
          </a:xfrm>
          <a:prstGeom prst="roundRect">
            <a:avLst>
              <a:gd name="adj" fmla="val 5691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rect-064"/>
          <p:cNvSpPr/>
          <p:nvPr/>
        </p:nvSpPr>
        <p:spPr>
          <a:xfrm>
            <a:off x="604520" y="5405120"/>
            <a:ext cx="35560" cy="874776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-065: 设置 DPC = ELF entry"/>
          <p:cNvSpPr txBox="1"/>
          <p:nvPr/>
        </p:nvSpPr>
        <p:spPr>
          <a:xfrm>
            <a:off x="725424" y="5432999"/>
            <a:ext cx="247782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设置 DPC = ELF entry</a:t>
            </a:r>
          </a:p>
        </p:txBody>
      </p:sp>
      <p:sp>
        <p:nvSpPr>
          <p:cNvPr id="56" name="text-066: resume 后观察 UART / 状态"/>
          <p:cNvSpPr txBox="1"/>
          <p:nvPr/>
        </p:nvSpPr>
        <p:spPr>
          <a:xfrm>
            <a:off x="725424" y="5712074"/>
            <a:ext cx="257632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resume 后观察 UART / 状态</a:t>
            </a:r>
          </a:p>
        </p:txBody>
      </p:sp>
      <p:sp>
        <p:nvSpPr>
          <p:cNvPr id="57" name="text-067: 逐项结果与返回码共同判定"/>
          <p:cNvSpPr txBox="1"/>
          <p:nvPr/>
        </p:nvSpPr>
        <p:spPr>
          <a:xfrm>
            <a:off x="725424" y="5925434"/>
            <a:ext cx="212648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逐项结果与返回码共同判定</a:t>
            </a:r>
          </a:p>
        </p:txBody>
      </p:sp>
      <p:sp>
        <p:nvSpPr>
          <p:cNvPr id="58" name="rect-068"/>
          <p:cNvSpPr/>
          <p:nvPr/>
        </p:nvSpPr>
        <p:spPr>
          <a:xfrm>
            <a:off x="7254240" y="5405120"/>
            <a:ext cx="4942840" cy="874776"/>
          </a:xfrm>
          <a:prstGeom prst="roundRect">
            <a:avLst>
              <a:gd name="adj" fmla="val 5691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rect-069"/>
          <p:cNvSpPr/>
          <p:nvPr/>
        </p:nvSpPr>
        <p:spPr>
          <a:xfrm>
            <a:off x="7254240" y="5405120"/>
            <a:ext cx="35560" cy="874776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-070: main 与退出状态"/>
          <p:cNvSpPr txBox="1"/>
          <p:nvPr/>
        </p:nvSpPr>
        <p:spPr>
          <a:xfrm>
            <a:off x="7375144" y="5432999"/>
            <a:ext cx="171043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main 与退出状态</a:t>
            </a:r>
          </a:p>
        </p:txBody>
      </p:sp>
      <p:sp>
        <p:nvSpPr>
          <p:cNvPr id="61" name="text-071: 计算 / MMIO / UART"/>
          <p:cNvSpPr txBox="1"/>
          <p:nvPr/>
        </p:nvSpPr>
        <p:spPr>
          <a:xfrm>
            <a:off x="7375144" y="5712074"/>
            <a:ext cx="197927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计算 / MMIO / UART</a:t>
            </a:r>
          </a:p>
        </p:txBody>
      </p:sp>
      <p:sp>
        <p:nvSpPr>
          <p:cNvPr id="62" name="text-072: scratch2=(code&lt;&lt;1)|1；crt0 ret"/>
          <p:cNvSpPr txBox="1"/>
          <p:nvPr/>
        </p:nvSpPr>
        <p:spPr>
          <a:xfrm>
            <a:off x="7375144" y="5925434"/>
            <a:ext cx="3304235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scratch2=(code&lt;&lt;1)|1；crt0 ret</a:t>
            </a:r>
          </a:p>
        </p:txBody>
      </p:sp>
      <p:sp>
        <p:nvSpPr>
          <p:cNvPr id="63" name="text-073: halt"/>
          <p:cNvSpPr txBox="1"/>
          <p:nvPr/>
        </p:nvSpPr>
        <p:spPr>
          <a:xfrm>
            <a:off x="5760720" y="3124444"/>
            <a:ext cx="537667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halt</a:t>
            </a:r>
          </a:p>
        </p:txBody>
      </p:sp>
      <p:sp>
        <p:nvSpPr>
          <p:cNvPr id="64" name="text-074: 段字节"/>
          <p:cNvSpPr txBox="1"/>
          <p:nvPr/>
        </p:nvSpPr>
        <p:spPr>
          <a:xfrm>
            <a:off x="5760720" y="4283700"/>
            <a:ext cx="597408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段字节</a:t>
            </a:r>
          </a:p>
        </p:txBody>
      </p:sp>
      <p:sp>
        <p:nvSpPr>
          <p:cNvPr id="65" name="text-075: resume"/>
          <p:cNvSpPr txBox="1"/>
          <p:nvPr/>
        </p:nvSpPr>
        <p:spPr>
          <a:xfrm>
            <a:off x="5732272" y="5243820"/>
            <a:ext cx="731825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resume</a:t>
            </a:r>
          </a:p>
        </p:txBody>
      </p:sp>
      <p:sp>
        <p:nvSpPr>
          <p:cNvPr id="66" name="text-076: 结果"/>
          <p:cNvSpPr txBox="1"/>
          <p:nvPr/>
        </p:nvSpPr>
        <p:spPr>
          <a:xfrm>
            <a:off x="5760720" y="5848340"/>
            <a:ext cx="448056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结果</a:t>
            </a:r>
          </a:p>
        </p:txBody>
      </p:sp>
      <p:sp>
        <p:nvSpPr>
          <p:cNvPr id="67" name="text-077: 无内部 LLC：平台另供首次栈访问前的存储与有效 sp。Bootrom=0：平台"/>
          <p:cNvSpPr txBox="1"/>
          <p:nvPr/>
        </p:nvSpPr>
        <p:spPr>
          <a:xfrm>
            <a:off x="462280" y="7034337"/>
            <a:ext cx="7578547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无内部 LLC：平台另供首次栈访问前的存储与有效 sp。Bootrom=0：平台承担第一阶段启动。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