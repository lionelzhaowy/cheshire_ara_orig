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801600" cy="8001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4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5" name="rect-005"/>
          <p:cNvSpPr/>
          <p:nvPr/>
        </p:nvSpPr>
        <p:spPr>
          <a:xfrm>
            <a:off x="391160" y="3556000"/>
            <a:ext cx="12019280" cy="2062480"/>
          </a:xfrm>
          <a:prstGeom prst="roundRect">
            <a:avLst>
              <a:gd name="adj" fmla="val 4137"/>
            </a:avLst>
          </a:prstGeom>
          <a:solidFill>
            <a:srgbClr val="F3F6F8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polyline-006"/>
          <p:cNvSpPr/>
          <p:nvPr/>
        </p:nvSpPr>
        <p:spPr>
          <a:xfrm>
            <a:off x="3698240" y="2098040"/>
            <a:ext cx="1173480" cy="1"/>
          </a:xfrm>
          <a:custGeom>
            <a:avLst/>
            <a:gdLst/>
            <a:ahLst/>
            <a:cxnLst/>
            <a:rect l="0" t="0" r="r" b="b"/>
            <a:pathLst>
              <a:path w="1173480" h="1" fill="none">
                <a:moveTo>
                  <a:pt x="0" y="0"/>
                </a:moveTo>
                <a:lnTo>
                  <a:pt x="1173480" y="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olyline-008"/>
          <p:cNvSpPr/>
          <p:nvPr/>
        </p:nvSpPr>
        <p:spPr>
          <a:xfrm>
            <a:off x="8498840" y="2098040"/>
            <a:ext cx="1173480" cy="1"/>
          </a:xfrm>
          <a:custGeom>
            <a:avLst/>
            <a:gdLst/>
            <a:ahLst/>
            <a:cxnLst/>
            <a:rect l="0" t="0" r="r" b="b"/>
            <a:pathLst>
              <a:path w="1173480" h="1" fill="none">
                <a:moveTo>
                  <a:pt x="0" y="0"/>
                </a:moveTo>
                <a:lnTo>
                  <a:pt x="1173480" y="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line-010"/>
          <p:cNvSpPr/>
          <p:nvPr/>
        </p:nvSpPr>
        <p:spPr>
          <a:xfrm>
            <a:off x="2062480" y="2667000"/>
            <a:ext cx="8961120" cy="462280"/>
          </a:xfrm>
          <a:custGeom>
            <a:avLst/>
            <a:gdLst/>
            <a:ahLst/>
            <a:cxnLst/>
            <a:rect l="0" t="0" r="r" b="b"/>
            <a:pathLst>
              <a:path w="8961120" h="462280" fill="none">
                <a:moveTo>
                  <a:pt x="8961120" y="0"/>
                </a:moveTo>
                <a:lnTo>
                  <a:pt x="8961120" y="462280"/>
                </a:lnTo>
                <a:lnTo>
                  <a:pt x="0" y="462280"/>
                </a:ln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087E8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-012: 137 个 e32 元素：按实际 vl 分批执行"/>
          <p:cNvSpPr txBox="1"/>
          <p:nvPr/>
        </p:nvSpPr>
        <p:spPr>
          <a:xfrm>
            <a:off x="483616" y="271109"/>
            <a:ext cx="5235854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137 个 e32 元素：按实际 vl 分批执行</a:t>
            </a:r>
          </a:p>
        </p:txBody>
      </p:sp>
      <p:sp>
        <p:nvSpPr>
          <p:cNvPr id="10" name="text-013: e32,m1；VLEN=2048 → VLMAX=64。示例 a[i]+b[i]"/>
          <p:cNvSpPr txBox="1"/>
          <p:nvPr/>
        </p:nvSpPr>
        <p:spPr>
          <a:xfrm>
            <a:off x="483616" y="676778"/>
            <a:ext cx="7737145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e32,m1；VLEN=2048 → VLMAX=64。示例 a[i]+b[i]→c[i]，尾部 9 个元素同样需要校验。</a:t>
            </a:r>
          </a:p>
        </p:txBody>
      </p:sp>
      <p:sp>
        <p:nvSpPr>
          <p:cNvPr id="11" name="text-014: 当前源码结构 / 教学示意；非运行证据"/>
          <p:cNvSpPr txBox="1"/>
          <p:nvPr/>
        </p:nvSpPr>
        <p:spPr>
          <a:xfrm>
            <a:off x="341376" y="7498324"/>
            <a:ext cx="2830220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12" name="text-015: 依据：教材 journey.c；RVV vsetvli 语义与当前 Ara 配置"/>
          <p:cNvSpPr txBox="1"/>
          <p:nvPr/>
        </p:nvSpPr>
        <p:spPr>
          <a:xfrm>
            <a:off x="341376" y="7726477"/>
            <a:ext cx="5341112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依据：教材 journey.c；RVV vsetvli 语义与当前 Ara 配置；非运行结果</a:t>
            </a:r>
          </a:p>
        </p:txBody>
      </p:sp>
      <p:sp>
        <p:nvSpPr>
          <p:cNvPr id="13" name="rect-016"/>
          <p:cNvSpPr/>
          <p:nvPr/>
        </p:nvSpPr>
        <p:spPr>
          <a:xfrm>
            <a:off x="391160" y="1529080"/>
            <a:ext cx="3307080" cy="1137920"/>
          </a:xfrm>
          <a:prstGeom prst="roundRect">
            <a:avLst>
              <a:gd name="adj" fmla="val 4375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-017"/>
          <p:cNvSpPr/>
          <p:nvPr/>
        </p:nvSpPr>
        <p:spPr>
          <a:xfrm>
            <a:off x="391160" y="1529080"/>
            <a:ext cx="35560" cy="113792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-018: CPU 维护循环状态"/>
          <p:cNvSpPr txBox="1"/>
          <p:nvPr/>
        </p:nvSpPr>
        <p:spPr>
          <a:xfrm>
            <a:off x="512064" y="1556959"/>
            <a:ext cx="1775155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CPU 维护循环状态</a:t>
            </a:r>
          </a:p>
        </p:txBody>
      </p:sp>
      <p:sp>
        <p:nvSpPr>
          <p:cNvPr id="16" name="text-019: 启用 VS；a0/a1/a2 = 数组地址"/>
          <p:cNvSpPr txBox="1"/>
          <p:nvPr/>
        </p:nvSpPr>
        <p:spPr>
          <a:xfrm>
            <a:off x="512064" y="1828353"/>
            <a:ext cx="2918765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启用 VS；a0/a1/a2 = 数组地址</a:t>
            </a:r>
          </a:p>
        </p:txBody>
      </p:sp>
      <p:sp>
        <p:nvSpPr>
          <p:cNvPr id="17" name="text-020: remaining 初值 137"/>
          <p:cNvSpPr txBox="1"/>
          <p:nvPr/>
        </p:nvSpPr>
        <p:spPr>
          <a:xfrm>
            <a:off x="512064" y="2041713"/>
            <a:ext cx="2065325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remaining 初值 137</a:t>
            </a:r>
          </a:p>
        </p:txBody>
      </p:sp>
      <p:sp>
        <p:nvSpPr>
          <p:cNvPr id="18" name="text-021: 调用 vsetvli 取得实际 vl"/>
          <p:cNvSpPr txBox="1"/>
          <p:nvPr/>
        </p:nvSpPr>
        <p:spPr>
          <a:xfrm>
            <a:off x="512064" y="2255073"/>
            <a:ext cx="252618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调用 vsetvli 取得实际 vl</a:t>
            </a:r>
          </a:p>
        </p:txBody>
      </p:sp>
      <p:sp>
        <p:nvSpPr>
          <p:cNvPr id="19" name="rect-022"/>
          <p:cNvSpPr/>
          <p:nvPr/>
        </p:nvSpPr>
        <p:spPr>
          <a:xfrm>
            <a:off x="4871720" y="1529080"/>
            <a:ext cx="3627120" cy="1137920"/>
          </a:xfrm>
          <a:prstGeom prst="roundRect">
            <a:avLst>
              <a:gd name="adj" fmla="val 4375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-023"/>
          <p:cNvSpPr/>
          <p:nvPr/>
        </p:nvSpPr>
        <p:spPr>
          <a:xfrm>
            <a:off x="4871720" y="1529080"/>
            <a:ext cx="35560" cy="113792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-024: Ara 执行一批"/>
          <p:cNvSpPr txBox="1"/>
          <p:nvPr/>
        </p:nvSpPr>
        <p:spPr>
          <a:xfrm>
            <a:off x="4992624" y="1556959"/>
            <a:ext cx="140533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Ara 执行一批</a:t>
            </a:r>
          </a:p>
        </p:txBody>
      </p:sp>
      <p:sp>
        <p:nvSpPr>
          <p:cNvPr id="22" name="text-025: vle32 a、b → vadd → vse32 c"/>
          <p:cNvSpPr txBox="1"/>
          <p:nvPr/>
        </p:nvSpPr>
        <p:spPr>
          <a:xfrm>
            <a:off x="4992624" y="1828353"/>
            <a:ext cx="323453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vle32 a、b → vadd → vse32 c</a:t>
            </a:r>
          </a:p>
        </p:txBody>
      </p:sp>
      <p:sp>
        <p:nvSpPr>
          <p:cNvPr id="23" name="text-026: 本轮只处理 vl 个有效元素"/>
          <p:cNvSpPr txBox="1"/>
          <p:nvPr/>
        </p:nvSpPr>
        <p:spPr>
          <a:xfrm>
            <a:off x="4992624" y="2041713"/>
            <a:ext cx="2321357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本轮只处理 vl 个有效元素</a:t>
            </a:r>
          </a:p>
        </p:txBody>
      </p:sp>
      <p:sp>
        <p:nvSpPr>
          <p:cNvPr id="24" name="text-027: 地址增加 vl × 4 字节"/>
          <p:cNvSpPr txBox="1"/>
          <p:nvPr/>
        </p:nvSpPr>
        <p:spPr>
          <a:xfrm>
            <a:off x="4992624" y="2255073"/>
            <a:ext cx="208239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地址增加 vl × 4 字节</a:t>
            </a:r>
          </a:p>
        </p:txBody>
      </p:sp>
      <p:sp>
        <p:nvSpPr>
          <p:cNvPr id="25" name="rect-028"/>
          <p:cNvSpPr/>
          <p:nvPr/>
        </p:nvSpPr>
        <p:spPr>
          <a:xfrm>
            <a:off x="9672320" y="1529080"/>
            <a:ext cx="2738120" cy="1137920"/>
          </a:xfrm>
          <a:prstGeom prst="roundRect">
            <a:avLst>
              <a:gd name="adj" fmla="val 4375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-029"/>
          <p:cNvSpPr/>
          <p:nvPr/>
        </p:nvSpPr>
        <p:spPr>
          <a:xfrm>
            <a:off x="9672320" y="1529080"/>
            <a:ext cx="35560" cy="113792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-030: 循环继续条件"/>
          <p:cNvSpPr txBox="1"/>
          <p:nvPr/>
        </p:nvSpPr>
        <p:spPr>
          <a:xfrm>
            <a:off x="9793224" y="1556959"/>
            <a:ext cx="129438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循环继续条件</a:t>
            </a:r>
          </a:p>
        </p:txBody>
      </p:sp>
      <p:sp>
        <p:nvSpPr>
          <p:cNvPr id="28" name="text-031: remaining -= vl"/>
          <p:cNvSpPr txBox="1"/>
          <p:nvPr/>
        </p:nvSpPr>
        <p:spPr>
          <a:xfrm>
            <a:off x="9793224" y="1828353"/>
            <a:ext cx="183489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remaining -= vl</a:t>
            </a:r>
          </a:p>
        </p:txBody>
      </p:sp>
      <p:sp>
        <p:nvSpPr>
          <p:cNvPr id="29" name="text-032: 非零则再设定 vl"/>
          <p:cNvSpPr txBox="1"/>
          <p:nvPr/>
        </p:nvSpPr>
        <p:spPr>
          <a:xfrm>
            <a:off x="9793224" y="2041713"/>
            <a:ext cx="152765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非零则再设定 vl</a:t>
            </a:r>
          </a:p>
        </p:txBody>
      </p:sp>
      <p:sp>
        <p:nvSpPr>
          <p:cNvPr id="30" name="text-033: 不能每轮固定加 64"/>
          <p:cNvSpPr txBox="1"/>
          <p:nvPr/>
        </p:nvSpPr>
        <p:spPr>
          <a:xfrm>
            <a:off x="9793224" y="2255073"/>
            <a:ext cx="169834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不能每轮固定加 64</a:t>
            </a:r>
          </a:p>
        </p:txBody>
      </p:sp>
      <p:sp>
        <p:nvSpPr>
          <p:cNvPr id="31" name="text-034: 内存中的逻辑序列（每格仅表示一段，不代表一个 lane）"/>
          <p:cNvSpPr txBox="1"/>
          <p:nvPr/>
        </p:nvSpPr>
        <p:spPr>
          <a:xfrm>
            <a:off x="519176" y="3612896"/>
            <a:ext cx="484505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内存中的逻辑序列（每格仅表示一段，不代表一个 lane）</a:t>
            </a:r>
          </a:p>
        </p:txBody>
      </p:sp>
      <p:sp>
        <p:nvSpPr>
          <p:cNvPr id="32" name="rect-035"/>
          <p:cNvSpPr/>
          <p:nvPr/>
        </p:nvSpPr>
        <p:spPr>
          <a:xfrm>
            <a:off x="604520" y="4231640"/>
            <a:ext cx="4978400" cy="960120"/>
          </a:xfrm>
          <a:prstGeom prst="roundRect">
            <a:avLst>
              <a:gd name="adj" fmla="val 5185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ect-036"/>
          <p:cNvSpPr/>
          <p:nvPr/>
        </p:nvSpPr>
        <p:spPr>
          <a:xfrm>
            <a:off x="604520" y="4231640"/>
            <a:ext cx="35560" cy="96012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037: 第 1 批 · vl=64"/>
          <p:cNvSpPr txBox="1"/>
          <p:nvPr/>
        </p:nvSpPr>
        <p:spPr>
          <a:xfrm>
            <a:off x="725424" y="4259519"/>
            <a:ext cx="187685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第 1 批 · vl=64</a:t>
            </a:r>
          </a:p>
        </p:txBody>
      </p:sp>
      <p:sp>
        <p:nvSpPr>
          <p:cNvPr id="35" name="text-038: 元素 0…63"/>
          <p:cNvSpPr txBox="1"/>
          <p:nvPr/>
        </p:nvSpPr>
        <p:spPr>
          <a:xfrm>
            <a:off x="725424" y="4546275"/>
            <a:ext cx="103266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元素 0…63</a:t>
            </a:r>
          </a:p>
        </p:txBody>
      </p:sp>
      <p:sp>
        <p:nvSpPr>
          <p:cNvPr id="36" name="text-039: 256 B"/>
          <p:cNvSpPr txBox="1"/>
          <p:nvPr/>
        </p:nvSpPr>
        <p:spPr>
          <a:xfrm>
            <a:off x="725424" y="4759635"/>
            <a:ext cx="66497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256 B</a:t>
            </a:r>
          </a:p>
        </p:txBody>
      </p:sp>
      <p:sp>
        <p:nvSpPr>
          <p:cNvPr id="37" name="rect-040"/>
          <p:cNvSpPr/>
          <p:nvPr/>
        </p:nvSpPr>
        <p:spPr>
          <a:xfrm>
            <a:off x="5796280" y="4231640"/>
            <a:ext cx="4978400" cy="960120"/>
          </a:xfrm>
          <a:prstGeom prst="roundRect">
            <a:avLst>
              <a:gd name="adj" fmla="val 5185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rect-041"/>
          <p:cNvSpPr/>
          <p:nvPr/>
        </p:nvSpPr>
        <p:spPr>
          <a:xfrm>
            <a:off x="5796280" y="4231640"/>
            <a:ext cx="35560" cy="96012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042: 第 2 批 · vl=64"/>
          <p:cNvSpPr txBox="1"/>
          <p:nvPr/>
        </p:nvSpPr>
        <p:spPr>
          <a:xfrm>
            <a:off x="5917184" y="4259519"/>
            <a:ext cx="187685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第 2 批 · vl=64</a:t>
            </a:r>
          </a:p>
        </p:txBody>
      </p:sp>
      <p:sp>
        <p:nvSpPr>
          <p:cNvPr id="40" name="text-043: 元素 64…127"/>
          <p:cNvSpPr txBox="1"/>
          <p:nvPr/>
        </p:nvSpPr>
        <p:spPr>
          <a:xfrm>
            <a:off x="5917184" y="4546275"/>
            <a:ext cx="123606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元素 64…127</a:t>
            </a:r>
          </a:p>
        </p:txBody>
      </p:sp>
      <p:sp>
        <p:nvSpPr>
          <p:cNvPr id="41" name="text-044: 256 B"/>
          <p:cNvSpPr txBox="1"/>
          <p:nvPr/>
        </p:nvSpPr>
        <p:spPr>
          <a:xfrm>
            <a:off x="5917184" y="4759635"/>
            <a:ext cx="66497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256 B</a:t>
            </a:r>
          </a:p>
        </p:txBody>
      </p:sp>
      <p:sp>
        <p:nvSpPr>
          <p:cNvPr id="42" name="rect-045"/>
          <p:cNvSpPr/>
          <p:nvPr/>
        </p:nvSpPr>
        <p:spPr>
          <a:xfrm>
            <a:off x="10988040" y="4231640"/>
            <a:ext cx="1066800" cy="960120"/>
          </a:xfrm>
          <a:prstGeom prst="roundRect">
            <a:avLst>
              <a:gd name="adj" fmla="val 5185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ct-046"/>
          <p:cNvSpPr/>
          <p:nvPr/>
        </p:nvSpPr>
        <p:spPr>
          <a:xfrm>
            <a:off x="10988040" y="4231640"/>
            <a:ext cx="35560" cy="96012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-047: 尾批"/>
          <p:cNvSpPr txBox="1"/>
          <p:nvPr/>
        </p:nvSpPr>
        <p:spPr>
          <a:xfrm>
            <a:off x="11108944" y="4259519"/>
            <a:ext cx="55473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尾批</a:t>
            </a:r>
          </a:p>
        </p:txBody>
      </p:sp>
      <p:sp>
        <p:nvSpPr>
          <p:cNvPr id="45" name="text-048: 128…136"/>
          <p:cNvSpPr txBox="1"/>
          <p:nvPr/>
        </p:nvSpPr>
        <p:spPr>
          <a:xfrm>
            <a:off x="11108944" y="4546275"/>
            <a:ext cx="92313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128…136</a:t>
            </a:r>
          </a:p>
        </p:txBody>
      </p:sp>
      <p:sp>
        <p:nvSpPr>
          <p:cNvPr id="46" name="text-049: 9 / 36 B"/>
          <p:cNvSpPr txBox="1"/>
          <p:nvPr/>
        </p:nvSpPr>
        <p:spPr>
          <a:xfrm>
            <a:off x="11108944" y="4759635"/>
            <a:ext cx="97007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9 / 36 B</a:t>
            </a:r>
          </a:p>
        </p:txBody>
      </p:sp>
      <p:sp>
        <p:nvSpPr>
          <p:cNvPr id="47" name="rect-050"/>
          <p:cNvSpPr/>
          <p:nvPr/>
        </p:nvSpPr>
        <p:spPr>
          <a:xfrm>
            <a:off x="391160" y="6223000"/>
            <a:ext cx="3698240" cy="924560"/>
          </a:xfrm>
          <a:prstGeom prst="roundRect">
            <a:avLst>
              <a:gd name="adj" fmla="val 5384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ect-051"/>
          <p:cNvSpPr/>
          <p:nvPr/>
        </p:nvSpPr>
        <p:spPr>
          <a:xfrm>
            <a:off x="391160" y="6223000"/>
            <a:ext cx="35560" cy="92456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-052: 静态指令证据"/>
          <p:cNvSpPr txBox="1"/>
          <p:nvPr/>
        </p:nvSpPr>
        <p:spPr>
          <a:xfrm>
            <a:off x="512064" y="6250879"/>
            <a:ext cx="129438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静态指令证据</a:t>
            </a:r>
          </a:p>
        </p:txBody>
      </p:sp>
      <p:sp>
        <p:nvSpPr>
          <p:cNvPr id="50" name="text-053: ELF 反汇编存在 V 指令"/>
          <p:cNvSpPr txBox="1"/>
          <p:nvPr/>
        </p:nvSpPr>
        <p:spPr>
          <a:xfrm>
            <a:off x="512064" y="6537635"/>
            <a:ext cx="196362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ELF 反汇编存在 V 指令</a:t>
            </a:r>
          </a:p>
        </p:txBody>
      </p:sp>
      <p:sp>
        <p:nvSpPr>
          <p:cNvPr id="51" name="text-054: 只能确认程序文件内容"/>
          <p:cNvSpPr txBox="1"/>
          <p:nvPr/>
        </p:nvSpPr>
        <p:spPr>
          <a:xfrm>
            <a:off x="512064" y="6750995"/>
            <a:ext cx="172110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只能确认程序文件内容</a:t>
            </a:r>
          </a:p>
        </p:txBody>
      </p:sp>
      <p:sp>
        <p:nvSpPr>
          <p:cNvPr id="52" name="rect-055"/>
          <p:cNvSpPr/>
          <p:nvPr/>
        </p:nvSpPr>
        <p:spPr>
          <a:xfrm>
            <a:off x="4516120" y="6223000"/>
            <a:ext cx="3698240" cy="924560"/>
          </a:xfrm>
          <a:prstGeom prst="roundRect">
            <a:avLst>
              <a:gd name="adj" fmla="val 5384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ect-056"/>
          <p:cNvSpPr/>
          <p:nvPr/>
        </p:nvSpPr>
        <p:spPr>
          <a:xfrm>
            <a:off x="4516120" y="6223000"/>
            <a:ext cx="35560" cy="92456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-057: 执行轨迹证据"/>
          <p:cNvSpPr txBox="1"/>
          <p:nvPr/>
        </p:nvSpPr>
        <p:spPr>
          <a:xfrm>
            <a:off x="4637024" y="6250879"/>
            <a:ext cx="129438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执行轨迹证据</a:t>
            </a:r>
          </a:p>
        </p:txBody>
      </p:sp>
      <p:sp>
        <p:nvSpPr>
          <p:cNvPr id="55" name="text-058: 目标确实执行向量路径"/>
          <p:cNvSpPr txBox="1"/>
          <p:nvPr/>
        </p:nvSpPr>
        <p:spPr>
          <a:xfrm>
            <a:off x="4637024" y="6537635"/>
            <a:ext cx="172110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目标确实执行向量路径</a:t>
            </a:r>
          </a:p>
        </p:txBody>
      </p:sp>
      <p:sp>
        <p:nvSpPr>
          <p:cNvPr id="56" name="text-059: 不能用构建成功代替"/>
          <p:cNvSpPr txBox="1"/>
          <p:nvPr/>
        </p:nvSpPr>
        <p:spPr>
          <a:xfrm>
            <a:off x="4637024" y="6750995"/>
            <a:ext cx="156464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不能用构建成功代替</a:t>
            </a:r>
          </a:p>
        </p:txBody>
      </p:sp>
      <p:sp>
        <p:nvSpPr>
          <p:cNvPr id="57" name="rect-060"/>
          <p:cNvSpPr/>
          <p:nvPr/>
        </p:nvSpPr>
        <p:spPr>
          <a:xfrm>
            <a:off x="8641080" y="6223000"/>
            <a:ext cx="3769360" cy="924560"/>
          </a:xfrm>
          <a:prstGeom prst="roundRect">
            <a:avLst>
              <a:gd name="adj" fmla="val 5384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rect-061"/>
          <p:cNvSpPr/>
          <p:nvPr/>
        </p:nvSpPr>
        <p:spPr>
          <a:xfrm>
            <a:off x="8641080" y="6223000"/>
            <a:ext cx="35560" cy="92456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-062: 数值与边界证据"/>
          <p:cNvSpPr txBox="1"/>
          <p:nvPr/>
        </p:nvSpPr>
        <p:spPr>
          <a:xfrm>
            <a:off x="8761984" y="6250879"/>
            <a:ext cx="147929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数值与边界证据</a:t>
            </a:r>
          </a:p>
        </p:txBody>
      </p:sp>
      <p:sp>
        <p:nvSpPr>
          <p:cNvPr id="60" name="text-063: 137 项结果逐项相等"/>
          <p:cNvSpPr txBox="1"/>
          <p:nvPr/>
        </p:nvSpPr>
        <p:spPr>
          <a:xfrm>
            <a:off x="8761984" y="6537635"/>
            <a:ext cx="165851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137 项结果逐项相等</a:t>
            </a:r>
          </a:p>
        </p:txBody>
      </p:sp>
      <p:sp>
        <p:nvSpPr>
          <p:cNvPr id="61" name="text-064: 尾部保护字保持预期"/>
          <p:cNvSpPr txBox="1"/>
          <p:nvPr/>
        </p:nvSpPr>
        <p:spPr>
          <a:xfrm>
            <a:off x="8761984" y="6750995"/>
            <a:ext cx="156464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尾部保护字保持预期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