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552000" cy="386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ftware_calls-000"/>
          <p:cNvSpPr/>
          <p:nvPr/>
        </p:nvSpPr>
        <p:spPr>
          <a:xfrm>
            <a:off x="0" y="409500"/>
            <a:ext cx="6552000" cy="304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ftware_calls-001: Application / tests"/>
          <p:cNvSpPr txBox="1"/>
          <p:nvPr/>
        </p:nvSpPr>
        <p:spPr>
          <a:xfrm>
            <a:off x="218400" y="526708"/>
            <a:ext cx="112585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Application / tests</a:t>
            </a:r>
          </a:p>
        </p:txBody>
      </p:sp>
      <p:sp>
        <p:nvSpPr>
          <p:cNvPr id="4" name="software_calls-002"/>
          <p:cNvSpPr/>
          <p:nvPr/>
        </p:nvSpPr>
        <p:spPr>
          <a:xfrm>
            <a:off x="227500" y="800800"/>
            <a:ext cx="6097000" cy="1"/>
          </a:xfrm>
          <a:custGeom>
            <a:avLst/>
            <a:gdLst/>
            <a:ahLst/>
            <a:cxnLst/>
            <a:rect l="0" t="0" r="r" b="b"/>
            <a:pathLst>
              <a:path w="6097000" h="1">
                <a:moveTo>
                  <a:pt x="0" y="0"/>
                </a:moveTo>
                <a:lnTo>
                  <a:pt x="6097000" y="0"/>
                </a:lnTo>
              </a:path>
            </a:pathLst>
          </a:custGeom>
          <a:noFill/>
          <a:ln w="1092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oftware_calls-003"/>
          <p:cNvSpPr/>
          <p:nvPr/>
        </p:nvSpPr>
        <p:spPr>
          <a:xfrm>
            <a:off x="227500" y="1092000"/>
            <a:ext cx="17745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software_calls-004: printf"/>
          <p:cNvSpPr txBox="1"/>
          <p:nvPr/>
        </p:nvSpPr>
        <p:spPr>
          <a:xfrm>
            <a:off x="909438" y="1168258"/>
            <a:ext cx="41062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printf</a:t>
            </a:r>
          </a:p>
        </p:txBody>
      </p:sp>
      <p:sp>
        <p:nvSpPr>
          <p:cNvPr id="7" name="software_calls-005"/>
          <p:cNvSpPr/>
          <p:nvPr/>
        </p:nvSpPr>
        <p:spPr>
          <a:xfrm>
            <a:off x="1110200" y="800800"/>
            <a:ext cx="1" cy="291200"/>
          </a:xfrm>
          <a:custGeom>
            <a:avLst/>
            <a:gdLst/>
            <a:ahLst/>
            <a:cxnLst/>
            <a:rect l="0" t="0" r="r" b="b"/>
            <a:pathLst>
              <a:path w="1" h="291200">
                <a:moveTo>
                  <a:pt x="0" y="0"/>
                </a:moveTo>
                <a:lnTo>
                  <a:pt x="0" y="291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software_calls-006"/>
          <p:cNvSpPr/>
          <p:nvPr/>
        </p:nvSpPr>
        <p:spPr>
          <a:xfrm>
            <a:off x="1084720" y="1037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oftware_calls-007"/>
          <p:cNvSpPr/>
          <p:nvPr/>
        </p:nvSpPr>
        <p:spPr>
          <a:xfrm>
            <a:off x="2366000" y="1092000"/>
            <a:ext cx="17745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oftware_calls-008: GPT parser"/>
          <p:cNvSpPr txBox="1"/>
          <p:nvPr/>
        </p:nvSpPr>
        <p:spPr>
          <a:xfrm>
            <a:off x="2861509" y="1168258"/>
            <a:ext cx="78348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GPT parser</a:t>
            </a:r>
          </a:p>
        </p:txBody>
      </p:sp>
      <p:sp>
        <p:nvSpPr>
          <p:cNvPr id="11" name="software_calls-009"/>
          <p:cNvSpPr/>
          <p:nvPr/>
        </p:nvSpPr>
        <p:spPr>
          <a:xfrm>
            <a:off x="3248700" y="800800"/>
            <a:ext cx="1" cy="291200"/>
          </a:xfrm>
          <a:custGeom>
            <a:avLst/>
            <a:gdLst/>
            <a:ahLst/>
            <a:cxnLst/>
            <a:rect l="0" t="0" r="r" b="b"/>
            <a:pathLst>
              <a:path w="1" h="291200">
                <a:moveTo>
                  <a:pt x="0" y="0"/>
                </a:moveTo>
                <a:lnTo>
                  <a:pt x="0" y="291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software_calls-010"/>
          <p:cNvSpPr/>
          <p:nvPr/>
        </p:nvSpPr>
        <p:spPr>
          <a:xfrm>
            <a:off x="3223220" y="1037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software_calls-011"/>
          <p:cNvSpPr/>
          <p:nvPr/>
        </p:nvSpPr>
        <p:spPr>
          <a:xfrm>
            <a:off x="4504500" y="1092000"/>
            <a:ext cx="17745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software_calls-012: Device control"/>
          <p:cNvSpPr txBox="1"/>
          <p:nvPr/>
        </p:nvSpPr>
        <p:spPr>
          <a:xfrm>
            <a:off x="4924451" y="1168258"/>
            <a:ext cx="93459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Device control</a:t>
            </a:r>
          </a:p>
        </p:txBody>
      </p:sp>
      <p:sp>
        <p:nvSpPr>
          <p:cNvPr id="15" name="software_calls-013"/>
          <p:cNvSpPr/>
          <p:nvPr/>
        </p:nvSpPr>
        <p:spPr>
          <a:xfrm>
            <a:off x="5387200" y="800800"/>
            <a:ext cx="1" cy="291200"/>
          </a:xfrm>
          <a:custGeom>
            <a:avLst/>
            <a:gdLst/>
            <a:ahLst/>
            <a:cxnLst/>
            <a:rect l="0" t="0" r="r" b="b"/>
            <a:pathLst>
              <a:path w="1" h="291200">
                <a:moveTo>
                  <a:pt x="0" y="0"/>
                </a:moveTo>
                <a:lnTo>
                  <a:pt x="0" y="291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software_calls-014"/>
          <p:cNvSpPr/>
          <p:nvPr/>
        </p:nvSpPr>
        <p:spPr>
          <a:xfrm>
            <a:off x="5361720" y="1037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oftware_calls-015"/>
          <p:cNvSpPr/>
          <p:nvPr/>
        </p:nvSpPr>
        <p:spPr>
          <a:xfrm>
            <a:off x="227500" y="1901900"/>
            <a:ext cx="17745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software_calls-016: UART DIF"/>
          <p:cNvSpPr txBox="1"/>
          <p:nvPr/>
        </p:nvSpPr>
        <p:spPr>
          <a:xfrm>
            <a:off x="759644" y="1978158"/>
            <a:ext cx="71021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UART DIF</a:t>
            </a:r>
          </a:p>
        </p:txBody>
      </p:sp>
      <p:sp>
        <p:nvSpPr>
          <p:cNvPr id="19" name="software_calls-017"/>
          <p:cNvSpPr/>
          <p:nvPr/>
        </p:nvSpPr>
        <p:spPr>
          <a:xfrm>
            <a:off x="2366000" y="1729000"/>
            <a:ext cx="17745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software_calls-018: Storage HAL"/>
          <p:cNvSpPr txBox="1"/>
          <p:nvPr/>
        </p:nvSpPr>
        <p:spPr>
          <a:xfrm>
            <a:off x="2824839" y="1805258"/>
            <a:ext cx="85682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Storage HAL</a:t>
            </a:r>
          </a:p>
        </p:txBody>
      </p:sp>
      <p:sp>
        <p:nvSpPr>
          <p:cNvPr id="21" name="software_calls-019"/>
          <p:cNvSpPr/>
          <p:nvPr/>
        </p:nvSpPr>
        <p:spPr>
          <a:xfrm>
            <a:off x="2366000" y="2338700"/>
            <a:ext cx="17745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software_calls-020: SPI / I²C DIF"/>
          <p:cNvSpPr txBox="1"/>
          <p:nvPr/>
        </p:nvSpPr>
        <p:spPr>
          <a:xfrm>
            <a:off x="2828579" y="2414958"/>
            <a:ext cx="84934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SPI / I²C DIF</a:t>
            </a:r>
          </a:p>
        </p:txBody>
      </p:sp>
      <p:sp>
        <p:nvSpPr>
          <p:cNvPr id="23" name="software_calls-021"/>
          <p:cNvSpPr/>
          <p:nvPr/>
        </p:nvSpPr>
        <p:spPr>
          <a:xfrm>
            <a:off x="4504500" y="1901900"/>
            <a:ext cx="1774500" cy="5551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software_calls-022: CLINT / DMA / GPIO"/>
          <p:cNvSpPr txBox="1"/>
          <p:nvPr/>
        </p:nvSpPr>
        <p:spPr>
          <a:xfrm>
            <a:off x="4741676" y="2005458"/>
            <a:ext cx="130014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CLINT / DMA / GPIO</a:t>
            </a:r>
          </a:p>
        </p:txBody>
      </p:sp>
      <p:sp>
        <p:nvSpPr>
          <p:cNvPr id="25" name="software_calls-023: LLC / AXI RT"/>
          <p:cNvSpPr txBox="1"/>
          <p:nvPr/>
        </p:nvSpPr>
        <p:spPr>
          <a:xfrm>
            <a:off x="4957495" y="2160158"/>
            <a:ext cx="8685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LLC / AXI RT</a:t>
            </a:r>
          </a:p>
        </p:txBody>
      </p:sp>
      <p:sp>
        <p:nvSpPr>
          <p:cNvPr id="26" name="software_calls-024"/>
          <p:cNvSpPr/>
          <p:nvPr/>
        </p:nvSpPr>
        <p:spPr>
          <a:xfrm>
            <a:off x="1110200" y="1437800"/>
            <a:ext cx="1" cy="464100"/>
          </a:xfrm>
          <a:custGeom>
            <a:avLst/>
            <a:gdLst/>
            <a:ahLst/>
            <a:cxnLst/>
            <a:rect l="0" t="0" r="r" b="b"/>
            <a:pathLst>
              <a:path w="1" h="464100">
                <a:moveTo>
                  <a:pt x="0" y="0"/>
                </a:moveTo>
                <a:lnTo>
                  <a:pt x="0" y="4641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software_calls-025"/>
          <p:cNvSpPr/>
          <p:nvPr/>
        </p:nvSpPr>
        <p:spPr>
          <a:xfrm>
            <a:off x="1084720" y="1847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software_calls-026: _putchar"/>
          <p:cNvSpPr txBox="1"/>
          <p:nvPr/>
        </p:nvSpPr>
        <p:spPr>
          <a:xfrm>
            <a:off x="1201200" y="1583036"/>
            <a:ext cx="578675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_putchar</a:t>
            </a:r>
          </a:p>
        </p:txBody>
      </p:sp>
      <p:sp>
        <p:nvSpPr>
          <p:cNvPr id="29" name="software_calls-027"/>
          <p:cNvSpPr/>
          <p:nvPr/>
        </p:nvSpPr>
        <p:spPr>
          <a:xfrm>
            <a:off x="3248700" y="1437800"/>
            <a:ext cx="1" cy="291200"/>
          </a:xfrm>
          <a:custGeom>
            <a:avLst/>
            <a:gdLst/>
            <a:ahLst/>
            <a:cxnLst/>
            <a:rect l="0" t="0" r="r" b="b"/>
            <a:pathLst>
              <a:path w="1" h="291200">
                <a:moveTo>
                  <a:pt x="0" y="0"/>
                </a:moveTo>
                <a:lnTo>
                  <a:pt x="0" y="291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software_calls-028"/>
          <p:cNvSpPr/>
          <p:nvPr/>
        </p:nvSpPr>
        <p:spPr>
          <a:xfrm>
            <a:off x="3223220" y="1674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software_calls-029: read callback"/>
          <p:cNvSpPr txBox="1"/>
          <p:nvPr/>
        </p:nvSpPr>
        <p:spPr>
          <a:xfrm>
            <a:off x="3348800" y="1501136"/>
            <a:ext cx="815317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read callback</a:t>
            </a:r>
          </a:p>
        </p:txBody>
      </p:sp>
      <p:sp>
        <p:nvSpPr>
          <p:cNvPr id="32" name="software_calls-030"/>
          <p:cNvSpPr/>
          <p:nvPr/>
        </p:nvSpPr>
        <p:spPr>
          <a:xfrm>
            <a:off x="3248700" y="2074800"/>
            <a:ext cx="1" cy="263900"/>
          </a:xfrm>
          <a:custGeom>
            <a:avLst/>
            <a:gdLst/>
            <a:ahLst/>
            <a:cxnLst/>
            <a:rect l="0" t="0" r="r" b="b"/>
            <a:pathLst>
              <a:path w="1" h="263900">
                <a:moveTo>
                  <a:pt x="0" y="0"/>
                </a:moveTo>
                <a:lnTo>
                  <a:pt x="0" y="2639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software_calls-031"/>
          <p:cNvSpPr/>
          <p:nvPr/>
        </p:nvSpPr>
        <p:spPr>
          <a:xfrm>
            <a:off x="3223220" y="22841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software_calls-032"/>
          <p:cNvSpPr/>
          <p:nvPr/>
        </p:nvSpPr>
        <p:spPr>
          <a:xfrm>
            <a:off x="5387200" y="1437800"/>
            <a:ext cx="1" cy="464100"/>
          </a:xfrm>
          <a:custGeom>
            <a:avLst/>
            <a:gdLst/>
            <a:ahLst/>
            <a:cxnLst/>
            <a:rect l="0" t="0" r="r" b="b"/>
            <a:pathLst>
              <a:path w="1" h="464100">
                <a:moveTo>
                  <a:pt x="0" y="0"/>
                </a:moveTo>
                <a:lnTo>
                  <a:pt x="0" y="4641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software_calls-033"/>
          <p:cNvSpPr/>
          <p:nvPr/>
        </p:nvSpPr>
        <p:spPr>
          <a:xfrm>
            <a:off x="5361720" y="1847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software_calls-034"/>
          <p:cNvSpPr/>
          <p:nvPr/>
        </p:nvSpPr>
        <p:spPr>
          <a:xfrm>
            <a:off x="227500" y="2984800"/>
            <a:ext cx="6051500" cy="3094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software_calls-035: MMIO: address + offset + access width"/>
          <p:cNvSpPr txBox="1"/>
          <p:nvPr/>
        </p:nvSpPr>
        <p:spPr>
          <a:xfrm>
            <a:off x="2089694" y="3042858"/>
            <a:ext cx="232711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MMIO: address + offset + access width</a:t>
            </a:r>
          </a:p>
        </p:txBody>
      </p:sp>
      <p:sp>
        <p:nvSpPr>
          <p:cNvPr id="38" name="software_calls-036"/>
          <p:cNvSpPr/>
          <p:nvPr/>
        </p:nvSpPr>
        <p:spPr>
          <a:xfrm>
            <a:off x="1110200" y="2247700"/>
            <a:ext cx="1" cy="737100"/>
          </a:xfrm>
          <a:custGeom>
            <a:avLst/>
            <a:gdLst/>
            <a:ahLst/>
            <a:cxnLst/>
            <a:rect l="0" t="0" r="r" b="b"/>
            <a:pathLst>
              <a:path w="1" h="737100">
                <a:moveTo>
                  <a:pt x="0" y="0"/>
                </a:moveTo>
                <a:lnTo>
                  <a:pt x="0" y="7371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software_calls-037"/>
          <p:cNvSpPr/>
          <p:nvPr/>
        </p:nvSpPr>
        <p:spPr>
          <a:xfrm>
            <a:off x="1084720" y="29302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software_calls-038"/>
          <p:cNvSpPr/>
          <p:nvPr/>
        </p:nvSpPr>
        <p:spPr>
          <a:xfrm>
            <a:off x="3248700" y="2684500"/>
            <a:ext cx="1" cy="300300"/>
          </a:xfrm>
          <a:custGeom>
            <a:avLst/>
            <a:gdLst/>
            <a:ahLst/>
            <a:cxnLst/>
            <a:rect l="0" t="0" r="r" b="b"/>
            <a:pathLst>
              <a:path w="1" h="300300">
                <a:moveTo>
                  <a:pt x="0" y="0"/>
                </a:moveTo>
                <a:lnTo>
                  <a:pt x="0" y="3003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software_calls-039"/>
          <p:cNvSpPr/>
          <p:nvPr/>
        </p:nvSpPr>
        <p:spPr>
          <a:xfrm>
            <a:off x="3223220" y="29302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software_calls-040"/>
          <p:cNvSpPr/>
          <p:nvPr/>
        </p:nvSpPr>
        <p:spPr>
          <a:xfrm>
            <a:off x="5387200" y="2457000"/>
            <a:ext cx="1" cy="527800"/>
          </a:xfrm>
          <a:custGeom>
            <a:avLst/>
            <a:gdLst/>
            <a:ahLst/>
            <a:cxnLst/>
            <a:rect l="0" t="0" r="r" b="b"/>
            <a:pathLst>
              <a:path w="1" h="527800">
                <a:moveTo>
                  <a:pt x="0" y="0"/>
                </a:moveTo>
                <a:lnTo>
                  <a:pt x="0" y="5278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software_calls-041"/>
          <p:cNvSpPr/>
          <p:nvPr/>
        </p:nvSpPr>
        <p:spPr>
          <a:xfrm>
            <a:off x="5361720" y="29302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ardware_paths-000"/>
          <p:cNvSpPr/>
          <p:nvPr/>
        </p:nvSpPr>
        <p:spPr>
          <a:xfrm>
            <a:off x="0" y="0"/>
            <a:ext cx="6552000" cy="386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hardware_paths-001"/>
          <p:cNvSpPr/>
          <p:nvPr/>
        </p:nvSpPr>
        <p:spPr>
          <a:xfrm>
            <a:off x="409500" y="409500"/>
            <a:ext cx="1183000" cy="436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hardware_paths-002: CVA6"/>
          <p:cNvSpPr txBox="1"/>
          <p:nvPr/>
        </p:nvSpPr>
        <p:spPr>
          <a:xfrm>
            <a:off x="775626" y="531258"/>
            <a:ext cx="45074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CVA6</a:t>
            </a:r>
          </a:p>
        </p:txBody>
      </p:sp>
      <p:sp>
        <p:nvSpPr>
          <p:cNvPr id="5" name="hardware_paths-003"/>
          <p:cNvSpPr/>
          <p:nvPr/>
        </p:nvSpPr>
        <p:spPr>
          <a:xfrm>
            <a:off x="2648100" y="409500"/>
            <a:ext cx="1183000" cy="436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ardware_paths-004: Ara"/>
          <p:cNvSpPr txBox="1"/>
          <p:nvPr/>
        </p:nvSpPr>
        <p:spPr>
          <a:xfrm>
            <a:off x="3076774" y="531258"/>
            <a:ext cx="32565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Ara</a:t>
            </a:r>
          </a:p>
        </p:txBody>
      </p:sp>
      <p:sp>
        <p:nvSpPr>
          <p:cNvPr id="7" name="hardware_paths-005"/>
          <p:cNvSpPr/>
          <p:nvPr/>
        </p:nvSpPr>
        <p:spPr>
          <a:xfrm>
            <a:off x="4941300" y="409500"/>
            <a:ext cx="1183000" cy="436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hardware_paths-006: iDMA"/>
          <p:cNvSpPr txBox="1"/>
          <p:nvPr/>
        </p:nvSpPr>
        <p:spPr>
          <a:xfrm>
            <a:off x="5313390" y="531258"/>
            <a:ext cx="43881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iDMA</a:t>
            </a:r>
          </a:p>
        </p:txBody>
      </p:sp>
      <p:sp>
        <p:nvSpPr>
          <p:cNvPr id="9" name="hardware_paths-007"/>
          <p:cNvSpPr/>
          <p:nvPr/>
        </p:nvSpPr>
        <p:spPr>
          <a:xfrm>
            <a:off x="1592500" y="582400"/>
            <a:ext cx="1055600" cy="1"/>
          </a:xfrm>
          <a:custGeom>
            <a:avLst/>
            <a:gdLst/>
            <a:ahLst/>
            <a:cxnLst/>
            <a:rect l="0" t="0" r="r" b="b"/>
            <a:pathLst>
              <a:path w="1055600" h="1">
                <a:moveTo>
                  <a:pt x="0" y="0"/>
                </a:moveTo>
                <a:lnTo>
                  <a:pt x="1055600" y="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hardware_paths-008"/>
          <p:cNvSpPr/>
          <p:nvPr/>
        </p:nvSpPr>
        <p:spPr>
          <a:xfrm>
            <a:off x="2593500" y="556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hardware_paths-009"/>
          <p:cNvSpPr/>
          <p:nvPr/>
        </p:nvSpPr>
        <p:spPr>
          <a:xfrm>
            <a:off x="1592500" y="556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hardware_paths-010: issue / MMU"/>
          <p:cNvSpPr txBox="1"/>
          <p:nvPr/>
        </p:nvSpPr>
        <p:spPr>
          <a:xfrm>
            <a:off x="1723398" y="208936"/>
            <a:ext cx="77560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17658A"/>
                </a:solidFill>
                <a:latin typeface="Liberation Sans"/>
                <a:ea typeface="Liberation Sans"/>
                <a:cs typeface="Liberation Sans"/>
              </a:rPr>
              <a:t>issue / MMU</a:t>
            </a:r>
          </a:p>
        </p:txBody>
      </p:sp>
      <p:sp>
        <p:nvSpPr>
          <p:cNvPr id="13" name="hardware_paths-011"/>
          <p:cNvSpPr/>
          <p:nvPr/>
        </p:nvSpPr>
        <p:spPr>
          <a:xfrm>
            <a:off x="409500" y="1337700"/>
            <a:ext cx="5714800" cy="2912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hardware_paths-012: Main AXI interconnect"/>
          <p:cNvSpPr txBox="1"/>
          <p:nvPr/>
        </p:nvSpPr>
        <p:spPr>
          <a:xfrm>
            <a:off x="2583568" y="1386658"/>
            <a:ext cx="1366664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Main AXI interconnect</a:t>
            </a:r>
          </a:p>
        </p:txBody>
      </p:sp>
      <p:sp>
        <p:nvSpPr>
          <p:cNvPr id="15" name="hardware_paths-013"/>
          <p:cNvSpPr/>
          <p:nvPr/>
        </p:nvSpPr>
        <p:spPr>
          <a:xfrm>
            <a:off x="1001000" y="846300"/>
            <a:ext cx="1" cy="491400"/>
          </a:xfrm>
          <a:custGeom>
            <a:avLst/>
            <a:gdLst/>
            <a:ahLst/>
            <a:cxnLst/>
            <a:rect l="0" t="0" r="r" b="b"/>
            <a:pathLst>
              <a:path w="1" h="491400">
                <a:moveTo>
                  <a:pt x="0" y="0"/>
                </a:moveTo>
                <a:lnTo>
                  <a:pt x="0" y="4914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hardware_paths-014"/>
          <p:cNvSpPr/>
          <p:nvPr/>
        </p:nvSpPr>
        <p:spPr>
          <a:xfrm>
            <a:off x="975520" y="12831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hardware_paths-015"/>
          <p:cNvSpPr/>
          <p:nvPr/>
        </p:nvSpPr>
        <p:spPr>
          <a:xfrm>
            <a:off x="3239600" y="846300"/>
            <a:ext cx="1" cy="491400"/>
          </a:xfrm>
          <a:custGeom>
            <a:avLst/>
            <a:gdLst/>
            <a:ahLst/>
            <a:cxnLst/>
            <a:rect l="0" t="0" r="r" b="b"/>
            <a:pathLst>
              <a:path w="1" h="491400">
                <a:moveTo>
                  <a:pt x="0" y="0"/>
                </a:moveTo>
                <a:lnTo>
                  <a:pt x="0" y="4914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hardware_paths-016"/>
          <p:cNvSpPr/>
          <p:nvPr/>
        </p:nvSpPr>
        <p:spPr>
          <a:xfrm>
            <a:off x="3214120" y="12831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hardware_paths-017"/>
          <p:cNvSpPr/>
          <p:nvPr/>
        </p:nvSpPr>
        <p:spPr>
          <a:xfrm>
            <a:off x="5532800" y="846300"/>
            <a:ext cx="1" cy="491400"/>
          </a:xfrm>
          <a:custGeom>
            <a:avLst/>
            <a:gdLst/>
            <a:ahLst/>
            <a:cxnLst/>
            <a:rect l="0" t="0" r="r" b="b"/>
            <a:pathLst>
              <a:path w="1" h="491400">
                <a:moveTo>
                  <a:pt x="0" y="0"/>
                </a:moveTo>
                <a:lnTo>
                  <a:pt x="0" y="4914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hardware_paths-018"/>
          <p:cNvSpPr/>
          <p:nvPr/>
        </p:nvSpPr>
        <p:spPr>
          <a:xfrm>
            <a:off x="5507320" y="12831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hardware_paths-019"/>
          <p:cNvSpPr/>
          <p:nvPr/>
        </p:nvSpPr>
        <p:spPr>
          <a:xfrm>
            <a:off x="254800" y="2102100"/>
            <a:ext cx="1647100" cy="3913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hardware_paths-020: AMO / LRSC"/>
          <p:cNvSpPr txBox="1"/>
          <p:nvPr/>
        </p:nvSpPr>
        <p:spPr>
          <a:xfrm>
            <a:off x="646548" y="2201108"/>
            <a:ext cx="863604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AMO / LRSC</a:t>
            </a:r>
          </a:p>
        </p:txBody>
      </p:sp>
      <p:sp>
        <p:nvSpPr>
          <p:cNvPr id="23" name="hardware_paths-021"/>
          <p:cNvSpPr/>
          <p:nvPr/>
        </p:nvSpPr>
        <p:spPr>
          <a:xfrm>
            <a:off x="2457000" y="2102100"/>
            <a:ext cx="1647100" cy="3913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hardware_paths-022: Register bus"/>
          <p:cNvSpPr txBox="1"/>
          <p:nvPr/>
        </p:nvSpPr>
        <p:spPr>
          <a:xfrm>
            <a:off x="2859256" y="2201108"/>
            <a:ext cx="84258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Register bus</a:t>
            </a:r>
          </a:p>
        </p:txBody>
      </p:sp>
      <p:sp>
        <p:nvSpPr>
          <p:cNvPr id="25" name="hardware_paths-023"/>
          <p:cNvSpPr/>
          <p:nvPr/>
        </p:nvSpPr>
        <p:spPr>
          <a:xfrm>
            <a:off x="4659200" y="2102100"/>
            <a:ext cx="1647100" cy="3913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hardware_paths-024: Other AXI targets"/>
          <p:cNvSpPr txBox="1"/>
          <p:nvPr/>
        </p:nvSpPr>
        <p:spPr>
          <a:xfrm>
            <a:off x="4930465" y="2201108"/>
            <a:ext cx="110456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Other AXI targets</a:t>
            </a:r>
          </a:p>
        </p:txBody>
      </p:sp>
      <p:sp>
        <p:nvSpPr>
          <p:cNvPr id="27" name="hardware_paths-025"/>
          <p:cNvSpPr/>
          <p:nvPr/>
        </p:nvSpPr>
        <p:spPr>
          <a:xfrm>
            <a:off x="1073800" y="1628900"/>
            <a:ext cx="1" cy="473200"/>
          </a:xfrm>
          <a:custGeom>
            <a:avLst/>
            <a:gdLst/>
            <a:ahLst/>
            <a:cxnLst/>
            <a:rect l="0" t="0" r="r" b="b"/>
            <a:pathLst>
              <a:path w="1" h="473200">
                <a:moveTo>
                  <a:pt x="0" y="0"/>
                </a:moveTo>
                <a:lnTo>
                  <a:pt x="0" y="473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hardware_paths-026"/>
          <p:cNvSpPr/>
          <p:nvPr/>
        </p:nvSpPr>
        <p:spPr>
          <a:xfrm>
            <a:off x="1048320" y="20475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hardware_paths-027"/>
          <p:cNvSpPr/>
          <p:nvPr/>
        </p:nvSpPr>
        <p:spPr>
          <a:xfrm>
            <a:off x="3276000" y="1628900"/>
            <a:ext cx="1" cy="473200"/>
          </a:xfrm>
          <a:custGeom>
            <a:avLst/>
            <a:gdLst/>
            <a:ahLst/>
            <a:cxnLst/>
            <a:rect l="0" t="0" r="r" b="b"/>
            <a:pathLst>
              <a:path w="1" h="473200">
                <a:moveTo>
                  <a:pt x="0" y="0"/>
                </a:moveTo>
                <a:lnTo>
                  <a:pt x="0" y="473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hardware_paths-028"/>
          <p:cNvSpPr/>
          <p:nvPr/>
        </p:nvSpPr>
        <p:spPr>
          <a:xfrm>
            <a:off x="3250520" y="20475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hardware_paths-029"/>
          <p:cNvSpPr/>
          <p:nvPr/>
        </p:nvSpPr>
        <p:spPr>
          <a:xfrm>
            <a:off x="5478200" y="1628900"/>
            <a:ext cx="1" cy="473200"/>
          </a:xfrm>
          <a:custGeom>
            <a:avLst/>
            <a:gdLst/>
            <a:ahLst/>
            <a:cxnLst/>
            <a:rect l="0" t="0" r="r" b="b"/>
            <a:pathLst>
              <a:path w="1" h="473200">
                <a:moveTo>
                  <a:pt x="0" y="0"/>
                </a:moveTo>
                <a:lnTo>
                  <a:pt x="0" y="473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hardware_paths-030"/>
          <p:cNvSpPr/>
          <p:nvPr/>
        </p:nvSpPr>
        <p:spPr>
          <a:xfrm>
            <a:off x="5452720" y="20475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hardware_paths-031"/>
          <p:cNvSpPr/>
          <p:nvPr/>
        </p:nvSpPr>
        <p:spPr>
          <a:xfrm>
            <a:off x="254800" y="2739100"/>
            <a:ext cx="16471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hardware_paths-032: LLC / SPM"/>
          <p:cNvSpPr txBox="1"/>
          <p:nvPr/>
        </p:nvSpPr>
        <p:spPr>
          <a:xfrm>
            <a:off x="706672" y="2806258"/>
            <a:ext cx="74335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LLC / SPM</a:t>
            </a:r>
          </a:p>
        </p:txBody>
      </p:sp>
      <p:sp>
        <p:nvSpPr>
          <p:cNvPr id="35" name="hardware_paths-033"/>
          <p:cNvSpPr/>
          <p:nvPr/>
        </p:nvSpPr>
        <p:spPr>
          <a:xfrm>
            <a:off x="1073800" y="2493400"/>
            <a:ext cx="1" cy="245700"/>
          </a:xfrm>
          <a:custGeom>
            <a:avLst/>
            <a:gdLst/>
            <a:ahLst/>
            <a:cxnLst/>
            <a:rect l="0" t="0" r="r" b="b"/>
            <a:pathLst>
              <a:path w="1" h="245700">
                <a:moveTo>
                  <a:pt x="0" y="0"/>
                </a:moveTo>
                <a:lnTo>
                  <a:pt x="0" y="2457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hardware_paths-034"/>
          <p:cNvSpPr/>
          <p:nvPr/>
        </p:nvSpPr>
        <p:spPr>
          <a:xfrm>
            <a:off x="1048320" y="26845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hardware_paths-035"/>
          <p:cNvSpPr/>
          <p:nvPr/>
        </p:nvSpPr>
        <p:spPr>
          <a:xfrm>
            <a:off x="254800" y="3394300"/>
            <a:ext cx="16471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hardware_paths-036: DDR ctrl / PHY → DDR"/>
          <p:cNvSpPr txBox="1"/>
          <p:nvPr/>
        </p:nvSpPr>
        <p:spPr>
          <a:xfrm>
            <a:off x="405753" y="3471286"/>
            <a:ext cx="1345193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DDR ctrl / PHY → DDR</a:t>
            </a:r>
          </a:p>
        </p:txBody>
      </p:sp>
      <p:sp>
        <p:nvSpPr>
          <p:cNvPr id="39" name="hardware_paths-037"/>
          <p:cNvSpPr/>
          <p:nvPr/>
        </p:nvSpPr>
        <p:spPr>
          <a:xfrm>
            <a:off x="1073800" y="3066700"/>
            <a:ext cx="1" cy="327600"/>
          </a:xfrm>
          <a:custGeom>
            <a:avLst/>
            <a:gdLst/>
            <a:ahLst/>
            <a:cxnLst/>
            <a:rect l="0" t="0" r="r" b="b"/>
            <a:pathLst>
              <a:path w="1" h="327600">
                <a:moveTo>
                  <a:pt x="0" y="0"/>
                </a:moveTo>
                <a:lnTo>
                  <a:pt x="0" y="327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hardware_paths-038"/>
          <p:cNvSpPr/>
          <p:nvPr/>
        </p:nvSpPr>
        <p:spPr>
          <a:xfrm>
            <a:off x="1048320" y="33397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hardware_paths-039"/>
          <p:cNvSpPr/>
          <p:nvPr/>
        </p:nvSpPr>
        <p:spPr>
          <a:xfrm>
            <a:off x="2457000" y="2739100"/>
            <a:ext cx="16471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hardware_paths-040: UART / SPI / I²C"/>
          <p:cNvSpPr txBox="1"/>
          <p:nvPr/>
        </p:nvSpPr>
        <p:spPr>
          <a:xfrm>
            <a:off x="2751996" y="2806258"/>
            <a:ext cx="1057107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UART / SPI / I²C</a:t>
            </a:r>
          </a:p>
        </p:txBody>
      </p:sp>
      <p:sp>
        <p:nvSpPr>
          <p:cNvPr id="43" name="hardware_paths-041"/>
          <p:cNvSpPr/>
          <p:nvPr/>
        </p:nvSpPr>
        <p:spPr>
          <a:xfrm>
            <a:off x="3276000" y="2493400"/>
            <a:ext cx="1" cy="245700"/>
          </a:xfrm>
          <a:custGeom>
            <a:avLst/>
            <a:gdLst/>
            <a:ahLst/>
            <a:cxnLst/>
            <a:rect l="0" t="0" r="r" b="b"/>
            <a:pathLst>
              <a:path w="1" h="245700">
                <a:moveTo>
                  <a:pt x="0" y="0"/>
                </a:moveTo>
                <a:lnTo>
                  <a:pt x="0" y="2457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hardware_paths-042"/>
          <p:cNvSpPr/>
          <p:nvPr/>
        </p:nvSpPr>
        <p:spPr>
          <a:xfrm>
            <a:off x="3250520" y="26845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hardware_paths-043"/>
          <p:cNvSpPr/>
          <p:nvPr/>
        </p:nvSpPr>
        <p:spPr>
          <a:xfrm>
            <a:off x="2457000" y="3394300"/>
            <a:ext cx="16471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hardware_paths-044: Flash / SD / EEPROM"/>
          <p:cNvSpPr txBox="1"/>
          <p:nvPr/>
        </p:nvSpPr>
        <p:spPr>
          <a:xfrm>
            <a:off x="2639633" y="3471286"/>
            <a:ext cx="1281835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Flash / SD / EEPROM</a:t>
            </a:r>
          </a:p>
        </p:txBody>
      </p:sp>
      <p:sp>
        <p:nvSpPr>
          <p:cNvPr id="47" name="hardware_paths-045"/>
          <p:cNvSpPr/>
          <p:nvPr/>
        </p:nvSpPr>
        <p:spPr>
          <a:xfrm>
            <a:off x="3276000" y="3066700"/>
            <a:ext cx="1" cy="327600"/>
          </a:xfrm>
          <a:custGeom>
            <a:avLst/>
            <a:gdLst/>
            <a:ahLst/>
            <a:cxnLst/>
            <a:rect l="0" t="0" r="r" b="b"/>
            <a:pathLst>
              <a:path w="1" h="327600">
                <a:moveTo>
                  <a:pt x="0" y="0"/>
                </a:moveTo>
                <a:lnTo>
                  <a:pt x="0" y="327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hardware_paths-046"/>
          <p:cNvSpPr/>
          <p:nvPr/>
        </p:nvSpPr>
        <p:spPr>
          <a:xfrm>
            <a:off x="3250520" y="33397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ild_and_execution-000"/>
          <p:cNvSpPr/>
          <p:nvPr/>
        </p:nvSpPr>
        <p:spPr>
          <a:xfrm>
            <a:off x="0" y="568750"/>
            <a:ext cx="6552000" cy="27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build_and_execution-001: Host"/>
          <p:cNvSpPr txBox="1"/>
          <p:nvPr/>
        </p:nvSpPr>
        <p:spPr>
          <a:xfrm>
            <a:off x="1143024" y="667758"/>
            <a:ext cx="38935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Host</a:t>
            </a:r>
          </a:p>
        </p:txBody>
      </p:sp>
      <p:sp>
        <p:nvSpPr>
          <p:cNvPr id="4" name="build_and_execution-002: Target"/>
          <p:cNvSpPr txBox="1"/>
          <p:nvPr/>
        </p:nvSpPr>
        <p:spPr>
          <a:xfrm>
            <a:off x="4263762" y="667758"/>
            <a:ext cx="48147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Target</a:t>
            </a:r>
          </a:p>
        </p:txBody>
      </p:sp>
      <p:sp>
        <p:nvSpPr>
          <p:cNvPr id="5" name="build_and_execution-003"/>
          <p:cNvSpPr/>
          <p:nvPr/>
        </p:nvSpPr>
        <p:spPr>
          <a:xfrm>
            <a:off x="273000" y="1023750"/>
            <a:ext cx="2047500" cy="5005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uild_and_execution-004: Sources + libraries"/>
          <p:cNvSpPr txBox="1"/>
          <p:nvPr/>
        </p:nvSpPr>
        <p:spPr>
          <a:xfrm>
            <a:off x="703757" y="1100008"/>
            <a:ext cx="118598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Sources + libraries</a:t>
            </a:r>
          </a:p>
        </p:txBody>
      </p:sp>
      <p:sp>
        <p:nvSpPr>
          <p:cNvPr id="7" name="build_and_execution-005: Linker script / Makefile"/>
          <p:cNvSpPr txBox="1"/>
          <p:nvPr/>
        </p:nvSpPr>
        <p:spPr>
          <a:xfrm>
            <a:off x="599384" y="1254708"/>
            <a:ext cx="139473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Linker script / Makefile</a:t>
            </a:r>
          </a:p>
        </p:txBody>
      </p:sp>
      <p:sp>
        <p:nvSpPr>
          <p:cNvPr id="8" name="build_and_execution-006"/>
          <p:cNvSpPr/>
          <p:nvPr/>
        </p:nvSpPr>
        <p:spPr>
          <a:xfrm>
            <a:off x="273000" y="1888250"/>
            <a:ext cx="2047500" cy="4095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uild_and_execution-007: Compiler / assembler / linker"/>
          <p:cNvSpPr txBox="1"/>
          <p:nvPr/>
        </p:nvSpPr>
        <p:spPr>
          <a:xfrm>
            <a:off x="425944" y="1996358"/>
            <a:ext cx="174161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Compiler / assembler / linker</a:t>
            </a:r>
          </a:p>
        </p:txBody>
      </p:sp>
      <p:sp>
        <p:nvSpPr>
          <p:cNvPr id="10" name="build_and_execution-008"/>
          <p:cNvSpPr/>
          <p:nvPr/>
        </p:nvSpPr>
        <p:spPr>
          <a:xfrm>
            <a:off x="1292200" y="1524250"/>
            <a:ext cx="1" cy="364000"/>
          </a:xfrm>
          <a:custGeom>
            <a:avLst/>
            <a:gdLst/>
            <a:ahLst/>
            <a:cxnLst/>
            <a:rect l="0" t="0" r="r" b="b"/>
            <a:pathLst>
              <a:path w="1" h="364000">
                <a:moveTo>
                  <a:pt x="0" y="0"/>
                </a:moveTo>
                <a:lnTo>
                  <a:pt x="0" y="3640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uild_and_execution-009"/>
          <p:cNvSpPr/>
          <p:nvPr/>
        </p:nvSpPr>
        <p:spPr>
          <a:xfrm>
            <a:off x="1266720" y="183365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uild_and_execution-010"/>
          <p:cNvSpPr/>
          <p:nvPr/>
        </p:nvSpPr>
        <p:spPr>
          <a:xfrm>
            <a:off x="2320500" y="2097550"/>
            <a:ext cx="1565200" cy="1"/>
          </a:xfrm>
          <a:custGeom>
            <a:avLst/>
            <a:gdLst/>
            <a:ahLst/>
            <a:cxnLst/>
            <a:rect l="0" t="0" r="r" b="b"/>
            <a:pathLst>
              <a:path w="1565200" h="1">
                <a:moveTo>
                  <a:pt x="0" y="0"/>
                </a:moveTo>
                <a:lnTo>
                  <a:pt x="1565200" y="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uild_and_execution-011"/>
          <p:cNvSpPr/>
          <p:nvPr/>
        </p:nvSpPr>
        <p:spPr>
          <a:xfrm>
            <a:off x="3831100" y="20720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uild_and_execution-012: ELF"/>
          <p:cNvSpPr txBox="1"/>
          <p:nvPr/>
        </p:nvSpPr>
        <p:spPr>
          <a:xfrm>
            <a:off x="2931679" y="1859858"/>
            <a:ext cx="36104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17658A"/>
                </a:solidFill>
                <a:latin typeface="Liberation Sans"/>
                <a:ea typeface="Liberation Sans"/>
                <a:cs typeface="Liberation Sans"/>
              </a:rPr>
              <a:t>ELF</a:t>
            </a:r>
          </a:p>
        </p:txBody>
      </p:sp>
      <p:sp>
        <p:nvSpPr>
          <p:cNvPr id="15" name="build_and_execution-013"/>
          <p:cNvSpPr/>
          <p:nvPr/>
        </p:nvSpPr>
        <p:spPr>
          <a:xfrm>
            <a:off x="3885700" y="1888250"/>
            <a:ext cx="2275000" cy="4095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uild_and_execution-014: Load → CRT0 → main"/>
          <p:cNvSpPr txBox="1"/>
          <p:nvPr/>
        </p:nvSpPr>
        <p:spPr>
          <a:xfrm>
            <a:off x="4316350" y="1996358"/>
            <a:ext cx="141369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Load → CRT0 → main</a:t>
            </a:r>
          </a:p>
        </p:txBody>
      </p:sp>
      <p:sp>
        <p:nvSpPr>
          <p:cNvPr id="17" name="build_and_execution-015"/>
          <p:cNvSpPr/>
          <p:nvPr/>
        </p:nvSpPr>
        <p:spPr>
          <a:xfrm>
            <a:off x="5023200" y="2297750"/>
            <a:ext cx="1" cy="464100"/>
          </a:xfrm>
          <a:custGeom>
            <a:avLst/>
            <a:gdLst/>
            <a:ahLst/>
            <a:cxnLst/>
            <a:rect l="0" t="0" r="r" b="b"/>
            <a:pathLst>
              <a:path w="1" h="464100">
                <a:moveTo>
                  <a:pt x="0" y="0"/>
                </a:moveTo>
                <a:lnTo>
                  <a:pt x="0" y="4641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uild_and_execution-016"/>
          <p:cNvSpPr/>
          <p:nvPr/>
        </p:nvSpPr>
        <p:spPr>
          <a:xfrm>
            <a:off x="4997720" y="270725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uild_and_execution-017"/>
          <p:cNvSpPr/>
          <p:nvPr/>
        </p:nvSpPr>
        <p:spPr>
          <a:xfrm>
            <a:off x="273000" y="2761850"/>
            <a:ext cx="5887700" cy="3549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uild_and_execution-018: ISA / RVV     ·     CSR     ·     Memory"/>
          <p:cNvSpPr txBox="1"/>
          <p:nvPr/>
        </p:nvSpPr>
        <p:spPr>
          <a:xfrm>
            <a:off x="1391795" y="2842658"/>
            <a:ext cx="365011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ISA / RVV     ·     CSR     ·     Memory / MMIO     ·     Trap / IRQ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