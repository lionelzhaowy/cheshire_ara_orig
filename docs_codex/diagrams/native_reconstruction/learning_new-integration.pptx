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4231640" y="1422400"/>
            <a:ext cx="4836160" cy="4622800"/>
          </a:xfrm>
          <a:prstGeom prst="roundRect">
            <a:avLst>
              <a:gd name="adj" fmla="val 1846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6"/>
          <p:cNvSpPr/>
          <p:nvPr/>
        </p:nvSpPr>
        <p:spPr>
          <a:xfrm>
            <a:off x="3129280" y="2524760"/>
            <a:ext cx="1422400" cy="195580"/>
          </a:xfrm>
          <a:custGeom>
            <a:avLst/>
            <a:gdLst/>
            <a:ahLst/>
            <a:cxnLst/>
            <a:rect l="0" t="0" r="r" b="b"/>
            <a:pathLst>
              <a:path w="1422400" h="195580" fill="none">
                <a:moveTo>
                  <a:pt x="0" y="195580"/>
                </a:moveTo>
                <a:lnTo>
                  <a:pt x="142240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8"/>
          <p:cNvSpPr/>
          <p:nvPr/>
        </p:nvSpPr>
        <p:spPr>
          <a:xfrm>
            <a:off x="6649720" y="3129280"/>
            <a:ext cx="1" cy="995680"/>
          </a:xfrm>
          <a:custGeom>
            <a:avLst/>
            <a:gdLst/>
            <a:ahLst/>
            <a:cxnLst/>
            <a:rect l="0" t="0" r="r" b="b"/>
            <a:pathLst>
              <a:path w="1" h="995680" fill="none">
                <a:moveTo>
                  <a:pt x="0" y="0"/>
                </a:moveTo>
                <a:lnTo>
                  <a:pt x="0" y="99568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0"/>
          <p:cNvSpPr/>
          <p:nvPr/>
        </p:nvSpPr>
        <p:spPr>
          <a:xfrm>
            <a:off x="8747760" y="2613660"/>
            <a:ext cx="1351280" cy="2151380"/>
          </a:xfrm>
          <a:custGeom>
            <a:avLst/>
            <a:gdLst/>
            <a:ahLst/>
            <a:cxnLst/>
            <a:rect l="0" t="0" r="r" b="b"/>
            <a:pathLst>
              <a:path w="1351280" h="2151380" fill="none">
                <a:moveTo>
                  <a:pt x="0" y="2151380"/>
                </a:moveTo>
                <a:lnTo>
                  <a:pt x="135128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2"/>
          <p:cNvSpPr/>
          <p:nvPr/>
        </p:nvSpPr>
        <p:spPr>
          <a:xfrm>
            <a:off x="8747760" y="4765040"/>
            <a:ext cx="1351280" cy="53340"/>
          </a:xfrm>
          <a:custGeom>
            <a:avLst/>
            <a:gdLst/>
            <a:ahLst/>
            <a:cxnLst/>
            <a:rect l="0" t="0" r="r" b="b"/>
            <a:pathLst>
              <a:path w="1351280" h="53340" fill="none">
                <a:moveTo>
                  <a:pt x="0" y="0"/>
                </a:moveTo>
                <a:lnTo>
                  <a:pt x="1351280" y="5334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4: 新增 IP：控制面、主动数据面与完成事件独立定义"/>
          <p:cNvSpPr txBox="1"/>
          <p:nvPr/>
        </p:nvSpPr>
        <p:spPr>
          <a:xfrm>
            <a:off x="483616" y="271109"/>
            <a:ext cx="613196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新增 IP：控制面、主动数据面与完成事件独立定义</a:t>
            </a:r>
          </a:p>
        </p:txBody>
      </p:sp>
      <p:sp>
        <p:nvSpPr>
          <p:cNvPr id="11" name="text-015: 从只读写寄存器的计算单元起步，再按需求增加 AXI 主端与 IRQ；不改变现有接"/>
          <p:cNvSpPr txBox="1"/>
          <p:nvPr/>
        </p:nvSpPr>
        <p:spPr>
          <a:xfrm>
            <a:off x="483616" y="676778"/>
            <a:ext cx="81542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从只读写寄存器的计算单元起步，再按需求增加 AXI 主端与 IRQ；不改变现有接口就不能假定具备新能力。</a:t>
            </a:r>
          </a:p>
        </p:txBody>
      </p:sp>
      <p:sp>
        <p:nvSpPr>
          <p:cNvPr id="12" name="text-016: 未来方案 / 待实现与验证"/>
          <p:cNvSpPr txBox="1"/>
          <p:nvPr/>
        </p:nvSpPr>
        <p:spPr>
          <a:xfrm>
            <a:off x="341376" y="7498324"/>
            <a:ext cx="19341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3" name="text-017: 依据：Cheshire 扩展 Reg / AXI 端口；教材独立 Reg 单元；"/>
          <p:cNvSpPr txBox="1"/>
          <p:nvPr/>
        </p:nvSpPr>
        <p:spPr>
          <a:xfrm>
            <a:off x="341376" y="7726477"/>
            <a:ext cx="586740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依据：Cheshire 扩展 Reg / AXI 端口；教材独立 Reg 单元；未来数据面尚需实现</a:t>
            </a:r>
          </a:p>
        </p:txBody>
      </p:sp>
      <p:sp>
        <p:nvSpPr>
          <p:cNvPr id="14" name="rect-018"/>
          <p:cNvSpPr/>
          <p:nvPr/>
        </p:nvSpPr>
        <p:spPr>
          <a:xfrm>
            <a:off x="391160" y="1991360"/>
            <a:ext cx="2738120" cy="1457960"/>
          </a:xfrm>
          <a:prstGeom prst="roundRect">
            <a:avLst>
              <a:gd name="adj" fmla="val 341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9"/>
          <p:cNvSpPr/>
          <p:nvPr/>
        </p:nvSpPr>
        <p:spPr>
          <a:xfrm>
            <a:off x="391160" y="1991360"/>
            <a:ext cx="35560" cy="14579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20: CPU / 驱动"/>
          <p:cNvSpPr txBox="1"/>
          <p:nvPr/>
        </p:nvSpPr>
        <p:spPr>
          <a:xfrm>
            <a:off x="512064" y="2019239"/>
            <a:ext cx="12758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/ 驱动</a:t>
            </a:r>
          </a:p>
        </p:txBody>
      </p:sp>
      <p:sp>
        <p:nvSpPr>
          <p:cNvPr id="17" name="text-021: 写参数 → START"/>
          <p:cNvSpPr txBox="1"/>
          <p:nvPr/>
        </p:nvSpPr>
        <p:spPr>
          <a:xfrm>
            <a:off x="512064" y="2290633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写参数 → START</a:t>
            </a:r>
          </a:p>
        </p:txBody>
      </p:sp>
      <p:sp>
        <p:nvSpPr>
          <p:cNvPr id="18" name="text-022: 轮询 STATUS / 读取 RESULT"/>
          <p:cNvSpPr txBox="1"/>
          <p:nvPr/>
        </p:nvSpPr>
        <p:spPr>
          <a:xfrm>
            <a:off x="512064" y="2503993"/>
            <a:ext cx="27395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轮询 STATUS / 读取 RESULT</a:t>
            </a:r>
          </a:p>
        </p:txBody>
      </p:sp>
      <p:sp>
        <p:nvSpPr>
          <p:cNvPr id="19" name="text-023: 中断模式仍需检查设备状态"/>
          <p:cNvSpPr txBox="1"/>
          <p:nvPr/>
        </p:nvSpPr>
        <p:spPr>
          <a:xfrm>
            <a:off x="512064" y="27173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中断模式仍需检查设备状态</a:t>
            </a:r>
          </a:p>
        </p:txBody>
      </p:sp>
      <p:sp>
        <p:nvSpPr>
          <p:cNvPr id="20" name="text-024: 自有 IP 的职责边界"/>
          <p:cNvSpPr txBox="1"/>
          <p:nvPr/>
        </p:nvSpPr>
        <p:spPr>
          <a:xfrm>
            <a:off x="4359656" y="1479296"/>
            <a:ext cx="188468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自有 IP 的职责边界</a:t>
            </a:r>
          </a:p>
        </p:txBody>
      </p:sp>
      <p:sp>
        <p:nvSpPr>
          <p:cNvPr id="21" name="rect-025"/>
          <p:cNvSpPr/>
          <p:nvPr/>
        </p:nvSpPr>
        <p:spPr>
          <a:xfrm>
            <a:off x="4551680" y="1920240"/>
            <a:ext cx="4196080" cy="1209040"/>
          </a:xfrm>
          <a:prstGeom prst="roundRect">
            <a:avLst>
              <a:gd name="adj" fmla="val 4117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6"/>
          <p:cNvSpPr/>
          <p:nvPr/>
        </p:nvSpPr>
        <p:spPr>
          <a:xfrm>
            <a:off x="4551680" y="1920240"/>
            <a:ext cx="35560" cy="12090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7: Reg 目标：START / BUSY / DONE / ERROR"/>
          <p:cNvSpPr txBox="1"/>
          <p:nvPr/>
        </p:nvSpPr>
        <p:spPr>
          <a:xfrm>
            <a:off x="4672584" y="1948119"/>
            <a:ext cx="446562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Reg 目标：START / BUSY / DONE / ERROR</a:t>
            </a:r>
          </a:p>
        </p:txBody>
      </p:sp>
      <p:sp>
        <p:nvSpPr>
          <p:cNvPr id="24" name="text-028: 地址、字节写、副作用与复位值"/>
          <p:cNvSpPr txBox="1"/>
          <p:nvPr/>
        </p:nvSpPr>
        <p:spPr>
          <a:xfrm>
            <a:off x="4672584" y="221951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地址、字节写、副作用与复位值</a:t>
            </a:r>
          </a:p>
        </p:txBody>
      </p:sp>
      <p:sp>
        <p:nvSpPr>
          <p:cNvPr id="25" name="text-029: 忙时提交、参数快照与结果稳定条件"/>
          <p:cNvSpPr txBox="1"/>
          <p:nvPr/>
        </p:nvSpPr>
        <p:spPr>
          <a:xfrm>
            <a:off x="4672584" y="2432873"/>
            <a:ext cx="29016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忙时提交、参数快照与结果稳定条件</a:t>
            </a:r>
          </a:p>
        </p:txBody>
      </p:sp>
      <p:sp>
        <p:nvSpPr>
          <p:cNvPr id="26" name="rect-030"/>
          <p:cNvSpPr/>
          <p:nvPr/>
        </p:nvSpPr>
        <p:spPr>
          <a:xfrm>
            <a:off x="4551680" y="4124960"/>
            <a:ext cx="4196080" cy="1280160"/>
          </a:xfrm>
          <a:prstGeom prst="roundRect">
            <a:avLst>
              <a:gd name="adj" fmla="val 388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31"/>
          <p:cNvSpPr/>
          <p:nvPr/>
        </p:nvSpPr>
        <p:spPr>
          <a:xfrm>
            <a:off x="4551680" y="4124960"/>
            <a:ext cx="35560" cy="128016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32: 内部状态机 / 计算资源"/>
          <p:cNvSpPr txBox="1"/>
          <p:nvPr/>
        </p:nvSpPr>
        <p:spPr>
          <a:xfrm>
            <a:off x="4672584" y="4152839"/>
            <a:ext cx="220969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内部状态机 / 计算资源</a:t>
            </a:r>
          </a:p>
        </p:txBody>
      </p:sp>
      <p:sp>
        <p:nvSpPr>
          <p:cNvPr id="29" name="text-033: 接受一次任务 → 执行 → 发布结果"/>
          <p:cNvSpPr txBox="1"/>
          <p:nvPr/>
        </p:nvSpPr>
        <p:spPr>
          <a:xfrm>
            <a:off x="4672584" y="4424233"/>
            <a:ext cx="300410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接受一次任务 → 执行 → 发布结果</a:t>
            </a:r>
          </a:p>
        </p:txBody>
      </p:sp>
      <p:sp>
        <p:nvSpPr>
          <p:cNvPr id="30" name="text-034: 局部复位要处理已接受事务"/>
          <p:cNvSpPr txBox="1"/>
          <p:nvPr/>
        </p:nvSpPr>
        <p:spPr>
          <a:xfrm>
            <a:off x="4672584" y="463759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局部复位要处理已接受事务</a:t>
            </a:r>
          </a:p>
        </p:txBody>
      </p:sp>
      <p:sp>
        <p:nvSpPr>
          <p:cNvPr id="31" name="text-035: 异常结束须保留可诊断状态"/>
          <p:cNvSpPr txBox="1"/>
          <p:nvPr/>
        </p:nvSpPr>
        <p:spPr>
          <a:xfrm>
            <a:off x="4672584" y="48509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异常结束须保留可诊断状态</a:t>
            </a:r>
          </a:p>
        </p:txBody>
      </p:sp>
      <p:sp>
        <p:nvSpPr>
          <p:cNvPr id="32" name="rect-036"/>
          <p:cNvSpPr/>
          <p:nvPr/>
        </p:nvSpPr>
        <p:spPr>
          <a:xfrm>
            <a:off x="10099040" y="1955800"/>
            <a:ext cx="2311400" cy="1315720"/>
          </a:xfrm>
          <a:prstGeom prst="roundRect">
            <a:avLst>
              <a:gd name="adj" fmla="val 378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7"/>
          <p:cNvSpPr/>
          <p:nvPr/>
        </p:nvSpPr>
        <p:spPr>
          <a:xfrm>
            <a:off x="10099040" y="1955800"/>
            <a:ext cx="35560" cy="13157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8: 可选 AXI 主端"/>
          <p:cNvSpPr txBox="1"/>
          <p:nvPr/>
        </p:nvSpPr>
        <p:spPr>
          <a:xfrm>
            <a:off x="10219944" y="1983679"/>
            <a:ext cx="152552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可选 AXI 主端</a:t>
            </a:r>
          </a:p>
        </p:txBody>
      </p:sp>
      <p:sp>
        <p:nvSpPr>
          <p:cNvPr id="35" name="text-039: 地址 / 长度 / 对齐"/>
          <p:cNvSpPr txBox="1"/>
          <p:nvPr/>
        </p:nvSpPr>
        <p:spPr>
          <a:xfrm>
            <a:off x="10219944" y="2255073"/>
            <a:ext cx="186049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 / 长度 / 对齐</a:t>
            </a:r>
          </a:p>
        </p:txBody>
      </p:sp>
      <p:sp>
        <p:nvSpPr>
          <p:cNvPr id="36" name="text-040: ID / 在途 / 错误恢复"/>
          <p:cNvSpPr txBox="1"/>
          <p:nvPr/>
        </p:nvSpPr>
        <p:spPr>
          <a:xfrm>
            <a:off x="10219944" y="2468433"/>
            <a:ext cx="208239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 / 在途 / 错误恢复</a:t>
            </a:r>
          </a:p>
        </p:txBody>
      </p:sp>
      <p:sp>
        <p:nvSpPr>
          <p:cNvPr id="37" name="text-041: 共享缓冲区所有权"/>
          <p:cNvSpPr txBox="1"/>
          <p:nvPr/>
        </p:nvSpPr>
        <p:spPr>
          <a:xfrm>
            <a:off x="10219944" y="26817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共享缓冲区所有权</a:t>
            </a:r>
          </a:p>
        </p:txBody>
      </p:sp>
      <p:sp>
        <p:nvSpPr>
          <p:cNvPr id="38" name="rect-042"/>
          <p:cNvSpPr/>
          <p:nvPr/>
        </p:nvSpPr>
        <p:spPr>
          <a:xfrm>
            <a:off x="10099040" y="4231640"/>
            <a:ext cx="231140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43"/>
          <p:cNvSpPr/>
          <p:nvPr/>
        </p:nvSpPr>
        <p:spPr>
          <a:xfrm>
            <a:off x="10099040" y="423164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4: 可选 IRQ → PLIC"/>
          <p:cNvSpPr txBox="1"/>
          <p:nvPr/>
        </p:nvSpPr>
        <p:spPr>
          <a:xfrm>
            <a:off x="10219944" y="4259519"/>
            <a:ext cx="194157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可选 IRQ → PLIC</a:t>
            </a:r>
          </a:p>
        </p:txBody>
      </p:sp>
      <p:sp>
        <p:nvSpPr>
          <p:cNvPr id="41" name="text-045: 设备事件清除"/>
          <p:cNvSpPr txBox="1"/>
          <p:nvPr/>
        </p:nvSpPr>
        <p:spPr>
          <a:xfrm>
            <a:off x="10219944" y="453091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设备事件清除</a:t>
            </a:r>
          </a:p>
        </p:txBody>
      </p:sp>
      <p:sp>
        <p:nvSpPr>
          <p:cNvPr id="42" name="text-046: claim / complete"/>
          <p:cNvSpPr txBox="1"/>
          <p:nvPr/>
        </p:nvSpPr>
        <p:spPr>
          <a:xfrm>
            <a:off x="10219944" y="4744273"/>
            <a:ext cx="19458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claim / complete</a:t>
            </a:r>
          </a:p>
        </p:txBody>
      </p:sp>
      <p:sp>
        <p:nvSpPr>
          <p:cNvPr id="43" name="text-047: 不替代结果检查"/>
          <p:cNvSpPr txBox="1"/>
          <p:nvPr/>
        </p:nvSpPr>
        <p:spPr>
          <a:xfrm>
            <a:off x="10219944" y="495763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不替代结果检查</a:t>
            </a:r>
          </a:p>
        </p:txBody>
      </p:sp>
      <p:sp>
        <p:nvSpPr>
          <p:cNvPr id="44" name="rect-048"/>
          <p:cNvSpPr/>
          <p:nvPr/>
        </p:nvSpPr>
        <p:spPr>
          <a:xfrm>
            <a:off x="391160" y="65074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9"/>
          <p:cNvSpPr/>
          <p:nvPr/>
        </p:nvSpPr>
        <p:spPr>
          <a:xfrm>
            <a:off x="391160" y="65074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50: 系统验收必须跨过接口边界"/>
          <p:cNvSpPr txBox="1"/>
          <p:nvPr/>
        </p:nvSpPr>
        <p:spPr>
          <a:xfrm>
            <a:off x="512064" y="6535359"/>
            <a:ext cx="24038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系统验收必须跨过接口边界</a:t>
            </a:r>
          </a:p>
        </p:txBody>
      </p:sp>
      <p:sp>
        <p:nvSpPr>
          <p:cNvPr id="47" name="text-051: 寄存器副作用 → 一次受控任务 → 数值结果 → 错误 / 超时 / 重置；增加"/>
          <p:cNvSpPr txBox="1"/>
          <p:nvPr/>
        </p:nvSpPr>
        <p:spPr>
          <a:xfrm>
            <a:off x="512064" y="6822115"/>
            <a:ext cx="920008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寄存器副作用 → 一次受控任务 → 数值结果 → 错误 / 超时 / 重置；增加主端还要验证地址权限、缓存可见性与跨域排空。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