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800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polyline-005"/>
          <p:cNvSpPr/>
          <p:nvPr/>
        </p:nvSpPr>
        <p:spPr>
          <a:xfrm>
            <a:off x="3022600" y="222250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 fill="none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7"/>
          <p:cNvSpPr/>
          <p:nvPr/>
        </p:nvSpPr>
        <p:spPr>
          <a:xfrm>
            <a:off x="6151880" y="222250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 fill="none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9"/>
          <p:cNvSpPr/>
          <p:nvPr/>
        </p:nvSpPr>
        <p:spPr>
          <a:xfrm>
            <a:off x="9281160" y="222250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 fill="none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11"/>
          <p:cNvSpPr/>
          <p:nvPr/>
        </p:nvSpPr>
        <p:spPr>
          <a:xfrm>
            <a:off x="3733800" y="4818380"/>
            <a:ext cx="1066800" cy="1"/>
          </a:xfrm>
          <a:custGeom>
            <a:avLst/>
            <a:gdLst/>
            <a:ahLst/>
            <a:cxnLst/>
            <a:rect l="0" t="0" r="r" b="b"/>
            <a:pathLst>
              <a:path w="1066800" h="1" fill="none">
                <a:moveTo>
                  <a:pt x="0" y="0"/>
                </a:moveTo>
                <a:lnTo>
                  <a:pt x="106680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3"/>
          <p:cNvSpPr/>
          <p:nvPr/>
        </p:nvSpPr>
        <p:spPr>
          <a:xfrm>
            <a:off x="8143240" y="4818380"/>
            <a:ext cx="1066800" cy="1"/>
          </a:xfrm>
          <a:custGeom>
            <a:avLst/>
            <a:gdLst/>
            <a:ahLst/>
            <a:cxnLst/>
            <a:rect l="0" t="0" r="r" b="b"/>
            <a:pathLst>
              <a:path w="1066800" h="1" fill="none">
                <a:moveTo>
                  <a:pt x="0" y="0"/>
                </a:moveTo>
                <a:lnTo>
                  <a:pt x="106680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5"/>
          <p:cNvSpPr/>
          <p:nvPr/>
        </p:nvSpPr>
        <p:spPr>
          <a:xfrm>
            <a:off x="6471920" y="2809240"/>
            <a:ext cx="4622800" cy="1386840"/>
          </a:xfrm>
          <a:custGeom>
            <a:avLst/>
            <a:gdLst/>
            <a:ahLst/>
            <a:cxnLst/>
            <a:rect l="0" t="0" r="r" b="b"/>
            <a:pathLst>
              <a:path w="4622800" h="1386840" fill="none">
                <a:moveTo>
                  <a:pt x="4622800" y="0"/>
                </a:moveTo>
                <a:lnTo>
                  <a:pt x="4622800" y="568960"/>
                </a:lnTo>
                <a:lnTo>
                  <a:pt x="0" y="568960"/>
                </a:lnTo>
                <a:lnTo>
                  <a:pt x="0" y="138684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7: 主机上的构建产物：每个文件回答不同问题"/>
          <p:cNvSpPr txBox="1"/>
          <p:nvPr/>
        </p:nvSpPr>
        <p:spPr>
          <a:xfrm>
            <a:off x="483616" y="271109"/>
            <a:ext cx="5120640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主机上的构建产物：每个文件回答不同问题</a:t>
            </a:r>
          </a:p>
        </p:txBody>
      </p:sp>
      <p:sp>
        <p:nvSpPr>
          <p:cNvPr id="12" name="text-018: C / 汇编是程序描述；目标文件保存编码与重定位；ELF 将符号解析与内存布局落"/>
          <p:cNvSpPr txBox="1"/>
          <p:nvPr/>
        </p:nvSpPr>
        <p:spPr>
          <a:xfrm>
            <a:off x="483616" y="676778"/>
            <a:ext cx="657575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 / 汇编是程序描述；目标文件保存编码与重定位；ELF 将符号解析与内存布局落实。</a:t>
            </a:r>
          </a:p>
        </p:txBody>
      </p:sp>
      <p:sp>
        <p:nvSpPr>
          <p:cNvPr id="13" name="text-019: 当前源码结构 / 教学示意；非运行证据"/>
          <p:cNvSpPr txBox="1"/>
          <p:nvPr/>
        </p:nvSpPr>
        <p:spPr>
          <a:xfrm>
            <a:off x="341376" y="74983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4" name="text-020: 依据：sw/sw.mk；sw/lib/crt0.S；当前链接脚本与教材 jour"/>
          <p:cNvSpPr txBox="1"/>
          <p:nvPr/>
        </p:nvSpPr>
        <p:spPr>
          <a:xfrm>
            <a:off x="341376" y="7726477"/>
            <a:ext cx="547624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依据：sw/sw.mk；sw/lib/crt0.S；当前链接脚本与教材 journey 构建入口</a:t>
            </a:r>
          </a:p>
        </p:txBody>
      </p:sp>
      <p:sp>
        <p:nvSpPr>
          <p:cNvPr id="15" name="rect-021"/>
          <p:cNvSpPr/>
          <p:nvPr/>
        </p:nvSpPr>
        <p:spPr>
          <a:xfrm>
            <a:off x="391160" y="1635760"/>
            <a:ext cx="2631440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-022"/>
          <p:cNvSpPr/>
          <p:nvPr/>
        </p:nvSpPr>
        <p:spPr>
          <a:xfrm>
            <a:off x="391160" y="163576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23: journey.c"/>
          <p:cNvSpPr txBox="1"/>
          <p:nvPr/>
        </p:nvSpPr>
        <p:spPr>
          <a:xfrm>
            <a:off x="512064" y="1663639"/>
            <a:ext cx="126664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journey.c</a:t>
            </a:r>
          </a:p>
        </p:txBody>
      </p:sp>
      <p:sp>
        <p:nvSpPr>
          <p:cNvPr id="18" name="text-024: 算法与结果校验"/>
          <p:cNvSpPr txBox="1"/>
          <p:nvPr/>
        </p:nvSpPr>
        <p:spPr>
          <a:xfrm>
            <a:off x="512064" y="1942714"/>
            <a:ext cx="13086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算法与结果校验</a:t>
            </a:r>
          </a:p>
        </p:txBody>
      </p:sp>
      <p:sp>
        <p:nvSpPr>
          <p:cNvPr id="19" name="text-025: 源程序"/>
          <p:cNvSpPr txBox="1"/>
          <p:nvPr/>
        </p:nvSpPr>
        <p:spPr>
          <a:xfrm>
            <a:off x="512064" y="215607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源程序</a:t>
            </a:r>
          </a:p>
        </p:txBody>
      </p:sp>
      <p:sp>
        <p:nvSpPr>
          <p:cNvPr id="20" name="rect-026"/>
          <p:cNvSpPr/>
          <p:nvPr/>
        </p:nvSpPr>
        <p:spPr>
          <a:xfrm>
            <a:off x="3520440" y="1635760"/>
            <a:ext cx="2631440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7"/>
          <p:cNvSpPr/>
          <p:nvPr/>
        </p:nvSpPr>
        <p:spPr>
          <a:xfrm>
            <a:off x="3520440" y="163576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8: journey.i"/>
          <p:cNvSpPr txBox="1"/>
          <p:nvPr/>
        </p:nvSpPr>
        <p:spPr>
          <a:xfrm>
            <a:off x="3641344" y="1663639"/>
            <a:ext cx="126664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journey.i</a:t>
            </a:r>
          </a:p>
        </p:txBody>
      </p:sp>
      <p:sp>
        <p:nvSpPr>
          <p:cNvPr id="23" name="text-029: 宏展开、包含头文件"/>
          <p:cNvSpPr txBox="1"/>
          <p:nvPr/>
        </p:nvSpPr>
        <p:spPr>
          <a:xfrm>
            <a:off x="3641344" y="1942714"/>
            <a:ext cx="163576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宏展开、包含头文件</a:t>
            </a:r>
          </a:p>
        </p:txBody>
      </p:sp>
      <p:sp>
        <p:nvSpPr>
          <p:cNvPr id="24" name="text-030: 预处理结果"/>
          <p:cNvSpPr txBox="1"/>
          <p:nvPr/>
        </p:nvSpPr>
        <p:spPr>
          <a:xfrm>
            <a:off x="3641344" y="2156074"/>
            <a:ext cx="98145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预处理结果</a:t>
            </a:r>
          </a:p>
        </p:txBody>
      </p:sp>
      <p:sp>
        <p:nvSpPr>
          <p:cNvPr id="25" name="rect-031"/>
          <p:cNvSpPr/>
          <p:nvPr/>
        </p:nvSpPr>
        <p:spPr>
          <a:xfrm>
            <a:off x="6649720" y="1635760"/>
            <a:ext cx="2631440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32"/>
          <p:cNvSpPr/>
          <p:nvPr/>
        </p:nvSpPr>
        <p:spPr>
          <a:xfrm>
            <a:off x="6649720" y="163576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33: journey.s"/>
          <p:cNvSpPr txBox="1"/>
          <p:nvPr/>
        </p:nvSpPr>
        <p:spPr>
          <a:xfrm>
            <a:off x="6770624" y="1663639"/>
            <a:ext cx="126664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journey.s</a:t>
            </a:r>
          </a:p>
        </p:txBody>
      </p:sp>
      <p:sp>
        <p:nvSpPr>
          <p:cNvPr id="28" name="text-034: 选定 ISA 的指令序列"/>
          <p:cNvSpPr txBox="1"/>
          <p:nvPr/>
        </p:nvSpPr>
        <p:spPr>
          <a:xfrm>
            <a:off x="6770624" y="1942714"/>
            <a:ext cx="184023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选定 ISA 的指令序列</a:t>
            </a:r>
          </a:p>
        </p:txBody>
      </p:sp>
      <p:sp>
        <p:nvSpPr>
          <p:cNvPr id="29" name="text-035: 编译结果"/>
          <p:cNvSpPr txBox="1"/>
          <p:nvPr/>
        </p:nvSpPr>
        <p:spPr>
          <a:xfrm>
            <a:off x="6770624" y="215607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编译结果</a:t>
            </a:r>
          </a:p>
        </p:txBody>
      </p:sp>
      <p:sp>
        <p:nvSpPr>
          <p:cNvPr id="30" name="rect-036"/>
          <p:cNvSpPr/>
          <p:nvPr/>
        </p:nvSpPr>
        <p:spPr>
          <a:xfrm>
            <a:off x="9779000" y="1635760"/>
            <a:ext cx="2631440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-037"/>
          <p:cNvSpPr/>
          <p:nvPr/>
        </p:nvSpPr>
        <p:spPr>
          <a:xfrm>
            <a:off x="9779000" y="163576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8: journey.o"/>
          <p:cNvSpPr txBox="1"/>
          <p:nvPr/>
        </p:nvSpPr>
        <p:spPr>
          <a:xfrm>
            <a:off x="9899904" y="1663639"/>
            <a:ext cx="126664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journey.o</a:t>
            </a:r>
          </a:p>
        </p:txBody>
      </p:sp>
      <p:sp>
        <p:nvSpPr>
          <p:cNvPr id="33" name="text-039: 字节、符号、重定位"/>
          <p:cNvSpPr txBox="1"/>
          <p:nvPr/>
        </p:nvSpPr>
        <p:spPr>
          <a:xfrm>
            <a:off x="9899904" y="1942714"/>
            <a:ext cx="163576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字节、符号、重定位</a:t>
            </a:r>
          </a:p>
        </p:txBody>
      </p:sp>
      <p:sp>
        <p:nvSpPr>
          <p:cNvPr id="34" name="text-040: 汇编结果"/>
          <p:cNvSpPr txBox="1"/>
          <p:nvPr/>
        </p:nvSpPr>
        <p:spPr>
          <a:xfrm>
            <a:off x="9899904" y="215607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汇编结果</a:t>
            </a:r>
          </a:p>
        </p:txBody>
      </p:sp>
      <p:sp>
        <p:nvSpPr>
          <p:cNvPr id="35" name="rect-041"/>
          <p:cNvSpPr/>
          <p:nvPr/>
        </p:nvSpPr>
        <p:spPr>
          <a:xfrm>
            <a:off x="391160" y="4196080"/>
            <a:ext cx="3342640" cy="1244600"/>
          </a:xfrm>
          <a:prstGeom prst="roundRect">
            <a:avLst>
              <a:gd name="adj" fmla="val 40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-042"/>
          <p:cNvSpPr/>
          <p:nvPr/>
        </p:nvSpPr>
        <p:spPr>
          <a:xfrm>
            <a:off x="391160" y="4196080"/>
            <a:ext cx="35560" cy="12446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43: crt0.o + libsupport.a"/>
          <p:cNvSpPr txBox="1"/>
          <p:nvPr/>
        </p:nvSpPr>
        <p:spPr>
          <a:xfrm>
            <a:off x="512064" y="4223959"/>
            <a:ext cx="270896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crt0.o + libsupport.a</a:t>
            </a:r>
          </a:p>
        </p:txBody>
      </p:sp>
      <p:sp>
        <p:nvSpPr>
          <p:cNvPr id="38" name="text-044: 入口 / BSS / FS 初始化"/>
          <p:cNvSpPr txBox="1"/>
          <p:nvPr/>
        </p:nvSpPr>
        <p:spPr>
          <a:xfrm>
            <a:off x="512064" y="4495353"/>
            <a:ext cx="235549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入口 / BSS / FS 初始化</a:t>
            </a:r>
          </a:p>
        </p:txBody>
      </p:sp>
      <p:sp>
        <p:nvSpPr>
          <p:cNvPr id="39" name="text-045: UART / CLINT / printf 等实现"/>
          <p:cNvSpPr txBox="1"/>
          <p:nvPr/>
        </p:nvSpPr>
        <p:spPr>
          <a:xfrm>
            <a:off x="512064" y="4708713"/>
            <a:ext cx="312359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UART / CLINT / printf 等实现</a:t>
            </a:r>
          </a:p>
        </p:txBody>
      </p:sp>
      <p:sp>
        <p:nvSpPr>
          <p:cNvPr id="40" name="text-046: 库只提供被链接进程序的代码"/>
          <p:cNvSpPr txBox="1"/>
          <p:nvPr/>
        </p:nvSpPr>
        <p:spPr>
          <a:xfrm>
            <a:off x="512064" y="4922073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库只提供被链接进程序的代码</a:t>
            </a:r>
          </a:p>
        </p:txBody>
      </p:sp>
      <p:sp>
        <p:nvSpPr>
          <p:cNvPr id="41" name="rect-047"/>
          <p:cNvSpPr/>
          <p:nvPr/>
        </p:nvSpPr>
        <p:spPr>
          <a:xfrm>
            <a:off x="4800600" y="4196080"/>
            <a:ext cx="3342640" cy="1244600"/>
          </a:xfrm>
          <a:prstGeom prst="roundRect">
            <a:avLst>
              <a:gd name="adj" fmla="val 4000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-048"/>
          <p:cNvSpPr/>
          <p:nvPr/>
        </p:nvSpPr>
        <p:spPr>
          <a:xfrm>
            <a:off x="4800600" y="4196080"/>
            <a:ext cx="35560" cy="12446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9: 链接器 + .ld"/>
          <p:cNvSpPr txBox="1"/>
          <p:nvPr/>
        </p:nvSpPr>
        <p:spPr>
          <a:xfrm>
            <a:off x="4921504" y="4223959"/>
            <a:ext cx="146080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链接器 + .ld</a:t>
            </a:r>
          </a:p>
        </p:txBody>
      </p:sp>
      <p:sp>
        <p:nvSpPr>
          <p:cNvPr id="44" name="text-050: 解析符号与重定位"/>
          <p:cNvSpPr txBox="1"/>
          <p:nvPr/>
        </p:nvSpPr>
        <p:spPr>
          <a:xfrm>
            <a:off x="4921504" y="4495353"/>
            <a:ext cx="153619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解析符号与重定位</a:t>
            </a:r>
          </a:p>
        </p:txBody>
      </p:sp>
      <p:sp>
        <p:nvSpPr>
          <p:cNvPr id="45" name="text-051: 安排运行地址与装载段"/>
          <p:cNvSpPr txBox="1"/>
          <p:nvPr/>
        </p:nvSpPr>
        <p:spPr>
          <a:xfrm>
            <a:off x="4921504" y="470871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安排运行地址与装载段</a:t>
            </a:r>
          </a:p>
        </p:txBody>
      </p:sp>
      <p:sp>
        <p:nvSpPr>
          <p:cNvPr id="46" name="text-052: 检查容量、对齐与段布局"/>
          <p:cNvSpPr txBox="1"/>
          <p:nvPr/>
        </p:nvSpPr>
        <p:spPr>
          <a:xfrm>
            <a:off x="4921504" y="4922073"/>
            <a:ext cx="20482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检查容量、对齐与段布局</a:t>
            </a:r>
          </a:p>
        </p:txBody>
      </p:sp>
      <p:sp>
        <p:nvSpPr>
          <p:cNvPr id="47" name="rect-053"/>
          <p:cNvSpPr/>
          <p:nvPr/>
        </p:nvSpPr>
        <p:spPr>
          <a:xfrm>
            <a:off x="9210040" y="4196080"/>
            <a:ext cx="3200400" cy="1244600"/>
          </a:xfrm>
          <a:prstGeom prst="roundRect">
            <a:avLst>
              <a:gd name="adj" fmla="val 4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-054"/>
          <p:cNvSpPr/>
          <p:nvPr/>
        </p:nvSpPr>
        <p:spPr>
          <a:xfrm>
            <a:off x="9210040" y="4196080"/>
            <a:ext cx="35560" cy="12446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55: journey.spm.elf"/>
          <p:cNvSpPr txBox="1"/>
          <p:nvPr/>
        </p:nvSpPr>
        <p:spPr>
          <a:xfrm>
            <a:off x="9330944" y="4223959"/>
            <a:ext cx="198780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journey.spm.elf</a:t>
            </a:r>
          </a:p>
        </p:txBody>
      </p:sp>
      <p:sp>
        <p:nvSpPr>
          <p:cNvPr id="50" name="text-056: e_entry：应用入口"/>
          <p:cNvSpPr txBox="1"/>
          <p:nvPr/>
        </p:nvSpPr>
        <p:spPr>
          <a:xfrm>
            <a:off x="9330944" y="4495353"/>
            <a:ext cx="180075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e_entry：应用入口</a:t>
            </a:r>
          </a:p>
        </p:txBody>
      </p:sp>
      <p:sp>
        <p:nvSpPr>
          <p:cNvPr id="51" name="text-057: PT_LOAD：装载段"/>
          <p:cNvSpPr txBox="1"/>
          <p:nvPr/>
        </p:nvSpPr>
        <p:spPr>
          <a:xfrm>
            <a:off x="9330944" y="4708713"/>
            <a:ext cx="163007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PT_LOAD：装载段</a:t>
            </a:r>
          </a:p>
        </p:txBody>
      </p:sp>
      <p:sp>
        <p:nvSpPr>
          <p:cNvPr id="52" name="text-058: 文件字节数与运行大小可不同"/>
          <p:cNvSpPr txBox="1"/>
          <p:nvPr/>
        </p:nvSpPr>
        <p:spPr>
          <a:xfrm>
            <a:off x="9330944" y="4922073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文件字节数与运行大小可不同</a:t>
            </a:r>
          </a:p>
        </p:txBody>
      </p:sp>
      <p:sp>
        <p:nvSpPr>
          <p:cNvPr id="53" name="rect-059"/>
          <p:cNvSpPr/>
          <p:nvPr/>
        </p:nvSpPr>
        <p:spPr>
          <a:xfrm>
            <a:off x="391160" y="6294120"/>
            <a:ext cx="12019280" cy="853440"/>
          </a:xfrm>
          <a:prstGeom prst="roundRect">
            <a:avLst>
              <a:gd name="adj" fmla="val 5833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-060"/>
          <p:cNvSpPr/>
          <p:nvPr/>
        </p:nvSpPr>
        <p:spPr>
          <a:xfrm>
            <a:off x="391160" y="6294120"/>
            <a:ext cx="35560" cy="85344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61: 旁证文件与验收用途"/>
          <p:cNvSpPr txBox="1"/>
          <p:nvPr/>
        </p:nvSpPr>
        <p:spPr>
          <a:xfrm>
            <a:off x="512064" y="6321999"/>
            <a:ext cx="18491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旁证文件与验收用途</a:t>
            </a:r>
          </a:p>
        </p:txBody>
      </p:sp>
      <p:sp>
        <p:nvSpPr>
          <p:cNvPr id="56" name="text-062: map：段与符号来自哪里；nm：符号地址；dump：反汇编与静态指令。链接成功之"/>
          <p:cNvSpPr txBox="1"/>
          <p:nvPr/>
        </p:nvSpPr>
        <p:spPr>
          <a:xfrm>
            <a:off x="512064" y="6608755"/>
            <a:ext cx="811265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map：段与符号来自哪里；nm：符号地址；dump：反汇编与静态指令。链接成功之后仍须装载、执行和检查数值。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