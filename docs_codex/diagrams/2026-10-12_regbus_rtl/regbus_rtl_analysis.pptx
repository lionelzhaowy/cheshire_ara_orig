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801600" cy="992124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002: AXI → Regbus：桥内部的数据通路与时序边界"/>
          <p:cNvSpPr txBox="1"/>
          <p:nvPr/>
        </p:nvSpPr>
        <p:spPr>
          <a:xfrm>
            <a:off x="240030" y="85131"/>
            <a:ext cx="4299887" cy="32430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9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→ Regbus：桥内部的数据通路与时序边界</a:t>
            </a:r>
          </a:p>
        </p:txBody>
      </p:sp>
      <p:sp>
        <p:nvSpPr>
          <p:cNvPr id="3" name="n003: i_axi_to_reg_v2 · 默认参数展开：AXI 64 bit / Re"/>
          <p:cNvSpPr txBox="1"/>
          <p:nvPr/>
        </p:nvSpPr>
        <p:spPr>
          <a:xfrm>
            <a:off x="240030" y="395569"/>
            <a:ext cx="4802825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i_axi_to_reg_v2 · 默认参数展开：AXI 64 bit / Reg 32 bit / 地址 48 bit / NumBanks = 2</a:t>
            </a:r>
          </a:p>
        </p:txBody>
      </p:sp>
      <p:sp>
        <p:nvSpPr>
          <p:cNvPr id="4" name="n004"/>
          <p:cNvSpPr/>
          <p:nvPr/>
        </p:nvSpPr>
        <p:spPr>
          <a:xfrm>
            <a:off x="213360" y="720090"/>
            <a:ext cx="12374880" cy="2827020"/>
          </a:xfrm>
          <a:prstGeom prst="rect">
            <a:avLst/>
          </a:prstGeom>
          <a:solidFill>
            <a:srgbClr val="F3F7FA"/>
          </a:solidFill>
          <a:ln w="9601" cap="flat">
            <a:solidFill>
              <a:srgbClr val="645C5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n005: A  i_axi_to_detailed_mem：AXI 请求、状态与内部子通路"/>
          <p:cNvSpPr txBox="1"/>
          <p:nvPr/>
        </p:nvSpPr>
        <p:spPr>
          <a:xfrm>
            <a:off x="320040" y="761909"/>
            <a:ext cx="3716189" cy="2304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  i_axi_to_detailed_mem：AXI 请求、状态与内部子通路</a:t>
            </a:r>
          </a:p>
        </p:txBody>
      </p:sp>
      <p:sp>
        <p:nvSpPr>
          <p:cNvPr id="6" name="n006"/>
          <p:cNvSpPr/>
          <p:nvPr/>
        </p:nvSpPr>
        <p:spPr>
          <a:xfrm>
            <a:off x="400050" y="1200150"/>
            <a:ext cx="1760220" cy="560070"/>
          </a:xfrm>
          <a:prstGeom prst="rect">
            <a:avLst/>
          </a:prstGeom>
          <a:solidFill>
            <a:srgbClr val="FFFFFF"/>
          </a:solidFill>
          <a:ln w="96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n007: AR 读请求处理"/>
          <p:cNvSpPr txBox="1"/>
          <p:nvPr/>
        </p:nvSpPr>
        <p:spPr>
          <a:xfrm>
            <a:off x="801475" y="1224580"/>
            <a:ext cx="957370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AR 读请求处理</a:t>
            </a:r>
          </a:p>
        </p:txBody>
      </p:sp>
      <p:sp>
        <p:nvSpPr>
          <p:cNvPr id="8" name="n008: rd_meta_q / r_cnt_q"/>
          <p:cNvSpPr txBox="1"/>
          <p:nvPr/>
        </p:nvSpPr>
        <p:spPr>
          <a:xfrm>
            <a:off x="724028" y="1401882"/>
            <a:ext cx="1112264" cy="1792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2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rd_meta_q / r_cnt_q</a:t>
            </a:r>
          </a:p>
        </p:txBody>
      </p:sp>
      <p:sp>
        <p:nvSpPr>
          <p:cNvPr id="9" name="n009: 握手推进地址与剩余拍数"/>
          <p:cNvSpPr txBox="1"/>
          <p:nvPr/>
        </p:nvSpPr>
        <p:spPr>
          <a:xfrm>
            <a:off x="608076" y="1561902"/>
            <a:ext cx="1344168" cy="1792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2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握手推进地址与剩余拍数</a:t>
            </a:r>
          </a:p>
        </p:txBody>
      </p:sp>
      <p:sp>
        <p:nvSpPr>
          <p:cNvPr id="10" name="n010"/>
          <p:cNvSpPr/>
          <p:nvPr/>
        </p:nvSpPr>
        <p:spPr>
          <a:xfrm>
            <a:off x="400050" y="2160270"/>
            <a:ext cx="1760220" cy="560070"/>
          </a:xfrm>
          <a:prstGeom prst="rect">
            <a:avLst/>
          </a:prstGeom>
          <a:solidFill>
            <a:srgbClr val="FFFFFF"/>
          </a:solidFill>
          <a:ln w="96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n011: AW + W 写请求处理"/>
          <p:cNvSpPr txBox="1"/>
          <p:nvPr/>
        </p:nvSpPr>
        <p:spPr>
          <a:xfrm>
            <a:off x="659457" y="2184700"/>
            <a:ext cx="1241405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AW + W 写请求处理</a:t>
            </a:r>
          </a:p>
        </p:txBody>
      </p:sp>
      <p:sp>
        <p:nvSpPr>
          <p:cNvPr id="12" name="n012: wr_meta_q / w_cnt_q"/>
          <p:cNvSpPr txBox="1"/>
          <p:nvPr/>
        </p:nvSpPr>
        <p:spPr>
          <a:xfrm>
            <a:off x="698271" y="2362002"/>
            <a:ext cx="1163779" cy="1792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2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wr_meta_q / w_cnt_q</a:t>
            </a:r>
          </a:p>
        </p:txBody>
      </p:sp>
      <p:sp>
        <p:nvSpPr>
          <p:cNvPr id="13" name="n013: 新写需 AWVALID &amp; WVALID"/>
          <p:cNvSpPr txBox="1"/>
          <p:nvPr/>
        </p:nvSpPr>
        <p:spPr>
          <a:xfrm>
            <a:off x="560274" y="2522022"/>
            <a:ext cx="1439772" cy="1792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2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新写需 AWVALID &amp; WVALID</a:t>
            </a:r>
          </a:p>
        </p:txBody>
      </p:sp>
      <p:sp>
        <p:nvSpPr>
          <p:cNvPr id="14" name="n014"/>
          <p:cNvSpPr/>
          <p:nvPr/>
        </p:nvSpPr>
        <p:spPr>
          <a:xfrm>
            <a:off x="2747010" y="1333500"/>
            <a:ext cx="826770" cy="1333500"/>
          </a:xfrm>
          <a:custGeom>
            <a:avLst/>
            <a:gdLst/>
            <a:ahLst/>
            <a:cxnLst/>
            <a:rect l="0" t="0" r="r" b="b"/>
            <a:pathLst>
              <a:path w="826770" h="1333500">
                <a:moveTo>
                  <a:pt x="0" y="0"/>
                </a:moveTo>
                <a:lnTo>
                  <a:pt x="826770" y="149352"/>
                </a:lnTo>
                <a:lnTo>
                  <a:pt x="826770" y="1184148"/>
                </a:lnTo>
                <a:lnTo>
                  <a:pt x="0" y="1333500"/>
                </a:lnTo>
                <a:close/>
              </a:path>
            </a:pathLst>
          </a:custGeom>
          <a:solidFill>
            <a:srgbClr val="E8DFED"/>
          </a:solidFill>
          <a:ln w="96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n015: 2:1"/>
          <p:cNvSpPr txBox="1"/>
          <p:nvPr/>
        </p:nvSpPr>
        <p:spPr>
          <a:xfrm>
            <a:off x="3000438" y="1904665"/>
            <a:ext cx="319915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2:1</a:t>
            </a:r>
          </a:p>
        </p:txBody>
      </p:sp>
      <p:sp>
        <p:nvSpPr>
          <p:cNvPr id="16" name="n016"/>
          <p:cNvSpPr/>
          <p:nvPr/>
        </p:nvSpPr>
        <p:spPr>
          <a:xfrm>
            <a:off x="2160270" y="1477518"/>
            <a:ext cx="586740" cy="149352"/>
          </a:xfrm>
          <a:custGeom>
            <a:avLst/>
            <a:gdLst/>
            <a:ahLst/>
            <a:cxnLst/>
            <a:rect l="0" t="0" r="r" b="b"/>
            <a:pathLst>
              <a:path w="586740" h="149352" fill="none">
                <a:moveTo>
                  <a:pt x="0" y="0"/>
                </a:moveTo>
                <a:lnTo>
                  <a:pt x="320040" y="0"/>
                </a:lnTo>
                <a:lnTo>
                  <a:pt x="320040" y="149352"/>
                </a:lnTo>
                <a:lnTo>
                  <a:pt x="586740" y="149352"/>
                </a:lnTo>
              </a:path>
            </a:pathLst>
          </a:custGeom>
          <a:noFill/>
          <a:ln w="12802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n017"/>
          <p:cNvSpPr/>
          <p:nvPr/>
        </p:nvSpPr>
        <p:spPr>
          <a:xfrm>
            <a:off x="2160270" y="2373630"/>
            <a:ext cx="586740" cy="64008"/>
          </a:xfrm>
          <a:custGeom>
            <a:avLst/>
            <a:gdLst/>
            <a:ahLst/>
            <a:cxnLst/>
            <a:rect l="0" t="0" r="r" b="b"/>
            <a:pathLst>
              <a:path w="586740" h="64008" fill="none">
                <a:moveTo>
                  <a:pt x="0" y="64008"/>
                </a:moveTo>
                <a:lnTo>
                  <a:pt x="320040" y="64008"/>
                </a:lnTo>
                <a:lnTo>
                  <a:pt x="320040" y="0"/>
                </a:lnTo>
                <a:lnTo>
                  <a:pt x="586740" y="0"/>
                </a:lnTo>
              </a:path>
            </a:pathLst>
          </a:custGeom>
          <a:noFill/>
          <a:ln w="12802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n018: i_ax_mux"/>
          <p:cNvSpPr txBox="1"/>
          <p:nvPr/>
        </p:nvSpPr>
        <p:spPr>
          <a:xfrm>
            <a:off x="2850060" y="1110325"/>
            <a:ext cx="615335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i_ax_mux</a:t>
            </a:r>
          </a:p>
        </p:txBody>
      </p:sp>
      <p:sp>
        <p:nvSpPr>
          <p:cNvPr id="19" name="n019"/>
          <p:cNvSpPr/>
          <p:nvPr/>
        </p:nvSpPr>
        <p:spPr>
          <a:xfrm>
            <a:off x="2373630" y="2960370"/>
            <a:ext cx="2160270" cy="400050"/>
          </a:xfrm>
          <a:prstGeom prst="rect">
            <a:avLst/>
          </a:prstGeom>
          <a:solidFill>
            <a:srgbClr val="E8DFED"/>
          </a:solidFill>
          <a:ln w="96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n020: 读写选择 + 背压锁定"/>
          <p:cNvSpPr txBox="1"/>
          <p:nvPr/>
        </p:nvSpPr>
        <p:spPr>
          <a:xfrm>
            <a:off x="2800933" y="2984800"/>
            <a:ext cx="1305663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读写选择 + 背压锁定</a:t>
            </a:r>
          </a:p>
        </p:txBody>
      </p:sp>
      <p:sp>
        <p:nvSpPr>
          <p:cNvPr id="21" name="n021: meta_sel_q / sel_lock_q"/>
          <p:cNvSpPr txBox="1"/>
          <p:nvPr/>
        </p:nvSpPr>
        <p:spPr>
          <a:xfrm>
            <a:off x="2794691" y="3162102"/>
            <a:ext cx="1318148" cy="1792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2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meta_sel_q / sel_lock_q</a:t>
            </a:r>
          </a:p>
        </p:txBody>
      </p:sp>
      <p:sp>
        <p:nvSpPr>
          <p:cNvPr id="22" name="n022"/>
          <p:cNvSpPr/>
          <p:nvPr/>
        </p:nvSpPr>
        <p:spPr>
          <a:xfrm>
            <a:off x="3147060" y="2667000"/>
            <a:ext cx="1" cy="293370"/>
          </a:xfrm>
          <a:custGeom>
            <a:avLst/>
            <a:gdLst/>
            <a:ahLst/>
            <a:cxnLst/>
            <a:rect l="0" t="0" r="r" b="b"/>
            <a:pathLst>
              <a:path w="1" h="293370" fill="none">
                <a:moveTo>
                  <a:pt x="0" y="293370"/>
                </a:moveTo>
                <a:lnTo>
                  <a:pt x="0" y="0"/>
                </a:lnTo>
              </a:path>
            </a:pathLst>
          </a:custGeom>
          <a:noFill/>
          <a:ln w="12802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n023"/>
          <p:cNvSpPr/>
          <p:nvPr/>
        </p:nvSpPr>
        <p:spPr>
          <a:xfrm>
            <a:off x="4160520" y="1093470"/>
            <a:ext cx="1226820" cy="480060"/>
          </a:xfrm>
          <a:prstGeom prst="rect">
            <a:avLst/>
          </a:prstGeom>
          <a:solidFill>
            <a:srgbClr val="FFFFFF"/>
          </a:solidFill>
          <a:ln w="96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n024: i_fork"/>
          <p:cNvSpPr txBox="1"/>
          <p:nvPr/>
        </p:nvSpPr>
        <p:spPr>
          <a:xfrm>
            <a:off x="4556465" y="1157905"/>
            <a:ext cx="434929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i_fork</a:t>
            </a:r>
          </a:p>
        </p:txBody>
      </p:sp>
      <p:sp>
        <p:nvSpPr>
          <p:cNvPr id="25" name="n025: 仅三路握手控制"/>
          <p:cNvSpPr txBox="1"/>
          <p:nvPr/>
        </p:nvSpPr>
        <p:spPr>
          <a:xfrm>
            <a:off x="4325874" y="1335207"/>
            <a:ext cx="896112" cy="1792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2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仅三路握手控制</a:t>
            </a:r>
          </a:p>
        </p:txBody>
      </p:sp>
      <p:sp>
        <p:nvSpPr>
          <p:cNvPr id="26" name="n026"/>
          <p:cNvSpPr/>
          <p:nvPr/>
        </p:nvSpPr>
        <p:spPr>
          <a:xfrm>
            <a:off x="3573780" y="1333500"/>
            <a:ext cx="586740" cy="506730"/>
          </a:xfrm>
          <a:custGeom>
            <a:avLst/>
            <a:gdLst/>
            <a:ahLst/>
            <a:cxnLst/>
            <a:rect l="0" t="0" r="r" b="b"/>
            <a:pathLst>
              <a:path w="586740" h="506730" fill="none">
                <a:moveTo>
                  <a:pt x="0" y="506730"/>
                </a:moveTo>
                <a:lnTo>
                  <a:pt x="320040" y="506730"/>
                </a:lnTo>
                <a:lnTo>
                  <a:pt x="320040" y="0"/>
                </a:lnTo>
                <a:lnTo>
                  <a:pt x="586740" y="0"/>
                </a:lnTo>
              </a:path>
            </a:pathLst>
          </a:custGeom>
          <a:noFill/>
          <a:ln w="12802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n027"/>
          <p:cNvSpPr/>
          <p:nvPr/>
        </p:nvSpPr>
        <p:spPr>
          <a:xfrm>
            <a:off x="6240780" y="1706880"/>
            <a:ext cx="2080260" cy="586740"/>
          </a:xfrm>
          <a:prstGeom prst="rect">
            <a:avLst/>
          </a:prstGeom>
          <a:solidFill>
            <a:srgbClr val="D8E8F4"/>
          </a:solidFill>
          <a:ln w="96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n028: i_stream_to_mem"/>
          <p:cNvSpPr txBox="1"/>
          <p:nvPr/>
        </p:nvSpPr>
        <p:spPr>
          <a:xfrm>
            <a:off x="6715652" y="1744645"/>
            <a:ext cx="1130516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i_stream_to_mem</a:t>
            </a:r>
          </a:p>
        </p:txBody>
      </p:sp>
      <p:sp>
        <p:nvSpPr>
          <p:cNvPr id="29" name="n029: 在途计数 / 响应缓冲"/>
          <p:cNvSpPr txBox="1"/>
          <p:nvPr/>
        </p:nvSpPr>
        <p:spPr>
          <a:xfrm>
            <a:off x="6714168" y="1921947"/>
            <a:ext cx="1133483" cy="1792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2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在途计数 / 响应缓冲</a:t>
            </a:r>
          </a:p>
        </p:txBody>
      </p:sp>
      <p:sp>
        <p:nvSpPr>
          <p:cNvPr id="30" name="n030: BufDepth = 1"/>
          <p:cNvSpPr txBox="1"/>
          <p:nvPr/>
        </p:nvSpPr>
        <p:spPr>
          <a:xfrm>
            <a:off x="6897125" y="2081967"/>
            <a:ext cx="767571" cy="1792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2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BufDepth = 1</a:t>
            </a:r>
          </a:p>
        </p:txBody>
      </p:sp>
      <p:sp>
        <p:nvSpPr>
          <p:cNvPr id="31" name="n031"/>
          <p:cNvSpPr/>
          <p:nvPr/>
        </p:nvSpPr>
        <p:spPr>
          <a:xfrm>
            <a:off x="3573780" y="2000250"/>
            <a:ext cx="2667000" cy="1"/>
          </a:xfrm>
          <a:custGeom>
            <a:avLst/>
            <a:gdLst/>
            <a:ahLst/>
            <a:cxnLst/>
            <a:rect l="0" t="0" r="r" b="b"/>
            <a:pathLst>
              <a:path w="2667000" h="1" fill="none">
                <a:moveTo>
                  <a:pt x="0" y="0"/>
                </a:moveTo>
                <a:lnTo>
                  <a:pt x="2667000" y="0"/>
                </a:lnTo>
              </a:path>
            </a:pathLst>
          </a:custGeom>
          <a:noFill/>
          <a:ln w="12802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n032: meta + W.data / W.strb"/>
          <p:cNvSpPr txBox="1"/>
          <p:nvPr/>
        </p:nvSpPr>
        <p:spPr>
          <a:xfrm>
            <a:off x="4241726" y="1799265"/>
            <a:ext cx="1277768" cy="1792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2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meta + W.data / W.strb</a:t>
            </a:r>
          </a:p>
        </p:txBody>
      </p:sp>
      <p:sp>
        <p:nvSpPr>
          <p:cNvPr id="33" name="n033"/>
          <p:cNvSpPr/>
          <p:nvPr/>
        </p:nvSpPr>
        <p:spPr>
          <a:xfrm>
            <a:off x="5387340" y="1333500"/>
            <a:ext cx="853440" cy="453390"/>
          </a:xfrm>
          <a:custGeom>
            <a:avLst/>
            <a:gdLst/>
            <a:ahLst/>
            <a:cxnLst/>
            <a:rect l="0" t="0" r="r" b="b"/>
            <a:pathLst>
              <a:path w="853440" h="453390" fill="none">
                <a:moveTo>
                  <a:pt x="0" y="0"/>
                </a:moveTo>
                <a:lnTo>
                  <a:pt x="480060" y="0"/>
                </a:lnTo>
                <a:lnTo>
                  <a:pt x="480060" y="453390"/>
                </a:lnTo>
                <a:lnTo>
                  <a:pt x="853440" y="453390"/>
                </a:lnTo>
              </a:path>
            </a:pathLst>
          </a:custGeom>
          <a:noFill/>
          <a:ln w="12802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n034"/>
          <p:cNvSpPr/>
          <p:nvPr/>
        </p:nvSpPr>
        <p:spPr>
          <a:xfrm>
            <a:off x="9281160" y="1520190"/>
            <a:ext cx="2987040" cy="1040130"/>
          </a:xfrm>
          <a:prstGeom prst="rect">
            <a:avLst/>
          </a:prstGeom>
          <a:solidFill>
            <a:srgbClr val="D9EEE8"/>
          </a:solidFill>
          <a:ln w="96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n035: i_mem_to_banks"/>
          <p:cNvSpPr txBox="1"/>
          <p:nvPr/>
        </p:nvSpPr>
        <p:spPr>
          <a:xfrm>
            <a:off x="10236238" y="1704640"/>
            <a:ext cx="1076885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i_mem_to_banks</a:t>
            </a:r>
          </a:p>
        </p:txBody>
      </p:sp>
      <p:sp>
        <p:nvSpPr>
          <p:cNvPr id="36" name="n036: 按 8 B 对齐；两个 32-bit 子通路"/>
          <p:cNvSpPr txBox="1"/>
          <p:nvPr/>
        </p:nvSpPr>
        <p:spPr>
          <a:xfrm>
            <a:off x="9916969" y="1881942"/>
            <a:ext cx="1715423" cy="1792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2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按 8 B 对齐；两个 32-bit 子通路</a:t>
            </a:r>
          </a:p>
        </p:txBody>
      </p:sp>
      <p:sp>
        <p:nvSpPr>
          <p:cNvPr id="37" name="n037: 每路请求 FIFO = 1；响应 FIFO = 1"/>
          <p:cNvSpPr txBox="1"/>
          <p:nvPr/>
        </p:nvSpPr>
        <p:spPr>
          <a:xfrm>
            <a:off x="9881210" y="2041962"/>
            <a:ext cx="1786940" cy="1792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2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每路请求 FIFO = 1；响应 FIFO = 1</a:t>
            </a:r>
          </a:p>
        </p:txBody>
      </p:sp>
      <p:sp>
        <p:nvSpPr>
          <p:cNvPr id="38" name="n038: addr[i] = align8(addr) + 4×i"/>
          <p:cNvSpPr txBox="1"/>
          <p:nvPr/>
        </p:nvSpPr>
        <p:spPr>
          <a:xfrm>
            <a:off x="10057528" y="2201982"/>
            <a:ext cx="1434304" cy="1792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2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addr[i] = align8(addr) + 4×i</a:t>
            </a:r>
          </a:p>
        </p:txBody>
      </p:sp>
      <p:sp>
        <p:nvSpPr>
          <p:cNvPr id="39" name="n039"/>
          <p:cNvSpPr/>
          <p:nvPr/>
        </p:nvSpPr>
        <p:spPr>
          <a:xfrm>
            <a:off x="8321040" y="2000250"/>
            <a:ext cx="960120" cy="1"/>
          </a:xfrm>
          <a:custGeom>
            <a:avLst/>
            <a:gdLst/>
            <a:ahLst/>
            <a:cxnLst/>
            <a:rect l="0" t="0" r="r" b="b"/>
            <a:pathLst>
              <a:path w="960120" h="1" fill="none">
                <a:moveTo>
                  <a:pt x="0" y="0"/>
                </a:moveTo>
                <a:lnTo>
                  <a:pt x="960120" y="0"/>
                </a:lnTo>
              </a:path>
            </a:pathLst>
          </a:custGeom>
          <a:noFill/>
          <a:ln w="12802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n040: 64 bit"/>
          <p:cNvSpPr txBox="1"/>
          <p:nvPr/>
        </p:nvSpPr>
        <p:spPr>
          <a:xfrm>
            <a:off x="8572988" y="1799265"/>
            <a:ext cx="402884" cy="1792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2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64 bit</a:t>
            </a:r>
          </a:p>
        </p:txBody>
      </p:sp>
      <p:sp>
        <p:nvSpPr>
          <p:cNvPr id="41" name="n041"/>
          <p:cNvSpPr/>
          <p:nvPr/>
        </p:nvSpPr>
        <p:spPr>
          <a:xfrm>
            <a:off x="5227320" y="2853690"/>
            <a:ext cx="1920240" cy="453390"/>
          </a:xfrm>
          <a:prstGeom prst="rect">
            <a:avLst/>
          </a:prstGeom>
          <a:solidFill>
            <a:srgbClr val="D8E8F4"/>
          </a:solidFill>
          <a:ln w="96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n042: i_meta_buf"/>
          <p:cNvSpPr txBox="1"/>
          <p:nvPr/>
        </p:nvSpPr>
        <p:spPr>
          <a:xfrm>
            <a:off x="5829574" y="2910550"/>
            <a:ext cx="715731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i_meta_buf</a:t>
            </a:r>
          </a:p>
        </p:txBody>
      </p:sp>
      <p:sp>
        <p:nvSpPr>
          <p:cNvPr id="43" name="n043: 深度 2 · ID / size / last / …"/>
          <p:cNvSpPr txBox="1"/>
          <p:nvPr/>
        </p:nvSpPr>
        <p:spPr>
          <a:xfrm>
            <a:off x="5439767" y="3082092"/>
            <a:ext cx="1495345" cy="1792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2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深度 2 · ID / size / last / …</a:t>
            </a:r>
          </a:p>
        </p:txBody>
      </p:sp>
      <p:sp>
        <p:nvSpPr>
          <p:cNvPr id="44" name="n044"/>
          <p:cNvSpPr/>
          <p:nvPr/>
        </p:nvSpPr>
        <p:spPr>
          <a:xfrm>
            <a:off x="5275326" y="2901696"/>
            <a:ext cx="1" cy="357378"/>
          </a:xfrm>
          <a:custGeom>
            <a:avLst/>
            <a:gdLst/>
            <a:ahLst/>
            <a:cxnLst/>
            <a:rect l="0" t="0" r="r" b="b"/>
            <a:pathLst>
              <a:path w="1" h="357378" fill="none">
                <a:moveTo>
                  <a:pt x="0" y="0"/>
                </a:moveTo>
                <a:lnTo>
                  <a:pt x="0" y="357378"/>
                </a:lnTo>
              </a:path>
            </a:pathLst>
          </a:custGeom>
          <a:noFill/>
          <a:ln w="1280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n045"/>
          <p:cNvSpPr/>
          <p:nvPr/>
        </p:nvSpPr>
        <p:spPr>
          <a:xfrm>
            <a:off x="5317998" y="2901696"/>
            <a:ext cx="1" cy="357378"/>
          </a:xfrm>
          <a:custGeom>
            <a:avLst/>
            <a:gdLst/>
            <a:ahLst/>
            <a:cxnLst/>
            <a:rect l="0" t="0" r="r" b="b"/>
            <a:pathLst>
              <a:path w="1" h="357378" fill="none">
                <a:moveTo>
                  <a:pt x="0" y="0"/>
                </a:moveTo>
                <a:lnTo>
                  <a:pt x="0" y="357378"/>
                </a:lnTo>
              </a:path>
            </a:pathLst>
          </a:custGeom>
          <a:noFill/>
          <a:ln w="1280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n046"/>
          <p:cNvSpPr/>
          <p:nvPr/>
        </p:nvSpPr>
        <p:spPr>
          <a:xfrm>
            <a:off x="7840980" y="2853690"/>
            <a:ext cx="1920240" cy="453390"/>
          </a:xfrm>
          <a:prstGeom prst="rect">
            <a:avLst/>
          </a:prstGeom>
          <a:solidFill>
            <a:srgbClr val="D8E8F4"/>
          </a:solidFill>
          <a:ln w="96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n047: i_sel_buf"/>
          <p:cNvSpPr txBox="1"/>
          <p:nvPr/>
        </p:nvSpPr>
        <p:spPr>
          <a:xfrm>
            <a:off x="8499604" y="2910550"/>
            <a:ext cx="602992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i_sel_buf</a:t>
            </a:r>
          </a:p>
        </p:txBody>
      </p:sp>
      <p:sp>
        <p:nvSpPr>
          <p:cNvPr id="48" name="n048: 深度 2 · {sel_b, sel_r}"/>
          <p:cNvSpPr txBox="1"/>
          <p:nvPr/>
        </p:nvSpPr>
        <p:spPr>
          <a:xfrm>
            <a:off x="8219098" y="3082092"/>
            <a:ext cx="1164004" cy="1792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2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深度 2 · {sel_b, sel_r}</a:t>
            </a:r>
          </a:p>
        </p:txBody>
      </p:sp>
      <p:sp>
        <p:nvSpPr>
          <p:cNvPr id="49" name="n049"/>
          <p:cNvSpPr/>
          <p:nvPr/>
        </p:nvSpPr>
        <p:spPr>
          <a:xfrm>
            <a:off x="7888986" y="2901696"/>
            <a:ext cx="1" cy="357378"/>
          </a:xfrm>
          <a:custGeom>
            <a:avLst/>
            <a:gdLst/>
            <a:ahLst/>
            <a:cxnLst/>
            <a:rect l="0" t="0" r="r" b="b"/>
            <a:pathLst>
              <a:path w="1" h="357378" fill="none">
                <a:moveTo>
                  <a:pt x="0" y="0"/>
                </a:moveTo>
                <a:lnTo>
                  <a:pt x="0" y="357378"/>
                </a:lnTo>
              </a:path>
            </a:pathLst>
          </a:custGeom>
          <a:noFill/>
          <a:ln w="1280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n050"/>
          <p:cNvSpPr/>
          <p:nvPr/>
        </p:nvSpPr>
        <p:spPr>
          <a:xfrm>
            <a:off x="7931658" y="2901696"/>
            <a:ext cx="1" cy="357378"/>
          </a:xfrm>
          <a:custGeom>
            <a:avLst/>
            <a:gdLst/>
            <a:ahLst/>
            <a:cxnLst/>
            <a:rect l="0" t="0" r="r" b="b"/>
            <a:pathLst>
              <a:path w="1" h="357378" fill="none">
                <a:moveTo>
                  <a:pt x="0" y="0"/>
                </a:moveTo>
                <a:lnTo>
                  <a:pt x="0" y="357378"/>
                </a:lnTo>
              </a:path>
            </a:pathLst>
          </a:custGeom>
          <a:noFill/>
          <a:ln w="1280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n051"/>
          <p:cNvSpPr/>
          <p:nvPr/>
        </p:nvSpPr>
        <p:spPr>
          <a:xfrm>
            <a:off x="4352544" y="1653540"/>
            <a:ext cx="394716" cy="181356"/>
          </a:xfrm>
          <a:prstGeom prst="rect">
            <a:avLst/>
          </a:prstGeom>
          <a:solidFill>
            <a:srgbClr val="FFFFFF"/>
          </a:solidFill>
          <a:ln w="9601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n052: F0"/>
          <p:cNvSpPr txBox="1"/>
          <p:nvPr/>
        </p:nvSpPr>
        <p:spPr>
          <a:xfrm>
            <a:off x="4439001" y="1666342"/>
            <a:ext cx="221803" cy="17068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4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F0</a:t>
            </a:r>
          </a:p>
        </p:txBody>
      </p:sp>
      <p:sp>
        <p:nvSpPr>
          <p:cNvPr id="53" name="n053"/>
          <p:cNvSpPr/>
          <p:nvPr/>
        </p:nvSpPr>
        <p:spPr>
          <a:xfrm>
            <a:off x="4533900" y="1573530"/>
            <a:ext cx="1" cy="80010"/>
          </a:xfrm>
          <a:custGeom>
            <a:avLst/>
            <a:gdLst/>
            <a:ahLst/>
            <a:cxnLst/>
            <a:rect l="0" t="0" r="r" b="b"/>
            <a:pathLst>
              <a:path w="1" h="80010" fill="none">
                <a:moveTo>
                  <a:pt x="0" y="0"/>
                </a:moveTo>
                <a:lnTo>
                  <a:pt x="0" y="80010"/>
                </a:lnTo>
              </a:path>
            </a:pathLst>
          </a:custGeom>
          <a:noFill/>
          <a:ln w="12802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n054"/>
          <p:cNvSpPr/>
          <p:nvPr/>
        </p:nvSpPr>
        <p:spPr>
          <a:xfrm>
            <a:off x="4859274" y="1653540"/>
            <a:ext cx="394716" cy="181356"/>
          </a:xfrm>
          <a:prstGeom prst="rect">
            <a:avLst/>
          </a:prstGeom>
          <a:solidFill>
            <a:srgbClr val="FFFFFF"/>
          </a:solidFill>
          <a:ln w="9601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n055: F1"/>
          <p:cNvSpPr txBox="1"/>
          <p:nvPr/>
        </p:nvSpPr>
        <p:spPr>
          <a:xfrm>
            <a:off x="4945731" y="1666342"/>
            <a:ext cx="221803" cy="17068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4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F1</a:t>
            </a:r>
          </a:p>
        </p:txBody>
      </p:sp>
      <p:sp>
        <p:nvSpPr>
          <p:cNvPr id="56" name="n056"/>
          <p:cNvSpPr/>
          <p:nvPr/>
        </p:nvSpPr>
        <p:spPr>
          <a:xfrm>
            <a:off x="5040630" y="1573530"/>
            <a:ext cx="1" cy="80010"/>
          </a:xfrm>
          <a:custGeom>
            <a:avLst/>
            <a:gdLst/>
            <a:ahLst/>
            <a:cxnLst/>
            <a:rect l="0" t="0" r="r" b="b"/>
            <a:pathLst>
              <a:path w="1" h="80010" fill="none">
                <a:moveTo>
                  <a:pt x="0" y="0"/>
                </a:moveTo>
                <a:lnTo>
                  <a:pt x="0" y="80010"/>
                </a:lnTo>
              </a:path>
            </a:pathLst>
          </a:custGeom>
          <a:noFill/>
          <a:ln w="12802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n057"/>
          <p:cNvSpPr/>
          <p:nvPr/>
        </p:nvSpPr>
        <p:spPr>
          <a:xfrm>
            <a:off x="5963412" y="2560320"/>
            <a:ext cx="394716" cy="181356"/>
          </a:xfrm>
          <a:prstGeom prst="rect">
            <a:avLst/>
          </a:prstGeom>
          <a:solidFill>
            <a:srgbClr val="FFFFFF"/>
          </a:solidFill>
          <a:ln w="9601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n058: F0"/>
          <p:cNvSpPr txBox="1"/>
          <p:nvPr/>
        </p:nvSpPr>
        <p:spPr>
          <a:xfrm>
            <a:off x="6049869" y="2573122"/>
            <a:ext cx="221803" cy="17068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4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F0</a:t>
            </a:r>
          </a:p>
        </p:txBody>
      </p:sp>
      <p:sp>
        <p:nvSpPr>
          <p:cNvPr id="59" name="n059"/>
          <p:cNvSpPr/>
          <p:nvPr/>
        </p:nvSpPr>
        <p:spPr>
          <a:xfrm>
            <a:off x="6160770" y="2741676"/>
            <a:ext cx="1" cy="112014"/>
          </a:xfrm>
          <a:custGeom>
            <a:avLst/>
            <a:gdLst/>
            <a:ahLst/>
            <a:cxnLst/>
            <a:rect l="0" t="0" r="r" b="b"/>
            <a:pathLst>
              <a:path w="1" h="112014" fill="none">
                <a:moveTo>
                  <a:pt x="0" y="0"/>
                </a:moveTo>
                <a:lnTo>
                  <a:pt x="0" y="112014"/>
                </a:lnTo>
              </a:path>
            </a:pathLst>
          </a:custGeom>
          <a:noFill/>
          <a:ln w="12802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" name="n060"/>
          <p:cNvSpPr/>
          <p:nvPr/>
        </p:nvSpPr>
        <p:spPr>
          <a:xfrm>
            <a:off x="8577072" y="2560320"/>
            <a:ext cx="394716" cy="181356"/>
          </a:xfrm>
          <a:prstGeom prst="rect">
            <a:avLst/>
          </a:prstGeom>
          <a:solidFill>
            <a:srgbClr val="FFFFFF"/>
          </a:solidFill>
          <a:ln w="9601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" name="n061: F1"/>
          <p:cNvSpPr txBox="1"/>
          <p:nvPr/>
        </p:nvSpPr>
        <p:spPr>
          <a:xfrm>
            <a:off x="8663529" y="2573122"/>
            <a:ext cx="221803" cy="17068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4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F1</a:t>
            </a:r>
          </a:p>
        </p:txBody>
      </p:sp>
      <p:sp>
        <p:nvSpPr>
          <p:cNvPr id="62" name="n062"/>
          <p:cNvSpPr/>
          <p:nvPr/>
        </p:nvSpPr>
        <p:spPr>
          <a:xfrm>
            <a:off x="8774430" y="2741676"/>
            <a:ext cx="1" cy="112014"/>
          </a:xfrm>
          <a:custGeom>
            <a:avLst/>
            <a:gdLst/>
            <a:ahLst/>
            <a:cxnLst/>
            <a:rect l="0" t="0" r="r" b="b"/>
            <a:pathLst>
              <a:path w="1" h="112014" fill="none">
                <a:moveTo>
                  <a:pt x="0" y="0"/>
                </a:moveTo>
                <a:lnTo>
                  <a:pt x="0" y="112014"/>
                </a:lnTo>
              </a:path>
            </a:pathLst>
          </a:custGeom>
          <a:noFill/>
          <a:ln w="12802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3" name="n063: F0/F1：握手；FIFO 数据来自 meta"/>
          <p:cNvSpPr txBox="1"/>
          <p:nvPr/>
        </p:nvSpPr>
        <p:spPr>
          <a:xfrm>
            <a:off x="3883656" y="2332665"/>
            <a:ext cx="1833888" cy="1792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2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F0/F1：握手；FIFO 数据来自 meta</a:t>
            </a:r>
          </a:p>
        </p:txBody>
      </p:sp>
      <p:sp>
        <p:nvSpPr>
          <p:cNvPr id="64" name="n064"/>
          <p:cNvSpPr/>
          <p:nvPr/>
        </p:nvSpPr>
        <p:spPr>
          <a:xfrm>
            <a:off x="7254240" y="2987040"/>
            <a:ext cx="394716" cy="181356"/>
          </a:xfrm>
          <a:prstGeom prst="rect">
            <a:avLst/>
          </a:prstGeom>
          <a:solidFill>
            <a:srgbClr val="FFFFFF"/>
          </a:solidFill>
          <a:ln w="9601" cap="flat">
            <a:solidFill>
              <a:srgbClr val="187C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5" name="n065: META"/>
          <p:cNvSpPr txBox="1"/>
          <p:nvPr/>
        </p:nvSpPr>
        <p:spPr>
          <a:xfrm>
            <a:off x="7268183" y="2999842"/>
            <a:ext cx="366829" cy="17068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40" b="1" i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META</a:t>
            </a:r>
          </a:p>
        </p:txBody>
      </p:sp>
      <p:sp>
        <p:nvSpPr>
          <p:cNvPr id="66" name="n066"/>
          <p:cNvSpPr/>
          <p:nvPr/>
        </p:nvSpPr>
        <p:spPr>
          <a:xfrm>
            <a:off x="7147560" y="3077718"/>
            <a:ext cx="106680" cy="1"/>
          </a:xfrm>
          <a:custGeom>
            <a:avLst/>
            <a:gdLst/>
            <a:ahLst/>
            <a:cxnLst/>
            <a:rect l="0" t="0" r="r" b="b"/>
            <a:pathLst>
              <a:path w="106680" h="1" fill="none">
                <a:moveTo>
                  <a:pt x="0" y="0"/>
                </a:moveTo>
                <a:lnTo>
                  <a:pt x="106680" y="0"/>
                </a:lnTo>
              </a:path>
            </a:pathLst>
          </a:custGeom>
          <a:noFill/>
          <a:ln w="12802" cap="flat">
            <a:solidFill>
              <a:srgbClr val="187C7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7" name="n067"/>
          <p:cNvSpPr/>
          <p:nvPr/>
        </p:nvSpPr>
        <p:spPr>
          <a:xfrm>
            <a:off x="9921240" y="2987040"/>
            <a:ext cx="394716" cy="181356"/>
          </a:xfrm>
          <a:prstGeom prst="rect">
            <a:avLst/>
          </a:prstGeom>
          <a:solidFill>
            <a:srgbClr val="FFFFFF"/>
          </a:solidFill>
          <a:ln w="9601" cap="flat">
            <a:solidFill>
              <a:srgbClr val="187C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8" name="n068: RB"/>
          <p:cNvSpPr txBox="1"/>
          <p:nvPr/>
        </p:nvSpPr>
        <p:spPr>
          <a:xfrm>
            <a:off x="9999208" y="2999842"/>
            <a:ext cx="238780" cy="17068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40" b="1" i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RB</a:t>
            </a:r>
          </a:p>
        </p:txBody>
      </p:sp>
      <p:sp>
        <p:nvSpPr>
          <p:cNvPr id="69" name="n069"/>
          <p:cNvSpPr/>
          <p:nvPr/>
        </p:nvSpPr>
        <p:spPr>
          <a:xfrm>
            <a:off x="9761220" y="3077718"/>
            <a:ext cx="160020" cy="1"/>
          </a:xfrm>
          <a:custGeom>
            <a:avLst/>
            <a:gdLst/>
            <a:ahLst/>
            <a:cxnLst/>
            <a:rect l="0" t="0" r="r" b="b"/>
            <a:pathLst>
              <a:path w="160020" h="1" fill="none">
                <a:moveTo>
                  <a:pt x="0" y="0"/>
                </a:moveTo>
                <a:lnTo>
                  <a:pt x="160020" y="0"/>
                </a:lnTo>
              </a:path>
            </a:pathLst>
          </a:custGeom>
          <a:noFill/>
          <a:ln w="12802" cap="flat">
            <a:solidFill>
              <a:srgbClr val="187C7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0" name="n070"/>
          <p:cNvSpPr/>
          <p:nvPr/>
        </p:nvSpPr>
        <p:spPr>
          <a:xfrm>
            <a:off x="10774680" y="2560320"/>
            <a:ext cx="1" cy="213360"/>
          </a:xfrm>
          <a:custGeom>
            <a:avLst/>
            <a:gdLst/>
            <a:ahLst/>
            <a:cxnLst/>
            <a:rect l="0" t="0" r="r" b="b"/>
            <a:pathLst>
              <a:path w="1" h="213360" fill="none">
                <a:moveTo>
                  <a:pt x="0" y="0"/>
                </a:moveTo>
                <a:lnTo>
                  <a:pt x="0" y="213360"/>
                </a:lnTo>
              </a:path>
            </a:pathLst>
          </a:custGeom>
          <a:noFill/>
          <a:ln w="12802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1" name="n071"/>
          <p:cNvSpPr/>
          <p:nvPr/>
        </p:nvSpPr>
        <p:spPr>
          <a:xfrm>
            <a:off x="10577322" y="2773680"/>
            <a:ext cx="394716" cy="181356"/>
          </a:xfrm>
          <a:prstGeom prst="rect">
            <a:avLst/>
          </a:prstGeom>
          <a:solidFill>
            <a:srgbClr val="FFFFFF"/>
          </a:solidFill>
          <a:ln w="9601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2" name="n072: P0/1"/>
          <p:cNvSpPr txBox="1"/>
          <p:nvPr/>
        </p:nvSpPr>
        <p:spPr>
          <a:xfrm>
            <a:off x="10599812" y="2786482"/>
            <a:ext cx="349735" cy="17068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40" b="1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P0/1</a:t>
            </a:r>
          </a:p>
        </p:txBody>
      </p:sp>
      <p:sp>
        <p:nvSpPr>
          <p:cNvPr id="73" name="n073"/>
          <p:cNvSpPr/>
          <p:nvPr/>
        </p:nvSpPr>
        <p:spPr>
          <a:xfrm>
            <a:off x="11361420" y="2560320"/>
            <a:ext cx="1" cy="480060"/>
          </a:xfrm>
          <a:custGeom>
            <a:avLst/>
            <a:gdLst/>
            <a:ahLst/>
            <a:cxnLst/>
            <a:rect l="0" t="0" r="r" b="b"/>
            <a:pathLst>
              <a:path w="1" h="480060" fill="none">
                <a:moveTo>
                  <a:pt x="0" y="480060"/>
                </a:moveTo>
                <a:lnTo>
                  <a:pt x="0" y="0"/>
                </a:lnTo>
              </a:path>
            </a:pathLst>
          </a:custGeom>
          <a:noFill/>
          <a:ln w="12802" cap="flat">
            <a:solidFill>
              <a:srgbClr val="187C7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4" name="n074"/>
          <p:cNvSpPr/>
          <p:nvPr/>
        </p:nvSpPr>
        <p:spPr>
          <a:xfrm>
            <a:off x="11164062" y="3040380"/>
            <a:ext cx="394716" cy="181356"/>
          </a:xfrm>
          <a:prstGeom prst="rect">
            <a:avLst/>
          </a:prstGeom>
          <a:solidFill>
            <a:srgbClr val="FFFFFF"/>
          </a:solidFill>
          <a:ln w="9601" cap="flat">
            <a:solidFill>
              <a:srgbClr val="187C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5" name="n075: T0/1"/>
          <p:cNvSpPr txBox="1"/>
          <p:nvPr/>
        </p:nvSpPr>
        <p:spPr>
          <a:xfrm>
            <a:off x="11189732" y="3053182"/>
            <a:ext cx="343376" cy="17068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40" b="1" i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T0/1</a:t>
            </a:r>
          </a:p>
        </p:txBody>
      </p:sp>
      <p:sp>
        <p:nvSpPr>
          <p:cNvPr id="76" name="n076: P：请求 / gnt；T：返回 / rvalid"/>
          <p:cNvSpPr txBox="1"/>
          <p:nvPr/>
        </p:nvSpPr>
        <p:spPr>
          <a:xfrm>
            <a:off x="9976072" y="3298546"/>
            <a:ext cx="1597216" cy="17068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P：请求 / gnt；T：返回 / rvalid</a:t>
            </a:r>
          </a:p>
        </p:txBody>
      </p:sp>
      <p:sp>
        <p:nvSpPr>
          <p:cNvPr id="77" name="n077"/>
          <p:cNvSpPr/>
          <p:nvPr/>
        </p:nvSpPr>
        <p:spPr>
          <a:xfrm>
            <a:off x="213360" y="3733800"/>
            <a:ext cx="12374880" cy="3307080"/>
          </a:xfrm>
          <a:prstGeom prst="rect">
            <a:avLst/>
          </a:prstGeom>
          <a:solidFill>
            <a:srgbClr val="FAF8FB"/>
          </a:solidFill>
          <a:ln w="9601" cap="flat">
            <a:solidFill>
              <a:srgbClr val="645C5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8" name="n078: B  gen_tcdm_to_reg[i] × 2：32-bit 子请求 → 一"/>
          <p:cNvSpPr txBox="1"/>
          <p:nvPr/>
        </p:nvSpPr>
        <p:spPr>
          <a:xfrm>
            <a:off x="320040" y="3775619"/>
            <a:ext cx="4084427" cy="2304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  gen_tcdm_to_reg[i] × 2：32-bit 子请求 → 一个公共 Regbus</a:t>
            </a:r>
          </a:p>
        </p:txBody>
      </p:sp>
      <p:sp>
        <p:nvSpPr>
          <p:cNvPr id="79" name="n079"/>
          <p:cNvSpPr/>
          <p:nvPr/>
        </p:nvSpPr>
        <p:spPr>
          <a:xfrm>
            <a:off x="373380" y="4480560"/>
            <a:ext cx="394716" cy="181356"/>
          </a:xfrm>
          <a:prstGeom prst="rect">
            <a:avLst/>
          </a:prstGeom>
          <a:solidFill>
            <a:srgbClr val="FFFFFF"/>
          </a:solidFill>
          <a:ln w="9601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0" name="n080: P0"/>
          <p:cNvSpPr txBox="1"/>
          <p:nvPr/>
        </p:nvSpPr>
        <p:spPr>
          <a:xfrm>
            <a:off x="455565" y="4493362"/>
            <a:ext cx="230345" cy="17068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40" b="1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P0</a:t>
            </a:r>
          </a:p>
        </p:txBody>
      </p:sp>
      <p:sp>
        <p:nvSpPr>
          <p:cNvPr id="81" name="n081"/>
          <p:cNvSpPr/>
          <p:nvPr/>
        </p:nvSpPr>
        <p:spPr>
          <a:xfrm>
            <a:off x="768096" y="4571238"/>
            <a:ext cx="538734" cy="1"/>
          </a:xfrm>
          <a:custGeom>
            <a:avLst/>
            <a:gdLst/>
            <a:ahLst/>
            <a:cxnLst/>
            <a:rect l="0" t="0" r="r" b="b"/>
            <a:pathLst>
              <a:path w="538734" h="1" fill="none">
                <a:moveTo>
                  <a:pt x="0" y="0"/>
                </a:moveTo>
                <a:lnTo>
                  <a:pt x="538734" y="0"/>
                </a:lnTo>
              </a:path>
            </a:pathLst>
          </a:custGeom>
          <a:noFill/>
          <a:ln w="12802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2" name="n082"/>
          <p:cNvSpPr/>
          <p:nvPr/>
        </p:nvSpPr>
        <p:spPr>
          <a:xfrm>
            <a:off x="1306830" y="4320540"/>
            <a:ext cx="1653540" cy="506730"/>
          </a:xfrm>
          <a:prstGeom prst="rect">
            <a:avLst/>
          </a:prstGeom>
          <a:solidFill>
            <a:srgbClr val="D8E8F4"/>
          </a:solidFill>
          <a:ln w="96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3" name="n083: i_mem_req_spill"/>
          <p:cNvSpPr txBox="1"/>
          <p:nvPr/>
        </p:nvSpPr>
        <p:spPr>
          <a:xfrm>
            <a:off x="1637292" y="4404070"/>
            <a:ext cx="992616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i_mem_req_spill</a:t>
            </a:r>
          </a:p>
        </p:txBody>
      </p:sp>
      <p:sp>
        <p:nvSpPr>
          <p:cNvPr id="84" name="n084: CutMemReqs = 1（默认）"/>
          <p:cNvSpPr txBox="1"/>
          <p:nvPr/>
        </p:nvSpPr>
        <p:spPr>
          <a:xfrm>
            <a:off x="1423940" y="4575612"/>
            <a:ext cx="1419319" cy="1792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2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CutMemReqs = 1（默认）</a:t>
            </a:r>
          </a:p>
        </p:txBody>
      </p:sp>
      <p:sp>
        <p:nvSpPr>
          <p:cNvPr id="85" name="n085"/>
          <p:cNvSpPr/>
          <p:nvPr/>
        </p:nvSpPr>
        <p:spPr>
          <a:xfrm>
            <a:off x="1354836" y="4368546"/>
            <a:ext cx="1" cy="410718"/>
          </a:xfrm>
          <a:custGeom>
            <a:avLst/>
            <a:gdLst/>
            <a:ahLst/>
            <a:cxnLst/>
            <a:rect l="0" t="0" r="r" b="b"/>
            <a:pathLst>
              <a:path w="1" h="410718" fill="none">
                <a:moveTo>
                  <a:pt x="0" y="0"/>
                </a:moveTo>
                <a:lnTo>
                  <a:pt x="0" y="410718"/>
                </a:lnTo>
              </a:path>
            </a:pathLst>
          </a:custGeom>
          <a:noFill/>
          <a:ln w="1280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6" name="n086"/>
          <p:cNvSpPr/>
          <p:nvPr/>
        </p:nvSpPr>
        <p:spPr>
          <a:xfrm>
            <a:off x="1397508" y="4368546"/>
            <a:ext cx="1" cy="410718"/>
          </a:xfrm>
          <a:custGeom>
            <a:avLst/>
            <a:gdLst/>
            <a:ahLst/>
            <a:cxnLst/>
            <a:rect l="0" t="0" r="r" b="b"/>
            <a:pathLst>
              <a:path w="1" h="410718" fill="none">
                <a:moveTo>
                  <a:pt x="0" y="0"/>
                </a:moveTo>
                <a:lnTo>
                  <a:pt x="0" y="410718"/>
                </a:lnTo>
              </a:path>
            </a:pathLst>
          </a:custGeom>
          <a:noFill/>
          <a:ln w="1280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7" name="n087"/>
          <p:cNvSpPr/>
          <p:nvPr/>
        </p:nvSpPr>
        <p:spPr>
          <a:xfrm>
            <a:off x="3493770" y="4320540"/>
            <a:ext cx="1893570" cy="506730"/>
          </a:xfrm>
          <a:prstGeom prst="rect">
            <a:avLst/>
          </a:prstGeom>
          <a:solidFill>
            <a:srgbClr val="D8E8F4"/>
          </a:solidFill>
          <a:ln w="96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8" name="n088: i_periph_to_reg"/>
          <p:cNvSpPr txBox="1"/>
          <p:nvPr/>
        </p:nvSpPr>
        <p:spPr>
          <a:xfrm>
            <a:off x="3949556" y="4398310"/>
            <a:ext cx="981998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i_periph_to_reg</a:t>
            </a:r>
          </a:p>
        </p:txBody>
      </p:sp>
      <p:sp>
        <p:nvSpPr>
          <p:cNvPr id="89" name="n089: 请求直通；响应寄存器见 C"/>
          <p:cNvSpPr txBox="1"/>
          <p:nvPr/>
        </p:nvSpPr>
        <p:spPr>
          <a:xfrm>
            <a:off x="3717006" y="4575612"/>
            <a:ext cx="1447098" cy="1792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2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请求直通；响应寄存器见 C</a:t>
            </a:r>
          </a:p>
        </p:txBody>
      </p:sp>
      <p:sp>
        <p:nvSpPr>
          <p:cNvPr id="90" name="n090"/>
          <p:cNvSpPr/>
          <p:nvPr/>
        </p:nvSpPr>
        <p:spPr>
          <a:xfrm>
            <a:off x="2960370" y="4571238"/>
            <a:ext cx="533400" cy="1"/>
          </a:xfrm>
          <a:custGeom>
            <a:avLst/>
            <a:gdLst/>
            <a:ahLst/>
            <a:cxnLst/>
            <a:rect l="0" t="0" r="r" b="b"/>
            <a:pathLst>
              <a:path w="533400" h="1" fill="none">
                <a:moveTo>
                  <a:pt x="0" y="0"/>
                </a:moveTo>
                <a:lnTo>
                  <a:pt x="533400" y="0"/>
                </a:lnTo>
              </a:path>
            </a:pathLst>
          </a:custGeom>
          <a:noFill/>
          <a:ln w="12802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1" name="n091: 32 bit"/>
          <p:cNvSpPr txBox="1"/>
          <p:nvPr/>
        </p:nvSpPr>
        <p:spPr>
          <a:xfrm>
            <a:off x="2987211" y="4354678"/>
            <a:ext cx="383706" cy="17068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32 bit</a:t>
            </a:r>
          </a:p>
        </p:txBody>
      </p:sp>
      <p:sp>
        <p:nvSpPr>
          <p:cNvPr id="92" name="n092"/>
          <p:cNvSpPr/>
          <p:nvPr/>
        </p:nvSpPr>
        <p:spPr>
          <a:xfrm>
            <a:off x="5920740" y="4320540"/>
            <a:ext cx="2026920" cy="506730"/>
          </a:xfrm>
          <a:prstGeom prst="rect">
            <a:avLst/>
          </a:prstGeom>
          <a:solidFill>
            <a:srgbClr val="E8DFED"/>
          </a:solidFill>
          <a:ln w="96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3" name="n093: 零写过滤 · reg_demux(2)"/>
          <p:cNvSpPr txBox="1"/>
          <p:nvPr/>
        </p:nvSpPr>
        <p:spPr>
          <a:xfrm>
            <a:off x="6180668" y="4398310"/>
            <a:ext cx="1507063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零写过滤 · reg_demux(2)</a:t>
            </a:r>
          </a:p>
        </p:txBody>
      </p:sp>
      <p:sp>
        <p:nvSpPr>
          <p:cNvPr id="94" name="n094: Z = write &amp; (wstrb == 0)"/>
          <p:cNvSpPr txBox="1"/>
          <p:nvPr/>
        </p:nvSpPr>
        <p:spPr>
          <a:xfrm>
            <a:off x="6293024" y="4575612"/>
            <a:ext cx="1282352" cy="1792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2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Z = write &amp; (wstrb == 0)</a:t>
            </a:r>
          </a:p>
        </p:txBody>
      </p:sp>
      <p:sp>
        <p:nvSpPr>
          <p:cNvPr id="95" name="n095"/>
          <p:cNvSpPr/>
          <p:nvPr/>
        </p:nvSpPr>
        <p:spPr>
          <a:xfrm>
            <a:off x="5387340" y="4571238"/>
            <a:ext cx="533400" cy="1"/>
          </a:xfrm>
          <a:custGeom>
            <a:avLst/>
            <a:gdLst/>
            <a:ahLst/>
            <a:cxnLst/>
            <a:rect l="0" t="0" r="r" b="b"/>
            <a:pathLst>
              <a:path w="533400" h="1" fill="none">
                <a:moveTo>
                  <a:pt x="0" y="0"/>
                </a:moveTo>
                <a:lnTo>
                  <a:pt x="533400" y="0"/>
                </a:lnTo>
              </a:path>
            </a:pathLst>
          </a:custGeom>
          <a:noFill/>
          <a:ln w="12802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6" name="n096"/>
          <p:cNvSpPr/>
          <p:nvPr/>
        </p:nvSpPr>
        <p:spPr>
          <a:xfrm>
            <a:off x="7947660" y="4496562"/>
            <a:ext cx="1493520" cy="357378"/>
          </a:xfrm>
          <a:custGeom>
            <a:avLst/>
            <a:gdLst/>
            <a:ahLst/>
            <a:cxnLst/>
            <a:rect l="0" t="0" r="r" b="b"/>
            <a:pathLst>
              <a:path w="1493520" h="357378" fill="none">
                <a:moveTo>
                  <a:pt x="0" y="0"/>
                </a:moveTo>
                <a:lnTo>
                  <a:pt x="1066800" y="0"/>
                </a:lnTo>
                <a:lnTo>
                  <a:pt x="1066800" y="357378"/>
                </a:lnTo>
                <a:lnTo>
                  <a:pt x="1493520" y="357378"/>
                </a:lnTo>
              </a:path>
            </a:pathLst>
          </a:custGeom>
          <a:noFill/>
          <a:ln w="12802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7" name="n097: Z=0：正常请求"/>
          <p:cNvSpPr txBox="1"/>
          <p:nvPr/>
        </p:nvSpPr>
        <p:spPr>
          <a:xfrm>
            <a:off x="8014960" y="4280002"/>
            <a:ext cx="825520" cy="17068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Z=0：正常请求</a:t>
            </a:r>
          </a:p>
        </p:txBody>
      </p:sp>
      <p:sp>
        <p:nvSpPr>
          <p:cNvPr id="98" name="n098"/>
          <p:cNvSpPr/>
          <p:nvPr/>
        </p:nvSpPr>
        <p:spPr>
          <a:xfrm>
            <a:off x="6080760" y="5093970"/>
            <a:ext cx="1813560" cy="346710"/>
          </a:xfrm>
          <a:prstGeom prst="rect">
            <a:avLst/>
          </a:prstGeom>
          <a:solidFill>
            <a:srgbClr val="D9EEE8"/>
          </a:solidFill>
          <a:ln w="96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9" name="n099: Z=1：本地成功响应"/>
          <p:cNvSpPr txBox="1"/>
          <p:nvPr/>
        </p:nvSpPr>
        <p:spPr>
          <a:xfrm>
            <a:off x="6442126" y="5109012"/>
            <a:ext cx="1090828" cy="1792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2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Z=1：本地成功响应</a:t>
            </a:r>
          </a:p>
        </p:txBody>
      </p:sp>
      <p:sp>
        <p:nvSpPr>
          <p:cNvPr id="100" name="n100: ready=1 / error=0 / rdata=0"/>
          <p:cNvSpPr txBox="1"/>
          <p:nvPr/>
        </p:nvSpPr>
        <p:spPr>
          <a:xfrm>
            <a:off x="6232312" y="5269032"/>
            <a:ext cx="1510455" cy="1792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2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ready=1 / error=0 / rdata=0</a:t>
            </a:r>
          </a:p>
        </p:txBody>
      </p:sp>
      <p:sp>
        <p:nvSpPr>
          <p:cNvPr id="101" name="n101"/>
          <p:cNvSpPr/>
          <p:nvPr/>
        </p:nvSpPr>
        <p:spPr>
          <a:xfrm>
            <a:off x="6934200" y="4827270"/>
            <a:ext cx="1" cy="266700"/>
          </a:xfrm>
          <a:custGeom>
            <a:avLst/>
            <a:gdLst/>
            <a:ahLst/>
            <a:cxnLst/>
            <a:rect l="0" t="0" r="r" b="b"/>
            <a:pathLst>
              <a:path w="1" h="266700" fill="none">
                <a:moveTo>
                  <a:pt x="0" y="0"/>
                </a:moveTo>
                <a:lnTo>
                  <a:pt x="0" y="266700"/>
                </a:lnTo>
              </a:path>
            </a:pathLst>
          </a:custGeom>
          <a:noFill/>
          <a:ln w="12802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" name="n102"/>
          <p:cNvSpPr/>
          <p:nvPr/>
        </p:nvSpPr>
        <p:spPr>
          <a:xfrm>
            <a:off x="8177022" y="4987290"/>
            <a:ext cx="394716" cy="181356"/>
          </a:xfrm>
          <a:prstGeom prst="rect">
            <a:avLst/>
          </a:prstGeom>
          <a:solidFill>
            <a:srgbClr val="FFFFFF"/>
          </a:solidFill>
          <a:ln w="9601" cap="flat">
            <a:solidFill>
              <a:srgbClr val="187C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" name="n103: R0"/>
          <p:cNvSpPr txBox="1"/>
          <p:nvPr/>
        </p:nvSpPr>
        <p:spPr>
          <a:xfrm>
            <a:off x="8256032" y="5000092"/>
            <a:ext cx="236696" cy="17068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40" b="1" i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R0</a:t>
            </a:r>
          </a:p>
        </p:txBody>
      </p:sp>
      <p:sp>
        <p:nvSpPr>
          <p:cNvPr id="104" name="n104"/>
          <p:cNvSpPr/>
          <p:nvPr/>
        </p:nvSpPr>
        <p:spPr>
          <a:xfrm>
            <a:off x="7947660" y="4720590"/>
            <a:ext cx="426720" cy="266700"/>
          </a:xfrm>
          <a:custGeom>
            <a:avLst/>
            <a:gdLst/>
            <a:ahLst/>
            <a:cxnLst/>
            <a:rect l="0" t="0" r="r" b="b"/>
            <a:pathLst>
              <a:path w="426720" h="266700" fill="none">
                <a:moveTo>
                  <a:pt x="426720" y="266700"/>
                </a:moveTo>
                <a:lnTo>
                  <a:pt x="426720" y="0"/>
                </a:lnTo>
                <a:lnTo>
                  <a:pt x="0" y="0"/>
                </a:lnTo>
              </a:path>
            </a:pathLst>
          </a:custGeom>
          <a:noFill/>
          <a:ln w="12802" cap="flat">
            <a:solidFill>
              <a:srgbClr val="187C7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" name="n105"/>
          <p:cNvSpPr/>
          <p:nvPr/>
        </p:nvSpPr>
        <p:spPr>
          <a:xfrm>
            <a:off x="5760720" y="4784598"/>
            <a:ext cx="320040" cy="485394"/>
          </a:xfrm>
          <a:custGeom>
            <a:avLst/>
            <a:gdLst/>
            <a:ahLst/>
            <a:cxnLst/>
            <a:rect l="0" t="0" r="r" b="b"/>
            <a:pathLst>
              <a:path w="320040" h="485394" fill="none">
                <a:moveTo>
                  <a:pt x="320040" y="485394"/>
                </a:moveTo>
                <a:lnTo>
                  <a:pt x="0" y="485394"/>
                </a:lnTo>
                <a:lnTo>
                  <a:pt x="0" y="0"/>
                </a:lnTo>
                <a:lnTo>
                  <a:pt x="160020" y="0"/>
                </a:lnTo>
              </a:path>
            </a:pathLst>
          </a:custGeom>
          <a:noFill/>
          <a:ln w="12802" cap="flat">
            <a:solidFill>
              <a:srgbClr val="187C7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" name="n106"/>
          <p:cNvSpPr/>
          <p:nvPr/>
        </p:nvSpPr>
        <p:spPr>
          <a:xfrm>
            <a:off x="4453890" y="4720590"/>
            <a:ext cx="1466850" cy="250698"/>
          </a:xfrm>
          <a:custGeom>
            <a:avLst/>
            <a:gdLst/>
            <a:ahLst/>
            <a:cxnLst/>
            <a:rect l="0" t="0" r="r" b="b"/>
            <a:pathLst>
              <a:path w="1466850" h="250698" fill="none">
                <a:moveTo>
                  <a:pt x="1466850" y="0"/>
                </a:moveTo>
                <a:lnTo>
                  <a:pt x="1146810" y="0"/>
                </a:lnTo>
                <a:lnTo>
                  <a:pt x="1146810" y="250698"/>
                </a:lnTo>
                <a:lnTo>
                  <a:pt x="0" y="250698"/>
                </a:lnTo>
                <a:lnTo>
                  <a:pt x="0" y="106680"/>
                </a:lnTo>
              </a:path>
            </a:pathLst>
          </a:custGeom>
          <a:noFill/>
          <a:ln w="12802" cap="flat">
            <a:solidFill>
              <a:srgbClr val="187C7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7" name="n107: reg_rsp[i]"/>
          <p:cNvSpPr txBox="1"/>
          <p:nvPr/>
        </p:nvSpPr>
        <p:spPr>
          <a:xfrm>
            <a:off x="4730112" y="4829830"/>
            <a:ext cx="514356" cy="16215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8" b="0" i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reg_rsp[i]</a:t>
            </a:r>
          </a:p>
        </p:txBody>
      </p:sp>
      <p:sp>
        <p:nvSpPr>
          <p:cNvPr id="108" name="n108"/>
          <p:cNvSpPr/>
          <p:nvPr/>
        </p:nvSpPr>
        <p:spPr>
          <a:xfrm>
            <a:off x="2880360" y="4693920"/>
            <a:ext cx="613410" cy="496062"/>
          </a:xfrm>
          <a:custGeom>
            <a:avLst/>
            <a:gdLst/>
            <a:ahLst/>
            <a:cxnLst/>
            <a:rect l="0" t="0" r="r" b="b"/>
            <a:pathLst>
              <a:path w="613410" h="496062" fill="none">
                <a:moveTo>
                  <a:pt x="613410" y="0"/>
                </a:moveTo>
                <a:lnTo>
                  <a:pt x="400050" y="0"/>
                </a:lnTo>
                <a:lnTo>
                  <a:pt x="400050" y="496062"/>
                </a:lnTo>
                <a:lnTo>
                  <a:pt x="0" y="496062"/>
                </a:lnTo>
              </a:path>
            </a:pathLst>
          </a:custGeom>
          <a:noFill/>
          <a:ln w="12802" cap="flat">
            <a:solidFill>
              <a:srgbClr val="187C7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" name="n109"/>
          <p:cNvSpPr/>
          <p:nvPr/>
        </p:nvSpPr>
        <p:spPr>
          <a:xfrm>
            <a:off x="1306830" y="5029962"/>
            <a:ext cx="1573530" cy="320040"/>
          </a:xfrm>
          <a:prstGeom prst="rect">
            <a:avLst/>
          </a:prstGeom>
          <a:solidFill>
            <a:srgbClr val="FFFFFF"/>
          </a:solidFill>
          <a:ln w="96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" name="n110: i_mem_rsp_spill：旁路"/>
          <p:cNvSpPr txBox="1"/>
          <p:nvPr/>
        </p:nvSpPr>
        <p:spPr>
          <a:xfrm>
            <a:off x="1473513" y="5031669"/>
            <a:ext cx="1240163" cy="1792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2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i_mem_rsp_spill：旁路</a:t>
            </a:r>
          </a:p>
        </p:txBody>
      </p:sp>
      <p:sp>
        <p:nvSpPr>
          <p:cNvPr id="111" name="n111: CutMemRsps = 0"/>
          <p:cNvSpPr txBox="1"/>
          <p:nvPr/>
        </p:nvSpPr>
        <p:spPr>
          <a:xfrm>
            <a:off x="1609055" y="5191689"/>
            <a:ext cx="969079" cy="1792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2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CutMemRsps = 0</a:t>
            </a:r>
          </a:p>
        </p:txBody>
      </p:sp>
      <p:sp>
        <p:nvSpPr>
          <p:cNvPr id="112" name="n112"/>
          <p:cNvSpPr/>
          <p:nvPr/>
        </p:nvSpPr>
        <p:spPr>
          <a:xfrm>
            <a:off x="773430" y="5189982"/>
            <a:ext cx="533400" cy="1"/>
          </a:xfrm>
          <a:custGeom>
            <a:avLst/>
            <a:gdLst/>
            <a:ahLst/>
            <a:cxnLst/>
            <a:rect l="0" t="0" r="r" b="b"/>
            <a:pathLst>
              <a:path w="533400" h="1" fill="none">
                <a:moveTo>
                  <a:pt x="533400" y="0"/>
                </a:moveTo>
                <a:lnTo>
                  <a:pt x="0" y="0"/>
                </a:lnTo>
              </a:path>
            </a:pathLst>
          </a:custGeom>
          <a:noFill/>
          <a:ln w="12802" cap="flat">
            <a:solidFill>
              <a:srgbClr val="187C7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3" name="n113"/>
          <p:cNvSpPr/>
          <p:nvPr/>
        </p:nvSpPr>
        <p:spPr>
          <a:xfrm>
            <a:off x="378714" y="5099304"/>
            <a:ext cx="394716" cy="181356"/>
          </a:xfrm>
          <a:prstGeom prst="rect">
            <a:avLst/>
          </a:prstGeom>
          <a:solidFill>
            <a:srgbClr val="FFFFFF"/>
          </a:solidFill>
          <a:ln w="9601" cap="flat">
            <a:solidFill>
              <a:srgbClr val="187C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4" name="n114: T0"/>
          <p:cNvSpPr txBox="1"/>
          <p:nvPr/>
        </p:nvSpPr>
        <p:spPr>
          <a:xfrm>
            <a:off x="464079" y="5112106"/>
            <a:ext cx="223986" cy="17068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40" b="1" i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T0</a:t>
            </a:r>
          </a:p>
        </p:txBody>
      </p:sp>
      <p:sp>
        <p:nvSpPr>
          <p:cNvPr id="115" name="n115"/>
          <p:cNvSpPr/>
          <p:nvPr/>
        </p:nvSpPr>
        <p:spPr>
          <a:xfrm>
            <a:off x="373380" y="5814060"/>
            <a:ext cx="394716" cy="181356"/>
          </a:xfrm>
          <a:prstGeom prst="rect">
            <a:avLst/>
          </a:prstGeom>
          <a:solidFill>
            <a:srgbClr val="FFFFFF"/>
          </a:solidFill>
          <a:ln w="9601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6" name="n116: P1"/>
          <p:cNvSpPr txBox="1"/>
          <p:nvPr/>
        </p:nvSpPr>
        <p:spPr>
          <a:xfrm>
            <a:off x="455565" y="5826862"/>
            <a:ext cx="230345" cy="17068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40" b="1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P1</a:t>
            </a:r>
          </a:p>
        </p:txBody>
      </p:sp>
      <p:sp>
        <p:nvSpPr>
          <p:cNvPr id="117" name="n117"/>
          <p:cNvSpPr/>
          <p:nvPr/>
        </p:nvSpPr>
        <p:spPr>
          <a:xfrm>
            <a:off x="768096" y="5904738"/>
            <a:ext cx="538734" cy="1"/>
          </a:xfrm>
          <a:custGeom>
            <a:avLst/>
            <a:gdLst/>
            <a:ahLst/>
            <a:cxnLst/>
            <a:rect l="0" t="0" r="r" b="b"/>
            <a:pathLst>
              <a:path w="538734" h="1" fill="none">
                <a:moveTo>
                  <a:pt x="0" y="0"/>
                </a:moveTo>
                <a:lnTo>
                  <a:pt x="538734" y="0"/>
                </a:lnTo>
              </a:path>
            </a:pathLst>
          </a:custGeom>
          <a:noFill/>
          <a:ln w="12802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" name="n118"/>
          <p:cNvSpPr/>
          <p:nvPr/>
        </p:nvSpPr>
        <p:spPr>
          <a:xfrm>
            <a:off x="1306830" y="5654040"/>
            <a:ext cx="1653540" cy="506730"/>
          </a:xfrm>
          <a:prstGeom prst="rect">
            <a:avLst/>
          </a:prstGeom>
          <a:solidFill>
            <a:srgbClr val="D8E8F4"/>
          </a:solidFill>
          <a:ln w="96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9" name="n119: i_mem_req_spill"/>
          <p:cNvSpPr txBox="1"/>
          <p:nvPr/>
        </p:nvSpPr>
        <p:spPr>
          <a:xfrm>
            <a:off x="1637292" y="5737570"/>
            <a:ext cx="992616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i_mem_req_spill</a:t>
            </a:r>
          </a:p>
        </p:txBody>
      </p:sp>
      <p:sp>
        <p:nvSpPr>
          <p:cNvPr id="120" name="n120: CutMemReqs = 1（默认）"/>
          <p:cNvSpPr txBox="1"/>
          <p:nvPr/>
        </p:nvSpPr>
        <p:spPr>
          <a:xfrm>
            <a:off x="1423940" y="5909112"/>
            <a:ext cx="1419319" cy="1792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2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CutMemReqs = 1（默认）</a:t>
            </a:r>
          </a:p>
        </p:txBody>
      </p:sp>
      <p:sp>
        <p:nvSpPr>
          <p:cNvPr id="121" name="n121"/>
          <p:cNvSpPr/>
          <p:nvPr/>
        </p:nvSpPr>
        <p:spPr>
          <a:xfrm>
            <a:off x="1354836" y="5702046"/>
            <a:ext cx="1" cy="410718"/>
          </a:xfrm>
          <a:custGeom>
            <a:avLst/>
            <a:gdLst/>
            <a:ahLst/>
            <a:cxnLst/>
            <a:rect l="0" t="0" r="r" b="b"/>
            <a:pathLst>
              <a:path w="1" h="410718" fill="none">
                <a:moveTo>
                  <a:pt x="0" y="0"/>
                </a:moveTo>
                <a:lnTo>
                  <a:pt x="0" y="410718"/>
                </a:lnTo>
              </a:path>
            </a:pathLst>
          </a:custGeom>
          <a:noFill/>
          <a:ln w="1280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2" name="n122"/>
          <p:cNvSpPr/>
          <p:nvPr/>
        </p:nvSpPr>
        <p:spPr>
          <a:xfrm>
            <a:off x="1397508" y="5702046"/>
            <a:ext cx="1" cy="410718"/>
          </a:xfrm>
          <a:custGeom>
            <a:avLst/>
            <a:gdLst/>
            <a:ahLst/>
            <a:cxnLst/>
            <a:rect l="0" t="0" r="r" b="b"/>
            <a:pathLst>
              <a:path w="1" h="410718" fill="none">
                <a:moveTo>
                  <a:pt x="0" y="0"/>
                </a:moveTo>
                <a:lnTo>
                  <a:pt x="0" y="410718"/>
                </a:lnTo>
              </a:path>
            </a:pathLst>
          </a:custGeom>
          <a:noFill/>
          <a:ln w="1280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3" name="n123"/>
          <p:cNvSpPr/>
          <p:nvPr/>
        </p:nvSpPr>
        <p:spPr>
          <a:xfrm>
            <a:off x="3493770" y="5654040"/>
            <a:ext cx="1893570" cy="506730"/>
          </a:xfrm>
          <a:prstGeom prst="rect">
            <a:avLst/>
          </a:prstGeom>
          <a:solidFill>
            <a:srgbClr val="D8E8F4"/>
          </a:solidFill>
          <a:ln w="96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4" name="n124: i_periph_to_reg"/>
          <p:cNvSpPr txBox="1"/>
          <p:nvPr/>
        </p:nvSpPr>
        <p:spPr>
          <a:xfrm>
            <a:off x="3949556" y="5731810"/>
            <a:ext cx="981998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i_periph_to_reg</a:t>
            </a:r>
          </a:p>
        </p:txBody>
      </p:sp>
      <p:sp>
        <p:nvSpPr>
          <p:cNvPr id="125" name="n125: 请求直通；响应寄存器见 C"/>
          <p:cNvSpPr txBox="1"/>
          <p:nvPr/>
        </p:nvSpPr>
        <p:spPr>
          <a:xfrm>
            <a:off x="3717006" y="5909112"/>
            <a:ext cx="1447098" cy="1792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2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请求直通；响应寄存器见 C</a:t>
            </a:r>
          </a:p>
        </p:txBody>
      </p:sp>
      <p:sp>
        <p:nvSpPr>
          <p:cNvPr id="126" name="n126"/>
          <p:cNvSpPr/>
          <p:nvPr/>
        </p:nvSpPr>
        <p:spPr>
          <a:xfrm>
            <a:off x="2960370" y="5904738"/>
            <a:ext cx="533400" cy="1"/>
          </a:xfrm>
          <a:custGeom>
            <a:avLst/>
            <a:gdLst/>
            <a:ahLst/>
            <a:cxnLst/>
            <a:rect l="0" t="0" r="r" b="b"/>
            <a:pathLst>
              <a:path w="533400" h="1" fill="none">
                <a:moveTo>
                  <a:pt x="0" y="0"/>
                </a:moveTo>
                <a:lnTo>
                  <a:pt x="533400" y="0"/>
                </a:lnTo>
              </a:path>
            </a:pathLst>
          </a:custGeom>
          <a:noFill/>
          <a:ln w="12802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7" name="n127: 32 bit"/>
          <p:cNvSpPr txBox="1"/>
          <p:nvPr/>
        </p:nvSpPr>
        <p:spPr>
          <a:xfrm>
            <a:off x="2987211" y="5688178"/>
            <a:ext cx="383706" cy="17068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32 bit</a:t>
            </a:r>
          </a:p>
        </p:txBody>
      </p:sp>
      <p:sp>
        <p:nvSpPr>
          <p:cNvPr id="128" name="n128"/>
          <p:cNvSpPr/>
          <p:nvPr/>
        </p:nvSpPr>
        <p:spPr>
          <a:xfrm>
            <a:off x="5920740" y="5654040"/>
            <a:ext cx="2026920" cy="506730"/>
          </a:xfrm>
          <a:prstGeom prst="rect">
            <a:avLst/>
          </a:prstGeom>
          <a:solidFill>
            <a:srgbClr val="E8DFED"/>
          </a:solidFill>
          <a:ln w="96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9" name="n129: 零写过滤 · reg_demux(2)"/>
          <p:cNvSpPr txBox="1"/>
          <p:nvPr/>
        </p:nvSpPr>
        <p:spPr>
          <a:xfrm>
            <a:off x="6180668" y="5731810"/>
            <a:ext cx="1507063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零写过滤 · reg_demux(2)</a:t>
            </a:r>
          </a:p>
        </p:txBody>
      </p:sp>
      <p:sp>
        <p:nvSpPr>
          <p:cNvPr id="130" name="n130: Z = write &amp; (wstrb == 0)"/>
          <p:cNvSpPr txBox="1"/>
          <p:nvPr/>
        </p:nvSpPr>
        <p:spPr>
          <a:xfrm>
            <a:off x="6293024" y="5909112"/>
            <a:ext cx="1282352" cy="1792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2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Z = write &amp; (wstrb == 0)</a:t>
            </a:r>
          </a:p>
        </p:txBody>
      </p:sp>
      <p:sp>
        <p:nvSpPr>
          <p:cNvPr id="131" name="n131"/>
          <p:cNvSpPr/>
          <p:nvPr/>
        </p:nvSpPr>
        <p:spPr>
          <a:xfrm>
            <a:off x="5387340" y="5904738"/>
            <a:ext cx="533400" cy="1"/>
          </a:xfrm>
          <a:custGeom>
            <a:avLst/>
            <a:gdLst/>
            <a:ahLst/>
            <a:cxnLst/>
            <a:rect l="0" t="0" r="r" b="b"/>
            <a:pathLst>
              <a:path w="533400" h="1" fill="none">
                <a:moveTo>
                  <a:pt x="0" y="0"/>
                </a:moveTo>
                <a:lnTo>
                  <a:pt x="533400" y="0"/>
                </a:lnTo>
              </a:path>
            </a:pathLst>
          </a:custGeom>
          <a:noFill/>
          <a:ln w="12802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2" name="n132"/>
          <p:cNvSpPr/>
          <p:nvPr/>
        </p:nvSpPr>
        <p:spPr>
          <a:xfrm>
            <a:off x="7947660" y="5654040"/>
            <a:ext cx="1493520" cy="176022"/>
          </a:xfrm>
          <a:custGeom>
            <a:avLst/>
            <a:gdLst/>
            <a:ahLst/>
            <a:cxnLst/>
            <a:rect l="0" t="0" r="r" b="b"/>
            <a:pathLst>
              <a:path w="1493520" h="176022" fill="none">
                <a:moveTo>
                  <a:pt x="0" y="176022"/>
                </a:moveTo>
                <a:lnTo>
                  <a:pt x="1066800" y="176022"/>
                </a:lnTo>
                <a:lnTo>
                  <a:pt x="1066800" y="0"/>
                </a:lnTo>
                <a:lnTo>
                  <a:pt x="1493520" y="0"/>
                </a:lnTo>
              </a:path>
            </a:pathLst>
          </a:custGeom>
          <a:noFill/>
          <a:ln w="12802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3" name="n133: Z=0：正常请求"/>
          <p:cNvSpPr txBox="1"/>
          <p:nvPr/>
        </p:nvSpPr>
        <p:spPr>
          <a:xfrm>
            <a:off x="8014960" y="5613502"/>
            <a:ext cx="825520" cy="17068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Z=0：正常请求</a:t>
            </a:r>
          </a:p>
        </p:txBody>
      </p:sp>
      <p:sp>
        <p:nvSpPr>
          <p:cNvPr id="134" name="n134"/>
          <p:cNvSpPr/>
          <p:nvPr/>
        </p:nvSpPr>
        <p:spPr>
          <a:xfrm>
            <a:off x="6080760" y="6427470"/>
            <a:ext cx="1813560" cy="346710"/>
          </a:xfrm>
          <a:prstGeom prst="rect">
            <a:avLst/>
          </a:prstGeom>
          <a:solidFill>
            <a:srgbClr val="D9EEE8"/>
          </a:solidFill>
          <a:ln w="96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5" name="n135: Z=1：本地成功响应"/>
          <p:cNvSpPr txBox="1"/>
          <p:nvPr/>
        </p:nvSpPr>
        <p:spPr>
          <a:xfrm>
            <a:off x="6442126" y="6442512"/>
            <a:ext cx="1090828" cy="1792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2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Z=1：本地成功响应</a:t>
            </a:r>
          </a:p>
        </p:txBody>
      </p:sp>
      <p:sp>
        <p:nvSpPr>
          <p:cNvPr id="136" name="n136: ready=1 / error=0 / rdata=0"/>
          <p:cNvSpPr txBox="1"/>
          <p:nvPr/>
        </p:nvSpPr>
        <p:spPr>
          <a:xfrm>
            <a:off x="6232312" y="6602532"/>
            <a:ext cx="1510455" cy="1792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2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ready=1 / error=0 / rdata=0</a:t>
            </a:r>
          </a:p>
        </p:txBody>
      </p:sp>
      <p:sp>
        <p:nvSpPr>
          <p:cNvPr id="137" name="n137"/>
          <p:cNvSpPr/>
          <p:nvPr/>
        </p:nvSpPr>
        <p:spPr>
          <a:xfrm>
            <a:off x="6934200" y="6160770"/>
            <a:ext cx="1" cy="266700"/>
          </a:xfrm>
          <a:custGeom>
            <a:avLst/>
            <a:gdLst/>
            <a:ahLst/>
            <a:cxnLst/>
            <a:rect l="0" t="0" r="r" b="b"/>
            <a:pathLst>
              <a:path w="1" h="266700" fill="none">
                <a:moveTo>
                  <a:pt x="0" y="0"/>
                </a:moveTo>
                <a:lnTo>
                  <a:pt x="0" y="266700"/>
                </a:lnTo>
              </a:path>
            </a:pathLst>
          </a:custGeom>
          <a:noFill/>
          <a:ln w="12802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8" name="n138"/>
          <p:cNvSpPr/>
          <p:nvPr/>
        </p:nvSpPr>
        <p:spPr>
          <a:xfrm>
            <a:off x="8177022" y="6320790"/>
            <a:ext cx="394716" cy="181356"/>
          </a:xfrm>
          <a:prstGeom prst="rect">
            <a:avLst/>
          </a:prstGeom>
          <a:solidFill>
            <a:srgbClr val="FFFFFF"/>
          </a:solidFill>
          <a:ln w="9601" cap="flat">
            <a:solidFill>
              <a:srgbClr val="187C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9" name="n139: R1"/>
          <p:cNvSpPr txBox="1"/>
          <p:nvPr/>
        </p:nvSpPr>
        <p:spPr>
          <a:xfrm>
            <a:off x="8256032" y="6333592"/>
            <a:ext cx="236696" cy="17068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40" b="1" i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R1</a:t>
            </a:r>
          </a:p>
        </p:txBody>
      </p:sp>
      <p:sp>
        <p:nvSpPr>
          <p:cNvPr id="140" name="n140"/>
          <p:cNvSpPr/>
          <p:nvPr/>
        </p:nvSpPr>
        <p:spPr>
          <a:xfrm>
            <a:off x="7947660" y="6054090"/>
            <a:ext cx="426720" cy="266700"/>
          </a:xfrm>
          <a:custGeom>
            <a:avLst/>
            <a:gdLst/>
            <a:ahLst/>
            <a:cxnLst/>
            <a:rect l="0" t="0" r="r" b="b"/>
            <a:pathLst>
              <a:path w="426720" h="266700" fill="none">
                <a:moveTo>
                  <a:pt x="426720" y="266700"/>
                </a:moveTo>
                <a:lnTo>
                  <a:pt x="426720" y="0"/>
                </a:lnTo>
                <a:lnTo>
                  <a:pt x="0" y="0"/>
                </a:lnTo>
              </a:path>
            </a:pathLst>
          </a:custGeom>
          <a:noFill/>
          <a:ln w="12802" cap="flat">
            <a:solidFill>
              <a:srgbClr val="187C7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1" name="n141"/>
          <p:cNvSpPr/>
          <p:nvPr/>
        </p:nvSpPr>
        <p:spPr>
          <a:xfrm>
            <a:off x="5760720" y="6118098"/>
            <a:ext cx="320040" cy="485394"/>
          </a:xfrm>
          <a:custGeom>
            <a:avLst/>
            <a:gdLst/>
            <a:ahLst/>
            <a:cxnLst/>
            <a:rect l="0" t="0" r="r" b="b"/>
            <a:pathLst>
              <a:path w="320040" h="485394" fill="none">
                <a:moveTo>
                  <a:pt x="320040" y="485394"/>
                </a:moveTo>
                <a:lnTo>
                  <a:pt x="0" y="485394"/>
                </a:lnTo>
                <a:lnTo>
                  <a:pt x="0" y="0"/>
                </a:lnTo>
                <a:lnTo>
                  <a:pt x="160020" y="0"/>
                </a:lnTo>
              </a:path>
            </a:pathLst>
          </a:custGeom>
          <a:noFill/>
          <a:ln w="12802" cap="flat">
            <a:solidFill>
              <a:srgbClr val="187C7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2" name="n142"/>
          <p:cNvSpPr/>
          <p:nvPr/>
        </p:nvSpPr>
        <p:spPr>
          <a:xfrm>
            <a:off x="4453890" y="6054090"/>
            <a:ext cx="1466850" cy="250698"/>
          </a:xfrm>
          <a:custGeom>
            <a:avLst/>
            <a:gdLst/>
            <a:ahLst/>
            <a:cxnLst/>
            <a:rect l="0" t="0" r="r" b="b"/>
            <a:pathLst>
              <a:path w="1466850" h="250698" fill="none">
                <a:moveTo>
                  <a:pt x="1466850" y="0"/>
                </a:moveTo>
                <a:lnTo>
                  <a:pt x="1146810" y="0"/>
                </a:lnTo>
                <a:lnTo>
                  <a:pt x="1146810" y="250698"/>
                </a:lnTo>
                <a:lnTo>
                  <a:pt x="0" y="250698"/>
                </a:lnTo>
                <a:lnTo>
                  <a:pt x="0" y="106680"/>
                </a:lnTo>
              </a:path>
            </a:pathLst>
          </a:custGeom>
          <a:noFill/>
          <a:ln w="12802" cap="flat">
            <a:solidFill>
              <a:srgbClr val="187C7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3" name="n143: reg_rsp[i]"/>
          <p:cNvSpPr txBox="1"/>
          <p:nvPr/>
        </p:nvSpPr>
        <p:spPr>
          <a:xfrm>
            <a:off x="4730112" y="6163330"/>
            <a:ext cx="514356" cy="16215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8" b="0" i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reg_rsp[i]</a:t>
            </a:r>
          </a:p>
        </p:txBody>
      </p:sp>
      <p:sp>
        <p:nvSpPr>
          <p:cNvPr id="144" name="n144"/>
          <p:cNvSpPr/>
          <p:nvPr/>
        </p:nvSpPr>
        <p:spPr>
          <a:xfrm>
            <a:off x="2880360" y="6027420"/>
            <a:ext cx="613410" cy="496062"/>
          </a:xfrm>
          <a:custGeom>
            <a:avLst/>
            <a:gdLst/>
            <a:ahLst/>
            <a:cxnLst/>
            <a:rect l="0" t="0" r="r" b="b"/>
            <a:pathLst>
              <a:path w="613410" h="496062" fill="none">
                <a:moveTo>
                  <a:pt x="613410" y="0"/>
                </a:moveTo>
                <a:lnTo>
                  <a:pt x="400050" y="0"/>
                </a:lnTo>
                <a:lnTo>
                  <a:pt x="400050" y="496062"/>
                </a:lnTo>
                <a:lnTo>
                  <a:pt x="0" y="496062"/>
                </a:lnTo>
              </a:path>
            </a:pathLst>
          </a:custGeom>
          <a:noFill/>
          <a:ln w="12802" cap="flat">
            <a:solidFill>
              <a:srgbClr val="187C7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5" name="n145"/>
          <p:cNvSpPr/>
          <p:nvPr/>
        </p:nvSpPr>
        <p:spPr>
          <a:xfrm>
            <a:off x="1306830" y="6363462"/>
            <a:ext cx="1573530" cy="320040"/>
          </a:xfrm>
          <a:prstGeom prst="rect">
            <a:avLst/>
          </a:prstGeom>
          <a:solidFill>
            <a:srgbClr val="FFFFFF"/>
          </a:solidFill>
          <a:ln w="96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6" name="n146: i_mem_rsp_spill：旁路"/>
          <p:cNvSpPr txBox="1"/>
          <p:nvPr/>
        </p:nvSpPr>
        <p:spPr>
          <a:xfrm>
            <a:off x="1473513" y="6365169"/>
            <a:ext cx="1240163" cy="1792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2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i_mem_rsp_spill：旁路</a:t>
            </a:r>
          </a:p>
        </p:txBody>
      </p:sp>
      <p:sp>
        <p:nvSpPr>
          <p:cNvPr id="147" name="n147: CutMemRsps = 0"/>
          <p:cNvSpPr txBox="1"/>
          <p:nvPr/>
        </p:nvSpPr>
        <p:spPr>
          <a:xfrm>
            <a:off x="1609055" y="6525189"/>
            <a:ext cx="969079" cy="1792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2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CutMemRsps = 0</a:t>
            </a:r>
          </a:p>
        </p:txBody>
      </p:sp>
      <p:sp>
        <p:nvSpPr>
          <p:cNvPr id="148" name="n148"/>
          <p:cNvSpPr/>
          <p:nvPr/>
        </p:nvSpPr>
        <p:spPr>
          <a:xfrm>
            <a:off x="773430" y="6523482"/>
            <a:ext cx="533400" cy="1"/>
          </a:xfrm>
          <a:custGeom>
            <a:avLst/>
            <a:gdLst/>
            <a:ahLst/>
            <a:cxnLst/>
            <a:rect l="0" t="0" r="r" b="b"/>
            <a:pathLst>
              <a:path w="533400" h="1" fill="none">
                <a:moveTo>
                  <a:pt x="533400" y="0"/>
                </a:moveTo>
                <a:lnTo>
                  <a:pt x="0" y="0"/>
                </a:lnTo>
              </a:path>
            </a:pathLst>
          </a:custGeom>
          <a:noFill/>
          <a:ln w="12802" cap="flat">
            <a:solidFill>
              <a:srgbClr val="187C7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9" name="n149"/>
          <p:cNvSpPr/>
          <p:nvPr/>
        </p:nvSpPr>
        <p:spPr>
          <a:xfrm>
            <a:off x="378714" y="6432804"/>
            <a:ext cx="394716" cy="181356"/>
          </a:xfrm>
          <a:prstGeom prst="rect">
            <a:avLst/>
          </a:prstGeom>
          <a:solidFill>
            <a:srgbClr val="FFFFFF"/>
          </a:solidFill>
          <a:ln w="9601" cap="flat">
            <a:solidFill>
              <a:srgbClr val="187C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0" name="n150: T1"/>
          <p:cNvSpPr txBox="1"/>
          <p:nvPr/>
        </p:nvSpPr>
        <p:spPr>
          <a:xfrm>
            <a:off x="464079" y="6445606"/>
            <a:ext cx="223986" cy="17068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40" b="1" i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T1</a:t>
            </a:r>
          </a:p>
        </p:txBody>
      </p:sp>
      <p:sp>
        <p:nvSpPr>
          <p:cNvPr id="151" name="n151"/>
          <p:cNvSpPr/>
          <p:nvPr/>
        </p:nvSpPr>
        <p:spPr>
          <a:xfrm>
            <a:off x="9441180" y="4613910"/>
            <a:ext cx="960120" cy="1386840"/>
          </a:xfrm>
          <a:custGeom>
            <a:avLst/>
            <a:gdLst/>
            <a:ahLst/>
            <a:cxnLst/>
            <a:rect l="0" t="0" r="r" b="b"/>
            <a:pathLst>
              <a:path w="960120" h="1386840">
                <a:moveTo>
                  <a:pt x="0" y="0"/>
                </a:moveTo>
                <a:lnTo>
                  <a:pt x="960120" y="149352"/>
                </a:lnTo>
                <a:lnTo>
                  <a:pt x="960120" y="1237488"/>
                </a:lnTo>
                <a:lnTo>
                  <a:pt x="0" y="1386840"/>
                </a:lnTo>
                <a:close/>
              </a:path>
            </a:pathLst>
          </a:custGeom>
          <a:solidFill>
            <a:srgbClr val="E8DFED"/>
          </a:solidFill>
          <a:ln w="96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2" name="n152: 2:1"/>
          <p:cNvSpPr txBox="1"/>
          <p:nvPr/>
        </p:nvSpPr>
        <p:spPr>
          <a:xfrm>
            <a:off x="9761283" y="5211745"/>
            <a:ext cx="319915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2:1</a:t>
            </a:r>
          </a:p>
        </p:txBody>
      </p:sp>
      <p:sp>
        <p:nvSpPr>
          <p:cNvPr id="153" name="n153: i_reg_mux"/>
          <p:cNvSpPr txBox="1"/>
          <p:nvPr/>
        </p:nvSpPr>
        <p:spPr>
          <a:xfrm>
            <a:off x="9575884" y="4336969"/>
            <a:ext cx="690711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i_reg_mux</a:t>
            </a:r>
          </a:p>
        </p:txBody>
      </p:sp>
      <p:sp>
        <p:nvSpPr>
          <p:cNvPr id="154" name="n154"/>
          <p:cNvSpPr/>
          <p:nvPr/>
        </p:nvSpPr>
        <p:spPr>
          <a:xfrm>
            <a:off x="11041380" y="4853940"/>
            <a:ext cx="1253490" cy="853440"/>
          </a:xfrm>
          <a:prstGeom prst="rect">
            <a:avLst/>
          </a:prstGeom>
          <a:solidFill>
            <a:srgbClr val="FFFFFF"/>
          </a:solidFill>
          <a:ln w="96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5" name="n155: 公共 Regbus"/>
          <p:cNvSpPr txBox="1"/>
          <p:nvPr/>
        </p:nvSpPr>
        <p:spPr>
          <a:xfrm>
            <a:off x="11248510" y="5025055"/>
            <a:ext cx="839230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公共 Regbus</a:t>
            </a:r>
          </a:p>
        </p:txBody>
      </p:sp>
      <p:sp>
        <p:nvSpPr>
          <p:cNvPr id="156" name="n156: reg_req_o"/>
          <p:cNvSpPr txBox="1"/>
          <p:nvPr/>
        </p:nvSpPr>
        <p:spPr>
          <a:xfrm>
            <a:off x="11371571" y="5202357"/>
            <a:ext cx="593107" cy="1792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2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reg_req_o</a:t>
            </a:r>
          </a:p>
        </p:txBody>
      </p:sp>
      <p:sp>
        <p:nvSpPr>
          <p:cNvPr id="157" name="n157: reg_rsp_i"/>
          <p:cNvSpPr txBox="1"/>
          <p:nvPr/>
        </p:nvSpPr>
        <p:spPr>
          <a:xfrm>
            <a:off x="11389453" y="5362377"/>
            <a:ext cx="557345" cy="1792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2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reg_rsp_i</a:t>
            </a:r>
          </a:p>
        </p:txBody>
      </p:sp>
      <p:sp>
        <p:nvSpPr>
          <p:cNvPr id="158" name="n158"/>
          <p:cNvSpPr/>
          <p:nvPr/>
        </p:nvSpPr>
        <p:spPr>
          <a:xfrm>
            <a:off x="10401300" y="5189982"/>
            <a:ext cx="640080" cy="1"/>
          </a:xfrm>
          <a:custGeom>
            <a:avLst/>
            <a:gdLst/>
            <a:ahLst/>
            <a:cxnLst/>
            <a:rect l="0" t="0" r="r" b="b"/>
            <a:pathLst>
              <a:path w="640080" h="1" fill="none">
                <a:moveTo>
                  <a:pt x="0" y="0"/>
                </a:moveTo>
                <a:lnTo>
                  <a:pt x="640080" y="0"/>
                </a:lnTo>
              </a:path>
            </a:pathLst>
          </a:custGeom>
          <a:noFill/>
          <a:ln w="12802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9" name="n159: req"/>
          <p:cNvSpPr txBox="1"/>
          <p:nvPr/>
        </p:nvSpPr>
        <p:spPr>
          <a:xfrm>
            <a:off x="10587065" y="4956993"/>
            <a:ext cx="268550" cy="1792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2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req</a:t>
            </a:r>
          </a:p>
        </p:txBody>
      </p:sp>
      <p:sp>
        <p:nvSpPr>
          <p:cNvPr id="160" name="n160"/>
          <p:cNvSpPr/>
          <p:nvPr/>
        </p:nvSpPr>
        <p:spPr>
          <a:xfrm>
            <a:off x="10241280" y="6016752"/>
            <a:ext cx="394716" cy="181356"/>
          </a:xfrm>
          <a:prstGeom prst="rect">
            <a:avLst/>
          </a:prstGeom>
          <a:solidFill>
            <a:srgbClr val="FFFFFF"/>
          </a:solidFill>
          <a:ln w="9601" cap="flat">
            <a:solidFill>
              <a:srgbClr val="187C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1" name="n161: R0/1"/>
          <p:cNvSpPr txBox="1"/>
          <p:nvPr/>
        </p:nvSpPr>
        <p:spPr>
          <a:xfrm>
            <a:off x="10260595" y="6029554"/>
            <a:ext cx="356086" cy="17068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40" b="1" i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R0/1</a:t>
            </a:r>
          </a:p>
        </p:txBody>
      </p:sp>
      <p:sp>
        <p:nvSpPr>
          <p:cNvPr id="162" name="n162"/>
          <p:cNvSpPr/>
          <p:nvPr/>
        </p:nvSpPr>
        <p:spPr>
          <a:xfrm>
            <a:off x="10635996" y="5707380"/>
            <a:ext cx="1029462" cy="400050"/>
          </a:xfrm>
          <a:custGeom>
            <a:avLst/>
            <a:gdLst/>
            <a:ahLst/>
            <a:cxnLst/>
            <a:rect l="0" t="0" r="r" b="b"/>
            <a:pathLst>
              <a:path w="1029462" h="400050" fill="none">
                <a:moveTo>
                  <a:pt x="1029462" y="0"/>
                </a:moveTo>
                <a:lnTo>
                  <a:pt x="1029462" y="400050"/>
                </a:lnTo>
                <a:lnTo>
                  <a:pt x="0" y="400050"/>
                </a:lnTo>
              </a:path>
            </a:pathLst>
          </a:custGeom>
          <a:noFill/>
          <a:ln w="12802" cap="flat">
            <a:solidFill>
              <a:srgbClr val="187C7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3" name="n163: rdata / error 广播；ready 仅回选中路"/>
          <p:cNvSpPr txBox="1"/>
          <p:nvPr/>
        </p:nvSpPr>
        <p:spPr>
          <a:xfrm>
            <a:off x="10321348" y="6222004"/>
            <a:ext cx="1760103" cy="16215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rdata / error 广播；ready 仅回选中路</a:t>
            </a:r>
          </a:p>
        </p:txBody>
      </p:sp>
      <p:sp>
        <p:nvSpPr>
          <p:cNvPr id="164" name="n164"/>
          <p:cNvSpPr/>
          <p:nvPr/>
        </p:nvSpPr>
        <p:spPr>
          <a:xfrm>
            <a:off x="9014460" y="6480810"/>
            <a:ext cx="3333750" cy="400050"/>
          </a:xfrm>
          <a:prstGeom prst="rect">
            <a:avLst/>
          </a:prstGeom>
          <a:solidFill>
            <a:srgbClr val="E8DFED"/>
          </a:solidFill>
          <a:ln w="96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5" name="n165: stream_arbiter：轮询 / 等待时保持选择"/>
          <p:cNvSpPr txBox="1"/>
          <p:nvPr/>
        </p:nvSpPr>
        <p:spPr>
          <a:xfrm>
            <a:off x="9547172" y="6511000"/>
            <a:ext cx="2268325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stream_arbiter：轮询 / 等待时保持选择</a:t>
            </a:r>
          </a:p>
        </p:txBody>
      </p:sp>
      <p:sp>
        <p:nvSpPr>
          <p:cNvPr id="166" name="n166: 内部两路仲裁，不是 SoC 外设地址解码"/>
          <p:cNvSpPr txBox="1"/>
          <p:nvPr/>
        </p:nvSpPr>
        <p:spPr>
          <a:xfrm>
            <a:off x="9652102" y="6682542"/>
            <a:ext cx="2058466" cy="1792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2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内部两路仲裁，不是 SoC 外设地址解码</a:t>
            </a:r>
          </a:p>
        </p:txBody>
      </p:sp>
      <p:sp>
        <p:nvSpPr>
          <p:cNvPr id="167" name="n167"/>
          <p:cNvSpPr/>
          <p:nvPr/>
        </p:nvSpPr>
        <p:spPr>
          <a:xfrm>
            <a:off x="9627870" y="6000750"/>
            <a:ext cx="1" cy="480060"/>
          </a:xfrm>
          <a:custGeom>
            <a:avLst/>
            <a:gdLst/>
            <a:ahLst/>
            <a:cxnLst/>
            <a:rect l="0" t="0" r="r" b="b"/>
            <a:pathLst>
              <a:path w="1" h="480060" fill="none">
                <a:moveTo>
                  <a:pt x="0" y="480060"/>
                </a:moveTo>
                <a:lnTo>
                  <a:pt x="0" y="0"/>
                </a:lnTo>
              </a:path>
            </a:pathLst>
          </a:custGeom>
          <a:noFill/>
          <a:ln w="12802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8" name="n168"/>
          <p:cNvSpPr/>
          <p:nvPr/>
        </p:nvSpPr>
        <p:spPr>
          <a:xfrm>
            <a:off x="213360" y="7227570"/>
            <a:ext cx="7307580" cy="2053590"/>
          </a:xfrm>
          <a:prstGeom prst="rect">
            <a:avLst/>
          </a:prstGeom>
          <a:solidFill>
            <a:srgbClr val="F3F7FA"/>
          </a:solidFill>
          <a:ln w="9601" cap="flat">
            <a:solidFill>
              <a:srgbClr val="645C5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9" name="n169: C  periph_to_reg：请求直通，返回数据与有效位打一拍"/>
          <p:cNvSpPr txBox="1"/>
          <p:nvPr/>
        </p:nvSpPr>
        <p:spPr>
          <a:xfrm>
            <a:off x="320040" y="7269389"/>
            <a:ext cx="3622111" cy="2304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  periph_to_reg：请求直通，返回数据与有效位打一拍</a:t>
            </a:r>
          </a:p>
        </p:txBody>
      </p:sp>
      <p:sp>
        <p:nvSpPr>
          <p:cNvPr id="170" name="n170: req_i"/>
          <p:cNvSpPr txBox="1"/>
          <p:nvPr/>
        </p:nvSpPr>
        <p:spPr>
          <a:xfrm>
            <a:off x="373380" y="7516033"/>
            <a:ext cx="401550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req_i</a:t>
            </a:r>
          </a:p>
        </p:txBody>
      </p:sp>
      <p:sp>
        <p:nvSpPr>
          <p:cNvPr id="171" name="n171: reg_rsp.ready"/>
          <p:cNvSpPr txBox="1"/>
          <p:nvPr/>
        </p:nvSpPr>
        <p:spPr>
          <a:xfrm>
            <a:off x="373380" y="7895173"/>
            <a:ext cx="845606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reg_rsp.ready</a:t>
            </a:r>
          </a:p>
        </p:txBody>
      </p:sp>
      <p:sp>
        <p:nvSpPr>
          <p:cNvPr id="172" name="n172"/>
          <p:cNvSpPr/>
          <p:nvPr/>
        </p:nvSpPr>
        <p:spPr>
          <a:xfrm>
            <a:off x="1813560" y="7520940"/>
            <a:ext cx="720090" cy="640080"/>
          </a:xfrm>
          <a:custGeom>
            <a:avLst/>
            <a:gdLst/>
            <a:ahLst/>
            <a:cxnLst/>
            <a:rect l="0" t="0" r="r" b="b"/>
            <a:pathLst>
              <a:path w="720090" h="640080">
                <a:moveTo>
                  <a:pt x="0" y="0"/>
                </a:moveTo>
                <a:lnTo>
                  <a:pt x="346710" y="0"/>
                </a:lnTo>
                <a:cubicBezTo>
                  <a:pt x="720090" y="0"/>
                  <a:pt x="720090" y="640080"/>
                  <a:pt x="346710" y="640080"/>
                </a:cubicBezTo>
                <a:lnTo>
                  <a:pt x="0" y="640080"/>
                </a:lnTo>
                <a:close/>
              </a:path>
            </a:pathLst>
          </a:custGeom>
          <a:solidFill>
            <a:srgbClr val="E8DFED"/>
          </a:solidFill>
          <a:ln w="96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3" name="n173: &amp;"/>
          <p:cNvSpPr txBox="1"/>
          <p:nvPr/>
        </p:nvSpPr>
        <p:spPr>
          <a:xfrm>
            <a:off x="1952911" y="7709977"/>
            <a:ext cx="286702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&amp;</a:t>
            </a:r>
          </a:p>
        </p:txBody>
      </p:sp>
      <p:sp>
        <p:nvSpPr>
          <p:cNvPr id="174" name="n174"/>
          <p:cNvSpPr/>
          <p:nvPr/>
        </p:nvSpPr>
        <p:spPr>
          <a:xfrm>
            <a:off x="880110" y="7611618"/>
            <a:ext cx="933450" cy="1"/>
          </a:xfrm>
          <a:custGeom>
            <a:avLst/>
            <a:gdLst/>
            <a:ahLst/>
            <a:cxnLst/>
            <a:rect l="0" t="0" r="r" b="b"/>
            <a:pathLst>
              <a:path w="933450" h="1" fill="none">
                <a:moveTo>
                  <a:pt x="0" y="0"/>
                </a:moveTo>
                <a:lnTo>
                  <a:pt x="933450" y="0"/>
                </a:lnTo>
              </a:path>
            </a:pathLst>
          </a:custGeom>
          <a:noFill/>
          <a:ln w="12802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5" name="n175"/>
          <p:cNvSpPr/>
          <p:nvPr/>
        </p:nvSpPr>
        <p:spPr>
          <a:xfrm>
            <a:off x="1360170" y="7984998"/>
            <a:ext cx="453390" cy="1"/>
          </a:xfrm>
          <a:custGeom>
            <a:avLst/>
            <a:gdLst/>
            <a:ahLst/>
            <a:cxnLst/>
            <a:rect l="0" t="0" r="r" b="b"/>
            <a:pathLst>
              <a:path w="453390" h="1" fill="none">
                <a:moveTo>
                  <a:pt x="0" y="0"/>
                </a:moveTo>
                <a:lnTo>
                  <a:pt x="453390" y="0"/>
                </a:lnTo>
              </a:path>
            </a:pathLst>
          </a:custGeom>
          <a:noFill/>
          <a:ln w="12802" cap="flat">
            <a:solidFill>
              <a:srgbClr val="187C7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6" name="n176"/>
          <p:cNvSpPr/>
          <p:nvPr/>
        </p:nvSpPr>
        <p:spPr>
          <a:xfrm>
            <a:off x="2442972" y="7840980"/>
            <a:ext cx="597408" cy="1"/>
          </a:xfrm>
          <a:custGeom>
            <a:avLst/>
            <a:gdLst/>
            <a:ahLst/>
            <a:cxnLst/>
            <a:rect l="0" t="0" r="r" b="b"/>
            <a:pathLst>
              <a:path w="597408" h="1" fill="none">
                <a:moveTo>
                  <a:pt x="0" y="0"/>
                </a:moveTo>
                <a:lnTo>
                  <a:pt x="597408" y="0"/>
                </a:lnTo>
              </a:path>
            </a:pathLst>
          </a:custGeom>
          <a:noFill/>
          <a:ln w="12802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7" name="n177: gnt_o"/>
          <p:cNvSpPr txBox="1"/>
          <p:nvPr/>
        </p:nvSpPr>
        <p:spPr>
          <a:xfrm>
            <a:off x="2530058" y="7602657"/>
            <a:ext cx="380564" cy="1792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2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gnt_o</a:t>
            </a:r>
          </a:p>
        </p:txBody>
      </p:sp>
      <p:sp>
        <p:nvSpPr>
          <p:cNvPr id="178" name="n178"/>
          <p:cNvSpPr/>
          <p:nvPr/>
        </p:nvSpPr>
        <p:spPr>
          <a:xfrm>
            <a:off x="3040380" y="7600950"/>
            <a:ext cx="1786890" cy="480060"/>
          </a:xfrm>
          <a:prstGeom prst="rect">
            <a:avLst/>
          </a:prstGeom>
          <a:solidFill>
            <a:srgbClr val="D8E8F4"/>
          </a:solidFill>
          <a:ln w="96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9" name="n179: D → r_valid_q → Q"/>
          <p:cNvSpPr txBox="1"/>
          <p:nvPr/>
        </p:nvSpPr>
        <p:spPr>
          <a:xfrm>
            <a:off x="3358932" y="7671145"/>
            <a:ext cx="1149785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 → r_valid_q → Q</a:t>
            </a:r>
          </a:p>
        </p:txBody>
      </p:sp>
      <p:sp>
        <p:nvSpPr>
          <p:cNvPr id="180" name="n180: clk_i / rst_ni"/>
          <p:cNvSpPr txBox="1"/>
          <p:nvPr/>
        </p:nvSpPr>
        <p:spPr>
          <a:xfrm>
            <a:off x="3569009" y="7842687"/>
            <a:ext cx="729633" cy="1792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2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clk_i / rst_ni</a:t>
            </a:r>
          </a:p>
        </p:txBody>
      </p:sp>
      <p:sp>
        <p:nvSpPr>
          <p:cNvPr id="181" name="n181"/>
          <p:cNvSpPr/>
          <p:nvPr/>
        </p:nvSpPr>
        <p:spPr>
          <a:xfrm>
            <a:off x="3040380" y="7931658"/>
            <a:ext cx="64008" cy="85344"/>
          </a:xfrm>
          <a:custGeom>
            <a:avLst/>
            <a:gdLst/>
            <a:ahLst/>
            <a:cxnLst/>
            <a:rect l="0" t="0" r="r" b="b"/>
            <a:pathLst>
              <a:path w="64008" h="85344" fill="none">
                <a:moveTo>
                  <a:pt x="0" y="0"/>
                </a:moveTo>
                <a:lnTo>
                  <a:pt x="64008" y="42672"/>
                </a:lnTo>
                <a:lnTo>
                  <a:pt x="0" y="85344"/>
                </a:lnTo>
              </a:path>
            </a:pathLst>
          </a:custGeom>
          <a:noFill/>
          <a:ln w="1280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2" name="n182"/>
          <p:cNvSpPr/>
          <p:nvPr/>
        </p:nvSpPr>
        <p:spPr>
          <a:xfrm>
            <a:off x="4827270" y="7840980"/>
            <a:ext cx="2213610" cy="1"/>
          </a:xfrm>
          <a:custGeom>
            <a:avLst/>
            <a:gdLst/>
            <a:ahLst/>
            <a:cxnLst/>
            <a:rect l="0" t="0" r="r" b="b"/>
            <a:pathLst>
              <a:path w="2213610" h="1" fill="none">
                <a:moveTo>
                  <a:pt x="0" y="0"/>
                </a:moveTo>
                <a:lnTo>
                  <a:pt x="2213610" y="0"/>
                </a:lnTo>
              </a:path>
            </a:pathLst>
          </a:custGeom>
          <a:noFill/>
          <a:ln w="12802" cap="flat">
            <a:solidFill>
              <a:srgbClr val="187C7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3" name="n183: r_valid_o（下一拍）"/>
          <p:cNvSpPr txBox="1"/>
          <p:nvPr/>
        </p:nvSpPr>
        <p:spPr>
          <a:xfrm>
            <a:off x="5182514" y="7607564"/>
            <a:ext cx="1156411" cy="1877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r_valid_o（下一拍）</a:t>
            </a:r>
          </a:p>
        </p:txBody>
      </p:sp>
      <p:sp>
        <p:nvSpPr>
          <p:cNvPr id="184" name="n184: reg_rsp.{rdata,error}"/>
          <p:cNvSpPr txBox="1"/>
          <p:nvPr/>
        </p:nvSpPr>
        <p:spPr>
          <a:xfrm>
            <a:off x="373380" y="8348563"/>
            <a:ext cx="1193416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reg_rsp.{rdata,error}</a:t>
            </a:r>
          </a:p>
        </p:txBody>
      </p:sp>
      <p:sp>
        <p:nvSpPr>
          <p:cNvPr id="185" name="n185"/>
          <p:cNvSpPr/>
          <p:nvPr/>
        </p:nvSpPr>
        <p:spPr>
          <a:xfrm>
            <a:off x="1733550" y="8438388"/>
            <a:ext cx="1306830" cy="1"/>
          </a:xfrm>
          <a:custGeom>
            <a:avLst/>
            <a:gdLst/>
            <a:ahLst/>
            <a:cxnLst/>
            <a:rect l="0" t="0" r="r" b="b"/>
            <a:pathLst>
              <a:path w="1306830" h="1" fill="none">
                <a:moveTo>
                  <a:pt x="0" y="0"/>
                </a:moveTo>
                <a:lnTo>
                  <a:pt x="1306830" y="0"/>
                </a:lnTo>
              </a:path>
            </a:pathLst>
          </a:custGeom>
          <a:noFill/>
          <a:ln w="12802" cap="flat">
            <a:solidFill>
              <a:srgbClr val="187C7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6" name="n186"/>
          <p:cNvSpPr/>
          <p:nvPr/>
        </p:nvSpPr>
        <p:spPr>
          <a:xfrm>
            <a:off x="3040380" y="8214360"/>
            <a:ext cx="1786890" cy="480060"/>
          </a:xfrm>
          <a:prstGeom prst="rect">
            <a:avLst/>
          </a:prstGeom>
          <a:solidFill>
            <a:srgbClr val="D8E8F4"/>
          </a:solidFill>
          <a:ln w="96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7" name="n187: r_rdata_q / r_opc_q"/>
          <p:cNvSpPr txBox="1"/>
          <p:nvPr/>
        </p:nvSpPr>
        <p:spPr>
          <a:xfrm>
            <a:off x="3341914" y="8284555"/>
            <a:ext cx="1183823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r_rdata_q / r_opc_q</a:t>
            </a:r>
          </a:p>
        </p:txBody>
      </p:sp>
      <p:sp>
        <p:nvSpPr>
          <p:cNvPr id="188" name="n188: 每拍采样；无 gnt 数据使能"/>
          <p:cNvSpPr txBox="1"/>
          <p:nvPr/>
        </p:nvSpPr>
        <p:spPr>
          <a:xfrm>
            <a:off x="3208088" y="8456097"/>
            <a:ext cx="1451473" cy="1792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2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每拍采样；无 gnt 数据使能</a:t>
            </a:r>
          </a:p>
        </p:txBody>
      </p:sp>
      <p:sp>
        <p:nvSpPr>
          <p:cNvPr id="189" name="n189"/>
          <p:cNvSpPr/>
          <p:nvPr/>
        </p:nvSpPr>
        <p:spPr>
          <a:xfrm>
            <a:off x="3040380" y="8545068"/>
            <a:ext cx="64008" cy="85344"/>
          </a:xfrm>
          <a:custGeom>
            <a:avLst/>
            <a:gdLst/>
            <a:ahLst/>
            <a:cxnLst/>
            <a:rect l="0" t="0" r="r" b="b"/>
            <a:pathLst>
              <a:path w="64008" h="85344" fill="none">
                <a:moveTo>
                  <a:pt x="0" y="0"/>
                </a:moveTo>
                <a:lnTo>
                  <a:pt x="64008" y="42672"/>
                </a:lnTo>
                <a:lnTo>
                  <a:pt x="0" y="85344"/>
                </a:lnTo>
              </a:path>
            </a:pathLst>
          </a:custGeom>
          <a:noFill/>
          <a:ln w="1280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0" name="n190"/>
          <p:cNvSpPr/>
          <p:nvPr/>
        </p:nvSpPr>
        <p:spPr>
          <a:xfrm>
            <a:off x="4827270" y="8438388"/>
            <a:ext cx="2213610" cy="1"/>
          </a:xfrm>
          <a:custGeom>
            <a:avLst/>
            <a:gdLst/>
            <a:ahLst/>
            <a:cxnLst/>
            <a:rect l="0" t="0" r="r" b="b"/>
            <a:pathLst>
              <a:path w="2213610" h="1" fill="none">
                <a:moveTo>
                  <a:pt x="0" y="0"/>
                </a:moveTo>
                <a:lnTo>
                  <a:pt x="2213610" y="0"/>
                </a:lnTo>
              </a:path>
            </a:pathLst>
          </a:custGeom>
          <a:noFill/>
          <a:ln w="12802" cap="flat">
            <a:solidFill>
              <a:srgbClr val="187C7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1" name="n191: r_rdata_o / r_opc_o"/>
          <p:cNvSpPr txBox="1"/>
          <p:nvPr/>
        </p:nvSpPr>
        <p:spPr>
          <a:xfrm>
            <a:off x="5301238" y="8194304"/>
            <a:ext cx="1132325" cy="1877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r_rdata_o / r_opc_o</a:t>
            </a:r>
          </a:p>
        </p:txBody>
      </p:sp>
      <p:sp>
        <p:nvSpPr>
          <p:cNvPr id="192" name="n192: 请求字段直通；write = ~wen_i；valid = req_i；低有效异"/>
          <p:cNvSpPr txBox="1"/>
          <p:nvPr/>
        </p:nvSpPr>
        <p:spPr>
          <a:xfrm>
            <a:off x="400050" y="8898392"/>
            <a:ext cx="4187407" cy="1877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请求字段直通；write = ~wen_i；valid = req_i；低有效异步复位清零响应寄存器</a:t>
            </a:r>
          </a:p>
        </p:txBody>
      </p:sp>
      <p:sp>
        <p:nvSpPr>
          <p:cNvPr id="193" name="n193"/>
          <p:cNvSpPr/>
          <p:nvPr/>
        </p:nvSpPr>
        <p:spPr>
          <a:xfrm>
            <a:off x="7680960" y="7227570"/>
            <a:ext cx="4907280" cy="2053590"/>
          </a:xfrm>
          <a:prstGeom prst="rect">
            <a:avLst/>
          </a:prstGeom>
          <a:solidFill>
            <a:srgbClr val="F3F7FA"/>
          </a:solidFill>
          <a:ln w="9601" cap="flat">
            <a:solidFill>
              <a:srgbClr val="645C5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4" name="n194: D  AXI 响应重建（位于 A 内部）"/>
          <p:cNvSpPr txBox="1"/>
          <p:nvPr/>
        </p:nvSpPr>
        <p:spPr>
          <a:xfrm>
            <a:off x="7787640" y="7269389"/>
            <a:ext cx="2171255" cy="2304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  AXI 响应重建（位于 A 内部）</a:t>
            </a:r>
          </a:p>
        </p:txBody>
      </p:sp>
      <p:sp>
        <p:nvSpPr>
          <p:cNvPr id="195" name="n195"/>
          <p:cNvSpPr/>
          <p:nvPr/>
        </p:nvSpPr>
        <p:spPr>
          <a:xfrm>
            <a:off x="7840980" y="7627620"/>
            <a:ext cx="394716" cy="181356"/>
          </a:xfrm>
          <a:prstGeom prst="rect">
            <a:avLst/>
          </a:prstGeom>
          <a:solidFill>
            <a:srgbClr val="FFFFFF"/>
          </a:solidFill>
          <a:ln w="9601" cap="flat">
            <a:solidFill>
              <a:srgbClr val="187C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6" name="n196: T0/1"/>
          <p:cNvSpPr txBox="1"/>
          <p:nvPr/>
        </p:nvSpPr>
        <p:spPr>
          <a:xfrm>
            <a:off x="7866650" y="7640422"/>
            <a:ext cx="343376" cy="17068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40" b="1" i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T0/1</a:t>
            </a:r>
          </a:p>
        </p:txBody>
      </p:sp>
      <p:sp>
        <p:nvSpPr>
          <p:cNvPr id="197" name="n197"/>
          <p:cNvSpPr/>
          <p:nvPr/>
        </p:nvSpPr>
        <p:spPr>
          <a:xfrm>
            <a:off x="7840980" y="8054340"/>
            <a:ext cx="394716" cy="181356"/>
          </a:xfrm>
          <a:prstGeom prst="rect">
            <a:avLst/>
          </a:prstGeom>
          <a:solidFill>
            <a:srgbClr val="FFFFFF"/>
          </a:solidFill>
          <a:ln w="9601" cap="flat">
            <a:solidFill>
              <a:srgbClr val="187C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8" name="n198: META"/>
          <p:cNvSpPr txBox="1"/>
          <p:nvPr/>
        </p:nvSpPr>
        <p:spPr>
          <a:xfrm>
            <a:off x="7854923" y="8067142"/>
            <a:ext cx="366829" cy="17068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40" b="1" i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META</a:t>
            </a:r>
          </a:p>
        </p:txBody>
      </p:sp>
      <p:sp>
        <p:nvSpPr>
          <p:cNvPr id="199" name="n199"/>
          <p:cNvSpPr/>
          <p:nvPr/>
        </p:nvSpPr>
        <p:spPr>
          <a:xfrm>
            <a:off x="7840980" y="8481060"/>
            <a:ext cx="394716" cy="181356"/>
          </a:xfrm>
          <a:prstGeom prst="rect">
            <a:avLst/>
          </a:prstGeom>
          <a:solidFill>
            <a:srgbClr val="FFFFFF"/>
          </a:solidFill>
          <a:ln w="9601" cap="flat">
            <a:solidFill>
              <a:srgbClr val="187C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0" name="n200: RB"/>
          <p:cNvSpPr txBox="1"/>
          <p:nvPr/>
        </p:nvSpPr>
        <p:spPr>
          <a:xfrm>
            <a:off x="7918948" y="8493862"/>
            <a:ext cx="238780" cy="17068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40" b="1" i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RB</a:t>
            </a:r>
          </a:p>
        </p:txBody>
      </p:sp>
      <p:sp>
        <p:nvSpPr>
          <p:cNvPr id="201" name="n201"/>
          <p:cNvSpPr/>
          <p:nvPr/>
        </p:nvSpPr>
        <p:spPr>
          <a:xfrm>
            <a:off x="8854440" y="7520940"/>
            <a:ext cx="3493770" cy="586740"/>
          </a:xfrm>
          <a:prstGeom prst="rect">
            <a:avLst/>
          </a:prstGeom>
          <a:solidFill>
            <a:srgbClr val="D9EEE8"/>
          </a:solidFill>
          <a:ln w="96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2" name="n202: 收集两路响应 + 配对元数据"/>
          <p:cNvSpPr txBox="1"/>
          <p:nvPr/>
        </p:nvSpPr>
        <p:spPr>
          <a:xfrm>
            <a:off x="9791674" y="7644475"/>
            <a:ext cx="1619302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收集两路响应 + 配对元数据</a:t>
            </a:r>
          </a:p>
        </p:txBody>
      </p:sp>
      <p:sp>
        <p:nvSpPr>
          <p:cNvPr id="203" name="n203: bank 响应 FIFO → stream_to_mem → i_join"/>
          <p:cNvSpPr txBox="1"/>
          <p:nvPr/>
        </p:nvSpPr>
        <p:spPr>
          <a:xfrm>
            <a:off x="9472113" y="7816017"/>
            <a:ext cx="2258424" cy="1792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2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bank 响应 FIFO → stream_to_mem → i_join</a:t>
            </a:r>
          </a:p>
        </p:txBody>
      </p:sp>
      <p:sp>
        <p:nvSpPr>
          <p:cNvPr id="204" name="n204"/>
          <p:cNvSpPr/>
          <p:nvPr/>
        </p:nvSpPr>
        <p:spPr>
          <a:xfrm>
            <a:off x="8235696" y="7718298"/>
            <a:ext cx="618744" cy="1"/>
          </a:xfrm>
          <a:custGeom>
            <a:avLst/>
            <a:gdLst/>
            <a:ahLst/>
            <a:cxnLst/>
            <a:rect l="0" t="0" r="r" b="b"/>
            <a:pathLst>
              <a:path w="618744" h="1" fill="none">
                <a:moveTo>
                  <a:pt x="0" y="0"/>
                </a:moveTo>
                <a:lnTo>
                  <a:pt x="618744" y="0"/>
                </a:lnTo>
              </a:path>
            </a:pathLst>
          </a:custGeom>
          <a:noFill/>
          <a:ln w="12802" cap="flat">
            <a:solidFill>
              <a:srgbClr val="187C7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5" name="n205"/>
          <p:cNvSpPr/>
          <p:nvPr/>
        </p:nvSpPr>
        <p:spPr>
          <a:xfrm>
            <a:off x="8235696" y="7904988"/>
            <a:ext cx="618744" cy="240030"/>
          </a:xfrm>
          <a:custGeom>
            <a:avLst/>
            <a:gdLst/>
            <a:ahLst/>
            <a:cxnLst/>
            <a:rect l="0" t="0" r="r" b="b"/>
            <a:pathLst>
              <a:path w="618744" h="240030" fill="none">
                <a:moveTo>
                  <a:pt x="0" y="240030"/>
                </a:moveTo>
                <a:lnTo>
                  <a:pt x="298704" y="240030"/>
                </a:lnTo>
                <a:lnTo>
                  <a:pt x="298704" y="0"/>
                </a:lnTo>
                <a:lnTo>
                  <a:pt x="618744" y="0"/>
                </a:lnTo>
              </a:path>
            </a:pathLst>
          </a:custGeom>
          <a:noFill/>
          <a:ln w="12802" cap="flat">
            <a:solidFill>
              <a:srgbClr val="187C7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6" name="n206"/>
          <p:cNvSpPr/>
          <p:nvPr/>
        </p:nvSpPr>
        <p:spPr>
          <a:xfrm>
            <a:off x="8854440" y="8374380"/>
            <a:ext cx="3493770" cy="613410"/>
          </a:xfrm>
          <a:prstGeom prst="rect">
            <a:avLst/>
          </a:prstGeom>
          <a:solidFill>
            <a:srgbClr val="D8E8F4"/>
          </a:solidFill>
          <a:ln w="96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7" name="n207: i_fork_dynamic → AXI R / B"/>
          <p:cNvSpPr txBox="1"/>
          <p:nvPr/>
        </p:nvSpPr>
        <p:spPr>
          <a:xfrm>
            <a:off x="9798495" y="8431240"/>
            <a:ext cx="1605659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i_fork_dynamic → AXI R / B</a:t>
            </a:r>
          </a:p>
        </p:txBody>
      </p:sp>
      <p:sp>
        <p:nvSpPr>
          <p:cNvPr id="208" name="n208: R：数据 / ID / LAST；B：写错误累积"/>
          <p:cNvSpPr txBox="1"/>
          <p:nvPr/>
        </p:nvSpPr>
        <p:spPr>
          <a:xfrm>
            <a:off x="9617052" y="8602782"/>
            <a:ext cx="1968546" cy="1792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2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R：数据 / ID / LAST；B：写错误累积</a:t>
            </a:r>
          </a:p>
        </p:txBody>
      </p:sp>
      <p:sp>
        <p:nvSpPr>
          <p:cNvPr id="209" name="n209: 由 RREADY / BREADY 施加反压"/>
          <p:cNvSpPr txBox="1"/>
          <p:nvPr/>
        </p:nvSpPr>
        <p:spPr>
          <a:xfrm>
            <a:off x="9768442" y="8762802"/>
            <a:ext cx="1665767" cy="1792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2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由 RREADY / BREADY 施加反压</a:t>
            </a:r>
          </a:p>
        </p:txBody>
      </p:sp>
      <p:sp>
        <p:nvSpPr>
          <p:cNvPr id="210" name="n210"/>
          <p:cNvSpPr/>
          <p:nvPr/>
        </p:nvSpPr>
        <p:spPr>
          <a:xfrm>
            <a:off x="10587990" y="8107680"/>
            <a:ext cx="1" cy="266700"/>
          </a:xfrm>
          <a:custGeom>
            <a:avLst/>
            <a:gdLst/>
            <a:ahLst/>
            <a:cxnLst/>
            <a:rect l="0" t="0" r="r" b="b"/>
            <a:pathLst>
              <a:path w="1" h="266700" fill="none">
                <a:moveTo>
                  <a:pt x="0" y="0"/>
                </a:moveTo>
                <a:lnTo>
                  <a:pt x="0" y="266700"/>
                </a:lnTo>
              </a:path>
            </a:pathLst>
          </a:custGeom>
          <a:noFill/>
          <a:ln w="12802" cap="flat">
            <a:solidFill>
              <a:srgbClr val="187C7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1" name="n211"/>
          <p:cNvSpPr/>
          <p:nvPr/>
        </p:nvSpPr>
        <p:spPr>
          <a:xfrm>
            <a:off x="8235696" y="8571738"/>
            <a:ext cx="618744" cy="1"/>
          </a:xfrm>
          <a:custGeom>
            <a:avLst/>
            <a:gdLst/>
            <a:ahLst/>
            <a:cxnLst/>
            <a:rect l="0" t="0" r="r" b="b"/>
            <a:pathLst>
              <a:path w="618744" h="1" fill="none">
                <a:moveTo>
                  <a:pt x="0" y="0"/>
                </a:moveTo>
                <a:lnTo>
                  <a:pt x="618744" y="0"/>
                </a:lnTo>
              </a:path>
            </a:pathLst>
          </a:custGeom>
          <a:noFill/>
          <a:ln w="12802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2" name="n212: 蓝：请求／数据   绿：响应   紫：握手／选择   P、T、R、META、RB"/>
          <p:cNvSpPr txBox="1"/>
          <p:nvPr/>
        </p:nvSpPr>
        <p:spPr>
          <a:xfrm>
            <a:off x="240030" y="9437126"/>
            <a:ext cx="6164662" cy="1877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蓝：请求／数据   绿：响应   紫：握手／选择   P、T、R、META、RB、F：同名连接点；正向箭头旁的反压未逐线展开</a:t>
            </a:r>
          </a:p>
        </p:txBody>
      </p:sp>
      <p:sp>
        <p:nvSpPr>
          <p:cNvPr id="213" name="n213: 范围：原子适配与外部 AXI 切片之后；时序单元使用 clk_i / rst_n"/>
          <p:cNvSpPr txBox="1"/>
          <p:nvPr/>
        </p:nvSpPr>
        <p:spPr>
          <a:xfrm>
            <a:off x="240030" y="9634484"/>
            <a:ext cx="5963887" cy="1877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范围：原子适配与外部 AXI 切片之后；时序单元使用 clk_i / rst_ni。子通路 bank 是宽度拆分，不是 SRAM bank。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002: Regbus 解码与分发：比较器、请求门控与响应 MUX"/>
          <p:cNvSpPr txBox="1"/>
          <p:nvPr/>
        </p:nvSpPr>
        <p:spPr>
          <a:xfrm>
            <a:off x="240030" y="858561"/>
            <a:ext cx="4834913" cy="32430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9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Regbus 解码与分发：比较器、请求门控与响应 MUX</a:t>
            </a:r>
          </a:p>
        </p:txBody>
      </p:sp>
      <p:sp>
        <p:nvSpPr>
          <p:cNvPr id="3" name="n003: i_reg_demux_decode + i_reg_demux · 组合逻辑展"/>
          <p:cNvSpPr txBox="1"/>
          <p:nvPr/>
        </p:nvSpPr>
        <p:spPr>
          <a:xfrm>
            <a:off x="240030" y="1168999"/>
            <a:ext cx="6285802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i_reg_demux_decode + i_reg_demux · 组合逻辑展开；端口数 N = RegOut.num_out，规则数 R = RegOut.num_rules</a:t>
            </a:r>
          </a:p>
        </p:txBody>
      </p:sp>
      <p:sp>
        <p:nvSpPr>
          <p:cNvPr id="4" name="n004"/>
          <p:cNvSpPr/>
          <p:nvPr/>
        </p:nvSpPr>
        <p:spPr>
          <a:xfrm>
            <a:off x="213360" y="1546860"/>
            <a:ext cx="5707380" cy="3307080"/>
          </a:xfrm>
          <a:prstGeom prst="rect">
            <a:avLst/>
          </a:prstGeom>
          <a:solidFill>
            <a:srgbClr val="F3F7FA"/>
          </a:solidFill>
          <a:ln w="9601" cap="flat">
            <a:solidFill>
              <a:srgbClr val="645C5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n005: A  地址范围比较与优先选择"/>
          <p:cNvSpPr txBox="1"/>
          <p:nvPr/>
        </p:nvSpPr>
        <p:spPr>
          <a:xfrm>
            <a:off x="320040" y="1588679"/>
            <a:ext cx="1895162" cy="2304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  地址范围比较与优先选择</a:t>
            </a:r>
          </a:p>
        </p:txBody>
      </p:sp>
      <p:sp>
        <p:nvSpPr>
          <p:cNvPr id="6" name="n006: addr[AW-1:0]"/>
          <p:cNvSpPr txBox="1"/>
          <p:nvPr/>
        </p:nvSpPr>
        <p:spPr>
          <a:xfrm>
            <a:off x="373380" y="1819321"/>
            <a:ext cx="859482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addr[AW-1:0]</a:t>
            </a:r>
          </a:p>
        </p:txBody>
      </p:sp>
      <p:sp>
        <p:nvSpPr>
          <p:cNvPr id="7" name="n007"/>
          <p:cNvSpPr/>
          <p:nvPr/>
        </p:nvSpPr>
        <p:spPr>
          <a:xfrm>
            <a:off x="853440" y="2080260"/>
            <a:ext cx="1" cy="1829562"/>
          </a:xfrm>
          <a:custGeom>
            <a:avLst/>
            <a:gdLst/>
            <a:ahLst/>
            <a:cxnLst/>
            <a:rect l="0" t="0" r="r" b="b"/>
            <a:pathLst>
              <a:path w="1" h="1829562" fill="none">
                <a:moveTo>
                  <a:pt x="0" y="0"/>
                </a:moveTo>
                <a:lnTo>
                  <a:pt x="0" y="1829562"/>
                </a:lnTo>
              </a:path>
            </a:pathLst>
          </a:custGeom>
          <a:noFill/>
          <a:ln w="12802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n008"/>
          <p:cNvSpPr/>
          <p:nvPr/>
        </p:nvSpPr>
        <p:spPr>
          <a:xfrm>
            <a:off x="832104" y="2432304"/>
            <a:ext cx="42672" cy="42672"/>
          </a:xfrm>
          <a:prstGeom prst="ellipse">
            <a:avLst/>
          </a:prstGeom>
          <a:solidFill>
            <a:srgbClr val="314D66"/>
          </a:solidFill>
          <a:ln w="5334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n009"/>
          <p:cNvSpPr/>
          <p:nvPr/>
        </p:nvSpPr>
        <p:spPr>
          <a:xfrm>
            <a:off x="853440" y="2453640"/>
            <a:ext cx="453390" cy="1"/>
          </a:xfrm>
          <a:custGeom>
            <a:avLst/>
            <a:gdLst/>
            <a:ahLst/>
            <a:cxnLst/>
            <a:rect l="0" t="0" r="r" b="b"/>
            <a:pathLst>
              <a:path w="453390" h="1" fill="none">
                <a:moveTo>
                  <a:pt x="0" y="0"/>
                </a:moveTo>
                <a:lnTo>
                  <a:pt x="453390" y="0"/>
                </a:lnTo>
              </a:path>
            </a:pathLst>
          </a:custGeom>
          <a:noFill/>
          <a:ln w="12802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n010"/>
          <p:cNvSpPr/>
          <p:nvPr/>
        </p:nvSpPr>
        <p:spPr>
          <a:xfrm>
            <a:off x="1306830" y="2213610"/>
            <a:ext cx="2373630" cy="480060"/>
          </a:xfrm>
          <a:prstGeom prst="rect">
            <a:avLst/>
          </a:prstGeom>
          <a:solidFill>
            <a:srgbClr val="FFFFFF"/>
          </a:solidFill>
          <a:ln w="96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n011: 规则 0：范围比较"/>
          <p:cNvSpPr txBox="1"/>
          <p:nvPr/>
        </p:nvSpPr>
        <p:spPr>
          <a:xfrm>
            <a:off x="1947748" y="2283805"/>
            <a:ext cx="1091795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规则 0：范围比较</a:t>
            </a:r>
          </a:p>
        </p:txBody>
      </p:sp>
      <p:sp>
        <p:nvSpPr>
          <p:cNvPr id="12" name="n012: addr ≥ start 且 (addr &lt; end 或 end = 0)"/>
          <p:cNvSpPr txBox="1"/>
          <p:nvPr/>
        </p:nvSpPr>
        <p:spPr>
          <a:xfrm>
            <a:off x="1465783" y="2455347"/>
            <a:ext cx="2055724" cy="1792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2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addr ≥ start 且 (addr &lt; end 或 end = 0)</a:t>
            </a:r>
          </a:p>
        </p:txBody>
      </p:sp>
      <p:sp>
        <p:nvSpPr>
          <p:cNvPr id="13" name="n013"/>
          <p:cNvSpPr/>
          <p:nvPr/>
        </p:nvSpPr>
        <p:spPr>
          <a:xfrm>
            <a:off x="3680460" y="2453640"/>
            <a:ext cx="693420" cy="1"/>
          </a:xfrm>
          <a:custGeom>
            <a:avLst/>
            <a:gdLst/>
            <a:ahLst/>
            <a:cxnLst/>
            <a:rect l="0" t="0" r="r" b="b"/>
            <a:pathLst>
              <a:path w="693420" h="1" fill="none">
                <a:moveTo>
                  <a:pt x="0" y="0"/>
                </a:moveTo>
                <a:lnTo>
                  <a:pt x="693420" y="0"/>
                </a:lnTo>
              </a:path>
            </a:pathLst>
          </a:custGeom>
          <a:noFill/>
          <a:ln w="12802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n014"/>
          <p:cNvSpPr/>
          <p:nvPr/>
        </p:nvSpPr>
        <p:spPr>
          <a:xfrm>
            <a:off x="832104" y="3152394"/>
            <a:ext cx="42672" cy="42672"/>
          </a:xfrm>
          <a:prstGeom prst="ellipse">
            <a:avLst/>
          </a:prstGeom>
          <a:solidFill>
            <a:srgbClr val="314D66"/>
          </a:solidFill>
          <a:ln w="5334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n015"/>
          <p:cNvSpPr/>
          <p:nvPr/>
        </p:nvSpPr>
        <p:spPr>
          <a:xfrm>
            <a:off x="853440" y="3173730"/>
            <a:ext cx="453390" cy="1"/>
          </a:xfrm>
          <a:custGeom>
            <a:avLst/>
            <a:gdLst/>
            <a:ahLst/>
            <a:cxnLst/>
            <a:rect l="0" t="0" r="r" b="b"/>
            <a:pathLst>
              <a:path w="453390" h="1" fill="none">
                <a:moveTo>
                  <a:pt x="0" y="0"/>
                </a:moveTo>
                <a:lnTo>
                  <a:pt x="453390" y="0"/>
                </a:lnTo>
              </a:path>
            </a:pathLst>
          </a:custGeom>
          <a:noFill/>
          <a:ln w="12802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n016"/>
          <p:cNvSpPr/>
          <p:nvPr/>
        </p:nvSpPr>
        <p:spPr>
          <a:xfrm>
            <a:off x="1306830" y="2933700"/>
            <a:ext cx="2373630" cy="480060"/>
          </a:xfrm>
          <a:prstGeom prst="rect">
            <a:avLst/>
          </a:prstGeom>
          <a:solidFill>
            <a:srgbClr val="FFFFFF"/>
          </a:solidFill>
          <a:ln w="96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n017: 规则 j：范围比较"/>
          <p:cNvSpPr txBox="1"/>
          <p:nvPr/>
        </p:nvSpPr>
        <p:spPr>
          <a:xfrm>
            <a:off x="1971051" y="3003895"/>
            <a:ext cx="1045189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规则 j：范围比较</a:t>
            </a:r>
          </a:p>
        </p:txBody>
      </p:sp>
      <p:sp>
        <p:nvSpPr>
          <p:cNvPr id="18" name="n018: addr ≥ start 且 (addr &lt; end 或 end = 0)"/>
          <p:cNvSpPr txBox="1"/>
          <p:nvPr/>
        </p:nvSpPr>
        <p:spPr>
          <a:xfrm>
            <a:off x="1465783" y="3175437"/>
            <a:ext cx="2055724" cy="1792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2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addr ≥ start 且 (addr &lt; end 或 end = 0)</a:t>
            </a:r>
          </a:p>
        </p:txBody>
      </p:sp>
      <p:sp>
        <p:nvSpPr>
          <p:cNvPr id="19" name="n019"/>
          <p:cNvSpPr/>
          <p:nvPr/>
        </p:nvSpPr>
        <p:spPr>
          <a:xfrm>
            <a:off x="3680460" y="3173730"/>
            <a:ext cx="693420" cy="1"/>
          </a:xfrm>
          <a:custGeom>
            <a:avLst/>
            <a:gdLst/>
            <a:ahLst/>
            <a:cxnLst/>
            <a:rect l="0" t="0" r="r" b="b"/>
            <a:pathLst>
              <a:path w="693420" h="1" fill="none">
                <a:moveTo>
                  <a:pt x="0" y="0"/>
                </a:moveTo>
                <a:lnTo>
                  <a:pt x="693420" y="0"/>
                </a:lnTo>
              </a:path>
            </a:pathLst>
          </a:custGeom>
          <a:noFill/>
          <a:ln w="12802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n020"/>
          <p:cNvSpPr/>
          <p:nvPr/>
        </p:nvSpPr>
        <p:spPr>
          <a:xfrm>
            <a:off x="832104" y="3872484"/>
            <a:ext cx="42672" cy="42672"/>
          </a:xfrm>
          <a:prstGeom prst="ellipse">
            <a:avLst/>
          </a:prstGeom>
          <a:solidFill>
            <a:srgbClr val="314D66"/>
          </a:solidFill>
          <a:ln w="5334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n021"/>
          <p:cNvSpPr/>
          <p:nvPr/>
        </p:nvSpPr>
        <p:spPr>
          <a:xfrm>
            <a:off x="853440" y="3893820"/>
            <a:ext cx="453390" cy="1"/>
          </a:xfrm>
          <a:custGeom>
            <a:avLst/>
            <a:gdLst/>
            <a:ahLst/>
            <a:cxnLst/>
            <a:rect l="0" t="0" r="r" b="b"/>
            <a:pathLst>
              <a:path w="453390" h="1" fill="none">
                <a:moveTo>
                  <a:pt x="0" y="0"/>
                </a:moveTo>
                <a:lnTo>
                  <a:pt x="453390" y="0"/>
                </a:lnTo>
              </a:path>
            </a:pathLst>
          </a:custGeom>
          <a:noFill/>
          <a:ln w="12802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n022"/>
          <p:cNvSpPr/>
          <p:nvPr/>
        </p:nvSpPr>
        <p:spPr>
          <a:xfrm>
            <a:off x="1306830" y="3653790"/>
            <a:ext cx="2373630" cy="480060"/>
          </a:xfrm>
          <a:prstGeom prst="rect">
            <a:avLst/>
          </a:prstGeom>
          <a:solidFill>
            <a:srgbClr val="FFFFFF"/>
          </a:solidFill>
          <a:ln w="96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n023: 规则 R-1：范围比较"/>
          <p:cNvSpPr txBox="1"/>
          <p:nvPr/>
        </p:nvSpPr>
        <p:spPr>
          <a:xfrm>
            <a:off x="1891378" y="3723985"/>
            <a:ext cx="1204534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规则 R-1：范围比较</a:t>
            </a:r>
          </a:p>
        </p:txBody>
      </p:sp>
      <p:sp>
        <p:nvSpPr>
          <p:cNvPr id="24" name="n024: addr ≥ start 且 (addr &lt; end 或 end = 0)"/>
          <p:cNvSpPr txBox="1"/>
          <p:nvPr/>
        </p:nvSpPr>
        <p:spPr>
          <a:xfrm>
            <a:off x="1465783" y="3895527"/>
            <a:ext cx="2055724" cy="1792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2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addr ≥ start 且 (addr &lt; end 或 end = 0)</a:t>
            </a:r>
          </a:p>
        </p:txBody>
      </p:sp>
      <p:sp>
        <p:nvSpPr>
          <p:cNvPr id="25" name="n025"/>
          <p:cNvSpPr/>
          <p:nvPr/>
        </p:nvSpPr>
        <p:spPr>
          <a:xfrm>
            <a:off x="3680460" y="3893820"/>
            <a:ext cx="693420" cy="1"/>
          </a:xfrm>
          <a:custGeom>
            <a:avLst/>
            <a:gdLst/>
            <a:ahLst/>
            <a:cxnLst/>
            <a:rect l="0" t="0" r="r" b="b"/>
            <a:pathLst>
              <a:path w="693420" h="1" fill="none">
                <a:moveTo>
                  <a:pt x="0" y="0"/>
                </a:moveTo>
                <a:lnTo>
                  <a:pt x="693420" y="0"/>
                </a:lnTo>
              </a:path>
            </a:pathLst>
          </a:custGeom>
          <a:noFill/>
          <a:ln w="12802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n026"/>
          <p:cNvSpPr/>
          <p:nvPr/>
        </p:nvSpPr>
        <p:spPr>
          <a:xfrm>
            <a:off x="4373880" y="2240280"/>
            <a:ext cx="1093470" cy="1893570"/>
          </a:xfrm>
          <a:custGeom>
            <a:avLst/>
            <a:gdLst/>
            <a:ahLst/>
            <a:cxnLst/>
            <a:rect l="0" t="0" r="r" b="b"/>
            <a:pathLst>
              <a:path w="1093470" h="1893570">
                <a:moveTo>
                  <a:pt x="0" y="0"/>
                </a:moveTo>
                <a:lnTo>
                  <a:pt x="1093470" y="149352"/>
                </a:lnTo>
                <a:lnTo>
                  <a:pt x="1093470" y="1744218"/>
                </a:lnTo>
                <a:lnTo>
                  <a:pt x="0" y="1893570"/>
                </a:lnTo>
                <a:close/>
              </a:path>
            </a:pathLst>
          </a:custGeom>
          <a:solidFill>
            <a:srgbClr val="E8DFED"/>
          </a:solidFill>
          <a:ln w="96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n027: 优先选择"/>
          <p:cNvSpPr txBox="1"/>
          <p:nvPr/>
        </p:nvSpPr>
        <p:spPr>
          <a:xfrm>
            <a:off x="4600575" y="3091480"/>
            <a:ext cx="640080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优先选择</a:t>
            </a:r>
          </a:p>
        </p:txBody>
      </p:sp>
      <p:sp>
        <p:nvSpPr>
          <p:cNvPr id="28" name="n028: 最高规则"/>
          <p:cNvSpPr txBox="1"/>
          <p:nvPr/>
        </p:nvSpPr>
        <p:spPr>
          <a:xfrm>
            <a:off x="4637913" y="2807391"/>
            <a:ext cx="560070" cy="1792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2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最高规则</a:t>
            </a:r>
          </a:p>
        </p:txBody>
      </p:sp>
      <p:sp>
        <p:nvSpPr>
          <p:cNvPr id="29" name="n029: 数组下标优先"/>
          <p:cNvSpPr txBox="1"/>
          <p:nvPr/>
        </p:nvSpPr>
        <p:spPr>
          <a:xfrm>
            <a:off x="4525899" y="2978079"/>
            <a:ext cx="784098" cy="1792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2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数组下标优先</a:t>
            </a:r>
          </a:p>
        </p:txBody>
      </p:sp>
      <p:sp>
        <p:nvSpPr>
          <p:cNvPr id="30" name="n030"/>
          <p:cNvSpPr/>
          <p:nvPr/>
        </p:nvSpPr>
        <p:spPr>
          <a:xfrm>
            <a:off x="4933950" y="3184398"/>
            <a:ext cx="666750" cy="1200150"/>
          </a:xfrm>
          <a:custGeom>
            <a:avLst/>
            <a:gdLst/>
            <a:ahLst/>
            <a:cxnLst/>
            <a:rect l="0" t="0" r="r" b="b"/>
            <a:pathLst>
              <a:path w="666750" h="1200150" fill="none">
                <a:moveTo>
                  <a:pt x="533400" y="0"/>
                </a:moveTo>
                <a:lnTo>
                  <a:pt x="666750" y="0"/>
                </a:lnTo>
                <a:lnTo>
                  <a:pt x="666750" y="1200150"/>
                </a:lnTo>
                <a:lnTo>
                  <a:pt x="0" y="1200150"/>
                </a:lnTo>
              </a:path>
            </a:pathLst>
          </a:custGeom>
          <a:noFill/>
          <a:ln w="12802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n031"/>
          <p:cNvSpPr/>
          <p:nvPr/>
        </p:nvSpPr>
        <p:spPr>
          <a:xfrm>
            <a:off x="4539234" y="4293870"/>
            <a:ext cx="394716" cy="181356"/>
          </a:xfrm>
          <a:prstGeom prst="rect">
            <a:avLst/>
          </a:prstGeom>
          <a:solidFill>
            <a:srgbClr val="FFFFFF"/>
          </a:solidFill>
          <a:ln w="9601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n032: SEL"/>
          <p:cNvSpPr txBox="1"/>
          <p:nvPr/>
        </p:nvSpPr>
        <p:spPr>
          <a:xfrm>
            <a:off x="4593707" y="4306672"/>
            <a:ext cx="285769" cy="17068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4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SEL</a:t>
            </a:r>
          </a:p>
        </p:txBody>
      </p:sp>
      <p:sp>
        <p:nvSpPr>
          <p:cNvPr id="33" name="n033: 命中：idx = map[最高命中规则].idx"/>
          <p:cNvSpPr txBox="1"/>
          <p:nvPr/>
        </p:nvSpPr>
        <p:spPr>
          <a:xfrm>
            <a:off x="1333500" y="4188043"/>
            <a:ext cx="2015869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命中：idx = map[最高命中规则].idx</a:t>
            </a:r>
          </a:p>
        </p:txBody>
      </p:sp>
      <p:sp>
        <p:nvSpPr>
          <p:cNvPr id="34" name="n034: 无命中：idx = RegOut.err"/>
          <p:cNvSpPr txBox="1"/>
          <p:nvPr/>
        </p:nvSpPr>
        <p:spPr>
          <a:xfrm>
            <a:off x="1333500" y="4422739"/>
            <a:ext cx="1480818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无命中：idx = RegOut.err</a:t>
            </a:r>
          </a:p>
        </p:txBody>
      </p:sp>
      <p:sp>
        <p:nvSpPr>
          <p:cNvPr id="35" name="n035: start / end / idx 来自静态 RegMap；本实例 Napot "/>
          <p:cNvSpPr txBox="1"/>
          <p:nvPr/>
        </p:nvSpPr>
        <p:spPr>
          <a:xfrm>
            <a:off x="400050" y="4647621"/>
            <a:ext cx="2793557" cy="1792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2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start / end / idx 来自静态 RegMap；本实例 Napot = 0</a:t>
            </a:r>
          </a:p>
        </p:txBody>
      </p:sp>
      <p:sp>
        <p:nvSpPr>
          <p:cNvPr id="36" name="n036"/>
          <p:cNvSpPr/>
          <p:nvPr/>
        </p:nvSpPr>
        <p:spPr>
          <a:xfrm>
            <a:off x="6080760" y="1546860"/>
            <a:ext cx="6507480" cy="3307080"/>
          </a:xfrm>
          <a:prstGeom prst="rect">
            <a:avLst/>
          </a:prstGeom>
          <a:solidFill>
            <a:srgbClr val="FAF8FB"/>
          </a:solidFill>
          <a:ln w="9601" cap="flat">
            <a:solidFill>
              <a:srgbClr val="645C5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n037: B  请求分发：对每个目标 p 重复"/>
          <p:cNvSpPr txBox="1"/>
          <p:nvPr/>
        </p:nvSpPr>
        <p:spPr>
          <a:xfrm>
            <a:off x="6187440" y="1588679"/>
            <a:ext cx="2211760" cy="2304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  请求分发：对每个目标 p 重复</a:t>
            </a:r>
          </a:p>
        </p:txBody>
      </p:sp>
      <p:sp>
        <p:nvSpPr>
          <p:cNvPr id="38" name="n038"/>
          <p:cNvSpPr/>
          <p:nvPr/>
        </p:nvSpPr>
        <p:spPr>
          <a:xfrm>
            <a:off x="6240780" y="1946910"/>
            <a:ext cx="394716" cy="181356"/>
          </a:xfrm>
          <a:prstGeom prst="rect">
            <a:avLst/>
          </a:prstGeom>
          <a:solidFill>
            <a:srgbClr val="FFFFFF"/>
          </a:solidFill>
          <a:ln w="9601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n039: SEL"/>
          <p:cNvSpPr txBox="1"/>
          <p:nvPr/>
        </p:nvSpPr>
        <p:spPr>
          <a:xfrm>
            <a:off x="6295253" y="1959712"/>
            <a:ext cx="285769" cy="17068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4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SEL</a:t>
            </a:r>
          </a:p>
        </p:txBody>
      </p:sp>
      <p:sp>
        <p:nvSpPr>
          <p:cNvPr id="40" name="n040"/>
          <p:cNvSpPr/>
          <p:nvPr/>
        </p:nvSpPr>
        <p:spPr>
          <a:xfrm>
            <a:off x="6987540" y="1866900"/>
            <a:ext cx="1813560" cy="480060"/>
          </a:xfrm>
          <a:prstGeom prst="rect">
            <a:avLst/>
          </a:prstGeom>
          <a:solidFill>
            <a:srgbClr val="FFFFFF"/>
          </a:solidFill>
          <a:ln w="96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n041: 相等比较器"/>
          <p:cNvSpPr txBox="1"/>
          <p:nvPr/>
        </p:nvSpPr>
        <p:spPr>
          <a:xfrm>
            <a:off x="7526274" y="1937095"/>
            <a:ext cx="736092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相等比较器</a:t>
            </a:r>
          </a:p>
        </p:txBody>
      </p:sp>
      <p:sp>
        <p:nvSpPr>
          <p:cNvPr id="42" name="n042: sel_p = (reg_select == p)"/>
          <p:cNvSpPr txBox="1"/>
          <p:nvPr/>
        </p:nvSpPr>
        <p:spPr>
          <a:xfrm>
            <a:off x="7224040" y="2108637"/>
            <a:ext cx="1340559" cy="1792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2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sel_p = (reg_select == p)</a:t>
            </a:r>
          </a:p>
        </p:txBody>
      </p:sp>
      <p:sp>
        <p:nvSpPr>
          <p:cNvPr id="43" name="n043"/>
          <p:cNvSpPr/>
          <p:nvPr/>
        </p:nvSpPr>
        <p:spPr>
          <a:xfrm>
            <a:off x="6635496" y="2037588"/>
            <a:ext cx="352044" cy="1"/>
          </a:xfrm>
          <a:custGeom>
            <a:avLst/>
            <a:gdLst/>
            <a:ahLst/>
            <a:cxnLst/>
            <a:rect l="0" t="0" r="r" b="b"/>
            <a:pathLst>
              <a:path w="352044" h="1" fill="none">
                <a:moveTo>
                  <a:pt x="0" y="0"/>
                </a:moveTo>
                <a:lnTo>
                  <a:pt x="352044" y="0"/>
                </a:lnTo>
              </a:path>
            </a:pathLst>
          </a:custGeom>
          <a:noFill/>
          <a:ln w="12802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n044"/>
          <p:cNvSpPr/>
          <p:nvPr/>
        </p:nvSpPr>
        <p:spPr>
          <a:xfrm>
            <a:off x="8801100" y="2106930"/>
            <a:ext cx="533400" cy="453390"/>
          </a:xfrm>
          <a:custGeom>
            <a:avLst/>
            <a:gdLst/>
            <a:ahLst/>
            <a:cxnLst/>
            <a:rect l="0" t="0" r="r" b="b"/>
            <a:pathLst>
              <a:path w="533400" h="453390" fill="none">
                <a:moveTo>
                  <a:pt x="0" y="0"/>
                </a:moveTo>
                <a:lnTo>
                  <a:pt x="533400" y="0"/>
                </a:lnTo>
                <a:lnTo>
                  <a:pt x="533400" y="453390"/>
                </a:lnTo>
              </a:path>
            </a:pathLst>
          </a:custGeom>
          <a:noFill/>
          <a:ln w="12802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n045"/>
          <p:cNvSpPr/>
          <p:nvPr/>
        </p:nvSpPr>
        <p:spPr>
          <a:xfrm>
            <a:off x="9313164" y="2352294"/>
            <a:ext cx="42672" cy="42672"/>
          </a:xfrm>
          <a:prstGeom prst="ellipse">
            <a:avLst/>
          </a:prstGeom>
          <a:solidFill>
            <a:srgbClr val="765489"/>
          </a:solidFill>
          <a:ln w="5334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n046"/>
          <p:cNvSpPr/>
          <p:nvPr/>
        </p:nvSpPr>
        <p:spPr>
          <a:xfrm>
            <a:off x="10134600" y="2282952"/>
            <a:ext cx="394716" cy="181356"/>
          </a:xfrm>
          <a:prstGeom prst="rect">
            <a:avLst/>
          </a:prstGeom>
          <a:solidFill>
            <a:srgbClr val="FFFFFF"/>
          </a:solidFill>
          <a:ln w="9601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n047: sel_p"/>
          <p:cNvSpPr txBox="1"/>
          <p:nvPr/>
        </p:nvSpPr>
        <p:spPr>
          <a:xfrm>
            <a:off x="10153965" y="2295754"/>
            <a:ext cx="355986" cy="17068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4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sel_p</a:t>
            </a:r>
          </a:p>
        </p:txBody>
      </p:sp>
      <p:sp>
        <p:nvSpPr>
          <p:cNvPr id="48" name="n048"/>
          <p:cNvSpPr/>
          <p:nvPr/>
        </p:nvSpPr>
        <p:spPr>
          <a:xfrm>
            <a:off x="9334500" y="2373630"/>
            <a:ext cx="800100" cy="1"/>
          </a:xfrm>
          <a:custGeom>
            <a:avLst/>
            <a:gdLst/>
            <a:ahLst/>
            <a:cxnLst/>
            <a:rect l="0" t="0" r="r" b="b"/>
            <a:pathLst>
              <a:path w="800100" h="1" fill="none">
                <a:moveTo>
                  <a:pt x="0" y="0"/>
                </a:moveTo>
                <a:lnTo>
                  <a:pt x="800100" y="0"/>
                </a:lnTo>
              </a:path>
            </a:pathLst>
          </a:custGeom>
          <a:noFill/>
          <a:ln w="12802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n049: in_req.valid"/>
          <p:cNvSpPr txBox="1"/>
          <p:nvPr/>
        </p:nvSpPr>
        <p:spPr>
          <a:xfrm>
            <a:off x="6240780" y="2587843"/>
            <a:ext cx="732625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in_req.valid</a:t>
            </a:r>
          </a:p>
        </p:txBody>
      </p:sp>
      <p:sp>
        <p:nvSpPr>
          <p:cNvPr id="50" name="n050"/>
          <p:cNvSpPr/>
          <p:nvPr/>
        </p:nvSpPr>
        <p:spPr>
          <a:xfrm>
            <a:off x="9121140" y="2560320"/>
            <a:ext cx="693420" cy="586740"/>
          </a:xfrm>
          <a:custGeom>
            <a:avLst/>
            <a:gdLst/>
            <a:ahLst/>
            <a:cxnLst/>
            <a:rect l="0" t="0" r="r" b="b"/>
            <a:pathLst>
              <a:path w="693420" h="586740">
                <a:moveTo>
                  <a:pt x="0" y="0"/>
                </a:moveTo>
                <a:lnTo>
                  <a:pt x="320040" y="0"/>
                </a:lnTo>
                <a:cubicBezTo>
                  <a:pt x="693420" y="0"/>
                  <a:pt x="693420" y="586740"/>
                  <a:pt x="320040" y="586740"/>
                </a:cubicBezTo>
                <a:lnTo>
                  <a:pt x="0" y="586740"/>
                </a:lnTo>
                <a:close/>
              </a:path>
            </a:pathLst>
          </a:custGeom>
          <a:solidFill>
            <a:srgbClr val="E8DFED"/>
          </a:solidFill>
          <a:ln w="96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n051: &amp;"/>
          <p:cNvSpPr txBox="1"/>
          <p:nvPr/>
        </p:nvSpPr>
        <p:spPr>
          <a:xfrm>
            <a:off x="9271159" y="2722687"/>
            <a:ext cx="286702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&amp;</a:t>
            </a:r>
          </a:p>
        </p:txBody>
      </p:sp>
      <p:sp>
        <p:nvSpPr>
          <p:cNvPr id="52" name="n052"/>
          <p:cNvSpPr/>
          <p:nvPr/>
        </p:nvSpPr>
        <p:spPr>
          <a:xfrm>
            <a:off x="7307580" y="2677668"/>
            <a:ext cx="1813560" cy="176022"/>
          </a:xfrm>
          <a:custGeom>
            <a:avLst/>
            <a:gdLst/>
            <a:ahLst/>
            <a:cxnLst/>
            <a:rect l="0" t="0" r="r" b="b"/>
            <a:pathLst>
              <a:path w="1813560" h="176022" fill="none">
                <a:moveTo>
                  <a:pt x="0" y="0"/>
                </a:moveTo>
                <a:lnTo>
                  <a:pt x="1173480" y="0"/>
                </a:lnTo>
                <a:lnTo>
                  <a:pt x="1173480" y="176022"/>
                </a:lnTo>
                <a:lnTo>
                  <a:pt x="1813560" y="176022"/>
                </a:lnTo>
              </a:path>
            </a:pathLst>
          </a:custGeom>
          <a:noFill/>
          <a:ln w="12802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n053"/>
          <p:cNvSpPr/>
          <p:nvPr/>
        </p:nvSpPr>
        <p:spPr>
          <a:xfrm>
            <a:off x="9718548" y="2853690"/>
            <a:ext cx="2336292" cy="1"/>
          </a:xfrm>
          <a:custGeom>
            <a:avLst/>
            <a:gdLst/>
            <a:ahLst/>
            <a:cxnLst/>
            <a:rect l="0" t="0" r="r" b="b"/>
            <a:pathLst>
              <a:path w="2336292" h="1" fill="none">
                <a:moveTo>
                  <a:pt x="0" y="0"/>
                </a:moveTo>
                <a:lnTo>
                  <a:pt x="2336292" y="0"/>
                </a:lnTo>
              </a:path>
            </a:pathLst>
          </a:custGeom>
          <a:noFill/>
          <a:ln w="12802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n054: out_req[p].valid"/>
          <p:cNvSpPr txBox="1"/>
          <p:nvPr/>
        </p:nvSpPr>
        <p:spPr>
          <a:xfrm>
            <a:off x="10173251" y="2598085"/>
            <a:ext cx="989499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out_req[p].valid</a:t>
            </a:r>
          </a:p>
        </p:txBody>
      </p:sp>
      <p:sp>
        <p:nvSpPr>
          <p:cNvPr id="55" name="n055: addr / write / wdata / wstrb"/>
          <p:cNvSpPr txBox="1"/>
          <p:nvPr/>
        </p:nvSpPr>
        <p:spPr>
          <a:xfrm>
            <a:off x="6240780" y="3350605"/>
            <a:ext cx="1634429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addr / write / wdata / wstrb</a:t>
            </a:r>
          </a:p>
        </p:txBody>
      </p:sp>
      <p:sp>
        <p:nvSpPr>
          <p:cNvPr id="56" name="n056"/>
          <p:cNvSpPr/>
          <p:nvPr/>
        </p:nvSpPr>
        <p:spPr>
          <a:xfrm>
            <a:off x="9174480" y="3413760"/>
            <a:ext cx="800100" cy="853440"/>
          </a:xfrm>
          <a:custGeom>
            <a:avLst/>
            <a:gdLst/>
            <a:ahLst/>
            <a:cxnLst/>
            <a:rect l="0" t="0" r="r" b="b"/>
            <a:pathLst>
              <a:path w="800100" h="853440">
                <a:moveTo>
                  <a:pt x="0" y="0"/>
                </a:moveTo>
                <a:lnTo>
                  <a:pt x="800100" y="149352"/>
                </a:lnTo>
                <a:lnTo>
                  <a:pt x="800100" y="704088"/>
                </a:lnTo>
                <a:lnTo>
                  <a:pt x="0" y="853440"/>
                </a:lnTo>
                <a:close/>
              </a:path>
            </a:pathLst>
          </a:custGeom>
          <a:solidFill>
            <a:srgbClr val="E8DFED"/>
          </a:solidFill>
          <a:ln w="96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n057: 2:1"/>
          <p:cNvSpPr txBox="1"/>
          <p:nvPr/>
        </p:nvSpPr>
        <p:spPr>
          <a:xfrm>
            <a:off x="9414573" y="3744895"/>
            <a:ext cx="319915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2:1</a:t>
            </a:r>
          </a:p>
        </p:txBody>
      </p:sp>
      <p:sp>
        <p:nvSpPr>
          <p:cNvPr id="58" name="n058"/>
          <p:cNvSpPr/>
          <p:nvPr/>
        </p:nvSpPr>
        <p:spPr>
          <a:xfrm>
            <a:off x="8161020" y="3440430"/>
            <a:ext cx="1013460" cy="213360"/>
          </a:xfrm>
          <a:custGeom>
            <a:avLst/>
            <a:gdLst/>
            <a:ahLst/>
            <a:cxnLst/>
            <a:rect l="0" t="0" r="r" b="b"/>
            <a:pathLst>
              <a:path w="1013460" h="213360" fill="none">
                <a:moveTo>
                  <a:pt x="0" y="0"/>
                </a:moveTo>
                <a:lnTo>
                  <a:pt x="586740" y="0"/>
                </a:lnTo>
                <a:lnTo>
                  <a:pt x="586740" y="213360"/>
                </a:lnTo>
                <a:lnTo>
                  <a:pt x="1013460" y="213360"/>
                </a:lnTo>
              </a:path>
            </a:pathLst>
          </a:custGeom>
          <a:noFill/>
          <a:ln w="12802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" name="n059: '0"/>
          <p:cNvSpPr txBox="1"/>
          <p:nvPr/>
        </p:nvSpPr>
        <p:spPr>
          <a:xfrm>
            <a:off x="8161020" y="3941399"/>
            <a:ext cx="263425" cy="22189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'0</a:t>
            </a:r>
          </a:p>
        </p:txBody>
      </p:sp>
      <p:sp>
        <p:nvSpPr>
          <p:cNvPr id="60" name="n060"/>
          <p:cNvSpPr/>
          <p:nvPr/>
        </p:nvSpPr>
        <p:spPr>
          <a:xfrm>
            <a:off x="8347710" y="4053840"/>
            <a:ext cx="826770" cy="1"/>
          </a:xfrm>
          <a:custGeom>
            <a:avLst/>
            <a:gdLst/>
            <a:ahLst/>
            <a:cxnLst/>
            <a:rect l="0" t="0" r="r" b="b"/>
            <a:pathLst>
              <a:path w="826770" h="1" fill="none">
                <a:moveTo>
                  <a:pt x="0" y="0"/>
                </a:moveTo>
                <a:lnTo>
                  <a:pt x="826770" y="0"/>
                </a:lnTo>
              </a:path>
            </a:pathLst>
          </a:custGeom>
          <a:noFill/>
          <a:ln w="12802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" name="n061: 1"/>
          <p:cNvSpPr txBox="1"/>
          <p:nvPr/>
        </p:nvSpPr>
        <p:spPr>
          <a:xfrm>
            <a:off x="9281160" y="3507425"/>
            <a:ext cx="153586" cy="15361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62" name="n062: 0"/>
          <p:cNvSpPr txBox="1"/>
          <p:nvPr/>
        </p:nvSpPr>
        <p:spPr>
          <a:xfrm>
            <a:off x="9281160" y="4035491"/>
            <a:ext cx="153586" cy="15361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0</a:t>
            </a:r>
          </a:p>
        </p:txBody>
      </p:sp>
      <p:sp>
        <p:nvSpPr>
          <p:cNvPr id="63" name="n063"/>
          <p:cNvSpPr/>
          <p:nvPr/>
        </p:nvSpPr>
        <p:spPr>
          <a:xfrm>
            <a:off x="9377172" y="4400550"/>
            <a:ext cx="394716" cy="181356"/>
          </a:xfrm>
          <a:prstGeom prst="rect">
            <a:avLst/>
          </a:prstGeom>
          <a:solidFill>
            <a:srgbClr val="FFFFFF"/>
          </a:solidFill>
          <a:ln w="9601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4" name="n064: sel_p"/>
          <p:cNvSpPr txBox="1"/>
          <p:nvPr/>
        </p:nvSpPr>
        <p:spPr>
          <a:xfrm>
            <a:off x="9396537" y="4413352"/>
            <a:ext cx="355986" cy="17068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4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sel_p</a:t>
            </a:r>
          </a:p>
        </p:txBody>
      </p:sp>
      <p:sp>
        <p:nvSpPr>
          <p:cNvPr id="65" name="n065"/>
          <p:cNvSpPr/>
          <p:nvPr/>
        </p:nvSpPr>
        <p:spPr>
          <a:xfrm>
            <a:off x="9574530" y="4197858"/>
            <a:ext cx="1" cy="202692"/>
          </a:xfrm>
          <a:custGeom>
            <a:avLst/>
            <a:gdLst/>
            <a:ahLst/>
            <a:cxnLst/>
            <a:rect l="0" t="0" r="r" b="b"/>
            <a:pathLst>
              <a:path w="1" h="202692" fill="none">
                <a:moveTo>
                  <a:pt x="0" y="202692"/>
                </a:moveTo>
                <a:lnTo>
                  <a:pt x="0" y="0"/>
                </a:lnTo>
              </a:path>
            </a:pathLst>
          </a:custGeom>
          <a:noFill/>
          <a:ln w="12802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6" name="n066"/>
          <p:cNvSpPr/>
          <p:nvPr/>
        </p:nvSpPr>
        <p:spPr>
          <a:xfrm>
            <a:off x="9974580" y="3840480"/>
            <a:ext cx="2080260" cy="1"/>
          </a:xfrm>
          <a:custGeom>
            <a:avLst/>
            <a:gdLst/>
            <a:ahLst/>
            <a:cxnLst/>
            <a:rect l="0" t="0" r="r" b="b"/>
            <a:pathLst>
              <a:path w="2080260" h="1" fill="none">
                <a:moveTo>
                  <a:pt x="0" y="0"/>
                </a:moveTo>
                <a:lnTo>
                  <a:pt x="2080260" y="0"/>
                </a:lnTo>
              </a:path>
            </a:pathLst>
          </a:custGeom>
          <a:noFill/>
          <a:ln w="12802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7" name="n067: out_req[p].payload"/>
          <p:cNvSpPr txBox="1"/>
          <p:nvPr/>
        </p:nvSpPr>
        <p:spPr>
          <a:xfrm>
            <a:off x="10537259" y="3579967"/>
            <a:ext cx="1114923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out_req[p].payload</a:t>
            </a:r>
          </a:p>
        </p:txBody>
      </p:sp>
      <p:sp>
        <p:nvSpPr>
          <p:cNvPr id="68" name="n068: 等价 RTL：out_req[p] = sel_p ? in_req : '0"/>
          <p:cNvSpPr txBox="1"/>
          <p:nvPr/>
        </p:nvSpPr>
        <p:spPr>
          <a:xfrm>
            <a:off x="6240780" y="4502323"/>
            <a:ext cx="2496562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等价 RTL：out_req[p] = sel_p ? in_req : '0</a:t>
            </a:r>
          </a:p>
        </p:txBody>
      </p:sp>
      <p:sp>
        <p:nvSpPr>
          <p:cNvPr id="69" name="n069"/>
          <p:cNvSpPr/>
          <p:nvPr/>
        </p:nvSpPr>
        <p:spPr>
          <a:xfrm>
            <a:off x="213360" y="5067300"/>
            <a:ext cx="12374880" cy="2880360"/>
          </a:xfrm>
          <a:prstGeom prst="rect">
            <a:avLst/>
          </a:prstGeom>
          <a:solidFill>
            <a:srgbClr val="F3F7FA"/>
          </a:solidFill>
          <a:ln w="9601" cap="flat">
            <a:solidFill>
              <a:srgbClr val="645C5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0" name="n070: C  响应返回：一个 N:1 MUX，全部字段一起选择"/>
          <p:cNvSpPr txBox="1"/>
          <p:nvPr/>
        </p:nvSpPr>
        <p:spPr>
          <a:xfrm>
            <a:off x="320040" y="5109119"/>
            <a:ext cx="3222419" cy="2304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  响应返回：一个 N:1 MUX，全部字段一起选择</a:t>
            </a:r>
          </a:p>
        </p:txBody>
      </p:sp>
      <p:sp>
        <p:nvSpPr>
          <p:cNvPr id="71" name="n071"/>
          <p:cNvSpPr/>
          <p:nvPr/>
        </p:nvSpPr>
        <p:spPr>
          <a:xfrm>
            <a:off x="480060" y="5547360"/>
            <a:ext cx="2853690" cy="533400"/>
          </a:xfrm>
          <a:prstGeom prst="rect">
            <a:avLst/>
          </a:prstGeom>
          <a:solidFill>
            <a:srgbClr val="FFFFFF"/>
          </a:solidFill>
          <a:ln w="96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2" name="n072: 目标 p 的响应"/>
          <p:cNvSpPr txBox="1"/>
          <p:nvPr/>
        </p:nvSpPr>
        <p:spPr>
          <a:xfrm>
            <a:off x="1449973" y="5638465"/>
            <a:ext cx="913864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目标 p 的响应</a:t>
            </a:r>
          </a:p>
        </p:txBody>
      </p:sp>
      <p:sp>
        <p:nvSpPr>
          <p:cNvPr id="73" name="n073: reg_out_rsp[p] = {rdata, error, ready}"/>
          <p:cNvSpPr txBox="1"/>
          <p:nvPr/>
        </p:nvSpPr>
        <p:spPr>
          <a:xfrm>
            <a:off x="959332" y="5815767"/>
            <a:ext cx="1895145" cy="1792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2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reg_out_rsp[p] = {rdata, error, ready}</a:t>
            </a:r>
          </a:p>
        </p:txBody>
      </p:sp>
      <p:sp>
        <p:nvSpPr>
          <p:cNvPr id="74" name="n074"/>
          <p:cNvSpPr/>
          <p:nvPr/>
        </p:nvSpPr>
        <p:spPr>
          <a:xfrm>
            <a:off x="480060" y="6427470"/>
            <a:ext cx="2853690" cy="533400"/>
          </a:xfrm>
          <a:prstGeom prst="rect">
            <a:avLst/>
          </a:prstGeom>
          <a:solidFill>
            <a:srgbClr val="FFFFFF"/>
          </a:solidFill>
          <a:ln w="96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5" name="n075: 其他目标响应"/>
          <p:cNvSpPr txBox="1"/>
          <p:nvPr/>
        </p:nvSpPr>
        <p:spPr>
          <a:xfrm>
            <a:off x="1458849" y="6518575"/>
            <a:ext cx="896112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其他目标响应</a:t>
            </a:r>
          </a:p>
        </p:txBody>
      </p:sp>
      <p:sp>
        <p:nvSpPr>
          <p:cNvPr id="76" name="n076: 其余 reg_out_rsp[k]"/>
          <p:cNvSpPr txBox="1"/>
          <p:nvPr/>
        </p:nvSpPr>
        <p:spPr>
          <a:xfrm>
            <a:off x="1372980" y="6695877"/>
            <a:ext cx="1067850" cy="1792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2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其余 reg_out_rsp[k]</a:t>
            </a:r>
          </a:p>
        </p:txBody>
      </p:sp>
      <p:sp>
        <p:nvSpPr>
          <p:cNvPr id="77" name="n077"/>
          <p:cNvSpPr/>
          <p:nvPr/>
        </p:nvSpPr>
        <p:spPr>
          <a:xfrm>
            <a:off x="480060" y="7200900"/>
            <a:ext cx="2853690" cy="533400"/>
          </a:xfrm>
          <a:prstGeom prst="rect">
            <a:avLst/>
          </a:prstGeom>
          <a:solidFill>
            <a:srgbClr val="F1D7D9"/>
          </a:solidFill>
          <a:ln w="96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8" name="n078: RegOut.err：常量错误目标"/>
          <p:cNvSpPr txBox="1"/>
          <p:nvPr/>
        </p:nvSpPr>
        <p:spPr>
          <a:xfrm>
            <a:off x="1096991" y="7292005"/>
            <a:ext cx="1619827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RegOut.err：常量错误目标</a:t>
            </a:r>
          </a:p>
        </p:txBody>
      </p:sp>
      <p:sp>
        <p:nvSpPr>
          <p:cNvPr id="79" name="n079: ready=1 · error=1 · rdata=32'hBADCAB1E"/>
          <p:cNvSpPr txBox="1"/>
          <p:nvPr/>
        </p:nvSpPr>
        <p:spPr>
          <a:xfrm>
            <a:off x="833958" y="7469307"/>
            <a:ext cx="2145893" cy="1792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2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ready=1 · error=1 · rdata=32'hBADCAB1E</a:t>
            </a:r>
          </a:p>
        </p:txBody>
      </p:sp>
      <p:sp>
        <p:nvSpPr>
          <p:cNvPr id="80" name="n080"/>
          <p:cNvSpPr/>
          <p:nvPr/>
        </p:nvSpPr>
        <p:spPr>
          <a:xfrm>
            <a:off x="4960620" y="5734050"/>
            <a:ext cx="1306830" cy="1760220"/>
          </a:xfrm>
          <a:custGeom>
            <a:avLst/>
            <a:gdLst/>
            <a:ahLst/>
            <a:cxnLst/>
            <a:rect l="0" t="0" r="r" b="b"/>
            <a:pathLst>
              <a:path w="1306830" h="1760220">
                <a:moveTo>
                  <a:pt x="0" y="0"/>
                </a:moveTo>
                <a:lnTo>
                  <a:pt x="1306830" y="149352"/>
                </a:lnTo>
                <a:lnTo>
                  <a:pt x="1306830" y="1610868"/>
                </a:lnTo>
                <a:lnTo>
                  <a:pt x="0" y="1760220"/>
                </a:lnTo>
                <a:close/>
              </a:path>
            </a:pathLst>
          </a:custGeom>
          <a:solidFill>
            <a:srgbClr val="E8DFED"/>
          </a:solidFill>
          <a:ln w="96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1" name="n081: N:1"/>
          <p:cNvSpPr txBox="1"/>
          <p:nvPr/>
        </p:nvSpPr>
        <p:spPr>
          <a:xfrm>
            <a:off x="5450265" y="6518575"/>
            <a:ext cx="327541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N:1</a:t>
            </a:r>
          </a:p>
        </p:txBody>
      </p:sp>
      <p:sp>
        <p:nvSpPr>
          <p:cNvPr id="82" name="n082: 响应选择器"/>
          <p:cNvSpPr txBox="1"/>
          <p:nvPr/>
        </p:nvSpPr>
        <p:spPr>
          <a:xfrm>
            <a:off x="5195316" y="5482925"/>
            <a:ext cx="832104" cy="22189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响应选择器</a:t>
            </a:r>
          </a:p>
        </p:txBody>
      </p:sp>
      <p:sp>
        <p:nvSpPr>
          <p:cNvPr id="83" name="n083"/>
          <p:cNvSpPr/>
          <p:nvPr/>
        </p:nvSpPr>
        <p:spPr>
          <a:xfrm>
            <a:off x="3333750" y="5814060"/>
            <a:ext cx="1626870" cy="224028"/>
          </a:xfrm>
          <a:custGeom>
            <a:avLst/>
            <a:gdLst/>
            <a:ahLst/>
            <a:cxnLst/>
            <a:rect l="0" t="0" r="r" b="b"/>
            <a:pathLst>
              <a:path w="1626870" h="224028" fill="none">
                <a:moveTo>
                  <a:pt x="0" y="0"/>
                </a:moveTo>
                <a:lnTo>
                  <a:pt x="826770" y="0"/>
                </a:lnTo>
                <a:lnTo>
                  <a:pt x="826770" y="224028"/>
                </a:lnTo>
                <a:lnTo>
                  <a:pt x="1626870" y="224028"/>
                </a:lnTo>
              </a:path>
            </a:pathLst>
          </a:custGeom>
          <a:noFill/>
          <a:ln w="12802" cap="flat">
            <a:solidFill>
              <a:srgbClr val="187C7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4" name="n084"/>
          <p:cNvSpPr/>
          <p:nvPr/>
        </p:nvSpPr>
        <p:spPr>
          <a:xfrm>
            <a:off x="3333750" y="6694170"/>
            <a:ext cx="1626870" cy="1"/>
          </a:xfrm>
          <a:custGeom>
            <a:avLst/>
            <a:gdLst/>
            <a:ahLst/>
            <a:cxnLst/>
            <a:rect l="0" t="0" r="r" b="b"/>
            <a:pathLst>
              <a:path w="1626870" h="1" fill="none">
                <a:moveTo>
                  <a:pt x="0" y="0"/>
                </a:moveTo>
                <a:lnTo>
                  <a:pt x="1626870" y="0"/>
                </a:lnTo>
              </a:path>
            </a:pathLst>
          </a:custGeom>
          <a:noFill/>
          <a:ln w="12802" cap="flat">
            <a:solidFill>
              <a:srgbClr val="187C7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5" name="n085"/>
          <p:cNvSpPr/>
          <p:nvPr/>
        </p:nvSpPr>
        <p:spPr>
          <a:xfrm>
            <a:off x="3333750" y="7227570"/>
            <a:ext cx="1626870" cy="240030"/>
          </a:xfrm>
          <a:custGeom>
            <a:avLst/>
            <a:gdLst/>
            <a:ahLst/>
            <a:cxnLst/>
            <a:rect l="0" t="0" r="r" b="b"/>
            <a:pathLst>
              <a:path w="1626870" h="240030" fill="none">
                <a:moveTo>
                  <a:pt x="0" y="240030"/>
                </a:moveTo>
                <a:lnTo>
                  <a:pt x="826770" y="240030"/>
                </a:lnTo>
                <a:lnTo>
                  <a:pt x="826770" y="0"/>
                </a:lnTo>
                <a:lnTo>
                  <a:pt x="1626870" y="0"/>
                </a:lnTo>
              </a:path>
            </a:pathLst>
          </a:custGeom>
          <a:noFill/>
          <a:ln w="12802" cap="flat">
            <a:solidFill>
              <a:srgbClr val="187C7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6" name="n086"/>
          <p:cNvSpPr/>
          <p:nvPr/>
        </p:nvSpPr>
        <p:spPr>
          <a:xfrm>
            <a:off x="6560820" y="7440930"/>
            <a:ext cx="394716" cy="181356"/>
          </a:xfrm>
          <a:prstGeom prst="rect">
            <a:avLst/>
          </a:prstGeom>
          <a:solidFill>
            <a:srgbClr val="FFFFFF"/>
          </a:solidFill>
          <a:ln w="9601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7" name="n087: SEL"/>
          <p:cNvSpPr txBox="1"/>
          <p:nvPr/>
        </p:nvSpPr>
        <p:spPr>
          <a:xfrm>
            <a:off x="6615293" y="7453732"/>
            <a:ext cx="285769" cy="17068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4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SEL</a:t>
            </a:r>
          </a:p>
        </p:txBody>
      </p:sp>
      <p:sp>
        <p:nvSpPr>
          <p:cNvPr id="88" name="n088"/>
          <p:cNvSpPr/>
          <p:nvPr/>
        </p:nvSpPr>
        <p:spPr>
          <a:xfrm>
            <a:off x="5611368" y="7424928"/>
            <a:ext cx="949452" cy="106680"/>
          </a:xfrm>
          <a:custGeom>
            <a:avLst/>
            <a:gdLst/>
            <a:ahLst/>
            <a:cxnLst/>
            <a:rect l="0" t="0" r="r" b="b"/>
            <a:pathLst>
              <a:path w="949452" h="106680" fill="none">
                <a:moveTo>
                  <a:pt x="949452" y="106680"/>
                </a:moveTo>
                <a:lnTo>
                  <a:pt x="0" y="106680"/>
                </a:lnTo>
                <a:lnTo>
                  <a:pt x="0" y="0"/>
                </a:lnTo>
              </a:path>
            </a:pathLst>
          </a:custGeom>
          <a:noFill/>
          <a:ln w="12802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9" name="n089"/>
          <p:cNvSpPr/>
          <p:nvPr/>
        </p:nvSpPr>
        <p:spPr>
          <a:xfrm>
            <a:off x="6267450" y="6614160"/>
            <a:ext cx="2106930" cy="1"/>
          </a:xfrm>
          <a:custGeom>
            <a:avLst/>
            <a:gdLst/>
            <a:ahLst/>
            <a:cxnLst/>
            <a:rect l="0" t="0" r="r" b="b"/>
            <a:pathLst>
              <a:path w="2106930" h="1" fill="none">
                <a:moveTo>
                  <a:pt x="0" y="0"/>
                </a:moveTo>
                <a:lnTo>
                  <a:pt x="2106930" y="0"/>
                </a:lnTo>
              </a:path>
            </a:pathLst>
          </a:custGeom>
          <a:noFill/>
          <a:ln w="12802" cap="flat">
            <a:solidFill>
              <a:srgbClr val="187C7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0" name="n090"/>
          <p:cNvSpPr/>
          <p:nvPr/>
        </p:nvSpPr>
        <p:spPr>
          <a:xfrm>
            <a:off x="8374380" y="6187440"/>
            <a:ext cx="3760470" cy="853440"/>
          </a:xfrm>
          <a:prstGeom prst="rect">
            <a:avLst/>
          </a:prstGeom>
          <a:solidFill>
            <a:srgbClr val="D9EEE8"/>
          </a:solidFill>
          <a:ln w="96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1" name="n091: reg_in_rsp → axi_to_reg_v2"/>
          <p:cNvSpPr txBox="1"/>
          <p:nvPr/>
        </p:nvSpPr>
        <p:spPr>
          <a:xfrm>
            <a:off x="9347064" y="6347033"/>
            <a:ext cx="1815102" cy="22189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reg_in_rsp → axi_to_reg_v2</a:t>
            </a:r>
          </a:p>
        </p:txBody>
      </p:sp>
      <p:sp>
        <p:nvSpPr>
          <p:cNvPr id="92" name="n092: rdata[31:0] / error / ready"/>
          <p:cNvSpPr txBox="1"/>
          <p:nvPr/>
        </p:nvSpPr>
        <p:spPr>
          <a:xfrm>
            <a:off x="9549769" y="6535857"/>
            <a:ext cx="1409693" cy="1792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2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rdata[31:0] / error / ready</a:t>
            </a:r>
          </a:p>
        </p:txBody>
      </p:sp>
      <p:sp>
        <p:nvSpPr>
          <p:cNvPr id="93" name="n093: ready 同时决定本次 Reg 访问能否完成"/>
          <p:cNvSpPr txBox="1"/>
          <p:nvPr/>
        </p:nvSpPr>
        <p:spPr>
          <a:xfrm>
            <a:off x="9251306" y="6695877"/>
            <a:ext cx="2006617" cy="1792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2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ready 同时决定本次 Reg 访问能否完成</a:t>
            </a:r>
          </a:p>
        </p:txBody>
      </p:sp>
      <p:sp>
        <p:nvSpPr>
          <p:cNvPr id="94" name="n094: 34 bit"/>
          <p:cNvSpPr txBox="1"/>
          <p:nvPr/>
        </p:nvSpPr>
        <p:spPr>
          <a:xfrm>
            <a:off x="7460337" y="6332311"/>
            <a:ext cx="441247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34 bit</a:t>
            </a:r>
          </a:p>
        </p:txBody>
      </p:sp>
      <p:sp>
        <p:nvSpPr>
          <p:cNvPr id="95" name="n095: 默认错误路径也返回响应，不是丢弃请求"/>
          <p:cNvSpPr txBox="1"/>
          <p:nvPr/>
        </p:nvSpPr>
        <p:spPr>
          <a:xfrm>
            <a:off x="7627620" y="7392924"/>
            <a:ext cx="2533650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默认错误路径也返回响应，不是丢弃请求</a:t>
            </a:r>
          </a:p>
        </p:txBody>
      </p:sp>
      <p:sp>
        <p:nvSpPr>
          <p:cNvPr id="96" name="n096"/>
          <p:cNvSpPr/>
          <p:nvPr/>
        </p:nvSpPr>
        <p:spPr>
          <a:xfrm>
            <a:off x="213360" y="8161020"/>
            <a:ext cx="5920740" cy="586740"/>
          </a:xfrm>
          <a:prstGeom prst="rect">
            <a:avLst/>
          </a:prstGeom>
          <a:solidFill>
            <a:srgbClr val="FFFFFF"/>
          </a:solidFill>
          <a:ln w="96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7" name="n097: 组合关系：输出只由当前请求、地址规则和目标响应决定"/>
          <p:cNvSpPr txBox="1"/>
          <p:nvPr/>
        </p:nvSpPr>
        <p:spPr>
          <a:xfrm>
            <a:off x="1440180" y="8273034"/>
            <a:ext cx="3467100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组合关系：输出只由当前请求、地址规则和目标响应决定</a:t>
            </a:r>
          </a:p>
        </p:txBody>
      </p:sp>
      <p:sp>
        <p:nvSpPr>
          <p:cNvPr id="98" name="n098: addr_decode / reg_demux 内无 FIFO、无状态机、无时钟"/>
          <p:cNvSpPr txBox="1"/>
          <p:nvPr/>
        </p:nvSpPr>
        <p:spPr>
          <a:xfrm>
            <a:off x="1552765" y="8456097"/>
            <a:ext cx="3241930" cy="1792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2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addr_decode / reg_demux 内无 FIFO、无状态机、无时钟寄存器</a:t>
            </a:r>
          </a:p>
        </p:txBody>
      </p:sp>
      <p:sp>
        <p:nvSpPr>
          <p:cNvPr id="99" name="n099"/>
          <p:cNvSpPr/>
          <p:nvPr/>
        </p:nvSpPr>
        <p:spPr>
          <a:xfrm>
            <a:off x="6294120" y="8161020"/>
            <a:ext cx="6294120" cy="586740"/>
          </a:xfrm>
          <a:prstGeom prst="rect">
            <a:avLst/>
          </a:prstGeom>
          <a:solidFill>
            <a:srgbClr val="FFFFFF"/>
          </a:solidFill>
          <a:ln w="96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0" name="n100: 时序边界位于上下游模块"/>
          <p:cNvSpPr txBox="1"/>
          <p:nvPr/>
        </p:nvSpPr>
        <p:spPr>
          <a:xfrm>
            <a:off x="8641080" y="8273034"/>
            <a:ext cx="1600200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时序边界位于上下游模块</a:t>
            </a:r>
          </a:p>
        </p:txBody>
      </p:sp>
      <p:sp>
        <p:nvSpPr>
          <p:cNvPr id="101" name="n101: reg_demux 的 clk_i / rst_ni 端口在当前实现中未被内部逻"/>
          <p:cNvSpPr txBox="1"/>
          <p:nvPr/>
        </p:nvSpPr>
        <p:spPr>
          <a:xfrm>
            <a:off x="7808718" y="8456097"/>
            <a:ext cx="3264925" cy="1792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2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reg_demux 的 clk_i / rst_ni 端口在当前实现中未被内部逻辑使用</a:t>
            </a:r>
          </a:p>
        </p:txBody>
      </p:sp>
      <p:sp>
        <p:nvSpPr>
          <p:cNvPr id="102" name="n102: 蓝：请求字段   紫：选择控制   绿：响应字段   SEL：同一个 reg_s"/>
          <p:cNvSpPr txBox="1"/>
          <p:nvPr/>
        </p:nvSpPr>
        <p:spPr>
          <a:xfrm>
            <a:off x="240030" y="8861054"/>
            <a:ext cx="6119490" cy="1877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蓝：请求字段   紫：选择控制   绿：响应字段   SEL：同一个 reg_select 网络；图中 p/k 为端口索引，j 为规则索引。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