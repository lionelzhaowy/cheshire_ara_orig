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  <p:sldId id="808" r:id="rId11"/>
    <p:sldId id="809" r:id="rId1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17610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129867" y="3840480"/>
            <a:ext cx="3793067" cy="137498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shared-payload-services"/>
          <p:cNvSpPr/>
          <p:nvPr/>
        </p:nvSpPr>
        <p:spPr>
          <a:xfrm>
            <a:off x="7095067" y="4233333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i-vdma-control"/>
          <p:cNvSpPr/>
          <p:nvPr/>
        </p:nvSpPr>
        <p:spPr>
          <a:xfrm>
            <a:off x="10701867" y="44365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vdma-pixels"/>
          <p:cNvSpPr/>
          <p:nvPr/>
        </p:nvSpPr>
        <p:spPr>
          <a:xfrm>
            <a:off x="10701867" y="48260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fifo-lvds"/>
          <p:cNvSpPr/>
          <p:nvPr/>
        </p:nvSpPr>
        <p:spPr>
          <a:xfrm>
            <a:off x="10701867" y="51308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llc-f0"/>
          <p:cNvSpPr/>
          <p:nvPr/>
        </p:nvSpPr>
        <p:spPr>
          <a:xfrm>
            <a:off x="4019852" y="3535680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mover-f1"/>
          <p:cNvSpPr/>
          <p:nvPr/>
        </p:nvSpPr>
        <p:spPr>
          <a:xfrm>
            <a:off x="7336367" y="1371600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frame-f2"/>
          <p:cNvSpPr/>
          <p:nvPr/>
        </p:nvSpPr>
        <p:spPr>
          <a:xfrm>
            <a:off x="8466667" y="1151467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oi-f3-request"/>
          <p:cNvSpPr/>
          <p:nvPr/>
        </p:nvSpPr>
        <p:spPr>
          <a:xfrm>
            <a:off x="9398000" y="3742267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ext-config"/>
          <p:cNvSpPr/>
          <p:nvPr/>
        </p:nvSpPr>
        <p:spPr>
          <a:xfrm>
            <a:off x="5846233" y="5313680"/>
            <a:ext cx="198967" cy="911352"/>
          </a:xfrm>
          <a:custGeom>
            <a:avLst/>
            <a:gdLst/>
            <a:ahLst/>
            <a:cxnLst/>
            <a:rect l="0" t="0" r="r" b="b"/>
            <a:pathLst>
              <a:path w="198967" h="911352" fill="none">
                <a:moveTo>
                  <a:pt x="0" y="0"/>
                </a:moveTo>
                <a:lnTo>
                  <a:pt x="198967" y="0"/>
                </a:lnTo>
                <a:lnTo>
                  <a:pt x="198967" y="9113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config-trunk"/>
          <p:cNvSpPr/>
          <p:nvPr/>
        </p:nvSpPr>
        <p:spPr>
          <a:xfrm>
            <a:off x="563562" y="6225032"/>
            <a:ext cx="10379075" cy="1"/>
          </a:xfrm>
          <a:custGeom>
            <a:avLst/>
            <a:gdLst/>
            <a:ahLst/>
            <a:cxnLst/>
            <a:rect l="0" t="0" r="r" b="b"/>
            <a:pathLst>
              <a:path w="10379075" h="1" fill="none">
                <a:moveTo>
                  <a:pt x="0" y="0"/>
                </a:moveTo>
                <a:lnTo>
                  <a:pt x="10379075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fg-C1"/>
          <p:cNvSpPr/>
          <p:nvPr/>
        </p:nvSpPr>
        <p:spPr>
          <a:xfrm>
            <a:off x="56356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cfg-C2"/>
          <p:cNvSpPr/>
          <p:nvPr/>
        </p:nvSpPr>
        <p:spPr>
          <a:xfrm>
            <a:off x="125550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cfg-C3"/>
          <p:cNvSpPr/>
          <p:nvPr/>
        </p:nvSpPr>
        <p:spPr>
          <a:xfrm>
            <a:off x="194743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cfg-C4"/>
          <p:cNvSpPr/>
          <p:nvPr/>
        </p:nvSpPr>
        <p:spPr>
          <a:xfrm>
            <a:off x="263937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cfg-C5"/>
          <p:cNvSpPr/>
          <p:nvPr/>
        </p:nvSpPr>
        <p:spPr>
          <a:xfrm>
            <a:off x="333131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cfg-C6"/>
          <p:cNvSpPr/>
          <p:nvPr/>
        </p:nvSpPr>
        <p:spPr>
          <a:xfrm>
            <a:off x="402325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fg-C7"/>
          <p:cNvSpPr/>
          <p:nvPr/>
        </p:nvSpPr>
        <p:spPr>
          <a:xfrm>
            <a:off x="471519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cfg-C8"/>
          <p:cNvSpPr/>
          <p:nvPr/>
        </p:nvSpPr>
        <p:spPr>
          <a:xfrm>
            <a:off x="540713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fg-C9"/>
          <p:cNvSpPr/>
          <p:nvPr/>
        </p:nvSpPr>
        <p:spPr>
          <a:xfrm>
            <a:off x="609906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cfg-C10"/>
          <p:cNvSpPr/>
          <p:nvPr/>
        </p:nvSpPr>
        <p:spPr>
          <a:xfrm>
            <a:off x="679100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cfg-C11"/>
          <p:cNvSpPr/>
          <p:nvPr/>
        </p:nvSpPr>
        <p:spPr>
          <a:xfrm>
            <a:off x="748294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cfg-C12"/>
          <p:cNvSpPr/>
          <p:nvPr/>
        </p:nvSpPr>
        <p:spPr>
          <a:xfrm>
            <a:off x="817488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cfg-C13"/>
          <p:cNvSpPr/>
          <p:nvPr/>
        </p:nvSpPr>
        <p:spPr>
          <a:xfrm>
            <a:off x="886682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cfg-C14"/>
          <p:cNvSpPr/>
          <p:nvPr/>
        </p:nvSpPr>
        <p:spPr>
          <a:xfrm>
            <a:off x="955876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cfg-C15"/>
          <p:cNvSpPr/>
          <p:nvPr/>
        </p:nvSpPr>
        <p:spPr>
          <a:xfrm>
            <a:off x="1025069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cfg-C16"/>
          <p:cNvSpPr/>
          <p:nvPr/>
        </p:nvSpPr>
        <p:spPr>
          <a:xfrm>
            <a:off x="1094263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front-input-0"/>
          <p:cNvSpPr/>
          <p:nvPr/>
        </p:nvSpPr>
        <p:spPr>
          <a:xfrm>
            <a:off x="6604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input-1"/>
          <p:cNvSpPr/>
          <p:nvPr/>
        </p:nvSpPr>
        <p:spPr>
          <a:xfrm>
            <a:off x="7535333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front-input-2"/>
          <p:cNvSpPr/>
          <p:nvPr/>
        </p:nvSpPr>
        <p:spPr>
          <a:xfrm>
            <a:off x="8466667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input-3"/>
          <p:cNvSpPr/>
          <p:nvPr/>
        </p:nvSpPr>
        <p:spPr>
          <a:xfrm>
            <a:off x="9398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adapt-address"/>
          <p:cNvSpPr/>
          <p:nvPr/>
        </p:nvSpPr>
        <p:spPr>
          <a:xfrm>
            <a:off x="6587067" y="4131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ddress-downstream"/>
          <p:cNvSpPr/>
          <p:nvPr/>
        </p:nvSpPr>
        <p:spPr>
          <a:xfrm>
            <a:off x="6976533" y="4402667"/>
            <a:ext cx="40640" cy="592667"/>
          </a:xfrm>
          <a:custGeom>
            <a:avLst/>
            <a:gdLst/>
            <a:ahLst/>
            <a:cxnLst/>
            <a:rect l="0" t="0" r="r" b="b"/>
            <a:pathLst>
              <a:path w="40640" h="592667" fill="none">
                <a:moveTo>
                  <a:pt x="0" y="0"/>
                </a:moveTo>
                <a:lnTo>
                  <a:pt x="40640" y="0"/>
                </a:lnTo>
                <a:lnTo>
                  <a:pt x="40640" y="5926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b-response"/>
          <p:cNvSpPr/>
          <p:nvPr/>
        </p:nvSpPr>
        <p:spPr>
          <a:xfrm>
            <a:off x="6163733" y="4131733"/>
            <a:ext cx="84667" cy="948267"/>
          </a:xfrm>
          <a:custGeom>
            <a:avLst/>
            <a:gdLst/>
            <a:ahLst/>
            <a:cxnLst/>
            <a:rect l="0" t="0" r="r" b="b"/>
            <a:pathLst>
              <a:path w="84667" h="948267" fill="none">
                <a:moveTo>
                  <a:pt x="33867" y="948267"/>
                </a:moveTo>
                <a:lnTo>
                  <a:pt x="0" y="94826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metadata-control"/>
          <p:cNvSpPr/>
          <p:nvPr/>
        </p:nvSpPr>
        <p:spPr>
          <a:xfrm>
            <a:off x="6587067" y="4572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etadata-storage"/>
          <p:cNvSpPr/>
          <p:nvPr/>
        </p:nvSpPr>
        <p:spPr>
          <a:xfrm>
            <a:off x="6587067" y="4893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adapt-compressor"/>
          <p:cNvSpPr/>
          <p:nvPr/>
        </p:nvSpPr>
        <p:spPr>
          <a:xfrm>
            <a:off x="7577667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mpressor-route"/>
          <p:cNvSpPr/>
          <p:nvPr/>
        </p:nvSpPr>
        <p:spPr>
          <a:xfrm>
            <a:off x="7577667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ad-to-decoder"/>
          <p:cNvSpPr/>
          <p:nvPr/>
        </p:nvSpPr>
        <p:spPr>
          <a:xfrm>
            <a:off x="8483600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decoder-up"/>
          <p:cNvSpPr/>
          <p:nvPr/>
        </p:nvSpPr>
        <p:spPr>
          <a:xfrm>
            <a:off x="8483600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adapt-plain-bypass"/>
          <p:cNvSpPr/>
          <p:nvPr/>
        </p:nvSpPr>
        <p:spPr>
          <a:xfrm>
            <a:off x="9389533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plain-bypass-route"/>
          <p:cNvSpPr/>
          <p:nvPr/>
        </p:nvSpPr>
        <p:spPr>
          <a:xfrm>
            <a:off x="9389533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front-ddr-0"/>
          <p:cNvSpPr/>
          <p:nvPr/>
        </p:nvSpPr>
        <p:spPr>
          <a:xfrm>
            <a:off x="6604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front-ddr-1"/>
          <p:cNvSpPr/>
          <p:nvPr/>
        </p:nvSpPr>
        <p:spPr>
          <a:xfrm>
            <a:off x="7535333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ront-ddr-2"/>
          <p:cNvSpPr/>
          <p:nvPr/>
        </p:nvSpPr>
        <p:spPr>
          <a:xfrm>
            <a:off x="8466667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ont-ddr-3"/>
          <p:cNvSpPr/>
          <p:nvPr/>
        </p:nvSpPr>
        <p:spPr>
          <a:xfrm>
            <a:off x="9398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data"/>
          <p:cNvSpPr/>
          <p:nvPr/>
        </p:nvSpPr>
        <p:spPr>
          <a:xfrm>
            <a:off x="10193867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gb"/>
          <p:cNvSpPr/>
          <p:nvPr/>
        </p:nvSpPr>
        <p:spPr>
          <a:xfrm>
            <a:off x="10193867" y="266530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pixel"/>
          <p:cNvSpPr/>
          <p:nvPr/>
        </p:nvSpPr>
        <p:spPr>
          <a:xfrm>
            <a:off x="10193867" y="289221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legend-cfg"/>
          <p:cNvSpPr/>
          <p:nvPr/>
        </p:nvSpPr>
        <p:spPr>
          <a:xfrm>
            <a:off x="10193867" y="311912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legend-optional"/>
          <p:cNvSpPr/>
          <p:nvPr/>
        </p:nvSpPr>
        <p:spPr>
          <a:xfrm>
            <a:off x="10193867" y="334602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785-1838.1"/>
          <p:cNvSpPr/>
          <p:nvPr/>
        </p:nvSpPr>
        <p:spPr>
          <a:xfrm>
            <a:off x="6028267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66.40625-1838.1"/>
          <p:cNvSpPr/>
          <p:nvPr/>
        </p:nvSpPr>
        <p:spPr>
          <a:xfrm>
            <a:off x="54662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370.71875-1838.1"/>
          <p:cNvSpPr/>
          <p:nvPr/>
        </p:nvSpPr>
        <p:spPr>
          <a:xfrm>
            <a:off x="123856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575.03125-1838.1"/>
          <p:cNvSpPr/>
          <p:nvPr/>
        </p:nvSpPr>
        <p:spPr>
          <a:xfrm>
            <a:off x="193050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779.34375-1838.1"/>
          <p:cNvSpPr/>
          <p:nvPr/>
        </p:nvSpPr>
        <p:spPr>
          <a:xfrm>
            <a:off x="262244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983.65625-1838.1"/>
          <p:cNvSpPr/>
          <p:nvPr/>
        </p:nvSpPr>
        <p:spPr>
          <a:xfrm>
            <a:off x="331438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187.96875-1838.1"/>
          <p:cNvSpPr/>
          <p:nvPr/>
        </p:nvSpPr>
        <p:spPr>
          <a:xfrm>
            <a:off x="400632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1392.28125-1838.1"/>
          <p:cNvSpPr/>
          <p:nvPr/>
        </p:nvSpPr>
        <p:spPr>
          <a:xfrm>
            <a:off x="469825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1596.59375-1838.1"/>
          <p:cNvSpPr/>
          <p:nvPr/>
        </p:nvSpPr>
        <p:spPr>
          <a:xfrm>
            <a:off x="539019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1800.90625-1838.1"/>
          <p:cNvSpPr/>
          <p:nvPr/>
        </p:nvSpPr>
        <p:spPr>
          <a:xfrm>
            <a:off x="608213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2005.21875-1838.1"/>
          <p:cNvSpPr/>
          <p:nvPr/>
        </p:nvSpPr>
        <p:spPr>
          <a:xfrm>
            <a:off x="677407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junction-2209.53125-1838.1"/>
          <p:cNvSpPr/>
          <p:nvPr/>
        </p:nvSpPr>
        <p:spPr>
          <a:xfrm>
            <a:off x="746601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junction-2413.84375-1838.1"/>
          <p:cNvSpPr/>
          <p:nvPr/>
        </p:nvSpPr>
        <p:spPr>
          <a:xfrm>
            <a:off x="815795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junction-2618.15625-1838.1"/>
          <p:cNvSpPr/>
          <p:nvPr/>
        </p:nvSpPr>
        <p:spPr>
          <a:xfrm>
            <a:off x="884988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junction-2822.46875-1838.1"/>
          <p:cNvSpPr/>
          <p:nvPr/>
        </p:nvSpPr>
        <p:spPr>
          <a:xfrm>
            <a:off x="954182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junction-3026.78125-1838.1"/>
          <p:cNvSpPr/>
          <p:nvPr/>
        </p:nvSpPr>
        <p:spPr>
          <a:xfrm>
            <a:off x="1023376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junction-3231.09375-1838.1"/>
          <p:cNvSpPr/>
          <p:nvPr/>
        </p:nvSpPr>
        <p:spPr>
          <a:xfrm>
            <a:off x="1092570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ddr-S0"/>
          <p:cNvSpPr/>
          <p:nvPr/>
        </p:nvSpPr>
        <p:spPr>
          <a:xfrm>
            <a:off x="6350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ddr-S1"/>
          <p:cNvSpPr/>
          <p:nvPr/>
        </p:nvSpPr>
        <p:spPr>
          <a:xfrm>
            <a:off x="7281333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ddr-S2"/>
          <p:cNvSpPr/>
          <p:nvPr/>
        </p:nvSpPr>
        <p:spPr>
          <a:xfrm>
            <a:off x="8212667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ddr-S3"/>
          <p:cNvSpPr/>
          <p:nvPr/>
        </p:nvSpPr>
        <p:spPr>
          <a:xfrm>
            <a:off x="9144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config-C1"/>
          <p:cNvSpPr/>
          <p:nvPr/>
        </p:nvSpPr>
        <p:spPr>
          <a:xfrm>
            <a:off x="24130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g-badge-C1"/>
          <p:cNvSpPr/>
          <p:nvPr/>
        </p:nvSpPr>
        <p:spPr>
          <a:xfrm>
            <a:off x="26500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config-C2"/>
          <p:cNvSpPr/>
          <p:nvPr/>
        </p:nvSpPr>
        <p:spPr>
          <a:xfrm>
            <a:off x="93323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g-badge-C2"/>
          <p:cNvSpPr/>
          <p:nvPr/>
        </p:nvSpPr>
        <p:spPr>
          <a:xfrm>
            <a:off x="95694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nfig-C3"/>
          <p:cNvSpPr/>
          <p:nvPr/>
        </p:nvSpPr>
        <p:spPr>
          <a:xfrm>
            <a:off x="162517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g-badge-C3"/>
          <p:cNvSpPr/>
          <p:nvPr/>
        </p:nvSpPr>
        <p:spPr>
          <a:xfrm>
            <a:off x="164888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config-C4"/>
          <p:cNvSpPr/>
          <p:nvPr/>
        </p:nvSpPr>
        <p:spPr>
          <a:xfrm>
            <a:off x="231711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g-badge-C4"/>
          <p:cNvSpPr/>
          <p:nvPr/>
        </p:nvSpPr>
        <p:spPr>
          <a:xfrm>
            <a:off x="234082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config-C5"/>
          <p:cNvSpPr/>
          <p:nvPr/>
        </p:nvSpPr>
        <p:spPr>
          <a:xfrm>
            <a:off x="300905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g-badge-C5"/>
          <p:cNvSpPr/>
          <p:nvPr/>
        </p:nvSpPr>
        <p:spPr>
          <a:xfrm>
            <a:off x="303276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config-C6"/>
          <p:cNvSpPr/>
          <p:nvPr/>
        </p:nvSpPr>
        <p:spPr>
          <a:xfrm>
            <a:off x="370099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g-badge-C6"/>
          <p:cNvSpPr/>
          <p:nvPr/>
        </p:nvSpPr>
        <p:spPr>
          <a:xfrm>
            <a:off x="372469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config-C7"/>
          <p:cNvSpPr/>
          <p:nvPr/>
        </p:nvSpPr>
        <p:spPr>
          <a:xfrm>
            <a:off x="439293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g-badge-C7"/>
          <p:cNvSpPr/>
          <p:nvPr/>
        </p:nvSpPr>
        <p:spPr>
          <a:xfrm>
            <a:off x="441663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config-C8"/>
          <p:cNvSpPr/>
          <p:nvPr/>
        </p:nvSpPr>
        <p:spPr>
          <a:xfrm>
            <a:off x="508486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g-badge-C8"/>
          <p:cNvSpPr/>
          <p:nvPr/>
        </p:nvSpPr>
        <p:spPr>
          <a:xfrm>
            <a:off x="510857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config-C9"/>
          <p:cNvSpPr/>
          <p:nvPr/>
        </p:nvSpPr>
        <p:spPr>
          <a:xfrm>
            <a:off x="577680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g-badge-C9"/>
          <p:cNvSpPr/>
          <p:nvPr/>
        </p:nvSpPr>
        <p:spPr>
          <a:xfrm>
            <a:off x="580051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config-C10"/>
          <p:cNvSpPr/>
          <p:nvPr/>
        </p:nvSpPr>
        <p:spPr>
          <a:xfrm>
            <a:off x="646874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g-badge-C10"/>
          <p:cNvSpPr/>
          <p:nvPr/>
        </p:nvSpPr>
        <p:spPr>
          <a:xfrm>
            <a:off x="649245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config-C11"/>
          <p:cNvSpPr/>
          <p:nvPr/>
        </p:nvSpPr>
        <p:spPr>
          <a:xfrm>
            <a:off x="716068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g-badge-C11"/>
          <p:cNvSpPr/>
          <p:nvPr/>
        </p:nvSpPr>
        <p:spPr>
          <a:xfrm>
            <a:off x="718439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config-C12"/>
          <p:cNvSpPr/>
          <p:nvPr/>
        </p:nvSpPr>
        <p:spPr>
          <a:xfrm>
            <a:off x="785262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g-badge-C12"/>
          <p:cNvSpPr/>
          <p:nvPr/>
        </p:nvSpPr>
        <p:spPr>
          <a:xfrm>
            <a:off x="787632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config-C13"/>
          <p:cNvSpPr/>
          <p:nvPr/>
        </p:nvSpPr>
        <p:spPr>
          <a:xfrm>
            <a:off x="854456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g-badge-C13"/>
          <p:cNvSpPr/>
          <p:nvPr/>
        </p:nvSpPr>
        <p:spPr>
          <a:xfrm>
            <a:off x="856826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config-C14"/>
          <p:cNvSpPr/>
          <p:nvPr/>
        </p:nvSpPr>
        <p:spPr>
          <a:xfrm>
            <a:off x="923649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g-badge-C14"/>
          <p:cNvSpPr/>
          <p:nvPr/>
        </p:nvSpPr>
        <p:spPr>
          <a:xfrm>
            <a:off x="926020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config-C15"/>
          <p:cNvSpPr/>
          <p:nvPr/>
        </p:nvSpPr>
        <p:spPr>
          <a:xfrm>
            <a:off x="992843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g-badge-C15"/>
          <p:cNvSpPr/>
          <p:nvPr/>
        </p:nvSpPr>
        <p:spPr>
          <a:xfrm>
            <a:off x="995214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config-C16"/>
          <p:cNvSpPr/>
          <p:nvPr/>
        </p:nvSpPr>
        <p:spPr>
          <a:xfrm>
            <a:off x="1062037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g-badge-C16"/>
          <p:cNvSpPr/>
          <p:nvPr/>
        </p:nvSpPr>
        <p:spPr>
          <a:xfrm>
            <a:off x="1064408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front-F0"/>
          <p:cNvSpPr/>
          <p:nvPr/>
        </p:nvSpPr>
        <p:spPr>
          <a:xfrm>
            <a:off x="6316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front-F1"/>
          <p:cNvSpPr/>
          <p:nvPr/>
        </p:nvSpPr>
        <p:spPr>
          <a:xfrm>
            <a:off x="7247467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front-F2"/>
          <p:cNvSpPr/>
          <p:nvPr/>
        </p:nvSpPr>
        <p:spPr>
          <a:xfrm>
            <a:off x="8178800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front-F3"/>
          <p:cNvSpPr/>
          <p:nvPr/>
        </p:nvSpPr>
        <p:spPr>
          <a:xfrm>
            <a:off x="9110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ront-adapt"/>
          <p:cNvSpPr/>
          <p:nvPr/>
        </p:nvSpPr>
        <p:spPr>
          <a:xfrm>
            <a:off x="6197600" y="3955627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badge-C12"/>
          <p:cNvSpPr/>
          <p:nvPr/>
        </p:nvSpPr>
        <p:spPr>
          <a:xfrm>
            <a:off x="9652000" y="399965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address-control"/>
          <p:cNvSpPr/>
          <p:nvPr/>
        </p:nvSpPr>
        <p:spPr>
          <a:xfrm>
            <a:off x="6197600" y="4233333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metadata"/>
          <p:cNvSpPr/>
          <p:nvPr/>
        </p:nvSpPr>
        <p:spPr>
          <a:xfrm>
            <a:off x="6197600" y="4673600"/>
            <a:ext cx="778933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compressor"/>
          <p:cNvSpPr/>
          <p:nvPr/>
        </p:nvSpPr>
        <p:spPr>
          <a:xfrm>
            <a:off x="7179733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badge-C15"/>
          <p:cNvSpPr/>
          <p:nvPr/>
        </p:nvSpPr>
        <p:spPr>
          <a:xfrm>
            <a:off x="7206827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decompressor"/>
          <p:cNvSpPr/>
          <p:nvPr/>
        </p:nvSpPr>
        <p:spPr>
          <a:xfrm>
            <a:off x="8085667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badge-C16"/>
          <p:cNvSpPr/>
          <p:nvPr/>
        </p:nvSpPr>
        <p:spPr>
          <a:xfrm>
            <a:off x="8112760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plain-bypass"/>
          <p:cNvSpPr/>
          <p:nvPr/>
        </p:nvSpPr>
        <p:spPr>
          <a:xfrm>
            <a:off x="8991600" y="4368800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front-route"/>
          <p:cNvSpPr/>
          <p:nvPr/>
        </p:nvSpPr>
        <p:spPr>
          <a:xfrm>
            <a:off x="6197600" y="4995333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oi-scheduler"/>
          <p:cNvSpPr/>
          <p:nvPr/>
        </p:nvSpPr>
        <p:spPr>
          <a:xfrm>
            <a:off x="10261600" y="4097867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badge-C11"/>
          <p:cNvSpPr/>
          <p:nvPr/>
        </p:nvSpPr>
        <p:spPr>
          <a:xfrm>
            <a:off x="10938933" y="411141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oi-vdma"/>
          <p:cNvSpPr/>
          <p:nvPr/>
        </p:nvSpPr>
        <p:spPr>
          <a:xfrm>
            <a:off x="10261600" y="4487333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badge-C13"/>
          <p:cNvSpPr/>
          <p:nvPr/>
        </p:nvSpPr>
        <p:spPr>
          <a:xfrm>
            <a:off x="10938933" y="4500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oi-fifo"/>
          <p:cNvSpPr/>
          <p:nvPr/>
        </p:nvSpPr>
        <p:spPr>
          <a:xfrm>
            <a:off x="10261600" y="4876800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lvds-tx"/>
          <p:cNvSpPr/>
          <p:nvPr/>
        </p:nvSpPr>
        <p:spPr>
          <a:xfrm>
            <a:off x="10261600" y="5181600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badge-C14"/>
          <p:cNvSpPr/>
          <p:nvPr/>
        </p:nvSpPr>
        <p:spPr>
          <a:xfrm>
            <a:off x="10938933" y="51951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304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05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306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307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308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309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310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311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312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313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314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315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316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17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18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19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20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21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322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23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324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325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26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327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328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29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30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31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32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33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4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35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36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37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38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39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40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1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42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43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44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45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46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47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48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49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50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51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52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53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54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55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56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57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58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59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60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61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62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63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64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65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66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67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68" name="emmc-host-t1: 存储块 ↔ 内存"/>
          <p:cNvSpPr txBox="1"/>
          <p:nvPr/>
        </p:nvSpPr>
        <p:spPr>
          <a:xfrm>
            <a:off x="7825869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69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70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71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72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73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74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75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76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77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78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79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80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81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82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83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84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85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86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87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88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89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90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91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92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93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94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95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96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97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98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99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400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401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402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403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404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405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406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407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408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409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410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411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412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413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414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415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416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417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418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419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20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421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22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423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24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425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26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427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28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429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30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431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32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433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34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435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36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37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38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39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40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41" name="ddr-S0-t0: DDR.S0"/>
          <p:cNvSpPr txBox="1"/>
          <p:nvPr/>
        </p:nvSpPr>
        <p:spPr>
          <a:xfrm>
            <a:off x="6434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442" name="ddr-S1-t0: DDR.S1"/>
          <p:cNvSpPr txBox="1"/>
          <p:nvPr/>
        </p:nvSpPr>
        <p:spPr>
          <a:xfrm>
            <a:off x="7365558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443" name="ddr-S2-t0: DDR.S2"/>
          <p:cNvSpPr txBox="1"/>
          <p:nvPr/>
        </p:nvSpPr>
        <p:spPr>
          <a:xfrm>
            <a:off x="8296891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444" name="ddr-S3-t0: DDR.S3"/>
          <p:cNvSpPr txBox="1"/>
          <p:nvPr/>
        </p:nvSpPr>
        <p:spPr>
          <a:xfrm>
            <a:off x="9228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445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6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7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8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9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50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51" name="ddr-phy-t1: 训练 / 校准"/>
          <p:cNvSpPr txBox="1"/>
          <p:nvPr/>
        </p:nvSpPr>
        <p:spPr>
          <a:xfrm>
            <a:off x="10335535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52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53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54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5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56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57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58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9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0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61" name="reg-badge-C1-text: C1"/>
          <p:cNvSpPr txBox="1"/>
          <p:nvPr/>
        </p:nvSpPr>
        <p:spPr>
          <a:xfrm>
            <a:off x="27585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2" name="config-C1-title-0: PLL / 时钟"/>
          <p:cNvSpPr txBox="1"/>
          <p:nvPr/>
        </p:nvSpPr>
        <p:spPr>
          <a:xfrm>
            <a:off x="275085" y="6423491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463" name="config-C1-title-1: 复位"/>
          <p:cNvSpPr txBox="1"/>
          <p:nvPr/>
        </p:nvSpPr>
        <p:spPr>
          <a:xfrm>
            <a:off x="41116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464" name="reg-badge-C2-text: C2"/>
          <p:cNvSpPr txBox="1"/>
          <p:nvPr/>
        </p:nvSpPr>
        <p:spPr>
          <a:xfrm>
            <a:off x="96779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5" name="config-C2-title-0: DDR"/>
          <p:cNvSpPr txBox="1"/>
          <p:nvPr/>
        </p:nvSpPr>
        <p:spPr>
          <a:xfrm>
            <a:off x="1106276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6" name="config-C2-title-1: Controller"/>
          <p:cNvSpPr txBox="1"/>
          <p:nvPr/>
        </p:nvSpPr>
        <p:spPr>
          <a:xfrm>
            <a:off x="990735" y="6542024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467" name="reg-badge-C3-text: C3"/>
          <p:cNvSpPr txBox="1"/>
          <p:nvPr/>
        </p:nvSpPr>
        <p:spPr>
          <a:xfrm>
            <a:off x="165973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8" name="config-C3-title-0: DDR"/>
          <p:cNvSpPr txBox="1"/>
          <p:nvPr/>
        </p:nvSpPr>
        <p:spPr>
          <a:xfrm>
            <a:off x="1798214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9" name="config-C3-title-1: PHY"/>
          <p:cNvSpPr txBox="1"/>
          <p:nvPr/>
        </p:nvSpPr>
        <p:spPr>
          <a:xfrm>
            <a:off x="1806300" y="654202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70" name="reg-badge-C4-text: C4"/>
          <p:cNvSpPr txBox="1"/>
          <p:nvPr/>
        </p:nvSpPr>
        <p:spPr>
          <a:xfrm>
            <a:off x="2351670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1" name="config-C4-title-0: LVDS"/>
          <p:cNvSpPr txBox="1"/>
          <p:nvPr/>
        </p:nvSpPr>
        <p:spPr>
          <a:xfrm>
            <a:off x="2469811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2" name="config-C4-title-1: RX"/>
          <p:cNvSpPr txBox="1"/>
          <p:nvPr/>
        </p:nvSpPr>
        <p:spPr>
          <a:xfrm>
            <a:off x="2529739" y="6542024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473" name="reg-badge-C5-text: C5"/>
          <p:cNvSpPr txBox="1"/>
          <p:nvPr/>
        </p:nvSpPr>
        <p:spPr>
          <a:xfrm>
            <a:off x="3043608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4" name="config-C5-title-0: ISP"/>
          <p:cNvSpPr txBox="1"/>
          <p:nvPr/>
        </p:nvSpPr>
        <p:spPr>
          <a:xfrm>
            <a:off x="3207438" y="6484451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5" name="reg-badge-C6-text: C6"/>
          <p:cNvSpPr txBox="1"/>
          <p:nvPr/>
        </p:nvSpPr>
        <p:spPr>
          <a:xfrm>
            <a:off x="3735546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6" name="config-C6-title-0: NPU"/>
          <p:cNvSpPr txBox="1"/>
          <p:nvPr/>
        </p:nvSpPr>
        <p:spPr>
          <a:xfrm>
            <a:off x="3878048" y="6423491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477" name="config-C6-title-1: 计算"/>
          <p:cNvSpPr txBox="1"/>
          <p:nvPr/>
        </p:nvSpPr>
        <p:spPr>
          <a:xfrm>
            <a:off x="387085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478" name="reg-badge-C7-text: C7"/>
          <p:cNvSpPr txBox="1"/>
          <p:nvPr/>
        </p:nvSpPr>
        <p:spPr>
          <a:xfrm>
            <a:off x="442748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9" name="config-C7-title-0: NPU / GB"/>
          <p:cNvSpPr txBox="1"/>
          <p:nvPr/>
        </p:nvSpPr>
        <p:spPr>
          <a:xfrm>
            <a:off x="4448196" y="6423491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80" name="config-C7-title-1: 搬运"/>
          <p:cNvSpPr txBox="1"/>
          <p:nvPr/>
        </p:nvSpPr>
        <p:spPr>
          <a:xfrm>
            <a:off x="456279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81" name="reg-badge-C8-text: C8"/>
          <p:cNvSpPr txBox="1"/>
          <p:nvPr/>
        </p:nvSpPr>
        <p:spPr>
          <a:xfrm>
            <a:off x="511942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2" name="config-C8-title-0: 帧写入"/>
          <p:cNvSpPr txBox="1"/>
          <p:nvPr/>
        </p:nvSpPr>
        <p:spPr>
          <a:xfrm>
            <a:off x="5203931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483" name="config-C8-title-1: DMA"/>
          <p:cNvSpPr txBox="1"/>
          <p:nvPr/>
        </p:nvSpPr>
        <p:spPr>
          <a:xfrm>
            <a:off x="5252797" y="6542024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484" name="reg-badge-C9-text: C9"/>
          <p:cNvSpPr txBox="1"/>
          <p:nvPr/>
        </p:nvSpPr>
        <p:spPr>
          <a:xfrm>
            <a:off x="581136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5" name="config-C9-title-0: GB"/>
          <p:cNvSpPr txBox="1"/>
          <p:nvPr/>
        </p:nvSpPr>
        <p:spPr>
          <a:xfrm>
            <a:off x="5983330" y="6423491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86" name="config-C9-title-1: 管理"/>
          <p:cNvSpPr txBox="1"/>
          <p:nvPr/>
        </p:nvSpPr>
        <p:spPr>
          <a:xfrm>
            <a:off x="5946669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487" name="reg-badge-C10-text: C10"/>
          <p:cNvSpPr txBox="1"/>
          <p:nvPr/>
        </p:nvSpPr>
        <p:spPr>
          <a:xfrm>
            <a:off x="648197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88" name="config-C10-title-0: eMMC Host"/>
          <p:cNvSpPr txBox="1"/>
          <p:nvPr/>
        </p:nvSpPr>
        <p:spPr>
          <a:xfrm>
            <a:off x="6479413" y="6423491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489" name="config-C10-title-1: / DMA"/>
          <p:cNvSpPr txBox="1"/>
          <p:nvPr/>
        </p:nvSpPr>
        <p:spPr>
          <a:xfrm>
            <a:off x="6595052" y="6542024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490" name="reg-badge-C11-text: C11"/>
          <p:cNvSpPr txBox="1"/>
          <p:nvPr/>
        </p:nvSpPr>
        <p:spPr>
          <a:xfrm>
            <a:off x="7173915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91" name="config-C11-title-0: ROI 任务"/>
          <p:cNvSpPr txBox="1"/>
          <p:nvPr/>
        </p:nvSpPr>
        <p:spPr>
          <a:xfrm>
            <a:off x="7237180" y="6423491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492" name="config-C11-title-1: / 调度"/>
          <p:cNvSpPr txBox="1"/>
          <p:nvPr/>
        </p:nvSpPr>
        <p:spPr>
          <a:xfrm>
            <a:off x="7288924" y="6542024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493" name="reg-badge-C12-text: C12"/>
          <p:cNvSpPr txBox="1"/>
          <p:nvPr/>
        </p:nvSpPr>
        <p:spPr>
          <a:xfrm>
            <a:off x="7865853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94" name="config-C12-title-0: 前端公共"/>
          <p:cNvSpPr txBox="1"/>
          <p:nvPr/>
        </p:nvSpPr>
        <p:spPr>
          <a:xfrm>
            <a:off x="7920884" y="642349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495" name="config-C12-title-1: 控制"/>
          <p:cNvSpPr txBox="1"/>
          <p:nvPr/>
        </p:nvSpPr>
        <p:spPr>
          <a:xfrm>
            <a:off x="802248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96" name="reg-badge-C13-text: C13"/>
          <p:cNvSpPr txBox="1"/>
          <p:nvPr/>
        </p:nvSpPr>
        <p:spPr>
          <a:xfrm>
            <a:off x="8557792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497" name="config-C13-title-0: 帧输出"/>
          <p:cNvSpPr txBox="1"/>
          <p:nvPr/>
        </p:nvSpPr>
        <p:spPr>
          <a:xfrm>
            <a:off x="8663622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498" name="config-C13-title-1: VDMA"/>
          <p:cNvSpPr txBox="1"/>
          <p:nvPr/>
        </p:nvSpPr>
        <p:spPr>
          <a:xfrm>
            <a:off x="8684062" y="6542024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499" name="reg-badge-C14-text: C14"/>
          <p:cNvSpPr txBox="1"/>
          <p:nvPr/>
        </p:nvSpPr>
        <p:spPr>
          <a:xfrm>
            <a:off x="9249730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00" name="config-C14-title-0: LVDS"/>
          <p:cNvSpPr txBox="1"/>
          <p:nvPr/>
        </p:nvSpPr>
        <p:spPr>
          <a:xfrm>
            <a:off x="9389195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501" name="config-C14-title-1: TX"/>
          <p:cNvSpPr txBox="1"/>
          <p:nvPr/>
        </p:nvSpPr>
        <p:spPr>
          <a:xfrm>
            <a:off x="9455176" y="6542024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502" name="reg-badge-C15-text: C15"/>
          <p:cNvSpPr txBox="1"/>
          <p:nvPr/>
        </p:nvSpPr>
        <p:spPr>
          <a:xfrm>
            <a:off x="9941668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03" name="config-C15-title-0: 压缩器"/>
          <p:cNvSpPr txBox="1"/>
          <p:nvPr/>
        </p:nvSpPr>
        <p:spPr>
          <a:xfrm>
            <a:off x="10047499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504" name="reg-badge-C16-text: C16"/>
          <p:cNvSpPr txBox="1"/>
          <p:nvPr/>
        </p:nvSpPr>
        <p:spPr>
          <a:xfrm>
            <a:off x="1063360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05" name="config-C16-title-0: 解压器"/>
          <p:cNvSpPr txBox="1"/>
          <p:nvPr/>
        </p:nvSpPr>
        <p:spPr>
          <a:xfrm>
            <a:off x="10739438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506" name="front-F0-t0: F0 · LLC"/>
          <p:cNvSpPr txBox="1"/>
          <p:nvPr/>
        </p:nvSpPr>
        <p:spPr>
          <a:xfrm>
            <a:off x="6431137" y="3784092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507" name="front-F1-t0: F1 · GB 搬运"/>
          <p:cNvSpPr txBox="1"/>
          <p:nvPr/>
        </p:nvSpPr>
        <p:spPr>
          <a:xfrm>
            <a:off x="7287834" y="3784092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508" name="front-F2-t0: F2 · 帧写"/>
          <p:cNvSpPr txBox="1"/>
          <p:nvPr/>
        </p:nvSpPr>
        <p:spPr>
          <a:xfrm>
            <a:off x="8279294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509" name="front-F3-t0: F3 · 帧读"/>
          <p:cNvSpPr txBox="1"/>
          <p:nvPr/>
        </p:nvSpPr>
        <p:spPr>
          <a:xfrm>
            <a:off x="9210627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510" name="front-adapt-t0: 共享压缩前端 · 四口区域选择 / 事务跟踪"/>
          <p:cNvSpPr txBox="1"/>
          <p:nvPr/>
        </p:nvSpPr>
        <p:spPr>
          <a:xfrm>
            <a:off x="7063335" y="3968496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511" name="badge-C12-text: C12"/>
          <p:cNvSpPr txBox="1"/>
          <p:nvPr/>
        </p:nvSpPr>
        <p:spPr>
          <a:xfrm>
            <a:off x="9641525" y="399057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512" name="address-control-t0: 地址 / 事务"/>
          <p:cNvSpPr txBox="1"/>
          <p:nvPr/>
        </p:nvSpPr>
        <p:spPr>
          <a:xfrm>
            <a:off x="6276216" y="4274651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513" name="address-control-t1: AR / AW 映射"/>
          <p:cNvSpPr txBox="1"/>
          <p:nvPr/>
        </p:nvSpPr>
        <p:spPr>
          <a:xfrm>
            <a:off x="6279909" y="4398467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514" name="metadata-t0: 块地址 / 元数据"/>
          <p:cNvSpPr txBox="1"/>
          <p:nvPr/>
        </p:nvSpPr>
        <p:spPr>
          <a:xfrm>
            <a:off x="6202108" y="4713495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515" name="badge-C15-text: C15"/>
          <p:cNvSpPr txBox="1"/>
          <p:nvPr/>
        </p:nvSpPr>
        <p:spPr>
          <a:xfrm>
            <a:off x="7196352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16" name="compressor-title: 共享压缩器"/>
          <p:cNvSpPr txBox="1"/>
          <p:nvPr/>
        </p:nvSpPr>
        <p:spPr>
          <a:xfrm>
            <a:off x="7272867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517" name="compressor-detail: W 写数据"/>
          <p:cNvSpPr txBox="1"/>
          <p:nvPr/>
        </p:nvSpPr>
        <p:spPr>
          <a:xfrm>
            <a:off x="7352287" y="4595436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518" name="badge-C16-text: C16"/>
          <p:cNvSpPr txBox="1"/>
          <p:nvPr/>
        </p:nvSpPr>
        <p:spPr>
          <a:xfrm>
            <a:off x="8102285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19" name="decompressor-title: 共享解压器"/>
          <p:cNvSpPr txBox="1"/>
          <p:nvPr/>
        </p:nvSpPr>
        <p:spPr>
          <a:xfrm>
            <a:off x="8178800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520" name="decompressor-detail: R 读数据"/>
          <p:cNvSpPr txBox="1"/>
          <p:nvPr/>
        </p:nvSpPr>
        <p:spPr>
          <a:xfrm>
            <a:off x="8267033" y="4595436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521" name="plain-bypass-title: 普通数据旁路"/>
          <p:cNvSpPr txBox="1"/>
          <p:nvPr/>
        </p:nvSpPr>
        <p:spPr>
          <a:xfrm>
            <a:off x="9033933" y="4472432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522" name="plain-bypass-detail: W / R 原样"/>
          <p:cNvSpPr txBox="1"/>
          <p:nvPr/>
        </p:nvSpPr>
        <p:spPr>
          <a:xfrm>
            <a:off x="9131647" y="4595436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523" name="front-route-t0: 下游 AXI 路由 / R、B 响应匹配"/>
          <p:cNvSpPr txBox="1"/>
          <p:nvPr/>
        </p:nvSpPr>
        <p:spPr>
          <a:xfrm>
            <a:off x="7283945" y="5004816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524" name="b-response-label: B"/>
          <p:cNvSpPr txBox="1"/>
          <p:nvPr/>
        </p:nvSpPr>
        <p:spPr>
          <a:xfrm>
            <a:off x="6250331" y="4132004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25" name="badge-C11-text: C11"/>
          <p:cNvSpPr txBox="1"/>
          <p:nvPr/>
        </p:nvSpPr>
        <p:spPr>
          <a:xfrm>
            <a:off x="10928458" y="410233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526" name="roi-scheduler-title: ROI 任务表"/>
          <p:cNvSpPr txBox="1"/>
          <p:nvPr/>
        </p:nvSpPr>
        <p:spPr>
          <a:xfrm>
            <a:off x="10405300" y="4198112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527" name="roi-scheduler-detail: 顺序调度"/>
          <p:cNvSpPr txBox="1"/>
          <p:nvPr/>
        </p:nvSpPr>
        <p:spPr>
          <a:xfrm>
            <a:off x="10481733" y="4314342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528" name="badge-C13-text: C13"/>
          <p:cNvSpPr txBox="1"/>
          <p:nvPr/>
        </p:nvSpPr>
        <p:spPr>
          <a:xfrm>
            <a:off x="10928458" y="44918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29" name="roi-vdma-title: 帧输出 VDMA"/>
          <p:cNvSpPr txBox="1"/>
          <p:nvPr/>
        </p:nvSpPr>
        <p:spPr>
          <a:xfrm>
            <a:off x="10351476" y="4587579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530" name="roi-vdma-detail: 二维 AXI 读"/>
          <p:cNvSpPr txBox="1"/>
          <p:nvPr/>
        </p:nvSpPr>
        <p:spPr>
          <a:xfrm>
            <a:off x="10439553" y="4703809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531" name="roi-fifo-t0: 像素整理"/>
          <p:cNvSpPr txBox="1"/>
          <p:nvPr/>
        </p:nvSpPr>
        <p:spPr>
          <a:xfrm>
            <a:off x="10447867" y="4875784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532" name="roi-fifo-t1: 输出 FIFO"/>
          <p:cNvSpPr txBox="1"/>
          <p:nvPr/>
        </p:nvSpPr>
        <p:spPr>
          <a:xfrm>
            <a:off x="10473904" y="4999601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533" name="badge-C14-text: C14"/>
          <p:cNvSpPr txBox="1"/>
          <p:nvPr/>
        </p:nvSpPr>
        <p:spPr>
          <a:xfrm>
            <a:off x="10928458" y="51860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34" name="lvds-tx-title: LVDS TX"/>
          <p:cNvSpPr txBox="1"/>
          <p:nvPr/>
        </p:nvSpPr>
        <p:spPr>
          <a:xfrm>
            <a:off x="10464287" y="5281845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535" name="lvds-tx-detail: 子图帧行封装"/>
          <p:cNvSpPr txBox="1"/>
          <p:nvPr/>
        </p:nvSpPr>
        <p:spPr>
          <a:xfrm>
            <a:off x="10393680" y="539807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536" name="legend-data-text: AXI 请求方向"/>
          <p:cNvSpPr txBox="1"/>
          <p:nvPr/>
        </p:nvSpPr>
        <p:spPr>
          <a:xfrm>
            <a:off x="10476460" y="2377169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537" name="legend-gb-text: GB 局部读写"/>
          <p:cNvSpPr txBox="1"/>
          <p:nvPr/>
        </p:nvSpPr>
        <p:spPr>
          <a:xfrm>
            <a:off x="10479984" y="2604076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538" name="legend-pixel-text: 像素流"/>
          <p:cNvSpPr txBox="1"/>
          <p:nvPr/>
        </p:nvSpPr>
        <p:spPr>
          <a:xfrm>
            <a:off x="10593493" y="2830982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539" name="legend-cfg-text: 配置 / 控制"/>
          <p:cNvSpPr txBox="1"/>
          <p:nvPr/>
        </p:nvSpPr>
        <p:spPr>
          <a:xfrm>
            <a:off x="10500193" y="3057889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40" name="legend-optional-text: eMMC 接口"/>
          <p:cNvSpPr txBox="1"/>
          <p:nvPr/>
        </p:nvSpPr>
        <p:spPr>
          <a:xfrm>
            <a:off x="10501180" y="3284796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541" name="legend-return: AXI 响应：沿原接口返回"/>
          <p:cNvSpPr txBox="1"/>
          <p:nvPr/>
        </p:nvSpPr>
        <p:spPr>
          <a:xfrm>
            <a:off x="10228077" y="3474991"/>
            <a:ext cx="94757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响应：沿原接口返回</a:t>
            </a:r>
          </a:p>
        </p:txBody>
      </p:sp>
      <p:sp>
        <p:nvSpPr>
          <p:cNvPr id="542" name="legend-status: 虚线框：规划 / 可选"/>
          <p:cNvSpPr txBox="1"/>
          <p:nvPr/>
        </p:nvSpPr>
        <p:spPr>
          <a:xfrm>
            <a:off x="10290625" y="3586751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  <vt:lpstr>SoC 架构：等距目标端口 / GB 接入位置调整</vt:lpstr>
      <vt:lpstr>SoC 初版规划：eMMC / ROI / 四口共享压缩存储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