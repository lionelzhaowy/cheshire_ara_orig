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DDR 互联候选结构：LVDS / ISP 旁路 + 共享 Global Buf"/>
          <p:cNvSpPr txBox="1"/>
          <p:nvPr/>
        </p:nvSpPr>
        <p:spPr>
          <a:xfrm>
            <a:off x="300038" y="135217"/>
            <a:ext cx="6456026" cy="3627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互联候选结构：LVDS / ISP 旁路 + 共享 Global Buffer</a:t>
            </a:r>
          </a:p>
        </p:txBody>
      </p:sp>
      <p:sp>
        <p:nvSpPr>
          <p:cNvPr id="3" name="text-003: Cheshire + CVA6 + Ara  |  保留 ISP / NPU 并"/>
          <p:cNvSpPr txBox="1"/>
          <p:nvPr/>
        </p:nvSpPr>
        <p:spPr>
          <a:xfrm>
            <a:off x="306705" y="475526"/>
            <a:ext cx="5906155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Cheshire + CVA6 + Ara  |  保留 ISP / NPU 并行能力  |  三口分组待评审，新增路径尚未实现</a:t>
            </a:r>
          </a:p>
        </p:txBody>
      </p:sp>
      <p:sp>
        <p:nvSpPr>
          <p:cNvPr id="4" name="rect-004"/>
          <p:cNvSpPr/>
          <p:nvPr/>
        </p:nvSpPr>
        <p:spPr>
          <a:xfrm>
            <a:off x="200025" y="833438"/>
            <a:ext cx="950118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200025" y="2600325"/>
            <a:ext cx="9501188" cy="2166938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200025" y="4900612"/>
            <a:ext cx="9501188" cy="1300162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01  现有系统主路径 + Ara 新增分流候选"/>
          <p:cNvSpPr txBox="1"/>
          <p:nvPr/>
        </p:nvSpPr>
        <p:spPr>
          <a:xfrm>
            <a:off x="320040" y="876643"/>
            <a:ext cx="243704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01  现有系统主路径 + Ara 新增分流候选</a:t>
            </a:r>
          </a:p>
        </p:txBody>
      </p:sp>
      <p:sp>
        <p:nvSpPr>
          <p:cNvPr id="8" name="text-008: 02  独立 GB 存储域（新增）"/>
          <p:cNvSpPr txBox="1"/>
          <p:nvPr/>
        </p:nvSpPr>
        <p:spPr>
          <a:xfrm>
            <a:off x="320040" y="2650198"/>
            <a:ext cx="175754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02  独立 GB 存储域（新增）</a:t>
            </a:r>
          </a:p>
        </p:txBody>
      </p:sp>
      <p:sp>
        <p:nvSpPr>
          <p:cNvPr id="9" name="text-009: 03  图像采集与帧写入（新增）"/>
          <p:cNvSpPr txBox="1"/>
          <p:nvPr/>
        </p:nvSpPr>
        <p:spPr>
          <a:xfrm>
            <a:off x="320040" y="4943818"/>
            <a:ext cx="187858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03  图像采集与帧写入（新增）</a:t>
            </a:r>
          </a:p>
        </p:txBody>
      </p:sp>
      <p:sp>
        <p:nvSpPr>
          <p:cNvPr id="10" name="rect-010"/>
          <p:cNvSpPr/>
          <p:nvPr/>
        </p:nvSpPr>
        <p:spPr>
          <a:xfrm>
            <a:off x="433388" y="11468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CVA6"/>
          <p:cNvSpPr txBox="1"/>
          <p:nvPr/>
        </p:nvSpPr>
        <p:spPr>
          <a:xfrm>
            <a:off x="633058" y="1247889"/>
            <a:ext cx="56744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rect-012"/>
          <p:cNvSpPr/>
          <p:nvPr/>
        </p:nvSpPr>
        <p:spPr>
          <a:xfrm>
            <a:off x="433388" y="18135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Ara"/>
          <p:cNvSpPr txBox="1"/>
          <p:nvPr/>
        </p:nvSpPr>
        <p:spPr>
          <a:xfrm>
            <a:off x="705656" y="1914639"/>
            <a:ext cx="42225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4" name="rect-014"/>
          <p:cNvSpPr/>
          <p:nvPr/>
        </p:nvSpPr>
        <p:spPr>
          <a:xfrm>
            <a:off x="1633538" y="18135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失效过滤"/>
          <p:cNvSpPr txBox="1"/>
          <p:nvPr/>
        </p:nvSpPr>
        <p:spPr>
          <a:xfrm>
            <a:off x="1733550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6" name="text-016: 现有 filter"/>
          <p:cNvSpPr txBox="1"/>
          <p:nvPr/>
        </p:nvSpPr>
        <p:spPr>
          <a:xfrm>
            <a:off x="1769299" y="2040122"/>
            <a:ext cx="69526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7" name="rect-017"/>
          <p:cNvSpPr/>
          <p:nvPr/>
        </p:nvSpPr>
        <p:spPr>
          <a:xfrm>
            <a:off x="2833688" y="1813560"/>
            <a:ext cx="900112" cy="440055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3335" cap="flat">
            <a:solidFill>
              <a:srgbClr val="7955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地址分流"/>
          <p:cNvSpPr txBox="1"/>
          <p:nvPr/>
        </p:nvSpPr>
        <p:spPr>
          <a:xfrm>
            <a:off x="2900362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9" name="text-019: 拟新增"/>
          <p:cNvSpPr txBox="1"/>
          <p:nvPr/>
        </p:nvSpPr>
        <p:spPr>
          <a:xfrm>
            <a:off x="3030379" y="2040122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拟新增</a:t>
            </a:r>
          </a:p>
        </p:txBody>
      </p:sp>
      <p:sp>
        <p:nvSpPr>
          <p:cNvPr id="20" name="rect-020"/>
          <p:cNvSpPr/>
          <p:nvPr/>
        </p:nvSpPr>
        <p:spPr>
          <a:xfrm>
            <a:off x="3967162" y="1813560"/>
            <a:ext cx="933450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位宽转换"/>
          <p:cNvSpPr txBox="1"/>
          <p:nvPr/>
        </p:nvSpPr>
        <p:spPr>
          <a:xfrm>
            <a:off x="4050506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位宽转换</a:t>
            </a:r>
          </a:p>
        </p:txBody>
      </p:sp>
      <p:sp>
        <p:nvSpPr>
          <p:cNvPr id="22" name="text-022: 现有转换器"/>
          <p:cNvSpPr txBox="1"/>
          <p:nvPr/>
        </p:nvSpPr>
        <p:spPr>
          <a:xfrm>
            <a:off x="4053840" y="2040122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现有转换器</a:t>
            </a:r>
          </a:p>
        </p:txBody>
      </p:sp>
      <p:sp>
        <p:nvSpPr>
          <p:cNvPr id="23" name="rect-023"/>
          <p:cNvSpPr/>
          <p:nvPr/>
        </p:nvSpPr>
        <p:spPr>
          <a:xfrm>
            <a:off x="5100638" y="1233488"/>
            <a:ext cx="1166812" cy="766762"/>
          </a:xfrm>
          <a:prstGeom prst="roundRect">
            <a:avLst>
              <a:gd name="adj" fmla="val 10434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AXI Xbar"/>
          <p:cNvSpPr txBox="1"/>
          <p:nvPr/>
        </p:nvSpPr>
        <p:spPr>
          <a:xfrm>
            <a:off x="5167297" y="1401242"/>
            <a:ext cx="10334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25" name="text-025: 系统 64-bit"/>
          <p:cNvSpPr txBox="1"/>
          <p:nvPr/>
        </p:nvSpPr>
        <p:spPr>
          <a:xfrm>
            <a:off x="5292677" y="1623403"/>
            <a:ext cx="78273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26" name="rect-026"/>
          <p:cNvSpPr/>
          <p:nvPr/>
        </p:nvSpPr>
        <p:spPr>
          <a:xfrm>
            <a:off x="6500812" y="1300162"/>
            <a:ext cx="1066800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原子适配"/>
          <p:cNvSpPr txBox="1"/>
          <p:nvPr/>
        </p:nvSpPr>
        <p:spPr>
          <a:xfrm>
            <a:off x="6650831" y="1401242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28" name="text-028: AMO / LRSC"/>
          <p:cNvSpPr txBox="1"/>
          <p:nvPr/>
        </p:nvSpPr>
        <p:spPr>
          <a:xfrm>
            <a:off x="6595470" y="1623403"/>
            <a:ext cx="87748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29" name="rect-029"/>
          <p:cNvSpPr/>
          <p:nvPr/>
        </p:nvSpPr>
        <p:spPr>
          <a:xfrm>
            <a:off x="7800975" y="1300162"/>
            <a:ext cx="1500188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LLC / SPM"/>
          <p:cNvSpPr txBox="1"/>
          <p:nvPr/>
        </p:nvSpPr>
        <p:spPr>
          <a:xfrm>
            <a:off x="8083750" y="1401242"/>
            <a:ext cx="93463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1" name="text-031: 保留，不等于 GB"/>
          <p:cNvSpPr txBox="1"/>
          <p:nvPr/>
        </p:nvSpPr>
        <p:spPr>
          <a:xfrm>
            <a:off x="8002089" y="1623403"/>
            <a:ext cx="10979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保留，不等于 GB</a:t>
            </a:r>
          </a:p>
        </p:txBody>
      </p:sp>
      <p:sp>
        <p:nvSpPr>
          <p:cNvPr id="32" name="polyline-032"/>
          <p:cNvSpPr/>
          <p:nvPr/>
        </p:nvSpPr>
        <p:spPr>
          <a:xfrm>
            <a:off x="1400175" y="1366838"/>
            <a:ext cx="3700462" cy="1"/>
          </a:xfrm>
          <a:custGeom>
            <a:avLst/>
            <a:gdLst/>
            <a:ahLst/>
            <a:cxnLst/>
            <a:rect l="0" t="0" r="r" b="b"/>
            <a:pathLst>
              <a:path w="3700462" h="1" fill="none">
                <a:moveTo>
                  <a:pt x="0" y="0"/>
                </a:moveTo>
                <a:lnTo>
                  <a:pt x="37004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4"/>
          <p:cNvSpPr/>
          <p:nvPr/>
        </p:nvSpPr>
        <p:spPr>
          <a:xfrm>
            <a:off x="1400175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6"/>
          <p:cNvSpPr/>
          <p:nvPr/>
        </p:nvSpPr>
        <p:spPr>
          <a:xfrm>
            <a:off x="2600325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line-038"/>
          <p:cNvSpPr/>
          <p:nvPr/>
        </p:nvSpPr>
        <p:spPr>
          <a:xfrm>
            <a:off x="3733800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40"/>
          <p:cNvSpPr/>
          <p:nvPr/>
        </p:nvSpPr>
        <p:spPr>
          <a:xfrm>
            <a:off x="4900612" y="1780222"/>
            <a:ext cx="200025" cy="253365"/>
          </a:xfrm>
          <a:custGeom>
            <a:avLst/>
            <a:gdLst/>
            <a:ahLst/>
            <a:cxnLst/>
            <a:rect l="0" t="0" r="r" b="b"/>
            <a:pathLst>
              <a:path w="200025" h="253365" fill="none">
                <a:moveTo>
                  <a:pt x="0" y="253365"/>
                </a:moveTo>
                <a:lnTo>
                  <a:pt x="100012" y="253365"/>
                </a:lnTo>
                <a:lnTo>
                  <a:pt x="100012" y="0"/>
                </a:ln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42"/>
          <p:cNvSpPr/>
          <p:nvPr/>
        </p:nvSpPr>
        <p:spPr>
          <a:xfrm>
            <a:off x="6267450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44"/>
          <p:cNvSpPr/>
          <p:nvPr/>
        </p:nvSpPr>
        <p:spPr>
          <a:xfrm>
            <a:off x="7567612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line-046"/>
          <p:cNvSpPr/>
          <p:nvPr/>
        </p:nvSpPr>
        <p:spPr>
          <a:xfrm>
            <a:off x="9301162" y="1613535"/>
            <a:ext cx="766762" cy="1"/>
          </a:xfrm>
          <a:custGeom>
            <a:avLst/>
            <a:gdLst/>
            <a:ahLst/>
            <a:cxnLst/>
            <a:rect l="0" t="0" r="r" b="b"/>
            <a:pathLst>
              <a:path w="766762" h="1" fill="none">
                <a:moveTo>
                  <a:pt x="0" y="0"/>
                </a:moveTo>
                <a:lnTo>
                  <a:pt x="7667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8: 普通地址"/>
          <p:cNvSpPr txBox="1"/>
          <p:nvPr/>
        </p:nvSpPr>
        <p:spPr>
          <a:xfrm>
            <a:off x="3967162" y="1604467"/>
            <a:ext cx="566738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41" name="rect-049"/>
          <p:cNvSpPr/>
          <p:nvPr/>
        </p:nvSpPr>
        <p:spPr>
          <a:xfrm>
            <a:off x="433388" y="3167062"/>
            <a:ext cx="1600200" cy="666750"/>
          </a:xfrm>
          <a:prstGeom prst="roundRect">
            <a:avLst>
              <a:gd name="adj" fmla="val 120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50: NPU 计算引擎"/>
          <p:cNvSpPr txBox="1"/>
          <p:nvPr/>
        </p:nvSpPr>
        <p:spPr>
          <a:xfrm>
            <a:off x="652316" y="3284811"/>
            <a:ext cx="1162343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43" name="text-051: 独立于 DDR 搬运器"/>
          <p:cNvSpPr txBox="1"/>
          <p:nvPr/>
        </p:nvSpPr>
        <p:spPr>
          <a:xfrm>
            <a:off x="614764" y="3506972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独立于 DDR 搬运器</a:t>
            </a:r>
          </a:p>
        </p:txBody>
      </p:sp>
      <p:sp>
        <p:nvSpPr>
          <p:cNvPr id="44" name="rect-052"/>
          <p:cNvSpPr/>
          <p:nvPr/>
        </p:nvSpPr>
        <p:spPr>
          <a:xfrm>
            <a:off x="2833688" y="3133725"/>
            <a:ext cx="1466850" cy="933450"/>
          </a:xfrm>
          <a:prstGeom prst="roundRect">
            <a:avLst>
              <a:gd name="adj" fmla="val 8571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3: GB 访问适配"/>
          <p:cNvSpPr txBox="1"/>
          <p:nvPr/>
        </p:nvSpPr>
        <p:spPr>
          <a:xfrm>
            <a:off x="3049808" y="3288144"/>
            <a:ext cx="103460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46" name="text-054: 局部仲裁 / 路由"/>
          <p:cNvSpPr txBox="1"/>
          <p:nvPr/>
        </p:nvSpPr>
        <p:spPr>
          <a:xfrm>
            <a:off x="3059179" y="3510305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47" name="text-055: 处理 bank 冲突"/>
          <p:cNvSpPr txBox="1"/>
          <p:nvPr/>
        </p:nvSpPr>
        <p:spPr>
          <a:xfrm>
            <a:off x="3064841" y="3703663"/>
            <a:ext cx="100454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处理 bank 冲突</a:t>
            </a:r>
          </a:p>
        </p:txBody>
      </p:sp>
      <p:sp>
        <p:nvSpPr>
          <p:cNvPr id="48" name="rect-056"/>
          <p:cNvSpPr/>
          <p:nvPr/>
        </p:nvSpPr>
        <p:spPr>
          <a:xfrm>
            <a:off x="4667250" y="3000375"/>
            <a:ext cx="2300288" cy="1200150"/>
          </a:xfrm>
          <a:prstGeom prst="roundRect">
            <a:avLst>
              <a:gd name="adj" fmla="val 6666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7: Global Buffer"/>
          <p:cNvSpPr txBox="1"/>
          <p:nvPr/>
        </p:nvSpPr>
        <p:spPr>
          <a:xfrm>
            <a:off x="5227591" y="3191466"/>
            <a:ext cx="117960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0" name="text-058: 独立片上 SRAM · 分 bank"/>
          <p:cNvSpPr txBox="1"/>
          <p:nvPr/>
        </p:nvSpPr>
        <p:spPr>
          <a:xfrm>
            <a:off x="5014689" y="3413627"/>
            <a:ext cx="160540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独立片上 SRAM · 分 bank</a:t>
            </a:r>
          </a:p>
        </p:txBody>
      </p:sp>
      <p:sp>
        <p:nvSpPr>
          <p:cNvPr id="51" name="text-059: ISP 工作区 / NPU-Ara 活跃区"/>
          <p:cNvSpPr txBox="1"/>
          <p:nvPr/>
        </p:nvSpPr>
        <p:spPr>
          <a:xfrm>
            <a:off x="4909343" y="3606984"/>
            <a:ext cx="181610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 工作区 / NPU-Ara 活跃区</a:t>
            </a:r>
          </a:p>
        </p:txBody>
      </p:sp>
      <p:sp>
        <p:nvSpPr>
          <p:cNvPr id="52" name="text-060: 搬运双缓冲 · 分区仅示意"/>
          <p:cNvSpPr txBox="1"/>
          <p:nvPr/>
        </p:nvSpPr>
        <p:spPr>
          <a:xfrm>
            <a:off x="5067909" y="3800342"/>
            <a:ext cx="149896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搬运双缓冲 · 分区仅示意</a:t>
            </a:r>
          </a:p>
        </p:txBody>
      </p:sp>
      <p:sp>
        <p:nvSpPr>
          <p:cNvPr id="53" name="rect-061"/>
          <p:cNvSpPr/>
          <p:nvPr/>
        </p:nvSpPr>
        <p:spPr>
          <a:xfrm>
            <a:off x="7467600" y="3167062"/>
            <a:ext cx="1866900" cy="833438"/>
          </a:xfrm>
          <a:prstGeom prst="roundRect">
            <a:avLst>
              <a:gd name="adj" fmla="val 96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2: NPU / GB 搬运引擎"/>
          <p:cNvSpPr txBox="1"/>
          <p:nvPr/>
        </p:nvSpPr>
        <p:spPr>
          <a:xfrm>
            <a:off x="7626875" y="3271476"/>
            <a:ext cx="1548350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5" name="text-063: DDR ↔ GB"/>
          <p:cNvSpPr txBox="1"/>
          <p:nvPr/>
        </p:nvSpPr>
        <p:spPr>
          <a:xfrm>
            <a:off x="8031358" y="3493637"/>
            <a:ext cx="739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56" name="text-064: 统一 DDR 出口候选"/>
          <p:cNvSpPr txBox="1"/>
          <p:nvPr/>
        </p:nvSpPr>
        <p:spPr>
          <a:xfrm>
            <a:off x="7782327" y="3686994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统一 DDR 出口候选</a:t>
            </a:r>
          </a:p>
        </p:txBody>
      </p:sp>
      <p:sp>
        <p:nvSpPr>
          <p:cNvPr id="57" name="polyline-065"/>
          <p:cNvSpPr/>
          <p:nvPr/>
        </p:nvSpPr>
        <p:spPr>
          <a:xfrm>
            <a:off x="2033588" y="350043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line-068"/>
          <p:cNvSpPr/>
          <p:nvPr/>
        </p:nvSpPr>
        <p:spPr>
          <a:xfrm>
            <a:off x="3280410" y="2253615"/>
            <a:ext cx="1" cy="880110"/>
          </a:xfrm>
          <a:custGeom>
            <a:avLst/>
            <a:gdLst/>
            <a:ahLst/>
            <a:cxnLst/>
            <a:rect l="0" t="0" r="r" b="b"/>
            <a:pathLst>
              <a:path w="1" h="880110" fill="none">
                <a:moveTo>
                  <a:pt x="0" y="0"/>
                </a:moveTo>
                <a:lnTo>
                  <a:pt x="0" y="88011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71: GB 地址分支"/>
          <p:cNvSpPr txBox="1"/>
          <p:nvPr/>
        </p:nvSpPr>
        <p:spPr>
          <a:xfrm>
            <a:off x="3393758" y="2450706"/>
            <a:ext cx="800142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60" name="text-072: Ara 单 AXI 出口按地址分流"/>
          <p:cNvSpPr txBox="1"/>
          <p:nvPr/>
        </p:nvSpPr>
        <p:spPr>
          <a:xfrm>
            <a:off x="3393758" y="2797950"/>
            <a:ext cx="149259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7955A0"/>
                </a:solidFill>
                <a:latin typeface="Microsoft YaHei"/>
                <a:ea typeface="Microsoft YaHei"/>
                <a:cs typeface="Microsoft YaHei"/>
              </a:rPr>
              <a:t>Ara 单 AXI 出口按地址分流</a:t>
            </a:r>
          </a:p>
        </p:txBody>
      </p:sp>
      <p:sp>
        <p:nvSpPr>
          <p:cNvPr id="61" name="polyline-073"/>
          <p:cNvSpPr/>
          <p:nvPr/>
        </p:nvSpPr>
        <p:spPr>
          <a:xfrm>
            <a:off x="4300538" y="3567112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line-076"/>
          <p:cNvSpPr/>
          <p:nvPr/>
        </p:nvSpPr>
        <p:spPr>
          <a:xfrm>
            <a:off x="3833812" y="4000500"/>
            <a:ext cx="4567238" cy="433388"/>
          </a:xfrm>
          <a:custGeom>
            <a:avLst/>
            <a:gdLst/>
            <a:ahLst/>
            <a:cxnLst/>
            <a:rect l="0" t="0" r="r" b="b"/>
            <a:pathLst>
              <a:path w="4567238" h="433388" fill="none">
                <a:moveTo>
                  <a:pt x="0" y="66675"/>
                </a:moveTo>
                <a:lnTo>
                  <a:pt x="0" y="433388"/>
                </a:lnTo>
                <a:lnTo>
                  <a:pt x="4567238" y="433388"/>
                </a:lnTo>
                <a:lnTo>
                  <a:pt x="4567238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79: 搬运器也是 GB 访问者"/>
          <p:cNvSpPr txBox="1"/>
          <p:nvPr/>
        </p:nvSpPr>
        <p:spPr>
          <a:xfrm>
            <a:off x="5600700" y="4217594"/>
            <a:ext cx="1315717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搬运器也是 GB 访问者</a:t>
            </a:r>
          </a:p>
        </p:txBody>
      </p:sp>
      <p:sp>
        <p:nvSpPr>
          <p:cNvPr id="64" name="polyline-080"/>
          <p:cNvSpPr/>
          <p:nvPr/>
        </p:nvSpPr>
        <p:spPr>
          <a:xfrm>
            <a:off x="9334500" y="3533775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83: GB 容量、bank 数、位宽与频率待定。"/>
          <p:cNvSpPr txBox="1"/>
          <p:nvPr/>
        </p:nvSpPr>
        <p:spPr>
          <a:xfrm>
            <a:off x="433388" y="4138117"/>
            <a:ext cx="207434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GB 容量、bank 数、位宽与频率待定。</a:t>
            </a:r>
          </a:p>
        </p:txBody>
      </p:sp>
      <p:sp>
        <p:nvSpPr>
          <p:cNvPr id="66" name="text-084: 并行能力取决于 SRAM 带宽和分区。"/>
          <p:cNvSpPr txBox="1"/>
          <p:nvPr/>
        </p:nvSpPr>
        <p:spPr>
          <a:xfrm>
            <a:off x="433388" y="4344810"/>
            <a:ext cx="198384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并行能力取决于 SRAM 带宽和分区。</a:t>
            </a:r>
          </a:p>
        </p:txBody>
      </p:sp>
      <p:sp>
        <p:nvSpPr>
          <p:cNvPr id="67" name="rect-085"/>
          <p:cNvSpPr/>
          <p:nvPr/>
        </p:nvSpPr>
        <p:spPr>
          <a:xfrm>
            <a:off x="366712" y="5434012"/>
            <a:ext cx="123348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86: LVDS 接收"/>
          <p:cNvSpPr txBox="1"/>
          <p:nvPr/>
        </p:nvSpPr>
        <p:spPr>
          <a:xfrm>
            <a:off x="531785" y="5485086"/>
            <a:ext cx="90334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9" name="text-087: 解串 / 帧行解析"/>
          <p:cNvSpPr txBox="1"/>
          <p:nvPr/>
        </p:nvSpPr>
        <p:spPr>
          <a:xfrm>
            <a:off x="475523" y="5707247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解串 / 帧行解析</a:t>
            </a:r>
          </a:p>
        </p:txBody>
      </p:sp>
      <p:sp>
        <p:nvSpPr>
          <p:cNvPr id="70" name="rect-088"/>
          <p:cNvSpPr/>
          <p:nvPr/>
        </p:nvSpPr>
        <p:spPr>
          <a:xfrm>
            <a:off x="1800225" y="5434012"/>
            <a:ext cx="1166812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89: CDC / FIFO"/>
          <p:cNvSpPr txBox="1"/>
          <p:nvPr/>
        </p:nvSpPr>
        <p:spPr>
          <a:xfrm>
            <a:off x="1887033" y="5485086"/>
            <a:ext cx="993197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72" name="text-090: 像素流缓冲"/>
          <p:cNvSpPr txBox="1"/>
          <p:nvPr/>
        </p:nvSpPr>
        <p:spPr>
          <a:xfrm>
            <a:off x="2003584" y="5707247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73" name="rect-091"/>
          <p:cNvSpPr/>
          <p:nvPr/>
        </p:nvSpPr>
        <p:spPr>
          <a:xfrm>
            <a:off x="3433762" y="5434012"/>
            <a:ext cx="1466850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92: ISP"/>
          <p:cNvSpPr txBox="1"/>
          <p:nvPr/>
        </p:nvSpPr>
        <p:spPr>
          <a:xfrm>
            <a:off x="3968272" y="5485086"/>
            <a:ext cx="39783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75" name="text-093: 保留必要行缓冲"/>
          <p:cNvSpPr txBox="1"/>
          <p:nvPr/>
        </p:nvSpPr>
        <p:spPr>
          <a:xfrm>
            <a:off x="3660458" y="5707247"/>
            <a:ext cx="10134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保留必要行缓冲</a:t>
            </a:r>
          </a:p>
        </p:txBody>
      </p:sp>
      <p:sp>
        <p:nvSpPr>
          <p:cNvPr id="76" name="rect-094"/>
          <p:cNvSpPr/>
          <p:nvPr/>
        </p:nvSpPr>
        <p:spPr>
          <a:xfrm>
            <a:off x="5500688" y="5434012"/>
            <a:ext cx="136683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95: 帧边界选择"/>
          <p:cNvSpPr txBox="1"/>
          <p:nvPr/>
        </p:nvSpPr>
        <p:spPr>
          <a:xfrm>
            <a:off x="5724049" y="5485086"/>
            <a:ext cx="920115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8" name="text-096: RAW / ISP 二选一"/>
          <p:cNvSpPr txBox="1"/>
          <p:nvPr/>
        </p:nvSpPr>
        <p:spPr>
          <a:xfrm>
            <a:off x="5605628" y="5707247"/>
            <a:ext cx="115695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RAW / ISP 二选一</a:t>
            </a:r>
          </a:p>
        </p:txBody>
      </p:sp>
      <p:sp>
        <p:nvSpPr>
          <p:cNvPr id="79" name="rect-097"/>
          <p:cNvSpPr/>
          <p:nvPr/>
        </p:nvSpPr>
        <p:spPr>
          <a:xfrm>
            <a:off x="7467600" y="5347335"/>
            <a:ext cx="1866900" cy="700088"/>
          </a:xfrm>
          <a:prstGeom prst="roundRect">
            <a:avLst>
              <a:gd name="adj" fmla="val 11428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98: 图像帧写入器 / DMA"/>
          <p:cNvSpPr txBox="1"/>
          <p:nvPr/>
        </p:nvSpPr>
        <p:spPr>
          <a:xfrm>
            <a:off x="7585203" y="5385073"/>
            <a:ext cx="16316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图像帧写入器 / DMA</a:t>
            </a:r>
          </a:p>
        </p:txBody>
      </p:sp>
      <p:sp>
        <p:nvSpPr>
          <p:cNvPr id="81" name="text-099: 地址 / stride / 打包"/>
          <p:cNvSpPr txBox="1"/>
          <p:nvPr/>
        </p:nvSpPr>
        <p:spPr>
          <a:xfrm>
            <a:off x="7784843" y="5607234"/>
            <a:ext cx="123241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82" name="text-100: 产生 AXI 写事务"/>
          <p:cNvSpPr txBox="1"/>
          <p:nvPr/>
        </p:nvSpPr>
        <p:spPr>
          <a:xfrm>
            <a:off x="7879480" y="5800592"/>
            <a:ext cx="1043141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产生 AXI 写事务</a:t>
            </a:r>
          </a:p>
        </p:txBody>
      </p:sp>
      <p:sp>
        <p:nvSpPr>
          <p:cNvPr id="83" name="polyline-101"/>
          <p:cNvSpPr/>
          <p:nvPr/>
        </p:nvSpPr>
        <p:spPr>
          <a:xfrm>
            <a:off x="1600200" y="5700712"/>
            <a:ext cx="200025" cy="1"/>
          </a:xfrm>
          <a:custGeom>
            <a:avLst/>
            <a:gdLst/>
            <a:ahLst/>
            <a:cxnLst/>
            <a:rect l="0" t="0" r="r" b="b"/>
            <a:pathLst>
              <a:path w="200025" h="1" fill="none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olyline-103"/>
          <p:cNvSpPr/>
          <p:nvPr/>
        </p:nvSpPr>
        <p:spPr>
          <a:xfrm>
            <a:off x="2967038" y="5700712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polyline-105"/>
          <p:cNvSpPr/>
          <p:nvPr/>
        </p:nvSpPr>
        <p:spPr>
          <a:xfrm>
            <a:off x="3133725" y="5227320"/>
            <a:ext cx="3033712" cy="473392"/>
          </a:xfrm>
          <a:custGeom>
            <a:avLst/>
            <a:gdLst/>
            <a:ahLst/>
            <a:cxnLst/>
            <a:rect l="0" t="0" r="r" b="b"/>
            <a:pathLst>
              <a:path w="3033712" h="473392" fill="none">
                <a:moveTo>
                  <a:pt x="0" y="473392"/>
                </a:moveTo>
                <a:lnTo>
                  <a:pt x="0" y="0"/>
                </a:lnTo>
                <a:lnTo>
                  <a:pt x="3033712" y="0"/>
                </a:lnTo>
                <a:lnTo>
                  <a:pt x="3033712" y="206692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107: RAW 旁路（不经过 ISP）"/>
          <p:cNvSpPr txBox="1"/>
          <p:nvPr/>
        </p:nvSpPr>
        <p:spPr>
          <a:xfrm>
            <a:off x="4533900" y="5058232"/>
            <a:ext cx="140659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RAW 旁路（不经过 ISP）</a:t>
            </a:r>
          </a:p>
        </p:txBody>
      </p:sp>
      <p:sp>
        <p:nvSpPr>
          <p:cNvPr id="87" name="polyline-108"/>
          <p:cNvSpPr/>
          <p:nvPr/>
        </p:nvSpPr>
        <p:spPr>
          <a:xfrm>
            <a:off x="4900612" y="570071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polyline-110"/>
          <p:cNvSpPr/>
          <p:nvPr/>
        </p:nvSpPr>
        <p:spPr>
          <a:xfrm>
            <a:off x="6867525" y="570071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polyline-112"/>
          <p:cNvSpPr/>
          <p:nvPr/>
        </p:nvSpPr>
        <p:spPr>
          <a:xfrm>
            <a:off x="9334500" y="5700712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polyline-114"/>
          <p:cNvSpPr/>
          <p:nvPr/>
        </p:nvSpPr>
        <p:spPr>
          <a:xfrm>
            <a:off x="3567112" y="4067175"/>
            <a:ext cx="600075" cy="1366838"/>
          </a:xfrm>
          <a:custGeom>
            <a:avLst/>
            <a:gdLst/>
            <a:ahLst/>
            <a:cxnLst/>
            <a:rect l="0" t="0" r="r" b="b"/>
            <a:pathLst>
              <a:path w="600075" h="1366838" fill="none">
                <a:moveTo>
                  <a:pt x="600075" y="1366838"/>
                </a:moveTo>
                <a:lnTo>
                  <a:pt x="600075" y="580072"/>
                </a:lnTo>
                <a:lnTo>
                  <a:pt x="0" y="580072"/>
                </a:ln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117: ISP 中间数据 ↔ GB"/>
          <p:cNvSpPr txBox="1"/>
          <p:nvPr/>
        </p:nvSpPr>
        <p:spPr>
          <a:xfrm>
            <a:off x="4433888" y="4610976"/>
            <a:ext cx="1132829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92" name="rect-118"/>
          <p:cNvSpPr/>
          <p:nvPr/>
        </p:nvSpPr>
        <p:spPr>
          <a:xfrm>
            <a:off x="9867900" y="833438"/>
            <a:ext cx="2000250" cy="5367338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119: DDR 控制器 IP"/>
          <p:cNvSpPr txBox="1"/>
          <p:nvPr/>
        </p:nvSpPr>
        <p:spPr>
          <a:xfrm>
            <a:off x="10212136" y="893445"/>
            <a:ext cx="131177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控制器 IP</a:t>
            </a:r>
          </a:p>
        </p:txBody>
      </p:sp>
      <p:sp>
        <p:nvSpPr>
          <p:cNvPr id="94" name="text-120: 最多 8 个 AXI Slave"/>
          <p:cNvSpPr txBox="1"/>
          <p:nvPr/>
        </p:nvSpPr>
        <p:spPr>
          <a:xfrm>
            <a:off x="10274263" y="1137209"/>
            <a:ext cx="1187523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最多 8 个 AXI Slave</a:t>
            </a:r>
          </a:p>
        </p:txBody>
      </p:sp>
      <p:sp>
        <p:nvSpPr>
          <p:cNvPr id="95" name="rect-121"/>
          <p:cNvSpPr/>
          <p:nvPr/>
        </p:nvSpPr>
        <p:spPr>
          <a:xfrm>
            <a:off x="10067925" y="141351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22: S0"/>
          <p:cNvSpPr txBox="1"/>
          <p:nvPr/>
        </p:nvSpPr>
        <p:spPr>
          <a:xfrm>
            <a:off x="10247880" y="149458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97" name="rect-123"/>
          <p:cNvSpPr/>
          <p:nvPr/>
        </p:nvSpPr>
        <p:spPr>
          <a:xfrm>
            <a:off x="10067925" y="333375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124: S1"/>
          <p:cNvSpPr txBox="1"/>
          <p:nvPr/>
        </p:nvSpPr>
        <p:spPr>
          <a:xfrm>
            <a:off x="10247880" y="341482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9" name="rect-125"/>
          <p:cNvSpPr/>
          <p:nvPr/>
        </p:nvSpPr>
        <p:spPr>
          <a:xfrm>
            <a:off x="10067925" y="5500688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26: S2"/>
          <p:cNvSpPr txBox="1"/>
          <p:nvPr/>
        </p:nvSpPr>
        <p:spPr>
          <a:xfrm>
            <a:off x="10247880" y="5581764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1" name="rect-127"/>
          <p:cNvSpPr/>
          <p:nvPr/>
        </p:nvSpPr>
        <p:spPr>
          <a:xfrm>
            <a:off x="11001375" y="1466850"/>
            <a:ext cx="666750" cy="43672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28: 端口仲裁"/>
          <p:cNvSpPr txBox="1"/>
          <p:nvPr/>
        </p:nvSpPr>
        <p:spPr>
          <a:xfrm>
            <a:off x="11018044" y="233015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端口仲裁</a:t>
            </a:r>
          </a:p>
        </p:txBody>
      </p:sp>
      <p:sp>
        <p:nvSpPr>
          <p:cNvPr id="103" name="text-129: 优先级"/>
          <p:cNvSpPr txBox="1"/>
          <p:nvPr/>
        </p:nvSpPr>
        <p:spPr>
          <a:xfrm>
            <a:off x="11081385" y="2610193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04" name="text-130: / QoS"/>
          <p:cNvSpPr txBox="1"/>
          <p:nvPr/>
        </p:nvSpPr>
        <p:spPr>
          <a:xfrm>
            <a:off x="11097158" y="2890228"/>
            <a:ext cx="4751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 QoS</a:t>
            </a:r>
          </a:p>
        </p:txBody>
      </p:sp>
      <p:sp>
        <p:nvSpPr>
          <p:cNvPr id="105" name="text-131: 读写调度"/>
          <p:cNvSpPr txBox="1"/>
          <p:nvPr/>
        </p:nvSpPr>
        <p:spPr>
          <a:xfrm>
            <a:off x="11018044" y="345029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" name="text-132: Bank / Row"/>
          <p:cNvSpPr txBox="1"/>
          <p:nvPr/>
        </p:nvSpPr>
        <p:spPr>
          <a:xfrm>
            <a:off x="10928944" y="3730333"/>
            <a:ext cx="8116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107" name="text-133: 命令调度"/>
          <p:cNvSpPr txBox="1"/>
          <p:nvPr/>
        </p:nvSpPr>
        <p:spPr>
          <a:xfrm>
            <a:off x="11018044" y="401036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8" name="polyline-134"/>
          <p:cNvSpPr/>
          <p:nvPr/>
        </p:nvSpPr>
        <p:spPr>
          <a:xfrm>
            <a:off x="10768012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olyline-136"/>
          <p:cNvSpPr/>
          <p:nvPr/>
        </p:nvSpPr>
        <p:spPr>
          <a:xfrm>
            <a:off x="10768012" y="353377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olyline-139"/>
          <p:cNvSpPr/>
          <p:nvPr/>
        </p:nvSpPr>
        <p:spPr>
          <a:xfrm>
            <a:off x="10768012" y="5700712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41: 共享 DDR 带宽；多口不等于独占"/>
          <p:cNvSpPr txBox="1"/>
          <p:nvPr/>
        </p:nvSpPr>
        <p:spPr>
          <a:xfrm>
            <a:off x="9974387" y="5951677"/>
            <a:ext cx="1787275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共享 DDR 带宽；多口不等于独占</a:t>
            </a:r>
          </a:p>
        </p:txBody>
      </p:sp>
      <p:sp>
        <p:nvSpPr>
          <p:cNvPr id="112" name="rect-142"/>
          <p:cNvSpPr/>
          <p:nvPr/>
        </p:nvSpPr>
        <p:spPr>
          <a:xfrm>
            <a:off x="12068175" y="2967038"/>
            <a:ext cx="600075" cy="106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43: PHY"/>
          <p:cNvSpPr txBox="1"/>
          <p:nvPr/>
        </p:nvSpPr>
        <p:spPr>
          <a:xfrm>
            <a:off x="12128453" y="3188132"/>
            <a:ext cx="47951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14" name="text-144: /"/>
          <p:cNvSpPr txBox="1"/>
          <p:nvPr/>
        </p:nvSpPr>
        <p:spPr>
          <a:xfrm>
            <a:off x="12277811" y="3410293"/>
            <a:ext cx="18080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115" name="text-145: DDR"/>
          <p:cNvSpPr txBox="1"/>
          <p:nvPr/>
        </p:nvSpPr>
        <p:spPr>
          <a:xfrm>
            <a:off x="12167021" y="3603650"/>
            <a:ext cx="402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16" name="polyline-146"/>
          <p:cNvSpPr/>
          <p:nvPr/>
        </p:nvSpPr>
        <p:spPr>
          <a:xfrm>
            <a:off x="11668125" y="353377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49: SoC / LLC 下游"/>
          <p:cNvSpPr txBox="1"/>
          <p:nvPr/>
        </p:nvSpPr>
        <p:spPr>
          <a:xfrm>
            <a:off x="10067925" y="188396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SoC / LLC 下游</a:t>
            </a:r>
          </a:p>
        </p:txBody>
      </p:sp>
      <p:sp>
        <p:nvSpPr>
          <p:cNvPr id="118" name="text-150: NPU / GB 搬运"/>
          <p:cNvSpPr txBox="1"/>
          <p:nvPr/>
        </p:nvSpPr>
        <p:spPr>
          <a:xfrm>
            <a:off x="10067925" y="380420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9" name="text-151: 图像帧写入"/>
          <p:cNvSpPr txBox="1"/>
          <p:nvPr/>
        </p:nvSpPr>
        <p:spPr>
          <a:xfrm>
            <a:off x="10067925" y="5224386"/>
            <a:ext cx="720090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sp>
        <p:nvSpPr>
          <p:cNvPr id="120" name="polyline-152"/>
          <p:cNvSpPr/>
          <p:nvPr/>
        </p:nvSpPr>
        <p:spPr>
          <a:xfrm>
            <a:off x="333375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54: AXI / 外存通路"/>
          <p:cNvSpPr txBox="1"/>
          <p:nvPr/>
        </p:nvSpPr>
        <p:spPr>
          <a:xfrm>
            <a:off x="780098" y="6323990"/>
            <a:ext cx="9705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sp>
        <p:nvSpPr>
          <p:cNvPr id="122" name="polyline-155"/>
          <p:cNvSpPr/>
          <p:nvPr/>
        </p:nvSpPr>
        <p:spPr>
          <a:xfrm>
            <a:off x="2300288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58: GB 本地读写（含适配）"/>
          <p:cNvSpPr txBox="1"/>
          <p:nvPr/>
        </p:nvSpPr>
        <p:spPr>
          <a:xfrm>
            <a:off x="2747010" y="6323990"/>
            <a:ext cx="1478008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本地读写（含适配）</a:t>
            </a:r>
          </a:p>
        </p:txBody>
      </p:sp>
      <p:sp>
        <p:nvSpPr>
          <p:cNvPr id="124" name="polyline-159"/>
          <p:cNvSpPr/>
          <p:nvPr/>
        </p:nvSpPr>
        <p:spPr>
          <a:xfrm>
            <a:off x="4733925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61: 像素流"/>
          <p:cNvSpPr txBox="1"/>
          <p:nvPr/>
        </p:nvSpPr>
        <p:spPr>
          <a:xfrm>
            <a:off x="5180648" y="6323990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26" name="text-162: 箭头表示逻辑流向；AXI 返回通道未逐一展开。"/>
          <p:cNvSpPr txBox="1"/>
          <p:nvPr/>
        </p:nvSpPr>
        <p:spPr>
          <a:xfrm>
            <a:off x="6667500" y="6323990"/>
            <a:ext cx="27792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箭头表示逻辑流向；AXI 返回通道未逐一展开。</a:t>
            </a:r>
          </a:p>
        </p:txBody>
      </p:sp>
      <p:sp>
        <p:nvSpPr>
          <p:cNvPr id="127" name="text-163: 三口成立条件：NPU 与 GB 共用 S1 搬运出口；若保留独立 NPU mas"/>
          <p:cNvSpPr txBox="1"/>
          <p:nvPr/>
        </p:nvSpPr>
        <p:spPr>
          <a:xfrm>
            <a:off x="320040" y="6582956"/>
            <a:ext cx="7557497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三口成立条件：NPU 与 GB 共用 S1 搬运出口；若保留独立 NPU master + GB DMA，可增加 S3，不能强行串行化。</a:t>
            </a:r>
          </a:p>
        </p:txBody>
      </p:sp>
      <p:sp>
        <p:nvSpPr>
          <p:cNvPr id="128" name="text-164: 范围：控制寄存器/中断、缓存维护与 CDC 细节未展开；GB 不自动一致；RAW"/>
          <p:cNvSpPr txBox="1"/>
          <p:nvPr/>
        </p:nvSpPr>
        <p:spPr>
          <a:xfrm>
            <a:off x="320040" y="6824053"/>
            <a:ext cx="70757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范围：控制寄存器/中断、缓存维护与 CDC 细节未展开；GB 不自动一致；RAW/ISP 暂按不同时录制。  |  L01 · 2026-10-10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