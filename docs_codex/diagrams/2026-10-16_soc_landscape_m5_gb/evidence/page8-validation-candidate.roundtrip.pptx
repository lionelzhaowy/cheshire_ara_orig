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806" r:id="rId2"/>
    <p:sldId id="807" r:id="rId3"/>
    <p:sldId id="808" r:id="rId4"/>
    <p:sldId id="809" r:id="rId5"/>
    <p:sldId id="810" r:id="rId6"/>
    <p:sldId id="811" r:id="rId7"/>
    <p:sldId id="812" r:id="rId8"/>
    <p:sldId id="813" r:id="rId1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60" d="100"/>
          <a:sy n="160" d="100"/>
        </p:scale>
        <p:origin x="46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第6页：用户先规划后明确授权实施。直接复制第5页，仅恢复 ISP↔GB、搬运器↔F1、帧写入DMA↔F2 的虚线，以及 S_EXT/M_EXT 外部扩展的灰色虚线；保持第5页箭头方向、几何、字号、填充、主题及两行配置/标题布局。图例新增虚线样例；虚实与箭头方向独立，沿用规划/可选标记，不代表实现或验收状态。前五页完整保留。Office未实测；无RTL修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第7页：从含F3虚线补修的第6页原生复制。C1～C16按功能重排并同步模块标记；旧公共控制C12变为C14。图像采集区左右镜像，文字正常；RAW仍绕过ISP。新增片外图像传感器→LVDS RX、LVDS TX→后级处理的橙色实线数据连接。帧输出DMA仍为二维AXI读。保持F1/F2/F3深蓝双向虚线、ISP↔GB绿色双向虚线、F0及四条下游DDR双向实线。前六页、主题、母版、布局与依赖原样保留。配置编号不是寄存器地址；未改RTL；Office未实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第8页：复制用户手动保存的第7页（输入SHA-256 8916ac31…），仅修改F1、F2、ISP↔GB、eMMC和M5回接五条连线的几何。F1/F2平行通道，接口仍独立；六处跳线对应实际交叉。所有原生线样式、箭头、字体、模块位置、配置编号和图例保持，前七页及依赖原字节保留。未修改RTL或协议契约；Office显示/编辑未实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legend-axi-request"/>
          <p:cNvSpPr/>
          <p:nvPr/>
        </p:nvSpPr>
        <p:spPr>
          <a:xfrm>
            <a:off x="10193867" y="306864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legend-gb"/>
          <p:cNvSpPr/>
          <p:nvPr/>
        </p:nvSpPr>
        <p:spPr>
          <a:xfrm>
            <a:off x="10193867" y="32312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legend-pixel"/>
          <p:cNvSpPr/>
          <p:nvPr/>
        </p:nvSpPr>
        <p:spPr>
          <a:xfrm>
            <a:off x="10193867" y="339376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legend-cfg"/>
          <p:cNvSpPr/>
          <p:nvPr/>
        </p:nvSpPr>
        <p:spPr>
          <a:xfrm>
            <a:off x="10193867" y="355632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legend-optional"/>
          <p:cNvSpPr/>
          <p:nvPr/>
        </p:nvSpPr>
        <p:spPr>
          <a:xfrm>
            <a:off x="10193867" y="3718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07412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69971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32531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495092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657651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3929127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017180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88144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820211"/>
            <a:ext cx="88053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mover-f1"/>
          <p:cNvSpPr/>
          <p:nvPr/>
        </p:nvSpPr>
        <p:spPr>
          <a:xfrm>
            <a:off x="7336368" y="1907016"/>
            <a:ext cx="2733522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frame-f2"/>
          <p:cNvSpPr/>
          <p:nvPr/>
        </p:nvSpPr>
        <p:spPr>
          <a:xfrm>
            <a:off x="8072967" y="1839282"/>
            <a:ext cx="2112204" cy="2475653"/>
          </a:xfrm>
          <a:custGeom>
            <a:avLst/>
            <a:gdLst/>
            <a:ahLst/>
            <a:cxnLst/>
            <a:rect l="0" t="0" r="r" b="b"/>
            <a:pathLst>
              <a:path w="3121096" h="2475653" fill="none">
                <a:moveTo>
                  <a:pt x="0" y="0"/>
                </a:moveTo>
                <a:lnTo>
                  <a:pt x="0" y="152400"/>
                </a:lnTo>
                <a:lnTo>
                  <a:pt x="1101513" y="152400"/>
                </a:lnTo>
                <a:cubicBezTo>
                  <a:pt x="1126349" y="107244"/>
                  <a:pt x="1151184" y="107244"/>
                  <a:pt x="1176020" y="152400"/>
                </a:cubicBezTo>
                <a:lnTo>
                  <a:pt x="3103033" y="152400"/>
                </a:lnTo>
                <a:lnTo>
                  <a:pt x="3103033" y="487680"/>
                </a:lnTo>
                <a:cubicBezTo>
                  <a:pt x="3121096" y="501227"/>
                  <a:pt x="3121096" y="514773"/>
                  <a:pt x="3103033" y="528320"/>
                </a:cubicBezTo>
                <a:lnTo>
                  <a:pt x="3103033" y="2286000"/>
                </a:lnTo>
                <a:lnTo>
                  <a:pt x="1971887" y="2286000"/>
                </a:lnTo>
                <a:cubicBezTo>
                  <a:pt x="1958340" y="2267938"/>
                  <a:pt x="1944793" y="2267938"/>
                  <a:pt x="1931247" y="2286000"/>
                </a:cubicBezTo>
                <a:lnTo>
                  <a:pt x="393700" y="2286000"/>
                </a:lnTo>
                <a:lnTo>
                  <a:pt x="393700" y="2316480"/>
                </a:lnTo>
                <a:cubicBezTo>
                  <a:pt x="411762" y="2330027"/>
                  <a:pt x="411762" y="2343573"/>
                  <a:pt x="393700" y="2357120"/>
                </a:cubicBezTo>
                <a:lnTo>
                  <a:pt x="393700" y="24756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265604" y="27676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legend-axi-request"/>
          <p:cNvSpPr/>
          <p:nvPr/>
        </p:nvSpPr>
        <p:spPr>
          <a:xfrm>
            <a:off x="10265604" y="293016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legend-gb"/>
          <p:cNvSpPr/>
          <p:nvPr/>
        </p:nvSpPr>
        <p:spPr>
          <a:xfrm>
            <a:off x="10265604" y="309272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legend-pixel"/>
          <p:cNvSpPr/>
          <p:nvPr/>
        </p:nvSpPr>
        <p:spPr>
          <a:xfrm>
            <a:off x="10265604" y="325528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legend-cfg"/>
          <p:cNvSpPr/>
          <p:nvPr/>
        </p:nvSpPr>
        <p:spPr>
          <a:xfrm>
            <a:off x="10265604" y="341784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legend-optional"/>
          <p:cNvSpPr/>
          <p:nvPr/>
        </p:nvSpPr>
        <p:spPr>
          <a:xfrm>
            <a:off x="10265604" y="35804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badge-C10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badge-C12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badge-C11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lvds-rx"/>
          <p:cNvSpPr/>
          <p:nvPr/>
        </p:nvSpPr>
        <p:spPr>
          <a:xfrm>
            <a:off x="10570634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rx-cdc"/>
          <p:cNvSpPr/>
          <p:nvPr/>
        </p:nvSpPr>
        <p:spPr>
          <a:xfrm>
            <a:off x="99271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isp"/>
          <p:cNvSpPr/>
          <p:nvPr/>
        </p:nvSpPr>
        <p:spPr>
          <a:xfrm>
            <a:off x="9266766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9" name="frame-select"/>
          <p:cNvSpPr/>
          <p:nvPr/>
        </p:nvSpPr>
        <p:spPr>
          <a:xfrm>
            <a:off x="8555566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frame-dma"/>
          <p:cNvSpPr/>
          <p:nvPr/>
        </p:nvSpPr>
        <p:spPr>
          <a:xfrm>
            <a:off x="7708900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badge-C4"/>
          <p:cNvSpPr/>
          <p:nvPr/>
        </p:nvSpPr>
        <p:spPr>
          <a:xfrm>
            <a:off x="10926234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badge-C9"/>
          <p:cNvSpPr/>
          <p:nvPr/>
        </p:nvSpPr>
        <p:spPr>
          <a:xfrm>
            <a:off x="9622366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badge-C6"/>
          <p:cNvSpPr/>
          <p:nvPr/>
        </p:nvSpPr>
        <p:spPr>
          <a:xfrm>
            <a:off x="82338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badge-C13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9"/>
          <p:cNvSpPr/>
          <p:nvPr/>
        </p:nvSpPr>
        <p:spPr>
          <a:xfrm>
            <a:off x="241300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9"/>
          <p:cNvSpPr/>
          <p:nvPr/>
        </p:nvSpPr>
        <p:spPr>
          <a:xfrm>
            <a:off x="265006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10"/>
          <p:cNvSpPr/>
          <p:nvPr/>
        </p:nvSpPr>
        <p:spPr>
          <a:xfrm>
            <a:off x="958426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11"/>
          <p:cNvSpPr/>
          <p:nvPr/>
        </p:nvSpPr>
        <p:spPr>
          <a:xfrm>
            <a:off x="1675553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6"/>
          <p:cNvSpPr/>
          <p:nvPr/>
        </p:nvSpPr>
        <p:spPr>
          <a:xfrm>
            <a:off x="3826934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8"/>
          <p:cNvSpPr/>
          <p:nvPr/>
        </p:nvSpPr>
        <p:spPr>
          <a:xfrm>
            <a:off x="526118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7"/>
          <p:cNvSpPr/>
          <p:nvPr/>
        </p:nvSpPr>
        <p:spPr>
          <a:xfrm>
            <a:off x="4544060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7"/>
          <p:cNvSpPr/>
          <p:nvPr/>
        </p:nvSpPr>
        <p:spPr>
          <a:xfrm>
            <a:off x="4567766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5"/>
          <p:cNvSpPr/>
          <p:nvPr/>
        </p:nvSpPr>
        <p:spPr>
          <a:xfrm>
            <a:off x="310980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4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8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7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5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10-text: C10"/>
          <p:cNvSpPr txBox="1"/>
          <p:nvPr/>
        </p:nvSpPr>
        <p:spPr>
          <a:xfrm>
            <a:off x="4396740" y="145089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12-text: C12"/>
          <p:cNvSpPr txBox="1"/>
          <p:nvPr/>
        </p:nvSpPr>
        <p:spPr>
          <a:xfrm>
            <a:off x="7139940" y="144073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11-text: C11"/>
          <p:cNvSpPr txBox="1"/>
          <p:nvPr/>
        </p:nvSpPr>
        <p:spPr>
          <a:xfrm>
            <a:off x="7139940" y="197244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10563638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10580627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98986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99339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422288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9232733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8555566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8615764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7751003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7782621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308685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10937082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9-text: C9"/>
          <p:cNvSpPr txBox="1"/>
          <p:nvPr/>
        </p:nvSpPr>
        <p:spPr>
          <a:xfrm>
            <a:off x="9629139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45" name="badge-C6-text: C6"/>
          <p:cNvSpPr txBox="1"/>
          <p:nvPr/>
        </p:nvSpPr>
        <p:spPr>
          <a:xfrm>
            <a:off x="8240607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79526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51569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3-text: C13"/>
          <p:cNvSpPr txBox="1"/>
          <p:nvPr/>
        </p:nvSpPr>
        <p:spPr>
          <a:xfrm>
            <a:off x="8512669" y="26396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8978416" y="6533203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693" b="0" i="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9-text: C9"/>
          <p:cNvSpPr txBox="1"/>
          <p:nvPr/>
        </p:nvSpPr>
        <p:spPr>
          <a:xfrm>
            <a:off x="271780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77" name="config-C9-title-0: ISP"/>
          <p:cNvSpPr txBox="1"/>
          <p:nvPr/>
        </p:nvSpPr>
        <p:spPr>
          <a:xfrm>
            <a:off x="452278" y="6528799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10-text: C10"/>
          <p:cNvSpPr txBox="1"/>
          <p:nvPr/>
        </p:nvSpPr>
        <p:spPr>
          <a:xfrm>
            <a:off x="988906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79" name="config-C10-title-0: NPU"/>
          <p:cNvSpPr txBox="1"/>
          <p:nvPr/>
        </p:nvSpPr>
        <p:spPr>
          <a:xfrm>
            <a:off x="1148077" y="6474613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10-title-1: 计算"/>
          <p:cNvSpPr txBox="1"/>
          <p:nvPr/>
        </p:nvSpPr>
        <p:spPr>
          <a:xfrm>
            <a:off x="1140883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11-text: C11"/>
          <p:cNvSpPr txBox="1"/>
          <p:nvPr/>
        </p:nvSpPr>
        <p:spPr>
          <a:xfrm>
            <a:off x="1706034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82" name="config-C11-title-0: GB"/>
          <p:cNvSpPr txBox="1"/>
          <p:nvPr/>
        </p:nvSpPr>
        <p:spPr>
          <a:xfrm>
            <a:off x="1743413" y="6474613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3" name="config-C11-title-1: 搬运"/>
          <p:cNvSpPr txBox="1"/>
          <p:nvPr/>
        </p:nvSpPr>
        <p:spPr>
          <a:xfrm>
            <a:off x="185801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6-text: C6"/>
          <p:cNvSpPr txBox="1"/>
          <p:nvPr/>
        </p:nvSpPr>
        <p:spPr>
          <a:xfrm>
            <a:off x="3857414" y="5918251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85" name="config-C6-title-0: 帧写入"/>
          <p:cNvSpPr txBox="1"/>
          <p:nvPr/>
        </p:nvSpPr>
        <p:spPr>
          <a:xfrm>
            <a:off x="3958590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6-title-1: DMA"/>
          <p:cNvSpPr txBox="1"/>
          <p:nvPr/>
        </p:nvSpPr>
        <p:spPr>
          <a:xfrm>
            <a:off x="4007456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12-text: C12"/>
          <p:cNvSpPr txBox="1"/>
          <p:nvPr/>
        </p:nvSpPr>
        <p:spPr>
          <a:xfrm>
            <a:off x="2423160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88" name="config-C12-title-0: GB"/>
          <p:cNvSpPr txBox="1"/>
          <p:nvPr/>
        </p:nvSpPr>
        <p:spPr>
          <a:xfrm>
            <a:off x="261179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12-title-1: 管理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3-text: C13"/>
          <p:cNvSpPr txBox="1"/>
          <p:nvPr/>
        </p:nvSpPr>
        <p:spPr>
          <a:xfrm>
            <a:off x="3140286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491" name="config-C13-title-0: eMMC Host"/>
          <p:cNvSpPr txBox="1"/>
          <p:nvPr/>
        </p:nvSpPr>
        <p:spPr>
          <a:xfrm>
            <a:off x="313306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3-title-1: / DMA"/>
          <p:cNvSpPr txBox="1"/>
          <p:nvPr/>
        </p:nvSpPr>
        <p:spPr>
          <a:xfrm>
            <a:off x="324870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8-text: C8"/>
          <p:cNvSpPr txBox="1"/>
          <p:nvPr/>
        </p:nvSpPr>
        <p:spPr>
          <a:xfrm>
            <a:off x="529166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94" name="config-C8-title-0: ROI 任务"/>
          <p:cNvSpPr txBox="1"/>
          <p:nvPr/>
        </p:nvSpPr>
        <p:spPr>
          <a:xfrm>
            <a:off x="5350277" y="6020800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8-title-1: / 调度"/>
          <p:cNvSpPr txBox="1"/>
          <p:nvPr/>
        </p:nvSpPr>
        <p:spPr>
          <a:xfrm>
            <a:off x="5402021" y="6129173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4-text: C14"/>
          <p:cNvSpPr txBox="1"/>
          <p:nvPr/>
        </p:nvSpPr>
        <p:spPr>
          <a:xfrm>
            <a:off x="3857413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497" name="config-C14-title-0: 压缩公共"/>
          <p:cNvSpPr txBox="1"/>
          <p:nvPr/>
        </p:nvSpPr>
        <p:spPr>
          <a:xfrm>
            <a:off x="3907790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压缩公共</a:t>
            </a:r>
          </a:p>
        </p:txBody>
      </p:sp>
      <p:sp>
        <p:nvSpPr>
          <p:cNvPr id="1498" name="config-C14-title-1: 控制"/>
          <p:cNvSpPr txBox="1"/>
          <p:nvPr/>
        </p:nvSpPr>
        <p:spPr>
          <a:xfrm>
            <a:off x="400939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7-text: C7"/>
          <p:cNvSpPr txBox="1"/>
          <p:nvPr/>
        </p:nvSpPr>
        <p:spPr>
          <a:xfrm>
            <a:off x="4574539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00" name="config-C7-title-0: 帧输出"/>
          <p:cNvSpPr txBox="1"/>
          <p:nvPr/>
        </p:nvSpPr>
        <p:spPr>
          <a:xfrm>
            <a:off x="4675716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7-title-1: DMA"/>
          <p:cNvSpPr txBox="1"/>
          <p:nvPr/>
        </p:nvSpPr>
        <p:spPr>
          <a:xfrm>
            <a:off x="4696155" y="6129173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502" name="reg-badge-C5-text: C5"/>
          <p:cNvSpPr txBox="1"/>
          <p:nvPr/>
        </p:nvSpPr>
        <p:spPr>
          <a:xfrm>
            <a:off x="314028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03" name="config-C5-title-0: LVDS"/>
          <p:cNvSpPr txBox="1"/>
          <p:nvPr/>
        </p:nvSpPr>
        <p:spPr>
          <a:xfrm>
            <a:off x="3275097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5-title-1: TX"/>
          <p:cNvSpPr txBox="1"/>
          <p:nvPr/>
        </p:nvSpPr>
        <p:spPr>
          <a:xfrm>
            <a:off x="3341079" y="6129173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4-text: C14"/>
          <p:cNvSpPr txBox="1"/>
          <p:nvPr/>
        </p:nvSpPr>
        <p:spPr>
          <a:xfrm>
            <a:off x="9658773" y="452599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8-text: C8"/>
          <p:cNvSpPr txBox="1"/>
          <p:nvPr/>
        </p:nvSpPr>
        <p:spPr>
          <a:xfrm>
            <a:off x="10945706" y="463775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7-text: C7"/>
          <p:cNvSpPr txBox="1"/>
          <p:nvPr/>
        </p:nvSpPr>
        <p:spPr>
          <a:xfrm>
            <a:off x="10945706" y="50272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32" name="roi-vdma-title: 帧输出 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5-text: C5"/>
          <p:cNvSpPr txBox="1"/>
          <p:nvPr/>
        </p:nvSpPr>
        <p:spPr>
          <a:xfrm>
            <a:off x="10945706" y="572148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98924" y="2706374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548197" y="2868935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551721" y="3031494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665230" y="3194054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71930" y="3356615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72917" y="3519174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326564" y="3790650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362362" y="3878703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265604" y="374296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401071" y="3681734"/>
            <a:ext cx="88053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  <p:sp>
        <p:nvSpPr>
          <p:cNvPr id="1549" name="sensor-rx"/>
          <p:cNvSpPr/>
          <p:nvPr/>
        </p:nvSpPr>
        <p:spPr>
          <a:xfrm>
            <a:off x="11129433" y="1517549"/>
            <a:ext cx="283633" cy="1"/>
          </a:xfrm>
          <a:custGeom>
            <a:avLst/>
            <a:gdLst/>
            <a:ahLst/>
            <a:cxnLst/>
            <a:rect l="0" t="0" r="r" b="b"/>
            <a:pathLst>
              <a:path w="283633" h="1" fill="none">
                <a:moveTo>
                  <a:pt x="2836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0" name="tx-processor"/>
          <p:cNvSpPr/>
          <p:nvPr/>
        </p:nvSpPr>
        <p:spPr>
          <a:xfrm>
            <a:off x="11142133" y="5886349"/>
            <a:ext cx="270933" cy="1"/>
          </a:xfrm>
          <a:custGeom>
            <a:avLst/>
            <a:gdLst/>
            <a:ahLst/>
            <a:cxnLst/>
            <a:rect l="0" t="0" r="r" b="b"/>
            <a:pathLst>
              <a:path w="270933" h="1" fill="none">
                <a:moveTo>
                  <a:pt x="0" y="0"/>
                </a:moveTo>
                <a:lnTo>
                  <a:pt x="2709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1" name="image-sensor"/>
          <p:cNvSpPr/>
          <p:nvPr/>
        </p:nvSpPr>
        <p:spPr>
          <a:xfrm>
            <a:off x="11413067" y="13482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2" name="image-sensor-t0: 图像传感器"/>
          <p:cNvSpPr txBox="1"/>
          <p:nvPr/>
        </p:nvSpPr>
        <p:spPr>
          <a:xfrm>
            <a:off x="11446933" y="13795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</a:t>
            </a:r>
          </a:p>
        </p:txBody>
      </p:sp>
      <p:sp>
        <p:nvSpPr>
          <p:cNvPr id="1553" name="image-sensor-t1: LVDS 输出"/>
          <p:cNvSpPr txBox="1"/>
          <p:nvPr/>
        </p:nvSpPr>
        <p:spPr>
          <a:xfrm>
            <a:off x="11446934" y="15214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54" name="output-processor"/>
          <p:cNvSpPr/>
          <p:nvPr/>
        </p:nvSpPr>
        <p:spPr>
          <a:xfrm>
            <a:off x="11413067" y="5717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5" name="output-processor-t0: 后级处理"/>
          <p:cNvSpPr txBox="1"/>
          <p:nvPr/>
        </p:nvSpPr>
        <p:spPr>
          <a:xfrm>
            <a:off x="11446933" y="57483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后级处理</a:t>
            </a:r>
          </a:p>
        </p:txBody>
      </p:sp>
      <p:sp>
        <p:nvSpPr>
          <p:cNvPr id="1556" name="output-processor-t1: LVDS 接收"/>
          <p:cNvSpPr txBox="1"/>
          <p:nvPr/>
        </p:nvSpPr>
        <p:spPr>
          <a:xfrm>
            <a:off x="11446934" y="58902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209973"/>
                </a:lnTo>
                <a:cubicBezTo>
                  <a:pt x="4146691" y="228035"/>
                  <a:pt x="4146691" y="246097"/>
                  <a:pt x="4110567" y="264159"/>
                </a:cubicBezTo>
                <a:lnTo>
                  <a:pt x="4110567" y="311573"/>
                </a:lnTo>
                <a:cubicBezTo>
                  <a:pt x="4146691" y="329636"/>
                  <a:pt x="4146691" y="347698"/>
                  <a:pt x="4110567" y="365760"/>
                </a:cubicBez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524000"/>
          </a:xfrm>
          <a:custGeom>
            <a:avLst/>
            <a:gdLst/>
            <a:ahLst/>
            <a:cxnLst/>
            <a:rect l="0" t="0" r="r" b="b"/>
            <a:pathLst>
              <a:path w="5063067" h="1524000" fill="none">
                <a:moveTo>
                  <a:pt x="3386061" y="1524000"/>
                </a:moveTo>
                <a:lnTo>
                  <a:pt x="3386061" y="1422400"/>
                </a:lnTo>
                <a:lnTo>
                  <a:pt x="4203216" y="1422400"/>
                </a:lnTo>
                <a:cubicBezTo>
                  <a:pt x="4221278" y="1386276"/>
                  <a:pt x="4239340" y="1386276"/>
                  <a:pt x="4257402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emmc-physical"/>
          <p:cNvSpPr/>
          <p:nvPr/>
        </p:nvSpPr>
        <p:spPr>
          <a:xfrm>
            <a:off x="8228189" y="2330349"/>
            <a:ext cx="3540478" cy="84667"/>
          </a:xfrm>
          <a:custGeom>
            <a:avLst/>
            <a:gdLst/>
            <a:ahLst/>
            <a:cxnLst/>
            <a:rect l="0" t="0" r="r" b="b"/>
            <a:pathLst>
              <a:path w="3540478" h="84667" fill="none">
                <a:moveTo>
                  <a:pt x="3540478" y="84667"/>
                </a:moveTo>
                <a:lnTo>
                  <a:pt x="3540478" y="0"/>
                </a:lnTo>
                <a:lnTo>
                  <a:pt x="1975837" y="0"/>
                </a:lnTo>
                <a:cubicBezTo>
                  <a:pt x="1957775" y="36124"/>
                  <a:pt x="1939713" y="36124"/>
                  <a:pt x="1921651" y="0"/>
                </a:cubicBezTo>
                <a:lnTo>
                  <a:pt x="1874237" y="0"/>
                </a:lnTo>
                <a:cubicBezTo>
                  <a:pt x="1856175" y="36124"/>
                  <a:pt x="1838113" y="36124"/>
                  <a:pt x="1820051" y="0"/>
                </a:cubicBezTo>
                <a:lnTo>
                  <a:pt x="1772638" y="0"/>
                </a:lnTo>
                <a:cubicBezTo>
                  <a:pt x="1754576" y="36124"/>
                  <a:pt x="1736513" y="36124"/>
                  <a:pt x="1718451" y="0"/>
                </a:cubicBezTo>
                <a:lnTo>
                  <a:pt x="0" y="0"/>
                </a:ln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mover-f1"/>
          <p:cNvSpPr/>
          <p:nvPr/>
        </p:nvSpPr>
        <p:spPr>
          <a:xfrm>
            <a:off x="7336367" y="2042483"/>
            <a:ext cx="2738966" cy="2272453"/>
          </a:xfrm>
          <a:custGeom>
            <a:avLst/>
            <a:gdLst/>
            <a:ahLst/>
            <a:cxnLst/>
            <a:rect l="0" t="0" r="r" b="b"/>
            <a:pathLst>
              <a:path w="2738966" h="2272453" fill="none">
                <a:moveTo>
                  <a:pt x="0" y="0"/>
                </a:moveTo>
                <a:lnTo>
                  <a:pt x="2738966" y="0"/>
                </a:lnTo>
                <a:lnTo>
                  <a:pt x="2738966" y="2116666"/>
                </a:lnTo>
                <a:lnTo>
                  <a:pt x="198967" y="2116666"/>
                </a:lnTo>
                <a:lnTo>
                  <a:pt x="198967" y="22724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frame-f2"/>
          <p:cNvSpPr/>
          <p:nvPr/>
        </p:nvSpPr>
        <p:spPr>
          <a:xfrm>
            <a:off x="8072967" y="1839282"/>
            <a:ext cx="2103966" cy="2475654"/>
          </a:xfrm>
          <a:custGeom>
            <a:avLst/>
            <a:gdLst/>
            <a:ahLst/>
            <a:cxnLst/>
            <a:rect l="0" t="0" r="r" b="b"/>
            <a:pathLst>
              <a:path w="2103966" h="2475654" fill="none">
                <a:moveTo>
                  <a:pt x="0" y="0"/>
                </a:moveTo>
                <a:lnTo>
                  <a:pt x="0" y="101600"/>
                </a:lnTo>
                <a:lnTo>
                  <a:pt x="2103966" y="101600"/>
                </a:lnTo>
                <a:lnTo>
                  <a:pt x="2103966" y="2377440"/>
                </a:lnTo>
                <a:lnTo>
                  <a:pt x="393700" y="2377440"/>
                </a:lnTo>
                <a:lnTo>
                  <a:pt x="393700" y="2475654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265604" y="27676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legend-axi-request"/>
          <p:cNvSpPr/>
          <p:nvPr/>
        </p:nvSpPr>
        <p:spPr>
          <a:xfrm>
            <a:off x="10265604" y="293016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legend-gb"/>
          <p:cNvSpPr/>
          <p:nvPr/>
        </p:nvSpPr>
        <p:spPr>
          <a:xfrm>
            <a:off x="10265604" y="309272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legend-pixel"/>
          <p:cNvSpPr/>
          <p:nvPr/>
        </p:nvSpPr>
        <p:spPr>
          <a:xfrm>
            <a:off x="10265604" y="325528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legend-cfg"/>
          <p:cNvSpPr/>
          <p:nvPr/>
        </p:nvSpPr>
        <p:spPr>
          <a:xfrm>
            <a:off x="10265604" y="341784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legend-optional"/>
          <p:cNvSpPr/>
          <p:nvPr/>
        </p:nvSpPr>
        <p:spPr>
          <a:xfrm>
            <a:off x="10265604" y="35804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badge-C10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badge-C12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badge-C11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lvds-rx"/>
          <p:cNvSpPr/>
          <p:nvPr/>
        </p:nvSpPr>
        <p:spPr>
          <a:xfrm>
            <a:off x="10570634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rx-cdc"/>
          <p:cNvSpPr/>
          <p:nvPr/>
        </p:nvSpPr>
        <p:spPr>
          <a:xfrm>
            <a:off x="99271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isp"/>
          <p:cNvSpPr/>
          <p:nvPr/>
        </p:nvSpPr>
        <p:spPr>
          <a:xfrm>
            <a:off x="9266766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9" name="frame-select"/>
          <p:cNvSpPr/>
          <p:nvPr/>
        </p:nvSpPr>
        <p:spPr>
          <a:xfrm>
            <a:off x="8555566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frame-dma"/>
          <p:cNvSpPr/>
          <p:nvPr/>
        </p:nvSpPr>
        <p:spPr>
          <a:xfrm>
            <a:off x="7708900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badge-C4"/>
          <p:cNvSpPr/>
          <p:nvPr/>
        </p:nvSpPr>
        <p:spPr>
          <a:xfrm>
            <a:off x="10926234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badge-C9"/>
          <p:cNvSpPr/>
          <p:nvPr/>
        </p:nvSpPr>
        <p:spPr>
          <a:xfrm>
            <a:off x="9622366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badge-C6"/>
          <p:cNvSpPr/>
          <p:nvPr/>
        </p:nvSpPr>
        <p:spPr>
          <a:xfrm>
            <a:off x="82338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badge-C13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9"/>
          <p:cNvSpPr/>
          <p:nvPr/>
        </p:nvSpPr>
        <p:spPr>
          <a:xfrm>
            <a:off x="241300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9"/>
          <p:cNvSpPr/>
          <p:nvPr/>
        </p:nvSpPr>
        <p:spPr>
          <a:xfrm>
            <a:off x="265006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10"/>
          <p:cNvSpPr/>
          <p:nvPr/>
        </p:nvSpPr>
        <p:spPr>
          <a:xfrm>
            <a:off x="958426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11"/>
          <p:cNvSpPr/>
          <p:nvPr/>
        </p:nvSpPr>
        <p:spPr>
          <a:xfrm>
            <a:off x="1675553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6"/>
          <p:cNvSpPr/>
          <p:nvPr/>
        </p:nvSpPr>
        <p:spPr>
          <a:xfrm>
            <a:off x="3826934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8"/>
          <p:cNvSpPr/>
          <p:nvPr/>
        </p:nvSpPr>
        <p:spPr>
          <a:xfrm>
            <a:off x="526118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7"/>
          <p:cNvSpPr/>
          <p:nvPr/>
        </p:nvSpPr>
        <p:spPr>
          <a:xfrm>
            <a:off x="4544060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7"/>
          <p:cNvSpPr/>
          <p:nvPr/>
        </p:nvSpPr>
        <p:spPr>
          <a:xfrm>
            <a:off x="4567766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5"/>
          <p:cNvSpPr/>
          <p:nvPr/>
        </p:nvSpPr>
        <p:spPr>
          <a:xfrm>
            <a:off x="310980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4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8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7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5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10-text: C10"/>
          <p:cNvSpPr txBox="1"/>
          <p:nvPr/>
        </p:nvSpPr>
        <p:spPr>
          <a:xfrm>
            <a:off x="4396740" y="145089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12-text: C12"/>
          <p:cNvSpPr txBox="1"/>
          <p:nvPr/>
        </p:nvSpPr>
        <p:spPr>
          <a:xfrm>
            <a:off x="7139940" y="144073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11-text: C11"/>
          <p:cNvSpPr txBox="1"/>
          <p:nvPr/>
        </p:nvSpPr>
        <p:spPr>
          <a:xfrm>
            <a:off x="7139940" y="197244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10563638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10580627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98986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99339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422288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9232733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8555566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8615764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7751003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7782621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308685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10937082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9-text: C9"/>
          <p:cNvSpPr txBox="1"/>
          <p:nvPr/>
        </p:nvSpPr>
        <p:spPr>
          <a:xfrm>
            <a:off x="9629139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45" name="badge-C6-text: C6"/>
          <p:cNvSpPr txBox="1"/>
          <p:nvPr/>
        </p:nvSpPr>
        <p:spPr>
          <a:xfrm>
            <a:off x="8240607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79526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51569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3-text: C13"/>
          <p:cNvSpPr txBox="1"/>
          <p:nvPr/>
        </p:nvSpPr>
        <p:spPr>
          <a:xfrm>
            <a:off x="8512669" y="26396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8978416" y="6533203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693" b="0" i="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9-text: C9"/>
          <p:cNvSpPr txBox="1"/>
          <p:nvPr/>
        </p:nvSpPr>
        <p:spPr>
          <a:xfrm>
            <a:off x="271780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77" name="config-C9-title-0: ISP"/>
          <p:cNvSpPr txBox="1"/>
          <p:nvPr/>
        </p:nvSpPr>
        <p:spPr>
          <a:xfrm>
            <a:off x="452278" y="6528799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10-text: C10"/>
          <p:cNvSpPr txBox="1"/>
          <p:nvPr/>
        </p:nvSpPr>
        <p:spPr>
          <a:xfrm>
            <a:off x="988906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79" name="config-C10-title-0: NPU"/>
          <p:cNvSpPr txBox="1"/>
          <p:nvPr/>
        </p:nvSpPr>
        <p:spPr>
          <a:xfrm>
            <a:off x="1148077" y="6474613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10-title-1: 计算"/>
          <p:cNvSpPr txBox="1"/>
          <p:nvPr/>
        </p:nvSpPr>
        <p:spPr>
          <a:xfrm>
            <a:off x="1140883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11-text: C11"/>
          <p:cNvSpPr txBox="1"/>
          <p:nvPr/>
        </p:nvSpPr>
        <p:spPr>
          <a:xfrm>
            <a:off x="1706034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82" name="config-C11-title-0: GB"/>
          <p:cNvSpPr txBox="1"/>
          <p:nvPr/>
        </p:nvSpPr>
        <p:spPr>
          <a:xfrm>
            <a:off x="1743413" y="6474613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3" name="config-C11-title-1: 搬运"/>
          <p:cNvSpPr txBox="1"/>
          <p:nvPr/>
        </p:nvSpPr>
        <p:spPr>
          <a:xfrm>
            <a:off x="185801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6-text: C6"/>
          <p:cNvSpPr txBox="1"/>
          <p:nvPr/>
        </p:nvSpPr>
        <p:spPr>
          <a:xfrm>
            <a:off x="3857414" y="5918251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85" name="config-C6-title-0: 帧写入"/>
          <p:cNvSpPr txBox="1"/>
          <p:nvPr/>
        </p:nvSpPr>
        <p:spPr>
          <a:xfrm>
            <a:off x="3958590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6-title-1: DMA"/>
          <p:cNvSpPr txBox="1"/>
          <p:nvPr/>
        </p:nvSpPr>
        <p:spPr>
          <a:xfrm>
            <a:off x="4007456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12-text: C12"/>
          <p:cNvSpPr txBox="1"/>
          <p:nvPr/>
        </p:nvSpPr>
        <p:spPr>
          <a:xfrm>
            <a:off x="2423160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88" name="config-C12-title-0: GB"/>
          <p:cNvSpPr txBox="1"/>
          <p:nvPr/>
        </p:nvSpPr>
        <p:spPr>
          <a:xfrm>
            <a:off x="261179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12-title-1: 管理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3-text: C13"/>
          <p:cNvSpPr txBox="1"/>
          <p:nvPr/>
        </p:nvSpPr>
        <p:spPr>
          <a:xfrm>
            <a:off x="3140286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491" name="config-C13-title-0: eMMC Host"/>
          <p:cNvSpPr txBox="1"/>
          <p:nvPr/>
        </p:nvSpPr>
        <p:spPr>
          <a:xfrm>
            <a:off x="313306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3-title-1: / DMA"/>
          <p:cNvSpPr txBox="1"/>
          <p:nvPr/>
        </p:nvSpPr>
        <p:spPr>
          <a:xfrm>
            <a:off x="324870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8-text: C8"/>
          <p:cNvSpPr txBox="1"/>
          <p:nvPr/>
        </p:nvSpPr>
        <p:spPr>
          <a:xfrm>
            <a:off x="529166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94" name="config-C8-title-0: ROI 任务"/>
          <p:cNvSpPr txBox="1"/>
          <p:nvPr/>
        </p:nvSpPr>
        <p:spPr>
          <a:xfrm>
            <a:off x="5350277" y="6020800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8-title-1: / 调度"/>
          <p:cNvSpPr txBox="1"/>
          <p:nvPr/>
        </p:nvSpPr>
        <p:spPr>
          <a:xfrm>
            <a:off x="5402021" y="6129173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4-text: C14"/>
          <p:cNvSpPr txBox="1"/>
          <p:nvPr/>
        </p:nvSpPr>
        <p:spPr>
          <a:xfrm>
            <a:off x="3857413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497" name="config-C14-title-0: 压缩公共"/>
          <p:cNvSpPr txBox="1"/>
          <p:nvPr/>
        </p:nvSpPr>
        <p:spPr>
          <a:xfrm>
            <a:off x="3907790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压缩公共</a:t>
            </a:r>
          </a:p>
        </p:txBody>
      </p:sp>
      <p:sp>
        <p:nvSpPr>
          <p:cNvPr id="1498" name="config-C14-title-1: 控制"/>
          <p:cNvSpPr txBox="1"/>
          <p:nvPr/>
        </p:nvSpPr>
        <p:spPr>
          <a:xfrm>
            <a:off x="400939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7-text: C7"/>
          <p:cNvSpPr txBox="1"/>
          <p:nvPr/>
        </p:nvSpPr>
        <p:spPr>
          <a:xfrm>
            <a:off x="4574539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00" name="config-C7-title-0: 帧输出"/>
          <p:cNvSpPr txBox="1"/>
          <p:nvPr/>
        </p:nvSpPr>
        <p:spPr>
          <a:xfrm>
            <a:off x="4675716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7-title-1: DMA"/>
          <p:cNvSpPr txBox="1"/>
          <p:nvPr/>
        </p:nvSpPr>
        <p:spPr>
          <a:xfrm>
            <a:off x="4696155" y="6129173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502" name="reg-badge-C5-text: C5"/>
          <p:cNvSpPr txBox="1"/>
          <p:nvPr/>
        </p:nvSpPr>
        <p:spPr>
          <a:xfrm>
            <a:off x="314028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03" name="config-C5-title-0: LVDS"/>
          <p:cNvSpPr txBox="1"/>
          <p:nvPr/>
        </p:nvSpPr>
        <p:spPr>
          <a:xfrm>
            <a:off x="3275097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5-title-1: TX"/>
          <p:cNvSpPr txBox="1"/>
          <p:nvPr/>
        </p:nvSpPr>
        <p:spPr>
          <a:xfrm>
            <a:off x="3341079" y="6129173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4-text: C14"/>
          <p:cNvSpPr txBox="1"/>
          <p:nvPr/>
        </p:nvSpPr>
        <p:spPr>
          <a:xfrm>
            <a:off x="9658773" y="452599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8-text: C8"/>
          <p:cNvSpPr txBox="1"/>
          <p:nvPr/>
        </p:nvSpPr>
        <p:spPr>
          <a:xfrm>
            <a:off x="10945706" y="463775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7-text: C7"/>
          <p:cNvSpPr txBox="1"/>
          <p:nvPr/>
        </p:nvSpPr>
        <p:spPr>
          <a:xfrm>
            <a:off x="10945706" y="50272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32" name="roi-vdma-title: 帧输出 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5-text: C5"/>
          <p:cNvSpPr txBox="1"/>
          <p:nvPr/>
        </p:nvSpPr>
        <p:spPr>
          <a:xfrm>
            <a:off x="10945706" y="572148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98924" y="2706374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548197" y="2868935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551721" y="3031494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665230" y="3194054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71930" y="3356615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72917" y="3519174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326564" y="3790650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362362" y="3878703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265604" y="374296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401071" y="3681734"/>
            <a:ext cx="88053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  <p:sp>
        <p:nvSpPr>
          <p:cNvPr id="1549" name="sensor-rx"/>
          <p:cNvSpPr/>
          <p:nvPr/>
        </p:nvSpPr>
        <p:spPr>
          <a:xfrm>
            <a:off x="11129433" y="1517549"/>
            <a:ext cx="283633" cy="1"/>
          </a:xfrm>
          <a:custGeom>
            <a:avLst/>
            <a:gdLst/>
            <a:ahLst/>
            <a:cxnLst/>
            <a:rect l="0" t="0" r="r" b="b"/>
            <a:pathLst>
              <a:path w="283633" h="1" fill="none">
                <a:moveTo>
                  <a:pt x="2836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0" name="tx-processor"/>
          <p:cNvSpPr/>
          <p:nvPr/>
        </p:nvSpPr>
        <p:spPr>
          <a:xfrm>
            <a:off x="11142133" y="5886349"/>
            <a:ext cx="270933" cy="1"/>
          </a:xfrm>
          <a:custGeom>
            <a:avLst/>
            <a:gdLst/>
            <a:ahLst/>
            <a:cxnLst/>
            <a:rect l="0" t="0" r="r" b="b"/>
            <a:pathLst>
              <a:path w="270933" h="1" fill="none">
                <a:moveTo>
                  <a:pt x="0" y="0"/>
                </a:moveTo>
                <a:lnTo>
                  <a:pt x="2709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1" name="image-sensor"/>
          <p:cNvSpPr/>
          <p:nvPr/>
        </p:nvSpPr>
        <p:spPr>
          <a:xfrm>
            <a:off x="11413067" y="13482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2" name="image-sensor-t0: 图像传感器"/>
          <p:cNvSpPr txBox="1"/>
          <p:nvPr/>
        </p:nvSpPr>
        <p:spPr>
          <a:xfrm>
            <a:off x="11446933" y="13795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</a:t>
            </a:r>
          </a:p>
        </p:txBody>
      </p:sp>
      <p:sp>
        <p:nvSpPr>
          <p:cNvPr id="1553" name="image-sensor-t1: LVDS 输出"/>
          <p:cNvSpPr txBox="1"/>
          <p:nvPr/>
        </p:nvSpPr>
        <p:spPr>
          <a:xfrm>
            <a:off x="11446934" y="15214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54" name="output-processor"/>
          <p:cNvSpPr/>
          <p:nvPr/>
        </p:nvSpPr>
        <p:spPr>
          <a:xfrm>
            <a:off x="11413067" y="5717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5" name="output-processor-t0: 后级处理"/>
          <p:cNvSpPr txBox="1"/>
          <p:nvPr/>
        </p:nvSpPr>
        <p:spPr>
          <a:xfrm>
            <a:off x="11446933" y="57483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后级处理</a:t>
            </a:r>
          </a:p>
        </p:txBody>
      </p:sp>
      <p:sp>
        <p:nvSpPr>
          <p:cNvPr id="1556" name="output-processor-t1: LVDS 接收"/>
          <p:cNvSpPr txBox="1"/>
          <p:nvPr/>
        </p:nvSpPr>
        <p:spPr>
          <a:xfrm>
            <a:off x="11446934" y="58902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14663</TotalTime>
  <Words>3984</Words>
  <Application>Microsoft Office PowerPoint</Application>
  <PresentationFormat>宽屏</PresentationFormat>
  <Paragraphs>1573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SoC硬件层：长线通道与六处跳线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5912</cp:revision>
  <dcterms:created xsi:type="dcterms:W3CDTF">2019-11-26T03:41:00Z</dcterms:created>
  <dcterms:modified xsi:type="dcterms:W3CDTF">2026-10-17T05:09:52Z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