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① 交接方式：谁在什么时候维护缓存"/>
          <p:cNvSpPr txBox="1"/>
          <p:nvPr/>
        </p:nvSpPr>
        <p:spPr>
          <a:xfrm>
            <a:off x="381000" y="115214"/>
            <a:ext cx="4745688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① 交接方式：谁在什么时候维护缓存</a:t>
            </a:r>
          </a:p>
        </p:txBody>
      </p:sp>
      <p:sp>
        <p:nvSpPr>
          <p:cNvPr id="3" name="text-003: 同一布局：左侧为 CPU 缓存层次，右侧为设备；沿绿线比较设备接入位置。"/>
          <p:cNvSpPr txBox="1"/>
          <p:nvPr/>
        </p:nvSpPr>
        <p:spPr>
          <a:xfrm>
            <a:off x="381000" y="534010"/>
            <a:ext cx="629435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同一布局：左侧为 CPU 缓存层次，右侧为设备；沿绿线比较设备接入位置。</a:t>
            </a:r>
          </a:p>
        </p:txBody>
      </p:sp>
      <p:sp>
        <p:nvSpPr>
          <p:cNvPr id="4" name="Apanel"/>
          <p:cNvSpPr/>
          <p:nvPr/>
        </p:nvSpPr>
        <p:spPr>
          <a:xfrm>
            <a:off x="190500" y="990600"/>
            <a:ext cx="6096000" cy="5638800"/>
          </a:xfrm>
          <a:prstGeom prst="rect">
            <a:avLst/>
          </a:prstGeom>
          <a:solidFill>
            <a:srgbClr val="FAFBFC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A  软件维护 + 非一致性 DMA"/>
          <p:cNvSpPr txBox="1"/>
          <p:nvPr/>
        </p:nvSpPr>
        <p:spPr>
          <a:xfrm>
            <a:off x="381000" y="1025652"/>
            <a:ext cx="3130963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  软件维护 + 非一致性 DMA</a:t>
            </a:r>
          </a:p>
        </p:txBody>
      </p:sp>
      <p:sp>
        <p:nvSpPr>
          <p:cNvPr id="6" name="text-006: 软件维护全层次；硬件直接访问内存"/>
          <p:cNvSpPr txBox="1"/>
          <p:nvPr/>
        </p:nvSpPr>
        <p:spPr>
          <a:xfrm>
            <a:off x="381000" y="1380439"/>
            <a:ext cx="2979420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软件维护全层次；硬件直接访问内存</a:t>
            </a:r>
          </a:p>
        </p:txBody>
      </p:sp>
      <p:sp>
        <p:nvSpPr>
          <p:cNvPr id="7" name="Acpu"/>
          <p:cNvSpPr/>
          <p:nvPr/>
        </p:nvSpPr>
        <p:spPr>
          <a:xfrm>
            <a:off x="647700" y="1828800"/>
            <a:ext cx="1524000" cy="4191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CPU"/>
          <p:cNvSpPr txBox="1"/>
          <p:nvPr/>
        </p:nvSpPr>
        <p:spPr>
          <a:xfrm>
            <a:off x="1119777" y="1892351"/>
            <a:ext cx="579846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</p:txBody>
      </p:sp>
      <p:sp>
        <p:nvSpPr>
          <p:cNvPr id="9" name="Aprivate"/>
          <p:cNvSpPr/>
          <p:nvPr/>
        </p:nvSpPr>
        <p:spPr>
          <a:xfrm>
            <a:off x="647700" y="2667000"/>
            <a:ext cx="1524000" cy="6477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L1 / L2"/>
          <p:cNvSpPr txBox="1"/>
          <p:nvPr/>
        </p:nvSpPr>
        <p:spPr>
          <a:xfrm>
            <a:off x="965466" y="2715311"/>
            <a:ext cx="888468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/ L2</a:t>
            </a:r>
          </a:p>
        </p:txBody>
      </p:sp>
      <p:sp>
        <p:nvSpPr>
          <p:cNvPr id="11" name="text-011: 写缓冲"/>
          <p:cNvSpPr txBox="1"/>
          <p:nvPr/>
        </p:nvSpPr>
        <p:spPr>
          <a:xfrm>
            <a:off x="1043940" y="3006700"/>
            <a:ext cx="7315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12" name="Allc"/>
          <p:cNvSpPr/>
          <p:nvPr/>
        </p:nvSpPr>
        <p:spPr>
          <a:xfrm>
            <a:off x="647700" y="4267200"/>
            <a:ext cx="1524000" cy="6477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LLC"/>
          <p:cNvSpPr txBox="1"/>
          <p:nvPr/>
        </p:nvSpPr>
        <p:spPr>
          <a:xfrm>
            <a:off x="1140268" y="4315511"/>
            <a:ext cx="538865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14" name="text-014: 系统侧缓存"/>
          <p:cNvSpPr txBox="1"/>
          <p:nvPr/>
        </p:nvSpPr>
        <p:spPr>
          <a:xfrm>
            <a:off x="8610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系统侧缓存</a:t>
            </a:r>
          </a:p>
        </p:txBody>
      </p:sp>
      <p:sp>
        <p:nvSpPr>
          <p:cNvPr id="15" name="Addr"/>
          <p:cNvSpPr/>
          <p:nvPr/>
        </p:nvSpPr>
        <p:spPr>
          <a:xfrm>
            <a:off x="647700" y="5410200"/>
            <a:ext cx="5181600" cy="4572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内存接入 / DDR"/>
          <p:cNvSpPr txBox="1"/>
          <p:nvPr/>
        </p:nvSpPr>
        <p:spPr>
          <a:xfrm>
            <a:off x="2409700" y="5492801"/>
            <a:ext cx="165760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内存接入 / DDR</a:t>
            </a:r>
          </a:p>
        </p:txBody>
      </p:sp>
      <p:sp>
        <p:nvSpPr>
          <p:cNvPr id="17" name="Adevice"/>
          <p:cNvSpPr/>
          <p:nvPr/>
        </p:nvSpPr>
        <p:spPr>
          <a:xfrm>
            <a:off x="4152900" y="1828800"/>
            <a:ext cx="1676400" cy="723900"/>
          </a:xfrm>
          <a:prstGeom prst="rect">
            <a:avLst/>
          </a:prstGeom>
          <a:solidFill>
            <a:srgbClr val="D9EEE8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加速器"/>
          <p:cNvSpPr txBox="1"/>
          <p:nvPr/>
        </p:nvSpPr>
        <p:spPr>
          <a:xfrm>
            <a:off x="4579620" y="1915211"/>
            <a:ext cx="82296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加速器</a:t>
            </a:r>
          </a:p>
        </p:txBody>
      </p:sp>
      <p:sp>
        <p:nvSpPr>
          <p:cNvPr id="19" name="text-019: 独立本地 SRAM"/>
          <p:cNvSpPr txBox="1"/>
          <p:nvPr/>
        </p:nvSpPr>
        <p:spPr>
          <a:xfrm>
            <a:off x="4267170" y="2206600"/>
            <a:ext cx="14478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独立本地 SRAM</a:t>
            </a:r>
          </a:p>
        </p:txBody>
      </p:sp>
      <p:sp>
        <p:nvSpPr>
          <p:cNvPr id="20" name="Adma"/>
          <p:cNvSpPr/>
          <p:nvPr/>
        </p:nvSpPr>
        <p:spPr>
          <a:xfrm>
            <a:off x="4152900" y="2857500"/>
            <a:ext cx="1676400" cy="4191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DMA"/>
          <p:cNvSpPr txBox="1"/>
          <p:nvPr/>
        </p:nvSpPr>
        <p:spPr>
          <a:xfrm>
            <a:off x="4678573" y="2921051"/>
            <a:ext cx="625054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22" name="Acpu-private"/>
          <p:cNvSpPr/>
          <p:nvPr/>
        </p:nvSpPr>
        <p:spPr>
          <a:xfrm>
            <a:off x="1409700" y="2247900"/>
            <a:ext cx="1" cy="419100"/>
          </a:xfrm>
          <a:custGeom>
            <a:avLst/>
            <a:gdLst/>
            <a:ahLst/>
            <a:cxnLst/>
            <a:rect l="0" t="0" r="r" b="b"/>
            <a:pathLst>
              <a:path w="1" h="419100" fill="none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Aprivate-llc"/>
          <p:cNvSpPr/>
          <p:nvPr/>
        </p:nvSpPr>
        <p:spPr>
          <a:xfrm>
            <a:off x="1409700" y="3314700"/>
            <a:ext cx="1" cy="952500"/>
          </a:xfrm>
          <a:custGeom>
            <a:avLst/>
            <a:gdLst/>
            <a:ahLst/>
            <a:cxnLst/>
            <a:rect l="0" t="0" r="r" b="b"/>
            <a:pathLst>
              <a:path w="1" h="952500" fill="none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Allc-ddr"/>
          <p:cNvSpPr/>
          <p:nvPr/>
        </p:nvSpPr>
        <p:spPr>
          <a:xfrm>
            <a:off x="14097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Alocal-dma"/>
          <p:cNvSpPr/>
          <p:nvPr/>
        </p:nvSpPr>
        <p:spPr>
          <a:xfrm>
            <a:off x="4991100" y="2552700"/>
            <a:ext cx="1" cy="304800"/>
          </a:xfrm>
          <a:custGeom>
            <a:avLst/>
            <a:gdLst/>
            <a:ahLst/>
            <a:cxnLst/>
            <a:rect l="0" t="0" r="r" b="b"/>
            <a:pathLst>
              <a:path w="1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Adma-fabric"/>
          <p:cNvSpPr/>
          <p:nvPr/>
        </p:nvSpPr>
        <p:spPr>
          <a:xfrm>
            <a:off x="4991100" y="3276600"/>
            <a:ext cx="1" cy="990600"/>
          </a:xfrm>
          <a:custGeom>
            <a:avLst/>
            <a:gdLst/>
            <a:ahLst/>
            <a:cxnLst/>
            <a:rect l="0" t="0" r="r" b="b"/>
            <a:pathLst>
              <a:path w="1" h="990600" fill="none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Afabric"/>
          <p:cNvSpPr/>
          <p:nvPr/>
        </p:nvSpPr>
        <p:spPr>
          <a:xfrm>
            <a:off x="3543300" y="4267200"/>
            <a:ext cx="2286000" cy="647700"/>
          </a:xfrm>
          <a:prstGeom prst="rect">
            <a:avLst/>
          </a:prstGeom>
          <a:solidFill>
            <a:srgbClr val="F5E1C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普通互连"/>
          <p:cNvSpPr txBox="1"/>
          <p:nvPr/>
        </p:nvSpPr>
        <p:spPr>
          <a:xfrm>
            <a:off x="4171950" y="4315511"/>
            <a:ext cx="102870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普通互连</a:t>
            </a:r>
          </a:p>
        </p:txBody>
      </p:sp>
      <p:sp>
        <p:nvSpPr>
          <p:cNvPr id="29" name="text-029: 软件交接"/>
          <p:cNvSpPr txBox="1"/>
          <p:nvPr/>
        </p:nvSpPr>
        <p:spPr>
          <a:xfrm>
            <a:off x="4229100" y="4606900"/>
            <a:ext cx="9144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软件交接</a:t>
            </a:r>
          </a:p>
        </p:txBody>
      </p:sp>
      <p:sp>
        <p:nvSpPr>
          <p:cNvPr id="30" name="Adevice-ddr"/>
          <p:cNvSpPr/>
          <p:nvPr/>
        </p:nvSpPr>
        <p:spPr>
          <a:xfrm>
            <a:off x="46863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driver"/>
          <p:cNvSpPr/>
          <p:nvPr/>
        </p:nvSpPr>
        <p:spPr>
          <a:xfrm>
            <a:off x="2514600" y="1828800"/>
            <a:ext cx="1295400" cy="4191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驱动"/>
          <p:cNvSpPr txBox="1"/>
          <p:nvPr/>
        </p:nvSpPr>
        <p:spPr>
          <a:xfrm>
            <a:off x="2853690" y="1892351"/>
            <a:ext cx="61722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驱动</a:t>
            </a:r>
          </a:p>
        </p:txBody>
      </p:sp>
      <p:sp>
        <p:nvSpPr>
          <p:cNvPr id="33" name="Asw-private"/>
          <p:cNvSpPr/>
          <p:nvPr/>
        </p:nvSpPr>
        <p:spPr>
          <a:xfrm>
            <a:off x="2171700" y="2034540"/>
            <a:ext cx="342900" cy="845820"/>
          </a:xfrm>
          <a:custGeom>
            <a:avLst/>
            <a:gdLst/>
            <a:ahLst/>
            <a:cxnLst/>
            <a:rect l="0" t="0" r="r" b="b"/>
            <a:pathLst>
              <a:path w="342900" h="845820" fill="none">
                <a:moveTo>
                  <a:pt x="342900" y="0"/>
                </a:moveTo>
                <a:lnTo>
                  <a:pt x="190500" y="0"/>
                </a:lnTo>
                <a:lnTo>
                  <a:pt x="190500" y="845820"/>
                </a:lnTo>
                <a:lnTo>
                  <a:pt x="0" y="84582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Asw-llc"/>
          <p:cNvSpPr/>
          <p:nvPr/>
        </p:nvSpPr>
        <p:spPr>
          <a:xfrm>
            <a:off x="2171700" y="2247900"/>
            <a:ext cx="990600" cy="2476500"/>
          </a:xfrm>
          <a:custGeom>
            <a:avLst/>
            <a:gdLst/>
            <a:ahLst/>
            <a:cxnLst/>
            <a:rect l="0" t="0" r="r" b="b"/>
            <a:pathLst>
              <a:path w="990600" h="2476500" fill="none">
                <a:moveTo>
                  <a:pt x="990600" y="0"/>
                </a:moveTo>
                <a:lnTo>
                  <a:pt x="990600" y="2476500"/>
                </a:lnTo>
                <a:lnTo>
                  <a:pt x="0" y="247650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交接前后由软件 clean / invalidate"/>
          <p:cNvSpPr txBox="1"/>
          <p:nvPr/>
        </p:nvSpPr>
        <p:spPr>
          <a:xfrm>
            <a:off x="381000" y="6005779"/>
            <a:ext cx="2791337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交接前后由软件 clean / invalidate</a:t>
            </a:r>
          </a:p>
        </p:txBody>
      </p:sp>
      <p:sp>
        <p:nvSpPr>
          <p:cNvPr id="36" name="text-036: 设备直访 DDR；交接区限制冲突访问"/>
          <p:cNvSpPr txBox="1"/>
          <p:nvPr/>
        </p:nvSpPr>
        <p:spPr>
          <a:xfrm>
            <a:off x="381000" y="6249619"/>
            <a:ext cx="3021009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设备直访 DDR；交接区限制冲突访问</a:t>
            </a:r>
          </a:p>
        </p:txBody>
      </p:sp>
      <p:sp>
        <p:nvSpPr>
          <p:cNvPr id="37" name="Bpanel"/>
          <p:cNvSpPr/>
          <p:nvPr/>
        </p:nvSpPr>
        <p:spPr>
          <a:xfrm>
            <a:off x="6515100" y="990600"/>
            <a:ext cx="6096000" cy="5638800"/>
          </a:xfrm>
          <a:prstGeom prst="rect">
            <a:avLst/>
          </a:prstGeom>
          <a:solidFill>
            <a:srgbClr val="FAFBFC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B  搬运边界硬件维护"/>
          <p:cNvSpPr txBox="1"/>
          <p:nvPr/>
        </p:nvSpPr>
        <p:spPr>
          <a:xfrm>
            <a:off x="6705600" y="1025652"/>
            <a:ext cx="2336006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  搬运边界硬件维护</a:t>
            </a:r>
          </a:p>
        </p:txBody>
      </p:sp>
      <p:sp>
        <p:nvSpPr>
          <p:cNvPr id="39" name="text-039: 由硬件执行范围维护；传输期间范围排他"/>
          <p:cNvSpPr txBox="1"/>
          <p:nvPr/>
        </p:nvSpPr>
        <p:spPr>
          <a:xfrm>
            <a:off x="6705600" y="1380439"/>
            <a:ext cx="3329940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由硬件执行范围维护；传输期间范围排他</a:t>
            </a:r>
          </a:p>
        </p:txBody>
      </p:sp>
      <p:sp>
        <p:nvSpPr>
          <p:cNvPr id="40" name="Bcpu"/>
          <p:cNvSpPr/>
          <p:nvPr/>
        </p:nvSpPr>
        <p:spPr>
          <a:xfrm>
            <a:off x="6972300" y="1828800"/>
            <a:ext cx="1524000" cy="4191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CPU"/>
          <p:cNvSpPr txBox="1"/>
          <p:nvPr/>
        </p:nvSpPr>
        <p:spPr>
          <a:xfrm>
            <a:off x="7444377" y="1892351"/>
            <a:ext cx="579846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</p:txBody>
      </p:sp>
      <p:sp>
        <p:nvSpPr>
          <p:cNvPr id="42" name="Bprivate"/>
          <p:cNvSpPr/>
          <p:nvPr/>
        </p:nvSpPr>
        <p:spPr>
          <a:xfrm>
            <a:off x="6972300" y="2667000"/>
            <a:ext cx="1524000" cy="6477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L1 / L2"/>
          <p:cNvSpPr txBox="1"/>
          <p:nvPr/>
        </p:nvSpPr>
        <p:spPr>
          <a:xfrm>
            <a:off x="7290066" y="2715311"/>
            <a:ext cx="888468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/ L2</a:t>
            </a:r>
          </a:p>
        </p:txBody>
      </p:sp>
      <p:sp>
        <p:nvSpPr>
          <p:cNvPr id="44" name="text-044: 写缓冲"/>
          <p:cNvSpPr txBox="1"/>
          <p:nvPr/>
        </p:nvSpPr>
        <p:spPr>
          <a:xfrm>
            <a:off x="7368540" y="3006700"/>
            <a:ext cx="7315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45" name="Bllc"/>
          <p:cNvSpPr/>
          <p:nvPr/>
        </p:nvSpPr>
        <p:spPr>
          <a:xfrm>
            <a:off x="6972300" y="4267200"/>
            <a:ext cx="1524000" cy="6477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LLC"/>
          <p:cNvSpPr txBox="1"/>
          <p:nvPr/>
        </p:nvSpPr>
        <p:spPr>
          <a:xfrm>
            <a:off x="7464868" y="4315511"/>
            <a:ext cx="538865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47" name="text-047: 系统侧缓存"/>
          <p:cNvSpPr txBox="1"/>
          <p:nvPr/>
        </p:nvSpPr>
        <p:spPr>
          <a:xfrm>
            <a:off x="71856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系统侧缓存</a:t>
            </a:r>
          </a:p>
        </p:txBody>
      </p:sp>
      <p:sp>
        <p:nvSpPr>
          <p:cNvPr id="48" name="Bddr"/>
          <p:cNvSpPr/>
          <p:nvPr/>
        </p:nvSpPr>
        <p:spPr>
          <a:xfrm>
            <a:off x="6972300" y="5410200"/>
            <a:ext cx="5181600" cy="4572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内存接入 / DDR"/>
          <p:cNvSpPr txBox="1"/>
          <p:nvPr/>
        </p:nvSpPr>
        <p:spPr>
          <a:xfrm>
            <a:off x="8734300" y="5492801"/>
            <a:ext cx="165760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内存接入 / DDR</a:t>
            </a:r>
          </a:p>
        </p:txBody>
      </p:sp>
      <p:sp>
        <p:nvSpPr>
          <p:cNvPr id="50" name="Bdevice"/>
          <p:cNvSpPr/>
          <p:nvPr/>
        </p:nvSpPr>
        <p:spPr>
          <a:xfrm>
            <a:off x="10477500" y="1828800"/>
            <a:ext cx="1676400" cy="723900"/>
          </a:xfrm>
          <a:prstGeom prst="rect">
            <a:avLst/>
          </a:prstGeom>
          <a:solidFill>
            <a:srgbClr val="D9EEE8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加速器"/>
          <p:cNvSpPr txBox="1"/>
          <p:nvPr/>
        </p:nvSpPr>
        <p:spPr>
          <a:xfrm>
            <a:off x="10904220" y="1915211"/>
            <a:ext cx="82296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加速器</a:t>
            </a:r>
          </a:p>
        </p:txBody>
      </p:sp>
      <p:sp>
        <p:nvSpPr>
          <p:cNvPr id="52" name="text-052: 独立本地 SRAM"/>
          <p:cNvSpPr txBox="1"/>
          <p:nvPr/>
        </p:nvSpPr>
        <p:spPr>
          <a:xfrm>
            <a:off x="10591770" y="2206600"/>
            <a:ext cx="14478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独立本地 SRAM</a:t>
            </a:r>
          </a:p>
        </p:txBody>
      </p:sp>
      <p:sp>
        <p:nvSpPr>
          <p:cNvPr id="53" name="Bdma"/>
          <p:cNvSpPr/>
          <p:nvPr/>
        </p:nvSpPr>
        <p:spPr>
          <a:xfrm>
            <a:off x="10477500" y="2857500"/>
            <a:ext cx="1676400" cy="4191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DMA"/>
          <p:cNvSpPr txBox="1"/>
          <p:nvPr/>
        </p:nvSpPr>
        <p:spPr>
          <a:xfrm>
            <a:off x="11003173" y="2921051"/>
            <a:ext cx="625054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55" name="Bcpu-private"/>
          <p:cNvSpPr/>
          <p:nvPr/>
        </p:nvSpPr>
        <p:spPr>
          <a:xfrm>
            <a:off x="7734300" y="2247900"/>
            <a:ext cx="1" cy="419100"/>
          </a:xfrm>
          <a:custGeom>
            <a:avLst/>
            <a:gdLst/>
            <a:ahLst/>
            <a:cxnLst/>
            <a:rect l="0" t="0" r="r" b="b"/>
            <a:pathLst>
              <a:path w="1" h="419100" fill="none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Bprivate-llc"/>
          <p:cNvSpPr/>
          <p:nvPr/>
        </p:nvSpPr>
        <p:spPr>
          <a:xfrm>
            <a:off x="7734300" y="3314700"/>
            <a:ext cx="1" cy="952500"/>
          </a:xfrm>
          <a:custGeom>
            <a:avLst/>
            <a:gdLst/>
            <a:ahLst/>
            <a:cxnLst/>
            <a:rect l="0" t="0" r="r" b="b"/>
            <a:pathLst>
              <a:path w="1" h="952500" fill="none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Bllc-ddr"/>
          <p:cNvSpPr/>
          <p:nvPr/>
        </p:nvSpPr>
        <p:spPr>
          <a:xfrm>
            <a:off x="77343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Blocal-dma"/>
          <p:cNvSpPr/>
          <p:nvPr/>
        </p:nvSpPr>
        <p:spPr>
          <a:xfrm>
            <a:off x="11315700" y="2552700"/>
            <a:ext cx="1" cy="304800"/>
          </a:xfrm>
          <a:custGeom>
            <a:avLst/>
            <a:gdLst/>
            <a:ahLst/>
            <a:cxnLst/>
            <a:rect l="0" t="0" r="r" b="b"/>
            <a:pathLst>
              <a:path w="1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Bdma-fabric"/>
          <p:cNvSpPr/>
          <p:nvPr/>
        </p:nvSpPr>
        <p:spPr>
          <a:xfrm>
            <a:off x="11315700" y="3276600"/>
            <a:ext cx="1" cy="990600"/>
          </a:xfrm>
          <a:custGeom>
            <a:avLst/>
            <a:gdLst/>
            <a:ahLst/>
            <a:cxnLst/>
            <a:rect l="0" t="0" r="r" b="b"/>
            <a:pathLst>
              <a:path w="1" h="990600" fill="none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Bfabric"/>
          <p:cNvSpPr/>
          <p:nvPr/>
        </p:nvSpPr>
        <p:spPr>
          <a:xfrm>
            <a:off x="9867900" y="4267200"/>
            <a:ext cx="2286000" cy="647700"/>
          </a:xfrm>
          <a:prstGeom prst="rect">
            <a:avLst/>
          </a:prstGeom>
          <a:solidFill>
            <a:srgbClr val="F5E1C9"/>
          </a:solidFill>
          <a:ln w="12954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维护 / 准入引擎"/>
          <p:cNvSpPr txBox="1"/>
          <p:nvPr/>
        </p:nvSpPr>
        <p:spPr>
          <a:xfrm>
            <a:off x="10175677" y="4315511"/>
            <a:ext cx="1670447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维护 / 准入引擎</a:t>
            </a:r>
          </a:p>
        </p:txBody>
      </p:sp>
      <p:sp>
        <p:nvSpPr>
          <p:cNvPr id="62" name="text-062: 搬运边界"/>
          <p:cNvSpPr txBox="1"/>
          <p:nvPr/>
        </p:nvSpPr>
        <p:spPr>
          <a:xfrm>
            <a:off x="10553700" y="4606900"/>
            <a:ext cx="9144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搬运边界</a:t>
            </a:r>
          </a:p>
        </p:txBody>
      </p:sp>
      <p:sp>
        <p:nvSpPr>
          <p:cNvPr id="63" name="Bdevice-ddr"/>
          <p:cNvSpPr/>
          <p:nvPr/>
        </p:nvSpPr>
        <p:spPr>
          <a:xfrm>
            <a:off x="110109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Bprobe-private"/>
          <p:cNvSpPr/>
          <p:nvPr/>
        </p:nvSpPr>
        <p:spPr>
          <a:xfrm>
            <a:off x="8496300" y="3048000"/>
            <a:ext cx="1371600" cy="1333500"/>
          </a:xfrm>
          <a:custGeom>
            <a:avLst/>
            <a:gdLst/>
            <a:ahLst/>
            <a:cxnLst/>
            <a:rect l="0" t="0" r="r" b="b"/>
            <a:pathLst>
              <a:path w="1371600" h="1333500" fill="none">
                <a:moveTo>
                  <a:pt x="1371600" y="1333500"/>
                </a:moveTo>
                <a:lnTo>
                  <a:pt x="495300" y="1333500"/>
                </a:lnTo>
                <a:lnTo>
                  <a:pt x="495300" y="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Bprobe-llc"/>
          <p:cNvSpPr/>
          <p:nvPr/>
        </p:nvSpPr>
        <p:spPr>
          <a:xfrm>
            <a:off x="8496300" y="4739640"/>
            <a:ext cx="1371600" cy="1"/>
          </a:xfrm>
          <a:custGeom>
            <a:avLst/>
            <a:gdLst/>
            <a:ahLst/>
            <a:cxnLst/>
            <a:rect l="0" t="0" r="r" b="b"/>
            <a:pathLst>
              <a:path w="1371600" h="1" fill="none">
                <a:moveTo>
                  <a:pt x="1371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硬件排空、维护并确认；传输期范围排他"/>
          <p:cNvSpPr txBox="1"/>
          <p:nvPr/>
        </p:nvSpPr>
        <p:spPr>
          <a:xfrm>
            <a:off x="6705600" y="6005779"/>
            <a:ext cx="3329940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硬件排空、维护并确认；传输期范围排他</a:t>
            </a:r>
          </a:p>
        </p:txBody>
      </p:sp>
      <p:sp>
        <p:nvSpPr>
          <p:cNvPr id="67" name="text-067: 项目低成本候选：以块 / 任务为边界"/>
          <p:cNvSpPr txBox="1"/>
          <p:nvPr/>
        </p:nvSpPr>
        <p:spPr>
          <a:xfrm>
            <a:off x="6705600" y="6249619"/>
            <a:ext cx="3000304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项目低成本候选：以块 / 任务为边界</a:t>
            </a:r>
          </a:p>
        </p:txBody>
      </p:sp>
      <p:sp>
        <p:nvSpPr>
          <p:cNvPr id="68" name="text-068: 蓝灰：CPU 常规访存    绿色：设备访问 / 数据    紫色：维护 / 探"/>
          <p:cNvSpPr txBox="1"/>
          <p:nvPr/>
        </p:nvSpPr>
        <p:spPr>
          <a:xfrm>
            <a:off x="228600" y="6790639"/>
            <a:ext cx="6967442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蓝灰：CPU 常规访存    绿色：设备访问 / 数据    紫色：维护 / 探测与确认（双向合并）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② 协调范围：只到 LLC，还是覆盖 CPU 私有缓存"/>
          <p:cNvSpPr txBox="1"/>
          <p:nvPr/>
        </p:nvSpPr>
        <p:spPr>
          <a:xfrm>
            <a:off x="381000" y="115214"/>
            <a:ext cx="6209740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② 协调范围：只到 LLC，还是覆盖 CPU 私有缓存</a:t>
            </a:r>
          </a:p>
        </p:txBody>
      </p:sp>
      <p:sp>
        <p:nvSpPr>
          <p:cNvPr id="3" name="text-003: 同一布局：左侧为 CPU 缓存层次，右侧为设备；沿绿线比较设备接入位置。"/>
          <p:cNvSpPr txBox="1"/>
          <p:nvPr/>
        </p:nvSpPr>
        <p:spPr>
          <a:xfrm>
            <a:off x="381000" y="534010"/>
            <a:ext cx="629435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同一布局：左侧为 CPU 缓存层次，右侧为设备；沿绿线比较设备接入位置。</a:t>
            </a:r>
          </a:p>
        </p:txBody>
      </p:sp>
      <p:sp>
        <p:nvSpPr>
          <p:cNvPr id="4" name="Cpanel"/>
          <p:cNvSpPr/>
          <p:nvPr/>
        </p:nvSpPr>
        <p:spPr>
          <a:xfrm>
            <a:off x="190500" y="990600"/>
            <a:ext cx="6096000" cy="5638800"/>
          </a:xfrm>
          <a:prstGeom prst="rect">
            <a:avLst/>
          </a:prstGeom>
          <a:solidFill>
            <a:srgbClr val="FAFBFC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C  LLC-coherent DMA"/>
          <p:cNvSpPr txBox="1"/>
          <p:nvPr/>
        </p:nvSpPr>
        <p:spPr>
          <a:xfrm>
            <a:off x="381000" y="1025652"/>
            <a:ext cx="2352068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  LLC-coherent DMA</a:t>
            </a:r>
          </a:p>
        </p:txBody>
      </p:sp>
      <p:sp>
        <p:nvSpPr>
          <p:cNvPr id="6" name="text-006: LLC 硬件协调；CPU 私有缓存仍需软件维护"/>
          <p:cNvSpPr txBox="1"/>
          <p:nvPr/>
        </p:nvSpPr>
        <p:spPr>
          <a:xfrm>
            <a:off x="381000" y="1380439"/>
            <a:ext cx="3511713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LLC 硬件协调；CPU 私有缓存仍需软件维护</a:t>
            </a:r>
          </a:p>
        </p:txBody>
      </p:sp>
      <p:sp>
        <p:nvSpPr>
          <p:cNvPr id="7" name="Ccpu"/>
          <p:cNvSpPr/>
          <p:nvPr/>
        </p:nvSpPr>
        <p:spPr>
          <a:xfrm>
            <a:off x="647700" y="1828800"/>
            <a:ext cx="1524000" cy="4191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CPU"/>
          <p:cNvSpPr txBox="1"/>
          <p:nvPr/>
        </p:nvSpPr>
        <p:spPr>
          <a:xfrm>
            <a:off x="1119777" y="1892351"/>
            <a:ext cx="579846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</p:txBody>
      </p:sp>
      <p:sp>
        <p:nvSpPr>
          <p:cNvPr id="9" name="Cprivate"/>
          <p:cNvSpPr/>
          <p:nvPr/>
        </p:nvSpPr>
        <p:spPr>
          <a:xfrm>
            <a:off x="647700" y="2667000"/>
            <a:ext cx="1524000" cy="6477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L1 / L2"/>
          <p:cNvSpPr txBox="1"/>
          <p:nvPr/>
        </p:nvSpPr>
        <p:spPr>
          <a:xfrm>
            <a:off x="965466" y="2715311"/>
            <a:ext cx="888468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/ L2</a:t>
            </a:r>
          </a:p>
        </p:txBody>
      </p:sp>
      <p:sp>
        <p:nvSpPr>
          <p:cNvPr id="11" name="text-011: 写缓冲"/>
          <p:cNvSpPr txBox="1"/>
          <p:nvPr/>
        </p:nvSpPr>
        <p:spPr>
          <a:xfrm>
            <a:off x="1043940" y="3006700"/>
            <a:ext cx="7315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12" name="Cllc"/>
          <p:cNvSpPr/>
          <p:nvPr/>
        </p:nvSpPr>
        <p:spPr>
          <a:xfrm>
            <a:off x="647700" y="4267200"/>
            <a:ext cx="1524000" cy="6477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LLC"/>
          <p:cNvSpPr txBox="1"/>
          <p:nvPr/>
        </p:nvSpPr>
        <p:spPr>
          <a:xfrm>
            <a:off x="1140268" y="4315511"/>
            <a:ext cx="538865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14" name="text-014: 系统侧缓存"/>
          <p:cNvSpPr txBox="1"/>
          <p:nvPr/>
        </p:nvSpPr>
        <p:spPr>
          <a:xfrm>
            <a:off x="8610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系统侧缓存</a:t>
            </a:r>
          </a:p>
        </p:txBody>
      </p:sp>
      <p:sp>
        <p:nvSpPr>
          <p:cNvPr id="15" name="Cddr"/>
          <p:cNvSpPr/>
          <p:nvPr/>
        </p:nvSpPr>
        <p:spPr>
          <a:xfrm>
            <a:off x="647700" y="5410200"/>
            <a:ext cx="5181600" cy="4572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内存接入 / DDR"/>
          <p:cNvSpPr txBox="1"/>
          <p:nvPr/>
        </p:nvSpPr>
        <p:spPr>
          <a:xfrm>
            <a:off x="2409700" y="5492801"/>
            <a:ext cx="165760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内存接入 / DDR</a:t>
            </a:r>
          </a:p>
        </p:txBody>
      </p:sp>
      <p:sp>
        <p:nvSpPr>
          <p:cNvPr id="17" name="Cdevice"/>
          <p:cNvSpPr/>
          <p:nvPr/>
        </p:nvSpPr>
        <p:spPr>
          <a:xfrm>
            <a:off x="4152900" y="1828800"/>
            <a:ext cx="1676400" cy="723900"/>
          </a:xfrm>
          <a:prstGeom prst="rect">
            <a:avLst/>
          </a:prstGeom>
          <a:solidFill>
            <a:srgbClr val="D9EEE8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加速器"/>
          <p:cNvSpPr txBox="1"/>
          <p:nvPr/>
        </p:nvSpPr>
        <p:spPr>
          <a:xfrm>
            <a:off x="4579620" y="1915211"/>
            <a:ext cx="82296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加速器</a:t>
            </a:r>
          </a:p>
        </p:txBody>
      </p:sp>
      <p:sp>
        <p:nvSpPr>
          <p:cNvPr id="19" name="text-019: 独立本地 SRAM"/>
          <p:cNvSpPr txBox="1"/>
          <p:nvPr/>
        </p:nvSpPr>
        <p:spPr>
          <a:xfrm>
            <a:off x="4267170" y="2206600"/>
            <a:ext cx="14478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独立本地 SRAM</a:t>
            </a:r>
          </a:p>
        </p:txBody>
      </p:sp>
      <p:sp>
        <p:nvSpPr>
          <p:cNvPr id="20" name="Cdma"/>
          <p:cNvSpPr/>
          <p:nvPr/>
        </p:nvSpPr>
        <p:spPr>
          <a:xfrm>
            <a:off x="4152900" y="2857500"/>
            <a:ext cx="1676400" cy="4191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DMA"/>
          <p:cNvSpPr txBox="1"/>
          <p:nvPr/>
        </p:nvSpPr>
        <p:spPr>
          <a:xfrm>
            <a:off x="4678573" y="2921051"/>
            <a:ext cx="625054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22" name="Ccpu-private"/>
          <p:cNvSpPr/>
          <p:nvPr/>
        </p:nvSpPr>
        <p:spPr>
          <a:xfrm>
            <a:off x="1409700" y="2247900"/>
            <a:ext cx="1" cy="419100"/>
          </a:xfrm>
          <a:custGeom>
            <a:avLst/>
            <a:gdLst/>
            <a:ahLst/>
            <a:cxnLst/>
            <a:rect l="0" t="0" r="r" b="b"/>
            <a:pathLst>
              <a:path w="1" h="419100" fill="none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private-llc"/>
          <p:cNvSpPr/>
          <p:nvPr/>
        </p:nvSpPr>
        <p:spPr>
          <a:xfrm>
            <a:off x="1409700" y="3314700"/>
            <a:ext cx="1" cy="952500"/>
          </a:xfrm>
          <a:custGeom>
            <a:avLst/>
            <a:gdLst/>
            <a:ahLst/>
            <a:cxnLst/>
            <a:rect l="0" t="0" r="r" b="b"/>
            <a:pathLst>
              <a:path w="1" h="952500" fill="none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Cllc-ddr"/>
          <p:cNvSpPr/>
          <p:nvPr/>
        </p:nvSpPr>
        <p:spPr>
          <a:xfrm>
            <a:off x="14097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local-dma"/>
          <p:cNvSpPr/>
          <p:nvPr/>
        </p:nvSpPr>
        <p:spPr>
          <a:xfrm>
            <a:off x="4991100" y="2552700"/>
            <a:ext cx="1" cy="304800"/>
          </a:xfrm>
          <a:custGeom>
            <a:avLst/>
            <a:gdLst/>
            <a:ahLst/>
            <a:cxnLst/>
            <a:rect l="0" t="0" r="r" b="b"/>
            <a:pathLst>
              <a:path w="1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dma-fabric"/>
          <p:cNvSpPr/>
          <p:nvPr/>
        </p:nvSpPr>
        <p:spPr>
          <a:xfrm>
            <a:off x="4991100" y="3276600"/>
            <a:ext cx="1" cy="990600"/>
          </a:xfrm>
          <a:custGeom>
            <a:avLst/>
            <a:gdLst/>
            <a:ahLst/>
            <a:cxnLst/>
            <a:rect l="0" t="0" r="r" b="b"/>
            <a:pathLst>
              <a:path w="1" h="990600" fill="none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fabric"/>
          <p:cNvSpPr/>
          <p:nvPr/>
        </p:nvSpPr>
        <p:spPr>
          <a:xfrm>
            <a:off x="3543300" y="4267200"/>
            <a:ext cx="2286000" cy="647700"/>
          </a:xfrm>
          <a:prstGeom prst="rect">
            <a:avLst/>
          </a:prstGeom>
          <a:solidFill>
            <a:srgbClr val="F5E1C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LLC 接入"/>
          <p:cNvSpPr txBox="1"/>
          <p:nvPr/>
        </p:nvSpPr>
        <p:spPr>
          <a:xfrm>
            <a:off x="4180284" y="4315511"/>
            <a:ext cx="1012031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接入</a:t>
            </a:r>
          </a:p>
        </p:txBody>
      </p:sp>
      <p:sp>
        <p:nvSpPr>
          <p:cNvPr id="29" name="text-029: 局部协调"/>
          <p:cNvSpPr txBox="1"/>
          <p:nvPr/>
        </p:nvSpPr>
        <p:spPr>
          <a:xfrm>
            <a:off x="4229100" y="4606900"/>
            <a:ext cx="9144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局部协调</a:t>
            </a:r>
          </a:p>
        </p:txBody>
      </p:sp>
      <p:sp>
        <p:nvSpPr>
          <p:cNvPr id="30" name="Cdevice-llc"/>
          <p:cNvSpPr/>
          <p:nvPr/>
        </p:nvSpPr>
        <p:spPr>
          <a:xfrm>
            <a:off x="2171700" y="4472940"/>
            <a:ext cx="1371600" cy="1"/>
          </a:xfrm>
          <a:custGeom>
            <a:avLst/>
            <a:gdLst/>
            <a:ahLst/>
            <a:cxnLst/>
            <a:rect l="0" t="0" r="r" b="b"/>
            <a:pathLst>
              <a:path w="1371600" h="1" fill="none">
                <a:moveTo>
                  <a:pt x="1371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driver"/>
          <p:cNvSpPr/>
          <p:nvPr/>
        </p:nvSpPr>
        <p:spPr>
          <a:xfrm>
            <a:off x="2514600" y="1828800"/>
            <a:ext cx="1295400" cy="4191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驱动"/>
          <p:cNvSpPr txBox="1"/>
          <p:nvPr/>
        </p:nvSpPr>
        <p:spPr>
          <a:xfrm>
            <a:off x="2853690" y="1892351"/>
            <a:ext cx="61722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驱动</a:t>
            </a:r>
          </a:p>
        </p:txBody>
      </p:sp>
      <p:sp>
        <p:nvSpPr>
          <p:cNvPr id="33" name="Csw-private"/>
          <p:cNvSpPr/>
          <p:nvPr/>
        </p:nvSpPr>
        <p:spPr>
          <a:xfrm>
            <a:off x="2171700" y="2034540"/>
            <a:ext cx="342900" cy="845820"/>
          </a:xfrm>
          <a:custGeom>
            <a:avLst/>
            <a:gdLst/>
            <a:ahLst/>
            <a:cxnLst/>
            <a:rect l="0" t="0" r="r" b="b"/>
            <a:pathLst>
              <a:path w="342900" h="845820" fill="none">
                <a:moveTo>
                  <a:pt x="342900" y="0"/>
                </a:moveTo>
                <a:lnTo>
                  <a:pt x="190500" y="0"/>
                </a:lnTo>
                <a:lnTo>
                  <a:pt x="190500" y="845820"/>
                </a:lnTo>
                <a:lnTo>
                  <a:pt x="0" y="84582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CPU 私有缓存由软件维护"/>
          <p:cNvSpPr txBox="1"/>
          <p:nvPr/>
        </p:nvSpPr>
        <p:spPr>
          <a:xfrm>
            <a:off x="381000" y="6005779"/>
            <a:ext cx="2123837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私有缓存由软件维护</a:t>
            </a:r>
          </a:p>
        </p:txBody>
      </p:sp>
      <p:sp>
        <p:nvSpPr>
          <p:cNvPr id="35" name="text-035: LLC 可供数；设备访问经过 LLC"/>
          <p:cNvSpPr txBox="1"/>
          <p:nvPr/>
        </p:nvSpPr>
        <p:spPr>
          <a:xfrm>
            <a:off x="381000" y="6249619"/>
            <a:ext cx="2600492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可供数；设备访问经过 LLC</a:t>
            </a:r>
          </a:p>
        </p:txBody>
      </p:sp>
      <p:sp>
        <p:nvSpPr>
          <p:cNvPr id="36" name="Dpanel"/>
          <p:cNvSpPr/>
          <p:nvPr/>
        </p:nvSpPr>
        <p:spPr>
          <a:xfrm>
            <a:off x="6515100" y="990600"/>
            <a:ext cx="6096000" cy="5638800"/>
          </a:xfrm>
          <a:prstGeom prst="rect">
            <a:avLst/>
          </a:prstGeom>
          <a:solidFill>
            <a:srgbClr val="FAFBFC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D  I/O 一致性 · 分配缓存行"/>
          <p:cNvSpPr txBox="1"/>
          <p:nvPr/>
        </p:nvSpPr>
        <p:spPr>
          <a:xfrm>
            <a:off x="6705600" y="1025652"/>
            <a:ext cx="2934283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  I/O 一致性 · 分配缓存行</a:t>
            </a:r>
          </a:p>
        </p:txBody>
      </p:sp>
      <p:sp>
        <p:nvSpPr>
          <p:cNvPr id="38" name="text-038: CPU 缓存由硬件协调；允许设备分配 LLC"/>
          <p:cNvSpPr txBox="1"/>
          <p:nvPr/>
        </p:nvSpPr>
        <p:spPr>
          <a:xfrm>
            <a:off x="6705600" y="1380439"/>
            <a:ext cx="3336453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CPU 缓存由硬件协调；允许设备分配 LLC</a:t>
            </a:r>
          </a:p>
        </p:txBody>
      </p:sp>
      <p:sp>
        <p:nvSpPr>
          <p:cNvPr id="39" name="Dcpu"/>
          <p:cNvSpPr/>
          <p:nvPr/>
        </p:nvSpPr>
        <p:spPr>
          <a:xfrm>
            <a:off x="6972300" y="1828800"/>
            <a:ext cx="1524000" cy="4191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0: CPU"/>
          <p:cNvSpPr txBox="1"/>
          <p:nvPr/>
        </p:nvSpPr>
        <p:spPr>
          <a:xfrm>
            <a:off x="7444377" y="1892351"/>
            <a:ext cx="579846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</p:txBody>
      </p:sp>
      <p:sp>
        <p:nvSpPr>
          <p:cNvPr id="41" name="Dprivate"/>
          <p:cNvSpPr/>
          <p:nvPr/>
        </p:nvSpPr>
        <p:spPr>
          <a:xfrm>
            <a:off x="6972300" y="2667000"/>
            <a:ext cx="1524000" cy="6477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L1 / L2"/>
          <p:cNvSpPr txBox="1"/>
          <p:nvPr/>
        </p:nvSpPr>
        <p:spPr>
          <a:xfrm>
            <a:off x="7290066" y="2715311"/>
            <a:ext cx="888468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/ L2</a:t>
            </a:r>
          </a:p>
        </p:txBody>
      </p:sp>
      <p:sp>
        <p:nvSpPr>
          <p:cNvPr id="43" name="text-043: 写缓冲"/>
          <p:cNvSpPr txBox="1"/>
          <p:nvPr/>
        </p:nvSpPr>
        <p:spPr>
          <a:xfrm>
            <a:off x="7368540" y="3006700"/>
            <a:ext cx="7315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44" name="Dllc"/>
          <p:cNvSpPr/>
          <p:nvPr/>
        </p:nvSpPr>
        <p:spPr>
          <a:xfrm>
            <a:off x="6972300" y="4267200"/>
            <a:ext cx="1524000" cy="6477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LLC"/>
          <p:cNvSpPr txBox="1"/>
          <p:nvPr/>
        </p:nvSpPr>
        <p:spPr>
          <a:xfrm>
            <a:off x="7464868" y="4315511"/>
            <a:ext cx="538865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46" name="text-046: 系统侧缓存"/>
          <p:cNvSpPr txBox="1"/>
          <p:nvPr/>
        </p:nvSpPr>
        <p:spPr>
          <a:xfrm>
            <a:off x="71856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系统侧缓存</a:t>
            </a:r>
          </a:p>
        </p:txBody>
      </p:sp>
      <p:sp>
        <p:nvSpPr>
          <p:cNvPr id="47" name="Dddr"/>
          <p:cNvSpPr/>
          <p:nvPr/>
        </p:nvSpPr>
        <p:spPr>
          <a:xfrm>
            <a:off x="6972300" y="5410200"/>
            <a:ext cx="5181600" cy="4572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内存接入 / DDR"/>
          <p:cNvSpPr txBox="1"/>
          <p:nvPr/>
        </p:nvSpPr>
        <p:spPr>
          <a:xfrm>
            <a:off x="8734300" y="5492801"/>
            <a:ext cx="165760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内存接入 / DDR</a:t>
            </a:r>
          </a:p>
        </p:txBody>
      </p:sp>
      <p:sp>
        <p:nvSpPr>
          <p:cNvPr id="49" name="Ddevice"/>
          <p:cNvSpPr/>
          <p:nvPr/>
        </p:nvSpPr>
        <p:spPr>
          <a:xfrm>
            <a:off x="10477500" y="1828800"/>
            <a:ext cx="1676400" cy="723900"/>
          </a:xfrm>
          <a:prstGeom prst="rect">
            <a:avLst/>
          </a:prstGeom>
          <a:solidFill>
            <a:srgbClr val="D9EEE8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加速器"/>
          <p:cNvSpPr txBox="1"/>
          <p:nvPr/>
        </p:nvSpPr>
        <p:spPr>
          <a:xfrm>
            <a:off x="10904220" y="1915211"/>
            <a:ext cx="82296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加速器</a:t>
            </a:r>
          </a:p>
        </p:txBody>
      </p:sp>
      <p:sp>
        <p:nvSpPr>
          <p:cNvPr id="51" name="text-051: 独立本地 SRAM"/>
          <p:cNvSpPr txBox="1"/>
          <p:nvPr/>
        </p:nvSpPr>
        <p:spPr>
          <a:xfrm>
            <a:off x="10591770" y="2206600"/>
            <a:ext cx="14478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独立本地 SRAM</a:t>
            </a:r>
          </a:p>
        </p:txBody>
      </p:sp>
      <p:sp>
        <p:nvSpPr>
          <p:cNvPr id="52" name="Ddma"/>
          <p:cNvSpPr/>
          <p:nvPr/>
        </p:nvSpPr>
        <p:spPr>
          <a:xfrm>
            <a:off x="10477500" y="2857500"/>
            <a:ext cx="1676400" cy="4191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DMA"/>
          <p:cNvSpPr txBox="1"/>
          <p:nvPr/>
        </p:nvSpPr>
        <p:spPr>
          <a:xfrm>
            <a:off x="11003173" y="2921051"/>
            <a:ext cx="625054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54" name="Dcpu-private"/>
          <p:cNvSpPr/>
          <p:nvPr/>
        </p:nvSpPr>
        <p:spPr>
          <a:xfrm>
            <a:off x="7734300" y="2247900"/>
            <a:ext cx="1" cy="419100"/>
          </a:xfrm>
          <a:custGeom>
            <a:avLst/>
            <a:gdLst/>
            <a:ahLst/>
            <a:cxnLst/>
            <a:rect l="0" t="0" r="r" b="b"/>
            <a:pathLst>
              <a:path w="1" h="419100" fill="none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Dprivate-llc"/>
          <p:cNvSpPr/>
          <p:nvPr/>
        </p:nvSpPr>
        <p:spPr>
          <a:xfrm>
            <a:off x="7734300" y="3314700"/>
            <a:ext cx="1" cy="952500"/>
          </a:xfrm>
          <a:custGeom>
            <a:avLst/>
            <a:gdLst/>
            <a:ahLst/>
            <a:cxnLst/>
            <a:rect l="0" t="0" r="r" b="b"/>
            <a:pathLst>
              <a:path w="1" h="952500" fill="none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Dllc-ddr"/>
          <p:cNvSpPr/>
          <p:nvPr/>
        </p:nvSpPr>
        <p:spPr>
          <a:xfrm>
            <a:off x="77343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Dlocal-dma"/>
          <p:cNvSpPr/>
          <p:nvPr/>
        </p:nvSpPr>
        <p:spPr>
          <a:xfrm>
            <a:off x="11315700" y="2552700"/>
            <a:ext cx="1" cy="304800"/>
          </a:xfrm>
          <a:custGeom>
            <a:avLst/>
            <a:gdLst/>
            <a:ahLst/>
            <a:cxnLst/>
            <a:rect l="0" t="0" r="r" b="b"/>
            <a:pathLst>
              <a:path w="1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Ddma-fabric"/>
          <p:cNvSpPr/>
          <p:nvPr/>
        </p:nvSpPr>
        <p:spPr>
          <a:xfrm>
            <a:off x="11315700" y="3276600"/>
            <a:ext cx="1" cy="990600"/>
          </a:xfrm>
          <a:custGeom>
            <a:avLst/>
            <a:gdLst/>
            <a:ahLst/>
            <a:cxnLst/>
            <a:rect l="0" t="0" r="r" b="b"/>
            <a:pathLst>
              <a:path w="1" h="990600" fill="none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Dfabric"/>
          <p:cNvSpPr/>
          <p:nvPr/>
        </p:nvSpPr>
        <p:spPr>
          <a:xfrm>
            <a:off x="9867900" y="4267200"/>
            <a:ext cx="2286000" cy="647700"/>
          </a:xfrm>
          <a:prstGeom prst="rect">
            <a:avLst/>
          </a:prstGeom>
          <a:solidFill>
            <a:srgbClr val="F5E1C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一致性协调点"/>
          <p:cNvSpPr txBox="1"/>
          <p:nvPr/>
        </p:nvSpPr>
        <p:spPr>
          <a:xfrm>
            <a:off x="10290810" y="4315511"/>
            <a:ext cx="144018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一致性协调点</a:t>
            </a:r>
          </a:p>
        </p:txBody>
      </p:sp>
      <p:sp>
        <p:nvSpPr>
          <p:cNvPr id="61" name="text-061: 含缓存分配"/>
          <p:cNvSpPr txBox="1"/>
          <p:nvPr/>
        </p:nvSpPr>
        <p:spPr>
          <a:xfrm>
            <a:off x="104622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含缓存分配</a:t>
            </a:r>
          </a:p>
        </p:txBody>
      </p:sp>
      <p:sp>
        <p:nvSpPr>
          <p:cNvPr id="62" name="Ddevice-llc"/>
          <p:cNvSpPr/>
          <p:nvPr/>
        </p:nvSpPr>
        <p:spPr>
          <a:xfrm>
            <a:off x="8496300" y="4472940"/>
            <a:ext cx="1371600" cy="1"/>
          </a:xfrm>
          <a:custGeom>
            <a:avLst/>
            <a:gdLst/>
            <a:ahLst/>
            <a:cxnLst/>
            <a:rect l="0" t="0" r="r" b="b"/>
            <a:pathLst>
              <a:path w="1371600" h="1" fill="none">
                <a:moveTo>
                  <a:pt x="1371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Dprobe-private"/>
          <p:cNvSpPr/>
          <p:nvPr/>
        </p:nvSpPr>
        <p:spPr>
          <a:xfrm>
            <a:off x="8496300" y="3048000"/>
            <a:ext cx="1371600" cy="1333500"/>
          </a:xfrm>
          <a:custGeom>
            <a:avLst/>
            <a:gdLst/>
            <a:ahLst/>
            <a:cxnLst/>
            <a:rect l="0" t="0" r="r" b="b"/>
            <a:pathLst>
              <a:path w="1371600" h="1333500" fill="none">
                <a:moveTo>
                  <a:pt x="1371600" y="1333500"/>
                </a:moveTo>
                <a:lnTo>
                  <a:pt x="495300" y="1333500"/>
                </a:lnTo>
                <a:lnTo>
                  <a:pt x="495300" y="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Dprobe-llc"/>
          <p:cNvSpPr/>
          <p:nvPr/>
        </p:nvSpPr>
        <p:spPr>
          <a:xfrm>
            <a:off x="8496300" y="4739640"/>
            <a:ext cx="1371600" cy="1"/>
          </a:xfrm>
          <a:custGeom>
            <a:avLst/>
            <a:gdLst/>
            <a:ahLst/>
            <a:cxnLst/>
            <a:rect l="0" t="0" r="r" b="b"/>
            <a:pathLst>
              <a:path w="1371600" h="1" fill="none">
                <a:moveTo>
                  <a:pt x="1371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硬件协调 CPU 私有缓存和 LLC"/>
          <p:cNvSpPr txBox="1"/>
          <p:nvPr/>
        </p:nvSpPr>
        <p:spPr>
          <a:xfrm>
            <a:off x="6705600" y="6005779"/>
            <a:ext cx="2512695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硬件协调 CPU 私有缓存和 LLC</a:t>
            </a:r>
          </a:p>
        </p:txBody>
      </p:sp>
      <p:sp>
        <p:nvSpPr>
          <p:cNvPr id="66" name="text-066: 设备可分配 LLC 行，利用片上复用"/>
          <p:cNvSpPr txBox="1"/>
          <p:nvPr/>
        </p:nvSpPr>
        <p:spPr>
          <a:xfrm>
            <a:off x="6705600" y="6249619"/>
            <a:ext cx="2842498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设备可分配 LLC 行，利用片上复用</a:t>
            </a:r>
          </a:p>
        </p:txBody>
      </p:sp>
      <p:sp>
        <p:nvSpPr>
          <p:cNvPr id="67" name="text-067: 蓝灰：CPU 常规访存    绿色：设备访问 / 数据    紫色：维护 / 探"/>
          <p:cNvSpPr txBox="1"/>
          <p:nvPr/>
        </p:nvSpPr>
        <p:spPr>
          <a:xfrm>
            <a:off x="228600" y="6790639"/>
            <a:ext cx="6967442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蓝灰：CPU 常规访存    绿色：设备访问 / 数据    紫色：维护 / 探测与确认（双向合并）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③ 项目建议在哪里：I/O 一致性的一种分配策略"/>
          <p:cNvSpPr txBox="1"/>
          <p:nvPr/>
        </p:nvSpPr>
        <p:spPr>
          <a:xfrm>
            <a:off x="381000" y="115214"/>
            <a:ext cx="6045506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③ 项目建议在哪里：I/O 一致性的一种分配策略</a:t>
            </a:r>
          </a:p>
        </p:txBody>
      </p:sp>
      <p:sp>
        <p:nvSpPr>
          <p:cNvPr id="3" name="text-003: 同一布局：左侧为 CPU 缓存层次，右侧为设备；沿绿线比较设备接入位置。"/>
          <p:cNvSpPr txBox="1"/>
          <p:nvPr/>
        </p:nvSpPr>
        <p:spPr>
          <a:xfrm>
            <a:off x="381000" y="534010"/>
            <a:ext cx="629435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同一布局：左侧为 CPU 缓存层次，右侧为设备；沿绿线比较设备接入位置。</a:t>
            </a:r>
          </a:p>
        </p:txBody>
      </p:sp>
      <p:sp>
        <p:nvSpPr>
          <p:cNvPr id="4" name="Epanel"/>
          <p:cNvSpPr/>
          <p:nvPr/>
        </p:nvSpPr>
        <p:spPr>
          <a:xfrm>
            <a:off x="190500" y="990600"/>
            <a:ext cx="6096000" cy="5638800"/>
          </a:xfrm>
          <a:prstGeom prst="rect">
            <a:avLst/>
          </a:prstGeom>
          <a:solidFill>
            <a:srgbClr val="F5FAF7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E  I/O 一致性 · 不分配 LLC"/>
          <p:cNvSpPr txBox="1"/>
          <p:nvPr/>
        </p:nvSpPr>
        <p:spPr>
          <a:xfrm>
            <a:off x="381000" y="1025652"/>
            <a:ext cx="2892993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  I/O 一致性 · 不分配 LLC</a:t>
            </a:r>
          </a:p>
        </p:txBody>
      </p:sp>
      <p:sp>
        <p:nvSpPr>
          <p:cNvPr id="6" name="text-006: 项目优先评估；与 D 同类，改变分配策略"/>
          <p:cNvSpPr txBox="1"/>
          <p:nvPr/>
        </p:nvSpPr>
        <p:spPr>
          <a:xfrm>
            <a:off x="381000" y="1380439"/>
            <a:ext cx="3375291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项目优先评估；与 D 同类，改变分配策略</a:t>
            </a:r>
          </a:p>
        </p:txBody>
      </p:sp>
      <p:sp>
        <p:nvSpPr>
          <p:cNvPr id="7" name="Ecpu"/>
          <p:cNvSpPr/>
          <p:nvPr/>
        </p:nvSpPr>
        <p:spPr>
          <a:xfrm>
            <a:off x="647700" y="1828800"/>
            <a:ext cx="1524000" cy="4191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CPU"/>
          <p:cNvSpPr txBox="1"/>
          <p:nvPr/>
        </p:nvSpPr>
        <p:spPr>
          <a:xfrm>
            <a:off x="1119777" y="1892351"/>
            <a:ext cx="579846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</p:txBody>
      </p:sp>
      <p:sp>
        <p:nvSpPr>
          <p:cNvPr id="9" name="Eprivate"/>
          <p:cNvSpPr/>
          <p:nvPr/>
        </p:nvSpPr>
        <p:spPr>
          <a:xfrm>
            <a:off x="647700" y="2667000"/>
            <a:ext cx="1524000" cy="6477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L1 / L2"/>
          <p:cNvSpPr txBox="1"/>
          <p:nvPr/>
        </p:nvSpPr>
        <p:spPr>
          <a:xfrm>
            <a:off x="965466" y="2715311"/>
            <a:ext cx="888468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/ L2</a:t>
            </a:r>
          </a:p>
        </p:txBody>
      </p:sp>
      <p:sp>
        <p:nvSpPr>
          <p:cNvPr id="11" name="text-011: 写缓冲"/>
          <p:cNvSpPr txBox="1"/>
          <p:nvPr/>
        </p:nvSpPr>
        <p:spPr>
          <a:xfrm>
            <a:off x="1043940" y="3006700"/>
            <a:ext cx="7315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12" name="Ellc"/>
          <p:cNvSpPr/>
          <p:nvPr/>
        </p:nvSpPr>
        <p:spPr>
          <a:xfrm>
            <a:off x="647700" y="4267200"/>
            <a:ext cx="1524000" cy="6477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LLC"/>
          <p:cNvSpPr txBox="1"/>
          <p:nvPr/>
        </p:nvSpPr>
        <p:spPr>
          <a:xfrm>
            <a:off x="1140268" y="4315511"/>
            <a:ext cx="538865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14" name="text-014: 系统侧缓存"/>
          <p:cNvSpPr txBox="1"/>
          <p:nvPr/>
        </p:nvSpPr>
        <p:spPr>
          <a:xfrm>
            <a:off x="8610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系统侧缓存</a:t>
            </a:r>
          </a:p>
        </p:txBody>
      </p:sp>
      <p:sp>
        <p:nvSpPr>
          <p:cNvPr id="15" name="Eddr"/>
          <p:cNvSpPr/>
          <p:nvPr/>
        </p:nvSpPr>
        <p:spPr>
          <a:xfrm>
            <a:off x="647700" y="5410200"/>
            <a:ext cx="5181600" cy="4572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内存接入 / DDR"/>
          <p:cNvSpPr txBox="1"/>
          <p:nvPr/>
        </p:nvSpPr>
        <p:spPr>
          <a:xfrm>
            <a:off x="2409700" y="5492801"/>
            <a:ext cx="165760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内存接入 / DDR</a:t>
            </a:r>
          </a:p>
        </p:txBody>
      </p:sp>
      <p:sp>
        <p:nvSpPr>
          <p:cNvPr id="17" name="Edevice"/>
          <p:cNvSpPr/>
          <p:nvPr/>
        </p:nvSpPr>
        <p:spPr>
          <a:xfrm>
            <a:off x="4152900" y="1828800"/>
            <a:ext cx="1676400" cy="723900"/>
          </a:xfrm>
          <a:prstGeom prst="rect">
            <a:avLst/>
          </a:prstGeom>
          <a:solidFill>
            <a:srgbClr val="D9EEE8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加速器"/>
          <p:cNvSpPr txBox="1"/>
          <p:nvPr/>
        </p:nvSpPr>
        <p:spPr>
          <a:xfrm>
            <a:off x="4579620" y="1915211"/>
            <a:ext cx="82296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加速器</a:t>
            </a:r>
          </a:p>
        </p:txBody>
      </p:sp>
      <p:sp>
        <p:nvSpPr>
          <p:cNvPr id="19" name="text-019: 独立本地 SRAM"/>
          <p:cNvSpPr txBox="1"/>
          <p:nvPr/>
        </p:nvSpPr>
        <p:spPr>
          <a:xfrm>
            <a:off x="4267170" y="2206600"/>
            <a:ext cx="14478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独立本地 SRAM</a:t>
            </a:r>
          </a:p>
        </p:txBody>
      </p:sp>
      <p:sp>
        <p:nvSpPr>
          <p:cNvPr id="20" name="Edma"/>
          <p:cNvSpPr/>
          <p:nvPr/>
        </p:nvSpPr>
        <p:spPr>
          <a:xfrm>
            <a:off x="4152900" y="2857500"/>
            <a:ext cx="1676400" cy="4191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DMA"/>
          <p:cNvSpPr txBox="1"/>
          <p:nvPr/>
        </p:nvSpPr>
        <p:spPr>
          <a:xfrm>
            <a:off x="4678573" y="2921051"/>
            <a:ext cx="625054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22" name="Ecpu-private"/>
          <p:cNvSpPr/>
          <p:nvPr/>
        </p:nvSpPr>
        <p:spPr>
          <a:xfrm>
            <a:off x="1409700" y="2247900"/>
            <a:ext cx="1" cy="419100"/>
          </a:xfrm>
          <a:custGeom>
            <a:avLst/>
            <a:gdLst/>
            <a:ahLst/>
            <a:cxnLst/>
            <a:rect l="0" t="0" r="r" b="b"/>
            <a:pathLst>
              <a:path w="1" h="419100" fill="none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Eprivate-llc"/>
          <p:cNvSpPr/>
          <p:nvPr/>
        </p:nvSpPr>
        <p:spPr>
          <a:xfrm>
            <a:off x="1409700" y="3314700"/>
            <a:ext cx="1" cy="952500"/>
          </a:xfrm>
          <a:custGeom>
            <a:avLst/>
            <a:gdLst/>
            <a:ahLst/>
            <a:cxnLst/>
            <a:rect l="0" t="0" r="r" b="b"/>
            <a:pathLst>
              <a:path w="1" h="952500" fill="none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Ellc-ddr"/>
          <p:cNvSpPr/>
          <p:nvPr/>
        </p:nvSpPr>
        <p:spPr>
          <a:xfrm>
            <a:off x="14097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Elocal-dma"/>
          <p:cNvSpPr/>
          <p:nvPr/>
        </p:nvSpPr>
        <p:spPr>
          <a:xfrm>
            <a:off x="4991100" y="2552700"/>
            <a:ext cx="1" cy="304800"/>
          </a:xfrm>
          <a:custGeom>
            <a:avLst/>
            <a:gdLst/>
            <a:ahLst/>
            <a:cxnLst/>
            <a:rect l="0" t="0" r="r" b="b"/>
            <a:pathLst>
              <a:path w="1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Edma-fabric"/>
          <p:cNvSpPr/>
          <p:nvPr/>
        </p:nvSpPr>
        <p:spPr>
          <a:xfrm>
            <a:off x="4991100" y="3276600"/>
            <a:ext cx="1" cy="990600"/>
          </a:xfrm>
          <a:custGeom>
            <a:avLst/>
            <a:gdLst/>
            <a:ahLst/>
            <a:cxnLst/>
            <a:rect l="0" t="0" r="r" b="b"/>
            <a:pathLst>
              <a:path w="1" h="990600" fill="none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Efabric"/>
          <p:cNvSpPr/>
          <p:nvPr/>
        </p:nvSpPr>
        <p:spPr>
          <a:xfrm>
            <a:off x="3543300" y="4267200"/>
            <a:ext cx="2286000" cy="647700"/>
          </a:xfrm>
          <a:prstGeom prst="rect">
            <a:avLst/>
          </a:prstGeom>
          <a:solidFill>
            <a:srgbClr val="F5E1C9"/>
          </a:solidFill>
          <a:ln w="12954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一致性协调点"/>
          <p:cNvSpPr txBox="1"/>
          <p:nvPr/>
        </p:nvSpPr>
        <p:spPr>
          <a:xfrm>
            <a:off x="3966210" y="4315511"/>
            <a:ext cx="144018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一致性协调点</a:t>
            </a:r>
          </a:p>
        </p:txBody>
      </p:sp>
      <p:sp>
        <p:nvSpPr>
          <p:cNvPr id="29" name="text-029: 设备不分配 LLC"/>
          <p:cNvSpPr txBox="1"/>
          <p:nvPr/>
        </p:nvSpPr>
        <p:spPr>
          <a:xfrm>
            <a:off x="3962192" y="4606900"/>
            <a:ext cx="1448217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设备不分配 LLC</a:t>
            </a:r>
          </a:p>
        </p:txBody>
      </p:sp>
      <p:sp>
        <p:nvSpPr>
          <p:cNvPr id="30" name="Edevice-ddr"/>
          <p:cNvSpPr/>
          <p:nvPr/>
        </p:nvSpPr>
        <p:spPr>
          <a:xfrm>
            <a:off x="46863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Eprobe-private"/>
          <p:cNvSpPr/>
          <p:nvPr/>
        </p:nvSpPr>
        <p:spPr>
          <a:xfrm>
            <a:off x="2171700" y="3048000"/>
            <a:ext cx="1371600" cy="1333500"/>
          </a:xfrm>
          <a:custGeom>
            <a:avLst/>
            <a:gdLst/>
            <a:ahLst/>
            <a:cxnLst/>
            <a:rect l="0" t="0" r="r" b="b"/>
            <a:pathLst>
              <a:path w="1371600" h="1333500" fill="none">
                <a:moveTo>
                  <a:pt x="1371600" y="1333500"/>
                </a:moveTo>
                <a:lnTo>
                  <a:pt x="495300" y="1333500"/>
                </a:lnTo>
                <a:lnTo>
                  <a:pt x="495300" y="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Eprobe-llc"/>
          <p:cNvSpPr/>
          <p:nvPr/>
        </p:nvSpPr>
        <p:spPr>
          <a:xfrm>
            <a:off x="2171700" y="4739640"/>
            <a:ext cx="1371600" cy="1"/>
          </a:xfrm>
          <a:custGeom>
            <a:avLst/>
            <a:gdLst/>
            <a:ahLst/>
            <a:cxnLst/>
            <a:rect l="0" t="0" r="r" b="b"/>
            <a:pathLst>
              <a:path w="1371600" h="1" fill="none">
                <a:moveTo>
                  <a:pt x="1371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项目优先评估：逐行排序、每笔事务协调"/>
          <p:cNvSpPr txBox="1"/>
          <p:nvPr/>
        </p:nvSpPr>
        <p:spPr>
          <a:xfrm>
            <a:off x="381000" y="6005779"/>
            <a:ext cx="3329940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项目优先评估：逐行排序、每笔事务协调</a:t>
            </a:r>
          </a:p>
        </p:txBody>
      </p:sp>
      <p:sp>
        <p:nvSpPr>
          <p:cNvPr id="34" name="text-034: 控制访问缓存；供数路径见下一张详图"/>
          <p:cNvSpPr txBox="1"/>
          <p:nvPr/>
        </p:nvSpPr>
        <p:spPr>
          <a:xfrm>
            <a:off x="381000" y="6249619"/>
            <a:ext cx="3154680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控制访问缓存；供数路径见下一张详图</a:t>
            </a:r>
          </a:p>
        </p:txBody>
      </p:sp>
      <p:sp>
        <p:nvSpPr>
          <p:cNvPr id="35" name="Fpanel"/>
          <p:cNvSpPr/>
          <p:nvPr/>
        </p:nvSpPr>
        <p:spPr>
          <a:xfrm>
            <a:off x="6515100" y="990600"/>
            <a:ext cx="6096000" cy="5638800"/>
          </a:xfrm>
          <a:prstGeom prst="rect">
            <a:avLst/>
          </a:prstGeom>
          <a:solidFill>
            <a:srgbClr val="FAFBFC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F  完整缓存代理一致性"/>
          <p:cNvSpPr txBox="1"/>
          <p:nvPr/>
        </p:nvSpPr>
        <p:spPr>
          <a:xfrm>
            <a:off x="6705600" y="1025652"/>
            <a:ext cx="2532674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  完整缓存代理一致性</a:t>
            </a:r>
          </a:p>
        </p:txBody>
      </p:sp>
      <p:sp>
        <p:nvSpPr>
          <p:cNvPr id="37" name="text-037: 设备新增同地址私有缓存，参与探测和权限转移"/>
          <p:cNvSpPr txBox="1"/>
          <p:nvPr/>
        </p:nvSpPr>
        <p:spPr>
          <a:xfrm>
            <a:off x="6705600" y="1380439"/>
            <a:ext cx="3855720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设备新增同地址私有缓存，参与探测和权限转移</a:t>
            </a:r>
          </a:p>
        </p:txBody>
      </p:sp>
      <p:sp>
        <p:nvSpPr>
          <p:cNvPr id="38" name="Fcpu"/>
          <p:cNvSpPr/>
          <p:nvPr/>
        </p:nvSpPr>
        <p:spPr>
          <a:xfrm>
            <a:off x="6972300" y="1828800"/>
            <a:ext cx="1524000" cy="4191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CPU"/>
          <p:cNvSpPr txBox="1"/>
          <p:nvPr/>
        </p:nvSpPr>
        <p:spPr>
          <a:xfrm>
            <a:off x="7444377" y="1892351"/>
            <a:ext cx="579846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</p:txBody>
      </p:sp>
      <p:sp>
        <p:nvSpPr>
          <p:cNvPr id="40" name="Fprivate"/>
          <p:cNvSpPr/>
          <p:nvPr/>
        </p:nvSpPr>
        <p:spPr>
          <a:xfrm>
            <a:off x="6972300" y="2667000"/>
            <a:ext cx="1524000" cy="6477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L1 / L2"/>
          <p:cNvSpPr txBox="1"/>
          <p:nvPr/>
        </p:nvSpPr>
        <p:spPr>
          <a:xfrm>
            <a:off x="7290066" y="2715311"/>
            <a:ext cx="888468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/ L2</a:t>
            </a:r>
          </a:p>
        </p:txBody>
      </p:sp>
      <p:sp>
        <p:nvSpPr>
          <p:cNvPr id="42" name="text-042: 写缓冲"/>
          <p:cNvSpPr txBox="1"/>
          <p:nvPr/>
        </p:nvSpPr>
        <p:spPr>
          <a:xfrm>
            <a:off x="7368540" y="3006700"/>
            <a:ext cx="7315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43" name="Fllc"/>
          <p:cNvSpPr/>
          <p:nvPr/>
        </p:nvSpPr>
        <p:spPr>
          <a:xfrm>
            <a:off x="6972300" y="4267200"/>
            <a:ext cx="1524000" cy="6477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LLC"/>
          <p:cNvSpPr txBox="1"/>
          <p:nvPr/>
        </p:nvSpPr>
        <p:spPr>
          <a:xfrm>
            <a:off x="7464868" y="4315511"/>
            <a:ext cx="538865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45" name="text-045: 系统侧缓存"/>
          <p:cNvSpPr txBox="1"/>
          <p:nvPr/>
        </p:nvSpPr>
        <p:spPr>
          <a:xfrm>
            <a:off x="71856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系统侧缓存</a:t>
            </a:r>
          </a:p>
        </p:txBody>
      </p:sp>
      <p:sp>
        <p:nvSpPr>
          <p:cNvPr id="46" name="Fddr"/>
          <p:cNvSpPr/>
          <p:nvPr/>
        </p:nvSpPr>
        <p:spPr>
          <a:xfrm>
            <a:off x="6972300" y="5410200"/>
            <a:ext cx="5181600" cy="4572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内存接入 / DDR"/>
          <p:cNvSpPr txBox="1"/>
          <p:nvPr/>
        </p:nvSpPr>
        <p:spPr>
          <a:xfrm>
            <a:off x="8734300" y="5492801"/>
            <a:ext cx="165760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内存接入 / DDR</a:t>
            </a:r>
          </a:p>
        </p:txBody>
      </p:sp>
      <p:sp>
        <p:nvSpPr>
          <p:cNvPr id="48" name="Fdevice"/>
          <p:cNvSpPr/>
          <p:nvPr/>
        </p:nvSpPr>
        <p:spPr>
          <a:xfrm>
            <a:off x="10477500" y="1828800"/>
            <a:ext cx="1676400" cy="723900"/>
          </a:xfrm>
          <a:prstGeom prst="rect">
            <a:avLst/>
          </a:prstGeom>
          <a:solidFill>
            <a:srgbClr val="D9EEE8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加速器"/>
          <p:cNvSpPr txBox="1"/>
          <p:nvPr/>
        </p:nvSpPr>
        <p:spPr>
          <a:xfrm>
            <a:off x="10904220" y="1915211"/>
            <a:ext cx="82296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加速器</a:t>
            </a:r>
          </a:p>
        </p:txBody>
      </p:sp>
      <p:sp>
        <p:nvSpPr>
          <p:cNvPr id="50" name="text-050: 独立本地 SRAM"/>
          <p:cNvSpPr txBox="1"/>
          <p:nvPr/>
        </p:nvSpPr>
        <p:spPr>
          <a:xfrm>
            <a:off x="10591770" y="2206600"/>
            <a:ext cx="14478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独立本地 SRAM</a:t>
            </a:r>
          </a:p>
        </p:txBody>
      </p:sp>
      <p:sp>
        <p:nvSpPr>
          <p:cNvPr id="51" name="Fdma"/>
          <p:cNvSpPr/>
          <p:nvPr/>
        </p:nvSpPr>
        <p:spPr>
          <a:xfrm>
            <a:off x="10477500" y="2857500"/>
            <a:ext cx="1676400" cy="4191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DMA"/>
          <p:cNvSpPr txBox="1"/>
          <p:nvPr/>
        </p:nvSpPr>
        <p:spPr>
          <a:xfrm>
            <a:off x="11003173" y="2921051"/>
            <a:ext cx="625054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53" name="Fcpu-private"/>
          <p:cNvSpPr/>
          <p:nvPr/>
        </p:nvSpPr>
        <p:spPr>
          <a:xfrm>
            <a:off x="7734300" y="2247900"/>
            <a:ext cx="1" cy="419100"/>
          </a:xfrm>
          <a:custGeom>
            <a:avLst/>
            <a:gdLst/>
            <a:ahLst/>
            <a:cxnLst/>
            <a:rect l="0" t="0" r="r" b="b"/>
            <a:pathLst>
              <a:path w="1" h="419100" fill="none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Fprivate-llc"/>
          <p:cNvSpPr/>
          <p:nvPr/>
        </p:nvSpPr>
        <p:spPr>
          <a:xfrm>
            <a:off x="7734300" y="3314700"/>
            <a:ext cx="1" cy="952500"/>
          </a:xfrm>
          <a:custGeom>
            <a:avLst/>
            <a:gdLst/>
            <a:ahLst/>
            <a:cxnLst/>
            <a:rect l="0" t="0" r="r" b="b"/>
            <a:pathLst>
              <a:path w="1" h="952500" fill="none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Fllc-ddr"/>
          <p:cNvSpPr/>
          <p:nvPr/>
        </p:nvSpPr>
        <p:spPr>
          <a:xfrm>
            <a:off x="77343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Flocal-dma"/>
          <p:cNvSpPr/>
          <p:nvPr/>
        </p:nvSpPr>
        <p:spPr>
          <a:xfrm>
            <a:off x="11315700" y="2552700"/>
            <a:ext cx="1" cy="304800"/>
          </a:xfrm>
          <a:custGeom>
            <a:avLst/>
            <a:gdLst/>
            <a:ahLst/>
            <a:cxnLst/>
            <a:rect l="0" t="0" r="r" b="b"/>
            <a:pathLst>
              <a:path w="1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Fdevcache"/>
          <p:cNvSpPr/>
          <p:nvPr/>
        </p:nvSpPr>
        <p:spPr>
          <a:xfrm>
            <a:off x="10477500" y="3581400"/>
            <a:ext cx="1676400" cy="4191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设备私有缓存"/>
          <p:cNvSpPr txBox="1"/>
          <p:nvPr/>
        </p:nvSpPr>
        <p:spPr>
          <a:xfrm>
            <a:off x="10595610" y="3644951"/>
            <a:ext cx="144018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设备私有缓存</a:t>
            </a:r>
          </a:p>
        </p:txBody>
      </p:sp>
      <p:sp>
        <p:nvSpPr>
          <p:cNvPr id="59" name="Fdma-cache"/>
          <p:cNvSpPr/>
          <p:nvPr/>
        </p:nvSpPr>
        <p:spPr>
          <a:xfrm>
            <a:off x="11315700" y="3276600"/>
            <a:ext cx="1" cy="304800"/>
          </a:xfrm>
          <a:custGeom>
            <a:avLst/>
            <a:gdLst/>
            <a:ahLst/>
            <a:cxnLst/>
            <a:rect l="0" t="0" r="r" b="b"/>
            <a:pathLst>
              <a:path w="1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Fcache-fabric"/>
          <p:cNvSpPr/>
          <p:nvPr/>
        </p:nvSpPr>
        <p:spPr>
          <a:xfrm>
            <a:off x="11315700" y="4000500"/>
            <a:ext cx="1" cy="266700"/>
          </a:xfrm>
          <a:custGeom>
            <a:avLst/>
            <a:gdLst/>
            <a:ahLst/>
            <a:cxnLst/>
            <a:rect l="0" t="0" r="r" b="b"/>
            <a:pathLst>
              <a:path w="1" h="266700" fill="none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Ffabric"/>
          <p:cNvSpPr/>
          <p:nvPr/>
        </p:nvSpPr>
        <p:spPr>
          <a:xfrm>
            <a:off x="9867900" y="4267200"/>
            <a:ext cx="2286000" cy="647700"/>
          </a:xfrm>
          <a:prstGeom prst="rect">
            <a:avLst/>
          </a:prstGeom>
          <a:solidFill>
            <a:srgbClr val="F5E1C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一致性互连"/>
          <p:cNvSpPr txBox="1"/>
          <p:nvPr/>
        </p:nvSpPr>
        <p:spPr>
          <a:xfrm>
            <a:off x="10393680" y="4315511"/>
            <a:ext cx="123444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一致性互连</a:t>
            </a:r>
          </a:p>
        </p:txBody>
      </p:sp>
      <p:sp>
        <p:nvSpPr>
          <p:cNvPr id="63" name="text-063: 多缓存代理"/>
          <p:cNvSpPr txBox="1"/>
          <p:nvPr/>
        </p:nvSpPr>
        <p:spPr>
          <a:xfrm>
            <a:off x="104622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多缓存代理</a:t>
            </a:r>
          </a:p>
        </p:txBody>
      </p:sp>
      <p:sp>
        <p:nvSpPr>
          <p:cNvPr id="64" name="Fdevice-llc"/>
          <p:cNvSpPr/>
          <p:nvPr/>
        </p:nvSpPr>
        <p:spPr>
          <a:xfrm>
            <a:off x="8496300" y="4472940"/>
            <a:ext cx="1371600" cy="1"/>
          </a:xfrm>
          <a:custGeom>
            <a:avLst/>
            <a:gdLst/>
            <a:ahLst/>
            <a:cxnLst/>
            <a:rect l="0" t="0" r="r" b="b"/>
            <a:pathLst>
              <a:path w="1371600" h="1" fill="none">
                <a:moveTo>
                  <a:pt x="1371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Fprobe-private"/>
          <p:cNvSpPr/>
          <p:nvPr/>
        </p:nvSpPr>
        <p:spPr>
          <a:xfrm>
            <a:off x="8496300" y="3048000"/>
            <a:ext cx="1371600" cy="1333500"/>
          </a:xfrm>
          <a:custGeom>
            <a:avLst/>
            <a:gdLst/>
            <a:ahLst/>
            <a:cxnLst/>
            <a:rect l="0" t="0" r="r" b="b"/>
            <a:pathLst>
              <a:path w="1371600" h="1333500" fill="none">
                <a:moveTo>
                  <a:pt x="1371600" y="1333500"/>
                </a:moveTo>
                <a:lnTo>
                  <a:pt x="495300" y="1333500"/>
                </a:lnTo>
                <a:lnTo>
                  <a:pt x="495300" y="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Fprobe-llc"/>
          <p:cNvSpPr/>
          <p:nvPr/>
        </p:nvSpPr>
        <p:spPr>
          <a:xfrm>
            <a:off x="8496300" y="4739640"/>
            <a:ext cx="1371600" cy="1"/>
          </a:xfrm>
          <a:custGeom>
            <a:avLst/>
            <a:gdLst/>
            <a:ahLst/>
            <a:cxnLst/>
            <a:rect l="0" t="0" r="r" b="b"/>
            <a:pathLst>
              <a:path w="1371600" h="1" fill="none">
                <a:moveTo>
                  <a:pt x="1371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Fprobe-devcache"/>
          <p:cNvSpPr/>
          <p:nvPr/>
        </p:nvSpPr>
        <p:spPr>
          <a:xfrm>
            <a:off x="12153900" y="3794760"/>
            <a:ext cx="266700" cy="929640"/>
          </a:xfrm>
          <a:custGeom>
            <a:avLst/>
            <a:gdLst/>
            <a:ahLst/>
            <a:cxnLst/>
            <a:rect l="0" t="0" r="r" b="b"/>
            <a:pathLst>
              <a:path w="266700" h="929640" fill="none">
                <a:moveTo>
                  <a:pt x="0" y="929640"/>
                </a:moveTo>
                <a:lnTo>
                  <a:pt x="266700" y="929640"/>
                </a:lnTo>
                <a:lnTo>
                  <a:pt x="266700" y="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设备私有缓存也接收探测并返回数据"/>
          <p:cNvSpPr txBox="1"/>
          <p:nvPr/>
        </p:nvSpPr>
        <p:spPr>
          <a:xfrm>
            <a:off x="6705600" y="6005779"/>
            <a:ext cx="2979420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设备私有缓存也接收探测并返回数据</a:t>
            </a:r>
          </a:p>
        </p:txBody>
      </p:sp>
      <p:sp>
        <p:nvSpPr>
          <p:cNvPr id="69" name="text-069: 本地 SRAM 仍显式管理；分配策略另设"/>
          <p:cNvSpPr txBox="1"/>
          <p:nvPr/>
        </p:nvSpPr>
        <p:spPr>
          <a:xfrm>
            <a:off x="6705600" y="6249619"/>
            <a:ext cx="3192685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本地 SRAM 仍显式管理；分配策略另设</a:t>
            </a:r>
          </a:p>
        </p:txBody>
      </p:sp>
      <p:sp>
        <p:nvSpPr>
          <p:cNvPr id="70" name="text-070: 蓝灰：CPU 常规访存    绿色：设备访问 / 数据    紫色：维护 / 探"/>
          <p:cNvSpPr txBox="1"/>
          <p:nvPr/>
        </p:nvSpPr>
        <p:spPr>
          <a:xfrm>
            <a:off x="228600" y="6790639"/>
            <a:ext cx="6967442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蓝灰：CPU 常规访存    绿色：设备访问 / 数据    紫色：维护 / 探测与确认（双向合并）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E：同属 I/O 一致性的两种供数实现"/>
          <p:cNvSpPr txBox="1"/>
          <p:nvPr/>
        </p:nvSpPr>
        <p:spPr>
          <a:xfrm>
            <a:off x="266700" y="80650"/>
            <a:ext cx="3187165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E：同属 I/O 一致性的两种供数实现</a:t>
            </a:r>
          </a:p>
        </p:txBody>
      </p:sp>
      <p:sp>
        <p:nvSpPr>
          <p:cNvPr id="3" name="text-003: 比较场景：CPU 的最新数据在 LLC 脏行中，DMA 将该行搬入独立 GB。"/>
          <p:cNvSpPr txBox="1"/>
          <p:nvPr/>
        </p:nvSpPr>
        <p:spPr>
          <a:xfrm>
            <a:off x="266700" y="373807"/>
            <a:ext cx="412889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比较场景：CPU 的最新数据在 LLC 脏行中，DMA 将该行搬入独立 GB。</a:t>
            </a:r>
          </a:p>
        </p:txBody>
      </p:sp>
      <p:sp>
        <p:nvSpPr>
          <p:cNvPr id="4" name="cleanpanel"/>
          <p:cNvSpPr/>
          <p:nvPr/>
        </p:nvSpPr>
        <p:spPr>
          <a:xfrm>
            <a:off x="266700" y="773430"/>
            <a:ext cx="5974080" cy="4213860"/>
          </a:xfrm>
          <a:prstGeom prst="rect">
            <a:avLst/>
          </a:prstGeom>
          <a:solidFill>
            <a:srgbClr val="FAFBFC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E1  先清理到 DDR，再搬运"/>
          <p:cNvSpPr txBox="1"/>
          <p:nvPr/>
        </p:nvSpPr>
        <p:spPr>
          <a:xfrm>
            <a:off x="400050" y="833598"/>
            <a:ext cx="2356936" cy="2901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E1  先清理到 DDR，再搬运</a:t>
            </a:r>
          </a:p>
        </p:txBody>
      </p:sp>
      <p:sp>
        <p:nvSpPr>
          <p:cNvPr id="6" name="cleanprivate"/>
          <p:cNvSpPr/>
          <p:nvPr/>
        </p:nvSpPr>
        <p:spPr>
          <a:xfrm>
            <a:off x="480060" y="1573530"/>
            <a:ext cx="1280160" cy="4800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L1D / 写缓冲"/>
          <p:cNvSpPr txBox="1"/>
          <p:nvPr/>
        </p:nvSpPr>
        <p:spPr>
          <a:xfrm>
            <a:off x="624861" y="1711361"/>
            <a:ext cx="99055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写缓冲</a:t>
            </a:r>
          </a:p>
        </p:txBody>
      </p:sp>
      <p:sp>
        <p:nvSpPr>
          <p:cNvPr id="8" name="cleanllc"/>
          <p:cNvSpPr/>
          <p:nvPr/>
        </p:nvSpPr>
        <p:spPr>
          <a:xfrm>
            <a:off x="480060" y="2586990"/>
            <a:ext cx="1280160" cy="5334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LLC"/>
          <p:cNvSpPr txBox="1"/>
          <p:nvPr/>
        </p:nvSpPr>
        <p:spPr>
          <a:xfrm>
            <a:off x="931537" y="2660813"/>
            <a:ext cx="377205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10" name="text-010: 持有最新脏行"/>
          <p:cNvSpPr txBox="1"/>
          <p:nvPr/>
        </p:nvSpPr>
        <p:spPr>
          <a:xfrm>
            <a:off x="672084" y="2864785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持有最新脏行</a:t>
            </a:r>
          </a:p>
        </p:txBody>
      </p:sp>
      <p:sp>
        <p:nvSpPr>
          <p:cNvPr id="11" name="cleancoord"/>
          <p:cNvSpPr/>
          <p:nvPr/>
        </p:nvSpPr>
        <p:spPr>
          <a:xfrm>
            <a:off x="2400300" y="1573530"/>
            <a:ext cx="3200400" cy="480060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一致性协调点"/>
          <p:cNvSpPr txBox="1"/>
          <p:nvPr/>
        </p:nvSpPr>
        <p:spPr>
          <a:xfrm>
            <a:off x="3496437" y="1620683"/>
            <a:ext cx="100812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一致性协调点</a:t>
            </a:r>
          </a:p>
        </p:txBody>
      </p:sp>
      <p:sp>
        <p:nvSpPr>
          <p:cNvPr id="13" name="text-013: 逐行准入、探测、冲突排序及完成确认"/>
          <p:cNvSpPr txBox="1"/>
          <p:nvPr/>
        </p:nvSpPr>
        <p:spPr>
          <a:xfrm>
            <a:off x="2848356" y="1824655"/>
            <a:ext cx="230428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逐行准入、探测、冲突排序及完成确认</a:t>
            </a:r>
          </a:p>
        </p:txBody>
      </p:sp>
      <p:sp>
        <p:nvSpPr>
          <p:cNvPr id="14" name="cleanddr"/>
          <p:cNvSpPr/>
          <p:nvPr/>
        </p:nvSpPr>
        <p:spPr>
          <a:xfrm>
            <a:off x="480060" y="3867150"/>
            <a:ext cx="1280160" cy="4800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DDR"/>
          <p:cNvSpPr txBox="1"/>
          <p:nvPr/>
        </p:nvSpPr>
        <p:spPr>
          <a:xfrm>
            <a:off x="908609" y="4004981"/>
            <a:ext cx="42306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6" name="cleandma"/>
          <p:cNvSpPr/>
          <p:nvPr/>
        </p:nvSpPr>
        <p:spPr>
          <a:xfrm>
            <a:off x="2400300" y="3867150"/>
            <a:ext cx="1280160" cy="48006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搬运器 / DMA"/>
          <p:cNvSpPr txBox="1"/>
          <p:nvPr/>
        </p:nvSpPr>
        <p:spPr>
          <a:xfrm>
            <a:off x="2524991" y="4004981"/>
            <a:ext cx="1030779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搬运器 / DMA</a:t>
            </a:r>
          </a:p>
        </p:txBody>
      </p:sp>
      <p:sp>
        <p:nvSpPr>
          <p:cNvPr id="18" name="cleanproxy"/>
          <p:cNvSpPr/>
          <p:nvPr/>
        </p:nvSpPr>
        <p:spPr>
          <a:xfrm>
            <a:off x="4320540" y="3867150"/>
            <a:ext cx="1280160" cy="48006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共享数据代理"/>
          <p:cNvSpPr txBox="1"/>
          <p:nvPr/>
        </p:nvSpPr>
        <p:spPr>
          <a:xfrm>
            <a:off x="4456557" y="4004981"/>
            <a:ext cx="100812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共享数据代理</a:t>
            </a:r>
          </a:p>
        </p:txBody>
      </p:sp>
      <p:sp>
        <p:nvSpPr>
          <p:cNvPr id="20" name="cleangb"/>
          <p:cNvSpPr/>
          <p:nvPr/>
        </p:nvSpPr>
        <p:spPr>
          <a:xfrm>
            <a:off x="4320540" y="2586990"/>
            <a:ext cx="1280160" cy="5334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GB"/>
          <p:cNvSpPr txBox="1"/>
          <p:nvPr/>
        </p:nvSpPr>
        <p:spPr>
          <a:xfrm>
            <a:off x="4796558" y="2660813"/>
            <a:ext cx="32812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22" name="text-022: 独立 SRAM"/>
          <p:cNvSpPr txBox="1"/>
          <p:nvPr/>
        </p:nvSpPr>
        <p:spPr>
          <a:xfrm>
            <a:off x="4581885" y="2864785"/>
            <a:ext cx="75747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</a:t>
            </a:r>
          </a:p>
        </p:txBody>
      </p:sp>
      <p:sp>
        <p:nvSpPr>
          <p:cNvPr id="23" name="cleanprivate-llc"/>
          <p:cNvSpPr/>
          <p:nvPr/>
        </p:nvSpPr>
        <p:spPr>
          <a:xfrm>
            <a:off x="1120140" y="205359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 fill="none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cleanllc-ddr"/>
          <p:cNvSpPr/>
          <p:nvPr/>
        </p:nvSpPr>
        <p:spPr>
          <a:xfrm>
            <a:off x="1120140" y="3120390"/>
            <a:ext cx="1" cy="746760"/>
          </a:xfrm>
          <a:custGeom>
            <a:avLst/>
            <a:gdLst/>
            <a:ahLst/>
            <a:cxnLst/>
            <a:rect l="0" t="0" r="r" b="b"/>
            <a:pathLst>
              <a:path w="1" h="746760" fill="none">
                <a:moveTo>
                  <a:pt x="0" y="0"/>
                </a:moveTo>
                <a:lnTo>
                  <a:pt x="0" y="74676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leanprobe-private"/>
          <p:cNvSpPr/>
          <p:nvPr/>
        </p:nvSpPr>
        <p:spPr>
          <a:xfrm>
            <a:off x="1760220" y="170688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640080" y="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leanprobe-llc"/>
          <p:cNvSpPr/>
          <p:nvPr/>
        </p:nvSpPr>
        <p:spPr>
          <a:xfrm>
            <a:off x="1760220" y="1920240"/>
            <a:ext cx="640080" cy="853440"/>
          </a:xfrm>
          <a:custGeom>
            <a:avLst/>
            <a:gdLst/>
            <a:ahLst/>
            <a:cxnLst/>
            <a:rect l="0" t="0" r="r" b="b"/>
            <a:pathLst>
              <a:path w="640080" h="853440" fill="none">
                <a:moveTo>
                  <a:pt x="640080" y="0"/>
                </a:moveTo>
                <a:lnTo>
                  <a:pt x="213360" y="0"/>
                </a:lnTo>
                <a:lnTo>
                  <a:pt x="213360" y="853440"/>
                </a:lnTo>
                <a:lnTo>
                  <a:pt x="0" y="85344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leanadmit"/>
          <p:cNvSpPr/>
          <p:nvPr/>
        </p:nvSpPr>
        <p:spPr>
          <a:xfrm>
            <a:off x="3467100" y="2053590"/>
            <a:ext cx="1" cy="1813560"/>
          </a:xfrm>
          <a:custGeom>
            <a:avLst/>
            <a:gdLst/>
            <a:ahLst/>
            <a:cxnLst/>
            <a:rect l="0" t="0" r="r" b="b"/>
            <a:pathLst>
              <a:path w="1" h="1813560" fill="none">
                <a:moveTo>
                  <a:pt x="0" y="0"/>
                </a:moveTo>
                <a:lnTo>
                  <a:pt x="0" y="181356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cleanclean-data"/>
          <p:cNvSpPr/>
          <p:nvPr/>
        </p:nvSpPr>
        <p:spPr>
          <a:xfrm>
            <a:off x="1440180" y="3120390"/>
            <a:ext cx="1" cy="746760"/>
          </a:xfrm>
          <a:custGeom>
            <a:avLst/>
            <a:gdLst/>
            <a:ahLst/>
            <a:cxnLst/>
            <a:rect l="0" t="0" r="r" b="b"/>
            <a:pathLst>
              <a:path w="1" h="746760" fill="none">
                <a:moveTo>
                  <a:pt x="0" y="0"/>
                </a:moveTo>
                <a:lnTo>
                  <a:pt x="0" y="74676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leanddr-data"/>
          <p:cNvSpPr/>
          <p:nvPr/>
        </p:nvSpPr>
        <p:spPr>
          <a:xfrm>
            <a:off x="1760220" y="410718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② clean"/>
          <p:cNvSpPr txBox="1"/>
          <p:nvPr/>
        </p:nvSpPr>
        <p:spPr>
          <a:xfrm>
            <a:off x="1786890" y="3242219"/>
            <a:ext cx="66763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② clean</a:t>
            </a:r>
          </a:p>
        </p:txBody>
      </p:sp>
      <p:sp>
        <p:nvSpPr>
          <p:cNvPr id="31" name="text-031: 等待 DDR 可见"/>
          <p:cNvSpPr txBox="1"/>
          <p:nvPr/>
        </p:nvSpPr>
        <p:spPr>
          <a:xfrm>
            <a:off x="1786890" y="3450245"/>
            <a:ext cx="108549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等待 DDR 可见</a:t>
            </a:r>
          </a:p>
        </p:txBody>
      </p:sp>
      <p:sp>
        <p:nvSpPr>
          <p:cNvPr id="32" name="cleandma-proxy"/>
          <p:cNvSpPr/>
          <p:nvPr/>
        </p:nvSpPr>
        <p:spPr>
          <a:xfrm>
            <a:off x="3680460" y="410718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leanproxy-gb"/>
          <p:cNvSpPr/>
          <p:nvPr/>
        </p:nvSpPr>
        <p:spPr>
          <a:xfrm>
            <a:off x="4960620" y="3120390"/>
            <a:ext cx="1" cy="746760"/>
          </a:xfrm>
          <a:custGeom>
            <a:avLst/>
            <a:gdLst/>
            <a:ahLst/>
            <a:cxnLst/>
            <a:rect l="0" t="0" r="r" b="b"/>
            <a:pathLst>
              <a:path w="1" h="746760" fill="none">
                <a:moveTo>
                  <a:pt x="0" y="74676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① 受保护的探测与访问"/>
          <p:cNvSpPr txBox="1"/>
          <p:nvPr/>
        </p:nvSpPr>
        <p:spPr>
          <a:xfrm>
            <a:off x="3733800" y="2207423"/>
            <a:ext cx="162737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① 受保护的探测与访问</a:t>
            </a:r>
          </a:p>
        </p:txBody>
      </p:sp>
      <p:sp>
        <p:nvSpPr>
          <p:cNvPr id="35" name="text-035: ③ 写入 GB"/>
          <p:cNvSpPr txBox="1"/>
          <p:nvPr/>
        </p:nvSpPr>
        <p:spPr>
          <a:xfrm>
            <a:off x="5120640" y="3306227"/>
            <a:ext cx="846539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③ 写入 GB</a:t>
            </a:r>
          </a:p>
        </p:txBody>
      </p:sp>
      <p:sp>
        <p:nvSpPr>
          <p:cNvPr id="36" name="text-036: 保留 DDR 供数路径；脏数据经历写回与再次读取。"/>
          <p:cNvSpPr txBox="1"/>
          <p:nvPr/>
        </p:nvSpPr>
        <p:spPr>
          <a:xfrm>
            <a:off x="400050" y="4496135"/>
            <a:ext cx="3264233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保留 DDR 供数路径；脏数据经历写回与再次读取。</a:t>
            </a:r>
          </a:p>
        </p:txBody>
      </p:sp>
      <p:sp>
        <p:nvSpPr>
          <p:cNvPr id="37" name="text-037: 两种实现均保持：设备不分配 LLC 行，GB 按任务管理。"/>
          <p:cNvSpPr txBox="1"/>
          <p:nvPr/>
        </p:nvSpPr>
        <p:spPr>
          <a:xfrm>
            <a:off x="400050" y="4714829"/>
            <a:ext cx="3577630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两种实现均保持：设备不分配 LLC 行，GB 按任务管理。</a:t>
            </a:r>
          </a:p>
        </p:txBody>
      </p:sp>
      <p:sp>
        <p:nvSpPr>
          <p:cNvPr id="38" name="supplypanel"/>
          <p:cNvSpPr/>
          <p:nvPr/>
        </p:nvSpPr>
        <p:spPr>
          <a:xfrm>
            <a:off x="6560820" y="773430"/>
            <a:ext cx="5974080" cy="4213860"/>
          </a:xfrm>
          <a:prstGeom prst="rect">
            <a:avLst/>
          </a:prstGeom>
          <a:solidFill>
            <a:srgbClr val="FAFBFC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E2  缓存直接供数（待评审路径）"/>
          <p:cNvSpPr txBox="1"/>
          <p:nvPr/>
        </p:nvSpPr>
        <p:spPr>
          <a:xfrm>
            <a:off x="6694170" y="833598"/>
            <a:ext cx="2857957" cy="2901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E2  缓存直接供数（待评审路径）</a:t>
            </a:r>
          </a:p>
        </p:txBody>
      </p:sp>
      <p:sp>
        <p:nvSpPr>
          <p:cNvPr id="40" name="supplyprivate"/>
          <p:cNvSpPr/>
          <p:nvPr/>
        </p:nvSpPr>
        <p:spPr>
          <a:xfrm>
            <a:off x="6774180" y="1573530"/>
            <a:ext cx="1280160" cy="4800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L1D / 写缓冲"/>
          <p:cNvSpPr txBox="1"/>
          <p:nvPr/>
        </p:nvSpPr>
        <p:spPr>
          <a:xfrm>
            <a:off x="6918981" y="1711361"/>
            <a:ext cx="99055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写缓冲</a:t>
            </a:r>
          </a:p>
        </p:txBody>
      </p:sp>
      <p:sp>
        <p:nvSpPr>
          <p:cNvPr id="42" name="supplyllc"/>
          <p:cNvSpPr/>
          <p:nvPr/>
        </p:nvSpPr>
        <p:spPr>
          <a:xfrm>
            <a:off x="6774180" y="2586990"/>
            <a:ext cx="1280160" cy="5334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LLC"/>
          <p:cNvSpPr txBox="1"/>
          <p:nvPr/>
        </p:nvSpPr>
        <p:spPr>
          <a:xfrm>
            <a:off x="7225657" y="2660813"/>
            <a:ext cx="377205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44" name="text-044: 持有最新脏行"/>
          <p:cNvSpPr txBox="1"/>
          <p:nvPr/>
        </p:nvSpPr>
        <p:spPr>
          <a:xfrm>
            <a:off x="6966204" y="2864785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持有最新脏行</a:t>
            </a:r>
          </a:p>
        </p:txBody>
      </p:sp>
      <p:sp>
        <p:nvSpPr>
          <p:cNvPr id="45" name="supplycoord"/>
          <p:cNvSpPr/>
          <p:nvPr/>
        </p:nvSpPr>
        <p:spPr>
          <a:xfrm>
            <a:off x="8694420" y="1573530"/>
            <a:ext cx="3200400" cy="480060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一致性协调点"/>
          <p:cNvSpPr txBox="1"/>
          <p:nvPr/>
        </p:nvSpPr>
        <p:spPr>
          <a:xfrm>
            <a:off x="9790557" y="1620683"/>
            <a:ext cx="100812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一致性协调点</a:t>
            </a:r>
          </a:p>
        </p:txBody>
      </p:sp>
      <p:sp>
        <p:nvSpPr>
          <p:cNvPr id="47" name="text-047: 逐行准入、探测、冲突排序及完成确认"/>
          <p:cNvSpPr txBox="1"/>
          <p:nvPr/>
        </p:nvSpPr>
        <p:spPr>
          <a:xfrm>
            <a:off x="9142476" y="1824655"/>
            <a:ext cx="230428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逐行准入、探测、冲突排序及完成确认</a:t>
            </a:r>
          </a:p>
        </p:txBody>
      </p:sp>
      <p:sp>
        <p:nvSpPr>
          <p:cNvPr id="48" name="supplyddr"/>
          <p:cNvSpPr/>
          <p:nvPr/>
        </p:nvSpPr>
        <p:spPr>
          <a:xfrm>
            <a:off x="6774180" y="3867150"/>
            <a:ext cx="1280160" cy="4800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DDR"/>
          <p:cNvSpPr txBox="1"/>
          <p:nvPr/>
        </p:nvSpPr>
        <p:spPr>
          <a:xfrm>
            <a:off x="7202729" y="4004981"/>
            <a:ext cx="42306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50" name="supplydma"/>
          <p:cNvSpPr/>
          <p:nvPr/>
        </p:nvSpPr>
        <p:spPr>
          <a:xfrm>
            <a:off x="8694420" y="3867150"/>
            <a:ext cx="1280160" cy="48006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搬运器 / DMA"/>
          <p:cNvSpPr txBox="1"/>
          <p:nvPr/>
        </p:nvSpPr>
        <p:spPr>
          <a:xfrm>
            <a:off x="8819111" y="4004981"/>
            <a:ext cx="1030779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搬运器 / DMA</a:t>
            </a:r>
          </a:p>
        </p:txBody>
      </p:sp>
      <p:sp>
        <p:nvSpPr>
          <p:cNvPr id="52" name="supplyproxy"/>
          <p:cNvSpPr/>
          <p:nvPr/>
        </p:nvSpPr>
        <p:spPr>
          <a:xfrm>
            <a:off x="10614660" y="3867150"/>
            <a:ext cx="1280160" cy="48006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共享数据代理"/>
          <p:cNvSpPr txBox="1"/>
          <p:nvPr/>
        </p:nvSpPr>
        <p:spPr>
          <a:xfrm>
            <a:off x="10750677" y="4004981"/>
            <a:ext cx="100812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共享数据代理</a:t>
            </a:r>
          </a:p>
        </p:txBody>
      </p:sp>
      <p:sp>
        <p:nvSpPr>
          <p:cNvPr id="54" name="supplygb"/>
          <p:cNvSpPr/>
          <p:nvPr/>
        </p:nvSpPr>
        <p:spPr>
          <a:xfrm>
            <a:off x="10614660" y="2586990"/>
            <a:ext cx="1280160" cy="5334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GB"/>
          <p:cNvSpPr txBox="1"/>
          <p:nvPr/>
        </p:nvSpPr>
        <p:spPr>
          <a:xfrm>
            <a:off x="11090678" y="2660813"/>
            <a:ext cx="32812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56" name="text-056: 独立 SRAM"/>
          <p:cNvSpPr txBox="1"/>
          <p:nvPr/>
        </p:nvSpPr>
        <p:spPr>
          <a:xfrm>
            <a:off x="10876005" y="2864785"/>
            <a:ext cx="75747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</a:t>
            </a:r>
          </a:p>
        </p:txBody>
      </p:sp>
      <p:sp>
        <p:nvSpPr>
          <p:cNvPr id="57" name="supplyprivate-llc"/>
          <p:cNvSpPr/>
          <p:nvPr/>
        </p:nvSpPr>
        <p:spPr>
          <a:xfrm>
            <a:off x="7414260" y="205359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 fill="none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supplyllc-ddr"/>
          <p:cNvSpPr/>
          <p:nvPr/>
        </p:nvSpPr>
        <p:spPr>
          <a:xfrm>
            <a:off x="7414260" y="3120390"/>
            <a:ext cx="1" cy="746760"/>
          </a:xfrm>
          <a:custGeom>
            <a:avLst/>
            <a:gdLst/>
            <a:ahLst/>
            <a:cxnLst/>
            <a:rect l="0" t="0" r="r" b="b"/>
            <a:pathLst>
              <a:path w="1" h="746760" fill="none">
                <a:moveTo>
                  <a:pt x="0" y="0"/>
                </a:moveTo>
                <a:lnTo>
                  <a:pt x="0" y="74676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supplyprobe-private"/>
          <p:cNvSpPr/>
          <p:nvPr/>
        </p:nvSpPr>
        <p:spPr>
          <a:xfrm>
            <a:off x="8054340" y="170688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640080" y="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supplyprobe-llc"/>
          <p:cNvSpPr/>
          <p:nvPr/>
        </p:nvSpPr>
        <p:spPr>
          <a:xfrm>
            <a:off x="8054340" y="1920240"/>
            <a:ext cx="640080" cy="853440"/>
          </a:xfrm>
          <a:custGeom>
            <a:avLst/>
            <a:gdLst/>
            <a:ahLst/>
            <a:cxnLst/>
            <a:rect l="0" t="0" r="r" b="b"/>
            <a:pathLst>
              <a:path w="640080" h="853440" fill="none">
                <a:moveTo>
                  <a:pt x="640080" y="0"/>
                </a:moveTo>
                <a:lnTo>
                  <a:pt x="213360" y="0"/>
                </a:lnTo>
                <a:lnTo>
                  <a:pt x="213360" y="853440"/>
                </a:lnTo>
                <a:lnTo>
                  <a:pt x="0" y="85344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supplyadmit"/>
          <p:cNvSpPr/>
          <p:nvPr/>
        </p:nvSpPr>
        <p:spPr>
          <a:xfrm>
            <a:off x="9761220" y="2053590"/>
            <a:ext cx="1" cy="1813560"/>
          </a:xfrm>
          <a:custGeom>
            <a:avLst/>
            <a:gdLst/>
            <a:ahLst/>
            <a:cxnLst/>
            <a:rect l="0" t="0" r="r" b="b"/>
            <a:pathLst>
              <a:path w="1" h="1813560" fill="none">
                <a:moveTo>
                  <a:pt x="0" y="0"/>
                </a:moveTo>
                <a:lnTo>
                  <a:pt x="0" y="181356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supplyddr-fallback"/>
          <p:cNvSpPr/>
          <p:nvPr/>
        </p:nvSpPr>
        <p:spPr>
          <a:xfrm>
            <a:off x="8054340" y="424053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supplycache-data"/>
          <p:cNvSpPr/>
          <p:nvPr/>
        </p:nvSpPr>
        <p:spPr>
          <a:xfrm>
            <a:off x="8054340" y="2960370"/>
            <a:ext cx="1280160" cy="906780"/>
          </a:xfrm>
          <a:custGeom>
            <a:avLst/>
            <a:gdLst/>
            <a:ahLst/>
            <a:cxnLst/>
            <a:rect l="0" t="0" r="r" b="b"/>
            <a:pathLst>
              <a:path w="1280160" h="906780" fill="none">
                <a:moveTo>
                  <a:pt x="0" y="0"/>
                </a:moveTo>
                <a:lnTo>
                  <a:pt x="426720" y="0"/>
                </a:lnTo>
                <a:lnTo>
                  <a:pt x="426720" y="586740"/>
                </a:lnTo>
                <a:lnTo>
                  <a:pt x="1280160" y="586740"/>
                </a:lnTo>
                <a:lnTo>
                  <a:pt x="1280160" y="90678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② 最新数据"/>
          <p:cNvSpPr txBox="1"/>
          <p:nvPr/>
        </p:nvSpPr>
        <p:spPr>
          <a:xfrm>
            <a:off x="8587740" y="3210215"/>
            <a:ext cx="90728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② 最新数据</a:t>
            </a:r>
          </a:p>
        </p:txBody>
      </p:sp>
      <p:sp>
        <p:nvSpPr>
          <p:cNvPr id="65" name="text-065: DDR 可暂时保留旧值；由 LLC 提供本次读数据。"/>
          <p:cNvSpPr txBox="1"/>
          <p:nvPr/>
        </p:nvSpPr>
        <p:spPr>
          <a:xfrm>
            <a:off x="6694170" y="4496135"/>
            <a:ext cx="3114314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可暂时保留旧值；由 LLC 提供本次读数据。</a:t>
            </a:r>
          </a:p>
        </p:txBody>
      </p:sp>
      <p:sp>
        <p:nvSpPr>
          <p:cNvPr id="66" name="supplydma-proxy"/>
          <p:cNvSpPr/>
          <p:nvPr/>
        </p:nvSpPr>
        <p:spPr>
          <a:xfrm>
            <a:off x="9974580" y="410718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supplyproxy-gb"/>
          <p:cNvSpPr/>
          <p:nvPr/>
        </p:nvSpPr>
        <p:spPr>
          <a:xfrm>
            <a:off x="11254740" y="3120390"/>
            <a:ext cx="1" cy="746760"/>
          </a:xfrm>
          <a:custGeom>
            <a:avLst/>
            <a:gdLst/>
            <a:ahLst/>
            <a:cxnLst/>
            <a:rect l="0" t="0" r="r" b="b"/>
            <a:pathLst>
              <a:path w="1" h="746760" fill="none">
                <a:moveTo>
                  <a:pt x="0" y="74676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① 受保护的探测与访问"/>
          <p:cNvSpPr txBox="1"/>
          <p:nvPr/>
        </p:nvSpPr>
        <p:spPr>
          <a:xfrm>
            <a:off x="10027920" y="2207423"/>
            <a:ext cx="162737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① 受保护的探测与访问</a:t>
            </a:r>
          </a:p>
        </p:txBody>
      </p:sp>
      <p:sp>
        <p:nvSpPr>
          <p:cNvPr id="69" name="text-069: ③ 写入 GB"/>
          <p:cNvSpPr txBox="1"/>
          <p:nvPr/>
        </p:nvSpPr>
        <p:spPr>
          <a:xfrm>
            <a:off x="11414760" y="3306227"/>
            <a:ext cx="846539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③ 写入 GB</a:t>
            </a:r>
          </a:p>
        </p:txBody>
      </p:sp>
      <p:sp>
        <p:nvSpPr>
          <p:cNvPr id="70" name="text-070: 两种实现均保持：设备不分配 LLC 行，GB 按任务管理。"/>
          <p:cNvSpPr txBox="1"/>
          <p:nvPr/>
        </p:nvSpPr>
        <p:spPr>
          <a:xfrm>
            <a:off x="6694170" y="4714829"/>
            <a:ext cx="3577630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两种实现均保持：设备不分配 LLC 行，GB 按任务管理。</a:t>
            </a:r>
          </a:p>
        </p:txBody>
      </p:sp>
      <p:sp>
        <p:nvSpPr>
          <p:cNvPr id="71" name="text-071: 设备写入时，两种实现共同需要的逻辑步骤"/>
          <p:cNvSpPr txBox="1"/>
          <p:nvPr/>
        </p:nvSpPr>
        <p:spPr>
          <a:xfrm>
            <a:off x="293370" y="5128321"/>
            <a:ext cx="341376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设备写入时，两种实现共同需要的逻辑步骤</a:t>
            </a:r>
          </a:p>
        </p:txBody>
      </p:sp>
      <p:sp>
        <p:nvSpPr>
          <p:cNvPr id="72" name="write0"/>
          <p:cNvSpPr/>
          <p:nvPr/>
        </p:nvSpPr>
        <p:spPr>
          <a:xfrm>
            <a:off x="293370" y="5547360"/>
            <a:ext cx="2160270" cy="4800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3: 准入与冲突排序"/>
          <p:cNvSpPr txBox="1"/>
          <p:nvPr/>
        </p:nvSpPr>
        <p:spPr>
          <a:xfrm>
            <a:off x="797433" y="5685191"/>
            <a:ext cx="115214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准入与冲突排序</a:t>
            </a:r>
          </a:p>
        </p:txBody>
      </p:sp>
      <p:sp>
        <p:nvSpPr>
          <p:cNvPr id="74" name="write1"/>
          <p:cNvSpPr/>
          <p:nvPr/>
        </p:nvSpPr>
        <p:spPr>
          <a:xfrm>
            <a:off x="2773680" y="5547360"/>
            <a:ext cx="2160270" cy="4800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保护未覆盖字节"/>
          <p:cNvSpPr txBox="1"/>
          <p:nvPr/>
        </p:nvSpPr>
        <p:spPr>
          <a:xfrm>
            <a:off x="3277743" y="5685191"/>
            <a:ext cx="115214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保护未覆盖字节</a:t>
            </a:r>
          </a:p>
        </p:txBody>
      </p:sp>
      <p:sp>
        <p:nvSpPr>
          <p:cNvPr id="76" name="write-seq1"/>
          <p:cNvSpPr/>
          <p:nvPr/>
        </p:nvSpPr>
        <p:spPr>
          <a:xfrm>
            <a:off x="2453640" y="5787390"/>
            <a:ext cx="320040" cy="1"/>
          </a:xfrm>
          <a:custGeom>
            <a:avLst/>
            <a:gdLst/>
            <a:ahLst/>
            <a:cxnLst/>
            <a:rect l="0" t="0" r="r" b="b"/>
            <a:pathLst>
              <a:path w="320040" h="1" fill="none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write2"/>
          <p:cNvSpPr/>
          <p:nvPr/>
        </p:nvSpPr>
        <p:spPr>
          <a:xfrm>
            <a:off x="5253990" y="5547360"/>
            <a:ext cx="2160270" cy="4800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旧副本失效确认"/>
          <p:cNvSpPr txBox="1"/>
          <p:nvPr/>
        </p:nvSpPr>
        <p:spPr>
          <a:xfrm>
            <a:off x="5758053" y="5685191"/>
            <a:ext cx="115214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旧副本失效确认</a:t>
            </a:r>
          </a:p>
        </p:txBody>
      </p:sp>
      <p:sp>
        <p:nvSpPr>
          <p:cNvPr id="79" name="write-seq2"/>
          <p:cNvSpPr/>
          <p:nvPr/>
        </p:nvSpPr>
        <p:spPr>
          <a:xfrm>
            <a:off x="4933950" y="5787390"/>
            <a:ext cx="320040" cy="1"/>
          </a:xfrm>
          <a:custGeom>
            <a:avLst/>
            <a:gdLst/>
            <a:ahLst/>
            <a:cxnLst/>
            <a:rect l="0" t="0" r="r" b="b"/>
            <a:pathLst>
              <a:path w="320040" h="1" fill="none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write3"/>
          <p:cNvSpPr/>
          <p:nvPr/>
        </p:nvSpPr>
        <p:spPr>
          <a:xfrm>
            <a:off x="7734300" y="5547360"/>
            <a:ext cx="2160270" cy="48006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1: 提交新数据"/>
          <p:cNvSpPr txBox="1"/>
          <p:nvPr/>
        </p:nvSpPr>
        <p:spPr>
          <a:xfrm>
            <a:off x="8382381" y="5685191"/>
            <a:ext cx="86410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提交新数据</a:t>
            </a:r>
          </a:p>
        </p:txBody>
      </p:sp>
      <p:sp>
        <p:nvSpPr>
          <p:cNvPr id="82" name="write-seq3"/>
          <p:cNvSpPr/>
          <p:nvPr/>
        </p:nvSpPr>
        <p:spPr>
          <a:xfrm>
            <a:off x="7414260" y="5787390"/>
            <a:ext cx="320040" cy="1"/>
          </a:xfrm>
          <a:custGeom>
            <a:avLst/>
            <a:gdLst/>
            <a:ahLst/>
            <a:cxnLst/>
            <a:rect l="0" t="0" r="r" b="b"/>
            <a:pathLst>
              <a:path w="320040" h="1" fill="none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write4"/>
          <p:cNvSpPr/>
          <p:nvPr/>
        </p:nvSpPr>
        <p:spPr>
          <a:xfrm>
            <a:off x="10214610" y="5547360"/>
            <a:ext cx="2160270" cy="4800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-084: 发布完成"/>
          <p:cNvSpPr txBox="1"/>
          <p:nvPr/>
        </p:nvSpPr>
        <p:spPr>
          <a:xfrm>
            <a:off x="10934700" y="5685191"/>
            <a:ext cx="720090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发布完成</a:t>
            </a:r>
          </a:p>
        </p:txBody>
      </p:sp>
      <p:sp>
        <p:nvSpPr>
          <p:cNvPr id="85" name="write-seq4"/>
          <p:cNvSpPr/>
          <p:nvPr/>
        </p:nvSpPr>
        <p:spPr>
          <a:xfrm>
            <a:off x="9894570" y="5787390"/>
            <a:ext cx="320040" cy="1"/>
          </a:xfrm>
          <a:custGeom>
            <a:avLst/>
            <a:gdLst/>
            <a:ahLst/>
            <a:cxnLst/>
            <a:rect l="0" t="0" r="r" b="b"/>
            <a:pathLst>
              <a:path w="320040" h="1" fill="none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-086: E1 / E2 均须保护从探测到访问完成的过程；整块传输期间，其他地址仍可并发访"/>
          <p:cNvSpPr txBox="1"/>
          <p:nvPr/>
        </p:nvSpPr>
        <p:spPr>
          <a:xfrm>
            <a:off x="293370" y="6185306"/>
            <a:ext cx="619875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E1 / E2 均须保护从探测到访问完成的过程；整块传输期间，其他地址仍可并发访问。</a:t>
            </a:r>
          </a:p>
        </p:txBody>
      </p:sp>
      <p:sp>
        <p:nvSpPr>
          <p:cNvPr id="87" name="text-087: 边界维护方案 B 则在交接时维护整个范围，并在传输期间限制该范围的冲突访问。"/>
          <p:cNvSpPr txBox="1"/>
          <p:nvPr/>
        </p:nvSpPr>
        <p:spPr>
          <a:xfrm>
            <a:off x="293370" y="6441338"/>
            <a:ext cx="5955744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边界维护方案 B 则在交接时维护整个范围，并在传输期间限制该范围的冲突访问。</a:t>
            </a:r>
          </a:p>
        </p:txBody>
      </p:sp>
      <p:sp>
        <p:nvSpPr>
          <p:cNvPr id="88" name="text-088: 蓝灰：常规访存 / 后备路径    绿色：本场景的数据    紫色：控制与确认 "/>
          <p:cNvSpPr txBox="1"/>
          <p:nvPr/>
        </p:nvSpPr>
        <p:spPr>
          <a:xfrm>
            <a:off x="293370" y="6790182"/>
            <a:ext cx="5829654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蓝灰：常规访存 / 后备路径    绿色：本场景的数据    紫色：控制与确认    虚线框：项目候选职责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