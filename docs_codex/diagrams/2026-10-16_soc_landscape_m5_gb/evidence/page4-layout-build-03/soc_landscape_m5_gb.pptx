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21166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ompression-front"/>
          <p:cNvSpPr/>
          <p:nvPr/>
        </p:nvSpPr>
        <p:spPr>
          <a:xfrm>
            <a:off x="6129867" y="3962400"/>
            <a:ext cx="37930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ew-reg-config"/>
          <p:cNvSpPr/>
          <p:nvPr/>
        </p:nvSpPr>
        <p:spPr>
          <a:xfrm>
            <a:off x="1206500" y="5445760"/>
            <a:ext cx="4131733" cy="54187"/>
          </a:xfrm>
          <a:custGeom>
            <a:avLst/>
            <a:gdLst/>
            <a:ahLst/>
            <a:cxnLst/>
            <a:rect l="0" t="0" r="r" b="b"/>
            <a:pathLst>
              <a:path w="4131733" h="54187" fill="none">
                <a:moveTo>
                  <a:pt x="4131733" y="0"/>
                </a:moveTo>
                <a:lnTo>
                  <a:pt x="4131733" y="54187"/>
                </a:ln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fg-C10"/>
          <p:cNvSpPr/>
          <p:nvPr/>
        </p:nvSpPr>
        <p:spPr>
          <a:xfrm>
            <a:off x="1206500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fg-C11"/>
          <p:cNvSpPr/>
          <p:nvPr/>
        </p:nvSpPr>
        <p:spPr>
          <a:xfrm>
            <a:off x="3069167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fg-C12"/>
          <p:cNvSpPr/>
          <p:nvPr/>
        </p:nvSpPr>
        <p:spPr>
          <a:xfrm>
            <a:off x="4931833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ont-input-0"/>
          <p:cNvSpPr/>
          <p:nvPr/>
        </p:nvSpPr>
        <p:spPr>
          <a:xfrm>
            <a:off x="6604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ont-input-1"/>
          <p:cNvSpPr/>
          <p:nvPr/>
        </p:nvSpPr>
        <p:spPr>
          <a:xfrm>
            <a:off x="7535333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ont-input-2"/>
          <p:cNvSpPr/>
          <p:nvPr/>
        </p:nvSpPr>
        <p:spPr>
          <a:xfrm>
            <a:off x="8466667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ont-input-3"/>
          <p:cNvSpPr/>
          <p:nvPr/>
        </p:nvSpPr>
        <p:spPr>
          <a:xfrm>
            <a:off x="9398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adapt-compressor"/>
          <p:cNvSpPr/>
          <p:nvPr/>
        </p:nvSpPr>
        <p:spPr>
          <a:xfrm>
            <a:off x="6629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ompressor-route"/>
          <p:cNvSpPr/>
          <p:nvPr/>
        </p:nvSpPr>
        <p:spPr>
          <a:xfrm>
            <a:off x="6629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decoder-up"/>
          <p:cNvSpPr/>
          <p:nvPr/>
        </p:nvSpPr>
        <p:spPr>
          <a:xfrm>
            <a:off x="7560733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ad-to-decoder"/>
          <p:cNvSpPr/>
          <p:nvPr/>
        </p:nvSpPr>
        <p:spPr>
          <a:xfrm>
            <a:off x="7560733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adapt-plain-bypass"/>
          <p:cNvSpPr/>
          <p:nvPr/>
        </p:nvSpPr>
        <p:spPr>
          <a:xfrm>
            <a:off x="8492067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lain-bypass-route"/>
          <p:cNvSpPr/>
          <p:nvPr/>
        </p:nvSpPr>
        <p:spPr>
          <a:xfrm>
            <a:off x="8492067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adapt-metadata"/>
          <p:cNvSpPr/>
          <p:nvPr/>
        </p:nvSpPr>
        <p:spPr>
          <a:xfrm>
            <a:off x="9423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metadata-route"/>
          <p:cNvSpPr/>
          <p:nvPr/>
        </p:nvSpPr>
        <p:spPr>
          <a:xfrm>
            <a:off x="9423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ont-ddr-0"/>
          <p:cNvSpPr/>
          <p:nvPr/>
        </p:nvSpPr>
        <p:spPr>
          <a:xfrm>
            <a:off x="6604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ont-ddr-1"/>
          <p:cNvSpPr/>
          <p:nvPr/>
        </p:nvSpPr>
        <p:spPr>
          <a:xfrm>
            <a:off x="7535333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ddr-2"/>
          <p:cNvSpPr/>
          <p:nvPr/>
        </p:nvSpPr>
        <p:spPr>
          <a:xfrm>
            <a:off x="8466667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ddr-3"/>
          <p:cNvSpPr/>
          <p:nvPr/>
        </p:nvSpPr>
        <p:spPr>
          <a:xfrm>
            <a:off x="9398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i-vdma-control"/>
          <p:cNvSpPr/>
          <p:nvPr/>
        </p:nvSpPr>
        <p:spPr>
          <a:xfrm>
            <a:off x="10701867" y="43857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vdma-pixels"/>
          <p:cNvSpPr/>
          <p:nvPr/>
        </p:nvSpPr>
        <p:spPr>
          <a:xfrm>
            <a:off x="10701867" y="47413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ifo-lvds"/>
          <p:cNvSpPr/>
          <p:nvPr/>
        </p:nvSpPr>
        <p:spPr>
          <a:xfrm>
            <a:off x="10701867" y="50969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llc-f0"/>
          <p:cNvSpPr/>
          <p:nvPr/>
        </p:nvSpPr>
        <p:spPr>
          <a:xfrm>
            <a:off x="4019852" y="3535680"/>
            <a:ext cx="2584148" cy="379307"/>
          </a:xfrm>
          <a:custGeom>
            <a:avLst/>
            <a:gdLst/>
            <a:ahLst/>
            <a:cxnLst/>
            <a:rect l="0" t="0" r="r" b="b"/>
            <a:pathLst>
              <a:path w="2584148" h="379307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37930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over-f1"/>
          <p:cNvSpPr/>
          <p:nvPr/>
        </p:nvSpPr>
        <p:spPr>
          <a:xfrm>
            <a:off x="7336367" y="1371600"/>
            <a:ext cx="2688167" cy="2543387"/>
          </a:xfrm>
          <a:custGeom>
            <a:avLst/>
            <a:gdLst/>
            <a:ahLst/>
            <a:cxnLst/>
            <a:rect l="0" t="0" r="r" b="b"/>
            <a:pathLst>
              <a:path w="2688167" h="2543387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543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ame-f2"/>
          <p:cNvSpPr/>
          <p:nvPr/>
        </p:nvSpPr>
        <p:spPr>
          <a:xfrm>
            <a:off x="8466667" y="1151467"/>
            <a:ext cx="2727396" cy="2763520"/>
          </a:xfrm>
          <a:custGeom>
            <a:avLst/>
            <a:gdLst/>
            <a:ahLst/>
            <a:cxnLst/>
            <a:rect l="0" t="0" r="r" b="b"/>
            <a:pathLst>
              <a:path w="2727396" h="2763520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7635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oi-f3-request"/>
          <p:cNvSpPr/>
          <p:nvPr/>
        </p:nvSpPr>
        <p:spPr>
          <a:xfrm>
            <a:off x="9347200" y="3742267"/>
            <a:ext cx="914400" cy="812800"/>
          </a:xfrm>
          <a:custGeom>
            <a:avLst/>
            <a:gdLst/>
            <a:ahLst/>
            <a:cxnLst/>
            <a:rect l="0" t="0" r="r" b="b"/>
            <a:pathLst>
              <a:path w="914400" h="812800" fill="none">
                <a:moveTo>
                  <a:pt x="914400" y="812800"/>
                </a:moveTo>
                <a:lnTo>
                  <a:pt x="728133" y="812800"/>
                </a:lnTo>
                <a:lnTo>
                  <a:pt x="728133" y="0"/>
                </a:lnTo>
                <a:lnTo>
                  <a:pt x="0" y="0"/>
                </a:ln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3-roi-read-data"/>
          <p:cNvSpPr/>
          <p:nvPr/>
        </p:nvSpPr>
        <p:spPr>
          <a:xfrm>
            <a:off x="9448800" y="3775004"/>
            <a:ext cx="812800" cy="881662"/>
          </a:xfrm>
          <a:custGeom>
            <a:avLst/>
            <a:gdLst/>
            <a:ahLst/>
            <a:cxnLst/>
            <a:rect l="0" t="0" r="r" b="b"/>
            <a:pathLst>
              <a:path w="812800" h="881662" fill="none">
                <a:moveTo>
                  <a:pt x="0" y="139982"/>
                </a:moveTo>
                <a:lnTo>
                  <a:pt x="0" y="18062"/>
                </a:lnTo>
                <a:lnTo>
                  <a:pt x="606213" y="18062"/>
                </a:lnTo>
                <a:cubicBezTo>
                  <a:pt x="619760" y="0"/>
                  <a:pt x="633307" y="0"/>
                  <a:pt x="646853" y="18062"/>
                </a:cubicBezTo>
                <a:lnTo>
                  <a:pt x="667173" y="18062"/>
                </a:lnTo>
                <a:lnTo>
                  <a:pt x="667173" y="759742"/>
                </a:lnTo>
                <a:cubicBezTo>
                  <a:pt x="685236" y="773289"/>
                  <a:pt x="685236" y="786836"/>
                  <a:pt x="667173" y="800382"/>
                </a:cubicBezTo>
                <a:lnTo>
                  <a:pt x="667173" y="881662"/>
                </a:lnTo>
                <a:lnTo>
                  <a:pt x="812800" y="881662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gext-old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ld-config-trunk"/>
          <p:cNvSpPr/>
          <p:nvPr/>
        </p:nvSpPr>
        <p:spPr>
          <a:xfrm>
            <a:off x="808567" y="6275832"/>
            <a:ext cx="9889067" cy="1"/>
          </a:xfrm>
          <a:custGeom>
            <a:avLst/>
            <a:gdLst/>
            <a:ahLst/>
            <a:cxnLst/>
            <a:rect l="0" t="0" r="r" b="b"/>
            <a:pathLst>
              <a:path w="9889067" h="1" fill="none">
                <a:moveTo>
                  <a:pt x="0" y="0"/>
                </a:moveTo>
                <a:lnTo>
                  <a:pt x="9889067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ld-cfg-C1"/>
          <p:cNvSpPr/>
          <p:nvPr/>
        </p:nvSpPr>
        <p:spPr>
          <a:xfrm>
            <a:off x="8085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ld-cfg-C2"/>
          <p:cNvSpPr/>
          <p:nvPr/>
        </p:nvSpPr>
        <p:spPr>
          <a:xfrm>
            <a:off x="20447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ld-cfg-C3"/>
          <p:cNvSpPr/>
          <p:nvPr/>
        </p:nvSpPr>
        <p:spPr>
          <a:xfrm>
            <a:off x="32808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ld-cfg-C4"/>
          <p:cNvSpPr/>
          <p:nvPr/>
        </p:nvSpPr>
        <p:spPr>
          <a:xfrm>
            <a:off x="45169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ld-cfg-C5"/>
          <p:cNvSpPr/>
          <p:nvPr/>
        </p:nvSpPr>
        <p:spPr>
          <a:xfrm>
            <a:off x="57531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ld-cfg-C6"/>
          <p:cNvSpPr/>
          <p:nvPr/>
        </p:nvSpPr>
        <p:spPr>
          <a:xfrm>
            <a:off x="69892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ld-cfg-C7"/>
          <p:cNvSpPr/>
          <p:nvPr/>
        </p:nvSpPr>
        <p:spPr>
          <a:xfrm>
            <a:off x="82253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ld-cfg-C8"/>
          <p:cNvSpPr/>
          <p:nvPr/>
        </p:nvSpPr>
        <p:spPr>
          <a:xfrm>
            <a:off x="94615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ld-cfg-C9"/>
          <p:cNvSpPr/>
          <p:nvPr/>
        </p:nvSpPr>
        <p:spPr>
          <a:xfrm>
            <a:off x="106976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legend-data"/>
          <p:cNvSpPr/>
          <p:nvPr/>
        </p:nvSpPr>
        <p:spPr>
          <a:xfrm>
            <a:off x="10227733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legend-gb"/>
          <p:cNvSpPr/>
          <p:nvPr/>
        </p:nvSpPr>
        <p:spPr>
          <a:xfrm>
            <a:off x="10227733" y="2692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legend-pixel"/>
          <p:cNvSpPr/>
          <p:nvPr/>
        </p:nvSpPr>
        <p:spPr>
          <a:xfrm>
            <a:off x="10227733" y="2946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cfg"/>
          <p:cNvSpPr/>
          <p:nvPr/>
        </p:nvSpPr>
        <p:spPr>
          <a:xfrm>
            <a:off x="10227733" y="3200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config-C10"/>
          <p:cNvSpPr/>
          <p:nvPr/>
        </p:nvSpPr>
        <p:spPr>
          <a:xfrm>
            <a:off x="359833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g-badge-C10"/>
          <p:cNvSpPr/>
          <p:nvPr/>
        </p:nvSpPr>
        <p:spPr>
          <a:xfrm>
            <a:off x="383540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config-C11"/>
          <p:cNvSpPr/>
          <p:nvPr/>
        </p:nvSpPr>
        <p:spPr>
          <a:xfrm>
            <a:off x="2222500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g-badge-C11"/>
          <p:cNvSpPr/>
          <p:nvPr/>
        </p:nvSpPr>
        <p:spPr>
          <a:xfrm>
            <a:off x="2246207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config-C12"/>
          <p:cNvSpPr/>
          <p:nvPr/>
        </p:nvSpPr>
        <p:spPr>
          <a:xfrm>
            <a:off x="4085167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badge-C12"/>
          <p:cNvSpPr/>
          <p:nvPr/>
        </p:nvSpPr>
        <p:spPr>
          <a:xfrm>
            <a:off x="4108873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ont-F0"/>
          <p:cNvSpPr/>
          <p:nvPr/>
        </p:nvSpPr>
        <p:spPr>
          <a:xfrm>
            <a:off x="6441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ont-F1"/>
          <p:cNvSpPr/>
          <p:nvPr/>
        </p:nvSpPr>
        <p:spPr>
          <a:xfrm>
            <a:off x="7372773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ont-F2"/>
          <p:cNvSpPr/>
          <p:nvPr/>
        </p:nvSpPr>
        <p:spPr>
          <a:xfrm>
            <a:off x="8304107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ont-F3"/>
          <p:cNvSpPr/>
          <p:nvPr/>
        </p:nvSpPr>
        <p:spPr>
          <a:xfrm>
            <a:off x="9235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ont-adapt"/>
          <p:cNvSpPr/>
          <p:nvPr/>
        </p:nvSpPr>
        <p:spPr>
          <a:xfrm>
            <a:off x="6197600" y="4097867"/>
            <a:ext cx="3657600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compressor"/>
          <p:cNvSpPr/>
          <p:nvPr/>
        </p:nvSpPr>
        <p:spPr>
          <a:xfrm>
            <a:off x="6197600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decompressor"/>
          <p:cNvSpPr/>
          <p:nvPr/>
        </p:nvSpPr>
        <p:spPr>
          <a:xfrm>
            <a:off x="7128933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plain-bypass"/>
          <p:cNvSpPr/>
          <p:nvPr/>
        </p:nvSpPr>
        <p:spPr>
          <a:xfrm>
            <a:off x="8060267" y="4402667"/>
            <a:ext cx="8636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metadata"/>
          <p:cNvSpPr/>
          <p:nvPr/>
        </p:nvSpPr>
        <p:spPr>
          <a:xfrm>
            <a:off x="8991600" y="4402667"/>
            <a:ext cx="863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front-route"/>
          <p:cNvSpPr/>
          <p:nvPr/>
        </p:nvSpPr>
        <p:spPr>
          <a:xfrm>
            <a:off x="6197600" y="4910667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badge-C12"/>
          <p:cNvSpPr/>
          <p:nvPr/>
        </p:nvSpPr>
        <p:spPr>
          <a:xfrm>
            <a:off x="9652000" y="399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ddr-S0"/>
          <p:cNvSpPr/>
          <p:nvPr/>
        </p:nvSpPr>
        <p:spPr>
          <a:xfrm>
            <a:off x="6441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ddr-S1"/>
          <p:cNvSpPr/>
          <p:nvPr/>
        </p:nvSpPr>
        <p:spPr>
          <a:xfrm>
            <a:off x="7372773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ddr-S2"/>
          <p:cNvSpPr/>
          <p:nvPr/>
        </p:nvSpPr>
        <p:spPr>
          <a:xfrm>
            <a:off x="8304107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ddr-S3"/>
          <p:cNvSpPr/>
          <p:nvPr/>
        </p:nvSpPr>
        <p:spPr>
          <a:xfrm>
            <a:off x="9235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oi-scheduler"/>
          <p:cNvSpPr/>
          <p:nvPr/>
        </p:nvSpPr>
        <p:spPr>
          <a:xfrm>
            <a:off x="10261600" y="41148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oi-vdma"/>
          <p:cNvSpPr/>
          <p:nvPr/>
        </p:nvSpPr>
        <p:spPr>
          <a:xfrm>
            <a:off x="10261600" y="44704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oi-fifo"/>
          <p:cNvSpPr/>
          <p:nvPr/>
        </p:nvSpPr>
        <p:spPr>
          <a:xfrm>
            <a:off x="10261600" y="48260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lvds-tx"/>
          <p:cNvSpPr/>
          <p:nvPr/>
        </p:nvSpPr>
        <p:spPr>
          <a:xfrm>
            <a:off x="10261600" y="51816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11"/>
          <p:cNvSpPr/>
          <p:nvPr/>
        </p:nvSpPr>
        <p:spPr>
          <a:xfrm>
            <a:off x="11006667" y="546946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onfig-C1"/>
          <p:cNvSpPr/>
          <p:nvPr/>
        </p:nvSpPr>
        <p:spPr>
          <a:xfrm>
            <a:off x="2413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g-badge-C1"/>
          <p:cNvSpPr/>
          <p:nvPr/>
        </p:nvSpPr>
        <p:spPr>
          <a:xfrm>
            <a:off x="2683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config-C2"/>
          <p:cNvSpPr/>
          <p:nvPr/>
        </p:nvSpPr>
        <p:spPr>
          <a:xfrm>
            <a:off x="14774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g-badge-C2"/>
          <p:cNvSpPr/>
          <p:nvPr/>
        </p:nvSpPr>
        <p:spPr>
          <a:xfrm>
            <a:off x="15045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nfig-C3"/>
          <p:cNvSpPr/>
          <p:nvPr/>
        </p:nvSpPr>
        <p:spPr>
          <a:xfrm>
            <a:off x="27135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g-badge-C3"/>
          <p:cNvSpPr/>
          <p:nvPr/>
        </p:nvSpPr>
        <p:spPr>
          <a:xfrm>
            <a:off x="27406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config-C4"/>
          <p:cNvSpPr/>
          <p:nvPr/>
        </p:nvSpPr>
        <p:spPr>
          <a:xfrm>
            <a:off x="39497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g-badge-C4"/>
          <p:cNvSpPr/>
          <p:nvPr/>
        </p:nvSpPr>
        <p:spPr>
          <a:xfrm>
            <a:off x="39767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nfig-C5"/>
          <p:cNvSpPr/>
          <p:nvPr/>
        </p:nvSpPr>
        <p:spPr>
          <a:xfrm>
            <a:off x="51858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g-badge-C5"/>
          <p:cNvSpPr/>
          <p:nvPr/>
        </p:nvSpPr>
        <p:spPr>
          <a:xfrm>
            <a:off x="52129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config-C6"/>
          <p:cNvSpPr/>
          <p:nvPr/>
        </p:nvSpPr>
        <p:spPr>
          <a:xfrm>
            <a:off x="64219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g-badge-C6"/>
          <p:cNvSpPr/>
          <p:nvPr/>
        </p:nvSpPr>
        <p:spPr>
          <a:xfrm>
            <a:off x="64490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config-C7"/>
          <p:cNvSpPr/>
          <p:nvPr/>
        </p:nvSpPr>
        <p:spPr>
          <a:xfrm>
            <a:off x="76581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g-badge-C7"/>
          <p:cNvSpPr/>
          <p:nvPr/>
        </p:nvSpPr>
        <p:spPr>
          <a:xfrm>
            <a:off x="76851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config-C8"/>
          <p:cNvSpPr/>
          <p:nvPr/>
        </p:nvSpPr>
        <p:spPr>
          <a:xfrm>
            <a:off x="88942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g-badge-C8"/>
          <p:cNvSpPr/>
          <p:nvPr/>
        </p:nvSpPr>
        <p:spPr>
          <a:xfrm>
            <a:off x="89213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config-C9"/>
          <p:cNvSpPr/>
          <p:nvPr/>
        </p:nvSpPr>
        <p:spPr>
          <a:xfrm>
            <a:off x="101303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g-badge-C9"/>
          <p:cNvSpPr/>
          <p:nvPr/>
        </p:nvSpPr>
        <p:spPr>
          <a:xfrm>
            <a:off x="101574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68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69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0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1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2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3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74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75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76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77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78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79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0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1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2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3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84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85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86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87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88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89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0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1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2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3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294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295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296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297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298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299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0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1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2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3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04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05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06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07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08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09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10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11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12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13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4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5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16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17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18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19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20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21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22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23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24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25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26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27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28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29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30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31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32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33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34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35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36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37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38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39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40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41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42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43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44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45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46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47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48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49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50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51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52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53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54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55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56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57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58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59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60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61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62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63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64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65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66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367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68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369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70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371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72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373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74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375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76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377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78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379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80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381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82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383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384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385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386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387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388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389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390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391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392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393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394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395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396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397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398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399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00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01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02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03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04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05" name="config-C10-t0: eMMC 配置 / 状态"/>
          <p:cNvSpPr txBox="1"/>
          <p:nvPr/>
        </p:nvSpPr>
        <p:spPr>
          <a:xfrm>
            <a:off x="738338" y="5558197"/>
            <a:ext cx="93632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配置 / 状态</a:t>
            </a:r>
          </a:p>
        </p:txBody>
      </p:sp>
      <p:sp>
        <p:nvSpPr>
          <p:cNvPr id="406" name="config-C10-t1: DMA / 完成与错误"/>
          <p:cNvSpPr txBox="1"/>
          <p:nvPr/>
        </p:nvSpPr>
        <p:spPr>
          <a:xfrm>
            <a:off x="803336" y="5682014"/>
            <a:ext cx="80632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完成与错误</a:t>
            </a:r>
          </a:p>
        </p:txBody>
      </p:sp>
      <p:sp>
        <p:nvSpPr>
          <p:cNvPr id="407" name="reg-badge-C10-text: C10"/>
          <p:cNvSpPr txBox="1"/>
          <p:nvPr/>
        </p:nvSpPr>
        <p:spPr>
          <a:xfrm>
            <a:off x="373065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08" name="config-C11-t0: ROI / VDMA / LVDS TX"/>
          <p:cNvSpPr txBox="1"/>
          <p:nvPr/>
        </p:nvSpPr>
        <p:spPr>
          <a:xfrm>
            <a:off x="2507787" y="5558197"/>
            <a:ext cx="11227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/ VDMA / LVDS TX</a:t>
            </a:r>
          </a:p>
        </p:txBody>
      </p:sp>
      <p:sp>
        <p:nvSpPr>
          <p:cNvPr id="409" name="config-C11-t1: 任务表 / 完成与错误"/>
          <p:cNvSpPr txBox="1"/>
          <p:nvPr/>
        </p:nvSpPr>
        <p:spPr>
          <a:xfrm>
            <a:off x="2623653" y="5682014"/>
            <a:ext cx="8910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任务表 / 完成与错误</a:t>
            </a:r>
          </a:p>
        </p:txBody>
      </p:sp>
      <p:sp>
        <p:nvSpPr>
          <p:cNvPr id="410" name="reg-badge-C11-text: C11"/>
          <p:cNvSpPr txBox="1"/>
          <p:nvPr/>
        </p:nvSpPr>
        <p:spPr>
          <a:xfrm>
            <a:off x="2235732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11" name="config-C12-t0: 压缩存储前端配置"/>
          <p:cNvSpPr txBox="1"/>
          <p:nvPr/>
        </p:nvSpPr>
        <p:spPr>
          <a:xfrm>
            <a:off x="4474633" y="5558197"/>
            <a:ext cx="914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压缩存储前端配置</a:t>
            </a:r>
          </a:p>
        </p:txBody>
      </p:sp>
      <p:sp>
        <p:nvSpPr>
          <p:cNvPr id="412" name="config-C12-t1: 区域 / 状态 / 错误"/>
          <p:cNvSpPr txBox="1"/>
          <p:nvPr/>
        </p:nvSpPr>
        <p:spPr>
          <a:xfrm>
            <a:off x="4525100" y="5682014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区域 / 状态 / 错误</a:t>
            </a:r>
          </a:p>
        </p:txBody>
      </p:sp>
      <p:sp>
        <p:nvSpPr>
          <p:cNvPr id="413" name="reg-badge-C12-text: C12"/>
          <p:cNvSpPr txBox="1"/>
          <p:nvPr/>
        </p:nvSpPr>
        <p:spPr>
          <a:xfrm>
            <a:off x="4098398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14" name="front-F0-t0: F0"/>
          <p:cNvSpPr txBox="1"/>
          <p:nvPr/>
        </p:nvSpPr>
        <p:spPr>
          <a:xfrm>
            <a:off x="6524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5" name="front-F1-t0: F1"/>
          <p:cNvSpPr txBox="1"/>
          <p:nvPr/>
        </p:nvSpPr>
        <p:spPr>
          <a:xfrm>
            <a:off x="7456120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16" name="front-F2-t0: F2"/>
          <p:cNvSpPr txBox="1"/>
          <p:nvPr/>
        </p:nvSpPr>
        <p:spPr>
          <a:xfrm>
            <a:off x="8387453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17" name="front-F3-t0: F3"/>
          <p:cNvSpPr txBox="1"/>
          <p:nvPr/>
        </p:nvSpPr>
        <p:spPr>
          <a:xfrm>
            <a:off x="9318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18" name="front-adapt-t0: 共享压缩存储前端 · 四口适配 / 区域选择"/>
          <p:cNvSpPr txBox="1"/>
          <p:nvPr/>
        </p:nvSpPr>
        <p:spPr>
          <a:xfrm>
            <a:off x="7063335" y="4124283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四口适配 / 区域选择</a:t>
            </a:r>
          </a:p>
        </p:txBody>
      </p:sp>
      <p:sp>
        <p:nvSpPr>
          <p:cNvPr id="419" name="compressor-t0: 四口共享压缩器"/>
          <p:cNvSpPr txBox="1"/>
          <p:nvPr/>
        </p:nvSpPr>
        <p:spPr>
          <a:xfrm>
            <a:off x="6223000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0" name="compressor-t1: 写 W ↓ · 无损按块"/>
          <p:cNvSpPr txBox="1"/>
          <p:nvPr/>
        </p:nvSpPr>
        <p:spPr>
          <a:xfrm>
            <a:off x="6221807" y="4601667"/>
            <a:ext cx="8151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W ↓ · 无损按块</a:t>
            </a:r>
          </a:p>
        </p:txBody>
      </p:sp>
      <p:sp>
        <p:nvSpPr>
          <p:cNvPr id="421" name="decompressor-t0: 四口共享解压器"/>
          <p:cNvSpPr txBox="1"/>
          <p:nvPr/>
        </p:nvSpPr>
        <p:spPr>
          <a:xfrm>
            <a:off x="7154333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2" name="decompressor-t1: 读 R ↑ · 独立解码"/>
          <p:cNvSpPr txBox="1"/>
          <p:nvPr/>
        </p:nvSpPr>
        <p:spPr>
          <a:xfrm>
            <a:off x="7161953" y="4601667"/>
            <a:ext cx="7975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R ↑ · 独立解码</a:t>
            </a:r>
          </a:p>
        </p:txBody>
      </p:sp>
      <p:sp>
        <p:nvSpPr>
          <p:cNvPr id="423" name="plain-bypass-t0: 普通数据旁路"/>
          <p:cNvSpPr txBox="1"/>
          <p:nvPr/>
        </p:nvSpPr>
        <p:spPr>
          <a:xfrm>
            <a:off x="8136467" y="4477851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24" name="plain-bypass-t1: 未压缩区域 · 读写"/>
          <p:cNvSpPr txBox="1"/>
          <p:nvPr/>
        </p:nvSpPr>
        <p:spPr>
          <a:xfrm>
            <a:off x="8102920" y="4601667"/>
            <a:ext cx="778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 · 读写</a:t>
            </a:r>
          </a:p>
        </p:txBody>
      </p:sp>
      <p:sp>
        <p:nvSpPr>
          <p:cNvPr id="425" name="metadata-t0: 块地址 / 元数据"/>
          <p:cNvSpPr txBox="1"/>
          <p:nvPr/>
        </p:nvSpPr>
        <p:spPr>
          <a:xfrm>
            <a:off x="9010949" y="4477851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26" name="metadata-t1: 格式 / 长度 / 状态"/>
          <p:cNvSpPr txBox="1"/>
          <p:nvPr/>
        </p:nvSpPr>
        <p:spPr>
          <a:xfrm>
            <a:off x="9016667" y="4601667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27" name="front-route-t0: 端口 / 返回路由 · F0↔S0，F1↔S1，F2↔S2，F3↔S3"/>
          <p:cNvSpPr txBox="1"/>
          <p:nvPr/>
        </p:nvSpPr>
        <p:spPr>
          <a:xfrm>
            <a:off x="6833971" y="4925162"/>
            <a:ext cx="23848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返回路由 · F0↔S0，F1↔S1，F2↔S2，F3↔S3</a:t>
            </a:r>
          </a:p>
        </p:txBody>
      </p:sp>
      <p:sp>
        <p:nvSpPr>
          <p:cNvPr id="428" name="badge-C12-text: C12"/>
          <p:cNvSpPr txBox="1"/>
          <p:nvPr/>
        </p:nvSpPr>
        <p:spPr>
          <a:xfrm>
            <a:off x="9641525" y="3983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29" name="ddr-S0-t0: S0"/>
          <p:cNvSpPr txBox="1"/>
          <p:nvPr/>
        </p:nvSpPr>
        <p:spPr>
          <a:xfrm>
            <a:off x="6519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0" name="ddr-S1-t0: S1"/>
          <p:cNvSpPr txBox="1"/>
          <p:nvPr/>
        </p:nvSpPr>
        <p:spPr>
          <a:xfrm>
            <a:off x="7450799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1" name="ddr-S2-t0: S2"/>
          <p:cNvSpPr txBox="1"/>
          <p:nvPr/>
        </p:nvSpPr>
        <p:spPr>
          <a:xfrm>
            <a:off x="8382132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2" name="ddr-S3-t0: S3"/>
          <p:cNvSpPr txBox="1"/>
          <p:nvPr/>
        </p:nvSpPr>
        <p:spPr>
          <a:xfrm>
            <a:off x="9313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33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34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35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36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37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38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39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0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1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2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43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44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45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46" name="roi-scheduler-t0: ROI 任务表"/>
          <p:cNvSpPr txBox="1"/>
          <p:nvPr/>
        </p:nvSpPr>
        <p:spPr>
          <a:xfrm>
            <a:off x="10405300" y="4122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447" name="roi-scheduler-t1: 顺序调度"/>
          <p:cNvSpPr txBox="1"/>
          <p:nvPr/>
        </p:nvSpPr>
        <p:spPr>
          <a:xfrm>
            <a:off x="10481733" y="4246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448" name="roi-vdma-t0: 二维读 VDMA"/>
          <p:cNvSpPr txBox="1"/>
          <p:nvPr/>
        </p:nvSpPr>
        <p:spPr>
          <a:xfrm>
            <a:off x="10351476" y="44778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449" name="roi-vdma-t1: 起址 / 行跨度"/>
          <p:cNvSpPr txBox="1"/>
          <p:nvPr/>
        </p:nvSpPr>
        <p:spPr>
          <a:xfrm>
            <a:off x="10388433" y="46016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450" name="roi-fifo-t0: 像素整理"/>
          <p:cNvSpPr txBox="1"/>
          <p:nvPr/>
        </p:nvSpPr>
        <p:spPr>
          <a:xfrm>
            <a:off x="10447867" y="48334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451" name="roi-fifo-t1: 输出 FIFO"/>
          <p:cNvSpPr txBox="1"/>
          <p:nvPr/>
        </p:nvSpPr>
        <p:spPr>
          <a:xfrm>
            <a:off x="10473904" y="49572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452" name="lvds-tx-t0: LVDS TX"/>
          <p:cNvSpPr txBox="1"/>
          <p:nvPr/>
        </p:nvSpPr>
        <p:spPr>
          <a:xfrm>
            <a:off x="10464287" y="51890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453" name="lvds-tx-t1: 子图帧行封装"/>
          <p:cNvSpPr txBox="1"/>
          <p:nvPr/>
        </p:nvSpPr>
        <p:spPr>
          <a:xfrm>
            <a:off x="10393680" y="53128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454" name="badge-C11-text: C11"/>
          <p:cNvSpPr txBox="1"/>
          <p:nvPr/>
        </p:nvSpPr>
        <p:spPr>
          <a:xfrm>
            <a:off x="10996192" y="546039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55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6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57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58" name="config-C1-title: PLL / 时钟复位"/>
          <p:cNvSpPr txBox="1"/>
          <p:nvPr/>
        </p:nvSpPr>
        <p:spPr>
          <a:xfrm>
            <a:off x="477755" y="6392672"/>
            <a:ext cx="7801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459" name="config-C1-desc: 配置 / 锁定 / 切换"/>
          <p:cNvSpPr txBox="1"/>
          <p:nvPr/>
        </p:nvSpPr>
        <p:spPr>
          <a:xfrm>
            <a:off x="4018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sp>
        <p:nvSpPr>
          <p:cNvPr id="460" name="reg-badge-C1-text: C1"/>
          <p:cNvSpPr txBox="1"/>
          <p:nvPr/>
        </p:nvSpPr>
        <p:spPr>
          <a:xfrm>
            <a:off x="2792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1" name="config-C2-title: DDR Controller"/>
          <p:cNvSpPr txBox="1"/>
          <p:nvPr/>
        </p:nvSpPr>
        <p:spPr>
          <a:xfrm>
            <a:off x="1725546" y="6392672"/>
            <a:ext cx="75684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462" name="config-C2-desc: 初始化 / QoS / 状态"/>
          <p:cNvSpPr txBox="1"/>
          <p:nvPr/>
        </p:nvSpPr>
        <p:spPr>
          <a:xfrm>
            <a:off x="1601978" y="6542769"/>
            <a:ext cx="88544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sp>
        <p:nvSpPr>
          <p:cNvPr id="463" name="reg-badge-C2-text: C2"/>
          <p:cNvSpPr txBox="1"/>
          <p:nvPr/>
        </p:nvSpPr>
        <p:spPr>
          <a:xfrm>
            <a:off x="15153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4" name="config-C3-title: DDR PHY"/>
          <p:cNvSpPr txBox="1"/>
          <p:nvPr/>
        </p:nvSpPr>
        <p:spPr>
          <a:xfrm>
            <a:off x="3085306" y="639267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65" name="config-C3-desc: training / 校准"/>
          <p:cNvSpPr txBox="1"/>
          <p:nvPr/>
        </p:nvSpPr>
        <p:spPr>
          <a:xfrm>
            <a:off x="2957081" y="6542769"/>
            <a:ext cx="6475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sp>
        <p:nvSpPr>
          <p:cNvPr id="466" name="reg-badge-C3-text: C3"/>
          <p:cNvSpPr txBox="1"/>
          <p:nvPr/>
        </p:nvSpPr>
        <p:spPr>
          <a:xfrm>
            <a:off x="27515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7" name="config-C4-title: LVDS RX"/>
          <p:cNvSpPr txBox="1"/>
          <p:nvPr/>
        </p:nvSpPr>
        <p:spPr>
          <a:xfrm>
            <a:off x="4332600" y="6392672"/>
            <a:ext cx="4872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</a:t>
            </a:r>
          </a:p>
        </p:txBody>
      </p:sp>
      <p:sp>
        <p:nvSpPr>
          <p:cNvPr id="468" name="config-C4-desc: 通道 / 对齐 / 帧行"/>
          <p:cNvSpPr txBox="1"/>
          <p:nvPr/>
        </p:nvSpPr>
        <p:spPr>
          <a:xfrm>
            <a:off x="41102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sp>
        <p:nvSpPr>
          <p:cNvPr id="469" name="reg-badge-C4-text: C4"/>
          <p:cNvSpPr txBox="1"/>
          <p:nvPr/>
        </p:nvSpPr>
        <p:spPr>
          <a:xfrm>
            <a:off x="39876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0" name="config-C5-title: ISP"/>
          <p:cNvSpPr txBox="1"/>
          <p:nvPr/>
        </p:nvSpPr>
        <p:spPr>
          <a:xfrm>
            <a:off x="5688489" y="6392672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1" name="config-C5-desc: 尺寸 / 模式 / 参数"/>
          <p:cNvSpPr txBox="1"/>
          <p:nvPr/>
        </p:nvSpPr>
        <p:spPr>
          <a:xfrm>
            <a:off x="5346367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sp>
        <p:nvSpPr>
          <p:cNvPr id="472" name="reg-badge-C5-text: C5"/>
          <p:cNvSpPr txBox="1"/>
          <p:nvPr/>
        </p:nvSpPr>
        <p:spPr>
          <a:xfrm>
            <a:off x="52237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3" name="config-C6-title: NPU 计算"/>
          <p:cNvSpPr txBox="1"/>
          <p:nvPr/>
        </p:nvSpPr>
        <p:spPr>
          <a:xfrm>
            <a:off x="6786465" y="6392672"/>
            <a:ext cx="5240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474" name="config-C6-desc: 命令 / GB 数据位置"/>
          <p:cNvSpPr txBox="1"/>
          <p:nvPr/>
        </p:nvSpPr>
        <p:spPr>
          <a:xfrm>
            <a:off x="6562291" y="6542769"/>
            <a:ext cx="85388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64599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7-title: NPU / GB 搬运"/>
          <p:cNvSpPr txBox="1"/>
          <p:nvPr/>
        </p:nvSpPr>
        <p:spPr>
          <a:xfrm>
            <a:off x="7900808" y="6392672"/>
            <a:ext cx="7676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477" name="config-C7-desc: 地址 / 长度 / stride"/>
          <p:cNvSpPr txBox="1"/>
          <p:nvPr/>
        </p:nvSpPr>
        <p:spPr>
          <a:xfrm>
            <a:off x="7797694" y="6542769"/>
            <a:ext cx="8553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76960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8-title: 帧写入 DMA"/>
          <p:cNvSpPr txBox="1"/>
          <p:nvPr/>
        </p:nvSpPr>
        <p:spPr>
          <a:xfrm>
            <a:off x="9198803" y="6392672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480" name="config-C8-desc: 缓冲区 / 格式 / 帧状态"/>
          <p:cNvSpPr txBox="1"/>
          <p:nvPr/>
        </p:nvSpPr>
        <p:spPr>
          <a:xfrm>
            <a:off x="8966713" y="6542769"/>
            <a:ext cx="9895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89321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9-title: GB 管理"/>
          <p:cNvSpPr txBox="1"/>
          <p:nvPr/>
        </p:nvSpPr>
        <p:spPr>
          <a:xfrm>
            <a:off x="10524331" y="6392672"/>
            <a:ext cx="4651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483" name="config-C9-desc: 能力 / bank / 错误"/>
          <p:cNvSpPr txBox="1"/>
          <p:nvPr/>
        </p:nvSpPr>
        <p:spPr>
          <a:xfrm>
            <a:off x="10285741" y="6542769"/>
            <a:ext cx="8237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101683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legend-data-text: AXI 请求 / 返回"/>
          <p:cNvSpPr txBox="1"/>
          <p:nvPr/>
        </p:nvSpPr>
        <p:spPr>
          <a:xfrm>
            <a:off x="10528787" y="2377169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返回</a:t>
            </a:r>
          </a:p>
        </p:txBody>
      </p:sp>
      <p:sp>
        <p:nvSpPr>
          <p:cNvPr id="486" name="legend-gb-text: GB / 读返回"/>
          <p:cNvSpPr txBox="1"/>
          <p:nvPr/>
        </p:nvSpPr>
        <p:spPr>
          <a:xfrm>
            <a:off x="10589538" y="2631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/ 读返回</a:t>
            </a:r>
          </a:p>
        </p:txBody>
      </p:sp>
      <p:sp>
        <p:nvSpPr>
          <p:cNvPr id="487" name="legend-pixel-text: 像素 / eMMC"/>
          <p:cNvSpPr txBox="1"/>
          <p:nvPr/>
        </p:nvSpPr>
        <p:spPr>
          <a:xfrm>
            <a:off x="10566707" y="2885169"/>
            <a:ext cx="6089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 / eMMC</a:t>
            </a:r>
          </a:p>
        </p:txBody>
      </p:sp>
      <p:sp>
        <p:nvSpPr>
          <p:cNvPr id="488" name="legend-cfg-text: 配置 / 控制"/>
          <p:cNvSpPr txBox="1"/>
          <p:nvPr/>
        </p:nvSpPr>
        <p:spPr>
          <a:xfrm>
            <a:off x="10601793" y="313916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