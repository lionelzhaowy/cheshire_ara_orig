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801600" cy="72009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7200900"/>
          </a:xfrm>
          <a:prstGeom prst="rect">
            <a:avLst/>
          </a:prstGeom>
          <a:solidFill>
            <a:srgbClr val="F8FAFC"/>
          </a:solidFill>
          <a:ln w="13335" cap="flat">
            <a:solidFill>
              <a:srgbClr val="F8FAF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-002: DDR 互联候选结构：LVDS / ISP 旁路 + 共享 Global Buf"/>
          <p:cNvSpPr txBox="1"/>
          <p:nvPr/>
        </p:nvSpPr>
        <p:spPr>
          <a:xfrm>
            <a:off x="300038" y="135217"/>
            <a:ext cx="6456026" cy="3627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85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DDR 互联候选结构：LVDS / ISP 旁路 + 共享 Global Buffer</a:t>
            </a:r>
          </a:p>
        </p:txBody>
      </p:sp>
      <p:sp>
        <p:nvSpPr>
          <p:cNvPr id="4" name="text-003: Cheshire + CVA6 + Ara  |  保留 ISP / NPU 并"/>
          <p:cNvSpPr txBox="1"/>
          <p:nvPr/>
        </p:nvSpPr>
        <p:spPr>
          <a:xfrm>
            <a:off x="306705" y="475526"/>
            <a:ext cx="5906155" cy="2240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2" b="0" i="0">
                <a:solidFill>
                  <a:srgbClr val="5A6E82"/>
                </a:solidFill>
                <a:latin typeface="Microsoft YaHei"/>
                <a:ea typeface="Microsoft YaHei"/>
                <a:cs typeface="Microsoft YaHei"/>
              </a:rPr>
              <a:t>Cheshire + CVA6 + Ara  |  保留 ISP / NPU 并行能力  |  三口分组待评审，新增路径尚未实现</a:t>
            </a:r>
          </a:p>
        </p:txBody>
      </p:sp>
      <p:sp>
        <p:nvSpPr>
          <p:cNvPr id="5" name="rect-004"/>
          <p:cNvSpPr/>
          <p:nvPr/>
        </p:nvSpPr>
        <p:spPr>
          <a:xfrm>
            <a:off x="200025" y="833438"/>
            <a:ext cx="9501188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3335" cap="flat">
            <a:solidFill>
              <a:srgbClr val="D3DEE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-005"/>
          <p:cNvSpPr/>
          <p:nvPr/>
        </p:nvSpPr>
        <p:spPr>
          <a:xfrm>
            <a:off x="200025" y="2600325"/>
            <a:ext cx="9501188" cy="2166938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13335" cap="flat">
            <a:solidFill>
              <a:srgbClr val="D3DEE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-006"/>
          <p:cNvSpPr/>
          <p:nvPr/>
        </p:nvSpPr>
        <p:spPr>
          <a:xfrm>
            <a:off x="200025" y="4900612"/>
            <a:ext cx="9501188" cy="1300162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13335" cap="flat">
            <a:solidFill>
              <a:srgbClr val="D3DEE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-007: 01  现有系统主路径 + Ara 新增分流候选"/>
          <p:cNvSpPr txBox="1"/>
          <p:nvPr/>
        </p:nvSpPr>
        <p:spPr>
          <a:xfrm>
            <a:off x="320040" y="876643"/>
            <a:ext cx="2437044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1" i="0">
                <a:solidFill>
                  <a:srgbClr val="5A6E82"/>
                </a:solidFill>
                <a:latin typeface="Microsoft YaHei"/>
                <a:ea typeface="Microsoft YaHei"/>
                <a:cs typeface="Microsoft YaHei"/>
              </a:rPr>
              <a:t>01  现有系统主路径 + Ara 新增分流候选</a:t>
            </a:r>
          </a:p>
        </p:txBody>
      </p:sp>
      <p:sp>
        <p:nvSpPr>
          <p:cNvPr id="9" name="text-008: 02  独立 GB 存储域（新增）"/>
          <p:cNvSpPr txBox="1"/>
          <p:nvPr/>
        </p:nvSpPr>
        <p:spPr>
          <a:xfrm>
            <a:off x="320040" y="2650198"/>
            <a:ext cx="1757543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1" i="0">
                <a:solidFill>
                  <a:srgbClr val="187D78"/>
                </a:solidFill>
                <a:latin typeface="Microsoft YaHei"/>
                <a:ea typeface="Microsoft YaHei"/>
                <a:cs typeface="Microsoft YaHei"/>
              </a:rPr>
              <a:t>02  独立 GB 存储域（新增）</a:t>
            </a:r>
          </a:p>
        </p:txBody>
      </p:sp>
      <p:sp>
        <p:nvSpPr>
          <p:cNvPr id="10" name="text-009: 03  图像采集与帧写入（新增）"/>
          <p:cNvSpPr txBox="1"/>
          <p:nvPr/>
        </p:nvSpPr>
        <p:spPr>
          <a:xfrm>
            <a:off x="320040" y="4943818"/>
            <a:ext cx="1878589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1" i="0">
                <a:solidFill>
                  <a:srgbClr val="BE7127"/>
                </a:solidFill>
                <a:latin typeface="Microsoft YaHei"/>
                <a:ea typeface="Microsoft YaHei"/>
                <a:cs typeface="Microsoft YaHei"/>
              </a:rPr>
              <a:t>03  图像采集与帧写入（新增）</a:t>
            </a:r>
          </a:p>
        </p:txBody>
      </p:sp>
      <p:sp>
        <p:nvSpPr>
          <p:cNvPr id="11" name="rect-010"/>
          <p:cNvSpPr/>
          <p:nvPr/>
        </p:nvSpPr>
        <p:spPr>
          <a:xfrm>
            <a:off x="433388" y="1146810"/>
            <a:ext cx="966788" cy="440055"/>
          </a:xfrm>
          <a:prstGeom prst="roundRect">
            <a:avLst>
              <a:gd name="adj" fmla="val 18181"/>
            </a:avLst>
          </a:prstGeom>
          <a:solidFill>
            <a:srgbClr val="E8F1FA"/>
          </a:solidFill>
          <a:ln w="13335" cap="flat">
            <a:solidFill>
              <a:srgbClr val="3574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-011: CVA6"/>
          <p:cNvSpPr txBox="1"/>
          <p:nvPr/>
        </p:nvSpPr>
        <p:spPr>
          <a:xfrm>
            <a:off x="633058" y="1247889"/>
            <a:ext cx="567446" cy="2453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CVA6</a:t>
            </a:r>
          </a:p>
        </p:txBody>
      </p:sp>
      <p:sp>
        <p:nvSpPr>
          <p:cNvPr id="13" name="rect-012"/>
          <p:cNvSpPr/>
          <p:nvPr/>
        </p:nvSpPr>
        <p:spPr>
          <a:xfrm>
            <a:off x="433388" y="1813560"/>
            <a:ext cx="966788" cy="440055"/>
          </a:xfrm>
          <a:prstGeom prst="roundRect">
            <a:avLst>
              <a:gd name="adj" fmla="val 18181"/>
            </a:avLst>
          </a:prstGeom>
          <a:solidFill>
            <a:srgbClr val="E8F1FA"/>
          </a:solidFill>
          <a:ln w="13335" cap="flat">
            <a:solidFill>
              <a:srgbClr val="3574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013: Ara"/>
          <p:cNvSpPr txBox="1"/>
          <p:nvPr/>
        </p:nvSpPr>
        <p:spPr>
          <a:xfrm>
            <a:off x="705656" y="1914639"/>
            <a:ext cx="422251" cy="2453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Ara</a:t>
            </a:r>
          </a:p>
        </p:txBody>
      </p:sp>
      <p:sp>
        <p:nvSpPr>
          <p:cNvPr id="15" name="rect-014"/>
          <p:cNvSpPr/>
          <p:nvPr/>
        </p:nvSpPr>
        <p:spPr>
          <a:xfrm>
            <a:off x="1633538" y="1813560"/>
            <a:ext cx="966788" cy="440055"/>
          </a:xfrm>
          <a:prstGeom prst="roundRect">
            <a:avLst>
              <a:gd name="adj" fmla="val 18181"/>
            </a:avLst>
          </a:prstGeom>
          <a:solidFill>
            <a:srgbClr val="E8F1FA"/>
          </a:solidFill>
          <a:ln w="13335" cap="flat">
            <a:solidFill>
              <a:srgbClr val="3574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015: 失效过滤"/>
          <p:cNvSpPr txBox="1"/>
          <p:nvPr/>
        </p:nvSpPr>
        <p:spPr>
          <a:xfrm>
            <a:off x="1733550" y="1817961"/>
            <a:ext cx="766762" cy="2453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17" name="text-016: 现有 filter"/>
          <p:cNvSpPr txBox="1"/>
          <p:nvPr/>
        </p:nvSpPr>
        <p:spPr>
          <a:xfrm>
            <a:off x="1769299" y="2040122"/>
            <a:ext cx="695264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18" name="rect-017"/>
          <p:cNvSpPr/>
          <p:nvPr/>
        </p:nvSpPr>
        <p:spPr>
          <a:xfrm>
            <a:off x="2833688" y="1813560"/>
            <a:ext cx="900112" cy="440055"/>
          </a:xfrm>
          <a:prstGeom prst="roundRect">
            <a:avLst>
              <a:gd name="adj" fmla="val 18181"/>
            </a:avLst>
          </a:prstGeom>
          <a:solidFill>
            <a:srgbClr val="F1EAF8"/>
          </a:solidFill>
          <a:ln w="13335" cap="flat">
            <a:solidFill>
              <a:srgbClr val="7955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018: 地址分流"/>
          <p:cNvSpPr txBox="1"/>
          <p:nvPr/>
        </p:nvSpPr>
        <p:spPr>
          <a:xfrm>
            <a:off x="2900362" y="1817961"/>
            <a:ext cx="766762" cy="2453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地址分流</a:t>
            </a:r>
          </a:p>
        </p:txBody>
      </p:sp>
      <p:sp>
        <p:nvSpPr>
          <p:cNvPr id="20" name="text-019: 拟新增"/>
          <p:cNvSpPr txBox="1"/>
          <p:nvPr/>
        </p:nvSpPr>
        <p:spPr>
          <a:xfrm>
            <a:off x="3030379" y="2040122"/>
            <a:ext cx="506730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拟新增</a:t>
            </a:r>
          </a:p>
        </p:txBody>
      </p:sp>
      <p:sp>
        <p:nvSpPr>
          <p:cNvPr id="21" name="rect-020"/>
          <p:cNvSpPr/>
          <p:nvPr/>
        </p:nvSpPr>
        <p:spPr>
          <a:xfrm>
            <a:off x="3967162" y="1813560"/>
            <a:ext cx="933450" cy="440055"/>
          </a:xfrm>
          <a:prstGeom prst="roundRect">
            <a:avLst>
              <a:gd name="adj" fmla="val 18181"/>
            </a:avLst>
          </a:prstGeom>
          <a:solidFill>
            <a:srgbClr val="E8F1FA"/>
          </a:solidFill>
          <a:ln w="13335" cap="flat">
            <a:solidFill>
              <a:srgbClr val="3574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1: 位宽转换"/>
          <p:cNvSpPr txBox="1"/>
          <p:nvPr/>
        </p:nvSpPr>
        <p:spPr>
          <a:xfrm>
            <a:off x="4050506" y="1817961"/>
            <a:ext cx="766762" cy="2453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位宽转换</a:t>
            </a:r>
          </a:p>
        </p:txBody>
      </p:sp>
      <p:sp>
        <p:nvSpPr>
          <p:cNvPr id="23" name="text-022: 现有转换器"/>
          <p:cNvSpPr txBox="1"/>
          <p:nvPr/>
        </p:nvSpPr>
        <p:spPr>
          <a:xfrm>
            <a:off x="4053840" y="2040122"/>
            <a:ext cx="760095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现有转换器</a:t>
            </a:r>
          </a:p>
        </p:txBody>
      </p:sp>
      <p:sp>
        <p:nvSpPr>
          <p:cNvPr id="24" name="rect-023"/>
          <p:cNvSpPr/>
          <p:nvPr/>
        </p:nvSpPr>
        <p:spPr>
          <a:xfrm>
            <a:off x="5100638" y="1233488"/>
            <a:ext cx="1166812" cy="766762"/>
          </a:xfrm>
          <a:prstGeom prst="roundRect">
            <a:avLst>
              <a:gd name="adj" fmla="val 10434"/>
            </a:avLst>
          </a:prstGeom>
          <a:solidFill>
            <a:srgbClr val="E8F1FA"/>
          </a:solidFill>
          <a:ln w="13335" cap="flat">
            <a:solidFill>
              <a:srgbClr val="3574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-024: 主 AXI Xbar"/>
          <p:cNvSpPr txBox="1"/>
          <p:nvPr/>
        </p:nvSpPr>
        <p:spPr>
          <a:xfrm>
            <a:off x="5167297" y="1401242"/>
            <a:ext cx="1033494" cy="2453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主 AXI Xbar</a:t>
            </a:r>
          </a:p>
        </p:txBody>
      </p:sp>
      <p:sp>
        <p:nvSpPr>
          <p:cNvPr id="26" name="text-025: 系统 64-bit"/>
          <p:cNvSpPr txBox="1"/>
          <p:nvPr/>
        </p:nvSpPr>
        <p:spPr>
          <a:xfrm>
            <a:off x="5292677" y="1623403"/>
            <a:ext cx="782733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系统 64-bit</a:t>
            </a:r>
          </a:p>
        </p:txBody>
      </p:sp>
      <p:sp>
        <p:nvSpPr>
          <p:cNvPr id="27" name="rect-026"/>
          <p:cNvSpPr/>
          <p:nvPr/>
        </p:nvSpPr>
        <p:spPr>
          <a:xfrm>
            <a:off x="6500812" y="1300162"/>
            <a:ext cx="1066800" cy="633412"/>
          </a:xfrm>
          <a:prstGeom prst="roundRect">
            <a:avLst>
              <a:gd name="adj" fmla="val 12631"/>
            </a:avLst>
          </a:prstGeom>
          <a:solidFill>
            <a:srgbClr val="E8F1FA"/>
          </a:solidFill>
          <a:ln w="13335" cap="flat">
            <a:solidFill>
              <a:srgbClr val="3574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7: 原子适配"/>
          <p:cNvSpPr txBox="1"/>
          <p:nvPr/>
        </p:nvSpPr>
        <p:spPr>
          <a:xfrm>
            <a:off x="6650831" y="1401242"/>
            <a:ext cx="766762" cy="2453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29" name="text-028: AMO / LRSC"/>
          <p:cNvSpPr txBox="1"/>
          <p:nvPr/>
        </p:nvSpPr>
        <p:spPr>
          <a:xfrm>
            <a:off x="6595470" y="1623403"/>
            <a:ext cx="877485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30" name="rect-029"/>
          <p:cNvSpPr/>
          <p:nvPr/>
        </p:nvSpPr>
        <p:spPr>
          <a:xfrm>
            <a:off x="7800975" y="1300162"/>
            <a:ext cx="1500188" cy="633412"/>
          </a:xfrm>
          <a:prstGeom prst="roundRect">
            <a:avLst>
              <a:gd name="adj" fmla="val 12631"/>
            </a:avLst>
          </a:prstGeom>
          <a:solidFill>
            <a:srgbClr val="E8F1FA"/>
          </a:solidFill>
          <a:ln w="13335" cap="flat">
            <a:solidFill>
              <a:srgbClr val="3574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30: LLC / SPM"/>
          <p:cNvSpPr txBox="1"/>
          <p:nvPr/>
        </p:nvSpPr>
        <p:spPr>
          <a:xfrm>
            <a:off x="8083750" y="1401242"/>
            <a:ext cx="934638" cy="2453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32" name="text-031: 保留，不等于 GB"/>
          <p:cNvSpPr txBox="1"/>
          <p:nvPr/>
        </p:nvSpPr>
        <p:spPr>
          <a:xfrm>
            <a:off x="8002089" y="1623403"/>
            <a:ext cx="1097960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保留，不等于 GB</a:t>
            </a:r>
          </a:p>
        </p:txBody>
      </p:sp>
      <p:sp>
        <p:nvSpPr>
          <p:cNvPr id="33" name="polyline-032"/>
          <p:cNvSpPr/>
          <p:nvPr/>
        </p:nvSpPr>
        <p:spPr>
          <a:xfrm>
            <a:off x="1400175" y="1366838"/>
            <a:ext cx="3700462" cy="1"/>
          </a:xfrm>
          <a:custGeom>
            <a:avLst/>
            <a:gdLst/>
            <a:ahLst/>
            <a:cxnLst/>
            <a:rect l="0" t="0" r="r" b="b"/>
            <a:pathLst>
              <a:path w="3700462" h="1">
                <a:moveTo>
                  <a:pt x="0" y="0"/>
                </a:moveTo>
                <a:lnTo>
                  <a:pt x="3700462" y="0"/>
                </a:lnTo>
              </a:path>
            </a:pathLst>
          </a:custGeom>
          <a:noFill/>
          <a:ln w="20002" cap="flat">
            <a:solidFill>
              <a:srgbClr val="3574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polygon-033"/>
          <p:cNvSpPr/>
          <p:nvPr/>
        </p:nvSpPr>
        <p:spPr>
          <a:xfrm>
            <a:off x="5027295" y="1333500"/>
            <a:ext cx="73342" cy="66675"/>
          </a:xfrm>
          <a:custGeom>
            <a:avLst/>
            <a:gdLst/>
            <a:ahLst/>
            <a:cxnLst/>
            <a:rect l="0" t="0" r="r" b="b"/>
            <a:pathLst>
              <a:path w="73342" h="66675">
                <a:moveTo>
                  <a:pt x="73342" y="33338"/>
                </a:moveTo>
                <a:lnTo>
                  <a:pt x="0" y="0"/>
                </a:lnTo>
                <a:lnTo>
                  <a:pt x="0" y="66675"/>
                </a:lnTo>
                <a:close/>
              </a:path>
            </a:pathLst>
          </a:custGeom>
          <a:solidFill>
            <a:srgbClr val="3574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polyline-034"/>
          <p:cNvSpPr/>
          <p:nvPr/>
        </p:nvSpPr>
        <p:spPr>
          <a:xfrm>
            <a:off x="1400175" y="2033588"/>
            <a:ext cx="233362" cy="1"/>
          </a:xfrm>
          <a:custGeom>
            <a:avLst/>
            <a:gdLst/>
            <a:ahLst/>
            <a:cxnLst/>
            <a:rect l="0" t="0" r="r" b="b"/>
            <a:pathLst>
              <a:path w="233362" h="1">
                <a:moveTo>
                  <a:pt x="0" y="0"/>
                </a:moveTo>
                <a:lnTo>
                  <a:pt x="233362" y="0"/>
                </a:lnTo>
              </a:path>
            </a:pathLst>
          </a:custGeom>
          <a:noFill/>
          <a:ln w="20002" cap="flat">
            <a:solidFill>
              <a:srgbClr val="3574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polygon-035"/>
          <p:cNvSpPr/>
          <p:nvPr/>
        </p:nvSpPr>
        <p:spPr>
          <a:xfrm>
            <a:off x="1560195" y="2000250"/>
            <a:ext cx="73342" cy="66675"/>
          </a:xfrm>
          <a:custGeom>
            <a:avLst/>
            <a:gdLst/>
            <a:ahLst/>
            <a:cxnLst/>
            <a:rect l="0" t="0" r="r" b="b"/>
            <a:pathLst>
              <a:path w="73342" h="66675">
                <a:moveTo>
                  <a:pt x="73342" y="33338"/>
                </a:moveTo>
                <a:lnTo>
                  <a:pt x="0" y="0"/>
                </a:lnTo>
                <a:lnTo>
                  <a:pt x="0" y="66675"/>
                </a:lnTo>
                <a:close/>
              </a:path>
            </a:pathLst>
          </a:custGeom>
          <a:solidFill>
            <a:srgbClr val="3574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polyline-036"/>
          <p:cNvSpPr/>
          <p:nvPr/>
        </p:nvSpPr>
        <p:spPr>
          <a:xfrm>
            <a:off x="2600325" y="2033588"/>
            <a:ext cx="233362" cy="1"/>
          </a:xfrm>
          <a:custGeom>
            <a:avLst/>
            <a:gdLst/>
            <a:ahLst/>
            <a:cxnLst/>
            <a:rect l="0" t="0" r="r" b="b"/>
            <a:pathLst>
              <a:path w="233362" h="1">
                <a:moveTo>
                  <a:pt x="0" y="0"/>
                </a:moveTo>
                <a:lnTo>
                  <a:pt x="233362" y="0"/>
                </a:lnTo>
              </a:path>
            </a:pathLst>
          </a:custGeom>
          <a:noFill/>
          <a:ln w="20002" cap="flat">
            <a:solidFill>
              <a:srgbClr val="3574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polygon-037"/>
          <p:cNvSpPr/>
          <p:nvPr/>
        </p:nvSpPr>
        <p:spPr>
          <a:xfrm>
            <a:off x="2760345" y="2000250"/>
            <a:ext cx="73342" cy="66675"/>
          </a:xfrm>
          <a:custGeom>
            <a:avLst/>
            <a:gdLst/>
            <a:ahLst/>
            <a:cxnLst/>
            <a:rect l="0" t="0" r="r" b="b"/>
            <a:pathLst>
              <a:path w="73342" h="66675">
                <a:moveTo>
                  <a:pt x="73342" y="33338"/>
                </a:moveTo>
                <a:lnTo>
                  <a:pt x="0" y="0"/>
                </a:lnTo>
                <a:lnTo>
                  <a:pt x="0" y="66675"/>
                </a:lnTo>
                <a:close/>
              </a:path>
            </a:pathLst>
          </a:custGeom>
          <a:solidFill>
            <a:srgbClr val="3574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polyline-038"/>
          <p:cNvSpPr/>
          <p:nvPr/>
        </p:nvSpPr>
        <p:spPr>
          <a:xfrm>
            <a:off x="3733800" y="2033588"/>
            <a:ext cx="233362" cy="1"/>
          </a:xfrm>
          <a:custGeom>
            <a:avLst/>
            <a:gdLst/>
            <a:ahLst/>
            <a:cxnLst/>
            <a:rect l="0" t="0" r="r" b="b"/>
            <a:pathLst>
              <a:path w="233362" h="1">
                <a:moveTo>
                  <a:pt x="0" y="0"/>
                </a:moveTo>
                <a:lnTo>
                  <a:pt x="233362" y="0"/>
                </a:lnTo>
              </a:path>
            </a:pathLst>
          </a:custGeom>
          <a:noFill/>
          <a:ln w="20002" cap="flat">
            <a:solidFill>
              <a:srgbClr val="3574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polygon-039"/>
          <p:cNvSpPr/>
          <p:nvPr/>
        </p:nvSpPr>
        <p:spPr>
          <a:xfrm>
            <a:off x="3893820" y="2000250"/>
            <a:ext cx="73342" cy="66675"/>
          </a:xfrm>
          <a:custGeom>
            <a:avLst/>
            <a:gdLst/>
            <a:ahLst/>
            <a:cxnLst/>
            <a:rect l="0" t="0" r="r" b="b"/>
            <a:pathLst>
              <a:path w="73342" h="66675">
                <a:moveTo>
                  <a:pt x="73342" y="33338"/>
                </a:moveTo>
                <a:lnTo>
                  <a:pt x="0" y="0"/>
                </a:lnTo>
                <a:lnTo>
                  <a:pt x="0" y="66675"/>
                </a:lnTo>
                <a:close/>
              </a:path>
            </a:pathLst>
          </a:custGeom>
          <a:solidFill>
            <a:srgbClr val="3574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polyline-040"/>
          <p:cNvSpPr/>
          <p:nvPr/>
        </p:nvSpPr>
        <p:spPr>
          <a:xfrm>
            <a:off x="4900612" y="1780222"/>
            <a:ext cx="200025" cy="253365"/>
          </a:xfrm>
          <a:custGeom>
            <a:avLst/>
            <a:gdLst/>
            <a:ahLst/>
            <a:cxnLst/>
            <a:rect l="0" t="0" r="r" b="b"/>
            <a:pathLst>
              <a:path w="200025" h="253365">
                <a:moveTo>
                  <a:pt x="0" y="253365"/>
                </a:moveTo>
                <a:lnTo>
                  <a:pt x="100012" y="253365"/>
                </a:lnTo>
                <a:lnTo>
                  <a:pt x="100012" y="0"/>
                </a:lnTo>
                <a:lnTo>
                  <a:pt x="200025" y="0"/>
                </a:lnTo>
              </a:path>
            </a:pathLst>
          </a:custGeom>
          <a:noFill/>
          <a:ln w="20002" cap="flat">
            <a:solidFill>
              <a:srgbClr val="3574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polygon-041"/>
          <p:cNvSpPr/>
          <p:nvPr/>
        </p:nvSpPr>
        <p:spPr>
          <a:xfrm>
            <a:off x="5027295" y="1746885"/>
            <a:ext cx="73342" cy="66675"/>
          </a:xfrm>
          <a:custGeom>
            <a:avLst/>
            <a:gdLst/>
            <a:ahLst/>
            <a:cxnLst/>
            <a:rect l="0" t="0" r="r" b="b"/>
            <a:pathLst>
              <a:path w="73342" h="66675">
                <a:moveTo>
                  <a:pt x="73342" y="33338"/>
                </a:moveTo>
                <a:lnTo>
                  <a:pt x="0" y="0"/>
                </a:lnTo>
                <a:lnTo>
                  <a:pt x="0" y="66675"/>
                </a:lnTo>
                <a:close/>
              </a:path>
            </a:pathLst>
          </a:custGeom>
          <a:solidFill>
            <a:srgbClr val="3574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polyline-042"/>
          <p:cNvSpPr/>
          <p:nvPr/>
        </p:nvSpPr>
        <p:spPr>
          <a:xfrm>
            <a:off x="6267450" y="1613535"/>
            <a:ext cx="233362" cy="1"/>
          </a:xfrm>
          <a:custGeom>
            <a:avLst/>
            <a:gdLst/>
            <a:ahLst/>
            <a:cxnLst/>
            <a:rect l="0" t="0" r="r" b="b"/>
            <a:pathLst>
              <a:path w="233362" h="1">
                <a:moveTo>
                  <a:pt x="0" y="0"/>
                </a:moveTo>
                <a:lnTo>
                  <a:pt x="233362" y="0"/>
                </a:lnTo>
              </a:path>
            </a:pathLst>
          </a:custGeom>
          <a:noFill/>
          <a:ln w="20002" cap="flat">
            <a:solidFill>
              <a:srgbClr val="3574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polygon-043"/>
          <p:cNvSpPr/>
          <p:nvPr/>
        </p:nvSpPr>
        <p:spPr>
          <a:xfrm>
            <a:off x="6427470" y="1580198"/>
            <a:ext cx="73342" cy="66675"/>
          </a:xfrm>
          <a:custGeom>
            <a:avLst/>
            <a:gdLst/>
            <a:ahLst/>
            <a:cxnLst/>
            <a:rect l="0" t="0" r="r" b="b"/>
            <a:pathLst>
              <a:path w="73342" h="66675">
                <a:moveTo>
                  <a:pt x="73342" y="33338"/>
                </a:moveTo>
                <a:lnTo>
                  <a:pt x="0" y="0"/>
                </a:lnTo>
                <a:lnTo>
                  <a:pt x="0" y="66675"/>
                </a:lnTo>
                <a:close/>
              </a:path>
            </a:pathLst>
          </a:custGeom>
          <a:solidFill>
            <a:srgbClr val="3574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polyline-044"/>
          <p:cNvSpPr/>
          <p:nvPr/>
        </p:nvSpPr>
        <p:spPr>
          <a:xfrm>
            <a:off x="7567612" y="1613535"/>
            <a:ext cx="233362" cy="1"/>
          </a:xfrm>
          <a:custGeom>
            <a:avLst/>
            <a:gdLst/>
            <a:ahLst/>
            <a:cxnLst/>
            <a:rect l="0" t="0" r="r" b="b"/>
            <a:pathLst>
              <a:path w="233362" h="1">
                <a:moveTo>
                  <a:pt x="0" y="0"/>
                </a:moveTo>
                <a:lnTo>
                  <a:pt x="233362" y="0"/>
                </a:lnTo>
              </a:path>
            </a:pathLst>
          </a:custGeom>
          <a:noFill/>
          <a:ln w="20002" cap="flat">
            <a:solidFill>
              <a:srgbClr val="3574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polygon-045"/>
          <p:cNvSpPr/>
          <p:nvPr/>
        </p:nvSpPr>
        <p:spPr>
          <a:xfrm>
            <a:off x="7727632" y="1580198"/>
            <a:ext cx="73342" cy="66675"/>
          </a:xfrm>
          <a:custGeom>
            <a:avLst/>
            <a:gdLst/>
            <a:ahLst/>
            <a:cxnLst/>
            <a:rect l="0" t="0" r="r" b="b"/>
            <a:pathLst>
              <a:path w="73342" h="66675">
                <a:moveTo>
                  <a:pt x="73342" y="33338"/>
                </a:moveTo>
                <a:lnTo>
                  <a:pt x="0" y="0"/>
                </a:lnTo>
                <a:lnTo>
                  <a:pt x="0" y="66675"/>
                </a:lnTo>
                <a:close/>
              </a:path>
            </a:pathLst>
          </a:custGeom>
          <a:solidFill>
            <a:srgbClr val="3574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polyline-046"/>
          <p:cNvSpPr/>
          <p:nvPr/>
        </p:nvSpPr>
        <p:spPr>
          <a:xfrm>
            <a:off x="9301162" y="1613535"/>
            <a:ext cx="766762" cy="1"/>
          </a:xfrm>
          <a:custGeom>
            <a:avLst/>
            <a:gdLst/>
            <a:ahLst/>
            <a:cxnLst/>
            <a:rect l="0" t="0" r="r" b="b"/>
            <a:pathLst>
              <a:path w="766762" h="1">
                <a:moveTo>
                  <a:pt x="0" y="0"/>
                </a:moveTo>
                <a:lnTo>
                  <a:pt x="766762" y="0"/>
                </a:lnTo>
              </a:path>
            </a:pathLst>
          </a:custGeom>
          <a:noFill/>
          <a:ln w="20002" cap="flat">
            <a:solidFill>
              <a:srgbClr val="3574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polygon-047"/>
          <p:cNvSpPr/>
          <p:nvPr/>
        </p:nvSpPr>
        <p:spPr>
          <a:xfrm>
            <a:off x="9994582" y="1580198"/>
            <a:ext cx="73342" cy="66675"/>
          </a:xfrm>
          <a:custGeom>
            <a:avLst/>
            <a:gdLst/>
            <a:ahLst/>
            <a:cxnLst/>
            <a:rect l="0" t="0" r="r" b="b"/>
            <a:pathLst>
              <a:path w="73342" h="66675">
                <a:moveTo>
                  <a:pt x="73342" y="33338"/>
                </a:moveTo>
                <a:lnTo>
                  <a:pt x="0" y="0"/>
                </a:lnTo>
                <a:lnTo>
                  <a:pt x="0" y="66675"/>
                </a:lnTo>
                <a:close/>
              </a:path>
            </a:pathLst>
          </a:custGeom>
          <a:solidFill>
            <a:srgbClr val="3574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8: 普通地址"/>
          <p:cNvSpPr txBox="1"/>
          <p:nvPr/>
        </p:nvSpPr>
        <p:spPr>
          <a:xfrm>
            <a:off x="3967162" y="1604467"/>
            <a:ext cx="566738" cy="1813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2" b="0" i="0">
                <a:solidFill>
                  <a:srgbClr val="3574A8"/>
                </a:solidFill>
                <a:latin typeface="Microsoft YaHei"/>
                <a:ea typeface="Microsoft YaHei"/>
                <a:cs typeface="Microsoft YaHei"/>
              </a:rPr>
              <a:t>普通地址</a:t>
            </a:r>
          </a:p>
        </p:txBody>
      </p:sp>
      <p:sp>
        <p:nvSpPr>
          <p:cNvPr id="50" name="rect-049"/>
          <p:cNvSpPr/>
          <p:nvPr/>
        </p:nvSpPr>
        <p:spPr>
          <a:xfrm>
            <a:off x="433388" y="3167062"/>
            <a:ext cx="1600200" cy="666750"/>
          </a:xfrm>
          <a:prstGeom prst="roundRect">
            <a:avLst>
              <a:gd name="adj" fmla="val 12000"/>
            </a:avLst>
          </a:prstGeom>
          <a:solidFill>
            <a:srgbClr val="E5F3EF"/>
          </a:solidFill>
          <a:ln w="13335" cap="flat">
            <a:solidFill>
              <a:srgbClr val="187D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0: NPU 计算引擎"/>
          <p:cNvSpPr txBox="1"/>
          <p:nvPr/>
        </p:nvSpPr>
        <p:spPr>
          <a:xfrm>
            <a:off x="652316" y="3284811"/>
            <a:ext cx="1162343" cy="2453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52" name="text-051: 独立于 DDR 搬运器"/>
          <p:cNvSpPr txBox="1"/>
          <p:nvPr/>
        </p:nvSpPr>
        <p:spPr>
          <a:xfrm>
            <a:off x="614764" y="3506972"/>
            <a:ext cx="1237446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独立于 DDR 搬运器</a:t>
            </a:r>
          </a:p>
        </p:txBody>
      </p:sp>
      <p:sp>
        <p:nvSpPr>
          <p:cNvPr id="53" name="rect-052"/>
          <p:cNvSpPr/>
          <p:nvPr/>
        </p:nvSpPr>
        <p:spPr>
          <a:xfrm>
            <a:off x="2833688" y="3133725"/>
            <a:ext cx="1466850" cy="933450"/>
          </a:xfrm>
          <a:prstGeom prst="roundRect">
            <a:avLst>
              <a:gd name="adj" fmla="val 8571"/>
            </a:avLst>
          </a:prstGeom>
          <a:solidFill>
            <a:srgbClr val="E5F3EF"/>
          </a:solidFill>
          <a:ln w="13335" cap="flat">
            <a:solidFill>
              <a:srgbClr val="187D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3: GB 访问适配"/>
          <p:cNvSpPr txBox="1"/>
          <p:nvPr/>
        </p:nvSpPr>
        <p:spPr>
          <a:xfrm>
            <a:off x="3049808" y="3288144"/>
            <a:ext cx="1034608" cy="2453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55" name="text-054: 局部仲裁 / 路由"/>
          <p:cNvSpPr txBox="1"/>
          <p:nvPr/>
        </p:nvSpPr>
        <p:spPr>
          <a:xfrm>
            <a:off x="3059179" y="3510305"/>
            <a:ext cx="1015867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56" name="text-055: 处理 bank 冲突"/>
          <p:cNvSpPr txBox="1"/>
          <p:nvPr/>
        </p:nvSpPr>
        <p:spPr>
          <a:xfrm>
            <a:off x="3064841" y="3703663"/>
            <a:ext cx="1004542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处理 bank 冲突</a:t>
            </a:r>
          </a:p>
        </p:txBody>
      </p:sp>
      <p:sp>
        <p:nvSpPr>
          <p:cNvPr id="57" name="rect-056"/>
          <p:cNvSpPr/>
          <p:nvPr/>
        </p:nvSpPr>
        <p:spPr>
          <a:xfrm>
            <a:off x="4667250" y="3000375"/>
            <a:ext cx="2300288" cy="1200150"/>
          </a:xfrm>
          <a:prstGeom prst="roundRect">
            <a:avLst>
              <a:gd name="adj" fmla="val 6666"/>
            </a:avLst>
          </a:prstGeom>
          <a:solidFill>
            <a:srgbClr val="E5F3EF"/>
          </a:solidFill>
          <a:ln w="13335" cap="flat">
            <a:solidFill>
              <a:srgbClr val="187D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57: Global Buffer"/>
          <p:cNvSpPr txBox="1"/>
          <p:nvPr/>
        </p:nvSpPr>
        <p:spPr>
          <a:xfrm>
            <a:off x="5227591" y="3191466"/>
            <a:ext cx="1179606" cy="2453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59" name="text-058: 独立片上 SRAM · 分 bank"/>
          <p:cNvSpPr txBox="1"/>
          <p:nvPr/>
        </p:nvSpPr>
        <p:spPr>
          <a:xfrm>
            <a:off x="5014689" y="3413627"/>
            <a:ext cx="1605409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独立片上 SRAM · 分 bank</a:t>
            </a:r>
          </a:p>
        </p:txBody>
      </p:sp>
      <p:sp>
        <p:nvSpPr>
          <p:cNvPr id="60" name="text-059: ISP 工作区 / NPU-Ara 活跃区"/>
          <p:cNvSpPr txBox="1"/>
          <p:nvPr/>
        </p:nvSpPr>
        <p:spPr>
          <a:xfrm>
            <a:off x="4909343" y="3606984"/>
            <a:ext cx="1816102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ISP 工作区 / NPU-Ara 活跃区</a:t>
            </a:r>
          </a:p>
        </p:txBody>
      </p:sp>
      <p:sp>
        <p:nvSpPr>
          <p:cNvPr id="61" name="text-060: 搬运双缓冲 · 分区仅示意"/>
          <p:cNvSpPr txBox="1"/>
          <p:nvPr/>
        </p:nvSpPr>
        <p:spPr>
          <a:xfrm>
            <a:off x="5067909" y="3800342"/>
            <a:ext cx="1498969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搬运双缓冲 · 分区仅示意</a:t>
            </a:r>
          </a:p>
        </p:txBody>
      </p:sp>
      <p:sp>
        <p:nvSpPr>
          <p:cNvPr id="62" name="rect-061"/>
          <p:cNvSpPr/>
          <p:nvPr/>
        </p:nvSpPr>
        <p:spPr>
          <a:xfrm>
            <a:off x="7467600" y="3167062"/>
            <a:ext cx="1866900" cy="833438"/>
          </a:xfrm>
          <a:prstGeom prst="roundRect">
            <a:avLst>
              <a:gd name="adj" fmla="val 9600"/>
            </a:avLst>
          </a:prstGeom>
          <a:solidFill>
            <a:srgbClr val="E5F3EF"/>
          </a:solidFill>
          <a:ln w="13335" cap="flat">
            <a:solidFill>
              <a:srgbClr val="187D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-062: NPU / GB 搬运引擎"/>
          <p:cNvSpPr txBox="1"/>
          <p:nvPr/>
        </p:nvSpPr>
        <p:spPr>
          <a:xfrm>
            <a:off x="7626875" y="3271476"/>
            <a:ext cx="1548350" cy="2453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64" name="text-063: DDR ↔ GB"/>
          <p:cNvSpPr txBox="1"/>
          <p:nvPr/>
        </p:nvSpPr>
        <p:spPr>
          <a:xfrm>
            <a:off x="8031358" y="3493637"/>
            <a:ext cx="739384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DDR ↔ GB</a:t>
            </a:r>
          </a:p>
        </p:txBody>
      </p:sp>
      <p:sp>
        <p:nvSpPr>
          <p:cNvPr id="65" name="text-064: 统一 DDR 出口候选"/>
          <p:cNvSpPr txBox="1"/>
          <p:nvPr/>
        </p:nvSpPr>
        <p:spPr>
          <a:xfrm>
            <a:off x="7782327" y="3686994"/>
            <a:ext cx="1237446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统一 DDR 出口候选</a:t>
            </a:r>
          </a:p>
        </p:txBody>
      </p:sp>
      <p:sp>
        <p:nvSpPr>
          <p:cNvPr id="66" name="polyline-065"/>
          <p:cNvSpPr/>
          <p:nvPr/>
        </p:nvSpPr>
        <p:spPr>
          <a:xfrm>
            <a:off x="2033588" y="3500438"/>
            <a:ext cx="800100" cy="1"/>
          </a:xfrm>
          <a:custGeom>
            <a:avLst/>
            <a:gdLst/>
            <a:ahLst/>
            <a:cxnLst/>
            <a:rect l="0" t="0" r="r" b="b"/>
            <a:pathLst>
              <a:path w="800100" h="1">
                <a:moveTo>
                  <a:pt x="0" y="0"/>
                </a:moveTo>
                <a:lnTo>
                  <a:pt x="800100" y="0"/>
                </a:lnTo>
              </a:path>
            </a:pathLst>
          </a:custGeom>
          <a:noFill/>
          <a:ln w="20002" cap="flat">
            <a:solidFill>
              <a:srgbClr val="187D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polygon-066"/>
          <p:cNvSpPr/>
          <p:nvPr/>
        </p:nvSpPr>
        <p:spPr>
          <a:xfrm>
            <a:off x="2760345" y="3467100"/>
            <a:ext cx="73342" cy="66675"/>
          </a:xfrm>
          <a:custGeom>
            <a:avLst/>
            <a:gdLst/>
            <a:ahLst/>
            <a:cxnLst/>
            <a:rect l="0" t="0" r="r" b="b"/>
            <a:pathLst>
              <a:path w="73342" h="66675">
                <a:moveTo>
                  <a:pt x="73342" y="33338"/>
                </a:moveTo>
                <a:lnTo>
                  <a:pt x="0" y="0"/>
                </a:lnTo>
                <a:lnTo>
                  <a:pt x="0" y="66675"/>
                </a:lnTo>
                <a:close/>
              </a:path>
            </a:pathLst>
          </a:custGeom>
          <a:solidFill>
            <a:srgbClr val="187D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polygon-067"/>
          <p:cNvSpPr/>
          <p:nvPr/>
        </p:nvSpPr>
        <p:spPr>
          <a:xfrm>
            <a:off x="2033588" y="3467100"/>
            <a:ext cx="73342" cy="66675"/>
          </a:xfrm>
          <a:custGeom>
            <a:avLst/>
            <a:gdLst/>
            <a:ahLst/>
            <a:cxnLst/>
            <a:rect l="0" t="0" r="r" b="b"/>
            <a:pathLst>
              <a:path w="73342" h="66675">
                <a:moveTo>
                  <a:pt x="0" y="33338"/>
                </a:moveTo>
                <a:lnTo>
                  <a:pt x="73342" y="66675"/>
                </a:lnTo>
                <a:lnTo>
                  <a:pt x="73342" y="0"/>
                </a:lnTo>
                <a:close/>
              </a:path>
            </a:pathLst>
          </a:custGeom>
          <a:solidFill>
            <a:srgbClr val="187D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polyline-068"/>
          <p:cNvSpPr/>
          <p:nvPr/>
        </p:nvSpPr>
        <p:spPr>
          <a:xfrm>
            <a:off x="3280410" y="2253615"/>
            <a:ext cx="1" cy="880110"/>
          </a:xfrm>
          <a:custGeom>
            <a:avLst/>
            <a:gdLst/>
            <a:ahLst/>
            <a:cxnLst/>
            <a:rect l="0" t="0" r="r" b="b"/>
            <a:pathLst>
              <a:path w="1" h="880110">
                <a:moveTo>
                  <a:pt x="0" y="0"/>
                </a:moveTo>
                <a:lnTo>
                  <a:pt x="0" y="880110"/>
                </a:lnTo>
              </a:path>
            </a:pathLst>
          </a:custGeom>
          <a:noFill/>
          <a:ln w="20002" cap="flat">
            <a:solidFill>
              <a:srgbClr val="187D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polygon-069"/>
          <p:cNvSpPr/>
          <p:nvPr/>
        </p:nvSpPr>
        <p:spPr>
          <a:xfrm>
            <a:off x="3247072" y="3060382"/>
            <a:ext cx="66675" cy="73342"/>
          </a:xfrm>
          <a:custGeom>
            <a:avLst/>
            <a:gdLst/>
            <a:ahLst/>
            <a:cxnLst/>
            <a:rect l="0" t="0" r="r" b="b"/>
            <a:pathLst>
              <a:path w="66675" h="73342">
                <a:moveTo>
                  <a:pt x="33338" y="73342"/>
                </a:moveTo>
                <a:lnTo>
                  <a:pt x="66675" y="0"/>
                </a:lnTo>
                <a:lnTo>
                  <a:pt x="0" y="0"/>
                </a:lnTo>
                <a:close/>
              </a:path>
            </a:pathLst>
          </a:custGeom>
          <a:solidFill>
            <a:srgbClr val="187D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polygon-070"/>
          <p:cNvSpPr/>
          <p:nvPr/>
        </p:nvSpPr>
        <p:spPr>
          <a:xfrm>
            <a:off x="3247072" y="2253615"/>
            <a:ext cx="66675" cy="73342"/>
          </a:xfrm>
          <a:custGeom>
            <a:avLst/>
            <a:gdLst/>
            <a:ahLst/>
            <a:cxnLst/>
            <a:rect l="0" t="0" r="r" b="b"/>
            <a:pathLst>
              <a:path w="66675" h="73342">
                <a:moveTo>
                  <a:pt x="33338" y="0"/>
                </a:moveTo>
                <a:lnTo>
                  <a:pt x="0" y="73342"/>
                </a:lnTo>
                <a:lnTo>
                  <a:pt x="66675" y="73342"/>
                </a:lnTo>
                <a:close/>
              </a:path>
            </a:pathLst>
          </a:custGeom>
          <a:solidFill>
            <a:srgbClr val="187D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-071: GB 地址分支"/>
          <p:cNvSpPr txBox="1"/>
          <p:nvPr/>
        </p:nvSpPr>
        <p:spPr>
          <a:xfrm>
            <a:off x="3393758" y="2450706"/>
            <a:ext cx="800142" cy="1920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5" b="0" i="0">
                <a:solidFill>
                  <a:srgbClr val="187D78"/>
                </a:solidFill>
                <a:latin typeface="Microsoft YaHei"/>
                <a:ea typeface="Microsoft YaHei"/>
                <a:cs typeface="Microsoft YaHei"/>
              </a:rPr>
              <a:t>GB 地址分支</a:t>
            </a:r>
          </a:p>
        </p:txBody>
      </p:sp>
      <p:sp>
        <p:nvSpPr>
          <p:cNvPr id="73" name="text-072: Ara 单 AXI 出口按地址分流"/>
          <p:cNvSpPr txBox="1"/>
          <p:nvPr/>
        </p:nvSpPr>
        <p:spPr>
          <a:xfrm>
            <a:off x="3393758" y="2797950"/>
            <a:ext cx="1492593" cy="1813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2" b="0" i="0">
                <a:solidFill>
                  <a:srgbClr val="7955A0"/>
                </a:solidFill>
                <a:latin typeface="Microsoft YaHei"/>
                <a:ea typeface="Microsoft YaHei"/>
                <a:cs typeface="Microsoft YaHei"/>
              </a:rPr>
              <a:t>Ara 单 AXI 出口按地址分流</a:t>
            </a:r>
          </a:p>
        </p:txBody>
      </p:sp>
      <p:sp>
        <p:nvSpPr>
          <p:cNvPr id="74" name="polyline-073"/>
          <p:cNvSpPr/>
          <p:nvPr/>
        </p:nvSpPr>
        <p:spPr>
          <a:xfrm>
            <a:off x="4300538" y="3567112"/>
            <a:ext cx="366712" cy="1"/>
          </a:xfrm>
          <a:custGeom>
            <a:avLst/>
            <a:gdLst/>
            <a:ahLst/>
            <a:cxnLst/>
            <a:rect l="0" t="0" r="r" b="b"/>
            <a:pathLst>
              <a:path w="366712" h="1">
                <a:moveTo>
                  <a:pt x="0" y="0"/>
                </a:moveTo>
                <a:lnTo>
                  <a:pt x="366712" y="0"/>
                </a:lnTo>
              </a:path>
            </a:pathLst>
          </a:custGeom>
          <a:noFill/>
          <a:ln w="20002" cap="flat">
            <a:solidFill>
              <a:srgbClr val="187D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polygon-074"/>
          <p:cNvSpPr/>
          <p:nvPr/>
        </p:nvSpPr>
        <p:spPr>
          <a:xfrm>
            <a:off x="4593908" y="3533775"/>
            <a:ext cx="73342" cy="66675"/>
          </a:xfrm>
          <a:custGeom>
            <a:avLst/>
            <a:gdLst/>
            <a:ahLst/>
            <a:cxnLst/>
            <a:rect l="0" t="0" r="r" b="b"/>
            <a:pathLst>
              <a:path w="73342" h="66675">
                <a:moveTo>
                  <a:pt x="73342" y="33338"/>
                </a:moveTo>
                <a:lnTo>
                  <a:pt x="0" y="0"/>
                </a:lnTo>
                <a:lnTo>
                  <a:pt x="0" y="66675"/>
                </a:lnTo>
                <a:close/>
              </a:path>
            </a:pathLst>
          </a:custGeom>
          <a:solidFill>
            <a:srgbClr val="187D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polygon-075"/>
          <p:cNvSpPr/>
          <p:nvPr/>
        </p:nvSpPr>
        <p:spPr>
          <a:xfrm>
            <a:off x="4300538" y="3533775"/>
            <a:ext cx="73342" cy="66675"/>
          </a:xfrm>
          <a:custGeom>
            <a:avLst/>
            <a:gdLst/>
            <a:ahLst/>
            <a:cxnLst/>
            <a:rect l="0" t="0" r="r" b="b"/>
            <a:pathLst>
              <a:path w="73342" h="66675">
                <a:moveTo>
                  <a:pt x="0" y="33338"/>
                </a:moveTo>
                <a:lnTo>
                  <a:pt x="73342" y="66675"/>
                </a:lnTo>
                <a:lnTo>
                  <a:pt x="73342" y="0"/>
                </a:lnTo>
                <a:close/>
              </a:path>
            </a:pathLst>
          </a:custGeom>
          <a:solidFill>
            <a:srgbClr val="187D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polyline-076"/>
          <p:cNvSpPr/>
          <p:nvPr/>
        </p:nvSpPr>
        <p:spPr>
          <a:xfrm>
            <a:off x="3833812" y="4000500"/>
            <a:ext cx="4567238" cy="433388"/>
          </a:xfrm>
          <a:custGeom>
            <a:avLst/>
            <a:gdLst/>
            <a:ahLst/>
            <a:cxnLst/>
            <a:rect l="0" t="0" r="r" b="b"/>
            <a:pathLst>
              <a:path w="4567238" h="433388">
                <a:moveTo>
                  <a:pt x="0" y="66675"/>
                </a:moveTo>
                <a:lnTo>
                  <a:pt x="0" y="433388"/>
                </a:lnTo>
                <a:lnTo>
                  <a:pt x="4567238" y="433388"/>
                </a:lnTo>
                <a:lnTo>
                  <a:pt x="4567238" y="0"/>
                </a:lnTo>
              </a:path>
            </a:pathLst>
          </a:custGeom>
          <a:noFill/>
          <a:ln w="20002" cap="flat">
            <a:solidFill>
              <a:srgbClr val="187D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polygon-077"/>
          <p:cNvSpPr/>
          <p:nvPr/>
        </p:nvSpPr>
        <p:spPr>
          <a:xfrm>
            <a:off x="8367712" y="4000500"/>
            <a:ext cx="66675" cy="73342"/>
          </a:xfrm>
          <a:custGeom>
            <a:avLst/>
            <a:gdLst/>
            <a:ahLst/>
            <a:cxnLst/>
            <a:rect l="0" t="0" r="r" b="b"/>
            <a:pathLst>
              <a:path w="66675" h="73342">
                <a:moveTo>
                  <a:pt x="33338" y="0"/>
                </a:moveTo>
                <a:lnTo>
                  <a:pt x="0" y="73342"/>
                </a:lnTo>
                <a:lnTo>
                  <a:pt x="66675" y="73342"/>
                </a:lnTo>
                <a:close/>
              </a:path>
            </a:pathLst>
          </a:custGeom>
          <a:solidFill>
            <a:srgbClr val="187D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polygon-078"/>
          <p:cNvSpPr/>
          <p:nvPr/>
        </p:nvSpPr>
        <p:spPr>
          <a:xfrm>
            <a:off x="3800475" y="4067175"/>
            <a:ext cx="66675" cy="73342"/>
          </a:xfrm>
          <a:custGeom>
            <a:avLst/>
            <a:gdLst/>
            <a:ahLst/>
            <a:cxnLst/>
            <a:rect l="0" t="0" r="r" b="b"/>
            <a:pathLst>
              <a:path w="66675" h="73342">
                <a:moveTo>
                  <a:pt x="33338" y="0"/>
                </a:moveTo>
                <a:lnTo>
                  <a:pt x="0" y="73342"/>
                </a:lnTo>
                <a:lnTo>
                  <a:pt x="66675" y="73342"/>
                </a:lnTo>
                <a:close/>
              </a:path>
            </a:pathLst>
          </a:custGeom>
          <a:solidFill>
            <a:srgbClr val="187D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-079: 搬运器也是 GB 访问者"/>
          <p:cNvSpPr txBox="1"/>
          <p:nvPr/>
        </p:nvSpPr>
        <p:spPr>
          <a:xfrm>
            <a:off x="5600700" y="4217594"/>
            <a:ext cx="1315717" cy="1920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5" b="0" i="0">
                <a:solidFill>
                  <a:srgbClr val="187D78"/>
                </a:solidFill>
                <a:latin typeface="Microsoft YaHei"/>
                <a:ea typeface="Microsoft YaHei"/>
                <a:cs typeface="Microsoft YaHei"/>
              </a:rPr>
              <a:t>搬运器也是 GB 访问者</a:t>
            </a:r>
          </a:p>
        </p:txBody>
      </p:sp>
      <p:sp>
        <p:nvSpPr>
          <p:cNvPr id="81" name="polyline-080"/>
          <p:cNvSpPr/>
          <p:nvPr/>
        </p:nvSpPr>
        <p:spPr>
          <a:xfrm>
            <a:off x="9334500" y="3533775"/>
            <a:ext cx="733425" cy="1"/>
          </a:xfrm>
          <a:custGeom>
            <a:avLst/>
            <a:gdLst/>
            <a:ahLst/>
            <a:cxnLst/>
            <a:rect l="0" t="0" r="r" b="b"/>
            <a:pathLst>
              <a:path w="733425" h="1">
                <a:moveTo>
                  <a:pt x="0" y="0"/>
                </a:moveTo>
                <a:lnTo>
                  <a:pt x="733425" y="0"/>
                </a:lnTo>
              </a:path>
            </a:pathLst>
          </a:custGeom>
          <a:noFill/>
          <a:ln w="20002" cap="flat">
            <a:solidFill>
              <a:srgbClr val="3574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polygon-081"/>
          <p:cNvSpPr/>
          <p:nvPr/>
        </p:nvSpPr>
        <p:spPr>
          <a:xfrm>
            <a:off x="9994582" y="3500438"/>
            <a:ext cx="73342" cy="66675"/>
          </a:xfrm>
          <a:custGeom>
            <a:avLst/>
            <a:gdLst/>
            <a:ahLst/>
            <a:cxnLst/>
            <a:rect l="0" t="0" r="r" b="b"/>
            <a:pathLst>
              <a:path w="73342" h="66675">
                <a:moveTo>
                  <a:pt x="73342" y="33338"/>
                </a:moveTo>
                <a:lnTo>
                  <a:pt x="0" y="0"/>
                </a:lnTo>
                <a:lnTo>
                  <a:pt x="0" y="66675"/>
                </a:lnTo>
                <a:close/>
              </a:path>
            </a:pathLst>
          </a:custGeom>
          <a:solidFill>
            <a:srgbClr val="3574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polygon-082"/>
          <p:cNvSpPr/>
          <p:nvPr/>
        </p:nvSpPr>
        <p:spPr>
          <a:xfrm>
            <a:off x="9334500" y="3500438"/>
            <a:ext cx="73342" cy="66675"/>
          </a:xfrm>
          <a:custGeom>
            <a:avLst/>
            <a:gdLst/>
            <a:ahLst/>
            <a:cxnLst/>
            <a:rect l="0" t="0" r="r" b="b"/>
            <a:pathLst>
              <a:path w="73342" h="66675">
                <a:moveTo>
                  <a:pt x="0" y="33338"/>
                </a:moveTo>
                <a:lnTo>
                  <a:pt x="73342" y="66675"/>
                </a:lnTo>
                <a:lnTo>
                  <a:pt x="73342" y="0"/>
                </a:lnTo>
                <a:close/>
              </a:path>
            </a:pathLst>
          </a:custGeom>
          <a:solidFill>
            <a:srgbClr val="3574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text-083: GB 容量、bank 数、位宽与频率待定。"/>
          <p:cNvSpPr txBox="1"/>
          <p:nvPr/>
        </p:nvSpPr>
        <p:spPr>
          <a:xfrm>
            <a:off x="433388" y="4138117"/>
            <a:ext cx="2074343" cy="1813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2" b="0" i="0">
                <a:solidFill>
                  <a:srgbClr val="5A6E82"/>
                </a:solidFill>
                <a:latin typeface="Microsoft YaHei"/>
                <a:ea typeface="Microsoft YaHei"/>
                <a:cs typeface="Microsoft YaHei"/>
              </a:rPr>
              <a:t>GB 容量、bank 数、位宽与频率待定。</a:t>
            </a:r>
          </a:p>
        </p:txBody>
      </p:sp>
      <p:sp>
        <p:nvSpPr>
          <p:cNvPr id="85" name="text-084: 并行能力取决于 SRAM 带宽和分区。"/>
          <p:cNvSpPr txBox="1"/>
          <p:nvPr/>
        </p:nvSpPr>
        <p:spPr>
          <a:xfrm>
            <a:off x="433388" y="4344810"/>
            <a:ext cx="1983842" cy="1813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2" b="0" i="0">
                <a:solidFill>
                  <a:srgbClr val="5A6E82"/>
                </a:solidFill>
                <a:latin typeface="Microsoft YaHei"/>
                <a:ea typeface="Microsoft YaHei"/>
                <a:cs typeface="Microsoft YaHei"/>
              </a:rPr>
              <a:t>并行能力取决于 SRAM 带宽和分区。</a:t>
            </a:r>
          </a:p>
        </p:txBody>
      </p:sp>
      <p:sp>
        <p:nvSpPr>
          <p:cNvPr id="86" name="rect-085"/>
          <p:cNvSpPr/>
          <p:nvPr/>
        </p:nvSpPr>
        <p:spPr>
          <a:xfrm>
            <a:off x="366712" y="5434012"/>
            <a:ext cx="1233488" cy="533400"/>
          </a:xfrm>
          <a:prstGeom prst="roundRect">
            <a:avLst>
              <a:gd name="adj" fmla="val 15000"/>
            </a:avLst>
          </a:prstGeom>
          <a:solidFill>
            <a:srgbClr val="FFF0DA"/>
          </a:solidFill>
          <a:ln w="13335" cap="flat">
            <a:solidFill>
              <a:srgbClr val="BE712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-086: LVDS 接收"/>
          <p:cNvSpPr txBox="1"/>
          <p:nvPr/>
        </p:nvSpPr>
        <p:spPr>
          <a:xfrm>
            <a:off x="531785" y="5485086"/>
            <a:ext cx="903342" cy="2453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8" name="text-087: 解串 / 帧行解析"/>
          <p:cNvSpPr txBox="1"/>
          <p:nvPr/>
        </p:nvSpPr>
        <p:spPr>
          <a:xfrm>
            <a:off x="475523" y="5707247"/>
            <a:ext cx="1015867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解串 / 帧行解析</a:t>
            </a:r>
          </a:p>
        </p:txBody>
      </p:sp>
      <p:sp>
        <p:nvSpPr>
          <p:cNvPr id="89" name="rect-088"/>
          <p:cNvSpPr/>
          <p:nvPr/>
        </p:nvSpPr>
        <p:spPr>
          <a:xfrm>
            <a:off x="1800225" y="5434012"/>
            <a:ext cx="1166812" cy="533400"/>
          </a:xfrm>
          <a:prstGeom prst="roundRect">
            <a:avLst>
              <a:gd name="adj" fmla="val 15000"/>
            </a:avLst>
          </a:prstGeom>
          <a:solidFill>
            <a:srgbClr val="FFF0DA"/>
          </a:solidFill>
          <a:ln w="13335" cap="flat">
            <a:solidFill>
              <a:srgbClr val="BE712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text-089: CDC / FIFO"/>
          <p:cNvSpPr txBox="1"/>
          <p:nvPr/>
        </p:nvSpPr>
        <p:spPr>
          <a:xfrm>
            <a:off x="1887033" y="5485086"/>
            <a:ext cx="993197" cy="2453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91" name="text-090: 像素流缓冲"/>
          <p:cNvSpPr txBox="1"/>
          <p:nvPr/>
        </p:nvSpPr>
        <p:spPr>
          <a:xfrm>
            <a:off x="2003584" y="5707247"/>
            <a:ext cx="760095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92" name="rect-091"/>
          <p:cNvSpPr/>
          <p:nvPr/>
        </p:nvSpPr>
        <p:spPr>
          <a:xfrm>
            <a:off x="3433762" y="5434012"/>
            <a:ext cx="1466850" cy="533400"/>
          </a:xfrm>
          <a:prstGeom prst="roundRect">
            <a:avLst>
              <a:gd name="adj" fmla="val 15000"/>
            </a:avLst>
          </a:prstGeom>
          <a:solidFill>
            <a:srgbClr val="FFF0DA"/>
          </a:solidFill>
          <a:ln w="13335" cap="flat">
            <a:solidFill>
              <a:srgbClr val="BE712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text-092: ISP"/>
          <p:cNvSpPr txBox="1"/>
          <p:nvPr/>
        </p:nvSpPr>
        <p:spPr>
          <a:xfrm>
            <a:off x="3968272" y="5485086"/>
            <a:ext cx="397831" cy="2453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94" name="text-093: 保留必要行缓冲"/>
          <p:cNvSpPr txBox="1"/>
          <p:nvPr/>
        </p:nvSpPr>
        <p:spPr>
          <a:xfrm>
            <a:off x="3660458" y="5707247"/>
            <a:ext cx="1013460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保留必要行缓冲</a:t>
            </a:r>
          </a:p>
        </p:txBody>
      </p:sp>
      <p:sp>
        <p:nvSpPr>
          <p:cNvPr id="95" name="rect-094"/>
          <p:cNvSpPr/>
          <p:nvPr/>
        </p:nvSpPr>
        <p:spPr>
          <a:xfrm>
            <a:off x="5500688" y="5434012"/>
            <a:ext cx="1366838" cy="533400"/>
          </a:xfrm>
          <a:prstGeom prst="roundRect">
            <a:avLst>
              <a:gd name="adj" fmla="val 15000"/>
            </a:avLst>
          </a:prstGeom>
          <a:solidFill>
            <a:srgbClr val="FFF0DA"/>
          </a:solidFill>
          <a:ln w="13335" cap="flat">
            <a:solidFill>
              <a:srgbClr val="BE712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text-095: 帧边界选择"/>
          <p:cNvSpPr txBox="1"/>
          <p:nvPr/>
        </p:nvSpPr>
        <p:spPr>
          <a:xfrm>
            <a:off x="5724049" y="5485086"/>
            <a:ext cx="920115" cy="2453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97" name="text-096: RAW / ISP 二选一"/>
          <p:cNvSpPr txBox="1"/>
          <p:nvPr/>
        </p:nvSpPr>
        <p:spPr>
          <a:xfrm>
            <a:off x="5605628" y="5707247"/>
            <a:ext cx="1156957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RAW / ISP 二选一</a:t>
            </a:r>
          </a:p>
        </p:txBody>
      </p:sp>
      <p:sp>
        <p:nvSpPr>
          <p:cNvPr id="98" name="rect-097"/>
          <p:cNvSpPr/>
          <p:nvPr/>
        </p:nvSpPr>
        <p:spPr>
          <a:xfrm>
            <a:off x="7467600" y="5347335"/>
            <a:ext cx="1866900" cy="700088"/>
          </a:xfrm>
          <a:prstGeom prst="roundRect">
            <a:avLst>
              <a:gd name="adj" fmla="val 11428"/>
            </a:avLst>
          </a:prstGeom>
          <a:solidFill>
            <a:srgbClr val="FFF0DA"/>
          </a:solidFill>
          <a:ln w="13335" cap="flat">
            <a:solidFill>
              <a:srgbClr val="BE712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text-098: 图像帧写入器 / DMA"/>
          <p:cNvSpPr txBox="1"/>
          <p:nvPr/>
        </p:nvSpPr>
        <p:spPr>
          <a:xfrm>
            <a:off x="7585203" y="5385073"/>
            <a:ext cx="1631694" cy="2453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图像帧写入器 / DMA</a:t>
            </a:r>
          </a:p>
        </p:txBody>
      </p:sp>
      <p:sp>
        <p:nvSpPr>
          <p:cNvPr id="100" name="text-099: 地址 / stride / 打包"/>
          <p:cNvSpPr txBox="1"/>
          <p:nvPr/>
        </p:nvSpPr>
        <p:spPr>
          <a:xfrm>
            <a:off x="7784843" y="5607234"/>
            <a:ext cx="1232414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地址 / stride / 打包</a:t>
            </a:r>
          </a:p>
        </p:txBody>
      </p:sp>
      <p:sp>
        <p:nvSpPr>
          <p:cNvPr id="101" name="text-100: 产生 AXI 写事务"/>
          <p:cNvSpPr txBox="1"/>
          <p:nvPr/>
        </p:nvSpPr>
        <p:spPr>
          <a:xfrm>
            <a:off x="7879480" y="5800592"/>
            <a:ext cx="1043141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产生 AXI 写事务</a:t>
            </a:r>
          </a:p>
        </p:txBody>
      </p:sp>
      <p:sp>
        <p:nvSpPr>
          <p:cNvPr id="102" name="polyline-101"/>
          <p:cNvSpPr/>
          <p:nvPr/>
        </p:nvSpPr>
        <p:spPr>
          <a:xfrm>
            <a:off x="1600200" y="5700712"/>
            <a:ext cx="200025" cy="1"/>
          </a:xfrm>
          <a:custGeom>
            <a:avLst/>
            <a:gdLst/>
            <a:ahLst/>
            <a:cxnLst/>
            <a:rect l="0" t="0" r="r" b="b"/>
            <a:pathLst>
              <a:path w="200025" h="1">
                <a:moveTo>
                  <a:pt x="0" y="0"/>
                </a:moveTo>
                <a:lnTo>
                  <a:pt x="200025" y="0"/>
                </a:lnTo>
              </a:path>
            </a:pathLst>
          </a:custGeom>
          <a:noFill/>
          <a:ln w="20002" cap="flat">
            <a:solidFill>
              <a:srgbClr val="BE712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polygon-102"/>
          <p:cNvSpPr/>
          <p:nvPr/>
        </p:nvSpPr>
        <p:spPr>
          <a:xfrm>
            <a:off x="1726882" y="5667375"/>
            <a:ext cx="73342" cy="66675"/>
          </a:xfrm>
          <a:custGeom>
            <a:avLst/>
            <a:gdLst/>
            <a:ahLst/>
            <a:cxnLst/>
            <a:rect l="0" t="0" r="r" b="b"/>
            <a:pathLst>
              <a:path w="73342" h="66675">
                <a:moveTo>
                  <a:pt x="73342" y="33338"/>
                </a:moveTo>
                <a:lnTo>
                  <a:pt x="0" y="0"/>
                </a:lnTo>
                <a:lnTo>
                  <a:pt x="0" y="66675"/>
                </a:lnTo>
                <a:close/>
              </a:path>
            </a:pathLst>
          </a:custGeom>
          <a:solidFill>
            <a:srgbClr val="BE71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polyline-103"/>
          <p:cNvSpPr/>
          <p:nvPr/>
        </p:nvSpPr>
        <p:spPr>
          <a:xfrm>
            <a:off x="2967038" y="5700712"/>
            <a:ext cx="466725" cy="1"/>
          </a:xfrm>
          <a:custGeom>
            <a:avLst/>
            <a:gdLst/>
            <a:ahLst/>
            <a:cxnLst/>
            <a:rect l="0" t="0" r="r" b="b"/>
            <a:pathLst>
              <a:path w="466725" h="1">
                <a:moveTo>
                  <a:pt x="0" y="0"/>
                </a:moveTo>
                <a:lnTo>
                  <a:pt x="466725" y="0"/>
                </a:lnTo>
              </a:path>
            </a:pathLst>
          </a:custGeom>
          <a:noFill/>
          <a:ln w="20002" cap="flat">
            <a:solidFill>
              <a:srgbClr val="BE712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polygon-104"/>
          <p:cNvSpPr/>
          <p:nvPr/>
        </p:nvSpPr>
        <p:spPr>
          <a:xfrm>
            <a:off x="3360420" y="5667375"/>
            <a:ext cx="73342" cy="66675"/>
          </a:xfrm>
          <a:custGeom>
            <a:avLst/>
            <a:gdLst/>
            <a:ahLst/>
            <a:cxnLst/>
            <a:rect l="0" t="0" r="r" b="b"/>
            <a:pathLst>
              <a:path w="73342" h="66675">
                <a:moveTo>
                  <a:pt x="73342" y="33338"/>
                </a:moveTo>
                <a:lnTo>
                  <a:pt x="0" y="0"/>
                </a:lnTo>
                <a:lnTo>
                  <a:pt x="0" y="66675"/>
                </a:lnTo>
                <a:close/>
              </a:path>
            </a:pathLst>
          </a:custGeom>
          <a:solidFill>
            <a:srgbClr val="BE71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polyline-105"/>
          <p:cNvSpPr/>
          <p:nvPr/>
        </p:nvSpPr>
        <p:spPr>
          <a:xfrm>
            <a:off x="3133725" y="5227320"/>
            <a:ext cx="3033712" cy="473392"/>
          </a:xfrm>
          <a:custGeom>
            <a:avLst/>
            <a:gdLst/>
            <a:ahLst/>
            <a:cxnLst/>
            <a:rect l="0" t="0" r="r" b="b"/>
            <a:pathLst>
              <a:path w="3033712" h="473392">
                <a:moveTo>
                  <a:pt x="0" y="473392"/>
                </a:moveTo>
                <a:lnTo>
                  <a:pt x="0" y="0"/>
                </a:lnTo>
                <a:lnTo>
                  <a:pt x="3033712" y="0"/>
                </a:lnTo>
                <a:lnTo>
                  <a:pt x="3033712" y="206692"/>
                </a:lnTo>
              </a:path>
            </a:pathLst>
          </a:custGeom>
          <a:noFill/>
          <a:ln w="20002" cap="flat">
            <a:solidFill>
              <a:srgbClr val="BE712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polygon-106"/>
          <p:cNvSpPr/>
          <p:nvPr/>
        </p:nvSpPr>
        <p:spPr>
          <a:xfrm>
            <a:off x="6134100" y="5360670"/>
            <a:ext cx="66675" cy="73342"/>
          </a:xfrm>
          <a:custGeom>
            <a:avLst/>
            <a:gdLst/>
            <a:ahLst/>
            <a:cxnLst/>
            <a:rect l="0" t="0" r="r" b="b"/>
            <a:pathLst>
              <a:path w="66675" h="73342">
                <a:moveTo>
                  <a:pt x="33338" y="73342"/>
                </a:moveTo>
                <a:lnTo>
                  <a:pt x="66675" y="0"/>
                </a:lnTo>
                <a:lnTo>
                  <a:pt x="0" y="0"/>
                </a:lnTo>
                <a:close/>
              </a:path>
            </a:pathLst>
          </a:custGeom>
          <a:solidFill>
            <a:srgbClr val="BE71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text-107: RAW 旁路（不经过 ISP）"/>
          <p:cNvSpPr txBox="1"/>
          <p:nvPr/>
        </p:nvSpPr>
        <p:spPr>
          <a:xfrm>
            <a:off x="4533900" y="5058232"/>
            <a:ext cx="1406592" cy="1813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2" b="0" i="0">
                <a:solidFill>
                  <a:srgbClr val="BE7127"/>
                </a:solidFill>
                <a:latin typeface="Microsoft YaHei"/>
                <a:ea typeface="Microsoft YaHei"/>
                <a:cs typeface="Microsoft YaHei"/>
              </a:rPr>
              <a:t>RAW 旁路（不经过 ISP）</a:t>
            </a:r>
          </a:p>
        </p:txBody>
      </p:sp>
      <p:sp>
        <p:nvSpPr>
          <p:cNvPr id="109" name="polyline-108"/>
          <p:cNvSpPr/>
          <p:nvPr/>
        </p:nvSpPr>
        <p:spPr>
          <a:xfrm>
            <a:off x="4900612" y="5700712"/>
            <a:ext cx="600075" cy="1"/>
          </a:xfrm>
          <a:custGeom>
            <a:avLst/>
            <a:gdLst/>
            <a:ahLst/>
            <a:cxnLst/>
            <a:rect l="0" t="0" r="r" b="b"/>
            <a:pathLst>
              <a:path w="600075" h="1">
                <a:moveTo>
                  <a:pt x="0" y="0"/>
                </a:moveTo>
                <a:lnTo>
                  <a:pt x="600075" y="0"/>
                </a:lnTo>
              </a:path>
            </a:pathLst>
          </a:custGeom>
          <a:noFill/>
          <a:ln w="20002" cap="flat">
            <a:solidFill>
              <a:srgbClr val="BE712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polygon-109"/>
          <p:cNvSpPr/>
          <p:nvPr/>
        </p:nvSpPr>
        <p:spPr>
          <a:xfrm>
            <a:off x="5427345" y="5667375"/>
            <a:ext cx="73342" cy="66675"/>
          </a:xfrm>
          <a:custGeom>
            <a:avLst/>
            <a:gdLst/>
            <a:ahLst/>
            <a:cxnLst/>
            <a:rect l="0" t="0" r="r" b="b"/>
            <a:pathLst>
              <a:path w="73342" h="66675">
                <a:moveTo>
                  <a:pt x="73342" y="33338"/>
                </a:moveTo>
                <a:lnTo>
                  <a:pt x="0" y="0"/>
                </a:lnTo>
                <a:lnTo>
                  <a:pt x="0" y="66675"/>
                </a:lnTo>
                <a:close/>
              </a:path>
            </a:pathLst>
          </a:custGeom>
          <a:solidFill>
            <a:srgbClr val="BE71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polyline-110"/>
          <p:cNvSpPr/>
          <p:nvPr/>
        </p:nvSpPr>
        <p:spPr>
          <a:xfrm>
            <a:off x="6867525" y="5700712"/>
            <a:ext cx="600075" cy="1"/>
          </a:xfrm>
          <a:custGeom>
            <a:avLst/>
            <a:gdLst/>
            <a:ahLst/>
            <a:cxnLst/>
            <a:rect l="0" t="0" r="r" b="b"/>
            <a:pathLst>
              <a:path w="600075" h="1">
                <a:moveTo>
                  <a:pt x="0" y="0"/>
                </a:moveTo>
                <a:lnTo>
                  <a:pt x="600075" y="0"/>
                </a:lnTo>
              </a:path>
            </a:pathLst>
          </a:custGeom>
          <a:noFill/>
          <a:ln w="20002" cap="flat">
            <a:solidFill>
              <a:srgbClr val="BE712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polygon-111"/>
          <p:cNvSpPr/>
          <p:nvPr/>
        </p:nvSpPr>
        <p:spPr>
          <a:xfrm>
            <a:off x="7394258" y="5667375"/>
            <a:ext cx="73342" cy="66675"/>
          </a:xfrm>
          <a:custGeom>
            <a:avLst/>
            <a:gdLst/>
            <a:ahLst/>
            <a:cxnLst/>
            <a:rect l="0" t="0" r="r" b="b"/>
            <a:pathLst>
              <a:path w="73342" h="66675">
                <a:moveTo>
                  <a:pt x="73342" y="33338"/>
                </a:moveTo>
                <a:lnTo>
                  <a:pt x="0" y="0"/>
                </a:lnTo>
                <a:lnTo>
                  <a:pt x="0" y="66675"/>
                </a:lnTo>
                <a:close/>
              </a:path>
            </a:pathLst>
          </a:custGeom>
          <a:solidFill>
            <a:srgbClr val="BE71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polyline-112"/>
          <p:cNvSpPr/>
          <p:nvPr/>
        </p:nvSpPr>
        <p:spPr>
          <a:xfrm>
            <a:off x="9334500" y="5700712"/>
            <a:ext cx="733425" cy="1"/>
          </a:xfrm>
          <a:custGeom>
            <a:avLst/>
            <a:gdLst/>
            <a:ahLst/>
            <a:cxnLst/>
            <a:rect l="0" t="0" r="r" b="b"/>
            <a:pathLst>
              <a:path w="733425" h="1">
                <a:moveTo>
                  <a:pt x="0" y="0"/>
                </a:moveTo>
                <a:lnTo>
                  <a:pt x="733425" y="0"/>
                </a:lnTo>
              </a:path>
            </a:pathLst>
          </a:custGeom>
          <a:noFill/>
          <a:ln w="20002" cap="flat">
            <a:solidFill>
              <a:srgbClr val="3574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polygon-113"/>
          <p:cNvSpPr/>
          <p:nvPr/>
        </p:nvSpPr>
        <p:spPr>
          <a:xfrm>
            <a:off x="9994582" y="5667375"/>
            <a:ext cx="73342" cy="66675"/>
          </a:xfrm>
          <a:custGeom>
            <a:avLst/>
            <a:gdLst/>
            <a:ahLst/>
            <a:cxnLst/>
            <a:rect l="0" t="0" r="r" b="b"/>
            <a:pathLst>
              <a:path w="73342" h="66675">
                <a:moveTo>
                  <a:pt x="73342" y="33338"/>
                </a:moveTo>
                <a:lnTo>
                  <a:pt x="0" y="0"/>
                </a:lnTo>
                <a:lnTo>
                  <a:pt x="0" y="66675"/>
                </a:lnTo>
                <a:close/>
              </a:path>
            </a:pathLst>
          </a:custGeom>
          <a:solidFill>
            <a:srgbClr val="3574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polyline-114"/>
          <p:cNvSpPr/>
          <p:nvPr/>
        </p:nvSpPr>
        <p:spPr>
          <a:xfrm>
            <a:off x="3567112" y="4067175"/>
            <a:ext cx="600075" cy="1366838"/>
          </a:xfrm>
          <a:custGeom>
            <a:avLst/>
            <a:gdLst/>
            <a:ahLst/>
            <a:cxnLst/>
            <a:rect l="0" t="0" r="r" b="b"/>
            <a:pathLst>
              <a:path w="600075" h="1366838">
                <a:moveTo>
                  <a:pt x="600075" y="1366838"/>
                </a:moveTo>
                <a:lnTo>
                  <a:pt x="600075" y="580072"/>
                </a:lnTo>
                <a:lnTo>
                  <a:pt x="0" y="580072"/>
                </a:lnTo>
                <a:lnTo>
                  <a:pt x="0" y="0"/>
                </a:lnTo>
              </a:path>
            </a:pathLst>
          </a:custGeom>
          <a:noFill/>
          <a:ln w="20002" cap="flat">
            <a:solidFill>
              <a:srgbClr val="187D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polygon-115"/>
          <p:cNvSpPr/>
          <p:nvPr/>
        </p:nvSpPr>
        <p:spPr>
          <a:xfrm>
            <a:off x="3533775" y="4067175"/>
            <a:ext cx="66675" cy="73342"/>
          </a:xfrm>
          <a:custGeom>
            <a:avLst/>
            <a:gdLst/>
            <a:ahLst/>
            <a:cxnLst/>
            <a:rect l="0" t="0" r="r" b="b"/>
            <a:pathLst>
              <a:path w="66675" h="73342">
                <a:moveTo>
                  <a:pt x="33338" y="0"/>
                </a:moveTo>
                <a:lnTo>
                  <a:pt x="0" y="73342"/>
                </a:lnTo>
                <a:lnTo>
                  <a:pt x="66675" y="73342"/>
                </a:lnTo>
                <a:close/>
              </a:path>
            </a:pathLst>
          </a:custGeom>
          <a:solidFill>
            <a:srgbClr val="187D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polygon-116"/>
          <p:cNvSpPr/>
          <p:nvPr/>
        </p:nvSpPr>
        <p:spPr>
          <a:xfrm>
            <a:off x="4133850" y="5360670"/>
            <a:ext cx="66675" cy="73342"/>
          </a:xfrm>
          <a:custGeom>
            <a:avLst/>
            <a:gdLst/>
            <a:ahLst/>
            <a:cxnLst/>
            <a:rect l="0" t="0" r="r" b="b"/>
            <a:pathLst>
              <a:path w="66675" h="73342">
                <a:moveTo>
                  <a:pt x="33338" y="73342"/>
                </a:moveTo>
                <a:lnTo>
                  <a:pt x="66675" y="0"/>
                </a:lnTo>
                <a:lnTo>
                  <a:pt x="0" y="0"/>
                </a:lnTo>
                <a:close/>
              </a:path>
            </a:pathLst>
          </a:custGeom>
          <a:solidFill>
            <a:srgbClr val="187D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text-117: ISP 中间数据 ↔ GB"/>
          <p:cNvSpPr txBox="1"/>
          <p:nvPr/>
        </p:nvSpPr>
        <p:spPr>
          <a:xfrm>
            <a:off x="4433888" y="4610976"/>
            <a:ext cx="1132829" cy="1920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5" b="0" i="0">
                <a:solidFill>
                  <a:srgbClr val="187D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119" name="rect-118"/>
          <p:cNvSpPr/>
          <p:nvPr/>
        </p:nvSpPr>
        <p:spPr>
          <a:xfrm>
            <a:off x="9867900" y="833438"/>
            <a:ext cx="2000250" cy="5367338"/>
          </a:xfrm>
          <a:prstGeom prst="roundRect">
            <a:avLst>
              <a:gd name="adj" fmla="val 4000"/>
            </a:avLst>
          </a:prstGeom>
          <a:solidFill>
            <a:srgbClr val="EDF1F7"/>
          </a:solidFill>
          <a:ln w="13335" cap="flat">
            <a:solidFill>
              <a:srgbClr val="9CAFC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text-119: DDR 控制器 IP"/>
          <p:cNvSpPr txBox="1"/>
          <p:nvPr/>
        </p:nvSpPr>
        <p:spPr>
          <a:xfrm>
            <a:off x="10212136" y="893445"/>
            <a:ext cx="1311779" cy="2667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2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DDR 控制器 IP</a:t>
            </a:r>
          </a:p>
        </p:txBody>
      </p:sp>
      <p:sp>
        <p:nvSpPr>
          <p:cNvPr id="121" name="text-120: 最多 8 个 AXI Slave"/>
          <p:cNvSpPr txBox="1"/>
          <p:nvPr/>
        </p:nvSpPr>
        <p:spPr>
          <a:xfrm>
            <a:off x="10274263" y="1137209"/>
            <a:ext cx="1187523" cy="1920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5" b="0" i="0">
                <a:solidFill>
                  <a:srgbClr val="5A6E82"/>
                </a:solidFill>
                <a:latin typeface="Microsoft YaHei"/>
                <a:ea typeface="Microsoft YaHei"/>
                <a:cs typeface="Microsoft YaHei"/>
              </a:rPr>
              <a:t>最多 8 个 AXI Slave</a:t>
            </a:r>
          </a:p>
        </p:txBody>
      </p:sp>
      <p:sp>
        <p:nvSpPr>
          <p:cNvPr id="122" name="rect-121"/>
          <p:cNvSpPr/>
          <p:nvPr/>
        </p:nvSpPr>
        <p:spPr>
          <a:xfrm>
            <a:off x="10067925" y="1413510"/>
            <a:ext cx="700088" cy="4000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3335" cap="flat">
            <a:solidFill>
              <a:srgbClr val="3574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text-122: S0"/>
          <p:cNvSpPr txBox="1"/>
          <p:nvPr/>
        </p:nvSpPr>
        <p:spPr>
          <a:xfrm>
            <a:off x="10247880" y="1494587"/>
            <a:ext cx="340178" cy="2453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24" name="rect-123"/>
          <p:cNvSpPr/>
          <p:nvPr/>
        </p:nvSpPr>
        <p:spPr>
          <a:xfrm>
            <a:off x="10067925" y="3333750"/>
            <a:ext cx="700088" cy="4000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3335" cap="flat">
            <a:solidFill>
              <a:srgbClr val="3574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text-124: S1"/>
          <p:cNvSpPr txBox="1"/>
          <p:nvPr/>
        </p:nvSpPr>
        <p:spPr>
          <a:xfrm>
            <a:off x="10247880" y="3414827"/>
            <a:ext cx="340178" cy="2453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26" name="rect-125"/>
          <p:cNvSpPr/>
          <p:nvPr/>
        </p:nvSpPr>
        <p:spPr>
          <a:xfrm>
            <a:off x="10067925" y="5500688"/>
            <a:ext cx="700088" cy="4000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3335" cap="flat">
            <a:solidFill>
              <a:srgbClr val="3574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text-126: S2"/>
          <p:cNvSpPr txBox="1"/>
          <p:nvPr/>
        </p:nvSpPr>
        <p:spPr>
          <a:xfrm>
            <a:off x="10247880" y="5581764"/>
            <a:ext cx="340178" cy="2453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28" name="rect-127"/>
          <p:cNvSpPr/>
          <p:nvPr/>
        </p:nvSpPr>
        <p:spPr>
          <a:xfrm>
            <a:off x="11001375" y="1466850"/>
            <a:ext cx="666750" cy="43672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335" cap="flat">
            <a:solidFill>
              <a:srgbClr val="9CAFC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text-128: 端口仲裁"/>
          <p:cNvSpPr txBox="1"/>
          <p:nvPr/>
        </p:nvSpPr>
        <p:spPr>
          <a:xfrm>
            <a:off x="11018044" y="2330158"/>
            <a:ext cx="633412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端口仲裁</a:t>
            </a:r>
          </a:p>
        </p:txBody>
      </p:sp>
      <p:sp>
        <p:nvSpPr>
          <p:cNvPr id="130" name="text-129: 优先级"/>
          <p:cNvSpPr txBox="1"/>
          <p:nvPr/>
        </p:nvSpPr>
        <p:spPr>
          <a:xfrm>
            <a:off x="11081385" y="2610193"/>
            <a:ext cx="506730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优先级</a:t>
            </a:r>
          </a:p>
        </p:txBody>
      </p:sp>
      <p:sp>
        <p:nvSpPr>
          <p:cNvPr id="131" name="text-130: / QoS"/>
          <p:cNvSpPr txBox="1"/>
          <p:nvPr/>
        </p:nvSpPr>
        <p:spPr>
          <a:xfrm>
            <a:off x="11097158" y="2890228"/>
            <a:ext cx="475184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/ QoS</a:t>
            </a:r>
          </a:p>
        </p:txBody>
      </p:sp>
      <p:sp>
        <p:nvSpPr>
          <p:cNvPr id="132" name="text-131: 读写调度"/>
          <p:cNvSpPr txBox="1"/>
          <p:nvPr/>
        </p:nvSpPr>
        <p:spPr>
          <a:xfrm>
            <a:off x="11018044" y="3450298"/>
            <a:ext cx="633412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33" name="text-132: Bank / Row"/>
          <p:cNvSpPr txBox="1"/>
          <p:nvPr/>
        </p:nvSpPr>
        <p:spPr>
          <a:xfrm>
            <a:off x="10928944" y="3730333"/>
            <a:ext cx="811612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sp>
        <p:nvSpPr>
          <p:cNvPr id="134" name="text-133: 命令调度"/>
          <p:cNvSpPr txBox="1"/>
          <p:nvPr/>
        </p:nvSpPr>
        <p:spPr>
          <a:xfrm>
            <a:off x="11018044" y="4010368"/>
            <a:ext cx="633412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35" name="polyline-134"/>
          <p:cNvSpPr/>
          <p:nvPr/>
        </p:nvSpPr>
        <p:spPr>
          <a:xfrm>
            <a:off x="10768012" y="1613535"/>
            <a:ext cx="233362" cy="1"/>
          </a:xfrm>
          <a:custGeom>
            <a:avLst/>
            <a:gdLst/>
            <a:ahLst/>
            <a:cxnLst/>
            <a:rect l="0" t="0" r="r" b="b"/>
            <a:pathLst>
              <a:path w="233362" h="1">
                <a:moveTo>
                  <a:pt x="0" y="0"/>
                </a:moveTo>
                <a:lnTo>
                  <a:pt x="233362" y="0"/>
                </a:lnTo>
              </a:path>
            </a:pathLst>
          </a:custGeom>
          <a:noFill/>
          <a:ln w="20002" cap="flat">
            <a:solidFill>
              <a:srgbClr val="3574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polygon-135"/>
          <p:cNvSpPr/>
          <p:nvPr/>
        </p:nvSpPr>
        <p:spPr>
          <a:xfrm>
            <a:off x="10928032" y="1580198"/>
            <a:ext cx="73342" cy="66675"/>
          </a:xfrm>
          <a:custGeom>
            <a:avLst/>
            <a:gdLst/>
            <a:ahLst/>
            <a:cxnLst/>
            <a:rect l="0" t="0" r="r" b="b"/>
            <a:pathLst>
              <a:path w="73342" h="66675">
                <a:moveTo>
                  <a:pt x="73342" y="33338"/>
                </a:moveTo>
                <a:lnTo>
                  <a:pt x="0" y="0"/>
                </a:lnTo>
                <a:lnTo>
                  <a:pt x="0" y="66675"/>
                </a:lnTo>
                <a:close/>
              </a:path>
            </a:pathLst>
          </a:custGeom>
          <a:solidFill>
            <a:srgbClr val="3574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polyline-136"/>
          <p:cNvSpPr/>
          <p:nvPr/>
        </p:nvSpPr>
        <p:spPr>
          <a:xfrm>
            <a:off x="10768012" y="3533775"/>
            <a:ext cx="233362" cy="1"/>
          </a:xfrm>
          <a:custGeom>
            <a:avLst/>
            <a:gdLst/>
            <a:ahLst/>
            <a:cxnLst/>
            <a:rect l="0" t="0" r="r" b="b"/>
            <a:pathLst>
              <a:path w="233362" h="1">
                <a:moveTo>
                  <a:pt x="0" y="0"/>
                </a:moveTo>
                <a:lnTo>
                  <a:pt x="233362" y="0"/>
                </a:lnTo>
              </a:path>
            </a:pathLst>
          </a:custGeom>
          <a:noFill/>
          <a:ln w="20002" cap="flat">
            <a:solidFill>
              <a:srgbClr val="3574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polygon-137"/>
          <p:cNvSpPr/>
          <p:nvPr/>
        </p:nvSpPr>
        <p:spPr>
          <a:xfrm>
            <a:off x="10928032" y="3500438"/>
            <a:ext cx="73342" cy="66675"/>
          </a:xfrm>
          <a:custGeom>
            <a:avLst/>
            <a:gdLst/>
            <a:ahLst/>
            <a:cxnLst/>
            <a:rect l="0" t="0" r="r" b="b"/>
            <a:pathLst>
              <a:path w="73342" h="66675">
                <a:moveTo>
                  <a:pt x="73342" y="33338"/>
                </a:moveTo>
                <a:lnTo>
                  <a:pt x="0" y="0"/>
                </a:lnTo>
                <a:lnTo>
                  <a:pt x="0" y="66675"/>
                </a:lnTo>
                <a:close/>
              </a:path>
            </a:pathLst>
          </a:custGeom>
          <a:solidFill>
            <a:srgbClr val="3574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polygon-138"/>
          <p:cNvSpPr/>
          <p:nvPr/>
        </p:nvSpPr>
        <p:spPr>
          <a:xfrm>
            <a:off x="10768012" y="3500438"/>
            <a:ext cx="73342" cy="66675"/>
          </a:xfrm>
          <a:custGeom>
            <a:avLst/>
            <a:gdLst/>
            <a:ahLst/>
            <a:cxnLst/>
            <a:rect l="0" t="0" r="r" b="b"/>
            <a:pathLst>
              <a:path w="73342" h="66675">
                <a:moveTo>
                  <a:pt x="0" y="33338"/>
                </a:moveTo>
                <a:lnTo>
                  <a:pt x="73342" y="66675"/>
                </a:lnTo>
                <a:lnTo>
                  <a:pt x="73342" y="0"/>
                </a:lnTo>
                <a:close/>
              </a:path>
            </a:pathLst>
          </a:custGeom>
          <a:solidFill>
            <a:srgbClr val="3574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polyline-139"/>
          <p:cNvSpPr/>
          <p:nvPr/>
        </p:nvSpPr>
        <p:spPr>
          <a:xfrm>
            <a:off x="10768012" y="5700712"/>
            <a:ext cx="233362" cy="1"/>
          </a:xfrm>
          <a:custGeom>
            <a:avLst/>
            <a:gdLst/>
            <a:ahLst/>
            <a:cxnLst/>
            <a:rect l="0" t="0" r="r" b="b"/>
            <a:pathLst>
              <a:path w="233362" h="1">
                <a:moveTo>
                  <a:pt x="0" y="0"/>
                </a:moveTo>
                <a:lnTo>
                  <a:pt x="233362" y="0"/>
                </a:lnTo>
              </a:path>
            </a:pathLst>
          </a:custGeom>
          <a:noFill/>
          <a:ln w="20002" cap="flat">
            <a:solidFill>
              <a:srgbClr val="3574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polygon-140"/>
          <p:cNvSpPr/>
          <p:nvPr/>
        </p:nvSpPr>
        <p:spPr>
          <a:xfrm>
            <a:off x="10928032" y="5667375"/>
            <a:ext cx="73342" cy="66675"/>
          </a:xfrm>
          <a:custGeom>
            <a:avLst/>
            <a:gdLst/>
            <a:ahLst/>
            <a:cxnLst/>
            <a:rect l="0" t="0" r="r" b="b"/>
            <a:pathLst>
              <a:path w="73342" h="66675">
                <a:moveTo>
                  <a:pt x="73342" y="33338"/>
                </a:moveTo>
                <a:lnTo>
                  <a:pt x="0" y="0"/>
                </a:lnTo>
                <a:lnTo>
                  <a:pt x="0" y="66675"/>
                </a:lnTo>
                <a:close/>
              </a:path>
            </a:pathLst>
          </a:custGeom>
          <a:solidFill>
            <a:srgbClr val="3574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text-141: 共享 DDR 带宽；多口不等于独占"/>
          <p:cNvSpPr txBox="1"/>
          <p:nvPr/>
        </p:nvSpPr>
        <p:spPr>
          <a:xfrm>
            <a:off x="9974387" y="5951677"/>
            <a:ext cx="1787275" cy="18135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2" b="0" i="0">
                <a:solidFill>
                  <a:srgbClr val="5A6E82"/>
                </a:solidFill>
                <a:latin typeface="Microsoft YaHei"/>
                <a:ea typeface="Microsoft YaHei"/>
                <a:cs typeface="Microsoft YaHei"/>
              </a:rPr>
              <a:t>共享 DDR 带宽；多口不等于独占</a:t>
            </a:r>
          </a:p>
        </p:txBody>
      </p:sp>
      <p:sp>
        <p:nvSpPr>
          <p:cNvPr id="143" name="rect-142"/>
          <p:cNvSpPr/>
          <p:nvPr/>
        </p:nvSpPr>
        <p:spPr>
          <a:xfrm>
            <a:off x="12068175" y="2967038"/>
            <a:ext cx="600075" cy="1066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3335" cap="flat">
            <a:solidFill>
              <a:srgbClr val="9CAFC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text-143: PHY"/>
          <p:cNvSpPr txBox="1"/>
          <p:nvPr/>
        </p:nvSpPr>
        <p:spPr>
          <a:xfrm>
            <a:off x="12128453" y="3188132"/>
            <a:ext cx="479518" cy="24536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145" name="text-144: /"/>
          <p:cNvSpPr txBox="1"/>
          <p:nvPr/>
        </p:nvSpPr>
        <p:spPr>
          <a:xfrm>
            <a:off x="12277811" y="3410293"/>
            <a:ext cx="180804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/</a:t>
            </a:r>
          </a:p>
        </p:txBody>
      </p:sp>
      <p:sp>
        <p:nvSpPr>
          <p:cNvPr id="146" name="text-145: DDR"/>
          <p:cNvSpPr txBox="1"/>
          <p:nvPr/>
        </p:nvSpPr>
        <p:spPr>
          <a:xfrm>
            <a:off x="12167021" y="3603650"/>
            <a:ext cx="402384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7" name="polyline-146"/>
          <p:cNvSpPr/>
          <p:nvPr/>
        </p:nvSpPr>
        <p:spPr>
          <a:xfrm>
            <a:off x="11668125" y="3533775"/>
            <a:ext cx="400050" cy="1"/>
          </a:xfrm>
          <a:custGeom>
            <a:avLst/>
            <a:gdLst/>
            <a:ahLst/>
            <a:cxnLst/>
            <a:rect l="0" t="0" r="r" b="b"/>
            <a:pathLst>
              <a:path w="400050" h="1">
                <a:moveTo>
                  <a:pt x="0" y="0"/>
                </a:moveTo>
                <a:lnTo>
                  <a:pt x="400050" y="0"/>
                </a:lnTo>
              </a:path>
            </a:pathLst>
          </a:custGeom>
          <a:noFill/>
          <a:ln w="20002" cap="flat">
            <a:solidFill>
              <a:srgbClr val="3574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polygon-147"/>
          <p:cNvSpPr/>
          <p:nvPr/>
        </p:nvSpPr>
        <p:spPr>
          <a:xfrm>
            <a:off x="11994832" y="3500438"/>
            <a:ext cx="73342" cy="66675"/>
          </a:xfrm>
          <a:custGeom>
            <a:avLst/>
            <a:gdLst/>
            <a:ahLst/>
            <a:cxnLst/>
            <a:rect l="0" t="0" r="r" b="b"/>
            <a:pathLst>
              <a:path w="73342" h="66675">
                <a:moveTo>
                  <a:pt x="73342" y="33338"/>
                </a:moveTo>
                <a:lnTo>
                  <a:pt x="0" y="0"/>
                </a:lnTo>
                <a:lnTo>
                  <a:pt x="0" y="66675"/>
                </a:lnTo>
                <a:close/>
              </a:path>
            </a:pathLst>
          </a:custGeom>
          <a:solidFill>
            <a:srgbClr val="3574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polygon-148"/>
          <p:cNvSpPr/>
          <p:nvPr/>
        </p:nvSpPr>
        <p:spPr>
          <a:xfrm>
            <a:off x="11668125" y="3500438"/>
            <a:ext cx="73342" cy="66675"/>
          </a:xfrm>
          <a:custGeom>
            <a:avLst/>
            <a:gdLst/>
            <a:ahLst/>
            <a:cxnLst/>
            <a:rect l="0" t="0" r="r" b="b"/>
            <a:pathLst>
              <a:path w="73342" h="66675">
                <a:moveTo>
                  <a:pt x="0" y="33338"/>
                </a:moveTo>
                <a:lnTo>
                  <a:pt x="73342" y="66675"/>
                </a:lnTo>
                <a:lnTo>
                  <a:pt x="73342" y="0"/>
                </a:lnTo>
                <a:close/>
              </a:path>
            </a:pathLst>
          </a:custGeom>
          <a:solidFill>
            <a:srgbClr val="3574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text-149: SoC / LLC 下游"/>
          <p:cNvSpPr txBox="1"/>
          <p:nvPr/>
        </p:nvSpPr>
        <p:spPr>
          <a:xfrm>
            <a:off x="10067925" y="1883969"/>
            <a:ext cx="943024" cy="1920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5" b="0" i="0">
                <a:solidFill>
                  <a:srgbClr val="3574A8"/>
                </a:solidFill>
                <a:latin typeface="Microsoft YaHei"/>
                <a:ea typeface="Microsoft YaHei"/>
                <a:cs typeface="Microsoft YaHei"/>
              </a:rPr>
              <a:t>SoC / LLC 下游</a:t>
            </a:r>
          </a:p>
        </p:txBody>
      </p:sp>
      <p:sp>
        <p:nvSpPr>
          <p:cNvPr id="151" name="text-150: NPU / GB 搬运"/>
          <p:cNvSpPr txBox="1"/>
          <p:nvPr/>
        </p:nvSpPr>
        <p:spPr>
          <a:xfrm>
            <a:off x="10067925" y="3804209"/>
            <a:ext cx="943024" cy="1920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5" b="0" i="0">
                <a:solidFill>
                  <a:srgbClr val="3574A8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52" name="text-151: 图像帧写入"/>
          <p:cNvSpPr txBox="1"/>
          <p:nvPr/>
        </p:nvSpPr>
        <p:spPr>
          <a:xfrm>
            <a:off x="10067925" y="5224386"/>
            <a:ext cx="720090" cy="19202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5" b="0" i="0">
                <a:solidFill>
                  <a:srgbClr val="3574A8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sp>
        <p:nvSpPr>
          <p:cNvPr id="153" name="polyline-152"/>
          <p:cNvSpPr/>
          <p:nvPr/>
        </p:nvSpPr>
        <p:spPr>
          <a:xfrm>
            <a:off x="333375" y="6414135"/>
            <a:ext cx="366712" cy="1"/>
          </a:xfrm>
          <a:custGeom>
            <a:avLst/>
            <a:gdLst/>
            <a:ahLst/>
            <a:cxnLst/>
            <a:rect l="0" t="0" r="r" b="b"/>
            <a:pathLst>
              <a:path w="366712" h="1">
                <a:moveTo>
                  <a:pt x="0" y="0"/>
                </a:moveTo>
                <a:lnTo>
                  <a:pt x="366712" y="0"/>
                </a:lnTo>
              </a:path>
            </a:pathLst>
          </a:custGeom>
          <a:noFill/>
          <a:ln w="20002" cap="flat">
            <a:solidFill>
              <a:srgbClr val="3574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polygon-153"/>
          <p:cNvSpPr/>
          <p:nvPr/>
        </p:nvSpPr>
        <p:spPr>
          <a:xfrm>
            <a:off x="626745" y="6380798"/>
            <a:ext cx="73342" cy="66675"/>
          </a:xfrm>
          <a:custGeom>
            <a:avLst/>
            <a:gdLst/>
            <a:ahLst/>
            <a:cxnLst/>
            <a:rect l="0" t="0" r="r" b="b"/>
            <a:pathLst>
              <a:path w="73342" h="66675">
                <a:moveTo>
                  <a:pt x="73342" y="33338"/>
                </a:moveTo>
                <a:lnTo>
                  <a:pt x="0" y="0"/>
                </a:lnTo>
                <a:lnTo>
                  <a:pt x="0" y="66675"/>
                </a:lnTo>
                <a:close/>
              </a:path>
            </a:pathLst>
          </a:custGeom>
          <a:solidFill>
            <a:srgbClr val="3574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text-154: AXI / 外存通路"/>
          <p:cNvSpPr txBox="1"/>
          <p:nvPr/>
        </p:nvSpPr>
        <p:spPr>
          <a:xfrm>
            <a:off x="780098" y="6323990"/>
            <a:ext cx="970580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3574A8"/>
                </a:solidFill>
                <a:latin typeface="Microsoft YaHei"/>
                <a:ea typeface="Microsoft YaHei"/>
                <a:cs typeface="Microsoft YaHei"/>
              </a:rPr>
              <a:t>AXI / 外存通路</a:t>
            </a:r>
          </a:p>
        </p:txBody>
      </p:sp>
      <p:sp>
        <p:nvSpPr>
          <p:cNvPr id="156" name="polyline-155"/>
          <p:cNvSpPr/>
          <p:nvPr/>
        </p:nvSpPr>
        <p:spPr>
          <a:xfrm>
            <a:off x="2300288" y="6414135"/>
            <a:ext cx="366712" cy="1"/>
          </a:xfrm>
          <a:custGeom>
            <a:avLst/>
            <a:gdLst/>
            <a:ahLst/>
            <a:cxnLst/>
            <a:rect l="0" t="0" r="r" b="b"/>
            <a:pathLst>
              <a:path w="366712" h="1">
                <a:moveTo>
                  <a:pt x="0" y="0"/>
                </a:moveTo>
                <a:lnTo>
                  <a:pt x="366712" y="0"/>
                </a:lnTo>
              </a:path>
            </a:pathLst>
          </a:custGeom>
          <a:noFill/>
          <a:ln w="20002" cap="flat">
            <a:solidFill>
              <a:srgbClr val="187D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polygon-156"/>
          <p:cNvSpPr/>
          <p:nvPr/>
        </p:nvSpPr>
        <p:spPr>
          <a:xfrm>
            <a:off x="2593658" y="6380798"/>
            <a:ext cx="73342" cy="66675"/>
          </a:xfrm>
          <a:custGeom>
            <a:avLst/>
            <a:gdLst/>
            <a:ahLst/>
            <a:cxnLst/>
            <a:rect l="0" t="0" r="r" b="b"/>
            <a:pathLst>
              <a:path w="73342" h="66675">
                <a:moveTo>
                  <a:pt x="73342" y="33338"/>
                </a:moveTo>
                <a:lnTo>
                  <a:pt x="0" y="0"/>
                </a:lnTo>
                <a:lnTo>
                  <a:pt x="0" y="66675"/>
                </a:lnTo>
                <a:close/>
              </a:path>
            </a:pathLst>
          </a:custGeom>
          <a:solidFill>
            <a:srgbClr val="187D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polygon-157"/>
          <p:cNvSpPr/>
          <p:nvPr/>
        </p:nvSpPr>
        <p:spPr>
          <a:xfrm>
            <a:off x="2300288" y="6380798"/>
            <a:ext cx="73342" cy="66675"/>
          </a:xfrm>
          <a:custGeom>
            <a:avLst/>
            <a:gdLst/>
            <a:ahLst/>
            <a:cxnLst/>
            <a:rect l="0" t="0" r="r" b="b"/>
            <a:pathLst>
              <a:path w="73342" h="66675">
                <a:moveTo>
                  <a:pt x="0" y="33338"/>
                </a:moveTo>
                <a:lnTo>
                  <a:pt x="73342" y="66675"/>
                </a:lnTo>
                <a:lnTo>
                  <a:pt x="73342" y="0"/>
                </a:lnTo>
                <a:close/>
              </a:path>
            </a:pathLst>
          </a:custGeom>
          <a:solidFill>
            <a:srgbClr val="187D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text-158: GB 本地读写（含适配）"/>
          <p:cNvSpPr txBox="1"/>
          <p:nvPr/>
        </p:nvSpPr>
        <p:spPr>
          <a:xfrm>
            <a:off x="2747010" y="6323990"/>
            <a:ext cx="1478008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187D78"/>
                </a:solidFill>
                <a:latin typeface="Microsoft YaHei"/>
                <a:ea typeface="Microsoft YaHei"/>
                <a:cs typeface="Microsoft YaHei"/>
              </a:rPr>
              <a:t>GB 本地读写（含适配）</a:t>
            </a:r>
          </a:p>
        </p:txBody>
      </p:sp>
      <p:sp>
        <p:nvSpPr>
          <p:cNvPr id="160" name="polyline-159"/>
          <p:cNvSpPr/>
          <p:nvPr/>
        </p:nvSpPr>
        <p:spPr>
          <a:xfrm>
            <a:off x="4733925" y="6414135"/>
            <a:ext cx="366712" cy="1"/>
          </a:xfrm>
          <a:custGeom>
            <a:avLst/>
            <a:gdLst/>
            <a:ahLst/>
            <a:cxnLst/>
            <a:rect l="0" t="0" r="r" b="b"/>
            <a:pathLst>
              <a:path w="366712" h="1">
                <a:moveTo>
                  <a:pt x="0" y="0"/>
                </a:moveTo>
                <a:lnTo>
                  <a:pt x="366712" y="0"/>
                </a:lnTo>
              </a:path>
            </a:pathLst>
          </a:custGeom>
          <a:noFill/>
          <a:ln w="20002" cap="flat">
            <a:solidFill>
              <a:srgbClr val="BE712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polygon-160"/>
          <p:cNvSpPr/>
          <p:nvPr/>
        </p:nvSpPr>
        <p:spPr>
          <a:xfrm>
            <a:off x="5027295" y="6380798"/>
            <a:ext cx="73342" cy="66675"/>
          </a:xfrm>
          <a:custGeom>
            <a:avLst/>
            <a:gdLst/>
            <a:ahLst/>
            <a:cxnLst/>
            <a:rect l="0" t="0" r="r" b="b"/>
            <a:pathLst>
              <a:path w="73342" h="66675">
                <a:moveTo>
                  <a:pt x="73342" y="33338"/>
                </a:moveTo>
                <a:lnTo>
                  <a:pt x="0" y="0"/>
                </a:lnTo>
                <a:lnTo>
                  <a:pt x="0" y="66675"/>
                </a:lnTo>
                <a:close/>
              </a:path>
            </a:pathLst>
          </a:custGeom>
          <a:solidFill>
            <a:srgbClr val="BE712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text-161: 像素流"/>
          <p:cNvSpPr txBox="1"/>
          <p:nvPr/>
        </p:nvSpPr>
        <p:spPr>
          <a:xfrm>
            <a:off x="5180648" y="6323990"/>
            <a:ext cx="506730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BE7127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sp>
        <p:nvSpPr>
          <p:cNvPr id="163" name="text-162: 箭头表示逻辑流向；AXI 返回通道未逐一展开。"/>
          <p:cNvSpPr txBox="1"/>
          <p:nvPr/>
        </p:nvSpPr>
        <p:spPr>
          <a:xfrm>
            <a:off x="6667500" y="6323990"/>
            <a:ext cx="2779212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5A6E82"/>
                </a:solidFill>
                <a:latin typeface="Microsoft YaHei"/>
                <a:ea typeface="Microsoft YaHei"/>
                <a:cs typeface="Microsoft YaHei"/>
              </a:rPr>
              <a:t>箭头表示逻辑流向；AXI 返回通道未逐一展开。</a:t>
            </a:r>
          </a:p>
        </p:txBody>
      </p:sp>
      <p:sp>
        <p:nvSpPr>
          <p:cNvPr id="164" name="text-163: 三口成立条件：NPU 与 GB 共用 S1 搬运出口；若保留独立 NPU mas"/>
          <p:cNvSpPr txBox="1"/>
          <p:nvPr/>
        </p:nvSpPr>
        <p:spPr>
          <a:xfrm>
            <a:off x="320040" y="6582956"/>
            <a:ext cx="7557497" cy="22402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2" b="1" i="0">
                <a:solidFill>
                  <a:srgbClr val="20334A"/>
                </a:solidFill>
                <a:latin typeface="Microsoft YaHei"/>
                <a:ea typeface="Microsoft YaHei"/>
                <a:cs typeface="Microsoft YaHei"/>
              </a:rPr>
              <a:t>三口成立条件：NPU 与 GB 共用 S1 搬运出口；若保留独立 NPU master + GB DMA，可增加 S3，不能强行串行化。</a:t>
            </a:r>
          </a:p>
        </p:txBody>
      </p:sp>
      <p:sp>
        <p:nvSpPr>
          <p:cNvPr id="165" name="text-164: 范围：控制寄存器/中断、缓存维护与 CDC 细节未展开；GB 不自动一致；RAW"/>
          <p:cNvSpPr txBox="1"/>
          <p:nvPr/>
        </p:nvSpPr>
        <p:spPr>
          <a:xfrm>
            <a:off x="320040" y="6824053"/>
            <a:ext cx="7075780" cy="2026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7" b="0" i="0">
                <a:solidFill>
                  <a:srgbClr val="5A6E82"/>
                </a:solidFill>
                <a:latin typeface="Microsoft YaHei"/>
                <a:ea typeface="Microsoft YaHei"/>
                <a:cs typeface="Microsoft YaHei"/>
              </a:rPr>
              <a:t>范围：控制寄存器/中断、缓存维护与 CDC 细节未展开；GB 不自动一致；RAW/ISP 暂按不同时录制。  |  L01 · 2026-10-10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