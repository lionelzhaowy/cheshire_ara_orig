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3449320" y="2258060"/>
            <a:ext cx="1422400" cy="1"/>
          </a:xfrm>
          <a:custGeom>
            <a:avLst/>
            <a:gdLst/>
            <a:ahLst/>
            <a:cxnLst/>
            <a:rect l="0" t="0" r="r" b="b"/>
            <a:pathLst>
              <a:path w="1422400" h="1" fill="none">
                <a:moveTo>
                  <a:pt x="0" y="0"/>
                </a:moveTo>
                <a:lnTo>
                  <a:pt x="142240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7"/>
          <p:cNvSpPr/>
          <p:nvPr/>
        </p:nvSpPr>
        <p:spPr>
          <a:xfrm>
            <a:off x="7858760" y="2258060"/>
            <a:ext cx="1422400" cy="1"/>
          </a:xfrm>
          <a:custGeom>
            <a:avLst/>
            <a:gdLst/>
            <a:ahLst/>
            <a:cxnLst/>
            <a:rect l="0" t="0" r="r" b="b"/>
            <a:pathLst>
              <a:path w="1422400" h="1" fill="none">
                <a:moveTo>
                  <a:pt x="0" y="0"/>
                </a:moveTo>
                <a:lnTo>
                  <a:pt x="142240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9"/>
          <p:cNvSpPr/>
          <p:nvPr/>
        </p:nvSpPr>
        <p:spPr>
          <a:xfrm>
            <a:off x="10774680" y="2809240"/>
            <a:ext cx="1" cy="1529080"/>
          </a:xfrm>
          <a:custGeom>
            <a:avLst/>
            <a:gdLst/>
            <a:ahLst/>
            <a:cxnLst/>
            <a:rect l="0" t="0" r="r" b="b"/>
            <a:pathLst>
              <a:path w="1" h="1529080" fill="none">
                <a:moveTo>
                  <a:pt x="0" y="0"/>
                </a:moveTo>
                <a:lnTo>
                  <a:pt x="0" y="152908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1"/>
          <p:cNvSpPr/>
          <p:nvPr/>
        </p:nvSpPr>
        <p:spPr>
          <a:xfrm>
            <a:off x="7858760" y="4889500"/>
            <a:ext cx="1422400" cy="1"/>
          </a:xfrm>
          <a:custGeom>
            <a:avLst/>
            <a:gdLst/>
            <a:ahLst/>
            <a:cxnLst/>
            <a:rect l="0" t="0" r="r" b="b"/>
            <a:pathLst>
              <a:path w="1422400" h="1" fill="none">
                <a:moveTo>
                  <a:pt x="14224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3"/>
          <p:cNvSpPr/>
          <p:nvPr/>
        </p:nvSpPr>
        <p:spPr>
          <a:xfrm>
            <a:off x="3449320" y="4889500"/>
            <a:ext cx="1422400" cy="1"/>
          </a:xfrm>
          <a:custGeom>
            <a:avLst/>
            <a:gdLst/>
            <a:ahLst/>
            <a:cxnLst/>
            <a:rect l="0" t="0" r="r" b="b"/>
            <a:pathLst>
              <a:path w="1422400" h="1" fill="none">
                <a:moveTo>
                  <a:pt x="14224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5"/>
          <p:cNvSpPr/>
          <p:nvPr/>
        </p:nvSpPr>
        <p:spPr>
          <a:xfrm>
            <a:off x="1955800" y="2809240"/>
            <a:ext cx="1" cy="1529080"/>
          </a:xfrm>
          <a:custGeom>
            <a:avLst/>
            <a:gdLst/>
            <a:ahLst/>
            <a:cxnLst/>
            <a:rect l="0" t="0" r="r" b="b"/>
            <a:pathLst>
              <a:path w="1" h="1529080" fill="none">
                <a:moveTo>
                  <a:pt x="0" y="152908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7: 未来异构任务：所有权状态与异常回收"/>
          <p:cNvSpPr txBox="1"/>
          <p:nvPr/>
        </p:nvSpPr>
        <p:spPr>
          <a:xfrm>
            <a:off x="483616" y="271109"/>
            <a:ext cx="4608576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未来异构任务：所有权状态与异常回收</a:t>
            </a:r>
          </a:p>
        </p:txBody>
      </p:sp>
      <p:sp>
        <p:nvSpPr>
          <p:cNvPr id="12" name="text-018: 硬件完成令牌须同时匹配 buffer、epoch 与状态；IRQ 仅触发软件查询"/>
          <p:cNvSpPr txBox="1"/>
          <p:nvPr/>
        </p:nvSpPr>
        <p:spPr>
          <a:xfrm>
            <a:off x="483616" y="676778"/>
            <a:ext cx="589691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硬件完成令牌须同时匹配 buffer、epoch 与状态；IRQ 仅触发软件查询。</a:t>
            </a:r>
          </a:p>
        </p:txBody>
      </p:sp>
      <p:sp>
        <p:nvSpPr>
          <p:cNvPr id="13" name="text-019: 未来方案 / 待实现与验证"/>
          <p:cNvSpPr txBox="1"/>
          <p:nvPr/>
        </p:nvSpPr>
        <p:spPr>
          <a:xfrm>
            <a:off x="341376" y="7498324"/>
            <a:ext cx="19341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4" name="text-020: 依据：教材异构协议伪代码；NPU / ISP 尚未集成"/>
          <p:cNvSpPr txBox="1"/>
          <p:nvPr/>
        </p:nvSpPr>
        <p:spPr>
          <a:xfrm>
            <a:off x="341376" y="7726477"/>
            <a:ext cx="348488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依据：教材异构协议伪代码；NPU / ISP 尚未集成</a:t>
            </a:r>
          </a:p>
        </p:txBody>
      </p:sp>
      <p:sp>
        <p:nvSpPr>
          <p:cNvPr id="15" name="rect-021"/>
          <p:cNvSpPr/>
          <p:nvPr/>
        </p:nvSpPr>
        <p:spPr>
          <a:xfrm>
            <a:off x="462280" y="170688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-022"/>
          <p:cNvSpPr/>
          <p:nvPr/>
        </p:nvSpPr>
        <p:spPr>
          <a:xfrm>
            <a:off x="462280" y="1706880"/>
            <a:ext cx="35560" cy="110236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23: FREE"/>
          <p:cNvSpPr txBox="1"/>
          <p:nvPr/>
        </p:nvSpPr>
        <p:spPr>
          <a:xfrm>
            <a:off x="583184" y="1734759"/>
            <a:ext cx="66568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FREE</a:t>
            </a:r>
          </a:p>
        </p:txBody>
      </p:sp>
      <p:sp>
        <p:nvSpPr>
          <p:cNvPr id="18" name="text-024: 分配 buffer"/>
          <p:cNvSpPr txBox="1"/>
          <p:nvPr/>
        </p:nvSpPr>
        <p:spPr>
          <a:xfrm>
            <a:off x="583184" y="2006153"/>
            <a:ext cx="128869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分配 buffer</a:t>
            </a:r>
          </a:p>
        </p:txBody>
      </p:sp>
      <p:sp>
        <p:nvSpPr>
          <p:cNvPr id="19" name="text-025: 选择新 epoch"/>
          <p:cNvSpPr txBox="1"/>
          <p:nvPr/>
        </p:nvSpPr>
        <p:spPr>
          <a:xfrm>
            <a:off x="583184" y="2219513"/>
            <a:ext cx="134843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选择新 epoch</a:t>
            </a:r>
          </a:p>
        </p:txBody>
      </p:sp>
      <p:sp>
        <p:nvSpPr>
          <p:cNvPr id="20" name="rect-026"/>
          <p:cNvSpPr/>
          <p:nvPr/>
        </p:nvSpPr>
        <p:spPr>
          <a:xfrm>
            <a:off x="4871720" y="170688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7"/>
          <p:cNvSpPr/>
          <p:nvPr/>
        </p:nvSpPr>
        <p:spPr>
          <a:xfrm>
            <a:off x="4871720" y="1706880"/>
            <a:ext cx="35560" cy="11023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8: PRODUCER"/>
          <p:cNvSpPr txBox="1"/>
          <p:nvPr/>
        </p:nvSpPr>
        <p:spPr>
          <a:xfrm>
            <a:off x="4992624" y="1734759"/>
            <a:ext cx="11464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PRODUCER</a:t>
            </a:r>
          </a:p>
        </p:txBody>
      </p:sp>
      <p:sp>
        <p:nvSpPr>
          <p:cNvPr id="23" name="text-029: 独占写入"/>
          <p:cNvSpPr txBox="1"/>
          <p:nvPr/>
        </p:nvSpPr>
        <p:spPr>
          <a:xfrm>
            <a:off x="4992624" y="2006153"/>
            <a:ext cx="8534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独占写入</a:t>
            </a:r>
          </a:p>
        </p:txBody>
      </p:sp>
      <p:sp>
        <p:nvSpPr>
          <p:cNvPr id="24" name="text-030: 禁止并发修改"/>
          <p:cNvSpPr txBox="1"/>
          <p:nvPr/>
        </p:nvSpPr>
        <p:spPr>
          <a:xfrm>
            <a:off x="4992624" y="2219513"/>
            <a:ext cx="11948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禁止并发修改</a:t>
            </a:r>
          </a:p>
        </p:txBody>
      </p:sp>
      <p:sp>
        <p:nvSpPr>
          <p:cNvPr id="25" name="rect-031"/>
          <p:cNvSpPr/>
          <p:nvPr/>
        </p:nvSpPr>
        <p:spPr>
          <a:xfrm>
            <a:off x="9281160" y="170688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32"/>
          <p:cNvSpPr/>
          <p:nvPr/>
        </p:nvSpPr>
        <p:spPr>
          <a:xfrm>
            <a:off x="9281160" y="1706880"/>
            <a:ext cx="35560" cy="11023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33: PUBLISHED"/>
          <p:cNvSpPr txBox="1"/>
          <p:nvPr/>
        </p:nvSpPr>
        <p:spPr>
          <a:xfrm>
            <a:off x="9402064" y="1734759"/>
            <a:ext cx="126664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PUBLISHED</a:t>
            </a:r>
          </a:p>
        </p:txBody>
      </p:sp>
      <p:sp>
        <p:nvSpPr>
          <p:cNvPr id="28" name="text-034: 排空结果写入"/>
          <p:cNvSpPr txBox="1"/>
          <p:nvPr/>
        </p:nvSpPr>
        <p:spPr>
          <a:xfrm>
            <a:off x="9402064" y="2006153"/>
            <a:ext cx="11948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排空结果写入</a:t>
            </a:r>
          </a:p>
        </p:txBody>
      </p:sp>
      <p:sp>
        <p:nvSpPr>
          <p:cNvPr id="29" name="text-035: 发布描述符"/>
          <p:cNvSpPr txBox="1"/>
          <p:nvPr/>
        </p:nvSpPr>
        <p:spPr>
          <a:xfrm>
            <a:off x="9402064" y="2219513"/>
            <a:ext cx="10241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发布描述符</a:t>
            </a:r>
          </a:p>
        </p:txBody>
      </p:sp>
      <p:sp>
        <p:nvSpPr>
          <p:cNvPr id="30" name="rect-036"/>
          <p:cNvSpPr/>
          <p:nvPr/>
        </p:nvSpPr>
        <p:spPr>
          <a:xfrm>
            <a:off x="462280" y="433832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-037"/>
          <p:cNvSpPr/>
          <p:nvPr/>
        </p:nvSpPr>
        <p:spPr>
          <a:xfrm>
            <a:off x="462280" y="4338320"/>
            <a:ext cx="35560" cy="11023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8: RECLAIM"/>
          <p:cNvSpPr txBox="1"/>
          <p:nvPr/>
        </p:nvSpPr>
        <p:spPr>
          <a:xfrm>
            <a:off x="583184" y="4366199"/>
            <a:ext cx="102626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RECLAIM</a:t>
            </a:r>
          </a:p>
        </p:txBody>
      </p:sp>
      <p:sp>
        <p:nvSpPr>
          <p:cNvPr id="33" name="text-039: 确认消费者排空"/>
          <p:cNvSpPr txBox="1"/>
          <p:nvPr/>
        </p:nvSpPr>
        <p:spPr>
          <a:xfrm>
            <a:off x="583184" y="463759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确认消费者排空</a:t>
            </a:r>
          </a:p>
        </p:txBody>
      </p:sp>
      <p:sp>
        <p:nvSpPr>
          <p:cNvPr id="34" name="text-040: 回收前验证状态"/>
          <p:cNvSpPr txBox="1"/>
          <p:nvPr/>
        </p:nvSpPr>
        <p:spPr>
          <a:xfrm>
            <a:off x="583184" y="485095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回收前验证状态</a:t>
            </a:r>
          </a:p>
        </p:txBody>
      </p:sp>
      <p:sp>
        <p:nvSpPr>
          <p:cNvPr id="35" name="rect-041"/>
          <p:cNvSpPr/>
          <p:nvPr/>
        </p:nvSpPr>
        <p:spPr>
          <a:xfrm>
            <a:off x="4871720" y="433832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42"/>
          <p:cNvSpPr/>
          <p:nvPr/>
        </p:nvSpPr>
        <p:spPr>
          <a:xfrm>
            <a:off x="4871720" y="4338320"/>
            <a:ext cx="35560" cy="11023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43: CONSUMER"/>
          <p:cNvSpPr txBox="1"/>
          <p:nvPr/>
        </p:nvSpPr>
        <p:spPr>
          <a:xfrm>
            <a:off x="4992624" y="4366199"/>
            <a:ext cx="11464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CONSUMER</a:t>
            </a:r>
          </a:p>
        </p:txBody>
      </p:sp>
      <p:sp>
        <p:nvSpPr>
          <p:cNvPr id="38" name="text-044: 读取 / 计算"/>
          <p:cNvSpPr txBox="1"/>
          <p:nvPr/>
        </p:nvSpPr>
        <p:spPr>
          <a:xfrm>
            <a:off x="4992624" y="4637593"/>
            <a:ext cx="118628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读取 / 计算</a:t>
            </a:r>
          </a:p>
        </p:txBody>
      </p:sp>
      <p:sp>
        <p:nvSpPr>
          <p:cNvPr id="39" name="text-045: 可写自己的结果"/>
          <p:cNvSpPr txBox="1"/>
          <p:nvPr/>
        </p:nvSpPr>
        <p:spPr>
          <a:xfrm>
            <a:off x="4992624" y="485095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可写自己的结果</a:t>
            </a:r>
          </a:p>
        </p:txBody>
      </p:sp>
      <p:sp>
        <p:nvSpPr>
          <p:cNvPr id="40" name="rect-046"/>
          <p:cNvSpPr/>
          <p:nvPr/>
        </p:nvSpPr>
        <p:spPr>
          <a:xfrm>
            <a:off x="9281160" y="433832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7"/>
          <p:cNvSpPr/>
          <p:nvPr/>
        </p:nvSpPr>
        <p:spPr>
          <a:xfrm>
            <a:off x="9281160" y="4338320"/>
            <a:ext cx="35560" cy="110236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8: QUEUED"/>
          <p:cNvSpPr txBox="1"/>
          <p:nvPr/>
        </p:nvSpPr>
        <p:spPr>
          <a:xfrm>
            <a:off x="9402064" y="436619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QUEUED</a:t>
            </a:r>
          </a:p>
        </p:txBody>
      </p:sp>
      <p:sp>
        <p:nvSpPr>
          <p:cNvPr id="43" name="text-049: 通知消费者"/>
          <p:cNvSpPr txBox="1"/>
          <p:nvPr/>
        </p:nvSpPr>
        <p:spPr>
          <a:xfrm>
            <a:off x="9402064" y="4637593"/>
            <a:ext cx="10241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通知消费者</a:t>
            </a:r>
          </a:p>
        </p:txBody>
      </p:sp>
      <p:sp>
        <p:nvSpPr>
          <p:cNvPr id="44" name="text-050: 转移所有权"/>
          <p:cNvSpPr txBox="1"/>
          <p:nvPr/>
        </p:nvSpPr>
        <p:spPr>
          <a:xfrm>
            <a:off x="9402064" y="4850953"/>
            <a:ext cx="10241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转移所有权</a:t>
            </a:r>
          </a:p>
        </p:txBody>
      </p:sp>
      <p:sp>
        <p:nvSpPr>
          <p:cNvPr id="45" name="rect-051"/>
          <p:cNvSpPr/>
          <p:nvPr/>
        </p:nvSpPr>
        <p:spPr>
          <a:xfrm>
            <a:off x="462280" y="6258560"/>
            <a:ext cx="11805920" cy="853440"/>
          </a:xfrm>
          <a:prstGeom prst="roundRect">
            <a:avLst>
              <a:gd name="adj" fmla="val 5833"/>
            </a:avLst>
          </a:prstGeom>
          <a:solidFill>
            <a:srgbClr val="FBEFF0"/>
          </a:solidFill>
          <a:ln w="11379" cap="flat">
            <a:solidFill>
              <a:srgbClr val="A43D4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-052"/>
          <p:cNvSpPr/>
          <p:nvPr/>
        </p:nvSpPr>
        <p:spPr>
          <a:xfrm>
            <a:off x="462280" y="6258560"/>
            <a:ext cx="35560" cy="853440"/>
          </a:xfrm>
          <a:prstGeom prst="rect">
            <a:avLst/>
          </a:prstGeom>
          <a:solidFill>
            <a:srgbClr val="A43D42"/>
          </a:solidFill>
          <a:ln w="10668" cap="flat">
            <a:solidFill>
              <a:srgbClr val="A43D4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53: 任意在途状态发生超时 / 错误 → QUARANTINED"/>
          <p:cNvSpPr txBox="1"/>
          <p:nvPr/>
        </p:nvSpPr>
        <p:spPr>
          <a:xfrm>
            <a:off x="583184" y="6286439"/>
            <a:ext cx="451185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A43D42"/>
                </a:solidFill>
                <a:latin typeface="WenQuanYi Zen Hei"/>
                <a:ea typeface="WenQuanYi Zen Hei"/>
                <a:cs typeface="WenQuanYi Zen Hei"/>
              </a:rPr>
              <a:t>任意在途状态发生超时 / 错误 → QUARANTINED</a:t>
            </a:r>
          </a:p>
        </p:txBody>
      </p:sp>
      <p:sp>
        <p:nvSpPr>
          <p:cNvPr id="48" name="text-054: 先隔离并确认设备停止，再决定恢复或回收；过期完成令牌不得释放新 epoch 的缓"/>
          <p:cNvSpPr txBox="1"/>
          <p:nvPr/>
        </p:nvSpPr>
        <p:spPr>
          <a:xfrm>
            <a:off x="583184" y="6573195"/>
            <a:ext cx="650107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先隔离并确认设备停止，再决定恢复或回收；过期完成令牌不得释放新 epoch 的缓冲区。</a:t>
            </a:r>
          </a:p>
        </p:txBody>
      </p:sp>
      <p:sp>
        <p:nvSpPr>
          <p:cNvPr id="49" name="text-055: 正常转移形成闭环；异常路径进入隔离状态"/>
          <p:cNvSpPr txBox="1"/>
          <p:nvPr/>
        </p:nvSpPr>
        <p:spPr>
          <a:xfrm>
            <a:off x="4409440" y="3391855"/>
            <a:ext cx="369824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正常转移形成闭环；异常路径进入隔离状态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