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696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1: 仿真测试平台与验证流程"/>
          <p:cNvSpPr txBox="1"/>
          <p:nvPr/>
        </p:nvSpPr>
        <p:spPr>
          <a:xfrm>
            <a:off x="304800" y="69494"/>
            <a:ext cx="329184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仿真测试平台与验证流程</a:t>
            </a:r>
          </a:p>
        </p:txBody>
      </p:sp>
      <p:sp>
        <p:nvSpPr>
          <p:cNvPr id="3" name="t2: BOOTMODE=0 · PRELMODE=1"/>
          <p:cNvSpPr txBox="1"/>
          <p:nvPr/>
        </p:nvSpPr>
        <p:spPr>
          <a:xfrm>
            <a:off x="6222623" y="153010"/>
            <a:ext cx="261657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BOOTMODE=0 · PRELMODE=1</a:t>
            </a:r>
          </a:p>
        </p:txBody>
      </p:sp>
      <p:sp>
        <p:nvSpPr>
          <p:cNvPr id="4" name="elf"/>
          <p:cNvSpPr/>
          <p:nvPr/>
        </p:nvSpPr>
        <p:spPr>
          <a:xfrm>
            <a:off x="457200" y="800100"/>
            <a:ext cx="2057400" cy="762000"/>
          </a:xfrm>
          <a:prstGeom prst="rect">
            <a:avLst/>
          </a:prstGeom>
          <a:solidFill>
            <a:srgbClr val="D9EEE8"/>
          </a:solidFill>
          <a:ln w="1524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3: 应用程序 ELF"/>
          <p:cNvSpPr txBox="1"/>
          <p:nvPr/>
        </p:nvSpPr>
        <p:spPr>
          <a:xfrm>
            <a:off x="756321" y="882091"/>
            <a:ext cx="1459159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应用程序 ELF</a:t>
            </a:r>
          </a:p>
        </p:txBody>
      </p:sp>
      <p:sp>
        <p:nvSpPr>
          <p:cNvPr id="6" name="t4: fmatmul.spm.elf"/>
          <p:cNvSpPr txBox="1"/>
          <p:nvPr/>
        </p:nvSpPr>
        <p:spPr>
          <a:xfrm>
            <a:off x="618470" y="1171651"/>
            <a:ext cx="1734860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fmatmul.spm.elf</a:t>
            </a:r>
          </a:p>
        </p:txBody>
      </p:sp>
      <p:sp>
        <p:nvSpPr>
          <p:cNvPr id="7" name="tb"/>
          <p:cNvSpPr/>
          <p:nvPr/>
        </p:nvSpPr>
        <p:spPr>
          <a:xfrm>
            <a:off x="3352800" y="800100"/>
            <a:ext cx="5334000" cy="762000"/>
          </a:xfrm>
          <a:prstGeom prst="rect">
            <a:avLst/>
          </a:prstGeom>
          <a:solidFill>
            <a:srgbClr val="F5E1C9"/>
          </a:solidFill>
          <a:ln w="1524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5: 测试平台 TB / VIP"/>
          <p:cNvSpPr txBox="1"/>
          <p:nvPr/>
        </p:nvSpPr>
        <p:spPr>
          <a:xfrm>
            <a:off x="5000583" y="865632"/>
            <a:ext cx="203843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测试平台 TB / VIP</a:t>
            </a:r>
          </a:p>
        </p:txBody>
      </p:sp>
      <p:sp>
        <p:nvSpPr>
          <p:cNvPr id="9" name="t6: DPI 解析 ELF · 驱动 DUT · 监视结果"/>
          <p:cNvSpPr txBox="1"/>
          <p:nvPr/>
        </p:nvSpPr>
        <p:spPr>
          <a:xfrm>
            <a:off x="4146024" y="1155192"/>
            <a:ext cx="3747552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DPI 解析 ELF · 驱动 DUT · 监视结果</a:t>
            </a:r>
          </a:p>
        </p:txBody>
      </p:sp>
      <p:sp>
        <p:nvSpPr>
          <p:cNvPr id="10" name="elf-tb"/>
          <p:cNvSpPr/>
          <p:nvPr/>
        </p:nvSpPr>
        <p:spPr>
          <a:xfrm>
            <a:off x="2514600" y="1181100"/>
            <a:ext cx="838200" cy="1"/>
          </a:xfrm>
          <a:custGeom>
            <a:avLst/>
            <a:gdLst/>
            <a:ahLst/>
            <a:cxnLst/>
            <a:rect l="0" t="0" r="r" b="b"/>
            <a:pathLst>
              <a:path w="838200" h="1" fill="none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/>
          <a:ln w="22860" cap="flat">
            <a:solidFill>
              <a:srgbClr val="247D7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7: ELF"/>
          <p:cNvSpPr txBox="1"/>
          <p:nvPr/>
        </p:nvSpPr>
        <p:spPr>
          <a:xfrm>
            <a:off x="2691854" y="838200"/>
            <a:ext cx="483691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ELF</a:t>
            </a:r>
          </a:p>
        </p:txBody>
      </p:sp>
      <p:sp>
        <p:nvSpPr>
          <p:cNvPr id="12" name="dut"/>
          <p:cNvSpPr/>
          <p:nvPr/>
        </p:nvSpPr>
        <p:spPr>
          <a:xfrm>
            <a:off x="457200" y="2324100"/>
            <a:ext cx="8229600" cy="3429000"/>
          </a:xfrm>
          <a:prstGeom prst="rect">
            <a:avLst/>
          </a:prstGeom>
          <a:solidFill>
            <a:srgbClr val="F1D7D9"/>
          </a:solidFill>
          <a:ln w="15240" cap="flat">
            <a:solidFill>
              <a:srgbClr val="715F6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8: DUT：Cheshire SoC"/>
          <p:cNvSpPr txBox="1"/>
          <p:nvPr/>
        </p:nvSpPr>
        <p:spPr>
          <a:xfrm>
            <a:off x="647700" y="2373782"/>
            <a:ext cx="2298323" cy="3779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DUT：Cheshire SoC</a:t>
            </a:r>
          </a:p>
        </p:txBody>
      </p:sp>
      <p:sp>
        <p:nvSpPr>
          <p:cNvPr id="14" name="cpu"/>
          <p:cNvSpPr/>
          <p:nvPr/>
        </p:nvSpPr>
        <p:spPr>
          <a:xfrm>
            <a:off x="838200" y="2895600"/>
            <a:ext cx="1828800" cy="685800"/>
          </a:xfrm>
          <a:prstGeom prst="rect">
            <a:avLst/>
          </a:prstGeom>
          <a:solidFill>
            <a:srgbClr val="D8E8F4"/>
          </a:solidFill>
          <a:ln w="1524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9: CVA6"/>
          <p:cNvSpPr txBox="1"/>
          <p:nvPr/>
        </p:nvSpPr>
        <p:spPr>
          <a:xfrm>
            <a:off x="1383792" y="2931262"/>
            <a:ext cx="737616" cy="35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6" name="t10: 执行程序"/>
          <p:cNvSpPr txBox="1"/>
          <p:nvPr/>
        </p:nvSpPr>
        <p:spPr>
          <a:xfrm>
            <a:off x="1200150" y="3220822"/>
            <a:ext cx="1104900" cy="35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执行程序</a:t>
            </a:r>
          </a:p>
        </p:txBody>
      </p:sp>
      <p:sp>
        <p:nvSpPr>
          <p:cNvPr id="17" name="ara"/>
          <p:cNvSpPr/>
          <p:nvPr/>
        </p:nvSpPr>
        <p:spPr>
          <a:xfrm>
            <a:off x="4114800" y="2895600"/>
            <a:ext cx="1828800" cy="685800"/>
          </a:xfrm>
          <a:prstGeom prst="rect">
            <a:avLst/>
          </a:prstGeom>
          <a:solidFill>
            <a:srgbClr val="D8E8F4"/>
          </a:solidFill>
          <a:ln w="1524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11: Ara"/>
          <p:cNvSpPr txBox="1"/>
          <p:nvPr/>
        </p:nvSpPr>
        <p:spPr>
          <a:xfrm>
            <a:off x="4762036" y="2931262"/>
            <a:ext cx="534329" cy="35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9" name="t12: 向量运算"/>
          <p:cNvSpPr txBox="1"/>
          <p:nvPr/>
        </p:nvSpPr>
        <p:spPr>
          <a:xfrm>
            <a:off x="4476750" y="3220822"/>
            <a:ext cx="1104900" cy="35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向量运算</a:t>
            </a:r>
          </a:p>
        </p:txBody>
      </p:sp>
      <p:sp>
        <p:nvSpPr>
          <p:cNvPr id="20" name="acc"/>
          <p:cNvSpPr/>
          <p:nvPr/>
        </p:nvSpPr>
        <p:spPr>
          <a:xfrm>
            <a:off x="2667000" y="3238500"/>
            <a:ext cx="1447800" cy="1"/>
          </a:xfrm>
          <a:custGeom>
            <a:avLst/>
            <a:gdLst/>
            <a:ahLst/>
            <a:cxnLst/>
            <a:rect l="0" t="0" r="r" b="b"/>
            <a:pathLst>
              <a:path w="1447800" h="1" fill="none">
                <a:moveTo>
                  <a:pt x="0" y="0"/>
                </a:moveTo>
                <a:lnTo>
                  <a:pt x="1447800" y="0"/>
                </a:lnTo>
              </a:path>
            </a:pathLst>
          </a:custGeom>
          <a:noFill/>
          <a:ln w="22860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13: 请求 / 响应"/>
          <p:cNvSpPr txBox="1"/>
          <p:nvPr/>
        </p:nvSpPr>
        <p:spPr>
          <a:xfrm>
            <a:off x="2808047" y="2880360"/>
            <a:ext cx="1165705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 / 响应</a:t>
            </a:r>
          </a:p>
        </p:txBody>
      </p:sp>
      <p:sp>
        <p:nvSpPr>
          <p:cNvPr id="22" name="axi"/>
          <p:cNvSpPr/>
          <p:nvPr/>
        </p:nvSpPr>
        <p:spPr>
          <a:xfrm>
            <a:off x="838200" y="4152900"/>
            <a:ext cx="5105400" cy="457200"/>
          </a:xfrm>
          <a:prstGeom prst="rect">
            <a:avLst/>
          </a:prstGeom>
          <a:solidFill>
            <a:srgbClr val="F5E1C9"/>
          </a:solidFill>
          <a:ln w="1524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14: AXI 互连"/>
          <p:cNvSpPr txBox="1"/>
          <p:nvPr/>
        </p:nvSpPr>
        <p:spPr>
          <a:xfrm>
            <a:off x="2858464" y="4210812"/>
            <a:ext cx="1064871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AXI 互连</a:t>
            </a:r>
          </a:p>
        </p:txBody>
      </p:sp>
      <p:sp>
        <p:nvSpPr>
          <p:cNvPr id="24" name="spm"/>
          <p:cNvSpPr/>
          <p:nvPr/>
        </p:nvSpPr>
        <p:spPr>
          <a:xfrm>
            <a:off x="6705600" y="3276600"/>
            <a:ext cx="1600200" cy="952500"/>
          </a:xfrm>
          <a:prstGeom prst="rect">
            <a:avLst/>
          </a:prstGeom>
          <a:solidFill>
            <a:srgbClr val="D9EEE8"/>
          </a:solidFill>
          <a:ln w="1524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15: LLC / SPM"/>
          <p:cNvSpPr txBox="1"/>
          <p:nvPr/>
        </p:nvSpPr>
        <p:spPr>
          <a:xfrm>
            <a:off x="6871895" y="3445612"/>
            <a:ext cx="1267611" cy="35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26" name="t16: 程序与数据"/>
          <p:cNvSpPr txBox="1"/>
          <p:nvPr/>
        </p:nvSpPr>
        <p:spPr>
          <a:xfrm>
            <a:off x="6842760" y="3735172"/>
            <a:ext cx="1325880" cy="35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程序与数据</a:t>
            </a:r>
          </a:p>
        </p:txBody>
      </p:sp>
      <p:sp>
        <p:nvSpPr>
          <p:cNvPr id="27" name="cpu-axi"/>
          <p:cNvSpPr/>
          <p:nvPr/>
        </p:nvSpPr>
        <p:spPr>
          <a:xfrm>
            <a:off x="1752600" y="3581400"/>
            <a:ext cx="1" cy="571500"/>
          </a:xfrm>
          <a:custGeom>
            <a:avLst/>
            <a:gdLst/>
            <a:ahLst/>
            <a:cxnLst/>
            <a:rect l="0" t="0" r="r" b="b"/>
            <a:pathLst>
              <a:path w="1" h="571500" fill="none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22860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17: 取指 / 访存"/>
          <p:cNvSpPr txBox="1"/>
          <p:nvPr/>
        </p:nvSpPr>
        <p:spPr>
          <a:xfrm>
            <a:off x="2030807" y="3710940"/>
            <a:ext cx="1165705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取指 / 访存</a:t>
            </a:r>
          </a:p>
        </p:txBody>
      </p:sp>
      <p:sp>
        <p:nvSpPr>
          <p:cNvPr id="29" name="ara-axi"/>
          <p:cNvSpPr/>
          <p:nvPr/>
        </p:nvSpPr>
        <p:spPr>
          <a:xfrm>
            <a:off x="5029200" y="3581400"/>
            <a:ext cx="1" cy="571500"/>
          </a:xfrm>
          <a:custGeom>
            <a:avLst/>
            <a:gdLst/>
            <a:ahLst/>
            <a:cxnLst/>
            <a:rect l="0" t="0" r="r" b="b"/>
            <a:pathLst>
              <a:path w="1" h="571500" fill="none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22860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18: 数据读写"/>
          <p:cNvSpPr txBox="1"/>
          <p:nvPr/>
        </p:nvSpPr>
        <p:spPr>
          <a:xfrm>
            <a:off x="5223510" y="3710940"/>
            <a:ext cx="952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</a:p>
        </p:txBody>
      </p:sp>
      <p:sp>
        <p:nvSpPr>
          <p:cNvPr id="31" name="axi-spm"/>
          <p:cNvSpPr/>
          <p:nvPr/>
        </p:nvSpPr>
        <p:spPr>
          <a:xfrm>
            <a:off x="5943600" y="3886200"/>
            <a:ext cx="762000" cy="609600"/>
          </a:xfrm>
          <a:custGeom>
            <a:avLst/>
            <a:gdLst/>
            <a:ahLst/>
            <a:cxnLst/>
            <a:rect l="0" t="0" r="r" b="b"/>
            <a:pathLst>
              <a:path w="762000" h="609600" fill="none">
                <a:moveTo>
                  <a:pt x="0" y="609600"/>
                </a:moveTo>
                <a:lnTo>
                  <a:pt x="533400" y="609600"/>
                </a:lnTo>
                <a:lnTo>
                  <a:pt x="533400" y="0"/>
                </a:lnTo>
                <a:lnTo>
                  <a:pt x="762000" y="0"/>
                </a:lnTo>
              </a:path>
            </a:pathLst>
          </a:custGeom>
          <a:noFill/>
          <a:ln w="22860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lock"/>
          <p:cNvSpPr/>
          <p:nvPr/>
        </p:nvSpPr>
        <p:spPr>
          <a:xfrm>
            <a:off x="304800" y="1562100"/>
            <a:ext cx="3505200" cy="1181100"/>
          </a:xfrm>
          <a:custGeom>
            <a:avLst/>
            <a:gdLst/>
            <a:ahLst/>
            <a:cxnLst/>
            <a:rect l="0" t="0" r="r" b="b"/>
            <a:pathLst>
              <a:path w="3505200" h="1181100" fill="none">
                <a:moveTo>
                  <a:pt x="3505200" y="0"/>
                </a:moveTo>
                <a:lnTo>
                  <a:pt x="3505200" y="457200"/>
                </a:lnTo>
                <a:lnTo>
                  <a:pt x="0" y="457200"/>
                </a:lnTo>
                <a:lnTo>
                  <a:pt x="0" y="1181100"/>
                </a:lnTo>
                <a:lnTo>
                  <a:pt x="152400" y="1181100"/>
                </a:lnTo>
              </a:path>
            </a:pathLst>
          </a:custGeom>
          <a:noFill/>
          <a:ln w="22860" cap="flat">
            <a:solidFill>
              <a:srgbClr val="A15C3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19: 时钟 / 复位 / 启动模式"/>
          <p:cNvSpPr txBox="1"/>
          <p:nvPr/>
        </p:nvSpPr>
        <p:spPr>
          <a:xfrm>
            <a:off x="986945" y="1684020"/>
            <a:ext cx="214091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时钟 / 复位 / 启动模式</a:t>
            </a:r>
          </a:p>
        </p:txBody>
      </p:sp>
      <p:sp>
        <p:nvSpPr>
          <p:cNvPr id="34" name="load"/>
          <p:cNvSpPr/>
          <p:nvPr/>
        </p:nvSpPr>
        <p:spPr>
          <a:xfrm>
            <a:off x="5943600" y="1562100"/>
            <a:ext cx="381000" cy="2743200"/>
          </a:xfrm>
          <a:custGeom>
            <a:avLst/>
            <a:gdLst/>
            <a:ahLst/>
            <a:cxnLst/>
            <a:rect l="0" t="0" r="r" b="b"/>
            <a:pathLst>
              <a:path w="381000" h="2743200" fill="none">
                <a:moveTo>
                  <a:pt x="381000" y="0"/>
                </a:moveTo>
                <a:lnTo>
                  <a:pt x="381000" y="2743200"/>
                </a:lnTo>
                <a:lnTo>
                  <a:pt x="0" y="2743200"/>
                </a:lnTo>
              </a:path>
            </a:pathLst>
          </a:custGeom>
          <a:noFill/>
          <a:ln w="22860" cap="flat">
            <a:solidFill>
              <a:srgbClr val="247D7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20: Serial Link 装载 / 启动"/>
          <p:cNvSpPr txBox="1"/>
          <p:nvPr/>
        </p:nvSpPr>
        <p:spPr>
          <a:xfrm>
            <a:off x="6611094" y="1775460"/>
            <a:ext cx="209401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Serial Link 装载 / 启动</a:t>
            </a:r>
          </a:p>
        </p:txBody>
      </p:sp>
      <p:sp>
        <p:nvSpPr>
          <p:cNvPr id="36" name="t21: ROM 就绪后加载至 SPM"/>
          <p:cNvSpPr txBox="1"/>
          <p:nvPr/>
        </p:nvSpPr>
        <p:spPr>
          <a:xfrm>
            <a:off x="6550581" y="2042770"/>
            <a:ext cx="213883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ROM 就绪后加载至 SPM</a:t>
            </a:r>
          </a:p>
        </p:txBody>
      </p:sp>
      <p:sp>
        <p:nvSpPr>
          <p:cNvPr id="37" name="rom"/>
          <p:cNvSpPr/>
          <p:nvPr/>
        </p:nvSpPr>
        <p:spPr>
          <a:xfrm>
            <a:off x="838200" y="4991100"/>
            <a:ext cx="1676400" cy="533400"/>
          </a:xfrm>
          <a:prstGeom prst="rect">
            <a:avLst/>
          </a:prstGeom>
          <a:solidFill>
            <a:srgbClr val="EFE6F0"/>
          </a:solidFill>
          <a:ln w="1524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22: Boot ROM"/>
          <p:cNvSpPr txBox="1"/>
          <p:nvPr/>
        </p:nvSpPr>
        <p:spPr>
          <a:xfrm>
            <a:off x="1098816" y="5103571"/>
            <a:ext cx="1155168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9" name="run"/>
          <p:cNvSpPr/>
          <p:nvPr/>
        </p:nvSpPr>
        <p:spPr>
          <a:xfrm>
            <a:off x="3200400" y="4991100"/>
            <a:ext cx="2057400" cy="533400"/>
          </a:xfrm>
          <a:prstGeom prst="rect">
            <a:avLst/>
          </a:prstGeom>
          <a:solidFill>
            <a:srgbClr val="EFE6F0"/>
          </a:solidFill>
          <a:ln w="1524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23: 执行 fmatmul"/>
          <p:cNvSpPr txBox="1"/>
          <p:nvPr/>
        </p:nvSpPr>
        <p:spPr>
          <a:xfrm>
            <a:off x="3495657" y="5103571"/>
            <a:ext cx="1466886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 fmatmul</a:t>
            </a:r>
          </a:p>
        </p:txBody>
      </p:sp>
      <p:sp>
        <p:nvSpPr>
          <p:cNvPr id="41" name="check"/>
          <p:cNvSpPr/>
          <p:nvPr/>
        </p:nvSpPr>
        <p:spPr>
          <a:xfrm>
            <a:off x="5943600" y="4914900"/>
            <a:ext cx="2362200" cy="685800"/>
          </a:xfrm>
          <a:prstGeom prst="rect">
            <a:avLst/>
          </a:prstGeom>
          <a:solidFill>
            <a:srgbClr val="EFE6F0"/>
          </a:solidFill>
          <a:ln w="1524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24: CPU 软件自检"/>
          <p:cNvSpPr txBox="1"/>
          <p:nvPr/>
        </p:nvSpPr>
        <p:spPr>
          <a:xfrm>
            <a:off x="6392454" y="4967021"/>
            <a:ext cx="1464493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CPU 软件自检</a:t>
            </a:r>
          </a:p>
        </p:txBody>
      </p:sp>
      <p:sp>
        <p:nvSpPr>
          <p:cNvPr id="43" name="t25: 标量 G 对比向量 C"/>
          <p:cNvSpPr txBox="1"/>
          <p:nvPr/>
        </p:nvSpPr>
        <p:spPr>
          <a:xfrm>
            <a:off x="6180576" y="5256581"/>
            <a:ext cx="188824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标量 G 对比向量 C</a:t>
            </a:r>
          </a:p>
        </p:txBody>
      </p:sp>
      <p:sp>
        <p:nvSpPr>
          <p:cNvPr id="44" name="rom-run"/>
          <p:cNvSpPr/>
          <p:nvPr/>
        </p:nvSpPr>
        <p:spPr>
          <a:xfrm>
            <a:off x="2514600" y="5257800"/>
            <a:ext cx="685800" cy="1"/>
          </a:xfrm>
          <a:custGeom>
            <a:avLst/>
            <a:gdLst/>
            <a:ahLst/>
            <a:cxnLst/>
            <a:rect l="0" t="0" r="r" b="b"/>
            <a:pathLst>
              <a:path w="685800" h="1" fill="none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22860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un-check"/>
          <p:cNvSpPr/>
          <p:nvPr/>
        </p:nvSpPr>
        <p:spPr>
          <a:xfrm>
            <a:off x="5257800" y="5257800"/>
            <a:ext cx="685800" cy="1"/>
          </a:xfrm>
          <a:custGeom>
            <a:avLst/>
            <a:gdLst/>
            <a:ahLst/>
            <a:cxnLst/>
            <a:rect l="0" t="0" r="r" b="b"/>
            <a:pathLst>
              <a:path w="685800" h="1" fill="none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22860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uart-output"/>
          <p:cNvSpPr/>
          <p:nvPr/>
        </p:nvSpPr>
        <p:spPr>
          <a:xfrm>
            <a:off x="2286000" y="5753100"/>
            <a:ext cx="1" cy="647700"/>
          </a:xfrm>
          <a:custGeom>
            <a:avLst/>
            <a:gdLst/>
            <a:ahLst/>
            <a:cxnLst/>
            <a:rect l="0" t="0" r="r" b="b"/>
            <a:pathLst>
              <a:path w="1" h="647700" fill="none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/>
          <a:ln w="22860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26: UART 文本"/>
          <p:cNvSpPr txBox="1"/>
          <p:nvPr/>
        </p:nvSpPr>
        <p:spPr>
          <a:xfrm>
            <a:off x="2741474" y="5958840"/>
            <a:ext cx="107025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UART 文本</a:t>
            </a:r>
          </a:p>
        </p:txBody>
      </p:sp>
      <p:sp>
        <p:nvSpPr>
          <p:cNvPr id="48" name="eoc-output"/>
          <p:cNvSpPr/>
          <p:nvPr/>
        </p:nvSpPr>
        <p:spPr>
          <a:xfrm>
            <a:off x="6858000" y="5753100"/>
            <a:ext cx="1" cy="647700"/>
          </a:xfrm>
          <a:custGeom>
            <a:avLst/>
            <a:gdLst/>
            <a:ahLst/>
            <a:cxnLst/>
            <a:rect l="0" t="0" r="r" b="b"/>
            <a:pathLst>
              <a:path w="1" h="647700" fill="none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/>
          <a:ln w="22860" cap="flat">
            <a:solidFill>
              <a:srgbClr val="247D7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27: 完成寄存器状态"/>
          <p:cNvSpPr txBox="1"/>
          <p:nvPr/>
        </p:nvSpPr>
        <p:spPr>
          <a:xfrm>
            <a:off x="7086600" y="5958840"/>
            <a:ext cx="1524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完成寄存器状态</a:t>
            </a:r>
          </a:p>
        </p:txBody>
      </p:sp>
      <p:sp>
        <p:nvSpPr>
          <p:cNvPr id="50" name="uart"/>
          <p:cNvSpPr/>
          <p:nvPr/>
        </p:nvSpPr>
        <p:spPr>
          <a:xfrm>
            <a:off x="457200" y="6400800"/>
            <a:ext cx="3810000" cy="762000"/>
          </a:xfrm>
          <a:prstGeom prst="rect">
            <a:avLst/>
          </a:prstGeom>
          <a:solidFill>
            <a:srgbClr val="F1F3F5"/>
          </a:solidFill>
          <a:ln w="1524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28: Verifying result / Passed"/>
          <p:cNvSpPr txBox="1"/>
          <p:nvPr/>
        </p:nvSpPr>
        <p:spPr>
          <a:xfrm>
            <a:off x="1062198" y="6474562"/>
            <a:ext cx="2600004" cy="35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Verifying result / Passed</a:t>
            </a:r>
          </a:p>
        </p:txBody>
      </p:sp>
      <p:sp>
        <p:nvSpPr>
          <p:cNvPr id="52" name="t29: 软件比较进度与结果"/>
          <p:cNvSpPr txBox="1"/>
          <p:nvPr/>
        </p:nvSpPr>
        <p:spPr>
          <a:xfrm>
            <a:off x="1257300" y="6764122"/>
            <a:ext cx="2209800" cy="35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软件比较进度与结果</a:t>
            </a:r>
          </a:p>
        </p:txBody>
      </p:sp>
      <p:sp>
        <p:nvSpPr>
          <p:cNvPr id="53" name="status"/>
          <p:cNvSpPr/>
          <p:nvPr/>
        </p:nvSpPr>
        <p:spPr>
          <a:xfrm>
            <a:off x="4876800" y="6400800"/>
            <a:ext cx="3810000" cy="762000"/>
          </a:xfrm>
          <a:prstGeom prst="rect">
            <a:avLst/>
          </a:prstGeom>
          <a:solidFill>
            <a:srgbClr val="F1F3F5"/>
          </a:solidFill>
          <a:ln w="1524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30: [SLINK] SUCCESS / FAILED"/>
          <p:cNvSpPr txBox="1"/>
          <p:nvPr/>
        </p:nvSpPr>
        <p:spPr>
          <a:xfrm>
            <a:off x="5346746" y="6474562"/>
            <a:ext cx="2870109" cy="35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[SLINK] SUCCESS / FAILED</a:t>
            </a:r>
          </a:p>
        </p:txBody>
      </p:sp>
      <p:sp>
        <p:nvSpPr>
          <p:cNvPr id="55" name="t31: 目标返回码 → TB 结束"/>
          <p:cNvSpPr txBox="1"/>
          <p:nvPr/>
        </p:nvSpPr>
        <p:spPr>
          <a:xfrm>
            <a:off x="5564368" y="6764122"/>
            <a:ext cx="2434864" cy="35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目标返回码 → TB 结束</a:t>
            </a:r>
          </a:p>
        </p:txBody>
      </p:sp>
      <p:sp>
        <p:nvSpPr>
          <p:cNvPr id="56" name="legend-hw"/>
          <p:cNvSpPr/>
          <p:nvPr/>
        </p:nvSpPr>
        <p:spPr>
          <a:xfrm>
            <a:off x="495300" y="7490460"/>
            <a:ext cx="381000" cy="1"/>
          </a:xfrm>
          <a:custGeom>
            <a:avLst/>
            <a:gdLst/>
            <a:ahLst/>
            <a:cxnLst/>
            <a:rect l="0" t="0" r="r" b="b"/>
            <a:pathLst>
              <a:path w="381000" h="1" fill="none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2860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32: 硬件通路"/>
          <p:cNvSpPr txBox="1"/>
          <p:nvPr/>
        </p:nvSpPr>
        <p:spPr>
          <a:xfrm>
            <a:off x="990600" y="736153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硬件通路</a:t>
            </a:r>
          </a:p>
        </p:txBody>
      </p:sp>
      <p:sp>
        <p:nvSpPr>
          <p:cNvPr id="58" name="legend-sw"/>
          <p:cNvSpPr/>
          <p:nvPr/>
        </p:nvSpPr>
        <p:spPr>
          <a:xfrm>
            <a:off x="2590800" y="7490460"/>
            <a:ext cx="381000" cy="1"/>
          </a:xfrm>
          <a:custGeom>
            <a:avLst/>
            <a:gdLst/>
            <a:ahLst/>
            <a:cxnLst/>
            <a:rect l="0" t="0" r="r" b="b"/>
            <a:pathLst>
              <a:path w="381000" h="1" fill="none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2860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33: 软件流程"/>
          <p:cNvSpPr txBox="1"/>
          <p:nvPr/>
        </p:nvSpPr>
        <p:spPr>
          <a:xfrm>
            <a:off x="3086100" y="736153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软件流程</a:t>
            </a:r>
          </a:p>
        </p:txBody>
      </p:sp>
      <p:sp>
        <p:nvSpPr>
          <p:cNvPr id="60" name="t34: 目标程序结果与主机退出状态分开判断"/>
          <p:cNvSpPr txBox="1"/>
          <p:nvPr/>
        </p:nvSpPr>
        <p:spPr>
          <a:xfrm>
            <a:off x="5394960" y="7361530"/>
            <a:ext cx="329184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目标程序结果与主机退出状态分开判断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