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426720" y="1529080"/>
            <a:ext cx="3733800" cy="3591560"/>
          </a:xfrm>
          <a:prstGeom prst="roundRect">
            <a:avLst>
              <a:gd name="adj" fmla="val 237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5085080" y="1529080"/>
            <a:ext cx="7396480" cy="3591560"/>
          </a:xfrm>
          <a:prstGeom prst="roundRect">
            <a:avLst>
              <a:gd name="adj" fmla="val 237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7"/>
          <p:cNvSpPr/>
          <p:nvPr/>
        </p:nvSpPr>
        <p:spPr>
          <a:xfrm>
            <a:off x="3840480" y="3004820"/>
            <a:ext cx="1493520" cy="1"/>
          </a:xfrm>
          <a:custGeom>
            <a:avLst/>
            <a:gdLst/>
            <a:ahLst/>
            <a:cxnLst/>
            <a:rect l="0" t="0" r="r" b="b"/>
            <a:pathLst>
              <a:path w="1493520" h="1" fill="none">
                <a:moveTo>
                  <a:pt x="0" y="0"/>
                </a:moveTo>
                <a:lnTo>
                  <a:pt x="149352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9"/>
          <p:cNvSpPr/>
          <p:nvPr/>
        </p:nvSpPr>
        <p:spPr>
          <a:xfrm>
            <a:off x="8498840" y="300482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1"/>
          <p:cNvSpPr/>
          <p:nvPr/>
        </p:nvSpPr>
        <p:spPr>
          <a:xfrm>
            <a:off x="2222500" y="3662680"/>
            <a:ext cx="53340" cy="604520"/>
          </a:xfrm>
          <a:custGeom>
            <a:avLst/>
            <a:gdLst/>
            <a:ahLst/>
            <a:cxnLst/>
            <a:rect l="0" t="0" r="r" b="b"/>
            <a:pathLst>
              <a:path w="53340" h="604520" fill="none">
                <a:moveTo>
                  <a:pt x="5334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3: 关电域与常开域：隔离、保持、电平转换各有职责"/>
          <p:cNvSpPr txBox="1"/>
          <p:nvPr/>
        </p:nvSpPr>
        <p:spPr>
          <a:xfrm>
            <a:off x="483616" y="271109"/>
            <a:ext cx="588873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关电域与常开域：隔离、保持、电平转换各有职责</a:t>
            </a:r>
          </a:p>
        </p:txBody>
      </p:sp>
      <p:sp>
        <p:nvSpPr>
          <p:cNvPr id="11" name="text-014: 示例 done 为有效高，接收协议允许隔离时钳为 0；实际钳位值按接口协议决定。"/>
          <p:cNvSpPr txBox="1"/>
          <p:nvPr/>
        </p:nvSpPr>
        <p:spPr>
          <a:xfrm>
            <a:off x="483616" y="676778"/>
            <a:ext cx="62486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 done 为有效高，接收协议允许隔离时钳为 0；实际钳位值按接口协议决定。</a:t>
            </a:r>
          </a:p>
        </p:txBody>
      </p:sp>
      <p:sp>
        <p:nvSpPr>
          <p:cNvPr id="12" name="text-015: 未来方案 / 待实现与验证"/>
          <p:cNvSpPr txBox="1"/>
          <p:nvPr/>
        </p:nvSpPr>
        <p:spPr>
          <a:xfrm>
            <a:off x="341376" y="74983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3" name="text-016: 依据：ASIC 低功耗通用机制；需工艺库、UPF 与平台协议支持"/>
          <p:cNvSpPr txBox="1"/>
          <p:nvPr/>
        </p:nvSpPr>
        <p:spPr>
          <a:xfrm>
            <a:off x="341376" y="7726477"/>
            <a:ext cx="424586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依据：ASIC 低功耗通用机制；需工艺库、UPF 与平台协议支持</a:t>
            </a:r>
          </a:p>
        </p:txBody>
      </p:sp>
      <p:sp>
        <p:nvSpPr>
          <p:cNvPr id="14" name="text-017: 可关断设备域"/>
          <p:cNvSpPr txBox="1"/>
          <p:nvPr/>
        </p:nvSpPr>
        <p:spPr>
          <a:xfrm>
            <a:off x="554736" y="158597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可关断设备域</a:t>
            </a:r>
          </a:p>
        </p:txBody>
      </p:sp>
      <p:sp>
        <p:nvSpPr>
          <p:cNvPr id="15" name="rect-018"/>
          <p:cNvSpPr/>
          <p:nvPr/>
        </p:nvSpPr>
        <p:spPr>
          <a:xfrm>
            <a:off x="711200" y="2346960"/>
            <a:ext cx="3129280" cy="1315720"/>
          </a:xfrm>
          <a:prstGeom prst="roundRect">
            <a:avLst>
              <a:gd name="adj" fmla="val 378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9"/>
          <p:cNvSpPr/>
          <p:nvPr/>
        </p:nvSpPr>
        <p:spPr>
          <a:xfrm>
            <a:off x="711200" y="2346960"/>
            <a:ext cx="35560" cy="13157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20: 计算状态机"/>
          <p:cNvSpPr txBox="1"/>
          <p:nvPr/>
        </p:nvSpPr>
        <p:spPr>
          <a:xfrm>
            <a:off x="832104" y="237483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计算状态机</a:t>
            </a:r>
          </a:p>
        </p:txBody>
      </p:sp>
      <p:sp>
        <p:nvSpPr>
          <p:cNvPr id="18" name="text-021: 普通寄存器掉电后丢失"/>
          <p:cNvSpPr txBox="1"/>
          <p:nvPr/>
        </p:nvSpPr>
        <p:spPr>
          <a:xfrm>
            <a:off x="832104" y="26462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普通寄存器掉电后丢失</a:t>
            </a:r>
          </a:p>
        </p:txBody>
      </p:sp>
      <p:sp>
        <p:nvSpPr>
          <p:cNvPr id="19" name="text-022: done 输出 / 任务内部状态"/>
          <p:cNvSpPr txBox="1"/>
          <p:nvPr/>
        </p:nvSpPr>
        <p:spPr>
          <a:xfrm>
            <a:off x="832104" y="2859593"/>
            <a:ext cx="24237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done 输出 / 任务内部状态</a:t>
            </a:r>
          </a:p>
        </p:txBody>
      </p:sp>
      <p:sp>
        <p:nvSpPr>
          <p:cNvPr id="20" name="text-023: 电源撤除前先完成事务"/>
          <p:cNvSpPr txBox="1"/>
          <p:nvPr/>
        </p:nvSpPr>
        <p:spPr>
          <a:xfrm>
            <a:off x="832104" y="30729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电源撤除前先完成事务</a:t>
            </a:r>
          </a:p>
        </p:txBody>
      </p:sp>
      <p:sp>
        <p:nvSpPr>
          <p:cNvPr id="21" name="text-024: 常开控制与隔离供电边界"/>
          <p:cNvSpPr txBox="1"/>
          <p:nvPr/>
        </p:nvSpPr>
        <p:spPr>
          <a:xfrm>
            <a:off x="5213096" y="1585976"/>
            <a:ext cx="2133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常开控制与隔离供电边界</a:t>
            </a:r>
          </a:p>
        </p:txBody>
      </p:sp>
      <p:sp>
        <p:nvSpPr>
          <p:cNvPr id="22" name="rect-025"/>
          <p:cNvSpPr/>
          <p:nvPr/>
        </p:nvSpPr>
        <p:spPr>
          <a:xfrm>
            <a:off x="5334000" y="2346960"/>
            <a:ext cx="3164840" cy="1315720"/>
          </a:xfrm>
          <a:prstGeom prst="roundRect">
            <a:avLst>
              <a:gd name="adj" fmla="val 378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6"/>
          <p:cNvSpPr/>
          <p:nvPr/>
        </p:nvSpPr>
        <p:spPr>
          <a:xfrm>
            <a:off x="5334000" y="2346960"/>
            <a:ext cx="35560" cy="13157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7: 输出隔离单元"/>
          <p:cNvSpPr txBox="1"/>
          <p:nvPr/>
        </p:nvSpPr>
        <p:spPr>
          <a:xfrm>
            <a:off x="5454904" y="23748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输出隔离单元</a:t>
            </a:r>
          </a:p>
        </p:txBody>
      </p:sp>
      <p:sp>
        <p:nvSpPr>
          <p:cNvPr id="25" name="text-028: 隔离有效：done_out = 0"/>
          <p:cNvSpPr txBox="1"/>
          <p:nvPr/>
        </p:nvSpPr>
        <p:spPr>
          <a:xfrm>
            <a:off x="5454904" y="2646233"/>
            <a:ext cx="23554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隔离有效：done_out = 0</a:t>
            </a:r>
          </a:p>
        </p:txBody>
      </p:sp>
      <p:sp>
        <p:nvSpPr>
          <p:cNvPr id="26" name="text-029: 隔离解除：透传 done"/>
          <p:cNvSpPr txBox="1"/>
          <p:nvPr/>
        </p:nvSpPr>
        <p:spPr>
          <a:xfrm>
            <a:off x="5454904" y="2859593"/>
            <a:ext cx="19202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隔离解除：透传 done</a:t>
            </a:r>
          </a:p>
        </p:txBody>
      </p:sp>
      <p:sp>
        <p:nvSpPr>
          <p:cNvPr id="27" name="text-030: 钳低不能撤销已接受 AXI"/>
          <p:cNvSpPr txBox="1"/>
          <p:nvPr/>
        </p:nvSpPr>
        <p:spPr>
          <a:xfrm>
            <a:off x="5454904" y="3072953"/>
            <a:ext cx="21506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钳低不能撤销已接受 AXI</a:t>
            </a:r>
          </a:p>
        </p:txBody>
      </p:sp>
      <p:sp>
        <p:nvSpPr>
          <p:cNvPr id="28" name="rect-031"/>
          <p:cNvSpPr/>
          <p:nvPr/>
        </p:nvSpPr>
        <p:spPr>
          <a:xfrm>
            <a:off x="9245600" y="2346960"/>
            <a:ext cx="2951480" cy="1315720"/>
          </a:xfrm>
          <a:prstGeom prst="roundRect">
            <a:avLst>
              <a:gd name="adj" fmla="val 378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2"/>
          <p:cNvSpPr/>
          <p:nvPr/>
        </p:nvSpPr>
        <p:spPr>
          <a:xfrm>
            <a:off x="9245600" y="2346960"/>
            <a:ext cx="35560" cy="13157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3: 完成邮箱 / 控制器"/>
          <p:cNvSpPr txBox="1"/>
          <p:nvPr/>
        </p:nvSpPr>
        <p:spPr>
          <a:xfrm>
            <a:off x="9366504" y="2374839"/>
            <a:ext cx="1839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完成邮箱 / 控制器</a:t>
            </a:r>
          </a:p>
        </p:txBody>
      </p:sp>
      <p:sp>
        <p:nvSpPr>
          <p:cNvPr id="31" name="text-034: 记录 epoch 与所有权"/>
          <p:cNvSpPr txBox="1"/>
          <p:nvPr/>
        </p:nvSpPr>
        <p:spPr>
          <a:xfrm>
            <a:off x="9366504" y="2646233"/>
            <a:ext cx="19714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记录 epoch 与所有权</a:t>
            </a:r>
          </a:p>
        </p:txBody>
      </p:sp>
      <p:sp>
        <p:nvSpPr>
          <p:cNvPr id="32" name="text-035: 匹配状态后回收 buffer"/>
          <p:cNvSpPr txBox="1"/>
          <p:nvPr/>
        </p:nvSpPr>
        <p:spPr>
          <a:xfrm>
            <a:off x="9366504" y="2859593"/>
            <a:ext cx="21421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匹配状态后回收 buffer</a:t>
            </a:r>
          </a:p>
        </p:txBody>
      </p:sp>
      <p:sp>
        <p:nvSpPr>
          <p:cNvPr id="33" name="text-036: 处理超时与错误"/>
          <p:cNvSpPr txBox="1"/>
          <p:nvPr/>
        </p:nvSpPr>
        <p:spPr>
          <a:xfrm>
            <a:off x="9366504" y="3072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处理超时与错误</a:t>
            </a:r>
          </a:p>
        </p:txBody>
      </p:sp>
      <p:sp>
        <p:nvSpPr>
          <p:cNvPr id="34" name="rect-037"/>
          <p:cNvSpPr/>
          <p:nvPr/>
        </p:nvSpPr>
        <p:spPr>
          <a:xfrm>
            <a:off x="924560" y="4267200"/>
            <a:ext cx="2595880" cy="640080"/>
          </a:xfrm>
          <a:prstGeom prst="roundRect">
            <a:avLst>
              <a:gd name="adj" fmla="val 777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8"/>
          <p:cNvSpPr/>
          <p:nvPr/>
        </p:nvSpPr>
        <p:spPr>
          <a:xfrm>
            <a:off x="924560" y="4267200"/>
            <a:ext cx="35560" cy="6400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9: 保持资源：独立供电"/>
          <p:cNvSpPr txBox="1"/>
          <p:nvPr/>
        </p:nvSpPr>
        <p:spPr>
          <a:xfrm>
            <a:off x="1045464" y="42950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保持资源：独立供电</a:t>
            </a:r>
          </a:p>
        </p:txBody>
      </p:sp>
      <p:sp>
        <p:nvSpPr>
          <p:cNvPr id="37" name="text-040: 仅保存选定状态"/>
          <p:cNvSpPr txBox="1"/>
          <p:nvPr/>
        </p:nvSpPr>
        <p:spPr>
          <a:xfrm>
            <a:off x="1045464" y="458183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仅保存选定状态</a:t>
            </a:r>
          </a:p>
        </p:txBody>
      </p:sp>
      <p:sp>
        <p:nvSpPr>
          <p:cNvPr id="38" name="rect-041"/>
          <p:cNvSpPr/>
          <p:nvPr/>
        </p:nvSpPr>
        <p:spPr>
          <a:xfrm>
            <a:off x="426720" y="57962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42"/>
          <p:cNvSpPr/>
          <p:nvPr/>
        </p:nvSpPr>
        <p:spPr>
          <a:xfrm>
            <a:off x="426720" y="57962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3: 关断顺序（需 IP 规范确认）"/>
          <p:cNvSpPr txBox="1"/>
          <p:nvPr/>
        </p:nvSpPr>
        <p:spPr>
          <a:xfrm>
            <a:off x="547624" y="5824159"/>
            <a:ext cx="269971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关断顺序（需 IP 规范确认）</a:t>
            </a:r>
          </a:p>
        </p:txBody>
      </p:sp>
      <p:sp>
        <p:nvSpPr>
          <p:cNvPr id="41" name="text-044: 停发并排空 → 保存必要状态 → 隔离"/>
          <p:cNvSpPr txBox="1"/>
          <p:nvPr/>
        </p:nvSpPr>
        <p:spPr>
          <a:xfrm>
            <a:off x="547624" y="6110915"/>
            <a:ext cx="29102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停发并排空 → 保存必要状态 → 隔离</a:t>
            </a:r>
          </a:p>
        </p:txBody>
      </p:sp>
      <p:sp>
        <p:nvSpPr>
          <p:cNvPr id="42" name="text-045: 按平台顺序关时钟 / 电源；处理异常在途事务"/>
          <p:cNvSpPr txBox="1"/>
          <p:nvPr/>
        </p:nvSpPr>
        <p:spPr>
          <a:xfrm>
            <a:off x="547624" y="6324275"/>
            <a:ext cx="34343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按平台顺序关时钟 / 电源；处理异常在途事务</a:t>
            </a:r>
          </a:p>
        </p:txBody>
      </p:sp>
      <p:sp>
        <p:nvSpPr>
          <p:cNvPr id="43" name="rect-046"/>
          <p:cNvSpPr/>
          <p:nvPr/>
        </p:nvSpPr>
        <p:spPr>
          <a:xfrm>
            <a:off x="6649720" y="57962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7"/>
          <p:cNvSpPr/>
          <p:nvPr/>
        </p:nvSpPr>
        <p:spPr>
          <a:xfrm>
            <a:off x="6649720" y="57962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8: 恢复顺序与电平兼容"/>
          <p:cNvSpPr txBox="1"/>
          <p:nvPr/>
        </p:nvSpPr>
        <p:spPr>
          <a:xfrm>
            <a:off x="6770624" y="58241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恢复顺序与电平兼容</a:t>
            </a:r>
          </a:p>
        </p:txBody>
      </p:sp>
      <p:sp>
        <p:nvSpPr>
          <p:cNvPr id="46" name="text-049: 供电 / 时钟稳定 → 复位 → 恢复 / 重建 → 就绪 → 解除隔离"/>
          <p:cNvSpPr txBox="1"/>
          <p:nvPr/>
        </p:nvSpPr>
        <p:spPr>
          <a:xfrm>
            <a:off x="6770624" y="6110915"/>
            <a:ext cx="50224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供电 / 时钟稳定 → 复位 → 恢复 / 重建 → 就绪 → 解除隔离</a:t>
            </a:r>
          </a:p>
        </p:txBody>
      </p:sp>
      <p:sp>
        <p:nvSpPr>
          <p:cNvPr id="47" name="text-050: 电平转换负责电压兼容；保持负责状态，均不替代隔离"/>
          <p:cNvSpPr txBox="1"/>
          <p:nvPr/>
        </p:nvSpPr>
        <p:spPr>
          <a:xfrm>
            <a:off x="6770624" y="6324275"/>
            <a:ext cx="39116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电平转换负责电压兼容；保持负责状态，均不替代隔离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