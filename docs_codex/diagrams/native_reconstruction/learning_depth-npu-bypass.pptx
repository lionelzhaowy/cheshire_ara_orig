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426720" y="1351280"/>
            <a:ext cx="5369560" cy="3840480"/>
          </a:xfrm>
          <a:prstGeom prst="roundRect">
            <a:avLst>
              <a:gd name="adj" fmla="val 2222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6"/>
          <p:cNvSpPr/>
          <p:nvPr/>
        </p:nvSpPr>
        <p:spPr>
          <a:xfrm>
            <a:off x="6934200" y="1351280"/>
            <a:ext cx="5405120" cy="3840480"/>
          </a:xfrm>
          <a:prstGeom prst="roundRect">
            <a:avLst>
              <a:gd name="adj" fmla="val 2222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7"/>
          <p:cNvSpPr/>
          <p:nvPr/>
        </p:nvSpPr>
        <p:spPr>
          <a:xfrm>
            <a:off x="3111500" y="288036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 fill="none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9"/>
          <p:cNvSpPr/>
          <p:nvPr/>
        </p:nvSpPr>
        <p:spPr>
          <a:xfrm>
            <a:off x="9636760" y="288036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 fill="none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1"/>
          <p:cNvSpPr/>
          <p:nvPr/>
        </p:nvSpPr>
        <p:spPr>
          <a:xfrm>
            <a:off x="3107944" y="4729480"/>
            <a:ext cx="3292856" cy="1102360"/>
          </a:xfrm>
          <a:custGeom>
            <a:avLst/>
            <a:gdLst/>
            <a:ahLst/>
            <a:cxnLst/>
            <a:rect l="0" t="0" r="r" b="b"/>
            <a:pathLst>
              <a:path w="3292856" h="1102360" fill="none">
                <a:moveTo>
                  <a:pt x="3556" y="0"/>
                </a:moveTo>
                <a:lnTo>
                  <a:pt x="0" y="746760"/>
                </a:lnTo>
                <a:lnTo>
                  <a:pt x="3292856" y="746760"/>
                </a:lnTo>
                <a:lnTo>
                  <a:pt x="3292856" y="11023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3"/>
          <p:cNvSpPr/>
          <p:nvPr/>
        </p:nvSpPr>
        <p:spPr>
          <a:xfrm>
            <a:off x="6400800" y="4729480"/>
            <a:ext cx="3235960" cy="1102360"/>
          </a:xfrm>
          <a:custGeom>
            <a:avLst/>
            <a:gdLst/>
            <a:ahLst/>
            <a:cxnLst/>
            <a:rect l="0" t="0" r="r" b="b"/>
            <a:pathLst>
              <a:path w="3235960" h="1102360" fill="none">
                <a:moveTo>
                  <a:pt x="3235960" y="0"/>
                </a:moveTo>
                <a:lnTo>
                  <a:pt x="3235960" y="746760"/>
                </a:lnTo>
                <a:lnTo>
                  <a:pt x="0" y="746760"/>
                </a:lnTo>
                <a:lnTo>
                  <a:pt x="0" y="110236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5: 未来 DDR 旁路：数据汇合不等于一致性自动成立"/>
          <p:cNvSpPr txBox="1"/>
          <p:nvPr/>
        </p:nvSpPr>
        <p:spPr>
          <a:xfrm>
            <a:off x="483616" y="271109"/>
            <a:ext cx="5952744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未来 DDR 旁路：数据汇合不等于一致性自动成立</a:t>
            </a:r>
          </a:p>
        </p:txBody>
      </p:sp>
      <p:sp>
        <p:nvSpPr>
          <p:cNvPr id="12" name="text-016: CPU / Ara 保留 LLC 路径；NPU / ISP 数据绕过 LLC 是"/>
          <p:cNvSpPr txBox="1"/>
          <p:nvPr/>
        </p:nvSpPr>
        <p:spPr>
          <a:xfrm>
            <a:off x="483616" y="676778"/>
            <a:ext cx="662482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/ Ara 保留 LLC 路径；NPU / ISP 数据绕过 LLC 是用户目标，尚未实现。</a:t>
            </a:r>
          </a:p>
        </p:txBody>
      </p:sp>
      <p:sp>
        <p:nvSpPr>
          <p:cNvPr id="13" name="text-017: 未来方案 / 待实现与验证"/>
          <p:cNvSpPr txBox="1"/>
          <p:nvPr/>
        </p:nvSpPr>
        <p:spPr>
          <a:xfrm>
            <a:off x="341376" y="7498324"/>
            <a:ext cx="19341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4" name="text-018: 依据：当前 cheshire_soc.sv 主存路径与 M01 待定义接口契约"/>
          <p:cNvSpPr txBox="1"/>
          <p:nvPr/>
        </p:nvSpPr>
        <p:spPr>
          <a:xfrm>
            <a:off x="341376" y="7726477"/>
            <a:ext cx="4594352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依据：当前 cheshire_soc.sv 主存路径与 M01 待定义接口契约</a:t>
            </a:r>
          </a:p>
        </p:txBody>
      </p:sp>
      <p:sp>
        <p:nvSpPr>
          <p:cNvPr id="15" name="text-019: 现有 CPU / Ara 主存路径"/>
          <p:cNvSpPr txBox="1"/>
          <p:nvPr/>
        </p:nvSpPr>
        <p:spPr>
          <a:xfrm>
            <a:off x="554736" y="1408176"/>
            <a:ext cx="251587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现有 CPU / Ara 主存路径</a:t>
            </a:r>
          </a:p>
        </p:txBody>
      </p:sp>
      <p:sp>
        <p:nvSpPr>
          <p:cNvPr id="16" name="text-020: 未来 NPU / ISP 旁路"/>
          <p:cNvSpPr txBox="1"/>
          <p:nvPr/>
        </p:nvSpPr>
        <p:spPr>
          <a:xfrm>
            <a:off x="7062216" y="1408176"/>
            <a:ext cx="216027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未来 NPU / ISP 旁路</a:t>
            </a:r>
          </a:p>
        </p:txBody>
      </p:sp>
      <p:sp>
        <p:nvSpPr>
          <p:cNvPr id="17" name="rect-021"/>
          <p:cNvSpPr/>
          <p:nvPr/>
        </p:nvSpPr>
        <p:spPr>
          <a:xfrm>
            <a:off x="746760" y="1920240"/>
            <a:ext cx="4729480" cy="960120"/>
          </a:xfrm>
          <a:prstGeom prst="roundRect">
            <a:avLst>
              <a:gd name="adj" fmla="val 518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-022"/>
          <p:cNvSpPr/>
          <p:nvPr/>
        </p:nvSpPr>
        <p:spPr>
          <a:xfrm>
            <a:off x="746760" y="1920240"/>
            <a:ext cx="35560" cy="9601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23: CPU / Ara / 当前互连"/>
          <p:cNvSpPr txBox="1"/>
          <p:nvPr/>
        </p:nvSpPr>
        <p:spPr>
          <a:xfrm>
            <a:off x="867664" y="1948119"/>
            <a:ext cx="236687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/ Ara / 当前互连</a:t>
            </a:r>
          </a:p>
        </p:txBody>
      </p:sp>
      <p:sp>
        <p:nvSpPr>
          <p:cNvPr id="20" name="text-024: L1 cache 与 pending 协作"/>
          <p:cNvSpPr txBox="1"/>
          <p:nvPr/>
        </p:nvSpPr>
        <p:spPr>
          <a:xfrm>
            <a:off x="867664" y="2219513"/>
            <a:ext cx="26798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L1 cache 与 pending 协作</a:t>
            </a:r>
          </a:p>
        </p:txBody>
      </p:sp>
      <p:sp>
        <p:nvSpPr>
          <p:cNvPr id="21" name="text-025: 访问共享数据须遵循所有权协议"/>
          <p:cNvSpPr txBox="1"/>
          <p:nvPr/>
        </p:nvSpPr>
        <p:spPr>
          <a:xfrm>
            <a:off x="867664" y="2432873"/>
            <a:ext cx="256032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访问共享数据须遵循所有权协议</a:t>
            </a:r>
          </a:p>
        </p:txBody>
      </p:sp>
      <p:sp>
        <p:nvSpPr>
          <p:cNvPr id="22" name="rect-026"/>
          <p:cNvSpPr/>
          <p:nvPr/>
        </p:nvSpPr>
        <p:spPr>
          <a:xfrm>
            <a:off x="746760" y="3804920"/>
            <a:ext cx="472948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7"/>
          <p:cNvSpPr/>
          <p:nvPr/>
        </p:nvSpPr>
        <p:spPr>
          <a:xfrm>
            <a:off x="746760" y="380492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8: 现有原子处理 → LLC / SPM"/>
          <p:cNvSpPr txBox="1"/>
          <p:nvPr/>
        </p:nvSpPr>
        <p:spPr>
          <a:xfrm>
            <a:off x="867664" y="3832799"/>
            <a:ext cx="280141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现有原子处理 → LLC / SPM</a:t>
            </a:r>
          </a:p>
        </p:txBody>
      </p:sp>
      <p:sp>
        <p:nvSpPr>
          <p:cNvPr id="25" name="text-029: 缓存维护与 AMO / LRSC 监视边界"/>
          <p:cNvSpPr txBox="1"/>
          <p:nvPr/>
        </p:nvSpPr>
        <p:spPr>
          <a:xfrm>
            <a:off x="867664" y="4104193"/>
            <a:ext cx="303824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缓存维护与 AMO / LRSC 监视边界</a:t>
            </a:r>
          </a:p>
        </p:txBody>
      </p:sp>
      <p:sp>
        <p:nvSpPr>
          <p:cNvPr id="26" name="text-030: 小块共享 SRAM / SPM 需另定义接入口"/>
          <p:cNvSpPr txBox="1"/>
          <p:nvPr/>
        </p:nvSpPr>
        <p:spPr>
          <a:xfrm>
            <a:off x="867664" y="4317553"/>
            <a:ext cx="337962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小块共享 SRAM / SPM 需另定义接入口</a:t>
            </a:r>
          </a:p>
        </p:txBody>
      </p:sp>
      <p:sp>
        <p:nvSpPr>
          <p:cNvPr id="27" name="rect-031"/>
          <p:cNvSpPr/>
          <p:nvPr/>
        </p:nvSpPr>
        <p:spPr>
          <a:xfrm>
            <a:off x="7254240" y="1920240"/>
            <a:ext cx="4765040" cy="960120"/>
          </a:xfrm>
          <a:prstGeom prst="roundRect">
            <a:avLst>
              <a:gd name="adj" fmla="val 5185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32"/>
          <p:cNvSpPr/>
          <p:nvPr/>
        </p:nvSpPr>
        <p:spPr>
          <a:xfrm>
            <a:off x="7254240" y="1920240"/>
            <a:ext cx="35560" cy="9601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33: NPU / ISP 独立数据主端"/>
          <p:cNvSpPr txBox="1"/>
          <p:nvPr/>
        </p:nvSpPr>
        <p:spPr>
          <a:xfrm>
            <a:off x="7375144" y="1948119"/>
            <a:ext cx="249631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NPU / ISP 独立数据主端</a:t>
            </a:r>
          </a:p>
        </p:txBody>
      </p:sp>
      <p:sp>
        <p:nvSpPr>
          <p:cNvPr id="30" name="text-034: 普通读写绕过 LLC"/>
          <p:cNvSpPr txBox="1"/>
          <p:nvPr/>
        </p:nvSpPr>
        <p:spPr>
          <a:xfrm>
            <a:off x="7375144" y="2219513"/>
            <a:ext cx="163860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普通读写绕过 LLC</a:t>
            </a:r>
          </a:p>
        </p:txBody>
      </p:sp>
      <p:sp>
        <p:nvSpPr>
          <p:cNvPr id="31" name="text-035: 控制寄存器与完成 IRQ 另走控制面"/>
          <p:cNvSpPr txBox="1"/>
          <p:nvPr/>
        </p:nvSpPr>
        <p:spPr>
          <a:xfrm>
            <a:off x="7375144" y="2432873"/>
            <a:ext cx="29443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控制寄存器与完成 IRQ 另走控制面</a:t>
            </a:r>
          </a:p>
        </p:txBody>
      </p:sp>
      <p:sp>
        <p:nvSpPr>
          <p:cNvPr id="32" name="rect-036"/>
          <p:cNvSpPr/>
          <p:nvPr/>
        </p:nvSpPr>
        <p:spPr>
          <a:xfrm>
            <a:off x="7254240" y="3804920"/>
            <a:ext cx="4765040" cy="924560"/>
          </a:xfrm>
          <a:prstGeom prst="roundRect">
            <a:avLst>
              <a:gd name="adj" fmla="val 5384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7"/>
          <p:cNvSpPr/>
          <p:nvPr/>
        </p:nvSpPr>
        <p:spPr>
          <a:xfrm>
            <a:off x="7254240" y="3804920"/>
            <a:ext cx="35560" cy="92456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8: 旁路适配：CDC / 限流 / ID"/>
          <p:cNvSpPr txBox="1"/>
          <p:nvPr/>
        </p:nvSpPr>
        <p:spPr>
          <a:xfrm>
            <a:off x="7375144" y="3832799"/>
            <a:ext cx="280141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旁路适配：CDC / 限流 / ID</a:t>
            </a:r>
          </a:p>
        </p:txBody>
      </p:sp>
      <p:sp>
        <p:nvSpPr>
          <p:cNvPr id="35" name="text-039: 宽度、突发、在途数与错误恢复"/>
          <p:cNvSpPr txBox="1"/>
          <p:nvPr/>
        </p:nvSpPr>
        <p:spPr>
          <a:xfrm>
            <a:off x="7375144" y="4104193"/>
            <a:ext cx="256032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宽度、突发、在途数与错误恢复</a:t>
            </a:r>
          </a:p>
        </p:txBody>
      </p:sp>
      <p:sp>
        <p:nvSpPr>
          <p:cNvPr id="36" name="text-040: 旁路普通写也可能影响 reservation"/>
          <p:cNvSpPr txBox="1"/>
          <p:nvPr/>
        </p:nvSpPr>
        <p:spPr>
          <a:xfrm>
            <a:off x="7375144" y="4317553"/>
            <a:ext cx="320893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旁路普通写也可能影响 reservation</a:t>
            </a:r>
          </a:p>
        </p:txBody>
      </p:sp>
      <p:sp>
        <p:nvSpPr>
          <p:cNvPr id="37" name="rect-041"/>
          <p:cNvSpPr/>
          <p:nvPr/>
        </p:nvSpPr>
        <p:spPr>
          <a:xfrm>
            <a:off x="2880360" y="5831840"/>
            <a:ext cx="7040880" cy="711200"/>
          </a:xfrm>
          <a:prstGeom prst="roundRect">
            <a:avLst>
              <a:gd name="adj" fmla="val 7000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42"/>
          <p:cNvSpPr/>
          <p:nvPr/>
        </p:nvSpPr>
        <p:spPr>
          <a:xfrm>
            <a:off x="2880360" y="5831840"/>
            <a:ext cx="35560" cy="7112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43: 新增仲裁 / ID 与顺序适配 → AXI4 DDR CTRL + PHY"/>
          <p:cNvSpPr txBox="1"/>
          <p:nvPr/>
        </p:nvSpPr>
        <p:spPr>
          <a:xfrm>
            <a:off x="3001264" y="5859719"/>
            <a:ext cx="527923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新增仲裁 / ID 与顺序适配 → AXI4 DDR CTRL + PHY</a:t>
            </a:r>
          </a:p>
        </p:txBody>
      </p:sp>
      <p:sp>
        <p:nvSpPr>
          <p:cNvPr id="40" name="text-044: 共享地址布局、全路径可见性与原子协议需要联合验证"/>
          <p:cNvSpPr txBox="1"/>
          <p:nvPr/>
        </p:nvSpPr>
        <p:spPr>
          <a:xfrm>
            <a:off x="3001264" y="6138794"/>
            <a:ext cx="408940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共享地址布局、全路径可见性与原子协议需要联合验证</a:t>
            </a:r>
          </a:p>
        </p:txBody>
      </p:sp>
      <p:sp>
        <p:nvSpPr>
          <p:cNvPr id="41" name="text-045: 契约选择：禁止设备进入共享原子区，或设计覆盖所有访问者的原子 / 一致性协议并验"/>
          <p:cNvSpPr txBox="1"/>
          <p:nvPr/>
        </p:nvSpPr>
        <p:spPr>
          <a:xfrm>
            <a:off x="462280" y="6905752"/>
            <a:ext cx="745871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43D42"/>
                </a:solidFill>
                <a:latin typeface="WenQuanYi Zen Hei"/>
                <a:ea typeface="WenQuanYi Zen Hei"/>
                <a:cs typeface="WenQuanYi Zen Hei"/>
              </a:rPr>
              <a:t>契约选择：禁止设备进入共享原子区，或设计覆盖所有访问者的原子 / 一致性协议并验证。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