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801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-002: 启动接口：复位环境、装载动作与应用入口"/>
          <p:cNvSpPr txBox="1"/>
          <p:nvPr/>
        </p:nvSpPr>
        <p:spPr>
          <a:xfrm>
            <a:off x="438912" y="206654"/>
            <a:ext cx="5486400" cy="4389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启动接口：复位环境、装载动作与应用入口</a:t>
            </a:r>
          </a:p>
        </p:txBody>
      </p:sp>
      <p:sp>
        <p:nvSpPr>
          <p:cNvPr id="3" name="rect-003"/>
          <p:cNvSpPr/>
          <p:nvPr/>
        </p:nvSpPr>
        <p:spPr>
          <a:xfrm>
            <a:off x="457200" y="1051560"/>
            <a:ext cx="3200400" cy="1188720"/>
          </a:xfrm>
          <a:prstGeom prst="roundRect">
            <a:avLst>
              <a:gd name="adj" fmla="val 6923"/>
            </a:avLst>
          </a:prstGeom>
          <a:solidFill>
            <a:srgbClr val="EAF1FC"/>
          </a:solidFill>
          <a:ln w="18288" cap="flat">
            <a:solidFill>
              <a:srgbClr val="4775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-004: CPU 复位 → Boot ROM"/>
          <p:cNvSpPr txBox="1"/>
          <p:nvPr/>
        </p:nvSpPr>
        <p:spPr>
          <a:xfrm>
            <a:off x="769868" y="1153607"/>
            <a:ext cx="2575065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CPU 复位 → Boot ROM</a:t>
            </a:r>
          </a:p>
        </p:txBody>
      </p:sp>
      <p:sp>
        <p:nvSpPr>
          <p:cNvPr id="5" name="text-005: cheshire_bootrom.S::_start"/>
          <p:cNvSpPr txBox="1"/>
          <p:nvPr/>
        </p:nvSpPr>
        <p:spPr>
          <a:xfrm>
            <a:off x="817695" y="1494130"/>
            <a:ext cx="247941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cheshire_bootrom.S::_start</a:t>
            </a:r>
          </a:p>
        </p:txBody>
      </p:sp>
      <p:sp>
        <p:nvSpPr>
          <p:cNvPr id="6" name="text-006: 整数状态 / 非零 hart 暂停"/>
          <p:cNvSpPr txBox="1"/>
          <p:nvPr/>
        </p:nvSpPr>
        <p:spPr>
          <a:xfrm>
            <a:off x="908442" y="1759306"/>
            <a:ext cx="2297916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整数状态 / 非零 hart 暂停</a:t>
            </a:r>
          </a:p>
        </p:txBody>
      </p:sp>
      <p:sp>
        <p:nvSpPr>
          <p:cNvPr id="7" name="rect-007"/>
          <p:cNvSpPr/>
          <p:nvPr/>
        </p:nvSpPr>
        <p:spPr>
          <a:xfrm>
            <a:off x="4663440" y="1051560"/>
            <a:ext cx="3200400" cy="1188720"/>
          </a:xfrm>
          <a:prstGeom prst="roundRect">
            <a:avLst>
              <a:gd name="adj" fmla="val 6923"/>
            </a:avLst>
          </a:prstGeom>
          <a:solidFill>
            <a:srgbClr val="EAF1FC"/>
          </a:solidFill>
          <a:ln w="18288" cap="flat">
            <a:solidFill>
              <a:srgbClr val="4775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-008: 片内运行环境"/>
          <p:cNvSpPr txBox="1"/>
          <p:nvPr/>
        </p:nvSpPr>
        <p:spPr>
          <a:xfrm>
            <a:off x="5527548" y="1153607"/>
            <a:ext cx="1472184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片内运行环境</a:t>
            </a:r>
          </a:p>
        </p:txBody>
      </p:sp>
      <p:sp>
        <p:nvSpPr>
          <p:cNvPr id="9" name="text-009: 等待 LLC BIST / 配置 SPM"/>
          <p:cNvSpPr txBox="1"/>
          <p:nvPr/>
        </p:nvSpPr>
        <p:spPr>
          <a:xfrm>
            <a:off x="5092701" y="1494130"/>
            <a:ext cx="2341878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等待 LLC BIST / 配置 SPM</a:t>
            </a:r>
          </a:p>
        </p:txBody>
      </p:sp>
      <p:sp>
        <p:nvSpPr>
          <p:cNvPr id="10" name="text-010: 设置早期 sp / gp"/>
          <p:cNvSpPr txBox="1"/>
          <p:nvPr/>
        </p:nvSpPr>
        <p:spPr>
          <a:xfrm>
            <a:off x="5468569" y="1759306"/>
            <a:ext cx="1590142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设置早期 sp / gp</a:t>
            </a:r>
          </a:p>
        </p:txBody>
      </p:sp>
      <p:sp>
        <p:nvSpPr>
          <p:cNvPr id="11" name="rect-011"/>
          <p:cNvSpPr/>
          <p:nvPr/>
        </p:nvSpPr>
        <p:spPr>
          <a:xfrm>
            <a:off x="8869680" y="1051560"/>
            <a:ext cx="3474720" cy="1188720"/>
          </a:xfrm>
          <a:prstGeom prst="roundRect">
            <a:avLst>
              <a:gd name="adj" fmla="val 6923"/>
            </a:avLst>
          </a:prstGeom>
          <a:solidFill>
            <a:srgbClr val="EAF1FC"/>
          </a:solidFill>
          <a:ln w="18288" cap="flat">
            <a:solidFill>
              <a:srgbClr val="4775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-012: Platform ROM 钩子"/>
          <p:cNvSpPr txBox="1"/>
          <p:nvPr/>
        </p:nvSpPr>
        <p:spPr>
          <a:xfrm>
            <a:off x="9498180" y="1153607"/>
            <a:ext cx="2217720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Platform ROM 钩子</a:t>
            </a:r>
          </a:p>
        </p:txBody>
      </p:sp>
      <p:sp>
        <p:nvSpPr>
          <p:cNvPr id="13" name="text-013: 地址非零时跳转"/>
          <p:cNvSpPr txBox="1"/>
          <p:nvPr/>
        </p:nvSpPr>
        <p:spPr>
          <a:xfrm>
            <a:off x="9875520" y="1494130"/>
            <a:ext cx="146304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地址非零时跳转</a:t>
            </a:r>
          </a:p>
        </p:txBody>
      </p:sp>
      <p:sp>
        <p:nvSpPr>
          <p:cNvPr id="14" name="text-014: 启动关键资源按平台配置"/>
          <p:cNvSpPr txBox="1"/>
          <p:nvPr/>
        </p:nvSpPr>
        <p:spPr>
          <a:xfrm>
            <a:off x="9509760" y="1759306"/>
            <a:ext cx="219456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启动关键资源按平台配置</a:t>
            </a:r>
          </a:p>
        </p:txBody>
      </p:sp>
      <p:sp>
        <p:nvSpPr>
          <p:cNvPr id="15" name="polyline-015"/>
          <p:cNvSpPr/>
          <p:nvPr/>
        </p:nvSpPr>
        <p:spPr>
          <a:xfrm>
            <a:off x="3657600" y="1645920"/>
            <a:ext cx="1005840" cy="1"/>
          </a:xfrm>
          <a:custGeom>
            <a:avLst/>
            <a:gdLst/>
            <a:ahLst/>
            <a:cxnLst/>
            <a:rect l="0" t="0" r="r" b="b"/>
            <a:pathLst>
              <a:path w="1005840" h="1" fill="none">
                <a:moveTo>
                  <a:pt x="0" y="0"/>
                </a:moveTo>
                <a:lnTo>
                  <a:pt x="1005840" y="0"/>
                </a:lnTo>
              </a:path>
            </a:pathLst>
          </a:custGeom>
          <a:noFill/>
          <a:ln w="21946" cap="flat">
            <a:solidFill>
              <a:srgbClr val="4775AC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016: 执行"/>
          <p:cNvSpPr txBox="1"/>
          <p:nvPr/>
        </p:nvSpPr>
        <p:spPr>
          <a:xfrm>
            <a:off x="3899916" y="1330269"/>
            <a:ext cx="521208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4775AC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</p:txBody>
      </p:sp>
      <p:sp>
        <p:nvSpPr>
          <p:cNvPr id="17" name="polyline-017"/>
          <p:cNvSpPr/>
          <p:nvPr/>
        </p:nvSpPr>
        <p:spPr>
          <a:xfrm>
            <a:off x="7863840" y="1645920"/>
            <a:ext cx="1005840" cy="1"/>
          </a:xfrm>
          <a:custGeom>
            <a:avLst/>
            <a:gdLst/>
            <a:ahLst/>
            <a:cxnLst/>
            <a:rect l="0" t="0" r="r" b="b"/>
            <a:pathLst>
              <a:path w="1005840" h="1" fill="none">
                <a:moveTo>
                  <a:pt x="0" y="0"/>
                </a:moveTo>
                <a:lnTo>
                  <a:pt x="1005840" y="0"/>
                </a:lnTo>
              </a:path>
            </a:pathLst>
          </a:custGeom>
          <a:noFill/>
          <a:ln w="21946" cap="flat">
            <a:solidFill>
              <a:srgbClr val="4775AC"/>
            </a:solidFill>
            <a:custDash>
              <a:ds d="333333" sp="208333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18: 可选"/>
          <p:cNvSpPr txBox="1"/>
          <p:nvPr/>
        </p:nvSpPr>
        <p:spPr>
          <a:xfrm>
            <a:off x="8106156" y="1330269"/>
            <a:ext cx="521208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4775AC"/>
                </a:solidFill>
                <a:latin typeface="Microsoft YaHei"/>
                <a:ea typeface="Microsoft YaHei"/>
                <a:cs typeface="Microsoft YaHei"/>
              </a:rPr>
              <a:t>可选</a:t>
            </a:r>
          </a:p>
        </p:txBody>
      </p:sp>
      <p:sp>
        <p:nvSpPr>
          <p:cNvPr id="19" name="rect-019"/>
          <p:cNvSpPr/>
          <p:nvPr/>
        </p:nvSpPr>
        <p:spPr>
          <a:xfrm>
            <a:off x="8869680" y="3429000"/>
            <a:ext cx="3474720" cy="1234440"/>
          </a:xfrm>
          <a:prstGeom prst="roundRect">
            <a:avLst>
              <a:gd name="adj" fmla="val 6666"/>
            </a:avLst>
          </a:prstGeom>
          <a:solidFill>
            <a:srgbClr val="EAF1FC"/>
          </a:solidFill>
          <a:ln w="18288" cap="flat">
            <a:solidFill>
              <a:srgbClr val="4775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20: Boot ROM C / 介质加载"/>
          <p:cNvSpPr txBox="1"/>
          <p:nvPr/>
        </p:nvSpPr>
        <p:spPr>
          <a:xfrm>
            <a:off x="9315393" y="3531047"/>
            <a:ext cx="2583294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Boot ROM C / 介质加载</a:t>
            </a:r>
          </a:p>
        </p:txBody>
      </p:sp>
      <p:sp>
        <p:nvSpPr>
          <p:cNvPr id="21" name="text-021: PlatformRom=0 的默认路径"/>
          <p:cNvSpPr txBox="1"/>
          <p:nvPr/>
        </p:nvSpPr>
        <p:spPr>
          <a:xfrm>
            <a:off x="9334095" y="3871570"/>
            <a:ext cx="254589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PlatformRom=0 的默认路径</a:t>
            </a:r>
          </a:p>
        </p:txBody>
      </p:sp>
      <p:sp>
        <p:nvSpPr>
          <p:cNvPr id="22" name="text-022: GPT/raw → 复制到 SPM"/>
          <p:cNvSpPr txBox="1"/>
          <p:nvPr/>
        </p:nvSpPr>
        <p:spPr>
          <a:xfrm>
            <a:off x="9497508" y="4136746"/>
            <a:ext cx="2219063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GPT/raw → 复制到 SPM</a:t>
            </a:r>
          </a:p>
        </p:txBody>
      </p:sp>
      <p:sp>
        <p:nvSpPr>
          <p:cNvPr id="23" name="polyline-023"/>
          <p:cNvSpPr/>
          <p:nvPr/>
        </p:nvSpPr>
        <p:spPr>
          <a:xfrm>
            <a:off x="7772400" y="2240280"/>
            <a:ext cx="1097280" cy="1801368"/>
          </a:xfrm>
          <a:custGeom>
            <a:avLst/>
            <a:gdLst/>
            <a:ahLst/>
            <a:cxnLst/>
            <a:rect l="0" t="0" r="r" b="b"/>
            <a:pathLst>
              <a:path w="1097280" h="1801368" fill="none">
                <a:moveTo>
                  <a:pt x="0" y="0"/>
                </a:moveTo>
                <a:lnTo>
                  <a:pt x="457200" y="0"/>
                </a:lnTo>
                <a:lnTo>
                  <a:pt x="457200" y="1801368"/>
                </a:lnTo>
                <a:lnTo>
                  <a:pt x="1097280" y="1801368"/>
                </a:lnTo>
              </a:path>
            </a:pathLst>
          </a:custGeom>
          <a:noFill/>
          <a:ln w="21946" cap="flat">
            <a:solidFill>
              <a:srgbClr val="4775AC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4: 默认路径"/>
          <p:cNvSpPr txBox="1"/>
          <p:nvPr/>
        </p:nvSpPr>
        <p:spPr>
          <a:xfrm>
            <a:off x="8801100" y="2573853"/>
            <a:ext cx="868680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4775AC"/>
                </a:solidFill>
                <a:latin typeface="Microsoft YaHei"/>
                <a:ea typeface="Microsoft YaHei"/>
                <a:cs typeface="Microsoft YaHei"/>
              </a:rPr>
              <a:t>默认路径</a:t>
            </a:r>
          </a:p>
        </p:txBody>
      </p:sp>
      <p:sp>
        <p:nvSpPr>
          <p:cNvPr id="25" name="rect-025"/>
          <p:cNvSpPr/>
          <p:nvPr/>
        </p:nvSpPr>
        <p:spPr>
          <a:xfrm>
            <a:off x="457200" y="3429000"/>
            <a:ext cx="3200400" cy="1234440"/>
          </a:xfrm>
          <a:prstGeom prst="roundRect">
            <a:avLst>
              <a:gd name="adj" fmla="val 6666"/>
            </a:avLst>
          </a:prstGeom>
          <a:solidFill>
            <a:srgbClr val="EAF1FC"/>
          </a:solidFill>
          <a:ln w="18288" cap="flat">
            <a:solidFill>
              <a:srgbClr val="4775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6: 开发主机 / VIP"/>
          <p:cNvSpPr txBox="1"/>
          <p:nvPr/>
        </p:nvSpPr>
        <p:spPr>
          <a:xfrm>
            <a:off x="1239719" y="3531047"/>
            <a:ext cx="1635362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开发主机 / VIP</a:t>
            </a:r>
          </a:p>
        </p:txBody>
      </p:sp>
      <p:sp>
        <p:nvSpPr>
          <p:cNvPr id="27" name="text-027: ELF 段与入口"/>
          <p:cNvSpPr txBox="1"/>
          <p:nvPr/>
        </p:nvSpPr>
        <p:spPr>
          <a:xfrm>
            <a:off x="1427357" y="3871570"/>
            <a:ext cx="1260086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ELF 段与入口</a:t>
            </a:r>
          </a:p>
        </p:txBody>
      </p:sp>
      <p:sp>
        <p:nvSpPr>
          <p:cNvPr id="28" name="text-028: JTAG 或 UART / Serial Link"/>
          <p:cNvSpPr txBox="1"/>
          <p:nvPr/>
        </p:nvSpPr>
        <p:spPr>
          <a:xfrm>
            <a:off x="831490" y="4136746"/>
            <a:ext cx="2451821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JTAG 或 UART / Serial Link</a:t>
            </a:r>
          </a:p>
        </p:txBody>
      </p:sp>
      <p:sp>
        <p:nvSpPr>
          <p:cNvPr id="29" name="rect-029"/>
          <p:cNvSpPr/>
          <p:nvPr/>
        </p:nvSpPr>
        <p:spPr>
          <a:xfrm>
            <a:off x="4663440" y="3429000"/>
            <a:ext cx="3200400" cy="1234440"/>
          </a:xfrm>
          <a:prstGeom prst="roundRect">
            <a:avLst>
              <a:gd name="adj" fmla="val 6666"/>
            </a:avLst>
          </a:prstGeom>
          <a:solidFill>
            <a:srgbClr val="EAF1FC"/>
          </a:solidFill>
          <a:ln w="18288" cap="flat">
            <a:solidFill>
              <a:srgbClr val="4775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0: 装载与控制转交"/>
          <p:cNvSpPr txBox="1"/>
          <p:nvPr/>
        </p:nvSpPr>
        <p:spPr>
          <a:xfrm>
            <a:off x="5422392" y="3531047"/>
            <a:ext cx="1682496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装载与控制转交</a:t>
            </a:r>
          </a:p>
        </p:txBody>
      </p:sp>
      <p:sp>
        <p:nvSpPr>
          <p:cNvPr id="31" name="text-031: 写目标内存 / 设置入口"/>
          <p:cNvSpPr txBox="1"/>
          <p:nvPr/>
        </p:nvSpPr>
        <p:spPr>
          <a:xfrm>
            <a:off x="5256050" y="3871570"/>
            <a:ext cx="201518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写目标内存 / 设置入口</a:t>
            </a:r>
          </a:p>
        </p:txBody>
      </p:sp>
      <p:sp>
        <p:nvSpPr>
          <p:cNvPr id="32" name="text-032: 按各加载协议开始执行"/>
          <p:cNvSpPr txBox="1"/>
          <p:nvPr/>
        </p:nvSpPr>
        <p:spPr>
          <a:xfrm>
            <a:off x="5257800" y="4136746"/>
            <a:ext cx="201168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按各加载协议开始执行</a:t>
            </a:r>
          </a:p>
        </p:txBody>
      </p:sp>
      <p:sp>
        <p:nvSpPr>
          <p:cNvPr id="33" name="polyline-033"/>
          <p:cNvSpPr/>
          <p:nvPr/>
        </p:nvSpPr>
        <p:spPr>
          <a:xfrm>
            <a:off x="3657600" y="4041648"/>
            <a:ext cx="1005840" cy="1"/>
          </a:xfrm>
          <a:custGeom>
            <a:avLst/>
            <a:gdLst/>
            <a:ahLst/>
            <a:cxnLst/>
            <a:rect l="0" t="0" r="r" b="b"/>
            <a:pathLst>
              <a:path w="1005840" h="1" fill="none">
                <a:moveTo>
                  <a:pt x="0" y="0"/>
                </a:moveTo>
                <a:lnTo>
                  <a:pt x="1005840" y="0"/>
                </a:lnTo>
              </a:path>
            </a:pathLst>
          </a:custGeom>
          <a:noFill/>
          <a:ln w="21946" cap="flat">
            <a:solidFill>
              <a:srgbClr val="4775AC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4: 装载协议"/>
          <p:cNvSpPr txBox="1"/>
          <p:nvPr/>
        </p:nvSpPr>
        <p:spPr>
          <a:xfrm>
            <a:off x="3726180" y="3661989"/>
            <a:ext cx="868680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4775AC"/>
                </a:solidFill>
                <a:latin typeface="Microsoft YaHei"/>
                <a:ea typeface="Microsoft YaHei"/>
                <a:cs typeface="Microsoft YaHei"/>
              </a:rPr>
              <a:t>装载协议</a:t>
            </a:r>
          </a:p>
        </p:txBody>
      </p:sp>
      <p:sp>
        <p:nvSpPr>
          <p:cNvPr id="35" name="polyline-035"/>
          <p:cNvSpPr/>
          <p:nvPr/>
        </p:nvSpPr>
        <p:spPr>
          <a:xfrm>
            <a:off x="7863840" y="4315968"/>
            <a:ext cx="1005840" cy="1"/>
          </a:xfrm>
          <a:custGeom>
            <a:avLst/>
            <a:gdLst/>
            <a:ahLst/>
            <a:cxnLst/>
            <a:rect l="0" t="0" r="r" b="b"/>
            <a:pathLst>
              <a:path w="1005840" h="1" fill="none">
                <a:moveTo>
                  <a:pt x="1005840" y="0"/>
                </a:moveTo>
                <a:lnTo>
                  <a:pt x="0" y="0"/>
                </a:lnTo>
              </a:path>
            </a:pathLst>
          </a:custGeom>
          <a:noFill/>
          <a:ln w="21946" cap="flat">
            <a:solidFill>
              <a:srgbClr val="4775AC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6: 加载结果"/>
          <p:cNvSpPr txBox="1"/>
          <p:nvPr/>
        </p:nvSpPr>
        <p:spPr>
          <a:xfrm>
            <a:off x="7932420" y="3991173"/>
            <a:ext cx="868680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4775AC"/>
                </a:solidFill>
                <a:latin typeface="Microsoft YaHei"/>
                <a:ea typeface="Microsoft YaHei"/>
                <a:cs typeface="Microsoft YaHei"/>
              </a:rPr>
              <a:t>加载结果</a:t>
            </a:r>
          </a:p>
        </p:txBody>
      </p:sp>
      <p:sp>
        <p:nvSpPr>
          <p:cNvPr id="37" name="rect-037"/>
          <p:cNvSpPr/>
          <p:nvPr/>
        </p:nvSpPr>
        <p:spPr>
          <a:xfrm>
            <a:off x="4663440" y="6080760"/>
            <a:ext cx="3200400" cy="1325880"/>
          </a:xfrm>
          <a:prstGeom prst="roundRect">
            <a:avLst>
              <a:gd name="adj" fmla="val 6206"/>
            </a:avLst>
          </a:prstGeom>
          <a:solidFill>
            <a:srgbClr val="EAF1FC"/>
          </a:solidFill>
          <a:ln w="18288" cap="flat">
            <a:solidFill>
              <a:srgbClr val="4775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38: 应用 _start：crt0.S"/>
          <p:cNvSpPr txBox="1"/>
          <p:nvPr/>
        </p:nvSpPr>
        <p:spPr>
          <a:xfrm>
            <a:off x="5213202" y="6182807"/>
            <a:ext cx="2100877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应用 _start：crt0.S</a:t>
            </a:r>
          </a:p>
        </p:txBody>
      </p:sp>
      <p:sp>
        <p:nvSpPr>
          <p:cNvPr id="39" name="text-039: sp/gp、mtvec、BSS、FS"/>
          <p:cNvSpPr txBox="1"/>
          <p:nvPr/>
        </p:nvSpPr>
        <p:spPr>
          <a:xfrm>
            <a:off x="5113289" y="6523330"/>
            <a:ext cx="2300702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sp/gp、mtvec、BSS、FS</a:t>
            </a:r>
          </a:p>
        </p:txBody>
      </p:sp>
      <p:sp>
        <p:nvSpPr>
          <p:cNvPr id="40" name="text-040: 必要的加载初值已在内存"/>
          <p:cNvSpPr txBox="1"/>
          <p:nvPr/>
        </p:nvSpPr>
        <p:spPr>
          <a:xfrm>
            <a:off x="5166360" y="6788506"/>
            <a:ext cx="219456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必要的加载初值已在内存</a:t>
            </a:r>
          </a:p>
        </p:txBody>
      </p:sp>
      <p:sp>
        <p:nvSpPr>
          <p:cNvPr id="41" name="text-041: 不执行通用 DDR 初始化"/>
          <p:cNvSpPr txBox="1"/>
          <p:nvPr/>
        </p:nvSpPr>
        <p:spPr>
          <a:xfrm>
            <a:off x="5187563" y="7053682"/>
            <a:ext cx="2152155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不执行通用 DDR 初始化</a:t>
            </a:r>
          </a:p>
        </p:txBody>
      </p:sp>
      <p:sp>
        <p:nvSpPr>
          <p:cNvPr id="42" name="rect-042"/>
          <p:cNvSpPr/>
          <p:nvPr/>
        </p:nvSpPr>
        <p:spPr>
          <a:xfrm>
            <a:off x="8869680" y="6080760"/>
            <a:ext cx="3474720" cy="1325880"/>
          </a:xfrm>
          <a:prstGeom prst="roundRect">
            <a:avLst>
              <a:gd name="adj" fmla="val 6206"/>
            </a:avLst>
          </a:prstGeom>
          <a:solidFill>
            <a:srgbClr val="EAF1FC"/>
          </a:solidFill>
          <a:ln w="18288" cap="flat">
            <a:solidFill>
              <a:srgbClr val="4775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3: 应用 main / 返回"/>
          <p:cNvSpPr txBox="1"/>
          <p:nvPr/>
        </p:nvSpPr>
        <p:spPr>
          <a:xfrm>
            <a:off x="9674345" y="6182807"/>
            <a:ext cx="1865390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应用 main / 返回</a:t>
            </a:r>
          </a:p>
        </p:txBody>
      </p:sp>
      <p:sp>
        <p:nvSpPr>
          <p:cNvPr id="44" name="text-044: 应用设备初始化与业务"/>
          <p:cNvSpPr txBox="1"/>
          <p:nvPr/>
        </p:nvSpPr>
        <p:spPr>
          <a:xfrm>
            <a:off x="9601200" y="6523330"/>
            <a:ext cx="201168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应用设备初始化与业务</a:t>
            </a:r>
          </a:p>
        </p:txBody>
      </p:sp>
      <p:sp>
        <p:nvSpPr>
          <p:cNvPr id="45" name="text-045: _exit → SCRATCH2 / ret"/>
          <p:cNvSpPr txBox="1"/>
          <p:nvPr/>
        </p:nvSpPr>
        <p:spPr>
          <a:xfrm>
            <a:off x="9495251" y="6788506"/>
            <a:ext cx="2223578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_exit → SCRATCH2 / ret</a:t>
            </a:r>
          </a:p>
        </p:txBody>
      </p:sp>
      <p:sp>
        <p:nvSpPr>
          <p:cNvPr id="46" name="polyline-046"/>
          <p:cNvSpPr/>
          <p:nvPr/>
        </p:nvSpPr>
        <p:spPr>
          <a:xfrm>
            <a:off x="6263640" y="4663440"/>
            <a:ext cx="1" cy="1417320"/>
          </a:xfrm>
          <a:custGeom>
            <a:avLst/>
            <a:gdLst/>
            <a:ahLst/>
            <a:cxnLst/>
            <a:rect l="0" t="0" r="r" b="b"/>
            <a:pathLst>
              <a:path w="1" h="1417320" fill="none">
                <a:moveTo>
                  <a:pt x="0" y="0"/>
                </a:moveTo>
                <a:lnTo>
                  <a:pt x="0" y="1417320"/>
                </a:lnTo>
              </a:path>
            </a:pathLst>
          </a:custGeom>
          <a:noFill/>
          <a:ln w="21946" cap="flat">
            <a:solidFill>
              <a:srgbClr val="4775AC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47: 跳转 ELF / payload 入口"/>
          <p:cNvSpPr txBox="1"/>
          <p:nvPr/>
        </p:nvSpPr>
        <p:spPr>
          <a:xfrm>
            <a:off x="6867873" y="5207325"/>
            <a:ext cx="2083375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4775AC"/>
                </a:solidFill>
                <a:latin typeface="Microsoft YaHei"/>
                <a:ea typeface="Microsoft YaHei"/>
                <a:cs typeface="Microsoft YaHei"/>
              </a:rPr>
              <a:t>跳转 ELF / payload 入口</a:t>
            </a:r>
          </a:p>
        </p:txBody>
      </p:sp>
      <p:sp>
        <p:nvSpPr>
          <p:cNvPr id="48" name="polyline-048"/>
          <p:cNvSpPr/>
          <p:nvPr/>
        </p:nvSpPr>
        <p:spPr>
          <a:xfrm>
            <a:off x="7863840" y="6720840"/>
            <a:ext cx="1005840" cy="1"/>
          </a:xfrm>
          <a:custGeom>
            <a:avLst/>
            <a:gdLst/>
            <a:ahLst/>
            <a:cxnLst/>
            <a:rect l="0" t="0" r="r" b="b"/>
            <a:pathLst>
              <a:path w="1005840" h="1" fill="none">
                <a:moveTo>
                  <a:pt x="0" y="0"/>
                </a:moveTo>
                <a:lnTo>
                  <a:pt x="1005840" y="0"/>
                </a:lnTo>
              </a:path>
            </a:pathLst>
          </a:custGeom>
          <a:noFill/>
          <a:ln w="21946" cap="flat">
            <a:solidFill>
              <a:srgbClr val="4775AC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9: 调用 / 返回"/>
          <p:cNvSpPr txBox="1"/>
          <p:nvPr/>
        </p:nvSpPr>
        <p:spPr>
          <a:xfrm>
            <a:off x="7843902" y="6405189"/>
            <a:ext cx="1045716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4775AC"/>
                </a:solidFill>
                <a:latin typeface="Microsoft YaHei"/>
                <a:ea typeface="Microsoft YaHei"/>
                <a:cs typeface="Microsoft YaHei"/>
              </a:rPr>
              <a:t>调用 / 返回</a:t>
            </a:r>
          </a:p>
        </p:txBody>
      </p:sp>
      <p:sp>
        <p:nvSpPr>
          <p:cNvPr id="50" name="text-050: Platform ROM 普通返回缺陷及 ROM C 栈对齐条件，见正文；图中未"/>
          <p:cNvSpPr txBox="1"/>
          <p:nvPr/>
        </p:nvSpPr>
        <p:spPr>
          <a:xfrm>
            <a:off x="457200" y="7392010"/>
            <a:ext cx="7885686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Platform ROM 普通返回缺陷及 ROM C 栈对齐条件，见正文；图中未把它们画成已修复路径。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-002: 字符输出：函数调用、寄存器访问与串行发送"/>
          <p:cNvSpPr txBox="1"/>
          <p:nvPr/>
        </p:nvSpPr>
        <p:spPr>
          <a:xfrm>
            <a:off x="438912" y="206654"/>
            <a:ext cx="5760720" cy="4389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字符输出：函数调用、寄存器访问与串行发送</a:t>
            </a:r>
          </a:p>
        </p:txBody>
      </p:sp>
      <p:sp>
        <p:nvSpPr>
          <p:cNvPr id="3" name="rect-003"/>
          <p:cNvSpPr/>
          <p:nvPr/>
        </p:nvSpPr>
        <p:spPr>
          <a:xfrm>
            <a:off x="457200" y="1097280"/>
            <a:ext cx="3108960" cy="1188720"/>
          </a:xfrm>
          <a:prstGeom prst="roundRect">
            <a:avLst>
              <a:gd name="adj" fmla="val 6923"/>
            </a:avLst>
          </a:prstGeom>
          <a:solidFill>
            <a:srgbClr val="EAF1FC"/>
          </a:solidFill>
          <a:ln w="18288" cap="flat">
            <a:solidFill>
              <a:srgbClr val="4775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-004: printf_ / _vsnprintf"/>
          <p:cNvSpPr txBox="1"/>
          <p:nvPr/>
        </p:nvSpPr>
        <p:spPr>
          <a:xfrm>
            <a:off x="918408" y="1199327"/>
            <a:ext cx="2186545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printf_ / _vsnprintf</a:t>
            </a:r>
          </a:p>
        </p:txBody>
      </p:sp>
      <p:sp>
        <p:nvSpPr>
          <p:cNvPr id="5" name="text-005: 格式化得到字符"/>
          <p:cNvSpPr txBox="1"/>
          <p:nvPr/>
        </p:nvSpPr>
        <p:spPr>
          <a:xfrm>
            <a:off x="1280160" y="1539850"/>
            <a:ext cx="146304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格式化得到字符</a:t>
            </a:r>
          </a:p>
        </p:txBody>
      </p:sp>
      <p:sp>
        <p:nvSpPr>
          <p:cNvPr id="6" name="text-006: 软件函数调用"/>
          <p:cNvSpPr txBox="1"/>
          <p:nvPr/>
        </p:nvSpPr>
        <p:spPr>
          <a:xfrm>
            <a:off x="1371600" y="1805026"/>
            <a:ext cx="128016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软件函数调用</a:t>
            </a:r>
          </a:p>
        </p:txBody>
      </p:sp>
      <p:sp>
        <p:nvSpPr>
          <p:cNvPr id="7" name="rect-007"/>
          <p:cNvSpPr/>
          <p:nvPr/>
        </p:nvSpPr>
        <p:spPr>
          <a:xfrm>
            <a:off x="4800600" y="1097280"/>
            <a:ext cx="3108960" cy="1188720"/>
          </a:xfrm>
          <a:prstGeom prst="roundRect">
            <a:avLst>
              <a:gd name="adj" fmla="val 6923"/>
            </a:avLst>
          </a:prstGeom>
          <a:solidFill>
            <a:srgbClr val="EAF1FC"/>
          </a:solidFill>
          <a:ln w="18288" cap="flat">
            <a:solidFill>
              <a:srgbClr val="4775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-008: _out_char → _putchar"/>
          <p:cNvSpPr txBox="1"/>
          <p:nvPr/>
        </p:nvSpPr>
        <p:spPr>
          <a:xfrm>
            <a:off x="5123712" y="1199327"/>
            <a:ext cx="2462736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_out_char → _putchar</a:t>
            </a:r>
          </a:p>
        </p:txBody>
      </p:sp>
      <p:sp>
        <p:nvSpPr>
          <p:cNvPr id="9" name="text-009: 公共输出封装"/>
          <p:cNvSpPr txBox="1"/>
          <p:nvPr/>
        </p:nvSpPr>
        <p:spPr>
          <a:xfrm>
            <a:off x="5715000" y="1539850"/>
            <a:ext cx="128016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公共输出封装</a:t>
            </a:r>
          </a:p>
        </p:txBody>
      </p:sp>
      <p:sp>
        <p:nvSpPr>
          <p:cNvPr id="10" name="text-010: 选择 __base_uart"/>
          <p:cNvSpPr txBox="1"/>
          <p:nvPr/>
        </p:nvSpPr>
        <p:spPr>
          <a:xfrm>
            <a:off x="5550129" y="1805026"/>
            <a:ext cx="1609901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选择 __base_uart</a:t>
            </a:r>
          </a:p>
        </p:txBody>
      </p:sp>
      <p:sp>
        <p:nvSpPr>
          <p:cNvPr id="11" name="rect-011"/>
          <p:cNvSpPr/>
          <p:nvPr/>
        </p:nvSpPr>
        <p:spPr>
          <a:xfrm>
            <a:off x="9144000" y="1097280"/>
            <a:ext cx="3200400" cy="1188720"/>
          </a:xfrm>
          <a:prstGeom prst="roundRect">
            <a:avLst>
              <a:gd name="adj" fmla="val 6923"/>
            </a:avLst>
          </a:prstGeom>
          <a:solidFill>
            <a:srgbClr val="EAF1FC"/>
          </a:solidFill>
          <a:ln w="18288" cap="flat">
            <a:solidFill>
              <a:srgbClr val="4775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-012: uart_write"/>
          <p:cNvSpPr txBox="1"/>
          <p:nvPr/>
        </p:nvSpPr>
        <p:spPr>
          <a:xfrm>
            <a:off x="10101805" y="1199327"/>
            <a:ext cx="1284789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uart_write</a:t>
            </a:r>
          </a:p>
        </p:txBody>
      </p:sp>
      <p:sp>
        <p:nvSpPr>
          <p:cNvPr id="13" name="text-013: 轮询 LSR.THRE"/>
          <p:cNvSpPr txBox="1"/>
          <p:nvPr/>
        </p:nvSpPr>
        <p:spPr>
          <a:xfrm>
            <a:off x="10028296" y="1539850"/>
            <a:ext cx="1431808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轮询 LSR.THRE</a:t>
            </a:r>
          </a:p>
        </p:txBody>
      </p:sp>
      <p:sp>
        <p:nvSpPr>
          <p:cNvPr id="14" name="text-014: reg8 写 THR"/>
          <p:cNvSpPr txBox="1"/>
          <p:nvPr/>
        </p:nvSpPr>
        <p:spPr>
          <a:xfrm>
            <a:off x="10126737" y="1805026"/>
            <a:ext cx="1234926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reg8 写 THR</a:t>
            </a:r>
          </a:p>
        </p:txBody>
      </p:sp>
      <p:sp>
        <p:nvSpPr>
          <p:cNvPr id="15" name="polyline-015"/>
          <p:cNvSpPr/>
          <p:nvPr/>
        </p:nvSpPr>
        <p:spPr>
          <a:xfrm>
            <a:off x="3566160" y="1664208"/>
            <a:ext cx="1234440" cy="1"/>
          </a:xfrm>
          <a:custGeom>
            <a:avLst/>
            <a:gdLst/>
            <a:ahLst/>
            <a:cxnLst/>
            <a:rect l="0" t="0" r="r" b="b"/>
            <a:pathLst>
              <a:path w="1234440" h="1" fill="none">
                <a:moveTo>
                  <a:pt x="0" y="0"/>
                </a:moveTo>
                <a:lnTo>
                  <a:pt x="1234440" y="0"/>
                </a:lnTo>
              </a:path>
            </a:pathLst>
          </a:custGeom>
          <a:noFill/>
          <a:ln w="21946" cap="flat">
            <a:solidFill>
              <a:srgbClr val="4775AC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016: 调用"/>
          <p:cNvSpPr txBox="1"/>
          <p:nvPr/>
        </p:nvSpPr>
        <p:spPr>
          <a:xfrm>
            <a:off x="3899916" y="1330269"/>
            <a:ext cx="521208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4775AC"/>
                </a:solidFill>
                <a:latin typeface="Microsoft YaHei"/>
                <a:ea typeface="Microsoft YaHei"/>
                <a:cs typeface="Microsoft YaHei"/>
              </a:rPr>
              <a:t>调用</a:t>
            </a:r>
          </a:p>
        </p:txBody>
      </p:sp>
      <p:sp>
        <p:nvSpPr>
          <p:cNvPr id="17" name="polyline-017"/>
          <p:cNvSpPr/>
          <p:nvPr/>
        </p:nvSpPr>
        <p:spPr>
          <a:xfrm>
            <a:off x="7909560" y="1664208"/>
            <a:ext cx="1234440" cy="1"/>
          </a:xfrm>
          <a:custGeom>
            <a:avLst/>
            <a:gdLst/>
            <a:ahLst/>
            <a:cxnLst/>
            <a:rect l="0" t="0" r="r" b="b"/>
            <a:pathLst>
              <a:path w="1234440" h="1" fill="none">
                <a:moveTo>
                  <a:pt x="0" y="0"/>
                </a:moveTo>
                <a:lnTo>
                  <a:pt x="1234440" y="0"/>
                </a:lnTo>
              </a:path>
            </a:pathLst>
          </a:custGeom>
          <a:noFill/>
          <a:ln w="21946" cap="flat">
            <a:solidFill>
              <a:srgbClr val="4775AC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18: 调用"/>
          <p:cNvSpPr txBox="1"/>
          <p:nvPr/>
        </p:nvSpPr>
        <p:spPr>
          <a:xfrm>
            <a:off x="8261604" y="1330269"/>
            <a:ext cx="521208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4775AC"/>
                </a:solidFill>
                <a:latin typeface="Microsoft YaHei"/>
                <a:ea typeface="Microsoft YaHei"/>
                <a:cs typeface="Microsoft YaHei"/>
              </a:rPr>
              <a:t>调用</a:t>
            </a:r>
          </a:p>
        </p:txBody>
      </p:sp>
      <p:sp>
        <p:nvSpPr>
          <p:cNvPr id="19" name="rect-019"/>
          <p:cNvSpPr/>
          <p:nvPr/>
        </p:nvSpPr>
        <p:spPr>
          <a:xfrm>
            <a:off x="9144000" y="3474720"/>
            <a:ext cx="3200400" cy="1280160"/>
          </a:xfrm>
          <a:prstGeom prst="roundRect">
            <a:avLst>
              <a:gd name="adj" fmla="val 6428"/>
            </a:avLst>
          </a:prstGeom>
          <a:solidFill>
            <a:srgbClr val="E9F5F1"/>
          </a:solidFill>
          <a:ln w="18288" cap="flat">
            <a:solidFill>
              <a:srgbClr val="287D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20: CVA6 访存"/>
          <p:cNvSpPr txBox="1"/>
          <p:nvPr/>
        </p:nvSpPr>
        <p:spPr>
          <a:xfrm>
            <a:off x="10113464" y="3576767"/>
            <a:ext cx="1261472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CVA6 访存</a:t>
            </a:r>
          </a:p>
        </p:txBody>
      </p:sp>
      <p:sp>
        <p:nvSpPr>
          <p:cNvPr id="21" name="text-021: lbu / sb → AXI"/>
          <p:cNvSpPr txBox="1"/>
          <p:nvPr/>
        </p:nvSpPr>
        <p:spPr>
          <a:xfrm>
            <a:off x="10024003" y="3917290"/>
            <a:ext cx="1440394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lbu / sb → AXI</a:t>
            </a:r>
          </a:p>
        </p:txBody>
      </p:sp>
      <p:sp>
        <p:nvSpPr>
          <p:cNvPr id="22" name="text-022: 地址 / 大小 / byte strobe"/>
          <p:cNvSpPr txBox="1"/>
          <p:nvPr/>
        </p:nvSpPr>
        <p:spPr>
          <a:xfrm>
            <a:off x="9602850" y="4182466"/>
            <a:ext cx="228270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地址 / 大小 / byte strobe</a:t>
            </a:r>
          </a:p>
        </p:txBody>
      </p:sp>
      <p:sp>
        <p:nvSpPr>
          <p:cNvPr id="23" name="rect-023"/>
          <p:cNvSpPr/>
          <p:nvPr/>
        </p:nvSpPr>
        <p:spPr>
          <a:xfrm>
            <a:off x="4800600" y="3474720"/>
            <a:ext cx="3108960" cy="1280160"/>
          </a:xfrm>
          <a:prstGeom prst="roundRect">
            <a:avLst>
              <a:gd name="adj" fmla="val 6428"/>
            </a:avLst>
          </a:prstGeom>
          <a:solidFill>
            <a:srgbClr val="E9F5F1"/>
          </a:solidFill>
          <a:ln w="18288" cap="flat">
            <a:solidFill>
              <a:srgbClr val="287D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4: 主 Xbar → Reg 出口"/>
          <p:cNvSpPr txBox="1"/>
          <p:nvPr/>
        </p:nvSpPr>
        <p:spPr>
          <a:xfrm>
            <a:off x="5254635" y="3576767"/>
            <a:ext cx="2200889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主 Xbar → Reg 出口</a:t>
            </a:r>
          </a:p>
        </p:txBody>
      </p:sp>
      <p:sp>
        <p:nvSpPr>
          <p:cNvPr id="25" name="text-025: 原子适配 / cut"/>
          <p:cNvSpPr txBox="1"/>
          <p:nvPr/>
        </p:nvSpPr>
        <p:spPr>
          <a:xfrm>
            <a:off x="5668416" y="3917290"/>
            <a:ext cx="1373329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原子适配 / cut</a:t>
            </a:r>
          </a:p>
        </p:txBody>
      </p:sp>
      <p:sp>
        <p:nvSpPr>
          <p:cNvPr id="26" name="text-026: axi_to_reg_v2：64 → 32"/>
          <p:cNvSpPr txBox="1"/>
          <p:nvPr/>
        </p:nvSpPr>
        <p:spPr>
          <a:xfrm>
            <a:off x="5230889" y="4182466"/>
            <a:ext cx="2248381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axi_to_reg_v2：64 → 32</a:t>
            </a:r>
          </a:p>
        </p:txBody>
      </p:sp>
      <p:sp>
        <p:nvSpPr>
          <p:cNvPr id="27" name="rect-027"/>
          <p:cNvSpPr/>
          <p:nvPr/>
        </p:nvSpPr>
        <p:spPr>
          <a:xfrm>
            <a:off x="457200" y="3474720"/>
            <a:ext cx="3108960" cy="1280160"/>
          </a:xfrm>
          <a:prstGeom prst="roundRect">
            <a:avLst>
              <a:gd name="adj" fmla="val 6428"/>
            </a:avLst>
          </a:prstGeom>
          <a:solidFill>
            <a:srgbClr val="E9F5F1"/>
          </a:solidFill>
          <a:ln w="18288" cap="flat">
            <a:solidFill>
              <a:srgbClr val="287D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8: RegMap → UART"/>
          <p:cNvSpPr txBox="1"/>
          <p:nvPr/>
        </p:nvSpPr>
        <p:spPr>
          <a:xfrm>
            <a:off x="1003040" y="3576767"/>
            <a:ext cx="2017281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RegMap → UART</a:t>
            </a:r>
          </a:p>
        </p:txBody>
      </p:sp>
      <p:sp>
        <p:nvSpPr>
          <p:cNvPr id="29" name="text-029: 地址命中 / 请求应答"/>
          <p:cNvSpPr txBox="1"/>
          <p:nvPr/>
        </p:nvSpPr>
        <p:spPr>
          <a:xfrm>
            <a:off x="1095530" y="3917290"/>
            <a:ext cx="183230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地址命中 / 请求应答</a:t>
            </a:r>
          </a:p>
        </p:txBody>
      </p:sp>
      <p:sp>
        <p:nvSpPr>
          <p:cNvPr id="30" name="text-030: reg_uart_wrap → APB"/>
          <p:cNvSpPr txBox="1"/>
          <p:nvPr/>
        </p:nvSpPr>
        <p:spPr>
          <a:xfrm>
            <a:off x="976251" y="4182466"/>
            <a:ext cx="2070859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reg_uart_wrap → APB</a:t>
            </a:r>
          </a:p>
        </p:txBody>
      </p:sp>
      <p:sp>
        <p:nvSpPr>
          <p:cNvPr id="31" name="polyline-031"/>
          <p:cNvSpPr/>
          <p:nvPr/>
        </p:nvSpPr>
        <p:spPr>
          <a:xfrm>
            <a:off x="10744200" y="2286000"/>
            <a:ext cx="1" cy="1188720"/>
          </a:xfrm>
          <a:custGeom>
            <a:avLst/>
            <a:gdLst/>
            <a:ahLst/>
            <a:cxnLst/>
            <a:rect l="0" t="0" r="r" b="b"/>
            <a:pathLst>
              <a:path w="1" h="1188720" fill="none">
                <a:moveTo>
                  <a:pt x="0" y="0"/>
                </a:moveTo>
                <a:lnTo>
                  <a:pt x="0" y="1188720"/>
                </a:lnTo>
              </a:path>
            </a:pathLst>
          </a:custGeom>
          <a:noFill/>
          <a:ln w="21946" cap="flat">
            <a:solidFill>
              <a:srgbClr val="4775AC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-032: 指令执行"/>
          <p:cNvSpPr txBox="1"/>
          <p:nvPr/>
        </p:nvSpPr>
        <p:spPr>
          <a:xfrm>
            <a:off x="11178540" y="2738445"/>
            <a:ext cx="868680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4775AC"/>
                </a:solidFill>
                <a:latin typeface="Microsoft YaHei"/>
                <a:ea typeface="Microsoft YaHei"/>
                <a:cs typeface="Microsoft YaHei"/>
              </a:rPr>
              <a:t>指令执行</a:t>
            </a:r>
          </a:p>
        </p:txBody>
      </p:sp>
      <p:sp>
        <p:nvSpPr>
          <p:cNvPr id="33" name="polyline-033"/>
          <p:cNvSpPr/>
          <p:nvPr/>
        </p:nvSpPr>
        <p:spPr>
          <a:xfrm>
            <a:off x="7909560" y="4114800"/>
            <a:ext cx="1234440" cy="1"/>
          </a:xfrm>
          <a:custGeom>
            <a:avLst/>
            <a:gdLst/>
            <a:ahLst/>
            <a:cxnLst/>
            <a:rect l="0" t="0" r="r" b="b"/>
            <a:pathLst>
              <a:path w="1234440" h="1" fill="none">
                <a:moveTo>
                  <a:pt x="1234440" y="0"/>
                </a:moveTo>
                <a:lnTo>
                  <a:pt x="0" y="0"/>
                </a:lnTo>
              </a:path>
            </a:pathLst>
          </a:custGeom>
          <a:noFill/>
          <a:ln w="21946" cap="flat">
            <a:solidFill>
              <a:srgbClr val="287D70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4: AXI 请求/响应"/>
          <p:cNvSpPr txBox="1"/>
          <p:nvPr/>
        </p:nvSpPr>
        <p:spPr>
          <a:xfrm>
            <a:off x="7882371" y="3753429"/>
            <a:ext cx="1279674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287D70"/>
                </a:solidFill>
                <a:latin typeface="Microsoft YaHei"/>
                <a:ea typeface="Microsoft YaHei"/>
                <a:cs typeface="Microsoft YaHei"/>
              </a:rPr>
              <a:t>AXI 请求/响应</a:t>
            </a:r>
          </a:p>
        </p:txBody>
      </p:sp>
      <p:sp>
        <p:nvSpPr>
          <p:cNvPr id="35" name="polyline-035"/>
          <p:cNvSpPr/>
          <p:nvPr/>
        </p:nvSpPr>
        <p:spPr>
          <a:xfrm>
            <a:off x="3566160" y="4114800"/>
            <a:ext cx="1234440" cy="1"/>
          </a:xfrm>
          <a:custGeom>
            <a:avLst/>
            <a:gdLst/>
            <a:ahLst/>
            <a:cxnLst/>
            <a:rect l="0" t="0" r="r" b="b"/>
            <a:pathLst>
              <a:path w="1234440" h="1" fill="none">
                <a:moveTo>
                  <a:pt x="1234440" y="0"/>
                </a:moveTo>
                <a:lnTo>
                  <a:pt x="0" y="0"/>
                </a:lnTo>
              </a:path>
            </a:pathLst>
          </a:custGeom>
          <a:noFill/>
          <a:ln w="21946" cap="flat">
            <a:solidFill>
              <a:srgbClr val="287D70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6: Reg 请求/响应"/>
          <p:cNvSpPr txBox="1"/>
          <p:nvPr/>
        </p:nvSpPr>
        <p:spPr>
          <a:xfrm>
            <a:off x="3504438" y="3753429"/>
            <a:ext cx="1312164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287D70"/>
                </a:solidFill>
                <a:latin typeface="Microsoft YaHei"/>
                <a:ea typeface="Microsoft YaHei"/>
                <a:cs typeface="Microsoft YaHei"/>
              </a:rPr>
              <a:t>Reg 请求/响应</a:t>
            </a:r>
          </a:p>
        </p:txBody>
      </p:sp>
      <p:sp>
        <p:nvSpPr>
          <p:cNvPr id="37" name="rect-037"/>
          <p:cNvSpPr/>
          <p:nvPr/>
        </p:nvSpPr>
        <p:spPr>
          <a:xfrm>
            <a:off x="457200" y="6172200"/>
            <a:ext cx="3108960" cy="1280160"/>
          </a:xfrm>
          <a:prstGeom prst="roundRect">
            <a:avLst>
              <a:gd name="adj" fmla="val 6428"/>
            </a:avLst>
          </a:prstGeom>
          <a:solidFill>
            <a:srgbClr val="E9F5F1"/>
          </a:solidFill>
          <a:ln w="18288" cap="flat">
            <a:solidFill>
              <a:srgbClr val="287D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38: apb_uart 寄存器译码"/>
          <p:cNvSpPr txBox="1"/>
          <p:nvPr/>
        </p:nvSpPr>
        <p:spPr>
          <a:xfrm>
            <a:off x="881246" y="6274247"/>
            <a:ext cx="2260868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apb_uart 寄存器译码</a:t>
            </a:r>
          </a:p>
        </p:txBody>
      </p:sp>
      <p:sp>
        <p:nvSpPr>
          <p:cNvPr id="39" name="text-039: PADDR = paddr[4:2]"/>
          <p:cNvSpPr txBox="1"/>
          <p:nvPr/>
        </p:nvSpPr>
        <p:spPr>
          <a:xfrm>
            <a:off x="1036772" y="6614770"/>
            <a:ext cx="1949815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PADDR = paddr[4:2]</a:t>
            </a:r>
          </a:p>
        </p:txBody>
      </p:sp>
      <p:sp>
        <p:nvSpPr>
          <p:cNvPr id="40" name="text-040: DLAB=0：THR 写入"/>
          <p:cNvSpPr txBox="1"/>
          <p:nvPr/>
        </p:nvSpPr>
        <p:spPr>
          <a:xfrm>
            <a:off x="1073434" y="6879946"/>
            <a:ext cx="1876492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DLAB=0：THR 写入</a:t>
            </a:r>
          </a:p>
        </p:txBody>
      </p:sp>
      <p:sp>
        <p:nvSpPr>
          <p:cNvPr id="41" name="rect-041"/>
          <p:cNvSpPr/>
          <p:nvPr/>
        </p:nvSpPr>
        <p:spPr>
          <a:xfrm>
            <a:off x="4800600" y="6172200"/>
            <a:ext cx="3108960" cy="1280160"/>
          </a:xfrm>
          <a:prstGeom prst="roundRect">
            <a:avLst>
              <a:gd name="adj" fmla="val 6428"/>
            </a:avLst>
          </a:prstGeom>
          <a:solidFill>
            <a:srgbClr val="F1ECF7"/>
          </a:solidFill>
          <a:ln w="18288" cap="flat">
            <a:solidFill>
              <a:srgbClr val="8660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2: TX FIFO / iTSR"/>
          <p:cNvSpPr txBox="1"/>
          <p:nvPr/>
        </p:nvSpPr>
        <p:spPr>
          <a:xfrm>
            <a:off x="5494794" y="6274247"/>
            <a:ext cx="1720572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TX FIFO / iTSR</a:t>
            </a:r>
          </a:p>
        </p:txBody>
      </p:sp>
      <p:sp>
        <p:nvSpPr>
          <p:cNvPr id="43" name="text-043: iTHRWrite → FIFO 入队"/>
          <p:cNvSpPr txBox="1"/>
          <p:nvPr/>
        </p:nvSpPr>
        <p:spPr>
          <a:xfrm>
            <a:off x="5264922" y="6614770"/>
            <a:ext cx="2180315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iTHRWrite → FIFO 入队</a:t>
            </a:r>
          </a:p>
        </p:txBody>
      </p:sp>
      <p:sp>
        <p:nvSpPr>
          <p:cNvPr id="44" name="text-044: 流控允许后取字节"/>
          <p:cNvSpPr txBox="1"/>
          <p:nvPr/>
        </p:nvSpPr>
        <p:spPr>
          <a:xfrm>
            <a:off x="5532120" y="6879946"/>
            <a:ext cx="164592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流控允许后取字节</a:t>
            </a:r>
          </a:p>
        </p:txBody>
      </p:sp>
      <p:sp>
        <p:nvSpPr>
          <p:cNvPr id="45" name="rect-045"/>
          <p:cNvSpPr/>
          <p:nvPr/>
        </p:nvSpPr>
        <p:spPr>
          <a:xfrm>
            <a:off x="9144000" y="6172200"/>
            <a:ext cx="3200400" cy="1280160"/>
          </a:xfrm>
          <a:prstGeom prst="roundRect">
            <a:avLst>
              <a:gd name="adj" fmla="val 6428"/>
            </a:avLst>
          </a:prstGeom>
          <a:solidFill>
            <a:srgbClr val="F1ECF7"/>
          </a:solidFill>
          <a:ln w="18288" cap="flat">
            <a:solidFill>
              <a:srgbClr val="8660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UART_TX → uart_tx_o"/>
          <p:cNvSpPr txBox="1"/>
          <p:nvPr/>
        </p:nvSpPr>
        <p:spPr>
          <a:xfrm>
            <a:off x="9499530" y="6274247"/>
            <a:ext cx="2489340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UART_TX → uart_tx_o</a:t>
            </a:r>
          </a:p>
        </p:txBody>
      </p:sp>
      <p:sp>
        <p:nvSpPr>
          <p:cNvPr id="47" name="text-047: 波特率节拍 / 串行移出"/>
          <p:cNvSpPr txBox="1"/>
          <p:nvPr/>
        </p:nvSpPr>
        <p:spPr>
          <a:xfrm>
            <a:off x="9736610" y="6614770"/>
            <a:ext cx="201518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波特率节拍 / 串行移出</a:t>
            </a:r>
          </a:p>
        </p:txBody>
      </p:sp>
      <p:sp>
        <p:nvSpPr>
          <p:cNvPr id="48" name="text-048: THRE 与 TEMT 供软件读取"/>
          <p:cNvSpPr txBox="1"/>
          <p:nvPr/>
        </p:nvSpPr>
        <p:spPr>
          <a:xfrm>
            <a:off x="9545364" y="6879946"/>
            <a:ext cx="2397671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THRE 与 TEMT 供软件读取</a:t>
            </a:r>
          </a:p>
        </p:txBody>
      </p:sp>
      <p:sp>
        <p:nvSpPr>
          <p:cNvPr id="49" name="polyline-049"/>
          <p:cNvSpPr/>
          <p:nvPr/>
        </p:nvSpPr>
        <p:spPr>
          <a:xfrm>
            <a:off x="2011680" y="4754880"/>
            <a:ext cx="1" cy="1417320"/>
          </a:xfrm>
          <a:custGeom>
            <a:avLst/>
            <a:gdLst/>
            <a:ahLst/>
            <a:cxnLst/>
            <a:rect l="0" t="0" r="r" b="b"/>
            <a:pathLst>
              <a:path w="1" h="1417320" fill="none">
                <a:moveTo>
                  <a:pt x="0" y="0"/>
                </a:moveTo>
                <a:lnTo>
                  <a:pt x="0" y="1417320"/>
                </a:lnTo>
              </a:path>
            </a:pathLst>
          </a:custGeom>
          <a:noFill/>
          <a:ln w="21946" cap="flat">
            <a:solidFill>
              <a:srgbClr val="287D70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50: APB 传输"/>
          <p:cNvSpPr txBox="1"/>
          <p:nvPr/>
        </p:nvSpPr>
        <p:spPr>
          <a:xfrm>
            <a:off x="2379555" y="5344485"/>
            <a:ext cx="910171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287D70"/>
                </a:solidFill>
                <a:latin typeface="Microsoft YaHei"/>
                <a:ea typeface="Microsoft YaHei"/>
                <a:cs typeface="Microsoft YaHei"/>
              </a:rPr>
              <a:t>APB 传输</a:t>
            </a:r>
          </a:p>
        </p:txBody>
      </p:sp>
      <p:sp>
        <p:nvSpPr>
          <p:cNvPr id="51" name="polyline-051"/>
          <p:cNvSpPr/>
          <p:nvPr/>
        </p:nvSpPr>
        <p:spPr>
          <a:xfrm>
            <a:off x="3566160" y="6812280"/>
            <a:ext cx="1234440" cy="1"/>
          </a:xfrm>
          <a:custGeom>
            <a:avLst/>
            <a:gdLst/>
            <a:ahLst/>
            <a:cxnLst/>
            <a:rect l="0" t="0" r="r" b="b"/>
            <a:pathLst>
              <a:path w="1234440" h="1" fill="none">
                <a:moveTo>
                  <a:pt x="0" y="0"/>
                </a:moveTo>
                <a:lnTo>
                  <a:pt x="1234440" y="0"/>
                </a:lnTo>
              </a:path>
            </a:pathLst>
          </a:custGeom>
          <a:noFill/>
          <a:ln w="21946" cap="flat">
            <a:solidFill>
              <a:srgbClr val="8660A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2: 字节入队"/>
          <p:cNvSpPr txBox="1"/>
          <p:nvPr/>
        </p:nvSpPr>
        <p:spPr>
          <a:xfrm>
            <a:off x="3726180" y="6469197"/>
            <a:ext cx="868680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8660A5"/>
                </a:solidFill>
                <a:latin typeface="Microsoft YaHei"/>
                <a:ea typeface="Microsoft YaHei"/>
                <a:cs typeface="Microsoft YaHei"/>
              </a:rPr>
              <a:t>字节入队</a:t>
            </a:r>
          </a:p>
        </p:txBody>
      </p:sp>
      <p:sp>
        <p:nvSpPr>
          <p:cNvPr id="53" name="polyline-053"/>
          <p:cNvSpPr/>
          <p:nvPr/>
        </p:nvSpPr>
        <p:spPr>
          <a:xfrm>
            <a:off x="7909560" y="6812280"/>
            <a:ext cx="1234440" cy="1"/>
          </a:xfrm>
          <a:custGeom>
            <a:avLst/>
            <a:gdLst/>
            <a:ahLst/>
            <a:cxnLst/>
            <a:rect l="0" t="0" r="r" b="b"/>
            <a:pathLst>
              <a:path w="1234440" h="1" fill="none">
                <a:moveTo>
                  <a:pt x="0" y="0"/>
                </a:moveTo>
                <a:lnTo>
                  <a:pt x="1234440" y="0"/>
                </a:lnTo>
              </a:path>
            </a:pathLst>
          </a:custGeom>
          <a:noFill/>
          <a:ln w="21946" cap="flat">
            <a:solidFill>
              <a:srgbClr val="8660A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4: 字节传输"/>
          <p:cNvSpPr txBox="1"/>
          <p:nvPr/>
        </p:nvSpPr>
        <p:spPr>
          <a:xfrm>
            <a:off x="8087868" y="6469197"/>
            <a:ext cx="868680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8660A5"/>
                </a:solidFill>
                <a:latin typeface="Microsoft YaHei"/>
                <a:ea typeface="Microsoft YaHei"/>
                <a:cs typeface="Microsoft YaHei"/>
              </a:rPr>
              <a:t>字节传输</a:t>
            </a:r>
          </a:p>
        </p:txBody>
      </p:sp>
      <p:sp>
        <p:nvSpPr>
          <p:cNvPr id="55" name="text-055: 控制读写的返回沿请求链逆向到 CPU；发送完成由状态位表达，不等于 MMIO 写"/>
          <p:cNvSpPr txBox="1"/>
          <p:nvPr/>
        </p:nvSpPr>
        <p:spPr>
          <a:xfrm>
            <a:off x="457200" y="7666330"/>
            <a:ext cx="731120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控制读写的返回沿请求链逆向到 CPU；发送完成由状态位表达，不等于 MMIO 写响应。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-002: DMA 接口：配置接受、任务提交、数据搬运与结果取回"/>
          <p:cNvSpPr txBox="1"/>
          <p:nvPr/>
        </p:nvSpPr>
        <p:spPr>
          <a:xfrm>
            <a:off x="438912" y="206654"/>
            <a:ext cx="7096573" cy="4389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DMA 接口：配置接受、任务提交、数据搬运与结果取回</a:t>
            </a:r>
          </a:p>
        </p:txBody>
      </p:sp>
      <p:sp>
        <p:nvSpPr>
          <p:cNvPr id="3" name="rect-003"/>
          <p:cNvSpPr/>
          <p:nvPr/>
        </p:nvSpPr>
        <p:spPr>
          <a:xfrm>
            <a:off x="457200" y="1143000"/>
            <a:ext cx="3154680" cy="1325880"/>
          </a:xfrm>
          <a:prstGeom prst="roundRect">
            <a:avLst>
              <a:gd name="adj" fmla="val 6206"/>
            </a:avLst>
          </a:prstGeom>
          <a:solidFill>
            <a:srgbClr val="EAF1FC"/>
          </a:solidFill>
          <a:ln w="18288" cap="flat">
            <a:solidFill>
              <a:srgbClr val="4775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-004: CPU / DMA API"/>
          <p:cNvSpPr txBox="1"/>
          <p:nvPr/>
        </p:nvSpPr>
        <p:spPr>
          <a:xfrm>
            <a:off x="1110267" y="1245047"/>
            <a:ext cx="1848545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CPU / DMA API</a:t>
            </a:r>
          </a:p>
        </p:txBody>
      </p:sp>
      <p:sp>
        <p:nvSpPr>
          <p:cNvPr id="5" name="text-005: SRC / DST / LEN / STRIDE"/>
          <p:cNvSpPr txBox="1"/>
          <p:nvPr/>
        </p:nvSpPr>
        <p:spPr>
          <a:xfrm>
            <a:off x="833176" y="1585570"/>
            <a:ext cx="2402729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SRC / DST / LEN / STRIDE</a:t>
            </a:r>
          </a:p>
        </p:txBody>
      </p:sp>
      <p:sp>
        <p:nvSpPr>
          <p:cNvPr id="6" name="text-006: 读 NEXT_ID 提交任务"/>
          <p:cNvSpPr txBox="1"/>
          <p:nvPr/>
        </p:nvSpPr>
        <p:spPr>
          <a:xfrm>
            <a:off x="1056232" y="1850746"/>
            <a:ext cx="1956616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读 NEXT_ID 提交任务</a:t>
            </a:r>
          </a:p>
        </p:txBody>
      </p:sp>
      <p:sp>
        <p:nvSpPr>
          <p:cNvPr id="7" name="text-007: 轮询 DONE_ID"/>
          <p:cNvSpPr txBox="1"/>
          <p:nvPr/>
        </p:nvSpPr>
        <p:spPr>
          <a:xfrm>
            <a:off x="1326852" y="2115922"/>
            <a:ext cx="1415377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轮询 DONE_ID</a:t>
            </a:r>
          </a:p>
        </p:txBody>
      </p:sp>
      <p:sp>
        <p:nvSpPr>
          <p:cNvPr id="8" name="rect-008"/>
          <p:cNvSpPr/>
          <p:nvPr/>
        </p:nvSpPr>
        <p:spPr>
          <a:xfrm>
            <a:off x="4754880" y="1143000"/>
            <a:ext cx="3200400" cy="1325880"/>
          </a:xfrm>
          <a:prstGeom prst="roundRect">
            <a:avLst>
              <a:gd name="adj" fmla="val 6206"/>
            </a:avLst>
          </a:prstGeom>
          <a:solidFill>
            <a:srgbClr val="E9F5F1"/>
          </a:solidFill>
          <a:ln w="18288" cap="flat">
            <a:solidFill>
              <a:srgbClr val="287D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-009: AXI slave 配置端"/>
          <p:cNvSpPr txBox="1"/>
          <p:nvPr/>
        </p:nvSpPr>
        <p:spPr>
          <a:xfrm>
            <a:off x="5419292" y="1245047"/>
            <a:ext cx="1871577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AXI slave 配置端</a:t>
            </a:r>
          </a:p>
        </p:txBody>
      </p:sp>
      <p:sp>
        <p:nvSpPr>
          <p:cNvPr id="10" name="text-010: axi_to_reg → reg_top"/>
          <p:cNvSpPr txBox="1"/>
          <p:nvPr/>
        </p:nvSpPr>
        <p:spPr>
          <a:xfrm>
            <a:off x="5344582" y="1585570"/>
            <a:ext cx="2020995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axi_to_reg → reg_top</a:t>
            </a:r>
          </a:p>
        </p:txBody>
      </p:sp>
      <p:sp>
        <p:nvSpPr>
          <p:cNvPr id="11" name="text-011: 参数 q / next_id.re"/>
          <p:cNvSpPr txBox="1"/>
          <p:nvPr/>
        </p:nvSpPr>
        <p:spPr>
          <a:xfrm>
            <a:off x="5482028" y="1850746"/>
            <a:ext cx="1746104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参数 q / next_id.re</a:t>
            </a:r>
          </a:p>
        </p:txBody>
      </p:sp>
      <p:sp>
        <p:nvSpPr>
          <p:cNvPr id="12" name="text-012: 前端 valid / ready"/>
          <p:cNvSpPr txBox="1"/>
          <p:nvPr/>
        </p:nvSpPr>
        <p:spPr>
          <a:xfrm>
            <a:off x="5513653" y="2115922"/>
            <a:ext cx="1682853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前端 valid / ready</a:t>
            </a:r>
          </a:p>
        </p:txBody>
      </p:sp>
      <p:sp>
        <p:nvSpPr>
          <p:cNvPr id="13" name="rect-013"/>
          <p:cNvSpPr/>
          <p:nvPr/>
        </p:nvSpPr>
        <p:spPr>
          <a:xfrm>
            <a:off x="9098280" y="1143000"/>
            <a:ext cx="3246120" cy="1325880"/>
          </a:xfrm>
          <a:prstGeom prst="roundRect">
            <a:avLst>
              <a:gd name="adj" fmla="val 6206"/>
            </a:avLst>
          </a:prstGeom>
          <a:solidFill>
            <a:srgbClr val="FFF2E5"/>
          </a:solidFill>
          <a:ln w="18288" cap="flat">
            <a:solidFill>
              <a:srgbClr val="BB6D3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014: Job FIFO / 2D midend"/>
          <p:cNvSpPr txBox="1"/>
          <p:nvPr/>
        </p:nvSpPr>
        <p:spPr>
          <a:xfrm>
            <a:off x="9462347" y="1245047"/>
            <a:ext cx="2517986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Job FIFO / 2D midend</a:t>
            </a:r>
          </a:p>
        </p:txBody>
      </p:sp>
      <p:sp>
        <p:nvSpPr>
          <p:cNvPr id="15" name="text-015: 入队：issue ID"/>
          <p:cNvSpPr txBox="1"/>
          <p:nvPr/>
        </p:nvSpPr>
        <p:spPr>
          <a:xfrm>
            <a:off x="10014766" y="1585570"/>
            <a:ext cx="1413148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入队：issue ID</a:t>
            </a:r>
          </a:p>
        </p:txBody>
      </p:sp>
      <p:sp>
        <p:nvSpPr>
          <p:cNvPr id="16" name="text-016: 每行产生 1D 请求"/>
          <p:cNvSpPr txBox="1"/>
          <p:nvPr/>
        </p:nvSpPr>
        <p:spPr>
          <a:xfrm>
            <a:off x="9903866" y="1850746"/>
            <a:ext cx="1634947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每行产生 1D 请求</a:t>
            </a:r>
          </a:p>
        </p:txBody>
      </p:sp>
      <p:sp>
        <p:nvSpPr>
          <p:cNvPr id="17" name="text-017: 整体响应：retire ID"/>
          <p:cNvSpPr txBox="1"/>
          <p:nvPr/>
        </p:nvSpPr>
        <p:spPr>
          <a:xfrm>
            <a:off x="9819684" y="2115922"/>
            <a:ext cx="1803311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整体响应：retire ID</a:t>
            </a:r>
          </a:p>
        </p:txBody>
      </p:sp>
      <p:sp>
        <p:nvSpPr>
          <p:cNvPr id="18" name="polyline-018"/>
          <p:cNvSpPr/>
          <p:nvPr/>
        </p:nvSpPr>
        <p:spPr>
          <a:xfrm>
            <a:off x="3611880" y="1783080"/>
            <a:ext cx="1143000" cy="1"/>
          </a:xfrm>
          <a:custGeom>
            <a:avLst/>
            <a:gdLst/>
            <a:ahLst/>
            <a:cxnLst/>
            <a:rect l="0" t="0" r="r" b="b"/>
            <a:pathLst>
              <a:path w="1143000" h="1" fill="none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21946" cap="flat">
            <a:solidFill>
              <a:srgbClr val="287D70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019: MMIO"/>
          <p:cNvSpPr txBox="1"/>
          <p:nvPr/>
        </p:nvSpPr>
        <p:spPr>
          <a:xfrm>
            <a:off x="3807576" y="1439997"/>
            <a:ext cx="705888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287D70"/>
                </a:solidFill>
                <a:latin typeface="Microsoft YaHei"/>
                <a:ea typeface="Microsoft YaHei"/>
                <a:cs typeface="Microsoft YaHei"/>
              </a:rPr>
              <a:t>MMIO</a:t>
            </a:r>
          </a:p>
        </p:txBody>
      </p:sp>
      <p:sp>
        <p:nvSpPr>
          <p:cNvPr id="20" name="polyline-020"/>
          <p:cNvSpPr/>
          <p:nvPr/>
        </p:nvSpPr>
        <p:spPr>
          <a:xfrm>
            <a:off x="7955280" y="1783080"/>
            <a:ext cx="1143000" cy="1"/>
          </a:xfrm>
          <a:custGeom>
            <a:avLst/>
            <a:gdLst/>
            <a:ahLst/>
            <a:cxnLst/>
            <a:rect l="0" t="0" r="r" b="b"/>
            <a:pathLst>
              <a:path w="1143000" h="1" fill="none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21946" cap="flat">
            <a:solidFill>
              <a:srgbClr val="BB6D30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1: 任务握手"/>
          <p:cNvSpPr txBox="1"/>
          <p:nvPr/>
        </p:nvSpPr>
        <p:spPr>
          <a:xfrm>
            <a:off x="8087868" y="1439997"/>
            <a:ext cx="868680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BB6D30"/>
                </a:solidFill>
                <a:latin typeface="Microsoft YaHei"/>
                <a:ea typeface="Microsoft YaHei"/>
                <a:cs typeface="Microsoft YaHei"/>
              </a:rPr>
              <a:t>任务握手</a:t>
            </a:r>
          </a:p>
        </p:txBody>
      </p:sp>
      <p:sp>
        <p:nvSpPr>
          <p:cNvPr id="22" name="rect-022"/>
          <p:cNvSpPr/>
          <p:nvPr/>
        </p:nvSpPr>
        <p:spPr>
          <a:xfrm>
            <a:off x="9098280" y="3703320"/>
            <a:ext cx="3246120" cy="1325880"/>
          </a:xfrm>
          <a:prstGeom prst="roundRect">
            <a:avLst>
              <a:gd name="adj" fmla="val 6206"/>
            </a:avLst>
          </a:prstGeom>
          <a:solidFill>
            <a:srgbClr val="F1ECF7"/>
          </a:solidFill>
          <a:ln w="18288" cap="flat">
            <a:solidFill>
              <a:srgbClr val="8660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23: idma_backend_rw_axi"/>
          <p:cNvSpPr txBox="1"/>
          <p:nvPr/>
        </p:nvSpPr>
        <p:spPr>
          <a:xfrm>
            <a:off x="9474191" y="3805367"/>
            <a:ext cx="2494297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idma_backend_rw_axi</a:t>
            </a:r>
          </a:p>
        </p:txBody>
      </p:sp>
      <p:sp>
        <p:nvSpPr>
          <p:cNvPr id="24" name="text-024: legalizer / transport"/>
          <p:cNvSpPr txBox="1"/>
          <p:nvPr/>
        </p:nvSpPr>
        <p:spPr>
          <a:xfrm>
            <a:off x="9764442" y="4145890"/>
            <a:ext cx="1913796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legalizer / transport</a:t>
            </a:r>
          </a:p>
        </p:txBody>
      </p:sp>
      <p:sp>
        <p:nvSpPr>
          <p:cNvPr id="25" name="text-025: 独立 AXI 读写"/>
          <p:cNvSpPr txBox="1"/>
          <p:nvPr/>
        </p:nvSpPr>
        <p:spPr>
          <a:xfrm>
            <a:off x="10059822" y="4411066"/>
            <a:ext cx="1323037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独立 AXI 读写</a:t>
            </a:r>
          </a:p>
        </p:txBody>
      </p:sp>
      <p:sp>
        <p:nvSpPr>
          <p:cNvPr id="26" name="text-026: R / B 响应"/>
          <p:cNvSpPr txBox="1"/>
          <p:nvPr/>
        </p:nvSpPr>
        <p:spPr>
          <a:xfrm>
            <a:off x="10209705" y="4676242"/>
            <a:ext cx="1023271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R / B 响应</a:t>
            </a:r>
          </a:p>
        </p:txBody>
      </p:sp>
      <p:sp>
        <p:nvSpPr>
          <p:cNvPr id="27" name="polyline-027"/>
          <p:cNvSpPr/>
          <p:nvPr/>
        </p:nvSpPr>
        <p:spPr>
          <a:xfrm>
            <a:off x="10716768" y="2468880"/>
            <a:ext cx="1" cy="1234440"/>
          </a:xfrm>
          <a:custGeom>
            <a:avLst/>
            <a:gdLst/>
            <a:ahLst/>
            <a:cxnLst/>
            <a:rect l="0" t="0" r="r" b="b"/>
            <a:pathLst>
              <a:path w="1" h="1234440" fill="none">
                <a:moveTo>
                  <a:pt x="0" y="0"/>
                </a:moveTo>
                <a:lnTo>
                  <a:pt x="0" y="1234440"/>
                </a:lnTo>
              </a:path>
            </a:pathLst>
          </a:custGeom>
          <a:noFill/>
          <a:ln w="21946" cap="flat">
            <a:solidFill>
              <a:srgbClr val="8660A5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8: 行请求 / 响应"/>
          <p:cNvSpPr txBox="1"/>
          <p:nvPr/>
        </p:nvSpPr>
        <p:spPr>
          <a:xfrm>
            <a:off x="11094594" y="2921325"/>
            <a:ext cx="1219452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8660A5"/>
                </a:solidFill>
                <a:latin typeface="Microsoft YaHei"/>
                <a:ea typeface="Microsoft YaHei"/>
                <a:cs typeface="Microsoft YaHei"/>
              </a:rPr>
              <a:t>行请求 / 响应</a:t>
            </a:r>
          </a:p>
        </p:txBody>
      </p:sp>
      <p:sp>
        <p:nvSpPr>
          <p:cNvPr id="29" name="rect-029"/>
          <p:cNvSpPr/>
          <p:nvPr/>
        </p:nvSpPr>
        <p:spPr>
          <a:xfrm>
            <a:off x="4754880" y="3703320"/>
            <a:ext cx="3200400" cy="1325880"/>
          </a:xfrm>
          <a:prstGeom prst="roundRect">
            <a:avLst>
              <a:gd name="adj" fmla="val 6206"/>
            </a:avLst>
          </a:prstGeom>
          <a:solidFill>
            <a:srgbClr val="F1ECF7"/>
          </a:solidFill>
          <a:ln w="18288" cap="flat">
            <a:solidFill>
              <a:srgbClr val="8660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0: 主 Xbar / 存储目标"/>
          <p:cNvSpPr txBox="1"/>
          <p:nvPr/>
        </p:nvSpPr>
        <p:spPr>
          <a:xfrm>
            <a:off x="5332731" y="3805367"/>
            <a:ext cx="2044698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主 Xbar / 存储目标</a:t>
            </a:r>
          </a:p>
        </p:txBody>
      </p:sp>
      <p:sp>
        <p:nvSpPr>
          <p:cNvPr id="31" name="text-031: AxiIn.dma"/>
          <p:cNvSpPr txBox="1"/>
          <p:nvPr/>
        </p:nvSpPr>
        <p:spPr>
          <a:xfrm>
            <a:off x="5828664" y="4145890"/>
            <a:ext cx="1052832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AxiIn.dma</a:t>
            </a:r>
          </a:p>
        </p:txBody>
      </p:sp>
      <p:sp>
        <p:nvSpPr>
          <p:cNvPr id="32" name="text-032: SRC 读 → DST 写"/>
          <p:cNvSpPr txBox="1"/>
          <p:nvPr/>
        </p:nvSpPr>
        <p:spPr>
          <a:xfrm>
            <a:off x="5533970" y="4411066"/>
            <a:ext cx="164222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SRC 读 → DST 写</a:t>
            </a:r>
          </a:p>
        </p:txBody>
      </p:sp>
      <p:sp>
        <p:nvSpPr>
          <p:cNvPr id="33" name="text-033: SPM / 平台主存"/>
          <p:cNvSpPr txBox="1"/>
          <p:nvPr/>
        </p:nvSpPr>
        <p:spPr>
          <a:xfrm>
            <a:off x="5606629" y="4676242"/>
            <a:ext cx="1496901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SPM / 平台主存</a:t>
            </a:r>
          </a:p>
        </p:txBody>
      </p:sp>
      <p:sp>
        <p:nvSpPr>
          <p:cNvPr id="34" name="polyline-034"/>
          <p:cNvSpPr/>
          <p:nvPr/>
        </p:nvSpPr>
        <p:spPr>
          <a:xfrm>
            <a:off x="7955280" y="4361688"/>
            <a:ext cx="1143000" cy="1"/>
          </a:xfrm>
          <a:custGeom>
            <a:avLst/>
            <a:gdLst/>
            <a:ahLst/>
            <a:cxnLst/>
            <a:rect l="0" t="0" r="r" b="b"/>
            <a:pathLst>
              <a:path w="1143000" h="1" fill="none">
                <a:moveTo>
                  <a:pt x="1143000" y="0"/>
                </a:moveTo>
                <a:lnTo>
                  <a:pt x="0" y="0"/>
                </a:lnTo>
              </a:path>
            </a:pathLst>
          </a:custGeom>
          <a:noFill/>
          <a:ln w="21946" cap="flat">
            <a:solidFill>
              <a:srgbClr val="8660A5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5: AXI 数据事务"/>
          <p:cNvSpPr txBox="1"/>
          <p:nvPr/>
        </p:nvSpPr>
        <p:spPr>
          <a:xfrm>
            <a:off x="7919483" y="4000317"/>
            <a:ext cx="1205451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8660A5"/>
                </a:solidFill>
                <a:latin typeface="Microsoft YaHei"/>
                <a:ea typeface="Microsoft YaHei"/>
                <a:cs typeface="Microsoft YaHei"/>
              </a:rPr>
              <a:t>AXI 数据事务</a:t>
            </a:r>
          </a:p>
        </p:txBody>
      </p:sp>
      <p:sp>
        <p:nvSpPr>
          <p:cNvPr id="36" name="rect-036"/>
          <p:cNvSpPr/>
          <p:nvPr/>
        </p:nvSpPr>
        <p:spPr>
          <a:xfrm>
            <a:off x="457200" y="3703320"/>
            <a:ext cx="3154680" cy="1325880"/>
          </a:xfrm>
          <a:prstGeom prst="roundRect">
            <a:avLst>
              <a:gd name="adj" fmla="val 6206"/>
            </a:avLst>
          </a:prstGeom>
          <a:solidFill>
            <a:srgbClr val="EAF1FC"/>
          </a:solidFill>
          <a:ln w="18288" cap="flat">
            <a:solidFill>
              <a:srgbClr val="4775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37: CPU 取回缓冲"/>
          <p:cNvSpPr txBox="1"/>
          <p:nvPr/>
        </p:nvSpPr>
        <p:spPr>
          <a:xfrm>
            <a:off x="1255886" y="3805367"/>
            <a:ext cx="1557309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CPU 取回缓冲</a:t>
            </a:r>
          </a:p>
        </p:txBody>
      </p:sp>
      <p:sp>
        <p:nvSpPr>
          <p:cNvPr id="38" name="text-038: 匹配完成 ID / 检查错误"/>
          <p:cNvSpPr txBox="1"/>
          <p:nvPr/>
        </p:nvSpPr>
        <p:spPr>
          <a:xfrm>
            <a:off x="994796" y="4145890"/>
            <a:ext cx="2079488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匹配完成 ID / 检查错误</a:t>
            </a:r>
          </a:p>
        </p:txBody>
      </p:sp>
      <p:sp>
        <p:nvSpPr>
          <p:cNvPr id="39" name="text-039: 排序 / 必要缓存维护"/>
          <p:cNvSpPr txBox="1"/>
          <p:nvPr/>
        </p:nvSpPr>
        <p:spPr>
          <a:xfrm>
            <a:off x="1118390" y="4411066"/>
            <a:ext cx="183230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排序 / 必要缓存维护</a:t>
            </a:r>
          </a:p>
        </p:txBody>
      </p:sp>
      <p:sp>
        <p:nvSpPr>
          <p:cNvPr id="40" name="text-040: 逐字节比较与守卫"/>
          <p:cNvSpPr txBox="1"/>
          <p:nvPr/>
        </p:nvSpPr>
        <p:spPr>
          <a:xfrm>
            <a:off x="1211580" y="4676242"/>
            <a:ext cx="164592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逐字节比较与守卫</a:t>
            </a:r>
          </a:p>
        </p:txBody>
      </p:sp>
      <p:sp>
        <p:nvSpPr>
          <p:cNvPr id="41" name="polyline-041"/>
          <p:cNvSpPr/>
          <p:nvPr/>
        </p:nvSpPr>
        <p:spPr>
          <a:xfrm>
            <a:off x="3611880" y="4361688"/>
            <a:ext cx="1143000" cy="1"/>
          </a:xfrm>
          <a:custGeom>
            <a:avLst/>
            <a:gdLst/>
            <a:ahLst/>
            <a:cxnLst/>
            <a:rect l="0" t="0" r="r" b="b"/>
            <a:pathLst>
              <a:path w="1143000" h="1" fill="none">
                <a:moveTo>
                  <a:pt x="1143000" y="0"/>
                </a:moveTo>
                <a:lnTo>
                  <a:pt x="0" y="0"/>
                </a:lnTo>
              </a:path>
            </a:pathLst>
          </a:custGeom>
          <a:noFill/>
          <a:ln w="21946" cap="flat">
            <a:solidFill>
              <a:srgbClr val="287D70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2: CPU 读取"/>
          <p:cNvSpPr txBox="1"/>
          <p:nvPr/>
        </p:nvSpPr>
        <p:spPr>
          <a:xfrm>
            <a:off x="3698105" y="4000317"/>
            <a:ext cx="924830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287D70"/>
                </a:solidFill>
                <a:latin typeface="Microsoft YaHei"/>
                <a:ea typeface="Microsoft YaHei"/>
                <a:cs typeface="Microsoft YaHei"/>
              </a:rPr>
              <a:t>CPU 读取</a:t>
            </a:r>
          </a:p>
        </p:txBody>
      </p:sp>
      <p:sp>
        <p:nvSpPr>
          <p:cNvPr id="43" name="polyline-043"/>
          <p:cNvSpPr/>
          <p:nvPr/>
        </p:nvSpPr>
        <p:spPr>
          <a:xfrm>
            <a:off x="2011680" y="822960"/>
            <a:ext cx="8705088" cy="320040"/>
          </a:xfrm>
          <a:custGeom>
            <a:avLst/>
            <a:gdLst/>
            <a:ahLst/>
            <a:cxnLst/>
            <a:rect l="0" t="0" r="r" b="b"/>
            <a:pathLst>
              <a:path w="8705088" h="320040" fill="none">
                <a:moveTo>
                  <a:pt x="8705088" y="320040"/>
                </a:moveTo>
                <a:lnTo>
                  <a:pt x="8705088" y="0"/>
                </a:lnTo>
                <a:lnTo>
                  <a:pt x="0" y="0"/>
                </a:lnTo>
                <a:lnTo>
                  <a:pt x="0" y="320040"/>
                </a:lnTo>
              </a:path>
            </a:pathLst>
          </a:custGeom>
          <a:noFill/>
          <a:ln w="21946" cap="flat">
            <a:solidFill>
              <a:srgbClr val="BB6D30"/>
            </a:solidFill>
            <a:custDash>
              <a:ds d="333333" sp="208333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4: DONE_ID 由 retire 更新，经配置读返回"/>
          <p:cNvSpPr txBox="1"/>
          <p:nvPr/>
        </p:nvSpPr>
        <p:spPr>
          <a:xfrm>
            <a:off x="4855657" y="562173"/>
            <a:ext cx="3273166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BB6D30"/>
                </a:solidFill>
                <a:latin typeface="Microsoft YaHei"/>
                <a:ea typeface="Microsoft YaHei"/>
                <a:cs typeface="Microsoft YaHei"/>
              </a:rPr>
              <a:t>DONE_ID 由 retire 更新，经配置读返回</a:t>
            </a:r>
          </a:p>
        </p:txBody>
      </p:sp>
      <p:sp>
        <p:nvSpPr>
          <p:cNvPr id="45" name="rect-045"/>
          <p:cNvSpPr/>
          <p:nvPr/>
        </p:nvSpPr>
        <p:spPr>
          <a:xfrm>
            <a:off x="457200" y="6263640"/>
            <a:ext cx="5577840" cy="1143000"/>
          </a:xfrm>
          <a:prstGeom prst="roundRect">
            <a:avLst>
              <a:gd name="adj" fmla="val 7199"/>
            </a:avLst>
          </a:prstGeom>
          <a:solidFill>
            <a:srgbClr val="FFF2E5"/>
          </a:solidFill>
          <a:ln w="18288" cap="flat">
            <a:solidFill>
              <a:srgbClr val="BB6D3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配置访问成功 ≠ 数据搬运成功"/>
          <p:cNvSpPr txBox="1"/>
          <p:nvPr/>
        </p:nvSpPr>
        <p:spPr>
          <a:xfrm>
            <a:off x="1736303" y="6365687"/>
            <a:ext cx="3019635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配置访问成功 ≠ 数据搬运成功</a:t>
            </a:r>
          </a:p>
        </p:txBody>
      </p:sp>
      <p:sp>
        <p:nvSpPr>
          <p:cNvPr id="47" name="text-047: NEXT_ID 读有副作用；参数写不是任务完成"/>
          <p:cNvSpPr txBox="1"/>
          <p:nvPr/>
        </p:nvSpPr>
        <p:spPr>
          <a:xfrm>
            <a:off x="1380473" y="6706210"/>
            <a:ext cx="3731295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NEXT_ID 读有副作用；参数写不是任务完成</a:t>
            </a:r>
          </a:p>
        </p:txBody>
      </p:sp>
      <p:sp>
        <p:nvSpPr>
          <p:cNvPr id="48" name="text-048: 当前 wrapper 没有完成 IRQ 端口"/>
          <p:cNvSpPr txBox="1"/>
          <p:nvPr/>
        </p:nvSpPr>
        <p:spPr>
          <a:xfrm>
            <a:off x="1793546" y="6971386"/>
            <a:ext cx="2905149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当前 wrapper 没有完成 IRQ 端口</a:t>
            </a:r>
          </a:p>
        </p:txBody>
      </p:sp>
      <p:sp>
        <p:nvSpPr>
          <p:cNvPr id="49" name="rect-049"/>
          <p:cNvSpPr/>
          <p:nvPr/>
        </p:nvSpPr>
        <p:spPr>
          <a:xfrm>
            <a:off x="6720840" y="6263640"/>
            <a:ext cx="5623560" cy="1143000"/>
          </a:xfrm>
          <a:prstGeom prst="roundRect">
            <a:avLst>
              <a:gd name="adj" fmla="val 7199"/>
            </a:avLst>
          </a:prstGeom>
          <a:solidFill>
            <a:srgbClr val="FFF2E5"/>
          </a:solidFill>
          <a:ln w="18288" cap="flat">
            <a:solidFill>
              <a:srgbClr val="BB6D3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50: 当前运行门槛"/>
          <p:cNvSpPr txBox="1"/>
          <p:nvPr/>
        </p:nvSpPr>
        <p:spPr>
          <a:xfrm>
            <a:off x="8796528" y="6365687"/>
            <a:ext cx="1472184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当前运行门槛</a:t>
            </a:r>
          </a:p>
        </p:txBody>
      </p:sp>
      <p:sp>
        <p:nvSpPr>
          <p:cNvPr id="51" name="text-051: 控制 DW / ID 拆读、ND 错误内容未返回"/>
          <p:cNvSpPr txBox="1"/>
          <p:nvPr/>
        </p:nvSpPr>
        <p:spPr>
          <a:xfrm>
            <a:off x="7766306" y="6706210"/>
            <a:ext cx="3532627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控制 DW / ID 拆读、ND 错误内容未返回</a:t>
            </a:r>
          </a:p>
        </p:txBody>
      </p:sp>
      <p:sp>
        <p:nvSpPr>
          <p:cNvPr id="52" name="text-052: NO_ERROR_HANDLING；详见源码与正文"/>
          <p:cNvSpPr txBox="1"/>
          <p:nvPr/>
        </p:nvSpPr>
        <p:spPr>
          <a:xfrm>
            <a:off x="7680731" y="6971386"/>
            <a:ext cx="3703777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NO_ERROR_HANDLING；详见源码与正文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-002: Ara 接口：向量请求与批量数据走不同通路"/>
          <p:cNvSpPr txBox="1"/>
          <p:nvPr/>
        </p:nvSpPr>
        <p:spPr>
          <a:xfrm>
            <a:off x="438912" y="206654"/>
            <a:ext cx="5500487" cy="4389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Ara 接口：向量请求与批量数据走不同通路</a:t>
            </a:r>
          </a:p>
        </p:txBody>
      </p:sp>
      <p:sp>
        <p:nvSpPr>
          <p:cNvPr id="3" name="rect-003"/>
          <p:cNvSpPr/>
          <p:nvPr/>
        </p:nvSpPr>
        <p:spPr>
          <a:xfrm>
            <a:off x="457200" y="1143000"/>
            <a:ext cx="3200400" cy="1371600"/>
          </a:xfrm>
          <a:prstGeom prst="roundRect">
            <a:avLst>
              <a:gd name="adj" fmla="val 6000"/>
            </a:avLst>
          </a:prstGeom>
          <a:solidFill>
            <a:srgbClr val="EAF1FC"/>
          </a:solidFill>
          <a:ln w="18288" cap="flat">
            <a:solidFill>
              <a:srgbClr val="4775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-004: 软件向量内核"/>
          <p:cNvSpPr txBox="1"/>
          <p:nvPr/>
        </p:nvSpPr>
        <p:spPr>
          <a:xfrm>
            <a:off x="1321308" y="1245047"/>
            <a:ext cx="1472184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软件向量内核</a:t>
            </a:r>
          </a:p>
        </p:txBody>
      </p:sp>
      <p:sp>
        <p:nvSpPr>
          <p:cNvPr id="5" name="text-005: vsetvli / vle32 / vadd / vse32"/>
          <p:cNvSpPr txBox="1"/>
          <p:nvPr/>
        </p:nvSpPr>
        <p:spPr>
          <a:xfrm>
            <a:off x="718797" y="1585570"/>
            <a:ext cx="2677206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vsetvli / vle32 / vadd / vse32</a:t>
            </a:r>
          </a:p>
        </p:txBody>
      </p:sp>
      <p:sp>
        <p:nvSpPr>
          <p:cNvPr id="6" name="text-006: 标量 GPR 给基址与长度"/>
          <p:cNvSpPr txBox="1"/>
          <p:nvPr/>
        </p:nvSpPr>
        <p:spPr>
          <a:xfrm>
            <a:off x="996682" y="1850746"/>
            <a:ext cx="2121437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标量 GPR 给基址与长度</a:t>
            </a:r>
          </a:p>
        </p:txBody>
      </p:sp>
      <p:sp>
        <p:nvSpPr>
          <p:cNvPr id="7" name="text-007: VS / FS 和特权条件"/>
          <p:cNvSpPr txBox="1"/>
          <p:nvPr/>
        </p:nvSpPr>
        <p:spPr>
          <a:xfrm>
            <a:off x="1175125" y="2115922"/>
            <a:ext cx="1764549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VS / FS 和特权条件</a:t>
            </a:r>
          </a:p>
        </p:txBody>
      </p:sp>
      <p:sp>
        <p:nvSpPr>
          <p:cNvPr id="8" name="rect-008"/>
          <p:cNvSpPr/>
          <p:nvPr/>
        </p:nvSpPr>
        <p:spPr>
          <a:xfrm>
            <a:off x="4709160" y="1143000"/>
            <a:ext cx="3246120" cy="1371600"/>
          </a:xfrm>
          <a:prstGeom prst="roundRect">
            <a:avLst>
              <a:gd name="adj" fmla="val 6000"/>
            </a:avLst>
          </a:prstGeom>
          <a:solidFill>
            <a:srgbClr val="EAF1FC"/>
          </a:solidFill>
          <a:ln w="18288" cap="flat">
            <a:solidFill>
              <a:srgbClr val="4775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-009: CVA6 acc_dispatcher"/>
          <p:cNvSpPr txBox="1"/>
          <p:nvPr/>
        </p:nvSpPr>
        <p:spPr>
          <a:xfrm>
            <a:off x="5141807" y="1245047"/>
            <a:ext cx="2380826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CVA6 acc_dispatcher</a:t>
            </a:r>
          </a:p>
        </p:txBody>
      </p:sp>
      <p:sp>
        <p:nvSpPr>
          <p:cNvPr id="10" name="text-010: insn / rs1 / rs2 / trans_id"/>
          <p:cNvSpPr txBox="1"/>
          <p:nvPr/>
        </p:nvSpPr>
        <p:spPr>
          <a:xfrm>
            <a:off x="5176754" y="1585570"/>
            <a:ext cx="2310932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insn / rs1 / rs2 / trans_id</a:t>
            </a:r>
          </a:p>
        </p:txBody>
      </p:sp>
      <p:sp>
        <p:nvSpPr>
          <p:cNvPr id="11" name="text-011: 非推测发射 / pending"/>
          <p:cNvSpPr txBox="1"/>
          <p:nvPr/>
        </p:nvSpPr>
        <p:spPr>
          <a:xfrm>
            <a:off x="5326087" y="1850746"/>
            <a:ext cx="2012266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非推测发射 / pending</a:t>
            </a:r>
          </a:p>
        </p:txBody>
      </p:sp>
      <p:sp>
        <p:nvSpPr>
          <p:cNvPr id="12" name="text-012: barrier 与结果写回"/>
          <p:cNvSpPr txBox="1"/>
          <p:nvPr/>
        </p:nvSpPr>
        <p:spPr>
          <a:xfrm>
            <a:off x="5467898" y="2115922"/>
            <a:ext cx="1728645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barrier 与结果写回</a:t>
            </a:r>
          </a:p>
        </p:txBody>
      </p:sp>
      <p:sp>
        <p:nvSpPr>
          <p:cNvPr id="13" name="rect-013"/>
          <p:cNvSpPr/>
          <p:nvPr/>
        </p:nvSpPr>
        <p:spPr>
          <a:xfrm>
            <a:off x="9098280" y="1143000"/>
            <a:ext cx="3246120" cy="1371600"/>
          </a:xfrm>
          <a:prstGeom prst="roundRect">
            <a:avLst>
              <a:gd name="adj" fmla="val 6000"/>
            </a:avLst>
          </a:prstGeom>
          <a:solidFill>
            <a:srgbClr val="F1ECF7"/>
          </a:solidFill>
          <a:ln w="18288" cap="flat">
            <a:solidFill>
              <a:srgbClr val="8660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014: Ara dispatcher / lanes"/>
          <p:cNvSpPr txBox="1"/>
          <p:nvPr/>
        </p:nvSpPr>
        <p:spPr>
          <a:xfrm>
            <a:off x="9461547" y="1245047"/>
            <a:ext cx="2519586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Ara dispatcher / lanes</a:t>
            </a:r>
          </a:p>
        </p:txBody>
      </p:sp>
      <p:sp>
        <p:nvSpPr>
          <p:cNvPr id="15" name="text-015: 指令执行 / 向量寄存器"/>
          <p:cNvSpPr txBox="1"/>
          <p:nvPr/>
        </p:nvSpPr>
        <p:spPr>
          <a:xfrm>
            <a:off x="9713750" y="1585570"/>
            <a:ext cx="201518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指令执行 / 向量寄存器</a:t>
            </a:r>
          </a:p>
        </p:txBody>
      </p:sp>
      <p:sp>
        <p:nvSpPr>
          <p:cNvPr id="16" name="text-016: VL / VTYPE / 元素运算"/>
          <p:cNvSpPr txBox="1"/>
          <p:nvPr/>
        </p:nvSpPr>
        <p:spPr>
          <a:xfrm>
            <a:off x="9690068" y="1850746"/>
            <a:ext cx="2062544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VL / VTYPE / 元素运算</a:t>
            </a:r>
          </a:p>
        </p:txBody>
      </p:sp>
      <p:sp>
        <p:nvSpPr>
          <p:cNvPr id="17" name="text-017: 响应 / exception / 完成"/>
          <p:cNvSpPr txBox="1"/>
          <p:nvPr/>
        </p:nvSpPr>
        <p:spPr>
          <a:xfrm>
            <a:off x="9651256" y="2115922"/>
            <a:ext cx="2140167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响应 / exception / 完成</a:t>
            </a:r>
          </a:p>
        </p:txBody>
      </p:sp>
      <p:sp>
        <p:nvSpPr>
          <p:cNvPr id="18" name="polyline-018"/>
          <p:cNvSpPr/>
          <p:nvPr/>
        </p:nvSpPr>
        <p:spPr>
          <a:xfrm>
            <a:off x="3657600" y="1828800"/>
            <a:ext cx="1051560" cy="1"/>
          </a:xfrm>
          <a:custGeom>
            <a:avLst/>
            <a:gdLst/>
            <a:ahLst/>
            <a:cxnLst/>
            <a:rect l="0" t="0" r="r" b="b"/>
            <a:pathLst>
              <a:path w="1051560" h="1" fill="none">
                <a:moveTo>
                  <a:pt x="0" y="0"/>
                </a:moveTo>
                <a:lnTo>
                  <a:pt x="1051560" y="0"/>
                </a:lnTo>
              </a:path>
            </a:pathLst>
          </a:custGeom>
          <a:noFill/>
          <a:ln w="21946" cap="flat">
            <a:solidFill>
              <a:srgbClr val="4775AC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019: 指令执行"/>
          <p:cNvSpPr txBox="1"/>
          <p:nvPr/>
        </p:nvSpPr>
        <p:spPr>
          <a:xfrm>
            <a:off x="3753612" y="1485717"/>
            <a:ext cx="868680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4775AC"/>
                </a:solidFill>
                <a:latin typeface="Microsoft YaHei"/>
                <a:ea typeface="Microsoft YaHei"/>
                <a:cs typeface="Microsoft YaHei"/>
              </a:rPr>
              <a:t>指令执行</a:t>
            </a:r>
          </a:p>
        </p:txBody>
      </p:sp>
      <p:sp>
        <p:nvSpPr>
          <p:cNvPr id="20" name="polyline-020"/>
          <p:cNvSpPr/>
          <p:nvPr/>
        </p:nvSpPr>
        <p:spPr>
          <a:xfrm>
            <a:off x="7955280" y="1828800"/>
            <a:ext cx="1143000" cy="1"/>
          </a:xfrm>
          <a:custGeom>
            <a:avLst/>
            <a:gdLst/>
            <a:ahLst/>
            <a:cxnLst/>
            <a:rect l="0" t="0" r="r" b="b"/>
            <a:pathLst>
              <a:path w="1143000" h="1" fill="none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21946" cap="flat">
            <a:solidFill>
              <a:srgbClr val="4775AC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1: 专用请求/响应"/>
          <p:cNvSpPr txBox="1"/>
          <p:nvPr/>
        </p:nvSpPr>
        <p:spPr>
          <a:xfrm>
            <a:off x="7877020" y="1485717"/>
            <a:ext cx="1290376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4775AC"/>
                </a:solidFill>
                <a:latin typeface="Microsoft YaHei"/>
                <a:ea typeface="Microsoft YaHei"/>
                <a:cs typeface="Microsoft YaHei"/>
              </a:rPr>
              <a:t>专用请求/响应</a:t>
            </a:r>
          </a:p>
        </p:txBody>
      </p:sp>
      <p:sp>
        <p:nvSpPr>
          <p:cNvPr id="22" name="rect-022"/>
          <p:cNvSpPr/>
          <p:nvPr/>
        </p:nvSpPr>
        <p:spPr>
          <a:xfrm>
            <a:off x="4709160" y="3703320"/>
            <a:ext cx="3246120" cy="1280160"/>
          </a:xfrm>
          <a:prstGeom prst="roundRect">
            <a:avLst>
              <a:gd name="adj" fmla="val 6428"/>
            </a:avLst>
          </a:prstGeom>
          <a:solidFill>
            <a:srgbClr val="E9F5F1"/>
          </a:solidFill>
          <a:ln w="18288" cap="flat">
            <a:solidFill>
              <a:srgbClr val="287D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23: CVA6 MMU / LSU"/>
          <p:cNvSpPr txBox="1"/>
          <p:nvPr/>
        </p:nvSpPr>
        <p:spPr>
          <a:xfrm>
            <a:off x="5299141" y="3805367"/>
            <a:ext cx="2066158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CVA6 MMU / LSU</a:t>
            </a:r>
          </a:p>
        </p:txBody>
      </p:sp>
      <p:sp>
        <p:nvSpPr>
          <p:cNvPr id="24" name="text-024: 虚拟地址 → 物理地址"/>
          <p:cNvSpPr txBox="1"/>
          <p:nvPr/>
        </p:nvSpPr>
        <p:spPr>
          <a:xfrm>
            <a:off x="5363699" y="4145890"/>
            <a:ext cx="1937042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虚拟地址 → 物理地址</a:t>
            </a:r>
          </a:p>
        </p:txBody>
      </p:sp>
      <p:sp>
        <p:nvSpPr>
          <p:cNvPr id="25" name="text-025: DTLB / 权限 / 翻译异常"/>
          <p:cNvSpPr txBox="1"/>
          <p:nvPr/>
        </p:nvSpPr>
        <p:spPr>
          <a:xfrm>
            <a:off x="5283810" y="4411066"/>
            <a:ext cx="2096819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DTLB / 权限 / 翻译异常</a:t>
            </a:r>
          </a:p>
        </p:txBody>
      </p:sp>
      <p:sp>
        <p:nvSpPr>
          <p:cNvPr id="26" name="rect-026"/>
          <p:cNvSpPr/>
          <p:nvPr/>
        </p:nvSpPr>
        <p:spPr>
          <a:xfrm>
            <a:off x="9098280" y="3703320"/>
            <a:ext cx="3246120" cy="1280160"/>
          </a:xfrm>
          <a:prstGeom prst="roundRect">
            <a:avLst>
              <a:gd name="adj" fmla="val 6428"/>
            </a:avLst>
          </a:prstGeom>
          <a:solidFill>
            <a:srgbClr val="F1ECF7"/>
          </a:solidFill>
          <a:ln w="18288" cap="flat">
            <a:solidFill>
              <a:srgbClr val="8660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027: Ara VLSU / addrgen"/>
          <p:cNvSpPr txBox="1"/>
          <p:nvPr/>
        </p:nvSpPr>
        <p:spPr>
          <a:xfrm>
            <a:off x="9566774" y="3805367"/>
            <a:ext cx="2309131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Ara VLSU / addrgen</a:t>
            </a:r>
          </a:p>
        </p:txBody>
      </p:sp>
      <p:sp>
        <p:nvSpPr>
          <p:cNvPr id="28" name="text-028: 向量地址产生"/>
          <p:cNvSpPr txBox="1"/>
          <p:nvPr/>
        </p:nvSpPr>
        <p:spPr>
          <a:xfrm>
            <a:off x="10081260" y="4145890"/>
            <a:ext cx="128016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向量地址产生</a:t>
            </a:r>
          </a:p>
        </p:txBody>
      </p:sp>
      <p:sp>
        <p:nvSpPr>
          <p:cNvPr id="29" name="text-029: vldu / vstu 发 AXI 请求"/>
          <p:cNvSpPr txBox="1"/>
          <p:nvPr/>
        </p:nvSpPr>
        <p:spPr>
          <a:xfrm>
            <a:off x="9663093" y="4411066"/>
            <a:ext cx="2116493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vldu / vstu 发 AXI 请求</a:t>
            </a:r>
          </a:p>
        </p:txBody>
      </p:sp>
      <p:sp>
        <p:nvSpPr>
          <p:cNvPr id="30" name="polyline-030"/>
          <p:cNvSpPr/>
          <p:nvPr/>
        </p:nvSpPr>
        <p:spPr>
          <a:xfrm>
            <a:off x="10716768" y="2514600"/>
            <a:ext cx="1" cy="1188720"/>
          </a:xfrm>
          <a:custGeom>
            <a:avLst/>
            <a:gdLst/>
            <a:ahLst/>
            <a:cxnLst/>
            <a:rect l="0" t="0" r="r" b="b"/>
            <a:pathLst>
              <a:path w="1" h="1188720" fill="none">
                <a:moveTo>
                  <a:pt x="0" y="0"/>
                </a:moveTo>
                <a:lnTo>
                  <a:pt x="0" y="1188720"/>
                </a:lnTo>
              </a:path>
            </a:pathLst>
          </a:custGeom>
          <a:noFill/>
          <a:ln w="21946" cap="flat">
            <a:solidFill>
              <a:srgbClr val="8660A5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31: load / store"/>
          <p:cNvSpPr txBox="1"/>
          <p:nvPr/>
        </p:nvSpPr>
        <p:spPr>
          <a:xfrm>
            <a:off x="11185655" y="2967045"/>
            <a:ext cx="1128770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8660A5"/>
                </a:solidFill>
                <a:latin typeface="Microsoft YaHei"/>
                <a:ea typeface="Microsoft YaHei"/>
                <a:cs typeface="Microsoft YaHei"/>
              </a:rPr>
              <a:t>load / store</a:t>
            </a:r>
          </a:p>
        </p:txBody>
      </p:sp>
      <p:sp>
        <p:nvSpPr>
          <p:cNvPr id="32" name="polyline-032"/>
          <p:cNvSpPr/>
          <p:nvPr/>
        </p:nvSpPr>
        <p:spPr>
          <a:xfrm>
            <a:off x="7955280" y="4343400"/>
            <a:ext cx="1143000" cy="1"/>
          </a:xfrm>
          <a:custGeom>
            <a:avLst/>
            <a:gdLst/>
            <a:ahLst/>
            <a:cxnLst/>
            <a:rect l="0" t="0" r="r" b="b"/>
            <a:pathLst>
              <a:path w="1143000" h="1" fill="none">
                <a:moveTo>
                  <a:pt x="1143000" y="0"/>
                </a:moveTo>
                <a:lnTo>
                  <a:pt x="0" y="0"/>
                </a:lnTo>
              </a:path>
            </a:pathLst>
          </a:custGeom>
          <a:noFill/>
          <a:ln w="21946" cap="flat">
            <a:solidFill>
              <a:srgbClr val="287D70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3: 地址翻译"/>
          <p:cNvSpPr txBox="1"/>
          <p:nvPr/>
        </p:nvSpPr>
        <p:spPr>
          <a:xfrm>
            <a:off x="8087868" y="3991173"/>
            <a:ext cx="868680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287D70"/>
                </a:solidFill>
                <a:latin typeface="Microsoft YaHei"/>
                <a:ea typeface="Microsoft YaHei"/>
                <a:cs typeface="Microsoft YaHei"/>
              </a:rPr>
              <a:t>地址翻译</a:t>
            </a:r>
          </a:p>
        </p:txBody>
      </p:sp>
      <p:sp>
        <p:nvSpPr>
          <p:cNvPr id="34" name="rect-034"/>
          <p:cNvSpPr/>
          <p:nvPr/>
        </p:nvSpPr>
        <p:spPr>
          <a:xfrm>
            <a:off x="9098280" y="6309360"/>
            <a:ext cx="3246120" cy="1280160"/>
          </a:xfrm>
          <a:prstGeom prst="roundRect">
            <a:avLst>
              <a:gd name="adj" fmla="val 6428"/>
            </a:avLst>
          </a:prstGeom>
          <a:solidFill>
            <a:srgbClr val="E9F5F1"/>
          </a:solidFill>
          <a:ln w="18288" cap="flat">
            <a:solidFill>
              <a:srgbClr val="287D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5: 写失效 / 位宽适配"/>
          <p:cNvSpPr txBox="1"/>
          <p:nvPr/>
        </p:nvSpPr>
        <p:spPr>
          <a:xfrm>
            <a:off x="9767749" y="6411407"/>
            <a:ext cx="1907181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写失效 / 位宽适配</a:t>
            </a:r>
          </a:p>
        </p:txBody>
      </p:sp>
      <p:sp>
        <p:nvSpPr>
          <p:cNvPr id="36" name="text-036: axi_inval_filter"/>
          <p:cNvSpPr txBox="1"/>
          <p:nvPr/>
        </p:nvSpPr>
        <p:spPr>
          <a:xfrm>
            <a:off x="10024446" y="6751930"/>
            <a:ext cx="1393788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axi_inval_filter</a:t>
            </a:r>
          </a:p>
        </p:txBody>
      </p:sp>
      <p:sp>
        <p:nvSpPr>
          <p:cNvPr id="37" name="text-037: axi_dw_converter"/>
          <p:cNvSpPr txBox="1"/>
          <p:nvPr/>
        </p:nvSpPr>
        <p:spPr>
          <a:xfrm>
            <a:off x="9878470" y="7017106"/>
            <a:ext cx="1685739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axi_dw_converter</a:t>
            </a:r>
          </a:p>
        </p:txBody>
      </p:sp>
      <p:sp>
        <p:nvSpPr>
          <p:cNvPr id="38" name="rect-038"/>
          <p:cNvSpPr/>
          <p:nvPr/>
        </p:nvSpPr>
        <p:spPr>
          <a:xfrm>
            <a:off x="4709160" y="6309360"/>
            <a:ext cx="3246120" cy="1280160"/>
          </a:xfrm>
          <a:prstGeom prst="roundRect">
            <a:avLst>
              <a:gd name="adj" fmla="val 6428"/>
            </a:avLst>
          </a:prstGeom>
          <a:solidFill>
            <a:srgbClr val="F1ECF7"/>
          </a:solidFill>
          <a:ln w="18288" cap="flat">
            <a:solidFill>
              <a:srgbClr val="8660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主 Xbar → SPM / DDR"/>
          <p:cNvSpPr txBox="1"/>
          <p:nvPr/>
        </p:nvSpPr>
        <p:spPr>
          <a:xfrm>
            <a:off x="5082314" y="6411407"/>
            <a:ext cx="2499812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主 Xbar → SPM / DDR</a:t>
            </a:r>
          </a:p>
        </p:txBody>
      </p:sp>
      <p:sp>
        <p:nvSpPr>
          <p:cNvPr id="40" name="text-040: AxiIn.ara"/>
          <p:cNvSpPr txBox="1"/>
          <p:nvPr/>
        </p:nvSpPr>
        <p:spPr>
          <a:xfrm>
            <a:off x="5864519" y="6751930"/>
            <a:ext cx="935403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AxiIn.ara</a:t>
            </a:r>
          </a:p>
        </p:txBody>
      </p:sp>
      <p:sp>
        <p:nvSpPr>
          <p:cNvPr id="41" name="text-041: 批量数据及 R / B 响应"/>
          <p:cNvSpPr txBox="1"/>
          <p:nvPr/>
        </p:nvSpPr>
        <p:spPr>
          <a:xfrm>
            <a:off x="5336324" y="7017106"/>
            <a:ext cx="1991792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批量数据及 R / B 响应</a:t>
            </a:r>
          </a:p>
        </p:txBody>
      </p:sp>
      <p:sp>
        <p:nvSpPr>
          <p:cNvPr id="42" name="rect-042"/>
          <p:cNvSpPr/>
          <p:nvPr/>
        </p:nvSpPr>
        <p:spPr>
          <a:xfrm>
            <a:off x="457200" y="6309360"/>
            <a:ext cx="3200400" cy="1280160"/>
          </a:xfrm>
          <a:prstGeom prst="roundRect">
            <a:avLst>
              <a:gd name="adj" fmla="val 6428"/>
            </a:avLst>
          </a:prstGeom>
          <a:solidFill>
            <a:srgbClr val="EAF1FC"/>
          </a:solidFill>
          <a:ln w="18288" cap="flat">
            <a:solidFill>
              <a:srgbClr val="4775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3: CPU 后继消费者"/>
          <p:cNvSpPr txBox="1"/>
          <p:nvPr/>
        </p:nvSpPr>
        <p:spPr>
          <a:xfrm>
            <a:off x="1173590" y="6411407"/>
            <a:ext cx="1767621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CPU 后继消费者</a:t>
            </a:r>
          </a:p>
        </p:txBody>
      </p:sp>
      <p:sp>
        <p:nvSpPr>
          <p:cNvPr id="44" name="text-044: fence / 所有权交接"/>
          <p:cNvSpPr txBox="1"/>
          <p:nvPr/>
        </p:nvSpPr>
        <p:spPr>
          <a:xfrm>
            <a:off x="1177890" y="6751930"/>
            <a:ext cx="175902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fence / 所有权交接</a:t>
            </a:r>
          </a:p>
        </p:txBody>
      </p:sp>
      <p:sp>
        <p:nvSpPr>
          <p:cNvPr id="45" name="text-045: 读取 c 与 golden 比较"/>
          <p:cNvSpPr txBox="1"/>
          <p:nvPr/>
        </p:nvSpPr>
        <p:spPr>
          <a:xfrm>
            <a:off x="1046974" y="7017106"/>
            <a:ext cx="2020853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读取 c 与 golden 比较</a:t>
            </a:r>
          </a:p>
        </p:txBody>
      </p:sp>
      <p:sp>
        <p:nvSpPr>
          <p:cNvPr id="46" name="polyline-046"/>
          <p:cNvSpPr/>
          <p:nvPr/>
        </p:nvSpPr>
        <p:spPr>
          <a:xfrm>
            <a:off x="10716768" y="4983480"/>
            <a:ext cx="1" cy="1325880"/>
          </a:xfrm>
          <a:custGeom>
            <a:avLst/>
            <a:gdLst/>
            <a:ahLst/>
            <a:cxnLst/>
            <a:rect l="0" t="0" r="r" b="b"/>
            <a:pathLst>
              <a:path w="1" h="1325880" fill="none">
                <a:moveTo>
                  <a:pt x="0" y="0"/>
                </a:moveTo>
                <a:lnTo>
                  <a:pt x="0" y="1325880"/>
                </a:lnTo>
              </a:path>
            </a:pathLst>
          </a:custGeom>
          <a:noFill/>
          <a:ln w="21946" cap="flat">
            <a:solidFill>
              <a:srgbClr val="8660A5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47: 独立 AXI"/>
          <p:cNvSpPr txBox="1"/>
          <p:nvPr/>
        </p:nvSpPr>
        <p:spPr>
          <a:xfrm>
            <a:off x="11138171" y="5481645"/>
            <a:ext cx="857979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8660A5"/>
                </a:solidFill>
                <a:latin typeface="Microsoft YaHei"/>
                <a:ea typeface="Microsoft YaHei"/>
                <a:cs typeface="Microsoft YaHei"/>
              </a:rPr>
              <a:t>独立 AXI</a:t>
            </a:r>
          </a:p>
        </p:txBody>
      </p:sp>
      <p:sp>
        <p:nvSpPr>
          <p:cNvPr id="48" name="polyline-048"/>
          <p:cNvSpPr/>
          <p:nvPr/>
        </p:nvSpPr>
        <p:spPr>
          <a:xfrm>
            <a:off x="7955280" y="6967728"/>
            <a:ext cx="1143000" cy="1"/>
          </a:xfrm>
          <a:custGeom>
            <a:avLst/>
            <a:gdLst/>
            <a:ahLst/>
            <a:cxnLst/>
            <a:rect l="0" t="0" r="r" b="b"/>
            <a:pathLst>
              <a:path w="1143000" h="1" fill="none">
                <a:moveTo>
                  <a:pt x="1143000" y="0"/>
                </a:moveTo>
                <a:lnTo>
                  <a:pt x="0" y="0"/>
                </a:lnTo>
              </a:path>
            </a:pathLst>
          </a:custGeom>
          <a:noFill/>
          <a:ln w="21946" cap="flat">
            <a:solidFill>
              <a:srgbClr val="8660A5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9: AXI 数据"/>
          <p:cNvSpPr txBox="1"/>
          <p:nvPr/>
        </p:nvSpPr>
        <p:spPr>
          <a:xfrm>
            <a:off x="8093219" y="6615501"/>
            <a:ext cx="857979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8660A5"/>
                </a:solidFill>
                <a:latin typeface="Microsoft YaHei"/>
                <a:ea typeface="Microsoft YaHei"/>
                <a:cs typeface="Microsoft YaHei"/>
              </a:rPr>
              <a:t>AXI 数据</a:t>
            </a:r>
          </a:p>
        </p:txBody>
      </p:sp>
      <p:sp>
        <p:nvSpPr>
          <p:cNvPr id="50" name="polyline-050"/>
          <p:cNvSpPr/>
          <p:nvPr/>
        </p:nvSpPr>
        <p:spPr>
          <a:xfrm>
            <a:off x="3657600" y="6967728"/>
            <a:ext cx="1051560" cy="1"/>
          </a:xfrm>
          <a:custGeom>
            <a:avLst/>
            <a:gdLst/>
            <a:ahLst/>
            <a:cxnLst/>
            <a:rect l="0" t="0" r="r" b="b"/>
            <a:pathLst>
              <a:path w="1051560" h="1" fill="none">
                <a:moveTo>
                  <a:pt x="1051560" y="0"/>
                </a:moveTo>
                <a:lnTo>
                  <a:pt x="0" y="0"/>
                </a:lnTo>
              </a:path>
            </a:pathLst>
          </a:custGeom>
          <a:noFill/>
          <a:ln w="21946" cap="flat">
            <a:solidFill>
              <a:srgbClr val="287D70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1: CPU load"/>
          <p:cNvSpPr txBox="1"/>
          <p:nvPr/>
        </p:nvSpPr>
        <p:spPr>
          <a:xfrm>
            <a:off x="3718579" y="6615501"/>
            <a:ext cx="938746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287D70"/>
                </a:solidFill>
                <a:latin typeface="Microsoft YaHei"/>
                <a:ea typeface="Microsoft YaHei"/>
                <a:cs typeface="Microsoft YaHei"/>
              </a:rPr>
              <a:t>CPU load</a:t>
            </a:r>
          </a:p>
        </p:txBody>
      </p:sp>
      <p:sp>
        <p:nvSpPr>
          <p:cNvPr id="52" name="polyline-052"/>
          <p:cNvSpPr/>
          <p:nvPr/>
        </p:nvSpPr>
        <p:spPr>
          <a:xfrm>
            <a:off x="4069080" y="2194560"/>
            <a:ext cx="5532120" cy="4114800"/>
          </a:xfrm>
          <a:custGeom>
            <a:avLst/>
            <a:gdLst/>
            <a:ahLst/>
            <a:cxnLst/>
            <a:rect l="0" t="0" r="r" b="b"/>
            <a:pathLst>
              <a:path w="5532120" h="4114800" fill="none">
                <a:moveTo>
                  <a:pt x="5532120" y="4114800"/>
                </a:moveTo>
                <a:lnTo>
                  <a:pt x="5532120" y="3291840"/>
                </a:lnTo>
                <a:lnTo>
                  <a:pt x="0" y="3291840"/>
                </a:lnTo>
                <a:lnTo>
                  <a:pt x="0" y="0"/>
                </a:lnTo>
                <a:lnTo>
                  <a:pt x="640080" y="0"/>
                </a:lnTo>
              </a:path>
            </a:pathLst>
          </a:custGeom>
          <a:noFill/>
          <a:ln w="21946" cap="flat">
            <a:solidFill>
              <a:srgbClr val="BB6D30"/>
            </a:solidFill>
            <a:custDash>
              <a:ds d="333333" sp="208333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53: 写地址失效 / inval_ready"/>
          <p:cNvSpPr txBox="1"/>
          <p:nvPr/>
        </p:nvSpPr>
        <p:spPr>
          <a:xfrm>
            <a:off x="5238233" y="5161605"/>
            <a:ext cx="2142253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BB6D30"/>
                </a:solidFill>
                <a:latin typeface="Microsoft YaHei"/>
                <a:ea typeface="Microsoft YaHei"/>
                <a:cs typeface="Microsoft YaHei"/>
              </a:rPr>
              <a:t>写地址失效 / inval_ready</a:t>
            </a:r>
          </a:p>
        </p:txBody>
      </p:sp>
      <p:sp>
        <p:nvSpPr>
          <p:cNvPr id="54" name="text-054: rs1/rs2 不是数组数据流"/>
          <p:cNvSpPr txBox="1"/>
          <p:nvPr/>
        </p:nvSpPr>
        <p:spPr>
          <a:xfrm>
            <a:off x="457200" y="3806099"/>
            <a:ext cx="2333577" cy="3218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rs1/rs2 不是数组数据流</a:t>
            </a:r>
          </a:p>
        </p:txBody>
      </p:sp>
      <p:sp>
        <p:nvSpPr>
          <p:cNvPr id="55" name="text-055: MMU 返回不是 load 数据"/>
          <p:cNvSpPr txBox="1"/>
          <p:nvPr/>
        </p:nvSpPr>
        <p:spPr>
          <a:xfrm>
            <a:off x="457200" y="4153571"/>
            <a:ext cx="2548490" cy="3218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MMU 返回不是 load 数据</a:t>
            </a:r>
          </a:p>
        </p:txBody>
      </p:sp>
      <p:sp>
        <p:nvSpPr>
          <p:cNvPr id="56" name="text-056: 新增 GB 支路尚未实现"/>
          <p:cNvSpPr txBox="1"/>
          <p:nvPr/>
        </p:nvSpPr>
        <p:spPr>
          <a:xfrm>
            <a:off x="457200" y="4501043"/>
            <a:ext cx="2205376" cy="3218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新增 GB 支路尚未实现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