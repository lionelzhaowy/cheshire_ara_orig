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13868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4729480" y="13868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7"/>
          <p:cNvSpPr/>
          <p:nvPr/>
        </p:nvSpPr>
        <p:spPr>
          <a:xfrm>
            <a:off x="9067800" y="13868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8"/>
          <p:cNvSpPr/>
          <p:nvPr/>
        </p:nvSpPr>
        <p:spPr>
          <a:xfrm>
            <a:off x="2062480" y="30226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0"/>
          <p:cNvSpPr/>
          <p:nvPr/>
        </p:nvSpPr>
        <p:spPr>
          <a:xfrm>
            <a:off x="6400800" y="30226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2"/>
          <p:cNvSpPr/>
          <p:nvPr/>
        </p:nvSpPr>
        <p:spPr>
          <a:xfrm>
            <a:off x="10739120" y="30226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4"/>
          <p:cNvSpPr/>
          <p:nvPr/>
        </p:nvSpPr>
        <p:spPr>
          <a:xfrm>
            <a:off x="3556000" y="2489200"/>
            <a:ext cx="1351280" cy="1600200"/>
          </a:xfrm>
          <a:custGeom>
            <a:avLst/>
            <a:gdLst/>
            <a:ahLst/>
            <a:cxnLst/>
            <a:rect l="0" t="0" r="r" b="b"/>
            <a:pathLst>
              <a:path w="1351280" h="1600200" fill="none">
                <a:moveTo>
                  <a:pt x="1351280" y="0"/>
                </a:moveTo>
                <a:lnTo>
                  <a:pt x="782320" y="0"/>
                </a:lnTo>
                <a:lnTo>
                  <a:pt x="782320" y="1600200"/>
                </a:lnTo>
                <a:lnTo>
                  <a:pt x="0" y="160020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6: 配置契约：profile、SoC Cfg、软件与运行状态共同约束"/>
          <p:cNvSpPr txBox="1"/>
          <p:nvPr/>
        </p:nvSpPr>
        <p:spPr>
          <a:xfrm>
            <a:off x="483616" y="271109"/>
            <a:ext cx="7194499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配置契约：profile、SoC Cfg、软件与运行状态共同约束</a:t>
            </a:r>
          </a:p>
        </p:txBody>
      </p:sp>
      <p:sp>
        <p:nvSpPr>
          <p:cNvPr id="13" name="text-017: 编译时配置生成硬件能力；软件 ISA / ABI / 链接布局必须与硬件及启动环"/>
          <p:cNvSpPr txBox="1"/>
          <p:nvPr/>
        </p:nvSpPr>
        <p:spPr>
          <a:xfrm>
            <a:off x="483616" y="676778"/>
            <a:ext cx="66166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编译时配置生成硬件能力；软件 ISA / ABI / 链接布局必须与硬件及启动环境匹配。</a:t>
            </a:r>
          </a:p>
        </p:txBody>
      </p:sp>
      <p:sp>
        <p:nvSpPr>
          <p:cNvPr id="14" name="text-018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5" name="text-019: 源码：cheshire_pkg::gen_cva6_cfg / gen_axi_"/>
          <p:cNvSpPr txBox="1"/>
          <p:nvPr/>
        </p:nvSpPr>
        <p:spPr>
          <a:xfrm>
            <a:off x="341376" y="7726477"/>
            <a:ext cx="704799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源码：cheshire_pkg::gen_cva6_cfg / gen_axi_in/out；build_config_pkg；sw/sw.mk</a:t>
            </a:r>
          </a:p>
        </p:txBody>
      </p:sp>
      <p:sp>
        <p:nvSpPr>
          <p:cNvPr id="16" name="text-020: CPU 配置链"/>
          <p:cNvSpPr txBox="1"/>
          <p:nvPr/>
        </p:nvSpPr>
        <p:spPr>
          <a:xfrm>
            <a:off x="519176" y="1443736"/>
            <a:ext cx="117348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配置链</a:t>
            </a:r>
          </a:p>
        </p:txBody>
      </p:sp>
      <p:sp>
        <p:nvSpPr>
          <p:cNvPr id="17" name="text-021: 系统结构配置链"/>
          <p:cNvSpPr txBox="1"/>
          <p:nvPr/>
        </p:nvSpPr>
        <p:spPr>
          <a:xfrm>
            <a:off x="4857496" y="1443736"/>
            <a:ext cx="1422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系统结构配置链</a:t>
            </a:r>
          </a:p>
        </p:txBody>
      </p:sp>
      <p:sp>
        <p:nvSpPr>
          <p:cNvPr id="18" name="text-022: 软件构建链"/>
          <p:cNvSpPr txBox="1"/>
          <p:nvPr/>
        </p:nvSpPr>
        <p:spPr>
          <a:xfrm>
            <a:off x="9195816" y="1443736"/>
            <a:ext cx="10668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软件构建链</a:t>
            </a:r>
          </a:p>
        </p:txBody>
      </p:sp>
      <p:sp>
        <p:nvSpPr>
          <p:cNvPr id="19" name="rect-023"/>
          <p:cNvSpPr/>
          <p:nvPr/>
        </p:nvSpPr>
        <p:spPr>
          <a:xfrm>
            <a:off x="568960" y="19558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24"/>
          <p:cNvSpPr/>
          <p:nvPr/>
        </p:nvSpPr>
        <p:spPr>
          <a:xfrm>
            <a:off x="568960" y="195580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5: CVA6 profile"/>
          <p:cNvSpPr txBox="1"/>
          <p:nvPr/>
        </p:nvSpPr>
        <p:spPr>
          <a:xfrm>
            <a:off x="689864" y="1983679"/>
            <a:ext cx="16272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 profile</a:t>
            </a:r>
          </a:p>
        </p:txBody>
      </p:sp>
      <p:sp>
        <p:nvSpPr>
          <p:cNvPr id="22" name="text-026: ISA / cache / 资源原值"/>
          <p:cNvSpPr txBox="1"/>
          <p:nvPr/>
        </p:nvSpPr>
        <p:spPr>
          <a:xfrm>
            <a:off x="689864" y="2262754"/>
            <a:ext cx="230642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ISA / cache / 资源原值</a:t>
            </a:r>
          </a:p>
        </p:txBody>
      </p:sp>
      <p:sp>
        <p:nvSpPr>
          <p:cNvPr id="23" name="rect-027"/>
          <p:cNvSpPr/>
          <p:nvPr/>
        </p:nvSpPr>
        <p:spPr>
          <a:xfrm>
            <a:off x="568960" y="35560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8"/>
          <p:cNvSpPr/>
          <p:nvPr/>
        </p:nvSpPr>
        <p:spPr>
          <a:xfrm>
            <a:off x="568960" y="355600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9: gen_cva6_cfg"/>
          <p:cNvSpPr txBox="1"/>
          <p:nvPr/>
        </p:nvSpPr>
        <p:spPr>
          <a:xfrm>
            <a:off x="689864" y="3583879"/>
            <a:ext cx="16272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gen_cva6_cfg</a:t>
            </a:r>
          </a:p>
        </p:txBody>
      </p:sp>
      <p:sp>
        <p:nvSpPr>
          <p:cNvPr id="26" name="text-030: 平台覆盖 PMP / CLIC 等字段"/>
          <p:cNvSpPr txBox="1"/>
          <p:nvPr/>
        </p:nvSpPr>
        <p:spPr>
          <a:xfrm>
            <a:off x="689864" y="3862954"/>
            <a:ext cx="258450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平台覆盖 PMP / CLIC 等字段</a:t>
            </a:r>
          </a:p>
        </p:txBody>
      </p:sp>
      <p:sp>
        <p:nvSpPr>
          <p:cNvPr id="27" name="text-031: 再由 build_config 派生内部能力"/>
          <p:cNvSpPr txBox="1"/>
          <p:nvPr/>
        </p:nvSpPr>
        <p:spPr>
          <a:xfrm>
            <a:off x="689864" y="4076314"/>
            <a:ext cx="29607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再由 build_config 派生内部能力</a:t>
            </a:r>
          </a:p>
        </p:txBody>
      </p:sp>
      <p:sp>
        <p:nvSpPr>
          <p:cNvPr id="28" name="rect-032"/>
          <p:cNvSpPr/>
          <p:nvPr/>
        </p:nvSpPr>
        <p:spPr>
          <a:xfrm>
            <a:off x="4907280" y="19558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3"/>
          <p:cNvSpPr/>
          <p:nvPr/>
        </p:nvSpPr>
        <p:spPr>
          <a:xfrm>
            <a:off x="4907280" y="19558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4: Cheshire Cfg"/>
          <p:cNvSpPr txBox="1"/>
          <p:nvPr/>
        </p:nvSpPr>
        <p:spPr>
          <a:xfrm>
            <a:off x="5028184" y="1983679"/>
            <a:ext cx="16272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Cheshire Cfg</a:t>
            </a:r>
          </a:p>
        </p:txBody>
      </p:sp>
      <p:sp>
        <p:nvSpPr>
          <p:cNvPr id="31" name="text-035: Cfg.Ara / 核数 / 外设开关"/>
          <p:cNvSpPr txBox="1"/>
          <p:nvPr/>
        </p:nvSpPr>
        <p:spPr>
          <a:xfrm>
            <a:off x="5028184" y="2262754"/>
            <a:ext cx="25272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Cfg.Ara / 核数 / 外设开关</a:t>
            </a:r>
          </a:p>
        </p:txBody>
      </p:sp>
      <p:sp>
        <p:nvSpPr>
          <p:cNvPr id="32" name="text-036: Ara lanes / VLEN"/>
          <p:cNvSpPr txBox="1"/>
          <p:nvPr/>
        </p:nvSpPr>
        <p:spPr>
          <a:xfrm>
            <a:off x="5028184" y="2476114"/>
            <a:ext cx="18647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lanes / VLEN</a:t>
            </a:r>
          </a:p>
        </p:txBody>
      </p:sp>
      <p:sp>
        <p:nvSpPr>
          <p:cNvPr id="33" name="rect-037"/>
          <p:cNvSpPr/>
          <p:nvPr/>
        </p:nvSpPr>
        <p:spPr>
          <a:xfrm>
            <a:off x="4907280" y="35560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8"/>
          <p:cNvSpPr/>
          <p:nvPr/>
        </p:nvSpPr>
        <p:spPr>
          <a:xfrm>
            <a:off x="4907280" y="35560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9: 端口、类型与地址规则"/>
          <p:cNvSpPr txBox="1"/>
          <p:nvPr/>
        </p:nvSpPr>
        <p:spPr>
          <a:xfrm>
            <a:off x="5028184" y="3583879"/>
            <a:ext cx="20340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端口、类型与地址规则</a:t>
            </a:r>
          </a:p>
        </p:txBody>
      </p:sp>
      <p:sp>
        <p:nvSpPr>
          <p:cNvPr id="36" name="text-040: gen_axi_in / out / reg"/>
          <p:cNvSpPr txBox="1"/>
          <p:nvPr/>
        </p:nvSpPr>
        <p:spPr>
          <a:xfrm>
            <a:off x="5028184" y="3862954"/>
            <a:ext cx="250271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gen_axi_in / out / reg</a:t>
            </a:r>
          </a:p>
        </p:txBody>
      </p:sp>
      <p:sp>
        <p:nvSpPr>
          <p:cNvPr id="37" name="text-041: 数量变化影响索引与来源 ID"/>
          <p:cNvSpPr txBox="1"/>
          <p:nvPr/>
        </p:nvSpPr>
        <p:spPr>
          <a:xfrm>
            <a:off x="5028184" y="4076314"/>
            <a:ext cx="228188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数量变化影响索引与来源 ID</a:t>
            </a:r>
          </a:p>
        </p:txBody>
      </p:sp>
      <p:sp>
        <p:nvSpPr>
          <p:cNvPr id="38" name="rect-042"/>
          <p:cNvSpPr/>
          <p:nvPr/>
        </p:nvSpPr>
        <p:spPr>
          <a:xfrm>
            <a:off x="9245600" y="19558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3"/>
          <p:cNvSpPr/>
          <p:nvPr/>
        </p:nvSpPr>
        <p:spPr>
          <a:xfrm>
            <a:off x="9245600" y="195580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4: 工具链 / 源码 / 库"/>
          <p:cNvSpPr txBox="1"/>
          <p:nvPr/>
        </p:nvSpPr>
        <p:spPr>
          <a:xfrm>
            <a:off x="9366504" y="1983679"/>
            <a:ext cx="201554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工具链 / 源码 / 库</a:t>
            </a:r>
          </a:p>
        </p:txBody>
      </p:sp>
      <p:sp>
        <p:nvSpPr>
          <p:cNvPr id="41" name="text-045: -march / -mabi / 链接脚本"/>
          <p:cNvSpPr txBox="1"/>
          <p:nvPr/>
        </p:nvSpPr>
        <p:spPr>
          <a:xfrm>
            <a:off x="9366504" y="2262754"/>
            <a:ext cx="262539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-march / -mabi / 链接脚本</a:t>
            </a:r>
          </a:p>
        </p:txBody>
      </p:sp>
      <p:sp>
        <p:nvSpPr>
          <p:cNvPr id="42" name="text-046: 启动对象与驱动头文件"/>
          <p:cNvSpPr txBox="1"/>
          <p:nvPr/>
        </p:nvSpPr>
        <p:spPr>
          <a:xfrm>
            <a:off x="9366504" y="247611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启动对象与驱动头文件</a:t>
            </a:r>
          </a:p>
        </p:txBody>
      </p:sp>
      <p:sp>
        <p:nvSpPr>
          <p:cNvPr id="43" name="rect-047"/>
          <p:cNvSpPr/>
          <p:nvPr/>
        </p:nvSpPr>
        <p:spPr>
          <a:xfrm>
            <a:off x="9245600" y="35560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8"/>
          <p:cNvSpPr/>
          <p:nvPr/>
        </p:nvSpPr>
        <p:spPr>
          <a:xfrm>
            <a:off x="9245600" y="355600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9: ELF / map / dump"/>
          <p:cNvSpPr txBox="1"/>
          <p:nvPr/>
        </p:nvSpPr>
        <p:spPr>
          <a:xfrm>
            <a:off x="9366504" y="3583879"/>
            <a:ext cx="21079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/ map / dump</a:t>
            </a:r>
          </a:p>
        </p:txBody>
      </p:sp>
      <p:sp>
        <p:nvSpPr>
          <p:cNvPr id="46" name="text-050: 字节、符号、入口与装载段"/>
          <p:cNvSpPr txBox="1"/>
          <p:nvPr/>
        </p:nvSpPr>
        <p:spPr>
          <a:xfrm>
            <a:off x="9366504" y="3862954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字节、符号、入口与装载段</a:t>
            </a:r>
          </a:p>
        </p:txBody>
      </p:sp>
      <p:sp>
        <p:nvSpPr>
          <p:cNvPr id="47" name="text-051: 不能由编译成功推断目标运行"/>
          <p:cNvSpPr txBox="1"/>
          <p:nvPr/>
        </p:nvSpPr>
        <p:spPr>
          <a:xfrm>
            <a:off x="9366504" y="4076314"/>
            <a:ext cx="22900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不能由编译成功推断目标运行</a:t>
            </a:r>
          </a:p>
        </p:txBody>
      </p:sp>
      <p:sp>
        <p:nvSpPr>
          <p:cNvPr id="48" name="text-052: 覆盖"/>
          <p:cNvSpPr txBox="1"/>
          <p:nvPr/>
        </p:nvSpPr>
        <p:spPr>
          <a:xfrm>
            <a:off x="3982720" y="3031419"/>
            <a:ext cx="4693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覆盖</a:t>
            </a:r>
          </a:p>
        </p:txBody>
      </p:sp>
      <p:sp>
        <p:nvSpPr>
          <p:cNvPr id="49" name="text-053: RTL 展开：CVA6 / Ara / 互连 / LLC / 外设"/>
          <p:cNvSpPr txBox="1"/>
          <p:nvPr/>
        </p:nvSpPr>
        <p:spPr>
          <a:xfrm>
            <a:off x="640080" y="5121778"/>
            <a:ext cx="407304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RTL 展开：CVA6 / Ara / 互连 / LLC / 外设</a:t>
            </a:r>
          </a:p>
        </p:txBody>
      </p:sp>
      <p:sp>
        <p:nvSpPr>
          <p:cNvPr id="50" name="text-054: 装载程序与有效硬件匹配"/>
          <p:cNvSpPr txBox="1"/>
          <p:nvPr/>
        </p:nvSpPr>
        <p:spPr>
          <a:xfrm>
            <a:off x="9245600" y="5121778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装载程序与有效硬件匹配</a:t>
            </a:r>
          </a:p>
        </p:txBody>
      </p:sp>
      <p:sp>
        <p:nvSpPr>
          <p:cNvPr id="51" name="rect-055"/>
          <p:cNvSpPr/>
          <p:nvPr/>
        </p:nvSpPr>
        <p:spPr>
          <a:xfrm>
            <a:off x="391160" y="6365240"/>
            <a:ext cx="12019280" cy="853440"/>
          </a:xfrm>
          <a:prstGeom prst="roundRect">
            <a:avLst>
              <a:gd name="adj" fmla="val 583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-056"/>
          <p:cNvSpPr/>
          <p:nvPr/>
        </p:nvSpPr>
        <p:spPr>
          <a:xfrm>
            <a:off x="391160" y="6365240"/>
            <a:ext cx="35560" cy="8534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7: 运行时初始化不是再次生成硬件"/>
          <p:cNvSpPr txBox="1"/>
          <p:nvPr/>
        </p:nvSpPr>
        <p:spPr>
          <a:xfrm>
            <a:off x="512064" y="6393119"/>
            <a:ext cx="27736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运行时初始化不是再次生成硬件</a:t>
            </a:r>
          </a:p>
        </p:txBody>
      </p:sp>
      <p:sp>
        <p:nvSpPr>
          <p:cNvPr id="54" name="text-058: VS / FS、MMIO 配置、存储就绪、有效栈与入口：软件使用已存在的资源；S"/>
          <p:cNvSpPr txBox="1"/>
          <p:nvPr/>
        </p:nvSpPr>
        <p:spPr>
          <a:xfrm>
            <a:off x="512064" y="6679875"/>
            <a:ext cx="86289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VS / FS、MMIO 配置、存储就绪、有效栈与入口：软件使用已存在的资源；SELCFG 不会自动替换 CPU profile。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