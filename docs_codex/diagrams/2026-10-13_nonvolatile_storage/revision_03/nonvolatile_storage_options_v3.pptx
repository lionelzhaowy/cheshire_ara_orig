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需求：500 MiB参数开机完整装入DDR；暂将30秒定义为存储初始化至加载并校验完成。运行时ISP从DDR读取，图仅画加载路径，NOR继续启动。</a:t>
            </a:r>
          </a:p>
          <a:p>
            <a:r>
              <a:t>2026-10-13用户截图确认：内核1.2V；I/O供电3.3V；PAD为2.5V器件的3.3V Over-Drive方案25OD33；WB封装。2.5V是器件描述，不应据此把外部I/O设为2.5V，亦不推断可用1.8V。未复制受限PDK内容，未读取PAD库。</a:t>
            </a:r>
          </a:p>
          <a:p>
            <a:r>
              <a:t>ISSI原厂IS21/22TF08G Rev.A 2022-04-26，第2页明确VCC=2.7–3.6V、VCCQ=1.8V/3.3V，A2车规例外仅1.8V；第36页明确IS21TF08G-JCLI为8GB工业级153FBGA。建议两电源域各按手册接3.3V。VCC是内部存储供电，VCCQ是总线I/O供电；不能只看VCC。完整电气容差、供电时序、最新规格/供货生命周期仍待厂商确认。表中HS200/HS400性能测于VCCQ1.8V，不能移用为3.3V实测值。</a:t>
            </a:r>
          </a:p>
          <a:p>
            <a:r>
              <a:t>备选Swissbit EM-30系列公开产品页包含4–512GB并支持VCCQ 2.7–3.6V；仅为备选系列，不冻结具体后缀。</a:t>
            </a:r>
          </a:p>
          <a:p>
            <a:r>
              <a:t>eMMC采用JEDEC命令/响应/数据，CLK由主机输出，CMD双向，DAT[7:0]双向；初始化1-bit且CLK不超过400kHz；读能力、CMD6完成总线/模式切换后升到50MHz。High Speed SDR上限52MHz，3.3V可用；HS200/HS400仅低压I/O，本方案不使用DS。不是SPI，也不能直接复用SPI Host。</a:t>
            </a:r>
          </a:p>
          <a:p>
            <a:r>
              <a:t>50MHz x 8bit/8 =50MB/s=47.6837MiB/s；500MiB纯线速10.48576s，不含命令/等待/DMA开销。设计目标25MiB/s即20s，余约10s初始化/校验。具体频率为建议，须确认主机分频能力和有效吞吐。</a:t>
            </a:r>
          </a:p>
          <a:p>
            <a:r>
              <a:t>SDR为单端数字接口，可评估数字逻辑+工艺PAD；不自动要求数模混合PHY或高速差分SerDes。3.3V匹配后可评估不加外部电平转换，但仍须VIH/VIL与VOH/VOL、驱动/上拉、上电掉电及钳位兼容、输入采样/输出建立保持、WB寄生/PCB负载/PVT验证。1.2V内核通过合法PAD适配，不能把3.3V直接接内核。不能承诺现有25OD33任意cell达到50MHz。</a:t>
            </a:r>
          </a:p>
          <a:p>
            <a:r>
              <a:t>当前工程未集成eMMC主机，拟新增控制器/DMA和驱动；IP数字控制器、PAD/PHY及时序模型交付边界需确认。DMA完成、DDR可见、数据校验须分别检查；A/B双副本为建议，容量充裕不等于更新中掉电安全。</a:t>
            </a:r>
          </a:p>
          <a:p>
            <a:r>
              <a:t>公开来源：ISSI原厂手册（Mouser托管）、JEDEC规范（TI托管）、Swissbit产品介绍、Synopsys示例。链接如下：</a:t>
            </a:r>
          </a:p>
          <a:p>
            <a:r>
              <a:t>https://www.mouser.com/datasheet/2/198/ISSI_6_8_22_IS21_22TF08G__Rev_A_0426_2022-3132334.pdf</a:t>
            </a:r>
          </a:p>
          <a:p>
            <a:r>
              <a:t>https://e2e.ti.com/cfs-file/__key/communityserver-discussions-components-files/791/JESD84_2D00_B51-_2800_1_2900_.pdf</a:t>
            </a:r>
          </a:p>
          <a:p>
            <a:r>
              <a:t>https://www.swissbit.com/files/public/Documents/Flyer/Product_Profile_Swissbit_eMMC.pdf</a:t>
            </a:r>
          </a:p>
          <a:p>
            <a:r>
              <a:t>https://www.synopsys.com/designware-ip/interface-ip/mobile-storage/sd-emmc-phy.html</a:t>
            </a:r>
          </a:p>
          <a:p>
            <a:r>
              <a:t>https://www.micron.com/sales-support/sales/faqs</a:t>
            </a:r>
          </a:p>
          <a:p>
            <a:r>
              <a:t>源码：hw/cheshire_soc.sv；hw/bootrom/cheshire_bootrom.c；docs/um/sw.md。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本轮替换原1.8V W25N08MW候选。Winbond W25N-LV官方系列页明确3V、2/4/8Gbit、STR133MHz/DTR66MHz；4/8Gbit页4096+256B。8Gbit即1GiB，不是8GB。本方案只评估Quad STR/SDR，不默认现有Host支持DTR。</a:t>
            </a:r>
          </a:p>
          <a:p>
            <a:r>
              <a:t>证据分级：W25N08LV是官网已列的3V家族8Gbit方向，尚未取得具体8Gbit订货后缀的完整DC/AC电气表。官网同系列W25N04LVCEIG明确2.7–3.6V，但不能把4Gbit全套参数直接当成8Gbit手册。8Gbit接3.3V是候选设计方向，需供应商确认具体后缀供电容差、VIH/VIL、时序/封装/温度/供货后才冻结。</a:t>
            </a:r>
          </a:p>
          <a:p>
            <a:r>
              <a:t>如果需要已有明确电压范围的替代评估，可研究两颗W25N04LVCEIG（每颗4Gbit/512MiB，2.7–3.6V）组成1GiB；会新增片选和跨器件软件管理，需与现有NOR的片选占用一起审查，不作为本PPT主方案。单颗512MiB装500MiB只余12MiB，预留不足，不建议作为稳妥单颗容量方案。</a:t>
            </a:r>
          </a:p>
          <a:p>
            <a:r>
              <a:t>读页命令带行地址，将array读入cache；等待Busy清除检查ECC，再按列地址/dummy读cache。内部ECC和BBM LUT不能代替驱动坏块/预留/不可纠错处理与参数包校验；不能复用NOR协议驱动。图为功能链，不限定内部ECC物理位置。</a:t>
            </a:r>
          </a:p>
          <a:p>
            <a:r>
              <a:t>10MHz首次联调、50MHz过渡验证均为工程建议，不是协议强制初始化频率。100MHz Quad STR目标须在3.3V PAD、WB和PCB上确认采样/驱动和时序；器件133MHz标称上限不代表当前系统可达。</a:t>
            </a:r>
          </a:p>
          <a:p>
            <a:r>
              <a:t>当前SPI Host SCK=clk_i/[2*(CLKDIV+1)]；100MHz SCK要求输入至少200MHz且整比分频匹配。当前公共SoC clk_i接入，不能只改divider就保证该速率；未改频率或新增CDC。现有SPI Host无独立DMA口，经Regbus/FIFO由CPU读出写DDR；这条路径是吞吐瓶颈候选，需实测。</a:t>
            </a:r>
          </a:p>
          <a:p>
            <a:r>
              <a:t>100MHz Quad线速50MB/s≈47.7MiB/s，500MiB纯线速约10.5s；25MiB/s目标是20s搬运+约10s初始化校验。50MHz Quad线速23.8MiB/s低于25目标，但不单独证明超过30s；端到端含页等待、软件访问、DDR写、初始化校验测量才决定。</a:t>
            </a:r>
          </a:p>
          <a:p>
            <a:r>
              <a:t>两份500MiB共1000MiB；1GiB只余24MiB，坏块/预留/元数据与增长余量不足，A/B可靠更新只是建议。eMMC优先；SPI NAND为电气、时钟与软件吞吐达标后的备选。</a:t>
            </a:r>
          </a:p>
          <a:p>
            <a:r>
              <a:t>源码：hw/cheshire_soc.sv:1445；.bender/git/checkouts/opentitan_peripherals-7b624fb57f78de9a/src/spi_host/rtl/spi_host_fsm.sv；该依赖dif_spi_host.c；sw/lib/hal/spi_sdcard.c。未改RTL/software、未实测IO或吞吐。公开链接如下：</a:t>
            </a:r>
          </a:p>
          <a:p>
            <a:r>
              <a:t>https://www.winbond.com/hq/product/code-storage-flash/qspi-nand/w25n-lv/?__locale=en</a:t>
            </a:r>
          </a:p>
          <a:p>
            <a:r>
              <a:t>https://winbond.com/hq/product/code-storage-flash/qspi-nand/w25n-lv/?__locale=en&amp;partNo=W25N04LVCEIG</a:t>
            </a:r>
          </a:p>
          <a:p>
            <a:r>
              <a:t>https://www.micron.com/products/storage/nand-flash/choosing-the-right-nand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ouser.com/datasheet/2/198/ISSI_6_8_22_IS21_22TF08G__Rev_A_0426_2022-3132334.pdf" TargetMode="External"/><Relationship Id="rId3" Type="http://schemas.openxmlformats.org/officeDocument/2006/relationships/hyperlink" Target="https://e2e.ti.com/cfs-file/__key/communityserver-discussions-components-files/791/JESD84_2D00_B51-_2800_1_2900_.pdf" TargetMode="External"/><Relationship Id="rId4" Type="http://schemas.openxmlformats.org/officeDocument/2006/relationships/hyperlink" Target="https://www.swissbit.com/files/public/Documents/Flyer/Product_Profile_Swissbit_eMMC.pdf" TargetMode="External"/><Relationship Id="rId5" Type="http://schemas.openxmlformats.org/officeDocument/2006/relationships/hyperlink" Target="https://www.synopsys.com/designware-ip/interface-ip/mobile-storage/sd-emmc-phy.html" TargetMode="Externa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winbond.com/hq/product/code-storage-flash/qspi-nand/w25n-lv/?__locale=en" TargetMode="External"/><Relationship Id="rId3" Type="http://schemas.openxmlformats.org/officeDocument/2006/relationships/hyperlink" Target="https://winbond.com/hq/product/code-storage-flash/qspi-nand/w25n-lv/?__locale=en&amp;partNo=W25N04LVCEIG" TargetMode="External"/><Relationship Id="rId4" Type="http://schemas.openxmlformats.org/officeDocument/2006/relationships/hyperlink" Target="https://www.micron.com/products/storage/nand-flash/choosing-the-right-nand" TargetMode="Externa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10896"/>
            <a:ext cx="64008" cy="457200"/>
          </a:xfrm>
          <a:prstGeom prst="rect">
            <a:avLst/>
          </a:prstGeom>
          <a:solidFill>
            <a:srgbClr val="21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65176"/>
            <a:ext cx="13533120" cy="5120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80" b="1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eMMC：3.3 V I/O，8-bit SDR / 50 MHz，优先评估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804672"/>
            <a:ext cx="13533120" cy="2944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平台输入：1.2 V 内核、3.3 V PAD（25OD33）、WB 封装；500 MiB 参数开机装入 DDR，允许 30 秒。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52144"/>
            <a:ext cx="13716000" cy="402336"/>
          </a:xfrm>
          <a:prstGeom prst="rect">
            <a:avLst/>
          </a:prstGeom>
          <a:solidFill>
            <a:srgbClr val="DF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1216152"/>
            <a:ext cx="134416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3B56"/>
                </a:solidFill>
                <a:latin typeface="Microsoft YaHei"/>
                <a:ea typeface="Microsoft YaHei"/>
                <a:cs typeface="Microsoft YaHei"/>
              </a:rPr>
              <a:t>建议：8 GB 工业级 eMMC，VCC / VCCQ 均取 3.3 V  |  ≤400 kHz 初始化 → 8-bit High Speed SDR / 50 MHz</a:t>
            </a:r>
          </a:p>
        </p:txBody>
      </p:sp>
      <p:sp>
        <p:nvSpPr>
          <p:cNvPr id="7" name="d1"/>
          <p:cNvSpPr/>
          <p:nvPr/>
        </p:nvSpPr>
        <p:spPr>
          <a:xfrm>
            <a:off x="457200" y="1993392"/>
            <a:ext cx="3931920" cy="1344168"/>
          </a:xfrm>
          <a:prstGeom prst="roundRect">
            <a:avLst>
              <a:gd name="adj" fmla="val 4081"/>
            </a:avLst>
          </a:prstGeom>
          <a:solidFill>
            <a:srgbClr val="E8F1FA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d2: eMMC 器件：NAND + 管理控制器"/>
          <p:cNvSpPr txBox="1"/>
          <p:nvPr/>
        </p:nvSpPr>
        <p:spPr>
          <a:xfrm>
            <a:off x="640080" y="2022287"/>
            <a:ext cx="3329873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eMMC 器件：NAND + 管理控制器</a:t>
            </a:r>
          </a:p>
        </p:txBody>
      </p:sp>
      <p:sp>
        <p:nvSpPr>
          <p:cNvPr id="9" name="d3"/>
          <p:cNvSpPr/>
          <p:nvPr/>
        </p:nvSpPr>
        <p:spPr>
          <a:xfrm>
            <a:off x="621792" y="2414016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D6E7F5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d4: NAND"/>
          <p:cNvSpPr txBox="1"/>
          <p:nvPr/>
        </p:nvSpPr>
        <p:spPr>
          <a:xfrm>
            <a:off x="828032" y="2460468"/>
            <a:ext cx="776240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NAND</a:t>
            </a:r>
          </a:p>
        </p:txBody>
      </p:sp>
      <p:sp>
        <p:nvSpPr>
          <p:cNvPr id="11" name="d5: 参数存储"/>
          <p:cNvSpPr txBox="1"/>
          <p:nvPr/>
        </p:nvSpPr>
        <p:spPr>
          <a:xfrm>
            <a:off x="713232" y="2763683"/>
            <a:ext cx="1005840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参数存储</a:t>
            </a:r>
          </a:p>
        </p:txBody>
      </p:sp>
      <p:sp>
        <p:nvSpPr>
          <p:cNvPr id="12" name="d6"/>
          <p:cNvSpPr/>
          <p:nvPr/>
        </p:nvSpPr>
        <p:spPr>
          <a:xfrm>
            <a:off x="2148840" y="2414016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d7: 介质管理 / ECC"/>
          <p:cNvSpPr txBox="1"/>
          <p:nvPr/>
        </p:nvSpPr>
        <p:spPr>
          <a:xfrm>
            <a:off x="2304252" y="2460468"/>
            <a:ext cx="1737431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介质管理 / ECC</a:t>
            </a:r>
          </a:p>
        </p:txBody>
      </p:sp>
      <p:sp>
        <p:nvSpPr>
          <p:cNvPr id="14" name="d8: 坏块、磨损、地址映射"/>
          <p:cNvSpPr txBox="1"/>
          <p:nvPr/>
        </p:nvSpPr>
        <p:spPr>
          <a:xfrm>
            <a:off x="2116836" y="2773558"/>
            <a:ext cx="2112264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坏块、磨损、地址映射</a:t>
            </a:r>
          </a:p>
        </p:txBody>
      </p:sp>
      <p:sp>
        <p:nvSpPr>
          <p:cNvPr id="15" name="d9"/>
          <p:cNvSpPr/>
          <p:nvPr/>
        </p:nvSpPr>
        <p:spPr>
          <a:xfrm>
            <a:off x="1810512" y="2788920"/>
            <a:ext cx="338328" cy="1"/>
          </a:xfrm>
          <a:custGeom>
            <a:avLst/>
            <a:gdLst/>
            <a:ahLst/>
            <a:cxnLst/>
            <a:rect l="0" t="0" r="r" b="b"/>
            <a:pathLst>
              <a:path w="338328" h="1" fill="none">
                <a:moveTo>
                  <a:pt x="0" y="0"/>
                </a:moveTo>
                <a:lnTo>
                  <a:pt x="338328" y="0"/>
                </a:lnTo>
              </a:path>
            </a:pathLst>
          </a:custGeom>
          <a:noFill/>
          <a:ln w="22860" cap="flat">
            <a:solidFill>
              <a:srgbClr val="246DA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d10"/>
          <p:cNvSpPr/>
          <p:nvPr/>
        </p:nvSpPr>
        <p:spPr>
          <a:xfrm>
            <a:off x="6263640" y="2414016"/>
            <a:ext cx="2011680" cy="731520"/>
          </a:xfrm>
          <a:prstGeom prst="roundRect">
            <a:avLst>
              <a:gd name="adj" fmla="val 7500"/>
            </a:avLst>
          </a:prstGeom>
          <a:solidFill>
            <a:srgbClr val="FFF1DD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d11: I/O PAD + 收发时序"/>
          <p:cNvSpPr txBox="1"/>
          <p:nvPr/>
        </p:nvSpPr>
        <p:spPr>
          <a:xfrm>
            <a:off x="6292222" y="2471075"/>
            <a:ext cx="1954516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I/O PAD + 收发时序</a:t>
            </a:r>
          </a:p>
        </p:txBody>
      </p:sp>
      <p:sp>
        <p:nvSpPr>
          <p:cNvPr id="18" name="d12: 3.3 V / 25OD33"/>
          <p:cNvSpPr txBox="1"/>
          <p:nvPr/>
        </p:nvSpPr>
        <p:spPr>
          <a:xfrm>
            <a:off x="6445248" y="2754539"/>
            <a:ext cx="1648463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3.3 V / 25OD33</a:t>
            </a:r>
          </a:p>
        </p:txBody>
      </p:sp>
      <p:sp>
        <p:nvSpPr>
          <p:cNvPr id="19" name="d13"/>
          <p:cNvSpPr/>
          <p:nvPr/>
        </p:nvSpPr>
        <p:spPr>
          <a:xfrm>
            <a:off x="4206240" y="2788920"/>
            <a:ext cx="2057400" cy="1"/>
          </a:xfrm>
          <a:custGeom>
            <a:avLst/>
            <a:gdLst/>
            <a:ahLst/>
            <a:cxnLst/>
            <a:rect l="0" t="0" r="r" b="b"/>
            <a:pathLst>
              <a:path w="2057400" h="1" fill="none">
                <a:moveTo>
                  <a:pt x="0" y="0"/>
                </a:moveTo>
                <a:lnTo>
                  <a:pt x="2057400" y="0"/>
                </a:lnTo>
              </a:path>
            </a:pathLst>
          </a:custGeom>
          <a:noFill/>
          <a:ln w="22860" cap="flat">
            <a:solidFill>
              <a:srgbClr val="246DA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d14: CLK / CMD / DAT"/>
          <p:cNvSpPr txBox="1"/>
          <p:nvPr/>
        </p:nvSpPr>
        <p:spPr>
          <a:xfrm>
            <a:off x="4499462" y="2353666"/>
            <a:ext cx="1608115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CLK / CMD / DAT</a:t>
            </a:r>
          </a:p>
        </p:txBody>
      </p:sp>
      <p:sp>
        <p:nvSpPr>
          <p:cNvPr id="21" name="d15: 3.3 V 单端数字"/>
          <p:cNvSpPr txBox="1"/>
          <p:nvPr/>
        </p:nvSpPr>
        <p:spPr>
          <a:xfrm>
            <a:off x="4603240" y="2856586"/>
            <a:ext cx="1400561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3.3 V 单端数字</a:t>
            </a:r>
          </a:p>
        </p:txBody>
      </p:sp>
      <p:sp>
        <p:nvSpPr>
          <p:cNvPr id="22" name="d16"/>
          <p:cNvSpPr/>
          <p:nvPr/>
        </p:nvSpPr>
        <p:spPr>
          <a:xfrm>
            <a:off x="9464040" y="2414016"/>
            <a:ext cx="2377440" cy="731520"/>
          </a:xfrm>
          <a:prstGeom prst="roundRect">
            <a:avLst>
              <a:gd name="adj" fmla="val 7500"/>
            </a:avLst>
          </a:prstGeom>
          <a:solidFill>
            <a:srgbClr val="E0EFE9"/>
          </a:solidFill>
          <a:ln w="14630" cap="flat">
            <a:solidFill>
              <a:srgbClr val="193047"/>
            </a:solidFill>
            <a:custDash>
              <a:ds d="500000" sp="3125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d17: SoC eMMC 主机"/>
          <p:cNvSpPr txBox="1"/>
          <p:nvPr/>
        </p:nvSpPr>
        <p:spPr>
          <a:xfrm>
            <a:off x="9718500" y="2432304"/>
            <a:ext cx="1868519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SoC eMMC 主机</a:t>
            </a:r>
          </a:p>
        </p:txBody>
      </p:sp>
      <p:sp>
        <p:nvSpPr>
          <p:cNvPr id="24" name="d18: 命令 / CRC / FIFO / DMA"/>
          <p:cNvSpPr txBox="1"/>
          <p:nvPr/>
        </p:nvSpPr>
        <p:spPr>
          <a:xfrm>
            <a:off x="9488072" y="2764414"/>
            <a:ext cx="2329377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命令 / CRC / FIFO / DMA</a:t>
            </a:r>
          </a:p>
        </p:txBody>
      </p:sp>
      <p:sp>
        <p:nvSpPr>
          <p:cNvPr id="25" name="d19"/>
          <p:cNvSpPr/>
          <p:nvPr/>
        </p:nvSpPr>
        <p:spPr>
          <a:xfrm>
            <a:off x="8275320" y="2788920"/>
            <a:ext cx="1188720" cy="1"/>
          </a:xfrm>
          <a:custGeom>
            <a:avLst/>
            <a:gdLst/>
            <a:ahLst/>
            <a:cxnLst/>
            <a:rect l="0" t="0" r="r" b="b"/>
            <a:pathLst>
              <a:path w="1188720" h="1" fill="none">
                <a:moveTo>
                  <a:pt x="0" y="0"/>
                </a:moveTo>
                <a:lnTo>
                  <a:pt x="1188720" y="0"/>
                </a:lnTo>
              </a:path>
            </a:pathLst>
          </a:custGeom>
          <a:noFill/>
          <a:ln w="22860" cap="flat">
            <a:solidFill>
              <a:srgbClr val="246DA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d20: 片内接口"/>
          <p:cNvSpPr txBox="1"/>
          <p:nvPr/>
        </p:nvSpPr>
        <p:spPr>
          <a:xfrm>
            <a:off x="8412480" y="2353666"/>
            <a:ext cx="91440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片内接口</a:t>
            </a:r>
          </a:p>
        </p:txBody>
      </p:sp>
      <p:sp>
        <p:nvSpPr>
          <p:cNvPr id="27" name="d21"/>
          <p:cNvSpPr/>
          <p:nvPr/>
        </p:nvSpPr>
        <p:spPr>
          <a:xfrm>
            <a:off x="9921240" y="1673352"/>
            <a:ext cx="146304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4630" cap="flat">
            <a:solidFill>
              <a:srgbClr val="2180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d22: CPU 配置"/>
          <p:cNvSpPr txBox="1"/>
          <p:nvPr/>
        </p:nvSpPr>
        <p:spPr>
          <a:xfrm>
            <a:off x="10137953" y="1721267"/>
            <a:ext cx="1029614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CPU 配置</a:t>
            </a:r>
          </a:p>
        </p:txBody>
      </p:sp>
      <p:sp>
        <p:nvSpPr>
          <p:cNvPr id="29" name="d23"/>
          <p:cNvSpPr/>
          <p:nvPr/>
        </p:nvSpPr>
        <p:spPr>
          <a:xfrm>
            <a:off x="10652760" y="2075688"/>
            <a:ext cx="1" cy="338328"/>
          </a:xfrm>
          <a:custGeom>
            <a:avLst/>
            <a:gdLst/>
            <a:ahLst/>
            <a:cxnLst/>
            <a:rect l="0" t="0" r="r" b="b"/>
            <a:pathLst>
              <a:path w="1" h="338328" fill="none">
                <a:moveTo>
                  <a:pt x="0" y="0"/>
                </a:moveTo>
                <a:lnTo>
                  <a:pt x="0" y="338328"/>
                </a:lnTo>
              </a:path>
            </a:pathLst>
          </a:custGeom>
          <a:noFill/>
          <a:ln w="25603" cap="flat">
            <a:solidFill>
              <a:srgbClr val="218078"/>
            </a:solidFill>
            <a:custDash>
              <a:ds d="250000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d24"/>
          <p:cNvSpPr/>
          <p:nvPr/>
        </p:nvSpPr>
        <p:spPr>
          <a:xfrm>
            <a:off x="13030200" y="2414016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EEE8F6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d25: DDR"/>
          <p:cNvSpPr txBox="1"/>
          <p:nvPr/>
        </p:nvSpPr>
        <p:spPr>
          <a:xfrm>
            <a:off x="13234504" y="2439985"/>
            <a:ext cx="725248" cy="3950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4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32" name="d26: 供 ISP 使用"/>
          <p:cNvSpPr txBox="1"/>
          <p:nvPr/>
        </p:nvSpPr>
        <p:spPr>
          <a:xfrm>
            <a:off x="13044995" y="2783434"/>
            <a:ext cx="1104267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供 ISP 使用</a:t>
            </a:r>
          </a:p>
        </p:txBody>
      </p:sp>
      <p:sp>
        <p:nvSpPr>
          <p:cNvPr id="33" name="d27"/>
          <p:cNvSpPr/>
          <p:nvPr/>
        </p:nvSpPr>
        <p:spPr>
          <a:xfrm>
            <a:off x="11841480" y="2788920"/>
            <a:ext cx="1188720" cy="1"/>
          </a:xfrm>
          <a:custGeom>
            <a:avLst/>
            <a:gdLst/>
            <a:ahLst/>
            <a:cxnLst/>
            <a:rect l="0" t="0" r="r" b="b"/>
            <a:pathLst>
              <a:path w="1188720" h="1" fill="none">
                <a:moveTo>
                  <a:pt x="0" y="0"/>
                </a:moveTo>
                <a:lnTo>
                  <a:pt x="1188720" y="0"/>
                </a:lnTo>
              </a:path>
            </a:pathLst>
          </a:custGeom>
          <a:noFill/>
          <a:ln w="25603" cap="flat">
            <a:solidFill>
              <a:srgbClr val="246D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d28: AXI 写入"/>
          <p:cNvSpPr txBox="1"/>
          <p:nvPr/>
        </p:nvSpPr>
        <p:spPr>
          <a:xfrm>
            <a:off x="12009887" y="2353666"/>
            <a:ext cx="851906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AXI 写入</a:t>
            </a:r>
          </a:p>
        </p:txBody>
      </p:sp>
      <p:sp>
        <p:nvSpPr>
          <p:cNvPr id="35" name="d29: 双箭头合并总线交互；读参数方向为左 → 右。主机控制器与 eMMC 内部管理控制"/>
          <p:cNvSpPr txBox="1"/>
          <p:nvPr/>
        </p:nvSpPr>
        <p:spPr>
          <a:xfrm>
            <a:off x="2990488" y="3403763"/>
            <a:ext cx="8649424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双箭头合并总线交互；读参数方向为左 → 右。主机控制器与 eMMC 内部管理控制器职责不同。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858768"/>
            <a:ext cx="6720840" cy="310896"/>
          </a:xfrm>
          <a:prstGeom prst="rect">
            <a:avLst/>
          </a:prstGeom>
          <a:solidFill>
            <a:srgbClr val="163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3895344"/>
            <a:ext cx="6501384" cy="3072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接口与协议：命令、响应、数据分开传输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169664"/>
            <a:ext cx="6720840" cy="530352"/>
          </a:xfrm>
          <a:prstGeom prst="rect">
            <a:avLst/>
          </a:prstGeom>
          <a:solidFill>
            <a:srgbClr val="FFFFFF"/>
          </a:solidFill>
          <a:ln w="9144">
            <a:solidFill>
              <a:srgbClr val="CA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242816"/>
            <a:ext cx="1133856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246DA0"/>
                </a:solidFill>
                <a:latin typeface="Microsoft YaHei"/>
                <a:ea typeface="Microsoft YaHei"/>
                <a:cs typeface="Microsoft YaHei"/>
              </a:rPr>
              <a:t>信号 / 引脚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37360" y="4224528"/>
            <a:ext cx="534924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CLK：主机输出；CMD：双向命令与响应。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4453128"/>
            <a:ext cx="534924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DAT[7:0]：双向数据；RST_n：按器件配置使用。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700016"/>
            <a:ext cx="6720840" cy="530352"/>
          </a:xfrm>
          <a:prstGeom prst="rect">
            <a:avLst/>
          </a:prstGeom>
          <a:solidFill>
            <a:srgbClr val="FFFFFF"/>
          </a:solidFill>
          <a:ln w="9144">
            <a:solidFill>
              <a:srgbClr val="CA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773168"/>
            <a:ext cx="1133856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246DA0"/>
                </a:solidFill>
                <a:latin typeface="Microsoft YaHei"/>
                <a:ea typeface="Microsoft YaHei"/>
                <a:cs typeface="Microsoft YaHei"/>
              </a:rPr>
              <a:t>数据规则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37360" y="4754880"/>
            <a:ext cx="534924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按逻辑块读写；主机检查响应、CRC 与超时。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37360" y="4983480"/>
            <a:ext cx="534924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DAT0 可指示忙；无 AXI 式逐拍 VALID / READY。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230368"/>
            <a:ext cx="6720840" cy="530352"/>
          </a:xfrm>
          <a:prstGeom prst="rect">
            <a:avLst/>
          </a:prstGeom>
          <a:solidFill>
            <a:srgbClr val="FFFFFF"/>
          </a:solidFill>
          <a:ln w="9144">
            <a:solidFill>
              <a:srgbClr val="CA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5303520"/>
            <a:ext cx="1133856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246DA0"/>
                </a:solidFill>
                <a:latin typeface="Microsoft YaHei"/>
                <a:ea typeface="Microsoft YaHei"/>
                <a:cs typeface="Microsoft YaHei"/>
              </a:rPr>
              <a:t>初始化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37360" y="5285232"/>
            <a:ext cx="534924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识别器件 → 读取能力 → CMD6 配置总线与模式。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37360" y="5513832"/>
            <a:ext cx="534924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先低速初始化，再切 8-bit / High Speed 并提高 CLK。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760720"/>
            <a:ext cx="6720840" cy="530352"/>
          </a:xfrm>
          <a:prstGeom prst="rect">
            <a:avLst/>
          </a:prstGeom>
          <a:solidFill>
            <a:srgbClr val="FFFFFF"/>
          </a:solidFill>
          <a:ln w="9144">
            <a:solidFill>
              <a:srgbClr val="CA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833872"/>
            <a:ext cx="1133856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246DA0"/>
                </a:solidFill>
                <a:latin typeface="Microsoft YaHei"/>
                <a:ea typeface="Microsoft YaHei"/>
                <a:cs typeface="Microsoft YaHei"/>
              </a:rPr>
              <a:t>连续读取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37360" y="5815584"/>
            <a:ext cx="534924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CMD18 多块读 → 接收数据 → DMA 写 DDR。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37360" y="6044184"/>
            <a:ext cx="534924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命令响应 ≠ 搬运完成；检查错误后校验参数包。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6291072"/>
            <a:ext cx="6720840" cy="530352"/>
          </a:xfrm>
          <a:prstGeom prst="rect">
            <a:avLst/>
          </a:prstGeom>
          <a:solidFill>
            <a:srgbClr val="FFFFFF"/>
          </a:solidFill>
          <a:ln w="9144">
            <a:solidFill>
              <a:srgbClr val="CA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6364224"/>
            <a:ext cx="1133856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246DA0"/>
                </a:solidFill>
                <a:latin typeface="Microsoft YaHei"/>
                <a:ea typeface="Microsoft YaHei"/>
                <a:cs typeface="Microsoft YaHei"/>
              </a:rPr>
              <a:t>模式边界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37360" y="6345936"/>
            <a:ext cx="534924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当前建议 SDR：每周期每根数据线传 1 bit。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37360" y="6574536"/>
            <a:ext cx="534924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3.3 V 不采用 HS200 / HS400；本方案不使用 DS。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06640" y="3858768"/>
            <a:ext cx="6766560" cy="310896"/>
          </a:xfrm>
          <a:prstGeom prst="rect">
            <a:avLst/>
          </a:prstGeom>
          <a:solidFill>
            <a:srgbClr val="163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16368" y="3895344"/>
            <a:ext cx="6547104" cy="3072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器件选型与 ASIC 实现：控制器、I/O、时序分层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06640" y="4169664"/>
            <a:ext cx="6766560" cy="530352"/>
          </a:xfrm>
          <a:prstGeom prst="rect">
            <a:avLst/>
          </a:prstGeom>
          <a:solidFill>
            <a:srgbClr val="FFFFFF"/>
          </a:solidFill>
          <a:ln w="9144">
            <a:solidFill>
              <a:srgbClr val="CA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98080" y="4242816"/>
            <a:ext cx="1133856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246DA0"/>
                </a:solidFill>
                <a:latin typeface="Microsoft YaHei"/>
                <a:ea typeface="Microsoft YaHei"/>
                <a:cs typeface="Microsoft YaHei"/>
              </a:rPr>
              <a:t>候选器件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0" y="4224528"/>
            <a:ext cx="539496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ISSI IS21TF08G-JCLI：8 GB、eMMC 5.1。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0" y="4453128"/>
            <a:ext cx="539496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工业级 -40～85°C，153-ball FBGA；非采购冻结。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06640" y="4700016"/>
            <a:ext cx="6766560" cy="530352"/>
          </a:xfrm>
          <a:prstGeom prst="rect">
            <a:avLst/>
          </a:prstGeom>
          <a:solidFill>
            <a:srgbClr val="FFFFFF"/>
          </a:solidFill>
          <a:ln w="9144">
            <a:solidFill>
              <a:srgbClr val="CA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98080" y="4773168"/>
            <a:ext cx="1133856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246DA0"/>
                </a:solidFill>
                <a:latin typeface="Microsoft YaHei"/>
                <a:ea typeface="Microsoft YaHei"/>
                <a:cs typeface="Microsoft YaHei"/>
              </a:rPr>
              <a:t>频率 / 带宽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86800" y="4754880"/>
            <a:ext cx="539496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50 MHz × 8 bit = 50 MB/s ≈ 47.7 MiB/s 线速。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6800" y="4983480"/>
            <a:ext cx="539496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SDR 规格上限 52 MHz；50 MHz 是建议工作点。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406640" y="5230368"/>
            <a:ext cx="6766560" cy="530352"/>
          </a:xfrm>
          <a:prstGeom prst="rect">
            <a:avLst/>
          </a:prstGeom>
          <a:solidFill>
            <a:srgbClr val="FFFFFF"/>
          </a:solidFill>
          <a:ln w="9144">
            <a:solidFill>
              <a:srgbClr val="CA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98080" y="5303520"/>
            <a:ext cx="1133856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246DA0"/>
                </a:solidFill>
                <a:latin typeface="Microsoft YaHei"/>
                <a:ea typeface="Microsoft YaHei"/>
                <a:cs typeface="Microsoft YaHei"/>
              </a:rPr>
              <a:t>电气 / PHY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86800" y="5285232"/>
            <a:ext cx="539496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VCC：存储供电 2.7–3.6 V；VCCQ：I/O 取 3.3 V。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0" y="5513832"/>
            <a:ext cx="539496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该工业级支持 3.3 V；不要误选仅 1.8 V 的 A2 款。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406640" y="5760720"/>
            <a:ext cx="6766560" cy="530352"/>
          </a:xfrm>
          <a:prstGeom prst="rect">
            <a:avLst/>
          </a:prstGeom>
          <a:solidFill>
            <a:srgbClr val="FFFFFF"/>
          </a:solidFill>
          <a:ln w="9144">
            <a:solidFill>
              <a:srgbClr val="CA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98080" y="5833872"/>
            <a:ext cx="1133856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246DA0"/>
                </a:solidFill>
                <a:latin typeface="Microsoft YaHei"/>
                <a:ea typeface="Microsoft YaHei"/>
                <a:cs typeface="Microsoft YaHei"/>
              </a:rPr>
              <a:t>实现边界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86800" y="5815584"/>
            <a:ext cx="539496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SDR 可用数字收发 + 合适 PAD，非必需混合 PHY。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86800" y="6044184"/>
            <a:ext cx="539496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仍需核对输入阈值、采样、驱动、WB / PCB 时序。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406640" y="6291072"/>
            <a:ext cx="6766560" cy="530352"/>
          </a:xfrm>
          <a:prstGeom prst="rect">
            <a:avLst/>
          </a:prstGeom>
          <a:solidFill>
            <a:srgbClr val="FFFFFF"/>
          </a:solidFill>
          <a:ln w="9144">
            <a:solidFill>
              <a:srgbClr val="CA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498080" y="6364224"/>
            <a:ext cx="1133856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246DA0"/>
                </a:solidFill>
                <a:latin typeface="Microsoft YaHei"/>
                <a:ea typeface="Microsoft YaHei"/>
                <a:cs typeface="Microsoft YaHei"/>
              </a:rPr>
              <a:t>工程改动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86800" y="6345936"/>
            <a:ext cx="539496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新增主机 / DMA、驱动及 PAD 适配；保留 NOR 启动。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686800" y="6574536"/>
            <a:ext cx="539496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同为 3.3 V 可评估直连，须验证电气与上电兼容。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6949440"/>
            <a:ext cx="13716000" cy="585216"/>
          </a:xfrm>
          <a:prstGeom prst="rect">
            <a:avLst/>
          </a:prstGeom>
          <a:solidFill>
            <a:srgbClr val="E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03504" y="7013448"/>
            <a:ext cx="13441680" cy="2944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>
                <a:solidFill>
                  <a:srgbClr val="218078"/>
                </a:solidFill>
                <a:latin typeface="Microsoft YaHei"/>
                <a:ea typeface="Microsoft YaHei"/>
                <a:cs typeface="Microsoft YaHei"/>
              </a:rPr>
              <a:t>预算：500 MiB ÷ 30 s = 16.7 MiB/s 下限；建议有效搬运 ≥25 MiB/s，20 s 搬运 + 约 10 s 初始化 / 校验。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03504" y="7287768"/>
            <a:ext cx="1344168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容量：可建议 A/B 两份参数（约 1000 MiB），保留增长余量；更新须完成落盘、校验与版本切换，并验证掉电恢复。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7671816"/>
            <a:ext cx="13716000" cy="9144"/>
          </a:xfrm>
          <a:prstGeom prst="rect">
            <a:avLst/>
          </a:prstGeom>
          <a:solidFill>
            <a:srgbClr val="CAD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7200" y="7781544"/>
            <a:ext cx="3703320" cy="230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246DA0"/>
                </a:solidFill>
                <a:latin typeface="Microsoft YaHei"/>
                <a:ea typeface="Microsoft YaHei"/>
                <a:cs typeface="Microsoft YaHei"/>
                <a:hlinkClick r:id="rId2"/>
              </a:rPr>
              <a:t>ISSI 原厂手册（Mouser 托管）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43400" y="7781544"/>
            <a:ext cx="2971800" cy="230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246DA0"/>
                </a:solidFill>
                <a:latin typeface="Microsoft YaHei"/>
                <a:ea typeface="Microsoft YaHei"/>
                <a:cs typeface="Microsoft YaHei"/>
                <a:hlinkClick r:id="rId3"/>
              </a:rPr>
              <a:t>JEDEC 5.1（TI 托管）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498080" y="7781544"/>
            <a:ext cx="3474720" cy="230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246DA0"/>
                </a:solidFill>
                <a:latin typeface="Microsoft YaHei"/>
                <a:ea typeface="Microsoft YaHei"/>
                <a:cs typeface="Microsoft YaHei"/>
                <a:hlinkClick r:id="rId4"/>
              </a:rPr>
              <a:t>备选系列：Swissbit EM-30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155680" y="7781544"/>
            <a:ext cx="2011680" cy="230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246DA0"/>
                </a:solidFill>
                <a:latin typeface="Microsoft YaHei"/>
                <a:ea typeface="Microsoft YaHei"/>
                <a:cs typeface="Microsoft YaHei"/>
                <a:hlinkClick r:id="rId5"/>
              </a:rPr>
              <a:t>PHY 实现示例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7200" y="8028432"/>
            <a:ext cx="13258800" cy="2048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公开资料选型示例；频率为建议评估值，非当前工程已达标结果。  |  2026-10-13 · 修订 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624560" y="8028432"/>
            <a:ext cx="548640" cy="2048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1/2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10896"/>
            <a:ext cx="64008" cy="457200"/>
          </a:xfrm>
          <a:prstGeom prst="rect">
            <a:avLst/>
          </a:prstGeom>
          <a:solidFill>
            <a:srgbClr val="21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65176"/>
            <a:ext cx="13533120" cy="5120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80" b="1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SPI NAND：改选 3 V 系列，Quad SDR / 100 MHz 待验证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804672"/>
            <a:ext cx="13533120" cy="2944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适配 3.3 V PAD：改评估 W25N-LV；原 W25N-MW 为 1.8 V 方案，不再作为直接连接候选。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52144"/>
            <a:ext cx="13716000" cy="402336"/>
          </a:xfrm>
          <a:prstGeom prst="rect">
            <a:avLst/>
          </a:prstGeom>
          <a:solidFill>
            <a:srgbClr val="DF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1216152"/>
            <a:ext cx="134416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3B56"/>
                </a:solidFill>
                <a:latin typeface="Microsoft YaHei"/>
                <a:ea typeface="Microsoft YaHei"/>
                <a:cs typeface="Microsoft YaHei"/>
              </a:rPr>
              <a:t>候选：W25N08LV，8 Gbit（1 GiB）、3 V 档  |  10 MHz 联调 → 50 MHz 验证 → 条件满足后评估 100 MHz</a:t>
            </a:r>
          </a:p>
        </p:txBody>
      </p:sp>
      <p:sp>
        <p:nvSpPr>
          <p:cNvPr id="7" name="d1"/>
          <p:cNvSpPr/>
          <p:nvPr/>
        </p:nvSpPr>
        <p:spPr>
          <a:xfrm>
            <a:off x="457200" y="1993392"/>
            <a:ext cx="4251960" cy="1344168"/>
          </a:xfrm>
          <a:prstGeom prst="roundRect">
            <a:avLst>
              <a:gd name="adj" fmla="val 4081"/>
            </a:avLst>
          </a:prstGeom>
          <a:solidFill>
            <a:srgbClr val="E8F1FA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d2: 片外 SPI NAND：按页读取，器件内纠错"/>
          <p:cNvSpPr txBox="1"/>
          <p:nvPr/>
        </p:nvSpPr>
        <p:spPr>
          <a:xfrm>
            <a:off x="640080" y="2022287"/>
            <a:ext cx="3906588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片外 SPI NAND：按页读取，器件内纠错</a:t>
            </a:r>
          </a:p>
        </p:txBody>
      </p:sp>
      <p:sp>
        <p:nvSpPr>
          <p:cNvPr id="9" name="d3"/>
          <p:cNvSpPr/>
          <p:nvPr/>
        </p:nvSpPr>
        <p:spPr>
          <a:xfrm>
            <a:off x="640080" y="2414016"/>
            <a:ext cx="10515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d4: NAND"/>
          <p:cNvSpPr txBox="1"/>
          <p:nvPr/>
        </p:nvSpPr>
        <p:spPr>
          <a:xfrm>
            <a:off x="777740" y="2460468"/>
            <a:ext cx="776240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NAND</a:t>
            </a:r>
          </a:p>
        </p:txBody>
      </p:sp>
      <p:sp>
        <p:nvSpPr>
          <p:cNvPr id="11" name="d5: 参数阵列"/>
          <p:cNvSpPr txBox="1"/>
          <p:nvPr/>
        </p:nvSpPr>
        <p:spPr>
          <a:xfrm>
            <a:off x="685800" y="2773558"/>
            <a:ext cx="96012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参数阵列</a:t>
            </a:r>
          </a:p>
        </p:txBody>
      </p:sp>
      <p:sp>
        <p:nvSpPr>
          <p:cNvPr id="12" name="d6"/>
          <p:cNvSpPr/>
          <p:nvPr/>
        </p:nvSpPr>
        <p:spPr>
          <a:xfrm>
            <a:off x="2057400" y="2414016"/>
            <a:ext cx="10058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d7: ECC"/>
          <p:cNvSpPr txBox="1"/>
          <p:nvPr/>
        </p:nvSpPr>
        <p:spPr>
          <a:xfrm>
            <a:off x="2253317" y="2460468"/>
            <a:ext cx="614005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ECC</a:t>
            </a:r>
          </a:p>
        </p:txBody>
      </p:sp>
      <p:sp>
        <p:nvSpPr>
          <p:cNvPr id="14" name="d8: 纠错状态"/>
          <p:cNvSpPr txBox="1"/>
          <p:nvPr/>
        </p:nvSpPr>
        <p:spPr>
          <a:xfrm>
            <a:off x="2080260" y="2773558"/>
            <a:ext cx="96012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纠错状态</a:t>
            </a:r>
          </a:p>
        </p:txBody>
      </p:sp>
      <p:sp>
        <p:nvSpPr>
          <p:cNvPr id="15" name="d9"/>
          <p:cNvSpPr/>
          <p:nvPr/>
        </p:nvSpPr>
        <p:spPr>
          <a:xfrm>
            <a:off x="3429000" y="2414016"/>
            <a:ext cx="10972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d10: 页缓存"/>
          <p:cNvSpPr txBox="1"/>
          <p:nvPr/>
        </p:nvSpPr>
        <p:spPr>
          <a:xfrm>
            <a:off x="3538728" y="2460468"/>
            <a:ext cx="877824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页缓存</a:t>
            </a:r>
          </a:p>
        </p:txBody>
      </p:sp>
      <p:sp>
        <p:nvSpPr>
          <p:cNvPr id="17" name="d11: 串行输出"/>
          <p:cNvSpPr txBox="1"/>
          <p:nvPr/>
        </p:nvSpPr>
        <p:spPr>
          <a:xfrm>
            <a:off x="3497580" y="2773558"/>
            <a:ext cx="96012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串行输出</a:t>
            </a:r>
          </a:p>
        </p:txBody>
      </p:sp>
      <p:sp>
        <p:nvSpPr>
          <p:cNvPr id="18" name="d12"/>
          <p:cNvSpPr/>
          <p:nvPr/>
        </p:nvSpPr>
        <p:spPr>
          <a:xfrm>
            <a:off x="1691640" y="2788920"/>
            <a:ext cx="365760" cy="1"/>
          </a:xfrm>
          <a:custGeom>
            <a:avLst/>
            <a:gdLst/>
            <a:ahLst/>
            <a:cxnLst/>
            <a:rect l="0" t="0" r="r" b="b"/>
            <a:pathLst>
              <a:path w="365760" h="1" fill="none">
                <a:moveTo>
                  <a:pt x="0" y="0"/>
                </a:moveTo>
                <a:lnTo>
                  <a:pt x="365760" y="0"/>
                </a:lnTo>
              </a:path>
            </a:pathLst>
          </a:custGeom>
          <a:noFill/>
          <a:ln w="25603" cap="flat">
            <a:solidFill>
              <a:srgbClr val="246D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d13"/>
          <p:cNvSpPr/>
          <p:nvPr/>
        </p:nvSpPr>
        <p:spPr>
          <a:xfrm>
            <a:off x="3063240" y="2788920"/>
            <a:ext cx="365760" cy="1"/>
          </a:xfrm>
          <a:custGeom>
            <a:avLst/>
            <a:gdLst/>
            <a:ahLst/>
            <a:cxnLst/>
            <a:rect l="0" t="0" r="r" b="b"/>
            <a:pathLst>
              <a:path w="365760" h="1" fill="none">
                <a:moveTo>
                  <a:pt x="0" y="0"/>
                </a:moveTo>
                <a:lnTo>
                  <a:pt x="365760" y="0"/>
                </a:lnTo>
              </a:path>
            </a:pathLst>
          </a:custGeom>
          <a:noFill/>
          <a:ln w="25603" cap="flat">
            <a:solidFill>
              <a:srgbClr val="246D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d14"/>
          <p:cNvSpPr/>
          <p:nvPr/>
        </p:nvSpPr>
        <p:spPr>
          <a:xfrm>
            <a:off x="6217920" y="2414016"/>
            <a:ext cx="1645920" cy="731520"/>
          </a:xfrm>
          <a:prstGeom prst="roundRect">
            <a:avLst>
              <a:gd name="adj" fmla="val 7500"/>
            </a:avLst>
          </a:prstGeom>
          <a:solidFill>
            <a:srgbClr val="FFF1DD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d15: I/O PAD"/>
          <p:cNvSpPr txBox="1"/>
          <p:nvPr/>
        </p:nvSpPr>
        <p:spPr>
          <a:xfrm>
            <a:off x="6545282" y="2451324"/>
            <a:ext cx="991195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I/O PAD</a:t>
            </a:r>
          </a:p>
        </p:txBody>
      </p:sp>
      <p:sp>
        <p:nvSpPr>
          <p:cNvPr id="22" name="d16: 3.3 V / 采样"/>
          <p:cNvSpPr txBox="1"/>
          <p:nvPr/>
        </p:nvSpPr>
        <p:spPr>
          <a:xfrm>
            <a:off x="6389341" y="2754539"/>
            <a:ext cx="1303077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3.3 V / 采样</a:t>
            </a:r>
          </a:p>
        </p:txBody>
      </p:sp>
      <p:sp>
        <p:nvSpPr>
          <p:cNvPr id="23" name="d17"/>
          <p:cNvSpPr/>
          <p:nvPr/>
        </p:nvSpPr>
        <p:spPr>
          <a:xfrm>
            <a:off x="4526280" y="2788920"/>
            <a:ext cx="1691640" cy="1"/>
          </a:xfrm>
          <a:custGeom>
            <a:avLst/>
            <a:gdLst/>
            <a:ahLst/>
            <a:cxnLst/>
            <a:rect l="0" t="0" r="r" b="b"/>
            <a:pathLst>
              <a:path w="1691640" h="1" fill="none">
                <a:moveTo>
                  <a:pt x="0" y="0"/>
                </a:moveTo>
                <a:lnTo>
                  <a:pt x="1691640" y="0"/>
                </a:lnTo>
              </a:path>
            </a:pathLst>
          </a:custGeom>
          <a:noFill/>
          <a:ln w="22860" cap="flat">
            <a:solidFill>
              <a:srgbClr val="246DA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d18: SCK / CS# / IO"/>
          <p:cNvSpPr txBox="1"/>
          <p:nvPr/>
        </p:nvSpPr>
        <p:spPr>
          <a:xfrm>
            <a:off x="4748694" y="2373417"/>
            <a:ext cx="1292533" cy="26334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SCK / CS# / IO</a:t>
            </a:r>
          </a:p>
        </p:txBody>
      </p:sp>
      <p:sp>
        <p:nvSpPr>
          <p:cNvPr id="25" name="d19"/>
          <p:cNvSpPr/>
          <p:nvPr/>
        </p:nvSpPr>
        <p:spPr>
          <a:xfrm>
            <a:off x="8915400" y="2414016"/>
            <a:ext cx="1645920" cy="731520"/>
          </a:xfrm>
          <a:prstGeom prst="roundRect">
            <a:avLst>
              <a:gd name="adj" fmla="val 7500"/>
            </a:avLst>
          </a:prstGeom>
          <a:solidFill>
            <a:srgbClr val="E0EFE9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d20: SPI Host"/>
          <p:cNvSpPr txBox="1"/>
          <p:nvPr/>
        </p:nvSpPr>
        <p:spPr>
          <a:xfrm>
            <a:off x="9170689" y="2431572"/>
            <a:ext cx="1135342" cy="380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27" name="d21: 现有 RTL / FIFO"/>
          <p:cNvSpPr txBox="1"/>
          <p:nvPr/>
        </p:nvSpPr>
        <p:spPr>
          <a:xfrm>
            <a:off x="8978344" y="2764414"/>
            <a:ext cx="1520033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现有 RTL / FIFO</a:t>
            </a:r>
          </a:p>
        </p:txBody>
      </p:sp>
      <p:sp>
        <p:nvSpPr>
          <p:cNvPr id="28" name="d22"/>
          <p:cNvSpPr/>
          <p:nvPr/>
        </p:nvSpPr>
        <p:spPr>
          <a:xfrm>
            <a:off x="7863840" y="2788920"/>
            <a:ext cx="1051560" cy="1"/>
          </a:xfrm>
          <a:custGeom>
            <a:avLst/>
            <a:gdLst/>
            <a:ahLst/>
            <a:cxnLst/>
            <a:rect l="0" t="0" r="r" b="b"/>
            <a:pathLst>
              <a:path w="1051560" h="1" fill="none">
                <a:moveTo>
                  <a:pt x="0" y="0"/>
                </a:moveTo>
                <a:lnTo>
                  <a:pt x="1051560" y="0"/>
                </a:lnTo>
              </a:path>
            </a:pathLst>
          </a:custGeom>
          <a:noFill/>
          <a:ln w="22860" cap="flat">
            <a:solidFill>
              <a:srgbClr val="246DA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d23"/>
          <p:cNvSpPr/>
          <p:nvPr/>
        </p:nvSpPr>
        <p:spPr>
          <a:xfrm>
            <a:off x="11384280" y="2414016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EEE8F6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d24: CPU 驱动"/>
          <p:cNvSpPr txBox="1"/>
          <p:nvPr/>
        </p:nvSpPr>
        <p:spPr>
          <a:xfrm>
            <a:off x="11508474" y="2451324"/>
            <a:ext cx="1123212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CPU 驱动</a:t>
            </a:r>
          </a:p>
        </p:txBody>
      </p:sp>
      <p:sp>
        <p:nvSpPr>
          <p:cNvPr id="31" name="d25: 读出并搬运"/>
          <p:cNvSpPr txBox="1"/>
          <p:nvPr/>
        </p:nvSpPr>
        <p:spPr>
          <a:xfrm>
            <a:off x="11494008" y="2764414"/>
            <a:ext cx="1152144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读出并搬运</a:t>
            </a:r>
          </a:p>
        </p:txBody>
      </p:sp>
      <p:sp>
        <p:nvSpPr>
          <p:cNvPr id="32" name="d26"/>
          <p:cNvSpPr/>
          <p:nvPr/>
        </p:nvSpPr>
        <p:spPr>
          <a:xfrm>
            <a:off x="10561320" y="2788920"/>
            <a:ext cx="822960" cy="1"/>
          </a:xfrm>
          <a:custGeom>
            <a:avLst/>
            <a:gdLst/>
            <a:ahLst/>
            <a:cxnLst/>
            <a:rect l="0" t="0" r="r" b="b"/>
            <a:pathLst>
              <a:path w="822960" h="1" fill="none">
                <a:moveTo>
                  <a:pt x="0" y="0"/>
                </a:moveTo>
                <a:lnTo>
                  <a:pt x="822960" y="0"/>
                </a:lnTo>
              </a:path>
            </a:pathLst>
          </a:custGeom>
          <a:noFill/>
          <a:ln w="25603" cap="flat">
            <a:solidFill>
              <a:srgbClr val="246D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d27: MMIO"/>
          <p:cNvSpPr txBox="1"/>
          <p:nvPr/>
        </p:nvSpPr>
        <p:spPr>
          <a:xfrm>
            <a:off x="10663754" y="2363541"/>
            <a:ext cx="618092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MMIO</a:t>
            </a:r>
          </a:p>
        </p:txBody>
      </p:sp>
      <p:sp>
        <p:nvSpPr>
          <p:cNvPr id="34" name="d28"/>
          <p:cNvSpPr/>
          <p:nvPr/>
        </p:nvSpPr>
        <p:spPr>
          <a:xfrm>
            <a:off x="9738360" y="1801368"/>
            <a:ext cx="2331720" cy="612648"/>
          </a:xfrm>
          <a:custGeom>
            <a:avLst/>
            <a:gdLst/>
            <a:ahLst/>
            <a:cxnLst/>
            <a:rect l="0" t="0" r="r" b="b"/>
            <a:pathLst>
              <a:path w="2331720" h="612648" fill="none">
                <a:moveTo>
                  <a:pt x="2331720" y="612648"/>
                </a:moveTo>
                <a:lnTo>
                  <a:pt x="2331720" y="0"/>
                </a:lnTo>
                <a:lnTo>
                  <a:pt x="0" y="0"/>
                </a:lnTo>
                <a:lnTo>
                  <a:pt x="0" y="612648"/>
                </a:lnTo>
              </a:path>
            </a:pathLst>
          </a:custGeom>
          <a:noFill/>
          <a:ln w="25603" cap="flat">
            <a:solidFill>
              <a:srgbClr val="218078"/>
            </a:solidFill>
            <a:custDash>
              <a:ds d="250000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d29: 配置 / 命令"/>
          <p:cNvSpPr txBox="1"/>
          <p:nvPr/>
        </p:nvSpPr>
        <p:spPr>
          <a:xfrm>
            <a:off x="10349794" y="1531437"/>
            <a:ext cx="1063133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218078"/>
                </a:solidFill>
                <a:latin typeface="Microsoft YaHei"/>
                <a:ea typeface="Microsoft YaHei"/>
                <a:cs typeface="Microsoft YaHei"/>
              </a:rPr>
              <a:t>配置 / 命令</a:t>
            </a:r>
          </a:p>
        </p:txBody>
      </p:sp>
      <p:sp>
        <p:nvSpPr>
          <p:cNvPr id="36" name="d30"/>
          <p:cNvSpPr/>
          <p:nvPr/>
        </p:nvSpPr>
        <p:spPr>
          <a:xfrm>
            <a:off x="13441680" y="2414016"/>
            <a:ext cx="731520" cy="731520"/>
          </a:xfrm>
          <a:prstGeom prst="roundRect">
            <a:avLst>
              <a:gd name="adj" fmla="val 7500"/>
            </a:avLst>
          </a:prstGeom>
          <a:solidFill>
            <a:srgbClr val="FFF1DD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d31: DDR"/>
          <p:cNvSpPr txBox="1"/>
          <p:nvPr/>
        </p:nvSpPr>
        <p:spPr>
          <a:xfrm>
            <a:off x="13485114" y="2588484"/>
            <a:ext cx="644652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38" name="d32"/>
          <p:cNvSpPr/>
          <p:nvPr/>
        </p:nvSpPr>
        <p:spPr>
          <a:xfrm>
            <a:off x="12755880" y="2788920"/>
            <a:ext cx="685800" cy="1"/>
          </a:xfrm>
          <a:custGeom>
            <a:avLst/>
            <a:gdLst/>
            <a:ahLst/>
            <a:cxnLst/>
            <a:rect l="0" t="0" r="r" b="b"/>
            <a:pathLst>
              <a:path w="685800" h="1" fill="none">
                <a:moveTo>
                  <a:pt x="0" y="0"/>
                </a:moveTo>
                <a:lnTo>
                  <a:pt x="685800" y="0"/>
                </a:lnTo>
              </a:path>
            </a:pathLst>
          </a:custGeom>
          <a:noFill/>
          <a:ln w="25603" cap="flat">
            <a:solidFill>
              <a:srgbClr val="246D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d33: 候选读取路径；当前 SPI Host 无独立 DMA 口。片内 ECC 不等于 "/>
          <p:cNvSpPr txBox="1"/>
          <p:nvPr/>
        </p:nvSpPr>
        <p:spPr>
          <a:xfrm>
            <a:off x="3210708" y="3403763"/>
            <a:ext cx="8208983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候选读取路径；当前 SPI Host 无独立 DMA 口。片内 ECC 不等于 eMMC 式完整介质管理。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858768"/>
            <a:ext cx="6720840" cy="310896"/>
          </a:xfrm>
          <a:prstGeom prst="rect">
            <a:avLst/>
          </a:prstGeom>
          <a:solidFill>
            <a:srgbClr val="163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3895344"/>
            <a:ext cx="6501384" cy="3072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接口与协议：SPI 命令 + NAND 页访问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169664"/>
            <a:ext cx="6720840" cy="530352"/>
          </a:xfrm>
          <a:prstGeom prst="rect">
            <a:avLst/>
          </a:prstGeom>
          <a:solidFill>
            <a:srgbClr val="FFFFFF"/>
          </a:solidFill>
          <a:ln w="9144">
            <a:solidFill>
              <a:srgbClr val="CA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242816"/>
            <a:ext cx="1133856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246DA0"/>
                </a:solidFill>
                <a:latin typeface="Microsoft YaHei"/>
                <a:ea typeface="Microsoft YaHei"/>
                <a:cs typeface="Microsoft YaHei"/>
              </a:rPr>
              <a:t>信号 / 模式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37360" y="4224528"/>
            <a:ext cx="534924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CS#、SCK：主机输出；IO[3:0]：按事务改变方向。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37360" y="4453128"/>
            <a:ext cx="534924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Quad 为四线数据阶段，不等于所有命令均为四线。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700016"/>
            <a:ext cx="6720840" cy="530352"/>
          </a:xfrm>
          <a:prstGeom prst="rect">
            <a:avLst/>
          </a:prstGeom>
          <a:solidFill>
            <a:srgbClr val="FFFFFF"/>
          </a:solidFill>
          <a:ln w="9144">
            <a:solidFill>
              <a:srgbClr val="CA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773168"/>
            <a:ext cx="1133856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246DA0"/>
                </a:solidFill>
                <a:latin typeface="Microsoft YaHei"/>
                <a:ea typeface="Microsoft YaHei"/>
                <a:cs typeface="Microsoft YaHei"/>
              </a:rPr>
              <a:t>一次页读取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37360" y="4754880"/>
            <a:ext cx="534924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发页地址 / 读页命令 → 等待就绪并检查 ECC。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37360" y="4983480"/>
            <a:ext cx="534924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再发读缓存命令，按列地址 / dummy 周期接收数据。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230368"/>
            <a:ext cx="6720840" cy="530352"/>
          </a:xfrm>
          <a:prstGeom prst="rect">
            <a:avLst/>
          </a:prstGeom>
          <a:solidFill>
            <a:srgbClr val="FFFFFF"/>
          </a:solidFill>
          <a:ln w="9144">
            <a:solidFill>
              <a:srgbClr val="CA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303520"/>
            <a:ext cx="1133856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246DA0"/>
                </a:solidFill>
                <a:latin typeface="Microsoft YaHei"/>
                <a:ea typeface="Microsoft YaHei"/>
                <a:cs typeface="Microsoft YaHei"/>
              </a:rPr>
              <a:t>软件职责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37360" y="5285232"/>
            <a:ext cx="534924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识别器件、配置 ECC / Quad、管理坏块与预留块。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37360" y="5513832"/>
            <a:ext cx="534924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检查不可纠错错误；CPU 排空 FIFO 并写入 DDR。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760720"/>
            <a:ext cx="6720840" cy="530352"/>
          </a:xfrm>
          <a:prstGeom prst="rect">
            <a:avLst/>
          </a:prstGeom>
          <a:solidFill>
            <a:srgbClr val="FFFFFF"/>
          </a:solidFill>
          <a:ln w="9144">
            <a:solidFill>
              <a:srgbClr val="CA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5833872"/>
            <a:ext cx="1133856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246DA0"/>
                </a:solidFill>
                <a:latin typeface="Microsoft YaHei"/>
                <a:ea typeface="Microsoft YaHei"/>
                <a:cs typeface="Microsoft YaHei"/>
              </a:rPr>
              <a:t>候选容量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37360" y="5815584"/>
            <a:ext cx="534924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8 Gbit = 1 GiB；页为 4096 B + 256 B 备用区。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37360" y="6044184"/>
            <a:ext cx="534924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双份 500 MiB 仅余 24 MiB，坏块预留空间过紧。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06640" y="3858768"/>
            <a:ext cx="6766560" cy="310896"/>
          </a:xfrm>
          <a:prstGeom prst="rect">
            <a:avLst/>
          </a:prstGeom>
          <a:solidFill>
            <a:srgbClr val="163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16368" y="3895344"/>
            <a:ext cx="6547104" cy="3072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频率、I/O 与系统吞吐：复用存在约束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06640" y="4169664"/>
            <a:ext cx="6766560" cy="530352"/>
          </a:xfrm>
          <a:prstGeom prst="rect">
            <a:avLst/>
          </a:prstGeom>
          <a:solidFill>
            <a:srgbClr val="FFFFFF"/>
          </a:solidFill>
          <a:ln w="9144">
            <a:solidFill>
              <a:srgbClr val="CA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98080" y="4242816"/>
            <a:ext cx="1133856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246DA0"/>
                </a:solidFill>
                <a:latin typeface="Microsoft YaHei"/>
                <a:ea typeface="Microsoft YaHei"/>
                <a:cs typeface="Microsoft YaHei"/>
              </a:rPr>
              <a:t>工作频率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0" y="4224528"/>
            <a:ext cx="539496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10 / 50 MHz 逐步联调，Quad 100 MHz 为目标。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0" y="4453128"/>
            <a:ext cx="539496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LV 系列标称 STR 最高 133 MHz，非系统保证。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06640" y="4700016"/>
            <a:ext cx="6766560" cy="530352"/>
          </a:xfrm>
          <a:prstGeom prst="rect">
            <a:avLst/>
          </a:prstGeom>
          <a:solidFill>
            <a:srgbClr val="FFFFFF"/>
          </a:solidFill>
          <a:ln w="9144">
            <a:solidFill>
              <a:srgbClr val="CA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98080" y="4773168"/>
            <a:ext cx="1133856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246DA0"/>
                </a:solidFill>
                <a:latin typeface="Microsoft YaHei"/>
                <a:ea typeface="Microsoft YaHei"/>
                <a:cs typeface="Microsoft YaHei"/>
              </a:rPr>
              <a:t>时钟前提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86800" y="4754880"/>
            <a:ext cx="539496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当前 SCK = clk_i / [2 × (CLKDIV + 1)]。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6800" y="4983480"/>
            <a:ext cx="539496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100 MHz SCK 要求 clk_i ≥200 MHz 且分频匹配。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406640" y="5230368"/>
            <a:ext cx="6766560" cy="530352"/>
          </a:xfrm>
          <a:prstGeom prst="rect">
            <a:avLst/>
          </a:prstGeom>
          <a:solidFill>
            <a:srgbClr val="FFFFFF"/>
          </a:solidFill>
          <a:ln w="9144">
            <a:solidFill>
              <a:srgbClr val="CA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98080" y="5303520"/>
            <a:ext cx="1133856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246DA0"/>
                </a:solidFill>
                <a:latin typeface="Microsoft YaHei"/>
                <a:ea typeface="Microsoft YaHei"/>
                <a:cs typeface="Microsoft YaHei"/>
              </a:rPr>
              <a:t>物理实现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86800" y="5285232"/>
            <a:ext cx="539496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LV 系列确认 3 V 档；8 Gbit 后缀电气表待确认。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0" y="5513832"/>
            <a:ext cx="539496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按 3.3 V PAD / WB 评估；100 MHz 须校核裕量。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406640" y="5760720"/>
            <a:ext cx="6766560" cy="530352"/>
          </a:xfrm>
          <a:prstGeom prst="rect">
            <a:avLst/>
          </a:prstGeom>
          <a:solidFill>
            <a:srgbClr val="FFFFFF"/>
          </a:solidFill>
          <a:ln w="9144">
            <a:solidFill>
              <a:srgbClr val="CA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98080" y="5833872"/>
            <a:ext cx="1133856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246DA0"/>
                </a:solidFill>
                <a:latin typeface="Microsoft YaHei"/>
                <a:ea typeface="Microsoft YaHei"/>
                <a:cs typeface="Microsoft YaHei"/>
              </a:rPr>
              <a:t>主要风险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86800" y="5815584"/>
            <a:ext cx="539496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现有控制器无独立 DMA；Regbus / CPU 可能限速。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86800" y="6044184"/>
            <a:ext cx="539496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不能只换 Flash：需 NAND 驱动与错误 / 掉电验证。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6409944"/>
            <a:ext cx="13716000" cy="338328"/>
          </a:xfrm>
          <a:prstGeom prst="rect">
            <a:avLst/>
          </a:prstGeom>
          <a:solidFill>
            <a:srgbClr val="163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9496" y="6464808"/>
            <a:ext cx="2761488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 / 建议数据模式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65576" y="6464808"/>
            <a:ext cx="2532888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纯线速（不含开销）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63056" y="6464808"/>
            <a:ext cx="2715768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500 MiB 线速下限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43416" y="6464808"/>
            <a:ext cx="5047488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评估结论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" y="6748272"/>
            <a:ext cx="13716000" cy="338328"/>
          </a:xfrm>
          <a:prstGeom prst="rect">
            <a:avLst/>
          </a:prstGeom>
          <a:solidFill>
            <a:srgbClr val="E9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39496" y="6803136"/>
            <a:ext cx="2761488" cy="2688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eMMC · 8-bit SDR 50 MHz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465576" y="6803136"/>
            <a:ext cx="2532888" cy="2688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50 MB/s ≈ 47.7 MiB/s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63056" y="6803136"/>
            <a:ext cx="2715768" cy="2688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约 10.5 秒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43416" y="6803136"/>
            <a:ext cx="5047488" cy="2688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优先评估：新增主机 / DMA 与 I/O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7086600"/>
            <a:ext cx="137160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39496" y="7141464"/>
            <a:ext cx="2761488" cy="2688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SPI NAND · Quad SDR 100 MHz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65576" y="7141464"/>
            <a:ext cx="2532888" cy="2688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50 MB/s ≈ 47.7 MiB/s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63056" y="7141464"/>
            <a:ext cx="2715768" cy="2688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约 10.5 秒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043416" y="7141464"/>
            <a:ext cx="5047488" cy="2688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备选：时钟、页读取、软件搬运须达标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57200" y="7461504"/>
            <a:ext cx="13716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>
                <a:solidFill>
                  <a:srgbClr val="9B6828"/>
                </a:solidFill>
                <a:latin typeface="Microsoft YaHei"/>
                <a:ea typeface="Microsoft YaHei"/>
                <a:cs typeface="Microsoft YaHei"/>
              </a:rPr>
              <a:t>验收口径：完整 500 MiB 初始化 + 加载 + 校验 ≤30 秒；SPI Quad 50 MHz 仅 23.8 MiB/s 线速，低于 25 MiB/s 设计目标。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" y="7671816"/>
            <a:ext cx="13716000" cy="9144"/>
          </a:xfrm>
          <a:prstGeom prst="rect">
            <a:avLst/>
          </a:prstGeom>
          <a:solidFill>
            <a:srgbClr val="CAD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57200" y="7781544"/>
            <a:ext cx="3977640" cy="230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246DA0"/>
                </a:solidFill>
                <a:latin typeface="Microsoft YaHei"/>
                <a:ea typeface="Microsoft YaHei"/>
                <a:cs typeface="Microsoft YaHei"/>
                <a:hlinkClick r:id="rId2"/>
              </a:rPr>
              <a:t>Winbond W25N-LV：3 V / 8 Gbit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617720" y="7781544"/>
            <a:ext cx="3931920" cy="230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246DA0"/>
                </a:solidFill>
                <a:latin typeface="Microsoft YaHei"/>
                <a:ea typeface="Microsoft YaHei"/>
                <a:cs typeface="Microsoft YaHei"/>
                <a:hlinkClick r:id="rId3"/>
              </a:rPr>
              <a:t>同系列 4 Gbit：2.7–3.6 V 详情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732520" y="7781544"/>
            <a:ext cx="3657600" cy="230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246DA0"/>
                </a:solidFill>
                <a:latin typeface="Microsoft YaHei"/>
                <a:ea typeface="Microsoft YaHei"/>
                <a:cs typeface="Microsoft YaHei"/>
                <a:hlinkClick r:id="rId4"/>
              </a:rPr>
              <a:t>NAND 管理职责：Micron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" y="8028432"/>
            <a:ext cx="13258800" cy="2048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公开资料选型示例；频率为建议评估值，非当前工程已达标结果。  |  2026-10-13 · 修订 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3624560" y="8028432"/>
            <a:ext cx="548640" cy="2048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2/2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