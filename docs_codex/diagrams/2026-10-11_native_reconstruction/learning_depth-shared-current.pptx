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6400800" y="288036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2098040" y="2880360"/>
            <a:ext cx="2631440" cy="1280160"/>
          </a:xfrm>
          <a:custGeom>
            <a:avLst/>
            <a:gdLst/>
            <a:ahLst/>
            <a:cxnLst/>
            <a:rect l="0" t="0" r="r" b="b"/>
            <a:pathLst>
              <a:path w="2631440" h="1280160" fill="none">
                <a:moveTo>
                  <a:pt x="2631440" y="1280160"/>
                </a:moveTo>
                <a:lnTo>
                  <a:pt x="0" y="128016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960120" y="2880360"/>
            <a:ext cx="5440680" cy="2631440"/>
          </a:xfrm>
          <a:custGeom>
            <a:avLst/>
            <a:gdLst/>
            <a:ahLst/>
            <a:cxnLst/>
            <a:rect l="0" t="0" r="r" b="b"/>
            <a:pathLst>
              <a:path w="5440680" h="2631440" fill="none">
                <a:moveTo>
                  <a:pt x="3556" y="0"/>
                </a:moveTo>
                <a:lnTo>
                  <a:pt x="0" y="2204720"/>
                </a:lnTo>
                <a:lnTo>
                  <a:pt x="5440680" y="2204720"/>
                </a:lnTo>
                <a:lnTo>
                  <a:pt x="5440680" y="26314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6400800" y="4622800"/>
            <a:ext cx="1" cy="889000"/>
          </a:xfrm>
          <a:custGeom>
            <a:avLst/>
            <a:gdLst/>
            <a:ahLst/>
            <a:cxnLst/>
            <a:rect l="0" t="0" r="r" b="b"/>
            <a:pathLst>
              <a:path w="1" h="889000" fill="none">
                <a:moveTo>
                  <a:pt x="0" y="0"/>
                </a:moveTo>
                <a:lnTo>
                  <a:pt x="0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6400800" y="2880360"/>
            <a:ext cx="4267200" cy="2631440"/>
          </a:xfrm>
          <a:custGeom>
            <a:avLst/>
            <a:gdLst/>
            <a:ahLst/>
            <a:cxnLst/>
            <a:rect l="0" t="0" r="r" b="b"/>
            <a:pathLst>
              <a:path w="4267200" h="2631440" fill="none">
                <a:moveTo>
                  <a:pt x="4267200" y="0"/>
                </a:moveTo>
                <a:lnTo>
                  <a:pt x="4267200" y="2204720"/>
                </a:lnTo>
                <a:lnTo>
                  <a:pt x="0" y="2204720"/>
                </a:lnTo>
                <a:lnTo>
                  <a:pt x="0" y="26314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5: 当前共享数据：Ara 的失效协作有明确参与者"/>
          <p:cNvSpPr txBox="1"/>
          <p:nvPr/>
        </p:nvSpPr>
        <p:spPr>
          <a:xfrm>
            <a:off x="483616" y="271109"/>
            <a:ext cx="553029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当前共享数据：Ara 的失效协作有明确参与者</a:t>
            </a:r>
          </a:p>
        </p:txBody>
      </p:sp>
      <p:sp>
        <p:nvSpPr>
          <p:cNvPr id="11" name="text-016: CPU / Ara 的协作不自动扩展到 iDMA、其他设备或未来 NPU。"/>
          <p:cNvSpPr txBox="1"/>
          <p:nvPr/>
        </p:nvSpPr>
        <p:spPr>
          <a:xfrm>
            <a:off x="483616" y="676778"/>
            <a:ext cx="51281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的协作不自动扩展到 iDMA、其他设备或未来 NPU。</a:t>
            </a:r>
          </a:p>
        </p:txBody>
      </p:sp>
      <p:sp>
        <p:nvSpPr>
          <p:cNvPr id="12" name="text-017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3" name="text-018: 源码：csr_regfile / acc_dispatcher / axi_in"/>
          <p:cNvSpPr txBox="1"/>
          <p:nvPr/>
        </p:nvSpPr>
        <p:spPr>
          <a:xfrm>
            <a:off x="341376" y="7726477"/>
            <a:ext cx="657860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源码：csr_regfile / acc_dispatcher / axi_inval_filter / cheshire_soc.sv</a:t>
            </a:r>
          </a:p>
        </p:txBody>
      </p:sp>
      <p:sp>
        <p:nvSpPr>
          <p:cNvPr id="14" name="rect-019"/>
          <p:cNvSpPr/>
          <p:nvPr/>
        </p:nvSpPr>
        <p:spPr>
          <a:xfrm>
            <a:off x="462280" y="15290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20"/>
          <p:cNvSpPr/>
          <p:nvPr/>
        </p:nvSpPr>
        <p:spPr>
          <a:xfrm>
            <a:off x="462280" y="1529080"/>
            <a:ext cx="35560" cy="13512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21: CPU · WT L1D + 写缓冲"/>
          <p:cNvSpPr txBox="1"/>
          <p:nvPr/>
        </p:nvSpPr>
        <p:spPr>
          <a:xfrm>
            <a:off x="583184" y="1556959"/>
            <a:ext cx="254254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· WT L1D + 写缓冲</a:t>
            </a:r>
          </a:p>
        </p:txBody>
      </p:sp>
      <p:sp>
        <p:nvSpPr>
          <p:cNvPr id="17" name="text-022: 一致性 CSR 与 pending 等待"/>
          <p:cNvSpPr txBox="1"/>
          <p:nvPr/>
        </p:nvSpPr>
        <p:spPr>
          <a:xfrm>
            <a:off x="583184" y="1828353"/>
            <a:ext cx="27480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一致性 CSR 与 pending 等待</a:t>
            </a:r>
          </a:p>
        </p:txBody>
      </p:sp>
      <p:sp>
        <p:nvSpPr>
          <p:cNvPr id="18" name="text-023: 是否存在缓存副本取决于属性"/>
          <p:cNvSpPr txBox="1"/>
          <p:nvPr/>
        </p:nvSpPr>
        <p:spPr>
          <a:xfrm>
            <a:off x="583184" y="204171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是否存在缓存副本取决于属性</a:t>
            </a:r>
          </a:p>
        </p:txBody>
      </p:sp>
      <p:sp>
        <p:nvSpPr>
          <p:cNvPr id="19" name="text-024: fence 与 cache 操作职责不同"/>
          <p:cNvSpPr txBox="1"/>
          <p:nvPr/>
        </p:nvSpPr>
        <p:spPr>
          <a:xfrm>
            <a:off x="583184" y="2255073"/>
            <a:ext cx="280781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fence 与 cache 操作职责不同</a:t>
            </a:r>
          </a:p>
        </p:txBody>
      </p:sp>
      <p:sp>
        <p:nvSpPr>
          <p:cNvPr id="20" name="rect-025"/>
          <p:cNvSpPr/>
          <p:nvPr/>
        </p:nvSpPr>
        <p:spPr>
          <a:xfrm>
            <a:off x="4729480" y="15290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6"/>
          <p:cNvSpPr/>
          <p:nvPr/>
        </p:nvSpPr>
        <p:spPr>
          <a:xfrm>
            <a:off x="4729480" y="1529080"/>
            <a:ext cx="35560" cy="13512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7: Ara · VRF / VLSU"/>
          <p:cNvSpPr txBox="1"/>
          <p:nvPr/>
        </p:nvSpPr>
        <p:spPr>
          <a:xfrm>
            <a:off x="4850384" y="1556959"/>
            <a:ext cx="2107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· VRF / VLSU</a:t>
            </a:r>
          </a:p>
        </p:txBody>
      </p:sp>
      <p:sp>
        <p:nvSpPr>
          <p:cNvPr id="23" name="text-028: 无独立地址标记 D-cache"/>
          <p:cNvSpPr txBox="1"/>
          <p:nvPr/>
        </p:nvSpPr>
        <p:spPr>
          <a:xfrm>
            <a:off x="4850384" y="1828353"/>
            <a:ext cx="22530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无独立地址标记 D-cache</a:t>
            </a:r>
          </a:p>
        </p:txBody>
      </p:sp>
      <p:sp>
        <p:nvSpPr>
          <p:cNvPr id="24" name="text-029: store 通过自身 AXI AW/W"/>
          <p:cNvSpPr txBox="1"/>
          <p:nvPr/>
        </p:nvSpPr>
        <p:spPr>
          <a:xfrm>
            <a:off x="4850384" y="2041713"/>
            <a:ext cx="25176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store 通过自身 AXI AW/W</a:t>
            </a:r>
          </a:p>
        </p:txBody>
      </p:sp>
      <p:sp>
        <p:nvSpPr>
          <p:cNvPr id="25" name="text-030: VRF 是寄存器文件"/>
          <p:cNvSpPr txBox="1"/>
          <p:nvPr/>
        </p:nvSpPr>
        <p:spPr>
          <a:xfrm>
            <a:off x="4850384" y="2255073"/>
            <a:ext cx="163860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VRF 是寄存器文件</a:t>
            </a:r>
          </a:p>
        </p:txBody>
      </p:sp>
      <p:sp>
        <p:nvSpPr>
          <p:cNvPr id="26" name="rect-031"/>
          <p:cNvSpPr/>
          <p:nvPr/>
        </p:nvSpPr>
        <p:spPr>
          <a:xfrm>
            <a:off x="8996680" y="15290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2"/>
          <p:cNvSpPr/>
          <p:nvPr/>
        </p:nvSpPr>
        <p:spPr>
          <a:xfrm>
            <a:off x="8996680" y="1529080"/>
            <a:ext cx="35560" cy="13512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3: iDMA / 其他设备"/>
          <p:cNvSpPr txBox="1"/>
          <p:nvPr/>
        </p:nvSpPr>
        <p:spPr>
          <a:xfrm>
            <a:off x="9117584" y="1556959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iDMA / 其他设备</a:t>
            </a:r>
          </a:p>
        </p:txBody>
      </p:sp>
      <p:sp>
        <p:nvSpPr>
          <p:cNvPr id="29" name="text-034: 独立 AXI 发起端"/>
          <p:cNvSpPr txBox="1"/>
          <p:nvPr/>
        </p:nvSpPr>
        <p:spPr>
          <a:xfrm>
            <a:off x="9117584" y="1828353"/>
            <a:ext cx="15788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AXI 发起端</a:t>
            </a:r>
          </a:p>
        </p:txBody>
      </p:sp>
      <p:sp>
        <p:nvSpPr>
          <p:cNvPr id="30" name="text-035: 未自动加入 Ara 失效协议"/>
          <p:cNvSpPr txBox="1"/>
          <p:nvPr/>
        </p:nvSpPr>
        <p:spPr>
          <a:xfrm>
            <a:off x="9117584" y="2041713"/>
            <a:ext cx="22616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未自动加入 Ara 失效协议</a:t>
            </a:r>
          </a:p>
        </p:txBody>
      </p:sp>
      <p:sp>
        <p:nvSpPr>
          <p:cNvPr id="31" name="text-036: 驱动需管理数据可见性"/>
          <p:cNvSpPr txBox="1"/>
          <p:nvPr/>
        </p:nvSpPr>
        <p:spPr>
          <a:xfrm>
            <a:off x="9117584" y="225507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驱动需管理数据可见性</a:t>
            </a:r>
          </a:p>
        </p:txBody>
      </p:sp>
      <p:sp>
        <p:nvSpPr>
          <p:cNvPr id="32" name="rect-037"/>
          <p:cNvSpPr/>
          <p:nvPr/>
        </p:nvSpPr>
        <p:spPr>
          <a:xfrm>
            <a:off x="4729480" y="3733800"/>
            <a:ext cx="3342640" cy="889000"/>
          </a:xfrm>
          <a:prstGeom prst="roundRect">
            <a:avLst>
              <a:gd name="adj" fmla="val 56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8"/>
          <p:cNvSpPr/>
          <p:nvPr/>
        </p:nvSpPr>
        <p:spPr>
          <a:xfrm>
            <a:off x="4729480" y="3733800"/>
            <a:ext cx="35560" cy="8890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9: Ara AW 失效过滤"/>
          <p:cNvSpPr txBox="1"/>
          <p:nvPr/>
        </p:nvSpPr>
        <p:spPr>
          <a:xfrm>
            <a:off x="4850384" y="3761679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AW 失效过滤</a:t>
            </a:r>
          </a:p>
        </p:txBody>
      </p:sp>
      <p:sp>
        <p:nvSpPr>
          <p:cNvPr id="35" name="text-040: 向 CPU L1 发 line invalidate"/>
          <p:cNvSpPr txBox="1"/>
          <p:nvPr/>
        </p:nvSpPr>
        <p:spPr>
          <a:xfrm>
            <a:off x="4850384" y="4033073"/>
            <a:ext cx="317479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向 CPU L1 发 line invalidate</a:t>
            </a:r>
          </a:p>
        </p:txBody>
      </p:sp>
      <p:sp>
        <p:nvSpPr>
          <p:cNvPr id="36" name="text-041: 同时处理系统方向访存"/>
          <p:cNvSpPr txBox="1"/>
          <p:nvPr/>
        </p:nvSpPr>
        <p:spPr>
          <a:xfrm>
            <a:off x="4850384" y="42464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同时处理系统方向访存</a:t>
            </a:r>
          </a:p>
        </p:txBody>
      </p:sp>
      <p:sp>
        <p:nvSpPr>
          <p:cNvPr id="37" name="text-042: L1 line invalidation"/>
          <p:cNvSpPr txBox="1"/>
          <p:nvPr/>
        </p:nvSpPr>
        <p:spPr>
          <a:xfrm>
            <a:off x="462280" y="3778179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L1 line invalidation</a:t>
            </a:r>
          </a:p>
        </p:txBody>
      </p:sp>
      <p:sp>
        <p:nvSpPr>
          <p:cNvPr id="38" name="rect-043"/>
          <p:cNvSpPr/>
          <p:nvPr/>
        </p:nvSpPr>
        <p:spPr>
          <a:xfrm>
            <a:off x="1991360" y="5511800"/>
            <a:ext cx="881888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4"/>
          <p:cNvSpPr/>
          <p:nvPr/>
        </p:nvSpPr>
        <p:spPr>
          <a:xfrm>
            <a:off x="1991360" y="55118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5: Crossbar → 主存原子处理 → LLC / SPM → 外存"/>
          <p:cNvSpPr txBox="1"/>
          <p:nvPr/>
        </p:nvSpPr>
        <p:spPr>
          <a:xfrm>
            <a:off x="2112264" y="5539679"/>
            <a:ext cx="49833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Crossbar → 主存原子处理 → LLC / SPM → 外存</a:t>
            </a:r>
          </a:p>
        </p:txBody>
      </p:sp>
      <p:sp>
        <p:nvSpPr>
          <p:cNvPr id="41" name="text-046: CPU 属性、SPM 别名和 LLC way 模式共同决定缓存副本存在条件"/>
          <p:cNvSpPr txBox="1"/>
          <p:nvPr/>
        </p:nvSpPr>
        <p:spPr>
          <a:xfrm>
            <a:off x="2112264" y="5811073"/>
            <a:ext cx="547055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属性、SPM 别名和 LLC way 模式共同决定缓存副本存在条件</a:t>
            </a:r>
          </a:p>
        </p:txBody>
      </p:sp>
      <p:sp>
        <p:nvSpPr>
          <p:cNvPr id="42" name="text-047: 全路径可见性须包含写缓冲、cache、副本、通知与消费者获取顺序"/>
          <p:cNvSpPr txBox="1"/>
          <p:nvPr/>
        </p:nvSpPr>
        <p:spPr>
          <a:xfrm>
            <a:off x="2112264" y="6024433"/>
            <a:ext cx="53340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全路径可见性须包含写缓冲、cache、副本、通知与消费者获取顺序</a:t>
            </a:r>
          </a:p>
        </p:txBody>
      </p:sp>
      <p:sp>
        <p:nvSpPr>
          <p:cNvPr id="43" name="text-048: 教材实验：独占高别名 SPM 缓冲区；实验结果不能推导出任意主设备之间的硬件一致"/>
          <p:cNvSpPr txBox="1"/>
          <p:nvPr/>
        </p:nvSpPr>
        <p:spPr>
          <a:xfrm>
            <a:off x="497840" y="6919976"/>
            <a:ext cx="73342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教材实验：独占高别名 SPM 缓冲区；实验结果不能推导出任意主设备之间的硬件一致性。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