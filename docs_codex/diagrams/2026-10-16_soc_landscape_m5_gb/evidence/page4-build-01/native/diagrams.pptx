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0"/>
                </a:moveTo>
                <a:lnTo>
                  <a:pt x="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0"/>
                </a:moveTo>
                <a:lnTo>
                  <a:pt x="0" y="1185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1354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1185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0"/>
                </a:moveTo>
                <a:lnTo>
                  <a:pt x="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0"/>
                </a:moveTo>
                <a:lnTo>
                  <a:pt x="0" y="1185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35467"/>
          </a:xfrm>
          <a:custGeom>
            <a:avLst/>
            <a:gdLst/>
            <a:ahLst/>
            <a:cxnLst/>
            <a:rect l="0" t="0" r="r" b="b"/>
            <a:pathLst>
              <a:path w="1" h="135467" fill="none">
                <a:moveTo>
                  <a:pt x="0" y="0"/>
                </a:moveTo>
                <a:lnTo>
                  <a:pt x="0" y="135467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37200"/>
            <a:ext cx="1" cy="118533"/>
          </a:xfrm>
          <a:custGeom>
            <a:avLst/>
            <a:gdLst/>
            <a:ahLst/>
            <a:cxnLst/>
            <a:rect l="0" t="0" r="r" b="b"/>
            <a:pathLst>
              <a:path w="1" h="118533" fill="none">
                <a:moveTo>
                  <a:pt x="0" y="0"/>
                </a:moveTo>
                <a:lnTo>
                  <a:pt x="0" y="1185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77600" y="64262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41867" y="1412240"/>
                </a:lnTo>
                <a:lnTo>
                  <a:pt x="541867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2838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304800" y="4572000"/>
            <a:ext cx="5520267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215467"/>
            <a:ext cx="914400" cy="3217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215467"/>
            <a:ext cx="914400" cy="3217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215467"/>
            <a:ext cx="914400" cy="321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215467"/>
            <a:ext cx="1049867" cy="3217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508000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81173" y="6502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18157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4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5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6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7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38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39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0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1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2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3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4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5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6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7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48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49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0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1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2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3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4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5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6" name="badge-C10-text: C10"/>
          <p:cNvSpPr txBox="1"/>
          <p:nvPr/>
        </p:nvSpPr>
        <p:spPr>
          <a:xfrm>
            <a:off x="9168521" y="282895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7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58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59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0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1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2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3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4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5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6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7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68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69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0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1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2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3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4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5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6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7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78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79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0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1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2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3" name="regbus-t0: Regbus decode / demux · 32 bit"/>
          <p:cNvSpPr txBox="1"/>
          <p:nvPr/>
        </p:nvSpPr>
        <p:spPr>
          <a:xfrm>
            <a:off x="2192046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4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5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6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7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88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89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0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1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2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3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4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5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6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7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98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99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0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1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2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3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4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5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6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7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08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09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0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1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2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3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4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5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6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7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8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9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0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1" name="compressor-t0: 共享压缩器"/>
          <p:cNvSpPr txBox="1"/>
          <p:nvPr/>
        </p:nvSpPr>
        <p:spPr>
          <a:xfrm>
            <a:off x="6485467" y="5195485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422" name="compressor-t1: 写入 W ↓"/>
          <p:cNvSpPr txBox="1"/>
          <p:nvPr/>
        </p:nvSpPr>
        <p:spPr>
          <a:xfrm>
            <a:off x="6551687" y="5319302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3" name="compressor-t2: 无损 / 按块"/>
          <p:cNvSpPr txBox="1"/>
          <p:nvPr/>
        </p:nvSpPr>
        <p:spPr>
          <a:xfrm>
            <a:off x="6520860" y="542496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4" name="decompressor-t0: 共享解压器"/>
          <p:cNvSpPr txBox="1"/>
          <p:nvPr/>
        </p:nvSpPr>
        <p:spPr>
          <a:xfrm>
            <a:off x="7535333" y="5195485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425" name="decompressor-t1: 读返回 R ↑"/>
          <p:cNvSpPr txBox="1"/>
          <p:nvPr/>
        </p:nvSpPr>
        <p:spPr>
          <a:xfrm>
            <a:off x="7566340" y="5319302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6" name="decompressor-t2: 独立块解码"/>
          <p:cNvSpPr txBox="1"/>
          <p:nvPr/>
        </p:nvSpPr>
        <p:spPr>
          <a:xfrm>
            <a:off x="7575973" y="542496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7" name="plain-bypass-t0: 普通数据旁路"/>
          <p:cNvSpPr txBox="1"/>
          <p:nvPr/>
        </p:nvSpPr>
        <p:spPr>
          <a:xfrm>
            <a:off x="8534400" y="5195485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8" name="plain-bypass-t1: 未压缩区域"/>
          <p:cNvSpPr txBox="1"/>
          <p:nvPr/>
        </p:nvSpPr>
        <p:spPr>
          <a:xfrm>
            <a:off x="8625840" y="5319302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29" name="plain-bypass-t2: 读 / 写"/>
          <p:cNvSpPr txBox="1"/>
          <p:nvPr/>
        </p:nvSpPr>
        <p:spPr>
          <a:xfrm>
            <a:off x="8708647" y="5424966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0" name="metadata-t0: 块地址 / 元数据"/>
          <p:cNvSpPr txBox="1"/>
          <p:nvPr/>
        </p:nvSpPr>
        <p:spPr>
          <a:xfrm>
            <a:off x="9595149" y="5248317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1" name="metadata-t1: 格式 / 长度 / 状态"/>
          <p:cNvSpPr txBox="1"/>
          <p:nvPr/>
        </p:nvSpPr>
        <p:spPr>
          <a:xfrm>
            <a:off x="9600867" y="537213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2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3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4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5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6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7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8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9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0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1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2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3" name="ddr-phy-t0: DDR PHY"/>
          <p:cNvSpPr txBox="1"/>
          <p:nvPr/>
        </p:nvSpPr>
        <p:spPr>
          <a:xfrm>
            <a:off x="10785785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4" name="ddr-phy-t1: 训练 / 校准"/>
          <p:cNvSpPr txBox="1"/>
          <p:nvPr/>
        </p:nvSpPr>
        <p:spPr>
          <a:xfrm>
            <a:off x="10774918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5" name="badge-C3-text: C3"/>
          <p:cNvSpPr txBox="1"/>
          <p:nvPr/>
        </p:nvSpPr>
        <p:spPr>
          <a:xfrm>
            <a:off x="11092021" y="6493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6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7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8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49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0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1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2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3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4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5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6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7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58" name="legend-irq-b: 外部中断"/>
          <p:cNvSpPr txBox="1"/>
          <p:nvPr/>
        </p:nvSpPr>
        <p:spPr>
          <a:xfrm>
            <a:off x="11650133" y="4988831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459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0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