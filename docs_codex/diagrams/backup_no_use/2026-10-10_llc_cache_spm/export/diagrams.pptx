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53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53440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LLC 多路组相联 Cache 与按 way 切换 SPM"/>
          <p:cNvSpPr txBox="1"/>
          <p:nvPr/>
        </p:nvSpPr>
        <p:spPr>
          <a:xfrm>
            <a:off x="304800" y="150876"/>
            <a:ext cx="6211836" cy="4876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多路组相联 Cache 与按 way 切换 SPM</a:t>
            </a:r>
          </a:p>
        </p:txBody>
      </p:sp>
      <p:sp>
        <p:nvSpPr>
          <p:cNvPr id="4" name="text-003: 当前 DefaultCfg：8 way × 256 行/way × 8 个 64"/>
          <p:cNvSpPr txBox="1"/>
          <p:nvPr/>
        </p:nvSpPr>
        <p:spPr>
          <a:xfrm>
            <a:off x="304800" y="610819"/>
            <a:ext cx="742598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当前 DefaultCfg：8 way × 256 行/way × 8 个 64-bit 数据块/行 = 128 KiB；每 way 16 KiB</a:t>
            </a:r>
          </a:p>
        </p:txBody>
      </p:sp>
      <p:sp>
        <p:nvSpPr>
          <p:cNvPr id="5" name="rect-004"/>
          <p:cNvSpPr/>
          <p:nvPr/>
        </p:nvSpPr>
        <p:spPr>
          <a:xfrm>
            <a:off x="304800" y="1051560"/>
            <a:ext cx="7772400" cy="480060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8305800" y="1051560"/>
            <a:ext cx="4191000" cy="4800600"/>
          </a:xfrm>
          <a:prstGeom prst="roundRect">
            <a:avLst>
              <a:gd name="adj" fmla="val 2545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① 全 Cache：8 路组相联（CFG_SPM = 0x00）"/>
          <p:cNvSpPr txBox="1"/>
          <p:nvPr/>
        </p:nvSpPr>
        <p:spPr>
          <a:xfrm>
            <a:off x="518160" y="1125931"/>
            <a:ext cx="4808803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① 全 Cache：8 路组相联（CFG_SPM = 0x00）</a:t>
            </a:r>
          </a:p>
        </p:txBody>
      </p:sp>
      <p:sp>
        <p:nvSpPr>
          <p:cNvPr id="8" name="text-007: 每一组有 8 个候选缓存行；每单元上部是 Tag/V/D，下部是 64 B 数据"/>
          <p:cNvSpPr txBox="1"/>
          <p:nvPr/>
        </p:nvSpPr>
        <p:spPr>
          <a:xfrm>
            <a:off x="518160" y="1434998"/>
            <a:ext cx="51376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每一组有 8 个候选缓存行；每单元上部是 Tag/V/D，下部是 64 B 数据</a:t>
            </a:r>
          </a:p>
        </p:txBody>
      </p:sp>
      <p:sp>
        <p:nvSpPr>
          <p:cNvPr id="9" name="rect-008"/>
          <p:cNvSpPr/>
          <p:nvPr/>
        </p:nvSpPr>
        <p:spPr>
          <a:xfrm>
            <a:off x="518160" y="1752600"/>
            <a:ext cx="3048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Tag  [47:14]"/>
          <p:cNvSpPr txBox="1"/>
          <p:nvPr/>
        </p:nvSpPr>
        <p:spPr>
          <a:xfrm>
            <a:off x="1497532" y="1762049"/>
            <a:ext cx="108925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Tag  [47:14]</a:t>
            </a:r>
          </a:p>
        </p:txBody>
      </p:sp>
      <p:sp>
        <p:nvSpPr>
          <p:cNvPr id="11" name="text-010: 34 bit"/>
          <p:cNvSpPr txBox="1"/>
          <p:nvPr/>
        </p:nvSpPr>
        <p:spPr>
          <a:xfrm>
            <a:off x="1770983" y="1969618"/>
            <a:ext cx="542354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34 bit</a:t>
            </a:r>
          </a:p>
        </p:txBody>
      </p:sp>
      <p:sp>
        <p:nvSpPr>
          <p:cNvPr id="12" name="rect-011"/>
          <p:cNvSpPr/>
          <p:nvPr/>
        </p:nvSpPr>
        <p:spPr>
          <a:xfrm>
            <a:off x="3566160" y="1752600"/>
            <a:ext cx="1752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Set  [13:6]"/>
          <p:cNvSpPr txBox="1"/>
          <p:nvPr/>
        </p:nvSpPr>
        <p:spPr>
          <a:xfrm>
            <a:off x="3958239" y="1762049"/>
            <a:ext cx="96844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Set  [13:6]</a:t>
            </a:r>
          </a:p>
        </p:txBody>
      </p:sp>
      <p:sp>
        <p:nvSpPr>
          <p:cNvPr id="14" name="text-013: 8 bit → 256 组"/>
          <p:cNvSpPr txBox="1"/>
          <p:nvPr/>
        </p:nvSpPr>
        <p:spPr>
          <a:xfrm>
            <a:off x="3877342" y="1969618"/>
            <a:ext cx="1130236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bit → 256 组</a:t>
            </a:r>
          </a:p>
        </p:txBody>
      </p:sp>
      <p:sp>
        <p:nvSpPr>
          <p:cNvPr id="15" name="rect-014"/>
          <p:cNvSpPr/>
          <p:nvPr/>
        </p:nvSpPr>
        <p:spPr>
          <a:xfrm>
            <a:off x="5318760" y="1752600"/>
            <a:ext cx="13716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Block  [5:3]"/>
          <p:cNvSpPr txBox="1"/>
          <p:nvPr/>
        </p:nvSpPr>
        <p:spPr>
          <a:xfrm>
            <a:off x="5480804" y="1762049"/>
            <a:ext cx="1047512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Block  [5:3]</a:t>
            </a:r>
          </a:p>
        </p:txBody>
      </p:sp>
      <p:sp>
        <p:nvSpPr>
          <p:cNvPr id="17" name="text-016: 8 个数据块"/>
          <p:cNvSpPr txBox="1"/>
          <p:nvPr/>
        </p:nvSpPr>
        <p:spPr>
          <a:xfrm>
            <a:off x="5578739" y="1969618"/>
            <a:ext cx="851642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8 个数据块</a:t>
            </a:r>
          </a:p>
        </p:txBody>
      </p:sp>
      <p:sp>
        <p:nvSpPr>
          <p:cNvPr id="18" name="rect-017"/>
          <p:cNvSpPr/>
          <p:nvPr/>
        </p:nvSpPr>
        <p:spPr>
          <a:xfrm>
            <a:off x="6690360" y="1752600"/>
            <a:ext cx="1143000" cy="45720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Byte  [2:0]"/>
          <p:cNvSpPr txBox="1"/>
          <p:nvPr/>
        </p:nvSpPr>
        <p:spPr>
          <a:xfrm>
            <a:off x="6778663" y="1762049"/>
            <a:ext cx="96639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Byte  [2:0]</a:t>
            </a:r>
          </a:p>
        </p:txBody>
      </p:sp>
      <p:sp>
        <p:nvSpPr>
          <p:cNvPr id="20" name="text-019: 块内 8 字节"/>
          <p:cNvSpPr txBox="1"/>
          <p:nvPr/>
        </p:nvSpPr>
        <p:spPr>
          <a:xfrm>
            <a:off x="6814620" y="1969618"/>
            <a:ext cx="8944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块内 8 字节</a:t>
            </a:r>
          </a:p>
        </p:txBody>
      </p:sp>
      <p:sp>
        <p:nvSpPr>
          <p:cNvPr id="21" name="path-020"/>
          <p:cNvSpPr/>
          <p:nvPr/>
        </p:nvSpPr>
        <p:spPr>
          <a:xfrm>
            <a:off x="1143000" y="2209800"/>
            <a:ext cx="3299460" cy="1767840"/>
          </a:xfrm>
          <a:custGeom>
            <a:avLst/>
            <a:gdLst/>
            <a:ahLst/>
            <a:cxnLst/>
            <a:rect l="0" t="0" r="r" b="b"/>
            <a:pathLst>
              <a:path w="3299460" h="1767840">
                <a:moveTo>
                  <a:pt x="3299460" y="0"/>
                </a:moveTo>
                <a:lnTo>
                  <a:pt x="3299460" y="121920"/>
                </a:lnTo>
                <a:lnTo>
                  <a:pt x="0" y="121920"/>
                </a:lnTo>
                <a:lnTo>
                  <a:pt x="0" y="1767840"/>
                </a:lnTo>
                <a:lnTo>
                  <a:pt x="137160" y="1767840"/>
                </a:lnTo>
              </a:path>
            </a:pathLst>
          </a:custGeom>
          <a:noFill/>
          <a:ln w="2286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1280160" y="392430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B68A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Set 索引选中同一组，Tag 与各 way 元数据并行比较"/>
          <p:cNvSpPr txBox="1"/>
          <p:nvPr/>
        </p:nvSpPr>
        <p:spPr>
          <a:xfrm>
            <a:off x="1303020" y="2297278"/>
            <a:ext cx="350708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82601B"/>
                </a:solidFill>
                <a:latin typeface="Microsoft YaHei"/>
                <a:ea typeface="Microsoft YaHei"/>
                <a:cs typeface="Microsoft YaHei"/>
              </a:rPr>
              <a:t>Set 索引选中同一组，Tag 与各 way 元数据并行比较</a:t>
            </a:r>
          </a:p>
        </p:txBody>
      </p:sp>
      <p:sp>
        <p:nvSpPr>
          <p:cNvPr id="24" name="rect-023"/>
          <p:cNvSpPr/>
          <p:nvPr/>
        </p:nvSpPr>
        <p:spPr>
          <a:xfrm>
            <a:off x="13716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Way 0"/>
          <p:cNvSpPr txBox="1"/>
          <p:nvPr/>
        </p:nvSpPr>
        <p:spPr>
          <a:xfrm>
            <a:off x="142218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0</a:t>
            </a:r>
          </a:p>
        </p:txBody>
      </p:sp>
      <p:sp>
        <p:nvSpPr>
          <p:cNvPr id="26" name="rect-025"/>
          <p:cNvSpPr/>
          <p:nvPr/>
        </p:nvSpPr>
        <p:spPr>
          <a:xfrm>
            <a:off x="21793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Way 1"/>
          <p:cNvSpPr txBox="1"/>
          <p:nvPr/>
        </p:nvSpPr>
        <p:spPr>
          <a:xfrm>
            <a:off x="222990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1</a:t>
            </a:r>
          </a:p>
        </p:txBody>
      </p:sp>
      <p:sp>
        <p:nvSpPr>
          <p:cNvPr id="28" name="rect-027"/>
          <p:cNvSpPr/>
          <p:nvPr/>
        </p:nvSpPr>
        <p:spPr>
          <a:xfrm>
            <a:off x="29870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Way 2"/>
          <p:cNvSpPr txBox="1"/>
          <p:nvPr/>
        </p:nvSpPr>
        <p:spPr>
          <a:xfrm>
            <a:off x="303762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</a:t>
            </a:r>
          </a:p>
        </p:txBody>
      </p:sp>
      <p:sp>
        <p:nvSpPr>
          <p:cNvPr id="30" name="rect-029"/>
          <p:cNvSpPr/>
          <p:nvPr/>
        </p:nvSpPr>
        <p:spPr>
          <a:xfrm>
            <a:off x="379476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Way 3"/>
          <p:cNvSpPr txBox="1"/>
          <p:nvPr/>
        </p:nvSpPr>
        <p:spPr>
          <a:xfrm>
            <a:off x="384534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3</a:t>
            </a:r>
          </a:p>
        </p:txBody>
      </p:sp>
      <p:sp>
        <p:nvSpPr>
          <p:cNvPr id="32" name="rect-031"/>
          <p:cNvSpPr/>
          <p:nvPr/>
        </p:nvSpPr>
        <p:spPr>
          <a:xfrm>
            <a:off x="460248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Way 4"/>
          <p:cNvSpPr txBox="1"/>
          <p:nvPr/>
        </p:nvSpPr>
        <p:spPr>
          <a:xfrm>
            <a:off x="465306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4</a:t>
            </a:r>
          </a:p>
        </p:txBody>
      </p:sp>
      <p:sp>
        <p:nvSpPr>
          <p:cNvPr id="34" name="rect-033"/>
          <p:cNvSpPr/>
          <p:nvPr/>
        </p:nvSpPr>
        <p:spPr>
          <a:xfrm>
            <a:off x="541020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Way 5"/>
          <p:cNvSpPr txBox="1"/>
          <p:nvPr/>
        </p:nvSpPr>
        <p:spPr>
          <a:xfrm>
            <a:off x="546078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5</a:t>
            </a:r>
          </a:p>
        </p:txBody>
      </p:sp>
      <p:sp>
        <p:nvSpPr>
          <p:cNvPr id="36" name="rect-035"/>
          <p:cNvSpPr/>
          <p:nvPr/>
        </p:nvSpPr>
        <p:spPr>
          <a:xfrm>
            <a:off x="621792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Way 6"/>
          <p:cNvSpPr txBox="1"/>
          <p:nvPr/>
        </p:nvSpPr>
        <p:spPr>
          <a:xfrm>
            <a:off x="626850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6</a:t>
            </a:r>
          </a:p>
        </p:txBody>
      </p:sp>
      <p:sp>
        <p:nvSpPr>
          <p:cNvPr id="38" name="rect-037"/>
          <p:cNvSpPr/>
          <p:nvPr/>
        </p:nvSpPr>
        <p:spPr>
          <a:xfrm>
            <a:off x="7025640" y="2560320"/>
            <a:ext cx="762000" cy="26670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Way 7"/>
          <p:cNvSpPr txBox="1"/>
          <p:nvPr/>
        </p:nvSpPr>
        <p:spPr>
          <a:xfrm>
            <a:off x="7076224" y="2569769"/>
            <a:ext cx="66083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7</a:t>
            </a:r>
          </a:p>
        </p:txBody>
      </p:sp>
      <p:sp>
        <p:nvSpPr>
          <p:cNvPr id="40" name="rect-039"/>
          <p:cNvSpPr/>
          <p:nvPr/>
        </p:nvSpPr>
        <p:spPr>
          <a:xfrm>
            <a:off x="1295400" y="3726180"/>
            <a:ext cx="6583680" cy="502920"/>
          </a:xfrm>
          <a:prstGeom prst="roundRect">
            <a:avLst>
              <a:gd name="adj" fmla="val 7575"/>
            </a:avLst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组 0"/>
          <p:cNvSpPr txBox="1"/>
          <p:nvPr/>
        </p:nvSpPr>
        <p:spPr>
          <a:xfrm>
            <a:off x="609600" y="30117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0</a:t>
            </a:r>
          </a:p>
        </p:txBody>
      </p:sp>
      <p:sp>
        <p:nvSpPr>
          <p:cNvPr id="42" name="rect-041"/>
          <p:cNvSpPr/>
          <p:nvPr/>
        </p:nvSpPr>
        <p:spPr>
          <a:xfrm>
            <a:off x="137160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137160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T / V / D"/>
          <p:cNvSpPr txBox="1"/>
          <p:nvPr/>
        </p:nvSpPr>
        <p:spPr>
          <a:xfrm>
            <a:off x="140630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5" name="text-044: 64 B"/>
          <p:cNvSpPr txBox="1"/>
          <p:nvPr/>
        </p:nvSpPr>
        <p:spPr>
          <a:xfrm>
            <a:off x="152846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46" name="rect-045"/>
          <p:cNvSpPr/>
          <p:nvPr/>
        </p:nvSpPr>
        <p:spPr>
          <a:xfrm>
            <a:off x="217932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217932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T / V / D"/>
          <p:cNvSpPr txBox="1"/>
          <p:nvPr/>
        </p:nvSpPr>
        <p:spPr>
          <a:xfrm>
            <a:off x="221402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49" name="text-048: 64 B"/>
          <p:cNvSpPr txBox="1"/>
          <p:nvPr/>
        </p:nvSpPr>
        <p:spPr>
          <a:xfrm>
            <a:off x="233618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0" name="rect-049"/>
          <p:cNvSpPr/>
          <p:nvPr/>
        </p:nvSpPr>
        <p:spPr>
          <a:xfrm>
            <a:off x="298704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298704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T / V / D"/>
          <p:cNvSpPr txBox="1"/>
          <p:nvPr/>
        </p:nvSpPr>
        <p:spPr>
          <a:xfrm>
            <a:off x="302174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3" name="text-052: 64 B"/>
          <p:cNvSpPr txBox="1"/>
          <p:nvPr/>
        </p:nvSpPr>
        <p:spPr>
          <a:xfrm>
            <a:off x="314390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4" name="rect-053"/>
          <p:cNvSpPr/>
          <p:nvPr/>
        </p:nvSpPr>
        <p:spPr>
          <a:xfrm>
            <a:off x="379476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79476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T / V / D"/>
          <p:cNvSpPr txBox="1"/>
          <p:nvPr/>
        </p:nvSpPr>
        <p:spPr>
          <a:xfrm>
            <a:off x="382946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57" name="text-056: 64 B"/>
          <p:cNvSpPr txBox="1"/>
          <p:nvPr/>
        </p:nvSpPr>
        <p:spPr>
          <a:xfrm>
            <a:off x="395162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58" name="rect-057"/>
          <p:cNvSpPr/>
          <p:nvPr/>
        </p:nvSpPr>
        <p:spPr>
          <a:xfrm>
            <a:off x="460248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460248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T / V / D"/>
          <p:cNvSpPr txBox="1"/>
          <p:nvPr/>
        </p:nvSpPr>
        <p:spPr>
          <a:xfrm>
            <a:off x="463718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1" name="text-060: 64 B"/>
          <p:cNvSpPr txBox="1"/>
          <p:nvPr/>
        </p:nvSpPr>
        <p:spPr>
          <a:xfrm>
            <a:off x="475934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2" name="rect-061"/>
          <p:cNvSpPr/>
          <p:nvPr/>
        </p:nvSpPr>
        <p:spPr>
          <a:xfrm>
            <a:off x="541020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541020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T / V / D"/>
          <p:cNvSpPr txBox="1"/>
          <p:nvPr/>
        </p:nvSpPr>
        <p:spPr>
          <a:xfrm>
            <a:off x="544490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5" name="text-064: 64 B"/>
          <p:cNvSpPr txBox="1"/>
          <p:nvPr/>
        </p:nvSpPr>
        <p:spPr>
          <a:xfrm>
            <a:off x="556706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66" name="rect-065"/>
          <p:cNvSpPr/>
          <p:nvPr/>
        </p:nvSpPr>
        <p:spPr>
          <a:xfrm>
            <a:off x="621792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621792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T / V / D"/>
          <p:cNvSpPr txBox="1"/>
          <p:nvPr/>
        </p:nvSpPr>
        <p:spPr>
          <a:xfrm>
            <a:off x="625262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69" name="text-068: 64 B"/>
          <p:cNvSpPr txBox="1"/>
          <p:nvPr/>
        </p:nvSpPr>
        <p:spPr>
          <a:xfrm>
            <a:off x="637478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0" name="rect-069"/>
          <p:cNvSpPr/>
          <p:nvPr/>
        </p:nvSpPr>
        <p:spPr>
          <a:xfrm>
            <a:off x="7025640" y="29337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-070"/>
          <p:cNvSpPr/>
          <p:nvPr/>
        </p:nvSpPr>
        <p:spPr>
          <a:xfrm>
            <a:off x="7025640" y="31318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T / V / D"/>
          <p:cNvSpPr txBox="1"/>
          <p:nvPr/>
        </p:nvSpPr>
        <p:spPr>
          <a:xfrm>
            <a:off x="7060347" y="29379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3" name="text-072: 64 B"/>
          <p:cNvSpPr txBox="1"/>
          <p:nvPr/>
        </p:nvSpPr>
        <p:spPr>
          <a:xfrm>
            <a:off x="7182505" y="31354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4" name="text-073: 组 1"/>
          <p:cNvSpPr txBox="1"/>
          <p:nvPr/>
        </p:nvSpPr>
        <p:spPr>
          <a:xfrm>
            <a:off x="609600" y="3468929"/>
            <a:ext cx="48319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1</a:t>
            </a:r>
          </a:p>
        </p:txBody>
      </p:sp>
      <p:sp>
        <p:nvSpPr>
          <p:cNvPr id="75" name="rect-074"/>
          <p:cNvSpPr/>
          <p:nvPr/>
        </p:nvSpPr>
        <p:spPr>
          <a:xfrm>
            <a:off x="13716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5"/>
          <p:cNvSpPr/>
          <p:nvPr/>
        </p:nvSpPr>
        <p:spPr>
          <a:xfrm>
            <a:off x="13716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T / V / D"/>
          <p:cNvSpPr txBox="1"/>
          <p:nvPr/>
        </p:nvSpPr>
        <p:spPr>
          <a:xfrm>
            <a:off x="14063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78" name="text-077: 64 B"/>
          <p:cNvSpPr txBox="1"/>
          <p:nvPr/>
        </p:nvSpPr>
        <p:spPr>
          <a:xfrm>
            <a:off x="15284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79" name="rect-078"/>
          <p:cNvSpPr/>
          <p:nvPr/>
        </p:nvSpPr>
        <p:spPr>
          <a:xfrm>
            <a:off x="21793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21793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T / V / D"/>
          <p:cNvSpPr txBox="1"/>
          <p:nvPr/>
        </p:nvSpPr>
        <p:spPr>
          <a:xfrm>
            <a:off x="22140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2" name="text-081: 64 B"/>
          <p:cNvSpPr txBox="1"/>
          <p:nvPr/>
        </p:nvSpPr>
        <p:spPr>
          <a:xfrm>
            <a:off x="23361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3" name="rect-082"/>
          <p:cNvSpPr/>
          <p:nvPr/>
        </p:nvSpPr>
        <p:spPr>
          <a:xfrm>
            <a:off x="29870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29870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T / V / D"/>
          <p:cNvSpPr txBox="1"/>
          <p:nvPr/>
        </p:nvSpPr>
        <p:spPr>
          <a:xfrm>
            <a:off x="30217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86" name="text-085: 64 B"/>
          <p:cNvSpPr txBox="1"/>
          <p:nvPr/>
        </p:nvSpPr>
        <p:spPr>
          <a:xfrm>
            <a:off x="31439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87" name="rect-086"/>
          <p:cNvSpPr/>
          <p:nvPr/>
        </p:nvSpPr>
        <p:spPr>
          <a:xfrm>
            <a:off x="379476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87"/>
          <p:cNvSpPr/>
          <p:nvPr/>
        </p:nvSpPr>
        <p:spPr>
          <a:xfrm>
            <a:off x="379476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T / V / D"/>
          <p:cNvSpPr txBox="1"/>
          <p:nvPr/>
        </p:nvSpPr>
        <p:spPr>
          <a:xfrm>
            <a:off x="382946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0" name="text-089: 64 B"/>
          <p:cNvSpPr txBox="1"/>
          <p:nvPr/>
        </p:nvSpPr>
        <p:spPr>
          <a:xfrm>
            <a:off x="395162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1" name="rect-090"/>
          <p:cNvSpPr/>
          <p:nvPr/>
        </p:nvSpPr>
        <p:spPr>
          <a:xfrm>
            <a:off x="460248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-091"/>
          <p:cNvSpPr/>
          <p:nvPr/>
        </p:nvSpPr>
        <p:spPr>
          <a:xfrm>
            <a:off x="460248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T / V / D"/>
          <p:cNvSpPr txBox="1"/>
          <p:nvPr/>
        </p:nvSpPr>
        <p:spPr>
          <a:xfrm>
            <a:off x="463718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4" name="text-093: 64 B"/>
          <p:cNvSpPr txBox="1"/>
          <p:nvPr/>
        </p:nvSpPr>
        <p:spPr>
          <a:xfrm>
            <a:off x="475934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5" name="rect-094"/>
          <p:cNvSpPr/>
          <p:nvPr/>
        </p:nvSpPr>
        <p:spPr>
          <a:xfrm>
            <a:off x="541020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-095"/>
          <p:cNvSpPr/>
          <p:nvPr/>
        </p:nvSpPr>
        <p:spPr>
          <a:xfrm>
            <a:off x="541020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6: T / V / D"/>
          <p:cNvSpPr txBox="1"/>
          <p:nvPr/>
        </p:nvSpPr>
        <p:spPr>
          <a:xfrm>
            <a:off x="544490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98" name="text-097: 64 B"/>
          <p:cNvSpPr txBox="1"/>
          <p:nvPr/>
        </p:nvSpPr>
        <p:spPr>
          <a:xfrm>
            <a:off x="556706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99" name="rect-098"/>
          <p:cNvSpPr/>
          <p:nvPr/>
        </p:nvSpPr>
        <p:spPr>
          <a:xfrm>
            <a:off x="621792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-099"/>
          <p:cNvSpPr/>
          <p:nvPr/>
        </p:nvSpPr>
        <p:spPr>
          <a:xfrm>
            <a:off x="621792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-100: T / V / D"/>
          <p:cNvSpPr txBox="1"/>
          <p:nvPr/>
        </p:nvSpPr>
        <p:spPr>
          <a:xfrm>
            <a:off x="625262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2" name="text-101: 64 B"/>
          <p:cNvSpPr txBox="1"/>
          <p:nvPr/>
        </p:nvSpPr>
        <p:spPr>
          <a:xfrm>
            <a:off x="637478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3" name="rect-102"/>
          <p:cNvSpPr/>
          <p:nvPr/>
        </p:nvSpPr>
        <p:spPr>
          <a:xfrm>
            <a:off x="7025640" y="33909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-103"/>
          <p:cNvSpPr/>
          <p:nvPr/>
        </p:nvSpPr>
        <p:spPr>
          <a:xfrm>
            <a:off x="7025640" y="3589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T / V / D"/>
          <p:cNvSpPr txBox="1"/>
          <p:nvPr/>
        </p:nvSpPr>
        <p:spPr>
          <a:xfrm>
            <a:off x="7060347" y="3395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06" name="text-105: 64 B"/>
          <p:cNvSpPr txBox="1"/>
          <p:nvPr/>
        </p:nvSpPr>
        <p:spPr>
          <a:xfrm>
            <a:off x="7182505" y="3592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07" name="text-106: 组 42"/>
          <p:cNvSpPr txBox="1"/>
          <p:nvPr/>
        </p:nvSpPr>
        <p:spPr>
          <a:xfrm>
            <a:off x="609600" y="3849929"/>
            <a:ext cx="58150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42</a:t>
            </a:r>
          </a:p>
        </p:txBody>
      </p:sp>
      <p:sp>
        <p:nvSpPr>
          <p:cNvPr id="108" name="rect-107"/>
          <p:cNvSpPr/>
          <p:nvPr/>
        </p:nvSpPr>
        <p:spPr>
          <a:xfrm>
            <a:off x="13716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-108"/>
          <p:cNvSpPr/>
          <p:nvPr/>
        </p:nvSpPr>
        <p:spPr>
          <a:xfrm>
            <a:off x="13716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-109: T / V / D"/>
          <p:cNvSpPr txBox="1"/>
          <p:nvPr/>
        </p:nvSpPr>
        <p:spPr>
          <a:xfrm>
            <a:off x="14063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1" name="text-110: 64 B"/>
          <p:cNvSpPr txBox="1"/>
          <p:nvPr/>
        </p:nvSpPr>
        <p:spPr>
          <a:xfrm>
            <a:off x="15284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2" name="rect-111"/>
          <p:cNvSpPr/>
          <p:nvPr/>
        </p:nvSpPr>
        <p:spPr>
          <a:xfrm>
            <a:off x="217932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-112"/>
          <p:cNvSpPr/>
          <p:nvPr/>
        </p:nvSpPr>
        <p:spPr>
          <a:xfrm>
            <a:off x="217932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-113: T / V / D"/>
          <p:cNvSpPr txBox="1"/>
          <p:nvPr/>
        </p:nvSpPr>
        <p:spPr>
          <a:xfrm>
            <a:off x="22140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5" name="text-114: 64 B"/>
          <p:cNvSpPr txBox="1"/>
          <p:nvPr/>
        </p:nvSpPr>
        <p:spPr>
          <a:xfrm>
            <a:off x="233618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16" name="rect-115"/>
          <p:cNvSpPr/>
          <p:nvPr/>
        </p:nvSpPr>
        <p:spPr>
          <a:xfrm>
            <a:off x="29870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-116"/>
          <p:cNvSpPr/>
          <p:nvPr/>
        </p:nvSpPr>
        <p:spPr>
          <a:xfrm>
            <a:off x="29870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T / V / D"/>
          <p:cNvSpPr txBox="1"/>
          <p:nvPr/>
        </p:nvSpPr>
        <p:spPr>
          <a:xfrm>
            <a:off x="30217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19" name="text-118: 64 B"/>
          <p:cNvSpPr txBox="1"/>
          <p:nvPr/>
        </p:nvSpPr>
        <p:spPr>
          <a:xfrm>
            <a:off x="31439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0" name="rect-119"/>
          <p:cNvSpPr/>
          <p:nvPr/>
        </p:nvSpPr>
        <p:spPr>
          <a:xfrm>
            <a:off x="379476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-120"/>
          <p:cNvSpPr/>
          <p:nvPr/>
        </p:nvSpPr>
        <p:spPr>
          <a:xfrm>
            <a:off x="379476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-121: T / V / D"/>
          <p:cNvSpPr txBox="1"/>
          <p:nvPr/>
        </p:nvSpPr>
        <p:spPr>
          <a:xfrm>
            <a:off x="382946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3" name="text-122: 64 B"/>
          <p:cNvSpPr txBox="1"/>
          <p:nvPr/>
        </p:nvSpPr>
        <p:spPr>
          <a:xfrm>
            <a:off x="395162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4" name="rect-123"/>
          <p:cNvSpPr/>
          <p:nvPr/>
        </p:nvSpPr>
        <p:spPr>
          <a:xfrm>
            <a:off x="460248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-124"/>
          <p:cNvSpPr/>
          <p:nvPr/>
        </p:nvSpPr>
        <p:spPr>
          <a:xfrm>
            <a:off x="460248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-125: T / V / D"/>
          <p:cNvSpPr txBox="1"/>
          <p:nvPr/>
        </p:nvSpPr>
        <p:spPr>
          <a:xfrm>
            <a:off x="463718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27" name="text-126: 64 B"/>
          <p:cNvSpPr txBox="1"/>
          <p:nvPr/>
        </p:nvSpPr>
        <p:spPr>
          <a:xfrm>
            <a:off x="475934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28" name="rect-127"/>
          <p:cNvSpPr/>
          <p:nvPr/>
        </p:nvSpPr>
        <p:spPr>
          <a:xfrm>
            <a:off x="541020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541020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T / V / D"/>
          <p:cNvSpPr txBox="1"/>
          <p:nvPr/>
        </p:nvSpPr>
        <p:spPr>
          <a:xfrm>
            <a:off x="544490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1" name="text-130: 64 B"/>
          <p:cNvSpPr txBox="1"/>
          <p:nvPr/>
        </p:nvSpPr>
        <p:spPr>
          <a:xfrm>
            <a:off x="556706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2" name="rect-131"/>
          <p:cNvSpPr/>
          <p:nvPr/>
        </p:nvSpPr>
        <p:spPr>
          <a:xfrm>
            <a:off x="6217920" y="3771900"/>
            <a:ext cx="762000" cy="19812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6217920" y="3970020"/>
            <a:ext cx="762000" cy="213360"/>
          </a:xfrm>
          <a:prstGeom prst="rect">
            <a:avLst/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T / V / D"/>
          <p:cNvSpPr txBox="1"/>
          <p:nvPr/>
        </p:nvSpPr>
        <p:spPr>
          <a:xfrm>
            <a:off x="625262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5" name="text-134: 64 B"/>
          <p:cNvSpPr txBox="1"/>
          <p:nvPr/>
        </p:nvSpPr>
        <p:spPr>
          <a:xfrm>
            <a:off x="637478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36" name="rect-135"/>
          <p:cNvSpPr/>
          <p:nvPr/>
        </p:nvSpPr>
        <p:spPr>
          <a:xfrm>
            <a:off x="7025640" y="3771900"/>
            <a:ext cx="762000" cy="198120"/>
          </a:xfrm>
          <a:prstGeom prst="rect">
            <a:avLst/>
          </a:prstGeom>
          <a:solidFill>
            <a:srgbClr val="FFF3D9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7025640" y="39700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B68A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T / V / D"/>
          <p:cNvSpPr txBox="1"/>
          <p:nvPr/>
        </p:nvSpPr>
        <p:spPr>
          <a:xfrm>
            <a:off x="7060347" y="37761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39" name="text-138: 64 B"/>
          <p:cNvSpPr txBox="1"/>
          <p:nvPr/>
        </p:nvSpPr>
        <p:spPr>
          <a:xfrm>
            <a:off x="7182505" y="39736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0" name="text-139: 组 255"/>
          <p:cNvSpPr txBox="1"/>
          <p:nvPr/>
        </p:nvSpPr>
        <p:spPr>
          <a:xfrm>
            <a:off x="609600" y="4764329"/>
            <a:ext cx="67981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组 255</a:t>
            </a:r>
          </a:p>
        </p:txBody>
      </p:sp>
      <p:sp>
        <p:nvSpPr>
          <p:cNvPr id="141" name="rect-140"/>
          <p:cNvSpPr/>
          <p:nvPr/>
        </p:nvSpPr>
        <p:spPr>
          <a:xfrm>
            <a:off x="13716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-141"/>
          <p:cNvSpPr/>
          <p:nvPr/>
        </p:nvSpPr>
        <p:spPr>
          <a:xfrm>
            <a:off x="13716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-142: T / V / D"/>
          <p:cNvSpPr txBox="1"/>
          <p:nvPr/>
        </p:nvSpPr>
        <p:spPr>
          <a:xfrm>
            <a:off x="14063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4" name="text-143: 64 B"/>
          <p:cNvSpPr txBox="1"/>
          <p:nvPr/>
        </p:nvSpPr>
        <p:spPr>
          <a:xfrm>
            <a:off x="15284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5" name="rect-144"/>
          <p:cNvSpPr/>
          <p:nvPr/>
        </p:nvSpPr>
        <p:spPr>
          <a:xfrm>
            <a:off x="21793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-145"/>
          <p:cNvSpPr/>
          <p:nvPr/>
        </p:nvSpPr>
        <p:spPr>
          <a:xfrm>
            <a:off x="21793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-146: T / V / D"/>
          <p:cNvSpPr txBox="1"/>
          <p:nvPr/>
        </p:nvSpPr>
        <p:spPr>
          <a:xfrm>
            <a:off x="22140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48" name="text-147: 64 B"/>
          <p:cNvSpPr txBox="1"/>
          <p:nvPr/>
        </p:nvSpPr>
        <p:spPr>
          <a:xfrm>
            <a:off x="23361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49" name="rect-148"/>
          <p:cNvSpPr/>
          <p:nvPr/>
        </p:nvSpPr>
        <p:spPr>
          <a:xfrm>
            <a:off x="29870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-149"/>
          <p:cNvSpPr/>
          <p:nvPr/>
        </p:nvSpPr>
        <p:spPr>
          <a:xfrm>
            <a:off x="29870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-150: T / V / D"/>
          <p:cNvSpPr txBox="1"/>
          <p:nvPr/>
        </p:nvSpPr>
        <p:spPr>
          <a:xfrm>
            <a:off x="30217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2" name="text-151: 64 B"/>
          <p:cNvSpPr txBox="1"/>
          <p:nvPr/>
        </p:nvSpPr>
        <p:spPr>
          <a:xfrm>
            <a:off x="31439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3" name="rect-152"/>
          <p:cNvSpPr/>
          <p:nvPr/>
        </p:nvSpPr>
        <p:spPr>
          <a:xfrm>
            <a:off x="379476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-153"/>
          <p:cNvSpPr/>
          <p:nvPr/>
        </p:nvSpPr>
        <p:spPr>
          <a:xfrm>
            <a:off x="379476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4: T / V / D"/>
          <p:cNvSpPr txBox="1"/>
          <p:nvPr/>
        </p:nvSpPr>
        <p:spPr>
          <a:xfrm>
            <a:off x="382946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56" name="text-155: 64 B"/>
          <p:cNvSpPr txBox="1"/>
          <p:nvPr/>
        </p:nvSpPr>
        <p:spPr>
          <a:xfrm>
            <a:off x="395162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57" name="rect-156"/>
          <p:cNvSpPr/>
          <p:nvPr/>
        </p:nvSpPr>
        <p:spPr>
          <a:xfrm>
            <a:off x="460248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-157"/>
          <p:cNvSpPr/>
          <p:nvPr/>
        </p:nvSpPr>
        <p:spPr>
          <a:xfrm>
            <a:off x="460248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-158: T / V / D"/>
          <p:cNvSpPr txBox="1"/>
          <p:nvPr/>
        </p:nvSpPr>
        <p:spPr>
          <a:xfrm>
            <a:off x="463718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0" name="text-159: 64 B"/>
          <p:cNvSpPr txBox="1"/>
          <p:nvPr/>
        </p:nvSpPr>
        <p:spPr>
          <a:xfrm>
            <a:off x="475934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1" name="rect-160"/>
          <p:cNvSpPr/>
          <p:nvPr/>
        </p:nvSpPr>
        <p:spPr>
          <a:xfrm>
            <a:off x="541020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-161"/>
          <p:cNvSpPr/>
          <p:nvPr/>
        </p:nvSpPr>
        <p:spPr>
          <a:xfrm>
            <a:off x="541020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-162: T / V / D"/>
          <p:cNvSpPr txBox="1"/>
          <p:nvPr/>
        </p:nvSpPr>
        <p:spPr>
          <a:xfrm>
            <a:off x="544490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4" name="text-163: 64 B"/>
          <p:cNvSpPr txBox="1"/>
          <p:nvPr/>
        </p:nvSpPr>
        <p:spPr>
          <a:xfrm>
            <a:off x="556706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5" name="rect-164"/>
          <p:cNvSpPr/>
          <p:nvPr/>
        </p:nvSpPr>
        <p:spPr>
          <a:xfrm>
            <a:off x="621792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-165"/>
          <p:cNvSpPr/>
          <p:nvPr/>
        </p:nvSpPr>
        <p:spPr>
          <a:xfrm>
            <a:off x="621792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-166: T / V / D"/>
          <p:cNvSpPr txBox="1"/>
          <p:nvPr/>
        </p:nvSpPr>
        <p:spPr>
          <a:xfrm>
            <a:off x="625262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68" name="text-167: 64 B"/>
          <p:cNvSpPr txBox="1"/>
          <p:nvPr/>
        </p:nvSpPr>
        <p:spPr>
          <a:xfrm>
            <a:off x="637478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69" name="rect-168"/>
          <p:cNvSpPr/>
          <p:nvPr/>
        </p:nvSpPr>
        <p:spPr>
          <a:xfrm>
            <a:off x="7025640" y="4686300"/>
            <a:ext cx="762000" cy="198120"/>
          </a:xfrm>
          <a:prstGeom prst="rect">
            <a:avLst/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-169"/>
          <p:cNvSpPr/>
          <p:nvPr/>
        </p:nvSpPr>
        <p:spPr>
          <a:xfrm>
            <a:off x="7025640" y="4884420"/>
            <a:ext cx="762000" cy="213360"/>
          </a:xfrm>
          <a:prstGeom prst="rect">
            <a:avLst/>
          </a:prstGeom>
          <a:solidFill>
            <a:srgbClr val="FFFFFF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-170: T / V / D"/>
          <p:cNvSpPr txBox="1"/>
          <p:nvPr/>
        </p:nvSpPr>
        <p:spPr>
          <a:xfrm>
            <a:off x="7060347" y="4690567"/>
            <a:ext cx="692587" cy="2194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T / V / D</a:t>
            </a:r>
          </a:p>
        </p:txBody>
      </p:sp>
      <p:sp>
        <p:nvSpPr>
          <p:cNvPr id="172" name="text-171: 64 B"/>
          <p:cNvSpPr txBox="1"/>
          <p:nvPr/>
        </p:nvSpPr>
        <p:spPr>
          <a:xfrm>
            <a:off x="7182505" y="4888078"/>
            <a:ext cx="448270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64 B</a:t>
            </a:r>
          </a:p>
        </p:txBody>
      </p:sp>
      <p:sp>
        <p:nvSpPr>
          <p:cNvPr id="173" name="text-172: ⋮"/>
          <p:cNvSpPr txBox="1"/>
          <p:nvPr/>
        </p:nvSpPr>
        <p:spPr>
          <a:xfrm>
            <a:off x="5093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4" name="text-173: ⋮"/>
          <p:cNvSpPr txBox="1"/>
          <p:nvPr/>
        </p:nvSpPr>
        <p:spPr>
          <a:xfrm>
            <a:off x="15456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5" name="text-174: ⋮"/>
          <p:cNvSpPr txBox="1"/>
          <p:nvPr/>
        </p:nvSpPr>
        <p:spPr>
          <a:xfrm>
            <a:off x="23533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6" name="text-175: ⋮"/>
          <p:cNvSpPr txBox="1"/>
          <p:nvPr/>
        </p:nvSpPr>
        <p:spPr>
          <a:xfrm>
            <a:off x="31611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7" name="text-176: ⋮"/>
          <p:cNvSpPr txBox="1"/>
          <p:nvPr/>
        </p:nvSpPr>
        <p:spPr>
          <a:xfrm>
            <a:off x="396882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8" name="text-177: ⋮"/>
          <p:cNvSpPr txBox="1"/>
          <p:nvPr/>
        </p:nvSpPr>
        <p:spPr>
          <a:xfrm>
            <a:off x="477654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79" name="text-178: ⋮"/>
          <p:cNvSpPr txBox="1"/>
          <p:nvPr/>
        </p:nvSpPr>
        <p:spPr>
          <a:xfrm>
            <a:off x="558426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0" name="text-179: ⋮"/>
          <p:cNvSpPr txBox="1"/>
          <p:nvPr/>
        </p:nvSpPr>
        <p:spPr>
          <a:xfrm>
            <a:off x="639198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1" name="text-180: ⋮"/>
          <p:cNvSpPr txBox="1"/>
          <p:nvPr/>
        </p:nvSpPr>
        <p:spPr>
          <a:xfrm>
            <a:off x="7199709" y="4232453"/>
            <a:ext cx="413861" cy="39014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82" name="text-181: 命中举例：组 42 的 Way 6；Way 由 Tag+Valid 命中结果选择"/>
          <p:cNvSpPr txBox="1"/>
          <p:nvPr/>
        </p:nvSpPr>
        <p:spPr>
          <a:xfrm>
            <a:off x="518160" y="5168798"/>
            <a:ext cx="62670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命中举例：组 42 的 Way 6；Way 由 Tag+Valid 命中结果选择，不是 Cache 地址字段</a:t>
            </a:r>
          </a:p>
        </p:txBody>
      </p:sp>
      <p:sp>
        <p:nvSpPr>
          <p:cNvPr id="183" name="text-182: 未命中：在 Cache way 中替换 / 回填；Dirty 决定是否向下游 D"/>
          <p:cNvSpPr txBox="1"/>
          <p:nvPr/>
        </p:nvSpPr>
        <p:spPr>
          <a:xfrm>
            <a:off x="518160" y="5397398"/>
            <a:ext cx="52953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未命中：在 Cache way 中替换 / 回填；Dirty 决定是否向下游 DDR 回写</a:t>
            </a:r>
          </a:p>
        </p:txBody>
      </p:sp>
      <p:sp>
        <p:nvSpPr>
          <p:cNvPr id="184" name="text-183: 图中为逻辑行对应关系；Tag SRAM 与 Data SRAM 是不同存储阵列。"/>
          <p:cNvSpPr txBox="1"/>
          <p:nvPr/>
        </p:nvSpPr>
        <p:spPr>
          <a:xfrm>
            <a:off x="518160" y="5604358"/>
            <a:ext cx="4660725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图中为逻辑行对应关系；Tag SRAM 与 Data SRAM 是不同存储阵列。</a:t>
            </a:r>
          </a:p>
        </p:txBody>
      </p:sp>
      <p:sp>
        <p:nvSpPr>
          <p:cNvPr id="185" name="text-184: ② 复用同一数据阵列：按整 way 分配"/>
          <p:cNvSpPr txBox="1"/>
          <p:nvPr/>
        </p:nvSpPr>
        <p:spPr>
          <a:xfrm>
            <a:off x="8519160" y="1142390"/>
            <a:ext cx="3518487" cy="3169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② 复用同一数据阵列：按整 way 分配</a:t>
            </a:r>
          </a:p>
        </p:txBody>
      </p:sp>
      <p:sp>
        <p:nvSpPr>
          <p:cNvPr id="186" name="text-185: 位图：1 = SPM（S），0 = Cache（C）"/>
          <p:cNvSpPr txBox="1"/>
          <p:nvPr/>
        </p:nvSpPr>
        <p:spPr>
          <a:xfrm>
            <a:off x="8519160" y="1434998"/>
            <a:ext cx="306572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位图：1 = SPM（S），0 = Cache（C）</a:t>
            </a:r>
          </a:p>
        </p:txBody>
      </p:sp>
      <p:sp>
        <p:nvSpPr>
          <p:cNvPr id="187" name="text-186: 全 Cache 0x00：128 KiB Cache"/>
          <p:cNvSpPr txBox="1"/>
          <p:nvPr/>
        </p:nvSpPr>
        <p:spPr>
          <a:xfrm>
            <a:off x="8519160" y="1709318"/>
            <a:ext cx="248834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全 Cache 0x00：128 KiB Cache</a:t>
            </a:r>
          </a:p>
        </p:txBody>
      </p:sp>
      <p:sp>
        <p:nvSpPr>
          <p:cNvPr id="188" name="rect-187"/>
          <p:cNvSpPr/>
          <p:nvPr/>
        </p:nvSpPr>
        <p:spPr>
          <a:xfrm>
            <a:off x="85191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-188: W0"/>
          <p:cNvSpPr txBox="1"/>
          <p:nvPr/>
        </p:nvSpPr>
        <p:spPr>
          <a:xfrm>
            <a:off x="85516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190" name="text-189: C"/>
          <p:cNvSpPr txBox="1"/>
          <p:nvPr/>
        </p:nvSpPr>
        <p:spPr>
          <a:xfrm>
            <a:off x="860024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1" name="rect-190"/>
          <p:cNvSpPr/>
          <p:nvPr/>
        </p:nvSpPr>
        <p:spPr>
          <a:xfrm>
            <a:off x="89839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-191: W1"/>
          <p:cNvSpPr txBox="1"/>
          <p:nvPr/>
        </p:nvSpPr>
        <p:spPr>
          <a:xfrm>
            <a:off x="90164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193" name="text-192: C"/>
          <p:cNvSpPr txBox="1"/>
          <p:nvPr/>
        </p:nvSpPr>
        <p:spPr>
          <a:xfrm>
            <a:off x="906506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4" name="rect-193"/>
          <p:cNvSpPr/>
          <p:nvPr/>
        </p:nvSpPr>
        <p:spPr>
          <a:xfrm>
            <a:off x="94488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-194: W2"/>
          <p:cNvSpPr txBox="1"/>
          <p:nvPr/>
        </p:nvSpPr>
        <p:spPr>
          <a:xfrm>
            <a:off x="94812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196" name="text-195: C"/>
          <p:cNvSpPr txBox="1"/>
          <p:nvPr/>
        </p:nvSpPr>
        <p:spPr>
          <a:xfrm>
            <a:off x="952988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97" name="rect-196"/>
          <p:cNvSpPr/>
          <p:nvPr/>
        </p:nvSpPr>
        <p:spPr>
          <a:xfrm>
            <a:off x="991362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-197: W3"/>
          <p:cNvSpPr txBox="1"/>
          <p:nvPr/>
        </p:nvSpPr>
        <p:spPr>
          <a:xfrm>
            <a:off x="994609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199" name="text-198: C"/>
          <p:cNvSpPr txBox="1"/>
          <p:nvPr/>
        </p:nvSpPr>
        <p:spPr>
          <a:xfrm>
            <a:off x="999470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0" name="rect-199"/>
          <p:cNvSpPr/>
          <p:nvPr/>
        </p:nvSpPr>
        <p:spPr>
          <a:xfrm>
            <a:off x="1037844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-200: W4"/>
          <p:cNvSpPr txBox="1"/>
          <p:nvPr/>
        </p:nvSpPr>
        <p:spPr>
          <a:xfrm>
            <a:off x="1041091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02" name="text-201: C"/>
          <p:cNvSpPr txBox="1"/>
          <p:nvPr/>
        </p:nvSpPr>
        <p:spPr>
          <a:xfrm>
            <a:off x="1045952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3" name="rect-202"/>
          <p:cNvSpPr/>
          <p:nvPr/>
        </p:nvSpPr>
        <p:spPr>
          <a:xfrm>
            <a:off x="1084326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-203: W5"/>
          <p:cNvSpPr txBox="1"/>
          <p:nvPr/>
        </p:nvSpPr>
        <p:spPr>
          <a:xfrm>
            <a:off x="1087573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05" name="text-204: C"/>
          <p:cNvSpPr txBox="1"/>
          <p:nvPr/>
        </p:nvSpPr>
        <p:spPr>
          <a:xfrm>
            <a:off x="1092434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6" name="rect-205"/>
          <p:cNvSpPr/>
          <p:nvPr/>
        </p:nvSpPr>
        <p:spPr>
          <a:xfrm>
            <a:off x="1130808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-206: W6"/>
          <p:cNvSpPr txBox="1"/>
          <p:nvPr/>
        </p:nvSpPr>
        <p:spPr>
          <a:xfrm>
            <a:off x="1134055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08" name="text-207: C"/>
          <p:cNvSpPr txBox="1"/>
          <p:nvPr/>
        </p:nvSpPr>
        <p:spPr>
          <a:xfrm>
            <a:off x="1138916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09" name="rect-208"/>
          <p:cNvSpPr/>
          <p:nvPr/>
        </p:nvSpPr>
        <p:spPr>
          <a:xfrm>
            <a:off x="11772900" y="20574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-209: W7"/>
          <p:cNvSpPr txBox="1"/>
          <p:nvPr/>
        </p:nvSpPr>
        <p:spPr>
          <a:xfrm>
            <a:off x="11805374" y="20686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11" name="text-210: C"/>
          <p:cNvSpPr txBox="1"/>
          <p:nvPr/>
        </p:nvSpPr>
        <p:spPr>
          <a:xfrm>
            <a:off x="11853988" y="22268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12" name="text-211: 混合示例 0x0F：64 KiB SPM + 64 KiB Cache"/>
          <p:cNvSpPr txBox="1"/>
          <p:nvPr/>
        </p:nvSpPr>
        <p:spPr>
          <a:xfrm>
            <a:off x="8519160" y="2509418"/>
            <a:ext cx="344026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混合示例 0x0F：64 KiB SPM + 64 KiB Cache</a:t>
            </a:r>
          </a:p>
        </p:txBody>
      </p:sp>
      <p:sp>
        <p:nvSpPr>
          <p:cNvPr id="213" name="rect-212"/>
          <p:cNvSpPr/>
          <p:nvPr/>
        </p:nvSpPr>
        <p:spPr>
          <a:xfrm>
            <a:off x="85191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-213: W0"/>
          <p:cNvSpPr txBox="1"/>
          <p:nvPr/>
        </p:nvSpPr>
        <p:spPr>
          <a:xfrm>
            <a:off x="85516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15" name="text-214: S"/>
          <p:cNvSpPr txBox="1"/>
          <p:nvPr/>
        </p:nvSpPr>
        <p:spPr>
          <a:xfrm>
            <a:off x="860794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6" name="rect-215"/>
          <p:cNvSpPr/>
          <p:nvPr/>
        </p:nvSpPr>
        <p:spPr>
          <a:xfrm>
            <a:off x="89839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-216: W1"/>
          <p:cNvSpPr txBox="1"/>
          <p:nvPr/>
        </p:nvSpPr>
        <p:spPr>
          <a:xfrm>
            <a:off x="90164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18" name="text-217: S"/>
          <p:cNvSpPr txBox="1"/>
          <p:nvPr/>
        </p:nvSpPr>
        <p:spPr>
          <a:xfrm>
            <a:off x="907276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19" name="rect-218"/>
          <p:cNvSpPr/>
          <p:nvPr/>
        </p:nvSpPr>
        <p:spPr>
          <a:xfrm>
            <a:off x="94488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-219: W2"/>
          <p:cNvSpPr txBox="1"/>
          <p:nvPr/>
        </p:nvSpPr>
        <p:spPr>
          <a:xfrm>
            <a:off x="94812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21" name="text-220: S"/>
          <p:cNvSpPr txBox="1"/>
          <p:nvPr/>
        </p:nvSpPr>
        <p:spPr>
          <a:xfrm>
            <a:off x="953758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2" name="rect-221"/>
          <p:cNvSpPr/>
          <p:nvPr/>
        </p:nvSpPr>
        <p:spPr>
          <a:xfrm>
            <a:off x="991362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-222: W3"/>
          <p:cNvSpPr txBox="1"/>
          <p:nvPr/>
        </p:nvSpPr>
        <p:spPr>
          <a:xfrm>
            <a:off x="994609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24" name="text-223: S"/>
          <p:cNvSpPr txBox="1"/>
          <p:nvPr/>
        </p:nvSpPr>
        <p:spPr>
          <a:xfrm>
            <a:off x="10002405" y="30269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25" name="rect-224"/>
          <p:cNvSpPr/>
          <p:nvPr/>
        </p:nvSpPr>
        <p:spPr>
          <a:xfrm>
            <a:off x="1037844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-225: W4"/>
          <p:cNvSpPr txBox="1"/>
          <p:nvPr/>
        </p:nvSpPr>
        <p:spPr>
          <a:xfrm>
            <a:off x="1041091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27" name="text-226: C"/>
          <p:cNvSpPr txBox="1"/>
          <p:nvPr/>
        </p:nvSpPr>
        <p:spPr>
          <a:xfrm>
            <a:off x="1045952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28" name="rect-227"/>
          <p:cNvSpPr/>
          <p:nvPr/>
        </p:nvSpPr>
        <p:spPr>
          <a:xfrm>
            <a:off x="1084326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-228: W5"/>
          <p:cNvSpPr txBox="1"/>
          <p:nvPr/>
        </p:nvSpPr>
        <p:spPr>
          <a:xfrm>
            <a:off x="1087573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30" name="text-229: C"/>
          <p:cNvSpPr txBox="1"/>
          <p:nvPr/>
        </p:nvSpPr>
        <p:spPr>
          <a:xfrm>
            <a:off x="1092434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1" name="rect-230"/>
          <p:cNvSpPr/>
          <p:nvPr/>
        </p:nvSpPr>
        <p:spPr>
          <a:xfrm>
            <a:off x="1130808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text-231: W6"/>
          <p:cNvSpPr txBox="1"/>
          <p:nvPr/>
        </p:nvSpPr>
        <p:spPr>
          <a:xfrm>
            <a:off x="1134055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33" name="text-232: C"/>
          <p:cNvSpPr txBox="1"/>
          <p:nvPr/>
        </p:nvSpPr>
        <p:spPr>
          <a:xfrm>
            <a:off x="1138916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4" name="rect-233"/>
          <p:cNvSpPr/>
          <p:nvPr/>
        </p:nvSpPr>
        <p:spPr>
          <a:xfrm>
            <a:off x="11772900" y="28575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-234: W7"/>
          <p:cNvSpPr txBox="1"/>
          <p:nvPr/>
        </p:nvSpPr>
        <p:spPr>
          <a:xfrm>
            <a:off x="11805374" y="28687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36" name="text-235: C"/>
          <p:cNvSpPr txBox="1"/>
          <p:nvPr/>
        </p:nvSpPr>
        <p:spPr>
          <a:xfrm>
            <a:off x="11853988" y="3026969"/>
            <a:ext cx="279785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37" name="text-236: 启动全 SPM 0xFF：128 KiB SPM"/>
          <p:cNvSpPr txBox="1"/>
          <p:nvPr/>
        </p:nvSpPr>
        <p:spPr>
          <a:xfrm>
            <a:off x="8519160" y="3309518"/>
            <a:ext cx="255380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启动全 SPM 0xFF：128 KiB SPM</a:t>
            </a:r>
          </a:p>
        </p:txBody>
      </p:sp>
      <p:sp>
        <p:nvSpPr>
          <p:cNvPr id="238" name="rect-237"/>
          <p:cNvSpPr/>
          <p:nvPr/>
        </p:nvSpPr>
        <p:spPr>
          <a:xfrm>
            <a:off x="85191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-238: W0"/>
          <p:cNvSpPr txBox="1"/>
          <p:nvPr/>
        </p:nvSpPr>
        <p:spPr>
          <a:xfrm>
            <a:off x="85516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W0</a:t>
            </a:r>
          </a:p>
        </p:txBody>
      </p:sp>
      <p:sp>
        <p:nvSpPr>
          <p:cNvPr id="240" name="text-239: S"/>
          <p:cNvSpPr txBox="1"/>
          <p:nvPr/>
        </p:nvSpPr>
        <p:spPr>
          <a:xfrm>
            <a:off x="860794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1" name="rect-240"/>
          <p:cNvSpPr/>
          <p:nvPr/>
        </p:nvSpPr>
        <p:spPr>
          <a:xfrm>
            <a:off x="89839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-241: W1"/>
          <p:cNvSpPr txBox="1"/>
          <p:nvPr/>
        </p:nvSpPr>
        <p:spPr>
          <a:xfrm>
            <a:off x="90164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W1</a:t>
            </a:r>
          </a:p>
        </p:txBody>
      </p:sp>
      <p:sp>
        <p:nvSpPr>
          <p:cNvPr id="243" name="text-242: S"/>
          <p:cNvSpPr txBox="1"/>
          <p:nvPr/>
        </p:nvSpPr>
        <p:spPr>
          <a:xfrm>
            <a:off x="907276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4" name="rect-243"/>
          <p:cNvSpPr/>
          <p:nvPr/>
        </p:nvSpPr>
        <p:spPr>
          <a:xfrm>
            <a:off x="94488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-244: W2"/>
          <p:cNvSpPr txBox="1"/>
          <p:nvPr/>
        </p:nvSpPr>
        <p:spPr>
          <a:xfrm>
            <a:off x="94812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W2</a:t>
            </a:r>
          </a:p>
        </p:txBody>
      </p:sp>
      <p:sp>
        <p:nvSpPr>
          <p:cNvPr id="246" name="text-245: S"/>
          <p:cNvSpPr txBox="1"/>
          <p:nvPr/>
        </p:nvSpPr>
        <p:spPr>
          <a:xfrm>
            <a:off x="953758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47" name="rect-246"/>
          <p:cNvSpPr/>
          <p:nvPr/>
        </p:nvSpPr>
        <p:spPr>
          <a:xfrm>
            <a:off x="991362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-247: W3"/>
          <p:cNvSpPr txBox="1"/>
          <p:nvPr/>
        </p:nvSpPr>
        <p:spPr>
          <a:xfrm>
            <a:off x="994609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W3</a:t>
            </a:r>
          </a:p>
        </p:txBody>
      </p:sp>
      <p:sp>
        <p:nvSpPr>
          <p:cNvPr id="249" name="text-248: S"/>
          <p:cNvSpPr txBox="1"/>
          <p:nvPr/>
        </p:nvSpPr>
        <p:spPr>
          <a:xfrm>
            <a:off x="1000240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0" name="rect-249"/>
          <p:cNvSpPr/>
          <p:nvPr/>
        </p:nvSpPr>
        <p:spPr>
          <a:xfrm>
            <a:off x="1037844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-250: W4"/>
          <p:cNvSpPr txBox="1"/>
          <p:nvPr/>
        </p:nvSpPr>
        <p:spPr>
          <a:xfrm>
            <a:off x="1041091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W4</a:t>
            </a:r>
          </a:p>
        </p:txBody>
      </p:sp>
      <p:sp>
        <p:nvSpPr>
          <p:cNvPr id="252" name="text-251: S"/>
          <p:cNvSpPr txBox="1"/>
          <p:nvPr/>
        </p:nvSpPr>
        <p:spPr>
          <a:xfrm>
            <a:off x="1046722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3" name="rect-252"/>
          <p:cNvSpPr/>
          <p:nvPr/>
        </p:nvSpPr>
        <p:spPr>
          <a:xfrm>
            <a:off x="1084326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text-253: W5"/>
          <p:cNvSpPr txBox="1"/>
          <p:nvPr/>
        </p:nvSpPr>
        <p:spPr>
          <a:xfrm>
            <a:off x="1087573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W5</a:t>
            </a:r>
          </a:p>
        </p:txBody>
      </p:sp>
      <p:sp>
        <p:nvSpPr>
          <p:cNvPr id="255" name="text-254: S"/>
          <p:cNvSpPr txBox="1"/>
          <p:nvPr/>
        </p:nvSpPr>
        <p:spPr>
          <a:xfrm>
            <a:off x="1093204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6" name="rect-255"/>
          <p:cNvSpPr/>
          <p:nvPr/>
        </p:nvSpPr>
        <p:spPr>
          <a:xfrm>
            <a:off x="1130808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-256: W6"/>
          <p:cNvSpPr txBox="1"/>
          <p:nvPr/>
        </p:nvSpPr>
        <p:spPr>
          <a:xfrm>
            <a:off x="1134055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W6</a:t>
            </a:r>
          </a:p>
        </p:txBody>
      </p:sp>
      <p:sp>
        <p:nvSpPr>
          <p:cNvPr id="258" name="text-257: S"/>
          <p:cNvSpPr txBox="1"/>
          <p:nvPr/>
        </p:nvSpPr>
        <p:spPr>
          <a:xfrm>
            <a:off x="1139686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59" name="rect-258"/>
          <p:cNvSpPr/>
          <p:nvPr/>
        </p:nvSpPr>
        <p:spPr>
          <a:xfrm>
            <a:off x="11772900" y="3657600"/>
            <a:ext cx="441960" cy="411480"/>
          </a:xfrm>
          <a:prstGeom prst="roundRect">
            <a:avLst>
              <a:gd name="adj" fmla="val 9259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text-259: W7"/>
          <p:cNvSpPr txBox="1"/>
          <p:nvPr/>
        </p:nvSpPr>
        <p:spPr>
          <a:xfrm>
            <a:off x="11805374" y="3668878"/>
            <a:ext cx="377011" cy="2316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W7</a:t>
            </a:r>
          </a:p>
        </p:txBody>
      </p:sp>
      <p:sp>
        <p:nvSpPr>
          <p:cNvPr id="261" name="text-260: S"/>
          <p:cNvSpPr txBox="1"/>
          <p:nvPr/>
        </p:nvSpPr>
        <p:spPr>
          <a:xfrm>
            <a:off x="11861685" y="3827069"/>
            <a:ext cx="26439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</a:t>
            </a:r>
          </a:p>
        </p:txBody>
      </p:sp>
      <p:sp>
        <p:nvSpPr>
          <p:cNvPr id="262" name="text-261: SPM 固定映射：base + way × 0x4000"/>
          <p:cNvSpPr txBox="1"/>
          <p:nvPr/>
        </p:nvSpPr>
        <p:spPr>
          <a:xfrm>
            <a:off x="8519160" y="4223309"/>
            <a:ext cx="3125998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固定映射：base + way × 0x4000</a:t>
            </a:r>
          </a:p>
        </p:txBody>
      </p:sp>
      <p:sp>
        <p:nvSpPr>
          <p:cNvPr id="263" name="text-262: Way 2：0x10008000–0x1000BFFF"/>
          <p:cNvSpPr txBox="1"/>
          <p:nvPr/>
        </p:nvSpPr>
        <p:spPr>
          <a:xfrm>
            <a:off x="8519160" y="4460138"/>
            <a:ext cx="270870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Way 2：0x10008000–0x1000BFFF</a:t>
            </a:r>
          </a:p>
        </p:txBody>
      </p:sp>
      <p:sp>
        <p:nvSpPr>
          <p:cNvPr id="264" name="text-263: 地址 0x10008AAB → Way 2 / 组 42"/>
          <p:cNvSpPr txBox="1"/>
          <p:nvPr/>
        </p:nvSpPr>
        <p:spPr>
          <a:xfrm>
            <a:off x="8519160" y="4696358"/>
            <a:ext cx="278081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地址 0x10008AAB → Way 2 / 组 42</a:t>
            </a:r>
          </a:p>
        </p:txBody>
      </p:sp>
      <p:sp>
        <p:nvSpPr>
          <p:cNvPr id="265" name="text-264: 块 5 / 字节 3；直接寻址，不比较 Tag"/>
          <p:cNvSpPr txBox="1"/>
          <p:nvPr/>
        </p:nvSpPr>
        <p:spPr>
          <a:xfrm>
            <a:off x="8519160" y="4924958"/>
            <a:ext cx="283731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块 5 / 字节 3；直接寻址，不比较 Tag</a:t>
            </a:r>
          </a:p>
        </p:txBody>
      </p:sp>
      <p:sp>
        <p:nvSpPr>
          <p:cNvPr id="266" name="text-265: 未设为 SPM 的 way，其 SPM 槽访问报错"/>
          <p:cNvSpPr txBox="1"/>
          <p:nvPr/>
        </p:nvSpPr>
        <p:spPr>
          <a:xfrm>
            <a:off x="8519160" y="5199888"/>
            <a:ext cx="2999732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未设为 SPM 的 way，其 SPM 槽访问报错</a:t>
            </a:r>
          </a:p>
        </p:txBody>
      </p:sp>
      <p:sp>
        <p:nvSpPr>
          <p:cNvPr id="267" name="text-266: 用途改变不压缩地址槽；不是新增加一块 RAM"/>
          <p:cNvSpPr txBox="1"/>
          <p:nvPr/>
        </p:nvSpPr>
        <p:spPr>
          <a:xfrm>
            <a:off x="8519160" y="5428488"/>
            <a:ext cx="3296317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用途改变不压缩地址槽；不是新增加一块 RAM</a:t>
            </a:r>
          </a:p>
        </p:txBody>
      </p:sp>
      <p:sp>
        <p:nvSpPr>
          <p:cNvPr id="268" name="rect-267"/>
          <p:cNvSpPr/>
          <p:nvPr/>
        </p:nvSpPr>
        <p:spPr>
          <a:xfrm>
            <a:off x="304800" y="6057900"/>
            <a:ext cx="12192000" cy="1851660"/>
          </a:xfrm>
          <a:prstGeom prst="roundRect">
            <a:avLst>
              <a:gd name="adj" fmla="val 5761"/>
            </a:avLst>
          </a:prstGeom>
          <a:solidFill>
            <a:srgbClr val="F5F7FA"/>
          </a:solidFill>
          <a:ln w="15240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ext-268: ③ 转换控制：软件提出目标位图，LLC 硬件协调提交与所需刷新"/>
          <p:cNvSpPr txBox="1"/>
          <p:nvPr/>
        </p:nvSpPr>
        <p:spPr>
          <a:xfrm>
            <a:off x="518160" y="6139891"/>
            <a:ext cx="624131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③ 转换控制：软件提出目标位图，LLC 硬件协调提交与所需刷新</a:t>
            </a:r>
          </a:p>
        </p:txBody>
      </p:sp>
      <p:sp>
        <p:nvSpPr>
          <p:cNvPr id="270" name="rect-269"/>
          <p:cNvSpPr/>
          <p:nvPr/>
        </p:nvSpPr>
        <p:spPr>
          <a:xfrm>
            <a:off x="533400" y="6606540"/>
            <a:ext cx="2095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-270: 停止相关访问"/>
          <p:cNvSpPr txBox="1"/>
          <p:nvPr/>
        </p:nvSpPr>
        <p:spPr>
          <a:xfrm>
            <a:off x="994410" y="6646469"/>
            <a:ext cx="117348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停止相关访问</a:t>
            </a:r>
          </a:p>
        </p:txBody>
      </p:sp>
      <p:sp>
        <p:nvSpPr>
          <p:cNvPr id="272" name="text-271: 迁移代码 / 栈 / 保留数据"/>
          <p:cNvSpPr txBox="1"/>
          <p:nvPr/>
        </p:nvSpPr>
        <p:spPr>
          <a:xfrm>
            <a:off x="617982" y="6868058"/>
            <a:ext cx="19263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迁移代码 / 栈 / 保留数据</a:t>
            </a:r>
          </a:p>
        </p:txBody>
      </p:sp>
      <p:sp>
        <p:nvSpPr>
          <p:cNvPr id="273" name="text-272: 协调缓冲与在途事务"/>
          <p:cNvSpPr txBox="1"/>
          <p:nvPr/>
        </p:nvSpPr>
        <p:spPr>
          <a:xfrm>
            <a:off x="781050" y="708141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协调缓冲与在途事务</a:t>
            </a:r>
          </a:p>
        </p:txBody>
      </p:sp>
      <p:cxnSp>
        <p:nvCxnSpPr>
          <p:cNvPr id="274" name="line-273"/>
          <p:cNvCxnSpPr/>
          <p:nvPr/>
        </p:nvCxnSpPr>
        <p:spPr>
          <a:xfrm>
            <a:off x="26289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75" name="polygon-274"/>
          <p:cNvSpPr/>
          <p:nvPr/>
        </p:nvSpPr>
        <p:spPr>
          <a:xfrm>
            <a:off x="28803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-275"/>
          <p:cNvSpPr/>
          <p:nvPr/>
        </p:nvSpPr>
        <p:spPr>
          <a:xfrm>
            <a:off x="2971800" y="6606540"/>
            <a:ext cx="17145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-276: 写 CFG_SPM"/>
          <p:cNvSpPr txBox="1"/>
          <p:nvPr/>
        </p:nvSpPr>
        <p:spPr>
          <a:xfrm>
            <a:off x="3254550" y="6646469"/>
            <a:ext cx="114900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CFG_SPM</a:t>
            </a:r>
          </a:p>
        </p:txBody>
      </p:sp>
      <p:sp>
        <p:nvSpPr>
          <p:cNvPr id="278" name="text-277: 1 → SPM；0 → Cache"/>
          <p:cNvSpPr txBox="1"/>
          <p:nvPr/>
        </p:nvSpPr>
        <p:spPr>
          <a:xfrm>
            <a:off x="2914620" y="6868058"/>
            <a:ext cx="182886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1 → SPM；0 → Cache</a:t>
            </a:r>
          </a:p>
        </p:txBody>
      </p:sp>
      <p:cxnSp>
        <p:nvCxnSpPr>
          <p:cNvPr id="279" name="line-278"/>
          <p:cNvCxnSpPr/>
          <p:nvPr/>
        </p:nvCxnSpPr>
        <p:spPr>
          <a:xfrm>
            <a:off x="46863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80" name="polygon-279"/>
          <p:cNvSpPr/>
          <p:nvPr/>
        </p:nvSpPr>
        <p:spPr>
          <a:xfrm>
            <a:off x="49377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-280"/>
          <p:cNvSpPr/>
          <p:nvPr/>
        </p:nvSpPr>
        <p:spPr>
          <a:xfrm>
            <a:off x="5029200" y="6606540"/>
            <a:ext cx="18288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text-281: 写 COMMIT = 1"/>
          <p:cNvSpPr txBox="1"/>
          <p:nvPr/>
        </p:nvSpPr>
        <p:spPr>
          <a:xfrm>
            <a:off x="5230558" y="6646469"/>
            <a:ext cx="1426083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写 COMMIT = 1</a:t>
            </a:r>
          </a:p>
        </p:txBody>
      </p:sp>
      <p:sp>
        <p:nvSpPr>
          <p:cNvPr id="283" name="text-282: 发起配置提交"/>
          <p:cNvSpPr txBox="1"/>
          <p:nvPr/>
        </p:nvSpPr>
        <p:spPr>
          <a:xfrm>
            <a:off x="5383530" y="6868058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发起配置提交</a:t>
            </a:r>
          </a:p>
        </p:txBody>
      </p:sp>
      <p:cxnSp>
        <p:nvCxnSpPr>
          <p:cNvPr id="284" name="line-283"/>
          <p:cNvCxnSpPr/>
          <p:nvPr/>
        </p:nvCxnSpPr>
        <p:spPr>
          <a:xfrm>
            <a:off x="68580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85" name="polygon-284"/>
          <p:cNvSpPr/>
          <p:nvPr/>
        </p:nvSpPr>
        <p:spPr>
          <a:xfrm>
            <a:off x="71094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-285"/>
          <p:cNvSpPr/>
          <p:nvPr/>
        </p:nvSpPr>
        <p:spPr>
          <a:xfrm>
            <a:off x="7200900" y="6606540"/>
            <a:ext cx="2438400" cy="784860"/>
          </a:xfrm>
          <a:prstGeom prst="roundRect">
            <a:avLst>
              <a:gd name="adj" fmla="val 9708"/>
            </a:avLst>
          </a:prstGeom>
          <a:solidFill>
            <a:srgbClr val="E8F0FA"/>
          </a:solidFill>
          <a:ln w="15240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-286: LLC 配置 FSM"/>
          <p:cNvSpPr txBox="1"/>
          <p:nvPr/>
        </p:nvSpPr>
        <p:spPr>
          <a:xfrm>
            <a:off x="7806220" y="6646469"/>
            <a:ext cx="1227761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LLC 配置 FSM</a:t>
            </a:r>
          </a:p>
        </p:txBody>
      </p:sp>
      <p:sp>
        <p:nvSpPr>
          <p:cNvPr id="288" name="text-287: 等待 / 协调已有请求"/>
          <p:cNvSpPr txBox="1"/>
          <p:nvPr/>
        </p:nvSpPr>
        <p:spPr>
          <a:xfrm>
            <a:off x="7618476" y="6868058"/>
            <a:ext cx="160324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 / 协调已有请求</a:t>
            </a:r>
          </a:p>
        </p:txBody>
      </p:sp>
      <p:sp>
        <p:nvSpPr>
          <p:cNvPr id="289" name="text-288: 必要的 flush / Dirty 回写"/>
          <p:cNvSpPr txBox="1"/>
          <p:nvPr/>
        </p:nvSpPr>
        <p:spPr>
          <a:xfrm>
            <a:off x="7439073" y="7081418"/>
            <a:ext cx="1962055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必要的 flush / Dirty 回写</a:t>
            </a:r>
          </a:p>
        </p:txBody>
      </p:sp>
      <p:cxnSp>
        <p:nvCxnSpPr>
          <p:cNvPr id="290" name="line-289"/>
          <p:cNvCxnSpPr/>
          <p:nvPr/>
        </p:nvCxnSpPr>
        <p:spPr>
          <a:xfrm>
            <a:off x="9639300" y="6995160"/>
            <a:ext cx="251460" cy="0"/>
          </a:xfrm>
          <a:prstGeom prst="line">
            <a:avLst/>
          </a:prstGeom>
          <a:ln w="22860" cap="flat">
            <a:solidFill>
              <a:srgbClr val="34816B"/>
            </a:solidFill>
          </a:ln>
          <a:effectLst/>
        </p:spPr>
      </p:cxnSp>
      <p:sp>
        <p:nvSpPr>
          <p:cNvPr id="291" name="polygon-290"/>
          <p:cNvSpPr/>
          <p:nvPr/>
        </p:nvSpPr>
        <p:spPr>
          <a:xfrm>
            <a:off x="9890760" y="6941820"/>
            <a:ext cx="91440" cy="106680"/>
          </a:xfrm>
          <a:custGeom>
            <a:avLst/>
            <a:gdLst/>
            <a:ahLst/>
            <a:cxnLst/>
            <a:rect l="0" t="0" r="r" b="b"/>
            <a:pathLst>
              <a:path w="91440" h="106680">
                <a:moveTo>
                  <a:pt x="91440" y="53340"/>
                </a:moveTo>
                <a:lnTo>
                  <a:pt x="0" y="0"/>
                </a:lnTo>
                <a:lnTo>
                  <a:pt x="0" y="106680"/>
                </a:lnTo>
                <a:close/>
              </a:path>
            </a:pathLst>
          </a:custGeom>
          <a:solidFill>
            <a:srgbClr val="34816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-291"/>
          <p:cNvSpPr/>
          <p:nvPr/>
        </p:nvSpPr>
        <p:spPr>
          <a:xfrm>
            <a:off x="9982200" y="6606540"/>
            <a:ext cx="2209800" cy="784860"/>
          </a:xfrm>
          <a:prstGeom prst="roundRect">
            <a:avLst>
              <a:gd name="adj" fmla="val 9708"/>
            </a:avLst>
          </a:prstGeom>
          <a:solidFill>
            <a:srgbClr val="E6F4EE"/>
          </a:solidFill>
          <a:ln w="15240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-292: 按寄存器契约确认完成"/>
          <p:cNvSpPr txBox="1"/>
          <p:nvPr/>
        </p:nvSpPr>
        <p:spPr>
          <a:xfrm>
            <a:off x="10165080" y="6646469"/>
            <a:ext cx="1844040" cy="2682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按寄存器契约确认完成</a:t>
            </a:r>
          </a:p>
        </p:txBody>
      </p:sp>
      <p:sp>
        <p:nvSpPr>
          <p:cNvPr id="294" name="text-293: 恢复对新用途的访问"/>
          <p:cNvSpPr txBox="1"/>
          <p:nvPr/>
        </p:nvSpPr>
        <p:spPr>
          <a:xfrm>
            <a:off x="10287000" y="6868058"/>
            <a:ext cx="16002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恢复对新用途的访问</a:t>
            </a:r>
          </a:p>
        </p:txBody>
      </p:sp>
      <p:sp>
        <p:nvSpPr>
          <p:cNvPr id="295" name="text-294: SPM → Cache 前保存所需内容；转换不会自动把数据复制到另一块 RAM，"/>
          <p:cNvSpPr txBox="1"/>
          <p:nvPr/>
        </p:nvSpPr>
        <p:spPr>
          <a:xfrm>
            <a:off x="518160" y="7508138"/>
            <a:ext cx="805660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SPM → Cache 前保存所需内容；转换不会自动把数据复制到另一块 RAM，原 SPM 内容将失去固定驻留保证。</a:t>
            </a:r>
          </a:p>
        </p:txBody>
      </p:sp>
      <p:sp>
        <p:nvSpPr>
          <p:cNvPr id="296" name="text-295: 注意：SPM 绕过的是 LLC Tag 管理，不等于 CPU L1 一定不缓存；"/>
          <p:cNvSpPr txBox="1"/>
          <p:nvPr/>
        </p:nvSpPr>
        <p:spPr>
          <a:xfrm>
            <a:off x="304800" y="8004048"/>
            <a:ext cx="7393698" cy="2438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注意：SPM 绕过的是 LLC Tag 管理，不等于 CPU L1 一定不缓存；0x14000000 别名映射同一 SPM 阵列。</a:t>
            </a:r>
          </a:p>
        </p:txBody>
      </p:sp>
      <p:sp>
        <p:nvSpPr>
          <p:cNvPr id="297" name="text-296: 依据：cheshire_pkg / cheshire_soc；axi_llc_b"/>
          <p:cNvSpPr txBox="1"/>
          <p:nvPr/>
        </p:nvSpPr>
        <p:spPr>
          <a:xfrm>
            <a:off x="304800" y="8272577"/>
            <a:ext cx="8488751" cy="2072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依据：cheshire_pkg / cheshire_soc；axi_llc_burst_cutter / hit_miss / config；Boot ROM · HEAD 278434024 · 2026-10-10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