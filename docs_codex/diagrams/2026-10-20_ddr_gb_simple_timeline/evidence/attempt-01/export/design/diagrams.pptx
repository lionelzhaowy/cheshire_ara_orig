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801600" cy="72009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SoC v1：DDR–GB 数据路径与范围维护"/>
          <p:cNvSpPr txBox="1"/>
          <p:nvPr/>
        </p:nvSpPr>
        <p:spPr>
          <a:xfrm>
            <a:off x="200025" y="60488"/>
            <a:ext cx="2619346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v1：DDR–GB 数据路径与范围维护</a:t>
            </a:r>
          </a:p>
        </p:txBody>
      </p:sp>
      <p:sp>
        <p:nvSpPr>
          <p:cNvPr id="3" name="text-003: CPU / Ara2 共享 M5；F0–F3 共享压缩前端；控制箭头表示逻辑职责"/>
          <p:cNvSpPr txBox="1"/>
          <p:nvPr/>
        </p:nvSpPr>
        <p:spPr>
          <a:xfrm>
            <a:off x="200025" y="280355"/>
            <a:ext cx="3839261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CPU / Ara2 共享 M5；F0–F3 共享压缩前端；控制箭头表示逻辑职责，接口编码待实现。</a:t>
            </a:r>
          </a:p>
        </p:txBody>
      </p:sp>
      <p:sp>
        <p:nvSpPr>
          <p:cNvPr id="4" name="compute-region"/>
          <p:cNvSpPr/>
          <p:nvPr/>
        </p:nvSpPr>
        <p:spPr>
          <a:xfrm>
            <a:off x="240030" y="580072"/>
            <a:ext cx="3800475" cy="1920240"/>
          </a:xfrm>
          <a:prstGeom prst="rect">
            <a:avLst/>
          </a:prstGeom>
          <a:solidFill>
            <a:srgbClr val="FAF2F3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cpu"/>
          <p:cNvSpPr/>
          <p:nvPr/>
        </p:nvSpPr>
        <p:spPr>
          <a:xfrm>
            <a:off x="320040" y="720090"/>
            <a:ext cx="1440180" cy="480060"/>
          </a:xfrm>
          <a:prstGeom prst="rect">
            <a:avLst/>
          </a:prstGeom>
          <a:solidFill>
            <a:srgbClr val="F1D7D9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-006: CVA6 CPU"/>
          <p:cNvSpPr txBox="1"/>
          <p:nvPr/>
        </p:nvSpPr>
        <p:spPr>
          <a:xfrm>
            <a:off x="745468" y="815462"/>
            <a:ext cx="589324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CPU</a:t>
            </a:r>
          </a:p>
        </p:txBody>
      </p:sp>
      <p:sp>
        <p:nvSpPr>
          <p:cNvPr id="7" name="text-007: L1D / WT 写缓冲"/>
          <p:cNvSpPr txBox="1"/>
          <p:nvPr/>
        </p:nvSpPr>
        <p:spPr>
          <a:xfrm>
            <a:off x="632220" y="968441"/>
            <a:ext cx="815821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L1D / WT 写缓冲</a:t>
            </a:r>
          </a:p>
        </p:txBody>
      </p:sp>
      <p:sp>
        <p:nvSpPr>
          <p:cNvPr id="8" name="ara"/>
          <p:cNvSpPr/>
          <p:nvPr/>
        </p:nvSpPr>
        <p:spPr>
          <a:xfrm>
            <a:off x="2240280" y="720090"/>
            <a:ext cx="1440180" cy="480060"/>
          </a:xfrm>
          <a:prstGeom prst="rect">
            <a:avLst/>
          </a:prstGeom>
          <a:solidFill>
            <a:srgbClr val="F1D7D9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-009: Ara 2 lanes"/>
          <p:cNvSpPr txBox="1"/>
          <p:nvPr/>
        </p:nvSpPr>
        <p:spPr>
          <a:xfrm>
            <a:off x="2636698" y="815462"/>
            <a:ext cx="647343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2 lanes</a:t>
            </a:r>
          </a:p>
        </p:txBody>
      </p:sp>
      <p:sp>
        <p:nvSpPr>
          <p:cNvPr id="10" name="text-010: VLSU / AXI64"/>
          <p:cNvSpPr txBox="1"/>
          <p:nvPr/>
        </p:nvSpPr>
        <p:spPr>
          <a:xfrm>
            <a:off x="2624562" y="968441"/>
            <a:ext cx="671615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VLSU / AXI64</a:t>
            </a:r>
          </a:p>
        </p:txBody>
      </p:sp>
      <p:sp>
        <p:nvSpPr>
          <p:cNvPr id="11" name="filter"/>
          <p:cNvSpPr/>
          <p:nvPr/>
        </p:nvSpPr>
        <p:spPr>
          <a:xfrm>
            <a:off x="2240280" y="1400175"/>
            <a:ext cx="1440180" cy="320040"/>
          </a:xfrm>
          <a:prstGeom prst="rect">
            <a:avLst/>
          </a:prstGeom>
          <a:solidFill>
            <a:srgbClr val="F1D7D9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-012: 既有失效过滤 / 等宽转换"/>
          <p:cNvSpPr txBox="1"/>
          <p:nvPr/>
        </p:nvSpPr>
        <p:spPr>
          <a:xfrm>
            <a:off x="2305851" y="1483545"/>
            <a:ext cx="1309039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既有失效过滤 / 等宽转换</a:t>
            </a:r>
          </a:p>
        </p:txBody>
      </p:sp>
      <p:sp>
        <p:nvSpPr>
          <p:cNvPr id="13" name="xbar"/>
          <p:cNvSpPr/>
          <p:nvPr/>
        </p:nvSpPr>
        <p:spPr>
          <a:xfrm>
            <a:off x="320040" y="2000250"/>
            <a:ext cx="3600450" cy="360045"/>
          </a:xfrm>
          <a:prstGeom prst="rect">
            <a:avLst/>
          </a:prstGeom>
          <a:solidFill>
            <a:srgbClr val="F5E1C9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-014: 主 AXI Crossbar · 64 bit"/>
          <p:cNvSpPr txBox="1"/>
          <p:nvPr/>
        </p:nvSpPr>
        <p:spPr>
          <a:xfrm>
            <a:off x="1509573" y="2035614"/>
            <a:ext cx="1221384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 AXI Crossbar · 64 bit</a:t>
            </a:r>
          </a:p>
        </p:txBody>
      </p:sp>
      <p:sp>
        <p:nvSpPr>
          <p:cNvPr id="15" name="text-015: CPU / Ara 独立输入 · M2 主存 / M5 GB"/>
          <p:cNvSpPr txBox="1"/>
          <p:nvPr/>
        </p:nvSpPr>
        <p:spPr>
          <a:xfrm>
            <a:off x="1240358" y="2188594"/>
            <a:ext cx="1759814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独立输入 · M2 主存 / M5 GB</a:t>
            </a:r>
          </a:p>
        </p:txBody>
      </p:sp>
      <p:sp>
        <p:nvSpPr>
          <p:cNvPr id="16" name="llc"/>
          <p:cNvSpPr/>
          <p:nvPr/>
        </p:nvSpPr>
        <p:spPr>
          <a:xfrm>
            <a:off x="360045" y="2920365"/>
            <a:ext cx="1680210" cy="520065"/>
          </a:xfrm>
          <a:prstGeom prst="rect">
            <a:avLst/>
          </a:prstGeom>
          <a:solidFill>
            <a:srgbClr val="D8E8F4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-017: M2：原子适配 → LLC"/>
          <p:cNvSpPr txBox="1"/>
          <p:nvPr/>
        </p:nvSpPr>
        <p:spPr>
          <a:xfrm>
            <a:off x="625641" y="3035739"/>
            <a:ext cx="1149019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M2：原子适配 → LLC</a:t>
            </a:r>
          </a:p>
        </p:txBody>
      </p:sp>
      <p:sp>
        <p:nvSpPr>
          <p:cNvPr id="18" name="text-018: WB cache / 保留 SPM"/>
          <p:cNvSpPr txBox="1"/>
          <p:nvPr/>
        </p:nvSpPr>
        <p:spPr>
          <a:xfrm>
            <a:off x="684976" y="3188719"/>
            <a:ext cx="1030348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WB cache / 保留 SPM</a:t>
            </a:r>
          </a:p>
        </p:txBody>
      </p:sp>
      <p:sp>
        <p:nvSpPr>
          <p:cNvPr id="19" name="gb-region"/>
          <p:cNvSpPr/>
          <p:nvPr/>
        </p:nvSpPr>
        <p:spPr>
          <a:xfrm>
            <a:off x="4320540" y="580072"/>
            <a:ext cx="4080510" cy="2040255"/>
          </a:xfrm>
          <a:prstGeom prst="rect">
            <a:avLst/>
          </a:prstGeom>
          <a:solidFill>
            <a:srgbClr val="F0F8F5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npu"/>
          <p:cNvSpPr/>
          <p:nvPr/>
        </p:nvSpPr>
        <p:spPr>
          <a:xfrm>
            <a:off x="4480560" y="800100"/>
            <a:ext cx="1600200" cy="480060"/>
          </a:xfrm>
          <a:prstGeom prst="rect">
            <a:avLst/>
          </a:prstGeom>
          <a:solidFill>
            <a:srgbClr val="D9EEE8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021: NPU 计算"/>
          <p:cNvSpPr txBox="1"/>
          <p:nvPr/>
        </p:nvSpPr>
        <p:spPr>
          <a:xfrm>
            <a:off x="5002081" y="895472"/>
            <a:ext cx="557157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22" name="text-022: GB 操作数 / 结果"/>
          <p:cNvSpPr txBox="1"/>
          <p:nvPr/>
        </p:nvSpPr>
        <p:spPr>
          <a:xfrm>
            <a:off x="4863139" y="1048451"/>
            <a:ext cx="835042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操作数 / 结果</a:t>
            </a:r>
          </a:p>
        </p:txBody>
      </p:sp>
      <p:sp>
        <p:nvSpPr>
          <p:cNvPr id="23" name="mover"/>
          <p:cNvSpPr/>
          <p:nvPr/>
        </p:nvSpPr>
        <p:spPr>
          <a:xfrm>
            <a:off x="6680835" y="800100"/>
            <a:ext cx="1600200" cy="480060"/>
          </a:xfrm>
          <a:prstGeom prst="rect">
            <a:avLst/>
          </a:prstGeom>
          <a:solidFill>
            <a:srgbClr val="D9EEE8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-024: DDR ↔ GB 搬运器"/>
          <p:cNvSpPr txBox="1"/>
          <p:nvPr/>
        </p:nvSpPr>
        <p:spPr>
          <a:xfrm>
            <a:off x="6988642" y="895472"/>
            <a:ext cx="984586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搬运器</a:t>
            </a:r>
          </a:p>
        </p:txBody>
      </p:sp>
      <p:sp>
        <p:nvSpPr>
          <p:cNvPr id="25" name="text-025: GB 本地口 / F1 DDR 口"/>
          <p:cNvSpPr txBox="1"/>
          <p:nvPr/>
        </p:nvSpPr>
        <p:spPr>
          <a:xfrm>
            <a:off x="6937820" y="1048451"/>
            <a:ext cx="1086230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本地口 / F1 DDR 口</a:t>
            </a:r>
          </a:p>
        </p:txBody>
      </p:sp>
      <p:sp>
        <p:nvSpPr>
          <p:cNvPr id="26" name="adapter"/>
          <p:cNvSpPr/>
          <p:nvPr/>
        </p:nvSpPr>
        <p:spPr>
          <a:xfrm>
            <a:off x="4480560" y="2000250"/>
            <a:ext cx="1520190" cy="480060"/>
          </a:xfrm>
          <a:prstGeom prst="rect">
            <a:avLst/>
          </a:prstGeom>
          <a:solidFill>
            <a:srgbClr val="D9EEE8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-027: GB 共享访问适配"/>
          <p:cNvSpPr txBox="1"/>
          <p:nvPr/>
        </p:nvSpPr>
        <p:spPr>
          <a:xfrm>
            <a:off x="4777375" y="2095622"/>
            <a:ext cx="926560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共享访问适配</a:t>
            </a:r>
          </a:p>
        </p:txBody>
      </p:sp>
      <p:sp>
        <p:nvSpPr>
          <p:cNvPr id="28" name="text-028: 仲裁 / bank 冲突处理"/>
          <p:cNvSpPr txBox="1"/>
          <p:nvPr/>
        </p:nvSpPr>
        <p:spPr>
          <a:xfrm>
            <a:off x="4734857" y="2248601"/>
            <a:ext cx="1011595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仲裁 / bank 冲突处理</a:t>
            </a:r>
          </a:p>
        </p:txBody>
      </p:sp>
      <p:sp>
        <p:nvSpPr>
          <p:cNvPr id="29" name="gb"/>
          <p:cNvSpPr/>
          <p:nvPr/>
        </p:nvSpPr>
        <p:spPr>
          <a:xfrm>
            <a:off x="6400800" y="2000250"/>
            <a:ext cx="1560195" cy="480060"/>
          </a:xfrm>
          <a:prstGeom prst="rect">
            <a:avLst/>
          </a:prstGeom>
          <a:solidFill>
            <a:srgbClr val="D9EEE8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30: Global Buffer"/>
          <p:cNvSpPr txBox="1"/>
          <p:nvPr/>
        </p:nvSpPr>
        <p:spPr>
          <a:xfrm>
            <a:off x="6820621" y="2095622"/>
            <a:ext cx="720553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31" name="text-031: 独立 SRAM · 非缓存映射建议"/>
          <p:cNvSpPr txBox="1"/>
          <p:nvPr/>
        </p:nvSpPr>
        <p:spPr>
          <a:xfrm>
            <a:off x="6520534" y="2248601"/>
            <a:ext cx="1320728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非缓存映射建议</a:t>
            </a:r>
          </a:p>
        </p:txBody>
      </p:sp>
      <p:sp>
        <p:nvSpPr>
          <p:cNvPr id="32" name="isp"/>
          <p:cNvSpPr/>
          <p:nvPr/>
        </p:nvSpPr>
        <p:spPr>
          <a:xfrm>
            <a:off x="9001125" y="800100"/>
            <a:ext cx="1600200" cy="480060"/>
          </a:xfrm>
          <a:prstGeom prst="rect">
            <a:avLst/>
          </a:prstGeom>
          <a:solidFill>
            <a:srgbClr val="F5E1C9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-033: LVDS RX / ISP"/>
          <p:cNvSpPr txBox="1"/>
          <p:nvPr/>
        </p:nvSpPr>
        <p:spPr>
          <a:xfrm>
            <a:off x="9404078" y="895472"/>
            <a:ext cx="794293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RX / ISP</a:t>
            </a:r>
          </a:p>
        </p:txBody>
      </p:sp>
      <p:sp>
        <p:nvSpPr>
          <p:cNvPr id="34" name="text-034: RAW 或处理后像素"/>
          <p:cNvSpPr txBox="1"/>
          <p:nvPr/>
        </p:nvSpPr>
        <p:spPr>
          <a:xfrm>
            <a:off x="9354872" y="1048451"/>
            <a:ext cx="892705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或处理后像素</a:t>
            </a:r>
          </a:p>
        </p:txBody>
      </p:sp>
      <p:sp>
        <p:nvSpPr>
          <p:cNvPr id="35" name="frame"/>
          <p:cNvSpPr/>
          <p:nvPr/>
        </p:nvSpPr>
        <p:spPr>
          <a:xfrm>
            <a:off x="9001125" y="2000250"/>
            <a:ext cx="1600200" cy="480060"/>
          </a:xfrm>
          <a:prstGeom prst="rect">
            <a:avLst/>
          </a:prstGeom>
          <a:solidFill>
            <a:srgbClr val="F5E1C9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-036: 帧写入 DMA"/>
          <p:cNvSpPr txBox="1"/>
          <p:nvPr/>
        </p:nvSpPr>
        <p:spPr>
          <a:xfrm>
            <a:off x="9458935" y="2095622"/>
            <a:ext cx="684579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37" name="text-037: F2：AW / W，返回 B"/>
          <p:cNvSpPr txBox="1"/>
          <p:nvPr/>
        </p:nvSpPr>
        <p:spPr>
          <a:xfrm>
            <a:off x="9306022" y="2248601"/>
            <a:ext cx="990405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F2：AW / W，返回 B</a:t>
            </a:r>
          </a:p>
        </p:txBody>
      </p:sp>
      <p:sp>
        <p:nvSpPr>
          <p:cNvPr id="38" name="roi"/>
          <p:cNvSpPr/>
          <p:nvPr/>
        </p:nvSpPr>
        <p:spPr>
          <a:xfrm>
            <a:off x="11001375" y="2960370"/>
            <a:ext cx="1440180" cy="640080"/>
          </a:xfrm>
          <a:prstGeom prst="rect">
            <a:avLst/>
          </a:prstGeom>
          <a:solidFill>
            <a:srgbClr val="F5E1C9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39: ROI 调度 / 二维读 DMA"/>
          <p:cNvSpPr txBox="1"/>
          <p:nvPr/>
        </p:nvSpPr>
        <p:spPr>
          <a:xfrm>
            <a:off x="11111454" y="3067743"/>
            <a:ext cx="1220021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调度 / 二维读 DMA</a:t>
            </a:r>
          </a:p>
        </p:txBody>
      </p:sp>
      <p:sp>
        <p:nvSpPr>
          <p:cNvPr id="40" name="text-040: F3：AR，返回 R"/>
          <p:cNvSpPr txBox="1"/>
          <p:nvPr/>
        </p:nvSpPr>
        <p:spPr>
          <a:xfrm>
            <a:off x="11328932" y="3220723"/>
            <a:ext cx="785067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F3：AR，返回 R</a:t>
            </a:r>
          </a:p>
        </p:txBody>
      </p:sp>
      <p:sp>
        <p:nvSpPr>
          <p:cNvPr id="41" name="text-041: 源帧读完后交还"/>
          <p:cNvSpPr txBox="1"/>
          <p:nvPr/>
        </p:nvSpPr>
        <p:spPr>
          <a:xfrm>
            <a:off x="11337417" y="3360740"/>
            <a:ext cx="768096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源帧读完后交还</a:t>
            </a:r>
          </a:p>
        </p:txBody>
      </p:sp>
      <p:sp>
        <p:nvSpPr>
          <p:cNvPr id="42" name="tx"/>
          <p:cNvSpPr/>
          <p:nvPr/>
        </p:nvSpPr>
        <p:spPr>
          <a:xfrm>
            <a:off x="11001375" y="4400550"/>
            <a:ext cx="1440180" cy="480060"/>
          </a:xfrm>
          <a:prstGeom prst="rect">
            <a:avLst/>
          </a:prstGeom>
          <a:solidFill>
            <a:srgbClr val="F5E1C9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-043: 输出 FIFO / LVDS TX"/>
          <p:cNvSpPr txBox="1"/>
          <p:nvPr/>
        </p:nvSpPr>
        <p:spPr>
          <a:xfrm>
            <a:off x="11182810" y="4495922"/>
            <a:ext cx="1077310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输出 FIFO / LVDS TX</a:t>
            </a:r>
          </a:p>
        </p:txBody>
      </p:sp>
      <p:sp>
        <p:nvSpPr>
          <p:cNvPr id="44" name="text-044: 像素整理与发送"/>
          <p:cNvSpPr txBox="1"/>
          <p:nvPr/>
        </p:nvSpPr>
        <p:spPr>
          <a:xfrm>
            <a:off x="11337417" y="4648901"/>
            <a:ext cx="768096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像素整理与发送</a:t>
            </a:r>
          </a:p>
        </p:txBody>
      </p:sp>
      <p:sp>
        <p:nvSpPr>
          <p:cNvPr id="45" name="maint"/>
          <p:cNvSpPr/>
          <p:nvPr/>
        </p:nvSpPr>
        <p:spPr>
          <a:xfrm>
            <a:off x="3200400" y="2960370"/>
            <a:ext cx="3600450" cy="500062"/>
          </a:xfrm>
          <a:prstGeom prst="rect">
            <a:avLst/>
          </a:prstGeom>
          <a:solidFill>
            <a:srgbClr val="E8DFED"/>
          </a:solidFill>
          <a:ln w="6801" cap="flat">
            <a:solidFill>
              <a:srgbClr val="29292D"/>
            </a:solidFill>
            <a:custDash>
              <a:ds d="529412" sp="352941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6: 范围维护服务（逻辑职责）"/>
          <p:cNvSpPr txBox="1"/>
          <p:nvPr/>
        </p:nvSpPr>
        <p:spPr>
          <a:xfrm>
            <a:off x="4298537" y="3065743"/>
            <a:ext cx="1404176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范围维护服务（逻辑职责）</a:t>
            </a:r>
          </a:p>
        </p:txBody>
      </p:sp>
      <p:sp>
        <p:nvSpPr>
          <p:cNvPr id="47" name="text-047: 软件范围命令 · 排空 / clean / invalidate · 准入与完成"/>
          <p:cNvSpPr txBox="1"/>
          <p:nvPr/>
        </p:nvSpPr>
        <p:spPr>
          <a:xfrm>
            <a:off x="3828135" y="3218722"/>
            <a:ext cx="2344981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软件范围命令 · 排空 / clean / invalidate · 准入与完成</a:t>
            </a:r>
          </a:p>
        </p:txBody>
      </p:sp>
      <p:sp>
        <p:nvSpPr>
          <p:cNvPr id="48" name="frontend"/>
          <p:cNvSpPr/>
          <p:nvPr/>
        </p:nvSpPr>
        <p:spPr>
          <a:xfrm>
            <a:off x="2200275" y="4080510"/>
            <a:ext cx="8401050" cy="1280160"/>
          </a:xfrm>
          <a:prstGeom prst="rect">
            <a:avLst/>
          </a:prstGeom>
          <a:solidFill>
            <a:srgbClr val="D9EEE8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49: 共享压缩前端 · 四入口共享服务"/>
          <p:cNvSpPr txBox="1"/>
          <p:nvPr/>
        </p:nvSpPr>
        <p:spPr>
          <a:xfrm>
            <a:off x="5599400" y="4507923"/>
            <a:ext cx="1602800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共享压缩前端 · 四入口共享服务</a:t>
            </a:r>
          </a:p>
        </p:txBody>
      </p:sp>
      <p:sp>
        <p:nvSpPr>
          <p:cNvPr id="50" name="text-050: 逻辑地址映射 · 共享压缩 / 解压 · 普通区域旁路"/>
          <p:cNvSpPr txBox="1"/>
          <p:nvPr/>
        </p:nvSpPr>
        <p:spPr>
          <a:xfrm>
            <a:off x="5354419" y="4660903"/>
            <a:ext cx="2092762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逻辑地址映射 · 共享压缩 / 解压 · 普通区域旁路</a:t>
            </a:r>
          </a:p>
        </p:txBody>
      </p:sp>
      <p:sp>
        <p:nvSpPr>
          <p:cNvPr id="51" name="text-051: 数据与元数据发布 · 子事务错误聚合 · 读写响应匹配"/>
          <p:cNvSpPr txBox="1"/>
          <p:nvPr/>
        </p:nvSpPr>
        <p:spPr>
          <a:xfrm>
            <a:off x="5264127" y="4800920"/>
            <a:ext cx="2273347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数据与元数据发布 · 子事务错误聚合 · 读写响应匹配</a:t>
            </a:r>
          </a:p>
        </p:txBody>
      </p:sp>
      <p:sp>
        <p:nvSpPr>
          <p:cNvPr id="52" name="controller"/>
          <p:cNvSpPr/>
          <p:nvPr/>
        </p:nvSpPr>
        <p:spPr>
          <a:xfrm>
            <a:off x="2200275" y="5720715"/>
            <a:ext cx="8401050" cy="720090"/>
          </a:xfrm>
          <a:prstGeom prst="rect">
            <a:avLst/>
          </a:prstGeom>
          <a:solidFill>
            <a:srgbClr val="D8E8F4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-053: 一个 DDR Controller · 四个 AXI slave"/>
          <p:cNvSpPr txBox="1"/>
          <p:nvPr/>
        </p:nvSpPr>
        <p:spPr>
          <a:xfrm>
            <a:off x="5492277" y="5936102"/>
            <a:ext cx="1817046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一个 DDR Controller · 四个 AXI slave</a:t>
            </a:r>
          </a:p>
        </p:txBody>
      </p:sp>
      <p:sp>
        <p:nvSpPr>
          <p:cNvPr id="54" name="text-054: 四口仲裁 / 共享物理 DDR 带宽 · 排空与跨口可见性待契约确认"/>
          <p:cNvSpPr txBox="1"/>
          <p:nvPr/>
        </p:nvSpPr>
        <p:spPr>
          <a:xfrm>
            <a:off x="5032863" y="6089081"/>
            <a:ext cx="2735873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四口仲裁 / 共享物理 DDR 带宽 · 排空与跨口可见性待契约确认</a:t>
            </a:r>
          </a:p>
        </p:txBody>
      </p:sp>
      <p:sp>
        <p:nvSpPr>
          <p:cNvPr id="55" name="ddr"/>
          <p:cNvSpPr/>
          <p:nvPr/>
        </p:nvSpPr>
        <p:spPr>
          <a:xfrm>
            <a:off x="11001375" y="5880735"/>
            <a:ext cx="1440180" cy="480060"/>
          </a:xfrm>
          <a:prstGeom prst="rect">
            <a:avLst/>
          </a:prstGeom>
          <a:solidFill>
            <a:srgbClr val="D8E8F4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-056: DDR PHY / DDR"/>
          <p:cNvSpPr txBox="1"/>
          <p:nvPr/>
        </p:nvSpPr>
        <p:spPr>
          <a:xfrm>
            <a:off x="11285498" y="5976107"/>
            <a:ext cx="871934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 / DDR</a:t>
            </a:r>
          </a:p>
        </p:txBody>
      </p:sp>
      <p:sp>
        <p:nvSpPr>
          <p:cNvPr id="57" name="text-057: 片外存储"/>
          <p:cNvSpPr txBox="1"/>
          <p:nvPr/>
        </p:nvSpPr>
        <p:spPr>
          <a:xfrm>
            <a:off x="11481435" y="6129086"/>
            <a:ext cx="480060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片外存储</a:t>
            </a:r>
          </a:p>
        </p:txBody>
      </p:sp>
      <p:sp>
        <p:nvSpPr>
          <p:cNvPr id="58" name="cpu-xbar"/>
          <p:cNvSpPr/>
          <p:nvPr/>
        </p:nvSpPr>
        <p:spPr>
          <a:xfrm>
            <a:off x="1040130" y="1200150"/>
            <a:ext cx="1" cy="800100"/>
          </a:xfrm>
          <a:custGeom>
            <a:avLst/>
            <a:gdLst/>
            <a:ahLst/>
            <a:cxnLst/>
            <a:rect l="0" t="0" r="r" b="b"/>
            <a:pathLst>
              <a:path w="1" h="800100" fill="none">
                <a:moveTo>
                  <a:pt x="0" y="0"/>
                </a:moveTo>
                <a:lnTo>
                  <a:pt x="0" y="800100"/>
                </a:lnTo>
              </a:path>
            </a:pathLst>
          </a:custGeom>
          <a:noFill/>
          <a:ln w="1120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ara-filter"/>
          <p:cNvSpPr/>
          <p:nvPr/>
        </p:nvSpPr>
        <p:spPr>
          <a:xfrm>
            <a:off x="2960370" y="1200150"/>
            <a:ext cx="1" cy="200025"/>
          </a:xfrm>
          <a:custGeom>
            <a:avLst/>
            <a:gdLst/>
            <a:ahLst/>
            <a:cxnLst/>
            <a:rect l="0" t="0" r="r" b="b"/>
            <a:pathLst>
              <a:path w="1" h="200025" fill="none">
                <a:moveTo>
                  <a:pt x="0" y="0"/>
                </a:moveTo>
                <a:lnTo>
                  <a:pt x="0" y="200025"/>
                </a:lnTo>
              </a:path>
            </a:pathLst>
          </a:custGeom>
          <a:noFill/>
          <a:ln w="1120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filter-xbar"/>
          <p:cNvSpPr/>
          <p:nvPr/>
        </p:nvSpPr>
        <p:spPr>
          <a:xfrm>
            <a:off x="2960370" y="1720215"/>
            <a:ext cx="1" cy="280035"/>
          </a:xfrm>
          <a:custGeom>
            <a:avLst/>
            <a:gdLst/>
            <a:ahLst/>
            <a:cxnLst/>
            <a:rect l="0" t="0" r="r" b="b"/>
            <a:pathLst>
              <a:path w="1" h="280035" fill="none">
                <a:moveTo>
                  <a:pt x="0" y="0"/>
                </a:moveTo>
                <a:lnTo>
                  <a:pt x="0" y="280035"/>
                </a:lnTo>
              </a:path>
            </a:pathLst>
          </a:custGeom>
          <a:noFill/>
          <a:ln w="1120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m2-llc"/>
          <p:cNvSpPr/>
          <p:nvPr/>
        </p:nvSpPr>
        <p:spPr>
          <a:xfrm>
            <a:off x="1200150" y="2360295"/>
            <a:ext cx="1" cy="560070"/>
          </a:xfrm>
          <a:custGeom>
            <a:avLst/>
            <a:gdLst/>
            <a:ahLst/>
            <a:cxnLst/>
            <a:rect l="0" t="0" r="r" b="b"/>
            <a:pathLst>
              <a:path w="1" h="560070" fill="none">
                <a:moveTo>
                  <a:pt x="0" y="0"/>
                </a:moveTo>
                <a:lnTo>
                  <a:pt x="0" y="560070"/>
                </a:lnTo>
              </a:path>
            </a:pathLst>
          </a:custGeom>
          <a:noFill/>
          <a:ln w="1120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m5-gb"/>
          <p:cNvSpPr/>
          <p:nvPr/>
        </p:nvSpPr>
        <p:spPr>
          <a:xfrm>
            <a:off x="3920490" y="2180272"/>
            <a:ext cx="560070" cy="1"/>
          </a:xfrm>
          <a:custGeom>
            <a:avLst/>
            <a:gdLst/>
            <a:ahLst/>
            <a:cxnLst/>
            <a:rect l="0" t="0" r="r" b="b"/>
            <a:pathLst>
              <a:path w="560070" h="1" fill="none">
                <a:moveTo>
                  <a:pt x="0" y="0"/>
                </a:moveTo>
                <a:lnTo>
                  <a:pt x="560070" y="0"/>
                </a:lnTo>
              </a:path>
            </a:pathLst>
          </a:custGeom>
          <a:noFill/>
          <a:ln w="1120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ext-063: M5"/>
          <p:cNvSpPr txBox="1"/>
          <p:nvPr/>
        </p:nvSpPr>
        <p:spPr>
          <a:xfrm>
            <a:off x="4080510" y="1996570"/>
            <a:ext cx="232248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64" name="adapter-gb"/>
          <p:cNvSpPr/>
          <p:nvPr/>
        </p:nvSpPr>
        <p:spPr>
          <a:xfrm>
            <a:off x="6000750" y="2240280"/>
            <a:ext cx="400050" cy="1"/>
          </a:xfrm>
          <a:custGeom>
            <a:avLst/>
            <a:gdLst/>
            <a:ahLst/>
            <a:cxnLst/>
            <a:rect l="0" t="0" r="r" b="b"/>
            <a:pathLst>
              <a:path w="400050" h="1" fill="none">
                <a:moveTo>
                  <a:pt x="0" y="0"/>
                </a:moveTo>
                <a:lnTo>
                  <a:pt x="400050" y="0"/>
                </a:lnTo>
              </a:path>
            </a:pathLst>
          </a:custGeom>
          <a:noFill/>
          <a:ln w="11201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npu-gb"/>
          <p:cNvSpPr/>
          <p:nvPr/>
        </p:nvSpPr>
        <p:spPr>
          <a:xfrm>
            <a:off x="5280660" y="1280160"/>
            <a:ext cx="1" cy="720090"/>
          </a:xfrm>
          <a:custGeom>
            <a:avLst/>
            <a:gdLst/>
            <a:ahLst/>
            <a:cxnLst/>
            <a:rect l="0" t="0" r="r" b="b"/>
            <a:pathLst>
              <a:path w="1" h="720090" fill="none">
                <a:moveTo>
                  <a:pt x="0" y="0"/>
                </a:moveTo>
                <a:lnTo>
                  <a:pt x="0" y="720090"/>
                </a:lnTo>
              </a:path>
            </a:pathLst>
          </a:custGeom>
          <a:noFill/>
          <a:ln w="11201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mover-gb"/>
          <p:cNvSpPr/>
          <p:nvPr/>
        </p:nvSpPr>
        <p:spPr>
          <a:xfrm>
            <a:off x="5640705" y="1280160"/>
            <a:ext cx="1840230" cy="720090"/>
          </a:xfrm>
          <a:custGeom>
            <a:avLst/>
            <a:gdLst/>
            <a:ahLst/>
            <a:cxnLst/>
            <a:rect l="0" t="0" r="r" b="b"/>
            <a:pathLst>
              <a:path w="1840230" h="720090" fill="none">
                <a:moveTo>
                  <a:pt x="1840230" y="0"/>
                </a:moveTo>
                <a:lnTo>
                  <a:pt x="1840230" y="320040"/>
                </a:lnTo>
                <a:lnTo>
                  <a:pt x="0" y="320040"/>
                </a:lnTo>
                <a:lnTo>
                  <a:pt x="0" y="720090"/>
                </a:lnTo>
              </a:path>
            </a:pathLst>
          </a:custGeom>
          <a:noFill/>
          <a:ln w="11201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isp-gb"/>
          <p:cNvSpPr/>
          <p:nvPr/>
        </p:nvSpPr>
        <p:spPr>
          <a:xfrm>
            <a:off x="5800725" y="1040130"/>
            <a:ext cx="3200400" cy="1600200"/>
          </a:xfrm>
          <a:custGeom>
            <a:avLst/>
            <a:gdLst/>
            <a:ahLst/>
            <a:cxnLst/>
            <a:rect l="0" t="0" r="r" b="b"/>
            <a:pathLst>
              <a:path w="3200400" h="1600200" fill="none">
                <a:moveTo>
                  <a:pt x="3200400" y="0"/>
                </a:moveTo>
                <a:lnTo>
                  <a:pt x="2880360" y="0"/>
                </a:lnTo>
                <a:lnTo>
                  <a:pt x="2880360" y="1600200"/>
                </a:lnTo>
                <a:lnTo>
                  <a:pt x="0" y="1600200"/>
                </a:lnTo>
                <a:lnTo>
                  <a:pt x="0" y="1440180"/>
                </a:lnTo>
              </a:path>
            </a:pathLst>
          </a:custGeom>
          <a:noFill/>
          <a:ln w="11201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isp-frame"/>
          <p:cNvSpPr/>
          <p:nvPr/>
        </p:nvSpPr>
        <p:spPr>
          <a:xfrm>
            <a:off x="9801225" y="1280160"/>
            <a:ext cx="1" cy="720090"/>
          </a:xfrm>
          <a:custGeom>
            <a:avLst/>
            <a:gdLst/>
            <a:ahLst/>
            <a:cxnLst/>
            <a:rect l="0" t="0" r="r" b="b"/>
            <a:pathLst>
              <a:path w="1" h="720090" fill="none">
                <a:moveTo>
                  <a:pt x="0" y="0"/>
                </a:moveTo>
                <a:lnTo>
                  <a:pt x="0" y="720090"/>
                </a:lnTo>
              </a:path>
            </a:pathLst>
          </a:custGeom>
          <a:noFill/>
          <a:ln w="11201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llc-f0"/>
          <p:cNvSpPr/>
          <p:nvPr/>
        </p:nvSpPr>
        <p:spPr>
          <a:xfrm>
            <a:off x="2040255" y="3160395"/>
            <a:ext cx="680085" cy="920115"/>
          </a:xfrm>
          <a:custGeom>
            <a:avLst/>
            <a:gdLst/>
            <a:ahLst/>
            <a:cxnLst/>
            <a:rect l="0" t="0" r="r" b="b"/>
            <a:pathLst>
              <a:path w="680085" h="920115" fill="none">
                <a:moveTo>
                  <a:pt x="0" y="0"/>
                </a:moveTo>
                <a:lnTo>
                  <a:pt x="680085" y="0"/>
                </a:lnTo>
                <a:lnTo>
                  <a:pt x="680085" y="920115"/>
                </a:lnTo>
              </a:path>
            </a:pathLst>
          </a:custGeom>
          <a:noFill/>
          <a:ln w="1120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mover-f1"/>
          <p:cNvSpPr/>
          <p:nvPr/>
        </p:nvSpPr>
        <p:spPr>
          <a:xfrm>
            <a:off x="5120640" y="1040130"/>
            <a:ext cx="3355086" cy="3040380"/>
          </a:xfrm>
          <a:custGeom>
            <a:avLst/>
            <a:gdLst/>
            <a:ahLst/>
            <a:cxnLst/>
            <a:rect l="0" t="0" r="r" b="b"/>
            <a:pathLst>
              <a:path w="3355086" h="3040380" fill="none">
                <a:moveTo>
                  <a:pt x="3160395" y="0"/>
                </a:moveTo>
                <a:lnTo>
                  <a:pt x="3320415" y="0"/>
                </a:lnTo>
                <a:lnTo>
                  <a:pt x="3320415" y="1568196"/>
                </a:lnTo>
                <a:cubicBezTo>
                  <a:pt x="3355086" y="1589532"/>
                  <a:pt x="3355086" y="1610868"/>
                  <a:pt x="3320415" y="1632204"/>
                </a:cubicBezTo>
                <a:lnTo>
                  <a:pt x="3320415" y="2720340"/>
                </a:lnTo>
                <a:lnTo>
                  <a:pt x="0" y="2720340"/>
                </a:lnTo>
                <a:lnTo>
                  <a:pt x="0" y="3040380"/>
                </a:lnTo>
              </a:path>
            </a:pathLst>
          </a:custGeom>
          <a:noFill/>
          <a:ln w="1120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frame-f2"/>
          <p:cNvSpPr/>
          <p:nvPr/>
        </p:nvSpPr>
        <p:spPr>
          <a:xfrm>
            <a:off x="7520940" y="2480310"/>
            <a:ext cx="2280285" cy="1600200"/>
          </a:xfrm>
          <a:custGeom>
            <a:avLst/>
            <a:gdLst/>
            <a:ahLst/>
            <a:cxnLst/>
            <a:rect l="0" t="0" r="r" b="b"/>
            <a:pathLst>
              <a:path w="2280285" h="1600200" fill="none">
                <a:moveTo>
                  <a:pt x="2280285" y="0"/>
                </a:moveTo>
                <a:lnTo>
                  <a:pt x="2280285" y="1160145"/>
                </a:lnTo>
                <a:lnTo>
                  <a:pt x="952119" y="1160145"/>
                </a:lnTo>
                <a:cubicBezTo>
                  <a:pt x="930783" y="1125474"/>
                  <a:pt x="909447" y="1125474"/>
                  <a:pt x="888111" y="1160145"/>
                </a:cubicBezTo>
                <a:lnTo>
                  <a:pt x="0" y="1160145"/>
                </a:lnTo>
                <a:lnTo>
                  <a:pt x="0" y="1248156"/>
                </a:lnTo>
                <a:cubicBezTo>
                  <a:pt x="34671" y="1269492"/>
                  <a:pt x="34671" y="1290828"/>
                  <a:pt x="0" y="1312164"/>
                </a:cubicBezTo>
                <a:lnTo>
                  <a:pt x="0" y="1600200"/>
                </a:lnTo>
              </a:path>
            </a:pathLst>
          </a:custGeom>
          <a:noFill/>
          <a:ln w="1120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roi-f3"/>
          <p:cNvSpPr/>
          <p:nvPr/>
        </p:nvSpPr>
        <p:spPr>
          <a:xfrm>
            <a:off x="9921240" y="3200400"/>
            <a:ext cx="1080135" cy="880110"/>
          </a:xfrm>
          <a:custGeom>
            <a:avLst/>
            <a:gdLst/>
            <a:ahLst/>
            <a:cxnLst/>
            <a:rect l="0" t="0" r="r" b="b"/>
            <a:pathLst>
              <a:path w="1080135" h="880110" fill="none">
                <a:moveTo>
                  <a:pt x="1080135" y="0"/>
                </a:moveTo>
                <a:lnTo>
                  <a:pt x="800100" y="0"/>
                </a:lnTo>
                <a:lnTo>
                  <a:pt x="800100" y="680085"/>
                </a:lnTo>
                <a:lnTo>
                  <a:pt x="0" y="680085"/>
                </a:lnTo>
                <a:lnTo>
                  <a:pt x="0" y="880110"/>
                </a:lnTo>
              </a:path>
            </a:pathLst>
          </a:custGeom>
          <a:noFill/>
          <a:ln w="1120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roi-tx"/>
          <p:cNvSpPr/>
          <p:nvPr/>
        </p:nvSpPr>
        <p:spPr>
          <a:xfrm>
            <a:off x="11721465" y="3600450"/>
            <a:ext cx="1" cy="800100"/>
          </a:xfrm>
          <a:custGeom>
            <a:avLst/>
            <a:gdLst/>
            <a:ahLst/>
            <a:cxnLst/>
            <a:rect l="0" t="0" r="r" b="b"/>
            <a:pathLst>
              <a:path w="1" h="800100" fill="none">
                <a:moveTo>
                  <a:pt x="0" y="0"/>
                </a:moveTo>
                <a:lnTo>
                  <a:pt x="0" y="800100"/>
                </a:lnTo>
              </a:path>
            </a:pathLst>
          </a:custGeom>
          <a:noFill/>
          <a:ln w="11201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f0"/>
          <p:cNvSpPr/>
          <p:nvPr/>
        </p:nvSpPr>
        <p:spPr>
          <a:xfrm>
            <a:off x="2260282" y="4080510"/>
            <a:ext cx="920115" cy="220028"/>
          </a:xfrm>
          <a:prstGeom prst="rect">
            <a:avLst/>
          </a:prstGeom>
          <a:solidFill>
            <a:srgbClr val="D8E8F4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text-075: F0 · LLC"/>
          <p:cNvSpPr txBox="1"/>
          <p:nvPr/>
        </p:nvSpPr>
        <p:spPr>
          <a:xfrm>
            <a:off x="2475303" y="4113874"/>
            <a:ext cx="490074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F0 · LLC</a:t>
            </a:r>
          </a:p>
        </p:txBody>
      </p:sp>
      <p:sp>
        <p:nvSpPr>
          <p:cNvPr id="76" name="ddr-port0"/>
          <p:cNvSpPr/>
          <p:nvPr/>
        </p:nvSpPr>
        <p:spPr>
          <a:xfrm>
            <a:off x="2720340" y="5360670"/>
            <a:ext cx="1" cy="360045"/>
          </a:xfrm>
          <a:custGeom>
            <a:avLst/>
            <a:gdLst/>
            <a:ahLst/>
            <a:cxnLst/>
            <a:rect l="0" t="0" r="r" b="b"/>
            <a:pathLst>
              <a:path w="1" h="360045" fill="none">
                <a:moveTo>
                  <a:pt x="0" y="0"/>
                </a:moveTo>
                <a:lnTo>
                  <a:pt x="0" y="360045"/>
                </a:lnTo>
              </a:path>
            </a:pathLst>
          </a:custGeom>
          <a:noFill/>
          <a:ln w="1120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s0"/>
          <p:cNvSpPr/>
          <p:nvPr/>
        </p:nvSpPr>
        <p:spPr>
          <a:xfrm>
            <a:off x="2260282" y="5720715"/>
            <a:ext cx="920115" cy="200025"/>
          </a:xfrm>
          <a:prstGeom prst="rect">
            <a:avLst/>
          </a:prstGeom>
          <a:solidFill>
            <a:srgbClr val="D8E8F4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text-078: DDR.S0"/>
          <p:cNvSpPr txBox="1"/>
          <p:nvPr/>
        </p:nvSpPr>
        <p:spPr>
          <a:xfrm>
            <a:off x="2479679" y="5744078"/>
            <a:ext cx="481323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DDR.S0</a:t>
            </a:r>
          </a:p>
        </p:txBody>
      </p:sp>
      <p:sp>
        <p:nvSpPr>
          <p:cNvPr id="79" name="f1"/>
          <p:cNvSpPr/>
          <p:nvPr/>
        </p:nvSpPr>
        <p:spPr>
          <a:xfrm>
            <a:off x="4660582" y="4080510"/>
            <a:ext cx="920115" cy="220028"/>
          </a:xfrm>
          <a:prstGeom prst="rect">
            <a:avLst/>
          </a:prstGeom>
          <a:solidFill>
            <a:srgbClr val="D8E8F4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text-080: F1 · GB 搬运"/>
          <p:cNvSpPr txBox="1"/>
          <p:nvPr/>
        </p:nvSpPr>
        <p:spPr>
          <a:xfrm>
            <a:off x="4769802" y="4113874"/>
            <a:ext cx="701675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F1 · GB 搬运</a:t>
            </a:r>
          </a:p>
        </p:txBody>
      </p:sp>
      <p:sp>
        <p:nvSpPr>
          <p:cNvPr id="81" name="ddr-port1"/>
          <p:cNvSpPr/>
          <p:nvPr/>
        </p:nvSpPr>
        <p:spPr>
          <a:xfrm>
            <a:off x="5120640" y="5360670"/>
            <a:ext cx="1" cy="360045"/>
          </a:xfrm>
          <a:custGeom>
            <a:avLst/>
            <a:gdLst/>
            <a:ahLst/>
            <a:cxnLst/>
            <a:rect l="0" t="0" r="r" b="b"/>
            <a:pathLst>
              <a:path w="1" h="360045" fill="none">
                <a:moveTo>
                  <a:pt x="0" y="0"/>
                </a:moveTo>
                <a:lnTo>
                  <a:pt x="0" y="360045"/>
                </a:lnTo>
              </a:path>
            </a:pathLst>
          </a:custGeom>
          <a:noFill/>
          <a:ln w="1120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s1"/>
          <p:cNvSpPr/>
          <p:nvPr/>
        </p:nvSpPr>
        <p:spPr>
          <a:xfrm>
            <a:off x="4660582" y="5720715"/>
            <a:ext cx="920115" cy="200025"/>
          </a:xfrm>
          <a:prstGeom prst="rect">
            <a:avLst/>
          </a:prstGeom>
          <a:solidFill>
            <a:srgbClr val="D8E8F4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text-083: DDR.S1"/>
          <p:cNvSpPr txBox="1"/>
          <p:nvPr/>
        </p:nvSpPr>
        <p:spPr>
          <a:xfrm>
            <a:off x="4879979" y="5744078"/>
            <a:ext cx="481323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DDR.S1</a:t>
            </a:r>
          </a:p>
        </p:txBody>
      </p:sp>
      <p:sp>
        <p:nvSpPr>
          <p:cNvPr id="84" name="f2"/>
          <p:cNvSpPr/>
          <p:nvPr/>
        </p:nvSpPr>
        <p:spPr>
          <a:xfrm>
            <a:off x="7060882" y="4080510"/>
            <a:ext cx="920115" cy="220028"/>
          </a:xfrm>
          <a:prstGeom prst="rect">
            <a:avLst/>
          </a:prstGeom>
          <a:solidFill>
            <a:srgbClr val="D8E8F4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text-085: F2 · 帧写"/>
          <p:cNvSpPr txBox="1"/>
          <p:nvPr/>
        </p:nvSpPr>
        <p:spPr>
          <a:xfrm>
            <a:off x="7255335" y="4113874"/>
            <a:ext cx="531210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F2 · 帧写</a:t>
            </a:r>
          </a:p>
        </p:txBody>
      </p:sp>
      <p:sp>
        <p:nvSpPr>
          <p:cNvPr id="86" name="ddr-port2"/>
          <p:cNvSpPr/>
          <p:nvPr/>
        </p:nvSpPr>
        <p:spPr>
          <a:xfrm>
            <a:off x="7520940" y="5360670"/>
            <a:ext cx="1" cy="360045"/>
          </a:xfrm>
          <a:custGeom>
            <a:avLst/>
            <a:gdLst/>
            <a:ahLst/>
            <a:cxnLst/>
            <a:rect l="0" t="0" r="r" b="b"/>
            <a:pathLst>
              <a:path w="1" h="360045" fill="none">
                <a:moveTo>
                  <a:pt x="0" y="0"/>
                </a:moveTo>
                <a:lnTo>
                  <a:pt x="0" y="360045"/>
                </a:lnTo>
              </a:path>
            </a:pathLst>
          </a:custGeom>
          <a:noFill/>
          <a:ln w="1120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s2"/>
          <p:cNvSpPr/>
          <p:nvPr/>
        </p:nvSpPr>
        <p:spPr>
          <a:xfrm>
            <a:off x="7060882" y="5720715"/>
            <a:ext cx="920115" cy="200025"/>
          </a:xfrm>
          <a:prstGeom prst="rect">
            <a:avLst/>
          </a:prstGeom>
          <a:solidFill>
            <a:srgbClr val="D8E8F4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text-088: DDR.S2"/>
          <p:cNvSpPr txBox="1"/>
          <p:nvPr/>
        </p:nvSpPr>
        <p:spPr>
          <a:xfrm>
            <a:off x="7280279" y="5744078"/>
            <a:ext cx="481323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DDR.S2</a:t>
            </a:r>
          </a:p>
        </p:txBody>
      </p:sp>
      <p:sp>
        <p:nvSpPr>
          <p:cNvPr id="89" name="f3"/>
          <p:cNvSpPr/>
          <p:nvPr/>
        </p:nvSpPr>
        <p:spPr>
          <a:xfrm>
            <a:off x="9461182" y="4080510"/>
            <a:ext cx="920115" cy="220028"/>
          </a:xfrm>
          <a:prstGeom prst="rect">
            <a:avLst/>
          </a:prstGeom>
          <a:solidFill>
            <a:srgbClr val="D8E8F4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text-090: F3 · 帧读"/>
          <p:cNvSpPr txBox="1"/>
          <p:nvPr/>
        </p:nvSpPr>
        <p:spPr>
          <a:xfrm>
            <a:off x="9655635" y="4113874"/>
            <a:ext cx="531210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F3 · 帧读</a:t>
            </a:r>
          </a:p>
        </p:txBody>
      </p:sp>
      <p:sp>
        <p:nvSpPr>
          <p:cNvPr id="91" name="ddr-port3"/>
          <p:cNvSpPr/>
          <p:nvPr/>
        </p:nvSpPr>
        <p:spPr>
          <a:xfrm>
            <a:off x="9921240" y="5360670"/>
            <a:ext cx="1" cy="360045"/>
          </a:xfrm>
          <a:custGeom>
            <a:avLst/>
            <a:gdLst/>
            <a:ahLst/>
            <a:cxnLst/>
            <a:rect l="0" t="0" r="r" b="b"/>
            <a:pathLst>
              <a:path w="1" h="360045" fill="none">
                <a:moveTo>
                  <a:pt x="0" y="0"/>
                </a:moveTo>
                <a:lnTo>
                  <a:pt x="0" y="360045"/>
                </a:lnTo>
              </a:path>
            </a:pathLst>
          </a:custGeom>
          <a:noFill/>
          <a:ln w="1120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s3"/>
          <p:cNvSpPr/>
          <p:nvPr/>
        </p:nvSpPr>
        <p:spPr>
          <a:xfrm>
            <a:off x="9461182" y="5720715"/>
            <a:ext cx="920115" cy="200025"/>
          </a:xfrm>
          <a:prstGeom prst="rect">
            <a:avLst/>
          </a:prstGeom>
          <a:solidFill>
            <a:srgbClr val="D8E8F4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text-093: DDR.S3"/>
          <p:cNvSpPr txBox="1"/>
          <p:nvPr/>
        </p:nvSpPr>
        <p:spPr>
          <a:xfrm>
            <a:off x="9680579" y="5744078"/>
            <a:ext cx="481323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DDR.S3</a:t>
            </a:r>
          </a:p>
        </p:txBody>
      </p:sp>
      <p:sp>
        <p:nvSpPr>
          <p:cNvPr id="94" name="controller-ddr"/>
          <p:cNvSpPr/>
          <p:nvPr/>
        </p:nvSpPr>
        <p:spPr>
          <a:xfrm>
            <a:off x="10601325" y="6120765"/>
            <a:ext cx="400050" cy="1"/>
          </a:xfrm>
          <a:custGeom>
            <a:avLst/>
            <a:gdLst/>
            <a:ahLst/>
            <a:cxnLst/>
            <a:rect l="0" t="0" r="r" b="b"/>
            <a:pathLst>
              <a:path w="400050" h="1" fill="none">
                <a:moveTo>
                  <a:pt x="0" y="0"/>
                </a:moveTo>
                <a:lnTo>
                  <a:pt x="400050" y="0"/>
                </a:lnTo>
              </a:path>
            </a:pathLst>
          </a:custGeom>
          <a:noFill/>
          <a:ln w="1120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maint-cpu"/>
          <p:cNvSpPr/>
          <p:nvPr/>
        </p:nvSpPr>
        <p:spPr>
          <a:xfrm>
            <a:off x="160020" y="960120"/>
            <a:ext cx="3040380" cy="2100262"/>
          </a:xfrm>
          <a:custGeom>
            <a:avLst/>
            <a:gdLst/>
            <a:ahLst/>
            <a:cxnLst/>
            <a:rect l="0" t="0" r="r" b="b"/>
            <a:pathLst>
              <a:path w="3040380" h="2100262" fill="none">
                <a:moveTo>
                  <a:pt x="3040380" y="2100262"/>
                </a:moveTo>
                <a:lnTo>
                  <a:pt x="2880360" y="2100262"/>
                </a:lnTo>
                <a:lnTo>
                  <a:pt x="2880360" y="1800225"/>
                </a:lnTo>
                <a:lnTo>
                  <a:pt x="1072134" y="1800225"/>
                </a:lnTo>
                <a:cubicBezTo>
                  <a:pt x="1050798" y="1765554"/>
                  <a:pt x="1029462" y="1765554"/>
                  <a:pt x="1008126" y="1800225"/>
                </a:cubicBezTo>
                <a:lnTo>
                  <a:pt x="0" y="1800225"/>
                </a:lnTo>
                <a:lnTo>
                  <a:pt x="0" y="0"/>
                </a:lnTo>
                <a:lnTo>
                  <a:pt x="160020" y="0"/>
                </a:lnTo>
              </a:path>
            </a:pathLst>
          </a:custGeom>
          <a:noFill/>
          <a:ln w="11201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maint-llc"/>
          <p:cNvSpPr/>
          <p:nvPr/>
        </p:nvSpPr>
        <p:spPr>
          <a:xfrm>
            <a:off x="2040255" y="3285744"/>
            <a:ext cx="1160145" cy="34671"/>
          </a:xfrm>
          <a:custGeom>
            <a:avLst/>
            <a:gdLst/>
            <a:ahLst/>
            <a:cxnLst/>
            <a:rect l="0" t="0" r="r" b="b"/>
            <a:pathLst>
              <a:path w="1160145" h="34671" fill="none">
                <a:moveTo>
                  <a:pt x="1160145" y="34671"/>
                </a:moveTo>
                <a:lnTo>
                  <a:pt x="712089" y="34671"/>
                </a:lnTo>
                <a:cubicBezTo>
                  <a:pt x="690753" y="0"/>
                  <a:pt x="669417" y="0"/>
                  <a:pt x="648081" y="34671"/>
                </a:cubicBezTo>
                <a:lnTo>
                  <a:pt x="0" y="34671"/>
                </a:lnTo>
              </a:path>
            </a:pathLst>
          </a:custGeom>
          <a:noFill/>
          <a:ln w="11201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maint-mover"/>
          <p:cNvSpPr/>
          <p:nvPr/>
        </p:nvSpPr>
        <p:spPr>
          <a:xfrm>
            <a:off x="6800850" y="1280160"/>
            <a:ext cx="1594866" cy="1800225"/>
          </a:xfrm>
          <a:custGeom>
            <a:avLst/>
            <a:gdLst/>
            <a:ahLst/>
            <a:cxnLst/>
            <a:rect l="0" t="0" r="r" b="b"/>
            <a:pathLst>
              <a:path w="1594866" h="1800225" fill="none">
                <a:moveTo>
                  <a:pt x="0" y="1800225"/>
                </a:moveTo>
                <a:lnTo>
                  <a:pt x="1560195" y="1800225"/>
                </a:lnTo>
                <a:lnTo>
                  <a:pt x="1560195" y="1392174"/>
                </a:lnTo>
                <a:cubicBezTo>
                  <a:pt x="1594866" y="1370838"/>
                  <a:pt x="1594866" y="1349502"/>
                  <a:pt x="1560195" y="1328166"/>
                </a:cubicBezTo>
                <a:lnTo>
                  <a:pt x="1560195" y="140018"/>
                </a:lnTo>
                <a:lnTo>
                  <a:pt x="1000125" y="140018"/>
                </a:lnTo>
                <a:lnTo>
                  <a:pt x="1000125" y="0"/>
                </a:lnTo>
              </a:path>
            </a:pathLst>
          </a:custGeom>
          <a:noFill/>
          <a:ln w="11201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maint-frame"/>
          <p:cNvSpPr/>
          <p:nvPr/>
        </p:nvSpPr>
        <p:spPr>
          <a:xfrm>
            <a:off x="6800850" y="2240280"/>
            <a:ext cx="2200275" cy="980122"/>
          </a:xfrm>
          <a:custGeom>
            <a:avLst/>
            <a:gdLst/>
            <a:ahLst/>
            <a:cxnLst/>
            <a:rect l="0" t="0" r="r" b="b"/>
            <a:pathLst>
              <a:path w="2200275" h="980122" fill="none">
                <a:moveTo>
                  <a:pt x="0" y="980122"/>
                </a:moveTo>
                <a:lnTo>
                  <a:pt x="1608201" y="980122"/>
                </a:lnTo>
                <a:cubicBezTo>
                  <a:pt x="1629537" y="945452"/>
                  <a:pt x="1650873" y="945452"/>
                  <a:pt x="1672209" y="980122"/>
                </a:cubicBezTo>
                <a:lnTo>
                  <a:pt x="2040255" y="980122"/>
                </a:lnTo>
                <a:lnTo>
                  <a:pt x="2040255" y="0"/>
                </a:lnTo>
                <a:lnTo>
                  <a:pt x="2200275" y="0"/>
                </a:lnTo>
              </a:path>
            </a:pathLst>
          </a:custGeom>
          <a:noFill/>
          <a:ln w="11201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maint-roi"/>
          <p:cNvSpPr/>
          <p:nvPr/>
        </p:nvSpPr>
        <p:spPr>
          <a:xfrm>
            <a:off x="6800850" y="3325749"/>
            <a:ext cx="4200525" cy="34671"/>
          </a:xfrm>
          <a:custGeom>
            <a:avLst/>
            <a:gdLst/>
            <a:ahLst/>
            <a:cxnLst/>
            <a:rect l="0" t="0" r="r" b="b"/>
            <a:pathLst>
              <a:path w="4200525" h="34671" fill="none">
                <a:moveTo>
                  <a:pt x="0" y="34671"/>
                </a:moveTo>
                <a:lnTo>
                  <a:pt x="1608201" y="34671"/>
                </a:lnTo>
                <a:cubicBezTo>
                  <a:pt x="1629537" y="0"/>
                  <a:pt x="1650873" y="0"/>
                  <a:pt x="1672209" y="34671"/>
                </a:cubicBezTo>
                <a:lnTo>
                  <a:pt x="2968371" y="34671"/>
                </a:lnTo>
                <a:cubicBezTo>
                  <a:pt x="2989707" y="0"/>
                  <a:pt x="3011043" y="0"/>
                  <a:pt x="3032379" y="34671"/>
                </a:cubicBezTo>
                <a:lnTo>
                  <a:pt x="3888486" y="34671"/>
                </a:lnTo>
                <a:cubicBezTo>
                  <a:pt x="3909822" y="0"/>
                  <a:pt x="3931158" y="0"/>
                  <a:pt x="3952494" y="34671"/>
                </a:cubicBezTo>
                <a:lnTo>
                  <a:pt x="4200525" y="34671"/>
                </a:lnTo>
              </a:path>
            </a:pathLst>
          </a:custGeom>
          <a:noFill/>
          <a:ln w="11201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maint-front"/>
          <p:cNvSpPr/>
          <p:nvPr/>
        </p:nvSpPr>
        <p:spPr>
          <a:xfrm>
            <a:off x="2040255" y="3460432"/>
            <a:ext cx="1160145" cy="1260158"/>
          </a:xfrm>
          <a:custGeom>
            <a:avLst/>
            <a:gdLst/>
            <a:ahLst/>
            <a:cxnLst/>
            <a:rect l="0" t="0" r="r" b="b"/>
            <a:pathLst>
              <a:path w="1160145" h="1260158" fill="none">
                <a:moveTo>
                  <a:pt x="1160145" y="0"/>
                </a:moveTo>
                <a:lnTo>
                  <a:pt x="1160145" y="460058"/>
                </a:lnTo>
                <a:lnTo>
                  <a:pt x="712089" y="460058"/>
                </a:lnTo>
                <a:cubicBezTo>
                  <a:pt x="690753" y="425387"/>
                  <a:pt x="669417" y="425387"/>
                  <a:pt x="648081" y="460058"/>
                </a:cubicBezTo>
                <a:lnTo>
                  <a:pt x="0" y="460058"/>
                </a:lnTo>
                <a:lnTo>
                  <a:pt x="0" y="1260158"/>
                </a:lnTo>
                <a:lnTo>
                  <a:pt x="160020" y="1260158"/>
                </a:lnTo>
              </a:path>
            </a:pathLst>
          </a:custGeom>
          <a:noFill/>
          <a:ln w="11201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maint-ddr"/>
          <p:cNvSpPr/>
          <p:nvPr/>
        </p:nvSpPr>
        <p:spPr>
          <a:xfrm>
            <a:off x="1880235" y="3460432"/>
            <a:ext cx="1720215" cy="2700338"/>
          </a:xfrm>
          <a:custGeom>
            <a:avLst/>
            <a:gdLst/>
            <a:ahLst/>
            <a:cxnLst/>
            <a:rect l="0" t="0" r="r" b="b"/>
            <a:pathLst>
              <a:path w="1720215" h="2700338" fill="none">
                <a:moveTo>
                  <a:pt x="1720215" y="0"/>
                </a:moveTo>
                <a:lnTo>
                  <a:pt x="1720215" y="380048"/>
                </a:lnTo>
                <a:lnTo>
                  <a:pt x="1352169" y="380048"/>
                </a:lnTo>
                <a:cubicBezTo>
                  <a:pt x="1330833" y="345377"/>
                  <a:pt x="1309497" y="345377"/>
                  <a:pt x="1288161" y="380048"/>
                </a:cubicBezTo>
                <a:lnTo>
                  <a:pt x="872109" y="380048"/>
                </a:lnTo>
                <a:cubicBezTo>
                  <a:pt x="850773" y="345377"/>
                  <a:pt x="829437" y="345377"/>
                  <a:pt x="808101" y="380048"/>
                </a:cubicBezTo>
                <a:lnTo>
                  <a:pt x="0" y="380048"/>
                </a:lnTo>
                <a:lnTo>
                  <a:pt x="0" y="2700338"/>
                </a:lnTo>
                <a:lnTo>
                  <a:pt x="320040" y="2700338"/>
                </a:lnTo>
              </a:path>
            </a:pathLst>
          </a:custGeom>
          <a:noFill/>
          <a:ln w="11201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text-102: 蓝：AXI 请求 / 返回（F2 仅写，F3 仅读）    绿：GB 局部访问 "/>
          <p:cNvSpPr txBox="1"/>
          <p:nvPr/>
        </p:nvSpPr>
        <p:spPr>
          <a:xfrm>
            <a:off x="320040" y="6599865"/>
            <a:ext cx="5447400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蓝：AXI 请求 / 返回（F2 仅写，F3 仅读）    绿：GB 局部访问 / 像素流    紫：软件命令、维护、准入与确认</a:t>
            </a:r>
          </a:p>
        </p:txBody>
      </p:sp>
      <p:sp>
        <p:nvSpPr>
          <p:cNvPr id="103" name="text-103: GB 本地交接管理使用权；DDR 同步涵盖缓存、共享前端与控制器。未画出的外设 "/>
          <p:cNvSpPr txBox="1"/>
          <p:nvPr/>
        </p:nvSpPr>
        <p:spPr>
          <a:xfrm>
            <a:off x="320040" y="6844215"/>
            <a:ext cx="5453557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本地交接管理使用权；DDR 同步涵盖缓存、共享前端与控制器。未画出的外设 / 配置 / eMMC 路径沿用 v1。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缺少同步时，同一地址会出现不同数据版本"/>
          <p:cNvSpPr txBox="1"/>
          <p:nvPr/>
        </p:nvSpPr>
        <p:spPr>
          <a:xfrm>
            <a:off x="266700" y="80650"/>
            <a:ext cx="3840480" cy="3072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缺少同步时，同一地址会出现不同数据版本</a:t>
            </a:r>
          </a:p>
        </p:txBody>
      </p:sp>
      <p:sp>
        <p:nvSpPr>
          <p:cNvPr id="3" name="text-003: 三个独立场景：输入过期、输出旧副本、迟到脏写回。数值表示所示时刻的状态。"/>
          <p:cNvSpPr txBox="1"/>
          <p:nvPr/>
        </p:nvSpPr>
        <p:spPr>
          <a:xfrm>
            <a:off x="266700" y="373807"/>
            <a:ext cx="4736592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三个独立场景：输入过期、输出旧副本、迟到脏写回。数值表示所示时刻的状态。</a:t>
            </a:r>
          </a:p>
        </p:txBody>
      </p:sp>
      <p:sp>
        <p:nvSpPr>
          <p:cNvPr id="4" name="panel0"/>
          <p:cNvSpPr/>
          <p:nvPr/>
        </p:nvSpPr>
        <p:spPr>
          <a:xfrm>
            <a:off x="186690" y="773430"/>
            <a:ext cx="12428220" cy="1706880"/>
          </a:xfrm>
          <a:prstGeom prst="rect">
            <a:avLst/>
          </a:prstGeom>
          <a:solidFill>
            <a:srgbClr val="F7F9FA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① 输入：CPU 写 x = 2，设备却搬到 x = 1"/>
          <p:cNvSpPr txBox="1"/>
          <p:nvPr/>
        </p:nvSpPr>
        <p:spPr>
          <a:xfrm>
            <a:off x="320040" y="851306"/>
            <a:ext cx="3119465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① 输入：CPU 写 x = 2，设备却搬到 x = 1</a:t>
            </a:r>
          </a:p>
        </p:txBody>
      </p:sp>
      <p:sp>
        <p:nvSpPr>
          <p:cNvPr id="6" name="r0b0"/>
          <p:cNvSpPr/>
          <p:nvPr/>
        </p:nvSpPr>
        <p:spPr>
          <a:xfrm>
            <a:off x="320040" y="1253490"/>
            <a:ext cx="2133600" cy="800100"/>
          </a:xfrm>
          <a:prstGeom prst="rect">
            <a:avLst/>
          </a:prstGeom>
          <a:solidFill>
            <a:srgbClr val="F1D7D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-007: CPU / L1D"/>
          <p:cNvSpPr txBox="1"/>
          <p:nvPr/>
        </p:nvSpPr>
        <p:spPr>
          <a:xfrm>
            <a:off x="976651" y="1369985"/>
            <a:ext cx="820378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L1D</a:t>
            </a:r>
          </a:p>
        </p:txBody>
      </p:sp>
      <p:sp>
        <p:nvSpPr>
          <p:cNvPr id="8" name="text-008: L1D 阵列仍为 x = 1"/>
          <p:cNvSpPr txBox="1"/>
          <p:nvPr/>
        </p:nvSpPr>
        <p:spPr>
          <a:xfrm>
            <a:off x="772576" y="1573957"/>
            <a:ext cx="1228529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L1D 阵列仍为 x = 1</a:t>
            </a:r>
          </a:p>
        </p:txBody>
      </p:sp>
      <p:sp>
        <p:nvSpPr>
          <p:cNvPr id="9" name="text-009: CPU 读可前递到 2"/>
          <p:cNvSpPr txBox="1"/>
          <p:nvPr/>
        </p:nvSpPr>
        <p:spPr>
          <a:xfrm>
            <a:off x="809643" y="1760647"/>
            <a:ext cx="1154394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读可前递到 2</a:t>
            </a:r>
          </a:p>
        </p:txBody>
      </p:sp>
      <p:sp>
        <p:nvSpPr>
          <p:cNvPr id="10" name="r0b1"/>
          <p:cNvSpPr/>
          <p:nvPr/>
        </p:nvSpPr>
        <p:spPr>
          <a:xfrm>
            <a:off x="2800350" y="1253490"/>
            <a:ext cx="2133600" cy="800100"/>
          </a:xfrm>
          <a:prstGeom prst="rect">
            <a:avLst/>
          </a:prstGeom>
          <a:solidFill>
            <a:srgbClr val="F1D7D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-011: 写缓冲"/>
          <p:cNvSpPr txBox="1"/>
          <p:nvPr/>
        </p:nvSpPr>
        <p:spPr>
          <a:xfrm>
            <a:off x="3579114" y="1369985"/>
            <a:ext cx="576072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写缓冲</a:t>
            </a:r>
          </a:p>
        </p:txBody>
      </p:sp>
      <p:sp>
        <p:nvSpPr>
          <p:cNvPr id="12" name="text-012: 待推进 x = 2"/>
          <p:cNvSpPr txBox="1"/>
          <p:nvPr/>
        </p:nvSpPr>
        <p:spPr>
          <a:xfrm>
            <a:off x="3448660" y="1573957"/>
            <a:ext cx="836980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待推进 x = 2</a:t>
            </a:r>
          </a:p>
        </p:txBody>
      </p:sp>
      <p:sp>
        <p:nvSpPr>
          <p:cNvPr id="13" name="text-013: 下层尚未收到"/>
          <p:cNvSpPr txBox="1"/>
          <p:nvPr/>
        </p:nvSpPr>
        <p:spPr>
          <a:xfrm>
            <a:off x="3419094" y="1760647"/>
            <a:ext cx="896112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下层尚未收到</a:t>
            </a:r>
          </a:p>
        </p:txBody>
      </p:sp>
      <p:sp>
        <p:nvSpPr>
          <p:cNvPr id="14" name="r0b2"/>
          <p:cNvSpPr/>
          <p:nvPr/>
        </p:nvSpPr>
        <p:spPr>
          <a:xfrm>
            <a:off x="5280660" y="1253490"/>
            <a:ext cx="2133600" cy="800100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-015: WB LLC"/>
          <p:cNvSpPr txBox="1"/>
          <p:nvPr/>
        </p:nvSpPr>
        <p:spPr>
          <a:xfrm>
            <a:off x="6033683" y="1369985"/>
            <a:ext cx="627553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WB LLC</a:t>
            </a:r>
          </a:p>
        </p:txBody>
      </p:sp>
      <p:sp>
        <p:nvSpPr>
          <p:cNvPr id="16" name="text-016: 当前仍为 x = 1"/>
          <p:cNvSpPr txBox="1"/>
          <p:nvPr/>
        </p:nvSpPr>
        <p:spPr>
          <a:xfrm>
            <a:off x="5864962" y="1573957"/>
            <a:ext cx="964996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当前仍为 x = 1</a:t>
            </a:r>
          </a:p>
        </p:txBody>
      </p:sp>
      <p:sp>
        <p:nvSpPr>
          <p:cNvPr id="17" name="text-017: 收到新写后可持脏值 2"/>
          <p:cNvSpPr txBox="1"/>
          <p:nvPr/>
        </p:nvSpPr>
        <p:spPr>
          <a:xfrm>
            <a:off x="5649810" y="1760647"/>
            <a:ext cx="1395299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收到新写后可持脏值 2</a:t>
            </a:r>
          </a:p>
        </p:txBody>
      </p:sp>
      <p:sp>
        <p:nvSpPr>
          <p:cNvPr id="18" name="r0b3"/>
          <p:cNvSpPr/>
          <p:nvPr/>
        </p:nvSpPr>
        <p:spPr>
          <a:xfrm>
            <a:off x="7760970" y="1253490"/>
            <a:ext cx="2133600" cy="800100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-019: DDR"/>
          <p:cNvSpPr txBox="1"/>
          <p:nvPr/>
        </p:nvSpPr>
        <p:spPr>
          <a:xfrm>
            <a:off x="8616239" y="1369985"/>
            <a:ext cx="423061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20" name="text-020: x = 1"/>
          <p:cNvSpPr txBox="1"/>
          <p:nvPr/>
        </p:nvSpPr>
        <p:spPr>
          <a:xfrm>
            <a:off x="8620494" y="1573957"/>
            <a:ext cx="414552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x = 1</a:t>
            </a:r>
          </a:p>
        </p:txBody>
      </p:sp>
      <p:sp>
        <p:nvSpPr>
          <p:cNvPr id="21" name="text-021: 设备可见的旧输入"/>
          <p:cNvSpPr txBox="1"/>
          <p:nvPr/>
        </p:nvSpPr>
        <p:spPr>
          <a:xfrm>
            <a:off x="8251698" y="1760647"/>
            <a:ext cx="1152144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设备可见的旧输入</a:t>
            </a:r>
          </a:p>
        </p:txBody>
      </p:sp>
      <p:sp>
        <p:nvSpPr>
          <p:cNvPr id="22" name="r0b4"/>
          <p:cNvSpPr/>
          <p:nvPr/>
        </p:nvSpPr>
        <p:spPr>
          <a:xfrm>
            <a:off x="10241280" y="1253490"/>
            <a:ext cx="2133600" cy="800100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-023: GB"/>
          <p:cNvSpPr txBox="1"/>
          <p:nvPr/>
        </p:nvSpPr>
        <p:spPr>
          <a:xfrm>
            <a:off x="11144018" y="1369985"/>
            <a:ext cx="328124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</a:t>
            </a:r>
          </a:p>
        </p:txBody>
      </p:sp>
      <p:sp>
        <p:nvSpPr>
          <p:cNvPr id="24" name="text-024: 搬入 x = 1"/>
          <p:cNvSpPr txBox="1"/>
          <p:nvPr/>
        </p:nvSpPr>
        <p:spPr>
          <a:xfrm>
            <a:off x="10953598" y="1573957"/>
            <a:ext cx="708964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搬入 x = 1</a:t>
            </a:r>
          </a:p>
        </p:txBody>
      </p:sp>
      <p:sp>
        <p:nvSpPr>
          <p:cNvPr id="25" name="text-025: NPU 使用了旧输入"/>
          <p:cNvSpPr txBox="1"/>
          <p:nvPr/>
        </p:nvSpPr>
        <p:spPr>
          <a:xfrm>
            <a:off x="10721882" y="1760647"/>
            <a:ext cx="1172397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使用了旧输入</a:t>
            </a:r>
          </a:p>
        </p:txBody>
      </p:sp>
      <p:sp>
        <p:nvSpPr>
          <p:cNvPr id="26" name="text-026: 写缓冲排空之后，新值还可能只到达 WB LLC；输入 clean 继续把它推进 "/>
          <p:cNvSpPr txBox="1"/>
          <p:nvPr/>
        </p:nvSpPr>
        <p:spPr>
          <a:xfrm>
            <a:off x="320040" y="2154509"/>
            <a:ext cx="4969088" cy="22189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写缓冲排空之后，新值还可能只到达 WB LLC；输入 clean 继续把它推进 DDR。</a:t>
            </a:r>
          </a:p>
        </p:txBody>
      </p:sp>
      <p:sp>
        <p:nvSpPr>
          <p:cNvPr id="27" name="panel1"/>
          <p:cNvSpPr/>
          <p:nvPr/>
        </p:nvSpPr>
        <p:spPr>
          <a:xfrm>
            <a:off x="186690" y="2720340"/>
            <a:ext cx="12428220" cy="1706880"/>
          </a:xfrm>
          <a:prstGeom prst="rect">
            <a:avLst/>
          </a:prstGeom>
          <a:solidFill>
            <a:srgbClr val="F7F9FA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-028: ② 输出：设备已写 y = 9，CPU 仍命中 y = 0"/>
          <p:cNvSpPr txBox="1"/>
          <p:nvPr/>
        </p:nvSpPr>
        <p:spPr>
          <a:xfrm>
            <a:off x="320040" y="2798216"/>
            <a:ext cx="3273234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② 输出：设备已写 y = 9，CPU 仍命中 y = 0</a:t>
            </a:r>
          </a:p>
        </p:txBody>
      </p:sp>
      <p:sp>
        <p:nvSpPr>
          <p:cNvPr id="29" name="r1b0"/>
          <p:cNvSpPr/>
          <p:nvPr/>
        </p:nvSpPr>
        <p:spPr>
          <a:xfrm>
            <a:off x="320040" y="3200400"/>
            <a:ext cx="2133600" cy="800100"/>
          </a:xfrm>
          <a:prstGeom prst="rect">
            <a:avLst/>
          </a:prstGeom>
          <a:solidFill>
            <a:srgbClr val="F1D7D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30: CPU / L1D"/>
          <p:cNvSpPr txBox="1"/>
          <p:nvPr/>
        </p:nvSpPr>
        <p:spPr>
          <a:xfrm>
            <a:off x="976651" y="3316895"/>
            <a:ext cx="820378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L1D</a:t>
            </a:r>
          </a:p>
        </p:txBody>
      </p:sp>
      <p:sp>
        <p:nvSpPr>
          <p:cNvPr id="31" name="text-031: 缓存副本 y = 0"/>
          <p:cNvSpPr txBox="1"/>
          <p:nvPr/>
        </p:nvSpPr>
        <p:spPr>
          <a:xfrm>
            <a:off x="905592" y="3520867"/>
            <a:ext cx="962495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缓存副本 y = 0</a:t>
            </a:r>
          </a:p>
        </p:txBody>
      </p:sp>
      <p:sp>
        <p:nvSpPr>
          <p:cNvPr id="32" name="text-032: CPU 读取命中旧值"/>
          <p:cNvSpPr txBox="1"/>
          <p:nvPr/>
        </p:nvSpPr>
        <p:spPr>
          <a:xfrm>
            <a:off x="803205" y="3707557"/>
            <a:ext cx="1167271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读取命中旧值</a:t>
            </a:r>
          </a:p>
        </p:txBody>
      </p:sp>
      <p:sp>
        <p:nvSpPr>
          <p:cNvPr id="33" name="r1b1"/>
          <p:cNvSpPr/>
          <p:nvPr/>
        </p:nvSpPr>
        <p:spPr>
          <a:xfrm>
            <a:off x="2800350" y="3200400"/>
            <a:ext cx="2133600" cy="800100"/>
          </a:xfrm>
          <a:prstGeom prst="rect">
            <a:avLst/>
          </a:prstGeom>
          <a:solidFill>
            <a:srgbClr val="F1D7D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34: 写缓冲"/>
          <p:cNvSpPr txBox="1"/>
          <p:nvPr/>
        </p:nvSpPr>
        <p:spPr>
          <a:xfrm>
            <a:off x="3579114" y="3316895"/>
            <a:ext cx="576072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写缓冲</a:t>
            </a:r>
          </a:p>
        </p:txBody>
      </p:sp>
      <p:sp>
        <p:nvSpPr>
          <p:cNvPr id="35" name="text-035: 此时为空"/>
          <p:cNvSpPr txBox="1"/>
          <p:nvPr/>
        </p:nvSpPr>
        <p:spPr>
          <a:xfrm>
            <a:off x="3547110" y="3520867"/>
            <a:ext cx="640080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此时为空</a:t>
            </a:r>
          </a:p>
        </p:txBody>
      </p:sp>
      <p:sp>
        <p:nvSpPr>
          <p:cNvPr id="36" name="text-036: 没有待完成写"/>
          <p:cNvSpPr txBox="1"/>
          <p:nvPr/>
        </p:nvSpPr>
        <p:spPr>
          <a:xfrm>
            <a:off x="3419094" y="3707557"/>
            <a:ext cx="896112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没有待完成写</a:t>
            </a:r>
          </a:p>
        </p:txBody>
      </p:sp>
      <p:sp>
        <p:nvSpPr>
          <p:cNvPr id="37" name="r1b2"/>
          <p:cNvSpPr/>
          <p:nvPr/>
        </p:nvSpPr>
        <p:spPr>
          <a:xfrm>
            <a:off x="5280660" y="3200400"/>
            <a:ext cx="2133600" cy="800100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-038: LLC"/>
          <p:cNvSpPr txBox="1"/>
          <p:nvPr/>
        </p:nvSpPr>
        <p:spPr>
          <a:xfrm>
            <a:off x="6158857" y="3316895"/>
            <a:ext cx="377205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</a:t>
            </a:r>
          </a:p>
        </p:txBody>
      </p:sp>
      <p:sp>
        <p:nvSpPr>
          <p:cNvPr id="39" name="text-039: 干净旧副本 y = 0"/>
          <p:cNvSpPr txBox="1"/>
          <p:nvPr/>
        </p:nvSpPr>
        <p:spPr>
          <a:xfrm>
            <a:off x="5802204" y="3520867"/>
            <a:ext cx="1090511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干净旧副本 y = 0</a:t>
            </a:r>
          </a:p>
        </p:txBody>
      </p:sp>
      <p:sp>
        <p:nvSpPr>
          <p:cNvPr id="40" name="text-040: 下次回填也可能取旧值"/>
          <p:cNvSpPr txBox="1"/>
          <p:nvPr/>
        </p:nvSpPr>
        <p:spPr>
          <a:xfrm>
            <a:off x="5643372" y="3707557"/>
            <a:ext cx="1408176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下次回填也可能取旧值</a:t>
            </a:r>
          </a:p>
        </p:txBody>
      </p:sp>
      <p:sp>
        <p:nvSpPr>
          <p:cNvPr id="41" name="r1b3"/>
          <p:cNvSpPr/>
          <p:nvPr/>
        </p:nvSpPr>
        <p:spPr>
          <a:xfrm>
            <a:off x="7760970" y="3200400"/>
            <a:ext cx="2133600" cy="800100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042: DDR"/>
          <p:cNvSpPr txBox="1"/>
          <p:nvPr/>
        </p:nvSpPr>
        <p:spPr>
          <a:xfrm>
            <a:off x="8616239" y="3316895"/>
            <a:ext cx="423061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43" name="text-043: y = 9"/>
          <p:cNvSpPr txBox="1"/>
          <p:nvPr/>
        </p:nvSpPr>
        <p:spPr>
          <a:xfrm>
            <a:off x="8621744" y="3520867"/>
            <a:ext cx="412052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y = 9</a:t>
            </a:r>
          </a:p>
        </p:txBody>
      </p:sp>
      <p:sp>
        <p:nvSpPr>
          <p:cNvPr id="44" name="text-044: 已收到设备结果"/>
          <p:cNvSpPr txBox="1"/>
          <p:nvPr/>
        </p:nvSpPr>
        <p:spPr>
          <a:xfrm>
            <a:off x="8315706" y="3707557"/>
            <a:ext cx="1024128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已收到设备结果</a:t>
            </a:r>
          </a:p>
        </p:txBody>
      </p:sp>
      <p:sp>
        <p:nvSpPr>
          <p:cNvPr id="45" name="r1b4"/>
          <p:cNvSpPr/>
          <p:nvPr/>
        </p:nvSpPr>
        <p:spPr>
          <a:xfrm>
            <a:off x="10241280" y="3200400"/>
            <a:ext cx="2133600" cy="800100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6: GB"/>
          <p:cNvSpPr txBox="1"/>
          <p:nvPr/>
        </p:nvSpPr>
        <p:spPr>
          <a:xfrm>
            <a:off x="11144018" y="3316895"/>
            <a:ext cx="328124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</a:t>
            </a:r>
          </a:p>
        </p:txBody>
      </p:sp>
      <p:sp>
        <p:nvSpPr>
          <p:cNvPr id="47" name="text-047: 结果 y = 9"/>
          <p:cNvSpPr txBox="1"/>
          <p:nvPr/>
        </p:nvSpPr>
        <p:spPr>
          <a:xfrm>
            <a:off x="10954848" y="3520867"/>
            <a:ext cx="706463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结果 y = 9</a:t>
            </a:r>
          </a:p>
        </p:txBody>
      </p:sp>
      <p:sp>
        <p:nvSpPr>
          <p:cNvPr id="48" name="text-048: 设备向 DDR 搬出"/>
          <p:cNvSpPr txBox="1"/>
          <p:nvPr/>
        </p:nvSpPr>
        <p:spPr>
          <a:xfrm>
            <a:off x="10761637" y="3707557"/>
            <a:ext cx="1092887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设备向 DDR 搬出</a:t>
            </a:r>
          </a:p>
        </p:txBody>
      </p:sp>
      <p:sp>
        <p:nvSpPr>
          <p:cNvPr id="49" name="text-049: 输出交还 CPU 前，对 L1D 与 LLC 执行失效，并协调此前尚未完成的旧回"/>
          <p:cNvSpPr txBox="1"/>
          <p:nvPr/>
        </p:nvSpPr>
        <p:spPr>
          <a:xfrm>
            <a:off x="320040" y="4101419"/>
            <a:ext cx="4853290" cy="22189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输出交还 CPU 前，对 L1D 与 LLC 执行失效，并协调此前尚未完成的旧回填。</a:t>
            </a:r>
          </a:p>
        </p:txBody>
      </p:sp>
      <p:sp>
        <p:nvSpPr>
          <p:cNvPr id="50" name="panel2"/>
          <p:cNvSpPr/>
          <p:nvPr/>
        </p:nvSpPr>
        <p:spPr>
          <a:xfrm>
            <a:off x="186690" y="4667250"/>
            <a:ext cx="12428220" cy="1706880"/>
          </a:xfrm>
          <a:prstGeom prst="rect">
            <a:avLst/>
          </a:prstGeom>
          <a:solidFill>
            <a:srgbClr val="F7F9FA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-051: ③ 输出：设备先写 y = 9，LLC 的旧脏行随后覆盖它"/>
          <p:cNvSpPr txBox="1"/>
          <p:nvPr/>
        </p:nvSpPr>
        <p:spPr>
          <a:xfrm>
            <a:off x="320040" y="4745126"/>
            <a:ext cx="379845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③ 输出：设备先写 y = 9，LLC 的旧脏行随后覆盖它</a:t>
            </a:r>
          </a:p>
        </p:txBody>
      </p:sp>
      <p:sp>
        <p:nvSpPr>
          <p:cNvPr id="52" name="r2b0"/>
          <p:cNvSpPr/>
          <p:nvPr/>
        </p:nvSpPr>
        <p:spPr>
          <a:xfrm>
            <a:off x="320040" y="5147310"/>
            <a:ext cx="2133600" cy="800100"/>
          </a:xfrm>
          <a:prstGeom prst="rect">
            <a:avLst/>
          </a:prstGeom>
          <a:solidFill>
            <a:srgbClr val="F1D7D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-053: CPU / L1D"/>
          <p:cNvSpPr txBox="1"/>
          <p:nvPr/>
        </p:nvSpPr>
        <p:spPr>
          <a:xfrm>
            <a:off x="976651" y="5263805"/>
            <a:ext cx="820378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L1D</a:t>
            </a:r>
          </a:p>
        </p:txBody>
      </p:sp>
      <p:sp>
        <p:nvSpPr>
          <p:cNvPr id="54" name="text-054: 先前写过 y = 3"/>
          <p:cNvSpPr txBox="1"/>
          <p:nvPr/>
        </p:nvSpPr>
        <p:spPr>
          <a:xfrm>
            <a:off x="905592" y="5467777"/>
            <a:ext cx="962495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先前写过 y = 3</a:t>
            </a:r>
          </a:p>
        </p:txBody>
      </p:sp>
      <p:sp>
        <p:nvSpPr>
          <p:cNvPr id="55" name="text-055: 此时 CPU 已停止访问"/>
          <p:cNvSpPr txBox="1"/>
          <p:nvPr/>
        </p:nvSpPr>
        <p:spPr>
          <a:xfrm>
            <a:off x="720007" y="5654467"/>
            <a:ext cx="1333667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此时 CPU 已停止访问</a:t>
            </a:r>
          </a:p>
        </p:txBody>
      </p:sp>
      <p:sp>
        <p:nvSpPr>
          <p:cNvPr id="56" name="r2b1"/>
          <p:cNvSpPr/>
          <p:nvPr/>
        </p:nvSpPr>
        <p:spPr>
          <a:xfrm>
            <a:off x="2800350" y="5147310"/>
            <a:ext cx="2133600" cy="800100"/>
          </a:xfrm>
          <a:prstGeom prst="rect">
            <a:avLst/>
          </a:prstGeom>
          <a:solidFill>
            <a:srgbClr val="F1D7D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-057: 写缓冲"/>
          <p:cNvSpPr txBox="1"/>
          <p:nvPr/>
        </p:nvSpPr>
        <p:spPr>
          <a:xfrm>
            <a:off x="3579114" y="5263805"/>
            <a:ext cx="576072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写缓冲</a:t>
            </a:r>
          </a:p>
        </p:txBody>
      </p:sp>
      <p:sp>
        <p:nvSpPr>
          <p:cNvPr id="58" name="text-058: 先前的写已推进"/>
          <p:cNvSpPr txBox="1"/>
          <p:nvPr/>
        </p:nvSpPr>
        <p:spPr>
          <a:xfrm>
            <a:off x="3355086" y="5467777"/>
            <a:ext cx="1024128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先前的写已推进</a:t>
            </a:r>
          </a:p>
        </p:txBody>
      </p:sp>
      <p:sp>
        <p:nvSpPr>
          <p:cNvPr id="59" name="text-059: LLC 尚有脏数据"/>
          <p:cNvSpPr txBox="1"/>
          <p:nvPr/>
        </p:nvSpPr>
        <p:spPr>
          <a:xfrm>
            <a:off x="3360274" y="5654467"/>
            <a:ext cx="1013752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尚有脏数据</a:t>
            </a:r>
          </a:p>
        </p:txBody>
      </p:sp>
      <p:sp>
        <p:nvSpPr>
          <p:cNvPr id="60" name="r2b2"/>
          <p:cNvSpPr/>
          <p:nvPr/>
        </p:nvSpPr>
        <p:spPr>
          <a:xfrm>
            <a:off x="5280660" y="5147310"/>
            <a:ext cx="2133600" cy="800100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-061: WB LLC"/>
          <p:cNvSpPr txBox="1"/>
          <p:nvPr/>
        </p:nvSpPr>
        <p:spPr>
          <a:xfrm>
            <a:off x="6033683" y="5263805"/>
            <a:ext cx="627553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WB LLC</a:t>
            </a:r>
          </a:p>
        </p:txBody>
      </p:sp>
      <p:sp>
        <p:nvSpPr>
          <p:cNvPr id="62" name="text-062: 旧脏副本 y = 3"/>
          <p:cNvSpPr txBox="1"/>
          <p:nvPr/>
        </p:nvSpPr>
        <p:spPr>
          <a:xfrm>
            <a:off x="5866212" y="5467777"/>
            <a:ext cx="962495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旧脏副本 y = 3</a:t>
            </a:r>
          </a:p>
        </p:txBody>
      </p:sp>
      <p:sp>
        <p:nvSpPr>
          <p:cNvPr id="63" name="text-063: 稍后替换并写回"/>
          <p:cNvSpPr txBox="1"/>
          <p:nvPr/>
        </p:nvSpPr>
        <p:spPr>
          <a:xfrm>
            <a:off x="5835396" y="5654467"/>
            <a:ext cx="1024128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稍后替换并写回</a:t>
            </a:r>
          </a:p>
        </p:txBody>
      </p:sp>
      <p:sp>
        <p:nvSpPr>
          <p:cNvPr id="64" name="r2b3"/>
          <p:cNvSpPr/>
          <p:nvPr/>
        </p:nvSpPr>
        <p:spPr>
          <a:xfrm>
            <a:off x="7760970" y="5147310"/>
            <a:ext cx="2133600" cy="800100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ext-065: DDR"/>
          <p:cNvSpPr txBox="1"/>
          <p:nvPr/>
        </p:nvSpPr>
        <p:spPr>
          <a:xfrm>
            <a:off x="8616239" y="5263805"/>
            <a:ext cx="423061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66" name="text-066: y = 9 → y = 3"/>
          <p:cNvSpPr txBox="1"/>
          <p:nvPr/>
        </p:nvSpPr>
        <p:spPr>
          <a:xfrm>
            <a:off x="8377339" y="5467777"/>
            <a:ext cx="900863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y = 9 → y = 3</a:t>
            </a:r>
          </a:p>
        </p:txBody>
      </p:sp>
      <p:sp>
        <p:nvSpPr>
          <p:cNvPr id="67" name="text-067: 设备结果被覆盖"/>
          <p:cNvSpPr txBox="1"/>
          <p:nvPr/>
        </p:nvSpPr>
        <p:spPr>
          <a:xfrm>
            <a:off x="8315706" y="5654467"/>
            <a:ext cx="1024128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设备结果被覆盖</a:t>
            </a:r>
          </a:p>
        </p:txBody>
      </p:sp>
      <p:sp>
        <p:nvSpPr>
          <p:cNvPr id="68" name="r2b4"/>
          <p:cNvSpPr/>
          <p:nvPr/>
        </p:nvSpPr>
        <p:spPr>
          <a:xfrm>
            <a:off x="10241280" y="5147310"/>
            <a:ext cx="2133600" cy="800100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text-069: GB"/>
          <p:cNvSpPr txBox="1"/>
          <p:nvPr/>
        </p:nvSpPr>
        <p:spPr>
          <a:xfrm>
            <a:off x="11144018" y="5263805"/>
            <a:ext cx="328124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</a:t>
            </a:r>
          </a:p>
        </p:txBody>
      </p:sp>
      <p:sp>
        <p:nvSpPr>
          <p:cNvPr id="70" name="text-070: 结果 y = 9"/>
          <p:cNvSpPr txBox="1"/>
          <p:nvPr/>
        </p:nvSpPr>
        <p:spPr>
          <a:xfrm>
            <a:off x="10954848" y="5467777"/>
            <a:ext cx="706463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结果 y = 9</a:t>
            </a:r>
          </a:p>
        </p:txBody>
      </p:sp>
      <p:sp>
        <p:nvSpPr>
          <p:cNvPr id="71" name="text-071: 此前已完成搬出"/>
          <p:cNvSpPr txBox="1"/>
          <p:nvPr/>
        </p:nvSpPr>
        <p:spPr>
          <a:xfrm>
            <a:off x="10796016" y="5654467"/>
            <a:ext cx="1024128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此前已完成搬出</a:t>
            </a:r>
          </a:p>
        </p:txBody>
      </p:sp>
      <p:sp>
        <p:nvSpPr>
          <p:cNvPr id="72" name="text-072: 输出写入前先排空旧写、clean + invalidate；写入后再失效旧读副本"/>
          <p:cNvSpPr txBox="1"/>
          <p:nvPr/>
        </p:nvSpPr>
        <p:spPr>
          <a:xfrm>
            <a:off x="320040" y="6048329"/>
            <a:ext cx="4397266" cy="22189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输出写入前先排空旧写、clean + invalidate；写入后再失效旧读副本。</a:t>
            </a:r>
          </a:p>
        </p:txBody>
      </p:sp>
      <p:sp>
        <p:nvSpPr>
          <p:cNvPr id="73" name="cpu-store"/>
          <p:cNvSpPr/>
          <p:nvPr/>
        </p:nvSpPr>
        <p:spPr>
          <a:xfrm>
            <a:off x="2453640" y="1653540"/>
            <a:ext cx="346710" cy="1"/>
          </a:xfrm>
          <a:custGeom>
            <a:avLst/>
            <a:gdLst/>
            <a:ahLst/>
            <a:cxnLst/>
            <a:rect l="0" t="0" r="r" b="b"/>
            <a:pathLst>
              <a:path w="346710" h="1" fill="none">
                <a:moveTo>
                  <a:pt x="0" y="0"/>
                </a:moveTo>
                <a:lnTo>
                  <a:pt x="346710" y="0"/>
                </a:lnTo>
              </a:path>
            </a:pathLst>
          </a:custGeom>
          <a:noFill/>
          <a:ln w="149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pending-store"/>
          <p:cNvSpPr/>
          <p:nvPr/>
        </p:nvSpPr>
        <p:spPr>
          <a:xfrm>
            <a:off x="4933950" y="1653540"/>
            <a:ext cx="346710" cy="1"/>
          </a:xfrm>
          <a:custGeom>
            <a:avLst/>
            <a:gdLst/>
            <a:ahLst/>
            <a:cxnLst/>
            <a:rect l="0" t="0" r="r" b="b"/>
            <a:pathLst>
              <a:path w="346710" h="1" fill="none">
                <a:moveTo>
                  <a:pt x="0" y="0"/>
                </a:moveTo>
                <a:lnTo>
                  <a:pt x="346710" y="0"/>
                </a:lnTo>
              </a:path>
            </a:pathLst>
          </a:custGeom>
          <a:noFill/>
          <a:ln w="14935" cap="flat">
            <a:solidFill>
              <a:srgbClr val="314D66"/>
            </a:solidFill>
            <a:custDash>
              <a:ds d="250000" sp="178571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stale-input"/>
          <p:cNvSpPr/>
          <p:nvPr/>
        </p:nvSpPr>
        <p:spPr>
          <a:xfrm>
            <a:off x="9894570" y="1653540"/>
            <a:ext cx="346710" cy="1"/>
          </a:xfrm>
          <a:custGeom>
            <a:avLst/>
            <a:gdLst/>
            <a:ahLst/>
            <a:cxnLst/>
            <a:rect l="0" t="0" r="r" b="b"/>
            <a:pathLst>
              <a:path w="346710" h="1" fill="none">
                <a:moveTo>
                  <a:pt x="0" y="0"/>
                </a:moveTo>
                <a:lnTo>
                  <a:pt x="346710" y="0"/>
                </a:lnTo>
              </a:path>
            </a:pathLst>
          </a:custGeom>
          <a:noFill/>
          <a:ln w="14935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output-write"/>
          <p:cNvSpPr/>
          <p:nvPr/>
        </p:nvSpPr>
        <p:spPr>
          <a:xfrm>
            <a:off x="9894570" y="3600450"/>
            <a:ext cx="346710" cy="1"/>
          </a:xfrm>
          <a:custGeom>
            <a:avLst/>
            <a:gdLst/>
            <a:ahLst/>
            <a:cxnLst/>
            <a:rect l="0" t="0" r="r" b="b"/>
            <a:pathLst>
              <a:path w="346710" h="1" fill="none">
                <a:moveTo>
                  <a:pt x="346710" y="0"/>
                </a:moveTo>
                <a:lnTo>
                  <a:pt x="0" y="0"/>
                </a:lnTo>
              </a:path>
            </a:pathLst>
          </a:custGeom>
          <a:noFill/>
          <a:ln w="14935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late-old-write"/>
          <p:cNvSpPr/>
          <p:nvPr/>
        </p:nvSpPr>
        <p:spPr>
          <a:xfrm>
            <a:off x="7414260" y="5547360"/>
            <a:ext cx="346710" cy="1"/>
          </a:xfrm>
          <a:custGeom>
            <a:avLst/>
            <a:gdLst/>
            <a:ahLst/>
            <a:cxnLst/>
            <a:rect l="0" t="0" r="r" b="b"/>
            <a:pathLst>
              <a:path w="346710" h="1" fill="none">
                <a:moveTo>
                  <a:pt x="0" y="0"/>
                </a:moveTo>
                <a:lnTo>
                  <a:pt x="346710" y="0"/>
                </a:lnTo>
              </a:path>
            </a:pathLst>
          </a:custGeom>
          <a:noFill/>
          <a:ln w="149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earlier-device-write"/>
          <p:cNvSpPr/>
          <p:nvPr/>
        </p:nvSpPr>
        <p:spPr>
          <a:xfrm>
            <a:off x="9894570" y="5547360"/>
            <a:ext cx="346710" cy="1"/>
          </a:xfrm>
          <a:custGeom>
            <a:avLst/>
            <a:gdLst/>
            <a:ahLst/>
            <a:cxnLst/>
            <a:rect l="0" t="0" r="r" b="b"/>
            <a:pathLst>
              <a:path w="346710" h="1" fill="none">
                <a:moveTo>
                  <a:pt x="346710" y="0"/>
                </a:moveTo>
                <a:lnTo>
                  <a:pt x="0" y="0"/>
                </a:lnTo>
              </a:path>
            </a:pathLst>
          </a:custGeom>
          <a:noFill/>
          <a:ln w="14935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text-079: 蓝色：CPU / 缓存写入    绿色：设备搬运（经过共享数据代理）    虚线"/>
          <p:cNvSpPr txBox="1"/>
          <p:nvPr/>
        </p:nvSpPr>
        <p:spPr>
          <a:xfrm>
            <a:off x="320040" y="6571061"/>
            <a:ext cx="5316606" cy="22189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蓝色：CPU / 缓存写入    绿色：设备搬运（经过共享数据代理）    虚线：待完成写入</a:t>
            </a:r>
          </a:p>
        </p:txBody>
      </p:sp>
      <p:sp>
        <p:nvSpPr>
          <p:cNvPr id="80" name="text-080: 三个场景共同指向：输入先清理到 DDR，输出写前保护旧数据、写后清除旧副本。"/>
          <p:cNvSpPr txBox="1"/>
          <p:nvPr/>
        </p:nvSpPr>
        <p:spPr>
          <a:xfrm>
            <a:off x="320040" y="6837761"/>
            <a:ext cx="5164229" cy="22189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三个场景共同指向：输入先清理到 DDR，输出写前保护旧数据、写后清除旧副本。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一次推理的两次数据交接"/>
          <p:cNvSpPr txBox="1"/>
          <p:nvPr/>
        </p:nvSpPr>
        <p:spPr>
          <a:xfrm>
            <a:off x="4672584" y="112974"/>
            <a:ext cx="3456432" cy="46085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6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一次推理的两次数据交接</a:t>
            </a:r>
          </a:p>
        </p:txBody>
      </p:sp>
      <p:sp>
        <p:nvSpPr>
          <p:cNvPr id="3" name="stage-1"/>
          <p:cNvSpPr/>
          <p:nvPr/>
        </p:nvSpPr>
        <p:spPr>
          <a:xfrm>
            <a:off x="1440180" y="800100"/>
            <a:ext cx="9921240" cy="896112"/>
          </a:xfrm>
          <a:prstGeom prst="rect">
            <a:avLst/>
          </a:prstGeom>
          <a:solidFill>
            <a:srgbClr val="F1D7D9"/>
          </a:solidFill>
          <a:ln w="1360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-004: CPU／Ara 准备输入"/>
          <p:cNvSpPr txBox="1"/>
          <p:nvPr/>
        </p:nvSpPr>
        <p:spPr>
          <a:xfrm>
            <a:off x="5294468" y="829544"/>
            <a:ext cx="2212664" cy="37124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CPU／Ara 准备输入</a:t>
            </a:r>
          </a:p>
        </p:txBody>
      </p:sp>
      <p:sp>
        <p:nvSpPr>
          <p:cNvPr id="5" name="text-005: 计算结束，交出输入与输出范围"/>
          <p:cNvSpPr txBox="1"/>
          <p:nvPr/>
        </p:nvSpPr>
        <p:spPr>
          <a:xfrm>
            <a:off x="4900612" y="1224153"/>
            <a:ext cx="3000375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计算结束，交出输入与输出范围</a:t>
            </a:r>
          </a:p>
        </p:txBody>
      </p:sp>
      <p:cxnSp>
        <p:nvCxnSpPr>
          <p:cNvPr id="6" name="next-1"/>
          <p:cNvCxnSpPr/>
          <p:nvPr/>
        </p:nvCxnSpPr>
        <p:spPr>
          <a:xfrm>
            <a:off x="6400800" y="1696212"/>
            <a:ext cx="0" cy="256032"/>
          </a:xfrm>
          <a:prstGeom prst="line">
            <a:avLst/>
          </a:prstGeom>
          <a:ln w="22403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7" name="stage-2"/>
          <p:cNvSpPr/>
          <p:nvPr/>
        </p:nvSpPr>
        <p:spPr>
          <a:xfrm>
            <a:off x="1440180" y="1952244"/>
            <a:ext cx="9921240" cy="896112"/>
          </a:xfrm>
          <a:prstGeom prst="rect">
            <a:avLst/>
          </a:prstGeom>
          <a:solidFill>
            <a:srgbClr val="E8DFED"/>
          </a:solidFill>
          <a:ln w="1360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-008: 交接前同步"/>
          <p:cNvSpPr txBox="1"/>
          <p:nvPr/>
        </p:nvSpPr>
        <p:spPr>
          <a:xfrm>
            <a:off x="5704713" y="1981688"/>
            <a:ext cx="1392174" cy="37124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交接前同步</a:t>
            </a:r>
          </a:p>
        </p:txBody>
      </p:sp>
      <p:sp>
        <p:nvSpPr>
          <p:cNvPr id="9" name="text-009: 先排空旧事务，再清理输入、清理并失效输出"/>
          <p:cNvSpPr txBox="1"/>
          <p:nvPr/>
        </p:nvSpPr>
        <p:spPr>
          <a:xfrm>
            <a:off x="4300538" y="2280285"/>
            <a:ext cx="4200525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先排空旧事务，再清理输入、清理并失效输出</a:t>
            </a:r>
          </a:p>
        </p:txBody>
      </p:sp>
      <p:sp>
        <p:nvSpPr>
          <p:cNvPr id="10" name="text-010: 确认设备端口可见，允许启动搬运"/>
          <p:cNvSpPr txBox="1"/>
          <p:nvPr/>
        </p:nvSpPr>
        <p:spPr>
          <a:xfrm>
            <a:off x="4800600" y="2520315"/>
            <a:ext cx="3200400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确认设备端口可见，允许启动搬运</a:t>
            </a:r>
          </a:p>
        </p:txBody>
      </p:sp>
      <p:cxnSp>
        <p:nvCxnSpPr>
          <p:cNvPr id="11" name="next-2"/>
          <p:cNvCxnSpPr/>
          <p:nvPr/>
        </p:nvCxnSpPr>
        <p:spPr>
          <a:xfrm>
            <a:off x="6400800" y="2848356"/>
            <a:ext cx="0" cy="256032"/>
          </a:xfrm>
          <a:prstGeom prst="line">
            <a:avLst/>
          </a:prstGeom>
          <a:ln w="22403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2" name="stage-3"/>
          <p:cNvSpPr/>
          <p:nvPr/>
        </p:nvSpPr>
        <p:spPr>
          <a:xfrm>
            <a:off x="1440180" y="3104388"/>
            <a:ext cx="9921240" cy="896112"/>
          </a:xfrm>
          <a:prstGeom prst="rect">
            <a:avLst/>
          </a:prstGeom>
          <a:solidFill>
            <a:srgbClr val="D9EEE8"/>
          </a:solidFill>
          <a:ln w="1360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-013: 设备执行"/>
          <p:cNvSpPr txBox="1"/>
          <p:nvPr/>
        </p:nvSpPr>
        <p:spPr>
          <a:xfrm>
            <a:off x="5820728" y="3133832"/>
            <a:ext cx="1160145" cy="37124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设备执行</a:t>
            </a:r>
          </a:p>
        </p:txBody>
      </p:sp>
      <p:sp>
        <p:nvSpPr>
          <p:cNvPr id="14" name="text-014: DDR → GB → NPU 计算 → 结果从 GB 写回 DDR"/>
          <p:cNvSpPr txBox="1"/>
          <p:nvPr/>
        </p:nvSpPr>
        <p:spPr>
          <a:xfrm>
            <a:off x="4171709" y="3528441"/>
            <a:ext cx="4458182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→ GB → NPU 计算 → 结果从 GB 写回 DDR</a:t>
            </a:r>
          </a:p>
        </p:txBody>
      </p:sp>
      <p:cxnSp>
        <p:nvCxnSpPr>
          <p:cNvPr id="15" name="next-3"/>
          <p:cNvCxnSpPr/>
          <p:nvPr/>
        </p:nvCxnSpPr>
        <p:spPr>
          <a:xfrm>
            <a:off x="6400800" y="4000500"/>
            <a:ext cx="0" cy="256032"/>
          </a:xfrm>
          <a:prstGeom prst="line">
            <a:avLst/>
          </a:prstGeom>
          <a:ln w="22403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6" name="stage-4"/>
          <p:cNvSpPr/>
          <p:nvPr/>
        </p:nvSpPr>
        <p:spPr>
          <a:xfrm>
            <a:off x="1440180" y="4256532"/>
            <a:ext cx="9921240" cy="896112"/>
          </a:xfrm>
          <a:prstGeom prst="rect">
            <a:avLst/>
          </a:prstGeom>
          <a:solidFill>
            <a:srgbClr val="E8DFED"/>
          </a:solidFill>
          <a:ln w="1360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-017: 交回 CPU 前同步"/>
          <p:cNvSpPr txBox="1"/>
          <p:nvPr/>
        </p:nvSpPr>
        <p:spPr>
          <a:xfrm>
            <a:off x="5424197" y="4285976"/>
            <a:ext cx="1953207" cy="37124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交回 CPU 前同步</a:t>
            </a:r>
          </a:p>
        </p:txBody>
      </p:sp>
      <p:sp>
        <p:nvSpPr>
          <p:cNvPr id="18" name="text-018: 确认写回成功且 CPU 端口可见"/>
          <p:cNvSpPr txBox="1"/>
          <p:nvPr/>
        </p:nvSpPr>
        <p:spPr>
          <a:xfrm>
            <a:off x="4958826" y="4584573"/>
            <a:ext cx="2883948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确认写回成功且 CPU 端口可见</a:t>
            </a:r>
          </a:p>
        </p:txBody>
      </p:sp>
      <p:sp>
        <p:nvSpPr>
          <p:cNvPr id="19" name="text-019: 处理相关回填，再失效 L1D／LLC 输出副本"/>
          <p:cNvSpPr txBox="1"/>
          <p:nvPr/>
        </p:nvSpPr>
        <p:spPr>
          <a:xfrm>
            <a:off x="4402794" y="4824603"/>
            <a:ext cx="3996012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处理相关回填，再失效 L1D／LLC 输出副本</a:t>
            </a:r>
          </a:p>
        </p:txBody>
      </p:sp>
      <p:cxnSp>
        <p:nvCxnSpPr>
          <p:cNvPr id="20" name="next-4"/>
          <p:cNvCxnSpPr/>
          <p:nvPr/>
        </p:nvCxnSpPr>
        <p:spPr>
          <a:xfrm>
            <a:off x="6400800" y="5152644"/>
            <a:ext cx="0" cy="256032"/>
          </a:xfrm>
          <a:prstGeom prst="line">
            <a:avLst/>
          </a:prstGeom>
          <a:ln w="22403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21" name="stage-5"/>
          <p:cNvSpPr/>
          <p:nvPr/>
        </p:nvSpPr>
        <p:spPr>
          <a:xfrm>
            <a:off x="1440180" y="5408676"/>
            <a:ext cx="9921240" cy="896112"/>
          </a:xfrm>
          <a:prstGeom prst="rect">
            <a:avLst/>
          </a:prstGeom>
          <a:solidFill>
            <a:srgbClr val="F1D7D9"/>
          </a:solidFill>
          <a:ln w="1360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-022: CPU 读取结果并后处理"/>
          <p:cNvSpPr txBox="1"/>
          <p:nvPr/>
        </p:nvSpPr>
        <p:spPr>
          <a:xfrm>
            <a:off x="5110933" y="5438120"/>
            <a:ext cx="2579735" cy="37124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读取结果并后处理</a:t>
            </a:r>
          </a:p>
        </p:txBody>
      </p:sp>
      <p:sp>
        <p:nvSpPr>
          <p:cNvPr id="23" name="text-023: 同步成功后重新取得输出使用权"/>
          <p:cNvSpPr txBox="1"/>
          <p:nvPr/>
        </p:nvSpPr>
        <p:spPr>
          <a:xfrm>
            <a:off x="4900612" y="5832729"/>
            <a:ext cx="3000375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同步成功后重新取得输出使用权</a:t>
            </a:r>
          </a:p>
        </p:txBody>
      </p:sp>
      <p:sp>
        <p:nvSpPr>
          <p:cNvPr id="24" name="text-024: 箭头表示先后顺序；每个阶段成功后才进入下一阶段。"/>
          <p:cNvSpPr txBox="1"/>
          <p:nvPr/>
        </p:nvSpPr>
        <p:spPr>
          <a:xfrm>
            <a:off x="4000500" y="6593464"/>
            <a:ext cx="4800600" cy="3072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箭头表示先后顺序；每个阶段成功后才进入下一阶段。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