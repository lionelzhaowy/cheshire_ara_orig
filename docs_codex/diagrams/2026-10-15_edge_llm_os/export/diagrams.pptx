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裸机、RTOS 与 Embedded Linux：推理软件栈"/>
          <p:cNvSpPr txBox="1"/>
          <p:nvPr/>
        </p:nvSpPr>
        <p:spPr>
          <a:xfrm>
            <a:off x="3973342" y="115001"/>
            <a:ext cx="4854915" cy="3669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裸机、RTOS 与 Embedded Linux：推理软件栈</a:t>
            </a:r>
          </a:p>
        </p:txBody>
      </p:sp>
      <p:sp>
        <p:nvSpPr>
          <p:cNvPr id="3" name="text-003: 三种替代执行环境；计算算法可复用，资源管理与设备交接分别适配"/>
          <p:cNvSpPr txBox="1"/>
          <p:nvPr/>
        </p:nvSpPr>
        <p:spPr>
          <a:xfrm>
            <a:off x="4168521" y="457871"/>
            <a:ext cx="446455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三种替代执行环境；计算算法可复用，资源管理与设备交接分别适配</a:t>
            </a:r>
          </a:p>
        </p:txBody>
      </p:sp>
      <p:sp>
        <p:nvSpPr>
          <p:cNvPr id="4" name="c0"/>
          <p:cNvSpPr/>
          <p:nvPr/>
        </p:nvSpPr>
        <p:spPr>
          <a:xfrm>
            <a:off x="320040" y="853440"/>
            <a:ext cx="3947160" cy="5334000"/>
          </a:xfrm>
          <a:prstGeom prst="roundRect">
            <a:avLst>
              <a:gd name="adj" fmla="val 1891"/>
            </a:avLst>
          </a:prstGeom>
          <a:solidFill>
            <a:srgbClr val="EAF2FA"/>
          </a:solidFill>
          <a:ln w="10668" cap="flat">
            <a:solidFill>
              <a:srgbClr val="5C83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裸机"/>
          <p:cNvSpPr txBox="1"/>
          <p:nvPr/>
        </p:nvSpPr>
        <p:spPr>
          <a:xfrm>
            <a:off x="2005584" y="966094"/>
            <a:ext cx="57607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5C83AE"/>
                </a:solidFill>
                <a:latin typeface="Microsoft YaHei"/>
                <a:ea typeface="Microsoft YaHei"/>
                <a:cs typeface="Microsoft YaHei"/>
              </a:rPr>
              <a:t>裸机</a:t>
            </a:r>
          </a:p>
        </p:txBody>
      </p:sp>
      <p:sp>
        <p:nvSpPr>
          <p:cNvPr id="6" name="c0app"/>
          <p:cNvSpPr/>
          <p:nvPr/>
        </p:nvSpPr>
        <p:spPr>
          <a:xfrm>
            <a:off x="480060" y="1386840"/>
            <a:ext cx="3627120" cy="48006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 w="10668" cap="flat">
            <a:solidFill>
              <a:srgbClr val="5C83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模型应用"/>
          <p:cNvSpPr txBox="1"/>
          <p:nvPr/>
        </p:nvSpPr>
        <p:spPr>
          <a:xfrm>
            <a:off x="1906905" y="1417137"/>
            <a:ext cx="773430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模型应用</a:t>
            </a:r>
          </a:p>
        </p:txBody>
      </p:sp>
      <p:sp>
        <p:nvSpPr>
          <p:cNvPr id="8" name="text-008: 输入处理 / 分词 / 采样 / 输出"/>
          <p:cNvSpPr txBox="1"/>
          <p:nvPr/>
        </p:nvSpPr>
        <p:spPr>
          <a:xfrm>
            <a:off x="1336330" y="1637538"/>
            <a:ext cx="1914581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输入处理 / 分词 / 采样 / 输出</a:t>
            </a:r>
          </a:p>
        </p:txBody>
      </p:sp>
      <p:sp>
        <p:nvSpPr>
          <p:cNvPr id="9" name="c0runtime"/>
          <p:cNvSpPr/>
          <p:nvPr/>
        </p:nvSpPr>
        <p:spPr>
          <a:xfrm>
            <a:off x="480060" y="2186940"/>
            <a:ext cx="3627120" cy="5867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668" cap="flat">
            <a:solidFill>
              <a:srgbClr val="5C83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推理运行时 / 算子后端"/>
          <p:cNvSpPr txBox="1"/>
          <p:nvPr/>
        </p:nvSpPr>
        <p:spPr>
          <a:xfrm>
            <a:off x="1433633" y="2270577"/>
            <a:ext cx="1719973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推理运行时 / 算子后端</a:t>
            </a:r>
          </a:p>
        </p:txBody>
      </p:sp>
      <p:sp>
        <p:nvSpPr>
          <p:cNvPr id="11" name="text-011: 模型与张量 / 执行计划 / 工作区与 KV"/>
          <p:cNvSpPr txBox="1"/>
          <p:nvPr/>
        </p:nvSpPr>
        <p:spPr>
          <a:xfrm>
            <a:off x="1112347" y="2490978"/>
            <a:ext cx="2362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模型与张量 / 执行计划 / 工作区与 KV</a:t>
            </a:r>
          </a:p>
        </p:txBody>
      </p:sp>
      <p:sp>
        <p:nvSpPr>
          <p:cNvPr id="12" name="c0a"/>
          <p:cNvSpPr/>
          <p:nvPr/>
        </p:nvSpPr>
        <p:spPr>
          <a:xfrm>
            <a:off x="2293620" y="186690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0env"/>
          <p:cNvSpPr/>
          <p:nvPr/>
        </p:nvSpPr>
        <p:spPr>
          <a:xfrm>
            <a:off x="480060" y="3120390"/>
            <a:ext cx="2240280" cy="5867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668" cap="flat">
            <a:solidFill>
              <a:srgbClr val="5C83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主循环 / 中断 / 状态机"/>
          <p:cNvSpPr txBox="1"/>
          <p:nvPr/>
        </p:nvSpPr>
        <p:spPr>
          <a:xfrm>
            <a:off x="790932" y="3215549"/>
            <a:ext cx="161853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主循环 / 中断 / 状态机</a:t>
            </a:r>
          </a:p>
        </p:txBody>
      </p:sp>
      <p:sp>
        <p:nvSpPr>
          <p:cNvPr id="15" name="text-015: 手动组织资源、事件与错误"/>
          <p:cNvSpPr txBox="1"/>
          <p:nvPr/>
        </p:nvSpPr>
        <p:spPr>
          <a:xfrm>
            <a:off x="733425" y="3424428"/>
            <a:ext cx="17335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手动组织资源、事件与错误</a:t>
            </a:r>
          </a:p>
        </p:txBody>
      </p:sp>
      <p:sp>
        <p:nvSpPr>
          <p:cNvPr id="16" name="c0driver"/>
          <p:cNvSpPr/>
          <p:nvPr/>
        </p:nvSpPr>
        <p:spPr>
          <a:xfrm>
            <a:off x="480060" y="4107180"/>
            <a:ext cx="2240280" cy="61341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10668" cap="flat">
            <a:solidFill>
              <a:srgbClr val="5C83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裸机设备驱动"/>
          <p:cNvSpPr txBox="1"/>
          <p:nvPr/>
        </p:nvSpPr>
        <p:spPr>
          <a:xfrm>
            <a:off x="1077468" y="4209913"/>
            <a:ext cx="1045464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裸机设备驱动</a:t>
            </a:r>
          </a:p>
        </p:txBody>
      </p:sp>
      <p:sp>
        <p:nvSpPr>
          <p:cNvPr id="18" name="text-018: 平台地址 / 同步 / 轮询或 IRQ"/>
          <p:cNvSpPr txBox="1"/>
          <p:nvPr/>
        </p:nvSpPr>
        <p:spPr>
          <a:xfrm>
            <a:off x="661666" y="4424553"/>
            <a:ext cx="187706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平台地址 / 同步 / 轮询或 IRQ</a:t>
            </a:r>
          </a:p>
        </p:txBody>
      </p:sp>
      <p:sp>
        <p:nvSpPr>
          <p:cNvPr id="19" name="c0rvv"/>
          <p:cNvSpPr/>
          <p:nvPr/>
        </p:nvSpPr>
        <p:spPr>
          <a:xfrm>
            <a:off x="2907030" y="3120390"/>
            <a:ext cx="1200150" cy="1600200"/>
          </a:xfrm>
          <a:prstGeom prst="roundRect">
            <a:avLst>
              <a:gd name="adj" fmla="val 6222"/>
            </a:avLst>
          </a:prstGeom>
          <a:solidFill>
            <a:srgbClr val="F5FBF8"/>
          </a:solidFill>
          <a:ln w="10668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向量算子代码"/>
          <p:cNvSpPr txBox="1"/>
          <p:nvPr/>
        </p:nvSpPr>
        <p:spPr>
          <a:xfrm>
            <a:off x="3003042" y="352492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向量算子代码</a:t>
            </a:r>
          </a:p>
        </p:txBody>
      </p:sp>
      <p:sp>
        <p:nvSpPr>
          <p:cNvPr id="21" name="text-021: RVV 指令"/>
          <p:cNvSpPr txBox="1"/>
          <p:nvPr/>
        </p:nvSpPr>
        <p:spPr>
          <a:xfrm>
            <a:off x="3171192" y="3733800"/>
            <a:ext cx="67182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RVV 指令</a:t>
            </a:r>
          </a:p>
        </p:txBody>
      </p:sp>
      <p:sp>
        <p:nvSpPr>
          <p:cNvPr id="22" name="text-022: 显式配置"/>
          <p:cNvSpPr txBox="1"/>
          <p:nvPr/>
        </p:nvSpPr>
        <p:spPr>
          <a:xfrm>
            <a:off x="3173730" y="3931158"/>
            <a:ext cx="6667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显式配置</a:t>
            </a:r>
          </a:p>
        </p:txBody>
      </p:sp>
      <p:sp>
        <p:nvSpPr>
          <p:cNvPr id="23" name="text-023: VS / FS 状态"/>
          <p:cNvSpPr txBox="1"/>
          <p:nvPr/>
        </p:nvSpPr>
        <p:spPr>
          <a:xfrm>
            <a:off x="3060628" y="4128516"/>
            <a:ext cx="892953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VS / FS 状态</a:t>
            </a:r>
          </a:p>
        </p:txBody>
      </p:sp>
      <p:sp>
        <p:nvSpPr>
          <p:cNvPr id="24" name="c0service"/>
          <p:cNvSpPr/>
          <p:nvPr/>
        </p:nvSpPr>
        <p:spPr>
          <a:xfrm>
            <a:off x="1600200" y="2773680"/>
            <a:ext cx="1" cy="346710"/>
          </a:xfrm>
          <a:custGeom>
            <a:avLst/>
            <a:gdLst/>
            <a:ahLst/>
            <a:cxnLst/>
            <a:rect l="0" t="0" r="r" b="b"/>
            <a:pathLst>
              <a:path w="1" h="346710" fill="none">
                <a:moveTo>
                  <a:pt x="0" y="0"/>
                </a:moveTo>
                <a:lnTo>
                  <a:pt x="0" y="34671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调用 / 事件"/>
          <p:cNvSpPr txBox="1"/>
          <p:nvPr/>
        </p:nvSpPr>
        <p:spPr>
          <a:xfrm>
            <a:off x="1701546" y="2849209"/>
            <a:ext cx="7507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调用 / 事件</a:t>
            </a:r>
          </a:p>
        </p:txBody>
      </p:sp>
      <p:sp>
        <p:nvSpPr>
          <p:cNvPr id="26" name="c0device"/>
          <p:cNvSpPr/>
          <p:nvPr/>
        </p:nvSpPr>
        <p:spPr>
          <a:xfrm>
            <a:off x="1600200" y="3707130"/>
            <a:ext cx="1" cy="400050"/>
          </a:xfrm>
          <a:custGeom>
            <a:avLst/>
            <a:gdLst/>
            <a:ahLst/>
            <a:cxnLst/>
            <a:rect l="0" t="0" r="r" b="b"/>
            <a:pathLst>
              <a:path w="1" h="400050" fill="none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设备请求"/>
          <p:cNvSpPr txBox="1"/>
          <p:nvPr/>
        </p:nvSpPr>
        <p:spPr>
          <a:xfrm>
            <a:off x="1701546" y="3809329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设备请求</a:t>
            </a:r>
          </a:p>
        </p:txBody>
      </p:sp>
      <p:sp>
        <p:nvSpPr>
          <p:cNvPr id="28" name="c0rvvcode"/>
          <p:cNvSpPr/>
          <p:nvPr/>
        </p:nvSpPr>
        <p:spPr>
          <a:xfrm>
            <a:off x="3504438" y="2773680"/>
            <a:ext cx="1" cy="346710"/>
          </a:xfrm>
          <a:custGeom>
            <a:avLst/>
            <a:gdLst/>
            <a:ahLst/>
            <a:cxnLst/>
            <a:rect l="0" t="0" r="r" b="b"/>
            <a:pathLst>
              <a:path w="1" h="346710" fill="none">
                <a:moveTo>
                  <a:pt x="0" y="0"/>
                </a:moveTo>
                <a:lnTo>
                  <a:pt x="0" y="346710"/>
                </a:lnTo>
              </a:path>
            </a:pathLst>
          </a:custGeom>
          <a:noFill/>
          <a:ln w="16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算子执行"/>
          <p:cNvSpPr txBox="1"/>
          <p:nvPr/>
        </p:nvSpPr>
        <p:spPr>
          <a:xfrm>
            <a:off x="3600450" y="2854970"/>
            <a:ext cx="58674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算子执行</a:t>
            </a:r>
          </a:p>
        </p:txBody>
      </p:sp>
      <p:sp>
        <p:nvSpPr>
          <p:cNvPr id="30" name="c0npu"/>
          <p:cNvSpPr/>
          <p:nvPr/>
        </p:nvSpPr>
        <p:spPr>
          <a:xfrm>
            <a:off x="480060" y="5253990"/>
            <a:ext cx="2240280" cy="586740"/>
          </a:xfrm>
          <a:prstGeom prst="roundRect">
            <a:avLst>
              <a:gd name="adj" fmla="val 12727"/>
            </a:avLst>
          </a:prstGeom>
          <a:solidFill>
            <a:srgbClr val="F8F3EB"/>
          </a:solidFill>
          <a:ln w="10668" cap="flat">
            <a:solidFill>
              <a:srgbClr val="5C83AE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NPU 设备（候选）"/>
          <p:cNvSpPr txBox="1"/>
          <p:nvPr/>
        </p:nvSpPr>
        <p:spPr>
          <a:xfrm>
            <a:off x="916294" y="5343388"/>
            <a:ext cx="136781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设备（候选）</a:t>
            </a:r>
          </a:p>
        </p:txBody>
      </p:sp>
      <p:sp>
        <p:nvSpPr>
          <p:cNvPr id="32" name="text-032: 命令 / 数据搬运 / 完成状态"/>
          <p:cNvSpPr txBox="1"/>
          <p:nvPr/>
        </p:nvSpPr>
        <p:spPr>
          <a:xfrm>
            <a:off x="717531" y="5558028"/>
            <a:ext cx="17653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数据搬运 / 完成状态</a:t>
            </a:r>
          </a:p>
        </p:txBody>
      </p:sp>
      <p:sp>
        <p:nvSpPr>
          <p:cNvPr id="33" name="c0cpuara"/>
          <p:cNvSpPr/>
          <p:nvPr/>
        </p:nvSpPr>
        <p:spPr>
          <a:xfrm>
            <a:off x="2907030" y="5253990"/>
            <a:ext cx="1200150" cy="586740"/>
          </a:xfrm>
          <a:prstGeom prst="roundRect">
            <a:avLst>
              <a:gd name="adj" fmla="val 12727"/>
            </a:avLst>
          </a:prstGeom>
          <a:solidFill>
            <a:srgbClr val="E0F0E8"/>
          </a:solidFill>
          <a:ln w="10668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CVA6 / Ara"/>
          <p:cNvSpPr txBox="1"/>
          <p:nvPr/>
        </p:nvSpPr>
        <p:spPr>
          <a:xfrm>
            <a:off x="3068371" y="5343388"/>
            <a:ext cx="87746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/ Ara</a:t>
            </a:r>
          </a:p>
        </p:txBody>
      </p:sp>
      <p:sp>
        <p:nvSpPr>
          <p:cNvPr id="35" name="text-035: RVV 执行路径"/>
          <p:cNvSpPr txBox="1"/>
          <p:nvPr/>
        </p:nvSpPr>
        <p:spPr>
          <a:xfrm>
            <a:off x="3037842" y="5558028"/>
            <a:ext cx="93852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RVV 执行路径</a:t>
            </a:r>
          </a:p>
        </p:txBody>
      </p:sp>
      <p:sp>
        <p:nvSpPr>
          <p:cNvPr id="36" name="c0submit"/>
          <p:cNvSpPr/>
          <p:nvPr/>
        </p:nvSpPr>
        <p:spPr>
          <a:xfrm>
            <a:off x="1600200" y="4720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6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提交 / 完成"/>
          <p:cNvSpPr txBox="1"/>
          <p:nvPr/>
        </p:nvSpPr>
        <p:spPr>
          <a:xfrm>
            <a:off x="1701546" y="4902799"/>
            <a:ext cx="7507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提交 / 完成</a:t>
            </a:r>
          </a:p>
        </p:txBody>
      </p:sp>
      <p:sp>
        <p:nvSpPr>
          <p:cNvPr id="38" name="c0execute"/>
          <p:cNvSpPr/>
          <p:nvPr/>
        </p:nvSpPr>
        <p:spPr>
          <a:xfrm>
            <a:off x="3504438" y="4720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6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指令执行"/>
          <p:cNvSpPr txBox="1"/>
          <p:nvPr/>
        </p:nvSpPr>
        <p:spPr>
          <a:xfrm>
            <a:off x="3600450" y="4908560"/>
            <a:ext cx="58674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40" name="text-040: 共享平台资源：主存 / 缓存 / 中断"/>
          <p:cNvSpPr txBox="1"/>
          <p:nvPr/>
        </p:nvSpPr>
        <p:spPr>
          <a:xfrm>
            <a:off x="1210926" y="5904738"/>
            <a:ext cx="216538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83AE"/>
                </a:solidFill>
                <a:latin typeface="Microsoft YaHei"/>
                <a:ea typeface="Microsoft YaHei"/>
                <a:cs typeface="Microsoft YaHei"/>
              </a:rPr>
              <a:t>共享平台资源：主存 / 缓存 / 中断</a:t>
            </a:r>
          </a:p>
        </p:txBody>
      </p:sp>
      <p:sp>
        <p:nvSpPr>
          <p:cNvPr id="41" name="c1"/>
          <p:cNvSpPr/>
          <p:nvPr/>
        </p:nvSpPr>
        <p:spPr>
          <a:xfrm>
            <a:off x="4427220" y="853440"/>
            <a:ext cx="3947160" cy="5334000"/>
          </a:xfrm>
          <a:prstGeom prst="roundRect">
            <a:avLst>
              <a:gd name="adj" fmla="val 1891"/>
            </a:avLst>
          </a:prstGeom>
          <a:solidFill>
            <a:srgbClr val="F0EAF6"/>
          </a:solidFill>
          <a:ln w="10668" cap="flat">
            <a:solidFill>
              <a:srgbClr val="907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RTOS"/>
          <p:cNvSpPr txBox="1"/>
          <p:nvPr/>
        </p:nvSpPr>
        <p:spPr>
          <a:xfrm>
            <a:off x="6074601" y="966094"/>
            <a:ext cx="65239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9076AC"/>
                </a:solidFill>
                <a:latin typeface="Microsoft YaHei"/>
                <a:ea typeface="Microsoft YaHei"/>
                <a:cs typeface="Microsoft YaHei"/>
              </a:rPr>
              <a:t>RTOS</a:t>
            </a:r>
          </a:p>
        </p:txBody>
      </p:sp>
      <p:sp>
        <p:nvSpPr>
          <p:cNvPr id="43" name="c1app"/>
          <p:cNvSpPr/>
          <p:nvPr/>
        </p:nvSpPr>
        <p:spPr>
          <a:xfrm>
            <a:off x="4587240" y="1386840"/>
            <a:ext cx="3627120" cy="48006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 w="10668" cap="flat">
            <a:solidFill>
              <a:srgbClr val="907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模型应用"/>
          <p:cNvSpPr txBox="1"/>
          <p:nvPr/>
        </p:nvSpPr>
        <p:spPr>
          <a:xfrm>
            <a:off x="6014085" y="1417137"/>
            <a:ext cx="773430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模型应用</a:t>
            </a:r>
          </a:p>
        </p:txBody>
      </p:sp>
      <p:sp>
        <p:nvSpPr>
          <p:cNvPr id="45" name="text-045: 输入处理 / 分词 / 采样 / 输出"/>
          <p:cNvSpPr txBox="1"/>
          <p:nvPr/>
        </p:nvSpPr>
        <p:spPr>
          <a:xfrm>
            <a:off x="5443510" y="1637538"/>
            <a:ext cx="1914581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输入处理 / 分词 / 采样 / 输出</a:t>
            </a:r>
          </a:p>
        </p:txBody>
      </p:sp>
      <p:sp>
        <p:nvSpPr>
          <p:cNvPr id="46" name="c1runtime"/>
          <p:cNvSpPr/>
          <p:nvPr/>
        </p:nvSpPr>
        <p:spPr>
          <a:xfrm>
            <a:off x="4587240" y="2186940"/>
            <a:ext cx="3627120" cy="5867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668" cap="flat">
            <a:solidFill>
              <a:srgbClr val="907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推理运行时 / 算子后端"/>
          <p:cNvSpPr txBox="1"/>
          <p:nvPr/>
        </p:nvSpPr>
        <p:spPr>
          <a:xfrm>
            <a:off x="5540813" y="2270577"/>
            <a:ext cx="1719973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推理运行时 / 算子后端</a:t>
            </a:r>
          </a:p>
        </p:txBody>
      </p:sp>
      <p:sp>
        <p:nvSpPr>
          <p:cNvPr id="48" name="text-048: 模型与张量 / 执行计划 / 工作区与 KV"/>
          <p:cNvSpPr txBox="1"/>
          <p:nvPr/>
        </p:nvSpPr>
        <p:spPr>
          <a:xfrm>
            <a:off x="5219527" y="2490978"/>
            <a:ext cx="2362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模型与张量 / 执行计划 / 工作区与 KV</a:t>
            </a:r>
          </a:p>
        </p:txBody>
      </p:sp>
      <p:sp>
        <p:nvSpPr>
          <p:cNvPr id="49" name="c1a"/>
          <p:cNvSpPr/>
          <p:nvPr/>
        </p:nvSpPr>
        <p:spPr>
          <a:xfrm>
            <a:off x="6400800" y="186690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1env"/>
          <p:cNvSpPr/>
          <p:nvPr/>
        </p:nvSpPr>
        <p:spPr>
          <a:xfrm>
            <a:off x="4587240" y="3120390"/>
            <a:ext cx="2240280" cy="5867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668" cap="flat">
            <a:solidFill>
              <a:srgbClr val="907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任务 / 队列 / 信号量"/>
          <p:cNvSpPr txBox="1"/>
          <p:nvPr/>
        </p:nvSpPr>
        <p:spPr>
          <a:xfrm>
            <a:off x="4970121" y="3215549"/>
            <a:ext cx="147451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任务 / 队列 / 信号量</a:t>
            </a:r>
          </a:p>
        </p:txBody>
      </p:sp>
      <p:sp>
        <p:nvSpPr>
          <p:cNvPr id="52" name="text-052: 按优先级调度与同步"/>
          <p:cNvSpPr txBox="1"/>
          <p:nvPr/>
        </p:nvSpPr>
        <p:spPr>
          <a:xfrm>
            <a:off x="5040630" y="3424428"/>
            <a:ext cx="13335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按优先级调度与同步</a:t>
            </a:r>
          </a:p>
        </p:txBody>
      </p:sp>
      <p:sp>
        <p:nvSpPr>
          <p:cNvPr id="53" name="c1driver"/>
          <p:cNvSpPr/>
          <p:nvPr/>
        </p:nvSpPr>
        <p:spPr>
          <a:xfrm>
            <a:off x="4587240" y="4107180"/>
            <a:ext cx="2240280" cy="61341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10668" cap="flat">
            <a:solidFill>
              <a:srgbClr val="907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RTOS 设备驱动"/>
          <p:cNvSpPr txBox="1"/>
          <p:nvPr/>
        </p:nvSpPr>
        <p:spPr>
          <a:xfrm>
            <a:off x="5132575" y="4209913"/>
            <a:ext cx="114961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RTOS 设备驱动</a:t>
            </a:r>
          </a:p>
        </p:txBody>
      </p:sp>
      <p:sp>
        <p:nvSpPr>
          <p:cNvPr id="55" name="text-055: 互斥 / 提交 / ISR 唤醒"/>
          <p:cNvSpPr txBox="1"/>
          <p:nvPr/>
        </p:nvSpPr>
        <p:spPr>
          <a:xfrm>
            <a:off x="4971542" y="4424553"/>
            <a:ext cx="147167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互斥 / 提交 / ISR 唤醒</a:t>
            </a:r>
          </a:p>
        </p:txBody>
      </p:sp>
      <p:sp>
        <p:nvSpPr>
          <p:cNvPr id="56" name="c1rvv"/>
          <p:cNvSpPr/>
          <p:nvPr/>
        </p:nvSpPr>
        <p:spPr>
          <a:xfrm>
            <a:off x="7014210" y="3120390"/>
            <a:ext cx="1200150" cy="1600200"/>
          </a:xfrm>
          <a:prstGeom prst="roundRect">
            <a:avLst>
              <a:gd name="adj" fmla="val 6222"/>
            </a:avLst>
          </a:prstGeom>
          <a:solidFill>
            <a:srgbClr val="F5FBF8"/>
          </a:solidFill>
          <a:ln w="10668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向量算子代码"/>
          <p:cNvSpPr txBox="1"/>
          <p:nvPr/>
        </p:nvSpPr>
        <p:spPr>
          <a:xfrm>
            <a:off x="7110222" y="352492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向量算子代码</a:t>
            </a:r>
          </a:p>
        </p:txBody>
      </p:sp>
      <p:sp>
        <p:nvSpPr>
          <p:cNvPr id="58" name="text-058: RVV 指令"/>
          <p:cNvSpPr txBox="1"/>
          <p:nvPr/>
        </p:nvSpPr>
        <p:spPr>
          <a:xfrm>
            <a:off x="7278372" y="3733800"/>
            <a:ext cx="67182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RVV 指令</a:t>
            </a:r>
          </a:p>
        </p:txBody>
      </p:sp>
      <p:sp>
        <p:nvSpPr>
          <p:cNvPr id="59" name="text-059: FP / RVV 上下文"/>
          <p:cNvSpPr txBox="1"/>
          <p:nvPr/>
        </p:nvSpPr>
        <p:spPr>
          <a:xfrm>
            <a:off x="7067796" y="3931158"/>
            <a:ext cx="1092978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FP / RVV 上下文</a:t>
            </a:r>
          </a:p>
        </p:txBody>
      </p:sp>
      <p:sp>
        <p:nvSpPr>
          <p:cNvPr id="60" name="text-060: 需适配与验收"/>
          <p:cNvSpPr txBox="1"/>
          <p:nvPr/>
        </p:nvSpPr>
        <p:spPr>
          <a:xfrm>
            <a:off x="7147560" y="4128516"/>
            <a:ext cx="9334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需适配与验收</a:t>
            </a:r>
          </a:p>
        </p:txBody>
      </p:sp>
      <p:sp>
        <p:nvSpPr>
          <p:cNvPr id="61" name="c1service"/>
          <p:cNvSpPr/>
          <p:nvPr/>
        </p:nvSpPr>
        <p:spPr>
          <a:xfrm>
            <a:off x="5707380" y="2773680"/>
            <a:ext cx="1" cy="346710"/>
          </a:xfrm>
          <a:custGeom>
            <a:avLst/>
            <a:gdLst/>
            <a:ahLst/>
            <a:cxnLst/>
            <a:rect l="0" t="0" r="r" b="b"/>
            <a:pathLst>
              <a:path w="1" h="346710" fill="none">
                <a:moveTo>
                  <a:pt x="0" y="0"/>
                </a:moveTo>
                <a:lnTo>
                  <a:pt x="0" y="34671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服务 / 等待"/>
          <p:cNvSpPr txBox="1"/>
          <p:nvPr/>
        </p:nvSpPr>
        <p:spPr>
          <a:xfrm>
            <a:off x="5808726" y="2849209"/>
            <a:ext cx="7507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服务 / 等待</a:t>
            </a:r>
          </a:p>
        </p:txBody>
      </p:sp>
      <p:sp>
        <p:nvSpPr>
          <p:cNvPr id="63" name="c1device"/>
          <p:cNvSpPr/>
          <p:nvPr/>
        </p:nvSpPr>
        <p:spPr>
          <a:xfrm>
            <a:off x="5707380" y="3707130"/>
            <a:ext cx="1" cy="400050"/>
          </a:xfrm>
          <a:custGeom>
            <a:avLst/>
            <a:gdLst/>
            <a:ahLst/>
            <a:cxnLst/>
            <a:rect l="0" t="0" r="r" b="b"/>
            <a:pathLst>
              <a:path w="1" h="400050" fill="none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设备请求"/>
          <p:cNvSpPr txBox="1"/>
          <p:nvPr/>
        </p:nvSpPr>
        <p:spPr>
          <a:xfrm>
            <a:off x="5808726" y="3809329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设备请求</a:t>
            </a:r>
          </a:p>
        </p:txBody>
      </p:sp>
      <p:sp>
        <p:nvSpPr>
          <p:cNvPr id="65" name="c1rvvcode"/>
          <p:cNvSpPr/>
          <p:nvPr/>
        </p:nvSpPr>
        <p:spPr>
          <a:xfrm>
            <a:off x="7611618" y="2773680"/>
            <a:ext cx="1" cy="346710"/>
          </a:xfrm>
          <a:custGeom>
            <a:avLst/>
            <a:gdLst/>
            <a:ahLst/>
            <a:cxnLst/>
            <a:rect l="0" t="0" r="r" b="b"/>
            <a:pathLst>
              <a:path w="1" h="346710" fill="none">
                <a:moveTo>
                  <a:pt x="0" y="0"/>
                </a:moveTo>
                <a:lnTo>
                  <a:pt x="0" y="346710"/>
                </a:lnTo>
              </a:path>
            </a:pathLst>
          </a:custGeom>
          <a:noFill/>
          <a:ln w="16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算子执行"/>
          <p:cNvSpPr txBox="1"/>
          <p:nvPr/>
        </p:nvSpPr>
        <p:spPr>
          <a:xfrm>
            <a:off x="7707630" y="2854970"/>
            <a:ext cx="58674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算子执行</a:t>
            </a:r>
          </a:p>
        </p:txBody>
      </p:sp>
      <p:sp>
        <p:nvSpPr>
          <p:cNvPr id="67" name="c1npu"/>
          <p:cNvSpPr/>
          <p:nvPr/>
        </p:nvSpPr>
        <p:spPr>
          <a:xfrm>
            <a:off x="4587240" y="5253990"/>
            <a:ext cx="2240280" cy="586740"/>
          </a:xfrm>
          <a:prstGeom prst="roundRect">
            <a:avLst>
              <a:gd name="adj" fmla="val 12727"/>
            </a:avLst>
          </a:prstGeom>
          <a:solidFill>
            <a:srgbClr val="F8F3EB"/>
          </a:solidFill>
          <a:ln w="10668" cap="flat">
            <a:solidFill>
              <a:srgbClr val="9076AC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NPU 设备（候选）"/>
          <p:cNvSpPr txBox="1"/>
          <p:nvPr/>
        </p:nvSpPr>
        <p:spPr>
          <a:xfrm>
            <a:off x="5023474" y="5343388"/>
            <a:ext cx="136781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设备（候选）</a:t>
            </a:r>
          </a:p>
        </p:txBody>
      </p:sp>
      <p:sp>
        <p:nvSpPr>
          <p:cNvPr id="69" name="text-069: 命令 / 数据搬运 / 完成状态"/>
          <p:cNvSpPr txBox="1"/>
          <p:nvPr/>
        </p:nvSpPr>
        <p:spPr>
          <a:xfrm>
            <a:off x="4824711" y="5558028"/>
            <a:ext cx="17653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数据搬运 / 完成状态</a:t>
            </a:r>
          </a:p>
        </p:txBody>
      </p:sp>
      <p:sp>
        <p:nvSpPr>
          <p:cNvPr id="70" name="c1cpuara"/>
          <p:cNvSpPr/>
          <p:nvPr/>
        </p:nvSpPr>
        <p:spPr>
          <a:xfrm>
            <a:off x="7014210" y="5253990"/>
            <a:ext cx="1200150" cy="586740"/>
          </a:xfrm>
          <a:prstGeom prst="roundRect">
            <a:avLst>
              <a:gd name="adj" fmla="val 12727"/>
            </a:avLst>
          </a:prstGeom>
          <a:solidFill>
            <a:srgbClr val="E0F0E8"/>
          </a:solidFill>
          <a:ln w="10668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CVA6 / Ara"/>
          <p:cNvSpPr txBox="1"/>
          <p:nvPr/>
        </p:nvSpPr>
        <p:spPr>
          <a:xfrm>
            <a:off x="7175551" y="5343388"/>
            <a:ext cx="87746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/ Ara</a:t>
            </a:r>
          </a:p>
        </p:txBody>
      </p:sp>
      <p:sp>
        <p:nvSpPr>
          <p:cNvPr id="72" name="text-072: RVV 执行路径"/>
          <p:cNvSpPr txBox="1"/>
          <p:nvPr/>
        </p:nvSpPr>
        <p:spPr>
          <a:xfrm>
            <a:off x="7145022" y="5558028"/>
            <a:ext cx="93852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RVV 执行路径</a:t>
            </a:r>
          </a:p>
        </p:txBody>
      </p:sp>
      <p:sp>
        <p:nvSpPr>
          <p:cNvPr id="73" name="c1submit"/>
          <p:cNvSpPr/>
          <p:nvPr/>
        </p:nvSpPr>
        <p:spPr>
          <a:xfrm>
            <a:off x="5707380" y="4720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6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提交 / 完成"/>
          <p:cNvSpPr txBox="1"/>
          <p:nvPr/>
        </p:nvSpPr>
        <p:spPr>
          <a:xfrm>
            <a:off x="5808726" y="4902799"/>
            <a:ext cx="7507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提交 / 完成</a:t>
            </a:r>
          </a:p>
        </p:txBody>
      </p:sp>
      <p:sp>
        <p:nvSpPr>
          <p:cNvPr id="75" name="c1execute"/>
          <p:cNvSpPr/>
          <p:nvPr/>
        </p:nvSpPr>
        <p:spPr>
          <a:xfrm>
            <a:off x="7611618" y="4720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6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指令执行"/>
          <p:cNvSpPr txBox="1"/>
          <p:nvPr/>
        </p:nvSpPr>
        <p:spPr>
          <a:xfrm>
            <a:off x="7707630" y="4908560"/>
            <a:ext cx="58674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77" name="text-077: 共享平台资源：主存 / 缓存 / 中断"/>
          <p:cNvSpPr txBox="1"/>
          <p:nvPr/>
        </p:nvSpPr>
        <p:spPr>
          <a:xfrm>
            <a:off x="5318106" y="5904738"/>
            <a:ext cx="216538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076AC"/>
                </a:solidFill>
                <a:latin typeface="Microsoft YaHei"/>
                <a:ea typeface="Microsoft YaHei"/>
                <a:cs typeface="Microsoft YaHei"/>
              </a:rPr>
              <a:t>共享平台资源：主存 / 缓存 / 中断</a:t>
            </a:r>
          </a:p>
        </p:txBody>
      </p:sp>
      <p:sp>
        <p:nvSpPr>
          <p:cNvPr id="78" name="c2"/>
          <p:cNvSpPr/>
          <p:nvPr/>
        </p:nvSpPr>
        <p:spPr>
          <a:xfrm>
            <a:off x="8534400" y="853440"/>
            <a:ext cx="3947160" cy="5334000"/>
          </a:xfrm>
          <a:prstGeom prst="roundRect">
            <a:avLst>
              <a:gd name="adj" fmla="val 1891"/>
            </a:avLst>
          </a:prstGeom>
          <a:solidFill>
            <a:srgbClr val="E8F3ED"/>
          </a:solidFill>
          <a:ln w="10668" cap="flat">
            <a:solidFill>
              <a:srgbClr val="6799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mbedded Linux"/>
          <p:cNvSpPr txBox="1"/>
          <p:nvPr/>
        </p:nvSpPr>
        <p:spPr>
          <a:xfrm>
            <a:off x="9723561" y="966094"/>
            <a:ext cx="156883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679980"/>
                </a:solidFill>
                <a:latin typeface="Microsoft YaHei"/>
                <a:ea typeface="Microsoft YaHei"/>
                <a:cs typeface="Microsoft YaHei"/>
              </a:rPr>
              <a:t>Embedded Linux</a:t>
            </a:r>
          </a:p>
        </p:txBody>
      </p:sp>
      <p:sp>
        <p:nvSpPr>
          <p:cNvPr id="80" name="c2app"/>
          <p:cNvSpPr/>
          <p:nvPr/>
        </p:nvSpPr>
        <p:spPr>
          <a:xfrm>
            <a:off x="8694420" y="1386840"/>
            <a:ext cx="3627120" cy="48006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 w="10668" cap="flat">
            <a:solidFill>
              <a:srgbClr val="6799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模型应用"/>
          <p:cNvSpPr txBox="1"/>
          <p:nvPr/>
        </p:nvSpPr>
        <p:spPr>
          <a:xfrm>
            <a:off x="10121265" y="1417137"/>
            <a:ext cx="773430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模型应用</a:t>
            </a:r>
          </a:p>
        </p:txBody>
      </p:sp>
      <p:sp>
        <p:nvSpPr>
          <p:cNvPr id="82" name="text-082: 输入处理 / 分词 / 采样 / 输出"/>
          <p:cNvSpPr txBox="1"/>
          <p:nvPr/>
        </p:nvSpPr>
        <p:spPr>
          <a:xfrm>
            <a:off x="9550690" y="1637538"/>
            <a:ext cx="1914581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输入处理 / 分词 / 采样 / 输出</a:t>
            </a:r>
          </a:p>
        </p:txBody>
      </p:sp>
      <p:sp>
        <p:nvSpPr>
          <p:cNvPr id="83" name="c2runtime"/>
          <p:cNvSpPr/>
          <p:nvPr/>
        </p:nvSpPr>
        <p:spPr>
          <a:xfrm>
            <a:off x="8694420" y="2186940"/>
            <a:ext cx="3627120" cy="5867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668" cap="flat">
            <a:solidFill>
              <a:srgbClr val="6799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推理运行时 / 算子后端"/>
          <p:cNvSpPr txBox="1"/>
          <p:nvPr/>
        </p:nvSpPr>
        <p:spPr>
          <a:xfrm>
            <a:off x="9647993" y="2270577"/>
            <a:ext cx="1719973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推理运行时 / 算子后端</a:t>
            </a:r>
          </a:p>
        </p:txBody>
      </p:sp>
      <p:sp>
        <p:nvSpPr>
          <p:cNvPr id="85" name="text-085: 模型与张量 / 执行计划 / 工作区与 KV"/>
          <p:cNvSpPr txBox="1"/>
          <p:nvPr/>
        </p:nvSpPr>
        <p:spPr>
          <a:xfrm>
            <a:off x="9326707" y="2490978"/>
            <a:ext cx="236254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模型与张量 / 执行计划 / 工作区与 KV</a:t>
            </a:r>
          </a:p>
        </p:txBody>
      </p:sp>
      <p:sp>
        <p:nvSpPr>
          <p:cNvPr id="86" name="c2a"/>
          <p:cNvSpPr/>
          <p:nvPr/>
        </p:nvSpPr>
        <p:spPr>
          <a:xfrm>
            <a:off x="10507980" y="1866900"/>
            <a:ext cx="1" cy="320040"/>
          </a:xfrm>
          <a:custGeom>
            <a:avLst/>
            <a:gdLst/>
            <a:ahLst/>
            <a:cxnLst/>
            <a:rect l="0" t="0" r="r" b="b"/>
            <a:pathLst>
              <a:path w="1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2env"/>
          <p:cNvSpPr/>
          <p:nvPr/>
        </p:nvSpPr>
        <p:spPr>
          <a:xfrm>
            <a:off x="8694420" y="3120390"/>
            <a:ext cx="2240280" cy="5867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668" cap="flat">
            <a:solidFill>
              <a:srgbClr val="6799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进程 / 线程 / 系统服务"/>
          <p:cNvSpPr txBox="1"/>
          <p:nvPr/>
        </p:nvSpPr>
        <p:spPr>
          <a:xfrm>
            <a:off x="9005292" y="3215549"/>
            <a:ext cx="161853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进程 / 线程 / 系统服务</a:t>
            </a:r>
          </a:p>
        </p:txBody>
      </p:sp>
      <p:sp>
        <p:nvSpPr>
          <p:cNvPr id="89" name="text-089: 文件、内存与生命周期管理"/>
          <p:cNvSpPr txBox="1"/>
          <p:nvPr/>
        </p:nvSpPr>
        <p:spPr>
          <a:xfrm>
            <a:off x="8947785" y="3424428"/>
            <a:ext cx="17335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文件、内存与生命周期管理</a:t>
            </a:r>
          </a:p>
        </p:txBody>
      </p:sp>
      <p:sp>
        <p:nvSpPr>
          <p:cNvPr id="90" name="c2driver"/>
          <p:cNvSpPr/>
          <p:nvPr/>
        </p:nvSpPr>
        <p:spPr>
          <a:xfrm>
            <a:off x="8694420" y="4107180"/>
            <a:ext cx="2240280" cy="61341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10668" cap="flat">
            <a:solidFill>
              <a:srgbClr val="6799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Linux 内核设备驱动"/>
          <p:cNvSpPr txBox="1"/>
          <p:nvPr/>
        </p:nvSpPr>
        <p:spPr>
          <a:xfrm>
            <a:off x="9100904" y="4209913"/>
            <a:ext cx="1427312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Linux 内核设备驱动</a:t>
            </a:r>
          </a:p>
        </p:txBody>
      </p:sp>
      <p:sp>
        <p:nvSpPr>
          <p:cNvPr id="92" name="text-092: DMA 映射 / 同步 / IRQ"/>
          <p:cNvSpPr txBox="1"/>
          <p:nvPr/>
        </p:nvSpPr>
        <p:spPr>
          <a:xfrm>
            <a:off x="9073513" y="4424553"/>
            <a:ext cx="148209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 映射 / 同步 / IRQ</a:t>
            </a:r>
          </a:p>
        </p:txBody>
      </p:sp>
      <p:sp>
        <p:nvSpPr>
          <p:cNvPr id="93" name="c2rvv"/>
          <p:cNvSpPr/>
          <p:nvPr/>
        </p:nvSpPr>
        <p:spPr>
          <a:xfrm>
            <a:off x="11121390" y="3120390"/>
            <a:ext cx="1200150" cy="1600200"/>
          </a:xfrm>
          <a:prstGeom prst="roundRect">
            <a:avLst>
              <a:gd name="adj" fmla="val 6222"/>
            </a:avLst>
          </a:prstGeom>
          <a:solidFill>
            <a:srgbClr val="F5FBF8"/>
          </a:solidFill>
          <a:ln w="10668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-094: 向量算子代码"/>
          <p:cNvSpPr txBox="1"/>
          <p:nvPr/>
        </p:nvSpPr>
        <p:spPr>
          <a:xfrm>
            <a:off x="11217402" y="352492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向量算子代码</a:t>
            </a:r>
          </a:p>
        </p:txBody>
      </p:sp>
      <p:sp>
        <p:nvSpPr>
          <p:cNvPr id="95" name="text-095: RVV 指令"/>
          <p:cNvSpPr txBox="1"/>
          <p:nvPr/>
        </p:nvSpPr>
        <p:spPr>
          <a:xfrm>
            <a:off x="11385552" y="3733800"/>
            <a:ext cx="67182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RVV 指令</a:t>
            </a:r>
          </a:p>
        </p:txBody>
      </p:sp>
      <p:sp>
        <p:nvSpPr>
          <p:cNvPr id="96" name="text-096: 用户态 RVV"/>
          <p:cNvSpPr txBox="1"/>
          <p:nvPr/>
        </p:nvSpPr>
        <p:spPr>
          <a:xfrm>
            <a:off x="11318877" y="3931158"/>
            <a:ext cx="80517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用户态 RVV</a:t>
            </a:r>
          </a:p>
        </p:txBody>
      </p:sp>
      <p:sp>
        <p:nvSpPr>
          <p:cNvPr id="97" name="text-097: 上下文需验收"/>
          <p:cNvSpPr txBox="1"/>
          <p:nvPr/>
        </p:nvSpPr>
        <p:spPr>
          <a:xfrm>
            <a:off x="11254740" y="4128516"/>
            <a:ext cx="9334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上下文需验收</a:t>
            </a:r>
          </a:p>
        </p:txBody>
      </p:sp>
      <p:sp>
        <p:nvSpPr>
          <p:cNvPr id="98" name="c2service"/>
          <p:cNvSpPr/>
          <p:nvPr/>
        </p:nvSpPr>
        <p:spPr>
          <a:xfrm>
            <a:off x="9814560" y="2773680"/>
            <a:ext cx="1" cy="346710"/>
          </a:xfrm>
          <a:custGeom>
            <a:avLst/>
            <a:gdLst/>
            <a:ahLst/>
            <a:cxnLst/>
            <a:rect l="0" t="0" r="r" b="b"/>
            <a:pathLst>
              <a:path w="1" h="346710" fill="none">
                <a:moveTo>
                  <a:pt x="0" y="0"/>
                </a:moveTo>
                <a:lnTo>
                  <a:pt x="0" y="34671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9: 系统服务"/>
          <p:cNvSpPr txBox="1"/>
          <p:nvPr/>
        </p:nvSpPr>
        <p:spPr>
          <a:xfrm>
            <a:off x="9915906" y="2849209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系统服务</a:t>
            </a:r>
          </a:p>
        </p:txBody>
      </p:sp>
      <p:sp>
        <p:nvSpPr>
          <p:cNvPr id="100" name="c2device"/>
          <p:cNvSpPr/>
          <p:nvPr/>
        </p:nvSpPr>
        <p:spPr>
          <a:xfrm>
            <a:off x="9814560" y="3707130"/>
            <a:ext cx="1" cy="400050"/>
          </a:xfrm>
          <a:custGeom>
            <a:avLst/>
            <a:gdLst/>
            <a:ahLst/>
            <a:cxnLst/>
            <a:rect l="0" t="0" r="r" b="b"/>
            <a:pathLst>
              <a:path w="1" h="400050" fill="none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1: 设备请求"/>
          <p:cNvSpPr txBox="1"/>
          <p:nvPr/>
        </p:nvSpPr>
        <p:spPr>
          <a:xfrm>
            <a:off x="9915906" y="3809329"/>
            <a:ext cx="6134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设备请求</a:t>
            </a:r>
          </a:p>
        </p:txBody>
      </p:sp>
      <p:sp>
        <p:nvSpPr>
          <p:cNvPr id="102" name="c2rvvcode"/>
          <p:cNvSpPr/>
          <p:nvPr/>
        </p:nvSpPr>
        <p:spPr>
          <a:xfrm>
            <a:off x="11718798" y="2773680"/>
            <a:ext cx="1" cy="346710"/>
          </a:xfrm>
          <a:custGeom>
            <a:avLst/>
            <a:gdLst/>
            <a:ahLst/>
            <a:cxnLst/>
            <a:rect l="0" t="0" r="r" b="b"/>
            <a:pathLst>
              <a:path w="1" h="346710" fill="none">
                <a:moveTo>
                  <a:pt x="0" y="0"/>
                </a:moveTo>
                <a:lnTo>
                  <a:pt x="0" y="346710"/>
                </a:lnTo>
              </a:path>
            </a:pathLst>
          </a:custGeom>
          <a:noFill/>
          <a:ln w="16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-103: 算子执行"/>
          <p:cNvSpPr txBox="1"/>
          <p:nvPr/>
        </p:nvSpPr>
        <p:spPr>
          <a:xfrm>
            <a:off x="11814810" y="2854970"/>
            <a:ext cx="58674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算子执行</a:t>
            </a:r>
          </a:p>
        </p:txBody>
      </p:sp>
      <p:sp>
        <p:nvSpPr>
          <p:cNvPr id="104" name="c2npu"/>
          <p:cNvSpPr/>
          <p:nvPr/>
        </p:nvSpPr>
        <p:spPr>
          <a:xfrm>
            <a:off x="8694420" y="5253990"/>
            <a:ext cx="2240280" cy="586740"/>
          </a:xfrm>
          <a:prstGeom prst="roundRect">
            <a:avLst>
              <a:gd name="adj" fmla="val 12727"/>
            </a:avLst>
          </a:prstGeom>
          <a:solidFill>
            <a:srgbClr val="F8F3EB"/>
          </a:solidFill>
          <a:ln w="10668" cap="flat">
            <a:solidFill>
              <a:srgbClr val="679980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105: NPU 设备（候选）"/>
          <p:cNvSpPr txBox="1"/>
          <p:nvPr/>
        </p:nvSpPr>
        <p:spPr>
          <a:xfrm>
            <a:off x="9130654" y="5343388"/>
            <a:ext cx="1367813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设备（候选）</a:t>
            </a:r>
          </a:p>
        </p:txBody>
      </p:sp>
      <p:sp>
        <p:nvSpPr>
          <p:cNvPr id="106" name="text-106: 命令 / 数据搬运 / 完成状态"/>
          <p:cNvSpPr txBox="1"/>
          <p:nvPr/>
        </p:nvSpPr>
        <p:spPr>
          <a:xfrm>
            <a:off x="8931891" y="5558028"/>
            <a:ext cx="17653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数据搬运 / 完成状态</a:t>
            </a:r>
          </a:p>
        </p:txBody>
      </p:sp>
      <p:sp>
        <p:nvSpPr>
          <p:cNvPr id="107" name="c2cpuara"/>
          <p:cNvSpPr/>
          <p:nvPr/>
        </p:nvSpPr>
        <p:spPr>
          <a:xfrm>
            <a:off x="11121390" y="5253990"/>
            <a:ext cx="1200150" cy="586740"/>
          </a:xfrm>
          <a:prstGeom prst="roundRect">
            <a:avLst>
              <a:gd name="adj" fmla="val 12727"/>
            </a:avLst>
          </a:prstGeom>
          <a:solidFill>
            <a:srgbClr val="E0F0E8"/>
          </a:solidFill>
          <a:ln w="10668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8: CVA6 / Ara"/>
          <p:cNvSpPr txBox="1"/>
          <p:nvPr/>
        </p:nvSpPr>
        <p:spPr>
          <a:xfrm>
            <a:off x="11282731" y="5343388"/>
            <a:ext cx="87746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/ Ara</a:t>
            </a:r>
          </a:p>
        </p:txBody>
      </p:sp>
      <p:sp>
        <p:nvSpPr>
          <p:cNvPr id="109" name="text-109: RVV 执行路径"/>
          <p:cNvSpPr txBox="1"/>
          <p:nvPr/>
        </p:nvSpPr>
        <p:spPr>
          <a:xfrm>
            <a:off x="11252202" y="5558028"/>
            <a:ext cx="938526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RVV 执行路径</a:t>
            </a:r>
          </a:p>
        </p:txBody>
      </p:sp>
      <p:sp>
        <p:nvSpPr>
          <p:cNvPr id="110" name="c2submit"/>
          <p:cNvSpPr/>
          <p:nvPr/>
        </p:nvSpPr>
        <p:spPr>
          <a:xfrm>
            <a:off x="9814560" y="4720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6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1: 提交 / 完成"/>
          <p:cNvSpPr txBox="1"/>
          <p:nvPr/>
        </p:nvSpPr>
        <p:spPr>
          <a:xfrm>
            <a:off x="9915906" y="4902799"/>
            <a:ext cx="750710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提交 / 完成</a:t>
            </a:r>
          </a:p>
        </p:txBody>
      </p:sp>
      <p:sp>
        <p:nvSpPr>
          <p:cNvPr id="112" name="c2execute"/>
          <p:cNvSpPr/>
          <p:nvPr/>
        </p:nvSpPr>
        <p:spPr>
          <a:xfrm>
            <a:off x="11718798" y="4720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6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13: 指令执行"/>
          <p:cNvSpPr txBox="1"/>
          <p:nvPr/>
        </p:nvSpPr>
        <p:spPr>
          <a:xfrm>
            <a:off x="11814810" y="4908560"/>
            <a:ext cx="58674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114" name="text-114: 共享平台资源：主存 / 缓存 / 中断"/>
          <p:cNvSpPr txBox="1"/>
          <p:nvPr/>
        </p:nvSpPr>
        <p:spPr>
          <a:xfrm>
            <a:off x="9425286" y="5904738"/>
            <a:ext cx="216538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79980"/>
                </a:solidFill>
                <a:latin typeface="Microsoft YaHei"/>
                <a:ea typeface="Microsoft YaHei"/>
                <a:cs typeface="Microsoft YaHei"/>
              </a:rPr>
              <a:t>共享平台资源：主存 / 缓存 / 中断</a:t>
            </a:r>
          </a:p>
        </p:txBody>
      </p:sp>
      <p:sp>
        <p:nvSpPr>
          <p:cNvPr id="115" name="text-115: 共同契约：张量布局 · 设备地址 · 缓存交接 · 缓冲区所有权 · 完成与错误"/>
          <p:cNvSpPr txBox="1"/>
          <p:nvPr/>
        </p:nvSpPr>
        <p:spPr>
          <a:xfrm>
            <a:off x="3560395" y="6355568"/>
            <a:ext cx="5680810" cy="2645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共同契约：张量布局 · 设备地址 · 缓存交接 · 缓冲区所有权 · 完成与错误恢复</a:t>
            </a:r>
          </a:p>
        </p:txBody>
      </p:sp>
      <p:sp>
        <p:nvSpPr>
          <p:cNvPr id="116" name="text-116: 紫色箭头：服务与设备控制    绿色箭头：RVV 指令路径    虚线设备框：未"/>
          <p:cNvSpPr txBox="1"/>
          <p:nvPr/>
        </p:nvSpPr>
        <p:spPr>
          <a:xfrm>
            <a:off x="3874209" y="6757751"/>
            <a:ext cx="5053182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紫色箭头：服务与设备控制    绿色箭头：RVV 指令路径    虚线设备框：未来候选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一次推理任务：控制、计算与数据交接"/>
          <p:cNvSpPr txBox="1"/>
          <p:nvPr/>
        </p:nvSpPr>
        <p:spPr>
          <a:xfrm>
            <a:off x="4336542" y="115001"/>
            <a:ext cx="4128516" cy="3669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一次推理任务：控制、计算与数据交接</a:t>
            </a:r>
          </a:p>
        </p:txBody>
      </p:sp>
      <p:sp>
        <p:nvSpPr>
          <p:cNvPr id="3" name="text-003: 未来 NPU / GB 场景的逻辑职责；不是冻结的 RTL 拓扑，也不引入 CP"/>
          <p:cNvSpPr txBox="1"/>
          <p:nvPr/>
        </p:nvSpPr>
        <p:spPr>
          <a:xfrm>
            <a:off x="3803392" y="457871"/>
            <a:ext cx="519481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未来 NPU / GB 场景的逻辑职责；不是冻结的 RTL 拓扑，也不引入 CPU 直访 GB</a:t>
            </a:r>
          </a:p>
        </p:txBody>
      </p:sp>
      <p:sp>
        <p:nvSpPr>
          <p:cNvPr id="4" name="control-region"/>
          <p:cNvSpPr/>
          <p:nvPr/>
        </p:nvSpPr>
        <p:spPr>
          <a:xfrm>
            <a:off x="266700" y="1066800"/>
            <a:ext cx="12268200" cy="1253490"/>
          </a:xfrm>
          <a:prstGeom prst="rect">
            <a:avLst/>
          </a:prstGeom>
          <a:solidFill>
            <a:srgbClr val="F0EAF6"/>
          </a:solidFill>
          <a:ln w="10668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控制与完成"/>
          <p:cNvSpPr txBox="1"/>
          <p:nvPr/>
        </p:nvSpPr>
        <p:spPr>
          <a:xfrm>
            <a:off x="400050" y="1075761"/>
            <a:ext cx="928116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控制与完成</a:t>
            </a:r>
          </a:p>
        </p:txBody>
      </p:sp>
      <p:sp>
        <p:nvSpPr>
          <p:cNvPr id="6" name="app"/>
          <p:cNvSpPr/>
          <p:nvPr/>
        </p:nvSpPr>
        <p:spPr>
          <a:xfrm>
            <a:off x="426720" y="1360170"/>
            <a:ext cx="2240280" cy="69342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VA6 应用 / 运行时"/>
          <p:cNvSpPr txBox="1"/>
          <p:nvPr/>
        </p:nvSpPr>
        <p:spPr>
          <a:xfrm>
            <a:off x="792237" y="1497147"/>
            <a:ext cx="1509247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应用 / 运行时</a:t>
            </a:r>
          </a:p>
        </p:txBody>
      </p:sp>
      <p:sp>
        <p:nvSpPr>
          <p:cNvPr id="8" name="text-008: 分词 / 执行计划 / 采样"/>
          <p:cNvSpPr txBox="1"/>
          <p:nvPr/>
        </p:nvSpPr>
        <p:spPr>
          <a:xfrm>
            <a:off x="797541" y="1717548"/>
            <a:ext cx="149863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分词 / 执行计划 / 采样</a:t>
            </a:r>
          </a:p>
        </p:txBody>
      </p:sp>
      <p:sp>
        <p:nvSpPr>
          <p:cNvPr id="9" name="driver"/>
          <p:cNvSpPr/>
          <p:nvPr/>
        </p:nvSpPr>
        <p:spPr>
          <a:xfrm>
            <a:off x="3467100" y="1360170"/>
            <a:ext cx="2400300" cy="69342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驱动 / OS 适配"/>
          <p:cNvSpPr txBox="1"/>
          <p:nvPr/>
        </p:nvSpPr>
        <p:spPr>
          <a:xfrm>
            <a:off x="4071926" y="1497147"/>
            <a:ext cx="1190649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 / OS 适配</a:t>
            </a:r>
          </a:p>
        </p:txBody>
      </p:sp>
      <p:sp>
        <p:nvSpPr>
          <p:cNvPr id="11" name="text-011: 发布 / 提交 / 等待 / 恢复"/>
          <p:cNvSpPr txBox="1"/>
          <p:nvPr/>
        </p:nvSpPr>
        <p:spPr>
          <a:xfrm>
            <a:off x="3843310" y="1717548"/>
            <a:ext cx="1647881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发布 / 提交 / 等待 / 恢复</a:t>
            </a:r>
          </a:p>
        </p:txBody>
      </p:sp>
      <p:sp>
        <p:nvSpPr>
          <p:cNvPr id="12" name="task"/>
          <p:cNvSpPr/>
          <p:nvPr/>
        </p:nvSpPr>
        <p:spPr>
          <a:xfrm>
            <a:off x="7040880" y="1360170"/>
            <a:ext cx="2346960" cy="69342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NPU 任务控制（候选）"/>
          <p:cNvSpPr txBox="1"/>
          <p:nvPr/>
        </p:nvSpPr>
        <p:spPr>
          <a:xfrm>
            <a:off x="7351352" y="1497147"/>
            <a:ext cx="1726016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任务控制（候选）</a:t>
            </a:r>
          </a:p>
        </p:txBody>
      </p:sp>
      <p:sp>
        <p:nvSpPr>
          <p:cNvPr id="14" name="text-014: 协调搬运与计算状态"/>
          <p:cNvSpPr txBox="1"/>
          <p:nvPr/>
        </p:nvSpPr>
        <p:spPr>
          <a:xfrm>
            <a:off x="7547610" y="1717548"/>
            <a:ext cx="13335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协调搬运与计算状态</a:t>
            </a:r>
          </a:p>
        </p:txBody>
      </p:sp>
      <p:sp>
        <p:nvSpPr>
          <p:cNvPr id="15" name="done"/>
          <p:cNvSpPr/>
          <p:nvPr/>
        </p:nvSpPr>
        <p:spPr>
          <a:xfrm>
            <a:off x="10294620" y="1360170"/>
            <a:ext cx="1866900" cy="69342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完成与错误状态"/>
          <p:cNvSpPr txBox="1"/>
          <p:nvPr/>
        </p:nvSpPr>
        <p:spPr>
          <a:xfrm>
            <a:off x="10609326" y="1497147"/>
            <a:ext cx="1237488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完成与错误状态</a:t>
            </a:r>
          </a:p>
        </p:txBody>
      </p:sp>
      <p:sp>
        <p:nvSpPr>
          <p:cNvPr id="17" name="text-017: 按任务契约交付"/>
          <p:cNvSpPr txBox="1"/>
          <p:nvPr/>
        </p:nvSpPr>
        <p:spPr>
          <a:xfrm>
            <a:off x="10694670" y="1717548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按任务契约交付</a:t>
            </a:r>
          </a:p>
        </p:txBody>
      </p:sp>
      <p:sp>
        <p:nvSpPr>
          <p:cNvPr id="18" name="app-driver"/>
          <p:cNvSpPr/>
          <p:nvPr/>
        </p:nvSpPr>
        <p:spPr>
          <a:xfrm>
            <a:off x="2667000" y="1706880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请求"/>
          <p:cNvSpPr txBox="1"/>
          <p:nvPr/>
        </p:nvSpPr>
        <p:spPr>
          <a:xfrm>
            <a:off x="2867025" y="1445514"/>
            <a:ext cx="4000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请求</a:t>
            </a:r>
          </a:p>
        </p:txBody>
      </p:sp>
      <p:sp>
        <p:nvSpPr>
          <p:cNvPr id="20" name="driver-task"/>
          <p:cNvSpPr/>
          <p:nvPr/>
        </p:nvSpPr>
        <p:spPr>
          <a:xfrm>
            <a:off x="5867400" y="170688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有序提交"/>
          <p:cNvSpPr txBox="1"/>
          <p:nvPr/>
        </p:nvSpPr>
        <p:spPr>
          <a:xfrm>
            <a:off x="6120765" y="1445514"/>
            <a:ext cx="6667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有序提交</a:t>
            </a:r>
          </a:p>
        </p:txBody>
      </p:sp>
      <p:sp>
        <p:nvSpPr>
          <p:cNvPr id="22" name="task-done"/>
          <p:cNvSpPr/>
          <p:nvPr/>
        </p:nvSpPr>
        <p:spPr>
          <a:xfrm>
            <a:off x="9387840" y="1706880"/>
            <a:ext cx="906780" cy="1"/>
          </a:xfrm>
          <a:custGeom>
            <a:avLst/>
            <a:gdLst/>
            <a:ahLst/>
            <a:cxnLst/>
            <a:rect l="0" t="0" r="r" b="b"/>
            <a:pathLst>
              <a:path w="906780" h="1" fill="none">
                <a:moveTo>
                  <a:pt x="0" y="0"/>
                </a:moveTo>
                <a:lnTo>
                  <a:pt x="906780" y="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状态汇总"/>
          <p:cNvSpPr txBox="1"/>
          <p:nvPr/>
        </p:nvSpPr>
        <p:spPr>
          <a:xfrm>
            <a:off x="9507855" y="1445514"/>
            <a:ext cx="6667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状态汇总</a:t>
            </a:r>
          </a:p>
        </p:txBody>
      </p:sp>
      <p:sp>
        <p:nvSpPr>
          <p:cNvPr id="24" name="completion"/>
          <p:cNvSpPr/>
          <p:nvPr/>
        </p:nvSpPr>
        <p:spPr>
          <a:xfrm>
            <a:off x="4667250" y="933450"/>
            <a:ext cx="6560820" cy="426720"/>
          </a:xfrm>
          <a:custGeom>
            <a:avLst/>
            <a:gdLst/>
            <a:ahLst/>
            <a:cxnLst/>
            <a:rect l="0" t="0" r="r" b="b"/>
            <a:pathLst>
              <a:path w="6560820" h="426720" fill="none">
                <a:moveTo>
                  <a:pt x="6560820" y="426720"/>
                </a:moveTo>
                <a:lnTo>
                  <a:pt x="6560820" y="0"/>
                </a:lnTo>
                <a:lnTo>
                  <a:pt x="0" y="0"/>
                </a:lnTo>
                <a:lnTo>
                  <a:pt x="0" y="426720"/>
                </a:lnTo>
              </a:path>
            </a:pathLst>
          </a:custGeom>
          <a:noFill/>
          <a:ln w="16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状态 / IRQ 通知；驱动核实结果可见与错误"/>
          <p:cNvSpPr txBox="1"/>
          <p:nvPr/>
        </p:nvSpPr>
        <p:spPr>
          <a:xfrm>
            <a:off x="6723703" y="698754"/>
            <a:ext cx="266127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状态 / IRQ 通知；驱动核实结果可见与错误</a:t>
            </a:r>
          </a:p>
        </p:txBody>
      </p:sp>
      <p:sp>
        <p:nvSpPr>
          <p:cNvPr id="26" name="data-region"/>
          <p:cNvSpPr/>
          <p:nvPr/>
        </p:nvSpPr>
        <p:spPr>
          <a:xfrm>
            <a:off x="266700" y="2880360"/>
            <a:ext cx="12268200" cy="3173730"/>
          </a:xfrm>
          <a:prstGeom prst="rect">
            <a:avLst/>
          </a:prstGeom>
          <a:solidFill>
            <a:srgbClr val="F4F7F8"/>
          </a:solidFill>
          <a:ln w="10668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数据与计算资源"/>
          <p:cNvSpPr txBox="1"/>
          <p:nvPr/>
        </p:nvSpPr>
        <p:spPr>
          <a:xfrm>
            <a:off x="5867400" y="2926659"/>
            <a:ext cx="1237488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数据与计算资源</a:t>
            </a:r>
          </a:p>
        </p:txBody>
      </p:sp>
      <p:sp>
        <p:nvSpPr>
          <p:cNvPr id="28" name="ddr"/>
          <p:cNvSpPr/>
          <p:nvPr/>
        </p:nvSpPr>
        <p:spPr>
          <a:xfrm>
            <a:off x="426720" y="3627120"/>
            <a:ext cx="2026920" cy="960120"/>
          </a:xfrm>
          <a:prstGeom prst="rect">
            <a:avLst/>
          </a:prstGeom>
          <a:solidFill>
            <a:srgbClr val="D8E8F4"/>
          </a:solidFill>
          <a:ln w="106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DDR 主存"/>
          <p:cNvSpPr txBox="1"/>
          <p:nvPr/>
        </p:nvSpPr>
        <p:spPr>
          <a:xfrm>
            <a:off x="1035117" y="3798768"/>
            <a:ext cx="810126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主存</a:t>
            </a:r>
          </a:p>
        </p:txBody>
      </p:sp>
      <p:sp>
        <p:nvSpPr>
          <p:cNvPr id="30" name="text-030: 权重 / KV / 输入"/>
          <p:cNvSpPr txBox="1"/>
          <p:nvPr/>
        </p:nvSpPr>
        <p:spPr>
          <a:xfrm>
            <a:off x="878972" y="4019169"/>
            <a:ext cx="112241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权重 / KV / 输入</a:t>
            </a:r>
          </a:p>
        </p:txBody>
      </p:sp>
      <p:sp>
        <p:nvSpPr>
          <p:cNvPr id="31" name="text-031: 需回主存的结果"/>
          <p:cNvSpPr txBox="1"/>
          <p:nvPr/>
        </p:nvSpPr>
        <p:spPr>
          <a:xfrm>
            <a:off x="906780" y="4216527"/>
            <a:ext cx="10668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需回主存的结果</a:t>
            </a:r>
          </a:p>
        </p:txBody>
      </p:sp>
      <p:sp>
        <p:nvSpPr>
          <p:cNvPr id="32" name="mover"/>
          <p:cNvSpPr/>
          <p:nvPr/>
        </p:nvSpPr>
        <p:spPr>
          <a:xfrm>
            <a:off x="3467100" y="3627120"/>
            <a:ext cx="2133600" cy="960120"/>
          </a:xfrm>
          <a:prstGeom prst="rect">
            <a:avLst/>
          </a:prstGeom>
          <a:solidFill>
            <a:srgbClr val="F5E1C9"/>
          </a:solidFill>
          <a:ln w="1066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DDR ↔ GB 搬运职责"/>
          <p:cNvSpPr txBox="1"/>
          <p:nvPr/>
        </p:nvSpPr>
        <p:spPr>
          <a:xfrm>
            <a:off x="3778522" y="3804529"/>
            <a:ext cx="15107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搬运职责</a:t>
            </a:r>
          </a:p>
        </p:txBody>
      </p:sp>
      <p:sp>
        <p:nvSpPr>
          <p:cNvPr id="34" name="text-034: 候选实现"/>
          <p:cNvSpPr txBox="1"/>
          <p:nvPr/>
        </p:nvSpPr>
        <p:spPr>
          <a:xfrm>
            <a:off x="4200525" y="4019169"/>
            <a:ext cx="6667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候选实现</a:t>
            </a:r>
          </a:p>
        </p:txBody>
      </p:sp>
      <p:sp>
        <p:nvSpPr>
          <p:cNvPr id="35" name="text-035: 地址 / 长度 / 同步 / 错误"/>
          <p:cNvSpPr txBox="1"/>
          <p:nvPr/>
        </p:nvSpPr>
        <p:spPr>
          <a:xfrm>
            <a:off x="3709960" y="4216527"/>
            <a:ext cx="1647881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同步 / 错误</a:t>
            </a:r>
          </a:p>
        </p:txBody>
      </p:sp>
      <p:sp>
        <p:nvSpPr>
          <p:cNvPr id="36" name="gb"/>
          <p:cNvSpPr/>
          <p:nvPr/>
        </p:nvSpPr>
        <p:spPr>
          <a:xfrm>
            <a:off x="6667500" y="3627120"/>
            <a:ext cx="2133600" cy="960120"/>
          </a:xfrm>
          <a:prstGeom prst="rect">
            <a:avLst/>
          </a:prstGeom>
          <a:solidFill>
            <a:srgbClr val="D9EEE8"/>
          </a:solidFill>
          <a:ln w="1066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GB：独立片上 SRAM"/>
          <p:cNvSpPr txBox="1"/>
          <p:nvPr/>
        </p:nvSpPr>
        <p:spPr>
          <a:xfrm>
            <a:off x="6972947" y="3804529"/>
            <a:ext cx="152270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GB：独立片上 SRAM</a:t>
            </a:r>
          </a:p>
        </p:txBody>
      </p:sp>
      <p:sp>
        <p:nvSpPr>
          <p:cNvPr id="38" name="text-038: 需求已确认，尚待实现"/>
          <p:cNvSpPr txBox="1"/>
          <p:nvPr/>
        </p:nvSpPr>
        <p:spPr>
          <a:xfrm>
            <a:off x="7000875" y="4019169"/>
            <a:ext cx="14668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需求已确认，尚待实现</a:t>
            </a:r>
          </a:p>
        </p:txBody>
      </p:sp>
      <p:sp>
        <p:nvSpPr>
          <p:cNvPr id="39" name="text-039: 分块就绪 / 所有权 / 复用"/>
          <p:cNvSpPr txBox="1"/>
          <p:nvPr/>
        </p:nvSpPr>
        <p:spPr>
          <a:xfrm>
            <a:off x="6918306" y="4216527"/>
            <a:ext cx="1631987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分块就绪 / 所有权 / 复用</a:t>
            </a:r>
          </a:p>
        </p:txBody>
      </p:sp>
      <p:sp>
        <p:nvSpPr>
          <p:cNvPr id="40" name="npu"/>
          <p:cNvSpPr/>
          <p:nvPr/>
        </p:nvSpPr>
        <p:spPr>
          <a:xfrm>
            <a:off x="10134600" y="3627120"/>
            <a:ext cx="2026920" cy="960120"/>
          </a:xfrm>
          <a:prstGeom prst="rect">
            <a:avLst/>
          </a:prstGeom>
          <a:solidFill>
            <a:srgbClr val="F1D7D9"/>
          </a:solidFill>
          <a:ln w="1066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NPU 计算单元"/>
          <p:cNvSpPr txBox="1"/>
          <p:nvPr/>
        </p:nvSpPr>
        <p:spPr>
          <a:xfrm>
            <a:off x="10594424" y="3798768"/>
            <a:ext cx="1107272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计算单元</a:t>
            </a:r>
          </a:p>
        </p:txBody>
      </p:sp>
      <p:sp>
        <p:nvSpPr>
          <p:cNvPr id="42" name="text-042: 候选算子后端"/>
          <p:cNvSpPr txBox="1"/>
          <p:nvPr/>
        </p:nvSpPr>
        <p:spPr>
          <a:xfrm>
            <a:off x="10681335" y="4019169"/>
            <a:ext cx="9334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候选算子后端</a:t>
            </a:r>
          </a:p>
        </p:txBody>
      </p:sp>
      <p:sp>
        <p:nvSpPr>
          <p:cNvPr id="43" name="text-043: 读取输入 / 写入结果"/>
          <p:cNvSpPr txBox="1"/>
          <p:nvPr/>
        </p:nvSpPr>
        <p:spPr>
          <a:xfrm>
            <a:off x="10473363" y="4216527"/>
            <a:ext cx="134939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读取输入 / 写入结果</a:t>
            </a:r>
          </a:p>
        </p:txBody>
      </p:sp>
      <p:sp>
        <p:nvSpPr>
          <p:cNvPr id="44" name="cpu-memory"/>
          <p:cNvSpPr/>
          <p:nvPr/>
        </p:nvSpPr>
        <p:spPr>
          <a:xfrm>
            <a:off x="1546860" y="2053590"/>
            <a:ext cx="1" cy="1573530"/>
          </a:xfrm>
          <a:custGeom>
            <a:avLst/>
            <a:gdLst/>
            <a:ahLst/>
            <a:cxnLst/>
            <a:rect l="0" t="0" r="r" b="b"/>
            <a:pathLst>
              <a:path w="1" h="1573530" fill="none">
                <a:moveTo>
                  <a:pt x="0" y="0"/>
                </a:moveTo>
                <a:lnTo>
                  <a:pt x="0" y="1573530"/>
                </a:lnTo>
              </a:path>
            </a:pathLst>
          </a:custGeom>
          <a:noFill/>
          <a:ln w="16002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经现有普通内存路径"/>
          <p:cNvSpPr txBox="1"/>
          <p:nvPr/>
        </p:nvSpPr>
        <p:spPr>
          <a:xfrm>
            <a:off x="1653540" y="2426970"/>
            <a:ext cx="13335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经现有普通内存路径</a:t>
            </a:r>
          </a:p>
        </p:txBody>
      </p:sp>
      <p:sp>
        <p:nvSpPr>
          <p:cNvPr id="46" name="text-046: 含 L1D / 写缓冲 / LLC"/>
          <p:cNvSpPr txBox="1"/>
          <p:nvPr/>
        </p:nvSpPr>
        <p:spPr>
          <a:xfrm>
            <a:off x="1653540" y="2618994"/>
            <a:ext cx="1455665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含 L1D / 写缓冲 / LLC</a:t>
            </a:r>
          </a:p>
        </p:txBody>
      </p:sp>
      <p:sp>
        <p:nvSpPr>
          <p:cNvPr id="47" name="move-control"/>
          <p:cNvSpPr/>
          <p:nvPr/>
        </p:nvSpPr>
        <p:spPr>
          <a:xfrm>
            <a:off x="4533900" y="2053590"/>
            <a:ext cx="3093720" cy="1573530"/>
          </a:xfrm>
          <a:custGeom>
            <a:avLst/>
            <a:gdLst/>
            <a:ahLst/>
            <a:cxnLst/>
            <a:rect l="0" t="0" r="r" b="b"/>
            <a:pathLst>
              <a:path w="3093720" h="1573530" fill="none">
                <a:moveTo>
                  <a:pt x="3093720" y="0"/>
                </a:moveTo>
                <a:lnTo>
                  <a:pt x="3093720" y="480060"/>
                </a:lnTo>
                <a:lnTo>
                  <a:pt x="0" y="480060"/>
                </a:lnTo>
                <a:lnTo>
                  <a:pt x="0" y="1573530"/>
                </a:lnTo>
              </a:path>
            </a:pathLst>
          </a:custGeom>
          <a:noFill/>
          <a:ln w="16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搬运命令 / 状态"/>
          <p:cNvSpPr txBox="1"/>
          <p:nvPr/>
        </p:nvSpPr>
        <p:spPr>
          <a:xfrm>
            <a:off x="5432733" y="2304288"/>
            <a:ext cx="108269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搬运命令 / 状态</a:t>
            </a:r>
          </a:p>
        </p:txBody>
      </p:sp>
      <p:sp>
        <p:nvSpPr>
          <p:cNvPr id="49" name="compute-control"/>
          <p:cNvSpPr/>
          <p:nvPr/>
        </p:nvSpPr>
        <p:spPr>
          <a:xfrm>
            <a:off x="8267700" y="2053590"/>
            <a:ext cx="2880360" cy="1573530"/>
          </a:xfrm>
          <a:custGeom>
            <a:avLst/>
            <a:gdLst/>
            <a:ahLst/>
            <a:cxnLst/>
            <a:rect l="0" t="0" r="r" b="b"/>
            <a:pathLst>
              <a:path w="2880360" h="1573530" fill="none">
                <a:moveTo>
                  <a:pt x="0" y="0"/>
                </a:moveTo>
                <a:lnTo>
                  <a:pt x="0" y="560070"/>
                </a:lnTo>
                <a:lnTo>
                  <a:pt x="2880360" y="560070"/>
                </a:lnTo>
                <a:lnTo>
                  <a:pt x="2880360" y="1573530"/>
                </a:lnTo>
              </a:path>
            </a:pathLst>
          </a:custGeom>
          <a:noFill/>
          <a:ln w="16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计算命令 / 状态"/>
          <p:cNvSpPr txBox="1"/>
          <p:nvPr/>
        </p:nvSpPr>
        <p:spPr>
          <a:xfrm>
            <a:off x="9166533" y="2384298"/>
            <a:ext cx="108269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计算命令 / 状态</a:t>
            </a:r>
          </a:p>
        </p:txBody>
      </p:sp>
      <p:sp>
        <p:nvSpPr>
          <p:cNvPr id="51" name="ddr-move"/>
          <p:cNvSpPr/>
          <p:nvPr/>
        </p:nvSpPr>
        <p:spPr>
          <a:xfrm>
            <a:off x="2453640" y="4107180"/>
            <a:ext cx="1013460" cy="1"/>
          </a:xfrm>
          <a:custGeom>
            <a:avLst/>
            <a:gdLst/>
            <a:ahLst/>
            <a:cxnLst/>
            <a:rect l="0" t="0" r="r" b="b"/>
            <a:pathLst>
              <a:path w="1013460" h="1" fill="none">
                <a:moveTo>
                  <a:pt x="0" y="0"/>
                </a:moveTo>
                <a:lnTo>
                  <a:pt x="1013460" y="0"/>
                </a:lnTo>
              </a:path>
            </a:pathLst>
          </a:custGeom>
          <a:noFill/>
          <a:ln w="16002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旁路数据"/>
          <p:cNvSpPr txBox="1"/>
          <p:nvPr/>
        </p:nvSpPr>
        <p:spPr>
          <a:xfrm>
            <a:off x="2626995" y="3797808"/>
            <a:ext cx="6667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旁路数据</a:t>
            </a:r>
          </a:p>
        </p:txBody>
      </p:sp>
      <p:sp>
        <p:nvSpPr>
          <p:cNvPr id="53" name="move-gb"/>
          <p:cNvSpPr/>
          <p:nvPr/>
        </p:nvSpPr>
        <p:spPr>
          <a:xfrm>
            <a:off x="5600700" y="41071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600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显式搬运"/>
          <p:cNvSpPr txBox="1"/>
          <p:nvPr/>
        </p:nvSpPr>
        <p:spPr>
          <a:xfrm>
            <a:off x="5800725" y="3797808"/>
            <a:ext cx="6667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显式搬运</a:t>
            </a:r>
          </a:p>
        </p:txBody>
      </p:sp>
      <p:sp>
        <p:nvSpPr>
          <p:cNvPr id="55" name="gb-npu"/>
          <p:cNvSpPr/>
          <p:nvPr/>
        </p:nvSpPr>
        <p:spPr>
          <a:xfrm>
            <a:off x="8801100" y="4107180"/>
            <a:ext cx="1333500" cy="1"/>
          </a:xfrm>
          <a:custGeom>
            <a:avLst/>
            <a:gdLst/>
            <a:ahLst/>
            <a:cxnLst/>
            <a:rect l="0" t="0" r="r" b="b"/>
            <a:pathLst>
              <a:path w="1333500" h="1" fill="none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600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计算读 / 写"/>
          <p:cNvSpPr txBox="1"/>
          <p:nvPr/>
        </p:nvSpPr>
        <p:spPr>
          <a:xfrm>
            <a:off x="9059853" y="3797808"/>
            <a:ext cx="81599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计算读 / 写</a:t>
            </a:r>
          </a:p>
        </p:txBody>
      </p:sp>
      <p:sp>
        <p:nvSpPr>
          <p:cNvPr id="57" name="text-057: ① 发布输入"/>
          <p:cNvSpPr txBox="1"/>
          <p:nvPr/>
        </p:nvSpPr>
        <p:spPr>
          <a:xfrm>
            <a:off x="533400" y="4963820"/>
            <a:ext cx="10080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发布输入</a:t>
            </a:r>
          </a:p>
        </p:txBody>
      </p:sp>
      <p:sp>
        <p:nvSpPr>
          <p:cNvPr id="58" name="text-058: 顺序与可见性成立后交给设备"/>
          <p:cNvSpPr txBox="1"/>
          <p:nvPr/>
        </p:nvSpPr>
        <p:spPr>
          <a:xfrm>
            <a:off x="533400" y="5226467"/>
            <a:ext cx="201625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顺序与可见性成立后交给设备</a:t>
            </a:r>
          </a:p>
        </p:txBody>
      </p:sp>
      <p:sp>
        <p:nvSpPr>
          <p:cNvPr id="59" name="text-059: 同步措施依平台一致性契约"/>
          <p:cNvSpPr txBox="1"/>
          <p:nvPr/>
        </p:nvSpPr>
        <p:spPr>
          <a:xfrm>
            <a:off x="533400" y="5450495"/>
            <a:ext cx="187223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同步措施依平台一致性契约</a:t>
            </a:r>
          </a:p>
        </p:txBody>
      </p:sp>
      <p:sp>
        <p:nvSpPr>
          <p:cNvPr id="60" name="text-060: ② 分块执行"/>
          <p:cNvSpPr txBox="1"/>
          <p:nvPr/>
        </p:nvSpPr>
        <p:spPr>
          <a:xfrm>
            <a:off x="4693920" y="4963820"/>
            <a:ext cx="10080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分块执行</a:t>
            </a:r>
          </a:p>
        </p:txBody>
      </p:sp>
      <p:sp>
        <p:nvSpPr>
          <p:cNvPr id="61" name="text-061: GB 就绪后计算；结果按需搬回 DDR"/>
          <p:cNvSpPr txBox="1"/>
          <p:nvPr/>
        </p:nvSpPr>
        <p:spPr>
          <a:xfrm>
            <a:off x="4693920" y="5226467"/>
            <a:ext cx="24217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就绪后计算；结果按需搬回 DDR</a:t>
            </a:r>
          </a:p>
        </p:txBody>
      </p:sp>
      <p:sp>
        <p:nvSpPr>
          <p:cNvPr id="62" name="text-062: 不得把 GB 当作透明缓存"/>
          <p:cNvSpPr txBox="1"/>
          <p:nvPr/>
        </p:nvSpPr>
        <p:spPr>
          <a:xfrm>
            <a:off x="4693920" y="5450495"/>
            <a:ext cx="171064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不得把 GB 当作透明缓存</a:t>
            </a:r>
          </a:p>
        </p:txBody>
      </p:sp>
      <p:sp>
        <p:nvSpPr>
          <p:cNvPr id="63" name="text-063: ③ 交付结果"/>
          <p:cNvSpPr txBox="1"/>
          <p:nvPr/>
        </p:nvSpPr>
        <p:spPr>
          <a:xfrm>
            <a:off x="8747760" y="4963820"/>
            <a:ext cx="10080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交付结果</a:t>
            </a:r>
          </a:p>
        </p:txBody>
      </p:sp>
      <p:sp>
        <p:nvSpPr>
          <p:cNvPr id="64" name="text-064: 计算结束 ≠ 结果可消费"/>
          <p:cNvSpPr txBox="1"/>
          <p:nvPr/>
        </p:nvSpPr>
        <p:spPr>
          <a:xfrm>
            <a:off x="8747760" y="5226467"/>
            <a:ext cx="16463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计算结束 ≠ 结果可消费</a:t>
            </a:r>
          </a:p>
        </p:txBody>
      </p:sp>
      <p:sp>
        <p:nvSpPr>
          <p:cNvPr id="65" name="text-065: 写回、同步与错误检查满足任务契约"/>
          <p:cNvSpPr txBox="1"/>
          <p:nvPr/>
        </p:nvSpPr>
        <p:spPr>
          <a:xfrm>
            <a:off x="8747760" y="5450495"/>
            <a:ext cx="244830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写回、同步与错误检查满足任务契约</a:t>
            </a:r>
          </a:p>
        </p:txBody>
      </p:sp>
      <p:sp>
        <p:nvSpPr>
          <p:cNvPr id="66" name="text-066: 紫：控制与状态    蓝灰：主存访问    绿：GB 数据    虚线：候选或尚"/>
          <p:cNvSpPr txBox="1"/>
          <p:nvPr/>
        </p:nvSpPr>
        <p:spPr>
          <a:xfrm>
            <a:off x="3723786" y="6245261"/>
            <a:ext cx="535402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紫：控制与状态    蓝灰：主存访问    绿：GB 数据    虚线：候选或尚待实现的职责</a:t>
            </a:r>
          </a:p>
        </p:txBody>
      </p:sp>
      <p:sp>
        <p:nvSpPr>
          <p:cNvPr id="67" name="text-067: OS 负责组织任务和资源；平台负责兑现地址、缓存与完成语义。算子分工及具体连接仍"/>
          <p:cNvSpPr txBox="1"/>
          <p:nvPr/>
        </p:nvSpPr>
        <p:spPr>
          <a:xfrm>
            <a:off x="3262779" y="6565301"/>
            <a:ext cx="627604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OS 负责组织任务和资源；平台负责兑现地址、缓存与完成语义。算子分工及具体连接仍待验证。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