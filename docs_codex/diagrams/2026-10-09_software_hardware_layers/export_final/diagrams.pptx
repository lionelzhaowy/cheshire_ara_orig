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960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Cheshire SoC 软硬件分层结构"/>
          <p:cNvSpPr txBox="1"/>
          <p:nvPr/>
        </p:nvSpPr>
        <p:spPr>
          <a:xfrm>
            <a:off x="256032" y="98060"/>
            <a:ext cx="4300387" cy="471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4" name="text-003: 以当前裸机工程为主线 · 通用功能、设备控制与指令执行各有明确边界"/>
          <p:cNvSpPr txBox="1"/>
          <p:nvPr/>
        </p:nvSpPr>
        <p:spPr>
          <a:xfrm>
            <a:off x="268834" y="512064"/>
            <a:ext cx="5093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以当前裸机工程为主线 · 通用功能、设备控制与指令执行各有明确边界</a:t>
            </a:r>
          </a:p>
        </p:txBody>
      </p:sp>
      <p:sp>
        <p:nvSpPr>
          <p:cNvPr id="5" name="text-004: 工程结构 / 规划扩展"/>
          <p:cNvSpPr txBox="1"/>
          <p:nvPr/>
        </p:nvSpPr>
        <p:spPr>
          <a:xfrm>
            <a:off x="11134712" y="263969"/>
            <a:ext cx="141085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工程结构 / 规划扩展</a:t>
            </a:r>
          </a:p>
        </p:txBody>
      </p:sp>
      <p:sp>
        <p:nvSpPr>
          <p:cNvPr id="6" name="text-005: mp/ara-pulp-v2 · 278434024"/>
          <p:cNvSpPr txBox="1"/>
          <p:nvPr/>
        </p:nvSpPr>
        <p:spPr>
          <a:xfrm>
            <a:off x="10659012" y="508224"/>
            <a:ext cx="18865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mp/ara-pulp-v2 · 278434024</a:t>
            </a:r>
          </a:p>
        </p:txBody>
      </p:sp>
      <p:sp>
        <p:nvSpPr>
          <p:cNvPr id="7" name="rect-006"/>
          <p:cNvSpPr/>
          <p:nvPr/>
        </p:nvSpPr>
        <p:spPr>
          <a:xfrm>
            <a:off x="256032" y="960120"/>
            <a:ext cx="9601200" cy="896112"/>
          </a:xfrm>
          <a:prstGeom prst="roundRect">
            <a:avLst>
              <a:gd name="adj" fmla="val 8571"/>
            </a:avLst>
          </a:prstGeom>
          <a:solidFill>
            <a:srgbClr val="F0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256032" y="960120"/>
            <a:ext cx="51206" cy="896112"/>
          </a:xfrm>
          <a:prstGeom prst="rect">
            <a:avLst/>
          </a:prstGeom>
          <a:solidFill>
            <a:srgbClr val="705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8: 01"/>
          <p:cNvSpPr txBox="1"/>
          <p:nvPr/>
        </p:nvSpPr>
        <p:spPr>
          <a:xfrm>
            <a:off x="435254" y="1064069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70529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009: 应用软件"/>
          <p:cNvSpPr txBox="1"/>
          <p:nvPr/>
        </p:nvSpPr>
        <p:spPr>
          <a:xfrm>
            <a:off x="435254" y="128451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11" name="text-010: 表达计算与任务"/>
          <p:cNvSpPr txBox="1"/>
          <p:nvPr/>
        </p:nvSpPr>
        <p:spPr>
          <a:xfrm>
            <a:off x="435254" y="1558467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表达计算与任务</a:t>
            </a:r>
          </a:p>
        </p:txBody>
      </p:sp>
      <p:cxnSp>
        <p:nvCxnSpPr>
          <p:cNvPr id="12" name="line-011"/>
          <p:cNvCxnSpPr/>
          <p:nvPr/>
        </p:nvCxnSpPr>
        <p:spPr>
          <a:xfrm>
            <a:off x="1369771" y="1113739"/>
            <a:ext cx="0" cy="58887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3" name="rect-012"/>
          <p:cNvSpPr/>
          <p:nvPr/>
        </p:nvSpPr>
        <p:spPr>
          <a:xfrm>
            <a:off x="1536192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裸机应用与测试"/>
          <p:cNvSpPr txBox="1"/>
          <p:nvPr/>
        </p:nvSpPr>
        <p:spPr>
          <a:xfrm>
            <a:off x="1830629" y="1183636"/>
            <a:ext cx="1331366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15" name="text-014: HelloWorld · 结果校验"/>
          <p:cNvSpPr txBox="1"/>
          <p:nvPr/>
        </p:nvSpPr>
        <p:spPr>
          <a:xfrm>
            <a:off x="1739787" y="1429427"/>
            <a:ext cx="151304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HelloWorld · 结果校验</a:t>
            </a:r>
          </a:p>
        </p:txBody>
      </p:sp>
      <p:sp>
        <p:nvSpPr>
          <p:cNvPr id="16" name="rect-015"/>
          <p:cNvSpPr/>
          <p:nvPr/>
        </p:nvSpPr>
        <p:spPr>
          <a:xfrm>
            <a:off x="3571646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向量算法"/>
          <p:cNvSpPr txBox="1"/>
          <p:nvPr/>
        </p:nvSpPr>
        <p:spPr>
          <a:xfrm>
            <a:off x="4115714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8" name="text-017: RVV · 矩阵计算"/>
          <p:cNvSpPr txBox="1"/>
          <p:nvPr/>
        </p:nvSpPr>
        <p:spPr>
          <a:xfrm>
            <a:off x="4004996" y="1429427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· 矩阵计算</a:t>
            </a:r>
          </a:p>
        </p:txBody>
      </p:sp>
      <p:sp>
        <p:nvSpPr>
          <p:cNvPr id="19" name="rect-018"/>
          <p:cNvSpPr/>
          <p:nvPr/>
        </p:nvSpPr>
        <p:spPr>
          <a:xfrm>
            <a:off x="5607101" y="1126541"/>
            <a:ext cx="1933042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系统工具"/>
          <p:cNvSpPr txBox="1"/>
          <p:nvPr/>
        </p:nvSpPr>
        <p:spPr>
          <a:xfrm>
            <a:off x="6157570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1" name="text-020: 介质烧写 · 下载执行"/>
          <p:cNvSpPr txBox="1"/>
          <p:nvPr/>
        </p:nvSpPr>
        <p:spPr>
          <a:xfrm>
            <a:off x="5912794" y="1429427"/>
            <a:ext cx="132165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介质烧写 · 下载执行</a:t>
            </a:r>
          </a:p>
        </p:txBody>
      </p:sp>
      <p:sp>
        <p:nvSpPr>
          <p:cNvPr id="22" name="rect-021"/>
          <p:cNvSpPr/>
          <p:nvPr/>
        </p:nvSpPr>
        <p:spPr>
          <a:xfrm>
            <a:off x="7655357" y="1126541"/>
            <a:ext cx="2048256" cy="56327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22"/>
          <p:cNvCxnSpPr/>
          <p:nvPr/>
        </p:nvCxnSpPr>
        <p:spPr>
          <a:xfrm>
            <a:off x="765535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" name="line-023"/>
          <p:cNvCxnSpPr/>
          <p:nvPr/>
        </p:nvCxnSpPr>
        <p:spPr>
          <a:xfrm>
            <a:off x="778337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" name="line-024"/>
          <p:cNvCxnSpPr/>
          <p:nvPr/>
        </p:nvCxnSpPr>
        <p:spPr>
          <a:xfrm>
            <a:off x="791138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" name="line-025"/>
          <p:cNvCxnSpPr/>
          <p:nvPr/>
        </p:nvCxnSpPr>
        <p:spPr>
          <a:xfrm>
            <a:off x="803940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" name="line-026"/>
          <p:cNvCxnSpPr/>
          <p:nvPr/>
        </p:nvCxnSpPr>
        <p:spPr>
          <a:xfrm>
            <a:off x="816742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" name="line-027"/>
          <p:cNvCxnSpPr/>
          <p:nvPr/>
        </p:nvCxnSpPr>
        <p:spPr>
          <a:xfrm>
            <a:off x="829543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9" name="line-028"/>
          <p:cNvCxnSpPr/>
          <p:nvPr/>
        </p:nvCxnSpPr>
        <p:spPr>
          <a:xfrm>
            <a:off x="842345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855146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867948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880750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893551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906353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919154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931956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944758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57559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765535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778337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791138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803940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816742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829543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5" name="line-044"/>
          <p:cNvCxnSpPr/>
          <p:nvPr/>
        </p:nvCxnSpPr>
        <p:spPr>
          <a:xfrm>
            <a:off x="842345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6" name="line-045"/>
          <p:cNvCxnSpPr/>
          <p:nvPr/>
        </p:nvCxnSpPr>
        <p:spPr>
          <a:xfrm>
            <a:off x="855146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7" name="line-046"/>
          <p:cNvCxnSpPr/>
          <p:nvPr/>
        </p:nvCxnSpPr>
        <p:spPr>
          <a:xfrm>
            <a:off x="867948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880750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9" name="line-048"/>
          <p:cNvCxnSpPr/>
          <p:nvPr/>
        </p:nvCxnSpPr>
        <p:spPr>
          <a:xfrm>
            <a:off x="893551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0" name="line-049"/>
          <p:cNvCxnSpPr/>
          <p:nvPr/>
        </p:nvCxnSpPr>
        <p:spPr>
          <a:xfrm>
            <a:off x="906353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1" name="line-050"/>
          <p:cNvCxnSpPr/>
          <p:nvPr/>
        </p:nvCxnSpPr>
        <p:spPr>
          <a:xfrm>
            <a:off x="919154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2" name="line-051"/>
          <p:cNvCxnSpPr/>
          <p:nvPr/>
        </p:nvCxnSpPr>
        <p:spPr>
          <a:xfrm>
            <a:off x="931956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3" name="line-052"/>
          <p:cNvCxnSpPr/>
          <p:nvPr/>
        </p:nvCxnSpPr>
        <p:spPr>
          <a:xfrm>
            <a:off x="944758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4" name="line-053"/>
          <p:cNvCxnSpPr/>
          <p:nvPr/>
        </p:nvCxnSpPr>
        <p:spPr>
          <a:xfrm>
            <a:off x="957559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5" name="line-054"/>
          <p:cNvCxnSpPr/>
          <p:nvPr/>
        </p:nvCxnSpPr>
        <p:spPr>
          <a:xfrm>
            <a:off x="7655357" y="1126541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6" name="line-055"/>
          <p:cNvCxnSpPr/>
          <p:nvPr/>
        </p:nvCxnSpPr>
        <p:spPr>
          <a:xfrm>
            <a:off x="7655357" y="1254557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7" name="line-056"/>
          <p:cNvCxnSpPr/>
          <p:nvPr/>
        </p:nvCxnSpPr>
        <p:spPr>
          <a:xfrm>
            <a:off x="7655357" y="1382573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8" name="line-057"/>
          <p:cNvCxnSpPr/>
          <p:nvPr/>
        </p:nvCxnSpPr>
        <p:spPr>
          <a:xfrm>
            <a:off x="7655357" y="1510589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9" name="line-058"/>
          <p:cNvCxnSpPr/>
          <p:nvPr/>
        </p:nvCxnSpPr>
        <p:spPr>
          <a:xfrm>
            <a:off x="7655357" y="1638605"/>
            <a:ext cx="0" cy="51206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0" name="line-059"/>
          <p:cNvCxnSpPr/>
          <p:nvPr/>
        </p:nvCxnSpPr>
        <p:spPr>
          <a:xfrm>
            <a:off x="9703613" y="1126541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1" name="line-060"/>
          <p:cNvCxnSpPr/>
          <p:nvPr/>
        </p:nvCxnSpPr>
        <p:spPr>
          <a:xfrm>
            <a:off x="9703613" y="1254557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2" name="line-061"/>
          <p:cNvCxnSpPr/>
          <p:nvPr/>
        </p:nvCxnSpPr>
        <p:spPr>
          <a:xfrm>
            <a:off x="9703613" y="1382573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3" name="line-062"/>
          <p:cNvCxnSpPr/>
          <p:nvPr/>
        </p:nvCxnSpPr>
        <p:spPr>
          <a:xfrm>
            <a:off x="9703613" y="1510589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4" name="line-063"/>
          <p:cNvCxnSpPr/>
          <p:nvPr/>
        </p:nvCxnSpPr>
        <p:spPr>
          <a:xfrm>
            <a:off x="9703613" y="1638605"/>
            <a:ext cx="0" cy="51206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65" name="text-064: 图像处理与推理"/>
          <p:cNvSpPr txBox="1"/>
          <p:nvPr/>
        </p:nvSpPr>
        <p:spPr>
          <a:xfrm>
            <a:off x="8039405" y="1190549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66" name="text-065: ISP / NPU 工作负载〔规划〕"/>
          <p:cNvSpPr txBox="1"/>
          <p:nvPr/>
        </p:nvSpPr>
        <p:spPr>
          <a:xfrm>
            <a:off x="7740627" y="1429427"/>
            <a:ext cx="187771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67" name="rect-066"/>
          <p:cNvSpPr/>
          <p:nvPr/>
        </p:nvSpPr>
        <p:spPr>
          <a:xfrm>
            <a:off x="256032" y="1984248"/>
            <a:ext cx="9601200" cy="2944368"/>
          </a:xfrm>
          <a:prstGeom prst="roundRect">
            <a:avLst>
              <a:gd name="adj" fmla="val 2608"/>
            </a:avLst>
          </a:prstGeom>
          <a:solidFill>
            <a:srgbClr val="EAF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256032" y="1984248"/>
            <a:ext cx="51206" cy="2944368"/>
          </a:xfrm>
          <a:prstGeom prst="rect">
            <a:avLst/>
          </a:pr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02"/>
          <p:cNvSpPr txBox="1"/>
          <p:nvPr/>
        </p:nvSpPr>
        <p:spPr>
          <a:xfrm>
            <a:off x="435254" y="2088197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0" name="text-069: 基础软件"/>
          <p:cNvSpPr txBox="1"/>
          <p:nvPr/>
        </p:nvSpPr>
        <p:spPr>
          <a:xfrm>
            <a:off x="435254" y="2308641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基础软件</a:t>
            </a:r>
          </a:p>
        </p:txBody>
      </p:sp>
      <p:sp>
        <p:nvSpPr>
          <p:cNvPr id="71" name="text-070: 功能与设备控制"/>
          <p:cNvSpPr txBox="1"/>
          <p:nvPr/>
        </p:nvSpPr>
        <p:spPr>
          <a:xfrm>
            <a:off x="435254" y="2582595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功能与设备控制</a:t>
            </a:r>
          </a:p>
        </p:txBody>
      </p:sp>
      <p:cxnSp>
        <p:nvCxnSpPr>
          <p:cNvPr id="72" name="line-071"/>
          <p:cNvCxnSpPr/>
          <p:nvPr/>
        </p:nvCxnSpPr>
        <p:spPr>
          <a:xfrm>
            <a:off x="1369771" y="2137867"/>
            <a:ext cx="0" cy="2637130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73" name="text-072: 通用功能与器件协议"/>
          <p:cNvSpPr txBox="1"/>
          <p:nvPr/>
        </p:nvSpPr>
        <p:spPr>
          <a:xfrm>
            <a:off x="1536192" y="2049792"/>
            <a:ext cx="140817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通用功能与器件协议</a:t>
            </a:r>
          </a:p>
        </p:txBody>
      </p:sp>
      <p:sp>
        <p:nvSpPr>
          <p:cNvPr id="74" name="text-073: 应用可直接调用所需接口"/>
          <p:cNvSpPr txBox="1"/>
          <p:nvPr/>
        </p:nvSpPr>
        <p:spPr>
          <a:xfrm>
            <a:off x="8167421" y="2063618"/>
            <a:ext cx="15361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应用可直接调用所需接口</a:t>
            </a:r>
          </a:p>
        </p:txBody>
      </p:sp>
      <p:sp>
        <p:nvSpPr>
          <p:cNvPr id="75" name="rect-074"/>
          <p:cNvSpPr/>
          <p:nvPr/>
        </p:nvSpPr>
        <p:spPr>
          <a:xfrm>
            <a:off x="1536192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5: printf"/>
          <p:cNvSpPr txBox="1"/>
          <p:nvPr/>
        </p:nvSpPr>
        <p:spPr>
          <a:xfrm>
            <a:off x="2079700" y="2367784"/>
            <a:ext cx="60279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77" name="text-076: 格式化文本 → _putchar"/>
          <p:cNvSpPr txBox="1"/>
          <p:nvPr/>
        </p:nvSpPr>
        <p:spPr>
          <a:xfrm>
            <a:off x="1594414" y="2613575"/>
            <a:ext cx="157336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格式化文本 → _putchar</a:t>
            </a:r>
          </a:p>
        </p:txBody>
      </p:sp>
      <p:sp>
        <p:nvSpPr>
          <p:cNvPr id="78" name="rect-077"/>
          <p:cNvSpPr/>
          <p:nvPr/>
        </p:nvSpPr>
        <p:spPr>
          <a:xfrm>
            <a:off x="3405226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GPT 解析"/>
          <p:cNvSpPr txBox="1"/>
          <p:nvPr/>
        </p:nvSpPr>
        <p:spPr>
          <a:xfrm>
            <a:off x="3815387" y="2367784"/>
            <a:ext cx="869489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80" name="text-079: read 回调访问介质"/>
          <p:cNvSpPr txBox="1"/>
          <p:nvPr/>
        </p:nvSpPr>
        <p:spPr>
          <a:xfrm>
            <a:off x="3616797" y="2613575"/>
            <a:ext cx="12666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81" name="rect-080"/>
          <p:cNvSpPr/>
          <p:nvPr/>
        </p:nvSpPr>
        <p:spPr>
          <a:xfrm>
            <a:off x="5274259" y="2310689"/>
            <a:ext cx="240670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1: 存储器件 HAL"/>
          <p:cNvSpPr txBox="1"/>
          <p:nvPr/>
        </p:nvSpPr>
        <p:spPr>
          <a:xfrm>
            <a:off x="5894647" y="2374697"/>
            <a:ext cx="116592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83" name="text-082: SPI Flash · SD · I²C EEPROM"/>
          <p:cNvSpPr txBox="1"/>
          <p:nvPr/>
        </p:nvSpPr>
        <p:spPr>
          <a:xfrm>
            <a:off x="5535597" y="2613575"/>
            <a:ext cx="188402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SPI Flash · SD · I²C EEPROM</a:t>
            </a:r>
          </a:p>
        </p:txBody>
      </p:sp>
      <p:sp>
        <p:nvSpPr>
          <p:cNvPr id="84" name="rect-083"/>
          <p:cNvSpPr/>
          <p:nvPr/>
        </p:nvSpPr>
        <p:spPr>
          <a:xfrm>
            <a:off x="7860182" y="2310689"/>
            <a:ext cx="184343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UART debug HAL"/>
          <p:cNvSpPr txBox="1"/>
          <p:nvPr/>
        </p:nvSpPr>
        <p:spPr>
          <a:xfrm>
            <a:off x="8066743" y="2381610"/>
            <a:ext cx="1430309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86" name="text-085: READ / WRITE / EXEC"/>
          <p:cNvSpPr txBox="1"/>
          <p:nvPr/>
        </p:nvSpPr>
        <p:spPr>
          <a:xfrm>
            <a:off x="8028038" y="2613575"/>
            <a:ext cx="15077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cxnSp>
        <p:nvCxnSpPr>
          <p:cNvPr id="87" name="line-086"/>
          <p:cNvCxnSpPr/>
          <p:nvPr/>
        </p:nvCxnSpPr>
        <p:spPr>
          <a:xfrm>
            <a:off x="5107838" y="2598725"/>
            <a:ext cx="140818" cy="0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88" name="polygon-087"/>
          <p:cNvSpPr/>
          <p:nvPr/>
        </p:nvSpPr>
        <p:spPr>
          <a:xfrm>
            <a:off x="5191049" y="2573122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line-088"/>
          <p:cNvCxnSpPr/>
          <p:nvPr/>
        </p:nvCxnSpPr>
        <p:spPr>
          <a:xfrm>
            <a:off x="2381098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90" name="polygon-089"/>
          <p:cNvSpPr/>
          <p:nvPr/>
        </p:nvSpPr>
        <p:spPr>
          <a:xfrm>
            <a:off x="2355494" y="3206801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1" name="line-090"/>
          <p:cNvCxnSpPr/>
          <p:nvPr/>
        </p:nvCxnSpPr>
        <p:spPr>
          <a:xfrm>
            <a:off x="6477610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92" name="polygon-091"/>
          <p:cNvSpPr/>
          <p:nvPr/>
        </p:nvSpPr>
        <p:spPr>
          <a:xfrm>
            <a:off x="6452006" y="3206801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代表性函数调用"/>
          <p:cNvSpPr txBox="1"/>
          <p:nvPr/>
        </p:nvSpPr>
        <p:spPr>
          <a:xfrm>
            <a:off x="3648456" y="3024250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代表性函数调用</a:t>
            </a:r>
          </a:p>
        </p:txBody>
      </p:sp>
      <p:sp>
        <p:nvSpPr>
          <p:cNvPr id="94" name="rect-093"/>
          <p:cNvSpPr/>
          <p:nvPr/>
        </p:nvSpPr>
        <p:spPr>
          <a:xfrm>
            <a:off x="1536192" y="3290011"/>
            <a:ext cx="1689811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UART DIF"/>
          <p:cNvSpPr txBox="1"/>
          <p:nvPr/>
        </p:nvSpPr>
        <p:spPr>
          <a:xfrm>
            <a:off x="1922625" y="3347106"/>
            <a:ext cx="91694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96" name="text-095: 初始化 · FIFO 字节收发"/>
          <p:cNvSpPr txBox="1"/>
          <p:nvPr/>
        </p:nvSpPr>
        <p:spPr>
          <a:xfrm>
            <a:off x="1621653" y="3592897"/>
            <a:ext cx="1518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初始化 · FIFO 字节收发</a:t>
            </a:r>
          </a:p>
        </p:txBody>
      </p:sp>
      <p:sp>
        <p:nvSpPr>
          <p:cNvPr id="97" name="rect-096"/>
          <p:cNvSpPr/>
          <p:nvPr/>
        </p:nvSpPr>
        <p:spPr>
          <a:xfrm>
            <a:off x="3405226" y="3290011"/>
            <a:ext cx="4275734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7: SPI / I²C / GPIO DIF"/>
          <p:cNvSpPr txBox="1"/>
          <p:nvPr/>
        </p:nvSpPr>
        <p:spPr>
          <a:xfrm>
            <a:off x="4691726" y="3347106"/>
            <a:ext cx="1702733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99" name="text-098: 控制器配置 · 传输段 · 状态与寄存器操作"/>
          <p:cNvSpPr txBox="1"/>
          <p:nvPr/>
        </p:nvSpPr>
        <p:spPr>
          <a:xfrm>
            <a:off x="4288646" y="3592897"/>
            <a:ext cx="2508894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控制器配置 · 传输段 · 状态与寄存器操作</a:t>
            </a:r>
          </a:p>
        </p:txBody>
      </p:sp>
      <p:sp>
        <p:nvSpPr>
          <p:cNvPr id="100" name="rect-099"/>
          <p:cNvSpPr/>
          <p:nvPr/>
        </p:nvSpPr>
        <p:spPr>
          <a:xfrm>
            <a:off x="7860182" y="3290011"/>
            <a:ext cx="184343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CLINT / DMA 接口"/>
          <p:cNvSpPr txBox="1"/>
          <p:nvPr/>
        </p:nvSpPr>
        <p:spPr>
          <a:xfrm>
            <a:off x="8043005" y="3360932"/>
            <a:ext cx="147778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102" name="text-101: 计时 · 配置与提交"/>
          <p:cNvSpPr txBox="1"/>
          <p:nvPr/>
        </p:nvSpPr>
        <p:spPr>
          <a:xfrm>
            <a:off x="8188278" y="3592897"/>
            <a:ext cx="118723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计时 · 配置与提交</a:t>
            </a:r>
          </a:p>
        </p:txBody>
      </p:sp>
      <p:cxnSp>
        <p:nvCxnSpPr>
          <p:cNvPr id="103" name="line-102"/>
          <p:cNvCxnSpPr/>
          <p:nvPr/>
        </p:nvCxnSpPr>
        <p:spPr>
          <a:xfrm>
            <a:off x="23810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4" name="polygon-103"/>
          <p:cNvSpPr/>
          <p:nvPr/>
        </p:nvSpPr>
        <p:spPr>
          <a:xfrm>
            <a:off x="2355494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line-104"/>
          <p:cNvCxnSpPr/>
          <p:nvPr/>
        </p:nvCxnSpPr>
        <p:spPr>
          <a:xfrm>
            <a:off x="6477610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6" name="polygon-105"/>
          <p:cNvSpPr/>
          <p:nvPr/>
        </p:nvSpPr>
        <p:spPr>
          <a:xfrm>
            <a:off x="6452006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" name="line-106"/>
          <p:cNvCxnSpPr/>
          <p:nvPr/>
        </p:nvCxnSpPr>
        <p:spPr>
          <a:xfrm>
            <a:off x="87818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8" name="polygon-107"/>
          <p:cNvSpPr/>
          <p:nvPr/>
        </p:nvSpPr>
        <p:spPr>
          <a:xfrm>
            <a:off x="8756294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08"/>
          <p:cNvSpPr/>
          <p:nvPr/>
        </p:nvSpPr>
        <p:spPr>
          <a:xfrm>
            <a:off x="1536192" y="4134917"/>
            <a:ext cx="8167421" cy="48646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601" cap="flat">
            <a:solidFill>
              <a:srgbClr val="A9C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09: MMIO 访问工具"/>
          <p:cNvSpPr txBox="1"/>
          <p:nvPr/>
        </p:nvSpPr>
        <p:spPr>
          <a:xfrm>
            <a:off x="1664208" y="4160520"/>
            <a:ext cx="133758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MMIO 访问工具</a:t>
            </a:r>
          </a:p>
        </p:txBody>
      </p:sp>
      <p:sp>
        <p:nvSpPr>
          <p:cNvPr id="111" name="text-110: reg8 / reg32 · mmio_region_read / write"/>
          <p:cNvSpPr txBox="1"/>
          <p:nvPr/>
        </p:nvSpPr>
        <p:spPr>
          <a:xfrm>
            <a:off x="3296412" y="4174346"/>
            <a:ext cx="2950469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reg8 / reg32 · mmio_region_read / write</a:t>
            </a:r>
          </a:p>
        </p:txBody>
      </p:sp>
      <p:sp>
        <p:nvSpPr>
          <p:cNvPr id="112" name="text-111: 基址 + 寄存器偏移 + 访问位宽；regs 头文件提供偏移和位字段"/>
          <p:cNvSpPr txBox="1"/>
          <p:nvPr/>
        </p:nvSpPr>
        <p:spPr>
          <a:xfrm>
            <a:off x="1664208" y="4373283"/>
            <a:ext cx="408377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基址 + 寄存器偏移 + 访问位宽；regs 头文件提供偏移和位字段</a:t>
            </a:r>
          </a:p>
        </p:txBody>
      </p:sp>
      <p:sp>
        <p:nvSpPr>
          <p:cNvPr id="113" name="text-112: 其他专用库：LLC · AXI RT     |     libcheshire"/>
          <p:cNvSpPr txBox="1"/>
          <p:nvPr/>
        </p:nvSpPr>
        <p:spPr>
          <a:xfrm>
            <a:off x="1536192" y="4667719"/>
            <a:ext cx="503938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其他专用库：LLC · AXI RT     |     libcheshire.a：代码归档方式，涵盖多个职责</a:t>
            </a:r>
          </a:p>
        </p:txBody>
      </p:sp>
      <p:sp>
        <p:nvSpPr>
          <p:cNvPr id="114" name="rect-113"/>
          <p:cNvSpPr/>
          <p:nvPr/>
        </p:nvSpPr>
        <p:spPr>
          <a:xfrm>
            <a:off x="256032" y="5056632"/>
            <a:ext cx="9601200" cy="9601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4"/>
          <p:cNvSpPr/>
          <p:nvPr/>
        </p:nvSpPr>
        <p:spPr>
          <a:xfrm>
            <a:off x="256032" y="5056632"/>
            <a:ext cx="51206" cy="960120"/>
          </a:xfrm>
          <a:prstGeom prst="rect">
            <a:avLst/>
          </a:prstGeom>
          <a:solidFill>
            <a:srgbClr val="217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接口"/>
          <p:cNvSpPr txBox="1"/>
          <p:nvPr/>
        </p:nvSpPr>
        <p:spPr>
          <a:xfrm>
            <a:off x="435254" y="5160581"/>
            <a:ext cx="42245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17" name="text-116: 接口边界"/>
          <p:cNvSpPr txBox="1"/>
          <p:nvPr/>
        </p:nvSpPr>
        <p:spPr>
          <a:xfrm>
            <a:off x="435254" y="5381025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118" name="text-117: 软件可见的契约"/>
          <p:cNvSpPr txBox="1"/>
          <p:nvPr/>
        </p:nvSpPr>
        <p:spPr>
          <a:xfrm>
            <a:off x="435254" y="5654979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软件可见的契约</a:t>
            </a:r>
          </a:p>
        </p:txBody>
      </p:sp>
      <p:cxnSp>
        <p:nvCxnSpPr>
          <p:cNvPr id="119" name="line-118"/>
          <p:cNvCxnSpPr/>
          <p:nvPr/>
        </p:nvCxnSpPr>
        <p:spPr>
          <a:xfrm>
            <a:off x="1369771" y="5210251"/>
            <a:ext cx="0" cy="652882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20" name="rect-119"/>
          <p:cNvSpPr/>
          <p:nvPr/>
        </p:nvSpPr>
        <p:spPr>
          <a:xfrm>
            <a:off x="1536192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20: 指令执行"/>
          <p:cNvSpPr txBox="1"/>
          <p:nvPr/>
        </p:nvSpPr>
        <p:spPr>
          <a:xfrm>
            <a:off x="2080260" y="5292950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122" name="text-121: 标量指令 · RVV"/>
          <p:cNvSpPr txBox="1"/>
          <p:nvPr/>
        </p:nvSpPr>
        <p:spPr>
          <a:xfrm>
            <a:off x="1969541" y="5538740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标量指令 · RVV</a:t>
            </a:r>
          </a:p>
        </p:txBody>
      </p:sp>
      <p:sp>
        <p:nvSpPr>
          <p:cNvPr id="123" name="rect-122"/>
          <p:cNvSpPr/>
          <p:nvPr/>
        </p:nvSpPr>
        <p:spPr>
          <a:xfrm>
            <a:off x="3571646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123: CSR 与特权状态"/>
          <p:cNvSpPr txBox="1"/>
          <p:nvPr/>
        </p:nvSpPr>
        <p:spPr>
          <a:xfrm>
            <a:off x="3849871" y="5292950"/>
            <a:ext cx="136379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125" name="text-124: 处理器配置与控制"/>
          <p:cNvSpPr txBox="1"/>
          <p:nvPr/>
        </p:nvSpPr>
        <p:spPr>
          <a:xfrm>
            <a:off x="3926891" y="5538740"/>
            <a:ext cx="120975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126" name="rect-125"/>
          <p:cNvSpPr/>
          <p:nvPr/>
        </p:nvSpPr>
        <p:spPr>
          <a:xfrm>
            <a:off x="5607101" y="5235854"/>
            <a:ext cx="1933042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内存与 MMIO"/>
          <p:cNvSpPr txBox="1"/>
          <p:nvPr/>
        </p:nvSpPr>
        <p:spPr>
          <a:xfrm>
            <a:off x="5984838" y="5299862"/>
            <a:ext cx="11775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128" name="text-127: 地址 · 属性 · 寄存器语义"/>
          <p:cNvSpPr txBox="1"/>
          <p:nvPr/>
        </p:nvSpPr>
        <p:spPr>
          <a:xfrm>
            <a:off x="5789634" y="5538740"/>
            <a:ext cx="156797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地址 · 属性 · 寄存器语义</a:t>
            </a:r>
          </a:p>
        </p:txBody>
      </p:sp>
      <p:sp>
        <p:nvSpPr>
          <p:cNvPr id="129" name="rect-128"/>
          <p:cNvSpPr/>
          <p:nvPr/>
        </p:nvSpPr>
        <p:spPr>
          <a:xfrm>
            <a:off x="7655357" y="5235854"/>
            <a:ext cx="2048256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异常与中断"/>
          <p:cNvSpPr txBox="1"/>
          <p:nvPr/>
        </p:nvSpPr>
        <p:spPr>
          <a:xfrm>
            <a:off x="8180222" y="5292950"/>
            <a:ext cx="99852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131" name="text-130: 事件入口 · 处理与返回"/>
          <p:cNvSpPr txBox="1"/>
          <p:nvPr/>
        </p:nvSpPr>
        <p:spPr>
          <a:xfrm>
            <a:off x="7951449" y="5538740"/>
            <a:ext cx="145607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事件入口 · 处理与返回</a:t>
            </a:r>
          </a:p>
        </p:txBody>
      </p:sp>
      <p:sp>
        <p:nvSpPr>
          <p:cNvPr id="132" name="rect-131"/>
          <p:cNvSpPr/>
          <p:nvPr/>
        </p:nvSpPr>
        <p:spPr>
          <a:xfrm>
            <a:off x="256032" y="6144768"/>
            <a:ext cx="9601200" cy="2176272"/>
          </a:xfrm>
          <a:prstGeom prst="roundRect">
            <a:avLst>
              <a:gd name="adj" fmla="val 3529"/>
            </a:avLst>
          </a:prstGeom>
          <a:solidFill>
            <a:srgbClr val="FFF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256032" y="6144768"/>
            <a:ext cx="51206" cy="2176272"/>
          </a:xfrm>
          <a:prstGeom prst="rect">
            <a:avLst/>
          </a:pr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03"/>
          <p:cNvSpPr txBox="1"/>
          <p:nvPr/>
        </p:nvSpPr>
        <p:spPr>
          <a:xfrm>
            <a:off x="435254" y="6248717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5" name="text-134: SoC 硬件"/>
          <p:cNvSpPr txBox="1"/>
          <p:nvPr/>
        </p:nvSpPr>
        <p:spPr>
          <a:xfrm>
            <a:off x="435254" y="6469161"/>
            <a:ext cx="961110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136" name="text-135: 执行、存储与传输"/>
          <p:cNvSpPr txBox="1"/>
          <p:nvPr/>
        </p:nvSpPr>
        <p:spPr>
          <a:xfrm>
            <a:off x="435254" y="6743115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执行、存储与传输</a:t>
            </a:r>
          </a:p>
        </p:txBody>
      </p:sp>
      <p:cxnSp>
        <p:nvCxnSpPr>
          <p:cNvPr id="137" name="line-136"/>
          <p:cNvCxnSpPr/>
          <p:nvPr/>
        </p:nvCxnSpPr>
        <p:spPr>
          <a:xfrm>
            <a:off x="1369771" y="6298387"/>
            <a:ext cx="0" cy="186903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38" name="rect-137"/>
          <p:cNvSpPr/>
          <p:nvPr/>
        </p:nvSpPr>
        <p:spPr>
          <a:xfrm>
            <a:off x="1536192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-138: CVA6"/>
          <p:cNvSpPr txBox="1"/>
          <p:nvPr/>
        </p:nvSpPr>
        <p:spPr>
          <a:xfrm>
            <a:off x="2083730" y="6457895"/>
            <a:ext cx="59473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40" name="text-139: 取指 · 执行 · 访存"/>
          <p:cNvSpPr txBox="1"/>
          <p:nvPr/>
        </p:nvSpPr>
        <p:spPr>
          <a:xfrm>
            <a:off x="1798735" y="6703686"/>
            <a:ext cx="116472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取指 · 执行 · 访存</a:t>
            </a:r>
          </a:p>
        </p:txBody>
      </p:sp>
      <p:sp>
        <p:nvSpPr>
          <p:cNvPr id="141" name="rect-140"/>
          <p:cNvSpPr/>
          <p:nvPr/>
        </p:nvSpPr>
        <p:spPr>
          <a:xfrm>
            <a:off x="3405226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Ara"/>
          <p:cNvSpPr txBox="1"/>
          <p:nvPr/>
        </p:nvSpPr>
        <p:spPr>
          <a:xfrm>
            <a:off x="4030604" y="6457895"/>
            <a:ext cx="43905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43" name="text-142: RVV 执行 · 向量访存"/>
          <p:cNvSpPr txBox="1"/>
          <p:nvPr/>
        </p:nvSpPr>
        <p:spPr>
          <a:xfrm>
            <a:off x="3569056" y="6703686"/>
            <a:ext cx="136215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执行 · 向量访存</a:t>
            </a:r>
          </a:p>
        </p:txBody>
      </p:sp>
      <p:sp>
        <p:nvSpPr>
          <p:cNvPr id="144" name="rect-143"/>
          <p:cNvSpPr/>
          <p:nvPr/>
        </p:nvSpPr>
        <p:spPr>
          <a:xfrm>
            <a:off x="5274259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4: iDMA"/>
          <p:cNvSpPr txBox="1"/>
          <p:nvPr/>
        </p:nvSpPr>
        <p:spPr>
          <a:xfrm>
            <a:off x="5810581" y="6457895"/>
            <a:ext cx="61716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146" name="text-145: 硬件数据搬运"/>
          <p:cNvSpPr txBox="1"/>
          <p:nvPr/>
        </p:nvSpPr>
        <p:spPr>
          <a:xfrm>
            <a:off x="5648706" y="6703686"/>
            <a:ext cx="9409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147" name="rect-146"/>
          <p:cNvSpPr/>
          <p:nvPr/>
        </p:nvSpPr>
        <p:spPr>
          <a:xfrm>
            <a:off x="7143293" y="6400800"/>
            <a:ext cx="2560320" cy="582473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line-147"/>
          <p:cNvCxnSpPr/>
          <p:nvPr/>
        </p:nvCxnSpPr>
        <p:spPr>
          <a:xfrm>
            <a:off x="714329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49" name="line-148"/>
          <p:cNvCxnSpPr/>
          <p:nvPr/>
        </p:nvCxnSpPr>
        <p:spPr>
          <a:xfrm>
            <a:off x="727130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0" name="line-149"/>
          <p:cNvCxnSpPr/>
          <p:nvPr/>
        </p:nvCxnSpPr>
        <p:spPr>
          <a:xfrm>
            <a:off x="739932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1" name="line-150"/>
          <p:cNvCxnSpPr/>
          <p:nvPr/>
        </p:nvCxnSpPr>
        <p:spPr>
          <a:xfrm>
            <a:off x="752734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2" name="line-151"/>
          <p:cNvCxnSpPr/>
          <p:nvPr/>
        </p:nvCxnSpPr>
        <p:spPr>
          <a:xfrm>
            <a:off x="765535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3" name="line-152"/>
          <p:cNvCxnSpPr/>
          <p:nvPr/>
        </p:nvCxnSpPr>
        <p:spPr>
          <a:xfrm>
            <a:off x="778337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4" name="line-153"/>
          <p:cNvCxnSpPr/>
          <p:nvPr/>
        </p:nvCxnSpPr>
        <p:spPr>
          <a:xfrm>
            <a:off x="791138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5" name="line-154"/>
          <p:cNvCxnSpPr/>
          <p:nvPr/>
        </p:nvCxnSpPr>
        <p:spPr>
          <a:xfrm>
            <a:off x="803940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6" name="line-155"/>
          <p:cNvCxnSpPr/>
          <p:nvPr/>
        </p:nvCxnSpPr>
        <p:spPr>
          <a:xfrm>
            <a:off x="816742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7" name="line-156"/>
          <p:cNvCxnSpPr/>
          <p:nvPr/>
        </p:nvCxnSpPr>
        <p:spPr>
          <a:xfrm>
            <a:off x="829543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8" name="line-157"/>
          <p:cNvCxnSpPr/>
          <p:nvPr/>
        </p:nvCxnSpPr>
        <p:spPr>
          <a:xfrm>
            <a:off x="842345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9" name="line-158"/>
          <p:cNvCxnSpPr/>
          <p:nvPr/>
        </p:nvCxnSpPr>
        <p:spPr>
          <a:xfrm>
            <a:off x="855146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0" name="line-159"/>
          <p:cNvCxnSpPr/>
          <p:nvPr/>
        </p:nvCxnSpPr>
        <p:spPr>
          <a:xfrm>
            <a:off x="867948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1" name="line-160"/>
          <p:cNvCxnSpPr/>
          <p:nvPr/>
        </p:nvCxnSpPr>
        <p:spPr>
          <a:xfrm>
            <a:off x="880750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2" name="line-161"/>
          <p:cNvCxnSpPr/>
          <p:nvPr/>
        </p:nvCxnSpPr>
        <p:spPr>
          <a:xfrm>
            <a:off x="893551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3" name="line-162"/>
          <p:cNvCxnSpPr/>
          <p:nvPr/>
        </p:nvCxnSpPr>
        <p:spPr>
          <a:xfrm>
            <a:off x="906353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4" name="line-163"/>
          <p:cNvCxnSpPr/>
          <p:nvPr/>
        </p:nvCxnSpPr>
        <p:spPr>
          <a:xfrm>
            <a:off x="919154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5" name="line-164"/>
          <p:cNvCxnSpPr/>
          <p:nvPr/>
        </p:nvCxnSpPr>
        <p:spPr>
          <a:xfrm>
            <a:off x="931956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6" name="line-165"/>
          <p:cNvCxnSpPr/>
          <p:nvPr/>
        </p:nvCxnSpPr>
        <p:spPr>
          <a:xfrm>
            <a:off x="944758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7" name="line-166"/>
          <p:cNvCxnSpPr/>
          <p:nvPr/>
        </p:nvCxnSpPr>
        <p:spPr>
          <a:xfrm>
            <a:off x="957559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8" name="line-167"/>
          <p:cNvCxnSpPr/>
          <p:nvPr/>
        </p:nvCxnSpPr>
        <p:spPr>
          <a:xfrm>
            <a:off x="714329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9" name="line-168"/>
          <p:cNvCxnSpPr/>
          <p:nvPr/>
        </p:nvCxnSpPr>
        <p:spPr>
          <a:xfrm>
            <a:off x="727130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0" name="line-169"/>
          <p:cNvCxnSpPr/>
          <p:nvPr/>
        </p:nvCxnSpPr>
        <p:spPr>
          <a:xfrm>
            <a:off x="739932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1" name="line-170"/>
          <p:cNvCxnSpPr/>
          <p:nvPr/>
        </p:nvCxnSpPr>
        <p:spPr>
          <a:xfrm>
            <a:off x="752734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2" name="line-171"/>
          <p:cNvCxnSpPr/>
          <p:nvPr/>
        </p:nvCxnSpPr>
        <p:spPr>
          <a:xfrm>
            <a:off x="765535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3" name="line-172"/>
          <p:cNvCxnSpPr/>
          <p:nvPr/>
        </p:nvCxnSpPr>
        <p:spPr>
          <a:xfrm>
            <a:off x="778337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4" name="line-173"/>
          <p:cNvCxnSpPr/>
          <p:nvPr/>
        </p:nvCxnSpPr>
        <p:spPr>
          <a:xfrm>
            <a:off x="791138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5" name="line-174"/>
          <p:cNvCxnSpPr/>
          <p:nvPr/>
        </p:nvCxnSpPr>
        <p:spPr>
          <a:xfrm>
            <a:off x="803940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6" name="line-175"/>
          <p:cNvCxnSpPr/>
          <p:nvPr/>
        </p:nvCxnSpPr>
        <p:spPr>
          <a:xfrm>
            <a:off x="816742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7" name="line-176"/>
          <p:cNvCxnSpPr/>
          <p:nvPr/>
        </p:nvCxnSpPr>
        <p:spPr>
          <a:xfrm>
            <a:off x="829543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8" name="line-177"/>
          <p:cNvCxnSpPr/>
          <p:nvPr/>
        </p:nvCxnSpPr>
        <p:spPr>
          <a:xfrm>
            <a:off x="842345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9" name="line-178"/>
          <p:cNvCxnSpPr/>
          <p:nvPr/>
        </p:nvCxnSpPr>
        <p:spPr>
          <a:xfrm>
            <a:off x="855146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0" name="line-179"/>
          <p:cNvCxnSpPr/>
          <p:nvPr/>
        </p:nvCxnSpPr>
        <p:spPr>
          <a:xfrm>
            <a:off x="867948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1" name="line-180"/>
          <p:cNvCxnSpPr/>
          <p:nvPr/>
        </p:nvCxnSpPr>
        <p:spPr>
          <a:xfrm>
            <a:off x="880750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2" name="line-181"/>
          <p:cNvCxnSpPr/>
          <p:nvPr/>
        </p:nvCxnSpPr>
        <p:spPr>
          <a:xfrm>
            <a:off x="893551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3" name="line-182"/>
          <p:cNvCxnSpPr/>
          <p:nvPr/>
        </p:nvCxnSpPr>
        <p:spPr>
          <a:xfrm>
            <a:off x="906353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4" name="line-183"/>
          <p:cNvCxnSpPr/>
          <p:nvPr/>
        </p:nvCxnSpPr>
        <p:spPr>
          <a:xfrm>
            <a:off x="919154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5" name="line-184"/>
          <p:cNvCxnSpPr/>
          <p:nvPr/>
        </p:nvCxnSpPr>
        <p:spPr>
          <a:xfrm>
            <a:off x="931956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6" name="line-185"/>
          <p:cNvCxnSpPr/>
          <p:nvPr/>
        </p:nvCxnSpPr>
        <p:spPr>
          <a:xfrm>
            <a:off x="944758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7" name="line-186"/>
          <p:cNvCxnSpPr/>
          <p:nvPr/>
        </p:nvCxnSpPr>
        <p:spPr>
          <a:xfrm>
            <a:off x="957559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8" name="line-187"/>
          <p:cNvCxnSpPr/>
          <p:nvPr/>
        </p:nvCxnSpPr>
        <p:spPr>
          <a:xfrm>
            <a:off x="7143293" y="640080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9" name="line-188"/>
          <p:cNvCxnSpPr/>
          <p:nvPr/>
        </p:nvCxnSpPr>
        <p:spPr>
          <a:xfrm>
            <a:off x="7143293" y="652881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0" name="line-189"/>
          <p:cNvCxnSpPr/>
          <p:nvPr/>
        </p:nvCxnSpPr>
        <p:spPr>
          <a:xfrm>
            <a:off x="7143293" y="66568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1" name="line-190"/>
          <p:cNvCxnSpPr/>
          <p:nvPr/>
        </p:nvCxnSpPr>
        <p:spPr>
          <a:xfrm>
            <a:off x="7143293" y="6784848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2" name="line-191"/>
          <p:cNvCxnSpPr/>
          <p:nvPr/>
        </p:nvCxnSpPr>
        <p:spPr>
          <a:xfrm>
            <a:off x="7143293" y="691286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3" name="line-192"/>
          <p:cNvCxnSpPr/>
          <p:nvPr/>
        </p:nvCxnSpPr>
        <p:spPr>
          <a:xfrm>
            <a:off x="9703613" y="640080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4" name="line-193"/>
          <p:cNvCxnSpPr/>
          <p:nvPr/>
        </p:nvCxnSpPr>
        <p:spPr>
          <a:xfrm>
            <a:off x="9703613" y="652881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5" name="line-194"/>
          <p:cNvCxnSpPr/>
          <p:nvPr/>
        </p:nvCxnSpPr>
        <p:spPr>
          <a:xfrm>
            <a:off x="9703613" y="66568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6" name="line-195"/>
          <p:cNvCxnSpPr/>
          <p:nvPr/>
        </p:nvCxnSpPr>
        <p:spPr>
          <a:xfrm>
            <a:off x="9703613" y="6784848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7" name="line-196"/>
          <p:cNvCxnSpPr/>
          <p:nvPr/>
        </p:nvCxnSpPr>
        <p:spPr>
          <a:xfrm>
            <a:off x="9703613" y="691286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198" name="text-197: NPU / ISP / 图像接入"/>
          <p:cNvSpPr txBox="1"/>
          <p:nvPr/>
        </p:nvSpPr>
        <p:spPr>
          <a:xfrm>
            <a:off x="7602160" y="6471721"/>
            <a:ext cx="164258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199" name="text-198: 自定义 IP 与接口〔规划〕"/>
          <p:cNvSpPr txBox="1"/>
          <p:nvPr/>
        </p:nvSpPr>
        <p:spPr>
          <a:xfrm>
            <a:off x="7583508" y="6703686"/>
            <a:ext cx="1679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200" name="line-199"/>
          <p:cNvCxnSpPr/>
          <p:nvPr/>
        </p:nvCxnSpPr>
        <p:spPr>
          <a:xfrm>
            <a:off x="3238805" y="6656832"/>
            <a:ext cx="153619" cy="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1" name="polygon-200"/>
          <p:cNvSpPr/>
          <p:nvPr/>
        </p:nvSpPr>
        <p:spPr>
          <a:xfrm>
            <a:off x="3334817" y="663122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polygon-201"/>
          <p:cNvSpPr/>
          <p:nvPr/>
        </p:nvSpPr>
        <p:spPr>
          <a:xfrm>
            <a:off x="3238805" y="663122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0" y="25603"/>
                </a:moveTo>
                <a:lnTo>
                  <a:pt x="57607" y="0"/>
                </a:lnTo>
                <a:lnTo>
                  <a:pt x="57607" y="51206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-202: 专用请求 / 响应"/>
          <p:cNvSpPr txBox="1"/>
          <p:nvPr/>
        </p:nvSpPr>
        <p:spPr>
          <a:xfrm>
            <a:off x="2860002" y="6205448"/>
            <a:ext cx="97523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专用请求 / 响应</a:t>
            </a:r>
          </a:p>
        </p:txBody>
      </p:sp>
      <p:cxnSp>
        <p:nvCxnSpPr>
          <p:cNvPr id="204" name="line-203"/>
          <p:cNvCxnSpPr/>
          <p:nvPr/>
        </p:nvCxnSpPr>
        <p:spPr>
          <a:xfrm>
            <a:off x="2381098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5" name="polygon-204"/>
          <p:cNvSpPr/>
          <p:nvPr/>
        </p:nvSpPr>
        <p:spPr>
          <a:xfrm>
            <a:off x="2355494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polygon-205"/>
          <p:cNvSpPr/>
          <p:nvPr/>
        </p:nvSpPr>
        <p:spPr>
          <a:xfrm>
            <a:off x="2355494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7" name="line-206"/>
          <p:cNvCxnSpPr/>
          <p:nvPr/>
        </p:nvCxnSpPr>
        <p:spPr>
          <a:xfrm>
            <a:off x="4250131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8" name="polygon-207"/>
          <p:cNvSpPr/>
          <p:nvPr/>
        </p:nvSpPr>
        <p:spPr>
          <a:xfrm>
            <a:off x="4224528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polygon-208"/>
          <p:cNvSpPr/>
          <p:nvPr/>
        </p:nvSpPr>
        <p:spPr>
          <a:xfrm>
            <a:off x="4224528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0" name="line-209"/>
          <p:cNvCxnSpPr/>
          <p:nvPr/>
        </p:nvCxnSpPr>
        <p:spPr>
          <a:xfrm>
            <a:off x="6119165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11" name="polygon-210"/>
          <p:cNvSpPr/>
          <p:nvPr/>
        </p:nvSpPr>
        <p:spPr>
          <a:xfrm>
            <a:off x="6093562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polygon-211"/>
          <p:cNvSpPr/>
          <p:nvPr/>
        </p:nvSpPr>
        <p:spPr>
          <a:xfrm>
            <a:off x="6093562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-212: 接入与 DDR 旁路方案待实现"/>
          <p:cNvSpPr txBox="1"/>
          <p:nvPr/>
        </p:nvSpPr>
        <p:spPr>
          <a:xfrm>
            <a:off x="7542183" y="7030639"/>
            <a:ext cx="176254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接入与 DDR 旁路方案待实现</a:t>
            </a:r>
          </a:p>
        </p:txBody>
      </p:sp>
      <p:sp>
        <p:nvSpPr>
          <p:cNvPr id="214" name="rect-213"/>
          <p:cNvSpPr/>
          <p:nvPr/>
        </p:nvSpPr>
        <p:spPr>
          <a:xfrm>
            <a:off x="1536192" y="7239305"/>
            <a:ext cx="8167421" cy="294437"/>
          </a:xfrm>
          <a:prstGeom prst="roundRect">
            <a:avLst>
              <a:gd name="adj" fmla="val 13043"/>
            </a:avLst>
          </a:prstGeom>
          <a:solidFill>
            <a:srgbClr val="F8D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4: AXI 互连与适配 · 地址路由 · 主设备共享访问"/>
          <p:cNvSpPr txBox="1"/>
          <p:nvPr/>
        </p:nvSpPr>
        <p:spPr>
          <a:xfrm>
            <a:off x="3971421" y="7264908"/>
            <a:ext cx="32969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216" name="line-215"/>
          <p:cNvCxnSpPr/>
          <p:nvPr/>
        </p:nvCxnSpPr>
        <p:spPr>
          <a:xfrm>
            <a:off x="323240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17" name="polygon-216"/>
          <p:cNvSpPr/>
          <p:nvPr/>
        </p:nvSpPr>
        <p:spPr>
          <a:xfrm>
            <a:off x="3206801" y="762335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polygon-217"/>
          <p:cNvSpPr/>
          <p:nvPr/>
        </p:nvSpPr>
        <p:spPr>
          <a:xfrm>
            <a:off x="3206801" y="754654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line-218"/>
          <p:cNvCxnSpPr/>
          <p:nvPr/>
        </p:nvCxnSpPr>
        <p:spPr>
          <a:xfrm>
            <a:off x="739292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20" name="polygon-219"/>
          <p:cNvSpPr/>
          <p:nvPr/>
        </p:nvSpPr>
        <p:spPr>
          <a:xfrm>
            <a:off x="7367321" y="762335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polygon-220"/>
          <p:cNvSpPr/>
          <p:nvPr/>
        </p:nvSpPr>
        <p:spPr>
          <a:xfrm>
            <a:off x="7367321" y="754654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-221"/>
          <p:cNvSpPr/>
          <p:nvPr/>
        </p:nvSpPr>
        <p:spPr>
          <a:xfrm>
            <a:off x="1536192" y="7706563"/>
            <a:ext cx="3392424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2: 原子适配 → LLC / SPM → 主存出口"/>
          <p:cNvSpPr txBox="1"/>
          <p:nvPr/>
        </p:nvSpPr>
        <p:spPr>
          <a:xfrm>
            <a:off x="1978877" y="7739591"/>
            <a:ext cx="2507053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224" name="text-223: SPM 复用 LLC 存储阵列"/>
          <p:cNvSpPr txBox="1"/>
          <p:nvPr/>
        </p:nvSpPr>
        <p:spPr>
          <a:xfrm>
            <a:off x="2445096" y="7939040"/>
            <a:ext cx="157461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SPM 复用 LLC 存储阵列</a:t>
            </a:r>
          </a:p>
        </p:txBody>
      </p:sp>
      <p:sp>
        <p:nvSpPr>
          <p:cNvPr id="225" name="rect-224"/>
          <p:cNvSpPr/>
          <p:nvPr/>
        </p:nvSpPr>
        <p:spPr>
          <a:xfrm>
            <a:off x="5082235" y="7706563"/>
            <a:ext cx="4621378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5: 寄存器总线 → 外设 / 平台控制"/>
          <p:cNvSpPr txBox="1"/>
          <p:nvPr/>
        </p:nvSpPr>
        <p:spPr>
          <a:xfrm>
            <a:off x="6223918" y="7725766"/>
            <a:ext cx="23380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寄存器总线 → 外设 / 平台控制</a:t>
            </a:r>
          </a:p>
        </p:txBody>
      </p:sp>
      <p:sp>
        <p:nvSpPr>
          <p:cNvPr id="227" name="text-226: UART · SPI · I²C · GPIO · 中断/定时器 · ROM 接"/>
          <p:cNvSpPr txBox="1"/>
          <p:nvPr/>
        </p:nvSpPr>
        <p:spPr>
          <a:xfrm>
            <a:off x="5829824" y="7939040"/>
            <a:ext cx="312620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UART · SPI · I²C · GPIO · 中断/定时器 · ROM 接口</a:t>
            </a:r>
          </a:p>
        </p:txBody>
      </p:sp>
      <p:sp>
        <p:nvSpPr>
          <p:cNvPr id="228" name="rect-227"/>
          <p:cNvSpPr/>
          <p:nvPr/>
        </p:nvSpPr>
        <p:spPr>
          <a:xfrm>
            <a:off x="256032" y="8449056"/>
            <a:ext cx="9601200" cy="716890"/>
          </a:xfrm>
          <a:prstGeom prst="roundRect">
            <a:avLst>
              <a:gd name="adj" fmla="val 10714"/>
            </a:avLst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-228"/>
          <p:cNvSpPr/>
          <p:nvPr/>
        </p:nvSpPr>
        <p:spPr>
          <a:xfrm>
            <a:off x="256032" y="8449056"/>
            <a:ext cx="51206" cy="716890"/>
          </a:xfrm>
          <a:prstGeom prst="rect">
            <a:avLst/>
          </a:prstGeom>
          <a:solidFill>
            <a:srgbClr val="536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-229: 04"/>
          <p:cNvSpPr txBox="1"/>
          <p:nvPr/>
        </p:nvSpPr>
        <p:spPr>
          <a:xfrm>
            <a:off x="435254" y="8424989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1" name="text-230: 片外器件"/>
          <p:cNvSpPr txBox="1"/>
          <p:nvPr/>
        </p:nvSpPr>
        <p:spPr>
          <a:xfrm>
            <a:off x="435254" y="864543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232" name="text-231: 经对应控制器连接"/>
          <p:cNvSpPr txBox="1"/>
          <p:nvPr/>
        </p:nvSpPr>
        <p:spPr>
          <a:xfrm>
            <a:off x="435254" y="8919387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经对应控制器连接</a:t>
            </a:r>
          </a:p>
        </p:txBody>
      </p:sp>
      <p:cxnSp>
        <p:nvCxnSpPr>
          <p:cNvPr id="233" name="line-232"/>
          <p:cNvCxnSpPr/>
          <p:nvPr/>
        </p:nvCxnSpPr>
        <p:spPr>
          <a:xfrm>
            <a:off x="1369771" y="8602675"/>
            <a:ext cx="0" cy="409651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cxnSp>
        <p:nvCxnSpPr>
          <p:cNvPr id="234" name="line-233"/>
          <p:cNvCxnSpPr/>
          <p:nvPr/>
        </p:nvCxnSpPr>
        <p:spPr>
          <a:xfrm>
            <a:off x="3232404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35" name="polygon-234"/>
          <p:cNvSpPr/>
          <p:nvPr/>
        </p:nvSpPr>
        <p:spPr>
          <a:xfrm>
            <a:off x="3206801" y="8519465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polygon-235"/>
          <p:cNvSpPr/>
          <p:nvPr/>
        </p:nvSpPr>
        <p:spPr>
          <a:xfrm>
            <a:off x="3206801" y="8180222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7" name="line-236"/>
          <p:cNvCxnSpPr/>
          <p:nvPr/>
        </p:nvCxnSpPr>
        <p:spPr>
          <a:xfrm>
            <a:off x="6458407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38" name="polygon-237"/>
          <p:cNvSpPr/>
          <p:nvPr/>
        </p:nvSpPr>
        <p:spPr>
          <a:xfrm>
            <a:off x="6432804" y="8519465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polygon-238"/>
          <p:cNvSpPr/>
          <p:nvPr/>
        </p:nvSpPr>
        <p:spPr>
          <a:xfrm>
            <a:off x="6432804" y="8180222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-239"/>
          <p:cNvSpPr/>
          <p:nvPr/>
        </p:nvSpPr>
        <p:spPr>
          <a:xfrm>
            <a:off x="1536192" y="8596274"/>
            <a:ext cx="339242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-240: DDR 存储器"/>
          <p:cNvSpPr txBox="1"/>
          <p:nvPr/>
        </p:nvSpPr>
        <p:spPr>
          <a:xfrm>
            <a:off x="2714564" y="8660282"/>
            <a:ext cx="103567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242" name="text-241: 经 DDR 控制器 / PHY 接入"/>
          <p:cNvSpPr txBox="1"/>
          <p:nvPr/>
        </p:nvSpPr>
        <p:spPr>
          <a:xfrm>
            <a:off x="2353864" y="8867156"/>
            <a:ext cx="175708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DDR 控制器 / PHY 接入</a:t>
            </a:r>
          </a:p>
        </p:txBody>
      </p:sp>
      <p:sp>
        <p:nvSpPr>
          <p:cNvPr id="243" name="rect-242"/>
          <p:cNvSpPr/>
          <p:nvPr/>
        </p:nvSpPr>
        <p:spPr>
          <a:xfrm>
            <a:off x="5082235" y="8596274"/>
            <a:ext cx="275234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-243: Flash · SD 卡 · EEPROM"/>
          <p:cNvSpPr txBox="1"/>
          <p:nvPr/>
        </p:nvSpPr>
        <p:spPr>
          <a:xfrm>
            <a:off x="5546348" y="8667195"/>
            <a:ext cx="1824118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Flash · SD 卡 · EEPROM</a:t>
            </a:r>
          </a:p>
        </p:txBody>
      </p:sp>
      <p:sp>
        <p:nvSpPr>
          <p:cNvPr id="245" name="text-244: 经 SPI / I²C 接入"/>
          <p:cNvSpPr txBox="1"/>
          <p:nvPr/>
        </p:nvSpPr>
        <p:spPr>
          <a:xfrm>
            <a:off x="5890016" y="8867156"/>
            <a:ext cx="113678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SPI / I²C 接入</a:t>
            </a:r>
          </a:p>
        </p:txBody>
      </p:sp>
      <p:sp>
        <p:nvSpPr>
          <p:cNvPr id="246" name="rect-245"/>
          <p:cNvSpPr/>
          <p:nvPr/>
        </p:nvSpPr>
        <p:spPr>
          <a:xfrm>
            <a:off x="7949794" y="8596274"/>
            <a:ext cx="1753819" cy="473659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7" name="line-246"/>
          <p:cNvCxnSpPr/>
          <p:nvPr/>
        </p:nvCxnSpPr>
        <p:spPr>
          <a:xfrm>
            <a:off x="794979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8" name="line-247"/>
          <p:cNvCxnSpPr/>
          <p:nvPr/>
        </p:nvCxnSpPr>
        <p:spPr>
          <a:xfrm>
            <a:off x="807781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9" name="line-248"/>
          <p:cNvCxnSpPr/>
          <p:nvPr/>
        </p:nvCxnSpPr>
        <p:spPr>
          <a:xfrm>
            <a:off x="820582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0" name="line-249"/>
          <p:cNvCxnSpPr/>
          <p:nvPr/>
        </p:nvCxnSpPr>
        <p:spPr>
          <a:xfrm>
            <a:off x="833384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1" name="line-250"/>
          <p:cNvCxnSpPr/>
          <p:nvPr/>
        </p:nvCxnSpPr>
        <p:spPr>
          <a:xfrm>
            <a:off x="8461858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2" name="line-251"/>
          <p:cNvCxnSpPr/>
          <p:nvPr/>
        </p:nvCxnSpPr>
        <p:spPr>
          <a:xfrm>
            <a:off x="858987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3" name="line-252"/>
          <p:cNvCxnSpPr/>
          <p:nvPr/>
        </p:nvCxnSpPr>
        <p:spPr>
          <a:xfrm>
            <a:off x="871789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4" name="line-253"/>
          <p:cNvCxnSpPr/>
          <p:nvPr/>
        </p:nvCxnSpPr>
        <p:spPr>
          <a:xfrm>
            <a:off x="884590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5" name="line-254"/>
          <p:cNvCxnSpPr/>
          <p:nvPr/>
        </p:nvCxnSpPr>
        <p:spPr>
          <a:xfrm>
            <a:off x="897392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6" name="line-255"/>
          <p:cNvCxnSpPr/>
          <p:nvPr/>
        </p:nvCxnSpPr>
        <p:spPr>
          <a:xfrm>
            <a:off x="9101938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7" name="line-256"/>
          <p:cNvCxnSpPr/>
          <p:nvPr/>
        </p:nvCxnSpPr>
        <p:spPr>
          <a:xfrm>
            <a:off x="922995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8" name="line-257"/>
          <p:cNvCxnSpPr/>
          <p:nvPr/>
        </p:nvCxnSpPr>
        <p:spPr>
          <a:xfrm>
            <a:off x="935797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9" name="line-258"/>
          <p:cNvCxnSpPr/>
          <p:nvPr/>
        </p:nvCxnSpPr>
        <p:spPr>
          <a:xfrm>
            <a:off x="948598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0" name="line-259"/>
          <p:cNvCxnSpPr/>
          <p:nvPr/>
        </p:nvCxnSpPr>
        <p:spPr>
          <a:xfrm>
            <a:off x="961400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1" name="line-260"/>
          <p:cNvCxnSpPr/>
          <p:nvPr/>
        </p:nvCxnSpPr>
        <p:spPr>
          <a:xfrm>
            <a:off x="794979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2" name="line-261"/>
          <p:cNvCxnSpPr/>
          <p:nvPr/>
        </p:nvCxnSpPr>
        <p:spPr>
          <a:xfrm>
            <a:off x="807781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3" name="line-262"/>
          <p:cNvCxnSpPr/>
          <p:nvPr/>
        </p:nvCxnSpPr>
        <p:spPr>
          <a:xfrm>
            <a:off x="820582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4" name="line-263"/>
          <p:cNvCxnSpPr/>
          <p:nvPr/>
        </p:nvCxnSpPr>
        <p:spPr>
          <a:xfrm>
            <a:off x="833384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5" name="line-264"/>
          <p:cNvCxnSpPr/>
          <p:nvPr/>
        </p:nvCxnSpPr>
        <p:spPr>
          <a:xfrm>
            <a:off x="8461858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6" name="line-265"/>
          <p:cNvCxnSpPr/>
          <p:nvPr/>
        </p:nvCxnSpPr>
        <p:spPr>
          <a:xfrm>
            <a:off x="858987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7" name="line-266"/>
          <p:cNvCxnSpPr/>
          <p:nvPr/>
        </p:nvCxnSpPr>
        <p:spPr>
          <a:xfrm>
            <a:off x="871789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8" name="line-267"/>
          <p:cNvCxnSpPr/>
          <p:nvPr/>
        </p:nvCxnSpPr>
        <p:spPr>
          <a:xfrm>
            <a:off x="884590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9" name="line-268"/>
          <p:cNvCxnSpPr/>
          <p:nvPr/>
        </p:nvCxnSpPr>
        <p:spPr>
          <a:xfrm>
            <a:off x="897392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0" name="line-269"/>
          <p:cNvCxnSpPr/>
          <p:nvPr/>
        </p:nvCxnSpPr>
        <p:spPr>
          <a:xfrm>
            <a:off x="9101938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1" name="line-270"/>
          <p:cNvCxnSpPr/>
          <p:nvPr/>
        </p:nvCxnSpPr>
        <p:spPr>
          <a:xfrm>
            <a:off x="922995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2" name="line-271"/>
          <p:cNvCxnSpPr/>
          <p:nvPr/>
        </p:nvCxnSpPr>
        <p:spPr>
          <a:xfrm>
            <a:off x="935797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3" name="line-272"/>
          <p:cNvCxnSpPr/>
          <p:nvPr/>
        </p:nvCxnSpPr>
        <p:spPr>
          <a:xfrm>
            <a:off x="948598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4" name="line-273"/>
          <p:cNvCxnSpPr/>
          <p:nvPr/>
        </p:nvCxnSpPr>
        <p:spPr>
          <a:xfrm>
            <a:off x="961400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5" name="line-274"/>
          <p:cNvCxnSpPr/>
          <p:nvPr/>
        </p:nvCxnSpPr>
        <p:spPr>
          <a:xfrm>
            <a:off x="7949794" y="859627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6" name="line-275"/>
          <p:cNvCxnSpPr/>
          <p:nvPr/>
        </p:nvCxnSpPr>
        <p:spPr>
          <a:xfrm>
            <a:off x="7949794" y="872429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7" name="line-276"/>
          <p:cNvCxnSpPr/>
          <p:nvPr/>
        </p:nvCxnSpPr>
        <p:spPr>
          <a:xfrm>
            <a:off x="7949794" y="885230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8" name="line-277"/>
          <p:cNvCxnSpPr/>
          <p:nvPr/>
        </p:nvCxnSpPr>
        <p:spPr>
          <a:xfrm>
            <a:off x="7949794" y="898032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9" name="line-278"/>
          <p:cNvCxnSpPr/>
          <p:nvPr/>
        </p:nvCxnSpPr>
        <p:spPr>
          <a:xfrm>
            <a:off x="9703613" y="859627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0" name="line-279"/>
          <p:cNvCxnSpPr/>
          <p:nvPr/>
        </p:nvCxnSpPr>
        <p:spPr>
          <a:xfrm>
            <a:off x="9703613" y="872429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1" name="line-280"/>
          <p:cNvCxnSpPr/>
          <p:nvPr/>
        </p:nvCxnSpPr>
        <p:spPr>
          <a:xfrm>
            <a:off x="9703613" y="885230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2" name="line-281"/>
          <p:cNvCxnSpPr/>
          <p:nvPr/>
        </p:nvCxnSpPr>
        <p:spPr>
          <a:xfrm>
            <a:off x="9703613" y="898032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283" name="text-282: 图像传感器〔规划〕"/>
          <p:cNvSpPr txBox="1"/>
          <p:nvPr/>
        </p:nvSpPr>
        <p:spPr>
          <a:xfrm>
            <a:off x="8090611" y="8674108"/>
            <a:ext cx="1472184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284" name="text-283: LVDS 图像输入"/>
          <p:cNvSpPr txBox="1"/>
          <p:nvPr/>
        </p:nvSpPr>
        <p:spPr>
          <a:xfrm>
            <a:off x="8304983" y="8867156"/>
            <a:ext cx="104344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LVDS 图像输入</a:t>
            </a:r>
          </a:p>
        </p:txBody>
      </p:sp>
      <p:sp>
        <p:nvSpPr>
          <p:cNvPr id="285" name="rect-284"/>
          <p:cNvSpPr/>
          <p:nvPr/>
        </p:nvSpPr>
        <p:spPr>
          <a:xfrm>
            <a:off x="10049256" y="960120"/>
            <a:ext cx="2496312" cy="12801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ext-285: 开发主机上的工具"/>
          <p:cNvSpPr txBox="1"/>
          <p:nvPr/>
        </p:nvSpPr>
        <p:spPr>
          <a:xfrm>
            <a:off x="10190074" y="1059204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开发主机上的工具</a:t>
            </a:r>
          </a:p>
        </p:txBody>
      </p:sp>
      <p:sp>
        <p:nvSpPr>
          <p:cNvPr id="287" name="text-286: 构建支持"/>
          <p:cNvSpPr txBox="1"/>
          <p:nvPr/>
        </p:nvSpPr>
        <p:spPr>
          <a:xfrm>
            <a:off x="10190074" y="1240219"/>
            <a:ext cx="896112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构建支持</a:t>
            </a:r>
          </a:p>
        </p:txBody>
      </p:sp>
      <p:sp>
        <p:nvSpPr>
          <p:cNvPr id="288" name="text-287: 编译器 · 汇编器 · 链接器"/>
          <p:cNvSpPr txBox="1"/>
          <p:nvPr/>
        </p:nvSpPr>
        <p:spPr>
          <a:xfrm>
            <a:off x="10190074" y="1524927"/>
            <a:ext cx="1642625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编译器 · 汇编器 · 链接器</a:t>
            </a:r>
          </a:p>
        </p:txBody>
      </p:sp>
      <p:sp>
        <p:nvSpPr>
          <p:cNvPr id="289" name="text-288: Makefile · 链接脚本 · 库归档"/>
          <p:cNvSpPr txBox="1"/>
          <p:nvPr/>
        </p:nvSpPr>
        <p:spPr>
          <a:xfrm>
            <a:off x="10190074" y="1723351"/>
            <a:ext cx="193363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Makefile · 链接脚本 · 库归档</a:t>
            </a:r>
          </a:p>
        </p:txBody>
      </p:sp>
      <p:sp>
        <p:nvSpPr>
          <p:cNvPr id="290" name="text-289: 生成 ELF，规定代码与数据布局"/>
          <p:cNvSpPr txBox="1"/>
          <p:nvPr/>
        </p:nvSpPr>
        <p:spPr>
          <a:xfrm>
            <a:off x="10190074" y="1921776"/>
            <a:ext cx="209679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 ELF，规定代码与数据布局</a:t>
            </a:r>
          </a:p>
        </p:txBody>
      </p:sp>
      <p:sp>
        <p:nvSpPr>
          <p:cNvPr id="291" name="rect-290"/>
          <p:cNvSpPr/>
          <p:nvPr/>
        </p:nvSpPr>
        <p:spPr>
          <a:xfrm>
            <a:off x="10049256" y="2368296"/>
            <a:ext cx="2496312" cy="1971446"/>
          </a:xfrm>
          <a:prstGeom prst="roundRect">
            <a:avLst>
              <a:gd name="adj" fmla="val 3246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-291: 准备并维持软件执行环境"/>
          <p:cNvSpPr txBox="1"/>
          <p:nvPr/>
        </p:nvSpPr>
        <p:spPr>
          <a:xfrm>
            <a:off x="10190074" y="2467380"/>
            <a:ext cx="145938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准备并维持软件执行环境</a:t>
            </a:r>
          </a:p>
        </p:txBody>
      </p:sp>
      <p:sp>
        <p:nvSpPr>
          <p:cNvPr id="293" name="text-292: 启动与运行支持"/>
          <p:cNvSpPr txBox="1"/>
          <p:nvPr/>
        </p:nvSpPr>
        <p:spPr>
          <a:xfrm>
            <a:off x="10190074" y="2648395"/>
            <a:ext cx="1433779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294" name="text-293: Boot ROM / 载荷加载"/>
          <p:cNvSpPr txBox="1"/>
          <p:nvPr/>
        </p:nvSpPr>
        <p:spPr>
          <a:xfrm>
            <a:off x="10190074" y="2933103"/>
            <a:ext cx="1551874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295" name="text-294: crt0：栈、BSS、异常入口"/>
          <p:cNvSpPr txBox="1"/>
          <p:nvPr/>
        </p:nvSpPr>
        <p:spPr>
          <a:xfrm>
            <a:off x="10190074" y="3131527"/>
            <a:ext cx="178208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crt0：栈、BSS、异常入口</a:t>
            </a:r>
          </a:p>
        </p:txBody>
      </p:sp>
      <p:sp>
        <p:nvSpPr>
          <p:cNvPr id="296" name="text-295: 进入 main；异常处理与返回"/>
          <p:cNvSpPr txBox="1"/>
          <p:nvPr/>
        </p:nvSpPr>
        <p:spPr>
          <a:xfrm>
            <a:off x="10190074" y="3329952"/>
            <a:ext cx="19246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297" name="text-296: 启动交接与函数调用分别表达"/>
          <p:cNvSpPr txBox="1"/>
          <p:nvPr/>
        </p:nvSpPr>
        <p:spPr>
          <a:xfrm>
            <a:off x="10190074" y="3528377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启动交接与函数调用分别表达</a:t>
            </a:r>
          </a:p>
        </p:txBody>
      </p:sp>
      <p:sp>
        <p:nvSpPr>
          <p:cNvPr id="298" name="text-297: 运行期也可访问必要配置接口"/>
          <p:cNvSpPr txBox="1"/>
          <p:nvPr/>
        </p:nvSpPr>
        <p:spPr>
          <a:xfrm>
            <a:off x="10190074" y="3726802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运行期也可访问必要配置接口</a:t>
            </a:r>
          </a:p>
        </p:txBody>
      </p:sp>
      <p:sp>
        <p:nvSpPr>
          <p:cNvPr id="299" name="text-298: 不是每次设备调用的必经层"/>
          <p:cNvSpPr txBox="1"/>
          <p:nvPr/>
        </p:nvSpPr>
        <p:spPr>
          <a:xfrm>
            <a:off x="10190074" y="3925227"/>
            <a:ext cx="183062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不是每次设备调用的必经层</a:t>
            </a:r>
          </a:p>
        </p:txBody>
      </p:sp>
      <p:sp>
        <p:nvSpPr>
          <p:cNvPr id="300" name="rect-299"/>
          <p:cNvSpPr/>
          <p:nvPr/>
        </p:nvSpPr>
        <p:spPr>
          <a:xfrm>
            <a:off x="10049256" y="4467758"/>
            <a:ext cx="2496312" cy="1600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-300: 扩展方向 · 目标运行待验证"/>
          <p:cNvSpPr txBox="1"/>
          <p:nvPr/>
        </p:nvSpPr>
        <p:spPr>
          <a:xfrm>
            <a:off x="10190074" y="4566843"/>
            <a:ext cx="1560625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扩展方向 · 目标运行待验证</a:t>
            </a:r>
          </a:p>
        </p:txBody>
      </p:sp>
      <p:sp>
        <p:nvSpPr>
          <p:cNvPr id="302" name="text-301: 可选操作系统"/>
          <p:cNvSpPr txBox="1"/>
          <p:nvPr/>
        </p:nvSpPr>
        <p:spPr>
          <a:xfrm>
            <a:off x="10190074" y="4747857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303" name="text-302: RTOS：任务、调度与同步"/>
          <p:cNvSpPr txBox="1"/>
          <p:nvPr/>
        </p:nvSpPr>
        <p:spPr>
          <a:xfrm>
            <a:off x="10190074" y="5032565"/>
            <a:ext cx="176612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RTOS：任务、调度与同步</a:t>
            </a:r>
          </a:p>
        </p:txBody>
      </p:sp>
      <p:sp>
        <p:nvSpPr>
          <p:cNvPr id="304" name="text-303: Linux：用户态 / 内核 / 驱动"/>
          <p:cNvSpPr txBox="1"/>
          <p:nvPr/>
        </p:nvSpPr>
        <p:spPr>
          <a:xfrm>
            <a:off x="10190074" y="5230990"/>
            <a:ext cx="190900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305" name="text-304: 依各自环境建立设备访问路径"/>
          <p:cNvSpPr txBox="1"/>
          <p:nvPr/>
        </p:nvSpPr>
        <p:spPr>
          <a:xfrm>
            <a:off x="10190074" y="5429415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依各自环境建立设备访问路径</a:t>
            </a:r>
          </a:p>
        </p:txBody>
      </p:sp>
      <p:sp>
        <p:nvSpPr>
          <p:cNvPr id="306" name="text-305: 不假定直接复用整套裸机 HAL"/>
          <p:cNvSpPr txBox="1"/>
          <p:nvPr/>
        </p:nvSpPr>
        <p:spPr>
          <a:xfrm>
            <a:off x="10190074" y="5627839"/>
            <a:ext cx="201174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不假定直接复用整套裸机 HAL</a:t>
            </a:r>
          </a:p>
        </p:txBody>
      </p:sp>
      <p:sp>
        <p:nvSpPr>
          <p:cNvPr id="307" name="rect-306"/>
          <p:cNvSpPr/>
          <p:nvPr/>
        </p:nvSpPr>
        <p:spPr>
          <a:xfrm>
            <a:off x="10049256" y="6195974"/>
            <a:ext cx="2496312" cy="1292962"/>
          </a:xfrm>
          <a:prstGeom prst="roundRect">
            <a:avLst>
              <a:gd name="adj" fmla="val 495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ext-307: 同一结构的实现与适配维度"/>
          <p:cNvSpPr txBox="1"/>
          <p:nvPr/>
        </p:nvSpPr>
        <p:spPr>
          <a:xfrm>
            <a:off x="10190074" y="6295059"/>
            <a:ext cx="158099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同一结构的实现与适配维度</a:t>
            </a:r>
          </a:p>
        </p:txBody>
      </p:sp>
      <p:sp>
        <p:nvSpPr>
          <p:cNvPr id="309" name="text-308: 硬件实现平台"/>
          <p:cNvSpPr txBox="1"/>
          <p:nvPr/>
        </p:nvSpPr>
        <p:spPr>
          <a:xfrm>
            <a:off x="10190074" y="6476073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硬件实现平台</a:t>
            </a:r>
          </a:p>
        </p:txBody>
      </p:sp>
      <p:sp>
        <p:nvSpPr>
          <p:cNvPr id="310" name="text-309: FPGA：现有 VCU118 工程"/>
          <p:cNvSpPr txBox="1"/>
          <p:nvPr/>
        </p:nvSpPr>
        <p:spPr>
          <a:xfrm>
            <a:off x="10190074" y="6760781"/>
            <a:ext cx="183138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311" name="text-310: ASIC：宏、时钟、PAD 等适配"/>
          <p:cNvSpPr txBox="1"/>
          <p:nvPr/>
        </p:nvSpPr>
        <p:spPr>
          <a:xfrm>
            <a:off x="10190074" y="6959206"/>
            <a:ext cx="204652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ASIC：宏、时钟、PAD 等适配</a:t>
            </a:r>
          </a:p>
        </p:txBody>
      </p:sp>
      <p:sp>
        <p:nvSpPr>
          <p:cNvPr id="312" name="text-311: ASIC 实现与验证仍待完成"/>
          <p:cNvSpPr txBox="1"/>
          <p:nvPr/>
        </p:nvSpPr>
        <p:spPr>
          <a:xfrm>
            <a:off x="10190074" y="7157631"/>
            <a:ext cx="17657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313" name="rect-312"/>
          <p:cNvSpPr/>
          <p:nvPr/>
        </p:nvSpPr>
        <p:spPr>
          <a:xfrm>
            <a:off x="10049256" y="7616952"/>
            <a:ext cx="2496312" cy="1548994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ext-313: 阅读图例"/>
          <p:cNvSpPr txBox="1"/>
          <p:nvPr/>
        </p:nvSpPr>
        <p:spPr>
          <a:xfrm>
            <a:off x="10190074" y="7673535"/>
            <a:ext cx="864108" cy="2765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阅读图例</a:t>
            </a:r>
          </a:p>
        </p:txBody>
      </p:sp>
      <p:sp>
        <p:nvSpPr>
          <p:cNvPr id="315" name="rect-314"/>
          <p:cNvSpPr/>
          <p:nvPr/>
        </p:nvSpPr>
        <p:spPr>
          <a:xfrm>
            <a:off x="10190074" y="8001000"/>
            <a:ext cx="224028" cy="14721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ext-315: 实线框：已有代码 / 结构"/>
          <p:cNvSpPr txBox="1"/>
          <p:nvPr/>
        </p:nvSpPr>
        <p:spPr>
          <a:xfrm>
            <a:off x="10510114" y="7983846"/>
            <a:ext cx="161556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实线框：已有代码 / 结构</a:t>
            </a:r>
          </a:p>
        </p:txBody>
      </p:sp>
      <p:sp>
        <p:nvSpPr>
          <p:cNvPr id="317" name="rect-316"/>
          <p:cNvSpPr/>
          <p:nvPr/>
        </p:nvSpPr>
        <p:spPr>
          <a:xfrm>
            <a:off x="10190074" y="8257032"/>
            <a:ext cx="224028" cy="147218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line-317"/>
          <p:cNvCxnSpPr/>
          <p:nvPr/>
        </p:nvCxnSpPr>
        <p:spPr>
          <a:xfrm>
            <a:off x="10190074" y="8257032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19" name="line-318"/>
          <p:cNvCxnSpPr/>
          <p:nvPr/>
        </p:nvCxnSpPr>
        <p:spPr>
          <a:xfrm>
            <a:off x="10318090" y="8257032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0" name="line-319"/>
          <p:cNvCxnSpPr/>
          <p:nvPr/>
        </p:nvCxnSpPr>
        <p:spPr>
          <a:xfrm>
            <a:off x="10190074" y="8404250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1" name="line-320"/>
          <p:cNvCxnSpPr/>
          <p:nvPr/>
        </p:nvCxnSpPr>
        <p:spPr>
          <a:xfrm>
            <a:off x="10318090" y="8404250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2" name="line-321"/>
          <p:cNvCxnSpPr/>
          <p:nvPr/>
        </p:nvCxnSpPr>
        <p:spPr>
          <a:xfrm>
            <a:off x="10190074" y="82570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3" name="line-322"/>
          <p:cNvCxnSpPr/>
          <p:nvPr/>
        </p:nvCxnSpPr>
        <p:spPr>
          <a:xfrm>
            <a:off x="10190074" y="8385048"/>
            <a:ext cx="0" cy="19202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4" name="line-323"/>
          <p:cNvCxnSpPr/>
          <p:nvPr/>
        </p:nvCxnSpPr>
        <p:spPr>
          <a:xfrm>
            <a:off x="10414102" y="82570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5" name="line-324"/>
          <p:cNvCxnSpPr/>
          <p:nvPr/>
        </p:nvCxnSpPr>
        <p:spPr>
          <a:xfrm>
            <a:off x="10414102" y="8385048"/>
            <a:ext cx="0" cy="19202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326" name="text-325: 虚线框：规划中的扩展"/>
          <p:cNvSpPr txBox="1"/>
          <p:nvPr/>
        </p:nvSpPr>
        <p:spPr>
          <a:xfrm>
            <a:off x="10510114" y="8239878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虚线框：规划中的扩展</a:t>
            </a:r>
          </a:p>
        </p:txBody>
      </p:sp>
      <p:cxnSp>
        <p:nvCxnSpPr>
          <p:cNvPr id="327" name="line-326"/>
          <p:cNvCxnSpPr/>
          <p:nvPr/>
        </p:nvCxnSpPr>
        <p:spPr>
          <a:xfrm>
            <a:off x="10190074" y="8577072"/>
            <a:ext cx="224028" cy="0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328" name="polygon-327"/>
          <p:cNvSpPr/>
          <p:nvPr/>
        </p:nvSpPr>
        <p:spPr>
          <a:xfrm>
            <a:off x="10356494" y="855146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ext-328: 蓝色箭头：代表性调用"/>
          <p:cNvSpPr txBox="1"/>
          <p:nvPr/>
        </p:nvSpPr>
        <p:spPr>
          <a:xfrm>
            <a:off x="10510114" y="8476707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蓝色箭头：代表性调用</a:t>
            </a:r>
          </a:p>
        </p:txBody>
      </p:sp>
      <p:cxnSp>
        <p:nvCxnSpPr>
          <p:cNvPr id="330" name="line-329"/>
          <p:cNvCxnSpPr/>
          <p:nvPr/>
        </p:nvCxnSpPr>
        <p:spPr>
          <a:xfrm>
            <a:off x="10190074" y="8833104"/>
            <a:ext cx="224028" cy="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331" name="polygon-330"/>
          <p:cNvSpPr/>
          <p:nvPr/>
        </p:nvSpPr>
        <p:spPr>
          <a:xfrm>
            <a:off x="10356494" y="8807501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polygon-331"/>
          <p:cNvSpPr/>
          <p:nvPr/>
        </p:nvSpPr>
        <p:spPr>
          <a:xfrm>
            <a:off x="10190074" y="8807501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0" y="25603"/>
                </a:moveTo>
                <a:lnTo>
                  <a:pt x="57607" y="0"/>
                </a:lnTo>
                <a:lnTo>
                  <a:pt x="57607" y="51206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text-332: 棕色箭头：硬件连接"/>
          <p:cNvSpPr txBox="1"/>
          <p:nvPr/>
        </p:nvSpPr>
        <p:spPr>
          <a:xfrm>
            <a:off x="10510114" y="8732739"/>
            <a:ext cx="13441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棕色箭头：硬件连接</a:t>
            </a:r>
          </a:p>
        </p:txBody>
      </p:sp>
      <p:sp>
        <p:nvSpPr>
          <p:cNvPr id="334" name="text-333: 说明：图示为职责与结构总览；模块按配置启用，已有结构不代表全部功能已仿真或板测。"/>
          <p:cNvSpPr txBox="1"/>
          <p:nvPr/>
        </p:nvSpPr>
        <p:spPr>
          <a:xfrm>
            <a:off x="256032" y="9270407"/>
            <a:ext cx="551108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说明：图示为职责与结构总览；模块按配置启用，已有结构不代表全部功能已仿真或板测。</a:t>
            </a:r>
          </a:p>
        </p:txBody>
      </p:sp>
      <p:sp>
        <p:nvSpPr>
          <p:cNvPr id="335" name="text-334: L01 · 2026-10-09"/>
          <p:cNvSpPr txBox="1"/>
          <p:nvPr/>
        </p:nvSpPr>
        <p:spPr>
          <a:xfrm>
            <a:off x="11325676" y="9270407"/>
            <a:ext cx="121989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L01 · 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