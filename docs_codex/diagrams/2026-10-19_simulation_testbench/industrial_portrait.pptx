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136794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1: Cheshire + CVA6 + Ara"/>
          <p:cNvSpPr txBox="1"/>
          <p:nvPr/>
        </p:nvSpPr>
        <p:spPr>
          <a:xfrm>
            <a:off x="292608" y="80175"/>
            <a:ext cx="3475989" cy="4447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8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Cheshire + CVA6 + Ara</a:t>
            </a:r>
          </a:p>
        </p:txBody>
      </p:sp>
      <p:sp>
        <p:nvSpPr>
          <p:cNvPr id="3" name="t2: 仿真测试平台与验证流程"/>
          <p:cNvSpPr txBox="1"/>
          <p:nvPr/>
        </p:nvSpPr>
        <p:spPr>
          <a:xfrm>
            <a:off x="7520026" y="95975"/>
            <a:ext cx="3160166" cy="42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仿真测试平台与验证流程</a:t>
            </a:r>
          </a:p>
        </p:txBody>
      </p:sp>
      <p:sp>
        <p:nvSpPr>
          <p:cNvPr id="4" name="host"/>
          <p:cNvSpPr/>
          <p:nvPr/>
        </p:nvSpPr>
        <p:spPr>
          <a:xfrm>
            <a:off x="146304" y="585216"/>
            <a:ext cx="10680192" cy="12508992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8190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3: 主机侧：VCS / simv 仿真环境"/>
          <p:cNvSpPr txBox="1"/>
          <p:nvPr/>
        </p:nvSpPr>
        <p:spPr>
          <a:xfrm>
            <a:off x="307238" y="627352"/>
            <a:ext cx="3007599" cy="3277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主机侧：VCS / simv 仿真环境</a:t>
            </a:r>
          </a:p>
        </p:txBody>
      </p:sp>
      <p:sp>
        <p:nvSpPr>
          <p:cNvPr id="6" name="build"/>
          <p:cNvSpPr/>
          <p:nvPr/>
        </p:nvSpPr>
        <p:spPr>
          <a:xfrm>
            <a:off x="402336" y="1060704"/>
            <a:ext cx="4389120" cy="950976"/>
          </a:xfrm>
          <a:prstGeom prst="rect">
            <a:avLst/>
          </a:prstGeom>
          <a:solidFill>
            <a:srgbClr val="F5E1C9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4: compile → start：编译 / 展开 / 运行"/>
          <p:cNvSpPr txBox="1"/>
          <p:nvPr/>
        </p:nvSpPr>
        <p:spPr>
          <a:xfrm>
            <a:off x="877344" y="1147901"/>
            <a:ext cx="3439104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compile → start：编译 / 展开 / 运行</a:t>
            </a:r>
          </a:p>
        </p:txBody>
      </p:sp>
      <p:sp>
        <p:nvSpPr>
          <p:cNvPr id="8" name="t5: SELCFG=3 → SelectedCfg（展开参数）"/>
          <p:cNvSpPr txBox="1"/>
          <p:nvPr/>
        </p:nvSpPr>
        <p:spPr>
          <a:xfrm>
            <a:off x="773377" y="1389303"/>
            <a:ext cx="3647039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SELCFG=3 → SelectedCfg（展开参数）</a:t>
            </a:r>
          </a:p>
        </p:txBody>
      </p:sp>
      <p:sp>
        <p:nvSpPr>
          <p:cNvPr id="9" name="t6: CPU profile / Ara decoder / 宏须另行核对"/>
          <p:cNvSpPr txBox="1"/>
          <p:nvPr/>
        </p:nvSpPr>
        <p:spPr>
          <a:xfrm>
            <a:off x="666655" y="1630704"/>
            <a:ext cx="3860482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CPU profile / Ara decoder / 宏须另行核对</a:t>
            </a:r>
          </a:p>
        </p:txBody>
      </p:sp>
      <p:sp>
        <p:nvSpPr>
          <p:cNvPr id="10" name="input"/>
          <p:cNvSpPr/>
          <p:nvPr/>
        </p:nvSpPr>
        <p:spPr>
          <a:xfrm>
            <a:off x="5193792" y="1060704"/>
            <a:ext cx="3072384" cy="950976"/>
          </a:xfrm>
          <a:prstGeom prst="rect">
            <a:avLst/>
          </a:prstGeom>
          <a:solidFill>
            <a:srgbClr val="D9EEE8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7: BINARY：fmatmul.spm.elf"/>
          <p:cNvSpPr txBox="1"/>
          <p:nvPr/>
        </p:nvSpPr>
        <p:spPr>
          <a:xfrm>
            <a:off x="5374420" y="1147901"/>
            <a:ext cx="2711127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BINARY：fmatmul.spm.elf</a:t>
            </a:r>
          </a:p>
        </p:txBody>
      </p:sp>
      <p:sp>
        <p:nvSpPr>
          <p:cNvPr id="12" name="t8: BOOTMODE=0 · PRELMODE=1"/>
          <p:cNvSpPr txBox="1"/>
          <p:nvPr/>
        </p:nvSpPr>
        <p:spPr>
          <a:xfrm>
            <a:off x="5226882" y="1389303"/>
            <a:ext cx="3006204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BOOTMODE=0 · PRELMODE=1</a:t>
            </a:r>
          </a:p>
        </p:txBody>
      </p:sp>
      <p:sp>
        <p:nvSpPr>
          <p:cNvPr id="13" name="t9: 运行参数，不是硬件接口"/>
          <p:cNvSpPr txBox="1"/>
          <p:nvPr/>
        </p:nvSpPr>
        <p:spPr>
          <a:xfrm>
            <a:off x="5588813" y="1630704"/>
            <a:ext cx="2282342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运行参数，不是硬件接口</a:t>
            </a:r>
          </a:p>
        </p:txBody>
      </p:sp>
      <p:sp>
        <p:nvSpPr>
          <p:cNvPr id="14" name="dpi"/>
          <p:cNvSpPr/>
          <p:nvPr/>
        </p:nvSpPr>
        <p:spPr>
          <a:xfrm>
            <a:off x="8631936" y="1060704"/>
            <a:ext cx="1901952" cy="950976"/>
          </a:xfrm>
          <a:prstGeom prst="rect">
            <a:avLst/>
          </a:prstGeom>
          <a:solidFill>
            <a:srgbClr val="D9EEE8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10: DPI ELF 解析"/>
          <p:cNvSpPr txBox="1"/>
          <p:nvPr/>
        </p:nvSpPr>
        <p:spPr>
          <a:xfrm>
            <a:off x="8911845" y="1147901"/>
            <a:ext cx="1342133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DPI ELF 解析</a:t>
            </a:r>
          </a:p>
        </p:txBody>
      </p:sp>
      <p:sp>
        <p:nvSpPr>
          <p:cNvPr id="16" name="t11: PT_LOAD 段"/>
          <p:cNvSpPr txBox="1"/>
          <p:nvPr/>
        </p:nvSpPr>
        <p:spPr>
          <a:xfrm>
            <a:off x="8948473" y="1389303"/>
            <a:ext cx="1268879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PT_LOAD 段</a:t>
            </a:r>
          </a:p>
        </p:txBody>
      </p:sp>
      <p:sp>
        <p:nvSpPr>
          <p:cNvPr id="17" name="t12: 入口地址"/>
          <p:cNvSpPr txBox="1"/>
          <p:nvPr/>
        </p:nvSpPr>
        <p:spPr>
          <a:xfrm>
            <a:off x="9107424" y="1630704"/>
            <a:ext cx="950976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入口地址</a:t>
            </a:r>
          </a:p>
        </p:txBody>
      </p:sp>
      <p:sp>
        <p:nvSpPr>
          <p:cNvPr id="18" name="elf-dpi"/>
          <p:cNvSpPr/>
          <p:nvPr/>
        </p:nvSpPr>
        <p:spPr>
          <a:xfrm>
            <a:off x="8266176" y="1536192"/>
            <a:ext cx="365760" cy="1"/>
          </a:xfrm>
          <a:custGeom>
            <a:avLst/>
            <a:gdLst/>
            <a:ahLst/>
            <a:cxnLst/>
            <a:rect l="0" t="0" r="r" b="b"/>
            <a:pathLst>
              <a:path w="365760" h="1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1946" cap="flat">
            <a:solidFill>
              <a:srgbClr val="247D7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13: ELF"/>
          <p:cNvSpPr txBox="1"/>
          <p:nvPr/>
        </p:nvSpPr>
        <p:spPr>
          <a:xfrm>
            <a:off x="8211838" y="1221638"/>
            <a:ext cx="47443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ELF</a:t>
            </a:r>
          </a:p>
        </p:txBody>
      </p:sp>
      <p:sp>
        <p:nvSpPr>
          <p:cNvPr id="20" name="tb"/>
          <p:cNvSpPr/>
          <p:nvPr/>
        </p:nvSpPr>
        <p:spPr>
          <a:xfrm>
            <a:off x="402336" y="2414016"/>
            <a:ext cx="10168128" cy="8961120"/>
          </a:xfrm>
          <a:prstGeom prst="rect">
            <a:avLst/>
          </a:prstGeom>
          <a:solidFill>
            <a:srgbClr val="F7F8FA"/>
          </a:solidFill>
          <a:ln w="14630" cap="flat">
            <a:solidFill>
              <a:srgbClr val="5466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14: 仿真顶层：tb_cheshire_soc"/>
          <p:cNvSpPr txBox="1"/>
          <p:nvPr/>
        </p:nvSpPr>
        <p:spPr>
          <a:xfrm>
            <a:off x="585216" y="2440936"/>
            <a:ext cx="2932675" cy="3394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仿真顶层：tb_cheshire_soc</a:t>
            </a:r>
          </a:p>
        </p:txBody>
      </p:sp>
      <p:sp>
        <p:nvSpPr>
          <p:cNvPr id="22" name="control"/>
          <p:cNvSpPr/>
          <p:nvPr/>
        </p:nvSpPr>
        <p:spPr>
          <a:xfrm>
            <a:off x="804672" y="2852928"/>
            <a:ext cx="9363456" cy="658368"/>
          </a:xfrm>
          <a:prstGeom prst="rect">
            <a:avLst/>
          </a:prstGeom>
          <a:solidFill>
            <a:srgbClr val="F5E1C9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15: 读取 plusargs → 调用 VIP → 等待 exit_code 与 UA"/>
          <p:cNvSpPr txBox="1"/>
          <p:nvPr/>
        </p:nvSpPr>
        <p:spPr>
          <a:xfrm>
            <a:off x="1920897" y="3035223"/>
            <a:ext cx="7131006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读取 plusargs → 调用 VIP → 等待 exit_code 与 UART 当前字节结束 → $finish</a:t>
            </a:r>
          </a:p>
        </p:txBody>
      </p:sp>
      <p:sp>
        <p:nvSpPr>
          <p:cNvPr id="24" name="config"/>
          <p:cNvSpPr/>
          <p:nvPr/>
        </p:nvSpPr>
        <p:spPr>
          <a:xfrm>
            <a:off x="2596896" y="2011680"/>
            <a:ext cx="1792224" cy="841248"/>
          </a:xfrm>
          <a:custGeom>
            <a:avLst/>
            <a:gdLst/>
            <a:ahLst/>
            <a:cxnLst/>
            <a:rect l="0" t="0" r="r" b="b"/>
            <a:pathLst>
              <a:path w="1792224" h="841248" fill="none">
                <a:moveTo>
                  <a:pt x="0" y="0"/>
                </a:moveTo>
                <a:lnTo>
                  <a:pt x="0" y="197510"/>
                </a:lnTo>
                <a:lnTo>
                  <a:pt x="1792224" y="197510"/>
                </a:lnTo>
                <a:lnTo>
                  <a:pt x="1792224" y="841248"/>
                </a:lnTo>
              </a:path>
            </a:pathLst>
          </a:custGeom>
          <a:noFill/>
          <a:ln w="21946" cap="flat">
            <a:solidFill>
              <a:srgbClr val="A15C32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16: 展开配置"/>
          <p:cNvSpPr txBox="1"/>
          <p:nvPr/>
        </p:nvSpPr>
        <p:spPr>
          <a:xfrm>
            <a:off x="3200400" y="1916582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展开配置</a:t>
            </a:r>
          </a:p>
        </p:txBody>
      </p:sp>
      <p:sp>
        <p:nvSpPr>
          <p:cNvPr id="26" name="args"/>
          <p:cNvSpPr/>
          <p:nvPr/>
        </p:nvSpPr>
        <p:spPr>
          <a:xfrm>
            <a:off x="6729984" y="2011680"/>
            <a:ext cx="1" cy="841248"/>
          </a:xfrm>
          <a:custGeom>
            <a:avLst/>
            <a:gdLst/>
            <a:ahLst/>
            <a:cxnLst/>
            <a:rect l="0" t="0" r="r" b="b"/>
            <a:pathLst>
              <a:path w="1" h="841248" fill="none">
                <a:moveTo>
                  <a:pt x="0" y="0"/>
                </a:moveTo>
                <a:lnTo>
                  <a:pt x="0" y="841248"/>
                </a:lnTo>
              </a:path>
            </a:pathLst>
          </a:custGeom>
          <a:noFill/>
          <a:ln w="21946" cap="flat">
            <a:solidFill>
              <a:srgbClr val="A15C32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17: 运行 plusargs"/>
          <p:cNvSpPr txBox="1"/>
          <p:nvPr/>
        </p:nvSpPr>
        <p:spPr>
          <a:xfrm>
            <a:off x="6940056" y="2106778"/>
            <a:ext cx="133550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运行 plusargs</a:t>
            </a:r>
          </a:p>
        </p:txBody>
      </p:sp>
      <p:sp>
        <p:nvSpPr>
          <p:cNvPr id="28" name="fixture"/>
          <p:cNvSpPr/>
          <p:nvPr/>
        </p:nvSpPr>
        <p:spPr>
          <a:xfrm>
            <a:off x="585216" y="3767328"/>
            <a:ext cx="9802368" cy="7351776"/>
          </a:xfrm>
          <a:prstGeom prst="rect">
            <a:avLst/>
          </a:prstGeom>
          <a:solidFill>
            <a:srgbClr val="E9EDF1"/>
          </a:solidFill>
          <a:ln w="14630" cap="flat">
            <a:solidFill>
              <a:srgbClr val="52616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18: fixture_cheshire_soc · fix"/>
          <p:cNvSpPr txBox="1"/>
          <p:nvPr/>
        </p:nvSpPr>
        <p:spPr>
          <a:xfrm>
            <a:off x="768096" y="3780788"/>
            <a:ext cx="2649543" cy="3160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fixture_cheshire_soc · fix</a:t>
            </a:r>
          </a:p>
        </p:txBody>
      </p:sp>
      <p:sp>
        <p:nvSpPr>
          <p:cNvPr id="30" name="vip"/>
          <p:cNvSpPr/>
          <p:nvPr/>
        </p:nvSpPr>
        <p:spPr>
          <a:xfrm>
            <a:off x="804672" y="4133088"/>
            <a:ext cx="9363456" cy="1609344"/>
          </a:xfrm>
          <a:prstGeom prst="rect">
            <a:avLst/>
          </a:prstGeom>
          <a:solidFill>
            <a:srgbClr val="EDF3EE"/>
          </a:solidFill>
          <a:ln w="14630" cap="flat">
            <a:solidFill>
              <a:srgbClr val="5477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19: vip_cheshire_soc · fix.vip"/>
          <p:cNvSpPr txBox="1"/>
          <p:nvPr/>
        </p:nvSpPr>
        <p:spPr>
          <a:xfrm>
            <a:off x="987552" y="4168494"/>
            <a:ext cx="2652423" cy="3160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vip_cheshire_soc · fix.vip</a:t>
            </a:r>
          </a:p>
        </p:txBody>
      </p:sp>
      <p:sp>
        <p:nvSpPr>
          <p:cNvPr id="32" name="stim"/>
          <p:cNvSpPr/>
          <p:nvPr/>
        </p:nvSpPr>
        <p:spPr>
          <a:xfrm>
            <a:off x="1024128" y="4608576"/>
            <a:ext cx="2121408" cy="768096"/>
          </a:xfrm>
          <a:prstGeom prst="rect">
            <a:avLst/>
          </a:prstGeom>
          <a:solidFill>
            <a:srgbClr val="F5E1C9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20: 时钟 / 复位 / 模式"/>
          <p:cNvSpPr txBox="1"/>
          <p:nvPr/>
        </p:nvSpPr>
        <p:spPr>
          <a:xfrm>
            <a:off x="1249356" y="4612234"/>
            <a:ext cx="167095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时钟 / 复位 / 模式</a:t>
            </a:r>
          </a:p>
        </p:txBody>
      </p:sp>
      <p:sp>
        <p:nvSpPr>
          <p:cNvPr id="34" name="t21: clk / rst_n / rtc"/>
          <p:cNvSpPr txBox="1"/>
          <p:nvPr/>
        </p:nvSpPr>
        <p:spPr>
          <a:xfrm>
            <a:off x="1361370" y="4853635"/>
            <a:ext cx="144692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clk / rst_n / rtc</a:t>
            </a:r>
          </a:p>
        </p:txBody>
      </p:sp>
      <p:sp>
        <p:nvSpPr>
          <p:cNvPr id="35" name="t22: boot_mode"/>
          <p:cNvSpPr txBox="1"/>
          <p:nvPr/>
        </p:nvSpPr>
        <p:spPr>
          <a:xfrm>
            <a:off x="1489489" y="5095037"/>
            <a:ext cx="119068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boot_mode</a:t>
            </a:r>
          </a:p>
        </p:txBody>
      </p:sp>
      <p:sp>
        <p:nvSpPr>
          <p:cNvPr id="36" name="slink-vip"/>
          <p:cNvSpPr/>
          <p:nvPr/>
        </p:nvSpPr>
        <p:spPr>
          <a:xfrm>
            <a:off x="3730752" y="4535424"/>
            <a:ext cx="3511296" cy="1060704"/>
          </a:xfrm>
          <a:prstGeom prst="rect">
            <a:avLst/>
          </a:prstGeom>
          <a:solidFill>
            <a:srgbClr val="D9EEE8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23: Serial Link 驱动与任务"/>
          <p:cNvSpPr txBox="1"/>
          <p:nvPr/>
        </p:nvSpPr>
        <p:spPr>
          <a:xfrm>
            <a:off x="4438235" y="4564685"/>
            <a:ext cx="209633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Serial Link 驱动与任务</a:t>
            </a:r>
          </a:p>
        </p:txBody>
      </p:sp>
      <p:sp>
        <p:nvSpPr>
          <p:cNvPr id="38" name="t24: 等 SPM 就绪 → 装载 → 写入口 / 启动"/>
          <p:cNvSpPr txBox="1"/>
          <p:nvPr/>
        </p:nvSpPr>
        <p:spPr>
          <a:xfrm>
            <a:off x="3844115" y="4806086"/>
            <a:ext cx="328457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等 SPM 就绪 → 装载 → 写入口 / 启动</a:t>
            </a:r>
          </a:p>
        </p:txBody>
      </p:sp>
      <p:sp>
        <p:nvSpPr>
          <p:cNvPr id="39" name="t25: 轮询完成位；rc=完成码 &gt;&gt; 1"/>
          <p:cNvSpPr txBox="1"/>
          <p:nvPr/>
        </p:nvSpPr>
        <p:spPr>
          <a:xfrm>
            <a:off x="4181340" y="5047488"/>
            <a:ext cx="261012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轮询完成位；rc=完成码 &gt;&gt; 1</a:t>
            </a:r>
          </a:p>
        </p:txBody>
      </p:sp>
      <p:sp>
        <p:nvSpPr>
          <p:cNvPr id="40" name="t26: rc=0：SUCCESS；否则 FAILED"/>
          <p:cNvSpPr txBox="1"/>
          <p:nvPr/>
        </p:nvSpPr>
        <p:spPr>
          <a:xfrm>
            <a:off x="4104456" y="5288890"/>
            <a:ext cx="276388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rc=0：SUCCESS；否则 FAILED</a:t>
            </a:r>
          </a:p>
        </p:txBody>
      </p:sp>
      <p:sp>
        <p:nvSpPr>
          <p:cNvPr id="41" name="uart-monitor"/>
          <p:cNvSpPr/>
          <p:nvPr/>
        </p:nvSpPr>
        <p:spPr>
          <a:xfrm>
            <a:off x="7827264" y="4681728"/>
            <a:ext cx="2121408" cy="694944"/>
          </a:xfrm>
          <a:prstGeom prst="rect">
            <a:avLst/>
          </a:prstGeom>
          <a:solidFill>
            <a:srgbClr val="F1F3F5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27: UART 监视"/>
          <p:cNvSpPr txBox="1"/>
          <p:nvPr/>
        </p:nvSpPr>
        <p:spPr>
          <a:xfrm>
            <a:off x="8329773" y="4769510"/>
            <a:ext cx="111639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UART 监视</a:t>
            </a:r>
          </a:p>
        </p:txBody>
      </p:sp>
      <p:sp>
        <p:nvSpPr>
          <p:cNvPr id="43" name="t28: 字节 → [UART] 打印"/>
          <p:cNvSpPr txBox="1"/>
          <p:nvPr/>
        </p:nvSpPr>
        <p:spPr>
          <a:xfrm>
            <a:off x="7956874" y="5010912"/>
            <a:ext cx="186218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字节 → [UART] 打印</a:t>
            </a:r>
          </a:p>
        </p:txBody>
      </p:sp>
      <p:sp>
        <p:nvSpPr>
          <p:cNvPr id="44" name="call-vip"/>
          <p:cNvSpPr/>
          <p:nvPr/>
        </p:nvSpPr>
        <p:spPr>
          <a:xfrm>
            <a:off x="716890" y="3182112"/>
            <a:ext cx="87782" cy="1280160"/>
          </a:xfrm>
          <a:custGeom>
            <a:avLst/>
            <a:gdLst/>
            <a:ahLst/>
            <a:cxnLst/>
            <a:rect l="0" t="0" r="r" b="b"/>
            <a:pathLst>
              <a:path w="87782" h="1280160" fill="none">
                <a:moveTo>
                  <a:pt x="87782" y="0"/>
                </a:moveTo>
                <a:lnTo>
                  <a:pt x="0" y="0"/>
                </a:lnTo>
                <a:lnTo>
                  <a:pt x="0" y="1280160"/>
                </a:lnTo>
                <a:lnTo>
                  <a:pt x="87782" y="1280160"/>
                </a:lnTo>
              </a:path>
            </a:pathLst>
          </a:custGeom>
          <a:noFill/>
          <a:ln w="21946" cap="flat">
            <a:solidFill>
              <a:srgbClr val="A15C32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ask-return"/>
          <p:cNvSpPr/>
          <p:nvPr/>
        </p:nvSpPr>
        <p:spPr>
          <a:xfrm>
            <a:off x="3438144" y="3511296"/>
            <a:ext cx="292608" cy="1243584"/>
          </a:xfrm>
          <a:custGeom>
            <a:avLst/>
            <a:gdLst/>
            <a:ahLst/>
            <a:cxnLst/>
            <a:rect l="0" t="0" r="r" b="b"/>
            <a:pathLst>
              <a:path w="292608" h="1243584" fill="none">
                <a:moveTo>
                  <a:pt x="292608" y="1243584"/>
                </a:moveTo>
                <a:lnTo>
                  <a:pt x="0" y="1243584"/>
                </a:ln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29: 返回 rc"/>
          <p:cNvSpPr txBox="1"/>
          <p:nvPr/>
        </p:nvSpPr>
        <p:spPr>
          <a:xfrm>
            <a:off x="3605942" y="3482035"/>
            <a:ext cx="76168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返回 rc</a:t>
            </a:r>
          </a:p>
        </p:txBody>
      </p:sp>
      <p:sp>
        <p:nvSpPr>
          <p:cNvPr id="47" name="dpi-task"/>
          <p:cNvSpPr/>
          <p:nvPr/>
        </p:nvSpPr>
        <p:spPr>
          <a:xfrm>
            <a:off x="7242048" y="2011680"/>
            <a:ext cx="3438144" cy="3950208"/>
          </a:xfrm>
          <a:custGeom>
            <a:avLst/>
            <a:gdLst/>
            <a:ahLst/>
            <a:cxnLst/>
            <a:rect l="0" t="0" r="r" b="b"/>
            <a:pathLst>
              <a:path w="3438144" h="3950208" fill="none">
                <a:moveTo>
                  <a:pt x="2340864" y="0"/>
                </a:moveTo>
                <a:lnTo>
                  <a:pt x="2340864" y="146304"/>
                </a:lnTo>
                <a:lnTo>
                  <a:pt x="3438144" y="146304"/>
                </a:lnTo>
                <a:lnTo>
                  <a:pt x="3438144" y="3950208"/>
                </a:lnTo>
                <a:lnTo>
                  <a:pt x="2904134" y="3950208"/>
                </a:lnTo>
                <a:cubicBezTo>
                  <a:pt x="2904134" y="3833165"/>
                  <a:pt x="2728570" y="3833165"/>
                  <a:pt x="2728570" y="3950208"/>
                </a:cubicBezTo>
                <a:lnTo>
                  <a:pt x="182880" y="3950208"/>
                </a:lnTo>
                <a:lnTo>
                  <a:pt x="182880" y="3035808"/>
                </a:lnTo>
                <a:lnTo>
                  <a:pt x="0" y="3035808"/>
                </a:lnTo>
              </a:path>
            </a:pathLst>
          </a:custGeom>
          <a:noFill/>
          <a:ln w="21946" cap="flat">
            <a:solidFill>
              <a:srgbClr val="247D75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30: 段地址 / 数据 / 入口"/>
          <p:cNvSpPr txBox="1"/>
          <p:nvPr/>
        </p:nvSpPr>
        <p:spPr>
          <a:xfrm>
            <a:off x="8116523" y="5955158"/>
            <a:ext cx="1762346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段地址 / 数据 / 入口</a:t>
            </a:r>
          </a:p>
        </p:txBody>
      </p:sp>
      <p:sp>
        <p:nvSpPr>
          <p:cNvPr id="49" name="dut"/>
          <p:cNvSpPr/>
          <p:nvPr/>
        </p:nvSpPr>
        <p:spPr>
          <a:xfrm>
            <a:off x="804672" y="6400800"/>
            <a:ext cx="9363456" cy="4535424"/>
          </a:xfrm>
          <a:prstGeom prst="rect">
            <a:avLst/>
          </a:prstGeom>
          <a:solidFill>
            <a:srgbClr val="F1D7D9"/>
          </a:solidFill>
          <a:ln w="14630" cap="flat">
            <a:solidFill>
              <a:srgbClr val="715F6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31: DUT 硬件 · fix.dut : cheshire_soc"/>
          <p:cNvSpPr txBox="1"/>
          <p:nvPr/>
        </p:nvSpPr>
        <p:spPr>
          <a:xfrm>
            <a:off x="987552" y="6428305"/>
            <a:ext cx="3482538" cy="3277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DUT 硬件 · fix.dut : cheshire_soc</a:t>
            </a:r>
          </a:p>
        </p:txBody>
      </p:sp>
      <p:sp>
        <p:nvSpPr>
          <p:cNvPr id="51" name="stim-dut"/>
          <p:cNvSpPr/>
          <p:nvPr/>
        </p:nvSpPr>
        <p:spPr>
          <a:xfrm>
            <a:off x="1316736" y="5376672"/>
            <a:ext cx="768096" cy="1024128"/>
          </a:xfrm>
          <a:custGeom>
            <a:avLst/>
            <a:gdLst/>
            <a:ahLst/>
            <a:cxnLst/>
            <a:rect l="0" t="0" r="r" b="b"/>
            <a:pathLst>
              <a:path w="768096" h="1024128" fill="none">
                <a:moveTo>
                  <a:pt x="768096" y="0"/>
                </a:moveTo>
                <a:lnTo>
                  <a:pt x="768096" y="731520"/>
                </a:lnTo>
                <a:lnTo>
                  <a:pt x="0" y="731520"/>
                </a:lnTo>
                <a:lnTo>
                  <a:pt x="0" y="1024128"/>
                </a:lnTo>
              </a:path>
            </a:pathLst>
          </a:custGeom>
          <a:noFill/>
          <a:ln w="21946" cap="flat">
            <a:solidFill>
              <a:srgbClr val="A15C3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32: 时钟 / 复位"/>
          <p:cNvSpPr txBox="1"/>
          <p:nvPr/>
        </p:nvSpPr>
        <p:spPr>
          <a:xfrm>
            <a:off x="920109" y="5743602"/>
            <a:ext cx="1012709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时钟 / 复位</a:t>
            </a:r>
          </a:p>
        </p:txBody>
      </p:sp>
      <p:sp>
        <p:nvSpPr>
          <p:cNvPr id="53" name="cpu"/>
          <p:cNvSpPr/>
          <p:nvPr/>
        </p:nvSpPr>
        <p:spPr>
          <a:xfrm>
            <a:off x="2852928" y="6912864"/>
            <a:ext cx="2121408" cy="585216"/>
          </a:xfrm>
          <a:prstGeom prst="rect">
            <a:avLst/>
          </a:prstGeom>
          <a:solidFill>
            <a:srgbClr val="D8E8F4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33: CVA6 · CPU"/>
          <p:cNvSpPr txBox="1"/>
          <p:nvPr/>
        </p:nvSpPr>
        <p:spPr>
          <a:xfrm>
            <a:off x="3262945" y="6937882"/>
            <a:ext cx="1301374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CVA6 · CPU</a:t>
            </a:r>
          </a:p>
        </p:txBody>
      </p:sp>
      <p:sp>
        <p:nvSpPr>
          <p:cNvPr id="55" name="t34: i_core_cva6"/>
          <p:cNvSpPr txBox="1"/>
          <p:nvPr/>
        </p:nvSpPr>
        <p:spPr>
          <a:xfrm>
            <a:off x="3306830" y="7179284"/>
            <a:ext cx="1213603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i_core_cva6</a:t>
            </a:r>
          </a:p>
        </p:txBody>
      </p:sp>
      <p:sp>
        <p:nvSpPr>
          <p:cNvPr id="56" name="ara"/>
          <p:cNvSpPr/>
          <p:nvPr/>
        </p:nvSpPr>
        <p:spPr>
          <a:xfrm>
            <a:off x="7022592" y="6912864"/>
            <a:ext cx="2560320" cy="585216"/>
          </a:xfrm>
          <a:prstGeom prst="rect">
            <a:avLst/>
          </a:prstGeom>
          <a:solidFill>
            <a:srgbClr val="D8E8F4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35: Ara · gen_ara.i_ara"/>
          <p:cNvSpPr txBox="1"/>
          <p:nvPr/>
        </p:nvSpPr>
        <p:spPr>
          <a:xfrm>
            <a:off x="7321389" y="6937882"/>
            <a:ext cx="1962725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Ara · gen_ara.i_ara</a:t>
            </a:r>
          </a:p>
        </p:txBody>
      </p:sp>
      <p:sp>
        <p:nvSpPr>
          <p:cNvPr id="58" name="t36: 执行 RVV 运算"/>
          <p:cNvSpPr txBox="1"/>
          <p:nvPr/>
        </p:nvSpPr>
        <p:spPr>
          <a:xfrm>
            <a:off x="7580279" y="7179284"/>
            <a:ext cx="1444946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 RVV 运算</a:t>
            </a:r>
          </a:p>
        </p:txBody>
      </p:sp>
      <p:sp>
        <p:nvSpPr>
          <p:cNvPr id="59" name="acc"/>
          <p:cNvSpPr/>
          <p:nvPr/>
        </p:nvSpPr>
        <p:spPr>
          <a:xfrm>
            <a:off x="4974336" y="7205472"/>
            <a:ext cx="2048256" cy="1"/>
          </a:xfrm>
          <a:custGeom>
            <a:avLst/>
            <a:gdLst/>
            <a:ahLst/>
            <a:cxnLst/>
            <a:rect l="0" t="0" r="r" b="b"/>
            <a:pathLst>
              <a:path w="2048256" h="1" fill="none">
                <a:moveTo>
                  <a:pt x="0" y="0"/>
                </a:moveTo>
                <a:lnTo>
                  <a:pt x="2048256" y="0"/>
                </a:lnTo>
              </a:path>
            </a:pathLst>
          </a:custGeom>
          <a:noFill/>
          <a:ln w="2194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37: acc_req / acc_resp"/>
          <p:cNvSpPr txBox="1"/>
          <p:nvPr/>
        </p:nvSpPr>
        <p:spPr>
          <a:xfrm>
            <a:off x="5117171" y="6876288"/>
            <a:ext cx="176258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acc_req / acc_resp</a:t>
            </a:r>
          </a:p>
        </p:txBody>
      </p:sp>
      <p:sp>
        <p:nvSpPr>
          <p:cNvPr id="61" name="slink-dut"/>
          <p:cNvSpPr/>
          <p:nvPr/>
        </p:nvSpPr>
        <p:spPr>
          <a:xfrm>
            <a:off x="1097280" y="7973568"/>
            <a:ext cx="1975104" cy="621792"/>
          </a:xfrm>
          <a:prstGeom prst="rect">
            <a:avLst/>
          </a:prstGeom>
          <a:solidFill>
            <a:srgbClr val="D9EEE8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38: Serial Link"/>
          <p:cNvSpPr txBox="1"/>
          <p:nvPr/>
        </p:nvSpPr>
        <p:spPr>
          <a:xfrm>
            <a:off x="1498542" y="8016874"/>
            <a:ext cx="1172581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Serial Link</a:t>
            </a:r>
          </a:p>
        </p:txBody>
      </p:sp>
      <p:sp>
        <p:nvSpPr>
          <p:cNvPr id="63" name="t39: 串行 ⇄ AXI"/>
          <p:cNvSpPr txBox="1"/>
          <p:nvPr/>
        </p:nvSpPr>
        <p:spPr>
          <a:xfrm>
            <a:off x="1520744" y="8258276"/>
            <a:ext cx="1128175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串行 ⇄ AXI</a:t>
            </a:r>
          </a:p>
        </p:txBody>
      </p:sp>
      <p:sp>
        <p:nvSpPr>
          <p:cNvPr id="64" name="xbar"/>
          <p:cNvSpPr/>
          <p:nvPr/>
        </p:nvSpPr>
        <p:spPr>
          <a:xfrm>
            <a:off x="3584448" y="7973568"/>
            <a:ext cx="2706624" cy="621792"/>
          </a:xfrm>
          <a:prstGeom prst="rect">
            <a:avLst/>
          </a:prstGeom>
          <a:solidFill>
            <a:srgbClr val="F5E1C9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40: AXI 主互连"/>
          <p:cNvSpPr txBox="1"/>
          <p:nvPr/>
        </p:nvSpPr>
        <p:spPr>
          <a:xfrm>
            <a:off x="4359048" y="8016874"/>
            <a:ext cx="1157425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AXI 主互连</a:t>
            </a:r>
          </a:p>
        </p:txBody>
      </p:sp>
      <p:sp>
        <p:nvSpPr>
          <p:cNvPr id="66" name="t41: i_axi_xbar"/>
          <p:cNvSpPr txBox="1"/>
          <p:nvPr/>
        </p:nvSpPr>
        <p:spPr>
          <a:xfrm>
            <a:off x="4409557" y="8258276"/>
            <a:ext cx="1056406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i_axi_xbar</a:t>
            </a:r>
          </a:p>
        </p:txBody>
      </p:sp>
      <p:sp>
        <p:nvSpPr>
          <p:cNvPr id="67" name="spm"/>
          <p:cNvSpPr/>
          <p:nvPr/>
        </p:nvSpPr>
        <p:spPr>
          <a:xfrm>
            <a:off x="7022592" y="7973568"/>
            <a:ext cx="2560320" cy="804672"/>
          </a:xfrm>
          <a:prstGeom prst="rect">
            <a:avLst/>
          </a:prstGeom>
          <a:solidFill>
            <a:srgbClr val="D9EEE8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42: LLC 阵列 / SPM"/>
          <p:cNvSpPr txBox="1"/>
          <p:nvPr/>
        </p:nvSpPr>
        <p:spPr>
          <a:xfrm>
            <a:off x="7504647" y="7987613"/>
            <a:ext cx="1596211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LLC 阵列 / SPM</a:t>
            </a:r>
          </a:p>
        </p:txBody>
      </p:sp>
      <p:sp>
        <p:nvSpPr>
          <p:cNvPr id="69" name="t43: 0x1000_0000 起"/>
          <p:cNvSpPr txBox="1"/>
          <p:nvPr/>
        </p:nvSpPr>
        <p:spPr>
          <a:xfrm>
            <a:off x="7491685" y="8229015"/>
            <a:ext cx="1622134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0x1000_0000 起</a:t>
            </a:r>
          </a:p>
        </p:txBody>
      </p:sp>
      <p:sp>
        <p:nvSpPr>
          <p:cNvPr id="70" name="t44: 程序、A/B、C、G"/>
          <p:cNvSpPr txBox="1"/>
          <p:nvPr/>
        </p:nvSpPr>
        <p:spPr>
          <a:xfrm>
            <a:off x="7430626" y="8470416"/>
            <a:ext cx="1744252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程序、A/B、C、G</a:t>
            </a:r>
          </a:p>
        </p:txBody>
      </p:sp>
      <p:sp>
        <p:nvSpPr>
          <p:cNvPr id="71" name="serial"/>
          <p:cNvSpPr/>
          <p:nvPr/>
        </p:nvSpPr>
        <p:spPr>
          <a:xfrm>
            <a:off x="2084832" y="5193792"/>
            <a:ext cx="3474720" cy="2779776"/>
          </a:xfrm>
          <a:custGeom>
            <a:avLst/>
            <a:gdLst/>
            <a:ahLst/>
            <a:cxnLst/>
            <a:rect l="0" t="0" r="r" b="b"/>
            <a:pathLst>
              <a:path w="3474720" h="2779776" fill="none">
                <a:moveTo>
                  <a:pt x="1645920" y="0"/>
                </a:moveTo>
                <a:lnTo>
                  <a:pt x="1207008" y="0"/>
                </a:lnTo>
                <a:lnTo>
                  <a:pt x="1207008" y="694944"/>
                </a:lnTo>
                <a:lnTo>
                  <a:pt x="3474720" y="694944"/>
                </a:lnTo>
                <a:lnTo>
                  <a:pt x="3474720" y="1609344"/>
                </a:lnTo>
                <a:lnTo>
                  <a:pt x="475488" y="1609344"/>
                </a:lnTo>
                <a:lnTo>
                  <a:pt x="475488" y="2487168"/>
                </a:lnTo>
                <a:lnTo>
                  <a:pt x="0" y="2487168"/>
                </a:lnTo>
                <a:lnTo>
                  <a:pt x="0" y="2779776"/>
                </a:lnTo>
              </a:path>
            </a:pathLst>
          </a:custGeom>
          <a:noFill/>
          <a:ln w="21946" cap="flat">
            <a:solidFill>
              <a:srgbClr val="247D7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45: Serial Link：装载 / 启动 / 状态"/>
          <p:cNvSpPr txBox="1"/>
          <p:nvPr/>
        </p:nvSpPr>
        <p:spPr>
          <a:xfrm>
            <a:off x="2917433" y="5999634"/>
            <a:ext cx="2504462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Serial Link：装载 / 启动 / 状态</a:t>
            </a:r>
          </a:p>
        </p:txBody>
      </p:sp>
      <p:sp>
        <p:nvSpPr>
          <p:cNvPr id="73" name="load-xbar"/>
          <p:cNvSpPr/>
          <p:nvPr/>
        </p:nvSpPr>
        <p:spPr>
          <a:xfrm>
            <a:off x="3072384" y="8280806"/>
            <a:ext cx="512064" cy="1"/>
          </a:xfrm>
          <a:custGeom>
            <a:avLst/>
            <a:gdLst/>
            <a:ahLst/>
            <a:cxnLst/>
            <a:rect l="0" t="0" r="r" b="b"/>
            <a:pathLst>
              <a:path w="512064" h="1" fill="none">
                <a:moveTo>
                  <a:pt x="0" y="0"/>
                </a:moveTo>
                <a:lnTo>
                  <a:pt x="512064" y="0"/>
                </a:lnTo>
              </a:path>
            </a:pathLst>
          </a:custGeom>
          <a:noFill/>
          <a:ln w="2194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46: AXI"/>
          <p:cNvSpPr txBox="1"/>
          <p:nvPr/>
        </p:nvSpPr>
        <p:spPr>
          <a:xfrm>
            <a:off x="3086780" y="7958938"/>
            <a:ext cx="48327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</a:t>
            </a:r>
          </a:p>
        </p:txBody>
      </p:sp>
      <p:sp>
        <p:nvSpPr>
          <p:cNvPr id="75" name="xbar-spm"/>
          <p:cNvSpPr/>
          <p:nvPr/>
        </p:nvSpPr>
        <p:spPr>
          <a:xfrm>
            <a:off x="6291072" y="8280806"/>
            <a:ext cx="731520" cy="1"/>
          </a:xfrm>
          <a:custGeom>
            <a:avLst/>
            <a:gdLst/>
            <a:ahLst/>
            <a:cxnLst/>
            <a:rect l="0" t="0" r="r" b="b"/>
            <a:pathLst>
              <a:path w="731520" h="1" fill="none">
                <a:moveTo>
                  <a:pt x="0" y="0"/>
                </a:moveTo>
                <a:lnTo>
                  <a:pt x="731520" y="0"/>
                </a:lnTo>
              </a:path>
            </a:pathLst>
          </a:custGeom>
          <a:noFill/>
          <a:ln w="2194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47: 读写"/>
          <p:cNvSpPr txBox="1"/>
          <p:nvPr/>
        </p:nvSpPr>
        <p:spPr>
          <a:xfrm>
            <a:off x="6382512" y="7958938"/>
            <a:ext cx="5486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读写</a:t>
            </a:r>
          </a:p>
        </p:txBody>
      </p:sp>
      <p:sp>
        <p:nvSpPr>
          <p:cNvPr id="77" name="cpu-xbar"/>
          <p:cNvSpPr/>
          <p:nvPr/>
        </p:nvSpPr>
        <p:spPr>
          <a:xfrm>
            <a:off x="4754880" y="7498080"/>
            <a:ext cx="1" cy="475488"/>
          </a:xfrm>
          <a:custGeom>
            <a:avLst/>
            <a:gdLst/>
            <a:ahLst/>
            <a:cxnLst/>
            <a:rect l="0" t="0" r="r" b="b"/>
            <a:pathLst>
              <a:path w="1" h="475488" fill="none">
                <a:moveTo>
                  <a:pt x="0" y="0"/>
                </a:moveTo>
                <a:lnTo>
                  <a:pt x="0" y="475488"/>
                </a:lnTo>
              </a:path>
            </a:pathLst>
          </a:custGeom>
          <a:noFill/>
          <a:ln w="2194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48: 取指 / 标量访存"/>
          <p:cNvSpPr txBox="1"/>
          <p:nvPr/>
        </p:nvSpPr>
        <p:spPr>
          <a:xfrm>
            <a:off x="3143799" y="7578547"/>
            <a:ext cx="14665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取指 / 标量访存</a:t>
            </a:r>
          </a:p>
        </p:txBody>
      </p:sp>
      <p:sp>
        <p:nvSpPr>
          <p:cNvPr id="79" name="ara-xbar"/>
          <p:cNvSpPr/>
          <p:nvPr/>
        </p:nvSpPr>
        <p:spPr>
          <a:xfrm>
            <a:off x="6071616" y="7498080"/>
            <a:ext cx="2231136" cy="475488"/>
          </a:xfrm>
          <a:custGeom>
            <a:avLst/>
            <a:gdLst/>
            <a:ahLst/>
            <a:cxnLst/>
            <a:rect l="0" t="0" r="r" b="b"/>
            <a:pathLst>
              <a:path w="2231136" h="475488" fill="none">
                <a:moveTo>
                  <a:pt x="2231136" y="0"/>
                </a:moveTo>
                <a:lnTo>
                  <a:pt x="2231136" y="182880"/>
                </a:lnTo>
                <a:lnTo>
                  <a:pt x="0" y="182880"/>
                </a:lnTo>
                <a:lnTo>
                  <a:pt x="0" y="475488"/>
                </a:lnTo>
              </a:path>
            </a:pathLst>
          </a:custGeom>
          <a:noFill/>
          <a:ln w="2194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49: 读 A/B · 写 C"/>
          <p:cNvSpPr txBox="1"/>
          <p:nvPr/>
        </p:nvSpPr>
        <p:spPr>
          <a:xfrm>
            <a:off x="8286510" y="7674230"/>
            <a:ext cx="1202916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读 A/B · 写 C</a:t>
            </a:r>
          </a:p>
        </p:txBody>
      </p:sp>
      <p:sp>
        <p:nvSpPr>
          <p:cNvPr id="81" name="peripheral"/>
          <p:cNvSpPr/>
          <p:nvPr/>
        </p:nvSpPr>
        <p:spPr>
          <a:xfrm>
            <a:off x="2852928" y="9034272"/>
            <a:ext cx="6729984" cy="621792"/>
          </a:xfrm>
          <a:prstGeom prst="rect">
            <a:avLst/>
          </a:prstGeom>
          <a:solidFill>
            <a:srgbClr val="F5E1C9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50: AXI → Regbus：Boot ROM  |  SCRATCH[0:2]  "/>
          <p:cNvSpPr txBox="1"/>
          <p:nvPr/>
        </p:nvSpPr>
        <p:spPr>
          <a:xfrm>
            <a:off x="3725894" y="9085478"/>
            <a:ext cx="498405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AXI → Regbus：Boot ROM  |  SCRATCH[0:2]  |  UART</a:t>
            </a:r>
          </a:p>
        </p:txBody>
      </p:sp>
      <p:sp>
        <p:nvSpPr>
          <p:cNvPr id="83" name="t51: ROM 取指 / SPM 配置 · 入口 / 启动 / 完成码 · printf"/>
          <p:cNvSpPr txBox="1"/>
          <p:nvPr/>
        </p:nvSpPr>
        <p:spPr>
          <a:xfrm>
            <a:off x="3974360" y="9326880"/>
            <a:ext cx="448712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ROM 取指 / SPM 配置 · 入口 / 启动 / 完成码 · printf</a:t>
            </a:r>
          </a:p>
        </p:txBody>
      </p:sp>
      <p:sp>
        <p:nvSpPr>
          <p:cNvPr id="84" name="xbar-reg"/>
          <p:cNvSpPr/>
          <p:nvPr/>
        </p:nvSpPr>
        <p:spPr>
          <a:xfrm>
            <a:off x="4937760" y="8595360"/>
            <a:ext cx="1" cy="438912"/>
          </a:xfrm>
          <a:custGeom>
            <a:avLst/>
            <a:gdLst/>
            <a:ahLst/>
            <a:cxnLst/>
            <a:rect l="0" t="0" r="r" b="b"/>
            <a:pathLst>
              <a:path w="1" h="438912" fill="none">
                <a:moveTo>
                  <a:pt x="0" y="0"/>
                </a:moveTo>
                <a:lnTo>
                  <a:pt x="0" y="438912"/>
                </a:lnTo>
              </a:path>
            </a:pathLst>
          </a:custGeom>
          <a:noFill/>
          <a:ln w="2194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52: ROM / MMIO"/>
          <p:cNvSpPr txBox="1"/>
          <p:nvPr/>
        </p:nvSpPr>
        <p:spPr>
          <a:xfrm>
            <a:off x="5164891" y="8727034"/>
            <a:ext cx="137453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ROM / MMIO</a:t>
            </a:r>
          </a:p>
        </p:txBody>
      </p:sp>
      <p:sp>
        <p:nvSpPr>
          <p:cNvPr id="86" name="uart-wire"/>
          <p:cNvSpPr/>
          <p:nvPr/>
        </p:nvSpPr>
        <p:spPr>
          <a:xfrm>
            <a:off x="9582912" y="5032858"/>
            <a:ext cx="475488" cy="4257446"/>
          </a:xfrm>
          <a:custGeom>
            <a:avLst/>
            <a:gdLst/>
            <a:ahLst/>
            <a:cxnLst/>
            <a:rect l="0" t="0" r="r" b="b"/>
            <a:pathLst>
              <a:path w="475488" h="4257446" fill="none">
                <a:moveTo>
                  <a:pt x="0" y="4257446"/>
                </a:moveTo>
                <a:lnTo>
                  <a:pt x="475488" y="4257446"/>
                </a:lnTo>
                <a:lnTo>
                  <a:pt x="475488" y="0"/>
                </a:lnTo>
                <a:lnTo>
                  <a:pt x="365760" y="0"/>
                </a:lnTo>
              </a:path>
            </a:pathLst>
          </a:custGeom>
          <a:noFill/>
          <a:ln w="2194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53: UART TX 字节"/>
          <p:cNvSpPr txBox="1"/>
          <p:nvPr/>
        </p:nvSpPr>
        <p:spPr>
          <a:xfrm>
            <a:off x="8308524" y="8734934"/>
            <a:ext cx="1305192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UART TX 字节</a:t>
            </a:r>
          </a:p>
        </p:txBody>
      </p:sp>
      <p:sp>
        <p:nvSpPr>
          <p:cNvPr id="88" name="software"/>
          <p:cNvSpPr/>
          <p:nvPr/>
        </p:nvSpPr>
        <p:spPr>
          <a:xfrm>
            <a:off x="1024128" y="10058400"/>
            <a:ext cx="8924544" cy="768096"/>
          </a:xfrm>
          <a:prstGeom prst="rect">
            <a:avLst/>
          </a:prstGeom>
          <a:solidFill>
            <a:srgbClr val="FAF1FB"/>
          </a:solidFill>
          <a:ln w="14630" cap="flat">
            <a:solidFill>
              <a:srgbClr val="9B79A5"/>
            </a:solidFill>
            <a:custDash>
              <a:ds d="500000" sp="3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54: DUT 内软件：复位后 ROM → fmatmul（CPU 执行；RVV 运算交"/>
          <p:cNvSpPr txBox="1"/>
          <p:nvPr/>
        </p:nvSpPr>
        <p:spPr>
          <a:xfrm>
            <a:off x="1133856" y="9751162"/>
            <a:ext cx="642002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DUT 内软件：复位后 ROM → fmatmul（CPU 执行；RVV 运算交给 Ara）</a:t>
            </a:r>
          </a:p>
        </p:txBody>
      </p:sp>
      <p:sp>
        <p:nvSpPr>
          <p:cNvPr id="90" name="boot"/>
          <p:cNvSpPr/>
          <p:nvPr/>
        </p:nvSpPr>
        <p:spPr>
          <a:xfrm>
            <a:off x="1133856" y="10168128"/>
            <a:ext cx="1609344" cy="548640"/>
          </a:xfrm>
          <a:prstGeom prst="rect">
            <a:avLst/>
          </a:prstGeom>
          <a:solidFill>
            <a:srgbClr val="EFE6F0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55: ROM 配 SPM"/>
          <p:cNvSpPr txBox="1"/>
          <p:nvPr/>
        </p:nvSpPr>
        <p:spPr>
          <a:xfrm>
            <a:off x="1314621" y="10198559"/>
            <a:ext cx="1247813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ROM 配 SPM</a:t>
            </a:r>
          </a:p>
        </p:txBody>
      </p:sp>
      <p:sp>
        <p:nvSpPr>
          <p:cNvPr id="92" name="t56: 等入口 / 启动"/>
          <p:cNvSpPr txBox="1"/>
          <p:nvPr/>
        </p:nvSpPr>
        <p:spPr>
          <a:xfrm>
            <a:off x="1348048" y="10439961"/>
            <a:ext cx="1180959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等入口 / 启动</a:t>
            </a:r>
          </a:p>
        </p:txBody>
      </p:sp>
      <p:sp>
        <p:nvSpPr>
          <p:cNvPr id="93" name="init"/>
          <p:cNvSpPr/>
          <p:nvPr/>
        </p:nvSpPr>
        <p:spPr>
          <a:xfrm>
            <a:off x="2896819" y="10168128"/>
            <a:ext cx="1609344" cy="548640"/>
          </a:xfrm>
          <a:prstGeom prst="rect">
            <a:avLst/>
          </a:prstGeom>
          <a:solidFill>
            <a:srgbClr val="EFE6F0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57: crt0 → main"/>
          <p:cNvSpPr txBox="1"/>
          <p:nvPr/>
        </p:nvSpPr>
        <p:spPr>
          <a:xfrm>
            <a:off x="3104114" y="10198559"/>
            <a:ext cx="1194755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crt0 → main</a:t>
            </a:r>
          </a:p>
        </p:txBody>
      </p:sp>
      <p:sp>
        <p:nvSpPr>
          <p:cNvPr id="95" name="t58: 清 BSS / 生成 A/B"/>
          <p:cNvSpPr txBox="1"/>
          <p:nvPr/>
        </p:nvSpPr>
        <p:spPr>
          <a:xfrm>
            <a:off x="2931664" y="10439961"/>
            <a:ext cx="1539655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清 BSS / 生成 A/B</a:t>
            </a:r>
          </a:p>
        </p:txBody>
      </p:sp>
      <p:sp>
        <p:nvSpPr>
          <p:cNvPr id="96" name="sw-init"/>
          <p:cNvSpPr/>
          <p:nvPr/>
        </p:nvSpPr>
        <p:spPr>
          <a:xfrm>
            <a:off x="2743200" y="10438790"/>
            <a:ext cx="153619" cy="1"/>
          </a:xfrm>
          <a:custGeom>
            <a:avLst/>
            <a:gdLst/>
            <a:ahLst/>
            <a:cxnLst/>
            <a:rect l="0" t="0" r="r" b="b"/>
            <a:pathLst>
              <a:path w="153619" h="1" fill="none">
                <a:moveTo>
                  <a:pt x="0" y="0"/>
                </a:moveTo>
                <a:lnTo>
                  <a:pt x="153619" y="0"/>
                </a:lnTo>
              </a:path>
            </a:pathLst>
          </a:custGeom>
          <a:noFill/>
          <a:ln w="21946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gold"/>
          <p:cNvSpPr/>
          <p:nvPr/>
        </p:nvSpPr>
        <p:spPr>
          <a:xfrm>
            <a:off x="4659782" y="10168128"/>
            <a:ext cx="1609344" cy="548640"/>
          </a:xfrm>
          <a:prstGeom prst="rect">
            <a:avLst/>
          </a:prstGeom>
          <a:solidFill>
            <a:srgbClr val="EFE6F0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59: 标量 G / 向量 C"/>
          <p:cNvSpPr txBox="1"/>
          <p:nvPr/>
        </p:nvSpPr>
        <p:spPr>
          <a:xfrm>
            <a:off x="4782832" y="10198559"/>
            <a:ext cx="1363245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标量 G / 向量 C</a:t>
            </a:r>
          </a:p>
        </p:txBody>
      </p:sp>
      <p:sp>
        <p:nvSpPr>
          <p:cNvPr id="99" name="t60: 执行 fmatmul"/>
          <p:cNvSpPr txBox="1"/>
          <p:nvPr/>
        </p:nvSpPr>
        <p:spPr>
          <a:xfrm>
            <a:off x="4848303" y="10439961"/>
            <a:ext cx="1232303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 fmatmul</a:t>
            </a:r>
          </a:p>
        </p:txBody>
      </p:sp>
      <p:sp>
        <p:nvSpPr>
          <p:cNvPr id="100" name="sw-gold"/>
          <p:cNvSpPr/>
          <p:nvPr/>
        </p:nvSpPr>
        <p:spPr>
          <a:xfrm>
            <a:off x="4506163" y="10438790"/>
            <a:ext cx="153619" cy="1"/>
          </a:xfrm>
          <a:custGeom>
            <a:avLst/>
            <a:gdLst/>
            <a:ahLst/>
            <a:cxnLst/>
            <a:rect l="0" t="0" r="r" b="b"/>
            <a:pathLst>
              <a:path w="153619" h="1" fill="none">
                <a:moveTo>
                  <a:pt x="0" y="0"/>
                </a:moveTo>
                <a:lnTo>
                  <a:pt x="153619" y="0"/>
                </a:lnTo>
              </a:path>
            </a:pathLst>
          </a:custGeom>
          <a:noFill/>
          <a:ln w="21946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compare"/>
          <p:cNvSpPr/>
          <p:nvPr/>
        </p:nvSpPr>
        <p:spPr>
          <a:xfrm>
            <a:off x="6422746" y="10168128"/>
            <a:ext cx="1609344" cy="548640"/>
          </a:xfrm>
          <a:prstGeom prst="rect">
            <a:avLst/>
          </a:prstGeom>
          <a:solidFill>
            <a:srgbClr val="EFE6F0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61: CPU 比较 C 与 G"/>
          <p:cNvSpPr txBox="1"/>
          <p:nvPr/>
        </p:nvSpPr>
        <p:spPr>
          <a:xfrm>
            <a:off x="6492440" y="10198559"/>
            <a:ext cx="1469955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CPU 比较 C 与 G</a:t>
            </a:r>
          </a:p>
        </p:txBody>
      </p:sp>
      <p:sp>
        <p:nvSpPr>
          <p:cNvPr id="103" name="t62: |C−G| ≤ 0.001"/>
          <p:cNvSpPr txBox="1"/>
          <p:nvPr/>
        </p:nvSpPr>
        <p:spPr>
          <a:xfrm>
            <a:off x="6587035" y="10439961"/>
            <a:ext cx="1280766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|C−G| ≤ 0.001</a:t>
            </a:r>
          </a:p>
        </p:txBody>
      </p:sp>
      <p:sp>
        <p:nvSpPr>
          <p:cNvPr id="104" name="sw-compare"/>
          <p:cNvSpPr/>
          <p:nvPr/>
        </p:nvSpPr>
        <p:spPr>
          <a:xfrm>
            <a:off x="6269126" y="10438790"/>
            <a:ext cx="153619" cy="1"/>
          </a:xfrm>
          <a:custGeom>
            <a:avLst/>
            <a:gdLst/>
            <a:ahLst/>
            <a:cxnLst/>
            <a:rect l="0" t="0" r="r" b="b"/>
            <a:pathLst>
              <a:path w="153619" h="1" fill="none">
                <a:moveTo>
                  <a:pt x="0" y="0"/>
                </a:moveTo>
                <a:lnTo>
                  <a:pt x="153619" y="0"/>
                </a:lnTo>
              </a:path>
            </a:pathLst>
          </a:custGeom>
          <a:noFill/>
          <a:ln w="21946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turn"/>
          <p:cNvSpPr/>
          <p:nvPr/>
        </p:nvSpPr>
        <p:spPr>
          <a:xfrm>
            <a:off x="8185709" y="10168128"/>
            <a:ext cx="1609344" cy="548640"/>
          </a:xfrm>
          <a:prstGeom prst="rect">
            <a:avLst/>
          </a:prstGeom>
          <a:solidFill>
            <a:srgbClr val="EFE6F0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63: Passed / Error"/>
          <p:cNvSpPr txBox="1"/>
          <p:nvPr/>
        </p:nvSpPr>
        <p:spPr>
          <a:xfrm>
            <a:off x="8316965" y="10198559"/>
            <a:ext cx="1346831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Passed / Error</a:t>
            </a:r>
          </a:p>
        </p:txBody>
      </p:sp>
      <p:sp>
        <p:nvSpPr>
          <p:cNvPr id="107" name="t64: return rc → crt0"/>
          <p:cNvSpPr txBox="1"/>
          <p:nvPr/>
        </p:nvSpPr>
        <p:spPr>
          <a:xfrm>
            <a:off x="8271062" y="10439961"/>
            <a:ext cx="1438637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return rc → crt0</a:t>
            </a:r>
          </a:p>
        </p:txBody>
      </p:sp>
      <p:sp>
        <p:nvSpPr>
          <p:cNvPr id="108" name="sw-return"/>
          <p:cNvSpPr/>
          <p:nvPr/>
        </p:nvSpPr>
        <p:spPr>
          <a:xfrm>
            <a:off x="8032090" y="10438790"/>
            <a:ext cx="153619" cy="1"/>
          </a:xfrm>
          <a:custGeom>
            <a:avLst/>
            <a:gdLst/>
            <a:ahLst/>
            <a:cxnLst/>
            <a:rect l="0" t="0" r="r" b="b"/>
            <a:pathLst>
              <a:path w="153619" h="1" fill="none">
                <a:moveTo>
                  <a:pt x="0" y="0"/>
                </a:moveTo>
                <a:lnTo>
                  <a:pt x="153619" y="0"/>
                </a:lnTo>
              </a:path>
            </a:pathLst>
          </a:custGeom>
          <a:noFill/>
          <a:ln w="21946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write-eoc"/>
          <p:cNvSpPr/>
          <p:nvPr/>
        </p:nvSpPr>
        <p:spPr>
          <a:xfrm>
            <a:off x="9582912" y="9509760"/>
            <a:ext cx="277978" cy="929030"/>
          </a:xfrm>
          <a:custGeom>
            <a:avLst/>
            <a:gdLst/>
            <a:ahLst/>
            <a:cxnLst/>
            <a:rect l="0" t="0" r="r" b="b"/>
            <a:pathLst>
              <a:path w="277978" h="929030" fill="none">
                <a:moveTo>
                  <a:pt x="212141" y="929030"/>
                </a:moveTo>
                <a:lnTo>
                  <a:pt x="277978" y="929030"/>
                </a:lnTo>
                <a:lnTo>
                  <a:pt x="277978" y="0"/>
                </a:ln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65: 入口写 [1:0]"/>
          <p:cNvSpPr txBox="1"/>
          <p:nvPr/>
        </p:nvSpPr>
        <p:spPr>
          <a:xfrm>
            <a:off x="1487329" y="8742834"/>
            <a:ext cx="1072991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入口写 [1:0]</a:t>
            </a:r>
          </a:p>
        </p:txBody>
      </p:sp>
      <p:sp>
        <p:nvSpPr>
          <p:cNvPr id="111" name="t66: 启动写 [2]=2"/>
          <p:cNvSpPr txBox="1"/>
          <p:nvPr/>
        </p:nvSpPr>
        <p:spPr>
          <a:xfrm>
            <a:off x="1403032" y="9035442"/>
            <a:ext cx="1157288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启动写 [2]=2</a:t>
            </a:r>
          </a:p>
        </p:txBody>
      </p:sp>
      <p:sp>
        <p:nvSpPr>
          <p:cNvPr id="112" name="t67: 完成写 [2]=(rc&lt;&lt;1)|1"/>
          <p:cNvSpPr txBox="1"/>
          <p:nvPr/>
        </p:nvSpPr>
        <p:spPr>
          <a:xfrm>
            <a:off x="750894" y="9328050"/>
            <a:ext cx="1809426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完成写 [2]=(rc&lt;&lt;1)|1</a:t>
            </a:r>
          </a:p>
        </p:txBody>
      </p:sp>
      <p:sp>
        <p:nvSpPr>
          <p:cNvPr id="113" name="console"/>
          <p:cNvSpPr/>
          <p:nvPr/>
        </p:nvSpPr>
        <p:spPr>
          <a:xfrm>
            <a:off x="658368" y="11740896"/>
            <a:ext cx="3950208" cy="1024128"/>
          </a:xfrm>
          <a:prstGeom prst="rect">
            <a:avLst/>
          </a:prstGeom>
          <a:solidFill>
            <a:srgbClr val="F1F3F5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68: 终端 / simulate.log"/>
          <p:cNvSpPr txBox="1"/>
          <p:nvPr/>
        </p:nvSpPr>
        <p:spPr>
          <a:xfrm>
            <a:off x="1733125" y="11759769"/>
            <a:ext cx="1800694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终端 / simulate.log</a:t>
            </a:r>
          </a:p>
        </p:txBody>
      </p:sp>
      <p:sp>
        <p:nvSpPr>
          <p:cNvPr id="115" name="t69: [UART] Verifying result…：比较开始"/>
          <p:cNvSpPr txBox="1"/>
          <p:nvPr/>
        </p:nvSpPr>
        <p:spPr>
          <a:xfrm>
            <a:off x="1089148" y="12001171"/>
            <a:ext cx="3088649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[UART] Verifying result…：比较开始</a:t>
            </a:r>
          </a:p>
        </p:txBody>
      </p:sp>
      <p:sp>
        <p:nvSpPr>
          <p:cNvPr id="116" name="t70: [UART] Passed.：软件比较通过"/>
          <p:cNvSpPr txBox="1"/>
          <p:nvPr/>
        </p:nvSpPr>
        <p:spPr>
          <a:xfrm>
            <a:off x="1308444" y="12242572"/>
            <a:ext cx="2650057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[UART] Passed.：软件比较通过</a:t>
            </a:r>
          </a:p>
        </p:txBody>
      </p:sp>
      <p:sp>
        <p:nvSpPr>
          <p:cNvPr id="117" name="t71: [SLINK] SUCCESS：rc=0；[ELF]：DPI"/>
          <p:cNvSpPr txBox="1"/>
          <p:nvPr/>
        </p:nvSpPr>
        <p:spPr>
          <a:xfrm>
            <a:off x="1030557" y="12483974"/>
            <a:ext cx="3205829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[SLINK] SUCCESS：rc=0；[ELF]：DPI</a:t>
            </a:r>
          </a:p>
        </p:txBody>
      </p:sp>
      <p:sp>
        <p:nvSpPr>
          <p:cNvPr id="118" name="stdout"/>
          <p:cNvSpPr/>
          <p:nvPr/>
        </p:nvSpPr>
        <p:spPr>
          <a:xfrm>
            <a:off x="694944" y="5559552"/>
            <a:ext cx="1938528" cy="6181344"/>
          </a:xfrm>
          <a:custGeom>
            <a:avLst/>
            <a:gdLst/>
            <a:ahLst/>
            <a:cxnLst/>
            <a:rect l="0" t="0" r="r" b="b"/>
            <a:pathLst>
              <a:path w="1938528" h="6181344" fill="none">
                <a:moveTo>
                  <a:pt x="109728" y="0"/>
                </a:moveTo>
                <a:lnTo>
                  <a:pt x="0" y="0"/>
                </a:lnTo>
                <a:lnTo>
                  <a:pt x="0" y="5705856"/>
                </a:lnTo>
                <a:lnTo>
                  <a:pt x="1938528" y="5705856"/>
                </a:lnTo>
                <a:lnTo>
                  <a:pt x="1938528" y="6181344"/>
                </a:lnTo>
              </a:path>
            </a:pathLst>
          </a:custGeom>
          <a:noFill/>
          <a:ln w="21946" cap="flat">
            <a:solidFill>
              <a:srgbClr val="78818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72: UART 监视 + VIP 自身打印"/>
          <p:cNvSpPr txBox="1"/>
          <p:nvPr/>
        </p:nvSpPr>
        <p:spPr>
          <a:xfrm>
            <a:off x="3162990" y="11441558"/>
            <a:ext cx="2305957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UART 监视 + VIP 自身打印</a:t>
            </a:r>
          </a:p>
        </p:txBody>
      </p:sp>
      <p:sp>
        <p:nvSpPr>
          <p:cNvPr id="120" name="dpi-log"/>
          <p:cNvSpPr/>
          <p:nvPr/>
        </p:nvSpPr>
        <p:spPr>
          <a:xfrm>
            <a:off x="3657600" y="1536192"/>
            <a:ext cx="7110374" cy="11411712"/>
          </a:xfrm>
          <a:custGeom>
            <a:avLst/>
            <a:gdLst/>
            <a:ahLst/>
            <a:cxnLst/>
            <a:rect l="0" t="0" r="r" b="b"/>
            <a:pathLst>
              <a:path w="7110374" h="11411712" fill="none">
                <a:moveTo>
                  <a:pt x="6876288" y="0"/>
                </a:moveTo>
                <a:lnTo>
                  <a:pt x="7110374" y="0"/>
                </a:lnTo>
                <a:lnTo>
                  <a:pt x="7110374" y="11411712"/>
                </a:lnTo>
                <a:lnTo>
                  <a:pt x="0" y="11411712"/>
                </a:lnTo>
                <a:lnTo>
                  <a:pt x="0" y="11228832"/>
                </a:lnTo>
              </a:path>
            </a:pathLst>
          </a:custGeom>
          <a:noFill/>
          <a:ln w="21946" cap="flat">
            <a:solidFill>
              <a:srgbClr val="78818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73: [ELF] 由 DPI 直接打印"/>
          <p:cNvSpPr txBox="1"/>
          <p:nvPr/>
        </p:nvSpPr>
        <p:spPr>
          <a:xfrm>
            <a:off x="6405183" y="12707673"/>
            <a:ext cx="1820033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[ELF] 由 DPI 直接打印</a:t>
            </a:r>
          </a:p>
        </p:txBody>
      </p:sp>
      <p:sp>
        <p:nvSpPr>
          <p:cNvPr id="122" name="wave"/>
          <p:cNvSpPr/>
          <p:nvPr/>
        </p:nvSpPr>
        <p:spPr>
          <a:xfrm>
            <a:off x="5047488" y="11740896"/>
            <a:ext cx="2779776" cy="1024128"/>
          </a:xfrm>
          <a:prstGeom prst="rect">
            <a:avLst/>
          </a:prstGeom>
          <a:solidFill>
            <a:srgbClr val="F1F3F5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74: FSDB → Verdi（按需）"/>
          <p:cNvSpPr txBox="1"/>
          <p:nvPr/>
        </p:nvSpPr>
        <p:spPr>
          <a:xfrm>
            <a:off x="5356064" y="11751869"/>
            <a:ext cx="216262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FSDB → Verdi（按需）</a:t>
            </a:r>
          </a:p>
        </p:txBody>
      </p:sp>
      <p:sp>
        <p:nvSpPr>
          <p:cNvPr id="124" name="t75: 选定信号 / 层次 / 时段"/>
          <p:cNvSpPr txBox="1"/>
          <p:nvPr/>
        </p:nvSpPr>
        <p:spPr>
          <a:xfrm>
            <a:off x="5428061" y="11993270"/>
            <a:ext cx="201862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选定信号 / 层次 / 时段</a:t>
            </a:r>
          </a:p>
        </p:txBody>
      </p:sp>
      <p:sp>
        <p:nvSpPr>
          <p:cNvPr id="125" name="t76: 观察与定位"/>
          <p:cNvSpPr txBox="1"/>
          <p:nvPr/>
        </p:nvSpPr>
        <p:spPr>
          <a:xfrm>
            <a:off x="5888736" y="12234672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观察与定位</a:t>
            </a:r>
          </a:p>
        </p:txBody>
      </p:sp>
      <p:sp>
        <p:nvSpPr>
          <p:cNvPr id="126" name="t77: 不代替自动结果判定"/>
          <p:cNvSpPr txBox="1"/>
          <p:nvPr/>
        </p:nvSpPr>
        <p:spPr>
          <a:xfrm>
            <a:off x="5522976" y="12476074"/>
            <a:ext cx="18288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不代替自动结果判定</a:t>
            </a:r>
          </a:p>
        </p:txBody>
      </p:sp>
      <p:sp>
        <p:nvSpPr>
          <p:cNvPr id="127" name="wave-tap"/>
          <p:cNvSpPr/>
          <p:nvPr/>
        </p:nvSpPr>
        <p:spPr>
          <a:xfrm>
            <a:off x="475488" y="7315200"/>
            <a:ext cx="5961888" cy="4425696"/>
          </a:xfrm>
          <a:custGeom>
            <a:avLst/>
            <a:gdLst/>
            <a:ahLst/>
            <a:cxnLst/>
            <a:rect l="0" t="0" r="r" b="b"/>
            <a:pathLst>
              <a:path w="5961888" h="4425696" fill="none">
                <a:moveTo>
                  <a:pt x="329184" y="0"/>
                </a:moveTo>
                <a:lnTo>
                  <a:pt x="0" y="0"/>
                </a:lnTo>
                <a:lnTo>
                  <a:pt x="0" y="4155034"/>
                </a:lnTo>
                <a:lnTo>
                  <a:pt x="2070202" y="4155034"/>
                </a:lnTo>
                <a:cubicBezTo>
                  <a:pt x="2070202" y="4067251"/>
                  <a:pt x="2245766" y="4067251"/>
                  <a:pt x="2245766" y="4155034"/>
                </a:cubicBezTo>
                <a:lnTo>
                  <a:pt x="5961888" y="4155034"/>
                </a:lnTo>
                <a:lnTo>
                  <a:pt x="5961888" y="4425696"/>
                </a:lnTo>
              </a:path>
            </a:pathLst>
          </a:custGeom>
          <a:noFill/>
          <a:ln w="21946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ost-exit"/>
          <p:cNvSpPr/>
          <p:nvPr/>
        </p:nvSpPr>
        <p:spPr>
          <a:xfrm>
            <a:off x="8266176" y="11740896"/>
            <a:ext cx="2048256" cy="1024128"/>
          </a:xfrm>
          <a:prstGeom prst="rect">
            <a:avLst/>
          </a:prstGeom>
          <a:solidFill>
            <a:srgbClr val="F5E1C9"/>
          </a:solidFill>
          <a:ln w="14630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78: 主机退出状态"/>
          <p:cNvSpPr txBox="1"/>
          <p:nvPr/>
        </p:nvSpPr>
        <p:spPr>
          <a:xfrm>
            <a:off x="8650224" y="11751869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主机退出状态</a:t>
            </a:r>
          </a:p>
        </p:txBody>
      </p:sp>
      <p:sp>
        <p:nvSpPr>
          <p:cNvPr id="130" name="t79: simv / shell"/>
          <p:cNvSpPr txBox="1"/>
          <p:nvPr/>
        </p:nvSpPr>
        <p:spPr>
          <a:xfrm>
            <a:off x="8706174" y="11993270"/>
            <a:ext cx="11682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simv / shell</a:t>
            </a:r>
          </a:p>
        </p:txBody>
      </p:sp>
      <p:sp>
        <p:nvSpPr>
          <p:cNvPr id="131" name="t80: 不等同于目标 rc"/>
          <p:cNvSpPr txBox="1"/>
          <p:nvPr/>
        </p:nvSpPr>
        <p:spPr>
          <a:xfrm>
            <a:off x="8543702" y="12234672"/>
            <a:ext cx="149320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不等同于目标 rc</a:t>
            </a:r>
          </a:p>
        </p:txBody>
      </p:sp>
      <p:sp>
        <p:nvSpPr>
          <p:cNvPr id="132" name="t81: 须单独检查"/>
          <p:cNvSpPr txBox="1"/>
          <p:nvPr/>
        </p:nvSpPr>
        <p:spPr>
          <a:xfrm>
            <a:off x="8741664" y="12476074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须单独检查</a:t>
            </a:r>
          </a:p>
        </p:txBody>
      </p:sp>
      <p:sp>
        <p:nvSpPr>
          <p:cNvPr id="133" name="finish-host"/>
          <p:cNvSpPr/>
          <p:nvPr/>
        </p:nvSpPr>
        <p:spPr>
          <a:xfrm>
            <a:off x="10168128" y="3182112"/>
            <a:ext cx="307238" cy="9070848"/>
          </a:xfrm>
          <a:custGeom>
            <a:avLst/>
            <a:gdLst/>
            <a:ahLst/>
            <a:cxnLst/>
            <a:rect l="0" t="0" r="r" b="b"/>
            <a:pathLst>
              <a:path w="307238" h="9070848" fill="none">
                <a:moveTo>
                  <a:pt x="0" y="0"/>
                </a:moveTo>
                <a:lnTo>
                  <a:pt x="307238" y="0"/>
                </a:lnTo>
                <a:lnTo>
                  <a:pt x="307238" y="9070848"/>
                </a:lnTo>
                <a:lnTo>
                  <a:pt x="146304" y="9070848"/>
                </a:lnTo>
              </a:path>
            </a:pathLst>
          </a:custGeom>
          <a:noFill/>
          <a:ln w="21946" cap="flat">
            <a:solidFill>
              <a:srgbClr val="A15C3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82: 检查职责：日志看进度；软件自检查数值；VIP 响应检查 / RTL 断言查局部行"/>
          <p:cNvSpPr txBox="1"/>
          <p:nvPr/>
        </p:nvSpPr>
        <p:spPr>
          <a:xfrm>
            <a:off x="292608" y="13124054"/>
            <a:ext cx="788364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检查职责：日志看进度；软件自检查数值；VIP 响应检查 / RTL 断言查局部行为（启用范围另核）。</a:t>
            </a:r>
          </a:p>
        </p:txBody>
      </p:sp>
      <p:sp>
        <p:nvSpPr>
          <p:cNvPr id="135" name="legend-hw"/>
          <p:cNvSpPr/>
          <p:nvPr/>
        </p:nvSpPr>
        <p:spPr>
          <a:xfrm>
            <a:off x="329184" y="13533120"/>
            <a:ext cx="438912" cy="1"/>
          </a:xfrm>
          <a:custGeom>
            <a:avLst/>
            <a:gdLst/>
            <a:ahLst/>
            <a:cxnLst/>
            <a:rect l="0" t="0" r="r" b="b"/>
            <a:pathLst>
              <a:path w="438912" h="1" fill="none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/>
          <a:ln w="2194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83: 硬件请求 / 返回"/>
          <p:cNvSpPr txBox="1"/>
          <p:nvPr/>
        </p:nvSpPr>
        <p:spPr>
          <a:xfrm>
            <a:off x="877824" y="13409347"/>
            <a:ext cx="1407867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硬件请求 / 返回</a:t>
            </a:r>
          </a:p>
        </p:txBody>
      </p:sp>
      <p:sp>
        <p:nvSpPr>
          <p:cNvPr id="137" name="legend-sw"/>
          <p:cNvSpPr/>
          <p:nvPr/>
        </p:nvSpPr>
        <p:spPr>
          <a:xfrm>
            <a:off x="2816352" y="13533120"/>
            <a:ext cx="438912" cy="1"/>
          </a:xfrm>
          <a:custGeom>
            <a:avLst/>
            <a:gdLst/>
            <a:ahLst/>
            <a:cxnLst/>
            <a:rect l="0" t="0" r="r" b="b"/>
            <a:pathLst>
              <a:path w="438912" h="1" fill="none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/>
          <a:ln w="21946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84: 软件 / 任务流程"/>
          <p:cNvSpPr txBox="1"/>
          <p:nvPr/>
        </p:nvSpPr>
        <p:spPr>
          <a:xfrm>
            <a:off x="3364992" y="13409347"/>
            <a:ext cx="1407867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软件 / 任务流程</a:t>
            </a:r>
          </a:p>
        </p:txBody>
      </p:sp>
      <p:sp>
        <p:nvSpPr>
          <p:cNvPr id="139" name="legend-load"/>
          <p:cNvSpPr/>
          <p:nvPr/>
        </p:nvSpPr>
        <p:spPr>
          <a:xfrm>
            <a:off x="5340096" y="13533120"/>
            <a:ext cx="438912" cy="1"/>
          </a:xfrm>
          <a:custGeom>
            <a:avLst/>
            <a:gdLst/>
            <a:ahLst/>
            <a:cxnLst/>
            <a:rect l="0" t="0" r="r" b="b"/>
            <a:pathLst>
              <a:path w="438912" h="1" fill="none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/>
          <a:ln w="21946" cap="flat">
            <a:solidFill>
              <a:srgbClr val="247D7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85: 程序装载"/>
          <p:cNvSpPr txBox="1"/>
          <p:nvPr/>
        </p:nvSpPr>
        <p:spPr>
          <a:xfrm>
            <a:off x="5888736" y="13409347"/>
            <a:ext cx="877824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程序装载</a:t>
            </a:r>
          </a:p>
        </p:txBody>
      </p:sp>
      <p:sp>
        <p:nvSpPr>
          <p:cNvPr id="141" name="legend-obs"/>
          <p:cNvSpPr/>
          <p:nvPr/>
        </p:nvSpPr>
        <p:spPr>
          <a:xfrm>
            <a:off x="7571232" y="13533120"/>
            <a:ext cx="438912" cy="1"/>
          </a:xfrm>
          <a:custGeom>
            <a:avLst/>
            <a:gdLst/>
            <a:ahLst/>
            <a:cxnLst/>
            <a:rect l="0" t="0" r="r" b="b"/>
            <a:pathLst>
              <a:path w="438912" h="1" fill="none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/>
          <a:ln w="21946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86: 观察 / 日志"/>
          <p:cNvSpPr txBox="1"/>
          <p:nvPr/>
        </p:nvSpPr>
        <p:spPr>
          <a:xfrm>
            <a:off x="8119872" y="13409347"/>
            <a:ext cx="105673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观察 / 日志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