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806" r:id="rId2"/>
    <p:sldId id="807" r:id="rId10"/>
    <p:sldId id="808" r:id="rId11"/>
    <p:sldId id="809" r:id="rId12"/>
    <p:sldId id="810" r:id="rId13"/>
    <p:sldId id="811" r:id="rId14"/>
    <p:sldId id="812" r:id="rId15"/>
  </p:sldIdLst>
  <p:sldSz cx="12192000" cy="6858000"/>
  <p:notesSz cx="6858000" cy="9144000"/>
  <p:custDataLst>
    <p:tags r:id="rId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文尧 赵" initials="文尧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0F3F6"/>
    <a:srgbClr val="FFF0E4"/>
    <a:srgbClr val="E8F4F1"/>
    <a:srgbClr val="EAF3FC"/>
    <a:srgbClr val="F0EAF8"/>
    <a:srgbClr val="AD6631"/>
    <a:srgbClr val="00FFFF"/>
    <a:srgbClr val="FFCC00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310" autoAdjust="0"/>
    <p:restoredTop sz="97321" autoAdjust="0"/>
  </p:normalViewPr>
  <p:slideViewPr>
    <p:cSldViewPr snapToGrid="0">
      <p:cViewPr varScale="1">
        <p:scale>
          <a:sx n="117" d="100"/>
          <a:sy n="117" d="100"/>
        </p:scale>
        <p:origin x="235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commentAuthors" Target="commentAuthors.xml"/><Relationship Id="rId4" Type="http://schemas.openxmlformats.org/officeDocument/2006/relationships/tags" Target="tags/tag1.xml"/><Relationship Id="rId9" Type="http://schemas.openxmlformats.org/officeDocument/2006/relationships/tableStyles" Target="tableStyles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7B469C68-B96B-4B00-A936-4ED691395EEA}" type="datetimeFigureOut">
              <a:rPr lang="zh-CN" altLang="en-US" smtClean="0"/>
              <a:t>2026/10/16</a:t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78957953-4CC8-4E4A-AD2D-7A5A0B36E81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缺压缩</a:t>
            </a:r>
            <a:r>
              <a:rPr lang="en-US" altLang="zh-CN" dirty="0"/>
              <a:t>/</a:t>
            </a:r>
            <a:r>
              <a:rPr lang="zh-CN" altLang="en-US" dirty="0"/>
              <a:t>解压、</a:t>
            </a:r>
            <a:r>
              <a:rPr lang="en-US" altLang="zh-CN" dirty="0"/>
              <a:t>eMMC</a:t>
            </a:r>
            <a:r>
              <a:rPr lang="zh-CN" altLang="en-US" dirty="0"/>
              <a:t>、</a:t>
            </a:r>
            <a:r>
              <a:rPr lang="en-US" altLang="zh-CN" dirty="0"/>
              <a:t>LVDS TX</a:t>
            </a:r>
            <a:r>
              <a:rPr lang="zh-CN" altLang="en-US" dirty="0"/>
              <a:t>、</a:t>
            </a:r>
            <a:r>
              <a:rPr lang="en-US" altLang="zh-CN" dirty="0"/>
              <a:t>CPU</a:t>
            </a:r>
            <a:r>
              <a:rPr lang="zh-CN" altLang="en-US" dirty="0"/>
              <a:t>的</a:t>
            </a:r>
            <a:r>
              <a:rPr lang="en-US" altLang="zh-CN" dirty="0"/>
              <a:t>GB</a:t>
            </a:r>
            <a:r>
              <a:rPr lang="zh-CN" altLang="en-US"/>
              <a:t>访问接口、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  <a:t>1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785328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缺压缩</a:t>
            </a:r>
            <a:r>
              <a:rPr lang="en-US" altLang="zh-CN" dirty="0"/>
              <a:t>/</a:t>
            </a:r>
            <a:r>
              <a:rPr lang="zh-CN" altLang="en-US" dirty="0"/>
              <a:t>解压、</a:t>
            </a:r>
            <a:r>
              <a:rPr lang="en-US" altLang="zh-CN" dirty="0"/>
              <a:t>eMMC</a:t>
            </a:r>
            <a:r>
              <a:rPr lang="zh-CN" altLang="en-US" dirty="0"/>
              <a:t>、</a:t>
            </a:r>
            <a:r>
              <a:rPr lang="en-US" altLang="zh-CN" dirty="0"/>
              <a:t>LVDS TX</a:t>
            </a:r>
            <a:r>
              <a:rPr lang="zh-CN" altLang="en-US" dirty="0"/>
              <a:t>、</a:t>
            </a:r>
            <a:r>
              <a:rPr lang="en-US" altLang="zh-CN" dirty="0"/>
              <a:t>CPU</a:t>
            </a:r>
            <a:r>
              <a:rPr lang="zh-CN" altLang="en-US" dirty="0"/>
              <a:t>的</a:t>
            </a:r>
            <a:r>
              <a:rPr lang="en-US" altLang="zh-CN" dirty="0"/>
              <a:t>GB</a:t>
            </a:r>
            <a:r>
              <a:rPr lang="zh-CN" altLang="en-US"/>
              <a:t>访问接口、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  <a:t>1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785328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缺压缩</a:t>
            </a:r>
            <a:r>
              <a:rPr lang="en-US" altLang="zh-CN" dirty="0"/>
              <a:t>/</a:t>
            </a:r>
            <a:r>
              <a:rPr lang="zh-CN" altLang="en-US" dirty="0"/>
              <a:t>解压、</a:t>
            </a:r>
            <a:r>
              <a:rPr lang="en-US" altLang="zh-CN" dirty="0"/>
              <a:t>eMMC</a:t>
            </a:r>
            <a:r>
              <a:rPr lang="zh-CN" altLang="en-US" dirty="0"/>
              <a:t>、</a:t>
            </a:r>
            <a:r>
              <a:rPr lang="en-US" altLang="zh-CN" dirty="0"/>
              <a:t>LVDS TX</a:t>
            </a:r>
            <a:r>
              <a:rPr lang="zh-CN" altLang="en-US" dirty="0"/>
              <a:t>、</a:t>
            </a:r>
            <a:r>
              <a:rPr lang="en-US" altLang="zh-CN" dirty="0"/>
              <a:t>CPU</a:t>
            </a:r>
            <a:r>
              <a:rPr lang="zh-CN" altLang="en-US" dirty="0"/>
              <a:t>的</a:t>
            </a:r>
            <a:r>
              <a:rPr lang="en-US" altLang="zh-CN" dirty="0"/>
              <a:t>GB</a:t>
            </a:r>
            <a:r>
              <a:rPr lang="zh-CN" altLang="en-US"/>
              <a:t>访问接口、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  <a:t>3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785328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初版规划：eMMC 内置 DMA 经 S7/M5 加载 GB；≤256 ROI 纯裁切经 DDR S3；四口共享外置无损压缩存储前端，普通区域旁路。地址、IRQ、格式、速率与 IP 选型未冻结；未实施 RTL。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  <a:t>4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785328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5页：F0–F3及四条下游DDR接口双向表示请求/响应；F2写入的反向是B响应，F3读取的反向是R数据，不改变发起者。C1–C8/C9–C16位于Regbus下方两行；恢复第3页原生标题，正文下移，不缩小字体。仅图稿规划，未修改RTL或冻结接口参数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  <a:t>5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785328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第6页：用户先规划后明确授权实施。直接复制第5页，仅恢复 ISP↔GB、搬运器↔F1、帧写入DMA↔F2 的虚线，以及 S_EXT/M_EXT 外部扩展的灰色虚线；保持第5页箭头方向、几何、字号、填充、主题及两行配置/标题布局。图例新增虚线样例；虚实与箭头方向独立，沿用规划/可选标记，不代表实现或验收状态。前五页完整保留。Office未实测；无RTL修改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  <a:t>6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785328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第7页：从含F3虚线补修的第6页原生复制。C1～C16按功能重排并同步模块标记；旧公共控制C12变为C14。图像采集区左右镜像，文字正常；RAW仍绕过ISP。新增片外图像传感器→LVDS RX、LVDS TX→后级处理的橙色实线数据连接。帧输出DMA仍为二维AXI读。保持F1/F2/F3深蓝双向虚线、ISP↔GB绿色双向虚线、F0及四条下游DDR双向实线。前六页、主题、母版、布局与依赖原样保留。配置编号不是寄存器地址；未改RTL；Office未实测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  <a:t>7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785328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442913" y="873125"/>
            <a:ext cx="4869867" cy="405102"/>
          </a:xfrm>
          <a:prstGeom prst="rect">
            <a:avLst/>
          </a:prstGeom>
        </p:spPr>
        <p:txBody>
          <a:bodyPr wrap="square" lIns="72000" tIns="36000" rIns="72000" bIns="36000">
            <a:spAutoFit/>
          </a:bodyPr>
          <a:lstStyle>
            <a:lvl1pPr algn="l">
              <a:defRPr lang="zh-CN" altLang="en-US" sz="2400" b="1" spc="0" dirty="0">
                <a:solidFill>
                  <a:schemeClr val="accent1"/>
                </a:solidFill>
                <a:latin typeface="+mj-ea"/>
                <a:ea typeface="+mj-ea"/>
                <a:cs typeface="+mn-cs"/>
              </a:defRPr>
            </a:lvl1pPr>
          </a:lstStyle>
          <a:p>
            <a:pPr marL="0" lvl="0" algn="dist" fontAlgn="base"/>
            <a:r>
              <a:rPr lang="zh-CN" altLang="en-US" dirty="0"/>
              <a:t>单击此处标题</a:t>
            </a:r>
          </a:p>
        </p:txBody>
      </p:sp>
      <p:sp>
        <p:nvSpPr>
          <p:cNvPr id="121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122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23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占位符 13"/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3522388" y="2973614"/>
            <a:ext cx="5147224" cy="83099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buNone/>
              <a:defRPr lang="zh-CN" altLang="en-US" sz="6000" b="1" spc="600" dirty="0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marL="0" lvl="0" algn="dist" fontAlgn="base"/>
            <a:r>
              <a:rPr lang="zh-CN" altLang="en-US" dirty="0"/>
              <a:t>输入标题</a:t>
            </a:r>
          </a:p>
        </p:txBody>
      </p:sp>
      <p:sp>
        <p:nvSpPr>
          <p:cNvPr id="16" name="文本占位符 15"/>
          <p:cNvSpPr>
            <a:spLocks noGrp="1"/>
          </p:cNvSpPr>
          <p:nvPr>
            <p:ph type="body" sz="quarter" idx="10" hasCustomPrompt="1"/>
          </p:nvPr>
        </p:nvSpPr>
        <p:spPr>
          <a:xfrm>
            <a:off x="5645556" y="1886726"/>
            <a:ext cx="900888" cy="830997"/>
          </a:xfrm>
          <a:custGeom>
            <a:avLst/>
            <a:gdLst>
              <a:gd name="connsiteX0" fmla="*/ 0 w 65"/>
              <a:gd name="connsiteY0" fmla="*/ 0 h 276999"/>
              <a:gd name="connsiteX1" fmla="*/ 65 w 65"/>
              <a:gd name="connsiteY1" fmla="*/ 0 h 276999"/>
              <a:gd name="connsiteX2" fmla="*/ 65 w 65"/>
              <a:gd name="connsiteY2" fmla="*/ 276999 h 276999"/>
              <a:gd name="connsiteX3" fmla="*/ 0 w 65"/>
              <a:gd name="connsiteY3" fmla="*/ 276999 h 276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5" h="276999">
                <a:moveTo>
                  <a:pt x="0" y="0"/>
                </a:moveTo>
                <a:lnTo>
                  <a:pt x="65" y="0"/>
                </a:lnTo>
                <a:lnTo>
                  <a:pt x="65" y="276999"/>
                </a:lnTo>
                <a:lnTo>
                  <a:pt x="0" y="276999"/>
                </a:lnTo>
                <a:close/>
              </a:path>
            </a:pathLst>
          </a:custGeom>
        </p:spPr>
        <p:txBody>
          <a:bodyPr wrap="none" lIns="0" tIns="0" rIns="0" bIns="0">
            <a:spAutoFit/>
          </a:bodyPr>
          <a:lstStyle>
            <a:lvl1pPr marL="0" indent="0" algn="ctr">
              <a:buNone/>
              <a:defRPr lang="zh-CN" altLang="en-US" sz="6000" spc="0" dirty="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pPr marL="0" lvl="0" algn="dist" fontAlgn="base"/>
            <a:r>
              <a:rPr lang="en-US" altLang="zh-CN" dirty="0"/>
              <a:t>01</a:t>
            </a:r>
            <a:endParaRPr lang="zh-CN" altLang="en-US" dirty="0"/>
          </a:p>
        </p:txBody>
      </p:sp>
      <p:sp>
        <p:nvSpPr>
          <p:cNvPr id="120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121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2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6" name="文本占位符 3"/>
          <p:cNvSpPr>
            <a:spLocks noGrp="1"/>
          </p:cNvSpPr>
          <p:nvPr>
            <p:ph type="body" sz="quarter" idx="15" hasCustomPrompt="1"/>
          </p:nvPr>
        </p:nvSpPr>
        <p:spPr>
          <a:xfrm>
            <a:off x="3808179" y="2645581"/>
            <a:ext cx="4575642" cy="259267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1200" spc="300">
                <a:latin typeface="+mn-ea"/>
                <a:ea typeface="+mn-ea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 altLang="zh-CN" dirty="0"/>
              <a:t>PART ONE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  <p:sldLayoutId id="2147483662" r:id="rId13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owerpoint template design by DAJU_PPT正版来源小红书大橘PPT微信DAJU_PPT请勿抄袭搬运！盗版必究！"/>
          <p:cNvSpPr/>
          <p:nvPr/>
        </p:nvSpPr>
        <p:spPr>
          <a:xfrm>
            <a:off x="0" y="0"/>
            <a:ext cx="12192000" cy="527280"/>
          </a:xfrm>
          <a:prstGeom prst="rect">
            <a:avLst/>
          </a:prstGeom>
          <a:solidFill>
            <a:srgbClr val="00499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9" name="powerpoint template design by DAJU_PPT正版来源小红书大橘PPT微信DAJU_PPT请勿抄袭搬运！盗版必究！"/>
          <p:cNvSpPr txBox="1"/>
          <p:nvPr userDrawn="1"/>
        </p:nvSpPr>
        <p:spPr>
          <a:xfrm>
            <a:off x="3087469" y="75869"/>
            <a:ext cx="6850351" cy="375542"/>
          </a:xfrm>
          <a:prstGeom prst="rect">
            <a:avLst/>
          </a:prstGeom>
          <a:noFill/>
        </p:spPr>
        <p:txBody>
          <a:bodyPr wrap="square" lIns="25200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algn="ctr">
              <a:defRPr/>
            </a:pPr>
            <a:r>
              <a:rPr lang="en-US" altLang="zh-CN" sz="2400" b="1" kern="0" dirty="0">
                <a:solidFill>
                  <a:schemeClr val="bg1"/>
                </a:solidFill>
                <a:cs typeface="+mn-ea"/>
                <a:sym typeface="+mn-lt"/>
              </a:rPr>
              <a:t>SoC</a:t>
            </a:r>
            <a:r>
              <a:rPr lang="zh-CN" altLang="en-US" sz="2400" b="1" kern="0" dirty="0">
                <a:solidFill>
                  <a:schemeClr val="bg1"/>
                </a:solidFill>
                <a:cs typeface="+mn-ea"/>
                <a:sym typeface="+mn-lt"/>
              </a:rPr>
              <a:t>硬件层</a:t>
            </a:r>
          </a:p>
        </p:txBody>
      </p:sp>
      <p:sp>
        <p:nvSpPr>
          <p:cNvPr id="777" name="soc-boundary">
            <a:extLst>
              <a:ext uri="{FF2B5EF4-FFF2-40B4-BE49-F238E27FC236}">
                <a16:creationId xmlns:a16="http://schemas.microsoft.com/office/drawing/2014/main" id="{CB19764B-E839-45AE-B084-14D7FCBA29C1}"/>
              </a:ext>
            </a:extLst>
          </p:cNvPr>
          <p:cNvSpPr/>
          <p:nvPr/>
        </p:nvSpPr>
        <p:spPr>
          <a:xfrm>
            <a:off x="71973" y="603149"/>
            <a:ext cx="11260667" cy="6180667"/>
          </a:xfrm>
          <a:prstGeom prst="rect">
            <a:avLst/>
          </a:prstGeom>
          <a:solidFill>
            <a:srgbClr val="FFFFFF"/>
          </a:solidFill>
          <a:ln w="40640" cap="flat">
            <a:solidFill>
              <a:srgbClr val="645C5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78" name="object-005: SoC">
            <a:extLst>
              <a:ext uri="{FF2B5EF4-FFF2-40B4-BE49-F238E27FC236}">
                <a16:creationId xmlns:a16="http://schemas.microsoft.com/office/drawing/2014/main" id="{A729F37A-FE4E-4444-AC4E-C0268DDC04AC}"/>
              </a:ext>
            </a:extLst>
          </p:cNvPr>
          <p:cNvSpPr txBox="1"/>
          <p:nvPr/>
        </p:nvSpPr>
        <p:spPr>
          <a:xfrm>
            <a:off x="4789600" y="608488"/>
            <a:ext cx="1682905" cy="215444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1400" b="1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SoC</a:t>
            </a:r>
            <a:r>
              <a:rPr lang="zh-CN" altLang="en-US" sz="1400" b="1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架构</a:t>
            </a:r>
            <a:r>
              <a:rPr lang="en-US" altLang="zh-CN" sz="1400" b="1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(</a:t>
            </a:r>
            <a:r>
              <a:rPr lang="zh-CN" altLang="en-US" sz="1400" b="1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初版规划</a:t>
            </a:r>
            <a:r>
              <a:rPr lang="en-US" altLang="zh-CN" sz="1400" b="1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)</a:t>
            </a:r>
            <a:endParaRPr sz="1400" b="1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79" name="cpu-platform">
            <a:extLst>
              <a:ext uri="{FF2B5EF4-FFF2-40B4-BE49-F238E27FC236}">
                <a16:creationId xmlns:a16="http://schemas.microsoft.com/office/drawing/2014/main" id="{AF24C96E-7639-4A3D-B153-780FAD5C80B8}"/>
              </a:ext>
            </a:extLst>
          </p:cNvPr>
          <p:cNvSpPr/>
          <p:nvPr/>
        </p:nvSpPr>
        <p:spPr>
          <a:xfrm>
            <a:off x="241307" y="840216"/>
            <a:ext cx="3166533" cy="1439333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0" name="object-007: CVA6–Ara 计算平台">
            <a:extLst>
              <a:ext uri="{FF2B5EF4-FFF2-40B4-BE49-F238E27FC236}">
                <a16:creationId xmlns:a16="http://schemas.microsoft.com/office/drawing/2014/main" id="{124C73D2-9AEE-45DB-8A2C-B9E829D70CF4}"/>
              </a:ext>
            </a:extLst>
          </p:cNvPr>
          <p:cNvSpPr txBox="1"/>
          <p:nvPr/>
        </p:nvSpPr>
        <p:spPr>
          <a:xfrm>
            <a:off x="1164047" y="855252"/>
            <a:ext cx="1317668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CVA6–Ara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计算平台</a:t>
            </a:r>
            <a:endParaRPr sz="11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1" name="cva6">
            <a:extLst>
              <a:ext uri="{FF2B5EF4-FFF2-40B4-BE49-F238E27FC236}">
                <a16:creationId xmlns:a16="http://schemas.microsoft.com/office/drawing/2014/main" id="{A278632C-7678-4A74-9EF4-ED3825AC645F}"/>
              </a:ext>
            </a:extLst>
          </p:cNvPr>
          <p:cNvSpPr/>
          <p:nvPr/>
        </p:nvSpPr>
        <p:spPr>
          <a:xfrm>
            <a:off x="325973" y="1111149"/>
            <a:ext cx="846667" cy="7281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2" name="object-009: CVA6 core 0">
            <a:extLst>
              <a:ext uri="{FF2B5EF4-FFF2-40B4-BE49-F238E27FC236}">
                <a16:creationId xmlns:a16="http://schemas.microsoft.com/office/drawing/2014/main" id="{2BE65702-B1F0-4B4E-BF09-D79ADBF299AC}"/>
              </a:ext>
            </a:extLst>
          </p:cNvPr>
          <p:cNvSpPr txBox="1"/>
          <p:nvPr/>
        </p:nvSpPr>
        <p:spPr>
          <a:xfrm>
            <a:off x="435118" y="1266910"/>
            <a:ext cx="6283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 core 0</a:t>
            </a:r>
          </a:p>
        </p:txBody>
      </p:sp>
      <p:sp>
        <p:nvSpPr>
          <p:cNvPr id="783" name="object-010: L1 I / D cache">
            <a:extLst>
              <a:ext uri="{FF2B5EF4-FFF2-40B4-BE49-F238E27FC236}">
                <a16:creationId xmlns:a16="http://schemas.microsoft.com/office/drawing/2014/main" id="{C4F3F2C8-88D6-4730-A950-0FE57919B9CE}"/>
              </a:ext>
            </a:extLst>
          </p:cNvPr>
          <p:cNvSpPr txBox="1"/>
          <p:nvPr/>
        </p:nvSpPr>
        <p:spPr>
          <a:xfrm>
            <a:off x="415883" y="1403461"/>
            <a:ext cx="66684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L1 I / D cache</a:t>
            </a:r>
          </a:p>
        </p:txBody>
      </p:sp>
      <p:sp>
        <p:nvSpPr>
          <p:cNvPr id="784" name="object-011: MMU · AXI 适配">
            <a:extLst>
              <a:ext uri="{FF2B5EF4-FFF2-40B4-BE49-F238E27FC236}">
                <a16:creationId xmlns:a16="http://schemas.microsoft.com/office/drawing/2014/main" id="{1308FC2B-9804-4676-9C81-F66B696127BD}"/>
              </a:ext>
            </a:extLst>
          </p:cNvPr>
          <p:cNvSpPr txBox="1"/>
          <p:nvPr/>
        </p:nvSpPr>
        <p:spPr>
          <a:xfrm>
            <a:off x="365387" y="1511834"/>
            <a:ext cx="7678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MMU · AXI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适配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5" name="ara-core">
            <a:extLst>
              <a:ext uri="{FF2B5EF4-FFF2-40B4-BE49-F238E27FC236}">
                <a16:creationId xmlns:a16="http://schemas.microsoft.com/office/drawing/2014/main" id="{326B305C-1397-4FB6-907C-47D8D0CC135D}"/>
              </a:ext>
            </a:extLst>
          </p:cNvPr>
          <p:cNvSpPr/>
          <p:nvPr/>
        </p:nvSpPr>
        <p:spPr>
          <a:xfrm>
            <a:off x="1341973" y="1111149"/>
            <a:ext cx="1964267" cy="4233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6" name="object-013: Ara 向量处理器">
            <a:extLst>
              <a:ext uri="{FF2B5EF4-FFF2-40B4-BE49-F238E27FC236}">
                <a16:creationId xmlns:a16="http://schemas.microsoft.com/office/drawing/2014/main" id="{64417BFF-AAB1-4D2B-AB14-3C166730A1DE}"/>
              </a:ext>
            </a:extLst>
          </p:cNvPr>
          <p:cNvSpPr txBox="1"/>
          <p:nvPr/>
        </p:nvSpPr>
        <p:spPr>
          <a:xfrm>
            <a:off x="1962629" y="1187535"/>
            <a:ext cx="72295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Ara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向量处理器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7" name="object-014: VLSU / AXI：32 × lanes bit">
            <a:extLst>
              <a:ext uri="{FF2B5EF4-FFF2-40B4-BE49-F238E27FC236}">
                <a16:creationId xmlns:a16="http://schemas.microsoft.com/office/drawing/2014/main" id="{301DDB2E-AC9E-4A6E-9896-07E073F592EE}"/>
              </a:ext>
            </a:extLst>
          </p:cNvPr>
          <p:cNvSpPr txBox="1"/>
          <p:nvPr/>
        </p:nvSpPr>
        <p:spPr>
          <a:xfrm>
            <a:off x="1671685" y="1324086"/>
            <a:ext cx="130484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VLSU / AXI：32 × lanes bit</a:t>
            </a:r>
          </a:p>
        </p:txBody>
      </p:sp>
      <p:cxnSp>
        <p:nvCxnSpPr>
          <p:cNvPr id="788" name="cva6-ara-control">
            <a:extLst>
              <a:ext uri="{FF2B5EF4-FFF2-40B4-BE49-F238E27FC236}">
                <a16:creationId xmlns:a16="http://schemas.microsoft.com/office/drawing/2014/main" id="{A119614B-6831-451B-BA2D-3B24BC8398AF}"/>
              </a:ext>
            </a:extLst>
          </p:cNvPr>
          <p:cNvCxnSpPr/>
          <p:nvPr/>
        </p:nvCxnSpPr>
        <p:spPr>
          <a:xfrm>
            <a:off x="1172640" y="1314349"/>
            <a:ext cx="169333" cy="0"/>
          </a:xfrm>
          <a:prstGeom prst="line">
            <a:avLst/>
          </a:prstGeom>
          <a:ln w="20320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789" name="object-016: 指令 / MMU">
            <a:extLst>
              <a:ext uri="{FF2B5EF4-FFF2-40B4-BE49-F238E27FC236}">
                <a16:creationId xmlns:a16="http://schemas.microsoft.com/office/drawing/2014/main" id="{E1752098-E990-4C62-8143-B7F1B4EE3C96}"/>
              </a:ext>
            </a:extLst>
          </p:cNvPr>
          <p:cNvSpPr txBox="1"/>
          <p:nvPr/>
        </p:nvSpPr>
        <p:spPr>
          <a:xfrm>
            <a:off x="1040281" y="1007788"/>
            <a:ext cx="440826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指令 / MMU</a:t>
            </a:r>
          </a:p>
        </p:txBody>
      </p:sp>
      <p:sp>
        <p:nvSpPr>
          <p:cNvPr id="790" name="ara-filter">
            <a:extLst>
              <a:ext uri="{FF2B5EF4-FFF2-40B4-BE49-F238E27FC236}">
                <a16:creationId xmlns:a16="http://schemas.microsoft.com/office/drawing/2014/main" id="{53C8AB6E-31EB-44B7-B4FC-68060C84843C}"/>
              </a:ext>
            </a:extLst>
          </p:cNvPr>
          <p:cNvSpPr/>
          <p:nvPr/>
        </p:nvSpPr>
        <p:spPr>
          <a:xfrm>
            <a:off x="1409706" y="1686883"/>
            <a:ext cx="643467" cy="29125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91" name="object-018: 失效过滤">
            <a:extLst>
              <a:ext uri="{FF2B5EF4-FFF2-40B4-BE49-F238E27FC236}">
                <a16:creationId xmlns:a16="http://schemas.microsoft.com/office/drawing/2014/main" id="{77AF999C-5811-4EB4-A28F-6FC6EB19EA75}"/>
              </a:ext>
            </a:extLst>
          </p:cNvPr>
          <p:cNvSpPr txBox="1"/>
          <p:nvPr/>
        </p:nvSpPr>
        <p:spPr>
          <a:xfrm>
            <a:off x="1526255" y="1720749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失效过滤</a:t>
            </a:r>
          </a:p>
        </p:txBody>
      </p:sp>
      <p:sp>
        <p:nvSpPr>
          <p:cNvPr id="792" name="object-019: 现有 filter">
            <a:extLst>
              <a:ext uri="{FF2B5EF4-FFF2-40B4-BE49-F238E27FC236}">
                <a16:creationId xmlns:a16="http://schemas.microsoft.com/office/drawing/2014/main" id="{E3F41616-6AF3-4FF6-850B-A98674451E27}"/>
              </a:ext>
            </a:extLst>
          </p:cNvPr>
          <p:cNvSpPr txBox="1"/>
          <p:nvPr/>
        </p:nvSpPr>
        <p:spPr>
          <a:xfrm>
            <a:off x="1501409" y="1842669"/>
            <a:ext cx="4600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现有 filter</a:t>
            </a:r>
          </a:p>
        </p:txBody>
      </p:sp>
      <p:sp>
        <p:nvSpPr>
          <p:cNvPr id="793" name="ara-split">
            <a:extLst>
              <a:ext uri="{FF2B5EF4-FFF2-40B4-BE49-F238E27FC236}">
                <a16:creationId xmlns:a16="http://schemas.microsoft.com/office/drawing/2014/main" id="{A55D7C0B-C19C-4CEF-B563-825F12D30698}"/>
              </a:ext>
            </a:extLst>
          </p:cNvPr>
          <p:cNvSpPr/>
          <p:nvPr/>
        </p:nvSpPr>
        <p:spPr>
          <a:xfrm>
            <a:off x="2171706" y="1686883"/>
            <a:ext cx="508000" cy="29125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94" name="object-021: 地址分流">
            <a:extLst>
              <a:ext uri="{FF2B5EF4-FFF2-40B4-BE49-F238E27FC236}">
                <a16:creationId xmlns:a16="http://schemas.microsoft.com/office/drawing/2014/main" id="{FEB06BCD-B815-40C8-8BCD-F588F64825EC}"/>
              </a:ext>
            </a:extLst>
          </p:cNvPr>
          <p:cNvSpPr txBox="1"/>
          <p:nvPr/>
        </p:nvSpPr>
        <p:spPr>
          <a:xfrm>
            <a:off x="2220522" y="1720749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地址分流</a:t>
            </a:r>
          </a:p>
        </p:txBody>
      </p:sp>
      <p:sp>
        <p:nvSpPr>
          <p:cNvPr id="795" name="object-022: GB 候选">
            <a:extLst>
              <a:ext uri="{FF2B5EF4-FFF2-40B4-BE49-F238E27FC236}">
                <a16:creationId xmlns:a16="http://schemas.microsoft.com/office/drawing/2014/main" id="{310DCB16-6FDF-4034-AF76-CEACCB1F78BC}"/>
              </a:ext>
            </a:extLst>
          </p:cNvPr>
          <p:cNvSpPr txBox="1"/>
          <p:nvPr/>
        </p:nvSpPr>
        <p:spPr>
          <a:xfrm>
            <a:off x="2237353" y="1842669"/>
            <a:ext cx="37670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候选</a:t>
            </a:r>
          </a:p>
        </p:txBody>
      </p:sp>
      <p:sp>
        <p:nvSpPr>
          <p:cNvPr id="796" name="ara-width">
            <a:extLst>
              <a:ext uri="{FF2B5EF4-FFF2-40B4-BE49-F238E27FC236}">
                <a16:creationId xmlns:a16="http://schemas.microsoft.com/office/drawing/2014/main" id="{13DCB4D3-CB81-4F91-A5BB-7B8FDA91C5C7}"/>
              </a:ext>
            </a:extLst>
          </p:cNvPr>
          <p:cNvSpPr/>
          <p:nvPr/>
        </p:nvSpPr>
        <p:spPr>
          <a:xfrm>
            <a:off x="2798240" y="1686883"/>
            <a:ext cx="508000" cy="29125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97" name="object-024: 位宽适配">
            <a:extLst>
              <a:ext uri="{FF2B5EF4-FFF2-40B4-BE49-F238E27FC236}">
                <a16:creationId xmlns:a16="http://schemas.microsoft.com/office/drawing/2014/main" id="{B27BE7FB-D7A1-4A9A-9125-78B229034358}"/>
              </a:ext>
            </a:extLst>
          </p:cNvPr>
          <p:cNvSpPr txBox="1"/>
          <p:nvPr/>
        </p:nvSpPr>
        <p:spPr>
          <a:xfrm>
            <a:off x="2847055" y="1720749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位宽适配</a:t>
            </a:r>
          </a:p>
        </p:txBody>
      </p:sp>
      <p:sp>
        <p:nvSpPr>
          <p:cNvPr id="798" name="object-025: → 64 bit">
            <a:extLst>
              <a:ext uri="{FF2B5EF4-FFF2-40B4-BE49-F238E27FC236}">
                <a16:creationId xmlns:a16="http://schemas.microsoft.com/office/drawing/2014/main" id="{6732B6D6-BF45-4760-884F-A62B535AA613}"/>
              </a:ext>
            </a:extLst>
          </p:cNvPr>
          <p:cNvSpPr txBox="1"/>
          <p:nvPr/>
        </p:nvSpPr>
        <p:spPr>
          <a:xfrm>
            <a:off x="2843849" y="1842669"/>
            <a:ext cx="41678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→ 64 bit</a:t>
            </a:r>
          </a:p>
        </p:txBody>
      </p:sp>
      <p:cxnSp>
        <p:nvCxnSpPr>
          <p:cNvPr id="799" name="vlsu-filter">
            <a:extLst>
              <a:ext uri="{FF2B5EF4-FFF2-40B4-BE49-F238E27FC236}">
                <a16:creationId xmlns:a16="http://schemas.microsoft.com/office/drawing/2014/main" id="{40661750-8396-4465-BC47-BA8E6CE9F4E7}"/>
              </a:ext>
            </a:extLst>
          </p:cNvPr>
          <p:cNvCxnSpPr/>
          <p:nvPr/>
        </p:nvCxnSpPr>
        <p:spPr>
          <a:xfrm>
            <a:off x="1731440" y="1534482"/>
            <a:ext cx="0" cy="15240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800" name="filter-split">
            <a:extLst>
              <a:ext uri="{FF2B5EF4-FFF2-40B4-BE49-F238E27FC236}">
                <a16:creationId xmlns:a16="http://schemas.microsoft.com/office/drawing/2014/main" id="{2B5303ED-513A-4440-9983-0B3B03EF175E}"/>
              </a:ext>
            </a:extLst>
          </p:cNvPr>
          <p:cNvCxnSpPr/>
          <p:nvPr/>
        </p:nvCxnSpPr>
        <p:spPr>
          <a:xfrm>
            <a:off x="2053173" y="1832509"/>
            <a:ext cx="118533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801" name="split-width">
            <a:extLst>
              <a:ext uri="{FF2B5EF4-FFF2-40B4-BE49-F238E27FC236}">
                <a16:creationId xmlns:a16="http://schemas.microsoft.com/office/drawing/2014/main" id="{FABD96AB-80A1-411A-AB11-E71F4FA23129}"/>
              </a:ext>
            </a:extLst>
          </p:cNvPr>
          <p:cNvCxnSpPr/>
          <p:nvPr/>
        </p:nvCxnSpPr>
        <p:spPr>
          <a:xfrm>
            <a:off x="2679707" y="1832509"/>
            <a:ext cx="118533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02" name="npu-subsystem">
            <a:extLst>
              <a:ext uri="{FF2B5EF4-FFF2-40B4-BE49-F238E27FC236}">
                <a16:creationId xmlns:a16="http://schemas.microsoft.com/office/drawing/2014/main" id="{656E5669-F913-42EA-B7ED-87C55D399281}"/>
              </a:ext>
            </a:extLst>
          </p:cNvPr>
          <p:cNvSpPr/>
          <p:nvPr/>
        </p:nvSpPr>
        <p:spPr>
          <a:xfrm>
            <a:off x="3594106" y="840216"/>
            <a:ext cx="3843867" cy="14393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3" name="object-030: NPU / 独立 Global Buffer 子系统">
            <a:extLst>
              <a:ext uri="{FF2B5EF4-FFF2-40B4-BE49-F238E27FC236}">
                <a16:creationId xmlns:a16="http://schemas.microsoft.com/office/drawing/2014/main" id="{718B7891-A7B2-45A4-B891-5FAEC892CE9F}"/>
              </a:ext>
            </a:extLst>
          </p:cNvPr>
          <p:cNvSpPr txBox="1"/>
          <p:nvPr/>
        </p:nvSpPr>
        <p:spPr>
          <a:xfrm>
            <a:off x="4410679" y="855252"/>
            <a:ext cx="2207336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</a:t>
            </a:r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Global Buffer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子系统</a:t>
            </a:r>
            <a:endParaRPr sz="11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04" name="npu-compute">
            <a:extLst>
              <a:ext uri="{FF2B5EF4-FFF2-40B4-BE49-F238E27FC236}">
                <a16:creationId xmlns:a16="http://schemas.microsoft.com/office/drawing/2014/main" id="{46C0F758-7B9F-4A0A-B73B-2833147897D7}"/>
              </a:ext>
            </a:extLst>
          </p:cNvPr>
          <p:cNvSpPr/>
          <p:nvPr/>
        </p:nvSpPr>
        <p:spPr>
          <a:xfrm>
            <a:off x="3678773" y="1111149"/>
            <a:ext cx="914400" cy="592667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5" name="object-032: NPU 计算引擎">
            <a:extLst>
              <a:ext uri="{FF2B5EF4-FFF2-40B4-BE49-F238E27FC236}">
                <a16:creationId xmlns:a16="http://schemas.microsoft.com/office/drawing/2014/main" id="{57A034A3-CD90-407A-9864-937692845FE0}"/>
              </a:ext>
            </a:extLst>
          </p:cNvPr>
          <p:cNvSpPr txBox="1"/>
          <p:nvPr/>
        </p:nvSpPr>
        <p:spPr>
          <a:xfrm>
            <a:off x="3798540" y="1241510"/>
            <a:ext cx="67486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计算引擎</a:t>
            </a:r>
          </a:p>
        </p:txBody>
      </p:sp>
      <p:sp>
        <p:nvSpPr>
          <p:cNvPr id="806" name="object-033: GB 数据读写">
            <a:extLst>
              <a:ext uri="{FF2B5EF4-FFF2-40B4-BE49-F238E27FC236}">
                <a16:creationId xmlns:a16="http://schemas.microsoft.com/office/drawing/2014/main" id="{9CE2B4F6-7C07-4825-97E7-4CF402344E97}"/>
              </a:ext>
            </a:extLst>
          </p:cNvPr>
          <p:cNvSpPr txBox="1"/>
          <p:nvPr/>
        </p:nvSpPr>
        <p:spPr>
          <a:xfrm>
            <a:off x="3845028" y="1378061"/>
            <a:ext cx="58189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数据读写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07" name="cfg-tag-C6-33">
            <a:extLst>
              <a:ext uri="{FF2B5EF4-FFF2-40B4-BE49-F238E27FC236}">
                <a16:creationId xmlns:a16="http://schemas.microsoft.com/office/drawing/2014/main" id="{D3B7AF86-7454-4B62-89BE-78681DD60168}"/>
              </a:ext>
            </a:extLst>
          </p:cNvPr>
          <p:cNvSpPr/>
          <p:nvPr/>
        </p:nvSpPr>
        <p:spPr>
          <a:xfrm>
            <a:off x="4389973" y="155141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8" name="object-035: C6">
            <a:extLst>
              <a:ext uri="{FF2B5EF4-FFF2-40B4-BE49-F238E27FC236}">
                <a16:creationId xmlns:a16="http://schemas.microsoft.com/office/drawing/2014/main" id="{C61F99EE-C4EE-4969-94E1-ED6A835DA0FB}"/>
              </a:ext>
            </a:extLst>
          </p:cNvPr>
          <p:cNvSpPr txBox="1"/>
          <p:nvPr/>
        </p:nvSpPr>
        <p:spPr>
          <a:xfrm>
            <a:off x="4419867" y="155277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809" name="gb-router">
            <a:extLst>
              <a:ext uri="{FF2B5EF4-FFF2-40B4-BE49-F238E27FC236}">
                <a16:creationId xmlns:a16="http://schemas.microsoft.com/office/drawing/2014/main" id="{B49BD3BD-E44C-4699-B093-1981A49F63CE}"/>
              </a:ext>
            </a:extLst>
          </p:cNvPr>
          <p:cNvSpPr/>
          <p:nvPr/>
        </p:nvSpPr>
        <p:spPr>
          <a:xfrm>
            <a:off x="4711707" y="1365149"/>
            <a:ext cx="778933" cy="7958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0" name="object-037: GB 访问适配">
            <a:extLst>
              <a:ext uri="{FF2B5EF4-FFF2-40B4-BE49-F238E27FC236}">
                <a16:creationId xmlns:a16="http://schemas.microsoft.com/office/drawing/2014/main" id="{9DDF7B99-1CF7-451D-880D-F92066C2D856}"/>
              </a:ext>
            </a:extLst>
          </p:cNvPr>
          <p:cNvSpPr txBox="1"/>
          <p:nvPr/>
        </p:nvSpPr>
        <p:spPr>
          <a:xfrm>
            <a:off x="4806221" y="1556801"/>
            <a:ext cx="58990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访问适配</a:t>
            </a:r>
          </a:p>
        </p:txBody>
      </p:sp>
      <p:sp>
        <p:nvSpPr>
          <p:cNvPr id="811" name="object-038: 局部仲裁 / 路由">
            <a:extLst>
              <a:ext uri="{FF2B5EF4-FFF2-40B4-BE49-F238E27FC236}">
                <a16:creationId xmlns:a16="http://schemas.microsoft.com/office/drawing/2014/main" id="{31997707-ECEB-4690-908D-11823455FE1C}"/>
              </a:ext>
            </a:extLst>
          </p:cNvPr>
          <p:cNvSpPr txBox="1"/>
          <p:nvPr/>
        </p:nvSpPr>
        <p:spPr>
          <a:xfrm>
            <a:off x="4741299" y="1686036"/>
            <a:ext cx="71974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局部仲裁 / 路由</a:t>
            </a:r>
          </a:p>
        </p:txBody>
      </p:sp>
      <p:sp>
        <p:nvSpPr>
          <p:cNvPr id="812" name="object-039: bank 冲突处理">
            <a:extLst>
              <a:ext uri="{FF2B5EF4-FFF2-40B4-BE49-F238E27FC236}">
                <a16:creationId xmlns:a16="http://schemas.microsoft.com/office/drawing/2014/main" id="{11961159-3445-4A6A-8ED7-CDD7022D7D18}"/>
              </a:ext>
            </a:extLst>
          </p:cNvPr>
          <p:cNvSpPr txBox="1"/>
          <p:nvPr/>
        </p:nvSpPr>
        <p:spPr>
          <a:xfrm>
            <a:off x="4760535" y="1794409"/>
            <a:ext cx="6812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bank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冲突处理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13" name="global-buffer">
            <a:extLst>
              <a:ext uri="{FF2B5EF4-FFF2-40B4-BE49-F238E27FC236}">
                <a16:creationId xmlns:a16="http://schemas.microsoft.com/office/drawing/2014/main" id="{0F86E12E-383A-4875-BC7C-4C90F3F966C9}"/>
              </a:ext>
            </a:extLst>
          </p:cNvPr>
          <p:cNvSpPr/>
          <p:nvPr/>
        </p:nvSpPr>
        <p:spPr>
          <a:xfrm>
            <a:off x="5626106" y="1111149"/>
            <a:ext cx="1710267" cy="5757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4" name="object-041: Global Buffer">
            <a:extLst>
              <a:ext uri="{FF2B5EF4-FFF2-40B4-BE49-F238E27FC236}">
                <a16:creationId xmlns:a16="http://schemas.microsoft.com/office/drawing/2014/main" id="{0651B47D-F1D7-4756-8C2C-E0A3C6EF838A}"/>
              </a:ext>
            </a:extLst>
          </p:cNvPr>
          <p:cNvSpPr txBox="1"/>
          <p:nvPr/>
        </p:nvSpPr>
        <p:spPr>
          <a:xfrm>
            <a:off x="6094917" y="1208312"/>
            <a:ext cx="772647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Global Buffer</a:t>
            </a:r>
          </a:p>
        </p:txBody>
      </p:sp>
      <p:sp>
        <p:nvSpPr>
          <p:cNvPr id="815" name="object-042: 独立 SRAM · 分 bank">
            <a:extLst>
              <a:ext uri="{FF2B5EF4-FFF2-40B4-BE49-F238E27FC236}">
                <a16:creationId xmlns:a16="http://schemas.microsoft.com/office/drawing/2014/main" id="{AD1A6881-C2BE-460D-B074-A700C9C01B03}"/>
              </a:ext>
            </a:extLst>
          </p:cNvPr>
          <p:cNvSpPr txBox="1"/>
          <p:nvPr/>
        </p:nvSpPr>
        <p:spPr>
          <a:xfrm>
            <a:off x="5984309" y="1355836"/>
            <a:ext cx="99386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 SRAM · 分 bank</a:t>
            </a:r>
          </a:p>
        </p:txBody>
      </p:sp>
      <p:sp>
        <p:nvSpPr>
          <p:cNvPr id="816" name="object-043: ISP / NPU–Ara 工作区">
            <a:extLst>
              <a:ext uri="{FF2B5EF4-FFF2-40B4-BE49-F238E27FC236}">
                <a16:creationId xmlns:a16="http://schemas.microsoft.com/office/drawing/2014/main" id="{D53F494B-0690-4734-ACA8-CACF6710407D}"/>
              </a:ext>
            </a:extLst>
          </p:cNvPr>
          <p:cNvSpPr txBox="1"/>
          <p:nvPr/>
        </p:nvSpPr>
        <p:spPr>
          <a:xfrm>
            <a:off x="5961066" y="1476908"/>
            <a:ext cx="104034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 / NPU–Ara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工作区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17" name="cfg-tag-C9-43">
            <a:extLst>
              <a:ext uri="{FF2B5EF4-FFF2-40B4-BE49-F238E27FC236}">
                <a16:creationId xmlns:a16="http://schemas.microsoft.com/office/drawing/2014/main" id="{823E72FE-055F-4BE4-8A7B-2A044874D38D}"/>
              </a:ext>
            </a:extLst>
          </p:cNvPr>
          <p:cNvSpPr/>
          <p:nvPr/>
        </p:nvSpPr>
        <p:spPr>
          <a:xfrm>
            <a:off x="7133173" y="152770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8" name="object-045: C9">
            <a:extLst>
              <a:ext uri="{FF2B5EF4-FFF2-40B4-BE49-F238E27FC236}">
                <a16:creationId xmlns:a16="http://schemas.microsoft.com/office/drawing/2014/main" id="{95D02E3B-149C-4FA4-A33D-61F0556022FE}"/>
              </a:ext>
            </a:extLst>
          </p:cNvPr>
          <p:cNvSpPr txBox="1"/>
          <p:nvPr/>
        </p:nvSpPr>
        <p:spPr>
          <a:xfrm>
            <a:off x="7163067" y="152906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cxnSp>
        <p:nvCxnSpPr>
          <p:cNvPr id="819" name="npu-router">
            <a:extLst>
              <a:ext uri="{FF2B5EF4-FFF2-40B4-BE49-F238E27FC236}">
                <a16:creationId xmlns:a16="http://schemas.microsoft.com/office/drawing/2014/main" id="{A428C493-29D6-4BBC-BA7B-070D429BC4AF}"/>
              </a:ext>
            </a:extLst>
          </p:cNvPr>
          <p:cNvCxnSpPr/>
          <p:nvPr/>
        </p:nvCxnSpPr>
        <p:spPr>
          <a:xfrm>
            <a:off x="4593173" y="1466749"/>
            <a:ext cx="118533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cxnSp>
        <p:nvCxnSpPr>
          <p:cNvPr id="820" name="router-sram">
            <a:extLst>
              <a:ext uri="{FF2B5EF4-FFF2-40B4-BE49-F238E27FC236}">
                <a16:creationId xmlns:a16="http://schemas.microsoft.com/office/drawing/2014/main" id="{D5B8C352-9067-45D3-A0F8-A71B9B5A5E13}"/>
              </a:ext>
            </a:extLst>
          </p:cNvPr>
          <p:cNvCxnSpPr/>
          <p:nvPr/>
        </p:nvCxnSpPr>
        <p:spPr>
          <a:xfrm>
            <a:off x="5490640" y="1551416"/>
            <a:ext cx="135467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821" name="npu-transfer">
            <a:extLst>
              <a:ext uri="{FF2B5EF4-FFF2-40B4-BE49-F238E27FC236}">
                <a16:creationId xmlns:a16="http://schemas.microsoft.com/office/drawing/2014/main" id="{FA38588C-CDC9-492E-8CAA-C795BC318639}"/>
              </a:ext>
            </a:extLst>
          </p:cNvPr>
          <p:cNvSpPr/>
          <p:nvPr/>
        </p:nvSpPr>
        <p:spPr>
          <a:xfrm>
            <a:off x="5626106" y="1805416"/>
            <a:ext cx="1710267" cy="406400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22" name="object-049: NPU / GB 搬运引擎">
            <a:extLst>
              <a:ext uri="{FF2B5EF4-FFF2-40B4-BE49-F238E27FC236}">
                <a16:creationId xmlns:a16="http://schemas.microsoft.com/office/drawing/2014/main" id="{B62D1668-5499-422C-A42A-7C1C8F708B4E}"/>
              </a:ext>
            </a:extLst>
          </p:cNvPr>
          <p:cNvSpPr txBox="1"/>
          <p:nvPr/>
        </p:nvSpPr>
        <p:spPr>
          <a:xfrm>
            <a:off x="6014767" y="1884977"/>
            <a:ext cx="93294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搬运引擎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23" name="object-050: DDR ↔ GB · 统一 AXI 主口">
            <a:extLst>
              <a:ext uri="{FF2B5EF4-FFF2-40B4-BE49-F238E27FC236}">
                <a16:creationId xmlns:a16="http://schemas.microsoft.com/office/drawing/2014/main" id="{85C9B0F7-F610-4D22-AFEB-406C6901B317}"/>
              </a:ext>
            </a:extLst>
          </p:cNvPr>
          <p:cNvSpPr txBox="1"/>
          <p:nvPr/>
        </p:nvSpPr>
        <p:spPr>
          <a:xfrm>
            <a:off x="5835230" y="2021527"/>
            <a:ext cx="129202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↔ GB ·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统一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AXI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主口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24" name="cfg-tag-C7-50">
            <a:extLst>
              <a:ext uri="{FF2B5EF4-FFF2-40B4-BE49-F238E27FC236}">
                <a16:creationId xmlns:a16="http://schemas.microsoft.com/office/drawing/2014/main" id="{B1F03A49-3940-4D0A-8CD8-1BDE1A74EFAE}"/>
              </a:ext>
            </a:extLst>
          </p:cNvPr>
          <p:cNvSpPr/>
          <p:nvPr/>
        </p:nvSpPr>
        <p:spPr>
          <a:xfrm>
            <a:off x="7133173" y="206957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25" name="object-052: C7">
            <a:extLst>
              <a:ext uri="{FF2B5EF4-FFF2-40B4-BE49-F238E27FC236}">
                <a16:creationId xmlns:a16="http://schemas.microsoft.com/office/drawing/2014/main" id="{AB84474B-5CCF-43E8-BCC6-18E79C6A3986}"/>
              </a:ext>
            </a:extLst>
          </p:cNvPr>
          <p:cNvSpPr txBox="1"/>
          <p:nvPr/>
        </p:nvSpPr>
        <p:spPr>
          <a:xfrm>
            <a:off x="7163067" y="207093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cxnSp>
        <p:nvCxnSpPr>
          <p:cNvPr id="826" name="transfer-router">
            <a:extLst>
              <a:ext uri="{FF2B5EF4-FFF2-40B4-BE49-F238E27FC236}">
                <a16:creationId xmlns:a16="http://schemas.microsoft.com/office/drawing/2014/main" id="{CC73FB70-E502-4DB5-A5D7-857AF0014BBD}"/>
              </a:ext>
            </a:extLst>
          </p:cNvPr>
          <p:cNvCxnSpPr/>
          <p:nvPr/>
        </p:nvCxnSpPr>
        <p:spPr>
          <a:xfrm flipH="1">
            <a:off x="5490640" y="2008616"/>
            <a:ext cx="135467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827" name="ara-gb">
            <a:extLst>
              <a:ext uri="{FF2B5EF4-FFF2-40B4-BE49-F238E27FC236}">
                <a16:creationId xmlns:a16="http://schemas.microsoft.com/office/drawing/2014/main" id="{7EBC10B6-3F87-43DC-A06C-B5FEF9F5D846}"/>
              </a:ext>
            </a:extLst>
          </p:cNvPr>
          <p:cNvSpPr/>
          <p:nvPr/>
        </p:nvSpPr>
        <p:spPr>
          <a:xfrm>
            <a:off x="2425706" y="1978136"/>
            <a:ext cx="2675467" cy="250613"/>
          </a:xfrm>
          <a:custGeom>
            <a:avLst/>
            <a:gdLst/>
            <a:ahLst/>
            <a:cxnLst/>
            <a:rect l="0" t="0" r="r" b="b"/>
            <a:pathLst>
              <a:path w="6421120" h="601472" fill="none">
                <a:moveTo>
                  <a:pt x="0" y="0"/>
                </a:moveTo>
                <a:lnTo>
                  <a:pt x="0" y="601472"/>
                </a:lnTo>
                <a:lnTo>
                  <a:pt x="6421120" y="601472"/>
                </a:lnTo>
                <a:lnTo>
                  <a:pt x="6421120" y="438912"/>
                </a:lnTo>
              </a:path>
            </a:pathLst>
          </a:custGeom>
          <a:noFill/>
          <a:ln w="26010" cap="flat">
            <a:solidFill>
              <a:srgbClr val="187C78"/>
            </a:solidFill>
            <a:custDash>
              <a:ds d="312500" sp="187500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28" name="object-055: Ara 宽侧 GB 分支">
            <a:extLst>
              <a:ext uri="{FF2B5EF4-FFF2-40B4-BE49-F238E27FC236}">
                <a16:creationId xmlns:a16="http://schemas.microsoft.com/office/drawing/2014/main" id="{A9924EA1-3B4E-4C08-B5AE-5E7FB403349C}"/>
              </a:ext>
            </a:extLst>
          </p:cNvPr>
          <p:cNvSpPr txBox="1"/>
          <p:nvPr/>
        </p:nvSpPr>
        <p:spPr>
          <a:xfrm>
            <a:off x="3615379" y="2104073"/>
            <a:ext cx="71013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Ara </a:t>
            </a:r>
            <a:r>
              <a:rPr sz="7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宽侧</a:t>
            </a:r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 GB </a:t>
            </a:r>
            <a:r>
              <a:rPr sz="7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分支</a:t>
            </a:r>
            <a:endParaRPr sz="700" dirty="0">
              <a:solidFill>
                <a:srgbClr val="187C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29" name="image-subsystem">
            <a:extLst>
              <a:ext uri="{FF2B5EF4-FFF2-40B4-BE49-F238E27FC236}">
                <a16:creationId xmlns:a16="http://schemas.microsoft.com/office/drawing/2014/main" id="{6BD40024-AF2A-43AA-9F53-2CB0F0A35B7B}"/>
              </a:ext>
            </a:extLst>
          </p:cNvPr>
          <p:cNvSpPr/>
          <p:nvPr/>
        </p:nvSpPr>
        <p:spPr>
          <a:xfrm>
            <a:off x="7607306" y="840216"/>
            <a:ext cx="3606800" cy="1439333"/>
          </a:xfrm>
          <a:prstGeom prst="rect">
            <a:avLst/>
          </a:prstGeom>
          <a:solidFill>
            <a:srgbClr val="F5E1C9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0" name="object-057: 图像采集与 ISP">
            <a:extLst>
              <a:ext uri="{FF2B5EF4-FFF2-40B4-BE49-F238E27FC236}">
                <a16:creationId xmlns:a16="http://schemas.microsoft.com/office/drawing/2014/main" id="{5D105284-8B1B-4DF6-9CD3-6DE3CB6EA6D2}"/>
              </a:ext>
            </a:extLst>
          </p:cNvPr>
          <p:cNvSpPr txBox="1"/>
          <p:nvPr/>
        </p:nvSpPr>
        <p:spPr>
          <a:xfrm>
            <a:off x="8922503" y="855252"/>
            <a:ext cx="973023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图像采集与</a:t>
            </a:r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ISP</a:t>
            </a:r>
          </a:p>
        </p:txBody>
      </p:sp>
      <p:sp>
        <p:nvSpPr>
          <p:cNvPr id="831" name="lvds">
            <a:extLst>
              <a:ext uri="{FF2B5EF4-FFF2-40B4-BE49-F238E27FC236}">
                <a16:creationId xmlns:a16="http://schemas.microsoft.com/office/drawing/2014/main" id="{3678F47F-0E17-45E0-BC26-1889C2B908C0}"/>
              </a:ext>
            </a:extLst>
          </p:cNvPr>
          <p:cNvSpPr/>
          <p:nvPr/>
        </p:nvSpPr>
        <p:spPr>
          <a:xfrm>
            <a:off x="7691973" y="1314349"/>
            <a:ext cx="558800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2" name="object-059: LVDS 接收">
            <a:extLst>
              <a:ext uri="{FF2B5EF4-FFF2-40B4-BE49-F238E27FC236}">
                <a16:creationId xmlns:a16="http://schemas.microsoft.com/office/drawing/2014/main" id="{A09B5D17-5CB1-4F09-9942-523F28E11F50}"/>
              </a:ext>
            </a:extLst>
          </p:cNvPr>
          <p:cNvSpPr txBox="1"/>
          <p:nvPr/>
        </p:nvSpPr>
        <p:spPr>
          <a:xfrm>
            <a:off x="7716495" y="1462046"/>
            <a:ext cx="50975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接收</a:t>
            </a:r>
          </a:p>
        </p:txBody>
      </p:sp>
      <p:sp>
        <p:nvSpPr>
          <p:cNvPr id="833" name="object-060: 解串 / 帧行">
            <a:extLst>
              <a:ext uri="{FF2B5EF4-FFF2-40B4-BE49-F238E27FC236}">
                <a16:creationId xmlns:a16="http://schemas.microsoft.com/office/drawing/2014/main" id="{A4A92F41-F952-4D36-9FD8-9D4521EEAEB1}"/>
              </a:ext>
            </a:extLst>
          </p:cNvPr>
          <p:cNvSpPr txBox="1"/>
          <p:nvPr/>
        </p:nvSpPr>
        <p:spPr>
          <a:xfrm>
            <a:off x="7714091" y="1587624"/>
            <a:ext cx="5145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解串 / 帧行</a:t>
            </a:r>
          </a:p>
        </p:txBody>
      </p:sp>
      <p:sp>
        <p:nvSpPr>
          <p:cNvPr id="834" name="cfg-tag-C4-60">
            <a:extLst>
              <a:ext uri="{FF2B5EF4-FFF2-40B4-BE49-F238E27FC236}">
                <a16:creationId xmlns:a16="http://schemas.microsoft.com/office/drawing/2014/main" id="{889DE112-44D4-4243-93D5-ABB1ACA86D6E}"/>
              </a:ext>
            </a:extLst>
          </p:cNvPr>
          <p:cNvSpPr/>
          <p:nvPr/>
        </p:nvSpPr>
        <p:spPr>
          <a:xfrm>
            <a:off x="8047573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5" name="object-062: C4">
            <a:extLst>
              <a:ext uri="{FF2B5EF4-FFF2-40B4-BE49-F238E27FC236}">
                <a16:creationId xmlns:a16="http://schemas.microsoft.com/office/drawing/2014/main" id="{3EB18B95-08AB-4276-B69A-36E4026D5732}"/>
              </a:ext>
            </a:extLst>
          </p:cNvPr>
          <p:cNvSpPr txBox="1"/>
          <p:nvPr/>
        </p:nvSpPr>
        <p:spPr>
          <a:xfrm>
            <a:off x="8077467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836" name="pixel-cdc">
            <a:extLst>
              <a:ext uri="{FF2B5EF4-FFF2-40B4-BE49-F238E27FC236}">
                <a16:creationId xmlns:a16="http://schemas.microsoft.com/office/drawing/2014/main" id="{7B21DA8E-5581-4742-85D5-AE770D9C6062}"/>
              </a:ext>
            </a:extLst>
          </p:cNvPr>
          <p:cNvSpPr/>
          <p:nvPr/>
        </p:nvSpPr>
        <p:spPr>
          <a:xfrm>
            <a:off x="8352373" y="1314349"/>
            <a:ext cx="541867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7" name="object-064: CDC / FIFO">
            <a:extLst>
              <a:ext uri="{FF2B5EF4-FFF2-40B4-BE49-F238E27FC236}">
                <a16:creationId xmlns:a16="http://schemas.microsoft.com/office/drawing/2014/main" id="{0AD2F2A6-34C1-4782-8DDB-0966C51656F8}"/>
              </a:ext>
            </a:extLst>
          </p:cNvPr>
          <p:cNvSpPr txBox="1"/>
          <p:nvPr/>
        </p:nvSpPr>
        <p:spPr>
          <a:xfrm>
            <a:off x="8342781" y="1462046"/>
            <a:ext cx="56105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CDC / FIFO</a:t>
            </a:r>
          </a:p>
        </p:txBody>
      </p:sp>
      <p:sp>
        <p:nvSpPr>
          <p:cNvPr id="838" name="object-065: 像素流缓冲">
            <a:extLst>
              <a:ext uri="{FF2B5EF4-FFF2-40B4-BE49-F238E27FC236}">
                <a16:creationId xmlns:a16="http://schemas.microsoft.com/office/drawing/2014/main" id="{9EB67424-CB21-4439-890E-47387DE671C2}"/>
              </a:ext>
            </a:extLst>
          </p:cNvPr>
          <p:cNvSpPr txBox="1"/>
          <p:nvPr/>
        </p:nvSpPr>
        <p:spPr>
          <a:xfrm>
            <a:off x="8366826" y="1587624"/>
            <a:ext cx="51296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像素流缓冲</a:t>
            </a:r>
          </a:p>
        </p:txBody>
      </p:sp>
      <p:sp>
        <p:nvSpPr>
          <p:cNvPr id="839" name="isp">
            <a:extLst>
              <a:ext uri="{FF2B5EF4-FFF2-40B4-BE49-F238E27FC236}">
                <a16:creationId xmlns:a16="http://schemas.microsoft.com/office/drawing/2014/main" id="{D0A0421C-79B2-4D46-8E1F-76B68034EAB1}"/>
              </a:ext>
            </a:extLst>
          </p:cNvPr>
          <p:cNvSpPr/>
          <p:nvPr/>
        </p:nvSpPr>
        <p:spPr>
          <a:xfrm>
            <a:off x="8995840" y="1314349"/>
            <a:ext cx="558800" cy="626533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0" name="object-067: ISP">
            <a:extLst>
              <a:ext uri="{FF2B5EF4-FFF2-40B4-BE49-F238E27FC236}">
                <a16:creationId xmlns:a16="http://schemas.microsoft.com/office/drawing/2014/main" id="{D8417204-1D66-47F9-AAE6-B61AAFB8EE07}"/>
              </a:ext>
            </a:extLst>
          </p:cNvPr>
          <p:cNvSpPr txBox="1"/>
          <p:nvPr/>
        </p:nvSpPr>
        <p:spPr>
          <a:xfrm>
            <a:off x="9193486" y="1462046"/>
            <a:ext cx="16350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841" name="object-068: 行缓冲 / 处理">
            <a:extLst>
              <a:ext uri="{FF2B5EF4-FFF2-40B4-BE49-F238E27FC236}">
                <a16:creationId xmlns:a16="http://schemas.microsoft.com/office/drawing/2014/main" id="{634F747F-0ED0-4BF1-9BD9-5D880E3F48CA}"/>
              </a:ext>
            </a:extLst>
          </p:cNvPr>
          <p:cNvSpPr txBox="1"/>
          <p:nvPr/>
        </p:nvSpPr>
        <p:spPr>
          <a:xfrm>
            <a:off x="8995841" y="1587624"/>
            <a:ext cx="496098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行缓冲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处理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42" name="cfg-tag-C5-68">
            <a:extLst>
              <a:ext uri="{FF2B5EF4-FFF2-40B4-BE49-F238E27FC236}">
                <a16:creationId xmlns:a16="http://schemas.microsoft.com/office/drawing/2014/main" id="{5C076AFD-1FBD-4A5D-8C7D-74E0C3A80EAB}"/>
              </a:ext>
            </a:extLst>
          </p:cNvPr>
          <p:cNvSpPr/>
          <p:nvPr/>
        </p:nvSpPr>
        <p:spPr>
          <a:xfrm>
            <a:off x="9351440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3" name="object-070: C5">
            <a:extLst>
              <a:ext uri="{FF2B5EF4-FFF2-40B4-BE49-F238E27FC236}">
                <a16:creationId xmlns:a16="http://schemas.microsoft.com/office/drawing/2014/main" id="{F75900B3-9299-448E-A630-B81C3623B85A}"/>
              </a:ext>
            </a:extLst>
          </p:cNvPr>
          <p:cNvSpPr txBox="1"/>
          <p:nvPr/>
        </p:nvSpPr>
        <p:spPr>
          <a:xfrm>
            <a:off x="9381333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844" name="frame-select">
            <a:extLst>
              <a:ext uri="{FF2B5EF4-FFF2-40B4-BE49-F238E27FC236}">
                <a16:creationId xmlns:a16="http://schemas.microsoft.com/office/drawing/2014/main" id="{29358133-0E92-4973-90EB-96977D079B88}"/>
              </a:ext>
            </a:extLst>
          </p:cNvPr>
          <p:cNvSpPr/>
          <p:nvPr/>
        </p:nvSpPr>
        <p:spPr>
          <a:xfrm>
            <a:off x="9656240" y="1314349"/>
            <a:ext cx="609600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5" name="object-072: 帧边界选择">
            <a:extLst>
              <a:ext uri="{FF2B5EF4-FFF2-40B4-BE49-F238E27FC236}">
                <a16:creationId xmlns:a16="http://schemas.microsoft.com/office/drawing/2014/main" id="{D7CD0A41-01E5-4FE9-BA79-107B8A50C3DF}"/>
              </a:ext>
            </a:extLst>
          </p:cNvPr>
          <p:cNvSpPr txBox="1"/>
          <p:nvPr/>
        </p:nvSpPr>
        <p:spPr>
          <a:xfrm>
            <a:off x="9704559" y="1462046"/>
            <a:ext cx="5129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帧边界选择</a:t>
            </a:r>
          </a:p>
        </p:txBody>
      </p:sp>
      <p:sp>
        <p:nvSpPr>
          <p:cNvPr id="846" name="object-073: RAW / ISP">
            <a:extLst>
              <a:ext uri="{FF2B5EF4-FFF2-40B4-BE49-F238E27FC236}">
                <a16:creationId xmlns:a16="http://schemas.microsoft.com/office/drawing/2014/main" id="{6D9F2414-8C65-4383-AD03-DA29FA12D718}"/>
              </a:ext>
            </a:extLst>
          </p:cNvPr>
          <p:cNvSpPr txBox="1"/>
          <p:nvPr/>
        </p:nvSpPr>
        <p:spPr>
          <a:xfrm>
            <a:off x="9710971" y="1587624"/>
            <a:ext cx="50013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RAW / ISP</a:t>
            </a:r>
          </a:p>
        </p:txBody>
      </p:sp>
      <p:sp>
        <p:nvSpPr>
          <p:cNvPr id="847" name="frame-dma">
            <a:extLst>
              <a:ext uri="{FF2B5EF4-FFF2-40B4-BE49-F238E27FC236}">
                <a16:creationId xmlns:a16="http://schemas.microsoft.com/office/drawing/2014/main" id="{CC8C5712-E151-4303-93AC-64CB6E17095D}"/>
              </a:ext>
            </a:extLst>
          </p:cNvPr>
          <p:cNvSpPr/>
          <p:nvPr/>
        </p:nvSpPr>
        <p:spPr>
          <a:xfrm>
            <a:off x="10384373" y="1314349"/>
            <a:ext cx="728133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8" name="object-075: 帧写入 DMA">
            <a:extLst>
              <a:ext uri="{FF2B5EF4-FFF2-40B4-BE49-F238E27FC236}">
                <a16:creationId xmlns:a16="http://schemas.microsoft.com/office/drawing/2014/main" id="{24C26ABC-45E2-4E21-AB00-AF8C2335CE52}"/>
              </a:ext>
            </a:extLst>
          </p:cNvPr>
          <p:cNvSpPr txBox="1"/>
          <p:nvPr/>
        </p:nvSpPr>
        <p:spPr>
          <a:xfrm>
            <a:off x="10447076" y="1462046"/>
            <a:ext cx="60272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849" name="object-076: 地址 / stride">
            <a:extLst>
              <a:ext uri="{FF2B5EF4-FFF2-40B4-BE49-F238E27FC236}">
                <a16:creationId xmlns:a16="http://schemas.microsoft.com/office/drawing/2014/main" id="{0C54A5BA-9475-4ABD-B61F-EE92C0AB5523}"/>
              </a:ext>
            </a:extLst>
          </p:cNvPr>
          <p:cNvSpPr txBox="1"/>
          <p:nvPr/>
        </p:nvSpPr>
        <p:spPr>
          <a:xfrm>
            <a:off x="10455891" y="1587624"/>
            <a:ext cx="58509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stride</a:t>
            </a:r>
          </a:p>
        </p:txBody>
      </p:sp>
      <p:sp>
        <p:nvSpPr>
          <p:cNvPr id="850" name="cfg-tag-C8-76">
            <a:extLst>
              <a:ext uri="{FF2B5EF4-FFF2-40B4-BE49-F238E27FC236}">
                <a16:creationId xmlns:a16="http://schemas.microsoft.com/office/drawing/2014/main" id="{1BC77144-E2BE-46C1-BF82-522BD58EED78}"/>
              </a:ext>
            </a:extLst>
          </p:cNvPr>
          <p:cNvSpPr/>
          <p:nvPr/>
        </p:nvSpPr>
        <p:spPr>
          <a:xfrm>
            <a:off x="10909307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1" name="object-078: C8">
            <a:extLst>
              <a:ext uri="{FF2B5EF4-FFF2-40B4-BE49-F238E27FC236}">
                <a16:creationId xmlns:a16="http://schemas.microsoft.com/office/drawing/2014/main" id="{2697A429-7A0F-44DF-B369-4C3F2764AFA0}"/>
              </a:ext>
            </a:extLst>
          </p:cNvPr>
          <p:cNvSpPr txBox="1"/>
          <p:nvPr/>
        </p:nvSpPr>
        <p:spPr>
          <a:xfrm>
            <a:off x="10939200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cxnSp>
        <p:nvCxnSpPr>
          <p:cNvPr id="852" name="lvds-cdc">
            <a:extLst>
              <a:ext uri="{FF2B5EF4-FFF2-40B4-BE49-F238E27FC236}">
                <a16:creationId xmlns:a16="http://schemas.microsoft.com/office/drawing/2014/main" id="{FADC3912-8F6A-41A4-A1AC-0683D6FEF878}"/>
              </a:ext>
            </a:extLst>
          </p:cNvPr>
          <p:cNvCxnSpPr/>
          <p:nvPr/>
        </p:nvCxnSpPr>
        <p:spPr>
          <a:xfrm>
            <a:off x="8250773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3" name="cdc-isp">
            <a:extLst>
              <a:ext uri="{FF2B5EF4-FFF2-40B4-BE49-F238E27FC236}">
                <a16:creationId xmlns:a16="http://schemas.microsoft.com/office/drawing/2014/main" id="{C8D68A84-0EDF-4C1B-97C7-070523D68F58}"/>
              </a:ext>
            </a:extLst>
          </p:cNvPr>
          <p:cNvCxnSpPr/>
          <p:nvPr/>
        </p:nvCxnSpPr>
        <p:spPr>
          <a:xfrm>
            <a:off x="8894240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4" name="isp-select">
            <a:extLst>
              <a:ext uri="{FF2B5EF4-FFF2-40B4-BE49-F238E27FC236}">
                <a16:creationId xmlns:a16="http://schemas.microsoft.com/office/drawing/2014/main" id="{B9CB8D76-C114-4215-8002-C59B41C900E6}"/>
              </a:ext>
            </a:extLst>
          </p:cNvPr>
          <p:cNvCxnSpPr/>
          <p:nvPr/>
        </p:nvCxnSpPr>
        <p:spPr>
          <a:xfrm>
            <a:off x="9554640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5" name="select-dma">
            <a:extLst>
              <a:ext uri="{FF2B5EF4-FFF2-40B4-BE49-F238E27FC236}">
                <a16:creationId xmlns:a16="http://schemas.microsoft.com/office/drawing/2014/main" id="{A4DF7387-49AD-4C18-8C33-962709E305CB}"/>
              </a:ext>
            </a:extLst>
          </p:cNvPr>
          <p:cNvCxnSpPr/>
          <p:nvPr/>
        </p:nvCxnSpPr>
        <p:spPr>
          <a:xfrm>
            <a:off x="10265840" y="1619149"/>
            <a:ext cx="118533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sp>
        <p:nvSpPr>
          <p:cNvPr id="856" name="raw-bypass">
            <a:extLst>
              <a:ext uri="{FF2B5EF4-FFF2-40B4-BE49-F238E27FC236}">
                <a16:creationId xmlns:a16="http://schemas.microsoft.com/office/drawing/2014/main" id="{E31970F6-2698-453E-AFEC-330A77E21146}"/>
              </a:ext>
            </a:extLst>
          </p:cNvPr>
          <p:cNvSpPr/>
          <p:nvPr/>
        </p:nvSpPr>
        <p:spPr>
          <a:xfrm>
            <a:off x="8945040" y="1161949"/>
            <a:ext cx="1016000" cy="457200"/>
          </a:xfrm>
          <a:custGeom>
            <a:avLst/>
            <a:gdLst/>
            <a:ahLst/>
            <a:cxnLst/>
            <a:rect l="0" t="0" r="r" b="b"/>
            <a:pathLst>
              <a:path w="2438400" h="1097280" fill="none">
                <a:moveTo>
                  <a:pt x="0" y="1097280"/>
                </a:moveTo>
                <a:lnTo>
                  <a:pt x="0" y="0"/>
                </a:lnTo>
                <a:lnTo>
                  <a:pt x="2438400" y="0"/>
                </a:lnTo>
                <a:lnTo>
                  <a:pt x="2438400" y="365760"/>
                </a:lnTo>
              </a:path>
            </a:pathLst>
          </a:custGeom>
          <a:noFill/>
          <a:ln w="24384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7" name="raw-tap">
            <a:extLst>
              <a:ext uri="{FF2B5EF4-FFF2-40B4-BE49-F238E27FC236}">
                <a16:creationId xmlns:a16="http://schemas.microsoft.com/office/drawing/2014/main" id="{6B999DDA-62FA-4A7E-BBF9-40D1A20AF99E}"/>
              </a:ext>
            </a:extLst>
          </p:cNvPr>
          <p:cNvSpPr/>
          <p:nvPr/>
        </p:nvSpPr>
        <p:spPr>
          <a:xfrm>
            <a:off x="8929800" y="1603909"/>
            <a:ext cx="30480" cy="30480"/>
          </a:xfrm>
          <a:prstGeom prst="ellipse">
            <a:avLst/>
          </a:prstGeom>
          <a:solidFill>
            <a:srgbClr val="B9604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8" name="object-085: RAW 旁路">
            <a:extLst>
              <a:ext uri="{FF2B5EF4-FFF2-40B4-BE49-F238E27FC236}">
                <a16:creationId xmlns:a16="http://schemas.microsoft.com/office/drawing/2014/main" id="{72B9973C-FC5E-456A-8F68-248CF7856BB7}"/>
              </a:ext>
            </a:extLst>
          </p:cNvPr>
          <p:cNvSpPr txBox="1"/>
          <p:nvPr/>
        </p:nvSpPr>
        <p:spPr>
          <a:xfrm>
            <a:off x="9293846" y="1037184"/>
            <a:ext cx="41998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RAW 旁路</a:t>
            </a:r>
          </a:p>
        </p:txBody>
      </p:sp>
      <p:sp>
        <p:nvSpPr>
          <p:cNvPr id="859" name="object-086: RAW / ISP 二选一 · 帧打包">
            <a:extLst>
              <a:ext uri="{FF2B5EF4-FFF2-40B4-BE49-F238E27FC236}">
                <a16:creationId xmlns:a16="http://schemas.microsoft.com/office/drawing/2014/main" id="{33365FA1-2E05-4350-9729-DDEC1D772F4C}"/>
              </a:ext>
            </a:extLst>
          </p:cNvPr>
          <p:cNvSpPr txBox="1"/>
          <p:nvPr/>
        </p:nvSpPr>
        <p:spPr>
          <a:xfrm>
            <a:off x="9438563" y="2029207"/>
            <a:ext cx="107882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RAW / ISP </a:t>
            </a:r>
            <a:r>
              <a:rPr sz="7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二选一</a:t>
            </a:r>
            <a:r>
              <a:rPr sz="7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 · </a:t>
            </a:r>
            <a:r>
              <a:rPr sz="7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帧打包</a:t>
            </a:r>
            <a:endParaRPr sz="7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0" name="isp-gb">
            <a:extLst>
              <a:ext uri="{FF2B5EF4-FFF2-40B4-BE49-F238E27FC236}">
                <a16:creationId xmlns:a16="http://schemas.microsoft.com/office/drawing/2014/main" id="{3F1E7E01-A7B9-4139-9377-4BE9A2B8B519}"/>
              </a:ext>
            </a:extLst>
          </p:cNvPr>
          <p:cNvSpPr/>
          <p:nvPr/>
        </p:nvSpPr>
        <p:spPr>
          <a:xfrm>
            <a:off x="4789600" y="1839283"/>
            <a:ext cx="4206240" cy="585893"/>
          </a:xfrm>
          <a:custGeom>
            <a:avLst/>
            <a:gdLst/>
            <a:ahLst/>
            <a:cxnLst/>
            <a:rect l="0" t="0" r="r" b="b"/>
            <a:pathLst>
              <a:path w="10094976" h="1406144" fill="none">
                <a:moveTo>
                  <a:pt x="10094976" y="0"/>
                </a:moveTo>
                <a:lnTo>
                  <a:pt x="9973056" y="0"/>
                </a:lnTo>
                <a:lnTo>
                  <a:pt x="9973056" y="1113536"/>
                </a:lnTo>
                <a:cubicBezTo>
                  <a:pt x="9777984" y="1113536"/>
                  <a:pt x="9777984" y="1324864"/>
                  <a:pt x="9973056" y="1324864"/>
                </a:cubicBezTo>
                <a:lnTo>
                  <a:pt x="9973056" y="1406144"/>
                </a:lnTo>
                <a:lnTo>
                  <a:pt x="178816" y="1406144"/>
                </a:lnTo>
                <a:lnTo>
                  <a:pt x="178816" y="1048512"/>
                </a:lnTo>
                <a:cubicBezTo>
                  <a:pt x="0" y="1048512"/>
                  <a:pt x="0" y="837184"/>
                  <a:pt x="178816" y="837184"/>
                </a:cubicBezTo>
                <a:lnTo>
                  <a:pt x="178816" y="772160"/>
                </a:lnTo>
              </a:path>
            </a:pathLst>
          </a:custGeom>
          <a:noFill/>
          <a:ln w="25197" cap="flat">
            <a:solidFill>
              <a:srgbClr val="187C78"/>
            </a:solidFill>
            <a:custDash>
              <a:ds d="322581" sp="193548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1" name="object-088: ISP 中间数据 ↔ GB">
            <a:extLst>
              <a:ext uri="{FF2B5EF4-FFF2-40B4-BE49-F238E27FC236}">
                <a16:creationId xmlns:a16="http://schemas.microsoft.com/office/drawing/2014/main" id="{C863B04F-CF8F-4E7E-B05F-17A7C6830FA7}"/>
              </a:ext>
            </a:extLst>
          </p:cNvPr>
          <p:cNvSpPr txBox="1"/>
          <p:nvPr/>
        </p:nvSpPr>
        <p:spPr>
          <a:xfrm>
            <a:off x="8092263" y="2152994"/>
            <a:ext cx="81913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ISP </a:t>
            </a:r>
            <a:r>
              <a:rPr sz="7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中间数据</a:t>
            </a:r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 ↔ GB</a:t>
            </a:r>
          </a:p>
        </p:txBody>
      </p:sp>
      <p:sp>
        <p:nvSpPr>
          <p:cNvPr id="862" name="debug-sba">
            <a:extLst>
              <a:ext uri="{FF2B5EF4-FFF2-40B4-BE49-F238E27FC236}">
                <a16:creationId xmlns:a16="http://schemas.microsoft.com/office/drawing/2014/main" id="{1596E9AB-5246-4524-A9F6-2A23D87B0F25}"/>
              </a:ext>
            </a:extLst>
          </p:cNvPr>
          <p:cNvSpPr/>
          <p:nvPr/>
        </p:nvSpPr>
        <p:spPr>
          <a:xfrm>
            <a:off x="1341973" y="2508922"/>
            <a:ext cx="8636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3" name="object-090: Debug / SBA">
            <a:extLst>
              <a:ext uri="{FF2B5EF4-FFF2-40B4-BE49-F238E27FC236}">
                <a16:creationId xmlns:a16="http://schemas.microsoft.com/office/drawing/2014/main" id="{76CF0374-0CD8-4165-8BEC-7B69F47D7596}"/>
              </a:ext>
            </a:extLst>
          </p:cNvPr>
          <p:cNvSpPr txBox="1"/>
          <p:nvPr/>
        </p:nvSpPr>
        <p:spPr>
          <a:xfrm>
            <a:off x="1441952" y="2535474"/>
            <a:ext cx="66364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/ SBA</a:t>
            </a:r>
          </a:p>
        </p:txBody>
      </p:sp>
      <p:sp>
        <p:nvSpPr>
          <p:cNvPr id="864" name="object-091: JTAG 总线访问">
            <a:extLst>
              <a:ext uri="{FF2B5EF4-FFF2-40B4-BE49-F238E27FC236}">
                <a16:creationId xmlns:a16="http://schemas.microsoft.com/office/drawing/2014/main" id="{71B37969-8767-42AE-B670-5DBB47120046}"/>
              </a:ext>
            </a:extLst>
          </p:cNvPr>
          <p:cNvSpPr txBox="1"/>
          <p:nvPr/>
        </p:nvSpPr>
        <p:spPr>
          <a:xfrm>
            <a:off x="1429128" y="2664709"/>
            <a:ext cx="68929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JTAG 总线访问</a:t>
            </a:r>
          </a:p>
        </p:txBody>
      </p:sp>
      <p:sp>
        <p:nvSpPr>
          <p:cNvPr id="865" name="idma-master">
            <a:extLst>
              <a:ext uri="{FF2B5EF4-FFF2-40B4-BE49-F238E27FC236}">
                <a16:creationId xmlns:a16="http://schemas.microsoft.com/office/drawing/2014/main" id="{D060EB5F-64EB-4075-A7B4-E3F6B610531A}"/>
              </a:ext>
            </a:extLst>
          </p:cNvPr>
          <p:cNvSpPr/>
          <p:nvPr/>
        </p:nvSpPr>
        <p:spPr>
          <a:xfrm>
            <a:off x="3814240" y="2508922"/>
            <a:ext cx="931333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6" name="object-093: iDMA 数据主口">
            <a:extLst>
              <a:ext uri="{FF2B5EF4-FFF2-40B4-BE49-F238E27FC236}">
                <a16:creationId xmlns:a16="http://schemas.microsoft.com/office/drawing/2014/main" id="{E6FB1EA0-D2F4-4D31-BB6F-D110A206E95D}"/>
              </a:ext>
            </a:extLst>
          </p:cNvPr>
          <p:cNvSpPr txBox="1"/>
          <p:nvPr/>
        </p:nvSpPr>
        <p:spPr>
          <a:xfrm>
            <a:off x="3912017" y="2535474"/>
            <a:ext cx="73577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</a:t>
            </a:r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数据主口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7" name="object-094: 内存 ↔ 内存">
            <a:extLst>
              <a:ext uri="{FF2B5EF4-FFF2-40B4-BE49-F238E27FC236}">
                <a16:creationId xmlns:a16="http://schemas.microsoft.com/office/drawing/2014/main" id="{C5EAB3A8-AD19-41BD-AC1F-1AE648CAF936}"/>
              </a:ext>
            </a:extLst>
          </p:cNvPr>
          <p:cNvSpPr txBox="1"/>
          <p:nvPr/>
        </p:nvSpPr>
        <p:spPr>
          <a:xfrm>
            <a:off x="3973732" y="2664709"/>
            <a:ext cx="61234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↔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8" name="slink-rx">
            <a:extLst>
              <a:ext uri="{FF2B5EF4-FFF2-40B4-BE49-F238E27FC236}">
                <a16:creationId xmlns:a16="http://schemas.microsoft.com/office/drawing/2014/main" id="{A4231CCA-B895-4849-AB55-04416D5EBB9F}"/>
              </a:ext>
            </a:extLst>
          </p:cNvPr>
          <p:cNvSpPr/>
          <p:nvPr/>
        </p:nvSpPr>
        <p:spPr>
          <a:xfrm>
            <a:off x="4965706" y="2508922"/>
            <a:ext cx="9652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9" name="object-096: Serial Link RX">
            <a:extLst>
              <a:ext uri="{FF2B5EF4-FFF2-40B4-BE49-F238E27FC236}">
                <a16:creationId xmlns:a16="http://schemas.microsoft.com/office/drawing/2014/main" id="{365954D2-D846-4F1C-BDFB-76D16D4FFB61}"/>
              </a:ext>
            </a:extLst>
          </p:cNvPr>
          <p:cNvSpPr txBox="1"/>
          <p:nvPr/>
        </p:nvSpPr>
        <p:spPr>
          <a:xfrm>
            <a:off x="5096447" y="2535474"/>
            <a:ext cx="70371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RX</a:t>
            </a:r>
          </a:p>
        </p:txBody>
      </p:sp>
      <p:sp>
        <p:nvSpPr>
          <p:cNvPr id="870" name="object-097: 远端请求入口">
            <a:extLst>
              <a:ext uri="{FF2B5EF4-FFF2-40B4-BE49-F238E27FC236}">
                <a16:creationId xmlns:a16="http://schemas.microsoft.com/office/drawing/2014/main" id="{217A0520-5917-422D-9C30-2EB747C9B74F}"/>
              </a:ext>
            </a:extLst>
          </p:cNvPr>
          <p:cNvSpPr txBox="1"/>
          <p:nvPr/>
        </p:nvSpPr>
        <p:spPr>
          <a:xfrm>
            <a:off x="5140530" y="2664709"/>
            <a:ext cx="61555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远端请求入口</a:t>
            </a:r>
          </a:p>
        </p:txBody>
      </p:sp>
      <p:sp>
        <p:nvSpPr>
          <p:cNvPr id="871" name="vga-master">
            <a:extLst>
              <a:ext uri="{FF2B5EF4-FFF2-40B4-BE49-F238E27FC236}">
                <a16:creationId xmlns:a16="http://schemas.microsoft.com/office/drawing/2014/main" id="{B2224093-8A15-455D-B781-59CA21A6C635}"/>
              </a:ext>
            </a:extLst>
          </p:cNvPr>
          <p:cNvSpPr/>
          <p:nvPr/>
        </p:nvSpPr>
        <p:spPr>
          <a:xfrm>
            <a:off x="6151040" y="2508922"/>
            <a:ext cx="8636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2" name="object-099: VGA">
            <a:extLst>
              <a:ext uri="{FF2B5EF4-FFF2-40B4-BE49-F238E27FC236}">
                <a16:creationId xmlns:a16="http://schemas.microsoft.com/office/drawing/2014/main" id="{25BE3015-0005-4226-9C84-4545B442FD9B}"/>
              </a:ext>
            </a:extLst>
          </p:cNvPr>
          <p:cNvSpPr txBox="1"/>
          <p:nvPr/>
        </p:nvSpPr>
        <p:spPr>
          <a:xfrm>
            <a:off x="6468225" y="2535474"/>
            <a:ext cx="22923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</a:t>
            </a:r>
          </a:p>
        </p:txBody>
      </p:sp>
      <p:sp>
        <p:nvSpPr>
          <p:cNvPr id="873" name="object-100: 帧缓冲读取">
            <a:extLst>
              <a:ext uri="{FF2B5EF4-FFF2-40B4-BE49-F238E27FC236}">
                <a16:creationId xmlns:a16="http://schemas.microsoft.com/office/drawing/2014/main" id="{FD70D967-D2C8-496B-BE8F-B24F3DD6FBA0}"/>
              </a:ext>
            </a:extLst>
          </p:cNvPr>
          <p:cNvSpPr txBox="1"/>
          <p:nvPr/>
        </p:nvSpPr>
        <p:spPr>
          <a:xfrm>
            <a:off x="6326360" y="2664709"/>
            <a:ext cx="51296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帧缓冲读取</a:t>
            </a:r>
          </a:p>
        </p:txBody>
      </p:sp>
      <p:sp>
        <p:nvSpPr>
          <p:cNvPr id="874" name="usb-master">
            <a:extLst>
              <a:ext uri="{FF2B5EF4-FFF2-40B4-BE49-F238E27FC236}">
                <a16:creationId xmlns:a16="http://schemas.microsoft.com/office/drawing/2014/main" id="{31F02D86-354D-48BC-8FB3-AC8A1F1E3AF0}"/>
              </a:ext>
            </a:extLst>
          </p:cNvPr>
          <p:cNvSpPr/>
          <p:nvPr/>
        </p:nvSpPr>
        <p:spPr>
          <a:xfrm>
            <a:off x="7234773" y="2508922"/>
            <a:ext cx="846667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5" name="object-102: USB DMA">
            <a:extLst>
              <a:ext uri="{FF2B5EF4-FFF2-40B4-BE49-F238E27FC236}">
                <a16:creationId xmlns:a16="http://schemas.microsoft.com/office/drawing/2014/main" id="{1870D71B-ADC3-4D4F-BC58-D7D3E47D4E76}"/>
              </a:ext>
            </a:extLst>
          </p:cNvPr>
          <p:cNvSpPr txBox="1"/>
          <p:nvPr/>
        </p:nvSpPr>
        <p:spPr>
          <a:xfrm>
            <a:off x="7404031" y="2535474"/>
            <a:ext cx="50815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DMA</a:t>
            </a:r>
          </a:p>
        </p:txBody>
      </p:sp>
      <p:sp>
        <p:nvSpPr>
          <p:cNvPr id="876" name="object-103: OHCI 主口">
            <a:extLst>
              <a:ext uri="{FF2B5EF4-FFF2-40B4-BE49-F238E27FC236}">
                <a16:creationId xmlns:a16="http://schemas.microsoft.com/office/drawing/2014/main" id="{191E51EC-6998-4A14-9357-54E80C396DC6}"/>
              </a:ext>
            </a:extLst>
          </p:cNvPr>
          <p:cNvSpPr txBox="1"/>
          <p:nvPr/>
        </p:nvSpPr>
        <p:spPr>
          <a:xfrm>
            <a:off x="7408840" y="2664709"/>
            <a:ext cx="4985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OHCI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主口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77" name="ext-master">
            <a:extLst>
              <a:ext uri="{FF2B5EF4-FFF2-40B4-BE49-F238E27FC236}">
                <a16:creationId xmlns:a16="http://schemas.microsoft.com/office/drawing/2014/main" id="{D41F2F3F-DB15-4EE3-B2D0-6286EE3AE509}"/>
              </a:ext>
            </a:extLst>
          </p:cNvPr>
          <p:cNvSpPr/>
          <p:nvPr/>
        </p:nvSpPr>
        <p:spPr>
          <a:xfrm>
            <a:off x="8318506" y="2508922"/>
            <a:ext cx="1253067" cy="338667"/>
          </a:xfrm>
          <a:prstGeom prst="rect">
            <a:avLst/>
          </a:prstGeom>
          <a:solidFill>
            <a:srgbClr val="F5F5F7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8" name="object-105: AXI 外部 master">
            <a:extLst>
              <a:ext uri="{FF2B5EF4-FFF2-40B4-BE49-F238E27FC236}">
                <a16:creationId xmlns:a16="http://schemas.microsoft.com/office/drawing/2014/main" id="{A36E69F6-7BBB-41B0-9F39-C22405688F34}"/>
              </a:ext>
            </a:extLst>
          </p:cNvPr>
          <p:cNvSpPr txBox="1"/>
          <p:nvPr/>
        </p:nvSpPr>
        <p:spPr>
          <a:xfrm>
            <a:off x="8541885" y="2535474"/>
            <a:ext cx="80631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master</a:t>
            </a:r>
          </a:p>
        </p:txBody>
      </p:sp>
      <p:sp>
        <p:nvSpPr>
          <p:cNvPr id="879" name="object-106: 可选扩展入口">
            <a:extLst>
              <a:ext uri="{FF2B5EF4-FFF2-40B4-BE49-F238E27FC236}">
                <a16:creationId xmlns:a16="http://schemas.microsoft.com/office/drawing/2014/main" id="{F71D184D-3485-4A10-B629-6B91027A5CF1}"/>
              </a:ext>
            </a:extLst>
          </p:cNvPr>
          <p:cNvSpPr txBox="1"/>
          <p:nvPr/>
        </p:nvSpPr>
        <p:spPr>
          <a:xfrm>
            <a:off x="8637264" y="2664709"/>
            <a:ext cx="61555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可选扩展入口</a:t>
            </a:r>
          </a:p>
        </p:txBody>
      </p:sp>
      <p:cxnSp>
        <p:nvCxnSpPr>
          <p:cNvPr id="880" name="cpu-master">
            <a:extLst>
              <a:ext uri="{FF2B5EF4-FFF2-40B4-BE49-F238E27FC236}">
                <a16:creationId xmlns:a16="http://schemas.microsoft.com/office/drawing/2014/main" id="{FF4EEB96-E348-415C-B377-A5ADD617D4D2}"/>
              </a:ext>
            </a:extLst>
          </p:cNvPr>
          <p:cNvCxnSpPr>
            <a:cxnSpLocks/>
            <a:endCxn id="889" idx="0"/>
          </p:cNvCxnSpPr>
          <p:nvPr/>
        </p:nvCxnSpPr>
        <p:spPr>
          <a:xfrm>
            <a:off x="749306" y="1839283"/>
            <a:ext cx="0" cy="1134533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881" name="ara-master">
            <a:extLst>
              <a:ext uri="{FF2B5EF4-FFF2-40B4-BE49-F238E27FC236}">
                <a16:creationId xmlns:a16="http://schemas.microsoft.com/office/drawing/2014/main" id="{DB1A5D2C-422A-4770-9E00-CD067600FA1E}"/>
              </a:ext>
            </a:extLst>
          </p:cNvPr>
          <p:cNvCxnSpPr>
            <a:cxnSpLocks/>
          </p:cNvCxnSpPr>
          <p:nvPr/>
        </p:nvCxnSpPr>
        <p:spPr>
          <a:xfrm>
            <a:off x="3052240" y="1978136"/>
            <a:ext cx="0" cy="995680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82" name="object-109: CPU AXI">
            <a:extLst>
              <a:ext uri="{FF2B5EF4-FFF2-40B4-BE49-F238E27FC236}">
                <a16:creationId xmlns:a16="http://schemas.microsoft.com/office/drawing/2014/main" id="{2EE32942-FF5A-4F6E-886B-B3990919F08A}"/>
              </a:ext>
            </a:extLst>
          </p:cNvPr>
          <p:cNvSpPr txBox="1"/>
          <p:nvPr/>
        </p:nvSpPr>
        <p:spPr>
          <a:xfrm>
            <a:off x="267636" y="2713042"/>
            <a:ext cx="4071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CPU AXI</a:t>
            </a:r>
          </a:p>
        </p:txBody>
      </p:sp>
      <p:sp>
        <p:nvSpPr>
          <p:cNvPr id="883" name="object-110: Ara 普通地址">
            <a:extLst>
              <a:ext uri="{FF2B5EF4-FFF2-40B4-BE49-F238E27FC236}">
                <a16:creationId xmlns:a16="http://schemas.microsoft.com/office/drawing/2014/main" id="{245061BD-FC91-47D9-88A0-2FD1347A1C20}"/>
              </a:ext>
            </a:extLst>
          </p:cNvPr>
          <p:cNvSpPr txBox="1"/>
          <p:nvPr/>
        </p:nvSpPr>
        <p:spPr>
          <a:xfrm>
            <a:off x="2376967" y="2671482"/>
            <a:ext cx="6075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Ara 普通地址</a:t>
            </a:r>
          </a:p>
        </p:txBody>
      </p:sp>
      <p:sp>
        <p:nvSpPr>
          <p:cNvPr id="884" name="axi-crossbar">
            <a:extLst>
              <a:ext uri="{FF2B5EF4-FFF2-40B4-BE49-F238E27FC236}">
                <a16:creationId xmlns:a16="http://schemas.microsoft.com/office/drawing/2014/main" id="{30D056BC-A9A4-4B51-9CC0-7274C949CB73}"/>
              </a:ext>
            </a:extLst>
          </p:cNvPr>
          <p:cNvSpPr/>
          <p:nvPr/>
        </p:nvSpPr>
        <p:spPr>
          <a:xfrm>
            <a:off x="241306" y="3024616"/>
            <a:ext cx="9584267" cy="457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85" name="object-112: AXI Crossbar">
            <a:extLst>
              <a:ext uri="{FF2B5EF4-FFF2-40B4-BE49-F238E27FC236}">
                <a16:creationId xmlns:a16="http://schemas.microsoft.com/office/drawing/2014/main" id="{AB49511B-F383-45E4-AB81-15319A3F9D0A}"/>
              </a:ext>
            </a:extLst>
          </p:cNvPr>
          <p:cNvSpPr txBox="1"/>
          <p:nvPr/>
        </p:nvSpPr>
        <p:spPr>
          <a:xfrm>
            <a:off x="4575782" y="3089976"/>
            <a:ext cx="915315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Crossbar</a:t>
            </a:r>
          </a:p>
        </p:txBody>
      </p:sp>
      <p:sp>
        <p:nvSpPr>
          <p:cNvPr id="886" name="object-113: 7 × 5 基础端口 + 扩展  |  64 bit 数据 / 48 bit 地">
            <a:extLst>
              <a:ext uri="{FF2B5EF4-FFF2-40B4-BE49-F238E27FC236}">
                <a16:creationId xmlns:a16="http://schemas.microsoft.com/office/drawing/2014/main" id="{FBE91108-953C-4CEE-B85B-DAEFE394EDAF}"/>
              </a:ext>
            </a:extLst>
          </p:cNvPr>
          <p:cNvSpPr txBox="1"/>
          <p:nvPr/>
        </p:nvSpPr>
        <p:spPr>
          <a:xfrm>
            <a:off x="3278954" y="3272993"/>
            <a:ext cx="350897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7 × 5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基础端口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+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扩展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 |  64 bit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48 bit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 | 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地址译码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各目标仲裁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7" name="object-114: 输入侧 AXI RT：按配置可选">
            <a:extLst>
              <a:ext uri="{FF2B5EF4-FFF2-40B4-BE49-F238E27FC236}">
                <a16:creationId xmlns:a16="http://schemas.microsoft.com/office/drawing/2014/main" id="{65CC9354-9373-44A2-AA26-F79E5709F129}"/>
              </a:ext>
            </a:extLst>
          </p:cNvPr>
          <p:cNvSpPr txBox="1"/>
          <p:nvPr/>
        </p:nvSpPr>
        <p:spPr>
          <a:xfrm>
            <a:off x="317441" y="3328279"/>
            <a:ext cx="958596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输入侧</a:t>
            </a:r>
            <a:r>
              <a:rPr sz="6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 AXI </a:t>
            </a:r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RT：按配置可选</a:t>
            </a:r>
            <a:endParaRPr sz="6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8" name="object-115: 未映射请求：DECERR">
            <a:extLst>
              <a:ext uri="{FF2B5EF4-FFF2-40B4-BE49-F238E27FC236}">
                <a16:creationId xmlns:a16="http://schemas.microsoft.com/office/drawing/2014/main" id="{439D34EE-5A46-40DF-B869-C096662E2F18}"/>
              </a:ext>
            </a:extLst>
          </p:cNvPr>
          <p:cNvSpPr txBox="1"/>
          <p:nvPr/>
        </p:nvSpPr>
        <p:spPr>
          <a:xfrm>
            <a:off x="8896251" y="3314636"/>
            <a:ext cx="755015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未映射请求：DECERR</a:t>
            </a:r>
            <a:endParaRPr sz="6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9" name="master-port-0">
            <a:extLst>
              <a:ext uri="{FF2B5EF4-FFF2-40B4-BE49-F238E27FC236}">
                <a16:creationId xmlns:a16="http://schemas.microsoft.com/office/drawing/2014/main" id="{0F326333-1538-41CD-932C-C2F8487F53DD}"/>
              </a:ext>
            </a:extLst>
          </p:cNvPr>
          <p:cNvSpPr/>
          <p:nvPr/>
        </p:nvSpPr>
        <p:spPr>
          <a:xfrm>
            <a:off x="58674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0" name="object-117: S0">
            <a:extLst>
              <a:ext uri="{FF2B5EF4-FFF2-40B4-BE49-F238E27FC236}">
                <a16:creationId xmlns:a16="http://schemas.microsoft.com/office/drawing/2014/main" id="{78E2AFC9-AAF7-46E1-9DFE-58FE70D5E1E2}"/>
              </a:ext>
            </a:extLst>
          </p:cNvPr>
          <p:cNvSpPr txBox="1"/>
          <p:nvPr/>
        </p:nvSpPr>
        <p:spPr>
          <a:xfrm>
            <a:off x="70201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cxnSp>
        <p:nvCxnSpPr>
          <p:cNvPr id="891" name="master-input-1">
            <a:extLst>
              <a:ext uri="{FF2B5EF4-FFF2-40B4-BE49-F238E27FC236}">
                <a16:creationId xmlns:a16="http://schemas.microsoft.com/office/drawing/2014/main" id="{ECA3108C-246D-415A-B588-68B49F8AC203}"/>
              </a:ext>
            </a:extLst>
          </p:cNvPr>
          <p:cNvCxnSpPr>
            <a:cxnSpLocks/>
            <a:stCxn id="862" idx="2"/>
            <a:endCxn id="892" idx="0"/>
          </p:cNvCxnSpPr>
          <p:nvPr/>
        </p:nvCxnSpPr>
        <p:spPr>
          <a:xfrm flipH="1">
            <a:off x="1772080" y="2847589"/>
            <a:ext cx="1693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92" name="master-port-1">
            <a:extLst>
              <a:ext uri="{FF2B5EF4-FFF2-40B4-BE49-F238E27FC236}">
                <a16:creationId xmlns:a16="http://schemas.microsoft.com/office/drawing/2014/main" id="{4553B0C7-9421-4373-B12A-C9174C677111}"/>
              </a:ext>
            </a:extLst>
          </p:cNvPr>
          <p:cNvSpPr/>
          <p:nvPr/>
        </p:nvSpPr>
        <p:spPr>
          <a:xfrm>
            <a:off x="160952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3" name="object-120: S1">
            <a:extLst>
              <a:ext uri="{FF2B5EF4-FFF2-40B4-BE49-F238E27FC236}">
                <a16:creationId xmlns:a16="http://schemas.microsoft.com/office/drawing/2014/main" id="{3F43181B-DE1D-484D-B55A-742D23FD99AE}"/>
              </a:ext>
            </a:extLst>
          </p:cNvPr>
          <p:cNvSpPr txBox="1"/>
          <p:nvPr/>
        </p:nvSpPr>
        <p:spPr>
          <a:xfrm>
            <a:off x="1724792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894" name="master-port-2">
            <a:extLst>
              <a:ext uri="{FF2B5EF4-FFF2-40B4-BE49-F238E27FC236}">
                <a16:creationId xmlns:a16="http://schemas.microsoft.com/office/drawing/2014/main" id="{602474F8-334C-4058-878B-BB667B6B2687}"/>
              </a:ext>
            </a:extLst>
          </p:cNvPr>
          <p:cNvSpPr/>
          <p:nvPr/>
        </p:nvSpPr>
        <p:spPr>
          <a:xfrm>
            <a:off x="288968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5" name="object-122: S2">
            <a:extLst>
              <a:ext uri="{FF2B5EF4-FFF2-40B4-BE49-F238E27FC236}">
                <a16:creationId xmlns:a16="http://schemas.microsoft.com/office/drawing/2014/main" id="{6EABCA1F-85F6-4ABE-BF62-5018DF89476E}"/>
              </a:ext>
            </a:extLst>
          </p:cNvPr>
          <p:cNvSpPr txBox="1"/>
          <p:nvPr/>
        </p:nvSpPr>
        <p:spPr>
          <a:xfrm>
            <a:off x="3004952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cxnSp>
        <p:nvCxnSpPr>
          <p:cNvPr id="896" name="master-input-3">
            <a:extLst>
              <a:ext uri="{FF2B5EF4-FFF2-40B4-BE49-F238E27FC236}">
                <a16:creationId xmlns:a16="http://schemas.microsoft.com/office/drawing/2014/main" id="{41BDE088-AF36-4BF2-8B7A-C3BCBB0DD0E1}"/>
              </a:ext>
            </a:extLst>
          </p:cNvPr>
          <p:cNvCxnSpPr>
            <a:cxnSpLocks/>
            <a:stCxn id="865" idx="2"/>
            <a:endCxn id="898" idx="0"/>
          </p:cNvCxnSpPr>
          <p:nvPr/>
        </p:nvCxnSpPr>
        <p:spPr>
          <a:xfrm flipH="1">
            <a:off x="4278214" y="2847589"/>
            <a:ext cx="1693" cy="127581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97" name="master-port-3">
            <a:extLst>
              <a:ext uri="{FF2B5EF4-FFF2-40B4-BE49-F238E27FC236}">
                <a16:creationId xmlns:a16="http://schemas.microsoft.com/office/drawing/2014/main" id="{C18A6326-AF43-41B2-B23E-331005ADBDC7}"/>
              </a:ext>
            </a:extLst>
          </p:cNvPr>
          <p:cNvSpPr/>
          <p:nvPr/>
        </p:nvSpPr>
        <p:spPr>
          <a:xfrm>
            <a:off x="4115653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8" name="object-125: S3">
            <a:extLst>
              <a:ext uri="{FF2B5EF4-FFF2-40B4-BE49-F238E27FC236}">
                <a16:creationId xmlns:a16="http://schemas.microsoft.com/office/drawing/2014/main" id="{6FAAD788-A730-403A-9234-9AEE68214ED7}"/>
              </a:ext>
            </a:extLst>
          </p:cNvPr>
          <p:cNvSpPr txBox="1"/>
          <p:nvPr/>
        </p:nvSpPr>
        <p:spPr>
          <a:xfrm>
            <a:off x="4230925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S3</a:t>
            </a:r>
          </a:p>
        </p:txBody>
      </p:sp>
      <p:cxnSp>
        <p:nvCxnSpPr>
          <p:cNvPr id="899" name="master-input-4">
            <a:extLst>
              <a:ext uri="{FF2B5EF4-FFF2-40B4-BE49-F238E27FC236}">
                <a16:creationId xmlns:a16="http://schemas.microsoft.com/office/drawing/2014/main" id="{63194A64-7997-47D4-9B67-6A3B8A83FBA5}"/>
              </a:ext>
            </a:extLst>
          </p:cNvPr>
          <p:cNvCxnSpPr>
            <a:cxnSpLocks/>
            <a:stCxn id="868" idx="2"/>
            <a:endCxn id="900" idx="0"/>
          </p:cNvCxnSpPr>
          <p:nvPr/>
        </p:nvCxnSpPr>
        <p:spPr>
          <a:xfrm flipH="1">
            <a:off x="5446613" y="2847589"/>
            <a:ext cx="1693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0" name="master-port-4">
            <a:extLst>
              <a:ext uri="{FF2B5EF4-FFF2-40B4-BE49-F238E27FC236}">
                <a16:creationId xmlns:a16="http://schemas.microsoft.com/office/drawing/2014/main" id="{DB92E762-D25D-4D20-BAFE-7089E116CA62}"/>
              </a:ext>
            </a:extLst>
          </p:cNvPr>
          <p:cNvSpPr/>
          <p:nvPr/>
        </p:nvSpPr>
        <p:spPr>
          <a:xfrm>
            <a:off x="5284053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1" name="object-128: S4">
            <a:extLst>
              <a:ext uri="{FF2B5EF4-FFF2-40B4-BE49-F238E27FC236}">
                <a16:creationId xmlns:a16="http://schemas.microsoft.com/office/drawing/2014/main" id="{DF1FF693-6631-4141-920A-04372833575E}"/>
              </a:ext>
            </a:extLst>
          </p:cNvPr>
          <p:cNvSpPr txBox="1"/>
          <p:nvPr/>
        </p:nvSpPr>
        <p:spPr>
          <a:xfrm>
            <a:off x="5399325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S4</a:t>
            </a:r>
          </a:p>
        </p:txBody>
      </p:sp>
      <p:cxnSp>
        <p:nvCxnSpPr>
          <p:cNvPr id="902" name="master-input-5">
            <a:extLst>
              <a:ext uri="{FF2B5EF4-FFF2-40B4-BE49-F238E27FC236}">
                <a16:creationId xmlns:a16="http://schemas.microsoft.com/office/drawing/2014/main" id="{8ADECD2D-C41B-4634-88FE-5A08E996B139}"/>
              </a:ext>
            </a:extLst>
          </p:cNvPr>
          <p:cNvCxnSpPr>
            <a:cxnSpLocks/>
            <a:stCxn id="871" idx="2"/>
            <a:endCxn id="904" idx="0"/>
          </p:cNvCxnSpPr>
          <p:nvPr/>
        </p:nvCxnSpPr>
        <p:spPr>
          <a:xfrm flipH="1">
            <a:off x="6581147" y="2847589"/>
            <a:ext cx="1693" cy="127581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3" name="master-port-5">
            <a:extLst>
              <a:ext uri="{FF2B5EF4-FFF2-40B4-BE49-F238E27FC236}">
                <a16:creationId xmlns:a16="http://schemas.microsoft.com/office/drawing/2014/main" id="{FE570239-49B0-4DE8-9C5D-20F4362D2680}"/>
              </a:ext>
            </a:extLst>
          </p:cNvPr>
          <p:cNvSpPr/>
          <p:nvPr/>
        </p:nvSpPr>
        <p:spPr>
          <a:xfrm>
            <a:off x="641858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4" name="object-131: S5">
            <a:extLst>
              <a:ext uri="{FF2B5EF4-FFF2-40B4-BE49-F238E27FC236}">
                <a16:creationId xmlns:a16="http://schemas.microsoft.com/office/drawing/2014/main" id="{C2B9F0FF-B46A-4399-9351-9076AE74ECA0}"/>
              </a:ext>
            </a:extLst>
          </p:cNvPr>
          <p:cNvSpPr txBox="1"/>
          <p:nvPr/>
        </p:nvSpPr>
        <p:spPr>
          <a:xfrm>
            <a:off x="653385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S5</a:t>
            </a:r>
          </a:p>
        </p:txBody>
      </p:sp>
      <p:cxnSp>
        <p:nvCxnSpPr>
          <p:cNvPr id="905" name="master-input-6">
            <a:extLst>
              <a:ext uri="{FF2B5EF4-FFF2-40B4-BE49-F238E27FC236}">
                <a16:creationId xmlns:a16="http://schemas.microsoft.com/office/drawing/2014/main" id="{4D4E99B8-184F-42BF-848F-3380EE686863}"/>
              </a:ext>
            </a:extLst>
          </p:cNvPr>
          <p:cNvCxnSpPr>
            <a:cxnSpLocks/>
            <a:stCxn id="874" idx="2"/>
            <a:endCxn id="906" idx="0"/>
          </p:cNvCxnSpPr>
          <p:nvPr/>
        </p:nvCxnSpPr>
        <p:spPr>
          <a:xfrm flipH="1">
            <a:off x="7658106" y="2847589"/>
            <a:ext cx="1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6" name="master-port-6">
            <a:extLst>
              <a:ext uri="{FF2B5EF4-FFF2-40B4-BE49-F238E27FC236}">
                <a16:creationId xmlns:a16="http://schemas.microsoft.com/office/drawing/2014/main" id="{03A533EB-AB9B-4BC9-9006-ACC3DD5559C6}"/>
              </a:ext>
            </a:extLst>
          </p:cNvPr>
          <p:cNvSpPr/>
          <p:nvPr/>
        </p:nvSpPr>
        <p:spPr>
          <a:xfrm>
            <a:off x="749554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7" name="object-134: S6">
            <a:extLst>
              <a:ext uri="{FF2B5EF4-FFF2-40B4-BE49-F238E27FC236}">
                <a16:creationId xmlns:a16="http://schemas.microsoft.com/office/drawing/2014/main" id="{8036A6ED-C505-4B1E-B4D3-FD1BDB6F4F22}"/>
              </a:ext>
            </a:extLst>
          </p:cNvPr>
          <p:cNvSpPr txBox="1"/>
          <p:nvPr/>
        </p:nvSpPr>
        <p:spPr>
          <a:xfrm>
            <a:off x="761081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S6</a:t>
            </a:r>
          </a:p>
        </p:txBody>
      </p:sp>
      <p:cxnSp>
        <p:nvCxnSpPr>
          <p:cNvPr id="908" name="master-input-7">
            <a:extLst>
              <a:ext uri="{FF2B5EF4-FFF2-40B4-BE49-F238E27FC236}">
                <a16:creationId xmlns:a16="http://schemas.microsoft.com/office/drawing/2014/main" id="{CC4EED22-31D0-4799-9367-43732014B122}"/>
              </a:ext>
            </a:extLst>
          </p:cNvPr>
          <p:cNvCxnSpPr>
            <a:cxnSpLocks/>
            <a:stCxn id="877" idx="2"/>
            <a:endCxn id="910" idx="0"/>
          </p:cNvCxnSpPr>
          <p:nvPr/>
        </p:nvCxnSpPr>
        <p:spPr>
          <a:xfrm>
            <a:off x="8945040" y="2847589"/>
            <a:ext cx="1" cy="127581"/>
          </a:xfrm>
          <a:prstGeom prst="line">
            <a:avLst/>
          </a:prstGeom>
          <a:ln w="24384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</p:cxnSp>
      <p:sp>
        <p:nvSpPr>
          <p:cNvPr id="909" name="master-port-7">
            <a:extLst>
              <a:ext uri="{FF2B5EF4-FFF2-40B4-BE49-F238E27FC236}">
                <a16:creationId xmlns:a16="http://schemas.microsoft.com/office/drawing/2014/main" id="{8CD622A4-E94F-49B7-9EE1-76B718FFF741}"/>
              </a:ext>
            </a:extLst>
          </p:cNvPr>
          <p:cNvSpPr/>
          <p:nvPr/>
        </p:nvSpPr>
        <p:spPr>
          <a:xfrm>
            <a:off x="878248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93939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0" name="object-137: S_EXT">
            <a:extLst>
              <a:ext uri="{FF2B5EF4-FFF2-40B4-BE49-F238E27FC236}">
                <a16:creationId xmlns:a16="http://schemas.microsoft.com/office/drawing/2014/main" id="{A6672919-ACE5-43A4-B24D-02ED76BD260F}"/>
              </a:ext>
            </a:extLst>
          </p:cNvPr>
          <p:cNvSpPr txBox="1"/>
          <p:nvPr/>
        </p:nvSpPr>
        <p:spPr>
          <a:xfrm>
            <a:off x="8831227" y="2975170"/>
            <a:ext cx="22762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S_EXT</a:t>
            </a:r>
          </a:p>
        </p:txBody>
      </p:sp>
      <p:sp>
        <p:nvSpPr>
          <p:cNvPr id="911" name="object-138: AXI master / 请求发起端">
            <a:extLst>
              <a:ext uri="{FF2B5EF4-FFF2-40B4-BE49-F238E27FC236}">
                <a16:creationId xmlns:a16="http://schemas.microsoft.com/office/drawing/2014/main" id="{6E968B6E-173B-423A-BB84-904B4B1C3F33}"/>
              </a:ext>
            </a:extLst>
          </p:cNvPr>
          <p:cNvSpPr txBox="1"/>
          <p:nvPr/>
        </p:nvSpPr>
        <p:spPr>
          <a:xfrm>
            <a:off x="3814240" y="2380500"/>
            <a:ext cx="104515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700" b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master / 请求发起端</a:t>
            </a:r>
          </a:p>
        </p:txBody>
      </p:sp>
      <p:cxnSp>
        <p:nvCxnSpPr>
          <p:cNvPr id="912" name="target-output-0">
            <a:extLst>
              <a:ext uri="{FF2B5EF4-FFF2-40B4-BE49-F238E27FC236}">
                <a16:creationId xmlns:a16="http://schemas.microsoft.com/office/drawing/2014/main" id="{0B0E9033-54B2-48D8-A4BA-1021732C78B5}"/>
              </a:ext>
            </a:extLst>
          </p:cNvPr>
          <p:cNvCxnSpPr/>
          <p:nvPr/>
        </p:nvCxnSpPr>
        <p:spPr>
          <a:xfrm>
            <a:off x="783173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13" name="target-port-0">
            <a:extLst>
              <a:ext uri="{FF2B5EF4-FFF2-40B4-BE49-F238E27FC236}">
                <a16:creationId xmlns:a16="http://schemas.microsoft.com/office/drawing/2014/main" id="{A3405BA2-C50F-44D0-A6DD-4AD5F991D969}"/>
              </a:ext>
            </a:extLst>
          </p:cNvPr>
          <p:cNvSpPr/>
          <p:nvPr/>
        </p:nvSpPr>
        <p:spPr>
          <a:xfrm>
            <a:off x="620613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4" name="object-141: M0">
            <a:extLst>
              <a:ext uri="{FF2B5EF4-FFF2-40B4-BE49-F238E27FC236}">
                <a16:creationId xmlns:a16="http://schemas.microsoft.com/office/drawing/2014/main" id="{3F291DD9-3BB4-4245-A46F-E73FAE70C3EC}"/>
              </a:ext>
            </a:extLst>
          </p:cNvPr>
          <p:cNvSpPr txBox="1"/>
          <p:nvPr/>
        </p:nvSpPr>
        <p:spPr>
          <a:xfrm>
            <a:off x="719854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M0</a:t>
            </a:r>
          </a:p>
        </p:txBody>
      </p:sp>
      <p:sp>
        <p:nvSpPr>
          <p:cNvPr id="915" name="debug-target">
            <a:extLst>
              <a:ext uri="{FF2B5EF4-FFF2-40B4-BE49-F238E27FC236}">
                <a16:creationId xmlns:a16="http://schemas.microsoft.com/office/drawing/2014/main" id="{FB1EF230-BA40-4795-B61E-DEED4108D14F}"/>
              </a:ext>
            </a:extLst>
          </p:cNvPr>
          <p:cNvSpPr/>
          <p:nvPr/>
        </p:nvSpPr>
        <p:spPr>
          <a:xfrm>
            <a:off x="241307" y="3701949"/>
            <a:ext cx="1083733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6" name="object-143: Debug 目标">
            <a:extLst>
              <a:ext uri="{FF2B5EF4-FFF2-40B4-BE49-F238E27FC236}">
                <a16:creationId xmlns:a16="http://schemas.microsoft.com/office/drawing/2014/main" id="{ED399EB3-5040-44B2-8ADF-7A62E2C276F4}"/>
              </a:ext>
            </a:extLst>
          </p:cNvPr>
          <p:cNvSpPr txBox="1"/>
          <p:nvPr/>
        </p:nvSpPr>
        <p:spPr>
          <a:xfrm>
            <a:off x="493030" y="3799997"/>
            <a:ext cx="58028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目标</a:t>
            </a:r>
          </a:p>
        </p:txBody>
      </p:sp>
      <p:sp>
        <p:nvSpPr>
          <p:cNvPr id="917" name="object-144: 调试模块地址窗口">
            <a:extLst>
              <a:ext uri="{FF2B5EF4-FFF2-40B4-BE49-F238E27FC236}">
                <a16:creationId xmlns:a16="http://schemas.microsoft.com/office/drawing/2014/main" id="{4439FC9B-E6E5-40DC-81F7-7402CB2AA92B}"/>
              </a:ext>
            </a:extLst>
          </p:cNvPr>
          <p:cNvSpPr txBox="1"/>
          <p:nvPr/>
        </p:nvSpPr>
        <p:spPr>
          <a:xfrm>
            <a:off x="372805" y="3932890"/>
            <a:ext cx="82073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调试模块地址窗口</a:t>
            </a:r>
          </a:p>
        </p:txBody>
      </p:sp>
      <p:cxnSp>
        <p:nvCxnSpPr>
          <p:cNvPr id="918" name="target-output-1">
            <a:extLst>
              <a:ext uri="{FF2B5EF4-FFF2-40B4-BE49-F238E27FC236}">
                <a16:creationId xmlns:a16="http://schemas.microsoft.com/office/drawing/2014/main" id="{268FC7FD-387F-4732-BA8A-D1ADA4FEB7C0}"/>
              </a:ext>
            </a:extLst>
          </p:cNvPr>
          <p:cNvCxnSpPr/>
          <p:nvPr/>
        </p:nvCxnSpPr>
        <p:spPr>
          <a:xfrm>
            <a:off x="2374906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19" name="target-port-1">
            <a:extLst>
              <a:ext uri="{FF2B5EF4-FFF2-40B4-BE49-F238E27FC236}">
                <a16:creationId xmlns:a16="http://schemas.microsoft.com/office/drawing/2014/main" id="{A6FC013D-4910-42B5-8190-821F38169B3C}"/>
              </a:ext>
            </a:extLst>
          </p:cNvPr>
          <p:cNvSpPr/>
          <p:nvPr/>
        </p:nvSpPr>
        <p:spPr>
          <a:xfrm>
            <a:off x="2212346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0" name="object-147: M1">
            <a:extLst>
              <a:ext uri="{FF2B5EF4-FFF2-40B4-BE49-F238E27FC236}">
                <a16:creationId xmlns:a16="http://schemas.microsoft.com/office/drawing/2014/main" id="{721E8F9A-B021-40E1-9B2E-A43ECFD2C0B7}"/>
              </a:ext>
            </a:extLst>
          </p:cNvPr>
          <p:cNvSpPr txBox="1"/>
          <p:nvPr/>
        </p:nvSpPr>
        <p:spPr>
          <a:xfrm>
            <a:off x="2311587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M1</a:t>
            </a:r>
          </a:p>
        </p:txBody>
      </p:sp>
      <p:sp>
        <p:nvSpPr>
          <p:cNvPr id="921" name="reg-bridge">
            <a:extLst>
              <a:ext uri="{FF2B5EF4-FFF2-40B4-BE49-F238E27FC236}">
                <a16:creationId xmlns:a16="http://schemas.microsoft.com/office/drawing/2014/main" id="{605E5542-298C-42C7-9EEE-C221CC79B47E}"/>
              </a:ext>
            </a:extLst>
          </p:cNvPr>
          <p:cNvSpPr/>
          <p:nvPr/>
        </p:nvSpPr>
        <p:spPr>
          <a:xfrm>
            <a:off x="1528240" y="3701949"/>
            <a:ext cx="1693333" cy="524933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2" name="object-149: AXI → Regbus">
            <a:extLst>
              <a:ext uri="{FF2B5EF4-FFF2-40B4-BE49-F238E27FC236}">
                <a16:creationId xmlns:a16="http://schemas.microsoft.com/office/drawing/2014/main" id="{B5A7E11C-EBB3-4CBD-8B2B-68D85FC37EE0}"/>
              </a:ext>
            </a:extLst>
          </p:cNvPr>
          <p:cNvSpPr txBox="1"/>
          <p:nvPr/>
        </p:nvSpPr>
        <p:spPr>
          <a:xfrm>
            <a:off x="2008620" y="3799997"/>
            <a:ext cx="73257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→ Regbus</a:t>
            </a:r>
          </a:p>
        </p:txBody>
      </p:sp>
      <p:sp>
        <p:nvSpPr>
          <p:cNvPr id="923" name="object-150: 原子适配 / 桥接 · 32 bit">
            <a:extLst>
              <a:ext uri="{FF2B5EF4-FFF2-40B4-BE49-F238E27FC236}">
                <a16:creationId xmlns:a16="http://schemas.microsoft.com/office/drawing/2014/main" id="{F0111D01-61C8-4DEB-A6EE-28B9C2A58D3E}"/>
              </a:ext>
            </a:extLst>
          </p:cNvPr>
          <p:cNvSpPr txBox="1"/>
          <p:nvPr/>
        </p:nvSpPr>
        <p:spPr>
          <a:xfrm>
            <a:off x="1830687" y="3932890"/>
            <a:ext cx="10884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桥接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· 32 bit</a:t>
            </a:r>
          </a:p>
        </p:txBody>
      </p:sp>
      <p:cxnSp>
        <p:nvCxnSpPr>
          <p:cNvPr id="924" name="target-output-2">
            <a:extLst>
              <a:ext uri="{FF2B5EF4-FFF2-40B4-BE49-F238E27FC236}">
                <a16:creationId xmlns:a16="http://schemas.microsoft.com/office/drawing/2014/main" id="{FFECC9CA-443B-4620-BC41-4FF2B894F371}"/>
              </a:ext>
            </a:extLst>
          </p:cNvPr>
          <p:cNvCxnSpPr/>
          <p:nvPr/>
        </p:nvCxnSpPr>
        <p:spPr>
          <a:xfrm>
            <a:off x="4254506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25" name="target-port-2">
            <a:extLst>
              <a:ext uri="{FF2B5EF4-FFF2-40B4-BE49-F238E27FC236}">
                <a16:creationId xmlns:a16="http://schemas.microsoft.com/office/drawing/2014/main" id="{2ACCD77A-F44D-479C-A71B-4CBA6C2CDD61}"/>
              </a:ext>
            </a:extLst>
          </p:cNvPr>
          <p:cNvSpPr/>
          <p:nvPr/>
        </p:nvSpPr>
        <p:spPr>
          <a:xfrm>
            <a:off x="4091946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6" name="object-153: M2">
            <a:extLst>
              <a:ext uri="{FF2B5EF4-FFF2-40B4-BE49-F238E27FC236}">
                <a16:creationId xmlns:a16="http://schemas.microsoft.com/office/drawing/2014/main" id="{741BD7F3-728C-4190-BAEE-738CFEA227B4}"/>
              </a:ext>
            </a:extLst>
          </p:cNvPr>
          <p:cNvSpPr txBox="1"/>
          <p:nvPr/>
        </p:nvSpPr>
        <p:spPr>
          <a:xfrm>
            <a:off x="4191187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M2</a:t>
            </a:r>
          </a:p>
        </p:txBody>
      </p:sp>
      <p:sp>
        <p:nvSpPr>
          <p:cNvPr id="927" name="memory-target">
            <a:extLst>
              <a:ext uri="{FF2B5EF4-FFF2-40B4-BE49-F238E27FC236}">
                <a16:creationId xmlns:a16="http://schemas.microsoft.com/office/drawing/2014/main" id="{C003EEB8-E7DB-4700-9829-5258C7A80A8D}"/>
              </a:ext>
            </a:extLst>
          </p:cNvPr>
          <p:cNvSpPr/>
          <p:nvPr/>
        </p:nvSpPr>
        <p:spPr>
          <a:xfrm>
            <a:off x="3441706" y="3701949"/>
            <a:ext cx="1625600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8" name="object-155: 主存 / SPM 共用目标">
            <a:extLst>
              <a:ext uri="{FF2B5EF4-FFF2-40B4-BE49-F238E27FC236}">
                <a16:creationId xmlns:a16="http://schemas.microsoft.com/office/drawing/2014/main" id="{908ED905-649A-4631-8BAE-49D301C712C7}"/>
              </a:ext>
            </a:extLst>
          </p:cNvPr>
          <p:cNvSpPr txBox="1"/>
          <p:nvPr/>
        </p:nvSpPr>
        <p:spPr>
          <a:xfrm>
            <a:off x="3759178" y="3743899"/>
            <a:ext cx="99065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主存 / SPM 共用目标</a:t>
            </a:r>
          </a:p>
        </p:txBody>
      </p:sp>
      <p:cxnSp>
        <p:nvCxnSpPr>
          <p:cNvPr id="929" name="target-output-3">
            <a:extLst>
              <a:ext uri="{FF2B5EF4-FFF2-40B4-BE49-F238E27FC236}">
                <a16:creationId xmlns:a16="http://schemas.microsoft.com/office/drawing/2014/main" id="{AEEBB89A-B17A-4831-BEAF-00EAD409A51D}"/>
              </a:ext>
            </a:extLst>
          </p:cNvPr>
          <p:cNvCxnSpPr/>
          <p:nvPr/>
        </p:nvCxnSpPr>
        <p:spPr>
          <a:xfrm>
            <a:off x="5947840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30" name="target-port-3">
            <a:extLst>
              <a:ext uri="{FF2B5EF4-FFF2-40B4-BE49-F238E27FC236}">
                <a16:creationId xmlns:a16="http://schemas.microsoft.com/office/drawing/2014/main" id="{BEF56EB4-9E62-4F6B-B685-82A1A9B7D9C3}"/>
              </a:ext>
            </a:extLst>
          </p:cNvPr>
          <p:cNvSpPr/>
          <p:nvPr/>
        </p:nvSpPr>
        <p:spPr>
          <a:xfrm>
            <a:off x="5785280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1" name="object-158: M3">
            <a:extLst>
              <a:ext uri="{FF2B5EF4-FFF2-40B4-BE49-F238E27FC236}">
                <a16:creationId xmlns:a16="http://schemas.microsoft.com/office/drawing/2014/main" id="{19BEF351-3C7C-4364-B07E-B54FAFDD11E7}"/>
              </a:ext>
            </a:extLst>
          </p:cNvPr>
          <p:cNvSpPr txBox="1"/>
          <p:nvPr/>
        </p:nvSpPr>
        <p:spPr>
          <a:xfrm>
            <a:off x="5884521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M3</a:t>
            </a:r>
          </a:p>
        </p:txBody>
      </p:sp>
      <p:sp>
        <p:nvSpPr>
          <p:cNvPr id="932" name="idma-config">
            <a:extLst>
              <a:ext uri="{FF2B5EF4-FFF2-40B4-BE49-F238E27FC236}">
                <a16:creationId xmlns:a16="http://schemas.microsoft.com/office/drawing/2014/main" id="{906EA7A1-5652-4FFA-AE14-E9E6E4670187}"/>
              </a:ext>
            </a:extLst>
          </p:cNvPr>
          <p:cNvSpPr/>
          <p:nvPr/>
        </p:nvSpPr>
        <p:spPr>
          <a:xfrm>
            <a:off x="5270506" y="3701949"/>
            <a:ext cx="1354667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3" name="object-160: iDMA 配置">
            <a:extLst>
              <a:ext uri="{FF2B5EF4-FFF2-40B4-BE49-F238E27FC236}">
                <a16:creationId xmlns:a16="http://schemas.microsoft.com/office/drawing/2014/main" id="{468A9BCA-1A7B-4BE3-A31E-29444D97DAAB}"/>
              </a:ext>
            </a:extLst>
          </p:cNvPr>
          <p:cNvSpPr txBox="1"/>
          <p:nvPr/>
        </p:nvSpPr>
        <p:spPr>
          <a:xfrm>
            <a:off x="5682543" y="3766131"/>
            <a:ext cx="53059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配置</a:t>
            </a:r>
          </a:p>
        </p:txBody>
      </p:sp>
      <p:sp>
        <p:nvSpPr>
          <p:cNvPr id="934" name="object-161: 原子适配 → AXI→Reg">
            <a:extLst>
              <a:ext uri="{FF2B5EF4-FFF2-40B4-BE49-F238E27FC236}">
                <a16:creationId xmlns:a16="http://schemas.microsoft.com/office/drawing/2014/main" id="{409F0990-0F28-44F7-8F3F-DEB76F2BCA00}"/>
              </a:ext>
            </a:extLst>
          </p:cNvPr>
          <p:cNvSpPr txBox="1"/>
          <p:nvPr/>
        </p:nvSpPr>
        <p:spPr>
          <a:xfrm>
            <a:off x="5430071" y="3899024"/>
            <a:ext cx="103554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→ AXI→Reg</a:t>
            </a:r>
          </a:p>
        </p:txBody>
      </p:sp>
      <p:sp>
        <p:nvSpPr>
          <p:cNvPr id="935" name="object-162: wrapper 内部寄存器">
            <a:extLst>
              <a:ext uri="{FF2B5EF4-FFF2-40B4-BE49-F238E27FC236}">
                <a16:creationId xmlns:a16="http://schemas.microsoft.com/office/drawing/2014/main" id="{37D0B260-A181-4043-BFF4-C7EA83B49656}"/>
              </a:ext>
            </a:extLst>
          </p:cNvPr>
          <p:cNvSpPr txBox="1"/>
          <p:nvPr/>
        </p:nvSpPr>
        <p:spPr>
          <a:xfrm>
            <a:off x="5474153" y="4007397"/>
            <a:ext cx="94737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wrapper 内部寄存器</a:t>
            </a:r>
          </a:p>
        </p:txBody>
      </p:sp>
      <p:cxnSp>
        <p:nvCxnSpPr>
          <p:cNvPr id="936" name="target-output-4">
            <a:extLst>
              <a:ext uri="{FF2B5EF4-FFF2-40B4-BE49-F238E27FC236}">
                <a16:creationId xmlns:a16="http://schemas.microsoft.com/office/drawing/2014/main" id="{2D1D5CD8-FC34-4CB6-A62D-678019C344CF}"/>
              </a:ext>
            </a:extLst>
          </p:cNvPr>
          <p:cNvCxnSpPr/>
          <p:nvPr/>
        </p:nvCxnSpPr>
        <p:spPr>
          <a:xfrm>
            <a:off x="7539573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37" name="target-port-4">
            <a:extLst>
              <a:ext uri="{FF2B5EF4-FFF2-40B4-BE49-F238E27FC236}">
                <a16:creationId xmlns:a16="http://schemas.microsoft.com/office/drawing/2014/main" id="{C27BE330-A10A-405A-A746-7CD1AB09706C}"/>
              </a:ext>
            </a:extLst>
          </p:cNvPr>
          <p:cNvSpPr/>
          <p:nvPr/>
        </p:nvSpPr>
        <p:spPr>
          <a:xfrm>
            <a:off x="7377013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8" name="object-165: M4">
            <a:extLst>
              <a:ext uri="{FF2B5EF4-FFF2-40B4-BE49-F238E27FC236}">
                <a16:creationId xmlns:a16="http://schemas.microsoft.com/office/drawing/2014/main" id="{07882F63-6019-433E-AEF0-B6C15B433D91}"/>
              </a:ext>
            </a:extLst>
          </p:cNvPr>
          <p:cNvSpPr txBox="1"/>
          <p:nvPr/>
        </p:nvSpPr>
        <p:spPr>
          <a:xfrm>
            <a:off x="7476254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M4</a:t>
            </a:r>
          </a:p>
        </p:txBody>
      </p:sp>
      <p:sp>
        <p:nvSpPr>
          <p:cNvPr id="939" name="slink-tx">
            <a:extLst>
              <a:ext uri="{FF2B5EF4-FFF2-40B4-BE49-F238E27FC236}">
                <a16:creationId xmlns:a16="http://schemas.microsoft.com/office/drawing/2014/main" id="{718FF7D9-8D9B-4B52-8C5B-57629572744C}"/>
              </a:ext>
            </a:extLst>
          </p:cNvPr>
          <p:cNvSpPr/>
          <p:nvPr/>
        </p:nvSpPr>
        <p:spPr>
          <a:xfrm>
            <a:off x="6828373" y="3701949"/>
            <a:ext cx="1422400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0" name="object-167: Serial Link TX">
            <a:extLst>
              <a:ext uri="{FF2B5EF4-FFF2-40B4-BE49-F238E27FC236}">
                <a16:creationId xmlns:a16="http://schemas.microsoft.com/office/drawing/2014/main" id="{CE6C92FE-D792-4731-91BF-92C5EB9D3372}"/>
              </a:ext>
            </a:extLst>
          </p:cNvPr>
          <p:cNvSpPr txBox="1"/>
          <p:nvPr/>
        </p:nvSpPr>
        <p:spPr>
          <a:xfrm>
            <a:off x="7191722" y="3799997"/>
            <a:ext cx="69570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TX</a:t>
            </a:r>
          </a:p>
        </p:txBody>
      </p:sp>
      <p:sp>
        <p:nvSpPr>
          <p:cNvPr id="941" name="object-168: 远端数据目标窗口">
            <a:extLst>
              <a:ext uri="{FF2B5EF4-FFF2-40B4-BE49-F238E27FC236}">
                <a16:creationId xmlns:a16="http://schemas.microsoft.com/office/drawing/2014/main" id="{AFD0E002-9F64-43C5-8E24-6B2D22B7B482}"/>
              </a:ext>
            </a:extLst>
          </p:cNvPr>
          <p:cNvSpPr txBox="1"/>
          <p:nvPr/>
        </p:nvSpPr>
        <p:spPr>
          <a:xfrm>
            <a:off x="7129205" y="3932890"/>
            <a:ext cx="82073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远端数据目标窗口</a:t>
            </a:r>
          </a:p>
        </p:txBody>
      </p:sp>
      <p:cxnSp>
        <p:nvCxnSpPr>
          <p:cNvPr id="942" name="target-output-5">
            <a:extLst>
              <a:ext uri="{FF2B5EF4-FFF2-40B4-BE49-F238E27FC236}">
                <a16:creationId xmlns:a16="http://schemas.microsoft.com/office/drawing/2014/main" id="{7BE14BE3-9B63-4EF3-A33C-7F1A53D9C001}"/>
              </a:ext>
            </a:extLst>
          </p:cNvPr>
          <p:cNvCxnSpPr>
            <a:cxnSpLocks/>
            <a:stCxn id="943" idx="2"/>
          </p:cNvCxnSpPr>
          <p:nvPr/>
        </p:nvCxnSpPr>
        <p:spPr>
          <a:xfrm>
            <a:off x="9131306" y="3529229"/>
            <a:ext cx="0" cy="172720"/>
          </a:xfrm>
          <a:prstGeom prst="line">
            <a:avLst/>
          </a:prstGeom>
          <a:ln w="24384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</p:cxnSp>
      <p:sp>
        <p:nvSpPr>
          <p:cNvPr id="943" name="target-port-5">
            <a:extLst>
              <a:ext uri="{FF2B5EF4-FFF2-40B4-BE49-F238E27FC236}">
                <a16:creationId xmlns:a16="http://schemas.microsoft.com/office/drawing/2014/main" id="{0A82AF7F-FCCC-40AC-B0E6-5DBC2D27AA6F}"/>
              </a:ext>
            </a:extLst>
          </p:cNvPr>
          <p:cNvSpPr/>
          <p:nvPr/>
        </p:nvSpPr>
        <p:spPr>
          <a:xfrm>
            <a:off x="8968746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93939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4" name="object-171: M_EXT">
            <a:extLst>
              <a:ext uri="{FF2B5EF4-FFF2-40B4-BE49-F238E27FC236}">
                <a16:creationId xmlns:a16="http://schemas.microsoft.com/office/drawing/2014/main" id="{5ED255E7-3D69-4736-82DB-F74898973378}"/>
              </a:ext>
            </a:extLst>
          </p:cNvPr>
          <p:cNvSpPr txBox="1"/>
          <p:nvPr/>
        </p:nvSpPr>
        <p:spPr>
          <a:xfrm>
            <a:off x="9001463" y="3432370"/>
            <a:ext cx="259686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M_EXT</a:t>
            </a:r>
          </a:p>
        </p:txBody>
      </p:sp>
      <p:sp>
        <p:nvSpPr>
          <p:cNvPr id="945" name="ext-target">
            <a:extLst>
              <a:ext uri="{FF2B5EF4-FFF2-40B4-BE49-F238E27FC236}">
                <a16:creationId xmlns:a16="http://schemas.microsoft.com/office/drawing/2014/main" id="{35CB4EAC-4D90-4C3D-9DD9-8ED7A33AEC4A}"/>
              </a:ext>
            </a:extLst>
          </p:cNvPr>
          <p:cNvSpPr/>
          <p:nvPr/>
        </p:nvSpPr>
        <p:spPr>
          <a:xfrm>
            <a:off x="8437040" y="3701949"/>
            <a:ext cx="1388533" cy="524933"/>
          </a:xfrm>
          <a:prstGeom prst="rect">
            <a:avLst/>
          </a:prstGeom>
          <a:solidFill>
            <a:srgbClr val="F5F5F7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6" name="object-173: AXI 外部 slave">
            <a:extLst>
              <a:ext uri="{FF2B5EF4-FFF2-40B4-BE49-F238E27FC236}">
                <a16:creationId xmlns:a16="http://schemas.microsoft.com/office/drawing/2014/main" id="{EDB0EE72-BBF5-487B-8CEF-12D40BA27121}"/>
              </a:ext>
            </a:extLst>
          </p:cNvPr>
          <p:cNvSpPr txBox="1"/>
          <p:nvPr/>
        </p:nvSpPr>
        <p:spPr>
          <a:xfrm>
            <a:off x="8777043" y="3766131"/>
            <a:ext cx="70852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slave</a:t>
            </a:r>
          </a:p>
        </p:txBody>
      </p:sp>
      <p:sp>
        <p:nvSpPr>
          <p:cNvPr id="947" name="object-174: 可选扩展 / CPU 直访 GB 待定">
            <a:extLst>
              <a:ext uri="{FF2B5EF4-FFF2-40B4-BE49-F238E27FC236}">
                <a16:creationId xmlns:a16="http://schemas.microsoft.com/office/drawing/2014/main" id="{787FA9B9-204D-46F2-9A21-C983AC71DD12}"/>
              </a:ext>
            </a:extLst>
          </p:cNvPr>
          <p:cNvSpPr txBox="1"/>
          <p:nvPr/>
        </p:nvSpPr>
        <p:spPr>
          <a:xfrm>
            <a:off x="8448427" y="3899024"/>
            <a:ext cx="136575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可选扩展 / CPU 直访 GB 待定</a:t>
            </a:r>
          </a:p>
        </p:txBody>
      </p:sp>
      <p:sp>
        <p:nvSpPr>
          <p:cNvPr id="948" name="atomics">
            <a:extLst>
              <a:ext uri="{FF2B5EF4-FFF2-40B4-BE49-F238E27FC236}">
                <a16:creationId xmlns:a16="http://schemas.microsoft.com/office/drawing/2014/main" id="{A44BC17A-607E-4FD1-AE60-078D1D424947}"/>
              </a:ext>
            </a:extLst>
          </p:cNvPr>
          <p:cNvSpPr/>
          <p:nvPr/>
        </p:nvSpPr>
        <p:spPr>
          <a:xfrm>
            <a:off x="3509440" y="3905149"/>
            <a:ext cx="660400" cy="28448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9" name="object-176: 原子适配">
            <a:extLst>
              <a:ext uri="{FF2B5EF4-FFF2-40B4-BE49-F238E27FC236}">
                <a16:creationId xmlns:a16="http://schemas.microsoft.com/office/drawing/2014/main" id="{4A598551-AF58-4554-AB7D-26396E1BBAA6}"/>
              </a:ext>
            </a:extLst>
          </p:cNvPr>
          <p:cNvSpPr txBox="1"/>
          <p:nvPr/>
        </p:nvSpPr>
        <p:spPr>
          <a:xfrm>
            <a:off x="3660103" y="3946331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</a:p>
        </p:txBody>
      </p:sp>
      <p:sp>
        <p:nvSpPr>
          <p:cNvPr id="950" name="object-177: AMO / LRSC">
            <a:extLst>
              <a:ext uri="{FF2B5EF4-FFF2-40B4-BE49-F238E27FC236}">
                <a16:creationId xmlns:a16="http://schemas.microsoft.com/office/drawing/2014/main" id="{262BFCDF-2EBC-4B37-B6BD-1B3B4DDB5093}"/>
              </a:ext>
            </a:extLst>
          </p:cNvPr>
          <p:cNvSpPr txBox="1"/>
          <p:nvPr/>
        </p:nvSpPr>
        <p:spPr>
          <a:xfrm>
            <a:off x="3535070" y="4060936"/>
            <a:ext cx="60914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AMO / LRSC</a:t>
            </a:r>
          </a:p>
        </p:txBody>
      </p:sp>
      <p:sp>
        <p:nvSpPr>
          <p:cNvPr id="951" name="llc-spm">
            <a:extLst>
              <a:ext uri="{FF2B5EF4-FFF2-40B4-BE49-F238E27FC236}">
                <a16:creationId xmlns:a16="http://schemas.microsoft.com/office/drawing/2014/main" id="{CFE1928B-D279-4208-80F1-EE0A7B299153}"/>
              </a:ext>
            </a:extLst>
          </p:cNvPr>
          <p:cNvSpPr/>
          <p:nvPr/>
        </p:nvSpPr>
        <p:spPr>
          <a:xfrm>
            <a:off x="4322240" y="3905149"/>
            <a:ext cx="660400" cy="28448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2" name="object-179: LLC / SPM">
            <a:extLst>
              <a:ext uri="{FF2B5EF4-FFF2-40B4-BE49-F238E27FC236}">
                <a16:creationId xmlns:a16="http://schemas.microsoft.com/office/drawing/2014/main" id="{EC89ABB5-ADF1-4CCE-9076-537AD728CCF0}"/>
              </a:ext>
            </a:extLst>
          </p:cNvPr>
          <p:cNvSpPr txBox="1"/>
          <p:nvPr/>
        </p:nvSpPr>
        <p:spPr>
          <a:xfrm>
            <a:off x="4420806" y="3946331"/>
            <a:ext cx="46326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/ SPM</a:t>
            </a:r>
          </a:p>
        </p:txBody>
      </p:sp>
      <p:sp>
        <p:nvSpPr>
          <p:cNvPr id="953" name="object-180: 同一 SRAM 阵列">
            <a:extLst>
              <a:ext uri="{FF2B5EF4-FFF2-40B4-BE49-F238E27FC236}">
                <a16:creationId xmlns:a16="http://schemas.microsoft.com/office/drawing/2014/main" id="{07ABD4E2-0796-48E6-BC25-4482537767A1}"/>
              </a:ext>
            </a:extLst>
          </p:cNvPr>
          <p:cNvSpPr txBox="1"/>
          <p:nvPr/>
        </p:nvSpPr>
        <p:spPr>
          <a:xfrm>
            <a:off x="4384738" y="4060936"/>
            <a:ext cx="53540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SRAM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阵列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954" name="atomics-llc">
            <a:extLst>
              <a:ext uri="{FF2B5EF4-FFF2-40B4-BE49-F238E27FC236}">
                <a16:creationId xmlns:a16="http://schemas.microsoft.com/office/drawing/2014/main" id="{8785A342-A019-4871-85A3-1919CC460D6B}"/>
              </a:ext>
            </a:extLst>
          </p:cNvPr>
          <p:cNvCxnSpPr/>
          <p:nvPr/>
        </p:nvCxnSpPr>
        <p:spPr>
          <a:xfrm>
            <a:off x="4169840" y="4033842"/>
            <a:ext cx="152400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55" name="reg-subsystem">
            <a:extLst>
              <a:ext uri="{FF2B5EF4-FFF2-40B4-BE49-F238E27FC236}">
                <a16:creationId xmlns:a16="http://schemas.microsoft.com/office/drawing/2014/main" id="{17D69E55-0D49-47D7-AF34-F1100D4D8A7E}"/>
              </a:ext>
            </a:extLst>
          </p:cNvPr>
          <p:cNvSpPr/>
          <p:nvPr/>
        </p:nvSpPr>
        <p:spPr>
          <a:xfrm>
            <a:off x="173573" y="4345416"/>
            <a:ext cx="6587067" cy="1693333"/>
          </a:xfrm>
          <a:prstGeom prst="rect">
            <a:avLst/>
          </a:prstGeom>
          <a:solidFill>
            <a:srgbClr val="FAF8FB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6" name="regbus">
            <a:extLst>
              <a:ext uri="{FF2B5EF4-FFF2-40B4-BE49-F238E27FC236}">
                <a16:creationId xmlns:a16="http://schemas.microsoft.com/office/drawing/2014/main" id="{86ED39D0-8AEA-42EC-97C9-32341A19CBBF}"/>
              </a:ext>
            </a:extLst>
          </p:cNvPr>
          <p:cNvSpPr/>
          <p:nvPr/>
        </p:nvSpPr>
        <p:spPr>
          <a:xfrm>
            <a:off x="241306" y="4413149"/>
            <a:ext cx="6451600" cy="237067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7" name="object-184: Regbus decode / demux  ·  32 bit">
            <a:extLst>
              <a:ext uri="{FF2B5EF4-FFF2-40B4-BE49-F238E27FC236}">
                <a16:creationId xmlns:a16="http://schemas.microsoft.com/office/drawing/2014/main" id="{469CCA68-FD17-4980-A75E-586E8CE36AAF}"/>
              </a:ext>
            </a:extLst>
          </p:cNvPr>
          <p:cNvSpPr txBox="1"/>
          <p:nvPr/>
        </p:nvSpPr>
        <p:spPr>
          <a:xfrm>
            <a:off x="2387394" y="4455279"/>
            <a:ext cx="2156039" cy="15388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Regbus</a:t>
            </a:r>
            <a:r>
              <a:rPr sz="10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decode / </a:t>
            </a:r>
            <a:r>
              <a:rPr sz="10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demux</a:t>
            </a:r>
            <a:r>
              <a:rPr sz="10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 ·  32 bit</a:t>
            </a:r>
          </a:p>
        </p:txBody>
      </p:sp>
      <p:cxnSp>
        <p:nvCxnSpPr>
          <p:cNvPr id="958" name="axi-regbus">
            <a:extLst>
              <a:ext uri="{FF2B5EF4-FFF2-40B4-BE49-F238E27FC236}">
                <a16:creationId xmlns:a16="http://schemas.microsoft.com/office/drawing/2014/main" id="{10A03DF2-6DD4-481D-88C5-13653854409F}"/>
              </a:ext>
            </a:extLst>
          </p:cNvPr>
          <p:cNvCxnSpPr/>
          <p:nvPr/>
        </p:nvCxnSpPr>
        <p:spPr>
          <a:xfrm>
            <a:off x="2374906" y="4226882"/>
            <a:ext cx="0" cy="186267"/>
          </a:xfrm>
          <a:prstGeom prst="line">
            <a:avLst/>
          </a:prstGeom>
          <a:ln w="28448" cap="flat">
            <a:solidFill>
              <a:srgbClr val="765489"/>
            </a:solidFill>
            <a:tailEnd type="triangle" w="med" len="med"/>
          </a:ln>
          <a:effectLst/>
        </p:spPr>
      </p:cxnSp>
      <p:cxnSp>
        <p:nvCxnSpPr>
          <p:cNvPr id="959" name="regbus-trunk-0">
            <a:extLst>
              <a:ext uri="{FF2B5EF4-FFF2-40B4-BE49-F238E27FC236}">
                <a16:creationId xmlns:a16="http://schemas.microsoft.com/office/drawing/2014/main" id="{E41B7A95-1325-4CC6-B264-97272CE2B4D6}"/>
              </a:ext>
            </a:extLst>
          </p:cNvPr>
          <p:cNvCxnSpPr/>
          <p:nvPr/>
        </p:nvCxnSpPr>
        <p:spPr>
          <a:xfrm>
            <a:off x="35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0" name="regbus-trunk-1">
            <a:extLst>
              <a:ext uri="{FF2B5EF4-FFF2-40B4-BE49-F238E27FC236}">
                <a16:creationId xmlns:a16="http://schemas.microsoft.com/office/drawing/2014/main" id="{015DE0DD-B6B4-4A86-9158-14FA8F8AE363}"/>
              </a:ext>
            </a:extLst>
          </p:cNvPr>
          <p:cNvCxnSpPr/>
          <p:nvPr/>
        </p:nvCxnSpPr>
        <p:spPr>
          <a:xfrm>
            <a:off x="162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1" name="regbus-trunk-2">
            <a:extLst>
              <a:ext uri="{FF2B5EF4-FFF2-40B4-BE49-F238E27FC236}">
                <a16:creationId xmlns:a16="http://schemas.microsoft.com/office/drawing/2014/main" id="{55CB0935-51FB-4F78-ABB0-9DAFE8E5AD1F}"/>
              </a:ext>
            </a:extLst>
          </p:cNvPr>
          <p:cNvCxnSpPr/>
          <p:nvPr/>
        </p:nvCxnSpPr>
        <p:spPr>
          <a:xfrm>
            <a:off x="289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2" name="regbus-trunk-3">
            <a:extLst>
              <a:ext uri="{FF2B5EF4-FFF2-40B4-BE49-F238E27FC236}">
                <a16:creationId xmlns:a16="http://schemas.microsoft.com/office/drawing/2014/main" id="{A151FA95-0104-4234-ACB1-2EDA742BE856}"/>
              </a:ext>
            </a:extLst>
          </p:cNvPr>
          <p:cNvCxnSpPr/>
          <p:nvPr/>
        </p:nvCxnSpPr>
        <p:spPr>
          <a:xfrm>
            <a:off x="416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3" name="regbus-trunk-4">
            <a:extLst>
              <a:ext uri="{FF2B5EF4-FFF2-40B4-BE49-F238E27FC236}">
                <a16:creationId xmlns:a16="http://schemas.microsoft.com/office/drawing/2014/main" id="{E745EBB6-CDA0-4804-8F8D-87FC8930FE6A}"/>
              </a:ext>
            </a:extLst>
          </p:cNvPr>
          <p:cNvCxnSpPr/>
          <p:nvPr/>
        </p:nvCxnSpPr>
        <p:spPr>
          <a:xfrm>
            <a:off x="543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sp>
        <p:nvSpPr>
          <p:cNvPr id="964" name="bootrom">
            <a:extLst>
              <a:ext uri="{FF2B5EF4-FFF2-40B4-BE49-F238E27FC236}">
                <a16:creationId xmlns:a16="http://schemas.microsoft.com/office/drawing/2014/main" id="{AE39AF04-DE57-407F-B7DE-709895A81F2C}"/>
              </a:ext>
            </a:extLst>
          </p:cNvPr>
          <p:cNvSpPr/>
          <p:nvPr/>
        </p:nvSpPr>
        <p:spPr>
          <a:xfrm>
            <a:off x="42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65" name="object-192: Boot ROM">
            <a:extLst>
              <a:ext uri="{FF2B5EF4-FFF2-40B4-BE49-F238E27FC236}">
                <a16:creationId xmlns:a16="http://schemas.microsoft.com/office/drawing/2014/main" id="{D636FB9B-631A-4505-B2AC-C11D8FE857CD}"/>
              </a:ext>
            </a:extLst>
          </p:cNvPr>
          <p:cNvSpPr txBox="1"/>
          <p:nvPr/>
        </p:nvSpPr>
        <p:spPr>
          <a:xfrm>
            <a:off x="699335" y="4765362"/>
            <a:ext cx="54021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Boot ROM</a:t>
            </a:r>
          </a:p>
        </p:txBody>
      </p:sp>
      <p:sp>
        <p:nvSpPr>
          <p:cNvPr id="966" name="object-193: 启动代码">
            <a:extLst>
              <a:ext uri="{FF2B5EF4-FFF2-40B4-BE49-F238E27FC236}">
                <a16:creationId xmlns:a16="http://schemas.microsoft.com/office/drawing/2014/main" id="{B1F3C28B-3DE7-4B66-9639-D8091ED92581}"/>
              </a:ext>
            </a:extLst>
          </p:cNvPr>
          <p:cNvSpPr txBox="1"/>
          <p:nvPr/>
        </p:nvSpPr>
        <p:spPr>
          <a:xfrm>
            <a:off x="789903" y="4877935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启动代码</a:t>
            </a:r>
          </a:p>
        </p:txBody>
      </p:sp>
      <p:cxnSp>
        <p:nvCxnSpPr>
          <p:cNvPr id="967" name="reg-drop-bootrom">
            <a:extLst>
              <a:ext uri="{FF2B5EF4-FFF2-40B4-BE49-F238E27FC236}">
                <a16:creationId xmlns:a16="http://schemas.microsoft.com/office/drawing/2014/main" id="{0D523740-3E54-4952-AE19-2E770B0A2C04}"/>
              </a:ext>
            </a:extLst>
          </p:cNvPr>
          <p:cNvCxnSpPr/>
          <p:nvPr/>
        </p:nvCxnSpPr>
        <p:spPr>
          <a:xfrm>
            <a:off x="35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68" name="clint">
            <a:extLst>
              <a:ext uri="{FF2B5EF4-FFF2-40B4-BE49-F238E27FC236}">
                <a16:creationId xmlns:a16="http://schemas.microsoft.com/office/drawing/2014/main" id="{CDDAF346-5CE4-46DF-BA81-B635204CBE7A}"/>
              </a:ext>
            </a:extLst>
          </p:cNvPr>
          <p:cNvSpPr/>
          <p:nvPr/>
        </p:nvSpPr>
        <p:spPr>
          <a:xfrm>
            <a:off x="169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69" name="object-196: CLINT">
            <a:extLst>
              <a:ext uri="{FF2B5EF4-FFF2-40B4-BE49-F238E27FC236}">
                <a16:creationId xmlns:a16="http://schemas.microsoft.com/office/drawing/2014/main" id="{47E23EF4-3C3A-45BF-9CA9-B3E1A3098B24}"/>
              </a:ext>
            </a:extLst>
          </p:cNvPr>
          <p:cNvSpPr txBox="1"/>
          <p:nvPr/>
        </p:nvSpPr>
        <p:spPr>
          <a:xfrm>
            <a:off x="2084750" y="4765362"/>
            <a:ext cx="30938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CLINT</a:t>
            </a:r>
          </a:p>
        </p:txBody>
      </p:sp>
      <p:sp>
        <p:nvSpPr>
          <p:cNvPr id="970" name="object-197: 软件 / 定时中断">
            <a:extLst>
              <a:ext uri="{FF2B5EF4-FFF2-40B4-BE49-F238E27FC236}">
                <a16:creationId xmlns:a16="http://schemas.microsoft.com/office/drawing/2014/main" id="{DBA77C2E-F88E-463F-9298-B1136094D71E}"/>
              </a:ext>
            </a:extLst>
          </p:cNvPr>
          <p:cNvSpPr txBox="1"/>
          <p:nvPr/>
        </p:nvSpPr>
        <p:spPr>
          <a:xfrm>
            <a:off x="1923648" y="4877935"/>
            <a:ext cx="631583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软件 / 定时中断</a:t>
            </a:r>
          </a:p>
        </p:txBody>
      </p:sp>
      <p:cxnSp>
        <p:nvCxnSpPr>
          <p:cNvPr id="971" name="reg-drop-clint">
            <a:extLst>
              <a:ext uri="{FF2B5EF4-FFF2-40B4-BE49-F238E27FC236}">
                <a16:creationId xmlns:a16="http://schemas.microsoft.com/office/drawing/2014/main" id="{42DCD275-A0BB-4B56-B64A-833D03028D67}"/>
              </a:ext>
            </a:extLst>
          </p:cNvPr>
          <p:cNvCxnSpPr/>
          <p:nvPr/>
        </p:nvCxnSpPr>
        <p:spPr>
          <a:xfrm>
            <a:off x="162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72" name="soc-regs">
            <a:extLst>
              <a:ext uri="{FF2B5EF4-FFF2-40B4-BE49-F238E27FC236}">
                <a16:creationId xmlns:a16="http://schemas.microsoft.com/office/drawing/2014/main" id="{8E0BB8EB-9A3F-4727-86A7-E77F8277E16D}"/>
              </a:ext>
            </a:extLst>
          </p:cNvPr>
          <p:cNvSpPr/>
          <p:nvPr/>
        </p:nvSpPr>
        <p:spPr>
          <a:xfrm>
            <a:off x="296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73" name="object-200: SoC 寄存器">
            <a:extLst>
              <a:ext uri="{FF2B5EF4-FFF2-40B4-BE49-F238E27FC236}">
                <a16:creationId xmlns:a16="http://schemas.microsoft.com/office/drawing/2014/main" id="{1A6231BD-A9A6-47B3-8AB7-5A560A94B257}"/>
              </a:ext>
            </a:extLst>
          </p:cNvPr>
          <p:cNvSpPr txBox="1"/>
          <p:nvPr/>
        </p:nvSpPr>
        <p:spPr>
          <a:xfrm>
            <a:off x="3240937" y="4765362"/>
            <a:ext cx="53700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SoC 寄存器</a:t>
            </a:r>
          </a:p>
        </p:txBody>
      </p:sp>
      <p:sp>
        <p:nvSpPr>
          <p:cNvPr id="974" name="object-201: 平台信息 / scratch">
            <a:extLst>
              <a:ext uri="{FF2B5EF4-FFF2-40B4-BE49-F238E27FC236}">
                <a16:creationId xmlns:a16="http://schemas.microsoft.com/office/drawing/2014/main" id="{7A637AD7-7370-4A55-8FC7-CD690942D54B}"/>
              </a:ext>
            </a:extLst>
          </p:cNvPr>
          <p:cNvSpPr txBox="1"/>
          <p:nvPr/>
        </p:nvSpPr>
        <p:spPr>
          <a:xfrm>
            <a:off x="3131933" y="4877935"/>
            <a:ext cx="75501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平台信息 / scratch</a:t>
            </a:r>
          </a:p>
        </p:txBody>
      </p:sp>
      <p:cxnSp>
        <p:nvCxnSpPr>
          <p:cNvPr id="975" name="reg-drop-soc-regs">
            <a:extLst>
              <a:ext uri="{FF2B5EF4-FFF2-40B4-BE49-F238E27FC236}">
                <a16:creationId xmlns:a16="http://schemas.microsoft.com/office/drawing/2014/main" id="{CB888832-B9F6-4A8C-B7DD-6275B162BA0F}"/>
              </a:ext>
            </a:extLst>
          </p:cNvPr>
          <p:cNvCxnSpPr/>
          <p:nvPr/>
        </p:nvCxnSpPr>
        <p:spPr>
          <a:xfrm>
            <a:off x="289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76" name="plic">
            <a:extLst>
              <a:ext uri="{FF2B5EF4-FFF2-40B4-BE49-F238E27FC236}">
                <a16:creationId xmlns:a16="http://schemas.microsoft.com/office/drawing/2014/main" id="{FEA6D80F-0EB1-44E1-A21D-AAF41A576CC4}"/>
              </a:ext>
            </a:extLst>
          </p:cNvPr>
          <p:cNvSpPr/>
          <p:nvPr/>
        </p:nvSpPr>
        <p:spPr>
          <a:xfrm>
            <a:off x="423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77" name="object-204: PLIC">
            <a:extLst>
              <a:ext uri="{FF2B5EF4-FFF2-40B4-BE49-F238E27FC236}">
                <a16:creationId xmlns:a16="http://schemas.microsoft.com/office/drawing/2014/main" id="{D73A9C5A-E21A-4708-A3A7-9D21D59C37D9}"/>
              </a:ext>
            </a:extLst>
          </p:cNvPr>
          <p:cNvSpPr txBox="1"/>
          <p:nvPr/>
        </p:nvSpPr>
        <p:spPr>
          <a:xfrm>
            <a:off x="4666428" y="4765362"/>
            <a:ext cx="22602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PLIC</a:t>
            </a:r>
          </a:p>
        </p:txBody>
      </p:sp>
      <p:sp>
        <p:nvSpPr>
          <p:cNvPr id="978" name="object-205: 外部中断控制">
            <a:extLst>
              <a:ext uri="{FF2B5EF4-FFF2-40B4-BE49-F238E27FC236}">
                <a16:creationId xmlns:a16="http://schemas.microsoft.com/office/drawing/2014/main" id="{546AAC43-FD53-4A8E-87BB-29563BC461F5}"/>
              </a:ext>
            </a:extLst>
          </p:cNvPr>
          <p:cNvSpPr txBox="1"/>
          <p:nvPr/>
        </p:nvSpPr>
        <p:spPr>
          <a:xfrm>
            <a:off x="4510135" y="487793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外部中断控制</a:t>
            </a:r>
          </a:p>
        </p:txBody>
      </p:sp>
      <p:cxnSp>
        <p:nvCxnSpPr>
          <p:cNvPr id="979" name="reg-drop-plic">
            <a:extLst>
              <a:ext uri="{FF2B5EF4-FFF2-40B4-BE49-F238E27FC236}">
                <a16:creationId xmlns:a16="http://schemas.microsoft.com/office/drawing/2014/main" id="{D5F679CD-87E7-4B65-BE9B-B53F9D43C769}"/>
              </a:ext>
            </a:extLst>
          </p:cNvPr>
          <p:cNvCxnSpPr/>
          <p:nvPr/>
        </p:nvCxnSpPr>
        <p:spPr>
          <a:xfrm>
            <a:off x="416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0" name="llc-regs">
            <a:extLst>
              <a:ext uri="{FF2B5EF4-FFF2-40B4-BE49-F238E27FC236}">
                <a16:creationId xmlns:a16="http://schemas.microsoft.com/office/drawing/2014/main" id="{D7D19DE2-0911-45C7-93C8-673A6F91921D}"/>
              </a:ext>
            </a:extLst>
          </p:cNvPr>
          <p:cNvSpPr/>
          <p:nvPr/>
        </p:nvSpPr>
        <p:spPr>
          <a:xfrm>
            <a:off x="550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1" name="object-208: LLC 配置">
            <a:extLst>
              <a:ext uri="{FF2B5EF4-FFF2-40B4-BE49-F238E27FC236}">
                <a16:creationId xmlns:a16="http://schemas.microsoft.com/office/drawing/2014/main" id="{4850A438-520E-46CE-9B5E-D7B9D1A4D6C6}"/>
              </a:ext>
            </a:extLst>
          </p:cNvPr>
          <p:cNvSpPr txBox="1"/>
          <p:nvPr/>
        </p:nvSpPr>
        <p:spPr>
          <a:xfrm>
            <a:off x="5841049" y="4765362"/>
            <a:ext cx="41678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配置</a:t>
            </a:r>
          </a:p>
        </p:txBody>
      </p:sp>
      <p:sp>
        <p:nvSpPr>
          <p:cNvPr id="982" name="object-209: SPM way / cache">
            <a:extLst>
              <a:ext uri="{FF2B5EF4-FFF2-40B4-BE49-F238E27FC236}">
                <a16:creationId xmlns:a16="http://schemas.microsoft.com/office/drawing/2014/main" id="{0236DEC4-5022-405F-82F3-A2E336CD7A4E}"/>
              </a:ext>
            </a:extLst>
          </p:cNvPr>
          <p:cNvSpPr txBox="1"/>
          <p:nvPr/>
        </p:nvSpPr>
        <p:spPr>
          <a:xfrm>
            <a:off x="5685560" y="4877935"/>
            <a:ext cx="727763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SPM way / cache</a:t>
            </a:r>
          </a:p>
        </p:txBody>
      </p:sp>
      <p:cxnSp>
        <p:nvCxnSpPr>
          <p:cNvPr id="983" name="reg-drop-llc-regs">
            <a:extLst>
              <a:ext uri="{FF2B5EF4-FFF2-40B4-BE49-F238E27FC236}">
                <a16:creationId xmlns:a16="http://schemas.microsoft.com/office/drawing/2014/main" id="{71B9A931-7C71-4E1E-AD9B-A851CC840434}"/>
              </a:ext>
            </a:extLst>
          </p:cNvPr>
          <p:cNvCxnSpPr/>
          <p:nvPr/>
        </p:nvCxnSpPr>
        <p:spPr>
          <a:xfrm>
            <a:off x="543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4" name="uart">
            <a:extLst>
              <a:ext uri="{FF2B5EF4-FFF2-40B4-BE49-F238E27FC236}">
                <a16:creationId xmlns:a16="http://schemas.microsoft.com/office/drawing/2014/main" id="{0A05E195-E453-4C72-BA7E-7E289A33C4AF}"/>
              </a:ext>
            </a:extLst>
          </p:cNvPr>
          <p:cNvSpPr/>
          <p:nvPr/>
        </p:nvSpPr>
        <p:spPr>
          <a:xfrm>
            <a:off x="42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5" name="object-212: UART">
            <a:extLst>
              <a:ext uri="{FF2B5EF4-FFF2-40B4-BE49-F238E27FC236}">
                <a16:creationId xmlns:a16="http://schemas.microsoft.com/office/drawing/2014/main" id="{4D68796E-FF0C-4421-A3E2-C7DE0A86CBD3}"/>
              </a:ext>
            </a:extLst>
          </p:cNvPr>
          <p:cNvSpPr txBox="1"/>
          <p:nvPr/>
        </p:nvSpPr>
        <p:spPr>
          <a:xfrm>
            <a:off x="822764" y="5076936"/>
            <a:ext cx="29335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UART</a:t>
            </a:r>
          </a:p>
        </p:txBody>
      </p:sp>
      <p:sp>
        <p:nvSpPr>
          <p:cNvPr id="986" name="object-213: 串口控制">
            <a:extLst>
              <a:ext uri="{FF2B5EF4-FFF2-40B4-BE49-F238E27FC236}">
                <a16:creationId xmlns:a16="http://schemas.microsoft.com/office/drawing/2014/main" id="{33011D98-A822-4F03-A232-88E13A6EDB3A}"/>
              </a:ext>
            </a:extLst>
          </p:cNvPr>
          <p:cNvSpPr txBox="1"/>
          <p:nvPr/>
        </p:nvSpPr>
        <p:spPr>
          <a:xfrm>
            <a:off x="789903" y="5189509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串口控制</a:t>
            </a:r>
          </a:p>
        </p:txBody>
      </p:sp>
      <p:cxnSp>
        <p:nvCxnSpPr>
          <p:cNvPr id="987" name="reg-drop-uart">
            <a:extLst>
              <a:ext uri="{FF2B5EF4-FFF2-40B4-BE49-F238E27FC236}">
                <a16:creationId xmlns:a16="http://schemas.microsoft.com/office/drawing/2014/main" id="{24F9AE8A-0E0F-426D-8FA4-A44E23A7D268}"/>
              </a:ext>
            </a:extLst>
          </p:cNvPr>
          <p:cNvCxnSpPr/>
          <p:nvPr/>
        </p:nvCxnSpPr>
        <p:spPr>
          <a:xfrm>
            <a:off x="35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8" name="i2c">
            <a:extLst>
              <a:ext uri="{FF2B5EF4-FFF2-40B4-BE49-F238E27FC236}">
                <a16:creationId xmlns:a16="http://schemas.microsoft.com/office/drawing/2014/main" id="{26231ED5-CB1A-46EF-AEDD-CA9FB1C47A96}"/>
              </a:ext>
            </a:extLst>
          </p:cNvPr>
          <p:cNvSpPr/>
          <p:nvPr/>
        </p:nvSpPr>
        <p:spPr>
          <a:xfrm>
            <a:off x="169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9" name="object-216: I2C">
            <a:extLst>
              <a:ext uri="{FF2B5EF4-FFF2-40B4-BE49-F238E27FC236}">
                <a16:creationId xmlns:a16="http://schemas.microsoft.com/office/drawing/2014/main" id="{E5E59EA7-1B0D-4983-9A36-ED3811BA94D7}"/>
              </a:ext>
            </a:extLst>
          </p:cNvPr>
          <p:cNvSpPr txBox="1"/>
          <p:nvPr/>
        </p:nvSpPr>
        <p:spPr>
          <a:xfrm>
            <a:off x="2156885" y="5076936"/>
            <a:ext cx="1651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I2C</a:t>
            </a:r>
          </a:p>
        </p:txBody>
      </p:sp>
      <p:sp>
        <p:nvSpPr>
          <p:cNvPr id="990" name="object-217: 两线串行控制">
            <a:extLst>
              <a:ext uri="{FF2B5EF4-FFF2-40B4-BE49-F238E27FC236}">
                <a16:creationId xmlns:a16="http://schemas.microsoft.com/office/drawing/2014/main" id="{9DF1137C-ED31-4D8F-BA9A-AC0ED9C7B763}"/>
              </a:ext>
            </a:extLst>
          </p:cNvPr>
          <p:cNvSpPr txBox="1"/>
          <p:nvPr/>
        </p:nvSpPr>
        <p:spPr>
          <a:xfrm>
            <a:off x="1970135" y="5189509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两线串行控制</a:t>
            </a:r>
          </a:p>
        </p:txBody>
      </p:sp>
      <p:cxnSp>
        <p:nvCxnSpPr>
          <p:cNvPr id="991" name="reg-drop-i2c">
            <a:extLst>
              <a:ext uri="{FF2B5EF4-FFF2-40B4-BE49-F238E27FC236}">
                <a16:creationId xmlns:a16="http://schemas.microsoft.com/office/drawing/2014/main" id="{33C02DF2-E598-4A66-A905-FC66F701D132}"/>
              </a:ext>
            </a:extLst>
          </p:cNvPr>
          <p:cNvCxnSpPr/>
          <p:nvPr/>
        </p:nvCxnSpPr>
        <p:spPr>
          <a:xfrm>
            <a:off x="162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92" name="spi">
            <a:extLst>
              <a:ext uri="{FF2B5EF4-FFF2-40B4-BE49-F238E27FC236}">
                <a16:creationId xmlns:a16="http://schemas.microsoft.com/office/drawing/2014/main" id="{EBB02BB1-9466-4CCA-95CE-5B74B323BACF}"/>
              </a:ext>
            </a:extLst>
          </p:cNvPr>
          <p:cNvSpPr/>
          <p:nvPr/>
        </p:nvSpPr>
        <p:spPr>
          <a:xfrm>
            <a:off x="296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93" name="object-220: SPI host">
            <a:extLst>
              <a:ext uri="{FF2B5EF4-FFF2-40B4-BE49-F238E27FC236}">
                <a16:creationId xmlns:a16="http://schemas.microsoft.com/office/drawing/2014/main" id="{BFDFD177-B88E-40DB-BBDB-EAB543912B78}"/>
              </a:ext>
            </a:extLst>
          </p:cNvPr>
          <p:cNvSpPr txBox="1"/>
          <p:nvPr/>
        </p:nvSpPr>
        <p:spPr>
          <a:xfrm>
            <a:off x="3298645" y="5076936"/>
            <a:ext cx="42159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SPI host</a:t>
            </a:r>
          </a:p>
        </p:txBody>
      </p:sp>
      <p:sp>
        <p:nvSpPr>
          <p:cNvPr id="994" name="object-221: Flash / SD">
            <a:extLst>
              <a:ext uri="{FF2B5EF4-FFF2-40B4-BE49-F238E27FC236}">
                <a16:creationId xmlns:a16="http://schemas.microsoft.com/office/drawing/2014/main" id="{BE7CD425-6584-4BCA-B607-28CF337E748B}"/>
              </a:ext>
            </a:extLst>
          </p:cNvPr>
          <p:cNvSpPr txBox="1"/>
          <p:nvPr/>
        </p:nvSpPr>
        <p:spPr>
          <a:xfrm>
            <a:off x="3293836" y="5189509"/>
            <a:ext cx="43120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Flash / SD</a:t>
            </a:r>
          </a:p>
        </p:txBody>
      </p:sp>
      <p:cxnSp>
        <p:nvCxnSpPr>
          <p:cNvPr id="995" name="reg-drop-spi">
            <a:extLst>
              <a:ext uri="{FF2B5EF4-FFF2-40B4-BE49-F238E27FC236}">
                <a16:creationId xmlns:a16="http://schemas.microsoft.com/office/drawing/2014/main" id="{75EE2A7B-F85C-44CC-9316-C28C19486904}"/>
              </a:ext>
            </a:extLst>
          </p:cNvPr>
          <p:cNvCxnSpPr/>
          <p:nvPr/>
        </p:nvCxnSpPr>
        <p:spPr>
          <a:xfrm>
            <a:off x="289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96" name="gpio">
            <a:extLst>
              <a:ext uri="{FF2B5EF4-FFF2-40B4-BE49-F238E27FC236}">
                <a16:creationId xmlns:a16="http://schemas.microsoft.com/office/drawing/2014/main" id="{531F9969-2BDC-4235-9B95-14073DC47407}"/>
              </a:ext>
            </a:extLst>
          </p:cNvPr>
          <p:cNvSpPr/>
          <p:nvPr/>
        </p:nvSpPr>
        <p:spPr>
          <a:xfrm>
            <a:off x="423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97" name="object-224: GPIO">
            <a:extLst>
              <a:ext uri="{FF2B5EF4-FFF2-40B4-BE49-F238E27FC236}">
                <a16:creationId xmlns:a16="http://schemas.microsoft.com/office/drawing/2014/main" id="{A0A68E56-1DB7-4B3B-844E-212BBEF85F06}"/>
              </a:ext>
            </a:extLst>
          </p:cNvPr>
          <p:cNvSpPr txBox="1"/>
          <p:nvPr/>
        </p:nvSpPr>
        <p:spPr>
          <a:xfrm>
            <a:off x="4647994" y="5076936"/>
            <a:ext cx="26289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GPIO</a:t>
            </a:r>
          </a:p>
        </p:txBody>
      </p:sp>
      <p:sp>
        <p:nvSpPr>
          <p:cNvPr id="998" name="object-225: 通用 IO">
            <a:extLst>
              <a:ext uri="{FF2B5EF4-FFF2-40B4-BE49-F238E27FC236}">
                <a16:creationId xmlns:a16="http://schemas.microsoft.com/office/drawing/2014/main" id="{BE3767B7-0672-4715-B191-0FE0F0537E4A}"/>
              </a:ext>
            </a:extLst>
          </p:cNvPr>
          <p:cNvSpPr txBox="1"/>
          <p:nvPr/>
        </p:nvSpPr>
        <p:spPr>
          <a:xfrm>
            <a:off x="4626353" y="5189509"/>
            <a:ext cx="3061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通用 IO</a:t>
            </a:r>
          </a:p>
        </p:txBody>
      </p:sp>
      <p:cxnSp>
        <p:nvCxnSpPr>
          <p:cNvPr id="999" name="reg-drop-gpio">
            <a:extLst>
              <a:ext uri="{FF2B5EF4-FFF2-40B4-BE49-F238E27FC236}">
                <a16:creationId xmlns:a16="http://schemas.microsoft.com/office/drawing/2014/main" id="{1E158469-D44F-46B6-9D3B-74C87819F220}"/>
              </a:ext>
            </a:extLst>
          </p:cNvPr>
          <p:cNvCxnSpPr/>
          <p:nvPr/>
        </p:nvCxnSpPr>
        <p:spPr>
          <a:xfrm>
            <a:off x="416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0" name="slink-regs">
            <a:extLst>
              <a:ext uri="{FF2B5EF4-FFF2-40B4-BE49-F238E27FC236}">
                <a16:creationId xmlns:a16="http://schemas.microsoft.com/office/drawing/2014/main" id="{CDD8355B-8F00-4633-BA55-AE916B8B014D}"/>
              </a:ext>
            </a:extLst>
          </p:cNvPr>
          <p:cNvSpPr/>
          <p:nvPr/>
        </p:nvSpPr>
        <p:spPr>
          <a:xfrm>
            <a:off x="550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1" name="object-228: Serial Link 配置">
            <a:extLst>
              <a:ext uri="{FF2B5EF4-FFF2-40B4-BE49-F238E27FC236}">
                <a16:creationId xmlns:a16="http://schemas.microsoft.com/office/drawing/2014/main" id="{3C4C3E06-856F-47E2-AD83-76F63FD1CD68}"/>
              </a:ext>
            </a:extLst>
          </p:cNvPr>
          <p:cNvSpPr txBox="1"/>
          <p:nvPr/>
        </p:nvSpPr>
        <p:spPr>
          <a:xfrm>
            <a:off x="5667124" y="5076936"/>
            <a:ext cx="76463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配置</a:t>
            </a:r>
          </a:p>
        </p:txBody>
      </p:sp>
      <p:sp>
        <p:nvSpPr>
          <p:cNvPr id="1002" name="object-229: 链路控制">
            <a:extLst>
              <a:ext uri="{FF2B5EF4-FFF2-40B4-BE49-F238E27FC236}">
                <a16:creationId xmlns:a16="http://schemas.microsoft.com/office/drawing/2014/main" id="{54185CD1-FF3C-49DC-AC94-EDB4EF44AD3B}"/>
              </a:ext>
            </a:extLst>
          </p:cNvPr>
          <p:cNvSpPr txBox="1"/>
          <p:nvPr/>
        </p:nvSpPr>
        <p:spPr>
          <a:xfrm>
            <a:off x="5869903" y="5189509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链路控制</a:t>
            </a:r>
          </a:p>
        </p:txBody>
      </p:sp>
      <p:cxnSp>
        <p:nvCxnSpPr>
          <p:cNvPr id="1003" name="reg-drop-slink-regs">
            <a:extLst>
              <a:ext uri="{FF2B5EF4-FFF2-40B4-BE49-F238E27FC236}">
                <a16:creationId xmlns:a16="http://schemas.microsoft.com/office/drawing/2014/main" id="{F422A35D-92F3-45F9-A239-44FEDE569549}"/>
              </a:ext>
            </a:extLst>
          </p:cNvPr>
          <p:cNvCxnSpPr/>
          <p:nvPr/>
        </p:nvCxnSpPr>
        <p:spPr>
          <a:xfrm>
            <a:off x="543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4" name="vga-regs">
            <a:extLst>
              <a:ext uri="{FF2B5EF4-FFF2-40B4-BE49-F238E27FC236}">
                <a16:creationId xmlns:a16="http://schemas.microsoft.com/office/drawing/2014/main" id="{8EBF7778-79EB-434E-B3BD-C6A1DC6BE90A}"/>
              </a:ext>
            </a:extLst>
          </p:cNvPr>
          <p:cNvSpPr/>
          <p:nvPr/>
        </p:nvSpPr>
        <p:spPr>
          <a:xfrm>
            <a:off x="42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5" name="object-232: VGA 配置">
            <a:extLst>
              <a:ext uri="{FF2B5EF4-FFF2-40B4-BE49-F238E27FC236}">
                <a16:creationId xmlns:a16="http://schemas.microsoft.com/office/drawing/2014/main" id="{62ADDD3C-BE0D-4B59-A909-CF18BA4E758E}"/>
              </a:ext>
            </a:extLst>
          </p:cNvPr>
          <p:cNvSpPr txBox="1"/>
          <p:nvPr/>
        </p:nvSpPr>
        <p:spPr>
          <a:xfrm>
            <a:off x="737003" y="5388509"/>
            <a:ext cx="46487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 配置</a:t>
            </a:r>
          </a:p>
        </p:txBody>
      </p:sp>
      <p:sp>
        <p:nvSpPr>
          <p:cNvPr id="1006" name="object-233: 时序 / 帧地址">
            <a:extLst>
              <a:ext uri="{FF2B5EF4-FFF2-40B4-BE49-F238E27FC236}">
                <a16:creationId xmlns:a16="http://schemas.microsoft.com/office/drawing/2014/main" id="{7A3C3F56-B602-418F-BAE9-8C9940A76380}"/>
              </a:ext>
            </a:extLst>
          </p:cNvPr>
          <p:cNvSpPr txBox="1"/>
          <p:nvPr/>
        </p:nvSpPr>
        <p:spPr>
          <a:xfrm>
            <a:off x="698533" y="5501082"/>
            <a:ext cx="54181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时序 / 帧地址</a:t>
            </a:r>
          </a:p>
        </p:txBody>
      </p:sp>
      <p:cxnSp>
        <p:nvCxnSpPr>
          <p:cNvPr id="1007" name="reg-drop-vga-regs">
            <a:extLst>
              <a:ext uri="{FF2B5EF4-FFF2-40B4-BE49-F238E27FC236}">
                <a16:creationId xmlns:a16="http://schemas.microsoft.com/office/drawing/2014/main" id="{284FB17E-CC08-430C-A272-1318860E022A}"/>
              </a:ext>
            </a:extLst>
          </p:cNvPr>
          <p:cNvCxnSpPr/>
          <p:nvPr/>
        </p:nvCxnSpPr>
        <p:spPr>
          <a:xfrm>
            <a:off x="35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8" name="usb-regs">
            <a:extLst>
              <a:ext uri="{FF2B5EF4-FFF2-40B4-BE49-F238E27FC236}">
                <a16:creationId xmlns:a16="http://schemas.microsoft.com/office/drawing/2014/main" id="{0B8EBE65-C149-4BCC-BFC6-D1328A87BF30}"/>
              </a:ext>
            </a:extLst>
          </p:cNvPr>
          <p:cNvSpPr/>
          <p:nvPr/>
        </p:nvSpPr>
        <p:spPr>
          <a:xfrm>
            <a:off x="169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9" name="object-236: USB 配置">
            <a:extLst>
              <a:ext uri="{FF2B5EF4-FFF2-40B4-BE49-F238E27FC236}">
                <a16:creationId xmlns:a16="http://schemas.microsoft.com/office/drawing/2014/main" id="{B1B269C9-EB8E-41F4-AA9C-809BAA64C159}"/>
              </a:ext>
            </a:extLst>
          </p:cNvPr>
          <p:cNvSpPr txBox="1"/>
          <p:nvPr/>
        </p:nvSpPr>
        <p:spPr>
          <a:xfrm>
            <a:off x="2015019" y="5388509"/>
            <a:ext cx="44884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配置</a:t>
            </a:r>
          </a:p>
        </p:txBody>
      </p:sp>
      <p:sp>
        <p:nvSpPr>
          <p:cNvPr id="1010" name="object-237: OHCI 寄存器">
            <a:extLst>
              <a:ext uri="{FF2B5EF4-FFF2-40B4-BE49-F238E27FC236}">
                <a16:creationId xmlns:a16="http://schemas.microsoft.com/office/drawing/2014/main" id="{38A2F12A-0BFD-48FA-9E3B-E676E3E7BCCF}"/>
              </a:ext>
            </a:extLst>
          </p:cNvPr>
          <p:cNvSpPr txBox="1"/>
          <p:nvPr/>
        </p:nvSpPr>
        <p:spPr>
          <a:xfrm>
            <a:off x="1977349" y="5501082"/>
            <a:ext cx="52418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OHCI 寄存器</a:t>
            </a:r>
          </a:p>
        </p:txBody>
      </p:sp>
      <p:cxnSp>
        <p:nvCxnSpPr>
          <p:cNvPr id="1011" name="reg-drop-usb-regs">
            <a:extLst>
              <a:ext uri="{FF2B5EF4-FFF2-40B4-BE49-F238E27FC236}">
                <a16:creationId xmlns:a16="http://schemas.microsoft.com/office/drawing/2014/main" id="{199126BC-EE78-4602-8075-36C775B6FB4C}"/>
              </a:ext>
            </a:extLst>
          </p:cNvPr>
          <p:cNvCxnSpPr/>
          <p:nvPr/>
        </p:nvCxnSpPr>
        <p:spPr>
          <a:xfrm>
            <a:off x="162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12" name="err-vga">
            <a:extLst>
              <a:ext uri="{FF2B5EF4-FFF2-40B4-BE49-F238E27FC236}">
                <a16:creationId xmlns:a16="http://schemas.microsoft.com/office/drawing/2014/main" id="{4971F93E-DE8F-4E5B-B7DF-E146A61F4308}"/>
              </a:ext>
            </a:extLst>
          </p:cNvPr>
          <p:cNvSpPr/>
          <p:nvPr/>
        </p:nvSpPr>
        <p:spPr>
          <a:xfrm>
            <a:off x="296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13" name="object-240: Bus-error · VGA">
            <a:extLst>
              <a:ext uri="{FF2B5EF4-FFF2-40B4-BE49-F238E27FC236}">
                <a16:creationId xmlns:a16="http://schemas.microsoft.com/office/drawing/2014/main" id="{EEA3CDCE-84C0-4DFF-AAE2-9F4939D6617F}"/>
              </a:ext>
            </a:extLst>
          </p:cNvPr>
          <p:cNvSpPr txBox="1"/>
          <p:nvPr/>
        </p:nvSpPr>
        <p:spPr>
          <a:xfrm>
            <a:off x="3097468" y="5388509"/>
            <a:ext cx="82394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VGA</a:t>
            </a:r>
          </a:p>
        </p:txBody>
      </p:sp>
      <p:sp>
        <p:nvSpPr>
          <p:cNvPr id="1014" name="object-241: 错误记录">
            <a:extLst>
              <a:ext uri="{FF2B5EF4-FFF2-40B4-BE49-F238E27FC236}">
                <a16:creationId xmlns:a16="http://schemas.microsoft.com/office/drawing/2014/main" id="{2039AC29-21CE-44B6-B608-D5F3229760D9}"/>
              </a:ext>
            </a:extLst>
          </p:cNvPr>
          <p:cNvSpPr txBox="1"/>
          <p:nvPr/>
        </p:nvSpPr>
        <p:spPr>
          <a:xfrm>
            <a:off x="3329903" y="5501082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cxnSp>
        <p:nvCxnSpPr>
          <p:cNvPr id="1015" name="reg-drop-err-vga">
            <a:extLst>
              <a:ext uri="{FF2B5EF4-FFF2-40B4-BE49-F238E27FC236}">
                <a16:creationId xmlns:a16="http://schemas.microsoft.com/office/drawing/2014/main" id="{B8FCE69F-48A7-40A4-8BC8-A7382A1D3A87}"/>
              </a:ext>
            </a:extLst>
          </p:cNvPr>
          <p:cNvCxnSpPr/>
          <p:nvPr/>
        </p:nvCxnSpPr>
        <p:spPr>
          <a:xfrm>
            <a:off x="289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16" name="err-dma">
            <a:extLst>
              <a:ext uri="{FF2B5EF4-FFF2-40B4-BE49-F238E27FC236}">
                <a16:creationId xmlns:a16="http://schemas.microsoft.com/office/drawing/2014/main" id="{43E3549C-BCEC-4288-9009-5ABCA5983F94}"/>
              </a:ext>
            </a:extLst>
          </p:cNvPr>
          <p:cNvSpPr/>
          <p:nvPr/>
        </p:nvSpPr>
        <p:spPr>
          <a:xfrm>
            <a:off x="423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17" name="object-244: Bus-error · iDMA">
            <a:extLst>
              <a:ext uri="{FF2B5EF4-FFF2-40B4-BE49-F238E27FC236}">
                <a16:creationId xmlns:a16="http://schemas.microsoft.com/office/drawing/2014/main" id="{D9335C45-2A62-4A03-8717-F5B43F6397F3}"/>
              </a:ext>
            </a:extLst>
          </p:cNvPr>
          <p:cNvSpPr txBox="1"/>
          <p:nvPr/>
        </p:nvSpPr>
        <p:spPr>
          <a:xfrm>
            <a:off x="4334607" y="5388509"/>
            <a:ext cx="8896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iDMA</a:t>
            </a:r>
          </a:p>
        </p:txBody>
      </p:sp>
      <p:sp>
        <p:nvSpPr>
          <p:cNvPr id="1018" name="object-245: 错误记录">
            <a:extLst>
              <a:ext uri="{FF2B5EF4-FFF2-40B4-BE49-F238E27FC236}">
                <a16:creationId xmlns:a16="http://schemas.microsoft.com/office/drawing/2014/main" id="{F9D2C7A3-5309-4D7C-BD5F-13E2C5CFCC48}"/>
              </a:ext>
            </a:extLst>
          </p:cNvPr>
          <p:cNvSpPr txBox="1"/>
          <p:nvPr/>
        </p:nvSpPr>
        <p:spPr>
          <a:xfrm>
            <a:off x="4599903" y="5501082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cxnSp>
        <p:nvCxnSpPr>
          <p:cNvPr id="1019" name="reg-drop-err-dma">
            <a:extLst>
              <a:ext uri="{FF2B5EF4-FFF2-40B4-BE49-F238E27FC236}">
                <a16:creationId xmlns:a16="http://schemas.microsoft.com/office/drawing/2014/main" id="{79CD45D7-22E3-4E2D-A607-0848D0205CF7}"/>
              </a:ext>
            </a:extLst>
          </p:cNvPr>
          <p:cNvCxnSpPr/>
          <p:nvPr/>
        </p:nvCxnSpPr>
        <p:spPr>
          <a:xfrm>
            <a:off x="416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0" name="err-cpu">
            <a:extLst>
              <a:ext uri="{FF2B5EF4-FFF2-40B4-BE49-F238E27FC236}">
                <a16:creationId xmlns:a16="http://schemas.microsoft.com/office/drawing/2014/main" id="{F7273D17-4ADC-488E-B342-FF60E155EE7E}"/>
              </a:ext>
            </a:extLst>
          </p:cNvPr>
          <p:cNvSpPr/>
          <p:nvPr/>
        </p:nvSpPr>
        <p:spPr>
          <a:xfrm>
            <a:off x="550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1" name="object-248: Bus-error · CPU">
            <a:extLst>
              <a:ext uri="{FF2B5EF4-FFF2-40B4-BE49-F238E27FC236}">
                <a16:creationId xmlns:a16="http://schemas.microsoft.com/office/drawing/2014/main" id="{0174A861-FE55-4751-9DF1-CF02FEFC740E}"/>
              </a:ext>
            </a:extLst>
          </p:cNvPr>
          <p:cNvSpPr txBox="1"/>
          <p:nvPr/>
        </p:nvSpPr>
        <p:spPr>
          <a:xfrm>
            <a:off x="5643880" y="5388509"/>
            <a:ext cx="81111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CPU</a:t>
            </a:r>
          </a:p>
        </p:txBody>
      </p:sp>
      <p:sp>
        <p:nvSpPr>
          <p:cNvPr id="1022" name="object-249: 每核错误记录">
            <a:extLst>
              <a:ext uri="{FF2B5EF4-FFF2-40B4-BE49-F238E27FC236}">
                <a16:creationId xmlns:a16="http://schemas.microsoft.com/office/drawing/2014/main" id="{958C0EE9-8E64-4C3C-8F0D-760AF4E39717}"/>
              </a:ext>
            </a:extLst>
          </p:cNvPr>
          <p:cNvSpPr txBox="1"/>
          <p:nvPr/>
        </p:nvSpPr>
        <p:spPr>
          <a:xfrm>
            <a:off x="5780135" y="5501082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每核错误记录</a:t>
            </a:r>
          </a:p>
        </p:txBody>
      </p:sp>
      <p:cxnSp>
        <p:nvCxnSpPr>
          <p:cNvPr id="1023" name="reg-drop-err-cpu">
            <a:extLst>
              <a:ext uri="{FF2B5EF4-FFF2-40B4-BE49-F238E27FC236}">
                <a16:creationId xmlns:a16="http://schemas.microsoft.com/office/drawing/2014/main" id="{20C8931B-3EF2-45DE-9315-D08D71B4C2B7}"/>
              </a:ext>
            </a:extLst>
          </p:cNvPr>
          <p:cNvCxnSpPr/>
          <p:nvPr/>
        </p:nvCxnSpPr>
        <p:spPr>
          <a:xfrm>
            <a:off x="543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4" name="irq-router">
            <a:extLst>
              <a:ext uri="{FF2B5EF4-FFF2-40B4-BE49-F238E27FC236}">
                <a16:creationId xmlns:a16="http://schemas.microsoft.com/office/drawing/2014/main" id="{13797B51-9EEA-40B5-9B99-22B72980494E}"/>
              </a:ext>
            </a:extLst>
          </p:cNvPr>
          <p:cNvSpPr/>
          <p:nvPr/>
        </p:nvSpPr>
        <p:spPr>
          <a:xfrm>
            <a:off x="42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5" name="object-252: IRQ router">
            <a:extLst>
              <a:ext uri="{FF2B5EF4-FFF2-40B4-BE49-F238E27FC236}">
                <a16:creationId xmlns:a16="http://schemas.microsoft.com/office/drawing/2014/main" id="{B34D039D-8DF6-4EED-B0DC-08DD07C36A3C}"/>
              </a:ext>
            </a:extLst>
          </p:cNvPr>
          <p:cNvSpPr txBox="1"/>
          <p:nvPr/>
        </p:nvSpPr>
        <p:spPr>
          <a:xfrm>
            <a:off x="698532" y="5700082"/>
            <a:ext cx="54181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IRQ router</a:t>
            </a:r>
          </a:p>
        </p:txBody>
      </p:sp>
      <p:sp>
        <p:nvSpPr>
          <p:cNvPr id="1026" name="object-253: 可选中断路由">
            <a:extLst>
              <a:ext uri="{FF2B5EF4-FFF2-40B4-BE49-F238E27FC236}">
                <a16:creationId xmlns:a16="http://schemas.microsoft.com/office/drawing/2014/main" id="{6B0677D4-70F1-43E5-A7BB-4E174ACC48F1}"/>
              </a:ext>
            </a:extLst>
          </p:cNvPr>
          <p:cNvSpPr txBox="1"/>
          <p:nvPr/>
        </p:nvSpPr>
        <p:spPr>
          <a:xfrm>
            <a:off x="700135" y="581265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可选中断路由</a:t>
            </a:r>
          </a:p>
        </p:txBody>
      </p:sp>
      <p:cxnSp>
        <p:nvCxnSpPr>
          <p:cNvPr id="1027" name="reg-drop-irq-router">
            <a:extLst>
              <a:ext uri="{FF2B5EF4-FFF2-40B4-BE49-F238E27FC236}">
                <a16:creationId xmlns:a16="http://schemas.microsoft.com/office/drawing/2014/main" id="{6D2B767A-C641-413C-98C9-B4F951EC1933}"/>
              </a:ext>
            </a:extLst>
          </p:cNvPr>
          <p:cNvCxnSpPr/>
          <p:nvPr/>
        </p:nvCxnSpPr>
        <p:spPr>
          <a:xfrm>
            <a:off x="35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8" name="axi-rt-config">
            <a:extLst>
              <a:ext uri="{FF2B5EF4-FFF2-40B4-BE49-F238E27FC236}">
                <a16:creationId xmlns:a16="http://schemas.microsoft.com/office/drawing/2014/main" id="{23BA068B-65A2-43EC-9FE6-5A73B4991D62}"/>
              </a:ext>
            </a:extLst>
          </p:cNvPr>
          <p:cNvSpPr/>
          <p:nvPr/>
        </p:nvSpPr>
        <p:spPr>
          <a:xfrm>
            <a:off x="169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9" name="object-256: AXI RT 配置">
            <a:extLst>
              <a:ext uri="{FF2B5EF4-FFF2-40B4-BE49-F238E27FC236}">
                <a16:creationId xmlns:a16="http://schemas.microsoft.com/office/drawing/2014/main" id="{75223ABC-7E74-4916-9B7F-FB5526BAB035}"/>
              </a:ext>
            </a:extLst>
          </p:cNvPr>
          <p:cNvSpPr txBox="1"/>
          <p:nvPr/>
        </p:nvSpPr>
        <p:spPr>
          <a:xfrm>
            <a:off x="1946892" y="5700082"/>
            <a:ext cx="58509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RT 配置</a:t>
            </a:r>
          </a:p>
        </p:txBody>
      </p:sp>
      <p:sp>
        <p:nvSpPr>
          <p:cNvPr id="1030" name="object-257: 可选流量调节">
            <a:extLst>
              <a:ext uri="{FF2B5EF4-FFF2-40B4-BE49-F238E27FC236}">
                <a16:creationId xmlns:a16="http://schemas.microsoft.com/office/drawing/2014/main" id="{45B6F20A-09B8-4750-9BE3-43227AC3557B}"/>
              </a:ext>
            </a:extLst>
          </p:cNvPr>
          <p:cNvSpPr txBox="1"/>
          <p:nvPr/>
        </p:nvSpPr>
        <p:spPr>
          <a:xfrm>
            <a:off x="1970135" y="581265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可选流量调节</a:t>
            </a:r>
          </a:p>
        </p:txBody>
      </p:sp>
      <p:cxnSp>
        <p:nvCxnSpPr>
          <p:cNvPr id="1031" name="reg-drop-axi-rt-config">
            <a:extLst>
              <a:ext uri="{FF2B5EF4-FFF2-40B4-BE49-F238E27FC236}">
                <a16:creationId xmlns:a16="http://schemas.microsoft.com/office/drawing/2014/main" id="{4E280EBF-535F-4CFE-88E7-3B0E4A9BCA5E}"/>
              </a:ext>
            </a:extLst>
          </p:cNvPr>
          <p:cNvCxnSpPr/>
          <p:nvPr/>
        </p:nvCxnSpPr>
        <p:spPr>
          <a:xfrm>
            <a:off x="162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32" name="clic">
            <a:extLst>
              <a:ext uri="{FF2B5EF4-FFF2-40B4-BE49-F238E27FC236}">
                <a16:creationId xmlns:a16="http://schemas.microsoft.com/office/drawing/2014/main" id="{024727BA-5D26-4568-8F2F-DF105739600A}"/>
              </a:ext>
            </a:extLst>
          </p:cNvPr>
          <p:cNvSpPr/>
          <p:nvPr/>
        </p:nvSpPr>
        <p:spPr>
          <a:xfrm>
            <a:off x="296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33" name="object-260: CLIC">
            <a:extLst>
              <a:ext uri="{FF2B5EF4-FFF2-40B4-BE49-F238E27FC236}">
                <a16:creationId xmlns:a16="http://schemas.microsoft.com/office/drawing/2014/main" id="{9A26F5E1-1647-427C-99C4-FA38AAA5220C}"/>
              </a:ext>
            </a:extLst>
          </p:cNvPr>
          <p:cNvSpPr txBox="1"/>
          <p:nvPr/>
        </p:nvSpPr>
        <p:spPr>
          <a:xfrm>
            <a:off x="3395627" y="5700082"/>
            <a:ext cx="22762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CLIC</a:t>
            </a:r>
          </a:p>
        </p:txBody>
      </p:sp>
      <p:sp>
        <p:nvSpPr>
          <p:cNvPr id="1034" name="object-261: 可选每核中断控制">
            <a:extLst>
              <a:ext uri="{FF2B5EF4-FFF2-40B4-BE49-F238E27FC236}">
                <a16:creationId xmlns:a16="http://schemas.microsoft.com/office/drawing/2014/main" id="{9D7BB867-486B-4DA1-B8CC-E35945C7C943}"/>
              </a:ext>
            </a:extLst>
          </p:cNvPr>
          <p:cNvSpPr txBox="1"/>
          <p:nvPr/>
        </p:nvSpPr>
        <p:spPr>
          <a:xfrm>
            <a:off x="3150368" y="5812655"/>
            <a:ext cx="71814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可选每核中断控制</a:t>
            </a:r>
          </a:p>
        </p:txBody>
      </p:sp>
      <p:cxnSp>
        <p:nvCxnSpPr>
          <p:cNvPr id="1035" name="reg-drop-clic">
            <a:extLst>
              <a:ext uri="{FF2B5EF4-FFF2-40B4-BE49-F238E27FC236}">
                <a16:creationId xmlns:a16="http://schemas.microsoft.com/office/drawing/2014/main" id="{1486CE0E-1CBD-49A6-AFA7-ABCFBCAD09BC}"/>
              </a:ext>
            </a:extLst>
          </p:cNvPr>
          <p:cNvCxnSpPr/>
          <p:nvPr/>
        </p:nvCxnSpPr>
        <p:spPr>
          <a:xfrm>
            <a:off x="289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36" name="reg-error">
            <a:extLst>
              <a:ext uri="{FF2B5EF4-FFF2-40B4-BE49-F238E27FC236}">
                <a16:creationId xmlns:a16="http://schemas.microsoft.com/office/drawing/2014/main" id="{ED53C377-7C3F-4110-80FF-EFDD6D02CF81}"/>
              </a:ext>
            </a:extLst>
          </p:cNvPr>
          <p:cNvSpPr/>
          <p:nvPr/>
        </p:nvSpPr>
        <p:spPr>
          <a:xfrm>
            <a:off x="423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37" name="object-264: reg_err_slv">
            <a:extLst>
              <a:ext uri="{FF2B5EF4-FFF2-40B4-BE49-F238E27FC236}">
                <a16:creationId xmlns:a16="http://schemas.microsoft.com/office/drawing/2014/main" id="{CDCDB789-0FB9-4F28-948E-9C4B450DCF9E}"/>
              </a:ext>
            </a:extLst>
          </p:cNvPr>
          <p:cNvSpPr txBox="1"/>
          <p:nvPr/>
        </p:nvSpPr>
        <p:spPr>
          <a:xfrm>
            <a:off x="4503723" y="5700082"/>
            <a:ext cx="5514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reg_err_slv</a:t>
            </a:r>
          </a:p>
        </p:txBody>
      </p:sp>
      <p:sp>
        <p:nvSpPr>
          <p:cNvPr id="1038" name="object-265: 未匹配地址">
            <a:extLst>
              <a:ext uri="{FF2B5EF4-FFF2-40B4-BE49-F238E27FC236}">
                <a16:creationId xmlns:a16="http://schemas.microsoft.com/office/drawing/2014/main" id="{03E49DD8-3869-4C9B-A29F-4BBCE7E13055}"/>
              </a:ext>
            </a:extLst>
          </p:cNvPr>
          <p:cNvSpPr txBox="1"/>
          <p:nvPr/>
        </p:nvSpPr>
        <p:spPr>
          <a:xfrm>
            <a:off x="4555019" y="5812655"/>
            <a:ext cx="44884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未匹配地址</a:t>
            </a:r>
          </a:p>
        </p:txBody>
      </p:sp>
      <p:cxnSp>
        <p:nvCxnSpPr>
          <p:cNvPr id="1039" name="reg-drop-reg-error">
            <a:extLst>
              <a:ext uri="{FF2B5EF4-FFF2-40B4-BE49-F238E27FC236}">
                <a16:creationId xmlns:a16="http://schemas.microsoft.com/office/drawing/2014/main" id="{7E71B93C-A324-41A2-AE26-DC1D42DB4C93}"/>
              </a:ext>
            </a:extLst>
          </p:cNvPr>
          <p:cNvCxnSpPr/>
          <p:nvPr/>
        </p:nvCxnSpPr>
        <p:spPr>
          <a:xfrm>
            <a:off x="416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40" name="reg-ext">
            <a:extLst>
              <a:ext uri="{FF2B5EF4-FFF2-40B4-BE49-F238E27FC236}">
                <a16:creationId xmlns:a16="http://schemas.microsoft.com/office/drawing/2014/main" id="{F3FFC9D0-EFBF-4B4C-9718-CDD3DAB52FED}"/>
              </a:ext>
            </a:extLst>
          </p:cNvPr>
          <p:cNvSpPr/>
          <p:nvPr/>
        </p:nvSpPr>
        <p:spPr>
          <a:xfrm>
            <a:off x="550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1" name="object-268: RegExt 扩展">
            <a:extLst>
              <a:ext uri="{FF2B5EF4-FFF2-40B4-BE49-F238E27FC236}">
                <a16:creationId xmlns:a16="http://schemas.microsoft.com/office/drawing/2014/main" id="{6A2DE6BF-83C4-46D2-911D-C24494A78B35}"/>
              </a:ext>
            </a:extLst>
          </p:cNvPr>
          <p:cNvSpPr txBox="1"/>
          <p:nvPr/>
        </p:nvSpPr>
        <p:spPr>
          <a:xfrm>
            <a:off x="5750480" y="5700082"/>
            <a:ext cx="59792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RegExt 扩展</a:t>
            </a:r>
          </a:p>
        </p:txBody>
      </p:sp>
      <p:sp>
        <p:nvSpPr>
          <p:cNvPr id="1042" name="object-269: 新增 IP 配置出口">
            <a:extLst>
              <a:ext uri="{FF2B5EF4-FFF2-40B4-BE49-F238E27FC236}">
                <a16:creationId xmlns:a16="http://schemas.microsoft.com/office/drawing/2014/main" id="{42D0E2BF-9B88-4214-A270-C0C43807DB3B}"/>
              </a:ext>
            </a:extLst>
          </p:cNvPr>
          <p:cNvSpPr txBox="1"/>
          <p:nvPr/>
        </p:nvSpPr>
        <p:spPr>
          <a:xfrm>
            <a:off x="5712809" y="5812655"/>
            <a:ext cx="67326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新增 IP 配置出口</a:t>
            </a:r>
          </a:p>
        </p:txBody>
      </p:sp>
      <p:cxnSp>
        <p:nvCxnSpPr>
          <p:cNvPr id="1043" name="reg-drop-reg-ext">
            <a:extLst>
              <a:ext uri="{FF2B5EF4-FFF2-40B4-BE49-F238E27FC236}">
                <a16:creationId xmlns:a16="http://schemas.microsoft.com/office/drawing/2014/main" id="{FCB356D9-4EA7-4651-851E-9D0E0E61EA3B}"/>
              </a:ext>
            </a:extLst>
          </p:cNvPr>
          <p:cNvCxnSpPr/>
          <p:nvPr/>
        </p:nvCxnSpPr>
        <p:spPr>
          <a:xfrm>
            <a:off x="543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44" name="ddr-controller">
            <a:extLst>
              <a:ext uri="{FF2B5EF4-FFF2-40B4-BE49-F238E27FC236}">
                <a16:creationId xmlns:a16="http://schemas.microsoft.com/office/drawing/2014/main" id="{F2CDF5A0-6C1B-4F5F-B14C-DA77524D63A3}"/>
              </a:ext>
            </a:extLst>
          </p:cNvPr>
          <p:cNvSpPr/>
          <p:nvPr/>
        </p:nvSpPr>
        <p:spPr>
          <a:xfrm>
            <a:off x="7065440" y="4582482"/>
            <a:ext cx="3285067" cy="12530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5" name="object-272: DDR Controller · 3 个 AXI slave">
            <a:extLst>
              <a:ext uri="{FF2B5EF4-FFF2-40B4-BE49-F238E27FC236}">
                <a16:creationId xmlns:a16="http://schemas.microsoft.com/office/drawing/2014/main" id="{2E607D15-407F-4CDC-9A28-3725F752D408}"/>
              </a:ext>
            </a:extLst>
          </p:cNvPr>
          <p:cNvSpPr txBox="1"/>
          <p:nvPr/>
        </p:nvSpPr>
        <p:spPr>
          <a:xfrm>
            <a:off x="7815102" y="5686873"/>
            <a:ext cx="1785745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 · 3 个 AXI slave</a:t>
            </a:r>
          </a:p>
        </p:txBody>
      </p:sp>
      <p:sp>
        <p:nvSpPr>
          <p:cNvPr id="1046" name="cfg-tag-C2-272">
            <a:extLst>
              <a:ext uri="{FF2B5EF4-FFF2-40B4-BE49-F238E27FC236}">
                <a16:creationId xmlns:a16="http://schemas.microsoft.com/office/drawing/2014/main" id="{DC123D00-7770-4D36-BE74-0CAEF004A1C0}"/>
              </a:ext>
            </a:extLst>
          </p:cNvPr>
          <p:cNvSpPr/>
          <p:nvPr/>
        </p:nvSpPr>
        <p:spPr>
          <a:xfrm>
            <a:off x="10113440" y="570346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7" name="object-274: C2">
            <a:extLst>
              <a:ext uri="{FF2B5EF4-FFF2-40B4-BE49-F238E27FC236}">
                <a16:creationId xmlns:a16="http://schemas.microsoft.com/office/drawing/2014/main" id="{34935CB7-5BD6-47A9-A015-5E24A53424DE}"/>
              </a:ext>
            </a:extLst>
          </p:cNvPr>
          <p:cNvSpPr txBox="1"/>
          <p:nvPr/>
        </p:nvSpPr>
        <p:spPr>
          <a:xfrm>
            <a:off x="10143333" y="570482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048" name="ddr-S0">
            <a:extLst>
              <a:ext uri="{FF2B5EF4-FFF2-40B4-BE49-F238E27FC236}">
                <a16:creationId xmlns:a16="http://schemas.microsoft.com/office/drawing/2014/main" id="{6691ED0E-01BE-459F-9B68-EB9029A85852}"/>
              </a:ext>
            </a:extLst>
          </p:cNvPr>
          <p:cNvSpPr/>
          <p:nvPr/>
        </p:nvSpPr>
        <p:spPr>
          <a:xfrm>
            <a:off x="71331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9" name="object-276: S0">
            <a:extLst>
              <a:ext uri="{FF2B5EF4-FFF2-40B4-BE49-F238E27FC236}">
                <a16:creationId xmlns:a16="http://schemas.microsoft.com/office/drawing/2014/main" id="{3E638D93-F21A-4686-AF3F-03E5B0EEB55F}"/>
              </a:ext>
            </a:extLst>
          </p:cNvPr>
          <p:cNvSpPr txBox="1"/>
          <p:nvPr/>
        </p:nvSpPr>
        <p:spPr>
          <a:xfrm>
            <a:off x="74359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sp>
        <p:nvSpPr>
          <p:cNvPr id="1050" name="object-277: SoC / LLC">
            <a:extLst>
              <a:ext uri="{FF2B5EF4-FFF2-40B4-BE49-F238E27FC236}">
                <a16:creationId xmlns:a16="http://schemas.microsoft.com/office/drawing/2014/main" id="{16A28138-BFB3-4240-B7BC-4EDC71FC712A}"/>
              </a:ext>
            </a:extLst>
          </p:cNvPr>
          <p:cNvSpPr txBox="1"/>
          <p:nvPr/>
        </p:nvSpPr>
        <p:spPr>
          <a:xfrm>
            <a:off x="7298919" y="4758860"/>
            <a:ext cx="41357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SoC / LLC</a:t>
            </a:r>
          </a:p>
        </p:txBody>
      </p:sp>
      <p:cxnSp>
        <p:nvCxnSpPr>
          <p:cNvPr id="1051" name="ddr-S-to-arb-0">
            <a:extLst>
              <a:ext uri="{FF2B5EF4-FFF2-40B4-BE49-F238E27FC236}">
                <a16:creationId xmlns:a16="http://schemas.microsoft.com/office/drawing/2014/main" id="{A7252EFA-7EE5-456E-B64D-45437FEBCBA2}"/>
              </a:ext>
            </a:extLst>
          </p:cNvPr>
          <p:cNvCxnSpPr/>
          <p:nvPr/>
        </p:nvCxnSpPr>
        <p:spPr>
          <a:xfrm>
            <a:off x="75057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sp>
        <p:nvSpPr>
          <p:cNvPr id="1052" name="ddr-S1">
            <a:extLst>
              <a:ext uri="{FF2B5EF4-FFF2-40B4-BE49-F238E27FC236}">
                <a16:creationId xmlns:a16="http://schemas.microsoft.com/office/drawing/2014/main" id="{7086A1C7-6343-4C2E-BF38-5BBB4A4DBE91}"/>
              </a:ext>
            </a:extLst>
          </p:cNvPr>
          <p:cNvSpPr/>
          <p:nvPr/>
        </p:nvSpPr>
        <p:spPr>
          <a:xfrm>
            <a:off x="82507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53" name="object-280: S1">
            <a:extLst>
              <a:ext uri="{FF2B5EF4-FFF2-40B4-BE49-F238E27FC236}">
                <a16:creationId xmlns:a16="http://schemas.microsoft.com/office/drawing/2014/main" id="{B2E7CB33-2C1D-440C-A067-0DE14C752922}"/>
              </a:ext>
            </a:extLst>
          </p:cNvPr>
          <p:cNvSpPr txBox="1"/>
          <p:nvPr/>
        </p:nvSpPr>
        <p:spPr>
          <a:xfrm>
            <a:off x="85535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1054" name="object-281: NPU / GB 搬运">
            <a:extLst>
              <a:ext uri="{FF2B5EF4-FFF2-40B4-BE49-F238E27FC236}">
                <a16:creationId xmlns:a16="http://schemas.microsoft.com/office/drawing/2014/main" id="{C8652E7B-2D08-4876-A8E7-6600B2055E57}"/>
              </a:ext>
            </a:extLst>
          </p:cNvPr>
          <p:cNvSpPr txBox="1"/>
          <p:nvPr/>
        </p:nvSpPr>
        <p:spPr>
          <a:xfrm>
            <a:off x="8313928" y="4758860"/>
            <a:ext cx="61875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NPU / GB 搬运</a:t>
            </a:r>
          </a:p>
        </p:txBody>
      </p:sp>
      <p:cxnSp>
        <p:nvCxnSpPr>
          <p:cNvPr id="1055" name="ddr-S-to-arb-1">
            <a:extLst>
              <a:ext uri="{FF2B5EF4-FFF2-40B4-BE49-F238E27FC236}">
                <a16:creationId xmlns:a16="http://schemas.microsoft.com/office/drawing/2014/main" id="{F62288E7-5AF1-4E3F-9560-60F89E32F154}"/>
              </a:ext>
            </a:extLst>
          </p:cNvPr>
          <p:cNvCxnSpPr/>
          <p:nvPr/>
        </p:nvCxnSpPr>
        <p:spPr>
          <a:xfrm>
            <a:off x="86233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sp>
        <p:nvSpPr>
          <p:cNvPr id="1056" name="ddr-S2">
            <a:extLst>
              <a:ext uri="{FF2B5EF4-FFF2-40B4-BE49-F238E27FC236}">
                <a16:creationId xmlns:a16="http://schemas.microsoft.com/office/drawing/2014/main" id="{ADCA61D9-2312-44E4-903B-EE0F6CE498B9}"/>
              </a:ext>
            </a:extLst>
          </p:cNvPr>
          <p:cNvSpPr/>
          <p:nvPr/>
        </p:nvSpPr>
        <p:spPr>
          <a:xfrm>
            <a:off x="93683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57" name="object-284: S2">
            <a:extLst>
              <a:ext uri="{FF2B5EF4-FFF2-40B4-BE49-F238E27FC236}">
                <a16:creationId xmlns:a16="http://schemas.microsoft.com/office/drawing/2014/main" id="{4A254861-34DC-4BB9-B5C8-C33C2BB93B9B}"/>
              </a:ext>
            </a:extLst>
          </p:cNvPr>
          <p:cNvSpPr txBox="1"/>
          <p:nvPr/>
        </p:nvSpPr>
        <p:spPr>
          <a:xfrm>
            <a:off x="96711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1058" name="object-285: 图像帧写入">
            <a:extLst>
              <a:ext uri="{FF2B5EF4-FFF2-40B4-BE49-F238E27FC236}">
                <a16:creationId xmlns:a16="http://schemas.microsoft.com/office/drawing/2014/main" id="{64049BC4-F5D1-47E7-8AF9-CA41D18F45C4}"/>
              </a:ext>
            </a:extLst>
          </p:cNvPr>
          <p:cNvSpPr txBox="1"/>
          <p:nvPr/>
        </p:nvSpPr>
        <p:spPr>
          <a:xfrm>
            <a:off x="9516486" y="4758860"/>
            <a:ext cx="44884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图像帧写入</a:t>
            </a:r>
          </a:p>
        </p:txBody>
      </p:sp>
      <p:cxnSp>
        <p:nvCxnSpPr>
          <p:cNvPr id="1059" name="ddr-S-to-arb-2">
            <a:extLst>
              <a:ext uri="{FF2B5EF4-FFF2-40B4-BE49-F238E27FC236}">
                <a16:creationId xmlns:a16="http://schemas.microsoft.com/office/drawing/2014/main" id="{8AB2A2C0-EF2E-4BDA-B2A9-DA763EA06B7C}"/>
              </a:ext>
            </a:extLst>
          </p:cNvPr>
          <p:cNvCxnSpPr/>
          <p:nvPr/>
        </p:nvCxnSpPr>
        <p:spPr>
          <a:xfrm>
            <a:off x="97409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cxnSp>
        <p:nvCxnSpPr>
          <p:cNvPr id="1060" name="ddr-port-collect">
            <a:extLst>
              <a:ext uri="{FF2B5EF4-FFF2-40B4-BE49-F238E27FC236}">
                <a16:creationId xmlns:a16="http://schemas.microsoft.com/office/drawing/2014/main" id="{4BF79ED7-23F1-49A4-A532-37A8E1C1E006}"/>
              </a:ext>
            </a:extLst>
          </p:cNvPr>
          <p:cNvCxnSpPr/>
          <p:nvPr/>
        </p:nvCxnSpPr>
        <p:spPr>
          <a:xfrm>
            <a:off x="7505706" y="5022749"/>
            <a:ext cx="2235200" cy="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cxnSp>
        <p:nvCxnSpPr>
          <p:cNvPr id="1061" name="ddr-all-to-arbiter">
            <a:extLst>
              <a:ext uri="{FF2B5EF4-FFF2-40B4-BE49-F238E27FC236}">
                <a16:creationId xmlns:a16="http://schemas.microsoft.com/office/drawing/2014/main" id="{2F3E0D25-8498-4BB9-A346-7C1CD68191E5}"/>
              </a:ext>
            </a:extLst>
          </p:cNvPr>
          <p:cNvCxnSpPr/>
          <p:nvPr/>
        </p:nvCxnSpPr>
        <p:spPr>
          <a:xfrm>
            <a:off x="7708906" y="5022749"/>
            <a:ext cx="0" cy="203200"/>
          </a:xfrm>
          <a:prstGeom prst="line">
            <a:avLst/>
          </a:prstGeom>
          <a:ln w="22758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2" name="ddr-scheduler">
            <a:extLst>
              <a:ext uri="{FF2B5EF4-FFF2-40B4-BE49-F238E27FC236}">
                <a16:creationId xmlns:a16="http://schemas.microsoft.com/office/drawing/2014/main" id="{AFD3DC4E-F974-47FC-A184-9DFF294C4164}"/>
              </a:ext>
            </a:extLst>
          </p:cNvPr>
          <p:cNvSpPr/>
          <p:nvPr/>
        </p:nvSpPr>
        <p:spPr>
          <a:xfrm>
            <a:off x="7200906" y="5225949"/>
            <a:ext cx="3031067" cy="45720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63" name="object-290: 端口仲裁 / QoS">
            <a:extLst>
              <a:ext uri="{FF2B5EF4-FFF2-40B4-BE49-F238E27FC236}">
                <a16:creationId xmlns:a16="http://schemas.microsoft.com/office/drawing/2014/main" id="{8C9987A2-50C6-40F9-A52B-D1939F626071}"/>
              </a:ext>
            </a:extLst>
          </p:cNvPr>
          <p:cNvSpPr txBox="1"/>
          <p:nvPr/>
        </p:nvSpPr>
        <p:spPr>
          <a:xfrm>
            <a:off x="7342620" y="5289754"/>
            <a:ext cx="73257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端口仲裁 / QoS</a:t>
            </a:r>
          </a:p>
        </p:txBody>
      </p:sp>
      <p:sp>
        <p:nvSpPr>
          <p:cNvPr id="1064" name="object-291: 共享 DDR 带宽">
            <a:extLst>
              <a:ext uri="{FF2B5EF4-FFF2-40B4-BE49-F238E27FC236}">
                <a16:creationId xmlns:a16="http://schemas.microsoft.com/office/drawing/2014/main" id="{1B54921B-97A5-47F6-8E2B-D3B68607ADFC}"/>
              </a:ext>
            </a:extLst>
          </p:cNvPr>
          <p:cNvSpPr txBox="1"/>
          <p:nvPr/>
        </p:nvSpPr>
        <p:spPr>
          <a:xfrm>
            <a:off x="7403534" y="5432807"/>
            <a:ext cx="61074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共享 DDR 带宽</a:t>
            </a:r>
          </a:p>
        </p:txBody>
      </p:sp>
      <p:cxnSp>
        <p:nvCxnSpPr>
          <p:cNvPr id="1065" name="ddr-schedule-step-0">
            <a:extLst>
              <a:ext uri="{FF2B5EF4-FFF2-40B4-BE49-F238E27FC236}">
                <a16:creationId xmlns:a16="http://schemas.microsoft.com/office/drawing/2014/main" id="{F98EA5E8-9E92-4547-86F5-394597F95419}"/>
              </a:ext>
            </a:extLst>
          </p:cNvPr>
          <p:cNvCxnSpPr/>
          <p:nvPr/>
        </p:nvCxnSpPr>
        <p:spPr>
          <a:xfrm>
            <a:off x="8142400" y="5429149"/>
            <a:ext cx="125307" cy="0"/>
          </a:xfrm>
          <a:prstGeom prst="line">
            <a:avLst/>
          </a:prstGeom>
          <a:ln w="2032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6" name="object-293: 读写调度">
            <a:extLst>
              <a:ext uri="{FF2B5EF4-FFF2-40B4-BE49-F238E27FC236}">
                <a16:creationId xmlns:a16="http://schemas.microsoft.com/office/drawing/2014/main" id="{7F171FE8-D049-412C-B70D-9912279617E1}"/>
              </a:ext>
            </a:extLst>
          </p:cNvPr>
          <p:cNvSpPr txBox="1"/>
          <p:nvPr/>
        </p:nvSpPr>
        <p:spPr>
          <a:xfrm>
            <a:off x="8509562" y="5289754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读写调度</a:t>
            </a:r>
          </a:p>
        </p:txBody>
      </p:sp>
      <p:sp>
        <p:nvSpPr>
          <p:cNvPr id="1067" name="object-294: Bank / Row">
            <a:extLst>
              <a:ext uri="{FF2B5EF4-FFF2-40B4-BE49-F238E27FC236}">
                <a16:creationId xmlns:a16="http://schemas.microsoft.com/office/drawing/2014/main" id="{1C974FF8-9DD9-4D01-B6AB-33B5EDC09B62}"/>
              </a:ext>
            </a:extLst>
          </p:cNvPr>
          <p:cNvSpPr txBox="1"/>
          <p:nvPr/>
        </p:nvSpPr>
        <p:spPr>
          <a:xfrm>
            <a:off x="8469487" y="5432807"/>
            <a:ext cx="490520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Bank / Row</a:t>
            </a:r>
          </a:p>
        </p:txBody>
      </p:sp>
      <p:cxnSp>
        <p:nvCxnSpPr>
          <p:cNvPr id="1068" name="ddr-schedule-step-1">
            <a:extLst>
              <a:ext uri="{FF2B5EF4-FFF2-40B4-BE49-F238E27FC236}">
                <a16:creationId xmlns:a16="http://schemas.microsoft.com/office/drawing/2014/main" id="{21793AC5-2384-4291-81C6-59C037484AF5}"/>
              </a:ext>
            </a:extLst>
          </p:cNvPr>
          <p:cNvCxnSpPr/>
          <p:nvPr/>
        </p:nvCxnSpPr>
        <p:spPr>
          <a:xfrm>
            <a:off x="9148240" y="5429149"/>
            <a:ext cx="125307" cy="0"/>
          </a:xfrm>
          <a:prstGeom prst="line">
            <a:avLst/>
          </a:prstGeom>
          <a:ln w="2032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9" name="object-296: 命令调度">
            <a:extLst>
              <a:ext uri="{FF2B5EF4-FFF2-40B4-BE49-F238E27FC236}">
                <a16:creationId xmlns:a16="http://schemas.microsoft.com/office/drawing/2014/main" id="{67D4B73D-B43A-4978-BDDB-E0ACD633264E}"/>
              </a:ext>
            </a:extLst>
          </p:cNvPr>
          <p:cNvSpPr txBox="1"/>
          <p:nvPr/>
        </p:nvSpPr>
        <p:spPr>
          <a:xfrm>
            <a:off x="9515402" y="5289754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命令调度</a:t>
            </a:r>
          </a:p>
        </p:txBody>
      </p:sp>
      <p:sp>
        <p:nvSpPr>
          <p:cNvPr id="1070" name="object-297: 控制器 → PHY">
            <a:extLst>
              <a:ext uri="{FF2B5EF4-FFF2-40B4-BE49-F238E27FC236}">
                <a16:creationId xmlns:a16="http://schemas.microsoft.com/office/drawing/2014/main" id="{14DCFE42-BA82-4A60-8D4D-78D6F04B9F69}"/>
              </a:ext>
            </a:extLst>
          </p:cNvPr>
          <p:cNvSpPr txBox="1"/>
          <p:nvPr/>
        </p:nvSpPr>
        <p:spPr>
          <a:xfrm>
            <a:off x="9424832" y="5432807"/>
            <a:ext cx="5915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控制器 → PHY</a:t>
            </a:r>
          </a:p>
        </p:txBody>
      </p:sp>
      <p:sp>
        <p:nvSpPr>
          <p:cNvPr id="1071" name="object-298: 共享同一 DDR 地址空间">
            <a:extLst>
              <a:ext uri="{FF2B5EF4-FFF2-40B4-BE49-F238E27FC236}">
                <a16:creationId xmlns:a16="http://schemas.microsoft.com/office/drawing/2014/main" id="{32F55508-D622-4C94-9462-1D273285A090}"/>
              </a:ext>
            </a:extLst>
          </p:cNvPr>
          <p:cNvSpPr txBox="1"/>
          <p:nvPr/>
        </p:nvSpPr>
        <p:spPr>
          <a:xfrm>
            <a:off x="8578665" y="5074091"/>
            <a:ext cx="96981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共享同一 DDR 地址空间</a:t>
            </a:r>
          </a:p>
        </p:txBody>
      </p:sp>
      <p:sp>
        <p:nvSpPr>
          <p:cNvPr id="1072" name="ddr-phy">
            <a:extLst>
              <a:ext uri="{FF2B5EF4-FFF2-40B4-BE49-F238E27FC236}">
                <a16:creationId xmlns:a16="http://schemas.microsoft.com/office/drawing/2014/main" id="{159EE2B3-7138-4B9A-B3CD-98A4CE11B639}"/>
              </a:ext>
            </a:extLst>
          </p:cNvPr>
          <p:cNvSpPr/>
          <p:nvPr/>
        </p:nvSpPr>
        <p:spPr>
          <a:xfrm>
            <a:off x="10519840" y="5215789"/>
            <a:ext cx="677333" cy="474133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3" name="object-300: DDR PHY">
            <a:extLst>
              <a:ext uri="{FF2B5EF4-FFF2-40B4-BE49-F238E27FC236}">
                <a16:creationId xmlns:a16="http://schemas.microsoft.com/office/drawing/2014/main" id="{540C9B54-A5E0-4EBF-BF78-F95731B8E9BB}"/>
              </a:ext>
            </a:extLst>
          </p:cNvPr>
          <p:cNvSpPr txBox="1"/>
          <p:nvPr/>
        </p:nvSpPr>
        <p:spPr>
          <a:xfrm>
            <a:off x="10615652" y="5272547"/>
            <a:ext cx="4857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1074" name="object-301: 训练 / 校准">
            <a:extLst>
              <a:ext uri="{FF2B5EF4-FFF2-40B4-BE49-F238E27FC236}">
                <a16:creationId xmlns:a16="http://schemas.microsoft.com/office/drawing/2014/main" id="{762D8652-6DAA-47C0-9467-5CA026EB6161}"/>
              </a:ext>
            </a:extLst>
          </p:cNvPr>
          <p:cNvSpPr txBox="1"/>
          <p:nvPr/>
        </p:nvSpPr>
        <p:spPr>
          <a:xfrm>
            <a:off x="10601224" y="5405440"/>
            <a:ext cx="5145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训练 / 校准</a:t>
            </a:r>
          </a:p>
        </p:txBody>
      </p:sp>
      <p:sp>
        <p:nvSpPr>
          <p:cNvPr id="1075" name="cfg-tag-C3-301">
            <a:extLst>
              <a:ext uri="{FF2B5EF4-FFF2-40B4-BE49-F238E27FC236}">
                <a16:creationId xmlns:a16="http://schemas.microsoft.com/office/drawing/2014/main" id="{147500D1-D40B-4A05-AE23-8E5B12B66E0C}"/>
              </a:ext>
            </a:extLst>
          </p:cNvPr>
          <p:cNvSpPr/>
          <p:nvPr/>
        </p:nvSpPr>
        <p:spPr>
          <a:xfrm>
            <a:off x="10987200" y="555445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6" name="object-303: C3">
            <a:extLst>
              <a:ext uri="{FF2B5EF4-FFF2-40B4-BE49-F238E27FC236}">
                <a16:creationId xmlns:a16="http://schemas.microsoft.com/office/drawing/2014/main" id="{6AB24D3D-0919-4938-9FF6-B6A9107E8923}"/>
              </a:ext>
            </a:extLst>
          </p:cNvPr>
          <p:cNvSpPr txBox="1"/>
          <p:nvPr/>
        </p:nvSpPr>
        <p:spPr>
          <a:xfrm>
            <a:off x="11017093" y="555581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cxnSp>
        <p:nvCxnSpPr>
          <p:cNvPr id="1077" name="ddr-phy-path">
            <a:extLst>
              <a:ext uri="{FF2B5EF4-FFF2-40B4-BE49-F238E27FC236}">
                <a16:creationId xmlns:a16="http://schemas.microsoft.com/office/drawing/2014/main" id="{C1BBF756-77F3-4819-8895-BF7BB88FD606}"/>
              </a:ext>
            </a:extLst>
          </p:cNvPr>
          <p:cNvCxnSpPr/>
          <p:nvPr/>
        </p:nvCxnSpPr>
        <p:spPr>
          <a:xfrm>
            <a:off x="10231973" y="5429149"/>
            <a:ext cx="287867" cy="0"/>
          </a:xfrm>
          <a:prstGeom prst="line">
            <a:avLst/>
          </a:prstGeom>
          <a:ln w="28448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078" name="dram">
            <a:extLst>
              <a:ext uri="{FF2B5EF4-FFF2-40B4-BE49-F238E27FC236}">
                <a16:creationId xmlns:a16="http://schemas.microsoft.com/office/drawing/2014/main" id="{A461D61B-6A89-4A62-BAF2-EAB5497DE4BA}"/>
              </a:ext>
            </a:extLst>
          </p:cNvPr>
          <p:cNvSpPr/>
          <p:nvPr/>
        </p:nvSpPr>
        <p:spPr>
          <a:xfrm>
            <a:off x="11501973" y="5215789"/>
            <a:ext cx="508000" cy="474133"/>
          </a:xfrm>
          <a:prstGeom prst="rect">
            <a:avLst/>
          </a:prstGeom>
          <a:solidFill>
            <a:srgbClr val="EAECEE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9" name="object-306: DDR">
            <a:extLst>
              <a:ext uri="{FF2B5EF4-FFF2-40B4-BE49-F238E27FC236}">
                <a16:creationId xmlns:a16="http://schemas.microsoft.com/office/drawing/2014/main" id="{4F28D478-2D00-45B1-BC9F-F4813A2BEB73}"/>
              </a:ext>
            </a:extLst>
          </p:cNvPr>
          <p:cNvSpPr txBox="1"/>
          <p:nvPr/>
        </p:nvSpPr>
        <p:spPr>
          <a:xfrm>
            <a:off x="11624528" y="5261574"/>
            <a:ext cx="26289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1080" name="object-307: 片外器件">
            <a:extLst>
              <a:ext uri="{FF2B5EF4-FFF2-40B4-BE49-F238E27FC236}">
                <a16:creationId xmlns:a16="http://schemas.microsoft.com/office/drawing/2014/main" id="{AE525BAC-9D08-4B70-9002-E8E6C69159F2}"/>
              </a:ext>
            </a:extLst>
          </p:cNvPr>
          <p:cNvSpPr txBox="1"/>
          <p:nvPr/>
        </p:nvSpPr>
        <p:spPr>
          <a:xfrm>
            <a:off x="11550789" y="5405440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片外器件</a:t>
            </a:r>
          </a:p>
        </p:txBody>
      </p:sp>
      <p:cxnSp>
        <p:nvCxnSpPr>
          <p:cNvPr id="1081" name="phy-dram">
            <a:extLst>
              <a:ext uri="{FF2B5EF4-FFF2-40B4-BE49-F238E27FC236}">
                <a16:creationId xmlns:a16="http://schemas.microsoft.com/office/drawing/2014/main" id="{4D2F5ED4-8DBD-4CDD-B630-62605969ED4A}"/>
              </a:ext>
            </a:extLst>
          </p:cNvPr>
          <p:cNvCxnSpPr/>
          <p:nvPr/>
        </p:nvCxnSpPr>
        <p:spPr>
          <a:xfrm>
            <a:off x="11197173" y="5429149"/>
            <a:ext cx="304800" cy="0"/>
          </a:xfrm>
          <a:prstGeom prst="line">
            <a:avLst/>
          </a:prstGeom>
          <a:ln w="30074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082" name="npu-ddr">
            <a:extLst>
              <a:ext uri="{FF2B5EF4-FFF2-40B4-BE49-F238E27FC236}">
                <a16:creationId xmlns:a16="http://schemas.microsoft.com/office/drawing/2014/main" id="{FB80ED40-BAAF-4226-9008-6837C3A99E7A}"/>
              </a:ext>
            </a:extLst>
          </p:cNvPr>
          <p:cNvSpPr/>
          <p:nvPr/>
        </p:nvSpPr>
        <p:spPr>
          <a:xfrm>
            <a:off x="7336373" y="2008616"/>
            <a:ext cx="2980267" cy="2573867"/>
          </a:xfrm>
          <a:custGeom>
            <a:avLst/>
            <a:gdLst/>
            <a:ahLst/>
            <a:cxnLst/>
            <a:rect l="0" t="0" r="r" b="b"/>
            <a:pathLst>
              <a:path w="7152640" h="6177280" fill="none">
                <a:moveTo>
                  <a:pt x="0" y="0"/>
                </a:moveTo>
                <a:lnTo>
                  <a:pt x="422656" y="0"/>
                </a:lnTo>
                <a:lnTo>
                  <a:pt x="422656" y="812800"/>
                </a:lnTo>
                <a:lnTo>
                  <a:pt x="7152640" y="812800"/>
                </a:lnTo>
                <a:lnTo>
                  <a:pt x="7152640" y="5795264"/>
                </a:lnTo>
                <a:lnTo>
                  <a:pt x="3088640" y="5795264"/>
                </a:lnTo>
                <a:lnTo>
                  <a:pt x="3088640" y="6177280"/>
                </a:lnTo>
              </a:path>
            </a:pathLst>
          </a:custGeom>
          <a:noFill/>
          <a:ln w="28448" cap="flat">
            <a:solidFill>
              <a:srgbClr val="314D66"/>
            </a:solidFill>
            <a:custDash>
              <a:ds d="285714" sp="171429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3" name="object-310: S1">
            <a:extLst>
              <a:ext uri="{FF2B5EF4-FFF2-40B4-BE49-F238E27FC236}">
                <a16:creationId xmlns:a16="http://schemas.microsoft.com/office/drawing/2014/main" id="{B3EEB8C6-B551-4571-8D04-0BFFECAC5804}"/>
              </a:ext>
            </a:extLst>
          </p:cNvPr>
          <p:cNvSpPr txBox="1"/>
          <p:nvPr/>
        </p:nvSpPr>
        <p:spPr>
          <a:xfrm>
            <a:off x="10335403" y="3251522"/>
            <a:ext cx="1250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1084" name="frame-ddr">
            <a:extLst>
              <a:ext uri="{FF2B5EF4-FFF2-40B4-BE49-F238E27FC236}">
                <a16:creationId xmlns:a16="http://schemas.microsoft.com/office/drawing/2014/main" id="{E5E5128B-5402-4BCE-B3A0-FCDD33B08E55}"/>
              </a:ext>
            </a:extLst>
          </p:cNvPr>
          <p:cNvSpPr/>
          <p:nvPr/>
        </p:nvSpPr>
        <p:spPr>
          <a:xfrm>
            <a:off x="9652853" y="1940882"/>
            <a:ext cx="1154853" cy="2641600"/>
          </a:xfrm>
          <a:custGeom>
            <a:avLst/>
            <a:gdLst/>
            <a:ahLst/>
            <a:cxnLst/>
            <a:rect l="0" t="0" r="r" b="b"/>
            <a:pathLst>
              <a:path w="2771648" h="6339840" fill="none">
                <a:moveTo>
                  <a:pt x="2771648" y="0"/>
                </a:moveTo>
                <a:lnTo>
                  <a:pt x="2771648" y="5648960"/>
                </a:lnTo>
                <a:lnTo>
                  <a:pt x="211328" y="5648960"/>
                </a:lnTo>
                <a:lnTo>
                  <a:pt x="211328" y="5852160"/>
                </a:lnTo>
                <a:cubicBezTo>
                  <a:pt x="0" y="5852160"/>
                  <a:pt x="0" y="6063488"/>
                  <a:pt x="211328" y="6063488"/>
                </a:cubicBezTo>
                <a:lnTo>
                  <a:pt x="211328" y="6339840"/>
                </a:lnTo>
              </a:path>
            </a:pathLst>
          </a:custGeom>
          <a:noFill/>
          <a:ln w="28448" cap="flat">
            <a:solidFill>
              <a:srgbClr val="314D66"/>
            </a:solidFill>
            <a:custDash>
              <a:ds d="285714" sp="171429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5" name="object-312: S2">
            <a:extLst>
              <a:ext uri="{FF2B5EF4-FFF2-40B4-BE49-F238E27FC236}">
                <a16:creationId xmlns:a16="http://schemas.microsoft.com/office/drawing/2014/main" id="{01D1F55A-B4CA-4E35-800C-B965DD7951D0}"/>
              </a:ext>
            </a:extLst>
          </p:cNvPr>
          <p:cNvSpPr txBox="1"/>
          <p:nvPr/>
        </p:nvSpPr>
        <p:spPr>
          <a:xfrm>
            <a:off x="10829857" y="3251522"/>
            <a:ext cx="1250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1086" name="llc-ddr">
            <a:extLst>
              <a:ext uri="{FF2B5EF4-FFF2-40B4-BE49-F238E27FC236}">
                <a16:creationId xmlns:a16="http://schemas.microsoft.com/office/drawing/2014/main" id="{3E65ED82-8080-42FA-9917-8246D4DD099C}"/>
              </a:ext>
            </a:extLst>
          </p:cNvPr>
          <p:cNvSpPr/>
          <p:nvPr/>
        </p:nvSpPr>
        <p:spPr>
          <a:xfrm>
            <a:off x="4660906" y="4189629"/>
            <a:ext cx="2844800" cy="392853"/>
          </a:xfrm>
          <a:custGeom>
            <a:avLst/>
            <a:gdLst/>
            <a:ahLst/>
            <a:cxnLst/>
            <a:rect l="0" t="0" r="r" b="b"/>
            <a:pathLst>
              <a:path w="6827520" h="942848" fill="none">
                <a:moveTo>
                  <a:pt x="0" y="0"/>
                </a:moveTo>
                <a:lnTo>
                  <a:pt x="0" y="235712"/>
                </a:lnTo>
                <a:lnTo>
                  <a:pt x="6827520" y="235712"/>
                </a:lnTo>
                <a:lnTo>
                  <a:pt x="6827520" y="942848"/>
                </a:lnTo>
              </a:path>
            </a:pathLst>
          </a:custGeom>
          <a:noFill/>
          <a:ln w="29261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7" name="object-314: S0 · LLC 外存出口">
            <a:extLst>
              <a:ext uri="{FF2B5EF4-FFF2-40B4-BE49-F238E27FC236}">
                <a16:creationId xmlns:a16="http://schemas.microsoft.com/office/drawing/2014/main" id="{A2D3314B-A256-4C9F-8B9C-4E5FEC08A435}"/>
              </a:ext>
            </a:extLst>
          </p:cNvPr>
          <p:cNvSpPr txBox="1"/>
          <p:nvPr/>
        </p:nvSpPr>
        <p:spPr>
          <a:xfrm>
            <a:off x="7586564" y="4443954"/>
            <a:ext cx="718146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S0 · LLC </a:t>
            </a:r>
            <a:r>
              <a:rPr sz="7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外存出口</a:t>
            </a:r>
            <a:endParaRPr sz="700" dirty="0">
              <a:solidFill>
                <a:srgbClr val="314D6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88" name="clock-reset">
            <a:extLst>
              <a:ext uri="{FF2B5EF4-FFF2-40B4-BE49-F238E27FC236}">
                <a16:creationId xmlns:a16="http://schemas.microsoft.com/office/drawing/2014/main" id="{3D09B2BE-3605-4AB1-AAA7-2A5B66D33C22}"/>
              </a:ext>
            </a:extLst>
          </p:cNvPr>
          <p:cNvSpPr/>
          <p:nvPr/>
        </p:nvSpPr>
        <p:spPr>
          <a:xfrm>
            <a:off x="7200906" y="5937149"/>
            <a:ext cx="1778000" cy="250613"/>
          </a:xfrm>
          <a:prstGeom prst="rect">
            <a:avLst/>
          </a:prstGeom>
          <a:solidFill>
            <a:srgbClr val="F5E1C9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9" name="object-316: PLL / 时钟与复位分发">
            <a:extLst>
              <a:ext uri="{FF2B5EF4-FFF2-40B4-BE49-F238E27FC236}">
                <a16:creationId xmlns:a16="http://schemas.microsoft.com/office/drawing/2014/main" id="{6A5FCA8E-0944-4F72-B8B8-C6A7FBEA7689}"/>
              </a:ext>
            </a:extLst>
          </p:cNvPr>
          <p:cNvSpPr txBox="1"/>
          <p:nvPr/>
        </p:nvSpPr>
        <p:spPr>
          <a:xfrm>
            <a:off x="7465582" y="5993384"/>
            <a:ext cx="1130118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</a:t>
            </a:r>
            <a:r>
              <a:rPr sz="9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时钟与复位分发</a:t>
            </a:r>
            <a:endParaRPr sz="9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90" name="cfg-tag-C1-316">
            <a:extLst>
              <a:ext uri="{FF2B5EF4-FFF2-40B4-BE49-F238E27FC236}">
                <a16:creationId xmlns:a16="http://schemas.microsoft.com/office/drawing/2014/main" id="{608D59C5-D287-42EC-B634-60C52FF30DB7}"/>
              </a:ext>
            </a:extLst>
          </p:cNvPr>
          <p:cNvSpPr/>
          <p:nvPr/>
        </p:nvSpPr>
        <p:spPr>
          <a:xfrm>
            <a:off x="8738453" y="600826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1" name="object-318: C1">
            <a:extLst>
              <a:ext uri="{FF2B5EF4-FFF2-40B4-BE49-F238E27FC236}">
                <a16:creationId xmlns:a16="http://schemas.microsoft.com/office/drawing/2014/main" id="{3C2E8761-8264-40FF-8732-418504C9E1D8}"/>
              </a:ext>
            </a:extLst>
          </p:cNvPr>
          <p:cNvSpPr txBox="1"/>
          <p:nvPr/>
        </p:nvSpPr>
        <p:spPr>
          <a:xfrm>
            <a:off x="8768347" y="600962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092" name="object-319: RefClk / POR → clk_i / rst_ni">
            <a:extLst>
              <a:ext uri="{FF2B5EF4-FFF2-40B4-BE49-F238E27FC236}">
                <a16:creationId xmlns:a16="http://schemas.microsoft.com/office/drawing/2014/main" id="{D8F8F012-DECA-4F8B-822D-A1D9708813E2}"/>
              </a:ext>
            </a:extLst>
          </p:cNvPr>
          <p:cNvSpPr txBox="1"/>
          <p:nvPr/>
        </p:nvSpPr>
        <p:spPr>
          <a:xfrm>
            <a:off x="9020878" y="5983396"/>
            <a:ext cx="13673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RefClk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POR →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clk_i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rst_ni</a:t>
            </a:r>
            <a:endParaRPr sz="800" dirty="0">
              <a:solidFill>
                <a:srgbClr val="76548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93" name="regext-control-bus">
            <a:extLst>
              <a:ext uri="{FF2B5EF4-FFF2-40B4-BE49-F238E27FC236}">
                <a16:creationId xmlns:a16="http://schemas.microsoft.com/office/drawing/2014/main" id="{339E25D4-6A77-471F-8203-9B620A43C384}"/>
              </a:ext>
            </a:extLst>
          </p:cNvPr>
          <p:cNvSpPr/>
          <p:nvPr/>
        </p:nvSpPr>
        <p:spPr>
          <a:xfrm>
            <a:off x="6591307" y="5818616"/>
            <a:ext cx="270933" cy="457200"/>
          </a:xfrm>
          <a:custGeom>
            <a:avLst/>
            <a:gdLst/>
            <a:ahLst/>
            <a:cxnLst/>
            <a:rect l="0" t="0" r="r" b="b"/>
            <a:pathLst>
              <a:path w="650240" h="1097280" fill="none">
                <a:moveTo>
                  <a:pt x="0" y="0"/>
                </a:moveTo>
                <a:lnTo>
                  <a:pt x="650240" y="0"/>
                </a:lnTo>
                <a:lnTo>
                  <a:pt x="650240" y="1097280"/>
                </a:lnTo>
              </a:path>
            </a:pathLst>
          </a:custGeom>
          <a:noFill/>
          <a:ln w="22758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cxnSp>
        <p:nvCxnSpPr>
          <p:cNvPr id="1094" name="config-bus">
            <a:extLst>
              <a:ext uri="{FF2B5EF4-FFF2-40B4-BE49-F238E27FC236}">
                <a16:creationId xmlns:a16="http://schemas.microsoft.com/office/drawing/2014/main" id="{2ABB8BBC-C019-49D7-B292-98F46D703155}"/>
              </a:ext>
            </a:extLst>
          </p:cNvPr>
          <p:cNvCxnSpPr/>
          <p:nvPr/>
        </p:nvCxnSpPr>
        <p:spPr>
          <a:xfrm>
            <a:off x="792104" y="6275816"/>
            <a:ext cx="9922933" cy="0"/>
          </a:xfrm>
          <a:prstGeom prst="line">
            <a:avLst/>
          </a:prstGeom>
          <a:ln w="24384" cap="flat">
            <a:solidFill>
              <a:srgbClr val="765489"/>
            </a:solidFill>
          </a:ln>
          <a:effectLst/>
        </p:spPr>
      </p:cxnSp>
      <p:cxnSp>
        <p:nvCxnSpPr>
          <p:cNvPr id="1095" name="cfg-drop-0">
            <a:extLst>
              <a:ext uri="{FF2B5EF4-FFF2-40B4-BE49-F238E27FC236}">
                <a16:creationId xmlns:a16="http://schemas.microsoft.com/office/drawing/2014/main" id="{CAD805B9-354A-4FB9-BB78-CF45031A22BD}"/>
              </a:ext>
            </a:extLst>
          </p:cNvPr>
          <p:cNvCxnSpPr/>
          <p:nvPr/>
        </p:nvCxnSpPr>
        <p:spPr>
          <a:xfrm>
            <a:off x="8001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96" name="config-C1">
            <a:extLst>
              <a:ext uri="{FF2B5EF4-FFF2-40B4-BE49-F238E27FC236}">
                <a16:creationId xmlns:a16="http://schemas.microsoft.com/office/drawing/2014/main" id="{E27DF2D4-D194-4023-A691-62B09700BF01}"/>
              </a:ext>
            </a:extLst>
          </p:cNvPr>
          <p:cNvSpPr/>
          <p:nvPr/>
        </p:nvSpPr>
        <p:spPr>
          <a:xfrm>
            <a:off x="2413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7" name="cfg-tag-C1-323">
            <a:extLst>
              <a:ext uri="{FF2B5EF4-FFF2-40B4-BE49-F238E27FC236}">
                <a16:creationId xmlns:a16="http://schemas.microsoft.com/office/drawing/2014/main" id="{A8C1EE9E-4B46-4523-9714-4918F5521645}"/>
              </a:ext>
            </a:extLst>
          </p:cNvPr>
          <p:cNvSpPr/>
          <p:nvPr/>
        </p:nvSpPr>
        <p:spPr>
          <a:xfrm>
            <a:off x="2684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8" name="object-325: C1">
            <a:extLst>
              <a:ext uri="{FF2B5EF4-FFF2-40B4-BE49-F238E27FC236}">
                <a16:creationId xmlns:a16="http://schemas.microsoft.com/office/drawing/2014/main" id="{1BFEF553-AAD6-436F-854D-BF5BB571E514}"/>
              </a:ext>
            </a:extLst>
          </p:cNvPr>
          <p:cNvSpPr txBox="1"/>
          <p:nvPr/>
        </p:nvSpPr>
        <p:spPr>
          <a:xfrm>
            <a:off x="2982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099" name="object-326: PLL / 时钟复位">
            <a:extLst>
              <a:ext uri="{FF2B5EF4-FFF2-40B4-BE49-F238E27FC236}">
                <a16:creationId xmlns:a16="http://schemas.microsoft.com/office/drawing/2014/main" id="{20264680-1A1F-4A47-8124-0FA5555C81B7}"/>
              </a:ext>
            </a:extLst>
          </p:cNvPr>
          <p:cNvSpPr txBox="1"/>
          <p:nvPr/>
        </p:nvSpPr>
        <p:spPr>
          <a:xfrm>
            <a:off x="535318" y="6404509"/>
            <a:ext cx="6989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时钟复位</a:t>
            </a:r>
          </a:p>
        </p:txBody>
      </p:sp>
      <p:sp>
        <p:nvSpPr>
          <p:cNvPr id="1100" name="object-327: 配置 / 锁定 / 切换">
            <a:extLst>
              <a:ext uri="{FF2B5EF4-FFF2-40B4-BE49-F238E27FC236}">
                <a16:creationId xmlns:a16="http://schemas.microsoft.com/office/drawing/2014/main" id="{23F1FE3D-28E6-44FD-84BD-614EB485E196}"/>
              </a:ext>
            </a:extLst>
          </p:cNvPr>
          <p:cNvSpPr txBox="1"/>
          <p:nvPr/>
        </p:nvSpPr>
        <p:spPr>
          <a:xfrm>
            <a:off x="444602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配置 / 锁定 / 切换</a:t>
            </a:r>
          </a:p>
        </p:txBody>
      </p:sp>
      <p:cxnSp>
        <p:nvCxnSpPr>
          <p:cNvPr id="1101" name="cfg-drop-1">
            <a:extLst>
              <a:ext uri="{FF2B5EF4-FFF2-40B4-BE49-F238E27FC236}">
                <a16:creationId xmlns:a16="http://schemas.microsoft.com/office/drawing/2014/main" id="{D9FE6EA3-93DA-43CE-A4E2-86446BDA771F}"/>
              </a:ext>
            </a:extLst>
          </p:cNvPr>
          <p:cNvCxnSpPr/>
          <p:nvPr/>
        </p:nvCxnSpPr>
        <p:spPr>
          <a:xfrm>
            <a:off x="20362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02" name="config-C2">
            <a:extLst>
              <a:ext uri="{FF2B5EF4-FFF2-40B4-BE49-F238E27FC236}">
                <a16:creationId xmlns:a16="http://schemas.microsoft.com/office/drawing/2014/main" id="{C19DDEDD-04A8-4E8E-8EB9-8C2B127698F1}"/>
              </a:ext>
            </a:extLst>
          </p:cNvPr>
          <p:cNvSpPr/>
          <p:nvPr/>
        </p:nvSpPr>
        <p:spPr>
          <a:xfrm>
            <a:off x="14774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3" name="cfg-tag-C2-329">
            <a:extLst>
              <a:ext uri="{FF2B5EF4-FFF2-40B4-BE49-F238E27FC236}">
                <a16:creationId xmlns:a16="http://schemas.microsoft.com/office/drawing/2014/main" id="{C6B67E79-B004-4BD6-BFCD-4BE0E12193A6}"/>
              </a:ext>
            </a:extLst>
          </p:cNvPr>
          <p:cNvSpPr/>
          <p:nvPr/>
        </p:nvSpPr>
        <p:spPr>
          <a:xfrm>
            <a:off x="15045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4" name="object-331: C2">
            <a:extLst>
              <a:ext uri="{FF2B5EF4-FFF2-40B4-BE49-F238E27FC236}">
                <a16:creationId xmlns:a16="http://schemas.microsoft.com/office/drawing/2014/main" id="{72633FEC-BFD3-41E8-8393-EF144745AA0C}"/>
              </a:ext>
            </a:extLst>
          </p:cNvPr>
          <p:cNvSpPr txBox="1"/>
          <p:nvPr/>
        </p:nvSpPr>
        <p:spPr>
          <a:xfrm>
            <a:off x="15344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105" name="object-332: DDR Controller">
            <a:extLst>
              <a:ext uri="{FF2B5EF4-FFF2-40B4-BE49-F238E27FC236}">
                <a16:creationId xmlns:a16="http://schemas.microsoft.com/office/drawing/2014/main" id="{146DCDAF-2610-42D5-B69A-E8CFBE1960E6}"/>
              </a:ext>
            </a:extLst>
          </p:cNvPr>
          <p:cNvSpPr txBox="1"/>
          <p:nvPr/>
        </p:nvSpPr>
        <p:spPr>
          <a:xfrm>
            <a:off x="1728171" y="6404509"/>
            <a:ext cx="78547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</a:t>
            </a:r>
          </a:p>
        </p:txBody>
      </p:sp>
      <p:sp>
        <p:nvSpPr>
          <p:cNvPr id="1106" name="object-333: 初始化 / QoS / 状态">
            <a:extLst>
              <a:ext uri="{FF2B5EF4-FFF2-40B4-BE49-F238E27FC236}">
                <a16:creationId xmlns:a16="http://schemas.microsoft.com/office/drawing/2014/main" id="{9149974A-003B-4CD3-A8EF-1EE8ECF42464}"/>
              </a:ext>
            </a:extLst>
          </p:cNvPr>
          <p:cNvSpPr txBox="1"/>
          <p:nvPr/>
        </p:nvSpPr>
        <p:spPr>
          <a:xfrm>
            <a:off x="1634249" y="6543904"/>
            <a:ext cx="81753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初始化 / QoS / 状态</a:t>
            </a:r>
          </a:p>
        </p:txBody>
      </p:sp>
      <p:cxnSp>
        <p:nvCxnSpPr>
          <p:cNvPr id="1107" name="cfg-drop-2">
            <a:extLst>
              <a:ext uri="{FF2B5EF4-FFF2-40B4-BE49-F238E27FC236}">
                <a16:creationId xmlns:a16="http://schemas.microsoft.com/office/drawing/2014/main" id="{9F4659C3-075D-4ED0-936E-DE6A6EC549DA}"/>
              </a:ext>
            </a:extLst>
          </p:cNvPr>
          <p:cNvCxnSpPr/>
          <p:nvPr/>
        </p:nvCxnSpPr>
        <p:spPr>
          <a:xfrm>
            <a:off x="32723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08" name="config-C3">
            <a:extLst>
              <a:ext uri="{FF2B5EF4-FFF2-40B4-BE49-F238E27FC236}">
                <a16:creationId xmlns:a16="http://schemas.microsoft.com/office/drawing/2014/main" id="{FD1CC228-3931-43A7-986E-2A89CFC4BB36}"/>
              </a:ext>
            </a:extLst>
          </p:cNvPr>
          <p:cNvSpPr/>
          <p:nvPr/>
        </p:nvSpPr>
        <p:spPr>
          <a:xfrm>
            <a:off x="27135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9" name="cfg-tag-C3-335">
            <a:extLst>
              <a:ext uri="{FF2B5EF4-FFF2-40B4-BE49-F238E27FC236}">
                <a16:creationId xmlns:a16="http://schemas.microsoft.com/office/drawing/2014/main" id="{8EF30D5B-7E74-4F8A-AA6F-A99B62074254}"/>
              </a:ext>
            </a:extLst>
          </p:cNvPr>
          <p:cNvSpPr/>
          <p:nvPr/>
        </p:nvSpPr>
        <p:spPr>
          <a:xfrm>
            <a:off x="27406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0" name="object-337: C3">
            <a:extLst>
              <a:ext uri="{FF2B5EF4-FFF2-40B4-BE49-F238E27FC236}">
                <a16:creationId xmlns:a16="http://schemas.microsoft.com/office/drawing/2014/main" id="{E97C60F1-2A4A-45B8-B8F5-7B67D2BFAFAC}"/>
              </a:ext>
            </a:extLst>
          </p:cNvPr>
          <p:cNvSpPr txBox="1"/>
          <p:nvPr/>
        </p:nvSpPr>
        <p:spPr>
          <a:xfrm>
            <a:off x="27705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1111" name="object-338: DDR PHY">
            <a:extLst>
              <a:ext uri="{FF2B5EF4-FFF2-40B4-BE49-F238E27FC236}">
                <a16:creationId xmlns:a16="http://schemas.microsoft.com/office/drawing/2014/main" id="{2E0ECAF8-EC7A-4742-9A65-E1BECD00A38C}"/>
              </a:ext>
            </a:extLst>
          </p:cNvPr>
          <p:cNvSpPr txBox="1"/>
          <p:nvPr/>
        </p:nvSpPr>
        <p:spPr>
          <a:xfrm>
            <a:off x="3114185" y="6404509"/>
            <a:ext cx="4857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1112" name="object-339: training / 校准">
            <a:extLst>
              <a:ext uri="{FF2B5EF4-FFF2-40B4-BE49-F238E27FC236}">
                <a16:creationId xmlns:a16="http://schemas.microsoft.com/office/drawing/2014/main" id="{A6253C34-1AFB-4DF2-83A8-93EB61B5382B}"/>
              </a:ext>
            </a:extLst>
          </p:cNvPr>
          <p:cNvSpPr txBox="1"/>
          <p:nvPr/>
        </p:nvSpPr>
        <p:spPr>
          <a:xfrm>
            <a:off x="2975377" y="6543904"/>
            <a:ext cx="60753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training / 校准</a:t>
            </a:r>
          </a:p>
        </p:txBody>
      </p:sp>
      <p:cxnSp>
        <p:nvCxnSpPr>
          <p:cNvPr id="1113" name="cfg-drop-3">
            <a:extLst>
              <a:ext uri="{FF2B5EF4-FFF2-40B4-BE49-F238E27FC236}">
                <a16:creationId xmlns:a16="http://schemas.microsoft.com/office/drawing/2014/main" id="{EDF949C6-8B1D-4275-B85D-63BEABF3CA6E}"/>
              </a:ext>
            </a:extLst>
          </p:cNvPr>
          <p:cNvCxnSpPr/>
          <p:nvPr/>
        </p:nvCxnSpPr>
        <p:spPr>
          <a:xfrm>
            <a:off x="45085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14" name="config-C4">
            <a:extLst>
              <a:ext uri="{FF2B5EF4-FFF2-40B4-BE49-F238E27FC236}">
                <a16:creationId xmlns:a16="http://schemas.microsoft.com/office/drawing/2014/main" id="{D26B22F7-FB78-4AC7-97CA-8A49905BABD9}"/>
              </a:ext>
            </a:extLst>
          </p:cNvPr>
          <p:cNvSpPr/>
          <p:nvPr/>
        </p:nvSpPr>
        <p:spPr>
          <a:xfrm>
            <a:off x="39497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5" name="cfg-tag-C4-341">
            <a:extLst>
              <a:ext uri="{FF2B5EF4-FFF2-40B4-BE49-F238E27FC236}">
                <a16:creationId xmlns:a16="http://schemas.microsoft.com/office/drawing/2014/main" id="{0773182D-DD7F-4403-AD3B-10A85AE1AECF}"/>
              </a:ext>
            </a:extLst>
          </p:cNvPr>
          <p:cNvSpPr/>
          <p:nvPr/>
        </p:nvSpPr>
        <p:spPr>
          <a:xfrm>
            <a:off x="39768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6" name="object-343: C4">
            <a:extLst>
              <a:ext uri="{FF2B5EF4-FFF2-40B4-BE49-F238E27FC236}">
                <a16:creationId xmlns:a16="http://schemas.microsoft.com/office/drawing/2014/main" id="{DBFC0F46-618F-429F-82FE-2FE71B4A04FE}"/>
              </a:ext>
            </a:extLst>
          </p:cNvPr>
          <p:cNvSpPr txBox="1"/>
          <p:nvPr/>
        </p:nvSpPr>
        <p:spPr>
          <a:xfrm>
            <a:off x="40066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1117" name="object-344: LVDS">
            <a:extLst>
              <a:ext uri="{FF2B5EF4-FFF2-40B4-BE49-F238E27FC236}">
                <a16:creationId xmlns:a16="http://schemas.microsoft.com/office/drawing/2014/main" id="{0D1CDD66-F4C5-4BB7-B087-7D983702C474}"/>
              </a:ext>
            </a:extLst>
          </p:cNvPr>
          <p:cNvSpPr txBox="1"/>
          <p:nvPr/>
        </p:nvSpPr>
        <p:spPr>
          <a:xfrm>
            <a:off x="4456116" y="6404509"/>
            <a:ext cx="27411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</a:t>
            </a:r>
          </a:p>
        </p:txBody>
      </p:sp>
      <p:sp>
        <p:nvSpPr>
          <p:cNvPr id="1118" name="object-345: 通道 / 对齐 / 帧行">
            <a:extLst>
              <a:ext uri="{FF2B5EF4-FFF2-40B4-BE49-F238E27FC236}">
                <a16:creationId xmlns:a16="http://schemas.microsoft.com/office/drawing/2014/main" id="{4B5E9C71-3E3D-4B23-A84C-D78C2FB50C98}"/>
              </a:ext>
            </a:extLst>
          </p:cNvPr>
          <p:cNvSpPr txBox="1"/>
          <p:nvPr/>
        </p:nvSpPr>
        <p:spPr>
          <a:xfrm>
            <a:off x="4153002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通道 / 对齐 / 帧行</a:t>
            </a:r>
          </a:p>
        </p:txBody>
      </p:sp>
      <p:cxnSp>
        <p:nvCxnSpPr>
          <p:cNvPr id="1119" name="cfg-drop-4">
            <a:extLst>
              <a:ext uri="{FF2B5EF4-FFF2-40B4-BE49-F238E27FC236}">
                <a16:creationId xmlns:a16="http://schemas.microsoft.com/office/drawing/2014/main" id="{9F9FC02E-13E1-44FE-9C45-C8834DC7F3CC}"/>
              </a:ext>
            </a:extLst>
          </p:cNvPr>
          <p:cNvCxnSpPr/>
          <p:nvPr/>
        </p:nvCxnSpPr>
        <p:spPr>
          <a:xfrm>
            <a:off x="57446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20" name="config-C5">
            <a:extLst>
              <a:ext uri="{FF2B5EF4-FFF2-40B4-BE49-F238E27FC236}">
                <a16:creationId xmlns:a16="http://schemas.microsoft.com/office/drawing/2014/main" id="{6CC1B4D8-D42D-4752-8341-6749419CB23B}"/>
              </a:ext>
            </a:extLst>
          </p:cNvPr>
          <p:cNvSpPr/>
          <p:nvPr/>
        </p:nvSpPr>
        <p:spPr>
          <a:xfrm>
            <a:off x="51858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1" name="cfg-tag-C5-347">
            <a:extLst>
              <a:ext uri="{FF2B5EF4-FFF2-40B4-BE49-F238E27FC236}">
                <a16:creationId xmlns:a16="http://schemas.microsoft.com/office/drawing/2014/main" id="{A611B66C-ACA7-4148-9C97-B9F2439318A7}"/>
              </a:ext>
            </a:extLst>
          </p:cNvPr>
          <p:cNvSpPr/>
          <p:nvPr/>
        </p:nvSpPr>
        <p:spPr>
          <a:xfrm>
            <a:off x="52129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2" name="object-349: C5">
            <a:extLst>
              <a:ext uri="{FF2B5EF4-FFF2-40B4-BE49-F238E27FC236}">
                <a16:creationId xmlns:a16="http://schemas.microsoft.com/office/drawing/2014/main" id="{F249507D-7BC5-45DD-AA2A-9412FE14F819}"/>
              </a:ext>
            </a:extLst>
          </p:cNvPr>
          <p:cNvSpPr txBox="1"/>
          <p:nvPr/>
        </p:nvSpPr>
        <p:spPr>
          <a:xfrm>
            <a:off x="52428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1123" name="object-350: ISP">
            <a:extLst>
              <a:ext uri="{FF2B5EF4-FFF2-40B4-BE49-F238E27FC236}">
                <a16:creationId xmlns:a16="http://schemas.microsoft.com/office/drawing/2014/main" id="{E950D680-F0F9-4E72-B321-DEC64A50C971}"/>
              </a:ext>
            </a:extLst>
          </p:cNvPr>
          <p:cNvSpPr txBox="1"/>
          <p:nvPr/>
        </p:nvSpPr>
        <p:spPr>
          <a:xfrm>
            <a:off x="5747554" y="6404509"/>
            <a:ext cx="16350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1124" name="object-351: 尺寸 / 模式 / 参数">
            <a:extLst>
              <a:ext uri="{FF2B5EF4-FFF2-40B4-BE49-F238E27FC236}">
                <a16:creationId xmlns:a16="http://schemas.microsoft.com/office/drawing/2014/main" id="{177F98E4-B409-41CC-A0A8-6623314AE70B}"/>
              </a:ext>
            </a:extLst>
          </p:cNvPr>
          <p:cNvSpPr txBox="1"/>
          <p:nvPr/>
        </p:nvSpPr>
        <p:spPr>
          <a:xfrm>
            <a:off x="5389136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尺寸 / 模式 / 参数</a:t>
            </a:r>
          </a:p>
        </p:txBody>
      </p:sp>
      <p:cxnSp>
        <p:nvCxnSpPr>
          <p:cNvPr id="1125" name="cfg-drop-5">
            <a:extLst>
              <a:ext uri="{FF2B5EF4-FFF2-40B4-BE49-F238E27FC236}">
                <a16:creationId xmlns:a16="http://schemas.microsoft.com/office/drawing/2014/main" id="{4B45D672-F8C3-4DEB-8A55-2083B679E3A7}"/>
              </a:ext>
            </a:extLst>
          </p:cNvPr>
          <p:cNvCxnSpPr/>
          <p:nvPr/>
        </p:nvCxnSpPr>
        <p:spPr>
          <a:xfrm>
            <a:off x="69807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26" name="config-C6">
            <a:extLst>
              <a:ext uri="{FF2B5EF4-FFF2-40B4-BE49-F238E27FC236}">
                <a16:creationId xmlns:a16="http://schemas.microsoft.com/office/drawing/2014/main" id="{278353F7-804D-45E5-91B5-6EB9B7206E50}"/>
              </a:ext>
            </a:extLst>
          </p:cNvPr>
          <p:cNvSpPr/>
          <p:nvPr/>
        </p:nvSpPr>
        <p:spPr>
          <a:xfrm>
            <a:off x="64219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7" name="cfg-tag-C6-353">
            <a:extLst>
              <a:ext uri="{FF2B5EF4-FFF2-40B4-BE49-F238E27FC236}">
                <a16:creationId xmlns:a16="http://schemas.microsoft.com/office/drawing/2014/main" id="{CDAA4FF4-2C89-4F48-BD32-CC624BA772E7}"/>
              </a:ext>
            </a:extLst>
          </p:cNvPr>
          <p:cNvSpPr/>
          <p:nvPr/>
        </p:nvSpPr>
        <p:spPr>
          <a:xfrm>
            <a:off x="64490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8" name="object-355: C6">
            <a:extLst>
              <a:ext uri="{FF2B5EF4-FFF2-40B4-BE49-F238E27FC236}">
                <a16:creationId xmlns:a16="http://schemas.microsoft.com/office/drawing/2014/main" id="{C65DB061-DE1D-4CAC-B13F-FFA1F5AC5025}"/>
              </a:ext>
            </a:extLst>
          </p:cNvPr>
          <p:cNvSpPr txBox="1"/>
          <p:nvPr/>
        </p:nvSpPr>
        <p:spPr>
          <a:xfrm>
            <a:off x="64789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1129" name="object-356: NPU 计算">
            <a:extLst>
              <a:ext uri="{FF2B5EF4-FFF2-40B4-BE49-F238E27FC236}">
                <a16:creationId xmlns:a16="http://schemas.microsoft.com/office/drawing/2014/main" id="{D045C092-FDBE-4A50-AC65-C3106883E7E7}"/>
              </a:ext>
            </a:extLst>
          </p:cNvPr>
          <p:cNvSpPr txBox="1"/>
          <p:nvPr/>
        </p:nvSpPr>
        <p:spPr>
          <a:xfrm>
            <a:off x="6830600" y="6404509"/>
            <a:ext cx="46968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</a:t>
            </a:r>
          </a:p>
        </p:txBody>
      </p:sp>
      <p:sp>
        <p:nvSpPr>
          <p:cNvPr id="1130" name="object-357: 命令 / GB 数据位置">
            <a:extLst>
              <a:ext uri="{FF2B5EF4-FFF2-40B4-BE49-F238E27FC236}">
                <a16:creationId xmlns:a16="http://schemas.microsoft.com/office/drawing/2014/main" id="{7B517796-5D95-4836-A1C9-5EDEF9DDC026}"/>
              </a:ext>
            </a:extLst>
          </p:cNvPr>
          <p:cNvSpPr txBox="1"/>
          <p:nvPr/>
        </p:nvSpPr>
        <p:spPr>
          <a:xfrm>
            <a:off x="6596414" y="6543904"/>
            <a:ext cx="78226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 / GB 数据位置</a:t>
            </a:r>
          </a:p>
        </p:txBody>
      </p:sp>
      <p:cxnSp>
        <p:nvCxnSpPr>
          <p:cNvPr id="1131" name="cfg-drop-6">
            <a:extLst>
              <a:ext uri="{FF2B5EF4-FFF2-40B4-BE49-F238E27FC236}">
                <a16:creationId xmlns:a16="http://schemas.microsoft.com/office/drawing/2014/main" id="{2B85502C-86A5-4AA9-8C98-89E2660FD7CC}"/>
              </a:ext>
            </a:extLst>
          </p:cNvPr>
          <p:cNvCxnSpPr/>
          <p:nvPr/>
        </p:nvCxnSpPr>
        <p:spPr>
          <a:xfrm>
            <a:off x="82169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32" name="config-C7">
            <a:extLst>
              <a:ext uri="{FF2B5EF4-FFF2-40B4-BE49-F238E27FC236}">
                <a16:creationId xmlns:a16="http://schemas.microsoft.com/office/drawing/2014/main" id="{7D13D4CC-8DC3-465D-8EEA-291C7B7EC648}"/>
              </a:ext>
            </a:extLst>
          </p:cNvPr>
          <p:cNvSpPr/>
          <p:nvPr/>
        </p:nvSpPr>
        <p:spPr>
          <a:xfrm>
            <a:off x="76581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3" name="cfg-tag-C7-359">
            <a:extLst>
              <a:ext uri="{FF2B5EF4-FFF2-40B4-BE49-F238E27FC236}">
                <a16:creationId xmlns:a16="http://schemas.microsoft.com/office/drawing/2014/main" id="{6F73B46A-D6FB-4818-BFB5-448203DB466A}"/>
              </a:ext>
            </a:extLst>
          </p:cNvPr>
          <p:cNvSpPr/>
          <p:nvPr/>
        </p:nvSpPr>
        <p:spPr>
          <a:xfrm>
            <a:off x="76852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4" name="object-361: C7">
            <a:extLst>
              <a:ext uri="{FF2B5EF4-FFF2-40B4-BE49-F238E27FC236}">
                <a16:creationId xmlns:a16="http://schemas.microsoft.com/office/drawing/2014/main" id="{00F37390-1D4A-40CC-8738-1614EE58ECB1}"/>
              </a:ext>
            </a:extLst>
          </p:cNvPr>
          <p:cNvSpPr txBox="1"/>
          <p:nvPr/>
        </p:nvSpPr>
        <p:spPr>
          <a:xfrm>
            <a:off x="77150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sp>
        <p:nvSpPr>
          <p:cNvPr id="1135" name="object-362: NPU / GB 搬运">
            <a:extLst>
              <a:ext uri="{FF2B5EF4-FFF2-40B4-BE49-F238E27FC236}">
                <a16:creationId xmlns:a16="http://schemas.microsoft.com/office/drawing/2014/main" id="{3397B153-B8D6-4FE1-871C-9063CEEAC31E}"/>
              </a:ext>
            </a:extLst>
          </p:cNvPr>
          <p:cNvSpPr txBox="1"/>
          <p:nvPr/>
        </p:nvSpPr>
        <p:spPr>
          <a:xfrm>
            <a:off x="7937692" y="6404509"/>
            <a:ext cx="7277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搬运</a:t>
            </a:r>
          </a:p>
        </p:txBody>
      </p:sp>
      <p:sp>
        <p:nvSpPr>
          <p:cNvPr id="1136" name="object-363: 地址 / 长度 / stride">
            <a:extLst>
              <a:ext uri="{FF2B5EF4-FFF2-40B4-BE49-F238E27FC236}">
                <a16:creationId xmlns:a16="http://schemas.microsoft.com/office/drawing/2014/main" id="{46463D2C-7540-40D6-B1D7-5547CEA3990E}"/>
              </a:ext>
            </a:extLst>
          </p:cNvPr>
          <p:cNvSpPr txBox="1"/>
          <p:nvPr/>
        </p:nvSpPr>
        <p:spPr>
          <a:xfrm>
            <a:off x="7830144" y="6543904"/>
            <a:ext cx="78707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长度 / stride</a:t>
            </a:r>
          </a:p>
        </p:txBody>
      </p:sp>
      <p:cxnSp>
        <p:nvCxnSpPr>
          <p:cNvPr id="1137" name="cfg-drop-7">
            <a:extLst>
              <a:ext uri="{FF2B5EF4-FFF2-40B4-BE49-F238E27FC236}">
                <a16:creationId xmlns:a16="http://schemas.microsoft.com/office/drawing/2014/main" id="{29684AB7-0E4B-4CA2-ACA9-F9FC9F188213}"/>
              </a:ext>
            </a:extLst>
          </p:cNvPr>
          <p:cNvCxnSpPr/>
          <p:nvPr/>
        </p:nvCxnSpPr>
        <p:spPr>
          <a:xfrm>
            <a:off x="94530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38" name="config-C8">
            <a:extLst>
              <a:ext uri="{FF2B5EF4-FFF2-40B4-BE49-F238E27FC236}">
                <a16:creationId xmlns:a16="http://schemas.microsoft.com/office/drawing/2014/main" id="{2ED4E969-B01E-4966-8634-48D96A8D3A41}"/>
              </a:ext>
            </a:extLst>
          </p:cNvPr>
          <p:cNvSpPr/>
          <p:nvPr/>
        </p:nvSpPr>
        <p:spPr>
          <a:xfrm>
            <a:off x="88942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9" name="cfg-tag-C8-365">
            <a:extLst>
              <a:ext uri="{FF2B5EF4-FFF2-40B4-BE49-F238E27FC236}">
                <a16:creationId xmlns:a16="http://schemas.microsoft.com/office/drawing/2014/main" id="{EBCB35F8-0CD4-49B4-A763-33747BA3C3CD}"/>
              </a:ext>
            </a:extLst>
          </p:cNvPr>
          <p:cNvSpPr/>
          <p:nvPr/>
        </p:nvSpPr>
        <p:spPr>
          <a:xfrm>
            <a:off x="89213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0" name="object-367: C8">
            <a:extLst>
              <a:ext uri="{FF2B5EF4-FFF2-40B4-BE49-F238E27FC236}">
                <a16:creationId xmlns:a16="http://schemas.microsoft.com/office/drawing/2014/main" id="{E4E4DBFE-CDD6-4B81-A8AB-F64600ABF1A2}"/>
              </a:ext>
            </a:extLst>
          </p:cNvPr>
          <p:cNvSpPr txBox="1"/>
          <p:nvPr/>
        </p:nvSpPr>
        <p:spPr>
          <a:xfrm>
            <a:off x="89512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sp>
        <p:nvSpPr>
          <p:cNvPr id="1141" name="object-368: 帧写入 DMA">
            <a:extLst>
              <a:ext uri="{FF2B5EF4-FFF2-40B4-BE49-F238E27FC236}">
                <a16:creationId xmlns:a16="http://schemas.microsoft.com/office/drawing/2014/main" id="{CD7E6EE8-0973-4492-A197-613D4F6E6033}"/>
              </a:ext>
            </a:extLst>
          </p:cNvPr>
          <p:cNvSpPr txBox="1"/>
          <p:nvPr/>
        </p:nvSpPr>
        <p:spPr>
          <a:xfrm>
            <a:off x="9236342" y="6404509"/>
            <a:ext cx="60272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1142" name="object-369: 缓冲区 / 格式 / 帧状态">
            <a:extLst>
              <a:ext uri="{FF2B5EF4-FFF2-40B4-BE49-F238E27FC236}">
                <a16:creationId xmlns:a16="http://schemas.microsoft.com/office/drawing/2014/main" id="{E2AE1912-A727-41EC-A486-B189C52CE142}"/>
              </a:ext>
            </a:extLst>
          </p:cNvPr>
          <p:cNvSpPr txBox="1"/>
          <p:nvPr/>
        </p:nvSpPr>
        <p:spPr>
          <a:xfrm>
            <a:off x="9007767" y="6543904"/>
            <a:ext cx="90409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缓冲区 / 格式 / 帧状态</a:t>
            </a:r>
          </a:p>
        </p:txBody>
      </p:sp>
      <p:cxnSp>
        <p:nvCxnSpPr>
          <p:cNvPr id="1143" name="cfg-drop-8">
            <a:extLst>
              <a:ext uri="{FF2B5EF4-FFF2-40B4-BE49-F238E27FC236}">
                <a16:creationId xmlns:a16="http://schemas.microsoft.com/office/drawing/2014/main" id="{6D0C51E7-3698-400F-AFB6-5FFB51C09CCC}"/>
              </a:ext>
            </a:extLst>
          </p:cNvPr>
          <p:cNvCxnSpPr/>
          <p:nvPr/>
        </p:nvCxnSpPr>
        <p:spPr>
          <a:xfrm>
            <a:off x="106891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44" name="config-C9">
            <a:extLst>
              <a:ext uri="{FF2B5EF4-FFF2-40B4-BE49-F238E27FC236}">
                <a16:creationId xmlns:a16="http://schemas.microsoft.com/office/drawing/2014/main" id="{A7DE2F09-15E5-403C-A657-5883136E6BFA}"/>
              </a:ext>
            </a:extLst>
          </p:cNvPr>
          <p:cNvSpPr/>
          <p:nvPr/>
        </p:nvSpPr>
        <p:spPr>
          <a:xfrm>
            <a:off x="101303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5" name="cfg-tag-C9-371">
            <a:extLst>
              <a:ext uri="{FF2B5EF4-FFF2-40B4-BE49-F238E27FC236}">
                <a16:creationId xmlns:a16="http://schemas.microsoft.com/office/drawing/2014/main" id="{EC19E98D-C9D9-4491-BD14-FCCCDA735527}"/>
              </a:ext>
            </a:extLst>
          </p:cNvPr>
          <p:cNvSpPr/>
          <p:nvPr/>
        </p:nvSpPr>
        <p:spPr>
          <a:xfrm>
            <a:off x="101574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6" name="object-373: C9">
            <a:extLst>
              <a:ext uri="{FF2B5EF4-FFF2-40B4-BE49-F238E27FC236}">
                <a16:creationId xmlns:a16="http://schemas.microsoft.com/office/drawing/2014/main" id="{D455D383-83D7-4D67-8F24-A05F0A6276FA}"/>
              </a:ext>
            </a:extLst>
          </p:cNvPr>
          <p:cNvSpPr txBox="1"/>
          <p:nvPr/>
        </p:nvSpPr>
        <p:spPr>
          <a:xfrm>
            <a:off x="101873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sp>
        <p:nvSpPr>
          <p:cNvPr id="1147" name="object-374: GB 管理">
            <a:extLst>
              <a:ext uri="{FF2B5EF4-FFF2-40B4-BE49-F238E27FC236}">
                <a16:creationId xmlns:a16="http://schemas.microsoft.com/office/drawing/2014/main" id="{76F57F06-D237-40EB-8501-C0713759F470}"/>
              </a:ext>
            </a:extLst>
          </p:cNvPr>
          <p:cNvSpPr txBox="1"/>
          <p:nvPr/>
        </p:nvSpPr>
        <p:spPr>
          <a:xfrm>
            <a:off x="10581480" y="6404509"/>
            <a:ext cx="38472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管理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48" name="object-375: 能力 / bank / 错误">
            <a:extLst>
              <a:ext uri="{FF2B5EF4-FFF2-40B4-BE49-F238E27FC236}">
                <a16:creationId xmlns:a16="http://schemas.microsoft.com/office/drawing/2014/main" id="{DF247AB9-4297-42BE-8D18-1EDCEA92D717}"/>
              </a:ext>
            </a:extLst>
          </p:cNvPr>
          <p:cNvSpPr txBox="1"/>
          <p:nvPr/>
        </p:nvSpPr>
        <p:spPr>
          <a:xfrm>
            <a:off x="10317638" y="6543904"/>
            <a:ext cx="75661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能力 / bank / 错误</a:t>
            </a:r>
          </a:p>
        </p:txBody>
      </p:sp>
      <p:cxnSp>
        <p:nvCxnSpPr>
          <p:cNvPr id="1149" name="legend-314D66">
            <a:extLst>
              <a:ext uri="{FF2B5EF4-FFF2-40B4-BE49-F238E27FC236}">
                <a16:creationId xmlns:a16="http://schemas.microsoft.com/office/drawing/2014/main" id="{D48C70D7-F2C8-4BCA-A764-A767E03B0994}"/>
              </a:ext>
            </a:extLst>
          </p:cNvPr>
          <p:cNvCxnSpPr/>
          <p:nvPr/>
        </p:nvCxnSpPr>
        <p:spPr>
          <a:xfrm>
            <a:off x="11387290" y="2686502"/>
            <a:ext cx="223520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150" name="object-377: AXI 请求 / 数据">
            <a:extLst>
              <a:ext uri="{FF2B5EF4-FFF2-40B4-BE49-F238E27FC236}">
                <a16:creationId xmlns:a16="http://schemas.microsoft.com/office/drawing/2014/main" id="{D19FA279-B019-40A0-80F0-D37345270BC9}"/>
              </a:ext>
            </a:extLst>
          </p:cNvPr>
          <p:cNvSpPr txBox="1"/>
          <p:nvPr/>
        </p:nvSpPr>
        <p:spPr>
          <a:xfrm>
            <a:off x="11645256" y="2610385"/>
            <a:ext cx="546744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</a:t>
            </a:r>
            <a:r>
              <a:rPr sz="8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请求</a:t>
            </a:r>
            <a:r>
              <a:rPr sz="8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数据</a:t>
            </a:r>
            <a:endParaRPr sz="800" dirty="0">
              <a:solidFill>
                <a:srgbClr val="314D66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1" name="legend-187C78">
            <a:extLst>
              <a:ext uri="{FF2B5EF4-FFF2-40B4-BE49-F238E27FC236}">
                <a16:creationId xmlns:a16="http://schemas.microsoft.com/office/drawing/2014/main" id="{B8504D5C-CC0C-4D1E-9AAF-36DC929E006E}"/>
              </a:ext>
            </a:extLst>
          </p:cNvPr>
          <p:cNvCxnSpPr/>
          <p:nvPr/>
        </p:nvCxnSpPr>
        <p:spPr>
          <a:xfrm>
            <a:off x="11378364" y="2924292"/>
            <a:ext cx="223520" cy="0"/>
          </a:xfrm>
          <a:prstGeom prst="line">
            <a:avLst/>
          </a:prstGeom>
          <a:ln w="24384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152" name="object-379: GB 读写">
            <a:extLst>
              <a:ext uri="{FF2B5EF4-FFF2-40B4-BE49-F238E27FC236}">
                <a16:creationId xmlns:a16="http://schemas.microsoft.com/office/drawing/2014/main" id="{7A3B741E-CC06-4663-B3A5-906794257738}"/>
              </a:ext>
            </a:extLst>
          </p:cNvPr>
          <p:cNvSpPr txBox="1"/>
          <p:nvPr/>
        </p:nvSpPr>
        <p:spPr>
          <a:xfrm>
            <a:off x="11670460" y="2886700"/>
            <a:ext cx="414865" cy="12311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读写</a:t>
            </a:r>
            <a:endParaRPr sz="800" dirty="0">
              <a:solidFill>
                <a:srgbClr val="187C78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3" name="legend-B96043">
            <a:extLst>
              <a:ext uri="{FF2B5EF4-FFF2-40B4-BE49-F238E27FC236}">
                <a16:creationId xmlns:a16="http://schemas.microsoft.com/office/drawing/2014/main" id="{E895588E-BB73-4229-80C5-7F71696E9926}"/>
              </a:ext>
            </a:extLst>
          </p:cNvPr>
          <p:cNvCxnSpPr/>
          <p:nvPr/>
        </p:nvCxnSpPr>
        <p:spPr>
          <a:xfrm>
            <a:off x="11378364" y="3123357"/>
            <a:ext cx="223520" cy="0"/>
          </a:xfrm>
          <a:prstGeom prst="line">
            <a:avLst/>
          </a:prstGeom>
          <a:ln w="24384" cap="flat">
            <a:solidFill>
              <a:srgbClr val="B96043"/>
            </a:solidFill>
            <a:tailEnd type="triangle" w="med" len="med"/>
          </a:ln>
          <a:effectLst/>
        </p:spPr>
      </p:cxnSp>
      <p:sp>
        <p:nvSpPr>
          <p:cNvPr id="1154" name="object-381: 像素流">
            <a:extLst>
              <a:ext uri="{FF2B5EF4-FFF2-40B4-BE49-F238E27FC236}">
                <a16:creationId xmlns:a16="http://schemas.microsoft.com/office/drawing/2014/main" id="{3D0AACF3-BEDD-45BD-BCE9-6489BC0535FE}"/>
              </a:ext>
            </a:extLst>
          </p:cNvPr>
          <p:cNvSpPr txBox="1"/>
          <p:nvPr/>
        </p:nvSpPr>
        <p:spPr>
          <a:xfrm>
            <a:off x="11653382" y="3054448"/>
            <a:ext cx="3077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800" dirty="0" err="1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像素流</a:t>
            </a:r>
            <a:endParaRPr sz="800" dirty="0">
              <a:solidFill>
                <a:srgbClr val="B96043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5" name="legend-765489">
            <a:extLst>
              <a:ext uri="{FF2B5EF4-FFF2-40B4-BE49-F238E27FC236}">
                <a16:creationId xmlns:a16="http://schemas.microsoft.com/office/drawing/2014/main" id="{FAB5FF2C-C129-45F3-A80C-C3C411708100}"/>
              </a:ext>
            </a:extLst>
          </p:cNvPr>
          <p:cNvCxnSpPr/>
          <p:nvPr/>
        </p:nvCxnSpPr>
        <p:spPr>
          <a:xfrm>
            <a:off x="11378364" y="3302850"/>
            <a:ext cx="223520" cy="0"/>
          </a:xfrm>
          <a:prstGeom prst="line">
            <a:avLst/>
          </a:prstGeom>
          <a:ln w="24384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56" name="object-383: 配置 / 控制">
            <a:extLst>
              <a:ext uri="{FF2B5EF4-FFF2-40B4-BE49-F238E27FC236}">
                <a16:creationId xmlns:a16="http://schemas.microsoft.com/office/drawing/2014/main" id="{D1F8BDB7-8760-465C-91A5-FF1CDECEDED0}"/>
              </a:ext>
            </a:extLst>
          </p:cNvPr>
          <p:cNvSpPr txBox="1"/>
          <p:nvPr/>
        </p:nvSpPr>
        <p:spPr>
          <a:xfrm>
            <a:off x="11660508" y="3244220"/>
            <a:ext cx="514564" cy="12311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配置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控制</a:t>
            </a:r>
            <a:endParaRPr sz="800" dirty="0">
              <a:solidFill>
                <a:srgbClr val="76548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57" name="legend-dash">
            <a:extLst>
              <a:ext uri="{FF2B5EF4-FFF2-40B4-BE49-F238E27FC236}">
                <a16:creationId xmlns:a16="http://schemas.microsoft.com/office/drawing/2014/main" id="{DE0AA521-9BB8-482B-A591-AF0C06A14B81}"/>
              </a:ext>
            </a:extLst>
          </p:cNvPr>
          <p:cNvSpPr/>
          <p:nvPr/>
        </p:nvSpPr>
        <p:spPr>
          <a:xfrm>
            <a:off x="11391536" y="3484029"/>
            <a:ext cx="182880" cy="88053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58" name="object-385: 虚线：可选或新增候选">
            <a:extLst>
              <a:ext uri="{FF2B5EF4-FFF2-40B4-BE49-F238E27FC236}">
                <a16:creationId xmlns:a16="http://schemas.microsoft.com/office/drawing/2014/main" id="{4908C77F-5911-4B28-BE29-98064CB4BEB0}"/>
              </a:ext>
            </a:extLst>
          </p:cNvPr>
          <p:cNvSpPr txBox="1"/>
          <p:nvPr/>
        </p:nvSpPr>
        <p:spPr>
          <a:xfrm>
            <a:off x="11659706" y="3428900"/>
            <a:ext cx="532293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虚线：可选或新增候选</a:t>
            </a:r>
            <a:endParaRPr sz="8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2187131506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owerpoint template design by DAJU_PPT正版来源小红书大橘PPT微信DAJU_PPT请勿抄袭搬运！盗版必究！"/>
          <p:cNvSpPr/>
          <p:nvPr/>
        </p:nvSpPr>
        <p:spPr>
          <a:xfrm>
            <a:off x="0" y="0"/>
            <a:ext cx="12192000" cy="527280"/>
          </a:xfrm>
          <a:prstGeom prst="rect">
            <a:avLst/>
          </a:prstGeom>
          <a:solidFill>
            <a:srgbClr val="00499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9" name="powerpoint template design by DAJU_PPT正版来源小红书大橘PPT微信DAJU_PPT请勿抄袭搬运！盗版必究！"/>
          <p:cNvSpPr txBox="1"/>
          <p:nvPr userDrawn="1"/>
        </p:nvSpPr>
        <p:spPr>
          <a:xfrm>
            <a:off x="3087469" y="75869"/>
            <a:ext cx="6850351" cy="375542"/>
          </a:xfrm>
          <a:prstGeom prst="rect">
            <a:avLst/>
          </a:prstGeom>
          <a:noFill/>
        </p:spPr>
        <p:txBody>
          <a:bodyPr wrap="square" lIns="25200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algn="ctr">
              <a:defRPr/>
            </a:pPr>
            <a:r>
              <a:rPr lang="en-US" altLang="zh-CN" sz="2400" b="1" kern="0" dirty="0">
                <a:solidFill>
                  <a:schemeClr val="bg1"/>
                </a:solidFill>
                <a:cs typeface="+mn-ea"/>
                <a:sym typeface="+mn-lt"/>
              </a:rPr>
              <a:t>SoC</a:t>
            </a:r>
            <a:r>
              <a:rPr lang="zh-CN" altLang="en-US" sz="2400" b="1" kern="0" dirty="0">
                <a:solidFill>
                  <a:schemeClr val="bg1"/>
                </a:solidFill>
                <a:cs typeface="+mn-ea"/>
                <a:sym typeface="+mn-lt"/>
              </a:rPr>
              <a:t>硬件层</a:t>
            </a:r>
          </a:p>
        </p:txBody>
      </p:sp>
      <p:sp>
        <p:nvSpPr>
          <p:cNvPr id="777" name="soc-boundary">
            <a:extLst>
              <a:ext uri="{FF2B5EF4-FFF2-40B4-BE49-F238E27FC236}">
                <a16:creationId xmlns:a16="http://schemas.microsoft.com/office/drawing/2014/main" id="{CB19764B-E839-45AE-B084-14D7FCBA29C1}"/>
              </a:ext>
            </a:extLst>
          </p:cNvPr>
          <p:cNvSpPr/>
          <p:nvPr/>
        </p:nvSpPr>
        <p:spPr>
          <a:xfrm>
            <a:off x="71973" y="603149"/>
            <a:ext cx="11260667" cy="6180667"/>
          </a:xfrm>
          <a:prstGeom prst="rect">
            <a:avLst/>
          </a:prstGeom>
          <a:solidFill>
            <a:srgbClr val="FFFFFF"/>
          </a:solidFill>
          <a:ln w="40640" cap="flat">
            <a:solidFill>
              <a:srgbClr val="645C5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78" name="object-005: SoC">
            <a:extLst>
              <a:ext uri="{FF2B5EF4-FFF2-40B4-BE49-F238E27FC236}">
                <a16:creationId xmlns:a16="http://schemas.microsoft.com/office/drawing/2014/main" id="{A729F37A-FE4E-4444-AC4E-C0268DDC04AC}"/>
              </a:ext>
            </a:extLst>
          </p:cNvPr>
          <p:cNvSpPr txBox="1"/>
          <p:nvPr/>
        </p:nvSpPr>
        <p:spPr>
          <a:xfrm>
            <a:off x="3725333" y="608488"/>
            <a:ext cx="4064000" cy="21544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0" b="1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SoC 架构：CPU / Ara 共享 GB 出口</a:t>
            </a:r>
          </a:p>
        </p:txBody>
      </p:sp>
      <p:sp>
        <p:nvSpPr>
          <p:cNvPr id="779" name="cpu-platform">
            <a:extLst>
              <a:ext uri="{FF2B5EF4-FFF2-40B4-BE49-F238E27FC236}">
                <a16:creationId xmlns:a16="http://schemas.microsoft.com/office/drawing/2014/main" id="{AF24C96E-7639-4A3D-B153-780FAD5C80B8}"/>
              </a:ext>
            </a:extLst>
          </p:cNvPr>
          <p:cNvSpPr/>
          <p:nvPr/>
        </p:nvSpPr>
        <p:spPr>
          <a:xfrm>
            <a:off x="241307" y="840216"/>
            <a:ext cx="3166533" cy="1439333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0" name="object-007: CVA6–Ara 计算平台">
            <a:extLst>
              <a:ext uri="{FF2B5EF4-FFF2-40B4-BE49-F238E27FC236}">
                <a16:creationId xmlns:a16="http://schemas.microsoft.com/office/drawing/2014/main" id="{124C73D2-9AEE-45DB-8A2C-B9E829D70CF4}"/>
              </a:ext>
            </a:extLst>
          </p:cNvPr>
          <p:cNvSpPr txBox="1"/>
          <p:nvPr/>
        </p:nvSpPr>
        <p:spPr>
          <a:xfrm>
            <a:off x="1164047" y="855252"/>
            <a:ext cx="1317668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CVA6–Ara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计算平台</a:t>
            </a:r>
            <a:endParaRPr sz="11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1" name="cva6">
            <a:extLst>
              <a:ext uri="{FF2B5EF4-FFF2-40B4-BE49-F238E27FC236}">
                <a16:creationId xmlns:a16="http://schemas.microsoft.com/office/drawing/2014/main" id="{A278632C-7678-4A74-9EF4-ED3825AC645F}"/>
              </a:ext>
            </a:extLst>
          </p:cNvPr>
          <p:cNvSpPr/>
          <p:nvPr/>
        </p:nvSpPr>
        <p:spPr>
          <a:xfrm>
            <a:off x="325973" y="1111149"/>
            <a:ext cx="846667" cy="7281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2" name="object-009: CVA6 core 0">
            <a:extLst>
              <a:ext uri="{FF2B5EF4-FFF2-40B4-BE49-F238E27FC236}">
                <a16:creationId xmlns:a16="http://schemas.microsoft.com/office/drawing/2014/main" id="{2BE65702-B1F0-4B4E-BF09-D79ADBF299AC}"/>
              </a:ext>
            </a:extLst>
          </p:cNvPr>
          <p:cNvSpPr txBox="1"/>
          <p:nvPr/>
        </p:nvSpPr>
        <p:spPr>
          <a:xfrm>
            <a:off x="435118" y="1266910"/>
            <a:ext cx="6283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 core 0</a:t>
            </a:r>
          </a:p>
        </p:txBody>
      </p:sp>
      <p:sp>
        <p:nvSpPr>
          <p:cNvPr id="783" name="object-010: L1 I / D cache">
            <a:extLst>
              <a:ext uri="{FF2B5EF4-FFF2-40B4-BE49-F238E27FC236}">
                <a16:creationId xmlns:a16="http://schemas.microsoft.com/office/drawing/2014/main" id="{C4F3F2C8-88D6-4730-A950-0FE57919B9CE}"/>
              </a:ext>
            </a:extLst>
          </p:cNvPr>
          <p:cNvSpPr txBox="1"/>
          <p:nvPr/>
        </p:nvSpPr>
        <p:spPr>
          <a:xfrm>
            <a:off x="415883" y="1403461"/>
            <a:ext cx="66684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L1 I / D cache</a:t>
            </a:r>
          </a:p>
        </p:txBody>
      </p:sp>
      <p:sp>
        <p:nvSpPr>
          <p:cNvPr id="784" name="object-011: MMU · AXI 适配">
            <a:extLst>
              <a:ext uri="{FF2B5EF4-FFF2-40B4-BE49-F238E27FC236}">
                <a16:creationId xmlns:a16="http://schemas.microsoft.com/office/drawing/2014/main" id="{1308FC2B-9804-4676-9C81-F66B696127BD}"/>
              </a:ext>
            </a:extLst>
          </p:cNvPr>
          <p:cNvSpPr txBox="1"/>
          <p:nvPr/>
        </p:nvSpPr>
        <p:spPr>
          <a:xfrm>
            <a:off x="365387" y="1511834"/>
            <a:ext cx="7678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MMU · AXI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适配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5" name="ara-core">
            <a:extLst>
              <a:ext uri="{FF2B5EF4-FFF2-40B4-BE49-F238E27FC236}">
                <a16:creationId xmlns:a16="http://schemas.microsoft.com/office/drawing/2014/main" id="{326B305C-1397-4FB6-907C-47D8D0CC135D}"/>
              </a:ext>
            </a:extLst>
          </p:cNvPr>
          <p:cNvSpPr/>
          <p:nvPr/>
        </p:nvSpPr>
        <p:spPr>
          <a:xfrm>
            <a:off x="1341973" y="1111149"/>
            <a:ext cx="1964267" cy="4233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6" name="object-013: Ara 向量处理器">
            <a:extLst>
              <a:ext uri="{FF2B5EF4-FFF2-40B4-BE49-F238E27FC236}">
                <a16:creationId xmlns:a16="http://schemas.microsoft.com/office/drawing/2014/main" id="{64417BFF-AAB1-4D2B-AB14-3C166730A1DE}"/>
              </a:ext>
            </a:extLst>
          </p:cNvPr>
          <p:cNvSpPr txBox="1"/>
          <p:nvPr/>
        </p:nvSpPr>
        <p:spPr>
          <a:xfrm>
            <a:off x="1962629" y="1187535"/>
            <a:ext cx="72295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Ara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向量处理器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7" name="object-014: VLSU / AXI：32 × lanes bit">
            <a:extLst>
              <a:ext uri="{FF2B5EF4-FFF2-40B4-BE49-F238E27FC236}">
                <a16:creationId xmlns:a16="http://schemas.microsoft.com/office/drawing/2014/main" id="{301DDB2E-AC9E-4A6E-9896-07E073F592EE}"/>
              </a:ext>
            </a:extLst>
          </p:cNvPr>
          <p:cNvSpPr txBox="1"/>
          <p:nvPr/>
        </p:nvSpPr>
        <p:spPr>
          <a:xfrm>
            <a:off x="1671685" y="1324086"/>
            <a:ext cx="130484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2 lanes · VLSU / AXI：64 bit</a:t>
            </a:r>
          </a:p>
        </p:txBody>
      </p:sp>
      <p:cxnSp>
        <p:nvCxnSpPr>
          <p:cNvPr id="788" name="cva6-ara-control">
            <a:extLst>
              <a:ext uri="{FF2B5EF4-FFF2-40B4-BE49-F238E27FC236}">
                <a16:creationId xmlns:a16="http://schemas.microsoft.com/office/drawing/2014/main" id="{A119614B-6831-451B-BA2D-3B24BC8398AF}"/>
              </a:ext>
            </a:extLst>
          </p:cNvPr>
          <p:cNvCxnSpPr/>
          <p:nvPr/>
        </p:nvCxnSpPr>
        <p:spPr>
          <a:xfrm>
            <a:off x="1172640" y="1314349"/>
            <a:ext cx="169333" cy="0"/>
          </a:xfrm>
          <a:prstGeom prst="line">
            <a:avLst/>
          </a:prstGeom>
          <a:ln w="20320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789" name="object-016: 指令 / MMU">
            <a:extLst>
              <a:ext uri="{FF2B5EF4-FFF2-40B4-BE49-F238E27FC236}">
                <a16:creationId xmlns:a16="http://schemas.microsoft.com/office/drawing/2014/main" id="{E1752098-E990-4C62-8143-B7F1B4EE3C96}"/>
              </a:ext>
            </a:extLst>
          </p:cNvPr>
          <p:cNvSpPr txBox="1"/>
          <p:nvPr/>
        </p:nvSpPr>
        <p:spPr>
          <a:xfrm>
            <a:off x="1040281" y="1007788"/>
            <a:ext cx="440826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指令 / MMU</a:t>
            </a:r>
          </a:p>
        </p:txBody>
      </p:sp>
      <p:sp>
        <p:nvSpPr>
          <p:cNvPr id="790" name="ara-filter">
            <a:extLst>
              <a:ext uri="{FF2B5EF4-FFF2-40B4-BE49-F238E27FC236}">
                <a16:creationId xmlns:a16="http://schemas.microsoft.com/office/drawing/2014/main" id="{53C8AB6E-31EB-44B7-B4FC-68060C84843C}"/>
              </a:ext>
            </a:extLst>
          </p:cNvPr>
          <p:cNvSpPr/>
          <p:nvPr/>
        </p:nvSpPr>
        <p:spPr>
          <a:xfrm>
            <a:off x="1409706" y="1686883"/>
            <a:ext cx="643467" cy="29125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91" name="object-018: 失效过滤">
            <a:extLst>
              <a:ext uri="{FF2B5EF4-FFF2-40B4-BE49-F238E27FC236}">
                <a16:creationId xmlns:a16="http://schemas.microsoft.com/office/drawing/2014/main" id="{77AF999C-5811-4EB4-A28F-6FC6EB19EA75}"/>
              </a:ext>
            </a:extLst>
          </p:cNvPr>
          <p:cNvSpPr txBox="1"/>
          <p:nvPr/>
        </p:nvSpPr>
        <p:spPr>
          <a:xfrm>
            <a:off x="1526255" y="1720749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失效过滤</a:t>
            </a:r>
          </a:p>
        </p:txBody>
      </p:sp>
      <p:sp>
        <p:nvSpPr>
          <p:cNvPr id="792" name="object-019: 现有 filter">
            <a:extLst>
              <a:ext uri="{FF2B5EF4-FFF2-40B4-BE49-F238E27FC236}">
                <a16:creationId xmlns:a16="http://schemas.microsoft.com/office/drawing/2014/main" id="{E3F41616-6AF3-4FF6-850B-A98674451E27}"/>
              </a:ext>
            </a:extLst>
          </p:cNvPr>
          <p:cNvSpPr txBox="1"/>
          <p:nvPr/>
        </p:nvSpPr>
        <p:spPr>
          <a:xfrm>
            <a:off x="1501409" y="1842669"/>
            <a:ext cx="4600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现有 filter</a:t>
            </a:r>
          </a:p>
        </p:txBody>
      </p:sp>
      <p:sp>
        <p:nvSpPr>
          <p:cNvPr id="796" name="ara-width">
            <a:extLst>
              <a:ext uri="{FF2B5EF4-FFF2-40B4-BE49-F238E27FC236}">
                <a16:creationId xmlns:a16="http://schemas.microsoft.com/office/drawing/2014/main" id="{13DCB4D3-CB81-4F91-A5BB-7B8FDA91C5C7}"/>
              </a:ext>
            </a:extLst>
          </p:cNvPr>
          <p:cNvSpPr/>
          <p:nvPr/>
        </p:nvSpPr>
        <p:spPr>
          <a:xfrm>
            <a:off x="2798240" y="1686883"/>
            <a:ext cx="508000" cy="29125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97" name="object-024: 位宽适配">
            <a:extLst>
              <a:ext uri="{FF2B5EF4-FFF2-40B4-BE49-F238E27FC236}">
                <a16:creationId xmlns:a16="http://schemas.microsoft.com/office/drawing/2014/main" id="{B27BE7FB-D7A1-4A9A-9125-78B229034358}"/>
              </a:ext>
            </a:extLst>
          </p:cNvPr>
          <p:cNvSpPr txBox="1"/>
          <p:nvPr/>
        </p:nvSpPr>
        <p:spPr>
          <a:xfrm>
            <a:off x="2847055" y="1720749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等宽透传</a:t>
            </a:r>
          </a:p>
        </p:txBody>
      </p:sp>
      <p:sp>
        <p:nvSpPr>
          <p:cNvPr id="798" name="object-025: → 64 bit">
            <a:extLst>
              <a:ext uri="{FF2B5EF4-FFF2-40B4-BE49-F238E27FC236}">
                <a16:creationId xmlns:a16="http://schemas.microsoft.com/office/drawing/2014/main" id="{6732B6D6-BF45-4760-884F-A62B535AA613}"/>
              </a:ext>
            </a:extLst>
          </p:cNvPr>
          <p:cNvSpPr txBox="1"/>
          <p:nvPr/>
        </p:nvSpPr>
        <p:spPr>
          <a:xfrm>
            <a:off x="2843849" y="1842669"/>
            <a:ext cx="41678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4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 → 64 bit</a:t>
            </a:r>
          </a:p>
        </p:txBody>
      </p:sp>
      <p:cxnSp>
        <p:nvCxnSpPr>
          <p:cNvPr id="799" name="vlsu-filter">
            <a:extLst>
              <a:ext uri="{FF2B5EF4-FFF2-40B4-BE49-F238E27FC236}">
                <a16:creationId xmlns:a16="http://schemas.microsoft.com/office/drawing/2014/main" id="{40661750-8396-4465-BC47-BA8E6CE9F4E7}"/>
              </a:ext>
            </a:extLst>
          </p:cNvPr>
          <p:cNvCxnSpPr/>
          <p:nvPr/>
        </p:nvCxnSpPr>
        <p:spPr>
          <a:xfrm>
            <a:off x="1731440" y="1534482"/>
            <a:ext cx="0" cy="15240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02" name="npu-subsystem">
            <a:extLst>
              <a:ext uri="{FF2B5EF4-FFF2-40B4-BE49-F238E27FC236}">
                <a16:creationId xmlns:a16="http://schemas.microsoft.com/office/drawing/2014/main" id="{656E5669-F913-42EA-B7ED-87C55D399281}"/>
              </a:ext>
            </a:extLst>
          </p:cNvPr>
          <p:cNvSpPr/>
          <p:nvPr/>
        </p:nvSpPr>
        <p:spPr>
          <a:xfrm>
            <a:off x="3594106" y="840216"/>
            <a:ext cx="3843867" cy="14393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3" name="object-030: NPU / 独立 Global Buffer 子系统">
            <a:extLst>
              <a:ext uri="{FF2B5EF4-FFF2-40B4-BE49-F238E27FC236}">
                <a16:creationId xmlns:a16="http://schemas.microsoft.com/office/drawing/2014/main" id="{718B7891-A7B2-45A4-B891-5FAEC892CE9F}"/>
              </a:ext>
            </a:extLst>
          </p:cNvPr>
          <p:cNvSpPr txBox="1"/>
          <p:nvPr/>
        </p:nvSpPr>
        <p:spPr>
          <a:xfrm>
            <a:off x="4410679" y="855252"/>
            <a:ext cx="2207336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</a:t>
            </a:r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Global Buffer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子系统</a:t>
            </a:r>
            <a:endParaRPr sz="11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04" name="npu-compute">
            <a:extLst>
              <a:ext uri="{FF2B5EF4-FFF2-40B4-BE49-F238E27FC236}">
                <a16:creationId xmlns:a16="http://schemas.microsoft.com/office/drawing/2014/main" id="{46C0F758-7B9F-4A0A-B73B-2833147897D7}"/>
              </a:ext>
            </a:extLst>
          </p:cNvPr>
          <p:cNvSpPr/>
          <p:nvPr/>
        </p:nvSpPr>
        <p:spPr>
          <a:xfrm>
            <a:off x="3678773" y="1111149"/>
            <a:ext cx="914400" cy="592667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5" name="object-032: NPU 计算引擎">
            <a:extLst>
              <a:ext uri="{FF2B5EF4-FFF2-40B4-BE49-F238E27FC236}">
                <a16:creationId xmlns:a16="http://schemas.microsoft.com/office/drawing/2014/main" id="{57A034A3-CD90-407A-9864-937692845FE0}"/>
              </a:ext>
            </a:extLst>
          </p:cNvPr>
          <p:cNvSpPr txBox="1"/>
          <p:nvPr/>
        </p:nvSpPr>
        <p:spPr>
          <a:xfrm>
            <a:off x="3798540" y="1241510"/>
            <a:ext cx="67486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计算引擎</a:t>
            </a:r>
          </a:p>
        </p:txBody>
      </p:sp>
      <p:sp>
        <p:nvSpPr>
          <p:cNvPr id="806" name="object-033: GB 数据读写">
            <a:extLst>
              <a:ext uri="{FF2B5EF4-FFF2-40B4-BE49-F238E27FC236}">
                <a16:creationId xmlns:a16="http://schemas.microsoft.com/office/drawing/2014/main" id="{9CE2B4F6-7C07-4825-97E7-4CF402344E97}"/>
              </a:ext>
            </a:extLst>
          </p:cNvPr>
          <p:cNvSpPr txBox="1"/>
          <p:nvPr/>
        </p:nvSpPr>
        <p:spPr>
          <a:xfrm>
            <a:off x="3845028" y="1378061"/>
            <a:ext cx="58189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数据读写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07" name="cfg-tag-C6-33">
            <a:extLst>
              <a:ext uri="{FF2B5EF4-FFF2-40B4-BE49-F238E27FC236}">
                <a16:creationId xmlns:a16="http://schemas.microsoft.com/office/drawing/2014/main" id="{D3B7AF86-7454-4B62-89BE-78681DD60168}"/>
              </a:ext>
            </a:extLst>
          </p:cNvPr>
          <p:cNvSpPr/>
          <p:nvPr/>
        </p:nvSpPr>
        <p:spPr>
          <a:xfrm>
            <a:off x="4389973" y="155141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8" name="object-035: C6">
            <a:extLst>
              <a:ext uri="{FF2B5EF4-FFF2-40B4-BE49-F238E27FC236}">
                <a16:creationId xmlns:a16="http://schemas.microsoft.com/office/drawing/2014/main" id="{C61F99EE-C4EE-4969-94E1-ED6A835DA0FB}"/>
              </a:ext>
            </a:extLst>
          </p:cNvPr>
          <p:cNvSpPr txBox="1"/>
          <p:nvPr/>
        </p:nvSpPr>
        <p:spPr>
          <a:xfrm>
            <a:off x="4419867" y="155277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809" name="gb-router">
            <a:extLst>
              <a:ext uri="{FF2B5EF4-FFF2-40B4-BE49-F238E27FC236}">
                <a16:creationId xmlns:a16="http://schemas.microsoft.com/office/drawing/2014/main" id="{B49BD3BD-E44C-4699-B093-1981A49F63CE}"/>
              </a:ext>
            </a:extLst>
          </p:cNvPr>
          <p:cNvSpPr/>
          <p:nvPr/>
        </p:nvSpPr>
        <p:spPr>
          <a:xfrm>
            <a:off x="4711707" y="1365149"/>
            <a:ext cx="778933" cy="7958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0" name="object-037: GB 访问适配">
            <a:extLst>
              <a:ext uri="{FF2B5EF4-FFF2-40B4-BE49-F238E27FC236}">
                <a16:creationId xmlns:a16="http://schemas.microsoft.com/office/drawing/2014/main" id="{9DDF7B99-1CF7-451D-880D-F92066C2D856}"/>
              </a:ext>
            </a:extLst>
          </p:cNvPr>
          <p:cNvSpPr txBox="1"/>
          <p:nvPr/>
        </p:nvSpPr>
        <p:spPr>
          <a:xfrm>
            <a:off x="4806221" y="1556801"/>
            <a:ext cx="58990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访问适配</a:t>
            </a:r>
          </a:p>
        </p:txBody>
      </p:sp>
      <p:sp>
        <p:nvSpPr>
          <p:cNvPr id="811" name="object-038: 局部仲裁 / 路由">
            <a:extLst>
              <a:ext uri="{FF2B5EF4-FFF2-40B4-BE49-F238E27FC236}">
                <a16:creationId xmlns:a16="http://schemas.microsoft.com/office/drawing/2014/main" id="{31997707-ECEB-4690-908D-11823455FE1C}"/>
              </a:ext>
            </a:extLst>
          </p:cNvPr>
          <p:cNvSpPr txBox="1"/>
          <p:nvPr/>
        </p:nvSpPr>
        <p:spPr>
          <a:xfrm>
            <a:off x="4741299" y="1686036"/>
            <a:ext cx="71974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局部仲裁 / 路由</a:t>
            </a:r>
          </a:p>
        </p:txBody>
      </p:sp>
      <p:sp>
        <p:nvSpPr>
          <p:cNvPr id="812" name="object-039: bank 冲突处理">
            <a:extLst>
              <a:ext uri="{FF2B5EF4-FFF2-40B4-BE49-F238E27FC236}">
                <a16:creationId xmlns:a16="http://schemas.microsoft.com/office/drawing/2014/main" id="{11961159-3445-4A6A-8ED7-CDD7022D7D18}"/>
              </a:ext>
            </a:extLst>
          </p:cNvPr>
          <p:cNvSpPr txBox="1"/>
          <p:nvPr/>
        </p:nvSpPr>
        <p:spPr>
          <a:xfrm>
            <a:off x="4760535" y="1794409"/>
            <a:ext cx="6812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bank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冲突处理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13" name="global-buffer">
            <a:extLst>
              <a:ext uri="{FF2B5EF4-FFF2-40B4-BE49-F238E27FC236}">
                <a16:creationId xmlns:a16="http://schemas.microsoft.com/office/drawing/2014/main" id="{0F86E12E-383A-4875-BC7C-4C90F3F966C9}"/>
              </a:ext>
            </a:extLst>
          </p:cNvPr>
          <p:cNvSpPr/>
          <p:nvPr/>
        </p:nvSpPr>
        <p:spPr>
          <a:xfrm>
            <a:off x="5626106" y="1111149"/>
            <a:ext cx="1710267" cy="5757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4" name="object-041: Global Buffer">
            <a:extLst>
              <a:ext uri="{FF2B5EF4-FFF2-40B4-BE49-F238E27FC236}">
                <a16:creationId xmlns:a16="http://schemas.microsoft.com/office/drawing/2014/main" id="{0651B47D-F1D7-4756-8C2C-E0A3C6EF838A}"/>
              </a:ext>
            </a:extLst>
          </p:cNvPr>
          <p:cNvSpPr txBox="1"/>
          <p:nvPr/>
        </p:nvSpPr>
        <p:spPr>
          <a:xfrm>
            <a:off x="6094917" y="1208312"/>
            <a:ext cx="772647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Global Buffer</a:t>
            </a:r>
          </a:p>
        </p:txBody>
      </p:sp>
      <p:sp>
        <p:nvSpPr>
          <p:cNvPr id="815" name="object-042: 独立 SRAM · 分 bank">
            <a:extLst>
              <a:ext uri="{FF2B5EF4-FFF2-40B4-BE49-F238E27FC236}">
                <a16:creationId xmlns:a16="http://schemas.microsoft.com/office/drawing/2014/main" id="{AD1A6881-C2BE-460D-B074-A700C9C01B03}"/>
              </a:ext>
            </a:extLst>
          </p:cNvPr>
          <p:cNvSpPr txBox="1"/>
          <p:nvPr/>
        </p:nvSpPr>
        <p:spPr>
          <a:xfrm>
            <a:off x="5984309" y="1355836"/>
            <a:ext cx="99386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 SRAM · 分 bank</a:t>
            </a:r>
          </a:p>
        </p:txBody>
      </p:sp>
      <p:sp>
        <p:nvSpPr>
          <p:cNvPr id="816" name="object-043: ISP / NPU–Ara 工作区">
            <a:extLst>
              <a:ext uri="{FF2B5EF4-FFF2-40B4-BE49-F238E27FC236}">
                <a16:creationId xmlns:a16="http://schemas.microsoft.com/office/drawing/2014/main" id="{D53F494B-0690-4734-ACA8-CACF6710407D}"/>
              </a:ext>
            </a:extLst>
          </p:cNvPr>
          <p:cNvSpPr txBox="1"/>
          <p:nvPr/>
        </p:nvSpPr>
        <p:spPr>
          <a:xfrm>
            <a:off x="5689600" y="1476908"/>
            <a:ext cx="157480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47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/ NPU / ISP 工作区</a:t>
            </a:r>
          </a:p>
        </p:txBody>
      </p:sp>
      <p:sp>
        <p:nvSpPr>
          <p:cNvPr id="817" name="cfg-tag-C9-43">
            <a:extLst>
              <a:ext uri="{FF2B5EF4-FFF2-40B4-BE49-F238E27FC236}">
                <a16:creationId xmlns:a16="http://schemas.microsoft.com/office/drawing/2014/main" id="{823E72FE-055F-4BE4-8A7B-2A044874D38D}"/>
              </a:ext>
            </a:extLst>
          </p:cNvPr>
          <p:cNvSpPr/>
          <p:nvPr/>
        </p:nvSpPr>
        <p:spPr>
          <a:xfrm>
            <a:off x="7133173" y="152770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8" name="object-045: C9">
            <a:extLst>
              <a:ext uri="{FF2B5EF4-FFF2-40B4-BE49-F238E27FC236}">
                <a16:creationId xmlns:a16="http://schemas.microsoft.com/office/drawing/2014/main" id="{95D02E3B-149C-4FA4-A33D-61F0556022FE}"/>
              </a:ext>
            </a:extLst>
          </p:cNvPr>
          <p:cNvSpPr txBox="1"/>
          <p:nvPr/>
        </p:nvSpPr>
        <p:spPr>
          <a:xfrm>
            <a:off x="7163067" y="152906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cxnSp>
        <p:nvCxnSpPr>
          <p:cNvPr id="819" name="npu-router">
            <a:extLst>
              <a:ext uri="{FF2B5EF4-FFF2-40B4-BE49-F238E27FC236}">
                <a16:creationId xmlns:a16="http://schemas.microsoft.com/office/drawing/2014/main" id="{A428C493-29D6-4BBC-BA7B-070D429BC4AF}"/>
              </a:ext>
            </a:extLst>
          </p:cNvPr>
          <p:cNvCxnSpPr/>
          <p:nvPr/>
        </p:nvCxnSpPr>
        <p:spPr>
          <a:xfrm>
            <a:off x="4593173" y="1466749"/>
            <a:ext cx="118533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cxnSp>
        <p:nvCxnSpPr>
          <p:cNvPr id="820" name="router-sram">
            <a:extLst>
              <a:ext uri="{FF2B5EF4-FFF2-40B4-BE49-F238E27FC236}">
                <a16:creationId xmlns:a16="http://schemas.microsoft.com/office/drawing/2014/main" id="{D5B8C352-9067-45D3-A0F8-A71B9B5A5E13}"/>
              </a:ext>
            </a:extLst>
          </p:cNvPr>
          <p:cNvCxnSpPr/>
          <p:nvPr/>
        </p:nvCxnSpPr>
        <p:spPr>
          <a:xfrm>
            <a:off x="5490640" y="1551416"/>
            <a:ext cx="135467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821" name="npu-transfer">
            <a:extLst>
              <a:ext uri="{FF2B5EF4-FFF2-40B4-BE49-F238E27FC236}">
                <a16:creationId xmlns:a16="http://schemas.microsoft.com/office/drawing/2014/main" id="{FA38588C-CDC9-492E-8CAA-C795BC318639}"/>
              </a:ext>
            </a:extLst>
          </p:cNvPr>
          <p:cNvSpPr/>
          <p:nvPr/>
        </p:nvSpPr>
        <p:spPr>
          <a:xfrm>
            <a:off x="5626106" y="1805416"/>
            <a:ext cx="1710267" cy="406400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22" name="object-049: NPU / GB 搬运引擎">
            <a:extLst>
              <a:ext uri="{FF2B5EF4-FFF2-40B4-BE49-F238E27FC236}">
                <a16:creationId xmlns:a16="http://schemas.microsoft.com/office/drawing/2014/main" id="{B62D1668-5499-422C-A42A-7C1C8F708B4E}"/>
              </a:ext>
            </a:extLst>
          </p:cNvPr>
          <p:cNvSpPr txBox="1"/>
          <p:nvPr/>
        </p:nvSpPr>
        <p:spPr>
          <a:xfrm>
            <a:off x="6014767" y="1884977"/>
            <a:ext cx="93294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搬运引擎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23" name="object-050: DDR ↔ GB · 统一 AXI 主口">
            <a:extLst>
              <a:ext uri="{FF2B5EF4-FFF2-40B4-BE49-F238E27FC236}">
                <a16:creationId xmlns:a16="http://schemas.microsoft.com/office/drawing/2014/main" id="{85C9B0F7-F610-4D22-AFEB-406C6901B317}"/>
              </a:ext>
            </a:extLst>
          </p:cNvPr>
          <p:cNvSpPr txBox="1"/>
          <p:nvPr/>
        </p:nvSpPr>
        <p:spPr>
          <a:xfrm>
            <a:off x="5835230" y="2021527"/>
            <a:ext cx="129202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↔ GB ·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统一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AXI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主口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24" name="cfg-tag-C7-50">
            <a:extLst>
              <a:ext uri="{FF2B5EF4-FFF2-40B4-BE49-F238E27FC236}">
                <a16:creationId xmlns:a16="http://schemas.microsoft.com/office/drawing/2014/main" id="{B1F03A49-3940-4D0A-8CD8-1BDE1A74EFAE}"/>
              </a:ext>
            </a:extLst>
          </p:cNvPr>
          <p:cNvSpPr/>
          <p:nvPr/>
        </p:nvSpPr>
        <p:spPr>
          <a:xfrm>
            <a:off x="7133173" y="206957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25" name="object-052: C7">
            <a:extLst>
              <a:ext uri="{FF2B5EF4-FFF2-40B4-BE49-F238E27FC236}">
                <a16:creationId xmlns:a16="http://schemas.microsoft.com/office/drawing/2014/main" id="{AB84474B-5CCF-43E8-BCC6-18E79C6A3986}"/>
              </a:ext>
            </a:extLst>
          </p:cNvPr>
          <p:cNvSpPr txBox="1"/>
          <p:nvPr/>
        </p:nvSpPr>
        <p:spPr>
          <a:xfrm>
            <a:off x="7163067" y="207093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cxnSp>
        <p:nvCxnSpPr>
          <p:cNvPr id="826" name="transfer-router">
            <a:extLst>
              <a:ext uri="{FF2B5EF4-FFF2-40B4-BE49-F238E27FC236}">
                <a16:creationId xmlns:a16="http://schemas.microsoft.com/office/drawing/2014/main" id="{CC73FB70-E502-4DB5-A5D7-857AF0014BBD}"/>
              </a:ext>
            </a:extLst>
          </p:cNvPr>
          <p:cNvCxnSpPr/>
          <p:nvPr/>
        </p:nvCxnSpPr>
        <p:spPr>
          <a:xfrm flipH="1">
            <a:off x="5490640" y="2008616"/>
            <a:ext cx="135467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829" name="image-subsystem">
            <a:extLst>
              <a:ext uri="{FF2B5EF4-FFF2-40B4-BE49-F238E27FC236}">
                <a16:creationId xmlns:a16="http://schemas.microsoft.com/office/drawing/2014/main" id="{6BD40024-AF2A-43AA-9F53-2CB0F0A35B7B}"/>
              </a:ext>
            </a:extLst>
          </p:cNvPr>
          <p:cNvSpPr/>
          <p:nvPr/>
        </p:nvSpPr>
        <p:spPr>
          <a:xfrm>
            <a:off x="7607306" y="840216"/>
            <a:ext cx="3606800" cy="1439333"/>
          </a:xfrm>
          <a:prstGeom prst="rect">
            <a:avLst/>
          </a:prstGeom>
          <a:solidFill>
            <a:srgbClr val="F5E1C9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0" name="object-057: 图像采集与 ISP">
            <a:extLst>
              <a:ext uri="{FF2B5EF4-FFF2-40B4-BE49-F238E27FC236}">
                <a16:creationId xmlns:a16="http://schemas.microsoft.com/office/drawing/2014/main" id="{5D105284-8B1B-4DF6-9CD3-6DE3CB6EA6D2}"/>
              </a:ext>
            </a:extLst>
          </p:cNvPr>
          <p:cNvSpPr txBox="1"/>
          <p:nvPr/>
        </p:nvSpPr>
        <p:spPr>
          <a:xfrm>
            <a:off x="8922503" y="855252"/>
            <a:ext cx="973023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图像采集与</a:t>
            </a:r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ISP</a:t>
            </a:r>
          </a:p>
        </p:txBody>
      </p:sp>
      <p:sp>
        <p:nvSpPr>
          <p:cNvPr id="831" name="lvds">
            <a:extLst>
              <a:ext uri="{FF2B5EF4-FFF2-40B4-BE49-F238E27FC236}">
                <a16:creationId xmlns:a16="http://schemas.microsoft.com/office/drawing/2014/main" id="{3678F47F-0E17-45E0-BC26-1889C2B908C0}"/>
              </a:ext>
            </a:extLst>
          </p:cNvPr>
          <p:cNvSpPr/>
          <p:nvPr/>
        </p:nvSpPr>
        <p:spPr>
          <a:xfrm>
            <a:off x="7691973" y="1314349"/>
            <a:ext cx="558800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2" name="object-059: LVDS 接收">
            <a:extLst>
              <a:ext uri="{FF2B5EF4-FFF2-40B4-BE49-F238E27FC236}">
                <a16:creationId xmlns:a16="http://schemas.microsoft.com/office/drawing/2014/main" id="{A09B5D17-5CB1-4F09-9942-523F28E11F50}"/>
              </a:ext>
            </a:extLst>
          </p:cNvPr>
          <p:cNvSpPr txBox="1"/>
          <p:nvPr/>
        </p:nvSpPr>
        <p:spPr>
          <a:xfrm>
            <a:off x="7716495" y="1462046"/>
            <a:ext cx="50975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接收</a:t>
            </a:r>
          </a:p>
        </p:txBody>
      </p:sp>
      <p:sp>
        <p:nvSpPr>
          <p:cNvPr id="833" name="object-060: 解串 / 帧行">
            <a:extLst>
              <a:ext uri="{FF2B5EF4-FFF2-40B4-BE49-F238E27FC236}">
                <a16:creationId xmlns:a16="http://schemas.microsoft.com/office/drawing/2014/main" id="{A4A92F41-F952-4D36-9FD8-9D4521EEAEB1}"/>
              </a:ext>
            </a:extLst>
          </p:cNvPr>
          <p:cNvSpPr txBox="1"/>
          <p:nvPr/>
        </p:nvSpPr>
        <p:spPr>
          <a:xfrm>
            <a:off x="7714091" y="1587624"/>
            <a:ext cx="5145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解串 / 帧行</a:t>
            </a:r>
          </a:p>
        </p:txBody>
      </p:sp>
      <p:sp>
        <p:nvSpPr>
          <p:cNvPr id="834" name="cfg-tag-C4-60">
            <a:extLst>
              <a:ext uri="{FF2B5EF4-FFF2-40B4-BE49-F238E27FC236}">
                <a16:creationId xmlns:a16="http://schemas.microsoft.com/office/drawing/2014/main" id="{889DE112-44D4-4243-93D5-ABB1ACA86D6E}"/>
              </a:ext>
            </a:extLst>
          </p:cNvPr>
          <p:cNvSpPr/>
          <p:nvPr/>
        </p:nvSpPr>
        <p:spPr>
          <a:xfrm>
            <a:off x="8047573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5" name="object-062: C4">
            <a:extLst>
              <a:ext uri="{FF2B5EF4-FFF2-40B4-BE49-F238E27FC236}">
                <a16:creationId xmlns:a16="http://schemas.microsoft.com/office/drawing/2014/main" id="{3EB18B95-08AB-4276-B69A-36E4026D5732}"/>
              </a:ext>
            </a:extLst>
          </p:cNvPr>
          <p:cNvSpPr txBox="1"/>
          <p:nvPr/>
        </p:nvSpPr>
        <p:spPr>
          <a:xfrm>
            <a:off x="8077467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836" name="pixel-cdc">
            <a:extLst>
              <a:ext uri="{FF2B5EF4-FFF2-40B4-BE49-F238E27FC236}">
                <a16:creationId xmlns:a16="http://schemas.microsoft.com/office/drawing/2014/main" id="{7B21DA8E-5581-4742-85D5-AE770D9C6062}"/>
              </a:ext>
            </a:extLst>
          </p:cNvPr>
          <p:cNvSpPr/>
          <p:nvPr/>
        </p:nvSpPr>
        <p:spPr>
          <a:xfrm>
            <a:off x="8352373" y="1314349"/>
            <a:ext cx="541867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7" name="object-064: CDC / FIFO">
            <a:extLst>
              <a:ext uri="{FF2B5EF4-FFF2-40B4-BE49-F238E27FC236}">
                <a16:creationId xmlns:a16="http://schemas.microsoft.com/office/drawing/2014/main" id="{0AD2F2A6-34C1-4782-8DDB-0966C51656F8}"/>
              </a:ext>
            </a:extLst>
          </p:cNvPr>
          <p:cNvSpPr txBox="1"/>
          <p:nvPr/>
        </p:nvSpPr>
        <p:spPr>
          <a:xfrm>
            <a:off x="8342781" y="1462046"/>
            <a:ext cx="56105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CDC / FIFO</a:t>
            </a:r>
          </a:p>
        </p:txBody>
      </p:sp>
      <p:sp>
        <p:nvSpPr>
          <p:cNvPr id="838" name="object-065: 像素流缓冲">
            <a:extLst>
              <a:ext uri="{FF2B5EF4-FFF2-40B4-BE49-F238E27FC236}">
                <a16:creationId xmlns:a16="http://schemas.microsoft.com/office/drawing/2014/main" id="{9EB67424-CB21-4439-890E-47387DE671C2}"/>
              </a:ext>
            </a:extLst>
          </p:cNvPr>
          <p:cNvSpPr txBox="1"/>
          <p:nvPr/>
        </p:nvSpPr>
        <p:spPr>
          <a:xfrm>
            <a:off x="8366826" y="1587624"/>
            <a:ext cx="51296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像素流缓冲</a:t>
            </a:r>
          </a:p>
        </p:txBody>
      </p:sp>
      <p:sp>
        <p:nvSpPr>
          <p:cNvPr id="839" name="isp">
            <a:extLst>
              <a:ext uri="{FF2B5EF4-FFF2-40B4-BE49-F238E27FC236}">
                <a16:creationId xmlns:a16="http://schemas.microsoft.com/office/drawing/2014/main" id="{D0A0421C-79B2-4D46-8E1F-76B68034EAB1}"/>
              </a:ext>
            </a:extLst>
          </p:cNvPr>
          <p:cNvSpPr/>
          <p:nvPr/>
        </p:nvSpPr>
        <p:spPr>
          <a:xfrm>
            <a:off x="8995840" y="1314349"/>
            <a:ext cx="558800" cy="626533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0" name="object-067: ISP">
            <a:extLst>
              <a:ext uri="{FF2B5EF4-FFF2-40B4-BE49-F238E27FC236}">
                <a16:creationId xmlns:a16="http://schemas.microsoft.com/office/drawing/2014/main" id="{D8417204-1D66-47F9-AAE6-B61AAFB8EE07}"/>
              </a:ext>
            </a:extLst>
          </p:cNvPr>
          <p:cNvSpPr txBox="1"/>
          <p:nvPr/>
        </p:nvSpPr>
        <p:spPr>
          <a:xfrm>
            <a:off x="9193486" y="1462046"/>
            <a:ext cx="16350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841" name="object-068: 行缓冲 / 处理">
            <a:extLst>
              <a:ext uri="{FF2B5EF4-FFF2-40B4-BE49-F238E27FC236}">
                <a16:creationId xmlns:a16="http://schemas.microsoft.com/office/drawing/2014/main" id="{634F747F-0ED0-4BF1-9BD9-5D880E3F48CA}"/>
              </a:ext>
            </a:extLst>
          </p:cNvPr>
          <p:cNvSpPr txBox="1"/>
          <p:nvPr/>
        </p:nvSpPr>
        <p:spPr>
          <a:xfrm>
            <a:off x="8995841" y="1587624"/>
            <a:ext cx="496098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行缓冲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处理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42" name="cfg-tag-C5-68">
            <a:extLst>
              <a:ext uri="{FF2B5EF4-FFF2-40B4-BE49-F238E27FC236}">
                <a16:creationId xmlns:a16="http://schemas.microsoft.com/office/drawing/2014/main" id="{5C076AFD-1FBD-4A5D-8C7D-74E0C3A80EAB}"/>
              </a:ext>
            </a:extLst>
          </p:cNvPr>
          <p:cNvSpPr/>
          <p:nvPr/>
        </p:nvSpPr>
        <p:spPr>
          <a:xfrm>
            <a:off x="9351440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3" name="object-070: C5">
            <a:extLst>
              <a:ext uri="{FF2B5EF4-FFF2-40B4-BE49-F238E27FC236}">
                <a16:creationId xmlns:a16="http://schemas.microsoft.com/office/drawing/2014/main" id="{F75900B3-9299-448E-A630-B81C3623B85A}"/>
              </a:ext>
            </a:extLst>
          </p:cNvPr>
          <p:cNvSpPr txBox="1"/>
          <p:nvPr/>
        </p:nvSpPr>
        <p:spPr>
          <a:xfrm>
            <a:off x="9381333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844" name="frame-select">
            <a:extLst>
              <a:ext uri="{FF2B5EF4-FFF2-40B4-BE49-F238E27FC236}">
                <a16:creationId xmlns:a16="http://schemas.microsoft.com/office/drawing/2014/main" id="{29358133-0E92-4973-90EB-96977D079B88}"/>
              </a:ext>
            </a:extLst>
          </p:cNvPr>
          <p:cNvSpPr/>
          <p:nvPr/>
        </p:nvSpPr>
        <p:spPr>
          <a:xfrm>
            <a:off x="9656240" y="1314349"/>
            <a:ext cx="609600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5" name="object-072: 帧边界选择">
            <a:extLst>
              <a:ext uri="{FF2B5EF4-FFF2-40B4-BE49-F238E27FC236}">
                <a16:creationId xmlns:a16="http://schemas.microsoft.com/office/drawing/2014/main" id="{D7CD0A41-01E5-4FE9-BA79-107B8A50C3DF}"/>
              </a:ext>
            </a:extLst>
          </p:cNvPr>
          <p:cNvSpPr txBox="1"/>
          <p:nvPr/>
        </p:nvSpPr>
        <p:spPr>
          <a:xfrm>
            <a:off x="9704559" y="1462046"/>
            <a:ext cx="5129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帧边界选择</a:t>
            </a:r>
          </a:p>
        </p:txBody>
      </p:sp>
      <p:sp>
        <p:nvSpPr>
          <p:cNvPr id="846" name="object-073: RAW / ISP">
            <a:extLst>
              <a:ext uri="{FF2B5EF4-FFF2-40B4-BE49-F238E27FC236}">
                <a16:creationId xmlns:a16="http://schemas.microsoft.com/office/drawing/2014/main" id="{6D9F2414-8C65-4383-AD03-DA29FA12D718}"/>
              </a:ext>
            </a:extLst>
          </p:cNvPr>
          <p:cNvSpPr txBox="1"/>
          <p:nvPr/>
        </p:nvSpPr>
        <p:spPr>
          <a:xfrm>
            <a:off x="9710971" y="1587624"/>
            <a:ext cx="50013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RAW / ISP</a:t>
            </a:r>
          </a:p>
        </p:txBody>
      </p:sp>
      <p:sp>
        <p:nvSpPr>
          <p:cNvPr id="847" name="frame-dma">
            <a:extLst>
              <a:ext uri="{FF2B5EF4-FFF2-40B4-BE49-F238E27FC236}">
                <a16:creationId xmlns:a16="http://schemas.microsoft.com/office/drawing/2014/main" id="{CC8C5712-E151-4303-93AC-64CB6E17095D}"/>
              </a:ext>
            </a:extLst>
          </p:cNvPr>
          <p:cNvSpPr/>
          <p:nvPr/>
        </p:nvSpPr>
        <p:spPr>
          <a:xfrm>
            <a:off x="10384373" y="1314349"/>
            <a:ext cx="728133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8" name="object-075: 帧写入 DMA">
            <a:extLst>
              <a:ext uri="{FF2B5EF4-FFF2-40B4-BE49-F238E27FC236}">
                <a16:creationId xmlns:a16="http://schemas.microsoft.com/office/drawing/2014/main" id="{24C26ABC-45E2-4E21-AB00-AF8C2335CE52}"/>
              </a:ext>
            </a:extLst>
          </p:cNvPr>
          <p:cNvSpPr txBox="1"/>
          <p:nvPr/>
        </p:nvSpPr>
        <p:spPr>
          <a:xfrm>
            <a:off x="10447076" y="1462046"/>
            <a:ext cx="60272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849" name="object-076: 地址 / stride">
            <a:extLst>
              <a:ext uri="{FF2B5EF4-FFF2-40B4-BE49-F238E27FC236}">
                <a16:creationId xmlns:a16="http://schemas.microsoft.com/office/drawing/2014/main" id="{0C54A5BA-9475-4ABD-B61F-EE92C0AB5523}"/>
              </a:ext>
            </a:extLst>
          </p:cNvPr>
          <p:cNvSpPr txBox="1"/>
          <p:nvPr/>
        </p:nvSpPr>
        <p:spPr>
          <a:xfrm>
            <a:off x="10455891" y="1587624"/>
            <a:ext cx="58509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stride</a:t>
            </a:r>
          </a:p>
        </p:txBody>
      </p:sp>
      <p:sp>
        <p:nvSpPr>
          <p:cNvPr id="850" name="cfg-tag-C8-76">
            <a:extLst>
              <a:ext uri="{FF2B5EF4-FFF2-40B4-BE49-F238E27FC236}">
                <a16:creationId xmlns:a16="http://schemas.microsoft.com/office/drawing/2014/main" id="{1BC77144-E2BE-46C1-BF82-522BD58EED78}"/>
              </a:ext>
            </a:extLst>
          </p:cNvPr>
          <p:cNvSpPr/>
          <p:nvPr/>
        </p:nvSpPr>
        <p:spPr>
          <a:xfrm>
            <a:off x="10909307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1" name="object-078: C8">
            <a:extLst>
              <a:ext uri="{FF2B5EF4-FFF2-40B4-BE49-F238E27FC236}">
                <a16:creationId xmlns:a16="http://schemas.microsoft.com/office/drawing/2014/main" id="{2697A429-7A0F-44DF-B369-4C3F2764AFA0}"/>
              </a:ext>
            </a:extLst>
          </p:cNvPr>
          <p:cNvSpPr txBox="1"/>
          <p:nvPr/>
        </p:nvSpPr>
        <p:spPr>
          <a:xfrm>
            <a:off x="10939200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cxnSp>
        <p:nvCxnSpPr>
          <p:cNvPr id="852" name="lvds-cdc">
            <a:extLst>
              <a:ext uri="{FF2B5EF4-FFF2-40B4-BE49-F238E27FC236}">
                <a16:creationId xmlns:a16="http://schemas.microsoft.com/office/drawing/2014/main" id="{FADC3912-8F6A-41A4-A1AC-0683D6FEF878}"/>
              </a:ext>
            </a:extLst>
          </p:cNvPr>
          <p:cNvCxnSpPr/>
          <p:nvPr/>
        </p:nvCxnSpPr>
        <p:spPr>
          <a:xfrm>
            <a:off x="8250773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3" name="cdc-isp">
            <a:extLst>
              <a:ext uri="{FF2B5EF4-FFF2-40B4-BE49-F238E27FC236}">
                <a16:creationId xmlns:a16="http://schemas.microsoft.com/office/drawing/2014/main" id="{C8D68A84-0EDF-4C1B-97C7-070523D68F58}"/>
              </a:ext>
            </a:extLst>
          </p:cNvPr>
          <p:cNvCxnSpPr/>
          <p:nvPr/>
        </p:nvCxnSpPr>
        <p:spPr>
          <a:xfrm>
            <a:off x="8894240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4" name="isp-select">
            <a:extLst>
              <a:ext uri="{FF2B5EF4-FFF2-40B4-BE49-F238E27FC236}">
                <a16:creationId xmlns:a16="http://schemas.microsoft.com/office/drawing/2014/main" id="{B9CB8D76-C114-4215-8002-C59B41C900E6}"/>
              </a:ext>
            </a:extLst>
          </p:cNvPr>
          <p:cNvCxnSpPr/>
          <p:nvPr/>
        </p:nvCxnSpPr>
        <p:spPr>
          <a:xfrm>
            <a:off x="9554640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5" name="select-dma">
            <a:extLst>
              <a:ext uri="{FF2B5EF4-FFF2-40B4-BE49-F238E27FC236}">
                <a16:creationId xmlns:a16="http://schemas.microsoft.com/office/drawing/2014/main" id="{A4DF7387-49AD-4C18-8C33-962709E305CB}"/>
              </a:ext>
            </a:extLst>
          </p:cNvPr>
          <p:cNvCxnSpPr/>
          <p:nvPr/>
        </p:nvCxnSpPr>
        <p:spPr>
          <a:xfrm>
            <a:off x="10265840" y="1619149"/>
            <a:ext cx="118533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sp>
        <p:nvSpPr>
          <p:cNvPr id="856" name="raw-bypass">
            <a:extLst>
              <a:ext uri="{FF2B5EF4-FFF2-40B4-BE49-F238E27FC236}">
                <a16:creationId xmlns:a16="http://schemas.microsoft.com/office/drawing/2014/main" id="{E31970F6-2698-453E-AFEC-330A77E21146}"/>
              </a:ext>
            </a:extLst>
          </p:cNvPr>
          <p:cNvSpPr/>
          <p:nvPr/>
        </p:nvSpPr>
        <p:spPr>
          <a:xfrm>
            <a:off x="8945040" y="1161949"/>
            <a:ext cx="1016000" cy="457200"/>
          </a:xfrm>
          <a:custGeom>
            <a:avLst/>
            <a:gdLst/>
            <a:ahLst/>
            <a:cxnLst/>
            <a:rect l="0" t="0" r="r" b="b"/>
            <a:pathLst>
              <a:path w="2438400" h="1097280" fill="none">
                <a:moveTo>
                  <a:pt x="0" y="1097280"/>
                </a:moveTo>
                <a:lnTo>
                  <a:pt x="0" y="0"/>
                </a:lnTo>
                <a:lnTo>
                  <a:pt x="2438400" y="0"/>
                </a:lnTo>
                <a:lnTo>
                  <a:pt x="2438400" y="365760"/>
                </a:lnTo>
              </a:path>
            </a:pathLst>
          </a:custGeom>
          <a:noFill/>
          <a:ln w="24384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7" name="raw-tap">
            <a:extLst>
              <a:ext uri="{FF2B5EF4-FFF2-40B4-BE49-F238E27FC236}">
                <a16:creationId xmlns:a16="http://schemas.microsoft.com/office/drawing/2014/main" id="{6B999DDA-62FA-4A7E-BBF9-40D1A20AF99E}"/>
              </a:ext>
            </a:extLst>
          </p:cNvPr>
          <p:cNvSpPr/>
          <p:nvPr/>
        </p:nvSpPr>
        <p:spPr>
          <a:xfrm>
            <a:off x="8929800" y="1603909"/>
            <a:ext cx="30480" cy="30480"/>
          </a:xfrm>
          <a:prstGeom prst="ellipse">
            <a:avLst/>
          </a:prstGeom>
          <a:solidFill>
            <a:srgbClr val="B9604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8" name="object-085: RAW 旁路">
            <a:extLst>
              <a:ext uri="{FF2B5EF4-FFF2-40B4-BE49-F238E27FC236}">
                <a16:creationId xmlns:a16="http://schemas.microsoft.com/office/drawing/2014/main" id="{72B9973C-FC5E-456A-8F68-248CF7856BB7}"/>
              </a:ext>
            </a:extLst>
          </p:cNvPr>
          <p:cNvSpPr txBox="1"/>
          <p:nvPr/>
        </p:nvSpPr>
        <p:spPr>
          <a:xfrm>
            <a:off x="9293846" y="1037184"/>
            <a:ext cx="41998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RAW 旁路</a:t>
            </a:r>
          </a:p>
        </p:txBody>
      </p:sp>
      <p:sp>
        <p:nvSpPr>
          <p:cNvPr id="859" name="object-086: RAW / ISP 二选一 · 帧打包">
            <a:extLst>
              <a:ext uri="{FF2B5EF4-FFF2-40B4-BE49-F238E27FC236}">
                <a16:creationId xmlns:a16="http://schemas.microsoft.com/office/drawing/2014/main" id="{33365FA1-2E05-4350-9729-DDEC1D772F4C}"/>
              </a:ext>
            </a:extLst>
          </p:cNvPr>
          <p:cNvSpPr txBox="1"/>
          <p:nvPr/>
        </p:nvSpPr>
        <p:spPr>
          <a:xfrm>
            <a:off x="9438563" y="2029207"/>
            <a:ext cx="107882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RAW / ISP </a:t>
            </a:r>
            <a:r>
              <a:rPr sz="7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二选一</a:t>
            </a:r>
            <a:r>
              <a:rPr sz="7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 · </a:t>
            </a:r>
            <a:r>
              <a:rPr sz="7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帧打包</a:t>
            </a:r>
            <a:endParaRPr sz="7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0" name="isp-gb">
            <a:extLst>
              <a:ext uri="{FF2B5EF4-FFF2-40B4-BE49-F238E27FC236}">
                <a16:creationId xmlns:a16="http://schemas.microsoft.com/office/drawing/2014/main" id="{3F1E7E01-A7B9-4139-9377-4BE9A2B8B519}"/>
              </a:ext>
            </a:extLst>
          </p:cNvPr>
          <p:cNvSpPr/>
          <p:nvPr/>
        </p:nvSpPr>
        <p:spPr>
          <a:xfrm>
            <a:off x="4789600" y="1839283"/>
            <a:ext cx="4206240" cy="585893"/>
          </a:xfrm>
          <a:custGeom>
            <a:avLst/>
            <a:gdLst/>
            <a:ahLst/>
            <a:cxnLst/>
            <a:rect l="0" t="0" r="r" b="b"/>
            <a:pathLst>
              <a:path w="10094976" h="1406144" fill="none">
                <a:moveTo>
                  <a:pt x="10094976" y="0"/>
                </a:moveTo>
                <a:lnTo>
                  <a:pt x="9973056" y="0"/>
                </a:lnTo>
                <a:lnTo>
                  <a:pt x="9973056" y="1113536"/>
                </a:lnTo>
                <a:cubicBezTo>
                  <a:pt x="9777984" y="1113536"/>
                  <a:pt x="9777984" y="1324864"/>
                  <a:pt x="9973056" y="1324864"/>
                </a:cubicBezTo>
                <a:lnTo>
                  <a:pt x="9973056" y="1406144"/>
                </a:lnTo>
                <a:lnTo>
                  <a:pt x="178816" y="1406144"/>
                </a:lnTo>
                <a:lnTo>
                  <a:pt x="178816" y="1048512"/>
                </a:lnTo>
                <a:lnTo>
                  <a:pt x="178816" y="837184"/>
                </a:lnTo>
                <a:lnTo>
                  <a:pt x="178816" y="772160"/>
                </a:lnTo>
              </a:path>
            </a:pathLst>
          </a:custGeom>
          <a:noFill/>
          <a:ln w="25197" cap="flat">
            <a:solidFill>
              <a:srgbClr val="187C78"/>
            </a:solidFill>
            <a:custDash>
              <a:ds d="322581" sp="193548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1" name="object-088: ISP 中间数据 ↔ GB">
            <a:extLst>
              <a:ext uri="{FF2B5EF4-FFF2-40B4-BE49-F238E27FC236}">
                <a16:creationId xmlns:a16="http://schemas.microsoft.com/office/drawing/2014/main" id="{C863B04F-CF8F-4E7E-B05F-17A7C6830FA7}"/>
              </a:ext>
            </a:extLst>
          </p:cNvPr>
          <p:cNvSpPr txBox="1"/>
          <p:nvPr/>
        </p:nvSpPr>
        <p:spPr>
          <a:xfrm>
            <a:off x="8092263" y="2152994"/>
            <a:ext cx="81913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ISP </a:t>
            </a:r>
            <a:r>
              <a:rPr sz="7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中间数据</a:t>
            </a:r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 ↔ GB</a:t>
            </a:r>
          </a:p>
        </p:txBody>
      </p:sp>
      <p:sp>
        <p:nvSpPr>
          <p:cNvPr id="862" name="debug-sba">
            <a:extLst>
              <a:ext uri="{FF2B5EF4-FFF2-40B4-BE49-F238E27FC236}">
                <a16:creationId xmlns:a16="http://schemas.microsoft.com/office/drawing/2014/main" id="{1596E9AB-5246-4524-A9F6-2A23D87B0F25}"/>
              </a:ext>
            </a:extLst>
          </p:cNvPr>
          <p:cNvSpPr/>
          <p:nvPr/>
        </p:nvSpPr>
        <p:spPr>
          <a:xfrm>
            <a:off x="1341973" y="2508922"/>
            <a:ext cx="8636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3" name="object-090: Debug / SBA">
            <a:extLst>
              <a:ext uri="{FF2B5EF4-FFF2-40B4-BE49-F238E27FC236}">
                <a16:creationId xmlns:a16="http://schemas.microsoft.com/office/drawing/2014/main" id="{76CF0374-0CD8-4165-8BEC-7B69F47D7596}"/>
              </a:ext>
            </a:extLst>
          </p:cNvPr>
          <p:cNvSpPr txBox="1"/>
          <p:nvPr/>
        </p:nvSpPr>
        <p:spPr>
          <a:xfrm>
            <a:off x="1441952" y="2535474"/>
            <a:ext cx="66364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/ SBA</a:t>
            </a:r>
          </a:p>
        </p:txBody>
      </p:sp>
      <p:sp>
        <p:nvSpPr>
          <p:cNvPr id="864" name="object-091: JTAG 总线访问">
            <a:extLst>
              <a:ext uri="{FF2B5EF4-FFF2-40B4-BE49-F238E27FC236}">
                <a16:creationId xmlns:a16="http://schemas.microsoft.com/office/drawing/2014/main" id="{71B37969-8767-42AE-B670-5DBB47120046}"/>
              </a:ext>
            </a:extLst>
          </p:cNvPr>
          <p:cNvSpPr txBox="1"/>
          <p:nvPr/>
        </p:nvSpPr>
        <p:spPr>
          <a:xfrm>
            <a:off x="1429128" y="2664709"/>
            <a:ext cx="68929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JTAG 总线访问</a:t>
            </a:r>
          </a:p>
        </p:txBody>
      </p:sp>
      <p:sp>
        <p:nvSpPr>
          <p:cNvPr id="865" name="idma-master">
            <a:extLst>
              <a:ext uri="{FF2B5EF4-FFF2-40B4-BE49-F238E27FC236}">
                <a16:creationId xmlns:a16="http://schemas.microsoft.com/office/drawing/2014/main" id="{D060EB5F-64EB-4075-A7B4-E3F6B610531A}"/>
              </a:ext>
            </a:extLst>
          </p:cNvPr>
          <p:cNvSpPr/>
          <p:nvPr/>
        </p:nvSpPr>
        <p:spPr>
          <a:xfrm>
            <a:off x="3814240" y="2508922"/>
            <a:ext cx="931333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6" name="object-093: iDMA 数据主口">
            <a:extLst>
              <a:ext uri="{FF2B5EF4-FFF2-40B4-BE49-F238E27FC236}">
                <a16:creationId xmlns:a16="http://schemas.microsoft.com/office/drawing/2014/main" id="{E6FB1EA0-D2F4-4D31-BB6F-D110A206E95D}"/>
              </a:ext>
            </a:extLst>
          </p:cNvPr>
          <p:cNvSpPr txBox="1"/>
          <p:nvPr/>
        </p:nvSpPr>
        <p:spPr>
          <a:xfrm>
            <a:off x="3912017" y="2535474"/>
            <a:ext cx="73577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</a:t>
            </a:r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数据主口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7" name="object-094: 内存 ↔ 内存">
            <a:extLst>
              <a:ext uri="{FF2B5EF4-FFF2-40B4-BE49-F238E27FC236}">
                <a16:creationId xmlns:a16="http://schemas.microsoft.com/office/drawing/2014/main" id="{C5EAB3A8-AD19-41BD-AC1F-1AE648CAF936}"/>
              </a:ext>
            </a:extLst>
          </p:cNvPr>
          <p:cNvSpPr txBox="1"/>
          <p:nvPr/>
        </p:nvSpPr>
        <p:spPr>
          <a:xfrm>
            <a:off x="3973732" y="2664709"/>
            <a:ext cx="61234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↔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8" name="slink-rx">
            <a:extLst>
              <a:ext uri="{FF2B5EF4-FFF2-40B4-BE49-F238E27FC236}">
                <a16:creationId xmlns:a16="http://schemas.microsoft.com/office/drawing/2014/main" id="{A4231CCA-B895-4849-AB55-04416D5EBB9F}"/>
              </a:ext>
            </a:extLst>
          </p:cNvPr>
          <p:cNvSpPr/>
          <p:nvPr/>
        </p:nvSpPr>
        <p:spPr>
          <a:xfrm>
            <a:off x="4965706" y="2508922"/>
            <a:ext cx="9652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9" name="object-096: Serial Link RX">
            <a:extLst>
              <a:ext uri="{FF2B5EF4-FFF2-40B4-BE49-F238E27FC236}">
                <a16:creationId xmlns:a16="http://schemas.microsoft.com/office/drawing/2014/main" id="{365954D2-D846-4F1C-BDFB-76D16D4FFB61}"/>
              </a:ext>
            </a:extLst>
          </p:cNvPr>
          <p:cNvSpPr txBox="1"/>
          <p:nvPr/>
        </p:nvSpPr>
        <p:spPr>
          <a:xfrm>
            <a:off x="5096447" y="2535474"/>
            <a:ext cx="70371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RX</a:t>
            </a:r>
          </a:p>
        </p:txBody>
      </p:sp>
      <p:sp>
        <p:nvSpPr>
          <p:cNvPr id="870" name="object-097: 远端请求入口">
            <a:extLst>
              <a:ext uri="{FF2B5EF4-FFF2-40B4-BE49-F238E27FC236}">
                <a16:creationId xmlns:a16="http://schemas.microsoft.com/office/drawing/2014/main" id="{217A0520-5917-422D-9C30-2EB747C9B74F}"/>
              </a:ext>
            </a:extLst>
          </p:cNvPr>
          <p:cNvSpPr txBox="1"/>
          <p:nvPr/>
        </p:nvSpPr>
        <p:spPr>
          <a:xfrm>
            <a:off x="5140530" y="2664709"/>
            <a:ext cx="61555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远端请求入口</a:t>
            </a:r>
          </a:p>
        </p:txBody>
      </p:sp>
      <p:sp>
        <p:nvSpPr>
          <p:cNvPr id="871" name="vga-master">
            <a:extLst>
              <a:ext uri="{FF2B5EF4-FFF2-40B4-BE49-F238E27FC236}">
                <a16:creationId xmlns:a16="http://schemas.microsoft.com/office/drawing/2014/main" id="{B2224093-8A15-455D-B781-59CA21A6C635}"/>
              </a:ext>
            </a:extLst>
          </p:cNvPr>
          <p:cNvSpPr/>
          <p:nvPr/>
        </p:nvSpPr>
        <p:spPr>
          <a:xfrm>
            <a:off x="6151040" y="2508922"/>
            <a:ext cx="8636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2" name="object-099: VGA">
            <a:extLst>
              <a:ext uri="{FF2B5EF4-FFF2-40B4-BE49-F238E27FC236}">
                <a16:creationId xmlns:a16="http://schemas.microsoft.com/office/drawing/2014/main" id="{25BE3015-0005-4226-9C84-4545B442FD9B}"/>
              </a:ext>
            </a:extLst>
          </p:cNvPr>
          <p:cNvSpPr txBox="1"/>
          <p:nvPr/>
        </p:nvSpPr>
        <p:spPr>
          <a:xfrm>
            <a:off x="6468225" y="2535474"/>
            <a:ext cx="22923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</a:t>
            </a:r>
          </a:p>
        </p:txBody>
      </p:sp>
      <p:sp>
        <p:nvSpPr>
          <p:cNvPr id="873" name="object-100: 帧缓冲读取">
            <a:extLst>
              <a:ext uri="{FF2B5EF4-FFF2-40B4-BE49-F238E27FC236}">
                <a16:creationId xmlns:a16="http://schemas.microsoft.com/office/drawing/2014/main" id="{FD70D967-D2C8-496B-BE8F-B24F3DD6FBA0}"/>
              </a:ext>
            </a:extLst>
          </p:cNvPr>
          <p:cNvSpPr txBox="1"/>
          <p:nvPr/>
        </p:nvSpPr>
        <p:spPr>
          <a:xfrm>
            <a:off x="6326360" y="2664709"/>
            <a:ext cx="51296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帧缓冲读取</a:t>
            </a:r>
          </a:p>
        </p:txBody>
      </p:sp>
      <p:sp>
        <p:nvSpPr>
          <p:cNvPr id="874" name="usb-master">
            <a:extLst>
              <a:ext uri="{FF2B5EF4-FFF2-40B4-BE49-F238E27FC236}">
                <a16:creationId xmlns:a16="http://schemas.microsoft.com/office/drawing/2014/main" id="{31F02D86-354D-48BC-8FB3-AC8A1F1E3AF0}"/>
              </a:ext>
            </a:extLst>
          </p:cNvPr>
          <p:cNvSpPr/>
          <p:nvPr/>
        </p:nvSpPr>
        <p:spPr>
          <a:xfrm>
            <a:off x="7234773" y="2508922"/>
            <a:ext cx="846667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5" name="object-102: USB DMA">
            <a:extLst>
              <a:ext uri="{FF2B5EF4-FFF2-40B4-BE49-F238E27FC236}">
                <a16:creationId xmlns:a16="http://schemas.microsoft.com/office/drawing/2014/main" id="{1870D71B-ADC3-4D4F-BC58-D7D3E47D4E76}"/>
              </a:ext>
            </a:extLst>
          </p:cNvPr>
          <p:cNvSpPr txBox="1"/>
          <p:nvPr/>
        </p:nvSpPr>
        <p:spPr>
          <a:xfrm>
            <a:off x="7404031" y="2535474"/>
            <a:ext cx="50815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DMA</a:t>
            </a:r>
          </a:p>
        </p:txBody>
      </p:sp>
      <p:sp>
        <p:nvSpPr>
          <p:cNvPr id="876" name="object-103: OHCI 主口">
            <a:extLst>
              <a:ext uri="{FF2B5EF4-FFF2-40B4-BE49-F238E27FC236}">
                <a16:creationId xmlns:a16="http://schemas.microsoft.com/office/drawing/2014/main" id="{191E51EC-6998-4A14-9357-54E80C396DC6}"/>
              </a:ext>
            </a:extLst>
          </p:cNvPr>
          <p:cNvSpPr txBox="1"/>
          <p:nvPr/>
        </p:nvSpPr>
        <p:spPr>
          <a:xfrm>
            <a:off x="7408840" y="2664709"/>
            <a:ext cx="4985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OHCI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主口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77" name="ext-master">
            <a:extLst>
              <a:ext uri="{FF2B5EF4-FFF2-40B4-BE49-F238E27FC236}">
                <a16:creationId xmlns:a16="http://schemas.microsoft.com/office/drawing/2014/main" id="{D41F2F3F-DB15-4EE3-B2D0-6286EE3AE509}"/>
              </a:ext>
            </a:extLst>
          </p:cNvPr>
          <p:cNvSpPr/>
          <p:nvPr/>
        </p:nvSpPr>
        <p:spPr>
          <a:xfrm>
            <a:off x="8318506" y="2508922"/>
            <a:ext cx="1253067" cy="338667"/>
          </a:xfrm>
          <a:prstGeom prst="rect">
            <a:avLst/>
          </a:prstGeom>
          <a:solidFill>
            <a:srgbClr val="F5F5F7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8" name="object-105: AXI 外部 master">
            <a:extLst>
              <a:ext uri="{FF2B5EF4-FFF2-40B4-BE49-F238E27FC236}">
                <a16:creationId xmlns:a16="http://schemas.microsoft.com/office/drawing/2014/main" id="{A36E69F6-7BBB-41B0-9F39-C22405688F34}"/>
              </a:ext>
            </a:extLst>
          </p:cNvPr>
          <p:cNvSpPr txBox="1"/>
          <p:nvPr/>
        </p:nvSpPr>
        <p:spPr>
          <a:xfrm>
            <a:off x="8541885" y="2535474"/>
            <a:ext cx="80631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master</a:t>
            </a:r>
          </a:p>
        </p:txBody>
      </p:sp>
      <p:sp>
        <p:nvSpPr>
          <p:cNvPr id="879" name="object-106: 可选扩展入口">
            <a:extLst>
              <a:ext uri="{FF2B5EF4-FFF2-40B4-BE49-F238E27FC236}">
                <a16:creationId xmlns:a16="http://schemas.microsoft.com/office/drawing/2014/main" id="{F71D184D-3485-4A10-B629-6B91027A5CF1}"/>
              </a:ext>
            </a:extLst>
          </p:cNvPr>
          <p:cNvSpPr txBox="1"/>
          <p:nvPr/>
        </p:nvSpPr>
        <p:spPr>
          <a:xfrm>
            <a:off x="8637264" y="2664709"/>
            <a:ext cx="61555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可选扩展入口</a:t>
            </a:r>
          </a:p>
        </p:txBody>
      </p:sp>
      <p:cxnSp>
        <p:nvCxnSpPr>
          <p:cNvPr id="880" name="cpu-master">
            <a:extLst>
              <a:ext uri="{FF2B5EF4-FFF2-40B4-BE49-F238E27FC236}">
                <a16:creationId xmlns:a16="http://schemas.microsoft.com/office/drawing/2014/main" id="{FF4EEB96-E348-415C-B377-A5ADD617D4D2}"/>
              </a:ext>
            </a:extLst>
          </p:cNvPr>
          <p:cNvCxnSpPr>
            <a:cxnSpLocks/>
            <a:endCxn id="889" idx="0"/>
          </p:cNvCxnSpPr>
          <p:nvPr/>
        </p:nvCxnSpPr>
        <p:spPr>
          <a:xfrm>
            <a:off x="749306" y="1839283"/>
            <a:ext cx="0" cy="1134533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881" name="ara-master">
            <a:extLst>
              <a:ext uri="{FF2B5EF4-FFF2-40B4-BE49-F238E27FC236}">
                <a16:creationId xmlns:a16="http://schemas.microsoft.com/office/drawing/2014/main" id="{DB1A5D2C-422A-4770-9E00-CD067600FA1E}"/>
              </a:ext>
            </a:extLst>
          </p:cNvPr>
          <p:cNvCxnSpPr>
            <a:cxnSpLocks/>
          </p:cNvCxnSpPr>
          <p:nvPr/>
        </p:nvCxnSpPr>
        <p:spPr>
          <a:xfrm>
            <a:off x="3052240" y="1978136"/>
            <a:ext cx="0" cy="995680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82" name="object-109: CPU AXI">
            <a:extLst>
              <a:ext uri="{FF2B5EF4-FFF2-40B4-BE49-F238E27FC236}">
                <a16:creationId xmlns:a16="http://schemas.microsoft.com/office/drawing/2014/main" id="{2EE32942-FF5A-4F6E-886B-B3990919F08A}"/>
              </a:ext>
            </a:extLst>
          </p:cNvPr>
          <p:cNvSpPr txBox="1"/>
          <p:nvPr/>
        </p:nvSpPr>
        <p:spPr>
          <a:xfrm>
            <a:off x="267636" y="2713042"/>
            <a:ext cx="4071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CPU AXI</a:t>
            </a:r>
          </a:p>
        </p:txBody>
      </p:sp>
      <p:sp>
        <p:nvSpPr>
          <p:cNvPr id="883" name="object-110: Ara 普通地址">
            <a:extLst>
              <a:ext uri="{FF2B5EF4-FFF2-40B4-BE49-F238E27FC236}">
                <a16:creationId xmlns:a16="http://schemas.microsoft.com/office/drawing/2014/main" id="{245061BD-FC91-47D9-88A0-2FD1347A1C20}"/>
              </a:ext>
            </a:extLst>
          </p:cNvPr>
          <p:cNvSpPr txBox="1"/>
          <p:nvPr/>
        </p:nvSpPr>
        <p:spPr>
          <a:xfrm>
            <a:off x="2376967" y="2671482"/>
            <a:ext cx="6075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Ara AXI64</a:t>
            </a:r>
          </a:p>
        </p:txBody>
      </p:sp>
      <p:sp>
        <p:nvSpPr>
          <p:cNvPr id="884" name="axi-crossbar">
            <a:extLst>
              <a:ext uri="{FF2B5EF4-FFF2-40B4-BE49-F238E27FC236}">
                <a16:creationId xmlns:a16="http://schemas.microsoft.com/office/drawing/2014/main" id="{30D056BC-A9A4-4B51-9CC0-7274C949CB73}"/>
              </a:ext>
            </a:extLst>
          </p:cNvPr>
          <p:cNvSpPr/>
          <p:nvPr/>
        </p:nvSpPr>
        <p:spPr>
          <a:xfrm>
            <a:off x="241306" y="3024616"/>
            <a:ext cx="9584267" cy="457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85" name="object-112: AXI Crossbar">
            <a:extLst>
              <a:ext uri="{FF2B5EF4-FFF2-40B4-BE49-F238E27FC236}">
                <a16:creationId xmlns:a16="http://schemas.microsoft.com/office/drawing/2014/main" id="{AB49511B-F383-45E4-AB81-15319A3F9D0A}"/>
              </a:ext>
            </a:extLst>
          </p:cNvPr>
          <p:cNvSpPr txBox="1"/>
          <p:nvPr/>
        </p:nvSpPr>
        <p:spPr>
          <a:xfrm>
            <a:off x="4575782" y="3089976"/>
            <a:ext cx="915315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Crossbar</a:t>
            </a:r>
          </a:p>
        </p:txBody>
      </p:sp>
      <p:sp>
        <p:nvSpPr>
          <p:cNvPr id="886" name="object-113: 7 × 6 基础端口 + 扩展 | 64 bit 数据 / 48 bit 地址 | 地址译码 / 各目标仲裁">
            <a:extLst>
              <a:ext uri="{FF2B5EF4-FFF2-40B4-BE49-F238E27FC236}">
                <a16:creationId xmlns:a16="http://schemas.microsoft.com/office/drawing/2014/main" id="{FBE91108-953C-4CEE-B85B-DAEFE394EDAF}"/>
              </a:ext>
            </a:extLst>
          </p:cNvPr>
          <p:cNvSpPr txBox="1"/>
          <p:nvPr/>
        </p:nvSpPr>
        <p:spPr>
          <a:xfrm>
            <a:off x="2815167" y="3272993"/>
            <a:ext cx="443653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47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7 × 6 基础端口 + 扩展 | 64 bit 数据 / 48 bit 地址 | 地址译码 / 各目标仲裁</a:t>
            </a:r>
          </a:p>
        </p:txBody>
      </p:sp>
      <p:sp>
        <p:nvSpPr>
          <p:cNvPr id="887" name="object-114: 输入侧 AXI RT：按配置可选">
            <a:extLst>
              <a:ext uri="{FF2B5EF4-FFF2-40B4-BE49-F238E27FC236}">
                <a16:creationId xmlns:a16="http://schemas.microsoft.com/office/drawing/2014/main" id="{65CC9354-9373-44A2-AA26-F79E5709F129}"/>
              </a:ext>
            </a:extLst>
          </p:cNvPr>
          <p:cNvSpPr txBox="1"/>
          <p:nvPr/>
        </p:nvSpPr>
        <p:spPr>
          <a:xfrm>
            <a:off x="317441" y="3328279"/>
            <a:ext cx="958596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输入侧</a:t>
            </a:r>
            <a:r>
              <a:rPr sz="6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 AXI </a:t>
            </a:r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RT：按配置可选</a:t>
            </a:r>
            <a:endParaRPr sz="6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8" name="object-115: 未映射请求：DECERR">
            <a:extLst>
              <a:ext uri="{FF2B5EF4-FFF2-40B4-BE49-F238E27FC236}">
                <a16:creationId xmlns:a16="http://schemas.microsoft.com/office/drawing/2014/main" id="{439D34EE-5A46-40DF-B869-C096662E2F18}"/>
              </a:ext>
            </a:extLst>
          </p:cNvPr>
          <p:cNvSpPr txBox="1"/>
          <p:nvPr/>
        </p:nvSpPr>
        <p:spPr>
          <a:xfrm>
            <a:off x="8896251" y="3314636"/>
            <a:ext cx="755015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未映射请求：DECERR</a:t>
            </a:r>
            <a:endParaRPr sz="6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9" name="master-port-0">
            <a:extLst>
              <a:ext uri="{FF2B5EF4-FFF2-40B4-BE49-F238E27FC236}">
                <a16:creationId xmlns:a16="http://schemas.microsoft.com/office/drawing/2014/main" id="{0F326333-1538-41CD-932C-C2F8487F53DD}"/>
              </a:ext>
            </a:extLst>
          </p:cNvPr>
          <p:cNvSpPr/>
          <p:nvPr/>
        </p:nvSpPr>
        <p:spPr>
          <a:xfrm>
            <a:off x="58674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0" name="object-117: S0">
            <a:extLst>
              <a:ext uri="{FF2B5EF4-FFF2-40B4-BE49-F238E27FC236}">
                <a16:creationId xmlns:a16="http://schemas.microsoft.com/office/drawing/2014/main" id="{78E2AFC9-AAF7-46E1-9DFE-58FE70D5E1E2}"/>
              </a:ext>
            </a:extLst>
          </p:cNvPr>
          <p:cNvSpPr txBox="1"/>
          <p:nvPr/>
        </p:nvSpPr>
        <p:spPr>
          <a:xfrm>
            <a:off x="70201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cxnSp>
        <p:nvCxnSpPr>
          <p:cNvPr id="891" name="master-input-1">
            <a:extLst>
              <a:ext uri="{FF2B5EF4-FFF2-40B4-BE49-F238E27FC236}">
                <a16:creationId xmlns:a16="http://schemas.microsoft.com/office/drawing/2014/main" id="{ECA3108C-246D-415A-B588-68B49F8AC203}"/>
              </a:ext>
            </a:extLst>
          </p:cNvPr>
          <p:cNvCxnSpPr>
            <a:cxnSpLocks/>
            <a:stCxn id="862" idx="2"/>
            <a:endCxn id="892" idx="0"/>
          </p:cNvCxnSpPr>
          <p:nvPr/>
        </p:nvCxnSpPr>
        <p:spPr>
          <a:xfrm flipH="1">
            <a:off x="1772080" y="2847589"/>
            <a:ext cx="1693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92" name="master-port-1">
            <a:extLst>
              <a:ext uri="{FF2B5EF4-FFF2-40B4-BE49-F238E27FC236}">
                <a16:creationId xmlns:a16="http://schemas.microsoft.com/office/drawing/2014/main" id="{4553B0C7-9421-4373-B12A-C9174C677111}"/>
              </a:ext>
            </a:extLst>
          </p:cNvPr>
          <p:cNvSpPr/>
          <p:nvPr/>
        </p:nvSpPr>
        <p:spPr>
          <a:xfrm>
            <a:off x="160952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3" name="object-120: S1">
            <a:extLst>
              <a:ext uri="{FF2B5EF4-FFF2-40B4-BE49-F238E27FC236}">
                <a16:creationId xmlns:a16="http://schemas.microsoft.com/office/drawing/2014/main" id="{3F43181B-DE1D-484D-B55A-742D23FD99AE}"/>
              </a:ext>
            </a:extLst>
          </p:cNvPr>
          <p:cNvSpPr txBox="1"/>
          <p:nvPr/>
        </p:nvSpPr>
        <p:spPr>
          <a:xfrm>
            <a:off x="1724792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894" name="master-port-2">
            <a:extLst>
              <a:ext uri="{FF2B5EF4-FFF2-40B4-BE49-F238E27FC236}">
                <a16:creationId xmlns:a16="http://schemas.microsoft.com/office/drawing/2014/main" id="{602474F8-334C-4058-878B-BB667B6B2687}"/>
              </a:ext>
            </a:extLst>
          </p:cNvPr>
          <p:cNvSpPr/>
          <p:nvPr/>
        </p:nvSpPr>
        <p:spPr>
          <a:xfrm>
            <a:off x="288968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5" name="object-122: S2">
            <a:extLst>
              <a:ext uri="{FF2B5EF4-FFF2-40B4-BE49-F238E27FC236}">
                <a16:creationId xmlns:a16="http://schemas.microsoft.com/office/drawing/2014/main" id="{6EABCA1F-85F6-4ABE-BF62-5018DF89476E}"/>
              </a:ext>
            </a:extLst>
          </p:cNvPr>
          <p:cNvSpPr txBox="1"/>
          <p:nvPr/>
        </p:nvSpPr>
        <p:spPr>
          <a:xfrm>
            <a:off x="3004952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cxnSp>
        <p:nvCxnSpPr>
          <p:cNvPr id="896" name="master-input-3">
            <a:extLst>
              <a:ext uri="{FF2B5EF4-FFF2-40B4-BE49-F238E27FC236}">
                <a16:creationId xmlns:a16="http://schemas.microsoft.com/office/drawing/2014/main" id="{41BDE088-AF36-4BF2-8B7A-C3BCBB0DD0E1}"/>
              </a:ext>
            </a:extLst>
          </p:cNvPr>
          <p:cNvCxnSpPr>
            <a:cxnSpLocks/>
            <a:stCxn id="865" idx="2"/>
            <a:endCxn id="898" idx="0"/>
          </p:cNvCxnSpPr>
          <p:nvPr/>
        </p:nvCxnSpPr>
        <p:spPr>
          <a:xfrm flipH="1">
            <a:off x="4278214" y="2847589"/>
            <a:ext cx="1693" cy="127581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97" name="master-port-3">
            <a:extLst>
              <a:ext uri="{FF2B5EF4-FFF2-40B4-BE49-F238E27FC236}">
                <a16:creationId xmlns:a16="http://schemas.microsoft.com/office/drawing/2014/main" id="{C18A6326-AF43-41B2-B23E-331005ADBDC7}"/>
              </a:ext>
            </a:extLst>
          </p:cNvPr>
          <p:cNvSpPr/>
          <p:nvPr/>
        </p:nvSpPr>
        <p:spPr>
          <a:xfrm>
            <a:off x="4115653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8" name="object-125: S3">
            <a:extLst>
              <a:ext uri="{FF2B5EF4-FFF2-40B4-BE49-F238E27FC236}">
                <a16:creationId xmlns:a16="http://schemas.microsoft.com/office/drawing/2014/main" id="{6FAAD788-A730-403A-9234-9AEE68214ED7}"/>
              </a:ext>
            </a:extLst>
          </p:cNvPr>
          <p:cNvSpPr txBox="1"/>
          <p:nvPr/>
        </p:nvSpPr>
        <p:spPr>
          <a:xfrm>
            <a:off x="4230925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S3</a:t>
            </a:r>
          </a:p>
        </p:txBody>
      </p:sp>
      <p:cxnSp>
        <p:nvCxnSpPr>
          <p:cNvPr id="899" name="master-input-4">
            <a:extLst>
              <a:ext uri="{FF2B5EF4-FFF2-40B4-BE49-F238E27FC236}">
                <a16:creationId xmlns:a16="http://schemas.microsoft.com/office/drawing/2014/main" id="{63194A64-7997-47D4-9B67-6A3B8A83FBA5}"/>
              </a:ext>
            </a:extLst>
          </p:cNvPr>
          <p:cNvCxnSpPr>
            <a:cxnSpLocks/>
            <a:stCxn id="868" idx="2"/>
            <a:endCxn id="900" idx="0"/>
          </p:cNvCxnSpPr>
          <p:nvPr/>
        </p:nvCxnSpPr>
        <p:spPr>
          <a:xfrm flipH="1">
            <a:off x="5446613" y="2847589"/>
            <a:ext cx="1693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0" name="master-port-4">
            <a:extLst>
              <a:ext uri="{FF2B5EF4-FFF2-40B4-BE49-F238E27FC236}">
                <a16:creationId xmlns:a16="http://schemas.microsoft.com/office/drawing/2014/main" id="{DB92E762-D25D-4D20-BAFE-7089E116CA62}"/>
              </a:ext>
            </a:extLst>
          </p:cNvPr>
          <p:cNvSpPr/>
          <p:nvPr/>
        </p:nvSpPr>
        <p:spPr>
          <a:xfrm>
            <a:off x="5284053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1" name="object-128: S4">
            <a:extLst>
              <a:ext uri="{FF2B5EF4-FFF2-40B4-BE49-F238E27FC236}">
                <a16:creationId xmlns:a16="http://schemas.microsoft.com/office/drawing/2014/main" id="{DF1FF693-6631-4141-920A-04372833575E}"/>
              </a:ext>
            </a:extLst>
          </p:cNvPr>
          <p:cNvSpPr txBox="1"/>
          <p:nvPr/>
        </p:nvSpPr>
        <p:spPr>
          <a:xfrm>
            <a:off x="5399325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S4</a:t>
            </a:r>
          </a:p>
        </p:txBody>
      </p:sp>
      <p:cxnSp>
        <p:nvCxnSpPr>
          <p:cNvPr id="902" name="master-input-5">
            <a:extLst>
              <a:ext uri="{FF2B5EF4-FFF2-40B4-BE49-F238E27FC236}">
                <a16:creationId xmlns:a16="http://schemas.microsoft.com/office/drawing/2014/main" id="{8ADECD2D-C41B-4634-88FE-5A08E996B139}"/>
              </a:ext>
            </a:extLst>
          </p:cNvPr>
          <p:cNvCxnSpPr>
            <a:cxnSpLocks/>
            <a:stCxn id="871" idx="2"/>
            <a:endCxn id="904" idx="0"/>
          </p:cNvCxnSpPr>
          <p:nvPr/>
        </p:nvCxnSpPr>
        <p:spPr>
          <a:xfrm flipH="1">
            <a:off x="6581147" y="2847589"/>
            <a:ext cx="1693" cy="127581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3" name="master-port-5">
            <a:extLst>
              <a:ext uri="{FF2B5EF4-FFF2-40B4-BE49-F238E27FC236}">
                <a16:creationId xmlns:a16="http://schemas.microsoft.com/office/drawing/2014/main" id="{FE570239-49B0-4DE8-9C5D-20F4362D2680}"/>
              </a:ext>
            </a:extLst>
          </p:cNvPr>
          <p:cNvSpPr/>
          <p:nvPr/>
        </p:nvSpPr>
        <p:spPr>
          <a:xfrm>
            <a:off x="641858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4" name="object-131: S5">
            <a:extLst>
              <a:ext uri="{FF2B5EF4-FFF2-40B4-BE49-F238E27FC236}">
                <a16:creationId xmlns:a16="http://schemas.microsoft.com/office/drawing/2014/main" id="{C2B9F0FF-B46A-4399-9351-9076AE74ECA0}"/>
              </a:ext>
            </a:extLst>
          </p:cNvPr>
          <p:cNvSpPr txBox="1"/>
          <p:nvPr/>
        </p:nvSpPr>
        <p:spPr>
          <a:xfrm>
            <a:off x="653385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S5</a:t>
            </a:r>
          </a:p>
        </p:txBody>
      </p:sp>
      <p:cxnSp>
        <p:nvCxnSpPr>
          <p:cNvPr id="905" name="master-input-6">
            <a:extLst>
              <a:ext uri="{FF2B5EF4-FFF2-40B4-BE49-F238E27FC236}">
                <a16:creationId xmlns:a16="http://schemas.microsoft.com/office/drawing/2014/main" id="{4D4E99B8-184F-42BF-848F-3380EE686863}"/>
              </a:ext>
            </a:extLst>
          </p:cNvPr>
          <p:cNvCxnSpPr>
            <a:cxnSpLocks/>
            <a:stCxn id="874" idx="2"/>
            <a:endCxn id="906" idx="0"/>
          </p:cNvCxnSpPr>
          <p:nvPr/>
        </p:nvCxnSpPr>
        <p:spPr>
          <a:xfrm flipH="1">
            <a:off x="7658106" y="2847589"/>
            <a:ext cx="1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6" name="master-port-6">
            <a:extLst>
              <a:ext uri="{FF2B5EF4-FFF2-40B4-BE49-F238E27FC236}">
                <a16:creationId xmlns:a16="http://schemas.microsoft.com/office/drawing/2014/main" id="{03A533EB-AB9B-4BC9-9006-ACC3DD5559C6}"/>
              </a:ext>
            </a:extLst>
          </p:cNvPr>
          <p:cNvSpPr/>
          <p:nvPr/>
        </p:nvSpPr>
        <p:spPr>
          <a:xfrm>
            <a:off x="749554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7" name="object-134: S6">
            <a:extLst>
              <a:ext uri="{FF2B5EF4-FFF2-40B4-BE49-F238E27FC236}">
                <a16:creationId xmlns:a16="http://schemas.microsoft.com/office/drawing/2014/main" id="{8036A6ED-C505-4B1E-B4D3-FD1BDB6F4F22}"/>
              </a:ext>
            </a:extLst>
          </p:cNvPr>
          <p:cNvSpPr txBox="1"/>
          <p:nvPr/>
        </p:nvSpPr>
        <p:spPr>
          <a:xfrm>
            <a:off x="761081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S6</a:t>
            </a:r>
          </a:p>
        </p:txBody>
      </p:sp>
      <p:cxnSp>
        <p:nvCxnSpPr>
          <p:cNvPr id="908" name="master-input-7">
            <a:extLst>
              <a:ext uri="{FF2B5EF4-FFF2-40B4-BE49-F238E27FC236}">
                <a16:creationId xmlns:a16="http://schemas.microsoft.com/office/drawing/2014/main" id="{CC4EED22-31D0-4799-9367-43732014B122}"/>
              </a:ext>
            </a:extLst>
          </p:cNvPr>
          <p:cNvCxnSpPr>
            <a:cxnSpLocks/>
            <a:stCxn id="877" idx="2"/>
            <a:endCxn id="910" idx="0"/>
          </p:cNvCxnSpPr>
          <p:nvPr/>
        </p:nvCxnSpPr>
        <p:spPr>
          <a:xfrm>
            <a:off x="8945040" y="2847589"/>
            <a:ext cx="1" cy="127581"/>
          </a:xfrm>
          <a:prstGeom prst="line">
            <a:avLst/>
          </a:prstGeom>
          <a:ln w="24384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</p:cxnSp>
      <p:sp>
        <p:nvSpPr>
          <p:cNvPr id="909" name="master-port-7">
            <a:extLst>
              <a:ext uri="{FF2B5EF4-FFF2-40B4-BE49-F238E27FC236}">
                <a16:creationId xmlns:a16="http://schemas.microsoft.com/office/drawing/2014/main" id="{8CD622A4-E94F-49B7-9EE1-76B718FFF741}"/>
              </a:ext>
            </a:extLst>
          </p:cNvPr>
          <p:cNvSpPr/>
          <p:nvPr/>
        </p:nvSpPr>
        <p:spPr>
          <a:xfrm>
            <a:off x="878248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93939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0" name="object-137: S_EXT">
            <a:extLst>
              <a:ext uri="{FF2B5EF4-FFF2-40B4-BE49-F238E27FC236}">
                <a16:creationId xmlns:a16="http://schemas.microsoft.com/office/drawing/2014/main" id="{A6672919-ACE5-43A4-B24D-02ED76BD260F}"/>
              </a:ext>
            </a:extLst>
          </p:cNvPr>
          <p:cNvSpPr txBox="1"/>
          <p:nvPr/>
        </p:nvSpPr>
        <p:spPr>
          <a:xfrm>
            <a:off x="8831227" y="2975170"/>
            <a:ext cx="22762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S_EXT</a:t>
            </a:r>
          </a:p>
        </p:txBody>
      </p:sp>
      <p:sp>
        <p:nvSpPr>
          <p:cNvPr id="911" name="object-138: AXI master / 请求发起端">
            <a:extLst>
              <a:ext uri="{FF2B5EF4-FFF2-40B4-BE49-F238E27FC236}">
                <a16:creationId xmlns:a16="http://schemas.microsoft.com/office/drawing/2014/main" id="{6E968B6E-173B-423A-BB84-904B4B1C3F33}"/>
              </a:ext>
            </a:extLst>
          </p:cNvPr>
          <p:cNvSpPr txBox="1"/>
          <p:nvPr/>
        </p:nvSpPr>
        <p:spPr>
          <a:xfrm>
            <a:off x="3814240" y="2380500"/>
            <a:ext cx="104515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700" b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master / 请求发起端</a:t>
            </a:r>
          </a:p>
        </p:txBody>
      </p:sp>
      <p:cxnSp>
        <p:nvCxnSpPr>
          <p:cNvPr id="912" name="target-output-0">
            <a:extLst>
              <a:ext uri="{FF2B5EF4-FFF2-40B4-BE49-F238E27FC236}">
                <a16:creationId xmlns:a16="http://schemas.microsoft.com/office/drawing/2014/main" id="{0B0E9033-54B2-48D8-A4BA-1021732C78B5}"/>
              </a:ext>
            </a:extLst>
          </p:cNvPr>
          <p:cNvCxnSpPr/>
          <p:nvPr/>
        </p:nvCxnSpPr>
        <p:spPr>
          <a:xfrm>
            <a:off x="783173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13" name="target-port-0">
            <a:extLst>
              <a:ext uri="{FF2B5EF4-FFF2-40B4-BE49-F238E27FC236}">
                <a16:creationId xmlns:a16="http://schemas.microsoft.com/office/drawing/2014/main" id="{A3405BA2-C50F-44D0-A6DD-4AD5F991D969}"/>
              </a:ext>
            </a:extLst>
          </p:cNvPr>
          <p:cNvSpPr/>
          <p:nvPr/>
        </p:nvSpPr>
        <p:spPr>
          <a:xfrm>
            <a:off x="620613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4" name="object-141: M0">
            <a:extLst>
              <a:ext uri="{FF2B5EF4-FFF2-40B4-BE49-F238E27FC236}">
                <a16:creationId xmlns:a16="http://schemas.microsoft.com/office/drawing/2014/main" id="{3F291DD9-3BB4-4245-A46F-E73FAE70C3EC}"/>
              </a:ext>
            </a:extLst>
          </p:cNvPr>
          <p:cNvSpPr txBox="1"/>
          <p:nvPr/>
        </p:nvSpPr>
        <p:spPr>
          <a:xfrm>
            <a:off x="719854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M0</a:t>
            </a:r>
          </a:p>
        </p:txBody>
      </p:sp>
      <p:sp>
        <p:nvSpPr>
          <p:cNvPr id="915" name="debug-target">
            <a:extLst>
              <a:ext uri="{FF2B5EF4-FFF2-40B4-BE49-F238E27FC236}">
                <a16:creationId xmlns:a16="http://schemas.microsoft.com/office/drawing/2014/main" id="{FB1EF230-BA40-4795-B61E-DEED4108D14F}"/>
              </a:ext>
            </a:extLst>
          </p:cNvPr>
          <p:cNvSpPr/>
          <p:nvPr/>
        </p:nvSpPr>
        <p:spPr>
          <a:xfrm>
            <a:off x="241307" y="3701949"/>
            <a:ext cx="1083733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6" name="object-143: Debug 目标">
            <a:extLst>
              <a:ext uri="{FF2B5EF4-FFF2-40B4-BE49-F238E27FC236}">
                <a16:creationId xmlns:a16="http://schemas.microsoft.com/office/drawing/2014/main" id="{ED399EB3-5040-44B2-8ADF-7A62E2C276F4}"/>
              </a:ext>
            </a:extLst>
          </p:cNvPr>
          <p:cNvSpPr txBox="1"/>
          <p:nvPr/>
        </p:nvSpPr>
        <p:spPr>
          <a:xfrm>
            <a:off x="493030" y="3799997"/>
            <a:ext cx="58028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目标</a:t>
            </a:r>
          </a:p>
        </p:txBody>
      </p:sp>
      <p:sp>
        <p:nvSpPr>
          <p:cNvPr id="917" name="object-144: 调试模块地址窗口">
            <a:extLst>
              <a:ext uri="{FF2B5EF4-FFF2-40B4-BE49-F238E27FC236}">
                <a16:creationId xmlns:a16="http://schemas.microsoft.com/office/drawing/2014/main" id="{4439FC9B-E6E5-40DC-81F7-7402CB2AA92B}"/>
              </a:ext>
            </a:extLst>
          </p:cNvPr>
          <p:cNvSpPr txBox="1"/>
          <p:nvPr/>
        </p:nvSpPr>
        <p:spPr>
          <a:xfrm>
            <a:off x="372805" y="3932890"/>
            <a:ext cx="82073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调试模块地址窗口</a:t>
            </a:r>
          </a:p>
        </p:txBody>
      </p:sp>
      <p:cxnSp>
        <p:nvCxnSpPr>
          <p:cNvPr id="918" name="target-output-1">
            <a:extLst>
              <a:ext uri="{FF2B5EF4-FFF2-40B4-BE49-F238E27FC236}">
                <a16:creationId xmlns:a16="http://schemas.microsoft.com/office/drawing/2014/main" id="{268FC7FD-387F-4732-BA8A-D1ADA4FEB7C0}"/>
              </a:ext>
            </a:extLst>
          </p:cNvPr>
          <p:cNvCxnSpPr/>
          <p:nvPr/>
        </p:nvCxnSpPr>
        <p:spPr>
          <a:xfrm>
            <a:off x="2374906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19" name="target-port-1">
            <a:extLst>
              <a:ext uri="{FF2B5EF4-FFF2-40B4-BE49-F238E27FC236}">
                <a16:creationId xmlns:a16="http://schemas.microsoft.com/office/drawing/2014/main" id="{A6FC013D-4910-42B5-8190-821F38169B3C}"/>
              </a:ext>
            </a:extLst>
          </p:cNvPr>
          <p:cNvSpPr/>
          <p:nvPr/>
        </p:nvSpPr>
        <p:spPr>
          <a:xfrm>
            <a:off x="2212346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0" name="object-147: M1">
            <a:extLst>
              <a:ext uri="{FF2B5EF4-FFF2-40B4-BE49-F238E27FC236}">
                <a16:creationId xmlns:a16="http://schemas.microsoft.com/office/drawing/2014/main" id="{721E8F9A-B021-40E1-9B2E-A43ECFD2C0B7}"/>
              </a:ext>
            </a:extLst>
          </p:cNvPr>
          <p:cNvSpPr txBox="1"/>
          <p:nvPr/>
        </p:nvSpPr>
        <p:spPr>
          <a:xfrm>
            <a:off x="2311587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M1</a:t>
            </a:r>
          </a:p>
        </p:txBody>
      </p:sp>
      <p:sp>
        <p:nvSpPr>
          <p:cNvPr id="921" name="reg-bridge">
            <a:extLst>
              <a:ext uri="{FF2B5EF4-FFF2-40B4-BE49-F238E27FC236}">
                <a16:creationId xmlns:a16="http://schemas.microsoft.com/office/drawing/2014/main" id="{605E5542-298C-42C7-9EEE-C221CC79B47E}"/>
              </a:ext>
            </a:extLst>
          </p:cNvPr>
          <p:cNvSpPr/>
          <p:nvPr/>
        </p:nvSpPr>
        <p:spPr>
          <a:xfrm>
            <a:off x="1528240" y="3701949"/>
            <a:ext cx="1693333" cy="524933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2" name="object-149: AXI → Regbus">
            <a:extLst>
              <a:ext uri="{FF2B5EF4-FFF2-40B4-BE49-F238E27FC236}">
                <a16:creationId xmlns:a16="http://schemas.microsoft.com/office/drawing/2014/main" id="{B5A7E11C-EBB3-4CBD-8B2B-68D85FC37EE0}"/>
              </a:ext>
            </a:extLst>
          </p:cNvPr>
          <p:cNvSpPr txBox="1"/>
          <p:nvPr/>
        </p:nvSpPr>
        <p:spPr>
          <a:xfrm>
            <a:off x="2008620" y="3799997"/>
            <a:ext cx="73257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→ Regbus</a:t>
            </a:r>
          </a:p>
        </p:txBody>
      </p:sp>
      <p:sp>
        <p:nvSpPr>
          <p:cNvPr id="923" name="object-150: 原子适配 / 桥接 · 32 bit">
            <a:extLst>
              <a:ext uri="{FF2B5EF4-FFF2-40B4-BE49-F238E27FC236}">
                <a16:creationId xmlns:a16="http://schemas.microsoft.com/office/drawing/2014/main" id="{F0111D01-61C8-4DEB-A6EE-28B9C2A58D3E}"/>
              </a:ext>
            </a:extLst>
          </p:cNvPr>
          <p:cNvSpPr txBox="1"/>
          <p:nvPr/>
        </p:nvSpPr>
        <p:spPr>
          <a:xfrm>
            <a:off x="1830687" y="3932890"/>
            <a:ext cx="10884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桥接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· 32 bit</a:t>
            </a:r>
          </a:p>
        </p:txBody>
      </p:sp>
      <p:cxnSp>
        <p:nvCxnSpPr>
          <p:cNvPr id="924" name="target-output-2">
            <a:extLst>
              <a:ext uri="{FF2B5EF4-FFF2-40B4-BE49-F238E27FC236}">
                <a16:creationId xmlns:a16="http://schemas.microsoft.com/office/drawing/2014/main" id="{FFECC9CA-443B-4620-BC41-4FF2B894F371}"/>
              </a:ext>
            </a:extLst>
          </p:cNvPr>
          <p:cNvCxnSpPr/>
          <p:nvPr/>
        </p:nvCxnSpPr>
        <p:spPr>
          <a:xfrm>
            <a:off x="4254506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25" name="target-port-2">
            <a:extLst>
              <a:ext uri="{FF2B5EF4-FFF2-40B4-BE49-F238E27FC236}">
                <a16:creationId xmlns:a16="http://schemas.microsoft.com/office/drawing/2014/main" id="{2ACCD77A-F44D-479C-A71B-4CBA6C2CDD61}"/>
              </a:ext>
            </a:extLst>
          </p:cNvPr>
          <p:cNvSpPr/>
          <p:nvPr/>
        </p:nvSpPr>
        <p:spPr>
          <a:xfrm>
            <a:off x="4091946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6" name="object-153: M2">
            <a:extLst>
              <a:ext uri="{FF2B5EF4-FFF2-40B4-BE49-F238E27FC236}">
                <a16:creationId xmlns:a16="http://schemas.microsoft.com/office/drawing/2014/main" id="{741BD7F3-728C-4190-BAEE-738CFEA227B4}"/>
              </a:ext>
            </a:extLst>
          </p:cNvPr>
          <p:cNvSpPr txBox="1"/>
          <p:nvPr/>
        </p:nvSpPr>
        <p:spPr>
          <a:xfrm>
            <a:off x="4191187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M2</a:t>
            </a:r>
          </a:p>
        </p:txBody>
      </p:sp>
      <p:sp>
        <p:nvSpPr>
          <p:cNvPr id="927" name="memory-target">
            <a:extLst>
              <a:ext uri="{FF2B5EF4-FFF2-40B4-BE49-F238E27FC236}">
                <a16:creationId xmlns:a16="http://schemas.microsoft.com/office/drawing/2014/main" id="{C003EEB8-E7DB-4700-9829-5258C7A80A8D}"/>
              </a:ext>
            </a:extLst>
          </p:cNvPr>
          <p:cNvSpPr/>
          <p:nvPr/>
        </p:nvSpPr>
        <p:spPr>
          <a:xfrm>
            <a:off x="3441706" y="3701949"/>
            <a:ext cx="1625600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8" name="object-155: 主存 / SPM 共用目标">
            <a:extLst>
              <a:ext uri="{FF2B5EF4-FFF2-40B4-BE49-F238E27FC236}">
                <a16:creationId xmlns:a16="http://schemas.microsoft.com/office/drawing/2014/main" id="{908ED905-649A-4631-8BAE-49D301C712C7}"/>
              </a:ext>
            </a:extLst>
          </p:cNvPr>
          <p:cNvSpPr txBox="1"/>
          <p:nvPr/>
        </p:nvSpPr>
        <p:spPr>
          <a:xfrm>
            <a:off x="3759178" y="3743899"/>
            <a:ext cx="99065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主存 / SPM 共用目标</a:t>
            </a:r>
          </a:p>
        </p:txBody>
      </p:sp>
      <p:cxnSp>
        <p:nvCxnSpPr>
          <p:cNvPr id="929" name="target-output-3">
            <a:extLst>
              <a:ext uri="{FF2B5EF4-FFF2-40B4-BE49-F238E27FC236}">
                <a16:creationId xmlns:a16="http://schemas.microsoft.com/office/drawing/2014/main" id="{AEEBB89A-B17A-4831-BEAF-00EAD409A51D}"/>
              </a:ext>
            </a:extLst>
          </p:cNvPr>
          <p:cNvCxnSpPr/>
          <p:nvPr/>
        </p:nvCxnSpPr>
        <p:spPr>
          <a:xfrm>
            <a:off x="5947840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30" name="target-port-3">
            <a:extLst>
              <a:ext uri="{FF2B5EF4-FFF2-40B4-BE49-F238E27FC236}">
                <a16:creationId xmlns:a16="http://schemas.microsoft.com/office/drawing/2014/main" id="{BEF56EB4-9E62-4F6B-B685-82A1A9B7D9C3}"/>
              </a:ext>
            </a:extLst>
          </p:cNvPr>
          <p:cNvSpPr/>
          <p:nvPr/>
        </p:nvSpPr>
        <p:spPr>
          <a:xfrm>
            <a:off x="5785280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1" name="object-158: M3">
            <a:extLst>
              <a:ext uri="{FF2B5EF4-FFF2-40B4-BE49-F238E27FC236}">
                <a16:creationId xmlns:a16="http://schemas.microsoft.com/office/drawing/2014/main" id="{19BEF351-3C7C-4364-B07E-B54FAFDD11E7}"/>
              </a:ext>
            </a:extLst>
          </p:cNvPr>
          <p:cNvSpPr txBox="1"/>
          <p:nvPr/>
        </p:nvSpPr>
        <p:spPr>
          <a:xfrm>
            <a:off x="5884521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M3</a:t>
            </a:r>
          </a:p>
        </p:txBody>
      </p:sp>
      <p:sp>
        <p:nvSpPr>
          <p:cNvPr id="932" name="idma-config">
            <a:extLst>
              <a:ext uri="{FF2B5EF4-FFF2-40B4-BE49-F238E27FC236}">
                <a16:creationId xmlns:a16="http://schemas.microsoft.com/office/drawing/2014/main" id="{906EA7A1-5652-4FFA-AE14-E9E6E4670187}"/>
              </a:ext>
            </a:extLst>
          </p:cNvPr>
          <p:cNvSpPr/>
          <p:nvPr/>
        </p:nvSpPr>
        <p:spPr>
          <a:xfrm>
            <a:off x="5270506" y="3701949"/>
            <a:ext cx="1354667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3" name="object-160: iDMA 配置">
            <a:extLst>
              <a:ext uri="{FF2B5EF4-FFF2-40B4-BE49-F238E27FC236}">
                <a16:creationId xmlns:a16="http://schemas.microsoft.com/office/drawing/2014/main" id="{468A9BCA-1A7B-4BE3-A31E-29444D97DAAB}"/>
              </a:ext>
            </a:extLst>
          </p:cNvPr>
          <p:cNvSpPr txBox="1"/>
          <p:nvPr/>
        </p:nvSpPr>
        <p:spPr>
          <a:xfrm>
            <a:off x="5682543" y="3766131"/>
            <a:ext cx="53059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配置</a:t>
            </a:r>
          </a:p>
        </p:txBody>
      </p:sp>
      <p:sp>
        <p:nvSpPr>
          <p:cNvPr id="934" name="object-161: 原子适配 → AXI→Reg">
            <a:extLst>
              <a:ext uri="{FF2B5EF4-FFF2-40B4-BE49-F238E27FC236}">
                <a16:creationId xmlns:a16="http://schemas.microsoft.com/office/drawing/2014/main" id="{409F0990-0F28-44F7-8F3F-DEB76F2BCA00}"/>
              </a:ext>
            </a:extLst>
          </p:cNvPr>
          <p:cNvSpPr txBox="1"/>
          <p:nvPr/>
        </p:nvSpPr>
        <p:spPr>
          <a:xfrm>
            <a:off x="5430071" y="3899024"/>
            <a:ext cx="103554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→ AXI→Reg</a:t>
            </a:r>
          </a:p>
        </p:txBody>
      </p:sp>
      <p:sp>
        <p:nvSpPr>
          <p:cNvPr id="935" name="object-162: wrapper 内部寄存器">
            <a:extLst>
              <a:ext uri="{FF2B5EF4-FFF2-40B4-BE49-F238E27FC236}">
                <a16:creationId xmlns:a16="http://schemas.microsoft.com/office/drawing/2014/main" id="{37D0B260-A181-4043-BFF4-C7EA83B49656}"/>
              </a:ext>
            </a:extLst>
          </p:cNvPr>
          <p:cNvSpPr txBox="1"/>
          <p:nvPr/>
        </p:nvSpPr>
        <p:spPr>
          <a:xfrm>
            <a:off x="5474153" y="4007397"/>
            <a:ext cx="94737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wrapper 内部寄存器</a:t>
            </a:r>
          </a:p>
        </p:txBody>
      </p:sp>
      <p:cxnSp>
        <p:nvCxnSpPr>
          <p:cNvPr id="936" name="target-output-4">
            <a:extLst>
              <a:ext uri="{FF2B5EF4-FFF2-40B4-BE49-F238E27FC236}">
                <a16:creationId xmlns:a16="http://schemas.microsoft.com/office/drawing/2014/main" id="{2D1D5CD8-FC34-4CB6-A62D-678019C344CF}"/>
              </a:ext>
            </a:extLst>
          </p:cNvPr>
          <p:cNvCxnSpPr/>
          <p:nvPr/>
        </p:nvCxnSpPr>
        <p:spPr>
          <a:xfrm>
            <a:off x="7268633" y="3529245"/>
            <a:ext cx="0" cy="17272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37" name="target-port-4">
            <a:extLst>
              <a:ext uri="{FF2B5EF4-FFF2-40B4-BE49-F238E27FC236}">
                <a16:creationId xmlns:a16="http://schemas.microsoft.com/office/drawing/2014/main" id="{C27BE330-A10A-405A-A746-7CD1AB09706C}"/>
              </a:ext>
            </a:extLst>
          </p:cNvPr>
          <p:cNvSpPr/>
          <p:nvPr/>
        </p:nvSpPr>
        <p:spPr>
          <a:xfrm>
            <a:off x="7106073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8" name="object-165: M4">
            <a:extLst>
              <a:ext uri="{FF2B5EF4-FFF2-40B4-BE49-F238E27FC236}">
                <a16:creationId xmlns:a16="http://schemas.microsoft.com/office/drawing/2014/main" id="{07882F63-6019-433E-AEF0-B6C15B433D91}"/>
              </a:ext>
            </a:extLst>
          </p:cNvPr>
          <p:cNvSpPr txBox="1"/>
          <p:nvPr/>
        </p:nvSpPr>
        <p:spPr>
          <a:xfrm>
            <a:off x="7150100" y="3432370"/>
            <a:ext cx="23706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M4</a:t>
            </a:r>
          </a:p>
        </p:txBody>
      </p:sp>
      <p:sp>
        <p:nvSpPr>
          <p:cNvPr id="939" name="slink-tx">
            <a:extLst>
              <a:ext uri="{FF2B5EF4-FFF2-40B4-BE49-F238E27FC236}">
                <a16:creationId xmlns:a16="http://schemas.microsoft.com/office/drawing/2014/main" id="{718FF7D9-8D9B-4B52-8C5B-57629572744C}"/>
              </a:ext>
            </a:extLst>
          </p:cNvPr>
          <p:cNvSpPr/>
          <p:nvPr/>
        </p:nvSpPr>
        <p:spPr>
          <a:xfrm>
            <a:off x="6828367" y="3701949"/>
            <a:ext cx="880533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0" name="object-167: Serial Link TX">
            <a:extLst>
              <a:ext uri="{FF2B5EF4-FFF2-40B4-BE49-F238E27FC236}">
                <a16:creationId xmlns:a16="http://schemas.microsoft.com/office/drawing/2014/main" id="{CE6C92FE-D792-4731-91BF-92C5EB9D3372}"/>
              </a:ext>
            </a:extLst>
          </p:cNvPr>
          <p:cNvSpPr txBox="1"/>
          <p:nvPr/>
        </p:nvSpPr>
        <p:spPr>
          <a:xfrm>
            <a:off x="6862233" y="3799997"/>
            <a:ext cx="81280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TX</a:t>
            </a:r>
          </a:p>
        </p:txBody>
      </p:sp>
      <p:sp>
        <p:nvSpPr>
          <p:cNvPr id="941" name="object-168: 远端目标窗口">
            <a:extLst>
              <a:ext uri="{FF2B5EF4-FFF2-40B4-BE49-F238E27FC236}">
                <a16:creationId xmlns:a16="http://schemas.microsoft.com/office/drawing/2014/main" id="{AFD0E002-9F64-43C5-8E24-6B2D22B7B482}"/>
              </a:ext>
            </a:extLst>
          </p:cNvPr>
          <p:cNvSpPr txBox="1"/>
          <p:nvPr/>
        </p:nvSpPr>
        <p:spPr>
          <a:xfrm>
            <a:off x="6862233" y="3932890"/>
            <a:ext cx="81280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远端目标窗口</a:t>
            </a:r>
          </a:p>
        </p:txBody>
      </p:sp>
      <p:cxnSp>
        <p:nvCxnSpPr>
          <p:cNvPr id="942" name="target-output-ext">
            <a:extLst>
              <a:ext uri="{FF2B5EF4-FFF2-40B4-BE49-F238E27FC236}">
                <a16:creationId xmlns:a16="http://schemas.microsoft.com/office/drawing/2014/main" id="{7BE14BE3-9B63-4EF3-A33C-7F1A53D9C001}"/>
              </a:ext>
            </a:extLst>
          </p:cNvPr>
          <p:cNvCxnSpPr>
            <a:cxnSpLocks/>
            <a:stCxn id="943" idx="2"/>
          </p:cNvCxnSpPr>
          <p:nvPr/>
        </p:nvCxnSpPr>
        <p:spPr>
          <a:xfrm>
            <a:off x="9309100" y="3529245"/>
            <a:ext cx="0" cy="172720"/>
          </a:xfrm>
          <a:prstGeom prst="line">
            <a:avLst/>
          </a:prstGeom>
          <a:ln w="24384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</p:cxnSp>
      <p:sp>
        <p:nvSpPr>
          <p:cNvPr id="943" name="target-port-ext">
            <a:extLst>
              <a:ext uri="{FF2B5EF4-FFF2-40B4-BE49-F238E27FC236}">
                <a16:creationId xmlns:a16="http://schemas.microsoft.com/office/drawing/2014/main" id="{0A82AF7F-FCCC-40AC-B0E6-5DBC2D27AA6F}"/>
              </a:ext>
            </a:extLst>
          </p:cNvPr>
          <p:cNvSpPr/>
          <p:nvPr/>
        </p:nvSpPr>
        <p:spPr>
          <a:xfrm>
            <a:off x="9146540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93939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4" name="object-171: M_EXT">
            <a:extLst>
              <a:ext uri="{FF2B5EF4-FFF2-40B4-BE49-F238E27FC236}">
                <a16:creationId xmlns:a16="http://schemas.microsoft.com/office/drawing/2014/main" id="{5ED255E7-3D69-4736-82DB-F74898973378}"/>
              </a:ext>
            </a:extLst>
          </p:cNvPr>
          <p:cNvSpPr txBox="1"/>
          <p:nvPr/>
        </p:nvSpPr>
        <p:spPr>
          <a:xfrm>
            <a:off x="9163473" y="3432370"/>
            <a:ext cx="291253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M_EXT</a:t>
            </a:r>
          </a:p>
        </p:txBody>
      </p:sp>
      <p:sp>
        <p:nvSpPr>
          <p:cNvPr id="945" name="ext-target">
            <a:extLst>
              <a:ext uri="{FF2B5EF4-FFF2-40B4-BE49-F238E27FC236}">
                <a16:creationId xmlns:a16="http://schemas.microsoft.com/office/drawing/2014/main" id="{35CB4EAC-4D90-4C3D-9DD9-8ED7A33AEC4A}"/>
              </a:ext>
            </a:extLst>
          </p:cNvPr>
          <p:cNvSpPr/>
          <p:nvPr/>
        </p:nvSpPr>
        <p:spPr>
          <a:xfrm>
            <a:off x="8792633" y="3701949"/>
            <a:ext cx="1032933" cy="524933"/>
          </a:xfrm>
          <a:prstGeom prst="rect">
            <a:avLst/>
          </a:prstGeom>
          <a:solidFill>
            <a:srgbClr val="F5F5F7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6" name="object-173: AXI 外部 slave">
            <a:extLst>
              <a:ext uri="{FF2B5EF4-FFF2-40B4-BE49-F238E27FC236}">
                <a16:creationId xmlns:a16="http://schemas.microsoft.com/office/drawing/2014/main" id="{EDB0EE72-BBF5-487B-8CEF-12D40BA27121}"/>
              </a:ext>
            </a:extLst>
          </p:cNvPr>
          <p:cNvSpPr txBox="1"/>
          <p:nvPr/>
        </p:nvSpPr>
        <p:spPr>
          <a:xfrm>
            <a:off x="8826500" y="3766131"/>
            <a:ext cx="96520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slave</a:t>
            </a:r>
          </a:p>
        </p:txBody>
      </p:sp>
      <p:sp>
        <p:nvSpPr>
          <p:cNvPr id="947" name="object-174: 可选外部目标扩展">
            <a:extLst>
              <a:ext uri="{FF2B5EF4-FFF2-40B4-BE49-F238E27FC236}">
                <a16:creationId xmlns:a16="http://schemas.microsoft.com/office/drawing/2014/main" id="{787FA9B9-204D-46F2-9A21-C983AC71DD12}"/>
              </a:ext>
            </a:extLst>
          </p:cNvPr>
          <p:cNvSpPr txBox="1"/>
          <p:nvPr/>
        </p:nvSpPr>
        <p:spPr>
          <a:xfrm>
            <a:off x="8826500" y="3899024"/>
            <a:ext cx="96520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可选外部目标扩展</a:t>
            </a:r>
          </a:p>
        </p:txBody>
      </p:sp>
      <p:sp>
        <p:nvSpPr>
          <p:cNvPr id="948" name="atomics">
            <a:extLst>
              <a:ext uri="{FF2B5EF4-FFF2-40B4-BE49-F238E27FC236}">
                <a16:creationId xmlns:a16="http://schemas.microsoft.com/office/drawing/2014/main" id="{A44BC17A-607E-4FD1-AE60-078D1D424947}"/>
              </a:ext>
            </a:extLst>
          </p:cNvPr>
          <p:cNvSpPr/>
          <p:nvPr/>
        </p:nvSpPr>
        <p:spPr>
          <a:xfrm>
            <a:off x="3509440" y="3905149"/>
            <a:ext cx="660400" cy="28448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9" name="object-176: 原子适配">
            <a:extLst>
              <a:ext uri="{FF2B5EF4-FFF2-40B4-BE49-F238E27FC236}">
                <a16:creationId xmlns:a16="http://schemas.microsoft.com/office/drawing/2014/main" id="{4A598551-AF58-4554-AB7D-26396E1BBAA6}"/>
              </a:ext>
            </a:extLst>
          </p:cNvPr>
          <p:cNvSpPr txBox="1"/>
          <p:nvPr/>
        </p:nvSpPr>
        <p:spPr>
          <a:xfrm>
            <a:off x="3660103" y="3946331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</a:p>
        </p:txBody>
      </p:sp>
      <p:sp>
        <p:nvSpPr>
          <p:cNvPr id="950" name="object-177: AMO / LRSC">
            <a:extLst>
              <a:ext uri="{FF2B5EF4-FFF2-40B4-BE49-F238E27FC236}">
                <a16:creationId xmlns:a16="http://schemas.microsoft.com/office/drawing/2014/main" id="{262BFCDF-2EBC-4B37-B6BD-1B3B4DDB5093}"/>
              </a:ext>
            </a:extLst>
          </p:cNvPr>
          <p:cNvSpPr txBox="1"/>
          <p:nvPr/>
        </p:nvSpPr>
        <p:spPr>
          <a:xfrm>
            <a:off x="3535070" y="4060936"/>
            <a:ext cx="60914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AMO / LRSC</a:t>
            </a:r>
          </a:p>
        </p:txBody>
      </p:sp>
      <p:sp>
        <p:nvSpPr>
          <p:cNvPr id="951" name="llc-spm">
            <a:extLst>
              <a:ext uri="{FF2B5EF4-FFF2-40B4-BE49-F238E27FC236}">
                <a16:creationId xmlns:a16="http://schemas.microsoft.com/office/drawing/2014/main" id="{CFE1928B-D279-4208-80F1-EE0A7B299153}"/>
              </a:ext>
            </a:extLst>
          </p:cNvPr>
          <p:cNvSpPr/>
          <p:nvPr/>
        </p:nvSpPr>
        <p:spPr>
          <a:xfrm>
            <a:off x="4322240" y="3905149"/>
            <a:ext cx="660400" cy="28448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2" name="object-179: LLC / SPM">
            <a:extLst>
              <a:ext uri="{FF2B5EF4-FFF2-40B4-BE49-F238E27FC236}">
                <a16:creationId xmlns:a16="http://schemas.microsoft.com/office/drawing/2014/main" id="{EC89ABB5-ADF1-4CCE-9076-537AD728CCF0}"/>
              </a:ext>
            </a:extLst>
          </p:cNvPr>
          <p:cNvSpPr txBox="1"/>
          <p:nvPr/>
        </p:nvSpPr>
        <p:spPr>
          <a:xfrm>
            <a:off x="4420806" y="3946331"/>
            <a:ext cx="46326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/ SPM</a:t>
            </a:r>
          </a:p>
        </p:txBody>
      </p:sp>
      <p:sp>
        <p:nvSpPr>
          <p:cNvPr id="953" name="object-180: 同一 SRAM 阵列">
            <a:extLst>
              <a:ext uri="{FF2B5EF4-FFF2-40B4-BE49-F238E27FC236}">
                <a16:creationId xmlns:a16="http://schemas.microsoft.com/office/drawing/2014/main" id="{07ABD4E2-0796-48E6-BC25-4482537767A1}"/>
              </a:ext>
            </a:extLst>
          </p:cNvPr>
          <p:cNvSpPr txBox="1"/>
          <p:nvPr/>
        </p:nvSpPr>
        <p:spPr>
          <a:xfrm>
            <a:off x="4384738" y="4060936"/>
            <a:ext cx="53540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SRAM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阵列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954" name="atomics-llc">
            <a:extLst>
              <a:ext uri="{FF2B5EF4-FFF2-40B4-BE49-F238E27FC236}">
                <a16:creationId xmlns:a16="http://schemas.microsoft.com/office/drawing/2014/main" id="{8785A342-A019-4871-85A3-1919CC460D6B}"/>
              </a:ext>
            </a:extLst>
          </p:cNvPr>
          <p:cNvCxnSpPr/>
          <p:nvPr/>
        </p:nvCxnSpPr>
        <p:spPr>
          <a:xfrm>
            <a:off x="4169840" y="4033842"/>
            <a:ext cx="152400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55" name="reg-subsystem">
            <a:extLst>
              <a:ext uri="{FF2B5EF4-FFF2-40B4-BE49-F238E27FC236}">
                <a16:creationId xmlns:a16="http://schemas.microsoft.com/office/drawing/2014/main" id="{17D69E55-0D49-47D7-AF34-F1100D4D8A7E}"/>
              </a:ext>
            </a:extLst>
          </p:cNvPr>
          <p:cNvSpPr/>
          <p:nvPr/>
        </p:nvSpPr>
        <p:spPr>
          <a:xfrm>
            <a:off x="173573" y="4345416"/>
            <a:ext cx="6587067" cy="1693333"/>
          </a:xfrm>
          <a:prstGeom prst="rect">
            <a:avLst/>
          </a:prstGeom>
          <a:solidFill>
            <a:srgbClr val="FAF8FB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6" name="regbus">
            <a:extLst>
              <a:ext uri="{FF2B5EF4-FFF2-40B4-BE49-F238E27FC236}">
                <a16:creationId xmlns:a16="http://schemas.microsoft.com/office/drawing/2014/main" id="{86ED39D0-8AEA-42EC-97C9-32341A19CBBF}"/>
              </a:ext>
            </a:extLst>
          </p:cNvPr>
          <p:cNvSpPr/>
          <p:nvPr/>
        </p:nvSpPr>
        <p:spPr>
          <a:xfrm>
            <a:off x="241306" y="4413149"/>
            <a:ext cx="6451600" cy="237067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7" name="object-184: Regbus decode / demux  ·  32 bit">
            <a:extLst>
              <a:ext uri="{FF2B5EF4-FFF2-40B4-BE49-F238E27FC236}">
                <a16:creationId xmlns:a16="http://schemas.microsoft.com/office/drawing/2014/main" id="{469CCA68-FD17-4980-A75E-586E8CE36AAF}"/>
              </a:ext>
            </a:extLst>
          </p:cNvPr>
          <p:cNvSpPr txBox="1"/>
          <p:nvPr/>
        </p:nvSpPr>
        <p:spPr>
          <a:xfrm>
            <a:off x="2387394" y="4455279"/>
            <a:ext cx="2156039" cy="15388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Regbus</a:t>
            </a:r>
            <a:r>
              <a:rPr sz="10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decode / </a:t>
            </a:r>
            <a:r>
              <a:rPr sz="10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demux</a:t>
            </a:r>
            <a:r>
              <a:rPr sz="10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 ·  32 bit</a:t>
            </a:r>
          </a:p>
        </p:txBody>
      </p:sp>
      <p:cxnSp>
        <p:nvCxnSpPr>
          <p:cNvPr id="958" name="axi-regbus">
            <a:extLst>
              <a:ext uri="{FF2B5EF4-FFF2-40B4-BE49-F238E27FC236}">
                <a16:creationId xmlns:a16="http://schemas.microsoft.com/office/drawing/2014/main" id="{10A03DF2-6DD4-481D-88C5-13653854409F}"/>
              </a:ext>
            </a:extLst>
          </p:cNvPr>
          <p:cNvCxnSpPr/>
          <p:nvPr/>
        </p:nvCxnSpPr>
        <p:spPr>
          <a:xfrm>
            <a:off x="2374906" y="4226882"/>
            <a:ext cx="0" cy="186267"/>
          </a:xfrm>
          <a:prstGeom prst="line">
            <a:avLst/>
          </a:prstGeom>
          <a:ln w="28448" cap="flat">
            <a:solidFill>
              <a:srgbClr val="765489"/>
            </a:solidFill>
            <a:tailEnd type="triangle" w="med" len="med"/>
          </a:ln>
          <a:effectLst/>
        </p:spPr>
      </p:cxnSp>
      <p:cxnSp>
        <p:nvCxnSpPr>
          <p:cNvPr id="959" name="regbus-trunk-0">
            <a:extLst>
              <a:ext uri="{FF2B5EF4-FFF2-40B4-BE49-F238E27FC236}">
                <a16:creationId xmlns:a16="http://schemas.microsoft.com/office/drawing/2014/main" id="{E41B7A95-1325-4CC6-B264-97272CE2B4D6}"/>
              </a:ext>
            </a:extLst>
          </p:cNvPr>
          <p:cNvCxnSpPr/>
          <p:nvPr/>
        </p:nvCxnSpPr>
        <p:spPr>
          <a:xfrm>
            <a:off x="35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0" name="regbus-trunk-1">
            <a:extLst>
              <a:ext uri="{FF2B5EF4-FFF2-40B4-BE49-F238E27FC236}">
                <a16:creationId xmlns:a16="http://schemas.microsoft.com/office/drawing/2014/main" id="{015DE0DD-B6B4-4A86-9158-14FA8F8AE363}"/>
              </a:ext>
            </a:extLst>
          </p:cNvPr>
          <p:cNvCxnSpPr/>
          <p:nvPr/>
        </p:nvCxnSpPr>
        <p:spPr>
          <a:xfrm>
            <a:off x="162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1" name="regbus-trunk-2">
            <a:extLst>
              <a:ext uri="{FF2B5EF4-FFF2-40B4-BE49-F238E27FC236}">
                <a16:creationId xmlns:a16="http://schemas.microsoft.com/office/drawing/2014/main" id="{55CB0935-51FB-4F78-ABB0-9DAFE8E5AD1F}"/>
              </a:ext>
            </a:extLst>
          </p:cNvPr>
          <p:cNvCxnSpPr/>
          <p:nvPr/>
        </p:nvCxnSpPr>
        <p:spPr>
          <a:xfrm>
            <a:off x="289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2" name="regbus-trunk-3">
            <a:extLst>
              <a:ext uri="{FF2B5EF4-FFF2-40B4-BE49-F238E27FC236}">
                <a16:creationId xmlns:a16="http://schemas.microsoft.com/office/drawing/2014/main" id="{A151FA95-0104-4234-ACB1-2EDA742BE856}"/>
              </a:ext>
            </a:extLst>
          </p:cNvPr>
          <p:cNvCxnSpPr/>
          <p:nvPr/>
        </p:nvCxnSpPr>
        <p:spPr>
          <a:xfrm>
            <a:off x="416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3" name="regbus-trunk-4">
            <a:extLst>
              <a:ext uri="{FF2B5EF4-FFF2-40B4-BE49-F238E27FC236}">
                <a16:creationId xmlns:a16="http://schemas.microsoft.com/office/drawing/2014/main" id="{E745EBB6-CDA0-4804-8F8D-87FC8930FE6A}"/>
              </a:ext>
            </a:extLst>
          </p:cNvPr>
          <p:cNvCxnSpPr/>
          <p:nvPr/>
        </p:nvCxnSpPr>
        <p:spPr>
          <a:xfrm>
            <a:off x="543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sp>
        <p:nvSpPr>
          <p:cNvPr id="964" name="bootrom">
            <a:extLst>
              <a:ext uri="{FF2B5EF4-FFF2-40B4-BE49-F238E27FC236}">
                <a16:creationId xmlns:a16="http://schemas.microsoft.com/office/drawing/2014/main" id="{AE39AF04-DE57-407F-B7DE-709895A81F2C}"/>
              </a:ext>
            </a:extLst>
          </p:cNvPr>
          <p:cNvSpPr/>
          <p:nvPr/>
        </p:nvSpPr>
        <p:spPr>
          <a:xfrm>
            <a:off x="42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65" name="object-192: Boot ROM">
            <a:extLst>
              <a:ext uri="{FF2B5EF4-FFF2-40B4-BE49-F238E27FC236}">
                <a16:creationId xmlns:a16="http://schemas.microsoft.com/office/drawing/2014/main" id="{D636FB9B-631A-4505-B2AC-C11D8FE857CD}"/>
              </a:ext>
            </a:extLst>
          </p:cNvPr>
          <p:cNvSpPr txBox="1"/>
          <p:nvPr/>
        </p:nvSpPr>
        <p:spPr>
          <a:xfrm>
            <a:off x="699335" y="4765362"/>
            <a:ext cx="54021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Boot ROM</a:t>
            </a:r>
          </a:p>
        </p:txBody>
      </p:sp>
      <p:sp>
        <p:nvSpPr>
          <p:cNvPr id="966" name="object-193: 启动代码">
            <a:extLst>
              <a:ext uri="{FF2B5EF4-FFF2-40B4-BE49-F238E27FC236}">
                <a16:creationId xmlns:a16="http://schemas.microsoft.com/office/drawing/2014/main" id="{B1F3C28B-3DE7-4B66-9639-D8091ED92581}"/>
              </a:ext>
            </a:extLst>
          </p:cNvPr>
          <p:cNvSpPr txBox="1"/>
          <p:nvPr/>
        </p:nvSpPr>
        <p:spPr>
          <a:xfrm>
            <a:off x="789903" y="4877935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启动代码</a:t>
            </a:r>
          </a:p>
        </p:txBody>
      </p:sp>
      <p:cxnSp>
        <p:nvCxnSpPr>
          <p:cNvPr id="967" name="reg-drop-bootrom">
            <a:extLst>
              <a:ext uri="{FF2B5EF4-FFF2-40B4-BE49-F238E27FC236}">
                <a16:creationId xmlns:a16="http://schemas.microsoft.com/office/drawing/2014/main" id="{0D523740-3E54-4952-AE19-2E770B0A2C04}"/>
              </a:ext>
            </a:extLst>
          </p:cNvPr>
          <p:cNvCxnSpPr/>
          <p:nvPr/>
        </p:nvCxnSpPr>
        <p:spPr>
          <a:xfrm>
            <a:off x="35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68" name="clint">
            <a:extLst>
              <a:ext uri="{FF2B5EF4-FFF2-40B4-BE49-F238E27FC236}">
                <a16:creationId xmlns:a16="http://schemas.microsoft.com/office/drawing/2014/main" id="{CDDAF346-5CE4-46DF-BA81-B635204CBE7A}"/>
              </a:ext>
            </a:extLst>
          </p:cNvPr>
          <p:cNvSpPr/>
          <p:nvPr/>
        </p:nvSpPr>
        <p:spPr>
          <a:xfrm>
            <a:off x="169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69" name="object-196: CLINT">
            <a:extLst>
              <a:ext uri="{FF2B5EF4-FFF2-40B4-BE49-F238E27FC236}">
                <a16:creationId xmlns:a16="http://schemas.microsoft.com/office/drawing/2014/main" id="{47E23EF4-3C3A-45BF-9CA9-B3E1A3098B24}"/>
              </a:ext>
            </a:extLst>
          </p:cNvPr>
          <p:cNvSpPr txBox="1"/>
          <p:nvPr/>
        </p:nvSpPr>
        <p:spPr>
          <a:xfrm>
            <a:off x="2084750" y="4765362"/>
            <a:ext cx="30938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CLINT</a:t>
            </a:r>
          </a:p>
        </p:txBody>
      </p:sp>
      <p:sp>
        <p:nvSpPr>
          <p:cNvPr id="970" name="object-197: 软件 / 定时中断">
            <a:extLst>
              <a:ext uri="{FF2B5EF4-FFF2-40B4-BE49-F238E27FC236}">
                <a16:creationId xmlns:a16="http://schemas.microsoft.com/office/drawing/2014/main" id="{DBA77C2E-F88E-463F-9298-B1136094D71E}"/>
              </a:ext>
            </a:extLst>
          </p:cNvPr>
          <p:cNvSpPr txBox="1"/>
          <p:nvPr/>
        </p:nvSpPr>
        <p:spPr>
          <a:xfrm>
            <a:off x="1923648" y="4877935"/>
            <a:ext cx="631583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软件 / 定时中断</a:t>
            </a:r>
          </a:p>
        </p:txBody>
      </p:sp>
      <p:cxnSp>
        <p:nvCxnSpPr>
          <p:cNvPr id="971" name="reg-drop-clint">
            <a:extLst>
              <a:ext uri="{FF2B5EF4-FFF2-40B4-BE49-F238E27FC236}">
                <a16:creationId xmlns:a16="http://schemas.microsoft.com/office/drawing/2014/main" id="{42DCD275-A0BB-4B56-B64A-833D03028D67}"/>
              </a:ext>
            </a:extLst>
          </p:cNvPr>
          <p:cNvCxnSpPr/>
          <p:nvPr/>
        </p:nvCxnSpPr>
        <p:spPr>
          <a:xfrm>
            <a:off x="162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72" name="soc-regs">
            <a:extLst>
              <a:ext uri="{FF2B5EF4-FFF2-40B4-BE49-F238E27FC236}">
                <a16:creationId xmlns:a16="http://schemas.microsoft.com/office/drawing/2014/main" id="{8E0BB8EB-9A3F-4727-86A7-E77F8277E16D}"/>
              </a:ext>
            </a:extLst>
          </p:cNvPr>
          <p:cNvSpPr/>
          <p:nvPr/>
        </p:nvSpPr>
        <p:spPr>
          <a:xfrm>
            <a:off x="296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73" name="object-200: SoC 寄存器">
            <a:extLst>
              <a:ext uri="{FF2B5EF4-FFF2-40B4-BE49-F238E27FC236}">
                <a16:creationId xmlns:a16="http://schemas.microsoft.com/office/drawing/2014/main" id="{1A6231BD-A9A6-47B3-8AB7-5A560A94B257}"/>
              </a:ext>
            </a:extLst>
          </p:cNvPr>
          <p:cNvSpPr txBox="1"/>
          <p:nvPr/>
        </p:nvSpPr>
        <p:spPr>
          <a:xfrm>
            <a:off x="3240937" y="4765362"/>
            <a:ext cx="53700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SoC 寄存器</a:t>
            </a:r>
          </a:p>
        </p:txBody>
      </p:sp>
      <p:sp>
        <p:nvSpPr>
          <p:cNvPr id="974" name="object-201: 平台信息 / scratch">
            <a:extLst>
              <a:ext uri="{FF2B5EF4-FFF2-40B4-BE49-F238E27FC236}">
                <a16:creationId xmlns:a16="http://schemas.microsoft.com/office/drawing/2014/main" id="{7A637AD7-7370-4A55-8FC7-CD690942D54B}"/>
              </a:ext>
            </a:extLst>
          </p:cNvPr>
          <p:cNvSpPr txBox="1"/>
          <p:nvPr/>
        </p:nvSpPr>
        <p:spPr>
          <a:xfrm>
            <a:off x="3131933" y="4877935"/>
            <a:ext cx="75501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平台信息 / scratch</a:t>
            </a:r>
          </a:p>
        </p:txBody>
      </p:sp>
      <p:cxnSp>
        <p:nvCxnSpPr>
          <p:cNvPr id="975" name="reg-drop-soc-regs">
            <a:extLst>
              <a:ext uri="{FF2B5EF4-FFF2-40B4-BE49-F238E27FC236}">
                <a16:creationId xmlns:a16="http://schemas.microsoft.com/office/drawing/2014/main" id="{CB888832-B9F6-4A8C-B7DD-6275B162BA0F}"/>
              </a:ext>
            </a:extLst>
          </p:cNvPr>
          <p:cNvCxnSpPr/>
          <p:nvPr/>
        </p:nvCxnSpPr>
        <p:spPr>
          <a:xfrm>
            <a:off x="289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76" name="plic">
            <a:extLst>
              <a:ext uri="{FF2B5EF4-FFF2-40B4-BE49-F238E27FC236}">
                <a16:creationId xmlns:a16="http://schemas.microsoft.com/office/drawing/2014/main" id="{FEA6D80F-0EB1-44E1-A21D-AAF41A576CC4}"/>
              </a:ext>
            </a:extLst>
          </p:cNvPr>
          <p:cNvSpPr/>
          <p:nvPr/>
        </p:nvSpPr>
        <p:spPr>
          <a:xfrm>
            <a:off x="423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77" name="object-204: PLIC">
            <a:extLst>
              <a:ext uri="{FF2B5EF4-FFF2-40B4-BE49-F238E27FC236}">
                <a16:creationId xmlns:a16="http://schemas.microsoft.com/office/drawing/2014/main" id="{D73A9C5A-E21A-4708-A3A7-9D21D59C37D9}"/>
              </a:ext>
            </a:extLst>
          </p:cNvPr>
          <p:cNvSpPr txBox="1"/>
          <p:nvPr/>
        </p:nvSpPr>
        <p:spPr>
          <a:xfrm>
            <a:off x="4666428" y="4765362"/>
            <a:ext cx="22602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PLIC</a:t>
            </a:r>
          </a:p>
        </p:txBody>
      </p:sp>
      <p:sp>
        <p:nvSpPr>
          <p:cNvPr id="978" name="object-205: 外部中断控制">
            <a:extLst>
              <a:ext uri="{FF2B5EF4-FFF2-40B4-BE49-F238E27FC236}">
                <a16:creationId xmlns:a16="http://schemas.microsoft.com/office/drawing/2014/main" id="{546AAC43-FD53-4A8E-87BB-29563BC461F5}"/>
              </a:ext>
            </a:extLst>
          </p:cNvPr>
          <p:cNvSpPr txBox="1"/>
          <p:nvPr/>
        </p:nvSpPr>
        <p:spPr>
          <a:xfrm>
            <a:off x="4510135" y="487793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外部中断控制</a:t>
            </a:r>
          </a:p>
        </p:txBody>
      </p:sp>
      <p:cxnSp>
        <p:nvCxnSpPr>
          <p:cNvPr id="979" name="reg-drop-plic">
            <a:extLst>
              <a:ext uri="{FF2B5EF4-FFF2-40B4-BE49-F238E27FC236}">
                <a16:creationId xmlns:a16="http://schemas.microsoft.com/office/drawing/2014/main" id="{D5F679CD-87E7-4B65-BE9B-B53F9D43C769}"/>
              </a:ext>
            </a:extLst>
          </p:cNvPr>
          <p:cNvCxnSpPr/>
          <p:nvPr/>
        </p:nvCxnSpPr>
        <p:spPr>
          <a:xfrm>
            <a:off x="416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0" name="llc-regs">
            <a:extLst>
              <a:ext uri="{FF2B5EF4-FFF2-40B4-BE49-F238E27FC236}">
                <a16:creationId xmlns:a16="http://schemas.microsoft.com/office/drawing/2014/main" id="{D7D19DE2-0911-45C7-93C8-673A6F91921D}"/>
              </a:ext>
            </a:extLst>
          </p:cNvPr>
          <p:cNvSpPr/>
          <p:nvPr/>
        </p:nvSpPr>
        <p:spPr>
          <a:xfrm>
            <a:off x="550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1" name="object-208: LLC 配置">
            <a:extLst>
              <a:ext uri="{FF2B5EF4-FFF2-40B4-BE49-F238E27FC236}">
                <a16:creationId xmlns:a16="http://schemas.microsoft.com/office/drawing/2014/main" id="{4850A438-520E-46CE-9B5E-D7B9D1A4D6C6}"/>
              </a:ext>
            </a:extLst>
          </p:cNvPr>
          <p:cNvSpPr txBox="1"/>
          <p:nvPr/>
        </p:nvSpPr>
        <p:spPr>
          <a:xfrm>
            <a:off x="5841049" y="4765362"/>
            <a:ext cx="41678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配置</a:t>
            </a:r>
          </a:p>
        </p:txBody>
      </p:sp>
      <p:sp>
        <p:nvSpPr>
          <p:cNvPr id="982" name="object-209: SPM way / cache">
            <a:extLst>
              <a:ext uri="{FF2B5EF4-FFF2-40B4-BE49-F238E27FC236}">
                <a16:creationId xmlns:a16="http://schemas.microsoft.com/office/drawing/2014/main" id="{0236DEC4-5022-405F-82F3-A2E336CD7A4E}"/>
              </a:ext>
            </a:extLst>
          </p:cNvPr>
          <p:cNvSpPr txBox="1"/>
          <p:nvPr/>
        </p:nvSpPr>
        <p:spPr>
          <a:xfrm>
            <a:off x="5685560" y="4877935"/>
            <a:ext cx="727763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SPM way / cache</a:t>
            </a:r>
          </a:p>
        </p:txBody>
      </p:sp>
      <p:cxnSp>
        <p:nvCxnSpPr>
          <p:cNvPr id="983" name="reg-drop-llc-regs">
            <a:extLst>
              <a:ext uri="{FF2B5EF4-FFF2-40B4-BE49-F238E27FC236}">
                <a16:creationId xmlns:a16="http://schemas.microsoft.com/office/drawing/2014/main" id="{71B9A931-7C71-4E1E-AD9B-A851CC840434}"/>
              </a:ext>
            </a:extLst>
          </p:cNvPr>
          <p:cNvCxnSpPr/>
          <p:nvPr/>
        </p:nvCxnSpPr>
        <p:spPr>
          <a:xfrm>
            <a:off x="543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4" name="uart">
            <a:extLst>
              <a:ext uri="{FF2B5EF4-FFF2-40B4-BE49-F238E27FC236}">
                <a16:creationId xmlns:a16="http://schemas.microsoft.com/office/drawing/2014/main" id="{0A05E195-E453-4C72-BA7E-7E289A33C4AF}"/>
              </a:ext>
            </a:extLst>
          </p:cNvPr>
          <p:cNvSpPr/>
          <p:nvPr/>
        </p:nvSpPr>
        <p:spPr>
          <a:xfrm>
            <a:off x="42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5" name="object-212: UART">
            <a:extLst>
              <a:ext uri="{FF2B5EF4-FFF2-40B4-BE49-F238E27FC236}">
                <a16:creationId xmlns:a16="http://schemas.microsoft.com/office/drawing/2014/main" id="{4D68796E-FF0C-4421-A3E2-C7DE0A86CBD3}"/>
              </a:ext>
            </a:extLst>
          </p:cNvPr>
          <p:cNvSpPr txBox="1"/>
          <p:nvPr/>
        </p:nvSpPr>
        <p:spPr>
          <a:xfrm>
            <a:off x="822764" y="5076936"/>
            <a:ext cx="29335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UART</a:t>
            </a:r>
          </a:p>
        </p:txBody>
      </p:sp>
      <p:sp>
        <p:nvSpPr>
          <p:cNvPr id="986" name="object-213: 串口控制">
            <a:extLst>
              <a:ext uri="{FF2B5EF4-FFF2-40B4-BE49-F238E27FC236}">
                <a16:creationId xmlns:a16="http://schemas.microsoft.com/office/drawing/2014/main" id="{33011D98-A822-4F03-A232-88E13A6EDB3A}"/>
              </a:ext>
            </a:extLst>
          </p:cNvPr>
          <p:cNvSpPr txBox="1"/>
          <p:nvPr/>
        </p:nvSpPr>
        <p:spPr>
          <a:xfrm>
            <a:off x="789903" y="5189509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串口控制</a:t>
            </a:r>
          </a:p>
        </p:txBody>
      </p:sp>
      <p:cxnSp>
        <p:nvCxnSpPr>
          <p:cNvPr id="987" name="reg-drop-uart">
            <a:extLst>
              <a:ext uri="{FF2B5EF4-FFF2-40B4-BE49-F238E27FC236}">
                <a16:creationId xmlns:a16="http://schemas.microsoft.com/office/drawing/2014/main" id="{24F9AE8A-0E0F-426D-8FA4-A44E23A7D268}"/>
              </a:ext>
            </a:extLst>
          </p:cNvPr>
          <p:cNvCxnSpPr/>
          <p:nvPr/>
        </p:nvCxnSpPr>
        <p:spPr>
          <a:xfrm>
            <a:off x="35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8" name="i2c">
            <a:extLst>
              <a:ext uri="{FF2B5EF4-FFF2-40B4-BE49-F238E27FC236}">
                <a16:creationId xmlns:a16="http://schemas.microsoft.com/office/drawing/2014/main" id="{26231ED5-CB1A-46EF-AEDD-CA9FB1C47A96}"/>
              </a:ext>
            </a:extLst>
          </p:cNvPr>
          <p:cNvSpPr/>
          <p:nvPr/>
        </p:nvSpPr>
        <p:spPr>
          <a:xfrm>
            <a:off x="169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9" name="object-216: I2C">
            <a:extLst>
              <a:ext uri="{FF2B5EF4-FFF2-40B4-BE49-F238E27FC236}">
                <a16:creationId xmlns:a16="http://schemas.microsoft.com/office/drawing/2014/main" id="{E5E59EA7-1B0D-4983-9A36-ED3811BA94D7}"/>
              </a:ext>
            </a:extLst>
          </p:cNvPr>
          <p:cNvSpPr txBox="1"/>
          <p:nvPr/>
        </p:nvSpPr>
        <p:spPr>
          <a:xfrm>
            <a:off x="2156885" y="5076936"/>
            <a:ext cx="1651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I2C</a:t>
            </a:r>
          </a:p>
        </p:txBody>
      </p:sp>
      <p:sp>
        <p:nvSpPr>
          <p:cNvPr id="990" name="object-217: 两线串行控制">
            <a:extLst>
              <a:ext uri="{FF2B5EF4-FFF2-40B4-BE49-F238E27FC236}">
                <a16:creationId xmlns:a16="http://schemas.microsoft.com/office/drawing/2014/main" id="{9DF1137C-ED31-4D8F-BA9A-AC0ED9C7B763}"/>
              </a:ext>
            </a:extLst>
          </p:cNvPr>
          <p:cNvSpPr txBox="1"/>
          <p:nvPr/>
        </p:nvSpPr>
        <p:spPr>
          <a:xfrm>
            <a:off x="1970135" y="5189509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两线串行控制</a:t>
            </a:r>
          </a:p>
        </p:txBody>
      </p:sp>
      <p:cxnSp>
        <p:nvCxnSpPr>
          <p:cNvPr id="991" name="reg-drop-i2c">
            <a:extLst>
              <a:ext uri="{FF2B5EF4-FFF2-40B4-BE49-F238E27FC236}">
                <a16:creationId xmlns:a16="http://schemas.microsoft.com/office/drawing/2014/main" id="{33C02DF2-E598-4A66-A905-FC66F701D132}"/>
              </a:ext>
            </a:extLst>
          </p:cNvPr>
          <p:cNvCxnSpPr/>
          <p:nvPr/>
        </p:nvCxnSpPr>
        <p:spPr>
          <a:xfrm>
            <a:off x="162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92" name="spi">
            <a:extLst>
              <a:ext uri="{FF2B5EF4-FFF2-40B4-BE49-F238E27FC236}">
                <a16:creationId xmlns:a16="http://schemas.microsoft.com/office/drawing/2014/main" id="{EBB02BB1-9466-4CCA-95CE-5B74B323BACF}"/>
              </a:ext>
            </a:extLst>
          </p:cNvPr>
          <p:cNvSpPr/>
          <p:nvPr/>
        </p:nvSpPr>
        <p:spPr>
          <a:xfrm>
            <a:off x="296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93" name="object-220: SPI host">
            <a:extLst>
              <a:ext uri="{FF2B5EF4-FFF2-40B4-BE49-F238E27FC236}">
                <a16:creationId xmlns:a16="http://schemas.microsoft.com/office/drawing/2014/main" id="{BFDFD177-B88E-40DB-BBDB-EAB543912B78}"/>
              </a:ext>
            </a:extLst>
          </p:cNvPr>
          <p:cNvSpPr txBox="1"/>
          <p:nvPr/>
        </p:nvSpPr>
        <p:spPr>
          <a:xfrm>
            <a:off x="3298645" y="5076936"/>
            <a:ext cx="42159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SPI host</a:t>
            </a:r>
          </a:p>
        </p:txBody>
      </p:sp>
      <p:sp>
        <p:nvSpPr>
          <p:cNvPr id="994" name="object-221: Flash / SD">
            <a:extLst>
              <a:ext uri="{FF2B5EF4-FFF2-40B4-BE49-F238E27FC236}">
                <a16:creationId xmlns:a16="http://schemas.microsoft.com/office/drawing/2014/main" id="{BE7CD425-6584-4BCA-B607-28CF337E748B}"/>
              </a:ext>
            </a:extLst>
          </p:cNvPr>
          <p:cNvSpPr txBox="1"/>
          <p:nvPr/>
        </p:nvSpPr>
        <p:spPr>
          <a:xfrm>
            <a:off x="3293836" y="5189509"/>
            <a:ext cx="43120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Flash / SD</a:t>
            </a:r>
          </a:p>
        </p:txBody>
      </p:sp>
      <p:cxnSp>
        <p:nvCxnSpPr>
          <p:cNvPr id="995" name="reg-drop-spi">
            <a:extLst>
              <a:ext uri="{FF2B5EF4-FFF2-40B4-BE49-F238E27FC236}">
                <a16:creationId xmlns:a16="http://schemas.microsoft.com/office/drawing/2014/main" id="{75EE2A7B-F85C-44CC-9316-C28C19486904}"/>
              </a:ext>
            </a:extLst>
          </p:cNvPr>
          <p:cNvCxnSpPr/>
          <p:nvPr/>
        </p:nvCxnSpPr>
        <p:spPr>
          <a:xfrm>
            <a:off x="289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96" name="gpio">
            <a:extLst>
              <a:ext uri="{FF2B5EF4-FFF2-40B4-BE49-F238E27FC236}">
                <a16:creationId xmlns:a16="http://schemas.microsoft.com/office/drawing/2014/main" id="{531F9969-2BDC-4235-9B95-14073DC47407}"/>
              </a:ext>
            </a:extLst>
          </p:cNvPr>
          <p:cNvSpPr/>
          <p:nvPr/>
        </p:nvSpPr>
        <p:spPr>
          <a:xfrm>
            <a:off x="423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97" name="object-224: GPIO">
            <a:extLst>
              <a:ext uri="{FF2B5EF4-FFF2-40B4-BE49-F238E27FC236}">
                <a16:creationId xmlns:a16="http://schemas.microsoft.com/office/drawing/2014/main" id="{A0A68E56-1DB7-4B3B-844E-212BBEF85F06}"/>
              </a:ext>
            </a:extLst>
          </p:cNvPr>
          <p:cNvSpPr txBox="1"/>
          <p:nvPr/>
        </p:nvSpPr>
        <p:spPr>
          <a:xfrm>
            <a:off x="4647994" y="5076936"/>
            <a:ext cx="26289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GPIO</a:t>
            </a:r>
          </a:p>
        </p:txBody>
      </p:sp>
      <p:sp>
        <p:nvSpPr>
          <p:cNvPr id="998" name="object-225: 通用 IO">
            <a:extLst>
              <a:ext uri="{FF2B5EF4-FFF2-40B4-BE49-F238E27FC236}">
                <a16:creationId xmlns:a16="http://schemas.microsoft.com/office/drawing/2014/main" id="{BE3767B7-0672-4715-B191-0FE0F0537E4A}"/>
              </a:ext>
            </a:extLst>
          </p:cNvPr>
          <p:cNvSpPr txBox="1"/>
          <p:nvPr/>
        </p:nvSpPr>
        <p:spPr>
          <a:xfrm>
            <a:off x="4626353" y="5189509"/>
            <a:ext cx="3061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通用 IO</a:t>
            </a:r>
          </a:p>
        </p:txBody>
      </p:sp>
      <p:cxnSp>
        <p:nvCxnSpPr>
          <p:cNvPr id="999" name="reg-drop-gpio">
            <a:extLst>
              <a:ext uri="{FF2B5EF4-FFF2-40B4-BE49-F238E27FC236}">
                <a16:creationId xmlns:a16="http://schemas.microsoft.com/office/drawing/2014/main" id="{1E158469-D44F-46B6-9D3B-74C87819F220}"/>
              </a:ext>
            </a:extLst>
          </p:cNvPr>
          <p:cNvCxnSpPr/>
          <p:nvPr/>
        </p:nvCxnSpPr>
        <p:spPr>
          <a:xfrm>
            <a:off x="416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0" name="slink-regs">
            <a:extLst>
              <a:ext uri="{FF2B5EF4-FFF2-40B4-BE49-F238E27FC236}">
                <a16:creationId xmlns:a16="http://schemas.microsoft.com/office/drawing/2014/main" id="{CDD8355B-8F00-4633-BA55-AE916B8B014D}"/>
              </a:ext>
            </a:extLst>
          </p:cNvPr>
          <p:cNvSpPr/>
          <p:nvPr/>
        </p:nvSpPr>
        <p:spPr>
          <a:xfrm>
            <a:off x="550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1" name="object-228: Serial Link 配置">
            <a:extLst>
              <a:ext uri="{FF2B5EF4-FFF2-40B4-BE49-F238E27FC236}">
                <a16:creationId xmlns:a16="http://schemas.microsoft.com/office/drawing/2014/main" id="{3C4C3E06-856F-47E2-AD83-76F63FD1CD68}"/>
              </a:ext>
            </a:extLst>
          </p:cNvPr>
          <p:cNvSpPr txBox="1"/>
          <p:nvPr/>
        </p:nvSpPr>
        <p:spPr>
          <a:xfrm>
            <a:off x="5667124" y="5076936"/>
            <a:ext cx="76463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配置</a:t>
            </a:r>
          </a:p>
        </p:txBody>
      </p:sp>
      <p:sp>
        <p:nvSpPr>
          <p:cNvPr id="1002" name="object-229: 链路控制">
            <a:extLst>
              <a:ext uri="{FF2B5EF4-FFF2-40B4-BE49-F238E27FC236}">
                <a16:creationId xmlns:a16="http://schemas.microsoft.com/office/drawing/2014/main" id="{54185CD1-FF3C-49DC-AC94-EDB4EF44AD3B}"/>
              </a:ext>
            </a:extLst>
          </p:cNvPr>
          <p:cNvSpPr txBox="1"/>
          <p:nvPr/>
        </p:nvSpPr>
        <p:spPr>
          <a:xfrm>
            <a:off x="5869903" y="5189509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链路控制</a:t>
            </a:r>
          </a:p>
        </p:txBody>
      </p:sp>
      <p:cxnSp>
        <p:nvCxnSpPr>
          <p:cNvPr id="1003" name="reg-drop-slink-regs">
            <a:extLst>
              <a:ext uri="{FF2B5EF4-FFF2-40B4-BE49-F238E27FC236}">
                <a16:creationId xmlns:a16="http://schemas.microsoft.com/office/drawing/2014/main" id="{F422A35D-92F3-45F9-A239-44FEDE569549}"/>
              </a:ext>
            </a:extLst>
          </p:cNvPr>
          <p:cNvCxnSpPr/>
          <p:nvPr/>
        </p:nvCxnSpPr>
        <p:spPr>
          <a:xfrm>
            <a:off x="543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4" name="vga-regs">
            <a:extLst>
              <a:ext uri="{FF2B5EF4-FFF2-40B4-BE49-F238E27FC236}">
                <a16:creationId xmlns:a16="http://schemas.microsoft.com/office/drawing/2014/main" id="{8EBF7778-79EB-434E-B3BD-C6A1DC6BE90A}"/>
              </a:ext>
            </a:extLst>
          </p:cNvPr>
          <p:cNvSpPr/>
          <p:nvPr/>
        </p:nvSpPr>
        <p:spPr>
          <a:xfrm>
            <a:off x="42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5" name="object-232: VGA 配置">
            <a:extLst>
              <a:ext uri="{FF2B5EF4-FFF2-40B4-BE49-F238E27FC236}">
                <a16:creationId xmlns:a16="http://schemas.microsoft.com/office/drawing/2014/main" id="{62ADDD3C-BE0D-4B59-A909-CF18BA4E758E}"/>
              </a:ext>
            </a:extLst>
          </p:cNvPr>
          <p:cNvSpPr txBox="1"/>
          <p:nvPr/>
        </p:nvSpPr>
        <p:spPr>
          <a:xfrm>
            <a:off x="737003" y="5388509"/>
            <a:ext cx="46487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 配置</a:t>
            </a:r>
          </a:p>
        </p:txBody>
      </p:sp>
      <p:sp>
        <p:nvSpPr>
          <p:cNvPr id="1006" name="object-233: 时序 / 帧地址">
            <a:extLst>
              <a:ext uri="{FF2B5EF4-FFF2-40B4-BE49-F238E27FC236}">
                <a16:creationId xmlns:a16="http://schemas.microsoft.com/office/drawing/2014/main" id="{7A3C3F56-B602-418F-BAE9-8C9940A76380}"/>
              </a:ext>
            </a:extLst>
          </p:cNvPr>
          <p:cNvSpPr txBox="1"/>
          <p:nvPr/>
        </p:nvSpPr>
        <p:spPr>
          <a:xfrm>
            <a:off x="698533" y="5501082"/>
            <a:ext cx="54181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时序 / 帧地址</a:t>
            </a:r>
          </a:p>
        </p:txBody>
      </p:sp>
      <p:cxnSp>
        <p:nvCxnSpPr>
          <p:cNvPr id="1007" name="reg-drop-vga-regs">
            <a:extLst>
              <a:ext uri="{FF2B5EF4-FFF2-40B4-BE49-F238E27FC236}">
                <a16:creationId xmlns:a16="http://schemas.microsoft.com/office/drawing/2014/main" id="{284FB17E-CC08-430C-A272-1318860E022A}"/>
              </a:ext>
            </a:extLst>
          </p:cNvPr>
          <p:cNvCxnSpPr/>
          <p:nvPr/>
        </p:nvCxnSpPr>
        <p:spPr>
          <a:xfrm>
            <a:off x="35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8" name="usb-regs">
            <a:extLst>
              <a:ext uri="{FF2B5EF4-FFF2-40B4-BE49-F238E27FC236}">
                <a16:creationId xmlns:a16="http://schemas.microsoft.com/office/drawing/2014/main" id="{0B8EBE65-C149-4BCC-BFC6-D1328A87BF30}"/>
              </a:ext>
            </a:extLst>
          </p:cNvPr>
          <p:cNvSpPr/>
          <p:nvPr/>
        </p:nvSpPr>
        <p:spPr>
          <a:xfrm>
            <a:off x="169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9" name="object-236: USB 配置">
            <a:extLst>
              <a:ext uri="{FF2B5EF4-FFF2-40B4-BE49-F238E27FC236}">
                <a16:creationId xmlns:a16="http://schemas.microsoft.com/office/drawing/2014/main" id="{B1B269C9-EB8E-41F4-AA9C-809BAA64C159}"/>
              </a:ext>
            </a:extLst>
          </p:cNvPr>
          <p:cNvSpPr txBox="1"/>
          <p:nvPr/>
        </p:nvSpPr>
        <p:spPr>
          <a:xfrm>
            <a:off x="2015019" y="5388509"/>
            <a:ext cx="44884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配置</a:t>
            </a:r>
          </a:p>
        </p:txBody>
      </p:sp>
      <p:sp>
        <p:nvSpPr>
          <p:cNvPr id="1010" name="object-237: OHCI 寄存器">
            <a:extLst>
              <a:ext uri="{FF2B5EF4-FFF2-40B4-BE49-F238E27FC236}">
                <a16:creationId xmlns:a16="http://schemas.microsoft.com/office/drawing/2014/main" id="{38A2F12A-0BFD-48FA-9E3B-E676E3E7BCCF}"/>
              </a:ext>
            </a:extLst>
          </p:cNvPr>
          <p:cNvSpPr txBox="1"/>
          <p:nvPr/>
        </p:nvSpPr>
        <p:spPr>
          <a:xfrm>
            <a:off x="1977349" y="5501082"/>
            <a:ext cx="52418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OHCI 寄存器</a:t>
            </a:r>
          </a:p>
        </p:txBody>
      </p:sp>
      <p:cxnSp>
        <p:nvCxnSpPr>
          <p:cNvPr id="1011" name="reg-drop-usb-regs">
            <a:extLst>
              <a:ext uri="{FF2B5EF4-FFF2-40B4-BE49-F238E27FC236}">
                <a16:creationId xmlns:a16="http://schemas.microsoft.com/office/drawing/2014/main" id="{199126BC-EE78-4602-8075-36C775B6FB4C}"/>
              </a:ext>
            </a:extLst>
          </p:cNvPr>
          <p:cNvCxnSpPr/>
          <p:nvPr/>
        </p:nvCxnSpPr>
        <p:spPr>
          <a:xfrm>
            <a:off x="162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12" name="err-vga">
            <a:extLst>
              <a:ext uri="{FF2B5EF4-FFF2-40B4-BE49-F238E27FC236}">
                <a16:creationId xmlns:a16="http://schemas.microsoft.com/office/drawing/2014/main" id="{4971F93E-DE8F-4E5B-B7DF-E146A61F4308}"/>
              </a:ext>
            </a:extLst>
          </p:cNvPr>
          <p:cNvSpPr/>
          <p:nvPr/>
        </p:nvSpPr>
        <p:spPr>
          <a:xfrm>
            <a:off x="296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13" name="object-240: Bus-error · VGA">
            <a:extLst>
              <a:ext uri="{FF2B5EF4-FFF2-40B4-BE49-F238E27FC236}">
                <a16:creationId xmlns:a16="http://schemas.microsoft.com/office/drawing/2014/main" id="{EEA3CDCE-84C0-4DFF-AAE2-9F4939D6617F}"/>
              </a:ext>
            </a:extLst>
          </p:cNvPr>
          <p:cNvSpPr txBox="1"/>
          <p:nvPr/>
        </p:nvSpPr>
        <p:spPr>
          <a:xfrm>
            <a:off x="3097468" y="5388509"/>
            <a:ext cx="82394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VGA</a:t>
            </a:r>
          </a:p>
        </p:txBody>
      </p:sp>
      <p:sp>
        <p:nvSpPr>
          <p:cNvPr id="1014" name="object-241: 错误记录">
            <a:extLst>
              <a:ext uri="{FF2B5EF4-FFF2-40B4-BE49-F238E27FC236}">
                <a16:creationId xmlns:a16="http://schemas.microsoft.com/office/drawing/2014/main" id="{2039AC29-21CE-44B6-B608-D5F3229760D9}"/>
              </a:ext>
            </a:extLst>
          </p:cNvPr>
          <p:cNvSpPr txBox="1"/>
          <p:nvPr/>
        </p:nvSpPr>
        <p:spPr>
          <a:xfrm>
            <a:off x="3329903" y="5501082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cxnSp>
        <p:nvCxnSpPr>
          <p:cNvPr id="1015" name="reg-drop-err-vga">
            <a:extLst>
              <a:ext uri="{FF2B5EF4-FFF2-40B4-BE49-F238E27FC236}">
                <a16:creationId xmlns:a16="http://schemas.microsoft.com/office/drawing/2014/main" id="{B8FCE69F-48A7-40A4-8BC8-A7382A1D3A87}"/>
              </a:ext>
            </a:extLst>
          </p:cNvPr>
          <p:cNvCxnSpPr/>
          <p:nvPr/>
        </p:nvCxnSpPr>
        <p:spPr>
          <a:xfrm>
            <a:off x="289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16" name="err-dma">
            <a:extLst>
              <a:ext uri="{FF2B5EF4-FFF2-40B4-BE49-F238E27FC236}">
                <a16:creationId xmlns:a16="http://schemas.microsoft.com/office/drawing/2014/main" id="{43E3549C-BCEC-4288-9009-5ABCA5983F94}"/>
              </a:ext>
            </a:extLst>
          </p:cNvPr>
          <p:cNvSpPr/>
          <p:nvPr/>
        </p:nvSpPr>
        <p:spPr>
          <a:xfrm>
            <a:off x="423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17" name="object-244: Bus-error · iDMA">
            <a:extLst>
              <a:ext uri="{FF2B5EF4-FFF2-40B4-BE49-F238E27FC236}">
                <a16:creationId xmlns:a16="http://schemas.microsoft.com/office/drawing/2014/main" id="{D9335C45-2A62-4A03-8717-F5B43F6397F3}"/>
              </a:ext>
            </a:extLst>
          </p:cNvPr>
          <p:cNvSpPr txBox="1"/>
          <p:nvPr/>
        </p:nvSpPr>
        <p:spPr>
          <a:xfrm>
            <a:off x="4334607" y="5388509"/>
            <a:ext cx="8896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iDMA</a:t>
            </a:r>
          </a:p>
        </p:txBody>
      </p:sp>
      <p:sp>
        <p:nvSpPr>
          <p:cNvPr id="1018" name="object-245: 错误记录">
            <a:extLst>
              <a:ext uri="{FF2B5EF4-FFF2-40B4-BE49-F238E27FC236}">
                <a16:creationId xmlns:a16="http://schemas.microsoft.com/office/drawing/2014/main" id="{F9D2C7A3-5309-4D7C-BD5F-13E2C5CFCC48}"/>
              </a:ext>
            </a:extLst>
          </p:cNvPr>
          <p:cNvSpPr txBox="1"/>
          <p:nvPr/>
        </p:nvSpPr>
        <p:spPr>
          <a:xfrm>
            <a:off x="4599903" y="5501082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cxnSp>
        <p:nvCxnSpPr>
          <p:cNvPr id="1019" name="reg-drop-err-dma">
            <a:extLst>
              <a:ext uri="{FF2B5EF4-FFF2-40B4-BE49-F238E27FC236}">
                <a16:creationId xmlns:a16="http://schemas.microsoft.com/office/drawing/2014/main" id="{79CD45D7-22E3-4E2D-A607-0848D0205CF7}"/>
              </a:ext>
            </a:extLst>
          </p:cNvPr>
          <p:cNvCxnSpPr/>
          <p:nvPr/>
        </p:nvCxnSpPr>
        <p:spPr>
          <a:xfrm>
            <a:off x="416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0" name="err-cpu">
            <a:extLst>
              <a:ext uri="{FF2B5EF4-FFF2-40B4-BE49-F238E27FC236}">
                <a16:creationId xmlns:a16="http://schemas.microsoft.com/office/drawing/2014/main" id="{F7273D17-4ADC-488E-B342-FF60E155EE7E}"/>
              </a:ext>
            </a:extLst>
          </p:cNvPr>
          <p:cNvSpPr/>
          <p:nvPr/>
        </p:nvSpPr>
        <p:spPr>
          <a:xfrm>
            <a:off x="550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1" name="object-248: Bus-error · CPU">
            <a:extLst>
              <a:ext uri="{FF2B5EF4-FFF2-40B4-BE49-F238E27FC236}">
                <a16:creationId xmlns:a16="http://schemas.microsoft.com/office/drawing/2014/main" id="{0174A861-FE55-4751-9DF1-CF02FEFC740E}"/>
              </a:ext>
            </a:extLst>
          </p:cNvPr>
          <p:cNvSpPr txBox="1"/>
          <p:nvPr/>
        </p:nvSpPr>
        <p:spPr>
          <a:xfrm>
            <a:off x="5643880" y="5388509"/>
            <a:ext cx="81111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CPU</a:t>
            </a:r>
          </a:p>
        </p:txBody>
      </p:sp>
      <p:sp>
        <p:nvSpPr>
          <p:cNvPr id="1022" name="object-249: 每核错误记录">
            <a:extLst>
              <a:ext uri="{FF2B5EF4-FFF2-40B4-BE49-F238E27FC236}">
                <a16:creationId xmlns:a16="http://schemas.microsoft.com/office/drawing/2014/main" id="{958C0EE9-8E64-4C3C-8F0D-760AF4E39717}"/>
              </a:ext>
            </a:extLst>
          </p:cNvPr>
          <p:cNvSpPr txBox="1"/>
          <p:nvPr/>
        </p:nvSpPr>
        <p:spPr>
          <a:xfrm>
            <a:off x="5780135" y="5501082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每核错误记录</a:t>
            </a:r>
          </a:p>
        </p:txBody>
      </p:sp>
      <p:cxnSp>
        <p:nvCxnSpPr>
          <p:cNvPr id="1023" name="reg-drop-err-cpu">
            <a:extLst>
              <a:ext uri="{FF2B5EF4-FFF2-40B4-BE49-F238E27FC236}">
                <a16:creationId xmlns:a16="http://schemas.microsoft.com/office/drawing/2014/main" id="{20C8931B-3EF2-45DE-9315-D08D71B4C2B7}"/>
              </a:ext>
            </a:extLst>
          </p:cNvPr>
          <p:cNvCxnSpPr/>
          <p:nvPr/>
        </p:nvCxnSpPr>
        <p:spPr>
          <a:xfrm>
            <a:off x="543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4" name="irq-router">
            <a:extLst>
              <a:ext uri="{FF2B5EF4-FFF2-40B4-BE49-F238E27FC236}">
                <a16:creationId xmlns:a16="http://schemas.microsoft.com/office/drawing/2014/main" id="{13797B51-9EEA-40B5-9B99-22B72980494E}"/>
              </a:ext>
            </a:extLst>
          </p:cNvPr>
          <p:cNvSpPr/>
          <p:nvPr/>
        </p:nvSpPr>
        <p:spPr>
          <a:xfrm>
            <a:off x="42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5" name="object-252: IRQ router">
            <a:extLst>
              <a:ext uri="{FF2B5EF4-FFF2-40B4-BE49-F238E27FC236}">
                <a16:creationId xmlns:a16="http://schemas.microsoft.com/office/drawing/2014/main" id="{B34D039D-8DF6-4EED-B0DC-08DD07C36A3C}"/>
              </a:ext>
            </a:extLst>
          </p:cNvPr>
          <p:cNvSpPr txBox="1"/>
          <p:nvPr/>
        </p:nvSpPr>
        <p:spPr>
          <a:xfrm>
            <a:off x="698532" y="5700082"/>
            <a:ext cx="54181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IRQ router</a:t>
            </a:r>
          </a:p>
        </p:txBody>
      </p:sp>
      <p:sp>
        <p:nvSpPr>
          <p:cNvPr id="1026" name="object-253: 可选中断路由">
            <a:extLst>
              <a:ext uri="{FF2B5EF4-FFF2-40B4-BE49-F238E27FC236}">
                <a16:creationId xmlns:a16="http://schemas.microsoft.com/office/drawing/2014/main" id="{6B0677D4-70F1-43E5-A7BB-4E174ACC48F1}"/>
              </a:ext>
            </a:extLst>
          </p:cNvPr>
          <p:cNvSpPr txBox="1"/>
          <p:nvPr/>
        </p:nvSpPr>
        <p:spPr>
          <a:xfrm>
            <a:off x="700135" y="581265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可选中断路由</a:t>
            </a:r>
          </a:p>
        </p:txBody>
      </p:sp>
      <p:cxnSp>
        <p:nvCxnSpPr>
          <p:cNvPr id="1027" name="reg-drop-irq-router">
            <a:extLst>
              <a:ext uri="{FF2B5EF4-FFF2-40B4-BE49-F238E27FC236}">
                <a16:creationId xmlns:a16="http://schemas.microsoft.com/office/drawing/2014/main" id="{6D2B767A-C641-413C-98C9-B4F951EC1933}"/>
              </a:ext>
            </a:extLst>
          </p:cNvPr>
          <p:cNvCxnSpPr/>
          <p:nvPr/>
        </p:nvCxnSpPr>
        <p:spPr>
          <a:xfrm>
            <a:off x="35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8" name="axi-rt-config">
            <a:extLst>
              <a:ext uri="{FF2B5EF4-FFF2-40B4-BE49-F238E27FC236}">
                <a16:creationId xmlns:a16="http://schemas.microsoft.com/office/drawing/2014/main" id="{23BA068B-65A2-43EC-9FE6-5A73B4991D62}"/>
              </a:ext>
            </a:extLst>
          </p:cNvPr>
          <p:cNvSpPr/>
          <p:nvPr/>
        </p:nvSpPr>
        <p:spPr>
          <a:xfrm>
            <a:off x="169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9" name="object-256: AXI RT 配置">
            <a:extLst>
              <a:ext uri="{FF2B5EF4-FFF2-40B4-BE49-F238E27FC236}">
                <a16:creationId xmlns:a16="http://schemas.microsoft.com/office/drawing/2014/main" id="{75223ABC-7E74-4916-9B7F-FB5526BAB035}"/>
              </a:ext>
            </a:extLst>
          </p:cNvPr>
          <p:cNvSpPr txBox="1"/>
          <p:nvPr/>
        </p:nvSpPr>
        <p:spPr>
          <a:xfrm>
            <a:off x="1946892" y="5700082"/>
            <a:ext cx="58509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RT 配置</a:t>
            </a:r>
          </a:p>
        </p:txBody>
      </p:sp>
      <p:sp>
        <p:nvSpPr>
          <p:cNvPr id="1030" name="object-257: 可选流量调节">
            <a:extLst>
              <a:ext uri="{FF2B5EF4-FFF2-40B4-BE49-F238E27FC236}">
                <a16:creationId xmlns:a16="http://schemas.microsoft.com/office/drawing/2014/main" id="{45B6F20A-09B8-4750-9BE3-43227AC3557B}"/>
              </a:ext>
            </a:extLst>
          </p:cNvPr>
          <p:cNvSpPr txBox="1"/>
          <p:nvPr/>
        </p:nvSpPr>
        <p:spPr>
          <a:xfrm>
            <a:off x="1970135" y="581265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可选流量调节</a:t>
            </a:r>
          </a:p>
        </p:txBody>
      </p:sp>
      <p:cxnSp>
        <p:nvCxnSpPr>
          <p:cNvPr id="1031" name="reg-drop-axi-rt-config">
            <a:extLst>
              <a:ext uri="{FF2B5EF4-FFF2-40B4-BE49-F238E27FC236}">
                <a16:creationId xmlns:a16="http://schemas.microsoft.com/office/drawing/2014/main" id="{4E280EBF-535F-4CFE-88E7-3B0E4A9BCA5E}"/>
              </a:ext>
            </a:extLst>
          </p:cNvPr>
          <p:cNvCxnSpPr/>
          <p:nvPr/>
        </p:nvCxnSpPr>
        <p:spPr>
          <a:xfrm>
            <a:off x="162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32" name="clic">
            <a:extLst>
              <a:ext uri="{FF2B5EF4-FFF2-40B4-BE49-F238E27FC236}">
                <a16:creationId xmlns:a16="http://schemas.microsoft.com/office/drawing/2014/main" id="{024727BA-5D26-4568-8F2F-DF105739600A}"/>
              </a:ext>
            </a:extLst>
          </p:cNvPr>
          <p:cNvSpPr/>
          <p:nvPr/>
        </p:nvSpPr>
        <p:spPr>
          <a:xfrm>
            <a:off x="296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33" name="object-260: CLIC">
            <a:extLst>
              <a:ext uri="{FF2B5EF4-FFF2-40B4-BE49-F238E27FC236}">
                <a16:creationId xmlns:a16="http://schemas.microsoft.com/office/drawing/2014/main" id="{9A26F5E1-1647-427C-99C4-FA38AAA5220C}"/>
              </a:ext>
            </a:extLst>
          </p:cNvPr>
          <p:cNvSpPr txBox="1"/>
          <p:nvPr/>
        </p:nvSpPr>
        <p:spPr>
          <a:xfrm>
            <a:off x="3395627" y="5700082"/>
            <a:ext cx="22762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CLIC</a:t>
            </a:r>
          </a:p>
        </p:txBody>
      </p:sp>
      <p:sp>
        <p:nvSpPr>
          <p:cNvPr id="1034" name="object-261: 可选每核中断控制">
            <a:extLst>
              <a:ext uri="{FF2B5EF4-FFF2-40B4-BE49-F238E27FC236}">
                <a16:creationId xmlns:a16="http://schemas.microsoft.com/office/drawing/2014/main" id="{9D7BB867-486B-4DA1-B8CC-E35945C7C943}"/>
              </a:ext>
            </a:extLst>
          </p:cNvPr>
          <p:cNvSpPr txBox="1"/>
          <p:nvPr/>
        </p:nvSpPr>
        <p:spPr>
          <a:xfrm>
            <a:off x="3150368" y="5812655"/>
            <a:ext cx="71814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可选每核中断控制</a:t>
            </a:r>
          </a:p>
        </p:txBody>
      </p:sp>
      <p:cxnSp>
        <p:nvCxnSpPr>
          <p:cNvPr id="1035" name="reg-drop-clic">
            <a:extLst>
              <a:ext uri="{FF2B5EF4-FFF2-40B4-BE49-F238E27FC236}">
                <a16:creationId xmlns:a16="http://schemas.microsoft.com/office/drawing/2014/main" id="{1486CE0E-1CBD-49A6-AFA7-ABCFBCAD09BC}"/>
              </a:ext>
            </a:extLst>
          </p:cNvPr>
          <p:cNvCxnSpPr/>
          <p:nvPr/>
        </p:nvCxnSpPr>
        <p:spPr>
          <a:xfrm>
            <a:off x="289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36" name="reg-error">
            <a:extLst>
              <a:ext uri="{FF2B5EF4-FFF2-40B4-BE49-F238E27FC236}">
                <a16:creationId xmlns:a16="http://schemas.microsoft.com/office/drawing/2014/main" id="{ED53C377-7C3F-4110-80FF-EFDD6D02CF81}"/>
              </a:ext>
            </a:extLst>
          </p:cNvPr>
          <p:cNvSpPr/>
          <p:nvPr/>
        </p:nvSpPr>
        <p:spPr>
          <a:xfrm>
            <a:off x="423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37" name="object-264: reg_err_slv">
            <a:extLst>
              <a:ext uri="{FF2B5EF4-FFF2-40B4-BE49-F238E27FC236}">
                <a16:creationId xmlns:a16="http://schemas.microsoft.com/office/drawing/2014/main" id="{CDCDB789-0FB9-4F28-948E-9C4B450DCF9E}"/>
              </a:ext>
            </a:extLst>
          </p:cNvPr>
          <p:cNvSpPr txBox="1"/>
          <p:nvPr/>
        </p:nvSpPr>
        <p:spPr>
          <a:xfrm>
            <a:off x="4503723" y="5700082"/>
            <a:ext cx="5514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reg_err_slv</a:t>
            </a:r>
          </a:p>
        </p:txBody>
      </p:sp>
      <p:sp>
        <p:nvSpPr>
          <p:cNvPr id="1038" name="object-265: 未匹配地址">
            <a:extLst>
              <a:ext uri="{FF2B5EF4-FFF2-40B4-BE49-F238E27FC236}">
                <a16:creationId xmlns:a16="http://schemas.microsoft.com/office/drawing/2014/main" id="{03E49DD8-3869-4C9B-A29F-4BBCE7E13055}"/>
              </a:ext>
            </a:extLst>
          </p:cNvPr>
          <p:cNvSpPr txBox="1"/>
          <p:nvPr/>
        </p:nvSpPr>
        <p:spPr>
          <a:xfrm>
            <a:off x="4555019" y="5812655"/>
            <a:ext cx="44884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未匹配地址</a:t>
            </a:r>
          </a:p>
        </p:txBody>
      </p:sp>
      <p:cxnSp>
        <p:nvCxnSpPr>
          <p:cNvPr id="1039" name="reg-drop-reg-error">
            <a:extLst>
              <a:ext uri="{FF2B5EF4-FFF2-40B4-BE49-F238E27FC236}">
                <a16:creationId xmlns:a16="http://schemas.microsoft.com/office/drawing/2014/main" id="{7E71B93C-A324-41A2-AE26-DC1D42DB4C93}"/>
              </a:ext>
            </a:extLst>
          </p:cNvPr>
          <p:cNvCxnSpPr/>
          <p:nvPr/>
        </p:nvCxnSpPr>
        <p:spPr>
          <a:xfrm>
            <a:off x="416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40" name="reg-ext">
            <a:extLst>
              <a:ext uri="{FF2B5EF4-FFF2-40B4-BE49-F238E27FC236}">
                <a16:creationId xmlns:a16="http://schemas.microsoft.com/office/drawing/2014/main" id="{F3FFC9D0-EFBF-4B4C-9718-CDD3DAB52FED}"/>
              </a:ext>
            </a:extLst>
          </p:cNvPr>
          <p:cNvSpPr/>
          <p:nvPr/>
        </p:nvSpPr>
        <p:spPr>
          <a:xfrm>
            <a:off x="550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1" name="object-268: RegExt 扩展">
            <a:extLst>
              <a:ext uri="{FF2B5EF4-FFF2-40B4-BE49-F238E27FC236}">
                <a16:creationId xmlns:a16="http://schemas.microsoft.com/office/drawing/2014/main" id="{6A2DE6BF-83C4-46D2-911D-C24494A78B35}"/>
              </a:ext>
            </a:extLst>
          </p:cNvPr>
          <p:cNvSpPr txBox="1"/>
          <p:nvPr/>
        </p:nvSpPr>
        <p:spPr>
          <a:xfrm>
            <a:off x="5750480" y="5700082"/>
            <a:ext cx="59792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RegExt 扩展</a:t>
            </a:r>
          </a:p>
        </p:txBody>
      </p:sp>
      <p:sp>
        <p:nvSpPr>
          <p:cNvPr id="1042" name="object-269: 新增 IP 配置出口">
            <a:extLst>
              <a:ext uri="{FF2B5EF4-FFF2-40B4-BE49-F238E27FC236}">
                <a16:creationId xmlns:a16="http://schemas.microsoft.com/office/drawing/2014/main" id="{42D0E2BF-9B88-4214-A270-C0C43807DB3B}"/>
              </a:ext>
            </a:extLst>
          </p:cNvPr>
          <p:cNvSpPr txBox="1"/>
          <p:nvPr/>
        </p:nvSpPr>
        <p:spPr>
          <a:xfrm>
            <a:off x="5712809" y="5812655"/>
            <a:ext cx="67326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新增 IP 配置出口</a:t>
            </a:r>
          </a:p>
        </p:txBody>
      </p:sp>
      <p:cxnSp>
        <p:nvCxnSpPr>
          <p:cNvPr id="1043" name="reg-drop-reg-ext">
            <a:extLst>
              <a:ext uri="{FF2B5EF4-FFF2-40B4-BE49-F238E27FC236}">
                <a16:creationId xmlns:a16="http://schemas.microsoft.com/office/drawing/2014/main" id="{FCB356D9-4EA7-4651-851E-9D0E0E61EA3B}"/>
              </a:ext>
            </a:extLst>
          </p:cNvPr>
          <p:cNvCxnSpPr/>
          <p:nvPr/>
        </p:nvCxnSpPr>
        <p:spPr>
          <a:xfrm>
            <a:off x="543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44" name="ddr-controller">
            <a:extLst>
              <a:ext uri="{FF2B5EF4-FFF2-40B4-BE49-F238E27FC236}">
                <a16:creationId xmlns:a16="http://schemas.microsoft.com/office/drawing/2014/main" id="{F2CDF5A0-6C1B-4F5F-B14C-DA77524D63A3}"/>
              </a:ext>
            </a:extLst>
          </p:cNvPr>
          <p:cNvSpPr/>
          <p:nvPr/>
        </p:nvSpPr>
        <p:spPr>
          <a:xfrm>
            <a:off x="7065440" y="4582482"/>
            <a:ext cx="3285067" cy="12530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5" name="object-272: DDR Controller · 3 个 AXI slave">
            <a:extLst>
              <a:ext uri="{FF2B5EF4-FFF2-40B4-BE49-F238E27FC236}">
                <a16:creationId xmlns:a16="http://schemas.microsoft.com/office/drawing/2014/main" id="{2E607D15-407F-4CDC-9A28-3725F752D408}"/>
              </a:ext>
            </a:extLst>
          </p:cNvPr>
          <p:cNvSpPr txBox="1"/>
          <p:nvPr/>
        </p:nvSpPr>
        <p:spPr>
          <a:xfrm>
            <a:off x="7815102" y="5686873"/>
            <a:ext cx="1785745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 · 3 个 AXI slave</a:t>
            </a:r>
          </a:p>
        </p:txBody>
      </p:sp>
      <p:sp>
        <p:nvSpPr>
          <p:cNvPr id="1046" name="cfg-tag-C2-272">
            <a:extLst>
              <a:ext uri="{FF2B5EF4-FFF2-40B4-BE49-F238E27FC236}">
                <a16:creationId xmlns:a16="http://schemas.microsoft.com/office/drawing/2014/main" id="{DC123D00-7770-4D36-BE74-0CAEF004A1C0}"/>
              </a:ext>
            </a:extLst>
          </p:cNvPr>
          <p:cNvSpPr/>
          <p:nvPr/>
        </p:nvSpPr>
        <p:spPr>
          <a:xfrm>
            <a:off x="10113440" y="570346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7" name="object-274: C2">
            <a:extLst>
              <a:ext uri="{FF2B5EF4-FFF2-40B4-BE49-F238E27FC236}">
                <a16:creationId xmlns:a16="http://schemas.microsoft.com/office/drawing/2014/main" id="{34935CB7-5BD6-47A9-A015-5E24A53424DE}"/>
              </a:ext>
            </a:extLst>
          </p:cNvPr>
          <p:cNvSpPr txBox="1"/>
          <p:nvPr/>
        </p:nvSpPr>
        <p:spPr>
          <a:xfrm>
            <a:off x="10143333" y="570482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048" name="ddr-S0">
            <a:extLst>
              <a:ext uri="{FF2B5EF4-FFF2-40B4-BE49-F238E27FC236}">
                <a16:creationId xmlns:a16="http://schemas.microsoft.com/office/drawing/2014/main" id="{6691ED0E-01BE-459F-9B68-EB9029A85852}"/>
              </a:ext>
            </a:extLst>
          </p:cNvPr>
          <p:cNvSpPr/>
          <p:nvPr/>
        </p:nvSpPr>
        <p:spPr>
          <a:xfrm>
            <a:off x="71331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9" name="object-276: S0">
            <a:extLst>
              <a:ext uri="{FF2B5EF4-FFF2-40B4-BE49-F238E27FC236}">
                <a16:creationId xmlns:a16="http://schemas.microsoft.com/office/drawing/2014/main" id="{3E638D93-F21A-4686-AF3F-03E5B0EEB55F}"/>
              </a:ext>
            </a:extLst>
          </p:cNvPr>
          <p:cNvSpPr txBox="1"/>
          <p:nvPr/>
        </p:nvSpPr>
        <p:spPr>
          <a:xfrm>
            <a:off x="74359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sp>
        <p:nvSpPr>
          <p:cNvPr id="1050" name="object-277: SoC / LLC">
            <a:extLst>
              <a:ext uri="{FF2B5EF4-FFF2-40B4-BE49-F238E27FC236}">
                <a16:creationId xmlns:a16="http://schemas.microsoft.com/office/drawing/2014/main" id="{16A28138-BFB3-4240-B7BC-4EDC71FC712A}"/>
              </a:ext>
            </a:extLst>
          </p:cNvPr>
          <p:cNvSpPr txBox="1"/>
          <p:nvPr/>
        </p:nvSpPr>
        <p:spPr>
          <a:xfrm>
            <a:off x="7298919" y="4758860"/>
            <a:ext cx="41357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SoC / LLC</a:t>
            </a:r>
          </a:p>
        </p:txBody>
      </p:sp>
      <p:cxnSp>
        <p:nvCxnSpPr>
          <p:cNvPr id="1051" name="ddr-S-to-arb-0">
            <a:extLst>
              <a:ext uri="{FF2B5EF4-FFF2-40B4-BE49-F238E27FC236}">
                <a16:creationId xmlns:a16="http://schemas.microsoft.com/office/drawing/2014/main" id="{A7252EFA-7EE5-456E-B64D-45437FEBCBA2}"/>
              </a:ext>
            </a:extLst>
          </p:cNvPr>
          <p:cNvCxnSpPr/>
          <p:nvPr/>
        </p:nvCxnSpPr>
        <p:spPr>
          <a:xfrm>
            <a:off x="75057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sp>
        <p:nvSpPr>
          <p:cNvPr id="1052" name="ddr-S1">
            <a:extLst>
              <a:ext uri="{FF2B5EF4-FFF2-40B4-BE49-F238E27FC236}">
                <a16:creationId xmlns:a16="http://schemas.microsoft.com/office/drawing/2014/main" id="{7086A1C7-6343-4C2E-BF38-5BBB4A4DBE91}"/>
              </a:ext>
            </a:extLst>
          </p:cNvPr>
          <p:cNvSpPr/>
          <p:nvPr/>
        </p:nvSpPr>
        <p:spPr>
          <a:xfrm>
            <a:off x="82507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53" name="object-280: S1">
            <a:extLst>
              <a:ext uri="{FF2B5EF4-FFF2-40B4-BE49-F238E27FC236}">
                <a16:creationId xmlns:a16="http://schemas.microsoft.com/office/drawing/2014/main" id="{B2E7CB33-2C1D-440C-A067-0DE14C752922}"/>
              </a:ext>
            </a:extLst>
          </p:cNvPr>
          <p:cNvSpPr txBox="1"/>
          <p:nvPr/>
        </p:nvSpPr>
        <p:spPr>
          <a:xfrm>
            <a:off x="85535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1054" name="object-281: NPU / GB 搬运">
            <a:extLst>
              <a:ext uri="{FF2B5EF4-FFF2-40B4-BE49-F238E27FC236}">
                <a16:creationId xmlns:a16="http://schemas.microsoft.com/office/drawing/2014/main" id="{C8652E7B-2D08-4876-A8E7-6600B2055E57}"/>
              </a:ext>
            </a:extLst>
          </p:cNvPr>
          <p:cNvSpPr txBox="1"/>
          <p:nvPr/>
        </p:nvSpPr>
        <p:spPr>
          <a:xfrm>
            <a:off x="8313928" y="4758860"/>
            <a:ext cx="61875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NPU / GB 搬运</a:t>
            </a:r>
          </a:p>
        </p:txBody>
      </p:sp>
      <p:cxnSp>
        <p:nvCxnSpPr>
          <p:cNvPr id="1055" name="ddr-S-to-arb-1">
            <a:extLst>
              <a:ext uri="{FF2B5EF4-FFF2-40B4-BE49-F238E27FC236}">
                <a16:creationId xmlns:a16="http://schemas.microsoft.com/office/drawing/2014/main" id="{F62288E7-5AF1-4E3F-9560-60F89E32F154}"/>
              </a:ext>
            </a:extLst>
          </p:cNvPr>
          <p:cNvCxnSpPr/>
          <p:nvPr/>
        </p:nvCxnSpPr>
        <p:spPr>
          <a:xfrm>
            <a:off x="86233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sp>
        <p:nvSpPr>
          <p:cNvPr id="1056" name="ddr-S2">
            <a:extLst>
              <a:ext uri="{FF2B5EF4-FFF2-40B4-BE49-F238E27FC236}">
                <a16:creationId xmlns:a16="http://schemas.microsoft.com/office/drawing/2014/main" id="{ADCA61D9-2312-44E4-903B-EE0F6CE498B9}"/>
              </a:ext>
            </a:extLst>
          </p:cNvPr>
          <p:cNvSpPr/>
          <p:nvPr/>
        </p:nvSpPr>
        <p:spPr>
          <a:xfrm>
            <a:off x="93683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57" name="object-284: S2">
            <a:extLst>
              <a:ext uri="{FF2B5EF4-FFF2-40B4-BE49-F238E27FC236}">
                <a16:creationId xmlns:a16="http://schemas.microsoft.com/office/drawing/2014/main" id="{4A254861-34DC-4BB9-B5C8-C33C2BB93B9B}"/>
              </a:ext>
            </a:extLst>
          </p:cNvPr>
          <p:cNvSpPr txBox="1"/>
          <p:nvPr/>
        </p:nvSpPr>
        <p:spPr>
          <a:xfrm>
            <a:off x="96711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1058" name="object-285: 图像帧写入">
            <a:extLst>
              <a:ext uri="{FF2B5EF4-FFF2-40B4-BE49-F238E27FC236}">
                <a16:creationId xmlns:a16="http://schemas.microsoft.com/office/drawing/2014/main" id="{64049BC4-F5D1-47E7-8AF9-CA41D18F45C4}"/>
              </a:ext>
            </a:extLst>
          </p:cNvPr>
          <p:cNvSpPr txBox="1"/>
          <p:nvPr/>
        </p:nvSpPr>
        <p:spPr>
          <a:xfrm>
            <a:off x="9516486" y="4758860"/>
            <a:ext cx="44884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图像帧写入</a:t>
            </a:r>
          </a:p>
        </p:txBody>
      </p:sp>
      <p:cxnSp>
        <p:nvCxnSpPr>
          <p:cNvPr id="1059" name="ddr-S-to-arb-2">
            <a:extLst>
              <a:ext uri="{FF2B5EF4-FFF2-40B4-BE49-F238E27FC236}">
                <a16:creationId xmlns:a16="http://schemas.microsoft.com/office/drawing/2014/main" id="{8AB2A2C0-EF2E-4BDA-B2A9-DA763EA06B7C}"/>
              </a:ext>
            </a:extLst>
          </p:cNvPr>
          <p:cNvCxnSpPr/>
          <p:nvPr/>
        </p:nvCxnSpPr>
        <p:spPr>
          <a:xfrm>
            <a:off x="97409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cxnSp>
        <p:nvCxnSpPr>
          <p:cNvPr id="1060" name="ddr-port-collect">
            <a:extLst>
              <a:ext uri="{FF2B5EF4-FFF2-40B4-BE49-F238E27FC236}">
                <a16:creationId xmlns:a16="http://schemas.microsoft.com/office/drawing/2014/main" id="{4BF79ED7-23F1-49A4-A532-37A8E1C1E006}"/>
              </a:ext>
            </a:extLst>
          </p:cNvPr>
          <p:cNvCxnSpPr/>
          <p:nvPr/>
        </p:nvCxnSpPr>
        <p:spPr>
          <a:xfrm>
            <a:off x="7505706" y="5022749"/>
            <a:ext cx="2235200" cy="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cxnSp>
        <p:nvCxnSpPr>
          <p:cNvPr id="1061" name="ddr-all-to-arbiter">
            <a:extLst>
              <a:ext uri="{FF2B5EF4-FFF2-40B4-BE49-F238E27FC236}">
                <a16:creationId xmlns:a16="http://schemas.microsoft.com/office/drawing/2014/main" id="{2F3E0D25-8498-4BB9-A346-7C1CD68191E5}"/>
              </a:ext>
            </a:extLst>
          </p:cNvPr>
          <p:cNvCxnSpPr/>
          <p:nvPr/>
        </p:nvCxnSpPr>
        <p:spPr>
          <a:xfrm>
            <a:off x="7708906" y="5022749"/>
            <a:ext cx="0" cy="203200"/>
          </a:xfrm>
          <a:prstGeom prst="line">
            <a:avLst/>
          </a:prstGeom>
          <a:ln w="22758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2" name="ddr-scheduler">
            <a:extLst>
              <a:ext uri="{FF2B5EF4-FFF2-40B4-BE49-F238E27FC236}">
                <a16:creationId xmlns:a16="http://schemas.microsoft.com/office/drawing/2014/main" id="{AFD3DC4E-F974-47FC-A184-9DFF294C4164}"/>
              </a:ext>
            </a:extLst>
          </p:cNvPr>
          <p:cNvSpPr/>
          <p:nvPr/>
        </p:nvSpPr>
        <p:spPr>
          <a:xfrm>
            <a:off x="7200906" y="5225949"/>
            <a:ext cx="3031067" cy="45720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63" name="object-290: 端口仲裁 / QoS">
            <a:extLst>
              <a:ext uri="{FF2B5EF4-FFF2-40B4-BE49-F238E27FC236}">
                <a16:creationId xmlns:a16="http://schemas.microsoft.com/office/drawing/2014/main" id="{8C9987A2-50C6-40F9-A52B-D1939F626071}"/>
              </a:ext>
            </a:extLst>
          </p:cNvPr>
          <p:cNvSpPr txBox="1"/>
          <p:nvPr/>
        </p:nvSpPr>
        <p:spPr>
          <a:xfrm>
            <a:off x="7342620" y="5289754"/>
            <a:ext cx="73257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端口仲裁 / QoS</a:t>
            </a:r>
          </a:p>
        </p:txBody>
      </p:sp>
      <p:sp>
        <p:nvSpPr>
          <p:cNvPr id="1064" name="object-291: 共享 DDR 带宽">
            <a:extLst>
              <a:ext uri="{FF2B5EF4-FFF2-40B4-BE49-F238E27FC236}">
                <a16:creationId xmlns:a16="http://schemas.microsoft.com/office/drawing/2014/main" id="{1B54921B-97A5-47F6-8E2B-D3B68607ADFC}"/>
              </a:ext>
            </a:extLst>
          </p:cNvPr>
          <p:cNvSpPr txBox="1"/>
          <p:nvPr/>
        </p:nvSpPr>
        <p:spPr>
          <a:xfrm>
            <a:off x="7403534" y="5432807"/>
            <a:ext cx="61074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共享 DDR 带宽</a:t>
            </a:r>
          </a:p>
        </p:txBody>
      </p:sp>
      <p:cxnSp>
        <p:nvCxnSpPr>
          <p:cNvPr id="1065" name="ddr-schedule-step-0">
            <a:extLst>
              <a:ext uri="{FF2B5EF4-FFF2-40B4-BE49-F238E27FC236}">
                <a16:creationId xmlns:a16="http://schemas.microsoft.com/office/drawing/2014/main" id="{F98EA5E8-9E92-4547-86F5-394597F95419}"/>
              </a:ext>
            </a:extLst>
          </p:cNvPr>
          <p:cNvCxnSpPr/>
          <p:nvPr/>
        </p:nvCxnSpPr>
        <p:spPr>
          <a:xfrm>
            <a:off x="8142400" y="5429149"/>
            <a:ext cx="125307" cy="0"/>
          </a:xfrm>
          <a:prstGeom prst="line">
            <a:avLst/>
          </a:prstGeom>
          <a:ln w="2032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6" name="object-293: 读写调度">
            <a:extLst>
              <a:ext uri="{FF2B5EF4-FFF2-40B4-BE49-F238E27FC236}">
                <a16:creationId xmlns:a16="http://schemas.microsoft.com/office/drawing/2014/main" id="{7F171FE8-D049-412C-B70D-9912279617E1}"/>
              </a:ext>
            </a:extLst>
          </p:cNvPr>
          <p:cNvSpPr txBox="1"/>
          <p:nvPr/>
        </p:nvSpPr>
        <p:spPr>
          <a:xfrm>
            <a:off x="8509562" y="5289754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读写调度</a:t>
            </a:r>
          </a:p>
        </p:txBody>
      </p:sp>
      <p:sp>
        <p:nvSpPr>
          <p:cNvPr id="1067" name="object-294: Bank / Row">
            <a:extLst>
              <a:ext uri="{FF2B5EF4-FFF2-40B4-BE49-F238E27FC236}">
                <a16:creationId xmlns:a16="http://schemas.microsoft.com/office/drawing/2014/main" id="{1C974FF8-9DD9-4D01-B6AB-33B5EDC09B62}"/>
              </a:ext>
            </a:extLst>
          </p:cNvPr>
          <p:cNvSpPr txBox="1"/>
          <p:nvPr/>
        </p:nvSpPr>
        <p:spPr>
          <a:xfrm>
            <a:off x="8469487" y="5432807"/>
            <a:ext cx="490520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Bank / Row</a:t>
            </a:r>
          </a:p>
        </p:txBody>
      </p:sp>
      <p:cxnSp>
        <p:nvCxnSpPr>
          <p:cNvPr id="1068" name="ddr-schedule-step-1">
            <a:extLst>
              <a:ext uri="{FF2B5EF4-FFF2-40B4-BE49-F238E27FC236}">
                <a16:creationId xmlns:a16="http://schemas.microsoft.com/office/drawing/2014/main" id="{21793AC5-2384-4291-81C6-59C037484AF5}"/>
              </a:ext>
            </a:extLst>
          </p:cNvPr>
          <p:cNvCxnSpPr/>
          <p:nvPr/>
        </p:nvCxnSpPr>
        <p:spPr>
          <a:xfrm>
            <a:off x="9148240" y="5429149"/>
            <a:ext cx="125307" cy="0"/>
          </a:xfrm>
          <a:prstGeom prst="line">
            <a:avLst/>
          </a:prstGeom>
          <a:ln w="2032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9" name="object-296: 命令调度">
            <a:extLst>
              <a:ext uri="{FF2B5EF4-FFF2-40B4-BE49-F238E27FC236}">
                <a16:creationId xmlns:a16="http://schemas.microsoft.com/office/drawing/2014/main" id="{67D4B73D-B43A-4978-BDDB-E0ACD633264E}"/>
              </a:ext>
            </a:extLst>
          </p:cNvPr>
          <p:cNvSpPr txBox="1"/>
          <p:nvPr/>
        </p:nvSpPr>
        <p:spPr>
          <a:xfrm>
            <a:off x="9515402" y="5289754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命令调度</a:t>
            </a:r>
          </a:p>
        </p:txBody>
      </p:sp>
      <p:sp>
        <p:nvSpPr>
          <p:cNvPr id="1070" name="object-297: 控制器 → PHY">
            <a:extLst>
              <a:ext uri="{FF2B5EF4-FFF2-40B4-BE49-F238E27FC236}">
                <a16:creationId xmlns:a16="http://schemas.microsoft.com/office/drawing/2014/main" id="{14DCFE42-BA82-4A60-8D4D-78D6F04B9F69}"/>
              </a:ext>
            </a:extLst>
          </p:cNvPr>
          <p:cNvSpPr txBox="1"/>
          <p:nvPr/>
        </p:nvSpPr>
        <p:spPr>
          <a:xfrm>
            <a:off x="9424832" y="5432807"/>
            <a:ext cx="5915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控制器 → PHY</a:t>
            </a:r>
          </a:p>
        </p:txBody>
      </p:sp>
      <p:sp>
        <p:nvSpPr>
          <p:cNvPr id="1071" name="object-298: 共享同一 DDR 地址空间">
            <a:extLst>
              <a:ext uri="{FF2B5EF4-FFF2-40B4-BE49-F238E27FC236}">
                <a16:creationId xmlns:a16="http://schemas.microsoft.com/office/drawing/2014/main" id="{32F55508-D622-4C94-9462-1D273285A090}"/>
              </a:ext>
            </a:extLst>
          </p:cNvPr>
          <p:cNvSpPr txBox="1"/>
          <p:nvPr/>
        </p:nvSpPr>
        <p:spPr>
          <a:xfrm>
            <a:off x="8578665" y="5074091"/>
            <a:ext cx="96981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共享同一 DDR 地址空间</a:t>
            </a:r>
          </a:p>
        </p:txBody>
      </p:sp>
      <p:sp>
        <p:nvSpPr>
          <p:cNvPr id="1072" name="ddr-phy">
            <a:extLst>
              <a:ext uri="{FF2B5EF4-FFF2-40B4-BE49-F238E27FC236}">
                <a16:creationId xmlns:a16="http://schemas.microsoft.com/office/drawing/2014/main" id="{159EE2B3-7138-4B9A-B3CD-98A4CE11B639}"/>
              </a:ext>
            </a:extLst>
          </p:cNvPr>
          <p:cNvSpPr/>
          <p:nvPr/>
        </p:nvSpPr>
        <p:spPr>
          <a:xfrm>
            <a:off x="10519840" y="5215789"/>
            <a:ext cx="677333" cy="474133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3" name="object-300: DDR PHY">
            <a:extLst>
              <a:ext uri="{FF2B5EF4-FFF2-40B4-BE49-F238E27FC236}">
                <a16:creationId xmlns:a16="http://schemas.microsoft.com/office/drawing/2014/main" id="{540C9B54-A5E0-4EBF-BF78-F95731B8E9BB}"/>
              </a:ext>
            </a:extLst>
          </p:cNvPr>
          <p:cNvSpPr txBox="1"/>
          <p:nvPr/>
        </p:nvSpPr>
        <p:spPr>
          <a:xfrm>
            <a:off x="10615652" y="5272547"/>
            <a:ext cx="4857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1074" name="object-301: 训练 / 校准">
            <a:extLst>
              <a:ext uri="{FF2B5EF4-FFF2-40B4-BE49-F238E27FC236}">
                <a16:creationId xmlns:a16="http://schemas.microsoft.com/office/drawing/2014/main" id="{762D8652-6DAA-47C0-9467-5CA026EB6161}"/>
              </a:ext>
            </a:extLst>
          </p:cNvPr>
          <p:cNvSpPr txBox="1"/>
          <p:nvPr/>
        </p:nvSpPr>
        <p:spPr>
          <a:xfrm>
            <a:off x="10601224" y="5405440"/>
            <a:ext cx="5145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训练 / 校准</a:t>
            </a:r>
          </a:p>
        </p:txBody>
      </p:sp>
      <p:sp>
        <p:nvSpPr>
          <p:cNvPr id="1075" name="cfg-tag-C3-301">
            <a:extLst>
              <a:ext uri="{FF2B5EF4-FFF2-40B4-BE49-F238E27FC236}">
                <a16:creationId xmlns:a16="http://schemas.microsoft.com/office/drawing/2014/main" id="{147500D1-D40B-4A05-AE23-8E5B12B66E0C}"/>
              </a:ext>
            </a:extLst>
          </p:cNvPr>
          <p:cNvSpPr/>
          <p:nvPr/>
        </p:nvSpPr>
        <p:spPr>
          <a:xfrm>
            <a:off x="10987200" y="555445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6" name="object-303: C3">
            <a:extLst>
              <a:ext uri="{FF2B5EF4-FFF2-40B4-BE49-F238E27FC236}">
                <a16:creationId xmlns:a16="http://schemas.microsoft.com/office/drawing/2014/main" id="{6AB24D3D-0919-4938-9FF6-B6A9107E8923}"/>
              </a:ext>
            </a:extLst>
          </p:cNvPr>
          <p:cNvSpPr txBox="1"/>
          <p:nvPr/>
        </p:nvSpPr>
        <p:spPr>
          <a:xfrm>
            <a:off x="11017093" y="555581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cxnSp>
        <p:nvCxnSpPr>
          <p:cNvPr id="1077" name="ddr-phy-path">
            <a:extLst>
              <a:ext uri="{FF2B5EF4-FFF2-40B4-BE49-F238E27FC236}">
                <a16:creationId xmlns:a16="http://schemas.microsoft.com/office/drawing/2014/main" id="{C1BBF756-77F3-4819-8895-BF7BB88FD606}"/>
              </a:ext>
            </a:extLst>
          </p:cNvPr>
          <p:cNvCxnSpPr/>
          <p:nvPr/>
        </p:nvCxnSpPr>
        <p:spPr>
          <a:xfrm>
            <a:off x="10231973" y="5429149"/>
            <a:ext cx="287867" cy="0"/>
          </a:xfrm>
          <a:prstGeom prst="line">
            <a:avLst/>
          </a:prstGeom>
          <a:ln w="28448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078" name="dram">
            <a:extLst>
              <a:ext uri="{FF2B5EF4-FFF2-40B4-BE49-F238E27FC236}">
                <a16:creationId xmlns:a16="http://schemas.microsoft.com/office/drawing/2014/main" id="{A461D61B-6A89-4A62-BAF2-EAB5497DE4BA}"/>
              </a:ext>
            </a:extLst>
          </p:cNvPr>
          <p:cNvSpPr/>
          <p:nvPr/>
        </p:nvSpPr>
        <p:spPr>
          <a:xfrm>
            <a:off x="11501973" y="5215789"/>
            <a:ext cx="508000" cy="474133"/>
          </a:xfrm>
          <a:prstGeom prst="rect">
            <a:avLst/>
          </a:prstGeom>
          <a:solidFill>
            <a:srgbClr val="EAECEE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9" name="object-306: DDR">
            <a:extLst>
              <a:ext uri="{FF2B5EF4-FFF2-40B4-BE49-F238E27FC236}">
                <a16:creationId xmlns:a16="http://schemas.microsoft.com/office/drawing/2014/main" id="{4F28D478-2D00-45B1-BC9F-F4813A2BEB73}"/>
              </a:ext>
            </a:extLst>
          </p:cNvPr>
          <p:cNvSpPr txBox="1"/>
          <p:nvPr/>
        </p:nvSpPr>
        <p:spPr>
          <a:xfrm>
            <a:off x="11624528" y="5261574"/>
            <a:ext cx="26289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1080" name="object-307: 片外器件">
            <a:extLst>
              <a:ext uri="{FF2B5EF4-FFF2-40B4-BE49-F238E27FC236}">
                <a16:creationId xmlns:a16="http://schemas.microsoft.com/office/drawing/2014/main" id="{AE525BAC-9D08-4B70-9002-E8E6C69159F2}"/>
              </a:ext>
            </a:extLst>
          </p:cNvPr>
          <p:cNvSpPr txBox="1"/>
          <p:nvPr/>
        </p:nvSpPr>
        <p:spPr>
          <a:xfrm>
            <a:off x="11550789" y="5405440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片外器件</a:t>
            </a:r>
          </a:p>
        </p:txBody>
      </p:sp>
      <p:cxnSp>
        <p:nvCxnSpPr>
          <p:cNvPr id="1081" name="phy-dram">
            <a:extLst>
              <a:ext uri="{FF2B5EF4-FFF2-40B4-BE49-F238E27FC236}">
                <a16:creationId xmlns:a16="http://schemas.microsoft.com/office/drawing/2014/main" id="{4D2F5ED4-8DBD-4CDD-B630-62605969ED4A}"/>
              </a:ext>
            </a:extLst>
          </p:cNvPr>
          <p:cNvCxnSpPr/>
          <p:nvPr/>
        </p:nvCxnSpPr>
        <p:spPr>
          <a:xfrm>
            <a:off x="11197173" y="5429149"/>
            <a:ext cx="304800" cy="0"/>
          </a:xfrm>
          <a:prstGeom prst="line">
            <a:avLst/>
          </a:prstGeom>
          <a:ln w="30074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082" name="npu-ddr">
            <a:extLst>
              <a:ext uri="{FF2B5EF4-FFF2-40B4-BE49-F238E27FC236}">
                <a16:creationId xmlns:a16="http://schemas.microsoft.com/office/drawing/2014/main" id="{FB80ED40-BAAF-4226-9008-6837C3A99E7A}"/>
              </a:ext>
            </a:extLst>
          </p:cNvPr>
          <p:cNvSpPr/>
          <p:nvPr/>
        </p:nvSpPr>
        <p:spPr>
          <a:xfrm>
            <a:off x="7336373" y="2008616"/>
            <a:ext cx="2980267" cy="2573867"/>
          </a:xfrm>
          <a:custGeom>
            <a:avLst/>
            <a:gdLst/>
            <a:ahLst/>
            <a:cxnLst/>
            <a:rect l="0" t="0" r="r" b="b"/>
            <a:pathLst>
              <a:path w="7152640" h="6177280" fill="none">
                <a:moveTo>
                  <a:pt x="0" y="0"/>
                </a:moveTo>
                <a:lnTo>
                  <a:pt x="422656" y="0"/>
                </a:lnTo>
                <a:lnTo>
                  <a:pt x="422656" y="812800"/>
                </a:lnTo>
                <a:lnTo>
                  <a:pt x="7152640" y="812800"/>
                </a:lnTo>
                <a:lnTo>
                  <a:pt x="7152640" y="5795264"/>
                </a:lnTo>
                <a:lnTo>
                  <a:pt x="3088640" y="5795264"/>
                </a:lnTo>
                <a:lnTo>
                  <a:pt x="3088640" y="6177280"/>
                </a:lnTo>
              </a:path>
            </a:pathLst>
          </a:custGeom>
          <a:noFill/>
          <a:ln w="28448" cap="flat">
            <a:solidFill>
              <a:srgbClr val="314D66"/>
            </a:solidFill>
            <a:custDash>
              <a:ds d="285714" sp="171429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3" name="object-310: S1">
            <a:extLst>
              <a:ext uri="{FF2B5EF4-FFF2-40B4-BE49-F238E27FC236}">
                <a16:creationId xmlns:a16="http://schemas.microsoft.com/office/drawing/2014/main" id="{B3EEB8C6-B551-4571-8D04-0BFFECAC5804}"/>
              </a:ext>
            </a:extLst>
          </p:cNvPr>
          <p:cNvSpPr txBox="1"/>
          <p:nvPr/>
        </p:nvSpPr>
        <p:spPr>
          <a:xfrm>
            <a:off x="10335403" y="3251522"/>
            <a:ext cx="1250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1084" name="frame-ddr">
            <a:extLst>
              <a:ext uri="{FF2B5EF4-FFF2-40B4-BE49-F238E27FC236}">
                <a16:creationId xmlns:a16="http://schemas.microsoft.com/office/drawing/2014/main" id="{E5E5128B-5402-4BCE-B3A0-FCDD33B08E55}"/>
              </a:ext>
            </a:extLst>
          </p:cNvPr>
          <p:cNvSpPr/>
          <p:nvPr/>
        </p:nvSpPr>
        <p:spPr>
          <a:xfrm>
            <a:off x="9652853" y="1940882"/>
            <a:ext cx="1154853" cy="2641600"/>
          </a:xfrm>
          <a:custGeom>
            <a:avLst/>
            <a:gdLst/>
            <a:ahLst/>
            <a:cxnLst/>
            <a:rect l="0" t="0" r="r" b="b"/>
            <a:pathLst>
              <a:path w="2771648" h="6339840" fill="none">
                <a:moveTo>
                  <a:pt x="2771648" y="0"/>
                </a:moveTo>
                <a:lnTo>
                  <a:pt x="2771648" y="5648960"/>
                </a:lnTo>
                <a:lnTo>
                  <a:pt x="211328" y="5648960"/>
                </a:lnTo>
                <a:lnTo>
                  <a:pt x="211328" y="5852160"/>
                </a:lnTo>
                <a:cubicBezTo>
                  <a:pt x="0" y="5852160"/>
                  <a:pt x="0" y="6063488"/>
                  <a:pt x="211328" y="6063488"/>
                </a:cubicBezTo>
                <a:lnTo>
                  <a:pt x="211328" y="6339840"/>
                </a:lnTo>
              </a:path>
            </a:pathLst>
          </a:custGeom>
          <a:noFill/>
          <a:ln w="28448" cap="flat">
            <a:solidFill>
              <a:srgbClr val="314D66"/>
            </a:solidFill>
            <a:custDash>
              <a:ds d="285714" sp="171429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5" name="object-312: S2">
            <a:extLst>
              <a:ext uri="{FF2B5EF4-FFF2-40B4-BE49-F238E27FC236}">
                <a16:creationId xmlns:a16="http://schemas.microsoft.com/office/drawing/2014/main" id="{01D1F55A-B4CA-4E35-800C-B965DD7951D0}"/>
              </a:ext>
            </a:extLst>
          </p:cNvPr>
          <p:cNvSpPr txBox="1"/>
          <p:nvPr/>
        </p:nvSpPr>
        <p:spPr>
          <a:xfrm>
            <a:off x="10829857" y="3251522"/>
            <a:ext cx="1250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1086" name="llc-ddr">
            <a:extLst>
              <a:ext uri="{FF2B5EF4-FFF2-40B4-BE49-F238E27FC236}">
                <a16:creationId xmlns:a16="http://schemas.microsoft.com/office/drawing/2014/main" id="{3E65ED82-8080-42FA-9917-8246D4DD099C}"/>
              </a:ext>
            </a:extLst>
          </p:cNvPr>
          <p:cNvSpPr/>
          <p:nvPr/>
        </p:nvSpPr>
        <p:spPr>
          <a:xfrm>
            <a:off x="4660906" y="4189629"/>
            <a:ext cx="2844800" cy="392853"/>
          </a:xfrm>
          <a:custGeom>
            <a:avLst/>
            <a:gdLst/>
            <a:ahLst/>
            <a:cxnLst/>
            <a:rect l="0" t="0" r="r" b="b"/>
            <a:pathLst>
              <a:path w="6827520" h="942848" fill="none">
                <a:moveTo>
                  <a:pt x="0" y="0"/>
                </a:moveTo>
                <a:lnTo>
                  <a:pt x="0" y="235712"/>
                </a:lnTo>
                <a:lnTo>
                  <a:pt x="6827520" y="235712"/>
                </a:lnTo>
                <a:lnTo>
                  <a:pt x="6827520" y="942848"/>
                </a:lnTo>
              </a:path>
            </a:pathLst>
          </a:custGeom>
          <a:noFill/>
          <a:ln w="29261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7" name="object-314: S0 · LLC 外存出口">
            <a:extLst>
              <a:ext uri="{FF2B5EF4-FFF2-40B4-BE49-F238E27FC236}">
                <a16:creationId xmlns:a16="http://schemas.microsoft.com/office/drawing/2014/main" id="{A2D3314B-A256-4C9F-8B9C-4E5FEC08A435}"/>
              </a:ext>
            </a:extLst>
          </p:cNvPr>
          <p:cNvSpPr txBox="1"/>
          <p:nvPr/>
        </p:nvSpPr>
        <p:spPr>
          <a:xfrm>
            <a:off x="7586564" y="4443954"/>
            <a:ext cx="718146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S0 · LLC </a:t>
            </a:r>
            <a:r>
              <a:rPr sz="7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外存出口</a:t>
            </a:r>
            <a:endParaRPr sz="700" dirty="0">
              <a:solidFill>
                <a:srgbClr val="314D6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88" name="clock-reset">
            <a:extLst>
              <a:ext uri="{FF2B5EF4-FFF2-40B4-BE49-F238E27FC236}">
                <a16:creationId xmlns:a16="http://schemas.microsoft.com/office/drawing/2014/main" id="{3D09B2BE-3605-4AB1-AAA7-2A5B66D33C22}"/>
              </a:ext>
            </a:extLst>
          </p:cNvPr>
          <p:cNvSpPr/>
          <p:nvPr/>
        </p:nvSpPr>
        <p:spPr>
          <a:xfrm>
            <a:off x="7200906" y="5937149"/>
            <a:ext cx="1778000" cy="250613"/>
          </a:xfrm>
          <a:prstGeom prst="rect">
            <a:avLst/>
          </a:prstGeom>
          <a:solidFill>
            <a:srgbClr val="F5E1C9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9" name="object-316: PLL / 时钟与复位分发">
            <a:extLst>
              <a:ext uri="{FF2B5EF4-FFF2-40B4-BE49-F238E27FC236}">
                <a16:creationId xmlns:a16="http://schemas.microsoft.com/office/drawing/2014/main" id="{6A5FCA8E-0944-4F72-B8B8-C6A7FBEA7689}"/>
              </a:ext>
            </a:extLst>
          </p:cNvPr>
          <p:cNvSpPr txBox="1"/>
          <p:nvPr/>
        </p:nvSpPr>
        <p:spPr>
          <a:xfrm>
            <a:off x="7465582" y="5993384"/>
            <a:ext cx="1130118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</a:t>
            </a:r>
            <a:r>
              <a:rPr sz="9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时钟与复位分发</a:t>
            </a:r>
            <a:endParaRPr sz="9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90" name="cfg-tag-C1-316">
            <a:extLst>
              <a:ext uri="{FF2B5EF4-FFF2-40B4-BE49-F238E27FC236}">
                <a16:creationId xmlns:a16="http://schemas.microsoft.com/office/drawing/2014/main" id="{608D59C5-D287-42EC-B634-60C52FF30DB7}"/>
              </a:ext>
            </a:extLst>
          </p:cNvPr>
          <p:cNvSpPr/>
          <p:nvPr/>
        </p:nvSpPr>
        <p:spPr>
          <a:xfrm>
            <a:off x="8738453" y="600826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1" name="object-318: C1">
            <a:extLst>
              <a:ext uri="{FF2B5EF4-FFF2-40B4-BE49-F238E27FC236}">
                <a16:creationId xmlns:a16="http://schemas.microsoft.com/office/drawing/2014/main" id="{3C2E8761-8264-40FF-8732-418504C9E1D8}"/>
              </a:ext>
            </a:extLst>
          </p:cNvPr>
          <p:cNvSpPr txBox="1"/>
          <p:nvPr/>
        </p:nvSpPr>
        <p:spPr>
          <a:xfrm>
            <a:off x="8768347" y="600962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092" name="object-319: RefClk / POR → clk_i / rst_ni">
            <a:extLst>
              <a:ext uri="{FF2B5EF4-FFF2-40B4-BE49-F238E27FC236}">
                <a16:creationId xmlns:a16="http://schemas.microsoft.com/office/drawing/2014/main" id="{D8F8F012-DECA-4F8B-822D-A1D9708813E2}"/>
              </a:ext>
            </a:extLst>
          </p:cNvPr>
          <p:cNvSpPr txBox="1"/>
          <p:nvPr/>
        </p:nvSpPr>
        <p:spPr>
          <a:xfrm>
            <a:off x="9020878" y="5983396"/>
            <a:ext cx="13673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RefClk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POR →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clk_i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rst_ni</a:t>
            </a:r>
            <a:endParaRPr sz="800" dirty="0">
              <a:solidFill>
                <a:srgbClr val="76548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93" name="regext-control-bus">
            <a:extLst>
              <a:ext uri="{FF2B5EF4-FFF2-40B4-BE49-F238E27FC236}">
                <a16:creationId xmlns:a16="http://schemas.microsoft.com/office/drawing/2014/main" id="{339E25D4-6A77-471F-8203-9B620A43C384}"/>
              </a:ext>
            </a:extLst>
          </p:cNvPr>
          <p:cNvSpPr/>
          <p:nvPr/>
        </p:nvSpPr>
        <p:spPr>
          <a:xfrm>
            <a:off x="6591307" y="5818616"/>
            <a:ext cx="270933" cy="457200"/>
          </a:xfrm>
          <a:custGeom>
            <a:avLst/>
            <a:gdLst/>
            <a:ahLst/>
            <a:cxnLst/>
            <a:rect l="0" t="0" r="r" b="b"/>
            <a:pathLst>
              <a:path w="650240" h="1097280" fill="none">
                <a:moveTo>
                  <a:pt x="0" y="0"/>
                </a:moveTo>
                <a:lnTo>
                  <a:pt x="650240" y="0"/>
                </a:lnTo>
                <a:lnTo>
                  <a:pt x="650240" y="1097280"/>
                </a:lnTo>
              </a:path>
            </a:pathLst>
          </a:custGeom>
          <a:noFill/>
          <a:ln w="22758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cxnSp>
        <p:nvCxnSpPr>
          <p:cNvPr id="1094" name="config-bus">
            <a:extLst>
              <a:ext uri="{FF2B5EF4-FFF2-40B4-BE49-F238E27FC236}">
                <a16:creationId xmlns:a16="http://schemas.microsoft.com/office/drawing/2014/main" id="{2ABB8BBC-C019-49D7-B292-98F46D703155}"/>
              </a:ext>
            </a:extLst>
          </p:cNvPr>
          <p:cNvCxnSpPr/>
          <p:nvPr/>
        </p:nvCxnSpPr>
        <p:spPr>
          <a:xfrm>
            <a:off x="792104" y="6275816"/>
            <a:ext cx="9922933" cy="0"/>
          </a:xfrm>
          <a:prstGeom prst="line">
            <a:avLst/>
          </a:prstGeom>
          <a:ln w="24384" cap="flat">
            <a:solidFill>
              <a:srgbClr val="765489"/>
            </a:solidFill>
          </a:ln>
          <a:effectLst/>
        </p:spPr>
      </p:cxnSp>
      <p:cxnSp>
        <p:nvCxnSpPr>
          <p:cNvPr id="1095" name="cfg-drop-0">
            <a:extLst>
              <a:ext uri="{FF2B5EF4-FFF2-40B4-BE49-F238E27FC236}">
                <a16:creationId xmlns:a16="http://schemas.microsoft.com/office/drawing/2014/main" id="{CAD805B9-354A-4FB9-BB78-CF45031A22BD}"/>
              </a:ext>
            </a:extLst>
          </p:cNvPr>
          <p:cNvCxnSpPr/>
          <p:nvPr/>
        </p:nvCxnSpPr>
        <p:spPr>
          <a:xfrm>
            <a:off x="8001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96" name="config-C1">
            <a:extLst>
              <a:ext uri="{FF2B5EF4-FFF2-40B4-BE49-F238E27FC236}">
                <a16:creationId xmlns:a16="http://schemas.microsoft.com/office/drawing/2014/main" id="{E27DF2D4-D194-4023-A691-62B09700BF01}"/>
              </a:ext>
            </a:extLst>
          </p:cNvPr>
          <p:cNvSpPr/>
          <p:nvPr/>
        </p:nvSpPr>
        <p:spPr>
          <a:xfrm>
            <a:off x="2413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7" name="cfg-tag-C1-323">
            <a:extLst>
              <a:ext uri="{FF2B5EF4-FFF2-40B4-BE49-F238E27FC236}">
                <a16:creationId xmlns:a16="http://schemas.microsoft.com/office/drawing/2014/main" id="{A8C1EE9E-4B46-4523-9714-4918F5521645}"/>
              </a:ext>
            </a:extLst>
          </p:cNvPr>
          <p:cNvSpPr/>
          <p:nvPr/>
        </p:nvSpPr>
        <p:spPr>
          <a:xfrm>
            <a:off x="2684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8" name="object-325: C1">
            <a:extLst>
              <a:ext uri="{FF2B5EF4-FFF2-40B4-BE49-F238E27FC236}">
                <a16:creationId xmlns:a16="http://schemas.microsoft.com/office/drawing/2014/main" id="{1BFEF553-AAD6-436F-854D-BF5BB571E514}"/>
              </a:ext>
            </a:extLst>
          </p:cNvPr>
          <p:cNvSpPr txBox="1"/>
          <p:nvPr/>
        </p:nvSpPr>
        <p:spPr>
          <a:xfrm>
            <a:off x="2982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099" name="object-326: PLL / 时钟复位">
            <a:extLst>
              <a:ext uri="{FF2B5EF4-FFF2-40B4-BE49-F238E27FC236}">
                <a16:creationId xmlns:a16="http://schemas.microsoft.com/office/drawing/2014/main" id="{20264680-1A1F-4A47-8124-0FA5555C81B7}"/>
              </a:ext>
            </a:extLst>
          </p:cNvPr>
          <p:cNvSpPr txBox="1"/>
          <p:nvPr/>
        </p:nvSpPr>
        <p:spPr>
          <a:xfrm>
            <a:off x="535318" y="6404509"/>
            <a:ext cx="6989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时钟复位</a:t>
            </a:r>
          </a:p>
        </p:txBody>
      </p:sp>
      <p:sp>
        <p:nvSpPr>
          <p:cNvPr id="1100" name="object-327: 配置 / 锁定 / 切换">
            <a:extLst>
              <a:ext uri="{FF2B5EF4-FFF2-40B4-BE49-F238E27FC236}">
                <a16:creationId xmlns:a16="http://schemas.microsoft.com/office/drawing/2014/main" id="{23F1FE3D-28E6-44FD-84BD-614EB485E196}"/>
              </a:ext>
            </a:extLst>
          </p:cNvPr>
          <p:cNvSpPr txBox="1"/>
          <p:nvPr/>
        </p:nvSpPr>
        <p:spPr>
          <a:xfrm>
            <a:off x="444602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配置 / 锁定 / 切换</a:t>
            </a:r>
          </a:p>
        </p:txBody>
      </p:sp>
      <p:cxnSp>
        <p:nvCxnSpPr>
          <p:cNvPr id="1101" name="cfg-drop-1">
            <a:extLst>
              <a:ext uri="{FF2B5EF4-FFF2-40B4-BE49-F238E27FC236}">
                <a16:creationId xmlns:a16="http://schemas.microsoft.com/office/drawing/2014/main" id="{D9FE6EA3-93DA-43CE-A4E2-86446BDA771F}"/>
              </a:ext>
            </a:extLst>
          </p:cNvPr>
          <p:cNvCxnSpPr/>
          <p:nvPr/>
        </p:nvCxnSpPr>
        <p:spPr>
          <a:xfrm>
            <a:off x="20362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02" name="config-C2">
            <a:extLst>
              <a:ext uri="{FF2B5EF4-FFF2-40B4-BE49-F238E27FC236}">
                <a16:creationId xmlns:a16="http://schemas.microsoft.com/office/drawing/2014/main" id="{C19DDEDD-04A8-4E8E-8EB9-8C2B127698F1}"/>
              </a:ext>
            </a:extLst>
          </p:cNvPr>
          <p:cNvSpPr/>
          <p:nvPr/>
        </p:nvSpPr>
        <p:spPr>
          <a:xfrm>
            <a:off x="14774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3" name="cfg-tag-C2-329">
            <a:extLst>
              <a:ext uri="{FF2B5EF4-FFF2-40B4-BE49-F238E27FC236}">
                <a16:creationId xmlns:a16="http://schemas.microsoft.com/office/drawing/2014/main" id="{C6B67E79-B004-4BD6-BFCD-4BE0E12193A6}"/>
              </a:ext>
            </a:extLst>
          </p:cNvPr>
          <p:cNvSpPr/>
          <p:nvPr/>
        </p:nvSpPr>
        <p:spPr>
          <a:xfrm>
            <a:off x="15045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4" name="object-331: C2">
            <a:extLst>
              <a:ext uri="{FF2B5EF4-FFF2-40B4-BE49-F238E27FC236}">
                <a16:creationId xmlns:a16="http://schemas.microsoft.com/office/drawing/2014/main" id="{72633FEC-BFD3-41E8-8393-EF144745AA0C}"/>
              </a:ext>
            </a:extLst>
          </p:cNvPr>
          <p:cNvSpPr txBox="1"/>
          <p:nvPr/>
        </p:nvSpPr>
        <p:spPr>
          <a:xfrm>
            <a:off x="15344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105" name="object-332: DDR Controller">
            <a:extLst>
              <a:ext uri="{FF2B5EF4-FFF2-40B4-BE49-F238E27FC236}">
                <a16:creationId xmlns:a16="http://schemas.microsoft.com/office/drawing/2014/main" id="{146DCDAF-2610-42D5-B69A-E8CFBE1960E6}"/>
              </a:ext>
            </a:extLst>
          </p:cNvPr>
          <p:cNvSpPr txBox="1"/>
          <p:nvPr/>
        </p:nvSpPr>
        <p:spPr>
          <a:xfrm>
            <a:off x="1728171" y="6404509"/>
            <a:ext cx="78547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</a:t>
            </a:r>
          </a:p>
        </p:txBody>
      </p:sp>
      <p:sp>
        <p:nvSpPr>
          <p:cNvPr id="1106" name="object-333: 初始化 / QoS / 状态">
            <a:extLst>
              <a:ext uri="{FF2B5EF4-FFF2-40B4-BE49-F238E27FC236}">
                <a16:creationId xmlns:a16="http://schemas.microsoft.com/office/drawing/2014/main" id="{9149974A-003B-4CD3-A8EF-1EE8ECF42464}"/>
              </a:ext>
            </a:extLst>
          </p:cNvPr>
          <p:cNvSpPr txBox="1"/>
          <p:nvPr/>
        </p:nvSpPr>
        <p:spPr>
          <a:xfrm>
            <a:off x="1634249" y="6543904"/>
            <a:ext cx="81753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初始化 / QoS / 状态</a:t>
            </a:r>
          </a:p>
        </p:txBody>
      </p:sp>
      <p:cxnSp>
        <p:nvCxnSpPr>
          <p:cNvPr id="1107" name="cfg-drop-2">
            <a:extLst>
              <a:ext uri="{FF2B5EF4-FFF2-40B4-BE49-F238E27FC236}">
                <a16:creationId xmlns:a16="http://schemas.microsoft.com/office/drawing/2014/main" id="{9F4659C3-075D-4ED0-936E-DE6A6EC549DA}"/>
              </a:ext>
            </a:extLst>
          </p:cNvPr>
          <p:cNvCxnSpPr/>
          <p:nvPr/>
        </p:nvCxnSpPr>
        <p:spPr>
          <a:xfrm>
            <a:off x="32723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08" name="config-C3">
            <a:extLst>
              <a:ext uri="{FF2B5EF4-FFF2-40B4-BE49-F238E27FC236}">
                <a16:creationId xmlns:a16="http://schemas.microsoft.com/office/drawing/2014/main" id="{FD1CC228-3931-43A7-986E-2A89CFC4BB36}"/>
              </a:ext>
            </a:extLst>
          </p:cNvPr>
          <p:cNvSpPr/>
          <p:nvPr/>
        </p:nvSpPr>
        <p:spPr>
          <a:xfrm>
            <a:off x="27135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9" name="cfg-tag-C3-335">
            <a:extLst>
              <a:ext uri="{FF2B5EF4-FFF2-40B4-BE49-F238E27FC236}">
                <a16:creationId xmlns:a16="http://schemas.microsoft.com/office/drawing/2014/main" id="{8EF30D5B-7E74-4F8A-AA6F-A99B62074254}"/>
              </a:ext>
            </a:extLst>
          </p:cNvPr>
          <p:cNvSpPr/>
          <p:nvPr/>
        </p:nvSpPr>
        <p:spPr>
          <a:xfrm>
            <a:off x="27406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0" name="object-337: C3">
            <a:extLst>
              <a:ext uri="{FF2B5EF4-FFF2-40B4-BE49-F238E27FC236}">
                <a16:creationId xmlns:a16="http://schemas.microsoft.com/office/drawing/2014/main" id="{E97C60F1-2A4A-45B8-B8F5-7B67D2BFAFAC}"/>
              </a:ext>
            </a:extLst>
          </p:cNvPr>
          <p:cNvSpPr txBox="1"/>
          <p:nvPr/>
        </p:nvSpPr>
        <p:spPr>
          <a:xfrm>
            <a:off x="27705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1111" name="object-338: DDR PHY">
            <a:extLst>
              <a:ext uri="{FF2B5EF4-FFF2-40B4-BE49-F238E27FC236}">
                <a16:creationId xmlns:a16="http://schemas.microsoft.com/office/drawing/2014/main" id="{2E0ECAF8-EC7A-4742-9A65-E1BECD00A38C}"/>
              </a:ext>
            </a:extLst>
          </p:cNvPr>
          <p:cNvSpPr txBox="1"/>
          <p:nvPr/>
        </p:nvSpPr>
        <p:spPr>
          <a:xfrm>
            <a:off x="3114185" y="6404509"/>
            <a:ext cx="4857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1112" name="object-339: training / 校准">
            <a:extLst>
              <a:ext uri="{FF2B5EF4-FFF2-40B4-BE49-F238E27FC236}">
                <a16:creationId xmlns:a16="http://schemas.microsoft.com/office/drawing/2014/main" id="{A6253C34-1AFB-4DF2-83A8-93EB61B5382B}"/>
              </a:ext>
            </a:extLst>
          </p:cNvPr>
          <p:cNvSpPr txBox="1"/>
          <p:nvPr/>
        </p:nvSpPr>
        <p:spPr>
          <a:xfrm>
            <a:off x="2975377" y="6543904"/>
            <a:ext cx="60753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training / 校准</a:t>
            </a:r>
          </a:p>
        </p:txBody>
      </p:sp>
      <p:cxnSp>
        <p:nvCxnSpPr>
          <p:cNvPr id="1113" name="cfg-drop-3">
            <a:extLst>
              <a:ext uri="{FF2B5EF4-FFF2-40B4-BE49-F238E27FC236}">
                <a16:creationId xmlns:a16="http://schemas.microsoft.com/office/drawing/2014/main" id="{EDF949C6-8B1D-4275-B85D-63BEABF3CA6E}"/>
              </a:ext>
            </a:extLst>
          </p:cNvPr>
          <p:cNvCxnSpPr/>
          <p:nvPr/>
        </p:nvCxnSpPr>
        <p:spPr>
          <a:xfrm>
            <a:off x="45085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14" name="config-C4">
            <a:extLst>
              <a:ext uri="{FF2B5EF4-FFF2-40B4-BE49-F238E27FC236}">
                <a16:creationId xmlns:a16="http://schemas.microsoft.com/office/drawing/2014/main" id="{D26B22F7-FB78-4AC7-97CA-8A49905BABD9}"/>
              </a:ext>
            </a:extLst>
          </p:cNvPr>
          <p:cNvSpPr/>
          <p:nvPr/>
        </p:nvSpPr>
        <p:spPr>
          <a:xfrm>
            <a:off x="39497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5" name="cfg-tag-C4-341">
            <a:extLst>
              <a:ext uri="{FF2B5EF4-FFF2-40B4-BE49-F238E27FC236}">
                <a16:creationId xmlns:a16="http://schemas.microsoft.com/office/drawing/2014/main" id="{0773182D-DD7F-4403-AD3B-10A85AE1AECF}"/>
              </a:ext>
            </a:extLst>
          </p:cNvPr>
          <p:cNvSpPr/>
          <p:nvPr/>
        </p:nvSpPr>
        <p:spPr>
          <a:xfrm>
            <a:off x="39768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6" name="object-343: C4">
            <a:extLst>
              <a:ext uri="{FF2B5EF4-FFF2-40B4-BE49-F238E27FC236}">
                <a16:creationId xmlns:a16="http://schemas.microsoft.com/office/drawing/2014/main" id="{DBFC0F46-618F-429F-82FE-2FE71B4A04FE}"/>
              </a:ext>
            </a:extLst>
          </p:cNvPr>
          <p:cNvSpPr txBox="1"/>
          <p:nvPr/>
        </p:nvSpPr>
        <p:spPr>
          <a:xfrm>
            <a:off x="40066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1117" name="object-344: LVDS">
            <a:extLst>
              <a:ext uri="{FF2B5EF4-FFF2-40B4-BE49-F238E27FC236}">
                <a16:creationId xmlns:a16="http://schemas.microsoft.com/office/drawing/2014/main" id="{0D1CDD66-F4C5-4BB7-B087-7D983702C474}"/>
              </a:ext>
            </a:extLst>
          </p:cNvPr>
          <p:cNvSpPr txBox="1"/>
          <p:nvPr/>
        </p:nvSpPr>
        <p:spPr>
          <a:xfrm>
            <a:off x="4456116" y="6404509"/>
            <a:ext cx="27411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</a:t>
            </a:r>
          </a:p>
        </p:txBody>
      </p:sp>
      <p:sp>
        <p:nvSpPr>
          <p:cNvPr id="1118" name="object-345: 通道 / 对齐 / 帧行">
            <a:extLst>
              <a:ext uri="{FF2B5EF4-FFF2-40B4-BE49-F238E27FC236}">
                <a16:creationId xmlns:a16="http://schemas.microsoft.com/office/drawing/2014/main" id="{4B5E9C71-3E3D-4B23-A84C-D78C2FB50C98}"/>
              </a:ext>
            </a:extLst>
          </p:cNvPr>
          <p:cNvSpPr txBox="1"/>
          <p:nvPr/>
        </p:nvSpPr>
        <p:spPr>
          <a:xfrm>
            <a:off x="4153002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通道 / 对齐 / 帧行</a:t>
            </a:r>
          </a:p>
        </p:txBody>
      </p:sp>
      <p:cxnSp>
        <p:nvCxnSpPr>
          <p:cNvPr id="1119" name="cfg-drop-4">
            <a:extLst>
              <a:ext uri="{FF2B5EF4-FFF2-40B4-BE49-F238E27FC236}">
                <a16:creationId xmlns:a16="http://schemas.microsoft.com/office/drawing/2014/main" id="{9F9FC02E-13E1-44FE-9C45-C8834DC7F3CC}"/>
              </a:ext>
            </a:extLst>
          </p:cNvPr>
          <p:cNvCxnSpPr/>
          <p:nvPr/>
        </p:nvCxnSpPr>
        <p:spPr>
          <a:xfrm>
            <a:off x="57446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20" name="config-C5">
            <a:extLst>
              <a:ext uri="{FF2B5EF4-FFF2-40B4-BE49-F238E27FC236}">
                <a16:creationId xmlns:a16="http://schemas.microsoft.com/office/drawing/2014/main" id="{6CC1B4D8-D42D-4752-8341-6749419CB23B}"/>
              </a:ext>
            </a:extLst>
          </p:cNvPr>
          <p:cNvSpPr/>
          <p:nvPr/>
        </p:nvSpPr>
        <p:spPr>
          <a:xfrm>
            <a:off x="51858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1" name="cfg-tag-C5-347">
            <a:extLst>
              <a:ext uri="{FF2B5EF4-FFF2-40B4-BE49-F238E27FC236}">
                <a16:creationId xmlns:a16="http://schemas.microsoft.com/office/drawing/2014/main" id="{A611B66C-ACA7-4148-9C97-B9F2439318A7}"/>
              </a:ext>
            </a:extLst>
          </p:cNvPr>
          <p:cNvSpPr/>
          <p:nvPr/>
        </p:nvSpPr>
        <p:spPr>
          <a:xfrm>
            <a:off x="52129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2" name="object-349: C5">
            <a:extLst>
              <a:ext uri="{FF2B5EF4-FFF2-40B4-BE49-F238E27FC236}">
                <a16:creationId xmlns:a16="http://schemas.microsoft.com/office/drawing/2014/main" id="{F249507D-7BC5-45DD-AA2A-9412FE14F819}"/>
              </a:ext>
            </a:extLst>
          </p:cNvPr>
          <p:cNvSpPr txBox="1"/>
          <p:nvPr/>
        </p:nvSpPr>
        <p:spPr>
          <a:xfrm>
            <a:off x="52428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1123" name="object-350: ISP">
            <a:extLst>
              <a:ext uri="{FF2B5EF4-FFF2-40B4-BE49-F238E27FC236}">
                <a16:creationId xmlns:a16="http://schemas.microsoft.com/office/drawing/2014/main" id="{E950D680-F0F9-4E72-B321-DEC64A50C971}"/>
              </a:ext>
            </a:extLst>
          </p:cNvPr>
          <p:cNvSpPr txBox="1"/>
          <p:nvPr/>
        </p:nvSpPr>
        <p:spPr>
          <a:xfrm>
            <a:off x="5747554" y="6404509"/>
            <a:ext cx="16350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1124" name="object-351: 尺寸 / 模式 / 参数">
            <a:extLst>
              <a:ext uri="{FF2B5EF4-FFF2-40B4-BE49-F238E27FC236}">
                <a16:creationId xmlns:a16="http://schemas.microsoft.com/office/drawing/2014/main" id="{177F98E4-B409-41CC-A0A8-6623314AE70B}"/>
              </a:ext>
            </a:extLst>
          </p:cNvPr>
          <p:cNvSpPr txBox="1"/>
          <p:nvPr/>
        </p:nvSpPr>
        <p:spPr>
          <a:xfrm>
            <a:off x="5389136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尺寸 / 模式 / 参数</a:t>
            </a:r>
          </a:p>
        </p:txBody>
      </p:sp>
      <p:cxnSp>
        <p:nvCxnSpPr>
          <p:cNvPr id="1125" name="cfg-drop-5">
            <a:extLst>
              <a:ext uri="{FF2B5EF4-FFF2-40B4-BE49-F238E27FC236}">
                <a16:creationId xmlns:a16="http://schemas.microsoft.com/office/drawing/2014/main" id="{4B45D672-F8C3-4DEB-8A55-2083B679E3A7}"/>
              </a:ext>
            </a:extLst>
          </p:cNvPr>
          <p:cNvCxnSpPr/>
          <p:nvPr/>
        </p:nvCxnSpPr>
        <p:spPr>
          <a:xfrm>
            <a:off x="69807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26" name="config-C6">
            <a:extLst>
              <a:ext uri="{FF2B5EF4-FFF2-40B4-BE49-F238E27FC236}">
                <a16:creationId xmlns:a16="http://schemas.microsoft.com/office/drawing/2014/main" id="{278353F7-804D-45E5-91B5-6EB9B7206E50}"/>
              </a:ext>
            </a:extLst>
          </p:cNvPr>
          <p:cNvSpPr/>
          <p:nvPr/>
        </p:nvSpPr>
        <p:spPr>
          <a:xfrm>
            <a:off x="64219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7" name="cfg-tag-C6-353">
            <a:extLst>
              <a:ext uri="{FF2B5EF4-FFF2-40B4-BE49-F238E27FC236}">
                <a16:creationId xmlns:a16="http://schemas.microsoft.com/office/drawing/2014/main" id="{CDAA4FF4-2C89-4F48-BD32-CC624BA772E7}"/>
              </a:ext>
            </a:extLst>
          </p:cNvPr>
          <p:cNvSpPr/>
          <p:nvPr/>
        </p:nvSpPr>
        <p:spPr>
          <a:xfrm>
            <a:off x="64490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8" name="object-355: C6">
            <a:extLst>
              <a:ext uri="{FF2B5EF4-FFF2-40B4-BE49-F238E27FC236}">
                <a16:creationId xmlns:a16="http://schemas.microsoft.com/office/drawing/2014/main" id="{C65DB061-DE1D-4CAC-B13F-FFA1F5AC5025}"/>
              </a:ext>
            </a:extLst>
          </p:cNvPr>
          <p:cNvSpPr txBox="1"/>
          <p:nvPr/>
        </p:nvSpPr>
        <p:spPr>
          <a:xfrm>
            <a:off x="64789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1129" name="object-356: NPU 计算">
            <a:extLst>
              <a:ext uri="{FF2B5EF4-FFF2-40B4-BE49-F238E27FC236}">
                <a16:creationId xmlns:a16="http://schemas.microsoft.com/office/drawing/2014/main" id="{D045C092-FDBE-4A50-AC65-C3106883E7E7}"/>
              </a:ext>
            </a:extLst>
          </p:cNvPr>
          <p:cNvSpPr txBox="1"/>
          <p:nvPr/>
        </p:nvSpPr>
        <p:spPr>
          <a:xfrm>
            <a:off x="6830600" y="6404509"/>
            <a:ext cx="46968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</a:t>
            </a:r>
          </a:p>
        </p:txBody>
      </p:sp>
      <p:sp>
        <p:nvSpPr>
          <p:cNvPr id="1130" name="object-357: 命令 / GB 数据位置">
            <a:extLst>
              <a:ext uri="{FF2B5EF4-FFF2-40B4-BE49-F238E27FC236}">
                <a16:creationId xmlns:a16="http://schemas.microsoft.com/office/drawing/2014/main" id="{7B517796-5D95-4836-A1C9-5EDEF9DDC026}"/>
              </a:ext>
            </a:extLst>
          </p:cNvPr>
          <p:cNvSpPr txBox="1"/>
          <p:nvPr/>
        </p:nvSpPr>
        <p:spPr>
          <a:xfrm>
            <a:off x="6596414" y="6543904"/>
            <a:ext cx="78226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 / GB 数据位置</a:t>
            </a:r>
          </a:p>
        </p:txBody>
      </p:sp>
      <p:cxnSp>
        <p:nvCxnSpPr>
          <p:cNvPr id="1131" name="cfg-drop-6">
            <a:extLst>
              <a:ext uri="{FF2B5EF4-FFF2-40B4-BE49-F238E27FC236}">
                <a16:creationId xmlns:a16="http://schemas.microsoft.com/office/drawing/2014/main" id="{2B85502C-86A5-4AA9-8C98-89E2660FD7CC}"/>
              </a:ext>
            </a:extLst>
          </p:cNvPr>
          <p:cNvCxnSpPr/>
          <p:nvPr/>
        </p:nvCxnSpPr>
        <p:spPr>
          <a:xfrm>
            <a:off x="82169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32" name="config-C7">
            <a:extLst>
              <a:ext uri="{FF2B5EF4-FFF2-40B4-BE49-F238E27FC236}">
                <a16:creationId xmlns:a16="http://schemas.microsoft.com/office/drawing/2014/main" id="{7D13D4CC-8DC3-465D-8EEA-291C7B7EC648}"/>
              </a:ext>
            </a:extLst>
          </p:cNvPr>
          <p:cNvSpPr/>
          <p:nvPr/>
        </p:nvSpPr>
        <p:spPr>
          <a:xfrm>
            <a:off x="76581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3" name="cfg-tag-C7-359">
            <a:extLst>
              <a:ext uri="{FF2B5EF4-FFF2-40B4-BE49-F238E27FC236}">
                <a16:creationId xmlns:a16="http://schemas.microsoft.com/office/drawing/2014/main" id="{6F73B46A-D6FB-4818-BFB5-448203DB466A}"/>
              </a:ext>
            </a:extLst>
          </p:cNvPr>
          <p:cNvSpPr/>
          <p:nvPr/>
        </p:nvSpPr>
        <p:spPr>
          <a:xfrm>
            <a:off x="76852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4" name="object-361: C7">
            <a:extLst>
              <a:ext uri="{FF2B5EF4-FFF2-40B4-BE49-F238E27FC236}">
                <a16:creationId xmlns:a16="http://schemas.microsoft.com/office/drawing/2014/main" id="{00F37390-1D4A-40CC-8738-1614EE58ECB1}"/>
              </a:ext>
            </a:extLst>
          </p:cNvPr>
          <p:cNvSpPr txBox="1"/>
          <p:nvPr/>
        </p:nvSpPr>
        <p:spPr>
          <a:xfrm>
            <a:off x="77150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sp>
        <p:nvSpPr>
          <p:cNvPr id="1135" name="object-362: NPU / GB 搬运">
            <a:extLst>
              <a:ext uri="{FF2B5EF4-FFF2-40B4-BE49-F238E27FC236}">
                <a16:creationId xmlns:a16="http://schemas.microsoft.com/office/drawing/2014/main" id="{3397B153-B8D6-4FE1-871C-9063CEEAC31E}"/>
              </a:ext>
            </a:extLst>
          </p:cNvPr>
          <p:cNvSpPr txBox="1"/>
          <p:nvPr/>
        </p:nvSpPr>
        <p:spPr>
          <a:xfrm>
            <a:off x="7937692" y="6404509"/>
            <a:ext cx="7277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搬运</a:t>
            </a:r>
          </a:p>
        </p:txBody>
      </p:sp>
      <p:sp>
        <p:nvSpPr>
          <p:cNvPr id="1136" name="object-363: 地址 / 长度 / stride">
            <a:extLst>
              <a:ext uri="{FF2B5EF4-FFF2-40B4-BE49-F238E27FC236}">
                <a16:creationId xmlns:a16="http://schemas.microsoft.com/office/drawing/2014/main" id="{46463D2C-7540-40D6-B1D7-5547CEA3990E}"/>
              </a:ext>
            </a:extLst>
          </p:cNvPr>
          <p:cNvSpPr txBox="1"/>
          <p:nvPr/>
        </p:nvSpPr>
        <p:spPr>
          <a:xfrm>
            <a:off x="7830144" y="6543904"/>
            <a:ext cx="78707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长度 / stride</a:t>
            </a:r>
          </a:p>
        </p:txBody>
      </p:sp>
      <p:cxnSp>
        <p:nvCxnSpPr>
          <p:cNvPr id="1137" name="cfg-drop-7">
            <a:extLst>
              <a:ext uri="{FF2B5EF4-FFF2-40B4-BE49-F238E27FC236}">
                <a16:creationId xmlns:a16="http://schemas.microsoft.com/office/drawing/2014/main" id="{29684AB7-0E4B-4CA2-ACA9-F9FC9F188213}"/>
              </a:ext>
            </a:extLst>
          </p:cNvPr>
          <p:cNvCxnSpPr/>
          <p:nvPr/>
        </p:nvCxnSpPr>
        <p:spPr>
          <a:xfrm>
            <a:off x="94530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38" name="config-C8">
            <a:extLst>
              <a:ext uri="{FF2B5EF4-FFF2-40B4-BE49-F238E27FC236}">
                <a16:creationId xmlns:a16="http://schemas.microsoft.com/office/drawing/2014/main" id="{2ED4E969-B01E-4966-8634-48D96A8D3A41}"/>
              </a:ext>
            </a:extLst>
          </p:cNvPr>
          <p:cNvSpPr/>
          <p:nvPr/>
        </p:nvSpPr>
        <p:spPr>
          <a:xfrm>
            <a:off x="88942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9" name="cfg-tag-C8-365">
            <a:extLst>
              <a:ext uri="{FF2B5EF4-FFF2-40B4-BE49-F238E27FC236}">
                <a16:creationId xmlns:a16="http://schemas.microsoft.com/office/drawing/2014/main" id="{EBCB35F8-0CD4-49B4-A763-33747BA3C3CD}"/>
              </a:ext>
            </a:extLst>
          </p:cNvPr>
          <p:cNvSpPr/>
          <p:nvPr/>
        </p:nvSpPr>
        <p:spPr>
          <a:xfrm>
            <a:off x="89213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0" name="object-367: C8">
            <a:extLst>
              <a:ext uri="{FF2B5EF4-FFF2-40B4-BE49-F238E27FC236}">
                <a16:creationId xmlns:a16="http://schemas.microsoft.com/office/drawing/2014/main" id="{E4E4DBFE-CDD6-4B81-A8AB-F64600ABF1A2}"/>
              </a:ext>
            </a:extLst>
          </p:cNvPr>
          <p:cNvSpPr txBox="1"/>
          <p:nvPr/>
        </p:nvSpPr>
        <p:spPr>
          <a:xfrm>
            <a:off x="89512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sp>
        <p:nvSpPr>
          <p:cNvPr id="1141" name="object-368: 帧写入 DMA">
            <a:extLst>
              <a:ext uri="{FF2B5EF4-FFF2-40B4-BE49-F238E27FC236}">
                <a16:creationId xmlns:a16="http://schemas.microsoft.com/office/drawing/2014/main" id="{CD7E6EE8-0973-4492-A197-613D4F6E6033}"/>
              </a:ext>
            </a:extLst>
          </p:cNvPr>
          <p:cNvSpPr txBox="1"/>
          <p:nvPr/>
        </p:nvSpPr>
        <p:spPr>
          <a:xfrm>
            <a:off x="9236342" y="6404509"/>
            <a:ext cx="60272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1142" name="object-369: 缓冲区 / 格式 / 帧状态">
            <a:extLst>
              <a:ext uri="{FF2B5EF4-FFF2-40B4-BE49-F238E27FC236}">
                <a16:creationId xmlns:a16="http://schemas.microsoft.com/office/drawing/2014/main" id="{E2AE1912-A727-41EC-A486-B189C52CE142}"/>
              </a:ext>
            </a:extLst>
          </p:cNvPr>
          <p:cNvSpPr txBox="1"/>
          <p:nvPr/>
        </p:nvSpPr>
        <p:spPr>
          <a:xfrm>
            <a:off x="9007767" y="6543904"/>
            <a:ext cx="90409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缓冲区 / 格式 / 帧状态</a:t>
            </a:r>
          </a:p>
        </p:txBody>
      </p:sp>
      <p:cxnSp>
        <p:nvCxnSpPr>
          <p:cNvPr id="1143" name="cfg-drop-8">
            <a:extLst>
              <a:ext uri="{FF2B5EF4-FFF2-40B4-BE49-F238E27FC236}">
                <a16:creationId xmlns:a16="http://schemas.microsoft.com/office/drawing/2014/main" id="{6D0C51E7-3698-400F-AFB6-5FFB51C09CCC}"/>
              </a:ext>
            </a:extLst>
          </p:cNvPr>
          <p:cNvCxnSpPr/>
          <p:nvPr/>
        </p:nvCxnSpPr>
        <p:spPr>
          <a:xfrm>
            <a:off x="106891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44" name="config-C9">
            <a:extLst>
              <a:ext uri="{FF2B5EF4-FFF2-40B4-BE49-F238E27FC236}">
                <a16:creationId xmlns:a16="http://schemas.microsoft.com/office/drawing/2014/main" id="{A7DE2F09-15E5-403C-A657-5883136E6BFA}"/>
              </a:ext>
            </a:extLst>
          </p:cNvPr>
          <p:cNvSpPr/>
          <p:nvPr/>
        </p:nvSpPr>
        <p:spPr>
          <a:xfrm>
            <a:off x="101303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5" name="cfg-tag-C9-371">
            <a:extLst>
              <a:ext uri="{FF2B5EF4-FFF2-40B4-BE49-F238E27FC236}">
                <a16:creationId xmlns:a16="http://schemas.microsoft.com/office/drawing/2014/main" id="{EC19E98D-C9D9-4491-BD14-FCCCDA735527}"/>
              </a:ext>
            </a:extLst>
          </p:cNvPr>
          <p:cNvSpPr/>
          <p:nvPr/>
        </p:nvSpPr>
        <p:spPr>
          <a:xfrm>
            <a:off x="101574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6" name="object-373: C9">
            <a:extLst>
              <a:ext uri="{FF2B5EF4-FFF2-40B4-BE49-F238E27FC236}">
                <a16:creationId xmlns:a16="http://schemas.microsoft.com/office/drawing/2014/main" id="{D455D383-83D7-4D67-8F24-A05F0A6276FA}"/>
              </a:ext>
            </a:extLst>
          </p:cNvPr>
          <p:cNvSpPr txBox="1"/>
          <p:nvPr/>
        </p:nvSpPr>
        <p:spPr>
          <a:xfrm>
            <a:off x="101873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sp>
        <p:nvSpPr>
          <p:cNvPr id="1147" name="object-374: GB 管理">
            <a:extLst>
              <a:ext uri="{FF2B5EF4-FFF2-40B4-BE49-F238E27FC236}">
                <a16:creationId xmlns:a16="http://schemas.microsoft.com/office/drawing/2014/main" id="{76F57F06-D237-40EB-8501-C0713759F470}"/>
              </a:ext>
            </a:extLst>
          </p:cNvPr>
          <p:cNvSpPr txBox="1"/>
          <p:nvPr/>
        </p:nvSpPr>
        <p:spPr>
          <a:xfrm>
            <a:off x="10581480" y="6404509"/>
            <a:ext cx="38472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管理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48" name="object-375: 能力 / bank / 错误">
            <a:extLst>
              <a:ext uri="{FF2B5EF4-FFF2-40B4-BE49-F238E27FC236}">
                <a16:creationId xmlns:a16="http://schemas.microsoft.com/office/drawing/2014/main" id="{DF247AB9-4297-42BE-8D18-1EDCEA92D717}"/>
              </a:ext>
            </a:extLst>
          </p:cNvPr>
          <p:cNvSpPr txBox="1"/>
          <p:nvPr/>
        </p:nvSpPr>
        <p:spPr>
          <a:xfrm>
            <a:off x="10317638" y="6543904"/>
            <a:ext cx="75661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能力 / bank / 错误</a:t>
            </a:r>
          </a:p>
        </p:txBody>
      </p:sp>
      <p:cxnSp>
        <p:nvCxnSpPr>
          <p:cNvPr id="1149" name="legend-314D66">
            <a:extLst>
              <a:ext uri="{FF2B5EF4-FFF2-40B4-BE49-F238E27FC236}">
                <a16:creationId xmlns:a16="http://schemas.microsoft.com/office/drawing/2014/main" id="{D48C70D7-F2C8-4BCA-A764-A767E03B0994}"/>
              </a:ext>
            </a:extLst>
          </p:cNvPr>
          <p:cNvCxnSpPr/>
          <p:nvPr/>
        </p:nvCxnSpPr>
        <p:spPr>
          <a:xfrm>
            <a:off x="11387290" y="2686502"/>
            <a:ext cx="223520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150" name="object-377: AXI 请求 / 数据">
            <a:extLst>
              <a:ext uri="{FF2B5EF4-FFF2-40B4-BE49-F238E27FC236}">
                <a16:creationId xmlns:a16="http://schemas.microsoft.com/office/drawing/2014/main" id="{D19FA279-B019-40A0-80F0-D37345270BC9}"/>
              </a:ext>
            </a:extLst>
          </p:cNvPr>
          <p:cNvSpPr txBox="1"/>
          <p:nvPr/>
        </p:nvSpPr>
        <p:spPr>
          <a:xfrm>
            <a:off x="11645256" y="2610385"/>
            <a:ext cx="546744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</a:t>
            </a:r>
            <a:r>
              <a:rPr sz="8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请求</a:t>
            </a:r>
            <a:r>
              <a:rPr sz="8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数据</a:t>
            </a:r>
            <a:endParaRPr sz="800" dirty="0">
              <a:solidFill>
                <a:srgbClr val="314D66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1" name="legend-187C78">
            <a:extLst>
              <a:ext uri="{FF2B5EF4-FFF2-40B4-BE49-F238E27FC236}">
                <a16:creationId xmlns:a16="http://schemas.microsoft.com/office/drawing/2014/main" id="{B8504D5C-CC0C-4D1E-9AAF-36DC929E006E}"/>
              </a:ext>
            </a:extLst>
          </p:cNvPr>
          <p:cNvCxnSpPr/>
          <p:nvPr/>
        </p:nvCxnSpPr>
        <p:spPr>
          <a:xfrm>
            <a:off x="11378364" y="2924292"/>
            <a:ext cx="223520" cy="0"/>
          </a:xfrm>
          <a:prstGeom prst="line">
            <a:avLst/>
          </a:prstGeom>
          <a:ln w="24384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152" name="object-379: GB 读写">
            <a:extLst>
              <a:ext uri="{FF2B5EF4-FFF2-40B4-BE49-F238E27FC236}">
                <a16:creationId xmlns:a16="http://schemas.microsoft.com/office/drawing/2014/main" id="{7A3B741E-CC06-4663-B3A5-906794257738}"/>
              </a:ext>
            </a:extLst>
          </p:cNvPr>
          <p:cNvSpPr txBox="1"/>
          <p:nvPr/>
        </p:nvSpPr>
        <p:spPr>
          <a:xfrm>
            <a:off x="11670460" y="2886700"/>
            <a:ext cx="414865" cy="12311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读写</a:t>
            </a:r>
            <a:endParaRPr sz="800" dirty="0">
              <a:solidFill>
                <a:srgbClr val="187C78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3" name="legend-B96043">
            <a:extLst>
              <a:ext uri="{FF2B5EF4-FFF2-40B4-BE49-F238E27FC236}">
                <a16:creationId xmlns:a16="http://schemas.microsoft.com/office/drawing/2014/main" id="{E895588E-BB73-4229-80C5-7F71696E9926}"/>
              </a:ext>
            </a:extLst>
          </p:cNvPr>
          <p:cNvCxnSpPr/>
          <p:nvPr/>
        </p:nvCxnSpPr>
        <p:spPr>
          <a:xfrm>
            <a:off x="11378364" y="3123357"/>
            <a:ext cx="223520" cy="0"/>
          </a:xfrm>
          <a:prstGeom prst="line">
            <a:avLst/>
          </a:prstGeom>
          <a:ln w="24384" cap="flat">
            <a:solidFill>
              <a:srgbClr val="B96043"/>
            </a:solidFill>
            <a:tailEnd type="triangle" w="med" len="med"/>
          </a:ln>
          <a:effectLst/>
        </p:spPr>
      </p:cxnSp>
      <p:sp>
        <p:nvSpPr>
          <p:cNvPr id="1154" name="object-381: 像素流">
            <a:extLst>
              <a:ext uri="{FF2B5EF4-FFF2-40B4-BE49-F238E27FC236}">
                <a16:creationId xmlns:a16="http://schemas.microsoft.com/office/drawing/2014/main" id="{3D0AACF3-BEDD-45BD-BCE9-6489BC0535FE}"/>
              </a:ext>
            </a:extLst>
          </p:cNvPr>
          <p:cNvSpPr txBox="1"/>
          <p:nvPr/>
        </p:nvSpPr>
        <p:spPr>
          <a:xfrm>
            <a:off x="11653382" y="3054448"/>
            <a:ext cx="3077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800" dirty="0" err="1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像素流</a:t>
            </a:r>
            <a:endParaRPr sz="800" dirty="0">
              <a:solidFill>
                <a:srgbClr val="B96043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5" name="legend-765489">
            <a:extLst>
              <a:ext uri="{FF2B5EF4-FFF2-40B4-BE49-F238E27FC236}">
                <a16:creationId xmlns:a16="http://schemas.microsoft.com/office/drawing/2014/main" id="{FAB5FF2C-C129-45F3-A80C-C3C411708100}"/>
              </a:ext>
            </a:extLst>
          </p:cNvPr>
          <p:cNvCxnSpPr/>
          <p:nvPr/>
        </p:nvCxnSpPr>
        <p:spPr>
          <a:xfrm>
            <a:off x="11378364" y="3302850"/>
            <a:ext cx="223520" cy="0"/>
          </a:xfrm>
          <a:prstGeom prst="line">
            <a:avLst/>
          </a:prstGeom>
          <a:ln w="24384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56" name="object-383: 配置 / 控制">
            <a:extLst>
              <a:ext uri="{FF2B5EF4-FFF2-40B4-BE49-F238E27FC236}">
                <a16:creationId xmlns:a16="http://schemas.microsoft.com/office/drawing/2014/main" id="{D1F8BDB7-8760-465C-91A5-FF1CDECEDED0}"/>
              </a:ext>
            </a:extLst>
          </p:cNvPr>
          <p:cNvSpPr txBox="1"/>
          <p:nvPr/>
        </p:nvSpPr>
        <p:spPr>
          <a:xfrm>
            <a:off x="11660508" y="3244220"/>
            <a:ext cx="514564" cy="12311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配置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控制</a:t>
            </a:r>
            <a:endParaRPr sz="800" dirty="0">
              <a:solidFill>
                <a:srgbClr val="76548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57" name="legend-dash">
            <a:extLst>
              <a:ext uri="{FF2B5EF4-FFF2-40B4-BE49-F238E27FC236}">
                <a16:creationId xmlns:a16="http://schemas.microsoft.com/office/drawing/2014/main" id="{DE0AA521-9BB8-482B-A591-AF0C06A14B81}"/>
              </a:ext>
            </a:extLst>
          </p:cNvPr>
          <p:cNvSpPr/>
          <p:nvPr/>
        </p:nvSpPr>
        <p:spPr>
          <a:xfrm>
            <a:off x="11391536" y="3484029"/>
            <a:ext cx="182880" cy="88053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58" name="object-385: 虚线：可选或新增候选">
            <a:extLst>
              <a:ext uri="{FF2B5EF4-FFF2-40B4-BE49-F238E27FC236}">
                <a16:creationId xmlns:a16="http://schemas.microsoft.com/office/drawing/2014/main" id="{4908C77F-5911-4B28-BE29-98064CB4BEB0}"/>
              </a:ext>
            </a:extLst>
          </p:cNvPr>
          <p:cNvSpPr txBox="1"/>
          <p:nvPr/>
        </p:nvSpPr>
        <p:spPr>
          <a:xfrm>
            <a:off x="11659706" y="3428900"/>
            <a:ext cx="532293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虚线：可选或新增候选</a:t>
            </a:r>
            <a:endParaRPr sz="8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200" name="filter-width-direct"/>
          <p:cNvCxnSpPr/>
          <p:nvPr/>
        </p:nvCxnSpPr>
        <p:spPr>
          <a:xfrm>
            <a:off x="2053173" y="1832661"/>
            <a:ext cx="745067" cy="0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1300" name="m5-target-drop"/>
          <p:cNvCxnSpPr/>
          <p:nvPr/>
        </p:nvCxnSpPr>
        <p:spPr>
          <a:xfrm>
            <a:off x="8250767" y="3529245"/>
            <a:ext cx="0" cy="172720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301" name="gb-interface-to-controller"/>
          <p:cNvSpPr/>
          <p:nvPr/>
        </p:nvSpPr>
        <p:spPr>
          <a:xfrm>
            <a:off x="5101167" y="2161032"/>
            <a:ext cx="4855633" cy="1801368"/>
          </a:xfrm>
          <a:custGeom>
            <a:avLst/>
            <a:gdLst/>
            <a:ahLst/>
            <a:cxnLst/>
            <a:rect l="0" t="0" r="r" b="b"/>
            <a:pathLst>
              <a:path w="4855633" h="1801368" fill="none">
                <a:moveTo>
                  <a:pt x="3589867" y="1801368"/>
                </a:moveTo>
                <a:lnTo>
                  <a:pt x="3640667" y="1801368"/>
                </a:lnTo>
                <a:lnTo>
                  <a:pt x="3640667" y="1456267"/>
                </a:lnTo>
                <a:lnTo>
                  <a:pt x="4167293" y="1456267"/>
                </a:lnTo>
                <a:cubicBezTo>
                  <a:pt x="4167293" y="1395307"/>
                  <a:pt x="4248573" y="1395307"/>
                  <a:pt x="4248573" y="1456267"/>
                </a:cubicBezTo>
                <a:lnTo>
                  <a:pt x="4855633" y="1456267"/>
                </a:lnTo>
                <a:lnTo>
                  <a:pt x="4855633" y="311235"/>
                </a:lnTo>
                <a:lnTo>
                  <a:pt x="0" y="311235"/>
                </a:lnTo>
                <a:lnTo>
                  <a:pt x="0" y="298027"/>
                </a:lnTo>
                <a:cubicBezTo>
                  <a:pt x="45156" y="275449"/>
                  <a:pt x="45156" y="252871"/>
                  <a:pt x="0" y="230293"/>
                </a:cubicBezTo>
                <a:lnTo>
                  <a:pt x="0" y="0"/>
                </a:lnTo>
              </a:path>
            </a:pathLst>
          </a:custGeom>
          <a:noFill/>
          <a:ln w="26010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2" name="target-port-m5"/>
          <p:cNvSpPr/>
          <p:nvPr/>
        </p:nvSpPr>
        <p:spPr>
          <a:xfrm>
            <a:off x="8088207" y="3431032"/>
            <a:ext cx="325120" cy="9821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3" name="target-label-m5: M5"/>
          <p:cNvSpPr txBox="1"/>
          <p:nvPr/>
        </p:nvSpPr>
        <p:spPr>
          <a:xfrm>
            <a:off x="8158607" y="3439837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M5</a:t>
            </a:r>
          </a:p>
        </p:txBody>
      </p:sp>
      <p:sp>
        <p:nvSpPr>
          <p:cNvPr id="1304" name="gb-axi-interface"/>
          <p:cNvSpPr/>
          <p:nvPr/>
        </p:nvSpPr>
        <p:spPr>
          <a:xfrm>
            <a:off x="7810500" y="3701965"/>
            <a:ext cx="880533" cy="5249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5" name="gb-interface-title: GB AXI 接口"/>
          <p:cNvSpPr txBox="1"/>
          <p:nvPr/>
        </p:nvSpPr>
        <p:spPr>
          <a:xfrm>
            <a:off x="7933960" y="3788325"/>
            <a:ext cx="63361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AXI 接口</a:t>
            </a:r>
          </a:p>
        </p:txBody>
      </p:sp>
      <p:sp>
        <p:nvSpPr>
          <p:cNvPr id="1306" name="gb-interface-clients: CPU / Ara 共用"/>
          <p:cNvSpPr txBox="1"/>
          <p:nvPr/>
        </p:nvSpPr>
        <p:spPr>
          <a:xfrm>
            <a:off x="7861879" y="3920405"/>
            <a:ext cx="77777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共用</a:t>
            </a:r>
          </a:p>
        </p:txBody>
      </p:sp>
      <p:sp>
        <p:nvSpPr>
          <p:cNvPr id="1307" name="gb-interface-width: 64-bit 数据窗口"/>
          <p:cNvSpPr txBox="1"/>
          <p:nvPr/>
        </p:nvSpPr>
        <p:spPr>
          <a:xfrm>
            <a:off x="7849624" y="4049099"/>
            <a:ext cx="802285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64-bit 数据窗口</a:t>
            </a:r>
          </a:p>
        </p:txBody>
      </p:sp>
    </p:spTree>
    <p:extLst>
      <p:ext uri="{BB962C8B-B14F-4D97-AF65-F5344CB8AC3E}">
        <p14:creationId xmlns:p14="http://schemas.microsoft.com/office/powerpoint/2010/main" val="2187131506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owerpoint template design by DAJU_PPT正版来源小红书大橘PPT微信DAJU_PPT请勿抄袭搬运！盗版必究！"/>
          <p:cNvSpPr/>
          <p:nvPr/>
        </p:nvSpPr>
        <p:spPr>
          <a:xfrm>
            <a:off x="0" y="0"/>
            <a:ext cx="12192000" cy="527280"/>
          </a:xfrm>
          <a:prstGeom prst="rect">
            <a:avLst/>
          </a:prstGeom>
          <a:solidFill>
            <a:srgbClr val="00499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9" name="powerpoint template design by DAJU_PPT正版来源小红书大橘PPT微信DAJU_PPT请勿抄袭搬运！盗版必究！"/>
          <p:cNvSpPr txBox="1"/>
          <p:nvPr userDrawn="1"/>
        </p:nvSpPr>
        <p:spPr>
          <a:xfrm>
            <a:off x="3087469" y="75869"/>
            <a:ext cx="6850351" cy="375542"/>
          </a:xfrm>
          <a:prstGeom prst="rect">
            <a:avLst/>
          </a:prstGeom>
          <a:noFill/>
        </p:spPr>
        <p:txBody>
          <a:bodyPr wrap="square" lIns="25200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algn="ctr">
              <a:defRPr/>
            </a:pPr>
            <a:r>
              <a:rPr lang="en-US" altLang="zh-CN" sz="2400" b="1" kern="0" dirty="0">
                <a:solidFill>
                  <a:schemeClr val="bg1"/>
                </a:solidFill>
                <a:cs typeface="+mn-ea"/>
                <a:sym typeface="+mn-lt"/>
              </a:rPr>
              <a:t>SoC</a:t>
            </a:r>
            <a:r>
              <a:rPr lang="zh-CN" altLang="en-US" sz="2400" b="1" kern="0" dirty="0">
                <a:solidFill>
                  <a:schemeClr val="bg1"/>
                </a:solidFill>
                <a:cs typeface="+mn-ea"/>
                <a:sym typeface="+mn-lt"/>
              </a:rPr>
              <a:t>硬件层</a:t>
            </a:r>
          </a:p>
        </p:txBody>
      </p:sp>
      <p:sp>
        <p:nvSpPr>
          <p:cNvPr id="777" name="soc-boundary">
            <a:extLst>
              <a:ext uri="{FF2B5EF4-FFF2-40B4-BE49-F238E27FC236}">
                <a16:creationId xmlns:a16="http://schemas.microsoft.com/office/drawing/2014/main" id="{CB19764B-E839-45AE-B084-14D7FCBA29C1}"/>
              </a:ext>
            </a:extLst>
          </p:cNvPr>
          <p:cNvSpPr/>
          <p:nvPr/>
        </p:nvSpPr>
        <p:spPr>
          <a:xfrm>
            <a:off x="71973" y="603149"/>
            <a:ext cx="11260667" cy="6180667"/>
          </a:xfrm>
          <a:prstGeom prst="rect">
            <a:avLst/>
          </a:prstGeom>
          <a:solidFill>
            <a:srgbClr val="FFFFFF"/>
          </a:solidFill>
          <a:ln w="40640" cap="flat">
            <a:solidFill>
              <a:srgbClr val="645C5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78" name="object-005: SoC">
            <a:extLst>
              <a:ext uri="{FF2B5EF4-FFF2-40B4-BE49-F238E27FC236}">
                <a16:creationId xmlns:a16="http://schemas.microsoft.com/office/drawing/2014/main" id="{A729F37A-FE4E-4444-AC4E-C0268DDC04AC}"/>
              </a:ext>
            </a:extLst>
          </p:cNvPr>
          <p:cNvSpPr txBox="1"/>
          <p:nvPr/>
        </p:nvSpPr>
        <p:spPr>
          <a:xfrm>
            <a:off x="3725333" y="608488"/>
            <a:ext cx="4064000" cy="21544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0" b="1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SoC 架构：CPU / Ara 共享 GB 出口</a:t>
            </a:r>
          </a:p>
        </p:txBody>
      </p:sp>
      <p:sp>
        <p:nvSpPr>
          <p:cNvPr id="779" name="cpu-platform">
            <a:extLst>
              <a:ext uri="{FF2B5EF4-FFF2-40B4-BE49-F238E27FC236}">
                <a16:creationId xmlns:a16="http://schemas.microsoft.com/office/drawing/2014/main" id="{AF24C96E-7639-4A3D-B153-780FAD5C80B8}"/>
              </a:ext>
            </a:extLst>
          </p:cNvPr>
          <p:cNvSpPr/>
          <p:nvPr/>
        </p:nvSpPr>
        <p:spPr>
          <a:xfrm>
            <a:off x="241307" y="840216"/>
            <a:ext cx="3166533" cy="1439333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0" name="object-007: CVA6–Ara 计算平台">
            <a:extLst>
              <a:ext uri="{FF2B5EF4-FFF2-40B4-BE49-F238E27FC236}">
                <a16:creationId xmlns:a16="http://schemas.microsoft.com/office/drawing/2014/main" id="{124C73D2-9AEE-45DB-8A2C-B9E829D70CF4}"/>
              </a:ext>
            </a:extLst>
          </p:cNvPr>
          <p:cNvSpPr txBox="1"/>
          <p:nvPr/>
        </p:nvSpPr>
        <p:spPr>
          <a:xfrm>
            <a:off x="1164047" y="855252"/>
            <a:ext cx="1317668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CVA6–Ara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计算平台</a:t>
            </a:r>
            <a:endParaRPr sz="11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1" name="cva6">
            <a:extLst>
              <a:ext uri="{FF2B5EF4-FFF2-40B4-BE49-F238E27FC236}">
                <a16:creationId xmlns:a16="http://schemas.microsoft.com/office/drawing/2014/main" id="{A278632C-7678-4A74-9EF4-ED3825AC645F}"/>
              </a:ext>
            </a:extLst>
          </p:cNvPr>
          <p:cNvSpPr/>
          <p:nvPr/>
        </p:nvSpPr>
        <p:spPr>
          <a:xfrm>
            <a:off x="325973" y="1111149"/>
            <a:ext cx="846667" cy="7281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2" name="object-009: CVA6 core 0">
            <a:extLst>
              <a:ext uri="{FF2B5EF4-FFF2-40B4-BE49-F238E27FC236}">
                <a16:creationId xmlns:a16="http://schemas.microsoft.com/office/drawing/2014/main" id="{2BE65702-B1F0-4B4E-BF09-D79ADBF299AC}"/>
              </a:ext>
            </a:extLst>
          </p:cNvPr>
          <p:cNvSpPr txBox="1"/>
          <p:nvPr/>
        </p:nvSpPr>
        <p:spPr>
          <a:xfrm>
            <a:off x="435118" y="1266910"/>
            <a:ext cx="6283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 core 0</a:t>
            </a:r>
          </a:p>
        </p:txBody>
      </p:sp>
      <p:sp>
        <p:nvSpPr>
          <p:cNvPr id="783" name="object-010: L1 I / D cache">
            <a:extLst>
              <a:ext uri="{FF2B5EF4-FFF2-40B4-BE49-F238E27FC236}">
                <a16:creationId xmlns:a16="http://schemas.microsoft.com/office/drawing/2014/main" id="{C4F3F2C8-88D6-4730-A950-0FE57919B9CE}"/>
              </a:ext>
            </a:extLst>
          </p:cNvPr>
          <p:cNvSpPr txBox="1"/>
          <p:nvPr/>
        </p:nvSpPr>
        <p:spPr>
          <a:xfrm>
            <a:off x="415883" y="1403461"/>
            <a:ext cx="66684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L1 I / D cache</a:t>
            </a:r>
          </a:p>
        </p:txBody>
      </p:sp>
      <p:sp>
        <p:nvSpPr>
          <p:cNvPr id="784" name="object-011: MMU · AXI 适配">
            <a:extLst>
              <a:ext uri="{FF2B5EF4-FFF2-40B4-BE49-F238E27FC236}">
                <a16:creationId xmlns:a16="http://schemas.microsoft.com/office/drawing/2014/main" id="{1308FC2B-9804-4676-9C81-F66B696127BD}"/>
              </a:ext>
            </a:extLst>
          </p:cNvPr>
          <p:cNvSpPr txBox="1"/>
          <p:nvPr/>
        </p:nvSpPr>
        <p:spPr>
          <a:xfrm>
            <a:off x="365387" y="1511834"/>
            <a:ext cx="7678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MMU · AXI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适配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5" name="ara-core">
            <a:extLst>
              <a:ext uri="{FF2B5EF4-FFF2-40B4-BE49-F238E27FC236}">
                <a16:creationId xmlns:a16="http://schemas.microsoft.com/office/drawing/2014/main" id="{326B305C-1397-4FB6-907C-47D8D0CC135D}"/>
              </a:ext>
            </a:extLst>
          </p:cNvPr>
          <p:cNvSpPr/>
          <p:nvPr/>
        </p:nvSpPr>
        <p:spPr>
          <a:xfrm>
            <a:off x="1341973" y="1111149"/>
            <a:ext cx="1964267" cy="4233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6" name="object-013: Ara 向量处理器">
            <a:extLst>
              <a:ext uri="{FF2B5EF4-FFF2-40B4-BE49-F238E27FC236}">
                <a16:creationId xmlns:a16="http://schemas.microsoft.com/office/drawing/2014/main" id="{64417BFF-AAB1-4D2B-AB14-3C166730A1DE}"/>
              </a:ext>
            </a:extLst>
          </p:cNvPr>
          <p:cNvSpPr txBox="1"/>
          <p:nvPr/>
        </p:nvSpPr>
        <p:spPr>
          <a:xfrm>
            <a:off x="1962629" y="1187535"/>
            <a:ext cx="72295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Ara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向量处理器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7" name="object-014: VLSU / AXI：32 × lanes bit">
            <a:extLst>
              <a:ext uri="{FF2B5EF4-FFF2-40B4-BE49-F238E27FC236}">
                <a16:creationId xmlns:a16="http://schemas.microsoft.com/office/drawing/2014/main" id="{301DDB2E-AC9E-4A6E-9896-07E073F592EE}"/>
              </a:ext>
            </a:extLst>
          </p:cNvPr>
          <p:cNvSpPr txBox="1"/>
          <p:nvPr/>
        </p:nvSpPr>
        <p:spPr>
          <a:xfrm>
            <a:off x="1671685" y="1324086"/>
            <a:ext cx="130484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2 lanes · VLSU / AXI：64 bit</a:t>
            </a:r>
          </a:p>
        </p:txBody>
      </p:sp>
      <p:cxnSp>
        <p:nvCxnSpPr>
          <p:cNvPr id="788" name="cva6-ara-control">
            <a:extLst>
              <a:ext uri="{FF2B5EF4-FFF2-40B4-BE49-F238E27FC236}">
                <a16:creationId xmlns:a16="http://schemas.microsoft.com/office/drawing/2014/main" id="{A119614B-6831-451B-BA2D-3B24BC8398AF}"/>
              </a:ext>
            </a:extLst>
          </p:cNvPr>
          <p:cNvCxnSpPr/>
          <p:nvPr/>
        </p:nvCxnSpPr>
        <p:spPr>
          <a:xfrm>
            <a:off x="1172640" y="1314349"/>
            <a:ext cx="169333" cy="0"/>
          </a:xfrm>
          <a:prstGeom prst="line">
            <a:avLst/>
          </a:prstGeom>
          <a:ln w="20320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789" name="object-016: 指令 / MMU">
            <a:extLst>
              <a:ext uri="{FF2B5EF4-FFF2-40B4-BE49-F238E27FC236}">
                <a16:creationId xmlns:a16="http://schemas.microsoft.com/office/drawing/2014/main" id="{E1752098-E990-4C62-8143-B7F1B4EE3C96}"/>
              </a:ext>
            </a:extLst>
          </p:cNvPr>
          <p:cNvSpPr txBox="1"/>
          <p:nvPr/>
        </p:nvSpPr>
        <p:spPr>
          <a:xfrm>
            <a:off x="1040281" y="1007788"/>
            <a:ext cx="440826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指令 / MMU</a:t>
            </a:r>
          </a:p>
        </p:txBody>
      </p:sp>
      <p:sp>
        <p:nvSpPr>
          <p:cNvPr id="790" name="ara-filter">
            <a:extLst>
              <a:ext uri="{FF2B5EF4-FFF2-40B4-BE49-F238E27FC236}">
                <a16:creationId xmlns:a16="http://schemas.microsoft.com/office/drawing/2014/main" id="{53C8AB6E-31EB-44B7-B4FC-68060C84843C}"/>
              </a:ext>
            </a:extLst>
          </p:cNvPr>
          <p:cNvSpPr/>
          <p:nvPr/>
        </p:nvSpPr>
        <p:spPr>
          <a:xfrm>
            <a:off x="1409706" y="1686883"/>
            <a:ext cx="643467" cy="29125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91" name="object-018: 失效过滤">
            <a:extLst>
              <a:ext uri="{FF2B5EF4-FFF2-40B4-BE49-F238E27FC236}">
                <a16:creationId xmlns:a16="http://schemas.microsoft.com/office/drawing/2014/main" id="{77AF999C-5811-4EB4-A28F-6FC6EB19EA75}"/>
              </a:ext>
            </a:extLst>
          </p:cNvPr>
          <p:cNvSpPr txBox="1"/>
          <p:nvPr/>
        </p:nvSpPr>
        <p:spPr>
          <a:xfrm>
            <a:off x="1526255" y="1720749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失效过滤</a:t>
            </a:r>
          </a:p>
        </p:txBody>
      </p:sp>
      <p:sp>
        <p:nvSpPr>
          <p:cNvPr id="792" name="object-019: 现有 filter">
            <a:extLst>
              <a:ext uri="{FF2B5EF4-FFF2-40B4-BE49-F238E27FC236}">
                <a16:creationId xmlns:a16="http://schemas.microsoft.com/office/drawing/2014/main" id="{E3F41616-6AF3-4FF6-850B-A98674451E27}"/>
              </a:ext>
            </a:extLst>
          </p:cNvPr>
          <p:cNvSpPr txBox="1"/>
          <p:nvPr/>
        </p:nvSpPr>
        <p:spPr>
          <a:xfrm>
            <a:off x="1501409" y="1842669"/>
            <a:ext cx="4600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现有 filter</a:t>
            </a:r>
          </a:p>
        </p:txBody>
      </p:sp>
      <p:sp>
        <p:nvSpPr>
          <p:cNvPr id="796" name="ara-width">
            <a:extLst>
              <a:ext uri="{FF2B5EF4-FFF2-40B4-BE49-F238E27FC236}">
                <a16:creationId xmlns:a16="http://schemas.microsoft.com/office/drawing/2014/main" id="{13DCB4D3-CB81-4F91-A5BB-7B8FDA91C5C7}"/>
              </a:ext>
            </a:extLst>
          </p:cNvPr>
          <p:cNvSpPr/>
          <p:nvPr/>
        </p:nvSpPr>
        <p:spPr>
          <a:xfrm>
            <a:off x="2798240" y="1686883"/>
            <a:ext cx="508000" cy="29125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97" name="object-024: 位宽适配">
            <a:extLst>
              <a:ext uri="{FF2B5EF4-FFF2-40B4-BE49-F238E27FC236}">
                <a16:creationId xmlns:a16="http://schemas.microsoft.com/office/drawing/2014/main" id="{B27BE7FB-D7A1-4A9A-9125-78B229034358}"/>
              </a:ext>
            </a:extLst>
          </p:cNvPr>
          <p:cNvSpPr txBox="1"/>
          <p:nvPr/>
        </p:nvSpPr>
        <p:spPr>
          <a:xfrm>
            <a:off x="2847055" y="1720749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等宽透传</a:t>
            </a:r>
          </a:p>
        </p:txBody>
      </p:sp>
      <p:sp>
        <p:nvSpPr>
          <p:cNvPr id="798" name="object-025: → 64 bit">
            <a:extLst>
              <a:ext uri="{FF2B5EF4-FFF2-40B4-BE49-F238E27FC236}">
                <a16:creationId xmlns:a16="http://schemas.microsoft.com/office/drawing/2014/main" id="{6732B6D6-BF45-4760-884F-A62B535AA613}"/>
              </a:ext>
            </a:extLst>
          </p:cNvPr>
          <p:cNvSpPr txBox="1"/>
          <p:nvPr/>
        </p:nvSpPr>
        <p:spPr>
          <a:xfrm>
            <a:off x="2843849" y="1842669"/>
            <a:ext cx="41678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4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 → 64 bit</a:t>
            </a:r>
          </a:p>
        </p:txBody>
      </p:sp>
      <p:cxnSp>
        <p:nvCxnSpPr>
          <p:cNvPr id="799" name="vlsu-filter">
            <a:extLst>
              <a:ext uri="{FF2B5EF4-FFF2-40B4-BE49-F238E27FC236}">
                <a16:creationId xmlns:a16="http://schemas.microsoft.com/office/drawing/2014/main" id="{40661750-8396-4465-BC47-BA8E6CE9F4E7}"/>
              </a:ext>
            </a:extLst>
          </p:cNvPr>
          <p:cNvCxnSpPr/>
          <p:nvPr/>
        </p:nvCxnSpPr>
        <p:spPr>
          <a:xfrm>
            <a:off x="1731440" y="1534482"/>
            <a:ext cx="0" cy="15240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02" name="npu-subsystem">
            <a:extLst>
              <a:ext uri="{FF2B5EF4-FFF2-40B4-BE49-F238E27FC236}">
                <a16:creationId xmlns:a16="http://schemas.microsoft.com/office/drawing/2014/main" id="{656E5669-F913-42EA-B7ED-87C55D399281}"/>
              </a:ext>
            </a:extLst>
          </p:cNvPr>
          <p:cNvSpPr/>
          <p:nvPr/>
        </p:nvSpPr>
        <p:spPr>
          <a:xfrm>
            <a:off x="3594106" y="840216"/>
            <a:ext cx="3843867" cy="14393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3" name="object-030: NPU / 独立 Global Buffer 子系统">
            <a:extLst>
              <a:ext uri="{FF2B5EF4-FFF2-40B4-BE49-F238E27FC236}">
                <a16:creationId xmlns:a16="http://schemas.microsoft.com/office/drawing/2014/main" id="{718B7891-A7B2-45A4-B891-5FAEC892CE9F}"/>
              </a:ext>
            </a:extLst>
          </p:cNvPr>
          <p:cNvSpPr txBox="1"/>
          <p:nvPr/>
        </p:nvSpPr>
        <p:spPr>
          <a:xfrm>
            <a:off x="4410679" y="855252"/>
            <a:ext cx="2207336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</a:t>
            </a:r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Global Buffer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子系统</a:t>
            </a:r>
            <a:endParaRPr sz="11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04" name="npu-compute">
            <a:extLst>
              <a:ext uri="{FF2B5EF4-FFF2-40B4-BE49-F238E27FC236}">
                <a16:creationId xmlns:a16="http://schemas.microsoft.com/office/drawing/2014/main" id="{46C0F758-7B9F-4A0A-B73B-2833147897D7}"/>
              </a:ext>
            </a:extLst>
          </p:cNvPr>
          <p:cNvSpPr/>
          <p:nvPr/>
        </p:nvSpPr>
        <p:spPr>
          <a:xfrm>
            <a:off x="3678773" y="1111149"/>
            <a:ext cx="914400" cy="592667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5" name="object-032: NPU 计算引擎">
            <a:extLst>
              <a:ext uri="{FF2B5EF4-FFF2-40B4-BE49-F238E27FC236}">
                <a16:creationId xmlns:a16="http://schemas.microsoft.com/office/drawing/2014/main" id="{57A034A3-CD90-407A-9864-937692845FE0}"/>
              </a:ext>
            </a:extLst>
          </p:cNvPr>
          <p:cNvSpPr txBox="1"/>
          <p:nvPr/>
        </p:nvSpPr>
        <p:spPr>
          <a:xfrm>
            <a:off x="3798540" y="1241510"/>
            <a:ext cx="67486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计算引擎</a:t>
            </a:r>
          </a:p>
        </p:txBody>
      </p:sp>
      <p:sp>
        <p:nvSpPr>
          <p:cNvPr id="806" name="object-033: GB 数据读写">
            <a:extLst>
              <a:ext uri="{FF2B5EF4-FFF2-40B4-BE49-F238E27FC236}">
                <a16:creationId xmlns:a16="http://schemas.microsoft.com/office/drawing/2014/main" id="{9CE2B4F6-7C07-4825-97E7-4CF402344E97}"/>
              </a:ext>
            </a:extLst>
          </p:cNvPr>
          <p:cNvSpPr txBox="1"/>
          <p:nvPr/>
        </p:nvSpPr>
        <p:spPr>
          <a:xfrm>
            <a:off x="3845028" y="1378061"/>
            <a:ext cx="58189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数据读写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07" name="cfg-tag-C6-33">
            <a:extLst>
              <a:ext uri="{FF2B5EF4-FFF2-40B4-BE49-F238E27FC236}">
                <a16:creationId xmlns:a16="http://schemas.microsoft.com/office/drawing/2014/main" id="{D3B7AF86-7454-4B62-89BE-78681DD60168}"/>
              </a:ext>
            </a:extLst>
          </p:cNvPr>
          <p:cNvSpPr/>
          <p:nvPr/>
        </p:nvSpPr>
        <p:spPr>
          <a:xfrm>
            <a:off x="4389973" y="155141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8" name="object-035: C6">
            <a:extLst>
              <a:ext uri="{FF2B5EF4-FFF2-40B4-BE49-F238E27FC236}">
                <a16:creationId xmlns:a16="http://schemas.microsoft.com/office/drawing/2014/main" id="{C61F99EE-C4EE-4969-94E1-ED6A835DA0FB}"/>
              </a:ext>
            </a:extLst>
          </p:cNvPr>
          <p:cNvSpPr txBox="1"/>
          <p:nvPr/>
        </p:nvSpPr>
        <p:spPr>
          <a:xfrm>
            <a:off x="4419867" y="155277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809" name="gb-router">
            <a:extLst>
              <a:ext uri="{FF2B5EF4-FFF2-40B4-BE49-F238E27FC236}">
                <a16:creationId xmlns:a16="http://schemas.microsoft.com/office/drawing/2014/main" id="{B49BD3BD-E44C-4699-B093-1981A49F63CE}"/>
              </a:ext>
            </a:extLst>
          </p:cNvPr>
          <p:cNvSpPr/>
          <p:nvPr/>
        </p:nvSpPr>
        <p:spPr>
          <a:xfrm>
            <a:off x="4711707" y="1365149"/>
            <a:ext cx="778933" cy="7958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0" name="object-037: GB 访问适配">
            <a:extLst>
              <a:ext uri="{FF2B5EF4-FFF2-40B4-BE49-F238E27FC236}">
                <a16:creationId xmlns:a16="http://schemas.microsoft.com/office/drawing/2014/main" id="{9DDF7B99-1CF7-451D-880D-F92066C2D856}"/>
              </a:ext>
            </a:extLst>
          </p:cNvPr>
          <p:cNvSpPr txBox="1"/>
          <p:nvPr/>
        </p:nvSpPr>
        <p:spPr>
          <a:xfrm>
            <a:off x="4806221" y="1556801"/>
            <a:ext cx="58990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访问适配</a:t>
            </a:r>
          </a:p>
        </p:txBody>
      </p:sp>
      <p:sp>
        <p:nvSpPr>
          <p:cNvPr id="811" name="object-038: 局部仲裁 / 路由">
            <a:extLst>
              <a:ext uri="{FF2B5EF4-FFF2-40B4-BE49-F238E27FC236}">
                <a16:creationId xmlns:a16="http://schemas.microsoft.com/office/drawing/2014/main" id="{31997707-ECEB-4690-908D-11823455FE1C}"/>
              </a:ext>
            </a:extLst>
          </p:cNvPr>
          <p:cNvSpPr txBox="1"/>
          <p:nvPr/>
        </p:nvSpPr>
        <p:spPr>
          <a:xfrm>
            <a:off x="4741299" y="1686036"/>
            <a:ext cx="71974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局部仲裁 / 路由</a:t>
            </a:r>
          </a:p>
        </p:txBody>
      </p:sp>
      <p:sp>
        <p:nvSpPr>
          <p:cNvPr id="812" name="object-039: bank 冲突处理">
            <a:extLst>
              <a:ext uri="{FF2B5EF4-FFF2-40B4-BE49-F238E27FC236}">
                <a16:creationId xmlns:a16="http://schemas.microsoft.com/office/drawing/2014/main" id="{11961159-3445-4A6A-8ED7-CDD7022D7D18}"/>
              </a:ext>
            </a:extLst>
          </p:cNvPr>
          <p:cNvSpPr txBox="1"/>
          <p:nvPr/>
        </p:nvSpPr>
        <p:spPr>
          <a:xfrm>
            <a:off x="4760535" y="1794409"/>
            <a:ext cx="6812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bank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冲突处理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13" name="global-buffer">
            <a:extLst>
              <a:ext uri="{FF2B5EF4-FFF2-40B4-BE49-F238E27FC236}">
                <a16:creationId xmlns:a16="http://schemas.microsoft.com/office/drawing/2014/main" id="{0F86E12E-383A-4875-BC7C-4C90F3F966C9}"/>
              </a:ext>
            </a:extLst>
          </p:cNvPr>
          <p:cNvSpPr/>
          <p:nvPr/>
        </p:nvSpPr>
        <p:spPr>
          <a:xfrm>
            <a:off x="5626106" y="1111149"/>
            <a:ext cx="1710267" cy="5757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4" name="object-041: Global Buffer">
            <a:extLst>
              <a:ext uri="{FF2B5EF4-FFF2-40B4-BE49-F238E27FC236}">
                <a16:creationId xmlns:a16="http://schemas.microsoft.com/office/drawing/2014/main" id="{0651B47D-F1D7-4756-8C2C-E0A3C6EF838A}"/>
              </a:ext>
            </a:extLst>
          </p:cNvPr>
          <p:cNvSpPr txBox="1"/>
          <p:nvPr/>
        </p:nvSpPr>
        <p:spPr>
          <a:xfrm>
            <a:off x="6094917" y="1208312"/>
            <a:ext cx="772647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Global Buffer</a:t>
            </a:r>
          </a:p>
        </p:txBody>
      </p:sp>
      <p:sp>
        <p:nvSpPr>
          <p:cNvPr id="815" name="object-042: 独立 SRAM · 分 bank">
            <a:extLst>
              <a:ext uri="{FF2B5EF4-FFF2-40B4-BE49-F238E27FC236}">
                <a16:creationId xmlns:a16="http://schemas.microsoft.com/office/drawing/2014/main" id="{AD1A6881-C2BE-460D-B074-A700C9C01B03}"/>
              </a:ext>
            </a:extLst>
          </p:cNvPr>
          <p:cNvSpPr txBox="1"/>
          <p:nvPr/>
        </p:nvSpPr>
        <p:spPr>
          <a:xfrm>
            <a:off x="5984309" y="1355836"/>
            <a:ext cx="99386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 SRAM · 分 bank</a:t>
            </a:r>
          </a:p>
        </p:txBody>
      </p:sp>
      <p:sp>
        <p:nvSpPr>
          <p:cNvPr id="816" name="object-043: ISP / NPU–Ara 工作区">
            <a:extLst>
              <a:ext uri="{FF2B5EF4-FFF2-40B4-BE49-F238E27FC236}">
                <a16:creationId xmlns:a16="http://schemas.microsoft.com/office/drawing/2014/main" id="{D53F494B-0690-4734-ACA8-CACF6710407D}"/>
              </a:ext>
            </a:extLst>
          </p:cNvPr>
          <p:cNvSpPr txBox="1"/>
          <p:nvPr/>
        </p:nvSpPr>
        <p:spPr>
          <a:xfrm>
            <a:off x="5689600" y="1476908"/>
            <a:ext cx="157480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47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/ NPU / ISP 工作区</a:t>
            </a:r>
          </a:p>
        </p:txBody>
      </p:sp>
      <p:sp>
        <p:nvSpPr>
          <p:cNvPr id="817" name="cfg-tag-C9-43">
            <a:extLst>
              <a:ext uri="{FF2B5EF4-FFF2-40B4-BE49-F238E27FC236}">
                <a16:creationId xmlns:a16="http://schemas.microsoft.com/office/drawing/2014/main" id="{823E72FE-055F-4BE4-8A7B-2A044874D38D}"/>
              </a:ext>
            </a:extLst>
          </p:cNvPr>
          <p:cNvSpPr/>
          <p:nvPr/>
        </p:nvSpPr>
        <p:spPr>
          <a:xfrm>
            <a:off x="7133173" y="152770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8" name="object-045: C9">
            <a:extLst>
              <a:ext uri="{FF2B5EF4-FFF2-40B4-BE49-F238E27FC236}">
                <a16:creationId xmlns:a16="http://schemas.microsoft.com/office/drawing/2014/main" id="{95D02E3B-149C-4FA4-A33D-61F0556022FE}"/>
              </a:ext>
            </a:extLst>
          </p:cNvPr>
          <p:cNvSpPr txBox="1"/>
          <p:nvPr/>
        </p:nvSpPr>
        <p:spPr>
          <a:xfrm>
            <a:off x="7163067" y="152906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cxnSp>
        <p:nvCxnSpPr>
          <p:cNvPr id="819" name="npu-router">
            <a:extLst>
              <a:ext uri="{FF2B5EF4-FFF2-40B4-BE49-F238E27FC236}">
                <a16:creationId xmlns:a16="http://schemas.microsoft.com/office/drawing/2014/main" id="{A428C493-29D6-4BBC-BA7B-070D429BC4AF}"/>
              </a:ext>
            </a:extLst>
          </p:cNvPr>
          <p:cNvCxnSpPr/>
          <p:nvPr/>
        </p:nvCxnSpPr>
        <p:spPr>
          <a:xfrm>
            <a:off x="4593173" y="1466749"/>
            <a:ext cx="118533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cxnSp>
        <p:nvCxnSpPr>
          <p:cNvPr id="820" name="router-sram">
            <a:extLst>
              <a:ext uri="{FF2B5EF4-FFF2-40B4-BE49-F238E27FC236}">
                <a16:creationId xmlns:a16="http://schemas.microsoft.com/office/drawing/2014/main" id="{D5B8C352-9067-45D3-A0F8-A71B9B5A5E13}"/>
              </a:ext>
            </a:extLst>
          </p:cNvPr>
          <p:cNvCxnSpPr/>
          <p:nvPr/>
        </p:nvCxnSpPr>
        <p:spPr>
          <a:xfrm>
            <a:off x="5490640" y="1551416"/>
            <a:ext cx="135467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821" name="npu-transfer">
            <a:extLst>
              <a:ext uri="{FF2B5EF4-FFF2-40B4-BE49-F238E27FC236}">
                <a16:creationId xmlns:a16="http://schemas.microsoft.com/office/drawing/2014/main" id="{FA38588C-CDC9-492E-8CAA-C795BC318639}"/>
              </a:ext>
            </a:extLst>
          </p:cNvPr>
          <p:cNvSpPr/>
          <p:nvPr/>
        </p:nvSpPr>
        <p:spPr>
          <a:xfrm>
            <a:off x="5626106" y="1805416"/>
            <a:ext cx="1710267" cy="406400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22" name="object-049: NPU / GB 搬运引擎">
            <a:extLst>
              <a:ext uri="{FF2B5EF4-FFF2-40B4-BE49-F238E27FC236}">
                <a16:creationId xmlns:a16="http://schemas.microsoft.com/office/drawing/2014/main" id="{B62D1668-5499-422C-A42A-7C1C8F708B4E}"/>
              </a:ext>
            </a:extLst>
          </p:cNvPr>
          <p:cNvSpPr txBox="1"/>
          <p:nvPr/>
        </p:nvSpPr>
        <p:spPr>
          <a:xfrm>
            <a:off x="6014767" y="1884977"/>
            <a:ext cx="93294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搬运引擎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23" name="object-050: DDR ↔ GB · 统一 AXI 主口">
            <a:extLst>
              <a:ext uri="{FF2B5EF4-FFF2-40B4-BE49-F238E27FC236}">
                <a16:creationId xmlns:a16="http://schemas.microsoft.com/office/drawing/2014/main" id="{85C9B0F7-F610-4D22-AFEB-406C6901B317}"/>
              </a:ext>
            </a:extLst>
          </p:cNvPr>
          <p:cNvSpPr txBox="1"/>
          <p:nvPr/>
        </p:nvSpPr>
        <p:spPr>
          <a:xfrm>
            <a:off x="5835230" y="2021527"/>
            <a:ext cx="129202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↔ GB ·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统一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AXI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主口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24" name="cfg-tag-C7-50">
            <a:extLst>
              <a:ext uri="{FF2B5EF4-FFF2-40B4-BE49-F238E27FC236}">
                <a16:creationId xmlns:a16="http://schemas.microsoft.com/office/drawing/2014/main" id="{B1F03A49-3940-4D0A-8CD8-1BDE1A74EFAE}"/>
              </a:ext>
            </a:extLst>
          </p:cNvPr>
          <p:cNvSpPr/>
          <p:nvPr/>
        </p:nvSpPr>
        <p:spPr>
          <a:xfrm>
            <a:off x="7133173" y="206957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25" name="object-052: C7">
            <a:extLst>
              <a:ext uri="{FF2B5EF4-FFF2-40B4-BE49-F238E27FC236}">
                <a16:creationId xmlns:a16="http://schemas.microsoft.com/office/drawing/2014/main" id="{AB84474B-5CCF-43E8-BCC6-18E79C6A3986}"/>
              </a:ext>
            </a:extLst>
          </p:cNvPr>
          <p:cNvSpPr txBox="1"/>
          <p:nvPr/>
        </p:nvSpPr>
        <p:spPr>
          <a:xfrm>
            <a:off x="7163067" y="207093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cxnSp>
        <p:nvCxnSpPr>
          <p:cNvPr id="826" name="transfer-router">
            <a:extLst>
              <a:ext uri="{FF2B5EF4-FFF2-40B4-BE49-F238E27FC236}">
                <a16:creationId xmlns:a16="http://schemas.microsoft.com/office/drawing/2014/main" id="{CC73FB70-E502-4DB5-A5D7-857AF0014BBD}"/>
              </a:ext>
            </a:extLst>
          </p:cNvPr>
          <p:cNvCxnSpPr/>
          <p:nvPr/>
        </p:nvCxnSpPr>
        <p:spPr>
          <a:xfrm flipH="1">
            <a:off x="5490640" y="2008616"/>
            <a:ext cx="135467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829" name="image-subsystem">
            <a:extLst>
              <a:ext uri="{FF2B5EF4-FFF2-40B4-BE49-F238E27FC236}">
                <a16:creationId xmlns:a16="http://schemas.microsoft.com/office/drawing/2014/main" id="{6BD40024-AF2A-43AA-9F53-2CB0F0A35B7B}"/>
              </a:ext>
            </a:extLst>
          </p:cNvPr>
          <p:cNvSpPr/>
          <p:nvPr/>
        </p:nvSpPr>
        <p:spPr>
          <a:xfrm>
            <a:off x="7607306" y="840216"/>
            <a:ext cx="3606800" cy="1439333"/>
          </a:xfrm>
          <a:prstGeom prst="rect">
            <a:avLst/>
          </a:prstGeom>
          <a:solidFill>
            <a:srgbClr val="F5E1C9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0" name="object-057: 图像采集与 ISP">
            <a:extLst>
              <a:ext uri="{FF2B5EF4-FFF2-40B4-BE49-F238E27FC236}">
                <a16:creationId xmlns:a16="http://schemas.microsoft.com/office/drawing/2014/main" id="{5D105284-8B1B-4DF6-9CD3-6DE3CB6EA6D2}"/>
              </a:ext>
            </a:extLst>
          </p:cNvPr>
          <p:cNvSpPr txBox="1"/>
          <p:nvPr/>
        </p:nvSpPr>
        <p:spPr>
          <a:xfrm>
            <a:off x="8922503" y="855252"/>
            <a:ext cx="973023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图像采集与</a:t>
            </a:r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ISP</a:t>
            </a:r>
          </a:p>
        </p:txBody>
      </p:sp>
      <p:sp>
        <p:nvSpPr>
          <p:cNvPr id="831" name="lvds">
            <a:extLst>
              <a:ext uri="{FF2B5EF4-FFF2-40B4-BE49-F238E27FC236}">
                <a16:creationId xmlns:a16="http://schemas.microsoft.com/office/drawing/2014/main" id="{3678F47F-0E17-45E0-BC26-1889C2B908C0}"/>
              </a:ext>
            </a:extLst>
          </p:cNvPr>
          <p:cNvSpPr/>
          <p:nvPr/>
        </p:nvSpPr>
        <p:spPr>
          <a:xfrm>
            <a:off x="7691973" y="1314349"/>
            <a:ext cx="558800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2" name="object-059: LVDS 接收">
            <a:extLst>
              <a:ext uri="{FF2B5EF4-FFF2-40B4-BE49-F238E27FC236}">
                <a16:creationId xmlns:a16="http://schemas.microsoft.com/office/drawing/2014/main" id="{A09B5D17-5CB1-4F09-9942-523F28E11F50}"/>
              </a:ext>
            </a:extLst>
          </p:cNvPr>
          <p:cNvSpPr txBox="1"/>
          <p:nvPr/>
        </p:nvSpPr>
        <p:spPr>
          <a:xfrm>
            <a:off x="7716495" y="1462046"/>
            <a:ext cx="50975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接收</a:t>
            </a:r>
          </a:p>
        </p:txBody>
      </p:sp>
      <p:sp>
        <p:nvSpPr>
          <p:cNvPr id="833" name="object-060: 解串 / 帧行">
            <a:extLst>
              <a:ext uri="{FF2B5EF4-FFF2-40B4-BE49-F238E27FC236}">
                <a16:creationId xmlns:a16="http://schemas.microsoft.com/office/drawing/2014/main" id="{A4A92F41-F952-4D36-9FD8-9D4521EEAEB1}"/>
              </a:ext>
            </a:extLst>
          </p:cNvPr>
          <p:cNvSpPr txBox="1"/>
          <p:nvPr/>
        </p:nvSpPr>
        <p:spPr>
          <a:xfrm>
            <a:off x="7714091" y="1587624"/>
            <a:ext cx="5145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解串 / 帧行</a:t>
            </a:r>
          </a:p>
        </p:txBody>
      </p:sp>
      <p:sp>
        <p:nvSpPr>
          <p:cNvPr id="834" name="cfg-tag-C4-60">
            <a:extLst>
              <a:ext uri="{FF2B5EF4-FFF2-40B4-BE49-F238E27FC236}">
                <a16:creationId xmlns:a16="http://schemas.microsoft.com/office/drawing/2014/main" id="{889DE112-44D4-4243-93D5-ABB1ACA86D6E}"/>
              </a:ext>
            </a:extLst>
          </p:cNvPr>
          <p:cNvSpPr/>
          <p:nvPr/>
        </p:nvSpPr>
        <p:spPr>
          <a:xfrm>
            <a:off x="8047573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5" name="object-062: C4">
            <a:extLst>
              <a:ext uri="{FF2B5EF4-FFF2-40B4-BE49-F238E27FC236}">
                <a16:creationId xmlns:a16="http://schemas.microsoft.com/office/drawing/2014/main" id="{3EB18B95-08AB-4276-B69A-36E4026D5732}"/>
              </a:ext>
            </a:extLst>
          </p:cNvPr>
          <p:cNvSpPr txBox="1"/>
          <p:nvPr/>
        </p:nvSpPr>
        <p:spPr>
          <a:xfrm>
            <a:off x="8077467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836" name="pixel-cdc">
            <a:extLst>
              <a:ext uri="{FF2B5EF4-FFF2-40B4-BE49-F238E27FC236}">
                <a16:creationId xmlns:a16="http://schemas.microsoft.com/office/drawing/2014/main" id="{7B21DA8E-5581-4742-85D5-AE770D9C6062}"/>
              </a:ext>
            </a:extLst>
          </p:cNvPr>
          <p:cNvSpPr/>
          <p:nvPr/>
        </p:nvSpPr>
        <p:spPr>
          <a:xfrm>
            <a:off x="8352373" y="1314349"/>
            <a:ext cx="541867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7" name="object-064: CDC / FIFO">
            <a:extLst>
              <a:ext uri="{FF2B5EF4-FFF2-40B4-BE49-F238E27FC236}">
                <a16:creationId xmlns:a16="http://schemas.microsoft.com/office/drawing/2014/main" id="{0AD2F2A6-34C1-4782-8DDB-0966C51656F8}"/>
              </a:ext>
            </a:extLst>
          </p:cNvPr>
          <p:cNvSpPr txBox="1"/>
          <p:nvPr/>
        </p:nvSpPr>
        <p:spPr>
          <a:xfrm>
            <a:off x="8342781" y="1462046"/>
            <a:ext cx="56105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CDC / FIFO</a:t>
            </a:r>
          </a:p>
        </p:txBody>
      </p:sp>
      <p:sp>
        <p:nvSpPr>
          <p:cNvPr id="838" name="object-065: 像素流缓冲">
            <a:extLst>
              <a:ext uri="{FF2B5EF4-FFF2-40B4-BE49-F238E27FC236}">
                <a16:creationId xmlns:a16="http://schemas.microsoft.com/office/drawing/2014/main" id="{9EB67424-CB21-4439-890E-47387DE671C2}"/>
              </a:ext>
            </a:extLst>
          </p:cNvPr>
          <p:cNvSpPr txBox="1"/>
          <p:nvPr/>
        </p:nvSpPr>
        <p:spPr>
          <a:xfrm>
            <a:off x="8366826" y="1587624"/>
            <a:ext cx="51296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像素流缓冲</a:t>
            </a:r>
          </a:p>
        </p:txBody>
      </p:sp>
      <p:sp>
        <p:nvSpPr>
          <p:cNvPr id="839" name="isp">
            <a:extLst>
              <a:ext uri="{FF2B5EF4-FFF2-40B4-BE49-F238E27FC236}">
                <a16:creationId xmlns:a16="http://schemas.microsoft.com/office/drawing/2014/main" id="{D0A0421C-79B2-4D46-8E1F-76B68034EAB1}"/>
              </a:ext>
            </a:extLst>
          </p:cNvPr>
          <p:cNvSpPr/>
          <p:nvPr/>
        </p:nvSpPr>
        <p:spPr>
          <a:xfrm>
            <a:off x="8995840" y="1314349"/>
            <a:ext cx="558800" cy="626533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0" name="object-067: ISP">
            <a:extLst>
              <a:ext uri="{FF2B5EF4-FFF2-40B4-BE49-F238E27FC236}">
                <a16:creationId xmlns:a16="http://schemas.microsoft.com/office/drawing/2014/main" id="{D8417204-1D66-47F9-AAE6-B61AAFB8EE07}"/>
              </a:ext>
            </a:extLst>
          </p:cNvPr>
          <p:cNvSpPr txBox="1"/>
          <p:nvPr/>
        </p:nvSpPr>
        <p:spPr>
          <a:xfrm>
            <a:off x="9193486" y="1462046"/>
            <a:ext cx="16350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841" name="object-068: 行缓冲 / 处理">
            <a:extLst>
              <a:ext uri="{FF2B5EF4-FFF2-40B4-BE49-F238E27FC236}">
                <a16:creationId xmlns:a16="http://schemas.microsoft.com/office/drawing/2014/main" id="{634F747F-0ED0-4BF1-9BD9-5D880E3F48CA}"/>
              </a:ext>
            </a:extLst>
          </p:cNvPr>
          <p:cNvSpPr txBox="1"/>
          <p:nvPr/>
        </p:nvSpPr>
        <p:spPr>
          <a:xfrm>
            <a:off x="8995841" y="1587624"/>
            <a:ext cx="496098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行缓冲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处理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42" name="cfg-tag-C5-68">
            <a:extLst>
              <a:ext uri="{FF2B5EF4-FFF2-40B4-BE49-F238E27FC236}">
                <a16:creationId xmlns:a16="http://schemas.microsoft.com/office/drawing/2014/main" id="{5C076AFD-1FBD-4A5D-8C7D-74E0C3A80EAB}"/>
              </a:ext>
            </a:extLst>
          </p:cNvPr>
          <p:cNvSpPr/>
          <p:nvPr/>
        </p:nvSpPr>
        <p:spPr>
          <a:xfrm>
            <a:off x="9351440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3" name="object-070: C5">
            <a:extLst>
              <a:ext uri="{FF2B5EF4-FFF2-40B4-BE49-F238E27FC236}">
                <a16:creationId xmlns:a16="http://schemas.microsoft.com/office/drawing/2014/main" id="{F75900B3-9299-448E-A630-B81C3623B85A}"/>
              </a:ext>
            </a:extLst>
          </p:cNvPr>
          <p:cNvSpPr txBox="1"/>
          <p:nvPr/>
        </p:nvSpPr>
        <p:spPr>
          <a:xfrm>
            <a:off x="9381333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844" name="frame-select">
            <a:extLst>
              <a:ext uri="{FF2B5EF4-FFF2-40B4-BE49-F238E27FC236}">
                <a16:creationId xmlns:a16="http://schemas.microsoft.com/office/drawing/2014/main" id="{29358133-0E92-4973-90EB-96977D079B88}"/>
              </a:ext>
            </a:extLst>
          </p:cNvPr>
          <p:cNvSpPr/>
          <p:nvPr/>
        </p:nvSpPr>
        <p:spPr>
          <a:xfrm>
            <a:off x="9656240" y="1314349"/>
            <a:ext cx="609600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5" name="object-072: 帧边界选择">
            <a:extLst>
              <a:ext uri="{FF2B5EF4-FFF2-40B4-BE49-F238E27FC236}">
                <a16:creationId xmlns:a16="http://schemas.microsoft.com/office/drawing/2014/main" id="{D7CD0A41-01E5-4FE9-BA79-107B8A50C3DF}"/>
              </a:ext>
            </a:extLst>
          </p:cNvPr>
          <p:cNvSpPr txBox="1"/>
          <p:nvPr/>
        </p:nvSpPr>
        <p:spPr>
          <a:xfrm>
            <a:off x="9704559" y="1462046"/>
            <a:ext cx="5129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帧边界选择</a:t>
            </a:r>
          </a:p>
        </p:txBody>
      </p:sp>
      <p:sp>
        <p:nvSpPr>
          <p:cNvPr id="846" name="object-073: RAW / ISP">
            <a:extLst>
              <a:ext uri="{FF2B5EF4-FFF2-40B4-BE49-F238E27FC236}">
                <a16:creationId xmlns:a16="http://schemas.microsoft.com/office/drawing/2014/main" id="{6D9F2414-8C65-4383-AD03-DA29FA12D718}"/>
              </a:ext>
            </a:extLst>
          </p:cNvPr>
          <p:cNvSpPr txBox="1"/>
          <p:nvPr/>
        </p:nvSpPr>
        <p:spPr>
          <a:xfrm>
            <a:off x="9710971" y="1587624"/>
            <a:ext cx="50013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RAW / ISP</a:t>
            </a:r>
          </a:p>
        </p:txBody>
      </p:sp>
      <p:sp>
        <p:nvSpPr>
          <p:cNvPr id="847" name="frame-dma">
            <a:extLst>
              <a:ext uri="{FF2B5EF4-FFF2-40B4-BE49-F238E27FC236}">
                <a16:creationId xmlns:a16="http://schemas.microsoft.com/office/drawing/2014/main" id="{CC8C5712-E151-4303-93AC-64CB6E17095D}"/>
              </a:ext>
            </a:extLst>
          </p:cNvPr>
          <p:cNvSpPr/>
          <p:nvPr/>
        </p:nvSpPr>
        <p:spPr>
          <a:xfrm>
            <a:off x="10384373" y="1314349"/>
            <a:ext cx="728133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8" name="object-075: 帧写入 DMA">
            <a:extLst>
              <a:ext uri="{FF2B5EF4-FFF2-40B4-BE49-F238E27FC236}">
                <a16:creationId xmlns:a16="http://schemas.microsoft.com/office/drawing/2014/main" id="{24C26ABC-45E2-4E21-AB00-AF8C2335CE52}"/>
              </a:ext>
            </a:extLst>
          </p:cNvPr>
          <p:cNvSpPr txBox="1"/>
          <p:nvPr/>
        </p:nvSpPr>
        <p:spPr>
          <a:xfrm>
            <a:off x="10447076" y="1462046"/>
            <a:ext cx="60272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849" name="object-076: 地址 / stride">
            <a:extLst>
              <a:ext uri="{FF2B5EF4-FFF2-40B4-BE49-F238E27FC236}">
                <a16:creationId xmlns:a16="http://schemas.microsoft.com/office/drawing/2014/main" id="{0C54A5BA-9475-4ABD-B61F-EE92C0AB5523}"/>
              </a:ext>
            </a:extLst>
          </p:cNvPr>
          <p:cNvSpPr txBox="1"/>
          <p:nvPr/>
        </p:nvSpPr>
        <p:spPr>
          <a:xfrm>
            <a:off x="10455891" y="1587624"/>
            <a:ext cx="58509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stride</a:t>
            </a:r>
          </a:p>
        </p:txBody>
      </p:sp>
      <p:sp>
        <p:nvSpPr>
          <p:cNvPr id="850" name="cfg-tag-C8-76">
            <a:extLst>
              <a:ext uri="{FF2B5EF4-FFF2-40B4-BE49-F238E27FC236}">
                <a16:creationId xmlns:a16="http://schemas.microsoft.com/office/drawing/2014/main" id="{1BC77144-E2BE-46C1-BF82-522BD58EED78}"/>
              </a:ext>
            </a:extLst>
          </p:cNvPr>
          <p:cNvSpPr/>
          <p:nvPr/>
        </p:nvSpPr>
        <p:spPr>
          <a:xfrm>
            <a:off x="10909307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1" name="object-078: C8">
            <a:extLst>
              <a:ext uri="{FF2B5EF4-FFF2-40B4-BE49-F238E27FC236}">
                <a16:creationId xmlns:a16="http://schemas.microsoft.com/office/drawing/2014/main" id="{2697A429-7A0F-44DF-B369-4C3F2764AFA0}"/>
              </a:ext>
            </a:extLst>
          </p:cNvPr>
          <p:cNvSpPr txBox="1"/>
          <p:nvPr/>
        </p:nvSpPr>
        <p:spPr>
          <a:xfrm>
            <a:off x="10939200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cxnSp>
        <p:nvCxnSpPr>
          <p:cNvPr id="852" name="lvds-cdc">
            <a:extLst>
              <a:ext uri="{FF2B5EF4-FFF2-40B4-BE49-F238E27FC236}">
                <a16:creationId xmlns:a16="http://schemas.microsoft.com/office/drawing/2014/main" id="{FADC3912-8F6A-41A4-A1AC-0683D6FEF878}"/>
              </a:ext>
            </a:extLst>
          </p:cNvPr>
          <p:cNvCxnSpPr/>
          <p:nvPr/>
        </p:nvCxnSpPr>
        <p:spPr>
          <a:xfrm>
            <a:off x="8250773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3" name="cdc-isp">
            <a:extLst>
              <a:ext uri="{FF2B5EF4-FFF2-40B4-BE49-F238E27FC236}">
                <a16:creationId xmlns:a16="http://schemas.microsoft.com/office/drawing/2014/main" id="{C8D68A84-0EDF-4C1B-97C7-070523D68F58}"/>
              </a:ext>
            </a:extLst>
          </p:cNvPr>
          <p:cNvCxnSpPr/>
          <p:nvPr/>
        </p:nvCxnSpPr>
        <p:spPr>
          <a:xfrm>
            <a:off x="8894240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4" name="isp-select">
            <a:extLst>
              <a:ext uri="{FF2B5EF4-FFF2-40B4-BE49-F238E27FC236}">
                <a16:creationId xmlns:a16="http://schemas.microsoft.com/office/drawing/2014/main" id="{B9CB8D76-C114-4215-8002-C59B41C900E6}"/>
              </a:ext>
            </a:extLst>
          </p:cNvPr>
          <p:cNvCxnSpPr/>
          <p:nvPr/>
        </p:nvCxnSpPr>
        <p:spPr>
          <a:xfrm>
            <a:off x="9554640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5" name="select-dma">
            <a:extLst>
              <a:ext uri="{FF2B5EF4-FFF2-40B4-BE49-F238E27FC236}">
                <a16:creationId xmlns:a16="http://schemas.microsoft.com/office/drawing/2014/main" id="{A4DF7387-49AD-4C18-8C33-962709E305CB}"/>
              </a:ext>
            </a:extLst>
          </p:cNvPr>
          <p:cNvCxnSpPr/>
          <p:nvPr/>
        </p:nvCxnSpPr>
        <p:spPr>
          <a:xfrm>
            <a:off x="10265840" y="1619149"/>
            <a:ext cx="118533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sp>
        <p:nvSpPr>
          <p:cNvPr id="856" name="raw-bypass">
            <a:extLst>
              <a:ext uri="{FF2B5EF4-FFF2-40B4-BE49-F238E27FC236}">
                <a16:creationId xmlns:a16="http://schemas.microsoft.com/office/drawing/2014/main" id="{E31970F6-2698-453E-AFEC-330A77E21146}"/>
              </a:ext>
            </a:extLst>
          </p:cNvPr>
          <p:cNvSpPr/>
          <p:nvPr/>
        </p:nvSpPr>
        <p:spPr>
          <a:xfrm>
            <a:off x="8945040" y="1161949"/>
            <a:ext cx="1016000" cy="457200"/>
          </a:xfrm>
          <a:custGeom>
            <a:avLst/>
            <a:gdLst/>
            <a:ahLst/>
            <a:cxnLst/>
            <a:rect l="0" t="0" r="r" b="b"/>
            <a:pathLst>
              <a:path w="2438400" h="1097280" fill="none">
                <a:moveTo>
                  <a:pt x="0" y="1097280"/>
                </a:moveTo>
                <a:lnTo>
                  <a:pt x="0" y="0"/>
                </a:lnTo>
                <a:lnTo>
                  <a:pt x="2438400" y="0"/>
                </a:lnTo>
                <a:lnTo>
                  <a:pt x="2438400" y="365760"/>
                </a:lnTo>
              </a:path>
            </a:pathLst>
          </a:custGeom>
          <a:noFill/>
          <a:ln w="24384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7" name="raw-tap">
            <a:extLst>
              <a:ext uri="{FF2B5EF4-FFF2-40B4-BE49-F238E27FC236}">
                <a16:creationId xmlns:a16="http://schemas.microsoft.com/office/drawing/2014/main" id="{6B999DDA-62FA-4A7E-BBF9-40D1A20AF99E}"/>
              </a:ext>
            </a:extLst>
          </p:cNvPr>
          <p:cNvSpPr/>
          <p:nvPr/>
        </p:nvSpPr>
        <p:spPr>
          <a:xfrm>
            <a:off x="8929800" y="1603909"/>
            <a:ext cx="30480" cy="30480"/>
          </a:xfrm>
          <a:prstGeom prst="ellipse">
            <a:avLst/>
          </a:prstGeom>
          <a:solidFill>
            <a:srgbClr val="B9604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8" name="object-085: RAW 旁路">
            <a:extLst>
              <a:ext uri="{FF2B5EF4-FFF2-40B4-BE49-F238E27FC236}">
                <a16:creationId xmlns:a16="http://schemas.microsoft.com/office/drawing/2014/main" id="{72B9973C-FC5E-456A-8F68-248CF7856BB7}"/>
              </a:ext>
            </a:extLst>
          </p:cNvPr>
          <p:cNvSpPr txBox="1"/>
          <p:nvPr/>
        </p:nvSpPr>
        <p:spPr>
          <a:xfrm>
            <a:off x="9293846" y="1037184"/>
            <a:ext cx="41998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RAW 旁路</a:t>
            </a:r>
          </a:p>
        </p:txBody>
      </p:sp>
      <p:sp>
        <p:nvSpPr>
          <p:cNvPr id="859" name="object-086: RAW / ISP 二选一 · 帧打包">
            <a:extLst>
              <a:ext uri="{FF2B5EF4-FFF2-40B4-BE49-F238E27FC236}">
                <a16:creationId xmlns:a16="http://schemas.microsoft.com/office/drawing/2014/main" id="{33365FA1-2E05-4350-9729-DDEC1D772F4C}"/>
              </a:ext>
            </a:extLst>
          </p:cNvPr>
          <p:cNvSpPr txBox="1"/>
          <p:nvPr/>
        </p:nvSpPr>
        <p:spPr>
          <a:xfrm>
            <a:off x="9438563" y="2029207"/>
            <a:ext cx="107882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RAW / ISP </a:t>
            </a:r>
            <a:r>
              <a:rPr sz="7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二选一</a:t>
            </a:r>
            <a:r>
              <a:rPr sz="7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 · </a:t>
            </a:r>
            <a:r>
              <a:rPr sz="7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帧打包</a:t>
            </a:r>
            <a:endParaRPr sz="7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0" name="isp-gb">
            <a:extLst>
              <a:ext uri="{FF2B5EF4-FFF2-40B4-BE49-F238E27FC236}">
                <a16:creationId xmlns:a16="http://schemas.microsoft.com/office/drawing/2014/main" id="{3F1E7E01-A7B9-4139-9377-4BE9A2B8B519}"/>
              </a:ext>
            </a:extLst>
          </p:cNvPr>
          <p:cNvSpPr/>
          <p:nvPr/>
        </p:nvSpPr>
        <p:spPr>
          <a:xfrm>
            <a:off x="5101167" y="1839299"/>
            <a:ext cx="3894667" cy="585893"/>
          </a:xfrm>
          <a:custGeom>
            <a:avLst/>
            <a:gdLst/>
            <a:ahLst/>
            <a:cxnLst/>
            <a:rect l="0" t="0" r="r" b="b"/>
            <a:pathLst>
              <a:path w="3894667" h="585893" fill="none">
                <a:moveTo>
                  <a:pt x="3894667" y="0"/>
                </a:moveTo>
                <a:lnTo>
                  <a:pt x="3843867" y="0"/>
                </a:lnTo>
                <a:lnTo>
                  <a:pt x="3843867" y="463973"/>
                </a:lnTo>
                <a:cubicBezTo>
                  <a:pt x="3762587" y="463973"/>
                  <a:pt x="3762587" y="552027"/>
                  <a:pt x="3843867" y="552027"/>
                </a:cubicBezTo>
                <a:lnTo>
                  <a:pt x="3843867" y="585893"/>
                </a:lnTo>
                <a:lnTo>
                  <a:pt x="0" y="585893"/>
                </a:lnTo>
                <a:lnTo>
                  <a:pt x="0" y="321733"/>
                </a:lnTo>
              </a:path>
            </a:pathLst>
          </a:custGeom>
          <a:noFill/>
          <a:ln w="25197" cap="flat">
            <a:solidFill>
              <a:srgbClr val="187C78"/>
            </a:solidFill>
            <a:custDash>
              <a:ds d="322581" sp="193548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1" name="object-088: ISP 中间数据 ↔ GB">
            <a:extLst>
              <a:ext uri="{FF2B5EF4-FFF2-40B4-BE49-F238E27FC236}">
                <a16:creationId xmlns:a16="http://schemas.microsoft.com/office/drawing/2014/main" id="{C863B04F-CF8F-4E7E-B05F-17A7C6830FA7}"/>
              </a:ext>
            </a:extLst>
          </p:cNvPr>
          <p:cNvSpPr txBox="1"/>
          <p:nvPr/>
        </p:nvSpPr>
        <p:spPr>
          <a:xfrm>
            <a:off x="8092263" y="2152994"/>
            <a:ext cx="81913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ISP </a:t>
            </a:r>
            <a:r>
              <a:rPr sz="7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中间数据</a:t>
            </a:r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 ↔ GB</a:t>
            </a:r>
          </a:p>
        </p:txBody>
      </p:sp>
      <p:sp>
        <p:nvSpPr>
          <p:cNvPr id="862" name="debug-sba">
            <a:extLst>
              <a:ext uri="{FF2B5EF4-FFF2-40B4-BE49-F238E27FC236}">
                <a16:creationId xmlns:a16="http://schemas.microsoft.com/office/drawing/2014/main" id="{1596E9AB-5246-4524-A9F6-2A23D87B0F25}"/>
              </a:ext>
            </a:extLst>
          </p:cNvPr>
          <p:cNvSpPr/>
          <p:nvPr/>
        </p:nvSpPr>
        <p:spPr>
          <a:xfrm>
            <a:off x="1341973" y="2508922"/>
            <a:ext cx="8636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3" name="object-090: Debug / SBA">
            <a:extLst>
              <a:ext uri="{FF2B5EF4-FFF2-40B4-BE49-F238E27FC236}">
                <a16:creationId xmlns:a16="http://schemas.microsoft.com/office/drawing/2014/main" id="{76CF0374-0CD8-4165-8BEC-7B69F47D7596}"/>
              </a:ext>
            </a:extLst>
          </p:cNvPr>
          <p:cNvSpPr txBox="1"/>
          <p:nvPr/>
        </p:nvSpPr>
        <p:spPr>
          <a:xfrm>
            <a:off x="1441952" y="2535474"/>
            <a:ext cx="66364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/ SBA</a:t>
            </a:r>
          </a:p>
        </p:txBody>
      </p:sp>
      <p:sp>
        <p:nvSpPr>
          <p:cNvPr id="864" name="object-091: JTAG 总线访问">
            <a:extLst>
              <a:ext uri="{FF2B5EF4-FFF2-40B4-BE49-F238E27FC236}">
                <a16:creationId xmlns:a16="http://schemas.microsoft.com/office/drawing/2014/main" id="{71B37969-8767-42AE-B670-5DBB47120046}"/>
              </a:ext>
            </a:extLst>
          </p:cNvPr>
          <p:cNvSpPr txBox="1"/>
          <p:nvPr/>
        </p:nvSpPr>
        <p:spPr>
          <a:xfrm>
            <a:off x="1429128" y="2664709"/>
            <a:ext cx="68929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JTAG 总线访问</a:t>
            </a:r>
          </a:p>
        </p:txBody>
      </p:sp>
      <p:sp>
        <p:nvSpPr>
          <p:cNvPr id="865" name="idma-master">
            <a:extLst>
              <a:ext uri="{FF2B5EF4-FFF2-40B4-BE49-F238E27FC236}">
                <a16:creationId xmlns:a16="http://schemas.microsoft.com/office/drawing/2014/main" id="{D060EB5F-64EB-4075-A7B4-E3F6B610531A}"/>
              </a:ext>
            </a:extLst>
          </p:cNvPr>
          <p:cNvSpPr/>
          <p:nvPr/>
        </p:nvSpPr>
        <p:spPr>
          <a:xfrm>
            <a:off x="3814240" y="2508922"/>
            <a:ext cx="931333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6" name="object-093: iDMA 数据主口">
            <a:extLst>
              <a:ext uri="{FF2B5EF4-FFF2-40B4-BE49-F238E27FC236}">
                <a16:creationId xmlns:a16="http://schemas.microsoft.com/office/drawing/2014/main" id="{E6FB1EA0-D2F4-4D31-BB6F-D110A206E95D}"/>
              </a:ext>
            </a:extLst>
          </p:cNvPr>
          <p:cNvSpPr txBox="1"/>
          <p:nvPr/>
        </p:nvSpPr>
        <p:spPr>
          <a:xfrm>
            <a:off x="3912017" y="2535474"/>
            <a:ext cx="73577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</a:t>
            </a:r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数据主口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7" name="object-094: 内存 ↔ 内存">
            <a:extLst>
              <a:ext uri="{FF2B5EF4-FFF2-40B4-BE49-F238E27FC236}">
                <a16:creationId xmlns:a16="http://schemas.microsoft.com/office/drawing/2014/main" id="{C5EAB3A8-AD19-41BD-AC1F-1AE648CAF936}"/>
              </a:ext>
            </a:extLst>
          </p:cNvPr>
          <p:cNvSpPr txBox="1"/>
          <p:nvPr/>
        </p:nvSpPr>
        <p:spPr>
          <a:xfrm>
            <a:off x="3973732" y="2664709"/>
            <a:ext cx="61234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↔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8" name="slink-rx">
            <a:extLst>
              <a:ext uri="{FF2B5EF4-FFF2-40B4-BE49-F238E27FC236}">
                <a16:creationId xmlns:a16="http://schemas.microsoft.com/office/drawing/2014/main" id="{A4231CCA-B895-4849-AB55-04416D5EBB9F}"/>
              </a:ext>
            </a:extLst>
          </p:cNvPr>
          <p:cNvSpPr/>
          <p:nvPr/>
        </p:nvSpPr>
        <p:spPr>
          <a:xfrm>
            <a:off x="4965706" y="2508922"/>
            <a:ext cx="9652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9" name="object-096: Serial Link RX">
            <a:extLst>
              <a:ext uri="{FF2B5EF4-FFF2-40B4-BE49-F238E27FC236}">
                <a16:creationId xmlns:a16="http://schemas.microsoft.com/office/drawing/2014/main" id="{365954D2-D846-4F1C-BDFB-76D16D4FFB61}"/>
              </a:ext>
            </a:extLst>
          </p:cNvPr>
          <p:cNvSpPr txBox="1"/>
          <p:nvPr/>
        </p:nvSpPr>
        <p:spPr>
          <a:xfrm>
            <a:off x="5096447" y="2535474"/>
            <a:ext cx="70371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RX</a:t>
            </a:r>
          </a:p>
        </p:txBody>
      </p:sp>
      <p:sp>
        <p:nvSpPr>
          <p:cNvPr id="870" name="object-097: 远端请求入口">
            <a:extLst>
              <a:ext uri="{FF2B5EF4-FFF2-40B4-BE49-F238E27FC236}">
                <a16:creationId xmlns:a16="http://schemas.microsoft.com/office/drawing/2014/main" id="{217A0520-5917-422D-9C30-2EB747C9B74F}"/>
              </a:ext>
            </a:extLst>
          </p:cNvPr>
          <p:cNvSpPr txBox="1"/>
          <p:nvPr/>
        </p:nvSpPr>
        <p:spPr>
          <a:xfrm>
            <a:off x="5140530" y="2664709"/>
            <a:ext cx="61555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远端请求入口</a:t>
            </a:r>
          </a:p>
        </p:txBody>
      </p:sp>
      <p:sp>
        <p:nvSpPr>
          <p:cNvPr id="871" name="vga-master">
            <a:extLst>
              <a:ext uri="{FF2B5EF4-FFF2-40B4-BE49-F238E27FC236}">
                <a16:creationId xmlns:a16="http://schemas.microsoft.com/office/drawing/2014/main" id="{B2224093-8A15-455D-B781-59CA21A6C635}"/>
              </a:ext>
            </a:extLst>
          </p:cNvPr>
          <p:cNvSpPr/>
          <p:nvPr/>
        </p:nvSpPr>
        <p:spPr>
          <a:xfrm>
            <a:off x="6151040" y="2508922"/>
            <a:ext cx="8636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2" name="object-099: VGA">
            <a:extLst>
              <a:ext uri="{FF2B5EF4-FFF2-40B4-BE49-F238E27FC236}">
                <a16:creationId xmlns:a16="http://schemas.microsoft.com/office/drawing/2014/main" id="{25BE3015-0005-4226-9C84-4545B442FD9B}"/>
              </a:ext>
            </a:extLst>
          </p:cNvPr>
          <p:cNvSpPr txBox="1"/>
          <p:nvPr/>
        </p:nvSpPr>
        <p:spPr>
          <a:xfrm>
            <a:off x="6468225" y="2535474"/>
            <a:ext cx="22923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</a:t>
            </a:r>
          </a:p>
        </p:txBody>
      </p:sp>
      <p:sp>
        <p:nvSpPr>
          <p:cNvPr id="873" name="object-100: 帧缓冲读取">
            <a:extLst>
              <a:ext uri="{FF2B5EF4-FFF2-40B4-BE49-F238E27FC236}">
                <a16:creationId xmlns:a16="http://schemas.microsoft.com/office/drawing/2014/main" id="{FD70D967-D2C8-496B-BE8F-B24F3DD6FBA0}"/>
              </a:ext>
            </a:extLst>
          </p:cNvPr>
          <p:cNvSpPr txBox="1"/>
          <p:nvPr/>
        </p:nvSpPr>
        <p:spPr>
          <a:xfrm>
            <a:off x="6326360" y="2664709"/>
            <a:ext cx="51296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帧缓冲读取</a:t>
            </a:r>
          </a:p>
        </p:txBody>
      </p:sp>
      <p:sp>
        <p:nvSpPr>
          <p:cNvPr id="874" name="usb-master">
            <a:extLst>
              <a:ext uri="{FF2B5EF4-FFF2-40B4-BE49-F238E27FC236}">
                <a16:creationId xmlns:a16="http://schemas.microsoft.com/office/drawing/2014/main" id="{31F02D86-354D-48BC-8FB3-AC8A1F1E3AF0}"/>
              </a:ext>
            </a:extLst>
          </p:cNvPr>
          <p:cNvSpPr/>
          <p:nvPr/>
        </p:nvSpPr>
        <p:spPr>
          <a:xfrm>
            <a:off x="7234773" y="2508922"/>
            <a:ext cx="846667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5" name="object-102: USB DMA">
            <a:extLst>
              <a:ext uri="{FF2B5EF4-FFF2-40B4-BE49-F238E27FC236}">
                <a16:creationId xmlns:a16="http://schemas.microsoft.com/office/drawing/2014/main" id="{1870D71B-ADC3-4D4F-BC58-D7D3E47D4E76}"/>
              </a:ext>
            </a:extLst>
          </p:cNvPr>
          <p:cNvSpPr txBox="1"/>
          <p:nvPr/>
        </p:nvSpPr>
        <p:spPr>
          <a:xfrm>
            <a:off x="7404031" y="2535474"/>
            <a:ext cx="50815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DMA</a:t>
            </a:r>
          </a:p>
        </p:txBody>
      </p:sp>
      <p:sp>
        <p:nvSpPr>
          <p:cNvPr id="876" name="object-103: OHCI 主口">
            <a:extLst>
              <a:ext uri="{FF2B5EF4-FFF2-40B4-BE49-F238E27FC236}">
                <a16:creationId xmlns:a16="http://schemas.microsoft.com/office/drawing/2014/main" id="{191E51EC-6998-4A14-9357-54E80C396DC6}"/>
              </a:ext>
            </a:extLst>
          </p:cNvPr>
          <p:cNvSpPr txBox="1"/>
          <p:nvPr/>
        </p:nvSpPr>
        <p:spPr>
          <a:xfrm>
            <a:off x="7408840" y="2664709"/>
            <a:ext cx="4985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OHCI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主口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77" name="ext-master">
            <a:extLst>
              <a:ext uri="{FF2B5EF4-FFF2-40B4-BE49-F238E27FC236}">
                <a16:creationId xmlns:a16="http://schemas.microsoft.com/office/drawing/2014/main" id="{D41F2F3F-DB15-4EE3-B2D0-6286EE3AE509}"/>
              </a:ext>
            </a:extLst>
          </p:cNvPr>
          <p:cNvSpPr/>
          <p:nvPr/>
        </p:nvSpPr>
        <p:spPr>
          <a:xfrm>
            <a:off x="8318506" y="2508922"/>
            <a:ext cx="1253067" cy="338667"/>
          </a:xfrm>
          <a:prstGeom prst="rect">
            <a:avLst/>
          </a:prstGeom>
          <a:solidFill>
            <a:srgbClr val="F5F5F7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8" name="object-105: AXI 外部 master">
            <a:extLst>
              <a:ext uri="{FF2B5EF4-FFF2-40B4-BE49-F238E27FC236}">
                <a16:creationId xmlns:a16="http://schemas.microsoft.com/office/drawing/2014/main" id="{A36E69F6-7BBB-41B0-9F39-C22405688F34}"/>
              </a:ext>
            </a:extLst>
          </p:cNvPr>
          <p:cNvSpPr txBox="1"/>
          <p:nvPr/>
        </p:nvSpPr>
        <p:spPr>
          <a:xfrm>
            <a:off x="8541885" y="2535474"/>
            <a:ext cx="80631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master</a:t>
            </a:r>
          </a:p>
        </p:txBody>
      </p:sp>
      <p:sp>
        <p:nvSpPr>
          <p:cNvPr id="879" name="object-106: 可选扩展入口">
            <a:extLst>
              <a:ext uri="{FF2B5EF4-FFF2-40B4-BE49-F238E27FC236}">
                <a16:creationId xmlns:a16="http://schemas.microsoft.com/office/drawing/2014/main" id="{F71D184D-3485-4A10-B629-6B91027A5CF1}"/>
              </a:ext>
            </a:extLst>
          </p:cNvPr>
          <p:cNvSpPr txBox="1"/>
          <p:nvPr/>
        </p:nvSpPr>
        <p:spPr>
          <a:xfrm>
            <a:off x="8637264" y="2664709"/>
            <a:ext cx="61555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可选扩展入口</a:t>
            </a:r>
          </a:p>
        </p:txBody>
      </p:sp>
      <p:cxnSp>
        <p:nvCxnSpPr>
          <p:cNvPr id="880" name="cpu-master">
            <a:extLst>
              <a:ext uri="{FF2B5EF4-FFF2-40B4-BE49-F238E27FC236}">
                <a16:creationId xmlns:a16="http://schemas.microsoft.com/office/drawing/2014/main" id="{FF4EEB96-E348-415C-B377-A5ADD617D4D2}"/>
              </a:ext>
            </a:extLst>
          </p:cNvPr>
          <p:cNvCxnSpPr>
            <a:cxnSpLocks/>
            <a:endCxn id="889" idx="0"/>
          </p:cNvCxnSpPr>
          <p:nvPr/>
        </p:nvCxnSpPr>
        <p:spPr>
          <a:xfrm>
            <a:off x="749306" y="1839283"/>
            <a:ext cx="0" cy="1134533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881" name="ara-master">
            <a:extLst>
              <a:ext uri="{FF2B5EF4-FFF2-40B4-BE49-F238E27FC236}">
                <a16:creationId xmlns:a16="http://schemas.microsoft.com/office/drawing/2014/main" id="{DB1A5D2C-422A-4770-9E00-CD067600FA1E}"/>
              </a:ext>
            </a:extLst>
          </p:cNvPr>
          <p:cNvCxnSpPr>
            <a:cxnSpLocks/>
          </p:cNvCxnSpPr>
          <p:nvPr/>
        </p:nvCxnSpPr>
        <p:spPr>
          <a:xfrm>
            <a:off x="3052240" y="1978136"/>
            <a:ext cx="0" cy="995680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82" name="object-109: CPU AXI">
            <a:extLst>
              <a:ext uri="{FF2B5EF4-FFF2-40B4-BE49-F238E27FC236}">
                <a16:creationId xmlns:a16="http://schemas.microsoft.com/office/drawing/2014/main" id="{2EE32942-FF5A-4F6E-886B-B3990919F08A}"/>
              </a:ext>
            </a:extLst>
          </p:cNvPr>
          <p:cNvSpPr txBox="1"/>
          <p:nvPr/>
        </p:nvSpPr>
        <p:spPr>
          <a:xfrm>
            <a:off x="267636" y="2713042"/>
            <a:ext cx="4071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CPU AXI</a:t>
            </a:r>
          </a:p>
        </p:txBody>
      </p:sp>
      <p:sp>
        <p:nvSpPr>
          <p:cNvPr id="883" name="object-110: Ara 普通地址">
            <a:extLst>
              <a:ext uri="{FF2B5EF4-FFF2-40B4-BE49-F238E27FC236}">
                <a16:creationId xmlns:a16="http://schemas.microsoft.com/office/drawing/2014/main" id="{245061BD-FC91-47D9-88A0-2FD1347A1C20}"/>
              </a:ext>
            </a:extLst>
          </p:cNvPr>
          <p:cNvSpPr txBox="1"/>
          <p:nvPr/>
        </p:nvSpPr>
        <p:spPr>
          <a:xfrm>
            <a:off x="2376967" y="2671482"/>
            <a:ext cx="6075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Ara AXI64</a:t>
            </a:r>
          </a:p>
        </p:txBody>
      </p:sp>
      <p:sp>
        <p:nvSpPr>
          <p:cNvPr id="884" name="axi-crossbar">
            <a:extLst>
              <a:ext uri="{FF2B5EF4-FFF2-40B4-BE49-F238E27FC236}">
                <a16:creationId xmlns:a16="http://schemas.microsoft.com/office/drawing/2014/main" id="{30D056BC-A9A4-4B51-9CC0-7274C949CB73}"/>
              </a:ext>
            </a:extLst>
          </p:cNvPr>
          <p:cNvSpPr/>
          <p:nvPr/>
        </p:nvSpPr>
        <p:spPr>
          <a:xfrm>
            <a:off x="241306" y="3024616"/>
            <a:ext cx="9584267" cy="457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85" name="object-112: AXI Crossbar">
            <a:extLst>
              <a:ext uri="{FF2B5EF4-FFF2-40B4-BE49-F238E27FC236}">
                <a16:creationId xmlns:a16="http://schemas.microsoft.com/office/drawing/2014/main" id="{AB49511B-F383-45E4-AB81-15319A3F9D0A}"/>
              </a:ext>
            </a:extLst>
          </p:cNvPr>
          <p:cNvSpPr txBox="1"/>
          <p:nvPr/>
        </p:nvSpPr>
        <p:spPr>
          <a:xfrm>
            <a:off x="4575782" y="3089976"/>
            <a:ext cx="915315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Crossbar</a:t>
            </a:r>
          </a:p>
        </p:txBody>
      </p:sp>
      <p:sp>
        <p:nvSpPr>
          <p:cNvPr id="886" name="object-113: 7 × 6 基础端口 + 扩展 | 64 bit 数据 / 48 bit 地址 | 地址译码 / 各目标仲裁">
            <a:extLst>
              <a:ext uri="{FF2B5EF4-FFF2-40B4-BE49-F238E27FC236}">
                <a16:creationId xmlns:a16="http://schemas.microsoft.com/office/drawing/2014/main" id="{FBE91108-953C-4CEE-B85B-DAEFE394EDAF}"/>
              </a:ext>
            </a:extLst>
          </p:cNvPr>
          <p:cNvSpPr txBox="1"/>
          <p:nvPr/>
        </p:nvSpPr>
        <p:spPr>
          <a:xfrm>
            <a:off x="2815167" y="3272993"/>
            <a:ext cx="443653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47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7 × 6 基础端口 + 扩展 | 64 bit 数据 / 48 bit 地址 | 地址译码 / 各目标仲裁</a:t>
            </a:r>
          </a:p>
        </p:txBody>
      </p:sp>
      <p:sp>
        <p:nvSpPr>
          <p:cNvPr id="887" name="object-114: 输入侧 AXI RT：按配置可选">
            <a:extLst>
              <a:ext uri="{FF2B5EF4-FFF2-40B4-BE49-F238E27FC236}">
                <a16:creationId xmlns:a16="http://schemas.microsoft.com/office/drawing/2014/main" id="{65CC9354-9373-44A2-AA26-F79E5709F129}"/>
              </a:ext>
            </a:extLst>
          </p:cNvPr>
          <p:cNvSpPr txBox="1"/>
          <p:nvPr/>
        </p:nvSpPr>
        <p:spPr>
          <a:xfrm>
            <a:off x="317441" y="3328279"/>
            <a:ext cx="958596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输入侧</a:t>
            </a:r>
            <a:r>
              <a:rPr sz="6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 AXI </a:t>
            </a:r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RT：按配置可选</a:t>
            </a:r>
            <a:endParaRPr sz="6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8" name="object-115: 未映射请求：DECERR">
            <a:extLst>
              <a:ext uri="{FF2B5EF4-FFF2-40B4-BE49-F238E27FC236}">
                <a16:creationId xmlns:a16="http://schemas.microsoft.com/office/drawing/2014/main" id="{439D34EE-5A46-40DF-B869-C096662E2F18}"/>
              </a:ext>
            </a:extLst>
          </p:cNvPr>
          <p:cNvSpPr txBox="1"/>
          <p:nvPr/>
        </p:nvSpPr>
        <p:spPr>
          <a:xfrm>
            <a:off x="8896251" y="3314636"/>
            <a:ext cx="755015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未映射请求：DECERR</a:t>
            </a:r>
            <a:endParaRPr sz="6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9" name="master-port-0">
            <a:extLst>
              <a:ext uri="{FF2B5EF4-FFF2-40B4-BE49-F238E27FC236}">
                <a16:creationId xmlns:a16="http://schemas.microsoft.com/office/drawing/2014/main" id="{0F326333-1538-41CD-932C-C2F8487F53DD}"/>
              </a:ext>
            </a:extLst>
          </p:cNvPr>
          <p:cNvSpPr/>
          <p:nvPr/>
        </p:nvSpPr>
        <p:spPr>
          <a:xfrm>
            <a:off x="58674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0" name="object-117: S0">
            <a:extLst>
              <a:ext uri="{FF2B5EF4-FFF2-40B4-BE49-F238E27FC236}">
                <a16:creationId xmlns:a16="http://schemas.microsoft.com/office/drawing/2014/main" id="{78E2AFC9-AAF7-46E1-9DFE-58FE70D5E1E2}"/>
              </a:ext>
            </a:extLst>
          </p:cNvPr>
          <p:cNvSpPr txBox="1"/>
          <p:nvPr/>
        </p:nvSpPr>
        <p:spPr>
          <a:xfrm>
            <a:off x="70201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cxnSp>
        <p:nvCxnSpPr>
          <p:cNvPr id="891" name="master-input-1">
            <a:extLst>
              <a:ext uri="{FF2B5EF4-FFF2-40B4-BE49-F238E27FC236}">
                <a16:creationId xmlns:a16="http://schemas.microsoft.com/office/drawing/2014/main" id="{ECA3108C-246D-415A-B588-68B49F8AC203}"/>
              </a:ext>
            </a:extLst>
          </p:cNvPr>
          <p:cNvCxnSpPr>
            <a:cxnSpLocks/>
            <a:stCxn id="862" idx="2"/>
            <a:endCxn id="892" idx="0"/>
          </p:cNvCxnSpPr>
          <p:nvPr/>
        </p:nvCxnSpPr>
        <p:spPr>
          <a:xfrm flipH="1">
            <a:off x="1772080" y="2847589"/>
            <a:ext cx="1693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92" name="master-port-1">
            <a:extLst>
              <a:ext uri="{FF2B5EF4-FFF2-40B4-BE49-F238E27FC236}">
                <a16:creationId xmlns:a16="http://schemas.microsoft.com/office/drawing/2014/main" id="{4553B0C7-9421-4373-B12A-C9174C677111}"/>
              </a:ext>
            </a:extLst>
          </p:cNvPr>
          <p:cNvSpPr/>
          <p:nvPr/>
        </p:nvSpPr>
        <p:spPr>
          <a:xfrm>
            <a:off x="160952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3" name="object-120: S1">
            <a:extLst>
              <a:ext uri="{FF2B5EF4-FFF2-40B4-BE49-F238E27FC236}">
                <a16:creationId xmlns:a16="http://schemas.microsoft.com/office/drawing/2014/main" id="{3F43181B-DE1D-484D-B55A-742D23FD99AE}"/>
              </a:ext>
            </a:extLst>
          </p:cNvPr>
          <p:cNvSpPr txBox="1"/>
          <p:nvPr/>
        </p:nvSpPr>
        <p:spPr>
          <a:xfrm>
            <a:off x="1724792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894" name="master-port-2">
            <a:extLst>
              <a:ext uri="{FF2B5EF4-FFF2-40B4-BE49-F238E27FC236}">
                <a16:creationId xmlns:a16="http://schemas.microsoft.com/office/drawing/2014/main" id="{602474F8-334C-4058-878B-BB667B6B2687}"/>
              </a:ext>
            </a:extLst>
          </p:cNvPr>
          <p:cNvSpPr/>
          <p:nvPr/>
        </p:nvSpPr>
        <p:spPr>
          <a:xfrm>
            <a:off x="288968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5" name="object-122: S2">
            <a:extLst>
              <a:ext uri="{FF2B5EF4-FFF2-40B4-BE49-F238E27FC236}">
                <a16:creationId xmlns:a16="http://schemas.microsoft.com/office/drawing/2014/main" id="{6EABCA1F-85F6-4ABE-BF62-5018DF89476E}"/>
              </a:ext>
            </a:extLst>
          </p:cNvPr>
          <p:cNvSpPr txBox="1"/>
          <p:nvPr/>
        </p:nvSpPr>
        <p:spPr>
          <a:xfrm>
            <a:off x="3004952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cxnSp>
        <p:nvCxnSpPr>
          <p:cNvPr id="896" name="master-input-3">
            <a:extLst>
              <a:ext uri="{FF2B5EF4-FFF2-40B4-BE49-F238E27FC236}">
                <a16:creationId xmlns:a16="http://schemas.microsoft.com/office/drawing/2014/main" id="{41BDE088-AF36-4BF2-8B7A-C3BCBB0DD0E1}"/>
              </a:ext>
            </a:extLst>
          </p:cNvPr>
          <p:cNvCxnSpPr>
            <a:cxnSpLocks/>
            <a:stCxn id="865" idx="2"/>
            <a:endCxn id="898" idx="0"/>
          </p:cNvCxnSpPr>
          <p:nvPr/>
        </p:nvCxnSpPr>
        <p:spPr>
          <a:xfrm flipH="1">
            <a:off x="4278214" y="2847589"/>
            <a:ext cx="1693" cy="127581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97" name="master-port-3">
            <a:extLst>
              <a:ext uri="{FF2B5EF4-FFF2-40B4-BE49-F238E27FC236}">
                <a16:creationId xmlns:a16="http://schemas.microsoft.com/office/drawing/2014/main" id="{C18A6326-AF43-41B2-B23E-331005ADBDC7}"/>
              </a:ext>
            </a:extLst>
          </p:cNvPr>
          <p:cNvSpPr/>
          <p:nvPr/>
        </p:nvSpPr>
        <p:spPr>
          <a:xfrm>
            <a:off x="4115653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8" name="object-125: S3">
            <a:extLst>
              <a:ext uri="{FF2B5EF4-FFF2-40B4-BE49-F238E27FC236}">
                <a16:creationId xmlns:a16="http://schemas.microsoft.com/office/drawing/2014/main" id="{6FAAD788-A730-403A-9234-9AEE68214ED7}"/>
              </a:ext>
            </a:extLst>
          </p:cNvPr>
          <p:cNvSpPr txBox="1"/>
          <p:nvPr/>
        </p:nvSpPr>
        <p:spPr>
          <a:xfrm>
            <a:off x="4230925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S3</a:t>
            </a:r>
          </a:p>
        </p:txBody>
      </p:sp>
      <p:cxnSp>
        <p:nvCxnSpPr>
          <p:cNvPr id="899" name="master-input-4">
            <a:extLst>
              <a:ext uri="{FF2B5EF4-FFF2-40B4-BE49-F238E27FC236}">
                <a16:creationId xmlns:a16="http://schemas.microsoft.com/office/drawing/2014/main" id="{63194A64-7997-47D4-9B67-6A3B8A83FBA5}"/>
              </a:ext>
            </a:extLst>
          </p:cNvPr>
          <p:cNvCxnSpPr>
            <a:cxnSpLocks/>
            <a:stCxn id="868" idx="2"/>
            <a:endCxn id="900" idx="0"/>
          </p:cNvCxnSpPr>
          <p:nvPr/>
        </p:nvCxnSpPr>
        <p:spPr>
          <a:xfrm flipH="1">
            <a:off x="5446613" y="2847589"/>
            <a:ext cx="1693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0" name="master-port-4">
            <a:extLst>
              <a:ext uri="{FF2B5EF4-FFF2-40B4-BE49-F238E27FC236}">
                <a16:creationId xmlns:a16="http://schemas.microsoft.com/office/drawing/2014/main" id="{DB92E762-D25D-4D20-BAFE-7089E116CA62}"/>
              </a:ext>
            </a:extLst>
          </p:cNvPr>
          <p:cNvSpPr/>
          <p:nvPr/>
        </p:nvSpPr>
        <p:spPr>
          <a:xfrm>
            <a:off x="5284053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1" name="object-128: S4">
            <a:extLst>
              <a:ext uri="{FF2B5EF4-FFF2-40B4-BE49-F238E27FC236}">
                <a16:creationId xmlns:a16="http://schemas.microsoft.com/office/drawing/2014/main" id="{DF1FF693-6631-4141-920A-04372833575E}"/>
              </a:ext>
            </a:extLst>
          </p:cNvPr>
          <p:cNvSpPr txBox="1"/>
          <p:nvPr/>
        </p:nvSpPr>
        <p:spPr>
          <a:xfrm>
            <a:off x="5399325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S4</a:t>
            </a:r>
          </a:p>
        </p:txBody>
      </p:sp>
      <p:cxnSp>
        <p:nvCxnSpPr>
          <p:cNvPr id="902" name="master-input-5">
            <a:extLst>
              <a:ext uri="{FF2B5EF4-FFF2-40B4-BE49-F238E27FC236}">
                <a16:creationId xmlns:a16="http://schemas.microsoft.com/office/drawing/2014/main" id="{8ADECD2D-C41B-4634-88FE-5A08E996B139}"/>
              </a:ext>
            </a:extLst>
          </p:cNvPr>
          <p:cNvCxnSpPr>
            <a:cxnSpLocks/>
            <a:stCxn id="871" idx="2"/>
            <a:endCxn id="904" idx="0"/>
          </p:cNvCxnSpPr>
          <p:nvPr/>
        </p:nvCxnSpPr>
        <p:spPr>
          <a:xfrm flipH="1">
            <a:off x="6581147" y="2847589"/>
            <a:ext cx="1693" cy="127581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3" name="master-port-5">
            <a:extLst>
              <a:ext uri="{FF2B5EF4-FFF2-40B4-BE49-F238E27FC236}">
                <a16:creationId xmlns:a16="http://schemas.microsoft.com/office/drawing/2014/main" id="{FE570239-49B0-4DE8-9C5D-20F4362D2680}"/>
              </a:ext>
            </a:extLst>
          </p:cNvPr>
          <p:cNvSpPr/>
          <p:nvPr/>
        </p:nvSpPr>
        <p:spPr>
          <a:xfrm>
            <a:off x="641858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4" name="object-131: S5">
            <a:extLst>
              <a:ext uri="{FF2B5EF4-FFF2-40B4-BE49-F238E27FC236}">
                <a16:creationId xmlns:a16="http://schemas.microsoft.com/office/drawing/2014/main" id="{C2B9F0FF-B46A-4399-9351-9076AE74ECA0}"/>
              </a:ext>
            </a:extLst>
          </p:cNvPr>
          <p:cNvSpPr txBox="1"/>
          <p:nvPr/>
        </p:nvSpPr>
        <p:spPr>
          <a:xfrm>
            <a:off x="653385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S5</a:t>
            </a:r>
          </a:p>
        </p:txBody>
      </p:sp>
      <p:cxnSp>
        <p:nvCxnSpPr>
          <p:cNvPr id="905" name="master-input-6">
            <a:extLst>
              <a:ext uri="{FF2B5EF4-FFF2-40B4-BE49-F238E27FC236}">
                <a16:creationId xmlns:a16="http://schemas.microsoft.com/office/drawing/2014/main" id="{4D4E99B8-184F-42BF-848F-3380EE686863}"/>
              </a:ext>
            </a:extLst>
          </p:cNvPr>
          <p:cNvCxnSpPr>
            <a:cxnSpLocks/>
            <a:stCxn id="874" idx="2"/>
            <a:endCxn id="906" idx="0"/>
          </p:cNvCxnSpPr>
          <p:nvPr/>
        </p:nvCxnSpPr>
        <p:spPr>
          <a:xfrm flipH="1">
            <a:off x="7658106" y="2847589"/>
            <a:ext cx="1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6" name="master-port-6">
            <a:extLst>
              <a:ext uri="{FF2B5EF4-FFF2-40B4-BE49-F238E27FC236}">
                <a16:creationId xmlns:a16="http://schemas.microsoft.com/office/drawing/2014/main" id="{03A533EB-AB9B-4BC9-9006-ACC3DD5559C6}"/>
              </a:ext>
            </a:extLst>
          </p:cNvPr>
          <p:cNvSpPr/>
          <p:nvPr/>
        </p:nvSpPr>
        <p:spPr>
          <a:xfrm>
            <a:off x="749554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7" name="object-134: S6">
            <a:extLst>
              <a:ext uri="{FF2B5EF4-FFF2-40B4-BE49-F238E27FC236}">
                <a16:creationId xmlns:a16="http://schemas.microsoft.com/office/drawing/2014/main" id="{8036A6ED-C505-4B1E-B4D3-FD1BDB6F4F22}"/>
              </a:ext>
            </a:extLst>
          </p:cNvPr>
          <p:cNvSpPr txBox="1"/>
          <p:nvPr/>
        </p:nvSpPr>
        <p:spPr>
          <a:xfrm>
            <a:off x="761081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S6</a:t>
            </a:r>
          </a:p>
        </p:txBody>
      </p:sp>
      <p:cxnSp>
        <p:nvCxnSpPr>
          <p:cNvPr id="908" name="master-input-7">
            <a:extLst>
              <a:ext uri="{FF2B5EF4-FFF2-40B4-BE49-F238E27FC236}">
                <a16:creationId xmlns:a16="http://schemas.microsoft.com/office/drawing/2014/main" id="{CC4EED22-31D0-4799-9367-43732014B122}"/>
              </a:ext>
            </a:extLst>
          </p:cNvPr>
          <p:cNvCxnSpPr>
            <a:cxnSpLocks/>
            <a:stCxn id="877" idx="2"/>
            <a:endCxn id="910" idx="0"/>
          </p:cNvCxnSpPr>
          <p:nvPr/>
        </p:nvCxnSpPr>
        <p:spPr>
          <a:xfrm>
            <a:off x="8945040" y="2847589"/>
            <a:ext cx="1" cy="127581"/>
          </a:xfrm>
          <a:prstGeom prst="line">
            <a:avLst/>
          </a:prstGeom>
          <a:ln w="24384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</p:cxnSp>
      <p:sp>
        <p:nvSpPr>
          <p:cNvPr id="909" name="master-port-7">
            <a:extLst>
              <a:ext uri="{FF2B5EF4-FFF2-40B4-BE49-F238E27FC236}">
                <a16:creationId xmlns:a16="http://schemas.microsoft.com/office/drawing/2014/main" id="{8CD622A4-E94F-49B7-9EE1-76B718FFF741}"/>
              </a:ext>
            </a:extLst>
          </p:cNvPr>
          <p:cNvSpPr/>
          <p:nvPr/>
        </p:nvSpPr>
        <p:spPr>
          <a:xfrm>
            <a:off x="878248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93939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0" name="object-137: S_EXT">
            <a:extLst>
              <a:ext uri="{FF2B5EF4-FFF2-40B4-BE49-F238E27FC236}">
                <a16:creationId xmlns:a16="http://schemas.microsoft.com/office/drawing/2014/main" id="{A6672919-ACE5-43A4-B24D-02ED76BD260F}"/>
              </a:ext>
            </a:extLst>
          </p:cNvPr>
          <p:cNvSpPr txBox="1"/>
          <p:nvPr/>
        </p:nvSpPr>
        <p:spPr>
          <a:xfrm>
            <a:off x="8831227" y="2975170"/>
            <a:ext cx="22762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S_EXT</a:t>
            </a:r>
          </a:p>
        </p:txBody>
      </p:sp>
      <p:sp>
        <p:nvSpPr>
          <p:cNvPr id="911" name="object-138: AXI master / 请求发起端">
            <a:extLst>
              <a:ext uri="{FF2B5EF4-FFF2-40B4-BE49-F238E27FC236}">
                <a16:creationId xmlns:a16="http://schemas.microsoft.com/office/drawing/2014/main" id="{6E968B6E-173B-423A-BB84-904B4B1C3F33}"/>
              </a:ext>
            </a:extLst>
          </p:cNvPr>
          <p:cNvSpPr txBox="1"/>
          <p:nvPr/>
        </p:nvSpPr>
        <p:spPr>
          <a:xfrm>
            <a:off x="3746500" y="2380500"/>
            <a:ext cx="104515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700" b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master / 请求发起端</a:t>
            </a:r>
          </a:p>
        </p:txBody>
      </p:sp>
      <p:cxnSp>
        <p:nvCxnSpPr>
          <p:cNvPr id="912" name="target-output-0">
            <a:extLst>
              <a:ext uri="{FF2B5EF4-FFF2-40B4-BE49-F238E27FC236}">
                <a16:creationId xmlns:a16="http://schemas.microsoft.com/office/drawing/2014/main" id="{0B0E9033-54B2-48D8-A4BA-1021732C78B5}"/>
              </a:ext>
            </a:extLst>
          </p:cNvPr>
          <p:cNvCxnSpPr/>
          <p:nvPr/>
        </p:nvCxnSpPr>
        <p:spPr>
          <a:xfrm>
            <a:off x="925890" y="3529245"/>
            <a:ext cx="0" cy="17272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13" name="target-port-0">
            <a:extLst>
              <a:ext uri="{FF2B5EF4-FFF2-40B4-BE49-F238E27FC236}">
                <a16:creationId xmlns:a16="http://schemas.microsoft.com/office/drawing/2014/main" id="{A3405BA2-C50F-44D0-A6DD-4AD5F991D969}"/>
              </a:ext>
            </a:extLst>
          </p:cNvPr>
          <p:cNvSpPr/>
          <p:nvPr/>
        </p:nvSpPr>
        <p:spPr>
          <a:xfrm>
            <a:off x="763330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4" name="object-141: M0">
            <a:extLst>
              <a:ext uri="{FF2B5EF4-FFF2-40B4-BE49-F238E27FC236}">
                <a16:creationId xmlns:a16="http://schemas.microsoft.com/office/drawing/2014/main" id="{3F291DD9-3BB4-4245-A46F-E73FAE70C3EC}"/>
              </a:ext>
            </a:extLst>
          </p:cNvPr>
          <p:cNvSpPr txBox="1"/>
          <p:nvPr/>
        </p:nvSpPr>
        <p:spPr>
          <a:xfrm>
            <a:off x="807357" y="3432370"/>
            <a:ext cx="23706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M0</a:t>
            </a:r>
          </a:p>
        </p:txBody>
      </p:sp>
      <p:sp>
        <p:nvSpPr>
          <p:cNvPr id="915" name="debug-target">
            <a:extLst>
              <a:ext uri="{FF2B5EF4-FFF2-40B4-BE49-F238E27FC236}">
                <a16:creationId xmlns:a16="http://schemas.microsoft.com/office/drawing/2014/main" id="{FB1EF230-BA40-4795-B61E-DEED4108D14F}"/>
              </a:ext>
            </a:extLst>
          </p:cNvPr>
          <p:cNvSpPr/>
          <p:nvPr/>
        </p:nvSpPr>
        <p:spPr>
          <a:xfrm>
            <a:off x="316290" y="3701949"/>
            <a:ext cx="1219200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6" name="object-143: Debug 目标">
            <a:extLst>
              <a:ext uri="{FF2B5EF4-FFF2-40B4-BE49-F238E27FC236}">
                <a16:creationId xmlns:a16="http://schemas.microsoft.com/office/drawing/2014/main" id="{ED399EB3-5040-44B2-8ADF-7A62E2C276F4}"/>
              </a:ext>
            </a:extLst>
          </p:cNvPr>
          <p:cNvSpPr txBox="1"/>
          <p:nvPr/>
        </p:nvSpPr>
        <p:spPr>
          <a:xfrm>
            <a:off x="350157" y="3799997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目标</a:t>
            </a:r>
          </a:p>
        </p:txBody>
      </p:sp>
      <p:sp>
        <p:nvSpPr>
          <p:cNvPr id="917" name="object-144: 调试模块地址窗口">
            <a:extLst>
              <a:ext uri="{FF2B5EF4-FFF2-40B4-BE49-F238E27FC236}">
                <a16:creationId xmlns:a16="http://schemas.microsoft.com/office/drawing/2014/main" id="{4439FC9B-E6E5-40DC-81F7-7402CB2AA92B}"/>
              </a:ext>
            </a:extLst>
          </p:cNvPr>
          <p:cNvSpPr txBox="1"/>
          <p:nvPr/>
        </p:nvSpPr>
        <p:spPr>
          <a:xfrm>
            <a:off x="350157" y="3932890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调试模块地址窗口</a:t>
            </a:r>
          </a:p>
        </p:txBody>
      </p:sp>
      <p:cxnSp>
        <p:nvCxnSpPr>
          <p:cNvPr id="918" name="target-output-1">
            <a:extLst>
              <a:ext uri="{FF2B5EF4-FFF2-40B4-BE49-F238E27FC236}">
                <a16:creationId xmlns:a16="http://schemas.microsoft.com/office/drawing/2014/main" id="{268FC7FD-387F-4732-BA8A-D1ADA4FEB7C0}"/>
              </a:ext>
            </a:extLst>
          </p:cNvPr>
          <p:cNvCxnSpPr/>
          <p:nvPr/>
        </p:nvCxnSpPr>
        <p:spPr>
          <a:xfrm>
            <a:off x="2295071" y="3529245"/>
            <a:ext cx="0" cy="17272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19" name="target-port-1">
            <a:extLst>
              <a:ext uri="{FF2B5EF4-FFF2-40B4-BE49-F238E27FC236}">
                <a16:creationId xmlns:a16="http://schemas.microsoft.com/office/drawing/2014/main" id="{A6FC013D-4910-42B5-8190-821F38169B3C}"/>
              </a:ext>
            </a:extLst>
          </p:cNvPr>
          <p:cNvSpPr/>
          <p:nvPr/>
        </p:nvSpPr>
        <p:spPr>
          <a:xfrm>
            <a:off x="2132511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0" name="object-147: M1">
            <a:extLst>
              <a:ext uri="{FF2B5EF4-FFF2-40B4-BE49-F238E27FC236}">
                <a16:creationId xmlns:a16="http://schemas.microsoft.com/office/drawing/2014/main" id="{721E8F9A-B021-40E1-9B2E-A43ECFD2C0B7}"/>
              </a:ext>
            </a:extLst>
          </p:cNvPr>
          <p:cNvSpPr txBox="1"/>
          <p:nvPr/>
        </p:nvSpPr>
        <p:spPr>
          <a:xfrm>
            <a:off x="2176538" y="3432370"/>
            <a:ext cx="23706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M1</a:t>
            </a:r>
          </a:p>
        </p:txBody>
      </p:sp>
      <p:sp>
        <p:nvSpPr>
          <p:cNvPr id="921" name="reg-bridge">
            <a:extLst>
              <a:ext uri="{FF2B5EF4-FFF2-40B4-BE49-F238E27FC236}">
                <a16:creationId xmlns:a16="http://schemas.microsoft.com/office/drawing/2014/main" id="{605E5542-298C-42C7-9EEE-C221CC79B47E}"/>
              </a:ext>
            </a:extLst>
          </p:cNvPr>
          <p:cNvSpPr/>
          <p:nvPr/>
        </p:nvSpPr>
        <p:spPr>
          <a:xfrm>
            <a:off x="1685471" y="3701949"/>
            <a:ext cx="1219200" cy="524933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2" name="object-149: AXI → Regbus">
            <a:extLst>
              <a:ext uri="{FF2B5EF4-FFF2-40B4-BE49-F238E27FC236}">
                <a16:creationId xmlns:a16="http://schemas.microsoft.com/office/drawing/2014/main" id="{B5A7E11C-EBB3-4CBD-8B2B-68D85FC37EE0}"/>
              </a:ext>
            </a:extLst>
          </p:cNvPr>
          <p:cNvSpPr txBox="1"/>
          <p:nvPr/>
        </p:nvSpPr>
        <p:spPr>
          <a:xfrm>
            <a:off x="1719338" y="3799997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→ Regbus</a:t>
            </a:r>
          </a:p>
        </p:txBody>
      </p:sp>
      <p:sp>
        <p:nvSpPr>
          <p:cNvPr id="923" name="object-150: 原子适配 / 桥接 · 32 bit">
            <a:extLst>
              <a:ext uri="{FF2B5EF4-FFF2-40B4-BE49-F238E27FC236}">
                <a16:creationId xmlns:a16="http://schemas.microsoft.com/office/drawing/2014/main" id="{F0111D01-61C8-4DEB-A6EE-28B9C2A58D3E}"/>
              </a:ext>
            </a:extLst>
          </p:cNvPr>
          <p:cNvSpPr txBox="1"/>
          <p:nvPr/>
        </p:nvSpPr>
        <p:spPr>
          <a:xfrm>
            <a:off x="1719338" y="3932890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桥接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· 32 bit</a:t>
            </a:r>
          </a:p>
        </p:txBody>
      </p:sp>
      <p:cxnSp>
        <p:nvCxnSpPr>
          <p:cNvPr id="924" name="target-output-2">
            <a:extLst>
              <a:ext uri="{FF2B5EF4-FFF2-40B4-BE49-F238E27FC236}">
                <a16:creationId xmlns:a16="http://schemas.microsoft.com/office/drawing/2014/main" id="{FFECC9CA-443B-4620-BC41-4FF2B894F371}"/>
              </a:ext>
            </a:extLst>
          </p:cNvPr>
          <p:cNvCxnSpPr/>
          <p:nvPr/>
        </p:nvCxnSpPr>
        <p:spPr>
          <a:xfrm>
            <a:off x="3664252" y="3529245"/>
            <a:ext cx="0" cy="17272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25" name="target-port-2">
            <a:extLst>
              <a:ext uri="{FF2B5EF4-FFF2-40B4-BE49-F238E27FC236}">
                <a16:creationId xmlns:a16="http://schemas.microsoft.com/office/drawing/2014/main" id="{2ACCD77A-F44D-479C-A71B-4CBA6C2CDD61}"/>
              </a:ext>
            </a:extLst>
          </p:cNvPr>
          <p:cNvSpPr/>
          <p:nvPr/>
        </p:nvSpPr>
        <p:spPr>
          <a:xfrm>
            <a:off x="3501692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6" name="object-153: M2">
            <a:extLst>
              <a:ext uri="{FF2B5EF4-FFF2-40B4-BE49-F238E27FC236}">
                <a16:creationId xmlns:a16="http://schemas.microsoft.com/office/drawing/2014/main" id="{741BD7F3-728C-4190-BAEE-738CFEA227B4}"/>
              </a:ext>
            </a:extLst>
          </p:cNvPr>
          <p:cNvSpPr txBox="1"/>
          <p:nvPr/>
        </p:nvSpPr>
        <p:spPr>
          <a:xfrm>
            <a:off x="3545719" y="3432370"/>
            <a:ext cx="23706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M2</a:t>
            </a:r>
          </a:p>
        </p:txBody>
      </p:sp>
      <p:sp>
        <p:nvSpPr>
          <p:cNvPr id="927" name="memory-target">
            <a:extLst>
              <a:ext uri="{FF2B5EF4-FFF2-40B4-BE49-F238E27FC236}">
                <a16:creationId xmlns:a16="http://schemas.microsoft.com/office/drawing/2014/main" id="{C003EEB8-E7DB-4700-9829-5258C7A80A8D}"/>
              </a:ext>
            </a:extLst>
          </p:cNvPr>
          <p:cNvSpPr/>
          <p:nvPr/>
        </p:nvSpPr>
        <p:spPr>
          <a:xfrm>
            <a:off x="2986919" y="3701949"/>
            <a:ext cx="1354667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8" name="object-155: 主存 / SPM 共用目标">
            <a:extLst>
              <a:ext uri="{FF2B5EF4-FFF2-40B4-BE49-F238E27FC236}">
                <a16:creationId xmlns:a16="http://schemas.microsoft.com/office/drawing/2014/main" id="{908ED905-649A-4631-8BAE-49D301C712C7}"/>
              </a:ext>
            </a:extLst>
          </p:cNvPr>
          <p:cNvSpPr txBox="1"/>
          <p:nvPr/>
        </p:nvSpPr>
        <p:spPr>
          <a:xfrm>
            <a:off x="3020786" y="3743899"/>
            <a:ext cx="128693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主存 / SPM 共用目标</a:t>
            </a:r>
          </a:p>
        </p:txBody>
      </p:sp>
      <p:cxnSp>
        <p:nvCxnSpPr>
          <p:cNvPr id="929" name="target-output-3">
            <a:extLst>
              <a:ext uri="{FF2B5EF4-FFF2-40B4-BE49-F238E27FC236}">
                <a16:creationId xmlns:a16="http://schemas.microsoft.com/office/drawing/2014/main" id="{AEEBB89A-B17A-4831-BEAF-00EAD409A51D}"/>
              </a:ext>
            </a:extLst>
          </p:cNvPr>
          <p:cNvCxnSpPr/>
          <p:nvPr/>
        </p:nvCxnSpPr>
        <p:spPr>
          <a:xfrm>
            <a:off x="5033433" y="3529245"/>
            <a:ext cx="0" cy="17272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30" name="target-port-3">
            <a:extLst>
              <a:ext uri="{FF2B5EF4-FFF2-40B4-BE49-F238E27FC236}">
                <a16:creationId xmlns:a16="http://schemas.microsoft.com/office/drawing/2014/main" id="{BEF56EB4-9E62-4F6B-B685-82A1A9B7D9C3}"/>
              </a:ext>
            </a:extLst>
          </p:cNvPr>
          <p:cNvSpPr/>
          <p:nvPr/>
        </p:nvSpPr>
        <p:spPr>
          <a:xfrm>
            <a:off x="4870873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1" name="object-158: M3">
            <a:extLst>
              <a:ext uri="{FF2B5EF4-FFF2-40B4-BE49-F238E27FC236}">
                <a16:creationId xmlns:a16="http://schemas.microsoft.com/office/drawing/2014/main" id="{19BEF351-3C7C-4364-B07E-B54FAFDD11E7}"/>
              </a:ext>
            </a:extLst>
          </p:cNvPr>
          <p:cNvSpPr txBox="1"/>
          <p:nvPr/>
        </p:nvSpPr>
        <p:spPr>
          <a:xfrm>
            <a:off x="4914900" y="3432370"/>
            <a:ext cx="23706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M3</a:t>
            </a:r>
          </a:p>
        </p:txBody>
      </p:sp>
      <p:sp>
        <p:nvSpPr>
          <p:cNvPr id="932" name="idma-config">
            <a:extLst>
              <a:ext uri="{FF2B5EF4-FFF2-40B4-BE49-F238E27FC236}">
                <a16:creationId xmlns:a16="http://schemas.microsoft.com/office/drawing/2014/main" id="{906EA7A1-5652-4FFA-AE14-E9E6E4670187}"/>
              </a:ext>
            </a:extLst>
          </p:cNvPr>
          <p:cNvSpPr/>
          <p:nvPr/>
        </p:nvSpPr>
        <p:spPr>
          <a:xfrm>
            <a:off x="4423833" y="3701949"/>
            <a:ext cx="1219200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3" name="object-160: iDMA 配置">
            <a:extLst>
              <a:ext uri="{FF2B5EF4-FFF2-40B4-BE49-F238E27FC236}">
                <a16:creationId xmlns:a16="http://schemas.microsoft.com/office/drawing/2014/main" id="{468A9BCA-1A7B-4BE3-A31E-29444D97DAAB}"/>
              </a:ext>
            </a:extLst>
          </p:cNvPr>
          <p:cNvSpPr txBox="1"/>
          <p:nvPr/>
        </p:nvSpPr>
        <p:spPr>
          <a:xfrm>
            <a:off x="4457700" y="3766131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配置</a:t>
            </a:r>
          </a:p>
        </p:txBody>
      </p:sp>
      <p:sp>
        <p:nvSpPr>
          <p:cNvPr id="934" name="object-161: 原子适配 → AXI→Reg">
            <a:extLst>
              <a:ext uri="{FF2B5EF4-FFF2-40B4-BE49-F238E27FC236}">
                <a16:creationId xmlns:a16="http://schemas.microsoft.com/office/drawing/2014/main" id="{409F0990-0F28-44F7-8F3F-DEB76F2BCA00}"/>
              </a:ext>
            </a:extLst>
          </p:cNvPr>
          <p:cNvSpPr txBox="1"/>
          <p:nvPr/>
        </p:nvSpPr>
        <p:spPr>
          <a:xfrm>
            <a:off x="4457700" y="3899024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→ AXI→Reg</a:t>
            </a:r>
          </a:p>
        </p:txBody>
      </p:sp>
      <p:sp>
        <p:nvSpPr>
          <p:cNvPr id="935" name="object-162: wrapper 内部寄存器">
            <a:extLst>
              <a:ext uri="{FF2B5EF4-FFF2-40B4-BE49-F238E27FC236}">
                <a16:creationId xmlns:a16="http://schemas.microsoft.com/office/drawing/2014/main" id="{37D0B260-A181-4043-BFF4-C7EA83B49656}"/>
              </a:ext>
            </a:extLst>
          </p:cNvPr>
          <p:cNvSpPr txBox="1"/>
          <p:nvPr/>
        </p:nvSpPr>
        <p:spPr>
          <a:xfrm>
            <a:off x="4457700" y="4007397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wrapper 内部寄存器</a:t>
            </a:r>
          </a:p>
        </p:txBody>
      </p:sp>
      <p:cxnSp>
        <p:nvCxnSpPr>
          <p:cNvPr id="936" name="target-output-4">
            <a:extLst>
              <a:ext uri="{FF2B5EF4-FFF2-40B4-BE49-F238E27FC236}">
                <a16:creationId xmlns:a16="http://schemas.microsoft.com/office/drawing/2014/main" id="{2D1D5CD8-FC34-4CB6-A62D-678019C344CF}"/>
              </a:ext>
            </a:extLst>
          </p:cNvPr>
          <p:cNvCxnSpPr/>
          <p:nvPr/>
        </p:nvCxnSpPr>
        <p:spPr>
          <a:xfrm>
            <a:off x="6402614" y="3529245"/>
            <a:ext cx="0" cy="17272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37" name="target-port-4">
            <a:extLst>
              <a:ext uri="{FF2B5EF4-FFF2-40B4-BE49-F238E27FC236}">
                <a16:creationId xmlns:a16="http://schemas.microsoft.com/office/drawing/2014/main" id="{C27BE330-A10A-405A-A746-7CD1AB09706C}"/>
              </a:ext>
            </a:extLst>
          </p:cNvPr>
          <p:cNvSpPr/>
          <p:nvPr/>
        </p:nvSpPr>
        <p:spPr>
          <a:xfrm>
            <a:off x="6240054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8" name="object-165: M4">
            <a:extLst>
              <a:ext uri="{FF2B5EF4-FFF2-40B4-BE49-F238E27FC236}">
                <a16:creationId xmlns:a16="http://schemas.microsoft.com/office/drawing/2014/main" id="{07882F63-6019-433E-AEF0-B6C15B433D91}"/>
              </a:ext>
            </a:extLst>
          </p:cNvPr>
          <p:cNvSpPr txBox="1"/>
          <p:nvPr/>
        </p:nvSpPr>
        <p:spPr>
          <a:xfrm>
            <a:off x="6284081" y="3432370"/>
            <a:ext cx="23706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M4</a:t>
            </a:r>
          </a:p>
        </p:txBody>
      </p:sp>
      <p:sp>
        <p:nvSpPr>
          <p:cNvPr id="939" name="slink-tx">
            <a:extLst>
              <a:ext uri="{FF2B5EF4-FFF2-40B4-BE49-F238E27FC236}">
                <a16:creationId xmlns:a16="http://schemas.microsoft.com/office/drawing/2014/main" id="{718FF7D9-8D9B-4B52-8C5B-57629572744C}"/>
              </a:ext>
            </a:extLst>
          </p:cNvPr>
          <p:cNvSpPr/>
          <p:nvPr/>
        </p:nvSpPr>
        <p:spPr>
          <a:xfrm>
            <a:off x="5793014" y="3701949"/>
            <a:ext cx="1219200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0" name="object-167: Serial Link TX">
            <a:extLst>
              <a:ext uri="{FF2B5EF4-FFF2-40B4-BE49-F238E27FC236}">
                <a16:creationId xmlns:a16="http://schemas.microsoft.com/office/drawing/2014/main" id="{CE6C92FE-D792-4731-91BF-92C5EB9D3372}"/>
              </a:ext>
            </a:extLst>
          </p:cNvPr>
          <p:cNvSpPr txBox="1"/>
          <p:nvPr/>
        </p:nvSpPr>
        <p:spPr>
          <a:xfrm>
            <a:off x="5826881" y="3799997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TX</a:t>
            </a:r>
          </a:p>
        </p:txBody>
      </p:sp>
      <p:sp>
        <p:nvSpPr>
          <p:cNvPr id="941" name="object-168: 远端目标窗口">
            <a:extLst>
              <a:ext uri="{FF2B5EF4-FFF2-40B4-BE49-F238E27FC236}">
                <a16:creationId xmlns:a16="http://schemas.microsoft.com/office/drawing/2014/main" id="{AFD0E002-9F64-43C5-8E24-6B2D22B7B482}"/>
              </a:ext>
            </a:extLst>
          </p:cNvPr>
          <p:cNvSpPr txBox="1"/>
          <p:nvPr/>
        </p:nvSpPr>
        <p:spPr>
          <a:xfrm>
            <a:off x="5826881" y="3932890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远端目标窗口</a:t>
            </a:r>
          </a:p>
        </p:txBody>
      </p:sp>
      <p:cxnSp>
        <p:nvCxnSpPr>
          <p:cNvPr id="942" name="target-output-ext">
            <a:extLst>
              <a:ext uri="{FF2B5EF4-FFF2-40B4-BE49-F238E27FC236}">
                <a16:creationId xmlns:a16="http://schemas.microsoft.com/office/drawing/2014/main" id="{7BE14BE3-9B63-4EF3-A33C-7F1A53D9C001}"/>
              </a:ext>
            </a:extLst>
          </p:cNvPr>
          <p:cNvCxnSpPr>
            <a:cxnSpLocks/>
            <a:stCxn id="943" idx="2"/>
          </p:cNvCxnSpPr>
          <p:nvPr/>
        </p:nvCxnSpPr>
        <p:spPr>
          <a:xfrm>
            <a:off x="9140976" y="3529245"/>
            <a:ext cx="0" cy="172720"/>
          </a:xfrm>
          <a:prstGeom prst="line">
            <a:avLst/>
          </a:prstGeom>
          <a:ln w="24384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</p:cxnSp>
      <p:sp>
        <p:nvSpPr>
          <p:cNvPr id="943" name="target-port-ext">
            <a:extLst>
              <a:ext uri="{FF2B5EF4-FFF2-40B4-BE49-F238E27FC236}">
                <a16:creationId xmlns:a16="http://schemas.microsoft.com/office/drawing/2014/main" id="{0A82AF7F-FCCC-40AC-B0E6-5DBC2D27AA6F}"/>
              </a:ext>
            </a:extLst>
          </p:cNvPr>
          <p:cNvSpPr/>
          <p:nvPr/>
        </p:nvSpPr>
        <p:spPr>
          <a:xfrm>
            <a:off x="8978416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93939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4" name="object-171: M_EXT">
            <a:extLst>
              <a:ext uri="{FF2B5EF4-FFF2-40B4-BE49-F238E27FC236}">
                <a16:creationId xmlns:a16="http://schemas.microsoft.com/office/drawing/2014/main" id="{5ED255E7-3D69-4736-82DB-F74898973378}"/>
              </a:ext>
            </a:extLst>
          </p:cNvPr>
          <p:cNvSpPr txBox="1"/>
          <p:nvPr/>
        </p:nvSpPr>
        <p:spPr>
          <a:xfrm>
            <a:off x="8995350" y="3432370"/>
            <a:ext cx="291253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M_EXT</a:t>
            </a:r>
          </a:p>
        </p:txBody>
      </p:sp>
      <p:sp>
        <p:nvSpPr>
          <p:cNvPr id="945" name="ext-target">
            <a:extLst>
              <a:ext uri="{FF2B5EF4-FFF2-40B4-BE49-F238E27FC236}">
                <a16:creationId xmlns:a16="http://schemas.microsoft.com/office/drawing/2014/main" id="{35CB4EAC-4D90-4C3D-9DD9-8ED7A33AEC4A}"/>
              </a:ext>
            </a:extLst>
          </p:cNvPr>
          <p:cNvSpPr/>
          <p:nvPr/>
        </p:nvSpPr>
        <p:spPr>
          <a:xfrm>
            <a:off x="8531376" y="3701949"/>
            <a:ext cx="1219200" cy="524933"/>
          </a:xfrm>
          <a:prstGeom prst="rect">
            <a:avLst/>
          </a:prstGeom>
          <a:solidFill>
            <a:srgbClr val="F5F5F7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6" name="object-173: AXI 外部 slave">
            <a:extLst>
              <a:ext uri="{FF2B5EF4-FFF2-40B4-BE49-F238E27FC236}">
                <a16:creationId xmlns:a16="http://schemas.microsoft.com/office/drawing/2014/main" id="{EDB0EE72-BBF5-487B-8CEF-12D40BA27121}"/>
              </a:ext>
            </a:extLst>
          </p:cNvPr>
          <p:cNvSpPr txBox="1"/>
          <p:nvPr/>
        </p:nvSpPr>
        <p:spPr>
          <a:xfrm>
            <a:off x="8565243" y="3766131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slave</a:t>
            </a:r>
          </a:p>
        </p:txBody>
      </p:sp>
      <p:sp>
        <p:nvSpPr>
          <p:cNvPr id="947" name="object-174: 可选外部目标扩展">
            <a:extLst>
              <a:ext uri="{FF2B5EF4-FFF2-40B4-BE49-F238E27FC236}">
                <a16:creationId xmlns:a16="http://schemas.microsoft.com/office/drawing/2014/main" id="{787FA9B9-204D-46F2-9A21-C983AC71DD12}"/>
              </a:ext>
            </a:extLst>
          </p:cNvPr>
          <p:cNvSpPr txBox="1"/>
          <p:nvPr/>
        </p:nvSpPr>
        <p:spPr>
          <a:xfrm>
            <a:off x="8565243" y="3899024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可选外部目标扩展</a:t>
            </a:r>
          </a:p>
        </p:txBody>
      </p:sp>
      <p:sp>
        <p:nvSpPr>
          <p:cNvPr id="948" name="atomics">
            <a:extLst>
              <a:ext uri="{FF2B5EF4-FFF2-40B4-BE49-F238E27FC236}">
                <a16:creationId xmlns:a16="http://schemas.microsoft.com/office/drawing/2014/main" id="{A44BC17A-607E-4FD1-AE60-078D1D424947}"/>
              </a:ext>
            </a:extLst>
          </p:cNvPr>
          <p:cNvSpPr/>
          <p:nvPr/>
        </p:nvSpPr>
        <p:spPr>
          <a:xfrm>
            <a:off x="3020786" y="3905149"/>
            <a:ext cx="626533" cy="28448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9" name="object-176: 原子适配">
            <a:extLst>
              <a:ext uri="{FF2B5EF4-FFF2-40B4-BE49-F238E27FC236}">
                <a16:creationId xmlns:a16="http://schemas.microsoft.com/office/drawing/2014/main" id="{4A598551-AF58-4554-AB7D-26396E1BBAA6}"/>
              </a:ext>
            </a:extLst>
          </p:cNvPr>
          <p:cNvSpPr txBox="1"/>
          <p:nvPr/>
        </p:nvSpPr>
        <p:spPr>
          <a:xfrm>
            <a:off x="3037719" y="3946331"/>
            <a:ext cx="59266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</a:p>
        </p:txBody>
      </p:sp>
      <p:sp>
        <p:nvSpPr>
          <p:cNvPr id="950" name="object-177: AMO / LRSC">
            <a:extLst>
              <a:ext uri="{FF2B5EF4-FFF2-40B4-BE49-F238E27FC236}">
                <a16:creationId xmlns:a16="http://schemas.microsoft.com/office/drawing/2014/main" id="{262BFCDF-2EBC-4B37-B6BD-1B3B4DDB5093}"/>
              </a:ext>
            </a:extLst>
          </p:cNvPr>
          <p:cNvSpPr txBox="1"/>
          <p:nvPr/>
        </p:nvSpPr>
        <p:spPr>
          <a:xfrm>
            <a:off x="3037719" y="4060936"/>
            <a:ext cx="5926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AMO / LRSC</a:t>
            </a:r>
          </a:p>
        </p:txBody>
      </p:sp>
      <p:sp>
        <p:nvSpPr>
          <p:cNvPr id="951" name="llc-spm">
            <a:extLst>
              <a:ext uri="{FF2B5EF4-FFF2-40B4-BE49-F238E27FC236}">
                <a16:creationId xmlns:a16="http://schemas.microsoft.com/office/drawing/2014/main" id="{CFE1928B-D279-4208-80F1-EE0A7B299153}"/>
              </a:ext>
            </a:extLst>
          </p:cNvPr>
          <p:cNvSpPr/>
          <p:nvPr/>
        </p:nvSpPr>
        <p:spPr>
          <a:xfrm>
            <a:off x="3731986" y="3905149"/>
            <a:ext cx="575733" cy="28448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2" name="object-179: LLC / SPM">
            <a:extLst>
              <a:ext uri="{FF2B5EF4-FFF2-40B4-BE49-F238E27FC236}">
                <a16:creationId xmlns:a16="http://schemas.microsoft.com/office/drawing/2014/main" id="{EC89ABB5-ADF1-4CCE-9076-537AD728CCF0}"/>
              </a:ext>
            </a:extLst>
          </p:cNvPr>
          <p:cNvSpPr txBox="1"/>
          <p:nvPr/>
        </p:nvSpPr>
        <p:spPr>
          <a:xfrm>
            <a:off x="3748919" y="3946331"/>
            <a:ext cx="54186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/ SPM</a:t>
            </a:r>
          </a:p>
        </p:txBody>
      </p:sp>
      <p:sp>
        <p:nvSpPr>
          <p:cNvPr id="953" name="object-180: 同一 SRAM 阵列">
            <a:extLst>
              <a:ext uri="{FF2B5EF4-FFF2-40B4-BE49-F238E27FC236}">
                <a16:creationId xmlns:a16="http://schemas.microsoft.com/office/drawing/2014/main" id="{07ABD4E2-0796-48E6-BC25-4482537767A1}"/>
              </a:ext>
            </a:extLst>
          </p:cNvPr>
          <p:cNvSpPr txBox="1"/>
          <p:nvPr/>
        </p:nvSpPr>
        <p:spPr>
          <a:xfrm>
            <a:off x="3748919" y="4060936"/>
            <a:ext cx="5418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SRAM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阵列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954" name="atomics-llc">
            <a:extLst>
              <a:ext uri="{FF2B5EF4-FFF2-40B4-BE49-F238E27FC236}">
                <a16:creationId xmlns:a16="http://schemas.microsoft.com/office/drawing/2014/main" id="{8785A342-A019-4871-85A3-1919CC460D6B}"/>
              </a:ext>
            </a:extLst>
          </p:cNvPr>
          <p:cNvCxnSpPr/>
          <p:nvPr/>
        </p:nvCxnSpPr>
        <p:spPr>
          <a:xfrm>
            <a:off x="3647319" y="4033842"/>
            <a:ext cx="84667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55" name="reg-subsystem">
            <a:extLst>
              <a:ext uri="{FF2B5EF4-FFF2-40B4-BE49-F238E27FC236}">
                <a16:creationId xmlns:a16="http://schemas.microsoft.com/office/drawing/2014/main" id="{17D69E55-0D49-47D7-AF34-F1100D4D8A7E}"/>
              </a:ext>
            </a:extLst>
          </p:cNvPr>
          <p:cNvSpPr/>
          <p:nvPr/>
        </p:nvSpPr>
        <p:spPr>
          <a:xfrm>
            <a:off x="173573" y="4345416"/>
            <a:ext cx="6587067" cy="1693333"/>
          </a:xfrm>
          <a:prstGeom prst="rect">
            <a:avLst/>
          </a:prstGeom>
          <a:solidFill>
            <a:srgbClr val="FAF8FB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6" name="regbus">
            <a:extLst>
              <a:ext uri="{FF2B5EF4-FFF2-40B4-BE49-F238E27FC236}">
                <a16:creationId xmlns:a16="http://schemas.microsoft.com/office/drawing/2014/main" id="{86ED39D0-8AEA-42EC-97C9-32341A19CBBF}"/>
              </a:ext>
            </a:extLst>
          </p:cNvPr>
          <p:cNvSpPr/>
          <p:nvPr/>
        </p:nvSpPr>
        <p:spPr>
          <a:xfrm>
            <a:off x="241306" y="4413149"/>
            <a:ext cx="6451600" cy="237067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7" name="object-184: Regbus decode / demux  ·  32 bit">
            <a:extLst>
              <a:ext uri="{FF2B5EF4-FFF2-40B4-BE49-F238E27FC236}">
                <a16:creationId xmlns:a16="http://schemas.microsoft.com/office/drawing/2014/main" id="{469CCA68-FD17-4980-A75E-586E8CE36AAF}"/>
              </a:ext>
            </a:extLst>
          </p:cNvPr>
          <p:cNvSpPr txBox="1"/>
          <p:nvPr/>
        </p:nvSpPr>
        <p:spPr>
          <a:xfrm>
            <a:off x="2387394" y="4455279"/>
            <a:ext cx="2156039" cy="15388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Regbus</a:t>
            </a:r>
            <a:r>
              <a:rPr sz="10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decode / </a:t>
            </a:r>
            <a:r>
              <a:rPr sz="10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demux</a:t>
            </a:r>
            <a:r>
              <a:rPr sz="10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 ·  32 bit</a:t>
            </a:r>
          </a:p>
        </p:txBody>
      </p:sp>
      <p:cxnSp>
        <p:nvCxnSpPr>
          <p:cNvPr id="958" name="axi-regbus">
            <a:extLst>
              <a:ext uri="{FF2B5EF4-FFF2-40B4-BE49-F238E27FC236}">
                <a16:creationId xmlns:a16="http://schemas.microsoft.com/office/drawing/2014/main" id="{10A03DF2-6DD4-481D-88C5-13653854409F}"/>
              </a:ext>
            </a:extLst>
          </p:cNvPr>
          <p:cNvCxnSpPr/>
          <p:nvPr/>
        </p:nvCxnSpPr>
        <p:spPr>
          <a:xfrm>
            <a:off x="2295071" y="4226882"/>
            <a:ext cx="0" cy="186267"/>
          </a:xfrm>
          <a:prstGeom prst="line">
            <a:avLst/>
          </a:prstGeom>
          <a:ln w="28448" cap="flat">
            <a:solidFill>
              <a:srgbClr val="765489"/>
            </a:solidFill>
            <a:tailEnd type="triangle" w="med" len="med"/>
          </a:ln>
          <a:effectLst/>
        </p:spPr>
      </p:cxnSp>
      <p:cxnSp>
        <p:nvCxnSpPr>
          <p:cNvPr id="959" name="regbus-trunk-0">
            <a:extLst>
              <a:ext uri="{FF2B5EF4-FFF2-40B4-BE49-F238E27FC236}">
                <a16:creationId xmlns:a16="http://schemas.microsoft.com/office/drawing/2014/main" id="{E41B7A95-1325-4CC6-B264-97272CE2B4D6}"/>
              </a:ext>
            </a:extLst>
          </p:cNvPr>
          <p:cNvCxnSpPr/>
          <p:nvPr/>
        </p:nvCxnSpPr>
        <p:spPr>
          <a:xfrm>
            <a:off x="35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0" name="regbus-trunk-1">
            <a:extLst>
              <a:ext uri="{FF2B5EF4-FFF2-40B4-BE49-F238E27FC236}">
                <a16:creationId xmlns:a16="http://schemas.microsoft.com/office/drawing/2014/main" id="{015DE0DD-B6B4-4A86-9158-14FA8F8AE363}"/>
              </a:ext>
            </a:extLst>
          </p:cNvPr>
          <p:cNvCxnSpPr/>
          <p:nvPr/>
        </p:nvCxnSpPr>
        <p:spPr>
          <a:xfrm>
            <a:off x="162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1" name="regbus-trunk-2">
            <a:extLst>
              <a:ext uri="{FF2B5EF4-FFF2-40B4-BE49-F238E27FC236}">
                <a16:creationId xmlns:a16="http://schemas.microsoft.com/office/drawing/2014/main" id="{55CB0935-51FB-4F78-ABB0-9DAFE8E5AD1F}"/>
              </a:ext>
            </a:extLst>
          </p:cNvPr>
          <p:cNvCxnSpPr/>
          <p:nvPr/>
        </p:nvCxnSpPr>
        <p:spPr>
          <a:xfrm>
            <a:off x="289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2" name="regbus-trunk-3">
            <a:extLst>
              <a:ext uri="{FF2B5EF4-FFF2-40B4-BE49-F238E27FC236}">
                <a16:creationId xmlns:a16="http://schemas.microsoft.com/office/drawing/2014/main" id="{A151FA95-0104-4234-ACB1-2EDA742BE856}"/>
              </a:ext>
            </a:extLst>
          </p:cNvPr>
          <p:cNvCxnSpPr/>
          <p:nvPr/>
        </p:nvCxnSpPr>
        <p:spPr>
          <a:xfrm>
            <a:off x="416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3" name="regbus-trunk-4">
            <a:extLst>
              <a:ext uri="{FF2B5EF4-FFF2-40B4-BE49-F238E27FC236}">
                <a16:creationId xmlns:a16="http://schemas.microsoft.com/office/drawing/2014/main" id="{E745EBB6-CDA0-4804-8F8D-87FC8930FE6A}"/>
              </a:ext>
            </a:extLst>
          </p:cNvPr>
          <p:cNvCxnSpPr/>
          <p:nvPr/>
        </p:nvCxnSpPr>
        <p:spPr>
          <a:xfrm>
            <a:off x="543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sp>
        <p:nvSpPr>
          <p:cNvPr id="964" name="bootrom">
            <a:extLst>
              <a:ext uri="{FF2B5EF4-FFF2-40B4-BE49-F238E27FC236}">
                <a16:creationId xmlns:a16="http://schemas.microsoft.com/office/drawing/2014/main" id="{AE39AF04-DE57-407F-B7DE-709895A81F2C}"/>
              </a:ext>
            </a:extLst>
          </p:cNvPr>
          <p:cNvSpPr/>
          <p:nvPr/>
        </p:nvSpPr>
        <p:spPr>
          <a:xfrm>
            <a:off x="42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65" name="object-192: Boot ROM">
            <a:extLst>
              <a:ext uri="{FF2B5EF4-FFF2-40B4-BE49-F238E27FC236}">
                <a16:creationId xmlns:a16="http://schemas.microsoft.com/office/drawing/2014/main" id="{D636FB9B-631A-4505-B2AC-C11D8FE857CD}"/>
              </a:ext>
            </a:extLst>
          </p:cNvPr>
          <p:cNvSpPr txBox="1"/>
          <p:nvPr/>
        </p:nvSpPr>
        <p:spPr>
          <a:xfrm>
            <a:off x="699335" y="4765362"/>
            <a:ext cx="54021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Boot ROM</a:t>
            </a:r>
          </a:p>
        </p:txBody>
      </p:sp>
      <p:sp>
        <p:nvSpPr>
          <p:cNvPr id="966" name="object-193: 启动代码">
            <a:extLst>
              <a:ext uri="{FF2B5EF4-FFF2-40B4-BE49-F238E27FC236}">
                <a16:creationId xmlns:a16="http://schemas.microsoft.com/office/drawing/2014/main" id="{B1F3C28B-3DE7-4B66-9639-D8091ED92581}"/>
              </a:ext>
            </a:extLst>
          </p:cNvPr>
          <p:cNvSpPr txBox="1"/>
          <p:nvPr/>
        </p:nvSpPr>
        <p:spPr>
          <a:xfrm>
            <a:off x="789903" y="4877935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启动代码</a:t>
            </a:r>
          </a:p>
        </p:txBody>
      </p:sp>
      <p:cxnSp>
        <p:nvCxnSpPr>
          <p:cNvPr id="967" name="reg-drop-bootrom">
            <a:extLst>
              <a:ext uri="{FF2B5EF4-FFF2-40B4-BE49-F238E27FC236}">
                <a16:creationId xmlns:a16="http://schemas.microsoft.com/office/drawing/2014/main" id="{0D523740-3E54-4952-AE19-2E770B0A2C04}"/>
              </a:ext>
            </a:extLst>
          </p:cNvPr>
          <p:cNvCxnSpPr/>
          <p:nvPr/>
        </p:nvCxnSpPr>
        <p:spPr>
          <a:xfrm>
            <a:off x="35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68" name="clint">
            <a:extLst>
              <a:ext uri="{FF2B5EF4-FFF2-40B4-BE49-F238E27FC236}">
                <a16:creationId xmlns:a16="http://schemas.microsoft.com/office/drawing/2014/main" id="{CDDAF346-5CE4-46DF-BA81-B635204CBE7A}"/>
              </a:ext>
            </a:extLst>
          </p:cNvPr>
          <p:cNvSpPr/>
          <p:nvPr/>
        </p:nvSpPr>
        <p:spPr>
          <a:xfrm>
            <a:off x="169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69" name="object-196: CLINT">
            <a:extLst>
              <a:ext uri="{FF2B5EF4-FFF2-40B4-BE49-F238E27FC236}">
                <a16:creationId xmlns:a16="http://schemas.microsoft.com/office/drawing/2014/main" id="{47E23EF4-3C3A-45BF-9CA9-B3E1A3098B24}"/>
              </a:ext>
            </a:extLst>
          </p:cNvPr>
          <p:cNvSpPr txBox="1"/>
          <p:nvPr/>
        </p:nvSpPr>
        <p:spPr>
          <a:xfrm>
            <a:off x="2084750" y="4765362"/>
            <a:ext cx="30938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CLINT</a:t>
            </a:r>
          </a:p>
        </p:txBody>
      </p:sp>
      <p:sp>
        <p:nvSpPr>
          <p:cNvPr id="970" name="object-197: 软件 / 定时中断">
            <a:extLst>
              <a:ext uri="{FF2B5EF4-FFF2-40B4-BE49-F238E27FC236}">
                <a16:creationId xmlns:a16="http://schemas.microsoft.com/office/drawing/2014/main" id="{DBA77C2E-F88E-463F-9298-B1136094D71E}"/>
              </a:ext>
            </a:extLst>
          </p:cNvPr>
          <p:cNvSpPr txBox="1"/>
          <p:nvPr/>
        </p:nvSpPr>
        <p:spPr>
          <a:xfrm>
            <a:off x="1923648" y="4877935"/>
            <a:ext cx="631583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软件 / 定时中断</a:t>
            </a:r>
          </a:p>
        </p:txBody>
      </p:sp>
      <p:cxnSp>
        <p:nvCxnSpPr>
          <p:cNvPr id="971" name="reg-drop-clint">
            <a:extLst>
              <a:ext uri="{FF2B5EF4-FFF2-40B4-BE49-F238E27FC236}">
                <a16:creationId xmlns:a16="http://schemas.microsoft.com/office/drawing/2014/main" id="{42DCD275-A0BB-4B56-B64A-833D03028D67}"/>
              </a:ext>
            </a:extLst>
          </p:cNvPr>
          <p:cNvCxnSpPr/>
          <p:nvPr/>
        </p:nvCxnSpPr>
        <p:spPr>
          <a:xfrm>
            <a:off x="162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72" name="soc-regs">
            <a:extLst>
              <a:ext uri="{FF2B5EF4-FFF2-40B4-BE49-F238E27FC236}">
                <a16:creationId xmlns:a16="http://schemas.microsoft.com/office/drawing/2014/main" id="{8E0BB8EB-9A3F-4727-86A7-E77F8277E16D}"/>
              </a:ext>
            </a:extLst>
          </p:cNvPr>
          <p:cNvSpPr/>
          <p:nvPr/>
        </p:nvSpPr>
        <p:spPr>
          <a:xfrm>
            <a:off x="296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73" name="object-200: SoC 寄存器">
            <a:extLst>
              <a:ext uri="{FF2B5EF4-FFF2-40B4-BE49-F238E27FC236}">
                <a16:creationId xmlns:a16="http://schemas.microsoft.com/office/drawing/2014/main" id="{1A6231BD-A9A6-47B3-8AB7-5A560A94B257}"/>
              </a:ext>
            </a:extLst>
          </p:cNvPr>
          <p:cNvSpPr txBox="1"/>
          <p:nvPr/>
        </p:nvSpPr>
        <p:spPr>
          <a:xfrm>
            <a:off x="3240937" y="4765362"/>
            <a:ext cx="53700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SoC 寄存器</a:t>
            </a:r>
          </a:p>
        </p:txBody>
      </p:sp>
      <p:sp>
        <p:nvSpPr>
          <p:cNvPr id="974" name="object-201: 平台信息 / scratch">
            <a:extLst>
              <a:ext uri="{FF2B5EF4-FFF2-40B4-BE49-F238E27FC236}">
                <a16:creationId xmlns:a16="http://schemas.microsoft.com/office/drawing/2014/main" id="{7A637AD7-7370-4A55-8FC7-CD690942D54B}"/>
              </a:ext>
            </a:extLst>
          </p:cNvPr>
          <p:cNvSpPr txBox="1"/>
          <p:nvPr/>
        </p:nvSpPr>
        <p:spPr>
          <a:xfrm>
            <a:off x="3131933" y="4877935"/>
            <a:ext cx="75501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平台信息 / scratch</a:t>
            </a:r>
          </a:p>
        </p:txBody>
      </p:sp>
      <p:cxnSp>
        <p:nvCxnSpPr>
          <p:cNvPr id="975" name="reg-drop-soc-regs">
            <a:extLst>
              <a:ext uri="{FF2B5EF4-FFF2-40B4-BE49-F238E27FC236}">
                <a16:creationId xmlns:a16="http://schemas.microsoft.com/office/drawing/2014/main" id="{CB888832-B9F6-4A8C-B7DD-6275B162BA0F}"/>
              </a:ext>
            </a:extLst>
          </p:cNvPr>
          <p:cNvCxnSpPr/>
          <p:nvPr/>
        </p:nvCxnSpPr>
        <p:spPr>
          <a:xfrm>
            <a:off x="289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76" name="plic">
            <a:extLst>
              <a:ext uri="{FF2B5EF4-FFF2-40B4-BE49-F238E27FC236}">
                <a16:creationId xmlns:a16="http://schemas.microsoft.com/office/drawing/2014/main" id="{FEA6D80F-0EB1-44E1-A21D-AAF41A576CC4}"/>
              </a:ext>
            </a:extLst>
          </p:cNvPr>
          <p:cNvSpPr/>
          <p:nvPr/>
        </p:nvSpPr>
        <p:spPr>
          <a:xfrm>
            <a:off x="423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77" name="object-204: PLIC">
            <a:extLst>
              <a:ext uri="{FF2B5EF4-FFF2-40B4-BE49-F238E27FC236}">
                <a16:creationId xmlns:a16="http://schemas.microsoft.com/office/drawing/2014/main" id="{D73A9C5A-E21A-4708-A3A7-9D21D59C37D9}"/>
              </a:ext>
            </a:extLst>
          </p:cNvPr>
          <p:cNvSpPr txBox="1"/>
          <p:nvPr/>
        </p:nvSpPr>
        <p:spPr>
          <a:xfrm>
            <a:off x="4666428" y="4765362"/>
            <a:ext cx="22602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PLIC</a:t>
            </a:r>
          </a:p>
        </p:txBody>
      </p:sp>
      <p:sp>
        <p:nvSpPr>
          <p:cNvPr id="978" name="object-205: 外部中断控制">
            <a:extLst>
              <a:ext uri="{FF2B5EF4-FFF2-40B4-BE49-F238E27FC236}">
                <a16:creationId xmlns:a16="http://schemas.microsoft.com/office/drawing/2014/main" id="{546AAC43-FD53-4A8E-87BB-29563BC461F5}"/>
              </a:ext>
            </a:extLst>
          </p:cNvPr>
          <p:cNvSpPr txBox="1"/>
          <p:nvPr/>
        </p:nvSpPr>
        <p:spPr>
          <a:xfrm>
            <a:off x="4510135" y="487793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外部中断控制</a:t>
            </a:r>
          </a:p>
        </p:txBody>
      </p:sp>
      <p:cxnSp>
        <p:nvCxnSpPr>
          <p:cNvPr id="979" name="reg-drop-plic">
            <a:extLst>
              <a:ext uri="{FF2B5EF4-FFF2-40B4-BE49-F238E27FC236}">
                <a16:creationId xmlns:a16="http://schemas.microsoft.com/office/drawing/2014/main" id="{D5F679CD-87E7-4B65-BE9B-B53F9D43C769}"/>
              </a:ext>
            </a:extLst>
          </p:cNvPr>
          <p:cNvCxnSpPr/>
          <p:nvPr/>
        </p:nvCxnSpPr>
        <p:spPr>
          <a:xfrm>
            <a:off x="416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0" name="llc-regs">
            <a:extLst>
              <a:ext uri="{FF2B5EF4-FFF2-40B4-BE49-F238E27FC236}">
                <a16:creationId xmlns:a16="http://schemas.microsoft.com/office/drawing/2014/main" id="{D7D19DE2-0911-45C7-93C8-673A6F91921D}"/>
              </a:ext>
            </a:extLst>
          </p:cNvPr>
          <p:cNvSpPr/>
          <p:nvPr/>
        </p:nvSpPr>
        <p:spPr>
          <a:xfrm>
            <a:off x="550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1" name="object-208: LLC 配置">
            <a:extLst>
              <a:ext uri="{FF2B5EF4-FFF2-40B4-BE49-F238E27FC236}">
                <a16:creationId xmlns:a16="http://schemas.microsoft.com/office/drawing/2014/main" id="{4850A438-520E-46CE-9B5E-D7B9D1A4D6C6}"/>
              </a:ext>
            </a:extLst>
          </p:cNvPr>
          <p:cNvSpPr txBox="1"/>
          <p:nvPr/>
        </p:nvSpPr>
        <p:spPr>
          <a:xfrm>
            <a:off x="5841049" y="4765362"/>
            <a:ext cx="41678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配置</a:t>
            </a:r>
          </a:p>
        </p:txBody>
      </p:sp>
      <p:sp>
        <p:nvSpPr>
          <p:cNvPr id="982" name="object-209: SPM way / cache">
            <a:extLst>
              <a:ext uri="{FF2B5EF4-FFF2-40B4-BE49-F238E27FC236}">
                <a16:creationId xmlns:a16="http://schemas.microsoft.com/office/drawing/2014/main" id="{0236DEC4-5022-405F-82F3-A2E336CD7A4E}"/>
              </a:ext>
            </a:extLst>
          </p:cNvPr>
          <p:cNvSpPr txBox="1"/>
          <p:nvPr/>
        </p:nvSpPr>
        <p:spPr>
          <a:xfrm>
            <a:off x="5685560" y="4877935"/>
            <a:ext cx="727763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SPM way / cache</a:t>
            </a:r>
          </a:p>
        </p:txBody>
      </p:sp>
      <p:cxnSp>
        <p:nvCxnSpPr>
          <p:cNvPr id="983" name="reg-drop-llc-regs">
            <a:extLst>
              <a:ext uri="{FF2B5EF4-FFF2-40B4-BE49-F238E27FC236}">
                <a16:creationId xmlns:a16="http://schemas.microsoft.com/office/drawing/2014/main" id="{71B9A931-7C71-4E1E-AD9B-A851CC840434}"/>
              </a:ext>
            </a:extLst>
          </p:cNvPr>
          <p:cNvCxnSpPr/>
          <p:nvPr/>
        </p:nvCxnSpPr>
        <p:spPr>
          <a:xfrm>
            <a:off x="543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4" name="uart">
            <a:extLst>
              <a:ext uri="{FF2B5EF4-FFF2-40B4-BE49-F238E27FC236}">
                <a16:creationId xmlns:a16="http://schemas.microsoft.com/office/drawing/2014/main" id="{0A05E195-E453-4C72-BA7E-7E289A33C4AF}"/>
              </a:ext>
            </a:extLst>
          </p:cNvPr>
          <p:cNvSpPr/>
          <p:nvPr/>
        </p:nvSpPr>
        <p:spPr>
          <a:xfrm>
            <a:off x="42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5" name="object-212: UART">
            <a:extLst>
              <a:ext uri="{FF2B5EF4-FFF2-40B4-BE49-F238E27FC236}">
                <a16:creationId xmlns:a16="http://schemas.microsoft.com/office/drawing/2014/main" id="{4D68796E-FF0C-4421-A3E2-C7DE0A86CBD3}"/>
              </a:ext>
            </a:extLst>
          </p:cNvPr>
          <p:cNvSpPr txBox="1"/>
          <p:nvPr/>
        </p:nvSpPr>
        <p:spPr>
          <a:xfrm>
            <a:off x="822764" y="5076936"/>
            <a:ext cx="29335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UART</a:t>
            </a:r>
          </a:p>
        </p:txBody>
      </p:sp>
      <p:sp>
        <p:nvSpPr>
          <p:cNvPr id="986" name="object-213: 串口控制">
            <a:extLst>
              <a:ext uri="{FF2B5EF4-FFF2-40B4-BE49-F238E27FC236}">
                <a16:creationId xmlns:a16="http://schemas.microsoft.com/office/drawing/2014/main" id="{33011D98-A822-4F03-A232-88E13A6EDB3A}"/>
              </a:ext>
            </a:extLst>
          </p:cNvPr>
          <p:cNvSpPr txBox="1"/>
          <p:nvPr/>
        </p:nvSpPr>
        <p:spPr>
          <a:xfrm>
            <a:off x="789903" y="5189509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串口控制</a:t>
            </a:r>
          </a:p>
        </p:txBody>
      </p:sp>
      <p:cxnSp>
        <p:nvCxnSpPr>
          <p:cNvPr id="987" name="reg-drop-uart">
            <a:extLst>
              <a:ext uri="{FF2B5EF4-FFF2-40B4-BE49-F238E27FC236}">
                <a16:creationId xmlns:a16="http://schemas.microsoft.com/office/drawing/2014/main" id="{24F9AE8A-0E0F-426D-8FA4-A44E23A7D268}"/>
              </a:ext>
            </a:extLst>
          </p:cNvPr>
          <p:cNvCxnSpPr/>
          <p:nvPr/>
        </p:nvCxnSpPr>
        <p:spPr>
          <a:xfrm>
            <a:off x="35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8" name="i2c">
            <a:extLst>
              <a:ext uri="{FF2B5EF4-FFF2-40B4-BE49-F238E27FC236}">
                <a16:creationId xmlns:a16="http://schemas.microsoft.com/office/drawing/2014/main" id="{26231ED5-CB1A-46EF-AEDD-CA9FB1C47A96}"/>
              </a:ext>
            </a:extLst>
          </p:cNvPr>
          <p:cNvSpPr/>
          <p:nvPr/>
        </p:nvSpPr>
        <p:spPr>
          <a:xfrm>
            <a:off x="169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9" name="object-216: I2C">
            <a:extLst>
              <a:ext uri="{FF2B5EF4-FFF2-40B4-BE49-F238E27FC236}">
                <a16:creationId xmlns:a16="http://schemas.microsoft.com/office/drawing/2014/main" id="{E5E59EA7-1B0D-4983-9A36-ED3811BA94D7}"/>
              </a:ext>
            </a:extLst>
          </p:cNvPr>
          <p:cNvSpPr txBox="1"/>
          <p:nvPr/>
        </p:nvSpPr>
        <p:spPr>
          <a:xfrm>
            <a:off x="2156885" y="5076936"/>
            <a:ext cx="1651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I2C</a:t>
            </a:r>
          </a:p>
        </p:txBody>
      </p:sp>
      <p:sp>
        <p:nvSpPr>
          <p:cNvPr id="990" name="object-217: 两线串行控制">
            <a:extLst>
              <a:ext uri="{FF2B5EF4-FFF2-40B4-BE49-F238E27FC236}">
                <a16:creationId xmlns:a16="http://schemas.microsoft.com/office/drawing/2014/main" id="{9DF1137C-ED31-4D8F-BA9A-AC0ED9C7B763}"/>
              </a:ext>
            </a:extLst>
          </p:cNvPr>
          <p:cNvSpPr txBox="1"/>
          <p:nvPr/>
        </p:nvSpPr>
        <p:spPr>
          <a:xfrm>
            <a:off x="1970135" y="5189509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两线串行控制</a:t>
            </a:r>
          </a:p>
        </p:txBody>
      </p:sp>
      <p:cxnSp>
        <p:nvCxnSpPr>
          <p:cNvPr id="991" name="reg-drop-i2c">
            <a:extLst>
              <a:ext uri="{FF2B5EF4-FFF2-40B4-BE49-F238E27FC236}">
                <a16:creationId xmlns:a16="http://schemas.microsoft.com/office/drawing/2014/main" id="{33C02DF2-E598-4A66-A905-FC66F701D132}"/>
              </a:ext>
            </a:extLst>
          </p:cNvPr>
          <p:cNvCxnSpPr/>
          <p:nvPr/>
        </p:nvCxnSpPr>
        <p:spPr>
          <a:xfrm>
            <a:off x="162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92" name="spi">
            <a:extLst>
              <a:ext uri="{FF2B5EF4-FFF2-40B4-BE49-F238E27FC236}">
                <a16:creationId xmlns:a16="http://schemas.microsoft.com/office/drawing/2014/main" id="{EBB02BB1-9466-4CCA-95CE-5B74B323BACF}"/>
              </a:ext>
            </a:extLst>
          </p:cNvPr>
          <p:cNvSpPr/>
          <p:nvPr/>
        </p:nvSpPr>
        <p:spPr>
          <a:xfrm>
            <a:off x="296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93" name="object-220: SPI host">
            <a:extLst>
              <a:ext uri="{FF2B5EF4-FFF2-40B4-BE49-F238E27FC236}">
                <a16:creationId xmlns:a16="http://schemas.microsoft.com/office/drawing/2014/main" id="{BFDFD177-B88E-40DB-BBDB-EAB543912B78}"/>
              </a:ext>
            </a:extLst>
          </p:cNvPr>
          <p:cNvSpPr txBox="1"/>
          <p:nvPr/>
        </p:nvSpPr>
        <p:spPr>
          <a:xfrm>
            <a:off x="3298645" y="5076936"/>
            <a:ext cx="42159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SPI host</a:t>
            </a:r>
          </a:p>
        </p:txBody>
      </p:sp>
      <p:sp>
        <p:nvSpPr>
          <p:cNvPr id="994" name="object-221: Flash / SD">
            <a:extLst>
              <a:ext uri="{FF2B5EF4-FFF2-40B4-BE49-F238E27FC236}">
                <a16:creationId xmlns:a16="http://schemas.microsoft.com/office/drawing/2014/main" id="{BE7CD425-6584-4BCA-B607-28CF337E748B}"/>
              </a:ext>
            </a:extLst>
          </p:cNvPr>
          <p:cNvSpPr txBox="1"/>
          <p:nvPr/>
        </p:nvSpPr>
        <p:spPr>
          <a:xfrm>
            <a:off x="3293836" y="5189509"/>
            <a:ext cx="43120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Flash / SD</a:t>
            </a:r>
          </a:p>
        </p:txBody>
      </p:sp>
      <p:cxnSp>
        <p:nvCxnSpPr>
          <p:cNvPr id="995" name="reg-drop-spi">
            <a:extLst>
              <a:ext uri="{FF2B5EF4-FFF2-40B4-BE49-F238E27FC236}">
                <a16:creationId xmlns:a16="http://schemas.microsoft.com/office/drawing/2014/main" id="{75EE2A7B-F85C-44CC-9316-C28C19486904}"/>
              </a:ext>
            </a:extLst>
          </p:cNvPr>
          <p:cNvCxnSpPr/>
          <p:nvPr/>
        </p:nvCxnSpPr>
        <p:spPr>
          <a:xfrm>
            <a:off x="289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96" name="gpio">
            <a:extLst>
              <a:ext uri="{FF2B5EF4-FFF2-40B4-BE49-F238E27FC236}">
                <a16:creationId xmlns:a16="http://schemas.microsoft.com/office/drawing/2014/main" id="{531F9969-2BDC-4235-9B95-14073DC47407}"/>
              </a:ext>
            </a:extLst>
          </p:cNvPr>
          <p:cNvSpPr/>
          <p:nvPr/>
        </p:nvSpPr>
        <p:spPr>
          <a:xfrm>
            <a:off x="423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97" name="object-224: GPIO">
            <a:extLst>
              <a:ext uri="{FF2B5EF4-FFF2-40B4-BE49-F238E27FC236}">
                <a16:creationId xmlns:a16="http://schemas.microsoft.com/office/drawing/2014/main" id="{A0A68E56-1DB7-4B3B-844E-212BBEF85F06}"/>
              </a:ext>
            </a:extLst>
          </p:cNvPr>
          <p:cNvSpPr txBox="1"/>
          <p:nvPr/>
        </p:nvSpPr>
        <p:spPr>
          <a:xfrm>
            <a:off x="4647994" y="5076936"/>
            <a:ext cx="26289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GPIO</a:t>
            </a:r>
          </a:p>
        </p:txBody>
      </p:sp>
      <p:sp>
        <p:nvSpPr>
          <p:cNvPr id="998" name="object-225: 通用 IO">
            <a:extLst>
              <a:ext uri="{FF2B5EF4-FFF2-40B4-BE49-F238E27FC236}">
                <a16:creationId xmlns:a16="http://schemas.microsoft.com/office/drawing/2014/main" id="{BE3767B7-0672-4715-B191-0FE0F0537E4A}"/>
              </a:ext>
            </a:extLst>
          </p:cNvPr>
          <p:cNvSpPr txBox="1"/>
          <p:nvPr/>
        </p:nvSpPr>
        <p:spPr>
          <a:xfrm>
            <a:off x="4626353" y="5189509"/>
            <a:ext cx="3061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通用 IO</a:t>
            </a:r>
          </a:p>
        </p:txBody>
      </p:sp>
      <p:cxnSp>
        <p:nvCxnSpPr>
          <p:cNvPr id="999" name="reg-drop-gpio">
            <a:extLst>
              <a:ext uri="{FF2B5EF4-FFF2-40B4-BE49-F238E27FC236}">
                <a16:creationId xmlns:a16="http://schemas.microsoft.com/office/drawing/2014/main" id="{1E158469-D44F-46B6-9D3B-74C87819F220}"/>
              </a:ext>
            </a:extLst>
          </p:cNvPr>
          <p:cNvCxnSpPr/>
          <p:nvPr/>
        </p:nvCxnSpPr>
        <p:spPr>
          <a:xfrm>
            <a:off x="416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0" name="slink-regs">
            <a:extLst>
              <a:ext uri="{FF2B5EF4-FFF2-40B4-BE49-F238E27FC236}">
                <a16:creationId xmlns:a16="http://schemas.microsoft.com/office/drawing/2014/main" id="{CDD8355B-8F00-4633-BA55-AE916B8B014D}"/>
              </a:ext>
            </a:extLst>
          </p:cNvPr>
          <p:cNvSpPr/>
          <p:nvPr/>
        </p:nvSpPr>
        <p:spPr>
          <a:xfrm>
            <a:off x="550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1" name="object-228: Serial Link 配置">
            <a:extLst>
              <a:ext uri="{FF2B5EF4-FFF2-40B4-BE49-F238E27FC236}">
                <a16:creationId xmlns:a16="http://schemas.microsoft.com/office/drawing/2014/main" id="{3C4C3E06-856F-47E2-AD83-76F63FD1CD68}"/>
              </a:ext>
            </a:extLst>
          </p:cNvPr>
          <p:cNvSpPr txBox="1"/>
          <p:nvPr/>
        </p:nvSpPr>
        <p:spPr>
          <a:xfrm>
            <a:off x="5667124" y="5076936"/>
            <a:ext cx="76463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配置</a:t>
            </a:r>
          </a:p>
        </p:txBody>
      </p:sp>
      <p:sp>
        <p:nvSpPr>
          <p:cNvPr id="1002" name="object-229: 链路控制">
            <a:extLst>
              <a:ext uri="{FF2B5EF4-FFF2-40B4-BE49-F238E27FC236}">
                <a16:creationId xmlns:a16="http://schemas.microsoft.com/office/drawing/2014/main" id="{54185CD1-FF3C-49DC-AC94-EDB4EF44AD3B}"/>
              </a:ext>
            </a:extLst>
          </p:cNvPr>
          <p:cNvSpPr txBox="1"/>
          <p:nvPr/>
        </p:nvSpPr>
        <p:spPr>
          <a:xfrm>
            <a:off x="5869903" y="5189509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链路控制</a:t>
            </a:r>
          </a:p>
        </p:txBody>
      </p:sp>
      <p:cxnSp>
        <p:nvCxnSpPr>
          <p:cNvPr id="1003" name="reg-drop-slink-regs">
            <a:extLst>
              <a:ext uri="{FF2B5EF4-FFF2-40B4-BE49-F238E27FC236}">
                <a16:creationId xmlns:a16="http://schemas.microsoft.com/office/drawing/2014/main" id="{F422A35D-92F3-45F9-A239-44FEDE569549}"/>
              </a:ext>
            </a:extLst>
          </p:cNvPr>
          <p:cNvCxnSpPr/>
          <p:nvPr/>
        </p:nvCxnSpPr>
        <p:spPr>
          <a:xfrm>
            <a:off x="543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4" name="vga-regs">
            <a:extLst>
              <a:ext uri="{FF2B5EF4-FFF2-40B4-BE49-F238E27FC236}">
                <a16:creationId xmlns:a16="http://schemas.microsoft.com/office/drawing/2014/main" id="{8EBF7778-79EB-434E-B3BD-C6A1DC6BE90A}"/>
              </a:ext>
            </a:extLst>
          </p:cNvPr>
          <p:cNvSpPr/>
          <p:nvPr/>
        </p:nvSpPr>
        <p:spPr>
          <a:xfrm>
            <a:off x="42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5" name="object-232: VGA 配置">
            <a:extLst>
              <a:ext uri="{FF2B5EF4-FFF2-40B4-BE49-F238E27FC236}">
                <a16:creationId xmlns:a16="http://schemas.microsoft.com/office/drawing/2014/main" id="{62ADDD3C-BE0D-4B59-A909-CF18BA4E758E}"/>
              </a:ext>
            </a:extLst>
          </p:cNvPr>
          <p:cNvSpPr txBox="1"/>
          <p:nvPr/>
        </p:nvSpPr>
        <p:spPr>
          <a:xfrm>
            <a:off x="737003" y="5388509"/>
            <a:ext cx="46487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 配置</a:t>
            </a:r>
          </a:p>
        </p:txBody>
      </p:sp>
      <p:sp>
        <p:nvSpPr>
          <p:cNvPr id="1006" name="object-233: 时序 / 帧地址">
            <a:extLst>
              <a:ext uri="{FF2B5EF4-FFF2-40B4-BE49-F238E27FC236}">
                <a16:creationId xmlns:a16="http://schemas.microsoft.com/office/drawing/2014/main" id="{7A3C3F56-B602-418F-BAE9-8C9940A76380}"/>
              </a:ext>
            </a:extLst>
          </p:cNvPr>
          <p:cNvSpPr txBox="1"/>
          <p:nvPr/>
        </p:nvSpPr>
        <p:spPr>
          <a:xfrm>
            <a:off x="698533" y="5501082"/>
            <a:ext cx="54181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时序 / 帧地址</a:t>
            </a:r>
          </a:p>
        </p:txBody>
      </p:sp>
      <p:cxnSp>
        <p:nvCxnSpPr>
          <p:cNvPr id="1007" name="reg-drop-vga-regs">
            <a:extLst>
              <a:ext uri="{FF2B5EF4-FFF2-40B4-BE49-F238E27FC236}">
                <a16:creationId xmlns:a16="http://schemas.microsoft.com/office/drawing/2014/main" id="{284FB17E-CC08-430C-A272-1318860E022A}"/>
              </a:ext>
            </a:extLst>
          </p:cNvPr>
          <p:cNvCxnSpPr/>
          <p:nvPr/>
        </p:nvCxnSpPr>
        <p:spPr>
          <a:xfrm>
            <a:off x="35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8" name="usb-regs">
            <a:extLst>
              <a:ext uri="{FF2B5EF4-FFF2-40B4-BE49-F238E27FC236}">
                <a16:creationId xmlns:a16="http://schemas.microsoft.com/office/drawing/2014/main" id="{0B8EBE65-C149-4BCC-BFC6-D1328A87BF30}"/>
              </a:ext>
            </a:extLst>
          </p:cNvPr>
          <p:cNvSpPr/>
          <p:nvPr/>
        </p:nvSpPr>
        <p:spPr>
          <a:xfrm>
            <a:off x="169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9" name="object-236: USB 配置">
            <a:extLst>
              <a:ext uri="{FF2B5EF4-FFF2-40B4-BE49-F238E27FC236}">
                <a16:creationId xmlns:a16="http://schemas.microsoft.com/office/drawing/2014/main" id="{B1B269C9-EB8E-41F4-AA9C-809BAA64C159}"/>
              </a:ext>
            </a:extLst>
          </p:cNvPr>
          <p:cNvSpPr txBox="1"/>
          <p:nvPr/>
        </p:nvSpPr>
        <p:spPr>
          <a:xfrm>
            <a:off x="2015019" y="5388509"/>
            <a:ext cx="44884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配置</a:t>
            </a:r>
          </a:p>
        </p:txBody>
      </p:sp>
      <p:sp>
        <p:nvSpPr>
          <p:cNvPr id="1010" name="object-237: OHCI 寄存器">
            <a:extLst>
              <a:ext uri="{FF2B5EF4-FFF2-40B4-BE49-F238E27FC236}">
                <a16:creationId xmlns:a16="http://schemas.microsoft.com/office/drawing/2014/main" id="{38A2F12A-0BFD-48FA-9E3B-E676E3E7BCCF}"/>
              </a:ext>
            </a:extLst>
          </p:cNvPr>
          <p:cNvSpPr txBox="1"/>
          <p:nvPr/>
        </p:nvSpPr>
        <p:spPr>
          <a:xfrm>
            <a:off x="1977349" y="5501082"/>
            <a:ext cx="52418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OHCI 寄存器</a:t>
            </a:r>
          </a:p>
        </p:txBody>
      </p:sp>
      <p:cxnSp>
        <p:nvCxnSpPr>
          <p:cNvPr id="1011" name="reg-drop-usb-regs">
            <a:extLst>
              <a:ext uri="{FF2B5EF4-FFF2-40B4-BE49-F238E27FC236}">
                <a16:creationId xmlns:a16="http://schemas.microsoft.com/office/drawing/2014/main" id="{199126BC-EE78-4602-8075-36C775B6FB4C}"/>
              </a:ext>
            </a:extLst>
          </p:cNvPr>
          <p:cNvCxnSpPr/>
          <p:nvPr/>
        </p:nvCxnSpPr>
        <p:spPr>
          <a:xfrm>
            <a:off x="162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12" name="err-vga">
            <a:extLst>
              <a:ext uri="{FF2B5EF4-FFF2-40B4-BE49-F238E27FC236}">
                <a16:creationId xmlns:a16="http://schemas.microsoft.com/office/drawing/2014/main" id="{4971F93E-DE8F-4E5B-B7DF-E146A61F4308}"/>
              </a:ext>
            </a:extLst>
          </p:cNvPr>
          <p:cNvSpPr/>
          <p:nvPr/>
        </p:nvSpPr>
        <p:spPr>
          <a:xfrm>
            <a:off x="296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13" name="object-240: Bus-error · VGA">
            <a:extLst>
              <a:ext uri="{FF2B5EF4-FFF2-40B4-BE49-F238E27FC236}">
                <a16:creationId xmlns:a16="http://schemas.microsoft.com/office/drawing/2014/main" id="{EEA3CDCE-84C0-4DFF-AAE2-9F4939D6617F}"/>
              </a:ext>
            </a:extLst>
          </p:cNvPr>
          <p:cNvSpPr txBox="1"/>
          <p:nvPr/>
        </p:nvSpPr>
        <p:spPr>
          <a:xfrm>
            <a:off x="3097468" y="5388509"/>
            <a:ext cx="82394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VGA</a:t>
            </a:r>
          </a:p>
        </p:txBody>
      </p:sp>
      <p:sp>
        <p:nvSpPr>
          <p:cNvPr id="1014" name="object-241: 错误记录">
            <a:extLst>
              <a:ext uri="{FF2B5EF4-FFF2-40B4-BE49-F238E27FC236}">
                <a16:creationId xmlns:a16="http://schemas.microsoft.com/office/drawing/2014/main" id="{2039AC29-21CE-44B6-B608-D5F3229760D9}"/>
              </a:ext>
            </a:extLst>
          </p:cNvPr>
          <p:cNvSpPr txBox="1"/>
          <p:nvPr/>
        </p:nvSpPr>
        <p:spPr>
          <a:xfrm>
            <a:off x="3329903" y="5501082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cxnSp>
        <p:nvCxnSpPr>
          <p:cNvPr id="1015" name="reg-drop-err-vga">
            <a:extLst>
              <a:ext uri="{FF2B5EF4-FFF2-40B4-BE49-F238E27FC236}">
                <a16:creationId xmlns:a16="http://schemas.microsoft.com/office/drawing/2014/main" id="{B8FCE69F-48A7-40A4-8BC8-A7382A1D3A87}"/>
              </a:ext>
            </a:extLst>
          </p:cNvPr>
          <p:cNvCxnSpPr/>
          <p:nvPr/>
        </p:nvCxnSpPr>
        <p:spPr>
          <a:xfrm>
            <a:off x="289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16" name="err-dma">
            <a:extLst>
              <a:ext uri="{FF2B5EF4-FFF2-40B4-BE49-F238E27FC236}">
                <a16:creationId xmlns:a16="http://schemas.microsoft.com/office/drawing/2014/main" id="{43E3549C-BCEC-4288-9009-5ABCA5983F94}"/>
              </a:ext>
            </a:extLst>
          </p:cNvPr>
          <p:cNvSpPr/>
          <p:nvPr/>
        </p:nvSpPr>
        <p:spPr>
          <a:xfrm>
            <a:off x="423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17" name="object-244: Bus-error · iDMA">
            <a:extLst>
              <a:ext uri="{FF2B5EF4-FFF2-40B4-BE49-F238E27FC236}">
                <a16:creationId xmlns:a16="http://schemas.microsoft.com/office/drawing/2014/main" id="{D9335C45-2A62-4A03-8717-F5B43F6397F3}"/>
              </a:ext>
            </a:extLst>
          </p:cNvPr>
          <p:cNvSpPr txBox="1"/>
          <p:nvPr/>
        </p:nvSpPr>
        <p:spPr>
          <a:xfrm>
            <a:off x="4334607" y="5388509"/>
            <a:ext cx="8896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iDMA</a:t>
            </a:r>
          </a:p>
        </p:txBody>
      </p:sp>
      <p:sp>
        <p:nvSpPr>
          <p:cNvPr id="1018" name="object-245: 错误记录">
            <a:extLst>
              <a:ext uri="{FF2B5EF4-FFF2-40B4-BE49-F238E27FC236}">
                <a16:creationId xmlns:a16="http://schemas.microsoft.com/office/drawing/2014/main" id="{F9D2C7A3-5309-4D7C-BD5F-13E2C5CFCC48}"/>
              </a:ext>
            </a:extLst>
          </p:cNvPr>
          <p:cNvSpPr txBox="1"/>
          <p:nvPr/>
        </p:nvSpPr>
        <p:spPr>
          <a:xfrm>
            <a:off x="4599903" y="5501082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cxnSp>
        <p:nvCxnSpPr>
          <p:cNvPr id="1019" name="reg-drop-err-dma">
            <a:extLst>
              <a:ext uri="{FF2B5EF4-FFF2-40B4-BE49-F238E27FC236}">
                <a16:creationId xmlns:a16="http://schemas.microsoft.com/office/drawing/2014/main" id="{79CD45D7-22E3-4E2D-A607-0848D0205CF7}"/>
              </a:ext>
            </a:extLst>
          </p:cNvPr>
          <p:cNvCxnSpPr/>
          <p:nvPr/>
        </p:nvCxnSpPr>
        <p:spPr>
          <a:xfrm>
            <a:off x="416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0" name="err-cpu">
            <a:extLst>
              <a:ext uri="{FF2B5EF4-FFF2-40B4-BE49-F238E27FC236}">
                <a16:creationId xmlns:a16="http://schemas.microsoft.com/office/drawing/2014/main" id="{F7273D17-4ADC-488E-B342-FF60E155EE7E}"/>
              </a:ext>
            </a:extLst>
          </p:cNvPr>
          <p:cNvSpPr/>
          <p:nvPr/>
        </p:nvSpPr>
        <p:spPr>
          <a:xfrm>
            <a:off x="550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1" name="object-248: Bus-error · CPU">
            <a:extLst>
              <a:ext uri="{FF2B5EF4-FFF2-40B4-BE49-F238E27FC236}">
                <a16:creationId xmlns:a16="http://schemas.microsoft.com/office/drawing/2014/main" id="{0174A861-FE55-4751-9DF1-CF02FEFC740E}"/>
              </a:ext>
            </a:extLst>
          </p:cNvPr>
          <p:cNvSpPr txBox="1"/>
          <p:nvPr/>
        </p:nvSpPr>
        <p:spPr>
          <a:xfrm>
            <a:off x="5643880" y="5388509"/>
            <a:ext cx="81111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CPU</a:t>
            </a:r>
          </a:p>
        </p:txBody>
      </p:sp>
      <p:sp>
        <p:nvSpPr>
          <p:cNvPr id="1022" name="object-249: 每核错误记录">
            <a:extLst>
              <a:ext uri="{FF2B5EF4-FFF2-40B4-BE49-F238E27FC236}">
                <a16:creationId xmlns:a16="http://schemas.microsoft.com/office/drawing/2014/main" id="{958C0EE9-8E64-4C3C-8F0D-760AF4E39717}"/>
              </a:ext>
            </a:extLst>
          </p:cNvPr>
          <p:cNvSpPr txBox="1"/>
          <p:nvPr/>
        </p:nvSpPr>
        <p:spPr>
          <a:xfrm>
            <a:off x="5780135" y="5501082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每核错误记录</a:t>
            </a:r>
          </a:p>
        </p:txBody>
      </p:sp>
      <p:cxnSp>
        <p:nvCxnSpPr>
          <p:cNvPr id="1023" name="reg-drop-err-cpu">
            <a:extLst>
              <a:ext uri="{FF2B5EF4-FFF2-40B4-BE49-F238E27FC236}">
                <a16:creationId xmlns:a16="http://schemas.microsoft.com/office/drawing/2014/main" id="{20C8931B-3EF2-45DE-9315-D08D71B4C2B7}"/>
              </a:ext>
            </a:extLst>
          </p:cNvPr>
          <p:cNvCxnSpPr/>
          <p:nvPr/>
        </p:nvCxnSpPr>
        <p:spPr>
          <a:xfrm>
            <a:off x="543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4" name="irq-router">
            <a:extLst>
              <a:ext uri="{FF2B5EF4-FFF2-40B4-BE49-F238E27FC236}">
                <a16:creationId xmlns:a16="http://schemas.microsoft.com/office/drawing/2014/main" id="{13797B51-9EEA-40B5-9B99-22B72980494E}"/>
              </a:ext>
            </a:extLst>
          </p:cNvPr>
          <p:cNvSpPr/>
          <p:nvPr/>
        </p:nvSpPr>
        <p:spPr>
          <a:xfrm>
            <a:off x="42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5" name="object-252: IRQ router">
            <a:extLst>
              <a:ext uri="{FF2B5EF4-FFF2-40B4-BE49-F238E27FC236}">
                <a16:creationId xmlns:a16="http://schemas.microsoft.com/office/drawing/2014/main" id="{B34D039D-8DF6-4EED-B0DC-08DD07C36A3C}"/>
              </a:ext>
            </a:extLst>
          </p:cNvPr>
          <p:cNvSpPr txBox="1"/>
          <p:nvPr/>
        </p:nvSpPr>
        <p:spPr>
          <a:xfrm>
            <a:off x="698532" y="5700082"/>
            <a:ext cx="54181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IRQ router</a:t>
            </a:r>
          </a:p>
        </p:txBody>
      </p:sp>
      <p:sp>
        <p:nvSpPr>
          <p:cNvPr id="1026" name="object-253: 可选中断路由">
            <a:extLst>
              <a:ext uri="{FF2B5EF4-FFF2-40B4-BE49-F238E27FC236}">
                <a16:creationId xmlns:a16="http://schemas.microsoft.com/office/drawing/2014/main" id="{6B0677D4-70F1-43E5-A7BB-4E174ACC48F1}"/>
              </a:ext>
            </a:extLst>
          </p:cNvPr>
          <p:cNvSpPr txBox="1"/>
          <p:nvPr/>
        </p:nvSpPr>
        <p:spPr>
          <a:xfrm>
            <a:off x="700135" y="581265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可选中断路由</a:t>
            </a:r>
          </a:p>
        </p:txBody>
      </p:sp>
      <p:cxnSp>
        <p:nvCxnSpPr>
          <p:cNvPr id="1027" name="reg-drop-irq-router">
            <a:extLst>
              <a:ext uri="{FF2B5EF4-FFF2-40B4-BE49-F238E27FC236}">
                <a16:creationId xmlns:a16="http://schemas.microsoft.com/office/drawing/2014/main" id="{6D2B767A-C641-413C-98C9-B4F951EC1933}"/>
              </a:ext>
            </a:extLst>
          </p:cNvPr>
          <p:cNvCxnSpPr/>
          <p:nvPr/>
        </p:nvCxnSpPr>
        <p:spPr>
          <a:xfrm>
            <a:off x="35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8" name="axi-rt-config">
            <a:extLst>
              <a:ext uri="{FF2B5EF4-FFF2-40B4-BE49-F238E27FC236}">
                <a16:creationId xmlns:a16="http://schemas.microsoft.com/office/drawing/2014/main" id="{23BA068B-65A2-43EC-9FE6-5A73B4991D62}"/>
              </a:ext>
            </a:extLst>
          </p:cNvPr>
          <p:cNvSpPr/>
          <p:nvPr/>
        </p:nvSpPr>
        <p:spPr>
          <a:xfrm>
            <a:off x="169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9" name="object-256: AXI RT 配置">
            <a:extLst>
              <a:ext uri="{FF2B5EF4-FFF2-40B4-BE49-F238E27FC236}">
                <a16:creationId xmlns:a16="http://schemas.microsoft.com/office/drawing/2014/main" id="{75223ABC-7E74-4916-9B7F-FB5526BAB035}"/>
              </a:ext>
            </a:extLst>
          </p:cNvPr>
          <p:cNvSpPr txBox="1"/>
          <p:nvPr/>
        </p:nvSpPr>
        <p:spPr>
          <a:xfrm>
            <a:off x="1946892" y="5700082"/>
            <a:ext cx="58509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RT 配置</a:t>
            </a:r>
          </a:p>
        </p:txBody>
      </p:sp>
      <p:sp>
        <p:nvSpPr>
          <p:cNvPr id="1030" name="object-257: 可选流量调节">
            <a:extLst>
              <a:ext uri="{FF2B5EF4-FFF2-40B4-BE49-F238E27FC236}">
                <a16:creationId xmlns:a16="http://schemas.microsoft.com/office/drawing/2014/main" id="{45B6F20A-09B8-4750-9BE3-43227AC3557B}"/>
              </a:ext>
            </a:extLst>
          </p:cNvPr>
          <p:cNvSpPr txBox="1"/>
          <p:nvPr/>
        </p:nvSpPr>
        <p:spPr>
          <a:xfrm>
            <a:off x="1970135" y="581265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可选流量调节</a:t>
            </a:r>
          </a:p>
        </p:txBody>
      </p:sp>
      <p:cxnSp>
        <p:nvCxnSpPr>
          <p:cNvPr id="1031" name="reg-drop-axi-rt-config">
            <a:extLst>
              <a:ext uri="{FF2B5EF4-FFF2-40B4-BE49-F238E27FC236}">
                <a16:creationId xmlns:a16="http://schemas.microsoft.com/office/drawing/2014/main" id="{4E280EBF-535F-4CFE-88E7-3B0E4A9BCA5E}"/>
              </a:ext>
            </a:extLst>
          </p:cNvPr>
          <p:cNvCxnSpPr/>
          <p:nvPr/>
        </p:nvCxnSpPr>
        <p:spPr>
          <a:xfrm>
            <a:off x="162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32" name="clic">
            <a:extLst>
              <a:ext uri="{FF2B5EF4-FFF2-40B4-BE49-F238E27FC236}">
                <a16:creationId xmlns:a16="http://schemas.microsoft.com/office/drawing/2014/main" id="{024727BA-5D26-4568-8F2F-DF105739600A}"/>
              </a:ext>
            </a:extLst>
          </p:cNvPr>
          <p:cNvSpPr/>
          <p:nvPr/>
        </p:nvSpPr>
        <p:spPr>
          <a:xfrm>
            <a:off x="296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33" name="object-260: CLIC">
            <a:extLst>
              <a:ext uri="{FF2B5EF4-FFF2-40B4-BE49-F238E27FC236}">
                <a16:creationId xmlns:a16="http://schemas.microsoft.com/office/drawing/2014/main" id="{9A26F5E1-1647-427C-99C4-FA38AAA5220C}"/>
              </a:ext>
            </a:extLst>
          </p:cNvPr>
          <p:cNvSpPr txBox="1"/>
          <p:nvPr/>
        </p:nvSpPr>
        <p:spPr>
          <a:xfrm>
            <a:off x="3395627" y="5700082"/>
            <a:ext cx="22762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CLIC</a:t>
            </a:r>
          </a:p>
        </p:txBody>
      </p:sp>
      <p:sp>
        <p:nvSpPr>
          <p:cNvPr id="1034" name="object-261: 可选每核中断控制">
            <a:extLst>
              <a:ext uri="{FF2B5EF4-FFF2-40B4-BE49-F238E27FC236}">
                <a16:creationId xmlns:a16="http://schemas.microsoft.com/office/drawing/2014/main" id="{9D7BB867-486B-4DA1-B8CC-E35945C7C943}"/>
              </a:ext>
            </a:extLst>
          </p:cNvPr>
          <p:cNvSpPr txBox="1"/>
          <p:nvPr/>
        </p:nvSpPr>
        <p:spPr>
          <a:xfrm>
            <a:off x="3150368" y="5812655"/>
            <a:ext cx="71814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可选每核中断控制</a:t>
            </a:r>
          </a:p>
        </p:txBody>
      </p:sp>
      <p:cxnSp>
        <p:nvCxnSpPr>
          <p:cNvPr id="1035" name="reg-drop-clic">
            <a:extLst>
              <a:ext uri="{FF2B5EF4-FFF2-40B4-BE49-F238E27FC236}">
                <a16:creationId xmlns:a16="http://schemas.microsoft.com/office/drawing/2014/main" id="{1486CE0E-1CBD-49A6-AFA7-ABCFBCAD09BC}"/>
              </a:ext>
            </a:extLst>
          </p:cNvPr>
          <p:cNvCxnSpPr/>
          <p:nvPr/>
        </p:nvCxnSpPr>
        <p:spPr>
          <a:xfrm>
            <a:off x="289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36" name="reg-error">
            <a:extLst>
              <a:ext uri="{FF2B5EF4-FFF2-40B4-BE49-F238E27FC236}">
                <a16:creationId xmlns:a16="http://schemas.microsoft.com/office/drawing/2014/main" id="{ED53C377-7C3F-4110-80FF-EFDD6D02CF81}"/>
              </a:ext>
            </a:extLst>
          </p:cNvPr>
          <p:cNvSpPr/>
          <p:nvPr/>
        </p:nvSpPr>
        <p:spPr>
          <a:xfrm>
            <a:off x="423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37" name="object-264: reg_err_slv">
            <a:extLst>
              <a:ext uri="{FF2B5EF4-FFF2-40B4-BE49-F238E27FC236}">
                <a16:creationId xmlns:a16="http://schemas.microsoft.com/office/drawing/2014/main" id="{CDCDB789-0FB9-4F28-948E-9C4B450DCF9E}"/>
              </a:ext>
            </a:extLst>
          </p:cNvPr>
          <p:cNvSpPr txBox="1"/>
          <p:nvPr/>
        </p:nvSpPr>
        <p:spPr>
          <a:xfrm>
            <a:off x="4503723" y="5700082"/>
            <a:ext cx="5514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reg_err_slv</a:t>
            </a:r>
          </a:p>
        </p:txBody>
      </p:sp>
      <p:sp>
        <p:nvSpPr>
          <p:cNvPr id="1038" name="object-265: 未匹配地址">
            <a:extLst>
              <a:ext uri="{FF2B5EF4-FFF2-40B4-BE49-F238E27FC236}">
                <a16:creationId xmlns:a16="http://schemas.microsoft.com/office/drawing/2014/main" id="{03E49DD8-3869-4C9B-A29F-4BBCE7E13055}"/>
              </a:ext>
            </a:extLst>
          </p:cNvPr>
          <p:cNvSpPr txBox="1"/>
          <p:nvPr/>
        </p:nvSpPr>
        <p:spPr>
          <a:xfrm>
            <a:off x="4555019" y="5812655"/>
            <a:ext cx="44884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未匹配地址</a:t>
            </a:r>
          </a:p>
        </p:txBody>
      </p:sp>
      <p:cxnSp>
        <p:nvCxnSpPr>
          <p:cNvPr id="1039" name="reg-drop-reg-error">
            <a:extLst>
              <a:ext uri="{FF2B5EF4-FFF2-40B4-BE49-F238E27FC236}">
                <a16:creationId xmlns:a16="http://schemas.microsoft.com/office/drawing/2014/main" id="{7E71B93C-A324-41A2-AE26-DC1D42DB4C93}"/>
              </a:ext>
            </a:extLst>
          </p:cNvPr>
          <p:cNvCxnSpPr/>
          <p:nvPr/>
        </p:nvCxnSpPr>
        <p:spPr>
          <a:xfrm>
            <a:off x="416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40" name="reg-ext">
            <a:extLst>
              <a:ext uri="{FF2B5EF4-FFF2-40B4-BE49-F238E27FC236}">
                <a16:creationId xmlns:a16="http://schemas.microsoft.com/office/drawing/2014/main" id="{F3FFC9D0-EFBF-4B4C-9718-CDD3DAB52FED}"/>
              </a:ext>
            </a:extLst>
          </p:cNvPr>
          <p:cNvSpPr/>
          <p:nvPr/>
        </p:nvSpPr>
        <p:spPr>
          <a:xfrm>
            <a:off x="550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1" name="object-268: RegExt 扩展">
            <a:extLst>
              <a:ext uri="{FF2B5EF4-FFF2-40B4-BE49-F238E27FC236}">
                <a16:creationId xmlns:a16="http://schemas.microsoft.com/office/drawing/2014/main" id="{6A2DE6BF-83C4-46D2-911D-C24494A78B35}"/>
              </a:ext>
            </a:extLst>
          </p:cNvPr>
          <p:cNvSpPr txBox="1"/>
          <p:nvPr/>
        </p:nvSpPr>
        <p:spPr>
          <a:xfrm>
            <a:off x="5750480" y="5700082"/>
            <a:ext cx="59792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RegExt 扩展</a:t>
            </a:r>
          </a:p>
        </p:txBody>
      </p:sp>
      <p:sp>
        <p:nvSpPr>
          <p:cNvPr id="1042" name="object-269: 新增 IP 配置出口">
            <a:extLst>
              <a:ext uri="{FF2B5EF4-FFF2-40B4-BE49-F238E27FC236}">
                <a16:creationId xmlns:a16="http://schemas.microsoft.com/office/drawing/2014/main" id="{42D0E2BF-9B88-4214-A270-C0C43807DB3B}"/>
              </a:ext>
            </a:extLst>
          </p:cNvPr>
          <p:cNvSpPr txBox="1"/>
          <p:nvPr/>
        </p:nvSpPr>
        <p:spPr>
          <a:xfrm>
            <a:off x="5712809" y="5812655"/>
            <a:ext cx="67326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新增 IP 配置出口</a:t>
            </a:r>
          </a:p>
        </p:txBody>
      </p:sp>
      <p:cxnSp>
        <p:nvCxnSpPr>
          <p:cNvPr id="1043" name="reg-drop-reg-ext">
            <a:extLst>
              <a:ext uri="{FF2B5EF4-FFF2-40B4-BE49-F238E27FC236}">
                <a16:creationId xmlns:a16="http://schemas.microsoft.com/office/drawing/2014/main" id="{FCB356D9-4EA7-4651-851E-9D0E0E61EA3B}"/>
              </a:ext>
            </a:extLst>
          </p:cNvPr>
          <p:cNvCxnSpPr/>
          <p:nvPr/>
        </p:nvCxnSpPr>
        <p:spPr>
          <a:xfrm>
            <a:off x="543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44" name="ddr-controller">
            <a:extLst>
              <a:ext uri="{FF2B5EF4-FFF2-40B4-BE49-F238E27FC236}">
                <a16:creationId xmlns:a16="http://schemas.microsoft.com/office/drawing/2014/main" id="{F2CDF5A0-6C1B-4F5F-B14C-DA77524D63A3}"/>
              </a:ext>
            </a:extLst>
          </p:cNvPr>
          <p:cNvSpPr/>
          <p:nvPr/>
        </p:nvSpPr>
        <p:spPr>
          <a:xfrm>
            <a:off x="7065440" y="4582482"/>
            <a:ext cx="3285067" cy="12530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5" name="object-272: DDR Controller · 3 个 AXI slave">
            <a:extLst>
              <a:ext uri="{FF2B5EF4-FFF2-40B4-BE49-F238E27FC236}">
                <a16:creationId xmlns:a16="http://schemas.microsoft.com/office/drawing/2014/main" id="{2E607D15-407F-4CDC-9A28-3725F752D408}"/>
              </a:ext>
            </a:extLst>
          </p:cNvPr>
          <p:cNvSpPr txBox="1"/>
          <p:nvPr/>
        </p:nvSpPr>
        <p:spPr>
          <a:xfrm>
            <a:off x="7815102" y="5686873"/>
            <a:ext cx="1785745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 · 3 个 AXI slave</a:t>
            </a:r>
          </a:p>
        </p:txBody>
      </p:sp>
      <p:sp>
        <p:nvSpPr>
          <p:cNvPr id="1046" name="cfg-tag-C2-272">
            <a:extLst>
              <a:ext uri="{FF2B5EF4-FFF2-40B4-BE49-F238E27FC236}">
                <a16:creationId xmlns:a16="http://schemas.microsoft.com/office/drawing/2014/main" id="{DC123D00-7770-4D36-BE74-0CAEF004A1C0}"/>
              </a:ext>
            </a:extLst>
          </p:cNvPr>
          <p:cNvSpPr/>
          <p:nvPr/>
        </p:nvSpPr>
        <p:spPr>
          <a:xfrm>
            <a:off x="10113440" y="570346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7" name="object-274: C2">
            <a:extLst>
              <a:ext uri="{FF2B5EF4-FFF2-40B4-BE49-F238E27FC236}">
                <a16:creationId xmlns:a16="http://schemas.microsoft.com/office/drawing/2014/main" id="{34935CB7-5BD6-47A9-A015-5E24A53424DE}"/>
              </a:ext>
            </a:extLst>
          </p:cNvPr>
          <p:cNvSpPr txBox="1"/>
          <p:nvPr/>
        </p:nvSpPr>
        <p:spPr>
          <a:xfrm>
            <a:off x="10143333" y="570482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048" name="ddr-S0">
            <a:extLst>
              <a:ext uri="{FF2B5EF4-FFF2-40B4-BE49-F238E27FC236}">
                <a16:creationId xmlns:a16="http://schemas.microsoft.com/office/drawing/2014/main" id="{6691ED0E-01BE-459F-9B68-EB9029A85852}"/>
              </a:ext>
            </a:extLst>
          </p:cNvPr>
          <p:cNvSpPr/>
          <p:nvPr/>
        </p:nvSpPr>
        <p:spPr>
          <a:xfrm>
            <a:off x="71331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9" name="object-276: S0">
            <a:extLst>
              <a:ext uri="{FF2B5EF4-FFF2-40B4-BE49-F238E27FC236}">
                <a16:creationId xmlns:a16="http://schemas.microsoft.com/office/drawing/2014/main" id="{3E638D93-F21A-4686-AF3F-03E5B0EEB55F}"/>
              </a:ext>
            </a:extLst>
          </p:cNvPr>
          <p:cNvSpPr txBox="1"/>
          <p:nvPr/>
        </p:nvSpPr>
        <p:spPr>
          <a:xfrm>
            <a:off x="74359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sp>
        <p:nvSpPr>
          <p:cNvPr id="1050" name="object-277: SoC / LLC">
            <a:extLst>
              <a:ext uri="{FF2B5EF4-FFF2-40B4-BE49-F238E27FC236}">
                <a16:creationId xmlns:a16="http://schemas.microsoft.com/office/drawing/2014/main" id="{16A28138-BFB3-4240-B7BC-4EDC71FC712A}"/>
              </a:ext>
            </a:extLst>
          </p:cNvPr>
          <p:cNvSpPr txBox="1"/>
          <p:nvPr/>
        </p:nvSpPr>
        <p:spPr>
          <a:xfrm>
            <a:off x="7298919" y="4758860"/>
            <a:ext cx="41357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SoC / LLC</a:t>
            </a:r>
          </a:p>
        </p:txBody>
      </p:sp>
      <p:cxnSp>
        <p:nvCxnSpPr>
          <p:cNvPr id="1051" name="ddr-S-to-arb-0">
            <a:extLst>
              <a:ext uri="{FF2B5EF4-FFF2-40B4-BE49-F238E27FC236}">
                <a16:creationId xmlns:a16="http://schemas.microsoft.com/office/drawing/2014/main" id="{A7252EFA-7EE5-456E-B64D-45437FEBCBA2}"/>
              </a:ext>
            </a:extLst>
          </p:cNvPr>
          <p:cNvCxnSpPr/>
          <p:nvPr/>
        </p:nvCxnSpPr>
        <p:spPr>
          <a:xfrm>
            <a:off x="75057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sp>
        <p:nvSpPr>
          <p:cNvPr id="1052" name="ddr-S1">
            <a:extLst>
              <a:ext uri="{FF2B5EF4-FFF2-40B4-BE49-F238E27FC236}">
                <a16:creationId xmlns:a16="http://schemas.microsoft.com/office/drawing/2014/main" id="{7086A1C7-6343-4C2E-BF38-5BBB4A4DBE91}"/>
              </a:ext>
            </a:extLst>
          </p:cNvPr>
          <p:cNvSpPr/>
          <p:nvPr/>
        </p:nvSpPr>
        <p:spPr>
          <a:xfrm>
            <a:off x="82507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53" name="object-280: S1">
            <a:extLst>
              <a:ext uri="{FF2B5EF4-FFF2-40B4-BE49-F238E27FC236}">
                <a16:creationId xmlns:a16="http://schemas.microsoft.com/office/drawing/2014/main" id="{B2E7CB33-2C1D-440C-A067-0DE14C752922}"/>
              </a:ext>
            </a:extLst>
          </p:cNvPr>
          <p:cNvSpPr txBox="1"/>
          <p:nvPr/>
        </p:nvSpPr>
        <p:spPr>
          <a:xfrm>
            <a:off x="85535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1054" name="object-281: NPU / GB 搬运">
            <a:extLst>
              <a:ext uri="{FF2B5EF4-FFF2-40B4-BE49-F238E27FC236}">
                <a16:creationId xmlns:a16="http://schemas.microsoft.com/office/drawing/2014/main" id="{C8652E7B-2D08-4876-A8E7-6600B2055E57}"/>
              </a:ext>
            </a:extLst>
          </p:cNvPr>
          <p:cNvSpPr txBox="1"/>
          <p:nvPr/>
        </p:nvSpPr>
        <p:spPr>
          <a:xfrm>
            <a:off x="8313928" y="4758860"/>
            <a:ext cx="61875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NPU / GB 搬运</a:t>
            </a:r>
          </a:p>
        </p:txBody>
      </p:sp>
      <p:cxnSp>
        <p:nvCxnSpPr>
          <p:cNvPr id="1055" name="ddr-S-to-arb-1">
            <a:extLst>
              <a:ext uri="{FF2B5EF4-FFF2-40B4-BE49-F238E27FC236}">
                <a16:creationId xmlns:a16="http://schemas.microsoft.com/office/drawing/2014/main" id="{F62288E7-5AF1-4E3F-9560-60F89E32F154}"/>
              </a:ext>
            </a:extLst>
          </p:cNvPr>
          <p:cNvCxnSpPr/>
          <p:nvPr/>
        </p:nvCxnSpPr>
        <p:spPr>
          <a:xfrm>
            <a:off x="86233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sp>
        <p:nvSpPr>
          <p:cNvPr id="1056" name="ddr-S2">
            <a:extLst>
              <a:ext uri="{FF2B5EF4-FFF2-40B4-BE49-F238E27FC236}">
                <a16:creationId xmlns:a16="http://schemas.microsoft.com/office/drawing/2014/main" id="{ADCA61D9-2312-44E4-903B-EE0F6CE498B9}"/>
              </a:ext>
            </a:extLst>
          </p:cNvPr>
          <p:cNvSpPr/>
          <p:nvPr/>
        </p:nvSpPr>
        <p:spPr>
          <a:xfrm>
            <a:off x="93683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57" name="object-284: S2">
            <a:extLst>
              <a:ext uri="{FF2B5EF4-FFF2-40B4-BE49-F238E27FC236}">
                <a16:creationId xmlns:a16="http://schemas.microsoft.com/office/drawing/2014/main" id="{4A254861-34DC-4BB9-B5C8-C33C2BB93B9B}"/>
              </a:ext>
            </a:extLst>
          </p:cNvPr>
          <p:cNvSpPr txBox="1"/>
          <p:nvPr/>
        </p:nvSpPr>
        <p:spPr>
          <a:xfrm>
            <a:off x="96711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1058" name="object-285: 图像帧写入">
            <a:extLst>
              <a:ext uri="{FF2B5EF4-FFF2-40B4-BE49-F238E27FC236}">
                <a16:creationId xmlns:a16="http://schemas.microsoft.com/office/drawing/2014/main" id="{64049BC4-F5D1-47E7-8AF9-CA41D18F45C4}"/>
              </a:ext>
            </a:extLst>
          </p:cNvPr>
          <p:cNvSpPr txBox="1"/>
          <p:nvPr/>
        </p:nvSpPr>
        <p:spPr>
          <a:xfrm>
            <a:off x="9516486" y="4758860"/>
            <a:ext cx="44884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图像帧写入</a:t>
            </a:r>
          </a:p>
        </p:txBody>
      </p:sp>
      <p:cxnSp>
        <p:nvCxnSpPr>
          <p:cNvPr id="1059" name="ddr-S-to-arb-2">
            <a:extLst>
              <a:ext uri="{FF2B5EF4-FFF2-40B4-BE49-F238E27FC236}">
                <a16:creationId xmlns:a16="http://schemas.microsoft.com/office/drawing/2014/main" id="{8AB2A2C0-EF2E-4BDA-B2A9-DA763EA06B7C}"/>
              </a:ext>
            </a:extLst>
          </p:cNvPr>
          <p:cNvCxnSpPr/>
          <p:nvPr/>
        </p:nvCxnSpPr>
        <p:spPr>
          <a:xfrm>
            <a:off x="97409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cxnSp>
        <p:nvCxnSpPr>
          <p:cNvPr id="1060" name="ddr-port-collect">
            <a:extLst>
              <a:ext uri="{FF2B5EF4-FFF2-40B4-BE49-F238E27FC236}">
                <a16:creationId xmlns:a16="http://schemas.microsoft.com/office/drawing/2014/main" id="{4BF79ED7-23F1-49A4-A532-37A8E1C1E006}"/>
              </a:ext>
            </a:extLst>
          </p:cNvPr>
          <p:cNvCxnSpPr/>
          <p:nvPr/>
        </p:nvCxnSpPr>
        <p:spPr>
          <a:xfrm>
            <a:off x="7505706" y="5022749"/>
            <a:ext cx="2235200" cy="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cxnSp>
        <p:nvCxnSpPr>
          <p:cNvPr id="1061" name="ddr-all-to-arbiter">
            <a:extLst>
              <a:ext uri="{FF2B5EF4-FFF2-40B4-BE49-F238E27FC236}">
                <a16:creationId xmlns:a16="http://schemas.microsoft.com/office/drawing/2014/main" id="{2F3E0D25-8498-4BB9-A346-7C1CD68191E5}"/>
              </a:ext>
            </a:extLst>
          </p:cNvPr>
          <p:cNvCxnSpPr/>
          <p:nvPr/>
        </p:nvCxnSpPr>
        <p:spPr>
          <a:xfrm>
            <a:off x="7708906" y="5022749"/>
            <a:ext cx="0" cy="203200"/>
          </a:xfrm>
          <a:prstGeom prst="line">
            <a:avLst/>
          </a:prstGeom>
          <a:ln w="22758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2" name="ddr-scheduler">
            <a:extLst>
              <a:ext uri="{FF2B5EF4-FFF2-40B4-BE49-F238E27FC236}">
                <a16:creationId xmlns:a16="http://schemas.microsoft.com/office/drawing/2014/main" id="{AFD3DC4E-F974-47FC-A184-9DFF294C4164}"/>
              </a:ext>
            </a:extLst>
          </p:cNvPr>
          <p:cNvSpPr/>
          <p:nvPr/>
        </p:nvSpPr>
        <p:spPr>
          <a:xfrm>
            <a:off x="7200906" y="5225949"/>
            <a:ext cx="3031067" cy="45720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63" name="object-290: 端口仲裁 / QoS">
            <a:extLst>
              <a:ext uri="{FF2B5EF4-FFF2-40B4-BE49-F238E27FC236}">
                <a16:creationId xmlns:a16="http://schemas.microsoft.com/office/drawing/2014/main" id="{8C9987A2-50C6-40F9-A52B-D1939F626071}"/>
              </a:ext>
            </a:extLst>
          </p:cNvPr>
          <p:cNvSpPr txBox="1"/>
          <p:nvPr/>
        </p:nvSpPr>
        <p:spPr>
          <a:xfrm>
            <a:off x="7342620" y="5289754"/>
            <a:ext cx="73257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端口仲裁 / QoS</a:t>
            </a:r>
          </a:p>
        </p:txBody>
      </p:sp>
      <p:sp>
        <p:nvSpPr>
          <p:cNvPr id="1064" name="object-291: 共享 DDR 带宽">
            <a:extLst>
              <a:ext uri="{FF2B5EF4-FFF2-40B4-BE49-F238E27FC236}">
                <a16:creationId xmlns:a16="http://schemas.microsoft.com/office/drawing/2014/main" id="{1B54921B-97A5-47F6-8E2B-D3B68607ADFC}"/>
              </a:ext>
            </a:extLst>
          </p:cNvPr>
          <p:cNvSpPr txBox="1"/>
          <p:nvPr/>
        </p:nvSpPr>
        <p:spPr>
          <a:xfrm>
            <a:off x="7403534" y="5432807"/>
            <a:ext cx="61074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共享 DDR 带宽</a:t>
            </a:r>
          </a:p>
        </p:txBody>
      </p:sp>
      <p:cxnSp>
        <p:nvCxnSpPr>
          <p:cNvPr id="1065" name="ddr-schedule-step-0">
            <a:extLst>
              <a:ext uri="{FF2B5EF4-FFF2-40B4-BE49-F238E27FC236}">
                <a16:creationId xmlns:a16="http://schemas.microsoft.com/office/drawing/2014/main" id="{F98EA5E8-9E92-4547-86F5-394597F95419}"/>
              </a:ext>
            </a:extLst>
          </p:cNvPr>
          <p:cNvCxnSpPr/>
          <p:nvPr/>
        </p:nvCxnSpPr>
        <p:spPr>
          <a:xfrm>
            <a:off x="8142400" y="5429149"/>
            <a:ext cx="125307" cy="0"/>
          </a:xfrm>
          <a:prstGeom prst="line">
            <a:avLst/>
          </a:prstGeom>
          <a:ln w="2032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6" name="object-293: 读写调度">
            <a:extLst>
              <a:ext uri="{FF2B5EF4-FFF2-40B4-BE49-F238E27FC236}">
                <a16:creationId xmlns:a16="http://schemas.microsoft.com/office/drawing/2014/main" id="{7F171FE8-D049-412C-B70D-9912279617E1}"/>
              </a:ext>
            </a:extLst>
          </p:cNvPr>
          <p:cNvSpPr txBox="1"/>
          <p:nvPr/>
        </p:nvSpPr>
        <p:spPr>
          <a:xfrm>
            <a:off x="8509562" y="5289754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读写调度</a:t>
            </a:r>
          </a:p>
        </p:txBody>
      </p:sp>
      <p:sp>
        <p:nvSpPr>
          <p:cNvPr id="1067" name="object-294: Bank / Row">
            <a:extLst>
              <a:ext uri="{FF2B5EF4-FFF2-40B4-BE49-F238E27FC236}">
                <a16:creationId xmlns:a16="http://schemas.microsoft.com/office/drawing/2014/main" id="{1C974FF8-9DD9-4D01-B6AB-33B5EDC09B62}"/>
              </a:ext>
            </a:extLst>
          </p:cNvPr>
          <p:cNvSpPr txBox="1"/>
          <p:nvPr/>
        </p:nvSpPr>
        <p:spPr>
          <a:xfrm>
            <a:off x="8469487" y="5432807"/>
            <a:ext cx="490520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Bank / Row</a:t>
            </a:r>
          </a:p>
        </p:txBody>
      </p:sp>
      <p:cxnSp>
        <p:nvCxnSpPr>
          <p:cNvPr id="1068" name="ddr-schedule-step-1">
            <a:extLst>
              <a:ext uri="{FF2B5EF4-FFF2-40B4-BE49-F238E27FC236}">
                <a16:creationId xmlns:a16="http://schemas.microsoft.com/office/drawing/2014/main" id="{21793AC5-2384-4291-81C6-59C037484AF5}"/>
              </a:ext>
            </a:extLst>
          </p:cNvPr>
          <p:cNvCxnSpPr/>
          <p:nvPr/>
        </p:nvCxnSpPr>
        <p:spPr>
          <a:xfrm>
            <a:off x="9148240" y="5429149"/>
            <a:ext cx="125307" cy="0"/>
          </a:xfrm>
          <a:prstGeom prst="line">
            <a:avLst/>
          </a:prstGeom>
          <a:ln w="2032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9" name="object-296: 命令调度">
            <a:extLst>
              <a:ext uri="{FF2B5EF4-FFF2-40B4-BE49-F238E27FC236}">
                <a16:creationId xmlns:a16="http://schemas.microsoft.com/office/drawing/2014/main" id="{67D4B73D-B43A-4978-BDDB-E0ACD633264E}"/>
              </a:ext>
            </a:extLst>
          </p:cNvPr>
          <p:cNvSpPr txBox="1"/>
          <p:nvPr/>
        </p:nvSpPr>
        <p:spPr>
          <a:xfrm>
            <a:off x="9515402" y="5289754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命令调度</a:t>
            </a:r>
          </a:p>
        </p:txBody>
      </p:sp>
      <p:sp>
        <p:nvSpPr>
          <p:cNvPr id="1070" name="object-297: 控制器 → PHY">
            <a:extLst>
              <a:ext uri="{FF2B5EF4-FFF2-40B4-BE49-F238E27FC236}">
                <a16:creationId xmlns:a16="http://schemas.microsoft.com/office/drawing/2014/main" id="{14DCFE42-BA82-4A60-8D4D-78D6F04B9F69}"/>
              </a:ext>
            </a:extLst>
          </p:cNvPr>
          <p:cNvSpPr txBox="1"/>
          <p:nvPr/>
        </p:nvSpPr>
        <p:spPr>
          <a:xfrm>
            <a:off x="9424832" y="5432807"/>
            <a:ext cx="5915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控制器 → PHY</a:t>
            </a:r>
          </a:p>
        </p:txBody>
      </p:sp>
      <p:sp>
        <p:nvSpPr>
          <p:cNvPr id="1071" name="object-298: 共享同一 DDR 地址空间">
            <a:extLst>
              <a:ext uri="{FF2B5EF4-FFF2-40B4-BE49-F238E27FC236}">
                <a16:creationId xmlns:a16="http://schemas.microsoft.com/office/drawing/2014/main" id="{32F55508-D622-4C94-9462-1D273285A090}"/>
              </a:ext>
            </a:extLst>
          </p:cNvPr>
          <p:cNvSpPr txBox="1"/>
          <p:nvPr/>
        </p:nvSpPr>
        <p:spPr>
          <a:xfrm>
            <a:off x="8578665" y="5074091"/>
            <a:ext cx="96981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共享同一 DDR 地址空间</a:t>
            </a:r>
          </a:p>
        </p:txBody>
      </p:sp>
      <p:sp>
        <p:nvSpPr>
          <p:cNvPr id="1072" name="ddr-phy">
            <a:extLst>
              <a:ext uri="{FF2B5EF4-FFF2-40B4-BE49-F238E27FC236}">
                <a16:creationId xmlns:a16="http://schemas.microsoft.com/office/drawing/2014/main" id="{159EE2B3-7138-4B9A-B3CD-98A4CE11B639}"/>
              </a:ext>
            </a:extLst>
          </p:cNvPr>
          <p:cNvSpPr/>
          <p:nvPr/>
        </p:nvSpPr>
        <p:spPr>
          <a:xfrm>
            <a:off x="10519840" y="5215789"/>
            <a:ext cx="677333" cy="474133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3" name="object-300: DDR PHY">
            <a:extLst>
              <a:ext uri="{FF2B5EF4-FFF2-40B4-BE49-F238E27FC236}">
                <a16:creationId xmlns:a16="http://schemas.microsoft.com/office/drawing/2014/main" id="{540C9B54-A5E0-4EBF-BF78-F95731B8E9BB}"/>
              </a:ext>
            </a:extLst>
          </p:cNvPr>
          <p:cNvSpPr txBox="1"/>
          <p:nvPr/>
        </p:nvSpPr>
        <p:spPr>
          <a:xfrm>
            <a:off x="10615652" y="5272547"/>
            <a:ext cx="4857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1074" name="object-301: 训练 / 校准">
            <a:extLst>
              <a:ext uri="{FF2B5EF4-FFF2-40B4-BE49-F238E27FC236}">
                <a16:creationId xmlns:a16="http://schemas.microsoft.com/office/drawing/2014/main" id="{762D8652-6DAA-47C0-9467-5CA026EB6161}"/>
              </a:ext>
            </a:extLst>
          </p:cNvPr>
          <p:cNvSpPr txBox="1"/>
          <p:nvPr/>
        </p:nvSpPr>
        <p:spPr>
          <a:xfrm>
            <a:off x="10601224" y="5405440"/>
            <a:ext cx="5145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训练 / 校准</a:t>
            </a:r>
          </a:p>
        </p:txBody>
      </p:sp>
      <p:sp>
        <p:nvSpPr>
          <p:cNvPr id="1075" name="cfg-tag-C3-301">
            <a:extLst>
              <a:ext uri="{FF2B5EF4-FFF2-40B4-BE49-F238E27FC236}">
                <a16:creationId xmlns:a16="http://schemas.microsoft.com/office/drawing/2014/main" id="{147500D1-D40B-4A05-AE23-8E5B12B66E0C}"/>
              </a:ext>
            </a:extLst>
          </p:cNvPr>
          <p:cNvSpPr/>
          <p:nvPr/>
        </p:nvSpPr>
        <p:spPr>
          <a:xfrm>
            <a:off x="10987200" y="555445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6" name="object-303: C3">
            <a:extLst>
              <a:ext uri="{FF2B5EF4-FFF2-40B4-BE49-F238E27FC236}">
                <a16:creationId xmlns:a16="http://schemas.microsoft.com/office/drawing/2014/main" id="{6AB24D3D-0919-4938-9FF6-B6A9107E8923}"/>
              </a:ext>
            </a:extLst>
          </p:cNvPr>
          <p:cNvSpPr txBox="1"/>
          <p:nvPr/>
        </p:nvSpPr>
        <p:spPr>
          <a:xfrm>
            <a:off x="11017093" y="555581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cxnSp>
        <p:nvCxnSpPr>
          <p:cNvPr id="1077" name="ddr-phy-path">
            <a:extLst>
              <a:ext uri="{FF2B5EF4-FFF2-40B4-BE49-F238E27FC236}">
                <a16:creationId xmlns:a16="http://schemas.microsoft.com/office/drawing/2014/main" id="{C1BBF756-77F3-4819-8895-BF7BB88FD606}"/>
              </a:ext>
            </a:extLst>
          </p:cNvPr>
          <p:cNvCxnSpPr/>
          <p:nvPr/>
        </p:nvCxnSpPr>
        <p:spPr>
          <a:xfrm>
            <a:off x="10231973" y="5429149"/>
            <a:ext cx="287867" cy="0"/>
          </a:xfrm>
          <a:prstGeom prst="line">
            <a:avLst/>
          </a:prstGeom>
          <a:ln w="28448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078" name="dram">
            <a:extLst>
              <a:ext uri="{FF2B5EF4-FFF2-40B4-BE49-F238E27FC236}">
                <a16:creationId xmlns:a16="http://schemas.microsoft.com/office/drawing/2014/main" id="{A461D61B-6A89-4A62-BAF2-EAB5497DE4BA}"/>
              </a:ext>
            </a:extLst>
          </p:cNvPr>
          <p:cNvSpPr/>
          <p:nvPr/>
        </p:nvSpPr>
        <p:spPr>
          <a:xfrm>
            <a:off x="11501973" y="5215789"/>
            <a:ext cx="508000" cy="474133"/>
          </a:xfrm>
          <a:prstGeom prst="rect">
            <a:avLst/>
          </a:prstGeom>
          <a:solidFill>
            <a:srgbClr val="EAECEE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9" name="object-306: DDR">
            <a:extLst>
              <a:ext uri="{FF2B5EF4-FFF2-40B4-BE49-F238E27FC236}">
                <a16:creationId xmlns:a16="http://schemas.microsoft.com/office/drawing/2014/main" id="{4F28D478-2D00-45B1-BC9F-F4813A2BEB73}"/>
              </a:ext>
            </a:extLst>
          </p:cNvPr>
          <p:cNvSpPr txBox="1"/>
          <p:nvPr/>
        </p:nvSpPr>
        <p:spPr>
          <a:xfrm>
            <a:off x="11624528" y="5261574"/>
            <a:ext cx="26289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1080" name="object-307: 片外器件">
            <a:extLst>
              <a:ext uri="{FF2B5EF4-FFF2-40B4-BE49-F238E27FC236}">
                <a16:creationId xmlns:a16="http://schemas.microsoft.com/office/drawing/2014/main" id="{AE525BAC-9D08-4B70-9002-E8E6C69159F2}"/>
              </a:ext>
            </a:extLst>
          </p:cNvPr>
          <p:cNvSpPr txBox="1"/>
          <p:nvPr/>
        </p:nvSpPr>
        <p:spPr>
          <a:xfrm>
            <a:off x="11550789" y="5405440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片外器件</a:t>
            </a:r>
          </a:p>
        </p:txBody>
      </p:sp>
      <p:cxnSp>
        <p:nvCxnSpPr>
          <p:cNvPr id="1081" name="phy-dram">
            <a:extLst>
              <a:ext uri="{FF2B5EF4-FFF2-40B4-BE49-F238E27FC236}">
                <a16:creationId xmlns:a16="http://schemas.microsoft.com/office/drawing/2014/main" id="{4D2F5ED4-8DBD-4CDD-B630-62605969ED4A}"/>
              </a:ext>
            </a:extLst>
          </p:cNvPr>
          <p:cNvCxnSpPr/>
          <p:nvPr/>
        </p:nvCxnSpPr>
        <p:spPr>
          <a:xfrm>
            <a:off x="11197173" y="5429149"/>
            <a:ext cx="304800" cy="0"/>
          </a:xfrm>
          <a:prstGeom prst="line">
            <a:avLst/>
          </a:prstGeom>
          <a:ln w="30074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082" name="npu-ddr">
            <a:extLst>
              <a:ext uri="{FF2B5EF4-FFF2-40B4-BE49-F238E27FC236}">
                <a16:creationId xmlns:a16="http://schemas.microsoft.com/office/drawing/2014/main" id="{FB80ED40-BAAF-4226-9008-6837C3A99E7A}"/>
              </a:ext>
            </a:extLst>
          </p:cNvPr>
          <p:cNvSpPr/>
          <p:nvPr/>
        </p:nvSpPr>
        <p:spPr>
          <a:xfrm>
            <a:off x="7336373" y="2008616"/>
            <a:ext cx="2980267" cy="2573867"/>
          </a:xfrm>
          <a:custGeom>
            <a:avLst/>
            <a:gdLst/>
            <a:ahLst/>
            <a:cxnLst/>
            <a:rect l="0" t="0" r="r" b="b"/>
            <a:pathLst>
              <a:path w="7152640" h="6177280" fill="none">
                <a:moveTo>
                  <a:pt x="0" y="0"/>
                </a:moveTo>
                <a:lnTo>
                  <a:pt x="422656" y="0"/>
                </a:lnTo>
                <a:lnTo>
                  <a:pt x="422656" y="812800"/>
                </a:lnTo>
                <a:lnTo>
                  <a:pt x="7152640" y="812800"/>
                </a:lnTo>
                <a:lnTo>
                  <a:pt x="7152640" y="5795264"/>
                </a:lnTo>
                <a:lnTo>
                  <a:pt x="3088640" y="5795264"/>
                </a:lnTo>
                <a:lnTo>
                  <a:pt x="3088640" y="6177280"/>
                </a:lnTo>
              </a:path>
            </a:pathLst>
          </a:custGeom>
          <a:noFill/>
          <a:ln w="28448" cap="flat">
            <a:solidFill>
              <a:srgbClr val="314D66"/>
            </a:solidFill>
            <a:custDash>
              <a:ds d="285714" sp="171429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3" name="object-310: S1">
            <a:extLst>
              <a:ext uri="{FF2B5EF4-FFF2-40B4-BE49-F238E27FC236}">
                <a16:creationId xmlns:a16="http://schemas.microsoft.com/office/drawing/2014/main" id="{B3EEB8C6-B551-4571-8D04-0BFFECAC5804}"/>
              </a:ext>
            </a:extLst>
          </p:cNvPr>
          <p:cNvSpPr txBox="1"/>
          <p:nvPr/>
        </p:nvSpPr>
        <p:spPr>
          <a:xfrm>
            <a:off x="10335403" y="3251522"/>
            <a:ext cx="1250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1084" name="frame-ddr">
            <a:extLst>
              <a:ext uri="{FF2B5EF4-FFF2-40B4-BE49-F238E27FC236}">
                <a16:creationId xmlns:a16="http://schemas.microsoft.com/office/drawing/2014/main" id="{E5E5128B-5402-4BCE-B3A0-FCDD33B08E55}"/>
              </a:ext>
            </a:extLst>
          </p:cNvPr>
          <p:cNvSpPr/>
          <p:nvPr/>
        </p:nvSpPr>
        <p:spPr>
          <a:xfrm>
            <a:off x="9652853" y="1940882"/>
            <a:ext cx="1154853" cy="2641600"/>
          </a:xfrm>
          <a:custGeom>
            <a:avLst/>
            <a:gdLst/>
            <a:ahLst/>
            <a:cxnLst/>
            <a:rect l="0" t="0" r="r" b="b"/>
            <a:pathLst>
              <a:path w="2771648" h="6339840" fill="none">
                <a:moveTo>
                  <a:pt x="2771648" y="0"/>
                </a:moveTo>
                <a:lnTo>
                  <a:pt x="2771648" y="5648960"/>
                </a:lnTo>
                <a:lnTo>
                  <a:pt x="211328" y="5648960"/>
                </a:lnTo>
                <a:lnTo>
                  <a:pt x="211328" y="5852160"/>
                </a:lnTo>
                <a:cubicBezTo>
                  <a:pt x="0" y="5852160"/>
                  <a:pt x="0" y="6063488"/>
                  <a:pt x="211328" y="6063488"/>
                </a:cubicBezTo>
                <a:lnTo>
                  <a:pt x="211328" y="6339840"/>
                </a:lnTo>
              </a:path>
            </a:pathLst>
          </a:custGeom>
          <a:noFill/>
          <a:ln w="28448" cap="flat">
            <a:solidFill>
              <a:srgbClr val="314D66"/>
            </a:solidFill>
            <a:custDash>
              <a:ds d="285714" sp="171429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5" name="object-312: S2">
            <a:extLst>
              <a:ext uri="{FF2B5EF4-FFF2-40B4-BE49-F238E27FC236}">
                <a16:creationId xmlns:a16="http://schemas.microsoft.com/office/drawing/2014/main" id="{01D1F55A-B4CA-4E35-800C-B965DD7951D0}"/>
              </a:ext>
            </a:extLst>
          </p:cNvPr>
          <p:cNvSpPr txBox="1"/>
          <p:nvPr/>
        </p:nvSpPr>
        <p:spPr>
          <a:xfrm>
            <a:off x="10829857" y="3251522"/>
            <a:ext cx="1250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1086" name="llc-ddr">
            <a:extLst>
              <a:ext uri="{FF2B5EF4-FFF2-40B4-BE49-F238E27FC236}">
                <a16:creationId xmlns:a16="http://schemas.microsoft.com/office/drawing/2014/main" id="{3E65ED82-8080-42FA-9917-8246D4DD099C}"/>
              </a:ext>
            </a:extLst>
          </p:cNvPr>
          <p:cNvSpPr/>
          <p:nvPr/>
        </p:nvSpPr>
        <p:spPr>
          <a:xfrm>
            <a:off x="4019852" y="4189645"/>
            <a:ext cx="3485848" cy="392853"/>
          </a:xfrm>
          <a:custGeom>
            <a:avLst/>
            <a:gdLst/>
            <a:ahLst/>
            <a:cxnLst/>
            <a:rect l="0" t="0" r="r" b="b"/>
            <a:pathLst>
              <a:path w="3485848" h="392853" fill="none">
                <a:moveTo>
                  <a:pt x="0" y="0"/>
                </a:moveTo>
                <a:lnTo>
                  <a:pt x="0" y="98213"/>
                </a:lnTo>
                <a:lnTo>
                  <a:pt x="3485848" y="98213"/>
                </a:lnTo>
                <a:lnTo>
                  <a:pt x="3485848" y="392853"/>
                </a:lnTo>
              </a:path>
            </a:pathLst>
          </a:custGeom>
          <a:noFill/>
          <a:ln w="29261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7" name="object-314: S0 · LLC 外存出口">
            <a:extLst>
              <a:ext uri="{FF2B5EF4-FFF2-40B4-BE49-F238E27FC236}">
                <a16:creationId xmlns:a16="http://schemas.microsoft.com/office/drawing/2014/main" id="{A2D3314B-A256-4C9F-8B9C-4E5FEC08A435}"/>
              </a:ext>
            </a:extLst>
          </p:cNvPr>
          <p:cNvSpPr txBox="1"/>
          <p:nvPr/>
        </p:nvSpPr>
        <p:spPr>
          <a:xfrm>
            <a:off x="7586564" y="4443954"/>
            <a:ext cx="718146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S0 · LLC </a:t>
            </a:r>
            <a:r>
              <a:rPr sz="7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外存出口</a:t>
            </a:r>
            <a:endParaRPr sz="700" dirty="0">
              <a:solidFill>
                <a:srgbClr val="314D6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88" name="clock-reset">
            <a:extLst>
              <a:ext uri="{FF2B5EF4-FFF2-40B4-BE49-F238E27FC236}">
                <a16:creationId xmlns:a16="http://schemas.microsoft.com/office/drawing/2014/main" id="{3D09B2BE-3605-4AB1-AAA7-2A5B66D33C22}"/>
              </a:ext>
            </a:extLst>
          </p:cNvPr>
          <p:cNvSpPr/>
          <p:nvPr/>
        </p:nvSpPr>
        <p:spPr>
          <a:xfrm>
            <a:off x="7200906" y="5937149"/>
            <a:ext cx="1778000" cy="250613"/>
          </a:xfrm>
          <a:prstGeom prst="rect">
            <a:avLst/>
          </a:prstGeom>
          <a:solidFill>
            <a:srgbClr val="F5E1C9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9" name="object-316: PLL / 时钟与复位分发">
            <a:extLst>
              <a:ext uri="{FF2B5EF4-FFF2-40B4-BE49-F238E27FC236}">
                <a16:creationId xmlns:a16="http://schemas.microsoft.com/office/drawing/2014/main" id="{6A5FCA8E-0944-4F72-B8B8-C6A7FBEA7689}"/>
              </a:ext>
            </a:extLst>
          </p:cNvPr>
          <p:cNvSpPr txBox="1"/>
          <p:nvPr/>
        </p:nvSpPr>
        <p:spPr>
          <a:xfrm>
            <a:off x="7465582" y="5993384"/>
            <a:ext cx="1130118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</a:t>
            </a:r>
            <a:r>
              <a:rPr sz="9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时钟与复位分发</a:t>
            </a:r>
            <a:endParaRPr sz="9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90" name="cfg-tag-C1-316">
            <a:extLst>
              <a:ext uri="{FF2B5EF4-FFF2-40B4-BE49-F238E27FC236}">
                <a16:creationId xmlns:a16="http://schemas.microsoft.com/office/drawing/2014/main" id="{608D59C5-D287-42EC-B634-60C52FF30DB7}"/>
              </a:ext>
            </a:extLst>
          </p:cNvPr>
          <p:cNvSpPr/>
          <p:nvPr/>
        </p:nvSpPr>
        <p:spPr>
          <a:xfrm>
            <a:off x="8738453" y="600826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1" name="object-318: C1">
            <a:extLst>
              <a:ext uri="{FF2B5EF4-FFF2-40B4-BE49-F238E27FC236}">
                <a16:creationId xmlns:a16="http://schemas.microsoft.com/office/drawing/2014/main" id="{3C2E8761-8264-40FF-8732-418504C9E1D8}"/>
              </a:ext>
            </a:extLst>
          </p:cNvPr>
          <p:cNvSpPr txBox="1"/>
          <p:nvPr/>
        </p:nvSpPr>
        <p:spPr>
          <a:xfrm>
            <a:off x="8768347" y="600962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092" name="object-319: RefClk / POR → clk_i / rst_ni">
            <a:extLst>
              <a:ext uri="{FF2B5EF4-FFF2-40B4-BE49-F238E27FC236}">
                <a16:creationId xmlns:a16="http://schemas.microsoft.com/office/drawing/2014/main" id="{D8F8F012-DECA-4F8B-822D-A1D9708813E2}"/>
              </a:ext>
            </a:extLst>
          </p:cNvPr>
          <p:cNvSpPr txBox="1"/>
          <p:nvPr/>
        </p:nvSpPr>
        <p:spPr>
          <a:xfrm>
            <a:off x="9020878" y="5983396"/>
            <a:ext cx="13673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RefClk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POR →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clk_i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rst_ni</a:t>
            </a:r>
            <a:endParaRPr sz="800" dirty="0">
              <a:solidFill>
                <a:srgbClr val="76548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93" name="regext-control-bus">
            <a:extLst>
              <a:ext uri="{FF2B5EF4-FFF2-40B4-BE49-F238E27FC236}">
                <a16:creationId xmlns:a16="http://schemas.microsoft.com/office/drawing/2014/main" id="{339E25D4-6A77-471F-8203-9B620A43C384}"/>
              </a:ext>
            </a:extLst>
          </p:cNvPr>
          <p:cNvSpPr/>
          <p:nvPr/>
        </p:nvSpPr>
        <p:spPr>
          <a:xfrm>
            <a:off x="6591307" y="5818616"/>
            <a:ext cx="270933" cy="457200"/>
          </a:xfrm>
          <a:custGeom>
            <a:avLst/>
            <a:gdLst/>
            <a:ahLst/>
            <a:cxnLst/>
            <a:rect l="0" t="0" r="r" b="b"/>
            <a:pathLst>
              <a:path w="650240" h="1097280" fill="none">
                <a:moveTo>
                  <a:pt x="0" y="0"/>
                </a:moveTo>
                <a:lnTo>
                  <a:pt x="650240" y="0"/>
                </a:lnTo>
                <a:lnTo>
                  <a:pt x="650240" y="1097280"/>
                </a:lnTo>
              </a:path>
            </a:pathLst>
          </a:custGeom>
          <a:noFill/>
          <a:ln w="22758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cxnSp>
        <p:nvCxnSpPr>
          <p:cNvPr id="1094" name="config-bus">
            <a:extLst>
              <a:ext uri="{FF2B5EF4-FFF2-40B4-BE49-F238E27FC236}">
                <a16:creationId xmlns:a16="http://schemas.microsoft.com/office/drawing/2014/main" id="{2ABB8BBC-C019-49D7-B292-98F46D703155}"/>
              </a:ext>
            </a:extLst>
          </p:cNvPr>
          <p:cNvCxnSpPr/>
          <p:nvPr/>
        </p:nvCxnSpPr>
        <p:spPr>
          <a:xfrm>
            <a:off x="792104" y="6275816"/>
            <a:ext cx="9922933" cy="0"/>
          </a:xfrm>
          <a:prstGeom prst="line">
            <a:avLst/>
          </a:prstGeom>
          <a:ln w="24384" cap="flat">
            <a:solidFill>
              <a:srgbClr val="765489"/>
            </a:solidFill>
          </a:ln>
          <a:effectLst/>
        </p:spPr>
      </p:cxnSp>
      <p:cxnSp>
        <p:nvCxnSpPr>
          <p:cNvPr id="1095" name="cfg-drop-0">
            <a:extLst>
              <a:ext uri="{FF2B5EF4-FFF2-40B4-BE49-F238E27FC236}">
                <a16:creationId xmlns:a16="http://schemas.microsoft.com/office/drawing/2014/main" id="{CAD805B9-354A-4FB9-BB78-CF45031A22BD}"/>
              </a:ext>
            </a:extLst>
          </p:cNvPr>
          <p:cNvCxnSpPr/>
          <p:nvPr/>
        </p:nvCxnSpPr>
        <p:spPr>
          <a:xfrm>
            <a:off x="8001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96" name="config-C1">
            <a:extLst>
              <a:ext uri="{FF2B5EF4-FFF2-40B4-BE49-F238E27FC236}">
                <a16:creationId xmlns:a16="http://schemas.microsoft.com/office/drawing/2014/main" id="{E27DF2D4-D194-4023-A691-62B09700BF01}"/>
              </a:ext>
            </a:extLst>
          </p:cNvPr>
          <p:cNvSpPr/>
          <p:nvPr/>
        </p:nvSpPr>
        <p:spPr>
          <a:xfrm>
            <a:off x="2413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7" name="cfg-tag-C1-323">
            <a:extLst>
              <a:ext uri="{FF2B5EF4-FFF2-40B4-BE49-F238E27FC236}">
                <a16:creationId xmlns:a16="http://schemas.microsoft.com/office/drawing/2014/main" id="{A8C1EE9E-4B46-4523-9714-4918F5521645}"/>
              </a:ext>
            </a:extLst>
          </p:cNvPr>
          <p:cNvSpPr/>
          <p:nvPr/>
        </p:nvSpPr>
        <p:spPr>
          <a:xfrm>
            <a:off x="2684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8" name="object-325: C1">
            <a:extLst>
              <a:ext uri="{FF2B5EF4-FFF2-40B4-BE49-F238E27FC236}">
                <a16:creationId xmlns:a16="http://schemas.microsoft.com/office/drawing/2014/main" id="{1BFEF553-AAD6-436F-854D-BF5BB571E514}"/>
              </a:ext>
            </a:extLst>
          </p:cNvPr>
          <p:cNvSpPr txBox="1"/>
          <p:nvPr/>
        </p:nvSpPr>
        <p:spPr>
          <a:xfrm>
            <a:off x="2982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099" name="object-326: PLL / 时钟复位">
            <a:extLst>
              <a:ext uri="{FF2B5EF4-FFF2-40B4-BE49-F238E27FC236}">
                <a16:creationId xmlns:a16="http://schemas.microsoft.com/office/drawing/2014/main" id="{20264680-1A1F-4A47-8124-0FA5555C81B7}"/>
              </a:ext>
            </a:extLst>
          </p:cNvPr>
          <p:cNvSpPr txBox="1"/>
          <p:nvPr/>
        </p:nvSpPr>
        <p:spPr>
          <a:xfrm>
            <a:off x="535318" y="6404509"/>
            <a:ext cx="6989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时钟复位</a:t>
            </a:r>
          </a:p>
        </p:txBody>
      </p:sp>
      <p:sp>
        <p:nvSpPr>
          <p:cNvPr id="1100" name="object-327: 配置 / 锁定 / 切换">
            <a:extLst>
              <a:ext uri="{FF2B5EF4-FFF2-40B4-BE49-F238E27FC236}">
                <a16:creationId xmlns:a16="http://schemas.microsoft.com/office/drawing/2014/main" id="{23F1FE3D-28E6-44FD-84BD-614EB485E196}"/>
              </a:ext>
            </a:extLst>
          </p:cNvPr>
          <p:cNvSpPr txBox="1"/>
          <p:nvPr/>
        </p:nvSpPr>
        <p:spPr>
          <a:xfrm>
            <a:off x="444602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配置 / 锁定 / 切换</a:t>
            </a:r>
          </a:p>
        </p:txBody>
      </p:sp>
      <p:cxnSp>
        <p:nvCxnSpPr>
          <p:cNvPr id="1101" name="cfg-drop-1">
            <a:extLst>
              <a:ext uri="{FF2B5EF4-FFF2-40B4-BE49-F238E27FC236}">
                <a16:creationId xmlns:a16="http://schemas.microsoft.com/office/drawing/2014/main" id="{D9FE6EA3-93DA-43CE-A4E2-86446BDA771F}"/>
              </a:ext>
            </a:extLst>
          </p:cNvPr>
          <p:cNvCxnSpPr/>
          <p:nvPr/>
        </p:nvCxnSpPr>
        <p:spPr>
          <a:xfrm>
            <a:off x="20362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02" name="config-C2">
            <a:extLst>
              <a:ext uri="{FF2B5EF4-FFF2-40B4-BE49-F238E27FC236}">
                <a16:creationId xmlns:a16="http://schemas.microsoft.com/office/drawing/2014/main" id="{C19DDEDD-04A8-4E8E-8EB9-8C2B127698F1}"/>
              </a:ext>
            </a:extLst>
          </p:cNvPr>
          <p:cNvSpPr/>
          <p:nvPr/>
        </p:nvSpPr>
        <p:spPr>
          <a:xfrm>
            <a:off x="14774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3" name="cfg-tag-C2-329">
            <a:extLst>
              <a:ext uri="{FF2B5EF4-FFF2-40B4-BE49-F238E27FC236}">
                <a16:creationId xmlns:a16="http://schemas.microsoft.com/office/drawing/2014/main" id="{C6B67E79-B004-4BD6-BFCD-4BE0E12193A6}"/>
              </a:ext>
            </a:extLst>
          </p:cNvPr>
          <p:cNvSpPr/>
          <p:nvPr/>
        </p:nvSpPr>
        <p:spPr>
          <a:xfrm>
            <a:off x="15045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4" name="object-331: C2">
            <a:extLst>
              <a:ext uri="{FF2B5EF4-FFF2-40B4-BE49-F238E27FC236}">
                <a16:creationId xmlns:a16="http://schemas.microsoft.com/office/drawing/2014/main" id="{72633FEC-BFD3-41E8-8393-EF144745AA0C}"/>
              </a:ext>
            </a:extLst>
          </p:cNvPr>
          <p:cNvSpPr txBox="1"/>
          <p:nvPr/>
        </p:nvSpPr>
        <p:spPr>
          <a:xfrm>
            <a:off x="15344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105" name="object-332: DDR Controller">
            <a:extLst>
              <a:ext uri="{FF2B5EF4-FFF2-40B4-BE49-F238E27FC236}">
                <a16:creationId xmlns:a16="http://schemas.microsoft.com/office/drawing/2014/main" id="{146DCDAF-2610-42D5-B69A-E8CFBE1960E6}"/>
              </a:ext>
            </a:extLst>
          </p:cNvPr>
          <p:cNvSpPr txBox="1"/>
          <p:nvPr/>
        </p:nvSpPr>
        <p:spPr>
          <a:xfrm>
            <a:off x="1728171" y="6404509"/>
            <a:ext cx="78547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</a:t>
            </a:r>
          </a:p>
        </p:txBody>
      </p:sp>
      <p:sp>
        <p:nvSpPr>
          <p:cNvPr id="1106" name="object-333: 初始化 / QoS / 状态">
            <a:extLst>
              <a:ext uri="{FF2B5EF4-FFF2-40B4-BE49-F238E27FC236}">
                <a16:creationId xmlns:a16="http://schemas.microsoft.com/office/drawing/2014/main" id="{9149974A-003B-4CD3-A8EF-1EE8ECF42464}"/>
              </a:ext>
            </a:extLst>
          </p:cNvPr>
          <p:cNvSpPr txBox="1"/>
          <p:nvPr/>
        </p:nvSpPr>
        <p:spPr>
          <a:xfrm>
            <a:off x="1634249" y="6543904"/>
            <a:ext cx="81753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初始化 / QoS / 状态</a:t>
            </a:r>
          </a:p>
        </p:txBody>
      </p:sp>
      <p:cxnSp>
        <p:nvCxnSpPr>
          <p:cNvPr id="1107" name="cfg-drop-2">
            <a:extLst>
              <a:ext uri="{FF2B5EF4-FFF2-40B4-BE49-F238E27FC236}">
                <a16:creationId xmlns:a16="http://schemas.microsoft.com/office/drawing/2014/main" id="{9F4659C3-075D-4ED0-936E-DE6A6EC549DA}"/>
              </a:ext>
            </a:extLst>
          </p:cNvPr>
          <p:cNvCxnSpPr/>
          <p:nvPr/>
        </p:nvCxnSpPr>
        <p:spPr>
          <a:xfrm>
            <a:off x="32723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08" name="config-C3">
            <a:extLst>
              <a:ext uri="{FF2B5EF4-FFF2-40B4-BE49-F238E27FC236}">
                <a16:creationId xmlns:a16="http://schemas.microsoft.com/office/drawing/2014/main" id="{FD1CC228-3931-43A7-986E-2A89CFC4BB36}"/>
              </a:ext>
            </a:extLst>
          </p:cNvPr>
          <p:cNvSpPr/>
          <p:nvPr/>
        </p:nvSpPr>
        <p:spPr>
          <a:xfrm>
            <a:off x="27135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9" name="cfg-tag-C3-335">
            <a:extLst>
              <a:ext uri="{FF2B5EF4-FFF2-40B4-BE49-F238E27FC236}">
                <a16:creationId xmlns:a16="http://schemas.microsoft.com/office/drawing/2014/main" id="{8EF30D5B-7E74-4F8A-AA6F-A99B62074254}"/>
              </a:ext>
            </a:extLst>
          </p:cNvPr>
          <p:cNvSpPr/>
          <p:nvPr/>
        </p:nvSpPr>
        <p:spPr>
          <a:xfrm>
            <a:off x="27406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0" name="object-337: C3">
            <a:extLst>
              <a:ext uri="{FF2B5EF4-FFF2-40B4-BE49-F238E27FC236}">
                <a16:creationId xmlns:a16="http://schemas.microsoft.com/office/drawing/2014/main" id="{E97C60F1-2A4A-45B8-B8F5-7B67D2BFAFAC}"/>
              </a:ext>
            </a:extLst>
          </p:cNvPr>
          <p:cNvSpPr txBox="1"/>
          <p:nvPr/>
        </p:nvSpPr>
        <p:spPr>
          <a:xfrm>
            <a:off x="27705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1111" name="object-338: DDR PHY">
            <a:extLst>
              <a:ext uri="{FF2B5EF4-FFF2-40B4-BE49-F238E27FC236}">
                <a16:creationId xmlns:a16="http://schemas.microsoft.com/office/drawing/2014/main" id="{2E0ECAF8-EC7A-4742-9A65-E1BECD00A38C}"/>
              </a:ext>
            </a:extLst>
          </p:cNvPr>
          <p:cNvSpPr txBox="1"/>
          <p:nvPr/>
        </p:nvSpPr>
        <p:spPr>
          <a:xfrm>
            <a:off x="3114185" y="6404509"/>
            <a:ext cx="4857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1112" name="object-339: training / 校准">
            <a:extLst>
              <a:ext uri="{FF2B5EF4-FFF2-40B4-BE49-F238E27FC236}">
                <a16:creationId xmlns:a16="http://schemas.microsoft.com/office/drawing/2014/main" id="{A6253C34-1AFB-4DF2-83A8-93EB61B5382B}"/>
              </a:ext>
            </a:extLst>
          </p:cNvPr>
          <p:cNvSpPr txBox="1"/>
          <p:nvPr/>
        </p:nvSpPr>
        <p:spPr>
          <a:xfrm>
            <a:off x="2975377" y="6543904"/>
            <a:ext cx="60753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training / 校准</a:t>
            </a:r>
          </a:p>
        </p:txBody>
      </p:sp>
      <p:cxnSp>
        <p:nvCxnSpPr>
          <p:cNvPr id="1113" name="cfg-drop-3">
            <a:extLst>
              <a:ext uri="{FF2B5EF4-FFF2-40B4-BE49-F238E27FC236}">
                <a16:creationId xmlns:a16="http://schemas.microsoft.com/office/drawing/2014/main" id="{EDF949C6-8B1D-4275-B85D-63BEABF3CA6E}"/>
              </a:ext>
            </a:extLst>
          </p:cNvPr>
          <p:cNvCxnSpPr/>
          <p:nvPr/>
        </p:nvCxnSpPr>
        <p:spPr>
          <a:xfrm>
            <a:off x="45085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14" name="config-C4">
            <a:extLst>
              <a:ext uri="{FF2B5EF4-FFF2-40B4-BE49-F238E27FC236}">
                <a16:creationId xmlns:a16="http://schemas.microsoft.com/office/drawing/2014/main" id="{D26B22F7-FB78-4AC7-97CA-8A49905BABD9}"/>
              </a:ext>
            </a:extLst>
          </p:cNvPr>
          <p:cNvSpPr/>
          <p:nvPr/>
        </p:nvSpPr>
        <p:spPr>
          <a:xfrm>
            <a:off x="39497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5" name="cfg-tag-C4-341">
            <a:extLst>
              <a:ext uri="{FF2B5EF4-FFF2-40B4-BE49-F238E27FC236}">
                <a16:creationId xmlns:a16="http://schemas.microsoft.com/office/drawing/2014/main" id="{0773182D-DD7F-4403-AD3B-10A85AE1AECF}"/>
              </a:ext>
            </a:extLst>
          </p:cNvPr>
          <p:cNvSpPr/>
          <p:nvPr/>
        </p:nvSpPr>
        <p:spPr>
          <a:xfrm>
            <a:off x="39768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6" name="object-343: C4">
            <a:extLst>
              <a:ext uri="{FF2B5EF4-FFF2-40B4-BE49-F238E27FC236}">
                <a16:creationId xmlns:a16="http://schemas.microsoft.com/office/drawing/2014/main" id="{DBFC0F46-618F-429F-82FE-2FE71B4A04FE}"/>
              </a:ext>
            </a:extLst>
          </p:cNvPr>
          <p:cNvSpPr txBox="1"/>
          <p:nvPr/>
        </p:nvSpPr>
        <p:spPr>
          <a:xfrm>
            <a:off x="40066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1117" name="object-344: LVDS">
            <a:extLst>
              <a:ext uri="{FF2B5EF4-FFF2-40B4-BE49-F238E27FC236}">
                <a16:creationId xmlns:a16="http://schemas.microsoft.com/office/drawing/2014/main" id="{0D1CDD66-F4C5-4BB7-B087-7D983702C474}"/>
              </a:ext>
            </a:extLst>
          </p:cNvPr>
          <p:cNvSpPr txBox="1"/>
          <p:nvPr/>
        </p:nvSpPr>
        <p:spPr>
          <a:xfrm>
            <a:off x="4456116" y="6404509"/>
            <a:ext cx="27411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</a:t>
            </a:r>
          </a:p>
        </p:txBody>
      </p:sp>
      <p:sp>
        <p:nvSpPr>
          <p:cNvPr id="1118" name="object-345: 通道 / 对齐 / 帧行">
            <a:extLst>
              <a:ext uri="{FF2B5EF4-FFF2-40B4-BE49-F238E27FC236}">
                <a16:creationId xmlns:a16="http://schemas.microsoft.com/office/drawing/2014/main" id="{4B5E9C71-3E3D-4B23-A84C-D78C2FB50C98}"/>
              </a:ext>
            </a:extLst>
          </p:cNvPr>
          <p:cNvSpPr txBox="1"/>
          <p:nvPr/>
        </p:nvSpPr>
        <p:spPr>
          <a:xfrm>
            <a:off x="4153002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通道 / 对齐 / 帧行</a:t>
            </a:r>
          </a:p>
        </p:txBody>
      </p:sp>
      <p:cxnSp>
        <p:nvCxnSpPr>
          <p:cNvPr id="1119" name="cfg-drop-4">
            <a:extLst>
              <a:ext uri="{FF2B5EF4-FFF2-40B4-BE49-F238E27FC236}">
                <a16:creationId xmlns:a16="http://schemas.microsoft.com/office/drawing/2014/main" id="{9F9FC02E-13E1-44FE-9C45-C8834DC7F3CC}"/>
              </a:ext>
            </a:extLst>
          </p:cNvPr>
          <p:cNvCxnSpPr/>
          <p:nvPr/>
        </p:nvCxnSpPr>
        <p:spPr>
          <a:xfrm>
            <a:off x="57446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20" name="config-C5">
            <a:extLst>
              <a:ext uri="{FF2B5EF4-FFF2-40B4-BE49-F238E27FC236}">
                <a16:creationId xmlns:a16="http://schemas.microsoft.com/office/drawing/2014/main" id="{6CC1B4D8-D42D-4752-8341-6749419CB23B}"/>
              </a:ext>
            </a:extLst>
          </p:cNvPr>
          <p:cNvSpPr/>
          <p:nvPr/>
        </p:nvSpPr>
        <p:spPr>
          <a:xfrm>
            <a:off x="51858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1" name="cfg-tag-C5-347">
            <a:extLst>
              <a:ext uri="{FF2B5EF4-FFF2-40B4-BE49-F238E27FC236}">
                <a16:creationId xmlns:a16="http://schemas.microsoft.com/office/drawing/2014/main" id="{A611B66C-ACA7-4148-9C97-B9F2439318A7}"/>
              </a:ext>
            </a:extLst>
          </p:cNvPr>
          <p:cNvSpPr/>
          <p:nvPr/>
        </p:nvSpPr>
        <p:spPr>
          <a:xfrm>
            <a:off x="52129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2" name="object-349: C5">
            <a:extLst>
              <a:ext uri="{FF2B5EF4-FFF2-40B4-BE49-F238E27FC236}">
                <a16:creationId xmlns:a16="http://schemas.microsoft.com/office/drawing/2014/main" id="{F249507D-7BC5-45DD-AA2A-9412FE14F819}"/>
              </a:ext>
            </a:extLst>
          </p:cNvPr>
          <p:cNvSpPr txBox="1"/>
          <p:nvPr/>
        </p:nvSpPr>
        <p:spPr>
          <a:xfrm>
            <a:off x="52428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1123" name="object-350: ISP">
            <a:extLst>
              <a:ext uri="{FF2B5EF4-FFF2-40B4-BE49-F238E27FC236}">
                <a16:creationId xmlns:a16="http://schemas.microsoft.com/office/drawing/2014/main" id="{E950D680-F0F9-4E72-B321-DEC64A50C971}"/>
              </a:ext>
            </a:extLst>
          </p:cNvPr>
          <p:cNvSpPr txBox="1"/>
          <p:nvPr/>
        </p:nvSpPr>
        <p:spPr>
          <a:xfrm>
            <a:off x="5747554" y="6404509"/>
            <a:ext cx="16350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1124" name="object-351: 尺寸 / 模式 / 参数">
            <a:extLst>
              <a:ext uri="{FF2B5EF4-FFF2-40B4-BE49-F238E27FC236}">
                <a16:creationId xmlns:a16="http://schemas.microsoft.com/office/drawing/2014/main" id="{177F98E4-B409-41CC-A0A8-6623314AE70B}"/>
              </a:ext>
            </a:extLst>
          </p:cNvPr>
          <p:cNvSpPr txBox="1"/>
          <p:nvPr/>
        </p:nvSpPr>
        <p:spPr>
          <a:xfrm>
            <a:off x="5389136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尺寸 / 模式 / 参数</a:t>
            </a:r>
          </a:p>
        </p:txBody>
      </p:sp>
      <p:cxnSp>
        <p:nvCxnSpPr>
          <p:cNvPr id="1125" name="cfg-drop-5">
            <a:extLst>
              <a:ext uri="{FF2B5EF4-FFF2-40B4-BE49-F238E27FC236}">
                <a16:creationId xmlns:a16="http://schemas.microsoft.com/office/drawing/2014/main" id="{4B45D672-F8C3-4DEB-8A55-2083B679E3A7}"/>
              </a:ext>
            </a:extLst>
          </p:cNvPr>
          <p:cNvCxnSpPr/>
          <p:nvPr/>
        </p:nvCxnSpPr>
        <p:spPr>
          <a:xfrm>
            <a:off x="69807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26" name="config-C6">
            <a:extLst>
              <a:ext uri="{FF2B5EF4-FFF2-40B4-BE49-F238E27FC236}">
                <a16:creationId xmlns:a16="http://schemas.microsoft.com/office/drawing/2014/main" id="{278353F7-804D-45E5-91B5-6EB9B7206E50}"/>
              </a:ext>
            </a:extLst>
          </p:cNvPr>
          <p:cNvSpPr/>
          <p:nvPr/>
        </p:nvSpPr>
        <p:spPr>
          <a:xfrm>
            <a:off x="64219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7" name="cfg-tag-C6-353">
            <a:extLst>
              <a:ext uri="{FF2B5EF4-FFF2-40B4-BE49-F238E27FC236}">
                <a16:creationId xmlns:a16="http://schemas.microsoft.com/office/drawing/2014/main" id="{CDAA4FF4-2C89-4F48-BD32-CC624BA772E7}"/>
              </a:ext>
            </a:extLst>
          </p:cNvPr>
          <p:cNvSpPr/>
          <p:nvPr/>
        </p:nvSpPr>
        <p:spPr>
          <a:xfrm>
            <a:off x="64490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8" name="object-355: C6">
            <a:extLst>
              <a:ext uri="{FF2B5EF4-FFF2-40B4-BE49-F238E27FC236}">
                <a16:creationId xmlns:a16="http://schemas.microsoft.com/office/drawing/2014/main" id="{C65DB061-DE1D-4CAC-B13F-FFA1F5AC5025}"/>
              </a:ext>
            </a:extLst>
          </p:cNvPr>
          <p:cNvSpPr txBox="1"/>
          <p:nvPr/>
        </p:nvSpPr>
        <p:spPr>
          <a:xfrm>
            <a:off x="64789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1129" name="object-356: NPU 计算">
            <a:extLst>
              <a:ext uri="{FF2B5EF4-FFF2-40B4-BE49-F238E27FC236}">
                <a16:creationId xmlns:a16="http://schemas.microsoft.com/office/drawing/2014/main" id="{D045C092-FDBE-4A50-AC65-C3106883E7E7}"/>
              </a:ext>
            </a:extLst>
          </p:cNvPr>
          <p:cNvSpPr txBox="1"/>
          <p:nvPr/>
        </p:nvSpPr>
        <p:spPr>
          <a:xfrm>
            <a:off x="6830600" y="6404509"/>
            <a:ext cx="46968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</a:t>
            </a:r>
          </a:p>
        </p:txBody>
      </p:sp>
      <p:sp>
        <p:nvSpPr>
          <p:cNvPr id="1130" name="object-357: 命令 / GB 数据位置">
            <a:extLst>
              <a:ext uri="{FF2B5EF4-FFF2-40B4-BE49-F238E27FC236}">
                <a16:creationId xmlns:a16="http://schemas.microsoft.com/office/drawing/2014/main" id="{7B517796-5D95-4836-A1C9-5EDEF9DDC026}"/>
              </a:ext>
            </a:extLst>
          </p:cNvPr>
          <p:cNvSpPr txBox="1"/>
          <p:nvPr/>
        </p:nvSpPr>
        <p:spPr>
          <a:xfrm>
            <a:off x="6596414" y="6543904"/>
            <a:ext cx="78226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 / GB 数据位置</a:t>
            </a:r>
          </a:p>
        </p:txBody>
      </p:sp>
      <p:cxnSp>
        <p:nvCxnSpPr>
          <p:cNvPr id="1131" name="cfg-drop-6">
            <a:extLst>
              <a:ext uri="{FF2B5EF4-FFF2-40B4-BE49-F238E27FC236}">
                <a16:creationId xmlns:a16="http://schemas.microsoft.com/office/drawing/2014/main" id="{2B85502C-86A5-4AA9-8C98-89E2660FD7CC}"/>
              </a:ext>
            </a:extLst>
          </p:cNvPr>
          <p:cNvCxnSpPr/>
          <p:nvPr/>
        </p:nvCxnSpPr>
        <p:spPr>
          <a:xfrm>
            <a:off x="82169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32" name="config-C7">
            <a:extLst>
              <a:ext uri="{FF2B5EF4-FFF2-40B4-BE49-F238E27FC236}">
                <a16:creationId xmlns:a16="http://schemas.microsoft.com/office/drawing/2014/main" id="{7D13D4CC-8DC3-465D-8EEA-291C7B7EC648}"/>
              </a:ext>
            </a:extLst>
          </p:cNvPr>
          <p:cNvSpPr/>
          <p:nvPr/>
        </p:nvSpPr>
        <p:spPr>
          <a:xfrm>
            <a:off x="76581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3" name="cfg-tag-C7-359">
            <a:extLst>
              <a:ext uri="{FF2B5EF4-FFF2-40B4-BE49-F238E27FC236}">
                <a16:creationId xmlns:a16="http://schemas.microsoft.com/office/drawing/2014/main" id="{6F73B46A-D6FB-4818-BFB5-448203DB466A}"/>
              </a:ext>
            </a:extLst>
          </p:cNvPr>
          <p:cNvSpPr/>
          <p:nvPr/>
        </p:nvSpPr>
        <p:spPr>
          <a:xfrm>
            <a:off x="76852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4" name="object-361: C7">
            <a:extLst>
              <a:ext uri="{FF2B5EF4-FFF2-40B4-BE49-F238E27FC236}">
                <a16:creationId xmlns:a16="http://schemas.microsoft.com/office/drawing/2014/main" id="{00F37390-1D4A-40CC-8738-1614EE58ECB1}"/>
              </a:ext>
            </a:extLst>
          </p:cNvPr>
          <p:cNvSpPr txBox="1"/>
          <p:nvPr/>
        </p:nvSpPr>
        <p:spPr>
          <a:xfrm>
            <a:off x="77150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sp>
        <p:nvSpPr>
          <p:cNvPr id="1135" name="object-362: NPU / GB 搬运">
            <a:extLst>
              <a:ext uri="{FF2B5EF4-FFF2-40B4-BE49-F238E27FC236}">
                <a16:creationId xmlns:a16="http://schemas.microsoft.com/office/drawing/2014/main" id="{3397B153-B8D6-4FE1-871C-9063CEEAC31E}"/>
              </a:ext>
            </a:extLst>
          </p:cNvPr>
          <p:cNvSpPr txBox="1"/>
          <p:nvPr/>
        </p:nvSpPr>
        <p:spPr>
          <a:xfrm>
            <a:off x="7937692" y="6404509"/>
            <a:ext cx="7277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搬运</a:t>
            </a:r>
          </a:p>
        </p:txBody>
      </p:sp>
      <p:sp>
        <p:nvSpPr>
          <p:cNvPr id="1136" name="object-363: 地址 / 长度 / stride">
            <a:extLst>
              <a:ext uri="{FF2B5EF4-FFF2-40B4-BE49-F238E27FC236}">
                <a16:creationId xmlns:a16="http://schemas.microsoft.com/office/drawing/2014/main" id="{46463D2C-7540-40D6-B1D7-5547CEA3990E}"/>
              </a:ext>
            </a:extLst>
          </p:cNvPr>
          <p:cNvSpPr txBox="1"/>
          <p:nvPr/>
        </p:nvSpPr>
        <p:spPr>
          <a:xfrm>
            <a:off x="7830144" y="6543904"/>
            <a:ext cx="78707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长度 / stride</a:t>
            </a:r>
          </a:p>
        </p:txBody>
      </p:sp>
      <p:cxnSp>
        <p:nvCxnSpPr>
          <p:cNvPr id="1137" name="cfg-drop-7">
            <a:extLst>
              <a:ext uri="{FF2B5EF4-FFF2-40B4-BE49-F238E27FC236}">
                <a16:creationId xmlns:a16="http://schemas.microsoft.com/office/drawing/2014/main" id="{29684AB7-0E4B-4CA2-ACA9-F9FC9F188213}"/>
              </a:ext>
            </a:extLst>
          </p:cNvPr>
          <p:cNvCxnSpPr/>
          <p:nvPr/>
        </p:nvCxnSpPr>
        <p:spPr>
          <a:xfrm>
            <a:off x="94530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38" name="config-C8">
            <a:extLst>
              <a:ext uri="{FF2B5EF4-FFF2-40B4-BE49-F238E27FC236}">
                <a16:creationId xmlns:a16="http://schemas.microsoft.com/office/drawing/2014/main" id="{2ED4E969-B01E-4966-8634-48D96A8D3A41}"/>
              </a:ext>
            </a:extLst>
          </p:cNvPr>
          <p:cNvSpPr/>
          <p:nvPr/>
        </p:nvSpPr>
        <p:spPr>
          <a:xfrm>
            <a:off x="88942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9" name="cfg-tag-C8-365">
            <a:extLst>
              <a:ext uri="{FF2B5EF4-FFF2-40B4-BE49-F238E27FC236}">
                <a16:creationId xmlns:a16="http://schemas.microsoft.com/office/drawing/2014/main" id="{EBCB35F8-0CD4-49B4-A763-33747BA3C3CD}"/>
              </a:ext>
            </a:extLst>
          </p:cNvPr>
          <p:cNvSpPr/>
          <p:nvPr/>
        </p:nvSpPr>
        <p:spPr>
          <a:xfrm>
            <a:off x="89213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0" name="object-367: C8">
            <a:extLst>
              <a:ext uri="{FF2B5EF4-FFF2-40B4-BE49-F238E27FC236}">
                <a16:creationId xmlns:a16="http://schemas.microsoft.com/office/drawing/2014/main" id="{E4E4DBFE-CDD6-4B81-A8AB-F64600ABF1A2}"/>
              </a:ext>
            </a:extLst>
          </p:cNvPr>
          <p:cNvSpPr txBox="1"/>
          <p:nvPr/>
        </p:nvSpPr>
        <p:spPr>
          <a:xfrm>
            <a:off x="89512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sp>
        <p:nvSpPr>
          <p:cNvPr id="1141" name="object-368: 帧写入 DMA">
            <a:extLst>
              <a:ext uri="{FF2B5EF4-FFF2-40B4-BE49-F238E27FC236}">
                <a16:creationId xmlns:a16="http://schemas.microsoft.com/office/drawing/2014/main" id="{CD7E6EE8-0973-4492-A197-613D4F6E6033}"/>
              </a:ext>
            </a:extLst>
          </p:cNvPr>
          <p:cNvSpPr txBox="1"/>
          <p:nvPr/>
        </p:nvSpPr>
        <p:spPr>
          <a:xfrm>
            <a:off x="9236342" y="6404509"/>
            <a:ext cx="60272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1142" name="object-369: 缓冲区 / 格式 / 帧状态">
            <a:extLst>
              <a:ext uri="{FF2B5EF4-FFF2-40B4-BE49-F238E27FC236}">
                <a16:creationId xmlns:a16="http://schemas.microsoft.com/office/drawing/2014/main" id="{E2AE1912-A727-41EC-A486-B189C52CE142}"/>
              </a:ext>
            </a:extLst>
          </p:cNvPr>
          <p:cNvSpPr txBox="1"/>
          <p:nvPr/>
        </p:nvSpPr>
        <p:spPr>
          <a:xfrm>
            <a:off x="9007767" y="6543904"/>
            <a:ext cx="90409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缓冲区 / 格式 / 帧状态</a:t>
            </a:r>
          </a:p>
        </p:txBody>
      </p:sp>
      <p:cxnSp>
        <p:nvCxnSpPr>
          <p:cNvPr id="1143" name="cfg-drop-8">
            <a:extLst>
              <a:ext uri="{FF2B5EF4-FFF2-40B4-BE49-F238E27FC236}">
                <a16:creationId xmlns:a16="http://schemas.microsoft.com/office/drawing/2014/main" id="{6D0C51E7-3698-400F-AFB6-5FFB51C09CCC}"/>
              </a:ext>
            </a:extLst>
          </p:cNvPr>
          <p:cNvCxnSpPr/>
          <p:nvPr/>
        </p:nvCxnSpPr>
        <p:spPr>
          <a:xfrm>
            <a:off x="106891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44" name="config-C9">
            <a:extLst>
              <a:ext uri="{FF2B5EF4-FFF2-40B4-BE49-F238E27FC236}">
                <a16:creationId xmlns:a16="http://schemas.microsoft.com/office/drawing/2014/main" id="{A7DE2F09-15E5-403C-A657-5883136E6BFA}"/>
              </a:ext>
            </a:extLst>
          </p:cNvPr>
          <p:cNvSpPr/>
          <p:nvPr/>
        </p:nvSpPr>
        <p:spPr>
          <a:xfrm>
            <a:off x="101303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5" name="cfg-tag-C9-371">
            <a:extLst>
              <a:ext uri="{FF2B5EF4-FFF2-40B4-BE49-F238E27FC236}">
                <a16:creationId xmlns:a16="http://schemas.microsoft.com/office/drawing/2014/main" id="{EC19E98D-C9D9-4491-BD14-FCCCDA735527}"/>
              </a:ext>
            </a:extLst>
          </p:cNvPr>
          <p:cNvSpPr/>
          <p:nvPr/>
        </p:nvSpPr>
        <p:spPr>
          <a:xfrm>
            <a:off x="101574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6" name="object-373: C9">
            <a:extLst>
              <a:ext uri="{FF2B5EF4-FFF2-40B4-BE49-F238E27FC236}">
                <a16:creationId xmlns:a16="http://schemas.microsoft.com/office/drawing/2014/main" id="{D455D383-83D7-4D67-8F24-A05F0A6276FA}"/>
              </a:ext>
            </a:extLst>
          </p:cNvPr>
          <p:cNvSpPr txBox="1"/>
          <p:nvPr/>
        </p:nvSpPr>
        <p:spPr>
          <a:xfrm>
            <a:off x="101873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sp>
        <p:nvSpPr>
          <p:cNvPr id="1147" name="object-374: GB 管理">
            <a:extLst>
              <a:ext uri="{FF2B5EF4-FFF2-40B4-BE49-F238E27FC236}">
                <a16:creationId xmlns:a16="http://schemas.microsoft.com/office/drawing/2014/main" id="{76F57F06-D237-40EB-8501-C0713759F470}"/>
              </a:ext>
            </a:extLst>
          </p:cNvPr>
          <p:cNvSpPr txBox="1"/>
          <p:nvPr/>
        </p:nvSpPr>
        <p:spPr>
          <a:xfrm>
            <a:off x="10581480" y="6404509"/>
            <a:ext cx="38472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管理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48" name="object-375: 能力 / bank / 错误">
            <a:extLst>
              <a:ext uri="{FF2B5EF4-FFF2-40B4-BE49-F238E27FC236}">
                <a16:creationId xmlns:a16="http://schemas.microsoft.com/office/drawing/2014/main" id="{DF247AB9-4297-42BE-8D18-1EDCEA92D717}"/>
              </a:ext>
            </a:extLst>
          </p:cNvPr>
          <p:cNvSpPr txBox="1"/>
          <p:nvPr/>
        </p:nvSpPr>
        <p:spPr>
          <a:xfrm>
            <a:off x="10317638" y="6543904"/>
            <a:ext cx="75661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能力 / bank / 错误</a:t>
            </a:r>
          </a:p>
        </p:txBody>
      </p:sp>
      <p:cxnSp>
        <p:nvCxnSpPr>
          <p:cNvPr id="1149" name="legend-314D66">
            <a:extLst>
              <a:ext uri="{FF2B5EF4-FFF2-40B4-BE49-F238E27FC236}">
                <a16:creationId xmlns:a16="http://schemas.microsoft.com/office/drawing/2014/main" id="{D48C70D7-F2C8-4BCA-A764-A767E03B0994}"/>
              </a:ext>
            </a:extLst>
          </p:cNvPr>
          <p:cNvCxnSpPr/>
          <p:nvPr/>
        </p:nvCxnSpPr>
        <p:spPr>
          <a:xfrm>
            <a:off x="11387290" y="2686502"/>
            <a:ext cx="223520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150" name="object-377: AXI 请求 / 数据">
            <a:extLst>
              <a:ext uri="{FF2B5EF4-FFF2-40B4-BE49-F238E27FC236}">
                <a16:creationId xmlns:a16="http://schemas.microsoft.com/office/drawing/2014/main" id="{D19FA279-B019-40A0-80F0-D37345270BC9}"/>
              </a:ext>
            </a:extLst>
          </p:cNvPr>
          <p:cNvSpPr txBox="1"/>
          <p:nvPr/>
        </p:nvSpPr>
        <p:spPr>
          <a:xfrm>
            <a:off x="11645256" y="2610385"/>
            <a:ext cx="546744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</a:t>
            </a:r>
            <a:r>
              <a:rPr sz="8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请求</a:t>
            </a:r>
            <a:r>
              <a:rPr sz="8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数据</a:t>
            </a:r>
            <a:endParaRPr sz="800" dirty="0">
              <a:solidFill>
                <a:srgbClr val="314D66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1" name="legend-187C78">
            <a:extLst>
              <a:ext uri="{FF2B5EF4-FFF2-40B4-BE49-F238E27FC236}">
                <a16:creationId xmlns:a16="http://schemas.microsoft.com/office/drawing/2014/main" id="{B8504D5C-CC0C-4D1E-9AAF-36DC929E006E}"/>
              </a:ext>
            </a:extLst>
          </p:cNvPr>
          <p:cNvCxnSpPr/>
          <p:nvPr/>
        </p:nvCxnSpPr>
        <p:spPr>
          <a:xfrm>
            <a:off x="11378364" y="2924292"/>
            <a:ext cx="223520" cy="0"/>
          </a:xfrm>
          <a:prstGeom prst="line">
            <a:avLst/>
          </a:prstGeom>
          <a:ln w="24384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152" name="object-379: GB 读写">
            <a:extLst>
              <a:ext uri="{FF2B5EF4-FFF2-40B4-BE49-F238E27FC236}">
                <a16:creationId xmlns:a16="http://schemas.microsoft.com/office/drawing/2014/main" id="{7A3B741E-CC06-4663-B3A5-906794257738}"/>
              </a:ext>
            </a:extLst>
          </p:cNvPr>
          <p:cNvSpPr txBox="1"/>
          <p:nvPr/>
        </p:nvSpPr>
        <p:spPr>
          <a:xfrm>
            <a:off x="11670460" y="2886700"/>
            <a:ext cx="414865" cy="12311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读写</a:t>
            </a:r>
            <a:endParaRPr sz="800" dirty="0">
              <a:solidFill>
                <a:srgbClr val="187C78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3" name="legend-B96043">
            <a:extLst>
              <a:ext uri="{FF2B5EF4-FFF2-40B4-BE49-F238E27FC236}">
                <a16:creationId xmlns:a16="http://schemas.microsoft.com/office/drawing/2014/main" id="{E895588E-BB73-4229-80C5-7F71696E9926}"/>
              </a:ext>
            </a:extLst>
          </p:cNvPr>
          <p:cNvCxnSpPr/>
          <p:nvPr/>
        </p:nvCxnSpPr>
        <p:spPr>
          <a:xfrm>
            <a:off x="11378364" y="3123357"/>
            <a:ext cx="223520" cy="0"/>
          </a:xfrm>
          <a:prstGeom prst="line">
            <a:avLst/>
          </a:prstGeom>
          <a:ln w="24384" cap="flat">
            <a:solidFill>
              <a:srgbClr val="B96043"/>
            </a:solidFill>
            <a:tailEnd type="triangle" w="med" len="med"/>
          </a:ln>
          <a:effectLst/>
        </p:spPr>
      </p:cxnSp>
      <p:sp>
        <p:nvSpPr>
          <p:cNvPr id="1154" name="object-381: 像素流">
            <a:extLst>
              <a:ext uri="{FF2B5EF4-FFF2-40B4-BE49-F238E27FC236}">
                <a16:creationId xmlns:a16="http://schemas.microsoft.com/office/drawing/2014/main" id="{3D0AACF3-BEDD-45BD-BCE9-6489BC0535FE}"/>
              </a:ext>
            </a:extLst>
          </p:cNvPr>
          <p:cNvSpPr txBox="1"/>
          <p:nvPr/>
        </p:nvSpPr>
        <p:spPr>
          <a:xfrm>
            <a:off x="11653382" y="3054448"/>
            <a:ext cx="3077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800" dirty="0" err="1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像素流</a:t>
            </a:r>
            <a:endParaRPr sz="800" dirty="0">
              <a:solidFill>
                <a:srgbClr val="B96043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5" name="legend-765489">
            <a:extLst>
              <a:ext uri="{FF2B5EF4-FFF2-40B4-BE49-F238E27FC236}">
                <a16:creationId xmlns:a16="http://schemas.microsoft.com/office/drawing/2014/main" id="{FAB5FF2C-C129-45F3-A80C-C3C411708100}"/>
              </a:ext>
            </a:extLst>
          </p:cNvPr>
          <p:cNvCxnSpPr/>
          <p:nvPr/>
        </p:nvCxnSpPr>
        <p:spPr>
          <a:xfrm>
            <a:off x="11378364" y="3302850"/>
            <a:ext cx="223520" cy="0"/>
          </a:xfrm>
          <a:prstGeom prst="line">
            <a:avLst/>
          </a:prstGeom>
          <a:ln w="24384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56" name="object-383: 配置 / 控制">
            <a:extLst>
              <a:ext uri="{FF2B5EF4-FFF2-40B4-BE49-F238E27FC236}">
                <a16:creationId xmlns:a16="http://schemas.microsoft.com/office/drawing/2014/main" id="{D1F8BDB7-8760-465C-91A5-FF1CDECEDED0}"/>
              </a:ext>
            </a:extLst>
          </p:cNvPr>
          <p:cNvSpPr txBox="1"/>
          <p:nvPr/>
        </p:nvSpPr>
        <p:spPr>
          <a:xfrm>
            <a:off x="11660508" y="3244220"/>
            <a:ext cx="514564" cy="12311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配置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控制</a:t>
            </a:r>
            <a:endParaRPr sz="800" dirty="0">
              <a:solidFill>
                <a:srgbClr val="76548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57" name="legend-dash">
            <a:extLst>
              <a:ext uri="{FF2B5EF4-FFF2-40B4-BE49-F238E27FC236}">
                <a16:creationId xmlns:a16="http://schemas.microsoft.com/office/drawing/2014/main" id="{DE0AA521-9BB8-482B-A591-AF0C06A14B81}"/>
              </a:ext>
            </a:extLst>
          </p:cNvPr>
          <p:cNvSpPr/>
          <p:nvPr/>
        </p:nvSpPr>
        <p:spPr>
          <a:xfrm>
            <a:off x="11391536" y="3484029"/>
            <a:ext cx="182880" cy="88053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58" name="object-385: 虚线：可选或新增候选">
            <a:extLst>
              <a:ext uri="{FF2B5EF4-FFF2-40B4-BE49-F238E27FC236}">
                <a16:creationId xmlns:a16="http://schemas.microsoft.com/office/drawing/2014/main" id="{4908C77F-5911-4B28-BE29-98064CB4BEB0}"/>
              </a:ext>
            </a:extLst>
          </p:cNvPr>
          <p:cNvSpPr txBox="1"/>
          <p:nvPr/>
        </p:nvSpPr>
        <p:spPr>
          <a:xfrm>
            <a:off x="11659706" y="3428900"/>
            <a:ext cx="532293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虚线：可选或新增候选</a:t>
            </a:r>
            <a:endParaRPr sz="8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200" name="filter-width-direct"/>
          <p:cNvCxnSpPr/>
          <p:nvPr/>
        </p:nvCxnSpPr>
        <p:spPr>
          <a:xfrm>
            <a:off x="2053173" y="1832661"/>
            <a:ext cx="745067" cy="0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1300" name="m5-target-drop"/>
          <p:cNvCxnSpPr/>
          <p:nvPr/>
        </p:nvCxnSpPr>
        <p:spPr>
          <a:xfrm>
            <a:off x="7771795" y="3529245"/>
            <a:ext cx="0" cy="172720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301" name="gb-interface-to-controller"/>
          <p:cNvSpPr/>
          <p:nvPr/>
        </p:nvSpPr>
        <p:spPr>
          <a:xfrm>
            <a:off x="4864100" y="2161032"/>
            <a:ext cx="5092700" cy="1801368"/>
          </a:xfrm>
          <a:custGeom>
            <a:avLst/>
            <a:gdLst/>
            <a:ahLst/>
            <a:cxnLst/>
            <a:rect l="0" t="0" r="r" b="b"/>
            <a:pathLst>
              <a:path w="5092700" h="1801368" fill="none">
                <a:moveTo>
                  <a:pt x="3517295" y="1801368"/>
                </a:moveTo>
                <a:lnTo>
                  <a:pt x="3592286" y="1801368"/>
                </a:lnTo>
                <a:lnTo>
                  <a:pt x="3592286" y="1456267"/>
                </a:lnTo>
                <a:lnTo>
                  <a:pt x="4236236" y="1456267"/>
                </a:lnTo>
                <a:cubicBezTo>
                  <a:pt x="4236236" y="1395307"/>
                  <a:pt x="4317516" y="1395307"/>
                  <a:pt x="4317516" y="1456267"/>
                </a:cubicBezTo>
                <a:lnTo>
                  <a:pt x="5092700" y="1456267"/>
                </a:lnTo>
                <a:lnTo>
                  <a:pt x="5092700" y="311235"/>
                </a:lnTo>
                <a:lnTo>
                  <a:pt x="0" y="311235"/>
                </a:lnTo>
                <a:lnTo>
                  <a:pt x="0" y="0"/>
                </a:lnTo>
              </a:path>
            </a:pathLst>
          </a:custGeom>
          <a:noFill/>
          <a:ln w="26010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2" name="target-port-m5"/>
          <p:cNvSpPr/>
          <p:nvPr/>
        </p:nvSpPr>
        <p:spPr>
          <a:xfrm>
            <a:off x="7609235" y="3431032"/>
            <a:ext cx="325120" cy="9821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3" name="target-label-m5: M5"/>
          <p:cNvSpPr txBox="1"/>
          <p:nvPr/>
        </p:nvSpPr>
        <p:spPr>
          <a:xfrm>
            <a:off x="7653262" y="3439837"/>
            <a:ext cx="237067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M5</a:t>
            </a:r>
          </a:p>
        </p:txBody>
      </p:sp>
      <p:sp>
        <p:nvSpPr>
          <p:cNvPr id="1304" name="gb-axi-interface"/>
          <p:cNvSpPr/>
          <p:nvPr/>
        </p:nvSpPr>
        <p:spPr>
          <a:xfrm>
            <a:off x="7162195" y="3701965"/>
            <a:ext cx="1219200" cy="5249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5" name="gb-interface-title: GB AXI 接口"/>
          <p:cNvSpPr txBox="1"/>
          <p:nvPr/>
        </p:nvSpPr>
        <p:spPr>
          <a:xfrm>
            <a:off x="7196062" y="3788325"/>
            <a:ext cx="115146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AXI 接口</a:t>
            </a:r>
          </a:p>
        </p:txBody>
      </p:sp>
      <p:sp>
        <p:nvSpPr>
          <p:cNvPr id="1306" name="gb-interface-clients: CPU / Ara 共用"/>
          <p:cNvSpPr txBox="1"/>
          <p:nvPr/>
        </p:nvSpPr>
        <p:spPr>
          <a:xfrm>
            <a:off x="7196062" y="3920405"/>
            <a:ext cx="115146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共用</a:t>
            </a:r>
          </a:p>
        </p:txBody>
      </p:sp>
      <p:sp>
        <p:nvSpPr>
          <p:cNvPr id="1307" name="gb-interface-width: 64-bit 数据窗口"/>
          <p:cNvSpPr txBox="1"/>
          <p:nvPr/>
        </p:nvSpPr>
        <p:spPr>
          <a:xfrm>
            <a:off x="7196062" y="4049099"/>
            <a:ext cx="115146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64-bit 数据窗口</a:t>
            </a:r>
          </a:p>
        </p:txBody>
      </p:sp>
    </p:spTree>
    <p:extLst>
      <p:ext uri="{BB962C8B-B14F-4D97-AF65-F5344CB8AC3E}">
        <p14:creationId xmlns:p14="http://schemas.microsoft.com/office/powerpoint/2010/main" val="2187131506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oc-boundary"/>
          <p:cNvSpPr/>
          <p:nvPr/>
        </p:nvSpPr>
        <p:spPr>
          <a:xfrm>
            <a:off x="71967" y="67733"/>
            <a:ext cx="11260667" cy="6716099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compute"/>
          <p:cNvSpPr/>
          <p:nvPr/>
        </p:nvSpPr>
        <p:spPr>
          <a:xfrm>
            <a:off x="241300" y="203200"/>
            <a:ext cx="3166533" cy="1439333"/>
          </a:xfrm>
          <a:prstGeom prst="rect">
            <a:avLst/>
          </a:prstGeom>
          <a:solidFill>
            <a:srgbClr val="F1D7D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gb-region"/>
          <p:cNvSpPr/>
          <p:nvPr/>
        </p:nvSpPr>
        <p:spPr>
          <a:xfrm>
            <a:off x="3594100" y="203200"/>
            <a:ext cx="3843867" cy="1439333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image-rx"/>
          <p:cNvSpPr/>
          <p:nvPr/>
        </p:nvSpPr>
        <p:spPr>
          <a:xfrm>
            <a:off x="7607300" y="203200"/>
            <a:ext cx="3606800" cy="1439333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g-region"/>
          <p:cNvSpPr/>
          <p:nvPr/>
        </p:nvSpPr>
        <p:spPr>
          <a:xfrm>
            <a:off x="173567" y="3776133"/>
            <a:ext cx="5825067" cy="1761067"/>
          </a:xfrm>
          <a:prstGeom prst="rect">
            <a:avLst/>
          </a:prstGeom>
          <a:solidFill>
            <a:srgbClr val="FAF8FB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ddr-controller"/>
          <p:cNvSpPr/>
          <p:nvPr/>
        </p:nvSpPr>
        <p:spPr>
          <a:xfrm>
            <a:off x="6129867" y="5300133"/>
            <a:ext cx="3793067" cy="5757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oi-region"/>
          <p:cNvSpPr/>
          <p:nvPr/>
        </p:nvSpPr>
        <p:spPr>
          <a:xfrm>
            <a:off x="10160000" y="3776133"/>
            <a:ext cx="1083733" cy="1794933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compression-front"/>
          <p:cNvSpPr/>
          <p:nvPr/>
        </p:nvSpPr>
        <p:spPr>
          <a:xfrm>
            <a:off x="6129867" y="3840480"/>
            <a:ext cx="3793067" cy="1374987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shared-payload-services"/>
          <p:cNvSpPr/>
          <p:nvPr/>
        </p:nvSpPr>
        <p:spPr>
          <a:xfrm>
            <a:off x="7095067" y="4233333"/>
            <a:ext cx="2760133" cy="6604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cpu-ara-command"/>
          <p:cNvSpPr/>
          <p:nvPr/>
        </p:nvSpPr>
        <p:spPr>
          <a:xfrm>
            <a:off x="1172633" y="677333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ara-filter-edge"/>
          <p:cNvSpPr/>
          <p:nvPr/>
        </p:nvSpPr>
        <p:spPr>
          <a:xfrm>
            <a:off x="1731433" y="897467"/>
            <a:ext cx="1" cy="152400"/>
          </a:xfrm>
          <a:custGeom>
            <a:avLst/>
            <a:gdLst/>
            <a:ahLst/>
            <a:cxnLst/>
            <a:rect l="0" t="0" r="r" b="b"/>
            <a:pathLst>
              <a:path w="1" h="152400" fill="none">
                <a:moveTo>
                  <a:pt x="0" y="0"/>
                </a:moveTo>
                <a:lnTo>
                  <a:pt x="0" y="15240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filter-width"/>
          <p:cNvSpPr/>
          <p:nvPr/>
        </p:nvSpPr>
        <p:spPr>
          <a:xfrm>
            <a:off x="2053167" y="1195493"/>
            <a:ext cx="745067" cy="1"/>
          </a:xfrm>
          <a:custGeom>
            <a:avLst/>
            <a:gdLst/>
            <a:ahLst/>
            <a:cxnLst/>
            <a:rect l="0" t="0" r="r" b="b"/>
            <a:pathLst>
              <a:path w="745067" h="1" fill="none">
                <a:moveTo>
                  <a:pt x="0" y="0"/>
                </a:moveTo>
                <a:lnTo>
                  <a:pt x="745067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npu-gb"/>
          <p:cNvSpPr/>
          <p:nvPr/>
        </p:nvSpPr>
        <p:spPr>
          <a:xfrm>
            <a:off x="4593167" y="846667"/>
            <a:ext cx="118533" cy="1"/>
          </a:xfrm>
          <a:custGeom>
            <a:avLst/>
            <a:gdLst/>
            <a:ahLst/>
            <a:cxnLst/>
            <a:rect l="0" t="0" r="r" b="b"/>
            <a:pathLst>
              <a:path w="118533" h="1" fill="none">
                <a:moveTo>
                  <a:pt x="0" y="0"/>
                </a:moveTo>
                <a:lnTo>
                  <a:pt x="118533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adapter-sram"/>
          <p:cNvSpPr/>
          <p:nvPr/>
        </p:nvSpPr>
        <p:spPr>
          <a:xfrm>
            <a:off x="5490633" y="914400"/>
            <a:ext cx="135467" cy="1"/>
          </a:xfrm>
          <a:custGeom>
            <a:avLst/>
            <a:gdLst/>
            <a:ahLst/>
            <a:cxnLst/>
            <a:rect l="0" t="0" r="r" b="b"/>
            <a:pathLst>
              <a:path w="135467" h="1" fill="none">
                <a:moveTo>
                  <a:pt x="0" y="0"/>
                </a:moveTo>
                <a:lnTo>
                  <a:pt x="135467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mover-gb"/>
          <p:cNvSpPr/>
          <p:nvPr/>
        </p:nvSpPr>
        <p:spPr>
          <a:xfrm>
            <a:off x="5490633" y="1371600"/>
            <a:ext cx="135467" cy="1"/>
          </a:xfrm>
          <a:custGeom>
            <a:avLst/>
            <a:gdLst/>
            <a:ahLst/>
            <a:cxnLst/>
            <a:rect l="0" t="0" r="r" b="b"/>
            <a:pathLst>
              <a:path w="135467" h="1" fill="none">
                <a:moveTo>
                  <a:pt x="135467" y="0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lvds-rx-to-rx-cdc"/>
          <p:cNvSpPr/>
          <p:nvPr/>
        </p:nvSpPr>
        <p:spPr>
          <a:xfrm>
            <a:off x="8250767" y="982133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0" y="0"/>
                </a:moveTo>
                <a:lnTo>
                  <a:pt x="10160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x-cdc-to-isp"/>
          <p:cNvSpPr/>
          <p:nvPr/>
        </p:nvSpPr>
        <p:spPr>
          <a:xfrm>
            <a:off x="8894233" y="982133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0" y="0"/>
                </a:moveTo>
                <a:lnTo>
                  <a:pt x="10160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isp-to-frame-select"/>
          <p:cNvSpPr/>
          <p:nvPr/>
        </p:nvSpPr>
        <p:spPr>
          <a:xfrm>
            <a:off x="9554633" y="982133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0" y="0"/>
                </a:moveTo>
                <a:lnTo>
                  <a:pt x="10160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frame-select-to-frame-dma"/>
          <p:cNvSpPr/>
          <p:nvPr/>
        </p:nvSpPr>
        <p:spPr>
          <a:xfrm>
            <a:off x="10265833" y="982133"/>
            <a:ext cx="118533" cy="1"/>
          </a:xfrm>
          <a:custGeom>
            <a:avLst/>
            <a:gdLst/>
            <a:ahLst/>
            <a:cxnLst/>
            <a:rect l="0" t="0" r="r" b="b"/>
            <a:pathLst>
              <a:path w="118533" h="1" fill="none">
                <a:moveTo>
                  <a:pt x="0" y="0"/>
                </a:moveTo>
                <a:lnTo>
                  <a:pt x="118533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aw-bypass"/>
          <p:cNvSpPr/>
          <p:nvPr/>
        </p:nvSpPr>
        <p:spPr>
          <a:xfrm>
            <a:off x="8623300" y="524933"/>
            <a:ext cx="1337733" cy="152400"/>
          </a:xfrm>
          <a:custGeom>
            <a:avLst/>
            <a:gdLst/>
            <a:ahLst/>
            <a:cxnLst/>
            <a:rect l="0" t="0" r="r" b="b"/>
            <a:pathLst>
              <a:path w="1337733" h="152400" fill="none">
                <a:moveTo>
                  <a:pt x="0" y="152400"/>
                </a:moveTo>
                <a:lnTo>
                  <a:pt x="0" y="0"/>
                </a:lnTo>
                <a:lnTo>
                  <a:pt x="1337733" y="0"/>
                </a:lnTo>
                <a:lnTo>
                  <a:pt x="1337733" y="15240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isp-gb"/>
          <p:cNvSpPr/>
          <p:nvPr/>
        </p:nvSpPr>
        <p:spPr>
          <a:xfrm>
            <a:off x="5101167" y="1168400"/>
            <a:ext cx="3894667" cy="524933"/>
          </a:xfrm>
          <a:custGeom>
            <a:avLst/>
            <a:gdLst/>
            <a:ahLst/>
            <a:cxnLst/>
            <a:rect l="0" t="0" r="r" b="b"/>
            <a:pathLst>
              <a:path w="3894667" h="524933" fill="none">
                <a:moveTo>
                  <a:pt x="3894667" y="0"/>
                </a:moveTo>
                <a:lnTo>
                  <a:pt x="3839633" y="0"/>
                </a:lnTo>
                <a:lnTo>
                  <a:pt x="3839633" y="524933"/>
                </a:lnTo>
                <a:lnTo>
                  <a:pt x="0" y="524933"/>
                </a:lnTo>
                <a:lnTo>
                  <a:pt x="0" y="35560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master-1"/>
          <p:cNvSpPr/>
          <p:nvPr/>
        </p:nvSpPr>
        <p:spPr>
          <a:xfrm>
            <a:off x="1838678" y="2218267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master-3"/>
          <p:cNvSpPr/>
          <p:nvPr/>
        </p:nvSpPr>
        <p:spPr>
          <a:xfrm>
            <a:off x="3968515" y="2218267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master-4"/>
          <p:cNvSpPr/>
          <p:nvPr/>
        </p:nvSpPr>
        <p:spPr>
          <a:xfrm>
            <a:off x="5033433" y="2218267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master-5"/>
          <p:cNvSpPr/>
          <p:nvPr/>
        </p:nvSpPr>
        <p:spPr>
          <a:xfrm>
            <a:off x="6098352" y="2218267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master-6"/>
          <p:cNvSpPr/>
          <p:nvPr/>
        </p:nvSpPr>
        <p:spPr>
          <a:xfrm>
            <a:off x="7163270" y="2218267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master-7"/>
          <p:cNvSpPr/>
          <p:nvPr/>
        </p:nvSpPr>
        <p:spPr>
          <a:xfrm>
            <a:off x="8228189" y="2218267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master-8"/>
          <p:cNvSpPr/>
          <p:nvPr/>
        </p:nvSpPr>
        <p:spPr>
          <a:xfrm>
            <a:off x="9293107" y="2218267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cpu-xbar"/>
          <p:cNvSpPr/>
          <p:nvPr/>
        </p:nvSpPr>
        <p:spPr>
          <a:xfrm>
            <a:off x="773759" y="1202267"/>
            <a:ext cx="1" cy="1120987"/>
          </a:xfrm>
          <a:custGeom>
            <a:avLst/>
            <a:gdLst/>
            <a:ahLst/>
            <a:cxnLst/>
            <a:rect l="0" t="0" r="r" b="b"/>
            <a:pathLst>
              <a:path w="1" h="1120987" fill="none">
                <a:moveTo>
                  <a:pt x="0" y="0"/>
                </a:moveTo>
                <a:lnTo>
                  <a:pt x="0" y="1120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ara-xbar"/>
          <p:cNvSpPr/>
          <p:nvPr/>
        </p:nvSpPr>
        <p:spPr>
          <a:xfrm>
            <a:off x="2903596" y="1341120"/>
            <a:ext cx="148637" cy="982133"/>
          </a:xfrm>
          <a:custGeom>
            <a:avLst/>
            <a:gdLst/>
            <a:ahLst/>
            <a:cxnLst/>
            <a:rect l="0" t="0" r="r" b="b"/>
            <a:pathLst>
              <a:path w="148637" h="982133" fill="none">
                <a:moveTo>
                  <a:pt x="148637" y="0"/>
                </a:moveTo>
                <a:lnTo>
                  <a:pt x="148637" y="453813"/>
                </a:lnTo>
                <a:lnTo>
                  <a:pt x="0" y="453813"/>
                </a:lnTo>
                <a:lnTo>
                  <a:pt x="0" y="98213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arget-0"/>
          <p:cNvSpPr/>
          <p:nvPr/>
        </p:nvSpPr>
        <p:spPr>
          <a:xfrm>
            <a:off x="925890" y="2875280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arget-1"/>
          <p:cNvSpPr/>
          <p:nvPr/>
        </p:nvSpPr>
        <p:spPr>
          <a:xfrm>
            <a:off x="2295071" y="2875280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arget-2"/>
          <p:cNvSpPr/>
          <p:nvPr/>
        </p:nvSpPr>
        <p:spPr>
          <a:xfrm>
            <a:off x="3664252" y="2875280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atomics-llc"/>
          <p:cNvSpPr/>
          <p:nvPr/>
        </p:nvSpPr>
        <p:spPr>
          <a:xfrm>
            <a:off x="3647319" y="3393440"/>
            <a:ext cx="84667" cy="1"/>
          </a:xfrm>
          <a:custGeom>
            <a:avLst/>
            <a:gdLst/>
            <a:ahLst/>
            <a:cxnLst/>
            <a:rect l="0" t="0" r="r" b="b"/>
            <a:pathLst>
              <a:path w="84667" h="1" fill="none">
                <a:moveTo>
                  <a:pt x="0" y="0"/>
                </a:moveTo>
                <a:lnTo>
                  <a:pt x="84667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arget-3"/>
          <p:cNvSpPr/>
          <p:nvPr/>
        </p:nvSpPr>
        <p:spPr>
          <a:xfrm>
            <a:off x="5033433" y="2875280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arget-4"/>
          <p:cNvSpPr/>
          <p:nvPr/>
        </p:nvSpPr>
        <p:spPr>
          <a:xfrm>
            <a:off x="6402614" y="2875280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arget-5"/>
          <p:cNvSpPr/>
          <p:nvPr/>
        </p:nvSpPr>
        <p:spPr>
          <a:xfrm>
            <a:off x="7771795" y="2875280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arget-6"/>
          <p:cNvSpPr/>
          <p:nvPr/>
        </p:nvSpPr>
        <p:spPr>
          <a:xfrm>
            <a:off x="9140976" y="2875280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m5-gb"/>
          <p:cNvSpPr/>
          <p:nvPr/>
        </p:nvSpPr>
        <p:spPr>
          <a:xfrm>
            <a:off x="4910667" y="1524000"/>
            <a:ext cx="5063067" cy="1778000"/>
          </a:xfrm>
          <a:custGeom>
            <a:avLst/>
            <a:gdLst/>
            <a:ahLst/>
            <a:cxnLst/>
            <a:rect l="0" t="0" r="r" b="b"/>
            <a:pathLst>
              <a:path w="5063067" h="1778000" fill="none">
                <a:moveTo>
                  <a:pt x="3470729" y="1778000"/>
                </a:moveTo>
                <a:lnTo>
                  <a:pt x="3539067" y="1778000"/>
                </a:lnTo>
                <a:lnTo>
                  <a:pt x="3539067" y="1422400"/>
                </a:lnTo>
                <a:lnTo>
                  <a:pt x="4209990" y="1422400"/>
                </a:lnTo>
                <a:cubicBezTo>
                  <a:pt x="4223536" y="1404338"/>
                  <a:pt x="4237083" y="1404338"/>
                  <a:pt x="4250630" y="1422400"/>
                </a:cubicBezTo>
                <a:lnTo>
                  <a:pt x="5063067" y="1422400"/>
                </a:lnTo>
                <a:lnTo>
                  <a:pt x="5063067" y="237067"/>
                </a:lnTo>
                <a:lnTo>
                  <a:pt x="0" y="237067"/>
                </a:ln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emmc-physical"/>
          <p:cNvSpPr/>
          <p:nvPr/>
        </p:nvSpPr>
        <p:spPr>
          <a:xfrm>
            <a:off x="8712482" y="1793804"/>
            <a:ext cx="2700584" cy="255129"/>
          </a:xfrm>
          <a:custGeom>
            <a:avLst/>
            <a:gdLst/>
            <a:ahLst/>
            <a:cxnLst/>
            <a:rect l="0" t="0" r="r" b="b"/>
            <a:pathLst>
              <a:path w="2700584" h="255129" fill="none">
                <a:moveTo>
                  <a:pt x="2700584" y="255129"/>
                </a:moveTo>
                <a:lnTo>
                  <a:pt x="2632851" y="255129"/>
                </a:lnTo>
                <a:lnTo>
                  <a:pt x="2632851" y="18062"/>
                </a:lnTo>
                <a:lnTo>
                  <a:pt x="1281571" y="18062"/>
                </a:lnTo>
                <a:cubicBezTo>
                  <a:pt x="1268024" y="0"/>
                  <a:pt x="1254478" y="0"/>
                  <a:pt x="1240931" y="18062"/>
                </a:cubicBezTo>
                <a:lnTo>
                  <a:pt x="38664" y="18062"/>
                </a:lnTo>
                <a:lnTo>
                  <a:pt x="38664" y="255129"/>
                </a:lnTo>
                <a:lnTo>
                  <a:pt x="0" y="255129"/>
                </a:lnTo>
              </a:path>
            </a:pathLst>
          </a:custGeom>
          <a:noFill/>
          <a:ln w="16256" cap="flat">
            <a:solidFill>
              <a:srgbClr val="93939D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bridge-regbus"/>
          <p:cNvSpPr/>
          <p:nvPr/>
        </p:nvSpPr>
        <p:spPr>
          <a:xfrm>
            <a:off x="2295071" y="3572933"/>
            <a:ext cx="1" cy="270933"/>
          </a:xfrm>
          <a:custGeom>
            <a:avLst/>
            <a:gdLst/>
            <a:ahLst/>
            <a:cxnLst/>
            <a:rect l="0" t="0" r="r" b="b"/>
            <a:pathLst>
              <a:path w="1" h="270933" fill="none">
                <a:moveTo>
                  <a:pt x="0" y="0"/>
                </a:moveTo>
                <a:lnTo>
                  <a:pt x="0" y="270933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reg-column-0"/>
          <p:cNvSpPr/>
          <p:nvPr/>
        </p:nvSpPr>
        <p:spPr>
          <a:xfrm>
            <a:off x="285327" y="4064000"/>
            <a:ext cx="1" cy="1249680"/>
          </a:xfrm>
          <a:custGeom>
            <a:avLst/>
            <a:gdLst/>
            <a:ahLst/>
            <a:cxnLst/>
            <a:rect l="0" t="0" r="r" b="b"/>
            <a:pathLst>
              <a:path w="1" h="1249680" fill="none">
                <a:moveTo>
                  <a:pt x="0" y="0"/>
                </a:moveTo>
                <a:lnTo>
                  <a:pt x="0" y="124968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bootrom-cfg"/>
          <p:cNvSpPr/>
          <p:nvPr/>
        </p:nvSpPr>
        <p:spPr>
          <a:xfrm>
            <a:off x="285327" y="4297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uart-cfg"/>
          <p:cNvSpPr/>
          <p:nvPr/>
        </p:nvSpPr>
        <p:spPr>
          <a:xfrm>
            <a:off x="285327" y="4636347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vga-regs-cfg"/>
          <p:cNvSpPr/>
          <p:nvPr/>
        </p:nvSpPr>
        <p:spPr>
          <a:xfrm>
            <a:off x="285327" y="4975013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irq-router-cfg"/>
          <p:cNvSpPr/>
          <p:nvPr/>
        </p:nvSpPr>
        <p:spPr>
          <a:xfrm>
            <a:off x="285327" y="5313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reg-column-1"/>
          <p:cNvSpPr/>
          <p:nvPr/>
        </p:nvSpPr>
        <p:spPr>
          <a:xfrm>
            <a:off x="1402927" y="4064000"/>
            <a:ext cx="1" cy="1249680"/>
          </a:xfrm>
          <a:custGeom>
            <a:avLst/>
            <a:gdLst/>
            <a:ahLst/>
            <a:cxnLst/>
            <a:rect l="0" t="0" r="r" b="b"/>
            <a:pathLst>
              <a:path w="1" h="1249680" fill="none">
                <a:moveTo>
                  <a:pt x="0" y="0"/>
                </a:moveTo>
                <a:lnTo>
                  <a:pt x="0" y="124968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clint-cfg"/>
          <p:cNvSpPr/>
          <p:nvPr/>
        </p:nvSpPr>
        <p:spPr>
          <a:xfrm>
            <a:off x="1402927" y="4297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i2c-cfg"/>
          <p:cNvSpPr/>
          <p:nvPr/>
        </p:nvSpPr>
        <p:spPr>
          <a:xfrm>
            <a:off x="1402927" y="4636347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usb-regs-cfg"/>
          <p:cNvSpPr/>
          <p:nvPr/>
        </p:nvSpPr>
        <p:spPr>
          <a:xfrm>
            <a:off x="1402927" y="4975013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axi-rt-config-cfg"/>
          <p:cNvSpPr/>
          <p:nvPr/>
        </p:nvSpPr>
        <p:spPr>
          <a:xfrm>
            <a:off x="1402927" y="5313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reg-column-2"/>
          <p:cNvSpPr/>
          <p:nvPr/>
        </p:nvSpPr>
        <p:spPr>
          <a:xfrm>
            <a:off x="2520527" y="4064000"/>
            <a:ext cx="1" cy="1249680"/>
          </a:xfrm>
          <a:custGeom>
            <a:avLst/>
            <a:gdLst/>
            <a:ahLst/>
            <a:cxnLst/>
            <a:rect l="0" t="0" r="r" b="b"/>
            <a:pathLst>
              <a:path w="1" h="1249680" fill="none">
                <a:moveTo>
                  <a:pt x="0" y="0"/>
                </a:moveTo>
                <a:lnTo>
                  <a:pt x="0" y="124968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soc-regs-cfg"/>
          <p:cNvSpPr/>
          <p:nvPr/>
        </p:nvSpPr>
        <p:spPr>
          <a:xfrm>
            <a:off x="2520527" y="4297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spi-cfg"/>
          <p:cNvSpPr/>
          <p:nvPr/>
        </p:nvSpPr>
        <p:spPr>
          <a:xfrm>
            <a:off x="2520527" y="4636347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err-vga-cfg"/>
          <p:cNvSpPr/>
          <p:nvPr/>
        </p:nvSpPr>
        <p:spPr>
          <a:xfrm>
            <a:off x="2520527" y="4975013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clic-cfg"/>
          <p:cNvSpPr/>
          <p:nvPr/>
        </p:nvSpPr>
        <p:spPr>
          <a:xfrm>
            <a:off x="2520527" y="5313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reg-column-3"/>
          <p:cNvSpPr/>
          <p:nvPr/>
        </p:nvSpPr>
        <p:spPr>
          <a:xfrm>
            <a:off x="3638127" y="4064000"/>
            <a:ext cx="1" cy="1249680"/>
          </a:xfrm>
          <a:custGeom>
            <a:avLst/>
            <a:gdLst/>
            <a:ahLst/>
            <a:cxnLst/>
            <a:rect l="0" t="0" r="r" b="b"/>
            <a:pathLst>
              <a:path w="1" h="1249680" fill="none">
                <a:moveTo>
                  <a:pt x="0" y="0"/>
                </a:moveTo>
                <a:lnTo>
                  <a:pt x="0" y="124968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plic-cfg"/>
          <p:cNvSpPr/>
          <p:nvPr/>
        </p:nvSpPr>
        <p:spPr>
          <a:xfrm>
            <a:off x="3638127" y="4297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gpio-cfg"/>
          <p:cNvSpPr/>
          <p:nvPr/>
        </p:nvSpPr>
        <p:spPr>
          <a:xfrm>
            <a:off x="3638127" y="4636347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err-dma-cfg"/>
          <p:cNvSpPr/>
          <p:nvPr/>
        </p:nvSpPr>
        <p:spPr>
          <a:xfrm>
            <a:off x="3638127" y="4975013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reg-error-cfg"/>
          <p:cNvSpPr/>
          <p:nvPr/>
        </p:nvSpPr>
        <p:spPr>
          <a:xfrm>
            <a:off x="3638127" y="5313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reg-column-4"/>
          <p:cNvSpPr/>
          <p:nvPr/>
        </p:nvSpPr>
        <p:spPr>
          <a:xfrm>
            <a:off x="4755727" y="4064000"/>
            <a:ext cx="1" cy="1249680"/>
          </a:xfrm>
          <a:custGeom>
            <a:avLst/>
            <a:gdLst/>
            <a:ahLst/>
            <a:cxnLst/>
            <a:rect l="0" t="0" r="r" b="b"/>
            <a:pathLst>
              <a:path w="1" h="1249680" fill="none">
                <a:moveTo>
                  <a:pt x="0" y="0"/>
                </a:moveTo>
                <a:lnTo>
                  <a:pt x="0" y="124968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llc-regs-cfg"/>
          <p:cNvSpPr/>
          <p:nvPr/>
        </p:nvSpPr>
        <p:spPr>
          <a:xfrm>
            <a:off x="4755727" y="4297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slink-regs-cfg"/>
          <p:cNvSpPr/>
          <p:nvPr/>
        </p:nvSpPr>
        <p:spPr>
          <a:xfrm>
            <a:off x="4755727" y="4636347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err-cpu-cfg"/>
          <p:cNvSpPr/>
          <p:nvPr/>
        </p:nvSpPr>
        <p:spPr>
          <a:xfrm>
            <a:off x="4755727" y="4975013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reg-ext-cfg"/>
          <p:cNvSpPr/>
          <p:nvPr/>
        </p:nvSpPr>
        <p:spPr>
          <a:xfrm>
            <a:off x="4755727" y="5313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ddr-arb-0"/>
          <p:cNvSpPr/>
          <p:nvPr/>
        </p:nvSpPr>
        <p:spPr>
          <a:xfrm>
            <a:off x="6604000" y="5347547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" name="ddr-arb-1"/>
          <p:cNvSpPr/>
          <p:nvPr/>
        </p:nvSpPr>
        <p:spPr>
          <a:xfrm>
            <a:off x="7535333" y="5347547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ddr-arb-2"/>
          <p:cNvSpPr/>
          <p:nvPr/>
        </p:nvSpPr>
        <p:spPr>
          <a:xfrm>
            <a:off x="8466667" y="5347547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" name="ddr-arb-3"/>
          <p:cNvSpPr/>
          <p:nvPr/>
        </p:nvSpPr>
        <p:spPr>
          <a:xfrm>
            <a:off x="9398000" y="5347547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" name="arb-rw"/>
          <p:cNvSpPr/>
          <p:nvPr/>
        </p:nvSpPr>
        <p:spPr>
          <a:xfrm>
            <a:off x="7001933" y="5537200"/>
            <a:ext cx="1" cy="33867"/>
          </a:xfrm>
          <a:custGeom>
            <a:avLst/>
            <a:gdLst/>
            <a:ahLst/>
            <a:cxnLst/>
            <a:rect l="0" t="0" r="r" b="b"/>
            <a:pathLst>
              <a:path w="1" h="33867" fill="none">
                <a:moveTo>
                  <a:pt x="0" y="0"/>
                </a:moveTo>
                <a:lnTo>
                  <a:pt x="0" y="3386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3" name="rw-command"/>
          <p:cNvSpPr/>
          <p:nvPr/>
        </p:nvSpPr>
        <p:spPr>
          <a:xfrm>
            <a:off x="7806267" y="5655733"/>
            <a:ext cx="406400" cy="1"/>
          </a:xfrm>
          <a:custGeom>
            <a:avLst/>
            <a:gdLst/>
            <a:ahLst/>
            <a:cxnLst/>
            <a:rect l="0" t="0" r="r" b="b"/>
            <a:pathLst>
              <a:path w="406400" h="1" fill="none">
                <a:moveTo>
                  <a:pt x="0" y="0"/>
                </a:moveTo>
                <a:lnTo>
                  <a:pt x="406400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" name="controller-phy"/>
          <p:cNvSpPr/>
          <p:nvPr/>
        </p:nvSpPr>
        <p:spPr>
          <a:xfrm>
            <a:off x="9855200" y="5655733"/>
            <a:ext cx="406400" cy="135467"/>
          </a:xfrm>
          <a:custGeom>
            <a:avLst/>
            <a:gdLst/>
            <a:ahLst/>
            <a:cxnLst/>
            <a:rect l="0" t="0" r="r" b="b"/>
            <a:pathLst>
              <a:path w="406400" h="135467" fill="none">
                <a:moveTo>
                  <a:pt x="0" y="0"/>
                </a:moveTo>
                <a:lnTo>
                  <a:pt x="203200" y="0"/>
                </a:lnTo>
                <a:lnTo>
                  <a:pt x="203200" y="135467"/>
                </a:lnTo>
                <a:lnTo>
                  <a:pt x="406400" y="135467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" name="phy-ddr"/>
          <p:cNvSpPr/>
          <p:nvPr/>
        </p:nvSpPr>
        <p:spPr>
          <a:xfrm>
            <a:off x="11125200" y="5791200"/>
            <a:ext cx="376767" cy="1"/>
          </a:xfrm>
          <a:custGeom>
            <a:avLst/>
            <a:gdLst/>
            <a:ahLst/>
            <a:cxnLst/>
            <a:rect l="0" t="0" r="r" b="b"/>
            <a:pathLst>
              <a:path w="376767" h="1" fill="none">
                <a:moveTo>
                  <a:pt x="0" y="0"/>
                </a:moveTo>
                <a:lnTo>
                  <a:pt x="376767" y="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6" name="roi-vdma-control"/>
          <p:cNvSpPr/>
          <p:nvPr/>
        </p:nvSpPr>
        <p:spPr>
          <a:xfrm>
            <a:off x="10701867" y="4436533"/>
            <a:ext cx="1" cy="50800"/>
          </a:xfrm>
          <a:custGeom>
            <a:avLst/>
            <a:gdLst/>
            <a:ahLst/>
            <a:cxnLst/>
            <a:rect l="0" t="0" r="r" b="b"/>
            <a:pathLst>
              <a:path w="1" h="50800" fill="none">
                <a:moveTo>
                  <a:pt x="0" y="0"/>
                </a:moveTo>
                <a:lnTo>
                  <a:pt x="0" y="5080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7" name="vdma-pixels"/>
          <p:cNvSpPr/>
          <p:nvPr/>
        </p:nvSpPr>
        <p:spPr>
          <a:xfrm>
            <a:off x="10701867" y="4826000"/>
            <a:ext cx="1" cy="50800"/>
          </a:xfrm>
          <a:custGeom>
            <a:avLst/>
            <a:gdLst/>
            <a:ahLst/>
            <a:cxnLst/>
            <a:rect l="0" t="0" r="r" b="b"/>
            <a:pathLst>
              <a:path w="1" h="50800" fill="none">
                <a:moveTo>
                  <a:pt x="0" y="0"/>
                </a:moveTo>
                <a:lnTo>
                  <a:pt x="0" y="5080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" name="fifo-lvds"/>
          <p:cNvSpPr/>
          <p:nvPr/>
        </p:nvSpPr>
        <p:spPr>
          <a:xfrm>
            <a:off x="10701867" y="5130800"/>
            <a:ext cx="1" cy="50800"/>
          </a:xfrm>
          <a:custGeom>
            <a:avLst/>
            <a:gdLst/>
            <a:ahLst/>
            <a:cxnLst/>
            <a:rect l="0" t="0" r="r" b="b"/>
            <a:pathLst>
              <a:path w="1" h="50800" fill="none">
                <a:moveTo>
                  <a:pt x="0" y="0"/>
                </a:moveTo>
                <a:lnTo>
                  <a:pt x="0" y="5080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9" name="llc-f0"/>
          <p:cNvSpPr/>
          <p:nvPr/>
        </p:nvSpPr>
        <p:spPr>
          <a:xfrm>
            <a:off x="4019852" y="3535680"/>
            <a:ext cx="2584148" cy="243840"/>
          </a:xfrm>
          <a:custGeom>
            <a:avLst/>
            <a:gdLst/>
            <a:ahLst/>
            <a:cxnLst/>
            <a:rect l="0" t="0" r="r" b="b"/>
            <a:pathLst>
              <a:path w="2584148" h="243840" fill="none">
                <a:moveTo>
                  <a:pt x="0" y="0"/>
                </a:moveTo>
                <a:lnTo>
                  <a:pt x="0" y="172720"/>
                </a:lnTo>
                <a:lnTo>
                  <a:pt x="2584148" y="172720"/>
                </a:lnTo>
                <a:lnTo>
                  <a:pt x="2584148" y="24384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" name="mover-f1"/>
          <p:cNvSpPr/>
          <p:nvPr/>
        </p:nvSpPr>
        <p:spPr>
          <a:xfrm>
            <a:off x="7336367" y="1371600"/>
            <a:ext cx="2688167" cy="2407920"/>
          </a:xfrm>
          <a:custGeom>
            <a:avLst/>
            <a:gdLst/>
            <a:ahLst/>
            <a:cxnLst/>
            <a:rect l="0" t="0" r="r" b="b"/>
            <a:pathLst>
              <a:path w="2688167" h="2407920" fill="none">
                <a:moveTo>
                  <a:pt x="0" y="0"/>
                </a:moveTo>
                <a:lnTo>
                  <a:pt x="165100" y="0"/>
                </a:lnTo>
                <a:lnTo>
                  <a:pt x="165100" y="301413"/>
                </a:lnTo>
                <a:cubicBezTo>
                  <a:pt x="183162" y="314960"/>
                  <a:pt x="183162" y="328507"/>
                  <a:pt x="165100" y="342053"/>
                </a:cubicBezTo>
                <a:lnTo>
                  <a:pt x="165100" y="369147"/>
                </a:lnTo>
                <a:cubicBezTo>
                  <a:pt x="183162" y="382693"/>
                  <a:pt x="183162" y="396240"/>
                  <a:pt x="165100" y="409787"/>
                </a:cubicBezTo>
                <a:lnTo>
                  <a:pt x="165100" y="457200"/>
                </a:lnTo>
                <a:lnTo>
                  <a:pt x="1394460" y="457200"/>
                </a:lnTo>
                <a:cubicBezTo>
                  <a:pt x="1408007" y="439138"/>
                  <a:pt x="1421553" y="439138"/>
                  <a:pt x="1435100" y="457200"/>
                </a:cubicBezTo>
                <a:lnTo>
                  <a:pt x="2617047" y="457200"/>
                </a:lnTo>
                <a:cubicBezTo>
                  <a:pt x="2630593" y="439138"/>
                  <a:pt x="2644140" y="439138"/>
                  <a:pt x="2657687" y="457200"/>
                </a:cubicBezTo>
                <a:lnTo>
                  <a:pt x="2688167" y="457200"/>
                </a:lnTo>
                <a:lnTo>
                  <a:pt x="2688167" y="2269067"/>
                </a:lnTo>
                <a:lnTo>
                  <a:pt x="198967" y="2269067"/>
                </a:lnTo>
                <a:lnTo>
                  <a:pt x="198967" y="24079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1" name="frame-f2"/>
          <p:cNvSpPr/>
          <p:nvPr/>
        </p:nvSpPr>
        <p:spPr>
          <a:xfrm>
            <a:off x="8466667" y="1151467"/>
            <a:ext cx="2727396" cy="2628053"/>
          </a:xfrm>
          <a:custGeom>
            <a:avLst/>
            <a:gdLst/>
            <a:ahLst/>
            <a:cxnLst/>
            <a:rect l="0" t="0" r="r" b="b"/>
            <a:pathLst>
              <a:path w="2727396" h="2628053" fill="none">
                <a:moveTo>
                  <a:pt x="2645833" y="0"/>
                </a:moveTo>
                <a:lnTo>
                  <a:pt x="2709333" y="0"/>
                </a:lnTo>
                <a:lnTo>
                  <a:pt x="2709333" y="640080"/>
                </a:lnTo>
                <a:cubicBezTo>
                  <a:pt x="2727396" y="653627"/>
                  <a:pt x="2727396" y="667173"/>
                  <a:pt x="2709333" y="680720"/>
                </a:cubicBezTo>
                <a:lnTo>
                  <a:pt x="2709333" y="2438400"/>
                </a:lnTo>
                <a:lnTo>
                  <a:pt x="1578187" y="2438400"/>
                </a:lnTo>
                <a:cubicBezTo>
                  <a:pt x="1564640" y="2420338"/>
                  <a:pt x="1551093" y="2420338"/>
                  <a:pt x="1537547" y="2438400"/>
                </a:cubicBezTo>
                <a:lnTo>
                  <a:pt x="0" y="2438400"/>
                </a:lnTo>
                <a:lnTo>
                  <a:pt x="0" y="2468880"/>
                </a:lnTo>
                <a:cubicBezTo>
                  <a:pt x="18062" y="2482427"/>
                  <a:pt x="18062" y="2495973"/>
                  <a:pt x="0" y="2509520"/>
                </a:cubicBezTo>
                <a:lnTo>
                  <a:pt x="0" y="262805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2" name="roi-f3-request"/>
          <p:cNvSpPr/>
          <p:nvPr/>
        </p:nvSpPr>
        <p:spPr>
          <a:xfrm>
            <a:off x="9398000" y="3742267"/>
            <a:ext cx="863600" cy="812800"/>
          </a:xfrm>
          <a:custGeom>
            <a:avLst/>
            <a:gdLst/>
            <a:ahLst/>
            <a:cxnLst/>
            <a:rect l="0" t="0" r="r" b="b"/>
            <a:pathLst>
              <a:path w="863600" h="812800" fill="none">
                <a:moveTo>
                  <a:pt x="863600" y="812800"/>
                </a:moveTo>
                <a:lnTo>
                  <a:pt x="677333" y="812800"/>
                </a:lnTo>
                <a:lnTo>
                  <a:pt x="677333" y="0"/>
                </a:lnTo>
                <a:lnTo>
                  <a:pt x="0" y="0"/>
                </a:lnTo>
                <a:lnTo>
                  <a:pt x="0" y="3725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3" name="regext-config"/>
          <p:cNvSpPr/>
          <p:nvPr/>
        </p:nvSpPr>
        <p:spPr>
          <a:xfrm>
            <a:off x="5846233" y="5313680"/>
            <a:ext cx="198967" cy="911352"/>
          </a:xfrm>
          <a:custGeom>
            <a:avLst/>
            <a:gdLst/>
            <a:ahLst/>
            <a:cxnLst/>
            <a:rect l="0" t="0" r="r" b="b"/>
            <a:pathLst>
              <a:path w="198967" h="911352" fill="none">
                <a:moveTo>
                  <a:pt x="0" y="0"/>
                </a:moveTo>
                <a:lnTo>
                  <a:pt x="198967" y="0"/>
                </a:lnTo>
                <a:lnTo>
                  <a:pt x="198967" y="911352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4" name="config-trunk"/>
          <p:cNvSpPr/>
          <p:nvPr/>
        </p:nvSpPr>
        <p:spPr>
          <a:xfrm>
            <a:off x="563562" y="6225032"/>
            <a:ext cx="10379075" cy="1"/>
          </a:xfrm>
          <a:custGeom>
            <a:avLst/>
            <a:gdLst/>
            <a:ahLst/>
            <a:cxnLst/>
            <a:rect l="0" t="0" r="r" b="b"/>
            <a:pathLst>
              <a:path w="10379075" h="1" fill="none">
                <a:moveTo>
                  <a:pt x="0" y="0"/>
                </a:moveTo>
                <a:lnTo>
                  <a:pt x="10379075" y="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5" name="cfg-C1"/>
          <p:cNvSpPr/>
          <p:nvPr/>
        </p:nvSpPr>
        <p:spPr>
          <a:xfrm>
            <a:off x="563562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6" name="cfg-C2"/>
          <p:cNvSpPr/>
          <p:nvPr/>
        </p:nvSpPr>
        <p:spPr>
          <a:xfrm>
            <a:off x="1255501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7" name="cfg-C3"/>
          <p:cNvSpPr/>
          <p:nvPr/>
        </p:nvSpPr>
        <p:spPr>
          <a:xfrm>
            <a:off x="1947439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8" name="cfg-C4"/>
          <p:cNvSpPr/>
          <p:nvPr/>
        </p:nvSpPr>
        <p:spPr>
          <a:xfrm>
            <a:off x="2639378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9" name="cfg-C5"/>
          <p:cNvSpPr/>
          <p:nvPr/>
        </p:nvSpPr>
        <p:spPr>
          <a:xfrm>
            <a:off x="3331316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0" name="cfg-C6"/>
          <p:cNvSpPr/>
          <p:nvPr/>
        </p:nvSpPr>
        <p:spPr>
          <a:xfrm>
            <a:off x="4023254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1" name="cfg-C7"/>
          <p:cNvSpPr/>
          <p:nvPr/>
        </p:nvSpPr>
        <p:spPr>
          <a:xfrm>
            <a:off x="4715192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2" name="cfg-C8"/>
          <p:cNvSpPr/>
          <p:nvPr/>
        </p:nvSpPr>
        <p:spPr>
          <a:xfrm>
            <a:off x="5407131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3" name="cfg-C9"/>
          <p:cNvSpPr/>
          <p:nvPr/>
        </p:nvSpPr>
        <p:spPr>
          <a:xfrm>
            <a:off x="6099069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4" name="cfg-C10"/>
          <p:cNvSpPr/>
          <p:nvPr/>
        </p:nvSpPr>
        <p:spPr>
          <a:xfrm>
            <a:off x="6791008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5" name="cfg-C11"/>
          <p:cNvSpPr/>
          <p:nvPr/>
        </p:nvSpPr>
        <p:spPr>
          <a:xfrm>
            <a:off x="7482946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6" name="cfg-C12"/>
          <p:cNvSpPr/>
          <p:nvPr/>
        </p:nvSpPr>
        <p:spPr>
          <a:xfrm>
            <a:off x="8174884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7" name="cfg-C13"/>
          <p:cNvSpPr/>
          <p:nvPr/>
        </p:nvSpPr>
        <p:spPr>
          <a:xfrm>
            <a:off x="8866822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8" name="cfg-C14"/>
          <p:cNvSpPr/>
          <p:nvPr/>
        </p:nvSpPr>
        <p:spPr>
          <a:xfrm>
            <a:off x="9558761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9" name="cfg-C15"/>
          <p:cNvSpPr/>
          <p:nvPr/>
        </p:nvSpPr>
        <p:spPr>
          <a:xfrm>
            <a:off x="10250699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" name="cfg-C16"/>
          <p:cNvSpPr/>
          <p:nvPr/>
        </p:nvSpPr>
        <p:spPr>
          <a:xfrm>
            <a:off x="10942638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" name="front-input-0"/>
          <p:cNvSpPr/>
          <p:nvPr/>
        </p:nvSpPr>
        <p:spPr>
          <a:xfrm>
            <a:off x="6604000" y="3901440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" name="front-input-1"/>
          <p:cNvSpPr/>
          <p:nvPr/>
        </p:nvSpPr>
        <p:spPr>
          <a:xfrm>
            <a:off x="7535333" y="3901440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" name="front-input-2"/>
          <p:cNvSpPr/>
          <p:nvPr/>
        </p:nvSpPr>
        <p:spPr>
          <a:xfrm>
            <a:off x="8466667" y="3901440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" name="front-input-3"/>
          <p:cNvSpPr/>
          <p:nvPr/>
        </p:nvSpPr>
        <p:spPr>
          <a:xfrm>
            <a:off x="9398000" y="3901440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" name="adapt-address"/>
          <p:cNvSpPr/>
          <p:nvPr/>
        </p:nvSpPr>
        <p:spPr>
          <a:xfrm>
            <a:off x="6587067" y="4131733"/>
            <a:ext cx="1" cy="101600"/>
          </a:xfrm>
          <a:custGeom>
            <a:avLst/>
            <a:gdLst/>
            <a:ahLst/>
            <a:cxnLst/>
            <a:rect l="0" t="0" r="r" b="b"/>
            <a:pathLst>
              <a:path w="1" h="101600" fill="none">
                <a:moveTo>
                  <a:pt x="0" y="0"/>
                </a:moveTo>
                <a:lnTo>
                  <a:pt x="0" y="10160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" name="address-downstream"/>
          <p:cNvSpPr/>
          <p:nvPr/>
        </p:nvSpPr>
        <p:spPr>
          <a:xfrm>
            <a:off x="6976533" y="4402667"/>
            <a:ext cx="40640" cy="592667"/>
          </a:xfrm>
          <a:custGeom>
            <a:avLst/>
            <a:gdLst/>
            <a:ahLst/>
            <a:cxnLst/>
            <a:rect l="0" t="0" r="r" b="b"/>
            <a:pathLst>
              <a:path w="40640" h="592667" fill="none">
                <a:moveTo>
                  <a:pt x="0" y="0"/>
                </a:moveTo>
                <a:lnTo>
                  <a:pt x="40640" y="0"/>
                </a:lnTo>
                <a:lnTo>
                  <a:pt x="40640" y="59266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" name="b-response"/>
          <p:cNvSpPr/>
          <p:nvPr/>
        </p:nvSpPr>
        <p:spPr>
          <a:xfrm>
            <a:off x="6163733" y="4131733"/>
            <a:ext cx="84667" cy="948267"/>
          </a:xfrm>
          <a:custGeom>
            <a:avLst/>
            <a:gdLst/>
            <a:ahLst/>
            <a:cxnLst/>
            <a:rect l="0" t="0" r="r" b="b"/>
            <a:pathLst>
              <a:path w="84667" h="948267" fill="none">
                <a:moveTo>
                  <a:pt x="33867" y="948267"/>
                </a:moveTo>
                <a:lnTo>
                  <a:pt x="0" y="948267"/>
                </a:lnTo>
                <a:lnTo>
                  <a:pt x="0" y="67733"/>
                </a:lnTo>
                <a:lnTo>
                  <a:pt x="84667" y="67733"/>
                </a:lnTo>
                <a:lnTo>
                  <a:pt x="84667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" name="metadata-control"/>
          <p:cNvSpPr/>
          <p:nvPr/>
        </p:nvSpPr>
        <p:spPr>
          <a:xfrm>
            <a:off x="6587067" y="4572000"/>
            <a:ext cx="1" cy="101600"/>
          </a:xfrm>
          <a:custGeom>
            <a:avLst/>
            <a:gdLst/>
            <a:ahLst/>
            <a:cxnLst/>
            <a:rect l="0" t="0" r="r" b="b"/>
            <a:pathLst>
              <a:path w="1" h="101600" fill="none">
                <a:moveTo>
                  <a:pt x="0" y="0"/>
                </a:moveTo>
                <a:lnTo>
                  <a:pt x="0" y="101600"/>
                </a:lnTo>
              </a:path>
            </a:pathLst>
          </a:custGeom>
          <a:noFill/>
          <a:ln w="16256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" name="metadata-storage"/>
          <p:cNvSpPr/>
          <p:nvPr/>
        </p:nvSpPr>
        <p:spPr>
          <a:xfrm>
            <a:off x="6587067" y="4893733"/>
            <a:ext cx="1" cy="101600"/>
          </a:xfrm>
          <a:custGeom>
            <a:avLst/>
            <a:gdLst/>
            <a:ahLst/>
            <a:cxnLst/>
            <a:rect l="0" t="0" r="r" b="b"/>
            <a:pathLst>
              <a:path w="1" h="101600" fill="none">
                <a:moveTo>
                  <a:pt x="0" y="0"/>
                </a:moveTo>
                <a:lnTo>
                  <a:pt x="0" y="10160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" name="adapt-compressor"/>
          <p:cNvSpPr/>
          <p:nvPr/>
        </p:nvSpPr>
        <p:spPr>
          <a:xfrm>
            <a:off x="7577667" y="4131733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0"/>
                </a:moveTo>
                <a:lnTo>
                  <a:pt x="0" y="23706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" name="compressor-route"/>
          <p:cNvSpPr/>
          <p:nvPr/>
        </p:nvSpPr>
        <p:spPr>
          <a:xfrm>
            <a:off x="7577667" y="4758267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0"/>
                </a:moveTo>
                <a:lnTo>
                  <a:pt x="0" y="23706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" name="read-to-decoder"/>
          <p:cNvSpPr/>
          <p:nvPr/>
        </p:nvSpPr>
        <p:spPr>
          <a:xfrm>
            <a:off x="8483600" y="4758267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237067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" name="decoder-up"/>
          <p:cNvSpPr/>
          <p:nvPr/>
        </p:nvSpPr>
        <p:spPr>
          <a:xfrm>
            <a:off x="8483600" y="4131733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237067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" name="adapt-plain-bypass"/>
          <p:cNvSpPr/>
          <p:nvPr/>
        </p:nvSpPr>
        <p:spPr>
          <a:xfrm>
            <a:off x="9389533" y="4131733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0"/>
                </a:moveTo>
                <a:lnTo>
                  <a:pt x="0" y="237067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" name="plain-bypass-route"/>
          <p:cNvSpPr/>
          <p:nvPr/>
        </p:nvSpPr>
        <p:spPr>
          <a:xfrm>
            <a:off x="9389533" y="4758267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0"/>
                </a:moveTo>
                <a:lnTo>
                  <a:pt x="0" y="237067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" name="front-ddr-0"/>
          <p:cNvSpPr/>
          <p:nvPr/>
        </p:nvSpPr>
        <p:spPr>
          <a:xfrm>
            <a:off x="6604000" y="5164667"/>
            <a:ext cx="1" cy="88053"/>
          </a:xfrm>
          <a:custGeom>
            <a:avLst/>
            <a:gdLst/>
            <a:ahLst/>
            <a:cxnLst/>
            <a:rect l="0" t="0" r="r" b="b"/>
            <a:pathLst>
              <a:path w="1" h="88053" fill="none">
                <a:moveTo>
                  <a:pt x="0" y="0"/>
                </a:moveTo>
                <a:lnTo>
                  <a:pt x="0" y="8805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" name="front-ddr-1"/>
          <p:cNvSpPr/>
          <p:nvPr/>
        </p:nvSpPr>
        <p:spPr>
          <a:xfrm>
            <a:off x="7535333" y="5164667"/>
            <a:ext cx="1" cy="88053"/>
          </a:xfrm>
          <a:custGeom>
            <a:avLst/>
            <a:gdLst/>
            <a:ahLst/>
            <a:cxnLst/>
            <a:rect l="0" t="0" r="r" b="b"/>
            <a:pathLst>
              <a:path w="1" h="88053" fill="none">
                <a:moveTo>
                  <a:pt x="0" y="0"/>
                </a:moveTo>
                <a:lnTo>
                  <a:pt x="0" y="8805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" name="front-ddr-2"/>
          <p:cNvSpPr/>
          <p:nvPr/>
        </p:nvSpPr>
        <p:spPr>
          <a:xfrm>
            <a:off x="8466667" y="5164667"/>
            <a:ext cx="1" cy="88053"/>
          </a:xfrm>
          <a:custGeom>
            <a:avLst/>
            <a:gdLst/>
            <a:ahLst/>
            <a:cxnLst/>
            <a:rect l="0" t="0" r="r" b="b"/>
            <a:pathLst>
              <a:path w="1" h="88053" fill="none">
                <a:moveTo>
                  <a:pt x="0" y="0"/>
                </a:moveTo>
                <a:lnTo>
                  <a:pt x="0" y="8805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" name="front-ddr-3"/>
          <p:cNvSpPr/>
          <p:nvPr/>
        </p:nvSpPr>
        <p:spPr>
          <a:xfrm>
            <a:off x="9398000" y="5164667"/>
            <a:ext cx="1" cy="88053"/>
          </a:xfrm>
          <a:custGeom>
            <a:avLst/>
            <a:gdLst/>
            <a:ahLst/>
            <a:cxnLst/>
            <a:rect l="0" t="0" r="r" b="b"/>
            <a:pathLst>
              <a:path w="1" h="88053" fill="none">
                <a:moveTo>
                  <a:pt x="0" y="0"/>
                </a:moveTo>
                <a:lnTo>
                  <a:pt x="0" y="8805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" name="legend-data"/>
          <p:cNvSpPr/>
          <p:nvPr/>
        </p:nvSpPr>
        <p:spPr>
          <a:xfrm>
            <a:off x="10193867" y="2438400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" name="legend-gb"/>
          <p:cNvSpPr/>
          <p:nvPr/>
        </p:nvSpPr>
        <p:spPr>
          <a:xfrm>
            <a:off x="10193867" y="2665307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" name="legend-pixel"/>
          <p:cNvSpPr/>
          <p:nvPr/>
        </p:nvSpPr>
        <p:spPr>
          <a:xfrm>
            <a:off x="10193867" y="2892213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" name="legend-cfg"/>
          <p:cNvSpPr/>
          <p:nvPr/>
        </p:nvSpPr>
        <p:spPr>
          <a:xfrm>
            <a:off x="10193867" y="3119120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" name="legend-optional"/>
          <p:cNvSpPr/>
          <p:nvPr/>
        </p:nvSpPr>
        <p:spPr>
          <a:xfrm>
            <a:off x="10193867" y="3346027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93939D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" name="junction-84.25-1269"/>
          <p:cNvSpPr/>
          <p:nvPr/>
        </p:nvSpPr>
        <p:spPr>
          <a:xfrm>
            <a:off x="268393" y="4280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" name="junction-84.25-1369"/>
          <p:cNvSpPr/>
          <p:nvPr/>
        </p:nvSpPr>
        <p:spPr>
          <a:xfrm>
            <a:off x="268393" y="4619413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" name="junction-84.25-1469"/>
          <p:cNvSpPr/>
          <p:nvPr/>
        </p:nvSpPr>
        <p:spPr>
          <a:xfrm>
            <a:off x="268393" y="495808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" name="junction-84.25-1569"/>
          <p:cNvSpPr/>
          <p:nvPr/>
        </p:nvSpPr>
        <p:spPr>
          <a:xfrm>
            <a:off x="268393" y="5296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" name="junction-414.25-1269"/>
          <p:cNvSpPr/>
          <p:nvPr/>
        </p:nvSpPr>
        <p:spPr>
          <a:xfrm>
            <a:off x="1385993" y="4280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" name="junction-414.25-1369"/>
          <p:cNvSpPr/>
          <p:nvPr/>
        </p:nvSpPr>
        <p:spPr>
          <a:xfrm>
            <a:off x="1385993" y="4619413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1" name="junction-414.25-1469"/>
          <p:cNvSpPr/>
          <p:nvPr/>
        </p:nvSpPr>
        <p:spPr>
          <a:xfrm>
            <a:off x="1385993" y="495808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2" name="junction-414.25-1569"/>
          <p:cNvSpPr/>
          <p:nvPr/>
        </p:nvSpPr>
        <p:spPr>
          <a:xfrm>
            <a:off x="1385993" y="5296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3" name="junction-744.25-1269"/>
          <p:cNvSpPr/>
          <p:nvPr/>
        </p:nvSpPr>
        <p:spPr>
          <a:xfrm>
            <a:off x="2503593" y="4280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4" name="junction-744.25-1369"/>
          <p:cNvSpPr/>
          <p:nvPr/>
        </p:nvSpPr>
        <p:spPr>
          <a:xfrm>
            <a:off x="2503593" y="4619413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5" name="junction-744.25-1469"/>
          <p:cNvSpPr/>
          <p:nvPr/>
        </p:nvSpPr>
        <p:spPr>
          <a:xfrm>
            <a:off x="2503593" y="495808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6" name="junction-744.25-1569"/>
          <p:cNvSpPr/>
          <p:nvPr/>
        </p:nvSpPr>
        <p:spPr>
          <a:xfrm>
            <a:off x="2503593" y="5296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7" name="junction-1074.25-1269"/>
          <p:cNvSpPr/>
          <p:nvPr/>
        </p:nvSpPr>
        <p:spPr>
          <a:xfrm>
            <a:off x="3621193" y="4280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8" name="junction-1074.25-1369"/>
          <p:cNvSpPr/>
          <p:nvPr/>
        </p:nvSpPr>
        <p:spPr>
          <a:xfrm>
            <a:off x="3621193" y="4619413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9" name="junction-1074.25-1469"/>
          <p:cNvSpPr/>
          <p:nvPr/>
        </p:nvSpPr>
        <p:spPr>
          <a:xfrm>
            <a:off x="3621193" y="495808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0" name="junction-1074.25-1569"/>
          <p:cNvSpPr/>
          <p:nvPr/>
        </p:nvSpPr>
        <p:spPr>
          <a:xfrm>
            <a:off x="3621193" y="5296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1" name="junction-1404.25-1269"/>
          <p:cNvSpPr/>
          <p:nvPr/>
        </p:nvSpPr>
        <p:spPr>
          <a:xfrm>
            <a:off x="4738793" y="4280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2" name="junction-1404.25-1369"/>
          <p:cNvSpPr/>
          <p:nvPr/>
        </p:nvSpPr>
        <p:spPr>
          <a:xfrm>
            <a:off x="4738793" y="4619413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3" name="junction-1404.25-1469"/>
          <p:cNvSpPr/>
          <p:nvPr/>
        </p:nvSpPr>
        <p:spPr>
          <a:xfrm>
            <a:off x="4738793" y="495808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4" name="junction-1404.25-1569"/>
          <p:cNvSpPr/>
          <p:nvPr/>
        </p:nvSpPr>
        <p:spPr>
          <a:xfrm>
            <a:off x="4738793" y="5296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5" name="junction-1785-1838.1"/>
          <p:cNvSpPr/>
          <p:nvPr/>
        </p:nvSpPr>
        <p:spPr>
          <a:xfrm>
            <a:off x="6028267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6" name="junction-166.40625-1838.1"/>
          <p:cNvSpPr/>
          <p:nvPr/>
        </p:nvSpPr>
        <p:spPr>
          <a:xfrm>
            <a:off x="546629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7" name="junction-370.71875-1838.1"/>
          <p:cNvSpPr/>
          <p:nvPr/>
        </p:nvSpPr>
        <p:spPr>
          <a:xfrm>
            <a:off x="1238568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8" name="junction-575.03125-1838.1"/>
          <p:cNvSpPr/>
          <p:nvPr/>
        </p:nvSpPr>
        <p:spPr>
          <a:xfrm>
            <a:off x="1930506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9" name="junction-779.34375-1838.1"/>
          <p:cNvSpPr/>
          <p:nvPr/>
        </p:nvSpPr>
        <p:spPr>
          <a:xfrm>
            <a:off x="2622444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0" name="junction-983.65625-1838.1"/>
          <p:cNvSpPr/>
          <p:nvPr/>
        </p:nvSpPr>
        <p:spPr>
          <a:xfrm>
            <a:off x="3314382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1" name="junction-1187.96875-1838.1"/>
          <p:cNvSpPr/>
          <p:nvPr/>
        </p:nvSpPr>
        <p:spPr>
          <a:xfrm>
            <a:off x="4006321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2" name="junction-1392.28125-1838.1"/>
          <p:cNvSpPr/>
          <p:nvPr/>
        </p:nvSpPr>
        <p:spPr>
          <a:xfrm>
            <a:off x="4698259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3" name="junction-1596.59375-1838.1"/>
          <p:cNvSpPr/>
          <p:nvPr/>
        </p:nvSpPr>
        <p:spPr>
          <a:xfrm>
            <a:off x="5390198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4" name="junction-1800.90625-1838.1"/>
          <p:cNvSpPr/>
          <p:nvPr/>
        </p:nvSpPr>
        <p:spPr>
          <a:xfrm>
            <a:off x="6082136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5" name="junction-2005.21875-1838.1"/>
          <p:cNvSpPr/>
          <p:nvPr/>
        </p:nvSpPr>
        <p:spPr>
          <a:xfrm>
            <a:off x="6774074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6" name="junction-2209.53125-1838.1"/>
          <p:cNvSpPr/>
          <p:nvPr/>
        </p:nvSpPr>
        <p:spPr>
          <a:xfrm>
            <a:off x="7466012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7" name="junction-2413.84375-1838.1"/>
          <p:cNvSpPr/>
          <p:nvPr/>
        </p:nvSpPr>
        <p:spPr>
          <a:xfrm>
            <a:off x="8157951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8" name="junction-2618.15625-1838.1"/>
          <p:cNvSpPr/>
          <p:nvPr/>
        </p:nvSpPr>
        <p:spPr>
          <a:xfrm>
            <a:off x="8849889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9" name="junction-2822.46875-1838.1"/>
          <p:cNvSpPr/>
          <p:nvPr/>
        </p:nvSpPr>
        <p:spPr>
          <a:xfrm>
            <a:off x="9541828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0" name="junction-3026.78125-1838.1"/>
          <p:cNvSpPr/>
          <p:nvPr/>
        </p:nvSpPr>
        <p:spPr>
          <a:xfrm>
            <a:off x="10233766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1" name="junction-3231.09375-1838.1"/>
          <p:cNvSpPr/>
          <p:nvPr/>
        </p:nvSpPr>
        <p:spPr>
          <a:xfrm>
            <a:off x="10925704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2" name="cva6"/>
          <p:cNvSpPr/>
          <p:nvPr/>
        </p:nvSpPr>
        <p:spPr>
          <a:xfrm>
            <a:off x="325967" y="474133"/>
            <a:ext cx="846667" cy="7281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3" name="ara"/>
          <p:cNvSpPr/>
          <p:nvPr/>
        </p:nvSpPr>
        <p:spPr>
          <a:xfrm>
            <a:off x="1341967" y="474133"/>
            <a:ext cx="1964267" cy="4233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4" name="ara-filter"/>
          <p:cNvSpPr/>
          <p:nvPr/>
        </p:nvSpPr>
        <p:spPr>
          <a:xfrm>
            <a:off x="1409700" y="1049867"/>
            <a:ext cx="643467" cy="29125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5" name="ara-width"/>
          <p:cNvSpPr/>
          <p:nvPr/>
        </p:nvSpPr>
        <p:spPr>
          <a:xfrm>
            <a:off x="2798233" y="1049867"/>
            <a:ext cx="508000" cy="29125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6" name="npu"/>
          <p:cNvSpPr/>
          <p:nvPr/>
        </p:nvSpPr>
        <p:spPr>
          <a:xfrm>
            <a:off x="3678767" y="474133"/>
            <a:ext cx="914400" cy="592667"/>
          </a:xfrm>
          <a:prstGeom prst="rect">
            <a:avLst/>
          </a:prstGeom>
          <a:solidFill>
            <a:srgbClr val="F1D7D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7" name="badge-C6"/>
          <p:cNvSpPr/>
          <p:nvPr/>
        </p:nvSpPr>
        <p:spPr>
          <a:xfrm>
            <a:off x="4389967" y="924560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8" name="gb-adapter"/>
          <p:cNvSpPr/>
          <p:nvPr/>
        </p:nvSpPr>
        <p:spPr>
          <a:xfrm>
            <a:off x="4711700" y="728133"/>
            <a:ext cx="778933" cy="7958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9" name="global-buffer"/>
          <p:cNvSpPr/>
          <p:nvPr/>
        </p:nvSpPr>
        <p:spPr>
          <a:xfrm>
            <a:off x="5626100" y="474133"/>
            <a:ext cx="1710267" cy="575733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0" name="badge-C9"/>
          <p:cNvSpPr/>
          <p:nvPr/>
        </p:nvSpPr>
        <p:spPr>
          <a:xfrm>
            <a:off x="7133167" y="914400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1" name="gb-mover"/>
          <p:cNvSpPr/>
          <p:nvPr/>
        </p:nvSpPr>
        <p:spPr>
          <a:xfrm>
            <a:off x="5626100" y="1168400"/>
            <a:ext cx="1710267" cy="406400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2" name="badge-C7"/>
          <p:cNvSpPr/>
          <p:nvPr/>
        </p:nvSpPr>
        <p:spPr>
          <a:xfrm>
            <a:off x="7133167" y="1446107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3" name="lvds-rx"/>
          <p:cNvSpPr/>
          <p:nvPr/>
        </p:nvSpPr>
        <p:spPr>
          <a:xfrm>
            <a:off x="7691967" y="677333"/>
            <a:ext cx="558800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4" name="rx-cdc"/>
          <p:cNvSpPr/>
          <p:nvPr/>
        </p:nvSpPr>
        <p:spPr>
          <a:xfrm>
            <a:off x="8352367" y="677333"/>
            <a:ext cx="541867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5" name="isp"/>
          <p:cNvSpPr/>
          <p:nvPr/>
        </p:nvSpPr>
        <p:spPr>
          <a:xfrm>
            <a:off x="8995833" y="677333"/>
            <a:ext cx="558800" cy="626533"/>
          </a:xfrm>
          <a:prstGeom prst="rect">
            <a:avLst/>
          </a:prstGeom>
          <a:solidFill>
            <a:srgbClr val="F1D7D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6" name="frame-select"/>
          <p:cNvSpPr/>
          <p:nvPr/>
        </p:nvSpPr>
        <p:spPr>
          <a:xfrm>
            <a:off x="9656233" y="677333"/>
            <a:ext cx="609600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7" name="frame-dma"/>
          <p:cNvSpPr/>
          <p:nvPr/>
        </p:nvSpPr>
        <p:spPr>
          <a:xfrm>
            <a:off x="10384367" y="677333"/>
            <a:ext cx="728133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8" name="badge-C4"/>
          <p:cNvSpPr/>
          <p:nvPr/>
        </p:nvSpPr>
        <p:spPr>
          <a:xfrm>
            <a:off x="8047567" y="1161627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9" name="badge-C5"/>
          <p:cNvSpPr/>
          <p:nvPr/>
        </p:nvSpPr>
        <p:spPr>
          <a:xfrm>
            <a:off x="9351433" y="1161627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0" name="badge-C8"/>
          <p:cNvSpPr/>
          <p:nvPr/>
        </p:nvSpPr>
        <p:spPr>
          <a:xfrm>
            <a:off x="10909300" y="1161627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1" name="axi-crossbar"/>
          <p:cNvSpPr/>
          <p:nvPr/>
        </p:nvSpPr>
        <p:spPr>
          <a:xfrm>
            <a:off x="241300" y="2370667"/>
            <a:ext cx="9584267" cy="457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2" name="xbar-in-S0"/>
          <p:cNvSpPr/>
          <p:nvPr/>
        </p:nvSpPr>
        <p:spPr>
          <a:xfrm>
            <a:off x="611199" y="23232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3" name="xbar-in-S1"/>
          <p:cNvSpPr/>
          <p:nvPr/>
        </p:nvSpPr>
        <p:spPr>
          <a:xfrm>
            <a:off x="1676118" y="23232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4" name="xbar-in-S2"/>
          <p:cNvSpPr/>
          <p:nvPr/>
        </p:nvSpPr>
        <p:spPr>
          <a:xfrm>
            <a:off x="2741036" y="23232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5" name="xbar-in-S3"/>
          <p:cNvSpPr/>
          <p:nvPr/>
        </p:nvSpPr>
        <p:spPr>
          <a:xfrm>
            <a:off x="3805955" y="23232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6" name="xbar-in-S4"/>
          <p:cNvSpPr/>
          <p:nvPr/>
        </p:nvSpPr>
        <p:spPr>
          <a:xfrm>
            <a:off x="4870873" y="23232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7" name="xbar-in-S5"/>
          <p:cNvSpPr/>
          <p:nvPr/>
        </p:nvSpPr>
        <p:spPr>
          <a:xfrm>
            <a:off x="5935792" y="23232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8" name="xbar-in-S6"/>
          <p:cNvSpPr/>
          <p:nvPr/>
        </p:nvSpPr>
        <p:spPr>
          <a:xfrm>
            <a:off x="7000710" y="23232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9" name="xbar-in-S7"/>
          <p:cNvSpPr/>
          <p:nvPr/>
        </p:nvSpPr>
        <p:spPr>
          <a:xfrm>
            <a:off x="8065629" y="23232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0" name="xbar-in-S_EXT"/>
          <p:cNvSpPr/>
          <p:nvPr/>
        </p:nvSpPr>
        <p:spPr>
          <a:xfrm>
            <a:off x="9130547" y="23232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1" name="debug-sba"/>
          <p:cNvSpPr/>
          <p:nvPr/>
        </p:nvSpPr>
        <p:spPr>
          <a:xfrm>
            <a:off x="1354384" y="1879600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2" name="idma-master"/>
          <p:cNvSpPr/>
          <p:nvPr/>
        </p:nvSpPr>
        <p:spPr>
          <a:xfrm>
            <a:off x="3484221" y="1879600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3" name="slink-rx"/>
          <p:cNvSpPr/>
          <p:nvPr/>
        </p:nvSpPr>
        <p:spPr>
          <a:xfrm>
            <a:off x="4549140" y="1879600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4" name="vga"/>
          <p:cNvSpPr/>
          <p:nvPr/>
        </p:nvSpPr>
        <p:spPr>
          <a:xfrm>
            <a:off x="5614059" y="1879600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5" name="usb-dma"/>
          <p:cNvSpPr/>
          <p:nvPr/>
        </p:nvSpPr>
        <p:spPr>
          <a:xfrm>
            <a:off x="6678977" y="1879600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6" name="emmc-host"/>
          <p:cNvSpPr/>
          <p:nvPr/>
        </p:nvSpPr>
        <p:spPr>
          <a:xfrm>
            <a:off x="7743896" y="1879600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7" name="ext-master"/>
          <p:cNvSpPr/>
          <p:nvPr/>
        </p:nvSpPr>
        <p:spPr>
          <a:xfrm>
            <a:off x="8808814" y="1879600"/>
            <a:ext cx="968587" cy="338667"/>
          </a:xfrm>
          <a:prstGeom prst="rect">
            <a:avLst/>
          </a:prstGeom>
          <a:solidFill>
            <a:srgbClr val="F5F5F7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8" name="badge-C10"/>
          <p:cNvSpPr/>
          <p:nvPr/>
        </p:nvSpPr>
        <p:spPr>
          <a:xfrm>
            <a:off x="8505896" y="2113280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9" name="xbar-out-M0"/>
          <p:cNvSpPr/>
          <p:nvPr/>
        </p:nvSpPr>
        <p:spPr>
          <a:xfrm>
            <a:off x="763330" y="27804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0" name="debug-target"/>
          <p:cNvSpPr/>
          <p:nvPr/>
        </p:nvSpPr>
        <p:spPr>
          <a:xfrm>
            <a:off x="316290" y="3048000"/>
            <a:ext cx="1219200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1" name="xbar-out-M1"/>
          <p:cNvSpPr/>
          <p:nvPr/>
        </p:nvSpPr>
        <p:spPr>
          <a:xfrm>
            <a:off x="2132511" y="27804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2" name="reg-bridge"/>
          <p:cNvSpPr/>
          <p:nvPr/>
        </p:nvSpPr>
        <p:spPr>
          <a:xfrm>
            <a:off x="1685471" y="3048000"/>
            <a:ext cx="1219200" cy="52493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3" name="xbar-out-M2"/>
          <p:cNvSpPr/>
          <p:nvPr/>
        </p:nvSpPr>
        <p:spPr>
          <a:xfrm>
            <a:off x="3501692" y="27804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4" name="memory-target"/>
          <p:cNvSpPr/>
          <p:nvPr/>
        </p:nvSpPr>
        <p:spPr>
          <a:xfrm>
            <a:off x="2986919" y="3048000"/>
            <a:ext cx="1354667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5" name="atomics"/>
          <p:cNvSpPr/>
          <p:nvPr/>
        </p:nvSpPr>
        <p:spPr>
          <a:xfrm>
            <a:off x="3020786" y="3251200"/>
            <a:ext cx="626533" cy="28448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6" name="llc-spm"/>
          <p:cNvSpPr/>
          <p:nvPr/>
        </p:nvSpPr>
        <p:spPr>
          <a:xfrm>
            <a:off x="3731986" y="3251200"/>
            <a:ext cx="575733" cy="28448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7" name="xbar-out-M3"/>
          <p:cNvSpPr/>
          <p:nvPr/>
        </p:nvSpPr>
        <p:spPr>
          <a:xfrm>
            <a:off x="4870873" y="27804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8" name="idma-config"/>
          <p:cNvSpPr/>
          <p:nvPr/>
        </p:nvSpPr>
        <p:spPr>
          <a:xfrm>
            <a:off x="4423833" y="3048000"/>
            <a:ext cx="1219200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9" name="xbar-out-M4"/>
          <p:cNvSpPr/>
          <p:nvPr/>
        </p:nvSpPr>
        <p:spPr>
          <a:xfrm>
            <a:off x="6240054" y="27804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0" name="slink-tx"/>
          <p:cNvSpPr/>
          <p:nvPr/>
        </p:nvSpPr>
        <p:spPr>
          <a:xfrm>
            <a:off x="5793014" y="3048000"/>
            <a:ext cx="1219200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1" name="xbar-out-M5"/>
          <p:cNvSpPr/>
          <p:nvPr/>
        </p:nvSpPr>
        <p:spPr>
          <a:xfrm>
            <a:off x="7609235" y="27804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2" name="gb-interface"/>
          <p:cNvSpPr/>
          <p:nvPr/>
        </p:nvSpPr>
        <p:spPr>
          <a:xfrm>
            <a:off x="7162195" y="3048000"/>
            <a:ext cx="1219200" cy="524933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3" name="xbar-out-M_EXT"/>
          <p:cNvSpPr/>
          <p:nvPr/>
        </p:nvSpPr>
        <p:spPr>
          <a:xfrm>
            <a:off x="8978416" y="27804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4" name="ext-target"/>
          <p:cNvSpPr/>
          <p:nvPr/>
        </p:nvSpPr>
        <p:spPr>
          <a:xfrm>
            <a:off x="8531376" y="3048000"/>
            <a:ext cx="1219200" cy="524933"/>
          </a:xfrm>
          <a:prstGeom prst="rect">
            <a:avLst/>
          </a:prstGeom>
          <a:solidFill>
            <a:srgbClr val="F5F5F7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5" name="emmc-device"/>
          <p:cNvSpPr/>
          <p:nvPr/>
        </p:nvSpPr>
        <p:spPr>
          <a:xfrm>
            <a:off x="11413067" y="1879600"/>
            <a:ext cx="711200" cy="338667"/>
          </a:xfrm>
          <a:prstGeom prst="rect">
            <a:avLst/>
          </a:prstGeom>
          <a:solidFill>
            <a:srgbClr val="EAECEE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6" name="regbus"/>
          <p:cNvSpPr/>
          <p:nvPr/>
        </p:nvSpPr>
        <p:spPr>
          <a:xfrm>
            <a:off x="241300" y="3843867"/>
            <a:ext cx="5689600" cy="22013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7" name="bootrom"/>
          <p:cNvSpPr/>
          <p:nvPr/>
        </p:nvSpPr>
        <p:spPr>
          <a:xfrm>
            <a:off x="359833" y="4165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8" name="uart"/>
          <p:cNvSpPr/>
          <p:nvPr/>
        </p:nvSpPr>
        <p:spPr>
          <a:xfrm>
            <a:off x="359833" y="4504267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9" name="vga-regs"/>
          <p:cNvSpPr/>
          <p:nvPr/>
        </p:nvSpPr>
        <p:spPr>
          <a:xfrm>
            <a:off x="359833" y="4842933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0" name="irq-router"/>
          <p:cNvSpPr/>
          <p:nvPr/>
        </p:nvSpPr>
        <p:spPr>
          <a:xfrm>
            <a:off x="359833" y="5181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1" name="clint"/>
          <p:cNvSpPr/>
          <p:nvPr/>
        </p:nvSpPr>
        <p:spPr>
          <a:xfrm>
            <a:off x="1477433" y="4165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2" name="i2c"/>
          <p:cNvSpPr/>
          <p:nvPr/>
        </p:nvSpPr>
        <p:spPr>
          <a:xfrm>
            <a:off x="1477433" y="4504267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3" name="usb-regs"/>
          <p:cNvSpPr/>
          <p:nvPr/>
        </p:nvSpPr>
        <p:spPr>
          <a:xfrm>
            <a:off x="1477433" y="4842933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4" name="axi-rt-config"/>
          <p:cNvSpPr/>
          <p:nvPr/>
        </p:nvSpPr>
        <p:spPr>
          <a:xfrm>
            <a:off x="1477433" y="5181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5" name="soc-regs"/>
          <p:cNvSpPr/>
          <p:nvPr/>
        </p:nvSpPr>
        <p:spPr>
          <a:xfrm>
            <a:off x="2595033" y="4165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6" name="spi"/>
          <p:cNvSpPr/>
          <p:nvPr/>
        </p:nvSpPr>
        <p:spPr>
          <a:xfrm>
            <a:off x="2595033" y="4504267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7" name="err-vga"/>
          <p:cNvSpPr/>
          <p:nvPr/>
        </p:nvSpPr>
        <p:spPr>
          <a:xfrm>
            <a:off x="2595033" y="4842933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8" name="clic"/>
          <p:cNvSpPr/>
          <p:nvPr/>
        </p:nvSpPr>
        <p:spPr>
          <a:xfrm>
            <a:off x="2595033" y="5181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9" name="plic"/>
          <p:cNvSpPr/>
          <p:nvPr/>
        </p:nvSpPr>
        <p:spPr>
          <a:xfrm>
            <a:off x="3712633" y="4165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0" name="gpio"/>
          <p:cNvSpPr/>
          <p:nvPr/>
        </p:nvSpPr>
        <p:spPr>
          <a:xfrm>
            <a:off x="3712633" y="4504267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1" name="err-dma"/>
          <p:cNvSpPr/>
          <p:nvPr/>
        </p:nvSpPr>
        <p:spPr>
          <a:xfrm>
            <a:off x="3712633" y="4842933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2" name="reg-error"/>
          <p:cNvSpPr/>
          <p:nvPr/>
        </p:nvSpPr>
        <p:spPr>
          <a:xfrm>
            <a:off x="3712633" y="5181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3" name="llc-regs"/>
          <p:cNvSpPr/>
          <p:nvPr/>
        </p:nvSpPr>
        <p:spPr>
          <a:xfrm>
            <a:off x="4830233" y="4165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4" name="slink-regs"/>
          <p:cNvSpPr/>
          <p:nvPr/>
        </p:nvSpPr>
        <p:spPr>
          <a:xfrm>
            <a:off x="4830233" y="4504267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5" name="err-cpu"/>
          <p:cNvSpPr/>
          <p:nvPr/>
        </p:nvSpPr>
        <p:spPr>
          <a:xfrm>
            <a:off x="4830233" y="4842933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6" name="reg-ext"/>
          <p:cNvSpPr/>
          <p:nvPr/>
        </p:nvSpPr>
        <p:spPr>
          <a:xfrm>
            <a:off x="4830233" y="5181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7" name="ddr-S0"/>
          <p:cNvSpPr/>
          <p:nvPr/>
        </p:nvSpPr>
        <p:spPr>
          <a:xfrm>
            <a:off x="6350000" y="5252720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8" name="ddr-S1"/>
          <p:cNvSpPr/>
          <p:nvPr/>
        </p:nvSpPr>
        <p:spPr>
          <a:xfrm>
            <a:off x="7281333" y="5252720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9" name="ddr-S2"/>
          <p:cNvSpPr/>
          <p:nvPr/>
        </p:nvSpPr>
        <p:spPr>
          <a:xfrm>
            <a:off x="8212667" y="5252720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0" name="ddr-S3"/>
          <p:cNvSpPr/>
          <p:nvPr/>
        </p:nvSpPr>
        <p:spPr>
          <a:xfrm>
            <a:off x="9144000" y="5252720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1" name="ddr-arb"/>
          <p:cNvSpPr/>
          <p:nvPr/>
        </p:nvSpPr>
        <p:spPr>
          <a:xfrm>
            <a:off x="6197600" y="5401733"/>
            <a:ext cx="3657600" cy="1354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2" name="ddr-rw"/>
          <p:cNvSpPr/>
          <p:nvPr/>
        </p:nvSpPr>
        <p:spPr>
          <a:xfrm>
            <a:off x="6197600" y="5571067"/>
            <a:ext cx="1608667" cy="1693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3" name="ddr-command"/>
          <p:cNvSpPr/>
          <p:nvPr/>
        </p:nvSpPr>
        <p:spPr>
          <a:xfrm>
            <a:off x="8212667" y="5571067"/>
            <a:ext cx="1642533" cy="1693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4" name="badge-C2"/>
          <p:cNvSpPr/>
          <p:nvPr/>
        </p:nvSpPr>
        <p:spPr>
          <a:xfrm>
            <a:off x="9652000" y="5757333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5" name="ddr-phy"/>
          <p:cNvSpPr/>
          <p:nvPr/>
        </p:nvSpPr>
        <p:spPr>
          <a:xfrm>
            <a:off x="10261600" y="5655733"/>
            <a:ext cx="863600" cy="338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6" name="badge-C3"/>
          <p:cNvSpPr/>
          <p:nvPr/>
        </p:nvSpPr>
        <p:spPr>
          <a:xfrm>
            <a:off x="10905067" y="5886027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7" name="ddr-device"/>
          <p:cNvSpPr/>
          <p:nvPr/>
        </p:nvSpPr>
        <p:spPr>
          <a:xfrm>
            <a:off x="11501967" y="5655733"/>
            <a:ext cx="508000" cy="338667"/>
          </a:xfrm>
          <a:prstGeom prst="rect">
            <a:avLst/>
          </a:prstGeom>
          <a:solidFill>
            <a:srgbClr val="EAECEE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8" name="pll"/>
          <p:cNvSpPr/>
          <p:nvPr/>
        </p:nvSpPr>
        <p:spPr>
          <a:xfrm>
            <a:off x="7200900" y="5937165"/>
            <a:ext cx="1778000" cy="250613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9" name="badge-C1"/>
          <p:cNvSpPr/>
          <p:nvPr/>
        </p:nvSpPr>
        <p:spPr>
          <a:xfrm>
            <a:off x="8738447" y="600828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0" name="config-C1"/>
          <p:cNvSpPr/>
          <p:nvPr/>
        </p:nvSpPr>
        <p:spPr>
          <a:xfrm>
            <a:off x="241300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1" name="reg-badge-C1"/>
          <p:cNvSpPr/>
          <p:nvPr/>
        </p:nvSpPr>
        <p:spPr>
          <a:xfrm>
            <a:off x="265007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2" name="config-C2"/>
          <p:cNvSpPr/>
          <p:nvPr/>
        </p:nvSpPr>
        <p:spPr>
          <a:xfrm>
            <a:off x="933238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3" name="reg-badge-C2"/>
          <p:cNvSpPr/>
          <p:nvPr/>
        </p:nvSpPr>
        <p:spPr>
          <a:xfrm>
            <a:off x="956945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4" name="config-C3"/>
          <p:cNvSpPr/>
          <p:nvPr/>
        </p:nvSpPr>
        <p:spPr>
          <a:xfrm>
            <a:off x="1625177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5" name="reg-badge-C3"/>
          <p:cNvSpPr/>
          <p:nvPr/>
        </p:nvSpPr>
        <p:spPr>
          <a:xfrm>
            <a:off x="1648883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6" name="config-C4"/>
          <p:cNvSpPr/>
          <p:nvPr/>
        </p:nvSpPr>
        <p:spPr>
          <a:xfrm>
            <a:off x="2317115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7" name="reg-badge-C4"/>
          <p:cNvSpPr/>
          <p:nvPr/>
        </p:nvSpPr>
        <p:spPr>
          <a:xfrm>
            <a:off x="2340822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8" name="config-C5"/>
          <p:cNvSpPr/>
          <p:nvPr/>
        </p:nvSpPr>
        <p:spPr>
          <a:xfrm>
            <a:off x="3009053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9" name="reg-badge-C5"/>
          <p:cNvSpPr/>
          <p:nvPr/>
        </p:nvSpPr>
        <p:spPr>
          <a:xfrm>
            <a:off x="3032760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0" name="config-C6"/>
          <p:cNvSpPr/>
          <p:nvPr/>
        </p:nvSpPr>
        <p:spPr>
          <a:xfrm>
            <a:off x="3700992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1" name="reg-badge-C6"/>
          <p:cNvSpPr/>
          <p:nvPr/>
        </p:nvSpPr>
        <p:spPr>
          <a:xfrm>
            <a:off x="3724698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2" name="config-C7"/>
          <p:cNvSpPr/>
          <p:nvPr/>
        </p:nvSpPr>
        <p:spPr>
          <a:xfrm>
            <a:off x="4392930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3" name="reg-badge-C7"/>
          <p:cNvSpPr/>
          <p:nvPr/>
        </p:nvSpPr>
        <p:spPr>
          <a:xfrm>
            <a:off x="4416637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4" name="config-C8"/>
          <p:cNvSpPr/>
          <p:nvPr/>
        </p:nvSpPr>
        <p:spPr>
          <a:xfrm>
            <a:off x="5084868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5" name="reg-badge-C8"/>
          <p:cNvSpPr/>
          <p:nvPr/>
        </p:nvSpPr>
        <p:spPr>
          <a:xfrm>
            <a:off x="5108575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6" name="config-C9"/>
          <p:cNvSpPr/>
          <p:nvPr/>
        </p:nvSpPr>
        <p:spPr>
          <a:xfrm>
            <a:off x="5776807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7" name="reg-badge-C9"/>
          <p:cNvSpPr/>
          <p:nvPr/>
        </p:nvSpPr>
        <p:spPr>
          <a:xfrm>
            <a:off x="5800513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8" name="config-C10"/>
          <p:cNvSpPr/>
          <p:nvPr/>
        </p:nvSpPr>
        <p:spPr>
          <a:xfrm>
            <a:off x="6468745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9" name="reg-badge-C10"/>
          <p:cNvSpPr/>
          <p:nvPr/>
        </p:nvSpPr>
        <p:spPr>
          <a:xfrm>
            <a:off x="6492452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0" name="config-C11"/>
          <p:cNvSpPr/>
          <p:nvPr/>
        </p:nvSpPr>
        <p:spPr>
          <a:xfrm>
            <a:off x="7160683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1" name="reg-badge-C11"/>
          <p:cNvSpPr/>
          <p:nvPr/>
        </p:nvSpPr>
        <p:spPr>
          <a:xfrm>
            <a:off x="7184390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2" name="config-C12"/>
          <p:cNvSpPr/>
          <p:nvPr/>
        </p:nvSpPr>
        <p:spPr>
          <a:xfrm>
            <a:off x="7852622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3" name="reg-badge-C12"/>
          <p:cNvSpPr/>
          <p:nvPr/>
        </p:nvSpPr>
        <p:spPr>
          <a:xfrm>
            <a:off x="7876328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4" name="config-C13"/>
          <p:cNvSpPr/>
          <p:nvPr/>
        </p:nvSpPr>
        <p:spPr>
          <a:xfrm>
            <a:off x="8544560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5" name="reg-badge-C13"/>
          <p:cNvSpPr/>
          <p:nvPr/>
        </p:nvSpPr>
        <p:spPr>
          <a:xfrm>
            <a:off x="8568267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6" name="config-C14"/>
          <p:cNvSpPr/>
          <p:nvPr/>
        </p:nvSpPr>
        <p:spPr>
          <a:xfrm>
            <a:off x="9236498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7" name="reg-badge-C14"/>
          <p:cNvSpPr/>
          <p:nvPr/>
        </p:nvSpPr>
        <p:spPr>
          <a:xfrm>
            <a:off x="9260205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8" name="config-C15"/>
          <p:cNvSpPr/>
          <p:nvPr/>
        </p:nvSpPr>
        <p:spPr>
          <a:xfrm>
            <a:off x="9928437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9" name="reg-badge-C15"/>
          <p:cNvSpPr/>
          <p:nvPr/>
        </p:nvSpPr>
        <p:spPr>
          <a:xfrm>
            <a:off x="9952143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0" name="config-C16"/>
          <p:cNvSpPr/>
          <p:nvPr/>
        </p:nvSpPr>
        <p:spPr>
          <a:xfrm>
            <a:off x="10620375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1" name="reg-badge-C16"/>
          <p:cNvSpPr/>
          <p:nvPr/>
        </p:nvSpPr>
        <p:spPr>
          <a:xfrm>
            <a:off x="10644082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2" name="front-F0"/>
          <p:cNvSpPr/>
          <p:nvPr/>
        </p:nvSpPr>
        <p:spPr>
          <a:xfrm>
            <a:off x="6316133" y="3779520"/>
            <a:ext cx="575733" cy="12192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3" name="front-F1"/>
          <p:cNvSpPr/>
          <p:nvPr/>
        </p:nvSpPr>
        <p:spPr>
          <a:xfrm>
            <a:off x="7247467" y="3779520"/>
            <a:ext cx="575733" cy="12192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4" name="front-F2"/>
          <p:cNvSpPr/>
          <p:nvPr/>
        </p:nvSpPr>
        <p:spPr>
          <a:xfrm>
            <a:off x="8178800" y="3779520"/>
            <a:ext cx="575733" cy="12192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5" name="front-F3"/>
          <p:cNvSpPr/>
          <p:nvPr/>
        </p:nvSpPr>
        <p:spPr>
          <a:xfrm>
            <a:off x="9110133" y="3779520"/>
            <a:ext cx="575733" cy="12192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6" name="front-adapt"/>
          <p:cNvSpPr/>
          <p:nvPr/>
        </p:nvSpPr>
        <p:spPr>
          <a:xfrm>
            <a:off x="6197600" y="3955627"/>
            <a:ext cx="3657600" cy="17610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7" name="badge-C12"/>
          <p:cNvSpPr/>
          <p:nvPr/>
        </p:nvSpPr>
        <p:spPr>
          <a:xfrm>
            <a:off x="9652000" y="3999653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8" name="address-control"/>
          <p:cNvSpPr/>
          <p:nvPr/>
        </p:nvSpPr>
        <p:spPr>
          <a:xfrm>
            <a:off x="6197600" y="4233333"/>
            <a:ext cx="778933" cy="338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9" name="metadata"/>
          <p:cNvSpPr/>
          <p:nvPr/>
        </p:nvSpPr>
        <p:spPr>
          <a:xfrm>
            <a:off x="6197600" y="4673600"/>
            <a:ext cx="778933" cy="22013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0" name="compressor"/>
          <p:cNvSpPr/>
          <p:nvPr/>
        </p:nvSpPr>
        <p:spPr>
          <a:xfrm>
            <a:off x="7179733" y="4368800"/>
            <a:ext cx="795867" cy="389467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1" name="badge-C15"/>
          <p:cNvSpPr/>
          <p:nvPr/>
        </p:nvSpPr>
        <p:spPr>
          <a:xfrm>
            <a:off x="7206827" y="4382347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2" name="decompressor"/>
          <p:cNvSpPr/>
          <p:nvPr/>
        </p:nvSpPr>
        <p:spPr>
          <a:xfrm>
            <a:off x="8085667" y="4368800"/>
            <a:ext cx="795867" cy="389467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3" name="badge-C16"/>
          <p:cNvSpPr/>
          <p:nvPr/>
        </p:nvSpPr>
        <p:spPr>
          <a:xfrm>
            <a:off x="8112760" y="4382347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4" name="plain-bypass"/>
          <p:cNvSpPr/>
          <p:nvPr/>
        </p:nvSpPr>
        <p:spPr>
          <a:xfrm>
            <a:off x="8991600" y="4368800"/>
            <a:ext cx="795867" cy="3894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5" name="front-route"/>
          <p:cNvSpPr/>
          <p:nvPr/>
        </p:nvSpPr>
        <p:spPr>
          <a:xfrm>
            <a:off x="6197600" y="4995333"/>
            <a:ext cx="3657600" cy="1693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6" name="roi-scheduler"/>
          <p:cNvSpPr/>
          <p:nvPr/>
        </p:nvSpPr>
        <p:spPr>
          <a:xfrm>
            <a:off x="10261600" y="4097867"/>
            <a:ext cx="880533" cy="3386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7" name="badge-C11"/>
          <p:cNvSpPr/>
          <p:nvPr/>
        </p:nvSpPr>
        <p:spPr>
          <a:xfrm>
            <a:off x="10938933" y="4111413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8" name="roi-vdma"/>
          <p:cNvSpPr/>
          <p:nvPr/>
        </p:nvSpPr>
        <p:spPr>
          <a:xfrm>
            <a:off x="10261600" y="4487333"/>
            <a:ext cx="880533" cy="3386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9" name="badge-C13"/>
          <p:cNvSpPr/>
          <p:nvPr/>
        </p:nvSpPr>
        <p:spPr>
          <a:xfrm>
            <a:off x="10938933" y="4500880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0" name="roi-fifo"/>
          <p:cNvSpPr/>
          <p:nvPr/>
        </p:nvSpPr>
        <p:spPr>
          <a:xfrm>
            <a:off x="10261600" y="4876800"/>
            <a:ext cx="880533" cy="2540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1" name="lvds-tx"/>
          <p:cNvSpPr/>
          <p:nvPr/>
        </p:nvSpPr>
        <p:spPr>
          <a:xfrm>
            <a:off x="10261600" y="5181600"/>
            <a:ext cx="880533" cy="3386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2" name="badge-C14"/>
          <p:cNvSpPr/>
          <p:nvPr/>
        </p:nvSpPr>
        <p:spPr>
          <a:xfrm>
            <a:off x="10938933" y="5195147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3" name="compute-title: CVA6–Ara 计算平台"/>
          <p:cNvSpPr txBox="1"/>
          <p:nvPr/>
        </p:nvSpPr>
        <p:spPr>
          <a:xfrm>
            <a:off x="1238652" y="193446"/>
            <a:ext cx="1171829" cy="1950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CVA6–Ara 计算平台</a:t>
            </a:r>
          </a:p>
        </p:txBody>
      </p:sp>
      <p:sp>
        <p:nvSpPr>
          <p:cNvPr id="304" name="gb-region-title: NPU / 独立 Global Buffer 子系统"/>
          <p:cNvSpPr txBox="1"/>
          <p:nvPr/>
        </p:nvSpPr>
        <p:spPr>
          <a:xfrm>
            <a:off x="4586494" y="193446"/>
            <a:ext cx="1859079" cy="1950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独立 Global Buffer 子系统</a:t>
            </a:r>
          </a:p>
        </p:txBody>
      </p:sp>
      <p:sp>
        <p:nvSpPr>
          <p:cNvPr id="305" name="image-rx-title: 图像采集与 ISP"/>
          <p:cNvSpPr txBox="1"/>
          <p:nvPr/>
        </p:nvSpPr>
        <p:spPr>
          <a:xfrm>
            <a:off x="8938972" y="193446"/>
            <a:ext cx="943457" cy="1950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图像采集与 ISP</a:t>
            </a:r>
          </a:p>
        </p:txBody>
      </p:sp>
      <p:sp>
        <p:nvSpPr>
          <p:cNvPr id="306" name="cva6-t0: CVA6 core 0"/>
          <p:cNvSpPr txBox="1"/>
          <p:nvPr/>
        </p:nvSpPr>
        <p:spPr>
          <a:xfrm>
            <a:off x="401743" y="640148"/>
            <a:ext cx="695113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 core 0</a:t>
            </a:r>
          </a:p>
        </p:txBody>
      </p:sp>
      <p:sp>
        <p:nvSpPr>
          <p:cNvPr id="307" name="cva6-t1: L1 I / D cache"/>
          <p:cNvSpPr txBox="1"/>
          <p:nvPr/>
        </p:nvSpPr>
        <p:spPr>
          <a:xfrm>
            <a:off x="377777" y="771144"/>
            <a:ext cx="743045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L1 I / D cache</a:t>
            </a:r>
          </a:p>
        </p:txBody>
      </p:sp>
      <p:sp>
        <p:nvSpPr>
          <p:cNvPr id="308" name="cva6-t2: MMU / AXI 适配"/>
          <p:cNvSpPr txBox="1"/>
          <p:nvPr/>
        </p:nvSpPr>
        <p:spPr>
          <a:xfrm>
            <a:off x="367345" y="894012"/>
            <a:ext cx="763910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MMU / AXI 适配</a:t>
            </a:r>
          </a:p>
        </p:txBody>
      </p:sp>
      <p:sp>
        <p:nvSpPr>
          <p:cNvPr id="309" name="ara-t0: Ara 向量处理器"/>
          <p:cNvSpPr txBox="1"/>
          <p:nvPr/>
        </p:nvSpPr>
        <p:spPr>
          <a:xfrm>
            <a:off x="1905900" y="544644"/>
            <a:ext cx="836401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Ara 向量处理器</a:t>
            </a:r>
          </a:p>
        </p:txBody>
      </p:sp>
      <p:sp>
        <p:nvSpPr>
          <p:cNvPr id="310" name="ara-t1: 2 lanes · VLSU / AXI：64 bit"/>
          <p:cNvSpPr txBox="1"/>
          <p:nvPr/>
        </p:nvSpPr>
        <p:spPr>
          <a:xfrm>
            <a:off x="1637948" y="675640"/>
            <a:ext cx="137230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2 lanes · VLSU / AXI：64 bit</a:t>
            </a:r>
          </a:p>
        </p:txBody>
      </p:sp>
      <p:sp>
        <p:nvSpPr>
          <p:cNvPr id="311" name="ara-filter-t0: 失效过滤"/>
          <p:cNvSpPr txBox="1"/>
          <p:nvPr/>
        </p:nvSpPr>
        <p:spPr>
          <a:xfrm>
            <a:off x="1477433" y="1067477"/>
            <a:ext cx="5080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失效过滤</a:t>
            </a:r>
          </a:p>
        </p:txBody>
      </p:sp>
      <p:sp>
        <p:nvSpPr>
          <p:cNvPr id="312" name="ara-filter-t1: 现有 filter"/>
          <p:cNvSpPr txBox="1"/>
          <p:nvPr/>
        </p:nvSpPr>
        <p:spPr>
          <a:xfrm>
            <a:off x="1500034" y="1191294"/>
            <a:ext cx="462799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现有 filter</a:t>
            </a:r>
          </a:p>
        </p:txBody>
      </p:sp>
      <p:sp>
        <p:nvSpPr>
          <p:cNvPr id="313" name="ara-width-t0: 等宽透传"/>
          <p:cNvSpPr txBox="1"/>
          <p:nvPr/>
        </p:nvSpPr>
        <p:spPr>
          <a:xfrm>
            <a:off x="2798233" y="1067477"/>
            <a:ext cx="5080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等宽透传</a:t>
            </a:r>
          </a:p>
        </p:txBody>
      </p:sp>
      <p:sp>
        <p:nvSpPr>
          <p:cNvPr id="314" name="ara-width-t1: 64 → 64 bit"/>
          <p:cNvSpPr txBox="1"/>
          <p:nvPr/>
        </p:nvSpPr>
        <p:spPr>
          <a:xfrm>
            <a:off x="2770653" y="1191294"/>
            <a:ext cx="56316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 → 64 bit</a:t>
            </a:r>
          </a:p>
        </p:txBody>
      </p:sp>
      <p:sp>
        <p:nvSpPr>
          <p:cNvPr id="315" name="command-label: 指令 / MMU"/>
          <p:cNvSpPr txBox="1"/>
          <p:nvPr/>
        </p:nvSpPr>
        <p:spPr>
          <a:xfrm>
            <a:off x="971404" y="345169"/>
            <a:ext cx="563324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指令 / MMU</a:t>
            </a:r>
          </a:p>
        </p:txBody>
      </p:sp>
      <p:sp>
        <p:nvSpPr>
          <p:cNvPr id="316" name="npu-t0: NPU 计算引擎"/>
          <p:cNvSpPr txBox="1"/>
          <p:nvPr/>
        </p:nvSpPr>
        <p:spPr>
          <a:xfrm>
            <a:off x="3772331" y="642451"/>
            <a:ext cx="72727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计算引擎</a:t>
            </a:r>
          </a:p>
        </p:txBody>
      </p:sp>
      <p:sp>
        <p:nvSpPr>
          <p:cNvPr id="317" name="npu-t1: GB 数据读写"/>
          <p:cNvSpPr txBox="1"/>
          <p:nvPr/>
        </p:nvSpPr>
        <p:spPr>
          <a:xfrm>
            <a:off x="3846351" y="766267"/>
            <a:ext cx="579231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数据读写</a:t>
            </a:r>
          </a:p>
        </p:txBody>
      </p:sp>
      <p:sp>
        <p:nvSpPr>
          <p:cNvPr id="318" name="badge-C6-text: C6"/>
          <p:cNvSpPr txBox="1"/>
          <p:nvPr/>
        </p:nvSpPr>
        <p:spPr>
          <a:xfrm>
            <a:off x="4400815" y="915484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319" name="gb-adapter-t0: GB 访问适配"/>
          <p:cNvSpPr txBox="1"/>
          <p:nvPr/>
        </p:nvSpPr>
        <p:spPr>
          <a:xfrm>
            <a:off x="4766998" y="945219"/>
            <a:ext cx="66833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访问适配</a:t>
            </a:r>
          </a:p>
        </p:txBody>
      </p:sp>
      <p:sp>
        <p:nvSpPr>
          <p:cNvPr id="320" name="gb-adapter-t1: 局部仲裁 / 路由"/>
          <p:cNvSpPr txBox="1"/>
          <p:nvPr/>
        </p:nvSpPr>
        <p:spPr>
          <a:xfrm>
            <a:off x="4743707" y="1069035"/>
            <a:ext cx="7149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局部仲裁 / 路由</a:t>
            </a:r>
          </a:p>
        </p:txBody>
      </p:sp>
      <p:sp>
        <p:nvSpPr>
          <p:cNvPr id="321" name="gb-adapter-t2: bank 冲突处理"/>
          <p:cNvSpPr txBox="1"/>
          <p:nvPr/>
        </p:nvSpPr>
        <p:spPr>
          <a:xfrm>
            <a:off x="4774621" y="1174699"/>
            <a:ext cx="653092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bank 冲突处理</a:t>
            </a:r>
          </a:p>
        </p:txBody>
      </p:sp>
      <p:sp>
        <p:nvSpPr>
          <p:cNvPr id="322" name="global-buffer-t0: Global Buffer"/>
          <p:cNvSpPr txBox="1"/>
          <p:nvPr/>
        </p:nvSpPr>
        <p:spPr>
          <a:xfrm>
            <a:off x="6119760" y="568012"/>
            <a:ext cx="722948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Global Buffer</a:t>
            </a:r>
          </a:p>
        </p:txBody>
      </p:sp>
      <p:sp>
        <p:nvSpPr>
          <p:cNvPr id="323" name="global-buffer-t1: 独立 SRAM · 分 bank"/>
          <p:cNvSpPr txBox="1"/>
          <p:nvPr/>
        </p:nvSpPr>
        <p:spPr>
          <a:xfrm>
            <a:off x="5998895" y="699956"/>
            <a:ext cx="964676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 SRAM · 分 bank</a:t>
            </a:r>
          </a:p>
        </p:txBody>
      </p:sp>
      <p:sp>
        <p:nvSpPr>
          <p:cNvPr id="324" name="global-buffer-t2: CPU / Ara / NPU / ISP"/>
          <p:cNvSpPr txBox="1"/>
          <p:nvPr/>
        </p:nvSpPr>
        <p:spPr>
          <a:xfrm>
            <a:off x="5964854" y="813748"/>
            <a:ext cx="1032759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/ NPU / ISP</a:t>
            </a:r>
          </a:p>
        </p:txBody>
      </p:sp>
      <p:sp>
        <p:nvSpPr>
          <p:cNvPr id="325" name="badge-C9-text: C9"/>
          <p:cNvSpPr txBox="1"/>
          <p:nvPr/>
        </p:nvSpPr>
        <p:spPr>
          <a:xfrm>
            <a:off x="7144015" y="905324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sp>
        <p:nvSpPr>
          <p:cNvPr id="326" name="gb-mover-t0: NPU / GB 搬运引擎"/>
          <p:cNvSpPr txBox="1"/>
          <p:nvPr/>
        </p:nvSpPr>
        <p:spPr>
          <a:xfrm>
            <a:off x="5995808" y="1243584"/>
            <a:ext cx="97085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搬运引擎</a:t>
            </a:r>
          </a:p>
        </p:txBody>
      </p:sp>
      <p:sp>
        <p:nvSpPr>
          <p:cNvPr id="327" name="gb-mover-t1: DDR ↔ GB · AXI 主口"/>
          <p:cNvSpPr txBox="1"/>
          <p:nvPr/>
        </p:nvSpPr>
        <p:spPr>
          <a:xfrm>
            <a:off x="6027200" y="1367401"/>
            <a:ext cx="908066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↔ GB · AXI 主口</a:t>
            </a:r>
          </a:p>
        </p:txBody>
      </p:sp>
      <p:sp>
        <p:nvSpPr>
          <p:cNvPr id="328" name="badge-C7-text: C7"/>
          <p:cNvSpPr txBox="1"/>
          <p:nvPr/>
        </p:nvSpPr>
        <p:spPr>
          <a:xfrm>
            <a:off x="7144015" y="1437030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sp>
        <p:nvSpPr>
          <p:cNvPr id="329" name="lvds-rx-t0: LVDS 接收"/>
          <p:cNvSpPr txBox="1"/>
          <p:nvPr/>
        </p:nvSpPr>
        <p:spPr>
          <a:xfrm>
            <a:off x="7684971" y="862584"/>
            <a:ext cx="57279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接收</a:t>
            </a:r>
          </a:p>
        </p:txBody>
      </p:sp>
      <p:sp>
        <p:nvSpPr>
          <p:cNvPr id="330" name="lvds-rx-t1: 解串 / 帧行"/>
          <p:cNvSpPr txBox="1"/>
          <p:nvPr/>
        </p:nvSpPr>
        <p:spPr>
          <a:xfrm>
            <a:off x="7701960" y="986401"/>
            <a:ext cx="53881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解串 / 帧行</a:t>
            </a:r>
          </a:p>
        </p:txBody>
      </p:sp>
      <p:sp>
        <p:nvSpPr>
          <p:cNvPr id="331" name="rx-cdc-t0: CDC / FIFO"/>
          <p:cNvSpPr txBox="1"/>
          <p:nvPr/>
        </p:nvSpPr>
        <p:spPr>
          <a:xfrm>
            <a:off x="8323858" y="862584"/>
            <a:ext cx="59888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CDC / FIFO</a:t>
            </a:r>
          </a:p>
        </p:txBody>
      </p:sp>
      <p:sp>
        <p:nvSpPr>
          <p:cNvPr id="332" name="rx-cdc-t1: 像素流缓冲"/>
          <p:cNvSpPr txBox="1"/>
          <p:nvPr/>
        </p:nvSpPr>
        <p:spPr>
          <a:xfrm>
            <a:off x="8359140" y="986401"/>
            <a:ext cx="5283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像素流缓冲</a:t>
            </a:r>
          </a:p>
        </p:txBody>
      </p:sp>
      <p:sp>
        <p:nvSpPr>
          <p:cNvPr id="333" name="isp-t0: ISP"/>
          <p:cNvSpPr txBox="1"/>
          <p:nvPr/>
        </p:nvSpPr>
        <p:spPr>
          <a:xfrm>
            <a:off x="9151355" y="862584"/>
            <a:ext cx="24775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334" name="isp-t1: 行缓存 / 处理"/>
          <p:cNvSpPr txBox="1"/>
          <p:nvPr/>
        </p:nvSpPr>
        <p:spPr>
          <a:xfrm>
            <a:off x="8961800" y="986401"/>
            <a:ext cx="6268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行缓存 / 处理</a:t>
            </a:r>
          </a:p>
        </p:txBody>
      </p:sp>
      <p:sp>
        <p:nvSpPr>
          <p:cNvPr id="335" name="frame-select-t0: 帧边界选择"/>
          <p:cNvSpPr txBox="1"/>
          <p:nvPr/>
        </p:nvSpPr>
        <p:spPr>
          <a:xfrm>
            <a:off x="9656233" y="862584"/>
            <a:ext cx="6096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帧边界选择</a:t>
            </a:r>
          </a:p>
        </p:txBody>
      </p:sp>
      <p:sp>
        <p:nvSpPr>
          <p:cNvPr id="336" name="frame-select-t1: RAW / ISP"/>
          <p:cNvSpPr txBox="1"/>
          <p:nvPr/>
        </p:nvSpPr>
        <p:spPr>
          <a:xfrm>
            <a:off x="9716431" y="986401"/>
            <a:ext cx="489204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RAW / ISP</a:t>
            </a:r>
          </a:p>
        </p:txBody>
      </p:sp>
      <p:sp>
        <p:nvSpPr>
          <p:cNvPr id="337" name="frame-dma-t0: 帧写入 DMA"/>
          <p:cNvSpPr txBox="1"/>
          <p:nvPr/>
        </p:nvSpPr>
        <p:spPr>
          <a:xfrm>
            <a:off x="10426470" y="862584"/>
            <a:ext cx="64392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338" name="frame-dma-t1: 地址 / stride"/>
          <p:cNvSpPr txBox="1"/>
          <p:nvPr/>
        </p:nvSpPr>
        <p:spPr>
          <a:xfrm>
            <a:off x="10458088" y="986401"/>
            <a:ext cx="580692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stride</a:t>
            </a:r>
          </a:p>
        </p:txBody>
      </p:sp>
      <p:sp>
        <p:nvSpPr>
          <p:cNvPr id="339" name="raw-bypass-label: RAW 旁路"/>
          <p:cNvSpPr txBox="1"/>
          <p:nvPr/>
        </p:nvSpPr>
        <p:spPr>
          <a:xfrm>
            <a:off x="9046218" y="389196"/>
            <a:ext cx="46649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RAW 旁路</a:t>
            </a:r>
          </a:p>
        </p:txBody>
      </p:sp>
      <p:sp>
        <p:nvSpPr>
          <p:cNvPr id="340" name="badge-C4-text: C4"/>
          <p:cNvSpPr txBox="1"/>
          <p:nvPr/>
        </p:nvSpPr>
        <p:spPr>
          <a:xfrm>
            <a:off x="8058415" y="1152550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341" name="badge-C5-text: C5"/>
          <p:cNvSpPr txBox="1"/>
          <p:nvPr/>
        </p:nvSpPr>
        <p:spPr>
          <a:xfrm>
            <a:off x="9362281" y="1152550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342" name="badge-C8-text: C8"/>
          <p:cNvSpPr txBox="1"/>
          <p:nvPr/>
        </p:nvSpPr>
        <p:spPr>
          <a:xfrm>
            <a:off x="10920148" y="1152550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sp>
        <p:nvSpPr>
          <p:cNvPr id="343" name="isp-gb-label: ISP 中间数据 ↔ GB"/>
          <p:cNvSpPr txBox="1"/>
          <p:nvPr/>
        </p:nvSpPr>
        <p:spPr>
          <a:xfrm>
            <a:off x="8009424" y="1530502"/>
            <a:ext cx="846751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ISP 中间数据 ↔ GB</a:t>
            </a:r>
          </a:p>
        </p:txBody>
      </p:sp>
      <p:sp>
        <p:nvSpPr>
          <p:cNvPr id="344" name="crossbar-title: AXI Crossbar"/>
          <p:cNvSpPr txBox="1"/>
          <p:nvPr/>
        </p:nvSpPr>
        <p:spPr>
          <a:xfrm>
            <a:off x="4632783" y="2408326"/>
            <a:ext cx="801301" cy="1950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Crossbar</a:t>
            </a:r>
          </a:p>
        </p:txBody>
      </p:sp>
      <p:sp>
        <p:nvSpPr>
          <p:cNvPr id="345" name="crossbar-caption: 8 × 6 固定端口 + 扩展 | 64 bit 数据 / 48 bit 地址 "/>
          <p:cNvSpPr txBox="1"/>
          <p:nvPr/>
        </p:nvSpPr>
        <p:spPr>
          <a:xfrm>
            <a:off x="3552023" y="2580369"/>
            <a:ext cx="29628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8 × 6 固定端口 + 扩展 | 64 bit 数据 / 48 bit 地址 | 地址译码 / 各目标仲裁</a:t>
            </a:r>
          </a:p>
        </p:txBody>
      </p:sp>
      <p:sp>
        <p:nvSpPr>
          <p:cNvPr id="346" name="crossbar-rt-note: 输入侧 AXI RT · 按配置可选"/>
          <p:cNvSpPr txBox="1"/>
          <p:nvPr/>
        </p:nvSpPr>
        <p:spPr>
          <a:xfrm>
            <a:off x="457226" y="2672351"/>
            <a:ext cx="1049814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输入侧 AXI RT · 按配置可选</a:t>
            </a:r>
          </a:p>
        </p:txBody>
      </p:sp>
      <p:sp>
        <p:nvSpPr>
          <p:cNvPr id="347" name="crossbar-error-note: 未映射请求：DECERR"/>
          <p:cNvSpPr txBox="1"/>
          <p:nvPr/>
        </p:nvSpPr>
        <p:spPr>
          <a:xfrm>
            <a:off x="8745630" y="2672351"/>
            <a:ext cx="864473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未映射请求：DECERR</a:t>
            </a:r>
          </a:p>
        </p:txBody>
      </p:sp>
      <p:sp>
        <p:nvSpPr>
          <p:cNvPr id="348" name="xbar-in-S0-t0: S0"/>
          <p:cNvSpPr txBox="1"/>
          <p:nvPr/>
        </p:nvSpPr>
        <p:spPr>
          <a:xfrm>
            <a:off x="689225" y="2314279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sp>
        <p:nvSpPr>
          <p:cNvPr id="349" name="xbar-in-S1-t0: S1"/>
          <p:cNvSpPr txBox="1"/>
          <p:nvPr/>
        </p:nvSpPr>
        <p:spPr>
          <a:xfrm>
            <a:off x="1754143" y="2314279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350" name="xbar-in-S2-t0: S2"/>
          <p:cNvSpPr txBox="1"/>
          <p:nvPr/>
        </p:nvSpPr>
        <p:spPr>
          <a:xfrm>
            <a:off x="2819062" y="2314279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351" name="xbar-in-S3-t0: S3"/>
          <p:cNvSpPr txBox="1"/>
          <p:nvPr/>
        </p:nvSpPr>
        <p:spPr>
          <a:xfrm>
            <a:off x="3883980" y="2314279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S3</a:t>
            </a:r>
          </a:p>
        </p:txBody>
      </p:sp>
      <p:sp>
        <p:nvSpPr>
          <p:cNvPr id="352" name="xbar-in-S4-t0: S4"/>
          <p:cNvSpPr txBox="1"/>
          <p:nvPr/>
        </p:nvSpPr>
        <p:spPr>
          <a:xfrm>
            <a:off x="4948899" y="2314279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S4</a:t>
            </a:r>
          </a:p>
        </p:txBody>
      </p:sp>
      <p:sp>
        <p:nvSpPr>
          <p:cNvPr id="353" name="xbar-in-S5-t0: S5"/>
          <p:cNvSpPr txBox="1"/>
          <p:nvPr/>
        </p:nvSpPr>
        <p:spPr>
          <a:xfrm>
            <a:off x="6013817" y="2314279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S5</a:t>
            </a:r>
          </a:p>
        </p:txBody>
      </p:sp>
      <p:sp>
        <p:nvSpPr>
          <p:cNvPr id="354" name="xbar-in-S6-t0: S6"/>
          <p:cNvSpPr txBox="1"/>
          <p:nvPr/>
        </p:nvSpPr>
        <p:spPr>
          <a:xfrm>
            <a:off x="7078736" y="2314279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S6</a:t>
            </a:r>
          </a:p>
        </p:txBody>
      </p:sp>
      <p:sp>
        <p:nvSpPr>
          <p:cNvPr id="355" name="xbar-in-S7-t0: S7"/>
          <p:cNvSpPr txBox="1"/>
          <p:nvPr/>
        </p:nvSpPr>
        <p:spPr>
          <a:xfrm>
            <a:off x="8143655" y="2314279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S7</a:t>
            </a:r>
          </a:p>
        </p:txBody>
      </p:sp>
      <p:sp>
        <p:nvSpPr>
          <p:cNvPr id="356" name="xbar-in-S_EXT-t0: S_EXT"/>
          <p:cNvSpPr txBox="1"/>
          <p:nvPr/>
        </p:nvSpPr>
        <p:spPr>
          <a:xfrm>
            <a:off x="9151457" y="2314279"/>
            <a:ext cx="283300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S_EXT</a:t>
            </a:r>
          </a:p>
        </p:txBody>
      </p:sp>
      <p:sp>
        <p:nvSpPr>
          <p:cNvPr id="357" name="debug-sba-t0: Debug / SBA"/>
          <p:cNvSpPr txBox="1"/>
          <p:nvPr/>
        </p:nvSpPr>
        <p:spPr>
          <a:xfrm>
            <a:off x="1498654" y="1920917"/>
            <a:ext cx="68004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/ SBA</a:t>
            </a:r>
          </a:p>
        </p:txBody>
      </p:sp>
      <p:sp>
        <p:nvSpPr>
          <p:cNvPr id="358" name="debug-sba-t1: JTAG 总线访问"/>
          <p:cNvSpPr txBox="1"/>
          <p:nvPr/>
        </p:nvSpPr>
        <p:spPr>
          <a:xfrm>
            <a:off x="1512089" y="2044734"/>
            <a:ext cx="65317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JTAG 总线访问</a:t>
            </a:r>
          </a:p>
        </p:txBody>
      </p:sp>
      <p:sp>
        <p:nvSpPr>
          <p:cNvPr id="359" name="idma-master-t0: iDMA 数据主口"/>
          <p:cNvSpPr txBox="1"/>
          <p:nvPr/>
        </p:nvSpPr>
        <p:spPr>
          <a:xfrm>
            <a:off x="3583596" y="1920917"/>
            <a:ext cx="76983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数据主口</a:t>
            </a:r>
          </a:p>
        </p:txBody>
      </p:sp>
      <p:sp>
        <p:nvSpPr>
          <p:cNvPr id="360" name="idma-master-t1: 内存 → 内存"/>
          <p:cNvSpPr txBox="1"/>
          <p:nvPr/>
        </p:nvSpPr>
        <p:spPr>
          <a:xfrm>
            <a:off x="3677955" y="2044734"/>
            <a:ext cx="5811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 → 内存</a:t>
            </a:r>
          </a:p>
        </p:txBody>
      </p:sp>
      <p:sp>
        <p:nvSpPr>
          <p:cNvPr id="361" name="slink-rx-t0: Serial Link RX"/>
          <p:cNvSpPr txBox="1"/>
          <p:nvPr/>
        </p:nvSpPr>
        <p:spPr>
          <a:xfrm>
            <a:off x="4676243" y="1920917"/>
            <a:ext cx="71438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RX</a:t>
            </a:r>
          </a:p>
        </p:txBody>
      </p:sp>
      <p:sp>
        <p:nvSpPr>
          <p:cNvPr id="362" name="slink-rx-t1: 远端请求入口"/>
          <p:cNvSpPr txBox="1"/>
          <p:nvPr/>
        </p:nvSpPr>
        <p:spPr>
          <a:xfrm>
            <a:off x="4725247" y="2044734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远端请求入口</a:t>
            </a:r>
          </a:p>
        </p:txBody>
      </p:sp>
      <p:sp>
        <p:nvSpPr>
          <p:cNvPr id="363" name="vga-t0: VGA"/>
          <p:cNvSpPr txBox="1"/>
          <p:nvPr/>
        </p:nvSpPr>
        <p:spPr>
          <a:xfrm>
            <a:off x="5957213" y="1920917"/>
            <a:ext cx="28227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</a:t>
            </a:r>
          </a:p>
        </p:txBody>
      </p:sp>
      <p:sp>
        <p:nvSpPr>
          <p:cNvPr id="364" name="vga-t1: 帧缓冲读取"/>
          <p:cNvSpPr txBox="1"/>
          <p:nvPr/>
        </p:nvSpPr>
        <p:spPr>
          <a:xfrm>
            <a:off x="5834192" y="2044734"/>
            <a:ext cx="5283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帧缓冲读取</a:t>
            </a:r>
          </a:p>
        </p:txBody>
      </p:sp>
      <p:sp>
        <p:nvSpPr>
          <p:cNvPr id="365" name="usb-dma-t0: USB DMA"/>
          <p:cNvSpPr txBox="1"/>
          <p:nvPr/>
        </p:nvSpPr>
        <p:spPr>
          <a:xfrm>
            <a:off x="6898306" y="1920917"/>
            <a:ext cx="52992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DMA</a:t>
            </a:r>
          </a:p>
        </p:txBody>
      </p:sp>
      <p:sp>
        <p:nvSpPr>
          <p:cNvPr id="366" name="usb-dma-t1: OHCI 主口"/>
          <p:cNvSpPr txBox="1"/>
          <p:nvPr/>
        </p:nvSpPr>
        <p:spPr>
          <a:xfrm>
            <a:off x="6921248" y="2044734"/>
            <a:ext cx="484045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OHCI 主口</a:t>
            </a:r>
          </a:p>
        </p:txBody>
      </p:sp>
      <p:sp>
        <p:nvSpPr>
          <p:cNvPr id="367" name="emmc-host-t0: eMMC Host / DMA"/>
          <p:cNvSpPr txBox="1"/>
          <p:nvPr/>
        </p:nvSpPr>
        <p:spPr>
          <a:xfrm>
            <a:off x="7756209" y="1920917"/>
            <a:ext cx="94395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eMMC Host / DMA</a:t>
            </a:r>
          </a:p>
        </p:txBody>
      </p:sp>
      <p:sp>
        <p:nvSpPr>
          <p:cNvPr id="368" name="emmc-host-t1: 存储块 ↔ 内存"/>
          <p:cNvSpPr txBox="1"/>
          <p:nvPr/>
        </p:nvSpPr>
        <p:spPr>
          <a:xfrm>
            <a:off x="7825869" y="2044734"/>
            <a:ext cx="669174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存储块 ↔ 内存</a:t>
            </a:r>
          </a:p>
        </p:txBody>
      </p:sp>
      <p:sp>
        <p:nvSpPr>
          <p:cNvPr id="369" name="ext-master-t0: AXI 外部 master"/>
          <p:cNvSpPr txBox="1"/>
          <p:nvPr/>
        </p:nvSpPr>
        <p:spPr>
          <a:xfrm>
            <a:off x="8886014" y="1920917"/>
            <a:ext cx="81418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master</a:t>
            </a:r>
          </a:p>
        </p:txBody>
      </p:sp>
      <p:sp>
        <p:nvSpPr>
          <p:cNvPr id="370" name="ext-master-t1: 可选扩展入口"/>
          <p:cNvSpPr txBox="1"/>
          <p:nvPr/>
        </p:nvSpPr>
        <p:spPr>
          <a:xfrm>
            <a:off x="8984921" y="2044734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可选扩展入口</a:t>
            </a:r>
          </a:p>
        </p:txBody>
      </p:sp>
      <p:sp>
        <p:nvSpPr>
          <p:cNvPr id="371" name="badge-C10-text: C10"/>
          <p:cNvSpPr txBox="1"/>
          <p:nvPr/>
        </p:nvSpPr>
        <p:spPr>
          <a:xfrm>
            <a:off x="8495421" y="2104204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C10</a:t>
            </a:r>
          </a:p>
        </p:txBody>
      </p:sp>
      <p:sp>
        <p:nvSpPr>
          <p:cNvPr id="372" name="xbar-out-M0-t0: M0"/>
          <p:cNvSpPr txBox="1"/>
          <p:nvPr/>
        </p:nvSpPr>
        <p:spPr>
          <a:xfrm>
            <a:off x="833731" y="2771479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M0</a:t>
            </a:r>
          </a:p>
        </p:txBody>
      </p:sp>
      <p:sp>
        <p:nvSpPr>
          <p:cNvPr id="373" name="debug-target-t0: Debug 目标"/>
          <p:cNvSpPr txBox="1"/>
          <p:nvPr/>
        </p:nvSpPr>
        <p:spPr>
          <a:xfrm>
            <a:off x="617222" y="3182451"/>
            <a:ext cx="61733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目标</a:t>
            </a:r>
          </a:p>
        </p:txBody>
      </p:sp>
      <p:sp>
        <p:nvSpPr>
          <p:cNvPr id="374" name="debug-target-t1: 调试模块窗口"/>
          <p:cNvSpPr txBox="1"/>
          <p:nvPr/>
        </p:nvSpPr>
        <p:spPr>
          <a:xfrm>
            <a:off x="617704" y="3306267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调试模块窗口</a:t>
            </a:r>
          </a:p>
        </p:txBody>
      </p:sp>
      <p:sp>
        <p:nvSpPr>
          <p:cNvPr id="375" name="xbar-out-M1-t0: M1"/>
          <p:cNvSpPr txBox="1"/>
          <p:nvPr/>
        </p:nvSpPr>
        <p:spPr>
          <a:xfrm>
            <a:off x="2202912" y="2771479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M1</a:t>
            </a:r>
          </a:p>
        </p:txBody>
      </p:sp>
      <p:sp>
        <p:nvSpPr>
          <p:cNvPr id="376" name="reg-bridge-t0: AXI → Regbus"/>
          <p:cNvSpPr txBox="1"/>
          <p:nvPr/>
        </p:nvSpPr>
        <p:spPr>
          <a:xfrm>
            <a:off x="1928605" y="3182451"/>
            <a:ext cx="73293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→ Regbus</a:t>
            </a:r>
          </a:p>
        </p:txBody>
      </p:sp>
      <p:sp>
        <p:nvSpPr>
          <p:cNvPr id="377" name="reg-bridge-t1: 原子适配 / 32 bit 桥"/>
          <p:cNvSpPr txBox="1"/>
          <p:nvPr/>
        </p:nvSpPr>
        <p:spPr>
          <a:xfrm>
            <a:off x="1854112" y="3306267"/>
            <a:ext cx="8819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/ 32 bit 桥</a:t>
            </a:r>
          </a:p>
        </p:txBody>
      </p:sp>
      <p:sp>
        <p:nvSpPr>
          <p:cNvPr id="378" name="xbar-out-M2-t0: M2"/>
          <p:cNvSpPr txBox="1"/>
          <p:nvPr/>
        </p:nvSpPr>
        <p:spPr>
          <a:xfrm>
            <a:off x="3572093" y="2771479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M2</a:t>
            </a:r>
          </a:p>
        </p:txBody>
      </p:sp>
      <p:sp>
        <p:nvSpPr>
          <p:cNvPr id="379" name="memory-title: 主存 / SPM 共用目标"/>
          <p:cNvSpPr txBox="1"/>
          <p:nvPr/>
        </p:nvSpPr>
        <p:spPr>
          <a:xfrm>
            <a:off x="3135070" y="3053419"/>
            <a:ext cx="1058365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主存 / SPM 共用目标</a:t>
            </a:r>
          </a:p>
        </p:txBody>
      </p:sp>
      <p:sp>
        <p:nvSpPr>
          <p:cNvPr id="380" name="atomics-t0: 原子适配"/>
          <p:cNvSpPr txBox="1"/>
          <p:nvPr/>
        </p:nvSpPr>
        <p:spPr>
          <a:xfrm>
            <a:off x="3112141" y="3266694"/>
            <a:ext cx="443823" cy="1422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</a:p>
        </p:txBody>
      </p:sp>
      <p:sp>
        <p:nvSpPr>
          <p:cNvPr id="381" name="atomics-t1: AMO / LRSC"/>
          <p:cNvSpPr txBox="1"/>
          <p:nvPr/>
        </p:nvSpPr>
        <p:spPr>
          <a:xfrm>
            <a:off x="3003106" y="3371596"/>
            <a:ext cx="66189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AMO / LRSC</a:t>
            </a:r>
          </a:p>
        </p:txBody>
      </p:sp>
      <p:sp>
        <p:nvSpPr>
          <p:cNvPr id="382" name="llc-spm-t0: LLC / SPM"/>
          <p:cNvSpPr txBox="1"/>
          <p:nvPr/>
        </p:nvSpPr>
        <p:spPr>
          <a:xfrm>
            <a:off x="3765270" y="3270758"/>
            <a:ext cx="509164" cy="1422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/ SPM</a:t>
            </a:r>
          </a:p>
        </p:txBody>
      </p:sp>
      <p:sp>
        <p:nvSpPr>
          <p:cNvPr id="383" name="llc-spm-t1: SRAM 阵列"/>
          <p:cNvSpPr txBox="1"/>
          <p:nvPr/>
        </p:nvSpPr>
        <p:spPr>
          <a:xfrm>
            <a:off x="3739304" y="3376608"/>
            <a:ext cx="561097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SRAM 阵列</a:t>
            </a:r>
          </a:p>
        </p:txBody>
      </p:sp>
      <p:sp>
        <p:nvSpPr>
          <p:cNvPr id="384" name="xbar-out-M3-t0: M3"/>
          <p:cNvSpPr txBox="1"/>
          <p:nvPr/>
        </p:nvSpPr>
        <p:spPr>
          <a:xfrm>
            <a:off x="4941274" y="2771479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M3</a:t>
            </a:r>
          </a:p>
        </p:txBody>
      </p:sp>
      <p:sp>
        <p:nvSpPr>
          <p:cNvPr id="385" name="idma-config-t0: iDMA 配置"/>
          <p:cNvSpPr txBox="1"/>
          <p:nvPr/>
        </p:nvSpPr>
        <p:spPr>
          <a:xfrm>
            <a:off x="4750115" y="3129619"/>
            <a:ext cx="56663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配置</a:t>
            </a:r>
          </a:p>
        </p:txBody>
      </p:sp>
      <p:sp>
        <p:nvSpPr>
          <p:cNvPr id="386" name="idma-config-t1: 原子适配 → AXI→Reg"/>
          <p:cNvSpPr txBox="1"/>
          <p:nvPr/>
        </p:nvSpPr>
        <p:spPr>
          <a:xfrm>
            <a:off x="4566034" y="3253435"/>
            <a:ext cx="934799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→ AXI→Reg</a:t>
            </a:r>
          </a:p>
        </p:txBody>
      </p:sp>
      <p:sp>
        <p:nvSpPr>
          <p:cNvPr id="387" name="idma-config-t2: wrapper 内部寄存器"/>
          <p:cNvSpPr txBox="1"/>
          <p:nvPr/>
        </p:nvSpPr>
        <p:spPr>
          <a:xfrm>
            <a:off x="4603999" y="3359099"/>
            <a:ext cx="858869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wrapper 内部寄存器</a:t>
            </a:r>
          </a:p>
        </p:txBody>
      </p:sp>
      <p:sp>
        <p:nvSpPr>
          <p:cNvPr id="388" name="xbar-out-M4-t0: M4"/>
          <p:cNvSpPr txBox="1"/>
          <p:nvPr/>
        </p:nvSpPr>
        <p:spPr>
          <a:xfrm>
            <a:off x="6310455" y="2771479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M4</a:t>
            </a:r>
          </a:p>
        </p:txBody>
      </p:sp>
      <p:sp>
        <p:nvSpPr>
          <p:cNvPr id="389" name="slink-tx-t0: Serial Link TX"/>
          <p:cNvSpPr txBox="1"/>
          <p:nvPr/>
        </p:nvSpPr>
        <p:spPr>
          <a:xfrm>
            <a:off x="6051478" y="3182451"/>
            <a:ext cx="70227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TX</a:t>
            </a:r>
          </a:p>
        </p:txBody>
      </p:sp>
      <p:sp>
        <p:nvSpPr>
          <p:cNvPr id="390" name="slink-tx-t1: 远端目标窗口"/>
          <p:cNvSpPr txBox="1"/>
          <p:nvPr/>
        </p:nvSpPr>
        <p:spPr>
          <a:xfrm>
            <a:off x="6094428" y="3306267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远端目标窗口</a:t>
            </a:r>
          </a:p>
        </p:txBody>
      </p:sp>
      <p:sp>
        <p:nvSpPr>
          <p:cNvPr id="391" name="xbar-out-M5-t0: M5"/>
          <p:cNvSpPr txBox="1"/>
          <p:nvPr/>
        </p:nvSpPr>
        <p:spPr>
          <a:xfrm>
            <a:off x="7679636" y="2771479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M5</a:t>
            </a:r>
          </a:p>
        </p:txBody>
      </p:sp>
      <p:sp>
        <p:nvSpPr>
          <p:cNvPr id="392" name="gb-interface-t0: GB AXI 接口"/>
          <p:cNvSpPr txBox="1"/>
          <p:nvPr/>
        </p:nvSpPr>
        <p:spPr>
          <a:xfrm>
            <a:off x="7454988" y="3129619"/>
            <a:ext cx="63361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AXI 接口</a:t>
            </a:r>
          </a:p>
        </p:txBody>
      </p:sp>
      <p:sp>
        <p:nvSpPr>
          <p:cNvPr id="393" name="gb-interface-t1: CPU / Ara / eMMC DMA"/>
          <p:cNvSpPr txBox="1"/>
          <p:nvPr/>
        </p:nvSpPr>
        <p:spPr>
          <a:xfrm>
            <a:off x="7260665" y="3253435"/>
            <a:ext cx="102226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/ eMMC DMA</a:t>
            </a:r>
          </a:p>
        </p:txBody>
      </p:sp>
      <p:sp>
        <p:nvSpPr>
          <p:cNvPr id="394" name="gb-interface-t2: 64-bit 数据窗口 · 共用"/>
          <p:cNvSpPr txBox="1"/>
          <p:nvPr/>
        </p:nvSpPr>
        <p:spPr>
          <a:xfrm>
            <a:off x="7299149" y="3359099"/>
            <a:ext cx="94529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64-bit 数据窗口 · 共用</a:t>
            </a:r>
          </a:p>
        </p:txBody>
      </p:sp>
      <p:sp>
        <p:nvSpPr>
          <p:cNvPr id="395" name="xbar-out-M_EXT-t0: M_EXT"/>
          <p:cNvSpPr txBox="1"/>
          <p:nvPr/>
        </p:nvSpPr>
        <p:spPr>
          <a:xfrm>
            <a:off x="8991701" y="2771479"/>
            <a:ext cx="298551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M_EXT</a:t>
            </a:r>
          </a:p>
        </p:txBody>
      </p:sp>
      <p:sp>
        <p:nvSpPr>
          <p:cNvPr id="396" name="ext-target-t0: AXI 外部 slave"/>
          <p:cNvSpPr txBox="1"/>
          <p:nvPr/>
        </p:nvSpPr>
        <p:spPr>
          <a:xfrm>
            <a:off x="8773467" y="3182451"/>
            <a:ext cx="73501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slave</a:t>
            </a:r>
          </a:p>
        </p:txBody>
      </p:sp>
      <p:sp>
        <p:nvSpPr>
          <p:cNvPr id="397" name="ext-target-t1: 可选外部目标扩展"/>
          <p:cNvSpPr txBox="1"/>
          <p:nvPr/>
        </p:nvSpPr>
        <p:spPr>
          <a:xfrm>
            <a:off x="8744736" y="3306267"/>
            <a:ext cx="79248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可选外部目标扩展</a:t>
            </a:r>
          </a:p>
        </p:txBody>
      </p:sp>
      <p:sp>
        <p:nvSpPr>
          <p:cNvPr id="398" name="emmc-device-t0: eMMC"/>
          <p:cNvSpPr txBox="1"/>
          <p:nvPr/>
        </p:nvSpPr>
        <p:spPr>
          <a:xfrm>
            <a:off x="11550065" y="1910893"/>
            <a:ext cx="437203" cy="1842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eMMC</a:t>
            </a:r>
          </a:p>
        </p:txBody>
      </p:sp>
      <p:sp>
        <p:nvSpPr>
          <p:cNvPr id="399" name="emmc-device-t1: 模型 / 校正参数"/>
          <p:cNvSpPr txBox="1"/>
          <p:nvPr/>
        </p:nvSpPr>
        <p:spPr>
          <a:xfrm>
            <a:off x="11411207" y="2052862"/>
            <a:ext cx="7149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模型 / 校正参数</a:t>
            </a:r>
          </a:p>
        </p:txBody>
      </p:sp>
      <p:sp>
        <p:nvSpPr>
          <p:cNvPr id="400" name="regbus-t0: Regbus decode / demux · 32 bit"/>
          <p:cNvSpPr txBox="1"/>
          <p:nvPr/>
        </p:nvSpPr>
        <p:spPr>
          <a:xfrm>
            <a:off x="2213213" y="3868725"/>
            <a:ext cx="1745774" cy="1842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Regbus decode / demux · 32 bit</a:t>
            </a:r>
          </a:p>
        </p:txBody>
      </p:sp>
      <p:sp>
        <p:nvSpPr>
          <p:cNvPr id="401" name="bootrom-t0: Boot ROM"/>
          <p:cNvSpPr txBox="1"/>
          <p:nvPr/>
        </p:nvSpPr>
        <p:spPr>
          <a:xfrm>
            <a:off x="592799" y="4169664"/>
            <a:ext cx="55006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Boot ROM</a:t>
            </a:r>
          </a:p>
        </p:txBody>
      </p:sp>
      <p:sp>
        <p:nvSpPr>
          <p:cNvPr id="402" name="bootrom-t1: 启动代码"/>
          <p:cNvSpPr txBox="1"/>
          <p:nvPr/>
        </p:nvSpPr>
        <p:spPr>
          <a:xfrm>
            <a:off x="647700" y="4293481"/>
            <a:ext cx="4402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启动代码</a:t>
            </a:r>
          </a:p>
        </p:txBody>
      </p:sp>
      <p:sp>
        <p:nvSpPr>
          <p:cNvPr id="403" name="uart-t0: UART"/>
          <p:cNvSpPr txBox="1"/>
          <p:nvPr/>
        </p:nvSpPr>
        <p:spPr>
          <a:xfrm>
            <a:off x="699259" y="4508331"/>
            <a:ext cx="33714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UART</a:t>
            </a:r>
          </a:p>
        </p:txBody>
      </p:sp>
      <p:sp>
        <p:nvSpPr>
          <p:cNvPr id="404" name="uart-t1: 串口控制"/>
          <p:cNvSpPr txBox="1"/>
          <p:nvPr/>
        </p:nvSpPr>
        <p:spPr>
          <a:xfrm>
            <a:off x="647700" y="4632147"/>
            <a:ext cx="4402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串口控制</a:t>
            </a:r>
          </a:p>
        </p:txBody>
      </p:sp>
      <p:sp>
        <p:nvSpPr>
          <p:cNvPr id="405" name="vga-regs-t0: VGA 配置"/>
          <p:cNvSpPr txBox="1"/>
          <p:nvPr/>
        </p:nvSpPr>
        <p:spPr>
          <a:xfrm>
            <a:off x="609865" y="4846997"/>
            <a:ext cx="51593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 配置</a:t>
            </a:r>
          </a:p>
        </p:txBody>
      </p:sp>
      <p:sp>
        <p:nvSpPr>
          <p:cNvPr id="406" name="vga-regs-t1: 时序 / 帧地址"/>
          <p:cNvSpPr txBox="1"/>
          <p:nvPr/>
        </p:nvSpPr>
        <p:spPr>
          <a:xfrm>
            <a:off x="554400" y="4970814"/>
            <a:ext cx="6268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时序 / 帧地址</a:t>
            </a:r>
          </a:p>
        </p:txBody>
      </p:sp>
      <p:sp>
        <p:nvSpPr>
          <p:cNvPr id="407" name="irq-router-t0: IRQ router"/>
          <p:cNvSpPr txBox="1"/>
          <p:nvPr/>
        </p:nvSpPr>
        <p:spPr>
          <a:xfrm>
            <a:off x="592849" y="5185664"/>
            <a:ext cx="54996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IRQ router</a:t>
            </a:r>
          </a:p>
        </p:txBody>
      </p:sp>
      <p:sp>
        <p:nvSpPr>
          <p:cNvPr id="408" name="irq-router-t1: 可选中断路由"/>
          <p:cNvSpPr txBox="1"/>
          <p:nvPr/>
        </p:nvSpPr>
        <p:spPr>
          <a:xfrm>
            <a:off x="559647" y="5309481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可选中断路由</a:t>
            </a:r>
          </a:p>
        </p:txBody>
      </p:sp>
      <p:sp>
        <p:nvSpPr>
          <p:cNvPr id="409" name="clint-t0: CLINT"/>
          <p:cNvSpPr txBox="1"/>
          <p:nvPr/>
        </p:nvSpPr>
        <p:spPr>
          <a:xfrm>
            <a:off x="1805697" y="4169664"/>
            <a:ext cx="35947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CLINT</a:t>
            </a:r>
          </a:p>
        </p:txBody>
      </p:sp>
      <p:sp>
        <p:nvSpPr>
          <p:cNvPr id="410" name="clint-t1: 软件 / 定时中断"/>
          <p:cNvSpPr txBox="1"/>
          <p:nvPr/>
        </p:nvSpPr>
        <p:spPr>
          <a:xfrm>
            <a:off x="1627973" y="4293481"/>
            <a:ext cx="7149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软件 / 定时中断</a:t>
            </a:r>
          </a:p>
        </p:txBody>
      </p:sp>
      <p:sp>
        <p:nvSpPr>
          <p:cNvPr id="411" name="i2c-t0: I²C"/>
          <p:cNvSpPr txBox="1"/>
          <p:nvPr/>
        </p:nvSpPr>
        <p:spPr>
          <a:xfrm>
            <a:off x="1871726" y="4508331"/>
            <a:ext cx="227415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I²C</a:t>
            </a:r>
          </a:p>
        </p:txBody>
      </p:sp>
      <p:sp>
        <p:nvSpPr>
          <p:cNvPr id="412" name="i2c-t1: 两线串行接口"/>
          <p:cNvSpPr txBox="1"/>
          <p:nvPr/>
        </p:nvSpPr>
        <p:spPr>
          <a:xfrm>
            <a:off x="1677247" y="4632147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两线串行接口</a:t>
            </a:r>
          </a:p>
        </p:txBody>
      </p:sp>
      <p:sp>
        <p:nvSpPr>
          <p:cNvPr id="413" name="usb-regs-t0: USB 配置"/>
          <p:cNvSpPr txBox="1"/>
          <p:nvPr/>
        </p:nvSpPr>
        <p:spPr>
          <a:xfrm>
            <a:off x="1722403" y="4846997"/>
            <a:ext cx="52606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配置</a:t>
            </a:r>
          </a:p>
        </p:txBody>
      </p:sp>
      <p:sp>
        <p:nvSpPr>
          <p:cNvPr id="414" name="usb-regs-t1: OHCI 寄存器"/>
          <p:cNvSpPr txBox="1"/>
          <p:nvPr/>
        </p:nvSpPr>
        <p:spPr>
          <a:xfrm>
            <a:off x="1699384" y="4970814"/>
            <a:ext cx="572098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OHCI 寄存器</a:t>
            </a:r>
          </a:p>
        </p:txBody>
      </p:sp>
      <p:sp>
        <p:nvSpPr>
          <p:cNvPr id="415" name="axi-rt-config-t0: AXI RT 配置"/>
          <p:cNvSpPr txBox="1"/>
          <p:nvPr/>
        </p:nvSpPr>
        <p:spPr>
          <a:xfrm>
            <a:off x="1676712" y="5185664"/>
            <a:ext cx="61744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RT 配置</a:t>
            </a:r>
          </a:p>
        </p:txBody>
      </p:sp>
      <p:sp>
        <p:nvSpPr>
          <p:cNvPr id="416" name="axi-rt-config-t1: 可选流量调节"/>
          <p:cNvSpPr txBox="1"/>
          <p:nvPr/>
        </p:nvSpPr>
        <p:spPr>
          <a:xfrm>
            <a:off x="1677247" y="5309481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可选流量调节</a:t>
            </a:r>
          </a:p>
        </p:txBody>
      </p:sp>
      <p:sp>
        <p:nvSpPr>
          <p:cNvPr id="417" name="soc-regs-t0: SoC 寄存器"/>
          <p:cNvSpPr txBox="1"/>
          <p:nvPr/>
        </p:nvSpPr>
        <p:spPr>
          <a:xfrm>
            <a:off x="2794312" y="4169664"/>
            <a:ext cx="61744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SoC 寄存器</a:t>
            </a:r>
          </a:p>
        </p:txBody>
      </p:sp>
      <p:sp>
        <p:nvSpPr>
          <p:cNvPr id="418" name="soc-regs-t1: 平台信息 / scratch"/>
          <p:cNvSpPr txBox="1"/>
          <p:nvPr/>
        </p:nvSpPr>
        <p:spPr>
          <a:xfrm>
            <a:off x="2692945" y="4293481"/>
            <a:ext cx="82017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平台信息 / scratch</a:t>
            </a:r>
          </a:p>
        </p:txBody>
      </p:sp>
      <p:sp>
        <p:nvSpPr>
          <p:cNvPr id="419" name="spi-t0: SPI Host"/>
          <p:cNvSpPr txBox="1"/>
          <p:nvPr/>
        </p:nvSpPr>
        <p:spPr>
          <a:xfrm>
            <a:off x="2860442" y="4508331"/>
            <a:ext cx="48518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SPI Host</a:t>
            </a:r>
          </a:p>
        </p:txBody>
      </p:sp>
      <p:sp>
        <p:nvSpPr>
          <p:cNvPr id="420" name="spi-t1: Flash / SD"/>
          <p:cNvSpPr txBox="1"/>
          <p:nvPr/>
        </p:nvSpPr>
        <p:spPr>
          <a:xfrm>
            <a:off x="2851468" y="4632147"/>
            <a:ext cx="503132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Flash / SD</a:t>
            </a:r>
          </a:p>
        </p:txBody>
      </p:sp>
      <p:sp>
        <p:nvSpPr>
          <p:cNvPr id="421" name="err-vga-t0: Bus-error · VGA"/>
          <p:cNvSpPr txBox="1"/>
          <p:nvPr/>
        </p:nvSpPr>
        <p:spPr>
          <a:xfrm>
            <a:off x="2715387" y="4846997"/>
            <a:ext cx="77529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VGA</a:t>
            </a:r>
          </a:p>
        </p:txBody>
      </p:sp>
      <p:sp>
        <p:nvSpPr>
          <p:cNvPr id="422" name="err-vga-t1: 错误记录"/>
          <p:cNvSpPr txBox="1"/>
          <p:nvPr/>
        </p:nvSpPr>
        <p:spPr>
          <a:xfrm>
            <a:off x="2882900" y="4970814"/>
            <a:ext cx="4402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sp>
        <p:nvSpPr>
          <p:cNvPr id="423" name="clic-t0: CLIC"/>
          <p:cNvSpPr txBox="1"/>
          <p:nvPr/>
        </p:nvSpPr>
        <p:spPr>
          <a:xfrm>
            <a:off x="2950729" y="5185664"/>
            <a:ext cx="30460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CLIC</a:t>
            </a:r>
          </a:p>
        </p:txBody>
      </p:sp>
      <p:sp>
        <p:nvSpPr>
          <p:cNvPr id="424" name="clic-t1: 可选每核中断控制"/>
          <p:cNvSpPr txBox="1"/>
          <p:nvPr/>
        </p:nvSpPr>
        <p:spPr>
          <a:xfrm>
            <a:off x="2706793" y="5309481"/>
            <a:ext cx="79248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可选每核中断控制</a:t>
            </a:r>
          </a:p>
        </p:txBody>
      </p:sp>
      <p:sp>
        <p:nvSpPr>
          <p:cNvPr id="425" name="plic-t0: PLIC"/>
          <p:cNvSpPr txBox="1"/>
          <p:nvPr/>
        </p:nvSpPr>
        <p:spPr>
          <a:xfrm>
            <a:off x="4071355" y="4169664"/>
            <a:ext cx="29855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PLIC</a:t>
            </a:r>
          </a:p>
        </p:txBody>
      </p:sp>
      <p:sp>
        <p:nvSpPr>
          <p:cNvPr id="426" name="plic-t1: 外部中断控制"/>
          <p:cNvSpPr txBox="1"/>
          <p:nvPr/>
        </p:nvSpPr>
        <p:spPr>
          <a:xfrm>
            <a:off x="3912447" y="4293481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外部中断控制</a:t>
            </a:r>
          </a:p>
        </p:txBody>
      </p:sp>
      <p:sp>
        <p:nvSpPr>
          <p:cNvPr id="427" name="gpio-t0: GPIO"/>
          <p:cNvSpPr txBox="1"/>
          <p:nvPr/>
        </p:nvSpPr>
        <p:spPr>
          <a:xfrm>
            <a:off x="4061238" y="4508331"/>
            <a:ext cx="31879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GPIO</a:t>
            </a:r>
          </a:p>
        </p:txBody>
      </p:sp>
      <p:sp>
        <p:nvSpPr>
          <p:cNvPr id="428" name="gpio-t1: 通用 IO"/>
          <p:cNvSpPr txBox="1"/>
          <p:nvPr/>
        </p:nvSpPr>
        <p:spPr>
          <a:xfrm>
            <a:off x="4034893" y="4632147"/>
            <a:ext cx="37148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通用 IO</a:t>
            </a:r>
          </a:p>
        </p:txBody>
      </p:sp>
      <p:sp>
        <p:nvSpPr>
          <p:cNvPr id="429" name="err-dma-t0: Bus-error · iDMA"/>
          <p:cNvSpPr txBox="1"/>
          <p:nvPr/>
        </p:nvSpPr>
        <p:spPr>
          <a:xfrm>
            <a:off x="3807637" y="4846997"/>
            <a:ext cx="82599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iDMA</a:t>
            </a:r>
          </a:p>
        </p:txBody>
      </p:sp>
      <p:sp>
        <p:nvSpPr>
          <p:cNvPr id="430" name="err-dma-t1: 每传输错误记录"/>
          <p:cNvSpPr txBox="1"/>
          <p:nvPr/>
        </p:nvSpPr>
        <p:spPr>
          <a:xfrm>
            <a:off x="3868420" y="4970814"/>
            <a:ext cx="70442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每传输错误记录</a:t>
            </a:r>
          </a:p>
        </p:txBody>
      </p:sp>
      <p:sp>
        <p:nvSpPr>
          <p:cNvPr id="431" name="reg-error-t0: reg_err_slv"/>
          <p:cNvSpPr txBox="1"/>
          <p:nvPr/>
        </p:nvSpPr>
        <p:spPr>
          <a:xfrm>
            <a:off x="3929327" y="5185664"/>
            <a:ext cx="58261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reg_err_slv</a:t>
            </a:r>
          </a:p>
        </p:txBody>
      </p:sp>
      <p:sp>
        <p:nvSpPr>
          <p:cNvPr id="432" name="reg-error-t1: 未匹配地址"/>
          <p:cNvSpPr txBox="1"/>
          <p:nvPr/>
        </p:nvSpPr>
        <p:spPr>
          <a:xfrm>
            <a:off x="3956473" y="5309481"/>
            <a:ext cx="5283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未匹配地址</a:t>
            </a:r>
          </a:p>
        </p:txBody>
      </p:sp>
      <p:sp>
        <p:nvSpPr>
          <p:cNvPr id="433" name="llc-regs-t0: LLC 配置"/>
          <p:cNvSpPr txBox="1"/>
          <p:nvPr/>
        </p:nvSpPr>
        <p:spPr>
          <a:xfrm>
            <a:off x="5088350" y="4169664"/>
            <a:ext cx="49976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配置</a:t>
            </a:r>
          </a:p>
        </p:txBody>
      </p:sp>
      <p:sp>
        <p:nvSpPr>
          <p:cNvPr id="434" name="llc-regs-t1: SPM way / cache"/>
          <p:cNvSpPr txBox="1"/>
          <p:nvPr/>
        </p:nvSpPr>
        <p:spPr>
          <a:xfrm>
            <a:off x="4959099" y="4293481"/>
            <a:ext cx="758269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SPM way / cache</a:t>
            </a:r>
          </a:p>
        </p:txBody>
      </p:sp>
      <p:sp>
        <p:nvSpPr>
          <p:cNvPr id="435" name="slink-regs-t0: Serial Link 配置"/>
          <p:cNvSpPr txBox="1"/>
          <p:nvPr/>
        </p:nvSpPr>
        <p:spPr>
          <a:xfrm>
            <a:off x="4938281" y="4508331"/>
            <a:ext cx="79990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配置</a:t>
            </a:r>
          </a:p>
        </p:txBody>
      </p:sp>
      <p:sp>
        <p:nvSpPr>
          <p:cNvPr id="436" name="slink-regs-t1: 链路控制"/>
          <p:cNvSpPr txBox="1"/>
          <p:nvPr/>
        </p:nvSpPr>
        <p:spPr>
          <a:xfrm>
            <a:off x="5118100" y="4632147"/>
            <a:ext cx="4402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链路控制</a:t>
            </a:r>
          </a:p>
        </p:txBody>
      </p:sp>
      <p:sp>
        <p:nvSpPr>
          <p:cNvPr id="437" name="err-cpu-t0: Bus-error · CPU"/>
          <p:cNvSpPr txBox="1"/>
          <p:nvPr/>
        </p:nvSpPr>
        <p:spPr>
          <a:xfrm>
            <a:off x="4948552" y="4846997"/>
            <a:ext cx="77936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CPU</a:t>
            </a:r>
          </a:p>
        </p:txBody>
      </p:sp>
      <p:sp>
        <p:nvSpPr>
          <p:cNvPr id="438" name="err-cpu-t1: 每核错误记录"/>
          <p:cNvSpPr txBox="1"/>
          <p:nvPr/>
        </p:nvSpPr>
        <p:spPr>
          <a:xfrm>
            <a:off x="5030047" y="4970814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每核错误记录</a:t>
            </a:r>
          </a:p>
        </p:txBody>
      </p:sp>
      <p:sp>
        <p:nvSpPr>
          <p:cNvPr id="439" name="reg-ext-t0: RegExt 扩展"/>
          <p:cNvSpPr txBox="1"/>
          <p:nvPr/>
        </p:nvSpPr>
        <p:spPr>
          <a:xfrm>
            <a:off x="5019392" y="5185664"/>
            <a:ext cx="63768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RegExt 扩展</a:t>
            </a:r>
          </a:p>
        </p:txBody>
      </p:sp>
      <p:sp>
        <p:nvSpPr>
          <p:cNvPr id="440" name="reg-ext-t1: 新增 IP 配置出口"/>
          <p:cNvSpPr txBox="1"/>
          <p:nvPr/>
        </p:nvSpPr>
        <p:spPr>
          <a:xfrm>
            <a:off x="4967573" y="5309481"/>
            <a:ext cx="7413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新增 IP 配置出口</a:t>
            </a:r>
          </a:p>
        </p:txBody>
      </p:sp>
      <p:sp>
        <p:nvSpPr>
          <p:cNvPr id="441" name="ddr-S0-t0: DDR.S0"/>
          <p:cNvSpPr txBox="1"/>
          <p:nvPr/>
        </p:nvSpPr>
        <p:spPr>
          <a:xfrm>
            <a:off x="6434225" y="5243745"/>
            <a:ext cx="339550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DDR.S0</a:t>
            </a:r>
          </a:p>
        </p:txBody>
      </p:sp>
      <p:sp>
        <p:nvSpPr>
          <p:cNvPr id="442" name="ddr-S1-t0: DDR.S1"/>
          <p:cNvSpPr txBox="1"/>
          <p:nvPr/>
        </p:nvSpPr>
        <p:spPr>
          <a:xfrm>
            <a:off x="7365558" y="5243745"/>
            <a:ext cx="339550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DDR.S1</a:t>
            </a:r>
          </a:p>
        </p:txBody>
      </p:sp>
      <p:sp>
        <p:nvSpPr>
          <p:cNvPr id="443" name="ddr-S2-t0: DDR.S2"/>
          <p:cNvSpPr txBox="1"/>
          <p:nvPr/>
        </p:nvSpPr>
        <p:spPr>
          <a:xfrm>
            <a:off x="8296891" y="5243745"/>
            <a:ext cx="339550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DDR.S2</a:t>
            </a:r>
          </a:p>
        </p:txBody>
      </p:sp>
      <p:sp>
        <p:nvSpPr>
          <p:cNvPr id="444" name="ddr-S3-t0: DDR.S3"/>
          <p:cNvSpPr txBox="1"/>
          <p:nvPr/>
        </p:nvSpPr>
        <p:spPr>
          <a:xfrm>
            <a:off x="9228225" y="5243745"/>
            <a:ext cx="339550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DDR.S3</a:t>
            </a:r>
          </a:p>
        </p:txBody>
      </p:sp>
      <p:sp>
        <p:nvSpPr>
          <p:cNvPr id="445" name="ddr-arb-t0: 四口仲裁 / QoS · 共享 DDR 带宽"/>
          <p:cNvSpPr txBox="1"/>
          <p:nvPr/>
        </p:nvSpPr>
        <p:spPr>
          <a:xfrm>
            <a:off x="7300370" y="5399295"/>
            <a:ext cx="1452060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四口仲裁 / QoS · 共享 DDR 带宽</a:t>
            </a:r>
          </a:p>
        </p:txBody>
      </p:sp>
      <p:sp>
        <p:nvSpPr>
          <p:cNvPr id="446" name="ddr-rw-t0: 读写调度 · Bank / Row"/>
          <p:cNvSpPr txBox="1"/>
          <p:nvPr/>
        </p:nvSpPr>
        <p:spPr>
          <a:xfrm>
            <a:off x="6444522" y="5580549"/>
            <a:ext cx="111482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读写调度 · Bank / Row</a:t>
            </a:r>
          </a:p>
        </p:txBody>
      </p:sp>
      <p:sp>
        <p:nvSpPr>
          <p:cNvPr id="447" name="ddr-command-t0: 命令调度 · Controller → PHY"/>
          <p:cNvSpPr txBox="1"/>
          <p:nvPr/>
        </p:nvSpPr>
        <p:spPr>
          <a:xfrm>
            <a:off x="8397216" y="5585562"/>
            <a:ext cx="1273434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命令调度 · Controller → PHY</a:t>
            </a:r>
          </a:p>
        </p:txBody>
      </p:sp>
      <p:sp>
        <p:nvSpPr>
          <p:cNvPr id="448" name="ddr-title: DDR Controller · 4 个 AXI slave"/>
          <p:cNvSpPr txBox="1"/>
          <p:nvPr/>
        </p:nvSpPr>
        <p:spPr>
          <a:xfrm>
            <a:off x="7293766" y="5732272"/>
            <a:ext cx="146526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 · 4 个 AXI slave</a:t>
            </a:r>
          </a:p>
        </p:txBody>
      </p:sp>
      <p:sp>
        <p:nvSpPr>
          <p:cNvPr id="449" name="badge-C2-text: C2"/>
          <p:cNvSpPr txBox="1"/>
          <p:nvPr/>
        </p:nvSpPr>
        <p:spPr>
          <a:xfrm>
            <a:off x="9662848" y="5748257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450" name="ddr-phy-t0: DDR PHY"/>
          <p:cNvSpPr txBox="1"/>
          <p:nvPr/>
        </p:nvSpPr>
        <p:spPr>
          <a:xfrm>
            <a:off x="10438606" y="5692987"/>
            <a:ext cx="50958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451" name="ddr-phy-t1: 训练 / 校准"/>
          <p:cNvSpPr txBox="1"/>
          <p:nvPr/>
        </p:nvSpPr>
        <p:spPr>
          <a:xfrm>
            <a:off x="10335535" y="5815855"/>
            <a:ext cx="580263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训练 / 校准</a:t>
            </a:r>
          </a:p>
        </p:txBody>
      </p:sp>
      <p:sp>
        <p:nvSpPr>
          <p:cNvPr id="452" name="badge-C3-text: C3"/>
          <p:cNvSpPr txBox="1"/>
          <p:nvPr/>
        </p:nvSpPr>
        <p:spPr>
          <a:xfrm>
            <a:off x="10915915" y="5876950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453" name="ddr-device-t0: DDR"/>
          <p:cNvSpPr txBox="1"/>
          <p:nvPr/>
        </p:nvSpPr>
        <p:spPr>
          <a:xfrm>
            <a:off x="11586842" y="5682962"/>
            <a:ext cx="338249" cy="1842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454" name="ddr-device-t1: 片外器件"/>
          <p:cNvSpPr txBox="1"/>
          <p:nvPr/>
        </p:nvSpPr>
        <p:spPr>
          <a:xfrm>
            <a:off x="11518900" y="5823983"/>
            <a:ext cx="474133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片外器件</a:t>
            </a:r>
          </a:p>
        </p:txBody>
      </p:sp>
      <p:sp>
        <p:nvSpPr>
          <p:cNvPr id="455" name="roi-title: 图像裁切输出"/>
          <p:cNvSpPr txBox="1"/>
          <p:nvPr/>
        </p:nvSpPr>
        <p:spPr>
          <a:xfrm>
            <a:off x="10322560" y="3777623"/>
            <a:ext cx="758613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图像裁切输出</a:t>
            </a:r>
          </a:p>
        </p:txBody>
      </p:sp>
      <p:sp>
        <p:nvSpPr>
          <p:cNvPr id="456" name="roi-count: ≤256 ROI / 帧"/>
          <p:cNvSpPr txBox="1"/>
          <p:nvPr/>
        </p:nvSpPr>
        <p:spPr>
          <a:xfrm>
            <a:off x="10367788" y="3894396"/>
            <a:ext cx="668158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≤256 ROI / 帧</a:t>
            </a:r>
          </a:p>
        </p:txBody>
      </p:sp>
      <p:sp>
        <p:nvSpPr>
          <p:cNvPr id="457" name="roi-no-scale: 纯裁切 · 不缩放"/>
          <p:cNvSpPr txBox="1"/>
          <p:nvPr/>
        </p:nvSpPr>
        <p:spPr>
          <a:xfrm>
            <a:off x="10356747" y="3982449"/>
            <a:ext cx="69024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纯裁切 · 不缩放</a:t>
            </a:r>
          </a:p>
        </p:txBody>
      </p:sp>
      <p:sp>
        <p:nvSpPr>
          <p:cNvPr id="458" name="pll-title: PLL / 时钟与复位分发"/>
          <p:cNvSpPr txBox="1"/>
          <p:nvPr/>
        </p:nvSpPr>
        <p:spPr>
          <a:xfrm>
            <a:off x="7380023" y="5978957"/>
            <a:ext cx="1157288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时钟与复位分发</a:t>
            </a:r>
          </a:p>
        </p:txBody>
      </p:sp>
      <p:sp>
        <p:nvSpPr>
          <p:cNvPr id="459" name="badge-C1-text: C1"/>
          <p:cNvSpPr txBox="1"/>
          <p:nvPr/>
        </p:nvSpPr>
        <p:spPr>
          <a:xfrm>
            <a:off x="8749295" y="5999209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460" name="pll-interface: RefClk / POR → clk_i / rst_ni"/>
          <p:cNvSpPr txBox="1"/>
          <p:nvPr/>
        </p:nvSpPr>
        <p:spPr>
          <a:xfrm>
            <a:off x="9311539" y="6000902"/>
            <a:ext cx="1222788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RefClk / POR → clk_i / rst_ni</a:t>
            </a:r>
          </a:p>
        </p:txBody>
      </p:sp>
      <p:sp>
        <p:nvSpPr>
          <p:cNvPr id="461" name="reg-badge-C1-text: C1"/>
          <p:cNvSpPr txBox="1"/>
          <p:nvPr/>
        </p:nvSpPr>
        <p:spPr>
          <a:xfrm>
            <a:off x="275855" y="6314169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462" name="config-C1-title-0: PLL / 时钟"/>
          <p:cNvSpPr txBox="1"/>
          <p:nvPr/>
        </p:nvSpPr>
        <p:spPr>
          <a:xfrm>
            <a:off x="275085" y="6423491"/>
            <a:ext cx="57695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时钟</a:t>
            </a:r>
          </a:p>
        </p:txBody>
      </p:sp>
      <p:sp>
        <p:nvSpPr>
          <p:cNvPr id="463" name="config-C1-title-1: 复位"/>
          <p:cNvSpPr txBox="1"/>
          <p:nvPr/>
        </p:nvSpPr>
        <p:spPr>
          <a:xfrm>
            <a:off x="411162" y="6542024"/>
            <a:ext cx="3048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复位</a:t>
            </a:r>
          </a:p>
        </p:txBody>
      </p:sp>
      <p:sp>
        <p:nvSpPr>
          <p:cNvPr id="464" name="reg-badge-C2-text: C2"/>
          <p:cNvSpPr txBox="1"/>
          <p:nvPr/>
        </p:nvSpPr>
        <p:spPr>
          <a:xfrm>
            <a:off x="967793" y="6314169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465" name="config-C2-title-0: DDR"/>
          <p:cNvSpPr txBox="1"/>
          <p:nvPr/>
        </p:nvSpPr>
        <p:spPr>
          <a:xfrm>
            <a:off x="1106276" y="6423491"/>
            <a:ext cx="29845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466" name="config-C2-title-1: Controller"/>
          <p:cNvSpPr txBox="1"/>
          <p:nvPr/>
        </p:nvSpPr>
        <p:spPr>
          <a:xfrm>
            <a:off x="990735" y="6542024"/>
            <a:ext cx="52953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Controller</a:t>
            </a:r>
          </a:p>
        </p:txBody>
      </p:sp>
      <p:sp>
        <p:nvSpPr>
          <p:cNvPr id="467" name="reg-badge-C3-text: C3"/>
          <p:cNvSpPr txBox="1"/>
          <p:nvPr/>
        </p:nvSpPr>
        <p:spPr>
          <a:xfrm>
            <a:off x="1659731" y="6314169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468" name="config-C3-title-0: DDR"/>
          <p:cNvSpPr txBox="1"/>
          <p:nvPr/>
        </p:nvSpPr>
        <p:spPr>
          <a:xfrm>
            <a:off x="1798214" y="6423491"/>
            <a:ext cx="29845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469" name="config-C3-title-1: PHY"/>
          <p:cNvSpPr txBox="1"/>
          <p:nvPr/>
        </p:nvSpPr>
        <p:spPr>
          <a:xfrm>
            <a:off x="1806300" y="6542024"/>
            <a:ext cx="28227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PHY</a:t>
            </a:r>
          </a:p>
        </p:txBody>
      </p:sp>
      <p:sp>
        <p:nvSpPr>
          <p:cNvPr id="470" name="reg-badge-C4-text: C4"/>
          <p:cNvSpPr txBox="1"/>
          <p:nvPr/>
        </p:nvSpPr>
        <p:spPr>
          <a:xfrm>
            <a:off x="2351670" y="6314169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471" name="config-C4-title-0: LVDS"/>
          <p:cNvSpPr txBox="1"/>
          <p:nvPr/>
        </p:nvSpPr>
        <p:spPr>
          <a:xfrm>
            <a:off x="2469811" y="6423491"/>
            <a:ext cx="33913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</a:t>
            </a:r>
          </a:p>
        </p:txBody>
      </p:sp>
      <p:sp>
        <p:nvSpPr>
          <p:cNvPr id="472" name="config-C4-title-1: RX"/>
          <p:cNvSpPr txBox="1"/>
          <p:nvPr/>
        </p:nvSpPr>
        <p:spPr>
          <a:xfrm>
            <a:off x="2529739" y="6542024"/>
            <a:ext cx="21927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RX</a:t>
            </a:r>
          </a:p>
        </p:txBody>
      </p:sp>
      <p:sp>
        <p:nvSpPr>
          <p:cNvPr id="473" name="reg-badge-C5-text: C5"/>
          <p:cNvSpPr txBox="1"/>
          <p:nvPr/>
        </p:nvSpPr>
        <p:spPr>
          <a:xfrm>
            <a:off x="3043608" y="6314169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474" name="config-C5-title-0: ISP"/>
          <p:cNvSpPr txBox="1"/>
          <p:nvPr/>
        </p:nvSpPr>
        <p:spPr>
          <a:xfrm>
            <a:off x="3207438" y="6484451"/>
            <a:ext cx="24775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475" name="reg-badge-C6-text: C6"/>
          <p:cNvSpPr txBox="1"/>
          <p:nvPr/>
        </p:nvSpPr>
        <p:spPr>
          <a:xfrm>
            <a:off x="3735546" y="6314169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476" name="config-C6-title-0: NPU"/>
          <p:cNvSpPr txBox="1"/>
          <p:nvPr/>
        </p:nvSpPr>
        <p:spPr>
          <a:xfrm>
            <a:off x="3878048" y="6423491"/>
            <a:ext cx="29041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</a:t>
            </a:r>
          </a:p>
        </p:txBody>
      </p:sp>
      <p:sp>
        <p:nvSpPr>
          <p:cNvPr id="477" name="config-C6-title-1: 计算"/>
          <p:cNvSpPr txBox="1"/>
          <p:nvPr/>
        </p:nvSpPr>
        <p:spPr>
          <a:xfrm>
            <a:off x="3870854" y="6542024"/>
            <a:ext cx="3048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计算</a:t>
            </a:r>
          </a:p>
        </p:txBody>
      </p:sp>
      <p:sp>
        <p:nvSpPr>
          <p:cNvPr id="478" name="reg-badge-C7-text: C7"/>
          <p:cNvSpPr txBox="1"/>
          <p:nvPr/>
        </p:nvSpPr>
        <p:spPr>
          <a:xfrm>
            <a:off x="4427485" y="6314169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sp>
        <p:nvSpPr>
          <p:cNvPr id="479" name="config-C7-title-0: NPU / GB"/>
          <p:cNvSpPr txBox="1"/>
          <p:nvPr/>
        </p:nvSpPr>
        <p:spPr>
          <a:xfrm>
            <a:off x="4448196" y="6423491"/>
            <a:ext cx="53399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</a:t>
            </a:r>
          </a:p>
        </p:txBody>
      </p:sp>
      <p:sp>
        <p:nvSpPr>
          <p:cNvPr id="480" name="config-C7-title-1: 搬运"/>
          <p:cNvSpPr txBox="1"/>
          <p:nvPr/>
        </p:nvSpPr>
        <p:spPr>
          <a:xfrm>
            <a:off x="4562792" y="6542024"/>
            <a:ext cx="3048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搬运</a:t>
            </a:r>
          </a:p>
        </p:txBody>
      </p:sp>
      <p:sp>
        <p:nvSpPr>
          <p:cNvPr id="481" name="reg-badge-C8-text: C8"/>
          <p:cNvSpPr txBox="1"/>
          <p:nvPr/>
        </p:nvSpPr>
        <p:spPr>
          <a:xfrm>
            <a:off x="5119423" y="6314169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sp>
        <p:nvSpPr>
          <p:cNvPr id="482" name="config-C8-title-0: 帧写入"/>
          <p:cNvSpPr txBox="1"/>
          <p:nvPr/>
        </p:nvSpPr>
        <p:spPr>
          <a:xfrm>
            <a:off x="5203931" y="6423491"/>
            <a:ext cx="4064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</a:t>
            </a:r>
          </a:p>
        </p:txBody>
      </p:sp>
      <p:sp>
        <p:nvSpPr>
          <p:cNvPr id="483" name="config-C8-title-1: DMA"/>
          <p:cNvSpPr txBox="1"/>
          <p:nvPr/>
        </p:nvSpPr>
        <p:spPr>
          <a:xfrm>
            <a:off x="5252797" y="6542024"/>
            <a:ext cx="30866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DMA</a:t>
            </a:r>
          </a:p>
        </p:txBody>
      </p:sp>
      <p:sp>
        <p:nvSpPr>
          <p:cNvPr id="484" name="reg-badge-C9-text: C9"/>
          <p:cNvSpPr txBox="1"/>
          <p:nvPr/>
        </p:nvSpPr>
        <p:spPr>
          <a:xfrm>
            <a:off x="5811361" y="6314169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sp>
        <p:nvSpPr>
          <p:cNvPr id="485" name="config-C9-title-0: GB"/>
          <p:cNvSpPr txBox="1"/>
          <p:nvPr/>
        </p:nvSpPr>
        <p:spPr>
          <a:xfrm>
            <a:off x="5983330" y="6423491"/>
            <a:ext cx="23147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</a:t>
            </a:r>
          </a:p>
        </p:txBody>
      </p:sp>
      <p:sp>
        <p:nvSpPr>
          <p:cNvPr id="486" name="config-C9-title-1: 管理"/>
          <p:cNvSpPr txBox="1"/>
          <p:nvPr/>
        </p:nvSpPr>
        <p:spPr>
          <a:xfrm>
            <a:off x="5946669" y="6542024"/>
            <a:ext cx="3048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管理</a:t>
            </a:r>
          </a:p>
        </p:txBody>
      </p:sp>
      <p:sp>
        <p:nvSpPr>
          <p:cNvPr id="487" name="reg-badge-C10-text: C10"/>
          <p:cNvSpPr txBox="1"/>
          <p:nvPr/>
        </p:nvSpPr>
        <p:spPr>
          <a:xfrm>
            <a:off x="6481977" y="6314169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C10</a:t>
            </a:r>
          </a:p>
        </p:txBody>
      </p:sp>
      <p:sp>
        <p:nvSpPr>
          <p:cNvPr id="488" name="config-C10-title-0: eMMC Host"/>
          <p:cNvSpPr txBox="1"/>
          <p:nvPr/>
        </p:nvSpPr>
        <p:spPr>
          <a:xfrm>
            <a:off x="6479413" y="6423491"/>
            <a:ext cx="62318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eMMC Host</a:t>
            </a:r>
          </a:p>
        </p:txBody>
      </p:sp>
      <p:sp>
        <p:nvSpPr>
          <p:cNvPr id="489" name="config-C10-title-1: / DMA"/>
          <p:cNvSpPr txBox="1"/>
          <p:nvPr/>
        </p:nvSpPr>
        <p:spPr>
          <a:xfrm>
            <a:off x="6595052" y="6542024"/>
            <a:ext cx="39191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/ DMA</a:t>
            </a:r>
          </a:p>
        </p:txBody>
      </p:sp>
      <p:sp>
        <p:nvSpPr>
          <p:cNvPr id="490" name="reg-badge-C11-text: C11"/>
          <p:cNvSpPr txBox="1"/>
          <p:nvPr/>
        </p:nvSpPr>
        <p:spPr>
          <a:xfrm>
            <a:off x="7173915" y="6314169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C11</a:t>
            </a:r>
          </a:p>
        </p:txBody>
      </p:sp>
      <p:sp>
        <p:nvSpPr>
          <p:cNvPr id="491" name="config-C11-title-0: ROI 任务"/>
          <p:cNvSpPr txBox="1"/>
          <p:nvPr/>
        </p:nvSpPr>
        <p:spPr>
          <a:xfrm>
            <a:off x="7237180" y="6423491"/>
            <a:ext cx="49153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ROI 任务</a:t>
            </a:r>
          </a:p>
        </p:txBody>
      </p:sp>
      <p:sp>
        <p:nvSpPr>
          <p:cNvPr id="492" name="config-C11-title-1: / 调度"/>
          <p:cNvSpPr txBox="1"/>
          <p:nvPr/>
        </p:nvSpPr>
        <p:spPr>
          <a:xfrm>
            <a:off x="7288924" y="6542024"/>
            <a:ext cx="38804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/ 调度</a:t>
            </a:r>
          </a:p>
        </p:txBody>
      </p:sp>
      <p:sp>
        <p:nvSpPr>
          <p:cNvPr id="493" name="reg-badge-C12-text: C12"/>
          <p:cNvSpPr txBox="1"/>
          <p:nvPr/>
        </p:nvSpPr>
        <p:spPr>
          <a:xfrm>
            <a:off x="7865853" y="6314169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C12</a:t>
            </a:r>
          </a:p>
        </p:txBody>
      </p:sp>
      <p:sp>
        <p:nvSpPr>
          <p:cNvPr id="494" name="config-C12-title-0: 前端公共"/>
          <p:cNvSpPr txBox="1"/>
          <p:nvPr/>
        </p:nvSpPr>
        <p:spPr>
          <a:xfrm>
            <a:off x="7920884" y="6423491"/>
            <a:ext cx="5080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前端公共</a:t>
            </a:r>
          </a:p>
        </p:txBody>
      </p:sp>
      <p:sp>
        <p:nvSpPr>
          <p:cNvPr id="495" name="config-C12-title-1: 控制"/>
          <p:cNvSpPr txBox="1"/>
          <p:nvPr/>
        </p:nvSpPr>
        <p:spPr>
          <a:xfrm>
            <a:off x="8022484" y="6542024"/>
            <a:ext cx="3048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控制</a:t>
            </a:r>
          </a:p>
        </p:txBody>
      </p:sp>
      <p:sp>
        <p:nvSpPr>
          <p:cNvPr id="496" name="reg-badge-C13-text: C13"/>
          <p:cNvSpPr txBox="1"/>
          <p:nvPr/>
        </p:nvSpPr>
        <p:spPr>
          <a:xfrm>
            <a:off x="8557792" y="6314169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C13</a:t>
            </a:r>
          </a:p>
        </p:txBody>
      </p:sp>
      <p:sp>
        <p:nvSpPr>
          <p:cNvPr id="497" name="config-C13-title-0: 帧输出"/>
          <p:cNvSpPr txBox="1"/>
          <p:nvPr/>
        </p:nvSpPr>
        <p:spPr>
          <a:xfrm>
            <a:off x="8663622" y="6423491"/>
            <a:ext cx="4064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帧输出</a:t>
            </a:r>
          </a:p>
        </p:txBody>
      </p:sp>
      <p:sp>
        <p:nvSpPr>
          <p:cNvPr id="498" name="config-C13-title-1: VDMA"/>
          <p:cNvSpPr txBox="1"/>
          <p:nvPr/>
        </p:nvSpPr>
        <p:spPr>
          <a:xfrm>
            <a:off x="8684062" y="6542024"/>
            <a:ext cx="36552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VDMA</a:t>
            </a:r>
          </a:p>
        </p:txBody>
      </p:sp>
      <p:sp>
        <p:nvSpPr>
          <p:cNvPr id="499" name="reg-badge-C14-text: C14"/>
          <p:cNvSpPr txBox="1"/>
          <p:nvPr/>
        </p:nvSpPr>
        <p:spPr>
          <a:xfrm>
            <a:off x="9249730" y="6314169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C14</a:t>
            </a:r>
          </a:p>
        </p:txBody>
      </p:sp>
      <p:sp>
        <p:nvSpPr>
          <p:cNvPr id="500" name="config-C14-title-0: LVDS"/>
          <p:cNvSpPr txBox="1"/>
          <p:nvPr/>
        </p:nvSpPr>
        <p:spPr>
          <a:xfrm>
            <a:off x="9389195" y="6423491"/>
            <a:ext cx="33913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</a:t>
            </a:r>
          </a:p>
        </p:txBody>
      </p:sp>
      <p:sp>
        <p:nvSpPr>
          <p:cNvPr id="501" name="config-C14-title-1: TX"/>
          <p:cNvSpPr txBox="1"/>
          <p:nvPr/>
        </p:nvSpPr>
        <p:spPr>
          <a:xfrm>
            <a:off x="9455176" y="6542024"/>
            <a:ext cx="20716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TX</a:t>
            </a:r>
          </a:p>
        </p:txBody>
      </p:sp>
      <p:sp>
        <p:nvSpPr>
          <p:cNvPr id="502" name="reg-badge-C15-text: C15"/>
          <p:cNvSpPr txBox="1"/>
          <p:nvPr/>
        </p:nvSpPr>
        <p:spPr>
          <a:xfrm>
            <a:off x="9941668" y="6314169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C15</a:t>
            </a:r>
          </a:p>
        </p:txBody>
      </p:sp>
      <p:sp>
        <p:nvSpPr>
          <p:cNvPr id="503" name="config-C15-title-0: 压缩器"/>
          <p:cNvSpPr txBox="1"/>
          <p:nvPr/>
        </p:nvSpPr>
        <p:spPr>
          <a:xfrm>
            <a:off x="10047499" y="6484451"/>
            <a:ext cx="4064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压缩器</a:t>
            </a:r>
          </a:p>
        </p:txBody>
      </p:sp>
      <p:sp>
        <p:nvSpPr>
          <p:cNvPr id="504" name="reg-badge-C16-text: C16"/>
          <p:cNvSpPr txBox="1"/>
          <p:nvPr/>
        </p:nvSpPr>
        <p:spPr>
          <a:xfrm>
            <a:off x="10633607" y="6314169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C16</a:t>
            </a:r>
          </a:p>
        </p:txBody>
      </p:sp>
      <p:sp>
        <p:nvSpPr>
          <p:cNvPr id="505" name="config-C16-title-0: 解压器"/>
          <p:cNvSpPr txBox="1"/>
          <p:nvPr/>
        </p:nvSpPr>
        <p:spPr>
          <a:xfrm>
            <a:off x="10739438" y="6484451"/>
            <a:ext cx="4064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解压器</a:t>
            </a:r>
          </a:p>
        </p:txBody>
      </p:sp>
      <p:sp>
        <p:nvSpPr>
          <p:cNvPr id="506" name="front-F0-t0: F0 · LLC"/>
          <p:cNvSpPr txBox="1"/>
          <p:nvPr/>
        </p:nvSpPr>
        <p:spPr>
          <a:xfrm>
            <a:off x="6431137" y="3784092"/>
            <a:ext cx="345726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F0 · LLC</a:t>
            </a:r>
          </a:p>
        </p:txBody>
      </p:sp>
      <p:sp>
        <p:nvSpPr>
          <p:cNvPr id="507" name="front-F1-t0: F1 · GB 搬运"/>
          <p:cNvSpPr txBox="1"/>
          <p:nvPr/>
        </p:nvSpPr>
        <p:spPr>
          <a:xfrm>
            <a:off x="7287834" y="3784092"/>
            <a:ext cx="494998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F1 · GB 搬运</a:t>
            </a:r>
          </a:p>
        </p:txBody>
      </p:sp>
      <p:sp>
        <p:nvSpPr>
          <p:cNvPr id="508" name="front-F2-t0: F2 · 帧写"/>
          <p:cNvSpPr txBox="1"/>
          <p:nvPr/>
        </p:nvSpPr>
        <p:spPr>
          <a:xfrm>
            <a:off x="8279294" y="3784092"/>
            <a:ext cx="374745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F2 · 帧写</a:t>
            </a:r>
          </a:p>
        </p:txBody>
      </p:sp>
      <p:sp>
        <p:nvSpPr>
          <p:cNvPr id="509" name="front-F3-t0: F3 · 帧读"/>
          <p:cNvSpPr txBox="1"/>
          <p:nvPr/>
        </p:nvSpPr>
        <p:spPr>
          <a:xfrm>
            <a:off x="9210627" y="3784092"/>
            <a:ext cx="374745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F3 · 帧读</a:t>
            </a:r>
          </a:p>
        </p:txBody>
      </p:sp>
      <p:sp>
        <p:nvSpPr>
          <p:cNvPr id="510" name="front-adapt-t0: 共享压缩前端 · 四口区域选择 / 事务跟踪"/>
          <p:cNvSpPr txBox="1"/>
          <p:nvPr/>
        </p:nvSpPr>
        <p:spPr>
          <a:xfrm>
            <a:off x="7063335" y="3968496"/>
            <a:ext cx="192613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共享压缩前端 · 四口区域选择 / 事务跟踪</a:t>
            </a:r>
          </a:p>
        </p:txBody>
      </p:sp>
      <p:sp>
        <p:nvSpPr>
          <p:cNvPr id="511" name="badge-C12-text: C12"/>
          <p:cNvSpPr txBox="1"/>
          <p:nvPr/>
        </p:nvSpPr>
        <p:spPr>
          <a:xfrm>
            <a:off x="9641525" y="3990577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C12</a:t>
            </a:r>
          </a:p>
        </p:txBody>
      </p:sp>
      <p:sp>
        <p:nvSpPr>
          <p:cNvPr id="512" name="address-control-t0: 地址 / 事务"/>
          <p:cNvSpPr txBox="1"/>
          <p:nvPr/>
        </p:nvSpPr>
        <p:spPr>
          <a:xfrm>
            <a:off x="6276216" y="4274651"/>
            <a:ext cx="62170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事务</a:t>
            </a:r>
          </a:p>
        </p:txBody>
      </p:sp>
      <p:sp>
        <p:nvSpPr>
          <p:cNvPr id="513" name="address-control-t1: AR / AW 映射"/>
          <p:cNvSpPr txBox="1"/>
          <p:nvPr/>
        </p:nvSpPr>
        <p:spPr>
          <a:xfrm>
            <a:off x="6279909" y="4398467"/>
            <a:ext cx="614315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 / AW 映射</a:t>
            </a:r>
          </a:p>
        </p:txBody>
      </p:sp>
      <p:sp>
        <p:nvSpPr>
          <p:cNvPr id="514" name="metadata-t0: 块地址 / 元数据"/>
          <p:cNvSpPr txBox="1"/>
          <p:nvPr/>
        </p:nvSpPr>
        <p:spPr>
          <a:xfrm>
            <a:off x="6202108" y="4713495"/>
            <a:ext cx="769916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块地址 / 元数据</a:t>
            </a:r>
          </a:p>
        </p:txBody>
      </p:sp>
      <p:sp>
        <p:nvSpPr>
          <p:cNvPr id="515" name="badge-C15-text: C15"/>
          <p:cNvSpPr txBox="1"/>
          <p:nvPr/>
        </p:nvSpPr>
        <p:spPr>
          <a:xfrm>
            <a:off x="7196352" y="4373270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C15</a:t>
            </a:r>
          </a:p>
        </p:txBody>
      </p:sp>
      <p:sp>
        <p:nvSpPr>
          <p:cNvPr id="516" name="compressor-title: 共享压缩器"/>
          <p:cNvSpPr txBox="1"/>
          <p:nvPr/>
        </p:nvSpPr>
        <p:spPr>
          <a:xfrm>
            <a:off x="7272867" y="4472432"/>
            <a:ext cx="6096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共享压缩器</a:t>
            </a:r>
          </a:p>
        </p:txBody>
      </p:sp>
      <p:sp>
        <p:nvSpPr>
          <p:cNvPr id="517" name="compressor-detail: W 写数据"/>
          <p:cNvSpPr txBox="1"/>
          <p:nvPr/>
        </p:nvSpPr>
        <p:spPr>
          <a:xfrm>
            <a:off x="7352287" y="4595436"/>
            <a:ext cx="45076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 写数据</a:t>
            </a:r>
          </a:p>
        </p:txBody>
      </p:sp>
      <p:sp>
        <p:nvSpPr>
          <p:cNvPr id="518" name="badge-C16-text: C16"/>
          <p:cNvSpPr txBox="1"/>
          <p:nvPr/>
        </p:nvSpPr>
        <p:spPr>
          <a:xfrm>
            <a:off x="8102285" y="4373270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C16</a:t>
            </a:r>
          </a:p>
        </p:txBody>
      </p:sp>
      <p:sp>
        <p:nvSpPr>
          <p:cNvPr id="519" name="decompressor-title: 共享解压器"/>
          <p:cNvSpPr txBox="1"/>
          <p:nvPr/>
        </p:nvSpPr>
        <p:spPr>
          <a:xfrm>
            <a:off x="8178800" y="4472432"/>
            <a:ext cx="6096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共享解压器</a:t>
            </a:r>
          </a:p>
        </p:txBody>
      </p:sp>
      <p:sp>
        <p:nvSpPr>
          <p:cNvPr id="520" name="decompressor-detail: R 读数据"/>
          <p:cNvSpPr txBox="1"/>
          <p:nvPr/>
        </p:nvSpPr>
        <p:spPr>
          <a:xfrm>
            <a:off x="8267033" y="4595436"/>
            <a:ext cx="433134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 读数据</a:t>
            </a:r>
          </a:p>
        </p:txBody>
      </p:sp>
      <p:sp>
        <p:nvSpPr>
          <p:cNvPr id="521" name="plain-bypass-title: 普通数据旁路"/>
          <p:cNvSpPr txBox="1"/>
          <p:nvPr/>
        </p:nvSpPr>
        <p:spPr>
          <a:xfrm>
            <a:off x="9033933" y="4472432"/>
            <a:ext cx="7112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普通数据旁路</a:t>
            </a:r>
          </a:p>
        </p:txBody>
      </p:sp>
      <p:sp>
        <p:nvSpPr>
          <p:cNvPr id="522" name="plain-bypass-detail: W / R 原样"/>
          <p:cNvSpPr txBox="1"/>
          <p:nvPr/>
        </p:nvSpPr>
        <p:spPr>
          <a:xfrm>
            <a:off x="9131647" y="4595436"/>
            <a:ext cx="5157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 / R 原样</a:t>
            </a:r>
          </a:p>
        </p:txBody>
      </p:sp>
      <p:sp>
        <p:nvSpPr>
          <p:cNvPr id="523" name="front-route-t0: 下游 AXI 路由 / R、B 响应匹配"/>
          <p:cNvSpPr txBox="1"/>
          <p:nvPr/>
        </p:nvSpPr>
        <p:spPr>
          <a:xfrm>
            <a:off x="7283945" y="5004816"/>
            <a:ext cx="148491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下游 AXI 路由 / R、B 响应匹配</a:t>
            </a:r>
          </a:p>
        </p:txBody>
      </p:sp>
      <p:sp>
        <p:nvSpPr>
          <p:cNvPr id="524" name="b-response-label: B"/>
          <p:cNvSpPr txBox="1"/>
          <p:nvPr/>
        </p:nvSpPr>
        <p:spPr>
          <a:xfrm>
            <a:off x="6250331" y="4132004"/>
            <a:ext cx="131604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B</a:t>
            </a:r>
          </a:p>
        </p:txBody>
      </p:sp>
      <p:sp>
        <p:nvSpPr>
          <p:cNvPr id="525" name="badge-C11-text: C11"/>
          <p:cNvSpPr txBox="1"/>
          <p:nvPr/>
        </p:nvSpPr>
        <p:spPr>
          <a:xfrm>
            <a:off x="10928458" y="4102337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C11</a:t>
            </a:r>
          </a:p>
        </p:txBody>
      </p:sp>
      <p:sp>
        <p:nvSpPr>
          <p:cNvPr id="526" name="roi-scheduler-title: ROI 任务表"/>
          <p:cNvSpPr txBox="1"/>
          <p:nvPr/>
        </p:nvSpPr>
        <p:spPr>
          <a:xfrm>
            <a:off x="10405300" y="4198112"/>
            <a:ext cx="59313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ROI 任务表</a:t>
            </a:r>
          </a:p>
        </p:txBody>
      </p:sp>
      <p:sp>
        <p:nvSpPr>
          <p:cNvPr id="527" name="roi-scheduler-detail: 顺序调度"/>
          <p:cNvSpPr txBox="1"/>
          <p:nvPr/>
        </p:nvSpPr>
        <p:spPr>
          <a:xfrm>
            <a:off x="10481733" y="4314342"/>
            <a:ext cx="4402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顺序调度</a:t>
            </a:r>
          </a:p>
        </p:txBody>
      </p:sp>
      <p:sp>
        <p:nvSpPr>
          <p:cNvPr id="528" name="badge-C13-text: C13"/>
          <p:cNvSpPr txBox="1"/>
          <p:nvPr/>
        </p:nvSpPr>
        <p:spPr>
          <a:xfrm>
            <a:off x="10928458" y="4491804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C13</a:t>
            </a:r>
          </a:p>
        </p:txBody>
      </p:sp>
      <p:sp>
        <p:nvSpPr>
          <p:cNvPr id="529" name="roi-vdma-title: 帧输出 VDMA"/>
          <p:cNvSpPr txBox="1"/>
          <p:nvPr/>
        </p:nvSpPr>
        <p:spPr>
          <a:xfrm>
            <a:off x="10351476" y="4587579"/>
            <a:ext cx="70078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帧输出 VDMA</a:t>
            </a:r>
          </a:p>
        </p:txBody>
      </p:sp>
      <p:sp>
        <p:nvSpPr>
          <p:cNvPr id="530" name="roi-vdma-detail: 二维 AXI 读"/>
          <p:cNvSpPr txBox="1"/>
          <p:nvPr/>
        </p:nvSpPr>
        <p:spPr>
          <a:xfrm>
            <a:off x="10439553" y="4703809"/>
            <a:ext cx="524626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二维 AXI 读</a:t>
            </a:r>
          </a:p>
        </p:txBody>
      </p:sp>
      <p:sp>
        <p:nvSpPr>
          <p:cNvPr id="531" name="roi-fifo-t0: 像素整理"/>
          <p:cNvSpPr txBox="1"/>
          <p:nvPr/>
        </p:nvSpPr>
        <p:spPr>
          <a:xfrm>
            <a:off x="10447867" y="4875784"/>
            <a:ext cx="5080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像素整理</a:t>
            </a:r>
          </a:p>
        </p:txBody>
      </p:sp>
      <p:sp>
        <p:nvSpPr>
          <p:cNvPr id="532" name="roi-fifo-t1: 输出 FIFO"/>
          <p:cNvSpPr txBox="1"/>
          <p:nvPr/>
        </p:nvSpPr>
        <p:spPr>
          <a:xfrm>
            <a:off x="10473904" y="4999601"/>
            <a:ext cx="455925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输出 FIFO</a:t>
            </a:r>
          </a:p>
        </p:txBody>
      </p:sp>
      <p:sp>
        <p:nvSpPr>
          <p:cNvPr id="533" name="badge-C14-text: C14"/>
          <p:cNvSpPr txBox="1"/>
          <p:nvPr/>
        </p:nvSpPr>
        <p:spPr>
          <a:xfrm>
            <a:off x="10928458" y="5186070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C14</a:t>
            </a:r>
          </a:p>
        </p:txBody>
      </p:sp>
      <p:sp>
        <p:nvSpPr>
          <p:cNvPr id="534" name="lvds-tx-title: LVDS TX"/>
          <p:cNvSpPr txBox="1"/>
          <p:nvPr/>
        </p:nvSpPr>
        <p:spPr>
          <a:xfrm>
            <a:off x="10464287" y="5281845"/>
            <a:ext cx="47516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TX</a:t>
            </a:r>
          </a:p>
        </p:txBody>
      </p:sp>
      <p:sp>
        <p:nvSpPr>
          <p:cNvPr id="535" name="lvds-tx-detail: 子图帧行封装"/>
          <p:cNvSpPr txBox="1"/>
          <p:nvPr/>
        </p:nvSpPr>
        <p:spPr>
          <a:xfrm>
            <a:off x="10393680" y="5398076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子图帧行封装</a:t>
            </a:r>
          </a:p>
        </p:txBody>
      </p:sp>
      <p:sp>
        <p:nvSpPr>
          <p:cNvPr id="536" name="legend-data-text: AXI 请求方向"/>
          <p:cNvSpPr txBox="1"/>
          <p:nvPr/>
        </p:nvSpPr>
        <p:spPr>
          <a:xfrm>
            <a:off x="10476460" y="2377169"/>
            <a:ext cx="58628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请求方向</a:t>
            </a:r>
          </a:p>
        </p:txBody>
      </p:sp>
      <p:sp>
        <p:nvSpPr>
          <p:cNvPr id="537" name="legend-gb-text: GB 局部读写"/>
          <p:cNvSpPr txBox="1"/>
          <p:nvPr/>
        </p:nvSpPr>
        <p:spPr>
          <a:xfrm>
            <a:off x="10479984" y="2604076"/>
            <a:ext cx="579231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GB 局部读写</a:t>
            </a:r>
          </a:p>
        </p:txBody>
      </p:sp>
      <p:sp>
        <p:nvSpPr>
          <p:cNvPr id="538" name="legend-pixel-text: 像素流"/>
          <p:cNvSpPr txBox="1"/>
          <p:nvPr/>
        </p:nvSpPr>
        <p:spPr>
          <a:xfrm>
            <a:off x="10593493" y="2830982"/>
            <a:ext cx="35221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像素流</a:t>
            </a:r>
          </a:p>
        </p:txBody>
      </p:sp>
      <p:sp>
        <p:nvSpPr>
          <p:cNvPr id="539" name="legend-cfg-text: 配置 / 控制"/>
          <p:cNvSpPr txBox="1"/>
          <p:nvPr/>
        </p:nvSpPr>
        <p:spPr>
          <a:xfrm>
            <a:off x="10500193" y="3057889"/>
            <a:ext cx="53881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配置 / 控制</a:t>
            </a:r>
          </a:p>
        </p:txBody>
      </p:sp>
      <p:sp>
        <p:nvSpPr>
          <p:cNvPr id="540" name="legend-optional-text: eMMC 接口"/>
          <p:cNvSpPr txBox="1"/>
          <p:nvPr/>
        </p:nvSpPr>
        <p:spPr>
          <a:xfrm>
            <a:off x="10501180" y="3284796"/>
            <a:ext cx="53684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93939D"/>
                </a:solidFill>
                <a:latin typeface="Microsoft YaHei"/>
                <a:ea typeface="Microsoft YaHei"/>
                <a:cs typeface="Microsoft YaHei"/>
              </a:rPr>
              <a:t>eMMC 接口</a:t>
            </a:r>
          </a:p>
        </p:txBody>
      </p:sp>
      <p:sp>
        <p:nvSpPr>
          <p:cNvPr id="541" name="legend-return: AXI 响应：沿原接口返回"/>
          <p:cNvSpPr txBox="1"/>
          <p:nvPr/>
        </p:nvSpPr>
        <p:spPr>
          <a:xfrm>
            <a:off x="10228077" y="3474991"/>
            <a:ext cx="947579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响应：沿原接口返回</a:t>
            </a:r>
          </a:p>
        </p:txBody>
      </p:sp>
      <p:sp>
        <p:nvSpPr>
          <p:cNvPr id="542" name="legend-status: 虚线框：规划 / 可选"/>
          <p:cNvSpPr txBox="1"/>
          <p:nvPr/>
        </p:nvSpPr>
        <p:spPr>
          <a:xfrm>
            <a:off x="10290625" y="3586751"/>
            <a:ext cx="822484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虚线框：规划 / 可选</a:t>
            </a:r>
          </a:p>
        </p:txBody>
      </p:sp>
    </p:spTree>
    <p:extLst>
      <p:ext uri="{BB962C8B-B14F-4D97-AF65-F5344CB8AC3E}">
        <p14:creationId xmlns:p14="http://schemas.microsoft.com/office/powerpoint/2010/main" val="2187131506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owerpoint template design by DAJU_PPT正版来源小红书大橘PPT微信DAJU_PPT请勿抄袭搬运！盗版必究！"/>
          <p:cNvSpPr/>
          <p:nvPr/>
        </p:nvSpPr>
        <p:spPr>
          <a:xfrm>
            <a:off x="0" y="0"/>
            <a:ext cx="12192000" cy="527280"/>
          </a:xfrm>
          <a:prstGeom prst="rect">
            <a:avLst/>
          </a:prstGeom>
          <a:solidFill>
            <a:srgbClr val="00499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9" name="powerpoint template design by DAJU_PPT正版来源小红书大橘PPT微信DAJU_PPT请勿抄袭搬运！盗版必究！"/>
          <p:cNvSpPr txBox="1"/>
          <p:nvPr userDrawn="1"/>
        </p:nvSpPr>
        <p:spPr>
          <a:xfrm>
            <a:off x="3087469" y="75869"/>
            <a:ext cx="6850351" cy="375542"/>
          </a:xfrm>
          <a:prstGeom prst="rect">
            <a:avLst/>
          </a:prstGeom>
          <a:noFill/>
        </p:spPr>
        <p:txBody>
          <a:bodyPr wrap="square" lIns="25200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algn="ctr">
              <a:defRPr/>
            </a:pPr>
            <a:r>
              <a:rPr lang="en-US" altLang="zh-CN" sz="2400" b="1" kern="0" dirty="0">
                <a:solidFill>
                  <a:schemeClr val="bg1"/>
                </a:solidFill>
                <a:cs typeface="+mn-ea"/>
                <a:sym typeface="+mn-lt"/>
              </a:rPr>
              <a:t>SoC</a:t>
            </a:r>
            <a:r>
              <a:rPr lang="zh-CN" altLang="en-US" sz="2400" b="1" kern="0" dirty="0">
                <a:solidFill>
                  <a:schemeClr val="bg1"/>
                </a:solidFill>
                <a:cs typeface="+mn-ea"/>
                <a:sym typeface="+mn-lt"/>
              </a:rPr>
              <a:t>硬件层</a:t>
            </a:r>
          </a:p>
        </p:txBody>
      </p:sp>
      <p:sp>
        <p:nvSpPr>
          <p:cNvPr id="1002" name="soc-boundary"/>
          <p:cNvSpPr/>
          <p:nvPr/>
        </p:nvSpPr>
        <p:spPr>
          <a:xfrm>
            <a:off x="71967" y="603149"/>
            <a:ext cx="11260667" cy="61806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3" name="compute"/>
          <p:cNvSpPr/>
          <p:nvPr/>
        </p:nvSpPr>
        <p:spPr>
          <a:xfrm>
            <a:off x="241300" y="738616"/>
            <a:ext cx="3166533" cy="1439333"/>
          </a:xfrm>
          <a:prstGeom prst="rect">
            <a:avLst/>
          </a:prstGeom>
          <a:solidFill>
            <a:srgbClr val="F1D7D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4" name="gb-region"/>
          <p:cNvSpPr/>
          <p:nvPr/>
        </p:nvSpPr>
        <p:spPr>
          <a:xfrm>
            <a:off x="3594100" y="738616"/>
            <a:ext cx="3843867" cy="1439333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5" name="image-rx"/>
          <p:cNvSpPr/>
          <p:nvPr/>
        </p:nvSpPr>
        <p:spPr>
          <a:xfrm>
            <a:off x="7607300" y="738616"/>
            <a:ext cx="3606800" cy="1439333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6" name="reg-region"/>
          <p:cNvSpPr/>
          <p:nvPr/>
        </p:nvSpPr>
        <p:spPr>
          <a:xfrm>
            <a:off x="173567" y="4311549"/>
            <a:ext cx="5825067" cy="1513840"/>
          </a:xfrm>
          <a:prstGeom prst="rect">
            <a:avLst/>
          </a:prstGeom>
          <a:solidFill>
            <a:srgbClr val="FAF8FB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7" name="ddr-controller"/>
          <p:cNvSpPr/>
          <p:nvPr/>
        </p:nvSpPr>
        <p:spPr>
          <a:xfrm>
            <a:off x="6129867" y="5835549"/>
            <a:ext cx="3793067" cy="5757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8" name="roi-region"/>
          <p:cNvSpPr/>
          <p:nvPr/>
        </p:nvSpPr>
        <p:spPr>
          <a:xfrm>
            <a:off x="10160000" y="4311549"/>
            <a:ext cx="1083733" cy="1794933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9" name="compression-front"/>
          <p:cNvSpPr/>
          <p:nvPr/>
        </p:nvSpPr>
        <p:spPr>
          <a:xfrm>
            <a:off x="6129867" y="4375896"/>
            <a:ext cx="3793067" cy="1334347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0" name="shared-payload-services"/>
          <p:cNvSpPr/>
          <p:nvPr/>
        </p:nvSpPr>
        <p:spPr>
          <a:xfrm>
            <a:off x="7095067" y="4768749"/>
            <a:ext cx="2760133" cy="6604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1" name="cpu-ara-command"/>
          <p:cNvSpPr/>
          <p:nvPr/>
        </p:nvSpPr>
        <p:spPr>
          <a:xfrm>
            <a:off x="1172633" y="1212749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2" name="ara-filter-edge"/>
          <p:cNvSpPr/>
          <p:nvPr/>
        </p:nvSpPr>
        <p:spPr>
          <a:xfrm>
            <a:off x="1731433" y="1432882"/>
            <a:ext cx="1" cy="152400"/>
          </a:xfrm>
          <a:custGeom>
            <a:avLst/>
            <a:gdLst/>
            <a:ahLst/>
            <a:cxnLst/>
            <a:rect l="0" t="0" r="r" b="b"/>
            <a:pathLst>
              <a:path w="1" h="152400" fill="none">
                <a:moveTo>
                  <a:pt x="0" y="0"/>
                </a:moveTo>
                <a:lnTo>
                  <a:pt x="0" y="15240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3" name="filter-width"/>
          <p:cNvSpPr/>
          <p:nvPr/>
        </p:nvSpPr>
        <p:spPr>
          <a:xfrm>
            <a:off x="2053167" y="1730909"/>
            <a:ext cx="745067" cy="1"/>
          </a:xfrm>
          <a:custGeom>
            <a:avLst/>
            <a:gdLst/>
            <a:ahLst/>
            <a:cxnLst/>
            <a:rect l="0" t="0" r="r" b="b"/>
            <a:pathLst>
              <a:path w="745067" h="1" fill="none">
                <a:moveTo>
                  <a:pt x="0" y="0"/>
                </a:moveTo>
                <a:lnTo>
                  <a:pt x="745067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4" name="npu-gb"/>
          <p:cNvSpPr/>
          <p:nvPr/>
        </p:nvSpPr>
        <p:spPr>
          <a:xfrm>
            <a:off x="4593167" y="1382082"/>
            <a:ext cx="118533" cy="1"/>
          </a:xfrm>
          <a:custGeom>
            <a:avLst/>
            <a:gdLst/>
            <a:ahLst/>
            <a:cxnLst/>
            <a:rect l="0" t="0" r="r" b="b"/>
            <a:pathLst>
              <a:path w="118533" h="1" fill="none">
                <a:moveTo>
                  <a:pt x="0" y="0"/>
                </a:moveTo>
                <a:lnTo>
                  <a:pt x="118533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5" name="adapter-sram"/>
          <p:cNvSpPr/>
          <p:nvPr/>
        </p:nvSpPr>
        <p:spPr>
          <a:xfrm>
            <a:off x="5490633" y="1449816"/>
            <a:ext cx="135467" cy="1"/>
          </a:xfrm>
          <a:custGeom>
            <a:avLst/>
            <a:gdLst/>
            <a:ahLst/>
            <a:cxnLst/>
            <a:rect l="0" t="0" r="r" b="b"/>
            <a:pathLst>
              <a:path w="135467" h="1" fill="none">
                <a:moveTo>
                  <a:pt x="0" y="0"/>
                </a:moveTo>
                <a:lnTo>
                  <a:pt x="135467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6" name="mover-gb"/>
          <p:cNvSpPr/>
          <p:nvPr/>
        </p:nvSpPr>
        <p:spPr>
          <a:xfrm>
            <a:off x="5490633" y="1907016"/>
            <a:ext cx="135467" cy="1"/>
          </a:xfrm>
          <a:custGeom>
            <a:avLst/>
            <a:gdLst/>
            <a:ahLst/>
            <a:cxnLst/>
            <a:rect l="0" t="0" r="r" b="b"/>
            <a:pathLst>
              <a:path w="135467" h="1" fill="none">
                <a:moveTo>
                  <a:pt x="135467" y="0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7" name="lvds-rx-to-rx-cdc"/>
          <p:cNvSpPr/>
          <p:nvPr/>
        </p:nvSpPr>
        <p:spPr>
          <a:xfrm>
            <a:off x="8250767" y="1517549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0" y="0"/>
                </a:moveTo>
                <a:lnTo>
                  <a:pt x="10160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8" name="rx-cdc-to-isp"/>
          <p:cNvSpPr/>
          <p:nvPr/>
        </p:nvSpPr>
        <p:spPr>
          <a:xfrm>
            <a:off x="8894233" y="1517549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0" y="0"/>
                </a:moveTo>
                <a:lnTo>
                  <a:pt x="10160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9" name="isp-to-frame-select"/>
          <p:cNvSpPr/>
          <p:nvPr/>
        </p:nvSpPr>
        <p:spPr>
          <a:xfrm>
            <a:off x="9554633" y="1517549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0" y="0"/>
                </a:moveTo>
                <a:lnTo>
                  <a:pt x="10160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0" name="frame-select-to-frame-dma"/>
          <p:cNvSpPr/>
          <p:nvPr/>
        </p:nvSpPr>
        <p:spPr>
          <a:xfrm>
            <a:off x="10265833" y="1517549"/>
            <a:ext cx="118533" cy="1"/>
          </a:xfrm>
          <a:custGeom>
            <a:avLst/>
            <a:gdLst/>
            <a:ahLst/>
            <a:cxnLst/>
            <a:rect l="0" t="0" r="r" b="b"/>
            <a:pathLst>
              <a:path w="118533" h="1" fill="none">
                <a:moveTo>
                  <a:pt x="0" y="0"/>
                </a:moveTo>
                <a:lnTo>
                  <a:pt x="118533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1" name="raw-bypass"/>
          <p:cNvSpPr/>
          <p:nvPr/>
        </p:nvSpPr>
        <p:spPr>
          <a:xfrm>
            <a:off x="8623300" y="1060349"/>
            <a:ext cx="1337733" cy="152400"/>
          </a:xfrm>
          <a:custGeom>
            <a:avLst/>
            <a:gdLst/>
            <a:ahLst/>
            <a:cxnLst/>
            <a:rect l="0" t="0" r="r" b="b"/>
            <a:pathLst>
              <a:path w="1337733" h="152400" fill="none">
                <a:moveTo>
                  <a:pt x="0" y="152400"/>
                </a:moveTo>
                <a:lnTo>
                  <a:pt x="0" y="0"/>
                </a:lnTo>
                <a:lnTo>
                  <a:pt x="1337733" y="0"/>
                </a:lnTo>
                <a:lnTo>
                  <a:pt x="1337733" y="15240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2" name="isp-gb"/>
          <p:cNvSpPr/>
          <p:nvPr/>
        </p:nvSpPr>
        <p:spPr>
          <a:xfrm>
            <a:off x="5101167" y="1703816"/>
            <a:ext cx="3894667" cy="524933"/>
          </a:xfrm>
          <a:custGeom>
            <a:avLst/>
            <a:gdLst/>
            <a:ahLst/>
            <a:cxnLst/>
            <a:rect l="0" t="0" r="r" b="b"/>
            <a:pathLst>
              <a:path w="3894667" h="524933" fill="none">
                <a:moveTo>
                  <a:pt x="3894667" y="0"/>
                </a:moveTo>
                <a:lnTo>
                  <a:pt x="3839633" y="0"/>
                </a:lnTo>
                <a:lnTo>
                  <a:pt x="3839633" y="524933"/>
                </a:lnTo>
                <a:lnTo>
                  <a:pt x="0" y="524933"/>
                </a:lnTo>
                <a:lnTo>
                  <a:pt x="0" y="35560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3" name="master-1"/>
          <p:cNvSpPr/>
          <p:nvPr/>
        </p:nvSpPr>
        <p:spPr>
          <a:xfrm>
            <a:off x="1838678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4" name="master-3"/>
          <p:cNvSpPr/>
          <p:nvPr/>
        </p:nvSpPr>
        <p:spPr>
          <a:xfrm>
            <a:off x="3968515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5" name="master-4"/>
          <p:cNvSpPr/>
          <p:nvPr/>
        </p:nvSpPr>
        <p:spPr>
          <a:xfrm>
            <a:off x="5033433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6" name="master-5"/>
          <p:cNvSpPr/>
          <p:nvPr/>
        </p:nvSpPr>
        <p:spPr>
          <a:xfrm>
            <a:off x="6098352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7" name="master-6"/>
          <p:cNvSpPr/>
          <p:nvPr/>
        </p:nvSpPr>
        <p:spPr>
          <a:xfrm>
            <a:off x="7163270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8" name="master-7"/>
          <p:cNvSpPr/>
          <p:nvPr/>
        </p:nvSpPr>
        <p:spPr>
          <a:xfrm>
            <a:off x="8228189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9" name="master-8"/>
          <p:cNvSpPr/>
          <p:nvPr/>
        </p:nvSpPr>
        <p:spPr>
          <a:xfrm>
            <a:off x="9293107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0" name="cpu-xbar"/>
          <p:cNvSpPr/>
          <p:nvPr/>
        </p:nvSpPr>
        <p:spPr>
          <a:xfrm>
            <a:off x="773759" y="1737682"/>
            <a:ext cx="1" cy="1120987"/>
          </a:xfrm>
          <a:custGeom>
            <a:avLst/>
            <a:gdLst/>
            <a:ahLst/>
            <a:cxnLst/>
            <a:rect l="0" t="0" r="r" b="b"/>
            <a:pathLst>
              <a:path w="1" h="1120987" fill="none">
                <a:moveTo>
                  <a:pt x="0" y="0"/>
                </a:moveTo>
                <a:lnTo>
                  <a:pt x="0" y="1120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1" name="ara-xbar"/>
          <p:cNvSpPr/>
          <p:nvPr/>
        </p:nvSpPr>
        <p:spPr>
          <a:xfrm>
            <a:off x="2903596" y="1876536"/>
            <a:ext cx="148637" cy="982133"/>
          </a:xfrm>
          <a:custGeom>
            <a:avLst/>
            <a:gdLst/>
            <a:ahLst/>
            <a:cxnLst/>
            <a:rect l="0" t="0" r="r" b="b"/>
            <a:pathLst>
              <a:path w="148637" h="982133" fill="none">
                <a:moveTo>
                  <a:pt x="148637" y="0"/>
                </a:moveTo>
                <a:lnTo>
                  <a:pt x="148637" y="453813"/>
                </a:lnTo>
                <a:lnTo>
                  <a:pt x="0" y="453813"/>
                </a:lnTo>
                <a:lnTo>
                  <a:pt x="0" y="98213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2" name="target-0"/>
          <p:cNvSpPr/>
          <p:nvPr/>
        </p:nvSpPr>
        <p:spPr>
          <a:xfrm>
            <a:off x="925890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3" name="target-1"/>
          <p:cNvSpPr/>
          <p:nvPr/>
        </p:nvSpPr>
        <p:spPr>
          <a:xfrm>
            <a:off x="2295071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4" name="target-2"/>
          <p:cNvSpPr/>
          <p:nvPr/>
        </p:nvSpPr>
        <p:spPr>
          <a:xfrm>
            <a:off x="3664252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5" name="atomics-llc"/>
          <p:cNvSpPr/>
          <p:nvPr/>
        </p:nvSpPr>
        <p:spPr>
          <a:xfrm>
            <a:off x="3647319" y="3928856"/>
            <a:ext cx="84667" cy="1"/>
          </a:xfrm>
          <a:custGeom>
            <a:avLst/>
            <a:gdLst/>
            <a:ahLst/>
            <a:cxnLst/>
            <a:rect l="0" t="0" r="r" b="b"/>
            <a:pathLst>
              <a:path w="84667" h="1" fill="none">
                <a:moveTo>
                  <a:pt x="0" y="0"/>
                </a:moveTo>
                <a:lnTo>
                  <a:pt x="84667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6" name="target-3"/>
          <p:cNvSpPr/>
          <p:nvPr/>
        </p:nvSpPr>
        <p:spPr>
          <a:xfrm>
            <a:off x="5033433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7" name="target-4"/>
          <p:cNvSpPr/>
          <p:nvPr/>
        </p:nvSpPr>
        <p:spPr>
          <a:xfrm>
            <a:off x="6402614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8" name="target-5"/>
          <p:cNvSpPr/>
          <p:nvPr/>
        </p:nvSpPr>
        <p:spPr>
          <a:xfrm>
            <a:off x="7771795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9" name="target-6"/>
          <p:cNvSpPr/>
          <p:nvPr/>
        </p:nvSpPr>
        <p:spPr>
          <a:xfrm>
            <a:off x="9140976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0" name="m5-gb"/>
          <p:cNvSpPr/>
          <p:nvPr/>
        </p:nvSpPr>
        <p:spPr>
          <a:xfrm>
            <a:off x="4910667" y="2059416"/>
            <a:ext cx="5063067" cy="1778000"/>
          </a:xfrm>
          <a:custGeom>
            <a:avLst/>
            <a:gdLst/>
            <a:ahLst/>
            <a:cxnLst/>
            <a:rect l="0" t="0" r="r" b="b"/>
            <a:pathLst>
              <a:path w="5063067" h="1778000" fill="none">
                <a:moveTo>
                  <a:pt x="3470729" y="1778000"/>
                </a:moveTo>
                <a:lnTo>
                  <a:pt x="3539067" y="1778000"/>
                </a:lnTo>
                <a:lnTo>
                  <a:pt x="3539067" y="1422400"/>
                </a:lnTo>
                <a:lnTo>
                  <a:pt x="4209990" y="1422400"/>
                </a:lnTo>
                <a:cubicBezTo>
                  <a:pt x="4223536" y="1404338"/>
                  <a:pt x="4237083" y="1404338"/>
                  <a:pt x="4250630" y="1422400"/>
                </a:cubicBezTo>
                <a:lnTo>
                  <a:pt x="5063067" y="1422400"/>
                </a:lnTo>
                <a:lnTo>
                  <a:pt x="5063067" y="237067"/>
                </a:lnTo>
                <a:lnTo>
                  <a:pt x="0" y="237067"/>
                </a:ln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1" name="emmc-physical"/>
          <p:cNvSpPr/>
          <p:nvPr/>
        </p:nvSpPr>
        <p:spPr>
          <a:xfrm>
            <a:off x="8712482" y="2329220"/>
            <a:ext cx="2700584" cy="255129"/>
          </a:xfrm>
          <a:custGeom>
            <a:avLst/>
            <a:gdLst/>
            <a:ahLst/>
            <a:cxnLst/>
            <a:rect l="0" t="0" r="r" b="b"/>
            <a:pathLst>
              <a:path w="2700584" h="255129" fill="none">
                <a:moveTo>
                  <a:pt x="2700584" y="255129"/>
                </a:moveTo>
                <a:lnTo>
                  <a:pt x="2632851" y="255129"/>
                </a:lnTo>
                <a:lnTo>
                  <a:pt x="2632851" y="18062"/>
                </a:lnTo>
                <a:lnTo>
                  <a:pt x="1281571" y="18062"/>
                </a:lnTo>
                <a:cubicBezTo>
                  <a:pt x="1268024" y="0"/>
                  <a:pt x="1254478" y="0"/>
                  <a:pt x="1240931" y="18062"/>
                </a:cubicBezTo>
                <a:lnTo>
                  <a:pt x="38664" y="18062"/>
                </a:lnTo>
                <a:lnTo>
                  <a:pt x="38664" y="255129"/>
                </a:lnTo>
                <a:lnTo>
                  <a:pt x="0" y="255129"/>
                </a:lnTo>
              </a:path>
            </a:pathLst>
          </a:custGeom>
          <a:noFill/>
          <a:ln w="16256" cap="flat">
            <a:solidFill>
              <a:srgbClr val="93939D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2" name="bridge-regbus"/>
          <p:cNvSpPr/>
          <p:nvPr/>
        </p:nvSpPr>
        <p:spPr>
          <a:xfrm>
            <a:off x="2295071" y="4108349"/>
            <a:ext cx="1" cy="270933"/>
          </a:xfrm>
          <a:custGeom>
            <a:avLst/>
            <a:gdLst/>
            <a:ahLst/>
            <a:cxnLst/>
            <a:rect l="0" t="0" r="r" b="b"/>
            <a:pathLst>
              <a:path w="1" h="270933" fill="none">
                <a:moveTo>
                  <a:pt x="0" y="0"/>
                </a:moveTo>
                <a:lnTo>
                  <a:pt x="0" y="270933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3" name="reg-column-0"/>
          <p:cNvSpPr/>
          <p:nvPr/>
        </p:nvSpPr>
        <p:spPr>
          <a:xfrm>
            <a:off x="285327" y="4599416"/>
            <a:ext cx="1" cy="1060027"/>
          </a:xfrm>
          <a:custGeom>
            <a:avLst/>
            <a:gdLst/>
            <a:ahLst/>
            <a:cxnLst/>
            <a:rect l="0" t="0" r="r" b="b"/>
            <a:pathLst>
              <a:path w="1" h="1060027" fill="none">
                <a:moveTo>
                  <a:pt x="0" y="0"/>
                </a:moveTo>
                <a:lnTo>
                  <a:pt x="0" y="1060027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4" name="bootrom-cfg"/>
          <p:cNvSpPr/>
          <p:nvPr/>
        </p:nvSpPr>
        <p:spPr>
          <a:xfrm>
            <a:off x="285327" y="476536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5" name="uart-cfg"/>
          <p:cNvSpPr/>
          <p:nvPr/>
        </p:nvSpPr>
        <p:spPr>
          <a:xfrm>
            <a:off x="285327" y="5063389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6" name="vga-regs-cfg"/>
          <p:cNvSpPr/>
          <p:nvPr/>
        </p:nvSpPr>
        <p:spPr>
          <a:xfrm>
            <a:off x="285327" y="5361416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7" name="irq-router-cfg"/>
          <p:cNvSpPr/>
          <p:nvPr/>
        </p:nvSpPr>
        <p:spPr>
          <a:xfrm>
            <a:off x="285327" y="565944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8" name="reg-column-1"/>
          <p:cNvSpPr/>
          <p:nvPr/>
        </p:nvSpPr>
        <p:spPr>
          <a:xfrm>
            <a:off x="1402927" y="4599416"/>
            <a:ext cx="1" cy="1060027"/>
          </a:xfrm>
          <a:custGeom>
            <a:avLst/>
            <a:gdLst/>
            <a:ahLst/>
            <a:cxnLst/>
            <a:rect l="0" t="0" r="r" b="b"/>
            <a:pathLst>
              <a:path w="1" h="1060027" fill="none">
                <a:moveTo>
                  <a:pt x="0" y="0"/>
                </a:moveTo>
                <a:lnTo>
                  <a:pt x="0" y="1060027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9" name="clint-cfg"/>
          <p:cNvSpPr/>
          <p:nvPr/>
        </p:nvSpPr>
        <p:spPr>
          <a:xfrm>
            <a:off x="1402927" y="476536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0" name="i2c-cfg"/>
          <p:cNvSpPr/>
          <p:nvPr/>
        </p:nvSpPr>
        <p:spPr>
          <a:xfrm>
            <a:off x="1402927" y="5063389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1" name="usb-regs-cfg"/>
          <p:cNvSpPr/>
          <p:nvPr/>
        </p:nvSpPr>
        <p:spPr>
          <a:xfrm>
            <a:off x="1402927" y="5361416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2" name="axi-rt-config-cfg"/>
          <p:cNvSpPr/>
          <p:nvPr/>
        </p:nvSpPr>
        <p:spPr>
          <a:xfrm>
            <a:off x="1402927" y="565944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3" name="reg-column-2"/>
          <p:cNvSpPr/>
          <p:nvPr/>
        </p:nvSpPr>
        <p:spPr>
          <a:xfrm>
            <a:off x="2520527" y="4599416"/>
            <a:ext cx="1" cy="1060027"/>
          </a:xfrm>
          <a:custGeom>
            <a:avLst/>
            <a:gdLst/>
            <a:ahLst/>
            <a:cxnLst/>
            <a:rect l="0" t="0" r="r" b="b"/>
            <a:pathLst>
              <a:path w="1" h="1060027" fill="none">
                <a:moveTo>
                  <a:pt x="0" y="0"/>
                </a:moveTo>
                <a:lnTo>
                  <a:pt x="0" y="1060027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4" name="soc-regs-cfg"/>
          <p:cNvSpPr/>
          <p:nvPr/>
        </p:nvSpPr>
        <p:spPr>
          <a:xfrm>
            <a:off x="2520527" y="476536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5" name="spi-cfg"/>
          <p:cNvSpPr/>
          <p:nvPr/>
        </p:nvSpPr>
        <p:spPr>
          <a:xfrm>
            <a:off x="2520527" y="5063389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6" name="err-vga-cfg"/>
          <p:cNvSpPr/>
          <p:nvPr/>
        </p:nvSpPr>
        <p:spPr>
          <a:xfrm>
            <a:off x="2520527" y="5361416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7" name="clic-cfg"/>
          <p:cNvSpPr/>
          <p:nvPr/>
        </p:nvSpPr>
        <p:spPr>
          <a:xfrm>
            <a:off x="2520527" y="565944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8" name="reg-column-3"/>
          <p:cNvSpPr/>
          <p:nvPr/>
        </p:nvSpPr>
        <p:spPr>
          <a:xfrm>
            <a:off x="3638127" y="4599416"/>
            <a:ext cx="1" cy="1060027"/>
          </a:xfrm>
          <a:custGeom>
            <a:avLst/>
            <a:gdLst/>
            <a:ahLst/>
            <a:cxnLst/>
            <a:rect l="0" t="0" r="r" b="b"/>
            <a:pathLst>
              <a:path w="1" h="1060027" fill="none">
                <a:moveTo>
                  <a:pt x="0" y="0"/>
                </a:moveTo>
                <a:lnTo>
                  <a:pt x="0" y="1060027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9" name="plic-cfg"/>
          <p:cNvSpPr/>
          <p:nvPr/>
        </p:nvSpPr>
        <p:spPr>
          <a:xfrm>
            <a:off x="3638127" y="476536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0" name="gpio-cfg"/>
          <p:cNvSpPr/>
          <p:nvPr/>
        </p:nvSpPr>
        <p:spPr>
          <a:xfrm>
            <a:off x="3638127" y="5063389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1" name="err-dma-cfg"/>
          <p:cNvSpPr/>
          <p:nvPr/>
        </p:nvSpPr>
        <p:spPr>
          <a:xfrm>
            <a:off x="3638127" y="5361416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2" name="reg-error-cfg"/>
          <p:cNvSpPr/>
          <p:nvPr/>
        </p:nvSpPr>
        <p:spPr>
          <a:xfrm>
            <a:off x="3638127" y="565944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3" name="reg-column-4"/>
          <p:cNvSpPr/>
          <p:nvPr/>
        </p:nvSpPr>
        <p:spPr>
          <a:xfrm>
            <a:off x="4755727" y="4599416"/>
            <a:ext cx="1" cy="1060027"/>
          </a:xfrm>
          <a:custGeom>
            <a:avLst/>
            <a:gdLst/>
            <a:ahLst/>
            <a:cxnLst/>
            <a:rect l="0" t="0" r="r" b="b"/>
            <a:pathLst>
              <a:path w="1" h="1060027" fill="none">
                <a:moveTo>
                  <a:pt x="0" y="0"/>
                </a:moveTo>
                <a:lnTo>
                  <a:pt x="0" y="1060027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4" name="llc-regs-cfg"/>
          <p:cNvSpPr/>
          <p:nvPr/>
        </p:nvSpPr>
        <p:spPr>
          <a:xfrm>
            <a:off x="4755727" y="476536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5" name="slink-regs-cfg"/>
          <p:cNvSpPr/>
          <p:nvPr/>
        </p:nvSpPr>
        <p:spPr>
          <a:xfrm>
            <a:off x="4755727" y="5063389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6" name="err-cpu-cfg"/>
          <p:cNvSpPr/>
          <p:nvPr/>
        </p:nvSpPr>
        <p:spPr>
          <a:xfrm>
            <a:off x="4755727" y="5361416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7" name="reg-ext-cfg"/>
          <p:cNvSpPr/>
          <p:nvPr/>
        </p:nvSpPr>
        <p:spPr>
          <a:xfrm>
            <a:off x="4755727" y="565944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8" name="ddr-arb-0"/>
          <p:cNvSpPr/>
          <p:nvPr/>
        </p:nvSpPr>
        <p:spPr>
          <a:xfrm>
            <a:off x="6604000" y="5882962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9" name="ddr-arb-1"/>
          <p:cNvSpPr/>
          <p:nvPr/>
        </p:nvSpPr>
        <p:spPr>
          <a:xfrm>
            <a:off x="7535333" y="5882962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0" name="ddr-arb-2"/>
          <p:cNvSpPr/>
          <p:nvPr/>
        </p:nvSpPr>
        <p:spPr>
          <a:xfrm>
            <a:off x="8466667" y="5882962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1" name="ddr-arb-3"/>
          <p:cNvSpPr/>
          <p:nvPr/>
        </p:nvSpPr>
        <p:spPr>
          <a:xfrm>
            <a:off x="9398000" y="5882962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2" name="arb-rw"/>
          <p:cNvSpPr/>
          <p:nvPr/>
        </p:nvSpPr>
        <p:spPr>
          <a:xfrm>
            <a:off x="7001933" y="6072616"/>
            <a:ext cx="1" cy="33867"/>
          </a:xfrm>
          <a:custGeom>
            <a:avLst/>
            <a:gdLst/>
            <a:ahLst/>
            <a:cxnLst/>
            <a:rect l="0" t="0" r="r" b="b"/>
            <a:pathLst>
              <a:path w="1" h="33867" fill="none">
                <a:moveTo>
                  <a:pt x="0" y="0"/>
                </a:moveTo>
                <a:lnTo>
                  <a:pt x="0" y="3386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3" name="rw-command"/>
          <p:cNvSpPr/>
          <p:nvPr/>
        </p:nvSpPr>
        <p:spPr>
          <a:xfrm>
            <a:off x="7806267" y="6191149"/>
            <a:ext cx="406400" cy="1"/>
          </a:xfrm>
          <a:custGeom>
            <a:avLst/>
            <a:gdLst/>
            <a:ahLst/>
            <a:cxnLst/>
            <a:rect l="0" t="0" r="r" b="b"/>
            <a:pathLst>
              <a:path w="406400" h="1" fill="none">
                <a:moveTo>
                  <a:pt x="0" y="0"/>
                </a:moveTo>
                <a:lnTo>
                  <a:pt x="406400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4" name="controller-phy"/>
          <p:cNvSpPr/>
          <p:nvPr/>
        </p:nvSpPr>
        <p:spPr>
          <a:xfrm>
            <a:off x="9855200" y="6191149"/>
            <a:ext cx="406400" cy="135467"/>
          </a:xfrm>
          <a:custGeom>
            <a:avLst/>
            <a:gdLst/>
            <a:ahLst/>
            <a:cxnLst/>
            <a:rect l="0" t="0" r="r" b="b"/>
            <a:pathLst>
              <a:path w="406400" h="135467" fill="none">
                <a:moveTo>
                  <a:pt x="0" y="0"/>
                </a:moveTo>
                <a:lnTo>
                  <a:pt x="203200" y="0"/>
                </a:lnTo>
                <a:lnTo>
                  <a:pt x="203200" y="135467"/>
                </a:lnTo>
                <a:lnTo>
                  <a:pt x="406400" y="135467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5" name="phy-ddr"/>
          <p:cNvSpPr/>
          <p:nvPr/>
        </p:nvSpPr>
        <p:spPr>
          <a:xfrm>
            <a:off x="11125200" y="6326616"/>
            <a:ext cx="376767" cy="1"/>
          </a:xfrm>
          <a:custGeom>
            <a:avLst/>
            <a:gdLst/>
            <a:ahLst/>
            <a:cxnLst/>
            <a:rect l="0" t="0" r="r" b="b"/>
            <a:pathLst>
              <a:path w="376767" h="1" fill="none">
                <a:moveTo>
                  <a:pt x="0" y="0"/>
                </a:moveTo>
                <a:lnTo>
                  <a:pt x="376767" y="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6" name="roi-vdma-control"/>
          <p:cNvSpPr/>
          <p:nvPr/>
        </p:nvSpPr>
        <p:spPr>
          <a:xfrm>
            <a:off x="10701867" y="4971949"/>
            <a:ext cx="1" cy="50800"/>
          </a:xfrm>
          <a:custGeom>
            <a:avLst/>
            <a:gdLst/>
            <a:ahLst/>
            <a:cxnLst/>
            <a:rect l="0" t="0" r="r" b="b"/>
            <a:pathLst>
              <a:path w="1" h="50800" fill="none">
                <a:moveTo>
                  <a:pt x="0" y="0"/>
                </a:moveTo>
                <a:lnTo>
                  <a:pt x="0" y="5080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7" name="vdma-pixels"/>
          <p:cNvSpPr/>
          <p:nvPr/>
        </p:nvSpPr>
        <p:spPr>
          <a:xfrm>
            <a:off x="10701867" y="5361416"/>
            <a:ext cx="1" cy="50800"/>
          </a:xfrm>
          <a:custGeom>
            <a:avLst/>
            <a:gdLst/>
            <a:ahLst/>
            <a:cxnLst/>
            <a:rect l="0" t="0" r="r" b="b"/>
            <a:pathLst>
              <a:path w="1" h="50800" fill="none">
                <a:moveTo>
                  <a:pt x="0" y="0"/>
                </a:moveTo>
                <a:lnTo>
                  <a:pt x="0" y="5080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8" name="fifo-lvds"/>
          <p:cNvSpPr/>
          <p:nvPr/>
        </p:nvSpPr>
        <p:spPr>
          <a:xfrm>
            <a:off x="10701867" y="5666216"/>
            <a:ext cx="1" cy="50800"/>
          </a:xfrm>
          <a:custGeom>
            <a:avLst/>
            <a:gdLst/>
            <a:ahLst/>
            <a:cxnLst/>
            <a:rect l="0" t="0" r="r" b="b"/>
            <a:pathLst>
              <a:path w="1" h="50800" fill="none">
                <a:moveTo>
                  <a:pt x="0" y="0"/>
                </a:moveTo>
                <a:lnTo>
                  <a:pt x="0" y="5080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9" name="llc-f0"/>
          <p:cNvSpPr/>
          <p:nvPr/>
        </p:nvSpPr>
        <p:spPr>
          <a:xfrm>
            <a:off x="4019852" y="4071096"/>
            <a:ext cx="2584148" cy="243840"/>
          </a:xfrm>
          <a:custGeom>
            <a:avLst/>
            <a:gdLst/>
            <a:ahLst/>
            <a:cxnLst/>
            <a:rect l="0" t="0" r="r" b="b"/>
            <a:pathLst>
              <a:path w="2584148" h="243840" fill="none">
                <a:moveTo>
                  <a:pt x="0" y="0"/>
                </a:moveTo>
                <a:lnTo>
                  <a:pt x="0" y="172720"/>
                </a:lnTo>
                <a:lnTo>
                  <a:pt x="2584148" y="172720"/>
                </a:lnTo>
                <a:lnTo>
                  <a:pt x="2584148" y="24384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0" name="mover-f1"/>
          <p:cNvSpPr/>
          <p:nvPr/>
        </p:nvSpPr>
        <p:spPr>
          <a:xfrm>
            <a:off x="7336367" y="1907016"/>
            <a:ext cx="2688167" cy="2407920"/>
          </a:xfrm>
          <a:custGeom>
            <a:avLst/>
            <a:gdLst/>
            <a:ahLst/>
            <a:cxnLst/>
            <a:rect l="0" t="0" r="r" b="b"/>
            <a:pathLst>
              <a:path w="2688167" h="2407920" fill="none">
                <a:moveTo>
                  <a:pt x="0" y="0"/>
                </a:moveTo>
                <a:lnTo>
                  <a:pt x="165100" y="0"/>
                </a:lnTo>
                <a:lnTo>
                  <a:pt x="165100" y="301413"/>
                </a:lnTo>
                <a:cubicBezTo>
                  <a:pt x="183162" y="314960"/>
                  <a:pt x="183162" y="328507"/>
                  <a:pt x="165100" y="342053"/>
                </a:cubicBezTo>
                <a:lnTo>
                  <a:pt x="165100" y="369147"/>
                </a:lnTo>
                <a:cubicBezTo>
                  <a:pt x="183162" y="382693"/>
                  <a:pt x="183162" y="396240"/>
                  <a:pt x="165100" y="409787"/>
                </a:cubicBezTo>
                <a:lnTo>
                  <a:pt x="165100" y="457200"/>
                </a:lnTo>
                <a:lnTo>
                  <a:pt x="1394460" y="457200"/>
                </a:lnTo>
                <a:cubicBezTo>
                  <a:pt x="1408007" y="439138"/>
                  <a:pt x="1421553" y="439138"/>
                  <a:pt x="1435100" y="457200"/>
                </a:cubicBezTo>
                <a:lnTo>
                  <a:pt x="2617047" y="457200"/>
                </a:lnTo>
                <a:cubicBezTo>
                  <a:pt x="2630593" y="439138"/>
                  <a:pt x="2644140" y="439138"/>
                  <a:pt x="2657687" y="457200"/>
                </a:cubicBezTo>
                <a:lnTo>
                  <a:pt x="2688167" y="457200"/>
                </a:lnTo>
                <a:lnTo>
                  <a:pt x="2688167" y="2269067"/>
                </a:lnTo>
                <a:lnTo>
                  <a:pt x="198967" y="2269067"/>
                </a:lnTo>
                <a:lnTo>
                  <a:pt x="198967" y="240792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1" name="frame-f2"/>
          <p:cNvSpPr/>
          <p:nvPr/>
        </p:nvSpPr>
        <p:spPr>
          <a:xfrm>
            <a:off x="8466667" y="1686882"/>
            <a:ext cx="2727396" cy="2628053"/>
          </a:xfrm>
          <a:custGeom>
            <a:avLst/>
            <a:gdLst/>
            <a:ahLst/>
            <a:cxnLst/>
            <a:rect l="0" t="0" r="r" b="b"/>
            <a:pathLst>
              <a:path w="2727396" h="2628053" fill="none">
                <a:moveTo>
                  <a:pt x="2645833" y="0"/>
                </a:moveTo>
                <a:lnTo>
                  <a:pt x="2709333" y="0"/>
                </a:lnTo>
                <a:lnTo>
                  <a:pt x="2709333" y="640080"/>
                </a:lnTo>
                <a:cubicBezTo>
                  <a:pt x="2727396" y="653627"/>
                  <a:pt x="2727396" y="667173"/>
                  <a:pt x="2709333" y="680720"/>
                </a:cubicBezTo>
                <a:lnTo>
                  <a:pt x="2709333" y="2438400"/>
                </a:lnTo>
                <a:lnTo>
                  <a:pt x="1578187" y="2438400"/>
                </a:lnTo>
                <a:cubicBezTo>
                  <a:pt x="1564640" y="2420338"/>
                  <a:pt x="1551093" y="2420338"/>
                  <a:pt x="1537547" y="2438400"/>
                </a:cubicBezTo>
                <a:lnTo>
                  <a:pt x="0" y="2438400"/>
                </a:lnTo>
                <a:lnTo>
                  <a:pt x="0" y="2468880"/>
                </a:lnTo>
                <a:cubicBezTo>
                  <a:pt x="18062" y="2482427"/>
                  <a:pt x="18062" y="2495973"/>
                  <a:pt x="0" y="2509520"/>
                </a:cubicBezTo>
                <a:lnTo>
                  <a:pt x="0" y="2628053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2" name="roi-f3-request"/>
          <p:cNvSpPr/>
          <p:nvPr/>
        </p:nvSpPr>
        <p:spPr>
          <a:xfrm>
            <a:off x="9398000" y="4277682"/>
            <a:ext cx="863600" cy="812800"/>
          </a:xfrm>
          <a:custGeom>
            <a:avLst/>
            <a:gdLst/>
            <a:ahLst/>
            <a:cxnLst/>
            <a:rect l="0" t="0" r="r" b="b"/>
            <a:pathLst>
              <a:path w="863600" h="812800" fill="none">
                <a:moveTo>
                  <a:pt x="863600" y="812800"/>
                </a:moveTo>
                <a:lnTo>
                  <a:pt x="677333" y="812800"/>
                </a:lnTo>
                <a:lnTo>
                  <a:pt x="677333" y="0"/>
                </a:lnTo>
                <a:lnTo>
                  <a:pt x="0" y="0"/>
                </a:lnTo>
                <a:lnTo>
                  <a:pt x="0" y="37253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3" name="front-input-0"/>
          <p:cNvSpPr/>
          <p:nvPr/>
        </p:nvSpPr>
        <p:spPr>
          <a:xfrm>
            <a:off x="6604000" y="4436856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4" name="front-input-1"/>
          <p:cNvSpPr/>
          <p:nvPr/>
        </p:nvSpPr>
        <p:spPr>
          <a:xfrm>
            <a:off x="7535333" y="4436856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5" name="front-input-2"/>
          <p:cNvSpPr/>
          <p:nvPr/>
        </p:nvSpPr>
        <p:spPr>
          <a:xfrm>
            <a:off x="8466667" y="4436856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6" name="front-input-3"/>
          <p:cNvSpPr/>
          <p:nvPr/>
        </p:nvSpPr>
        <p:spPr>
          <a:xfrm>
            <a:off x="9398000" y="4436856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7" name="adapt-address"/>
          <p:cNvSpPr/>
          <p:nvPr/>
        </p:nvSpPr>
        <p:spPr>
          <a:xfrm>
            <a:off x="6587067" y="4667149"/>
            <a:ext cx="1" cy="101600"/>
          </a:xfrm>
          <a:custGeom>
            <a:avLst/>
            <a:gdLst/>
            <a:ahLst/>
            <a:cxnLst/>
            <a:rect l="0" t="0" r="r" b="b"/>
            <a:pathLst>
              <a:path w="1" h="101600" fill="none">
                <a:moveTo>
                  <a:pt x="0" y="0"/>
                </a:moveTo>
                <a:lnTo>
                  <a:pt x="0" y="10160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8" name="address-downstream"/>
          <p:cNvSpPr/>
          <p:nvPr/>
        </p:nvSpPr>
        <p:spPr>
          <a:xfrm>
            <a:off x="6976533" y="4938082"/>
            <a:ext cx="40640" cy="552027"/>
          </a:xfrm>
          <a:custGeom>
            <a:avLst/>
            <a:gdLst/>
            <a:ahLst/>
            <a:cxnLst/>
            <a:rect l="0" t="0" r="r" b="b"/>
            <a:pathLst>
              <a:path w="40640" h="552027" fill="none">
                <a:moveTo>
                  <a:pt x="0" y="0"/>
                </a:moveTo>
                <a:lnTo>
                  <a:pt x="40640" y="0"/>
                </a:lnTo>
                <a:lnTo>
                  <a:pt x="40640" y="55202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9" name="b-response"/>
          <p:cNvSpPr/>
          <p:nvPr/>
        </p:nvSpPr>
        <p:spPr>
          <a:xfrm>
            <a:off x="6163733" y="4667149"/>
            <a:ext cx="84667" cy="907627"/>
          </a:xfrm>
          <a:custGeom>
            <a:avLst/>
            <a:gdLst/>
            <a:ahLst/>
            <a:cxnLst/>
            <a:rect l="0" t="0" r="r" b="b"/>
            <a:pathLst>
              <a:path w="84667" h="907627" fill="none">
                <a:moveTo>
                  <a:pt x="33867" y="907627"/>
                </a:moveTo>
                <a:lnTo>
                  <a:pt x="0" y="907627"/>
                </a:lnTo>
                <a:lnTo>
                  <a:pt x="0" y="67733"/>
                </a:lnTo>
                <a:lnTo>
                  <a:pt x="84667" y="67733"/>
                </a:lnTo>
                <a:lnTo>
                  <a:pt x="84667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0" name="metadata-control"/>
          <p:cNvSpPr/>
          <p:nvPr/>
        </p:nvSpPr>
        <p:spPr>
          <a:xfrm>
            <a:off x="6587067" y="5107416"/>
            <a:ext cx="1" cy="101600"/>
          </a:xfrm>
          <a:custGeom>
            <a:avLst/>
            <a:gdLst/>
            <a:ahLst/>
            <a:cxnLst/>
            <a:rect l="0" t="0" r="r" b="b"/>
            <a:pathLst>
              <a:path w="1" h="101600" fill="none">
                <a:moveTo>
                  <a:pt x="0" y="0"/>
                </a:moveTo>
                <a:lnTo>
                  <a:pt x="0" y="101600"/>
                </a:lnTo>
              </a:path>
            </a:pathLst>
          </a:custGeom>
          <a:noFill/>
          <a:ln w="16256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1" name="metadata-storage"/>
          <p:cNvSpPr/>
          <p:nvPr/>
        </p:nvSpPr>
        <p:spPr>
          <a:xfrm>
            <a:off x="6587067" y="5378349"/>
            <a:ext cx="1" cy="111760"/>
          </a:xfrm>
          <a:custGeom>
            <a:avLst/>
            <a:gdLst/>
            <a:ahLst/>
            <a:cxnLst/>
            <a:rect l="0" t="0" r="r" b="b"/>
            <a:pathLst>
              <a:path w="1" h="111760" fill="none">
                <a:moveTo>
                  <a:pt x="0" y="0"/>
                </a:moveTo>
                <a:lnTo>
                  <a:pt x="0" y="11176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2" name="adapt-compressor"/>
          <p:cNvSpPr/>
          <p:nvPr/>
        </p:nvSpPr>
        <p:spPr>
          <a:xfrm>
            <a:off x="7577667" y="4667149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0"/>
                </a:moveTo>
                <a:lnTo>
                  <a:pt x="0" y="23706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3" name="compressor-route"/>
          <p:cNvSpPr/>
          <p:nvPr/>
        </p:nvSpPr>
        <p:spPr>
          <a:xfrm>
            <a:off x="7577667" y="5293682"/>
            <a:ext cx="1" cy="196427"/>
          </a:xfrm>
          <a:custGeom>
            <a:avLst/>
            <a:gdLst/>
            <a:ahLst/>
            <a:cxnLst/>
            <a:rect l="0" t="0" r="r" b="b"/>
            <a:pathLst>
              <a:path w="1" h="196427" fill="none">
                <a:moveTo>
                  <a:pt x="0" y="0"/>
                </a:moveTo>
                <a:lnTo>
                  <a:pt x="0" y="19642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4" name="read-to-decoder"/>
          <p:cNvSpPr/>
          <p:nvPr/>
        </p:nvSpPr>
        <p:spPr>
          <a:xfrm>
            <a:off x="8483600" y="5293682"/>
            <a:ext cx="1" cy="196427"/>
          </a:xfrm>
          <a:custGeom>
            <a:avLst/>
            <a:gdLst/>
            <a:ahLst/>
            <a:cxnLst/>
            <a:rect l="0" t="0" r="r" b="b"/>
            <a:pathLst>
              <a:path w="1" h="196427" fill="none">
                <a:moveTo>
                  <a:pt x="0" y="196427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5" name="decoder-up"/>
          <p:cNvSpPr/>
          <p:nvPr/>
        </p:nvSpPr>
        <p:spPr>
          <a:xfrm>
            <a:off x="8483600" y="4667149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237067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6" name="adapt-plain-bypass"/>
          <p:cNvSpPr/>
          <p:nvPr/>
        </p:nvSpPr>
        <p:spPr>
          <a:xfrm>
            <a:off x="9389533" y="4667149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0"/>
                </a:moveTo>
                <a:lnTo>
                  <a:pt x="0" y="237067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7" name="plain-bypass-route"/>
          <p:cNvSpPr/>
          <p:nvPr/>
        </p:nvSpPr>
        <p:spPr>
          <a:xfrm>
            <a:off x="9389533" y="5293682"/>
            <a:ext cx="1" cy="196427"/>
          </a:xfrm>
          <a:custGeom>
            <a:avLst/>
            <a:gdLst/>
            <a:ahLst/>
            <a:cxnLst/>
            <a:rect l="0" t="0" r="r" b="b"/>
            <a:pathLst>
              <a:path w="1" h="196427" fill="none">
                <a:moveTo>
                  <a:pt x="0" y="0"/>
                </a:moveTo>
                <a:lnTo>
                  <a:pt x="0" y="196427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8" name="front-ddr-0"/>
          <p:cNvSpPr/>
          <p:nvPr/>
        </p:nvSpPr>
        <p:spPr>
          <a:xfrm>
            <a:off x="6604000" y="5659442"/>
            <a:ext cx="1" cy="128693"/>
          </a:xfrm>
          <a:custGeom>
            <a:avLst/>
            <a:gdLst/>
            <a:ahLst/>
            <a:cxnLst/>
            <a:rect l="0" t="0" r="r" b="b"/>
            <a:pathLst>
              <a:path w="1" h="128693" fill="none">
                <a:moveTo>
                  <a:pt x="0" y="0"/>
                </a:moveTo>
                <a:lnTo>
                  <a:pt x="0" y="128693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9" name="front-ddr-1"/>
          <p:cNvSpPr/>
          <p:nvPr/>
        </p:nvSpPr>
        <p:spPr>
          <a:xfrm>
            <a:off x="7535333" y="5659442"/>
            <a:ext cx="1" cy="128693"/>
          </a:xfrm>
          <a:custGeom>
            <a:avLst/>
            <a:gdLst/>
            <a:ahLst/>
            <a:cxnLst/>
            <a:rect l="0" t="0" r="r" b="b"/>
            <a:pathLst>
              <a:path w="1" h="128693" fill="none">
                <a:moveTo>
                  <a:pt x="0" y="0"/>
                </a:moveTo>
                <a:lnTo>
                  <a:pt x="0" y="128693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0" name="front-ddr-2"/>
          <p:cNvSpPr/>
          <p:nvPr/>
        </p:nvSpPr>
        <p:spPr>
          <a:xfrm>
            <a:off x="8466667" y="5659442"/>
            <a:ext cx="1" cy="128693"/>
          </a:xfrm>
          <a:custGeom>
            <a:avLst/>
            <a:gdLst/>
            <a:ahLst/>
            <a:cxnLst/>
            <a:rect l="0" t="0" r="r" b="b"/>
            <a:pathLst>
              <a:path w="1" h="128693" fill="none">
                <a:moveTo>
                  <a:pt x="0" y="0"/>
                </a:moveTo>
                <a:lnTo>
                  <a:pt x="0" y="128693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1" name="front-ddr-3"/>
          <p:cNvSpPr/>
          <p:nvPr/>
        </p:nvSpPr>
        <p:spPr>
          <a:xfrm>
            <a:off x="9398000" y="5659442"/>
            <a:ext cx="1" cy="128693"/>
          </a:xfrm>
          <a:custGeom>
            <a:avLst/>
            <a:gdLst/>
            <a:ahLst/>
            <a:cxnLst/>
            <a:rect l="0" t="0" r="r" b="b"/>
            <a:pathLst>
              <a:path w="1" h="128693" fill="none">
                <a:moveTo>
                  <a:pt x="0" y="0"/>
                </a:moveTo>
                <a:lnTo>
                  <a:pt x="0" y="128693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2" name="regext-config"/>
          <p:cNvSpPr/>
          <p:nvPr/>
        </p:nvSpPr>
        <p:spPr>
          <a:xfrm>
            <a:off x="5846233" y="5659442"/>
            <a:ext cx="198967" cy="643805"/>
          </a:xfrm>
          <a:custGeom>
            <a:avLst/>
            <a:gdLst/>
            <a:ahLst/>
            <a:cxnLst/>
            <a:rect l="0" t="0" r="r" b="b"/>
            <a:pathLst>
              <a:path w="198967" h="643805" fill="none">
                <a:moveTo>
                  <a:pt x="0" y="0"/>
                </a:moveTo>
                <a:lnTo>
                  <a:pt x="198967" y="0"/>
                </a:lnTo>
                <a:lnTo>
                  <a:pt x="198967" y="643805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3" name="config-trunk-1"/>
          <p:cNvSpPr/>
          <p:nvPr/>
        </p:nvSpPr>
        <p:spPr>
          <a:xfrm>
            <a:off x="576157" y="5849096"/>
            <a:ext cx="5469043" cy="1"/>
          </a:xfrm>
          <a:custGeom>
            <a:avLst/>
            <a:gdLst/>
            <a:ahLst/>
            <a:cxnLst/>
            <a:rect l="0" t="0" r="r" b="b"/>
            <a:pathLst>
              <a:path w="5469043" h="1" fill="none">
                <a:moveTo>
                  <a:pt x="5469043" y="0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4" name="cfg-C1"/>
          <p:cNvSpPr/>
          <p:nvPr/>
        </p:nvSpPr>
        <p:spPr>
          <a:xfrm>
            <a:off x="576157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5" name="cfg-C2"/>
          <p:cNvSpPr/>
          <p:nvPr/>
        </p:nvSpPr>
        <p:spPr>
          <a:xfrm>
            <a:off x="1293283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6" name="cfg-C3"/>
          <p:cNvSpPr/>
          <p:nvPr/>
        </p:nvSpPr>
        <p:spPr>
          <a:xfrm>
            <a:off x="2010410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7" name="cfg-C4"/>
          <p:cNvSpPr/>
          <p:nvPr/>
        </p:nvSpPr>
        <p:spPr>
          <a:xfrm>
            <a:off x="2727537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8" name="cfg-C5"/>
          <p:cNvSpPr/>
          <p:nvPr/>
        </p:nvSpPr>
        <p:spPr>
          <a:xfrm>
            <a:off x="3444663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9" name="cfg-C6"/>
          <p:cNvSpPr/>
          <p:nvPr/>
        </p:nvSpPr>
        <p:spPr>
          <a:xfrm>
            <a:off x="4161790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0" name="cfg-C7"/>
          <p:cNvSpPr/>
          <p:nvPr/>
        </p:nvSpPr>
        <p:spPr>
          <a:xfrm>
            <a:off x="4878917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1" name="cfg-C8"/>
          <p:cNvSpPr/>
          <p:nvPr/>
        </p:nvSpPr>
        <p:spPr>
          <a:xfrm>
            <a:off x="5596043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2" name="config-trunk-2"/>
          <p:cNvSpPr/>
          <p:nvPr/>
        </p:nvSpPr>
        <p:spPr>
          <a:xfrm>
            <a:off x="576157" y="6303248"/>
            <a:ext cx="5469043" cy="1"/>
          </a:xfrm>
          <a:custGeom>
            <a:avLst/>
            <a:gdLst/>
            <a:ahLst/>
            <a:cxnLst/>
            <a:rect l="0" t="0" r="r" b="b"/>
            <a:pathLst>
              <a:path w="5469043" h="1" fill="none">
                <a:moveTo>
                  <a:pt x="5469043" y="0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3" name="cfg-C9"/>
          <p:cNvSpPr/>
          <p:nvPr/>
        </p:nvSpPr>
        <p:spPr>
          <a:xfrm>
            <a:off x="576157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4" name="cfg-C10"/>
          <p:cNvSpPr/>
          <p:nvPr/>
        </p:nvSpPr>
        <p:spPr>
          <a:xfrm>
            <a:off x="1293283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5" name="cfg-C11"/>
          <p:cNvSpPr/>
          <p:nvPr/>
        </p:nvSpPr>
        <p:spPr>
          <a:xfrm>
            <a:off x="2010410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6" name="cfg-C12"/>
          <p:cNvSpPr/>
          <p:nvPr/>
        </p:nvSpPr>
        <p:spPr>
          <a:xfrm>
            <a:off x="2727537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7" name="cfg-C13"/>
          <p:cNvSpPr/>
          <p:nvPr/>
        </p:nvSpPr>
        <p:spPr>
          <a:xfrm>
            <a:off x="3444663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8" name="cfg-C14"/>
          <p:cNvSpPr/>
          <p:nvPr/>
        </p:nvSpPr>
        <p:spPr>
          <a:xfrm>
            <a:off x="4161790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9" name="cfg-C15"/>
          <p:cNvSpPr/>
          <p:nvPr/>
        </p:nvSpPr>
        <p:spPr>
          <a:xfrm>
            <a:off x="4878917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0" name="cfg-C16"/>
          <p:cNvSpPr/>
          <p:nvPr/>
        </p:nvSpPr>
        <p:spPr>
          <a:xfrm>
            <a:off x="5596043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1" name="legend-axi-interface"/>
          <p:cNvSpPr/>
          <p:nvPr/>
        </p:nvSpPr>
        <p:spPr>
          <a:xfrm>
            <a:off x="10193867" y="2939949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2" name="legend-axi-request"/>
          <p:cNvSpPr/>
          <p:nvPr/>
        </p:nvSpPr>
        <p:spPr>
          <a:xfrm>
            <a:off x="10193867" y="3146536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3" name="legend-gb"/>
          <p:cNvSpPr/>
          <p:nvPr/>
        </p:nvSpPr>
        <p:spPr>
          <a:xfrm>
            <a:off x="10193867" y="3353122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4" name="legend-pixel"/>
          <p:cNvSpPr/>
          <p:nvPr/>
        </p:nvSpPr>
        <p:spPr>
          <a:xfrm>
            <a:off x="10193867" y="3559709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5" name="legend-cfg"/>
          <p:cNvSpPr/>
          <p:nvPr/>
        </p:nvSpPr>
        <p:spPr>
          <a:xfrm>
            <a:off x="10193867" y="3766296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6" name="legend-optional"/>
          <p:cNvSpPr/>
          <p:nvPr/>
        </p:nvSpPr>
        <p:spPr>
          <a:xfrm>
            <a:off x="10193867" y="3972882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93939D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7" name="junction-84.25-1407.0951771653542"/>
          <p:cNvSpPr/>
          <p:nvPr/>
        </p:nvSpPr>
        <p:spPr>
          <a:xfrm>
            <a:off x="268393" y="474842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8" name="junction-84.25-1495.0951771653542"/>
          <p:cNvSpPr/>
          <p:nvPr/>
        </p:nvSpPr>
        <p:spPr>
          <a:xfrm>
            <a:off x="268393" y="5046456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9" name="junction-84.25-1583.0951771653542"/>
          <p:cNvSpPr/>
          <p:nvPr/>
        </p:nvSpPr>
        <p:spPr>
          <a:xfrm>
            <a:off x="268393" y="534448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0" name="junction-84.25-1671.0951771653542"/>
          <p:cNvSpPr/>
          <p:nvPr/>
        </p:nvSpPr>
        <p:spPr>
          <a:xfrm>
            <a:off x="268393" y="564250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1" name="junction-414.25-1407.0951771653542"/>
          <p:cNvSpPr/>
          <p:nvPr/>
        </p:nvSpPr>
        <p:spPr>
          <a:xfrm>
            <a:off x="1385993" y="474842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2" name="junction-414.25-1495.0951771653542"/>
          <p:cNvSpPr/>
          <p:nvPr/>
        </p:nvSpPr>
        <p:spPr>
          <a:xfrm>
            <a:off x="1385993" y="5046456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3" name="junction-414.25-1583.0951771653542"/>
          <p:cNvSpPr/>
          <p:nvPr/>
        </p:nvSpPr>
        <p:spPr>
          <a:xfrm>
            <a:off x="1385993" y="534448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4" name="junction-414.25-1671.0951771653542"/>
          <p:cNvSpPr/>
          <p:nvPr/>
        </p:nvSpPr>
        <p:spPr>
          <a:xfrm>
            <a:off x="1385993" y="564250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5" name="junction-744.25-1407.0951771653542"/>
          <p:cNvSpPr/>
          <p:nvPr/>
        </p:nvSpPr>
        <p:spPr>
          <a:xfrm>
            <a:off x="2503593" y="474842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6" name="junction-744.25-1495.0951771653542"/>
          <p:cNvSpPr/>
          <p:nvPr/>
        </p:nvSpPr>
        <p:spPr>
          <a:xfrm>
            <a:off x="2503593" y="5046456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7" name="junction-744.25-1583.0951771653542"/>
          <p:cNvSpPr/>
          <p:nvPr/>
        </p:nvSpPr>
        <p:spPr>
          <a:xfrm>
            <a:off x="2503593" y="534448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8" name="junction-744.25-1671.0951771653542"/>
          <p:cNvSpPr/>
          <p:nvPr/>
        </p:nvSpPr>
        <p:spPr>
          <a:xfrm>
            <a:off x="2503593" y="564250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9" name="junction-1074.25-1407.0951771653542"/>
          <p:cNvSpPr/>
          <p:nvPr/>
        </p:nvSpPr>
        <p:spPr>
          <a:xfrm>
            <a:off x="3621193" y="474842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0" name="junction-1074.25-1495.0951771653542"/>
          <p:cNvSpPr/>
          <p:nvPr/>
        </p:nvSpPr>
        <p:spPr>
          <a:xfrm>
            <a:off x="3621193" y="5046456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1" name="junction-1074.25-1583.0951771653542"/>
          <p:cNvSpPr/>
          <p:nvPr/>
        </p:nvSpPr>
        <p:spPr>
          <a:xfrm>
            <a:off x="3621193" y="534448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2" name="junction-1074.25-1671.0951771653542"/>
          <p:cNvSpPr/>
          <p:nvPr/>
        </p:nvSpPr>
        <p:spPr>
          <a:xfrm>
            <a:off x="3621193" y="564250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3" name="junction-1404.25-1407.0951771653542"/>
          <p:cNvSpPr/>
          <p:nvPr/>
        </p:nvSpPr>
        <p:spPr>
          <a:xfrm>
            <a:off x="4738793" y="474842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4" name="junction-1404.25-1495.0951771653542"/>
          <p:cNvSpPr/>
          <p:nvPr/>
        </p:nvSpPr>
        <p:spPr>
          <a:xfrm>
            <a:off x="4738793" y="5046456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5" name="junction-1404.25-1583.0951771653542"/>
          <p:cNvSpPr/>
          <p:nvPr/>
        </p:nvSpPr>
        <p:spPr>
          <a:xfrm>
            <a:off x="4738793" y="534448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6" name="junction-1404.25-1671.0951771653542"/>
          <p:cNvSpPr/>
          <p:nvPr/>
        </p:nvSpPr>
        <p:spPr>
          <a:xfrm>
            <a:off x="4738793" y="564250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7" name="junction-1785-1727.0951771653542"/>
          <p:cNvSpPr/>
          <p:nvPr/>
        </p:nvSpPr>
        <p:spPr>
          <a:xfrm>
            <a:off x="6028267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8" name="junction-170.125-1727.0951771653542"/>
          <p:cNvSpPr/>
          <p:nvPr/>
        </p:nvSpPr>
        <p:spPr>
          <a:xfrm>
            <a:off x="559223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9" name="junction-381.875-1727.0951771653542"/>
          <p:cNvSpPr/>
          <p:nvPr/>
        </p:nvSpPr>
        <p:spPr>
          <a:xfrm>
            <a:off x="1276350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0" name="junction-593.625-1727.0951771653542"/>
          <p:cNvSpPr/>
          <p:nvPr/>
        </p:nvSpPr>
        <p:spPr>
          <a:xfrm>
            <a:off x="1993477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1" name="junction-805.375-1727.0951771653542"/>
          <p:cNvSpPr/>
          <p:nvPr/>
        </p:nvSpPr>
        <p:spPr>
          <a:xfrm>
            <a:off x="2710603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2" name="junction-1017.125-1727.0951771653542"/>
          <p:cNvSpPr/>
          <p:nvPr/>
        </p:nvSpPr>
        <p:spPr>
          <a:xfrm>
            <a:off x="3427730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3" name="junction-1228.875-1727.0951771653542"/>
          <p:cNvSpPr/>
          <p:nvPr/>
        </p:nvSpPr>
        <p:spPr>
          <a:xfrm>
            <a:off x="4144857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4" name="junction-1440.625-1727.0951771653542"/>
          <p:cNvSpPr/>
          <p:nvPr/>
        </p:nvSpPr>
        <p:spPr>
          <a:xfrm>
            <a:off x="4861983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5" name="junction-1652.375-1727.0951771653542"/>
          <p:cNvSpPr/>
          <p:nvPr/>
        </p:nvSpPr>
        <p:spPr>
          <a:xfrm>
            <a:off x="5579110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6" name="junction-1785-1861.1951771653542"/>
          <p:cNvSpPr/>
          <p:nvPr/>
        </p:nvSpPr>
        <p:spPr>
          <a:xfrm>
            <a:off x="6028267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7" name="junction-170.125-1861.1951771653542"/>
          <p:cNvSpPr/>
          <p:nvPr/>
        </p:nvSpPr>
        <p:spPr>
          <a:xfrm>
            <a:off x="559223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8" name="junction-381.875-1861.1951771653542"/>
          <p:cNvSpPr/>
          <p:nvPr/>
        </p:nvSpPr>
        <p:spPr>
          <a:xfrm>
            <a:off x="1276350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9" name="junction-593.625-1861.1951771653542"/>
          <p:cNvSpPr/>
          <p:nvPr/>
        </p:nvSpPr>
        <p:spPr>
          <a:xfrm>
            <a:off x="1993477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0" name="junction-805.375-1861.1951771653542"/>
          <p:cNvSpPr/>
          <p:nvPr/>
        </p:nvSpPr>
        <p:spPr>
          <a:xfrm>
            <a:off x="2710603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1" name="junction-1017.125-1861.1951771653542"/>
          <p:cNvSpPr/>
          <p:nvPr/>
        </p:nvSpPr>
        <p:spPr>
          <a:xfrm>
            <a:off x="3427730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2" name="junction-1228.875-1861.1951771653542"/>
          <p:cNvSpPr/>
          <p:nvPr/>
        </p:nvSpPr>
        <p:spPr>
          <a:xfrm>
            <a:off x="4144857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3" name="junction-1440.625-1861.1951771653542"/>
          <p:cNvSpPr/>
          <p:nvPr/>
        </p:nvSpPr>
        <p:spPr>
          <a:xfrm>
            <a:off x="4861983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4" name="junction-1652.375-1861.1951771653542"/>
          <p:cNvSpPr/>
          <p:nvPr/>
        </p:nvSpPr>
        <p:spPr>
          <a:xfrm>
            <a:off x="5579110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5" name="cva6"/>
          <p:cNvSpPr/>
          <p:nvPr/>
        </p:nvSpPr>
        <p:spPr>
          <a:xfrm>
            <a:off x="325967" y="1009549"/>
            <a:ext cx="846667" cy="7281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6" name="ara"/>
          <p:cNvSpPr/>
          <p:nvPr/>
        </p:nvSpPr>
        <p:spPr>
          <a:xfrm>
            <a:off x="1341967" y="1009549"/>
            <a:ext cx="1964267" cy="4233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7" name="ara-filter"/>
          <p:cNvSpPr/>
          <p:nvPr/>
        </p:nvSpPr>
        <p:spPr>
          <a:xfrm>
            <a:off x="1409700" y="1585282"/>
            <a:ext cx="643467" cy="29125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8" name="ara-width"/>
          <p:cNvSpPr/>
          <p:nvPr/>
        </p:nvSpPr>
        <p:spPr>
          <a:xfrm>
            <a:off x="2798233" y="1585282"/>
            <a:ext cx="508000" cy="29125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9" name="npu"/>
          <p:cNvSpPr/>
          <p:nvPr/>
        </p:nvSpPr>
        <p:spPr>
          <a:xfrm>
            <a:off x="3678767" y="1009549"/>
            <a:ext cx="914400" cy="592667"/>
          </a:xfrm>
          <a:prstGeom prst="rect">
            <a:avLst/>
          </a:prstGeom>
          <a:solidFill>
            <a:srgbClr val="F1D7D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0" name="badge-C6"/>
          <p:cNvSpPr/>
          <p:nvPr/>
        </p:nvSpPr>
        <p:spPr>
          <a:xfrm>
            <a:off x="4389967" y="1459976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1" name="gb-adapter"/>
          <p:cNvSpPr/>
          <p:nvPr/>
        </p:nvSpPr>
        <p:spPr>
          <a:xfrm>
            <a:off x="4711700" y="1263549"/>
            <a:ext cx="778933" cy="7958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2" name="global-buffer"/>
          <p:cNvSpPr/>
          <p:nvPr/>
        </p:nvSpPr>
        <p:spPr>
          <a:xfrm>
            <a:off x="5626100" y="1009549"/>
            <a:ext cx="1710267" cy="575733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3" name="badge-C9"/>
          <p:cNvSpPr/>
          <p:nvPr/>
        </p:nvSpPr>
        <p:spPr>
          <a:xfrm>
            <a:off x="7133167" y="1449816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4" name="gb-mover"/>
          <p:cNvSpPr/>
          <p:nvPr/>
        </p:nvSpPr>
        <p:spPr>
          <a:xfrm>
            <a:off x="5626100" y="1703816"/>
            <a:ext cx="1710267" cy="406400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5" name="badge-C7"/>
          <p:cNvSpPr/>
          <p:nvPr/>
        </p:nvSpPr>
        <p:spPr>
          <a:xfrm>
            <a:off x="7133167" y="198152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6" name="lvds-rx"/>
          <p:cNvSpPr/>
          <p:nvPr/>
        </p:nvSpPr>
        <p:spPr>
          <a:xfrm>
            <a:off x="7691967" y="1212749"/>
            <a:ext cx="558800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7" name="rx-cdc"/>
          <p:cNvSpPr/>
          <p:nvPr/>
        </p:nvSpPr>
        <p:spPr>
          <a:xfrm>
            <a:off x="8352367" y="1212749"/>
            <a:ext cx="541867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8" name="isp"/>
          <p:cNvSpPr/>
          <p:nvPr/>
        </p:nvSpPr>
        <p:spPr>
          <a:xfrm>
            <a:off x="8995833" y="1212749"/>
            <a:ext cx="558800" cy="626533"/>
          </a:xfrm>
          <a:prstGeom prst="rect">
            <a:avLst/>
          </a:prstGeom>
          <a:solidFill>
            <a:srgbClr val="F1D7D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9" name="frame-select"/>
          <p:cNvSpPr/>
          <p:nvPr/>
        </p:nvSpPr>
        <p:spPr>
          <a:xfrm>
            <a:off x="9656233" y="1212749"/>
            <a:ext cx="609600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0" name="frame-dma"/>
          <p:cNvSpPr/>
          <p:nvPr/>
        </p:nvSpPr>
        <p:spPr>
          <a:xfrm>
            <a:off x="10384367" y="1212749"/>
            <a:ext cx="728133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1" name="badge-C4"/>
          <p:cNvSpPr/>
          <p:nvPr/>
        </p:nvSpPr>
        <p:spPr>
          <a:xfrm>
            <a:off x="8047567" y="169704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2" name="badge-C5"/>
          <p:cNvSpPr/>
          <p:nvPr/>
        </p:nvSpPr>
        <p:spPr>
          <a:xfrm>
            <a:off x="9351433" y="169704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3" name="badge-C8"/>
          <p:cNvSpPr/>
          <p:nvPr/>
        </p:nvSpPr>
        <p:spPr>
          <a:xfrm>
            <a:off x="10909300" y="169704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4" name="axi-crossbar"/>
          <p:cNvSpPr/>
          <p:nvPr/>
        </p:nvSpPr>
        <p:spPr>
          <a:xfrm>
            <a:off x="241300" y="2906082"/>
            <a:ext cx="9584267" cy="457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5" name="xbar-in-S0"/>
          <p:cNvSpPr/>
          <p:nvPr/>
        </p:nvSpPr>
        <p:spPr>
          <a:xfrm>
            <a:off x="611199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6" name="xbar-in-S1"/>
          <p:cNvSpPr/>
          <p:nvPr/>
        </p:nvSpPr>
        <p:spPr>
          <a:xfrm>
            <a:off x="1676118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7" name="xbar-in-S2"/>
          <p:cNvSpPr/>
          <p:nvPr/>
        </p:nvSpPr>
        <p:spPr>
          <a:xfrm>
            <a:off x="2741036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8" name="xbar-in-S3"/>
          <p:cNvSpPr/>
          <p:nvPr/>
        </p:nvSpPr>
        <p:spPr>
          <a:xfrm>
            <a:off x="3805955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9" name="xbar-in-S4"/>
          <p:cNvSpPr/>
          <p:nvPr/>
        </p:nvSpPr>
        <p:spPr>
          <a:xfrm>
            <a:off x="4870873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0" name="xbar-in-S5"/>
          <p:cNvSpPr/>
          <p:nvPr/>
        </p:nvSpPr>
        <p:spPr>
          <a:xfrm>
            <a:off x="5935792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1" name="xbar-in-S6"/>
          <p:cNvSpPr/>
          <p:nvPr/>
        </p:nvSpPr>
        <p:spPr>
          <a:xfrm>
            <a:off x="7000710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2" name="xbar-in-S7"/>
          <p:cNvSpPr/>
          <p:nvPr/>
        </p:nvSpPr>
        <p:spPr>
          <a:xfrm>
            <a:off x="8065629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3" name="xbar-in-S_EXT"/>
          <p:cNvSpPr/>
          <p:nvPr/>
        </p:nvSpPr>
        <p:spPr>
          <a:xfrm>
            <a:off x="9130547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4" name="debug-sba"/>
          <p:cNvSpPr/>
          <p:nvPr/>
        </p:nvSpPr>
        <p:spPr>
          <a:xfrm>
            <a:off x="1354384" y="2415016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5" name="idma-master"/>
          <p:cNvSpPr/>
          <p:nvPr/>
        </p:nvSpPr>
        <p:spPr>
          <a:xfrm>
            <a:off x="3484221" y="2415016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6" name="slink-rx"/>
          <p:cNvSpPr/>
          <p:nvPr/>
        </p:nvSpPr>
        <p:spPr>
          <a:xfrm>
            <a:off x="4549140" y="2415016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7" name="vga"/>
          <p:cNvSpPr/>
          <p:nvPr/>
        </p:nvSpPr>
        <p:spPr>
          <a:xfrm>
            <a:off x="5614059" y="2415016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8" name="usb-dma"/>
          <p:cNvSpPr/>
          <p:nvPr/>
        </p:nvSpPr>
        <p:spPr>
          <a:xfrm>
            <a:off x="6678977" y="2415016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9" name="emmc-host"/>
          <p:cNvSpPr/>
          <p:nvPr/>
        </p:nvSpPr>
        <p:spPr>
          <a:xfrm>
            <a:off x="7743896" y="2415016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0" name="ext-master"/>
          <p:cNvSpPr/>
          <p:nvPr/>
        </p:nvSpPr>
        <p:spPr>
          <a:xfrm>
            <a:off x="8808814" y="2415016"/>
            <a:ext cx="968587" cy="338667"/>
          </a:xfrm>
          <a:prstGeom prst="rect">
            <a:avLst/>
          </a:prstGeom>
          <a:solidFill>
            <a:srgbClr val="F5F5F7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1" name="badge-C10"/>
          <p:cNvSpPr/>
          <p:nvPr/>
        </p:nvSpPr>
        <p:spPr>
          <a:xfrm>
            <a:off x="8505896" y="2648696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2" name="xbar-out-M0"/>
          <p:cNvSpPr/>
          <p:nvPr/>
        </p:nvSpPr>
        <p:spPr>
          <a:xfrm>
            <a:off x="763330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3" name="debug-target"/>
          <p:cNvSpPr/>
          <p:nvPr/>
        </p:nvSpPr>
        <p:spPr>
          <a:xfrm>
            <a:off x="316290" y="3583416"/>
            <a:ext cx="1219200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4" name="xbar-out-M1"/>
          <p:cNvSpPr/>
          <p:nvPr/>
        </p:nvSpPr>
        <p:spPr>
          <a:xfrm>
            <a:off x="2132511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5" name="reg-bridge"/>
          <p:cNvSpPr/>
          <p:nvPr/>
        </p:nvSpPr>
        <p:spPr>
          <a:xfrm>
            <a:off x="1685471" y="3583416"/>
            <a:ext cx="1219200" cy="52493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6" name="xbar-out-M2"/>
          <p:cNvSpPr/>
          <p:nvPr/>
        </p:nvSpPr>
        <p:spPr>
          <a:xfrm>
            <a:off x="3501692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7" name="memory-target"/>
          <p:cNvSpPr/>
          <p:nvPr/>
        </p:nvSpPr>
        <p:spPr>
          <a:xfrm>
            <a:off x="2986919" y="3583416"/>
            <a:ext cx="1354667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8" name="atomics"/>
          <p:cNvSpPr/>
          <p:nvPr/>
        </p:nvSpPr>
        <p:spPr>
          <a:xfrm>
            <a:off x="3020786" y="3786616"/>
            <a:ext cx="626533" cy="28448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9" name="llc-spm"/>
          <p:cNvSpPr/>
          <p:nvPr/>
        </p:nvSpPr>
        <p:spPr>
          <a:xfrm>
            <a:off x="3731986" y="3786616"/>
            <a:ext cx="575733" cy="28448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0" name="xbar-out-M3"/>
          <p:cNvSpPr/>
          <p:nvPr/>
        </p:nvSpPr>
        <p:spPr>
          <a:xfrm>
            <a:off x="4870873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1" name="idma-config"/>
          <p:cNvSpPr/>
          <p:nvPr/>
        </p:nvSpPr>
        <p:spPr>
          <a:xfrm>
            <a:off x="4423833" y="3583416"/>
            <a:ext cx="1219200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2" name="xbar-out-M4"/>
          <p:cNvSpPr/>
          <p:nvPr/>
        </p:nvSpPr>
        <p:spPr>
          <a:xfrm>
            <a:off x="6240054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3" name="slink-tx"/>
          <p:cNvSpPr/>
          <p:nvPr/>
        </p:nvSpPr>
        <p:spPr>
          <a:xfrm>
            <a:off x="5793014" y="3583416"/>
            <a:ext cx="1219200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4" name="xbar-out-M5"/>
          <p:cNvSpPr/>
          <p:nvPr/>
        </p:nvSpPr>
        <p:spPr>
          <a:xfrm>
            <a:off x="7609235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5" name="gb-interface"/>
          <p:cNvSpPr/>
          <p:nvPr/>
        </p:nvSpPr>
        <p:spPr>
          <a:xfrm>
            <a:off x="7162195" y="3583416"/>
            <a:ext cx="1219200" cy="524933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6" name="xbar-out-M_EXT"/>
          <p:cNvSpPr/>
          <p:nvPr/>
        </p:nvSpPr>
        <p:spPr>
          <a:xfrm>
            <a:off x="8978416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7" name="ext-target"/>
          <p:cNvSpPr/>
          <p:nvPr/>
        </p:nvSpPr>
        <p:spPr>
          <a:xfrm>
            <a:off x="8531376" y="3583416"/>
            <a:ext cx="1219200" cy="524933"/>
          </a:xfrm>
          <a:prstGeom prst="rect">
            <a:avLst/>
          </a:prstGeom>
          <a:solidFill>
            <a:srgbClr val="F5F5F7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8" name="emmc-device"/>
          <p:cNvSpPr/>
          <p:nvPr/>
        </p:nvSpPr>
        <p:spPr>
          <a:xfrm>
            <a:off x="11413067" y="2415016"/>
            <a:ext cx="711200" cy="338667"/>
          </a:xfrm>
          <a:prstGeom prst="rect">
            <a:avLst/>
          </a:prstGeom>
          <a:solidFill>
            <a:srgbClr val="EAECEE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9" name="regbus"/>
          <p:cNvSpPr/>
          <p:nvPr/>
        </p:nvSpPr>
        <p:spPr>
          <a:xfrm>
            <a:off x="241300" y="4379282"/>
            <a:ext cx="5689600" cy="22013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0" name="bootrom"/>
          <p:cNvSpPr/>
          <p:nvPr/>
        </p:nvSpPr>
        <p:spPr>
          <a:xfrm>
            <a:off x="359833" y="463328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1" name="uart"/>
          <p:cNvSpPr/>
          <p:nvPr/>
        </p:nvSpPr>
        <p:spPr>
          <a:xfrm>
            <a:off x="359833" y="4931309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2" name="vga-regs"/>
          <p:cNvSpPr/>
          <p:nvPr/>
        </p:nvSpPr>
        <p:spPr>
          <a:xfrm>
            <a:off x="359833" y="5229336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3" name="irq-router"/>
          <p:cNvSpPr/>
          <p:nvPr/>
        </p:nvSpPr>
        <p:spPr>
          <a:xfrm>
            <a:off x="359833" y="552736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4" name="clint"/>
          <p:cNvSpPr/>
          <p:nvPr/>
        </p:nvSpPr>
        <p:spPr>
          <a:xfrm>
            <a:off x="1477433" y="463328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5" name="i2c"/>
          <p:cNvSpPr/>
          <p:nvPr/>
        </p:nvSpPr>
        <p:spPr>
          <a:xfrm>
            <a:off x="1477433" y="4931309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6" name="usb-regs"/>
          <p:cNvSpPr/>
          <p:nvPr/>
        </p:nvSpPr>
        <p:spPr>
          <a:xfrm>
            <a:off x="1477433" y="5229336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7" name="axi-rt-config"/>
          <p:cNvSpPr/>
          <p:nvPr/>
        </p:nvSpPr>
        <p:spPr>
          <a:xfrm>
            <a:off x="1477433" y="552736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8" name="soc-regs"/>
          <p:cNvSpPr/>
          <p:nvPr/>
        </p:nvSpPr>
        <p:spPr>
          <a:xfrm>
            <a:off x="2595033" y="463328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9" name="spi"/>
          <p:cNvSpPr/>
          <p:nvPr/>
        </p:nvSpPr>
        <p:spPr>
          <a:xfrm>
            <a:off x="2595033" y="4931309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0" name="err-vga"/>
          <p:cNvSpPr/>
          <p:nvPr/>
        </p:nvSpPr>
        <p:spPr>
          <a:xfrm>
            <a:off x="2595033" y="5229336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1" name="clic"/>
          <p:cNvSpPr/>
          <p:nvPr/>
        </p:nvSpPr>
        <p:spPr>
          <a:xfrm>
            <a:off x="2595033" y="552736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2" name="plic"/>
          <p:cNvSpPr/>
          <p:nvPr/>
        </p:nvSpPr>
        <p:spPr>
          <a:xfrm>
            <a:off x="3712633" y="463328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3" name="gpio"/>
          <p:cNvSpPr/>
          <p:nvPr/>
        </p:nvSpPr>
        <p:spPr>
          <a:xfrm>
            <a:off x="3712633" y="4931309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4" name="err-dma"/>
          <p:cNvSpPr/>
          <p:nvPr/>
        </p:nvSpPr>
        <p:spPr>
          <a:xfrm>
            <a:off x="3712633" y="5229336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5" name="reg-error"/>
          <p:cNvSpPr/>
          <p:nvPr/>
        </p:nvSpPr>
        <p:spPr>
          <a:xfrm>
            <a:off x="3712633" y="552736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6" name="llc-regs"/>
          <p:cNvSpPr/>
          <p:nvPr/>
        </p:nvSpPr>
        <p:spPr>
          <a:xfrm>
            <a:off x="4830233" y="463328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7" name="slink-regs"/>
          <p:cNvSpPr/>
          <p:nvPr/>
        </p:nvSpPr>
        <p:spPr>
          <a:xfrm>
            <a:off x="4830233" y="4931309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8" name="err-cpu"/>
          <p:cNvSpPr/>
          <p:nvPr/>
        </p:nvSpPr>
        <p:spPr>
          <a:xfrm>
            <a:off x="4830233" y="5229336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9" name="reg-ext"/>
          <p:cNvSpPr/>
          <p:nvPr/>
        </p:nvSpPr>
        <p:spPr>
          <a:xfrm>
            <a:off x="4830233" y="552736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0" name="ddr-S0"/>
          <p:cNvSpPr/>
          <p:nvPr/>
        </p:nvSpPr>
        <p:spPr>
          <a:xfrm>
            <a:off x="6350000" y="5788136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1" name="ddr-S1"/>
          <p:cNvSpPr/>
          <p:nvPr/>
        </p:nvSpPr>
        <p:spPr>
          <a:xfrm>
            <a:off x="7281333" y="5788136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2" name="ddr-S2"/>
          <p:cNvSpPr/>
          <p:nvPr/>
        </p:nvSpPr>
        <p:spPr>
          <a:xfrm>
            <a:off x="8212667" y="5788136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3" name="ddr-S3"/>
          <p:cNvSpPr/>
          <p:nvPr/>
        </p:nvSpPr>
        <p:spPr>
          <a:xfrm>
            <a:off x="9144000" y="5788136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4" name="ddr-arb"/>
          <p:cNvSpPr/>
          <p:nvPr/>
        </p:nvSpPr>
        <p:spPr>
          <a:xfrm>
            <a:off x="6197600" y="5937149"/>
            <a:ext cx="3657600" cy="1354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5" name="ddr-rw"/>
          <p:cNvSpPr/>
          <p:nvPr/>
        </p:nvSpPr>
        <p:spPr>
          <a:xfrm>
            <a:off x="6197600" y="6106482"/>
            <a:ext cx="1608667" cy="1693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6" name="ddr-command"/>
          <p:cNvSpPr/>
          <p:nvPr/>
        </p:nvSpPr>
        <p:spPr>
          <a:xfrm>
            <a:off x="8212667" y="6106482"/>
            <a:ext cx="1642533" cy="1693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7" name="badge-C2"/>
          <p:cNvSpPr/>
          <p:nvPr/>
        </p:nvSpPr>
        <p:spPr>
          <a:xfrm>
            <a:off x="9652000" y="6292749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8" name="ddr-phy"/>
          <p:cNvSpPr/>
          <p:nvPr/>
        </p:nvSpPr>
        <p:spPr>
          <a:xfrm>
            <a:off x="10261600" y="6191149"/>
            <a:ext cx="863600" cy="338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9" name="badge-C3"/>
          <p:cNvSpPr/>
          <p:nvPr/>
        </p:nvSpPr>
        <p:spPr>
          <a:xfrm>
            <a:off x="10905067" y="642144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0" name="ddr-device"/>
          <p:cNvSpPr/>
          <p:nvPr/>
        </p:nvSpPr>
        <p:spPr>
          <a:xfrm>
            <a:off x="11501967" y="6191149"/>
            <a:ext cx="508000" cy="338667"/>
          </a:xfrm>
          <a:prstGeom prst="rect">
            <a:avLst/>
          </a:prstGeom>
          <a:solidFill>
            <a:srgbClr val="EAECEE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1" name="pll"/>
          <p:cNvSpPr/>
          <p:nvPr/>
        </p:nvSpPr>
        <p:spPr>
          <a:xfrm>
            <a:off x="7200900" y="6472581"/>
            <a:ext cx="1778000" cy="250613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2" name="badge-C1"/>
          <p:cNvSpPr/>
          <p:nvPr/>
        </p:nvSpPr>
        <p:spPr>
          <a:xfrm>
            <a:off x="8738447" y="654370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3" name="config-C1"/>
          <p:cNvSpPr/>
          <p:nvPr/>
        </p:nvSpPr>
        <p:spPr>
          <a:xfrm>
            <a:off x="241300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4" name="reg-badge-C1"/>
          <p:cNvSpPr/>
          <p:nvPr/>
        </p:nvSpPr>
        <p:spPr>
          <a:xfrm>
            <a:off x="265007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5" name="config-C2"/>
          <p:cNvSpPr/>
          <p:nvPr/>
        </p:nvSpPr>
        <p:spPr>
          <a:xfrm>
            <a:off x="958427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6" name="reg-badge-C2"/>
          <p:cNvSpPr/>
          <p:nvPr/>
        </p:nvSpPr>
        <p:spPr>
          <a:xfrm>
            <a:off x="982133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7" name="config-C3"/>
          <p:cNvSpPr/>
          <p:nvPr/>
        </p:nvSpPr>
        <p:spPr>
          <a:xfrm>
            <a:off x="1675553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8" name="reg-badge-C3"/>
          <p:cNvSpPr/>
          <p:nvPr/>
        </p:nvSpPr>
        <p:spPr>
          <a:xfrm>
            <a:off x="1699260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9" name="config-C4"/>
          <p:cNvSpPr/>
          <p:nvPr/>
        </p:nvSpPr>
        <p:spPr>
          <a:xfrm>
            <a:off x="2392680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0" name="reg-badge-C4"/>
          <p:cNvSpPr/>
          <p:nvPr/>
        </p:nvSpPr>
        <p:spPr>
          <a:xfrm>
            <a:off x="2416387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1" name="config-C5"/>
          <p:cNvSpPr/>
          <p:nvPr/>
        </p:nvSpPr>
        <p:spPr>
          <a:xfrm>
            <a:off x="3109807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2" name="reg-badge-C5"/>
          <p:cNvSpPr/>
          <p:nvPr/>
        </p:nvSpPr>
        <p:spPr>
          <a:xfrm>
            <a:off x="3133513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3" name="config-C6"/>
          <p:cNvSpPr/>
          <p:nvPr/>
        </p:nvSpPr>
        <p:spPr>
          <a:xfrm>
            <a:off x="3826933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4" name="reg-badge-C6"/>
          <p:cNvSpPr/>
          <p:nvPr/>
        </p:nvSpPr>
        <p:spPr>
          <a:xfrm>
            <a:off x="3850640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5" name="config-C7"/>
          <p:cNvSpPr/>
          <p:nvPr/>
        </p:nvSpPr>
        <p:spPr>
          <a:xfrm>
            <a:off x="4544060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6" name="reg-badge-C7"/>
          <p:cNvSpPr/>
          <p:nvPr/>
        </p:nvSpPr>
        <p:spPr>
          <a:xfrm>
            <a:off x="4567767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7" name="config-C8"/>
          <p:cNvSpPr/>
          <p:nvPr/>
        </p:nvSpPr>
        <p:spPr>
          <a:xfrm>
            <a:off x="5261187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8" name="reg-badge-C8"/>
          <p:cNvSpPr/>
          <p:nvPr/>
        </p:nvSpPr>
        <p:spPr>
          <a:xfrm>
            <a:off x="5284893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9" name="config-C9"/>
          <p:cNvSpPr/>
          <p:nvPr/>
        </p:nvSpPr>
        <p:spPr>
          <a:xfrm>
            <a:off x="241300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0" name="reg-badge-C9"/>
          <p:cNvSpPr/>
          <p:nvPr/>
        </p:nvSpPr>
        <p:spPr>
          <a:xfrm>
            <a:off x="265007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1" name="config-C10"/>
          <p:cNvSpPr/>
          <p:nvPr/>
        </p:nvSpPr>
        <p:spPr>
          <a:xfrm>
            <a:off x="958427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2" name="reg-badge-C10"/>
          <p:cNvSpPr/>
          <p:nvPr/>
        </p:nvSpPr>
        <p:spPr>
          <a:xfrm>
            <a:off x="982133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3" name="config-C11"/>
          <p:cNvSpPr/>
          <p:nvPr/>
        </p:nvSpPr>
        <p:spPr>
          <a:xfrm>
            <a:off x="1675553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4" name="reg-badge-C11"/>
          <p:cNvSpPr/>
          <p:nvPr/>
        </p:nvSpPr>
        <p:spPr>
          <a:xfrm>
            <a:off x="1699260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5" name="config-C12"/>
          <p:cNvSpPr/>
          <p:nvPr/>
        </p:nvSpPr>
        <p:spPr>
          <a:xfrm>
            <a:off x="2392680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6" name="reg-badge-C12"/>
          <p:cNvSpPr/>
          <p:nvPr/>
        </p:nvSpPr>
        <p:spPr>
          <a:xfrm>
            <a:off x="2416387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7" name="config-C13"/>
          <p:cNvSpPr/>
          <p:nvPr/>
        </p:nvSpPr>
        <p:spPr>
          <a:xfrm>
            <a:off x="3109807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8" name="reg-badge-C13"/>
          <p:cNvSpPr/>
          <p:nvPr/>
        </p:nvSpPr>
        <p:spPr>
          <a:xfrm>
            <a:off x="3133513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9" name="config-C14"/>
          <p:cNvSpPr/>
          <p:nvPr/>
        </p:nvSpPr>
        <p:spPr>
          <a:xfrm>
            <a:off x="3826933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0" name="reg-badge-C14"/>
          <p:cNvSpPr/>
          <p:nvPr/>
        </p:nvSpPr>
        <p:spPr>
          <a:xfrm>
            <a:off x="3850640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1" name="config-C15"/>
          <p:cNvSpPr/>
          <p:nvPr/>
        </p:nvSpPr>
        <p:spPr>
          <a:xfrm>
            <a:off x="4544060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2" name="reg-badge-C15"/>
          <p:cNvSpPr/>
          <p:nvPr/>
        </p:nvSpPr>
        <p:spPr>
          <a:xfrm>
            <a:off x="4567767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3" name="config-C16"/>
          <p:cNvSpPr/>
          <p:nvPr/>
        </p:nvSpPr>
        <p:spPr>
          <a:xfrm>
            <a:off x="5261187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4" name="reg-badge-C16"/>
          <p:cNvSpPr/>
          <p:nvPr/>
        </p:nvSpPr>
        <p:spPr>
          <a:xfrm>
            <a:off x="5284893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5" name="front-F0"/>
          <p:cNvSpPr/>
          <p:nvPr/>
        </p:nvSpPr>
        <p:spPr>
          <a:xfrm>
            <a:off x="6316133" y="4314936"/>
            <a:ext cx="575733" cy="12192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6" name="front-F1"/>
          <p:cNvSpPr/>
          <p:nvPr/>
        </p:nvSpPr>
        <p:spPr>
          <a:xfrm>
            <a:off x="7247467" y="4314936"/>
            <a:ext cx="575733" cy="12192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7" name="front-F2"/>
          <p:cNvSpPr/>
          <p:nvPr/>
        </p:nvSpPr>
        <p:spPr>
          <a:xfrm>
            <a:off x="8178800" y="4314936"/>
            <a:ext cx="575733" cy="12192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8" name="front-F3"/>
          <p:cNvSpPr/>
          <p:nvPr/>
        </p:nvSpPr>
        <p:spPr>
          <a:xfrm>
            <a:off x="9110133" y="4314936"/>
            <a:ext cx="575733" cy="12192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9" name="front-adapt"/>
          <p:cNvSpPr/>
          <p:nvPr/>
        </p:nvSpPr>
        <p:spPr>
          <a:xfrm>
            <a:off x="6197600" y="4491042"/>
            <a:ext cx="3657600" cy="17610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0" name="badge-C12"/>
          <p:cNvSpPr/>
          <p:nvPr/>
        </p:nvSpPr>
        <p:spPr>
          <a:xfrm>
            <a:off x="9652000" y="4535069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1" name="address-control"/>
          <p:cNvSpPr/>
          <p:nvPr/>
        </p:nvSpPr>
        <p:spPr>
          <a:xfrm>
            <a:off x="6197600" y="4768749"/>
            <a:ext cx="778933" cy="338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2" name="metadata"/>
          <p:cNvSpPr/>
          <p:nvPr/>
        </p:nvSpPr>
        <p:spPr>
          <a:xfrm>
            <a:off x="6197600" y="5209016"/>
            <a:ext cx="778933" cy="16933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3" name="compressor"/>
          <p:cNvSpPr/>
          <p:nvPr/>
        </p:nvSpPr>
        <p:spPr>
          <a:xfrm>
            <a:off x="7179733" y="4904216"/>
            <a:ext cx="795867" cy="389467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4" name="badge-C15"/>
          <p:cNvSpPr/>
          <p:nvPr/>
        </p:nvSpPr>
        <p:spPr>
          <a:xfrm>
            <a:off x="7206827" y="491776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5" name="decompressor"/>
          <p:cNvSpPr/>
          <p:nvPr/>
        </p:nvSpPr>
        <p:spPr>
          <a:xfrm>
            <a:off x="8085667" y="4904216"/>
            <a:ext cx="795867" cy="389467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6" name="badge-C16"/>
          <p:cNvSpPr/>
          <p:nvPr/>
        </p:nvSpPr>
        <p:spPr>
          <a:xfrm>
            <a:off x="8112760" y="491776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7" name="plain-bypass"/>
          <p:cNvSpPr/>
          <p:nvPr/>
        </p:nvSpPr>
        <p:spPr>
          <a:xfrm>
            <a:off x="8991600" y="4904216"/>
            <a:ext cx="795867" cy="3894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8" name="front-route"/>
          <p:cNvSpPr/>
          <p:nvPr/>
        </p:nvSpPr>
        <p:spPr>
          <a:xfrm>
            <a:off x="6197600" y="5490109"/>
            <a:ext cx="3657600" cy="1693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9" name="roi-scheduler"/>
          <p:cNvSpPr/>
          <p:nvPr/>
        </p:nvSpPr>
        <p:spPr>
          <a:xfrm>
            <a:off x="10261600" y="4633282"/>
            <a:ext cx="880533" cy="3386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0" name="badge-C11"/>
          <p:cNvSpPr/>
          <p:nvPr/>
        </p:nvSpPr>
        <p:spPr>
          <a:xfrm>
            <a:off x="10938933" y="4646829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1" name="roi-vdma"/>
          <p:cNvSpPr/>
          <p:nvPr/>
        </p:nvSpPr>
        <p:spPr>
          <a:xfrm>
            <a:off x="10261600" y="5022749"/>
            <a:ext cx="880533" cy="3386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2" name="badge-C13"/>
          <p:cNvSpPr/>
          <p:nvPr/>
        </p:nvSpPr>
        <p:spPr>
          <a:xfrm>
            <a:off x="10938933" y="5036296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3" name="roi-fifo"/>
          <p:cNvSpPr/>
          <p:nvPr/>
        </p:nvSpPr>
        <p:spPr>
          <a:xfrm>
            <a:off x="10261600" y="5412216"/>
            <a:ext cx="880533" cy="2540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4" name="lvds-tx"/>
          <p:cNvSpPr/>
          <p:nvPr/>
        </p:nvSpPr>
        <p:spPr>
          <a:xfrm>
            <a:off x="10261600" y="5717016"/>
            <a:ext cx="880533" cy="3386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5" name="badge-C14"/>
          <p:cNvSpPr/>
          <p:nvPr/>
        </p:nvSpPr>
        <p:spPr>
          <a:xfrm>
            <a:off x="10938933" y="573056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6" name="compute-title: CVA6–Ara 计算平台"/>
          <p:cNvSpPr txBox="1"/>
          <p:nvPr/>
        </p:nvSpPr>
        <p:spPr>
          <a:xfrm>
            <a:off x="1238652" y="728862"/>
            <a:ext cx="1171829" cy="1950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CVA6–Ara 计算平台</a:t>
            </a:r>
          </a:p>
        </p:txBody>
      </p:sp>
      <p:sp>
        <p:nvSpPr>
          <p:cNvPr id="1307" name="gb-region-title: NPU / 独立 Global Buffer 子系统"/>
          <p:cNvSpPr txBox="1"/>
          <p:nvPr/>
        </p:nvSpPr>
        <p:spPr>
          <a:xfrm>
            <a:off x="4586494" y="728862"/>
            <a:ext cx="1859079" cy="1950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独立 Global Buffer 子系统</a:t>
            </a:r>
          </a:p>
        </p:txBody>
      </p:sp>
      <p:sp>
        <p:nvSpPr>
          <p:cNvPr id="1308" name="image-rx-title: 图像采集与 ISP"/>
          <p:cNvSpPr txBox="1"/>
          <p:nvPr/>
        </p:nvSpPr>
        <p:spPr>
          <a:xfrm>
            <a:off x="8938972" y="728862"/>
            <a:ext cx="943457" cy="1950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图像采集与 ISP</a:t>
            </a:r>
          </a:p>
        </p:txBody>
      </p:sp>
      <p:sp>
        <p:nvSpPr>
          <p:cNvPr id="1309" name="cva6-t0: CVA6 core 0"/>
          <p:cNvSpPr txBox="1"/>
          <p:nvPr/>
        </p:nvSpPr>
        <p:spPr>
          <a:xfrm>
            <a:off x="401743" y="1175563"/>
            <a:ext cx="695113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 core 0</a:t>
            </a:r>
          </a:p>
        </p:txBody>
      </p:sp>
      <p:sp>
        <p:nvSpPr>
          <p:cNvPr id="1310" name="cva6-t1: L1 I / D cache"/>
          <p:cNvSpPr txBox="1"/>
          <p:nvPr/>
        </p:nvSpPr>
        <p:spPr>
          <a:xfrm>
            <a:off x="377777" y="1306560"/>
            <a:ext cx="743045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L1 I / D cache</a:t>
            </a:r>
          </a:p>
        </p:txBody>
      </p:sp>
      <p:sp>
        <p:nvSpPr>
          <p:cNvPr id="1311" name="cva6-t2: MMU / AXI 适配"/>
          <p:cNvSpPr txBox="1"/>
          <p:nvPr/>
        </p:nvSpPr>
        <p:spPr>
          <a:xfrm>
            <a:off x="367345" y="1429428"/>
            <a:ext cx="763910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MMU / AXI 适配</a:t>
            </a:r>
          </a:p>
        </p:txBody>
      </p:sp>
      <p:sp>
        <p:nvSpPr>
          <p:cNvPr id="1312" name="ara-t0: Ara 向量处理器"/>
          <p:cNvSpPr txBox="1"/>
          <p:nvPr/>
        </p:nvSpPr>
        <p:spPr>
          <a:xfrm>
            <a:off x="1905900" y="1080059"/>
            <a:ext cx="836401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Ara 向量处理器</a:t>
            </a:r>
          </a:p>
        </p:txBody>
      </p:sp>
      <p:sp>
        <p:nvSpPr>
          <p:cNvPr id="1313" name="ara-t1: 2 lanes · VLSU / AXI：64 bit"/>
          <p:cNvSpPr txBox="1"/>
          <p:nvPr/>
        </p:nvSpPr>
        <p:spPr>
          <a:xfrm>
            <a:off x="1637948" y="1211056"/>
            <a:ext cx="137230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2 lanes · VLSU / AXI：64 bit</a:t>
            </a:r>
          </a:p>
        </p:txBody>
      </p:sp>
      <p:sp>
        <p:nvSpPr>
          <p:cNvPr id="1314" name="ara-filter-t0: 失效过滤"/>
          <p:cNvSpPr txBox="1"/>
          <p:nvPr/>
        </p:nvSpPr>
        <p:spPr>
          <a:xfrm>
            <a:off x="1477433" y="1602893"/>
            <a:ext cx="5080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失效过滤</a:t>
            </a:r>
          </a:p>
        </p:txBody>
      </p:sp>
      <p:sp>
        <p:nvSpPr>
          <p:cNvPr id="1315" name="ara-filter-t1: 现有 filter"/>
          <p:cNvSpPr txBox="1"/>
          <p:nvPr/>
        </p:nvSpPr>
        <p:spPr>
          <a:xfrm>
            <a:off x="1500034" y="1726710"/>
            <a:ext cx="462799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现有 filter</a:t>
            </a:r>
          </a:p>
        </p:txBody>
      </p:sp>
      <p:sp>
        <p:nvSpPr>
          <p:cNvPr id="1316" name="ara-width-t0: 等宽透传"/>
          <p:cNvSpPr txBox="1"/>
          <p:nvPr/>
        </p:nvSpPr>
        <p:spPr>
          <a:xfrm>
            <a:off x="2798233" y="1602893"/>
            <a:ext cx="5080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等宽透传</a:t>
            </a:r>
          </a:p>
        </p:txBody>
      </p:sp>
      <p:sp>
        <p:nvSpPr>
          <p:cNvPr id="1317" name="ara-width-t1: 64 → 64 bit"/>
          <p:cNvSpPr txBox="1"/>
          <p:nvPr/>
        </p:nvSpPr>
        <p:spPr>
          <a:xfrm>
            <a:off x="2770653" y="1726710"/>
            <a:ext cx="56316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 → 64 bit</a:t>
            </a:r>
          </a:p>
        </p:txBody>
      </p:sp>
      <p:sp>
        <p:nvSpPr>
          <p:cNvPr id="1318" name="command-label: 指令 / MMU"/>
          <p:cNvSpPr txBox="1"/>
          <p:nvPr/>
        </p:nvSpPr>
        <p:spPr>
          <a:xfrm>
            <a:off x="971404" y="880585"/>
            <a:ext cx="563324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指令 / MMU</a:t>
            </a:r>
          </a:p>
        </p:txBody>
      </p:sp>
      <p:sp>
        <p:nvSpPr>
          <p:cNvPr id="1319" name="npu-t0: NPU 计算引擎"/>
          <p:cNvSpPr txBox="1"/>
          <p:nvPr/>
        </p:nvSpPr>
        <p:spPr>
          <a:xfrm>
            <a:off x="3772331" y="1177866"/>
            <a:ext cx="72727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计算引擎</a:t>
            </a:r>
          </a:p>
        </p:txBody>
      </p:sp>
      <p:sp>
        <p:nvSpPr>
          <p:cNvPr id="1320" name="npu-t1: GB 数据读写"/>
          <p:cNvSpPr txBox="1"/>
          <p:nvPr/>
        </p:nvSpPr>
        <p:spPr>
          <a:xfrm>
            <a:off x="3846351" y="1301683"/>
            <a:ext cx="579231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数据读写</a:t>
            </a:r>
          </a:p>
        </p:txBody>
      </p:sp>
      <p:sp>
        <p:nvSpPr>
          <p:cNvPr id="1321" name="badge-C6-text: C6"/>
          <p:cNvSpPr txBox="1"/>
          <p:nvPr/>
        </p:nvSpPr>
        <p:spPr>
          <a:xfrm>
            <a:off x="4400815" y="1450899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1322" name="gb-adapter-t0: GB 访问适配"/>
          <p:cNvSpPr txBox="1"/>
          <p:nvPr/>
        </p:nvSpPr>
        <p:spPr>
          <a:xfrm>
            <a:off x="4766998" y="1480634"/>
            <a:ext cx="66833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访问适配</a:t>
            </a:r>
          </a:p>
        </p:txBody>
      </p:sp>
      <p:sp>
        <p:nvSpPr>
          <p:cNvPr id="1323" name="gb-adapter-t1: 局部仲裁 / 路由"/>
          <p:cNvSpPr txBox="1"/>
          <p:nvPr/>
        </p:nvSpPr>
        <p:spPr>
          <a:xfrm>
            <a:off x="4743707" y="1604451"/>
            <a:ext cx="7149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局部仲裁 / 路由</a:t>
            </a:r>
          </a:p>
        </p:txBody>
      </p:sp>
      <p:sp>
        <p:nvSpPr>
          <p:cNvPr id="1324" name="gb-adapter-t2: bank 冲突处理"/>
          <p:cNvSpPr txBox="1"/>
          <p:nvPr/>
        </p:nvSpPr>
        <p:spPr>
          <a:xfrm>
            <a:off x="4774621" y="1710115"/>
            <a:ext cx="653092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bank 冲突处理</a:t>
            </a:r>
          </a:p>
        </p:txBody>
      </p:sp>
      <p:sp>
        <p:nvSpPr>
          <p:cNvPr id="1325" name="global-buffer-t0: Global Buffer"/>
          <p:cNvSpPr txBox="1"/>
          <p:nvPr/>
        </p:nvSpPr>
        <p:spPr>
          <a:xfrm>
            <a:off x="6119760" y="1103427"/>
            <a:ext cx="722948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Global Buffer</a:t>
            </a:r>
          </a:p>
        </p:txBody>
      </p:sp>
      <p:sp>
        <p:nvSpPr>
          <p:cNvPr id="1326" name="global-buffer-t1: 独立 SRAM · 分 bank"/>
          <p:cNvSpPr txBox="1"/>
          <p:nvPr/>
        </p:nvSpPr>
        <p:spPr>
          <a:xfrm>
            <a:off x="5998895" y="1235372"/>
            <a:ext cx="964676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 SRAM · 分 bank</a:t>
            </a:r>
          </a:p>
        </p:txBody>
      </p:sp>
      <p:sp>
        <p:nvSpPr>
          <p:cNvPr id="1327" name="global-buffer-t2: CPU / Ara / NPU / ISP"/>
          <p:cNvSpPr txBox="1"/>
          <p:nvPr/>
        </p:nvSpPr>
        <p:spPr>
          <a:xfrm>
            <a:off x="5964854" y="1349164"/>
            <a:ext cx="1032759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/ NPU / ISP</a:t>
            </a:r>
          </a:p>
        </p:txBody>
      </p:sp>
      <p:sp>
        <p:nvSpPr>
          <p:cNvPr id="1328" name="badge-C9-text: C9"/>
          <p:cNvSpPr txBox="1"/>
          <p:nvPr/>
        </p:nvSpPr>
        <p:spPr>
          <a:xfrm>
            <a:off x="7144015" y="1440739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sp>
        <p:nvSpPr>
          <p:cNvPr id="1329" name="gb-mover-t0: NPU / GB 搬运引擎"/>
          <p:cNvSpPr txBox="1"/>
          <p:nvPr/>
        </p:nvSpPr>
        <p:spPr>
          <a:xfrm>
            <a:off x="5995808" y="1779000"/>
            <a:ext cx="97085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搬运引擎</a:t>
            </a:r>
          </a:p>
        </p:txBody>
      </p:sp>
      <p:sp>
        <p:nvSpPr>
          <p:cNvPr id="1330" name="gb-mover-t1: DDR ↔ GB · AXI 主口"/>
          <p:cNvSpPr txBox="1"/>
          <p:nvPr/>
        </p:nvSpPr>
        <p:spPr>
          <a:xfrm>
            <a:off x="6027200" y="1902816"/>
            <a:ext cx="908066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↔ GB · AXI 主口</a:t>
            </a:r>
          </a:p>
        </p:txBody>
      </p:sp>
      <p:sp>
        <p:nvSpPr>
          <p:cNvPr id="1331" name="badge-C7-text: C7"/>
          <p:cNvSpPr txBox="1"/>
          <p:nvPr/>
        </p:nvSpPr>
        <p:spPr>
          <a:xfrm>
            <a:off x="7144015" y="1972446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sp>
        <p:nvSpPr>
          <p:cNvPr id="1332" name="lvds-rx-t0: LVDS 接收"/>
          <p:cNvSpPr txBox="1"/>
          <p:nvPr/>
        </p:nvSpPr>
        <p:spPr>
          <a:xfrm>
            <a:off x="7684971" y="1398000"/>
            <a:ext cx="57279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接收</a:t>
            </a:r>
          </a:p>
        </p:txBody>
      </p:sp>
      <p:sp>
        <p:nvSpPr>
          <p:cNvPr id="1333" name="lvds-rx-t1: 解串 / 帧行"/>
          <p:cNvSpPr txBox="1"/>
          <p:nvPr/>
        </p:nvSpPr>
        <p:spPr>
          <a:xfrm>
            <a:off x="7701960" y="1521816"/>
            <a:ext cx="53881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解串 / 帧行</a:t>
            </a:r>
          </a:p>
        </p:txBody>
      </p:sp>
      <p:sp>
        <p:nvSpPr>
          <p:cNvPr id="1334" name="rx-cdc-t0: CDC / FIFO"/>
          <p:cNvSpPr txBox="1"/>
          <p:nvPr/>
        </p:nvSpPr>
        <p:spPr>
          <a:xfrm>
            <a:off x="8323858" y="1398000"/>
            <a:ext cx="59888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CDC / FIFO</a:t>
            </a:r>
          </a:p>
        </p:txBody>
      </p:sp>
      <p:sp>
        <p:nvSpPr>
          <p:cNvPr id="1335" name="rx-cdc-t1: 像素流缓冲"/>
          <p:cNvSpPr txBox="1"/>
          <p:nvPr/>
        </p:nvSpPr>
        <p:spPr>
          <a:xfrm>
            <a:off x="8359140" y="1521816"/>
            <a:ext cx="5283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像素流缓冲</a:t>
            </a:r>
          </a:p>
        </p:txBody>
      </p:sp>
      <p:sp>
        <p:nvSpPr>
          <p:cNvPr id="1336" name="isp-t0: ISP"/>
          <p:cNvSpPr txBox="1"/>
          <p:nvPr/>
        </p:nvSpPr>
        <p:spPr>
          <a:xfrm>
            <a:off x="9151355" y="1398000"/>
            <a:ext cx="24775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1337" name="isp-t1: 行缓存 / 处理"/>
          <p:cNvSpPr txBox="1"/>
          <p:nvPr/>
        </p:nvSpPr>
        <p:spPr>
          <a:xfrm>
            <a:off x="8961800" y="1521816"/>
            <a:ext cx="6268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行缓存 / 处理</a:t>
            </a:r>
          </a:p>
        </p:txBody>
      </p:sp>
      <p:sp>
        <p:nvSpPr>
          <p:cNvPr id="1338" name="frame-select-t0: 帧边界选择"/>
          <p:cNvSpPr txBox="1"/>
          <p:nvPr/>
        </p:nvSpPr>
        <p:spPr>
          <a:xfrm>
            <a:off x="9656233" y="1398000"/>
            <a:ext cx="6096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帧边界选择</a:t>
            </a:r>
          </a:p>
        </p:txBody>
      </p:sp>
      <p:sp>
        <p:nvSpPr>
          <p:cNvPr id="1339" name="frame-select-t1: RAW / ISP"/>
          <p:cNvSpPr txBox="1"/>
          <p:nvPr/>
        </p:nvSpPr>
        <p:spPr>
          <a:xfrm>
            <a:off x="9716431" y="1521816"/>
            <a:ext cx="489204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RAW / ISP</a:t>
            </a:r>
          </a:p>
        </p:txBody>
      </p:sp>
      <p:sp>
        <p:nvSpPr>
          <p:cNvPr id="1340" name="frame-dma-t0: 帧写入 DMA"/>
          <p:cNvSpPr txBox="1"/>
          <p:nvPr/>
        </p:nvSpPr>
        <p:spPr>
          <a:xfrm>
            <a:off x="10426470" y="1398000"/>
            <a:ext cx="64392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1341" name="frame-dma-t1: 地址 / stride"/>
          <p:cNvSpPr txBox="1"/>
          <p:nvPr/>
        </p:nvSpPr>
        <p:spPr>
          <a:xfrm>
            <a:off x="10458088" y="1521816"/>
            <a:ext cx="580692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stride</a:t>
            </a:r>
          </a:p>
        </p:txBody>
      </p:sp>
      <p:sp>
        <p:nvSpPr>
          <p:cNvPr id="1342" name="raw-bypass-label: RAW 旁路"/>
          <p:cNvSpPr txBox="1"/>
          <p:nvPr/>
        </p:nvSpPr>
        <p:spPr>
          <a:xfrm>
            <a:off x="9046218" y="924611"/>
            <a:ext cx="46649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RAW 旁路</a:t>
            </a:r>
          </a:p>
        </p:txBody>
      </p:sp>
      <p:sp>
        <p:nvSpPr>
          <p:cNvPr id="1343" name="badge-C4-text: C4"/>
          <p:cNvSpPr txBox="1"/>
          <p:nvPr/>
        </p:nvSpPr>
        <p:spPr>
          <a:xfrm>
            <a:off x="8058415" y="1687966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1344" name="badge-C5-text: C5"/>
          <p:cNvSpPr txBox="1"/>
          <p:nvPr/>
        </p:nvSpPr>
        <p:spPr>
          <a:xfrm>
            <a:off x="9362281" y="1687966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1345" name="badge-C8-text: C8"/>
          <p:cNvSpPr txBox="1"/>
          <p:nvPr/>
        </p:nvSpPr>
        <p:spPr>
          <a:xfrm>
            <a:off x="10920148" y="1687966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sp>
        <p:nvSpPr>
          <p:cNvPr id="1346" name="isp-gb-label: ISP 中间数据 ↔ GB"/>
          <p:cNvSpPr txBox="1"/>
          <p:nvPr/>
        </p:nvSpPr>
        <p:spPr>
          <a:xfrm>
            <a:off x="8009424" y="2065918"/>
            <a:ext cx="846751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ISP 中间数据 ↔ GB</a:t>
            </a:r>
          </a:p>
        </p:txBody>
      </p:sp>
      <p:sp>
        <p:nvSpPr>
          <p:cNvPr id="1347" name="crossbar-title: AXI Crossbar"/>
          <p:cNvSpPr txBox="1"/>
          <p:nvPr/>
        </p:nvSpPr>
        <p:spPr>
          <a:xfrm>
            <a:off x="4632783" y="2943742"/>
            <a:ext cx="801301" cy="1950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Crossbar</a:t>
            </a:r>
          </a:p>
        </p:txBody>
      </p:sp>
      <p:sp>
        <p:nvSpPr>
          <p:cNvPr id="1348" name="crossbar-caption: 8 × 6 固定端口 + 扩展 | 64 bit 数据 / 48 bit 地址 "/>
          <p:cNvSpPr txBox="1"/>
          <p:nvPr/>
        </p:nvSpPr>
        <p:spPr>
          <a:xfrm>
            <a:off x="3552023" y="3115785"/>
            <a:ext cx="29628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8 × 6 固定端口 + 扩展 | 64 bit 数据 / 48 bit 地址 | 地址译码 / 各目标仲裁</a:t>
            </a:r>
          </a:p>
        </p:txBody>
      </p:sp>
      <p:sp>
        <p:nvSpPr>
          <p:cNvPr id="1349" name="crossbar-rt-note: 输入侧 AXI RT · 按配置可选"/>
          <p:cNvSpPr txBox="1"/>
          <p:nvPr/>
        </p:nvSpPr>
        <p:spPr>
          <a:xfrm>
            <a:off x="457226" y="3207767"/>
            <a:ext cx="1049814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输入侧 AXI RT · 按配置可选</a:t>
            </a:r>
          </a:p>
        </p:txBody>
      </p:sp>
      <p:sp>
        <p:nvSpPr>
          <p:cNvPr id="1350" name="crossbar-error-note: 未映射请求：DECERR"/>
          <p:cNvSpPr txBox="1"/>
          <p:nvPr/>
        </p:nvSpPr>
        <p:spPr>
          <a:xfrm>
            <a:off x="8745630" y="3207767"/>
            <a:ext cx="864473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未映射请求：DECERR</a:t>
            </a:r>
          </a:p>
        </p:txBody>
      </p:sp>
      <p:sp>
        <p:nvSpPr>
          <p:cNvPr id="1351" name="xbar-in-S0-t0: S0"/>
          <p:cNvSpPr txBox="1"/>
          <p:nvPr/>
        </p:nvSpPr>
        <p:spPr>
          <a:xfrm>
            <a:off x="689225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sp>
        <p:nvSpPr>
          <p:cNvPr id="1352" name="xbar-in-S1-t0: S1"/>
          <p:cNvSpPr txBox="1"/>
          <p:nvPr/>
        </p:nvSpPr>
        <p:spPr>
          <a:xfrm>
            <a:off x="1754143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1353" name="xbar-in-S2-t0: S2"/>
          <p:cNvSpPr txBox="1"/>
          <p:nvPr/>
        </p:nvSpPr>
        <p:spPr>
          <a:xfrm>
            <a:off x="2819062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1354" name="xbar-in-S3-t0: S3"/>
          <p:cNvSpPr txBox="1"/>
          <p:nvPr/>
        </p:nvSpPr>
        <p:spPr>
          <a:xfrm>
            <a:off x="3883980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S3</a:t>
            </a:r>
          </a:p>
        </p:txBody>
      </p:sp>
      <p:sp>
        <p:nvSpPr>
          <p:cNvPr id="1355" name="xbar-in-S4-t0: S4"/>
          <p:cNvSpPr txBox="1"/>
          <p:nvPr/>
        </p:nvSpPr>
        <p:spPr>
          <a:xfrm>
            <a:off x="4948899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S4</a:t>
            </a:r>
          </a:p>
        </p:txBody>
      </p:sp>
      <p:sp>
        <p:nvSpPr>
          <p:cNvPr id="1356" name="xbar-in-S5-t0: S5"/>
          <p:cNvSpPr txBox="1"/>
          <p:nvPr/>
        </p:nvSpPr>
        <p:spPr>
          <a:xfrm>
            <a:off x="6013817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S5</a:t>
            </a:r>
          </a:p>
        </p:txBody>
      </p:sp>
      <p:sp>
        <p:nvSpPr>
          <p:cNvPr id="1357" name="xbar-in-S6-t0: S6"/>
          <p:cNvSpPr txBox="1"/>
          <p:nvPr/>
        </p:nvSpPr>
        <p:spPr>
          <a:xfrm>
            <a:off x="7078736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S6</a:t>
            </a:r>
          </a:p>
        </p:txBody>
      </p:sp>
      <p:sp>
        <p:nvSpPr>
          <p:cNvPr id="1358" name="xbar-in-S7-t0: S7"/>
          <p:cNvSpPr txBox="1"/>
          <p:nvPr/>
        </p:nvSpPr>
        <p:spPr>
          <a:xfrm>
            <a:off x="8143655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S7</a:t>
            </a:r>
          </a:p>
        </p:txBody>
      </p:sp>
      <p:sp>
        <p:nvSpPr>
          <p:cNvPr id="1359" name="xbar-in-S_EXT-t0: S_EXT"/>
          <p:cNvSpPr txBox="1"/>
          <p:nvPr/>
        </p:nvSpPr>
        <p:spPr>
          <a:xfrm>
            <a:off x="9151457" y="2849694"/>
            <a:ext cx="283300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S_EXT</a:t>
            </a:r>
          </a:p>
        </p:txBody>
      </p:sp>
      <p:sp>
        <p:nvSpPr>
          <p:cNvPr id="1360" name="debug-sba-t0: Debug / SBA"/>
          <p:cNvSpPr txBox="1"/>
          <p:nvPr/>
        </p:nvSpPr>
        <p:spPr>
          <a:xfrm>
            <a:off x="1498654" y="2456333"/>
            <a:ext cx="68004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/ SBA</a:t>
            </a:r>
          </a:p>
        </p:txBody>
      </p:sp>
      <p:sp>
        <p:nvSpPr>
          <p:cNvPr id="1361" name="debug-sba-t1: JTAG 总线访问"/>
          <p:cNvSpPr txBox="1"/>
          <p:nvPr/>
        </p:nvSpPr>
        <p:spPr>
          <a:xfrm>
            <a:off x="1512089" y="2580150"/>
            <a:ext cx="65317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JTAG 总线访问</a:t>
            </a:r>
          </a:p>
        </p:txBody>
      </p:sp>
      <p:sp>
        <p:nvSpPr>
          <p:cNvPr id="1362" name="idma-master-t0: iDMA 数据主口"/>
          <p:cNvSpPr txBox="1"/>
          <p:nvPr/>
        </p:nvSpPr>
        <p:spPr>
          <a:xfrm>
            <a:off x="3583596" y="2456333"/>
            <a:ext cx="76983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数据主口</a:t>
            </a:r>
          </a:p>
        </p:txBody>
      </p:sp>
      <p:sp>
        <p:nvSpPr>
          <p:cNvPr id="1363" name="idma-master-t1: 内存 → 内存"/>
          <p:cNvSpPr txBox="1"/>
          <p:nvPr/>
        </p:nvSpPr>
        <p:spPr>
          <a:xfrm>
            <a:off x="3677955" y="2580150"/>
            <a:ext cx="5811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 → 内存</a:t>
            </a:r>
          </a:p>
        </p:txBody>
      </p:sp>
      <p:sp>
        <p:nvSpPr>
          <p:cNvPr id="1364" name="slink-rx-t0: Serial Link RX"/>
          <p:cNvSpPr txBox="1"/>
          <p:nvPr/>
        </p:nvSpPr>
        <p:spPr>
          <a:xfrm>
            <a:off x="4676243" y="2456333"/>
            <a:ext cx="71438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RX</a:t>
            </a:r>
          </a:p>
        </p:txBody>
      </p:sp>
      <p:sp>
        <p:nvSpPr>
          <p:cNvPr id="1365" name="slink-rx-t1: 远端请求入口"/>
          <p:cNvSpPr txBox="1"/>
          <p:nvPr/>
        </p:nvSpPr>
        <p:spPr>
          <a:xfrm>
            <a:off x="4725247" y="2580150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远端请求入口</a:t>
            </a:r>
          </a:p>
        </p:txBody>
      </p:sp>
      <p:sp>
        <p:nvSpPr>
          <p:cNvPr id="1366" name="vga-t0: VGA"/>
          <p:cNvSpPr txBox="1"/>
          <p:nvPr/>
        </p:nvSpPr>
        <p:spPr>
          <a:xfrm>
            <a:off x="5957213" y="2456333"/>
            <a:ext cx="28227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</a:t>
            </a:r>
          </a:p>
        </p:txBody>
      </p:sp>
      <p:sp>
        <p:nvSpPr>
          <p:cNvPr id="1367" name="vga-t1: 帧缓冲读取"/>
          <p:cNvSpPr txBox="1"/>
          <p:nvPr/>
        </p:nvSpPr>
        <p:spPr>
          <a:xfrm>
            <a:off x="5834192" y="2580150"/>
            <a:ext cx="5283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帧缓冲读取</a:t>
            </a:r>
          </a:p>
        </p:txBody>
      </p:sp>
      <p:sp>
        <p:nvSpPr>
          <p:cNvPr id="1368" name="usb-dma-t0: USB DMA"/>
          <p:cNvSpPr txBox="1"/>
          <p:nvPr/>
        </p:nvSpPr>
        <p:spPr>
          <a:xfrm>
            <a:off x="6898306" y="2456333"/>
            <a:ext cx="52992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DMA</a:t>
            </a:r>
          </a:p>
        </p:txBody>
      </p:sp>
      <p:sp>
        <p:nvSpPr>
          <p:cNvPr id="1369" name="usb-dma-t1: OHCI 主口"/>
          <p:cNvSpPr txBox="1"/>
          <p:nvPr/>
        </p:nvSpPr>
        <p:spPr>
          <a:xfrm>
            <a:off x="6921248" y="2580150"/>
            <a:ext cx="484045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OHCI 主口</a:t>
            </a:r>
          </a:p>
        </p:txBody>
      </p:sp>
      <p:sp>
        <p:nvSpPr>
          <p:cNvPr id="1370" name="emmc-host-t0: eMMC Host / DMA"/>
          <p:cNvSpPr txBox="1"/>
          <p:nvPr/>
        </p:nvSpPr>
        <p:spPr>
          <a:xfrm>
            <a:off x="7756209" y="2456333"/>
            <a:ext cx="94395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eMMC Host / DMA</a:t>
            </a:r>
          </a:p>
        </p:txBody>
      </p:sp>
      <p:sp>
        <p:nvSpPr>
          <p:cNvPr id="1371" name="emmc-host-t1: 存储块 ↔ 内存"/>
          <p:cNvSpPr txBox="1"/>
          <p:nvPr/>
        </p:nvSpPr>
        <p:spPr>
          <a:xfrm>
            <a:off x="7825869" y="2580150"/>
            <a:ext cx="669174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存储块 ↔ 内存</a:t>
            </a:r>
          </a:p>
        </p:txBody>
      </p:sp>
      <p:sp>
        <p:nvSpPr>
          <p:cNvPr id="1372" name="ext-master-t0: AXI 外部 master"/>
          <p:cNvSpPr txBox="1"/>
          <p:nvPr/>
        </p:nvSpPr>
        <p:spPr>
          <a:xfrm>
            <a:off x="8886014" y="2456333"/>
            <a:ext cx="81418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master</a:t>
            </a:r>
          </a:p>
        </p:txBody>
      </p:sp>
      <p:sp>
        <p:nvSpPr>
          <p:cNvPr id="1373" name="ext-master-t1: 可选扩展入口"/>
          <p:cNvSpPr txBox="1"/>
          <p:nvPr/>
        </p:nvSpPr>
        <p:spPr>
          <a:xfrm>
            <a:off x="8984921" y="2580150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可选扩展入口</a:t>
            </a:r>
          </a:p>
        </p:txBody>
      </p:sp>
      <p:sp>
        <p:nvSpPr>
          <p:cNvPr id="1374" name="badge-C10-text: C10"/>
          <p:cNvSpPr txBox="1"/>
          <p:nvPr/>
        </p:nvSpPr>
        <p:spPr>
          <a:xfrm>
            <a:off x="8495421" y="2639619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C10</a:t>
            </a:r>
          </a:p>
        </p:txBody>
      </p:sp>
      <p:sp>
        <p:nvSpPr>
          <p:cNvPr id="1375" name="xbar-out-M0-t0: M0"/>
          <p:cNvSpPr txBox="1"/>
          <p:nvPr/>
        </p:nvSpPr>
        <p:spPr>
          <a:xfrm>
            <a:off x="833731" y="3306894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M0</a:t>
            </a:r>
          </a:p>
        </p:txBody>
      </p:sp>
      <p:sp>
        <p:nvSpPr>
          <p:cNvPr id="1376" name="debug-target-t0: Debug 目标"/>
          <p:cNvSpPr txBox="1"/>
          <p:nvPr/>
        </p:nvSpPr>
        <p:spPr>
          <a:xfrm>
            <a:off x="617222" y="3717866"/>
            <a:ext cx="61733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目标</a:t>
            </a:r>
          </a:p>
        </p:txBody>
      </p:sp>
      <p:sp>
        <p:nvSpPr>
          <p:cNvPr id="1377" name="debug-target-t1: 调试模块窗口"/>
          <p:cNvSpPr txBox="1"/>
          <p:nvPr/>
        </p:nvSpPr>
        <p:spPr>
          <a:xfrm>
            <a:off x="617704" y="3841683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调试模块窗口</a:t>
            </a:r>
          </a:p>
        </p:txBody>
      </p:sp>
      <p:sp>
        <p:nvSpPr>
          <p:cNvPr id="1378" name="xbar-out-M1-t0: M1"/>
          <p:cNvSpPr txBox="1"/>
          <p:nvPr/>
        </p:nvSpPr>
        <p:spPr>
          <a:xfrm>
            <a:off x="2202912" y="3306894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M1</a:t>
            </a:r>
          </a:p>
        </p:txBody>
      </p:sp>
      <p:sp>
        <p:nvSpPr>
          <p:cNvPr id="1379" name="reg-bridge-t0: AXI → Regbus"/>
          <p:cNvSpPr txBox="1"/>
          <p:nvPr/>
        </p:nvSpPr>
        <p:spPr>
          <a:xfrm>
            <a:off x="1928605" y="3717866"/>
            <a:ext cx="73293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→ Regbus</a:t>
            </a:r>
          </a:p>
        </p:txBody>
      </p:sp>
      <p:sp>
        <p:nvSpPr>
          <p:cNvPr id="1380" name="reg-bridge-t1: 原子适配 / 32 bit 桥"/>
          <p:cNvSpPr txBox="1"/>
          <p:nvPr/>
        </p:nvSpPr>
        <p:spPr>
          <a:xfrm>
            <a:off x="1854112" y="3841683"/>
            <a:ext cx="8819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/ 32 bit 桥</a:t>
            </a:r>
          </a:p>
        </p:txBody>
      </p:sp>
      <p:sp>
        <p:nvSpPr>
          <p:cNvPr id="1381" name="xbar-out-M2-t0: M2"/>
          <p:cNvSpPr txBox="1"/>
          <p:nvPr/>
        </p:nvSpPr>
        <p:spPr>
          <a:xfrm>
            <a:off x="3572093" y="3306894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M2</a:t>
            </a:r>
          </a:p>
        </p:txBody>
      </p:sp>
      <p:sp>
        <p:nvSpPr>
          <p:cNvPr id="1382" name="memory-title: 主存 / SPM 共用目标"/>
          <p:cNvSpPr txBox="1"/>
          <p:nvPr/>
        </p:nvSpPr>
        <p:spPr>
          <a:xfrm>
            <a:off x="3135070" y="3588834"/>
            <a:ext cx="1058365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主存 / SPM 共用目标</a:t>
            </a:r>
          </a:p>
        </p:txBody>
      </p:sp>
      <p:sp>
        <p:nvSpPr>
          <p:cNvPr id="1383" name="atomics-t0: 原子适配"/>
          <p:cNvSpPr txBox="1"/>
          <p:nvPr/>
        </p:nvSpPr>
        <p:spPr>
          <a:xfrm>
            <a:off x="3112141" y="3802110"/>
            <a:ext cx="443823" cy="1422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</a:p>
        </p:txBody>
      </p:sp>
      <p:sp>
        <p:nvSpPr>
          <p:cNvPr id="1384" name="atomics-t1: AMO / LRSC"/>
          <p:cNvSpPr txBox="1"/>
          <p:nvPr/>
        </p:nvSpPr>
        <p:spPr>
          <a:xfrm>
            <a:off x="3003106" y="3907012"/>
            <a:ext cx="66189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AMO / LRSC</a:t>
            </a:r>
          </a:p>
        </p:txBody>
      </p:sp>
      <p:sp>
        <p:nvSpPr>
          <p:cNvPr id="1385" name="llc-spm-t0: LLC / SPM"/>
          <p:cNvSpPr txBox="1"/>
          <p:nvPr/>
        </p:nvSpPr>
        <p:spPr>
          <a:xfrm>
            <a:off x="3765270" y="3806174"/>
            <a:ext cx="509164" cy="1422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/ SPM</a:t>
            </a:r>
          </a:p>
        </p:txBody>
      </p:sp>
      <p:sp>
        <p:nvSpPr>
          <p:cNvPr id="1386" name="llc-spm-t1: SRAM 阵列"/>
          <p:cNvSpPr txBox="1"/>
          <p:nvPr/>
        </p:nvSpPr>
        <p:spPr>
          <a:xfrm>
            <a:off x="3739304" y="3912024"/>
            <a:ext cx="561097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SRAM 阵列</a:t>
            </a:r>
          </a:p>
        </p:txBody>
      </p:sp>
      <p:sp>
        <p:nvSpPr>
          <p:cNvPr id="1387" name="xbar-out-M3-t0: M3"/>
          <p:cNvSpPr txBox="1"/>
          <p:nvPr/>
        </p:nvSpPr>
        <p:spPr>
          <a:xfrm>
            <a:off x="4941274" y="3306894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M3</a:t>
            </a:r>
          </a:p>
        </p:txBody>
      </p:sp>
      <p:sp>
        <p:nvSpPr>
          <p:cNvPr id="1388" name="idma-config-t0: iDMA 配置"/>
          <p:cNvSpPr txBox="1"/>
          <p:nvPr/>
        </p:nvSpPr>
        <p:spPr>
          <a:xfrm>
            <a:off x="4750115" y="3665034"/>
            <a:ext cx="56663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配置</a:t>
            </a:r>
          </a:p>
        </p:txBody>
      </p:sp>
      <p:sp>
        <p:nvSpPr>
          <p:cNvPr id="1389" name="idma-config-t1: 原子适配 → AXI→Reg"/>
          <p:cNvSpPr txBox="1"/>
          <p:nvPr/>
        </p:nvSpPr>
        <p:spPr>
          <a:xfrm>
            <a:off x="4566034" y="3788851"/>
            <a:ext cx="934799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→ AXI→Reg</a:t>
            </a:r>
          </a:p>
        </p:txBody>
      </p:sp>
      <p:sp>
        <p:nvSpPr>
          <p:cNvPr id="1390" name="idma-config-t2: wrapper 内部寄存器"/>
          <p:cNvSpPr txBox="1"/>
          <p:nvPr/>
        </p:nvSpPr>
        <p:spPr>
          <a:xfrm>
            <a:off x="4603999" y="3894515"/>
            <a:ext cx="858869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wrapper 内部寄存器</a:t>
            </a:r>
          </a:p>
        </p:txBody>
      </p:sp>
      <p:sp>
        <p:nvSpPr>
          <p:cNvPr id="1391" name="xbar-out-M4-t0: M4"/>
          <p:cNvSpPr txBox="1"/>
          <p:nvPr/>
        </p:nvSpPr>
        <p:spPr>
          <a:xfrm>
            <a:off x="6310455" y="3306894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M4</a:t>
            </a:r>
          </a:p>
        </p:txBody>
      </p:sp>
      <p:sp>
        <p:nvSpPr>
          <p:cNvPr id="1392" name="slink-tx-t0: Serial Link TX"/>
          <p:cNvSpPr txBox="1"/>
          <p:nvPr/>
        </p:nvSpPr>
        <p:spPr>
          <a:xfrm>
            <a:off x="6051478" y="3717866"/>
            <a:ext cx="70227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TX</a:t>
            </a:r>
          </a:p>
        </p:txBody>
      </p:sp>
      <p:sp>
        <p:nvSpPr>
          <p:cNvPr id="1393" name="slink-tx-t1: 远端目标窗口"/>
          <p:cNvSpPr txBox="1"/>
          <p:nvPr/>
        </p:nvSpPr>
        <p:spPr>
          <a:xfrm>
            <a:off x="6094428" y="3841683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远端目标窗口</a:t>
            </a:r>
          </a:p>
        </p:txBody>
      </p:sp>
      <p:sp>
        <p:nvSpPr>
          <p:cNvPr id="1394" name="xbar-out-M5-t0: M5"/>
          <p:cNvSpPr txBox="1"/>
          <p:nvPr/>
        </p:nvSpPr>
        <p:spPr>
          <a:xfrm>
            <a:off x="7679636" y="3306894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M5</a:t>
            </a:r>
          </a:p>
        </p:txBody>
      </p:sp>
      <p:sp>
        <p:nvSpPr>
          <p:cNvPr id="1395" name="gb-interface-t0: GB AXI 接口"/>
          <p:cNvSpPr txBox="1"/>
          <p:nvPr/>
        </p:nvSpPr>
        <p:spPr>
          <a:xfrm>
            <a:off x="7454988" y="3665034"/>
            <a:ext cx="63361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AXI 接口</a:t>
            </a:r>
          </a:p>
        </p:txBody>
      </p:sp>
      <p:sp>
        <p:nvSpPr>
          <p:cNvPr id="1396" name="gb-interface-t1: CPU / Ara / eMMC DMA"/>
          <p:cNvSpPr txBox="1"/>
          <p:nvPr/>
        </p:nvSpPr>
        <p:spPr>
          <a:xfrm>
            <a:off x="7260665" y="3788851"/>
            <a:ext cx="102226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/ eMMC DMA</a:t>
            </a:r>
          </a:p>
        </p:txBody>
      </p:sp>
      <p:sp>
        <p:nvSpPr>
          <p:cNvPr id="1397" name="gb-interface-t2: 64-bit 数据窗口 · 共用"/>
          <p:cNvSpPr txBox="1"/>
          <p:nvPr/>
        </p:nvSpPr>
        <p:spPr>
          <a:xfrm>
            <a:off x="7299149" y="3894515"/>
            <a:ext cx="94529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64-bit 数据窗口 · 共用</a:t>
            </a:r>
          </a:p>
        </p:txBody>
      </p:sp>
      <p:sp>
        <p:nvSpPr>
          <p:cNvPr id="1398" name="xbar-out-M_EXT-t0: M_EXT"/>
          <p:cNvSpPr txBox="1"/>
          <p:nvPr/>
        </p:nvSpPr>
        <p:spPr>
          <a:xfrm>
            <a:off x="8991701" y="3306894"/>
            <a:ext cx="298551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M_EXT</a:t>
            </a:r>
          </a:p>
        </p:txBody>
      </p:sp>
      <p:sp>
        <p:nvSpPr>
          <p:cNvPr id="1399" name="ext-target-t0: AXI 外部 slave"/>
          <p:cNvSpPr txBox="1"/>
          <p:nvPr/>
        </p:nvSpPr>
        <p:spPr>
          <a:xfrm>
            <a:off x="8773467" y="3717866"/>
            <a:ext cx="73501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slave</a:t>
            </a:r>
          </a:p>
        </p:txBody>
      </p:sp>
      <p:sp>
        <p:nvSpPr>
          <p:cNvPr id="1400" name="ext-target-t1: 可选外部目标扩展"/>
          <p:cNvSpPr txBox="1"/>
          <p:nvPr/>
        </p:nvSpPr>
        <p:spPr>
          <a:xfrm>
            <a:off x="8744736" y="3841683"/>
            <a:ext cx="79248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可选外部目标扩展</a:t>
            </a:r>
          </a:p>
        </p:txBody>
      </p:sp>
      <p:sp>
        <p:nvSpPr>
          <p:cNvPr id="1401" name="emmc-device-t0: eMMC"/>
          <p:cNvSpPr txBox="1"/>
          <p:nvPr/>
        </p:nvSpPr>
        <p:spPr>
          <a:xfrm>
            <a:off x="11550065" y="2446308"/>
            <a:ext cx="437203" cy="1842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eMMC</a:t>
            </a:r>
          </a:p>
        </p:txBody>
      </p:sp>
      <p:sp>
        <p:nvSpPr>
          <p:cNvPr id="1402" name="emmc-device-t1: 模型 / 校正参数"/>
          <p:cNvSpPr txBox="1"/>
          <p:nvPr/>
        </p:nvSpPr>
        <p:spPr>
          <a:xfrm>
            <a:off x="11411207" y="2588278"/>
            <a:ext cx="7149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模型 / 校正参数</a:t>
            </a:r>
          </a:p>
        </p:txBody>
      </p:sp>
      <p:sp>
        <p:nvSpPr>
          <p:cNvPr id="1403" name="regbus-t0: Regbus decode / demux · 32 bit"/>
          <p:cNvSpPr txBox="1"/>
          <p:nvPr/>
        </p:nvSpPr>
        <p:spPr>
          <a:xfrm>
            <a:off x="2213213" y="4404140"/>
            <a:ext cx="1745774" cy="1842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Regbus decode / demux · 32 bit</a:t>
            </a:r>
          </a:p>
        </p:txBody>
      </p:sp>
      <p:sp>
        <p:nvSpPr>
          <p:cNvPr id="1404" name="bootrom-t0: Boot ROM"/>
          <p:cNvSpPr txBox="1"/>
          <p:nvPr/>
        </p:nvSpPr>
        <p:spPr>
          <a:xfrm>
            <a:off x="592799" y="4637346"/>
            <a:ext cx="55006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Boot ROM</a:t>
            </a:r>
          </a:p>
        </p:txBody>
      </p:sp>
      <p:sp>
        <p:nvSpPr>
          <p:cNvPr id="1405" name="bootrom-t1: 启动代码"/>
          <p:cNvSpPr txBox="1"/>
          <p:nvPr/>
        </p:nvSpPr>
        <p:spPr>
          <a:xfrm>
            <a:off x="647700" y="4761163"/>
            <a:ext cx="4402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启动代码</a:t>
            </a:r>
          </a:p>
        </p:txBody>
      </p:sp>
      <p:sp>
        <p:nvSpPr>
          <p:cNvPr id="1406" name="uart-t0: UART"/>
          <p:cNvSpPr txBox="1"/>
          <p:nvPr/>
        </p:nvSpPr>
        <p:spPr>
          <a:xfrm>
            <a:off x="699259" y="4935373"/>
            <a:ext cx="33714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UART</a:t>
            </a:r>
          </a:p>
        </p:txBody>
      </p:sp>
      <p:sp>
        <p:nvSpPr>
          <p:cNvPr id="1407" name="uart-t1: 串口控制"/>
          <p:cNvSpPr txBox="1"/>
          <p:nvPr/>
        </p:nvSpPr>
        <p:spPr>
          <a:xfrm>
            <a:off x="647700" y="5059190"/>
            <a:ext cx="4402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串口控制</a:t>
            </a:r>
          </a:p>
        </p:txBody>
      </p:sp>
      <p:sp>
        <p:nvSpPr>
          <p:cNvPr id="1408" name="vga-regs-t0: VGA 配置"/>
          <p:cNvSpPr txBox="1"/>
          <p:nvPr/>
        </p:nvSpPr>
        <p:spPr>
          <a:xfrm>
            <a:off x="609865" y="5233400"/>
            <a:ext cx="51593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 配置</a:t>
            </a:r>
          </a:p>
        </p:txBody>
      </p:sp>
      <p:sp>
        <p:nvSpPr>
          <p:cNvPr id="1409" name="vga-regs-t1: 时序 / 帧地址"/>
          <p:cNvSpPr txBox="1"/>
          <p:nvPr/>
        </p:nvSpPr>
        <p:spPr>
          <a:xfrm>
            <a:off x="554400" y="5357216"/>
            <a:ext cx="6268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时序 / 帧地址</a:t>
            </a:r>
          </a:p>
        </p:txBody>
      </p:sp>
      <p:sp>
        <p:nvSpPr>
          <p:cNvPr id="1410" name="irq-router-t0: IRQ router"/>
          <p:cNvSpPr txBox="1"/>
          <p:nvPr/>
        </p:nvSpPr>
        <p:spPr>
          <a:xfrm>
            <a:off x="592849" y="5531426"/>
            <a:ext cx="54996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IRQ router</a:t>
            </a:r>
          </a:p>
        </p:txBody>
      </p:sp>
      <p:sp>
        <p:nvSpPr>
          <p:cNvPr id="1411" name="irq-router-t1: 可选中断路由"/>
          <p:cNvSpPr txBox="1"/>
          <p:nvPr/>
        </p:nvSpPr>
        <p:spPr>
          <a:xfrm>
            <a:off x="559647" y="5655243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可选中断路由</a:t>
            </a:r>
          </a:p>
        </p:txBody>
      </p:sp>
      <p:sp>
        <p:nvSpPr>
          <p:cNvPr id="1412" name="clint-t0: CLINT"/>
          <p:cNvSpPr txBox="1"/>
          <p:nvPr/>
        </p:nvSpPr>
        <p:spPr>
          <a:xfrm>
            <a:off x="1805697" y="4637346"/>
            <a:ext cx="35947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CLINT</a:t>
            </a:r>
          </a:p>
        </p:txBody>
      </p:sp>
      <p:sp>
        <p:nvSpPr>
          <p:cNvPr id="1413" name="clint-t1: 软件 / 定时中断"/>
          <p:cNvSpPr txBox="1"/>
          <p:nvPr/>
        </p:nvSpPr>
        <p:spPr>
          <a:xfrm>
            <a:off x="1627973" y="4761163"/>
            <a:ext cx="7149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软件 / 定时中断</a:t>
            </a:r>
          </a:p>
        </p:txBody>
      </p:sp>
      <p:sp>
        <p:nvSpPr>
          <p:cNvPr id="1414" name="i2c-t0: I²C"/>
          <p:cNvSpPr txBox="1"/>
          <p:nvPr/>
        </p:nvSpPr>
        <p:spPr>
          <a:xfrm>
            <a:off x="1871726" y="4935373"/>
            <a:ext cx="227415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I²C</a:t>
            </a:r>
          </a:p>
        </p:txBody>
      </p:sp>
      <p:sp>
        <p:nvSpPr>
          <p:cNvPr id="1415" name="i2c-t1: 两线串行接口"/>
          <p:cNvSpPr txBox="1"/>
          <p:nvPr/>
        </p:nvSpPr>
        <p:spPr>
          <a:xfrm>
            <a:off x="1677247" y="5059190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两线串行接口</a:t>
            </a:r>
          </a:p>
        </p:txBody>
      </p:sp>
      <p:sp>
        <p:nvSpPr>
          <p:cNvPr id="1416" name="usb-regs-t0: USB 配置"/>
          <p:cNvSpPr txBox="1"/>
          <p:nvPr/>
        </p:nvSpPr>
        <p:spPr>
          <a:xfrm>
            <a:off x="1722403" y="5233400"/>
            <a:ext cx="52606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配置</a:t>
            </a:r>
          </a:p>
        </p:txBody>
      </p:sp>
      <p:sp>
        <p:nvSpPr>
          <p:cNvPr id="1417" name="usb-regs-t1: OHCI 寄存器"/>
          <p:cNvSpPr txBox="1"/>
          <p:nvPr/>
        </p:nvSpPr>
        <p:spPr>
          <a:xfrm>
            <a:off x="1699384" y="5357216"/>
            <a:ext cx="572098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OHCI 寄存器</a:t>
            </a:r>
          </a:p>
        </p:txBody>
      </p:sp>
      <p:sp>
        <p:nvSpPr>
          <p:cNvPr id="1418" name="axi-rt-config-t0: AXI RT 配置"/>
          <p:cNvSpPr txBox="1"/>
          <p:nvPr/>
        </p:nvSpPr>
        <p:spPr>
          <a:xfrm>
            <a:off x="1676712" y="5531426"/>
            <a:ext cx="61744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RT 配置</a:t>
            </a:r>
          </a:p>
        </p:txBody>
      </p:sp>
      <p:sp>
        <p:nvSpPr>
          <p:cNvPr id="1419" name="axi-rt-config-t1: 可选流量调节"/>
          <p:cNvSpPr txBox="1"/>
          <p:nvPr/>
        </p:nvSpPr>
        <p:spPr>
          <a:xfrm>
            <a:off x="1677247" y="5655243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可选流量调节</a:t>
            </a:r>
          </a:p>
        </p:txBody>
      </p:sp>
      <p:sp>
        <p:nvSpPr>
          <p:cNvPr id="1420" name="soc-regs-t0: SoC 寄存器"/>
          <p:cNvSpPr txBox="1"/>
          <p:nvPr/>
        </p:nvSpPr>
        <p:spPr>
          <a:xfrm>
            <a:off x="2794312" y="4637346"/>
            <a:ext cx="61744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SoC 寄存器</a:t>
            </a:r>
          </a:p>
        </p:txBody>
      </p:sp>
      <p:sp>
        <p:nvSpPr>
          <p:cNvPr id="1421" name="soc-regs-t1: 平台信息 / scratch"/>
          <p:cNvSpPr txBox="1"/>
          <p:nvPr/>
        </p:nvSpPr>
        <p:spPr>
          <a:xfrm>
            <a:off x="2692945" y="4761163"/>
            <a:ext cx="82017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平台信息 / scratch</a:t>
            </a:r>
          </a:p>
        </p:txBody>
      </p:sp>
      <p:sp>
        <p:nvSpPr>
          <p:cNvPr id="1422" name="spi-t0: SPI Host"/>
          <p:cNvSpPr txBox="1"/>
          <p:nvPr/>
        </p:nvSpPr>
        <p:spPr>
          <a:xfrm>
            <a:off x="2860442" y="4935373"/>
            <a:ext cx="48518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SPI Host</a:t>
            </a:r>
          </a:p>
        </p:txBody>
      </p:sp>
      <p:sp>
        <p:nvSpPr>
          <p:cNvPr id="1423" name="spi-t1: Flash / SD"/>
          <p:cNvSpPr txBox="1"/>
          <p:nvPr/>
        </p:nvSpPr>
        <p:spPr>
          <a:xfrm>
            <a:off x="2851468" y="5059190"/>
            <a:ext cx="503132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Flash / SD</a:t>
            </a:r>
          </a:p>
        </p:txBody>
      </p:sp>
      <p:sp>
        <p:nvSpPr>
          <p:cNvPr id="1424" name="err-vga-t0: Bus-error · VGA"/>
          <p:cNvSpPr txBox="1"/>
          <p:nvPr/>
        </p:nvSpPr>
        <p:spPr>
          <a:xfrm>
            <a:off x="2715387" y="5233400"/>
            <a:ext cx="77529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VGA</a:t>
            </a:r>
          </a:p>
        </p:txBody>
      </p:sp>
      <p:sp>
        <p:nvSpPr>
          <p:cNvPr id="1425" name="err-vga-t1: 错误记录"/>
          <p:cNvSpPr txBox="1"/>
          <p:nvPr/>
        </p:nvSpPr>
        <p:spPr>
          <a:xfrm>
            <a:off x="2882900" y="5357216"/>
            <a:ext cx="4402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sp>
        <p:nvSpPr>
          <p:cNvPr id="1426" name="clic-t0: CLIC"/>
          <p:cNvSpPr txBox="1"/>
          <p:nvPr/>
        </p:nvSpPr>
        <p:spPr>
          <a:xfrm>
            <a:off x="2950729" y="5531426"/>
            <a:ext cx="30460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CLIC</a:t>
            </a:r>
          </a:p>
        </p:txBody>
      </p:sp>
      <p:sp>
        <p:nvSpPr>
          <p:cNvPr id="1427" name="clic-t1: 可选每核中断控制"/>
          <p:cNvSpPr txBox="1"/>
          <p:nvPr/>
        </p:nvSpPr>
        <p:spPr>
          <a:xfrm>
            <a:off x="2706793" y="5655243"/>
            <a:ext cx="79248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可选每核中断控制</a:t>
            </a:r>
          </a:p>
        </p:txBody>
      </p:sp>
      <p:sp>
        <p:nvSpPr>
          <p:cNvPr id="1428" name="plic-t0: PLIC"/>
          <p:cNvSpPr txBox="1"/>
          <p:nvPr/>
        </p:nvSpPr>
        <p:spPr>
          <a:xfrm>
            <a:off x="4071355" y="4637346"/>
            <a:ext cx="29855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PLIC</a:t>
            </a:r>
          </a:p>
        </p:txBody>
      </p:sp>
      <p:sp>
        <p:nvSpPr>
          <p:cNvPr id="1429" name="plic-t1: 外部中断控制"/>
          <p:cNvSpPr txBox="1"/>
          <p:nvPr/>
        </p:nvSpPr>
        <p:spPr>
          <a:xfrm>
            <a:off x="3912447" y="4761163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外部中断控制</a:t>
            </a:r>
          </a:p>
        </p:txBody>
      </p:sp>
      <p:sp>
        <p:nvSpPr>
          <p:cNvPr id="1430" name="gpio-t0: GPIO"/>
          <p:cNvSpPr txBox="1"/>
          <p:nvPr/>
        </p:nvSpPr>
        <p:spPr>
          <a:xfrm>
            <a:off x="4061238" y="4935373"/>
            <a:ext cx="31879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GPIO</a:t>
            </a:r>
          </a:p>
        </p:txBody>
      </p:sp>
      <p:sp>
        <p:nvSpPr>
          <p:cNvPr id="1431" name="gpio-t1: 通用 IO"/>
          <p:cNvSpPr txBox="1"/>
          <p:nvPr/>
        </p:nvSpPr>
        <p:spPr>
          <a:xfrm>
            <a:off x="4034893" y="5059190"/>
            <a:ext cx="37148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通用 IO</a:t>
            </a:r>
          </a:p>
        </p:txBody>
      </p:sp>
      <p:sp>
        <p:nvSpPr>
          <p:cNvPr id="1432" name="err-dma-t0: Bus-error · iDMA"/>
          <p:cNvSpPr txBox="1"/>
          <p:nvPr/>
        </p:nvSpPr>
        <p:spPr>
          <a:xfrm>
            <a:off x="3807637" y="5233400"/>
            <a:ext cx="82599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iDMA</a:t>
            </a:r>
          </a:p>
        </p:txBody>
      </p:sp>
      <p:sp>
        <p:nvSpPr>
          <p:cNvPr id="1433" name="err-dma-t1: 每传输错误记录"/>
          <p:cNvSpPr txBox="1"/>
          <p:nvPr/>
        </p:nvSpPr>
        <p:spPr>
          <a:xfrm>
            <a:off x="3868420" y="5357216"/>
            <a:ext cx="70442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每传输错误记录</a:t>
            </a:r>
          </a:p>
        </p:txBody>
      </p:sp>
      <p:sp>
        <p:nvSpPr>
          <p:cNvPr id="1434" name="reg-error-t0: reg_err_slv"/>
          <p:cNvSpPr txBox="1"/>
          <p:nvPr/>
        </p:nvSpPr>
        <p:spPr>
          <a:xfrm>
            <a:off x="3929327" y="5531426"/>
            <a:ext cx="58261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reg_err_slv</a:t>
            </a:r>
          </a:p>
        </p:txBody>
      </p:sp>
      <p:sp>
        <p:nvSpPr>
          <p:cNvPr id="1435" name="reg-error-t1: 未匹配地址"/>
          <p:cNvSpPr txBox="1"/>
          <p:nvPr/>
        </p:nvSpPr>
        <p:spPr>
          <a:xfrm>
            <a:off x="3956473" y="5655243"/>
            <a:ext cx="5283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未匹配地址</a:t>
            </a:r>
          </a:p>
        </p:txBody>
      </p:sp>
      <p:sp>
        <p:nvSpPr>
          <p:cNvPr id="1436" name="llc-regs-t0: LLC 配置"/>
          <p:cNvSpPr txBox="1"/>
          <p:nvPr/>
        </p:nvSpPr>
        <p:spPr>
          <a:xfrm>
            <a:off x="5088350" y="4637346"/>
            <a:ext cx="49976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配置</a:t>
            </a:r>
          </a:p>
        </p:txBody>
      </p:sp>
      <p:sp>
        <p:nvSpPr>
          <p:cNvPr id="1437" name="llc-regs-t1: SPM way / cache"/>
          <p:cNvSpPr txBox="1"/>
          <p:nvPr/>
        </p:nvSpPr>
        <p:spPr>
          <a:xfrm>
            <a:off x="4959099" y="4761163"/>
            <a:ext cx="758269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SPM way / cache</a:t>
            </a:r>
          </a:p>
        </p:txBody>
      </p:sp>
      <p:sp>
        <p:nvSpPr>
          <p:cNvPr id="1438" name="slink-regs-t0: Serial Link 配置"/>
          <p:cNvSpPr txBox="1"/>
          <p:nvPr/>
        </p:nvSpPr>
        <p:spPr>
          <a:xfrm>
            <a:off x="4938281" y="4935373"/>
            <a:ext cx="79990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配置</a:t>
            </a:r>
          </a:p>
        </p:txBody>
      </p:sp>
      <p:sp>
        <p:nvSpPr>
          <p:cNvPr id="1439" name="slink-regs-t1: 链路控制"/>
          <p:cNvSpPr txBox="1"/>
          <p:nvPr/>
        </p:nvSpPr>
        <p:spPr>
          <a:xfrm>
            <a:off x="5118100" y="5059190"/>
            <a:ext cx="4402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链路控制</a:t>
            </a:r>
          </a:p>
        </p:txBody>
      </p:sp>
      <p:sp>
        <p:nvSpPr>
          <p:cNvPr id="1440" name="err-cpu-t0: Bus-error · CPU"/>
          <p:cNvSpPr txBox="1"/>
          <p:nvPr/>
        </p:nvSpPr>
        <p:spPr>
          <a:xfrm>
            <a:off x="4948552" y="5233400"/>
            <a:ext cx="77936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CPU</a:t>
            </a:r>
          </a:p>
        </p:txBody>
      </p:sp>
      <p:sp>
        <p:nvSpPr>
          <p:cNvPr id="1441" name="err-cpu-t1: 每核错误记录"/>
          <p:cNvSpPr txBox="1"/>
          <p:nvPr/>
        </p:nvSpPr>
        <p:spPr>
          <a:xfrm>
            <a:off x="5030047" y="5357216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每核错误记录</a:t>
            </a:r>
          </a:p>
        </p:txBody>
      </p:sp>
      <p:sp>
        <p:nvSpPr>
          <p:cNvPr id="1442" name="reg-ext-t0: RegExt 扩展"/>
          <p:cNvSpPr txBox="1"/>
          <p:nvPr/>
        </p:nvSpPr>
        <p:spPr>
          <a:xfrm>
            <a:off x="5019392" y="5531426"/>
            <a:ext cx="63768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RegExt 扩展</a:t>
            </a:r>
          </a:p>
        </p:txBody>
      </p:sp>
      <p:sp>
        <p:nvSpPr>
          <p:cNvPr id="1443" name="reg-ext-t1: 新增 IP 配置出口"/>
          <p:cNvSpPr txBox="1"/>
          <p:nvPr/>
        </p:nvSpPr>
        <p:spPr>
          <a:xfrm>
            <a:off x="4967573" y="5655243"/>
            <a:ext cx="7413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新增 IP 配置出口</a:t>
            </a:r>
          </a:p>
        </p:txBody>
      </p:sp>
      <p:sp>
        <p:nvSpPr>
          <p:cNvPr id="1444" name="ddr-S0-t0: DDR.S0"/>
          <p:cNvSpPr txBox="1"/>
          <p:nvPr/>
        </p:nvSpPr>
        <p:spPr>
          <a:xfrm>
            <a:off x="6434225" y="5779161"/>
            <a:ext cx="339550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DDR.S0</a:t>
            </a:r>
          </a:p>
        </p:txBody>
      </p:sp>
      <p:sp>
        <p:nvSpPr>
          <p:cNvPr id="1445" name="ddr-S1-t0: DDR.S1"/>
          <p:cNvSpPr txBox="1"/>
          <p:nvPr/>
        </p:nvSpPr>
        <p:spPr>
          <a:xfrm>
            <a:off x="7365558" y="5779161"/>
            <a:ext cx="339550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DDR.S1</a:t>
            </a:r>
          </a:p>
        </p:txBody>
      </p:sp>
      <p:sp>
        <p:nvSpPr>
          <p:cNvPr id="1446" name="ddr-S2-t0: DDR.S2"/>
          <p:cNvSpPr txBox="1"/>
          <p:nvPr/>
        </p:nvSpPr>
        <p:spPr>
          <a:xfrm>
            <a:off x="8296891" y="5779161"/>
            <a:ext cx="339550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DDR.S2</a:t>
            </a:r>
          </a:p>
        </p:txBody>
      </p:sp>
      <p:sp>
        <p:nvSpPr>
          <p:cNvPr id="1447" name="ddr-S3-t0: DDR.S3"/>
          <p:cNvSpPr txBox="1"/>
          <p:nvPr/>
        </p:nvSpPr>
        <p:spPr>
          <a:xfrm>
            <a:off x="9228225" y="5779161"/>
            <a:ext cx="339550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DDR.S3</a:t>
            </a:r>
          </a:p>
        </p:txBody>
      </p:sp>
      <p:sp>
        <p:nvSpPr>
          <p:cNvPr id="1448" name="ddr-arb-t0: 四口仲裁 / QoS · 共享 DDR 带宽"/>
          <p:cNvSpPr txBox="1"/>
          <p:nvPr/>
        </p:nvSpPr>
        <p:spPr>
          <a:xfrm>
            <a:off x="7300370" y="5934711"/>
            <a:ext cx="1452060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四口仲裁 / QoS · 共享 DDR 带宽</a:t>
            </a:r>
          </a:p>
        </p:txBody>
      </p:sp>
      <p:sp>
        <p:nvSpPr>
          <p:cNvPr id="1449" name="ddr-rw-t0: 读写调度 · Bank / Row"/>
          <p:cNvSpPr txBox="1"/>
          <p:nvPr/>
        </p:nvSpPr>
        <p:spPr>
          <a:xfrm>
            <a:off x="6444522" y="6115965"/>
            <a:ext cx="111482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读写调度 · Bank / Row</a:t>
            </a:r>
          </a:p>
        </p:txBody>
      </p:sp>
      <p:sp>
        <p:nvSpPr>
          <p:cNvPr id="1450" name="ddr-command-t0: 命令调度 · Controller → PHY"/>
          <p:cNvSpPr txBox="1"/>
          <p:nvPr/>
        </p:nvSpPr>
        <p:spPr>
          <a:xfrm>
            <a:off x="8397216" y="6120977"/>
            <a:ext cx="1273434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命令调度 · Controller → PHY</a:t>
            </a:r>
          </a:p>
        </p:txBody>
      </p:sp>
      <p:sp>
        <p:nvSpPr>
          <p:cNvPr id="1451" name="ddr-title: DDR Controller · 4 个 AXI slave"/>
          <p:cNvSpPr txBox="1"/>
          <p:nvPr/>
        </p:nvSpPr>
        <p:spPr>
          <a:xfrm>
            <a:off x="7293766" y="6267688"/>
            <a:ext cx="146526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 · 4 个 AXI slave</a:t>
            </a:r>
          </a:p>
        </p:txBody>
      </p:sp>
      <p:sp>
        <p:nvSpPr>
          <p:cNvPr id="1452" name="badge-C2-text: C2"/>
          <p:cNvSpPr txBox="1"/>
          <p:nvPr/>
        </p:nvSpPr>
        <p:spPr>
          <a:xfrm>
            <a:off x="9662848" y="6283673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453" name="ddr-phy-t0: DDR PHY"/>
          <p:cNvSpPr txBox="1"/>
          <p:nvPr/>
        </p:nvSpPr>
        <p:spPr>
          <a:xfrm>
            <a:off x="10438606" y="6228402"/>
            <a:ext cx="50958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1454" name="ddr-phy-t1: 训练 / 校准"/>
          <p:cNvSpPr txBox="1"/>
          <p:nvPr/>
        </p:nvSpPr>
        <p:spPr>
          <a:xfrm>
            <a:off x="10335535" y="6351271"/>
            <a:ext cx="580263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训练 / 校准</a:t>
            </a:r>
          </a:p>
        </p:txBody>
      </p:sp>
      <p:sp>
        <p:nvSpPr>
          <p:cNvPr id="1455" name="badge-C3-text: C3"/>
          <p:cNvSpPr txBox="1"/>
          <p:nvPr/>
        </p:nvSpPr>
        <p:spPr>
          <a:xfrm>
            <a:off x="10915915" y="6412366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1456" name="ddr-device-t0: DDR"/>
          <p:cNvSpPr txBox="1"/>
          <p:nvPr/>
        </p:nvSpPr>
        <p:spPr>
          <a:xfrm>
            <a:off x="11586842" y="6218378"/>
            <a:ext cx="338249" cy="1842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1457" name="ddr-device-t1: 片外器件"/>
          <p:cNvSpPr txBox="1"/>
          <p:nvPr/>
        </p:nvSpPr>
        <p:spPr>
          <a:xfrm>
            <a:off x="11518900" y="6359399"/>
            <a:ext cx="474133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片外器件</a:t>
            </a:r>
          </a:p>
        </p:txBody>
      </p:sp>
      <p:sp>
        <p:nvSpPr>
          <p:cNvPr id="1458" name="roi-title: 图像裁切输出"/>
          <p:cNvSpPr txBox="1"/>
          <p:nvPr/>
        </p:nvSpPr>
        <p:spPr>
          <a:xfrm>
            <a:off x="10322560" y="4313039"/>
            <a:ext cx="758613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图像裁切输出</a:t>
            </a:r>
          </a:p>
        </p:txBody>
      </p:sp>
      <p:sp>
        <p:nvSpPr>
          <p:cNvPr id="1459" name="roi-count: ≤256 ROI / 帧"/>
          <p:cNvSpPr txBox="1"/>
          <p:nvPr/>
        </p:nvSpPr>
        <p:spPr>
          <a:xfrm>
            <a:off x="10367788" y="4429811"/>
            <a:ext cx="668158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≤256 ROI / 帧</a:t>
            </a:r>
          </a:p>
        </p:txBody>
      </p:sp>
      <p:sp>
        <p:nvSpPr>
          <p:cNvPr id="1460" name="roi-no-scale: 纯裁切 · 不缩放"/>
          <p:cNvSpPr txBox="1"/>
          <p:nvPr/>
        </p:nvSpPr>
        <p:spPr>
          <a:xfrm>
            <a:off x="10356747" y="4517865"/>
            <a:ext cx="69024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纯裁切 · 不缩放</a:t>
            </a:r>
          </a:p>
        </p:txBody>
      </p:sp>
      <p:sp>
        <p:nvSpPr>
          <p:cNvPr id="1461" name="pll-title: PLL / 时钟与复位分发"/>
          <p:cNvSpPr txBox="1"/>
          <p:nvPr/>
        </p:nvSpPr>
        <p:spPr>
          <a:xfrm>
            <a:off x="7380023" y="6514372"/>
            <a:ext cx="1157288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时钟与复位分发</a:t>
            </a:r>
          </a:p>
        </p:txBody>
      </p:sp>
      <p:sp>
        <p:nvSpPr>
          <p:cNvPr id="1462" name="badge-C1-text: C1"/>
          <p:cNvSpPr txBox="1"/>
          <p:nvPr/>
        </p:nvSpPr>
        <p:spPr>
          <a:xfrm>
            <a:off x="8749295" y="6534625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463" name="pll-interface: RefClk / POR → clk_i / rst_ni"/>
          <p:cNvSpPr txBox="1"/>
          <p:nvPr/>
        </p:nvSpPr>
        <p:spPr>
          <a:xfrm>
            <a:off x="9311539" y="6536318"/>
            <a:ext cx="1222788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RefClk / POR → clk_i / rst_ni</a:t>
            </a:r>
          </a:p>
        </p:txBody>
      </p:sp>
      <p:sp>
        <p:nvSpPr>
          <p:cNvPr id="1464" name="reg-badge-C1-text: C1"/>
          <p:cNvSpPr txBox="1"/>
          <p:nvPr/>
        </p:nvSpPr>
        <p:spPr>
          <a:xfrm>
            <a:off x="275855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465" name="config-C1-title-0: PLL / 时钟"/>
          <p:cNvSpPr txBox="1"/>
          <p:nvPr/>
        </p:nvSpPr>
        <p:spPr>
          <a:xfrm>
            <a:off x="287679" y="6020800"/>
            <a:ext cx="57695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时钟</a:t>
            </a:r>
          </a:p>
        </p:txBody>
      </p:sp>
      <p:sp>
        <p:nvSpPr>
          <p:cNvPr id="1466" name="config-C1-title-1: 复位"/>
          <p:cNvSpPr txBox="1"/>
          <p:nvPr/>
        </p:nvSpPr>
        <p:spPr>
          <a:xfrm>
            <a:off x="423757" y="6129173"/>
            <a:ext cx="3048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复位</a:t>
            </a:r>
          </a:p>
        </p:txBody>
      </p:sp>
      <p:sp>
        <p:nvSpPr>
          <p:cNvPr id="1467" name="reg-badge-C2-text: C2"/>
          <p:cNvSpPr txBox="1"/>
          <p:nvPr/>
        </p:nvSpPr>
        <p:spPr>
          <a:xfrm>
            <a:off x="992981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468" name="config-C2-title-0: DDR"/>
          <p:cNvSpPr txBox="1"/>
          <p:nvPr/>
        </p:nvSpPr>
        <p:spPr>
          <a:xfrm>
            <a:off x="1144058" y="6020800"/>
            <a:ext cx="29845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1469" name="config-C2-title-1: Controller"/>
          <p:cNvSpPr txBox="1"/>
          <p:nvPr/>
        </p:nvSpPr>
        <p:spPr>
          <a:xfrm>
            <a:off x="1028517" y="6129173"/>
            <a:ext cx="52953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Controller</a:t>
            </a:r>
          </a:p>
        </p:txBody>
      </p:sp>
      <p:sp>
        <p:nvSpPr>
          <p:cNvPr id="1470" name="reg-badge-C3-text: C3"/>
          <p:cNvSpPr txBox="1"/>
          <p:nvPr/>
        </p:nvSpPr>
        <p:spPr>
          <a:xfrm>
            <a:off x="1710108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1471" name="config-C3-title-0: DDR"/>
          <p:cNvSpPr txBox="1"/>
          <p:nvPr/>
        </p:nvSpPr>
        <p:spPr>
          <a:xfrm>
            <a:off x="1861185" y="6020800"/>
            <a:ext cx="29845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1472" name="config-C3-title-1: PHY"/>
          <p:cNvSpPr txBox="1"/>
          <p:nvPr/>
        </p:nvSpPr>
        <p:spPr>
          <a:xfrm>
            <a:off x="1869271" y="6129173"/>
            <a:ext cx="28227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PHY</a:t>
            </a:r>
          </a:p>
        </p:txBody>
      </p:sp>
      <p:sp>
        <p:nvSpPr>
          <p:cNvPr id="1473" name="reg-badge-C4-text: C4"/>
          <p:cNvSpPr txBox="1"/>
          <p:nvPr/>
        </p:nvSpPr>
        <p:spPr>
          <a:xfrm>
            <a:off x="2427235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1474" name="config-C4-title-0: LVDS"/>
          <p:cNvSpPr txBox="1"/>
          <p:nvPr/>
        </p:nvSpPr>
        <p:spPr>
          <a:xfrm>
            <a:off x="2557970" y="6020800"/>
            <a:ext cx="33913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</a:t>
            </a:r>
          </a:p>
        </p:txBody>
      </p:sp>
      <p:sp>
        <p:nvSpPr>
          <p:cNvPr id="1475" name="config-C4-title-1: RX"/>
          <p:cNvSpPr txBox="1"/>
          <p:nvPr/>
        </p:nvSpPr>
        <p:spPr>
          <a:xfrm>
            <a:off x="2617899" y="6129173"/>
            <a:ext cx="21927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RX</a:t>
            </a:r>
          </a:p>
        </p:txBody>
      </p:sp>
      <p:sp>
        <p:nvSpPr>
          <p:cNvPr id="1476" name="reg-badge-C5-text: C5"/>
          <p:cNvSpPr txBox="1"/>
          <p:nvPr/>
        </p:nvSpPr>
        <p:spPr>
          <a:xfrm>
            <a:off x="3144361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1477" name="config-C5-title-0: ISP"/>
          <p:cNvSpPr txBox="1"/>
          <p:nvPr/>
        </p:nvSpPr>
        <p:spPr>
          <a:xfrm>
            <a:off x="3320785" y="6074986"/>
            <a:ext cx="24775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1478" name="reg-badge-C6-text: C6"/>
          <p:cNvSpPr txBox="1"/>
          <p:nvPr/>
        </p:nvSpPr>
        <p:spPr>
          <a:xfrm>
            <a:off x="3861488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1479" name="config-C6-title-0: NPU"/>
          <p:cNvSpPr txBox="1"/>
          <p:nvPr/>
        </p:nvSpPr>
        <p:spPr>
          <a:xfrm>
            <a:off x="4016584" y="6020800"/>
            <a:ext cx="29041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</a:t>
            </a:r>
          </a:p>
        </p:txBody>
      </p:sp>
      <p:sp>
        <p:nvSpPr>
          <p:cNvPr id="1480" name="config-C6-title-1: 计算"/>
          <p:cNvSpPr txBox="1"/>
          <p:nvPr/>
        </p:nvSpPr>
        <p:spPr>
          <a:xfrm>
            <a:off x="4009390" y="6129173"/>
            <a:ext cx="3048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计算</a:t>
            </a:r>
          </a:p>
        </p:txBody>
      </p:sp>
      <p:sp>
        <p:nvSpPr>
          <p:cNvPr id="1481" name="reg-badge-C7-text: C7"/>
          <p:cNvSpPr txBox="1"/>
          <p:nvPr/>
        </p:nvSpPr>
        <p:spPr>
          <a:xfrm>
            <a:off x="4578615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sp>
        <p:nvSpPr>
          <p:cNvPr id="1482" name="config-C7-title-0: NPU / GB"/>
          <p:cNvSpPr txBox="1"/>
          <p:nvPr/>
        </p:nvSpPr>
        <p:spPr>
          <a:xfrm>
            <a:off x="4611920" y="6020800"/>
            <a:ext cx="53399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</a:t>
            </a:r>
          </a:p>
        </p:txBody>
      </p:sp>
      <p:sp>
        <p:nvSpPr>
          <p:cNvPr id="1483" name="config-C7-title-1: 搬运"/>
          <p:cNvSpPr txBox="1"/>
          <p:nvPr/>
        </p:nvSpPr>
        <p:spPr>
          <a:xfrm>
            <a:off x="4726517" y="6129173"/>
            <a:ext cx="3048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搬运</a:t>
            </a:r>
          </a:p>
        </p:txBody>
      </p:sp>
      <p:sp>
        <p:nvSpPr>
          <p:cNvPr id="1484" name="reg-badge-C8-text: C8"/>
          <p:cNvSpPr txBox="1"/>
          <p:nvPr/>
        </p:nvSpPr>
        <p:spPr>
          <a:xfrm>
            <a:off x="5295741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sp>
        <p:nvSpPr>
          <p:cNvPr id="1485" name="config-C8-title-0: 帧写入"/>
          <p:cNvSpPr txBox="1"/>
          <p:nvPr/>
        </p:nvSpPr>
        <p:spPr>
          <a:xfrm>
            <a:off x="5392843" y="6020800"/>
            <a:ext cx="4064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</a:t>
            </a:r>
          </a:p>
        </p:txBody>
      </p:sp>
      <p:sp>
        <p:nvSpPr>
          <p:cNvPr id="1486" name="config-C8-title-1: DMA"/>
          <p:cNvSpPr txBox="1"/>
          <p:nvPr/>
        </p:nvSpPr>
        <p:spPr>
          <a:xfrm>
            <a:off x="5441709" y="6129173"/>
            <a:ext cx="30866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DMA</a:t>
            </a:r>
          </a:p>
        </p:txBody>
      </p:sp>
      <p:sp>
        <p:nvSpPr>
          <p:cNvPr id="1487" name="reg-badge-C9-text: C9"/>
          <p:cNvSpPr txBox="1"/>
          <p:nvPr/>
        </p:nvSpPr>
        <p:spPr>
          <a:xfrm>
            <a:off x="275855" y="6372065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sp>
        <p:nvSpPr>
          <p:cNvPr id="1488" name="config-C9-title-0: GB"/>
          <p:cNvSpPr txBox="1"/>
          <p:nvPr/>
        </p:nvSpPr>
        <p:spPr>
          <a:xfrm>
            <a:off x="460417" y="6474613"/>
            <a:ext cx="23147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</a:t>
            </a:r>
          </a:p>
        </p:txBody>
      </p:sp>
      <p:sp>
        <p:nvSpPr>
          <p:cNvPr id="1489" name="config-C9-title-1: 管理"/>
          <p:cNvSpPr txBox="1"/>
          <p:nvPr/>
        </p:nvSpPr>
        <p:spPr>
          <a:xfrm>
            <a:off x="423757" y="6582986"/>
            <a:ext cx="3048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管理</a:t>
            </a:r>
          </a:p>
        </p:txBody>
      </p:sp>
      <p:sp>
        <p:nvSpPr>
          <p:cNvPr id="1490" name="reg-badge-C10-text: C10"/>
          <p:cNvSpPr txBox="1"/>
          <p:nvPr/>
        </p:nvSpPr>
        <p:spPr>
          <a:xfrm>
            <a:off x="971658" y="6372065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C10</a:t>
            </a:r>
          </a:p>
        </p:txBody>
      </p:sp>
      <p:sp>
        <p:nvSpPr>
          <p:cNvPr id="1491" name="config-C10-title-0: eMMC Host"/>
          <p:cNvSpPr txBox="1"/>
          <p:nvPr/>
        </p:nvSpPr>
        <p:spPr>
          <a:xfrm>
            <a:off x="981689" y="6474613"/>
            <a:ext cx="62318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eMMC Host</a:t>
            </a:r>
          </a:p>
        </p:txBody>
      </p:sp>
      <p:sp>
        <p:nvSpPr>
          <p:cNvPr id="1492" name="config-C10-title-1: / DMA"/>
          <p:cNvSpPr txBox="1"/>
          <p:nvPr/>
        </p:nvSpPr>
        <p:spPr>
          <a:xfrm>
            <a:off x="1097328" y="6582986"/>
            <a:ext cx="39191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/ DMA</a:t>
            </a:r>
          </a:p>
        </p:txBody>
      </p:sp>
      <p:sp>
        <p:nvSpPr>
          <p:cNvPr id="1493" name="reg-badge-C11-text: C11"/>
          <p:cNvSpPr txBox="1"/>
          <p:nvPr/>
        </p:nvSpPr>
        <p:spPr>
          <a:xfrm>
            <a:off x="1688785" y="6372065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C11</a:t>
            </a:r>
          </a:p>
        </p:txBody>
      </p:sp>
      <p:sp>
        <p:nvSpPr>
          <p:cNvPr id="1494" name="config-C11-title-0: ROI 任务"/>
          <p:cNvSpPr txBox="1"/>
          <p:nvPr/>
        </p:nvSpPr>
        <p:spPr>
          <a:xfrm>
            <a:off x="1764644" y="6474613"/>
            <a:ext cx="49153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ROI 任务</a:t>
            </a:r>
          </a:p>
        </p:txBody>
      </p:sp>
      <p:sp>
        <p:nvSpPr>
          <p:cNvPr id="1495" name="config-C11-title-1: / 调度"/>
          <p:cNvSpPr txBox="1"/>
          <p:nvPr/>
        </p:nvSpPr>
        <p:spPr>
          <a:xfrm>
            <a:off x="1816388" y="6582986"/>
            <a:ext cx="38804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/ 调度</a:t>
            </a:r>
          </a:p>
        </p:txBody>
      </p:sp>
      <p:sp>
        <p:nvSpPr>
          <p:cNvPr id="1496" name="reg-badge-C12-text: C12"/>
          <p:cNvSpPr txBox="1"/>
          <p:nvPr/>
        </p:nvSpPr>
        <p:spPr>
          <a:xfrm>
            <a:off x="2405912" y="6372065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C12</a:t>
            </a:r>
          </a:p>
        </p:txBody>
      </p:sp>
      <p:sp>
        <p:nvSpPr>
          <p:cNvPr id="1497" name="config-C12-title-0: 前端公共"/>
          <p:cNvSpPr txBox="1"/>
          <p:nvPr/>
        </p:nvSpPr>
        <p:spPr>
          <a:xfrm>
            <a:off x="2473537" y="6474613"/>
            <a:ext cx="5080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前端公共</a:t>
            </a:r>
          </a:p>
        </p:txBody>
      </p:sp>
      <p:sp>
        <p:nvSpPr>
          <p:cNvPr id="1498" name="config-C12-title-1: 控制"/>
          <p:cNvSpPr txBox="1"/>
          <p:nvPr/>
        </p:nvSpPr>
        <p:spPr>
          <a:xfrm>
            <a:off x="2575137" y="6582986"/>
            <a:ext cx="3048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控制</a:t>
            </a:r>
          </a:p>
        </p:txBody>
      </p:sp>
      <p:sp>
        <p:nvSpPr>
          <p:cNvPr id="1499" name="reg-badge-C13-text: C13"/>
          <p:cNvSpPr txBox="1"/>
          <p:nvPr/>
        </p:nvSpPr>
        <p:spPr>
          <a:xfrm>
            <a:off x="3123038" y="6372065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C13</a:t>
            </a:r>
          </a:p>
        </p:txBody>
      </p:sp>
      <p:sp>
        <p:nvSpPr>
          <p:cNvPr id="1500" name="config-C13-title-0: 帧输出"/>
          <p:cNvSpPr txBox="1"/>
          <p:nvPr/>
        </p:nvSpPr>
        <p:spPr>
          <a:xfrm>
            <a:off x="3241463" y="6474613"/>
            <a:ext cx="4064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帧输出</a:t>
            </a:r>
          </a:p>
        </p:txBody>
      </p:sp>
      <p:sp>
        <p:nvSpPr>
          <p:cNvPr id="1501" name="config-C13-title-1: VDMA"/>
          <p:cNvSpPr txBox="1"/>
          <p:nvPr/>
        </p:nvSpPr>
        <p:spPr>
          <a:xfrm>
            <a:off x="3261902" y="6582986"/>
            <a:ext cx="36552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VDMA</a:t>
            </a:r>
          </a:p>
        </p:txBody>
      </p:sp>
      <p:sp>
        <p:nvSpPr>
          <p:cNvPr id="1502" name="reg-badge-C14-text: C14"/>
          <p:cNvSpPr txBox="1"/>
          <p:nvPr/>
        </p:nvSpPr>
        <p:spPr>
          <a:xfrm>
            <a:off x="3840165" y="6372065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C14</a:t>
            </a:r>
          </a:p>
        </p:txBody>
      </p:sp>
      <p:sp>
        <p:nvSpPr>
          <p:cNvPr id="1503" name="config-C14-title-0: LVDS"/>
          <p:cNvSpPr txBox="1"/>
          <p:nvPr/>
        </p:nvSpPr>
        <p:spPr>
          <a:xfrm>
            <a:off x="3992224" y="6474613"/>
            <a:ext cx="33913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</a:t>
            </a:r>
          </a:p>
        </p:txBody>
      </p:sp>
      <p:sp>
        <p:nvSpPr>
          <p:cNvPr id="1504" name="config-C14-title-1: TX"/>
          <p:cNvSpPr txBox="1"/>
          <p:nvPr/>
        </p:nvSpPr>
        <p:spPr>
          <a:xfrm>
            <a:off x="4058206" y="6582986"/>
            <a:ext cx="20716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TX</a:t>
            </a:r>
          </a:p>
        </p:txBody>
      </p:sp>
      <p:sp>
        <p:nvSpPr>
          <p:cNvPr id="1505" name="reg-badge-C15-text: C15"/>
          <p:cNvSpPr txBox="1"/>
          <p:nvPr/>
        </p:nvSpPr>
        <p:spPr>
          <a:xfrm>
            <a:off x="4557292" y="6372065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C15</a:t>
            </a:r>
          </a:p>
        </p:txBody>
      </p:sp>
      <p:sp>
        <p:nvSpPr>
          <p:cNvPr id="1506" name="config-C15-title-0: 压缩器"/>
          <p:cNvSpPr txBox="1"/>
          <p:nvPr/>
        </p:nvSpPr>
        <p:spPr>
          <a:xfrm>
            <a:off x="4675717" y="6528800"/>
            <a:ext cx="4064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压缩器</a:t>
            </a:r>
          </a:p>
        </p:txBody>
      </p:sp>
      <p:sp>
        <p:nvSpPr>
          <p:cNvPr id="1507" name="reg-badge-C16-text: C16"/>
          <p:cNvSpPr txBox="1"/>
          <p:nvPr/>
        </p:nvSpPr>
        <p:spPr>
          <a:xfrm>
            <a:off x="5274418" y="6372065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C16</a:t>
            </a:r>
          </a:p>
        </p:txBody>
      </p:sp>
      <p:sp>
        <p:nvSpPr>
          <p:cNvPr id="1508" name="config-C16-title-0: 解压器"/>
          <p:cNvSpPr txBox="1"/>
          <p:nvPr/>
        </p:nvSpPr>
        <p:spPr>
          <a:xfrm>
            <a:off x="5392843" y="6528800"/>
            <a:ext cx="4064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解压器</a:t>
            </a:r>
          </a:p>
        </p:txBody>
      </p:sp>
      <p:sp>
        <p:nvSpPr>
          <p:cNvPr id="1509" name="front-F0-t0: F0 · LLC"/>
          <p:cNvSpPr txBox="1"/>
          <p:nvPr/>
        </p:nvSpPr>
        <p:spPr>
          <a:xfrm>
            <a:off x="6431137" y="4319508"/>
            <a:ext cx="345726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F0 · LLC</a:t>
            </a:r>
          </a:p>
        </p:txBody>
      </p:sp>
      <p:sp>
        <p:nvSpPr>
          <p:cNvPr id="1510" name="front-F1-t0: F1 · GB 搬运"/>
          <p:cNvSpPr txBox="1"/>
          <p:nvPr/>
        </p:nvSpPr>
        <p:spPr>
          <a:xfrm>
            <a:off x="7287834" y="4319508"/>
            <a:ext cx="494998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F1 · GB 搬运</a:t>
            </a:r>
          </a:p>
        </p:txBody>
      </p:sp>
      <p:sp>
        <p:nvSpPr>
          <p:cNvPr id="1511" name="front-F2-t0: F2 · 帧写"/>
          <p:cNvSpPr txBox="1"/>
          <p:nvPr/>
        </p:nvSpPr>
        <p:spPr>
          <a:xfrm>
            <a:off x="8279294" y="4319508"/>
            <a:ext cx="374745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F2 · 帧写</a:t>
            </a:r>
          </a:p>
        </p:txBody>
      </p:sp>
      <p:sp>
        <p:nvSpPr>
          <p:cNvPr id="1512" name="front-F3-t0: F3 · 帧读"/>
          <p:cNvSpPr txBox="1"/>
          <p:nvPr/>
        </p:nvSpPr>
        <p:spPr>
          <a:xfrm>
            <a:off x="9210627" y="4319508"/>
            <a:ext cx="374745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F3 · 帧读</a:t>
            </a:r>
          </a:p>
        </p:txBody>
      </p:sp>
      <p:sp>
        <p:nvSpPr>
          <p:cNvPr id="1513" name="front-adapt-t0: 共享压缩前端 · 四口区域选择 / 事务跟踪"/>
          <p:cNvSpPr txBox="1"/>
          <p:nvPr/>
        </p:nvSpPr>
        <p:spPr>
          <a:xfrm>
            <a:off x="7063335" y="4503912"/>
            <a:ext cx="192613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共享压缩前端 · 四口区域选择 / 事务跟踪</a:t>
            </a:r>
          </a:p>
        </p:txBody>
      </p:sp>
      <p:sp>
        <p:nvSpPr>
          <p:cNvPr id="1514" name="badge-C12-text: C12"/>
          <p:cNvSpPr txBox="1"/>
          <p:nvPr/>
        </p:nvSpPr>
        <p:spPr>
          <a:xfrm>
            <a:off x="9641525" y="4525993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C12</a:t>
            </a:r>
          </a:p>
        </p:txBody>
      </p:sp>
      <p:sp>
        <p:nvSpPr>
          <p:cNvPr id="1515" name="address-control-t0: 地址 / 事务"/>
          <p:cNvSpPr txBox="1"/>
          <p:nvPr/>
        </p:nvSpPr>
        <p:spPr>
          <a:xfrm>
            <a:off x="6276216" y="4810066"/>
            <a:ext cx="62170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事务</a:t>
            </a:r>
          </a:p>
        </p:txBody>
      </p:sp>
      <p:sp>
        <p:nvSpPr>
          <p:cNvPr id="1516" name="address-control-t1: AR / AW 映射"/>
          <p:cNvSpPr txBox="1"/>
          <p:nvPr/>
        </p:nvSpPr>
        <p:spPr>
          <a:xfrm>
            <a:off x="6279909" y="4933883"/>
            <a:ext cx="614315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 / AW 映射</a:t>
            </a:r>
          </a:p>
        </p:txBody>
      </p:sp>
      <p:sp>
        <p:nvSpPr>
          <p:cNvPr id="1517" name="metadata-t0: 块地址 / 元数据"/>
          <p:cNvSpPr txBox="1"/>
          <p:nvPr/>
        </p:nvSpPr>
        <p:spPr>
          <a:xfrm>
            <a:off x="6202108" y="5223511"/>
            <a:ext cx="769916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块地址 / 元数据</a:t>
            </a:r>
          </a:p>
        </p:txBody>
      </p:sp>
      <p:sp>
        <p:nvSpPr>
          <p:cNvPr id="1518" name="badge-C15-text: C15"/>
          <p:cNvSpPr txBox="1"/>
          <p:nvPr/>
        </p:nvSpPr>
        <p:spPr>
          <a:xfrm>
            <a:off x="7196352" y="4908686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C15</a:t>
            </a:r>
          </a:p>
        </p:txBody>
      </p:sp>
      <p:sp>
        <p:nvSpPr>
          <p:cNvPr id="1519" name="compressor-title: 共享压缩器"/>
          <p:cNvSpPr txBox="1"/>
          <p:nvPr/>
        </p:nvSpPr>
        <p:spPr>
          <a:xfrm>
            <a:off x="7272867" y="5007848"/>
            <a:ext cx="6096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共享压缩器</a:t>
            </a:r>
          </a:p>
        </p:txBody>
      </p:sp>
      <p:sp>
        <p:nvSpPr>
          <p:cNvPr id="1520" name="compressor-detail: W 写数据"/>
          <p:cNvSpPr txBox="1"/>
          <p:nvPr/>
        </p:nvSpPr>
        <p:spPr>
          <a:xfrm>
            <a:off x="7352287" y="5130851"/>
            <a:ext cx="45076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 写数据</a:t>
            </a:r>
          </a:p>
        </p:txBody>
      </p:sp>
      <p:sp>
        <p:nvSpPr>
          <p:cNvPr id="1521" name="badge-C16-text: C16"/>
          <p:cNvSpPr txBox="1"/>
          <p:nvPr/>
        </p:nvSpPr>
        <p:spPr>
          <a:xfrm>
            <a:off x="8102285" y="4908686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C16</a:t>
            </a:r>
          </a:p>
        </p:txBody>
      </p:sp>
      <p:sp>
        <p:nvSpPr>
          <p:cNvPr id="1522" name="decompressor-title: 共享解压器"/>
          <p:cNvSpPr txBox="1"/>
          <p:nvPr/>
        </p:nvSpPr>
        <p:spPr>
          <a:xfrm>
            <a:off x="8178800" y="5007848"/>
            <a:ext cx="6096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共享解压器</a:t>
            </a:r>
          </a:p>
        </p:txBody>
      </p:sp>
      <p:sp>
        <p:nvSpPr>
          <p:cNvPr id="1523" name="decompressor-detail: R 读数据"/>
          <p:cNvSpPr txBox="1"/>
          <p:nvPr/>
        </p:nvSpPr>
        <p:spPr>
          <a:xfrm>
            <a:off x="8267033" y="5130851"/>
            <a:ext cx="433134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 读数据</a:t>
            </a:r>
          </a:p>
        </p:txBody>
      </p:sp>
      <p:sp>
        <p:nvSpPr>
          <p:cNvPr id="1524" name="plain-bypass-title: 普通数据旁路"/>
          <p:cNvSpPr txBox="1"/>
          <p:nvPr/>
        </p:nvSpPr>
        <p:spPr>
          <a:xfrm>
            <a:off x="9033933" y="5007848"/>
            <a:ext cx="7112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普通数据旁路</a:t>
            </a:r>
          </a:p>
        </p:txBody>
      </p:sp>
      <p:sp>
        <p:nvSpPr>
          <p:cNvPr id="1525" name="plain-bypass-detail: W / R 原样"/>
          <p:cNvSpPr txBox="1"/>
          <p:nvPr/>
        </p:nvSpPr>
        <p:spPr>
          <a:xfrm>
            <a:off x="9131647" y="5130851"/>
            <a:ext cx="5157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 / R 原样</a:t>
            </a:r>
          </a:p>
        </p:txBody>
      </p:sp>
      <p:sp>
        <p:nvSpPr>
          <p:cNvPr id="1526" name="front-route-t0: 下游 AXI 路由 / R、B 响应匹配"/>
          <p:cNvSpPr txBox="1"/>
          <p:nvPr/>
        </p:nvSpPr>
        <p:spPr>
          <a:xfrm>
            <a:off x="7283945" y="5499592"/>
            <a:ext cx="148491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下游 AXI 路由 / R、B 响应匹配</a:t>
            </a:r>
          </a:p>
        </p:txBody>
      </p:sp>
      <p:sp>
        <p:nvSpPr>
          <p:cNvPr id="1527" name="b-response-label: B"/>
          <p:cNvSpPr txBox="1"/>
          <p:nvPr/>
        </p:nvSpPr>
        <p:spPr>
          <a:xfrm>
            <a:off x="6250331" y="4667420"/>
            <a:ext cx="131604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B</a:t>
            </a:r>
          </a:p>
        </p:txBody>
      </p:sp>
      <p:sp>
        <p:nvSpPr>
          <p:cNvPr id="1528" name="badge-C11-text: C11"/>
          <p:cNvSpPr txBox="1"/>
          <p:nvPr/>
        </p:nvSpPr>
        <p:spPr>
          <a:xfrm>
            <a:off x="10928458" y="4637753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C11</a:t>
            </a:r>
          </a:p>
        </p:txBody>
      </p:sp>
      <p:sp>
        <p:nvSpPr>
          <p:cNvPr id="1529" name="roi-scheduler-title: ROI 任务表"/>
          <p:cNvSpPr txBox="1"/>
          <p:nvPr/>
        </p:nvSpPr>
        <p:spPr>
          <a:xfrm>
            <a:off x="10405300" y="4733528"/>
            <a:ext cx="59313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ROI 任务表</a:t>
            </a:r>
          </a:p>
        </p:txBody>
      </p:sp>
      <p:sp>
        <p:nvSpPr>
          <p:cNvPr id="1530" name="roi-scheduler-detail: 顺序调度"/>
          <p:cNvSpPr txBox="1"/>
          <p:nvPr/>
        </p:nvSpPr>
        <p:spPr>
          <a:xfrm>
            <a:off x="10481733" y="4849758"/>
            <a:ext cx="4402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顺序调度</a:t>
            </a:r>
          </a:p>
        </p:txBody>
      </p:sp>
      <p:sp>
        <p:nvSpPr>
          <p:cNvPr id="1531" name="badge-C13-text: C13"/>
          <p:cNvSpPr txBox="1"/>
          <p:nvPr/>
        </p:nvSpPr>
        <p:spPr>
          <a:xfrm>
            <a:off x="10928458" y="5027219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C13</a:t>
            </a:r>
          </a:p>
        </p:txBody>
      </p:sp>
      <p:sp>
        <p:nvSpPr>
          <p:cNvPr id="1532" name="roi-vdma-title: 帧输出 VDMA"/>
          <p:cNvSpPr txBox="1"/>
          <p:nvPr/>
        </p:nvSpPr>
        <p:spPr>
          <a:xfrm>
            <a:off x="10351476" y="5122994"/>
            <a:ext cx="70078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帧输出 VDMA</a:t>
            </a:r>
          </a:p>
        </p:txBody>
      </p:sp>
      <p:sp>
        <p:nvSpPr>
          <p:cNvPr id="1533" name="roi-vdma-detail: 二维 AXI 读"/>
          <p:cNvSpPr txBox="1"/>
          <p:nvPr/>
        </p:nvSpPr>
        <p:spPr>
          <a:xfrm>
            <a:off x="10439553" y="5239225"/>
            <a:ext cx="524626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二维 AXI 读</a:t>
            </a:r>
          </a:p>
        </p:txBody>
      </p:sp>
      <p:sp>
        <p:nvSpPr>
          <p:cNvPr id="1534" name="roi-fifo-t0: 像素整理"/>
          <p:cNvSpPr txBox="1"/>
          <p:nvPr/>
        </p:nvSpPr>
        <p:spPr>
          <a:xfrm>
            <a:off x="10447867" y="5411200"/>
            <a:ext cx="5080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像素整理</a:t>
            </a:r>
          </a:p>
        </p:txBody>
      </p:sp>
      <p:sp>
        <p:nvSpPr>
          <p:cNvPr id="1535" name="roi-fifo-t1: 输出 FIFO"/>
          <p:cNvSpPr txBox="1"/>
          <p:nvPr/>
        </p:nvSpPr>
        <p:spPr>
          <a:xfrm>
            <a:off x="10473904" y="5535016"/>
            <a:ext cx="455925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输出 FIFO</a:t>
            </a:r>
          </a:p>
        </p:txBody>
      </p:sp>
      <p:sp>
        <p:nvSpPr>
          <p:cNvPr id="1536" name="badge-C14-text: C14"/>
          <p:cNvSpPr txBox="1"/>
          <p:nvPr/>
        </p:nvSpPr>
        <p:spPr>
          <a:xfrm>
            <a:off x="10928458" y="5721486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C14</a:t>
            </a:r>
          </a:p>
        </p:txBody>
      </p:sp>
      <p:sp>
        <p:nvSpPr>
          <p:cNvPr id="1537" name="lvds-tx-title: LVDS TX"/>
          <p:cNvSpPr txBox="1"/>
          <p:nvPr/>
        </p:nvSpPr>
        <p:spPr>
          <a:xfrm>
            <a:off x="10464287" y="5817261"/>
            <a:ext cx="47516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TX</a:t>
            </a:r>
          </a:p>
        </p:txBody>
      </p:sp>
      <p:sp>
        <p:nvSpPr>
          <p:cNvPr id="1538" name="lvds-tx-detail: 子图帧行封装"/>
          <p:cNvSpPr txBox="1"/>
          <p:nvPr/>
        </p:nvSpPr>
        <p:spPr>
          <a:xfrm>
            <a:off x="10393680" y="5933491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子图帧行封装</a:t>
            </a:r>
          </a:p>
        </p:txBody>
      </p:sp>
      <p:sp>
        <p:nvSpPr>
          <p:cNvPr id="1539" name="legend-axi-interface-text: AXI 请求 / 响应"/>
          <p:cNvSpPr txBox="1"/>
          <p:nvPr/>
        </p:nvSpPr>
        <p:spPr>
          <a:xfrm>
            <a:off x="10427187" y="2878718"/>
            <a:ext cx="684826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请求 / 响应</a:t>
            </a:r>
          </a:p>
        </p:txBody>
      </p:sp>
      <p:sp>
        <p:nvSpPr>
          <p:cNvPr id="1540" name="legend-axi-request-text: AXI 请求方向"/>
          <p:cNvSpPr txBox="1"/>
          <p:nvPr/>
        </p:nvSpPr>
        <p:spPr>
          <a:xfrm>
            <a:off x="10476460" y="3085305"/>
            <a:ext cx="58628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请求方向</a:t>
            </a:r>
          </a:p>
        </p:txBody>
      </p:sp>
      <p:sp>
        <p:nvSpPr>
          <p:cNvPr id="1541" name="legend-gb-text: GB 局部读写"/>
          <p:cNvSpPr txBox="1"/>
          <p:nvPr/>
        </p:nvSpPr>
        <p:spPr>
          <a:xfrm>
            <a:off x="10479984" y="3291891"/>
            <a:ext cx="579231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GB 局部读写</a:t>
            </a:r>
          </a:p>
        </p:txBody>
      </p:sp>
      <p:sp>
        <p:nvSpPr>
          <p:cNvPr id="1542" name="legend-pixel-text: 像素流"/>
          <p:cNvSpPr txBox="1"/>
          <p:nvPr/>
        </p:nvSpPr>
        <p:spPr>
          <a:xfrm>
            <a:off x="10593493" y="3498478"/>
            <a:ext cx="35221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像素流</a:t>
            </a:r>
          </a:p>
        </p:txBody>
      </p:sp>
      <p:sp>
        <p:nvSpPr>
          <p:cNvPr id="1543" name="legend-cfg-text: 配置 / 控制"/>
          <p:cNvSpPr txBox="1"/>
          <p:nvPr/>
        </p:nvSpPr>
        <p:spPr>
          <a:xfrm>
            <a:off x="10500193" y="3705065"/>
            <a:ext cx="53881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配置 / 控制</a:t>
            </a:r>
          </a:p>
        </p:txBody>
      </p:sp>
      <p:sp>
        <p:nvSpPr>
          <p:cNvPr id="1544" name="legend-optional-text: eMMC 接口"/>
          <p:cNvSpPr txBox="1"/>
          <p:nvPr/>
        </p:nvSpPr>
        <p:spPr>
          <a:xfrm>
            <a:off x="10501180" y="3911651"/>
            <a:ext cx="53684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93939D"/>
                </a:solidFill>
                <a:latin typeface="Microsoft YaHei"/>
                <a:ea typeface="Microsoft YaHei"/>
                <a:cs typeface="Microsoft YaHei"/>
              </a:rPr>
              <a:t>eMMC 接口</a:t>
            </a:r>
          </a:p>
        </p:txBody>
      </p:sp>
      <p:sp>
        <p:nvSpPr>
          <p:cNvPr id="1545" name="legend-return: 单箭头接口：省略响应"/>
          <p:cNvSpPr txBox="1"/>
          <p:nvPr/>
        </p:nvSpPr>
        <p:spPr>
          <a:xfrm>
            <a:off x="10254827" y="4010407"/>
            <a:ext cx="894080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单箭头接口：省略响应</a:t>
            </a:r>
          </a:p>
        </p:txBody>
      </p:sp>
      <p:sp>
        <p:nvSpPr>
          <p:cNvPr id="1546" name="legend-status: 虚线框：规划 / 可选"/>
          <p:cNvSpPr txBox="1"/>
          <p:nvPr/>
        </p:nvSpPr>
        <p:spPr>
          <a:xfrm>
            <a:off x="10290625" y="4122167"/>
            <a:ext cx="822484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虚线框：规划 / 可选</a:t>
            </a:r>
          </a:p>
        </p:txBody>
      </p:sp>
    </p:spTree>
    <p:extLst>
      <p:ext uri="{BB962C8B-B14F-4D97-AF65-F5344CB8AC3E}">
        <p14:creationId xmlns:p14="http://schemas.microsoft.com/office/powerpoint/2010/main" val="2187131506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owerpoint template design by DAJU_PPT正版来源小红书大橘PPT微信DAJU_PPT请勿抄袭搬运！盗版必究！"/>
          <p:cNvSpPr/>
          <p:nvPr/>
        </p:nvSpPr>
        <p:spPr>
          <a:xfrm>
            <a:off x="0" y="0"/>
            <a:ext cx="12192000" cy="527280"/>
          </a:xfrm>
          <a:prstGeom prst="rect">
            <a:avLst/>
          </a:prstGeom>
          <a:solidFill>
            <a:srgbClr val="00499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9" name="powerpoint template design by DAJU_PPT正版来源小红书大橘PPT微信DAJU_PPT请勿抄袭搬运！盗版必究！"/>
          <p:cNvSpPr txBox="1"/>
          <p:nvPr userDrawn="1"/>
        </p:nvSpPr>
        <p:spPr>
          <a:xfrm>
            <a:off x="3087469" y="75869"/>
            <a:ext cx="6850351" cy="375542"/>
          </a:xfrm>
          <a:prstGeom prst="rect">
            <a:avLst/>
          </a:prstGeom>
          <a:noFill/>
        </p:spPr>
        <p:txBody>
          <a:bodyPr wrap="square" lIns="25200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algn="ctr">
              <a:defRPr/>
            </a:pPr>
            <a:r>
              <a:rPr lang="en-US" altLang="zh-CN" sz="2400" b="1" kern="0" dirty="0">
                <a:solidFill>
                  <a:schemeClr val="bg1"/>
                </a:solidFill>
                <a:cs typeface="+mn-ea"/>
                <a:sym typeface="+mn-lt"/>
              </a:rPr>
              <a:t>SoC</a:t>
            </a:r>
            <a:r>
              <a:rPr lang="zh-CN" altLang="en-US" sz="2400" b="1" kern="0" dirty="0">
                <a:solidFill>
                  <a:schemeClr val="bg1"/>
                </a:solidFill>
                <a:cs typeface="+mn-ea"/>
                <a:sym typeface="+mn-lt"/>
              </a:rPr>
              <a:t>硬件层</a:t>
            </a:r>
          </a:p>
        </p:txBody>
      </p:sp>
      <p:sp>
        <p:nvSpPr>
          <p:cNvPr id="1002" name="soc-boundary"/>
          <p:cNvSpPr/>
          <p:nvPr/>
        </p:nvSpPr>
        <p:spPr>
          <a:xfrm>
            <a:off x="71967" y="603149"/>
            <a:ext cx="11260667" cy="61806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3" name="compute"/>
          <p:cNvSpPr/>
          <p:nvPr/>
        </p:nvSpPr>
        <p:spPr>
          <a:xfrm>
            <a:off x="241300" y="738616"/>
            <a:ext cx="3166533" cy="1439333"/>
          </a:xfrm>
          <a:prstGeom prst="rect">
            <a:avLst/>
          </a:prstGeom>
          <a:solidFill>
            <a:srgbClr val="F1D7D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4" name="gb-region"/>
          <p:cNvSpPr/>
          <p:nvPr/>
        </p:nvSpPr>
        <p:spPr>
          <a:xfrm>
            <a:off x="3594100" y="738616"/>
            <a:ext cx="3843867" cy="1439333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5" name="image-rx"/>
          <p:cNvSpPr/>
          <p:nvPr/>
        </p:nvSpPr>
        <p:spPr>
          <a:xfrm>
            <a:off x="7607300" y="738616"/>
            <a:ext cx="3606800" cy="1439333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6" name="reg-region"/>
          <p:cNvSpPr/>
          <p:nvPr/>
        </p:nvSpPr>
        <p:spPr>
          <a:xfrm>
            <a:off x="173567" y="4311549"/>
            <a:ext cx="5825067" cy="1513840"/>
          </a:xfrm>
          <a:prstGeom prst="rect">
            <a:avLst/>
          </a:prstGeom>
          <a:solidFill>
            <a:srgbClr val="FAF8FB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7" name="ddr-controller"/>
          <p:cNvSpPr/>
          <p:nvPr/>
        </p:nvSpPr>
        <p:spPr>
          <a:xfrm>
            <a:off x="6129867" y="5835549"/>
            <a:ext cx="3793067" cy="5757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8" name="roi-region"/>
          <p:cNvSpPr/>
          <p:nvPr/>
        </p:nvSpPr>
        <p:spPr>
          <a:xfrm>
            <a:off x="10160000" y="4311549"/>
            <a:ext cx="1083733" cy="1794933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9" name="compression-front"/>
          <p:cNvSpPr/>
          <p:nvPr/>
        </p:nvSpPr>
        <p:spPr>
          <a:xfrm>
            <a:off x="6129867" y="4375896"/>
            <a:ext cx="3793067" cy="1334347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0" name="shared-payload-services"/>
          <p:cNvSpPr/>
          <p:nvPr/>
        </p:nvSpPr>
        <p:spPr>
          <a:xfrm>
            <a:off x="7095067" y="4768749"/>
            <a:ext cx="2760133" cy="6604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1" name="cpu-ara-command"/>
          <p:cNvSpPr/>
          <p:nvPr/>
        </p:nvSpPr>
        <p:spPr>
          <a:xfrm>
            <a:off x="1172633" y="1212749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2" name="ara-filter-edge"/>
          <p:cNvSpPr/>
          <p:nvPr/>
        </p:nvSpPr>
        <p:spPr>
          <a:xfrm>
            <a:off x="1731433" y="1432882"/>
            <a:ext cx="1" cy="152400"/>
          </a:xfrm>
          <a:custGeom>
            <a:avLst/>
            <a:gdLst/>
            <a:ahLst/>
            <a:cxnLst/>
            <a:rect l="0" t="0" r="r" b="b"/>
            <a:pathLst>
              <a:path w="1" h="152400" fill="none">
                <a:moveTo>
                  <a:pt x="0" y="0"/>
                </a:moveTo>
                <a:lnTo>
                  <a:pt x="0" y="15240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3" name="filter-width"/>
          <p:cNvSpPr/>
          <p:nvPr/>
        </p:nvSpPr>
        <p:spPr>
          <a:xfrm>
            <a:off x="2053167" y="1730909"/>
            <a:ext cx="745067" cy="1"/>
          </a:xfrm>
          <a:custGeom>
            <a:avLst/>
            <a:gdLst/>
            <a:ahLst/>
            <a:cxnLst/>
            <a:rect l="0" t="0" r="r" b="b"/>
            <a:pathLst>
              <a:path w="745067" h="1" fill="none">
                <a:moveTo>
                  <a:pt x="0" y="0"/>
                </a:moveTo>
                <a:lnTo>
                  <a:pt x="745067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4" name="npu-gb"/>
          <p:cNvSpPr/>
          <p:nvPr/>
        </p:nvSpPr>
        <p:spPr>
          <a:xfrm>
            <a:off x="4593167" y="1382082"/>
            <a:ext cx="118533" cy="1"/>
          </a:xfrm>
          <a:custGeom>
            <a:avLst/>
            <a:gdLst/>
            <a:ahLst/>
            <a:cxnLst/>
            <a:rect l="0" t="0" r="r" b="b"/>
            <a:pathLst>
              <a:path w="118533" h="1" fill="none">
                <a:moveTo>
                  <a:pt x="0" y="0"/>
                </a:moveTo>
                <a:lnTo>
                  <a:pt x="118533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5" name="adapter-sram"/>
          <p:cNvSpPr/>
          <p:nvPr/>
        </p:nvSpPr>
        <p:spPr>
          <a:xfrm>
            <a:off x="5490633" y="1449816"/>
            <a:ext cx="135467" cy="1"/>
          </a:xfrm>
          <a:custGeom>
            <a:avLst/>
            <a:gdLst/>
            <a:ahLst/>
            <a:cxnLst/>
            <a:rect l="0" t="0" r="r" b="b"/>
            <a:pathLst>
              <a:path w="135467" h="1" fill="none">
                <a:moveTo>
                  <a:pt x="0" y="0"/>
                </a:moveTo>
                <a:lnTo>
                  <a:pt x="135467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6" name="mover-gb"/>
          <p:cNvSpPr/>
          <p:nvPr/>
        </p:nvSpPr>
        <p:spPr>
          <a:xfrm>
            <a:off x="5490633" y="1907016"/>
            <a:ext cx="135467" cy="1"/>
          </a:xfrm>
          <a:custGeom>
            <a:avLst/>
            <a:gdLst/>
            <a:ahLst/>
            <a:cxnLst/>
            <a:rect l="0" t="0" r="r" b="b"/>
            <a:pathLst>
              <a:path w="135467" h="1" fill="none">
                <a:moveTo>
                  <a:pt x="135467" y="0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7" name="lvds-rx-to-rx-cdc"/>
          <p:cNvSpPr/>
          <p:nvPr/>
        </p:nvSpPr>
        <p:spPr>
          <a:xfrm>
            <a:off x="8250767" y="1517549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0" y="0"/>
                </a:moveTo>
                <a:lnTo>
                  <a:pt x="10160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8" name="rx-cdc-to-isp"/>
          <p:cNvSpPr/>
          <p:nvPr/>
        </p:nvSpPr>
        <p:spPr>
          <a:xfrm>
            <a:off x="8894233" y="1517549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0" y="0"/>
                </a:moveTo>
                <a:lnTo>
                  <a:pt x="10160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9" name="isp-to-frame-select"/>
          <p:cNvSpPr/>
          <p:nvPr/>
        </p:nvSpPr>
        <p:spPr>
          <a:xfrm>
            <a:off x="9554633" y="1517549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0" y="0"/>
                </a:moveTo>
                <a:lnTo>
                  <a:pt x="10160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0" name="frame-select-to-frame-dma"/>
          <p:cNvSpPr/>
          <p:nvPr/>
        </p:nvSpPr>
        <p:spPr>
          <a:xfrm>
            <a:off x="10265833" y="1517549"/>
            <a:ext cx="118533" cy="1"/>
          </a:xfrm>
          <a:custGeom>
            <a:avLst/>
            <a:gdLst/>
            <a:ahLst/>
            <a:cxnLst/>
            <a:rect l="0" t="0" r="r" b="b"/>
            <a:pathLst>
              <a:path w="118533" h="1" fill="none">
                <a:moveTo>
                  <a:pt x="0" y="0"/>
                </a:moveTo>
                <a:lnTo>
                  <a:pt x="118533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1" name="raw-bypass"/>
          <p:cNvSpPr/>
          <p:nvPr/>
        </p:nvSpPr>
        <p:spPr>
          <a:xfrm>
            <a:off x="8623300" y="1060349"/>
            <a:ext cx="1337733" cy="152400"/>
          </a:xfrm>
          <a:custGeom>
            <a:avLst/>
            <a:gdLst/>
            <a:ahLst/>
            <a:cxnLst/>
            <a:rect l="0" t="0" r="r" b="b"/>
            <a:pathLst>
              <a:path w="1337733" h="152400" fill="none">
                <a:moveTo>
                  <a:pt x="0" y="152400"/>
                </a:moveTo>
                <a:lnTo>
                  <a:pt x="0" y="0"/>
                </a:lnTo>
                <a:lnTo>
                  <a:pt x="1337733" y="0"/>
                </a:lnTo>
                <a:lnTo>
                  <a:pt x="1337733" y="15240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2" name="isp-gb"/>
          <p:cNvSpPr/>
          <p:nvPr/>
        </p:nvSpPr>
        <p:spPr>
          <a:xfrm>
            <a:off x="5101167" y="1703816"/>
            <a:ext cx="3894667" cy="524933"/>
          </a:xfrm>
          <a:custGeom>
            <a:avLst/>
            <a:gdLst/>
            <a:ahLst/>
            <a:cxnLst/>
            <a:rect l="0" t="0" r="r" b="b"/>
            <a:pathLst>
              <a:path w="3894667" h="524933" fill="none">
                <a:moveTo>
                  <a:pt x="3894667" y="0"/>
                </a:moveTo>
                <a:lnTo>
                  <a:pt x="3839633" y="0"/>
                </a:lnTo>
                <a:lnTo>
                  <a:pt x="3839633" y="524933"/>
                </a:lnTo>
                <a:lnTo>
                  <a:pt x="0" y="524933"/>
                </a:lnTo>
                <a:lnTo>
                  <a:pt x="0" y="355600"/>
                </a:lnTo>
              </a:path>
            </a:pathLst>
          </a:custGeom>
          <a:noFill/>
          <a:ln w="16256" cap="flat">
            <a:solidFill>
              <a:srgbClr val="187C78"/>
            </a:solidFill>
            <a:custDash>
              <a:ds d="375000" sp="229167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3" name="master-1"/>
          <p:cNvSpPr/>
          <p:nvPr/>
        </p:nvSpPr>
        <p:spPr>
          <a:xfrm>
            <a:off x="1838678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4" name="master-3"/>
          <p:cNvSpPr/>
          <p:nvPr/>
        </p:nvSpPr>
        <p:spPr>
          <a:xfrm>
            <a:off x="3968515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5" name="master-4"/>
          <p:cNvSpPr/>
          <p:nvPr/>
        </p:nvSpPr>
        <p:spPr>
          <a:xfrm>
            <a:off x="5033433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6" name="master-5"/>
          <p:cNvSpPr/>
          <p:nvPr/>
        </p:nvSpPr>
        <p:spPr>
          <a:xfrm>
            <a:off x="6098352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7" name="master-6"/>
          <p:cNvSpPr/>
          <p:nvPr/>
        </p:nvSpPr>
        <p:spPr>
          <a:xfrm>
            <a:off x="7163270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8" name="master-7"/>
          <p:cNvSpPr/>
          <p:nvPr/>
        </p:nvSpPr>
        <p:spPr>
          <a:xfrm>
            <a:off x="8228189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9" name="master-8"/>
          <p:cNvSpPr/>
          <p:nvPr/>
        </p:nvSpPr>
        <p:spPr>
          <a:xfrm>
            <a:off x="9293107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0" name="cpu-xbar"/>
          <p:cNvSpPr/>
          <p:nvPr/>
        </p:nvSpPr>
        <p:spPr>
          <a:xfrm>
            <a:off x="773759" y="1737682"/>
            <a:ext cx="1" cy="1120987"/>
          </a:xfrm>
          <a:custGeom>
            <a:avLst/>
            <a:gdLst/>
            <a:ahLst/>
            <a:cxnLst/>
            <a:rect l="0" t="0" r="r" b="b"/>
            <a:pathLst>
              <a:path w="1" h="1120987" fill="none">
                <a:moveTo>
                  <a:pt x="0" y="0"/>
                </a:moveTo>
                <a:lnTo>
                  <a:pt x="0" y="1120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1" name="ara-xbar"/>
          <p:cNvSpPr/>
          <p:nvPr/>
        </p:nvSpPr>
        <p:spPr>
          <a:xfrm>
            <a:off x="2903596" y="1876536"/>
            <a:ext cx="148637" cy="982133"/>
          </a:xfrm>
          <a:custGeom>
            <a:avLst/>
            <a:gdLst/>
            <a:ahLst/>
            <a:cxnLst/>
            <a:rect l="0" t="0" r="r" b="b"/>
            <a:pathLst>
              <a:path w="148637" h="982133" fill="none">
                <a:moveTo>
                  <a:pt x="148637" y="0"/>
                </a:moveTo>
                <a:lnTo>
                  <a:pt x="148637" y="453813"/>
                </a:lnTo>
                <a:lnTo>
                  <a:pt x="0" y="453813"/>
                </a:lnTo>
                <a:lnTo>
                  <a:pt x="0" y="98213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2" name="target-0"/>
          <p:cNvSpPr/>
          <p:nvPr/>
        </p:nvSpPr>
        <p:spPr>
          <a:xfrm>
            <a:off x="925890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3" name="target-1"/>
          <p:cNvSpPr/>
          <p:nvPr/>
        </p:nvSpPr>
        <p:spPr>
          <a:xfrm>
            <a:off x="2295071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4" name="target-2"/>
          <p:cNvSpPr/>
          <p:nvPr/>
        </p:nvSpPr>
        <p:spPr>
          <a:xfrm>
            <a:off x="3664252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5" name="atomics-llc"/>
          <p:cNvSpPr/>
          <p:nvPr/>
        </p:nvSpPr>
        <p:spPr>
          <a:xfrm>
            <a:off x="3647319" y="3928856"/>
            <a:ext cx="84667" cy="1"/>
          </a:xfrm>
          <a:custGeom>
            <a:avLst/>
            <a:gdLst/>
            <a:ahLst/>
            <a:cxnLst/>
            <a:rect l="0" t="0" r="r" b="b"/>
            <a:pathLst>
              <a:path w="84667" h="1" fill="none">
                <a:moveTo>
                  <a:pt x="0" y="0"/>
                </a:moveTo>
                <a:lnTo>
                  <a:pt x="84667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6" name="target-3"/>
          <p:cNvSpPr/>
          <p:nvPr/>
        </p:nvSpPr>
        <p:spPr>
          <a:xfrm>
            <a:off x="5033433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7" name="target-4"/>
          <p:cNvSpPr/>
          <p:nvPr/>
        </p:nvSpPr>
        <p:spPr>
          <a:xfrm>
            <a:off x="6402614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8" name="target-5"/>
          <p:cNvSpPr/>
          <p:nvPr/>
        </p:nvSpPr>
        <p:spPr>
          <a:xfrm>
            <a:off x="7771795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9" name="target-6"/>
          <p:cNvSpPr/>
          <p:nvPr/>
        </p:nvSpPr>
        <p:spPr>
          <a:xfrm>
            <a:off x="9140976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0" name="m5-gb"/>
          <p:cNvSpPr/>
          <p:nvPr/>
        </p:nvSpPr>
        <p:spPr>
          <a:xfrm>
            <a:off x="4910667" y="2059416"/>
            <a:ext cx="5063067" cy="1778000"/>
          </a:xfrm>
          <a:custGeom>
            <a:avLst/>
            <a:gdLst/>
            <a:ahLst/>
            <a:cxnLst/>
            <a:rect l="0" t="0" r="r" b="b"/>
            <a:pathLst>
              <a:path w="5063067" h="1778000" fill="none">
                <a:moveTo>
                  <a:pt x="3470729" y="1778000"/>
                </a:moveTo>
                <a:lnTo>
                  <a:pt x="3539067" y="1778000"/>
                </a:lnTo>
                <a:lnTo>
                  <a:pt x="3539067" y="1422400"/>
                </a:lnTo>
                <a:lnTo>
                  <a:pt x="4209990" y="1422400"/>
                </a:lnTo>
                <a:cubicBezTo>
                  <a:pt x="4223536" y="1404338"/>
                  <a:pt x="4237083" y="1404338"/>
                  <a:pt x="4250630" y="1422400"/>
                </a:cubicBezTo>
                <a:lnTo>
                  <a:pt x="5063067" y="1422400"/>
                </a:lnTo>
                <a:lnTo>
                  <a:pt x="5063067" y="237067"/>
                </a:lnTo>
                <a:lnTo>
                  <a:pt x="0" y="237067"/>
                </a:ln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1" name="emmc-physical"/>
          <p:cNvSpPr/>
          <p:nvPr/>
        </p:nvSpPr>
        <p:spPr>
          <a:xfrm>
            <a:off x="8712482" y="2329220"/>
            <a:ext cx="2700584" cy="255129"/>
          </a:xfrm>
          <a:custGeom>
            <a:avLst/>
            <a:gdLst/>
            <a:ahLst/>
            <a:cxnLst/>
            <a:rect l="0" t="0" r="r" b="b"/>
            <a:pathLst>
              <a:path w="2700584" h="255129" fill="none">
                <a:moveTo>
                  <a:pt x="2700584" y="255129"/>
                </a:moveTo>
                <a:lnTo>
                  <a:pt x="2632851" y="255129"/>
                </a:lnTo>
                <a:lnTo>
                  <a:pt x="2632851" y="18062"/>
                </a:lnTo>
                <a:lnTo>
                  <a:pt x="1281571" y="18062"/>
                </a:lnTo>
                <a:cubicBezTo>
                  <a:pt x="1268024" y="0"/>
                  <a:pt x="1254478" y="0"/>
                  <a:pt x="1240931" y="18062"/>
                </a:cubicBezTo>
                <a:lnTo>
                  <a:pt x="38664" y="18062"/>
                </a:lnTo>
                <a:lnTo>
                  <a:pt x="38664" y="255129"/>
                </a:lnTo>
                <a:lnTo>
                  <a:pt x="0" y="255129"/>
                </a:lnTo>
              </a:path>
            </a:pathLst>
          </a:custGeom>
          <a:noFill/>
          <a:ln w="16256" cap="flat">
            <a:solidFill>
              <a:srgbClr val="93939D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2" name="bridge-regbus"/>
          <p:cNvSpPr/>
          <p:nvPr/>
        </p:nvSpPr>
        <p:spPr>
          <a:xfrm>
            <a:off x="2295071" y="4108349"/>
            <a:ext cx="1" cy="270933"/>
          </a:xfrm>
          <a:custGeom>
            <a:avLst/>
            <a:gdLst/>
            <a:ahLst/>
            <a:cxnLst/>
            <a:rect l="0" t="0" r="r" b="b"/>
            <a:pathLst>
              <a:path w="1" h="270933" fill="none">
                <a:moveTo>
                  <a:pt x="0" y="0"/>
                </a:moveTo>
                <a:lnTo>
                  <a:pt x="0" y="270933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3" name="reg-column-0"/>
          <p:cNvSpPr/>
          <p:nvPr/>
        </p:nvSpPr>
        <p:spPr>
          <a:xfrm>
            <a:off x="285327" y="4599416"/>
            <a:ext cx="1" cy="1060027"/>
          </a:xfrm>
          <a:custGeom>
            <a:avLst/>
            <a:gdLst/>
            <a:ahLst/>
            <a:cxnLst/>
            <a:rect l="0" t="0" r="r" b="b"/>
            <a:pathLst>
              <a:path w="1" h="1060027" fill="none">
                <a:moveTo>
                  <a:pt x="0" y="0"/>
                </a:moveTo>
                <a:lnTo>
                  <a:pt x="0" y="1060027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4" name="bootrom-cfg"/>
          <p:cNvSpPr/>
          <p:nvPr/>
        </p:nvSpPr>
        <p:spPr>
          <a:xfrm>
            <a:off x="285327" y="476536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5" name="uart-cfg"/>
          <p:cNvSpPr/>
          <p:nvPr/>
        </p:nvSpPr>
        <p:spPr>
          <a:xfrm>
            <a:off x="285327" y="5063389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6" name="vga-regs-cfg"/>
          <p:cNvSpPr/>
          <p:nvPr/>
        </p:nvSpPr>
        <p:spPr>
          <a:xfrm>
            <a:off x="285327" y="5361416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7" name="irq-router-cfg"/>
          <p:cNvSpPr/>
          <p:nvPr/>
        </p:nvSpPr>
        <p:spPr>
          <a:xfrm>
            <a:off x="285327" y="565944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8" name="reg-column-1"/>
          <p:cNvSpPr/>
          <p:nvPr/>
        </p:nvSpPr>
        <p:spPr>
          <a:xfrm>
            <a:off x="1402927" y="4599416"/>
            <a:ext cx="1" cy="1060027"/>
          </a:xfrm>
          <a:custGeom>
            <a:avLst/>
            <a:gdLst/>
            <a:ahLst/>
            <a:cxnLst/>
            <a:rect l="0" t="0" r="r" b="b"/>
            <a:pathLst>
              <a:path w="1" h="1060027" fill="none">
                <a:moveTo>
                  <a:pt x="0" y="0"/>
                </a:moveTo>
                <a:lnTo>
                  <a:pt x="0" y="1060027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9" name="clint-cfg"/>
          <p:cNvSpPr/>
          <p:nvPr/>
        </p:nvSpPr>
        <p:spPr>
          <a:xfrm>
            <a:off x="1402927" y="476536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0" name="i2c-cfg"/>
          <p:cNvSpPr/>
          <p:nvPr/>
        </p:nvSpPr>
        <p:spPr>
          <a:xfrm>
            <a:off x="1402927" y="5063389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1" name="usb-regs-cfg"/>
          <p:cNvSpPr/>
          <p:nvPr/>
        </p:nvSpPr>
        <p:spPr>
          <a:xfrm>
            <a:off x="1402927" y="5361416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2" name="axi-rt-config-cfg"/>
          <p:cNvSpPr/>
          <p:nvPr/>
        </p:nvSpPr>
        <p:spPr>
          <a:xfrm>
            <a:off x="1402927" y="565944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3" name="reg-column-2"/>
          <p:cNvSpPr/>
          <p:nvPr/>
        </p:nvSpPr>
        <p:spPr>
          <a:xfrm>
            <a:off x="2520527" y="4599416"/>
            <a:ext cx="1" cy="1060027"/>
          </a:xfrm>
          <a:custGeom>
            <a:avLst/>
            <a:gdLst/>
            <a:ahLst/>
            <a:cxnLst/>
            <a:rect l="0" t="0" r="r" b="b"/>
            <a:pathLst>
              <a:path w="1" h="1060027" fill="none">
                <a:moveTo>
                  <a:pt x="0" y="0"/>
                </a:moveTo>
                <a:lnTo>
                  <a:pt x="0" y="1060027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4" name="soc-regs-cfg"/>
          <p:cNvSpPr/>
          <p:nvPr/>
        </p:nvSpPr>
        <p:spPr>
          <a:xfrm>
            <a:off x="2520527" y="476536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5" name="spi-cfg"/>
          <p:cNvSpPr/>
          <p:nvPr/>
        </p:nvSpPr>
        <p:spPr>
          <a:xfrm>
            <a:off x="2520527" y="5063389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6" name="err-vga-cfg"/>
          <p:cNvSpPr/>
          <p:nvPr/>
        </p:nvSpPr>
        <p:spPr>
          <a:xfrm>
            <a:off x="2520527" y="5361416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7" name="clic-cfg"/>
          <p:cNvSpPr/>
          <p:nvPr/>
        </p:nvSpPr>
        <p:spPr>
          <a:xfrm>
            <a:off x="2520527" y="565944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8" name="reg-column-3"/>
          <p:cNvSpPr/>
          <p:nvPr/>
        </p:nvSpPr>
        <p:spPr>
          <a:xfrm>
            <a:off x="3638127" y="4599416"/>
            <a:ext cx="1" cy="1060027"/>
          </a:xfrm>
          <a:custGeom>
            <a:avLst/>
            <a:gdLst/>
            <a:ahLst/>
            <a:cxnLst/>
            <a:rect l="0" t="0" r="r" b="b"/>
            <a:pathLst>
              <a:path w="1" h="1060027" fill="none">
                <a:moveTo>
                  <a:pt x="0" y="0"/>
                </a:moveTo>
                <a:lnTo>
                  <a:pt x="0" y="1060027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9" name="plic-cfg"/>
          <p:cNvSpPr/>
          <p:nvPr/>
        </p:nvSpPr>
        <p:spPr>
          <a:xfrm>
            <a:off x="3638127" y="476536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0" name="gpio-cfg"/>
          <p:cNvSpPr/>
          <p:nvPr/>
        </p:nvSpPr>
        <p:spPr>
          <a:xfrm>
            <a:off x="3638127" y="5063389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1" name="err-dma-cfg"/>
          <p:cNvSpPr/>
          <p:nvPr/>
        </p:nvSpPr>
        <p:spPr>
          <a:xfrm>
            <a:off x="3638127" y="5361416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2" name="reg-error-cfg"/>
          <p:cNvSpPr/>
          <p:nvPr/>
        </p:nvSpPr>
        <p:spPr>
          <a:xfrm>
            <a:off x="3638127" y="565944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3" name="reg-column-4"/>
          <p:cNvSpPr/>
          <p:nvPr/>
        </p:nvSpPr>
        <p:spPr>
          <a:xfrm>
            <a:off x="4755727" y="4599416"/>
            <a:ext cx="1" cy="1060027"/>
          </a:xfrm>
          <a:custGeom>
            <a:avLst/>
            <a:gdLst/>
            <a:ahLst/>
            <a:cxnLst/>
            <a:rect l="0" t="0" r="r" b="b"/>
            <a:pathLst>
              <a:path w="1" h="1060027" fill="none">
                <a:moveTo>
                  <a:pt x="0" y="0"/>
                </a:moveTo>
                <a:lnTo>
                  <a:pt x="0" y="1060027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4" name="llc-regs-cfg"/>
          <p:cNvSpPr/>
          <p:nvPr/>
        </p:nvSpPr>
        <p:spPr>
          <a:xfrm>
            <a:off x="4755727" y="476536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5" name="slink-regs-cfg"/>
          <p:cNvSpPr/>
          <p:nvPr/>
        </p:nvSpPr>
        <p:spPr>
          <a:xfrm>
            <a:off x="4755727" y="5063389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6" name="err-cpu-cfg"/>
          <p:cNvSpPr/>
          <p:nvPr/>
        </p:nvSpPr>
        <p:spPr>
          <a:xfrm>
            <a:off x="4755727" y="5361416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7" name="reg-ext-cfg"/>
          <p:cNvSpPr/>
          <p:nvPr/>
        </p:nvSpPr>
        <p:spPr>
          <a:xfrm>
            <a:off x="4755727" y="565944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8" name="ddr-arb-0"/>
          <p:cNvSpPr/>
          <p:nvPr/>
        </p:nvSpPr>
        <p:spPr>
          <a:xfrm>
            <a:off x="6604000" y="5882962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9" name="ddr-arb-1"/>
          <p:cNvSpPr/>
          <p:nvPr/>
        </p:nvSpPr>
        <p:spPr>
          <a:xfrm>
            <a:off x="7535333" y="5882962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0" name="ddr-arb-2"/>
          <p:cNvSpPr/>
          <p:nvPr/>
        </p:nvSpPr>
        <p:spPr>
          <a:xfrm>
            <a:off x="8466667" y="5882962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1" name="ddr-arb-3"/>
          <p:cNvSpPr/>
          <p:nvPr/>
        </p:nvSpPr>
        <p:spPr>
          <a:xfrm>
            <a:off x="9398000" y="5882962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2" name="arb-rw"/>
          <p:cNvSpPr/>
          <p:nvPr/>
        </p:nvSpPr>
        <p:spPr>
          <a:xfrm>
            <a:off x="7001933" y="6072616"/>
            <a:ext cx="1" cy="33867"/>
          </a:xfrm>
          <a:custGeom>
            <a:avLst/>
            <a:gdLst/>
            <a:ahLst/>
            <a:cxnLst/>
            <a:rect l="0" t="0" r="r" b="b"/>
            <a:pathLst>
              <a:path w="1" h="33867" fill="none">
                <a:moveTo>
                  <a:pt x="0" y="0"/>
                </a:moveTo>
                <a:lnTo>
                  <a:pt x="0" y="3386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3" name="rw-command"/>
          <p:cNvSpPr/>
          <p:nvPr/>
        </p:nvSpPr>
        <p:spPr>
          <a:xfrm>
            <a:off x="7806267" y="6191149"/>
            <a:ext cx="406400" cy="1"/>
          </a:xfrm>
          <a:custGeom>
            <a:avLst/>
            <a:gdLst/>
            <a:ahLst/>
            <a:cxnLst/>
            <a:rect l="0" t="0" r="r" b="b"/>
            <a:pathLst>
              <a:path w="406400" h="1" fill="none">
                <a:moveTo>
                  <a:pt x="0" y="0"/>
                </a:moveTo>
                <a:lnTo>
                  <a:pt x="406400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4" name="controller-phy"/>
          <p:cNvSpPr/>
          <p:nvPr/>
        </p:nvSpPr>
        <p:spPr>
          <a:xfrm>
            <a:off x="9855200" y="6191149"/>
            <a:ext cx="406400" cy="135467"/>
          </a:xfrm>
          <a:custGeom>
            <a:avLst/>
            <a:gdLst/>
            <a:ahLst/>
            <a:cxnLst/>
            <a:rect l="0" t="0" r="r" b="b"/>
            <a:pathLst>
              <a:path w="406400" h="135467" fill="none">
                <a:moveTo>
                  <a:pt x="0" y="0"/>
                </a:moveTo>
                <a:lnTo>
                  <a:pt x="203200" y="0"/>
                </a:lnTo>
                <a:lnTo>
                  <a:pt x="203200" y="135467"/>
                </a:lnTo>
                <a:lnTo>
                  <a:pt x="406400" y="135467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5" name="phy-ddr"/>
          <p:cNvSpPr/>
          <p:nvPr/>
        </p:nvSpPr>
        <p:spPr>
          <a:xfrm>
            <a:off x="11125200" y="6326616"/>
            <a:ext cx="376767" cy="1"/>
          </a:xfrm>
          <a:custGeom>
            <a:avLst/>
            <a:gdLst/>
            <a:ahLst/>
            <a:cxnLst/>
            <a:rect l="0" t="0" r="r" b="b"/>
            <a:pathLst>
              <a:path w="376767" h="1" fill="none">
                <a:moveTo>
                  <a:pt x="0" y="0"/>
                </a:moveTo>
                <a:lnTo>
                  <a:pt x="376767" y="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6" name="roi-vdma-control"/>
          <p:cNvSpPr/>
          <p:nvPr/>
        </p:nvSpPr>
        <p:spPr>
          <a:xfrm>
            <a:off x="10701867" y="4971949"/>
            <a:ext cx="1" cy="50800"/>
          </a:xfrm>
          <a:custGeom>
            <a:avLst/>
            <a:gdLst/>
            <a:ahLst/>
            <a:cxnLst/>
            <a:rect l="0" t="0" r="r" b="b"/>
            <a:pathLst>
              <a:path w="1" h="50800" fill="none">
                <a:moveTo>
                  <a:pt x="0" y="0"/>
                </a:moveTo>
                <a:lnTo>
                  <a:pt x="0" y="5080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7" name="vdma-pixels"/>
          <p:cNvSpPr/>
          <p:nvPr/>
        </p:nvSpPr>
        <p:spPr>
          <a:xfrm>
            <a:off x="10701867" y="5361416"/>
            <a:ext cx="1" cy="50800"/>
          </a:xfrm>
          <a:custGeom>
            <a:avLst/>
            <a:gdLst/>
            <a:ahLst/>
            <a:cxnLst/>
            <a:rect l="0" t="0" r="r" b="b"/>
            <a:pathLst>
              <a:path w="1" h="50800" fill="none">
                <a:moveTo>
                  <a:pt x="0" y="0"/>
                </a:moveTo>
                <a:lnTo>
                  <a:pt x="0" y="5080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8" name="fifo-lvds"/>
          <p:cNvSpPr/>
          <p:nvPr/>
        </p:nvSpPr>
        <p:spPr>
          <a:xfrm>
            <a:off x="10701867" y="5666216"/>
            <a:ext cx="1" cy="50800"/>
          </a:xfrm>
          <a:custGeom>
            <a:avLst/>
            <a:gdLst/>
            <a:ahLst/>
            <a:cxnLst/>
            <a:rect l="0" t="0" r="r" b="b"/>
            <a:pathLst>
              <a:path w="1" h="50800" fill="none">
                <a:moveTo>
                  <a:pt x="0" y="0"/>
                </a:moveTo>
                <a:lnTo>
                  <a:pt x="0" y="5080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9" name="llc-f0"/>
          <p:cNvSpPr/>
          <p:nvPr/>
        </p:nvSpPr>
        <p:spPr>
          <a:xfrm>
            <a:off x="4019852" y="4071096"/>
            <a:ext cx="2584148" cy="243840"/>
          </a:xfrm>
          <a:custGeom>
            <a:avLst/>
            <a:gdLst/>
            <a:ahLst/>
            <a:cxnLst/>
            <a:rect l="0" t="0" r="r" b="b"/>
            <a:pathLst>
              <a:path w="2584148" h="243840" fill="none">
                <a:moveTo>
                  <a:pt x="0" y="0"/>
                </a:moveTo>
                <a:lnTo>
                  <a:pt x="0" y="172720"/>
                </a:lnTo>
                <a:lnTo>
                  <a:pt x="2584148" y="172720"/>
                </a:lnTo>
                <a:lnTo>
                  <a:pt x="2584148" y="24384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0" name="mover-f1"/>
          <p:cNvSpPr/>
          <p:nvPr/>
        </p:nvSpPr>
        <p:spPr>
          <a:xfrm>
            <a:off x="7336367" y="1907016"/>
            <a:ext cx="2688167" cy="2407920"/>
          </a:xfrm>
          <a:custGeom>
            <a:avLst/>
            <a:gdLst/>
            <a:ahLst/>
            <a:cxnLst/>
            <a:rect l="0" t="0" r="r" b="b"/>
            <a:pathLst>
              <a:path w="2688167" h="2407920" fill="none">
                <a:moveTo>
                  <a:pt x="0" y="0"/>
                </a:moveTo>
                <a:lnTo>
                  <a:pt x="165100" y="0"/>
                </a:lnTo>
                <a:lnTo>
                  <a:pt x="165100" y="301413"/>
                </a:lnTo>
                <a:cubicBezTo>
                  <a:pt x="183162" y="314960"/>
                  <a:pt x="183162" y="328507"/>
                  <a:pt x="165100" y="342053"/>
                </a:cubicBezTo>
                <a:lnTo>
                  <a:pt x="165100" y="369147"/>
                </a:lnTo>
                <a:cubicBezTo>
                  <a:pt x="183162" y="382693"/>
                  <a:pt x="183162" y="396240"/>
                  <a:pt x="165100" y="409787"/>
                </a:cubicBezTo>
                <a:lnTo>
                  <a:pt x="165100" y="457200"/>
                </a:lnTo>
                <a:lnTo>
                  <a:pt x="1394460" y="457200"/>
                </a:lnTo>
                <a:cubicBezTo>
                  <a:pt x="1408007" y="439138"/>
                  <a:pt x="1421553" y="439138"/>
                  <a:pt x="1435100" y="457200"/>
                </a:cubicBezTo>
                <a:lnTo>
                  <a:pt x="2617047" y="457200"/>
                </a:lnTo>
                <a:cubicBezTo>
                  <a:pt x="2630593" y="439138"/>
                  <a:pt x="2644140" y="439138"/>
                  <a:pt x="2657687" y="457200"/>
                </a:cubicBezTo>
                <a:lnTo>
                  <a:pt x="2688167" y="457200"/>
                </a:lnTo>
                <a:lnTo>
                  <a:pt x="2688167" y="2269067"/>
                </a:lnTo>
                <a:lnTo>
                  <a:pt x="198967" y="2269067"/>
                </a:lnTo>
                <a:lnTo>
                  <a:pt x="198967" y="2407920"/>
                </a:lnTo>
              </a:path>
            </a:pathLst>
          </a:custGeom>
          <a:noFill/>
          <a:ln w="16256" cap="flat">
            <a:solidFill>
              <a:srgbClr val="314D66"/>
            </a:solidFill>
            <a:custDash>
              <a:ds d="375000" sp="229167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1" name="frame-f2"/>
          <p:cNvSpPr/>
          <p:nvPr/>
        </p:nvSpPr>
        <p:spPr>
          <a:xfrm>
            <a:off x="8466667" y="1686882"/>
            <a:ext cx="2727396" cy="2628053"/>
          </a:xfrm>
          <a:custGeom>
            <a:avLst/>
            <a:gdLst/>
            <a:ahLst/>
            <a:cxnLst/>
            <a:rect l="0" t="0" r="r" b="b"/>
            <a:pathLst>
              <a:path w="2727396" h="2628053" fill="none">
                <a:moveTo>
                  <a:pt x="2645833" y="0"/>
                </a:moveTo>
                <a:lnTo>
                  <a:pt x="2709333" y="0"/>
                </a:lnTo>
                <a:lnTo>
                  <a:pt x="2709333" y="640080"/>
                </a:lnTo>
                <a:cubicBezTo>
                  <a:pt x="2727396" y="653627"/>
                  <a:pt x="2727396" y="667173"/>
                  <a:pt x="2709333" y="680720"/>
                </a:cubicBezTo>
                <a:lnTo>
                  <a:pt x="2709333" y="2438400"/>
                </a:lnTo>
                <a:lnTo>
                  <a:pt x="1578187" y="2438400"/>
                </a:lnTo>
                <a:cubicBezTo>
                  <a:pt x="1564640" y="2420338"/>
                  <a:pt x="1551093" y="2420338"/>
                  <a:pt x="1537547" y="2438400"/>
                </a:cubicBezTo>
                <a:lnTo>
                  <a:pt x="0" y="2438400"/>
                </a:lnTo>
                <a:lnTo>
                  <a:pt x="0" y="2468880"/>
                </a:lnTo>
                <a:cubicBezTo>
                  <a:pt x="18062" y="2482427"/>
                  <a:pt x="18062" y="2495973"/>
                  <a:pt x="0" y="2509520"/>
                </a:cubicBezTo>
                <a:lnTo>
                  <a:pt x="0" y="2628053"/>
                </a:lnTo>
              </a:path>
            </a:pathLst>
          </a:custGeom>
          <a:noFill/>
          <a:ln w="16256" cap="flat">
            <a:solidFill>
              <a:srgbClr val="314D66"/>
            </a:solidFill>
            <a:custDash>
              <a:ds d="375000" sp="229167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2" name="roi-f3-request"/>
          <p:cNvSpPr/>
          <p:nvPr/>
        </p:nvSpPr>
        <p:spPr>
          <a:xfrm>
            <a:off x="9398000" y="4277682"/>
            <a:ext cx="863600" cy="812800"/>
          </a:xfrm>
          <a:custGeom>
            <a:avLst/>
            <a:gdLst/>
            <a:ahLst/>
            <a:cxnLst/>
            <a:rect l="0" t="0" r="r" b="b"/>
            <a:pathLst>
              <a:path w="863600" h="812800" fill="none">
                <a:moveTo>
                  <a:pt x="863600" y="812800"/>
                </a:moveTo>
                <a:lnTo>
                  <a:pt x="677333" y="812800"/>
                </a:lnTo>
                <a:lnTo>
                  <a:pt x="677333" y="0"/>
                </a:lnTo>
                <a:lnTo>
                  <a:pt x="0" y="0"/>
                </a:lnTo>
                <a:lnTo>
                  <a:pt x="0" y="37253"/>
                </a:lnTo>
              </a:path>
            </a:pathLst>
          </a:custGeom>
          <a:noFill/>
          <a:ln w="16256" cap="flat">
            <a:solidFill>
              <a:srgbClr val="314D66"/>
            </a:solidFill>
            <a:custDash>
              <a:ds d="375000" sp="229167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3" name="front-input-0"/>
          <p:cNvSpPr/>
          <p:nvPr/>
        </p:nvSpPr>
        <p:spPr>
          <a:xfrm>
            <a:off x="6604000" y="4436856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4" name="front-input-1"/>
          <p:cNvSpPr/>
          <p:nvPr/>
        </p:nvSpPr>
        <p:spPr>
          <a:xfrm>
            <a:off x="7535333" y="4436856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5" name="front-input-2"/>
          <p:cNvSpPr/>
          <p:nvPr/>
        </p:nvSpPr>
        <p:spPr>
          <a:xfrm>
            <a:off x="8466667" y="4436856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6" name="front-input-3"/>
          <p:cNvSpPr/>
          <p:nvPr/>
        </p:nvSpPr>
        <p:spPr>
          <a:xfrm>
            <a:off x="9398000" y="4436856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7" name="adapt-address"/>
          <p:cNvSpPr/>
          <p:nvPr/>
        </p:nvSpPr>
        <p:spPr>
          <a:xfrm>
            <a:off x="6587067" y="4667149"/>
            <a:ext cx="1" cy="101600"/>
          </a:xfrm>
          <a:custGeom>
            <a:avLst/>
            <a:gdLst/>
            <a:ahLst/>
            <a:cxnLst/>
            <a:rect l="0" t="0" r="r" b="b"/>
            <a:pathLst>
              <a:path w="1" h="101600" fill="none">
                <a:moveTo>
                  <a:pt x="0" y="0"/>
                </a:moveTo>
                <a:lnTo>
                  <a:pt x="0" y="10160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8" name="address-downstream"/>
          <p:cNvSpPr/>
          <p:nvPr/>
        </p:nvSpPr>
        <p:spPr>
          <a:xfrm>
            <a:off x="6976533" y="4938082"/>
            <a:ext cx="40640" cy="552027"/>
          </a:xfrm>
          <a:custGeom>
            <a:avLst/>
            <a:gdLst/>
            <a:ahLst/>
            <a:cxnLst/>
            <a:rect l="0" t="0" r="r" b="b"/>
            <a:pathLst>
              <a:path w="40640" h="552027" fill="none">
                <a:moveTo>
                  <a:pt x="0" y="0"/>
                </a:moveTo>
                <a:lnTo>
                  <a:pt x="40640" y="0"/>
                </a:lnTo>
                <a:lnTo>
                  <a:pt x="40640" y="55202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9" name="b-response"/>
          <p:cNvSpPr/>
          <p:nvPr/>
        </p:nvSpPr>
        <p:spPr>
          <a:xfrm>
            <a:off x="6163733" y="4667149"/>
            <a:ext cx="84667" cy="907627"/>
          </a:xfrm>
          <a:custGeom>
            <a:avLst/>
            <a:gdLst/>
            <a:ahLst/>
            <a:cxnLst/>
            <a:rect l="0" t="0" r="r" b="b"/>
            <a:pathLst>
              <a:path w="84667" h="907627" fill="none">
                <a:moveTo>
                  <a:pt x="33867" y="907627"/>
                </a:moveTo>
                <a:lnTo>
                  <a:pt x="0" y="907627"/>
                </a:lnTo>
                <a:lnTo>
                  <a:pt x="0" y="67733"/>
                </a:lnTo>
                <a:lnTo>
                  <a:pt x="84667" y="67733"/>
                </a:lnTo>
                <a:lnTo>
                  <a:pt x="84667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0" name="metadata-control"/>
          <p:cNvSpPr/>
          <p:nvPr/>
        </p:nvSpPr>
        <p:spPr>
          <a:xfrm>
            <a:off x="6587067" y="5107416"/>
            <a:ext cx="1" cy="101600"/>
          </a:xfrm>
          <a:custGeom>
            <a:avLst/>
            <a:gdLst/>
            <a:ahLst/>
            <a:cxnLst/>
            <a:rect l="0" t="0" r="r" b="b"/>
            <a:pathLst>
              <a:path w="1" h="101600" fill="none">
                <a:moveTo>
                  <a:pt x="0" y="0"/>
                </a:moveTo>
                <a:lnTo>
                  <a:pt x="0" y="101600"/>
                </a:lnTo>
              </a:path>
            </a:pathLst>
          </a:custGeom>
          <a:noFill/>
          <a:ln w="16256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1" name="metadata-storage"/>
          <p:cNvSpPr/>
          <p:nvPr/>
        </p:nvSpPr>
        <p:spPr>
          <a:xfrm>
            <a:off x="6587067" y="5378349"/>
            <a:ext cx="1" cy="111760"/>
          </a:xfrm>
          <a:custGeom>
            <a:avLst/>
            <a:gdLst/>
            <a:ahLst/>
            <a:cxnLst/>
            <a:rect l="0" t="0" r="r" b="b"/>
            <a:pathLst>
              <a:path w="1" h="111760" fill="none">
                <a:moveTo>
                  <a:pt x="0" y="0"/>
                </a:moveTo>
                <a:lnTo>
                  <a:pt x="0" y="11176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2" name="adapt-compressor"/>
          <p:cNvSpPr/>
          <p:nvPr/>
        </p:nvSpPr>
        <p:spPr>
          <a:xfrm>
            <a:off x="7577667" y="4667149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0"/>
                </a:moveTo>
                <a:lnTo>
                  <a:pt x="0" y="23706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3" name="compressor-route"/>
          <p:cNvSpPr/>
          <p:nvPr/>
        </p:nvSpPr>
        <p:spPr>
          <a:xfrm>
            <a:off x="7577667" y="5293682"/>
            <a:ext cx="1" cy="196427"/>
          </a:xfrm>
          <a:custGeom>
            <a:avLst/>
            <a:gdLst/>
            <a:ahLst/>
            <a:cxnLst/>
            <a:rect l="0" t="0" r="r" b="b"/>
            <a:pathLst>
              <a:path w="1" h="196427" fill="none">
                <a:moveTo>
                  <a:pt x="0" y="0"/>
                </a:moveTo>
                <a:lnTo>
                  <a:pt x="0" y="19642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4" name="read-to-decoder"/>
          <p:cNvSpPr/>
          <p:nvPr/>
        </p:nvSpPr>
        <p:spPr>
          <a:xfrm>
            <a:off x="8483600" y="5293682"/>
            <a:ext cx="1" cy="196427"/>
          </a:xfrm>
          <a:custGeom>
            <a:avLst/>
            <a:gdLst/>
            <a:ahLst/>
            <a:cxnLst/>
            <a:rect l="0" t="0" r="r" b="b"/>
            <a:pathLst>
              <a:path w="1" h="196427" fill="none">
                <a:moveTo>
                  <a:pt x="0" y="196427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5" name="decoder-up"/>
          <p:cNvSpPr/>
          <p:nvPr/>
        </p:nvSpPr>
        <p:spPr>
          <a:xfrm>
            <a:off x="8483600" y="4667149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237067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6" name="adapt-plain-bypass"/>
          <p:cNvSpPr/>
          <p:nvPr/>
        </p:nvSpPr>
        <p:spPr>
          <a:xfrm>
            <a:off x="9389533" y="4667149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0"/>
                </a:moveTo>
                <a:lnTo>
                  <a:pt x="0" y="237067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7" name="plain-bypass-route"/>
          <p:cNvSpPr/>
          <p:nvPr/>
        </p:nvSpPr>
        <p:spPr>
          <a:xfrm>
            <a:off x="9389533" y="5293682"/>
            <a:ext cx="1" cy="196427"/>
          </a:xfrm>
          <a:custGeom>
            <a:avLst/>
            <a:gdLst/>
            <a:ahLst/>
            <a:cxnLst/>
            <a:rect l="0" t="0" r="r" b="b"/>
            <a:pathLst>
              <a:path w="1" h="196427" fill="none">
                <a:moveTo>
                  <a:pt x="0" y="0"/>
                </a:moveTo>
                <a:lnTo>
                  <a:pt x="0" y="196427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8" name="front-ddr-0"/>
          <p:cNvSpPr/>
          <p:nvPr/>
        </p:nvSpPr>
        <p:spPr>
          <a:xfrm>
            <a:off x="6604000" y="5659442"/>
            <a:ext cx="1" cy="128693"/>
          </a:xfrm>
          <a:custGeom>
            <a:avLst/>
            <a:gdLst/>
            <a:ahLst/>
            <a:cxnLst/>
            <a:rect l="0" t="0" r="r" b="b"/>
            <a:pathLst>
              <a:path w="1" h="128693" fill="none">
                <a:moveTo>
                  <a:pt x="0" y="0"/>
                </a:moveTo>
                <a:lnTo>
                  <a:pt x="0" y="128693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9" name="front-ddr-1"/>
          <p:cNvSpPr/>
          <p:nvPr/>
        </p:nvSpPr>
        <p:spPr>
          <a:xfrm>
            <a:off x="7535333" y="5659442"/>
            <a:ext cx="1" cy="128693"/>
          </a:xfrm>
          <a:custGeom>
            <a:avLst/>
            <a:gdLst/>
            <a:ahLst/>
            <a:cxnLst/>
            <a:rect l="0" t="0" r="r" b="b"/>
            <a:pathLst>
              <a:path w="1" h="128693" fill="none">
                <a:moveTo>
                  <a:pt x="0" y="0"/>
                </a:moveTo>
                <a:lnTo>
                  <a:pt x="0" y="128693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0" name="front-ddr-2"/>
          <p:cNvSpPr/>
          <p:nvPr/>
        </p:nvSpPr>
        <p:spPr>
          <a:xfrm>
            <a:off x="8466667" y="5659442"/>
            <a:ext cx="1" cy="128693"/>
          </a:xfrm>
          <a:custGeom>
            <a:avLst/>
            <a:gdLst/>
            <a:ahLst/>
            <a:cxnLst/>
            <a:rect l="0" t="0" r="r" b="b"/>
            <a:pathLst>
              <a:path w="1" h="128693" fill="none">
                <a:moveTo>
                  <a:pt x="0" y="0"/>
                </a:moveTo>
                <a:lnTo>
                  <a:pt x="0" y="128693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1" name="front-ddr-3"/>
          <p:cNvSpPr/>
          <p:nvPr/>
        </p:nvSpPr>
        <p:spPr>
          <a:xfrm>
            <a:off x="9398000" y="5659442"/>
            <a:ext cx="1" cy="128693"/>
          </a:xfrm>
          <a:custGeom>
            <a:avLst/>
            <a:gdLst/>
            <a:ahLst/>
            <a:cxnLst/>
            <a:rect l="0" t="0" r="r" b="b"/>
            <a:pathLst>
              <a:path w="1" h="128693" fill="none">
                <a:moveTo>
                  <a:pt x="0" y="0"/>
                </a:moveTo>
                <a:lnTo>
                  <a:pt x="0" y="128693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2" name="regext-config"/>
          <p:cNvSpPr/>
          <p:nvPr/>
        </p:nvSpPr>
        <p:spPr>
          <a:xfrm>
            <a:off x="5846233" y="5659442"/>
            <a:ext cx="198967" cy="643805"/>
          </a:xfrm>
          <a:custGeom>
            <a:avLst/>
            <a:gdLst/>
            <a:ahLst/>
            <a:cxnLst/>
            <a:rect l="0" t="0" r="r" b="b"/>
            <a:pathLst>
              <a:path w="198967" h="643805" fill="none">
                <a:moveTo>
                  <a:pt x="0" y="0"/>
                </a:moveTo>
                <a:lnTo>
                  <a:pt x="198967" y="0"/>
                </a:lnTo>
                <a:lnTo>
                  <a:pt x="198967" y="643805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3" name="config-trunk-1"/>
          <p:cNvSpPr/>
          <p:nvPr/>
        </p:nvSpPr>
        <p:spPr>
          <a:xfrm>
            <a:off x="576157" y="5849096"/>
            <a:ext cx="5469043" cy="1"/>
          </a:xfrm>
          <a:custGeom>
            <a:avLst/>
            <a:gdLst/>
            <a:ahLst/>
            <a:cxnLst/>
            <a:rect l="0" t="0" r="r" b="b"/>
            <a:pathLst>
              <a:path w="5469043" h="1" fill="none">
                <a:moveTo>
                  <a:pt x="5469043" y="0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4" name="cfg-C1"/>
          <p:cNvSpPr/>
          <p:nvPr/>
        </p:nvSpPr>
        <p:spPr>
          <a:xfrm>
            <a:off x="576157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5" name="cfg-C2"/>
          <p:cNvSpPr/>
          <p:nvPr/>
        </p:nvSpPr>
        <p:spPr>
          <a:xfrm>
            <a:off x="1293283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6" name="cfg-C3"/>
          <p:cNvSpPr/>
          <p:nvPr/>
        </p:nvSpPr>
        <p:spPr>
          <a:xfrm>
            <a:off x="2010410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7" name="cfg-C4"/>
          <p:cNvSpPr/>
          <p:nvPr/>
        </p:nvSpPr>
        <p:spPr>
          <a:xfrm>
            <a:off x="2727537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8" name="cfg-C5"/>
          <p:cNvSpPr/>
          <p:nvPr/>
        </p:nvSpPr>
        <p:spPr>
          <a:xfrm>
            <a:off x="3444663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9" name="cfg-C6"/>
          <p:cNvSpPr/>
          <p:nvPr/>
        </p:nvSpPr>
        <p:spPr>
          <a:xfrm>
            <a:off x="4161790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0" name="cfg-C7"/>
          <p:cNvSpPr/>
          <p:nvPr/>
        </p:nvSpPr>
        <p:spPr>
          <a:xfrm>
            <a:off x="4878917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1" name="cfg-C8"/>
          <p:cNvSpPr/>
          <p:nvPr/>
        </p:nvSpPr>
        <p:spPr>
          <a:xfrm>
            <a:off x="5596043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2" name="config-trunk-2"/>
          <p:cNvSpPr/>
          <p:nvPr/>
        </p:nvSpPr>
        <p:spPr>
          <a:xfrm>
            <a:off x="576157" y="6303248"/>
            <a:ext cx="5469043" cy="1"/>
          </a:xfrm>
          <a:custGeom>
            <a:avLst/>
            <a:gdLst/>
            <a:ahLst/>
            <a:cxnLst/>
            <a:rect l="0" t="0" r="r" b="b"/>
            <a:pathLst>
              <a:path w="5469043" h="1" fill="none">
                <a:moveTo>
                  <a:pt x="5469043" y="0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3" name="cfg-C9"/>
          <p:cNvSpPr/>
          <p:nvPr/>
        </p:nvSpPr>
        <p:spPr>
          <a:xfrm>
            <a:off x="576157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4" name="cfg-C10"/>
          <p:cNvSpPr/>
          <p:nvPr/>
        </p:nvSpPr>
        <p:spPr>
          <a:xfrm>
            <a:off x="1293283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5" name="cfg-C11"/>
          <p:cNvSpPr/>
          <p:nvPr/>
        </p:nvSpPr>
        <p:spPr>
          <a:xfrm>
            <a:off x="2010410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6" name="cfg-C12"/>
          <p:cNvSpPr/>
          <p:nvPr/>
        </p:nvSpPr>
        <p:spPr>
          <a:xfrm>
            <a:off x="2727537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7" name="cfg-C13"/>
          <p:cNvSpPr/>
          <p:nvPr/>
        </p:nvSpPr>
        <p:spPr>
          <a:xfrm>
            <a:off x="3444663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8" name="cfg-C14"/>
          <p:cNvSpPr/>
          <p:nvPr/>
        </p:nvSpPr>
        <p:spPr>
          <a:xfrm>
            <a:off x="4161790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9" name="cfg-C15"/>
          <p:cNvSpPr/>
          <p:nvPr/>
        </p:nvSpPr>
        <p:spPr>
          <a:xfrm>
            <a:off x="4878917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0" name="cfg-C16"/>
          <p:cNvSpPr/>
          <p:nvPr/>
        </p:nvSpPr>
        <p:spPr>
          <a:xfrm>
            <a:off x="5596043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1" name="legend-axi-interface"/>
          <p:cNvSpPr/>
          <p:nvPr/>
        </p:nvSpPr>
        <p:spPr>
          <a:xfrm>
            <a:off x="10193867" y="2906082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2" name="legend-axi-request"/>
          <p:cNvSpPr/>
          <p:nvPr/>
        </p:nvSpPr>
        <p:spPr>
          <a:xfrm>
            <a:off x="10193867" y="3068643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3" name="legend-gb"/>
          <p:cNvSpPr/>
          <p:nvPr/>
        </p:nvSpPr>
        <p:spPr>
          <a:xfrm>
            <a:off x="10193867" y="3231202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4" name="legend-pixel"/>
          <p:cNvSpPr/>
          <p:nvPr/>
        </p:nvSpPr>
        <p:spPr>
          <a:xfrm>
            <a:off x="10193867" y="3393762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5" name="legend-cfg"/>
          <p:cNvSpPr/>
          <p:nvPr/>
        </p:nvSpPr>
        <p:spPr>
          <a:xfrm>
            <a:off x="10193867" y="3556323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6" name="legend-optional"/>
          <p:cNvSpPr/>
          <p:nvPr/>
        </p:nvSpPr>
        <p:spPr>
          <a:xfrm>
            <a:off x="10193867" y="3718882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93939D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7" name="junction-84.25-1407.0951771653542"/>
          <p:cNvSpPr/>
          <p:nvPr/>
        </p:nvSpPr>
        <p:spPr>
          <a:xfrm>
            <a:off x="268393" y="474842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8" name="junction-84.25-1495.0951771653542"/>
          <p:cNvSpPr/>
          <p:nvPr/>
        </p:nvSpPr>
        <p:spPr>
          <a:xfrm>
            <a:off x="268393" y="5046456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9" name="junction-84.25-1583.0951771653542"/>
          <p:cNvSpPr/>
          <p:nvPr/>
        </p:nvSpPr>
        <p:spPr>
          <a:xfrm>
            <a:off x="268393" y="534448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0" name="junction-84.25-1671.0951771653542"/>
          <p:cNvSpPr/>
          <p:nvPr/>
        </p:nvSpPr>
        <p:spPr>
          <a:xfrm>
            <a:off x="268393" y="564250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1" name="junction-414.25-1407.0951771653542"/>
          <p:cNvSpPr/>
          <p:nvPr/>
        </p:nvSpPr>
        <p:spPr>
          <a:xfrm>
            <a:off x="1385993" y="474842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2" name="junction-414.25-1495.0951771653542"/>
          <p:cNvSpPr/>
          <p:nvPr/>
        </p:nvSpPr>
        <p:spPr>
          <a:xfrm>
            <a:off x="1385993" y="5046456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3" name="junction-414.25-1583.0951771653542"/>
          <p:cNvSpPr/>
          <p:nvPr/>
        </p:nvSpPr>
        <p:spPr>
          <a:xfrm>
            <a:off x="1385993" y="534448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4" name="junction-414.25-1671.0951771653542"/>
          <p:cNvSpPr/>
          <p:nvPr/>
        </p:nvSpPr>
        <p:spPr>
          <a:xfrm>
            <a:off x="1385993" y="564250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5" name="junction-744.25-1407.0951771653542"/>
          <p:cNvSpPr/>
          <p:nvPr/>
        </p:nvSpPr>
        <p:spPr>
          <a:xfrm>
            <a:off x="2503593" y="474842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6" name="junction-744.25-1495.0951771653542"/>
          <p:cNvSpPr/>
          <p:nvPr/>
        </p:nvSpPr>
        <p:spPr>
          <a:xfrm>
            <a:off x="2503593" y="5046456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7" name="junction-744.25-1583.0951771653542"/>
          <p:cNvSpPr/>
          <p:nvPr/>
        </p:nvSpPr>
        <p:spPr>
          <a:xfrm>
            <a:off x="2503593" y="534448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8" name="junction-744.25-1671.0951771653542"/>
          <p:cNvSpPr/>
          <p:nvPr/>
        </p:nvSpPr>
        <p:spPr>
          <a:xfrm>
            <a:off x="2503593" y="564250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9" name="junction-1074.25-1407.0951771653542"/>
          <p:cNvSpPr/>
          <p:nvPr/>
        </p:nvSpPr>
        <p:spPr>
          <a:xfrm>
            <a:off x="3621193" y="474842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0" name="junction-1074.25-1495.0951771653542"/>
          <p:cNvSpPr/>
          <p:nvPr/>
        </p:nvSpPr>
        <p:spPr>
          <a:xfrm>
            <a:off x="3621193" y="5046456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1" name="junction-1074.25-1583.0951771653542"/>
          <p:cNvSpPr/>
          <p:nvPr/>
        </p:nvSpPr>
        <p:spPr>
          <a:xfrm>
            <a:off x="3621193" y="534448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2" name="junction-1074.25-1671.0951771653542"/>
          <p:cNvSpPr/>
          <p:nvPr/>
        </p:nvSpPr>
        <p:spPr>
          <a:xfrm>
            <a:off x="3621193" y="564250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3" name="junction-1404.25-1407.0951771653542"/>
          <p:cNvSpPr/>
          <p:nvPr/>
        </p:nvSpPr>
        <p:spPr>
          <a:xfrm>
            <a:off x="4738793" y="474842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4" name="junction-1404.25-1495.0951771653542"/>
          <p:cNvSpPr/>
          <p:nvPr/>
        </p:nvSpPr>
        <p:spPr>
          <a:xfrm>
            <a:off x="4738793" y="5046456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5" name="junction-1404.25-1583.0951771653542"/>
          <p:cNvSpPr/>
          <p:nvPr/>
        </p:nvSpPr>
        <p:spPr>
          <a:xfrm>
            <a:off x="4738793" y="534448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6" name="junction-1404.25-1671.0951771653542"/>
          <p:cNvSpPr/>
          <p:nvPr/>
        </p:nvSpPr>
        <p:spPr>
          <a:xfrm>
            <a:off x="4738793" y="564250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7" name="junction-1785-1727.0951771653542"/>
          <p:cNvSpPr/>
          <p:nvPr/>
        </p:nvSpPr>
        <p:spPr>
          <a:xfrm>
            <a:off x="6028267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8" name="junction-170.125-1727.0951771653542"/>
          <p:cNvSpPr/>
          <p:nvPr/>
        </p:nvSpPr>
        <p:spPr>
          <a:xfrm>
            <a:off x="559223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9" name="junction-381.875-1727.0951771653542"/>
          <p:cNvSpPr/>
          <p:nvPr/>
        </p:nvSpPr>
        <p:spPr>
          <a:xfrm>
            <a:off x="1276350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0" name="junction-593.625-1727.0951771653542"/>
          <p:cNvSpPr/>
          <p:nvPr/>
        </p:nvSpPr>
        <p:spPr>
          <a:xfrm>
            <a:off x="1993477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1" name="junction-805.375-1727.0951771653542"/>
          <p:cNvSpPr/>
          <p:nvPr/>
        </p:nvSpPr>
        <p:spPr>
          <a:xfrm>
            <a:off x="2710603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2" name="junction-1017.125-1727.0951771653542"/>
          <p:cNvSpPr/>
          <p:nvPr/>
        </p:nvSpPr>
        <p:spPr>
          <a:xfrm>
            <a:off x="3427730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3" name="junction-1228.875-1727.0951771653542"/>
          <p:cNvSpPr/>
          <p:nvPr/>
        </p:nvSpPr>
        <p:spPr>
          <a:xfrm>
            <a:off x="4144857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4" name="junction-1440.625-1727.0951771653542"/>
          <p:cNvSpPr/>
          <p:nvPr/>
        </p:nvSpPr>
        <p:spPr>
          <a:xfrm>
            <a:off x="4861983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5" name="junction-1652.375-1727.0951771653542"/>
          <p:cNvSpPr/>
          <p:nvPr/>
        </p:nvSpPr>
        <p:spPr>
          <a:xfrm>
            <a:off x="5579110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6" name="junction-1785-1861.1951771653542"/>
          <p:cNvSpPr/>
          <p:nvPr/>
        </p:nvSpPr>
        <p:spPr>
          <a:xfrm>
            <a:off x="6028267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7" name="junction-170.125-1861.1951771653542"/>
          <p:cNvSpPr/>
          <p:nvPr/>
        </p:nvSpPr>
        <p:spPr>
          <a:xfrm>
            <a:off x="559223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8" name="junction-381.875-1861.1951771653542"/>
          <p:cNvSpPr/>
          <p:nvPr/>
        </p:nvSpPr>
        <p:spPr>
          <a:xfrm>
            <a:off x="1276350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9" name="junction-593.625-1861.1951771653542"/>
          <p:cNvSpPr/>
          <p:nvPr/>
        </p:nvSpPr>
        <p:spPr>
          <a:xfrm>
            <a:off x="1993477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0" name="junction-805.375-1861.1951771653542"/>
          <p:cNvSpPr/>
          <p:nvPr/>
        </p:nvSpPr>
        <p:spPr>
          <a:xfrm>
            <a:off x="2710603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1" name="junction-1017.125-1861.1951771653542"/>
          <p:cNvSpPr/>
          <p:nvPr/>
        </p:nvSpPr>
        <p:spPr>
          <a:xfrm>
            <a:off x="3427730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2" name="junction-1228.875-1861.1951771653542"/>
          <p:cNvSpPr/>
          <p:nvPr/>
        </p:nvSpPr>
        <p:spPr>
          <a:xfrm>
            <a:off x="4144857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3" name="junction-1440.625-1861.1951771653542"/>
          <p:cNvSpPr/>
          <p:nvPr/>
        </p:nvSpPr>
        <p:spPr>
          <a:xfrm>
            <a:off x="4861983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4" name="junction-1652.375-1861.1951771653542"/>
          <p:cNvSpPr/>
          <p:nvPr/>
        </p:nvSpPr>
        <p:spPr>
          <a:xfrm>
            <a:off x="5579110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5" name="cva6"/>
          <p:cNvSpPr/>
          <p:nvPr/>
        </p:nvSpPr>
        <p:spPr>
          <a:xfrm>
            <a:off x="325967" y="1009549"/>
            <a:ext cx="846667" cy="7281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6" name="ara"/>
          <p:cNvSpPr/>
          <p:nvPr/>
        </p:nvSpPr>
        <p:spPr>
          <a:xfrm>
            <a:off x="1341967" y="1009549"/>
            <a:ext cx="1964267" cy="4233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7" name="ara-filter"/>
          <p:cNvSpPr/>
          <p:nvPr/>
        </p:nvSpPr>
        <p:spPr>
          <a:xfrm>
            <a:off x="1409700" y="1585282"/>
            <a:ext cx="643467" cy="29125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8" name="ara-width"/>
          <p:cNvSpPr/>
          <p:nvPr/>
        </p:nvSpPr>
        <p:spPr>
          <a:xfrm>
            <a:off x="2798233" y="1585282"/>
            <a:ext cx="508000" cy="29125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9" name="npu"/>
          <p:cNvSpPr/>
          <p:nvPr/>
        </p:nvSpPr>
        <p:spPr>
          <a:xfrm>
            <a:off x="3678767" y="1009549"/>
            <a:ext cx="914400" cy="592667"/>
          </a:xfrm>
          <a:prstGeom prst="rect">
            <a:avLst/>
          </a:prstGeom>
          <a:solidFill>
            <a:srgbClr val="F1D7D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0" name="badge-C6"/>
          <p:cNvSpPr/>
          <p:nvPr/>
        </p:nvSpPr>
        <p:spPr>
          <a:xfrm>
            <a:off x="4389967" y="1459976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1" name="gb-adapter"/>
          <p:cNvSpPr/>
          <p:nvPr/>
        </p:nvSpPr>
        <p:spPr>
          <a:xfrm>
            <a:off x="4711700" y="1263549"/>
            <a:ext cx="778933" cy="7958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2" name="global-buffer"/>
          <p:cNvSpPr/>
          <p:nvPr/>
        </p:nvSpPr>
        <p:spPr>
          <a:xfrm>
            <a:off x="5626100" y="1009549"/>
            <a:ext cx="1710267" cy="575733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3" name="badge-C9"/>
          <p:cNvSpPr/>
          <p:nvPr/>
        </p:nvSpPr>
        <p:spPr>
          <a:xfrm>
            <a:off x="7133167" y="1449816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4" name="gb-mover"/>
          <p:cNvSpPr/>
          <p:nvPr/>
        </p:nvSpPr>
        <p:spPr>
          <a:xfrm>
            <a:off x="5626100" y="1703816"/>
            <a:ext cx="1710267" cy="406400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5" name="badge-C7"/>
          <p:cNvSpPr/>
          <p:nvPr/>
        </p:nvSpPr>
        <p:spPr>
          <a:xfrm>
            <a:off x="7133167" y="198152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6" name="lvds-rx"/>
          <p:cNvSpPr/>
          <p:nvPr/>
        </p:nvSpPr>
        <p:spPr>
          <a:xfrm>
            <a:off x="7691967" y="1212749"/>
            <a:ext cx="558800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7" name="rx-cdc"/>
          <p:cNvSpPr/>
          <p:nvPr/>
        </p:nvSpPr>
        <p:spPr>
          <a:xfrm>
            <a:off x="8352367" y="1212749"/>
            <a:ext cx="541867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8" name="isp"/>
          <p:cNvSpPr/>
          <p:nvPr/>
        </p:nvSpPr>
        <p:spPr>
          <a:xfrm>
            <a:off x="8995833" y="1212749"/>
            <a:ext cx="558800" cy="626533"/>
          </a:xfrm>
          <a:prstGeom prst="rect">
            <a:avLst/>
          </a:prstGeom>
          <a:solidFill>
            <a:srgbClr val="F1D7D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9" name="frame-select"/>
          <p:cNvSpPr/>
          <p:nvPr/>
        </p:nvSpPr>
        <p:spPr>
          <a:xfrm>
            <a:off x="9656233" y="1212749"/>
            <a:ext cx="609600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0" name="frame-dma"/>
          <p:cNvSpPr/>
          <p:nvPr/>
        </p:nvSpPr>
        <p:spPr>
          <a:xfrm>
            <a:off x="10384367" y="1212749"/>
            <a:ext cx="728133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1" name="badge-C4"/>
          <p:cNvSpPr/>
          <p:nvPr/>
        </p:nvSpPr>
        <p:spPr>
          <a:xfrm>
            <a:off x="8047567" y="169704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2" name="badge-C5"/>
          <p:cNvSpPr/>
          <p:nvPr/>
        </p:nvSpPr>
        <p:spPr>
          <a:xfrm>
            <a:off x="9351433" y="169704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3" name="badge-C8"/>
          <p:cNvSpPr/>
          <p:nvPr/>
        </p:nvSpPr>
        <p:spPr>
          <a:xfrm>
            <a:off x="10909300" y="169704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4" name="axi-crossbar"/>
          <p:cNvSpPr/>
          <p:nvPr/>
        </p:nvSpPr>
        <p:spPr>
          <a:xfrm>
            <a:off x="241300" y="2906082"/>
            <a:ext cx="9584267" cy="457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5" name="xbar-in-S0"/>
          <p:cNvSpPr/>
          <p:nvPr/>
        </p:nvSpPr>
        <p:spPr>
          <a:xfrm>
            <a:off x="611199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6" name="xbar-in-S1"/>
          <p:cNvSpPr/>
          <p:nvPr/>
        </p:nvSpPr>
        <p:spPr>
          <a:xfrm>
            <a:off x="1676118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7" name="xbar-in-S2"/>
          <p:cNvSpPr/>
          <p:nvPr/>
        </p:nvSpPr>
        <p:spPr>
          <a:xfrm>
            <a:off x="2741036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8" name="xbar-in-S3"/>
          <p:cNvSpPr/>
          <p:nvPr/>
        </p:nvSpPr>
        <p:spPr>
          <a:xfrm>
            <a:off x="3805955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9" name="xbar-in-S4"/>
          <p:cNvSpPr/>
          <p:nvPr/>
        </p:nvSpPr>
        <p:spPr>
          <a:xfrm>
            <a:off x="4870873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0" name="xbar-in-S5"/>
          <p:cNvSpPr/>
          <p:nvPr/>
        </p:nvSpPr>
        <p:spPr>
          <a:xfrm>
            <a:off x="5935792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1" name="xbar-in-S6"/>
          <p:cNvSpPr/>
          <p:nvPr/>
        </p:nvSpPr>
        <p:spPr>
          <a:xfrm>
            <a:off x="7000710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2" name="xbar-in-S7"/>
          <p:cNvSpPr/>
          <p:nvPr/>
        </p:nvSpPr>
        <p:spPr>
          <a:xfrm>
            <a:off x="8065629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3" name="xbar-in-S_EXT"/>
          <p:cNvSpPr/>
          <p:nvPr/>
        </p:nvSpPr>
        <p:spPr>
          <a:xfrm>
            <a:off x="9130547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4" name="debug-sba"/>
          <p:cNvSpPr/>
          <p:nvPr/>
        </p:nvSpPr>
        <p:spPr>
          <a:xfrm>
            <a:off x="1354384" y="2415016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5" name="idma-master"/>
          <p:cNvSpPr/>
          <p:nvPr/>
        </p:nvSpPr>
        <p:spPr>
          <a:xfrm>
            <a:off x="3484221" y="2415016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6" name="slink-rx"/>
          <p:cNvSpPr/>
          <p:nvPr/>
        </p:nvSpPr>
        <p:spPr>
          <a:xfrm>
            <a:off x="4549140" y="2415016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7" name="vga"/>
          <p:cNvSpPr/>
          <p:nvPr/>
        </p:nvSpPr>
        <p:spPr>
          <a:xfrm>
            <a:off x="5614059" y="2415016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8" name="usb-dma"/>
          <p:cNvSpPr/>
          <p:nvPr/>
        </p:nvSpPr>
        <p:spPr>
          <a:xfrm>
            <a:off x="6678977" y="2415016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9" name="emmc-host"/>
          <p:cNvSpPr/>
          <p:nvPr/>
        </p:nvSpPr>
        <p:spPr>
          <a:xfrm>
            <a:off x="7743896" y="2415016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0" name="ext-master"/>
          <p:cNvSpPr/>
          <p:nvPr/>
        </p:nvSpPr>
        <p:spPr>
          <a:xfrm>
            <a:off x="8808814" y="2415016"/>
            <a:ext cx="968587" cy="338667"/>
          </a:xfrm>
          <a:prstGeom prst="rect">
            <a:avLst/>
          </a:prstGeom>
          <a:solidFill>
            <a:srgbClr val="F5F5F7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1" name="badge-C10"/>
          <p:cNvSpPr/>
          <p:nvPr/>
        </p:nvSpPr>
        <p:spPr>
          <a:xfrm>
            <a:off x="8505896" y="2648696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2" name="xbar-out-M0"/>
          <p:cNvSpPr/>
          <p:nvPr/>
        </p:nvSpPr>
        <p:spPr>
          <a:xfrm>
            <a:off x="763330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3" name="debug-target"/>
          <p:cNvSpPr/>
          <p:nvPr/>
        </p:nvSpPr>
        <p:spPr>
          <a:xfrm>
            <a:off x="316290" y="3583416"/>
            <a:ext cx="1219200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4" name="xbar-out-M1"/>
          <p:cNvSpPr/>
          <p:nvPr/>
        </p:nvSpPr>
        <p:spPr>
          <a:xfrm>
            <a:off x="2132511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5" name="reg-bridge"/>
          <p:cNvSpPr/>
          <p:nvPr/>
        </p:nvSpPr>
        <p:spPr>
          <a:xfrm>
            <a:off x="1685471" y="3583416"/>
            <a:ext cx="1219200" cy="52493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6" name="xbar-out-M2"/>
          <p:cNvSpPr/>
          <p:nvPr/>
        </p:nvSpPr>
        <p:spPr>
          <a:xfrm>
            <a:off x="3501692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7" name="memory-target"/>
          <p:cNvSpPr/>
          <p:nvPr/>
        </p:nvSpPr>
        <p:spPr>
          <a:xfrm>
            <a:off x="2986919" y="3583416"/>
            <a:ext cx="1354667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8" name="atomics"/>
          <p:cNvSpPr/>
          <p:nvPr/>
        </p:nvSpPr>
        <p:spPr>
          <a:xfrm>
            <a:off x="3020786" y="3786616"/>
            <a:ext cx="626533" cy="28448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9" name="llc-spm"/>
          <p:cNvSpPr/>
          <p:nvPr/>
        </p:nvSpPr>
        <p:spPr>
          <a:xfrm>
            <a:off x="3731986" y="3786616"/>
            <a:ext cx="575733" cy="28448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0" name="xbar-out-M3"/>
          <p:cNvSpPr/>
          <p:nvPr/>
        </p:nvSpPr>
        <p:spPr>
          <a:xfrm>
            <a:off x="4870873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1" name="idma-config"/>
          <p:cNvSpPr/>
          <p:nvPr/>
        </p:nvSpPr>
        <p:spPr>
          <a:xfrm>
            <a:off x="4423833" y="3583416"/>
            <a:ext cx="1219200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2" name="xbar-out-M4"/>
          <p:cNvSpPr/>
          <p:nvPr/>
        </p:nvSpPr>
        <p:spPr>
          <a:xfrm>
            <a:off x="6240054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3" name="slink-tx"/>
          <p:cNvSpPr/>
          <p:nvPr/>
        </p:nvSpPr>
        <p:spPr>
          <a:xfrm>
            <a:off x="5793014" y="3583416"/>
            <a:ext cx="1219200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4" name="xbar-out-M5"/>
          <p:cNvSpPr/>
          <p:nvPr/>
        </p:nvSpPr>
        <p:spPr>
          <a:xfrm>
            <a:off x="7609235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5" name="gb-interface"/>
          <p:cNvSpPr/>
          <p:nvPr/>
        </p:nvSpPr>
        <p:spPr>
          <a:xfrm>
            <a:off x="7162195" y="3583416"/>
            <a:ext cx="1219200" cy="524933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6" name="xbar-out-M_EXT"/>
          <p:cNvSpPr/>
          <p:nvPr/>
        </p:nvSpPr>
        <p:spPr>
          <a:xfrm>
            <a:off x="8978416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7" name="ext-target"/>
          <p:cNvSpPr/>
          <p:nvPr/>
        </p:nvSpPr>
        <p:spPr>
          <a:xfrm>
            <a:off x="8531376" y="3583416"/>
            <a:ext cx="1219200" cy="524933"/>
          </a:xfrm>
          <a:prstGeom prst="rect">
            <a:avLst/>
          </a:prstGeom>
          <a:solidFill>
            <a:srgbClr val="F5F5F7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8" name="emmc-device"/>
          <p:cNvSpPr/>
          <p:nvPr/>
        </p:nvSpPr>
        <p:spPr>
          <a:xfrm>
            <a:off x="11413067" y="2415016"/>
            <a:ext cx="711200" cy="338667"/>
          </a:xfrm>
          <a:prstGeom prst="rect">
            <a:avLst/>
          </a:prstGeom>
          <a:solidFill>
            <a:srgbClr val="EAECEE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9" name="regbus"/>
          <p:cNvSpPr/>
          <p:nvPr/>
        </p:nvSpPr>
        <p:spPr>
          <a:xfrm>
            <a:off x="241300" y="4379282"/>
            <a:ext cx="5689600" cy="22013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0" name="bootrom"/>
          <p:cNvSpPr/>
          <p:nvPr/>
        </p:nvSpPr>
        <p:spPr>
          <a:xfrm>
            <a:off x="359833" y="463328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1" name="uart"/>
          <p:cNvSpPr/>
          <p:nvPr/>
        </p:nvSpPr>
        <p:spPr>
          <a:xfrm>
            <a:off x="359833" y="4931309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2" name="vga-regs"/>
          <p:cNvSpPr/>
          <p:nvPr/>
        </p:nvSpPr>
        <p:spPr>
          <a:xfrm>
            <a:off x="359833" y="5229336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3" name="irq-router"/>
          <p:cNvSpPr/>
          <p:nvPr/>
        </p:nvSpPr>
        <p:spPr>
          <a:xfrm>
            <a:off x="359833" y="552736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4" name="clint"/>
          <p:cNvSpPr/>
          <p:nvPr/>
        </p:nvSpPr>
        <p:spPr>
          <a:xfrm>
            <a:off x="1477433" y="463328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5" name="i2c"/>
          <p:cNvSpPr/>
          <p:nvPr/>
        </p:nvSpPr>
        <p:spPr>
          <a:xfrm>
            <a:off x="1477433" y="4931309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6" name="usb-regs"/>
          <p:cNvSpPr/>
          <p:nvPr/>
        </p:nvSpPr>
        <p:spPr>
          <a:xfrm>
            <a:off x="1477433" y="5229336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7" name="axi-rt-config"/>
          <p:cNvSpPr/>
          <p:nvPr/>
        </p:nvSpPr>
        <p:spPr>
          <a:xfrm>
            <a:off x="1477433" y="552736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8" name="soc-regs"/>
          <p:cNvSpPr/>
          <p:nvPr/>
        </p:nvSpPr>
        <p:spPr>
          <a:xfrm>
            <a:off x="2595033" y="463328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9" name="spi"/>
          <p:cNvSpPr/>
          <p:nvPr/>
        </p:nvSpPr>
        <p:spPr>
          <a:xfrm>
            <a:off x="2595033" y="4931309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0" name="err-vga"/>
          <p:cNvSpPr/>
          <p:nvPr/>
        </p:nvSpPr>
        <p:spPr>
          <a:xfrm>
            <a:off x="2595033" y="5229336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1" name="clic"/>
          <p:cNvSpPr/>
          <p:nvPr/>
        </p:nvSpPr>
        <p:spPr>
          <a:xfrm>
            <a:off x="2595033" y="552736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2" name="plic"/>
          <p:cNvSpPr/>
          <p:nvPr/>
        </p:nvSpPr>
        <p:spPr>
          <a:xfrm>
            <a:off x="3712633" y="463328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3" name="gpio"/>
          <p:cNvSpPr/>
          <p:nvPr/>
        </p:nvSpPr>
        <p:spPr>
          <a:xfrm>
            <a:off x="3712633" y="4931309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4" name="err-dma"/>
          <p:cNvSpPr/>
          <p:nvPr/>
        </p:nvSpPr>
        <p:spPr>
          <a:xfrm>
            <a:off x="3712633" y="5229336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5" name="reg-error"/>
          <p:cNvSpPr/>
          <p:nvPr/>
        </p:nvSpPr>
        <p:spPr>
          <a:xfrm>
            <a:off x="3712633" y="552736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6" name="llc-regs"/>
          <p:cNvSpPr/>
          <p:nvPr/>
        </p:nvSpPr>
        <p:spPr>
          <a:xfrm>
            <a:off x="4830233" y="463328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7" name="slink-regs"/>
          <p:cNvSpPr/>
          <p:nvPr/>
        </p:nvSpPr>
        <p:spPr>
          <a:xfrm>
            <a:off x="4830233" y="4931309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8" name="err-cpu"/>
          <p:cNvSpPr/>
          <p:nvPr/>
        </p:nvSpPr>
        <p:spPr>
          <a:xfrm>
            <a:off x="4830233" y="5229336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9" name="reg-ext"/>
          <p:cNvSpPr/>
          <p:nvPr/>
        </p:nvSpPr>
        <p:spPr>
          <a:xfrm>
            <a:off x="4830233" y="552736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0" name="ddr-S0"/>
          <p:cNvSpPr/>
          <p:nvPr/>
        </p:nvSpPr>
        <p:spPr>
          <a:xfrm>
            <a:off x="6350000" y="5788136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1" name="ddr-S1"/>
          <p:cNvSpPr/>
          <p:nvPr/>
        </p:nvSpPr>
        <p:spPr>
          <a:xfrm>
            <a:off x="7281333" y="5788136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2" name="ddr-S2"/>
          <p:cNvSpPr/>
          <p:nvPr/>
        </p:nvSpPr>
        <p:spPr>
          <a:xfrm>
            <a:off x="8212667" y="5788136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3" name="ddr-S3"/>
          <p:cNvSpPr/>
          <p:nvPr/>
        </p:nvSpPr>
        <p:spPr>
          <a:xfrm>
            <a:off x="9144000" y="5788136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4" name="ddr-arb"/>
          <p:cNvSpPr/>
          <p:nvPr/>
        </p:nvSpPr>
        <p:spPr>
          <a:xfrm>
            <a:off x="6197600" y="5937149"/>
            <a:ext cx="3657600" cy="1354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5" name="ddr-rw"/>
          <p:cNvSpPr/>
          <p:nvPr/>
        </p:nvSpPr>
        <p:spPr>
          <a:xfrm>
            <a:off x="6197600" y="6106482"/>
            <a:ext cx="1608667" cy="1693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6" name="ddr-command"/>
          <p:cNvSpPr/>
          <p:nvPr/>
        </p:nvSpPr>
        <p:spPr>
          <a:xfrm>
            <a:off x="8212667" y="6106482"/>
            <a:ext cx="1642533" cy="1693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7" name="badge-C2"/>
          <p:cNvSpPr/>
          <p:nvPr/>
        </p:nvSpPr>
        <p:spPr>
          <a:xfrm>
            <a:off x="9652000" y="6292749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8" name="ddr-phy"/>
          <p:cNvSpPr/>
          <p:nvPr/>
        </p:nvSpPr>
        <p:spPr>
          <a:xfrm>
            <a:off x="10261600" y="6191149"/>
            <a:ext cx="863600" cy="338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9" name="badge-C3"/>
          <p:cNvSpPr/>
          <p:nvPr/>
        </p:nvSpPr>
        <p:spPr>
          <a:xfrm>
            <a:off x="10905067" y="642144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0" name="ddr-device"/>
          <p:cNvSpPr/>
          <p:nvPr/>
        </p:nvSpPr>
        <p:spPr>
          <a:xfrm>
            <a:off x="11501967" y="6191149"/>
            <a:ext cx="508000" cy="338667"/>
          </a:xfrm>
          <a:prstGeom prst="rect">
            <a:avLst/>
          </a:prstGeom>
          <a:solidFill>
            <a:srgbClr val="EAECEE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1" name="pll"/>
          <p:cNvSpPr/>
          <p:nvPr/>
        </p:nvSpPr>
        <p:spPr>
          <a:xfrm>
            <a:off x="7200900" y="6472581"/>
            <a:ext cx="1778000" cy="250613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2" name="badge-C1"/>
          <p:cNvSpPr/>
          <p:nvPr/>
        </p:nvSpPr>
        <p:spPr>
          <a:xfrm>
            <a:off x="8738447" y="654370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3" name="config-C1"/>
          <p:cNvSpPr/>
          <p:nvPr/>
        </p:nvSpPr>
        <p:spPr>
          <a:xfrm>
            <a:off x="241300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4" name="reg-badge-C1"/>
          <p:cNvSpPr/>
          <p:nvPr/>
        </p:nvSpPr>
        <p:spPr>
          <a:xfrm>
            <a:off x="265007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5" name="config-C2"/>
          <p:cNvSpPr/>
          <p:nvPr/>
        </p:nvSpPr>
        <p:spPr>
          <a:xfrm>
            <a:off x="958427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6" name="reg-badge-C2"/>
          <p:cNvSpPr/>
          <p:nvPr/>
        </p:nvSpPr>
        <p:spPr>
          <a:xfrm>
            <a:off x="982133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7" name="config-C3"/>
          <p:cNvSpPr/>
          <p:nvPr/>
        </p:nvSpPr>
        <p:spPr>
          <a:xfrm>
            <a:off x="1675553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8" name="reg-badge-C3"/>
          <p:cNvSpPr/>
          <p:nvPr/>
        </p:nvSpPr>
        <p:spPr>
          <a:xfrm>
            <a:off x="1699260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9" name="config-C4"/>
          <p:cNvSpPr/>
          <p:nvPr/>
        </p:nvSpPr>
        <p:spPr>
          <a:xfrm>
            <a:off x="2392680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0" name="reg-badge-C4"/>
          <p:cNvSpPr/>
          <p:nvPr/>
        </p:nvSpPr>
        <p:spPr>
          <a:xfrm>
            <a:off x="2416387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1" name="config-C5"/>
          <p:cNvSpPr/>
          <p:nvPr/>
        </p:nvSpPr>
        <p:spPr>
          <a:xfrm>
            <a:off x="3109807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2" name="reg-badge-C5"/>
          <p:cNvSpPr/>
          <p:nvPr/>
        </p:nvSpPr>
        <p:spPr>
          <a:xfrm>
            <a:off x="3133513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3" name="config-C6"/>
          <p:cNvSpPr/>
          <p:nvPr/>
        </p:nvSpPr>
        <p:spPr>
          <a:xfrm>
            <a:off x="3826933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4" name="reg-badge-C6"/>
          <p:cNvSpPr/>
          <p:nvPr/>
        </p:nvSpPr>
        <p:spPr>
          <a:xfrm>
            <a:off x="3850640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5" name="config-C7"/>
          <p:cNvSpPr/>
          <p:nvPr/>
        </p:nvSpPr>
        <p:spPr>
          <a:xfrm>
            <a:off x="4544060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6" name="reg-badge-C7"/>
          <p:cNvSpPr/>
          <p:nvPr/>
        </p:nvSpPr>
        <p:spPr>
          <a:xfrm>
            <a:off x="4567767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7" name="config-C8"/>
          <p:cNvSpPr/>
          <p:nvPr/>
        </p:nvSpPr>
        <p:spPr>
          <a:xfrm>
            <a:off x="5261187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8" name="reg-badge-C8"/>
          <p:cNvSpPr/>
          <p:nvPr/>
        </p:nvSpPr>
        <p:spPr>
          <a:xfrm>
            <a:off x="5284893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9" name="config-C9"/>
          <p:cNvSpPr/>
          <p:nvPr/>
        </p:nvSpPr>
        <p:spPr>
          <a:xfrm>
            <a:off x="241300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0" name="reg-badge-C9"/>
          <p:cNvSpPr/>
          <p:nvPr/>
        </p:nvSpPr>
        <p:spPr>
          <a:xfrm>
            <a:off x="265007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1" name="config-C10"/>
          <p:cNvSpPr/>
          <p:nvPr/>
        </p:nvSpPr>
        <p:spPr>
          <a:xfrm>
            <a:off x="958427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2" name="reg-badge-C10"/>
          <p:cNvSpPr/>
          <p:nvPr/>
        </p:nvSpPr>
        <p:spPr>
          <a:xfrm>
            <a:off x="982133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3" name="config-C11"/>
          <p:cNvSpPr/>
          <p:nvPr/>
        </p:nvSpPr>
        <p:spPr>
          <a:xfrm>
            <a:off x="1675553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4" name="reg-badge-C11"/>
          <p:cNvSpPr/>
          <p:nvPr/>
        </p:nvSpPr>
        <p:spPr>
          <a:xfrm>
            <a:off x="1699260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5" name="config-C12"/>
          <p:cNvSpPr/>
          <p:nvPr/>
        </p:nvSpPr>
        <p:spPr>
          <a:xfrm>
            <a:off x="2392680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6" name="reg-badge-C12"/>
          <p:cNvSpPr/>
          <p:nvPr/>
        </p:nvSpPr>
        <p:spPr>
          <a:xfrm>
            <a:off x="2416387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7" name="config-C13"/>
          <p:cNvSpPr/>
          <p:nvPr/>
        </p:nvSpPr>
        <p:spPr>
          <a:xfrm>
            <a:off x="3109807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8" name="reg-badge-C13"/>
          <p:cNvSpPr/>
          <p:nvPr/>
        </p:nvSpPr>
        <p:spPr>
          <a:xfrm>
            <a:off x="3133513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9" name="config-C14"/>
          <p:cNvSpPr/>
          <p:nvPr/>
        </p:nvSpPr>
        <p:spPr>
          <a:xfrm>
            <a:off x="3826933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0" name="reg-badge-C14"/>
          <p:cNvSpPr/>
          <p:nvPr/>
        </p:nvSpPr>
        <p:spPr>
          <a:xfrm>
            <a:off x="3850640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1" name="config-C15"/>
          <p:cNvSpPr/>
          <p:nvPr/>
        </p:nvSpPr>
        <p:spPr>
          <a:xfrm>
            <a:off x="4544060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2" name="reg-badge-C15"/>
          <p:cNvSpPr/>
          <p:nvPr/>
        </p:nvSpPr>
        <p:spPr>
          <a:xfrm>
            <a:off x="4567767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3" name="config-C16"/>
          <p:cNvSpPr/>
          <p:nvPr/>
        </p:nvSpPr>
        <p:spPr>
          <a:xfrm>
            <a:off x="5261187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4" name="reg-badge-C16"/>
          <p:cNvSpPr/>
          <p:nvPr/>
        </p:nvSpPr>
        <p:spPr>
          <a:xfrm>
            <a:off x="5284893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5" name="front-F0"/>
          <p:cNvSpPr/>
          <p:nvPr/>
        </p:nvSpPr>
        <p:spPr>
          <a:xfrm>
            <a:off x="6316133" y="4314936"/>
            <a:ext cx="575733" cy="12192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6" name="front-F1"/>
          <p:cNvSpPr/>
          <p:nvPr/>
        </p:nvSpPr>
        <p:spPr>
          <a:xfrm>
            <a:off x="7247467" y="4314936"/>
            <a:ext cx="575733" cy="12192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7" name="front-F2"/>
          <p:cNvSpPr/>
          <p:nvPr/>
        </p:nvSpPr>
        <p:spPr>
          <a:xfrm>
            <a:off x="8178800" y="4314936"/>
            <a:ext cx="575733" cy="12192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8" name="front-F3"/>
          <p:cNvSpPr/>
          <p:nvPr/>
        </p:nvSpPr>
        <p:spPr>
          <a:xfrm>
            <a:off x="9110133" y="4314936"/>
            <a:ext cx="575733" cy="12192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9" name="front-adapt"/>
          <p:cNvSpPr/>
          <p:nvPr/>
        </p:nvSpPr>
        <p:spPr>
          <a:xfrm>
            <a:off x="6197600" y="4491042"/>
            <a:ext cx="3657600" cy="17610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0" name="badge-C12"/>
          <p:cNvSpPr/>
          <p:nvPr/>
        </p:nvSpPr>
        <p:spPr>
          <a:xfrm>
            <a:off x="9652000" y="4535069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1" name="address-control"/>
          <p:cNvSpPr/>
          <p:nvPr/>
        </p:nvSpPr>
        <p:spPr>
          <a:xfrm>
            <a:off x="6197600" y="4768749"/>
            <a:ext cx="778933" cy="338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2" name="metadata"/>
          <p:cNvSpPr/>
          <p:nvPr/>
        </p:nvSpPr>
        <p:spPr>
          <a:xfrm>
            <a:off x="6197600" y="5209016"/>
            <a:ext cx="778933" cy="16933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3" name="compressor"/>
          <p:cNvSpPr/>
          <p:nvPr/>
        </p:nvSpPr>
        <p:spPr>
          <a:xfrm>
            <a:off x="7179733" y="4904216"/>
            <a:ext cx="795867" cy="389467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4" name="badge-C15"/>
          <p:cNvSpPr/>
          <p:nvPr/>
        </p:nvSpPr>
        <p:spPr>
          <a:xfrm>
            <a:off x="7206827" y="491776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5" name="decompressor"/>
          <p:cNvSpPr/>
          <p:nvPr/>
        </p:nvSpPr>
        <p:spPr>
          <a:xfrm>
            <a:off x="8085667" y="4904216"/>
            <a:ext cx="795867" cy="389467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6" name="badge-C16"/>
          <p:cNvSpPr/>
          <p:nvPr/>
        </p:nvSpPr>
        <p:spPr>
          <a:xfrm>
            <a:off x="8112760" y="491776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7" name="plain-bypass"/>
          <p:cNvSpPr/>
          <p:nvPr/>
        </p:nvSpPr>
        <p:spPr>
          <a:xfrm>
            <a:off x="8991600" y="4904216"/>
            <a:ext cx="795867" cy="3894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8" name="front-route"/>
          <p:cNvSpPr/>
          <p:nvPr/>
        </p:nvSpPr>
        <p:spPr>
          <a:xfrm>
            <a:off x="6197600" y="5490109"/>
            <a:ext cx="3657600" cy="1693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9" name="roi-scheduler"/>
          <p:cNvSpPr/>
          <p:nvPr/>
        </p:nvSpPr>
        <p:spPr>
          <a:xfrm>
            <a:off x="10261600" y="4633282"/>
            <a:ext cx="880533" cy="3386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0" name="badge-C11"/>
          <p:cNvSpPr/>
          <p:nvPr/>
        </p:nvSpPr>
        <p:spPr>
          <a:xfrm>
            <a:off x="10938933" y="4646829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1" name="roi-vdma"/>
          <p:cNvSpPr/>
          <p:nvPr/>
        </p:nvSpPr>
        <p:spPr>
          <a:xfrm>
            <a:off x="10261600" y="5022749"/>
            <a:ext cx="880533" cy="3386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2" name="badge-C13"/>
          <p:cNvSpPr/>
          <p:nvPr/>
        </p:nvSpPr>
        <p:spPr>
          <a:xfrm>
            <a:off x="10938933" y="5036296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3" name="roi-fifo"/>
          <p:cNvSpPr/>
          <p:nvPr/>
        </p:nvSpPr>
        <p:spPr>
          <a:xfrm>
            <a:off x="10261600" y="5412216"/>
            <a:ext cx="880533" cy="2540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4" name="lvds-tx"/>
          <p:cNvSpPr/>
          <p:nvPr/>
        </p:nvSpPr>
        <p:spPr>
          <a:xfrm>
            <a:off x="10261600" y="5717016"/>
            <a:ext cx="880533" cy="3386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5" name="badge-C14"/>
          <p:cNvSpPr/>
          <p:nvPr/>
        </p:nvSpPr>
        <p:spPr>
          <a:xfrm>
            <a:off x="10938933" y="573056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6" name="compute-title: CVA6–Ara 计算平台"/>
          <p:cNvSpPr txBox="1"/>
          <p:nvPr/>
        </p:nvSpPr>
        <p:spPr>
          <a:xfrm>
            <a:off x="1238652" y="728862"/>
            <a:ext cx="1171829" cy="1950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CVA6–Ara 计算平台</a:t>
            </a:r>
          </a:p>
        </p:txBody>
      </p:sp>
      <p:sp>
        <p:nvSpPr>
          <p:cNvPr id="1307" name="gb-region-title: NPU / 独立 Global Buffer 子系统"/>
          <p:cNvSpPr txBox="1"/>
          <p:nvPr/>
        </p:nvSpPr>
        <p:spPr>
          <a:xfrm>
            <a:off x="4586494" y="728862"/>
            <a:ext cx="1859079" cy="1950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独立 Global Buffer 子系统</a:t>
            </a:r>
          </a:p>
        </p:txBody>
      </p:sp>
      <p:sp>
        <p:nvSpPr>
          <p:cNvPr id="1308" name="image-rx-title: 图像采集与 ISP"/>
          <p:cNvSpPr txBox="1"/>
          <p:nvPr/>
        </p:nvSpPr>
        <p:spPr>
          <a:xfrm>
            <a:off x="8938972" y="728862"/>
            <a:ext cx="943457" cy="1950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图像采集与 ISP</a:t>
            </a:r>
          </a:p>
        </p:txBody>
      </p:sp>
      <p:sp>
        <p:nvSpPr>
          <p:cNvPr id="1309" name="cva6-t0: CVA6 core 0"/>
          <p:cNvSpPr txBox="1"/>
          <p:nvPr/>
        </p:nvSpPr>
        <p:spPr>
          <a:xfrm>
            <a:off x="401743" y="1175563"/>
            <a:ext cx="695113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 core 0</a:t>
            </a:r>
          </a:p>
        </p:txBody>
      </p:sp>
      <p:sp>
        <p:nvSpPr>
          <p:cNvPr id="1310" name="cva6-t1: L1 I / D cache"/>
          <p:cNvSpPr txBox="1"/>
          <p:nvPr/>
        </p:nvSpPr>
        <p:spPr>
          <a:xfrm>
            <a:off x="377777" y="1306560"/>
            <a:ext cx="743045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L1 I / D cache</a:t>
            </a:r>
          </a:p>
        </p:txBody>
      </p:sp>
      <p:sp>
        <p:nvSpPr>
          <p:cNvPr id="1311" name="cva6-t2: MMU / AXI 适配"/>
          <p:cNvSpPr txBox="1"/>
          <p:nvPr/>
        </p:nvSpPr>
        <p:spPr>
          <a:xfrm>
            <a:off x="367345" y="1429428"/>
            <a:ext cx="763910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MMU / AXI 适配</a:t>
            </a:r>
          </a:p>
        </p:txBody>
      </p:sp>
      <p:sp>
        <p:nvSpPr>
          <p:cNvPr id="1312" name="ara-t0: Ara 向量处理器"/>
          <p:cNvSpPr txBox="1"/>
          <p:nvPr/>
        </p:nvSpPr>
        <p:spPr>
          <a:xfrm>
            <a:off x="1905900" y="1080059"/>
            <a:ext cx="836401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Ara 向量处理器</a:t>
            </a:r>
          </a:p>
        </p:txBody>
      </p:sp>
      <p:sp>
        <p:nvSpPr>
          <p:cNvPr id="1313" name="ara-t1: 2 lanes · VLSU / AXI：64 bit"/>
          <p:cNvSpPr txBox="1"/>
          <p:nvPr/>
        </p:nvSpPr>
        <p:spPr>
          <a:xfrm>
            <a:off x="1637948" y="1211056"/>
            <a:ext cx="137230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2 lanes · VLSU / AXI：64 bit</a:t>
            </a:r>
          </a:p>
        </p:txBody>
      </p:sp>
      <p:sp>
        <p:nvSpPr>
          <p:cNvPr id="1314" name="ara-filter-t0: 失效过滤"/>
          <p:cNvSpPr txBox="1"/>
          <p:nvPr/>
        </p:nvSpPr>
        <p:spPr>
          <a:xfrm>
            <a:off x="1477433" y="1602893"/>
            <a:ext cx="5080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失效过滤</a:t>
            </a:r>
          </a:p>
        </p:txBody>
      </p:sp>
      <p:sp>
        <p:nvSpPr>
          <p:cNvPr id="1315" name="ara-filter-t1: 现有 filter"/>
          <p:cNvSpPr txBox="1"/>
          <p:nvPr/>
        </p:nvSpPr>
        <p:spPr>
          <a:xfrm>
            <a:off x="1500034" y="1726710"/>
            <a:ext cx="462799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现有 filter</a:t>
            </a:r>
          </a:p>
        </p:txBody>
      </p:sp>
      <p:sp>
        <p:nvSpPr>
          <p:cNvPr id="1316" name="ara-width-t0: 等宽透传"/>
          <p:cNvSpPr txBox="1"/>
          <p:nvPr/>
        </p:nvSpPr>
        <p:spPr>
          <a:xfrm>
            <a:off x="2798233" y="1602893"/>
            <a:ext cx="5080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等宽透传</a:t>
            </a:r>
          </a:p>
        </p:txBody>
      </p:sp>
      <p:sp>
        <p:nvSpPr>
          <p:cNvPr id="1317" name="ara-width-t1: 64 → 64 bit"/>
          <p:cNvSpPr txBox="1"/>
          <p:nvPr/>
        </p:nvSpPr>
        <p:spPr>
          <a:xfrm>
            <a:off x="2770653" y="1726710"/>
            <a:ext cx="56316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 → 64 bit</a:t>
            </a:r>
          </a:p>
        </p:txBody>
      </p:sp>
      <p:sp>
        <p:nvSpPr>
          <p:cNvPr id="1318" name="command-label: 指令 / MMU"/>
          <p:cNvSpPr txBox="1"/>
          <p:nvPr/>
        </p:nvSpPr>
        <p:spPr>
          <a:xfrm>
            <a:off x="971404" y="880585"/>
            <a:ext cx="563324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指令 / MMU</a:t>
            </a:r>
          </a:p>
        </p:txBody>
      </p:sp>
      <p:sp>
        <p:nvSpPr>
          <p:cNvPr id="1319" name="npu-t0: NPU 计算引擎"/>
          <p:cNvSpPr txBox="1"/>
          <p:nvPr/>
        </p:nvSpPr>
        <p:spPr>
          <a:xfrm>
            <a:off x="3772331" y="1177866"/>
            <a:ext cx="72727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计算引擎</a:t>
            </a:r>
          </a:p>
        </p:txBody>
      </p:sp>
      <p:sp>
        <p:nvSpPr>
          <p:cNvPr id="1320" name="npu-t1: GB 数据读写"/>
          <p:cNvSpPr txBox="1"/>
          <p:nvPr/>
        </p:nvSpPr>
        <p:spPr>
          <a:xfrm>
            <a:off x="3846351" y="1301683"/>
            <a:ext cx="579231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数据读写</a:t>
            </a:r>
          </a:p>
        </p:txBody>
      </p:sp>
      <p:sp>
        <p:nvSpPr>
          <p:cNvPr id="1321" name="badge-C6-text: C6"/>
          <p:cNvSpPr txBox="1"/>
          <p:nvPr/>
        </p:nvSpPr>
        <p:spPr>
          <a:xfrm>
            <a:off x="4400815" y="1450899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1322" name="gb-adapter-t0: GB 访问适配"/>
          <p:cNvSpPr txBox="1"/>
          <p:nvPr/>
        </p:nvSpPr>
        <p:spPr>
          <a:xfrm>
            <a:off x="4766998" y="1480634"/>
            <a:ext cx="66833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访问适配</a:t>
            </a:r>
          </a:p>
        </p:txBody>
      </p:sp>
      <p:sp>
        <p:nvSpPr>
          <p:cNvPr id="1323" name="gb-adapter-t1: 局部仲裁 / 路由"/>
          <p:cNvSpPr txBox="1"/>
          <p:nvPr/>
        </p:nvSpPr>
        <p:spPr>
          <a:xfrm>
            <a:off x="4743707" y="1604451"/>
            <a:ext cx="7149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局部仲裁 / 路由</a:t>
            </a:r>
          </a:p>
        </p:txBody>
      </p:sp>
      <p:sp>
        <p:nvSpPr>
          <p:cNvPr id="1324" name="gb-adapter-t2: bank 冲突处理"/>
          <p:cNvSpPr txBox="1"/>
          <p:nvPr/>
        </p:nvSpPr>
        <p:spPr>
          <a:xfrm>
            <a:off x="4774621" y="1710115"/>
            <a:ext cx="653092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bank 冲突处理</a:t>
            </a:r>
          </a:p>
        </p:txBody>
      </p:sp>
      <p:sp>
        <p:nvSpPr>
          <p:cNvPr id="1325" name="global-buffer-t0: Global Buffer"/>
          <p:cNvSpPr txBox="1"/>
          <p:nvPr/>
        </p:nvSpPr>
        <p:spPr>
          <a:xfrm>
            <a:off x="6119760" y="1103427"/>
            <a:ext cx="722948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Global Buffer</a:t>
            </a:r>
          </a:p>
        </p:txBody>
      </p:sp>
      <p:sp>
        <p:nvSpPr>
          <p:cNvPr id="1326" name="global-buffer-t1: 独立 SRAM · 分 bank"/>
          <p:cNvSpPr txBox="1"/>
          <p:nvPr/>
        </p:nvSpPr>
        <p:spPr>
          <a:xfrm>
            <a:off x="5998895" y="1235372"/>
            <a:ext cx="964676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 SRAM · 分 bank</a:t>
            </a:r>
          </a:p>
        </p:txBody>
      </p:sp>
      <p:sp>
        <p:nvSpPr>
          <p:cNvPr id="1327" name="global-buffer-t2: CPU / Ara / NPU / ISP"/>
          <p:cNvSpPr txBox="1"/>
          <p:nvPr/>
        </p:nvSpPr>
        <p:spPr>
          <a:xfrm>
            <a:off x="5964854" y="1349164"/>
            <a:ext cx="1032759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/ NPU / ISP</a:t>
            </a:r>
          </a:p>
        </p:txBody>
      </p:sp>
      <p:sp>
        <p:nvSpPr>
          <p:cNvPr id="1328" name="badge-C9-text: C9"/>
          <p:cNvSpPr txBox="1"/>
          <p:nvPr/>
        </p:nvSpPr>
        <p:spPr>
          <a:xfrm>
            <a:off x="7144015" y="1440739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sp>
        <p:nvSpPr>
          <p:cNvPr id="1329" name="gb-mover-t0: NPU / GB 搬运引擎"/>
          <p:cNvSpPr txBox="1"/>
          <p:nvPr/>
        </p:nvSpPr>
        <p:spPr>
          <a:xfrm>
            <a:off x="5995808" y="1779000"/>
            <a:ext cx="97085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搬运引擎</a:t>
            </a:r>
          </a:p>
        </p:txBody>
      </p:sp>
      <p:sp>
        <p:nvSpPr>
          <p:cNvPr id="1330" name="gb-mover-t1: DDR ↔ GB · AXI 主口"/>
          <p:cNvSpPr txBox="1"/>
          <p:nvPr/>
        </p:nvSpPr>
        <p:spPr>
          <a:xfrm>
            <a:off x="6027200" y="1902816"/>
            <a:ext cx="908066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↔ GB · AXI 主口</a:t>
            </a:r>
          </a:p>
        </p:txBody>
      </p:sp>
      <p:sp>
        <p:nvSpPr>
          <p:cNvPr id="1331" name="badge-C7-text: C7"/>
          <p:cNvSpPr txBox="1"/>
          <p:nvPr/>
        </p:nvSpPr>
        <p:spPr>
          <a:xfrm>
            <a:off x="7144015" y="1972446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sp>
        <p:nvSpPr>
          <p:cNvPr id="1332" name="lvds-rx-t0: LVDS 接收"/>
          <p:cNvSpPr txBox="1"/>
          <p:nvPr/>
        </p:nvSpPr>
        <p:spPr>
          <a:xfrm>
            <a:off x="7684971" y="1398000"/>
            <a:ext cx="57279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接收</a:t>
            </a:r>
          </a:p>
        </p:txBody>
      </p:sp>
      <p:sp>
        <p:nvSpPr>
          <p:cNvPr id="1333" name="lvds-rx-t1: 解串 / 帧行"/>
          <p:cNvSpPr txBox="1"/>
          <p:nvPr/>
        </p:nvSpPr>
        <p:spPr>
          <a:xfrm>
            <a:off x="7701960" y="1521816"/>
            <a:ext cx="53881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解串 / 帧行</a:t>
            </a:r>
          </a:p>
        </p:txBody>
      </p:sp>
      <p:sp>
        <p:nvSpPr>
          <p:cNvPr id="1334" name="rx-cdc-t0: CDC / FIFO"/>
          <p:cNvSpPr txBox="1"/>
          <p:nvPr/>
        </p:nvSpPr>
        <p:spPr>
          <a:xfrm>
            <a:off x="8323858" y="1398000"/>
            <a:ext cx="59888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CDC / FIFO</a:t>
            </a:r>
          </a:p>
        </p:txBody>
      </p:sp>
      <p:sp>
        <p:nvSpPr>
          <p:cNvPr id="1335" name="rx-cdc-t1: 像素流缓冲"/>
          <p:cNvSpPr txBox="1"/>
          <p:nvPr/>
        </p:nvSpPr>
        <p:spPr>
          <a:xfrm>
            <a:off x="8359140" y="1521816"/>
            <a:ext cx="5283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像素流缓冲</a:t>
            </a:r>
          </a:p>
        </p:txBody>
      </p:sp>
      <p:sp>
        <p:nvSpPr>
          <p:cNvPr id="1336" name="isp-t0: ISP"/>
          <p:cNvSpPr txBox="1"/>
          <p:nvPr/>
        </p:nvSpPr>
        <p:spPr>
          <a:xfrm>
            <a:off x="9151355" y="1398000"/>
            <a:ext cx="24775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1337" name="isp-t1: 行缓存 / 处理"/>
          <p:cNvSpPr txBox="1"/>
          <p:nvPr/>
        </p:nvSpPr>
        <p:spPr>
          <a:xfrm>
            <a:off x="8961800" y="1521816"/>
            <a:ext cx="6268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行缓存 / 处理</a:t>
            </a:r>
          </a:p>
        </p:txBody>
      </p:sp>
      <p:sp>
        <p:nvSpPr>
          <p:cNvPr id="1338" name="frame-select-t0: 帧边界选择"/>
          <p:cNvSpPr txBox="1"/>
          <p:nvPr/>
        </p:nvSpPr>
        <p:spPr>
          <a:xfrm>
            <a:off x="9656233" y="1398000"/>
            <a:ext cx="6096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帧边界选择</a:t>
            </a:r>
          </a:p>
        </p:txBody>
      </p:sp>
      <p:sp>
        <p:nvSpPr>
          <p:cNvPr id="1339" name="frame-select-t1: RAW / ISP"/>
          <p:cNvSpPr txBox="1"/>
          <p:nvPr/>
        </p:nvSpPr>
        <p:spPr>
          <a:xfrm>
            <a:off x="9716431" y="1521816"/>
            <a:ext cx="489204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RAW / ISP</a:t>
            </a:r>
          </a:p>
        </p:txBody>
      </p:sp>
      <p:sp>
        <p:nvSpPr>
          <p:cNvPr id="1340" name="frame-dma-t0: 帧写入 DMA"/>
          <p:cNvSpPr txBox="1"/>
          <p:nvPr/>
        </p:nvSpPr>
        <p:spPr>
          <a:xfrm>
            <a:off x="10426470" y="1398000"/>
            <a:ext cx="64392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1341" name="frame-dma-t1: 地址 / stride"/>
          <p:cNvSpPr txBox="1"/>
          <p:nvPr/>
        </p:nvSpPr>
        <p:spPr>
          <a:xfrm>
            <a:off x="10458088" y="1521816"/>
            <a:ext cx="580692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stride</a:t>
            </a:r>
          </a:p>
        </p:txBody>
      </p:sp>
      <p:sp>
        <p:nvSpPr>
          <p:cNvPr id="1342" name="raw-bypass-label: RAW 旁路"/>
          <p:cNvSpPr txBox="1"/>
          <p:nvPr/>
        </p:nvSpPr>
        <p:spPr>
          <a:xfrm>
            <a:off x="9046218" y="924611"/>
            <a:ext cx="46649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RAW 旁路</a:t>
            </a:r>
          </a:p>
        </p:txBody>
      </p:sp>
      <p:sp>
        <p:nvSpPr>
          <p:cNvPr id="1343" name="badge-C4-text: C4"/>
          <p:cNvSpPr txBox="1"/>
          <p:nvPr/>
        </p:nvSpPr>
        <p:spPr>
          <a:xfrm>
            <a:off x="8058415" y="1687966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1344" name="badge-C5-text: C5"/>
          <p:cNvSpPr txBox="1"/>
          <p:nvPr/>
        </p:nvSpPr>
        <p:spPr>
          <a:xfrm>
            <a:off x="9362281" y="1687966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1345" name="badge-C8-text: C8"/>
          <p:cNvSpPr txBox="1"/>
          <p:nvPr/>
        </p:nvSpPr>
        <p:spPr>
          <a:xfrm>
            <a:off x="10920148" y="1687966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sp>
        <p:nvSpPr>
          <p:cNvPr id="1346" name="isp-gb-label: ISP 中间数据 ↔ GB"/>
          <p:cNvSpPr txBox="1"/>
          <p:nvPr/>
        </p:nvSpPr>
        <p:spPr>
          <a:xfrm>
            <a:off x="8009424" y="2065918"/>
            <a:ext cx="846751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ISP 中间数据 ↔ GB</a:t>
            </a:r>
          </a:p>
        </p:txBody>
      </p:sp>
      <p:sp>
        <p:nvSpPr>
          <p:cNvPr id="1347" name="crossbar-title: AXI Crossbar"/>
          <p:cNvSpPr txBox="1"/>
          <p:nvPr/>
        </p:nvSpPr>
        <p:spPr>
          <a:xfrm>
            <a:off x="4632783" y="2943742"/>
            <a:ext cx="801301" cy="1950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Crossbar</a:t>
            </a:r>
          </a:p>
        </p:txBody>
      </p:sp>
      <p:sp>
        <p:nvSpPr>
          <p:cNvPr id="1348" name="crossbar-caption: 8 × 6 固定端口 + 扩展 | 64 bit 数据 / 48 bit 地址 "/>
          <p:cNvSpPr txBox="1"/>
          <p:nvPr/>
        </p:nvSpPr>
        <p:spPr>
          <a:xfrm>
            <a:off x="3552023" y="3115785"/>
            <a:ext cx="29628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8 × 6 固定端口 + 扩展 | 64 bit 数据 / 48 bit 地址 | 地址译码 / 各目标仲裁</a:t>
            </a:r>
          </a:p>
        </p:txBody>
      </p:sp>
      <p:sp>
        <p:nvSpPr>
          <p:cNvPr id="1349" name="crossbar-rt-note: 输入侧 AXI RT · 按配置可选"/>
          <p:cNvSpPr txBox="1"/>
          <p:nvPr/>
        </p:nvSpPr>
        <p:spPr>
          <a:xfrm>
            <a:off x="457226" y="3207767"/>
            <a:ext cx="1049814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输入侧 AXI RT · 按配置可选</a:t>
            </a:r>
          </a:p>
        </p:txBody>
      </p:sp>
      <p:sp>
        <p:nvSpPr>
          <p:cNvPr id="1350" name="crossbar-error-note: 未映射请求：DECERR"/>
          <p:cNvSpPr txBox="1"/>
          <p:nvPr/>
        </p:nvSpPr>
        <p:spPr>
          <a:xfrm>
            <a:off x="8745630" y="3207767"/>
            <a:ext cx="864473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未映射请求：DECERR</a:t>
            </a:r>
          </a:p>
        </p:txBody>
      </p:sp>
      <p:sp>
        <p:nvSpPr>
          <p:cNvPr id="1351" name="xbar-in-S0-t0: S0"/>
          <p:cNvSpPr txBox="1"/>
          <p:nvPr/>
        </p:nvSpPr>
        <p:spPr>
          <a:xfrm>
            <a:off x="689225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sp>
        <p:nvSpPr>
          <p:cNvPr id="1352" name="xbar-in-S1-t0: S1"/>
          <p:cNvSpPr txBox="1"/>
          <p:nvPr/>
        </p:nvSpPr>
        <p:spPr>
          <a:xfrm>
            <a:off x="1754143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1353" name="xbar-in-S2-t0: S2"/>
          <p:cNvSpPr txBox="1"/>
          <p:nvPr/>
        </p:nvSpPr>
        <p:spPr>
          <a:xfrm>
            <a:off x="2819062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1354" name="xbar-in-S3-t0: S3"/>
          <p:cNvSpPr txBox="1"/>
          <p:nvPr/>
        </p:nvSpPr>
        <p:spPr>
          <a:xfrm>
            <a:off x="3883980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S3</a:t>
            </a:r>
          </a:p>
        </p:txBody>
      </p:sp>
      <p:sp>
        <p:nvSpPr>
          <p:cNvPr id="1355" name="xbar-in-S4-t0: S4"/>
          <p:cNvSpPr txBox="1"/>
          <p:nvPr/>
        </p:nvSpPr>
        <p:spPr>
          <a:xfrm>
            <a:off x="4948899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S4</a:t>
            </a:r>
          </a:p>
        </p:txBody>
      </p:sp>
      <p:sp>
        <p:nvSpPr>
          <p:cNvPr id="1356" name="xbar-in-S5-t0: S5"/>
          <p:cNvSpPr txBox="1"/>
          <p:nvPr/>
        </p:nvSpPr>
        <p:spPr>
          <a:xfrm>
            <a:off x="6013817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S5</a:t>
            </a:r>
          </a:p>
        </p:txBody>
      </p:sp>
      <p:sp>
        <p:nvSpPr>
          <p:cNvPr id="1357" name="xbar-in-S6-t0: S6"/>
          <p:cNvSpPr txBox="1"/>
          <p:nvPr/>
        </p:nvSpPr>
        <p:spPr>
          <a:xfrm>
            <a:off x="7078736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S6</a:t>
            </a:r>
          </a:p>
        </p:txBody>
      </p:sp>
      <p:sp>
        <p:nvSpPr>
          <p:cNvPr id="1358" name="xbar-in-S7-t0: S7"/>
          <p:cNvSpPr txBox="1"/>
          <p:nvPr/>
        </p:nvSpPr>
        <p:spPr>
          <a:xfrm>
            <a:off x="8143655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S7</a:t>
            </a:r>
          </a:p>
        </p:txBody>
      </p:sp>
      <p:sp>
        <p:nvSpPr>
          <p:cNvPr id="1359" name="xbar-in-S_EXT-t0: S_EXT"/>
          <p:cNvSpPr txBox="1"/>
          <p:nvPr/>
        </p:nvSpPr>
        <p:spPr>
          <a:xfrm>
            <a:off x="9151457" y="2849694"/>
            <a:ext cx="283300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S_EXT</a:t>
            </a:r>
          </a:p>
        </p:txBody>
      </p:sp>
      <p:sp>
        <p:nvSpPr>
          <p:cNvPr id="1360" name="debug-sba-t0: Debug / SBA"/>
          <p:cNvSpPr txBox="1"/>
          <p:nvPr/>
        </p:nvSpPr>
        <p:spPr>
          <a:xfrm>
            <a:off x="1498654" y="2456333"/>
            <a:ext cx="68004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/ SBA</a:t>
            </a:r>
          </a:p>
        </p:txBody>
      </p:sp>
      <p:sp>
        <p:nvSpPr>
          <p:cNvPr id="1361" name="debug-sba-t1: JTAG 总线访问"/>
          <p:cNvSpPr txBox="1"/>
          <p:nvPr/>
        </p:nvSpPr>
        <p:spPr>
          <a:xfrm>
            <a:off x="1512089" y="2580150"/>
            <a:ext cx="65317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JTAG 总线访问</a:t>
            </a:r>
          </a:p>
        </p:txBody>
      </p:sp>
      <p:sp>
        <p:nvSpPr>
          <p:cNvPr id="1362" name="idma-master-t0: iDMA 数据主口"/>
          <p:cNvSpPr txBox="1"/>
          <p:nvPr/>
        </p:nvSpPr>
        <p:spPr>
          <a:xfrm>
            <a:off x="3583596" y="2456333"/>
            <a:ext cx="76983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数据主口</a:t>
            </a:r>
          </a:p>
        </p:txBody>
      </p:sp>
      <p:sp>
        <p:nvSpPr>
          <p:cNvPr id="1363" name="idma-master-t1: 内存 → 内存"/>
          <p:cNvSpPr txBox="1"/>
          <p:nvPr/>
        </p:nvSpPr>
        <p:spPr>
          <a:xfrm>
            <a:off x="3677955" y="2580150"/>
            <a:ext cx="5811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 → 内存</a:t>
            </a:r>
          </a:p>
        </p:txBody>
      </p:sp>
      <p:sp>
        <p:nvSpPr>
          <p:cNvPr id="1364" name="slink-rx-t0: Serial Link RX"/>
          <p:cNvSpPr txBox="1"/>
          <p:nvPr/>
        </p:nvSpPr>
        <p:spPr>
          <a:xfrm>
            <a:off x="4676243" y="2456333"/>
            <a:ext cx="71438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RX</a:t>
            </a:r>
          </a:p>
        </p:txBody>
      </p:sp>
      <p:sp>
        <p:nvSpPr>
          <p:cNvPr id="1365" name="slink-rx-t1: 远端请求入口"/>
          <p:cNvSpPr txBox="1"/>
          <p:nvPr/>
        </p:nvSpPr>
        <p:spPr>
          <a:xfrm>
            <a:off x="4725247" y="2580150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远端请求入口</a:t>
            </a:r>
          </a:p>
        </p:txBody>
      </p:sp>
      <p:sp>
        <p:nvSpPr>
          <p:cNvPr id="1366" name="vga-t0: VGA"/>
          <p:cNvSpPr txBox="1"/>
          <p:nvPr/>
        </p:nvSpPr>
        <p:spPr>
          <a:xfrm>
            <a:off x="5957213" y="2456333"/>
            <a:ext cx="28227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</a:t>
            </a:r>
          </a:p>
        </p:txBody>
      </p:sp>
      <p:sp>
        <p:nvSpPr>
          <p:cNvPr id="1367" name="vga-t1: 帧缓冲读取"/>
          <p:cNvSpPr txBox="1"/>
          <p:nvPr/>
        </p:nvSpPr>
        <p:spPr>
          <a:xfrm>
            <a:off x="5834192" y="2580150"/>
            <a:ext cx="5283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帧缓冲读取</a:t>
            </a:r>
          </a:p>
        </p:txBody>
      </p:sp>
      <p:sp>
        <p:nvSpPr>
          <p:cNvPr id="1368" name="usb-dma-t0: USB DMA"/>
          <p:cNvSpPr txBox="1"/>
          <p:nvPr/>
        </p:nvSpPr>
        <p:spPr>
          <a:xfrm>
            <a:off x="6898306" y="2456333"/>
            <a:ext cx="52992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DMA</a:t>
            </a:r>
          </a:p>
        </p:txBody>
      </p:sp>
      <p:sp>
        <p:nvSpPr>
          <p:cNvPr id="1369" name="usb-dma-t1: OHCI 主口"/>
          <p:cNvSpPr txBox="1"/>
          <p:nvPr/>
        </p:nvSpPr>
        <p:spPr>
          <a:xfrm>
            <a:off x="6921248" y="2580150"/>
            <a:ext cx="484045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OHCI 主口</a:t>
            </a:r>
          </a:p>
        </p:txBody>
      </p:sp>
      <p:sp>
        <p:nvSpPr>
          <p:cNvPr id="1370" name="emmc-host-t0: eMMC Host / DMA"/>
          <p:cNvSpPr txBox="1"/>
          <p:nvPr/>
        </p:nvSpPr>
        <p:spPr>
          <a:xfrm>
            <a:off x="7756209" y="2456333"/>
            <a:ext cx="94395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eMMC Host / DMA</a:t>
            </a:r>
          </a:p>
        </p:txBody>
      </p:sp>
      <p:sp>
        <p:nvSpPr>
          <p:cNvPr id="1371" name="emmc-host-t1: 存储块 ↔ 内存"/>
          <p:cNvSpPr txBox="1"/>
          <p:nvPr/>
        </p:nvSpPr>
        <p:spPr>
          <a:xfrm>
            <a:off x="7825869" y="2580150"/>
            <a:ext cx="669174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存储块 ↔ 内存</a:t>
            </a:r>
          </a:p>
        </p:txBody>
      </p:sp>
      <p:sp>
        <p:nvSpPr>
          <p:cNvPr id="1372" name="ext-master-t0: AXI 外部 master"/>
          <p:cNvSpPr txBox="1"/>
          <p:nvPr/>
        </p:nvSpPr>
        <p:spPr>
          <a:xfrm>
            <a:off x="8886014" y="2456333"/>
            <a:ext cx="81418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master</a:t>
            </a:r>
          </a:p>
        </p:txBody>
      </p:sp>
      <p:sp>
        <p:nvSpPr>
          <p:cNvPr id="1373" name="ext-master-t1: 可选扩展入口"/>
          <p:cNvSpPr txBox="1"/>
          <p:nvPr/>
        </p:nvSpPr>
        <p:spPr>
          <a:xfrm>
            <a:off x="8984921" y="2580150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可选扩展入口</a:t>
            </a:r>
          </a:p>
        </p:txBody>
      </p:sp>
      <p:sp>
        <p:nvSpPr>
          <p:cNvPr id="1374" name="badge-C10-text: C10"/>
          <p:cNvSpPr txBox="1"/>
          <p:nvPr/>
        </p:nvSpPr>
        <p:spPr>
          <a:xfrm>
            <a:off x="8495421" y="2639619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C10</a:t>
            </a:r>
          </a:p>
        </p:txBody>
      </p:sp>
      <p:sp>
        <p:nvSpPr>
          <p:cNvPr id="1375" name="xbar-out-M0-t0: M0"/>
          <p:cNvSpPr txBox="1"/>
          <p:nvPr/>
        </p:nvSpPr>
        <p:spPr>
          <a:xfrm>
            <a:off x="833731" y="3306894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M0</a:t>
            </a:r>
          </a:p>
        </p:txBody>
      </p:sp>
      <p:sp>
        <p:nvSpPr>
          <p:cNvPr id="1376" name="debug-target-t0: Debug 目标"/>
          <p:cNvSpPr txBox="1"/>
          <p:nvPr/>
        </p:nvSpPr>
        <p:spPr>
          <a:xfrm>
            <a:off x="617222" y="3717866"/>
            <a:ext cx="61733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目标</a:t>
            </a:r>
          </a:p>
        </p:txBody>
      </p:sp>
      <p:sp>
        <p:nvSpPr>
          <p:cNvPr id="1377" name="debug-target-t1: 调试模块窗口"/>
          <p:cNvSpPr txBox="1"/>
          <p:nvPr/>
        </p:nvSpPr>
        <p:spPr>
          <a:xfrm>
            <a:off x="617704" y="3841683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调试模块窗口</a:t>
            </a:r>
          </a:p>
        </p:txBody>
      </p:sp>
      <p:sp>
        <p:nvSpPr>
          <p:cNvPr id="1378" name="xbar-out-M1-t0: M1"/>
          <p:cNvSpPr txBox="1"/>
          <p:nvPr/>
        </p:nvSpPr>
        <p:spPr>
          <a:xfrm>
            <a:off x="2202912" y="3306894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M1</a:t>
            </a:r>
          </a:p>
        </p:txBody>
      </p:sp>
      <p:sp>
        <p:nvSpPr>
          <p:cNvPr id="1379" name="reg-bridge-t0: AXI → Regbus"/>
          <p:cNvSpPr txBox="1"/>
          <p:nvPr/>
        </p:nvSpPr>
        <p:spPr>
          <a:xfrm>
            <a:off x="1928605" y="3717866"/>
            <a:ext cx="73293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→ Regbus</a:t>
            </a:r>
          </a:p>
        </p:txBody>
      </p:sp>
      <p:sp>
        <p:nvSpPr>
          <p:cNvPr id="1380" name="reg-bridge-t1: 原子适配 / 32 bit 桥"/>
          <p:cNvSpPr txBox="1"/>
          <p:nvPr/>
        </p:nvSpPr>
        <p:spPr>
          <a:xfrm>
            <a:off x="1854112" y="3841683"/>
            <a:ext cx="8819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/ 32 bit 桥</a:t>
            </a:r>
          </a:p>
        </p:txBody>
      </p:sp>
      <p:sp>
        <p:nvSpPr>
          <p:cNvPr id="1381" name="xbar-out-M2-t0: M2"/>
          <p:cNvSpPr txBox="1"/>
          <p:nvPr/>
        </p:nvSpPr>
        <p:spPr>
          <a:xfrm>
            <a:off x="3572093" y="3306894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M2</a:t>
            </a:r>
          </a:p>
        </p:txBody>
      </p:sp>
      <p:sp>
        <p:nvSpPr>
          <p:cNvPr id="1382" name="memory-title: 主存 / SPM 共用目标"/>
          <p:cNvSpPr txBox="1"/>
          <p:nvPr/>
        </p:nvSpPr>
        <p:spPr>
          <a:xfrm>
            <a:off x="3135070" y="3588834"/>
            <a:ext cx="1058365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主存 / SPM 共用目标</a:t>
            </a:r>
          </a:p>
        </p:txBody>
      </p:sp>
      <p:sp>
        <p:nvSpPr>
          <p:cNvPr id="1383" name="atomics-t0: 原子适配"/>
          <p:cNvSpPr txBox="1"/>
          <p:nvPr/>
        </p:nvSpPr>
        <p:spPr>
          <a:xfrm>
            <a:off x="3112141" y="3802110"/>
            <a:ext cx="443823" cy="1422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</a:p>
        </p:txBody>
      </p:sp>
      <p:sp>
        <p:nvSpPr>
          <p:cNvPr id="1384" name="atomics-t1: AMO / LRSC"/>
          <p:cNvSpPr txBox="1"/>
          <p:nvPr/>
        </p:nvSpPr>
        <p:spPr>
          <a:xfrm>
            <a:off x="3003106" y="3907012"/>
            <a:ext cx="66189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AMO / LRSC</a:t>
            </a:r>
          </a:p>
        </p:txBody>
      </p:sp>
      <p:sp>
        <p:nvSpPr>
          <p:cNvPr id="1385" name="llc-spm-t0: LLC / SPM"/>
          <p:cNvSpPr txBox="1"/>
          <p:nvPr/>
        </p:nvSpPr>
        <p:spPr>
          <a:xfrm>
            <a:off x="3765270" y="3806174"/>
            <a:ext cx="509164" cy="1422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/ SPM</a:t>
            </a:r>
          </a:p>
        </p:txBody>
      </p:sp>
      <p:sp>
        <p:nvSpPr>
          <p:cNvPr id="1386" name="llc-spm-t1: SRAM 阵列"/>
          <p:cNvSpPr txBox="1"/>
          <p:nvPr/>
        </p:nvSpPr>
        <p:spPr>
          <a:xfrm>
            <a:off x="3739304" y="3912024"/>
            <a:ext cx="561097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SRAM 阵列</a:t>
            </a:r>
          </a:p>
        </p:txBody>
      </p:sp>
      <p:sp>
        <p:nvSpPr>
          <p:cNvPr id="1387" name="xbar-out-M3-t0: M3"/>
          <p:cNvSpPr txBox="1"/>
          <p:nvPr/>
        </p:nvSpPr>
        <p:spPr>
          <a:xfrm>
            <a:off x="4941274" y="3306894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M3</a:t>
            </a:r>
          </a:p>
        </p:txBody>
      </p:sp>
      <p:sp>
        <p:nvSpPr>
          <p:cNvPr id="1388" name="idma-config-t0: iDMA 配置"/>
          <p:cNvSpPr txBox="1"/>
          <p:nvPr/>
        </p:nvSpPr>
        <p:spPr>
          <a:xfrm>
            <a:off x="4750115" y="3665034"/>
            <a:ext cx="56663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配置</a:t>
            </a:r>
          </a:p>
        </p:txBody>
      </p:sp>
      <p:sp>
        <p:nvSpPr>
          <p:cNvPr id="1389" name="idma-config-t1: 原子适配 → AXI→Reg"/>
          <p:cNvSpPr txBox="1"/>
          <p:nvPr/>
        </p:nvSpPr>
        <p:spPr>
          <a:xfrm>
            <a:off x="4566034" y="3788851"/>
            <a:ext cx="934799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→ AXI→Reg</a:t>
            </a:r>
          </a:p>
        </p:txBody>
      </p:sp>
      <p:sp>
        <p:nvSpPr>
          <p:cNvPr id="1390" name="idma-config-t2: wrapper 内部寄存器"/>
          <p:cNvSpPr txBox="1"/>
          <p:nvPr/>
        </p:nvSpPr>
        <p:spPr>
          <a:xfrm>
            <a:off x="4603999" y="3894515"/>
            <a:ext cx="858869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wrapper 内部寄存器</a:t>
            </a:r>
          </a:p>
        </p:txBody>
      </p:sp>
      <p:sp>
        <p:nvSpPr>
          <p:cNvPr id="1391" name="xbar-out-M4-t0: M4"/>
          <p:cNvSpPr txBox="1"/>
          <p:nvPr/>
        </p:nvSpPr>
        <p:spPr>
          <a:xfrm>
            <a:off x="6310455" y="3306894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M4</a:t>
            </a:r>
          </a:p>
        </p:txBody>
      </p:sp>
      <p:sp>
        <p:nvSpPr>
          <p:cNvPr id="1392" name="slink-tx-t0: Serial Link TX"/>
          <p:cNvSpPr txBox="1"/>
          <p:nvPr/>
        </p:nvSpPr>
        <p:spPr>
          <a:xfrm>
            <a:off x="6051478" y="3717866"/>
            <a:ext cx="70227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TX</a:t>
            </a:r>
          </a:p>
        </p:txBody>
      </p:sp>
      <p:sp>
        <p:nvSpPr>
          <p:cNvPr id="1393" name="slink-tx-t1: 远端目标窗口"/>
          <p:cNvSpPr txBox="1"/>
          <p:nvPr/>
        </p:nvSpPr>
        <p:spPr>
          <a:xfrm>
            <a:off x="6094428" y="3841683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远端目标窗口</a:t>
            </a:r>
          </a:p>
        </p:txBody>
      </p:sp>
      <p:sp>
        <p:nvSpPr>
          <p:cNvPr id="1394" name="xbar-out-M5-t0: M5"/>
          <p:cNvSpPr txBox="1"/>
          <p:nvPr/>
        </p:nvSpPr>
        <p:spPr>
          <a:xfrm>
            <a:off x="7679636" y="3306894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M5</a:t>
            </a:r>
          </a:p>
        </p:txBody>
      </p:sp>
      <p:sp>
        <p:nvSpPr>
          <p:cNvPr id="1395" name="gb-interface-t0: GB AXI 接口"/>
          <p:cNvSpPr txBox="1"/>
          <p:nvPr/>
        </p:nvSpPr>
        <p:spPr>
          <a:xfrm>
            <a:off x="7454988" y="3665034"/>
            <a:ext cx="63361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AXI 接口</a:t>
            </a:r>
          </a:p>
        </p:txBody>
      </p:sp>
      <p:sp>
        <p:nvSpPr>
          <p:cNvPr id="1396" name="gb-interface-t1: CPU / Ara / eMMC DMA"/>
          <p:cNvSpPr txBox="1"/>
          <p:nvPr/>
        </p:nvSpPr>
        <p:spPr>
          <a:xfrm>
            <a:off x="7260665" y="3788851"/>
            <a:ext cx="102226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/ eMMC DMA</a:t>
            </a:r>
          </a:p>
        </p:txBody>
      </p:sp>
      <p:sp>
        <p:nvSpPr>
          <p:cNvPr id="1397" name="gb-interface-t2: 64-bit 数据窗口 · 共用"/>
          <p:cNvSpPr txBox="1"/>
          <p:nvPr/>
        </p:nvSpPr>
        <p:spPr>
          <a:xfrm>
            <a:off x="7299149" y="3894515"/>
            <a:ext cx="94529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64-bit 数据窗口 · 共用</a:t>
            </a:r>
          </a:p>
        </p:txBody>
      </p:sp>
      <p:sp>
        <p:nvSpPr>
          <p:cNvPr id="1398" name="xbar-out-M_EXT-t0: M_EXT"/>
          <p:cNvSpPr txBox="1"/>
          <p:nvPr/>
        </p:nvSpPr>
        <p:spPr>
          <a:xfrm>
            <a:off x="8991701" y="3306894"/>
            <a:ext cx="298551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M_EXT</a:t>
            </a:r>
          </a:p>
        </p:txBody>
      </p:sp>
      <p:sp>
        <p:nvSpPr>
          <p:cNvPr id="1399" name="ext-target-t0: AXI 外部 slave"/>
          <p:cNvSpPr txBox="1"/>
          <p:nvPr/>
        </p:nvSpPr>
        <p:spPr>
          <a:xfrm>
            <a:off x="8773467" y="3717866"/>
            <a:ext cx="73501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slave</a:t>
            </a:r>
          </a:p>
        </p:txBody>
      </p:sp>
      <p:sp>
        <p:nvSpPr>
          <p:cNvPr id="1400" name="ext-target-t1: 可选外部目标扩展"/>
          <p:cNvSpPr txBox="1"/>
          <p:nvPr/>
        </p:nvSpPr>
        <p:spPr>
          <a:xfrm>
            <a:off x="8744736" y="3841683"/>
            <a:ext cx="79248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可选外部目标扩展</a:t>
            </a:r>
          </a:p>
        </p:txBody>
      </p:sp>
      <p:sp>
        <p:nvSpPr>
          <p:cNvPr id="1401" name="emmc-device-t0: eMMC"/>
          <p:cNvSpPr txBox="1"/>
          <p:nvPr/>
        </p:nvSpPr>
        <p:spPr>
          <a:xfrm>
            <a:off x="11550065" y="2446308"/>
            <a:ext cx="437203" cy="1842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eMMC</a:t>
            </a:r>
          </a:p>
        </p:txBody>
      </p:sp>
      <p:sp>
        <p:nvSpPr>
          <p:cNvPr id="1402" name="emmc-device-t1: 模型 / 校正参数"/>
          <p:cNvSpPr txBox="1"/>
          <p:nvPr/>
        </p:nvSpPr>
        <p:spPr>
          <a:xfrm>
            <a:off x="11411207" y="2588278"/>
            <a:ext cx="7149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模型 / 校正参数</a:t>
            </a:r>
          </a:p>
        </p:txBody>
      </p:sp>
      <p:sp>
        <p:nvSpPr>
          <p:cNvPr id="1403" name="regbus-t0: Regbus decode / demux · 32 bit"/>
          <p:cNvSpPr txBox="1"/>
          <p:nvPr/>
        </p:nvSpPr>
        <p:spPr>
          <a:xfrm>
            <a:off x="2213213" y="4404140"/>
            <a:ext cx="1745774" cy="1842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Regbus decode / demux · 32 bit</a:t>
            </a:r>
          </a:p>
        </p:txBody>
      </p:sp>
      <p:sp>
        <p:nvSpPr>
          <p:cNvPr id="1404" name="bootrom-t0: Boot ROM"/>
          <p:cNvSpPr txBox="1"/>
          <p:nvPr/>
        </p:nvSpPr>
        <p:spPr>
          <a:xfrm>
            <a:off x="592799" y="4637346"/>
            <a:ext cx="55006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Boot ROM</a:t>
            </a:r>
          </a:p>
        </p:txBody>
      </p:sp>
      <p:sp>
        <p:nvSpPr>
          <p:cNvPr id="1405" name="bootrom-t1: 启动代码"/>
          <p:cNvSpPr txBox="1"/>
          <p:nvPr/>
        </p:nvSpPr>
        <p:spPr>
          <a:xfrm>
            <a:off x="647700" y="4761163"/>
            <a:ext cx="4402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启动代码</a:t>
            </a:r>
          </a:p>
        </p:txBody>
      </p:sp>
      <p:sp>
        <p:nvSpPr>
          <p:cNvPr id="1406" name="uart-t0: UART"/>
          <p:cNvSpPr txBox="1"/>
          <p:nvPr/>
        </p:nvSpPr>
        <p:spPr>
          <a:xfrm>
            <a:off x="699259" y="4935373"/>
            <a:ext cx="33714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UART</a:t>
            </a:r>
          </a:p>
        </p:txBody>
      </p:sp>
      <p:sp>
        <p:nvSpPr>
          <p:cNvPr id="1407" name="uart-t1: 串口控制"/>
          <p:cNvSpPr txBox="1"/>
          <p:nvPr/>
        </p:nvSpPr>
        <p:spPr>
          <a:xfrm>
            <a:off x="647700" y="5059190"/>
            <a:ext cx="4402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串口控制</a:t>
            </a:r>
          </a:p>
        </p:txBody>
      </p:sp>
      <p:sp>
        <p:nvSpPr>
          <p:cNvPr id="1408" name="vga-regs-t0: VGA 配置"/>
          <p:cNvSpPr txBox="1"/>
          <p:nvPr/>
        </p:nvSpPr>
        <p:spPr>
          <a:xfrm>
            <a:off x="609865" y="5233400"/>
            <a:ext cx="51593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 配置</a:t>
            </a:r>
          </a:p>
        </p:txBody>
      </p:sp>
      <p:sp>
        <p:nvSpPr>
          <p:cNvPr id="1409" name="vga-regs-t1: 时序 / 帧地址"/>
          <p:cNvSpPr txBox="1"/>
          <p:nvPr/>
        </p:nvSpPr>
        <p:spPr>
          <a:xfrm>
            <a:off x="554400" y="5357216"/>
            <a:ext cx="6268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时序 / 帧地址</a:t>
            </a:r>
          </a:p>
        </p:txBody>
      </p:sp>
      <p:sp>
        <p:nvSpPr>
          <p:cNvPr id="1410" name="irq-router-t0: IRQ router"/>
          <p:cNvSpPr txBox="1"/>
          <p:nvPr/>
        </p:nvSpPr>
        <p:spPr>
          <a:xfrm>
            <a:off x="592849" y="5531426"/>
            <a:ext cx="54996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IRQ router</a:t>
            </a:r>
          </a:p>
        </p:txBody>
      </p:sp>
      <p:sp>
        <p:nvSpPr>
          <p:cNvPr id="1411" name="irq-router-t1: 可选中断路由"/>
          <p:cNvSpPr txBox="1"/>
          <p:nvPr/>
        </p:nvSpPr>
        <p:spPr>
          <a:xfrm>
            <a:off x="559647" y="5655243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可选中断路由</a:t>
            </a:r>
          </a:p>
        </p:txBody>
      </p:sp>
      <p:sp>
        <p:nvSpPr>
          <p:cNvPr id="1412" name="clint-t0: CLINT"/>
          <p:cNvSpPr txBox="1"/>
          <p:nvPr/>
        </p:nvSpPr>
        <p:spPr>
          <a:xfrm>
            <a:off x="1805697" y="4637346"/>
            <a:ext cx="35947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CLINT</a:t>
            </a:r>
          </a:p>
        </p:txBody>
      </p:sp>
      <p:sp>
        <p:nvSpPr>
          <p:cNvPr id="1413" name="clint-t1: 软件 / 定时中断"/>
          <p:cNvSpPr txBox="1"/>
          <p:nvPr/>
        </p:nvSpPr>
        <p:spPr>
          <a:xfrm>
            <a:off x="1627973" y="4761163"/>
            <a:ext cx="7149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软件 / 定时中断</a:t>
            </a:r>
          </a:p>
        </p:txBody>
      </p:sp>
      <p:sp>
        <p:nvSpPr>
          <p:cNvPr id="1414" name="i2c-t0: I²C"/>
          <p:cNvSpPr txBox="1"/>
          <p:nvPr/>
        </p:nvSpPr>
        <p:spPr>
          <a:xfrm>
            <a:off x="1871726" y="4935373"/>
            <a:ext cx="227415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I²C</a:t>
            </a:r>
          </a:p>
        </p:txBody>
      </p:sp>
      <p:sp>
        <p:nvSpPr>
          <p:cNvPr id="1415" name="i2c-t1: 两线串行接口"/>
          <p:cNvSpPr txBox="1"/>
          <p:nvPr/>
        </p:nvSpPr>
        <p:spPr>
          <a:xfrm>
            <a:off x="1677247" y="5059190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两线串行接口</a:t>
            </a:r>
          </a:p>
        </p:txBody>
      </p:sp>
      <p:sp>
        <p:nvSpPr>
          <p:cNvPr id="1416" name="usb-regs-t0: USB 配置"/>
          <p:cNvSpPr txBox="1"/>
          <p:nvPr/>
        </p:nvSpPr>
        <p:spPr>
          <a:xfrm>
            <a:off x="1722403" y="5233400"/>
            <a:ext cx="52606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配置</a:t>
            </a:r>
          </a:p>
        </p:txBody>
      </p:sp>
      <p:sp>
        <p:nvSpPr>
          <p:cNvPr id="1417" name="usb-regs-t1: OHCI 寄存器"/>
          <p:cNvSpPr txBox="1"/>
          <p:nvPr/>
        </p:nvSpPr>
        <p:spPr>
          <a:xfrm>
            <a:off x="1699384" y="5357216"/>
            <a:ext cx="572098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OHCI 寄存器</a:t>
            </a:r>
          </a:p>
        </p:txBody>
      </p:sp>
      <p:sp>
        <p:nvSpPr>
          <p:cNvPr id="1418" name="axi-rt-config-t0: AXI RT 配置"/>
          <p:cNvSpPr txBox="1"/>
          <p:nvPr/>
        </p:nvSpPr>
        <p:spPr>
          <a:xfrm>
            <a:off x="1676712" y="5531426"/>
            <a:ext cx="61744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RT 配置</a:t>
            </a:r>
          </a:p>
        </p:txBody>
      </p:sp>
      <p:sp>
        <p:nvSpPr>
          <p:cNvPr id="1419" name="axi-rt-config-t1: 可选流量调节"/>
          <p:cNvSpPr txBox="1"/>
          <p:nvPr/>
        </p:nvSpPr>
        <p:spPr>
          <a:xfrm>
            <a:off x="1677247" y="5655243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可选流量调节</a:t>
            </a:r>
          </a:p>
        </p:txBody>
      </p:sp>
      <p:sp>
        <p:nvSpPr>
          <p:cNvPr id="1420" name="soc-regs-t0: SoC 寄存器"/>
          <p:cNvSpPr txBox="1"/>
          <p:nvPr/>
        </p:nvSpPr>
        <p:spPr>
          <a:xfrm>
            <a:off x="2794312" y="4637346"/>
            <a:ext cx="61744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SoC 寄存器</a:t>
            </a:r>
          </a:p>
        </p:txBody>
      </p:sp>
      <p:sp>
        <p:nvSpPr>
          <p:cNvPr id="1421" name="soc-regs-t1: 平台信息 / scratch"/>
          <p:cNvSpPr txBox="1"/>
          <p:nvPr/>
        </p:nvSpPr>
        <p:spPr>
          <a:xfrm>
            <a:off x="2692945" y="4761163"/>
            <a:ext cx="82017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平台信息 / scratch</a:t>
            </a:r>
          </a:p>
        </p:txBody>
      </p:sp>
      <p:sp>
        <p:nvSpPr>
          <p:cNvPr id="1422" name="spi-t0: SPI Host"/>
          <p:cNvSpPr txBox="1"/>
          <p:nvPr/>
        </p:nvSpPr>
        <p:spPr>
          <a:xfrm>
            <a:off x="2860442" y="4935373"/>
            <a:ext cx="48518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SPI Host</a:t>
            </a:r>
          </a:p>
        </p:txBody>
      </p:sp>
      <p:sp>
        <p:nvSpPr>
          <p:cNvPr id="1423" name="spi-t1: Flash / SD"/>
          <p:cNvSpPr txBox="1"/>
          <p:nvPr/>
        </p:nvSpPr>
        <p:spPr>
          <a:xfrm>
            <a:off x="2851468" y="5059190"/>
            <a:ext cx="503132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Flash / SD</a:t>
            </a:r>
          </a:p>
        </p:txBody>
      </p:sp>
      <p:sp>
        <p:nvSpPr>
          <p:cNvPr id="1424" name="err-vga-t0: Bus-error · VGA"/>
          <p:cNvSpPr txBox="1"/>
          <p:nvPr/>
        </p:nvSpPr>
        <p:spPr>
          <a:xfrm>
            <a:off x="2715387" y="5233400"/>
            <a:ext cx="77529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VGA</a:t>
            </a:r>
          </a:p>
        </p:txBody>
      </p:sp>
      <p:sp>
        <p:nvSpPr>
          <p:cNvPr id="1425" name="err-vga-t1: 错误记录"/>
          <p:cNvSpPr txBox="1"/>
          <p:nvPr/>
        </p:nvSpPr>
        <p:spPr>
          <a:xfrm>
            <a:off x="2882900" y="5357216"/>
            <a:ext cx="4402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sp>
        <p:nvSpPr>
          <p:cNvPr id="1426" name="clic-t0: CLIC"/>
          <p:cNvSpPr txBox="1"/>
          <p:nvPr/>
        </p:nvSpPr>
        <p:spPr>
          <a:xfrm>
            <a:off x="2950729" y="5531426"/>
            <a:ext cx="30460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CLIC</a:t>
            </a:r>
          </a:p>
        </p:txBody>
      </p:sp>
      <p:sp>
        <p:nvSpPr>
          <p:cNvPr id="1427" name="clic-t1: 可选每核中断控制"/>
          <p:cNvSpPr txBox="1"/>
          <p:nvPr/>
        </p:nvSpPr>
        <p:spPr>
          <a:xfrm>
            <a:off x="2706793" y="5655243"/>
            <a:ext cx="79248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可选每核中断控制</a:t>
            </a:r>
          </a:p>
        </p:txBody>
      </p:sp>
      <p:sp>
        <p:nvSpPr>
          <p:cNvPr id="1428" name="plic-t0: PLIC"/>
          <p:cNvSpPr txBox="1"/>
          <p:nvPr/>
        </p:nvSpPr>
        <p:spPr>
          <a:xfrm>
            <a:off x="4071355" y="4637346"/>
            <a:ext cx="29855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PLIC</a:t>
            </a:r>
          </a:p>
        </p:txBody>
      </p:sp>
      <p:sp>
        <p:nvSpPr>
          <p:cNvPr id="1429" name="plic-t1: 外部中断控制"/>
          <p:cNvSpPr txBox="1"/>
          <p:nvPr/>
        </p:nvSpPr>
        <p:spPr>
          <a:xfrm>
            <a:off x="3912447" y="4761163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外部中断控制</a:t>
            </a:r>
          </a:p>
        </p:txBody>
      </p:sp>
      <p:sp>
        <p:nvSpPr>
          <p:cNvPr id="1430" name="gpio-t0: GPIO"/>
          <p:cNvSpPr txBox="1"/>
          <p:nvPr/>
        </p:nvSpPr>
        <p:spPr>
          <a:xfrm>
            <a:off x="4061238" y="4935373"/>
            <a:ext cx="31879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GPIO</a:t>
            </a:r>
          </a:p>
        </p:txBody>
      </p:sp>
      <p:sp>
        <p:nvSpPr>
          <p:cNvPr id="1431" name="gpio-t1: 通用 IO"/>
          <p:cNvSpPr txBox="1"/>
          <p:nvPr/>
        </p:nvSpPr>
        <p:spPr>
          <a:xfrm>
            <a:off x="4034893" y="5059190"/>
            <a:ext cx="37148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通用 IO</a:t>
            </a:r>
          </a:p>
        </p:txBody>
      </p:sp>
      <p:sp>
        <p:nvSpPr>
          <p:cNvPr id="1432" name="err-dma-t0: Bus-error · iDMA"/>
          <p:cNvSpPr txBox="1"/>
          <p:nvPr/>
        </p:nvSpPr>
        <p:spPr>
          <a:xfrm>
            <a:off x="3807637" y="5233400"/>
            <a:ext cx="82599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iDMA</a:t>
            </a:r>
          </a:p>
        </p:txBody>
      </p:sp>
      <p:sp>
        <p:nvSpPr>
          <p:cNvPr id="1433" name="err-dma-t1: 每传输错误记录"/>
          <p:cNvSpPr txBox="1"/>
          <p:nvPr/>
        </p:nvSpPr>
        <p:spPr>
          <a:xfrm>
            <a:off x="3868420" y="5357216"/>
            <a:ext cx="70442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每传输错误记录</a:t>
            </a:r>
          </a:p>
        </p:txBody>
      </p:sp>
      <p:sp>
        <p:nvSpPr>
          <p:cNvPr id="1434" name="reg-error-t0: reg_err_slv"/>
          <p:cNvSpPr txBox="1"/>
          <p:nvPr/>
        </p:nvSpPr>
        <p:spPr>
          <a:xfrm>
            <a:off x="3929327" y="5531426"/>
            <a:ext cx="58261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reg_err_slv</a:t>
            </a:r>
          </a:p>
        </p:txBody>
      </p:sp>
      <p:sp>
        <p:nvSpPr>
          <p:cNvPr id="1435" name="reg-error-t1: 未匹配地址"/>
          <p:cNvSpPr txBox="1"/>
          <p:nvPr/>
        </p:nvSpPr>
        <p:spPr>
          <a:xfrm>
            <a:off x="3956473" y="5655243"/>
            <a:ext cx="5283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未匹配地址</a:t>
            </a:r>
          </a:p>
        </p:txBody>
      </p:sp>
      <p:sp>
        <p:nvSpPr>
          <p:cNvPr id="1436" name="llc-regs-t0: LLC 配置"/>
          <p:cNvSpPr txBox="1"/>
          <p:nvPr/>
        </p:nvSpPr>
        <p:spPr>
          <a:xfrm>
            <a:off x="5088350" y="4637346"/>
            <a:ext cx="49976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配置</a:t>
            </a:r>
          </a:p>
        </p:txBody>
      </p:sp>
      <p:sp>
        <p:nvSpPr>
          <p:cNvPr id="1437" name="llc-regs-t1: SPM way / cache"/>
          <p:cNvSpPr txBox="1"/>
          <p:nvPr/>
        </p:nvSpPr>
        <p:spPr>
          <a:xfrm>
            <a:off x="4959099" y="4761163"/>
            <a:ext cx="758269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SPM way / cache</a:t>
            </a:r>
          </a:p>
        </p:txBody>
      </p:sp>
      <p:sp>
        <p:nvSpPr>
          <p:cNvPr id="1438" name="slink-regs-t0: Serial Link 配置"/>
          <p:cNvSpPr txBox="1"/>
          <p:nvPr/>
        </p:nvSpPr>
        <p:spPr>
          <a:xfrm>
            <a:off x="4938281" y="4935373"/>
            <a:ext cx="79990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配置</a:t>
            </a:r>
          </a:p>
        </p:txBody>
      </p:sp>
      <p:sp>
        <p:nvSpPr>
          <p:cNvPr id="1439" name="slink-regs-t1: 链路控制"/>
          <p:cNvSpPr txBox="1"/>
          <p:nvPr/>
        </p:nvSpPr>
        <p:spPr>
          <a:xfrm>
            <a:off x="5118100" y="5059190"/>
            <a:ext cx="4402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链路控制</a:t>
            </a:r>
          </a:p>
        </p:txBody>
      </p:sp>
      <p:sp>
        <p:nvSpPr>
          <p:cNvPr id="1440" name="err-cpu-t0: Bus-error · CPU"/>
          <p:cNvSpPr txBox="1"/>
          <p:nvPr/>
        </p:nvSpPr>
        <p:spPr>
          <a:xfrm>
            <a:off x="4948552" y="5233400"/>
            <a:ext cx="77936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CPU</a:t>
            </a:r>
          </a:p>
        </p:txBody>
      </p:sp>
      <p:sp>
        <p:nvSpPr>
          <p:cNvPr id="1441" name="err-cpu-t1: 每核错误记录"/>
          <p:cNvSpPr txBox="1"/>
          <p:nvPr/>
        </p:nvSpPr>
        <p:spPr>
          <a:xfrm>
            <a:off x="5030047" y="5357216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每核错误记录</a:t>
            </a:r>
          </a:p>
        </p:txBody>
      </p:sp>
      <p:sp>
        <p:nvSpPr>
          <p:cNvPr id="1442" name="reg-ext-t0: RegExt 扩展"/>
          <p:cNvSpPr txBox="1"/>
          <p:nvPr/>
        </p:nvSpPr>
        <p:spPr>
          <a:xfrm>
            <a:off x="5019392" y="5531426"/>
            <a:ext cx="63768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RegExt 扩展</a:t>
            </a:r>
          </a:p>
        </p:txBody>
      </p:sp>
      <p:sp>
        <p:nvSpPr>
          <p:cNvPr id="1443" name="reg-ext-t1: 新增 IP 配置出口"/>
          <p:cNvSpPr txBox="1"/>
          <p:nvPr/>
        </p:nvSpPr>
        <p:spPr>
          <a:xfrm>
            <a:off x="4967573" y="5655243"/>
            <a:ext cx="7413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新增 IP 配置出口</a:t>
            </a:r>
          </a:p>
        </p:txBody>
      </p:sp>
      <p:sp>
        <p:nvSpPr>
          <p:cNvPr id="1444" name="ddr-S0-t0: DDR.S0"/>
          <p:cNvSpPr txBox="1"/>
          <p:nvPr/>
        </p:nvSpPr>
        <p:spPr>
          <a:xfrm>
            <a:off x="6434225" y="5779161"/>
            <a:ext cx="339550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DDR.S0</a:t>
            </a:r>
          </a:p>
        </p:txBody>
      </p:sp>
      <p:sp>
        <p:nvSpPr>
          <p:cNvPr id="1445" name="ddr-S1-t0: DDR.S1"/>
          <p:cNvSpPr txBox="1"/>
          <p:nvPr/>
        </p:nvSpPr>
        <p:spPr>
          <a:xfrm>
            <a:off x="7365558" y="5779161"/>
            <a:ext cx="339550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DDR.S1</a:t>
            </a:r>
          </a:p>
        </p:txBody>
      </p:sp>
      <p:sp>
        <p:nvSpPr>
          <p:cNvPr id="1446" name="ddr-S2-t0: DDR.S2"/>
          <p:cNvSpPr txBox="1"/>
          <p:nvPr/>
        </p:nvSpPr>
        <p:spPr>
          <a:xfrm>
            <a:off x="8296891" y="5779161"/>
            <a:ext cx="339550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DDR.S2</a:t>
            </a:r>
          </a:p>
        </p:txBody>
      </p:sp>
      <p:sp>
        <p:nvSpPr>
          <p:cNvPr id="1447" name="ddr-S3-t0: DDR.S3"/>
          <p:cNvSpPr txBox="1"/>
          <p:nvPr/>
        </p:nvSpPr>
        <p:spPr>
          <a:xfrm>
            <a:off x="9228225" y="5779161"/>
            <a:ext cx="339550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DDR.S3</a:t>
            </a:r>
          </a:p>
        </p:txBody>
      </p:sp>
      <p:sp>
        <p:nvSpPr>
          <p:cNvPr id="1448" name="ddr-arb-t0: 四口仲裁 / QoS · 共享 DDR 带宽"/>
          <p:cNvSpPr txBox="1"/>
          <p:nvPr/>
        </p:nvSpPr>
        <p:spPr>
          <a:xfrm>
            <a:off x="7300370" y="5934711"/>
            <a:ext cx="1452060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四口仲裁 / QoS · 共享 DDR 带宽</a:t>
            </a:r>
          </a:p>
        </p:txBody>
      </p:sp>
      <p:sp>
        <p:nvSpPr>
          <p:cNvPr id="1449" name="ddr-rw-t0: 读写调度 · Bank / Row"/>
          <p:cNvSpPr txBox="1"/>
          <p:nvPr/>
        </p:nvSpPr>
        <p:spPr>
          <a:xfrm>
            <a:off x="6444522" y="6115965"/>
            <a:ext cx="111482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读写调度 · Bank / Row</a:t>
            </a:r>
          </a:p>
        </p:txBody>
      </p:sp>
      <p:sp>
        <p:nvSpPr>
          <p:cNvPr id="1450" name="ddr-command-t0: 命令调度 · Controller → PHY"/>
          <p:cNvSpPr txBox="1"/>
          <p:nvPr/>
        </p:nvSpPr>
        <p:spPr>
          <a:xfrm>
            <a:off x="8397216" y="6120977"/>
            <a:ext cx="1273434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命令调度 · Controller → PHY</a:t>
            </a:r>
          </a:p>
        </p:txBody>
      </p:sp>
      <p:sp>
        <p:nvSpPr>
          <p:cNvPr id="1451" name="ddr-title: DDR Controller · 4 个 AXI slave"/>
          <p:cNvSpPr txBox="1"/>
          <p:nvPr/>
        </p:nvSpPr>
        <p:spPr>
          <a:xfrm>
            <a:off x="7293766" y="6267688"/>
            <a:ext cx="146526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 · 4 个 AXI slave</a:t>
            </a:r>
          </a:p>
        </p:txBody>
      </p:sp>
      <p:sp>
        <p:nvSpPr>
          <p:cNvPr id="1452" name="badge-C2-text: C2"/>
          <p:cNvSpPr txBox="1"/>
          <p:nvPr/>
        </p:nvSpPr>
        <p:spPr>
          <a:xfrm>
            <a:off x="9662848" y="6283673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453" name="ddr-phy-t0: DDR PHY"/>
          <p:cNvSpPr txBox="1"/>
          <p:nvPr/>
        </p:nvSpPr>
        <p:spPr>
          <a:xfrm>
            <a:off x="10438606" y="6228402"/>
            <a:ext cx="50958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1454" name="ddr-phy-t1: 训练 / 校准"/>
          <p:cNvSpPr txBox="1"/>
          <p:nvPr/>
        </p:nvSpPr>
        <p:spPr>
          <a:xfrm>
            <a:off x="10335535" y="6351271"/>
            <a:ext cx="580263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训练 / 校准</a:t>
            </a:r>
          </a:p>
        </p:txBody>
      </p:sp>
      <p:sp>
        <p:nvSpPr>
          <p:cNvPr id="1455" name="badge-C3-text: C3"/>
          <p:cNvSpPr txBox="1"/>
          <p:nvPr/>
        </p:nvSpPr>
        <p:spPr>
          <a:xfrm>
            <a:off x="10915915" y="6412366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1456" name="ddr-device-t0: DDR"/>
          <p:cNvSpPr txBox="1"/>
          <p:nvPr/>
        </p:nvSpPr>
        <p:spPr>
          <a:xfrm>
            <a:off x="11586842" y="6218378"/>
            <a:ext cx="338249" cy="1842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1457" name="ddr-device-t1: 片外器件"/>
          <p:cNvSpPr txBox="1"/>
          <p:nvPr/>
        </p:nvSpPr>
        <p:spPr>
          <a:xfrm>
            <a:off x="11518900" y="6359399"/>
            <a:ext cx="474133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片外器件</a:t>
            </a:r>
          </a:p>
        </p:txBody>
      </p:sp>
      <p:sp>
        <p:nvSpPr>
          <p:cNvPr id="1458" name="roi-title: 图像裁切输出"/>
          <p:cNvSpPr txBox="1"/>
          <p:nvPr/>
        </p:nvSpPr>
        <p:spPr>
          <a:xfrm>
            <a:off x="10322560" y="4313039"/>
            <a:ext cx="758613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图像裁切输出</a:t>
            </a:r>
          </a:p>
        </p:txBody>
      </p:sp>
      <p:sp>
        <p:nvSpPr>
          <p:cNvPr id="1459" name="roi-count: ≤256 ROI / 帧"/>
          <p:cNvSpPr txBox="1"/>
          <p:nvPr/>
        </p:nvSpPr>
        <p:spPr>
          <a:xfrm>
            <a:off x="10367788" y="4429811"/>
            <a:ext cx="668158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≤256 ROI / 帧</a:t>
            </a:r>
          </a:p>
        </p:txBody>
      </p:sp>
      <p:sp>
        <p:nvSpPr>
          <p:cNvPr id="1460" name="roi-no-scale: 纯裁切 · 不缩放"/>
          <p:cNvSpPr txBox="1"/>
          <p:nvPr/>
        </p:nvSpPr>
        <p:spPr>
          <a:xfrm>
            <a:off x="10356747" y="4517865"/>
            <a:ext cx="69024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纯裁切 · 不缩放</a:t>
            </a:r>
          </a:p>
        </p:txBody>
      </p:sp>
      <p:sp>
        <p:nvSpPr>
          <p:cNvPr id="1461" name="pll-title: PLL / 时钟与复位分发"/>
          <p:cNvSpPr txBox="1"/>
          <p:nvPr/>
        </p:nvSpPr>
        <p:spPr>
          <a:xfrm>
            <a:off x="7380023" y="6514372"/>
            <a:ext cx="1157288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时钟与复位分发</a:t>
            </a:r>
          </a:p>
        </p:txBody>
      </p:sp>
      <p:sp>
        <p:nvSpPr>
          <p:cNvPr id="1462" name="badge-C1-text: C1"/>
          <p:cNvSpPr txBox="1"/>
          <p:nvPr/>
        </p:nvSpPr>
        <p:spPr>
          <a:xfrm>
            <a:off x="8749295" y="6534625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463" name="pll-interface: RefClk / POR → clk_i / rst_ni"/>
          <p:cNvSpPr txBox="1"/>
          <p:nvPr/>
        </p:nvSpPr>
        <p:spPr>
          <a:xfrm>
            <a:off x="9311539" y="6536318"/>
            <a:ext cx="1222788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RefClk / POR → clk_i / rst_ni</a:t>
            </a:r>
          </a:p>
        </p:txBody>
      </p:sp>
      <p:sp>
        <p:nvSpPr>
          <p:cNvPr id="1464" name="reg-badge-C1-text: C1"/>
          <p:cNvSpPr txBox="1"/>
          <p:nvPr/>
        </p:nvSpPr>
        <p:spPr>
          <a:xfrm>
            <a:off x="275855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465" name="config-C1-title-0: PLL / 时钟"/>
          <p:cNvSpPr txBox="1"/>
          <p:nvPr/>
        </p:nvSpPr>
        <p:spPr>
          <a:xfrm>
            <a:off x="287679" y="6020800"/>
            <a:ext cx="57695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时钟</a:t>
            </a:r>
          </a:p>
        </p:txBody>
      </p:sp>
      <p:sp>
        <p:nvSpPr>
          <p:cNvPr id="1466" name="config-C1-title-1: 复位"/>
          <p:cNvSpPr txBox="1"/>
          <p:nvPr/>
        </p:nvSpPr>
        <p:spPr>
          <a:xfrm>
            <a:off x="423757" y="6129173"/>
            <a:ext cx="3048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复位</a:t>
            </a:r>
          </a:p>
        </p:txBody>
      </p:sp>
      <p:sp>
        <p:nvSpPr>
          <p:cNvPr id="1467" name="reg-badge-C2-text: C2"/>
          <p:cNvSpPr txBox="1"/>
          <p:nvPr/>
        </p:nvSpPr>
        <p:spPr>
          <a:xfrm>
            <a:off x="992981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468" name="config-C2-title-0: DDR"/>
          <p:cNvSpPr txBox="1"/>
          <p:nvPr/>
        </p:nvSpPr>
        <p:spPr>
          <a:xfrm>
            <a:off x="1144058" y="6020800"/>
            <a:ext cx="29845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1469" name="config-C2-title-1: Controller"/>
          <p:cNvSpPr txBox="1"/>
          <p:nvPr/>
        </p:nvSpPr>
        <p:spPr>
          <a:xfrm>
            <a:off x="1028517" y="6129173"/>
            <a:ext cx="52953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Controller</a:t>
            </a:r>
          </a:p>
        </p:txBody>
      </p:sp>
      <p:sp>
        <p:nvSpPr>
          <p:cNvPr id="1470" name="reg-badge-C3-text: C3"/>
          <p:cNvSpPr txBox="1"/>
          <p:nvPr/>
        </p:nvSpPr>
        <p:spPr>
          <a:xfrm>
            <a:off x="1710108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1471" name="config-C3-title-0: DDR"/>
          <p:cNvSpPr txBox="1"/>
          <p:nvPr/>
        </p:nvSpPr>
        <p:spPr>
          <a:xfrm>
            <a:off x="1861185" y="6020800"/>
            <a:ext cx="29845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1472" name="config-C3-title-1: PHY"/>
          <p:cNvSpPr txBox="1"/>
          <p:nvPr/>
        </p:nvSpPr>
        <p:spPr>
          <a:xfrm>
            <a:off x="1869271" y="6129173"/>
            <a:ext cx="28227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PHY</a:t>
            </a:r>
          </a:p>
        </p:txBody>
      </p:sp>
      <p:sp>
        <p:nvSpPr>
          <p:cNvPr id="1473" name="reg-badge-C4-text: C4"/>
          <p:cNvSpPr txBox="1"/>
          <p:nvPr/>
        </p:nvSpPr>
        <p:spPr>
          <a:xfrm>
            <a:off x="2427235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1474" name="config-C4-title-0: LVDS"/>
          <p:cNvSpPr txBox="1"/>
          <p:nvPr/>
        </p:nvSpPr>
        <p:spPr>
          <a:xfrm>
            <a:off x="2557970" y="6020800"/>
            <a:ext cx="33913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</a:t>
            </a:r>
          </a:p>
        </p:txBody>
      </p:sp>
      <p:sp>
        <p:nvSpPr>
          <p:cNvPr id="1475" name="config-C4-title-1: RX"/>
          <p:cNvSpPr txBox="1"/>
          <p:nvPr/>
        </p:nvSpPr>
        <p:spPr>
          <a:xfrm>
            <a:off x="2617899" y="6129173"/>
            <a:ext cx="21927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RX</a:t>
            </a:r>
          </a:p>
        </p:txBody>
      </p:sp>
      <p:sp>
        <p:nvSpPr>
          <p:cNvPr id="1476" name="reg-badge-C5-text: C5"/>
          <p:cNvSpPr txBox="1"/>
          <p:nvPr/>
        </p:nvSpPr>
        <p:spPr>
          <a:xfrm>
            <a:off x="3144361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1477" name="config-C5-title-0: ISP"/>
          <p:cNvSpPr txBox="1"/>
          <p:nvPr/>
        </p:nvSpPr>
        <p:spPr>
          <a:xfrm>
            <a:off x="3320785" y="6074986"/>
            <a:ext cx="24775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1478" name="reg-badge-C6-text: C6"/>
          <p:cNvSpPr txBox="1"/>
          <p:nvPr/>
        </p:nvSpPr>
        <p:spPr>
          <a:xfrm>
            <a:off x="3861488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1479" name="config-C6-title-0: NPU"/>
          <p:cNvSpPr txBox="1"/>
          <p:nvPr/>
        </p:nvSpPr>
        <p:spPr>
          <a:xfrm>
            <a:off x="4016584" y="6020800"/>
            <a:ext cx="29041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</a:t>
            </a:r>
          </a:p>
        </p:txBody>
      </p:sp>
      <p:sp>
        <p:nvSpPr>
          <p:cNvPr id="1480" name="config-C6-title-1: 计算"/>
          <p:cNvSpPr txBox="1"/>
          <p:nvPr/>
        </p:nvSpPr>
        <p:spPr>
          <a:xfrm>
            <a:off x="4009390" y="6129173"/>
            <a:ext cx="3048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计算</a:t>
            </a:r>
          </a:p>
        </p:txBody>
      </p:sp>
      <p:sp>
        <p:nvSpPr>
          <p:cNvPr id="1481" name="reg-badge-C7-text: C7"/>
          <p:cNvSpPr txBox="1"/>
          <p:nvPr/>
        </p:nvSpPr>
        <p:spPr>
          <a:xfrm>
            <a:off x="4578615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sp>
        <p:nvSpPr>
          <p:cNvPr id="1482" name="config-C7-title-0: NPU / GB"/>
          <p:cNvSpPr txBox="1"/>
          <p:nvPr/>
        </p:nvSpPr>
        <p:spPr>
          <a:xfrm>
            <a:off x="4611920" y="6020800"/>
            <a:ext cx="53399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</a:t>
            </a:r>
          </a:p>
        </p:txBody>
      </p:sp>
      <p:sp>
        <p:nvSpPr>
          <p:cNvPr id="1483" name="config-C7-title-1: 搬运"/>
          <p:cNvSpPr txBox="1"/>
          <p:nvPr/>
        </p:nvSpPr>
        <p:spPr>
          <a:xfrm>
            <a:off x="4726517" y="6129173"/>
            <a:ext cx="3048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搬运</a:t>
            </a:r>
          </a:p>
        </p:txBody>
      </p:sp>
      <p:sp>
        <p:nvSpPr>
          <p:cNvPr id="1484" name="reg-badge-C8-text: C8"/>
          <p:cNvSpPr txBox="1"/>
          <p:nvPr/>
        </p:nvSpPr>
        <p:spPr>
          <a:xfrm>
            <a:off x="5295741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sp>
        <p:nvSpPr>
          <p:cNvPr id="1485" name="config-C8-title-0: 帧写入"/>
          <p:cNvSpPr txBox="1"/>
          <p:nvPr/>
        </p:nvSpPr>
        <p:spPr>
          <a:xfrm>
            <a:off x="5392843" y="6020800"/>
            <a:ext cx="4064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</a:t>
            </a:r>
          </a:p>
        </p:txBody>
      </p:sp>
      <p:sp>
        <p:nvSpPr>
          <p:cNvPr id="1486" name="config-C8-title-1: DMA"/>
          <p:cNvSpPr txBox="1"/>
          <p:nvPr/>
        </p:nvSpPr>
        <p:spPr>
          <a:xfrm>
            <a:off x="5441709" y="6129173"/>
            <a:ext cx="30866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DMA</a:t>
            </a:r>
          </a:p>
        </p:txBody>
      </p:sp>
      <p:sp>
        <p:nvSpPr>
          <p:cNvPr id="1487" name="reg-badge-C9-text: C9"/>
          <p:cNvSpPr txBox="1"/>
          <p:nvPr/>
        </p:nvSpPr>
        <p:spPr>
          <a:xfrm>
            <a:off x="275855" y="6372065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sp>
        <p:nvSpPr>
          <p:cNvPr id="1488" name="config-C9-title-0: GB"/>
          <p:cNvSpPr txBox="1"/>
          <p:nvPr/>
        </p:nvSpPr>
        <p:spPr>
          <a:xfrm>
            <a:off x="460417" y="6474613"/>
            <a:ext cx="23147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</a:t>
            </a:r>
          </a:p>
        </p:txBody>
      </p:sp>
      <p:sp>
        <p:nvSpPr>
          <p:cNvPr id="1489" name="config-C9-title-1: 管理"/>
          <p:cNvSpPr txBox="1"/>
          <p:nvPr/>
        </p:nvSpPr>
        <p:spPr>
          <a:xfrm>
            <a:off x="423757" y="6582986"/>
            <a:ext cx="3048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管理</a:t>
            </a:r>
          </a:p>
        </p:txBody>
      </p:sp>
      <p:sp>
        <p:nvSpPr>
          <p:cNvPr id="1490" name="reg-badge-C10-text: C10"/>
          <p:cNvSpPr txBox="1"/>
          <p:nvPr/>
        </p:nvSpPr>
        <p:spPr>
          <a:xfrm>
            <a:off x="971658" y="6372065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C10</a:t>
            </a:r>
          </a:p>
        </p:txBody>
      </p:sp>
      <p:sp>
        <p:nvSpPr>
          <p:cNvPr id="1491" name="config-C10-title-0: eMMC Host"/>
          <p:cNvSpPr txBox="1"/>
          <p:nvPr/>
        </p:nvSpPr>
        <p:spPr>
          <a:xfrm>
            <a:off x="981689" y="6474613"/>
            <a:ext cx="62318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eMMC Host</a:t>
            </a:r>
          </a:p>
        </p:txBody>
      </p:sp>
      <p:sp>
        <p:nvSpPr>
          <p:cNvPr id="1492" name="config-C10-title-1: / DMA"/>
          <p:cNvSpPr txBox="1"/>
          <p:nvPr/>
        </p:nvSpPr>
        <p:spPr>
          <a:xfrm>
            <a:off x="1097328" y="6582986"/>
            <a:ext cx="39191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/ DMA</a:t>
            </a:r>
          </a:p>
        </p:txBody>
      </p:sp>
      <p:sp>
        <p:nvSpPr>
          <p:cNvPr id="1493" name="reg-badge-C11-text: C11"/>
          <p:cNvSpPr txBox="1"/>
          <p:nvPr/>
        </p:nvSpPr>
        <p:spPr>
          <a:xfrm>
            <a:off x="1688785" y="6372065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C11</a:t>
            </a:r>
          </a:p>
        </p:txBody>
      </p:sp>
      <p:sp>
        <p:nvSpPr>
          <p:cNvPr id="1494" name="config-C11-title-0: ROI 任务"/>
          <p:cNvSpPr txBox="1"/>
          <p:nvPr/>
        </p:nvSpPr>
        <p:spPr>
          <a:xfrm>
            <a:off x="1764644" y="6474613"/>
            <a:ext cx="49153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ROI 任务</a:t>
            </a:r>
          </a:p>
        </p:txBody>
      </p:sp>
      <p:sp>
        <p:nvSpPr>
          <p:cNvPr id="1495" name="config-C11-title-1: / 调度"/>
          <p:cNvSpPr txBox="1"/>
          <p:nvPr/>
        </p:nvSpPr>
        <p:spPr>
          <a:xfrm>
            <a:off x="1816388" y="6582986"/>
            <a:ext cx="38804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/ 调度</a:t>
            </a:r>
          </a:p>
        </p:txBody>
      </p:sp>
      <p:sp>
        <p:nvSpPr>
          <p:cNvPr id="1496" name="reg-badge-C12-text: C12"/>
          <p:cNvSpPr txBox="1"/>
          <p:nvPr/>
        </p:nvSpPr>
        <p:spPr>
          <a:xfrm>
            <a:off x="2405912" y="6372065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C12</a:t>
            </a:r>
          </a:p>
        </p:txBody>
      </p:sp>
      <p:sp>
        <p:nvSpPr>
          <p:cNvPr id="1497" name="config-C12-title-0: 前端公共"/>
          <p:cNvSpPr txBox="1"/>
          <p:nvPr/>
        </p:nvSpPr>
        <p:spPr>
          <a:xfrm>
            <a:off x="2473537" y="6474613"/>
            <a:ext cx="5080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前端公共</a:t>
            </a:r>
          </a:p>
        </p:txBody>
      </p:sp>
      <p:sp>
        <p:nvSpPr>
          <p:cNvPr id="1498" name="config-C12-title-1: 控制"/>
          <p:cNvSpPr txBox="1"/>
          <p:nvPr/>
        </p:nvSpPr>
        <p:spPr>
          <a:xfrm>
            <a:off x="2575137" y="6582986"/>
            <a:ext cx="3048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控制</a:t>
            </a:r>
          </a:p>
        </p:txBody>
      </p:sp>
      <p:sp>
        <p:nvSpPr>
          <p:cNvPr id="1499" name="reg-badge-C13-text: C13"/>
          <p:cNvSpPr txBox="1"/>
          <p:nvPr/>
        </p:nvSpPr>
        <p:spPr>
          <a:xfrm>
            <a:off x="3123038" y="6372065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C13</a:t>
            </a:r>
          </a:p>
        </p:txBody>
      </p:sp>
      <p:sp>
        <p:nvSpPr>
          <p:cNvPr id="1500" name="config-C13-title-0: 帧输出"/>
          <p:cNvSpPr txBox="1"/>
          <p:nvPr/>
        </p:nvSpPr>
        <p:spPr>
          <a:xfrm>
            <a:off x="3241463" y="6474613"/>
            <a:ext cx="4064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帧输出</a:t>
            </a:r>
          </a:p>
        </p:txBody>
      </p:sp>
      <p:sp>
        <p:nvSpPr>
          <p:cNvPr id="1501" name="config-C13-title-1: VDMA"/>
          <p:cNvSpPr txBox="1"/>
          <p:nvPr/>
        </p:nvSpPr>
        <p:spPr>
          <a:xfrm>
            <a:off x="3261902" y="6582986"/>
            <a:ext cx="36552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VDMA</a:t>
            </a:r>
          </a:p>
        </p:txBody>
      </p:sp>
      <p:sp>
        <p:nvSpPr>
          <p:cNvPr id="1502" name="reg-badge-C14-text: C14"/>
          <p:cNvSpPr txBox="1"/>
          <p:nvPr/>
        </p:nvSpPr>
        <p:spPr>
          <a:xfrm>
            <a:off x="3840165" y="6372065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C14</a:t>
            </a:r>
          </a:p>
        </p:txBody>
      </p:sp>
      <p:sp>
        <p:nvSpPr>
          <p:cNvPr id="1503" name="config-C14-title-0: LVDS"/>
          <p:cNvSpPr txBox="1"/>
          <p:nvPr/>
        </p:nvSpPr>
        <p:spPr>
          <a:xfrm>
            <a:off x="3992224" y="6474613"/>
            <a:ext cx="33913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</a:t>
            </a:r>
          </a:p>
        </p:txBody>
      </p:sp>
      <p:sp>
        <p:nvSpPr>
          <p:cNvPr id="1504" name="config-C14-title-1: TX"/>
          <p:cNvSpPr txBox="1"/>
          <p:nvPr/>
        </p:nvSpPr>
        <p:spPr>
          <a:xfrm>
            <a:off x="4058206" y="6582986"/>
            <a:ext cx="20716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TX</a:t>
            </a:r>
          </a:p>
        </p:txBody>
      </p:sp>
      <p:sp>
        <p:nvSpPr>
          <p:cNvPr id="1505" name="reg-badge-C15-text: C15"/>
          <p:cNvSpPr txBox="1"/>
          <p:nvPr/>
        </p:nvSpPr>
        <p:spPr>
          <a:xfrm>
            <a:off x="4557292" y="6372065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C15</a:t>
            </a:r>
          </a:p>
        </p:txBody>
      </p:sp>
      <p:sp>
        <p:nvSpPr>
          <p:cNvPr id="1506" name="config-C15-title-0: 压缩器"/>
          <p:cNvSpPr txBox="1"/>
          <p:nvPr/>
        </p:nvSpPr>
        <p:spPr>
          <a:xfrm>
            <a:off x="4675717" y="6528800"/>
            <a:ext cx="4064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压缩器</a:t>
            </a:r>
          </a:p>
        </p:txBody>
      </p:sp>
      <p:sp>
        <p:nvSpPr>
          <p:cNvPr id="1507" name="reg-badge-C16-text: C16"/>
          <p:cNvSpPr txBox="1"/>
          <p:nvPr/>
        </p:nvSpPr>
        <p:spPr>
          <a:xfrm>
            <a:off x="5274418" y="6372065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C16</a:t>
            </a:r>
          </a:p>
        </p:txBody>
      </p:sp>
      <p:sp>
        <p:nvSpPr>
          <p:cNvPr id="1508" name="config-C16-title-0: 解压器"/>
          <p:cNvSpPr txBox="1"/>
          <p:nvPr/>
        </p:nvSpPr>
        <p:spPr>
          <a:xfrm>
            <a:off x="5392843" y="6528800"/>
            <a:ext cx="4064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解压器</a:t>
            </a:r>
          </a:p>
        </p:txBody>
      </p:sp>
      <p:sp>
        <p:nvSpPr>
          <p:cNvPr id="1509" name="front-F0-t0: F0 · LLC"/>
          <p:cNvSpPr txBox="1"/>
          <p:nvPr/>
        </p:nvSpPr>
        <p:spPr>
          <a:xfrm>
            <a:off x="6431137" y="4319508"/>
            <a:ext cx="345726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F0 · LLC</a:t>
            </a:r>
          </a:p>
        </p:txBody>
      </p:sp>
      <p:sp>
        <p:nvSpPr>
          <p:cNvPr id="1510" name="front-F1-t0: F1 · GB 搬运"/>
          <p:cNvSpPr txBox="1"/>
          <p:nvPr/>
        </p:nvSpPr>
        <p:spPr>
          <a:xfrm>
            <a:off x="7287834" y="4319508"/>
            <a:ext cx="494998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F1 · GB 搬运</a:t>
            </a:r>
          </a:p>
        </p:txBody>
      </p:sp>
      <p:sp>
        <p:nvSpPr>
          <p:cNvPr id="1511" name="front-F2-t0: F2 · 帧写"/>
          <p:cNvSpPr txBox="1"/>
          <p:nvPr/>
        </p:nvSpPr>
        <p:spPr>
          <a:xfrm>
            <a:off x="8279294" y="4319508"/>
            <a:ext cx="374745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F2 · 帧写</a:t>
            </a:r>
          </a:p>
        </p:txBody>
      </p:sp>
      <p:sp>
        <p:nvSpPr>
          <p:cNvPr id="1512" name="front-F3-t0: F3 · 帧读"/>
          <p:cNvSpPr txBox="1"/>
          <p:nvPr/>
        </p:nvSpPr>
        <p:spPr>
          <a:xfrm>
            <a:off x="9210627" y="4319508"/>
            <a:ext cx="374745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F3 · 帧读</a:t>
            </a:r>
          </a:p>
        </p:txBody>
      </p:sp>
      <p:sp>
        <p:nvSpPr>
          <p:cNvPr id="1513" name="front-adapt-t0: 共享压缩前端 · 四口区域选择 / 事务跟踪"/>
          <p:cNvSpPr txBox="1"/>
          <p:nvPr/>
        </p:nvSpPr>
        <p:spPr>
          <a:xfrm>
            <a:off x="7063335" y="4503912"/>
            <a:ext cx="192613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共享压缩前端 · 四口区域选择 / 事务跟踪</a:t>
            </a:r>
          </a:p>
        </p:txBody>
      </p:sp>
      <p:sp>
        <p:nvSpPr>
          <p:cNvPr id="1514" name="badge-C12-text: C12"/>
          <p:cNvSpPr txBox="1"/>
          <p:nvPr/>
        </p:nvSpPr>
        <p:spPr>
          <a:xfrm>
            <a:off x="9641525" y="4525993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C12</a:t>
            </a:r>
          </a:p>
        </p:txBody>
      </p:sp>
      <p:sp>
        <p:nvSpPr>
          <p:cNvPr id="1515" name="address-control-t0: 地址 / 事务"/>
          <p:cNvSpPr txBox="1"/>
          <p:nvPr/>
        </p:nvSpPr>
        <p:spPr>
          <a:xfrm>
            <a:off x="6276216" y="4810066"/>
            <a:ext cx="62170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事务</a:t>
            </a:r>
          </a:p>
        </p:txBody>
      </p:sp>
      <p:sp>
        <p:nvSpPr>
          <p:cNvPr id="1516" name="address-control-t1: AR / AW 映射"/>
          <p:cNvSpPr txBox="1"/>
          <p:nvPr/>
        </p:nvSpPr>
        <p:spPr>
          <a:xfrm>
            <a:off x="6279909" y="4933883"/>
            <a:ext cx="614315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 / AW 映射</a:t>
            </a:r>
          </a:p>
        </p:txBody>
      </p:sp>
      <p:sp>
        <p:nvSpPr>
          <p:cNvPr id="1517" name="metadata-t0: 块地址 / 元数据"/>
          <p:cNvSpPr txBox="1"/>
          <p:nvPr/>
        </p:nvSpPr>
        <p:spPr>
          <a:xfrm>
            <a:off x="6202108" y="5223511"/>
            <a:ext cx="769916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块地址 / 元数据</a:t>
            </a:r>
          </a:p>
        </p:txBody>
      </p:sp>
      <p:sp>
        <p:nvSpPr>
          <p:cNvPr id="1518" name="badge-C15-text: C15"/>
          <p:cNvSpPr txBox="1"/>
          <p:nvPr/>
        </p:nvSpPr>
        <p:spPr>
          <a:xfrm>
            <a:off x="7196352" y="4908686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C15</a:t>
            </a:r>
          </a:p>
        </p:txBody>
      </p:sp>
      <p:sp>
        <p:nvSpPr>
          <p:cNvPr id="1519" name="compressor-title: 共享压缩器"/>
          <p:cNvSpPr txBox="1"/>
          <p:nvPr/>
        </p:nvSpPr>
        <p:spPr>
          <a:xfrm>
            <a:off x="7272867" y="5007848"/>
            <a:ext cx="6096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共享压缩器</a:t>
            </a:r>
          </a:p>
        </p:txBody>
      </p:sp>
      <p:sp>
        <p:nvSpPr>
          <p:cNvPr id="1520" name="compressor-detail: W 写数据"/>
          <p:cNvSpPr txBox="1"/>
          <p:nvPr/>
        </p:nvSpPr>
        <p:spPr>
          <a:xfrm>
            <a:off x="7352287" y="5130851"/>
            <a:ext cx="45076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 写数据</a:t>
            </a:r>
          </a:p>
        </p:txBody>
      </p:sp>
      <p:sp>
        <p:nvSpPr>
          <p:cNvPr id="1521" name="badge-C16-text: C16"/>
          <p:cNvSpPr txBox="1"/>
          <p:nvPr/>
        </p:nvSpPr>
        <p:spPr>
          <a:xfrm>
            <a:off x="8102285" y="4908686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C16</a:t>
            </a:r>
          </a:p>
        </p:txBody>
      </p:sp>
      <p:sp>
        <p:nvSpPr>
          <p:cNvPr id="1522" name="decompressor-title: 共享解压器"/>
          <p:cNvSpPr txBox="1"/>
          <p:nvPr/>
        </p:nvSpPr>
        <p:spPr>
          <a:xfrm>
            <a:off x="8178800" y="5007848"/>
            <a:ext cx="6096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共享解压器</a:t>
            </a:r>
          </a:p>
        </p:txBody>
      </p:sp>
      <p:sp>
        <p:nvSpPr>
          <p:cNvPr id="1523" name="decompressor-detail: R 读数据"/>
          <p:cNvSpPr txBox="1"/>
          <p:nvPr/>
        </p:nvSpPr>
        <p:spPr>
          <a:xfrm>
            <a:off x="8267033" y="5130851"/>
            <a:ext cx="433134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 读数据</a:t>
            </a:r>
          </a:p>
        </p:txBody>
      </p:sp>
      <p:sp>
        <p:nvSpPr>
          <p:cNvPr id="1524" name="plain-bypass-title: 普通数据旁路"/>
          <p:cNvSpPr txBox="1"/>
          <p:nvPr/>
        </p:nvSpPr>
        <p:spPr>
          <a:xfrm>
            <a:off x="9033933" y="5007848"/>
            <a:ext cx="7112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普通数据旁路</a:t>
            </a:r>
          </a:p>
        </p:txBody>
      </p:sp>
      <p:sp>
        <p:nvSpPr>
          <p:cNvPr id="1525" name="plain-bypass-detail: W / R 原样"/>
          <p:cNvSpPr txBox="1"/>
          <p:nvPr/>
        </p:nvSpPr>
        <p:spPr>
          <a:xfrm>
            <a:off x="9131647" y="5130851"/>
            <a:ext cx="5157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 / R 原样</a:t>
            </a:r>
          </a:p>
        </p:txBody>
      </p:sp>
      <p:sp>
        <p:nvSpPr>
          <p:cNvPr id="1526" name="front-route-t0: 下游 AXI 路由 / R、B 响应匹配"/>
          <p:cNvSpPr txBox="1"/>
          <p:nvPr/>
        </p:nvSpPr>
        <p:spPr>
          <a:xfrm>
            <a:off x="7283945" y="5499592"/>
            <a:ext cx="148491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下游 AXI 路由 / R、B 响应匹配</a:t>
            </a:r>
          </a:p>
        </p:txBody>
      </p:sp>
      <p:sp>
        <p:nvSpPr>
          <p:cNvPr id="1527" name="b-response-label: B"/>
          <p:cNvSpPr txBox="1"/>
          <p:nvPr/>
        </p:nvSpPr>
        <p:spPr>
          <a:xfrm>
            <a:off x="6250331" y="4667420"/>
            <a:ext cx="131604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B</a:t>
            </a:r>
          </a:p>
        </p:txBody>
      </p:sp>
      <p:sp>
        <p:nvSpPr>
          <p:cNvPr id="1528" name="badge-C11-text: C11"/>
          <p:cNvSpPr txBox="1"/>
          <p:nvPr/>
        </p:nvSpPr>
        <p:spPr>
          <a:xfrm>
            <a:off x="10928458" y="4637753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C11</a:t>
            </a:r>
          </a:p>
        </p:txBody>
      </p:sp>
      <p:sp>
        <p:nvSpPr>
          <p:cNvPr id="1529" name="roi-scheduler-title: ROI 任务表"/>
          <p:cNvSpPr txBox="1"/>
          <p:nvPr/>
        </p:nvSpPr>
        <p:spPr>
          <a:xfrm>
            <a:off x="10405300" y="4733528"/>
            <a:ext cx="59313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ROI 任务表</a:t>
            </a:r>
          </a:p>
        </p:txBody>
      </p:sp>
      <p:sp>
        <p:nvSpPr>
          <p:cNvPr id="1530" name="roi-scheduler-detail: 顺序调度"/>
          <p:cNvSpPr txBox="1"/>
          <p:nvPr/>
        </p:nvSpPr>
        <p:spPr>
          <a:xfrm>
            <a:off x="10481733" y="4849758"/>
            <a:ext cx="4402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顺序调度</a:t>
            </a:r>
          </a:p>
        </p:txBody>
      </p:sp>
      <p:sp>
        <p:nvSpPr>
          <p:cNvPr id="1531" name="badge-C13-text: C13"/>
          <p:cNvSpPr txBox="1"/>
          <p:nvPr/>
        </p:nvSpPr>
        <p:spPr>
          <a:xfrm>
            <a:off x="10928458" y="5027219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C13</a:t>
            </a:r>
          </a:p>
        </p:txBody>
      </p:sp>
      <p:sp>
        <p:nvSpPr>
          <p:cNvPr id="1532" name="roi-vdma-title: 帧输出 VDMA"/>
          <p:cNvSpPr txBox="1"/>
          <p:nvPr/>
        </p:nvSpPr>
        <p:spPr>
          <a:xfrm>
            <a:off x="10351476" y="5122994"/>
            <a:ext cx="70078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帧输出 VDMA</a:t>
            </a:r>
          </a:p>
        </p:txBody>
      </p:sp>
      <p:sp>
        <p:nvSpPr>
          <p:cNvPr id="1533" name="roi-vdma-detail: 二维 AXI 读"/>
          <p:cNvSpPr txBox="1"/>
          <p:nvPr/>
        </p:nvSpPr>
        <p:spPr>
          <a:xfrm>
            <a:off x="10439553" y="5239225"/>
            <a:ext cx="524626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二维 AXI 读</a:t>
            </a:r>
          </a:p>
        </p:txBody>
      </p:sp>
      <p:sp>
        <p:nvSpPr>
          <p:cNvPr id="1534" name="roi-fifo-t0: 像素整理"/>
          <p:cNvSpPr txBox="1"/>
          <p:nvPr/>
        </p:nvSpPr>
        <p:spPr>
          <a:xfrm>
            <a:off x="10447867" y="5411200"/>
            <a:ext cx="5080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像素整理</a:t>
            </a:r>
          </a:p>
        </p:txBody>
      </p:sp>
      <p:sp>
        <p:nvSpPr>
          <p:cNvPr id="1535" name="roi-fifo-t1: 输出 FIFO"/>
          <p:cNvSpPr txBox="1"/>
          <p:nvPr/>
        </p:nvSpPr>
        <p:spPr>
          <a:xfrm>
            <a:off x="10473904" y="5535016"/>
            <a:ext cx="455925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输出 FIFO</a:t>
            </a:r>
          </a:p>
        </p:txBody>
      </p:sp>
      <p:sp>
        <p:nvSpPr>
          <p:cNvPr id="1536" name="badge-C14-text: C14"/>
          <p:cNvSpPr txBox="1"/>
          <p:nvPr/>
        </p:nvSpPr>
        <p:spPr>
          <a:xfrm>
            <a:off x="10928458" y="5721486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C14</a:t>
            </a:r>
          </a:p>
        </p:txBody>
      </p:sp>
      <p:sp>
        <p:nvSpPr>
          <p:cNvPr id="1537" name="lvds-tx-title: LVDS TX"/>
          <p:cNvSpPr txBox="1"/>
          <p:nvPr/>
        </p:nvSpPr>
        <p:spPr>
          <a:xfrm>
            <a:off x="10464287" y="5817261"/>
            <a:ext cx="47516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TX</a:t>
            </a:r>
          </a:p>
        </p:txBody>
      </p:sp>
      <p:sp>
        <p:nvSpPr>
          <p:cNvPr id="1538" name="lvds-tx-detail: 子图帧行封装"/>
          <p:cNvSpPr txBox="1"/>
          <p:nvPr/>
        </p:nvSpPr>
        <p:spPr>
          <a:xfrm>
            <a:off x="10393680" y="5933491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子图帧行封装</a:t>
            </a:r>
          </a:p>
        </p:txBody>
      </p:sp>
      <p:sp>
        <p:nvSpPr>
          <p:cNvPr id="1539" name="legend-axi-interface-text: AXI 请求 / 响应"/>
          <p:cNvSpPr txBox="1"/>
          <p:nvPr/>
        </p:nvSpPr>
        <p:spPr>
          <a:xfrm>
            <a:off x="10427187" y="2844851"/>
            <a:ext cx="684826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请求 / 响应</a:t>
            </a:r>
          </a:p>
        </p:txBody>
      </p:sp>
      <p:sp>
        <p:nvSpPr>
          <p:cNvPr id="1540" name="legend-axi-request-text: AXI 请求方向"/>
          <p:cNvSpPr txBox="1"/>
          <p:nvPr/>
        </p:nvSpPr>
        <p:spPr>
          <a:xfrm>
            <a:off x="10476460" y="3007412"/>
            <a:ext cx="58628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请求方向</a:t>
            </a:r>
          </a:p>
        </p:txBody>
      </p:sp>
      <p:sp>
        <p:nvSpPr>
          <p:cNvPr id="1541" name="legend-gb-text: GB 局部读写"/>
          <p:cNvSpPr txBox="1"/>
          <p:nvPr/>
        </p:nvSpPr>
        <p:spPr>
          <a:xfrm>
            <a:off x="10479984" y="3169971"/>
            <a:ext cx="579231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GB 局部读写</a:t>
            </a:r>
          </a:p>
        </p:txBody>
      </p:sp>
      <p:sp>
        <p:nvSpPr>
          <p:cNvPr id="1542" name="legend-pixel-text: 像素流"/>
          <p:cNvSpPr txBox="1"/>
          <p:nvPr/>
        </p:nvSpPr>
        <p:spPr>
          <a:xfrm>
            <a:off x="10593493" y="3332531"/>
            <a:ext cx="35221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像素流</a:t>
            </a:r>
          </a:p>
        </p:txBody>
      </p:sp>
      <p:sp>
        <p:nvSpPr>
          <p:cNvPr id="1543" name="legend-cfg-text: 配置 / 控制"/>
          <p:cNvSpPr txBox="1"/>
          <p:nvPr/>
        </p:nvSpPr>
        <p:spPr>
          <a:xfrm>
            <a:off x="10500193" y="3495092"/>
            <a:ext cx="53881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配置 / 控制</a:t>
            </a:r>
          </a:p>
        </p:txBody>
      </p:sp>
      <p:sp>
        <p:nvSpPr>
          <p:cNvPr id="1544" name="legend-optional-text: eMMC 接口"/>
          <p:cNvSpPr txBox="1"/>
          <p:nvPr/>
        </p:nvSpPr>
        <p:spPr>
          <a:xfrm>
            <a:off x="10501180" y="3657651"/>
            <a:ext cx="53684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93939D"/>
                </a:solidFill>
                <a:latin typeface="Microsoft YaHei"/>
                <a:ea typeface="Microsoft YaHei"/>
                <a:cs typeface="Microsoft YaHei"/>
              </a:rPr>
              <a:t>eMMC 接口</a:t>
            </a:r>
          </a:p>
        </p:txBody>
      </p:sp>
      <p:sp>
        <p:nvSpPr>
          <p:cNvPr id="1545" name="legend-return: 单箭头接口：省略响应"/>
          <p:cNvSpPr txBox="1"/>
          <p:nvPr/>
        </p:nvSpPr>
        <p:spPr>
          <a:xfrm>
            <a:off x="10254827" y="3929127"/>
            <a:ext cx="894080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单箭头接口：省略响应</a:t>
            </a:r>
          </a:p>
        </p:txBody>
      </p:sp>
      <p:sp>
        <p:nvSpPr>
          <p:cNvPr id="1546" name="legend-status: 虚实与箭头方向独立"/>
          <p:cNvSpPr txBox="1"/>
          <p:nvPr/>
        </p:nvSpPr>
        <p:spPr>
          <a:xfrm>
            <a:off x="10290625" y="4017180"/>
            <a:ext cx="822484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虚实与箭头方向独立</a:t>
            </a:r>
          </a:p>
        </p:txBody>
      </p:sp>
      <p:sp>
        <p:nvSpPr>
          <p:cNvPr id="1547" name="legend-dashed"/>
          <p:cNvSpPr/>
          <p:nvPr/>
        </p:nvSpPr>
        <p:spPr>
          <a:xfrm>
            <a:off x="10193867" y="3881442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48" name="legend-dashed-text: 虚线：规划 / 可选"/>
          <p:cNvSpPr txBox="1"/>
          <p:nvPr/>
        </p:nvSpPr>
        <p:spPr>
          <a:xfrm>
            <a:off x="10329334" y="3820211"/>
            <a:ext cx="88053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93939D"/>
                </a:solidFill>
                <a:latin typeface="Microsoft YaHei"/>
                <a:ea typeface="Microsoft YaHei"/>
                <a:cs typeface="Microsoft YaHei"/>
              </a:rPr>
              <a:t>虚线：规划 / 可选</a:t>
            </a:r>
          </a:p>
        </p:txBody>
      </p:sp>
    </p:spTree>
    <p:extLst>
      <p:ext uri="{BB962C8B-B14F-4D97-AF65-F5344CB8AC3E}">
        <p14:creationId xmlns:p14="http://schemas.microsoft.com/office/powerpoint/2010/main" val="2187131506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owerpoint template design by DAJU_PPT正版来源小红书大橘PPT微信DAJU_PPT请勿抄袭搬运！盗版必究！"/>
          <p:cNvSpPr/>
          <p:nvPr/>
        </p:nvSpPr>
        <p:spPr>
          <a:xfrm>
            <a:off x="0" y="0"/>
            <a:ext cx="12192000" cy="527280"/>
          </a:xfrm>
          <a:prstGeom prst="rect">
            <a:avLst/>
          </a:prstGeom>
          <a:solidFill>
            <a:srgbClr val="00499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9" name="powerpoint template design by DAJU_PPT正版来源小红书大橘PPT微信DAJU_PPT请勿抄袭搬运！盗版必究！"/>
          <p:cNvSpPr txBox="1"/>
          <p:nvPr userDrawn="1"/>
        </p:nvSpPr>
        <p:spPr>
          <a:xfrm>
            <a:off x="3087469" y="75869"/>
            <a:ext cx="6850351" cy="375542"/>
          </a:xfrm>
          <a:prstGeom prst="rect">
            <a:avLst/>
          </a:prstGeom>
          <a:noFill/>
        </p:spPr>
        <p:txBody>
          <a:bodyPr wrap="square" lIns="25200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algn="ctr">
              <a:defRPr/>
            </a:pPr>
            <a:r>
              <a:rPr lang="en-US" altLang="zh-CN" sz="2400" b="1" kern="0" dirty="0">
                <a:solidFill>
                  <a:schemeClr val="bg1"/>
                </a:solidFill>
                <a:cs typeface="+mn-ea"/>
                <a:sym typeface="+mn-lt"/>
              </a:rPr>
              <a:t>SoC</a:t>
            </a:r>
            <a:r>
              <a:rPr lang="zh-CN" altLang="en-US" sz="2400" b="1" kern="0" dirty="0">
                <a:solidFill>
                  <a:schemeClr val="bg1"/>
                </a:solidFill>
                <a:cs typeface="+mn-ea"/>
                <a:sym typeface="+mn-lt"/>
              </a:rPr>
              <a:t>硬件层</a:t>
            </a:r>
          </a:p>
        </p:txBody>
      </p:sp>
      <p:sp>
        <p:nvSpPr>
          <p:cNvPr id="1002" name="soc-boundary"/>
          <p:cNvSpPr/>
          <p:nvPr/>
        </p:nvSpPr>
        <p:spPr>
          <a:xfrm>
            <a:off x="71967" y="603149"/>
            <a:ext cx="11260667" cy="61806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3" name="compute"/>
          <p:cNvSpPr/>
          <p:nvPr/>
        </p:nvSpPr>
        <p:spPr>
          <a:xfrm>
            <a:off x="241300" y="738616"/>
            <a:ext cx="3166533" cy="1439333"/>
          </a:xfrm>
          <a:prstGeom prst="rect">
            <a:avLst/>
          </a:prstGeom>
          <a:solidFill>
            <a:srgbClr val="F1D7D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4" name="gb-region"/>
          <p:cNvSpPr/>
          <p:nvPr/>
        </p:nvSpPr>
        <p:spPr>
          <a:xfrm>
            <a:off x="3594100" y="738616"/>
            <a:ext cx="3843867" cy="1439333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5" name="image-rx"/>
          <p:cNvSpPr/>
          <p:nvPr/>
        </p:nvSpPr>
        <p:spPr>
          <a:xfrm>
            <a:off x="7607300" y="738616"/>
            <a:ext cx="3606800" cy="1439333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6" name="reg-region"/>
          <p:cNvSpPr/>
          <p:nvPr/>
        </p:nvSpPr>
        <p:spPr>
          <a:xfrm>
            <a:off x="173567" y="4311549"/>
            <a:ext cx="5825067" cy="1513840"/>
          </a:xfrm>
          <a:prstGeom prst="rect">
            <a:avLst/>
          </a:prstGeom>
          <a:solidFill>
            <a:srgbClr val="FAF8FB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7" name="ddr-controller"/>
          <p:cNvSpPr/>
          <p:nvPr/>
        </p:nvSpPr>
        <p:spPr>
          <a:xfrm>
            <a:off x="6129867" y="5835549"/>
            <a:ext cx="3793067" cy="5757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8" name="roi-region"/>
          <p:cNvSpPr/>
          <p:nvPr/>
        </p:nvSpPr>
        <p:spPr>
          <a:xfrm>
            <a:off x="10160000" y="4311549"/>
            <a:ext cx="1083733" cy="1794933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9" name="compression-front"/>
          <p:cNvSpPr/>
          <p:nvPr/>
        </p:nvSpPr>
        <p:spPr>
          <a:xfrm>
            <a:off x="6129867" y="4375896"/>
            <a:ext cx="3793067" cy="1334347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0" name="shared-payload-services"/>
          <p:cNvSpPr/>
          <p:nvPr/>
        </p:nvSpPr>
        <p:spPr>
          <a:xfrm>
            <a:off x="7095067" y="4768749"/>
            <a:ext cx="2760133" cy="6604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1" name="cpu-ara-command"/>
          <p:cNvSpPr/>
          <p:nvPr/>
        </p:nvSpPr>
        <p:spPr>
          <a:xfrm>
            <a:off x="1172633" y="1212749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2" name="ara-filter-edge"/>
          <p:cNvSpPr/>
          <p:nvPr/>
        </p:nvSpPr>
        <p:spPr>
          <a:xfrm>
            <a:off x="1731433" y="1432882"/>
            <a:ext cx="1" cy="152400"/>
          </a:xfrm>
          <a:custGeom>
            <a:avLst/>
            <a:gdLst/>
            <a:ahLst/>
            <a:cxnLst/>
            <a:rect l="0" t="0" r="r" b="b"/>
            <a:pathLst>
              <a:path w="1" h="152400" fill="none">
                <a:moveTo>
                  <a:pt x="0" y="0"/>
                </a:moveTo>
                <a:lnTo>
                  <a:pt x="0" y="15240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3" name="filter-width"/>
          <p:cNvSpPr/>
          <p:nvPr/>
        </p:nvSpPr>
        <p:spPr>
          <a:xfrm>
            <a:off x="2053167" y="1730909"/>
            <a:ext cx="745067" cy="1"/>
          </a:xfrm>
          <a:custGeom>
            <a:avLst/>
            <a:gdLst/>
            <a:ahLst/>
            <a:cxnLst/>
            <a:rect l="0" t="0" r="r" b="b"/>
            <a:pathLst>
              <a:path w="745067" h="1" fill="none">
                <a:moveTo>
                  <a:pt x="0" y="0"/>
                </a:moveTo>
                <a:lnTo>
                  <a:pt x="745067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4" name="npu-gb"/>
          <p:cNvSpPr/>
          <p:nvPr/>
        </p:nvSpPr>
        <p:spPr>
          <a:xfrm>
            <a:off x="4593167" y="1382082"/>
            <a:ext cx="118533" cy="1"/>
          </a:xfrm>
          <a:custGeom>
            <a:avLst/>
            <a:gdLst/>
            <a:ahLst/>
            <a:cxnLst/>
            <a:rect l="0" t="0" r="r" b="b"/>
            <a:pathLst>
              <a:path w="118533" h="1" fill="none">
                <a:moveTo>
                  <a:pt x="0" y="0"/>
                </a:moveTo>
                <a:lnTo>
                  <a:pt x="118533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5" name="adapter-sram"/>
          <p:cNvSpPr/>
          <p:nvPr/>
        </p:nvSpPr>
        <p:spPr>
          <a:xfrm>
            <a:off x="5490633" y="1449816"/>
            <a:ext cx="135467" cy="1"/>
          </a:xfrm>
          <a:custGeom>
            <a:avLst/>
            <a:gdLst/>
            <a:ahLst/>
            <a:cxnLst/>
            <a:rect l="0" t="0" r="r" b="b"/>
            <a:pathLst>
              <a:path w="135467" h="1" fill="none">
                <a:moveTo>
                  <a:pt x="0" y="0"/>
                </a:moveTo>
                <a:lnTo>
                  <a:pt x="135467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6" name="mover-gb"/>
          <p:cNvSpPr/>
          <p:nvPr/>
        </p:nvSpPr>
        <p:spPr>
          <a:xfrm>
            <a:off x="5490633" y="1907016"/>
            <a:ext cx="135467" cy="1"/>
          </a:xfrm>
          <a:custGeom>
            <a:avLst/>
            <a:gdLst/>
            <a:ahLst/>
            <a:cxnLst/>
            <a:rect l="0" t="0" r="r" b="b"/>
            <a:pathLst>
              <a:path w="135467" h="1" fill="none">
                <a:moveTo>
                  <a:pt x="135467" y="0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7" name="lvds-rx-to-rx-cdc"/>
          <p:cNvSpPr/>
          <p:nvPr/>
        </p:nvSpPr>
        <p:spPr>
          <a:xfrm>
            <a:off x="10469033" y="1517549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101600" y="0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8" name="rx-cdc-to-isp"/>
          <p:cNvSpPr/>
          <p:nvPr/>
        </p:nvSpPr>
        <p:spPr>
          <a:xfrm>
            <a:off x="9825567" y="1517549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101600" y="0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9" name="isp-to-frame-select"/>
          <p:cNvSpPr/>
          <p:nvPr/>
        </p:nvSpPr>
        <p:spPr>
          <a:xfrm>
            <a:off x="9165167" y="1517549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101600" y="0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0" name="frame-select-to-frame-dma"/>
          <p:cNvSpPr/>
          <p:nvPr/>
        </p:nvSpPr>
        <p:spPr>
          <a:xfrm>
            <a:off x="8437033" y="1517549"/>
            <a:ext cx="118533" cy="1"/>
          </a:xfrm>
          <a:custGeom>
            <a:avLst/>
            <a:gdLst/>
            <a:ahLst/>
            <a:cxnLst/>
            <a:rect l="0" t="0" r="r" b="b"/>
            <a:pathLst>
              <a:path w="118533" h="1" fill="none">
                <a:moveTo>
                  <a:pt x="118533" y="0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1" name="raw-bypass"/>
          <p:cNvSpPr/>
          <p:nvPr/>
        </p:nvSpPr>
        <p:spPr>
          <a:xfrm>
            <a:off x="8860367" y="1060349"/>
            <a:ext cx="1337733" cy="152400"/>
          </a:xfrm>
          <a:custGeom>
            <a:avLst/>
            <a:gdLst/>
            <a:ahLst/>
            <a:cxnLst/>
            <a:rect l="0" t="0" r="r" b="b"/>
            <a:pathLst>
              <a:path w="1337733" h="152400" fill="none">
                <a:moveTo>
                  <a:pt x="1337733" y="152400"/>
                </a:moveTo>
                <a:lnTo>
                  <a:pt x="1337733" y="0"/>
                </a:lnTo>
                <a:lnTo>
                  <a:pt x="0" y="0"/>
                </a:lnTo>
                <a:lnTo>
                  <a:pt x="0" y="15240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2" name="isp-gb"/>
          <p:cNvSpPr/>
          <p:nvPr/>
        </p:nvSpPr>
        <p:spPr>
          <a:xfrm>
            <a:off x="5101167" y="1703816"/>
            <a:ext cx="4165600" cy="524933"/>
          </a:xfrm>
          <a:custGeom>
            <a:avLst/>
            <a:gdLst/>
            <a:ahLst/>
            <a:cxnLst/>
            <a:rect l="0" t="0" r="r" b="b"/>
            <a:pathLst>
              <a:path w="4165600" h="524933" fill="none">
                <a:moveTo>
                  <a:pt x="4165600" y="0"/>
                </a:moveTo>
                <a:lnTo>
                  <a:pt x="4110567" y="0"/>
                </a:lnTo>
                <a:lnTo>
                  <a:pt x="4110567" y="524933"/>
                </a:lnTo>
                <a:lnTo>
                  <a:pt x="0" y="524933"/>
                </a:lnTo>
                <a:lnTo>
                  <a:pt x="0" y="355600"/>
                </a:lnTo>
              </a:path>
            </a:pathLst>
          </a:custGeom>
          <a:noFill/>
          <a:ln w="16256" cap="flat">
            <a:solidFill>
              <a:srgbClr val="187C78"/>
            </a:solidFill>
            <a:custDash>
              <a:ds d="375000" sp="229167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3" name="master-1"/>
          <p:cNvSpPr/>
          <p:nvPr/>
        </p:nvSpPr>
        <p:spPr>
          <a:xfrm>
            <a:off x="1838678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4" name="master-3"/>
          <p:cNvSpPr/>
          <p:nvPr/>
        </p:nvSpPr>
        <p:spPr>
          <a:xfrm>
            <a:off x="3968515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5" name="master-4"/>
          <p:cNvSpPr/>
          <p:nvPr/>
        </p:nvSpPr>
        <p:spPr>
          <a:xfrm>
            <a:off x="5033433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6" name="master-5"/>
          <p:cNvSpPr/>
          <p:nvPr/>
        </p:nvSpPr>
        <p:spPr>
          <a:xfrm>
            <a:off x="6098352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7" name="master-6"/>
          <p:cNvSpPr/>
          <p:nvPr/>
        </p:nvSpPr>
        <p:spPr>
          <a:xfrm>
            <a:off x="7163270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8" name="master-7"/>
          <p:cNvSpPr/>
          <p:nvPr/>
        </p:nvSpPr>
        <p:spPr>
          <a:xfrm>
            <a:off x="8228189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9" name="master-8"/>
          <p:cNvSpPr/>
          <p:nvPr/>
        </p:nvSpPr>
        <p:spPr>
          <a:xfrm>
            <a:off x="9293107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0" name="cpu-xbar"/>
          <p:cNvSpPr/>
          <p:nvPr/>
        </p:nvSpPr>
        <p:spPr>
          <a:xfrm>
            <a:off x="773759" y="1737682"/>
            <a:ext cx="1" cy="1120987"/>
          </a:xfrm>
          <a:custGeom>
            <a:avLst/>
            <a:gdLst/>
            <a:ahLst/>
            <a:cxnLst/>
            <a:rect l="0" t="0" r="r" b="b"/>
            <a:pathLst>
              <a:path w="1" h="1120987" fill="none">
                <a:moveTo>
                  <a:pt x="0" y="0"/>
                </a:moveTo>
                <a:lnTo>
                  <a:pt x="0" y="1120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1" name="ara-xbar"/>
          <p:cNvSpPr/>
          <p:nvPr/>
        </p:nvSpPr>
        <p:spPr>
          <a:xfrm>
            <a:off x="2903596" y="1876536"/>
            <a:ext cx="148637" cy="982133"/>
          </a:xfrm>
          <a:custGeom>
            <a:avLst/>
            <a:gdLst/>
            <a:ahLst/>
            <a:cxnLst/>
            <a:rect l="0" t="0" r="r" b="b"/>
            <a:pathLst>
              <a:path w="148637" h="982133" fill="none">
                <a:moveTo>
                  <a:pt x="148637" y="0"/>
                </a:moveTo>
                <a:lnTo>
                  <a:pt x="148637" y="453813"/>
                </a:lnTo>
                <a:lnTo>
                  <a:pt x="0" y="453813"/>
                </a:lnTo>
                <a:lnTo>
                  <a:pt x="0" y="98213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2" name="target-0"/>
          <p:cNvSpPr/>
          <p:nvPr/>
        </p:nvSpPr>
        <p:spPr>
          <a:xfrm>
            <a:off x="925890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3" name="target-1"/>
          <p:cNvSpPr/>
          <p:nvPr/>
        </p:nvSpPr>
        <p:spPr>
          <a:xfrm>
            <a:off x="2295071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4" name="target-2"/>
          <p:cNvSpPr/>
          <p:nvPr/>
        </p:nvSpPr>
        <p:spPr>
          <a:xfrm>
            <a:off x="3664252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5" name="atomics-llc"/>
          <p:cNvSpPr/>
          <p:nvPr/>
        </p:nvSpPr>
        <p:spPr>
          <a:xfrm>
            <a:off x="3647319" y="3928856"/>
            <a:ext cx="84667" cy="1"/>
          </a:xfrm>
          <a:custGeom>
            <a:avLst/>
            <a:gdLst/>
            <a:ahLst/>
            <a:cxnLst/>
            <a:rect l="0" t="0" r="r" b="b"/>
            <a:pathLst>
              <a:path w="84667" h="1" fill="none">
                <a:moveTo>
                  <a:pt x="0" y="0"/>
                </a:moveTo>
                <a:lnTo>
                  <a:pt x="84667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6" name="target-3"/>
          <p:cNvSpPr/>
          <p:nvPr/>
        </p:nvSpPr>
        <p:spPr>
          <a:xfrm>
            <a:off x="5033433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7" name="target-4"/>
          <p:cNvSpPr/>
          <p:nvPr/>
        </p:nvSpPr>
        <p:spPr>
          <a:xfrm>
            <a:off x="6402614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8" name="target-5"/>
          <p:cNvSpPr/>
          <p:nvPr/>
        </p:nvSpPr>
        <p:spPr>
          <a:xfrm>
            <a:off x="7771795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9" name="target-6"/>
          <p:cNvSpPr/>
          <p:nvPr/>
        </p:nvSpPr>
        <p:spPr>
          <a:xfrm>
            <a:off x="9140976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0" name="m5-gb"/>
          <p:cNvSpPr/>
          <p:nvPr/>
        </p:nvSpPr>
        <p:spPr>
          <a:xfrm>
            <a:off x="4910667" y="2059416"/>
            <a:ext cx="5063067" cy="1778000"/>
          </a:xfrm>
          <a:custGeom>
            <a:avLst/>
            <a:gdLst/>
            <a:ahLst/>
            <a:cxnLst/>
            <a:rect l="0" t="0" r="r" b="b"/>
            <a:pathLst>
              <a:path w="5063067" h="1778000" fill="none">
                <a:moveTo>
                  <a:pt x="3470729" y="1778000"/>
                </a:moveTo>
                <a:lnTo>
                  <a:pt x="3539067" y="1778000"/>
                </a:lnTo>
                <a:lnTo>
                  <a:pt x="3539067" y="1422400"/>
                </a:lnTo>
                <a:lnTo>
                  <a:pt x="4209990" y="1422400"/>
                </a:lnTo>
                <a:cubicBezTo>
                  <a:pt x="4223536" y="1404338"/>
                  <a:pt x="4237083" y="1404338"/>
                  <a:pt x="4250630" y="1422400"/>
                </a:cubicBezTo>
                <a:lnTo>
                  <a:pt x="5063067" y="1422400"/>
                </a:lnTo>
                <a:lnTo>
                  <a:pt x="5063067" y="237067"/>
                </a:lnTo>
                <a:lnTo>
                  <a:pt x="0" y="237067"/>
                </a:ln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1" name="emmc-physical"/>
          <p:cNvSpPr/>
          <p:nvPr/>
        </p:nvSpPr>
        <p:spPr>
          <a:xfrm>
            <a:off x="8712482" y="2329220"/>
            <a:ext cx="2700584" cy="255129"/>
          </a:xfrm>
          <a:custGeom>
            <a:avLst/>
            <a:gdLst/>
            <a:ahLst/>
            <a:cxnLst/>
            <a:rect l="0" t="0" r="r" b="b"/>
            <a:pathLst>
              <a:path w="2700584" h="255129" fill="none">
                <a:moveTo>
                  <a:pt x="2700584" y="255129"/>
                </a:moveTo>
                <a:lnTo>
                  <a:pt x="2632851" y="255129"/>
                </a:lnTo>
                <a:lnTo>
                  <a:pt x="2632851" y="18062"/>
                </a:lnTo>
                <a:lnTo>
                  <a:pt x="1281571" y="18062"/>
                </a:lnTo>
                <a:cubicBezTo>
                  <a:pt x="1268024" y="0"/>
                  <a:pt x="1254478" y="0"/>
                  <a:pt x="1240931" y="18062"/>
                </a:cubicBezTo>
                <a:lnTo>
                  <a:pt x="38664" y="18062"/>
                </a:lnTo>
                <a:lnTo>
                  <a:pt x="38664" y="255129"/>
                </a:lnTo>
                <a:lnTo>
                  <a:pt x="0" y="255129"/>
                </a:lnTo>
              </a:path>
            </a:pathLst>
          </a:custGeom>
          <a:noFill/>
          <a:ln w="16256" cap="flat">
            <a:solidFill>
              <a:srgbClr val="93939D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2" name="bridge-regbus"/>
          <p:cNvSpPr/>
          <p:nvPr/>
        </p:nvSpPr>
        <p:spPr>
          <a:xfrm>
            <a:off x="2295071" y="4108349"/>
            <a:ext cx="1" cy="270933"/>
          </a:xfrm>
          <a:custGeom>
            <a:avLst/>
            <a:gdLst/>
            <a:ahLst/>
            <a:cxnLst/>
            <a:rect l="0" t="0" r="r" b="b"/>
            <a:pathLst>
              <a:path w="1" h="270933" fill="none">
                <a:moveTo>
                  <a:pt x="0" y="0"/>
                </a:moveTo>
                <a:lnTo>
                  <a:pt x="0" y="270933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3" name="reg-column-0"/>
          <p:cNvSpPr/>
          <p:nvPr/>
        </p:nvSpPr>
        <p:spPr>
          <a:xfrm>
            <a:off x="285327" y="4599416"/>
            <a:ext cx="1" cy="1060027"/>
          </a:xfrm>
          <a:custGeom>
            <a:avLst/>
            <a:gdLst/>
            <a:ahLst/>
            <a:cxnLst/>
            <a:rect l="0" t="0" r="r" b="b"/>
            <a:pathLst>
              <a:path w="1" h="1060027" fill="none">
                <a:moveTo>
                  <a:pt x="0" y="0"/>
                </a:moveTo>
                <a:lnTo>
                  <a:pt x="0" y="1060027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4" name="bootrom-cfg"/>
          <p:cNvSpPr/>
          <p:nvPr/>
        </p:nvSpPr>
        <p:spPr>
          <a:xfrm>
            <a:off x="285327" y="476536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5" name="uart-cfg"/>
          <p:cNvSpPr/>
          <p:nvPr/>
        </p:nvSpPr>
        <p:spPr>
          <a:xfrm>
            <a:off x="285327" y="5063389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6" name="vga-regs-cfg"/>
          <p:cNvSpPr/>
          <p:nvPr/>
        </p:nvSpPr>
        <p:spPr>
          <a:xfrm>
            <a:off x="285327" y="5361416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7" name="irq-router-cfg"/>
          <p:cNvSpPr/>
          <p:nvPr/>
        </p:nvSpPr>
        <p:spPr>
          <a:xfrm>
            <a:off x="285327" y="565944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8" name="reg-column-1"/>
          <p:cNvSpPr/>
          <p:nvPr/>
        </p:nvSpPr>
        <p:spPr>
          <a:xfrm>
            <a:off x="1402927" y="4599416"/>
            <a:ext cx="1" cy="1060027"/>
          </a:xfrm>
          <a:custGeom>
            <a:avLst/>
            <a:gdLst/>
            <a:ahLst/>
            <a:cxnLst/>
            <a:rect l="0" t="0" r="r" b="b"/>
            <a:pathLst>
              <a:path w="1" h="1060027" fill="none">
                <a:moveTo>
                  <a:pt x="0" y="0"/>
                </a:moveTo>
                <a:lnTo>
                  <a:pt x="0" y="1060027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9" name="clint-cfg"/>
          <p:cNvSpPr/>
          <p:nvPr/>
        </p:nvSpPr>
        <p:spPr>
          <a:xfrm>
            <a:off x="1402927" y="476536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0" name="i2c-cfg"/>
          <p:cNvSpPr/>
          <p:nvPr/>
        </p:nvSpPr>
        <p:spPr>
          <a:xfrm>
            <a:off x="1402927" y="5063389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1" name="usb-regs-cfg"/>
          <p:cNvSpPr/>
          <p:nvPr/>
        </p:nvSpPr>
        <p:spPr>
          <a:xfrm>
            <a:off x="1402927" y="5361416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2" name="axi-rt-config-cfg"/>
          <p:cNvSpPr/>
          <p:nvPr/>
        </p:nvSpPr>
        <p:spPr>
          <a:xfrm>
            <a:off x="1402927" y="565944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3" name="reg-column-2"/>
          <p:cNvSpPr/>
          <p:nvPr/>
        </p:nvSpPr>
        <p:spPr>
          <a:xfrm>
            <a:off x="2520527" y="4599416"/>
            <a:ext cx="1" cy="1060027"/>
          </a:xfrm>
          <a:custGeom>
            <a:avLst/>
            <a:gdLst/>
            <a:ahLst/>
            <a:cxnLst/>
            <a:rect l="0" t="0" r="r" b="b"/>
            <a:pathLst>
              <a:path w="1" h="1060027" fill="none">
                <a:moveTo>
                  <a:pt x="0" y="0"/>
                </a:moveTo>
                <a:lnTo>
                  <a:pt x="0" y="1060027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4" name="soc-regs-cfg"/>
          <p:cNvSpPr/>
          <p:nvPr/>
        </p:nvSpPr>
        <p:spPr>
          <a:xfrm>
            <a:off x="2520527" y="476536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5" name="spi-cfg"/>
          <p:cNvSpPr/>
          <p:nvPr/>
        </p:nvSpPr>
        <p:spPr>
          <a:xfrm>
            <a:off x="2520527" y="5063389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6" name="err-vga-cfg"/>
          <p:cNvSpPr/>
          <p:nvPr/>
        </p:nvSpPr>
        <p:spPr>
          <a:xfrm>
            <a:off x="2520527" y="5361416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7" name="clic-cfg"/>
          <p:cNvSpPr/>
          <p:nvPr/>
        </p:nvSpPr>
        <p:spPr>
          <a:xfrm>
            <a:off x="2520527" y="565944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8" name="reg-column-3"/>
          <p:cNvSpPr/>
          <p:nvPr/>
        </p:nvSpPr>
        <p:spPr>
          <a:xfrm>
            <a:off x="3638127" y="4599416"/>
            <a:ext cx="1" cy="1060027"/>
          </a:xfrm>
          <a:custGeom>
            <a:avLst/>
            <a:gdLst/>
            <a:ahLst/>
            <a:cxnLst/>
            <a:rect l="0" t="0" r="r" b="b"/>
            <a:pathLst>
              <a:path w="1" h="1060027" fill="none">
                <a:moveTo>
                  <a:pt x="0" y="0"/>
                </a:moveTo>
                <a:lnTo>
                  <a:pt x="0" y="1060027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9" name="plic-cfg"/>
          <p:cNvSpPr/>
          <p:nvPr/>
        </p:nvSpPr>
        <p:spPr>
          <a:xfrm>
            <a:off x="3638127" y="476536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0" name="gpio-cfg"/>
          <p:cNvSpPr/>
          <p:nvPr/>
        </p:nvSpPr>
        <p:spPr>
          <a:xfrm>
            <a:off x="3638127" y="5063389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1" name="err-dma-cfg"/>
          <p:cNvSpPr/>
          <p:nvPr/>
        </p:nvSpPr>
        <p:spPr>
          <a:xfrm>
            <a:off x="3638127" y="5361416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2" name="reg-error-cfg"/>
          <p:cNvSpPr/>
          <p:nvPr/>
        </p:nvSpPr>
        <p:spPr>
          <a:xfrm>
            <a:off x="3638127" y="565944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3" name="reg-column-4"/>
          <p:cNvSpPr/>
          <p:nvPr/>
        </p:nvSpPr>
        <p:spPr>
          <a:xfrm>
            <a:off x="4755727" y="4599416"/>
            <a:ext cx="1" cy="1060027"/>
          </a:xfrm>
          <a:custGeom>
            <a:avLst/>
            <a:gdLst/>
            <a:ahLst/>
            <a:cxnLst/>
            <a:rect l="0" t="0" r="r" b="b"/>
            <a:pathLst>
              <a:path w="1" h="1060027" fill="none">
                <a:moveTo>
                  <a:pt x="0" y="0"/>
                </a:moveTo>
                <a:lnTo>
                  <a:pt x="0" y="1060027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4" name="llc-regs-cfg"/>
          <p:cNvSpPr/>
          <p:nvPr/>
        </p:nvSpPr>
        <p:spPr>
          <a:xfrm>
            <a:off x="4755727" y="476536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5" name="slink-regs-cfg"/>
          <p:cNvSpPr/>
          <p:nvPr/>
        </p:nvSpPr>
        <p:spPr>
          <a:xfrm>
            <a:off x="4755727" y="5063389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6" name="err-cpu-cfg"/>
          <p:cNvSpPr/>
          <p:nvPr/>
        </p:nvSpPr>
        <p:spPr>
          <a:xfrm>
            <a:off x="4755727" y="5361416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7" name="reg-ext-cfg"/>
          <p:cNvSpPr/>
          <p:nvPr/>
        </p:nvSpPr>
        <p:spPr>
          <a:xfrm>
            <a:off x="4755727" y="565944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8" name="ddr-arb-0"/>
          <p:cNvSpPr/>
          <p:nvPr/>
        </p:nvSpPr>
        <p:spPr>
          <a:xfrm>
            <a:off x="6604000" y="5882962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9" name="ddr-arb-1"/>
          <p:cNvSpPr/>
          <p:nvPr/>
        </p:nvSpPr>
        <p:spPr>
          <a:xfrm>
            <a:off x="7535333" y="5882962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0" name="ddr-arb-2"/>
          <p:cNvSpPr/>
          <p:nvPr/>
        </p:nvSpPr>
        <p:spPr>
          <a:xfrm>
            <a:off x="8466667" y="5882962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1" name="ddr-arb-3"/>
          <p:cNvSpPr/>
          <p:nvPr/>
        </p:nvSpPr>
        <p:spPr>
          <a:xfrm>
            <a:off x="9398000" y="5882962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2" name="arb-rw"/>
          <p:cNvSpPr/>
          <p:nvPr/>
        </p:nvSpPr>
        <p:spPr>
          <a:xfrm>
            <a:off x="7001933" y="6072616"/>
            <a:ext cx="1" cy="33867"/>
          </a:xfrm>
          <a:custGeom>
            <a:avLst/>
            <a:gdLst/>
            <a:ahLst/>
            <a:cxnLst/>
            <a:rect l="0" t="0" r="r" b="b"/>
            <a:pathLst>
              <a:path w="1" h="33867" fill="none">
                <a:moveTo>
                  <a:pt x="0" y="0"/>
                </a:moveTo>
                <a:lnTo>
                  <a:pt x="0" y="3386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3" name="rw-command"/>
          <p:cNvSpPr/>
          <p:nvPr/>
        </p:nvSpPr>
        <p:spPr>
          <a:xfrm>
            <a:off x="7806267" y="6191149"/>
            <a:ext cx="406400" cy="1"/>
          </a:xfrm>
          <a:custGeom>
            <a:avLst/>
            <a:gdLst/>
            <a:ahLst/>
            <a:cxnLst/>
            <a:rect l="0" t="0" r="r" b="b"/>
            <a:pathLst>
              <a:path w="406400" h="1" fill="none">
                <a:moveTo>
                  <a:pt x="0" y="0"/>
                </a:moveTo>
                <a:lnTo>
                  <a:pt x="406400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4" name="controller-phy"/>
          <p:cNvSpPr/>
          <p:nvPr/>
        </p:nvSpPr>
        <p:spPr>
          <a:xfrm>
            <a:off x="9855200" y="6191149"/>
            <a:ext cx="406400" cy="135467"/>
          </a:xfrm>
          <a:custGeom>
            <a:avLst/>
            <a:gdLst/>
            <a:ahLst/>
            <a:cxnLst/>
            <a:rect l="0" t="0" r="r" b="b"/>
            <a:pathLst>
              <a:path w="406400" h="135467" fill="none">
                <a:moveTo>
                  <a:pt x="0" y="0"/>
                </a:moveTo>
                <a:lnTo>
                  <a:pt x="203200" y="0"/>
                </a:lnTo>
                <a:lnTo>
                  <a:pt x="203200" y="135467"/>
                </a:lnTo>
                <a:lnTo>
                  <a:pt x="406400" y="135467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5" name="phy-ddr"/>
          <p:cNvSpPr/>
          <p:nvPr/>
        </p:nvSpPr>
        <p:spPr>
          <a:xfrm>
            <a:off x="11125200" y="6326616"/>
            <a:ext cx="376767" cy="1"/>
          </a:xfrm>
          <a:custGeom>
            <a:avLst/>
            <a:gdLst/>
            <a:ahLst/>
            <a:cxnLst/>
            <a:rect l="0" t="0" r="r" b="b"/>
            <a:pathLst>
              <a:path w="376767" h="1" fill="none">
                <a:moveTo>
                  <a:pt x="0" y="0"/>
                </a:moveTo>
                <a:lnTo>
                  <a:pt x="376767" y="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6" name="roi-vdma-control"/>
          <p:cNvSpPr/>
          <p:nvPr/>
        </p:nvSpPr>
        <p:spPr>
          <a:xfrm>
            <a:off x="10701867" y="4971949"/>
            <a:ext cx="1" cy="50800"/>
          </a:xfrm>
          <a:custGeom>
            <a:avLst/>
            <a:gdLst/>
            <a:ahLst/>
            <a:cxnLst/>
            <a:rect l="0" t="0" r="r" b="b"/>
            <a:pathLst>
              <a:path w="1" h="50800" fill="none">
                <a:moveTo>
                  <a:pt x="0" y="0"/>
                </a:moveTo>
                <a:lnTo>
                  <a:pt x="0" y="5080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7" name="vdma-pixels"/>
          <p:cNvSpPr/>
          <p:nvPr/>
        </p:nvSpPr>
        <p:spPr>
          <a:xfrm>
            <a:off x="10701867" y="5361416"/>
            <a:ext cx="1" cy="50800"/>
          </a:xfrm>
          <a:custGeom>
            <a:avLst/>
            <a:gdLst/>
            <a:ahLst/>
            <a:cxnLst/>
            <a:rect l="0" t="0" r="r" b="b"/>
            <a:pathLst>
              <a:path w="1" h="50800" fill="none">
                <a:moveTo>
                  <a:pt x="0" y="0"/>
                </a:moveTo>
                <a:lnTo>
                  <a:pt x="0" y="5080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8" name="fifo-lvds"/>
          <p:cNvSpPr/>
          <p:nvPr/>
        </p:nvSpPr>
        <p:spPr>
          <a:xfrm>
            <a:off x="10701867" y="5666216"/>
            <a:ext cx="1" cy="50800"/>
          </a:xfrm>
          <a:custGeom>
            <a:avLst/>
            <a:gdLst/>
            <a:ahLst/>
            <a:cxnLst/>
            <a:rect l="0" t="0" r="r" b="b"/>
            <a:pathLst>
              <a:path w="1" h="50800" fill="none">
                <a:moveTo>
                  <a:pt x="0" y="0"/>
                </a:moveTo>
                <a:lnTo>
                  <a:pt x="0" y="5080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9" name="llc-f0"/>
          <p:cNvSpPr/>
          <p:nvPr/>
        </p:nvSpPr>
        <p:spPr>
          <a:xfrm>
            <a:off x="4019852" y="4071096"/>
            <a:ext cx="2584148" cy="243840"/>
          </a:xfrm>
          <a:custGeom>
            <a:avLst/>
            <a:gdLst/>
            <a:ahLst/>
            <a:cxnLst/>
            <a:rect l="0" t="0" r="r" b="b"/>
            <a:pathLst>
              <a:path w="2584148" h="243840" fill="none">
                <a:moveTo>
                  <a:pt x="0" y="0"/>
                </a:moveTo>
                <a:lnTo>
                  <a:pt x="0" y="172720"/>
                </a:lnTo>
                <a:lnTo>
                  <a:pt x="2584148" y="172720"/>
                </a:lnTo>
                <a:lnTo>
                  <a:pt x="2584148" y="24384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0" name="mover-f1"/>
          <p:cNvSpPr/>
          <p:nvPr/>
        </p:nvSpPr>
        <p:spPr>
          <a:xfrm>
            <a:off x="7336367" y="1907016"/>
            <a:ext cx="2688167" cy="2407920"/>
          </a:xfrm>
          <a:custGeom>
            <a:avLst/>
            <a:gdLst/>
            <a:ahLst/>
            <a:cxnLst/>
            <a:rect l="0" t="0" r="r" b="b"/>
            <a:pathLst>
              <a:path w="2688167" h="2407920" fill="none">
                <a:moveTo>
                  <a:pt x="0" y="0"/>
                </a:moveTo>
                <a:lnTo>
                  <a:pt x="165100" y="0"/>
                </a:lnTo>
                <a:lnTo>
                  <a:pt x="165100" y="301413"/>
                </a:lnTo>
                <a:cubicBezTo>
                  <a:pt x="183162" y="314960"/>
                  <a:pt x="183162" y="328507"/>
                  <a:pt x="165100" y="342053"/>
                </a:cubicBezTo>
                <a:lnTo>
                  <a:pt x="165100" y="369147"/>
                </a:lnTo>
                <a:cubicBezTo>
                  <a:pt x="183162" y="382693"/>
                  <a:pt x="183162" y="396240"/>
                  <a:pt x="165100" y="409787"/>
                </a:cubicBezTo>
                <a:lnTo>
                  <a:pt x="165100" y="457200"/>
                </a:lnTo>
                <a:lnTo>
                  <a:pt x="1394460" y="457200"/>
                </a:lnTo>
                <a:cubicBezTo>
                  <a:pt x="1408007" y="439138"/>
                  <a:pt x="1421553" y="439138"/>
                  <a:pt x="1435100" y="457200"/>
                </a:cubicBezTo>
                <a:lnTo>
                  <a:pt x="2617047" y="457200"/>
                </a:lnTo>
                <a:cubicBezTo>
                  <a:pt x="2630593" y="439138"/>
                  <a:pt x="2644140" y="439138"/>
                  <a:pt x="2657687" y="457200"/>
                </a:cubicBezTo>
                <a:lnTo>
                  <a:pt x="2688167" y="457200"/>
                </a:lnTo>
                <a:lnTo>
                  <a:pt x="2688167" y="2269067"/>
                </a:lnTo>
                <a:lnTo>
                  <a:pt x="198967" y="2269067"/>
                </a:lnTo>
                <a:lnTo>
                  <a:pt x="198967" y="2407920"/>
                </a:lnTo>
              </a:path>
            </a:pathLst>
          </a:custGeom>
          <a:noFill/>
          <a:ln w="16256" cap="flat">
            <a:solidFill>
              <a:srgbClr val="314D66"/>
            </a:solidFill>
            <a:custDash>
              <a:ds d="375000" sp="229167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1" name="frame-f2"/>
          <p:cNvSpPr/>
          <p:nvPr/>
        </p:nvSpPr>
        <p:spPr>
          <a:xfrm>
            <a:off x="8072967" y="1839282"/>
            <a:ext cx="3121096" cy="2475653"/>
          </a:xfrm>
          <a:custGeom>
            <a:avLst/>
            <a:gdLst/>
            <a:ahLst/>
            <a:cxnLst/>
            <a:rect l="0" t="0" r="r" b="b"/>
            <a:pathLst>
              <a:path w="3121096" h="2475653" fill="none">
                <a:moveTo>
                  <a:pt x="0" y="0"/>
                </a:moveTo>
                <a:lnTo>
                  <a:pt x="0" y="152400"/>
                </a:lnTo>
                <a:lnTo>
                  <a:pt x="1118447" y="152400"/>
                </a:lnTo>
                <a:cubicBezTo>
                  <a:pt x="1131993" y="134338"/>
                  <a:pt x="1145540" y="134338"/>
                  <a:pt x="1159087" y="152400"/>
                </a:cubicBezTo>
                <a:lnTo>
                  <a:pt x="3103033" y="152400"/>
                </a:lnTo>
                <a:lnTo>
                  <a:pt x="3103033" y="487680"/>
                </a:lnTo>
                <a:cubicBezTo>
                  <a:pt x="3121096" y="501227"/>
                  <a:pt x="3121096" y="514773"/>
                  <a:pt x="3103033" y="528320"/>
                </a:cubicBezTo>
                <a:lnTo>
                  <a:pt x="3103033" y="2286000"/>
                </a:lnTo>
                <a:lnTo>
                  <a:pt x="1971887" y="2286000"/>
                </a:lnTo>
                <a:cubicBezTo>
                  <a:pt x="1958340" y="2267938"/>
                  <a:pt x="1944793" y="2267938"/>
                  <a:pt x="1931247" y="2286000"/>
                </a:cubicBezTo>
                <a:lnTo>
                  <a:pt x="393700" y="2286000"/>
                </a:lnTo>
                <a:lnTo>
                  <a:pt x="393700" y="2316480"/>
                </a:lnTo>
                <a:cubicBezTo>
                  <a:pt x="411762" y="2330027"/>
                  <a:pt x="411762" y="2343573"/>
                  <a:pt x="393700" y="2357120"/>
                </a:cubicBezTo>
                <a:lnTo>
                  <a:pt x="393700" y="2475653"/>
                </a:lnTo>
              </a:path>
            </a:pathLst>
          </a:custGeom>
          <a:noFill/>
          <a:ln w="16256" cap="flat">
            <a:solidFill>
              <a:srgbClr val="314D66"/>
            </a:solidFill>
            <a:custDash>
              <a:ds d="375000" sp="229167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2" name="roi-f3-request"/>
          <p:cNvSpPr/>
          <p:nvPr/>
        </p:nvSpPr>
        <p:spPr>
          <a:xfrm>
            <a:off x="9398000" y="4277682"/>
            <a:ext cx="863600" cy="812800"/>
          </a:xfrm>
          <a:custGeom>
            <a:avLst/>
            <a:gdLst/>
            <a:ahLst/>
            <a:cxnLst/>
            <a:rect l="0" t="0" r="r" b="b"/>
            <a:pathLst>
              <a:path w="863600" h="812800" fill="none">
                <a:moveTo>
                  <a:pt x="863600" y="812800"/>
                </a:moveTo>
                <a:lnTo>
                  <a:pt x="677333" y="812800"/>
                </a:lnTo>
                <a:lnTo>
                  <a:pt x="677333" y="0"/>
                </a:lnTo>
                <a:lnTo>
                  <a:pt x="0" y="0"/>
                </a:lnTo>
                <a:lnTo>
                  <a:pt x="0" y="37253"/>
                </a:lnTo>
              </a:path>
            </a:pathLst>
          </a:custGeom>
          <a:noFill/>
          <a:ln w="16256" cap="flat">
            <a:solidFill>
              <a:srgbClr val="314D66"/>
            </a:solidFill>
            <a:custDash>
              <a:ds d="375000" sp="229167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3" name="front-input-0"/>
          <p:cNvSpPr/>
          <p:nvPr/>
        </p:nvSpPr>
        <p:spPr>
          <a:xfrm>
            <a:off x="6604000" y="4436856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4" name="front-input-1"/>
          <p:cNvSpPr/>
          <p:nvPr/>
        </p:nvSpPr>
        <p:spPr>
          <a:xfrm>
            <a:off x="7535333" y="4436856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5" name="front-input-2"/>
          <p:cNvSpPr/>
          <p:nvPr/>
        </p:nvSpPr>
        <p:spPr>
          <a:xfrm>
            <a:off x="8466667" y="4436856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6" name="front-input-3"/>
          <p:cNvSpPr/>
          <p:nvPr/>
        </p:nvSpPr>
        <p:spPr>
          <a:xfrm>
            <a:off x="9398000" y="4436856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7" name="adapt-address"/>
          <p:cNvSpPr/>
          <p:nvPr/>
        </p:nvSpPr>
        <p:spPr>
          <a:xfrm>
            <a:off x="6587067" y="4667149"/>
            <a:ext cx="1" cy="101600"/>
          </a:xfrm>
          <a:custGeom>
            <a:avLst/>
            <a:gdLst/>
            <a:ahLst/>
            <a:cxnLst/>
            <a:rect l="0" t="0" r="r" b="b"/>
            <a:pathLst>
              <a:path w="1" h="101600" fill="none">
                <a:moveTo>
                  <a:pt x="0" y="0"/>
                </a:moveTo>
                <a:lnTo>
                  <a:pt x="0" y="10160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8" name="address-downstream"/>
          <p:cNvSpPr/>
          <p:nvPr/>
        </p:nvSpPr>
        <p:spPr>
          <a:xfrm>
            <a:off x="6976533" y="4938082"/>
            <a:ext cx="40640" cy="552027"/>
          </a:xfrm>
          <a:custGeom>
            <a:avLst/>
            <a:gdLst/>
            <a:ahLst/>
            <a:cxnLst/>
            <a:rect l="0" t="0" r="r" b="b"/>
            <a:pathLst>
              <a:path w="40640" h="552027" fill="none">
                <a:moveTo>
                  <a:pt x="0" y="0"/>
                </a:moveTo>
                <a:lnTo>
                  <a:pt x="40640" y="0"/>
                </a:lnTo>
                <a:lnTo>
                  <a:pt x="40640" y="55202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9" name="b-response"/>
          <p:cNvSpPr/>
          <p:nvPr/>
        </p:nvSpPr>
        <p:spPr>
          <a:xfrm>
            <a:off x="6163733" y="4667149"/>
            <a:ext cx="84667" cy="907627"/>
          </a:xfrm>
          <a:custGeom>
            <a:avLst/>
            <a:gdLst/>
            <a:ahLst/>
            <a:cxnLst/>
            <a:rect l="0" t="0" r="r" b="b"/>
            <a:pathLst>
              <a:path w="84667" h="907627" fill="none">
                <a:moveTo>
                  <a:pt x="33867" y="907627"/>
                </a:moveTo>
                <a:lnTo>
                  <a:pt x="0" y="907627"/>
                </a:lnTo>
                <a:lnTo>
                  <a:pt x="0" y="67733"/>
                </a:lnTo>
                <a:lnTo>
                  <a:pt x="84667" y="67733"/>
                </a:lnTo>
                <a:lnTo>
                  <a:pt x="84667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0" name="metadata-control"/>
          <p:cNvSpPr/>
          <p:nvPr/>
        </p:nvSpPr>
        <p:spPr>
          <a:xfrm>
            <a:off x="6587067" y="5107416"/>
            <a:ext cx="1" cy="101600"/>
          </a:xfrm>
          <a:custGeom>
            <a:avLst/>
            <a:gdLst/>
            <a:ahLst/>
            <a:cxnLst/>
            <a:rect l="0" t="0" r="r" b="b"/>
            <a:pathLst>
              <a:path w="1" h="101600" fill="none">
                <a:moveTo>
                  <a:pt x="0" y="0"/>
                </a:moveTo>
                <a:lnTo>
                  <a:pt x="0" y="101600"/>
                </a:lnTo>
              </a:path>
            </a:pathLst>
          </a:custGeom>
          <a:noFill/>
          <a:ln w="16256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1" name="metadata-storage"/>
          <p:cNvSpPr/>
          <p:nvPr/>
        </p:nvSpPr>
        <p:spPr>
          <a:xfrm>
            <a:off x="6587067" y="5378349"/>
            <a:ext cx="1" cy="111760"/>
          </a:xfrm>
          <a:custGeom>
            <a:avLst/>
            <a:gdLst/>
            <a:ahLst/>
            <a:cxnLst/>
            <a:rect l="0" t="0" r="r" b="b"/>
            <a:pathLst>
              <a:path w="1" h="111760" fill="none">
                <a:moveTo>
                  <a:pt x="0" y="0"/>
                </a:moveTo>
                <a:lnTo>
                  <a:pt x="0" y="11176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2" name="adapt-compressor"/>
          <p:cNvSpPr/>
          <p:nvPr/>
        </p:nvSpPr>
        <p:spPr>
          <a:xfrm>
            <a:off x="7577667" y="4667149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0"/>
                </a:moveTo>
                <a:lnTo>
                  <a:pt x="0" y="23706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3" name="compressor-route"/>
          <p:cNvSpPr/>
          <p:nvPr/>
        </p:nvSpPr>
        <p:spPr>
          <a:xfrm>
            <a:off x="7577667" y="5293682"/>
            <a:ext cx="1" cy="196427"/>
          </a:xfrm>
          <a:custGeom>
            <a:avLst/>
            <a:gdLst/>
            <a:ahLst/>
            <a:cxnLst/>
            <a:rect l="0" t="0" r="r" b="b"/>
            <a:pathLst>
              <a:path w="1" h="196427" fill="none">
                <a:moveTo>
                  <a:pt x="0" y="0"/>
                </a:moveTo>
                <a:lnTo>
                  <a:pt x="0" y="19642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4" name="read-to-decoder"/>
          <p:cNvSpPr/>
          <p:nvPr/>
        </p:nvSpPr>
        <p:spPr>
          <a:xfrm>
            <a:off x="8483600" y="5293682"/>
            <a:ext cx="1" cy="196427"/>
          </a:xfrm>
          <a:custGeom>
            <a:avLst/>
            <a:gdLst/>
            <a:ahLst/>
            <a:cxnLst/>
            <a:rect l="0" t="0" r="r" b="b"/>
            <a:pathLst>
              <a:path w="1" h="196427" fill="none">
                <a:moveTo>
                  <a:pt x="0" y="196427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5" name="decoder-up"/>
          <p:cNvSpPr/>
          <p:nvPr/>
        </p:nvSpPr>
        <p:spPr>
          <a:xfrm>
            <a:off x="8483600" y="4667149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237067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6" name="adapt-plain-bypass"/>
          <p:cNvSpPr/>
          <p:nvPr/>
        </p:nvSpPr>
        <p:spPr>
          <a:xfrm>
            <a:off x="9389533" y="4667149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0"/>
                </a:moveTo>
                <a:lnTo>
                  <a:pt x="0" y="237067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7" name="plain-bypass-route"/>
          <p:cNvSpPr/>
          <p:nvPr/>
        </p:nvSpPr>
        <p:spPr>
          <a:xfrm>
            <a:off x="9389533" y="5293682"/>
            <a:ext cx="1" cy="196427"/>
          </a:xfrm>
          <a:custGeom>
            <a:avLst/>
            <a:gdLst/>
            <a:ahLst/>
            <a:cxnLst/>
            <a:rect l="0" t="0" r="r" b="b"/>
            <a:pathLst>
              <a:path w="1" h="196427" fill="none">
                <a:moveTo>
                  <a:pt x="0" y="0"/>
                </a:moveTo>
                <a:lnTo>
                  <a:pt x="0" y="196427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8" name="front-ddr-0"/>
          <p:cNvSpPr/>
          <p:nvPr/>
        </p:nvSpPr>
        <p:spPr>
          <a:xfrm>
            <a:off x="6604000" y="5659442"/>
            <a:ext cx="1" cy="128693"/>
          </a:xfrm>
          <a:custGeom>
            <a:avLst/>
            <a:gdLst/>
            <a:ahLst/>
            <a:cxnLst/>
            <a:rect l="0" t="0" r="r" b="b"/>
            <a:pathLst>
              <a:path w="1" h="128693" fill="none">
                <a:moveTo>
                  <a:pt x="0" y="0"/>
                </a:moveTo>
                <a:lnTo>
                  <a:pt x="0" y="128693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9" name="front-ddr-1"/>
          <p:cNvSpPr/>
          <p:nvPr/>
        </p:nvSpPr>
        <p:spPr>
          <a:xfrm>
            <a:off x="7535333" y="5659442"/>
            <a:ext cx="1" cy="128693"/>
          </a:xfrm>
          <a:custGeom>
            <a:avLst/>
            <a:gdLst/>
            <a:ahLst/>
            <a:cxnLst/>
            <a:rect l="0" t="0" r="r" b="b"/>
            <a:pathLst>
              <a:path w="1" h="128693" fill="none">
                <a:moveTo>
                  <a:pt x="0" y="0"/>
                </a:moveTo>
                <a:lnTo>
                  <a:pt x="0" y="128693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0" name="front-ddr-2"/>
          <p:cNvSpPr/>
          <p:nvPr/>
        </p:nvSpPr>
        <p:spPr>
          <a:xfrm>
            <a:off x="8466667" y="5659442"/>
            <a:ext cx="1" cy="128693"/>
          </a:xfrm>
          <a:custGeom>
            <a:avLst/>
            <a:gdLst/>
            <a:ahLst/>
            <a:cxnLst/>
            <a:rect l="0" t="0" r="r" b="b"/>
            <a:pathLst>
              <a:path w="1" h="128693" fill="none">
                <a:moveTo>
                  <a:pt x="0" y="0"/>
                </a:moveTo>
                <a:lnTo>
                  <a:pt x="0" y="128693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1" name="front-ddr-3"/>
          <p:cNvSpPr/>
          <p:nvPr/>
        </p:nvSpPr>
        <p:spPr>
          <a:xfrm>
            <a:off x="9398000" y="5659442"/>
            <a:ext cx="1" cy="128693"/>
          </a:xfrm>
          <a:custGeom>
            <a:avLst/>
            <a:gdLst/>
            <a:ahLst/>
            <a:cxnLst/>
            <a:rect l="0" t="0" r="r" b="b"/>
            <a:pathLst>
              <a:path w="1" h="128693" fill="none">
                <a:moveTo>
                  <a:pt x="0" y="0"/>
                </a:moveTo>
                <a:lnTo>
                  <a:pt x="0" y="128693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2" name="regext-config"/>
          <p:cNvSpPr/>
          <p:nvPr/>
        </p:nvSpPr>
        <p:spPr>
          <a:xfrm>
            <a:off x="5846233" y="5659442"/>
            <a:ext cx="198967" cy="643805"/>
          </a:xfrm>
          <a:custGeom>
            <a:avLst/>
            <a:gdLst/>
            <a:ahLst/>
            <a:cxnLst/>
            <a:rect l="0" t="0" r="r" b="b"/>
            <a:pathLst>
              <a:path w="198967" h="643805" fill="none">
                <a:moveTo>
                  <a:pt x="0" y="0"/>
                </a:moveTo>
                <a:lnTo>
                  <a:pt x="198967" y="0"/>
                </a:lnTo>
                <a:lnTo>
                  <a:pt x="198967" y="643805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3" name="config-trunk-1"/>
          <p:cNvSpPr/>
          <p:nvPr/>
        </p:nvSpPr>
        <p:spPr>
          <a:xfrm>
            <a:off x="576157" y="5849096"/>
            <a:ext cx="5469043" cy="1"/>
          </a:xfrm>
          <a:custGeom>
            <a:avLst/>
            <a:gdLst/>
            <a:ahLst/>
            <a:cxnLst/>
            <a:rect l="0" t="0" r="r" b="b"/>
            <a:pathLst>
              <a:path w="5469043" h="1" fill="none">
                <a:moveTo>
                  <a:pt x="5469043" y="0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4" name="cfg-C1"/>
          <p:cNvSpPr/>
          <p:nvPr/>
        </p:nvSpPr>
        <p:spPr>
          <a:xfrm>
            <a:off x="576157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5" name="cfg-C2"/>
          <p:cNvSpPr/>
          <p:nvPr/>
        </p:nvSpPr>
        <p:spPr>
          <a:xfrm>
            <a:off x="1293283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6" name="cfg-C3"/>
          <p:cNvSpPr/>
          <p:nvPr/>
        </p:nvSpPr>
        <p:spPr>
          <a:xfrm>
            <a:off x="2010410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7" name="cfg-C4"/>
          <p:cNvSpPr/>
          <p:nvPr/>
        </p:nvSpPr>
        <p:spPr>
          <a:xfrm>
            <a:off x="2727537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8" name="cfg-C5"/>
          <p:cNvSpPr/>
          <p:nvPr/>
        </p:nvSpPr>
        <p:spPr>
          <a:xfrm>
            <a:off x="3444663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9" name="cfg-C6"/>
          <p:cNvSpPr/>
          <p:nvPr/>
        </p:nvSpPr>
        <p:spPr>
          <a:xfrm>
            <a:off x="4161790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0" name="cfg-C7"/>
          <p:cNvSpPr/>
          <p:nvPr/>
        </p:nvSpPr>
        <p:spPr>
          <a:xfrm>
            <a:off x="4878917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1" name="cfg-C8"/>
          <p:cNvSpPr/>
          <p:nvPr/>
        </p:nvSpPr>
        <p:spPr>
          <a:xfrm>
            <a:off x="5596043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2" name="config-trunk-2"/>
          <p:cNvSpPr/>
          <p:nvPr/>
        </p:nvSpPr>
        <p:spPr>
          <a:xfrm>
            <a:off x="576157" y="6303248"/>
            <a:ext cx="5469043" cy="1"/>
          </a:xfrm>
          <a:custGeom>
            <a:avLst/>
            <a:gdLst/>
            <a:ahLst/>
            <a:cxnLst/>
            <a:rect l="0" t="0" r="r" b="b"/>
            <a:pathLst>
              <a:path w="5469043" h="1" fill="none">
                <a:moveTo>
                  <a:pt x="5469043" y="0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3" name="cfg-C9"/>
          <p:cNvSpPr/>
          <p:nvPr/>
        </p:nvSpPr>
        <p:spPr>
          <a:xfrm>
            <a:off x="576157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4" name="cfg-C10"/>
          <p:cNvSpPr/>
          <p:nvPr/>
        </p:nvSpPr>
        <p:spPr>
          <a:xfrm>
            <a:off x="1293283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5" name="cfg-C11"/>
          <p:cNvSpPr/>
          <p:nvPr/>
        </p:nvSpPr>
        <p:spPr>
          <a:xfrm>
            <a:off x="2010410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6" name="cfg-C12"/>
          <p:cNvSpPr/>
          <p:nvPr/>
        </p:nvSpPr>
        <p:spPr>
          <a:xfrm>
            <a:off x="2727537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7" name="cfg-C13"/>
          <p:cNvSpPr/>
          <p:nvPr/>
        </p:nvSpPr>
        <p:spPr>
          <a:xfrm>
            <a:off x="3444663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8" name="cfg-C14"/>
          <p:cNvSpPr/>
          <p:nvPr/>
        </p:nvSpPr>
        <p:spPr>
          <a:xfrm>
            <a:off x="4161790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9" name="cfg-C15"/>
          <p:cNvSpPr/>
          <p:nvPr/>
        </p:nvSpPr>
        <p:spPr>
          <a:xfrm>
            <a:off x="4878917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0" name="cfg-C16"/>
          <p:cNvSpPr/>
          <p:nvPr/>
        </p:nvSpPr>
        <p:spPr>
          <a:xfrm>
            <a:off x="5596043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1" name="legend-axi-interface"/>
          <p:cNvSpPr/>
          <p:nvPr/>
        </p:nvSpPr>
        <p:spPr>
          <a:xfrm>
            <a:off x="10193867" y="2906082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2" name="legend-axi-request"/>
          <p:cNvSpPr/>
          <p:nvPr/>
        </p:nvSpPr>
        <p:spPr>
          <a:xfrm>
            <a:off x="10193867" y="3068643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3" name="legend-gb"/>
          <p:cNvSpPr/>
          <p:nvPr/>
        </p:nvSpPr>
        <p:spPr>
          <a:xfrm>
            <a:off x="10193867" y="3231202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4" name="legend-pixel"/>
          <p:cNvSpPr/>
          <p:nvPr/>
        </p:nvSpPr>
        <p:spPr>
          <a:xfrm>
            <a:off x="10193867" y="3393762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5" name="legend-cfg"/>
          <p:cNvSpPr/>
          <p:nvPr/>
        </p:nvSpPr>
        <p:spPr>
          <a:xfrm>
            <a:off x="10193867" y="3556323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6" name="legend-optional"/>
          <p:cNvSpPr/>
          <p:nvPr/>
        </p:nvSpPr>
        <p:spPr>
          <a:xfrm>
            <a:off x="10193867" y="3718882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93939D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7" name="junction-84.25-1407.0951771653542"/>
          <p:cNvSpPr/>
          <p:nvPr/>
        </p:nvSpPr>
        <p:spPr>
          <a:xfrm>
            <a:off x="268393" y="474842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8" name="junction-84.25-1495.0951771653542"/>
          <p:cNvSpPr/>
          <p:nvPr/>
        </p:nvSpPr>
        <p:spPr>
          <a:xfrm>
            <a:off x="268393" y="5046456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9" name="junction-84.25-1583.0951771653542"/>
          <p:cNvSpPr/>
          <p:nvPr/>
        </p:nvSpPr>
        <p:spPr>
          <a:xfrm>
            <a:off x="268393" y="534448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0" name="junction-84.25-1671.0951771653542"/>
          <p:cNvSpPr/>
          <p:nvPr/>
        </p:nvSpPr>
        <p:spPr>
          <a:xfrm>
            <a:off x="268393" y="564250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1" name="junction-414.25-1407.0951771653542"/>
          <p:cNvSpPr/>
          <p:nvPr/>
        </p:nvSpPr>
        <p:spPr>
          <a:xfrm>
            <a:off x="1385993" y="474842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2" name="junction-414.25-1495.0951771653542"/>
          <p:cNvSpPr/>
          <p:nvPr/>
        </p:nvSpPr>
        <p:spPr>
          <a:xfrm>
            <a:off x="1385993" y="5046456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3" name="junction-414.25-1583.0951771653542"/>
          <p:cNvSpPr/>
          <p:nvPr/>
        </p:nvSpPr>
        <p:spPr>
          <a:xfrm>
            <a:off x="1385993" y="534448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4" name="junction-414.25-1671.0951771653542"/>
          <p:cNvSpPr/>
          <p:nvPr/>
        </p:nvSpPr>
        <p:spPr>
          <a:xfrm>
            <a:off x="1385993" y="564250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5" name="junction-744.25-1407.0951771653542"/>
          <p:cNvSpPr/>
          <p:nvPr/>
        </p:nvSpPr>
        <p:spPr>
          <a:xfrm>
            <a:off x="2503593" y="474842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6" name="junction-744.25-1495.0951771653542"/>
          <p:cNvSpPr/>
          <p:nvPr/>
        </p:nvSpPr>
        <p:spPr>
          <a:xfrm>
            <a:off x="2503593" y="5046456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7" name="junction-744.25-1583.0951771653542"/>
          <p:cNvSpPr/>
          <p:nvPr/>
        </p:nvSpPr>
        <p:spPr>
          <a:xfrm>
            <a:off x="2503593" y="534448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8" name="junction-744.25-1671.0951771653542"/>
          <p:cNvSpPr/>
          <p:nvPr/>
        </p:nvSpPr>
        <p:spPr>
          <a:xfrm>
            <a:off x="2503593" y="564250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9" name="junction-1074.25-1407.0951771653542"/>
          <p:cNvSpPr/>
          <p:nvPr/>
        </p:nvSpPr>
        <p:spPr>
          <a:xfrm>
            <a:off x="3621193" y="474842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0" name="junction-1074.25-1495.0951771653542"/>
          <p:cNvSpPr/>
          <p:nvPr/>
        </p:nvSpPr>
        <p:spPr>
          <a:xfrm>
            <a:off x="3621193" y="5046456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1" name="junction-1074.25-1583.0951771653542"/>
          <p:cNvSpPr/>
          <p:nvPr/>
        </p:nvSpPr>
        <p:spPr>
          <a:xfrm>
            <a:off x="3621193" y="534448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2" name="junction-1074.25-1671.0951771653542"/>
          <p:cNvSpPr/>
          <p:nvPr/>
        </p:nvSpPr>
        <p:spPr>
          <a:xfrm>
            <a:off x="3621193" y="564250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3" name="junction-1404.25-1407.0951771653542"/>
          <p:cNvSpPr/>
          <p:nvPr/>
        </p:nvSpPr>
        <p:spPr>
          <a:xfrm>
            <a:off x="4738793" y="474842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4" name="junction-1404.25-1495.0951771653542"/>
          <p:cNvSpPr/>
          <p:nvPr/>
        </p:nvSpPr>
        <p:spPr>
          <a:xfrm>
            <a:off x="4738793" y="5046456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5" name="junction-1404.25-1583.0951771653542"/>
          <p:cNvSpPr/>
          <p:nvPr/>
        </p:nvSpPr>
        <p:spPr>
          <a:xfrm>
            <a:off x="4738793" y="534448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6" name="junction-1404.25-1671.0951771653542"/>
          <p:cNvSpPr/>
          <p:nvPr/>
        </p:nvSpPr>
        <p:spPr>
          <a:xfrm>
            <a:off x="4738793" y="564250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7" name="junction-1785-1727.0951771653542"/>
          <p:cNvSpPr/>
          <p:nvPr/>
        </p:nvSpPr>
        <p:spPr>
          <a:xfrm>
            <a:off x="6028267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8" name="junction-170.125-1727.0951771653542"/>
          <p:cNvSpPr/>
          <p:nvPr/>
        </p:nvSpPr>
        <p:spPr>
          <a:xfrm>
            <a:off x="559223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9" name="junction-381.875-1727.0951771653542"/>
          <p:cNvSpPr/>
          <p:nvPr/>
        </p:nvSpPr>
        <p:spPr>
          <a:xfrm>
            <a:off x="1276350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0" name="junction-593.625-1727.0951771653542"/>
          <p:cNvSpPr/>
          <p:nvPr/>
        </p:nvSpPr>
        <p:spPr>
          <a:xfrm>
            <a:off x="1993477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1" name="junction-805.375-1727.0951771653542"/>
          <p:cNvSpPr/>
          <p:nvPr/>
        </p:nvSpPr>
        <p:spPr>
          <a:xfrm>
            <a:off x="2710603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2" name="junction-1017.125-1727.0951771653542"/>
          <p:cNvSpPr/>
          <p:nvPr/>
        </p:nvSpPr>
        <p:spPr>
          <a:xfrm>
            <a:off x="3427730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3" name="junction-1228.875-1727.0951771653542"/>
          <p:cNvSpPr/>
          <p:nvPr/>
        </p:nvSpPr>
        <p:spPr>
          <a:xfrm>
            <a:off x="4144857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4" name="junction-1440.625-1727.0951771653542"/>
          <p:cNvSpPr/>
          <p:nvPr/>
        </p:nvSpPr>
        <p:spPr>
          <a:xfrm>
            <a:off x="4861983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5" name="junction-1652.375-1727.0951771653542"/>
          <p:cNvSpPr/>
          <p:nvPr/>
        </p:nvSpPr>
        <p:spPr>
          <a:xfrm>
            <a:off x="5579110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6" name="junction-1785-1861.1951771653542"/>
          <p:cNvSpPr/>
          <p:nvPr/>
        </p:nvSpPr>
        <p:spPr>
          <a:xfrm>
            <a:off x="6028267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7" name="junction-170.125-1861.1951771653542"/>
          <p:cNvSpPr/>
          <p:nvPr/>
        </p:nvSpPr>
        <p:spPr>
          <a:xfrm>
            <a:off x="559223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8" name="junction-381.875-1861.1951771653542"/>
          <p:cNvSpPr/>
          <p:nvPr/>
        </p:nvSpPr>
        <p:spPr>
          <a:xfrm>
            <a:off x="1276350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9" name="junction-593.625-1861.1951771653542"/>
          <p:cNvSpPr/>
          <p:nvPr/>
        </p:nvSpPr>
        <p:spPr>
          <a:xfrm>
            <a:off x="1993477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0" name="junction-805.375-1861.1951771653542"/>
          <p:cNvSpPr/>
          <p:nvPr/>
        </p:nvSpPr>
        <p:spPr>
          <a:xfrm>
            <a:off x="2710603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1" name="junction-1017.125-1861.1951771653542"/>
          <p:cNvSpPr/>
          <p:nvPr/>
        </p:nvSpPr>
        <p:spPr>
          <a:xfrm>
            <a:off x="3427730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2" name="junction-1228.875-1861.1951771653542"/>
          <p:cNvSpPr/>
          <p:nvPr/>
        </p:nvSpPr>
        <p:spPr>
          <a:xfrm>
            <a:off x="4144857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3" name="junction-1440.625-1861.1951771653542"/>
          <p:cNvSpPr/>
          <p:nvPr/>
        </p:nvSpPr>
        <p:spPr>
          <a:xfrm>
            <a:off x="4861983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4" name="junction-1652.375-1861.1951771653542"/>
          <p:cNvSpPr/>
          <p:nvPr/>
        </p:nvSpPr>
        <p:spPr>
          <a:xfrm>
            <a:off x="5579110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5" name="cva6"/>
          <p:cNvSpPr/>
          <p:nvPr/>
        </p:nvSpPr>
        <p:spPr>
          <a:xfrm>
            <a:off x="325967" y="1009549"/>
            <a:ext cx="846667" cy="7281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6" name="ara"/>
          <p:cNvSpPr/>
          <p:nvPr/>
        </p:nvSpPr>
        <p:spPr>
          <a:xfrm>
            <a:off x="1341967" y="1009549"/>
            <a:ext cx="1964267" cy="4233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7" name="ara-filter"/>
          <p:cNvSpPr/>
          <p:nvPr/>
        </p:nvSpPr>
        <p:spPr>
          <a:xfrm>
            <a:off x="1409700" y="1585282"/>
            <a:ext cx="643467" cy="29125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8" name="ara-width"/>
          <p:cNvSpPr/>
          <p:nvPr/>
        </p:nvSpPr>
        <p:spPr>
          <a:xfrm>
            <a:off x="2798233" y="1585282"/>
            <a:ext cx="508000" cy="29125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9" name="npu"/>
          <p:cNvSpPr/>
          <p:nvPr/>
        </p:nvSpPr>
        <p:spPr>
          <a:xfrm>
            <a:off x="3678767" y="1009549"/>
            <a:ext cx="914400" cy="592667"/>
          </a:xfrm>
          <a:prstGeom prst="rect">
            <a:avLst/>
          </a:prstGeom>
          <a:solidFill>
            <a:srgbClr val="F1D7D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0" name="badge-C10"/>
          <p:cNvSpPr/>
          <p:nvPr/>
        </p:nvSpPr>
        <p:spPr>
          <a:xfrm>
            <a:off x="4389967" y="1459976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1" name="gb-adapter"/>
          <p:cNvSpPr/>
          <p:nvPr/>
        </p:nvSpPr>
        <p:spPr>
          <a:xfrm>
            <a:off x="4711700" y="1263549"/>
            <a:ext cx="778933" cy="7958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2" name="global-buffer"/>
          <p:cNvSpPr/>
          <p:nvPr/>
        </p:nvSpPr>
        <p:spPr>
          <a:xfrm>
            <a:off x="5626100" y="1009549"/>
            <a:ext cx="1710267" cy="575733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3" name="badge-C12"/>
          <p:cNvSpPr/>
          <p:nvPr/>
        </p:nvSpPr>
        <p:spPr>
          <a:xfrm>
            <a:off x="7133167" y="1449816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4" name="gb-mover"/>
          <p:cNvSpPr/>
          <p:nvPr/>
        </p:nvSpPr>
        <p:spPr>
          <a:xfrm>
            <a:off x="5626100" y="1703816"/>
            <a:ext cx="1710267" cy="406400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5" name="badge-C11"/>
          <p:cNvSpPr/>
          <p:nvPr/>
        </p:nvSpPr>
        <p:spPr>
          <a:xfrm>
            <a:off x="7133167" y="198152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6" name="lvds-rx"/>
          <p:cNvSpPr/>
          <p:nvPr/>
        </p:nvSpPr>
        <p:spPr>
          <a:xfrm>
            <a:off x="10570634" y="1212749"/>
            <a:ext cx="558800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7" name="rx-cdc"/>
          <p:cNvSpPr/>
          <p:nvPr/>
        </p:nvSpPr>
        <p:spPr>
          <a:xfrm>
            <a:off x="9927167" y="1212749"/>
            <a:ext cx="541867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8" name="isp"/>
          <p:cNvSpPr/>
          <p:nvPr/>
        </p:nvSpPr>
        <p:spPr>
          <a:xfrm>
            <a:off x="9266766" y="1212749"/>
            <a:ext cx="558800" cy="626533"/>
          </a:xfrm>
          <a:prstGeom prst="rect">
            <a:avLst/>
          </a:prstGeom>
          <a:solidFill>
            <a:srgbClr val="F1D7D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9" name="frame-select"/>
          <p:cNvSpPr/>
          <p:nvPr/>
        </p:nvSpPr>
        <p:spPr>
          <a:xfrm>
            <a:off x="8555566" y="1212749"/>
            <a:ext cx="609600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0" name="frame-dma"/>
          <p:cNvSpPr/>
          <p:nvPr/>
        </p:nvSpPr>
        <p:spPr>
          <a:xfrm>
            <a:off x="7708900" y="1212749"/>
            <a:ext cx="728133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1" name="badge-C4"/>
          <p:cNvSpPr/>
          <p:nvPr/>
        </p:nvSpPr>
        <p:spPr>
          <a:xfrm>
            <a:off x="10926234" y="169704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2" name="badge-C9"/>
          <p:cNvSpPr/>
          <p:nvPr/>
        </p:nvSpPr>
        <p:spPr>
          <a:xfrm>
            <a:off x="9622366" y="169704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3" name="badge-C6"/>
          <p:cNvSpPr/>
          <p:nvPr/>
        </p:nvSpPr>
        <p:spPr>
          <a:xfrm>
            <a:off x="8233833" y="169704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4" name="axi-crossbar"/>
          <p:cNvSpPr/>
          <p:nvPr/>
        </p:nvSpPr>
        <p:spPr>
          <a:xfrm>
            <a:off x="241300" y="2906082"/>
            <a:ext cx="9584267" cy="457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5" name="xbar-in-S0"/>
          <p:cNvSpPr/>
          <p:nvPr/>
        </p:nvSpPr>
        <p:spPr>
          <a:xfrm>
            <a:off x="611199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6" name="xbar-in-S1"/>
          <p:cNvSpPr/>
          <p:nvPr/>
        </p:nvSpPr>
        <p:spPr>
          <a:xfrm>
            <a:off x="1676118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7" name="xbar-in-S2"/>
          <p:cNvSpPr/>
          <p:nvPr/>
        </p:nvSpPr>
        <p:spPr>
          <a:xfrm>
            <a:off x="2741036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8" name="xbar-in-S3"/>
          <p:cNvSpPr/>
          <p:nvPr/>
        </p:nvSpPr>
        <p:spPr>
          <a:xfrm>
            <a:off x="3805955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9" name="xbar-in-S4"/>
          <p:cNvSpPr/>
          <p:nvPr/>
        </p:nvSpPr>
        <p:spPr>
          <a:xfrm>
            <a:off x="4870873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0" name="xbar-in-S5"/>
          <p:cNvSpPr/>
          <p:nvPr/>
        </p:nvSpPr>
        <p:spPr>
          <a:xfrm>
            <a:off x="5935792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1" name="xbar-in-S6"/>
          <p:cNvSpPr/>
          <p:nvPr/>
        </p:nvSpPr>
        <p:spPr>
          <a:xfrm>
            <a:off x="7000710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2" name="xbar-in-S7"/>
          <p:cNvSpPr/>
          <p:nvPr/>
        </p:nvSpPr>
        <p:spPr>
          <a:xfrm>
            <a:off x="8065629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3" name="xbar-in-S_EXT"/>
          <p:cNvSpPr/>
          <p:nvPr/>
        </p:nvSpPr>
        <p:spPr>
          <a:xfrm>
            <a:off x="9130547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4" name="debug-sba"/>
          <p:cNvSpPr/>
          <p:nvPr/>
        </p:nvSpPr>
        <p:spPr>
          <a:xfrm>
            <a:off x="1354384" y="2415016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5" name="idma-master"/>
          <p:cNvSpPr/>
          <p:nvPr/>
        </p:nvSpPr>
        <p:spPr>
          <a:xfrm>
            <a:off x="3484221" y="2415016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6" name="slink-rx"/>
          <p:cNvSpPr/>
          <p:nvPr/>
        </p:nvSpPr>
        <p:spPr>
          <a:xfrm>
            <a:off x="4549140" y="2415016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7" name="vga"/>
          <p:cNvSpPr/>
          <p:nvPr/>
        </p:nvSpPr>
        <p:spPr>
          <a:xfrm>
            <a:off x="5614059" y="2415016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8" name="usb-dma"/>
          <p:cNvSpPr/>
          <p:nvPr/>
        </p:nvSpPr>
        <p:spPr>
          <a:xfrm>
            <a:off x="6678977" y="2415016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9" name="emmc-host"/>
          <p:cNvSpPr/>
          <p:nvPr/>
        </p:nvSpPr>
        <p:spPr>
          <a:xfrm>
            <a:off x="7743896" y="2415016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0" name="ext-master"/>
          <p:cNvSpPr/>
          <p:nvPr/>
        </p:nvSpPr>
        <p:spPr>
          <a:xfrm>
            <a:off x="8808814" y="2415016"/>
            <a:ext cx="968587" cy="338667"/>
          </a:xfrm>
          <a:prstGeom prst="rect">
            <a:avLst/>
          </a:prstGeom>
          <a:solidFill>
            <a:srgbClr val="F5F5F7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1" name="badge-C13"/>
          <p:cNvSpPr/>
          <p:nvPr/>
        </p:nvSpPr>
        <p:spPr>
          <a:xfrm>
            <a:off x="8505896" y="2648696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2" name="xbar-out-M0"/>
          <p:cNvSpPr/>
          <p:nvPr/>
        </p:nvSpPr>
        <p:spPr>
          <a:xfrm>
            <a:off x="763330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3" name="debug-target"/>
          <p:cNvSpPr/>
          <p:nvPr/>
        </p:nvSpPr>
        <p:spPr>
          <a:xfrm>
            <a:off x="316290" y="3583416"/>
            <a:ext cx="1219200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4" name="xbar-out-M1"/>
          <p:cNvSpPr/>
          <p:nvPr/>
        </p:nvSpPr>
        <p:spPr>
          <a:xfrm>
            <a:off x="2132511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5" name="reg-bridge"/>
          <p:cNvSpPr/>
          <p:nvPr/>
        </p:nvSpPr>
        <p:spPr>
          <a:xfrm>
            <a:off x="1685471" y="3583416"/>
            <a:ext cx="1219200" cy="52493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6" name="xbar-out-M2"/>
          <p:cNvSpPr/>
          <p:nvPr/>
        </p:nvSpPr>
        <p:spPr>
          <a:xfrm>
            <a:off x="3501692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7" name="memory-target"/>
          <p:cNvSpPr/>
          <p:nvPr/>
        </p:nvSpPr>
        <p:spPr>
          <a:xfrm>
            <a:off x="2986919" y="3583416"/>
            <a:ext cx="1354667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8" name="atomics"/>
          <p:cNvSpPr/>
          <p:nvPr/>
        </p:nvSpPr>
        <p:spPr>
          <a:xfrm>
            <a:off x="3020786" y="3786616"/>
            <a:ext cx="626533" cy="28448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9" name="llc-spm"/>
          <p:cNvSpPr/>
          <p:nvPr/>
        </p:nvSpPr>
        <p:spPr>
          <a:xfrm>
            <a:off x="3731986" y="3786616"/>
            <a:ext cx="575733" cy="28448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0" name="xbar-out-M3"/>
          <p:cNvSpPr/>
          <p:nvPr/>
        </p:nvSpPr>
        <p:spPr>
          <a:xfrm>
            <a:off x="4870873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1" name="idma-config"/>
          <p:cNvSpPr/>
          <p:nvPr/>
        </p:nvSpPr>
        <p:spPr>
          <a:xfrm>
            <a:off x="4423833" y="3583416"/>
            <a:ext cx="1219200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2" name="xbar-out-M4"/>
          <p:cNvSpPr/>
          <p:nvPr/>
        </p:nvSpPr>
        <p:spPr>
          <a:xfrm>
            <a:off x="6240054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3" name="slink-tx"/>
          <p:cNvSpPr/>
          <p:nvPr/>
        </p:nvSpPr>
        <p:spPr>
          <a:xfrm>
            <a:off x="5793014" y="3583416"/>
            <a:ext cx="1219200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4" name="xbar-out-M5"/>
          <p:cNvSpPr/>
          <p:nvPr/>
        </p:nvSpPr>
        <p:spPr>
          <a:xfrm>
            <a:off x="7609235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5" name="gb-interface"/>
          <p:cNvSpPr/>
          <p:nvPr/>
        </p:nvSpPr>
        <p:spPr>
          <a:xfrm>
            <a:off x="7162195" y="3583416"/>
            <a:ext cx="1219200" cy="524933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6" name="xbar-out-M_EXT"/>
          <p:cNvSpPr/>
          <p:nvPr/>
        </p:nvSpPr>
        <p:spPr>
          <a:xfrm>
            <a:off x="8978416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7" name="ext-target"/>
          <p:cNvSpPr/>
          <p:nvPr/>
        </p:nvSpPr>
        <p:spPr>
          <a:xfrm>
            <a:off x="8531376" y="3583416"/>
            <a:ext cx="1219200" cy="524933"/>
          </a:xfrm>
          <a:prstGeom prst="rect">
            <a:avLst/>
          </a:prstGeom>
          <a:solidFill>
            <a:srgbClr val="F5F5F7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8" name="emmc-device"/>
          <p:cNvSpPr/>
          <p:nvPr/>
        </p:nvSpPr>
        <p:spPr>
          <a:xfrm>
            <a:off x="11413067" y="2415016"/>
            <a:ext cx="711200" cy="338667"/>
          </a:xfrm>
          <a:prstGeom prst="rect">
            <a:avLst/>
          </a:prstGeom>
          <a:solidFill>
            <a:srgbClr val="EAECEE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9" name="regbus"/>
          <p:cNvSpPr/>
          <p:nvPr/>
        </p:nvSpPr>
        <p:spPr>
          <a:xfrm>
            <a:off x="241300" y="4379282"/>
            <a:ext cx="5689600" cy="22013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0" name="bootrom"/>
          <p:cNvSpPr/>
          <p:nvPr/>
        </p:nvSpPr>
        <p:spPr>
          <a:xfrm>
            <a:off x="359833" y="463328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1" name="uart"/>
          <p:cNvSpPr/>
          <p:nvPr/>
        </p:nvSpPr>
        <p:spPr>
          <a:xfrm>
            <a:off x="359833" y="4931309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2" name="vga-regs"/>
          <p:cNvSpPr/>
          <p:nvPr/>
        </p:nvSpPr>
        <p:spPr>
          <a:xfrm>
            <a:off x="359833" y="5229336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3" name="irq-router"/>
          <p:cNvSpPr/>
          <p:nvPr/>
        </p:nvSpPr>
        <p:spPr>
          <a:xfrm>
            <a:off x="359833" y="552736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4" name="clint"/>
          <p:cNvSpPr/>
          <p:nvPr/>
        </p:nvSpPr>
        <p:spPr>
          <a:xfrm>
            <a:off x="1477433" y="463328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5" name="i2c"/>
          <p:cNvSpPr/>
          <p:nvPr/>
        </p:nvSpPr>
        <p:spPr>
          <a:xfrm>
            <a:off x="1477433" y="4931309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6" name="usb-regs"/>
          <p:cNvSpPr/>
          <p:nvPr/>
        </p:nvSpPr>
        <p:spPr>
          <a:xfrm>
            <a:off x="1477433" y="5229336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7" name="axi-rt-config"/>
          <p:cNvSpPr/>
          <p:nvPr/>
        </p:nvSpPr>
        <p:spPr>
          <a:xfrm>
            <a:off x="1477433" y="552736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8" name="soc-regs"/>
          <p:cNvSpPr/>
          <p:nvPr/>
        </p:nvSpPr>
        <p:spPr>
          <a:xfrm>
            <a:off x="2595033" y="463328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9" name="spi"/>
          <p:cNvSpPr/>
          <p:nvPr/>
        </p:nvSpPr>
        <p:spPr>
          <a:xfrm>
            <a:off x="2595033" y="4931309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0" name="err-vga"/>
          <p:cNvSpPr/>
          <p:nvPr/>
        </p:nvSpPr>
        <p:spPr>
          <a:xfrm>
            <a:off x="2595033" y="5229336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1" name="clic"/>
          <p:cNvSpPr/>
          <p:nvPr/>
        </p:nvSpPr>
        <p:spPr>
          <a:xfrm>
            <a:off x="2595033" y="552736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2" name="plic"/>
          <p:cNvSpPr/>
          <p:nvPr/>
        </p:nvSpPr>
        <p:spPr>
          <a:xfrm>
            <a:off x="3712633" y="463328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3" name="gpio"/>
          <p:cNvSpPr/>
          <p:nvPr/>
        </p:nvSpPr>
        <p:spPr>
          <a:xfrm>
            <a:off x="3712633" y="4931309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4" name="err-dma"/>
          <p:cNvSpPr/>
          <p:nvPr/>
        </p:nvSpPr>
        <p:spPr>
          <a:xfrm>
            <a:off x="3712633" y="5229336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5" name="reg-error"/>
          <p:cNvSpPr/>
          <p:nvPr/>
        </p:nvSpPr>
        <p:spPr>
          <a:xfrm>
            <a:off x="3712633" y="552736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6" name="llc-regs"/>
          <p:cNvSpPr/>
          <p:nvPr/>
        </p:nvSpPr>
        <p:spPr>
          <a:xfrm>
            <a:off x="4830233" y="463328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7" name="slink-regs"/>
          <p:cNvSpPr/>
          <p:nvPr/>
        </p:nvSpPr>
        <p:spPr>
          <a:xfrm>
            <a:off x="4830233" y="4931309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8" name="err-cpu"/>
          <p:cNvSpPr/>
          <p:nvPr/>
        </p:nvSpPr>
        <p:spPr>
          <a:xfrm>
            <a:off x="4830233" y="5229336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9" name="reg-ext"/>
          <p:cNvSpPr/>
          <p:nvPr/>
        </p:nvSpPr>
        <p:spPr>
          <a:xfrm>
            <a:off x="4830233" y="552736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0" name="ddr-S0"/>
          <p:cNvSpPr/>
          <p:nvPr/>
        </p:nvSpPr>
        <p:spPr>
          <a:xfrm>
            <a:off x="6350000" y="5788136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1" name="ddr-S1"/>
          <p:cNvSpPr/>
          <p:nvPr/>
        </p:nvSpPr>
        <p:spPr>
          <a:xfrm>
            <a:off x="7281333" y="5788136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2" name="ddr-S2"/>
          <p:cNvSpPr/>
          <p:nvPr/>
        </p:nvSpPr>
        <p:spPr>
          <a:xfrm>
            <a:off x="8212667" y="5788136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3" name="ddr-S3"/>
          <p:cNvSpPr/>
          <p:nvPr/>
        </p:nvSpPr>
        <p:spPr>
          <a:xfrm>
            <a:off x="9144000" y="5788136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4" name="ddr-arb"/>
          <p:cNvSpPr/>
          <p:nvPr/>
        </p:nvSpPr>
        <p:spPr>
          <a:xfrm>
            <a:off x="6197600" y="5937149"/>
            <a:ext cx="3657600" cy="1354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5" name="ddr-rw"/>
          <p:cNvSpPr/>
          <p:nvPr/>
        </p:nvSpPr>
        <p:spPr>
          <a:xfrm>
            <a:off x="6197600" y="6106482"/>
            <a:ext cx="1608667" cy="1693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6" name="ddr-command"/>
          <p:cNvSpPr/>
          <p:nvPr/>
        </p:nvSpPr>
        <p:spPr>
          <a:xfrm>
            <a:off x="8212667" y="6106482"/>
            <a:ext cx="1642533" cy="1693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7" name="badge-C2"/>
          <p:cNvSpPr/>
          <p:nvPr/>
        </p:nvSpPr>
        <p:spPr>
          <a:xfrm>
            <a:off x="9652000" y="6292749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8" name="ddr-phy"/>
          <p:cNvSpPr/>
          <p:nvPr/>
        </p:nvSpPr>
        <p:spPr>
          <a:xfrm>
            <a:off x="10261600" y="6191149"/>
            <a:ext cx="863600" cy="338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9" name="badge-C3"/>
          <p:cNvSpPr/>
          <p:nvPr/>
        </p:nvSpPr>
        <p:spPr>
          <a:xfrm>
            <a:off x="10905067" y="642144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0" name="ddr-device"/>
          <p:cNvSpPr/>
          <p:nvPr/>
        </p:nvSpPr>
        <p:spPr>
          <a:xfrm>
            <a:off x="11501967" y="6191149"/>
            <a:ext cx="508000" cy="338667"/>
          </a:xfrm>
          <a:prstGeom prst="rect">
            <a:avLst/>
          </a:prstGeom>
          <a:solidFill>
            <a:srgbClr val="EAECEE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1" name="pll"/>
          <p:cNvSpPr/>
          <p:nvPr/>
        </p:nvSpPr>
        <p:spPr>
          <a:xfrm>
            <a:off x="7200900" y="6472581"/>
            <a:ext cx="1778000" cy="250613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2" name="badge-C1"/>
          <p:cNvSpPr/>
          <p:nvPr/>
        </p:nvSpPr>
        <p:spPr>
          <a:xfrm>
            <a:off x="8738447" y="654370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3" name="config-C1"/>
          <p:cNvSpPr/>
          <p:nvPr/>
        </p:nvSpPr>
        <p:spPr>
          <a:xfrm>
            <a:off x="241300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4" name="reg-badge-C1"/>
          <p:cNvSpPr/>
          <p:nvPr/>
        </p:nvSpPr>
        <p:spPr>
          <a:xfrm>
            <a:off x="265007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5" name="config-C2"/>
          <p:cNvSpPr/>
          <p:nvPr/>
        </p:nvSpPr>
        <p:spPr>
          <a:xfrm>
            <a:off x="958427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6" name="reg-badge-C2"/>
          <p:cNvSpPr/>
          <p:nvPr/>
        </p:nvSpPr>
        <p:spPr>
          <a:xfrm>
            <a:off x="982133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7" name="config-C3"/>
          <p:cNvSpPr/>
          <p:nvPr/>
        </p:nvSpPr>
        <p:spPr>
          <a:xfrm>
            <a:off x="1675553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8" name="reg-badge-C3"/>
          <p:cNvSpPr/>
          <p:nvPr/>
        </p:nvSpPr>
        <p:spPr>
          <a:xfrm>
            <a:off x="1699260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9" name="config-C4"/>
          <p:cNvSpPr/>
          <p:nvPr/>
        </p:nvSpPr>
        <p:spPr>
          <a:xfrm>
            <a:off x="2392680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0" name="reg-badge-C4"/>
          <p:cNvSpPr/>
          <p:nvPr/>
        </p:nvSpPr>
        <p:spPr>
          <a:xfrm>
            <a:off x="2416387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1" name="config-C9"/>
          <p:cNvSpPr/>
          <p:nvPr/>
        </p:nvSpPr>
        <p:spPr>
          <a:xfrm>
            <a:off x="241300" y="6364207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2" name="reg-badge-C9"/>
          <p:cNvSpPr/>
          <p:nvPr/>
        </p:nvSpPr>
        <p:spPr>
          <a:xfrm>
            <a:off x="265006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3" name="config-C10"/>
          <p:cNvSpPr/>
          <p:nvPr/>
        </p:nvSpPr>
        <p:spPr>
          <a:xfrm>
            <a:off x="958426" y="6364207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4" name="reg-badge-C10"/>
          <p:cNvSpPr/>
          <p:nvPr/>
        </p:nvSpPr>
        <p:spPr>
          <a:xfrm>
            <a:off x="982133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5" name="config-C11"/>
          <p:cNvSpPr/>
          <p:nvPr/>
        </p:nvSpPr>
        <p:spPr>
          <a:xfrm>
            <a:off x="1675553" y="6364207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6" name="reg-badge-C11"/>
          <p:cNvSpPr/>
          <p:nvPr/>
        </p:nvSpPr>
        <p:spPr>
          <a:xfrm>
            <a:off x="1699260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7" name="config-C6"/>
          <p:cNvSpPr/>
          <p:nvPr/>
        </p:nvSpPr>
        <p:spPr>
          <a:xfrm>
            <a:off x="3826934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8" name="reg-badge-C6"/>
          <p:cNvSpPr/>
          <p:nvPr/>
        </p:nvSpPr>
        <p:spPr>
          <a:xfrm>
            <a:off x="3850640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9" name="config-C12"/>
          <p:cNvSpPr/>
          <p:nvPr/>
        </p:nvSpPr>
        <p:spPr>
          <a:xfrm>
            <a:off x="2392680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0" name="reg-badge-C12"/>
          <p:cNvSpPr/>
          <p:nvPr/>
        </p:nvSpPr>
        <p:spPr>
          <a:xfrm>
            <a:off x="2416387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1" name="config-C13"/>
          <p:cNvSpPr/>
          <p:nvPr/>
        </p:nvSpPr>
        <p:spPr>
          <a:xfrm>
            <a:off x="3109807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2" name="reg-badge-C13"/>
          <p:cNvSpPr/>
          <p:nvPr/>
        </p:nvSpPr>
        <p:spPr>
          <a:xfrm>
            <a:off x="3133513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3" name="config-C8"/>
          <p:cNvSpPr/>
          <p:nvPr/>
        </p:nvSpPr>
        <p:spPr>
          <a:xfrm>
            <a:off x="5261186" y="5910395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4" name="reg-badge-C8"/>
          <p:cNvSpPr/>
          <p:nvPr/>
        </p:nvSpPr>
        <p:spPr>
          <a:xfrm>
            <a:off x="5284893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5" name="config-C14"/>
          <p:cNvSpPr/>
          <p:nvPr/>
        </p:nvSpPr>
        <p:spPr>
          <a:xfrm>
            <a:off x="3826933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6" name="reg-badge-C14"/>
          <p:cNvSpPr/>
          <p:nvPr/>
        </p:nvSpPr>
        <p:spPr>
          <a:xfrm>
            <a:off x="3850640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7" name="config-C7"/>
          <p:cNvSpPr/>
          <p:nvPr/>
        </p:nvSpPr>
        <p:spPr>
          <a:xfrm>
            <a:off x="4544060" y="5910395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8" name="reg-badge-C7"/>
          <p:cNvSpPr/>
          <p:nvPr/>
        </p:nvSpPr>
        <p:spPr>
          <a:xfrm>
            <a:off x="4567766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9" name="config-C5"/>
          <p:cNvSpPr/>
          <p:nvPr/>
        </p:nvSpPr>
        <p:spPr>
          <a:xfrm>
            <a:off x="3109806" y="5910395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0" name="reg-badge-C5"/>
          <p:cNvSpPr/>
          <p:nvPr/>
        </p:nvSpPr>
        <p:spPr>
          <a:xfrm>
            <a:off x="3133513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1" name="config-C15"/>
          <p:cNvSpPr/>
          <p:nvPr/>
        </p:nvSpPr>
        <p:spPr>
          <a:xfrm>
            <a:off x="4544060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2" name="reg-badge-C15"/>
          <p:cNvSpPr/>
          <p:nvPr/>
        </p:nvSpPr>
        <p:spPr>
          <a:xfrm>
            <a:off x="4567767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3" name="config-C16"/>
          <p:cNvSpPr/>
          <p:nvPr/>
        </p:nvSpPr>
        <p:spPr>
          <a:xfrm>
            <a:off x="5261187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4" name="reg-badge-C16"/>
          <p:cNvSpPr/>
          <p:nvPr/>
        </p:nvSpPr>
        <p:spPr>
          <a:xfrm>
            <a:off x="5284893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5" name="front-F0"/>
          <p:cNvSpPr/>
          <p:nvPr/>
        </p:nvSpPr>
        <p:spPr>
          <a:xfrm>
            <a:off x="6316133" y="4314936"/>
            <a:ext cx="575733" cy="12192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6" name="front-F1"/>
          <p:cNvSpPr/>
          <p:nvPr/>
        </p:nvSpPr>
        <p:spPr>
          <a:xfrm>
            <a:off x="7247467" y="4314936"/>
            <a:ext cx="575733" cy="12192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7" name="front-F2"/>
          <p:cNvSpPr/>
          <p:nvPr/>
        </p:nvSpPr>
        <p:spPr>
          <a:xfrm>
            <a:off x="8178800" y="4314936"/>
            <a:ext cx="575733" cy="12192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8" name="front-F3"/>
          <p:cNvSpPr/>
          <p:nvPr/>
        </p:nvSpPr>
        <p:spPr>
          <a:xfrm>
            <a:off x="9110133" y="4314936"/>
            <a:ext cx="575733" cy="12192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9" name="front-adapt"/>
          <p:cNvSpPr/>
          <p:nvPr/>
        </p:nvSpPr>
        <p:spPr>
          <a:xfrm>
            <a:off x="6197600" y="4491042"/>
            <a:ext cx="3657600" cy="17610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0" name="badge-C14"/>
          <p:cNvSpPr/>
          <p:nvPr/>
        </p:nvSpPr>
        <p:spPr>
          <a:xfrm>
            <a:off x="9652000" y="4535069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1" name="address-control"/>
          <p:cNvSpPr/>
          <p:nvPr/>
        </p:nvSpPr>
        <p:spPr>
          <a:xfrm>
            <a:off x="6197600" y="4768749"/>
            <a:ext cx="778933" cy="338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2" name="metadata"/>
          <p:cNvSpPr/>
          <p:nvPr/>
        </p:nvSpPr>
        <p:spPr>
          <a:xfrm>
            <a:off x="6197600" y="5209016"/>
            <a:ext cx="778933" cy="16933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3" name="compressor"/>
          <p:cNvSpPr/>
          <p:nvPr/>
        </p:nvSpPr>
        <p:spPr>
          <a:xfrm>
            <a:off x="7179733" y="4904216"/>
            <a:ext cx="795867" cy="389467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4" name="badge-C15"/>
          <p:cNvSpPr/>
          <p:nvPr/>
        </p:nvSpPr>
        <p:spPr>
          <a:xfrm>
            <a:off x="7206827" y="491776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5" name="decompressor"/>
          <p:cNvSpPr/>
          <p:nvPr/>
        </p:nvSpPr>
        <p:spPr>
          <a:xfrm>
            <a:off x="8085667" y="4904216"/>
            <a:ext cx="795867" cy="389467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6" name="badge-C16"/>
          <p:cNvSpPr/>
          <p:nvPr/>
        </p:nvSpPr>
        <p:spPr>
          <a:xfrm>
            <a:off x="8112760" y="491776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7" name="plain-bypass"/>
          <p:cNvSpPr/>
          <p:nvPr/>
        </p:nvSpPr>
        <p:spPr>
          <a:xfrm>
            <a:off x="8991600" y="4904216"/>
            <a:ext cx="795867" cy="3894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8" name="front-route"/>
          <p:cNvSpPr/>
          <p:nvPr/>
        </p:nvSpPr>
        <p:spPr>
          <a:xfrm>
            <a:off x="6197600" y="5490109"/>
            <a:ext cx="3657600" cy="1693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9" name="roi-scheduler"/>
          <p:cNvSpPr/>
          <p:nvPr/>
        </p:nvSpPr>
        <p:spPr>
          <a:xfrm>
            <a:off x="10261600" y="4633282"/>
            <a:ext cx="880533" cy="3386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0" name="badge-C8"/>
          <p:cNvSpPr/>
          <p:nvPr/>
        </p:nvSpPr>
        <p:spPr>
          <a:xfrm>
            <a:off x="10938933" y="4646829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1" name="roi-vdma"/>
          <p:cNvSpPr/>
          <p:nvPr/>
        </p:nvSpPr>
        <p:spPr>
          <a:xfrm>
            <a:off x="10261600" y="5022749"/>
            <a:ext cx="880533" cy="3386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2" name="badge-C7"/>
          <p:cNvSpPr/>
          <p:nvPr/>
        </p:nvSpPr>
        <p:spPr>
          <a:xfrm>
            <a:off x="10938933" y="5036296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3" name="roi-fifo"/>
          <p:cNvSpPr/>
          <p:nvPr/>
        </p:nvSpPr>
        <p:spPr>
          <a:xfrm>
            <a:off x="10261600" y="5412216"/>
            <a:ext cx="880533" cy="2540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4" name="lvds-tx"/>
          <p:cNvSpPr/>
          <p:nvPr/>
        </p:nvSpPr>
        <p:spPr>
          <a:xfrm>
            <a:off x="10261600" y="5717016"/>
            <a:ext cx="880533" cy="3386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5" name="badge-C5"/>
          <p:cNvSpPr/>
          <p:nvPr/>
        </p:nvSpPr>
        <p:spPr>
          <a:xfrm>
            <a:off x="10938933" y="573056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6" name="compute-title: CVA6–Ara 计算平台"/>
          <p:cNvSpPr txBox="1"/>
          <p:nvPr/>
        </p:nvSpPr>
        <p:spPr>
          <a:xfrm>
            <a:off x="1238652" y="728862"/>
            <a:ext cx="1171829" cy="1950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CVA6–Ara 计算平台</a:t>
            </a:r>
          </a:p>
        </p:txBody>
      </p:sp>
      <p:sp>
        <p:nvSpPr>
          <p:cNvPr id="1307" name="gb-region-title: NPU / 独立 Global Buffer 子系统"/>
          <p:cNvSpPr txBox="1"/>
          <p:nvPr/>
        </p:nvSpPr>
        <p:spPr>
          <a:xfrm>
            <a:off x="4586494" y="728862"/>
            <a:ext cx="1859079" cy="1950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独立 Global Buffer 子系统</a:t>
            </a:r>
          </a:p>
        </p:txBody>
      </p:sp>
      <p:sp>
        <p:nvSpPr>
          <p:cNvPr id="1308" name="image-rx-title: 图像采集与 ISP"/>
          <p:cNvSpPr txBox="1"/>
          <p:nvPr/>
        </p:nvSpPr>
        <p:spPr>
          <a:xfrm>
            <a:off x="8938972" y="728862"/>
            <a:ext cx="943457" cy="1950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图像采集与 ISP</a:t>
            </a:r>
          </a:p>
        </p:txBody>
      </p:sp>
      <p:sp>
        <p:nvSpPr>
          <p:cNvPr id="1309" name="cva6-t0: CVA6 core 0"/>
          <p:cNvSpPr txBox="1"/>
          <p:nvPr/>
        </p:nvSpPr>
        <p:spPr>
          <a:xfrm>
            <a:off x="401743" y="1175563"/>
            <a:ext cx="695113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 core 0</a:t>
            </a:r>
          </a:p>
        </p:txBody>
      </p:sp>
      <p:sp>
        <p:nvSpPr>
          <p:cNvPr id="1310" name="cva6-t1: L1 I / D cache"/>
          <p:cNvSpPr txBox="1"/>
          <p:nvPr/>
        </p:nvSpPr>
        <p:spPr>
          <a:xfrm>
            <a:off x="377777" y="1306560"/>
            <a:ext cx="743045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L1 I / D cache</a:t>
            </a:r>
          </a:p>
        </p:txBody>
      </p:sp>
      <p:sp>
        <p:nvSpPr>
          <p:cNvPr id="1311" name="cva6-t2: MMU / AXI 适配"/>
          <p:cNvSpPr txBox="1"/>
          <p:nvPr/>
        </p:nvSpPr>
        <p:spPr>
          <a:xfrm>
            <a:off x="367345" y="1429428"/>
            <a:ext cx="763910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MMU / AXI 适配</a:t>
            </a:r>
          </a:p>
        </p:txBody>
      </p:sp>
      <p:sp>
        <p:nvSpPr>
          <p:cNvPr id="1312" name="ara-t0: Ara 向量处理器"/>
          <p:cNvSpPr txBox="1"/>
          <p:nvPr/>
        </p:nvSpPr>
        <p:spPr>
          <a:xfrm>
            <a:off x="1905900" y="1080059"/>
            <a:ext cx="836401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Ara 向量处理器</a:t>
            </a:r>
          </a:p>
        </p:txBody>
      </p:sp>
      <p:sp>
        <p:nvSpPr>
          <p:cNvPr id="1313" name="ara-t1: 2 lanes · VLSU / AXI：64 bit"/>
          <p:cNvSpPr txBox="1"/>
          <p:nvPr/>
        </p:nvSpPr>
        <p:spPr>
          <a:xfrm>
            <a:off x="1637948" y="1211056"/>
            <a:ext cx="137230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2 lanes · VLSU / AXI：64 bit</a:t>
            </a:r>
          </a:p>
        </p:txBody>
      </p:sp>
      <p:sp>
        <p:nvSpPr>
          <p:cNvPr id="1314" name="ara-filter-t0: 失效过滤"/>
          <p:cNvSpPr txBox="1"/>
          <p:nvPr/>
        </p:nvSpPr>
        <p:spPr>
          <a:xfrm>
            <a:off x="1477433" y="1602893"/>
            <a:ext cx="5080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失效过滤</a:t>
            </a:r>
          </a:p>
        </p:txBody>
      </p:sp>
      <p:sp>
        <p:nvSpPr>
          <p:cNvPr id="1315" name="ara-filter-t1: 现有 filter"/>
          <p:cNvSpPr txBox="1"/>
          <p:nvPr/>
        </p:nvSpPr>
        <p:spPr>
          <a:xfrm>
            <a:off x="1500034" y="1726710"/>
            <a:ext cx="462799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现有 filter</a:t>
            </a:r>
          </a:p>
        </p:txBody>
      </p:sp>
      <p:sp>
        <p:nvSpPr>
          <p:cNvPr id="1316" name="ara-width-t0: 等宽透传"/>
          <p:cNvSpPr txBox="1"/>
          <p:nvPr/>
        </p:nvSpPr>
        <p:spPr>
          <a:xfrm>
            <a:off x="2798233" y="1602893"/>
            <a:ext cx="5080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等宽透传</a:t>
            </a:r>
          </a:p>
        </p:txBody>
      </p:sp>
      <p:sp>
        <p:nvSpPr>
          <p:cNvPr id="1317" name="ara-width-t1: 64 → 64 bit"/>
          <p:cNvSpPr txBox="1"/>
          <p:nvPr/>
        </p:nvSpPr>
        <p:spPr>
          <a:xfrm>
            <a:off x="2770653" y="1726710"/>
            <a:ext cx="56316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 → 64 bit</a:t>
            </a:r>
          </a:p>
        </p:txBody>
      </p:sp>
      <p:sp>
        <p:nvSpPr>
          <p:cNvPr id="1318" name="command-label: 指令 / MMU"/>
          <p:cNvSpPr txBox="1"/>
          <p:nvPr/>
        </p:nvSpPr>
        <p:spPr>
          <a:xfrm>
            <a:off x="971404" y="880585"/>
            <a:ext cx="563324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指令 / MMU</a:t>
            </a:r>
          </a:p>
        </p:txBody>
      </p:sp>
      <p:sp>
        <p:nvSpPr>
          <p:cNvPr id="1319" name="npu-t0: NPU 计算引擎"/>
          <p:cNvSpPr txBox="1"/>
          <p:nvPr/>
        </p:nvSpPr>
        <p:spPr>
          <a:xfrm>
            <a:off x="3772331" y="1177866"/>
            <a:ext cx="72727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计算引擎</a:t>
            </a:r>
          </a:p>
        </p:txBody>
      </p:sp>
      <p:sp>
        <p:nvSpPr>
          <p:cNvPr id="1320" name="npu-t1: GB 数据读写"/>
          <p:cNvSpPr txBox="1"/>
          <p:nvPr/>
        </p:nvSpPr>
        <p:spPr>
          <a:xfrm>
            <a:off x="3846351" y="1301683"/>
            <a:ext cx="579231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数据读写</a:t>
            </a:r>
          </a:p>
        </p:txBody>
      </p:sp>
      <p:sp>
        <p:nvSpPr>
          <p:cNvPr id="1321" name="badge-C10-text: C10"/>
          <p:cNvSpPr txBox="1"/>
          <p:nvPr/>
        </p:nvSpPr>
        <p:spPr>
          <a:xfrm>
            <a:off x="4396740" y="1450899"/>
            <a:ext cx="165947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C10</a:t>
            </a:r>
          </a:p>
        </p:txBody>
      </p:sp>
      <p:sp>
        <p:nvSpPr>
          <p:cNvPr id="1322" name="gb-adapter-t0: GB 访问适配"/>
          <p:cNvSpPr txBox="1"/>
          <p:nvPr/>
        </p:nvSpPr>
        <p:spPr>
          <a:xfrm>
            <a:off x="4766998" y="1480634"/>
            <a:ext cx="66833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访问适配</a:t>
            </a:r>
          </a:p>
        </p:txBody>
      </p:sp>
      <p:sp>
        <p:nvSpPr>
          <p:cNvPr id="1323" name="gb-adapter-t1: 局部仲裁 / 路由"/>
          <p:cNvSpPr txBox="1"/>
          <p:nvPr/>
        </p:nvSpPr>
        <p:spPr>
          <a:xfrm>
            <a:off x="4743707" y="1604451"/>
            <a:ext cx="7149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局部仲裁 / 路由</a:t>
            </a:r>
          </a:p>
        </p:txBody>
      </p:sp>
      <p:sp>
        <p:nvSpPr>
          <p:cNvPr id="1324" name="gb-adapter-t2: bank 冲突处理"/>
          <p:cNvSpPr txBox="1"/>
          <p:nvPr/>
        </p:nvSpPr>
        <p:spPr>
          <a:xfrm>
            <a:off x="4774621" y="1710115"/>
            <a:ext cx="653092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bank 冲突处理</a:t>
            </a:r>
          </a:p>
        </p:txBody>
      </p:sp>
      <p:sp>
        <p:nvSpPr>
          <p:cNvPr id="1325" name="global-buffer-t0: Global Buffer"/>
          <p:cNvSpPr txBox="1"/>
          <p:nvPr/>
        </p:nvSpPr>
        <p:spPr>
          <a:xfrm>
            <a:off x="6119760" y="1103427"/>
            <a:ext cx="722948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Global Buffer</a:t>
            </a:r>
          </a:p>
        </p:txBody>
      </p:sp>
      <p:sp>
        <p:nvSpPr>
          <p:cNvPr id="1326" name="global-buffer-t1: 独立 SRAM · 分 bank"/>
          <p:cNvSpPr txBox="1"/>
          <p:nvPr/>
        </p:nvSpPr>
        <p:spPr>
          <a:xfrm>
            <a:off x="5998895" y="1235372"/>
            <a:ext cx="964676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 SRAM · 分 bank</a:t>
            </a:r>
          </a:p>
        </p:txBody>
      </p:sp>
      <p:sp>
        <p:nvSpPr>
          <p:cNvPr id="1327" name="global-buffer-t2: CPU / Ara / NPU / ISP"/>
          <p:cNvSpPr txBox="1"/>
          <p:nvPr/>
        </p:nvSpPr>
        <p:spPr>
          <a:xfrm>
            <a:off x="5964854" y="1349164"/>
            <a:ext cx="1032759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/ NPU / ISP</a:t>
            </a:r>
          </a:p>
        </p:txBody>
      </p:sp>
      <p:sp>
        <p:nvSpPr>
          <p:cNvPr id="1328" name="badge-C12-text: C12"/>
          <p:cNvSpPr txBox="1"/>
          <p:nvPr/>
        </p:nvSpPr>
        <p:spPr>
          <a:xfrm>
            <a:off x="7139940" y="1440739"/>
            <a:ext cx="165947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C12</a:t>
            </a:r>
          </a:p>
        </p:txBody>
      </p:sp>
      <p:sp>
        <p:nvSpPr>
          <p:cNvPr id="1329" name="gb-mover-t0: NPU / GB 搬运引擎"/>
          <p:cNvSpPr txBox="1"/>
          <p:nvPr/>
        </p:nvSpPr>
        <p:spPr>
          <a:xfrm>
            <a:off x="5995808" y="1779000"/>
            <a:ext cx="97085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搬运引擎</a:t>
            </a:r>
          </a:p>
        </p:txBody>
      </p:sp>
      <p:sp>
        <p:nvSpPr>
          <p:cNvPr id="1330" name="gb-mover-t1: DDR ↔ GB · AXI 主口"/>
          <p:cNvSpPr txBox="1"/>
          <p:nvPr/>
        </p:nvSpPr>
        <p:spPr>
          <a:xfrm>
            <a:off x="6027200" y="1902816"/>
            <a:ext cx="908066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↔ GB · AXI 主口</a:t>
            </a:r>
          </a:p>
        </p:txBody>
      </p:sp>
      <p:sp>
        <p:nvSpPr>
          <p:cNvPr id="1331" name="badge-C11-text: C11"/>
          <p:cNvSpPr txBox="1"/>
          <p:nvPr/>
        </p:nvSpPr>
        <p:spPr>
          <a:xfrm>
            <a:off x="7139940" y="1972446"/>
            <a:ext cx="165947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C11</a:t>
            </a:r>
          </a:p>
        </p:txBody>
      </p:sp>
      <p:sp>
        <p:nvSpPr>
          <p:cNvPr id="1332" name="lvds-rx-t0: LVDS 接收"/>
          <p:cNvSpPr txBox="1"/>
          <p:nvPr/>
        </p:nvSpPr>
        <p:spPr>
          <a:xfrm>
            <a:off x="10563638" y="1398000"/>
            <a:ext cx="57279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接收</a:t>
            </a:r>
          </a:p>
        </p:txBody>
      </p:sp>
      <p:sp>
        <p:nvSpPr>
          <p:cNvPr id="1333" name="lvds-rx-t1: 解串 / 帧行"/>
          <p:cNvSpPr txBox="1"/>
          <p:nvPr/>
        </p:nvSpPr>
        <p:spPr>
          <a:xfrm>
            <a:off x="10580627" y="1521816"/>
            <a:ext cx="53881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解串 / 帧行</a:t>
            </a:r>
          </a:p>
        </p:txBody>
      </p:sp>
      <p:sp>
        <p:nvSpPr>
          <p:cNvPr id="1334" name="rx-cdc-t0: CDC / FIFO"/>
          <p:cNvSpPr txBox="1"/>
          <p:nvPr/>
        </p:nvSpPr>
        <p:spPr>
          <a:xfrm>
            <a:off x="9898658" y="1398000"/>
            <a:ext cx="59888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CDC / FIFO</a:t>
            </a:r>
          </a:p>
        </p:txBody>
      </p:sp>
      <p:sp>
        <p:nvSpPr>
          <p:cNvPr id="1335" name="rx-cdc-t1: 像素流缓冲"/>
          <p:cNvSpPr txBox="1"/>
          <p:nvPr/>
        </p:nvSpPr>
        <p:spPr>
          <a:xfrm>
            <a:off x="9933940" y="1521816"/>
            <a:ext cx="5283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像素流缓冲</a:t>
            </a:r>
          </a:p>
        </p:txBody>
      </p:sp>
      <p:sp>
        <p:nvSpPr>
          <p:cNvPr id="1336" name="isp-t0: ISP"/>
          <p:cNvSpPr txBox="1"/>
          <p:nvPr/>
        </p:nvSpPr>
        <p:spPr>
          <a:xfrm>
            <a:off x="9422288" y="1398000"/>
            <a:ext cx="24775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1337" name="isp-t1: 行缓存 / 处理"/>
          <p:cNvSpPr txBox="1"/>
          <p:nvPr/>
        </p:nvSpPr>
        <p:spPr>
          <a:xfrm>
            <a:off x="9232733" y="1521816"/>
            <a:ext cx="6268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行缓存 / 处理</a:t>
            </a:r>
          </a:p>
        </p:txBody>
      </p:sp>
      <p:sp>
        <p:nvSpPr>
          <p:cNvPr id="1338" name="frame-select-t0: 帧边界选择"/>
          <p:cNvSpPr txBox="1"/>
          <p:nvPr/>
        </p:nvSpPr>
        <p:spPr>
          <a:xfrm>
            <a:off x="8555566" y="1398000"/>
            <a:ext cx="6096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帧边界选择</a:t>
            </a:r>
          </a:p>
        </p:txBody>
      </p:sp>
      <p:sp>
        <p:nvSpPr>
          <p:cNvPr id="1339" name="frame-select-t1: RAW / ISP"/>
          <p:cNvSpPr txBox="1"/>
          <p:nvPr/>
        </p:nvSpPr>
        <p:spPr>
          <a:xfrm>
            <a:off x="8615764" y="1521816"/>
            <a:ext cx="489204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RAW / ISP</a:t>
            </a:r>
          </a:p>
        </p:txBody>
      </p:sp>
      <p:sp>
        <p:nvSpPr>
          <p:cNvPr id="1340" name="frame-dma-t0: 帧写入 DMA"/>
          <p:cNvSpPr txBox="1"/>
          <p:nvPr/>
        </p:nvSpPr>
        <p:spPr>
          <a:xfrm>
            <a:off x="7751003" y="1398000"/>
            <a:ext cx="64392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1341" name="frame-dma-t1: 地址 / stride"/>
          <p:cNvSpPr txBox="1"/>
          <p:nvPr/>
        </p:nvSpPr>
        <p:spPr>
          <a:xfrm>
            <a:off x="7782621" y="1521816"/>
            <a:ext cx="580692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stride</a:t>
            </a:r>
          </a:p>
        </p:txBody>
      </p:sp>
      <p:sp>
        <p:nvSpPr>
          <p:cNvPr id="1342" name="raw-bypass-label: RAW 旁路"/>
          <p:cNvSpPr txBox="1"/>
          <p:nvPr/>
        </p:nvSpPr>
        <p:spPr>
          <a:xfrm>
            <a:off x="9308685" y="924611"/>
            <a:ext cx="46649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RAW 旁路</a:t>
            </a:r>
          </a:p>
        </p:txBody>
      </p:sp>
      <p:sp>
        <p:nvSpPr>
          <p:cNvPr id="1343" name="badge-C4-text: C4"/>
          <p:cNvSpPr txBox="1"/>
          <p:nvPr/>
        </p:nvSpPr>
        <p:spPr>
          <a:xfrm>
            <a:off x="10937082" y="1687966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1344" name="badge-C9-text: C9"/>
          <p:cNvSpPr txBox="1"/>
          <p:nvPr/>
        </p:nvSpPr>
        <p:spPr>
          <a:xfrm>
            <a:off x="9629139" y="1687966"/>
            <a:ext cx="165947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sp>
        <p:nvSpPr>
          <p:cNvPr id="1345" name="badge-C6-text: C6"/>
          <p:cNvSpPr txBox="1"/>
          <p:nvPr/>
        </p:nvSpPr>
        <p:spPr>
          <a:xfrm>
            <a:off x="8240607" y="1687966"/>
            <a:ext cx="165947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1346" name="isp-gb-label: ISP 中间数据 ↔ GB"/>
          <p:cNvSpPr txBox="1"/>
          <p:nvPr/>
        </p:nvSpPr>
        <p:spPr>
          <a:xfrm>
            <a:off x="8009424" y="2065918"/>
            <a:ext cx="846751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ISP 中间数据 ↔ GB</a:t>
            </a:r>
          </a:p>
        </p:txBody>
      </p:sp>
      <p:sp>
        <p:nvSpPr>
          <p:cNvPr id="1347" name="crossbar-title: AXI Crossbar"/>
          <p:cNvSpPr txBox="1"/>
          <p:nvPr/>
        </p:nvSpPr>
        <p:spPr>
          <a:xfrm>
            <a:off x="4632783" y="2943742"/>
            <a:ext cx="801301" cy="1950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Crossbar</a:t>
            </a:r>
          </a:p>
        </p:txBody>
      </p:sp>
      <p:sp>
        <p:nvSpPr>
          <p:cNvPr id="1348" name="crossbar-caption: 8 × 6 固定端口 + 扩展 | 64 bit 数据 / 48 bit 地址 "/>
          <p:cNvSpPr txBox="1"/>
          <p:nvPr/>
        </p:nvSpPr>
        <p:spPr>
          <a:xfrm>
            <a:off x="3552023" y="3115785"/>
            <a:ext cx="29628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8 × 6 固定端口 + 扩展 | 64 bit 数据 / 48 bit 地址 | 地址译码 / 各目标仲裁</a:t>
            </a:r>
          </a:p>
        </p:txBody>
      </p:sp>
      <p:sp>
        <p:nvSpPr>
          <p:cNvPr id="1349" name="crossbar-rt-note: 输入侧 AXI RT · 按配置可选"/>
          <p:cNvSpPr txBox="1"/>
          <p:nvPr/>
        </p:nvSpPr>
        <p:spPr>
          <a:xfrm>
            <a:off x="457226" y="3207767"/>
            <a:ext cx="1049814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输入侧 AXI RT · 按配置可选</a:t>
            </a:r>
          </a:p>
        </p:txBody>
      </p:sp>
      <p:sp>
        <p:nvSpPr>
          <p:cNvPr id="1350" name="crossbar-error-note: 未映射请求：DECERR"/>
          <p:cNvSpPr txBox="1"/>
          <p:nvPr/>
        </p:nvSpPr>
        <p:spPr>
          <a:xfrm>
            <a:off x="8745630" y="3207767"/>
            <a:ext cx="864473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未映射请求：DECERR</a:t>
            </a:r>
          </a:p>
        </p:txBody>
      </p:sp>
      <p:sp>
        <p:nvSpPr>
          <p:cNvPr id="1351" name="xbar-in-S0-t0: S0"/>
          <p:cNvSpPr txBox="1"/>
          <p:nvPr/>
        </p:nvSpPr>
        <p:spPr>
          <a:xfrm>
            <a:off x="689225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sp>
        <p:nvSpPr>
          <p:cNvPr id="1352" name="xbar-in-S1-t0: S1"/>
          <p:cNvSpPr txBox="1"/>
          <p:nvPr/>
        </p:nvSpPr>
        <p:spPr>
          <a:xfrm>
            <a:off x="1754143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1353" name="xbar-in-S2-t0: S2"/>
          <p:cNvSpPr txBox="1"/>
          <p:nvPr/>
        </p:nvSpPr>
        <p:spPr>
          <a:xfrm>
            <a:off x="2819062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1354" name="xbar-in-S3-t0: S3"/>
          <p:cNvSpPr txBox="1"/>
          <p:nvPr/>
        </p:nvSpPr>
        <p:spPr>
          <a:xfrm>
            <a:off x="3883980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S3</a:t>
            </a:r>
          </a:p>
        </p:txBody>
      </p:sp>
      <p:sp>
        <p:nvSpPr>
          <p:cNvPr id="1355" name="xbar-in-S4-t0: S4"/>
          <p:cNvSpPr txBox="1"/>
          <p:nvPr/>
        </p:nvSpPr>
        <p:spPr>
          <a:xfrm>
            <a:off x="4948899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S4</a:t>
            </a:r>
          </a:p>
        </p:txBody>
      </p:sp>
      <p:sp>
        <p:nvSpPr>
          <p:cNvPr id="1356" name="xbar-in-S5-t0: S5"/>
          <p:cNvSpPr txBox="1"/>
          <p:nvPr/>
        </p:nvSpPr>
        <p:spPr>
          <a:xfrm>
            <a:off x="6013817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S5</a:t>
            </a:r>
          </a:p>
        </p:txBody>
      </p:sp>
      <p:sp>
        <p:nvSpPr>
          <p:cNvPr id="1357" name="xbar-in-S6-t0: S6"/>
          <p:cNvSpPr txBox="1"/>
          <p:nvPr/>
        </p:nvSpPr>
        <p:spPr>
          <a:xfrm>
            <a:off x="7078736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S6</a:t>
            </a:r>
          </a:p>
        </p:txBody>
      </p:sp>
      <p:sp>
        <p:nvSpPr>
          <p:cNvPr id="1358" name="xbar-in-S7-t0: S7"/>
          <p:cNvSpPr txBox="1"/>
          <p:nvPr/>
        </p:nvSpPr>
        <p:spPr>
          <a:xfrm>
            <a:off x="8143655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S7</a:t>
            </a:r>
          </a:p>
        </p:txBody>
      </p:sp>
      <p:sp>
        <p:nvSpPr>
          <p:cNvPr id="1359" name="xbar-in-S_EXT-t0: S_EXT"/>
          <p:cNvSpPr txBox="1"/>
          <p:nvPr/>
        </p:nvSpPr>
        <p:spPr>
          <a:xfrm>
            <a:off x="9151457" y="2849694"/>
            <a:ext cx="283300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S_EXT</a:t>
            </a:r>
          </a:p>
        </p:txBody>
      </p:sp>
      <p:sp>
        <p:nvSpPr>
          <p:cNvPr id="1360" name="debug-sba-t0: Debug / SBA"/>
          <p:cNvSpPr txBox="1"/>
          <p:nvPr/>
        </p:nvSpPr>
        <p:spPr>
          <a:xfrm>
            <a:off x="1498654" y="2456333"/>
            <a:ext cx="68004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/ SBA</a:t>
            </a:r>
          </a:p>
        </p:txBody>
      </p:sp>
      <p:sp>
        <p:nvSpPr>
          <p:cNvPr id="1361" name="debug-sba-t1: JTAG 总线访问"/>
          <p:cNvSpPr txBox="1"/>
          <p:nvPr/>
        </p:nvSpPr>
        <p:spPr>
          <a:xfrm>
            <a:off x="1512089" y="2580150"/>
            <a:ext cx="65317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JTAG 总线访问</a:t>
            </a:r>
          </a:p>
        </p:txBody>
      </p:sp>
      <p:sp>
        <p:nvSpPr>
          <p:cNvPr id="1362" name="idma-master-t0: iDMA 数据主口"/>
          <p:cNvSpPr txBox="1"/>
          <p:nvPr/>
        </p:nvSpPr>
        <p:spPr>
          <a:xfrm>
            <a:off x="3583596" y="2456333"/>
            <a:ext cx="76983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数据主口</a:t>
            </a:r>
          </a:p>
        </p:txBody>
      </p:sp>
      <p:sp>
        <p:nvSpPr>
          <p:cNvPr id="1363" name="idma-master-t1: 内存 → 内存"/>
          <p:cNvSpPr txBox="1"/>
          <p:nvPr/>
        </p:nvSpPr>
        <p:spPr>
          <a:xfrm>
            <a:off x="3677955" y="2580150"/>
            <a:ext cx="5811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 → 内存</a:t>
            </a:r>
          </a:p>
        </p:txBody>
      </p:sp>
      <p:sp>
        <p:nvSpPr>
          <p:cNvPr id="1364" name="slink-rx-t0: Serial Link RX"/>
          <p:cNvSpPr txBox="1"/>
          <p:nvPr/>
        </p:nvSpPr>
        <p:spPr>
          <a:xfrm>
            <a:off x="4676243" y="2456333"/>
            <a:ext cx="71438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RX</a:t>
            </a:r>
          </a:p>
        </p:txBody>
      </p:sp>
      <p:sp>
        <p:nvSpPr>
          <p:cNvPr id="1365" name="slink-rx-t1: 远端请求入口"/>
          <p:cNvSpPr txBox="1"/>
          <p:nvPr/>
        </p:nvSpPr>
        <p:spPr>
          <a:xfrm>
            <a:off x="4725247" y="2580150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远端请求入口</a:t>
            </a:r>
          </a:p>
        </p:txBody>
      </p:sp>
      <p:sp>
        <p:nvSpPr>
          <p:cNvPr id="1366" name="vga-t0: VGA"/>
          <p:cNvSpPr txBox="1"/>
          <p:nvPr/>
        </p:nvSpPr>
        <p:spPr>
          <a:xfrm>
            <a:off x="5957213" y="2456333"/>
            <a:ext cx="28227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</a:t>
            </a:r>
          </a:p>
        </p:txBody>
      </p:sp>
      <p:sp>
        <p:nvSpPr>
          <p:cNvPr id="1367" name="vga-t1: 帧缓冲读取"/>
          <p:cNvSpPr txBox="1"/>
          <p:nvPr/>
        </p:nvSpPr>
        <p:spPr>
          <a:xfrm>
            <a:off x="5834192" y="2580150"/>
            <a:ext cx="5283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帧缓冲读取</a:t>
            </a:r>
          </a:p>
        </p:txBody>
      </p:sp>
      <p:sp>
        <p:nvSpPr>
          <p:cNvPr id="1368" name="usb-dma-t0: USB DMA"/>
          <p:cNvSpPr txBox="1"/>
          <p:nvPr/>
        </p:nvSpPr>
        <p:spPr>
          <a:xfrm>
            <a:off x="6898306" y="2456333"/>
            <a:ext cx="52992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DMA</a:t>
            </a:r>
          </a:p>
        </p:txBody>
      </p:sp>
      <p:sp>
        <p:nvSpPr>
          <p:cNvPr id="1369" name="usb-dma-t1: OHCI 主口"/>
          <p:cNvSpPr txBox="1"/>
          <p:nvPr/>
        </p:nvSpPr>
        <p:spPr>
          <a:xfrm>
            <a:off x="6921248" y="2580150"/>
            <a:ext cx="484045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OHCI 主口</a:t>
            </a:r>
          </a:p>
        </p:txBody>
      </p:sp>
      <p:sp>
        <p:nvSpPr>
          <p:cNvPr id="1370" name="emmc-host-t0: eMMC Host / DMA"/>
          <p:cNvSpPr txBox="1"/>
          <p:nvPr/>
        </p:nvSpPr>
        <p:spPr>
          <a:xfrm>
            <a:off x="7756209" y="2456333"/>
            <a:ext cx="94395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eMMC Host / DMA</a:t>
            </a:r>
          </a:p>
        </p:txBody>
      </p:sp>
      <p:sp>
        <p:nvSpPr>
          <p:cNvPr id="1371" name="emmc-host-t1: 存储块 ↔ 内存"/>
          <p:cNvSpPr txBox="1"/>
          <p:nvPr/>
        </p:nvSpPr>
        <p:spPr>
          <a:xfrm>
            <a:off x="7825869" y="2580150"/>
            <a:ext cx="669174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存储块 ↔ 内存</a:t>
            </a:r>
          </a:p>
        </p:txBody>
      </p:sp>
      <p:sp>
        <p:nvSpPr>
          <p:cNvPr id="1372" name="ext-master-t0: AXI 外部 master"/>
          <p:cNvSpPr txBox="1"/>
          <p:nvPr/>
        </p:nvSpPr>
        <p:spPr>
          <a:xfrm>
            <a:off x="8886014" y="2456333"/>
            <a:ext cx="81418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master</a:t>
            </a:r>
          </a:p>
        </p:txBody>
      </p:sp>
      <p:sp>
        <p:nvSpPr>
          <p:cNvPr id="1373" name="ext-master-t1: 可选扩展入口"/>
          <p:cNvSpPr txBox="1"/>
          <p:nvPr/>
        </p:nvSpPr>
        <p:spPr>
          <a:xfrm>
            <a:off x="8984921" y="2580150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可选扩展入口</a:t>
            </a:r>
          </a:p>
        </p:txBody>
      </p:sp>
      <p:sp>
        <p:nvSpPr>
          <p:cNvPr id="1374" name="badge-C13-text: C13"/>
          <p:cNvSpPr txBox="1"/>
          <p:nvPr/>
        </p:nvSpPr>
        <p:spPr>
          <a:xfrm>
            <a:off x="8512669" y="2639619"/>
            <a:ext cx="165947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C13</a:t>
            </a:r>
          </a:p>
        </p:txBody>
      </p:sp>
      <p:sp>
        <p:nvSpPr>
          <p:cNvPr id="1375" name="xbar-out-M0-t0: M0"/>
          <p:cNvSpPr txBox="1"/>
          <p:nvPr/>
        </p:nvSpPr>
        <p:spPr>
          <a:xfrm>
            <a:off x="833731" y="3306894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M0</a:t>
            </a:r>
          </a:p>
        </p:txBody>
      </p:sp>
      <p:sp>
        <p:nvSpPr>
          <p:cNvPr id="1376" name="debug-target-t0: Debug 目标"/>
          <p:cNvSpPr txBox="1"/>
          <p:nvPr/>
        </p:nvSpPr>
        <p:spPr>
          <a:xfrm>
            <a:off x="617222" y="3717866"/>
            <a:ext cx="61733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目标</a:t>
            </a:r>
          </a:p>
        </p:txBody>
      </p:sp>
      <p:sp>
        <p:nvSpPr>
          <p:cNvPr id="1377" name="debug-target-t1: 调试模块窗口"/>
          <p:cNvSpPr txBox="1"/>
          <p:nvPr/>
        </p:nvSpPr>
        <p:spPr>
          <a:xfrm>
            <a:off x="617704" y="3841683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调试模块窗口</a:t>
            </a:r>
          </a:p>
        </p:txBody>
      </p:sp>
      <p:sp>
        <p:nvSpPr>
          <p:cNvPr id="1378" name="xbar-out-M1-t0: M1"/>
          <p:cNvSpPr txBox="1"/>
          <p:nvPr/>
        </p:nvSpPr>
        <p:spPr>
          <a:xfrm>
            <a:off x="2202912" y="3306894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M1</a:t>
            </a:r>
          </a:p>
        </p:txBody>
      </p:sp>
      <p:sp>
        <p:nvSpPr>
          <p:cNvPr id="1379" name="reg-bridge-t0: AXI → Regbus"/>
          <p:cNvSpPr txBox="1"/>
          <p:nvPr/>
        </p:nvSpPr>
        <p:spPr>
          <a:xfrm>
            <a:off x="1928605" y="3717866"/>
            <a:ext cx="73293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→ Regbus</a:t>
            </a:r>
          </a:p>
        </p:txBody>
      </p:sp>
      <p:sp>
        <p:nvSpPr>
          <p:cNvPr id="1380" name="reg-bridge-t1: 原子适配 / 32 bit 桥"/>
          <p:cNvSpPr txBox="1"/>
          <p:nvPr/>
        </p:nvSpPr>
        <p:spPr>
          <a:xfrm>
            <a:off x="1854112" y="3841683"/>
            <a:ext cx="8819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/ 32 bit 桥</a:t>
            </a:r>
          </a:p>
        </p:txBody>
      </p:sp>
      <p:sp>
        <p:nvSpPr>
          <p:cNvPr id="1381" name="xbar-out-M2-t0: M2"/>
          <p:cNvSpPr txBox="1"/>
          <p:nvPr/>
        </p:nvSpPr>
        <p:spPr>
          <a:xfrm>
            <a:off x="3572093" y="3306894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M2</a:t>
            </a:r>
          </a:p>
        </p:txBody>
      </p:sp>
      <p:sp>
        <p:nvSpPr>
          <p:cNvPr id="1382" name="memory-title: 主存 / SPM 共用目标"/>
          <p:cNvSpPr txBox="1"/>
          <p:nvPr/>
        </p:nvSpPr>
        <p:spPr>
          <a:xfrm>
            <a:off x="3135070" y="3588834"/>
            <a:ext cx="1058365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主存 / SPM 共用目标</a:t>
            </a:r>
          </a:p>
        </p:txBody>
      </p:sp>
      <p:sp>
        <p:nvSpPr>
          <p:cNvPr id="1383" name="atomics-t0: 原子适配"/>
          <p:cNvSpPr txBox="1"/>
          <p:nvPr/>
        </p:nvSpPr>
        <p:spPr>
          <a:xfrm>
            <a:off x="3112141" y="3802110"/>
            <a:ext cx="443823" cy="1422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</a:p>
        </p:txBody>
      </p:sp>
      <p:sp>
        <p:nvSpPr>
          <p:cNvPr id="1384" name="atomics-t1: AMO / LRSC"/>
          <p:cNvSpPr txBox="1"/>
          <p:nvPr/>
        </p:nvSpPr>
        <p:spPr>
          <a:xfrm>
            <a:off x="3003106" y="3907012"/>
            <a:ext cx="66189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AMO / LRSC</a:t>
            </a:r>
          </a:p>
        </p:txBody>
      </p:sp>
      <p:sp>
        <p:nvSpPr>
          <p:cNvPr id="1385" name="llc-spm-t0: LLC / SPM"/>
          <p:cNvSpPr txBox="1"/>
          <p:nvPr/>
        </p:nvSpPr>
        <p:spPr>
          <a:xfrm>
            <a:off x="3765270" y="3806174"/>
            <a:ext cx="509164" cy="1422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/ SPM</a:t>
            </a:r>
          </a:p>
        </p:txBody>
      </p:sp>
      <p:sp>
        <p:nvSpPr>
          <p:cNvPr id="1386" name="llc-spm-t1: SRAM 阵列"/>
          <p:cNvSpPr txBox="1"/>
          <p:nvPr/>
        </p:nvSpPr>
        <p:spPr>
          <a:xfrm>
            <a:off x="3739304" y="3912024"/>
            <a:ext cx="561097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SRAM 阵列</a:t>
            </a:r>
          </a:p>
        </p:txBody>
      </p:sp>
      <p:sp>
        <p:nvSpPr>
          <p:cNvPr id="1387" name="xbar-out-M3-t0: M3"/>
          <p:cNvSpPr txBox="1"/>
          <p:nvPr/>
        </p:nvSpPr>
        <p:spPr>
          <a:xfrm>
            <a:off x="4941274" y="3306894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M3</a:t>
            </a:r>
          </a:p>
        </p:txBody>
      </p:sp>
      <p:sp>
        <p:nvSpPr>
          <p:cNvPr id="1388" name="idma-config-t0: iDMA 配置"/>
          <p:cNvSpPr txBox="1"/>
          <p:nvPr/>
        </p:nvSpPr>
        <p:spPr>
          <a:xfrm>
            <a:off x="4750115" y="3665034"/>
            <a:ext cx="56663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配置</a:t>
            </a:r>
          </a:p>
        </p:txBody>
      </p:sp>
      <p:sp>
        <p:nvSpPr>
          <p:cNvPr id="1389" name="idma-config-t1: 原子适配 → AXI→Reg"/>
          <p:cNvSpPr txBox="1"/>
          <p:nvPr/>
        </p:nvSpPr>
        <p:spPr>
          <a:xfrm>
            <a:off x="4566034" y="3788851"/>
            <a:ext cx="934799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→ AXI→Reg</a:t>
            </a:r>
          </a:p>
        </p:txBody>
      </p:sp>
      <p:sp>
        <p:nvSpPr>
          <p:cNvPr id="1390" name="idma-config-t2: wrapper 内部寄存器"/>
          <p:cNvSpPr txBox="1"/>
          <p:nvPr/>
        </p:nvSpPr>
        <p:spPr>
          <a:xfrm>
            <a:off x="4603999" y="3894515"/>
            <a:ext cx="858869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wrapper 内部寄存器</a:t>
            </a:r>
          </a:p>
        </p:txBody>
      </p:sp>
      <p:sp>
        <p:nvSpPr>
          <p:cNvPr id="1391" name="xbar-out-M4-t0: M4"/>
          <p:cNvSpPr txBox="1"/>
          <p:nvPr/>
        </p:nvSpPr>
        <p:spPr>
          <a:xfrm>
            <a:off x="6310455" y="3306894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M4</a:t>
            </a:r>
          </a:p>
        </p:txBody>
      </p:sp>
      <p:sp>
        <p:nvSpPr>
          <p:cNvPr id="1392" name="slink-tx-t0: Serial Link TX"/>
          <p:cNvSpPr txBox="1"/>
          <p:nvPr/>
        </p:nvSpPr>
        <p:spPr>
          <a:xfrm>
            <a:off x="6051478" y="3717866"/>
            <a:ext cx="70227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TX</a:t>
            </a:r>
          </a:p>
        </p:txBody>
      </p:sp>
      <p:sp>
        <p:nvSpPr>
          <p:cNvPr id="1393" name="slink-tx-t1: 远端目标窗口"/>
          <p:cNvSpPr txBox="1"/>
          <p:nvPr/>
        </p:nvSpPr>
        <p:spPr>
          <a:xfrm>
            <a:off x="6094428" y="3841683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远端目标窗口</a:t>
            </a:r>
          </a:p>
        </p:txBody>
      </p:sp>
      <p:sp>
        <p:nvSpPr>
          <p:cNvPr id="1394" name="xbar-out-M5-t0: M5"/>
          <p:cNvSpPr txBox="1"/>
          <p:nvPr/>
        </p:nvSpPr>
        <p:spPr>
          <a:xfrm>
            <a:off x="7679636" y="3306894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M5</a:t>
            </a:r>
          </a:p>
        </p:txBody>
      </p:sp>
      <p:sp>
        <p:nvSpPr>
          <p:cNvPr id="1395" name="gb-interface-t0: GB AXI 接口"/>
          <p:cNvSpPr txBox="1"/>
          <p:nvPr/>
        </p:nvSpPr>
        <p:spPr>
          <a:xfrm>
            <a:off x="7454988" y="3665034"/>
            <a:ext cx="63361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AXI 接口</a:t>
            </a:r>
          </a:p>
        </p:txBody>
      </p:sp>
      <p:sp>
        <p:nvSpPr>
          <p:cNvPr id="1396" name="gb-interface-t1: CPU / Ara / eMMC DMA"/>
          <p:cNvSpPr txBox="1"/>
          <p:nvPr/>
        </p:nvSpPr>
        <p:spPr>
          <a:xfrm>
            <a:off x="7260665" y="3788851"/>
            <a:ext cx="102226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/ eMMC DMA</a:t>
            </a:r>
          </a:p>
        </p:txBody>
      </p:sp>
      <p:sp>
        <p:nvSpPr>
          <p:cNvPr id="1397" name="gb-interface-t2: 64-bit 数据窗口 · 共用"/>
          <p:cNvSpPr txBox="1"/>
          <p:nvPr/>
        </p:nvSpPr>
        <p:spPr>
          <a:xfrm>
            <a:off x="7299149" y="3894515"/>
            <a:ext cx="94529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64-bit 数据窗口 · 共用</a:t>
            </a:r>
          </a:p>
        </p:txBody>
      </p:sp>
      <p:sp>
        <p:nvSpPr>
          <p:cNvPr id="1398" name="xbar-out-M_EXT-t0: M_EXT"/>
          <p:cNvSpPr txBox="1"/>
          <p:nvPr/>
        </p:nvSpPr>
        <p:spPr>
          <a:xfrm>
            <a:off x="8991701" y="3306894"/>
            <a:ext cx="298551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M_EXT</a:t>
            </a:r>
          </a:p>
        </p:txBody>
      </p:sp>
      <p:sp>
        <p:nvSpPr>
          <p:cNvPr id="1399" name="ext-target-t0: AXI 外部 slave"/>
          <p:cNvSpPr txBox="1"/>
          <p:nvPr/>
        </p:nvSpPr>
        <p:spPr>
          <a:xfrm>
            <a:off x="8773467" y="3717866"/>
            <a:ext cx="73501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slave</a:t>
            </a:r>
          </a:p>
        </p:txBody>
      </p:sp>
      <p:sp>
        <p:nvSpPr>
          <p:cNvPr id="1400" name="ext-target-t1: 可选外部目标扩展"/>
          <p:cNvSpPr txBox="1"/>
          <p:nvPr/>
        </p:nvSpPr>
        <p:spPr>
          <a:xfrm>
            <a:off x="8744736" y="3841683"/>
            <a:ext cx="79248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可选外部目标扩展</a:t>
            </a:r>
          </a:p>
        </p:txBody>
      </p:sp>
      <p:sp>
        <p:nvSpPr>
          <p:cNvPr id="1401" name="emmc-device-t0: eMMC"/>
          <p:cNvSpPr txBox="1"/>
          <p:nvPr/>
        </p:nvSpPr>
        <p:spPr>
          <a:xfrm>
            <a:off x="11550065" y="2446308"/>
            <a:ext cx="437203" cy="1842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eMMC</a:t>
            </a:r>
          </a:p>
        </p:txBody>
      </p:sp>
      <p:sp>
        <p:nvSpPr>
          <p:cNvPr id="1402" name="emmc-device-t1: 模型 / 校正参数"/>
          <p:cNvSpPr txBox="1"/>
          <p:nvPr/>
        </p:nvSpPr>
        <p:spPr>
          <a:xfrm>
            <a:off x="11411207" y="2588278"/>
            <a:ext cx="7149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模型 / 校正参数</a:t>
            </a:r>
          </a:p>
        </p:txBody>
      </p:sp>
      <p:sp>
        <p:nvSpPr>
          <p:cNvPr id="1403" name="regbus-t0: Regbus decode / demux · 32 bit"/>
          <p:cNvSpPr txBox="1"/>
          <p:nvPr/>
        </p:nvSpPr>
        <p:spPr>
          <a:xfrm>
            <a:off x="2213213" y="4404140"/>
            <a:ext cx="1745774" cy="1842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Regbus decode / demux · 32 bit</a:t>
            </a:r>
          </a:p>
        </p:txBody>
      </p:sp>
      <p:sp>
        <p:nvSpPr>
          <p:cNvPr id="1404" name="bootrom-t0: Boot ROM"/>
          <p:cNvSpPr txBox="1"/>
          <p:nvPr/>
        </p:nvSpPr>
        <p:spPr>
          <a:xfrm>
            <a:off x="592799" y="4637346"/>
            <a:ext cx="55006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Boot ROM</a:t>
            </a:r>
          </a:p>
        </p:txBody>
      </p:sp>
      <p:sp>
        <p:nvSpPr>
          <p:cNvPr id="1405" name="bootrom-t1: 启动代码"/>
          <p:cNvSpPr txBox="1"/>
          <p:nvPr/>
        </p:nvSpPr>
        <p:spPr>
          <a:xfrm>
            <a:off x="647700" y="4761163"/>
            <a:ext cx="4402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启动代码</a:t>
            </a:r>
          </a:p>
        </p:txBody>
      </p:sp>
      <p:sp>
        <p:nvSpPr>
          <p:cNvPr id="1406" name="uart-t0: UART"/>
          <p:cNvSpPr txBox="1"/>
          <p:nvPr/>
        </p:nvSpPr>
        <p:spPr>
          <a:xfrm>
            <a:off x="699259" y="4935373"/>
            <a:ext cx="33714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UART</a:t>
            </a:r>
          </a:p>
        </p:txBody>
      </p:sp>
      <p:sp>
        <p:nvSpPr>
          <p:cNvPr id="1407" name="uart-t1: 串口控制"/>
          <p:cNvSpPr txBox="1"/>
          <p:nvPr/>
        </p:nvSpPr>
        <p:spPr>
          <a:xfrm>
            <a:off x="647700" y="5059190"/>
            <a:ext cx="4402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串口控制</a:t>
            </a:r>
          </a:p>
        </p:txBody>
      </p:sp>
      <p:sp>
        <p:nvSpPr>
          <p:cNvPr id="1408" name="vga-regs-t0: VGA 配置"/>
          <p:cNvSpPr txBox="1"/>
          <p:nvPr/>
        </p:nvSpPr>
        <p:spPr>
          <a:xfrm>
            <a:off x="609865" y="5233400"/>
            <a:ext cx="51593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 配置</a:t>
            </a:r>
          </a:p>
        </p:txBody>
      </p:sp>
      <p:sp>
        <p:nvSpPr>
          <p:cNvPr id="1409" name="vga-regs-t1: 时序 / 帧地址"/>
          <p:cNvSpPr txBox="1"/>
          <p:nvPr/>
        </p:nvSpPr>
        <p:spPr>
          <a:xfrm>
            <a:off x="554400" y="5357216"/>
            <a:ext cx="6268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时序 / 帧地址</a:t>
            </a:r>
          </a:p>
        </p:txBody>
      </p:sp>
      <p:sp>
        <p:nvSpPr>
          <p:cNvPr id="1410" name="irq-router-t0: IRQ router"/>
          <p:cNvSpPr txBox="1"/>
          <p:nvPr/>
        </p:nvSpPr>
        <p:spPr>
          <a:xfrm>
            <a:off x="592849" y="5531426"/>
            <a:ext cx="54996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IRQ router</a:t>
            </a:r>
          </a:p>
        </p:txBody>
      </p:sp>
      <p:sp>
        <p:nvSpPr>
          <p:cNvPr id="1411" name="irq-router-t1: 可选中断路由"/>
          <p:cNvSpPr txBox="1"/>
          <p:nvPr/>
        </p:nvSpPr>
        <p:spPr>
          <a:xfrm>
            <a:off x="559647" y="5655243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可选中断路由</a:t>
            </a:r>
          </a:p>
        </p:txBody>
      </p:sp>
      <p:sp>
        <p:nvSpPr>
          <p:cNvPr id="1412" name="clint-t0: CLINT"/>
          <p:cNvSpPr txBox="1"/>
          <p:nvPr/>
        </p:nvSpPr>
        <p:spPr>
          <a:xfrm>
            <a:off x="1805697" y="4637346"/>
            <a:ext cx="35947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CLINT</a:t>
            </a:r>
          </a:p>
        </p:txBody>
      </p:sp>
      <p:sp>
        <p:nvSpPr>
          <p:cNvPr id="1413" name="clint-t1: 软件 / 定时中断"/>
          <p:cNvSpPr txBox="1"/>
          <p:nvPr/>
        </p:nvSpPr>
        <p:spPr>
          <a:xfrm>
            <a:off x="1627973" y="4761163"/>
            <a:ext cx="7149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软件 / 定时中断</a:t>
            </a:r>
          </a:p>
        </p:txBody>
      </p:sp>
      <p:sp>
        <p:nvSpPr>
          <p:cNvPr id="1414" name="i2c-t0: I²C"/>
          <p:cNvSpPr txBox="1"/>
          <p:nvPr/>
        </p:nvSpPr>
        <p:spPr>
          <a:xfrm>
            <a:off x="1871726" y="4935373"/>
            <a:ext cx="227415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I²C</a:t>
            </a:r>
          </a:p>
        </p:txBody>
      </p:sp>
      <p:sp>
        <p:nvSpPr>
          <p:cNvPr id="1415" name="i2c-t1: 两线串行接口"/>
          <p:cNvSpPr txBox="1"/>
          <p:nvPr/>
        </p:nvSpPr>
        <p:spPr>
          <a:xfrm>
            <a:off x="1677247" y="5059190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两线串行接口</a:t>
            </a:r>
          </a:p>
        </p:txBody>
      </p:sp>
      <p:sp>
        <p:nvSpPr>
          <p:cNvPr id="1416" name="usb-regs-t0: USB 配置"/>
          <p:cNvSpPr txBox="1"/>
          <p:nvPr/>
        </p:nvSpPr>
        <p:spPr>
          <a:xfrm>
            <a:off x="1722403" y="5233400"/>
            <a:ext cx="52606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配置</a:t>
            </a:r>
          </a:p>
        </p:txBody>
      </p:sp>
      <p:sp>
        <p:nvSpPr>
          <p:cNvPr id="1417" name="usb-regs-t1: OHCI 寄存器"/>
          <p:cNvSpPr txBox="1"/>
          <p:nvPr/>
        </p:nvSpPr>
        <p:spPr>
          <a:xfrm>
            <a:off x="1699384" y="5357216"/>
            <a:ext cx="572098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OHCI 寄存器</a:t>
            </a:r>
          </a:p>
        </p:txBody>
      </p:sp>
      <p:sp>
        <p:nvSpPr>
          <p:cNvPr id="1418" name="axi-rt-config-t0: AXI RT 配置"/>
          <p:cNvSpPr txBox="1"/>
          <p:nvPr/>
        </p:nvSpPr>
        <p:spPr>
          <a:xfrm>
            <a:off x="1676712" y="5531426"/>
            <a:ext cx="61744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RT 配置</a:t>
            </a:r>
          </a:p>
        </p:txBody>
      </p:sp>
      <p:sp>
        <p:nvSpPr>
          <p:cNvPr id="1419" name="axi-rt-config-t1: 可选流量调节"/>
          <p:cNvSpPr txBox="1"/>
          <p:nvPr/>
        </p:nvSpPr>
        <p:spPr>
          <a:xfrm>
            <a:off x="1677247" y="5655243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可选流量调节</a:t>
            </a:r>
          </a:p>
        </p:txBody>
      </p:sp>
      <p:sp>
        <p:nvSpPr>
          <p:cNvPr id="1420" name="soc-regs-t0: SoC 寄存器"/>
          <p:cNvSpPr txBox="1"/>
          <p:nvPr/>
        </p:nvSpPr>
        <p:spPr>
          <a:xfrm>
            <a:off x="2794312" y="4637346"/>
            <a:ext cx="61744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SoC 寄存器</a:t>
            </a:r>
          </a:p>
        </p:txBody>
      </p:sp>
      <p:sp>
        <p:nvSpPr>
          <p:cNvPr id="1421" name="soc-regs-t1: 平台信息 / scratch"/>
          <p:cNvSpPr txBox="1"/>
          <p:nvPr/>
        </p:nvSpPr>
        <p:spPr>
          <a:xfrm>
            <a:off x="2692945" y="4761163"/>
            <a:ext cx="82017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平台信息 / scratch</a:t>
            </a:r>
          </a:p>
        </p:txBody>
      </p:sp>
      <p:sp>
        <p:nvSpPr>
          <p:cNvPr id="1422" name="spi-t0: SPI Host"/>
          <p:cNvSpPr txBox="1"/>
          <p:nvPr/>
        </p:nvSpPr>
        <p:spPr>
          <a:xfrm>
            <a:off x="2860442" y="4935373"/>
            <a:ext cx="48518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SPI Host</a:t>
            </a:r>
          </a:p>
        </p:txBody>
      </p:sp>
      <p:sp>
        <p:nvSpPr>
          <p:cNvPr id="1423" name="spi-t1: Flash / SD"/>
          <p:cNvSpPr txBox="1"/>
          <p:nvPr/>
        </p:nvSpPr>
        <p:spPr>
          <a:xfrm>
            <a:off x="2851468" y="5059190"/>
            <a:ext cx="503132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Flash / SD</a:t>
            </a:r>
          </a:p>
        </p:txBody>
      </p:sp>
      <p:sp>
        <p:nvSpPr>
          <p:cNvPr id="1424" name="err-vga-t0: Bus-error · VGA"/>
          <p:cNvSpPr txBox="1"/>
          <p:nvPr/>
        </p:nvSpPr>
        <p:spPr>
          <a:xfrm>
            <a:off x="2715387" y="5233400"/>
            <a:ext cx="77529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VGA</a:t>
            </a:r>
          </a:p>
        </p:txBody>
      </p:sp>
      <p:sp>
        <p:nvSpPr>
          <p:cNvPr id="1425" name="err-vga-t1: 错误记录"/>
          <p:cNvSpPr txBox="1"/>
          <p:nvPr/>
        </p:nvSpPr>
        <p:spPr>
          <a:xfrm>
            <a:off x="2882900" y="5357216"/>
            <a:ext cx="4402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sp>
        <p:nvSpPr>
          <p:cNvPr id="1426" name="clic-t0: CLIC"/>
          <p:cNvSpPr txBox="1"/>
          <p:nvPr/>
        </p:nvSpPr>
        <p:spPr>
          <a:xfrm>
            <a:off x="2950729" y="5531426"/>
            <a:ext cx="30460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CLIC</a:t>
            </a:r>
          </a:p>
        </p:txBody>
      </p:sp>
      <p:sp>
        <p:nvSpPr>
          <p:cNvPr id="1427" name="clic-t1: 可选每核中断控制"/>
          <p:cNvSpPr txBox="1"/>
          <p:nvPr/>
        </p:nvSpPr>
        <p:spPr>
          <a:xfrm>
            <a:off x="2706793" y="5655243"/>
            <a:ext cx="79248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可选每核中断控制</a:t>
            </a:r>
          </a:p>
        </p:txBody>
      </p:sp>
      <p:sp>
        <p:nvSpPr>
          <p:cNvPr id="1428" name="plic-t0: PLIC"/>
          <p:cNvSpPr txBox="1"/>
          <p:nvPr/>
        </p:nvSpPr>
        <p:spPr>
          <a:xfrm>
            <a:off x="4071355" y="4637346"/>
            <a:ext cx="29855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PLIC</a:t>
            </a:r>
          </a:p>
        </p:txBody>
      </p:sp>
      <p:sp>
        <p:nvSpPr>
          <p:cNvPr id="1429" name="plic-t1: 外部中断控制"/>
          <p:cNvSpPr txBox="1"/>
          <p:nvPr/>
        </p:nvSpPr>
        <p:spPr>
          <a:xfrm>
            <a:off x="3912447" y="4761163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外部中断控制</a:t>
            </a:r>
          </a:p>
        </p:txBody>
      </p:sp>
      <p:sp>
        <p:nvSpPr>
          <p:cNvPr id="1430" name="gpio-t0: GPIO"/>
          <p:cNvSpPr txBox="1"/>
          <p:nvPr/>
        </p:nvSpPr>
        <p:spPr>
          <a:xfrm>
            <a:off x="4061238" y="4935373"/>
            <a:ext cx="31879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GPIO</a:t>
            </a:r>
          </a:p>
        </p:txBody>
      </p:sp>
      <p:sp>
        <p:nvSpPr>
          <p:cNvPr id="1431" name="gpio-t1: 通用 IO"/>
          <p:cNvSpPr txBox="1"/>
          <p:nvPr/>
        </p:nvSpPr>
        <p:spPr>
          <a:xfrm>
            <a:off x="4034893" y="5059190"/>
            <a:ext cx="37148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通用 IO</a:t>
            </a:r>
          </a:p>
        </p:txBody>
      </p:sp>
      <p:sp>
        <p:nvSpPr>
          <p:cNvPr id="1432" name="err-dma-t0: Bus-error · iDMA"/>
          <p:cNvSpPr txBox="1"/>
          <p:nvPr/>
        </p:nvSpPr>
        <p:spPr>
          <a:xfrm>
            <a:off x="3807637" y="5233400"/>
            <a:ext cx="82599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iDMA</a:t>
            </a:r>
          </a:p>
        </p:txBody>
      </p:sp>
      <p:sp>
        <p:nvSpPr>
          <p:cNvPr id="1433" name="err-dma-t1: 每传输错误记录"/>
          <p:cNvSpPr txBox="1"/>
          <p:nvPr/>
        </p:nvSpPr>
        <p:spPr>
          <a:xfrm>
            <a:off x="3868420" y="5357216"/>
            <a:ext cx="70442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每传输错误记录</a:t>
            </a:r>
          </a:p>
        </p:txBody>
      </p:sp>
      <p:sp>
        <p:nvSpPr>
          <p:cNvPr id="1434" name="reg-error-t0: reg_err_slv"/>
          <p:cNvSpPr txBox="1"/>
          <p:nvPr/>
        </p:nvSpPr>
        <p:spPr>
          <a:xfrm>
            <a:off x="3929327" y="5531426"/>
            <a:ext cx="58261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reg_err_slv</a:t>
            </a:r>
          </a:p>
        </p:txBody>
      </p:sp>
      <p:sp>
        <p:nvSpPr>
          <p:cNvPr id="1435" name="reg-error-t1: 未匹配地址"/>
          <p:cNvSpPr txBox="1"/>
          <p:nvPr/>
        </p:nvSpPr>
        <p:spPr>
          <a:xfrm>
            <a:off x="3956473" y="5655243"/>
            <a:ext cx="5283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未匹配地址</a:t>
            </a:r>
          </a:p>
        </p:txBody>
      </p:sp>
      <p:sp>
        <p:nvSpPr>
          <p:cNvPr id="1436" name="llc-regs-t0: LLC 配置"/>
          <p:cNvSpPr txBox="1"/>
          <p:nvPr/>
        </p:nvSpPr>
        <p:spPr>
          <a:xfrm>
            <a:off x="5088350" y="4637346"/>
            <a:ext cx="49976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配置</a:t>
            </a:r>
          </a:p>
        </p:txBody>
      </p:sp>
      <p:sp>
        <p:nvSpPr>
          <p:cNvPr id="1437" name="llc-regs-t1: SPM way / cache"/>
          <p:cNvSpPr txBox="1"/>
          <p:nvPr/>
        </p:nvSpPr>
        <p:spPr>
          <a:xfrm>
            <a:off x="4959099" y="4761163"/>
            <a:ext cx="758269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SPM way / cache</a:t>
            </a:r>
          </a:p>
        </p:txBody>
      </p:sp>
      <p:sp>
        <p:nvSpPr>
          <p:cNvPr id="1438" name="slink-regs-t0: Serial Link 配置"/>
          <p:cNvSpPr txBox="1"/>
          <p:nvPr/>
        </p:nvSpPr>
        <p:spPr>
          <a:xfrm>
            <a:off x="4938281" y="4935373"/>
            <a:ext cx="79990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配置</a:t>
            </a:r>
          </a:p>
        </p:txBody>
      </p:sp>
      <p:sp>
        <p:nvSpPr>
          <p:cNvPr id="1439" name="slink-regs-t1: 链路控制"/>
          <p:cNvSpPr txBox="1"/>
          <p:nvPr/>
        </p:nvSpPr>
        <p:spPr>
          <a:xfrm>
            <a:off x="5118100" y="5059190"/>
            <a:ext cx="4402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链路控制</a:t>
            </a:r>
          </a:p>
        </p:txBody>
      </p:sp>
      <p:sp>
        <p:nvSpPr>
          <p:cNvPr id="1440" name="err-cpu-t0: Bus-error · CPU"/>
          <p:cNvSpPr txBox="1"/>
          <p:nvPr/>
        </p:nvSpPr>
        <p:spPr>
          <a:xfrm>
            <a:off x="4948552" y="5233400"/>
            <a:ext cx="77936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CPU</a:t>
            </a:r>
          </a:p>
        </p:txBody>
      </p:sp>
      <p:sp>
        <p:nvSpPr>
          <p:cNvPr id="1441" name="err-cpu-t1: 每核错误记录"/>
          <p:cNvSpPr txBox="1"/>
          <p:nvPr/>
        </p:nvSpPr>
        <p:spPr>
          <a:xfrm>
            <a:off x="5030047" y="5357216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每核错误记录</a:t>
            </a:r>
          </a:p>
        </p:txBody>
      </p:sp>
      <p:sp>
        <p:nvSpPr>
          <p:cNvPr id="1442" name="reg-ext-t0: RegExt 扩展"/>
          <p:cNvSpPr txBox="1"/>
          <p:nvPr/>
        </p:nvSpPr>
        <p:spPr>
          <a:xfrm>
            <a:off x="5019392" y="5531426"/>
            <a:ext cx="63768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RegExt 扩展</a:t>
            </a:r>
          </a:p>
        </p:txBody>
      </p:sp>
      <p:sp>
        <p:nvSpPr>
          <p:cNvPr id="1443" name="reg-ext-t1: 新增 IP 配置出口"/>
          <p:cNvSpPr txBox="1"/>
          <p:nvPr/>
        </p:nvSpPr>
        <p:spPr>
          <a:xfrm>
            <a:off x="4967573" y="5655243"/>
            <a:ext cx="7413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新增 IP 配置出口</a:t>
            </a:r>
          </a:p>
        </p:txBody>
      </p:sp>
      <p:sp>
        <p:nvSpPr>
          <p:cNvPr id="1444" name="ddr-S0-t0: DDR.S0"/>
          <p:cNvSpPr txBox="1"/>
          <p:nvPr/>
        </p:nvSpPr>
        <p:spPr>
          <a:xfrm>
            <a:off x="6434225" y="5779161"/>
            <a:ext cx="339550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DDR.S0</a:t>
            </a:r>
          </a:p>
        </p:txBody>
      </p:sp>
      <p:sp>
        <p:nvSpPr>
          <p:cNvPr id="1445" name="ddr-S1-t0: DDR.S1"/>
          <p:cNvSpPr txBox="1"/>
          <p:nvPr/>
        </p:nvSpPr>
        <p:spPr>
          <a:xfrm>
            <a:off x="7365558" y="5779161"/>
            <a:ext cx="339550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DDR.S1</a:t>
            </a:r>
          </a:p>
        </p:txBody>
      </p:sp>
      <p:sp>
        <p:nvSpPr>
          <p:cNvPr id="1446" name="ddr-S2-t0: DDR.S2"/>
          <p:cNvSpPr txBox="1"/>
          <p:nvPr/>
        </p:nvSpPr>
        <p:spPr>
          <a:xfrm>
            <a:off x="8296891" y="5779161"/>
            <a:ext cx="339550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DDR.S2</a:t>
            </a:r>
          </a:p>
        </p:txBody>
      </p:sp>
      <p:sp>
        <p:nvSpPr>
          <p:cNvPr id="1447" name="ddr-S3-t0: DDR.S3"/>
          <p:cNvSpPr txBox="1"/>
          <p:nvPr/>
        </p:nvSpPr>
        <p:spPr>
          <a:xfrm>
            <a:off x="9228225" y="5779161"/>
            <a:ext cx="339550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DDR.S3</a:t>
            </a:r>
          </a:p>
        </p:txBody>
      </p:sp>
      <p:sp>
        <p:nvSpPr>
          <p:cNvPr id="1448" name="ddr-arb-t0: 四口仲裁 / QoS · 共享 DDR 带宽"/>
          <p:cNvSpPr txBox="1"/>
          <p:nvPr/>
        </p:nvSpPr>
        <p:spPr>
          <a:xfrm>
            <a:off x="7300370" y="5934711"/>
            <a:ext cx="1452060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四口仲裁 / QoS · 共享 DDR 带宽</a:t>
            </a:r>
          </a:p>
        </p:txBody>
      </p:sp>
      <p:sp>
        <p:nvSpPr>
          <p:cNvPr id="1449" name="ddr-rw-t0: 读写调度 · Bank / Row"/>
          <p:cNvSpPr txBox="1"/>
          <p:nvPr/>
        </p:nvSpPr>
        <p:spPr>
          <a:xfrm>
            <a:off x="6444522" y="6115965"/>
            <a:ext cx="111482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读写调度 · Bank / Row</a:t>
            </a:r>
          </a:p>
        </p:txBody>
      </p:sp>
      <p:sp>
        <p:nvSpPr>
          <p:cNvPr id="1450" name="ddr-command-t0: 命令调度 · Controller → PHY"/>
          <p:cNvSpPr txBox="1"/>
          <p:nvPr/>
        </p:nvSpPr>
        <p:spPr>
          <a:xfrm>
            <a:off x="8397216" y="6120977"/>
            <a:ext cx="1273434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命令调度 · Controller → PHY</a:t>
            </a:r>
          </a:p>
        </p:txBody>
      </p:sp>
      <p:sp>
        <p:nvSpPr>
          <p:cNvPr id="1451" name="ddr-title: DDR Controller · 4 个 AXI slave"/>
          <p:cNvSpPr txBox="1"/>
          <p:nvPr/>
        </p:nvSpPr>
        <p:spPr>
          <a:xfrm>
            <a:off x="7293766" y="6267688"/>
            <a:ext cx="146526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 · 4 个 AXI slave</a:t>
            </a:r>
          </a:p>
        </p:txBody>
      </p:sp>
      <p:sp>
        <p:nvSpPr>
          <p:cNvPr id="1452" name="badge-C2-text: C2"/>
          <p:cNvSpPr txBox="1"/>
          <p:nvPr/>
        </p:nvSpPr>
        <p:spPr>
          <a:xfrm>
            <a:off x="9662848" y="6283673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453" name="ddr-phy-t0: DDR PHY"/>
          <p:cNvSpPr txBox="1"/>
          <p:nvPr/>
        </p:nvSpPr>
        <p:spPr>
          <a:xfrm>
            <a:off x="10438606" y="6228402"/>
            <a:ext cx="50958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1454" name="ddr-phy-t1: 训练 / 校准"/>
          <p:cNvSpPr txBox="1"/>
          <p:nvPr/>
        </p:nvSpPr>
        <p:spPr>
          <a:xfrm>
            <a:off x="10335535" y="6351271"/>
            <a:ext cx="580263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训练 / 校准</a:t>
            </a:r>
          </a:p>
        </p:txBody>
      </p:sp>
      <p:sp>
        <p:nvSpPr>
          <p:cNvPr id="1455" name="badge-C3-text: C3"/>
          <p:cNvSpPr txBox="1"/>
          <p:nvPr/>
        </p:nvSpPr>
        <p:spPr>
          <a:xfrm>
            <a:off x="10915915" y="6412366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1456" name="ddr-device-t0: DDR"/>
          <p:cNvSpPr txBox="1"/>
          <p:nvPr/>
        </p:nvSpPr>
        <p:spPr>
          <a:xfrm>
            <a:off x="11586842" y="6218378"/>
            <a:ext cx="338249" cy="1842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1457" name="ddr-device-t1: 片外器件"/>
          <p:cNvSpPr txBox="1"/>
          <p:nvPr/>
        </p:nvSpPr>
        <p:spPr>
          <a:xfrm>
            <a:off x="11518900" y="6359399"/>
            <a:ext cx="474133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片外器件</a:t>
            </a:r>
          </a:p>
        </p:txBody>
      </p:sp>
      <p:sp>
        <p:nvSpPr>
          <p:cNvPr id="1458" name="roi-title: 图像裁切输出"/>
          <p:cNvSpPr txBox="1"/>
          <p:nvPr/>
        </p:nvSpPr>
        <p:spPr>
          <a:xfrm>
            <a:off x="10322560" y="4313039"/>
            <a:ext cx="758613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图像裁切输出</a:t>
            </a:r>
          </a:p>
        </p:txBody>
      </p:sp>
      <p:sp>
        <p:nvSpPr>
          <p:cNvPr id="1459" name="roi-count: ≤256 ROI / 帧"/>
          <p:cNvSpPr txBox="1"/>
          <p:nvPr/>
        </p:nvSpPr>
        <p:spPr>
          <a:xfrm>
            <a:off x="10367788" y="4429811"/>
            <a:ext cx="668158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≤256 ROI / 帧</a:t>
            </a:r>
          </a:p>
        </p:txBody>
      </p:sp>
      <p:sp>
        <p:nvSpPr>
          <p:cNvPr id="1460" name="roi-no-scale: 纯裁切 · 不缩放"/>
          <p:cNvSpPr txBox="1"/>
          <p:nvPr/>
        </p:nvSpPr>
        <p:spPr>
          <a:xfrm>
            <a:off x="10356747" y="4517865"/>
            <a:ext cx="69024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纯裁切 · 不缩放</a:t>
            </a:r>
          </a:p>
        </p:txBody>
      </p:sp>
      <p:sp>
        <p:nvSpPr>
          <p:cNvPr id="1461" name="pll-title: PLL / 时钟与复位分发"/>
          <p:cNvSpPr txBox="1"/>
          <p:nvPr/>
        </p:nvSpPr>
        <p:spPr>
          <a:xfrm>
            <a:off x="7380023" y="6514372"/>
            <a:ext cx="1157288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时钟与复位分发</a:t>
            </a:r>
          </a:p>
        </p:txBody>
      </p:sp>
      <p:sp>
        <p:nvSpPr>
          <p:cNvPr id="1462" name="badge-C1-text: C1"/>
          <p:cNvSpPr txBox="1"/>
          <p:nvPr/>
        </p:nvSpPr>
        <p:spPr>
          <a:xfrm>
            <a:off x="8749295" y="6534625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463" name="pll-interface: RefClk / POR → clk_i / rst_ni"/>
          <p:cNvSpPr txBox="1"/>
          <p:nvPr/>
        </p:nvSpPr>
        <p:spPr>
          <a:xfrm>
            <a:off x="9311539" y="6536318"/>
            <a:ext cx="1222788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RefClk / POR → clk_i / rst_ni</a:t>
            </a:r>
          </a:p>
        </p:txBody>
      </p:sp>
      <p:sp>
        <p:nvSpPr>
          <p:cNvPr id="1464" name="reg-badge-C1-text: C1"/>
          <p:cNvSpPr txBox="1"/>
          <p:nvPr/>
        </p:nvSpPr>
        <p:spPr>
          <a:xfrm>
            <a:off x="275855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465" name="config-C1-title-0: PLL / 时钟"/>
          <p:cNvSpPr txBox="1"/>
          <p:nvPr/>
        </p:nvSpPr>
        <p:spPr>
          <a:xfrm>
            <a:off x="287679" y="6020800"/>
            <a:ext cx="57695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时钟</a:t>
            </a:r>
          </a:p>
        </p:txBody>
      </p:sp>
      <p:sp>
        <p:nvSpPr>
          <p:cNvPr id="1466" name="config-C1-title-1: 复位"/>
          <p:cNvSpPr txBox="1"/>
          <p:nvPr/>
        </p:nvSpPr>
        <p:spPr>
          <a:xfrm>
            <a:off x="423757" y="6129173"/>
            <a:ext cx="3048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复位</a:t>
            </a:r>
          </a:p>
        </p:txBody>
      </p:sp>
      <p:sp>
        <p:nvSpPr>
          <p:cNvPr id="1467" name="reg-badge-C2-text: C2"/>
          <p:cNvSpPr txBox="1"/>
          <p:nvPr/>
        </p:nvSpPr>
        <p:spPr>
          <a:xfrm>
            <a:off x="992981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468" name="config-C2-title-0: DDR"/>
          <p:cNvSpPr txBox="1"/>
          <p:nvPr/>
        </p:nvSpPr>
        <p:spPr>
          <a:xfrm>
            <a:off x="1144058" y="6020800"/>
            <a:ext cx="29845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1469" name="config-C2-title-1: Controller"/>
          <p:cNvSpPr txBox="1"/>
          <p:nvPr/>
        </p:nvSpPr>
        <p:spPr>
          <a:xfrm>
            <a:off x="1028517" y="6129173"/>
            <a:ext cx="52953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Controller</a:t>
            </a:r>
          </a:p>
        </p:txBody>
      </p:sp>
      <p:sp>
        <p:nvSpPr>
          <p:cNvPr id="1470" name="reg-badge-C3-text: C3"/>
          <p:cNvSpPr txBox="1"/>
          <p:nvPr/>
        </p:nvSpPr>
        <p:spPr>
          <a:xfrm>
            <a:off x="1710108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1471" name="config-C3-title-0: DDR"/>
          <p:cNvSpPr txBox="1"/>
          <p:nvPr/>
        </p:nvSpPr>
        <p:spPr>
          <a:xfrm>
            <a:off x="1861185" y="6020800"/>
            <a:ext cx="29845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1472" name="config-C3-title-1: PHY"/>
          <p:cNvSpPr txBox="1"/>
          <p:nvPr/>
        </p:nvSpPr>
        <p:spPr>
          <a:xfrm>
            <a:off x="1869271" y="6129173"/>
            <a:ext cx="28227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PHY</a:t>
            </a:r>
          </a:p>
        </p:txBody>
      </p:sp>
      <p:sp>
        <p:nvSpPr>
          <p:cNvPr id="1473" name="reg-badge-C4-text: C4"/>
          <p:cNvSpPr txBox="1"/>
          <p:nvPr/>
        </p:nvSpPr>
        <p:spPr>
          <a:xfrm>
            <a:off x="2427235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1474" name="config-C4-title-0: LVDS"/>
          <p:cNvSpPr txBox="1"/>
          <p:nvPr/>
        </p:nvSpPr>
        <p:spPr>
          <a:xfrm>
            <a:off x="2557970" y="6020800"/>
            <a:ext cx="33913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</a:t>
            </a:r>
          </a:p>
        </p:txBody>
      </p:sp>
      <p:sp>
        <p:nvSpPr>
          <p:cNvPr id="1475" name="config-C4-title-1: RX"/>
          <p:cNvSpPr txBox="1"/>
          <p:nvPr/>
        </p:nvSpPr>
        <p:spPr>
          <a:xfrm>
            <a:off x="2617899" y="6129173"/>
            <a:ext cx="21927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RX</a:t>
            </a:r>
          </a:p>
        </p:txBody>
      </p:sp>
      <p:sp>
        <p:nvSpPr>
          <p:cNvPr id="1476" name="reg-badge-C9-text: C9"/>
          <p:cNvSpPr txBox="1"/>
          <p:nvPr/>
        </p:nvSpPr>
        <p:spPr>
          <a:xfrm>
            <a:off x="271780" y="6372064"/>
            <a:ext cx="165947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sp>
        <p:nvSpPr>
          <p:cNvPr id="1477" name="config-C9-title-0: ISP"/>
          <p:cNvSpPr txBox="1"/>
          <p:nvPr/>
        </p:nvSpPr>
        <p:spPr>
          <a:xfrm>
            <a:off x="452278" y="6528799"/>
            <a:ext cx="24775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1478" name="reg-badge-C10-text: C10"/>
          <p:cNvSpPr txBox="1"/>
          <p:nvPr/>
        </p:nvSpPr>
        <p:spPr>
          <a:xfrm>
            <a:off x="988906" y="6372064"/>
            <a:ext cx="165947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C10</a:t>
            </a:r>
          </a:p>
        </p:txBody>
      </p:sp>
      <p:sp>
        <p:nvSpPr>
          <p:cNvPr id="1479" name="config-C10-title-0: NPU"/>
          <p:cNvSpPr txBox="1"/>
          <p:nvPr/>
        </p:nvSpPr>
        <p:spPr>
          <a:xfrm>
            <a:off x="1148077" y="6474613"/>
            <a:ext cx="29041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</a:t>
            </a:r>
          </a:p>
        </p:txBody>
      </p:sp>
      <p:sp>
        <p:nvSpPr>
          <p:cNvPr id="1480" name="config-C10-title-1: 计算"/>
          <p:cNvSpPr txBox="1"/>
          <p:nvPr/>
        </p:nvSpPr>
        <p:spPr>
          <a:xfrm>
            <a:off x="1140883" y="6582986"/>
            <a:ext cx="3048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计算</a:t>
            </a:r>
          </a:p>
        </p:txBody>
      </p:sp>
      <p:sp>
        <p:nvSpPr>
          <p:cNvPr id="1481" name="reg-badge-C11-text: C11"/>
          <p:cNvSpPr txBox="1"/>
          <p:nvPr/>
        </p:nvSpPr>
        <p:spPr>
          <a:xfrm>
            <a:off x="1706034" y="6372064"/>
            <a:ext cx="165947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C11</a:t>
            </a:r>
          </a:p>
        </p:txBody>
      </p:sp>
      <p:sp>
        <p:nvSpPr>
          <p:cNvPr id="1482" name="config-C11-title-0: GB"/>
          <p:cNvSpPr txBox="1"/>
          <p:nvPr/>
        </p:nvSpPr>
        <p:spPr>
          <a:xfrm>
            <a:off x="1743413" y="6474613"/>
            <a:ext cx="53399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</a:t>
            </a:r>
          </a:p>
        </p:txBody>
      </p:sp>
      <p:sp>
        <p:nvSpPr>
          <p:cNvPr id="1483" name="config-C11-title-1: 搬运"/>
          <p:cNvSpPr txBox="1"/>
          <p:nvPr/>
        </p:nvSpPr>
        <p:spPr>
          <a:xfrm>
            <a:off x="1858010" y="6582986"/>
            <a:ext cx="3048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搬运</a:t>
            </a:r>
          </a:p>
        </p:txBody>
      </p:sp>
      <p:sp>
        <p:nvSpPr>
          <p:cNvPr id="1484" name="reg-badge-C6-text: C6"/>
          <p:cNvSpPr txBox="1"/>
          <p:nvPr/>
        </p:nvSpPr>
        <p:spPr>
          <a:xfrm>
            <a:off x="3857414" y="5918251"/>
            <a:ext cx="165947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1485" name="config-C6-title-0: 帧写入"/>
          <p:cNvSpPr txBox="1"/>
          <p:nvPr/>
        </p:nvSpPr>
        <p:spPr>
          <a:xfrm>
            <a:off x="3958590" y="6020800"/>
            <a:ext cx="4064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</a:t>
            </a:r>
          </a:p>
        </p:txBody>
      </p:sp>
      <p:sp>
        <p:nvSpPr>
          <p:cNvPr id="1486" name="config-C6-title-1: DMA"/>
          <p:cNvSpPr txBox="1"/>
          <p:nvPr/>
        </p:nvSpPr>
        <p:spPr>
          <a:xfrm>
            <a:off x="4007456" y="6129173"/>
            <a:ext cx="30866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DMA</a:t>
            </a:r>
          </a:p>
        </p:txBody>
      </p:sp>
      <p:sp>
        <p:nvSpPr>
          <p:cNvPr id="1487" name="reg-badge-C12-text: C12"/>
          <p:cNvSpPr txBox="1"/>
          <p:nvPr/>
        </p:nvSpPr>
        <p:spPr>
          <a:xfrm>
            <a:off x="2423160" y="6372065"/>
            <a:ext cx="165947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C12</a:t>
            </a:r>
          </a:p>
        </p:txBody>
      </p:sp>
      <p:sp>
        <p:nvSpPr>
          <p:cNvPr id="1488" name="config-C12-title-0: GB"/>
          <p:cNvSpPr txBox="1"/>
          <p:nvPr/>
        </p:nvSpPr>
        <p:spPr>
          <a:xfrm>
            <a:off x="2611797" y="6474613"/>
            <a:ext cx="23147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</a:t>
            </a:r>
          </a:p>
        </p:txBody>
      </p:sp>
      <p:sp>
        <p:nvSpPr>
          <p:cNvPr id="1489" name="config-C12-title-1: 管理"/>
          <p:cNvSpPr txBox="1"/>
          <p:nvPr/>
        </p:nvSpPr>
        <p:spPr>
          <a:xfrm>
            <a:off x="2575137" y="6582986"/>
            <a:ext cx="3048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管理</a:t>
            </a:r>
          </a:p>
        </p:txBody>
      </p:sp>
      <p:sp>
        <p:nvSpPr>
          <p:cNvPr id="1490" name="reg-badge-C13-text: C13"/>
          <p:cNvSpPr txBox="1"/>
          <p:nvPr/>
        </p:nvSpPr>
        <p:spPr>
          <a:xfrm>
            <a:off x="3140286" y="6372065"/>
            <a:ext cx="165947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C13</a:t>
            </a:r>
          </a:p>
        </p:txBody>
      </p:sp>
      <p:sp>
        <p:nvSpPr>
          <p:cNvPr id="1491" name="config-C13-title-0: eMMC Host"/>
          <p:cNvSpPr txBox="1"/>
          <p:nvPr/>
        </p:nvSpPr>
        <p:spPr>
          <a:xfrm>
            <a:off x="3133069" y="6474613"/>
            <a:ext cx="62318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eMMC Host</a:t>
            </a:r>
          </a:p>
        </p:txBody>
      </p:sp>
      <p:sp>
        <p:nvSpPr>
          <p:cNvPr id="1492" name="config-C13-title-1: / DMA"/>
          <p:cNvSpPr txBox="1"/>
          <p:nvPr/>
        </p:nvSpPr>
        <p:spPr>
          <a:xfrm>
            <a:off x="3248708" y="6582986"/>
            <a:ext cx="39191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/ DMA</a:t>
            </a:r>
          </a:p>
        </p:txBody>
      </p:sp>
      <p:sp>
        <p:nvSpPr>
          <p:cNvPr id="1493" name="reg-badge-C8-text: C8"/>
          <p:cNvSpPr txBox="1"/>
          <p:nvPr/>
        </p:nvSpPr>
        <p:spPr>
          <a:xfrm>
            <a:off x="5291666" y="5918252"/>
            <a:ext cx="165947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sp>
        <p:nvSpPr>
          <p:cNvPr id="1494" name="config-C8-title-0: ROI 任务"/>
          <p:cNvSpPr txBox="1"/>
          <p:nvPr/>
        </p:nvSpPr>
        <p:spPr>
          <a:xfrm>
            <a:off x="5350277" y="6020800"/>
            <a:ext cx="49153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ROI 任务</a:t>
            </a:r>
          </a:p>
        </p:txBody>
      </p:sp>
      <p:sp>
        <p:nvSpPr>
          <p:cNvPr id="1495" name="config-C8-title-1: / 调度"/>
          <p:cNvSpPr txBox="1"/>
          <p:nvPr/>
        </p:nvSpPr>
        <p:spPr>
          <a:xfrm>
            <a:off x="5402021" y="6129173"/>
            <a:ext cx="38804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/ 调度</a:t>
            </a:r>
          </a:p>
        </p:txBody>
      </p:sp>
      <p:sp>
        <p:nvSpPr>
          <p:cNvPr id="1496" name="reg-badge-C14-text: C14"/>
          <p:cNvSpPr txBox="1"/>
          <p:nvPr/>
        </p:nvSpPr>
        <p:spPr>
          <a:xfrm>
            <a:off x="3857413" y="6372065"/>
            <a:ext cx="165947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C14</a:t>
            </a:r>
          </a:p>
        </p:txBody>
      </p:sp>
      <p:sp>
        <p:nvSpPr>
          <p:cNvPr id="1497" name="config-C14-title-0: 压缩公共"/>
          <p:cNvSpPr txBox="1"/>
          <p:nvPr/>
        </p:nvSpPr>
        <p:spPr>
          <a:xfrm>
            <a:off x="3907790" y="6474613"/>
            <a:ext cx="5080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压缩公共</a:t>
            </a:r>
          </a:p>
        </p:txBody>
      </p:sp>
      <p:sp>
        <p:nvSpPr>
          <p:cNvPr id="1498" name="config-C14-title-1: 控制"/>
          <p:cNvSpPr txBox="1"/>
          <p:nvPr/>
        </p:nvSpPr>
        <p:spPr>
          <a:xfrm>
            <a:off x="4009390" y="6582986"/>
            <a:ext cx="3048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控制</a:t>
            </a:r>
          </a:p>
        </p:txBody>
      </p:sp>
      <p:sp>
        <p:nvSpPr>
          <p:cNvPr id="1499" name="reg-badge-C7-text: C7"/>
          <p:cNvSpPr txBox="1"/>
          <p:nvPr/>
        </p:nvSpPr>
        <p:spPr>
          <a:xfrm>
            <a:off x="4574539" y="5918252"/>
            <a:ext cx="165947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sp>
        <p:nvSpPr>
          <p:cNvPr id="1500" name="config-C7-title-0: 帧输出"/>
          <p:cNvSpPr txBox="1"/>
          <p:nvPr/>
        </p:nvSpPr>
        <p:spPr>
          <a:xfrm>
            <a:off x="4675716" y="6020800"/>
            <a:ext cx="4064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帧输出</a:t>
            </a:r>
          </a:p>
        </p:txBody>
      </p:sp>
      <p:sp>
        <p:nvSpPr>
          <p:cNvPr id="1501" name="config-C7-title-1: DMA"/>
          <p:cNvSpPr txBox="1"/>
          <p:nvPr/>
        </p:nvSpPr>
        <p:spPr>
          <a:xfrm>
            <a:off x="4696155" y="6129173"/>
            <a:ext cx="36552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DMA</a:t>
            </a:r>
          </a:p>
        </p:txBody>
      </p:sp>
      <p:sp>
        <p:nvSpPr>
          <p:cNvPr id="1502" name="reg-badge-C5-text: C5"/>
          <p:cNvSpPr txBox="1"/>
          <p:nvPr/>
        </p:nvSpPr>
        <p:spPr>
          <a:xfrm>
            <a:off x="3140286" y="5918252"/>
            <a:ext cx="165947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1503" name="config-C5-title-0: LVDS"/>
          <p:cNvSpPr txBox="1"/>
          <p:nvPr/>
        </p:nvSpPr>
        <p:spPr>
          <a:xfrm>
            <a:off x="3275097" y="6020800"/>
            <a:ext cx="33913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</a:t>
            </a:r>
          </a:p>
        </p:txBody>
      </p:sp>
      <p:sp>
        <p:nvSpPr>
          <p:cNvPr id="1504" name="config-C5-title-1: TX"/>
          <p:cNvSpPr txBox="1"/>
          <p:nvPr/>
        </p:nvSpPr>
        <p:spPr>
          <a:xfrm>
            <a:off x="3341079" y="6129173"/>
            <a:ext cx="20716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TX</a:t>
            </a:r>
          </a:p>
        </p:txBody>
      </p:sp>
      <p:sp>
        <p:nvSpPr>
          <p:cNvPr id="1505" name="reg-badge-C15-text: C15"/>
          <p:cNvSpPr txBox="1"/>
          <p:nvPr/>
        </p:nvSpPr>
        <p:spPr>
          <a:xfrm>
            <a:off x="4557292" y="6372065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C15</a:t>
            </a:r>
          </a:p>
        </p:txBody>
      </p:sp>
      <p:sp>
        <p:nvSpPr>
          <p:cNvPr id="1506" name="config-C15-title-0: 压缩器"/>
          <p:cNvSpPr txBox="1"/>
          <p:nvPr/>
        </p:nvSpPr>
        <p:spPr>
          <a:xfrm>
            <a:off x="4675717" y="6528800"/>
            <a:ext cx="4064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压缩器</a:t>
            </a:r>
          </a:p>
        </p:txBody>
      </p:sp>
      <p:sp>
        <p:nvSpPr>
          <p:cNvPr id="1507" name="reg-badge-C16-text: C16"/>
          <p:cNvSpPr txBox="1"/>
          <p:nvPr/>
        </p:nvSpPr>
        <p:spPr>
          <a:xfrm>
            <a:off x="5274418" y="6372065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C16</a:t>
            </a:r>
          </a:p>
        </p:txBody>
      </p:sp>
      <p:sp>
        <p:nvSpPr>
          <p:cNvPr id="1508" name="config-C16-title-0: 解压器"/>
          <p:cNvSpPr txBox="1"/>
          <p:nvPr/>
        </p:nvSpPr>
        <p:spPr>
          <a:xfrm>
            <a:off x="5392843" y="6528800"/>
            <a:ext cx="4064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解压器</a:t>
            </a:r>
          </a:p>
        </p:txBody>
      </p:sp>
      <p:sp>
        <p:nvSpPr>
          <p:cNvPr id="1509" name="front-F0-t0: F0 · LLC"/>
          <p:cNvSpPr txBox="1"/>
          <p:nvPr/>
        </p:nvSpPr>
        <p:spPr>
          <a:xfrm>
            <a:off x="6431137" y="4319508"/>
            <a:ext cx="345726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F0 · LLC</a:t>
            </a:r>
          </a:p>
        </p:txBody>
      </p:sp>
      <p:sp>
        <p:nvSpPr>
          <p:cNvPr id="1510" name="front-F1-t0: F1 · GB 搬运"/>
          <p:cNvSpPr txBox="1"/>
          <p:nvPr/>
        </p:nvSpPr>
        <p:spPr>
          <a:xfrm>
            <a:off x="7287834" y="4319508"/>
            <a:ext cx="494998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F1 · GB 搬运</a:t>
            </a:r>
          </a:p>
        </p:txBody>
      </p:sp>
      <p:sp>
        <p:nvSpPr>
          <p:cNvPr id="1511" name="front-F2-t0: F2 · 帧写"/>
          <p:cNvSpPr txBox="1"/>
          <p:nvPr/>
        </p:nvSpPr>
        <p:spPr>
          <a:xfrm>
            <a:off x="8279294" y="4319508"/>
            <a:ext cx="374745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F2 · 帧写</a:t>
            </a:r>
          </a:p>
        </p:txBody>
      </p:sp>
      <p:sp>
        <p:nvSpPr>
          <p:cNvPr id="1512" name="front-F3-t0: F3 · 帧读"/>
          <p:cNvSpPr txBox="1"/>
          <p:nvPr/>
        </p:nvSpPr>
        <p:spPr>
          <a:xfrm>
            <a:off x="9210627" y="4319508"/>
            <a:ext cx="374745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F3 · 帧读</a:t>
            </a:r>
          </a:p>
        </p:txBody>
      </p:sp>
      <p:sp>
        <p:nvSpPr>
          <p:cNvPr id="1513" name="front-adapt-t0: 共享压缩前端 · 四口区域选择 / 事务跟踪"/>
          <p:cNvSpPr txBox="1"/>
          <p:nvPr/>
        </p:nvSpPr>
        <p:spPr>
          <a:xfrm>
            <a:off x="7063335" y="4503912"/>
            <a:ext cx="192613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共享压缩前端 · 四口区域选择 / 事务跟踪</a:t>
            </a:r>
          </a:p>
        </p:txBody>
      </p:sp>
      <p:sp>
        <p:nvSpPr>
          <p:cNvPr id="1514" name="badge-C14-text: C14"/>
          <p:cNvSpPr txBox="1"/>
          <p:nvPr/>
        </p:nvSpPr>
        <p:spPr>
          <a:xfrm>
            <a:off x="9658773" y="4525993"/>
            <a:ext cx="165947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C14</a:t>
            </a:r>
          </a:p>
        </p:txBody>
      </p:sp>
      <p:sp>
        <p:nvSpPr>
          <p:cNvPr id="1515" name="address-control-t0: 地址 / 事务"/>
          <p:cNvSpPr txBox="1"/>
          <p:nvPr/>
        </p:nvSpPr>
        <p:spPr>
          <a:xfrm>
            <a:off x="6276216" y="4810066"/>
            <a:ext cx="62170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事务</a:t>
            </a:r>
          </a:p>
        </p:txBody>
      </p:sp>
      <p:sp>
        <p:nvSpPr>
          <p:cNvPr id="1516" name="address-control-t1: AR / AW 映射"/>
          <p:cNvSpPr txBox="1"/>
          <p:nvPr/>
        </p:nvSpPr>
        <p:spPr>
          <a:xfrm>
            <a:off x="6279909" y="4933883"/>
            <a:ext cx="614315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 / AW 映射</a:t>
            </a:r>
          </a:p>
        </p:txBody>
      </p:sp>
      <p:sp>
        <p:nvSpPr>
          <p:cNvPr id="1517" name="metadata-t0: 块地址 / 元数据"/>
          <p:cNvSpPr txBox="1"/>
          <p:nvPr/>
        </p:nvSpPr>
        <p:spPr>
          <a:xfrm>
            <a:off x="6202108" y="5223511"/>
            <a:ext cx="769916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块地址 / 元数据</a:t>
            </a:r>
          </a:p>
        </p:txBody>
      </p:sp>
      <p:sp>
        <p:nvSpPr>
          <p:cNvPr id="1518" name="badge-C15-text: C15"/>
          <p:cNvSpPr txBox="1"/>
          <p:nvPr/>
        </p:nvSpPr>
        <p:spPr>
          <a:xfrm>
            <a:off x="7196352" y="4908686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C15</a:t>
            </a:r>
          </a:p>
        </p:txBody>
      </p:sp>
      <p:sp>
        <p:nvSpPr>
          <p:cNvPr id="1519" name="compressor-title: 共享压缩器"/>
          <p:cNvSpPr txBox="1"/>
          <p:nvPr/>
        </p:nvSpPr>
        <p:spPr>
          <a:xfrm>
            <a:off x="7272867" y="5007848"/>
            <a:ext cx="6096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共享压缩器</a:t>
            </a:r>
          </a:p>
        </p:txBody>
      </p:sp>
      <p:sp>
        <p:nvSpPr>
          <p:cNvPr id="1520" name="compressor-detail: W 写数据"/>
          <p:cNvSpPr txBox="1"/>
          <p:nvPr/>
        </p:nvSpPr>
        <p:spPr>
          <a:xfrm>
            <a:off x="7352287" y="5130851"/>
            <a:ext cx="45076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 写数据</a:t>
            </a:r>
          </a:p>
        </p:txBody>
      </p:sp>
      <p:sp>
        <p:nvSpPr>
          <p:cNvPr id="1521" name="badge-C16-text: C16"/>
          <p:cNvSpPr txBox="1"/>
          <p:nvPr/>
        </p:nvSpPr>
        <p:spPr>
          <a:xfrm>
            <a:off x="8102285" y="4908686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C16</a:t>
            </a:r>
          </a:p>
        </p:txBody>
      </p:sp>
      <p:sp>
        <p:nvSpPr>
          <p:cNvPr id="1522" name="decompressor-title: 共享解压器"/>
          <p:cNvSpPr txBox="1"/>
          <p:nvPr/>
        </p:nvSpPr>
        <p:spPr>
          <a:xfrm>
            <a:off x="8178800" y="5007848"/>
            <a:ext cx="6096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共享解压器</a:t>
            </a:r>
          </a:p>
        </p:txBody>
      </p:sp>
      <p:sp>
        <p:nvSpPr>
          <p:cNvPr id="1523" name="decompressor-detail: R 读数据"/>
          <p:cNvSpPr txBox="1"/>
          <p:nvPr/>
        </p:nvSpPr>
        <p:spPr>
          <a:xfrm>
            <a:off x="8267033" y="5130851"/>
            <a:ext cx="433134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 读数据</a:t>
            </a:r>
          </a:p>
        </p:txBody>
      </p:sp>
      <p:sp>
        <p:nvSpPr>
          <p:cNvPr id="1524" name="plain-bypass-title: 普通数据旁路"/>
          <p:cNvSpPr txBox="1"/>
          <p:nvPr/>
        </p:nvSpPr>
        <p:spPr>
          <a:xfrm>
            <a:off x="9033933" y="5007848"/>
            <a:ext cx="7112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普通数据旁路</a:t>
            </a:r>
          </a:p>
        </p:txBody>
      </p:sp>
      <p:sp>
        <p:nvSpPr>
          <p:cNvPr id="1525" name="plain-bypass-detail: W / R 原样"/>
          <p:cNvSpPr txBox="1"/>
          <p:nvPr/>
        </p:nvSpPr>
        <p:spPr>
          <a:xfrm>
            <a:off x="9131647" y="5130851"/>
            <a:ext cx="5157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 / R 原样</a:t>
            </a:r>
          </a:p>
        </p:txBody>
      </p:sp>
      <p:sp>
        <p:nvSpPr>
          <p:cNvPr id="1526" name="front-route-t0: 下游 AXI 路由 / R、B 响应匹配"/>
          <p:cNvSpPr txBox="1"/>
          <p:nvPr/>
        </p:nvSpPr>
        <p:spPr>
          <a:xfrm>
            <a:off x="7283945" y="5499592"/>
            <a:ext cx="148491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下游 AXI 路由 / R、B 响应匹配</a:t>
            </a:r>
          </a:p>
        </p:txBody>
      </p:sp>
      <p:sp>
        <p:nvSpPr>
          <p:cNvPr id="1527" name="b-response-label: B"/>
          <p:cNvSpPr txBox="1"/>
          <p:nvPr/>
        </p:nvSpPr>
        <p:spPr>
          <a:xfrm>
            <a:off x="6250331" y="4667420"/>
            <a:ext cx="131604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B</a:t>
            </a:r>
          </a:p>
        </p:txBody>
      </p:sp>
      <p:sp>
        <p:nvSpPr>
          <p:cNvPr id="1528" name="badge-C8-text: C8"/>
          <p:cNvSpPr txBox="1"/>
          <p:nvPr/>
        </p:nvSpPr>
        <p:spPr>
          <a:xfrm>
            <a:off x="10945706" y="4637753"/>
            <a:ext cx="165947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sp>
        <p:nvSpPr>
          <p:cNvPr id="1529" name="roi-scheduler-title: ROI 任务表"/>
          <p:cNvSpPr txBox="1"/>
          <p:nvPr/>
        </p:nvSpPr>
        <p:spPr>
          <a:xfrm>
            <a:off x="10405300" y="4733528"/>
            <a:ext cx="59313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ROI 任务表</a:t>
            </a:r>
          </a:p>
        </p:txBody>
      </p:sp>
      <p:sp>
        <p:nvSpPr>
          <p:cNvPr id="1530" name="roi-scheduler-detail: 顺序调度"/>
          <p:cNvSpPr txBox="1"/>
          <p:nvPr/>
        </p:nvSpPr>
        <p:spPr>
          <a:xfrm>
            <a:off x="10481733" y="4849758"/>
            <a:ext cx="4402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顺序调度</a:t>
            </a:r>
          </a:p>
        </p:txBody>
      </p:sp>
      <p:sp>
        <p:nvSpPr>
          <p:cNvPr id="1531" name="badge-C7-text: C7"/>
          <p:cNvSpPr txBox="1"/>
          <p:nvPr/>
        </p:nvSpPr>
        <p:spPr>
          <a:xfrm>
            <a:off x="10945706" y="5027219"/>
            <a:ext cx="165947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sp>
        <p:nvSpPr>
          <p:cNvPr id="1532" name="roi-vdma-title: 帧输出 DMA"/>
          <p:cNvSpPr txBox="1"/>
          <p:nvPr/>
        </p:nvSpPr>
        <p:spPr>
          <a:xfrm>
            <a:off x="10351476" y="5122994"/>
            <a:ext cx="70078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帧输出 DMA</a:t>
            </a:r>
          </a:p>
        </p:txBody>
      </p:sp>
      <p:sp>
        <p:nvSpPr>
          <p:cNvPr id="1533" name="roi-vdma-detail: 二维 AXI 读"/>
          <p:cNvSpPr txBox="1"/>
          <p:nvPr/>
        </p:nvSpPr>
        <p:spPr>
          <a:xfrm>
            <a:off x="10439553" y="5239225"/>
            <a:ext cx="524626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二维 AXI 读</a:t>
            </a:r>
          </a:p>
        </p:txBody>
      </p:sp>
      <p:sp>
        <p:nvSpPr>
          <p:cNvPr id="1534" name="roi-fifo-t0: 像素整理"/>
          <p:cNvSpPr txBox="1"/>
          <p:nvPr/>
        </p:nvSpPr>
        <p:spPr>
          <a:xfrm>
            <a:off x="10447867" y="5411200"/>
            <a:ext cx="5080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像素整理</a:t>
            </a:r>
          </a:p>
        </p:txBody>
      </p:sp>
      <p:sp>
        <p:nvSpPr>
          <p:cNvPr id="1535" name="roi-fifo-t1: 输出 FIFO"/>
          <p:cNvSpPr txBox="1"/>
          <p:nvPr/>
        </p:nvSpPr>
        <p:spPr>
          <a:xfrm>
            <a:off x="10473904" y="5535016"/>
            <a:ext cx="455925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输出 FIFO</a:t>
            </a:r>
          </a:p>
        </p:txBody>
      </p:sp>
      <p:sp>
        <p:nvSpPr>
          <p:cNvPr id="1536" name="badge-C5-text: C5"/>
          <p:cNvSpPr txBox="1"/>
          <p:nvPr/>
        </p:nvSpPr>
        <p:spPr>
          <a:xfrm>
            <a:off x="10945706" y="5721486"/>
            <a:ext cx="165947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1537" name="lvds-tx-title: LVDS TX"/>
          <p:cNvSpPr txBox="1"/>
          <p:nvPr/>
        </p:nvSpPr>
        <p:spPr>
          <a:xfrm>
            <a:off x="10464287" y="5817261"/>
            <a:ext cx="47516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TX</a:t>
            </a:r>
          </a:p>
        </p:txBody>
      </p:sp>
      <p:sp>
        <p:nvSpPr>
          <p:cNvPr id="1538" name="lvds-tx-detail: 子图帧行封装"/>
          <p:cNvSpPr txBox="1"/>
          <p:nvPr/>
        </p:nvSpPr>
        <p:spPr>
          <a:xfrm>
            <a:off x="10393680" y="5933491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子图帧行封装</a:t>
            </a:r>
          </a:p>
        </p:txBody>
      </p:sp>
      <p:sp>
        <p:nvSpPr>
          <p:cNvPr id="1539" name="legend-axi-interface-text: AXI 请求 / 响应"/>
          <p:cNvSpPr txBox="1"/>
          <p:nvPr/>
        </p:nvSpPr>
        <p:spPr>
          <a:xfrm>
            <a:off x="10427187" y="2844851"/>
            <a:ext cx="684826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请求 / 响应</a:t>
            </a:r>
          </a:p>
        </p:txBody>
      </p:sp>
      <p:sp>
        <p:nvSpPr>
          <p:cNvPr id="1540" name="legend-axi-request-text: AXI 请求方向"/>
          <p:cNvSpPr txBox="1"/>
          <p:nvPr/>
        </p:nvSpPr>
        <p:spPr>
          <a:xfrm>
            <a:off x="10476460" y="3007412"/>
            <a:ext cx="58628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请求方向</a:t>
            </a:r>
          </a:p>
        </p:txBody>
      </p:sp>
      <p:sp>
        <p:nvSpPr>
          <p:cNvPr id="1541" name="legend-gb-text: GB 局部读写"/>
          <p:cNvSpPr txBox="1"/>
          <p:nvPr/>
        </p:nvSpPr>
        <p:spPr>
          <a:xfrm>
            <a:off x="10479984" y="3169971"/>
            <a:ext cx="579231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GB 局部读写</a:t>
            </a:r>
          </a:p>
        </p:txBody>
      </p:sp>
      <p:sp>
        <p:nvSpPr>
          <p:cNvPr id="1542" name="legend-pixel-text: 像素流"/>
          <p:cNvSpPr txBox="1"/>
          <p:nvPr/>
        </p:nvSpPr>
        <p:spPr>
          <a:xfrm>
            <a:off x="10593493" y="3332531"/>
            <a:ext cx="35221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像素流</a:t>
            </a:r>
          </a:p>
        </p:txBody>
      </p:sp>
      <p:sp>
        <p:nvSpPr>
          <p:cNvPr id="1543" name="legend-cfg-text: 配置 / 控制"/>
          <p:cNvSpPr txBox="1"/>
          <p:nvPr/>
        </p:nvSpPr>
        <p:spPr>
          <a:xfrm>
            <a:off x="10500193" y="3495092"/>
            <a:ext cx="53881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配置 / 控制</a:t>
            </a:r>
          </a:p>
        </p:txBody>
      </p:sp>
      <p:sp>
        <p:nvSpPr>
          <p:cNvPr id="1544" name="legend-optional-text: eMMC 接口"/>
          <p:cNvSpPr txBox="1"/>
          <p:nvPr/>
        </p:nvSpPr>
        <p:spPr>
          <a:xfrm>
            <a:off x="10501180" y="3657651"/>
            <a:ext cx="53684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93939D"/>
                </a:solidFill>
                <a:latin typeface="Microsoft YaHei"/>
                <a:ea typeface="Microsoft YaHei"/>
                <a:cs typeface="Microsoft YaHei"/>
              </a:rPr>
              <a:t>eMMC 接口</a:t>
            </a:r>
          </a:p>
        </p:txBody>
      </p:sp>
      <p:sp>
        <p:nvSpPr>
          <p:cNvPr id="1545" name="legend-return: 单箭头接口：省略响应"/>
          <p:cNvSpPr txBox="1"/>
          <p:nvPr/>
        </p:nvSpPr>
        <p:spPr>
          <a:xfrm>
            <a:off x="10254827" y="3929127"/>
            <a:ext cx="894080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单箭头接口：省略响应</a:t>
            </a:r>
          </a:p>
        </p:txBody>
      </p:sp>
      <p:sp>
        <p:nvSpPr>
          <p:cNvPr id="1546" name="legend-status: 虚实与箭头方向独立"/>
          <p:cNvSpPr txBox="1"/>
          <p:nvPr/>
        </p:nvSpPr>
        <p:spPr>
          <a:xfrm>
            <a:off x="10290625" y="4017180"/>
            <a:ext cx="822484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虚实与箭头方向独立</a:t>
            </a:r>
          </a:p>
        </p:txBody>
      </p:sp>
      <p:sp>
        <p:nvSpPr>
          <p:cNvPr id="1547" name="legend-dashed"/>
          <p:cNvSpPr/>
          <p:nvPr/>
        </p:nvSpPr>
        <p:spPr>
          <a:xfrm>
            <a:off x="10193867" y="3881442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48" name="legend-dashed-text: 虚线：规划 / 可选"/>
          <p:cNvSpPr txBox="1"/>
          <p:nvPr/>
        </p:nvSpPr>
        <p:spPr>
          <a:xfrm>
            <a:off x="10329334" y="3820211"/>
            <a:ext cx="88053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93939D"/>
                </a:solidFill>
                <a:latin typeface="Microsoft YaHei"/>
                <a:ea typeface="Microsoft YaHei"/>
                <a:cs typeface="Microsoft YaHei"/>
              </a:rPr>
              <a:t>虚线：规划 / 可选</a:t>
            </a:r>
          </a:p>
        </p:txBody>
      </p:sp>
      <p:sp>
        <p:nvSpPr>
          <p:cNvPr id="1549" name="sensor-rx"/>
          <p:cNvSpPr/>
          <p:nvPr/>
        </p:nvSpPr>
        <p:spPr>
          <a:xfrm>
            <a:off x="11129433" y="1517549"/>
            <a:ext cx="283633" cy="1"/>
          </a:xfrm>
          <a:custGeom>
            <a:avLst/>
            <a:gdLst/>
            <a:ahLst/>
            <a:cxnLst/>
            <a:rect l="0" t="0" r="r" b="b"/>
            <a:pathLst>
              <a:path w="283633" h="1" fill="none">
                <a:moveTo>
                  <a:pt x="283633" y="0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50" name="tx-processor"/>
          <p:cNvSpPr/>
          <p:nvPr/>
        </p:nvSpPr>
        <p:spPr>
          <a:xfrm>
            <a:off x="11142133" y="5886349"/>
            <a:ext cx="270933" cy="1"/>
          </a:xfrm>
          <a:custGeom>
            <a:avLst/>
            <a:gdLst/>
            <a:ahLst/>
            <a:cxnLst/>
            <a:rect l="0" t="0" r="r" b="b"/>
            <a:pathLst>
              <a:path w="270933" h="1" fill="none">
                <a:moveTo>
                  <a:pt x="0" y="0"/>
                </a:moveTo>
                <a:lnTo>
                  <a:pt x="270933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51" name="image-sensor"/>
          <p:cNvSpPr/>
          <p:nvPr/>
        </p:nvSpPr>
        <p:spPr>
          <a:xfrm>
            <a:off x="11413067" y="1348216"/>
            <a:ext cx="711200" cy="338667"/>
          </a:xfrm>
          <a:prstGeom prst="rect">
            <a:avLst/>
          </a:prstGeom>
          <a:solidFill>
            <a:srgbClr val="EAECEE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52" name="image-sensor-t0: 图像传感器"/>
          <p:cNvSpPr txBox="1"/>
          <p:nvPr/>
        </p:nvSpPr>
        <p:spPr>
          <a:xfrm>
            <a:off x="11446933" y="1379508"/>
            <a:ext cx="643467" cy="1842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图像传感器</a:t>
            </a:r>
          </a:p>
        </p:txBody>
      </p:sp>
      <p:sp>
        <p:nvSpPr>
          <p:cNvPr id="1553" name="image-sensor-t1: LVDS 输出"/>
          <p:cNvSpPr txBox="1"/>
          <p:nvPr/>
        </p:nvSpPr>
        <p:spPr>
          <a:xfrm>
            <a:off x="11446934" y="1521478"/>
            <a:ext cx="6434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输出</a:t>
            </a:r>
          </a:p>
        </p:txBody>
      </p:sp>
      <p:sp>
        <p:nvSpPr>
          <p:cNvPr id="1554" name="output-processor"/>
          <p:cNvSpPr/>
          <p:nvPr/>
        </p:nvSpPr>
        <p:spPr>
          <a:xfrm>
            <a:off x="11413067" y="5717016"/>
            <a:ext cx="711200" cy="338667"/>
          </a:xfrm>
          <a:prstGeom prst="rect">
            <a:avLst/>
          </a:prstGeom>
          <a:solidFill>
            <a:srgbClr val="EAECEE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55" name="output-processor-t0: 后级处理"/>
          <p:cNvSpPr txBox="1"/>
          <p:nvPr/>
        </p:nvSpPr>
        <p:spPr>
          <a:xfrm>
            <a:off x="11446933" y="5748308"/>
            <a:ext cx="643467" cy="1842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后级处理</a:t>
            </a:r>
          </a:p>
        </p:txBody>
      </p:sp>
      <p:sp>
        <p:nvSpPr>
          <p:cNvPr id="1556" name="output-processor-t1: LVDS 接收"/>
          <p:cNvSpPr txBox="1"/>
          <p:nvPr/>
        </p:nvSpPr>
        <p:spPr>
          <a:xfrm>
            <a:off x="11446934" y="5890278"/>
            <a:ext cx="6434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接收</a:t>
            </a:r>
          </a:p>
        </p:txBody>
      </p:sp>
    </p:spTree>
    <p:extLst>
      <p:ext uri="{BB962C8B-B14F-4D97-AF65-F5344CB8AC3E}">
        <p14:creationId xmlns:p14="http://schemas.microsoft.com/office/powerpoint/2010/main" val="2187131506"/>
      </p:ext>
    </p:extLst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&quot;GuidesStyle_Moderate&quot;,&quot;Name&quot;:&quot;适中&quot;,&quot;Kind&quot;:&quot;System&quot;,&quot;OldGuidesSetting&quot;:{&quot;HeaderHeight&quot;:13.0,&quot;FooterHeight&quot;:6.0,&quot;SideMargin&quot;:4.0,&quot;TopMargin&quot;:0.0,&quot;BottomMargin&quot;:0.0,&quot;IntervalMargin&quot;:1.5}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14659</TotalTime>
  <Words>510</Words>
  <Application>Microsoft Office PowerPoint</Application>
  <PresentationFormat>宽屏</PresentationFormat>
  <Paragraphs>197</Paragraphs>
  <Slides>7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3" baseType="lpstr">
      <vt:lpstr>等线</vt:lpstr>
      <vt:lpstr>等线 Light</vt:lpstr>
      <vt:lpstr>Microsoft YaHei</vt:lpstr>
      <vt:lpstr>Microsoft YaHei</vt:lpstr>
      <vt:lpstr>Arial</vt:lpstr>
      <vt:lpstr>Office 主题​​</vt:lpstr>
      <vt:lpstr>PowerPoint 演示文稿</vt:lpstr>
      <vt:lpstr>SoC 架构：CPU / Ara 共享 GB 出口</vt:lpstr>
      <vt:lpstr>SoC 架构：等距目标端口 / GB 接入位置调整</vt:lpstr>
      <vt:lpstr>SoC 初版规划：eMMC / ROI / 四口共享压缩存储</vt:lpstr>
      <vt:lpstr>SoC硬件层：双向DDR接口 / 两行扩展配置</vt:lpstr>
      <vt:lpstr>SoC硬件层：恢复五条虚线 / 保留双向接口</vt:lpstr>
      <vt:lpstr>SoC硬件层：功能配置重排 / 片外LVDS连接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2314981968@qq.com</dc:creator>
  <cp:lastModifiedBy>文尧 赵</cp:lastModifiedBy>
  <cp:revision>5909</cp:revision>
  <dcterms:created xsi:type="dcterms:W3CDTF">2019-11-26T03:41:00Z</dcterms:created>
  <dcterms:modified xsi:type="dcterms:W3CDTF">2026-10-16T11:05:18Z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BC69EB345F4F457288BFAD1BFA019858</vt:lpwstr>
  </property>
  <property fmtid="{D5CDD505-2E9C-101B-9397-08002B2CF9AE}" pid="3" name="KSOProductBuildVer">
    <vt:lpwstr>2052-12.1.0.25225</vt:lpwstr>
  </property>
</Properties>
</file>