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806" r:id="rId2"/>
    <p:sldId id="807" r:id="rId3"/>
    <p:sldId id="808" r:id="rId4"/>
    <p:sldId id="809" r:id="rId5"/>
    <p:sldId id="810" r:id="rId6"/>
    <p:sldId id="811" r:id="rId7"/>
    <p:sldId id="812" r:id="rId8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文尧 赵" initials="文尧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0F3F6"/>
    <a:srgbClr val="FFF0E4"/>
    <a:srgbClr val="E8F4F1"/>
    <a:srgbClr val="EAF3FC"/>
    <a:srgbClr val="F0EAF8"/>
    <a:srgbClr val="AD6631"/>
    <a:srgbClr val="00FFFF"/>
    <a:srgbClr val="FFCC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10" autoAdjust="0"/>
    <p:restoredTop sz="97321" autoAdjust="0"/>
  </p:normalViewPr>
  <p:slideViewPr>
    <p:cSldViewPr snapToGrid="0">
      <p:cViewPr varScale="1">
        <p:scale>
          <a:sx n="160" d="100"/>
          <a:sy n="160" d="100"/>
        </p:scale>
        <p:origin x="464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B469C68-B96B-4B00-A936-4ED691395EEA}" type="datetimeFigureOut">
              <a:rPr lang="zh-CN" altLang="en-US" smtClean="0"/>
              <a:t>2026/10/17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957953-4CC8-4E4A-AD2D-7A5A0B36E81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初版规划：eMMC 内置 DMA 经 S7/M5 加载 GB；≤256 ROI 纯裁切经 DDR S3；四口共享外置无损压缩存储前端，普通区域旁路。地址、IRQ、格式、速率与 IP 选型未冻结；未实施 RTL。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5页：F0–F3及四条下游DDR接口双向表示请求/响应；F2写入的反向是B响应，F3读取的反向是R数据，不改变发起者。C1–C8/C9–C16位于Regbus下方两行；恢复第3页原生标题，正文下移，不缩小字体。仅图稿规划，未修改RTL或冻结接口参数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第6页：用户先规划后明确授权实施。直接复制第5页，仅恢复 ISP↔GB、搬运器↔F1、帧写入DMA↔F2 的虚线，以及 S_EXT/M_EXT 外部扩展的灰色虚线；保持第5页箭头方向、几何、字号、填充、主题及两行配置/标题布局。图例新增虚线样例；虚实与箭头方向独立，沿用规划/可选标记，不代表实现或验收状态。前五页完整保留。Office未实测；无RTL修改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第7页：从含F3虚线补修的第6页原生复制。C1～C16按功能重排并同步模块标记；旧公共控制C12变为C14。图像采集区左右镜像，文字正常；RAW仍绕过ISP。新增片外图像传感器→LVDS RX、LVDS TX→后级处理的橙色实线数据连接。帧输出DMA仍为二维AXI读。保持F1/F2/F3深蓝双向虚线、ISP↔GB绿色双向虚线、F0及四条下游DDR双向实线。前六页、主题、母版、布局与依赖原样保留。配置编号不是寄存器地址；未改RTL；Office未实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873125"/>
            <a:ext cx="4869867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>
              <a:defRPr lang="zh-CN" altLang="en-US" sz="2400" b="1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dist" fontAlgn="base"/>
            <a:r>
              <a:rPr lang="zh-CN" altLang="en-US" dirty="0"/>
              <a:t>单击此处标题</a:t>
            </a:r>
          </a:p>
        </p:txBody>
      </p:sp>
      <p:sp>
        <p:nvSpPr>
          <p:cNvPr id="121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12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1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522388" y="2973614"/>
            <a:ext cx="51472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6000" b="1" spc="600" dirty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lvl="0" algn="dist" fontAlgn="base"/>
            <a:r>
              <a:rPr lang="zh-CN" altLang="en-US" dirty="0"/>
              <a:t>输入标题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645556" y="1886726"/>
            <a:ext cx="900888" cy="8309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lang="zh-CN" altLang="en-US" sz="6000" spc="0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algn="dist" fontAlgn="base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2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12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3808179" y="2645581"/>
            <a:ext cx="4575642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spc="3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4789600" y="608488"/>
            <a:ext cx="1682905" cy="2154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架构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初版规划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)</a:t>
            </a:r>
            <a:endParaRPr sz="1400" b="1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VLSU / AXI：32 × lanes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3" name="ara-split">
            <a:extLst>
              <a:ext uri="{FF2B5EF4-FFF2-40B4-BE49-F238E27FC236}">
                <a16:creationId xmlns:a16="http://schemas.microsoft.com/office/drawing/2014/main" id="{A55D7C0B-C19C-4CEF-B563-825F12D30698}"/>
              </a:ext>
            </a:extLst>
          </p:cNvPr>
          <p:cNvSpPr/>
          <p:nvPr/>
        </p:nvSpPr>
        <p:spPr>
          <a:xfrm>
            <a:off x="2171706" y="1686883"/>
            <a:ext cx="508000" cy="29125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4" name="object-021: 地址分流">
            <a:extLst>
              <a:ext uri="{FF2B5EF4-FFF2-40B4-BE49-F238E27FC236}">
                <a16:creationId xmlns:a16="http://schemas.microsoft.com/office/drawing/2014/main" id="{FEB06BCD-B815-40C8-8BCD-F588F64825EC}"/>
              </a:ext>
            </a:extLst>
          </p:cNvPr>
          <p:cNvSpPr txBox="1"/>
          <p:nvPr/>
        </p:nvSpPr>
        <p:spPr>
          <a:xfrm>
            <a:off x="2220522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795" name="object-022: GB 候选">
            <a:extLst>
              <a:ext uri="{FF2B5EF4-FFF2-40B4-BE49-F238E27FC236}">
                <a16:creationId xmlns:a16="http://schemas.microsoft.com/office/drawing/2014/main" id="{310DCB16-6FDF-4034-AF76-CEACCB1F78BC}"/>
              </a:ext>
            </a:extLst>
          </p:cNvPr>
          <p:cNvSpPr txBox="1"/>
          <p:nvPr/>
        </p:nvSpPr>
        <p:spPr>
          <a:xfrm>
            <a:off x="2237353" y="1842669"/>
            <a:ext cx="3767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候选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位宽适配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0" name="filter-split">
            <a:extLst>
              <a:ext uri="{FF2B5EF4-FFF2-40B4-BE49-F238E27FC236}">
                <a16:creationId xmlns:a16="http://schemas.microsoft.com/office/drawing/2014/main" id="{2B5303ED-513A-4440-9983-0B3B03EF175E}"/>
              </a:ext>
            </a:extLst>
          </p:cNvPr>
          <p:cNvCxnSpPr/>
          <p:nvPr/>
        </p:nvCxnSpPr>
        <p:spPr>
          <a:xfrm>
            <a:off x="2053173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1" name="split-width">
            <a:extLst>
              <a:ext uri="{FF2B5EF4-FFF2-40B4-BE49-F238E27FC236}">
                <a16:creationId xmlns:a16="http://schemas.microsoft.com/office/drawing/2014/main" id="{FABD96AB-80A1-411A-AB11-E71F4FA23129}"/>
              </a:ext>
            </a:extLst>
          </p:cNvPr>
          <p:cNvCxnSpPr/>
          <p:nvPr/>
        </p:nvCxnSpPr>
        <p:spPr>
          <a:xfrm>
            <a:off x="2679707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961066" y="1476908"/>
            <a:ext cx="10403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 / NPU–Ara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工作区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7" name="ara-gb">
            <a:extLst>
              <a:ext uri="{FF2B5EF4-FFF2-40B4-BE49-F238E27FC236}">
                <a16:creationId xmlns:a16="http://schemas.microsoft.com/office/drawing/2014/main" id="{7EBC10B6-3F87-43DC-A06C-B5FEF9F5D846}"/>
              </a:ext>
            </a:extLst>
          </p:cNvPr>
          <p:cNvSpPr/>
          <p:nvPr/>
        </p:nvSpPr>
        <p:spPr>
          <a:xfrm>
            <a:off x="2425706" y="1978136"/>
            <a:ext cx="2675467" cy="250613"/>
          </a:xfrm>
          <a:custGeom>
            <a:avLst/>
            <a:gdLst/>
            <a:ahLst/>
            <a:cxnLst/>
            <a:rect l="0" t="0" r="r" b="b"/>
            <a:pathLst>
              <a:path w="6421120" h="601472" fill="none">
                <a:moveTo>
                  <a:pt x="0" y="0"/>
                </a:moveTo>
                <a:lnTo>
                  <a:pt x="0" y="601472"/>
                </a:lnTo>
                <a:lnTo>
                  <a:pt x="6421120" y="601472"/>
                </a:lnTo>
                <a:lnTo>
                  <a:pt x="6421120" y="438912"/>
                </a:lnTo>
              </a:path>
            </a:pathLst>
          </a:custGeom>
          <a:noFill/>
          <a:ln w="26010" cap="flat">
            <a:solidFill>
              <a:srgbClr val="187C78"/>
            </a:solidFill>
            <a:custDash>
              <a:ds d="312500" sp="1875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8" name="object-055: Ara 宽侧 GB 分支">
            <a:extLst>
              <a:ext uri="{FF2B5EF4-FFF2-40B4-BE49-F238E27FC236}">
                <a16:creationId xmlns:a16="http://schemas.microsoft.com/office/drawing/2014/main" id="{A9924EA1-3B4E-4C08-B5AE-5E7FB403349C}"/>
              </a:ext>
            </a:extLst>
          </p:cNvPr>
          <p:cNvSpPr txBox="1"/>
          <p:nvPr/>
        </p:nvSpPr>
        <p:spPr>
          <a:xfrm>
            <a:off x="3615379" y="2104073"/>
            <a:ext cx="7101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宽侧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GB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分支</a:t>
            </a:r>
            <a:endParaRPr sz="7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cubicBezTo>
                  <a:pt x="0" y="1048512"/>
                  <a:pt x="0" y="837184"/>
                  <a:pt x="178816" y="837184"/>
                </a:cubicBez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普通地址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5 基础端口 + 扩展  |  64 bit 数据 / 48 bit 地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3278954" y="3272993"/>
            <a:ext cx="350897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5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基础端口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扩展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64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48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地址译码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各目标仲裁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5395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3770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4762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73" y="3701949"/>
            <a:ext cx="14224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7191722" y="3799997"/>
            <a:ext cx="69570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数据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71292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远端数据目标窗口</a:t>
            </a:r>
          </a:p>
        </p:txBody>
      </p:sp>
      <p:cxnSp>
        <p:nvCxnSpPr>
          <p:cNvPr id="942" name="target-output-5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31306" y="3529229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5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687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001463" y="3432370"/>
            <a:ext cx="25968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437040" y="3701949"/>
            <a:ext cx="13885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777043" y="3766131"/>
            <a:ext cx="70852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扩展 / CPU 直访 GB 待定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448427" y="3899024"/>
            <a:ext cx="136575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 / CPU 直访 GB 待定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lnTo>
                  <a:pt x="178816" y="837184"/>
                </a:ln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2686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1060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1501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67" y="3701949"/>
            <a:ext cx="8805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6862233" y="3799997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6862233" y="3932890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309100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914654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163473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792633" y="3701949"/>
            <a:ext cx="10329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826500" y="3766131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826500" y="3899024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8250767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5101167" y="2161032"/>
            <a:ext cx="4855633" cy="1801368"/>
          </a:xfrm>
          <a:custGeom>
            <a:avLst/>
            <a:gdLst/>
            <a:ahLst/>
            <a:cxnLst/>
            <a:rect l="0" t="0" r="r" b="b"/>
            <a:pathLst>
              <a:path w="4855633" h="1801368" fill="none">
                <a:moveTo>
                  <a:pt x="3589867" y="1801368"/>
                </a:moveTo>
                <a:lnTo>
                  <a:pt x="3640667" y="1801368"/>
                </a:lnTo>
                <a:lnTo>
                  <a:pt x="3640667" y="1456267"/>
                </a:lnTo>
                <a:lnTo>
                  <a:pt x="4167293" y="1456267"/>
                </a:lnTo>
                <a:cubicBezTo>
                  <a:pt x="4167293" y="1395307"/>
                  <a:pt x="4248573" y="1395307"/>
                  <a:pt x="4248573" y="1456267"/>
                </a:cubicBezTo>
                <a:lnTo>
                  <a:pt x="4855633" y="1456267"/>
                </a:lnTo>
                <a:lnTo>
                  <a:pt x="4855633" y="311235"/>
                </a:lnTo>
                <a:lnTo>
                  <a:pt x="0" y="311235"/>
                </a:lnTo>
                <a:lnTo>
                  <a:pt x="0" y="298027"/>
                </a:lnTo>
                <a:cubicBezTo>
                  <a:pt x="45156" y="275449"/>
                  <a:pt x="45156" y="252871"/>
                  <a:pt x="0" y="230293"/>
                </a:cubicBez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2" name="target-port-m5"/>
          <p:cNvSpPr/>
          <p:nvPr/>
        </p:nvSpPr>
        <p:spPr>
          <a:xfrm>
            <a:off x="8088207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3" name="target-label-m5: M5"/>
          <p:cNvSpPr txBox="1"/>
          <p:nvPr/>
        </p:nvSpPr>
        <p:spPr>
          <a:xfrm>
            <a:off x="8158607" y="3439837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810500" y="3701965"/>
            <a:ext cx="880533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933960" y="3788325"/>
            <a:ext cx="63361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861879" y="3920405"/>
            <a:ext cx="77777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849624" y="4049099"/>
            <a:ext cx="80228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5101167" y="1839299"/>
            <a:ext cx="3894667" cy="585893"/>
          </a:xfrm>
          <a:custGeom>
            <a:avLst/>
            <a:gdLst/>
            <a:ahLst/>
            <a:cxnLst/>
            <a:rect l="0" t="0" r="r" b="b"/>
            <a:pathLst>
              <a:path w="3894667" h="585893" fill="none">
                <a:moveTo>
                  <a:pt x="3894667" y="0"/>
                </a:moveTo>
                <a:lnTo>
                  <a:pt x="3843867" y="0"/>
                </a:lnTo>
                <a:lnTo>
                  <a:pt x="3843867" y="463973"/>
                </a:lnTo>
                <a:cubicBezTo>
                  <a:pt x="3762587" y="463973"/>
                  <a:pt x="3762587" y="552027"/>
                  <a:pt x="3843867" y="552027"/>
                </a:cubicBezTo>
                <a:lnTo>
                  <a:pt x="3843867" y="585893"/>
                </a:lnTo>
                <a:lnTo>
                  <a:pt x="0" y="585893"/>
                </a:lnTo>
                <a:lnTo>
                  <a:pt x="0" y="321733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74650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925890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76333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807357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316290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350157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50157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295071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132511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176538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685471" y="3701949"/>
            <a:ext cx="1219200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1719338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719338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3664252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3501692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3545719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2986919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020786" y="3743899"/>
            <a:ext cx="12869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0334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48708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49149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4423833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4457700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4457700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4457700" y="40073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6402614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6240054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6284081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5793014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5826881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5826881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40976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7841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8995350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531376" y="3701949"/>
            <a:ext cx="1219200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565243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565243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020786" y="3905149"/>
            <a:ext cx="6265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037719" y="3946331"/>
            <a:ext cx="5926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037719" y="4060936"/>
            <a:ext cx="592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3731986" y="3905149"/>
            <a:ext cx="5757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3748919" y="3946331"/>
            <a:ext cx="5418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3748919" y="4060936"/>
            <a:ext cx="5418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3647319" y="4033842"/>
            <a:ext cx="84667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295071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019852" y="4189645"/>
            <a:ext cx="3485848" cy="392853"/>
          </a:xfrm>
          <a:custGeom>
            <a:avLst/>
            <a:gdLst/>
            <a:ahLst/>
            <a:cxnLst/>
            <a:rect l="0" t="0" r="r" b="b"/>
            <a:pathLst>
              <a:path w="3485848" h="392853" fill="none">
                <a:moveTo>
                  <a:pt x="0" y="0"/>
                </a:moveTo>
                <a:lnTo>
                  <a:pt x="0" y="98213"/>
                </a:lnTo>
                <a:lnTo>
                  <a:pt x="3485848" y="98213"/>
                </a:lnTo>
                <a:lnTo>
                  <a:pt x="3485848" y="392853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7771795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4864100" y="2161032"/>
            <a:ext cx="5092700" cy="1801368"/>
          </a:xfrm>
          <a:custGeom>
            <a:avLst/>
            <a:gdLst/>
            <a:ahLst/>
            <a:cxnLst/>
            <a:rect l="0" t="0" r="r" b="b"/>
            <a:pathLst>
              <a:path w="5092700" h="1801368" fill="none">
                <a:moveTo>
                  <a:pt x="3517295" y="1801368"/>
                </a:moveTo>
                <a:lnTo>
                  <a:pt x="3592286" y="1801368"/>
                </a:lnTo>
                <a:lnTo>
                  <a:pt x="3592286" y="1456267"/>
                </a:lnTo>
                <a:lnTo>
                  <a:pt x="4236236" y="1456267"/>
                </a:lnTo>
                <a:cubicBezTo>
                  <a:pt x="4236236" y="1395307"/>
                  <a:pt x="4317516" y="1395307"/>
                  <a:pt x="4317516" y="1456267"/>
                </a:cubicBezTo>
                <a:lnTo>
                  <a:pt x="5092700" y="1456267"/>
                </a:lnTo>
                <a:lnTo>
                  <a:pt x="5092700" y="311235"/>
                </a:lnTo>
                <a:lnTo>
                  <a:pt x="0" y="311235"/>
                </a:ln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2" name="target-port-m5"/>
          <p:cNvSpPr/>
          <p:nvPr/>
        </p:nvSpPr>
        <p:spPr>
          <a:xfrm>
            <a:off x="7609235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3" name="target-label-m5: M5"/>
          <p:cNvSpPr txBox="1"/>
          <p:nvPr/>
        </p:nvSpPr>
        <p:spPr>
          <a:xfrm>
            <a:off x="7653262" y="3439837"/>
            <a:ext cx="237067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162195" y="3701965"/>
            <a:ext cx="1219200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196062" y="3788325"/>
            <a:ext cx="115146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196062" y="3920405"/>
            <a:ext cx="115146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196062" y="4049099"/>
            <a:ext cx="115146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c-boundary"/>
          <p:cNvSpPr/>
          <p:nvPr/>
        </p:nvSpPr>
        <p:spPr>
          <a:xfrm>
            <a:off x="71967" y="67733"/>
            <a:ext cx="11260667" cy="6716099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ompute"/>
          <p:cNvSpPr/>
          <p:nvPr/>
        </p:nvSpPr>
        <p:spPr>
          <a:xfrm>
            <a:off x="241300" y="203200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gb-region"/>
          <p:cNvSpPr/>
          <p:nvPr/>
        </p:nvSpPr>
        <p:spPr>
          <a:xfrm>
            <a:off x="3594100" y="203200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image-rx"/>
          <p:cNvSpPr/>
          <p:nvPr/>
        </p:nvSpPr>
        <p:spPr>
          <a:xfrm>
            <a:off x="7607300" y="203200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g-region"/>
          <p:cNvSpPr/>
          <p:nvPr/>
        </p:nvSpPr>
        <p:spPr>
          <a:xfrm>
            <a:off x="173567" y="3776133"/>
            <a:ext cx="5825067" cy="1761067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dr-controller"/>
          <p:cNvSpPr/>
          <p:nvPr/>
        </p:nvSpPr>
        <p:spPr>
          <a:xfrm>
            <a:off x="6129867" y="5300133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i-region"/>
          <p:cNvSpPr/>
          <p:nvPr/>
        </p:nvSpPr>
        <p:spPr>
          <a:xfrm>
            <a:off x="10160000" y="3776133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compression-front"/>
          <p:cNvSpPr/>
          <p:nvPr/>
        </p:nvSpPr>
        <p:spPr>
          <a:xfrm>
            <a:off x="6129867" y="3840480"/>
            <a:ext cx="3793067" cy="137498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shared-payload-services"/>
          <p:cNvSpPr/>
          <p:nvPr/>
        </p:nvSpPr>
        <p:spPr>
          <a:xfrm>
            <a:off x="7095067" y="4233333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pu-ara-command"/>
          <p:cNvSpPr/>
          <p:nvPr/>
        </p:nvSpPr>
        <p:spPr>
          <a:xfrm>
            <a:off x="1172633" y="67733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ra-filter-edge"/>
          <p:cNvSpPr/>
          <p:nvPr/>
        </p:nvSpPr>
        <p:spPr>
          <a:xfrm>
            <a:off x="1731433" y="897467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filter-width"/>
          <p:cNvSpPr/>
          <p:nvPr/>
        </p:nvSpPr>
        <p:spPr>
          <a:xfrm>
            <a:off x="2053167" y="1195493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npu-gb"/>
          <p:cNvSpPr/>
          <p:nvPr/>
        </p:nvSpPr>
        <p:spPr>
          <a:xfrm>
            <a:off x="4593167" y="846667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adapter-sram"/>
          <p:cNvSpPr/>
          <p:nvPr/>
        </p:nvSpPr>
        <p:spPr>
          <a:xfrm>
            <a:off x="5490633" y="9144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mover-gb"/>
          <p:cNvSpPr/>
          <p:nvPr/>
        </p:nvSpPr>
        <p:spPr>
          <a:xfrm>
            <a:off x="5490633" y="13716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lvds-rx-to-rx-cdc"/>
          <p:cNvSpPr/>
          <p:nvPr/>
        </p:nvSpPr>
        <p:spPr>
          <a:xfrm>
            <a:off x="8250767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x-cdc-to-isp"/>
          <p:cNvSpPr/>
          <p:nvPr/>
        </p:nvSpPr>
        <p:spPr>
          <a:xfrm>
            <a:off x="88942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isp-to-frame-select"/>
          <p:cNvSpPr/>
          <p:nvPr/>
        </p:nvSpPr>
        <p:spPr>
          <a:xfrm>
            <a:off x="95546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frame-select-to-frame-dma"/>
          <p:cNvSpPr/>
          <p:nvPr/>
        </p:nvSpPr>
        <p:spPr>
          <a:xfrm>
            <a:off x="10265833" y="982133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aw-bypass"/>
          <p:cNvSpPr/>
          <p:nvPr/>
        </p:nvSpPr>
        <p:spPr>
          <a:xfrm>
            <a:off x="8623300" y="524933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isp-gb"/>
          <p:cNvSpPr/>
          <p:nvPr/>
        </p:nvSpPr>
        <p:spPr>
          <a:xfrm>
            <a:off x="5101167" y="1168400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master-1"/>
          <p:cNvSpPr/>
          <p:nvPr/>
        </p:nvSpPr>
        <p:spPr>
          <a:xfrm>
            <a:off x="1838678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master-3"/>
          <p:cNvSpPr/>
          <p:nvPr/>
        </p:nvSpPr>
        <p:spPr>
          <a:xfrm>
            <a:off x="3968515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master-4"/>
          <p:cNvSpPr/>
          <p:nvPr/>
        </p:nvSpPr>
        <p:spPr>
          <a:xfrm>
            <a:off x="5033433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master-5"/>
          <p:cNvSpPr/>
          <p:nvPr/>
        </p:nvSpPr>
        <p:spPr>
          <a:xfrm>
            <a:off x="6098352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master-6"/>
          <p:cNvSpPr/>
          <p:nvPr/>
        </p:nvSpPr>
        <p:spPr>
          <a:xfrm>
            <a:off x="7163270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master-7"/>
          <p:cNvSpPr/>
          <p:nvPr/>
        </p:nvSpPr>
        <p:spPr>
          <a:xfrm>
            <a:off x="8228189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master-8"/>
          <p:cNvSpPr/>
          <p:nvPr/>
        </p:nvSpPr>
        <p:spPr>
          <a:xfrm>
            <a:off x="9293107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cpu-xbar"/>
          <p:cNvSpPr/>
          <p:nvPr/>
        </p:nvSpPr>
        <p:spPr>
          <a:xfrm>
            <a:off x="773759" y="1202267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ara-xbar"/>
          <p:cNvSpPr/>
          <p:nvPr/>
        </p:nvSpPr>
        <p:spPr>
          <a:xfrm>
            <a:off x="2903596" y="1341120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arget-0"/>
          <p:cNvSpPr/>
          <p:nvPr/>
        </p:nvSpPr>
        <p:spPr>
          <a:xfrm>
            <a:off x="925890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arget-1"/>
          <p:cNvSpPr/>
          <p:nvPr/>
        </p:nvSpPr>
        <p:spPr>
          <a:xfrm>
            <a:off x="2295071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arget-2"/>
          <p:cNvSpPr/>
          <p:nvPr/>
        </p:nvSpPr>
        <p:spPr>
          <a:xfrm>
            <a:off x="3664252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atomics-llc"/>
          <p:cNvSpPr/>
          <p:nvPr/>
        </p:nvSpPr>
        <p:spPr>
          <a:xfrm>
            <a:off x="3647319" y="3393440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arget-3"/>
          <p:cNvSpPr/>
          <p:nvPr/>
        </p:nvSpPr>
        <p:spPr>
          <a:xfrm>
            <a:off x="5033433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arget-4"/>
          <p:cNvSpPr/>
          <p:nvPr/>
        </p:nvSpPr>
        <p:spPr>
          <a:xfrm>
            <a:off x="6402614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arget-5"/>
          <p:cNvSpPr/>
          <p:nvPr/>
        </p:nvSpPr>
        <p:spPr>
          <a:xfrm>
            <a:off x="7771795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arget-6"/>
          <p:cNvSpPr/>
          <p:nvPr/>
        </p:nvSpPr>
        <p:spPr>
          <a:xfrm>
            <a:off x="9140976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m5-gb"/>
          <p:cNvSpPr/>
          <p:nvPr/>
        </p:nvSpPr>
        <p:spPr>
          <a:xfrm>
            <a:off x="4910667" y="1524000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emmc-physical"/>
          <p:cNvSpPr/>
          <p:nvPr/>
        </p:nvSpPr>
        <p:spPr>
          <a:xfrm>
            <a:off x="8712482" y="1793804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bridge-regbus"/>
          <p:cNvSpPr/>
          <p:nvPr/>
        </p:nvSpPr>
        <p:spPr>
          <a:xfrm>
            <a:off x="2295071" y="3572933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g-column-0"/>
          <p:cNvSpPr/>
          <p:nvPr/>
        </p:nvSpPr>
        <p:spPr>
          <a:xfrm>
            <a:off x="2853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bootrom-cfg"/>
          <p:cNvSpPr/>
          <p:nvPr/>
        </p:nvSpPr>
        <p:spPr>
          <a:xfrm>
            <a:off x="2853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uart-cfg"/>
          <p:cNvSpPr/>
          <p:nvPr/>
        </p:nvSpPr>
        <p:spPr>
          <a:xfrm>
            <a:off x="2853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vga-regs-cfg"/>
          <p:cNvSpPr/>
          <p:nvPr/>
        </p:nvSpPr>
        <p:spPr>
          <a:xfrm>
            <a:off x="2853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irq-router-cfg"/>
          <p:cNvSpPr/>
          <p:nvPr/>
        </p:nvSpPr>
        <p:spPr>
          <a:xfrm>
            <a:off x="2853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g-column-1"/>
          <p:cNvSpPr/>
          <p:nvPr/>
        </p:nvSpPr>
        <p:spPr>
          <a:xfrm>
            <a:off x="14029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clint-cfg"/>
          <p:cNvSpPr/>
          <p:nvPr/>
        </p:nvSpPr>
        <p:spPr>
          <a:xfrm>
            <a:off x="14029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i2c-cfg"/>
          <p:cNvSpPr/>
          <p:nvPr/>
        </p:nvSpPr>
        <p:spPr>
          <a:xfrm>
            <a:off x="14029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usb-regs-cfg"/>
          <p:cNvSpPr/>
          <p:nvPr/>
        </p:nvSpPr>
        <p:spPr>
          <a:xfrm>
            <a:off x="14029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axi-rt-config-cfg"/>
          <p:cNvSpPr/>
          <p:nvPr/>
        </p:nvSpPr>
        <p:spPr>
          <a:xfrm>
            <a:off x="14029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g-column-2"/>
          <p:cNvSpPr/>
          <p:nvPr/>
        </p:nvSpPr>
        <p:spPr>
          <a:xfrm>
            <a:off x="25205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soc-regs-cfg"/>
          <p:cNvSpPr/>
          <p:nvPr/>
        </p:nvSpPr>
        <p:spPr>
          <a:xfrm>
            <a:off x="25205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spi-cfg"/>
          <p:cNvSpPr/>
          <p:nvPr/>
        </p:nvSpPr>
        <p:spPr>
          <a:xfrm>
            <a:off x="25205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err-vga-cfg"/>
          <p:cNvSpPr/>
          <p:nvPr/>
        </p:nvSpPr>
        <p:spPr>
          <a:xfrm>
            <a:off x="25205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clic-cfg"/>
          <p:cNvSpPr/>
          <p:nvPr/>
        </p:nvSpPr>
        <p:spPr>
          <a:xfrm>
            <a:off x="25205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g-column-3"/>
          <p:cNvSpPr/>
          <p:nvPr/>
        </p:nvSpPr>
        <p:spPr>
          <a:xfrm>
            <a:off x="36381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plic-cfg"/>
          <p:cNvSpPr/>
          <p:nvPr/>
        </p:nvSpPr>
        <p:spPr>
          <a:xfrm>
            <a:off x="36381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gpio-cfg"/>
          <p:cNvSpPr/>
          <p:nvPr/>
        </p:nvSpPr>
        <p:spPr>
          <a:xfrm>
            <a:off x="36381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err-dma-cfg"/>
          <p:cNvSpPr/>
          <p:nvPr/>
        </p:nvSpPr>
        <p:spPr>
          <a:xfrm>
            <a:off x="36381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g-error-cfg"/>
          <p:cNvSpPr/>
          <p:nvPr/>
        </p:nvSpPr>
        <p:spPr>
          <a:xfrm>
            <a:off x="36381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g-column-4"/>
          <p:cNvSpPr/>
          <p:nvPr/>
        </p:nvSpPr>
        <p:spPr>
          <a:xfrm>
            <a:off x="47557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llc-regs-cfg"/>
          <p:cNvSpPr/>
          <p:nvPr/>
        </p:nvSpPr>
        <p:spPr>
          <a:xfrm>
            <a:off x="47557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slink-regs-cfg"/>
          <p:cNvSpPr/>
          <p:nvPr/>
        </p:nvSpPr>
        <p:spPr>
          <a:xfrm>
            <a:off x="47557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err-cpu-cfg"/>
          <p:cNvSpPr/>
          <p:nvPr/>
        </p:nvSpPr>
        <p:spPr>
          <a:xfrm>
            <a:off x="47557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g-ext-cfg"/>
          <p:cNvSpPr/>
          <p:nvPr/>
        </p:nvSpPr>
        <p:spPr>
          <a:xfrm>
            <a:off x="47557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ddr-arb-0"/>
          <p:cNvSpPr/>
          <p:nvPr/>
        </p:nvSpPr>
        <p:spPr>
          <a:xfrm>
            <a:off x="6604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ddr-arb-1"/>
          <p:cNvSpPr/>
          <p:nvPr/>
        </p:nvSpPr>
        <p:spPr>
          <a:xfrm>
            <a:off x="7535333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ddr-arb-2"/>
          <p:cNvSpPr/>
          <p:nvPr/>
        </p:nvSpPr>
        <p:spPr>
          <a:xfrm>
            <a:off x="8466667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ddr-arb-3"/>
          <p:cNvSpPr/>
          <p:nvPr/>
        </p:nvSpPr>
        <p:spPr>
          <a:xfrm>
            <a:off x="9398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arb-rw"/>
          <p:cNvSpPr/>
          <p:nvPr/>
        </p:nvSpPr>
        <p:spPr>
          <a:xfrm>
            <a:off x="7001933" y="5537200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w-command"/>
          <p:cNvSpPr/>
          <p:nvPr/>
        </p:nvSpPr>
        <p:spPr>
          <a:xfrm>
            <a:off x="7806267" y="5655733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controller-phy"/>
          <p:cNvSpPr/>
          <p:nvPr/>
        </p:nvSpPr>
        <p:spPr>
          <a:xfrm>
            <a:off x="9855200" y="5655733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phy-ddr"/>
          <p:cNvSpPr/>
          <p:nvPr/>
        </p:nvSpPr>
        <p:spPr>
          <a:xfrm>
            <a:off x="11125200" y="5791200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i-vdma-control"/>
          <p:cNvSpPr/>
          <p:nvPr/>
        </p:nvSpPr>
        <p:spPr>
          <a:xfrm>
            <a:off x="10701867" y="4436533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vdma-pixels"/>
          <p:cNvSpPr/>
          <p:nvPr/>
        </p:nvSpPr>
        <p:spPr>
          <a:xfrm>
            <a:off x="10701867" y="4826000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fifo-lvds"/>
          <p:cNvSpPr/>
          <p:nvPr/>
        </p:nvSpPr>
        <p:spPr>
          <a:xfrm>
            <a:off x="10701867" y="5130800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llc-f0"/>
          <p:cNvSpPr/>
          <p:nvPr/>
        </p:nvSpPr>
        <p:spPr>
          <a:xfrm>
            <a:off x="4019852" y="3535680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mover-f1"/>
          <p:cNvSpPr/>
          <p:nvPr/>
        </p:nvSpPr>
        <p:spPr>
          <a:xfrm>
            <a:off x="7336367" y="1371600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frame-f2"/>
          <p:cNvSpPr/>
          <p:nvPr/>
        </p:nvSpPr>
        <p:spPr>
          <a:xfrm>
            <a:off x="8466667" y="1151467"/>
            <a:ext cx="2727396" cy="2628053"/>
          </a:xfrm>
          <a:custGeom>
            <a:avLst/>
            <a:gdLst/>
            <a:ahLst/>
            <a:cxnLst/>
            <a:rect l="0" t="0" r="r" b="b"/>
            <a:pathLst>
              <a:path w="2727396" h="2628053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62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oi-f3-request"/>
          <p:cNvSpPr/>
          <p:nvPr/>
        </p:nvSpPr>
        <p:spPr>
          <a:xfrm>
            <a:off x="9398000" y="3742267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gext-config"/>
          <p:cNvSpPr/>
          <p:nvPr/>
        </p:nvSpPr>
        <p:spPr>
          <a:xfrm>
            <a:off x="5846233" y="5313680"/>
            <a:ext cx="198967" cy="911352"/>
          </a:xfrm>
          <a:custGeom>
            <a:avLst/>
            <a:gdLst/>
            <a:ahLst/>
            <a:cxnLst/>
            <a:rect l="0" t="0" r="r" b="b"/>
            <a:pathLst>
              <a:path w="198967" h="911352" fill="none">
                <a:moveTo>
                  <a:pt x="0" y="0"/>
                </a:moveTo>
                <a:lnTo>
                  <a:pt x="198967" y="0"/>
                </a:lnTo>
                <a:lnTo>
                  <a:pt x="198967" y="911352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config-trunk"/>
          <p:cNvSpPr/>
          <p:nvPr/>
        </p:nvSpPr>
        <p:spPr>
          <a:xfrm>
            <a:off x="563562" y="6225032"/>
            <a:ext cx="10379075" cy="1"/>
          </a:xfrm>
          <a:custGeom>
            <a:avLst/>
            <a:gdLst/>
            <a:ahLst/>
            <a:cxnLst/>
            <a:rect l="0" t="0" r="r" b="b"/>
            <a:pathLst>
              <a:path w="10379075" h="1" fill="none">
                <a:moveTo>
                  <a:pt x="0" y="0"/>
                </a:moveTo>
                <a:lnTo>
                  <a:pt x="10379075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cfg-C1"/>
          <p:cNvSpPr/>
          <p:nvPr/>
        </p:nvSpPr>
        <p:spPr>
          <a:xfrm>
            <a:off x="56356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cfg-C2"/>
          <p:cNvSpPr/>
          <p:nvPr/>
        </p:nvSpPr>
        <p:spPr>
          <a:xfrm>
            <a:off x="125550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cfg-C3"/>
          <p:cNvSpPr/>
          <p:nvPr/>
        </p:nvSpPr>
        <p:spPr>
          <a:xfrm>
            <a:off x="194743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cfg-C4"/>
          <p:cNvSpPr/>
          <p:nvPr/>
        </p:nvSpPr>
        <p:spPr>
          <a:xfrm>
            <a:off x="263937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cfg-C5"/>
          <p:cNvSpPr/>
          <p:nvPr/>
        </p:nvSpPr>
        <p:spPr>
          <a:xfrm>
            <a:off x="3331316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cfg-C6"/>
          <p:cNvSpPr/>
          <p:nvPr/>
        </p:nvSpPr>
        <p:spPr>
          <a:xfrm>
            <a:off x="4023254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cfg-C7"/>
          <p:cNvSpPr/>
          <p:nvPr/>
        </p:nvSpPr>
        <p:spPr>
          <a:xfrm>
            <a:off x="471519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cfg-C8"/>
          <p:cNvSpPr/>
          <p:nvPr/>
        </p:nvSpPr>
        <p:spPr>
          <a:xfrm>
            <a:off x="540713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cfg-C9"/>
          <p:cNvSpPr/>
          <p:nvPr/>
        </p:nvSpPr>
        <p:spPr>
          <a:xfrm>
            <a:off x="609906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cfg-C10"/>
          <p:cNvSpPr/>
          <p:nvPr/>
        </p:nvSpPr>
        <p:spPr>
          <a:xfrm>
            <a:off x="679100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cfg-C11"/>
          <p:cNvSpPr/>
          <p:nvPr/>
        </p:nvSpPr>
        <p:spPr>
          <a:xfrm>
            <a:off x="7482946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cfg-C12"/>
          <p:cNvSpPr/>
          <p:nvPr/>
        </p:nvSpPr>
        <p:spPr>
          <a:xfrm>
            <a:off x="8174884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cfg-C13"/>
          <p:cNvSpPr/>
          <p:nvPr/>
        </p:nvSpPr>
        <p:spPr>
          <a:xfrm>
            <a:off x="886682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cfg-C14"/>
          <p:cNvSpPr/>
          <p:nvPr/>
        </p:nvSpPr>
        <p:spPr>
          <a:xfrm>
            <a:off x="955876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cfg-C15"/>
          <p:cNvSpPr/>
          <p:nvPr/>
        </p:nvSpPr>
        <p:spPr>
          <a:xfrm>
            <a:off x="1025069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cfg-C16"/>
          <p:cNvSpPr/>
          <p:nvPr/>
        </p:nvSpPr>
        <p:spPr>
          <a:xfrm>
            <a:off x="1094263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front-input-0"/>
          <p:cNvSpPr/>
          <p:nvPr/>
        </p:nvSpPr>
        <p:spPr>
          <a:xfrm>
            <a:off x="6604000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front-input-1"/>
          <p:cNvSpPr/>
          <p:nvPr/>
        </p:nvSpPr>
        <p:spPr>
          <a:xfrm>
            <a:off x="7535333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front-input-2"/>
          <p:cNvSpPr/>
          <p:nvPr/>
        </p:nvSpPr>
        <p:spPr>
          <a:xfrm>
            <a:off x="8466667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front-input-3"/>
          <p:cNvSpPr/>
          <p:nvPr/>
        </p:nvSpPr>
        <p:spPr>
          <a:xfrm>
            <a:off x="9398000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adapt-address"/>
          <p:cNvSpPr/>
          <p:nvPr/>
        </p:nvSpPr>
        <p:spPr>
          <a:xfrm>
            <a:off x="6587067" y="4131733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address-downstream"/>
          <p:cNvSpPr/>
          <p:nvPr/>
        </p:nvSpPr>
        <p:spPr>
          <a:xfrm>
            <a:off x="6976533" y="4402667"/>
            <a:ext cx="40640" cy="592667"/>
          </a:xfrm>
          <a:custGeom>
            <a:avLst/>
            <a:gdLst/>
            <a:ahLst/>
            <a:cxnLst/>
            <a:rect l="0" t="0" r="r" b="b"/>
            <a:pathLst>
              <a:path w="40640" h="592667" fill="none">
                <a:moveTo>
                  <a:pt x="0" y="0"/>
                </a:moveTo>
                <a:lnTo>
                  <a:pt x="40640" y="0"/>
                </a:lnTo>
                <a:lnTo>
                  <a:pt x="40640" y="5926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b-response"/>
          <p:cNvSpPr/>
          <p:nvPr/>
        </p:nvSpPr>
        <p:spPr>
          <a:xfrm>
            <a:off x="6163733" y="4131733"/>
            <a:ext cx="84667" cy="948267"/>
          </a:xfrm>
          <a:custGeom>
            <a:avLst/>
            <a:gdLst/>
            <a:ahLst/>
            <a:cxnLst/>
            <a:rect l="0" t="0" r="r" b="b"/>
            <a:pathLst>
              <a:path w="84667" h="948267" fill="none">
                <a:moveTo>
                  <a:pt x="33867" y="948267"/>
                </a:moveTo>
                <a:lnTo>
                  <a:pt x="0" y="94826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metadata-control"/>
          <p:cNvSpPr/>
          <p:nvPr/>
        </p:nvSpPr>
        <p:spPr>
          <a:xfrm>
            <a:off x="6587067" y="4572000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metadata-storage"/>
          <p:cNvSpPr/>
          <p:nvPr/>
        </p:nvSpPr>
        <p:spPr>
          <a:xfrm>
            <a:off x="6587067" y="4893733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adapt-compressor"/>
          <p:cNvSpPr/>
          <p:nvPr/>
        </p:nvSpPr>
        <p:spPr>
          <a:xfrm>
            <a:off x="7577667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compressor-route"/>
          <p:cNvSpPr/>
          <p:nvPr/>
        </p:nvSpPr>
        <p:spPr>
          <a:xfrm>
            <a:off x="7577667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ad-to-decoder"/>
          <p:cNvSpPr/>
          <p:nvPr/>
        </p:nvSpPr>
        <p:spPr>
          <a:xfrm>
            <a:off x="8483600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decoder-up"/>
          <p:cNvSpPr/>
          <p:nvPr/>
        </p:nvSpPr>
        <p:spPr>
          <a:xfrm>
            <a:off x="8483600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adapt-plain-bypass"/>
          <p:cNvSpPr/>
          <p:nvPr/>
        </p:nvSpPr>
        <p:spPr>
          <a:xfrm>
            <a:off x="9389533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plain-bypass-route"/>
          <p:cNvSpPr/>
          <p:nvPr/>
        </p:nvSpPr>
        <p:spPr>
          <a:xfrm>
            <a:off x="9389533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front-ddr-0"/>
          <p:cNvSpPr/>
          <p:nvPr/>
        </p:nvSpPr>
        <p:spPr>
          <a:xfrm>
            <a:off x="6604000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front-ddr-1"/>
          <p:cNvSpPr/>
          <p:nvPr/>
        </p:nvSpPr>
        <p:spPr>
          <a:xfrm>
            <a:off x="7535333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front-ddr-2"/>
          <p:cNvSpPr/>
          <p:nvPr/>
        </p:nvSpPr>
        <p:spPr>
          <a:xfrm>
            <a:off x="8466667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front-ddr-3"/>
          <p:cNvSpPr/>
          <p:nvPr/>
        </p:nvSpPr>
        <p:spPr>
          <a:xfrm>
            <a:off x="9398000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legend-data"/>
          <p:cNvSpPr/>
          <p:nvPr/>
        </p:nvSpPr>
        <p:spPr>
          <a:xfrm>
            <a:off x="10193867" y="24384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legend-gb"/>
          <p:cNvSpPr/>
          <p:nvPr/>
        </p:nvSpPr>
        <p:spPr>
          <a:xfrm>
            <a:off x="10193867" y="266530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legend-pixel"/>
          <p:cNvSpPr/>
          <p:nvPr/>
        </p:nvSpPr>
        <p:spPr>
          <a:xfrm>
            <a:off x="10193867" y="289221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legend-cfg"/>
          <p:cNvSpPr/>
          <p:nvPr/>
        </p:nvSpPr>
        <p:spPr>
          <a:xfrm>
            <a:off x="10193867" y="311912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legend-optional"/>
          <p:cNvSpPr/>
          <p:nvPr/>
        </p:nvSpPr>
        <p:spPr>
          <a:xfrm>
            <a:off x="10193867" y="334602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junction-84.25-1269"/>
          <p:cNvSpPr/>
          <p:nvPr/>
        </p:nvSpPr>
        <p:spPr>
          <a:xfrm>
            <a:off x="2683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junction-84.25-1369"/>
          <p:cNvSpPr/>
          <p:nvPr/>
        </p:nvSpPr>
        <p:spPr>
          <a:xfrm>
            <a:off x="2683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junction-84.25-1469"/>
          <p:cNvSpPr/>
          <p:nvPr/>
        </p:nvSpPr>
        <p:spPr>
          <a:xfrm>
            <a:off x="2683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junction-84.25-1569"/>
          <p:cNvSpPr/>
          <p:nvPr/>
        </p:nvSpPr>
        <p:spPr>
          <a:xfrm>
            <a:off x="2683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junction-414.25-1269"/>
          <p:cNvSpPr/>
          <p:nvPr/>
        </p:nvSpPr>
        <p:spPr>
          <a:xfrm>
            <a:off x="13859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junction-414.25-1369"/>
          <p:cNvSpPr/>
          <p:nvPr/>
        </p:nvSpPr>
        <p:spPr>
          <a:xfrm>
            <a:off x="13859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junction-414.25-1469"/>
          <p:cNvSpPr/>
          <p:nvPr/>
        </p:nvSpPr>
        <p:spPr>
          <a:xfrm>
            <a:off x="13859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junction-414.25-1569"/>
          <p:cNvSpPr/>
          <p:nvPr/>
        </p:nvSpPr>
        <p:spPr>
          <a:xfrm>
            <a:off x="13859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junction-744.25-1269"/>
          <p:cNvSpPr/>
          <p:nvPr/>
        </p:nvSpPr>
        <p:spPr>
          <a:xfrm>
            <a:off x="25035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junction-744.25-1369"/>
          <p:cNvSpPr/>
          <p:nvPr/>
        </p:nvSpPr>
        <p:spPr>
          <a:xfrm>
            <a:off x="25035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junction-744.25-1469"/>
          <p:cNvSpPr/>
          <p:nvPr/>
        </p:nvSpPr>
        <p:spPr>
          <a:xfrm>
            <a:off x="25035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junction-744.25-1569"/>
          <p:cNvSpPr/>
          <p:nvPr/>
        </p:nvSpPr>
        <p:spPr>
          <a:xfrm>
            <a:off x="25035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junction-1074.25-1269"/>
          <p:cNvSpPr/>
          <p:nvPr/>
        </p:nvSpPr>
        <p:spPr>
          <a:xfrm>
            <a:off x="36211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junction-1074.25-1369"/>
          <p:cNvSpPr/>
          <p:nvPr/>
        </p:nvSpPr>
        <p:spPr>
          <a:xfrm>
            <a:off x="36211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junction-1074.25-1469"/>
          <p:cNvSpPr/>
          <p:nvPr/>
        </p:nvSpPr>
        <p:spPr>
          <a:xfrm>
            <a:off x="36211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junction-1074.25-1569"/>
          <p:cNvSpPr/>
          <p:nvPr/>
        </p:nvSpPr>
        <p:spPr>
          <a:xfrm>
            <a:off x="36211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junction-1404.25-1269"/>
          <p:cNvSpPr/>
          <p:nvPr/>
        </p:nvSpPr>
        <p:spPr>
          <a:xfrm>
            <a:off x="47387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junction-1404.25-1369"/>
          <p:cNvSpPr/>
          <p:nvPr/>
        </p:nvSpPr>
        <p:spPr>
          <a:xfrm>
            <a:off x="47387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junction-1404.25-1469"/>
          <p:cNvSpPr/>
          <p:nvPr/>
        </p:nvSpPr>
        <p:spPr>
          <a:xfrm>
            <a:off x="47387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junction-1404.25-1569"/>
          <p:cNvSpPr/>
          <p:nvPr/>
        </p:nvSpPr>
        <p:spPr>
          <a:xfrm>
            <a:off x="47387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junction-1785-1838.1"/>
          <p:cNvSpPr/>
          <p:nvPr/>
        </p:nvSpPr>
        <p:spPr>
          <a:xfrm>
            <a:off x="6028267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junction-166.40625-1838.1"/>
          <p:cNvSpPr/>
          <p:nvPr/>
        </p:nvSpPr>
        <p:spPr>
          <a:xfrm>
            <a:off x="54662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junction-370.71875-1838.1"/>
          <p:cNvSpPr/>
          <p:nvPr/>
        </p:nvSpPr>
        <p:spPr>
          <a:xfrm>
            <a:off x="123856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junction-575.03125-1838.1"/>
          <p:cNvSpPr/>
          <p:nvPr/>
        </p:nvSpPr>
        <p:spPr>
          <a:xfrm>
            <a:off x="193050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junction-779.34375-1838.1"/>
          <p:cNvSpPr/>
          <p:nvPr/>
        </p:nvSpPr>
        <p:spPr>
          <a:xfrm>
            <a:off x="262244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junction-983.65625-1838.1"/>
          <p:cNvSpPr/>
          <p:nvPr/>
        </p:nvSpPr>
        <p:spPr>
          <a:xfrm>
            <a:off x="3314382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junction-1187.96875-1838.1"/>
          <p:cNvSpPr/>
          <p:nvPr/>
        </p:nvSpPr>
        <p:spPr>
          <a:xfrm>
            <a:off x="4006321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junction-1392.28125-1838.1"/>
          <p:cNvSpPr/>
          <p:nvPr/>
        </p:nvSpPr>
        <p:spPr>
          <a:xfrm>
            <a:off x="469825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junction-1596.59375-1838.1"/>
          <p:cNvSpPr/>
          <p:nvPr/>
        </p:nvSpPr>
        <p:spPr>
          <a:xfrm>
            <a:off x="539019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junction-1800.90625-1838.1"/>
          <p:cNvSpPr/>
          <p:nvPr/>
        </p:nvSpPr>
        <p:spPr>
          <a:xfrm>
            <a:off x="608213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junction-2005.21875-1838.1"/>
          <p:cNvSpPr/>
          <p:nvPr/>
        </p:nvSpPr>
        <p:spPr>
          <a:xfrm>
            <a:off x="677407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junction-2209.53125-1838.1"/>
          <p:cNvSpPr/>
          <p:nvPr/>
        </p:nvSpPr>
        <p:spPr>
          <a:xfrm>
            <a:off x="7466012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junction-2413.84375-1838.1"/>
          <p:cNvSpPr/>
          <p:nvPr/>
        </p:nvSpPr>
        <p:spPr>
          <a:xfrm>
            <a:off x="8157951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junction-2618.15625-1838.1"/>
          <p:cNvSpPr/>
          <p:nvPr/>
        </p:nvSpPr>
        <p:spPr>
          <a:xfrm>
            <a:off x="884988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junction-2822.46875-1838.1"/>
          <p:cNvSpPr/>
          <p:nvPr/>
        </p:nvSpPr>
        <p:spPr>
          <a:xfrm>
            <a:off x="954182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junction-3026.78125-1838.1"/>
          <p:cNvSpPr/>
          <p:nvPr/>
        </p:nvSpPr>
        <p:spPr>
          <a:xfrm>
            <a:off x="1023376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junction-3231.09375-1838.1"/>
          <p:cNvSpPr/>
          <p:nvPr/>
        </p:nvSpPr>
        <p:spPr>
          <a:xfrm>
            <a:off x="1092570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cva6"/>
          <p:cNvSpPr/>
          <p:nvPr/>
        </p:nvSpPr>
        <p:spPr>
          <a:xfrm>
            <a:off x="325967" y="474133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ara"/>
          <p:cNvSpPr/>
          <p:nvPr/>
        </p:nvSpPr>
        <p:spPr>
          <a:xfrm>
            <a:off x="1341967" y="474133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ara-filter"/>
          <p:cNvSpPr/>
          <p:nvPr/>
        </p:nvSpPr>
        <p:spPr>
          <a:xfrm>
            <a:off x="1409700" y="1049867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ara-width"/>
          <p:cNvSpPr/>
          <p:nvPr/>
        </p:nvSpPr>
        <p:spPr>
          <a:xfrm>
            <a:off x="2798233" y="1049867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npu"/>
          <p:cNvSpPr/>
          <p:nvPr/>
        </p:nvSpPr>
        <p:spPr>
          <a:xfrm>
            <a:off x="3678767" y="474133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badge-C6"/>
          <p:cNvSpPr/>
          <p:nvPr/>
        </p:nvSpPr>
        <p:spPr>
          <a:xfrm>
            <a:off x="4389967" y="92456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gb-adapter"/>
          <p:cNvSpPr/>
          <p:nvPr/>
        </p:nvSpPr>
        <p:spPr>
          <a:xfrm>
            <a:off x="4711700" y="728133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global-buffer"/>
          <p:cNvSpPr/>
          <p:nvPr/>
        </p:nvSpPr>
        <p:spPr>
          <a:xfrm>
            <a:off x="5626100" y="474133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badge-C9"/>
          <p:cNvSpPr/>
          <p:nvPr/>
        </p:nvSpPr>
        <p:spPr>
          <a:xfrm>
            <a:off x="7133167" y="91440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gb-mover"/>
          <p:cNvSpPr/>
          <p:nvPr/>
        </p:nvSpPr>
        <p:spPr>
          <a:xfrm>
            <a:off x="5626100" y="1168400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badge-C7"/>
          <p:cNvSpPr/>
          <p:nvPr/>
        </p:nvSpPr>
        <p:spPr>
          <a:xfrm>
            <a:off x="7133167" y="144610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lvds-rx"/>
          <p:cNvSpPr/>
          <p:nvPr/>
        </p:nvSpPr>
        <p:spPr>
          <a:xfrm>
            <a:off x="7691967" y="677333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x-cdc"/>
          <p:cNvSpPr/>
          <p:nvPr/>
        </p:nvSpPr>
        <p:spPr>
          <a:xfrm>
            <a:off x="8352367" y="677333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isp"/>
          <p:cNvSpPr/>
          <p:nvPr/>
        </p:nvSpPr>
        <p:spPr>
          <a:xfrm>
            <a:off x="8995833" y="677333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frame-select"/>
          <p:cNvSpPr/>
          <p:nvPr/>
        </p:nvSpPr>
        <p:spPr>
          <a:xfrm>
            <a:off x="9656233" y="677333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frame-dma"/>
          <p:cNvSpPr/>
          <p:nvPr/>
        </p:nvSpPr>
        <p:spPr>
          <a:xfrm>
            <a:off x="10384367" y="677333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badge-C4"/>
          <p:cNvSpPr/>
          <p:nvPr/>
        </p:nvSpPr>
        <p:spPr>
          <a:xfrm>
            <a:off x="8047567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badge-C5"/>
          <p:cNvSpPr/>
          <p:nvPr/>
        </p:nvSpPr>
        <p:spPr>
          <a:xfrm>
            <a:off x="9351433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badge-C8"/>
          <p:cNvSpPr/>
          <p:nvPr/>
        </p:nvSpPr>
        <p:spPr>
          <a:xfrm>
            <a:off x="10909300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axi-crossbar"/>
          <p:cNvSpPr/>
          <p:nvPr/>
        </p:nvSpPr>
        <p:spPr>
          <a:xfrm>
            <a:off x="241300" y="2370667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xbar-in-S0"/>
          <p:cNvSpPr/>
          <p:nvPr/>
        </p:nvSpPr>
        <p:spPr>
          <a:xfrm>
            <a:off x="61119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xbar-in-S1"/>
          <p:cNvSpPr/>
          <p:nvPr/>
        </p:nvSpPr>
        <p:spPr>
          <a:xfrm>
            <a:off x="1676118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xbar-in-S2"/>
          <p:cNvSpPr/>
          <p:nvPr/>
        </p:nvSpPr>
        <p:spPr>
          <a:xfrm>
            <a:off x="2741036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xbar-in-S3"/>
          <p:cNvSpPr/>
          <p:nvPr/>
        </p:nvSpPr>
        <p:spPr>
          <a:xfrm>
            <a:off x="3805955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xbar-in-S4"/>
          <p:cNvSpPr/>
          <p:nvPr/>
        </p:nvSpPr>
        <p:spPr>
          <a:xfrm>
            <a:off x="4870873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xbar-in-S5"/>
          <p:cNvSpPr/>
          <p:nvPr/>
        </p:nvSpPr>
        <p:spPr>
          <a:xfrm>
            <a:off x="5935792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xbar-in-S6"/>
          <p:cNvSpPr/>
          <p:nvPr/>
        </p:nvSpPr>
        <p:spPr>
          <a:xfrm>
            <a:off x="7000710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xbar-in-S7"/>
          <p:cNvSpPr/>
          <p:nvPr/>
        </p:nvSpPr>
        <p:spPr>
          <a:xfrm>
            <a:off x="806562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xbar-in-S_EXT"/>
          <p:cNvSpPr/>
          <p:nvPr/>
        </p:nvSpPr>
        <p:spPr>
          <a:xfrm>
            <a:off x="9130547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debug-sba"/>
          <p:cNvSpPr/>
          <p:nvPr/>
        </p:nvSpPr>
        <p:spPr>
          <a:xfrm>
            <a:off x="1354384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idma-master"/>
          <p:cNvSpPr/>
          <p:nvPr/>
        </p:nvSpPr>
        <p:spPr>
          <a:xfrm>
            <a:off x="3484221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slink-rx"/>
          <p:cNvSpPr/>
          <p:nvPr/>
        </p:nvSpPr>
        <p:spPr>
          <a:xfrm>
            <a:off x="4549140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vga"/>
          <p:cNvSpPr/>
          <p:nvPr/>
        </p:nvSpPr>
        <p:spPr>
          <a:xfrm>
            <a:off x="5614059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usb-dma"/>
          <p:cNvSpPr/>
          <p:nvPr/>
        </p:nvSpPr>
        <p:spPr>
          <a:xfrm>
            <a:off x="6678977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emmc-host"/>
          <p:cNvSpPr/>
          <p:nvPr/>
        </p:nvSpPr>
        <p:spPr>
          <a:xfrm>
            <a:off x="7743896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ext-master"/>
          <p:cNvSpPr/>
          <p:nvPr/>
        </p:nvSpPr>
        <p:spPr>
          <a:xfrm>
            <a:off x="8808814" y="1879600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badge-C10"/>
          <p:cNvSpPr/>
          <p:nvPr/>
        </p:nvSpPr>
        <p:spPr>
          <a:xfrm>
            <a:off x="8505896" y="21132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xbar-out-M0"/>
          <p:cNvSpPr/>
          <p:nvPr/>
        </p:nvSpPr>
        <p:spPr>
          <a:xfrm>
            <a:off x="763330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debug-target"/>
          <p:cNvSpPr/>
          <p:nvPr/>
        </p:nvSpPr>
        <p:spPr>
          <a:xfrm>
            <a:off x="316290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xbar-out-M1"/>
          <p:cNvSpPr/>
          <p:nvPr/>
        </p:nvSpPr>
        <p:spPr>
          <a:xfrm>
            <a:off x="2132511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reg-bridge"/>
          <p:cNvSpPr/>
          <p:nvPr/>
        </p:nvSpPr>
        <p:spPr>
          <a:xfrm>
            <a:off x="1685471" y="3048000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xbar-out-M2"/>
          <p:cNvSpPr/>
          <p:nvPr/>
        </p:nvSpPr>
        <p:spPr>
          <a:xfrm>
            <a:off x="3501692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memory-target"/>
          <p:cNvSpPr/>
          <p:nvPr/>
        </p:nvSpPr>
        <p:spPr>
          <a:xfrm>
            <a:off x="2986919" y="3048000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atomics"/>
          <p:cNvSpPr/>
          <p:nvPr/>
        </p:nvSpPr>
        <p:spPr>
          <a:xfrm>
            <a:off x="3020786" y="3251200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llc-spm"/>
          <p:cNvSpPr/>
          <p:nvPr/>
        </p:nvSpPr>
        <p:spPr>
          <a:xfrm>
            <a:off x="3731986" y="3251200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xbar-out-M3"/>
          <p:cNvSpPr/>
          <p:nvPr/>
        </p:nvSpPr>
        <p:spPr>
          <a:xfrm>
            <a:off x="4870873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idma-config"/>
          <p:cNvSpPr/>
          <p:nvPr/>
        </p:nvSpPr>
        <p:spPr>
          <a:xfrm>
            <a:off x="4423833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xbar-out-M4"/>
          <p:cNvSpPr/>
          <p:nvPr/>
        </p:nvSpPr>
        <p:spPr>
          <a:xfrm>
            <a:off x="6240054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slink-tx"/>
          <p:cNvSpPr/>
          <p:nvPr/>
        </p:nvSpPr>
        <p:spPr>
          <a:xfrm>
            <a:off x="5793014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xbar-out-M5"/>
          <p:cNvSpPr/>
          <p:nvPr/>
        </p:nvSpPr>
        <p:spPr>
          <a:xfrm>
            <a:off x="7609235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gb-interface"/>
          <p:cNvSpPr/>
          <p:nvPr/>
        </p:nvSpPr>
        <p:spPr>
          <a:xfrm>
            <a:off x="7162195" y="3048000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xbar-out-M_EXT"/>
          <p:cNvSpPr/>
          <p:nvPr/>
        </p:nvSpPr>
        <p:spPr>
          <a:xfrm>
            <a:off x="8978416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ext-target"/>
          <p:cNvSpPr/>
          <p:nvPr/>
        </p:nvSpPr>
        <p:spPr>
          <a:xfrm>
            <a:off x="8531376" y="3048000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emmc-device"/>
          <p:cNvSpPr/>
          <p:nvPr/>
        </p:nvSpPr>
        <p:spPr>
          <a:xfrm>
            <a:off x="11413067" y="1879600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regbus"/>
          <p:cNvSpPr/>
          <p:nvPr/>
        </p:nvSpPr>
        <p:spPr>
          <a:xfrm>
            <a:off x="241300" y="3843867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bootrom"/>
          <p:cNvSpPr/>
          <p:nvPr/>
        </p:nvSpPr>
        <p:spPr>
          <a:xfrm>
            <a:off x="3598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uart"/>
          <p:cNvSpPr/>
          <p:nvPr/>
        </p:nvSpPr>
        <p:spPr>
          <a:xfrm>
            <a:off x="3598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vga-regs"/>
          <p:cNvSpPr/>
          <p:nvPr/>
        </p:nvSpPr>
        <p:spPr>
          <a:xfrm>
            <a:off x="3598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irq-router"/>
          <p:cNvSpPr/>
          <p:nvPr/>
        </p:nvSpPr>
        <p:spPr>
          <a:xfrm>
            <a:off x="3598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clint"/>
          <p:cNvSpPr/>
          <p:nvPr/>
        </p:nvSpPr>
        <p:spPr>
          <a:xfrm>
            <a:off x="14774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i2c"/>
          <p:cNvSpPr/>
          <p:nvPr/>
        </p:nvSpPr>
        <p:spPr>
          <a:xfrm>
            <a:off x="14774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usb-regs"/>
          <p:cNvSpPr/>
          <p:nvPr/>
        </p:nvSpPr>
        <p:spPr>
          <a:xfrm>
            <a:off x="14774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axi-rt-config"/>
          <p:cNvSpPr/>
          <p:nvPr/>
        </p:nvSpPr>
        <p:spPr>
          <a:xfrm>
            <a:off x="14774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soc-regs"/>
          <p:cNvSpPr/>
          <p:nvPr/>
        </p:nvSpPr>
        <p:spPr>
          <a:xfrm>
            <a:off x="25950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spi"/>
          <p:cNvSpPr/>
          <p:nvPr/>
        </p:nvSpPr>
        <p:spPr>
          <a:xfrm>
            <a:off x="25950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err-vga"/>
          <p:cNvSpPr/>
          <p:nvPr/>
        </p:nvSpPr>
        <p:spPr>
          <a:xfrm>
            <a:off x="25950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clic"/>
          <p:cNvSpPr/>
          <p:nvPr/>
        </p:nvSpPr>
        <p:spPr>
          <a:xfrm>
            <a:off x="25950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plic"/>
          <p:cNvSpPr/>
          <p:nvPr/>
        </p:nvSpPr>
        <p:spPr>
          <a:xfrm>
            <a:off x="37126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gpio"/>
          <p:cNvSpPr/>
          <p:nvPr/>
        </p:nvSpPr>
        <p:spPr>
          <a:xfrm>
            <a:off x="37126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err-dma"/>
          <p:cNvSpPr/>
          <p:nvPr/>
        </p:nvSpPr>
        <p:spPr>
          <a:xfrm>
            <a:off x="37126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reg-error"/>
          <p:cNvSpPr/>
          <p:nvPr/>
        </p:nvSpPr>
        <p:spPr>
          <a:xfrm>
            <a:off x="37126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llc-regs"/>
          <p:cNvSpPr/>
          <p:nvPr/>
        </p:nvSpPr>
        <p:spPr>
          <a:xfrm>
            <a:off x="48302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slink-regs"/>
          <p:cNvSpPr/>
          <p:nvPr/>
        </p:nvSpPr>
        <p:spPr>
          <a:xfrm>
            <a:off x="48302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err-cpu"/>
          <p:cNvSpPr/>
          <p:nvPr/>
        </p:nvSpPr>
        <p:spPr>
          <a:xfrm>
            <a:off x="48302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reg-ext"/>
          <p:cNvSpPr/>
          <p:nvPr/>
        </p:nvSpPr>
        <p:spPr>
          <a:xfrm>
            <a:off x="48302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ddr-S0"/>
          <p:cNvSpPr/>
          <p:nvPr/>
        </p:nvSpPr>
        <p:spPr>
          <a:xfrm>
            <a:off x="6350000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ddr-S1"/>
          <p:cNvSpPr/>
          <p:nvPr/>
        </p:nvSpPr>
        <p:spPr>
          <a:xfrm>
            <a:off x="7281333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ddr-S2"/>
          <p:cNvSpPr/>
          <p:nvPr/>
        </p:nvSpPr>
        <p:spPr>
          <a:xfrm>
            <a:off x="8212667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ddr-S3"/>
          <p:cNvSpPr/>
          <p:nvPr/>
        </p:nvSpPr>
        <p:spPr>
          <a:xfrm>
            <a:off x="9144000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ddr-arb"/>
          <p:cNvSpPr/>
          <p:nvPr/>
        </p:nvSpPr>
        <p:spPr>
          <a:xfrm>
            <a:off x="6197600" y="5401733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ddr-rw"/>
          <p:cNvSpPr/>
          <p:nvPr/>
        </p:nvSpPr>
        <p:spPr>
          <a:xfrm>
            <a:off x="6197600" y="5571067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ddr-command"/>
          <p:cNvSpPr/>
          <p:nvPr/>
        </p:nvSpPr>
        <p:spPr>
          <a:xfrm>
            <a:off x="8212667" y="5571067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badge-C2"/>
          <p:cNvSpPr/>
          <p:nvPr/>
        </p:nvSpPr>
        <p:spPr>
          <a:xfrm>
            <a:off x="9652000" y="575733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ddr-phy"/>
          <p:cNvSpPr/>
          <p:nvPr/>
        </p:nvSpPr>
        <p:spPr>
          <a:xfrm>
            <a:off x="10261600" y="5655733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badge-C3"/>
          <p:cNvSpPr/>
          <p:nvPr/>
        </p:nvSpPr>
        <p:spPr>
          <a:xfrm>
            <a:off x="10905067" y="58860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ddr-device"/>
          <p:cNvSpPr/>
          <p:nvPr/>
        </p:nvSpPr>
        <p:spPr>
          <a:xfrm>
            <a:off x="11501967" y="5655733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pll"/>
          <p:cNvSpPr/>
          <p:nvPr/>
        </p:nvSpPr>
        <p:spPr>
          <a:xfrm>
            <a:off x="7200900" y="5937165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badge-C1"/>
          <p:cNvSpPr/>
          <p:nvPr/>
        </p:nvSpPr>
        <p:spPr>
          <a:xfrm>
            <a:off x="8738447" y="600828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config-C1"/>
          <p:cNvSpPr/>
          <p:nvPr/>
        </p:nvSpPr>
        <p:spPr>
          <a:xfrm>
            <a:off x="24130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reg-badge-C1"/>
          <p:cNvSpPr/>
          <p:nvPr/>
        </p:nvSpPr>
        <p:spPr>
          <a:xfrm>
            <a:off x="26500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config-C2"/>
          <p:cNvSpPr/>
          <p:nvPr/>
        </p:nvSpPr>
        <p:spPr>
          <a:xfrm>
            <a:off x="93323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reg-badge-C2"/>
          <p:cNvSpPr/>
          <p:nvPr/>
        </p:nvSpPr>
        <p:spPr>
          <a:xfrm>
            <a:off x="95694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config-C3"/>
          <p:cNvSpPr/>
          <p:nvPr/>
        </p:nvSpPr>
        <p:spPr>
          <a:xfrm>
            <a:off x="162517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reg-badge-C3"/>
          <p:cNvSpPr/>
          <p:nvPr/>
        </p:nvSpPr>
        <p:spPr>
          <a:xfrm>
            <a:off x="164888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config-C4"/>
          <p:cNvSpPr/>
          <p:nvPr/>
        </p:nvSpPr>
        <p:spPr>
          <a:xfrm>
            <a:off x="231711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reg-badge-C4"/>
          <p:cNvSpPr/>
          <p:nvPr/>
        </p:nvSpPr>
        <p:spPr>
          <a:xfrm>
            <a:off x="234082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config-C5"/>
          <p:cNvSpPr/>
          <p:nvPr/>
        </p:nvSpPr>
        <p:spPr>
          <a:xfrm>
            <a:off x="3009053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reg-badge-C5"/>
          <p:cNvSpPr/>
          <p:nvPr/>
        </p:nvSpPr>
        <p:spPr>
          <a:xfrm>
            <a:off x="3032760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config-C6"/>
          <p:cNvSpPr/>
          <p:nvPr/>
        </p:nvSpPr>
        <p:spPr>
          <a:xfrm>
            <a:off x="3700992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reg-badge-C6"/>
          <p:cNvSpPr/>
          <p:nvPr/>
        </p:nvSpPr>
        <p:spPr>
          <a:xfrm>
            <a:off x="3724698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config-C7"/>
          <p:cNvSpPr/>
          <p:nvPr/>
        </p:nvSpPr>
        <p:spPr>
          <a:xfrm>
            <a:off x="439293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reg-badge-C7"/>
          <p:cNvSpPr/>
          <p:nvPr/>
        </p:nvSpPr>
        <p:spPr>
          <a:xfrm>
            <a:off x="441663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config-C8"/>
          <p:cNvSpPr/>
          <p:nvPr/>
        </p:nvSpPr>
        <p:spPr>
          <a:xfrm>
            <a:off x="508486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reg-badge-C8"/>
          <p:cNvSpPr/>
          <p:nvPr/>
        </p:nvSpPr>
        <p:spPr>
          <a:xfrm>
            <a:off x="510857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config-C9"/>
          <p:cNvSpPr/>
          <p:nvPr/>
        </p:nvSpPr>
        <p:spPr>
          <a:xfrm>
            <a:off x="577680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reg-badge-C9"/>
          <p:cNvSpPr/>
          <p:nvPr/>
        </p:nvSpPr>
        <p:spPr>
          <a:xfrm>
            <a:off x="580051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config-C10"/>
          <p:cNvSpPr/>
          <p:nvPr/>
        </p:nvSpPr>
        <p:spPr>
          <a:xfrm>
            <a:off x="646874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reg-badge-C10"/>
          <p:cNvSpPr/>
          <p:nvPr/>
        </p:nvSpPr>
        <p:spPr>
          <a:xfrm>
            <a:off x="649245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config-C11"/>
          <p:cNvSpPr/>
          <p:nvPr/>
        </p:nvSpPr>
        <p:spPr>
          <a:xfrm>
            <a:off x="7160683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reg-badge-C11"/>
          <p:cNvSpPr/>
          <p:nvPr/>
        </p:nvSpPr>
        <p:spPr>
          <a:xfrm>
            <a:off x="7184390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2" name="config-C12"/>
          <p:cNvSpPr/>
          <p:nvPr/>
        </p:nvSpPr>
        <p:spPr>
          <a:xfrm>
            <a:off x="7852622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reg-badge-C12"/>
          <p:cNvSpPr/>
          <p:nvPr/>
        </p:nvSpPr>
        <p:spPr>
          <a:xfrm>
            <a:off x="7876328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config-C13"/>
          <p:cNvSpPr/>
          <p:nvPr/>
        </p:nvSpPr>
        <p:spPr>
          <a:xfrm>
            <a:off x="854456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reg-badge-C13"/>
          <p:cNvSpPr/>
          <p:nvPr/>
        </p:nvSpPr>
        <p:spPr>
          <a:xfrm>
            <a:off x="856826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config-C14"/>
          <p:cNvSpPr/>
          <p:nvPr/>
        </p:nvSpPr>
        <p:spPr>
          <a:xfrm>
            <a:off x="923649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reg-badge-C14"/>
          <p:cNvSpPr/>
          <p:nvPr/>
        </p:nvSpPr>
        <p:spPr>
          <a:xfrm>
            <a:off x="926020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8" name="config-C15"/>
          <p:cNvSpPr/>
          <p:nvPr/>
        </p:nvSpPr>
        <p:spPr>
          <a:xfrm>
            <a:off x="992843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reg-badge-C15"/>
          <p:cNvSpPr/>
          <p:nvPr/>
        </p:nvSpPr>
        <p:spPr>
          <a:xfrm>
            <a:off x="995214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config-C16"/>
          <p:cNvSpPr/>
          <p:nvPr/>
        </p:nvSpPr>
        <p:spPr>
          <a:xfrm>
            <a:off x="1062037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reg-badge-C16"/>
          <p:cNvSpPr/>
          <p:nvPr/>
        </p:nvSpPr>
        <p:spPr>
          <a:xfrm>
            <a:off x="1064408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2" name="front-F0"/>
          <p:cNvSpPr/>
          <p:nvPr/>
        </p:nvSpPr>
        <p:spPr>
          <a:xfrm>
            <a:off x="6316133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front-F1"/>
          <p:cNvSpPr/>
          <p:nvPr/>
        </p:nvSpPr>
        <p:spPr>
          <a:xfrm>
            <a:off x="7247467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4" name="front-F2"/>
          <p:cNvSpPr/>
          <p:nvPr/>
        </p:nvSpPr>
        <p:spPr>
          <a:xfrm>
            <a:off x="8178800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front-F3"/>
          <p:cNvSpPr/>
          <p:nvPr/>
        </p:nvSpPr>
        <p:spPr>
          <a:xfrm>
            <a:off x="9110133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6" name="front-adapt"/>
          <p:cNvSpPr/>
          <p:nvPr/>
        </p:nvSpPr>
        <p:spPr>
          <a:xfrm>
            <a:off x="6197600" y="3955627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badge-C12"/>
          <p:cNvSpPr/>
          <p:nvPr/>
        </p:nvSpPr>
        <p:spPr>
          <a:xfrm>
            <a:off x="9652000" y="399965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8" name="address-control"/>
          <p:cNvSpPr/>
          <p:nvPr/>
        </p:nvSpPr>
        <p:spPr>
          <a:xfrm>
            <a:off x="6197600" y="4233333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metadata"/>
          <p:cNvSpPr/>
          <p:nvPr/>
        </p:nvSpPr>
        <p:spPr>
          <a:xfrm>
            <a:off x="6197600" y="4673600"/>
            <a:ext cx="778933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compressor"/>
          <p:cNvSpPr/>
          <p:nvPr/>
        </p:nvSpPr>
        <p:spPr>
          <a:xfrm>
            <a:off x="7179733" y="4368800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badge-C15"/>
          <p:cNvSpPr/>
          <p:nvPr/>
        </p:nvSpPr>
        <p:spPr>
          <a:xfrm>
            <a:off x="7206827" y="43823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2" name="decompressor"/>
          <p:cNvSpPr/>
          <p:nvPr/>
        </p:nvSpPr>
        <p:spPr>
          <a:xfrm>
            <a:off x="8085667" y="4368800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badge-C16"/>
          <p:cNvSpPr/>
          <p:nvPr/>
        </p:nvSpPr>
        <p:spPr>
          <a:xfrm>
            <a:off x="8112760" y="43823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4" name="plain-bypass"/>
          <p:cNvSpPr/>
          <p:nvPr/>
        </p:nvSpPr>
        <p:spPr>
          <a:xfrm>
            <a:off x="8991600" y="4368800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5" name="front-route"/>
          <p:cNvSpPr/>
          <p:nvPr/>
        </p:nvSpPr>
        <p:spPr>
          <a:xfrm>
            <a:off x="6197600" y="4995333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6" name="roi-scheduler"/>
          <p:cNvSpPr/>
          <p:nvPr/>
        </p:nvSpPr>
        <p:spPr>
          <a:xfrm>
            <a:off x="10261600" y="4097867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badge-C11"/>
          <p:cNvSpPr/>
          <p:nvPr/>
        </p:nvSpPr>
        <p:spPr>
          <a:xfrm>
            <a:off x="10938933" y="411141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8" name="roi-vdma"/>
          <p:cNvSpPr/>
          <p:nvPr/>
        </p:nvSpPr>
        <p:spPr>
          <a:xfrm>
            <a:off x="10261600" y="4487333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badge-C13"/>
          <p:cNvSpPr/>
          <p:nvPr/>
        </p:nvSpPr>
        <p:spPr>
          <a:xfrm>
            <a:off x="10938933" y="45008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roi-fifo"/>
          <p:cNvSpPr/>
          <p:nvPr/>
        </p:nvSpPr>
        <p:spPr>
          <a:xfrm>
            <a:off x="10261600" y="4876800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1" name="lvds-tx"/>
          <p:cNvSpPr/>
          <p:nvPr/>
        </p:nvSpPr>
        <p:spPr>
          <a:xfrm>
            <a:off x="10261600" y="5181600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2" name="badge-C14"/>
          <p:cNvSpPr/>
          <p:nvPr/>
        </p:nvSpPr>
        <p:spPr>
          <a:xfrm>
            <a:off x="10938933" y="51951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compute-title: CVA6–Ara 计算平台"/>
          <p:cNvSpPr txBox="1"/>
          <p:nvPr/>
        </p:nvSpPr>
        <p:spPr>
          <a:xfrm>
            <a:off x="1238652" y="193446"/>
            <a:ext cx="1171829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304" name="gb-region-title: NPU / 独立 Global Buffer 子系统"/>
          <p:cNvSpPr txBox="1"/>
          <p:nvPr/>
        </p:nvSpPr>
        <p:spPr>
          <a:xfrm>
            <a:off x="4586494" y="193446"/>
            <a:ext cx="1859079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305" name="image-rx-title: 图像采集与 ISP"/>
          <p:cNvSpPr txBox="1"/>
          <p:nvPr/>
        </p:nvSpPr>
        <p:spPr>
          <a:xfrm>
            <a:off x="8938972" y="193446"/>
            <a:ext cx="943457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306" name="cva6-t0: CVA6 core 0"/>
          <p:cNvSpPr txBox="1"/>
          <p:nvPr/>
        </p:nvSpPr>
        <p:spPr>
          <a:xfrm>
            <a:off x="401743" y="640148"/>
            <a:ext cx="695113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307" name="cva6-t1: L1 I / D cache"/>
          <p:cNvSpPr txBox="1"/>
          <p:nvPr/>
        </p:nvSpPr>
        <p:spPr>
          <a:xfrm>
            <a:off x="377777" y="771144"/>
            <a:ext cx="74304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308" name="cva6-t2: MMU / AXI 适配"/>
          <p:cNvSpPr txBox="1"/>
          <p:nvPr/>
        </p:nvSpPr>
        <p:spPr>
          <a:xfrm>
            <a:off x="367345" y="894012"/>
            <a:ext cx="763910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309" name="ara-t0: Ara 向量处理器"/>
          <p:cNvSpPr txBox="1"/>
          <p:nvPr/>
        </p:nvSpPr>
        <p:spPr>
          <a:xfrm>
            <a:off x="1905900" y="544644"/>
            <a:ext cx="836401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310" name="ara-t1: 2 lanes · VLSU / AXI：64 bit"/>
          <p:cNvSpPr txBox="1"/>
          <p:nvPr/>
        </p:nvSpPr>
        <p:spPr>
          <a:xfrm>
            <a:off x="1637948" y="675640"/>
            <a:ext cx="137230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311" name="ara-filter-t0: 失效过滤"/>
          <p:cNvSpPr txBox="1"/>
          <p:nvPr/>
        </p:nvSpPr>
        <p:spPr>
          <a:xfrm>
            <a:off x="14774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312" name="ara-filter-t1: 现有 filter"/>
          <p:cNvSpPr txBox="1"/>
          <p:nvPr/>
        </p:nvSpPr>
        <p:spPr>
          <a:xfrm>
            <a:off x="1500034" y="1191294"/>
            <a:ext cx="46279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313" name="ara-width-t0: 等宽透传"/>
          <p:cNvSpPr txBox="1"/>
          <p:nvPr/>
        </p:nvSpPr>
        <p:spPr>
          <a:xfrm>
            <a:off x="27982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314" name="ara-width-t1: 64 → 64 bit"/>
          <p:cNvSpPr txBox="1"/>
          <p:nvPr/>
        </p:nvSpPr>
        <p:spPr>
          <a:xfrm>
            <a:off x="2770653" y="1191294"/>
            <a:ext cx="5631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315" name="command-label: 指令 / MMU"/>
          <p:cNvSpPr txBox="1"/>
          <p:nvPr/>
        </p:nvSpPr>
        <p:spPr>
          <a:xfrm>
            <a:off x="971404" y="345169"/>
            <a:ext cx="56332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316" name="npu-t0: NPU 计算引擎"/>
          <p:cNvSpPr txBox="1"/>
          <p:nvPr/>
        </p:nvSpPr>
        <p:spPr>
          <a:xfrm>
            <a:off x="3772331" y="642451"/>
            <a:ext cx="72727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317" name="npu-t1: GB 数据读写"/>
          <p:cNvSpPr txBox="1"/>
          <p:nvPr/>
        </p:nvSpPr>
        <p:spPr>
          <a:xfrm>
            <a:off x="3846351" y="766267"/>
            <a:ext cx="57923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318" name="badge-C6-text: C6"/>
          <p:cNvSpPr txBox="1"/>
          <p:nvPr/>
        </p:nvSpPr>
        <p:spPr>
          <a:xfrm>
            <a:off x="4400815" y="915484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319" name="gb-adapter-t0: GB 访问适配"/>
          <p:cNvSpPr txBox="1"/>
          <p:nvPr/>
        </p:nvSpPr>
        <p:spPr>
          <a:xfrm>
            <a:off x="4766998" y="945219"/>
            <a:ext cx="66833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320" name="gb-adapter-t1: 局部仲裁 / 路由"/>
          <p:cNvSpPr txBox="1"/>
          <p:nvPr/>
        </p:nvSpPr>
        <p:spPr>
          <a:xfrm>
            <a:off x="4743707" y="1069035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321" name="gb-adapter-t2: bank 冲突处理"/>
          <p:cNvSpPr txBox="1"/>
          <p:nvPr/>
        </p:nvSpPr>
        <p:spPr>
          <a:xfrm>
            <a:off x="4774621" y="1174699"/>
            <a:ext cx="65309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322" name="global-buffer-t0: Global Buffer"/>
          <p:cNvSpPr txBox="1"/>
          <p:nvPr/>
        </p:nvSpPr>
        <p:spPr>
          <a:xfrm>
            <a:off x="6119760" y="568012"/>
            <a:ext cx="722948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323" name="global-buffer-t1: 独立 SRAM · 分 bank"/>
          <p:cNvSpPr txBox="1"/>
          <p:nvPr/>
        </p:nvSpPr>
        <p:spPr>
          <a:xfrm>
            <a:off x="5998895" y="699956"/>
            <a:ext cx="964676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324" name="global-buffer-t2: CPU / Ara / NPU / ISP"/>
          <p:cNvSpPr txBox="1"/>
          <p:nvPr/>
        </p:nvSpPr>
        <p:spPr>
          <a:xfrm>
            <a:off x="5964854" y="813748"/>
            <a:ext cx="1032759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325" name="badge-C9-text: C9"/>
          <p:cNvSpPr txBox="1"/>
          <p:nvPr/>
        </p:nvSpPr>
        <p:spPr>
          <a:xfrm>
            <a:off x="7144015" y="905324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326" name="gb-mover-t0: NPU / GB 搬运引擎"/>
          <p:cNvSpPr txBox="1"/>
          <p:nvPr/>
        </p:nvSpPr>
        <p:spPr>
          <a:xfrm>
            <a:off x="5995808" y="1243584"/>
            <a:ext cx="97085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327" name="gb-mover-t1: DDR ↔ GB · AXI 主口"/>
          <p:cNvSpPr txBox="1"/>
          <p:nvPr/>
        </p:nvSpPr>
        <p:spPr>
          <a:xfrm>
            <a:off x="6027200" y="1367401"/>
            <a:ext cx="90806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328" name="badge-C7-text: C7"/>
          <p:cNvSpPr txBox="1"/>
          <p:nvPr/>
        </p:nvSpPr>
        <p:spPr>
          <a:xfrm>
            <a:off x="7144015" y="1437030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329" name="lvds-rx-t0: LVDS 接收"/>
          <p:cNvSpPr txBox="1"/>
          <p:nvPr/>
        </p:nvSpPr>
        <p:spPr>
          <a:xfrm>
            <a:off x="7684971" y="862584"/>
            <a:ext cx="57279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330" name="lvds-rx-t1: 解串 / 帧行"/>
          <p:cNvSpPr txBox="1"/>
          <p:nvPr/>
        </p:nvSpPr>
        <p:spPr>
          <a:xfrm>
            <a:off x="7701960" y="986401"/>
            <a:ext cx="5388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331" name="rx-cdc-t0: CDC / FIFO"/>
          <p:cNvSpPr txBox="1"/>
          <p:nvPr/>
        </p:nvSpPr>
        <p:spPr>
          <a:xfrm>
            <a:off x="8323858" y="862584"/>
            <a:ext cx="59888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332" name="rx-cdc-t1: 像素流缓冲"/>
          <p:cNvSpPr txBox="1"/>
          <p:nvPr/>
        </p:nvSpPr>
        <p:spPr>
          <a:xfrm>
            <a:off x="8359140" y="986401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333" name="isp-t0: ISP"/>
          <p:cNvSpPr txBox="1"/>
          <p:nvPr/>
        </p:nvSpPr>
        <p:spPr>
          <a:xfrm>
            <a:off x="9151355" y="862584"/>
            <a:ext cx="2477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334" name="isp-t1: 行缓存 / 处理"/>
          <p:cNvSpPr txBox="1"/>
          <p:nvPr/>
        </p:nvSpPr>
        <p:spPr>
          <a:xfrm>
            <a:off x="8961800" y="986401"/>
            <a:ext cx="6268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335" name="frame-select-t0: 帧边界选择"/>
          <p:cNvSpPr txBox="1"/>
          <p:nvPr/>
        </p:nvSpPr>
        <p:spPr>
          <a:xfrm>
            <a:off x="9656233" y="862584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336" name="frame-select-t1: RAW / ISP"/>
          <p:cNvSpPr txBox="1"/>
          <p:nvPr/>
        </p:nvSpPr>
        <p:spPr>
          <a:xfrm>
            <a:off x="9716431" y="986401"/>
            <a:ext cx="48920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337" name="frame-dma-t0: 帧写入 DMA"/>
          <p:cNvSpPr txBox="1"/>
          <p:nvPr/>
        </p:nvSpPr>
        <p:spPr>
          <a:xfrm>
            <a:off x="10426470" y="862584"/>
            <a:ext cx="64392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338" name="frame-dma-t1: 地址 / stride"/>
          <p:cNvSpPr txBox="1"/>
          <p:nvPr/>
        </p:nvSpPr>
        <p:spPr>
          <a:xfrm>
            <a:off x="10458088" y="986401"/>
            <a:ext cx="58069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339" name="raw-bypass-label: RAW 旁路"/>
          <p:cNvSpPr txBox="1"/>
          <p:nvPr/>
        </p:nvSpPr>
        <p:spPr>
          <a:xfrm>
            <a:off x="9046218" y="389196"/>
            <a:ext cx="46649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340" name="badge-C4-text: C4"/>
          <p:cNvSpPr txBox="1"/>
          <p:nvPr/>
        </p:nvSpPr>
        <p:spPr>
          <a:xfrm>
            <a:off x="8058415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341" name="badge-C5-text: C5"/>
          <p:cNvSpPr txBox="1"/>
          <p:nvPr/>
        </p:nvSpPr>
        <p:spPr>
          <a:xfrm>
            <a:off x="9362281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342" name="badge-C8-text: C8"/>
          <p:cNvSpPr txBox="1"/>
          <p:nvPr/>
        </p:nvSpPr>
        <p:spPr>
          <a:xfrm>
            <a:off x="10920148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343" name="isp-gb-label: ISP 中间数据 ↔ GB"/>
          <p:cNvSpPr txBox="1"/>
          <p:nvPr/>
        </p:nvSpPr>
        <p:spPr>
          <a:xfrm>
            <a:off x="8009424" y="1530502"/>
            <a:ext cx="84675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344" name="crossbar-title: AXI Crossbar"/>
          <p:cNvSpPr txBox="1"/>
          <p:nvPr/>
        </p:nvSpPr>
        <p:spPr>
          <a:xfrm>
            <a:off x="4632783" y="2408326"/>
            <a:ext cx="801301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345" name="crossbar-caption: 8 × 6 固定端口 + 扩展 | 64 bit 数据 / 48 bit 地址 "/>
          <p:cNvSpPr txBox="1"/>
          <p:nvPr/>
        </p:nvSpPr>
        <p:spPr>
          <a:xfrm>
            <a:off x="3552023" y="2580369"/>
            <a:ext cx="29628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346" name="crossbar-rt-note: 输入侧 AXI RT · 按配置可选"/>
          <p:cNvSpPr txBox="1"/>
          <p:nvPr/>
        </p:nvSpPr>
        <p:spPr>
          <a:xfrm>
            <a:off x="457226" y="2672351"/>
            <a:ext cx="104981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347" name="crossbar-error-note: 未映射请求：DECERR"/>
          <p:cNvSpPr txBox="1"/>
          <p:nvPr/>
        </p:nvSpPr>
        <p:spPr>
          <a:xfrm>
            <a:off x="8745630" y="2672351"/>
            <a:ext cx="864473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348" name="xbar-in-S0-t0: S0"/>
          <p:cNvSpPr txBox="1"/>
          <p:nvPr/>
        </p:nvSpPr>
        <p:spPr>
          <a:xfrm>
            <a:off x="68922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349" name="xbar-in-S1-t0: S1"/>
          <p:cNvSpPr txBox="1"/>
          <p:nvPr/>
        </p:nvSpPr>
        <p:spPr>
          <a:xfrm>
            <a:off x="1754143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350" name="xbar-in-S2-t0: S2"/>
          <p:cNvSpPr txBox="1"/>
          <p:nvPr/>
        </p:nvSpPr>
        <p:spPr>
          <a:xfrm>
            <a:off x="2819062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351" name="xbar-in-S3-t0: S3"/>
          <p:cNvSpPr txBox="1"/>
          <p:nvPr/>
        </p:nvSpPr>
        <p:spPr>
          <a:xfrm>
            <a:off x="3883980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352" name="xbar-in-S4-t0: S4"/>
          <p:cNvSpPr txBox="1"/>
          <p:nvPr/>
        </p:nvSpPr>
        <p:spPr>
          <a:xfrm>
            <a:off x="4948899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353" name="xbar-in-S5-t0: S5"/>
          <p:cNvSpPr txBox="1"/>
          <p:nvPr/>
        </p:nvSpPr>
        <p:spPr>
          <a:xfrm>
            <a:off x="6013817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354" name="xbar-in-S6-t0: S6"/>
          <p:cNvSpPr txBox="1"/>
          <p:nvPr/>
        </p:nvSpPr>
        <p:spPr>
          <a:xfrm>
            <a:off x="7078736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355" name="xbar-in-S7-t0: S7"/>
          <p:cNvSpPr txBox="1"/>
          <p:nvPr/>
        </p:nvSpPr>
        <p:spPr>
          <a:xfrm>
            <a:off x="814365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356" name="xbar-in-S_EXT-t0: S_EXT"/>
          <p:cNvSpPr txBox="1"/>
          <p:nvPr/>
        </p:nvSpPr>
        <p:spPr>
          <a:xfrm>
            <a:off x="9151457" y="2314279"/>
            <a:ext cx="28330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357" name="debug-sba-t0: Debug / SBA"/>
          <p:cNvSpPr txBox="1"/>
          <p:nvPr/>
        </p:nvSpPr>
        <p:spPr>
          <a:xfrm>
            <a:off x="1498654" y="1920917"/>
            <a:ext cx="68004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358" name="debug-sba-t1: JTAG 总线访问"/>
          <p:cNvSpPr txBox="1"/>
          <p:nvPr/>
        </p:nvSpPr>
        <p:spPr>
          <a:xfrm>
            <a:off x="1512089" y="2044734"/>
            <a:ext cx="65317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359" name="idma-master-t0: iDMA 数据主口"/>
          <p:cNvSpPr txBox="1"/>
          <p:nvPr/>
        </p:nvSpPr>
        <p:spPr>
          <a:xfrm>
            <a:off x="3583596" y="1920917"/>
            <a:ext cx="76983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360" name="idma-master-t1: 内存 → 内存"/>
          <p:cNvSpPr txBox="1"/>
          <p:nvPr/>
        </p:nvSpPr>
        <p:spPr>
          <a:xfrm>
            <a:off x="3677955" y="2044734"/>
            <a:ext cx="5811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361" name="slink-rx-t0: Serial Link RX"/>
          <p:cNvSpPr txBox="1"/>
          <p:nvPr/>
        </p:nvSpPr>
        <p:spPr>
          <a:xfrm>
            <a:off x="4676243" y="1920917"/>
            <a:ext cx="71438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362" name="slink-rx-t1: 远端请求入口"/>
          <p:cNvSpPr txBox="1"/>
          <p:nvPr/>
        </p:nvSpPr>
        <p:spPr>
          <a:xfrm>
            <a:off x="4725247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363" name="vga-t0: VGA"/>
          <p:cNvSpPr txBox="1"/>
          <p:nvPr/>
        </p:nvSpPr>
        <p:spPr>
          <a:xfrm>
            <a:off x="5957213" y="1920917"/>
            <a:ext cx="2822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364" name="vga-t1: 帧缓冲读取"/>
          <p:cNvSpPr txBox="1"/>
          <p:nvPr/>
        </p:nvSpPr>
        <p:spPr>
          <a:xfrm>
            <a:off x="5834192" y="2044734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365" name="usb-dma-t0: USB DMA"/>
          <p:cNvSpPr txBox="1"/>
          <p:nvPr/>
        </p:nvSpPr>
        <p:spPr>
          <a:xfrm>
            <a:off x="6898306" y="1920917"/>
            <a:ext cx="52992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366" name="usb-dma-t1: OHCI 主口"/>
          <p:cNvSpPr txBox="1"/>
          <p:nvPr/>
        </p:nvSpPr>
        <p:spPr>
          <a:xfrm>
            <a:off x="6921248" y="2044734"/>
            <a:ext cx="48404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367" name="emmc-host-t0: eMMC Host / DMA"/>
          <p:cNvSpPr txBox="1"/>
          <p:nvPr/>
        </p:nvSpPr>
        <p:spPr>
          <a:xfrm>
            <a:off x="7756209" y="1920917"/>
            <a:ext cx="94395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368" name="emmc-host-t1: 存储块 ↔ 内存"/>
          <p:cNvSpPr txBox="1"/>
          <p:nvPr/>
        </p:nvSpPr>
        <p:spPr>
          <a:xfrm>
            <a:off x="7825869" y="2044734"/>
            <a:ext cx="66917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369" name="ext-master-t0: AXI 外部 master"/>
          <p:cNvSpPr txBox="1"/>
          <p:nvPr/>
        </p:nvSpPr>
        <p:spPr>
          <a:xfrm>
            <a:off x="8886014" y="1920917"/>
            <a:ext cx="81418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370" name="ext-master-t1: 可选扩展入口"/>
          <p:cNvSpPr txBox="1"/>
          <p:nvPr/>
        </p:nvSpPr>
        <p:spPr>
          <a:xfrm>
            <a:off x="8984921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371" name="badge-C10-text: C10"/>
          <p:cNvSpPr txBox="1"/>
          <p:nvPr/>
        </p:nvSpPr>
        <p:spPr>
          <a:xfrm>
            <a:off x="8495421" y="2104204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372" name="xbar-out-M0-t0: M0"/>
          <p:cNvSpPr txBox="1"/>
          <p:nvPr/>
        </p:nvSpPr>
        <p:spPr>
          <a:xfrm>
            <a:off x="833731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373" name="debug-target-t0: Debug 目标"/>
          <p:cNvSpPr txBox="1"/>
          <p:nvPr/>
        </p:nvSpPr>
        <p:spPr>
          <a:xfrm>
            <a:off x="617222" y="3182451"/>
            <a:ext cx="61733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374" name="debug-target-t1: 调试模块窗口"/>
          <p:cNvSpPr txBox="1"/>
          <p:nvPr/>
        </p:nvSpPr>
        <p:spPr>
          <a:xfrm>
            <a:off x="617704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375" name="xbar-out-M1-t0: M1"/>
          <p:cNvSpPr txBox="1"/>
          <p:nvPr/>
        </p:nvSpPr>
        <p:spPr>
          <a:xfrm>
            <a:off x="2202912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376" name="reg-bridge-t0: AXI → Regbus"/>
          <p:cNvSpPr txBox="1"/>
          <p:nvPr/>
        </p:nvSpPr>
        <p:spPr>
          <a:xfrm>
            <a:off x="1928605" y="3182451"/>
            <a:ext cx="73293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377" name="reg-bridge-t1: 原子适配 / 32 bit 桥"/>
          <p:cNvSpPr txBox="1"/>
          <p:nvPr/>
        </p:nvSpPr>
        <p:spPr>
          <a:xfrm>
            <a:off x="1854112" y="3306267"/>
            <a:ext cx="881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378" name="xbar-out-M2-t0: M2"/>
          <p:cNvSpPr txBox="1"/>
          <p:nvPr/>
        </p:nvSpPr>
        <p:spPr>
          <a:xfrm>
            <a:off x="3572093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379" name="memory-title: 主存 / SPM 共用目标"/>
          <p:cNvSpPr txBox="1"/>
          <p:nvPr/>
        </p:nvSpPr>
        <p:spPr>
          <a:xfrm>
            <a:off x="3135070" y="3053419"/>
            <a:ext cx="105836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380" name="atomics-t0: 原子适配"/>
          <p:cNvSpPr txBox="1"/>
          <p:nvPr/>
        </p:nvSpPr>
        <p:spPr>
          <a:xfrm>
            <a:off x="3112141" y="3266694"/>
            <a:ext cx="443823" cy="1422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381" name="atomics-t1: AMO / LRSC"/>
          <p:cNvSpPr txBox="1"/>
          <p:nvPr/>
        </p:nvSpPr>
        <p:spPr>
          <a:xfrm>
            <a:off x="3003106" y="3371596"/>
            <a:ext cx="66189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382" name="llc-spm-t0: LLC / SPM"/>
          <p:cNvSpPr txBox="1"/>
          <p:nvPr/>
        </p:nvSpPr>
        <p:spPr>
          <a:xfrm>
            <a:off x="3765270" y="3270758"/>
            <a:ext cx="509164" cy="1422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383" name="llc-spm-t1: SRAM 阵列"/>
          <p:cNvSpPr txBox="1"/>
          <p:nvPr/>
        </p:nvSpPr>
        <p:spPr>
          <a:xfrm>
            <a:off x="3739304" y="3376608"/>
            <a:ext cx="561097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384" name="xbar-out-M3-t0: M3"/>
          <p:cNvSpPr txBox="1"/>
          <p:nvPr/>
        </p:nvSpPr>
        <p:spPr>
          <a:xfrm>
            <a:off x="4941274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385" name="idma-config-t0: iDMA 配置"/>
          <p:cNvSpPr txBox="1"/>
          <p:nvPr/>
        </p:nvSpPr>
        <p:spPr>
          <a:xfrm>
            <a:off x="4750115" y="3129619"/>
            <a:ext cx="56663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386" name="idma-config-t1: 原子适配 → AXI→Reg"/>
          <p:cNvSpPr txBox="1"/>
          <p:nvPr/>
        </p:nvSpPr>
        <p:spPr>
          <a:xfrm>
            <a:off x="4566034" y="3253435"/>
            <a:ext cx="93479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387" name="idma-config-t2: wrapper 内部寄存器"/>
          <p:cNvSpPr txBox="1"/>
          <p:nvPr/>
        </p:nvSpPr>
        <p:spPr>
          <a:xfrm>
            <a:off x="4603999" y="3359099"/>
            <a:ext cx="85886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388" name="xbar-out-M4-t0: M4"/>
          <p:cNvSpPr txBox="1"/>
          <p:nvPr/>
        </p:nvSpPr>
        <p:spPr>
          <a:xfrm>
            <a:off x="6310455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389" name="slink-tx-t0: Serial Link TX"/>
          <p:cNvSpPr txBox="1"/>
          <p:nvPr/>
        </p:nvSpPr>
        <p:spPr>
          <a:xfrm>
            <a:off x="6051478" y="3182451"/>
            <a:ext cx="70227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390" name="slink-tx-t1: 远端目标窗口"/>
          <p:cNvSpPr txBox="1"/>
          <p:nvPr/>
        </p:nvSpPr>
        <p:spPr>
          <a:xfrm>
            <a:off x="6094428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391" name="xbar-out-M5-t0: M5"/>
          <p:cNvSpPr txBox="1"/>
          <p:nvPr/>
        </p:nvSpPr>
        <p:spPr>
          <a:xfrm>
            <a:off x="7679636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392" name="gb-interface-t0: GB AXI 接口"/>
          <p:cNvSpPr txBox="1"/>
          <p:nvPr/>
        </p:nvSpPr>
        <p:spPr>
          <a:xfrm>
            <a:off x="7454988" y="3129619"/>
            <a:ext cx="63361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393" name="gb-interface-t1: CPU / Ara / eMMC DMA"/>
          <p:cNvSpPr txBox="1"/>
          <p:nvPr/>
        </p:nvSpPr>
        <p:spPr>
          <a:xfrm>
            <a:off x="7260665" y="3253435"/>
            <a:ext cx="10222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394" name="gb-interface-t2: 64-bit 数据窗口 · 共用"/>
          <p:cNvSpPr txBox="1"/>
          <p:nvPr/>
        </p:nvSpPr>
        <p:spPr>
          <a:xfrm>
            <a:off x="7299149" y="3359099"/>
            <a:ext cx="94529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395" name="xbar-out-M_EXT-t0: M_EXT"/>
          <p:cNvSpPr txBox="1"/>
          <p:nvPr/>
        </p:nvSpPr>
        <p:spPr>
          <a:xfrm>
            <a:off x="8991701" y="2771479"/>
            <a:ext cx="298551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396" name="ext-target-t0: AXI 外部 slave"/>
          <p:cNvSpPr txBox="1"/>
          <p:nvPr/>
        </p:nvSpPr>
        <p:spPr>
          <a:xfrm>
            <a:off x="8773467" y="3182451"/>
            <a:ext cx="73501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397" name="ext-target-t1: 可选外部目标扩展"/>
          <p:cNvSpPr txBox="1"/>
          <p:nvPr/>
        </p:nvSpPr>
        <p:spPr>
          <a:xfrm>
            <a:off x="8744736" y="3306267"/>
            <a:ext cx="792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398" name="emmc-device-t0: eMMC"/>
          <p:cNvSpPr txBox="1"/>
          <p:nvPr/>
        </p:nvSpPr>
        <p:spPr>
          <a:xfrm>
            <a:off x="11550065" y="1910893"/>
            <a:ext cx="437203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399" name="emmc-device-t1: 模型 / 校正参数"/>
          <p:cNvSpPr txBox="1"/>
          <p:nvPr/>
        </p:nvSpPr>
        <p:spPr>
          <a:xfrm>
            <a:off x="11411207" y="2052862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400" name="regbus-t0: Regbus decode / demux · 32 bit"/>
          <p:cNvSpPr txBox="1"/>
          <p:nvPr/>
        </p:nvSpPr>
        <p:spPr>
          <a:xfrm>
            <a:off x="2213213" y="3868725"/>
            <a:ext cx="1745774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401" name="bootrom-t0: Boot ROM"/>
          <p:cNvSpPr txBox="1"/>
          <p:nvPr/>
        </p:nvSpPr>
        <p:spPr>
          <a:xfrm>
            <a:off x="592799" y="4169664"/>
            <a:ext cx="55006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402" name="bootrom-t1: 启动代码"/>
          <p:cNvSpPr txBox="1"/>
          <p:nvPr/>
        </p:nvSpPr>
        <p:spPr>
          <a:xfrm>
            <a:off x="647700" y="4293481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403" name="uart-t0: UART"/>
          <p:cNvSpPr txBox="1"/>
          <p:nvPr/>
        </p:nvSpPr>
        <p:spPr>
          <a:xfrm>
            <a:off x="699259" y="4508331"/>
            <a:ext cx="33714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404" name="uart-t1: 串口控制"/>
          <p:cNvSpPr txBox="1"/>
          <p:nvPr/>
        </p:nvSpPr>
        <p:spPr>
          <a:xfrm>
            <a:off x="6477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405" name="vga-regs-t0: VGA 配置"/>
          <p:cNvSpPr txBox="1"/>
          <p:nvPr/>
        </p:nvSpPr>
        <p:spPr>
          <a:xfrm>
            <a:off x="609865" y="4846997"/>
            <a:ext cx="51593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406" name="vga-regs-t1: 时序 / 帧地址"/>
          <p:cNvSpPr txBox="1"/>
          <p:nvPr/>
        </p:nvSpPr>
        <p:spPr>
          <a:xfrm>
            <a:off x="554400" y="4970814"/>
            <a:ext cx="6268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407" name="irq-router-t0: IRQ router"/>
          <p:cNvSpPr txBox="1"/>
          <p:nvPr/>
        </p:nvSpPr>
        <p:spPr>
          <a:xfrm>
            <a:off x="592849" y="5185664"/>
            <a:ext cx="5499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408" name="irq-router-t1: 可选中断路由"/>
          <p:cNvSpPr txBox="1"/>
          <p:nvPr/>
        </p:nvSpPr>
        <p:spPr>
          <a:xfrm>
            <a:off x="5596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409" name="clint-t0: CLINT"/>
          <p:cNvSpPr txBox="1"/>
          <p:nvPr/>
        </p:nvSpPr>
        <p:spPr>
          <a:xfrm>
            <a:off x="1805697" y="4169664"/>
            <a:ext cx="35947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410" name="clint-t1: 软件 / 定时中断"/>
          <p:cNvSpPr txBox="1"/>
          <p:nvPr/>
        </p:nvSpPr>
        <p:spPr>
          <a:xfrm>
            <a:off x="1627973" y="4293481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411" name="i2c-t0: I²C"/>
          <p:cNvSpPr txBox="1"/>
          <p:nvPr/>
        </p:nvSpPr>
        <p:spPr>
          <a:xfrm>
            <a:off x="1871726" y="4508331"/>
            <a:ext cx="22741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412" name="i2c-t1: 两线串行接口"/>
          <p:cNvSpPr txBox="1"/>
          <p:nvPr/>
        </p:nvSpPr>
        <p:spPr>
          <a:xfrm>
            <a:off x="1677247" y="4632147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413" name="usb-regs-t0: USB 配置"/>
          <p:cNvSpPr txBox="1"/>
          <p:nvPr/>
        </p:nvSpPr>
        <p:spPr>
          <a:xfrm>
            <a:off x="1722403" y="4846997"/>
            <a:ext cx="52606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414" name="usb-regs-t1: OHCI 寄存器"/>
          <p:cNvSpPr txBox="1"/>
          <p:nvPr/>
        </p:nvSpPr>
        <p:spPr>
          <a:xfrm>
            <a:off x="1699384" y="4970814"/>
            <a:ext cx="57209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415" name="axi-rt-config-t0: AXI RT 配置"/>
          <p:cNvSpPr txBox="1"/>
          <p:nvPr/>
        </p:nvSpPr>
        <p:spPr>
          <a:xfrm>
            <a:off x="1676712" y="5185664"/>
            <a:ext cx="61744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416" name="axi-rt-config-t1: 可选流量调节"/>
          <p:cNvSpPr txBox="1"/>
          <p:nvPr/>
        </p:nvSpPr>
        <p:spPr>
          <a:xfrm>
            <a:off x="16772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417" name="soc-regs-t0: SoC 寄存器"/>
          <p:cNvSpPr txBox="1"/>
          <p:nvPr/>
        </p:nvSpPr>
        <p:spPr>
          <a:xfrm>
            <a:off x="2794312" y="4169664"/>
            <a:ext cx="61744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418" name="soc-regs-t1: 平台信息 / scratch"/>
          <p:cNvSpPr txBox="1"/>
          <p:nvPr/>
        </p:nvSpPr>
        <p:spPr>
          <a:xfrm>
            <a:off x="2692945" y="4293481"/>
            <a:ext cx="82017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419" name="spi-t0: SPI Host"/>
          <p:cNvSpPr txBox="1"/>
          <p:nvPr/>
        </p:nvSpPr>
        <p:spPr>
          <a:xfrm>
            <a:off x="2860442" y="4508331"/>
            <a:ext cx="48518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420" name="spi-t1: Flash / SD"/>
          <p:cNvSpPr txBox="1"/>
          <p:nvPr/>
        </p:nvSpPr>
        <p:spPr>
          <a:xfrm>
            <a:off x="2851468" y="4632147"/>
            <a:ext cx="50313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421" name="err-vga-t0: Bus-error · VGA"/>
          <p:cNvSpPr txBox="1"/>
          <p:nvPr/>
        </p:nvSpPr>
        <p:spPr>
          <a:xfrm>
            <a:off x="2715387" y="4846997"/>
            <a:ext cx="77529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422" name="err-vga-t1: 错误记录"/>
          <p:cNvSpPr txBox="1"/>
          <p:nvPr/>
        </p:nvSpPr>
        <p:spPr>
          <a:xfrm>
            <a:off x="2882900" y="4970814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423" name="clic-t0: CLIC"/>
          <p:cNvSpPr txBox="1"/>
          <p:nvPr/>
        </p:nvSpPr>
        <p:spPr>
          <a:xfrm>
            <a:off x="2950729" y="5185664"/>
            <a:ext cx="30460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424" name="clic-t1: 可选每核中断控制"/>
          <p:cNvSpPr txBox="1"/>
          <p:nvPr/>
        </p:nvSpPr>
        <p:spPr>
          <a:xfrm>
            <a:off x="2706793" y="5309481"/>
            <a:ext cx="792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425" name="plic-t0: PLIC"/>
          <p:cNvSpPr txBox="1"/>
          <p:nvPr/>
        </p:nvSpPr>
        <p:spPr>
          <a:xfrm>
            <a:off x="4071355" y="4169664"/>
            <a:ext cx="2985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426" name="plic-t1: 外部中断控制"/>
          <p:cNvSpPr txBox="1"/>
          <p:nvPr/>
        </p:nvSpPr>
        <p:spPr>
          <a:xfrm>
            <a:off x="3912447" y="4293481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427" name="gpio-t0: GPIO"/>
          <p:cNvSpPr txBox="1"/>
          <p:nvPr/>
        </p:nvSpPr>
        <p:spPr>
          <a:xfrm>
            <a:off x="4061238" y="4508331"/>
            <a:ext cx="31879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428" name="gpio-t1: 通用 IO"/>
          <p:cNvSpPr txBox="1"/>
          <p:nvPr/>
        </p:nvSpPr>
        <p:spPr>
          <a:xfrm>
            <a:off x="4034893" y="4632147"/>
            <a:ext cx="371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429" name="err-dma-t0: Bus-error · iDMA"/>
          <p:cNvSpPr txBox="1"/>
          <p:nvPr/>
        </p:nvSpPr>
        <p:spPr>
          <a:xfrm>
            <a:off x="3807637" y="4846997"/>
            <a:ext cx="82599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430" name="err-dma-t1: 每传输错误记录"/>
          <p:cNvSpPr txBox="1"/>
          <p:nvPr/>
        </p:nvSpPr>
        <p:spPr>
          <a:xfrm>
            <a:off x="3868420" y="4970814"/>
            <a:ext cx="70442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431" name="reg-error-t0: reg_err_slv"/>
          <p:cNvSpPr txBox="1"/>
          <p:nvPr/>
        </p:nvSpPr>
        <p:spPr>
          <a:xfrm>
            <a:off x="3929327" y="5185664"/>
            <a:ext cx="58261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432" name="reg-error-t1: 未匹配地址"/>
          <p:cNvSpPr txBox="1"/>
          <p:nvPr/>
        </p:nvSpPr>
        <p:spPr>
          <a:xfrm>
            <a:off x="3956473" y="5309481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433" name="llc-regs-t0: LLC 配置"/>
          <p:cNvSpPr txBox="1"/>
          <p:nvPr/>
        </p:nvSpPr>
        <p:spPr>
          <a:xfrm>
            <a:off x="5088350" y="4169664"/>
            <a:ext cx="49976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434" name="llc-regs-t1: SPM way / cache"/>
          <p:cNvSpPr txBox="1"/>
          <p:nvPr/>
        </p:nvSpPr>
        <p:spPr>
          <a:xfrm>
            <a:off x="4959099" y="4293481"/>
            <a:ext cx="75826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435" name="slink-regs-t0: Serial Link 配置"/>
          <p:cNvSpPr txBox="1"/>
          <p:nvPr/>
        </p:nvSpPr>
        <p:spPr>
          <a:xfrm>
            <a:off x="4938281" y="4508331"/>
            <a:ext cx="79990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436" name="slink-regs-t1: 链路控制"/>
          <p:cNvSpPr txBox="1"/>
          <p:nvPr/>
        </p:nvSpPr>
        <p:spPr>
          <a:xfrm>
            <a:off x="51181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437" name="err-cpu-t0: Bus-error · CPU"/>
          <p:cNvSpPr txBox="1"/>
          <p:nvPr/>
        </p:nvSpPr>
        <p:spPr>
          <a:xfrm>
            <a:off x="4948552" y="4846997"/>
            <a:ext cx="77936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438" name="err-cpu-t1: 每核错误记录"/>
          <p:cNvSpPr txBox="1"/>
          <p:nvPr/>
        </p:nvSpPr>
        <p:spPr>
          <a:xfrm>
            <a:off x="5030047" y="4970814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439" name="reg-ext-t0: RegExt 扩展"/>
          <p:cNvSpPr txBox="1"/>
          <p:nvPr/>
        </p:nvSpPr>
        <p:spPr>
          <a:xfrm>
            <a:off x="5019392" y="5185664"/>
            <a:ext cx="63768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440" name="reg-ext-t1: 新增 IP 配置出口"/>
          <p:cNvSpPr txBox="1"/>
          <p:nvPr/>
        </p:nvSpPr>
        <p:spPr>
          <a:xfrm>
            <a:off x="4967573" y="5309481"/>
            <a:ext cx="741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441" name="ddr-S0-t0: DDR.S0"/>
          <p:cNvSpPr txBox="1"/>
          <p:nvPr/>
        </p:nvSpPr>
        <p:spPr>
          <a:xfrm>
            <a:off x="6434225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442" name="ddr-S1-t0: DDR.S1"/>
          <p:cNvSpPr txBox="1"/>
          <p:nvPr/>
        </p:nvSpPr>
        <p:spPr>
          <a:xfrm>
            <a:off x="7365558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443" name="ddr-S2-t0: DDR.S2"/>
          <p:cNvSpPr txBox="1"/>
          <p:nvPr/>
        </p:nvSpPr>
        <p:spPr>
          <a:xfrm>
            <a:off x="8296891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444" name="ddr-S3-t0: DDR.S3"/>
          <p:cNvSpPr txBox="1"/>
          <p:nvPr/>
        </p:nvSpPr>
        <p:spPr>
          <a:xfrm>
            <a:off x="9228225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445" name="ddr-arb-t0: 四口仲裁 / QoS · 共享 DDR 带宽"/>
          <p:cNvSpPr txBox="1"/>
          <p:nvPr/>
        </p:nvSpPr>
        <p:spPr>
          <a:xfrm>
            <a:off x="7300370" y="5399295"/>
            <a:ext cx="1452060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446" name="ddr-rw-t0: 读写调度 · Bank / Row"/>
          <p:cNvSpPr txBox="1"/>
          <p:nvPr/>
        </p:nvSpPr>
        <p:spPr>
          <a:xfrm>
            <a:off x="6444522" y="5580549"/>
            <a:ext cx="111482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447" name="ddr-command-t0: 命令调度 · Controller → PHY"/>
          <p:cNvSpPr txBox="1"/>
          <p:nvPr/>
        </p:nvSpPr>
        <p:spPr>
          <a:xfrm>
            <a:off x="8397216" y="5585562"/>
            <a:ext cx="1273434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448" name="ddr-title: DDR Controller · 4 个 AXI slave"/>
          <p:cNvSpPr txBox="1"/>
          <p:nvPr/>
        </p:nvSpPr>
        <p:spPr>
          <a:xfrm>
            <a:off x="7293766" y="5732272"/>
            <a:ext cx="14652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449" name="badge-C2-text: C2"/>
          <p:cNvSpPr txBox="1"/>
          <p:nvPr/>
        </p:nvSpPr>
        <p:spPr>
          <a:xfrm>
            <a:off x="9662848" y="5748257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50" name="ddr-phy-t0: DDR PHY"/>
          <p:cNvSpPr txBox="1"/>
          <p:nvPr/>
        </p:nvSpPr>
        <p:spPr>
          <a:xfrm>
            <a:off x="10438606" y="5692987"/>
            <a:ext cx="50958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451" name="ddr-phy-t1: 训练 / 校准"/>
          <p:cNvSpPr txBox="1"/>
          <p:nvPr/>
        </p:nvSpPr>
        <p:spPr>
          <a:xfrm>
            <a:off x="10335535" y="5815855"/>
            <a:ext cx="580263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452" name="badge-C3-text: C3"/>
          <p:cNvSpPr txBox="1"/>
          <p:nvPr/>
        </p:nvSpPr>
        <p:spPr>
          <a:xfrm>
            <a:off x="10915915" y="5876950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53" name="ddr-device-t0: DDR"/>
          <p:cNvSpPr txBox="1"/>
          <p:nvPr/>
        </p:nvSpPr>
        <p:spPr>
          <a:xfrm>
            <a:off x="11586842" y="5682962"/>
            <a:ext cx="338249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54" name="ddr-device-t1: 片外器件"/>
          <p:cNvSpPr txBox="1"/>
          <p:nvPr/>
        </p:nvSpPr>
        <p:spPr>
          <a:xfrm>
            <a:off x="11518900" y="5823983"/>
            <a:ext cx="474133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455" name="roi-title: 图像裁切输出"/>
          <p:cNvSpPr txBox="1"/>
          <p:nvPr/>
        </p:nvSpPr>
        <p:spPr>
          <a:xfrm>
            <a:off x="10322560" y="3777623"/>
            <a:ext cx="758613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456" name="roi-count: ≤256 ROI / 帧"/>
          <p:cNvSpPr txBox="1"/>
          <p:nvPr/>
        </p:nvSpPr>
        <p:spPr>
          <a:xfrm>
            <a:off x="10367788" y="3894396"/>
            <a:ext cx="66815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457" name="roi-no-scale: 纯裁切 · 不缩放"/>
          <p:cNvSpPr txBox="1"/>
          <p:nvPr/>
        </p:nvSpPr>
        <p:spPr>
          <a:xfrm>
            <a:off x="10356747" y="3982449"/>
            <a:ext cx="69024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458" name="pll-title: PLL / 时钟与复位分发"/>
          <p:cNvSpPr txBox="1"/>
          <p:nvPr/>
        </p:nvSpPr>
        <p:spPr>
          <a:xfrm>
            <a:off x="7380023" y="5978957"/>
            <a:ext cx="1157288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459" name="badge-C1-text: C1"/>
          <p:cNvSpPr txBox="1"/>
          <p:nvPr/>
        </p:nvSpPr>
        <p:spPr>
          <a:xfrm>
            <a:off x="8749295" y="5999209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0" name="pll-interface: RefClk / POR → clk_i / rst_ni"/>
          <p:cNvSpPr txBox="1"/>
          <p:nvPr/>
        </p:nvSpPr>
        <p:spPr>
          <a:xfrm>
            <a:off x="9311539" y="6000902"/>
            <a:ext cx="122278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461" name="reg-badge-C1-text: C1"/>
          <p:cNvSpPr txBox="1"/>
          <p:nvPr/>
        </p:nvSpPr>
        <p:spPr>
          <a:xfrm>
            <a:off x="275855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2" name="config-C1-title-0: PLL / 时钟"/>
          <p:cNvSpPr txBox="1"/>
          <p:nvPr/>
        </p:nvSpPr>
        <p:spPr>
          <a:xfrm>
            <a:off x="275085" y="6423491"/>
            <a:ext cx="5769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463" name="config-C1-title-1: 复位"/>
          <p:cNvSpPr txBox="1"/>
          <p:nvPr/>
        </p:nvSpPr>
        <p:spPr>
          <a:xfrm>
            <a:off x="411162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464" name="reg-badge-C2-text: C2"/>
          <p:cNvSpPr txBox="1"/>
          <p:nvPr/>
        </p:nvSpPr>
        <p:spPr>
          <a:xfrm>
            <a:off x="967793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65" name="config-C2-title-0: DDR"/>
          <p:cNvSpPr txBox="1"/>
          <p:nvPr/>
        </p:nvSpPr>
        <p:spPr>
          <a:xfrm>
            <a:off x="1106276" y="6423491"/>
            <a:ext cx="29845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66" name="config-C2-title-1: Controller"/>
          <p:cNvSpPr txBox="1"/>
          <p:nvPr/>
        </p:nvSpPr>
        <p:spPr>
          <a:xfrm>
            <a:off x="990735" y="6542024"/>
            <a:ext cx="5295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467" name="reg-badge-C3-text: C3"/>
          <p:cNvSpPr txBox="1"/>
          <p:nvPr/>
        </p:nvSpPr>
        <p:spPr>
          <a:xfrm>
            <a:off x="1659731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68" name="config-C3-title-0: DDR"/>
          <p:cNvSpPr txBox="1"/>
          <p:nvPr/>
        </p:nvSpPr>
        <p:spPr>
          <a:xfrm>
            <a:off x="1798214" y="6423491"/>
            <a:ext cx="29845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69" name="config-C3-title-1: PHY"/>
          <p:cNvSpPr txBox="1"/>
          <p:nvPr/>
        </p:nvSpPr>
        <p:spPr>
          <a:xfrm>
            <a:off x="1806300" y="6542024"/>
            <a:ext cx="2822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470" name="reg-badge-C4-text: C4"/>
          <p:cNvSpPr txBox="1"/>
          <p:nvPr/>
        </p:nvSpPr>
        <p:spPr>
          <a:xfrm>
            <a:off x="2351670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471" name="config-C4-title-0: LVDS"/>
          <p:cNvSpPr txBox="1"/>
          <p:nvPr/>
        </p:nvSpPr>
        <p:spPr>
          <a:xfrm>
            <a:off x="2469811" y="6423491"/>
            <a:ext cx="339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472" name="config-C4-title-1: RX"/>
          <p:cNvSpPr txBox="1"/>
          <p:nvPr/>
        </p:nvSpPr>
        <p:spPr>
          <a:xfrm>
            <a:off x="2529739" y="6542024"/>
            <a:ext cx="21927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473" name="reg-badge-C5-text: C5"/>
          <p:cNvSpPr txBox="1"/>
          <p:nvPr/>
        </p:nvSpPr>
        <p:spPr>
          <a:xfrm>
            <a:off x="3043608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474" name="config-C5-title-0: ISP"/>
          <p:cNvSpPr txBox="1"/>
          <p:nvPr/>
        </p:nvSpPr>
        <p:spPr>
          <a:xfrm>
            <a:off x="3207438" y="6484451"/>
            <a:ext cx="2477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475" name="reg-badge-C6-text: C6"/>
          <p:cNvSpPr txBox="1"/>
          <p:nvPr/>
        </p:nvSpPr>
        <p:spPr>
          <a:xfrm>
            <a:off x="3735546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476" name="config-C6-title-0: NPU"/>
          <p:cNvSpPr txBox="1"/>
          <p:nvPr/>
        </p:nvSpPr>
        <p:spPr>
          <a:xfrm>
            <a:off x="3878048" y="6423491"/>
            <a:ext cx="29041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477" name="config-C6-title-1: 计算"/>
          <p:cNvSpPr txBox="1"/>
          <p:nvPr/>
        </p:nvSpPr>
        <p:spPr>
          <a:xfrm>
            <a:off x="3870854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478" name="reg-badge-C7-text: C7"/>
          <p:cNvSpPr txBox="1"/>
          <p:nvPr/>
        </p:nvSpPr>
        <p:spPr>
          <a:xfrm>
            <a:off x="4427485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479" name="config-C7-title-0: NPU / GB"/>
          <p:cNvSpPr txBox="1"/>
          <p:nvPr/>
        </p:nvSpPr>
        <p:spPr>
          <a:xfrm>
            <a:off x="4448196" y="6423491"/>
            <a:ext cx="53399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480" name="config-C7-title-1: 搬运"/>
          <p:cNvSpPr txBox="1"/>
          <p:nvPr/>
        </p:nvSpPr>
        <p:spPr>
          <a:xfrm>
            <a:off x="4562792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481" name="reg-badge-C8-text: C8"/>
          <p:cNvSpPr txBox="1"/>
          <p:nvPr/>
        </p:nvSpPr>
        <p:spPr>
          <a:xfrm>
            <a:off x="5119423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482" name="config-C8-title-0: 帧写入"/>
          <p:cNvSpPr txBox="1"/>
          <p:nvPr/>
        </p:nvSpPr>
        <p:spPr>
          <a:xfrm>
            <a:off x="5203931" y="6423491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483" name="config-C8-title-1: DMA"/>
          <p:cNvSpPr txBox="1"/>
          <p:nvPr/>
        </p:nvSpPr>
        <p:spPr>
          <a:xfrm>
            <a:off x="5252797" y="6542024"/>
            <a:ext cx="3086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484" name="reg-badge-C9-text: C9"/>
          <p:cNvSpPr txBox="1"/>
          <p:nvPr/>
        </p:nvSpPr>
        <p:spPr>
          <a:xfrm>
            <a:off x="5811361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485" name="config-C9-title-0: GB"/>
          <p:cNvSpPr txBox="1"/>
          <p:nvPr/>
        </p:nvSpPr>
        <p:spPr>
          <a:xfrm>
            <a:off x="5983330" y="6423491"/>
            <a:ext cx="2314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486" name="config-C9-title-1: 管理"/>
          <p:cNvSpPr txBox="1"/>
          <p:nvPr/>
        </p:nvSpPr>
        <p:spPr>
          <a:xfrm>
            <a:off x="5946669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487" name="reg-badge-C10-text: C10"/>
          <p:cNvSpPr txBox="1"/>
          <p:nvPr/>
        </p:nvSpPr>
        <p:spPr>
          <a:xfrm>
            <a:off x="6481977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488" name="config-C10-title-0: eMMC Host"/>
          <p:cNvSpPr txBox="1"/>
          <p:nvPr/>
        </p:nvSpPr>
        <p:spPr>
          <a:xfrm>
            <a:off x="6479413" y="6423491"/>
            <a:ext cx="62318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489" name="config-C10-title-1: / DMA"/>
          <p:cNvSpPr txBox="1"/>
          <p:nvPr/>
        </p:nvSpPr>
        <p:spPr>
          <a:xfrm>
            <a:off x="6595052" y="6542024"/>
            <a:ext cx="39191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490" name="reg-badge-C11-text: C11"/>
          <p:cNvSpPr txBox="1"/>
          <p:nvPr/>
        </p:nvSpPr>
        <p:spPr>
          <a:xfrm>
            <a:off x="7173915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491" name="config-C11-title-0: ROI 任务"/>
          <p:cNvSpPr txBox="1"/>
          <p:nvPr/>
        </p:nvSpPr>
        <p:spPr>
          <a:xfrm>
            <a:off x="7237180" y="6423491"/>
            <a:ext cx="4915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492" name="config-C11-title-1: / 调度"/>
          <p:cNvSpPr txBox="1"/>
          <p:nvPr/>
        </p:nvSpPr>
        <p:spPr>
          <a:xfrm>
            <a:off x="7288924" y="6542024"/>
            <a:ext cx="38804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493" name="reg-badge-C12-text: C12"/>
          <p:cNvSpPr txBox="1"/>
          <p:nvPr/>
        </p:nvSpPr>
        <p:spPr>
          <a:xfrm>
            <a:off x="7865853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494" name="config-C12-title-0: 前端公共"/>
          <p:cNvSpPr txBox="1"/>
          <p:nvPr/>
        </p:nvSpPr>
        <p:spPr>
          <a:xfrm>
            <a:off x="7920884" y="6423491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前端公共</a:t>
            </a:r>
          </a:p>
        </p:txBody>
      </p:sp>
      <p:sp>
        <p:nvSpPr>
          <p:cNvPr id="495" name="config-C12-title-1: 控制"/>
          <p:cNvSpPr txBox="1"/>
          <p:nvPr/>
        </p:nvSpPr>
        <p:spPr>
          <a:xfrm>
            <a:off x="8022484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496" name="reg-badge-C13-text: C13"/>
          <p:cNvSpPr txBox="1"/>
          <p:nvPr/>
        </p:nvSpPr>
        <p:spPr>
          <a:xfrm>
            <a:off x="8557792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497" name="config-C13-title-0: 帧输出"/>
          <p:cNvSpPr txBox="1"/>
          <p:nvPr/>
        </p:nvSpPr>
        <p:spPr>
          <a:xfrm>
            <a:off x="8663622" y="6423491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498" name="config-C13-title-1: VDMA"/>
          <p:cNvSpPr txBox="1"/>
          <p:nvPr/>
        </p:nvSpPr>
        <p:spPr>
          <a:xfrm>
            <a:off x="8684062" y="6542024"/>
            <a:ext cx="36552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VDMA</a:t>
            </a:r>
          </a:p>
        </p:txBody>
      </p:sp>
      <p:sp>
        <p:nvSpPr>
          <p:cNvPr id="499" name="reg-badge-C14-text: C14"/>
          <p:cNvSpPr txBox="1"/>
          <p:nvPr/>
        </p:nvSpPr>
        <p:spPr>
          <a:xfrm>
            <a:off x="9249730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500" name="config-C14-title-0: LVDS"/>
          <p:cNvSpPr txBox="1"/>
          <p:nvPr/>
        </p:nvSpPr>
        <p:spPr>
          <a:xfrm>
            <a:off x="9389195" y="6423491"/>
            <a:ext cx="339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501" name="config-C14-title-1: TX"/>
          <p:cNvSpPr txBox="1"/>
          <p:nvPr/>
        </p:nvSpPr>
        <p:spPr>
          <a:xfrm>
            <a:off x="9455176" y="6542024"/>
            <a:ext cx="20716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502" name="reg-badge-C15-text: C15"/>
          <p:cNvSpPr txBox="1"/>
          <p:nvPr/>
        </p:nvSpPr>
        <p:spPr>
          <a:xfrm>
            <a:off x="9941668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503" name="config-C15-title-0: 压缩器"/>
          <p:cNvSpPr txBox="1"/>
          <p:nvPr/>
        </p:nvSpPr>
        <p:spPr>
          <a:xfrm>
            <a:off x="10047499" y="6484451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504" name="reg-badge-C16-text: C16"/>
          <p:cNvSpPr txBox="1"/>
          <p:nvPr/>
        </p:nvSpPr>
        <p:spPr>
          <a:xfrm>
            <a:off x="10633607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505" name="config-C16-title-0: 解压器"/>
          <p:cNvSpPr txBox="1"/>
          <p:nvPr/>
        </p:nvSpPr>
        <p:spPr>
          <a:xfrm>
            <a:off x="10739438" y="6484451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506" name="front-F0-t0: F0 · LLC"/>
          <p:cNvSpPr txBox="1"/>
          <p:nvPr/>
        </p:nvSpPr>
        <p:spPr>
          <a:xfrm>
            <a:off x="6431137" y="3784092"/>
            <a:ext cx="345726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507" name="front-F1-t0: F1 · GB 搬运"/>
          <p:cNvSpPr txBox="1"/>
          <p:nvPr/>
        </p:nvSpPr>
        <p:spPr>
          <a:xfrm>
            <a:off x="7287834" y="3784092"/>
            <a:ext cx="494998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508" name="front-F2-t0: F2 · 帧写"/>
          <p:cNvSpPr txBox="1"/>
          <p:nvPr/>
        </p:nvSpPr>
        <p:spPr>
          <a:xfrm>
            <a:off x="8279294" y="3784092"/>
            <a:ext cx="374745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509" name="front-F3-t0: F3 · 帧读"/>
          <p:cNvSpPr txBox="1"/>
          <p:nvPr/>
        </p:nvSpPr>
        <p:spPr>
          <a:xfrm>
            <a:off x="9210627" y="3784092"/>
            <a:ext cx="374745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510" name="front-adapt-t0: 共享压缩前端 · 四口区域选择 / 事务跟踪"/>
          <p:cNvSpPr txBox="1"/>
          <p:nvPr/>
        </p:nvSpPr>
        <p:spPr>
          <a:xfrm>
            <a:off x="7063335" y="3968496"/>
            <a:ext cx="192613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511" name="badge-C12-text: C12"/>
          <p:cNvSpPr txBox="1"/>
          <p:nvPr/>
        </p:nvSpPr>
        <p:spPr>
          <a:xfrm>
            <a:off x="9641525" y="3990577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512" name="address-control-t0: 地址 / 事务"/>
          <p:cNvSpPr txBox="1"/>
          <p:nvPr/>
        </p:nvSpPr>
        <p:spPr>
          <a:xfrm>
            <a:off x="6276216" y="4274651"/>
            <a:ext cx="62170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513" name="address-control-t1: AR / AW 映射"/>
          <p:cNvSpPr txBox="1"/>
          <p:nvPr/>
        </p:nvSpPr>
        <p:spPr>
          <a:xfrm>
            <a:off x="6279909" y="4398467"/>
            <a:ext cx="61431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514" name="metadata-t0: 块地址 / 元数据"/>
          <p:cNvSpPr txBox="1"/>
          <p:nvPr/>
        </p:nvSpPr>
        <p:spPr>
          <a:xfrm>
            <a:off x="6202108" y="4713495"/>
            <a:ext cx="769916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515" name="badge-C15-text: C15"/>
          <p:cNvSpPr txBox="1"/>
          <p:nvPr/>
        </p:nvSpPr>
        <p:spPr>
          <a:xfrm>
            <a:off x="7196352" y="4373270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516" name="compressor-title: 共享压缩器"/>
          <p:cNvSpPr txBox="1"/>
          <p:nvPr/>
        </p:nvSpPr>
        <p:spPr>
          <a:xfrm>
            <a:off x="7272867" y="4472432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517" name="compressor-detail: W 写数据"/>
          <p:cNvSpPr txBox="1"/>
          <p:nvPr/>
        </p:nvSpPr>
        <p:spPr>
          <a:xfrm>
            <a:off x="7352287" y="4595436"/>
            <a:ext cx="4507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518" name="badge-C16-text: C16"/>
          <p:cNvSpPr txBox="1"/>
          <p:nvPr/>
        </p:nvSpPr>
        <p:spPr>
          <a:xfrm>
            <a:off x="8102285" y="4373270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519" name="decompressor-title: 共享解压器"/>
          <p:cNvSpPr txBox="1"/>
          <p:nvPr/>
        </p:nvSpPr>
        <p:spPr>
          <a:xfrm>
            <a:off x="8178800" y="4472432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520" name="decompressor-detail: R 读数据"/>
          <p:cNvSpPr txBox="1"/>
          <p:nvPr/>
        </p:nvSpPr>
        <p:spPr>
          <a:xfrm>
            <a:off x="8267033" y="4595436"/>
            <a:ext cx="43313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521" name="plain-bypass-title: 普通数据旁路"/>
          <p:cNvSpPr txBox="1"/>
          <p:nvPr/>
        </p:nvSpPr>
        <p:spPr>
          <a:xfrm>
            <a:off x="9033933" y="4472432"/>
            <a:ext cx="7112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522" name="plain-bypass-detail: W / R 原样"/>
          <p:cNvSpPr txBox="1"/>
          <p:nvPr/>
        </p:nvSpPr>
        <p:spPr>
          <a:xfrm>
            <a:off x="9131647" y="4595436"/>
            <a:ext cx="5157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523" name="front-route-t0: 下游 AXI 路由 / R、B 响应匹配"/>
          <p:cNvSpPr txBox="1"/>
          <p:nvPr/>
        </p:nvSpPr>
        <p:spPr>
          <a:xfrm>
            <a:off x="7283945" y="5004816"/>
            <a:ext cx="148491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524" name="b-response-label: B"/>
          <p:cNvSpPr txBox="1"/>
          <p:nvPr/>
        </p:nvSpPr>
        <p:spPr>
          <a:xfrm>
            <a:off x="6250331" y="4132004"/>
            <a:ext cx="13160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525" name="badge-C11-text: C11"/>
          <p:cNvSpPr txBox="1"/>
          <p:nvPr/>
        </p:nvSpPr>
        <p:spPr>
          <a:xfrm>
            <a:off x="10928458" y="4102337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526" name="roi-scheduler-title: ROI 任务表"/>
          <p:cNvSpPr txBox="1"/>
          <p:nvPr/>
        </p:nvSpPr>
        <p:spPr>
          <a:xfrm>
            <a:off x="10405300" y="4198112"/>
            <a:ext cx="593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527" name="roi-scheduler-detail: 顺序调度"/>
          <p:cNvSpPr txBox="1"/>
          <p:nvPr/>
        </p:nvSpPr>
        <p:spPr>
          <a:xfrm>
            <a:off x="10481733" y="4314342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528" name="badge-C13-text: C13"/>
          <p:cNvSpPr txBox="1"/>
          <p:nvPr/>
        </p:nvSpPr>
        <p:spPr>
          <a:xfrm>
            <a:off x="10928458" y="4491804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529" name="roi-vdma-title: 帧输出 VDMA"/>
          <p:cNvSpPr txBox="1"/>
          <p:nvPr/>
        </p:nvSpPr>
        <p:spPr>
          <a:xfrm>
            <a:off x="10351476" y="4587579"/>
            <a:ext cx="70078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VDMA</a:t>
            </a:r>
          </a:p>
        </p:txBody>
      </p:sp>
      <p:sp>
        <p:nvSpPr>
          <p:cNvPr id="530" name="roi-vdma-detail: 二维 AXI 读"/>
          <p:cNvSpPr txBox="1"/>
          <p:nvPr/>
        </p:nvSpPr>
        <p:spPr>
          <a:xfrm>
            <a:off x="10439553" y="4703809"/>
            <a:ext cx="52462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531" name="roi-fifo-t0: 像素整理"/>
          <p:cNvSpPr txBox="1"/>
          <p:nvPr/>
        </p:nvSpPr>
        <p:spPr>
          <a:xfrm>
            <a:off x="10447867" y="4875784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532" name="roi-fifo-t1: 输出 FIFO"/>
          <p:cNvSpPr txBox="1"/>
          <p:nvPr/>
        </p:nvSpPr>
        <p:spPr>
          <a:xfrm>
            <a:off x="10473904" y="4999601"/>
            <a:ext cx="45592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533" name="badge-C14-text: C14"/>
          <p:cNvSpPr txBox="1"/>
          <p:nvPr/>
        </p:nvSpPr>
        <p:spPr>
          <a:xfrm>
            <a:off x="10928458" y="5186070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534" name="lvds-tx-title: LVDS TX"/>
          <p:cNvSpPr txBox="1"/>
          <p:nvPr/>
        </p:nvSpPr>
        <p:spPr>
          <a:xfrm>
            <a:off x="10464287" y="5281845"/>
            <a:ext cx="47516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535" name="lvds-tx-detail: 子图帧行封装"/>
          <p:cNvSpPr txBox="1"/>
          <p:nvPr/>
        </p:nvSpPr>
        <p:spPr>
          <a:xfrm>
            <a:off x="10393680" y="5398076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536" name="legend-data-text: AXI 请求方向"/>
          <p:cNvSpPr txBox="1"/>
          <p:nvPr/>
        </p:nvSpPr>
        <p:spPr>
          <a:xfrm>
            <a:off x="10476460" y="2377169"/>
            <a:ext cx="5862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537" name="legend-gb-text: GB 局部读写"/>
          <p:cNvSpPr txBox="1"/>
          <p:nvPr/>
        </p:nvSpPr>
        <p:spPr>
          <a:xfrm>
            <a:off x="10479984" y="2604076"/>
            <a:ext cx="57923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538" name="legend-pixel-text: 像素流"/>
          <p:cNvSpPr txBox="1"/>
          <p:nvPr/>
        </p:nvSpPr>
        <p:spPr>
          <a:xfrm>
            <a:off x="10593493" y="2830982"/>
            <a:ext cx="3522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539" name="legend-cfg-text: 配置 / 控制"/>
          <p:cNvSpPr txBox="1"/>
          <p:nvPr/>
        </p:nvSpPr>
        <p:spPr>
          <a:xfrm>
            <a:off x="10500193" y="3057889"/>
            <a:ext cx="5388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540" name="legend-optional-text: eMMC 接口"/>
          <p:cNvSpPr txBox="1"/>
          <p:nvPr/>
        </p:nvSpPr>
        <p:spPr>
          <a:xfrm>
            <a:off x="10501180" y="3284796"/>
            <a:ext cx="53684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541" name="legend-return: AXI 响应：沿原接口返回"/>
          <p:cNvSpPr txBox="1"/>
          <p:nvPr/>
        </p:nvSpPr>
        <p:spPr>
          <a:xfrm>
            <a:off x="10228077" y="3474991"/>
            <a:ext cx="947579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响应：沿原接口返回</a:t>
            </a:r>
          </a:p>
        </p:txBody>
      </p:sp>
      <p:sp>
        <p:nvSpPr>
          <p:cNvPr id="542" name="legend-status: 虚线框：规划 / 可选"/>
          <p:cNvSpPr txBox="1"/>
          <p:nvPr/>
        </p:nvSpPr>
        <p:spPr>
          <a:xfrm>
            <a:off x="10290625" y="3586751"/>
            <a:ext cx="82248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虚线框：规划 / 可选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1002" name="soc-boundary"/>
          <p:cNvSpPr/>
          <p:nvPr/>
        </p:nvSpPr>
        <p:spPr>
          <a:xfrm>
            <a:off x="71967" y="603149"/>
            <a:ext cx="11260667" cy="6180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3" name="compute"/>
          <p:cNvSpPr/>
          <p:nvPr/>
        </p:nvSpPr>
        <p:spPr>
          <a:xfrm>
            <a:off x="241300" y="738616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4" name="gb-region"/>
          <p:cNvSpPr/>
          <p:nvPr/>
        </p:nvSpPr>
        <p:spPr>
          <a:xfrm>
            <a:off x="3594100" y="738616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5" name="image-rx"/>
          <p:cNvSpPr/>
          <p:nvPr/>
        </p:nvSpPr>
        <p:spPr>
          <a:xfrm>
            <a:off x="7607300" y="738616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6" name="reg-region"/>
          <p:cNvSpPr/>
          <p:nvPr/>
        </p:nvSpPr>
        <p:spPr>
          <a:xfrm>
            <a:off x="173567" y="4311549"/>
            <a:ext cx="5825067" cy="1513840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7" name="ddr-controller"/>
          <p:cNvSpPr/>
          <p:nvPr/>
        </p:nvSpPr>
        <p:spPr>
          <a:xfrm>
            <a:off x="6129867" y="5835549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8" name="roi-region"/>
          <p:cNvSpPr/>
          <p:nvPr/>
        </p:nvSpPr>
        <p:spPr>
          <a:xfrm>
            <a:off x="10160000" y="4311549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9" name="compression-front"/>
          <p:cNvSpPr/>
          <p:nvPr/>
        </p:nvSpPr>
        <p:spPr>
          <a:xfrm>
            <a:off x="6129867" y="4375896"/>
            <a:ext cx="3793067" cy="133434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0" name="shared-payload-services"/>
          <p:cNvSpPr/>
          <p:nvPr/>
        </p:nvSpPr>
        <p:spPr>
          <a:xfrm>
            <a:off x="7095067" y="4768749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1" name="cpu-ara-command"/>
          <p:cNvSpPr/>
          <p:nvPr/>
        </p:nvSpPr>
        <p:spPr>
          <a:xfrm>
            <a:off x="1172633" y="12127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2" name="ara-filter-edge"/>
          <p:cNvSpPr/>
          <p:nvPr/>
        </p:nvSpPr>
        <p:spPr>
          <a:xfrm>
            <a:off x="1731433" y="1432882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3" name="filter-width"/>
          <p:cNvSpPr/>
          <p:nvPr/>
        </p:nvSpPr>
        <p:spPr>
          <a:xfrm>
            <a:off x="2053167" y="1730909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4" name="npu-gb"/>
          <p:cNvSpPr/>
          <p:nvPr/>
        </p:nvSpPr>
        <p:spPr>
          <a:xfrm>
            <a:off x="4593167" y="1382082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5" name="adapter-sram"/>
          <p:cNvSpPr/>
          <p:nvPr/>
        </p:nvSpPr>
        <p:spPr>
          <a:xfrm>
            <a:off x="5490633" y="14498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6" name="mover-gb"/>
          <p:cNvSpPr/>
          <p:nvPr/>
        </p:nvSpPr>
        <p:spPr>
          <a:xfrm>
            <a:off x="5490633" y="19070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7" name="lvds-rx-to-rx-cdc"/>
          <p:cNvSpPr/>
          <p:nvPr/>
        </p:nvSpPr>
        <p:spPr>
          <a:xfrm>
            <a:off x="82507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8" name="rx-cdc-to-isp"/>
          <p:cNvSpPr/>
          <p:nvPr/>
        </p:nvSpPr>
        <p:spPr>
          <a:xfrm>
            <a:off x="88942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9" name="isp-to-frame-select"/>
          <p:cNvSpPr/>
          <p:nvPr/>
        </p:nvSpPr>
        <p:spPr>
          <a:xfrm>
            <a:off x="95546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0" name="frame-select-to-frame-dma"/>
          <p:cNvSpPr/>
          <p:nvPr/>
        </p:nvSpPr>
        <p:spPr>
          <a:xfrm>
            <a:off x="10265833" y="1517549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1" name="raw-bypass"/>
          <p:cNvSpPr/>
          <p:nvPr/>
        </p:nvSpPr>
        <p:spPr>
          <a:xfrm>
            <a:off x="8623300" y="1060349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2" name="isp-gb"/>
          <p:cNvSpPr/>
          <p:nvPr/>
        </p:nvSpPr>
        <p:spPr>
          <a:xfrm>
            <a:off x="5101167" y="1703816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3" name="master-1"/>
          <p:cNvSpPr/>
          <p:nvPr/>
        </p:nvSpPr>
        <p:spPr>
          <a:xfrm>
            <a:off x="1838678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4" name="master-3"/>
          <p:cNvSpPr/>
          <p:nvPr/>
        </p:nvSpPr>
        <p:spPr>
          <a:xfrm>
            <a:off x="3968515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5" name="master-4"/>
          <p:cNvSpPr/>
          <p:nvPr/>
        </p:nvSpPr>
        <p:spPr>
          <a:xfrm>
            <a:off x="5033433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6" name="master-5"/>
          <p:cNvSpPr/>
          <p:nvPr/>
        </p:nvSpPr>
        <p:spPr>
          <a:xfrm>
            <a:off x="6098352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7" name="master-6"/>
          <p:cNvSpPr/>
          <p:nvPr/>
        </p:nvSpPr>
        <p:spPr>
          <a:xfrm>
            <a:off x="7163270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8" name="master-7"/>
          <p:cNvSpPr/>
          <p:nvPr/>
        </p:nvSpPr>
        <p:spPr>
          <a:xfrm>
            <a:off x="8228189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9" name="master-8"/>
          <p:cNvSpPr/>
          <p:nvPr/>
        </p:nvSpPr>
        <p:spPr>
          <a:xfrm>
            <a:off x="9293107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0" name="cpu-xbar"/>
          <p:cNvSpPr/>
          <p:nvPr/>
        </p:nvSpPr>
        <p:spPr>
          <a:xfrm>
            <a:off x="773759" y="1737682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1" name="ara-xbar"/>
          <p:cNvSpPr/>
          <p:nvPr/>
        </p:nvSpPr>
        <p:spPr>
          <a:xfrm>
            <a:off x="2903596" y="1876536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2" name="target-0"/>
          <p:cNvSpPr/>
          <p:nvPr/>
        </p:nvSpPr>
        <p:spPr>
          <a:xfrm>
            <a:off x="925890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3" name="target-1"/>
          <p:cNvSpPr/>
          <p:nvPr/>
        </p:nvSpPr>
        <p:spPr>
          <a:xfrm>
            <a:off x="2295071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4" name="target-2"/>
          <p:cNvSpPr/>
          <p:nvPr/>
        </p:nvSpPr>
        <p:spPr>
          <a:xfrm>
            <a:off x="3664252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5" name="atomics-llc"/>
          <p:cNvSpPr/>
          <p:nvPr/>
        </p:nvSpPr>
        <p:spPr>
          <a:xfrm>
            <a:off x="3647319" y="3928856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6" name="target-3"/>
          <p:cNvSpPr/>
          <p:nvPr/>
        </p:nvSpPr>
        <p:spPr>
          <a:xfrm>
            <a:off x="5033433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7" name="target-4"/>
          <p:cNvSpPr/>
          <p:nvPr/>
        </p:nvSpPr>
        <p:spPr>
          <a:xfrm>
            <a:off x="6402614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8" name="target-5"/>
          <p:cNvSpPr/>
          <p:nvPr/>
        </p:nvSpPr>
        <p:spPr>
          <a:xfrm>
            <a:off x="7771795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9" name="target-6"/>
          <p:cNvSpPr/>
          <p:nvPr/>
        </p:nvSpPr>
        <p:spPr>
          <a:xfrm>
            <a:off x="9140976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0" name="m5-gb"/>
          <p:cNvSpPr/>
          <p:nvPr/>
        </p:nvSpPr>
        <p:spPr>
          <a:xfrm>
            <a:off x="4910667" y="2059416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1" name="emmc-physical"/>
          <p:cNvSpPr/>
          <p:nvPr/>
        </p:nvSpPr>
        <p:spPr>
          <a:xfrm>
            <a:off x="8712482" y="2329220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2" name="bridge-regbus"/>
          <p:cNvSpPr/>
          <p:nvPr/>
        </p:nvSpPr>
        <p:spPr>
          <a:xfrm>
            <a:off x="2295071" y="4108349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3" name="reg-column-0"/>
          <p:cNvSpPr/>
          <p:nvPr/>
        </p:nvSpPr>
        <p:spPr>
          <a:xfrm>
            <a:off x="2853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4" name="bootrom-cfg"/>
          <p:cNvSpPr/>
          <p:nvPr/>
        </p:nvSpPr>
        <p:spPr>
          <a:xfrm>
            <a:off x="2853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5" name="uart-cfg"/>
          <p:cNvSpPr/>
          <p:nvPr/>
        </p:nvSpPr>
        <p:spPr>
          <a:xfrm>
            <a:off x="2853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6" name="vga-regs-cfg"/>
          <p:cNvSpPr/>
          <p:nvPr/>
        </p:nvSpPr>
        <p:spPr>
          <a:xfrm>
            <a:off x="2853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7" name="irq-router-cfg"/>
          <p:cNvSpPr/>
          <p:nvPr/>
        </p:nvSpPr>
        <p:spPr>
          <a:xfrm>
            <a:off x="2853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8" name="reg-column-1"/>
          <p:cNvSpPr/>
          <p:nvPr/>
        </p:nvSpPr>
        <p:spPr>
          <a:xfrm>
            <a:off x="14029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9" name="clint-cfg"/>
          <p:cNvSpPr/>
          <p:nvPr/>
        </p:nvSpPr>
        <p:spPr>
          <a:xfrm>
            <a:off x="14029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0" name="i2c-cfg"/>
          <p:cNvSpPr/>
          <p:nvPr/>
        </p:nvSpPr>
        <p:spPr>
          <a:xfrm>
            <a:off x="14029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1" name="usb-regs-cfg"/>
          <p:cNvSpPr/>
          <p:nvPr/>
        </p:nvSpPr>
        <p:spPr>
          <a:xfrm>
            <a:off x="14029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2" name="axi-rt-config-cfg"/>
          <p:cNvSpPr/>
          <p:nvPr/>
        </p:nvSpPr>
        <p:spPr>
          <a:xfrm>
            <a:off x="14029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3" name="reg-column-2"/>
          <p:cNvSpPr/>
          <p:nvPr/>
        </p:nvSpPr>
        <p:spPr>
          <a:xfrm>
            <a:off x="25205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4" name="soc-regs-cfg"/>
          <p:cNvSpPr/>
          <p:nvPr/>
        </p:nvSpPr>
        <p:spPr>
          <a:xfrm>
            <a:off x="25205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5" name="spi-cfg"/>
          <p:cNvSpPr/>
          <p:nvPr/>
        </p:nvSpPr>
        <p:spPr>
          <a:xfrm>
            <a:off x="25205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6" name="err-vga-cfg"/>
          <p:cNvSpPr/>
          <p:nvPr/>
        </p:nvSpPr>
        <p:spPr>
          <a:xfrm>
            <a:off x="25205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7" name="clic-cfg"/>
          <p:cNvSpPr/>
          <p:nvPr/>
        </p:nvSpPr>
        <p:spPr>
          <a:xfrm>
            <a:off x="25205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8" name="reg-column-3"/>
          <p:cNvSpPr/>
          <p:nvPr/>
        </p:nvSpPr>
        <p:spPr>
          <a:xfrm>
            <a:off x="36381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9" name="plic-cfg"/>
          <p:cNvSpPr/>
          <p:nvPr/>
        </p:nvSpPr>
        <p:spPr>
          <a:xfrm>
            <a:off x="36381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0" name="gpio-cfg"/>
          <p:cNvSpPr/>
          <p:nvPr/>
        </p:nvSpPr>
        <p:spPr>
          <a:xfrm>
            <a:off x="36381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1" name="err-dma-cfg"/>
          <p:cNvSpPr/>
          <p:nvPr/>
        </p:nvSpPr>
        <p:spPr>
          <a:xfrm>
            <a:off x="36381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2" name="reg-error-cfg"/>
          <p:cNvSpPr/>
          <p:nvPr/>
        </p:nvSpPr>
        <p:spPr>
          <a:xfrm>
            <a:off x="36381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3" name="reg-column-4"/>
          <p:cNvSpPr/>
          <p:nvPr/>
        </p:nvSpPr>
        <p:spPr>
          <a:xfrm>
            <a:off x="47557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4" name="llc-regs-cfg"/>
          <p:cNvSpPr/>
          <p:nvPr/>
        </p:nvSpPr>
        <p:spPr>
          <a:xfrm>
            <a:off x="47557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5" name="slink-regs-cfg"/>
          <p:cNvSpPr/>
          <p:nvPr/>
        </p:nvSpPr>
        <p:spPr>
          <a:xfrm>
            <a:off x="47557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6" name="err-cpu-cfg"/>
          <p:cNvSpPr/>
          <p:nvPr/>
        </p:nvSpPr>
        <p:spPr>
          <a:xfrm>
            <a:off x="47557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7" name="reg-ext-cfg"/>
          <p:cNvSpPr/>
          <p:nvPr/>
        </p:nvSpPr>
        <p:spPr>
          <a:xfrm>
            <a:off x="47557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8" name="ddr-arb-0"/>
          <p:cNvSpPr/>
          <p:nvPr/>
        </p:nvSpPr>
        <p:spPr>
          <a:xfrm>
            <a:off x="6604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9" name="ddr-arb-1"/>
          <p:cNvSpPr/>
          <p:nvPr/>
        </p:nvSpPr>
        <p:spPr>
          <a:xfrm>
            <a:off x="7535333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0" name="ddr-arb-2"/>
          <p:cNvSpPr/>
          <p:nvPr/>
        </p:nvSpPr>
        <p:spPr>
          <a:xfrm>
            <a:off x="8466667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1" name="ddr-arb-3"/>
          <p:cNvSpPr/>
          <p:nvPr/>
        </p:nvSpPr>
        <p:spPr>
          <a:xfrm>
            <a:off x="9398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2" name="arb-rw"/>
          <p:cNvSpPr/>
          <p:nvPr/>
        </p:nvSpPr>
        <p:spPr>
          <a:xfrm>
            <a:off x="7001933" y="6072616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3" name="rw-command"/>
          <p:cNvSpPr/>
          <p:nvPr/>
        </p:nvSpPr>
        <p:spPr>
          <a:xfrm>
            <a:off x="7806267" y="6191149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4" name="controller-phy"/>
          <p:cNvSpPr/>
          <p:nvPr/>
        </p:nvSpPr>
        <p:spPr>
          <a:xfrm>
            <a:off x="9855200" y="6191149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5" name="phy-ddr"/>
          <p:cNvSpPr/>
          <p:nvPr/>
        </p:nvSpPr>
        <p:spPr>
          <a:xfrm>
            <a:off x="11125200" y="6326616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6" name="roi-vdma-control"/>
          <p:cNvSpPr/>
          <p:nvPr/>
        </p:nvSpPr>
        <p:spPr>
          <a:xfrm>
            <a:off x="10701867" y="4971949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7" name="vdma-pixels"/>
          <p:cNvSpPr/>
          <p:nvPr/>
        </p:nvSpPr>
        <p:spPr>
          <a:xfrm>
            <a:off x="10701867" y="53614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8" name="fifo-lvds"/>
          <p:cNvSpPr/>
          <p:nvPr/>
        </p:nvSpPr>
        <p:spPr>
          <a:xfrm>
            <a:off x="10701867" y="56662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9" name="llc-f0"/>
          <p:cNvSpPr/>
          <p:nvPr/>
        </p:nvSpPr>
        <p:spPr>
          <a:xfrm>
            <a:off x="4019852" y="4071096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0" name="mover-f1"/>
          <p:cNvSpPr/>
          <p:nvPr/>
        </p:nvSpPr>
        <p:spPr>
          <a:xfrm>
            <a:off x="7336367" y="1907016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1" name="frame-f2"/>
          <p:cNvSpPr/>
          <p:nvPr/>
        </p:nvSpPr>
        <p:spPr>
          <a:xfrm>
            <a:off x="8466667" y="1686882"/>
            <a:ext cx="2727396" cy="2628053"/>
          </a:xfrm>
          <a:custGeom>
            <a:avLst/>
            <a:gdLst/>
            <a:ahLst/>
            <a:cxnLst/>
            <a:rect l="0" t="0" r="r" b="b"/>
            <a:pathLst>
              <a:path w="2727396" h="2628053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62805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2" name="roi-f3-request"/>
          <p:cNvSpPr/>
          <p:nvPr/>
        </p:nvSpPr>
        <p:spPr>
          <a:xfrm>
            <a:off x="9398000" y="4277682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3" name="front-input-0"/>
          <p:cNvSpPr/>
          <p:nvPr/>
        </p:nvSpPr>
        <p:spPr>
          <a:xfrm>
            <a:off x="6604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4" name="front-input-1"/>
          <p:cNvSpPr/>
          <p:nvPr/>
        </p:nvSpPr>
        <p:spPr>
          <a:xfrm>
            <a:off x="7535333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5" name="front-input-2"/>
          <p:cNvSpPr/>
          <p:nvPr/>
        </p:nvSpPr>
        <p:spPr>
          <a:xfrm>
            <a:off x="8466667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6" name="front-input-3"/>
          <p:cNvSpPr/>
          <p:nvPr/>
        </p:nvSpPr>
        <p:spPr>
          <a:xfrm>
            <a:off x="9398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7" name="adapt-address"/>
          <p:cNvSpPr/>
          <p:nvPr/>
        </p:nvSpPr>
        <p:spPr>
          <a:xfrm>
            <a:off x="6587067" y="4667149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8" name="address-downstream"/>
          <p:cNvSpPr/>
          <p:nvPr/>
        </p:nvSpPr>
        <p:spPr>
          <a:xfrm>
            <a:off x="6976533" y="4938082"/>
            <a:ext cx="40640" cy="552027"/>
          </a:xfrm>
          <a:custGeom>
            <a:avLst/>
            <a:gdLst/>
            <a:ahLst/>
            <a:cxnLst/>
            <a:rect l="0" t="0" r="r" b="b"/>
            <a:pathLst>
              <a:path w="40640" h="552027" fill="none">
                <a:moveTo>
                  <a:pt x="0" y="0"/>
                </a:moveTo>
                <a:lnTo>
                  <a:pt x="40640" y="0"/>
                </a:lnTo>
                <a:lnTo>
                  <a:pt x="40640" y="5520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9" name="b-response"/>
          <p:cNvSpPr/>
          <p:nvPr/>
        </p:nvSpPr>
        <p:spPr>
          <a:xfrm>
            <a:off x="6163733" y="4667149"/>
            <a:ext cx="84667" cy="907627"/>
          </a:xfrm>
          <a:custGeom>
            <a:avLst/>
            <a:gdLst/>
            <a:ahLst/>
            <a:cxnLst/>
            <a:rect l="0" t="0" r="r" b="b"/>
            <a:pathLst>
              <a:path w="84667" h="907627" fill="none">
                <a:moveTo>
                  <a:pt x="33867" y="907627"/>
                </a:moveTo>
                <a:lnTo>
                  <a:pt x="0" y="90762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0" name="metadata-control"/>
          <p:cNvSpPr/>
          <p:nvPr/>
        </p:nvSpPr>
        <p:spPr>
          <a:xfrm>
            <a:off x="6587067" y="5107416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1" name="metadata-storage"/>
          <p:cNvSpPr/>
          <p:nvPr/>
        </p:nvSpPr>
        <p:spPr>
          <a:xfrm>
            <a:off x="6587067" y="5378349"/>
            <a:ext cx="1" cy="111760"/>
          </a:xfrm>
          <a:custGeom>
            <a:avLst/>
            <a:gdLst/>
            <a:ahLst/>
            <a:cxnLst/>
            <a:rect l="0" t="0" r="r" b="b"/>
            <a:pathLst>
              <a:path w="1" h="111760" fill="none">
                <a:moveTo>
                  <a:pt x="0" y="0"/>
                </a:moveTo>
                <a:lnTo>
                  <a:pt x="0" y="11176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2" name="adapt-compressor"/>
          <p:cNvSpPr/>
          <p:nvPr/>
        </p:nvSpPr>
        <p:spPr>
          <a:xfrm>
            <a:off x="7577667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3" name="compressor-route"/>
          <p:cNvSpPr/>
          <p:nvPr/>
        </p:nvSpPr>
        <p:spPr>
          <a:xfrm>
            <a:off x="7577667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4" name="read-to-decoder"/>
          <p:cNvSpPr/>
          <p:nvPr/>
        </p:nvSpPr>
        <p:spPr>
          <a:xfrm>
            <a:off x="8483600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19642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5" name="decoder-up"/>
          <p:cNvSpPr/>
          <p:nvPr/>
        </p:nvSpPr>
        <p:spPr>
          <a:xfrm>
            <a:off x="8483600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6" name="adapt-plain-bypass"/>
          <p:cNvSpPr/>
          <p:nvPr/>
        </p:nvSpPr>
        <p:spPr>
          <a:xfrm>
            <a:off x="9389533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7" name="plain-bypass-route"/>
          <p:cNvSpPr/>
          <p:nvPr/>
        </p:nvSpPr>
        <p:spPr>
          <a:xfrm>
            <a:off x="9389533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8" name="front-ddr-0"/>
          <p:cNvSpPr/>
          <p:nvPr/>
        </p:nvSpPr>
        <p:spPr>
          <a:xfrm>
            <a:off x="6604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9" name="front-ddr-1"/>
          <p:cNvSpPr/>
          <p:nvPr/>
        </p:nvSpPr>
        <p:spPr>
          <a:xfrm>
            <a:off x="7535333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0" name="front-ddr-2"/>
          <p:cNvSpPr/>
          <p:nvPr/>
        </p:nvSpPr>
        <p:spPr>
          <a:xfrm>
            <a:off x="8466667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1" name="front-ddr-3"/>
          <p:cNvSpPr/>
          <p:nvPr/>
        </p:nvSpPr>
        <p:spPr>
          <a:xfrm>
            <a:off x="9398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2" name="regext-config"/>
          <p:cNvSpPr/>
          <p:nvPr/>
        </p:nvSpPr>
        <p:spPr>
          <a:xfrm>
            <a:off x="5846233" y="5659442"/>
            <a:ext cx="198967" cy="643805"/>
          </a:xfrm>
          <a:custGeom>
            <a:avLst/>
            <a:gdLst/>
            <a:ahLst/>
            <a:cxnLst/>
            <a:rect l="0" t="0" r="r" b="b"/>
            <a:pathLst>
              <a:path w="198967" h="643805" fill="none">
                <a:moveTo>
                  <a:pt x="0" y="0"/>
                </a:moveTo>
                <a:lnTo>
                  <a:pt x="198967" y="0"/>
                </a:lnTo>
                <a:lnTo>
                  <a:pt x="198967" y="643805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3" name="config-trunk-1"/>
          <p:cNvSpPr/>
          <p:nvPr/>
        </p:nvSpPr>
        <p:spPr>
          <a:xfrm>
            <a:off x="576157" y="5849096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4" name="cfg-C1"/>
          <p:cNvSpPr/>
          <p:nvPr/>
        </p:nvSpPr>
        <p:spPr>
          <a:xfrm>
            <a:off x="57615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5" name="cfg-C2"/>
          <p:cNvSpPr/>
          <p:nvPr/>
        </p:nvSpPr>
        <p:spPr>
          <a:xfrm>
            <a:off x="129328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6" name="cfg-C3"/>
          <p:cNvSpPr/>
          <p:nvPr/>
        </p:nvSpPr>
        <p:spPr>
          <a:xfrm>
            <a:off x="201041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7" name="cfg-C4"/>
          <p:cNvSpPr/>
          <p:nvPr/>
        </p:nvSpPr>
        <p:spPr>
          <a:xfrm>
            <a:off x="272753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8" name="cfg-C5"/>
          <p:cNvSpPr/>
          <p:nvPr/>
        </p:nvSpPr>
        <p:spPr>
          <a:xfrm>
            <a:off x="344466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9" name="cfg-C6"/>
          <p:cNvSpPr/>
          <p:nvPr/>
        </p:nvSpPr>
        <p:spPr>
          <a:xfrm>
            <a:off x="416179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0" name="cfg-C7"/>
          <p:cNvSpPr/>
          <p:nvPr/>
        </p:nvSpPr>
        <p:spPr>
          <a:xfrm>
            <a:off x="487891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1" name="cfg-C8"/>
          <p:cNvSpPr/>
          <p:nvPr/>
        </p:nvSpPr>
        <p:spPr>
          <a:xfrm>
            <a:off x="559604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2" name="config-trunk-2"/>
          <p:cNvSpPr/>
          <p:nvPr/>
        </p:nvSpPr>
        <p:spPr>
          <a:xfrm>
            <a:off x="576157" y="6303248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3" name="cfg-C9"/>
          <p:cNvSpPr/>
          <p:nvPr/>
        </p:nvSpPr>
        <p:spPr>
          <a:xfrm>
            <a:off x="57615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4" name="cfg-C10"/>
          <p:cNvSpPr/>
          <p:nvPr/>
        </p:nvSpPr>
        <p:spPr>
          <a:xfrm>
            <a:off x="129328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5" name="cfg-C11"/>
          <p:cNvSpPr/>
          <p:nvPr/>
        </p:nvSpPr>
        <p:spPr>
          <a:xfrm>
            <a:off x="201041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6" name="cfg-C12"/>
          <p:cNvSpPr/>
          <p:nvPr/>
        </p:nvSpPr>
        <p:spPr>
          <a:xfrm>
            <a:off x="272753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7" name="cfg-C13"/>
          <p:cNvSpPr/>
          <p:nvPr/>
        </p:nvSpPr>
        <p:spPr>
          <a:xfrm>
            <a:off x="344466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8" name="cfg-C14"/>
          <p:cNvSpPr/>
          <p:nvPr/>
        </p:nvSpPr>
        <p:spPr>
          <a:xfrm>
            <a:off x="416179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9" name="cfg-C15"/>
          <p:cNvSpPr/>
          <p:nvPr/>
        </p:nvSpPr>
        <p:spPr>
          <a:xfrm>
            <a:off x="487891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0" name="cfg-C16"/>
          <p:cNvSpPr/>
          <p:nvPr/>
        </p:nvSpPr>
        <p:spPr>
          <a:xfrm>
            <a:off x="559604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1" name="legend-axi-interface"/>
          <p:cNvSpPr/>
          <p:nvPr/>
        </p:nvSpPr>
        <p:spPr>
          <a:xfrm>
            <a:off x="10193867" y="29399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2" name="legend-axi-request"/>
          <p:cNvSpPr/>
          <p:nvPr/>
        </p:nvSpPr>
        <p:spPr>
          <a:xfrm>
            <a:off x="10193867" y="314653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3" name="legend-gb"/>
          <p:cNvSpPr/>
          <p:nvPr/>
        </p:nvSpPr>
        <p:spPr>
          <a:xfrm>
            <a:off x="10193867" y="335312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4" name="legend-pixel"/>
          <p:cNvSpPr/>
          <p:nvPr/>
        </p:nvSpPr>
        <p:spPr>
          <a:xfrm>
            <a:off x="10193867" y="355970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5" name="legend-cfg"/>
          <p:cNvSpPr/>
          <p:nvPr/>
        </p:nvSpPr>
        <p:spPr>
          <a:xfrm>
            <a:off x="10193867" y="376629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6" name="legend-optional"/>
          <p:cNvSpPr/>
          <p:nvPr/>
        </p:nvSpPr>
        <p:spPr>
          <a:xfrm>
            <a:off x="10193867" y="397288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7" name="junction-84.25-1407.0951771653542"/>
          <p:cNvSpPr/>
          <p:nvPr/>
        </p:nvSpPr>
        <p:spPr>
          <a:xfrm>
            <a:off x="2683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8" name="junction-84.25-1495.0951771653542"/>
          <p:cNvSpPr/>
          <p:nvPr/>
        </p:nvSpPr>
        <p:spPr>
          <a:xfrm>
            <a:off x="2683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9" name="junction-84.25-1583.0951771653542"/>
          <p:cNvSpPr/>
          <p:nvPr/>
        </p:nvSpPr>
        <p:spPr>
          <a:xfrm>
            <a:off x="2683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0" name="junction-84.25-1671.0951771653542"/>
          <p:cNvSpPr/>
          <p:nvPr/>
        </p:nvSpPr>
        <p:spPr>
          <a:xfrm>
            <a:off x="2683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1" name="junction-414.25-1407.0951771653542"/>
          <p:cNvSpPr/>
          <p:nvPr/>
        </p:nvSpPr>
        <p:spPr>
          <a:xfrm>
            <a:off x="13859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2" name="junction-414.25-1495.0951771653542"/>
          <p:cNvSpPr/>
          <p:nvPr/>
        </p:nvSpPr>
        <p:spPr>
          <a:xfrm>
            <a:off x="13859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3" name="junction-414.25-1583.0951771653542"/>
          <p:cNvSpPr/>
          <p:nvPr/>
        </p:nvSpPr>
        <p:spPr>
          <a:xfrm>
            <a:off x="13859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4" name="junction-414.25-1671.0951771653542"/>
          <p:cNvSpPr/>
          <p:nvPr/>
        </p:nvSpPr>
        <p:spPr>
          <a:xfrm>
            <a:off x="13859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5" name="junction-744.25-1407.0951771653542"/>
          <p:cNvSpPr/>
          <p:nvPr/>
        </p:nvSpPr>
        <p:spPr>
          <a:xfrm>
            <a:off x="25035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6" name="junction-744.25-1495.0951771653542"/>
          <p:cNvSpPr/>
          <p:nvPr/>
        </p:nvSpPr>
        <p:spPr>
          <a:xfrm>
            <a:off x="25035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7" name="junction-744.25-1583.0951771653542"/>
          <p:cNvSpPr/>
          <p:nvPr/>
        </p:nvSpPr>
        <p:spPr>
          <a:xfrm>
            <a:off x="25035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8" name="junction-744.25-1671.0951771653542"/>
          <p:cNvSpPr/>
          <p:nvPr/>
        </p:nvSpPr>
        <p:spPr>
          <a:xfrm>
            <a:off x="25035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9" name="junction-1074.25-1407.0951771653542"/>
          <p:cNvSpPr/>
          <p:nvPr/>
        </p:nvSpPr>
        <p:spPr>
          <a:xfrm>
            <a:off x="36211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0" name="junction-1074.25-1495.0951771653542"/>
          <p:cNvSpPr/>
          <p:nvPr/>
        </p:nvSpPr>
        <p:spPr>
          <a:xfrm>
            <a:off x="36211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1" name="junction-1074.25-1583.0951771653542"/>
          <p:cNvSpPr/>
          <p:nvPr/>
        </p:nvSpPr>
        <p:spPr>
          <a:xfrm>
            <a:off x="36211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2" name="junction-1074.25-1671.0951771653542"/>
          <p:cNvSpPr/>
          <p:nvPr/>
        </p:nvSpPr>
        <p:spPr>
          <a:xfrm>
            <a:off x="36211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3" name="junction-1404.25-1407.0951771653542"/>
          <p:cNvSpPr/>
          <p:nvPr/>
        </p:nvSpPr>
        <p:spPr>
          <a:xfrm>
            <a:off x="47387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4" name="junction-1404.25-1495.0951771653542"/>
          <p:cNvSpPr/>
          <p:nvPr/>
        </p:nvSpPr>
        <p:spPr>
          <a:xfrm>
            <a:off x="47387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5" name="junction-1404.25-1583.0951771653542"/>
          <p:cNvSpPr/>
          <p:nvPr/>
        </p:nvSpPr>
        <p:spPr>
          <a:xfrm>
            <a:off x="47387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6" name="junction-1404.25-1671.0951771653542"/>
          <p:cNvSpPr/>
          <p:nvPr/>
        </p:nvSpPr>
        <p:spPr>
          <a:xfrm>
            <a:off x="47387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7" name="junction-1785-1727.0951771653542"/>
          <p:cNvSpPr/>
          <p:nvPr/>
        </p:nvSpPr>
        <p:spPr>
          <a:xfrm>
            <a:off x="602826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8" name="junction-170.125-1727.0951771653542"/>
          <p:cNvSpPr/>
          <p:nvPr/>
        </p:nvSpPr>
        <p:spPr>
          <a:xfrm>
            <a:off x="55922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9" name="junction-381.875-1727.0951771653542"/>
          <p:cNvSpPr/>
          <p:nvPr/>
        </p:nvSpPr>
        <p:spPr>
          <a:xfrm>
            <a:off x="127635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0" name="junction-593.625-1727.0951771653542"/>
          <p:cNvSpPr/>
          <p:nvPr/>
        </p:nvSpPr>
        <p:spPr>
          <a:xfrm>
            <a:off x="199347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1" name="junction-805.375-1727.0951771653542"/>
          <p:cNvSpPr/>
          <p:nvPr/>
        </p:nvSpPr>
        <p:spPr>
          <a:xfrm>
            <a:off x="271060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2" name="junction-1017.125-1727.0951771653542"/>
          <p:cNvSpPr/>
          <p:nvPr/>
        </p:nvSpPr>
        <p:spPr>
          <a:xfrm>
            <a:off x="342773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3" name="junction-1228.875-1727.0951771653542"/>
          <p:cNvSpPr/>
          <p:nvPr/>
        </p:nvSpPr>
        <p:spPr>
          <a:xfrm>
            <a:off x="414485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4" name="junction-1440.625-1727.0951771653542"/>
          <p:cNvSpPr/>
          <p:nvPr/>
        </p:nvSpPr>
        <p:spPr>
          <a:xfrm>
            <a:off x="486198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5" name="junction-1652.375-1727.0951771653542"/>
          <p:cNvSpPr/>
          <p:nvPr/>
        </p:nvSpPr>
        <p:spPr>
          <a:xfrm>
            <a:off x="557911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6" name="junction-1785-1861.1951771653542"/>
          <p:cNvSpPr/>
          <p:nvPr/>
        </p:nvSpPr>
        <p:spPr>
          <a:xfrm>
            <a:off x="602826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7" name="junction-170.125-1861.1951771653542"/>
          <p:cNvSpPr/>
          <p:nvPr/>
        </p:nvSpPr>
        <p:spPr>
          <a:xfrm>
            <a:off x="55922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8" name="junction-381.875-1861.1951771653542"/>
          <p:cNvSpPr/>
          <p:nvPr/>
        </p:nvSpPr>
        <p:spPr>
          <a:xfrm>
            <a:off x="127635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9" name="junction-593.625-1861.1951771653542"/>
          <p:cNvSpPr/>
          <p:nvPr/>
        </p:nvSpPr>
        <p:spPr>
          <a:xfrm>
            <a:off x="199347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0" name="junction-805.375-1861.1951771653542"/>
          <p:cNvSpPr/>
          <p:nvPr/>
        </p:nvSpPr>
        <p:spPr>
          <a:xfrm>
            <a:off x="271060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1" name="junction-1017.125-1861.1951771653542"/>
          <p:cNvSpPr/>
          <p:nvPr/>
        </p:nvSpPr>
        <p:spPr>
          <a:xfrm>
            <a:off x="342773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2" name="junction-1228.875-1861.1951771653542"/>
          <p:cNvSpPr/>
          <p:nvPr/>
        </p:nvSpPr>
        <p:spPr>
          <a:xfrm>
            <a:off x="414485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3" name="junction-1440.625-1861.1951771653542"/>
          <p:cNvSpPr/>
          <p:nvPr/>
        </p:nvSpPr>
        <p:spPr>
          <a:xfrm>
            <a:off x="486198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4" name="junction-1652.375-1861.1951771653542"/>
          <p:cNvSpPr/>
          <p:nvPr/>
        </p:nvSpPr>
        <p:spPr>
          <a:xfrm>
            <a:off x="557911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5" name="cva6"/>
          <p:cNvSpPr/>
          <p:nvPr/>
        </p:nvSpPr>
        <p:spPr>
          <a:xfrm>
            <a:off x="325967" y="1009549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6" name="ara"/>
          <p:cNvSpPr/>
          <p:nvPr/>
        </p:nvSpPr>
        <p:spPr>
          <a:xfrm>
            <a:off x="1341967" y="1009549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7" name="ara-filter"/>
          <p:cNvSpPr/>
          <p:nvPr/>
        </p:nvSpPr>
        <p:spPr>
          <a:xfrm>
            <a:off x="1409700" y="1585282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8" name="ara-width"/>
          <p:cNvSpPr/>
          <p:nvPr/>
        </p:nvSpPr>
        <p:spPr>
          <a:xfrm>
            <a:off x="2798233" y="1585282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9" name="npu"/>
          <p:cNvSpPr/>
          <p:nvPr/>
        </p:nvSpPr>
        <p:spPr>
          <a:xfrm>
            <a:off x="3678767" y="1009549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0" name="badge-C6"/>
          <p:cNvSpPr/>
          <p:nvPr/>
        </p:nvSpPr>
        <p:spPr>
          <a:xfrm>
            <a:off x="4389967" y="145997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1" name="gb-adapter"/>
          <p:cNvSpPr/>
          <p:nvPr/>
        </p:nvSpPr>
        <p:spPr>
          <a:xfrm>
            <a:off x="4711700" y="1263549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2" name="global-buffer"/>
          <p:cNvSpPr/>
          <p:nvPr/>
        </p:nvSpPr>
        <p:spPr>
          <a:xfrm>
            <a:off x="5626100" y="1009549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3" name="badge-C9"/>
          <p:cNvSpPr/>
          <p:nvPr/>
        </p:nvSpPr>
        <p:spPr>
          <a:xfrm>
            <a:off x="7133167" y="144981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4" name="gb-mover"/>
          <p:cNvSpPr/>
          <p:nvPr/>
        </p:nvSpPr>
        <p:spPr>
          <a:xfrm>
            <a:off x="5626100" y="1703816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5" name="badge-C7"/>
          <p:cNvSpPr/>
          <p:nvPr/>
        </p:nvSpPr>
        <p:spPr>
          <a:xfrm>
            <a:off x="7133167" y="198152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6" name="lvds-rx"/>
          <p:cNvSpPr/>
          <p:nvPr/>
        </p:nvSpPr>
        <p:spPr>
          <a:xfrm>
            <a:off x="7691967" y="1212749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7" name="rx-cdc"/>
          <p:cNvSpPr/>
          <p:nvPr/>
        </p:nvSpPr>
        <p:spPr>
          <a:xfrm>
            <a:off x="8352367" y="1212749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8" name="isp"/>
          <p:cNvSpPr/>
          <p:nvPr/>
        </p:nvSpPr>
        <p:spPr>
          <a:xfrm>
            <a:off x="8995833" y="1212749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9" name="frame-select"/>
          <p:cNvSpPr/>
          <p:nvPr/>
        </p:nvSpPr>
        <p:spPr>
          <a:xfrm>
            <a:off x="9656233" y="1212749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0" name="frame-dma"/>
          <p:cNvSpPr/>
          <p:nvPr/>
        </p:nvSpPr>
        <p:spPr>
          <a:xfrm>
            <a:off x="10384367" y="1212749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1" name="badge-C4"/>
          <p:cNvSpPr/>
          <p:nvPr/>
        </p:nvSpPr>
        <p:spPr>
          <a:xfrm>
            <a:off x="8047567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2" name="badge-C5"/>
          <p:cNvSpPr/>
          <p:nvPr/>
        </p:nvSpPr>
        <p:spPr>
          <a:xfrm>
            <a:off x="9351433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3" name="badge-C8"/>
          <p:cNvSpPr/>
          <p:nvPr/>
        </p:nvSpPr>
        <p:spPr>
          <a:xfrm>
            <a:off x="10909300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4" name="axi-crossbar"/>
          <p:cNvSpPr/>
          <p:nvPr/>
        </p:nvSpPr>
        <p:spPr>
          <a:xfrm>
            <a:off x="241300" y="2906082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5" name="xbar-in-S0"/>
          <p:cNvSpPr/>
          <p:nvPr/>
        </p:nvSpPr>
        <p:spPr>
          <a:xfrm>
            <a:off x="61119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6" name="xbar-in-S1"/>
          <p:cNvSpPr/>
          <p:nvPr/>
        </p:nvSpPr>
        <p:spPr>
          <a:xfrm>
            <a:off x="1676118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7" name="xbar-in-S2"/>
          <p:cNvSpPr/>
          <p:nvPr/>
        </p:nvSpPr>
        <p:spPr>
          <a:xfrm>
            <a:off x="2741036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8" name="xbar-in-S3"/>
          <p:cNvSpPr/>
          <p:nvPr/>
        </p:nvSpPr>
        <p:spPr>
          <a:xfrm>
            <a:off x="3805955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9" name="xbar-in-S4"/>
          <p:cNvSpPr/>
          <p:nvPr/>
        </p:nvSpPr>
        <p:spPr>
          <a:xfrm>
            <a:off x="4870873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0" name="xbar-in-S5"/>
          <p:cNvSpPr/>
          <p:nvPr/>
        </p:nvSpPr>
        <p:spPr>
          <a:xfrm>
            <a:off x="5935792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1" name="xbar-in-S6"/>
          <p:cNvSpPr/>
          <p:nvPr/>
        </p:nvSpPr>
        <p:spPr>
          <a:xfrm>
            <a:off x="7000710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2" name="xbar-in-S7"/>
          <p:cNvSpPr/>
          <p:nvPr/>
        </p:nvSpPr>
        <p:spPr>
          <a:xfrm>
            <a:off x="806562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3" name="xbar-in-S_EXT"/>
          <p:cNvSpPr/>
          <p:nvPr/>
        </p:nvSpPr>
        <p:spPr>
          <a:xfrm>
            <a:off x="9130547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4" name="debug-sba"/>
          <p:cNvSpPr/>
          <p:nvPr/>
        </p:nvSpPr>
        <p:spPr>
          <a:xfrm>
            <a:off x="1354384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5" name="idma-master"/>
          <p:cNvSpPr/>
          <p:nvPr/>
        </p:nvSpPr>
        <p:spPr>
          <a:xfrm>
            <a:off x="3484221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6" name="slink-rx"/>
          <p:cNvSpPr/>
          <p:nvPr/>
        </p:nvSpPr>
        <p:spPr>
          <a:xfrm>
            <a:off x="4549140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7" name="vga"/>
          <p:cNvSpPr/>
          <p:nvPr/>
        </p:nvSpPr>
        <p:spPr>
          <a:xfrm>
            <a:off x="5614059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8" name="usb-dma"/>
          <p:cNvSpPr/>
          <p:nvPr/>
        </p:nvSpPr>
        <p:spPr>
          <a:xfrm>
            <a:off x="6678977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9" name="emmc-host"/>
          <p:cNvSpPr/>
          <p:nvPr/>
        </p:nvSpPr>
        <p:spPr>
          <a:xfrm>
            <a:off x="7743896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0" name="ext-master"/>
          <p:cNvSpPr/>
          <p:nvPr/>
        </p:nvSpPr>
        <p:spPr>
          <a:xfrm>
            <a:off x="8808814" y="2415016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1" name="badge-C10"/>
          <p:cNvSpPr/>
          <p:nvPr/>
        </p:nvSpPr>
        <p:spPr>
          <a:xfrm>
            <a:off x="8505896" y="26486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2" name="xbar-out-M0"/>
          <p:cNvSpPr/>
          <p:nvPr/>
        </p:nvSpPr>
        <p:spPr>
          <a:xfrm>
            <a:off x="763330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3" name="debug-target"/>
          <p:cNvSpPr/>
          <p:nvPr/>
        </p:nvSpPr>
        <p:spPr>
          <a:xfrm>
            <a:off x="316290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4" name="xbar-out-M1"/>
          <p:cNvSpPr/>
          <p:nvPr/>
        </p:nvSpPr>
        <p:spPr>
          <a:xfrm>
            <a:off x="2132511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5" name="reg-bridge"/>
          <p:cNvSpPr/>
          <p:nvPr/>
        </p:nvSpPr>
        <p:spPr>
          <a:xfrm>
            <a:off x="1685471" y="3583416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6" name="xbar-out-M2"/>
          <p:cNvSpPr/>
          <p:nvPr/>
        </p:nvSpPr>
        <p:spPr>
          <a:xfrm>
            <a:off x="3501692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7" name="memory-target"/>
          <p:cNvSpPr/>
          <p:nvPr/>
        </p:nvSpPr>
        <p:spPr>
          <a:xfrm>
            <a:off x="2986919" y="3583416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8" name="atomics"/>
          <p:cNvSpPr/>
          <p:nvPr/>
        </p:nvSpPr>
        <p:spPr>
          <a:xfrm>
            <a:off x="3020786" y="3786616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9" name="llc-spm"/>
          <p:cNvSpPr/>
          <p:nvPr/>
        </p:nvSpPr>
        <p:spPr>
          <a:xfrm>
            <a:off x="3731986" y="3786616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0" name="xbar-out-M3"/>
          <p:cNvSpPr/>
          <p:nvPr/>
        </p:nvSpPr>
        <p:spPr>
          <a:xfrm>
            <a:off x="4870873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1" name="idma-config"/>
          <p:cNvSpPr/>
          <p:nvPr/>
        </p:nvSpPr>
        <p:spPr>
          <a:xfrm>
            <a:off x="4423833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2" name="xbar-out-M4"/>
          <p:cNvSpPr/>
          <p:nvPr/>
        </p:nvSpPr>
        <p:spPr>
          <a:xfrm>
            <a:off x="6240054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3" name="slink-tx"/>
          <p:cNvSpPr/>
          <p:nvPr/>
        </p:nvSpPr>
        <p:spPr>
          <a:xfrm>
            <a:off x="5793014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4" name="xbar-out-M5"/>
          <p:cNvSpPr/>
          <p:nvPr/>
        </p:nvSpPr>
        <p:spPr>
          <a:xfrm>
            <a:off x="7609235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5" name="gb-interface"/>
          <p:cNvSpPr/>
          <p:nvPr/>
        </p:nvSpPr>
        <p:spPr>
          <a:xfrm>
            <a:off x="7162195" y="3583416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6" name="xbar-out-M_EXT"/>
          <p:cNvSpPr/>
          <p:nvPr/>
        </p:nvSpPr>
        <p:spPr>
          <a:xfrm>
            <a:off x="8978416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7" name="ext-target"/>
          <p:cNvSpPr/>
          <p:nvPr/>
        </p:nvSpPr>
        <p:spPr>
          <a:xfrm>
            <a:off x="8531376" y="3583416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8" name="emmc-device"/>
          <p:cNvSpPr/>
          <p:nvPr/>
        </p:nvSpPr>
        <p:spPr>
          <a:xfrm>
            <a:off x="11413067" y="2415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9" name="regbus"/>
          <p:cNvSpPr/>
          <p:nvPr/>
        </p:nvSpPr>
        <p:spPr>
          <a:xfrm>
            <a:off x="241300" y="4379282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0" name="bootrom"/>
          <p:cNvSpPr/>
          <p:nvPr/>
        </p:nvSpPr>
        <p:spPr>
          <a:xfrm>
            <a:off x="3598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1" name="uart"/>
          <p:cNvSpPr/>
          <p:nvPr/>
        </p:nvSpPr>
        <p:spPr>
          <a:xfrm>
            <a:off x="3598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2" name="vga-regs"/>
          <p:cNvSpPr/>
          <p:nvPr/>
        </p:nvSpPr>
        <p:spPr>
          <a:xfrm>
            <a:off x="3598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3" name="irq-router"/>
          <p:cNvSpPr/>
          <p:nvPr/>
        </p:nvSpPr>
        <p:spPr>
          <a:xfrm>
            <a:off x="3598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4" name="clint"/>
          <p:cNvSpPr/>
          <p:nvPr/>
        </p:nvSpPr>
        <p:spPr>
          <a:xfrm>
            <a:off x="14774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5" name="i2c"/>
          <p:cNvSpPr/>
          <p:nvPr/>
        </p:nvSpPr>
        <p:spPr>
          <a:xfrm>
            <a:off x="14774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6" name="usb-regs"/>
          <p:cNvSpPr/>
          <p:nvPr/>
        </p:nvSpPr>
        <p:spPr>
          <a:xfrm>
            <a:off x="14774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7" name="axi-rt-config"/>
          <p:cNvSpPr/>
          <p:nvPr/>
        </p:nvSpPr>
        <p:spPr>
          <a:xfrm>
            <a:off x="14774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8" name="soc-regs"/>
          <p:cNvSpPr/>
          <p:nvPr/>
        </p:nvSpPr>
        <p:spPr>
          <a:xfrm>
            <a:off x="25950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9" name="spi"/>
          <p:cNvSpPr/>
          <p:nvPr/>
        </p:nvSpPr>
        <p:spPr>
          <a:xfrm>
            <a:off x="25950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0" name="err-vga"/>
          <p:cNvSpPr/>
          <p:nvPr/>
        </p:nvSpPr>
        <p:spPr>
          <a:xfrm>
            <a:off x="25950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1" name="clic"/>
          <p:cNvSpPr/>
          <p:nvPr/>
        </p:nvSpPr>
        <p:spPr>
          <a:xfrm>
            <a:off x="25950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2" name="plic"/>
          <p:cNvSpPr/>
          <p:nvPr/>
        </p:nvSpPr>
        <p:spPr>
          <a:xfrm>
            <a:off x="37126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3" name="gpio"/>
          <p:cNvSpPr/>
          <p:nvPr/>
        </p:nvSpPr>
        <p:spPr>
          <a:xfrm>
            <a:off x="37126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4" name="err-dma"/>
          <p:cNvSpPr/>
          <p:nvPr/>
        </p:nvSpPr>
        <p:spPr>
          <a:xfrm>
            <a:off x="37126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5" name="reg-error"/>
          <p:cNvSpPr/>
          <p:nvPr/>
        </p:nvSpPr>
        <p:spPr>
          <a:xfrm>
            <a:off x="37126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6" name="llc-regs"/>
          <p:cNvSpPr/>
          <p:nvPr/>
        </p:nvSpPr>
        <p:spPr>
          <a:xfrm>
            <a:off x="48302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7" name="slink-regs"/>
          <p:cNvSpPr/>
          <p:nvPr/>
        </p:nvSpPr>
        <p:spPr>
          <a:xfrm>
            <a:off x="48302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8" name="err-cpu"/>
          <p:cNvSpPr/>
          <p:nvPr/>
        </p:nvSpPr>
        <p:spPr>
          <a:xfrm>
            <a:off x="48302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9" name="reg-ext"/>
          <p:cNvSpPr/>
          <p:nvPr/>
        </p:nvSpPr>
        <p:spPr>
          <a:xfrm>
            <a:off x="48302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0" name="ddr-S0"/>
          <p:cNvSpPr/>
          <p:nvPr/>
        </p:nvSpPr>
        <p:spPr>
          <a:xfrm>
            <a:off x="6350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1" name="ddr-S1"/>
          <p:cNvSpPr/>
          <p:nvPr/>
        </p:nvSpPr>
        <p:spPr>
          <a:xfrm>
            <a:off x="7281333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2" name="ddr-S2"/>
          <p:cNvSpPr/>
          <p:nvPr/>
        </p:nvSpPr>
        <p:spPr>
          <a:xfrm>
            <a:off x="8212667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3" name="ddr-S3"/>
          <p:cNvSpPr/>
          <p:nvPr/>
        </p:nvSpPr>
        <p:spPr>
          <a:xfrm>
            <a:off x="9144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4" name="ddr-arb"/>
          <p:cNvSpPr/>
          <p:nvPr/>
        </p:nvSpPr>
        <p:spPr>
          <a:xfrm>
            <a:off x="6197600" y="5937149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5" name="ddr-rw"/>
          <p:cNvSpPr/>
          <p:nvPr/>
        </p:nvSpPr>
        <p:spPr>
          <a:xfrm>
            <a:off x="6197600" y="6106482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6" name="ddr-command"/>
          <p:cNvSpPr/>
          <p:nvPr/>
        </p:nvSpPr>
        <p:spPr>
          <a:xfrm>
            <a:off x="8212667" y="6106482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7" name="badge-C2"/>
          <p:cNvSpPr/>
          <p:nvPr/>
        </p:nvSpPr>
        <p:spPr>
          <a:xfrm>
            <a:off x="9652000" y="629274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8" name="ddr-phy"/>
          <p:cNvSpPr/>
          <p:nvPr/>
        </p:nvSpPr>
        <p:spPr>
          <a:xfrm>
            <a:off x="10261600" y="6191149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9" name="badge-C3"/>
          <p:cNvSpPr/>
          <p:nvPr/>
        </p:nvSpPr>
        <p:spPr>
          <a:xfrm>
            <a:off x="10905067" y="64214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0" name="ddr-device"/>
          <p:cNvSpPr/>
          <p:nvPr/>
        </p:nvSpPr>
        <p:spPr>
          <a:xfrm>
            <a:off x="11501967" y="6191149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1" name="pll"/>
          <p:cNvSpPr/>
          <p:nvPr/>
        </p:nvSpPr>
        <p:spPr>
          <a:xfrm>
            <a:off x="7200900" y="6472581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2" name="badge-C1"/>
          <p:cNvSpPr/>
          <p:nvPr/>
        </p:nvSpPr>
        <p:spPr>
          <a:xfrm>
            <a:off x="8738447" y="654370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3" name="config-C1"/>
          <p:cNvSpPr/>
          <p:nvPr/>
        </p:nvSpPr>
        <p:spPr>
          <a:xfrm>
            <a:off x="24130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4" name="reg-badge-C1"/>
          <p:cNvSpPr/>
          <p:nvPr/>
        </p:nvSpPr>
        <p:spPr>
          <a:xfrm>
            <a:off x="26500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5" name="config-C2"/>
          <p:cNvSpPr/>
          <p:nvPr/>
        </p:nvSpPr>
        <p:spPr>
          <a:xfrm>
            <a:off x="95842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6" name="reg-badge-C2"/>
          <p:cNvSpPr/>
          <p:nvPr/>
        </p:nvSpPr>
        <p:spPr>
          <a:xfrm>
            <a:off x="98213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7" name="config-C3"/>
          <p:cNvSpPr/>
          <p:nvPr/>
        </p:nvSpPr>
        <p:spPr>
          <a:xfrm>
            <a:off x="167555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8" name="reg-badge-C3"/>
          <p:cNvSpPr/>
          <p:nvPr/>
        </p:nvSpPr>
        <p:spPr>
          <a:xfrm>
            <a:off x="169926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9" name="config-C4"/>
          <p:cNvSpPr/>
          <p:nvPr/>
        </p:nvSpPr>
        <p:spPr>
          <a:xfrm>
            <a:off x="239268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0" name="reg-badge-C4"/>
          <p:cNvSpPr/>
          <p:nvPr/>
        </p:nvSpPr>
        <p:spPr>
          <a:xfrm>
            <a:off x="241638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1" name="config-C5"/>
          <p:cNvSpPr/>
          <p:nvPr/>
        </p:nvSpPr>
        <p:spPr>
          <a:xfrm>
            <a:off x="310980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2" name="reg-badge-C5"/>
          <p:cNvSpPr/>
          <p:nvPr/>
        </p:nvSpPr>
        <p:spPr>
          <a:xfrm>
            <a:off x="313351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3" name="config-C6"/>
          <p:cNvSpPr/>
          <p:nvPr/>
        </p:nvSpPr>
        <p:spPr>
          <a:xfrm>
            <a:off x="382693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4" name="reg-badge-C6"/>
          <p:cNvSpPr/>
          <p:nvPr/>
        </p:nvSpPr>
        <p:spPr>
          <a:xfrm>
            <a:off x="385064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5" name="config-C7"/>
          <p:cNvSpPr/>
          <p:nvPr/>
        </p:nvSpPr>
        <p:spPr>
          <a:xfrm>
            <a:off x="454406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6" name="reg-badge-C7"/>
          <p:cNvSpPr/>
          <p:nvPr/>
        </p:nvSpPr>
        <p:spPr>
          <a:xfrm>
            <a:off x="456776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7" name="config-C8"/>
          <p:cNvSpPr/>
          <p:nvPr/>
        </p:nvSpPr>
        <p:spPr>
          <a:xfrm>
            <a:off x="526118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8" name="reg-badge-C8"/>
          <p:cNvSpPr/>
          <p:nvPr/>
        </p:nvSpPr>
        <p:spPr>
          <a:xfrm>
            <a:off x="528489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9" name="config-C9"/>
          <p:cNvSpPr/>
          <p:nvPr/>
        </p:nvSpPr>
        <p:spPr>
          <a:xfrm>
            <a:off x="24130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0" name="reg-badge-C9"/>
          <p:cNvSpPr/>
          <p:nvPr/>
        </p:nvSpPr>
        <p:spPr>
          <a:xfrm>
            <a:off x="26500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1" name="config-C10"/>
          <p:cNvSpPr/>
          <p:nvPr/>
        </p:nvSpPr>
        <p:spPr>
          <a:xfrm>
            <a:off x="95842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2" name="reg-badge-C10"/>
          <p:cNvSpPr/>
          <p:nvPr/>
        </p:nvSpPr>
        <p:spPr>
          <a:xfrm>
            <a:off x="98213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3" name="config-C11"/>
          <p:cNvSpPr/>
          <p:nvPr/>
        </p:nvSpPr>
        <p:spPr>
          <a:xfrm>
            <a:off x="167555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4" name="reg-badge-C11"/>
          <p:cNvSpPr/>
          <p:nvPr/>
        </p:nvSpPr>
        <p:spPr>
          <a:xfrm>
            <a:off x="169926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5" name="config-C12"/>
          <p:cNvSpPr/>
          <p:nvPr/>
        </p:nvSpPr>
        <p:spPr>
          <a:xfrm>
            <a:off x="239268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6" name="reg-badge-C12"/>
          <p:cNvSpPr/>
          <p:nvPr/>
        </p:nvSpPr>
        <p:spPr>
          <a:xfrm>
            <a:off x="241638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7" name="config-C13"/>
          <p:cNvSpPr/>
          <p:nvPr/>
        </p:nvSpPr>
        <p:spPr>
          <a:xfrm>
            <a:off x="310980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8" name="reg-badge-C13"/>
          <p:cNvSpPr/>
          <p:nvPr/>
        </p:nvSpPr>
        <p:spPr>
          <a:xfrm>
            <a:off x="313351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9" name="config-C14"/>
          <p:cNvSpPr/>
          <p:nvPr/>
        </p:nvSpPr>
        <p:spPr>
          <a:xfrm>
            <a:off x="382693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0" name="reg-badge-C14"/>
          <p:cNvSpPr/>
          <p:nvPr/>
        </p:nvSpPr>
        <p:spPr>
          <a:xfrm>
            <a:off x="385064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1" name="config-C15"/>
          <p:cNvSpPr/>
          <p:nvPr/>
        </p:nvSpPr>
        <p:spPr>
          <a:xfrm>
            <a:off x="454406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2" name="reg-badge-C15"/>
          <p:cNvSpPr/>
          <p:nvPr/>
        </p:nvSpPr>
        <p:spPr>
          <a:xfrm>
            <a:off x="456776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3" name="config-C16"/>
          <p:cNvSpPr/>
          <p:nvPr/>
        </p:nvSpPr>
        <p:spPr>
          <a:xfrm>
            <a:off x="526118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4" name="reg-badge-C16"/>
          <p:cNvSpPr/>
          <p:nvPr/>
        </p:nvSpPr>
        <p:spPr>
          <a:xfrm>
            <a:off x="528489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5" name="front-F0"/>
          <p:cNvSpPr/>
          <p:nvPr/>
        </p:nvSpPr>
        <p:spPr>
          <a:xfrm>
            <a:off x="6316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6" name="front-F1"/>
          <p:cNvSpPr/>
          <p:nvPr/>
        </p:nvSpPr>
        <p:spPr>
          <a:xfrm>
            <a:off x="7247467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7" name="front-F2"/>
          <p:cNvSpPr/>
          <p:nvPr/>
        </p:nvSpPr>
        <p:spPr>
          <a:xfrm>
            <a:off x="8178800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8" name="front-F3"/>
          <p:cNvSpPr/>
          <p:nvPr/>
        </p:nvSpPr>
        <p:spPr>
          <a:xfrm>
            <a:off x="9110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9" name="front-adapt"/>
          <p:cNvSpPr/>
          <p:nvPr/>
        </p:nvSpPr>
        <p:spPr>
          <a:xfrm>
            <a:off x="6197600" y="4491042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0" name="badge-C12"/>
          <p:cNvSpPr/>
          <p:nvPr/>
        </p:nvSpPr>
        <p:spPr>
          <a:xfrm>
            <a:off x="9652000" y="453506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1" name="address-control"/>
          <p:cNvSpPr/>
          <p:nvPr/>
        </p:nvSpPr>
        <p:spPr>
          <a:xfrm>
            <a:off x="6197600" y="4768749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2" name="metadata"/>
          <p:cNvSpPr/>
          <p:nvPr/>
        </p:nvSpPr>
        <p:spPr>
          <a:xfrm>
            <a:off x="6197600" y="5209016"/>
            <a:ext cx="778933" cy="1693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3" name="compressor"/>
          <p:cNvSpPr/>
          <p:nvPr/>
        </p:nvSpPr>
        <p:spPr>
          <a:xfrm>
            <a:off x="7179733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4" name="badge-C15"/>
          <p:cNvSpPr/>
          <p:nvPr/>
        </p:nvSpPr>
        <p:spPr>
          <a:xfrm>
            <a:off x="7206827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5" name="decompressor"/>
          <p:cNvSpPr/>
          <p:nvPr/>
        </p:nvSpPr>
        <p:spPr>
          <a:xfrm>
            <a:off x="8085667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6" name="badge-C16"/>
          <p:cNvSpPr/>
          <p:nvPr/>
        </p:nvSpPr>
        <p:spPr>
          <a:xfrm>
            <a:off x="8112760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7" name="plain-bypass"/>
          <p:cNvSpPr/>
          <p:nvPr/>
        </p:nvSpPr>
        <p:spPr>
          <a:xfrm>
            <a:off x="8991600" y="4904216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8" name="front-route"/>
          <p:cNvSpPr/>
          <p:nvPr/>
        </p:nvSpPr>
        <p:spPr>
          <a:xfrm>
            <a:off x="6197600" y="5490109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9" name="roi-scheduler"/>
          <p:cNvSpPr/>
          <p:nvPr/>
        </p:nvSpPr>
        <p:spPr>
          <a:xfrm>
            <a:off x="10261600" y="4633282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0" name="badge-C11"/>
          <p:cNvSpPr/>
          <p:nvPr/>
        </p:nvSpPr>
        <p:spPr>
          <a:xfrm>
            <a:off x="10938933" y="464682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1" name="roi-vdma"/>
          <p:cNvSpPr/>
          <p:nvPr/>
        </p:nvSpPr>
        <p:spPr>
          <a:xfrm>
            <a:off x="10261600" y="5022749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2" name="badge-C13"/>
          <p:cNvSpPr/>
          <p:nvPr/>
        </p:nvSpPr>
        <p:spPr>
          <a:xfrm>
            <a:off x="10938933" y="50362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3" name="roi-fifo"/>
          <p:cNvSpPr/>
          <p:nvPr/>
        </p:nvSpPr>
        <p:spPr>
          <a:xfrm>
            <a:off x="10261600" y="5412216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4" name="lvds-tx"/>
          <p:cNvSpPr/>
          <p:nvPr/>
        </p:nvSpPr>
        <p:spPr>
          <a:xfrm>
            <a:off x="10261600" y="5717016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5" name="badge-C14"/>
          <p:cNvSpPr/>
          <p:nvPr/>
        </p:nvSpPr>
        <p:spPr>
          <a:xfrm>
            <a:off x="10938933" y="57305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6" name="compute-title: CVA6–Ara 计算平台"/>
          <p:cNvSpPr txBox="1"/>
          <p:nvPr/>
        </p:nvSpPr>
        <p:spPr>
          <a:xfrm>
            <a:off x="1238652" y="728862"/>
            <a:ext cx="1171829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1307" name="gb-region-title: NPU / 独立 Global Buffer 子系统"/>
          <p:cNvSpPr txBox="1"/>
          <p:nvPr/>
        </p:nvSpPr>
        <p:spPr>
          <a:xfrm>
            <a:off x="4586494" y="728862"/>
            <a:ext cx="1859079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1308" name="image-rx-title: 图像采集与 ISP"/>
          <p:cNvSpPr txBox="1"/>
          <p:nvPr/>
        </p:nvSpPr>
        <p:spPr>
          <a:xfrm>
            <a:off x="8938972" y="728862"/>
            <a:ext cx="943457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1309" name="cva6-t0: CVA6 core 0"/>
          <p:cNvSpPr txBox="1"/>
          <p:nvPr/>
        </p:nvSpPr>
        <p:spPr>
          <a:xfrm>
            <a:off x="401743" y="1175563"/>
            <a:ext cx="695113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1310" name="cva6-t1: L1 I / D cache"/>
          <p:cNvSpPr txBox="1"/>
          <p:nvPr/>
        </p:nvSpPr>
        <p:spPr>
          <a:xfrm>
            <a:off x="377777" y="1306560"/>
            <a:ext cx="74304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1311" name="cva6-t2: MMU / AXI 适配"/>
          <p:cNvSpPr txBox="1"/>
          <p:nvPr/>
        </p:nvSpPr>
        <p:spPr>
          <a:xfrm>
            <a:off x="367345" y="1429428"/>
            <a:ext cx="763910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1312" name="ara-t0: Ara 向量处理器"/>
          <p:cNvSpPr txBox="1"/>
          <p:nvPr/>
        </p:nvSpPr>
        <p:spPr>
          <a:xfrm>
            <a:off x="1905900" y="1080059"/>
            <a:ext cx="836401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1313" name="ara-t1: 2 lanes · VLSU / AXI：64 bit"/>
          <p:cNvSpPr txBox="1"/>
          <p:nvPr/>
        </p:nvSpPr>
        <p:spPr>
          <a:xfrm>
            <a:off x="1637948" y="1211056"/>
            <a:ext cx="137230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1314" name="ara-filter-t0: 失效过滤"/>
          <p:cNvSpPr txBox="1"/>
          <p:nvPr/>
        </p:nvSpPr>
        <p:spPr>
          <a:xfrm>
            <a:off x="14774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315" name="ara-filter-t1: 现有 filter"/>
          <p:cNvSpPr txBox="1"/>
          <p:nvPr/>
        </p:nvSpPr>
        <p:spPr>
          <a:xfrm>
            <a:off x="1500034" y="1726710"/>
            <a:ext cx="46279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1316" name="ara-width-t0: 等宽透传"/>
          <p:cNvSpPr txBox="1"/>
          <p:nvPr/>
        </p:nvSpPr>
        <p:spPr>
          <a:xfrm>
            <a:off x="27982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1317" name="ara-width-t1: 64 → 64 bit"/>
          <p:cNvSpPr txBox="1"/>
          <p:nvPr/>
        </p:nvSpPr>
        <p:spPr>
          <a:xfrm>
            <a:off x="2770653" y="1726710"/>
            <a:ext cx="5631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1318" name="command-label: 指令 / MMU"/>
          <p:cNvSpPr txBox="1"/>
          <p:nvPr/>
        </p:nvSpPr>
        <p:spPr>
          <a:xfrm>
            <a:off x="971404" y="880585"/>
            <a:ext cx="56332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1319" name="npu-t0: NPU 计算引擎"/>
          <p:cNvSpPr txBox="1"/>
          <p:nvPr/>
        </p:nvSpPr>
        <p:spPr>
          <a:xfrm>
            <a:off x="3772331" y="1177866"/>
            <a:ext cx="72727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1320" name="npu-t1: GB 数据读写"/>
          <p:cNvSpPr txBox="1"/>
          <p:nvPr/>
        </p:nvSpPr>
        <p:spPr>
          <a:xfrm>
            <a:off x="3846351" y="1301683"/>
            <a:ext cx="57923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1321" name="badge-C6-text: C6"/>
          <p:cNvSpPr txBox="1"/>
          <p:nvPr/>
        </p:nvSpPr>
        <p:spPr>
          <a:xfrm>
            <a:off x="4400815" y="1450899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322" name="gb-adapter-t0: GB 访问适配"/>
          <p:cNvSpPr txBox="1"/>
          <p:nvPr/>
        </p:nvSpPr>
        <p:spPr>
          <a:xfrm>
            <a:off x="4766998" y="1480634"/>
            <a:ext cx="66833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1323" name="gb-adapter-t1: 局部仲裁 / 路由"/>
          <p:cNvSpPr txBox="1"/>
          <p:nvPr/>
        </p:nvSpPr>
        <p:spPr>
          <a:xfrm>
            <a:off x="4743707" y="1604451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1324" name="gb-adapter-t2: bank 冲突处理"/>
          <p:cNvSpPr txBox="1"/>
          <p:nvPr/>
        </p:nvSpPr>
        <p:spPr>
          <a:xfrm>
            <a:off x="4774621" y="1710115"/>
            <a:ext cx="65309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1325" name="global-buffer-t0: Global Buffer"/>
          <p:cNvSpPr txBox="1"/>
          <p:nvPr/>
        </p:nvSpPr>
        <p:spPr>
          <a:xfrm>
            <a:off x="6119760" y="1103427"/>
            <a:ext cx="722948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1326" name="global-buffer-t1: 独立 SRAM · 分 bank"/>
          <p:cNvSpPr txBox="1"/>
          <p:nvPr/>
        </p:nvSpPr>
        <p:spPr>
          <a:xfrm>
            <a:off x="5998895" y="1235372"/>
            <a:ext cx="964676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1327" name="global-buffer-t2: CPU / Ara / NPU / ISP"/>
          <p:cNvSpPr txBox="1"/>
          <p:nvPr/>
        </p:nvSpPr>
        <p:spPr>
          <a:xfrm>
            <a:off x="5964854" y="1349164"/>
            <a:ext cx="1032759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1328" name="badge-C9-text: C9"/>
          <p:cNvSpPr txBox="1"/>
          <p:nvPr/>
        </p:nvSpPr>
        <p:spPr>
          <a:xfrm>
            <a:off x="7144015" y="1440739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329" name="gb-mover-t0: NPU / GB 搬运引擎"/>
          <p:cNvSpPr txBox="1"/>
          <p:nvPr/>
        </p:nvSpPr>
        <p:spPr>
          <a:xfrm>
            <a:off x="5995808" y="1779000"/>
            <a:ext cx="97085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1330" name="gb-mover-t1: DDR ↔ GB · AXI 主口"/>
          <p:cNvSpPr txBox="1"/>
          <p:nvPr/>
        </p:nvSpPr>
        <p:spPr>
          <a:xfrm>
            <a:off x="6027200" y="1902816"/>
            <a:ext cx="90806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1331" name="badge-C7-text: C7"/>
          <p:cNvSpPr txBox="1"/>
          <p:nvPr/>
        </p:nvSpPr>
        <p:spPr>
          <a:xfrm>
            <a:off x="7144015" y="197244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332" name="lvds-rx-t0: LVDS 接收"/>
          <p:cNvSpPr txBox="1"/>
          <p:nvPr/>
        </p:nvSpPr>
        <p:spPr>
          <a:xfrm>
            <a:off x="7684971" y="1398000"/>
            <a:ext cx="57279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1333" name="lvds-rx-t1: 解串 / 帧行"/>
          <p:cNvSpPr txBox="1"/>
          <p:nvPr/>
        </p:nvSpPr>
        <p:spPr>
          <a:xfrm>
            <a:off x="7701960" y="1521816"/>
            <a:ext cx="5388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1334" name="rx-cdc-t0: CDC / FIFO"/>
          <p:cNvSpPr txBox="1"/>
          <p:nvPr/>
        </p:nvSpPr>
        <p:spPr>
          <a:xfrm>
            <a:off x="8323858" y="1398000"/>
            <a:ext cx="59888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1335" name="rx-cdc-t1: 像素流缓冲"/>
          <p:cNvSpPr txBox="1"/>
          <p:nvPr/>
        </p:nvSpPr>
        <p:spPr>
          <a:xfrm>
            <a:off x="8359140" y="1521816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1336" name="isp-t0: ISP"/>
          <p:cNvSpPr txBox="1"/>
          <p:nvPr/>
        </p:nvSpPr>
        <p:spPr>
          <a:xfrm>
            <a:off x="9151355" y="1398000"/>
            <a:ext cx="2477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337" name="isp-t1: 行缓存 / 处理"/>
          <p:cNvSpPr txBox="1"/>
          <p:nvPr/>
        </p:nvSpPr>
        <p:spPr>
          <a:xfrm>
            <a:off x="8961800" y="1521816"/>
            <a:ext cx="6268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1338" name="frame-select-t0: 帧边界选择"/>
          <p:cNvSpPr txBox="1"/>
          <p:nvPr/>
        </p:nvSpPr>
        <p:spPr>
          <a:xfrm>
            <a:off x="9656233" y="1398000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1339" name="frame-select-t1: RAW / ISP"/>
          <p:cNvSpPr txBox="1"/>
          <p:nvPr/>
        </p:nvSpPr>
        <p:spPr>
          <a:xfrm>
            <a:off x="9716431" y="1521816"/>
            <a:ext cx="48920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1340" name="frame-dma-t0: 帧写入 DMA"/>
          <p:cNvSpPr txBox="1"/>
          <p:nvPr/>
        </p:nvSpPr>
        <p:spPr>
          <a:xfrm>
            <a:off x="10426470" y="1398000"/>
            <a:ext cx="64392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341" name="frame-dma-t1: 地址 / stride"/>
          <p:cNvSpPr txBox="1"/>
          <p:nvPr/>
        </p:nvSpPr>
        <p:spPr>
          <a:xfrm>
            <a:off x="10458088" y="1521816"/>
            <a:ext cx="58069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1342" name="raw-bypass-label: RAW 旁路"/>
          <p:cNvSpPr txBox="1"/>
          <p:nvPr/>
        </p:nvSpPr>
        <p:spPr>
          <a:xfrm>
            <a:off x="9046218" y="924611"/>
            <a:ext cx="46649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1343" name="badge-C4-text: C4"/>
          <p:cNvSpPr txBox="1"/>
          <p:nvPr/>
        </p:nvSpPr>
        <p:spPr>
          <a:xfrm>
            <a:off x="8058415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344" name="badge-C5-text: C5"/>
          <p:cNvSpPr txBox="1"/>
          <p:nvPr/>
        </p:nvSpPr>
        <p:spPr>
          <a:xfrm>
            <a:off x="9362281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345" name="badge-C8-text: C8"/>
          <p:cNvSpPr txBox="1"/>
          <p:nvPr/>
        </p:nvSpPr>
        <p:spPr>
          <a:xfrm>
            <a:off x="10920148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346" name="isp-gb-label: ISP 中间数据 ↔ GB"/>
          <p:cNvSpPr txBox="1"/>
          <p:nvPr/>
        </p:nvSpPr>
        <p:spPr>
          <a:xfrm>
            <a:off x="8009424" y="2065918"/>
            <a:ext cx="84675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1347" name="crossbar-title: AXI Crossbar"/>
          <p:cNvSpPr txBox="1"/>
          <p:nvPr/>
        </p:nvSpPr>
        <p:spPr>
          <a:xfrm>
            <a:off x="4632783" y="2943742"/>
            <a:ext cx="801301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1348" name="crossbar-caption: 8 × 6 固定端口 + 扩展 | 64 bit 数据 / 48 bit 地址 "/>
          <p:cNvSpPr txBox="1"/>
          <p:nvPr/>
        </p:nvSpPr>
        <p:spPr>
          <a:xfrm>
            <a:off x="3552023" y="3115785"/>
            <a:ext cx="29628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1349" name="crossbar-rt-note: 输入侧 AXI RT · 按配置可选"/>
          <p:cNvSpPr txBox="1"/>
          <p:nvPr/>
        </p:nvSpPr>
        <p:spPr>
          <a:xfrm>
            <a:off x="457226" y="3207767"/>
            <a:ext cx="104981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1350" name="crossbar-error-note: 未映射请求：DECERR"/>
          <p:cNvSpPr txBox="1"/>
          <p:nvPr/>
        </p:nvSpPr>
        <p:spPr>
          <a:xfrm>
            <a:off x="8745630" y="3207767"/>
            <a:ext cx="864473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1351" name="xbar-in-S0-t0: S0"/>
          <p:cNvSpPr txBox="1"/>
          <p:nvPr/>
        </p:nvSpPr>
        <p:spPr>
          <a:xfrm>
            <a:off x="68922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352" name="xbar-in-S1-t0: S1"/>
          <p:cNvSpPr txBox="1"/>
          <p:nvPr/>
        </p:nvSpPr>
        <p:spPr>
          <a:xfrm>
            <a:off x="1754143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353" name="xbar-in-S2-t0: S2"/>
          <p:cNvSpPr txBox="1"/>
          <p:nvPr/>
        </p:nvSpPr>
        <p:spPr>
          <a:xfrm>
            <a:off x="2819062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354" name="xbar-in-S3-t0: S3"/>
          <p:cNvSpPr txBox="1"/>
          <p:nvPr/>
        </p:nvSpPr>
        <p:spPr>
          <a:xfrm>
            <a:off x="3883980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1355" name="xbar-in-S4-t0: S4"/>
          <p:cNvSpPr txBox="1"/>
          <p:nvPr/>
        </p:nvSpPr>
        <p:spPr>
          <a:xfrm>
            <a:off x="4948899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1356" name="xbar-in-S5-t0: S5"/>
          <p:cNvSpPr txBox="1"/>
          <p:nvPr/>
        </p:nvSpPr>
        <p:spPr>
          <a:xfrm>
            <a:off x="6013817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1357" name="xbar-in-S6-t0: S6"/>
          <p:cNvSpPr txBox="1"/>
          <p:nvPr/>
        </p:nvSpPr>
        <p:spPr>
          <a:xfrm>
            <a:off x="7078736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1358" name="xbar-in-S7-t0: S7"/>
          <p:cNvSpPr txBox="1"/>
          <p:nvPr/>
        </p:nvSpPr>
        <p:spPr>
          <a:xfrm>
            <a:off x="814365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1359" name="xbar-in-S_EXT-t0: S_EXT"/>
          <p:cNvSpPr txBox="1"/>
          <p:nvPr/>
        </p:nvSpPr>
        <p:spPr>
          <a:xfrm>
            <a:off x="9151457" y="2849694"/>
            <a:ext cx="28330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1360" name="debug-sba-t0: Debug / SBA"/>
          <p:cNvSpPr txBox="1"/>
          <p:nvPr/>
        </p:nvSpPr>
        <p:spPr>
          <a:xfrm>
            <a:off x="1498654" y="2456333"/>
            <a:ext cx="68004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1361" name="debug-sba-t1: JTAG 总线访问"/>
          <p:cNvSpPr txBox="1"/>
          <p:nvPr/>
        </p:nvSpPr>
        <p:spPr>
          <a:xfrm>
            <a:off x="1512089" y="2580150"/>
            <a:ext cx="65317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1362" name="idma-master-t0: iDMA 数据主口"/>
          <p:cNvSpPr txBox="1"/>
          <p:nvPr/>
        </p:nvSpPr>
        <p:spPr>
          <a:xfrm>
            <a:off x="3583596" y="2456333"/>
            <a:ext cx="76983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1363" name="idma-master-t1: 内存 → 内存"/>
          <p:cNvSpPr txBox="1"/>
          <p:nvPr/>
        </p:nvSpPr>
        <p:spPr>
          <a:xfrm>
            <a:off x="3677955" y="2580150"/>
            <a:ext cx="5811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1364" name="slink-rx-t0: Serial Link RX"/>
          <p:cNvSpPr txBox="1"/>
          <p:nvPr/>
        </p:nvSpPr>
        <p:spPr>
          <a:xfrm>
            <a:off x="4676243" y="2456333"/>
            <a:ext cx="71438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1365" name="slink-rx-t1: 远端请求入口"/>
          <p:cNvSpPr txBox="1"/>
          <p:nvPr/>
        </p:nvSpPr>
        <p:spPr>
          <a:xfrm>
            <a:off x="4725247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1366" name="vga-t0: VGA"/>
          <p:cNvSpPr txBox="1"/>
          <p:nvPr/>
        </p:nvSpPr>
        <p:spPr>
          <a:xfrm>
            <a:off x="5957213" y="2456333"/>
            <a:ext cx="2822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1367" name="vga-t1: 帧缓冲读取"/>
          <p:cNvSpPr txBox="1"/>
          <p:nvPr/>
        </p:nvSpPr>
        <p:spPr>
          <a:xfrm>
            <a:off x="5834192" y="2580150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1368" name="usb-dma-t0: USB DMA"/>
          <p:cNvSpPr txBox="1"/>
          <p:nvPr/>
        </p:nvSpPr>
        <p:spPr>
          <a:xfrm>
            <a:off x="6898306" y="2456333"/>
            <a:ext cx="52992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1369" name="usb-dma-t1: OHCI 主口"/>
          <p:cNvSpPr txBox="1"/>
          <p:nvPr/>
        </p:nvSpPr>
        <p:spPr>
          <a:xfrm>
            <a:off x="6921248" y="2580150"/>
            <a:ext cx="48404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1370" name="emmc-host-t0: eMMC Host / DMA"/>
          <p:cNvSpPr txBox="1"/>
          <p:nvPr/>
        </p:nvSpPr>
        <p:spPr>
          <a:xfrm>
            <a:off x="7756209" y="2456333"/>
            <a:ext cx="94395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1371" name="emmc-host-t1: 存储块 ↔ 内存"/>
          <p:cNvSpPr txBox="1"/>
          <p:nvPr/>
        </p:nvSpPr>
        <p:spPr>
          <a:xfrm>
            <a:off x="7825869" y="2580150"/>
            <a:ext cx="66917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1372" name="ext-master-t0: AXI 外部 master"/>
          <p:cNvSpPr txBox="1"/>
          <p:nvPr/>
        </p:nvSpPr>
        <p:spPr>
          <a:xfrm>
            <a:off x="8886014" y="2456333"/>
            <a:ext cx="81418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1373" name="ext-master-t1: 可选扩展入口"/>
          <p:cNvSpPr txBox="1"/>
          <p:nvPr/>
        </p:nvSpPr>
        <p:spPr>
          <a:xfrm>
            <a:off x="8984921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1374" name="badge-C10-text: C10"/>
          <p:cNvSpPr txBox="1"/>
          <p:nvPr/>
        </p:nvSpPr>
        <p:spPr>
          <a:xfrm>
            <a:off x="8495421" y="2639619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375" name="xbar-out-M0-t0: M0"/>
          <p:cNvSpPr txBox="1"/>
          <p:nvPr/>
        </p:nvSpPr>
        <p:spPr>
          <a:xfrm>
            <a:off x="833731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1376" name="debug-target-t0: Debug 目标"/>
          <p:cNvSpPr txBox="1"/>
          <p:nvPr/>
        </p:nvSpPr>
        <p:spPr>
          <a:xfrm>
            <a:off x="617222" y="3717866"/>
            <a:ext cx="61733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1377" name="debug-target-t1: 调试模块窗口"/>
          <p:cNvSpPr txBox="1"/>
          <p:nvPr/>
        </p:nvSpPr>
        <p:spPr>
          <a:xfrm>
            <a:off x="617704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1378" name="xbar-out-M1-t0: M1"/>
          <p:cNvSpPr txBox="1"/>
          <p:nvPr/>
        </p:nvSpPr>
        <p:spPr>
          <a:xfrm>
            <a:off x="2202912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1379" name="reg-bridge-t0: AXI → Regbus"/>
          <p:cNvSpPr txBox="1"/>
          <p:nvPr/>
        </p:nvSpPr>
        <p:spPr>
          <a:xfrm>
            <a:off x="1928605" y="3717866"/>
            <a:ext cx="73293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1380" name="reg-bridge-t1: 原子适配 / 32 bit 桥"/>
          <p:cNvSpPr txBox="1"/>
          <p:nvPr/>
        </p:nvSpPr>
        <p:spPr>
          <a:xfrm>
            <a:off x="1854112" y="3841683"/>
            <a:ext cx="881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1381" name="xbar-out-M2-t0: M2"/>
          <p:cNvSpPr txBox="1"/>
          <p:nvPr/>
        </p:nvSpPr>
        <p:spPr>
          <a:xfrm>
            <a:off x="3572093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1382" name="memory-title: 主存 / SPM 共用目标"/>
          <p:cNvSpPr txBox="1"/>
          <p:nvPr/>
        </p:nvSpPr>
        <p:spPr>
          <a:xfrm>
            <a:off x="3135070" y="3588834"/>
            <a:ext cx="105836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1383" name="atomics-t0: 原子适配"/>
          <p:cNvSpPr txBox="1"/>
          <p:nvPr/>
        </p:nvSpPr>
        <p:spPr>
          <a:xfrm>
            <a:off x="3112141" y="3802110"/>
            <a:ext cx="443823" cy="1422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1384" name="atomics-t1: AMO / LRSC"/>
          <p:cNvSpPr txBox="1"/>
          <p:nvPr/>
        </p:nvSpPr>
        <p:spPr>
          <a:xfrm>
            <a:off x="3003106" y="3907012"/>
            <a:ext cx="66189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1385" name="llc-spm-t0: LLC / SPM"/>
          <p:cNvSpPr txBox="1"/>
          <p:nvPr/>
        </p:nvSpPr>
        <p:spPr>
          <a:xfrm>
            <a:off x="3765270" y="3806174"/>
            <a:ext cx="509164" cy="1422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1386" name="llc-spm-t1: SRAM 阵列"/>
          <p:cNvSpPr txBox="1"/>
          <p:nvPr/>
        </p:nvSpPr>
        <p:spPr>
          <a:xfrm>
            <a:off x="3739304" y="3912024"/>
            <a:ext cx="561097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1387" name="xbar-out-M3-t0: M3"/>
          <p:cNvSpPr txBox="1"/>
          <p:nvPr/>
        </p:nvSpPr>
        <p:spPr>
          <a:xfrm>
            <a:off x="4941274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1388" name="idma-config-t0: iDMA 配置"/>
          <p:cNvSpPr txBox="1"/>
          <p:nvPr/>
        </p:nvSpPr>
        <p:spPr>
          <a:xfrm>
            <a:off x="4750115" y="3665034"/>
            <a:ext cx="56663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1389" name="idma-config-t1: 原子适配 → AXI→Reg"/>
          <p:cNvSpPr txBox="1"/>
          <p:nvPr/>
        </p:nvSpPr>
        <p:spPr>
          <a:xfrm>
            <a:off x="4566034" y="3788851"/>
            <a:ext cx="93479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1390" name="idma-config-t2: wrapper 内部寄存器"/>
          <p:cNvSpPr txBox="1"/>
          <p:nvPr/>
        </p:nvSpPr>
        <p:spPr>
          <a:xfrm>
            <a:off x="4603999" y="3894515"/>
            <a:ext cx="85886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1391" name="xbar-out-M4-t0: M4"/>
          <p:cNvSpPr txBox="1"/>
          <p:nvPr/>
        </p:nvSpPr>
        <p:spPr>
          <a:xfrm>
            <a:off x="6310455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1392" name="slink-tx-t0: Serial Link TX"/>
          <p:cNvSpPr txBox="1"/>
          <p:nvPr/>
        </p:nvSpPr>
        <p:spPr>
          <a:xfrm>
            <a:off x="6051478" y="3717866"/>
            <a:ext cx="70227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1393" name="slink-tx-t1: 远端目标窗口"/>
          <p:cNvSpPr txBox="1"/>
          <p:nvPr/>
        </p:nvSpPr>
        <p:spPr>
          <a:xfrm>
            <a:off x="6094428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1394" name="xbar-out-M5-t0: M5"/>
          <p:cNvSpPr txBox="1"/>
          <p:nvPr/>
        </p:nvSpPr>
        <p:spPr>
          <a:xfrm>
            <a:off x="7679636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95" name="gb-interface-t0: GB AXI 接口"/>
          <p:cNvSpPr txBox="1"/>
          <p:nvPr/>
        </p:nvSpPr>
        <p:spPr>
          <a:xfrm>
            <a:off x="7454988" y="3665034"/>
            <a:ext cx="63361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96" name="gb-interface-t1: CPU / Ara / eMMC DMA"/>
          <p:cNvSpPr txBox="1"/>
          <p:nvPr/>
        </p:nvSpPr>
        <p:spPr>
          <a:xfrm>
            <a:off x="7260665" y="3788851"/>
            <a:ext cx="10222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1397" name="gb-interface-t2: 64-bit 数据窗口 · 共用"/>
          <p:cNvSpPr txBox="1"/>
          <p:nvPr/>
        </p:nvSpPr>
        <p:spPr>
          <a:xfrm>
            <a:off x="7299149" y="3894515"/>
            <a:ext cx="94529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1398" name="xbar-out-M_EXT-t0: M_EXT"/>
          <p:cNvSpPr txBox="1"/>
          <p:nvPr/>
        </p:nvSpPr>
        <p:spPr>
          <a:xfrm>
            <a:off x="8991701" y="3306894"/>
            <a:ext cx="298551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1399" name="ext-target-t0: AXI 外部 slave"/>
          <p:cNvSpPr txBox="1"/>
          <p:nvPr/>
        </p:nvSpPr>
        <p:spPr>
          <a:xfrm>
            <a:off x="8773467" y="3717866"/>
            <a:ext cx="73501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1400" name="ext-target-t1: 可选外部目标扩展"/>
          <p:cNvSpPr txBox="1"/>
          <p:nvPr/>
        </p:nvSpPr>
        <p:spPr>
          <a:xfrm>
            <a:off x="8744736" y="3841683"/>
            <a:ext cx="792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1401" name="emmc-device-t0: eMMC"/>
          <p:cNvSpPr txBox="1"/>
          <p:nvPr/>
        </p:nvSpPr>
        <p:spPr>
          <a:xfrm>
            <a:off x="11550065" y="2446308"/>
            <a:ext cx="437203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1402" name="emmc-device-t1: 模型 / 校正参数"/>
          <p:cNvSpPr txBox="1"/>
          <p:nvPr/>
        </p:nvSpPr>
        <p:spPr>
          <a:xfrm>
            <a:off x="11411207" y="2588278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1403" name="regbus-t0: Regbus decode / demux · 32 bit"/>
          <p:cNvSpPr txBox="1"/>
          <p:nvPr/>
        </p:nvSpPr>
        <p:spPr>
          <a:xfrm>
            <a:off x="2213213" y="4404140"/>
            <a:ext cx="1745774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1404" name="bootrom-t0: Boot ROM"/>
          <p:cNvSpPr txBox="1"/>
          <p:nvPr/>
        </p:nvSpPr>
        <p:spPr>
          <a:xfrm>
            <a:off x="592799" y="4637346"/>
            <a:ext cx="55006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1405" name="bootrom-t1: 启动代码"/>
          <p:cNvSpPr txBox="1"/>
          <p:nvPr/>
        </p:nvSpPr>
        <p:spPr>
          <a:xfrm>
            <a:off x="647700" y="4761163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1406" name="uart-t0: UART"/>
          <p:cNvSpPr txBox="1"/>
          <p:nvPr/>
        </p:nvSpPr>
        <p:spPr>
          <a:xfrm>
            <a:off x="699259" y="4935373"/>
            <a:ext cx="33714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1407" name="uart-t1: 串口控制"/>
          <p:cNvSpPr txBox="1"/>
          <p:nvPr/>
        </p:nvSpPr>
        <p:spPr>
          <a:xfrm>
            <a:off x="6477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1408" name="vga-regs-t0: VGA 配置"/>
          <p:cNvSpPr txBox="1"/>
          <p:nvPr/>
        </p:nvSpPr>
        <p:spPr>
          <a:xfrm>
            <a:off x="609865" y="5233400"/>
            <a:ext cx="51593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409" name="vga-regs-t1: 时序 / 帧地址"/>
          <p:cNvSpPr txBox="1"/>
          <p:nvPr/>
        </p:nvSpPr>
        <p:spPr>
          <a:xfrm>
            <a:off x="554400" y="5357216"/>
            <a:ext cx="6268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1410" name="irq-router-t0: IRQ router"/>
          <p:cNvSpPr txBox="1"/>
          <p:nvPr/>
        </p:nvSpPr>
        <p:spPr>
          <a:xfrm>
            <a:off x="592849" y="5531426"/>
            <a:ext cx="5499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411" name="irq-router-t1: 可选中断路由"/>
          <p:cNvSpPr txBox="1"/>
          <p:nvPr/>
        </p:nvSpPr>
        <p:spPr>
          <a:xfrm>
            <a:off x="5596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1412" name="clint-t0: CLINT"/>
          <p:cNvSpPr txBox="1"/>
          <p:nvPr/>
        </p:nvSpPr>
        <p:spPr>
          <a:xfrm>
            <a:off x="1805697" y="4637346"/>
            <a:ext cx="35947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1413" name="clint-t1: 软件 / 定时中断"/>
          <p:cNvSpPr txBox="1"/>
          <p:nvPr/>
        </p:nvSpPr>
        <p:spPr>
          <a:xfrm>
            <a:off x="1627973" y="4761163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1414" name="i2c-t0: I²C"/>
          <p:cNvSpPr txBox="1"/>
          <p:nvPr/>
        </p:nvSpPr>
        <p:spPr>
          <a:xfrm>
            <a:off x="1871726" y="4935373"/>
            <a:ext cx="22741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1415" name="i2c-t1: 两线串行接口"/>
          <p:cNvSpPr txBox="1"/>
          <p:nvPr/>
        </p:nvSpPr>
        <p:spPr>
          <a:xfrm>
            <a:off x="1677247" y="5059190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1416" name="usb-regs-t0: USB 配置"/>
          <p:cNvSpPr txBox="1"/>
          <p:nvPr/>
        </p:nvSpPr>
        <p:spPr>
          <a:xfrm>
            <a:off x="1722403" y="5233400"/>
            <a:ext cx="52606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417" name="usb-regs-t1: OHCI 寄存器"/>
          <p:cNvSpPr txBox="1"/>
          <p:nvPr/>
        </p:nvSpPr>
        <p:spPr>
          <a:xfrm>
            <a:off x="1699384" y="5357216"/>
            <a:ext cx="57209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1418" name="axi-rt-config-t0: AXI RT 配置"/>
          <p:cNvSpPr txBox="1"/>
          <p:nvPr/>
        </p:nvSpPr>
        <p:spPr>
          <a:xfrm>
            <a:off x="1676712" y="5531426"/>
            <a:ext cx="61744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419" name="axi-rt-config-t1: 可选流量调节"/>
          <p:cNvSpPr txBox="1"/>
          <p:nvPr/>
        </p:nvSpPr>
        <p:spPr>
          <a:xfrm>
            <a:off x="16772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1420" name="soc-regs-t0: SoC 寄存器"/>
          <p:cNvSpPr txBox="1"/>
          <p:nvPr/>
        </p:nvSpPr>
        <p:spPr>
          <a:xfrm>
            <a:off x="2794312" y="4637346"/>
            <a:ext cx="61744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1421" name="soc-regs-t1: 平台信息 / scratch"/>
          <p:cNvSpPr txBox="1"/>
          <p:nvPr/>
        </p:nvSpPr>
        <p:spPr>
          <a:xfrm>
            <a:off x="2692945" y="4761163"/>
            <a:ext cx="82017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1422" name="spi-t0: SPI Host"/>
          <p:cNvSpPr txBox="1"/>
          <p:nvPr/>
        </p:nvSpPr>
        <p:spPr>
          <a:xfrm>
            <a:off x="2860442" y="4935373"/>
            <a:ext cx="48518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1423" name="spi-t1: Flash / SD"/>
          <p:cNvSpPr txBox="1"/>
          <p:nvPr/>
        </p:nvSpPr>
        <p:spPr>
          <a:xfrm>
            <a:off x="2851468" y="5059190"/>
            <a:ext cx="50313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1424" name="err-vga-t0: Bus-error · VGA"/>
          <p:cNvSpPr txBox="1"/>
          <p:nvPr/>
        </p:nvSpPr>
        <p:spPr>
          <a:xfrm>
            <a:off x="2715387" y="5233400"/>
            <a:ext cx="77529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425" name="err-vga-t1: 错误记录"/>
          <p:cNvSpPr txBox="1"/>
          <p:nvPr/>
        </p:nvSpPr>
        <p:spPr>
          <a:xfrm>
            <a:off x="2882900" y="5357216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1426" name="clic-t0: CLIC"/>
          <p:cNvSpPr txBox="1"/>
          <p:nvPr/>
        </p:nvSpPr>
        <p:spPr>
          <a:xfrm>
            <a:off x="2950729" y="5531426"/>
            <a:ext cx="30460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427" name="clic-t1: 可选每核中断控制"/>
          <p:cNvSpPr txBox="1"/>
          <p:nvPr/>
        </p:nvSpPr>
        <p:spPr>
          <a:xfrm>
            <a:off x="2706793" y="5655243"/>
            <a:ext cx="792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1428" name="plic-t0: PLIC"/>
          <p:cNvSpPr txBox="1"/>
          <p:nvPr/>
        </p:nvSpPr>
        <p:spPr>
          <a:xfrm>
            <a:off x="4071355" y="4637346"/>
            <a:ext cx="2985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1429" name="plic-t1: 外部中断控制"/>
          <p:cNvSpPr txBox="1"/>
          <p:nvPr/>
        </p:nvSpPr>
        <p:spPr>
          <a:xfrm>
            <a:off x="3912447" y="476116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1430" name="gpio-t0: GPIO"/>
          <p:cNvSpPr txBox="1"/>
          <p:nvPr/>
        </p:nvSpPr>
        <p:spPr>
          <a:xfrm>
            <a:off x="4061238" y="4935373"/>
            <a:ext cx="31879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1431" name="gpio-t1: 通用 IO"/>
          <p:cNvSpPr txBox="1"/>
          <p:nvPr/>
        </p:nvSpPr>
        <p:spPr>
          <a:xfrm>
            <a:off x="4034893" y="5059190"/>
            <a:ext cx="371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1432" name="err-dma-t0: Bus-error · iDMA"/>
          <p:cNvSpPr txBox="1"/>
          <p:nvPr/>
        </p:nvSpPr>
        <p:spPr>
          <a:xfrm>
            <a:off x="3807637" y="5233400"/>
            <a:ext cx="82599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433" name="err-dma-t1: 每传输错误记录"/>
          <p:cNvSpPr txBox="1"/>
          <p:nvPr/>
        </p:nvSpPr>
        <p:spPr>
          <a:xfrm>
            <a:off x="3868420" y="5357216"/>
            <a:ext cx="70442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1434" name="reg-error-t0: reg_err_slv"/>
          <p:cNvSpPr txBox="1"/>
          <p:nvPr/>
        </p:nvSpPr>
        <p:spPr>
          <a:xfrm>
            <a:off x="3929327" y="5531426"/>
            <a:ext cx="58261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435" name="reg-error-t1: 未匹配地址"/>
          <p:cNvSpPr txBox="1"/>
          <p:nvPr/>
        </p:nvSpPr>
        <p:spPr>
          <a:xfrm>
            <a:off x="3956473" y="5655243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1436" name="llc-regs-t0: LLC 配置"/>
          <p:cNvSpPr txBox="1"/>
          <p:nvPr/>
        </p:nvSpPr>
        <p:spPr>
          <a:xfrm>
            <a:off x="5088350" y="4637346"/>
            <a:ext cx="49976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1437" name="llc-regs-t1: SPM way / cache"/>
          <p:cNvSpPr txBox="1"/>
          <p:nvPr/>
        </p:nvSpPr>
        <p:spPr>
          <a:xfrm>
            <a:off x="4959099" y="4761163"/>
            <a:ext cx="75826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1438" name="slink-regs-t0: Serial Link 配置"/>
          <p:cNvSpPr txBox="1"/>
          <p:nvPr/>
        </p:nvSpPr>
        <p:spPr>
          <a:xfrm>
            <a:off x="4938281" y="4935373"/>
            <a:ext cx="79990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439" name="slink-regs-t1: 链路控制"/>
          <p:cNvSpPr txBox="1"/>
          <p:nvPr/>
        </p:nvSpPr>
        <p:spPr>
          <a:xfrm>
            <a:off x="51181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1440" name="err-cpu-t0: Bus-error · CPU"/>
          <p:cNvSpPr txBox="1"/>
          <p:nvPr/>
        </p:nvSpPr>
        <p:spPr>
          <a:xfrm>
            <a:off x="4948552" y="5233400"/>
            <a:ext cx="77936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441" name="err-cpu-t1: 每核错误记录"/>
          <p:cNvSpPr txBox="1"/>
          <p:nvPr/>
        </p:nvSpPr>
        <p:spPr>
          <a:xfrm>
            <a:off x="5030047" y="5357216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1442" name="reg-ext-t0: RegExt 扩展"/>
          <p:cNvSpPr txBox="1"/>
          <p:nvPr/>
        </p:nvSpPr>
        <p:spPr>
          <a:xfrm>
            <a:off x="5019392" y="5531426"/>
            <a:ext cx="63768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443" name="reg-ext-t1: 新增 IP 配置出口"/>
          <p:cNvSpPr txBox="1"/>
          <p:nvPr/>
        </p:nvSpPr>
        <p:spPr>
          <a:xfrm>
            <a:off x="4967573" y="5655243"/>
            <a:ext cx="741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1444" name="ddr-S0-t0: DDR.S0"/>
          <p:cNvSpPr txBox="1"/>
          <p:nvPr/>
        </p:nvSpPr>
        <p:spPr>
          <a:xfrm>
            <a:off x="6434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1445" name="ddr-S1-t0: DDR.S1"/>
          <p:cNvSpPr txBox="1"/>
          <p:nvPr/>
        </p:nvSpPr>
        <p:spPr>
          <a:xfrm>
            <a:off x="7365558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1446" name="ddr-S2-t0: DDR.S2"/>
          <p:cNvSpPr txBox="1"/>
          <p:nvPr/>
        </p:nvSpPr>
        <p:spPr>
          <a:xfrm>
            <a:off x="8296891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1447" name="ddr-S3-t0: DDR.S3"/>
          <p:cNvSpPr txBox="1"/>
          <p:nvPr/>
        </p:nvSpPr>
        <p:spPr>
          <a:xfrm>
            <a:off x="9228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1448" name="ddr-arb-t0: 四口仲裁 / QoS · 共享 DDR 带宽"/>
          <p:cNvSpPr txBox="1"/>
          <p:nvPr/>
        </p:nvSpPr>
        <p:spPr>
          <a:xfrm>
            <a:off x="7300370" y="5934711"/>
            <a:ext cx="1452060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1449" name="ddr-rw-t0: 读写调度 · Bank / Row"/>
          <p:cNvSpPr txBox="1"/>
          <p:nvPr/>
        </p:nvSpPr>
        <p:spPr>
          <a:xfrm>
            <a:off x="6444522" y="6115965"/>
            <a:ext cx="111482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1450" name="ddr-command-t0: 命令调度 · Controller → PHY"/>
          <p:cNvSpPr txBox="1"/>
          <p:nvPr/>
        </p:nvSpPr>
        <p:spPr>
          <a:xfrm>
            <a:off x="8397216" y="6120977"/>
            <a:ext cx="1273434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1451" name="ddr-title: DDR Controller · 4 个 AXI slave"/>
          <p:cNvSpPr txBox="1"/>
          <p:nvPr/>
        </p:nvSpPr>
        <p:spPr>
          <a:xfrm>
            <a:off x="7293766" y="6267688"/>
            <a:ext cx="14652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1452" name="badge-C2-text: C2"/>
          <p:cNvSpPr txBox="1"/>
          <p:nvPr/>
        </p:nvSpPr>
        <p:spPr>
          <a:xfrm>
            <a:off x="9662848" y="6283673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53" name="ddr-phy-t0: DDR PHY"/>
          <p:cNvSpPr txBox="1"/>
          <p:nvPr/>
        </p:nvSpPr>
        <p:spPr>
          <a:xfrm>
            <a:off x="10438606" y="6228402"/>
            <a:ext cx="50958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454" name="ddr-phy-t1: 训练 / 校准"/>
          <p:cNvSpPr txBox="1"/>
          <p:nvPr/>
        </p:nvSpPr>
        <p:spPr>
          <a:xfrm>
            <a:off x="10335535" y="6351271"/>
            <a:ext cx="580263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455" name="badge-C3-text: C3"/>
          <p:cNvSpPr txBox="1"/>
          <p:nvPr/>
        </p:nvSpPr>
        <p:spPr>
          <a:xfrm>
            <a:off x="10915915" y="641236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56" name="ddr-device-t0: DDR"/>
          <p:cNvSpPr txBox="1"/>
          <p:nvPr/>
        </p:nvSpPr>
        <p:spPr>
          <a:xfrm>
            <a:off x="11586842" y="6218378"/>
            <a:ext cx="338249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57" name="ddr-device-t1: 片外器件"/>
          <p:cNvSpPr txBox="1"/>
          <p:nvPr/>
        </p:nvSpPr>
        <p:spPr>
          <a:xfrm>
            <a:off x="11518900" y="6359399"/>
            <a:ext cx="474133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1458" name="roi-title: 图像裁切输出"/>
          <p:cNvSpPr txBox="1"/>
          <p:nvPr/>
        </p:nvSpPr>
        <p:spPr>
          <a:xfrm>
            <a:off x="10322560" y="4313039"/>
            <a:ext cx="758613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1459" name="roi-count: ≤256 ROI / 帧"/>
          <p:cNvSpPr txBox="1"/>
          <p:nvPr/>
        </p:nvSpPr>
        <p:spPr>
          <a:xfrm>
            <a:off x="10367788" y="4429811"/>
            <a:ext cx="66815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1460" name="roi-no-scale: 纯裁切 · 不缩放"/>
          <p:cNvSpPr txBox="1"/>
          <p:nvPr/>
        </p:nvSpPr>
        <p:spPr>
          <a:xfrm>
            <a:off x="10356747" y="4517865"/>
            <a:ext cx="69024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1461" name="pll-title: PLL / 时钟与复位分发"/>
          <p:cNvSpPr txBox="1"/>
          <p:nvPr/>
        </p:nvSpPr>
        <p:spPr>
          <a:xfrm>
            <a:off x="7380023" y="6514372"/>
            <a:ext cx="1157288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1462" name="badge-C1-text: C1"/>
          <p:cNvSpPr txBox="1"/>
          <p:nvPr/>
        </p:nvSpPr>
        <p:spPr>
          <a:xfrm>
            <a:off x="8749295" y="6534625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3" name="pll-interface: RefClk / POR → clk_i / rst_ni"/>
          <p:cNvSpPr txBox="1"/>
          <p:nvPr/>
        </p:nvSpPr>
        <p:spPr>
          <a:xfrm>
            <a:off x="9311539" y="6536318"/>
            <a:ext cx="122278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1464" name="reg-badge-C1-text: C1"/>
          <p:cNvSpPr txBox="1"/>
          <p:nvPr/>
        </p:nvSpPr>
        <p:spPr>
          <a:xfrm>
            <a:off x="27585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5" name="config-C1-title-0: PLL / 时钟"/>
          <p:cNvSpPr txBox="1"/>
          <p:nvPr/>
        </p:nvSpPr>
        <p:spPr>
          <a:xfrm>
            <a:off x="287679" y="6020800"/>
            <a:ext cx="5769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1466" name="config-C1-title-1: 复位"/>
          <p:cNvSpPr txBox="1"/>
          <p:nvPr/>
        </p:nvSpPr>
        <p:spPr>
          <a:xfrm>
            <a:off x="42375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1467" name="reg-badge-C2-text: C2"/>
          <p:cNvSpPr txBox="1"/>
          <p:nvPr/>
        </p:nvSpPr>
        <p:spPr>
          <a:xfrm>
            <a:off x="99298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68" name="config-C2-title-0: DDR"/>
          <p:cNvSpPr txBox="1"/>
          <p:nvPr/>
        </p:nvSpPr>
        <p:spPr>
          <a:xfrm>
            <a:off x="1144058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69" name="config-C2-title-1: Controller"/>
          <p:cNvSpPr txBox="1"/>
          <p:nvPr/>
        </p:nvSpPr>
        <p:spPr>
          <a:xfrm>
            <a:off x="1028517" y="6129173"/>
            <a:ext cx="5295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1470" name="reg-badge-C3-text: C3"/>
          <p:cNvSpPr txBox="1"/>
          <p:nvPr/>
        </p:nvSpPr>
        <p:spPr>
          <a:xfrm>
            <a:off x="171010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71" name="config-C3-title-0: DDR"/>
          <p:cNvSpPr txBox="1"/>
          <p:nvPr/>
        </p:nvSpPr>
        <p:spPr>
          <a:xfrm>
            <a:off x="1861185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72" name="config-C3-title-1: PHY"/>
          <p:cNvSpPr txBox="1"/>
          <p:nvPr/>
        </p:nvSpPr>
        <p:spPr>
          <a:xfrm>
            <a:off x="1869271" y="6129173"/>
            <a:ext cx="2822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1473" name="reg-badge-C4-text: C4"/>
          <p:cNvSpPr txBox="1"/>
          <p:nvPr/>
        </p:nvSpPr>
        <p:spPr>
          <a:xfrm>
            <a:off x="242723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474" name="config-C4-title-0: LVDS"/>
          <p:cNvSpPr txBox="1"/>
          <p:nvPr/>
        </p:nvSpPr>
        <p:spPr>
          <a:xfrm>
            <a:off x="2557970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475" name="config-C4-title-1: RX"/>
          <p:cNvSpPr txBox="1"/>
          <p:nvPr/>
        </p:nvSpPr>
        <p:spPr>
          <a:xfrm>
            <a:off x="2617899" y="6129173"/>
            <a:ext cx="21927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1476" name="reg-badge-C5-text: C5"/>
          <p:cNvSpPr txBox="1"/>
          <p:nvPr/>
        </p:nvSpPr>
        <p:spPr>
          <a:xfrm>
            <a:off x="314436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477" name="config-C5-title-0: ISP"/>
          <p:cNvSpPr txBox="1"/>
          <p:nvPr/>
        </p:nvSpPr>
        <p:spPr>
          <a:xfrm>
            <a:off x="3320785" y="6074986"/>
            <a:ext cx="2477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478" name="reg-badge-C6-text: C6"/>
          <p:cNvSpPr txBox="1"/>
          <p:nvPr/>
        </p:nvSpPr>
        <p:spPr>
          <a:xfrm>
            <a:off x="386148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479" name="config-C6-title-0: NPU"/>
          <p:cNvSpPr txBox="1"/>
          <p:nvPr/>
        </p:nvSpPr>
        <p:spPr>
          <a:xfrm>
            <a:off x="4016584" y="6020800"/>
            <a:ext cx="29041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1480" name="config-C6-title-1: 计算"/>
          <p:cNvSpPr txBox="1"/>
          <p:nvPr/>
        </p:nvSpPr>
        <p:spPr>
          <a:xfrm>
            <a:off x="4009390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481" name="reg-badge-C7-text: C7"/>
          <p:cNvSpPr txBox="1"/>
          <p:nvPr/>
        </p:nvSpPr>
        <p:spPr>
          <a:xfrm>
            <a:off x="457861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482" name="config-C7-title-0: NPU / GB"/>
          <p:cNvSpPr txBox="1"/>
          <p:nvPr/>
        </p:nvSpPr>
        <p:spPr>
          <a:xfrm>
            <a:off x="4611920" y="6020800"/>
            <a:ext cx="53399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1483" name="config-C7-title-1: 搬运"/>
          <p:cNvSpPr txBox="1"/>
          <p:nvPr/>
        </p:nvSpPr>
        <p:spPr>
          <a:xfrm>
            <a:off x="472651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1484" name="reg-badge-C8-text: C8"/>
          <p:cNvSpPr txBox="1"/>
          <p:nvPr/>
        </p:nvSpPr>
        <p:spPr>
          <a:xfrm>
            <a:off x="529574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485" name="config-C8-title-0: 帧写入"/>
          <p:cNvSpPr txBox="1"/>
          <p:nvPr/>
        </p:nvSpPr>
        <p:spPr>
          <a:xfrm>
            <a:off x="5392843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1486" name="config-C8-title-1: DMA"/>
          <p:cNvSpPr txBox="1"/>
          <p:nvPr/>
        </p:nvSpPr>
        <p:spPr>
          <a:xfrm>
            <a:off x="5441709" y="6129173"/>
            <a:ext cx="3086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487" name="reg-badge-C9-text: C9"/>
          <p:cNvSpPr txBox="1"/>
          <p:nvPr/>
        </p:nvSpPr>
        <p:spPr>
          <a:xfrm>
            <a:off x="275855" y="6372065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488" name="config-C9-title-0: GB"/>
          <p:cNvSpPr txBox="1"/>
          <p:nvPr/>
        </p:nvSpPr>
        <p:spPr>
          <a:xfrm>
            <a:off x="460417" y="6474613"/>
            <a:ext cx="2314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489" name="config-C9-title-1: 管理"/>
          <p:cNvSpPr txBox="1"/>
          <p:nvPr/>
        </p:nvSpPr>
        <p:spPr>
          <a:xfrm>
            <a:off x="42375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1490" name="reg-badge-C10-text: C10"/>
          <p:cNvSpPr txBox="1"/>
          <p:nvPr/>
        </p:nvSpPr>
        <p:spPr>
          <a:xfrm>
            <a:off x="97165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491" name="config-C10-title-0: eMMC Host"/>
          <p:cNvSpPr txBox="1"/>
          <p:nvPr/>
        </p:nvSpPr>
        <p:spPr>
          <a:xfrm>
            <a:off x="981689" y="6474613"/>
            <a:ext cx="62318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1492" name="config-C10-title-1: / DMA"/>
          <p:cNvSpPr txBox="1"/>
          <p:nvPr/>
        </p:nvSpPr>
        <p:spPr>
          <a:xfrm>
            <a:off x="1097328" y="6582986"/>
            <a:ext cx="39191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1493" name="reg-badge-C11-text: C11"/>
          <p:cNvSpPr txBox="1"/>
          <p:nvPr/>
        </p:nvSpPr>
        <p:spPr>
          <a:xfrm>
            <a:off x="168878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494" name="config-C11-title-0: ROI 任务"/>
          <p:cNvSpPr txBox="1"/>
          <p:nvPr/>
        </p:nvSpPr>
        <p:spPr>
          <a:xfrm>
            <a:off x="1764644" y="6474613"/>
            <a:ext cx="4915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1495" name="config-C11-title-1: / 调度"/>
          <p:cNvSpPr txBox="1"/>
          <p:nvPr/>
        </p:nvSpPr>
        <p:spPr>
          <a:xfrm>
            <a:off x="1816388" y="6582986"/>
            <a:ext cx="38804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1496" name="reg-badge-C12-text: C12"/>
          <p:cNvSpPr txBox="1"/>
          <p:nvPr/>
        </p:nvSpPr>
        <p:spPr>
          <a:xfrm>
            <a:off x="240591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497" name="config-C12-title-0: 前端公共"/>
          <p:cNvSpPr txBox="1"/>
          <p:nvPr/>
        </p:nvSpPr>
        <p:spPr>
          <a:xfrm>
            <a:off x="2473537" y="6474613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前端公共</a:t>
            </a:r>
          </a:p>
        </p:txBody>
      </p:sp>
      <p:sp>
        <p:nvSpPr>
          <p:cNvPr id="1498" name="config-C12-title-1: 控制"/>
          <p:cNvSpPr txBox="1"/>
          <p:nvPr/>
        </p:nvSpPr>
        <p:spPr>
          <a:xfrm>
            <a:off x="257513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1499" name="reg-badge-C13-text: C13"/>
          <p:cNvSpPr txBox="1"/>
          <p:nvPr/>
        </p:nvSpPr>
        <p:spPr>
          <a:xfrm>
            <a:off x="312303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500" name="config-C13-title-0: 帧输出"/>
          <p:cNvSpPr txBox="1"/>
          <p:nvPr/>
        </p:nvSpPr>
        <p:spPr>
          <a:xfrm>
            <a:off x="3241463" y="6474613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1501" name="config-C13-title-1: VDMA"/>
          <p:cNvSpPr txBox="1"/>
          <p:nvPr/>
        </p:nvSpPr>
        <p:spPr>
          <a:xfrm>
            <a:off x="3261902" y="6582986"/>
            <a:ext cx="36552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VDMA</a:t>
            </a:r>
          </a:p>
        </p:txBody>
      </p:sp>
      <p:sp>
        <p:nvSpPr>
          <p:cNvPr id="1502" name="reg-badge-C14-text: C14"/>
          <p:cNvSpPr txBox="1"/>
          <p:nvPr/>
        </p:nvSpPr>
        <p:spPr>
          <a:xfrm>
            <a:off x="384016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03" name="config-C14-title-0: LVDS"/>
          <p:cNvSpPr txBox="1"/>
          <p:nvPr/>
        </p:nvSpPr>
        <p:spPr>
          <a:xfrm>
            <a:off x="3992224" y="6474613"/>
            <a:ext cx="339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504" name="config-C14-title-1: TX"/>
          <p:cNvSpPr txBox="1"/>
          <p:nvPr/>
        </p:nvSpPr>
        <p:spPr>
          <a:xfrm>
            <a:off x="4058206" y="6582986"/>
            <a:ext cx="20716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1505" name="reg-badge-C15-text: C15"/>
          <p:cNvSpPr txBox="1"/>
          <p:nvPr/>
        </p:nvSpPr>
        <p:spPr>
          <a:xfrm>
            <a:off x="455729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06" name="config-C15-title-0: 压缩器"/>
          <p:cNvSpPr txBox="1"/>
          <p:nvPr/>
        </p:nvSpPr>
        <p:spPr>
          <a:xfrm>
            <a:off x="4675717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1507" name="reg-badge-C16-text: C16"/>
          <p:cNvSpPr txBox="1"/>
          <p:nvPr/>
        </p:nvSpPr>
        <p:spPr>
          <a:xfrm>
            <a:off x="527441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08" name="config-C16-title-0: 解压器"/>
          <p:cNvSpPr txBox="1"/>
          <p:nvPr/>
        </p:nvSpPr>
        <p:spPr>
          <a:xfrm>
            <a:off x="5392843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1509" name="front-F0-t0: F0 · LLC"/>
          <p:cNvSpPr txBox="1"/>
          <p:nvPr/>
        </p:nvSpPr>
        <p:spPr>
          <a:xfrm>
            <a:off x="6431137" y="4319508"/>
            <a:ext cx="345726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1510" name="front-F1-t0: F1 · GB 搬运"/>
          <p:cNvSpPr txBox="1"/>
          <p:nvPr/>
        </p:nvSpPr>
        <p:spPr>
          <a:xfrm>
            <a:off x="7287834" y="4319508"/>
            <a:ext cx="494998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1511" name="front-F2-t0: F2 · 帧写"/>
          <p:cNvSpPr txBox="1"/>
          <p:nvPr/>
        </p:nvSpPr>
        <p:spPr>
          <a:xfrm>
            <a:off x="8279294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1512" name="front-F3-t0: F3 · 帧读"/>
          <p:cNvSpPr txBox="1"/>
          <p:nvPr/>
        </p:nvSpPr>
        <p:spPr>
          <a:xfrm>
            <a:off x="9210627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1513" name="front-adapt-t0: 共享压缩前端 · 四口区域选择 / 事务跟踪"/>
          <p:cNvSpPr txBox="1"/>
          <p:nvPr/>
        </p:nvSpPr>
        <p:spPr>
          <a:xfrm>
            <a:off x="7063335" y="4503912"/>
            <a:ext cx="192613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1514" name="badge-C12-text: C12"/>
          <p:cNvSpPr txBox="1"/>
          <p:nvPr/>
        </p:nvSpPr>
        <p:spPr>
          <a:xfrm>
            <a:off x="9641525" y="4525993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515" name="address-control-t0: 地址 / 事务"/>
          <p:cNvSpPr txBox="1"/>
          <p:nvPr/>
        </p:nvSpPr>
        <p:spPr>
          <a:xfrm>
            <a:off x="6276216" y="4810066"/>
            <a:ext cx="62170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1516" name="address-control-t1: AR / AW 映射"/>
          <p:cNvSpPr txBox="1"/>
          <p:nvPr/>
        </p:nvSpPr>
        <p:spPr>
          <a:xfrm>
            <a:off x="6279909" y="4933883"/>
            <a:ext cx="61431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1517" name="metadata-t0: 块地址 / 元数据"/>
          <p:cNvSpPr txBox="1"/>
          <p:nvPr/>
        </p:nvSpPr>
        <p:spPr>
          <a:xfrm>
            <a:off x="6202108" y="5223511"/>
            <a:ext cx="769916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1518" name="badge-C15-text: C15"/>
          <p:cNvSpPr txBox="1"/>
          <p:nvPr/>
        </p:nvSpPr>
        <p:spPr>
          <a:xfrm>
            <a:off x="7196352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19" name="compressor-title: 共享压缩器"/>
          <p:cNvSpPr txBox="1"/>
          <p:nvPr/>
        </p:nvSpPr>
        <p:spPr>
          <a:xfrm>
            <a:off x="7272867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1520" name="compressor-detail: W 写数据"/>
          <p:cNvSpPr txBox="1"/>
          <p:nvPr/>
        </p:nvSpPr>
        <p:spPr>
          <a:xfrm>
            <a:off x="7352287" y="5130851"/>
            <a:ext cx="4507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1521" name="badge-C16-text: C16"/>
          <p:cNvSpPr txBox="1"/>
          <p:nvPr/>
        </p:nvSpPr>
        <p:spPr>
          <a:xfrm>
            <a:off x="8102285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22" name="decompressor-title: 共享解压器"/>
          <p:cNvSpPr txBox="1"/>
          <p:nvPr/>
        </p:nvSpPr>
        <p:spPr>
          <a:xfrm>
            <a:off x="8178800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1523" name="decompressor-detail: R 读数据"/>
          <p:cNvSpPr txBox="1"/>
          <p:nvPr/>
        </p:nvSpPr>
        <p:spPr>
          <a:xfrm>
            <a:off x="8267033" y="5130851"/>
            <a:ext cx="43313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1524" name="plain-bypass-title: 普通数据旁路"/>
          <p:cNvSpPr txBox="1"/>
          <p:nvPr/>
        </p:nvSpPr>
        <p:spPr>
          <a:xfrm>
            <a:off x="9033933" y="5007848"/>
            <a:ext cx="7112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1525" name="plain-bypass-detail: W / R 原样"/>
          <p:cNvSpPr txBox="1"/>
          <p:nvPr/>
        </p:nvSpPr>
        <p:spPr>
          <a:xfrm>
            <a:off x="9131647" y="5130851"/>
            <a:ext cx="5157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1526" name="front-route-t0: 下游 AXI 路由 / R、B 响应匹配"/>
          <p:cNvSpPr txBox="1"/>
          <p:nvPr/>
        </p:nvSpPr>
        <p:spPr>
          <a:xfrm>
            <a:off x="7283945" y="5499592"/>
            <a:ext cx="148491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1527" name="b-response-label: B"/>
          <p:cNvSpPr txBox="1"/>
          <p:nvPr/>
        </p:nvSpPr>
        <p:spPr>
          <a:xfrm>
            <a:off x="6250331" y="4667420"/>
            <a:ext cx="13160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528" name="badge-C11-text: C11"/>
          <p:cNvSpPr txBox="1"/>
          <p:nvPr/>
        </p:nvSpPr>
        <p:spPr>
          <a:xfrm>
            <a:off x="10928458" y="4637753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529" name="roi-scheduler-title: ROI 任务表"/>
          <p:cNvSpPr txBox="1"/>
          <p:nvPr/>
        </p:nvSpPr>
        <p:spPr>
          <a:xfrm>
            <a:off x="10405300" y="4733528"/>
            <a:ext cx="593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1530" name="roi-scheduler-detail: 顺序调度"/>
          <p:cNvSpPr txBox="1"/>
          <p:nvPr/>
        </p:nvSpPr>
        <p:spPr>
          <a:xfrm>
            <a:off x="10481733" y="4849758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1531" name="badge-C13-text: C13"/>
          <p:cNvSpPr txBox="1"/>
          <p:nvPr/>
        </p:nvSpPr>
        <p:spPr>
          <a:xfrm>
            <a:off x="10928458" y="5027219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532" name="roi-vdma-title: 帧输出 VDMA"/>
          <p:cNvSpPr txBox="1"/>
          <p:nvPr/>
        </p:nvSpPr>
        <p:spPr>
          <a:xfrm>
            <a:off x="10351476" y="5122994"/>
            <a:ext cx="70078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VDMA</a:t>
            </a:r>
          </a:p>
        </p:txBody>
      </p:sp>
      <p:sp>
        <p:nvSpPr>
          <p:cNvPr id="1533" name="roi-vdma-detail: 二维 AXI 读"/>
          <p:cNvSpPr txBox="1"/>
          <p:nvPr/>
        </p:nvSpPr>
        <p:spPr>
          <a:xfrm>
            <a:off x="10439553" y="5239225"/>
            <a:ext cx="52462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1534" name="roi-fifo-t0: 像素整理"/>
          <p:cNvSpPr txBox="1"/>
          <p:nvPr/>
        </p:nvSpPr>
        <p:spPr>
          <a:xfrm>
            <a:off x="10447867" y="5411200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1535" name="roi-fifo-t1: 输出 FIFO"/>
          <p:cNvSpPr txBox="1"/>
          <p:nvPr/>
        </p:nvSpPr>
        <p:spPr>
          <a:xfrm>
            <a:off x="10473904" y="5535016"/>
            <a:ext cx="45592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1536" name="badge-C14-text: C14"/>
          <p:cNvSpPr txBox="1"/>
          <p:nvPr/>
        </p:nvSpPr>
        <p:spPr>
          <a:xfrm>
            <a:off x="10928458" y="5721486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37" name="lvds-tx-title: LVDS TX"/>
          <p:cNvSpPr txBox="1"/>
          <p:nvPr/>
        </p:nvSpPr>
        <p:spPr>
          <a:xfrm>
            <a:off x="10464287" y="5817261"/>
            <a:ext cx="47516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1538" name="lvds-tx-detail: 子图帧行封装"/>
          <p:cNvSpPr txBox="1"/>
          <p:nvPr/>
        </p:nvSpPr>
        <p:spPr>
          <a:xfrm>
            <a:off x="10393680" y="5933491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1539" name="legend-axi-interface-text: AXI 请求 / 响应"/>
          <p:cNvSpPr txBox="1"/>
          <p:nvPr/>
        </p:nvSpPr>
        <p:spPr>
          <a:xfrm>
            <a:off x="10427187" y="2878718"/>
            <a:ext cx="68482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 / 响应</a:t>
            </a:r>
          </a:p>
        </p:txBody>
      </p:sp>
      <p:sp>
        <p:nvSpPr>
          <p:cNvPr id="1540" name="legend-axi-request-text: AXI 请求方向"/>
          <p:cNvSpPr txBox="1"/>
          <p:nvPr/>
        </p:nvSpPr>
        <p:spPr>
          <a:xfrm>
            <a:off x="10476460" y="3085305"/>
            <a:ext cx="5862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1541" name="legend-gb-text: GB 局部读写"/>
          <p:cNvSpPr txBox="1"/>
          <p:nvPr/>
        </p:nvSpPr>
        <p:spPr>
          <a:xfrm>
            <a:off x="10479984" y="3291891"/>
            <a:ext cx="57923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1542" name="legend-pixel-text: 像素流"/>
          <p:cNvSpPr txBox="1"/>
          <p:nvPr/>
        </p:nvSpPr>
        <p:spPr>
          <a:xfrm>
            <a:off x="10593493" y="3498478"/>
            <a:ext cx="3522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1543" name="legend-cfg-text: 配置 / 控制"/>
          <p:cNvSpPr txBox="1"/>
          <p:nvPr/>
        </p:nvSpPr>
        <p:spPr>
          <a:xfrm>
            <a:off x="10500193" y="3705065"/>
            <a:ext cx="5388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1544" name="legend-optional-text: eMMC 接口"/>
          <p:cNvSpPr txBox="1"/>
          <p:nvPr/>
        </p:nvSpPr>
        <p:spPr>
          <a:xfrm>
            <a:off x="10501180" y="3911651"/>
            <a:ext cx="53684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1545" name="legend-return: 单箭头接口：省略响应"/>
          <p:cNvSpPr txBox="1"/>
          <p:nvPr/>
        </p:nvSpPr>
        <p:spPr>
          <a:xfrm>
            <a:off x="10254827" y="4010407"/>
            <a:ext cx="894080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单箭头接口：省略响应</a:t>
            </a:r>
          </a:p>
        </p:txBody>
      </p:sp>
      <p:sp>
        <p:nvSpPr>
          <p:cNvPr id="1546" name="legend-status: 虚线框：规划 / 可选"/>
          <p:cNvSpPr txBox="1"/>
          <p:nvPr/>
        </p:nvSpPr>
        <p:spPr>
          <a:xfrm>
            <a:off x="10290625" y="4122167"/>
            <a:ext cx="82248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虚线框：规划 / 可选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1002" name="soc-boundary"/>
          <p:cNvSpPr/>
          <p:nvPr/>
        </p:nvSpPr>
        <p:spPr>
          <a:xfrm>
            <a:off x="71967" y="603149"/>
            <a:ext cx="11260667" cy="6180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3" name="compute"/>
          <p:cNvSpPr/>
          <p:nvPr/>
        </p:nvSpPr>
        <p:spPr>
          <a:xfrm>
            <a:off x="241300" y="738616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4" name="gb-region"/>
          <p:cNvSpPr/>
          <p:nvPr/>
        </p:nvSpPr>
        <p:spPr>
          <a:xfrm>
            <a:off x="3594100" y="738616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5" name="image-rx"/>
          <p:cNvSpPr/>
          <p:nvPr/>
        </p:nvSpPr>
        <p:spPr>
          <a:xfrm>
            <a:off x="7607300" y="738616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6" name="reg-region"/>
          <p:cNvSpPr/>
          <p:nvPr/>
        </p:nvSpPr>
        <p:spPr>
          <a:xfrm>
            <a:off x="173567" y="4311549"/>
            <a:ext cx="5825067" cy="1513840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7" name="ddr-controller"/>
          <p:cNvSpPr/>
          <p:nvPr/>
        </p:nvSpPr>
        <p:spPr>
          <a:xfrm>
            <a:off x="6129867" y="5835549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8" name="roi-region"/>
          <p:cNvSpPr/>
          <p:nvPr/>
        </p:nvSpPr>
        <p:spPr>
          <a:xfrm>
            <a:off x="10160000" y="4311549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9" name="compression-front"/>
          <p:cNvSpPr/>
          <p:nvPr/>
        </p:nvSpPr>
        <p:spPr>
          <a:xfrm>
            <a:off x="6129867" y="4375896"/>
            <a:ext cx="3793067" cy="133434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0" name="shared-payload-services"/>
          <p:cNvSpPr/>
          <p:nvPr/>
        </p:nvSpPr>
        <p:spPr>
          <a:xfrm>
            <a:off x="7095067" y="4768749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1" name="cpu-ara-command"/>
          <p:cNvSpPr/>
          <p:nvPr/>
        </p:nvSpPr>
        <p:spPr>
          <a:xfrm>
            <a:off x="1172633" y="12127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2" name="ara-filter-edge"/>
          <p:cNvSpPr/>
          <p:nvPr/>
        </p:nvSpPr>
        <p:spPr>
          <a:xfrm>
            <a:off x="1731433" y="1432882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3" name="filter-width"/>
          <p:cNvSpPr/>
          <p:nvPr/>
        </p:nvSpPr>
        <p:spPr>
          <a:xfrm>
            <a:off x="2053167" y="1730909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4" name="npu-gb"/>
          <p:cNvSpPr/>
          <p:nvPr/>
        </p:nvSpPr>
        <p:spPr>
          <a:xfrm>
            <a:off x="4593167" y="1382082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5" name="adapter-sram"/>
          <p:cNvSpPr/>
          <p:nvPr/>
        </p:nvSpPr>
        <p:spPr>
          <a:xfrm>
            <a:off x="5490633" y="14498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6" name="mover-gb"/>
          <p:cNvSpPr/>
          <p:nvPr/>
        </p:nvSpPr>
        <p:spPr>
          <a:xfrm>
            <a:off x="5490633" y="19070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7" name="lvds-rx-to-rx-cdc"/>
          <p:cNvSpPr/>
          <p:nvPr/>
        </p:nvSpPr>
        <p:spPr>
          <a:xfrm>
            <a:off x="82507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8" name="rx-cdc-to-isp"/>
          <p:cNvSpPr/>
          <p:nvPr/>
        </p:nvSpPr>
        <p:spPr>
          <a:xfrm>
            <a:off x="88942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9" name="isp-to-frame-select"/>
          <p:cNvSpPr/>
          <p:nvPr/>
        </p:nvSpPr>
        <p:spPr>
          <a:xfrm>
            <a:off x="95546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0" name="frame-select-to-frame-dma"/>
          <p:cNvSpPr/>
          <p:nvPr/>
        </p:nvSpPr>
        <p:spPr>
          <a:xfrm>
            <a:off x="10265833" y="1517549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1" name="raw-bypass"/>
          <p:cNvSpPr/>
          <p:nvPr/>
        </p:nvSpPr>
        <p:spPr>
          <a:xfrm>
            <a:off x="8623300" y="1060349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2" name="isp-gb"/>
          <p:cNvSpPr/>
          <p:nvPr/>
        </p:nvSpPr>
        <p:spPr>
          <a:xfrm>
            <a:off x="5101167" y="1703816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3" name="master-1"/>
          <p:cNvSpPr/>
          <p:nvPr/>
        </p:nvSpPr>
        <p:spPr>
          <a:xfrm>
            <a:off x="1838678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4" name="master-3"/>
          <p:cNvSpPr/>
          <p:nvPr/>
        </p:nvSpPr>
        <p:spPr>
          <a:xfrm>
            <a:off x="3968515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5" name="master-4"/>
          <p:cNvSpPr/>
          <p:nvPr/>
        </p:nvSpPr>
        <p:spPr>
          <a:xfrm>
            <a:off x="5033433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6" name="master-5"/>
          <p:cNvSpPr/>
          <p:nvPr/>
        </p:nvSpPr>
        <p:spPr>
          <a:xfrm>
            <a:off x="6098352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7" name="master-6"/>
          <p:cNvSpPr/>
          <p:nvPr/>
        </p:nvSpPr>
        <p:spPr>
          <a:xfrm>
            <a:off x="7163270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8" name="master-7"/>
          <p:cNvSpPr/>
          <p:nvPr/>
        </p:nvSpPr>
        <p:spPr>
          <a:xfrm>
            <a:off x="8228189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9" name="master-8"/>
          <p:cNvSpPr/>
          <p:nvPr/>
        </p:nvSpPr>
        <p:spPr>
          <a:xfrm>
            <a:off x="9293107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0" name="cpu-xbar"/>
          <p:cNvSpPr/>
          <p:nvPr/>
        </p:nvSpPr>
        <p:spPr>
          <a:xfrm>
            <a:off x="773759" y="1737682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1" name="ara-xbar"/>
          <p:cNvSpPr/>
          <p:nvPr/>
        </p:nvSpPr>
        <p:spPr>
          <a:xfrm>
            <a:off x="2903596" y="1876536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2" name="target-0"/>
          <p:cNvSpPr/>
          <p:nvPr/>
        </p:nvSpPr>
        <p:spPr>
          <a:xfrm>
            <a:off x="925890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3" name="target-1"/>
          <p:cNvSpPr/>
          <p:nvPr/>
        </p:nvSpPr>
        <p:spPr>
          <a:xfrm>
            <a:off x="2295071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4" name="target-2"/>
          <p:cNvSpPr/>
          <p:nvPr/>
        </p:nvSpPr>
        <p:spPr>
          <a:xfrm>
            <a:off x="3664252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5" name="atomics-llc"/>
          <p:cNvSpPr/>
          <p:nvPr/>
        </p:nvSpPr>
        <p:spPr>
          <a:xfrm>
            <a:off x="3647319" y="3928856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6" name="target-3"/>
          <p:cNvSpPr/>
          <p:nvPr/>
        </p:nvSpPr>
        <p:spPr>
          <a:xfrm>
            <a:off x="5033433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7" name="target-4"/>
          <p:cNvSpPr/>
          <p:nvPr/>
        </p:nvSpPr>
        <p:spPr>
          <a:xfrm>
            <a:off x="6402614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8" name="target-5"/>
          <p:cNvSpPr/>
          <p:nvPr/>
        </p:nvSpPr>
        <p:spPr>
          <a:xfrm>
            <a:off x="7771795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9" name="target-6"/>
          <p:cNvSpPr/>
          <p:nvPr/>
        </p:nvSpPr>
        <p:spPr>
          <a:xfrm>
            <a:off x="9140976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0" name="m5-gb"/>
          <p:cNvSpPr/>
          <p:nvPr/>
        </p:nvSpPr>
        <p:spPr>
          <a:xfrm>
            <a:off x="4910667" y="2059416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1" name="emmc-physical"/>
          <p:cNvSpPr/>
          <p:nvPr/>
        </p:nvSpPr>
        <p:spPr>
          <a:xfrm>
            <a:off x="8712482" y="2329220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2" name="bridge-regbus"/>
          <p:cNvSpPr/>
          <p:nvPr/>
        </p:nvSpPr>
        <p:spPr>
          <a:xfrm>
            <a:off x="2295071" y="4108349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3" name="reg-column-0"/>
          <p:cNvSpPr/>
          <p:nvPr/>
        </p:nvSpPr>
        <p:spPr>
          <a:xfrm>
            <a:off x="2853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4" name="bootrom-cfg"/>
          <p:cNvSpPr/>
          <p:nvPr/>
        </p:nvSpPr>
        <p:spPr>
          <a:xfrm>
            <a:off x="2853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5" name="uart-cfg"/>
          <p:cNvSpPr/>
          <p:nvPr/>
        </p:nvSpPr>
        <p:spPr>
          <a:xfrm>
            <a:off x="2853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6" name="vga-regs-cfg"/>
          <p:cNvSpPr/>
          <p:nvPr/>
        </p:nvSpPr>
        <p:spPr>
          <a:xfrm>
            <a:off x="2853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7" name="irq-router-cfg"/>
          <p:cNvSpPr/>
          <p:nvPr/>
        </p:nvSpPr>
        <p:spPr>
          <a:xfrm>
            <a:off x="2853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8" name="reg-column-1"/>
          <p:cNvSpPr/>
          <p:nvPr/>
        </p:nvSpPr>
        <p:spPr>
          <a:xfrm>
            <a:off x="14029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9" name="clint-cfg"/>
          <p:cNvSpPr/>
          <p:nvPr/>
        </p:nvSpPr>
        <p:spPr>
          <a:xfrm>
            <a:off x="14029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0" name="i2c-cfg"/>
          <p:cNvSpPr/>
          <p:nvPr/>
        </p:nvSpPr>
        <p:spPr>
          <a:xfrm>
            <a:off x="14029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1" name="usb-regs-cfg"/>
          <p:cNvSpPr/>
          <p:nvPr/>
        </p:nvSpPr>
        <p:spPr>
          <a:xfrm>
            <a:off x="14029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2" name="axi-rt-config-cfg"/>
          <p:cNvSpPr/>
          <p:nvPr/>
        </p:nvSpPr>
        <p:spPr>
          <a:xfrm>
            <a:off x="14029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3" name="reg-column-2"/>
          <p:cNvSpPr/>
          <p:nvPr/>
        </p:nvSpPr>
        <p:spPr>
          <a:xfrm>
            <a:off x="25205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4" name="soc-regs-cfg"/>
          <p:cNvSpPr/>
          <p:nvPr/>
        </p:nvSpPr>
        <p:spPr>
          <a:xfrm>
            <a:off x="25205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5" name="spi-cfg"/>
          <p:cNvSpPr/>
          <p:nvPr/>
        </p:nvSpPr>
        <p:spPr>
          <a:xfrm>
            <a:off x="25205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6" name="err-vga-cfg"/>
          <p:cNvSpPr/>
          <p:nvPr/>
        </p:nvSpPr>
        <p:spPr>
          <a:xfrm>
            <a:off x="25205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7" name="clic-cfg"/>
          <p:cNvSpPr/>
          <p:nvPr/>
        </p:nvSpPr>
        <p:spPr>
          <a:xfrm>
            <a:off x="25205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8" name="reg-column-3"/>
          <p:cNvSpPr/>
          <p:nvPr/>
        </p:nvSpPr>
        <p:spPr>
          <a:xfrm>
            <a:off x="36381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9" name="plic-cfg"/>
          <p:cNvSpPr/>
          <p:nvPr/>
        </p:nvSpPr>
        <p:spPr>
          <a:xfrm>
            <a:off x="36381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0" name="gpio-cfg"/>
          <p:cNvSpPr/>
          <p:nvPr/>
        </p:nvSpPr>
        <p:spPr>
          <a:xfrm>
            <a:off x="36381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1" name="err-dma-cfg"/>
          <p:cNvSpPr/>
          <p:nvPr/>
        </p:nvSpPr>
        <p:spPr>
          <a:xfrm>
            <a:off x="36381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2" name="reg-error-cfg"/>
          <p:cNvSpPr/>
          <p:nvPr/>
        </p:nvSpPr>
        <p:spPr>
          <a:xfrm>
            <a:off x="36381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3" name="reg-column-4"/>
          <p:cNvSpPr/>
          <p:nvPr/>
        </p:nvSpPr>
        <p:spPr>
          <a:xfrm>
            <a:off x="47557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4" name="llc-regs-cfg"/>
          <p:cNvSpPr/>
          <p:nvPr/>
        </p:nvSpPr>
        <p:spPr>
          <a:xfrm>
            <a:off x="47557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5" name="slink-regs-cfg"/>
          <p:cNvSpPr/>
          <p:nvPr/>
        </p:nvSpPr>
        <p:spPr>
          <a:xfrm>
            <a:off x="47557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6" name="err-cpu-cfg"/>
          <p:cNvSpPr/>
          <p:nvPr/>
        </p:nvSpPr>
        <p:spPr>
          <a:xfrm>
            <a:off x="47557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7" name="reg-ext-cfg"/>
          <p:cNvSpPr/>
          <p:nvPr/>
        </p:nvSpPr>
        <p:spPr>
          <a:xfrm>
            <a:off x="47557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8" name="ddr-arb-0"/>
          <p:cNvSpPr/>
          <p:nvPr/>
        </p:nvSpPr>
        <p:spPr>
          <a:xfrm>
            <a:off x="6604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9" name="ddr-arb-1"/>
          <p:cNvSpPr/>
          <p:nvPr/>
        </p:nvSpPr>
        <p:spPr>
          <a:xfrm>
            <a:off x="7535333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0" name="ddr-arb-2"/>
          <p:cNvSpPr/>
          <p:nvPr/>
        </p:nvSpPr>
        <p:spPr>
          <a:xfrm>
            <a:off x="8466667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1" name="ddr-arb-3"/>
          <p:cNvSpPr/>
          <p:nvPr/>
        </p:nvSpPr>
        <p:spPr>
          <a:xfrm>
            <a:off x="9398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2" name="arb-rw"/>
          <p:cNvSpPr/>
          <p:nvPr/>
        </p:nvSpPr>
        <p:spPr>
          <a:xfrm>
            <a:off x="7001933" y="6072616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3" name="rw-command"/>
          <p:cNvSpPr/>
          <p:nvPr/>
        </p:nvSpPr>
        <p:spPr>
          <a:xfrm>
            <a:off x="7806267" y="6191149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4" name="controller-phy"/>
          <p:cNvSpPr/>
          <p:nvPr/>
        </p:nvSpPr>
        <p:spPr>
          <a:xfrm>
            <a:off x="9855200" y="6191149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5" name="phy-ddr"/>
          <p:cNvSpPr/>
          <p:nvPr/>
        </p:nvSpPr>
        <p:spPr>
          <a:xfrm>
            <a:off x="11125200" y="6326616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6" name="roi-vdma-control"/>
          <p:cNvSpPr/>
          <p:nvPr/>
        </p:nvSpPr>
        <p:spPr>
          <a:xfrm>
            <a:off x="10701867" y="4971949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7" name="vdma-pixels"/>
          <p:cNvSpPr/>
          <p:nvPr/>
        </p:nvSpPr>
        <p:spPr>
          <a:xfrm>
            <a:off x="10701867" y="53614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8" name="fifo-lvds"/>
          <p:cNvSpPr/>
          <p:nvPr/>
        </p:nvSpPr>
        <p:spPr>
          <a:xfrm>
            <a:off x="10701867" y="56662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9" name="llc-f0"/>
          <p:cNvSpPr/>
          <p:nvPr/>
        </p:nvSpPr>
        <p:spPr>
          <a:xfrm>
            <a:off x="4019852" y="4071096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0" name="mover-f1"/>
          <p:cNvSpPr/>
          <p:nvPr/>
        </p:nvSpPr>
        <p:spPr>
          <a:xfrm>
            <a:off x="7336367" y="1907016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1" name="frame-f2"/>
          <p:cNvSpPr/>
          <p:nvPr/>
        </p:nvSpPr>
        <p:spPr>
          <a:xfrm>
            <a:off x="8466667" y="1686882"/>
            <a:ext cx="2727396" cy="2628053"/>
          </a:xfrm>
          <a:custGeom>
            <a:avLst/>
            <a:gdLst/>
            <a:ahLst/>
            <a:cxnLst/>
            <a:rect l="0" t="0" r="r" b="b"/>
            <a:pathLst>
              <a:path w="2727396" h="2628053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628053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2" name="roi-f3-request"/>
          <p:cNvSpPr/>
          <p:nvPr/>
        </p:nvSpPr>
        <p:spPr>
          <a:xfrm>
            <a:off x="9398000" y="4277682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3" name="front-input-0"/>
          <p:cNvSpPr/>
          <p:nvPr/>
        </p:nvSpPr>
        <p:spPr>
          <a:xfrm>
            <a:off x="6604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4" name="front-input-1"/>
          <p:cNvSpPr/>
          <p:nvPr/>
        </p:nvSpPr>
        <p:spPr>
          <a:xfrm>
            <a:off x="7535333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5" name="front-input-2"/>
          <p:cNvSpPr/>
          <p:nvPr/>
        </p:nvSpPr>
        <p:spPr>
          <a:xfrm>
            <a:off x="8466667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6" name="front-input-3"/>
          <p:cNvSpPr/>
          <p:nvPr/>
        </p:nvSpPr>
        <p:spPr>
          <a:xfrm>
            <a:off x="9398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7" name="adapt-address"/>
          <p:cNvSpPr/>
          <p:nvPr/>
        </p:nvSpPr>
        <p:spPr>
          <a:xfrm>
            <a:off x="6587067" y="4667149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8" name="address-downstream"/>
          <p:cNvSpPr/>
          <p:nvPr/>
        </p:nvSpPr>
        <p:spPr>
          <a:xfrm>
            <a:off x="6976533" y="4938082"/>
            <a:ext cx="40640" cy="552027"/>
          </a:xfrm>
          <a:custGeom>
            <a:avLst/>
            <a:gdLst/>
            <a:ahLst/>
            <a:cxnLst/>
            <a:rect l="0" t="0" r="r" b="b"/>
            <a:pathLst>
              <a:path w="40640" h="552027" fill="none">
                <a:moveTo>
                  <a:pt x="0" y="0"/>
                </a:moveTo>
                <a:lnTo>
                  <a:pt x="40640" y="0"/>
                </a:lnTo>
                <a:lnTo>
                  <a:pt x="40640" y="5520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9" name="b-response"/>
          <p:cNvSpPr/>
          <p:nvPr/>
        </p:nvSpPr>
        <p:spPr>
          <a:xfrm>
            <a:off x="6163733" y="4667149"/>
            <a:ext cx="84667" cy="907627"/>
          </a:xfrm>
          <a:custGeom>
            <a:avLst/>
            <a:gdLst/>
            <a:ahLst/>
            <a:cxnLst/>
            <a:rect l="0" t="0" r="r" b="b"/>
            <a:pathLst>
              <a:path w="84667" h="907627" fill="none">
                <a:moveTo>
                  <a:pt x="33867" y="907627"/>
                </a:moveTo>
                <a:lnTo>
                  <a:pt x="0" y="90762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0" name="metadata-control"/>
          <p:cNvSpPr/>
          <p:nvPr/>
        </p:nvSpPr>
        <p:spPr>
          <a:xfrm>
            <a:off x="6587067" y="5107416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1" name="metadata-storage"/>
          <p:cNvSpPr/>
          <p:nvPr/>
        </p:nvSpPr>
        <p:spPr>
          <a:xfrm>
            <a:off x="6587067" y="5378349"/>
            <a:ext cx="1" cy="111760"/>
          </a:xfrm>
          <a:custGeom>
            <a:avLst/>
            <a:gdLst/>
            <a:ahLst/>
            <a:cxnLst/>
            <a:rect l="0" t="0" r="r" b="b"/>
            <a:pathLst>
              <a:path w="1" h="111760" fill="none">
                <a:moveTo>
                  <a:pt x="0" y="0"/>
                </a:moveTo>
                <a:lnTo>
                  <a:pt x="0" y="11176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2" name="adapt-compressor"/>
          <p:cNvSpPr/>
          <p:nvPr/>
        </p:nvSpPr>
        <p:spPr>
          <a:xfrm>
            <a:off x="7577667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3" name="compressor-route"/>
          <p:cNvSpPr/>
          <p:nvPr/>
        </p:nvSpPr>
        <p:spPr>
          <a:xfrm>
            <a:off x="7577667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4" name="read-to-decoder"/>
          <p:cNvSpPr/>
          <p:nvPr/>
        </p:nvSpPr>
        <p:spPr>
          <a:xfrm>
            <a:off x="8483600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19642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5" name="decoder-up"/>
          <p:cNvSpPr/>
          <p:nvPr/>
        </p:nvSpPr>
        <p:spPr>
          <a:xfrm>
            <a:off x="8483600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6" name="adapt-plain-bypass"/>
          <p:cNvSpPr/>
          <p:nvPr/>
        </p:nvSpPr>
        <p:spPr>
          <a:xfrm>
            <a:off x="9389533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7" name="plain-bypass-route"/>
          <p:cNvSpPr/>
          <p:nvPr/>
        </p:nvSpPr>
        <p:spPr>
          <a:xfrm>
            <a:off x="9389533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8" name="front-ddr-0"/>
          <p:cNvSpPr/>
          <p:nvPr/>
        </p:nvSpPr>
        <p:spPr>
          <a:xfrm>
            <a:off x="6604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9" name="front-ddr-1"/>
          <p:cNvSpPr/>
          <p:nvPr/>
        </p:nvSpPr>
        <p:spPr>
          <a:xfrm>
            <a:off x="7535333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0" name="front-ddr-2"/>
          <p:cNvSpPr/>
          <p:nvPr/>
        </p:nvSpPr>
        <p:spPr>
          <a:xfrm>
            <a:off x="8466667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1" name="front-ddr-3"/>
          <p:cNvSpPr/>
          <p:nvPr/>
        </p:nvSpPr>
        <p:spPr>
          <a:xfrm>
            <a:off x="9398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2" name="regext-config"/>
          <p:cNvSpPr/>
          <p:nvPr/>
        </p:nvSpPr>
        <p:spPr>
          <a:xfrm>
            <a:off x="5846233" y="5659442"/>
            <a:ext cx="198967" cy="643805"/>
          </a:xfrm>
          <a:custGeom>
            <a:avLst/>
            <a:gdLst/>
            <a:ahLst/>
            <a:cxnLst/>
            <a:rect l="0" t="0" r="r" b="b"/>
            <a:pathLst>
              <a:path w="198967" h="643805" fill="none">
                <a:moveTo>
                  <a:pt x="0" y="0"/>
                </a:moveTo>
                <a:lnTo>
                  <a:pt x="198967" y="0"/>
                </a:lnTo>
                <a:lnTo>
                  <a:pt x="198967" y="643805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3" name="config-trunk-1"/>
          <p:cNvSpPr/>
          <p:nvPr/>
        </p:nvSpPr>
        <p:spPr>
          <a:xfrm>
            <a:off x="576157" y="5849096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4" name="cfg-C1"/>
          <p:cNvSpPr/>
          <p:nvPr/>
        </p:nvSpPr>
        <p:spPr>
          <a:xfrm>
            <a:off x="57615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5" name="cfg-C2"/>
          <p:cNvSpPr/>
          <p:nvPr/>
        </p:nvSpPr>
        <p:spPr>
          <a:xfrm>
            <a:off x="129328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6" name="cfg-C3"/>
          <p:cNvSpPr/>
          <p:nvPr/>
        </p:nvSpPr>
        <p:spPr>
          <a:xfrm>
            <a:off x="201041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7" name="cfg-C4"/>
          <p:cNvSpPr/>
          <p:nvPr/>
        </p:nvSpPr>
        <p:spPr>
          <a:xfrm>
            <a:off x="272753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8" name="cfg-C5"/>
          <p:cNvSpPr/>
          <p:nvPr/>
        </p:nvSpPr>
        <p:spPr>
          <a:xfrm>
            <a:off x="344466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9" name="cfg-C6"/>
          <p:cNvSpPr/>
          <p:nvPr/>
        </p:nvSpPr>
        <p:spPr>
          <a:xfrm>
            <a:off x="416179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0" name="cfg-C7"/>
          <p:cNvSpPr/>
          <p:nvPr/>
        </p:nvSpPr>
        <p:spPr>
          <a:xfrm>
            <a:off x="487891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1" name="cfg-C8"/>
          <p:cNvSpPr/>
          <p:nvPr/>
        </p:nvSpPr>
        <p:spPr>
          <a:xfrm>
            <a:off x="559604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2" name="config-trunk-2"/>
          <p:cNvSpPr/>
          <p:nvPr/>
        </p:nvSpPr>
        <p:spPr>
          <a:xfrm>
            <a:off x="576157" y="6303248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3" name="cfg-C9"/>
          <p:cNvSpPr/>
          <p:nvPr/>
        </p:nvSpPr>
        <p:spPr>
          <a:xfrm>
            <a:off x="57615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4" name="cfg-C10"/>
          <p:cNvSpPr/>
          <p:nvPr/>
        </p:nvSpPr>
        <p:spPr>
          <a:xfrm>
            <a:off x="129328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5" name="cfg-C11"/>
          <p:cNvSpPr/>
          <p:nvPr/>
        </p:nvSpPr>
        <p:spPr>
          <a:xfrm>
            <a:off x="201041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6" name="cfg-C12"/>
          <p:cNvSpPr/>
          <p:nvPr/>
        </p:nvSpPr>
        <p:spPr>
          <a:xfrm>
            <a:off x="272753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7" name="cfg-C13"/>
          <p:cNvSpPr/>
          <p:nvPr/>
        </p:nvSpPr>
        <p:spPr>
          <a:xfrm>
            <a:off x="344466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8" name="cfg-C14"/>
          <p:cNvSpPr/>
          <p:nvPr/>
        </p:nvSpPr>
        <p:spPr>
          <a:xfrm>
            <a:off x="416179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9" name="cfg-C15"/>
          <p:cNvSpPr/>
          <p:nvPr/>
        </p:nvSpPr>
        <p:spPr>
          <a:xfrm>
            <a:off x="487891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0" name="cfg-C16"/>
          <p:cNvSpPr/>
          <p:nvPr/>
        </p:nvSpPr>
        <p:spPr>
          <a:xfrm>
            <a:off x="559604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1" name="legend-axi-interface"/>
          <p:cNvSpPr/>
          <p:nvPr/>
        </p:nvSpPr>
        <p:spPr>
          <a:xfrm>
            <a:off x="10193867" y="290608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2" name="legend-axi-request"/>
          <p:cNvSpPr/>
          <p:nvPr/>
        </p:nvSpPr>
        <p:spPr>
          <a:xfrm>
            <a:off x="10193867" y="306864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3" name="legend-gb"/>
          <p:cNvSpPr/>
          <p:nvPr/>
        </p:nvSpPr>
        <p:spPr>
          <a:xfrm>
            <a:off x="10193867" y="323120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4" name="legend-pixel"/>
          <p:cNvSpPr/>
          <p:nvPr/>
        </p:nvSpPr>
        <p:spPr>
          <a:xfrm>
            <a:off x="10193867" y="339376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5" name="legend-cfg"/>
          <p:cNvSpPr/>
          <p:nvPr/>
        </p:nvSpPr>
        <p:spPr>
          <a:xfrm>
            <a:off x="10193867" y="355632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6" name="legend-optional"/>
          <p:cNvSpPr/>
          <p:nvPr/>
        </p:nvSpPr>
        <p:spPr>
          <a:xfrm>
            <a:off x="10193867" y="371888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7" name="junction-84.25-1407.0951771653542"/>
          <p:cNvSpPr/>
          <p:nvPr/>
        </p:nvSpPr>
        <p:spPr>
          <a:xfrm>
            <a:off x="2683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8" name="junction-84.25-1495.0951771653542"/>
          <p:cNvSpPr/>
          <p:nvPr/>
        </p:nvSpPr>
        <p:spPr>
          <a:xfrm>
            <a:off x="2683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9" name="junction-84.25-1583.0951771653542"/>
          <p:cNvSpPr/>
          <p:nvPr/>
        </p:nvSpPr>
        <p:spPr>
          <a:xfrm>
            <a:off x="2683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0" name="junction-84.25-1671.0951771653542"/>
          <p:cNvSpPr/>
          <p:nvPr/>
        </p:nvSpPr>
        <p:spPr>
          <a:xfrm>
            <a:off x="2683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1" name="junction-414.25-1407.0951771653542"/>
          <p:cNvSpPr/>
          <p:nvPr/>
        </p:nvSpPr>
        <p:spPr>
          <a:xfrm>
            <a:off x="13859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2" name="junction-414.25-1495.0951771653542"/>
          <p:cNvSpPr/>
          <p:nvPr/>
        </p:nvSpPr>
        <p:spPr>
          <a:xfrm>
            <a:off x="13859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3" name="junction-414.25-1583.0951771653542"/>
          <p:cNvSpPr/>
          <p:nvPr/>
        </p:nvSpPr>
        <p:spPr>
          <a:xfrm>
            <a:off x="13859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4" name="junction-414.25-1671.0951771653542"/>
          <p:cNvSpPr/>
          <p:nvPr/>
        </p:nvSpPr>
        <p:spPr>
          <a:xfrm>
            <a:off x="13859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5" name="junction-744.25-1407.0951771653542"/>
          <p:cNvSpPr/>
          <p:nvPr/>
        </p:nvSpPr>
        <p:spPr>
          <a:xfrm>
            <a:off x="25035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6" name="junction-744.25-1495.0951771653542"/>
          <p:cNvSpPr/>
          <p:nvPr/>
        </p:nvSpPr>
        <p:spPr>
          <a:xfrm>
            <a:off x="25035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7" name="junction-744.25-1583.0951771653542"/>
          <p:cNvSpPr/>
          <p:nvPr/>
        </p:nvSpPr>
        <p:spPr>
          <a:xfrm>
            <a:off x="25035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8" name="junction-744.25-1671.0951771653542"/>
          <p:cNvSpPr/>
          <p:nvPr/>
        </p:nvSpPr>
        <p:spPr>
          <a:xfrm>
            <a:off x="25035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9" name="junction-1074.25-1407.0951771653542"/>
          <p:cNvSpPr/>
          <p:nvPr/>
        </p:nvSpPr>
        <p:spPr>
          <a:xfrm>
            <a:off x="36211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0" name="junction-1074.25-1495.0951771653542"/>
          <p:cNvSpPr/>
          <p:nvPr/>
        </p:nvSpPr>
        <p:spPr>
          <a:xfrm>
            <a:off x="36211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1" name="junction-1074.25-1583.0951771653542"/>
          <p:cNvSpPr/>
          <p:nvPr/>
        </p:nvSpPr>
        <p:spPr>
          <a:xfrm>
            <a:off x="36211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2" name="junction-1074.25-1671.0951771653542"/>
          <p:cNvSpPr/>
          <p:nvPr/>
        </p:nvSpPr>
        <p:spPr>
          <a:xfrm>
            <a:off x="36211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3" name="junction-1404.25-1407.0951771653542"/>
          <p:cNvSpPr/>
          <p:nvPr/>
        </p:nvSpPr>
        <p:spPr>
          <a:xfrm>
            <a:off x="47387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4" name="junction-1404.25-1495.0951771653542"/>
          <p:cNvSpPr/>
          <p:nvPr/>
        </p:nvSpPr>
        <p:spPr>
          <a:xfrm>
            <a:off x="47387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5" name="junction-1404.25-1583.0951771653542"/>
          <p:cNvSpPr/>
          <p:nvPr/>
        </p:nvSpPr>
        <p:spPr>
          <a:xfrm>
            <a:off x="47387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6" name="junction-1404.25-1671.0951771653542"/>
          <p:cNvSpPr/>
          <p:nvPr/>
        </p:nvSpPr>
        <p:spPr>
          <a:xfrm>
            <a:off x="47387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7" name="junction-1785-1727.0951771653542"/>
          <p:cNvSpPr/>
          <p:nvPr/>
        </p:nvSpPr>
        <p:spPr>
          <a:xfrm>
            <a:off x="602826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8" name="junction-170.125-1727.0951771653542"/>
          <p:cNvSpPr/>
          <p:nvPr/>
        </p:nvSpPr>
        <p:spPr>
          <a:xfrm>
            <a:off x="55922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9" name="junction-381.875-1727.0951771653542"/>
          <p:cNvSpPr/>
          <p:nvPr/>
        </p:nvSpPr>
        <p:spPr>
          <a:xfrm>
            <a:off x="127635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0" name="junction-593.625-1727.0951771653542"/>
          <p:cNvSpPr/>
          <p:nvPr/>
        </p:nvSpPr>
        <p:spPr>
          <a:xfrm>
            <a:off x="199347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1" name="junction-805.375-1727.0951771653542"/>
          <p:cNvSpPr/>
          <p:nvPr/>
        </p:nvSpPr>
        <p:spPr>
          <a:xfrm>
            <a:off x="271060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2" name="junction-1017.125-1727.0951771653542"/>
          <p:cNvSpPr/>
          <p:nvPr/>
        </p:nvSpPr>
        <p:spPr>
          <a:xfrm>
            <a:off x="342773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3" name="junction-1228.875-1727.0951771653542"/>
          <p:cNvSpPr/>
          <p:nvPr/>
        </p:nvSpPr>
        <p:spPr>
          <a:xfrm>
            <a:off x="414485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4" name="junction-1440.625-1727.0951771653542"/>
          <p:cNvSpPr/>
          <p:nvPr/>
        </p:nvSpPr>
        <p:spPr>
          <a:xfrm>
            <a:off x="486198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5" name="junction-1652.375-1727.0951771653542"/>
          <p:cNvSpPr/>
          <p:nvPr/>
        </p:nvSpPr>
        <p:spPr>
          <a:xfrm>
            <a:off x="557911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6" name="junction-1785-1861.1951771653542"/>
          <p:cNvSpPr/>
          <p:nvPr/>
        </p:nvSpPr>
        <p:spPr>
          <a:xfrm>
            <a:off x="602826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7" name="junction-170.125-1861.1951771653542"/>
          <p:cNvSpPr/>
          <p:nvPr/>
        </p:nvSpPr>
        <p:spPr>
          <a:xfrm>
            <a:off x="55922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8" name="junction-381.875-1861.1951771653542"/>
          <p:cNvSpPr/>
          <p:nvPr/>
        </p:nvSpPr>
        <p:spPr>
          <a:xfrm>
            <a:off x="127635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9" name="junction-593.625-1861.1951771653542"/>
          <p:cNvSpPr/>
          <p:nvPr/>
        </p:nvSpPr>
        <p:spPr>
          <a:xfrm>
            <a:off x="199347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0" name="junction-805.375-1861.1951771653542"/>
          <p:cNvSpPr/>
          <p:nvPr/>
        </p:nvSpPr>
        <p:spPr>
          <a:xfrm>
            <a:off x="271060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1" name="junction-1017.125-1861.1951771653542"/>
          <p:cNvSpPr/>
          <p:nvPr/>
        </p:nvSpPr>
        <p:spPr>
          <a:xfrm>
            <a:off x="342773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2" name="junction-1228.875-1861.1951771653542"/>
          <p:cNvSpPr/>
          <p:nvPr/>
        </p:nvSpPr>
        <p:spPr>
          <a:xfrm>
            <a:off x="414485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3" name="junction-1440.625-1861.1951771653542"/>
          <p:cNvSpPr/>
          <p:nvPr/>
        </p:nvSpPr>
        <p:spPr>
          <a:xfrm>
            <a:off x="486198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4" name="junction-1652.375-1861.1951771653542"/>
          <p:cNvSpPr/>
          <p:nvPr/>
        </p:nvSpPr>
        <p:spPr>
          <a:xfrm>
            <a:off x="557911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5" name="cva6"/>
          <p:cNvSpPr/>
          <p:nvPr/>
        </p:nvSpPr>
        <p:spPr>
          <a:xfrm>
            <a:off x="325967" y="1009549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6" name="ara"/>
          <p:cNvSpPr/>
          <p:nvPr/>
        </p:nvSpPr>
        <p:spPr>
          <a:xfrm>
            <a:off x="1341967" y="1009549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7" name="ara-filter"/>
          <p:cNvSpPr/>
          <p:nvPr/>
        </p:nvSpPr>
        <p:spPr>
          <a:xfrm>
            <a:off x="1409700" y="1585282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8" name="ara-width"/>
          <p:cNvSpPr/>
          <p:nvPr/>
        </p:nvSpPr>
        <p:spPr>
          <a:xfrm>
            <a:off x="2798233" y="1585282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9" name="npu"/>
          <p:cNvSpPr/>
          <p:nvPr/>
        </p:nvSpPr>
        <p:spPr>
          <a:xfrm>
            <a:off x="3678767" y="1009549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0" name="badge-C6"/>
          <p:cNvSpPr/>
          <p:nvPr/>
        </p:nvSpPr>
        <p:spPr>
          <a:xfrm>
            <a:off x="4389967" y="145997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1" name="gb-adapter"/>
          <p:cNvSpPr/>
          <p:nvPr/>
        </p:nvSpPr>
        <p:spPr>
          <a:xfrm>
            <a:off x="4711700" y="1263549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2" name="global-buffer"/>
          <p:cNvSpPr/>
          <p:nvPr/>
        </p:nvSpPr>
        <p:spPr>
          <a:xfrm>
            <a:off x="5626100" y="1009549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3" name="badge-C9"/>
          <p:cNvSpPr/>
          <p:nvPr/>
        </p:nvSpPr>
        <p:spPr>
          <a:xfrm>
            <a:off x="7133167" y="144981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4" name="gb-mover"/>
          <p:cNvSpPr/>
          <p:nvPr/>
        </p:nvSpPr>
        <p:spPr>
          <a:xfrm>
            <a:off x="5626100" y="1703816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5" name="badge-C7"/>
          <p:cNvSpPr/>
          <p:nvPr/>
        </p:nvSpPr>
        <p:spPr>
          <a:xfrm>
            <a:off x="7133167" y="198152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6" name="lvds-rx"/>
          <p:cNvSpPr/>
          <p:nvPr/>
        </p:nvSpPr>
        <p:spPr>
          <a:xfrm>
            <a:off x="7691967" y="1212749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7" name="rx-cdc"/>
          <p:cNvSpPr/>
          <p:nvPr/>
        </p:nvSpPr>
        <p:spPr>
          <a:xfrm>
            <a:off x="8352367" y="1212749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8" name="isp"/>
          <p:cNvSpPr/>
          <p:nvPr/>
        </p:nvSpPr>
        <p:spPr>
          <a:xfrm>
            <a:off x="8995833" y="1212749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9" name="frame-select"/>
          <p:cNvSpPr/>
          <p:nvPr/>
        </p:nvSpPr>
        <p:spPr>
          <a:xfrm>
            <a:off x="9656233" y="1212749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0" name="frame-dma"/>
          <p:cNvSpPr/>
          <p:nvPr/>
        </p:nvSpPr>
        <p:spPr>
          <a:xfrm>
            <a:off x="10384367" y="1212749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1" name="badge-C4"/>
          <p:cNvSpPr/>
          <p:nvPr/>
        </p:nvSpPr>
        <p:spPr>
          <a:xfrm>
            <a:off x="8047567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2" name="badge-C5"/>
          <p:cNvSpPr/>
          <p:nvPr/>
        </p:nvSpPr>
        <p:spPr>
          <a:xfrm>
            <a:off x="9351433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3" name="badge-C8"/>
          <p:cNvSpPr/>
          <p:nvPr/>
        </p:nvSpPr>
        <p:spPr>
          <a:xfrm>
            <a:off x="10909300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4" name="axi-crossbar"/>
          <p:cNvSpPr/>
          <p:nvPr/>
        </p:nvSpPr>
        <p:spPr>
          <a:xfrm>
            <a:off x="241300" y="2906082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5" name="xbar-in-S0"/>
          <p:cNvSpPr/>
          <p:nvPr/>
        </p:nvSpPr>
        <p:spPr>
          <a:xfrm>
            <a:off x="61119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6" name="xbar-in-S1"/>
          <p:cNvSpPr/>
          <p:nvPr/>
        </p:nvSpPr>
        <p:spPr>
          <a:xfrm>
            <a:off x="1676118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7" name="xbar-in-S2"/>
          <p:cNvSpPr/>
          <p:nvPr/>
        </p:nvSpPr>
        <p:spPr>
          <a:xfrm>
            <a:off x="2741036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8" name="xbar-in-S3"/>
          <p:cNvSpPr/>
          <p:nvPr/>
        </p:nvSpPr>
        <p:spPr>
          <a:xfrm>
            <a:off x="3805955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9" name="xbar-in-S4"/>
          <p:cNvSpPr/>
          <p:nvPr/>
        </p:nvSpPr>
        <p:spPr>
          <a:xfrm>
            <a:off x="4870873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0" name="xbar-in-S5"/>
          <p:cNvSpPr/>
          <p:nvPr/>
        </p:nvSpPr>
        <p:spPr>
          <a:xfrm>
            <a:off x="5935792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1" name="xbar-in-S6"/>
          <p:cNvSpPr/>
          <p:nvPr/>
        </p:nvSpPr>
        <p:spPr>
          <a:xfrm>
            <a:off x="7000710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2" name="xbar-in-S7"/>
          <p:cNvSpPr/>
          <p:nvPr/>
        </p:nvSpPr>
        <p:spPr>
          <a:xfrm>
            <a:off x="806562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3" name="xbar-in-S_EXT"/>
          <p:cNvSpPr/>
          <p:nvPr/>
        </p:nvSpPr>
        <p:spPr>
          <a:xfrm>
            <a:off x="9130547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4" name="debug-sba"/>
          <p:cNvSpPr/>
          <p:nvPr/>
        </p:nvSpPr>
        <p:spPr>
          <a:xfrm>
            <a:off x="1354384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5" name="idma-master"/>
          <p:cNvSpPr/>
          <p:nvPr/>
        </p:nvSpPr>
        <p:spPr>
          <a:xfrm>
            <a:off x="3484221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6" name="slink-rx"/>
          <p:cNvSpPr/>
          <p:nvPr/>
        </p:nvSpPr>
        <p:spPr>
          <a:xfrm>
            <a:off x="4549140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7" name="vga"/>
          <p:cNvSpPr/>
          <p:nvPr/>
        </p:nvSpPr>
        <p:spPr>
          <a:xfrm>
            <a:off x="5614059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8" name="usb-dma"/>
          <p:cNvSpPr/>
          <p:nvPr/>
        </p:nvSpPr>
        <p:spPr>
          <a:xfrm>
            <a:off x="6678977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9" name="emmc-host"/>
          <p:cNvSpPr/>
          <p:nvPr/>
        </p:nvSpPr>
        <p:spPr>
          <a:xfrm>
            <a:off x="7743896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0" name="ext-master"/>
          <p:cNvSpPr/>
          <p:nvPr/>
        </p:nvSpPr>
        <p:spPr>
          <a:xfrm>
            <a:off x="8808814" y="2415016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1" name="badge-C10"/>
          <p:cNvSpPr/>
          <p:nvPr/>
        </p:nvSpPr>
        <p:spPr>
          <a:xfrm>
            <a:off x="8505896" y="26486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2" name="xbar-out-M0"/>
          <p:cNvSpPr/>
          <p:nvPr/>
        </p:nvSpPr>
        <p:spPr>
          <a:xfrm>
            <a:off x="763330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3" name="debug-target"/>
          <p:cNvSpPr/>
          <p:nvPr/>
        </p:nvSpPr>
        <p:spPr>
          <a:xfrm>
            <a:off x="316290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4" name="xbar-out-M1"/>
          <p:cNvSpPr/>
          <p:nvPr/>
        </p:nvSpPr>
        <p:spPr>
          <a:xfrm>
            <a:off x="2132511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5" name="reg-bridge"/>
          <p:cNvSpPr/>
          <p:nvPr/>
        </p:nvSpPr>
        <p:spPr>
          <a:xfrm>
            <a:off x="1685471" y="3583416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6" name="xbar-out-M2"/>
          <p:cNvSpPr/>
          <p:nvPr/>
        </p:nvSpPr>
        <p:spPr>
          <a:xfrm>
            <a:off x="3501692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7" name="memory-target"/>
          <p:cNvSpPr/>
          <p:nvPr/>
        </p:nvSpPr>
        <p:spPr>
          <a:xfrm>
            <a:off x="2986919" y="3583416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8" name="atomics"/>
          <p:cNvSpPr/>
          <p:nvPr/>
        </p:nvSpPr>
        <p:spPr>
          <a:xfrm>
            <a:off x="3020786" y="3786616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9" name="llc-spm"/>
          <p:cNvSpPr/>
          <p:nvPr/>
        </p:nvSpPr>
        <p:spPr>
          <a:xfrm>
            <a:off x="3731986" y="3786616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0" name="xbar-out-M3"/>
          <p:cNvSpPr/>
          <p:nvPr/>
        </p:nvSpPr>
        <p:spPr>
          <a:xfrm>
            <a:off x="4870873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1" name="idma-config"/>
          <p:cNvSpPr/>
          <p:nvPr/>
        </p:nvSpPr>
        <p:spPr>
          <a:xfrm>
            <a:off x="4423833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2" name="xbar-out-M4"/>
          <p:cNvSpPr/>
          <p:nvPr/>
        </p:nvSpPr>
        <p:spPr>
          <a:xfrm>
            <a:off x="6240054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3" name="slink-tx"/>
          <p:cNvSpPr/>
          <p:nvPr/>
        </p:nvSpPr>
        <p:spPr>
          <a:xfrm>
            <a:off x="5793014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4" name="xbar-out-M5"/>
          <p:cNvSpPr/>
          <p:nvPr/>
        </p:nvSpPr>
        <p:spPr>
          <a:xfrm>
            <a:off x="7609235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5" name="gb-interface"/>
          <p:cNvSpPr/>
          <p:nvPr/>
        </p:nvSpPr>
        <p:spPr>
          <a:xfrm>
            <a:off x="7162195" y="3583416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6" name="xbar-out-M_EXT"/>
          <p:cNvSpPr/>
          <p:nvPr/>
        </p:nvSpPr>
        <p:spPr>
          <a:xfrm>
            <a:off x="8978416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7" name="ext-target"/>
          <p:cNvSpPr/>
          <p:nvPr/>
        </p:nvSpPr>
        <p:spPr>
          <a:xfrm>
            <a:off x="8531376" y="3583416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8" name="emmc-device"/>
          <p:cNvSpPr/>
          <p:nvPr/>
        </p:nvSpPr>
        <p:spPr>
          <a:xfrm>
            <a:off x="11413067" y="2415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9" name="regbus"/>
          <p:cNvSpPr/>
          <p:nvPr/>
        </p:nvSpPr>
        <p:spPr>
          <a:xfrm>
            <a:off x="241300" y="4379282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0" name="bootrom"/>
          <p:cNvSpPr/>
          <p:nvPr/>
        </p:nvSpPr>
        <p:spPr>
          <a:xfrm>
            <a:off x="3598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1" name="uart"/>
          <p:cNvSpPr/>
          <p:nvPr/>
        </p:nvSpPr>
        <p:spPr>
          <a:xfrm>
            <a:off x="3598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2" name="vga-regs"/>
          <p:cNvSpPr/>
          <p:nvPr/>
        </p:nvSpPr>
        <p:spPr>
          <a:xfrm>
            <a:off x="3598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3" name="irq-router"/>
          <p:cNvSpPr/>
          <p:nvPr/>
        </p:nvSpPr>
        <p:spPr>
          <a:xfrm>
            <a:off x="3598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4" name="clint"/>
          <p:cNvSpPr/>
          <p:nvPr/>
        </p:nvSpPr>
        <p:spPr>
          <a:xfrm>
            <a:off x="14774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5" name="i2c"/>
          <p:cNvSpPr/>
          <p:nvPr/>
        </p:nvSpPr>
        <p:spPr>
          <a:xfrm>
            <a:off x="14774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6" name="usb-regs"/>
          <p:cNvSpPr/>
          <p:nvPr/>
        </p:nvSpPr>
        <p:spPr>
          <a:xfrm>
            <a:off x="14774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7" name="axi-rt-config"/>
          <p:cNvSpPr/>
          <p:nvPr/>
        </p:nvSpPr>
        <p:spPr>
          <a:xfrm>
            <a:off x="14774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8" name="soc-regs"/>
          <p:cNvSpPr/>
          <p:nvPr/>
        </p:nvSpPr>
        <p:spPr>
          <a:xfrm>
            <a:off x="25950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9" name="spi"/>
          <p:cNvSpPr/>
          <p:nvPr/>
        </p:nvSpPr>
        <p:spPr>
          <a:xfrm>
            <a:off x="25950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0" name="err-vga"/>
          <p:cNvSpPr/>
          <p:nvPr/>
        </p:nvSpPr>
        <p:spPr>
          <a:xfrm>
            <a:off x="25950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1" name="clic"/>
          <p:cNvSpPr/>
          <p:nvPr/>
        </p:nvSpPr>
        <p:spPr>
          <a:xfrm>
            <a:off x="25950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2" name="plic"/>
          <p:cNvSpPr/>
          <p:nvPr/>
        </p:nvSpPr>
        <p:spPr>
          <a:xfrm>
            <a:off x="37126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3" name="gpio"/>
          <p:cNvSpPr/>
          <p:nvPr/>
        </p:nvSpPr>
        <p:spPr>
          <a:xfrm>
            <a:off x="37126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4" name="err-dma"/>
          <p:cNvSpPr/>
          <p:nvPr/>
        </p:nvSpPr>
        <p:spPr>
          <a:xfrm>
            <a:off x="37126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5" name="reg-error"/>
          <p:cNvSpPr/>
          <p:nvPr/>
        </p:nvSpPr>
        <p:spPr>
          <a:xfrm>
            <a:off x="37126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6" name="llc-regs"/>
          <p:cNvSpPr/>
          <p:nvPr/>
        </p:nvSpPr>
        <p:spPr>
          <a:xfrm>
            <a:off x="48302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7" name="slink-regs"/>
          <p:cNvSpPr/>
          <p:nvPr/>
        </p:nvSpPr>
        <p:spPr>
          <a:xfrm>
            <a:off x="48302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8" name="err-cpu"/>
          <p:cNvSpPr/>
          <p:nvPr/>
        </p:nvSpPr>
        <p:spPr>
          <a:xfrm>
            <a:off x="48302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9" name="reg-ext"/>
          <p:cNvSpPr/>
          <p:nvPr/>
        </p:nvSpPr>
        <p:spPr>
          <a:xfrm>
            <a:off x="48302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0" name="ddr-S0"/>
          <p:cNvSpPr/>
          <p:nvPr/>
        </p:nvSpPr>
        <p:spPr>
          <a:xfrm>
            <a:off x="6350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1" name="ddr-S1"/>
          <p:cNvSpPr/>
          <p:nvPr/>
        </p:nvSpPr>
        <p:spPr>
          <a:xfrm>
            <a:off x="7281333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2" name="ddr-S2"/>
          <p:cNvSpPr/>
          <p:nvPr/>
        </p:nvSpPr>
        <p:spPr>
          <a:xfrm>
            <a:off x="8212667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3" name="ddr-S3"/>
          <p:cNvSpPr/>
          <p:nvPr/>
        </p:nvSpPr>
        <p:spPr>
          <a:xfrm>
            <a:off x="9144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4" name="ddr-arb"/>
          <p:cNvSpPr/>
          <p:nvPr/>
        </p:nvSpPr>
        <p:spPr>
          <a:xfrm>
            <a:off x="6197600" y="5937149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5" name="ddr-rw"/>
          <p:cNvSpPr/>
          <p:nvPr/>
        </p:nvSpPr>
        <p:spPr>
          <a:xfrm>
            <a:off x="6197600" y="6106482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6" name="ddr-command"/>
          <p:cNvSpPr/>
          <p:nvPr/>
        </p:nvSpPr>
        <p:spPr>
          <a:xfrm>
            <a:off x="8212667" y="6106482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7" name="badge-C2"/>
          <p:cNvSpPr/>
          <p:nvPr/>
        </p:nvSpPr>
        <p:spPr>
          <a:xfrm>
            <a:off x="9652000" y="629274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8" name="ddr-phy"/>
          <p:cNvSpPr/>
          <p:nvPr/>
        </p:nvSpPr>
        <p:spPr>
          <a:xfrm>
            <a:off x="10261600" y="6191149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9" name="badge-C3"/>
          <p:cNvSpPr/>
          <p:nvPr/>
        </p:nvSpPr>
        <p:spPr>
          <a:xfrm>
            <a:off x="10905067" y="64214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0" name="ddr-device"/>
          <p:cNvSpPr/>
          <p:nvPr/>
        </p:nvSpPr>
        <p:spPr>
          <a:xfrm>
            <a:off x="11501967" y="6191149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1" name="pll"/>
          <p:cNvSpPr/>
          <p:nvPr/>
        </p:nvSpPr>
        <p:spPr>
          <a:xfrm>
            <a:off x="7200900" y="6472581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2" name="badge-C1"/>
          <p:cNvSpPr/>
          <p:nvPr/>
        </p:nvSpPr>
        <p:spPr>
          <a:xfrm>
            <a:off x="8738447" y="654370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3" name="config-C1"/>
          <p:cNvSpPr/>
          <p:nvPr/>
        </p:nvSpPr>
        <p:spPr>
          <a:xfrm>
            <a:off x="24130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4" name="reg-badge-C1"/>
          <p:cNvSpPr/>
          <p:nvPr/>
        </p:nvSpPr>
        <p:spPr>
          <a:xfrm>
            <a:off x="26500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5" name="config-C2"/>
          <p:cNvSpPr/>
          <p:nvPr/>
        </p:nvSpPr>
        <p:spPr>
          <a:xfrm>
            <a:off x="95842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6" name="reg-badge-C2"/>
          <p:cNvSpPr/>
          <p:nvPr/>
        </p:nvSpPr>
        <p:spPr>
          <a:xfrm>
            <a:off x="98213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7" name="config-C3"/>
          <p:cNvSpPr/>
          <p:nvPr/>
        </p:nvSpPr>
        <p:spPr>
          <a:xfrm>
            <a:off x="167555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8" name="reg-badge-C3"/>
          <p:cNvSpPr/>
          <p:nvPr/>
        </p:nvSpPr>
        <p:spPr>
          <a:xfrm>
            <a:off x="169926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9" name="config-C4"/>
          <p:cNvSpPr/>
          <p:nvPr/>
        </p:nvSpPr>
        <p:spPr>
          <a:xfrm>
            <a:off x="239268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0" name="reg-badge-C4"/>
          <p:cNvSpPr/>
          <p:nvPr/>
        </p:nvSpPr>
        <p:spPr>
          <a:xfrm>
            <a:off x="241638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1" name="config-C5"/>
          <p:cNvSpPr/>
          <p:nvPr/>
        </p:nvSpPr>
        <p:spPr>
          <a:xfrm>
            <a:off x="310980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2" name="reg-badge-C5"/>
          <p:cNvSpPr/>
          <p:nvPr/>
        </p:nvSpPr>
        <p:spPr>
          <a:xfrm>
            <a:off x="313351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3" name="config-C6"/>
          <p:cNvSpPr/>
          <p:nvPr/>
        </p:nvSpPr>
        <p:spPr>
          <a:xfrm>
            <a:off x="382693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4" name="reg-badge-C6"/>
          <p:cNvSpPr/>
          <p:nvPr/>
        </p:nvSpPr>
        <p:spPr>
          <a:xfrm>
            <a:off x="385064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5" name="config-C7"/>
          <p:cNvSpPr/>
          <p:nvPr/>
        </p:nvSpPr>
        <p:spPr>
          <a:xfrm>
            <a:off x="454406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6" name="reg-badge-C7"/>
          <p:cNvSpPr/>
          <p:nvPr/>
        </p:nvSpPr>
        <p:spPr>
          <a:xfrm>
            <a:off x="456776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7" name="config-C8"/>
          <p:cNvSpPr/>
          <p:nvPr/>
        </p:nvSpPr>
        <p:spPr>
          <a:xfrm>
            <a:off x="526118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8" name="reg-badge-C8"/>
          <p:cNvSpPr/>
          <p:nvPr/>
        </p:nvSpPr>
        <p:spPr>
          <a:xfrm>
            <a:off x="528489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9" name="config-C9"/>
          <p:cNvSpPr/>
          <p:nvPr/>
        </p:nvSpPr>
        <p:spPr>
          <a:xfrm>
            <a:off x="24130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0" name="reg-badge-C9"/>
          <p:cNvSpPr/>
          <p:nvPr/>
        </p:nvSpPr>
        <p:spPr>
          <a:xfrm>
            <a:off x="26500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1" name="config-C10"/>
          <p:cNvSpPr/>
          <p:nvPr/>
        </p:nvSpPr>
        <p:spPr>
          <a:xfrm>
            <a:off x="95842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2" name="reg-badge-C10"/>
          <p:cNvSpPr/>
          <p:nvPr/>
        </p:nvSpPr>
        <p:spPr>
          <a:xfrm>
            <a:off x="98213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3" name="config-C11"/>
          <p:cNvSpPr/>
          <p:nvPr/>
        </p:nvSpPr>
        <p:spPr>
          <a:xfrm>
            <a:off x="167555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4" name="reg-badge-C11"/>
          <p:cNvSpPr/>
          <p:nvPr/>
        </p:nvSpPr>
        <p:spPr>
          <a:xfrm>
            <a:off x="169926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5" name="config-C12"/>
          <p:cNvSpPr/>
          <p:nvPr/>
        </p:nvSpPr>
        <p:spPr>
          <a:xfrm>
            <a:off x="239268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6" name="reg-badge-C12"/>
          <p:cNvSpPr/>
          <p:nvPr/>
        </p:nvSpPr>
        <p:spPr>
          <a:xfrm>
            <a:off x="241638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7" name="config-C13"/>
          <p:cNvSpPr/>
          <p:nvPr/>
        </p:nvSpPr>
        <p:spPr>
          <a:xfrm>
            <a:off x="310980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8" name="reg-badge-C13"/>
          <p:cNvSpPr/>
          <p:nvPr/>
        </p:nvSpPr>
        <p:spPr>
          <a:xfrm>
            <a:off x="313351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9" name="config-C14"/>
          <p:cNvSpPr/>
          <p:nvPr/>
        </p:nvSpPr>
        <p:spPr>
          <a:xfrm>
            <a:off x="382693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0" name="reg-badge-C14"/>
          <p:cNvSpPr/>
          <p:nvPr/>
        </p:nvSpPr>
        <p:spPr>
          <a:xfrm>
            <a:off x="385064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1" name="config-C15"/>
          <p:cNvSpPr/>
          <p:nvPr/>
        </p:nvSpPr>
        <p:spPr>
          <a:xfrm>
            <a:off x="454406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2" name="reg-badge-C15"/>
          <p:cNvSpPr/>
          <p:nvPr/>
        </p:nvSpPr>
        <p:spPr>
          <a:xfrm>
            <a:off x="456776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3" name="config-C16"/>
          <p:cNvSpPr/>
          <p:nvPr/>
        </p:nvSpPr>
        <p:spPr>
          <a:xfrm>
            <a:off x="526118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4" name="reg-badge-C16"/>
          <p:cNvSpPr/>
          <p:nvPr/>
        </p:nvSpPr>
        <p:spPr>
          <a:xfrm>
            <a:off x="528489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5" name="front-F0"/>
          <p:cNvSpPr/>
          <p:nvPr/>
        </p:nvSpPr>
        <p:spPr>
          <a:xfrm>
            <a:off x="6316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6" name="front-F1"/>
          <p:cNvSpPr/>
          <p:nvPr/>
        </p:nvSpPr>
        <p:spPr>
          <a:xfrm>
            <a:off x="7247467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7" name="front-F2"/>
          <p:cNvSpPr/>
          <p:nvPr/>
        </p:nvSpPr>
        <p:spPr>
          <a:xfrm>
            <a:off x="8178800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8" name="front-F3"/>
          <p:cNvSpPr/>
          <p:nvPr/>
        </p:nvSpPr>
        <p:spPr>
          <a:xfrm>
            <a:off x="9110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9" name="front-adapt"/>
          <p:cNvSpPr/>
          <p:nvPr/>
        </p:nvSpPr>
        <p:spPr>
          <a:xfrm>
            <a:off x="6197600" y="4491042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0" name="badge-C12"/>
          <p:cNvSpPr/>
          <p:nvPr/>
        </p:nvSpPr>
        <p:spPr>
          <a:xfrm>
            <a:off x="9652000" y="453506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1" name="address-control"/>
          <p:cNvSpPr/>
          <p:nvPr/>
        </p:nvSpPr>
        <p:spPr>
          <a:xfrm>
            <a:off x="6197600" y="4768749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2" name="metadata"/>
          <p:cNvSpPr/>
          <p:nvPr/>
        </p:nvSpPr>
        <p:spPr>
          <a:xfrm>
            <a:off x="6197600" y="5209016"/>
            <a:ext cx="778933" cy="1693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3" name="compressor"/>
          <p:cNvSpPr/>
          <p:nvPr/>
        </p:nvSpPr>
        <p:spPr>
          <a:xfrm>
            <a:off x="7179733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4" name="badge-C15"/>
          <p:cNvSpPr/>
          <p:nvPr/>
        </p:nvSpPr>
        <p:spPr>
          <a:xfrm>
            <a:off x="7206827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5" name="decompressor"/>
          <p:cNvSpPr/>
          <p:nvPr/>
        </p:nvSpPr>
        <p:spPr>
          <a:xfrm>
            <a:off x="8085667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6" name="badge-C16"/>
          <p:cNvSpPr/>
          <p:nvPr/>
        </p:nvSpPr>
        <p:spPr>
          <a:xfrm>
            <a:off x="8112760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7" name="plain-bypass"/>
          <p:cNvSpPr/>
          <p:nvPr/>
        </p:nvSpPr>
        <p:spPr>
          <a:xfrm>
            <a:off x="8991600" y="4904216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8" name="front-route"/>
          <p:cNvSpPr/>
          <p:nvPr/>
        </p:nvSpPr>
        <p:spPr>
          <a:xfrm>
            <a:off x="6197600" y="5490109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9" name="roi-scheduler"/>
          <p:cNvSpPr/>
          <p:nvPr/>
        </p:nvSpPr>
        <p:spPr>
          <a:xfrm>
            <a:off x="10261600" y="4633282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0" name="badge-C11"/>
          <p:cNvSpPr/>
          <p:nvPr/>
        </p:nvSpPr>
        <p:spPr>
          <a:xfrm>
            <a:off x="10938933" y="464682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1" name="roi-vdma"/>
          <p:cNvSpPr/>
          <p:nvPr/>
        </p:nvSpPr>
        <p:spPr>
          <a:xfrm>
            <a:off x="10261600" y="5022749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2" name="badge-C13"/>
          <p:cNvSpPr/>
          <p:nvPr/>
        </p:nvSpPr>
        <p:spPr>
          <a:xfrm>
            <a:off x="10938933" y="50362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3" name="roi-fifo"/>
          <p:cNvSpPr/>
          <p:nvPr/>
        </p:nvSpPr>
        <p:spPr>
          <a:xfrm>
            <a:off x="10261600" y="5412216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4" name="lvds-tx"/>
          <p:cNvSpPr/>
          <p:nvPr/>
        </p:nvSpPr>
        <p:spPr>
          <a:xfrm>
            <a:off x="10261600" y="5717016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5" name="badge-C14"/>
          <p:cNvSpPr/>
          <p:nvPr/>
        </p:nvSpPr>
        <p:spPr>
          <a:xfrm>
            <a:off x="10938933" y="57305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6" name="compute-title: CVA6–Ara 计算平台"/>
          <p:cNvSpPr txBox="1"/>
          <p:nvPr/>
        </p:nvSpPr>
        <p:spPr>
          <a:xfrm>
            <a:off x="1238652" y="728862"/>
            <a:ext cx="1171829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1307" name="gb-region-title: NPU / 独立 Global Buffer 子系统"/>
          <p:cNvSpPr txBox="1"/>
          <p:nvPr/>
        </p:nvSpPr>
        <p:spPr>
          <a:xfrm>
            <a:off x="4586494" y="728862"/>
            <a:ext cx="1859079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1308" name="image-rx-title: 图像采集与 ISP"/>
          <p:cNvSpPr txBox="1"/>
          <p:nvPr/>
        </p:nvSpPr>
        <p:spPr>
          <a:xfrm>
            <a:off x="8938972" y="728862"/>
            <a:ext cx="943457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1309" name="cva6-t0: CVA6 core 0"/>
          <p:cNvSpPr txBox="1"/>
          <p:nvPr/>
        </p:nvSpPr>
        <p:spPr>
          <a:xfrm>
            <a:off x="401743" y="1175563"/>
            <a:ext cx="695113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1310" name="cva6-t1: L1 I / D cache"/>
          <p:cNvSpPr txBox="1"/>
          <p:nvPr/>
        </p:nvSpPr>
        <p:spPr>
          <a:xfrm>
            <a:off x="377777" y="1306560"/>
            <a:ext cx="74304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1311" name="cva6-t2: MMU / AXI 适配"/>
          <p:cNvSpPr txBox="1"/>
          <p:nvPr/>
        </p:nvSpPr>
        <p:spPr>
          <a:xfrm>
            <a:off x="367345" y="1429428"/>
            <a:ext cx="763910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1312" name="ara-t0: Ara 向量处理器"/>
          <p:cNvSpPr txBox="1"/>
          <p:nvPr/>
        </p:nvSpPr>
        <p:spPr>
          <a:xfrm>
            <a:off x="1905900" y="1080059"/>
            <a:ext cx="836401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1313" name="ara-t1: 2 lanes · VLSU / AXI：64 bit"/>
          <p:cNvSpPr txBox="1"/>
          <p:nvPr/>
        </p:nvSpPr>
        <p:spPr>
          <a:xfrm>
            <a:off x="1637948" y="1211056"/>
            <a:ext cx="137230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1314" name="ara-filter-t0: 失效过滤"/>
          <p:cNvSpPr txBox="1"/>
          <p:nvPr/>
        </p:nvSpPr>
        <p:spPr>
          <a:xfrm>
            <a:off x="14774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315" name="ara-filter-t1: 现有 filter"/>
          <p:cNvSpPr txBox="1"/>
          <p:nvPr/>
        </p:nvSpPr>
        <p:spPr>
          <a:xfrm>
            <a:off x="1500034" y="1726710"/>
            <a:ext cx="46279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1316" name="ara-width-t0: 等宽透传"/>
          <p:cNvSpPr txBox="1"/>
          <p:nvPr/>
        </p:nvSpPr>
        <p:spPr>
          <a:xfrm>
            <a:off x="27982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1317" name="ara-width-t1: 64 → 64 bit"/>
          <p:cNvSpPr txBox="1"/>
          <p:nvPr/>
        </p:nvSpPr>
        <p:spPr>
          <a:xfrm>
            <a:off x="2770653" y="1726710"/>
            <a:ext cx="5631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1318" name="command-label: 指令 / MMU"/>
          <p:cNvSpPr txBox="1"/>
          <p:nvPr/>
        </p:nvSpPr>
        <p:spPr>
          <a:xfrm>
            <a:off x="971404" y="880585"/>
            <a:ext cx="56332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1319" name="npu-t0: NPU 计算引擎"/>
          <p:cNvSpPr txBox="1"/>
          <p:nvPr/>
        </p:nvSpPr>
        <p:spPr>
          <a:xfrm>
            <a:off x="3772331" y="1177866"/>
            <a:ext cx="72727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1320" name="npu-t1: GB 数据读写"/>
          <p:cNvSpPr txBox="1"/>
          <p:nvPr/>
        </p:nvSpPr>
        <p:spPr>
          <a:xfrm>
            <a:off x="3846351" y="1301683"/>
            <a:ext cx="57923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1321" name="badge-C6-text: C6"/>
          <p:cNvSpPr txBox="1"/>
          <p:nvPr/>
        </p:nvSpPr>
        <p:spPr>
          <a:xfrm>
            <a:off x="4400815" y="1450899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322" name="gb-adapter-t0: GB 访问适配"/>
          <p:cNvSpPr txBox="1"/>
          <p:nvPr/>
        </p:nvSpPr>
        <p:spPr>
          <a:xfrm>
            <a:off x="4766998" y="1480634"/>
            <a:ext cx="66833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1323" name="gb-adapter-t1: 局部仲裁 / 路由"/>
          <p:cNvSpPr txBox="1"/>
          <p:nvPr/>
        </p:nvSpPr>
        <p:spPr>
          <a:xfrm>
            <a:off x="4743707" y="1604451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1324" name="gb-adapter-t2: bank 冲突处理"/>
          <p:cNvSpPr txBox="1"/>
          <p:nvPr/>
        </p:nvSpPr>
        <p:spPr>
          <a:xfrm>
            <a:off x="4774621" y="1710115"/>
            <a:ext cx="65309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1325" name="global-buffer-t0: Global Buffer"/>
          <p:cNvSpPr txBox="1"/>
          <p:nvPr/>
        </p:nvSpPr>
        <p:spPr>
          <a:xfrm>
            <a:off x="6119760" y="1103427"/>
            <a:ext cx="722948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1326" name="global-buffer-t1: 独立 SRAM · 分 bank"/>
          <p:cNvSpPr txBox="1"/>
          <p:nvPr/>
        </p:nvSpPr>
        <p:spPr>
          <a:xfrm>
            <a:off x="5998895" y="1235372"/>
            <a:ext cx="964676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1327" name="global-buffer-t2: CPU / Ara / NPU / ISP"/>
          <p:cNvSpPr txBox="1"/>
          <p:nvPr/>
        </p:nvSpPr>
        <p:spPr>
          <a:xfrm>
            <a:off x="5964854" y="1349164"/>
            <a:ext cx="1032759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1328" name="badge-C9-text: C9"/>
          <p:cNvSpPr txBox="1"/>
          <p:nvPr/>
        </p:nvSpPr>
        <p:spPr>
          <a:xfrm>
            <a:off x="7144015" y="1440739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329" name="gb-mover-t0: NPU / GB 搬运引擎"/>
          <p:cNvSpPr txBox="1"/>
          <p:nvPr/>
        </p:nvSpPr>
        <p:spPr>
          <a:xfrm>
            <a:off x="5995808" y="1779000"/>
            <a:ext cx="97085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1330" name="gb-mover-t1: DDR ↔ GB · AXI 主口"/>
          <p:cNvSpPr txBox="1"/>
          <p:nvPr/>
        </p:nvSpPr>
        <p:spPr>
          <a:xfrm>
            <a:off x="6027200" y="1902816"/>
            <a:ext cx="90806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1331" name="badge-C7-text: C7"/>
          <p:cNvSpPr txBox="1"/>
          <p:nvPr/>
        </p:nvSpPr>
        <p:spPr>
          <a:xfrm>
            <a:off x="7144015" y="197244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332" name="lvds-rx-t0: LVDS 接收"/>
          <p:cNvSpPr txBox="1"/>
          <p:nvPr/>
        </p:nvSpPr>
        <p:spPr>
          <a:xfrm>
            <a:off x="7684971" y="1398000"/>
            <a:ext cx="57279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1333" name="lvds-rx-t1: 解串 / 帧行"/>
          <p:cNvSpPr txBox="1"/>
          <p:nvPr/>
        </p:nvSpPr>
        <p:spPr>
          <a:xfrm>
            <a:off x="7701960" y="1521816"/>
            <a:ext cx="5388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1334" name="rx-cdc-t0: CDC / FIFO"/>
          <p:cNvSpPr txBox="1"/>
          <p:nvPr/>
        </p:nvSpPr>
        <p:spPr>
          <a:xfrm>
            <a:off x="8323858" y="1398000"/>
            <a:ext cx="59888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1335" name="rx-cdc-t1: 像素流缓冲"/>
          <p:cNvSpPr txBox="1"/>
          <p:nvPr/>
        </p:nvSpPr>
        <p:spPr>
          <a:xfrm>
            <a:off x="8359140" y="1521816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1336" name="isp-t0: ISP"/>
          <p:cNvSpPr txBox="1"/>
          <p:nvPr/>
        </p:nvSpPr>
        <p:spPr>
          <a:xfrm>
            <a:off x="9151355" y="1398000"/>
            <a:ext cx="2477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337" name="isp-t1: 行缓存 / 处理"/>
          <p:cNvSpPr txBox="1"/>
          <p:nvPr/>
        </p:nvSpPr>
        <p:spPr>
          <a:xfrm>
            <a:off x="8961800" y="1521816"/>
            <a:ext cx="6268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1338" name="frame-select-t0: 帧边界选择"/>
          <p:cNvSpPr txBox="1"/>
          <p:nvPr/>
        </p:nvSpPr>
        <p:spPr>
          <a:xfrm>
            <a:off x="9656233" y="1398000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1339" name="frame-select-t1: RAW / ISP"/>
          <p:cNvSpPr txBox="1"/>
          <p:nvPr/>
        </p:nvSpPr>
        <p:spPr>
          <a:xfrm>
            <a:off x="9716431" y="1521816"/>
            <a:ext cx="48920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1340" name="frame-dma-t0: 帧写入 DMA"/>
          <p:cNvSpPr txBox="1"/>
          <p:nvPr/>
        </p:nvSpPr>
        <p:spPr>
          <a:xfrm>
            <a:off x="10426470" y="1398000"/>
            <a:ext cx="64392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341" name="frame-dma-t1: 地址 / stride"/>
          <p:cNvSpPr txBox="1"/>
          <p:nvPr/>
        </p:nvSpPr>
        <p:spPr>
          <a:xfrm>
            <a:off x="10458088" y="1521816"/>
            <a:ext cx="58069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1342" name="raw-bypass-label: RAW 旁路"/>
          <p:cNvSpPr txBox="1"/>
          <p:nvPr/>
        </p:nvSpPr>
        <p:spPr>
          <a:xfrm>
            <a:off x="9046218" y="924611"/>
            <a:ext cx="46649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1343" name="badge-C4-text: C4"/>
          <p:cNvSpPr txBox="1"/>
          <p:nvPr/>
        </p:nvSpPr>
        <p:spPr>
          <a:xfrm>
            <a:off x="8058415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344" name="badge-C5-text: C5"/>
          <p:cNvSpPr txBox="1"/>
          <p:nvPr/>
        </p:nvSpPr>
        <p:spPr>
          <a:xfrm>
            <a:off x="9362281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345" name="badge-C8-text: C8"/>
          <p:cNvSpPr txBox="1"/>
          <p:nvPr/>
        </p:nvSpPr>
        <p:spPr>
          <a:xfrm>
            <a:off x="10920148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346" name="isp-gb-label: ISP 中间数据 ↔ GB"/>
          <p:cNvSpPr txBox="1"/>
          <p:nvPr/>
        </p:nvSpPr>
        <p:spPr>
          <a:xfrm>
            <a:off x="8009424" y="2065918"/>
            <a:ext cx="84675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1347" name="crossbar-title: AXI Crossbar"/>
          <p:cNvSpPr txBox="1"/>
          <p:nvPr/>
        </p:nvSpPr>
        <p:spPr>
          <a:xfrm>
            <a:off x="4632783" y="2943742"/>
            <a:ext cx="801301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1348" name="crossbar-caption: 8 × 6 固定端口 + 扩展 | 64 bit 数据 / 48 bit 地址 "/>
          <p:cNvSpPr txBox="1"/>
          <p:nvPr/>
        </p:nvSpPr>
        <p:spPr>
          <a:xfrm>
            <a:off x="3552023" y="3115785"/>
            <a:ext cx="29628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1349" name="crossbar-rt-note: 输入侧 AXI RT · 按配置可选"/>
          <p:cNvSpPr txBox="1"/>
          <p:nvPr/>
        </p:nvSpPr>
        <p:spPr>
          <a:xfrm>
            <a:off x="457226" y="3207767"/>
            <a:ext cx="104981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1350" name="crossbar-error-note: 未映射请求：DECERR"/>
          <p:cNvSpPr txBox="1"/>
          <p:nvPr/>
        </p:nvSpPr>
        <p:spPr>
          <a:xfrm>
            <a:off x="8745630" y="3207767"/>
            <a:ext cx="864473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1351" name="xbar-in-S0-t0: S0"/>
          <p:cNvSpPr txBox="1"/>
          <p:nvPr/>
        </p:nvSpPr>
        <p:spPr>
          <a:xfrm>
            <a:off x="68922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352" name="xbar-in-S1-t0: S1"/>
          <p:cNvSpPr txBox="1"/>
          <p:nvPr/>
        </p:nvSpPr>
        <p:spPr>
          <a:xfrm>
            <a:off x="1754143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353" name="xbar-in-S2-t0: S2"/>
          <p:cNvSpPr txBox="1"/>
          <p:nvPr/>
        </p:nvSpPr>
        <p:spPr>
          <a:xfrm>
            <a:off x="2819062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354" name="xbar-in-S3-t0: S3"/>
          <p:cNvSpPr txBox="1"/>
          <p:nvPr/>
        </p:nvSpPr>
        <p:spPr>
          <a:xfrm>
            <a:off x="3883980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1355" name="xbar-in-S4-t0: S4"/>
          <p:cNvSpPr txBox="1"/>
          <p:nvPr/>
        </p:nvSpPr>
        <p:spPr>
          <a:xfrm>
            <a:off x="4948899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1356" name="xbar-in-S5-t0: S5"/>
          <p:cNvSpPr txBox="1"/>
          <p:nvPr/>
        </p:nvSpPr>
        <p:spPr>
          <a:xfrm>
            <a:off x="6013817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1357" name="xbar-in-S6-t0: S6"/>
          <p:cNvSpPr txBox="1"/>
          <p:nvPr/>
        </p:nvSpPr>
        <p:spPr>
          <a:xfrm>
            <a:off x="7078736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1358" name="xbar-in-S7-t0: S7"/>
          <p:cNvSpPr txBox="1"/>
          <p:nvPr/>
        </p:nvSpPr>
        <p:spPr>
          <a:xfrm>
            <a:off x="814365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1359" name="xbar-in-S_EXT-t0: S_EXT"/>
          <p:cNvSpPr txBox="1"/>
          <p:nvPr/>
        </p:nvSpPr>
        <p:spPr>
          <a:xfrm>
            <a:off x="9151457" y="2849694"/>
            <a:ext cx="28330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1360" name="debug-sba-t0: Debug / SBA"/>
          <p:cNvSpPr txBox="1"/>
          <p:nvPr/>
        </p:nvSpPr>
        <p:spPr>
          <a:xfrm>
            <a:off x="1498654" y="2456333"/>
            <a:ext cx="68004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1361" name="debug-sba-t1: JTAG 总线访问"/>
          <p:cNvSpPr txBox="1"/>
          <p:nvPr/>
        </p:nvSpPr>
        <p:spPr>
          <a:xfrm>
            <a:off x="1512089" y="2580150"/>
            <a:ext cx="65317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1362" name="idma-master-t0: iDMA 数据主口"/>
          <p:cNvSpPr txBox="1"/>
          <p:nvPr/>
        </p:nvSpPr>
        <p:spPr>
          <a:xfrm>
            <a:off x="3583596" y="2456333"/>
            <a:ext cx="76983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1363" name="idma-master-t1: 内存 → 内存"/>
          <p:cNvSpPr txBox="1"/>
          <p:nvPr/>
        </p:nvSpPr>
        <p:spPr>
          <a:xfrm>
            <a:off x="3677955" y="2580150"/>
            <a:ext cx="5811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1364" name="slink-rx-t0: Serial Link RX"/>
          <p:cNvSpPr txBox="1"/>
          <p:nvPr/>
        </p:nvSpPr>
        <p:spPr>
          <a:xfrm>
            <a:off x="4676243" y="2456333"/>
            <a:ext cx="71438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1365" name="slink-rx-t1: 远端请求入口"/>
          <p:cNvSpPr txBox="1"/>
          <p:nvPr/>
        </p:nvSpPr>
        <p:spPr>
          <a:xfrm>
            <a:off x="4725247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1366" name="vga-t0: VGA"/>
          <p:cNvSpPr txBox="1"/>
          <p:nvPr/>
        </p:nvSpPr>
        <p:spPr>
          <a:xfrm>
            <a:off x="5957213" y="2456333"/>
            <a:ext cx="2822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1367" name="vga-t1: 帧缓冲读取"/>
          <p:cNvSpPr txBox="1"/>
          <p:nvPr/>
        </p:nvSpPr>
        <p:spPr>
          <a:xfrm>
            <a:off x="5834192" y="2580150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1368" name="usb-dma-t0: USB DMA"/>
          <p:cNvSpPr txBox="1"/>
          <p:nvPr/>
        </p:nvSpPr>
        <p:spPr>
          <a:xfrm>
            <a:off x="6898306" y="2456333"/>
            <a:ext cx="52992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1369" name="usb-dma-t1: OHCI 主口"/>
          <p:cNvSpPr txBox="1"/>
          <p:nvPr/>
        </p:nvSpPr>
        <p:spPr>
          <a:xfrm>
            <a:off x="6921248" y="2580150"/>
            <a:ext cx="48404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1370" name="emmc-host-t0: eMMC Host / DMA"/>
          <p:cNvSpPr txBox="1"/>
          <p:nvPr/>
        </p:nvSpPr>
        <p:spPr>
          <a:xfrm>
            <a:off x="7756209" y="2456333"/>
            <a:ext cx="94395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1371" name="emmc-host-t1: 存储块 ↔ 内存"/>
          <p:cNvSpPr txBox="1"/>
          <p:nvPr/>
        </p:nvSpPr>
        <p:spPr>
          <a:xfrm>
            <a:off x="7825869" y="2580150"/>
            <a:ext cx="66917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1372" name="ext-master-t0: AXI 外部 master"/>
          <p:cNvSpPr txBox="1"/>
          <p:nvPr/>
        </p:nvSpPr>
        <p:spPr>
          <a:xfrm>
            <a:off x="8886014" y="2456333"/>
            <a:ext cx="81418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1373" name="ext-master-t1: 可选扩展入口"/>
          <p:cNvSpPr txBox="1"/>
          <p:nvPr/>
        </p:nvSpPr>
        <p:spPr>
          <a:xfrm>
            <a:off x="8984921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1374" name="badge-C10-text: C10"/>
          <p:cNvSpPr txBox="1"/>
          <p:nvPr/>
        </p:nvSpPr>
        <p:spPr>
          <a:xfrm>
            <a:off x="8495421" y="2639619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375" name="xbar-out-M0-t0: M0"/>
          <p:cNvSpPr txBox="1"/>
          <p:nvPr/>
        </p:nvSpPr>
        <p:spPr>
          <a:xfrm>
            <a:off x="833731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1376" name="debug-target-t0: Debug 目标"/>
          <p:cNvSpPr txBox="1"/>
          <p:nvPr/>
        </p:nvSpPr>
        <p:spPr>
          <a:xfrm>
            <a:off x="617222" y="3717866"/>
            <a:ext cx="61733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1377" name="debug-target-t1: 调试模块窗口"/>
          <p:cNvSpPr txBox="1"/>
          <p:nvPr/>
        </p:nvSpPr>
        <p:spPr>
          <a:xfrm>
            <a:off x="617704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1378" name="xbar-out-M1-t0: M1"/>
          <p:cNvSpPr txBox="1"/>
          <p:nvPr/>
        </p:nvSpPr>
        <p:spPr>
          <a:xfrm>
            <a:off x="2202912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1379" name="reg-bridge-t0: AXI → Regbus"/>
          <p:cNvSpPr txBox="1"/>
          <p:nvPr/>
        </p:nvSpPr>
        <p:spPr>
          <a:xfrm>
            <a:off x="1928605" y="3717866"/>
            <a:ext cx="73293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1380" name="reg-bridge-t1: 原子适配 / 32 bit 桥"/>
          <p:cNvSpPr txBox="1"/>
          <p:nvPr/>
        </p:nvSpPr>
        <p:spPr>
          <a:xfrm>
            <a:off x="1854112" y="3841683"/>
            <a:ext cx="881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1381" name="xbar-out-M2-t0: M2"/>
          <p:cNvSpPr txBox="1"/>
          <p:nvPr/>
        </p:nvSpPr>
        <p:spPr>
          <a:xfrm>
            <a:off x="3572093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1382" name="memory-title: 主存 / SPM 共用目标"/>
          <p:cNvSpPr txBox="1"/>
          <p:nvPr/>
        </p:nvSpPr>
        <p:spPr>
          <a:xfrm>
            <a:off x="3135070" y="3588834"/>
            <a:ext cx="105836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1383" name="atomics-t0: 原子适配"/>
          <p:cNvSpPr txBox="1"/>
          <p:nvPr/>
        </p:nvSpPr>
        <p:spPr>
          <a:xfrm>
            <a:off x="3112141" y="3802110"/>
            <a:ext cx="443823" cy="1422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1384" name="atomics-t1: AMO / LRSC"/>
          <p:cNvSpPr txBox="1"/>
          <p:nvPr/>
        </p:nvSpPr>
        <p:spPr>
          <a:xfrm>
            <a:off x="3003106" y="3907012"/>
            <a:ext cx="66189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1385" name="llc-spm-t0: LLC / SPM"/>
          <p:cNvSpPr txBox="1"/>
          <p:nvPr/>
        </p:nvSpPr>
        <p:spPr>
          <a:xfrm>
            <a:off x="3765270" y="3806174"/>
            <a:ext cx="509164" cy="1422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1386" name="llc-spm-t1: SRAM 阵列"/>
          <p:cNvSpPr txBox="1"/>
          <p:nvPr/>
        </p:nvSpPr>
        <p:spPr>
          <a:xfrm>
            <a:off x="3739304" y="3912024"/>
            <a:ext cx="561097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1387" name="xbar-out-M3-t0: M3"/>
          <p:cNvSpPr txBox="1"/>
          <p:nvPr/>
        </p:nvSpPr>
        <p:spPr>
          <a:xfrm>
            <a:off x="4941274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1388" name="idma-config-t0: iDMA 配置"/>
          <p:cNvSpPr txBox="1"/>
          <p:nvPr/>
        </p:nvSpPr>
        <p:spPr>
          <a:xfrm>
            <a:off x="4750115" y="3665034"/>
            <a:ext cx="56663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1389" name="idma-config-t1: 原子适配 → AXI→Reg"/>
          <p:cNvSpPr txBox="1"/>
          <p:nvPr/>
        </p:nvSpPr>
        <p:spPr>
          <a:xfrm>
            <a:off x="4566034" y="3788851"/>
            <a:ext cx="93479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1390" name="idma-config-t2: wrapper 内部寄存器"/>
          <p:cNvSpPr txBox="1"/>
          <p:nvPr/>
        </p:nvSpPr>
        <p:spPr>
          <a:xfrm>
            <a:off x="4603999" y="3894515"/>
            <a:ext cx="85886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1391" name="xbar-out-M4-t0: M4"/>
          <p:cNvSpPr txBox="1"/>
          <p:nvPr/>
        </p:nvSpPr>
        <p:spPr>
          <a:xfrm>
            <a:off x="6310455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1392" name="slink-tx-t0: Serial Link TX"/>
          <p:cNvSpPr txBox="1"/>
          <p:nvPr/>
        </p:nvSpPr>
        <p:spPr>
          <a:xfrm>
            <a:off x="6051478" y="3717866"/>
            <a:ext cx="70227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1393" name="slink-tx-t1: 远端目标窗口"/>
          <p:cNvSpPr txBox="1"/>
          <p:nvPr/>
        </p:nvSpPr>
        <p:spPr>
          <a:xfrm>
            <a:off x="6094428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1394" name="xbar-out-M5-t0: M5"/>
          <p:cNvSpPr txBox="1"/>
          <p:nvPr/>
        </p:nvSpPr>
        <p:spPr>
          <a:xfrm>
            <a:off x="7679636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95" name="gb-interface-t0: GB AXI 接口"/>
          <p:cNvSpPr txBox="1"/>
          <p:nvPr/>
        </p:nvSpPr>
        <p:spPr>
          <a:xfrm>
            <a:off x="7454988" y="3665034"/>
            <a:ext cx="63361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96" name="gb-interface-t1: CPU / Ara / eMMC DMA"/>
          <p:cNvSpPr txBox="1"/>
          <p:nvPr/>
        </p:nvSpPr>
        <p:spPr>
          <a:xfrm>
            <a:off x="7260665" y="3788851"/>
            <a:ext cx="10222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1397" name="gb-interface-t2: 64-bit 数据窗口 · 共用"/>
          <p:cNvSpPr txBox="1"/>
          <p:nvPr/>
        </p:nvSpPr>
        <p:spPr>
          <a:xfrm>
            <a:off x="7299149" y="3894515"/>
            <a:ext cx="94529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1398" name="xbar-out-M_EXT-t0: M_EXT"/>
          <p:cNvSpPr txBox="1"/>
          <p:nvPr/>
        </p:nvSpPr>
        <p:spPr>
          <a:xfrm>
            <a:off x="8991701" y="3306894"/>
            <a:ext cx="298551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1399" name="ext-target-t0: AXI 外部 slave"/>
          <p:cNvSpPr txBox="1"/>
          <p:nvPr/>
        </p:nvSpPr>
        <p:spPr>
          <a:xfrm>
            <a:off x="8773467" y="3717866"/>
            <a:ext cx="73501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1400" name="ext-target-t1: 可选外部目标扩展"/>
          <p:cNvSpPr txBox="1"/>
          <p:nvPr/>
        </p:nvSpPr>
        <p:spPr>
          <a:xfrm>
            <a:off x="8744736" y="3841683"/>
            <a:ext cx="792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1401" name="emmc-device-t0: eMMC"/>
          <p:cNvSpPr txBox="1"/>
          <p:nvPr/>
        </p:nvSpPr>
        <p:spPr>
          <a:xfrm>
            <a:off x="11550065" y="2446308"/>
            <a:ext cx="437203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1402" name="emmc-device-t1: 模型 / 校正参数"/>
          <p:cNvSpPr txBox="1"/>
          <p:nvPr/>
        </p:nvSpPr>
        <p:spPr>
          <a:xfrm>
            <a:off x="11411207" y="2588278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1403" name="regbus-t0: Regbus decode / demux · 32 bit"/>
          <p:cNvSpPr txBox="1"/>
          <p:nvPr/>
        </p:nvSpPr>
        <p:spPr>
          <a:xfrm>
            <a:off x="2213213" y="4404140"/>
            <a:ext cx="1745774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1404" name="bootrom-t0: Boot ROM"/>
          <p:cNvSpPr txBox="1"/>
          <p:nvPr/>
        </p:nvSpPr>
        <p:spPr>
          <a:xfrm>
            <a:off x="592799" y="4637346"/>
            <a:ext cx="55006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1405" name="bootrom-t1: 启动代码"/>
          <p:cNvSpPr txBox="1"/>
          <p:nvPr/>
        </p:nvSpPr>
        <p:spPr>
          <a:xfrm>
            <a:off x="647700" y="4761163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1406" name="uart-t0: UART"/>
          <p:cNvSpPr txBox="1"/>
          <p:nvPr/>
        </p:nvSpPr>
        <p:spPr>
          <a:xfrm>
            <a:off x="699259" y="4935373"/>
            <a:ext cx="33714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1407" name="uart-t1: 串口控制"/>
          <p:cNvSpPr txBox="1"/>
          <p:nvPr/>
        </p:nvSpPr>
        <p:spPr>
          <a:xfrm>
            <a:off x="6477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1408" name="vga-regs-t0: VGA 配置"/>
          <p:cNvSpPr txBox="1"/>
          <p:nvPr/>
        </p:nvSpPr>
        <p:spPr>
          <a:xfrm>
            <a:off x="609865" y="5233400"/>
            <a:ext cx="51593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409" name="vga-regs-t1: 时序 / 帧地址"/>
          <p:cNvSpPr txBox="1"/>
          <p:nvPr/>
        </p:nvSpPr>
        <p:spPr>
          <a:xfrm>
            <a:off x="554400" y="5357216"/>
            <a:ext cx="6268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1410" name="irq-router-t0: IRQ router"/>
          <p:cNvSpPr txBox="1"/>
          <p:nvPr/>
        </p:nvSpPr>
        <p:spPr>
          <a:xfrm>
            <a:off x="592849" y="5531426"/>
            <a:ext cx="5499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411" name="irq-router-t1: 可选中断路由"/>
          <p:cNvSpPr txBox="1"/>
          <p:nvPr/>
        </p:nvSpPr>
        <p:spPr>
          <a:xfrm>
            <a:off x="5596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1412" name="clint-t0: CLINT"/>
          <p:cNvSpPr txBox="1"/>
          <p:nvPr/>
        </p:nvSpPr>
        <p:spPr>
          <a:xfrm>
            <a:off x="1805697" y="4637346"/>
            <a:ext cx="35947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1413" name="clint-t1: 软件 / 定时中断"/>
          <p:cNvSpPr txBox="1"/>
          <p:nvPr/>
        </p:nvSpPr>
        <p:spPr>
          <a:xfrm>
            <a:off x="1627973" y="4761163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1414" name="i2c-t0: I²C"/>
          <p:cNvSpPr txBox="1"/>
          <p:nvPr/>
        </p:nvSpPr>
        <p:spPr>
          <a:xfrm>
            <a:off x="1871726" y="4935373"/>
            <a:ext cx="22741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1415" name="i2c-t1: 两线串行接口"/>
          <p:cNvSpPr txBox="1"/>
          <p:nvPr/>
        </p:nvSpPr>
        <p:spPr>
          <a:xfrm>
            <a:off x="1677247" y="5059190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1416" name="usb-regs-t0: USB 配置"/>
          <p:cNvSpPr txBox="1"/>
          <p:nvPr/>
        </p:nvSpPr>
        <p:spPr>
          <a:xfrm>
            <a:off x="1722403" y="5233400"/>
            <a:ext cx="52606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417" name="usb-regs-t1: OHCI 寄存器"/>
          <p:cNvSpPr txBox="1"/>
          <p:nvPr/>
        </p:nvSpPr>
        <p:spPr>
          <a:xfrm>
            <a:off x="1699384" y="5357216"/>
            <a:ext cx="57209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1418" name="axi-rt-config-t0: AXI RT 配置"/>
          <p:cNvSpPr txBox="1"/>
          <p:nvPr/>
        </p:nvSpPr>
        <p:spPr>
          <a:xfrm>
            <a:off x="1676712" y="5531426"/>
            <a:ext cx="61744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419" name="axi-rt-config-t1: 可选流量调节"/>
          <p:cNvSpPr txBox="1"/>
          <p:nvPr/>
        </p:nvSpPr>
        <p:spPr>
          <a:xfrm>
            <a:off x="16772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1420" name="soc-regs-t0: SoC 寄存器"/>
          <p:cNvSpPr txBox="1"/>
          <p:nvPr/>
        </p:nvSpPr>
        <p:spPr>
          <a:xfrm>
            <a:off x="2794312" y="4637346"/>
            <a:ext cx="61744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1421" name="soc-regs-t1: 平台信息 / scratch"/>
          <p:cNvSpPr txBox="1"/>
          <p:nvPr/>
        </p:nvSpPr>
        <p:spPr>
          <a:xfrm>
            <a:off x="2692945" y="4761163"/>
            <a:ext cx="82017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1422" name="spi-t0: SPI Host"/>
          <p:cNvSpPr txBox="1"/>
          <p:nvPr/>
        </p:nvSpPr>
        <p:spPr>
          <a:xfrm>
            <a:off x="2860442" y="4935373"/>
            <a:ext cx="48518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1423" name="spi-t1: Flash / SD"/>
          <p:cNvSpPr txBox="1"/>
          <p:nvPr/>
        </p:nvSpPr>
        <p:spPr>
          <a:xfrm>
            <a:off x="2851468" y="5059190"/>
            <a:ext cx="50313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1424" name="err-vga-t0: Bus-error · VGA"/>
          <p:cNvSpPr txBox="1"/>
          <p:nvPr/>
        </p:nvSpPr>
        <p:spPr>
          <a:xfrm>
            <a:off x="2715387" y="5233400"/>
            <a:ext cx="77529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425" name="err-vga-t1: 错误记录"/>
          <p:cNvSpPr txBox="1"/>
          <p:nvPr/>
        </p:nvSpPr>
        <p:spPr>
          <a:xfrm>
            <a:off x="2882900" y="5357216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1426" name="clic-t0: CLIC"/>
          <p:cNvSpPr txBox="1"/>
          <p:nvPr/>
        </p:nvSpPr>
        <p:spPr>
          <a:xfrm>
            <a:off x="2950729" y="5531426"/>
            <a:ext cx="30460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427" name="clic-t1: 可选每核中断控制"/>
          <p:cNvSpPr txBox="1"/>
          <p:nvPr/>
        </p:nvSpPr>
        <p:spPr>
          <a:xfrm>
            <a:off x="2706793" y="5655243"/>
            <a:ext cx="792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1428" name="plic-t0: PLIC"/>
          <p:cNvSpPr txBox="1"/>
          <p:nvPr/>
        </p:nvSpPr>
        <p:spPr>
          <a:xfrm>
            <a:off x="4071355" y="4637346"/>
            <a:ext cx="2985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1429" name="plic-t1: 外部中断控制"/>
          <p:cNvSpPr txBox="1"/>
          <p:nvPr/>
        </p:nvSpPr>
        <p:spPr>
          <a:xfrm>
            <a:off x="3912447" y="476116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1430" name="gpio-t0: GPIO"/>
          <p:cNvSpPr txBox="1"/>
          <p:nvPr/>
        </p:nvSpPr>
        <p:spPr>
          <a:xfrm>
            <a:off x="4061238" y="4935373"/>
            <a:ext cx="31879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1431" name="gpio-t1: 通用 IO"/>
          <p:cNvSpPr txBox="1"/>
          <p:nvPr/>
        </p:nvSpPr>
        <p:spPr>
          <a:xfrm>
            <a:off x="4034893" y="5059190"/>
            <a:ext cx="371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1432" name="err-dma-t0: Bus-error · iDMA"/>
          <p:cNvSpPr txBox="1"/>
          <p:nvPr/>
        </p:nvSpPr>
        <p:spPr>
          <a:xfrm>
            <a:off x="3807637" y="5233400"/>
            <a:ext cx="82599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433" name="err-dma-t1: 每传输错误记录"/>
          <p:cNvSpPr txBox="1"/>
          <p:nvPr/>
        </p:nvSpPr>
        <p:spPr>
          <a:xfrm>
            <a:off x="3868420" y="5357216"/>
            <a:ext cx="70442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1434" name="reg-error-t0: reg_err_slv"/>
          <p:cNvSpPr txBox="1"/>
          <p:nvPr/>
        </p:nvSpPr>
        <p:spPr>
          <a:xfrm>
            <a:off x="3929327" y="5531426"/>
            <a:ext cx="58261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435" name="reg-error-t1: 未匹配地址"/>
          <p:cNvSpPr txBox="1"/>
          <p:nvPr/>
        </p:nvSpPr>
        <p:spPr>
          <a:xfrm>
            <a:off x="3956473" y="5655243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1436" name="llc-regs-t0: LLC 配置"/>
          <p:cNvSpPr txBox="1"/>
          <p:nvPr/>
        </p:nvSpPr>
        <p:spPr>
          <a:xfrm>
            <a:off x="5088350" y="4637346"/>
            <a:ext cx="49976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1437" name="llc-regs-t1: SPM way / cache"/>
          <p:cNvSpPr txBox="1"/>
          <p:nvPr/>
        </p:nvSpPr>
        <p:spPr>
          <a:xfrm>
            <a:off x="4959099" y="4761163"/>
            <a:ext cx="75826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1438" name="slink-regs-t0: Serial Link 配置"/>
          <p:cNvSpPr txBox="1"/>
          <p:nvPr/>
        </p:nvSpPr>
        <p:spPr>
          <a:xfrm>
            <a:off x="4938281" y="4935373"/>
            <a:ext cx="79990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439" name="slink-regs-t1: 链路控制"/>
          <p:cNvSpPr txBox="1"/>
          <p:nvPr/>
        </p:nvSpPr>
        <p:spPr>
          <a:xfrm>
            <a:off x="51181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1440" name="err-cpu-t0: Bus-error · CPU"/>
          <p:cNvSpPr txBox="1"/>
          <p:nvPr/>
        </p:nvSpPr>
        <p:spPr>
          <a:xfrm>
            <a:off x="4948552" y="5233400"/>
            <a:ext cx="77936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441" name="err-cpu-t1: 每核错误记录"/>
          <p:cNvSpPr txBox="1"/>
          <p:nvPr/>
        </p:nvSpPr>
        <p:spPr>
          <a:xfrm>
            <a:off x="5030047" y="5357216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1442" name="reg-ext-t0: RegExt 扩展"/>
          <p:cNvSpPr txBox="1"/>
          <p:nvPr/>
        </p:nvSpPr>
        <p:spPr>
          <a:xfrm>
            <a:off x="5019392" y="5531426"/>
            <a:ext cx="63768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443" name="reg-ext-t1: 新增 IP 配置出口"/>
          <p:cNvSpPr txBox="1"/>
          <p:nvPr/>
        </p:nvSpPr>
        <p:spPr>
          <a:xfrm>
            <a:off x="4967573" y="5655243"/>
            <a:ext cx="741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1444" name="ddr-S0-t0: DDR.S0"/>
          <p:cNvSpPr txBox="1"/>
          <p:nvPr/>
        </p:nvSpPr>
        <p:spPr>
          <a:xfrm>
            <a:off x="6434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1445" name="ddr-S1-t0: DDR.S1"/>
          <p:cNvSpPr txBox="1"/>
          <p:nvPr/>
        </p:nvSpPr>
        <p:spPr>
          <a:xfrm>
            <a:off x="7365558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1446" name="ddr-S2-t0: DDR.S2"/>
          <p:cNvSpPr txBox="1"/>
          <p:nvPr/>
        </p:nvSpPr>
        <p:spPr>
          <a:xfrm>
            <a:off x="8296891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1447" name="ddr-S3-t0: DDR.S3"/>
          <p:cNvSpPr txBox="1"/>
          <p:nvPr/>
        </p:nvSpPr>
        <p:spPr>
          <a:xfrm>
            <a:off x="9228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1448" name="ddr-arb-t0: 四口仲裁 / QoS · 共享 DDR 带宽"/>
          <p:cNvSpPr txBox="1"/>
          <p:nvPr/>
        </p:nvSpPr>
        <p:spPr>
          <a:xfrm>
            <a:off x="7300370" y="5934711"/>
            <a:ext cx="1452060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1449" name="ddr-rw-t0: 读写调度 · Bank / Row"/>
          <p:cNvSpPr txBox="1"/>
          <p:nvPr/>
        </p:nvSpPr>
        <p:spPr>
          <a:xfrm>
            <a:off x="6444522" y="6115965"/>
            <a:ext cx="111482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1450" name="ddr-command-t0: 命令调度 · Controller → PHY"/>
          <p:cNvSpPr txBox="1"/>
          <p:nvPr/>
        </p:nvSpPr>
        <p:spPr>
          <a:xfrm>
            <a:off x="8397216" y="6120977"/>
            <a:ext cx="1273434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1451" name="ddr-title: DDR Controller · 4 个 AXI slave"/>
          <p:cNvSpPr txBox="1"/>
          <p:nvPr/>
        </p:nvSpPr>
        <p:spPr>
          <a:xfrm>
            <a:off x="7293766" y="6267688"/>
            <a:ext cx="14652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1452" name="badge-C2-text: C2"/>
          <p:cNvSpPr txBox="1"/>
          <p:nvPr/>
        </p:nvSpPr>
        <p:spPr>
          <a:xfrm>
            <a:off x="9662848" y="6283673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53" name="ddr-phy-t0: DDR PHY"/>
          <p:cNvSpPr txBox="1"/>
          <p:nvPr/>
        </p:nvSpPr>
        <p:spPr>
          <a:xfrm>
            <a:off x="10438606" y="6228402"/>
            <a:ext cx="50958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454" name="ddr-phy-t1: 训练 / 校准"/>
          <p:cNvSpPr txBox="1"/>
          <p:nvPr/>
        </p:nvSpPr>
        <p:spPr>
          <a:xfrm>
            <a:off x="10335535" y="6351271"/>
            <a:ext cx="580263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455" name="badge-C3-text: C3"/>
          <p:cNvSpPr txBox="1"/>
          <p:nvPr/>
        </p:nvSpPr>
        <p:spPr>
          <a:xfrm>
            <a:off x="10915915" y="641236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56" name="ddr-device-t0: DDR"/>
          <p:cNvSpPr txBox="1"/>
          <p:nvPr/>
        </p:nvSpPr>
        <p:spPr>
          <a:xfrm>
            <a:off x="11586842" y="6218378"/>
            <a:ext cx="338249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57" name="ddr-device-t1: 片外器件"/>
          <p:cNvSpPr txBox="1"/>
          <p:nvPr/>
        </p:nvSpPr>
        <p:spPr>
          <a:xfrm>
            <a:off x="11518900" y="6359399"/>
            <a:ext cx="474133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1458" name="roi-title: 图像裁切输出"/>
          <p:cNvSpPr txBox="1"/>
          <p:nvPr/>
        </p:nvSpPr>
        <p:spPr>
          <a:xfrm>
            <a:off x="10322560" y="4313039"/>
            <a:ext cx="758613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1459" name="roi-count: ≤256 ROI / 帧"/>
          <p:cNvSpPr txBox="1"/>
          <p:nvPr/>
        </p:nvSpPr>
        <p:spPr>
          <a:xfrm>
            <a:off x="10367788" y="4429811"/>
            <a:ext cx="66815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1460" name="roi-no-scale: 纯裁切 · 不缩放"/>
          <p:cNvSpPr txBox="1"/>
          <p:nvPr/>
        </p:nvSpPr>
        <p:spPr>
          <a:xfrm>
            <a:off x="10356747" y="4517865"/>
            <a:ext cx="69024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1461" name="pll-title: PLL / 时钟与复位分发"/>
          <p:cNvSpPr txBox="1"/>
          <p:nvPr/>
        </p:nvSpPr>
        <p:spPr>
          <a:xfrm>
            <a:off x="7380023" y="6514372"/>
            <a:ext cx="1157288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1462" name="badge-C1-text: C1"/>
          <p:cNvSpPr txBox="1"/>
          <p:nvPr/>
        </p:nvSpPr>
        <p:spPr>
          <a:xfrm>
            <a:off x="8749295" y="6534625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3" name="pll-interface: RefClk / POR → clk_i / rst_ni"/>
          <p:cNvSpPr txBox="1"/>
          <p:nvPr/>
        </p:nvSpPr>
        <p:spPr>
          <a:xfrm>
            <a:off x="9311539" y="6536318"/>
            <a:ext cx="122278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1464" name="reg-badge-C1-text: C1"/>
          <p:cNvSpPr txBox="1"/>
          <p:nvPr/>
        </p:nvSpPr>
        <p:spPr>
          <a:xfrm>
            <a:off x="27585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5" name="config-C1-title-0: PLL / 时钟"/>
          <p:cNvSpPr txBox="1"/>
          <p:nvPr/>
        </p:nvSpPr>
        <p:spPr>
          <a:xfrm>
            <a:off x="287679" y="6020800"/>
            <a:ext cx="5769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1466" name="config-C1-title-1: 复位"/>
          <p:cNvSpPr txBox="1"/>
          <p:nvPr/>
        </p:nvSpPr>
        <p:spPr>
          <a:xfrm>
            <a:off x="42375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1467" name="reg-badge-C2-text: C2"/>
          <p:cNvSpPr txBox="1"/>
          <p:nvPr/>
        </p:nvSpPr>
        <p:spPr>
          <a:xfrm>
            <a:off x="99298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68" name="config-C2-title-0: DDR"/>
          <p:cNvSpPr txBox="1"/>
          <p:nvPr/>
        </p:nvSpPr>
        <p:spPr>
          <a:xfrm>
            <a:off x="1144058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69" name="config-C2-title-1: Controller"/>
          <p:cNvSpPr txBox="1"/>
          <p:nvPr/>
        </p:nvSpPr>
        <p:spPr>
          <a:xfrm>
            <a:off x="1028517" y="6129173"/>
            <a:ext cx="5295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1470" name="reg-badge-C3-text: C3"/>
          <p:cNvSpPr txBox="1"/>
          <p:nvPr/>
        </p:nvSpPr>
        <p:spPr>
          <a:xfrm>
            <a:off x="171010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71" name="config-C3-title-0: DDR"/>
          <p:cNvSpPr txBox="1"/>
          <p:nvPr/>
        </p:nvSpPr>
        <p:spPr>
          <a:xfrm>
            <a:off x="1861185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72" name="config-C3-title-1: PHY"/>
          <p:cNvSpPr txBox="1"/>
          <p:nvPr/>
        </p:nvSpPr>
        <p:spPr>
          <a:xfrm>
            <a:off x="1869271" y="6129173"/>
            <a:ext cx="2822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1473" name="reg-badge-C4-text: C4"/>
          <p:cNvSpPr txBox="1"/>
          <p:nvPr/>
        </p:nvSpPr>
        <p:spPr>
          <a:xfrm>
            <a:off x="242723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474" name="config-C4-title-0: LVDS"/>
          <p:cNvSpPr txBox="1"/>
          <p:nvPr/>
        </p:nvSpPr>
        <p:spPr>
          <a:xfrm>
            <a:off x="2557970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475" name="config-C4-title-1: RX"/>
          <p:cNvSpPr txBox="1"/>
          <p:nvPr/>
        </p:nvSpPr>
        <p:spPr>
          <a:xfrm>
            <a:off x="2617899" y="6129173"/>
            <a:ext cx="21927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1476" name="reg-badge-C5-text: C5"/>
          <p:cNvSpPr txBox="1"/>
          <p:nvPr/>
        </p:nvSpPr>
        <p:spPr>
          <a:xfrm>
            <a:off x="314436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477" name="config-C5-title-0: ISP"/>
          <p:cNvSpPr txBox="1"/>
          <p:nvPr/>
        </p:nvSpPr>
        <p:spPr>
          <a:xfrm>
            <a:off x="3320785" y="6074986"/>
            <a:ext cx="2477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478" name="reg-badge-C6-text: C6"/>
          <p:cNvSpPr txBox="1"/>
          <p:nvPr/>
        </p:nvSpPr>
        <p:spPr>
          <a:xfrm>
            <a:off x="386148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479" name="config-C6-title-0: NPU"/>
          <p:cNvSpPr txBox="1"/>
          <p:nvPr/>
        </p:nvSpPr>
        <p:spPr>
          <a:xfrm>
            <a:off x="4016584" y="6020800"/>
            <a:ext cx="29041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1480" name="config-C6-title-1: 计算"/>
          <p:cNvSpPr txBox="1"/>
          <p:nvPr/>
        </p:nvSpPr>
        <p:spPr>
          <a:xfrm>
            <a:off x="4009390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481" name="reg-badge-C7-text: C7"/>
          <p:cNvSpPr txBox="1"/>
          <p:nvPr/>
        </p:nvSpPr>
        <p:spPr>
          <a:xfrm>
            <a:off x="457861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482" name="config-C7-title-0: NPU / GB"/>
          <p:cNvSpPr txBox="1"/>
          <p:nvPr/>
        </p:nvSpPr>
        <p:spPr>
          <a:xfrm>
            <a:off x="4611920" y="6020800"/>
            <a:ext cx="53399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1483" name="config-C7-title-1: 搬运"/>
          <p:cNvSpPr txBox="1"/>
          <p:nvPr/>
        </p:nvSpPr>
        <p:spPr>
          <a:xfrm>
            <a:off x="472651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1484" name="reg-badge-C8-text: C8"/>
          <p:cNvSpPr txBox="1"/>
          <p:nvPr/>
        </p:nvSpPr>
        <p:spPr>
          <a:xfrm>
            <a:off x="529574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485" name="config-C8-title-0: 帧写入"/>
          <p:cNvSpPr txBox="1"/>
          <p:nvPr/>
        </p:nvSpPr>
        <p:spPr>
          <a:xfrm>
            <a:off x="5392843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1486" name="config-C8-title-1: DMA"/>
          <p:cNvSpPr txBox="1"/>
          <p:nvPr/>
        </p:nvSpPr>
        <p:spPr>
          <a:xfrm>
            <a:off x="5441709" y="6129173"/>
            <a:ext cx="3086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487" name="reg-badge-C9-text: C9"/>
          <p:cNvSpPr txBox="1"/>
          <p:nvPr/>
        </p:nvSpPr>
        <p:spPr>
          <a:xfrm>
            <a:off x="275855" y="6372065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488" name="config-C9-title-0: GB"/>
          <p:cNvSpPr txBox="1"/>
          <p:nvPr/>
        </p:nvSpPr>
        <p:spPr>
          <a:xfrm>
            <a:off x="460417" y="6474613"/>
            <a:ext cx="2314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489" name="config-C9-title-1: 管理"/>
          <p:cNvSpPr txBox="1"/>
          <p:nvPr/>
        </p:nvSpPr>
        <p:spPr>
          <a:xfrm>
            <a:off x="42375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1490" name="reg-badge-C10-text: C10"/>
          <p:cNvSpPr txBox="1"/>
          <p:nvPr/>
        </p:nvSpPr>
        <p:spPr>
          <a:xfrm>
            <a:off x="97165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491" name="config-C10-title-0: eMMC Host"/>
          <p:cNvSpPr txBox="1"/>
          <p:nvPr/>
        </p:nvSpPr>
        <p:spPr>
          <a:xfrm>
            <a:off x="981689" y="6474613"/>
            <a:ext cx="62318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1492" name="config-C10-title-1: / DMA"/>
          <p:cNvSpPr txBox="1"/>
          <p:nvPr/>
        </p:nvSpPr>
        <p:spPr>
          <a:xfrm>
            <a:off x="1097328" y="6582986"/>
            <a:ext cx="39191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1493" name="reg-badge-C11-text: C11"/>
          <p:cNvSpPr txBox="1"/>
          <p:nvPr/>
        </p:nvSpPr>
        <p:spPr>
          <a:xfrm>
            <a:off x="168878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494" name="config-C11-title-0: ROI 任务"/>
          <p:cNvSpPr txBox="1"/>
          <p:nvPr/>
        </p:nvSpPr>
        <p:spPr>
          <a:xfrm>
            <a:off x="1764644" y="6474613"/>
            <a:ext cx="4915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1495" name="config-C11-title-1: / 调度"/>
          <p:cNvSpPr txBox="1"/>
          <p:nvPr/>
        </p:nvSpPr>
        <p:spPr>
          <a:xfrm>
            <a:off x="1816388" y="6582986"/>
            <a:ext cx="38804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1496" name="reg-badge-C12-text: C12"/>
          <p:cNvSpPr txBox="1"/>
          <p:nvPr/>
        </p:nvSpPr>
        <p:spPr>
          <a:xfrm>
            <a:off x="240591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497" name="config-C12-title-0: 前端公共"/>
          <p:cNvSpPr txBox="1"/>
          <p:nvPr/>
        </p:nvSpPr>
        <p:spPr>
          <a:xfrm>
            <a:off x="2473537" y="6474613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前端公共</a:t>
            </a:r>
          </a:p>
        </p:txBody>
      </p:sp>
      <p:sp>
        <p:nvSpPr>
          <p:cNvPr id="1498" name="config-C12-title-1: 控制"/>
          <p:cNvSpPr txBox="1"/>
          <p:nvPr/>
        </p:nvSpPr>
        <p:spPr>
          <a:xfrm>
            <a:off x="257513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1499" name="reg-badge-C13-text: C13"/>
          <p:cNvSpPr txBox="1"/>
          <p:nvPr/>
        </p:nvSpPr>
        <p:spPr>
          <a:xfrm>
            <a:off x="312303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500" name="config-C13-title-0: 帧输出"/>
          <p:cNvSpPr txBox="1"/>
          <p:nvPr/>
        </p:nvSpPr>
        <p:spPr>
          <a:xfrm>
            <a:off x="3241463" y="6474613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1501" name="config-C13-title-1: VDMA"/>
          <p:cNvSpPr txBox="1"/>
          <p:nvPr/>
        </p:nvSpPr>
        <p:spPr>
          <a:xfrm>
            <a:off x="3261902" y="6582986"/>
            <a:ext cx="36552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VDMA</a:t>
            </a:r>
          </a:p>
        </p:txBody>
      </p:sp>
      <p:sp>
        <p:nvSpPr>
          <p:cNvPr id="1502" name="reg-badge-C14-text: C14"/>
          <p:cNvSpPr txBox="1"/>
          <p:nvPr/>
        </p:nvSpPr>
        <p:spPr>
          <a:xfrm>
            <a:off x="384016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03" name="config-C14-title-0: LVDS"/>
          <p:cNvSpPr txBox="1"/>
          <p:nvPr/>
        </p:nvSpPr>
        <p:spPr>
          <a:xfrm>
            <a:off x="3992224" y="6474613"/>
            <a:ext cx="339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504" name="config-C14-title-1: TX"/>
          <p:cNvSpPr txBox="1"/>
          <p:nvPr/>
        </p:nvSpPr>
        <p:spPr>
          <a:xfrm>
            <a:off x="4058206" y="6582986"/>
            <a:ext cx="20716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1505" name="reg-badge-C15-text: C15"/>
          <p:cNvSpPr txBox="1"/>
          <p:nvPr/>
        </p:nvSpPr>
        <p:spPr>
          <a:xfrm>
            <a:off x="455729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06" name="config-C15-title-0: 压缩器"/>
          <p:cNvSpPr txBox="1"/>
          <p:nvPr/>
        </p:nvSpPr>
        <p:spPr>
          <a:xfrm>
            <a:off x="4675717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1507" name="reg-badge-C16-text: C16"/>
          <p:cNvSpPr txBox="1"/>
          <p:nvPr/>
        </p:nvSpPr>
        <p:spPr>
          <a:xfrm>
            <a:off x="527441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08" name="config-C16-title-0: 解压器"/>
          <p:cNvSpPr txBox="1"/>
          <p:nvPr/>
        </p:nvSpPr>
        <p:spPr>
          <a:xfrm>
            <a:off x="5392843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1509" name="front-F0-t0: F0 · LLC"/>
          <p:cNvSpPr txBox="1"/>
          <p:nvPr/>
        </p:nvSpPr>
        <p:spPr>
          <a:xfrm>
            <a:off x="6431137" y="4319508"/>
            <a:ext cx="345726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1510" name="front-F1-t0: F1 · GB 搬运"/>
          <p:cNvSpPr txBox="1"/>
          <p:nvPr/>
        </p:nvSpPr>
        <p:spPr>
          <a:xfrm>
            <a:off x="7287834" y="4319508"/>
            <a:ext cx="494998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1511" name="front-F2-t0: F2 · 帧写"/>
          <p:cNvSpPr txBox="1"/>
          <p:nvPr/>
        </p:nvSpPr>
        <p:spPr>
          <a:xfrm>
            <a:off x="8279294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1512" name="front-F3-t0: F3 · 帧读"/>
          <p:cNvSpPr txBox="1"/>
          <p:nvPr/>
        </p:nvSpPr>
        <p:spPr>
          <a:xfrm>
            <a:off x="9210627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1513" name="front-adapt-t0: 共享压缩前端 · 四口区域选择 / 事务跟踪"/>
          <p:cNvSpPr txBox="1"/>
          <p:nvPr/>
        </p:nvSpPr>
        <p:spPr>
          <a:xfrm>
            <a:off x="7063335" y="4503912"/>
            <a:ext cx="192613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1514" name="badge-C12-text: C12"/>
          <p:cNvSpPr txBox="1"/>
          <p:nvPr/>
        </p:nvSpPr>
        <p:spPr>
          <a:xfrm>
            <a:off x="9641525" y="4525993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515" name="address-control-t0: 地址 / 事务"/>
          <p:cNvSpPr txBox="1"/>
          <p:nvPr/>
        </p:nvSpPr>
        <p:spPr>
          <a:xfrm>
            <a:off x="6276216" y="4810066"/>
            <a:ext cx="62170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1516" name="address-control-t1: AR / AW 映射"/>
          <p:cNvSpPr txBox="1"/>
          <p:nvPr/>
        </p:nvSpPr>
        <p:spPr>
          <a:xfrm>
            <a:off x="6279909" y="4933883"/>
            <a:ext cx="61431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1517" name="metadata-t0: 块地址 / 元数据"/>
          <p:cNvSpPr txBox="1"/>
          <p:nvPr/>
        </p:nvSpPr>
        <p:spPr>
          <a:xfrm>
            <a:off x="6202108" y="5223511"/>
            <a:ext cx="769916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1518" name="badge-C15-text: C15"/>
          <p:cNvSpPr txBox="1"/>
          <p:nvPr/>
        </p:nvSpPr>
        <p:spPr>
          <a:xfrm>
            <a:off x="7196352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19" name="compressor-title: 共享压缩器"/>
          <p:cNvSpPr txBox="1"/>
          <p:nvPr/>
        </p:nvSpPr>
        <p:spPr>
          <a:xfrm>
            <a:off x="7272867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1520" name="compressor-detail: W 写数据"/>
          <p:cNvSpPr txBox="1"/>
          <p:nvPr/>
        </p:nvSpPr>
        <p:spPr>
          <a:xfrm>
            <a:off x="7352287" y="5130851"/>
            <a:ext cx="4507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1521" name="badge-C16-text: C16"/>
          <p:cNvSpPr txBox="1"/>
          <p:nvPr/>
        </p:nvSpPr>
        <p:spPr>
          <a:xfrm>
            <a:off x="8102285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22" name="decompressor-title: 共享解压器"/>
          <p:cNvSpPr txBox="1"/>
          <p:nvPr/>
        </p:nvSpPr>
        <p:spPr>
          <a:xfrm>
            <a:off x="8178800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1523" name="decompressor-detail: R 读数据"/>
          <p:cNvSpPr txBox="1"/>
          <p:nvPr/>
        </p:nvSpPr>
        <p:spPr>
          <a:xfrm>
            <a:off x="8267033" y="5130851"/>
            <a:ext cx="43313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1524" name="plain-bypass-title: 普通数据旁路"/>
          <p:cNvSpPr txBox="1"/>
          <p:nvPr/>
        </p:nvSpPr>
        <p:spPr>
          <a:xfrm>
            <a:off x="9033933" y="5007848"/>
            <a:ext cx="7112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1525" name="plain-bypass-detail: W / R 原样"/>
          <p:cNvSpPr txBox="1"/>
          <p:nvPr/>
        </p:nvSpPr>
        <p:spPr>
          <a:xfrm>
            <a:off x="9131647" y="5130851"/>
            <a:ext cx="5157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1526" name="front-route-t0: 下游 AXI 路由 / R、B 响应匹配"/>
          <p:cNvSpPr txBox="1"/>
          <p:nvPr/>
        </p:nvSpPr>
        <p:spPr>
          <a:xfrm>
            <a:off x="7283945" y="5499592"/>
            <a:ext cx="148491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1527" name="b-response-label: B"/>
          <p:cNvSpPr txBox="1"/>
          <p:nvPr/>
        </p:nvSpPr>
        <p:spPr>
          <a:xfrm>
            <a:off x="6250331" y="4667420"/>
            <a:ext cx="13160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528" name="badge-C11-text: C11"/>
          <p:cNvSpPr txBox="1"/>
          <p:nvPr/>
        </p:nvSpPr>
        <p:spPr>
          <a:xfrm>
            <a:off x="10928458" y="4637753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529" name="roi-scheduler-title: ROI 任务表"/>
          <p:cNvSpPr txBox="1"/>
          <p:nvPr/>
        </p:nvSpPr>
        <p:spPr>
          <a:xfrm>
            <a:off x="10405300" y="4733528"/>
            <a:ext cx="593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1530" name="roi-scheduler-detail: 顺序调度"/>
          <p:cNvSpPr txBox="1"/>
          <p:nvPr/>
        </p:nvSpPr>
        <p:spPr>
          <a:xfrm>
            <a:off x="10481733" y="4849758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1531" name="badge-C13-text: C13"/>
          <p:cNvSpPr txBox="1"/>
          <p:nvPr/>
        </p:nvSpPr>
        <p:spPr>
          <a:xfrm>
            <a:off x="10928458" y="5027219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532" name="roi-vdma-title: 帧输出 VDMA"/>
          <p:cNvSpPr txBox="1"/>
          <p:nvPr/>
        </p:nvSpPr>
        <p:spPr>
          <a:xfrm>
            <a:off x="10351476" y="5122994"/>
            <a:ext cx="70078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VDMA</a:t>
            </a:r>
          </a:p>
        </p:txBody>
      </p:sp>
      <p:sp>
        <p:nvSpPr>
          <p:cNvPr id="1533" name="roi-vdma-detail: 二维 AXI 读"/>
          <p:cNvSpPr txBox="1"/>
          <p:nvPr/>
        </p:nvSpPr>
        <p:spPr>
          <a:xfrm>
            <a:off x="10439553" y="5239225"/>
            <a:ext cx="52462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1534" name="roi-fifo-t0: 像素整理"/>
          <p:cNvSpPr txBox="1"/>
          <p:nvPr/>
        </p:nvSpPr>
        <p:spPr>
          <a:xfrm>
            <a:off x="10447867" y="5411200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1535" name="roi-fifo-t1: 输出 FIFO"/>
          <p:cNvSpPr txBox="1"/>
          <p:nvPr/>
        </p:nvSpPr>
        <p:spPr>
          <a:xfrm>
            <a:off x="10473904" y="5535016"/>
            <a:ext cx="45592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1536" name="badge-C14-text: C14"/>
          <p:cNvSpPr txBox="1"/>
          <p:nvPr/>
        </p:nvSpPr>
        <p:spPr>
          <a:xfrm>
            <a:off x="10928458" y="5721486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37" name="lvds-tx-title: LVDS TX"/>
          <p:cNvSpPr txBox="1"/>
          <p:nvPr/>
        </p:nvSpPr>
        <p:spPr>
          <a:xfrm>
            <a:off x="10464287" y="5817261"/>
            <a:ext cx="47516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1538" name="lvds-tx-detail: 子图帧行封装"/>
          <p:cNvSpPr txBox="1"/>
          <p:nvPr/>
        </p:nvSpPr>
        <p:spPr>
          <a:xfrm>
            <a:off x="10393680" y="5933491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1539" name="legend-axi-interface-text: AXI 请求 / 响应"/>
          <p:cNvSpPr txBox="1"/>
          <p:nvPr/>
        </p:nvSpPr>
        <p:spPr>
          <a:xfrm>
            <a:off x="10427187" y="2844851"/>
            <a:ext cx="68482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 / 响应</a:t>
            </a:r>
          </a:p>
        </p:txBody>
      </p:sp>
      <p:sp>
        <p:nvSpPr>
          <p:cNvPr id="1540" name="legend-axi-request-text: AXI 请求方向"/>
          <p:cNvSpPr txBox="1"/>
          <p:nvPr/>
        </p:nvSpPr>
        <p:spPr>
          <a:xfrm>
            <a:off x="10476460" y="3007412"/>
            <a:ext cx="5862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1541" name="legend-gb-text: GB 局部读写"/>
          <p:cNvSpPr txBox="1"/>
          <p:nvPr/>
        </p:nvSpPr>
        <p:spPr>
          <a:xfrm>
            <a:off x="10479984" y="3169971"/>
            <a:ext cx="57923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1542" name="legend-pixel-text: 像素流"/>
          <p:cNvSpPr txBox="1"/>
          <p:nvPr/>
        </p:nvSpPr>
        <p:spPr>
          <a:xfrm>
            <a:off x="10593493" y="3332531"/>
            <a:ext cx="3522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1543" name="legend-cfg-text: 配置 / 控制"/>
          <p:cNvSpPr txBox="1"/>
          <p:nvPr/>
        </p:nvSpPr>
        <p:spPr>
          <a:xfrm>
            <a:off x="10500193" y="3495092"/>
            <a:ext cx="5388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1544" name="legend-optional-text: eMMC 接口"/>
          <p:cNvSpPr txBox="1"/>
          <p:nvPr/>
        </p:nvSpPr>
        <p:spPr>
          <a:xfrm>
            <a:off x="10501180" y="3657651"/>
            <a:ext cx="53684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1545" name="legend-return: 单箭头接口：省略响应"/>
          <p:cNvSpPr txBox="1"/>
          <p:nvPr/>
        </p:nvSpPr>
        <p:spPr>
          <a:xfrm>
            <a:off x="10254827" y="3929127"/>
            <a:ext cx="894080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单箭头接口：省略响应</a:t>
            </a:r>
          </a:p>
        </p:txBody>
      </p:sp>
      <p:sp>
        <p:nvSpPr>
          <p:cNvPr id="1546" name="legend-status: 虚实与箭头方向独立"/>
          <p:cNvSpPr txBox="1"/>
          <p:nvPr/>
        </p:nvSpPr>
        <p:spPr>
          <a:xfrm>
            <a:off x="10290625" y="4017180"/>
            <a:ext cx="82248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虚实与箭头方向独立</a:t>
            </a:r>
          </a:p>
        </p:txBody>
      </p:sp>
      <p:sp>
        <p:nvSpPr>
          <p:cNvPr id="1547" name="legend-dashed"/>
          <p:cNvSpPr/>
          <p:nvPr/>
        </p:nvSpPr>
        <p:spPr>
          <a:xfrm>
            <a:off x="10193867" y="388144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48" name="legend-dashed-text: 虚线：规划 / 可选"/>
          <p:cNvSpPr txBox="1"/>
          <p:nvPr/>
        </p:nvSpPr>
        <p:spPr>
          <a:xfrm>
            <a:off x="10329334" y="3820211"/>
            <a:ext cx="88053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虚线：规划 / 可选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1002" name="soc-boundary"/>
          <p:cNvSpPr/>
          <p:nvPr/>
        </p:nvSpPr>
        <p:spPr>
          <a:xfrm>
            <a:off x="71967" y="603149"/>
            <a:ext cx="11260667" cy="6180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3" name="compute"/>
          <p:cNvSpPr/>
          <p:nvPr/>
        </p:nvSpPr>
        <p:spPr>
          <a:xfrm>
            <a:off x="241300" y="738616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4" name="gb-region"/>
          <p:cNvSpPr/>
          <p:nvPr/>
        </p:nvSpPr>
        <p:spPr>
          <a:xfrm>
            <a:off x="3594100" y="738616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5" name="image-rx"/>
          <p:cNvSpPr/>
          <p:nvPr/>
        </p:nvSpPr>
        <p:spPr>
          <a:xfrm>
            <a:off x="7607300" y="738616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6" name="reg-region"/>
          <p:cNvSpPr/>
          <p:nvPr/>
        </p:nvSpPr>
        <p:spPr>
          <a:xfrm>
            <a:off x="173567" y="4311549"/>
            <a:ext cx="5825067" cy="1513840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7" name="ddr-controller"/>
          <p:cNvSpPr/>
          <p:nvPr/>
        </p:nvSpPr>
        <p:spPr>
          <a:xfrm>
            <a:off x="6129867" y="5835549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8" name="roi-region"/>
          <p:cNvSpPr/>
          <p:nvPr/>
        </p:nvSpPr>
        <p:spPr>
          <a:xfrm>
            <a:off x="10160000" y="4311549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9" name="compression-front"/>
          <p:cNvSpPr/>
          <p:nvPr/>
        </p:nvSpPr>
        <p:spPr>
          <a:xfrm>
            <a:off x="6129867" y="4375896"/>
            <a:ext cx="3793067" cy="133434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0" name="shared-payload-services"/>
          <p:cNvSpPr/>
          <p:nvPr/>
        </p:nvSpPr>
        <p:spPr>
          <a:xfrm>
            <a:off x="7095067" y="4768749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1" name="cpu-ara-command"/>
          <p:cNvSpPr/>
          <p:nvPr/>
        </p:nvSpPr>
        <p:spPr>
          <a:xfrm>
            <a:off x="1172633" y="12127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2" name="ara-filter-edge"/>
          <p:cNvSpPr/>
          <p:nvPr/>
        </p:nvSpPr>
        <p:spPr>
          <a:xfrm>
            <a:off x="1731433" y="1432882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3" name="filter-width"/>
          <p:cNvSpPr/>
          <p:nvPr/>
        </p:nvSpPr>
        <p:spPr>
          <a:xfrm>
            <a:off x="2053167" y="1730909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4" name="npu-gb"/>
          <p:cNvSpPr/>
          <p:nvPr/>
        </p:nvSpPr>
        <p:spPr>
          <a:xfrm>
            <a:off x="4593167" y="1382082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5" name="adapter-sram"/>
          <p:cNvSpPr/>
          <p:nvPr/>
        </p:nvSpPr>
        <p:spPr>
          <a:xfrm>
            <a:off x="5490633" y="14498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6" name="mover-gb"/>
          <p:cNvSpPr/>
          <p:nvPr/>
        </p:nvSpPr>
        <p:spPr>
          <a:xfrm>
            <a:off x="5490633" y="19070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7" name="lvds-rx-to-rx-cdc"/>
          <p:cNvSpPr/>
          <p:nvPr/>
        </p:nvSpPr>
        <p:spPr>
          <a:xfrm>
            <a:off x="104690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101600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8" name="rx-cdc-to-isp"/>
          <p:cNvSpPr/>
          <p:nvPr/>
        </p:nvSpPr>
        <p:spPr>
          <a:xfrm>
            <a:off x="98255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101600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9" name="isp-to-frame-select"/>
          <p:cNvSpPr/>
          <p:nvPr/>
        </p:nvSpPr>
        <p:spPr>
          <a:xfrm>
            <a:off x="91651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101600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0" name="frame-select-to-frame-dma"/>
          <p:cNvSpPr/>
          <p:nvPr/>
        </p:nvSpPr>
        <p:spPr>
          <a:xfrm>
            <a:off x="8437033" y="1517549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11853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1" name="raw-bypass"/>
          <p:cNvSpPr/>
          <p:nvPr/>
        </p:nvSpPr>
        <p:spPr>
          <a:xfrm>
            <a:off x="8860367" y="1060349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1337733" y="152400"/>
                </a:moveTo>
                <a:lnTo>
                  <a:pt x="1337733" y="0"/>
                </a:lnTo>
                <a:lnTo>
                  <a:pt x="0" y="0"/>
                </a:ln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2" name="isp-gb"/>
          <p:cNvSpPr/>
          <p:nvPr/>
        </p:nvSpPr>
        <p:spPr>
          <a:xfrm>
            <a:off x="5101167" y="1703816"/>
            <a:ext cx="4165600" cy="524933"/>
          </a:xfrm>
          <a:custGeom>
            <a:avLst/>
            <a:gdLst/>
            <a:ahLst/>
            <a:cxnLst/>
            <a:rect l="0" t="0" r="r" b="b"/>
            <a:pathLst>
              <a:path w="4165600" h="524933" fill="none">
                <a:moveTo>
                  <a:pt x="4165600" y="0"/>
                </a:moveTo>
                <a:lnTo>
                  <a:pt x="4110567" y="0"/>
                </a:lnTo>
                <a:lnTo>
                  <a:pt x="4110567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3" name="master-1"/>
          <p:cNvSpPr/>
          <p:nvPr/>
        </p:nvSpPr>
        <p:spPr>
          <a:xfrm>
            <a:off x="1838678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4" name="master-3"/>
          <p:cNvSpPr/>
          <p:nvPr/>
        </p:nvSpPr>
        <p:spPr>
          <a:xfrm>
            <a:off x="3968515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5" name="master-4"/>
          <p:cNvSpPr/>
          <p:nvPr/>
        </p:nvSpPr>
        <p:spPr>
          <a:xfrm>
            <a:off x="5033433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6" name="master-5"/>
          <p:cNvSpPr/>
          <p:nvPr/>
        </p:nvSpPr>
        <p:spPr>
          <a:xfrm>
            <a:off x="6098352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7" name="master-6"/>
          <p:cNvSpPr/>
          <p:nvPr/>
        </p:nvSpPr>
        <p:spPr>
          <a:xfrm>
            <a:off x="7163270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8" name="master-7"/>
          <p:cNvSpPr/>
          <p:nvPr/>
        </p:nvSpPr>
        <p:spPr>
          <a:xfrm>
            <a:off x="8228189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9" name="master-8"/>
          <p:cNvSpPr/>
          <p:nvPr/>
        </p:nvSpPr>
        <p:spPr>
          <a:xfrm>
            <a:off x="9293107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0" name="cpu-xbar"/>
          <p:cNvSpPr/>
          <p:nvPr/>
        </p:nvSpPr>
        <p:spPr>
          <a:xfrm>
            <a:off x="773759" y="1737682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1" name="ara-xbar"/>
          <p:cNvSpPr/>
          <p:nvPr/>
        </p:nvSpPr>
        <p:spPr>
          <a:xfrm>
            <a:off x="2903596" y="1876536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2" name="target-0"/>
          <p:cNvSpPr/>
          <p:nvPr/>
        </p:nvSpPr>
        <p:spPr>
          <a:xfrm>
            <a:off x="925890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3" name="target-1"/>
          <p:cNvSpPr/>
          <p:nvPr/>
        </p:nvSpPr>
        <p:spPr>
          <a:xfrm>
            <a:off x="2295071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4" name="target-2"/>
          <p:cNvSpPr/>
          <p:nvPr/>
        </p:nvSpPr>
        <p:spPr>
          <a:xfrm>
            <a:off x="3664252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5" name="atomics-llc"/>
          <p:cNvSpPr/>
          <p:nvPr/>
        </p:nvSpPr>
        <p:spPr>
          <a:xfrm>
            <a:off x="3647319" y="3928856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6" name="target-3"/>
          <p:cNvSpPr/>
          <p:nvPr/>
        </p:nvSpPr>
        <p:spPr>
          <a:xfrm>
            <a:off x="5033433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7" name="target-4"/>
          <p:cNvSpPr/>
          <p:nvPr/>
        </p:nvSpPr>
        <p:spPr>
          <a:xfrm>
            <a:off x="6402614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8" name="target-5"/>
          <p:cNvSpPr/>
          <p:nvPr/>
        </p:nvSpPr>
        <p:spPr>
          <a:xfrm>
            <a:off x="7771795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9" name="target-6"/>
          <p:cNvSpPr/>
          <p:nvPr/>
        </p:nvSpPr>
        <p:spPr>
          <a:xfrm>
            <a:off x="9140976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0" name="m5-gb"/>
          <p:cNvSpPr/>
          <p:nvPr/>
        </p:nvSpPr>
        <p:spPr>
          <a:xfrm>
            <a:off x="4910667" y="2059416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1" name="emmc-physical"/>
          <p:cNvSpPr/>
          <p:nvPr/>
        </p:nvSpPr>
        <p:spPr>
          <a:xfrm>
            <a:off x="8712482" y="2329220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2" name="bridge-regbus"/>
          <p:cNvSpPr/>
          <p:nvPr/>
        </p:nvSpPr>
        <p:spPr>
          <a:xfrm>
            <a:off x="2295071" y="4108349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3" name="reg-column-0"/>
          <p:cNvSpPr/>
          <p:nvPr/>
        </p:nvSpPr>
        <p:spPr>
          <a:xfrm>
            <a:off x="2853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4" name="bootrom-cfg"/>
          <p:cNvSpPr/>
          <p:nvPr/>
        </p:nvSpPr>
        <p:spPr>
          <a:xfrm>
            <a:off x="2853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5" name="uart-cfg"/>
          <p:cNvSpPr/>
          <p:nvPr/>
        </p:nvSpPr>
        <p:spPr>
          <a:xfrm>
            <a:off x="2853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6" name="vga-regs-cfg"/>
          <p:cNvSpPr/>
          <p:nvPr/>
        </p:nvSpPr>
        <p:spPr>
          <a:xfrm>
            <a:off x="2853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7" name="irq-router-cfg"/>
          <p:cNvSpPr/>
          <p:nvPr/>
        </p:nvSpPr>
        <p:spPr>
          <a:xfrm>
            <a:off x="2853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8" name="reg-column-1"/>
          <p:cNvSpPr/>
          <p:nvPr/>
        </p:nvSpPr>
        <p:spPr>
          <a:xfrm>
            <a:off x="14029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9" name="clint-cfg"/>
          <p:cNvSpPr/>
          <p:nvPr/>
        </p:nvSpPr>
        <p:spPr>
          <a:xfrm>
            <a:off x="14029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0" name="i2c-cfg"/>
          <p:cNvSpPr/>
          <p:nvPr/>
        </p:nvSpPr>
        <p:spPr>
          <a:xfrm>
            <a:off x="14029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1" name="usb-regs-cfg"/>
          <p:cNvSpPr/>
          <p:nvPr/>
        </p:nvSpPr>
        <p:spPr>
          <a:xfrm>
            <a:off x="14029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2" name="axi-rt-config-cfg"/>
          <p:cNvSpPr/>
          <p:nvPr/>
        </p:nvSpPr>
        <p:spPr>
          <a:xfrm>
            <a:off x="14029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3" name="reg-column-2"/>
          <p:cNvSpPr/>
          <p:nvPr/>
        </p:nvSpPr>
        <p:spPr>
          <a:xfrm>
            <a:off x="25205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4" name="soc-regs-cfg"/>
          <p:cNvSpPr/>
          <p:nvPr/>
        </p:nvSpPr>
        <p:spPr>
          <a:xfrm>
            <a:off x="25205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5" name="spi-cfg"/>
          <p:cNvSpPr/>
          <p:nvPr/>
        </p:nvSpPr>
        <p:spPr>
          <a:xfrm>
            <a:off x="25205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6" name="err-vga-cfg"/>
          <p:cNvSpPr/>
          <p:nvPr/>
        </p:nvSpPr>
        <p:spPr>
          <a:xfrm>
            <a:off x="25205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7" name="clic-cfg"/>
          <p:cNvSpPr/>
          <p:nvPr/>
        </p:nvSpPr>
        <p:spPr>
          <a:xfrm>
            <a:off x="25205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8" name="reg-column-3"/>
          <p:cNvSpPr/>
          <p:nvPr/>
        </p:nvSpPr>
        <p:spPr>
          <a:xfrm>
            <a:off x="36381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9" name="plic-cfg"/>
          <p:cNvSpPr/>
          <p:nvPr/>
        </p:nvSpPr>
        <p:spPr>
          <a:xfrm>
            <a:off x="36381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0" name="gpio-cfg"/>
          <p:cNvSpPr/>
          <p:nvPr/>
        </p:nvSpPr>
        <p:spPr>
          <a:xfrm>
            <a:off x="36381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1" name="err-dma-cfg"/>
          <p:cNvSpPr/>
          <p:nvPr/>
        </p:nvSpPr>
        <p:spPr>
          <a:xfrm>
            <a:off x="36381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2" name="reg-error-cfg"/>
          <p:cNvSpPr/>
          <p:nvPr/>
        </p:nvSpPr>
        <p:spPr>
          <a:xfrm>
            <a:off x="36381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3" name="reg-column-4"/>
          <p:cNvSpPr/>
          <p:nvPr/>
        </p:nvSpPr>
        <p:spPr>
          <a:xfrm>
            <a:off x="47557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4" name="llc-regs-cfg"/>
          <p:cNvSpPr/>
          <p:nvPr/>
        </p:nvSpPr>
        <p:spPr>
          <a:xfrm>
            <a:off x="47557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5" name="slink-regs-cfg"/>
          <p:cNvSpPr/>
          <p:nvPr/>
        </p:nvSpPr>
        <p:spPr>
          <a:xfrm>
            <a:off x="47557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6" name="err-cpu-cfg"/>
          <p:cNvSpPr/>
          <p:nvPr/>
        </p:nvSpPr>
        <p:spPr>
          <a:xfrm>
            <a:off x="47557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7" name="reg-ext-cfg"/>
          <p:cNvSpPr/>
          <p:nvPr/>
        </p:nvSpPr>
        <p:spPr>
          <a:xfrm>
            <a:off x="47557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8" name="ddr-arb-0"/>
          <p:cNvSpPr/>
          <p:nvPr/>
        </p:nvSpPr>
        <p:spPr>
          <a:xfrm>
            <a:off x="6604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9" name="ddr-arb-1"/>
          <p:cNvSpPr/>
          <p:nvPr/>
        </p:nvSpPr>
        <p:spPr>
          <a:xfrm>
            <a:off x="7535333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0" name="ddr-arb-2"/>
          <p:cNvSpPr/>
          <p:nvPr/>
        </p:nvSpPr>
        <p:spPr>
          <a:xfrm>
            <a:off x="8466667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1" name="ddr-arb-3"/>
          <p:cNvSpPr/>
          <p:nvPr/>
        </p:nvSpPr>
        <p:spPr>
          <a:xfrm>
            <a:off x="9398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2" name="arb-rw"/>
          <p:cNvSpPr/>
          <p:nvPr/>
        </p:nvSpPr>
        <p:spPr>
          <a:xfrm>
            <a:off x="7001933" y="6072616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3" name="rw-command"/>
          <p:cNvSpPr/>
          <p:nvPr/>
        </p:nvSpPr>
        <p:spPr>
          <a:xfrm>
            <a:off x="7806267" y="6191149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4" name="controller-phy"/>
          <p:cNvSpPr/>
          <p:nvPr/>
        </p:nvSpPr>
        <p:spPr>
          <a:xfrm>
            <a:off x="9855200" y="6191149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5" name="phy-ddr"/>
          <p:cNvSpPr/>
          <p:nvPr/>
        </p:nvSpPr>
        <p:spPr>
          <a:xfrm>
            <a:off x="11125200" y="6326616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6" name="roi-vdma-control"/>
          <p:cNvSpPr/>
          <p:nvPr/>
        </p:nvSpPr>
        <p:spPr>
          <a:xfrm>
            <a:off x="10701867" y="4971949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7" name="vdma-pixels"/>
          <p:cNvSpPr/>
          <p:nvPr/>
        </p:nvSpPr>
        <p:spPr>
          <a:xfrm>
            <a:off x="10701867" y="53614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8" name="fifo-lvds"/>
          <p:cNvSpPr/>
          <p:nvPr/>
        </p:nvSpPr>
        <p:spPr>
          <a:xfrm>
            <a:off x="10701867" y="56662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9" name="llc-f0"/>
          <p:cNvSpPr/>
          <p:nvPr/>
        </p:nvSpPr>
        <p:spPr>
          <a:xfrm>
            <a:off x="4019852" y="4071096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0" name="mover-f1"/>
          <p:cNvSpPr/>
          <p:nvPr/>
        </p:nvSpPr>
        <p:spPr>
          <a:xfrm>
            <a:off x="7336368" y="1907016"/>
            <a:ext cx="2733522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1" name="frame-f2"/>
          <p:cNvSpPr/>
          <p:nvPr/>
        </p:nvSpPr>
        <p:spPr>
          <a:xfrm>
            <a:off x="8072967" y="1839282"/>
            <a:ext cx="2112204" cy="2475653"/>
          </a:xfrm>
          <a:custGeom>
            <a:avLst/>
            <a:gdLst/>
            <a:ahLst/>
            <a:cxnLst/>
            <a:rect l="0" t="0" r="r" b="b"/>
            <a:pathLst>
              <a:path w="3121096" h="2475653" fill="none">
                <a:moveTo>
                  <a:pt x="0" y="0"/>
                </a:moveTo>
                <a:lnTo>
                  <a:pt x="0" y="152400"/>
                </a:lnTo>
                <a:lnTo>
                  <a:pt x="1101513" y="152400"/>
                </a:lnTo>
                <a:cubicBezTo>
                  <a:pt x="1126349" y="107244"/>
                  <a:pt x="1151184" y="107244"/>
                  <a:pt x="1176020" y="152400"/>
                </a:cubicBezTo>
                <a:lnTo>
                  <a:pt x="3103033" y="152400"/>
                </a:lnTo>
                <a:lnTo>
                  <a:pt x="3103033" y="487680"/>
                </a:lnTo>
                <a:cubicBezTo>
                  <a:pt x="3121096" y="501227"/>
                  <a:pt x="3121096" y="514773"/>
                  <a:pt x="3103033" y="528320"/>
                </a:cubicBezTo>
                <a:lnTo>
                  <a:pt x="3103033" y="2286000"/>
                </a:lnTo>
                <a:lnTo>
                  <a:pt x="1971887" y="2286000"/>
                </a:lnTo>
                <a:cubicBezTo>
                  <a:pt x="1958340" y="2267938"/>
                  <a:pt x="1944793" y="2267938"/>
                  <a:pt x="1931247" y="2286000"/>
                </a:cubicBezTo>
                <a:lnTo>
                  <a:pt x="393700" y="2286000"/>
                </a:lnTo>
                <a:lnTo>
                  <a:pt x="393700" y="2316480"/>
                </a:lnTo>
                <a:cubicBezTo>
                  <a:pt x="411762" y="2330027"/>
                  <a:pt x="411762" y="2343573"/>
                  <a:pt x="393700" y="2357120"/>
                </a:cubicBezTo>
                <a:lnTo>
                  <a:pt x="393700" y="2475653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2" name="roi-f3-request"/>
          <p:cNvSpPr/>
          <p:nvPr/>
        </p:nvSpPr>
        <p:spPr>
          <a:xfrm>
            <a:off x="9398000" y="4277682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3" name="front-input-0"/>
          <p:cNvSpPr/>
          <p:nvPr/>
        </p:nvSpPr>
        <p:spPr>
          <a:xfrm>
            <a:off x="6604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4" name="front-input-1"/>
          <p:cNvSpPr/>
          <p:nvPr/>
        </p:nvSpPr>
        <p:spPr>
          <a:xfrm>
            <a:off x="7535333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5" name="front-input-2"/>
          <p:cNvSpPr/>
          <p:nvPr/>
        </p:nvSpPr>
        <p:spPr>
          <a:xfrm>
            <a:off x="8466667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6" name="front-input-3"/>
          <p:cNvSpPr/>
          <p:nvPr/>
        </p:nvSpPr>
        <p:spPr>
          <a:xfrm>
            <a:off x="9398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7" name="adapt-address"/>
          <p:cNvSpPr/>
          <p:nvPr/>
        </p:nvSpPr>
        <p:spPr>
          <a:xfrm>
            <a:off x="6587067" y="4667149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8" name="address-downstream"/>
          <p:cNvSpPr/>
          <p:nvPr/>
        </p:nvSpPr>
        <p:spPr>
          <a:xfrm>
            <a:off x="6976533" y="4938082"/>
            <a:ext cx="40640" cy="552027"/>
          </a:xfrm>
          <a:custGeom>
            <a:avLst/>
            <a:gdLst/>
            <a:ahLst/>
            <a:cxnLst/>
            <a:rect l="0" t="0" r="r" b="b"/>
            <a:pathLst>
              <a:path w="40640" h="552027" fill="none">
                <a:moveTo>
                  <a:pt x="0" y="0"/>
                </a:moveTo>
                <a:lnTo>
                  <a:pt x="40640" y="0"/>
                </a:lnTo>
                <a:lnTo>
                  <a:pt x="40640" y="5520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9" name="b-response"/>
          <p:cNvSpPr/>
          <p:nvPr/>
        </p:nvSpPr>
        <p:spPr>
          <a:xfrm>
            <a:off x="6163733" y="4667149"/>
            <a:ext cx="84667" cy="907627"/>
          </a:xfrm>
          <a:custGeom>
            <a:avLst/>
            <a:gdLst/>
            <a:ahLst/>
            <a:cxnLst/>
            <a:rect l="0" t="0" r="r" b="b"/>
            <a:pathLst>
              <a:path w="84667" h="907627" fill="none">
                <a:moveTo>
                  <a:pt x="33867" y="907627"/>
                </a:moveTo>
                <a:lnTo>
                  <a:pt x="0" y="90762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0" name="metadata-control"/>
          <p:cNvSpPr/>
          <p:nvPr/>
        </p:nvSpPr>
        <p:spPr>
          <a:xfrm>
            <a:off x="6587067" y="5107416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1" name="metadata-storage"/>
          <p:cNvSpPr/>
          <p:nvPr/>
        </p:nvSpPr>
        <p:spPr>
          <a:xfrm>
            <a:off x="6587067" y="5378349"/>
            <a:ext cx="1" cy="111760"/>
          </a:xfrm>
          <a:custGeom>
            <a:avLst/>
            <a:gdLst/>
            <a:ahLst/>
            <a:cxnLst/>
            <a:rect l="0" t="0" r="r" b="b"/>
            <a:pathLst>
              <a:path w="1" h="111760" fill="none">
                <a:moveTo>
                  <a:pt x="0" y="0"/>
                </a:moveTo>
                <a:lnTo>
                  <a:pt x="0" y="11176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2" name="adapt-compressor"/>
          <p:cNvSpPr/>
          <p:nvPr/>
        </p:nvSpPr>
        <p:spPr>
          <a:xfrm>
            <a:off x="7577667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3" name="compressor-route"/>
          <p:cNvSpPr/>
          <p:nvPr/>
        </p:nvSpPr>
        <p:spPr>
          <a:xfrm>
            <a:off x="7577667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4" name="read-to-decoder"/>
          <p:cNvSpPr/>
          <p:nvPr/>
        </p:nvSpPr>
        <p:spPr>
          <a:xfrm>
            <a:off x="8483600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19642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5" name="decoder-up"/>
          <p:cNvSpPr/>
          <p:nvPr/>
        </p:nvSpPr>
        <p:spPr>
          <a:xfrm>
            <a:off x="8483600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6" name="adapt-plain-bypass"/>
          <p:cNvSpPr/>
          <p:nvPr/>
        </p:nvSpPr>
        <p:spPr>
          <a:xfrm>
            <a:off x="9389533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7" name="plain-bypass-route"/>
          <p:cNvSpPr/>
          <p:nvPr/>
        </p:nvSpPr>
        <p:spPr>
          <a:xfrm>
            <a:off x="9389533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8" name="front-ddr-0"/>
          <p:cNvSpPr/>
          <p:nvPr/>
        </p:nvSpPr>
        <p:spPr>
          <a:xfrm>
            <a:off x="6604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9" name="front-ddr-1"/>
          <p:cNvSpPr/>
          <p:nvPr/>
        </p:nvSpPr>
        <p:spPr>
          <a:xfrm>
            <a:off x="7535333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0" name="front-ddr-2"/>
          <p:cNvSpPr/>
          <p:nvPr/>
        </p:nvSpPr>
        <p:spPr>
          <a:xfrm>
            <a:off x="8466667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1" name="front-ddr-3"/>
          <p:cNvSpPr/>
          <p:nvPr/>
        </p:nvSpPr>
        <p:spPr>
          <a:xfrm>
            <a:off x="9398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2" name="regext-config"/>
          <p:cNvSpPr/>
          <p:nvPr/>
        </p:nvSpPr>
        <p:spPr>
          <a:xfrm>
            <a:off x="5846233" y="5659442"/>
            <a:ext cx="198967" cy="643805"/>
          </a:xfrm>
          <a:custGeom>
            <a:avLst/>
            <a:gdLst/>
            <a:ahLst/>
            <a:cxnLst/>
            <a:rect l="0" t="0" r="r" b="b"/>
            <a:pathLst>
              <a:path w="198967" h="643805" fill="none">
                <a:moveTo>
                  <a:pt x="0" y="0"/>
                </a:moveTo>
                <a:lnTo>
                  <a:pt x="198967" y="0"/>
                </a:lnTo>
                <a:lnTo>
                  <a:pt x="198967" y="643805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3" name="config-trunk-1"/>
          <p:cNvSpPr/>
          <p:nvPr/>
        </p:nvSpPr>
        <p:spPr>
          <a:xfrm>
            <a:off x="576157" y="5849096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4" name="cfg-C1"/>
          <p:cNvSpPr/>
          <p:nvPr/>
        </p:nvSpPr>
        <p:spPr>
          <a:xfrm>
            <a:off x="57615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5" name="cfg-C2"/>
          <p:cNvSpPr/>
          <p:nvPr/>
        </p:nvSpPr>
        <p:spPr>
          <a:xfrm>
            <a:off x="129328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6" name="cfg-C3"/>
          <p:cNvSpPr/>
          <p:nvPr/>
        </p:nvSpPr>
        <p:spPr>
          <a:xfrm>
            <a:off x="201041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7" name="cfg-C4"/>
          <p:cNvSpPr/>
          <p:nvPr/>
        </p:nvSpPr>
        <p:spPr>
          <a:xfrm>
            <a:off x="272753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8" name="cfg-C5"/>
          <p:cNvSpPr/>
          <p:nvPr/>
        </p:nvSpPr>
        <p:spPr>
          <a:xfrm>
            <a:off x="344466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9" name="cfg-C6"/>
          <p:cNvSpPr/>
          <p:nvPr/>
        </p:nvSpPr>
        <p:spPr>
          <a:xfrm>
            <a:off x="416179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0" name="cfg-C7"/>
          <p:cNvSpPr/>
          <p:nvPr/>
        </p:nvSpPr>
        <p:spPr>
          <a:xfrm>
            <a:off x="487891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1" name="cfg-C8"/>
          <p:cNvSpPr/>
          <p:nvPr/>
        </p:nvSpPr>
        <p:spPr>
          <a:xfrm>
            <a:off x="559604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2" name="config-trunk-2"/>
          <p:cNvSpPr/>
          <p:nvPr/>
        </p:nvSpPr>
        <p:spPr>
          <a:xfrm>
            <a:off x="576157" y="6303248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3" name="cfg-C9"/>
          <p:cNvSpPr/>
          <p:nvPr/>
        </p:nvSpPr>
        <p:spPr>
          <a:xfrm>
            <a:off x="57615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4" name="cfg-C10"/>
          <p:cNvSpPr/>
          <p:nvPr/>
        </p:nvSpPr>
        <p:spPr>
          <a:xfrm>
            <a:off x="129328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5" name="cfg-C11"/>
          <p:cNvSpPr/>
          <p:nvPr/>
        </p:nvSpPr>
        <p:spPr>
          <a:xfrm>
            <a:off x="201041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6" name="cfg-C12"/>
          <p:cNvSpPr/>
          <p:nvPr/>
        </p:nvSpPr>
        <p:spPr>
          <a:xfrm>
            <a:off x="272753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7" name="cfg-C13"/>
          <p:cNvSpPr/>
          <p:nvPr/>
        </p:nvSpPr>
        <p:spPr>
          <a:xfrm>
            <a:off x="344466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8" name="cfg-C14"/>
          <p:cNvSpPr/>
          <p:nvPr/>
        </p:nvSpPr>
        <p:spPr>
          <a:xfrm>
            <a:off x="416179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9" name="cfg-C15"/>
          <p:cNvSpPr/>
          <p:nvPr/>
        </p:nvSpPr>
        <p:spPr>
          <a:xfrm>
            <a:off x="487891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0" name="cfg-C16"/>
          <p:cNvSpPr/>
          <p:nvPr/>
        </p:nvSpPr>
        <p:spPr>
          <a:xfrm>
            <a:off x="559604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1" name="legend-axi-interface"/>
          <p:cNvSpPr/>
          <p:nvPr/>
        </p:nvSpPr>
        <p:spPr>
          <a:xfrm>
            <a:off x="10265604" y="276760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2" name="legend-axi-request"/>
          <p:cNvSpPr/>
          <p:nvPr/>
        </p:nvSpPr>
        <p:spPr>
          <a:xfrm>
            <a:off x="10265604" y="293016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3" name="legend-gb"/>
          <p:cNvSpPr/>
          <p:nvPr/>
        </p:nvSpPr>
        <p:spPr>
          <a:xfrm>
            <a:off x="10265604" y="309272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4" name="legend-pixel"/>
          <p:cNvSpPr/>
          <p:nvPr/>
        </p:nvSpPr>
        <p:spPr>
          <a:xfrm>
            <a:off x="10265604" y="325528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5" name="legend-cfg"/>
          <p:cNvSpPr/>
          <p:nvPr/>
        </p:nvSpPr>
        <p:spPr>
          <a:xfrm>
            <a:off x="10265604" y="341784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6" name="legend-optional"/>
          <p:cNvSpPr/>
          <p:nvPr/>
        </p:nvSpPr>
        <p:spPr>
          <a:xfrm>
            <a:off x="10265604" y="358040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7" name="junction-84.25-1407.0951771653542"/>
          <p:cNvSpPr/>
          <p:nvPr/>
        </p:nvSpPr>
        <p:spPr>
          <a:xfrm>
            <a:off x="2683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8" name="junction-84.25-1495.0951771653542"/>
          <p:cNvSpPr/>
          <p:nvPr/>
        </p:nvSpPr>
        <p:spPr>
          <a:xfrm>
            <a:off x="2683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9" name="junction-84.25-1583.0951771653542"/>
          <p:cNvSpPr/>
          <p:nvPr/>
        </p:nvSpPr>
        <p:spPr>
          <a:xfrm>
            <a:off x="2683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0" name="junction-84.25-1671.0951771653542"/>
          <p:cNvSpPr/>
          <p:nvPr/>
        </p:nvSpPr>
        <p:spPr>
          <a:xfrm>
            <a:off x="2683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1" name="junction-414.25-1407.0951771653542"/>
          <p:cNvSpPr/>
          <p:nvPr/>
        </p:nvSpPr>
        <p:spPr>
          <a:xfrm>
            <a:off x="13859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2" name="junction-414.25-1495.0951771653542"/>
          <p:cNvSpPr/>
          <p:nvPr/>
        </p:nvSpPr>
        <p:spPr>
          <a:xfrm>
            <a:off x="13859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3" name="junction-414.25-1583.0951771653542"/>
          <p:cNvSpPr/>
          <p:nvPr/>
        </p:nvSpPr>
        <p:spPr>
          <a:xfrm>
            <a:off x="13859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4" name="junction-414.25-1671.0951771653542"/>
          <p:cNvSpPr/>
          <p:nvPr/>
        </p:nvSpPr>
        <p:spPr>
          <a:xfrm>
            <a:off x="13859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5" name="junction-744.25-1407.0951771653542"/>
          <p:cNvSpPr/>
          <p:nvPr/>
        </p:nvSpPr>
        <p:spPr>
          <a:xfrm>
            <a:off x="25035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6" name="junction-744.25-1495.0951771653542"/>
          <p:cNvSpPr/>
          <p:nvPr/>
        </p:nvSpPr>
        <p:spPr>
          <a:xfrm>
            <a:off x="25035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7" name="junction-744.25-1583.0951771653542"/>
          <p:cNvSpPr/>
          <p:nvPr/>
        </p:nvSpPr>
        <p:spPr>
          <a:xfrm>
            <a:off x="25035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8" name="junction-744.25-1671.0951771653542"/>
          <p:cNvSpPr/>
          <p:nvPr/>
        </p:nvSpPr>
        <p:spPr>
          <a:xfrm>
            <a:off x="25035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9" name="junction-1074.25-1407.0951771653542"/>
          <p:cNvSpPr/>
          <p:nvPr/>
        </p:nvSpPr>
        <p:spPr>
          <a:xfrm>
            <a:off x="36211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0" name="junction-1074.25-1495.0951771653542"/>
          <p:cNvSpPr/>
          <p:nvPr/>
        </p:nvSpPr>
        <p:spPr>
          <a:xfrm>
            <a:off x="36211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1" name="junction-1074.25-1583.0951771653542"/>
          <p:cNvSpPr/>
          <p:nvPr/>
        </p:nvSpPr>
        <p:spPr>
          <a:xfrm>
            <a:off x="36211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2" name="junction-1074.25-1671.0951771653542"/>
          <p:cNvSpPr/>
          <p:nvPr/>
        </p:nvSpPr>
        <p:spPr>
          <a:xfrm>
            <a:off x="36211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3" name="junction-1404.25-1407.0951771653542"/>
          <p:cNvSpPr/>
          <p:nvPr/>
        </p:nvSpPr>
        <p:spPr>
          <a:xfrm>
            <a:off x="47387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4" name="junction-1404.25-1495.0951771653542"/>
          <p:cNvSpPr/>
          <p:nvPr/>
        </p:nvSpPr>
        <p:spPr>
          <a:xfrm>
            <a:off x="47387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5" name="junction-1404.25-1583.0951771653542"/>
          <p:cNvSpPr/>
          <p:nvPr/>
        </p:nvSpPr>
        <p:spPr>
          <a:xfrm>
            <a:off x="47387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6" name="junction-1404.25-1671.0951771653542"/>
          <p:cNvSpPr/>
          <p:nvPr/>
        </p:nvSpPr>
        <p:spPr>
          <a:xfrm>
            <a:off x="47387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7" name="junction-1785-1727.0951771653542"/>
          <p:cNvSpPr/>
          <p:nvPr/>
        </p:nvSpPr>
        <p:spPr>
          <a:xfrm>
            <a:off x="602826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8" name="junction-170.125-1727.0951771653542"/>
          <p:cNvSpPr/>
          <p:nvPr/>
        </p:nvSpPr>
        <p:spPr>
          <a:xfrm>
            <a:off x="55922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9" name="junction-381.875-1727.0951771653542"/>
          <p:cNvSpPr/>
          <p:nvPr/>
        </p:nvSpPr>
        <p:spPr>
          <a:xfrm>
            <a:off x="127635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0" name="junction-593.625-1727.0951771653542"/>
          <p:cNvSpPr/>
          <p:nvPr/>
        </p:nvSpPr>
        <p:spPr>
          <a:xfrm>
            <a:off x="199347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1" name="junction-805.375-1727.0951771653542"/>
          <p:cNvSpPr/>
          <p:nvPr/>
        </p:nvSpPr>
        <p:spPr>
          <a:xfrm>
            <a:off x="271060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2" name="junction-1017.125-1727.0951771653542"/>
          <p:cNvSpPr/>
          <p:nvPr/>
        </p:nvSpPr>
        <p:spPr>
          <a:xfrm>
            <a:off x="342773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3" name="junction-1228.875-1727.0951771653542"/>
          <p:cNvSpPr/>
          <p:nvPr/>
        </p:nvSpPr>
        <p:spPr>
          <a:xfrm>
            <a:off x="414485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4" name="junction-1440.625-1727.0951771653542"/>
          <p:cNvSpPr/>
          <p:nvPr/>
        </p:nvSpPr>
        <p:spPr>
          <a:xfrm>
            <a:off x="486198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5" name="junction-1652.375-1727.0951771653542"/>
          <p:cNvSpPr/>
          <p:nvPr/>
        </p:nvSpPr>
        <p:spPr>
          <a:xfrm>
            <a:off x="557911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6" name="junction-1785-1861.1951771653542"/>
          <p:cNvSpPr/>
          <p:nvPr/>
        </p:nvSpPr>
        <p:spPr>
          <a:xfrm>
            <a:off x="602826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7" name="junction-170.125-1861.1951771653542"/>
          <p:cNvSpPr/>
          <p:nvPr/>
        </p:nvSpPr>
        <p:spPr>
          <a:xfrm>
            <a:off x="55922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8" name="junction-381.875-1861.1951771653542"/>
          <p:cNvSpPr/>
          <p:nvPr/>
        </p:nvSpPr>
        <p:spPr>
          <a:xfrm>
            <a:off x="127635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9" name="junction-593.625-1861.1951771653542"/>
          <p:cNvSpPr/>
          <p:nvPr/>
        </p:nvSpPr>
        <p:spPr>
          <a:xfrm>
            <a:off x="199347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0" name="junction-805.375-1861.1951771653542"/>
          <p:cNvSpPr/>
          <p:nvPr/>
        </p:nvSpPr>
        <p:spPr>
          <a:xfrm>
            <a:off x="271060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1" name="junction-1017.125-1861.1951771653542"/>
          <p:cNvSpPr/>
          <p:nvPr/>
        </p:nvSpPr>
        <p:spPr>
          <a:xfrm>
            <a:off x="342773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2" name="junction-1228.875-1861.1951771653542"/>
          <p:cNvSpPr/>
          <p:nvPr/>
        </p:nvSpPr>
        <p:spPr>
          <a:xfrm>
            <a:off x="414485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3" name="junction-1440.625-1861.1951771653542"/>
          <p:cNvSpPr/>
          <p:nvPr/>
        </p:nvSpPr>
        <p:spPr>
          <a:xfrm>
            <a:off x="486198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4" name="junction-1652.375-1861.1951771653542"/>
          <p:cNvSpPr/>
          <p:nvPr/>
        </p:nvSpPr>
        <p:spPr>
          <a:xfrm>
            <a:off x="557911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5" name="cva6"/>
          <p:cNvSpPr/>
          <p:nvPr/>
        </p:nvSpPr>
        <p:spPr>
          <a:xfrm>
            <a:off x="325967" y="1009549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6" name="ara"/>
          <p:cNvSpPr/>
          <p:nvPr/>
        </p:nvSpPr>
        <p:spPr>
          <a:xfrm>
            <a:off x="1341967" y="1009549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7" name="ara-filter"/>
          <p:cNvSpPr/>
          <p:nvPr/>
        </p:nvSpPr>
        <p:spPr>
          <a:xfrm>
            <a:off x="1409700" y="1585282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8" name="ara-width"/>
          <p:cNvSpPr/>
          <p:nvPr/>
        </p:nvSpPr>
        <p:spPr>
          <a:xfrm>
            <a:off x="2798233" y="1585282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9" name="npu"/>
          <p:cNvSpPr/>
          <p:nvPr/>
        </p:nvSpPr>
        <p:spPr>
          <a:xfrm>
            <a:off x="3678767" y="1009549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0" name="badge-C10"/>
          <p:cNvSpPr/>
          <p:nvPr/>
        </p:nvSpPr>
        <p:spPr>
          <a:xfrm>
            <a:off x="4389967" y="145997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1" name="gb-adapter"/>
          <p:cNvSpPr/>
          <p:nvPr/>
        </p:nvSpPr>
        <p:spPr>
          <a:xfrm>
            <a:off x="4711700" y="1263549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2" name="global-buffer"/>
          <p:cNvSpPr/>
          <p:nvPr/>
        </p:nvSpPr>
        <p:spPr>
          <a:xfrm>
            <a:off x="5626100" y="1009549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3" name="badge-C12"/>
          <p:cNvSpPr/>
          <p:nvPr/>
        </p:nvSpPr>
        <p:spPr>
          <a:xfrm>
            <a:off x="7133167" y="144981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4" name="gb-mover"/>
          <p:cNvSpPr/>
          <p:nvPr/>
        </p:nvSpPr>
        <p:spPr>
          <a:xfrm>
            <a:off x="5626100" y="1703816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5" name="badge-C11"/>
          <p:cNvSpPr/>
          <p:nvPr/>
        </p:nvSpPr>
        <p:spPr>
          <a:xfrm>
            <a:off x="7133167" y="198152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6" name="lvds-rx"/>
          <p:cNvSpPr/>
          <p:nvPr/>
        </p:nvSpPr>
        <p:spPr>
          <a:xfrm>
            <a:off x="10570634" y="1212749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7" name="rx-cdc"/>
          <p:cNvSpPr/>
          <p:nvPr/>
        </p:nvSpPr>
        <p:spPr>
          <a:xfrm>
            <a:off x="9927167" y="1212749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8" name="isp"/>
          <p:cNvSpPr/>
          <p:nvPr/>
        </p:nvSpPr>
        <p:spPr>
          <a:xfrm>
            <a:off x="9266766" y="1212749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9" name="frame-select"/>
          <p:cNvSpPr/>
          <p:nvPr/>
        </p:nvSpPr>
        <p:spPr>
          <a:xfrm>
            <a:off x="8555566" y="1212749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0" name="frame-dma"/>
          <p:cNvSpPr/>
          <p:nvPr/>
        </p:nvSpPr>
        <p:spPr>
          <a:xfrm>
            <a:off x="7708900" y="1212749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1" name="badge-C4"/>
          <p:cNvSpPr/>
          <p:nvPr/>
        </p:nvSpPr>
        <p:spPr>
          <a:xfrm>
            <a:off x="10926234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2" name="badge-C9"/>
          <p:cNvSpPr/>
          <p:nvPr/>
        </p:nvSpPr>
        <p:spPr>
          <a:xfrm>
            <a:off x="9622366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3" name="badge-C6"/>
          <p:cNvSpPr/>
          <p:nvPr/>
        </p:nvSpPr>
        <p:spPr>
          <a:xfrm>
            <a:off x="8233833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4" name="axi-crossbar"/>
          <p:cNvSpPr/>
          <p:nvPr/>
        </p:nvSpPr>
        <p:spPr>
          <a:xfrm>
            <a:off x="241300" y="2906082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5" name="xbar-in-S0"/>
          <p:cNvSpPr/>
          <p:nvPr/>
        </p:nvSpPr>
        <p:spPr>
          <a:xfrm>
            <a:off x="61119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6" name="xbar-in-S1"/>
          <p:cNvSpPr/>
          <p:nvPr/>
        </p:nvSpPr>
        <p:spPr>
          <a:xfrm>
            <a:off x="1676118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7" name="xbar-in-S2"/>
          <p:cNvSpPr/>
          <p:nvPr/>
        </p:nvSpPr>
        <p:spPr>
          <a:xfrm>
            <a:off x="2741036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8" name="xbar-in-S3"/>
          <p:cNvSpPr/>
          <p:nvPr/>
        </p:nvSpPr>
        <p:spPr>
          <a:xfrm>
            <a:off x="3805955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9" name="xbar-in-S4"/>
          <p:cNvSpPr/>
          <p:nvPr/>
        </p:nvSpPr>
        <p:spPr>
          <a:xfrm>
            <a:off x="4870873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0" name="xbar-in-S5"/>
          <p:cNvSpPr/>
          <p:nvPr/>
        </p:nvSpPr>
        <p:spPr>
          <a:xfrm>
            <a:off x="5935792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1" name="xbar-in-S6"/>
          <p:cNvSpPr/>
          <p:nvPr/>
        </p:nvSpPr>
        <p:spPr>
          <a:xfrm>
            <a:off x="7000710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2" name="xbar-in-S7"/>
          <p:cNvSpPr/>
          <p:nvPr/>
        </p:nvSpPr>
        <p:spPr>
          <a:xfrm>
            <a:off x="806562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3" name="xbar-in-S_EXT"/>
          <p:cNvSpPr/>
          <p:nvPr/>
        </p:nvSpPr>
        <p:spPr>
          <a:xfrm>
            <a:off x="9130547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4" name="debug-sba"/>
          <p:cNvSpPr/>
          <p:nvPr/>
        </p:nvSpPr>
        <p:spPr>
          <a:xfrm>
            <a:off x="1354384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5" name="idma-master"/>
          <p:cNvSpPr/>
          <p:nvPr/>
        </p:nvSpPr>
        <p:spPr>
          <a:xfrm>
            <a:off x="3484221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6" name="slink-rx"/>
          <p:cNvSpPr/>
          <p:nvPr/>
        </p:nvSpPr>
        <p:spPr>
          <a:xfrm>
            <a:off x="4549140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7" name="vga"/>
          <p:cNvSpPr/>
          <p:nvPr/>
        </p:nvSpPr>
        <p:spPr>
          <a:xfrm>
            <a:off x="5614059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8" name="usb-dma"/>
          <p:cNvSpPr/>
          <p:nvPr/>
        </p:nvSpPr>
        <p:spPr>
          <a:xfrm>
            <a:off x="6678977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9" name="emmc-host"/>
          <p:cNvSpPr/>
          <p:nvPr/>
        </p:nvSpPr>
        <p:spPr>
          <a:xfrm>
            <a:off x="7743896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0" name="ext-master"/>
          <p:cNvSpPr/>
          <p:nvPr/>
        </p:nvSpPr>
        <p:spPr>
          <a:xfrm>
            <a:off x="8808814" y="2415016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1" name="badge-C13"/>
          <p:cNvSpPr/>
          <p:nvPr/>
        </p:nvSpPr>
        <p:spPr>
          <a:xfrm>
            <a:off x="8505896" y="26486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2" name="xbar-out-M0"/>
          <p:cNvSpPr/>
          <p:nvPr/>
        </p:nvSpPr>
        <p:spPr>
          <a:xfrm>
            <a:off x="763330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3" name="debug-target"/>
          <p:cNvSpPr/>
          <p:nvPr/>
        </p:nvSpPr>
        <p:spPr>
          <a:xfrm>
            <a:off x="316290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4" name="xbar-out-M1"/>
          <p:cNvSpPr/>
          <p:nvPr/>
        </p:nvSpPr>
        <p:spPr>
          <a:xfrm>
            <a:off x="2132511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5" name="reg-bridge"/>
          <p:cNvSpPr/>
          <p:nvPr/>
        </p:nvSpPr>
        <p:spPr>
          <a:xfrm>
            <a:off x="1685471" y="3583416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6" name="xbar-out-M2"/>
          <p:cNvSpPr/>
          <p:nvPr/>
        </p:nvSpPr>
        <p:spPr>
          <a:xfrm>
            <a:off x="3501692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7" name="memory-target"/>
          <p:cNvSpPr/>
          <p:nvPr/>
        </p:nvSpPr>
        <p:spPr>
          <a:xfrm>
            <a:off x="2986919" y="3583416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8" name="atomics"/>
          <p:cNvSpPr/>
          <p:nvPr/>
        </p:nvSpPr>
        <p:spPr>
          <a:xfrm>
            <a:off x="3020786" y="3786616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9" name="llc-spm"/>
          <p:cNvSpPr/>
          <p:nvPr/>
        </p:nvSpPr>
        <p:spPr>
          <a:xfrm>
            <a:off x="3731986" y="3786616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0" name="xbar-out-M3"/>
          <p:cNvSpPr/>
          <p:nvPr/>
        </p:nvSpPr>
        <p:spPr>
          <a:xfrm>
            <a:off x="4870873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1" name="idma-config"/>
          <p:cNvSpPr/>
          <p:nvPr/>
        </p:nvSpPr>
        <p:spPr>
          <a:xfrm>
            <a:off x="4423833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2" name="xbar-out-M4"/>
          <p:cNvSpPr/>
          <p:nvPr/>
        </p:nvSpPr>
        <p:spPr>
          <a:xfrm>
            <a:off x="6240054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3" name="slink-tx"/>
          <p:cNvSpPr/>
          <p:nvPr/>
        </p:nvSpPr>
        <p:spPr>
          <a:xfrm>
            <a:off x="5793014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4" name="xbar-out-M5"/>
          <p:cNvSpPr/>
          <p:nvPr/>
        </p:nvSpPr>
        <p:spPr>
          <a:xfrm>
            <a:off x="7609235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5" name="gb-interface"/>
          <p:cNvSpPr/>
          <p:nvPr/>
        </p:nvSpPr>
        <p:spPr>
          <a:xfrm>
            <a:off x="7162195" y="3583416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6" name="xbar-out-M_EXT"/>
          <p:cNvSpPr/>
          <p:nvPr/>
        </p:nvSpPr>
        <p:spPr>
          <a:xfrm>
            <a:off x="8978416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7" name="ext-target"/>
          <p:cNvSpPr/>
          <p:nvPr/>
        </p:nvSpPr>
        <p:spPr>
          <a:xfrm>
            <a:off x="8531376" y="3583416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8" name="emmc-device"/>
          <p:cNvSpPr/>
          <p:nvPr/>
        </p:nvSpPr>
        <p:spPr>
          <a:xfrm>
            <a:off x="11413067" y="2415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9" name="regbus"/>
          <p:cNvSpPr/>
          <p:nvPr/>
        </p:nvSpPr>
        <p:spPr>
          <a:xfrm>
            <a:off x="241300" y="4379282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0" name="bootrom"/>
          <p:cNvSpPr/>
          <p:nvPr/>
        </p:nvSpPr>
        <p:spPr>
          <a:xfrm>
            <a:off x="3598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1" name="uart"/>
          <p:cNvSpPr/>
          <p:nvPr/>
        </p:nvSpPr>
        <p:spPr>
          <a:xfrm>
            <a:off x="3598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2" name="vga-regs"/>
          <p:cNvSpPr/>
          <p:nvPr/>
        </p:nvSpPr>
        <p:spPr>
          <a:xfrm>
            <a:off x="3598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3" name="irq-router"/>
          <p:cNvSpPr/>
          <p:nvPr/>
        </p:nvSpPr>
        <p:spPr>
          <a:xfrm>
            <a:off x="3598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4" name="clint"/>
          <p:cNvSpPr/>
          <p:nvPr/>
        </p:nvSpPr>
        <p:spPr>
          <a:xfrm>
            <a:off x="14774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5" name="i2c"/>
          <p:cNvSpPr/>
          <p:nvPr/>
        </p:nvSpPr>
        <p:spPr>
          <a:xfrm>
            <a:off x="14774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6" name="usb-regs"/>
          <p:cNvSpPr/>
          <p:nvPr/>
        </p:nvSpPr>
        <p:spPr>
          <a:xfrm>
            <a:off x="14774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7" name="axi-rt-config"/>
          <p:cNvSpPr/>
          <p:nvPr/>
        </p:nvSpPr>
        <p:spPr>
          <a:xfrm>
            <a:off x="14774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8" name="soc-regs"/>
          <p:cNvSpPr/>
          <p:nvPr/>
        </p:nvSpPr>
        <p:spPr>
          <a:xfrm>
            <a:off x="25950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9" name="spi"/>
          <p:cNvSpPr/>
          <p:nvPr/>
        </p:nvSpPr>
        <p:spPr>
          <a:xfrm>
            <a:off x="25950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0" name="err-vga"/>
          <p:cNvSpPr/>
          <p:nvPr/>
        </p:nvSpPr>
        <p:spPr>
          <a:xfrm>
            <a:off x="25950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1" name="clic"/>
          <p:cNvSpPr/>
          <p:nvPr/>
        </p:nvSpPr>
        <p:spPr>
          <a:xfrm>
            <a:off x="25950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2" name="plic"/>
          <p:cNvSpPr/>
          <p:nvPr/>
        </p:nvSpPr>
        <p:spPr>
          <a:xfrm>
            <a:off x="37126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3" name="gpio"/>
          <p:cNvSpPr/>
          <p:nvPr/>
        </p:nvSpPr>
        <p:spPr>
          <a:xfrm>
            <a:off x="37126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4" name="err-dma"/>
          <p:cNvSpPr/>
          <p:nvPr/>
        </p:nvSpPr>
        <p:spPr>
          <a:xfrm>
            <a:off x="37126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5" name="reg-error"/>
          <p:cNvSpPr/>
          <p:nvPr/>
        </p:nvSpPr>
        <p:spPr>
          <a:xfrm>
            <a:off x="37126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6" name="llc-regs"/>
          <p:cNvSpPr/>
          <p:nvPr/>
        </p:nvSpPr>
        <p:spPr>
          <a:xfrm>
            <a:off x="48302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7" name="slink-regs"/>
          <p:cNvSpPr/>
          <p:nvPr/>
        </p:nvSpPr>
        <p:spPr>
          <a:xfrm>
            <a:off x="48302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8" name="err-cpu"/>
          <p:cNvSpPr/>
          <p:nvPr/>
        </p:nvSpPr>
        <p:spPr>
          <a:xfrm>
            <a:off x="48302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9" name="reg-ext"/>
          <p:cNvSpPr/>
          <p:nvPr/>
        </p:nvSpPr>
        <p:spPr>
          <a:xfrm>
            <a:off x="48302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0" name="ddr-S0"/>
          <p:cNvSpPr/>
          <p:nvPr/>
        </p:nvSpPr>
        <p:spPr>
          <a:xfrm>
            <a:off x="6350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1" name="ddr-S1"/>
          <p:cNvSpPr/>
          <p:nvPr/>
        </p:nvSpPr>
        <p:spPr>
          <a:xfrm>
            <a:off x="7281333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2" name="ddr-S2"/>
          <p:cNvSpPr/>
          <p:nvPr/>
        </p:nvSpPr>
        <p:spPr>
          <a:xfrm>
            <a:off x="8212667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3" name="ddr-S3"/>
          <p:cNvSpPr/>
          <p:nvPr/>
        </p:nvSpPr>
        <p:spPr>
          <a:xfrm>
            <a:off x="9144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4" name="ddr-arb"/>
          <p:cNvSpPr/>
          <p:nvPr/>
        </p:nvSpPr>
        <p:spPr>
          <a:xfrm>
            <a:off x="6197600" y="5937149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5" name="ddr-rw"/>
          <p:cNvSpPr/>
          <p:nvPr/>
        </p:nvSpPr>
        <p:spPr>
          <a:xfrm>
            <a:off x="6197600" y="6106482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6" name="ddr-command"/>
          <p:cNvSpPr/>
          <p:nvPr/>
        </p:nvSpPr>
        <p:spPr>
          <a:xfrm>
            <a:off x="8212667" y="6106482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7" name="badge-C2"/>
          <p:cNvSpPr/>
          <p:nvPr/>
        </p:nvSpPr>
        <p:spPr>
          <a:xfrm>
            <a:off x="9652000" y="629274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8" name="ddr-phy"/>
          <p:cNvSpPr/>
          <p:nvPr/>
        </p:nvSpPr>
        <p:spPr>
          <a:xfrm>
            <a:off x="10261600" y="6191149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9" name="badge-C3"/>
          <p:cNvSpPr/>
          <p:nvPr/>
        </p:nvSpPr>
        <p:spPr>
          <a:xfrm>
            <a:off x="10905067" y="64214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0" name="ddr-device"/>
          <p:cNvSpPr/>
          <p:nvPr/>
        </p:nvSpPr>
        <p:spPr>
          <a:xfrm>
            <a:off x="11501967" y="6191149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1" name="pll"/>
          <p:cNvSpPr/>
          <p:nvPr/>
        </p:nvSpPr>
        <p:spPr>
          <a:xfrm>
            <a:off x="7200900" y="6472581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2" name="badge-C1"/>
          <p:cNvSpPr/>
          <p:nvPr/>
        </p:nvSpPr>
        <p:spPr>
          <a:xfrm>
            <a:off x="8738447" y="654370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3" name="config-C1"/>
          <p:cNvSpPr/>
          <p:nvPr/>
        </p:nvSpPr>
        <p:spPr>
          <a:xfrm>
            <a:off x="24130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4" name="reg-badge-C1"/>
          <p:cNvSpPr/>
          <p:nvPr/>
        </p:nvSpPr>
        <p:spPr>
          <a:xfrm>
            <a:off x="26500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5" name="config-C2"/>
          <p:cNvSpPr/>
          <p:nvPr/>
        </p:nvSpPr>
        <p:spPr>
          <a:xfrm>
            <a:off x="95842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6" name="reg-badge-C2"/>
          <p:cNvSpPr/>
          <p:nvPr/>
        </p:nvSpPr>
        <p:spPr>
          <a:xfrm>
            <a:off x="98213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7" name="config-C3"/>
          <p:cNvSpPr/>
          <p:nvPr/>
        </p:nvSpPr>
        <p:spPr>
          <a:xfrm>
            <a:off x="167555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8" name="reg-badge-C3"/>
          <p:cNvSpPr/>
          <p:nvPr/>
        </p:nvSpPr>
        <p:spPr>
          <a:xfrm>
            <a:off x="169926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9" name="config-C4"/>
          <p:cNvSpPr/>
          <p:nvPr/>
        </p:nvSpPr>
        <p:spPr>
          <a:xfrm>
            <a:off x="239268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0" name="reg-badge-C4"/>
          <p:cNvSpPr/>
          <p:nvPr/>
        </p:nvSpPr>
        <p:spPr>
          <a:xfrm>
            <a:off x="241638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1" name="config-C9"/>
          <p:cNvSpPr/>
          <p:nvPr/>
        </p:nvSpPr>
        <p:spPr>
          <a:xfrm>
            <a:off x="241300" y="6364207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2" name="reg-badge-C9"/>
          <p:cNvSpPr/>
          <p:nvPr/>
        </p:nvSpPr>
        <p:spPr>
          <a:xfrm>
            <a:off x="265006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3" name="config-C10"/>
          <p:cNvSpPr/>
          <p:nvPr/>
        </p:nvSpPr>
        <p:spPr>
          <a:xfrm>
            <a:off x="958426" y="6364207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4" name="reg-badge-C10"/>
          <p:cNvSpPr/>
          <p:nvPr/>
        </p:nvSpPr>
        <p:spPr>
          <a:xfrm>
            <a:off x="98213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5" name="config-C11"/>
          <p:cNvSpPr/>
          <p:nvPr/>
        </p:nvSpPr>
        <p:spPr>
          <a:xfrm>
            <a:off x="1675553" y="6364207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6" name="reg-badge-C11"/>
          <p:cNvSpPr/>
          <p:nvPr/>
        </p:nvSpPr>
        <p:spPr>
          <a:xfrm>
            <a:off x="169926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7" name="config-C6"/>
          <p:cNvSpPr/>
          <p:nvPr/>
        </p:nvSpPr>
        <p:spPr>
          <a:xfrm>
            <a:off x="3826934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8" name="reg-badge-C6"/>
          <p:cNvSpPr/>
          <p:nvPr/>
        </p:nvSpPr>
        <p:spPr>
          <a:xfrm>
            <a:off x="385064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9" name="config-C12"/>
          <p:cNvSpPr/>
          <p:nvPr/>
        </p:nvSpPr>
        <p:spPr>
          <a:xfrm>
            <a:off x="239268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0" name="reg-badge-C12"/>
          <p:cNvSpPr/>
          <p:nvPr/>
        </p:nvSpPr>
        <p:spPr>
          <a:xfrm>
            <a:off x="241638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1" name="config-C13"/>
          <p:cNvSpPr/>
          <p:nvPr/>
        </p:nvSpPr>
        <p:spPr>
          <a:xfrm>
            <a:off x="310980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2" name="reg-badge-C13"/>
          <p:cNvSpPr/>
          <p:nvPr/>
        </p:nvSpPr>
        <p:spPr>
          <a:xfrm>
            <a:off x="313351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3" name="config-C8"/>
          <p:cNvSpPr/>
          <p:nvPr/>
        </p:nvSpPr>
        <p:spPr>
          <a:xfrm>
            <a:off x="5261186" y="5910395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4" name="reg-badge-C8"/>
          <p:cNvSpPr/>
          <p:nvPr/>
        </p:nvSpPr>
        <p:spPr>
          <a:xfrm>
            <a:off x="528489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5" name="config-C14"/>
          <p:cNvSpPr/>
          <p:nvPr/>
        </p:nvSpPr>
        <p:spPr>
          <a:xfrm>
            <a:off x="382693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6" name="reg-badge-C14"/>
          <p:cNvSpPr/>
          <p:nvPr/>
        </p:nvSpPr>
        <p:spPr>
          <a:xfrm>
            <a:off x="385064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7" name="config-C7"/>
          <p:cNvSpPr/>
          <p:nvPr/>
        </p:nvSpPr>
        <p:spPr>
          <a:xfrm>
            <a:off x="4544060" y="5910395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8" name="reg-badge-C7"/>
          <p:cNvSpPr/>
          <p:nvPr/>
        </p:nvSpPr>
        <p:spPr>
          <a:xfrm>
            <a:off x="4567766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9" name="config-C5"/>
          <p:cNvSpPr/>
          <p:nvPr/>
        </p:nvSpPr>
        <p:spPr>
          <a:xfrm>
            <a:off x="3109806" y="5910395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0" name="reg-badge-C5"/>
          <p:cNvSpPr/>
          <p:nvPr/>
        </p:nvSpPr>
        <p:spPr>
          <a:xfrm>
            <a:off x="313351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1" name="config-C15"/>
          <p:cNvSpPr/>
          <p:nvPr/>
        </p:nvSpPr>
        <p:spPr>
          <a:xfrm>
            <a:off x="454406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2" name="reg-badge-C15"/>
          <p:cNvSpPr/>
          <p:nvPr/>
        </p:nvSpPr>
        <p:spPr>
          <a:xfrm>
            <a:off x="456776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3" name="config-C16"/>
          <p:cNvSpPr/>
          <p:nvPr/>
        </p:nvSpPr>
        <p:spPr>
          <a:xfrm>
            <a:off x="526118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4" name="reg-badge-C16"/>
          <p:cNvSpPr/>
          <p:nvPr/>
        </p:nvSpPr>
        <p:spPr>
          <a:xfrm>
            <a:off x="528489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5" name="front-F0"/>
          <p:cNvSpPr/>
          <p:nvPr/>
        </p:nvSpPr>
        <p:spPr>
          <a:xfrm>
            <a:off x="6316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6" name="front-F1"/>
          <p:cNvSpPr/>
          <p:nvPr/>
        </p:nvSpPr>
        <p:spPr>
          <a:xfrm>
            <a:off x="7247467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7" name="front-F2"/>
          <p:cNvSpPr/>
          <p:nvPr/>
        </p:nvSpPr>
        <p:spPr>
          <a:xfrm>
            <a:off x="8178800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8" name="front-F3"/>
          <p:cNvSpPr/>
          <p:nvPr/>
        </p:nvSpPr>
        <p:spPr>
          <a:xfrm>
            <a:off x="9110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9" name="front-adapt"/>
          <p:cNvSpPr/>
          <p:nvPr/>
        </p:nvSpPr>
        <p:spPr>
          <a:xfrm>
            <a:off x="6197600" y="4491042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0" name="badge-C14"/>
          <p:cNvSpPr/>
          <p:nvPr/>
        </p:nvSpPr>
        <p:spPr>
          <a:xfrm>
            <a:off x="9652000" y="453506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1" name="address-control"/>
          <p:cNvSpPr/>
          <p:nvPr/>
        </p:nvSpPr>
        <p:spPr>
          <a:xfrm>
            <a:off x="6197600" y="4768749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2" name="metadata"/>
          <p:cNvSpPr/>
          <p:nvPr/>
        </p:nvSpPr>
        <p:spPr>
          <a:xfrm>
            <a:off x="6197600" y="5209016"/>
            <a:ext cx="778933" cy="1693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3" name="compressor"/>
          <p:cNvSpPr/>
          <p:nvPr/>
        </p:nvSpPr>
        <p:spPr>
          <a:xfrm>
            <a:off x="7179733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4" name="badge-C15"/>
          <p:cNvSpPr/>
          <p:nvPr/>
        </p:nvSpPr>
        <p:spPr>
          <a:xfrm>
            <a:off x="7206827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5" name="decompressor"/>
          <p:cNvSpPr/>
          <p:nvPr/>
        </p:nvSpPr>
        <p:spPr>
          <a:xfrm>
            <a:off x="8085667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6" name="badge-C16"/>
          <p:cNvSpPr/>
          <p:nvPr/>
        </p:nvSpPr>
        <p:spPr>
          <a:xfrm>
            <a:off x="8112760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7" name="plain-bypass"/>
          <p:cNvSpPr/>
          <p:nvPr/>
        </p:nvSpPr>
        <p:spPr>
          <a:xfrm>
            <a:off x="8991600" y="4904216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8" name="front-route"/>
          <p:cNvSpPr/>
          <p:nvPr/>
        </p:nvSpPr>
        <p:spPr>
          <a:xfrm>
            <a:off x="6197600" y="5490109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9" name="roi-scheduler"/>
          <p:cNvSpPr/>
          <p:nvPr/>
        </p:nvSpPr>
        <p:spPr>
          <a:xfrm>
            <a:off x="10261600" y="4633282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0" name="badge-C8"/>
          <p:cNvSpPr/>
          <p:nvPr/>
        </p:nvSpPr>
        <p:spPr>
          <a:xfrm>
            <a:off x="10938933" y="464682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1" name="roi-vdma"/>
          <p:cNvSpPr/>
          <p:nvPr/>
        </p:nvSpPr>
        <p:spPr>
          <a:xfrm>
            <a:off x="10261600" y="5022749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2" name="badge-C7"/>
          <p:cNvSpPr/>
          <p:nvPr/>
        </p:nvSpPr>
        <p:spPr>
          <a:xfrm>
            <a:off x="10938933" y="50362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3" name="roi-fifo"/>
          <p:cNvSpPr/>
          <p:nvPr/>
        </p:nvSpPr>
        <p:spPr>
          <a:xfrm>
            <a:off x="10261600" y="5412216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4" name="lvds-tx"/>
          <p:cNvSpPr/>
          <p:nvPr/>
        </p:nvSpPr>
        <p:spPr>
          <a:xfrm>
            <a:off x="10261600" y="5717016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5" name="badge-C5"/>
          <p:cNvSpPr/>
          <p:nvPr/>
        </p:nvSpPr>
        <p:spPr>
          <a:xfrm>
            <a:off x="10938933" y="57305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6" name="compute-title: CVA6–Ara 计算平台"/>
          <p:cNvSpPr txBox="1"/>
          <p:nvPr/>
        </p:nvSpPr>
        <p:spPr>
          <a:xfrm>
            <a:off x="1238652" y="728862"/>
            <a:ext cx="1171829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1307" name="gb-region-title: NPU / 独立 Global Buffer 子系统"/>
          <p:cNvSpPr txBox="1"/>
          <p:nvPr/>
        </p:nvSpPr>
        <p:spPr>
          <a:xfrm>
            <a:off x="4586494" y="728862"/>
            <a:ext cx="1859079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1308" name="image-rx-title: 图像采集与 ISP"/>
          <p:cNvSpPr txBox="1"/>
          <p:nvPr/>
        </p:nvSpPr>
        <p:spPr>
          <a:xfrm>
            <a:off x="8938972" y="728862"/>
            <a:ext cx="943457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1309" name="cva6-t0: CVA6 core 0"/>
          <p:cNvSpPr txBox="1"/>
          <p:nvPr/>
        </p:nvSpPr>
        <p:spPr>
          <a:xfrm>
            <a:off x="401743" y="1175563"/>
            <a:ext cx="695113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1310" name="cva6-t1: L1 I / D cache"/>
          <p:cNvSpPr txBox="1"/>
          <p:nvPr/>
        </p:nvSpPr>
        <p:spPr>
          <a:xfrm>
            <a:off x="377777" y="1306560"/>
            <a:ext cx="74304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1311" name="cva6-t2: MMU / AXI 适配"/>
          <p:cNvSpPr txBox="1"/>
          <p:nvPr/>
        </p:nvSpPr>
        <p:spPr>
          <a:xfrm>
            <a:off x="367345" y="1429428"/>
            <a:ext cx="763910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1312" name="ara-t0: Ara 向量处理器"/>
          <p:cNvSpPr txBox="1"/>
          <p:nvPr/>
        </p:nvSpPr>
        <p:spPr>
          <a:xfrm>
            <a:off x="1905900" y="1080059"/>
            <a:ext cx="836401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1313" name="ara-t1: 2 lanes · VLSU / AXI：64 bit"/>
          <p:cNvSpPr txBox="1"/>
          <p:nvPr/>
        </p:nvSpPr>
        <p:spPr>
          <a:xfrm>
            <a:off x="1637948" y="1211056"/>
            <a:ext cx="137230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1314" name="ara-filter-t0: 失效过滤"/>
          <p:cNvSpPr txBox="1"/>
          <p:nvPr/>
        </p:nvSpPr>
        <p:spPr>
          <a:xfrm>
            <a:off x="14774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315" name="ara-filter-t1: 现有 filter"/>
          <p:cNvSpPr txBox="1"/>
          <p:nvPr/>
        </p:nvSpPr>
        <p:spPr>
          <a:xfrm>
            <a:off x="1500034" y="1726710"/>
            <a:ext cx="46279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1316" name="ara-width-t0: 等宽透传"/>
          <p:cNvSpPr txBox="1"/>
          <p:nvPr/>
        </p:nvSpPr>
        <p:spPr>
          <a:xfrm>
            <a:off x="27982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1317" name="ara-width-t1: 64 → 64 bit"/>
          <p:cNvSpPr txBox="1"/>
          <p:nvPr/>
        </p:nvSpPr>
        <p:spPr>
          <a:xfrm>
            <a:off x="2770653" y="1726710"/>
            <a:ext cx="5631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1318" name="command-label: 指令 / MMU"/>
          <p:cNvSpPr txBox="1"/>
          <p:nvPr/>
        </p:nvSpPr>
        <p:spPr>
          <a:xfrm>
            <a:off x="971404" y="880585"/>
            <a:ext cx="56332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1319" name="npu-t0: NPU 计算引擎"/>
          <p:cNvSpPr txBox="1"/>
          <p:nvPr/>
        </p:nvSpPr>
        <p:spPr>
          <a:xfrm>
            <a:off x="3772331" y="1177866"/>
            <a:ext cx="72727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1320" name="npu-t1: GB 数据读写"/>
          <p:cNvSpPr txBox="1"/>
          <p:nvPr/>
        </p:nvSpPr>
        <p:spPr>
          <a:xfrm>
            <a:off x="3846351" y="1301683"/>
            <a:ext cx="57923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1321" name="badge-C10-text: C10"/>
          <p:cNvSpPr txBox="1"/>
          <p:nvPr/>
        </p:nvSpPr>
        <p:spPr>
          <a:xfrm>
            <a:off x="4396740" y="1450899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322" name="gb-adapter-t0: GB 访问适配"/>
          <p:cNvSpPr txBox="1"/>
          <p:nvPr/>
        </p:nvSpPr>
        <p:spPr>
          <a:xfrm>
            <a:off x="4766998" y="1480634"/>
            <a:ext cx="66833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1323" name="gb-adapter-t1: 局部仲裁 / 路由"/>
          <p:cNvSpPr txBox="1"/>
          <p:nvPr/>
        </p:nvSpPr>
        <p:spPr>
          <a:xfrm>
            <a:off x="4743707" y="1604451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1324" name="gb-adapter-t2: bank 冲突处理"/>
          <p:cNvSpPr txBox="1"/>
          <p:nvPr/>
        </p:nvSpPr>
        <p:spPr>
          <a:xfrm>
            <a:off x="4774621" y="1710115"/>
            <a:ext cx="65309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1325" name="global-buffer-t0: Global Buffer"/>
          <p:cNvSpPr txBox="1"/>
          <p:nvPr/>
        </p:nvSpPr>
        <p:spPr>
          <a:xfrm>
            <a:off x="6119760" y="1103427"/>
            <a:ext cx="722948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1326" name="global-buffer-t1: 独立 SRAM · 分 bank"/>
          <p:cNvSpPr txBox="1"/>
          <p:nvPr/>
        </p:nvSpPr>
        <p:spPr>
          <a:xfrm>
            <a:off x="5998895" y="1235372"/>
            <a:ext cx="964676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1327" name="global-buffer-t2: CPU / Ara / NPU / ISP"/>
          <p:cNvSpPr txBox="1"/>
          <p:nvPr/>
        </p:nvSpPr>
        <p:spPr>
          <a:xfrm>
            <a:off x="5964854" y="1349164"/>
            <a:ext cx="1032759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1328" name="badge-C12-text: C12"/>
          <p:cNvSpPr txBox="1"/>
          <p:nvPr/>
        </p:nvSpPr>
        <p:spPr>
          <a:xfrm>
            <a:off x="7139940" y="1440739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329" name="gb-mover-t0: NPU / GB 搬运引擎"/>
          <p:cNvSpPr txBox="1"/>
          <p:nvPr/>
        </p:nvSpPr>
        <p:spPr>
          <a:xfrm>
            <a:off x="5995808" y="1779000"/>
            <a:ext cx="97085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1330" name="gb-mover-t1: DDR ↔ GB · AXI 主口"/>
          <p:cNvSpPr txBox="1"/>
          <p:nvPr/>
        </p:nvSpPr>
        <p:spPr>
          <a:xfrm>
            <a:off x="6027200" y="1902816"/>
            <a:ext cx="90806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1331" name="badge-C11-text: C11"/>
          <p:cNvSpPr txBox="1"/>
          <p:nvPr/>
        </p:nvSpPr>
        <p:spPr>
          <a:xfrm>
            <a:off x="7139940" y="1972446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332" name="lvds-rx-t0: LVDS 接收"/>
          <p:cNvSpPr txBox="1"/>
          <p:nvPr/>
        </p:nvSpPr>
        <p:spPr>
          <a:xfrm>
            <a:off x="10563638" y="1398000"/>
            <a:ext cx="57279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1333" name="lvds-rx-t1: 解串 / 帧行"/>
          <p:cNvSpPr txBox="1"/>
          <p:nvPr/>
        </p:nvSpPr>
        <p:spPr>
          <a:xfrm>
            <a:off x="10580627" y="1521816"/>
            <a:ext cx="5388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1334" name="rx-cdc-t0: CDC / FIFO"/>
          <p:cNvSpPr txBox="1"/>
          <p:nvPr/>
        </p:nvSpPr>
        <p:spPr>
          <a:xfrm>
            <a:off x="9898658" y="1398000"/>
            <a:ext cx="59888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1335" name="rx-cdc-t1: 像素流缓冲"/>
          <p:cNvSpPr txBox="1"/>
          <p:nvPr/>
        </p:nvSpPr>
        <p:spPr>
          <a:xfrm>
            <a:off x="9933940" y="1521816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1336" name="isp-t0: ISP"/>
          <p:cNvSpPr txBox="1"/>
          <p:nvPr/>
        </p:nvSpPr>
        <p:spPr>
          <a:xfrm>
            <a:off x="9422288" y="1398000"/>
            <a:ext cx="2477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337" name="isp-t1: 行缓存 / 处理"/>
          <p:cNvSpPr txBox="1"/>
          <p:nvPr/>
        </p:nvSpPr>
        <p:spPr>
          <a:xfrm>
            <a:off x="9232733" y="1521816"/>
            <a:ext cx="6268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1338" name="frame-select-t0: 帧边界选择"/>
          <p:cNvSpPr txBox="1"/>
          <p:nvPr/>
        </p:nvSpPr>
        <p:spPr>
          <a:xfrm>
            <a:off x="8555566" y="1398000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1339" name="frame-select-t1: RAW / ISP"/>
          <p:cNvSpPr txBox="1"/>
          <p:nvPr/>
        </p:nvSpPr>
        <p:spPr>
          <a:xfrm>
            <a:off x="8615764" y="1521816"/>
            <a:ext cx="48920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1340" name="frame-dma-t0: 帧写入 DMA"/>
          <p:cNvSpPr txBox="1"/>
          <p:nvPr/>
        </p:nvSpPr>
        <p:spPr>
          <a:xfrm>
            <a:off x="7751003" y="1398000"/>
            <a:ext cx="64392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341" name="frame-dma-t1: 地址 / stride"/>
          <p:cNvSpPr txBox="1"/>
          <p:nvPr/>
        </p:nvSpPr>
        <p:spPr>
          <a:xfrm>
            <a:off x="7782621" y="1521816"/>
            <a:ext cx="58069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1342" name="raw-bypass-label: RAW 旁路"/>
          <p:cNvSpPr txBox="1"/>
          <p:nvPr/>
        </p:nvSpPr>
        <p:spPr>
          <a:xfrm>
            <a:off x="9308685" y="924611"/>
            <a:ext cx="46649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1343" name="badge-C4-text: C4"/>
          <p:cNvSpPr txBox="1"/>
          <p:nvPr/>
        </p:nvSpPr>
        <p:spPr>
          <a:xfrm>
            <a:off x="10937082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344" name="badge-C9-text: C9"/>
          <p:cNvSpPr txBox="1"/>
          <p:nvPr/>
        </p:nvSpPr>
        <p:spPr>
          <a:xfrm>
            <a:off x="9629139" y="1687966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345" name="badge-C6-text: C6"/>
          <p:cNvSpPr txBox="1"/>
          <p:nvPr/>
        </p:nvSpPr>
        <p:spPr>
          <a:xfrm>
            <a:off x="8240607" y="1687966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346" name="isp-gb-label: ISP 中间数据 ↔ GB"/>
          <p:cNvSpPr txBox="1"/>
          <p:nvPr/>
        </p:nvSpPr>
        <p:spPr>
          <a:xfrm>
            <a:off x="8009424" y="2065918"/>
            <a:ext cx="84675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1347" name="crossbar-title: AXI Crossbar"/>
          <p:cNvSpPr txBox="1"/>
          <p:nvPr/>
        </p:nvSpPr>
        <p:spPr>
          <a:xfrm>
            <a:off x="4632783" y="2979526"/>
            <a:ext cx="801301" cy="1950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1348" name="crossbar-caption: 8 × 6 固定端口 + 扩展 | 64 bit 数据 / 48 bit 地址 "/>
          <p:cNvSpPr txBox="1"/>
          <p:nvPr/>
        </p:nvSpPr>
        <p:spPr>
          <a:xfrm>
            <a:off x="3552023" y="3151569"/>
            <a:ext cx="29628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1349" name="crossbar-rt-note: 输入侧 AXI RT · 按配置可选"/>
          <p:cNvSpPr txBox="1"/>
          <p:nvPr/>
        </p:nvSpPr>
        <p:spPr>
          <a:xfrm>
            <a:off x="457226" y="3207767"/>
            <a:ext cx="104981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1350" name="crossbar-error-note: 未映射请求：DECERR"/>
          <p:cNvSpPr txBox="1"/>
          <p:nvPr/>
        </p:nvSpPr>
        <p:spPr>
          <a:xfrm>
            <a:off x="8745630" y="3207767"/>
            <a:ext cx="864473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1351" name="xbar-in-S0-t0: S0"/>
          <p:cNvSpPr txBox="1"/>
          <p:nvPr/>
        </p:nvSpPr>
        <p:spPr>
          <a:xfrm>
            <a:off x="68922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352" name="xbar-in-S1-t0: S1"/>
          <p:cNvSpPr txBox="1"/>
          <p:nvPr/>
        </p:nvSpPr>
        <p:spPr>
          <a:xfrm>
            <a:off x="1754143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353" name="xbar-in-S2-t0: S2"/>
          <p:cNvSpPr txBox="1"/>
          <p:nvPr/>
        </p:nvSpPr>
        <p:spPr>
          <a:xfrm>
            <a:off x="2819062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354" name="xbar-in-S3-t0: S3"/>
          <p:cNvSpPr txBox="1"/>
          <p:nvPr/>
        </p:nvSpPr>
        <p:spPr>
          <a:xfrm>
            <a:off x="3883980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1355" name="xbar-in-S4-t0: S4"/>
          <p:cNvSpPr txBox="1"/>
          <p:nvPr/>
        </p:nvSpPr>
        <p:spPr>
          <a:xfrm>
            <a:off x="4948899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1356" name="xbar-in-S5-t0: S5"/>
          <p:cNvSpPr txBox="1"/>
          <p:nvPr/>
        </p:nvSpPr>
        <p:spPr>
          <a:xfrm>
            <a:off x="6013817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1357" name="xbar-in-S6-t0: S6"/>
          <p:cNvSpPr txBox="1"/>
          <p:nvPr/>
        </p:nvSpPr>
        <p:spPr>
          <a:xfrm>
            <a:off x="7078736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1358" name="xbar-in-S7-t0: S7"/>
          <p:cNvSpPr txBox="1"/>
          <p:nvPr/>
        </p:nvSpPr>
        <p:spPr>
          <a:xfrm>
            <a:off x="814365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1359" name="xbar-in-S_EXT-t0: S_EXT"/>
          <p:cNvSpPr txBox="1"/>
          <p:nvPr/>
        </p:nvSpPr>
        <p:spPr>
          <a:xfrm>
            <a:off x="9151457" y="2849694"/>
            <a:ext cx="28330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1360" name="debug-sba-t0: Debug / SBA"/>
          <p:cNvSpPr txBox="1"/>
          <p:nvPr/>
        </p:nvSpPr>
        <p:spPr>
          <a:xfrm>
            <a:off x="1498654" y="2456333"/>
            <a:ext cx="68004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1361" name="debug-sba-t1: JTAG 总线访问"/>
          <p:cNvSpPr txBox="1"/>
          <p:nvPr/>
        </p:nvSpPr>
        <p:spPr>
          <a:xfrm>
            <a:off x="1512089" y="2580150"/>
            <a:ext cx="65317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1362" name="idma-master-t0: iDMA 数据主口"/>
          <p:cNvSpPr txBox="1"/>
          <p:nvPr/>
        </p:nvSpPr>
        <p:spPr>
          <a:xfrm>
            <a:off x="3583596" y="2456333"/>
            <a:ext cx="76983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1363" name="idma-master-t1: 内存 → 内存"/>
          <p:cNvSpPr txBox="1"/>
          <p:nvPr/>
        </p:nvSpPr>
        <p:spPr>
          <a:xfrm>
            <a:off x="3677955" y="2580150"/>
            <a:ext cx="5811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1364" name="slink-rx-t0: Serial Link RX"/>
          <p:cNvSpPr txBox="1"/>
          <p:nvPr/>
        </p:nvSpPr>
        <p:spPr>
          <a:xfrm>
            <a:off x="4676243" y="2456333"/>
            <a:ext cx="71438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1365" name="slink-rx-t1: 远端请求入口"/>
          <p:cNvSpPr txBox="1"/>
          <p:nvPr/>
        </p:nvSpPr>
        <p:spPr>
          <a:xfrm>
            <a:off x="4725247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1366" name="vga-t0: VGA"/>
          <p:cNvSpPr txBox="1"/>
          <p:nvPr/>
        </p:nvSpPr>
        <p:spPr>
          <a:xfrm>
            <a:off x="5957213" y="2456333"/>
            <a:ext cx="2822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1367" name="vga-t1: 帧缓冲读取"/>
          <p:cNvSpPr txBox="1"/>
          <p:nvPr/>
        </p:nvSpPr>
        <p:spPr>
          <a:xfrm>
            <a:off x="5834192" y="2580150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1368" name="usb-dma-t0: USB DMA"/>
          <p:cNvSpPr txBox="1"/>
          <p:nvPr/>
        </p:nvSpPr>
        <p:spPr>
          <a:xfrm>
            <a:off x="6898306" y="2456333"/>
            <a:ext cx="52992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1369" name="usb-dma-t1: OHCI 主口"/>
          <p:cNvSpPr txBox="1"/>
          <p:nvPr/>
        </p:nvSpPr>
        <p:spPr>
          <a:xfrm>
            <a:off x="6921248" y="2580150"/>
            <a:ext cx="48404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1370" name="emmc-host-t0: eMMC Host / DMA"/>
          <p:cNvSpPr txBox="1"/>
          <p:nvPr/>
        </p:nvSpPr>
        <p:spPr>
          <a:xfrm>
            <a:off x="7756209" y="2456333"/>
            <a:ext cx="94395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1371" name="emmc-host-t1: 存储块 ↔ 内存"/>
          <p:cNvSpPr txBox="1"/>
          <p:nvPr/>
        </p:nvSpPr>
        <p:spPr>
          <a:xfrm>
            <a:off x="7825869" y="2580150"/>
            <a:ext cx="66917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1372" name="ext-master-t0: AXI 外部 master"/>
          <p:cNvSpPr txBox="1"/>
          <p:nvPr/>
        </p:nvSpPr>
        <p:spPr>
          <a:xfrm>
            <a:off x="8886014" y="2456333"/>
            <a:ext cx="81418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1373" name="ext-master-t1: 可选扩展入口"/>
          <p:cNvSpPr txBox="1"/>
          <p:nvPr/>
        </p:nvSpPr>
        <p:spPr>
          <a:xfrm>
            <a:off x="8984921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1374" name="badge-C13-text: C13"/>
          <p:cNvSpPr txBox="1"/>
          <p:nvPr/>
        </p:nvSpPr>
        <p:spPr>
          <a:xfrm>
            <a:off x="8512669" y="2639619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375" name="xbar-out-M0-t0: M0"/>
          <p:cNvSpPr txBox="1"/>
          <p:nvPr/>
        </p:nvSpPr>
        <p:spPr>
          <a:xfrm>
            <a:off x="833731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1376" name="debug-target-t0: Debug 目标"/>
          <p:cNvSpPr txBox="1"/>
          <p:nvPr/>
        </p:nvSpPr>
        <p:spPr>
          <a:xfrm>
            <a:off x="617222" y="3717866"/>
            <a:ext cx="61733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1377" name="debug-target-t1: 调试模块窗口"/>
          <p:cNvSpPr txBox="1"/>
          <p:nvPr/>
        </p:nvSpPr>
        <p:spPr>
          <a:xfrm>
            <a:off x="617704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1378" name="xbar-out-M1-t0: M1"/>
          <p:cNvSpPr txBox="1"/>
          <p:nvPr/>
        </p:nvSpPr>
        <p:spPr>
          <a:xfrm>
            <a:off x="2202912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1379" name="reg-bridge-t0: AXI → Regbus"/>
          <p:cNvSpPr txBox="1"/>
          <p:nvPr/>
        </p:nvSpPr>
        <p:spPr>
          <a:xfrm>
            <a:off x="1928605" y="3717866"/>
            <a:ext cx="73293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1380" name="reg-bridge-t1: 原子适配 / 32 bit 桥"/>
          <p:cNvSpPr txBox="1"/>
          <p:nvPr/>
        </p:nvSpPr>
        <p:spPr>
          <a:xfrm>
            <a:off x="1854112" y="3841683"/>
            <a:ext cx="881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1381" name="xbar-out-M2-t0: M2"/>
          <p:cNvSpPr txBox="1"/>
          <p:nvPr/>
        </p:nvSpPr>
        <p:spPr>
          <a:xfrm>
            <a:off x="3572093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1382" name="memory-title: 主存 / SPM 共用目标"/>
          <p:cNvSpPr txBox="1"/>
          <p:nvPr/>
        </p:nvSpPr>
        <p:spPr>
          <a:xfrm>
            <a:off x="3135070" y="3588834"/>
            <a:ext cx="105836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1383" name="atomics-t0: 原子适配"/>
          <p:cNvSpPr txBox="1"/>
          <p:nvPr/>
        </p:nvSpPr>
        <p:spPr>
          <a:xfrm>
            <a:off x="3112141" y="3802110"/>
            <a:ext cx="443823" cy="1422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1384" name="atomics-t1: AMO / LRSC"/>
          <p:cNvSpPr txBox="1"/>
          <p:nvPr/>
        </p:nvSpPr>
        <p:spPr>
          <a:xfrm>
            <a:off x="3003106" y="3907012"/>
            <a:ext cx="66189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1385" name="llc-spm-t0: LLC / SPM"/>
          <p:cNvSpPr txBox="1"/>
          <p:nvPr/>
        </p:nvSpPr>
        <p:spPr>
          <a:xfrm>
            <a:off x="3765270" y="3806174"/>
            <a:ext cx="509164" cy="1422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1386" name="llc-spm-t1: SRAM 阵列"/>
          <p:cNvSpPr txBox="1"/>
          <p:nvPr/>
        </p:nvSpPr>
        <p:spPr>
          <a:xfrm>
            <a:off x="3739304" y="3912024"/>
            <a:ext cx="561097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1387" name="xbar-out-M3-t0: M3"/>
          <p:cNvSpPr txBox="1"/>
          <p:nvPr/>
        </p:nvSpPr>
        <p:spPr>
          <a:xfrm>
            <a:off x="4941274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1388" name="idma-config-t0: iDMA 配置"/>
          <p:cNvSpPr txBox="1"/>
          <p:nvPr/>
        </p:nvSpPr>
        <p:spPr>
          <a:xfrm>
            <a:off x="4750115" y="3665034"/>
            <a:ext cx="566637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1389" name="idma-config-t1: 原子适配 → AXI→Reg"/>
          <p:cNvSpPr txBox="1"/>
          <p:nvPr/>
        </p:nvSpPr>
        <p:spPr>
          <a:xfrm>
            <a:off x="4566034" y="3788851"/>
            <a:ext cx="93479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1390" name="idma-config-t2: wrapper 内部寄存器"/>
          <p:cNvSpPr txBox="1"/>
          <p:nvPr/>
        </p:nvSpPr>
        <p:spPr>
          <a:xfrm>
            <a:off x="4603999" y="3894515"/>
            <a:ext cx="85886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1391" name="xbar-out-M4-t0: M4"/>
          <p:cNvSpPr txBox="1"/>
          <p:nvPr/>
        </p:nvSpPr>
        <p:spPr>
          <a:xfrm>
            <a:off x="6310455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1392" name="slink-tx-t0: Serial Link TX"/>
          <p:cNvSpPr txBox="1"/>
          <p:nvPr/>
        </p:nvSpPr>
        <p:spPr>
          <a:xfrm>
            <a:off x="6051478" y="3717866"/>
            <a:ext cx="70227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1393" name="slink-tx-t1: 远端目标窗口"/>
          <p:cNvSpPr txBox="1"/>
          <p:nvPr/>
        </p:nvSpPr>
        <p:spPr>
          <a:xfrm>
            <a:off x="6094428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1394" name="xbar-out-M5-t0: M5"/>
          <p:cNvSpPr txBox="1"/>
          <p:nvPr/>
        </p:nvSpPr>
        <p:spPr>
          <a:xfrm>
            <a:off x="7679636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95" name="gb-interface-t0: GB AXI 接口"/>
          <p:cNvSpPr txBox="1"/>
          <p:nvPr/>
        </p:nvSpPr>
        <p:spPr>
          <a:xfrm>
            <a:off x="7454988" y="3665034"/>
            <a:ext cx="63361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96" name="gb-interface-t1: CPU / Ara / eMMC DMA"/>
          <p:cNvSpPr txBox="1"/>
          <p:nvPr/>
        </p:nvSpPr>
        <p:spPr>
          <a:xfrm>
            <a:off x="7260665" y="3788851"/>
            <a:ext cx="10222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1397" name="gb-interface-t2: 64-bit 数据窗口 · 共用"/>
          <p:cNvSpPr txBox="1"/>
          <p:nvPr/>
        </p:nvSpPr>
        <p:spPr>
          <a:xfrm>
            <a:off x="7299149" y="3894515"/>
            <a:ext cx="94529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1398" name="xbar-out-M_EXT-t0: M_EXT"/>
          <p:cNvSpPr txBox="1"/>
          <p:nvPr/>
        </p:nvSpPr>
        <p:spPr>
          <a:xfrm>
            <a:off x="8991701" y="3306894"/>
            <a:ext cx="298551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1399" name="ext-target-t0: AXI 外部 slave"/>
          <p:cNvSpPr txBox="1"/>
          <p:nvPr/>
        </p:nvSpPr>
        <p:spPr>
          <a:xfrm>
            <a:off x="8773467" y="3717866"/>
            <a:ext cx="73501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1400" name="ext-target-t1: 可选外部目标扩展"/>
          <p:cNvSpPr txBox="1"/>
          <p:nvPr/>
        </p:nvSpPr>
        <p:spPr>
          <a:xfrm>
            <a:off x="8744736" y="3841683"/>
            <a:ext cx="792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1401" name="emmc-device-t0: eMMC"/>
          <p:cNvSpPr txBox="1"/>
          <p:nvPr/>
        </p:nvSpPr>
        <p:spPr>
          <a:xfrm>
            <a:off x="11550065" y="2446308"/>
            <a:ext cx="437203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1402" name="emmc-device-t1: 模型 / 校正参数"/>
          <p:cNvSpPr txBox="1"/>
          <p:nvPr/>
        </p:nvSpPr>
        <p:spPr>
          <a:xfrm>
            <a:off x="11411207" y="2588278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1403" name="regbus-t0: Regbus decode / demux · 32 bit"/>
          <p:cNvSpPr txBox="1"/>
          <p:nvPr/>
        </p:nvSpPr>
        <p:spPr>
          <a:xfrm>
            <a:off x="2213213" y="4404140"/>
            <a:ext cx="1745774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1404" name="bootrom-t0: Boot ROM"/>
          <p:cNvSpPr txBox="1"/>
          <p:nvPr/>
        </p:nvSpPr>
        <p:spPr>
          <a:xfrm>
            <a:off x="592799" y="4637346"/>
            <a:ext cx="55006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1405" name="bootrom-t1: 启动代码"/>
          <p:cNvSpPr txBox="1"/>
          <p:nvPr/>
        </p:nvSpPr>
        <p:spPr>
          <a:xfrm>
            <a:off x="647700" y="4761163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1406" name="uart-t0: UART"/>
          <p:cNvSpPr txBox="1"/>
          <p:nvPr/>
        </p:nvSpPr>
        <p:spPr>
          <a:xfrm>
            <a:off x="699259" y="4935373"/>
            <a:ext cx="33714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1407" name="uart-t1: 串口控制"/>
          <p:cNvSpPr txBox="1"/>
          <p:nvPr/>
        </p:nvSpPr>
        <p:spPr>
          <a:xfrm>
            <a:off x="6477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1408" name="vga-regs-t0: VGA 配置"/>
          <p:cNvSpPr txBox="1"/>
          <p:nvPr/>
        </p:nvSpPr>
        <p:spPr>
          <a:xfrm>
            <a:off x="609865" y="5233400"/>
            <a:ext cx="51593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409" name="vga-regs-t1: 时序 / 帧地址"/>
          <p:cNvSpPr txBox="1"/>
          <p:nvPr/>
        </p:nvSpPr>
        <p:spPr>
          <a:xfrm>
            <a:off x="554400" y="5357216"/>
            <a:ext cx="6268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1410" name="irq-router-t0: IRQ router"/>
          <p:cNvSpPr txBox="1"/>
          <p:nvPr/>
        </p:nvSpPr>
        <p:spPr>
          <a:xfrm>
            <a:off x="592849" y="5531426"/>
            <a:ext cx="5499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411" name="irq-router-t1: 可选中断路由"/>
          <p:cNvSpPr txBox="1"/>
          <p:nvPr/>
        </p:nvSpPr>
        <p:spPr>
          <a:xfrm>
            <a:off x="5596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1412" name="clint-t0: CLINT"/>
          <p:cNvSpPr txBox="1"/>
          <p:nvPr/>
        </p:nvSpPr>
        <p:spPr>
          <a:xfrm>
            <a:off x="1805697" y="4637346"/>
            <a:ext cx="35947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1413" name="clint-t1: 软件 / 定时中断"/>
          <p:cNvSpPr txBox="1"/>
          <p:nvPr/>
        </p:nvSpPr>
        <p:spPr>
          <a:xfrm>
            <a:off x="1627973" y="4761163"/>
            <a:ext cx="7149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1414" name="i2c-t0: I²C"/>
          <p:cNvSpPr txBox="1"/>
          <p:nvPr/>
        </p:nvSpPr>
        <p:spPr>
          <a:xfrm>
            <a:off x="1871726" y="4935373"/>
            <a:ext cx="227415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1415" name="i2c-t1: 两线串行接口"/>
          <p:cNvSpPr txBox="1"/>
          <p:nvPr/>
        </p:nvSpPr>
        <p:spPr>
          <a:xfrm>
            <a:off x="1677247" y="5059190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1416" name="usb-regs-t0: USB 配置"/>
          <p:cNvSpPr txBox="1"/>
          <p:nvPr/>
        </p:nvSpPr>
        <p:spPr>
          <a:xfrm>
            <a:off x="1722403" y="5233400"/>
            <a:ext cx="52606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417" name="usb-regs-t1: OHCI 寄存器"/>
          <p:cNvSpPr txBox="1"/>
          <p:nvPr/>
        </p:nvSpPr>
        <p:spPr>
          <a:xfrm>
            <a:off x="1699384" y="5357216"/>
            <a:ext cx="57209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1418" name="axi-rt-config-t0: AXI RT 配置"/>
          <p:cNvSpPr txBox="1"/>
          <p:nvPr/>
        </p:nvSpPr>
        <p:spPr>
          <a:xfrm>
            <a:off x="1676712" y="5531426"/>
            <a:ext cx="61744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419" name="axi-rt-config-t1: 可选流量调节"/>
          <p:cNvSpPr txBox="1"/>
          <p:nvPr/>
        </p:nvSpPr>
        <p:spPr>
          <a:xfrm>
            <a:off x="16772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1420" name="soc-regs-t0: SoC 寄存器"/>
          <p:cNvSpPr txBox="1"/>
          <p:nvPr/>
        </p:nvSpPr>
        <p:spPr>
          <a:xfrm>
            <a:off x="2794312" y="4637346"/>
            <a:ext cx="61744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1421" name="soc-regs-t1: 平台信息 / scratch"/>
          <p:cNvSpPr txBox="1"/>
          <p:nvPr/>
        </p:nvSpPr>
        <p:spPr>
          <a:xfrm>
            <a:off x="2692945" y="4761163"/>
            <a:ext cx="82017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1422" name="spi-t0: SPI Host"/>
          <p:cNvSpPr txBox="1"/>
          <p:nvPr/>
        </p:nvSpPr>
        <p:spPr>
          <a:xfrm>
            <a:off x="2860442" y="4935373"/>
            <a:ext cx="48518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1423" name="spi-t1: Flash / SD"/>
          <p:cNvSpPr txBox="1"/>
          <p:nvPr/>
        </p:nvSpPr>
        <p:spPr>
          <a:xfrm>
            <a:off x="2851468" y="5059190"/>
            <a:ext cx="503132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1424" name="err-vga-t0: Bus-error · VGA"/>
          <p:cNvSpPr txBox="1"/>
          <p:nvPr/>
        </p:nvSpPr>
        <p:spPr>
          <a:xfrm>
            <a:off x="2715387" y="5233400"/>
            <a:ext cx="77529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425" name="err-vga-t1: 错误记录"/>
          <p:cNvSpPr txBox="1"/>
          <p:nvPr/>
        </p:nvSpPr>
        <p:spPr>
          <a:xfrm>
            <a:off x="2882900" y="5357216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1426" name="clic-t0: CLIC"/>
          <p:cNvSpPr txBox="1"/>
          <p:nvPr/>
        </p:nvSpPr>
        <p:spPr>
          <a:xfrm>
            <a:off x="2950729" y="5531426"/>
            <a:ext cx="30460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427" name="clic-t1: 可选每核中断控制"/>
          <p:cNvSpPr txBox="1"/>
          <p:nvPr/>
        </p:nvSpPr>
        <p:spPr>
          <a:xfrm>
            <a:off x="2706793" y="5655243"/>
            <a:ext cx="792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1428" name="plic-t0: PLIC"/>
          <p:cNvSpPr txBox="1"/>
          <p:nvPr/>
        </p:nvSpPr>
        <p:spPr>
          <a:xfrm>
            <a:off x="4071355" y="4637346"/>
            <a:ext cx="2985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1429" name="plic-t1: 外部中断控制"/>
          <p:cNvSpPr txBox="1"/>
          <p:nvPr/>
        </p:nvSpPr>
        <p:spPr>
          <a:xfrm>
            <a:off x="3912447" y="4761163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1430" name="gpio-t0: GPIO"/>
          <p:cNvSpPr txBox="1"/>
          <p:nvPr/>
        </p:nvSpPr>
        <p:spPr>
          <a:xfrm>
            <a:off x="4061238" y="4935373"/>
            <a:ext cx="31879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1431" name="gpio-t1: 通用 IO"/>
          <p:cNvSpPr txBox="1"/>
          <p:nvPr/>
        </p:nvSpPr>
        <p:spPr>
          <a:xfrm>
            <a:off x="4034893" y="5059190"/>
            <a:ext cx="3714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1432" name="err-dma-t0: Bus-error · iDMA"/>
          <p:cNvSpPr txBox="1"/>
          <p:nvPr/>
        </p:nvSpPr>
        <p:spPr>
          <a:xfrm>
            <a:off x="3807637" y="5233400"/>
            <a:ext cx="82599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433" name="err-dma-t1: 每传输错误记录"/>
          <p:cNvSpPr txBox="1"/>
          <p:nvPr/>
        </p:nvSpPr>
        <p:spPr>
          <a:xfrm>
            <a:off x="3868420" y="5357216"/>
            <a:ext cx="70442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1434" name="reg-error-t0: reg_err_slv"/>
          <p:cNvSpPr txBox="1"/>
          <p:nvPr/>
        </p:nvSpPr>
        <p:spPr>
          <a:xfrm>
            <a:off x="3929327" y="5531426"/>
            <a:ext cx="58261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435" name="reg-error-t1: 未匹配地址"/>
          <p:cNvSpPr txBox="1"/>
          <p:nvPr/>
        </p:nvSpPr>
        <p:spPr>
          <a:xfrm>
            <a:off x="3956473" y="5655243"/>
            <a:ext cx="528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1436" name="llc-regs-t0: LLC 配置"/>
          <p:cNvSpPr txBox="1"/>
          <p:nvPr/>
        </p:nvSpPr>
        <p:spPr>
          <a:xfrm>
            <a:off x="5088350" y="4637346"/>
            <a:ext cx="49976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1437" name="llc-regs-t1: SPM way / cache"/>
          <p:cNvSpPr txBox="1"/>
          <p:nvPr/>
        </p:nvSpPr>
        <p:spPr>
          <a:xfrm>
            <a:off x="4959099" y="4761163"/>
            <a:ext cx="758269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1438" name="slink-regs-t0: Serial Link 配置"/>
          <p:cNvSpPr txBox="1"/>
          <p:nvPr/>
        </p:nvSpPr>
        <p:spPr>
          <a:xfrm>
            <a:off x="4938281" y="4935373"/>
            <a:ext cx="799904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439" name="slink-regs-t1: 链路控制"/>
          <p:cNvSpPr txBox="1"/>
          <p:nvPr/>
        </p:nvSpPr>
        <p:spPr>
          <a:xfrm>
            <a:off x="51181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1440" name="err-cpu-t0: Bus-error · CPU"/>
          <p:cNvSpPr txBox="1"/>
          <p:nvPr/>
        </p:nvSpPr>
        <p:spPr>
          <a:xfrm>
            <a:off x="4948552" y="5233400"/>
            <a:ext cx="77936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441" name="err-cpu-t1: 每核错误记录"/>
          <p:cNvSpPr txBox="1"/>
          <p:nvPr/>
        </p:nvSpPr>
        <p:spPr>
          <a:xfrm>
            <a:off x="5030047" y="5357216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1442" name="reg-ext-t0: RegExt 扩展"/>
          <p:cNvSpPr txBox="1"/>
          <p:nvPr/>
        </p:nvSpPr>
        <p:spPr>
          <a:xfrm>
            <a:off x="5019392" y="5531426"/>
            <a:ext cx="63768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443" name="reg-ext-t1: 新增 IP 配置出口"/>
          <p:cNvSpPr txBox="1"/>
          <p:nvPr/>
        </p:nvSpPr>
        <p:spPr>
          <a:xfrm>
            <a:off x="4967573" y="5655243"/>
            <a:ext cx="74132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1444" name="ddr-S0-t0: DDR.S0"/>
          <p:cNvSpPr txBox="1"/>
          <p:nvPr/>
        </p:nvSpPr>
        <p:spPr>
          <a:xfrm>
            <a:off x="6434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1445" name="ddr-S1-t0: DDR.S1"/>
          <p:cNvSpPr txBox="1"/>
          <p:nvPr/>
        </p:nvSpPr>
        <p:spPr>
          <a:xfrm>
            <a:off x="7365558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1446" name="ddr-S2-t0: DDR.S2"/>
          <p:cNvSpPr txBox="1"/>
          <p:nvPr/>
        </p:nvSpPr>
        <p:spPr>
          <a:xfrm>
            <a:off x="8296891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1447" name="ddr-S3-t0: DDR.S3"/>
          <p:cNvSpPr txBox="1"/>
          <p:nvPr/>
        </p:nvSpPr>
        <p:spPr>
          <a:xfrm>
            <a:off x="9228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1448" name="ddr-arb-t0: 四口仲裁 / QoS · 共享 DDR 带宽"/>
          <p:cNvSpPr txBox="1"/>
          <p:nvPr/>
        </p:nvSpPr>
        <p:spPr>
          <a:xfrm>
            <a:off x="7300370" y="5934711"/>
            <a:ext cx="1452060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1449" name="ddr-rw-t0: 读写调度 · Bank / Row"/>
          <p:cNvSpPr txBox="1"/>
          <p:nvPr/>
        </p:nvSpPr>
        <p:spPr>
          <a:xfrm>
            <a:off x="6444522" y="6115965"/>
            <a:ext cx="111482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1450" name="ddr-command-t0: 命令调度 · Controller → PHY"/>
          <p:cNvSpPr txBox="1"/>
          <p:nvPr/>
        </p:nvSpPr>
        <p:spPr>
          <a:xfrm>
            <a:off x="8397216" y="6120977"/>
            <a:ext cx="1273434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1451" name="ddr-title: DDR Controller · 4 个 AXI slave"/>
          <p:cNvSpPr txBox="1"/>
          <p:nvPr/>
        </p:nvSpPr>
        <p:spPr>
          <a:xfrm>
            <a:off x="7293766" y="6267688"/>
            <a:ext cx="14652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1452" name="badge-C2-text: C2"/>
          <p:cNvSpPr txBox="1"/>
          <p:nvPr/>
        </p:nvSpPr>
        <p:spPr>
          <a:xfrm>
            <a:off x="9662848" y="6283673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53" name="ddr-phy-t0: DDR PHY"/>
          <p:cNvSpPr txBox="1"/>
          <p:nvPr/>
        </p:nvSpPr>
        <p:spPr>
          <a:xfrm>
            <a:off x="10438606" y="6228402"/>
            <a:ext cx="50958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454" name="ddr-phy-t1: 训练 / 校准"/>
          <p:cNvSpPr txBox="1"/>
          <p:nvPr/>
        </p:nvSpPr>
        <p:spPr>
          <a:xfrm>
            <a:off x="10335535" y="6351271"/>
            <a:ext cx="580263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455" name="badge-C3-text: C3"/>
          <p:cNvSpPr txBox="1"/>
          <p:nvPr/>
        </p:nvSpPr>
        <p:spPr>
          <a:xfrm>
            <a:off x="10915915" y="6412366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56" name="ddr-device-t0: DDR"/>
          <p:cNvSpPr txBox="1"/>
          <p:nvPr/>
        </p:nvSpPr>
        <p:spPr>
          <a:xfrm>
            <a:off x="11586842" y="6218378"/>
            <a:ext cx="338249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57" name="ddr-device-t1: 片外器件"/>
          <p:cNvSpPr txBox="1"/>
          <p:nvPr/>
        </p:nvSpPr>
        <p:spPr>
          <a:xfrm>
            <a:off x="11518900" y="6359399"/>
            <a:ext cx="474133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1458" name="roi-title: 图像裁切输出"/>
          <p:cNvSpPr txBox="1"/>
          <p:nvPr/>
        </p:nvSpPr>
        <p:spPr>
          <a:xfrm>
            <a:off x="10322560" y="4313039"/>
            <a:ext cx="758613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1459" name="roi-count: ≤256 ROI / 帧"/>
          <p:cNvSpPr txBox="1"/>
          <p:nvPr/>
        </p:nvSpPr>
        <p:spPr>
          <a:xfrm>
            <a:off x="10367788" y="4429811"/>
            <a:ext cx="66815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1460" name="roi-no-scale: 纯裁切 · 不缩放"/>
          <p:cNvSpPr txBox="1"/>
          <p:nvPr/>
        </p:nvSpPr>
        <p:spPr>
          <a:xfrm>
            <a:off x="10356747" y="4517865"/>
            <a:ext cx="69024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1461" name="pll-title: PLL / 时钟与复位分发"/>
          <p:cNvSpPr txBox="1"/>
          <p:nvPr/>
        </p:nvSpPr>
        <p:spPr>
          <a:xfrm>
            <a:off x="7380023" y="6514372"/>
            <a:ext cx="1157288" cy="173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1462" name="badge-C1-text: C1"/>
          <p:cNvSpPr txBox="1"/>
          <p:nvPr/>
        </p:nvSpPr>
        <p:spPr>
          <a:xfrm>
            <a:off x="8749295" y="6534625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3" name="pll-interface: RefClk / POR → clk_i / rst_ni"/>
          <p:cNvSpPr txBox="1"/>
          <p:nvPr/>
        </p:nvSpPr>
        <p:spPr>
          <a:xfrm>
            <a:off x="8978416" y="6533203"/>
            <a:ext cx="1222788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693" b="0" i="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693" b="0" i="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693" b="0" i="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693" b="0" i="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693" b="0" i="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64" name="reg-badge-C1-text: C1"/>
          <p:cNvSpPr txBox="1"/>
          <p:nvPr/>
        </p:nvSpPr>
        <p:spPr>
          <a:xfrm>
            <a:off x="27585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5" name="config-C1-title-0: PLL / 时钟"/>
          <p:cNvSpPr txBox="1"/>
          <p:nvPr/>
        </p:nvSpPr>
        <p:spPr>
          <a:xfrm>
            <a:off x="287679" y="6020800"/>
            <a:ext cx="5769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1466" name="config-C1-title-1: 复位"/>
          <p:cNvSpPr txBox="1"/>
          <p:nvPr/>
        </p:nvSpPr>
        <p:spPr>
          <a:xfrm>
            <a:off x="42375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1467" name="reg-badge-C2-text: C2"/>
          <p:cNvSpPr txBox="1"/>
          <p:nvPr/>
        </p:nvSpPr>
        <p:spPr>
          <a:xfrm>
            <a:off x="99298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68" name="config-C2-title-0: DDR"/>
          <p:cNvSpPr txBox="1"/>
          <p:nvPr/>
        </p:nvSpPr>
        <p:spPr>
          <a:xfrm>
            <a:off x="1144058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69" name="config-C2-title-1: Controller"/>
          <p:cNvSpPr txBox="1"/>
          <p:nvPr/>
        </p:nvSpPr>
        <p:spPr>
          <a:xfrm>
            <a:off x="1028517" y="6129173"/>
            <a:ext cx="5295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1470" name="reg-badge-C3-text: C3"/>
          <p:cNvSpPr txBox="1"/>
          <p:nvPr/>
        </p:nvSpPr>
        <p:spPr>
          <a:xfrm>
            <a:off x="171010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71" name="config-C3-title-0: DDR"/>
          <p:cNvSpPr txBox="1"/>
          <p:nvPr/>
        </p:nvSpPr>
        <p:spPr>
          <a:xfrm>
            <a:off x="1861185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72" name="config-C3-title-1: PHY"/>
          <p:cNvSpPr txBox="1"/>
          <p:nvPr/>
        </p:nvSpPr>
        <p:spPr>
          <a:xfrm>
            <a:off x="1869271" y="6129173"/>
            <a:ext cx="2822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1473" name="reg-badge-C4-text: C4"/>
          <p:cNvSpPr txBox="1"/>
          <p:nvPr/>
        </p:nvSpPr>
        <p:spPr>
          <a:xfrm>
            <a:off x="242723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474" name="config-C4-title-0: LVDS"/>
          <p:cNvSpPr txBox="1"/>
          <p:nvPr/>
        </p:nvSpPr>
        <p:spPr>
          <a:xfrm>
            <a:off x="2557970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475" name="config-C4-title-1: RX"/>
          <p:cNvSpPr txBox="1"/>
          <p:nvPr/>
        </p:nvSpPr>
        <p:spPr>
          <a:xfrm>
            <a:off x="2617899" y="6129173"/>
            <a:ext cx="21927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1476" name="reg-badge-C9-text: C9"/>
          <p:cNvSpPr txBox="1"/>
          <p:nvPr/>
        </p:nvSpPr>
        <p:spPr>
          <a:xfrm>
            <a:off x="271780" y="6372064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477" name="config-C9-title-0: ISP"/>
          <p:cNvSpPr txBox="1"/>
          <p:nvPr/>
        </p:nvSpPr>
        <p:spPr>
          <a:xfrm>
            <a:off x="452278" y="6528799"/>
            <a:ext cx="247756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478" name="reg-badge-C10-text: C10"/>
          <p:cNvSpPr txBox="1"/>
          <p:nvPr/>
        </p:nvSpPr>
        <p:spPr>
          <a:xfrm>
            <a:off x="988906" y="6372064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479" name="config-C10-title-0: NPU"/>
          <p:cNvSpPr txBox="1"/>
          <p:nvPr/>
        </p:nvSpPr>
        <p:spPr>
          <a:xfrm>
            <a:off x="1148077" y="6474613"/>
            <a:ext cx="29041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1480" name="config-C10-title-1: 计算"/>
          <p:cNvSpPr txBox="1"/>
          <p:nvPr/>
        </p:nvSpPr>
        <p:spPr>
          <a:xfrm>
            <a:off x="1140883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481" name="reg-badge-C11-text: C11"/>
          <p:cNvSpPr txBox="1"/>
          <p:nvPr/>
        </p:nvSpPr>
        <p:spPr>
          <a:xfrm>
            <a:off x="1706034" y="6372064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482" name="config-C11-title-0: GB"/>
          <p:cNvSpPr txBox="1"/>
          <p:nvPr/>
        </p:nvSpPr>
        <p:spPr>
          <a:xfrm>
            <a:off x="1743413" y="6474613"/>
            <a:ext cx="53399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483" name="config-C11-title-1: 搬运"/>
          <p:cNvSpPr txBox="1"/>
          <p:nvPr/>
        </p:nvSpPr>
        <p:spPr>
          <a:xfrm>
            <a:off x="1858010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1484" name="reg-badge-C6-text: C6"/>
          <p:cNvSpPr txBox="1"/>
          <p:nvPr/>
        </p:nvSpPr>
        <p:spPr>
          <a:xfrm>
            <a:off x="3857414" y="5918251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485" name="config-C6-title-0: 帧写入"/>
          <p:cNvSpPr txBox="1"/>
          <p:nvPr/>
        </p:nvSpPr>
        <p:spPr>
          <a:xfrm>
            <a:off x="3958590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1486" name="config-C6-title-1: DMA"/>
          <p:cNvSpPr txBox="1"/>
          <p:nvPr/>
        </p:nvSpPr>
        <p:spPr>
          <a:xfrm>
            <a:off x="4007456" y="6129173"/>
            <a:ext cx="308668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487" name="reg-badge-C12-text: C12"/>
          <p:cNvSpPr txBox="1"/>
          <p:nvPr/>
        </p:nvSpPr>
        <p:spPr>
          <a:xfrm>
            <a:off x="2423160" y="6372065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488" name="config-C12-title-0: GB"/>
          <p:cNvSpPr txBox="1"/>
          <p:nvPr/>
        </p:nvSpPr>
        <p:spPr>
          <a:xfrm>
            <a:off x="2611797" y="6474613"/>
            <a:ext cx="23147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489" name="config-C12-title-1: 管理"/>
          <p:cNvSpPr txBox="1"/>
          <p:nvPr/>
        </p:nvSpPr>
        <p:spPr>
          <a:xfrm>
            <a:off x="257513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1490" name="reg-badge-C13-text: C13"/>
          <p:cNvSpPr txBox="1"/>
          <p:nvPr/>
        </p:nvSpPr>
        <p:spPr>
          <a:xfrm>
            <a:off x="3140286" y="6372065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491" name="config-C13-title-0: eMMC Host"/>
          <p:cNvSpPr txBox="1"/>
          <p:nvPr/>
        </p:nvSpPr>
        <p:spPr>
          <a:xfrm>
            <a:off x="3133069" y="6474613"/>
            <a:ext cx="62318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1492" name="config-C13-title-1: / DMA"/>
          <p:cNvSpPr txBox="1"/>
          <p:nvPr/>
        </p:nvSpPr>
        <p:spPr>
          <a:xfrm>
            <a:off x="3248708" y="6582986"/>
            <a:ext cx="39191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1493" name="reg-badge-C8-text: C8"/>
          <p:cNvSpPr txBox="1"/>
          <p:nvPr/>
        </p:nvSpPr>
        <p:spPr>
          <a:xfrm>
            <a:off x="5291666" y="5918252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494" name="config-C8-title-0: ROI 任务"/>
          <p:cNvSpPr txBox="1"/>
          <p:nvPr/>
        </p:nvSpPr>
        <p:spPr>
          <a:xfrm>
            <a:off x="5350277" y="6020800"/>
            <a:ext cx="4915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1495" name="config-C8-title-1: / 调度"/>
          <p:cNvSpPr txBox="1"/>
          <p:nvPr/>
        </p:nvSpPr>
        <p:spPr>
          <a:xfrm>
            <a:off x="5402021" y="6129173"/>
            <a:ext cx="388043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1496" name="reg-badge-C14-text: C14"/>
          <p:cNvSpPr txBox="1"/>
          <p:nvPr/>
        </p:nvSpPr>
        <p:spPr>
          <a:xfrm>
            <a:off x="3857413" y="6372065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497" name="config-C14-title-0: 压缩公共"/>
          <p:cNvSpPr txBox="1"/>
          <p:nvPr/>
        </p:nvSpPr>
        <p:spPr>
          <a:xfrm>
            <a:off x="3907790" y="6474613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压缩公共</a:t>
            </a:r>
          </a:p>
        </p:txBody>
      </p:sp>
      <p:sp>
        <p:nvSpPr>
          <p:cNvPr id="1498" name="config-C14-title-1: 控制"/>
          <p:cNvSpPr txBox="1"/>
          <p:nvPr/>
        </p:nvSpPr>
        <p:spPr>
          <a:xfrm>
            <a:off x="4009390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1499" name="reg-badge-C7-text: C7"/>
          <p:cNvSpPr txBox="1"/>
          <p:nvPr/>
        </p:nvSpPr>
        <p:spPr>
          <a:xfrm>
            <a:off x="4574539" y="5918252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500" name="config-C7-title-0: 帧输出"/>
          <p:cNvSpPr txBox="1"/>
          <p:nvPr/>
        </p:nvSpPr>
        <p:spPr>
          <a:xfrm>
            <a:off x="4675716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1501" name="config-C7-title-1: DMA"/>
          <p:cNvSpPr txBox="1"/>
          <p:nvPr/>
        </p:nvSpPr>
        <p:spPr>
          <a:xfrm>
            <a:off x="4696155" y="6129173"/>
            <a:ext cx="36552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502" name="reg-badge-C5-text: C5"/>
          <p:cNvSpPr txBox="1"/>
          <p:nvPr/>
        </p:nvSpPr>
        <p:spPr>
          <a:xfrm>
            <a:off x="3140286" y="5918252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503" name="config-C5-title-0: LVDS"/>
          <p:cNvSpPr txBox="1"/>
          <p:nvPr/>
        </p:nvSpPr>
        <p:spPr>
          <a:xfrm>
            <a:off x="3275097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504" name="config-C5-title-1: TX"/>
          <p:cNvSpPr txBox="1"/>
          <p:nvPr/>
        </p:nvSpPr>
        <p:spPr>
          <a:xfrm>
            <a:off x="3341079" y="6129173"/>
            <a:ext cx="207169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1505" name="reg-badge-C15-text: C15"/>
          <p:cNvSpPr txBox="1"/>
          <p:nvPr/>
        </p:nvSpPr>
        <p:spPr>
          <a:xfrm>
            <a:off x="455729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06" name="config-C15-title-0: 压缩器"/>
          <p:cNvSpPr txBox="1"/>
          <p:nvPr/>
        </p:nvSpPr>
        <p:spPr>
          <a:xfrm>
            <a:off x="4675717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1507" name="reg-badge-C16-text: C16"/>
          <p:cNvSpPr txBox="1"/>
          <p:nvPr/>
        </p:nvSpPr>
        <p:spPr>
          <a:xfrm>
            <a:off x="527441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08" name="config-C16-title-0: 解压器"/>
          <p:cNvSpPr txBox="1"/>
          <p:nvPr/>
        </p:nvSpPr>
        <p:spPr>
          <a:xfrm>
            <a:off x="5392843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1509" name="front-F0-t0: F0 · LLC"/>
          <p:cNvSpPr txBox="1"/>
          <p:nvPr/>
        </p:nvSpPr>
        <p:spPr>
          <a:xfrm>
            <a:off x="6431137" y="4319508"/>
            <a:ext cx="345726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1510" name="front-F1-t0: F1 · GB 搬运"/>
          <p:cNvSpPr txBox="1"/>
          <p:nvPr/>
        </p:nvSpPr>
        <p:spPr>
          <a:xfrm>
            <a:off x="7287834" y="4319508"/>
            <a:ext cx="494998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1511" name="front-F2-t0: F2 · 帧写"/>
          <p:cNvSpPr txBox="1"/>
          <p:nvPr/>
        </p:nvSpPr>
        <p:spPr>
          <a:xfrm>
            <a:off x="8279294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1512" name="front-F3-t0: F3 · 帧读"/>
          <p:cNvSpPr txBox="1"/>
          <p:nvPr/>
        </p:nvSpPr>
        <p:spPr>
          <a:xfrm>
            <a:off x="9210627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1513" name="front-adapt-t0: 共享压缩前端 · 四口区域选择 / 事务跟踪"/>
          <p:cNvSpPr txBox="1"/>
          <p:nvPr/>
        </p:nvSpPr>
        <p:spPr>
          <a:xfrm>
            <a:off x="7063335" y="4503912"/>
            <a:ext cx="192613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1514" name="badge-C14-text: C14"/>
          <p:cNvSpPr txBox="1"/>
          <p:nvPr/>
        </p:nvSpPr>
        <p:spPr>
          <a:xfrm>
            <a:off x="9658773" y="4525993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15" name="address-control-t0: 地址 / 事务"/>
          <p:cNvSpPr txBox="1"/>
          <p:nvPr/>
        </p:nvSpPr>
        <p:spPr>
          <a:xfrm>
            <a:off x="6276216" y="4810066"/>
            <a:ext cx="62170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1516" name="address-control-t1: AR / AW 映射"/>
          <p:cNvSpPr txBox="1"/>
          <p:nvPr/>
        </p:nvSpPr>
        <p:spPr>
          <a:xfrm>
            <a:off x="6279909" y="4933883"/>
            <a:ext cx="61431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1517" name="metadata-t0: 块地址 / 元数据"/>
          <p:cNvSpPr txBox="1"/>
          <p:nvPr/>
        </p:nvSpPr>
        <p:spPr>
          <a:xfrm>
            <a:off x="6202108" y="5223511"/>
            <a:ext cx="769916" cy="1517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1518" name="badge-C15-text: C15"/>
          <p:cNvSpPr txBox="1"/>
          <p:nvPr/>
        </p:nvSpPr>
        <p:spPr>
          <a:xfrm>
            <a:off x="7196352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19" name="compressor-title: 共享压缩器"/>
          <p:cNvSpPr txBox="1"/>
          <p:nvPr/>
        </p:nvSpPr>
        <p:spPr>
          <a:xfrm>
            <a:off x="7272867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1520" name="compressor-detail: W 写数据"/>
          <p:cNvSpPr txBox="1"/>
          <p:nvPr/>
        </p:nvSpPr>
        <p:spPr>
          <a:xfrm>
            <a:off x="7352287" y="5130851"/>
            <a:ext cx="45076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1521" name="badge-C16-text: C16"/>
          <p:cNvSpPr txBox="1"/>
          <p:nvPr/>
        </p:nvSpPr>
        <p:spPr>
          <a:xfrm>
            <a:off x="8102285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22" name="decompressor-title: 共享解压器"/>
          <p:cNvSpPr txBox="1"/>
          <p:nvPr/>
        </p:nvSpPr>
        <p:spPr>
          <a:xfrm>
            <a:off x="8178800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1523" name="decompressor-detail: R 读数据"/>
          <p:cNvSpPr txBox="1"/>
          <p:nvPr/>
        </p:nvSpPr>
        <p:spPr>
          <a:xfrm>
            <a:off x="8267033" y="5130851"/>
            <a:ext cx="433134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1524" name="plain-bypass-title: 普通数据旁路"/>
          <p:cNvSpPr txBox="1"/>
          <p:nvPr/>
        </p:nvSpPr>
        <p:spPr>
          <a:xfrm>
            <a:off x="9033933" y="5007848"/>
            <a:ext cx="7112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1525" name="plain-bypass-detail: W / R 原样"/>
          <p:cNvSpPr txBox="1"/>
          <p:nvPr/>
        </p:nvSpPr>
        <p:spPr>
          <a:xfrm>
            <a:off x="9131647" y="5130851"/>
            <a:ext cx="5157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1526" name="front-route-t0: 下游 AXI 路由 / R、B 响应匹配"/>
          <p:cNvSpPr txBox="1"/>
          <p:nvPr/>
        </p:nvSpPr>
        <p:spPr>
          <a:xfrm>
            <a:off x="7283945" y="5499592"/>
            <a:ext cx="148491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1527" name="b-response-label: B"/>
          <p:cNvSpPr txBox="1"/>
          <p:nvPr/>
        </p:nvSpPr>
        <p:spPr>
          <a:xfrm>
            <a:off x="6250331" y="4667420"/>
            <a:ext cx="13160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528" name="badge-C8-text: C8"/>
          <p:cNvSpPr txBox="1"/>
          <p:nvPr/>
        </p:nvSpPr>
        <p:spPr>
          <a:xfrm>
            <a:off x="10945706" y="4637753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529" name="roi-scheduler-title: ROI 任务表"/>
          <p:cNvSpPr txBox="1"/>
          <p:nvPr/>
        </p:nvSpPr>
        <p:spPr>
          <a:xfrm>
            <a:off x="10405300" y="4733528"/>
            <a:ext cx="593132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1530" name="roi-scheduler-detail: 顺序调度"/>
          <p:cNvSpPr txBox="1"/>
          <p:nvPr/>
        </p:nvSpPr>
        <p:spPr>
          <a:xfrm>
            <a:off x="10481733" y="4849758"/>
            <a:ext cx="4402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1531" name="badge-C7-text: C7"/>
          <p:cNvSpPr txBox="1"/>
          <p:nvPr/>
        </p:nvSpPr>
        <p:spPr>
          <a:xfrm>
            <a:off x="10945706" y="5027219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532" name="roi-vdma-title: 帧输出 DMA"/>
          <p:cNvSpPr txBox="1"/>
          <p:nvPr/>
        </p:nvSpPr>
        <p:spPr>
          <a:xfrm>
            <a:off x="10351476" y="5122994"/>
            <a:ext cx="700781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DMA</a:t>
            </a:r>
          </a:p>
        </p:txBody>
      </p:sp>
      <p:sp>
        <p:nvSpPr>
          <p:cNvPr id="1533" name="roi-vdma-detail: 二维 AXI 读"/>
          <p:cNvSpPr txBox="1"/>
          <p:nvPr/>
        </p:nvSpPr>
        <p:spPr>
          <a:xfrm>
            <a:off x="10439553" y="5239225"/>
            <a:ext cx="52462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1534" name="roi-fifo-t0: 像素整理"/>
          <p:cNvSpPr txBox="1"/>
          <p:nvPr/>
        </p:nvSpPr>
        <p:spPr>
          <a:xfrm>
            <a:off x="10447867" y="5411200"/>
            <a:ext cx="50800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1535" name="roi-fifo-t1: 输出 FIFO"/>
          <p:cNvSpPr txBox="1"/>
          <p:nvPr/>
        </p:nvSpPr>
        <p:spPr>
          <a:xfrm>
            <a:off x="10473904" y="5535016"/>
            <a:ext cx="455925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1536" name="badge-C5-text: C5"/>
          <p:cNvSpPr txBox="1"/>
          <p:nvPr/>
        </p:nvSpPr>
        <p:spPr>
          <a:xfrm>
            <a:off x="10945706" y="5721486"/>
            <a:ext cx="165947" cy="1137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537" name="lvds-tx-title: LVDS TX"/>
          <p:cNvSpPr txBox="1"/>
          <p:nvPr/>
        </p:nvSpPr>
        <p:spPr>
          <a:xfrm>
            <a:off x="10464287" y="5817261"/>
            <a:ext cx="475160" cy="1625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1538" name="lvds-tx-detail: 子图帧行封装"/>
          <p:cNvSpPr txBox="1"/>
          <p:nvPr/>
        </p:nvSpPr>
        <p:spPr>
          <a:xfrm>
            <a:off x="10393680" y="5933491"/>
            <a:ext cx="61637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1539" name="legend-axi-interface-text: AXI 请求 / 响应"/>
          <p:cNvSpPr txBox="1"/>
          <p:nvPr/>
        </p:nvSpPr>
        <p:spPr>
          <a:xfrm>
            <a:off x="10498924" y="2706374"/>
            <a:ext cx="684826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 / 响应</a:t>
            </a:r>
          </a:p>
        </p:txBody>
      </p:sp>
      <p:sp>
        <p:nvSpPr>
          <p:cNvPr id="1540" name="legend-axi-request-text: AXI 请求方向"/>
          <p:cNvSpPr txBox="1"/>
          <p:nvPr/>
        </p:nvSpPr>
        <p:spPr>
          <a:xfrm>
            <a:off x="10548197" y="2868935"/>
            <a:ext cx="58628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1541" name="legend-gb-text: GB 局部读写"/>
          <p:cNvSpPr txBox="1"/>
          <p:nvPr/>
        </p:nvSpPr>
        <p:spPr>
          <a:xfrm>
            <a:off x="10551721" y="3031494"/>
            <a:ext cx="579231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1542" name="legend-pixel-text: 像素流"/>
          <p:cNvSpPr txBox="1"/>
          <p:nvPr/>
        </p:nvSpPr>
        <p:spPr>
          <a:xfrm>
            <a:off x="10665230" y="3194054"/>
            <a:ext cx="3522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1543" name="legend-cfg-text: 配置 / 控制"/>
          <p:cNvSpPr txBox="1"/>
          <p:nvPr/>
        </p:nvSpPr>
        <p:spPr>
          <a:xfrm>
            <a:off x="10571930" y="3356615"/>
            <a:ext cx="53881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1544" name="legend-optional-text: eMMC 接口"/>
          <p:cNvSpPr txBox="1"/>
          <p:nvPr/>
        </p:nvSpPr>
        <p:spPr>
          <a:xfrm>
            <a:off x="10572917" y="3519174"/>
            <a:ext cx="536840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1545" name="legend-return: 单箭头接口：省略响应"/>
          <p:cNvSpPr txBox="1"/>
          <p:nvPr/>
        </p:nvSpPr>
        <p:spPr>
          <a:xfrm>
            <a:off x="10326564" y="3790650"/>
            <a:ext cx="894080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单箭头接口：省略响应</a:t>
            </a:r>
          </a:p>
        </p:txBody>
      </p:sp>
      <p:sp>
        <p:nvSpPr>
          <p:cNvPr id="1546" name="legend-status: 虚实与箭头方向独立"/>
          <p:cNvSpPr txBox="1"/>
          <p:nvPr/>
        </p:nvSpPr>
        <p:spPr>
          <a:xfrm>
            <a:off x="10362362" y="3878703"/>
            <a:ext cx="822484" cy="1300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虚实与箭头方向独立</a:t>
            </a:r>
          </a:p>
        </p:txBody>
      </p:sp>
      <p:sp>
        <p:nvSpPr>
          <p:cNvPr id="1547" name="legend-dashed"/>
          <p:cNvSpPr/>
          <p:nvPr/>
        </p:nvSpPr>
        <p:spPr>
          <a:xfrm>
            <a:off x="10265604" y="374296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48" name="legend-dashed-text: 虚线：规划 / 可选"/>
          <p:cNvSpPr txBox="1"/>
          <p:nvPr/>
        </p:nvSpPr>
        <p:spPr>
          <a:xfrm>
            <a:off x="10401071" y="3681734"/>
            <a:ext cx="880533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虚线：规划 / 可选</a:t>
            </a:r>
          </a:p>
        </p:txBody>
      </p:sp>
      <p:sp>
        <p:nvSpPr>
          <p:cNvPr id="1549" name="sensor-rx"/>
          <p:cNvSpPr/>
          <p:nvPr/>
        </p:nvSpPr>
        <p:spPr>
          <a:xfrm>
            <a:off x="11129433" y="1517549"/>
            <a:ext cx="283633" cy="1"/>
          </a:xfrm>
          <a:custGeom>
            <a:avLst/>
            <a:gdLst/>
            <a:ahLst/>
            <a:cxnLst/>
            <a:rect l="0" t="0" r="r" b="b"/>
            <a:pathLst>
              <a:path w="283633" h="1" fill="none">
                <a:moveTo>
                  <a:pt x="28363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0" name="tx-processor"/>
          <p:cNvSpPr/>
          <p:nvPr/>
        </p:nvSpPr>
        <p:spPr>
          <a:xfrm>
            <a:off x="11142133" y="5886349"/>
            <a:ext cx="270933" cy="1"/>
          </a:xfrm>
          <a:custGeom>
            <a:avLst/>
            <a:gdLst/>
            <a:ahLst/>
            <a:cxnLst/>
            <a:rect l="0" t="0" r="r" b="b"/>
            <a:pathLst>
              <a:path w="270933" h="1" fill="none">
                <a:moveTo>
                  <a:pt x="0" y="0"/>
                </a:moveTo>
                <a:lnTo>
                  <a:pt x="2709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1" name="image-sensor"/>
          <p:cNvSpPr/>
          <p:nvPr/>
        </p:nvSpPr>
        <p:spPr>
          <a:xfrm>
            <a:off x="11413067" y="13482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2" name="image-sensor-t0: 图像传感器"/>
          <p:cNvSpPr txBox="1"/>
          <p:nvPr/>
        </p:nvSpPr>
        <p:spPr>
          <a:xfrm>
            <a:off x="11446933" y="1379508"/>
            <a:ext cx="643467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图像传感器</a:t>
            </a:r>
          </a:p>
        </p:txBody>
      </p:sp>
      <p:sp>
        <p:nvSpPr>
          <p:cNvPr id="1553" name="image-sensor-t1: LVDS 输出"/>
          <p:cNvSpPr txBox="1"/>
          <p:nvPr/>
        </p:nvSpPr>
        <p:spPr>
          <a:xfrm>
            <a:off x="11446934" y="1521478"/>
            <a:ext cx="6434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输出</a:t>
            </a:r>
          </a:p>
        </p:txBody>
      </p:sp>
      <p:sp>
        <p:nvSpPr>
          <p:cNvPr id="1554" name="output-processor"/>
          <p:cNvSpPr/>
          <p:nvPr/>
        </p:nvSpPr>
        <p:spPr>
          <a:xfrm>
            <a:off x="11413067" y="5717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5" name="output-processor-t0: 后级处理"/>
          <p:cNvSpPr txBox="1"/>
          <p:nvPr/>
        </p:nvSpPr>
        <p:spPr>
          <a:xfrm>
            <a:off x="11446933" y="5748308"/>
            <a:ext cx="643467" cy="1842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后级处理</a:t>
            </a:r>
          </a:p>
        </p:txBody>
      </p:sp>
      <p:sp>
        <p:nvSpPr>
          <p:cNvPr id="1556" name="output-processor-t1: LVDS 接收"/>
          <p:cNvSpPr txBox="1"/>
          <p:nvPr/>
        </p:nvSpPr>
        <p:spPr>
          <a:xfrm>
            <a:off x="11446934" y="5890278"/>
            <a:ext cx="643467" cy="14088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Moderate&quot;,&quot;Name&quot;:&quot;适中&quot;,&quot;Kind&quot;:&quot;System&quot;,&quot;OldGuidesSetting&quot;:{&quot;HeaderHeight&quot;:13.0,&quot;FooterHeight&quot;:6.0,&quot;SideMargin&quot;:4.0,&quot;TopMargin&quot;:0.0,&quot;BottomMargin&quot;:0.0,&quot;IntervalMargin&quot;:1.5}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14663</TotalTime>
  <Words>3984</Words>
  <Application>Microsoft Office PowerPoint</Application>
  <PresentationFormat>宽屏</PresentationFormat>
  <Paragraphs>1573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等线</vt:lpstr>
      <vt:lpstr>等线 Light</vt:lpstr>
      <vt:lpstr>Microsoft YaHei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2314981968@qq.com</dc:creator>
  <cp:lastModifiedBy>文尧 赵</cp:lastModifiedBy>
  <cp:revision>5912</cp:revision>
  <dcterms:created xsi:type="dcterms:W3CDTF">2019-11-26T03:41:00Z</dcterms:created>
  <dcterms:modified xsi:type="dcterms:W3CDTF">2026-10-17T05:09:52Z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BC69EB345F4F457288BFAD1BFA019858</vt:lpwstr>
  </property>
  <property fmtid="{D5CDD505-2E9C-101B-9397-08002B2CF9AE}" pid="3" name="KSOProductBuildVer">
    <vt:lpwstr>2052-12.1.0.25225</vt:lpwstr>
  </property>
</Properties>
</file>