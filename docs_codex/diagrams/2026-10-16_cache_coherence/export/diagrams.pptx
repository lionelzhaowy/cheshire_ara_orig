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DDR–GB：数据存储互连与一致性协调"/>
          <p:cNvSpPr txBox="1"/>
          <p:nvPr/>
        </p:nvSpPr>
        <p:spPr>
          <a:xfrm>
            <a:off x="266700" y="80650"/>
            <a:ext cx="3412568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DDR–GB：数据存储互连与一致性协调</a:t>
            </a:r>
          </a:p>
        </p:txBody>
      </p:sp>
      <p:sp>
        <p:nvSpPr>
          <p:cNvPr id="3" name="text-003: 普通主存、GB 访问与 DDR 搬运分路；虚线表示新增或待扩展职责"/>
          <p:cNvSpPr txBox="1"/>
          <p:nvPr/>
        </p:nvSpPr>
        <p:spPr>
          <a:xfrm>
            <a:off x="266700" y="373807"/>
            <a:ext cx="385523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普通主存、GB 访问与 DDR 搬运分路；虚线表示新增或待扩展职责</a:t>
            </a:r>
          </a:p>
        </p:txBody>
      </p:sp>
      <p:sp>
        <p:nvSpPr>
          <p:cNvPr id="4" name="cpu-domain"/>
          <p:cNvSpPr/>
          <p:nvPr/>
        </p:nvSpPr>
        <p:spPr>
          <a:xfrm>
            <a:off x="266700" y="746760"/>
            <a:ext cx="9121140" cy="272034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CVA6–Ara 普通主存路径与 GB 分流"/>
          <p:cNvSpPr txBox="1"/>
          <p:nvPr/>
        </p:nvSpPr>
        <p:spPr>
          <a:xfrm>
            <a:off x="400050" y="766389"/>
            <a:ext cx="2550652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普通主存路径与 GB 分流</a:t>
            </a:r>
          </a:p>
        </p:txBody>
      </p:sp>
      <p:sp>
        <p:nvSpPr>
          <p:cNvPr id="6" name="gb-domain"/>
          <p:cNvSpPr/>
          <p:nvPr/>
        </p:nvSpPr>
        <p:spPr>
          <a:xfrm>
            <a:off x="266700" y="3733800"/>
            <a:ext cx="9121140" cy="184023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共享 GB：计算访问与显式搬运"/>
          <p:cNvSpPr txBox="1"/>
          <p:nvPr/>
        </p:nvSpPr>
        <p:spPr>
          <a:xfrm>
            <a:off x="400050" y="3753429"/>
            <a:ext cx="2255024" cy="2474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 GB：计算访问与显式搬运</a:t>
            </a:r>
          </a:p>
        </p:txBody>
      </p:sp>
      <p:sp>
        <p:nvSpPr>
          <p:cNvPr id="8" name="controller"/>
          <p:cNvSpPr/>
          <p:nvPr/>
        </p:nvSpPr>
        <p:spPr>
          <a:xfrm>
            <a:off x="11201400" y="746760"/>
            <a:ext cx="1386840" cy="490728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DDR 控制器"/>
          <p:cNvSpPr txBox="1"/>
          <p:nvPr/>
        </p:nvSpPr>
        <p:spPr>
          <a:xfrm>
            <a:off x="11429037" y="878830"/>
            <a:ext cx="93156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控制器</a:t>
            </a:r>
          </a:p>
        </p:txBody>
      </p:sp>
      <p:sp>
        <p:nvSpPr>
          <p:cNvPr id="10" name="text-010: 合流位置示意"/>
          <p:cNvSpPr txBox="1"/>
          <p:nvPr/>
        </p:nvSpPr>
        <p:spPr>
          <a:xfrm>
            <a:off x="11446764" y="1131235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合流位置示意</a:t>
            </a:r>
          </a:p>
        </p:txBody>
      </p:sp>
      <p:sp>
        <p:nvSpPr>
          <p:cNvPr id="11" name="cva6"/>
          <p:cNvSpPr/>
          <p:nvPr/>
        </p:nvSpPr>
        <p:spPr>
          <a:xfrm>
            <a:off x="373380" y="1120140"/>
            <a:ext cx="2133600" cy="1066800"/>
          </a:xfrm>
          <a:prstGeom prst="rect">
            <a:avLst/>
          </a:prstGeom>
          <a:solidFill>
            <a:srgbClr val="FFFFFF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CVA6"/>
          <p:cNvSpPr txBox="1"/>
          <p:nvPr/>
        </p:nvSpPr>
        <p:spPr>
          <a:xfrm>
            <a:off x="1190916" y="1161532"/>
            <a:ext cx="498529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13" name="l1d"/>
          <p:cNvSpPr/>
          <p:nvPr/>
        </p:nvSpPr>
        <p:spPr>
          <a:xfrm>
            <a:off x="480060" y="1493520"/>
            <a:ext cx="853440" cy="5334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L1D"/>
          <p:cNvSpPr txBox="1"/>
          <p:nvPr/>
        </p:nvSpPr>
        <p:spPr>
          <a:xfrm>
            <a:off x="708122" y="1567343"/>
            <a:ext cx="39731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</a:t>
            </a:r>
          </a:p>
        </p:txBody>
      </p:sp>
      <p:sp>
        <p:nvSpPr>
          <p:cNvPr id="15" name="text-015: WT / 读副本"/>
          <p:cNvSpPr txBox="1"/>
          <p:nvPr/>
        </p:nvSpPr>
        <p:spPr>
          <a:xfrm>
            <a:off x="494666" y="1771315"/>
            <a:ext cx="8242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WT / 读副本</a:t>
            </a:r>
          </a:p>
        </p:txBody>
      </p:sp>
      <p:sp>
        <p:nvSpPr>
          <p:cNvPr id="16" name="wbuffer"/>
          <p:cNvSpPr/>
          <p:nvPr/>
        </p:nvSpPr>
        <p:spPr>
          <a:xfrm>
            <a:off x="1493520" y="1493520"/>
            <a:ext cx="906780" cy="5334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写缓冲"/>
          <p:cNvSpPr txBox="1"/>
          <p:nvPr/>
        </p:nvSpPr>
        <p:spPr>
          <a:xfrm>
            <a:off x="1658874" y="1567343"/>
            <a:ext cx="5760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18" name="text-018: 在途标量写"/>
          <p:cNvSpPr txBox="1"/>
          <p:nvPr/>
        </p:nvSpPr>
        <p:spPr>
          <a:xfrm>
            <a:off x="1562862" y="1771315"/>
            <a:ext cx="76809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在途标量写</a:t>
            </a:r>
          </a:p>
        </p:txBody>
      </p:sp>
      <p:sp>
        <p:nvSpPr>
          <p:cNvPr id="19" name="ara"/>
          <p:cNvSpPr/>
          <p:nvPr/>
        </p:nvSpPr>
        <p:spPr>
          <a:xfrm>
            <a:off x="373380" y="2613660"/>
            <a:ext cx="1173480" cy="58674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Ara"/>
          <p:cNvSpPr txBox="1"/>
          <p:nvPr/>
        </p:nvSpPr>
        <p:spPr>
          <a:xfrm>
            <a:off x="786007" y="2714153"/>
            <a:ext cx="34822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</a:t>
            </a:r>
          </a:p>
        </p:txBody>
      </p:sp>
      <p:sp>
        <p:nvSpPr>
          <p:cNvPr id="21" name="text-021: 单一 AXI 出口"/>
          <p:cNvSpPr txBox="1"/>
          <p:nvPr/>
        </p:nvSpPr>
        <p:spPr>
          <a:xfrm>
            <a:off x="514752" y="2918125"/>
            <a:ext cx="89073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单一 AXI 出口</a:t>
            </a:r>
          </a:p>
        </p:txBody>
      </p:sp>
      <p:sp>
        <p:nvSpPr>
          <p:cNvPr id="22" name="filter"/>
          <p:cNvSpPr/>
          <p:nvPr/>
        </p:nvSpPr>
        <p:spPr>
          <a:xfrm>
            <a:off x="1866900" y="2613660"/>
            <a:ext cx="1226820" cy="586740"/>
          </a:xfrm>
          <a:prstGeom prst="rect">
            <a:avLst/>
          </a:prstGeom>
          <a:solidFill>
            <a:srgbClr val="FFFFFF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失效过滤"/>
          <p:cNvSpPr txBox="1"/>
          <p:nvPr/>
        </p:nvSpPr>
        <p:spPr>
          <a:xfrm>
            <a:off x="2120265" y="2714153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24" name="text-024: 现有 Ara 机制"/>
          <p:cNvSpPr txBox="1"/>
          <p:nvPr/>
        </p:nvSpPr>
        <p:spPr>
          <a:xfrm>
            <a:off x="2031129" y="2918125"/>
            <a:ext cx="89836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Ara 机制</a:t>
            </a:r>
          </a:p>
        </p:txBody>
      </p:sp>
      <p:sp>
        <p:nvSpPr>
          <p:cNvPr id="25" name="split"/>
          <p:cNvSpPr/>
          <p:nvPr/>
        </p:nvSpPr>
        <p:spPr>
          <a:xfrm>
            <a:off x="3467100" y="2613660"/>
            <a:ext cx="1333500" cy="586740"/>
          </a:xfrm>
          <a:prstGeom prst="rect">
            <a:avLst/>
          </a:prstGeom>
          <a:solidFill>
            <a:srgbClr val="FFFFFF"/>
          </a:solidFill>
          <a:ln w="9068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地址分流"/>
          <p:cNvSpPr txBox="1"/>
          <p:nvPr/>
        </p:nvSpPr>
        <p:spPr>
          <a:xfrm>
            <a:off x="3773805" y="2714153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27" name="text-027: 普通地址 / GB"/>
          <p:cNvSpPr txBox="1"/>
          <p:nvPr/>
        </p:nvSpPr>
        <p:spPr>
          <a:xfrm>
            <a:off x="3660353" y="2918125"/>
            <a:ext cx="94699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普通地址 / GB</a:t>
            </a:r>
          </a:p>
        </p:txBody>
      </p:sp>
      <p:sp>
        <p:nvSpPr>
          <p:cNvPr id="28" name="width"/>
          <p:cNvSpPr/>
          <p:nvPr/>
        </p:nvSpPr>
        <p:spPr>
          <a:xfrm>
            <a:off x="5547360" y="2560320"/>
            <a:ext cx="1600200" cy="640080"/>
          </a:xfrm>
          <a:prstGeom prst="rect">
            <a:avLst/>
          </a:prstGeom>
          <a:solidFill>
            <a:srgbClr val="FFFFFF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位宽适配"/>
          <p:cNvSpPr txBox="1"/>
          <p:nvPr/>
        </p:nvSpPr>
        <p:spPr>
          <a:xfrm>
            <a:off x="5987415" y="2687483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30" name="text-030: 普通地址 → 64-bit"/>
          <p:cNvSpPr txBox="1"/>
          <p:nvPr/>
        </p:nvSpPr>
        <p:spPr>
          <a:xfrm>
            <a:off x="5758824" y="2891455"/>
            <a:ext cx="117727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普通地址 → 64-bit</a:t>
            </a:r>
          </a:p>
        </p:txBody>
      </p:sp>
      <p:sp>
        <p:nvSpPr>
          <p:cNvPr id="31" name="xbar"/>
          <p:cNvSpPr/>
          <p:nvPr/>
        </p:nvSpPr>
        <p:spPr>
          <a:xfrm>
            <a:off x="5547360" y="1120140"/>
            <a:ext cx="1600200" cy="693420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主 AXI Xbar"/>
          <p:cNvSpPr txBox="1"/>
          <p:nvPr/>
        </p:nvSpPr>
        <p:spPr>
          <a:xfrm>
            <a:off x="5922999" y="1273973"/>
            <a:ext cx="84892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 AXI Xbar</a:t>
            </a:r>
          </a:p>
        </p:txBody>
      </p:sp>
      <p:sp>
        <p:nvSpPr>
          <p:cNvPr id="33" name="text-033: 系统 64-bit"/>
          <p:cNvSpPr txBox="1"/>
          <p:nvPr/>
        </p:nvSpPr>
        <p:spPr>
          <a:xfrm>
            <a:off x="5970038" y="1477945"/>
            <a:ext cx="7548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 64-bit</a:t>
            </a:r>
          </a:p>
        </p:txBody>
      </p:sp>
      <p:sp>
        <p:nvSpPr>
          <p:cNvPr id="34" name="atomics"/>
          <p:cNvSpPr/>
          <p:nvPr/>
        </p:nvSpPr>
        <p:spPr>
          <a:xfrm>
            <a:off x="7627620" y="1120140"/>
            <a:ext cx="1600200" cy="693420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原子适配"/>
          <p:cNvSpPr txBox="1"/>
          <p:nvPr/>
        </p:nvSpPr>
        <p:spPr>
          <a:xfrm>
            <a:off x="8067675" y="1273973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6" name="text-036: AMO / LRSC"/>
          <p:cNvSpPr txBox="1"/>
          <p:nvPr/>
        </p:nvSpPr>
        <p:spPr>
          <a:xfrm>
            <a:off x="8010730" y="1477945"/>
            <a:ext cx="83397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7" name="llc"/>
          <p:cNvSpPr/>
          <p:nvPr/>
        </p:nvSpPr>
        <p:spPr>
          <a:xfrm>
            <a:off x="7627620" y="2373630"/>
            <a:ext cx="16002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LLC / SPM"/>
          <p:cNvSpPr txBox="1"/>
          <p:nvPr/>
        </p:nvSpPr>
        <p:spPr>
          <a:xfrm>
            <a:off x="8014648" y="2490125"/>
            <a:ext cx="82614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9" name="text-039: WB 缓存 / 片上 SPM"/>
          <p:cNvSpPr txBox="1"/>
          <p:nvPr/>
        </p:nvSpPr>
        <p:spPr>
          <a:xfrm>
            <a:off x="7777701" y="2694097"/>
            <a:ext cx="1300037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缓存 / 片上 SPM</a:t>
            </a:r>
          </a:p>
        </p:txBody>
      </p:sp>
      <p:sp>
        <p:nvSpPr>
          <p:cNvPr id="40" name="text-040: 逐行协调接口待扩展"/>
          <p:cNvSpPr txBox="1"/>
          <p:nvPr/>
        </p:nvSpPr>
        <p:spPr>
          <a:xfrm>
            <a:off x="7787640" y="2880787"/>
            <a:ext cx="128016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逐行协调接口待扩展</a:t>
            </a:r>
          </a:p>
        </p:txBody>
      </p:sp>
      <p:sp>
        <p:nvSpPr>
          <p:cNvPr id="41" name="npu"/>
          <p:cNvSpPr/>
          <p:nvPr/>
        </p:nvSpPr>
        <p:spPr>
          <a:xfrm>
            <a:off x="373380" y="4053840"/>
            <a:ext cx="1440180" cy="58674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NPU 计算"/>
          <p:cNvSpPr txBox="1"/>
          <p:nvPr/>
        </p:nvSpPr>
        <p:spPr>
          <a:xfrm>
            <a:off x="722032" y="4154333"/>
            <a:ext cx="74287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43" name="text-043: GB 数据读写"/>
          <p:cNvSpPr txBox="1"/>
          <p:nvPr/>
        </p:nvSpPr>
        <p:spPr>
          <a:xfrm>
            <a:off x="672417" y="4358305"/>
            <a:ext cx="84210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44" name="isp"/>
          <p:cNvSpPr/>
          <p:nvPr/>
        </p:nvSpPr>
        <p:spPr>
          <a:xfrm>
            <a:off x="373380" y="4800600"/>
            <a:ext cx="1440180" cy="586740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ISP / 帧写入器"/>
          <p:cNvSpPr txBox="1"/>
          <p:nvPr/>
        </p:nvSpPr>
        <p:spPr>
          <a:xfrm>
            <a:off x="549248" y="4901093"/>
            <a:ext cx="108844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帧写入器</a:t>
            </a:r>
          </a:p>
        </p:txBody>
      </p:sp>
      <p:sp>
        <p:nvSpPr>
          <p:cNvPr id="46" name="text-046: GB 工作区 / DDR 帧"/>
          <p:cNvSpPr txBox="1"/>
          <p:nvPr/>
        </p:nvSpPr>
        <p:spPr>
          <a:xfrm>
            <a:off x="457578" y="5105065"/>
            <a:ext cx="127178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工作区 / DDR 帧</a:t>
            </a:r>
          </a:p>
        </p:txBody>
      </p:sp>
      <p:sp>
        <p:nvSpPr>
          <p:cNvPr id="47" name="proxy"/>
          <p:cNvSpPr/>
          <p:nvPr/>
        </p:nvSpPr>
        <p:spPr>
          <a:xfrm>
            <a:off x="3360420" y="4107180"/>
            <a:ext cx="1600200" cy="1013460"/>
          </a:xfrm>
          <a:prstGeom prst="rect">
            <a:avLst/>
          </a:prstGeom>
          <a:solidFill>
            <a:srgbClr val="FFFFFF"/>
          </a:solidFill>
          <a:ln w="9068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共享数据代理"/>
          <p:cNvSpPr txBox="1"/>
          <p:nvPr/>
        </p:nvSpPr>
        <p:spPr>
          <a:xfrm>
            <a:off x="3656457" y="4330355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共享数据代理</a:t>
            </a:r>
          </a:p>
        </p:txBody>
      </p:sp>
      <p:sp>
        <p:nvSpPr>
          <p:cNvPr id="49" name="text-049: Ara / NPU / ISP / 搬运器"/>
          <p:cNvSpPr txBox="1"/>
          <p:nvPr/>
        </p:nvSpPr>
        <p:spPr>
          <a:xfrm>
            <a:off x="3387798" y="4534327"/>
            <a:ext cx="154544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/ NPU / ISP / 搬运器</a:t>
            </a:r>
          </a:p>
        </p:txBody>
      </p:sp>
      <p:sp>
        <p:nvSpPr>
          <p:cNvPr id="50" name="text-050: GB 适配 / 仲裁 / bank"/>
          <p:cNvSpPr txBox="1"/>
          <p:nvPr/>
        </p:nvSpPr>
        <p:spPr>
          <a:xfrm>
            <a:off x="3460683" y="4721017"/>
            <a:ext cx="139967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适配 / 仲裁 / bank</a:t>
            </a:r>
          </a:p>
        </p:txBody>
      </p:sp>
      <p:sp>
        <p:nvSpPr>
          <p:cNvPr id="51" name="gb"/>
          <p:cNvSpPr/>
          <p:nvPr/>
        </p:nvSpPr>
        <p:spPr>
          <a:xfrm>
            <a:off x="5654040" y="4160520"/>
            <a:ext cx="1600200" cy="8001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Global Buffer"/>
          <p:cNvSpPr txBox="1"/>
          <p:nvPr/>
        </p:nvSpPr>
        <p:spPr>
          <a:xfrm>
            <a:off x="5973772" y="4277015"/>
            <a:ext cx="96073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53" name="text-053: 独立 SRAM"/>
          <p:cNvSpPr txBox="1"/>
          <p:nvPr/>
        </p:nvSpPr>
        <p:spPr>
          <a:xfrm>
            <a:off x="6075405" y="4480987"/>
            <a:ext cx="75747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</a:t>
            </a:r>
          </a:p>
        </p:txBody>
      </p:sp>
      <p:sp>
        <p:nvSpPr>
          <p:cNvPr id="54" name="text-054: 工作区 / 双缓冲"/>
          <p:cNvSpPr txBox="1"/>
          <p:nvPr/>
        </p:nvSpPr>
        <p:spPr>
          <a:xfrm>
            <a:off x="5934450" y="4667677"/>
            <a:ext cx="10393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 / 双缓冲</a:t>
            </a:r>
          </a:p>
        </p:txBody>
      </p:sp>
      <p:sp>
        <p:nvSpPr>
          <p:cNvPr id="55" name="mover"/>
          <p:cNvSpPr/>
          <p:nvPr/>
        </p:nvSpPr>
        <p:spPr>
          <a:xfrm>
            <a:off x="7734300" y="4160520"/>
            <a:ext cx="1600200" cy="8001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DDR–GB 搬运器"/>
          <p:cNvSpPr txBox="1"/>
          <p:nvPr/>
        </p:nvSpPr>
        <p:spPr>
          <a:xfrm>
            <a:off x="7953186" y="4277015"/>
            <a:ext cx="116242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DDR–GB 搬运器</a:t>
            </a:r>
          </a:p>
        </p:txBody>
      </p:sp>
      <p:sp>
        <p:nvSpPr>
          <p:cNvPr id="57" name="text-057: 显式搬入 / 写回"/>
          <p:cNvSpPr txBox="1"/>
          <p:nvPr/>
        </p:nvSpPr>
        <p:spPr>
          <a:xfrm>
            <a:off x="8014710" y="4480987"/>
            <a:ext cx="10393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显式搬入 / 写回</a:t>
            </a:r>
          </a:p>
        </p:txBody>
      </p:sp>
      <p:sp>
        <p:nvSpPr>
          <p:cNvPr id="58" name="text-058: 独立于计算访问"/>
          <p:cNvSpPr txBox="1"/>
          <p:nvPr/>
        </p:nvSpPr>
        <p:spPr>
          <a:xfrm>
            <a:off x="8022336" y="466767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独立于计算访问</a:t>
            </a:r>
          </a:p>
        </p:txBody>
      </p:sp>
      <p:sp>
        <p:nvSpPr>
          <p:cNvPr id="59" name="entry"/>
          <p:cNvSpPr/>
          <p:nvPr/>
        </p:nvSpPr>
        <p:spPr>
          <a:xfrm>
            <a:off x="9707880" y="4133850"/>
            <a:ext cx="1280160" cy="96012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设备一致性入口"/>
          <p:cNvSpPr txBox="1"/>
          <p:nvPr/>
        </p:nvSpPr>
        <p:spPr>
          <a:xfrm>
            <a:off x="9771888" y="4330355"/>
            <a:ext cx="115214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设备一致性入口</a:t>
            </a:r>
          </a:p>
        </p:txBody>
      </p:sp>
      <p:sp>
        <p:nvSpPr>
          <p:cNvPr id="61" name="text-061: 请求准入 / 完成"/>
          <p:cNvSpPr txBox="1"/>
          <p:nvPr/>
        </p:nvSpPr>
        <p:spPr>
          <a:xfrm>
            <a:off x="9828270" y="4534327"/>
            <a:ext cx="10393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请求准入 / 完成</a:t>
            </a:r>
          </a:p>
        </p:txBody>
      </p:sp>
      <p:sp>
        <p:nvSpPr>
          <p:cNvPr id="62" name="text-062: 不分配 LLC 行"/>
          <p:cNvSpPr txBox="1"/>
          <p:nvPr/>
        </p:nvSpPr>
        <p:spPr>
          <a:xfrm>
            <a:off x="9885902" y="4721017"/>
            <a:ext cx="92411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不分配 LLC 行</a:t>
            </a:r>
          </a:p>
        </p:txBody>
      </p:sp>
      <p:sp>
        <p:nvSpPr>
          <p:cNvPr id="63" name="arb"/>
          <p:cNvSpPr/>
          <p:nvPr/>
        </p:nvSpPr>
        <p:spPr>
          <a:xfrm>
            <a:off x="11361420" y="2133600"/>
            <a:ext cx="1066800" cy="3093720"/>
          </a:xfrm>
          <a:prstGeom prst="rect">
            <a:avLst/>
          </a:prstGeom>
          <a:solidFill>
            <a:srgbClr val="FFFFFF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合流 / 仲裁"/>
          <p:cNvSpPr txBox="1"/>
          <p:nvPr/>
        </p:nvSpPr>
        <p:spPr>
          <a:xfrm>
            <a:off x="11454182" y="3306227"/>
            <a:ext cx="88127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合流 / 仲裁</a:t>
            </a:r>
          </a:p>
        </p:txBody>
      </p:sp>
      <p:sp>
        <p:nvSpPr>
          <p:cNvPr id="65" name="text-065: 读写调度"/>
          <p:cNvSpPr txBox="1"/>
          <p:nvPr/>
        </p:nvSpPr>
        <p:spPr>
          <a:xfrm>
            <a:off x="11574780" y="3510199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66" name="text-066: 在途跟踪"/>
          <p:cNvSpPr txBox="1"/>
          <p:nvPr/>
        </p:nvSpPr>
        <p:spPr>
          <a:xfrm>
            <a:off x="11574780" y="3696889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在途跟踪</a:t>
            </a:r>
          </a:p>
        </p:txBody>
      </p:sp>
      <p:sp>
        <p:nvSpPr>
          <p:cNvPr id="67" name="text-067: 共享 DDR 带宽"/>
          <p:cNvSpPr txBox="1"/>
          <p:nvPr/>
        </p:nvSpPr>
        <p:spPr>
          <a:xfrm>
            <a:off x="11412385" y="3883579"/>
            <a:ext cx="96487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sp>
        <p:nvSpPr>
          <p:cNvPr id="68" name="ddr"/>
          <p:cNvSpPr/>
          <p:nvPr/>
        </p:nvSpPr>
        <p:spPr>
          <a:xfrm>
            <a:off x="11254740" y="6134100"/>
            <a:ext cx="1333500" cy="74676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PHY / DDR"/>
          <p:cNvSpPr txBox="1"/>
          <p:nvPr/>
        </p:nvSpPr>
        <p:spPr>
          <a:xfrm>
            <a:off x="11501312" y="6314603"/>
            <a:ext cx="84035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 / DDR</a:t>
            </a:r>
          </a:p>
        </p:txBody>
      </p:sp>
      <p:sp>
        <p:nvSpPr>
          <p:cNvPr id="70" name="text-070: 外部主存"/>
          <p:cNvSpPr txBox="1"/>
          <p:nvPr/>
        </p:nvSpPr>
        <p:spPr>
          <a:xfrm>
            <a:off x="11601450" y="6518575"/>
            <a:ext cx="64008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外部主存</a:t>
            </a:r>
          </a:p>
        </p:txBody>
      </p:sp>
      <p:sp>
        <p:nvSpPr>
          <p:cNvPr id="71" name="coord"/>
          <p:cNvSpPr/>
          <p:nvPr/>
        </p:nvSpPr>
        <p:spPr>
          <a:xfrm>
            <a:off x="3200400" y="6080760"/>
            <a:ext cx="6134100" cy="80010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一致性协调（候选职责）"/>
          <p:cNvSpPr txBox="1"/>
          <p:nvPr/>
        </p:nvSpPr>
        <p:spPr>
          <a:xfrm>
            <a:off x="5403342" y="6197255"/>
            <a:ext cx="172821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一致性协调（候选职责）</a:t>
            </a:r>
          </a:p>
        </p:txBody>
      </p:sp>
      <p:sp>
        <p:nvSpPr>
          <p:cNvPr id="73" name="text-073: 逐行排序 / 副本与写权限 / 冲突访问"/>
          <p:cNvSpPr txBox="1"/>
          <p:nvPr/>
        </p:nvSpPr>
        <p:spPr>
          <a:xfrm>
            <a:off x="5164062" y="6401227"/>
            <a:ext cx="220677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逐行排序 / 副本与写权限 / 冲突访问</a:t>
            </a:r>
          </a:p>
        </p:txBody>
      </p:sp>
      <p:sp>
        <p:nvSpPr>
          <p:cNvPr id="74" name="text-074: 汇合探测响应、失效确认、在途状态与完成事件"/>
          <p:cNvSpPr txBox="1"/>
          <p:nvPr/>
        </p:nvSpPr>
        <p:spPr>
          <a:xfrm>
            <a:off x="4859274" y="6587917"/>
            <a:ext cx="281635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汇合探测响应、失效确认、在途状态与完成事件</a:t>
            </a:r>
          </a:p>
        </p:txBody>
      </p:sp>
      <p:sp>
        <p:nvSpPr>
          <p:cNvPr id="75" name="cpu-xbar"/>
          <p:cNvSpPr/>
          <p:nvPr/>
        </p:nvSpPr>
        <p:spPr>
          <a:xfrm>
            <a:off x="2506980" y="1466850"/>
            <a:ext cx="3040380" cy="1"/>
          </a:xfrm>
          <a:custGeom>
            <a:avLst/>
            <a:gdLst/>
            <a:ahLst/>
            <a:cxnLst/>
            <a:rect l="0" t="0" r="r" b="b"/>
            <a:pathLst>
              <a:path w="3040380" h="1" fill="none">
                <a:moveTo>
                  <a:pt x="0" y="0"/>
                </a:moveTo>
                <a:lnTo>
                  <a:pt x="3040380" y="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标量内存访问"/>
          <p:cNvSpPr txBox="1"/>
          <p:nvPr/>
        </p:nvSpPr>
        <p:spPr>
          <a:xfrm>
            <a:off x="3733800" y="1237915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标量内存访问</a:t>
            </a:r>
          </a:p>
        </p:txBody>
      </p:sp>
      <p:sp>
        <p:nvSpPr>
          <p:cNvPr id="77" name="cpu-ara-order"/>
          <p:cNvSpPr/>
          <p:nvPr/>
        </p:nvSpPr>
        <p:spPr>
          <a:xfrm>
            <a:off x="906780" y="2186940"/>
            <a:ext cx="1" cy="426720"/>
          </a:xfrm>
          <a:custGeom>
            <a:avLst/>
            <a:gdLst/>
            <a:ahLst/>
            <a:cxnLst/>
            <a:rect l="0" t="0" r="r" b="b"/>
            <a:pathLst>
              <a:path w="1" h="426720" fill="none">
                <a:moveTo>
                  <a:pt x="0" y="0"/>
                </a:moveTo>
                <a:lnTo>
                  <a:pt x="0" y="42672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pending / barrier"/>
          <p:cNvSpPr txBox="1"/>
          <p:nvPr/>
        </p:nvSpPr>
        <p:spPr>
          <a:xfrm>
            <a:off x="1040130" y="2294473"/>
            <a:ext cx="102663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pending / barrier</a:t>
            </a:r>
          </a:p>
        </p:txBody>
      </p:sp>
      <p:sp>
        <p:nvSpPr>
          <p:cNvPr id="79" name="ara-invalidate"/>
          <p:cNvSpPr/>
          <p:nvPr/>
        </p:nvSpPr>
        <p:spPr>
          <a:xfrm>
            <a:off x="2080260" y="2186940"/>
            <a:ext cx="400050" cy="426720"/>
          </a:xfrm>
          <a:custGeom>
            <a:avLst/>
            <a:gdLst/>
            <a:ahLst/>
            <a:cxnLst/>
            <a:rect l="0" t="0" r="r" b="b"/>
            <a:pathLst>
              <a:path w="400050" h="426720" fill="none">
                <a:moveTo>
                  <a:pt x="400050" y="426720"/>
                </a:moveTo>
                <a:lnTo>
                  <a:pt x="400050" y="213360"/>
                </a:lnTo>
                <a:lnTo>
                  <a:pt x="0" y="213360"/>
                </a:ln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写失效"/>
          <p:cNvSpPr txBox="1"/>
          <p:nvPr/>
        </p:nvSpPr>
        <p:spPr>
          <a:xfrm>
            <a:off x="2186940" y="2187793"/>
            <a:ext cx="490728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写失效</a:t>
            </a:r>
          </a:p>
        </p:txBody>
      </p:sp>
      <p:sp>
        <p:nvSpPr>
          <p:cNvPr id="81" name="ara-filter"/>
          <p:cNvSpPr/>
          <p:nvPr/>
        </p:nvSpPr>
        <p:spPr>
          <a:xfrm>
            <a:off x="1546860" y="2907030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filter-split"/>
          <p:cNvSpPr/>
          <p:nvPr/>
        </p:nvSpPr>
        <p:spPr>
          <a:xfrm>
            <a:off x="3093720" y="2907030"/>
            <a:ext cx="373380" cy="1"/>
          </a:xfrm>
          <a:custGeom>
            <a:avLst/>
            <a:gdLst/>
            <a:ahLst/>
            <a:cxnLst/>
            <a:rect l="0" t="0" r="r" b="b"/>
            <a:pathLst>
              <a:path w="373380" h="1" fill="none">
                <a:moveTo>
                  <a:pt x="0" y="0"/>
                </a:moveTo>
                <a:lnTo>
                  <a:pt x="373380" y="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split-width"/>
          <p:cNvSpPr/>
          <p:nvPr/>
        </p:nvSpPr>
        <p:spPr>
          <a:xfrm>
            <a:off x="4800600" y="2907030"/>
            <a:ext cx="746760" cy="1"/>
          </a:xfrm>
          <a:custGeom>
            <a:avLst/>
            <a:gdLst/>
            <a:ahLst/>
            <a:cxnLst/>
            <a:rect l="0" t="0" r="r" b="b"/>
            <a:pathLst>
              <a:path w="746760" h="1" fill="none">
                <a:moveTo>
                  <a:pt x="0" y="0"/>
                </a:moveTo>
                <a:lnTo>
                  <a:pt x="746760" y="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width-xbar"/>
          <p:cNvSpPr/>
          <p:nvPr/>
        </p:nvSpPr>
        <p:spPr>
          <a:xfrm>
            <a:off x="6240780" y="181356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74676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xbar-atomics"/>
          <p:cNvSpPr/>
          <p:nvPr/>
        </p:nvSpPr>
        <p:spPr>
          <a:xfrm>
            <a:off x="7147560" y="1466850"/>
            <a:ext cx="480060" cy="1"/>
          </a:xfrm>
          <a:custGeom>
            <a:avLst/>
            <a:gdLst/>
            <a:ahLst/>
            <a:cxnLst/>
            <a:rect l="0" t="0" r="r" b="b"/>
            <a:pathLst>
              <a:path w="480060" h="1" fill="none">
                <a:moveTo>
                  <a:pt x="0" y="0"/>
                </a:moveTo>
                <a:lnTo>
                  <a:pt x="480060" y="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atomics-llc"/>
          <p:cNvSpPr/>
          <p:nvPr/>
        </p:nvSpPr>
        <p:spPr>
          <a:xfrm>
            <a:off x="8427720" y="1813560"/>
            <a:ext cx="1" cy="560070"/>
          </a:xfrm>
          <a:custGeom>
            <a:avLst/>
            <a:gdLst/>
            <a:ahLst/>
            <a:cxnLst/>
            <a:rect l="0" t="0" r="r" b="b"/>
            <a:pathLst>
              <a:path w="1" h="560070" fill="none">
                <a:moveTo>
                  <a:pt x="0" y="0"/>
                </a:moveTo>
                <a:lnTo>
                  <a:pt x="0" y="56007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llc-ddr"/>
          <p:cNvSpPr/>
          <p:nvPr/>
        </p:nvSpPr>
        <p:spPr>
          <a:xfrm>
            <a:off x="9227820" y="2773680"/>
            <a:ext cx="2133600" cy="1"/>
          </a:xfrm>
          <a:custGeom>
            <a:avLst/>
            <a:gdLst/>
            <a:ahLst/>
            <a:cxnLst/>
            <a:rect l="0" t="0" r="r" b="b"/>
            <a:pathLst>
              <a:path w="2133600" h="1" fill="none">
                <a:moveTo>
                  <a:pt x="0" y="0"/>
                </a:moveTo>
                <a:lnTo>
                  <a:pt x="2133600" y="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-088: 回填 / 写回 / 透传"/>
          <p:cNvSpPr txBox="1"/>
          <p:nvPr/>
        </p:nvSpPr>
        <p:spPr>
          <a:xfrm>
            <a:off x="9627870" y="2512741"/>
            <a:ext cx="118264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回填 / 写回 / 透传</a:t>
            </a:r>
          </a:p>
        </p:txBody>
      </p:sp>
      <p:sp>
        <p:nvSpPr>
          <p:cNvPr id="89" name="ara-proxy"/>
          <p:cNvSpPr/>
          <p:nvPr/>
        </p:nvSpPr>
        <p:spPr>
          <a:xfrm>
            <a:off x="4133850" y="3200400"/>
            <a:ext cx="1" cy="906780"/>
          </a:xfrm>
          <a:custGeom>
            <a:avLst/>
            <a:gdLst/>
            <a:ahLst/>
            <a:cxnLst/>
            <a:rect l="0" t="0" r="r" b="b"/>
            <a:pathLst>
              <a:path w="1" h="906780" fill="none">
                <a:moveTo>
                  <a:pt x="0" y="0"/>
                </a:moveTo>
                <a:lnTo>
                  <a:pt x="0" y="906780"/>
                </a:lnTo>
              </a:path>
            </a:pathLst>
          </a:custGeom>
          <a:noFill/>
          <a:ln w="14935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90: GB 地址分支"/>
          <p:cNvSpPr txBox="1"/>
          <p:nvPr/>
        </p:nvSpPr>
        <p:spPr>
          <a:xfrm>
            <a:off x="4240530" y="3515533"/>
            <a:ext cx="84210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地址分支</a:t>
            </a:r>
          </a:p>
        </p:txBody>
      </p:sp>
      <p:sp>
        <p:nvSpPr>
          <p:cNvPr id="91" name="npu-proxy"/>
          <p:cNvSpPr/>
          <p:nvPr/>
        </p:nvSpPr>
        <p:spPr>
          <a:xfrm>
            <a:off x="1813560" y="4347210"/>
            <a:ext cx="1546860" cy="1"/>
          </a:xfrm>
          <a:custGeom>
            <a:avLst/>
            <a:gdLst/>
            <a:ahLst/>
            <a:cxnLst/>
            <a:rect l="0" t="0" r="r" b="b"/>
            <a:pathLst>
              <a:path w="1546860" h="1" fill="none">
                <a:moveTo>
                  <a:pt x="0" y="0"/>
                </a:moveTo>
                <a:lnTo>
                  <a:pt x="1546860" y="0"/>
                </a:lnTo>
              </a:path>
            </a:pathLst>
          </a:custGeom>
          <a:noFill/>
          <a:ln w="14935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isp-proxy"/>
          <p:cNvSpPr/>
          <p:nvPr/>
        </p:nvSpPr>
        <p:spPr>
          <a:xfrm>
            <a:off x="1813560" y="4853940"/>
            <a:ext cx="1546860" cy="213360"/>
          </a:xfrm>
          <a:custGeom>
            <a:avLst/>
            <a:gdLst/>
            <a:ahLst/>
            <a:cxnLst/>
            <a:rect l="0" t="0" r="r" b="b"/>
            <a:pathLst>
              <a:path w="1546860" h="213360" fill="none">
                <a:moveTo>
                  <a:pt x="0" y="213360"/>
                </a:moveTo>
                <a:lnTo>
                  <a:pt x="853440" y="213360"/>
                </a:lnTo>
                <a:lnTo>
                  <a:pt x="853440" y="0"/>
                </a:lnTo>
                <a:lnTo>
                  <a:pt x="1546860" y="0"/>
                </a:lnTo>
              </a:path>
            </a:pathLst>
          </a:custGeom>
          <a:noFill/>
          <a:ln w="14935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proxy-gb"/>
          <p:cNvSpPr/>
          <p:nvPr/>
        </p:nvSpPr>
        <p:spPr>
          <a:xfrm>
            <a:off x="4960620" y="4560570"/>
            <a:ext cx="693420" cy="1"/>
          </a:xfrm>
          <a:custGeom>
            <a:avLst/>
            <a:gdLst/>
            <a:ahLst/>
            <a:cxnLst/>
            <a:rect l="0" t="0" r="r" b="b"/>
            <a:pathLst>
              <a:path w="693420" h="1" fill="none">
                <a:moveTo>
                  <a:pt x="0" y="0"/>
                </a:moveTo>
                <a:lnTo>
                  <a:pt x="693420" y="0"/>
                </a:lnTo>
              </a:path>
            </a:pathLst>
          </a:custGeom>
          <a:noFill/>
          <a:ln w="14935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mover-proxy"/>
          <p:cNvSpPr/>
          <p:nvPr/>
        </p:nvSpPr>
        <p:spPr>
          <a:xfrm>
            <a:off x="4373880" y="4960620"/>
            <a:ext cx="4160520" cy="320040"/>
          </a:xfrm>
          <a:custGeom>
            <a:avLst/>
            <a:gdLst/>
            <a:ahLst/>
            <a:cxnLst/>
            <a:rect l="0" t="0" r="r" b="b"/>
            <a:pathLst>
              <a:path w="4160520" h="320040" fill="none">
                <a:moveTo>
                  <a:pt x="4160520" y="0"/>
                </a:moveTo>
                <a:lnTo>
                  <a:pt x="4160520" y="320040"/>
                </a:lnTo>
                <a:lnTo>
                  <a:pt x="0" y="320040"/>
                </a:lnTo>
                <a:lnTo>
                  <a:pt x="0" y="160020"/>
                </a:lnTo>
              </a:path>
            </a:pathLst>
          </a:custGeom>
          <a:noFill/>
          <a:ln w="14935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-095: 搬运器的 GB 端"/>
          <p:cNvSpPr txBox="1"/>
          <p:nvPr/>
        </p:nvSpPr>
        <p:spPr>
          <a:xfrm>
            <a:off x="5707380" y="5068153"/>
            <a:ext cx="96647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搬运器的 GB 端</a:t>
            </a:r>
          </a:p>
        </p:txBody>
      </p:sp>
      <p:sp>
        <p:nvSpPr>
          <p:cNvPr id="96" name="mover-entry"/>
          <p:cNvSpPr/>
          <p:nvPr/>
        </p:nvSpPr>
        <p:spPr>
          <a:xfrm>
            <a:off x="9334500" y="4560570"/>
            <a:ext cx="373380" cy="1"/>
          </a:xfrm>
          <a:custGeom>
            <a:avLst/>
            <a:gdLst/>
            <a:ahLst/>
            <a:cxnLst/>
            <a:rect l="0" t="0" r="r" b="b"/>
            <a:pathLst>
              <a:path w="373380" h="1" fill="none">
                <a:moveTo>
                  <a:pt x="0" y="0"/>
                </a:moveTo>
                <a:lnTo>
                  <a:pt x="373380" y="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frame-entry"/>
          <p:cNvSpPr/>
          <p:nvPr/>
        </p:nvSpPr>
        <p:spPr>
          <a:xfrm>
            <a:off x="1093470" y="5093970"/>
            <a:ext cx="8934450" cy="400050"/>
          </a:xfrm>
          <a:custGeom>
            <a:avLst/>
            <a:gdLst/>
            <a:ahLst/>
            <a:cxnLst/>
            <a:rect l="0" t="0" r="r" b="b"/>
            <a:pathLst>
              <a:path w="8934450" h="400050" fill="none">
                <a:moveTo>
                  <a:pt x="0" y="293370"/>
                </a:moveTo>
                <a:lnTo>
                  <a:pt x="0" y="400050"/>
                </a:lnTo>
                <a:lnTo>
                  <a:pt x="8934450" y="400050"/>
                </a:lnTo>
                <a:lnTo>
                  <a:pt x="8934450" y="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-098: 图像帧写入：独立设备事务"/>
          <p:cNvSpPr txBox="1"/>
          <p:nvPr/>
        </p:nvSpPr>
        <p:spPr>
          <a:xfrm>
            <a:off x="5173980" y="5510875"/>
            <a:ext cx="159486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图像帧写入：独立设备事务</a:t>
            </a:r>
          </a:p>
        </p:txBody>
      </p:sp>
      <p:sp>
        <p:nvSpPr>
          <p:cNvPr id="99" name="entry-ddr"/>
          <p:cNvSpPr/>
          <p:nvPr/>
        </p:nvSpPr>
        <p:spPr>
          <a:xfrm>
            <a:off x="10988040" y="4560570"/>
            <a:ext cx="373380" cy="1"/>
          </a:xfrm>
          <a:custGeom>
            <a:avLst/>
            <a:gdLst/>
            <a:ahLst/>
            <a:cxnLst/>
            <a:rect l="0" t="0" r="r" b="b"/>
            <a:pathLst>
              <a:path w="373380" h="1" fill="none">
                <a:moveTo>
                  <a:pt x="0" y="0"/>
                </a:moveTo>
                <a:lnTo>
                  <a:pt x="373380" y="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ontroller-ddr"/>
          <p:cNvSpPr/>
          <p:nvPr/>
        </p:nvSpPr>
        <p:spPr>
          <a:xfrm>
            <a:off x="11894820" y="5227320"/>
            <a:ext cx="1" cy="906780"/>
          </a:xfrm>
          <a:custGeom>
            <a:avLst/>
            <a:gdLst/>
            <a:ahLst/>
            <a:cxnLst/>
            <a:rect l="0" t="0" r="r" b="b"/>
            <a:pathLst>
              <a:path w="1" h="906780" fill="none">
                <a:moveTo>
                  <a:pt x="0" y="0"/>
                </a:moveTo>
                <a:lnTo>
                  <a:pt x="0" y="90678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cache-supply"/>
          <p:cNvSpPr/>
          <p:nvPr/>
        </p:nvSpPr>
        <p:spPr>
          <a:xfrm>
            <a:off x="8961120" y="3173730"/>
            <a:ext cx="1386840" cy="960120"/>
          </a:xfrm>
          <a:custGeom>
            <a:avLst/>
            <a:gdLst/>
            <a:ahLst/>
            <a:cxnLst/>
            <a:rect l="0" t="0" r="r" b="b"/>
            <a:pathLst>
              <a:path w="1386840" h="960120" fill="none">
                <a:moveTo>
                  <a:pt x="0" y="0"/>
                </a:moveTo>
                <a:lnTo>
                  <a:pt x="0" y="400050"/>
                </a:lnTo>
                <a:lnTo>
                  <a:pt x="1386840" y="400050"/>
                </a:lnTo>
                <a:lnTo>
                  <a:pt x="1386840" y="960120"/>
                </a:lnTo>
              </a:path>
            </a:pathLst>
          </a:custGeom>
          <a:noFill/>
          <a:ln w="14935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-102: 缓存直接供数（候选）"/>
          <p:cNvSpPr txBox="1"/>
          <p:nvPr/>
        </p:nvSpPr>
        <p:spPr>
          <a:xfrm>
            <a:off x="9654540" y="3334603"/>
            <a:ext cx="13495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缓存直接供数（候选）</a:t>
            </a:r>
          </a:p>
        </p:txBody>
      </p:sp>
      <p:sp>
        <p:nvSpPr>
          <p:cNvPr id="103" name="probe-cpu"/>
          <p:cNvSpPr/>
          <p:nvPr/>
        </p:nvSpPr>
        <p:spPr>
          <a:xfrm>
            <a:off x="133350" y="1973580"/>
            <a:ext cx="3333750" cy="4107180"/>
          </a:xfrm>
          <a:custGeom>
            <a:avLst/>
            <a:gdLst/>
            <a:ahLst/>
            <a:cxnLst/>
            <a:rect l="0" t="0" r="r" b="b"/>
            <a:pathLst>
              <a:path w="3333750" h="4107180" fill="none">
                <a:moveTo>
                  <a:pt x="3333750" y="4107180"/>
                </a:moveTo>
                <a:lnTo>
                  <a:pt x="3333750" y="3787140"/>
                </a:lnTo>
                <a:lnTo>
                  <a:pt x="0" y="3787140"/>
                </a:lnTo>
                <a:lnTo>
                  <a:pt x="0" y="0"/>
                </a:lnTo>
                <a:lnTo>
                  <a:pt x="240030" y="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-104: L1D / 写缓冲探测与排空"/>
          <p:cNvSpPr txBox="1"/>
          <p:nvPr/>
        </p:nvSpPr>
        <p:spPr>
          <a:xfrm>
            <a:off x="400050" y="5542879"/>
            <a:ext cx="1457207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L1D / 写缓冲探测与排空</a:t>
            </a:r>
          </a:p>
        </p:txBody>
      </p:sp>
      <p:sp>
        <p:nvSpPr>
          <p:cNvPr id="105" name="probe-atomics"/>
          <p:cNvSpPr/>
          <p:nvPr/>
        </p:nvSpPr>
        <p:spPr>
          <a:xfrm>
            <a:off x="3253740" y="1813560"/>
            <a:ext cx="4800600" cy="4267200"/>
          </a:xfrm>
          <a:custGeom>
            <a:avLst/>
            <a:gdLst/>
            <a:ahLst/>
            <a:cxnLst/>
            <a:rect l="0" t="0" r="r" b="b"/>
            <a:pathLst>
              <a:path w="4800600" h="4267200" fill="none">
                <a:moveTo>
                  <a:pt x="746760" y="4267200"/>
                </a:moveTo>
                <a:lnTo>
                  <a:pt x="746760" y="4053840"/>
                </a:lnTo>
                <a:lnTo>
                  <a:pt x="256032" y="4053840"/>
                </a:lnTo>
                <a:cubicBezTo>
                  <a:pt x="227584" y="4007612"/>
                  <a:pt x="199136" y="4007612"/>
                  <a:pt x="170688" y="4053840"/>
                </a:cubicBezTo>
                <a:lnTo>
                  <a:pt x="0" y="4053840"/>
                </a:lnTo>
                <a:lnTo>
                  <a:pt x="0" y="3989832"/>
                </a:lnTo>
                <a:cubicBezTo>
                  <a:pt x="46228" y="3961384"/>
                  <a:pt x="46228" y="3932936"/>
                  <a:pt x="0" y="3904488"/>
                </a:cubicBezTo>
                <a:lnTo>
                  <a:pt x="0" y="3723132"/>
                </a:lnTo>
                <a:cubicBezTo>
                  <a:pt x="46228" y="3694684"/>
                  <a:pt x="46228" y="3666236"/>
                  <a:pt x="0" y="3637788"/>
                </a:cubicBezTo>
                <a:lnTo>
                  <a:pt x="0" y="3083052"/>
                </a:lnTo>
                <a:cubicBezTo>
                  <a:pt x="46228" y="3054604"/>
                  <a:pt x="46228" y="3026156"/>
                  <a:pt x="0" y="2997708"/>
                </a:cubicBezTo>
                <a:lnTo>
                  <a:pt x="0" y="2576322"/>
                </a:lnTo>
                <a:cubicBezTo>
                  <a:pt x="46228" y="2547874"/>
                  <a:pt x="46228" y="2519426"/>
                  <a:pt x="0" y="2490978"/>
                </a:cubicBezTo>
                <a:lnTo>
                  <a:pt x="0" y="1136142"/>
                </a:lnTo>
                <a:cubicBezTo>
                  <a:pt x="46228" y="1107694"/>
                  <a:pt x="46228" y="1079246"/>
                  <a:pt x="0" y="1050798"/>
                </a:cubicBezTo>
                <a:lnTo>
                  <a:pt x="0" y="266700"/>
                </a:lnTo>
                <a:lnTo>
                  <a:pt x="2944368" y="266700"/>
                </a:lnTo>
                <a:cubicBezTo>
                  <a:pt x="2972816" y="220472"/>
                  <a:pt x="3001264" y="220472"/>
                  <a:pt x="3029712" y="266700"/>
                </a:cubicBezTo>
                <a:lnTo>
                  <a:pt x="4800600" y="266700"/>
                </a:lnTo>
                <a:lnTo>
                  <a:pt x="4800600" y="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-106: 原子冲突协调"/>
          <p:cNvSpPr txBox="1"/>
          <p:nvPr/>
        </p:nvSpPr>
        <p:spPr>
          <a:xfrm>
            <a:off x="4213860" y="2107783"/>
            <a:ext cx="858774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原子冲突协调</a:t>
            </a:r>
          </a:p>
        </p:txBody>
      </p:sp>
      <p:sp>
        <p:nvSpPr>
          <p:cNvPr id="107" name="probe-llc"/>
          <p:cNvSpPr/>
          <p:nvPr/>
        </p:nvSpPr>
        <p:spPr>
          <a:xfrm>
            <a:off x="8534400" y="3093720"/>
            <a:ext cx="1006348" cy="2987040"/>
          </a:xfrm>
          <a:custGeom>
            <a:avLst/>
            <a:gdLst/>
            <a:ahLst/>
            <a:cxnLst/>
            <a:rect l="0" t="0" r="r" b="b"/>
            <a:pathLst>
              <a:path w="1006348" h="2987040" fill="none">
                <a:moveTo>
                  <a:pt x="0" y="2987040"/>
                </a:moveTo>
                <a:lnTo>
                  <a:pt x="0" y="2667000"/>
                </a:lnTo>
                <a:lnTo>
                  <a:pt x="960120" y="2667000"/>
                </a:lnTo>
                <a:lnTo>
                  <a:pt x="960120" y="2442972"/>
                </a:lnTo>
                <a:cubicBezTo>
                  <a:pt x="1006348" y="2414524"/>
                  <a:pt x="1006348" y="2386076"/>
                  <a:pt x="960120" y="2357628"/>
                </a:cubicBezTo>
                <a:lnTo>
                  <a:pt x="960120" y="1509522"/>
                </a:lnTo>
                <a:cubicBezTo>
                  <a:pt x="1006348" y="1481074"/>
                  <a:pt x="1006348" y="1452626"/>
                  <a:pt x="960120" y="1424178"/>
                </a:cubicBezTo>
                <a:lnTo>
                  <a:pt x="960120" y="522732"/>
                </a:lnTo>
                <a:cubicBezTo>
                  <a:pt x="1006348" y="494284"/>
                  <a:pt x="1006348" y="465836"/>
                  <a:pt x="960120" y="437388"/>
                </a:cubicBezTo>
                <a:lnTo>
                  <a:pt x="960120" y="0"/>
                </a:lnTo>
                <a:lnTo>
                  <a:pt x="693420" y="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-108: LLC 探测 / 确认"/>
          <p:cNvSpPr txBox="1"/>
          <p:nvPr/>
        </p:nvSpPr>
        <p:spPr>
          <a:xfrm>
            <a:off x="7680960" y="5542879"/>
            <a:ext cx="98613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LLC 探测 / 确认</a:t>
            </a:r>
          </a:p>
        </p:txBody>
      </p:sp>
      <p:sp>
        <p:nvSpPr>
          <p:cNvPr id="109" name="entry-coordination"/>
          <p:cNvSpPr/>
          <p:nvPr/>
        </p:nvSpPr>
        <p:spPr>
          <a:xfrm>
            <a:off x="8961120" y="5093970"/>
            <a:ext cx="1600200" cy="986790"/>
          </a:xfrm>
          <a:custGeom>
            <a:avLst/>
            <a:gdLst/>
            <a:ahLst/>
            <a:cxnLst/>
            <a:rect l="0" t="0" r="r" b="b"/>
            <a:pathLst>
              <a:path w="1600200" h="986790" fill="none">
                <a:moveTo>
                  <a:pt x="0" y="986790"/>
                </a:moveTo>
                <a:lnTo>
                  <a:pt x="0" y="826770"/>
                </a:lnTo>
                <a:lnTo>
                  <a:pt x="1600200" y="826770"/>
                </a:lnTo>
                <a:lnTo>
                  <a:pt x="1600200" y="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ddr-inflight"/>
          <p:cNvSpPr/>
          <p:nvPr/>
        </p:nvSpPr>
        <p:spPr>
          <a:xfrm>
            <a:off x="9334500" y="5227320"/>
            <a:ext cx="2400300" cy="1333500"/>
          </a:xfrm>
          <a:custGeom>
            <a:avLst/>
            <a:gdLst/>
            <a:ahLst/>
            <a:cxnLst/>
            <a:rect l="0" t="0" r="r" b="b"/>
            <a:pathLst>
              <a:path w="2400300" h="1333500" fill="none">
                <a:moveTo>
                  <a:pt x="0" y="1333500"/>
                </a:moveTo>
                <a:lnTo>
                  <a:pt x="1546860" y="1333500"/>
                </a:lnTo>
                <a:lnTo>
                  <a:pt x="1546860" y="533400"/>
                </a:lnTo>
                <a:lnTo>
                  <a:pt x="2400300" y="533400"/>
                </a:lnTo>
                <a:lnTo>
                  <a:pt x="2400300" y="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-111: DDR 在途协调"/>
          <p:cNvSpPr txBox="1"/>
          <p:nvPr/>
        </p:nvSpPr>
        <p:spPr>
          <a:xfrm>
            <a:off x="9467850" y="6321643"/>
            <a:ext cx="88788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DDR 在途协调</a:t>
            </a:r>
          </a:p>
        </p:txBody>
      </p:sp>
      <p:sp>
        <p:nvSpPr>
          <p:cNvPr id="112" name="text-112: 蓝灰：AXI / 数据返回    绿：GB 本地读写    紫：一致性接口   "/>
          <p:cNvSpPr txBox="1"/>
          <p:nvPr/>
        </p:nvSpPr>
        <p:spPr>
          <a:xfrm>
            <a:off x="266700" y="6961723"/>
            <a:ext cx="609156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蓝灰：AXI / 数据返回    绿：GB 本地读写    紫：一致性接口    跳线处交叉而无连接；双向线合并请求与返回。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DDR 地址数据搬入 GB：最新版本从哪里来"/>
          <p:cNvSpPr txBox="1"/>
          <p:nvPr/>
        </p:nvSpPr>
        <p:spPr>
          <a:xfrm>
            <a:off x="333375" y="100813"/>
            <a:ext cx="4756324" cy="384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地址数据搬入 GB：最新版本从哪里来</a:t>
            </a:r>
          </a:p>
        </p:txBody>
      </p:sp>
      <p:sp>
        <p:nvSpPr>
          <p:cNvPr id="3" name="text-003: 先发布输入并协调目标行，再由 DDR 或持有最新数据的缓存供数"/>
          <p:cNvSpPr txBox="1"/>
          <p:nvPr/>
        </p:nvSpPr>
        <p:spPr>
          <a:xfrm>
            <a:off x="333375" y="467258"/>
            <a:ext cx="472652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先发布输入并协调目标行，再由 DDR 或持有最新数据的缓存供数</a:t>
            </a:r>
          </a:p>
        </p:txBody>
      </p:sp>
      <p:sp>
        <p:nvSpPr>
          <p:cNvPr id="4" name="row-0"/>
          <p:cNvSpPr/>
          <p:nvPr/>
        </p:nvSpPr>
        <p:spPr>
          <a:xfrm>
            <a:off x="266700" y="1000125"/>
            <a:ext cx="12268200" cy="1666875"/>
          </a:xfrm>
          <a:prstGeom prst="rect">
            <a:avLst/>
          </a:prstGeom>
          <a:solidFill>
            <a:srgbClr val="F7F9FA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A  DDR 已最新，无冲突在途事务"/>
          <p:cNvSpPr txBox="1"/>
          <p:nvPr/>
        </p:nvSpPr>
        <p:spPr>
          <a:xfrm>
            <a:off x="433388" y="1072401"/>
            <a:ext cx="2771732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  DDR 已最新，无冲突在途事务</a:t>
            </a:r>
          </a:p>
        </p:txBody>
      </p:sp>
      <p:sp>
        <p:nvSpPr>
          <p:cNvPr id="6" name="r0-0"/>
          <p:cNvSpPr/>
          <p:nvPr/>
        </p:nvSpPr>
        <p:spPr>
          <a:xfrm>
            <a:off x="466725" y="1480185"/>
            <a:ext cx="2533650" cy="7334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DDR"/>
          <p:cNvSpPr txBox="1"/>
          <p:nvPr/>
        </p:nvSpPr>
        <p:spPr>
          <a:xfrm>
            <a:off x="1469137" y="1605801"/>
            <a:ext cx="528827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8" name="text-008: 最新版本可读"/>
          <p:cNvSpPr txBox="1"/>
          <p:nvPr/>
        </p:nvSpPr>
        <p:spPr>
          <a:xfrm>
            <a:off x="1173480" y="1860766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最新版本可读</a:t>
            </a:r>
          </a:p>
        </p:txBody>
      </p:sp>
      <p:sp>
        <p:nvSpPr>
          <p:cNvPr id="9" name="r0-1"/>
          <p:cNvSpPr/>
          <p:nvPr/>
        </p:nvSpPr>
        <p:spPr>
          <a:xfrm>
            <a:off x="3800475" y="1480185"/>
            <a:ext cx="2533650" cy="7334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设备一致性入口"/>
          <p:cNvSpPr txBox="1"/>
          <p:nvPr/>
        </p:nvSpPr>
        <p:spPr>
          <a:xfrm>
            <a:off x="4347210" y="1605801"/>
            <a:ext cx="1440180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设备一致性入口</a:t>
            </a:r>
          </a:p>
        </p:txBody>
      </p:sp>
      <p:sp>
        <p:nvSpPr>
          <p:cNvPr id="11" name="text-011: 确认 DDR 版本已最新"/>
          <p:cNvSpPr txBox="1"/>
          <p:nvPr/>
        </p:nvSpPr>
        <p:spPr>
          <a:xfrm>
            <a:off x="4224226" y="1860766"/>
            <a:ext cx="168614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确认 DDR 版本已最新</a:t>
            </a:r>
          </a:p>
        </p:txBody>
      </p:sp>
      <p:sp>
        <p:nvSpPr>
          <p:cNvPr id="12" name="r0-2"/>
          <p:cNvSpPr/>
          <p:nvPr/>
        </p:nvSpPr>
        <p:spPr>
          <a:xfrm>
            <a:off x="7134225" y="1480185"/>
            <a:ext cx="2333625" cy="7334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搬运器"/>
          <p:cNvSpPr txBox="1"/>
          <p:nvPr/>
        </p:nvSpPr>
        <p:spPr>
          <a:xfrm>
            <a:off x="7940992" y="1605801"/>
            <a:ext cx="720090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搬运器</a:t>
            </a:r>
          </a:p>
        </p:txBody>
      </p:sp>
      <p:sp>
        <p:nvSpPr>
          <p:cNvPr id="14" name="text-014: 接收本次读取结果"/>
          <p:cNvSpPr txBox="1"/>
          <p:nvPr/>
        </p:nvSpPr>
        <p:spPr>
          <a:xfrm>
            <a:off x="7580948" y="1860766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接收本次读取结果</a:t>
            </a:r>
          </a:p>
        </p:txBody>
      </p:sp>
      <p:sp>
        <p:nvSpPr>
          <p:cNvPr id="15" name="r0-3"/>
          <p:cNvSpPr/>
          <p:nvPr/>
        </p:nvSpPr>
        <p:spPr>
          <a:xfrm>
            <a:off x="10334625" y="1480185"/>
            <a:ext cx="1933575" cy="733425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GB（经共享代理）"/>
          <p:cNvSpPr txBox="1"/>
          <p:nvPr/>
        </p:nvSpPr>
        <p:spPr>
          <a:xfrm>
            <a:off x="10466256" y="1605801"/>
            <a:ext cx="1670313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GB（经共享代理）</a:t>
            </a:r>
          </a:p>
        </p:txBody>
      </p:sp>
      <p:sp>
        <p:nvSpPr>
          <p:cNvPr id="17" name="text-017: 写入后发布 ready"/>
          <p:cNvSpPr txBox="1"/>
          <p:nvPr/>
        </p:nvSpPr>
        <p:spPr>
          <a:xfrm>
            <a:off x="10608826" y="1860766"/>
            <a:ext cx="138517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写入后发布 ready</a:t>
            </a:r>
          </a:p>
        </p:txBody>
      </p:sp>
      <p:sp>
        <p:nvSpPr>
          <p:cNvPr id="18" name="r0-flow-0"/>
          <p:cNvSpPr/>
          <p:nvPr/>
        </p:nvSpPr>
        <p:spPr>
          <a:xfrm>
            <a:off x="3000375" y="1846898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0-flow-1"/>
          <p:cNvSpPr/>
          <p:nvPr/>
        </p:nvSpPr>
        <p:spPr>
          <a:xfrm>
            <a:off x="6334125" y="1846898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0-flow-2"/>
          <p:cNvSpPr/>
          <p:nvPr/>
        </p:nvSpPr>
        <p:spPr>
          <a:xfrm>
            <a:off x="9467850" y="1846898"/>
            <a:ext cx="866775" cy="1"/>
          </a:xfrm>
          <a:custGeom>
            <a:avLst/>
            <a:gdLst/>
            <a:ahLst/>
            <a:cxnLst/>
            <a:rect l="0" t="0" r="r" b="b"/>
            <a:pathLst>
              <a:path w="866775" h="1" fill="none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8669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DDR 已保存最新版本，L1D / LLC 的干净副本可以继续使用。"/>
          <p:cNvSpPr txBox="1"/>
          <p:nvPr/>
        </p:nvSpPr>
        <p:spPr>
          <a:xfrm>
            <a:off x="466725" y="2307488"/>
            <a:ext cx="4486029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DDR 已保存最新版本，L1D / LLC 的干净副本可以继续使用。</a:t>
            </a:r>
          </a:p>
        </p:txBody>
      </p:sp>
      <p:sp>
        <p:nvSpPr>
          <p:cNvPr id="22" name="row-1"/>
          <p:cNvSpPr/>
          <p:nvPr/>
        </p:nvSpPr>
        <p:spPr>
          <a:xfrm>
            <a:off x="266700" y="2900362"/>
            <a:ext cx="12268200" cy="1666875"/>
          </a:xfrm>
          <a:prstGeom prst="rect">
            <a:avLst/>
          </a:prstGeom>
          <a:solidFill>
            <a:srgbClr val="F7F9FA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B  LLC 持有最新脏数据"/>
          <p:cNvSpPr txBox="1"/>
          <p:nvPr/>
        </p:nvSpPr>
        <p:spPr>
          <a:xfrm>
            <a:off x="433388" y="2972638"/>
            <a:ext cx="2005053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  LLC 持有最新脏数据</a:t>
            </a:r>
          </a:p>
        </p:txBody>
      </p:sp>
      <p:sp>
        <p:nvSpPr>
          <p:cNvPr id="24" name="r1-0"/>
          <p:cNvSpPr/>
          <p:nvPr/>
        </p:nvSpPr>
        <p:spPr>
          <a:xfrm>
            <a:off x="466725" y="3380422"/>
            <a:ext cx="2533650" cy="7334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LLC 脏行"/>
          <p:cNvSpPr txBox="1"/>
          <p:nvPr/>
        </p:nvSpPr>
        <p:spPr>
          <a:xfrm>
            <a:off x="1290786" y="3506038"/>
            <a:ext cx="885527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脏行</a:t>
            </a:r>
          </a:p>
        </p:txBody>
      </p:sp>
      <p:sp>
        <p:nvSpPr>
          <p:cNvPr id="26" name="text-026: 比 DDR 更新"/>
          <p:cNvSpPr txBox="1"/>
          <p:nvPr/>
        </p:nvSpPr>
        <p:spPr>
          <a:xfrm>
            <a:off x="1210516" y="3761003"/>
            <a:ext cx="104606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比 DDR 更新</a:t>
            </a:r>
          </a:p>
        </p:txBody>
      </p:sp>
      <p:sp>
        <p:nvSpPr>
          <p:cNvPr id="27" name="r1-1"/>
          <p:cNvSpPr/>
          <p:nvPr/>
        </p:nvSpPr>
        <p:spPr>
          <a:xfrm>
            <a:off x="3800475" y="3380422"/>
            <a:ext cx="2533650" cy="7334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设备一致性入口"/>
          <p:cNvSpPr txBox="1"/>
          <p:nvPr/>
        </p:nvSpPr>
        <p:spPr>
          <a:xfrm>
            <a:off x="4347210" y="3506038"/>
            <a:ext cx="1440180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设备一致性入口</a:t>
            </a:r>
          </a:p>
        </p:txBody>
      </p:sp>
      <p:sp>
        <p:nvSpPr>
          <p:cNvPr id="29" name="text-029: 取得缓存数据"/>
          <p:cNvSpPr txBox="1"/>
          <p:nvPr/>
        </p:nvSpPr>
        <p:spPr>
          <a:xfrm>
            <a:off x="4507230" y="3761003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取得缓存数据</a:t>
            </a:r>
          </a:p>
        </p:txBody>
      </p:sp>
      <p:sp>
        <p:nvSpPr>
          <p:cNvPr id="30" name="r1-2"/>
          <p:cNvSpPr/>
          <p:nvPr/>
        </p:nvSpPr>
        <p:spPr>
          <a:xfrm>
            <a:off x="7134225" y="3380422"/>
            <a:ext cx="2333625" cy="7334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搬运器"/>
          <p:cNvSpPr txBox="1"/>
          <p:nvPr/>
        </p:nvSpPr>
        <p:spPr>
          <a:xfrm>
            <a:off x="7940992" y="3506038"/>
            <a:ext cx="720090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搬运器</a:t>
            </a:r>
          </a:p>
        </p:txBody>
      </p:sp>
      <p:sp>
        <p:nvSpPr>
          <p:cNvPr id="32" name="text-032: 接收最新版本"/>
          <p:cNvSpPr txBox="1"/>
          <p:nvPr/>
        </p:nvSpPr>
        <p:spPr>
          <a:xfrm>
            <a:off x="7740968" y="3761003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接收最新版本</a:t>
            </a:r>
          </a:p>
        </p:txBody>
      </p:sp>
      <p:sp>
        <p:nvSpPr>
          <p:cNvPr id="33" name="r1-3"/>
          <p:cNvSpPr/>
          <p:nvPr/>
        </p:nvSpPr>
        <p:spPr>
          <a:xfrm>
            <a:off x="10334625" y="3380422"/>
            <a:ext cx="1933575" cy="733425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GB（经共享代理）"/>
          <p:cNvSpPr txBox="1"/>
          <p:nvPr/>
        </p:nvSpPr>
        <p:spPr>
          <a:xfrm>
            <a:off x="10466256" y="3506038"/>
            <a:ext cx="1670313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GB（经共享代理）</a:t>
            </a:r>
          </a:p>
        </p:txBody>
      </p:sp>
      <p:sp>
        <p:nvSpPr>
          <p:cNvPr id="35" name="text-035: 保存本次读取版本"/>
          <p:cNvSpPr txBox="1"/>
          <p:nvPr/>
        </p:nvSpPr>
        <p:spPr>
          <a:xfrm>
            <a:off x="10581322" y="3761003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保存本次读取版本</a:t>
            </a:r>
          </a:p>
        </p:txBody>
      </p:sp>
      <p:sp>
        <p:nvSpPr>
          <p:cNvPr id="36" name="r1-flow-0"/>
          <p:cNvSpPr/>
          <p:nvPr/>
        </p:nvSpPr>
        <p:spPr>
          <a:xfrm>
            <a:off x="3000375" y="3747135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1-flow-1"/>
          <p:cNvSpPr/>
          <p:nvPr/>
        </p:nvSpPr>
        <p:spPr>
          <a:xfrm>
            <a:off x="6334125" y="3747135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1-flow-2"/>
          <p:cNvSpPr/>
          <p:nvPr/>
        </p:nvSpPr>
        <p:spPr>
          <a:xfrm>
            <a:off x="9467850" y="3747135"/>
            <a:ext cx="866775" cy="1"/>
          </a:xfrm>
          <a:custGeom>
            <a:avLst/>
            <a:gdLst/>
            <a:ahLst/>
            <a:cxnLst/>
            <a:rect l="0" t="0" r="r" b="b"/>
            <a:pathLst>
              <a:path w="866775" h="1" fill="none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8669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缓存可直接供数（候选）；采用 DDR 供数路径时，先 clean 到 DDR 再"/>
          <p:cNvSpPr txBox="1"/>
          <p:nvPr/>
        </p:nvSpPr>
        <p:spPr>
          <a:xfrm>
            <a:off x="466725" y="4207726"/>
            <a:ext cx="560226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缓存可直接供数（候选）；采用 DDR 供数路径时，先 clean 到 DDR 再读取。</a:t>
            </a:r>
          </a:p>
        </p:txBody>
      </p:sp>
      <p:sp>
        <p:nvSpPr>
          <p:cNvPr id="40" name="row-2"/>
          <p:cNvSpPr/>
          <p:nvPr/>
        </p:nvSpPr>
        <p:spPr>
          <a:xfrm>
            <a:off x="266700" y="4800600"/>
            <a:ext cx="12268200" cy="1666875"/>
          </a:xfrm>
          <a:prstGeom prst="rect">
            <a:avLst/>
          </a:prstGeom>
          <a:solidFill>
            <a:srgbClr val="F7F9FA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C  CPU 有按顺序必须先完成的写"/>
          <p:cNvSpPr txBox="1"/>
          <p:nvPr/>
        </p:nvSpPr>
        <p:spPr>
          <a:xfrm>
            <a:off x="433388" y="4872876"/>
            <a:ext cx="2761001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  CPU 有按顺序必须先完成的写</a:t>
            </a:r>
          </a:p>
        </p:txBody>
      </p:sp>
      <p:sp>
        <p:nvSpPr>
          <p:cNvPr id="42" name="r2-0"/>
          <p:cNvSpPr/>
          <p:nvPr/>
        </p:nvSpPr>
        <p:spPr>
          <a:xfrm>
            <a:off x="466725" y="5280660"/>
            <a:ext cx="2533650" cy="733425"/>
          </a:xfrm>
          <a:prstGeom prst="rect">
            <a:avLst/>
          </a:prstGeom>
          <a:solidFill>
            <a:srgbClr val="F1D7D9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CPU 写缓冲"/>
          <p:cNvSpPr txBox="1"/>
          <p:nvPr/>
        </p:nvSpPr>
        <p:spPr>
          <a:xfrm>
            <a:off x="1182846" y="5406276"/>
            <a:ext cx="1101408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写缓冲</a:t>
            </a:r>
          </a:p>
        </p:txBody>
      </p:sp>
      <p:sp>
        <p:nvSpPr>
          <p:cNvPr id="44" name="text-044: 建立发布顺序 / 排空"/>
          <p:cNvSpPr txBox="1"/>
          <p:nvPr/>
        </p:nvSpPr>
        <p:spPr>
          <a:xfrm>
            <a:off x="923918" y="5661241"/>
            <a:ext cx="161926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建立发布顺序 / 排空</a:t>
            </a:r>
          </a:p>
        </p:txBody>
      </p:sp>
      <p:sp>
        <p:nvSpPr>
          <p:cNvPr id="45" name="r2-1"/>
          <p:cNvSpPr/>
          <p:nvPr/>
        </p:nvSpPr>
        <p:spPr>
          <a:xfrm>
            <a:off x="3800475" y="5280660"/>
            <a:ext cx="2533650" cy="7334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LLC / 共享点"/>
          <p:cNvSpPr txBox="1"/>
          <p:nvPr/>
        </p:nvSpPr>
        <p:spPr>
          <a:xfrm>
            <a:off x="4460771" y="5406276"/>
            <a:ext cx="1213058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共享点</a:t>
            </a:r>
          </a:p>
        </p:txBody>
      </p:sp>
      <p:sp>
        <p:nvSpPr>
          <p:cNvPr id="47" name="text-047: 接收已排序的更新"/>
          <p:cNvSpPr txBox="1"/>
          <p:nvPr/>
        </p:nvSpPr>
        <p:spPr>
          <a:xfrm>
            <a:off x="4347210" y="5661241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接收已排序的更新</a:t>
            </a:r>
          </a:p>
        </p:txBody>
      </p:sp>
      <p:sp>
        <p:nvSpPr>
          <p:cNvPr id="48" name="r2-2"/>
          <p:cNvSpPr/>
          <p:nvPr/>
        </p:nvSpPr>
        <p:spPr>
          <a:xfrm>
            <a:off x="7134225" y="5280660"/>
            <a:ext cx="2333625" cy="7334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协调后搬运"/>
          <p:cNvSpPr txBox="1"/>
          <p:nvPr/>
        </p:nvSpPr>
        <p:spPr>
          <a:xfrm>
            <a:off x="7760970" y="5406276"/>
            <a:ext cx="1080135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协调后搬运</a:t>
            </a:r>
          </a:p>
        </p:txBody>
      </p:sp>
      <p:sp>
        <p:nvSpPr>
          <p:cNvPr id="50" name="text-050: 等待先行写可见"/>
          <p:cNvSpPr txBox="1"/>
          <p:nvPr/>
        </p:nvSpPr>
        <p:spPr>
          <a:xfrm>
            <a:off x="7660958" y="5661241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等待先行写可见</a:t>
            </a:r>
          </a:p>
        </p:txBody>
      </p:sp>
      <p:sp>
        <p:nvSpPr>
          <p:cNvPr id="51" name="r2-3"/>
          <p:cNvSpPr/>
          <p:nvPr/>
        </p:nvSpPr>
        <p:spPr>
          <a:xfrm>
            <a:off x="10334625" y="5280660"/>
            <a:ext cx="1933575" cy="733425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GB（经共享代理）"/>
          <p:cNvSpPr txBox="1"/>
          <p:nvPr/>
        </p:nvSpPr>
        <p:spPr>
          <a:xfrm>
            <a:off x="10466256" y="5406276"/>
            <a:ext cx="1670313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GB（经共享代理）</a:t>
            </a:r>
          </a:p>
        </p:txBody>
      </p:sp>
      <p:sp>
        <p:nvSpPr>
          <p:cNvPr id="53" name="text-053: 数据完整后才 ready"/>
          <p:cNvSpPr txBox="1"/>
          <p:nvPr/>
        </p:nvSpPr>
        <p:spPr>
          <a:xfrm>
            <a:off x="10528816" y="5661241"/>
            <a:ext cx="154519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数据完整后才 ready</a:t>
            </a:r>
          </a:p>
        </p:txBody>
      </p:sp>
      <p:sp>
        <p:nvSpPr>
          <p:cNvPr id="54" name="r2-flow-0"/>
          <p:cNvSpPr/>
          <p:nvPr/>
        </p:nvSpPr>
        <p:spPr>
          <a:xfrm>
            <a:off x="3000375" y="5647372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2-flow-1"/>
          <p:cNvSpPr/>
          <p:nvPr/>
        </p:nvSpPr>
        <p:spPr>
          <a:xfrm>
            <a:off x="6334125" y="5647372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 fill="none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18669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2-flow-2"/>
          <p:cNvSpPr/>
          <p:nvPr/>
        </p:nvSpPr>
        <p:spPr>
          <a:xfrm>
            <a:off x="9467850" y="5647372"/>
            <a:ext cx="866775" cy="1"/>
          </a:xfrm>
          <a:custGeom>
            <a:avLst/>
            <a:gdLst/>
            <a:ahLst/>
            <a:cxnLst/>
            <a:rect l="0" t="0" r="r" b="b"/>
            <a:pathLst>
              <a:path w="866775" h="1" fill="none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/>
          <a:ln w="18669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CPU 先发布输入；协调点等待相关写完成，并处理同址回填与替换。"/>
          <p:cNvSpPr txBox="1"/>
          <p:nvPr/>
        </p:nvSpPr>
        <p:spPr>
          <a:xfrm>
            <a:off x="466725" y="6107963"/>
            <a:ext cx="4979529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CPU 先发布输入；协调点等待相关写完成，并处理同址回填与替换。</a:t>
            </a:r>
          </a:p>
        </p:txBody>
      </p:sp>
      <p:sp>
        <p:nvSpPr>
          <p:cNvPr id="58" name="text-058: GB 保存本次搬入的数据版本；后续计算需要更新后的源数据时，重新搬运。"/>
          <p:cNvSpPr txBox="1"/>
          <p:nvPr/>
        </p:nvSpPr>
        <p:spPr>
          <a:xfrm>
            <a:off x="366712" y="6687502"/>
            <a:ext cx="5763741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保存本次搬入的数据版本；后续计算需要更新后的源数据时，重新搬运。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GB 数据写入 DDR：先协调，再发布新版本"/>
          <p:cNvSpPr txBox="1"/>
          <p:nvPr/>
        </p:nvSpPr>
        <p:spPr>
          <a:xfrm>
            <a:off x="333375" y="100813"/>
            <a:ext cx="4756324" cy="384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数据写入 DDR：先协调，再发布新版本</a:t>
            </a:r>
          </a:p>
        </p:txBody>
      </p:sp>
      <p:sp>
        <p:nvSpPr>
          <p:cNvPr id="3" name="text-003: 完整覆盖与部分更新都需处理在途冲突、失效确认及任务完成；下图为逻辑阶段"/>
          <p:cNvSpPr txBox="1"/>
          <p:nvPr/>
        </p:nvSpPr>
        <p:spPr>
          <a:xfrm>
            <a:off x="333375" y="467258"/>
            <a:ext cx="576072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完整覆盖与部分更新都需处理在途冲突、失效确认及任务完成；下图为逻辑阶段</a:t>
            </a:r>
          </a:p>
        </p:txBody>
      </p:sp>
      <p:sp>
        <p:nvSpPr>
          <p:cNvPr id="4" name="full-panel"/>
          <p:cNvSpPr/>
          <p:nvPr/>
        </p:nvSpPr>
        <p:spPr>
          <a:xfrm>
            <a:off x="266700" y="1000125"/>
            <a:ext cx="12268200" cy="2333625"/>
          </a:xfrm>
          <a:prstGeom prst="rect">
            <a:avLst/>
          </a:prstGeom>
          <a:solidFill>
            <a:srgbClr val="F7F9FA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A  完整覆盖所有相关一致性粒度"/>
          <p:cNvSpPr txBox="1"/>
          <p:nvPr/>
        </p:nvSpPr>
        <p:spPr>
          <a:xfrm>
            <a:off x="433388" y="1091870"/>
            <a:ext cx="2830083" cy="298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  完整覆盖所有相关一致性粒度</a:t>
            </a:r>
          </a:p>
        </p:txBody>
      </p:sp>
      <p:sp>
        <p:nvSpPr>
          <p:cNvPr id="6" name="full-0"/>
          <p:cNvSpPr/>
          <p:nvPr/>
        </p:nvSpPr>
        <p:spPr>
          <a:xfrm>
            <a:off x="400050" y="1566862"/>
            <a:ext cx="2000250" cy="1000125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GB 数据（经代理）"/>
          <p:cNvSpPr txBox="1"/>
          <p:nvPr/>
        </p:nvSpPr>
        <p:spPr>
          <a:xfrm>
            <a:off x="538031" y="1712481"/>
            <a:ext cx="1724288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数据（经代理）</a:t>
            </a:r>
          </a:p>
        </p:txBody>
      </p:sp>
      <p:sp>
        <p:nvSpPr>
          <p:cNvPr id="8" name="text-008: 全行备妥"/>
          <p:cNvSpPr txBox="1"/>
          <p:nvPr/>
        </p:nvSpPr>
        <p:spPr>
          <a:xfrm>
            <a:off x="1000125" y="1967446"/>
            <a:ext cx="8001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全行备妥</a:t>
            </a:r>
          </a:p>
        </p:txBody>
      </p:sp>
      <p:sp>
        <p:nvSpPr>
          <p:cNvPr id="9" name="text-009: 全部字节有效"/>
          <p:cNvSpPr txBox="1"/>
          <p:nvPr/>
        </p:nvSpPr>
        <p:spPr>
          <a:xfrm>
            <a:off x="840105" y="2200808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全部字节有效</a:t>
            </a:r>
          </a:p>
        </p:txBody>
      </p:sp>
      <p:sp>
        <p:nvSpPr>
          <p:cNvPr id="10" name="full-1"/>
          <p:cNvSpPr/>
          <p:nvPr/>
        </p:nvSpPr>
        <p:spPr>
          <a:xfrm>
            <a:off x="2867025" y="1566862"/>
            <a:ext cx="2000250" cy="10001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目标行协调"/>
          <p:cNvSpPr txBox="1"/>
          <p:nvPr/>
        </p:nvSpPr>
        <p:spPr>
          <a:xfrm>
            <a:off x="3327082" y="1712481"/>
            <a:ext cx="1080135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目标行协调</a:t>
            </a:r>
          </a:p>
        </p:txBody>
      </p:sp>
      <p:sp>
        <p:nvSpPr>
          <p:cNvPr id="12" name="text-012: 排序在途访问"/>
          <p:cNvSpPr txBox="1"/>
          <p:nvPr/>
        </p:nvSpPr>
        <p:spPr>
          <a:xfrm>
            <a:off x="3307080" y="1967446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排序在途访问</a:t>
            </a:r>
          </a:p>
        </p:txBody>
      </p:sp>
      <p:sp>
        <p:nvSpPr>
          <p:cNvPr id="13" name="text-013: 取得本次写权限"/>
          <p:cNvSpPr txBox="1"/>
          <p:nvPr/>
        </p:nvSpPr>
        <p:spPr>
          <a:xfrm>
            <a:off x="3227070" y="2200808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取得本次写权限</a:t>
            </a:r>
          </a:p>
        </p:txBody>
      </p:sp>
      <p:sp>
        <p:nvSpPr>
          <p:cNvPr id="14" name="full-2"/>
          <p:cNvSpPr/>
          <p:nvPr/>
        </p:nvSpPr>
        <p:spPr>
          <a:xfrm>
            <a:off x="5334000" y="1566862"/>
            <a:ext cx="2000250" cy="10001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L1D / LLC"/>
          <p:cNvSpPr txBox="1"/>
          <p:nvPr/>
        </p:nvSpPr>
        <p:spPr>
          <a:xfrm>
            <a:off x="5839318" y="1712481"/>
            <a:ext cx="989613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LLC</a:t>
            </a:r>
          </a:p>
        </p:txBody>
      </p:sp>
      <p:sp>
        <p:nvSpPr>
          <p:cNvPr id="16" name="text-016: 失效并确认"/>
          <p:cNvSpPr txBox="1"/>
          <p:nvPr/>
        </p:nvSpPr>
        <p:spPr>
          <a:xfrm>
            <a:off x="5854065" y="1967446"/>
            <a:ext cx="96012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失效并确认</a:t>
            </a:r>
          </a:p>
        </p:txBody>
      </p:sp>
      <p:sp>
        <p:nvSpPr>
          <p:cNvPr id="17" name="text-017: 完整覆盖可省回写"/>
          <p:cNvSpPr txBox="1"/>
          <p:nvPr/>
        </p:nvSpPr>
        <p:spPr>
          <a:xfrm>
            <a:off x="5614035" y="2200808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完整覆盖可省回写</a:t>
            </a:r>
          </a:p>
        </p:txBody>
      </p:sp>
      <p:sp>
        <p:nvSpPr>
          <p:cNvPr id="18" name="full-3"/>
          <p:cNvSpPr/>
          <p:nvPr/>
        </p:nvSpPr>
        <p:spPr>
          <a:xfrm>
            <a:off x="7800975" y="1566862"/>
            <a:ext cx="2000250" cy="10001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DDR 写入"/>
          <p:cNvSpPr txBox="1"/>
          <p:nvPr/>
        </p:nvSpPr>
        <p:spPr>
          <a:xfrm>
            <a:off x="8329676" y="1712481"/>
            <a:ext cx="942847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写入</a:t>
            </a:r>
          </a:p>
        </p:txBody>
      </p:sp>
      <p:sp>
        <p:nvSpPr>
          <p:cNvPr id="20" name="text-020: 写入完整新行"/>
          <p:cNvSpPr txBox="1"/>
          <p:nvPr/>
        </p:nvSpPr>
        <p:spPr>
          <a:xfrm>
            <a:off x="8241030" y="1967446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写入完整新行</a:t>
            </a:r>
          </a:p>
        </p:txBody>
      </p:sp>
      <p:sp>
        <p:nvSpPr>
          <p:cNvPr id="21" name="text-021: 保持约定访问次序"/>
          <p:cNvSpPr txBox="1"/>
          <p:nvPr/>
        </p:nvSpPr>
        <p:spPr>
          <a:xfrm>
            <a:off x="8081010" y="2200808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保持约定访问次序</a:t>
            </a:r>
          </a:p>
        </p:txBody>
      </p:sp>
      <p:sp>
        <p:nvSpPr>
          <p:cNvPr id="22" name="full-4"/>
          <p:cNvSpPr/>
          <p:nvPr/>
        </p:nvSpPr>
        <p:spPr>
          <a:xfrm>
            <a:off x="10267950" y="1566862"/>
            <a:ext cx="2000250" cy="10001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完成 / 释放"/>
          <p:cNvSpPr txBox="1"/>
          <p:nvPr/>
        </p:nvSpPr>
        <p:spPr>
          <a:xfrm>
            <a:off x="10717277" y="1712481"/>
            <a:ext cx="1101596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完成 / 释放</a:t>
            </a:r>
          </a:p>
        </p:txBody>
      </p:sp>
      <p:sp>
        <p:nvSpPr>
          <p:cNvPr id="24" name="text-024: 达到约定可见点"/>
          <p:cNvSpPr txBox="1"/>
          <p:nvPr/>
        </p:nvSpPr>
        <p:spPr>
          <a:xfrm>
            <a:off x="10627995" y="1967446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达到约定可见点</a:t>
            </a:r>
          </a:p>
        </p:txBody>
      </p:sp>
      <p:sp>
        <p:nvSpPr>
          <p:cNvPr id="25" name="text-025: 再发布任务状态"/>
          <p:cNvSpPr txBox="1"/>
          <p:nvPr/>
        </p:nvSpPr>
        <p:spPr>
          <a:xfrm>
            <a:off x="10627995" y="2200808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再发布任务状态</a:t>
            </a:r>
          </a:p>
        </p:txBody>
      </p:sp>
      <p:sp>
        <p:nvSpPr>
          <p:cNvPr id="26" name="full-flow-0"/>
          <p:cNvSpPr/>
          <p:nvPr/>
        </p:nvSpPr>
        <p:spPr>
          <a:xfrm>
            <a:off x="2400300" y="2066925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full-flow-1"/>
          <p:cNvSpPr/>
          <p:nvPr/>
        </p:nvSpPr>
        <p:spPr>
          <a:xfrm>
            <a:off x="4867275" y="2066925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full-flow-2"/>
          <p:cNvSpPr/>
          <p:nvPr/>
        </p:nvSpPr>
        <p:spPr>
          <a:xfrm>
            <a:off x="7334250" y="2066925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full-flow-3"/>
          <p:cNvSpPr/>
          <p:nvPr/>
        </p:nvSpPr>
        <p:spPr>
          <a:xfrm>
            <a:off x="9801225" y="2066925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“完整”按实际缓存粒度判断：满 WSTRB 的一个 beat，可能仍只覆盖缓存行"/>
          <p:cNvSpPr txBox="1"/>
          <p:nvPr/>
        </p:nvSpPr>
        <p:spPr>
          <a:xfrm>
            <a:off x="466725" y="2773680"/>
            <a:ext cx="6446931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“完整”按实际缓存粒度判断：满 WSTRB 的一个 beat，可能仍只覆盖缓存行的一部分。</a:t>
            </a:r>
          </a:p>
        </p:txBody>
      </p:sp>
      <p:sp>
        <p:nvSpPr>
          <p:cNvPr id="31" name="partial-panel"/>
          <p:cNvSpPr/>
          <p:nvPr/>
        </p:nvSpPr>
        <p:spPr>
          <a:xfrm>
            <a:off x="266700" y="3633788"/>
            <a:ext cx="12268200" cy="2900362"/>
          </a:xfrm>
          <a:prstGeom prst="rect">
            <a:avLst/>
          </a:prstGeom>
          <a:solidFill>
            <a:srgbClr val="F7F9FA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B  部分行更新：先保护未覆盖字节的最新值"/>
          <p:cNvSpPr txBox="1"/>
          <p:nvPr/>
        </p:nvSpPr>
        <p:spPr>
          <a:xfrm>
            <a:off x="433388" y="3725532"/>
            <a:ext cx="3774649" cy="2987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  部分行更新：先保护未覆盖字节的最新值</a:t>
            </a:r>
          </a:p>
        </p:txBody>
      </p:sp>
      <p:sp>
        <p:nvSpPr>
          <p:cNvPr id="33" name="part-0"/>
          <p:cNvSpPr/>
          <p:nvPr/>
        </p:nvSpPr>
        <p:spPr>
          <a:xfrm>
            <a:off x="400050" y="4200525"/>
            <a:ext cx="2000250" cy="1000125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GB 数据（经代理）"/>
          <p:cNvSpPr txBox="1"/>
          <p:nvPr/>
        </p:nvSpPr>
        <p:spPr>
          <a:xfrm>
            <a:off x="538031" y="4346143"/>
            <a:ext cx="1724288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数据（经代理）</a:t>
            </a:r>
          </a:p>
        </p:txBody>
      </p:sp>
      <p:sp>
        <p:nvSpPr>
          <p:cNvPr id="35" name="text-035: 地址 / 长度"/>
          <p:cNvSpPr txBox="1"/>
          <p:nvPr/>
        </p:nvSpPr>
        <p:spPr>
          <a:xfrm>
            <a:off x="910583" y="4601108"/>
            <a:ext cx="97918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</a:t>
            </a:r>
          </a:p>
        </p:txBody>
      </p:sp>
      <p:sp>
        <p:nvSpPr>
          <p:cNvPr id="36" name="text-036: 字节有效掩码"/>
          <p:cNvSpPr txBox="1"/>
          <p:nvPr/>
        </p:nvSpPr>
        <p:spPr>
          <a:xfrm>
            <a:off x="840105" y="4834471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字节有效掩码</a:t>
            </a:r>
          </a:p>
        </p:txBody>
      </p:sp>
      <p:sp>
        <p:nvSpPr>
          <p:cNvPr id="37" name="part-1"/>
          <p:cNvSpPr/>
          <p:nvPr/>
        </p:nvSpPr>
        <p:spPr>
          <a:xfrm>
            <a:off x="2867025" y="4200525"/>
            <a:ext cx="2000250" cy="10001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目标行协调"/>
          <p:cNvSpPr txBox="1"/>
          <p:nvPr/>
        </p:nvSpPr>
        <p:spPr>
          <a:xfrm>
            <a:off x="3327082" y="4346143"/>
            <a:ext cx="1080135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目标行协调</a:t>
            </a:r>
          </a:p>
        </p:txBody>
      </p:sp>
      <p:sp>
        <p:nvSpPr>
          <p:cNvPr id="39" name="text-039: 安排冲突访问次序"/>
          <p:cNvSpPr txBox="1"/>
          <p:nvPr/>
        </p:nvSpPr>
        <p:spPr>
          <a:xfrm>
            <a:off x="3147060" y="4601108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安排冲突访问次序</a:t>
            </a:r>
          </a:p>
        </p:txBody>
      </p:sp>
      <p:sp>
        <p:nvSpPr>
          <p:cNvPr id="40" name="text-040: 协调回填 / 替换"/>
          <p:cNvSpPr txBox="1"/>
          <p:nvPr/>
        </p:nvSpPr>
        <p:spPr>
          <a:xfrm>
            <a:off x="3217538" y="4834471"/>
            <a:ext cx="129922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协调回填 / 替换</a:t>
            </a:r>
          </a:p>
        </p:txBody>
      </p:sp>
      <p:sp>
        <p:nvSpPr>
          <p:cNvPr id="41" name="part-2"/>
          <p:cNvSpPr/>
          <p:nvPr/>
        </p:nvSpPr>
        <p:spPr>
          <a:xfrm>
            <a:off x="5334000" y="4200525"/>
            <a:ext cx="2000250" cy="10001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L1D / LLC"/>
          <p:cNvSpPr txBox="1"/>
          <p:nvPr/>
        </p:nvSpPr>
        <p:spPr>
          <a:xfrm>
            <a:off x="5839318" y="4346143"/>
            <a:ext cx="989613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LLC</a:t>
            </a:r>
          </a:p>
        </p:txBody>
      </p:sp>
      <p:sp>
        <p:nvSpPr>
          <p:cNvPr id="43" name="text-043: clean 或取数暂存"/>
          <p:cNvSpPr txBox="1"/>
          <p:nvPr/>
        </p:nvSpPr>
        <p:spPr>
          <a:xfrm>
            <a:off x="5643179" y="4601108"/>
            <a:ext cx="138189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clean 或取数暂存</a:t>
            </a:r>
          </a:p>
        </p:txBody>
      </p:sp>
      <p:sp>
        <p:nvSpPr>
          <p:cNvPr id="44" name="text-044: 失效旧副本并确认"/>
          <p:cNvSpPr txBox="1"/>
          <p:nvPr/>
        </p:nvSpPr>
        <p:spPr>
          <a:xfrm>
            <a:off x="5614035" y="4834471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失效旧副本并确认</a:t>
            </a:r>
          </a:p>
        </p:txBody>
      </p:sp>
      <p:sp>
        <p:nvSpPr>
          <p:cNvPr id="45" name="part-3"/>
          <p:cNvSpPr/>
          <p:nvPr/>
        </p:nvSpPr>
        <p:spPr>
          <a:xfrm>
            <a:off x="7800975" y="4200525"/>
            <a:ext cx="2000250" cy="10001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DDR 更新"/>
          <p:cNvSpPr txBox="1"/>
          <p:nvPr/>
        </p:nvSpPr>
        <p:spPr>
          <a:xfrm>
            <a:off x="8329676" y="4346143"/>
            <a:ext cx="942847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更新</a:t>
            </a:r>
          </a:p>
        </p:txBody>
      </p:sp>
      <p:sp>
        <p:nvSpPr>
          <p:cNvPr id="47" name="text-047: 按 WSTRB 更新"/>
          <p:cNvSpPr txBox="1"/>
          <p:nvPr/>
        </p:nvSpPr>
        <p:spPr>
          <a:xfrm>
            <a:off x="8178913" y="4601108"/>
            <a:ext cx="1244374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按 WSTRB 更新</a:t>
            </a:r>
          </a:p>
        </p:txBody>
      </p:sp>
      <p:sp>
        <p:nvSpPr>
          <p:cNvPr id="48" name="text-048: 或写入已合并新行"/>
          <p:cNvSpPr txBox="1"/>
          <p:nvPr/>
        </p:nvSpPr>
        <p:spPr>
          <a:xfrm>
            <a:off x="8081010" y="4834471"/>
            <a:ext cx="14401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或写入已合并新行</a:t>
            </a:r>
          </a:p>
        </p:txBody>
      </p:sp>
      <p:sp>
        <p:nvSpPr>
          <p:cNvPr id="49" name="part-4"/>
          <p:cNvSpPr/>
          <p:nvPr/>
        </p:nvSpPr>
        <p:spPr>
          <a:xfrm>
            <a:off x="10267950" y="4200525"/>
            <a:ext cx="2000250" cy="1000125"/>
          </a:xfrm>
          <a:prstGeom prst="rect">
            <a:avLst/>
          </a:prstGeom>
          <a:solidFill>
            <a:srgbClr val="E8DFED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完成 / 释放"/>
          <p:cNvSpPr txBox="1"/>
          <p:nvPr/>
        </p:nvSpPr>
        <p:spPr>
          <a:xfrm>
            <a:off x="10717277" y="4346143"/>
            <a:ext cx="1101596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完成 / 释放</a:t>
            </a:r>
          </a:p>
        </p:txBody>
      </p:sp>
      <p:sp>
        <p:nvSpPr>
          <p:cNvPr id="51" name="text-051: 等待写入与确认"/>
          <p:cNvSpPr txBox="1"/>
          <p:nvPr/>
        </p:nvSpPr>
        <p:spPr>
          <a:xfrm>
            <a:off x="10627995" y="4601108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等待写入与确认</a:t>
            </a:r>
          </a:p>
        </p:txBody>
      </p:sp>
      <p:sp>
        <p:nvSpPr>
          <p:cNvPr id="52" name="text-052: 再发布任务状态"/>
          <p:cNvSpPr txBox="1"/>
          <p:nvPr/>
        </p:nvSpPr>
        <p:spPr>
          <a:xfrm>
            <a:off x="10627995" y="4834471"/>
            <a:ext cx="12801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再发布任务状态</a:t>
            </a:r>
          </a:p>
        </p:txBody>
      </p:sp>
      <p:sp>
        <p:nvSpPr>
          <p:cNvPr id="53" name="part-flow-0"/>
          <p:cNvSpPr/>
          <p:nvPr/>
        </p:nvSpPr>
        <p:spPr>
          <a:xfrm>
            <a:off x="2400300" y="4700588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art-flow-1"/>
          <p:cNvSpPr/>
          <p:nvPr/>
        </p:nvSpPr>
        <p:spPr>
          <a:xfrm>
            <a:off x="4867275" y="4700588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art-flow-2"/>
          <p:cNvSpPr/>
          <p:nvPr/>
        </p:nvSpPr>
        <p:spPr>
          <a:xfrm>
            <a:off x="7334250" y="4700588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art-flow-3"/>
          <p:cNvSpPr/>
          <p:nvPr/>
        </p:nvSpPr>
        <p:spPr>
          <a:xfrm>
            <a:off x="9801225" y="4700588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 fill="none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8669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最新旧行"/>
          <p:cNvSpPr txBox="1"/>
          <p:nvPr/>
        </p:nvSpPr>
        <p:spPr>
          <a:xfrm>
            <a:off x="500062" y="5494553"/>
            <a:ext cx="8001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最新旧行</a:t>
            </a:r>
          </a:p>
        </p:txBody>
      </p:sp>
      <p:sp>
        <p:nvSpPr>
          <p:cNvPr id="58" name="old-0"/>
          <p:cNvSpPr/>
          <p:nvPr/>
        </p:nvSpPr>
        <p:spPr>
          <a:xfrm>
            <a:off x="1500188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A"/>
          <p:cNvSpPr txBox="1"/>
          <p:nvPr/>
        </p:nvSpPr>
        <p:spPr>
          <a:xfrm>
            <a:off x="1619843" y="5472951"/>
            <a:ext cx="28075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60" name="old-1"/>
          <p:cNvSpPr/>
          <p:nvPr/>
        </p:nvSpPr>
        <p:spPr>
          <a:xfrm>
            <a:off x="2066925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B"/>
          <p:cNvSpPr txBox="1"/>
          <p:nvPr/>
        </p:nvSpPr>
        <p:spPr>
          <a:xfrm>
            <a:off x="2181215" y="5472951"/>
            <a:ext cx="29148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62" name="old-2"/>
          <p:cNvSpPr/>
          <p:nvPr/>
        </p:nvSpPr>
        <p:spPr>
          <a:xfrm>
            <a:off x="2633662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C"/>
          <p:cNvSpPr txBox="1"/>
          <p:nvPr/>
        </p:nvSpPr>
        <p:spPr>
          <a:xfrm>
            <a:off x="2747953" y="5472951"/>
            <a:ext cx="29148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64" name="old-3"/>
          <p:cNvSpPr/>
          <p:nvPr/>
        </p:nvSpPr>
        <p:spPr>
          <a:xfrm>
            <a:off x="3200400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D"/>
          <p:cNvSpPr txBox="1"/>
          <p:nvPr/>
        </p:nvSpPr>
        <p:spPr>
          <a:xfrm>
            <a:off x="3311086" y="5472951"/>
            <a:ext cx="29869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66" name="text-066: + GB 仅更新第二段 X"/>
          <p:cNvSpPr txBox="1"/>
          <p:nvPr/>
        </p:nvSpPr>
        <p:spPr>
          <a:xfrm>
            <a:off x="4067175" y="5487352"/>
            <a:ext cx="1719621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+ GB 仅更新第二段 X</a:t>
            </a:r>
          </a:p>
        </p:txBody>
      </p:sp>
      <p:sp>
        <p:nvSpPr>
          <p:cNvPr id="67" name="merge-example"/>
          <p:cNvSpPr/>
          <p:nvPr/>
        </p:nvSpPr>
        <p:spPr>
          <a:xfrm>
            <a:off x="6067425" y="5600700"/>
            <a:ext cx="1133475" cy="1"/>
          </a:xfrm>
          <a:custGeom>
            <a:avLst/>
            <a:gdLst/>
            <a:ahLst/>
            <a:cxnLst/>
            <a:rect l="0" t="0" r="r" b="b"/>
            <a:pathLst>
              <a:path w="1133475" h="1" fill="none">
                <a:moveTo>
                  <a:pt x="0" y="0"/>
                </a:moveTo>
                <a:lnTo>
                  <a:pt x="1133475" y="0"/>
                </a:lnTo>
              </a:path>
            </a:pathLst>
          </a:custGeom>
          <a:noFill/>
          <a:ln w="18669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new-0"/>
          <p:cNvSpPr/>
          <p:nvPr/>
        </p:nvSpPr>
        <p:spPr>
          <a:xfrm>
            <a:off x="7467600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A"/>
          <p:cNvSpPr txBox="1"/>
          <p:nvPr/>
        </p:nvSpPr>
        <p:spPr>
          <a:xfrm>
            <a:off x="7587256" y="5472951"/>
            <a:ext cx="28075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70" name="new-1"/>
          <p:cNvSpPr/>
          <p:nvPr/>
        </p:nvSpPr>
        <p:spPr>
          <a:xfrm>
            <a:off x="8034338" y="5367338"/>
            <a:ext cx="520065" cy="466725"/>
          </a:xfrm>
          <a:prstGeom prst="rect">
            <a:avLst/>
          </a:prstGeom>
          <a:solidFill>
            <a:srgbClr val="D9EEE8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X"/>
          <p:cNvSpPr txBox="1"/>
          <p:nvPr/>
        </p:nvSpPr>
        <p:spPr>
          <a:xfrm>
            <a:off x="8155837" y="5472951"/>
            <a:ext cx="277066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X</a:t>
            </a:r>
          </a:p>
        </p:txBody>
      </p:sp>
      <p:sp>
        <p:nvSpPr>
          <p:cNvPr id="72" name="new-2"/>
          <p:cNvSpPr/>
          <p:nvPr/>
        </p:nvSpPr>
        <p:spPr>
          <a:xfrm>
            <a:off x="8601075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C"/>
          <p:cNvSpPr txBox="1"/>
          <p:nvPr/>
        </p:nvSpPr>
        <p:spPr>
          <a:xfrm>
            <a:off x="8715365" y="5472951"/>
            <a:ext cx="29148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74" name="new-3"/>
          <p:cNvSpPr/>
          <p:nvPr/>
        </p:nvSpPr>
        <p:spPr>
          <a:xfrm>
            <a:off x="9167812" y="5367338"/>
            <a:ext cx="520065" cy="466725"/>
          </a:xfrm>
          <a:prstGeom prst="rect">
            <a:avLst/>
          </a:prstGeom>
          <a:solidFill>
            <a:srgbClr val="D8E8F4"/>
          </a:solidFill>
          <a:ln w="11335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D"/>
          <p:cNvSpPr txBox="1"/>
          <p:nvPr/>
        </p:nvSpPr>
        <p:spPr>
          <a:xfrm>
            <a:off x="9278498" y="5472951"/>
            <a:ext cx="298694" cy="2880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76" name="text-076: 保留 A / C / D"/>
          <p:cNvSpPr txBox="1"/>
          <p:nvPr/>
        </p:nvSpPr>
        <p:spPr>
          <a:xfrm>
            <a:off x="10101262" y="5487352"/>
            <a:ext cx="1229497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保留 A / C / D</a:t>
            </a:r>
          </a:p>
        </p:txBody>
      </p:sp>
      <p:sp>
        <p:nvSpPr>
          <p:cNvPr id="77" name="text-077: 出错时记录部分完成范围，暂停复用缓冲；排空迟到事务或受控复位后恢复。"/>
          <p:cNvSpPr txBox="1"/>
          <p:nvPr/>
        </p:nvSpPr>
        <p:spPr>
          <a:xfrm>
            <a:off x="466725" y="6047422"/>
            <a:ext cx="5834062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出错时记录部分完成范围，暂停复用缓冲；排空迟到事务或受控复位后恢复。</a:t>
            </a:r>
          </a:p>
        </p:txBody>
      </p:sp>
      <p:sp>
        <p:nvSpPr>
          <p:cNvPr id="78" name="text-078: 需要整帧一致视图时，用版本、所有权或双缓冲组织跨行数据交接。"/>
          <p:cNvSpPr txBox="1"/>
          <p:nvPr/>
        </p:nvSpPr>
        <p:spPr>
          <a:xfrm>
            <a:off x="366712" y="6687502"/>
            <a:ext cx="5167312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需要整帧一致视图时，用版本、所有权或双缓冲组织跨行数据交接。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