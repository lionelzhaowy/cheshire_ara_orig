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polyline-005"/>
          <p:cNvSpPr/>
          <p:nvPr/>
        </p:nvSpPr>
        <p:spPr>
          <a:xfrm>
            <a:off x="3520440" y="2169160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 fill="none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7"/>
          <p:cNvSpPr/>
          <p:nvPr/>
        </p:nvSpPr>
        <p:spPr>
          <a:xfrm>
            <a:off x="8143240" y="2169160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 fill="none">
                <a:moveTo>
                  <a:pt x="113792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9"/>
          <p:cNvSpPr/>
          <p:nvPr/>
        </p:nvSpPr>
        <p:spPr>
          <a:xfrm>
            <a:off x="1955800" y="2702560"/>
            <a:ext cx="1" cy="1244600"/>
          </a:xfrm>
          <a:custGeom>
            <a:avLst/>
            <a:gdLst/>
            <a:ahLst/>
            <a:cxnLst/>
            <a:rect l="0" t="0" r="r" b="b"/>
            <a:pathLst>
              <a:path w="1" h="1244600" fill="none">
                <a:moveTo>
                  <a:pt x="0" y="0"/>
                </a:moveTo>
                <a:lnTo>
                  <a:pt x="0" y="124460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1"/>
          <p:cNvSpPr/>
          <p:nvPr/>
        </p:nvSpPr>
        <p:spPr>
          <a:xfrm>
            <a:off x="10845800" y="2702560"/>
            <a:ext cx="1" cy="1244600"/>
          </a:xfrm>
          <a:custGeom>
            <a:avLst/>
            <a:gdLst/>
            <a:ahLst/>
            <a:cxnLst/>
            <a:rect l="0" t="0" r="r" b="b"/>
            <a:pathLst>
              <a:path w="1" h="1244600" fill="none">
                <a:moveTo>
                  <a:pt x="0" y="0"/>
                </a:moveTo>
                <a:lnTo>
                  <a:pt x="0" y="124460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3"/>
          <p:cNvSpPr/>
          <p:nvPr/>
        </p:nvSpPr>
        <p:spPr>
          <a:xfrm>
            <a:off x="1955800" y="5013960"/>
            <a:ext cx="2311400" cy="1475740"/>
          </a:xfrm>
          <a:custGeom>
            <a:avLst/>
            <a:gdLst/>
            <a:ahLst/>
            <a:cxnLst/>
            <a:rect l="0" t="0" r="r" b="b"/>
            <a:pathLst>
              <a:path w="2311400" h="1475740" fill="none">
                <a:moveTo>
                  <a:pt x="0" y="0"/>
                </a:moveTo>
                <a:lnTo>
                  <a:pt x="0" y="1472184"/>
                </a:lnTo>
                <a:lnTo>
                  <a:pt x="2311400" y="147574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5"/>
          <p:cNvSpPr/>
          <p:nvPr/>
        </p:nvSpPr>
        <p:spPr>
          <a:xfrm>
            <a:off x="8534400" y="5013960"/>
            <a:ext cx="2311400" cy="1475740"/>
          </a:xfrm>
          <a:custGeom>
            <a:avLst/>
            <a:gdLst/>
            <a:ahLst/>
            <a:cxnLst/>
            <a:rect l="0" t="0" r="r" b="b"/>
            <a:pathLst>
              <a:path w="2311400" h="1475740" fill="none">
                <a:moveTo>
                  <a:pt x="2311400" y="0"/>
                </a:moveTo>
                <a:lnTo>
                  <a:pt x="2311400" y="1472184"/>
                </a:lnTo>
                <a:lnTo>
                  <a:pt x="0" y="147574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7: 未来共享存储：资源位置、访问路径与协议职责"/>
          <p:cNvSpPr txBox="1"/>
          <p:nvPr/>
        </p:nvSpPr>
        <p:spPr>
          <a:xfrm>
            <a:off x="483616" y="271109"/>
            <a:ext cx="5632704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未来共享存储：资源位置、访问路径与协议职责</a:t>
            </a:r>
          </a:p>
        </p:txBody>
      </p:sp>
      <p:sp>
        <p:nvSpPr>
          <p:cNvPr id="12" name="text-018: 共享地址空间只是第一步；选择 SPM / SRAM 或 DDR 还会改变容量、延"/>
          <p:cNvSpPr txBox="1"/>
          <p:nvPr/>
        </p:nvSpPr>
        <p:spPr>
          <a:xfrm>
            <a:off x="483616" y="676778"/>
            <a:ext cx="687837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共享地址空间只是第一步；选择 SPM / SRAM 或 DDR 还会改变容量、延迟和缓存边界。</a:t>
            </a:r>
          </a:p>
        </p:txBody>
      </p:sp>
      <p:sp>
        <p:nvSpPr>
          <p:cNvPr id="13" name="text-019: 未来方案 / 待实现与验证"/>
          <p:cNvSpPr txBox="1"/>
          <p:nvPr/>
        </p:nvSpPr>
        <p:spPr>
          <a:xfrm>
            <a:off x="341376" y="7498324"/>
            <a:ext cx="19341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4" name="text-020: 依据：未来 M01 / I01 契约；当前 VRF 不是可被 NPU 共享寻址的"/>
          <p:cNvSpPr txBox="1"/>
          <p:nvPr/>
        </p:nvSpPr>
        <p:spPr>
          <a:xfrm>
            <a:off x="341376" y="7726477"/>
            <a:ext cx="5341112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依据：未来 M01 / I01 契约；当前 VRF 不是可被 NPU 共享寻址的 cache</a:t>
            </a:r>
          </a:p>
        </p:txBody>
      </p:sp>
      <p:sp>
        <p:nvSpPr>
          <p:cNvPr id="15" name="rect-021"/>
          <p:cNvSpPr/>
          <p:nvPr/>
        </p:nvSpPr>
        <p:spPr>
          <a:xfrm>
            <a:off x="391160" y="1635760"/>
            <a:ext cx="3129280" cy="1066800"/>
          </a:xfrm>
          <a:prstGeom prst="roundRect">
            <a:avLst>
              <a:gd name="adj" fmla="val 4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-022"/>
          <p:cNvSpPr/>
          <p:nvPr/>
        </p:nvSpPr>
        <p:spPr>
          <a:xfrm>
            <a:off x="391160" y="1635760"/>
            <a:ext cx="35560" cy="10668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23: CPU / Ara"/>
          <p:cNvSpPr txBox="1"/>
          <p:nvPr/>
        </p:nvSpPr>
        <p:spPr>
          <a:xfrm>
            <a:off x="512064" y="1663639"/>
            <a:ext cx="126664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CPU / Ara</a:t>
            </a:r>
          </a:p>
        </p:txBody>
      </p:sp>
      <p:sp>
        <p:nvSpPr>
          <p:cNvPr id="18" name="text-024: 任务控制与后处理"/>
          <p:cNvSpPr txBox="1"/>
          <p:nvPr/>
        </p:nvSpPr>
        <p:spPr>
          <a:xfrm>
            <a:off x="512064" y="1935033"/>
            <a:ext cx="153619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任务控制与后处理</a:t>
            </a:r>
          </a:p>
        </p:txBody>
      </p:sp>
      <p:sp>
        <p:nvSpPr>
          <p:cNvPr id="19" name="text-025: 现有 LLC 路径"/>
          <p:cNvSpPr txBox="1"/>
          <p:nvPr/>
        </p:nvSpPr>
        <p:spPr>
          <a:xfrm>
            <a:off x="512064" y="2148393"/>
            <a:ext cx="140817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现有 LLC 路径</a:t>
            </a:r>
          </a:p>
        </p:txBody>
      </p:sp>
      <p:sp>
        <p:nvSpPr>
          <p:cNvPr id="20" name="rect-026"/>
          <p:cNvSpPr/>
          <p:nvPr/>
        </p:nvSpPr>
        <p:spPr>
          <a:xfrm>
            <a:off x="9281160" y="1635760"/>
            <a:ext cx="3129280" cy="1066800"/>
          </a:xfrm>
          <a:prstGeom prst="roundRect">
            <a:avLst>
              <a:gd name="adj" fmla="val 466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7"/>
          <p:cNvSpPr/>
          <p:nvPr/>
        </p:nvSpPr>
        <p:spPr>
          <a:xfrm>
            <a:off x="9281160" y="1635760"/>
            <a:ext cx="35560" cy="10668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8: NPU / ISP"/>
          <p:cNvSpPr txBox="1"/>
          <p:nvPr/>
        </p:nvSpPr>
        <p:spPr>
          <a:xfrm>
            <a:off x="9402064" y="1663639"/>
            <a:ext cx="126664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NPU / ISP</a:t>
            </a:r>
          </a:p>
        </p:txBody>
      </p:sp>
      <p:sp>
        <p:nvSpPr>
          <p:cNvPr id="23" name="text-029: 独立数据发起端"/>
          <p:cNvSpPr txBox="1"/>
          <p:nvPr/>
        </p:nvSpPr>
        <p:spPr>
          <a:xfrm>
            <a:off x="9402064" y="193503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独立数据发起端</a:t>
            </a:r>
          </a:p>
        </p:txBody>
      </p:sp>
      <p:sp>
        <p:nvSpPr>
          <p:cNvPr id="24" name="text-030: 未来 DDR 旁路"/>
          <p:cNvSpPr txBox="1"/>
          <p:nvPr/>
        </p:nvSpPr>
        <p:spPr>
          <a:xfrm>
            <a:off x="9402064" y="2148393"/>
            <a:ext cx="140817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未来 DDR 旁路</a:t>
            </a:r>
          </a:p>
        </p:txBody>
      </p:sp>
      <p:sp>
        <p:nvSpPr>
          <p:cNvPr id="25" name="rect-031"/>
          <p:cNvSpPr/>
          <p:nvPr/>
        </p:nvSpPr>
        <p:spPr>
          <a:xfrm>
            <a:off x="4658360" y="1635760"/>
            <a:ext cx="3484880" cy="1066800"/>
          </a:xfrm>
          <a:prstGeom prst="roundRect">
            <a:avLst>
              <a:gd name="adj" fmla="val 4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32"/>
          <p:cNvSpPr/>
          <p:nvPr/>
        </p:nvSpPr>
        <p:spPr>
          <a:xfrm>
            <a:off x="4658360" y="1635760"/>
            <a:ext cx="35560" cy="10668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33: 共享 SPM / SRAM 候选"/>
          <p:cNvSpPr txBox="1"/>
          <p:nvPr/>
        </p:nvSpPr>
        <p:spPr>
          <a:xfrm>
            <a:off x="4779264" y="1663639"/>
            <a:ext cx="236687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共享 SPM / SRAM 候选</a:t>
            </a:r>
          </a:p>
        </p:txBody>
      </p:sp>
      <p:sp>
        <p:nvSpPr>
          <p:cNvPr id="28" name="text-034: 小块数据 / 明确地址与所有权"/>
          <p:cNvSpPr txBox="1"/>
          <p:nvPr/>
        </p:nvSpPr>
        <p:spPr>
          <a:xfrm>
            <a:off x="4779264" y="1935033"/>
            <a:ext cx="255178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小块数据 / 明确地址与所有权</a:t>
            </a:r>
          </a:p>
        </p:txBody>
      </p:sp>
      <p:sp>
        <p:nvSpPr>
          <p:cNvPr id="29" name="text-035: 新增接入路径需单独定义"/>
          <p:cNvSpPr txBox="1"/>
          <p:nvPr/>
        </p:nvSpPr>
        <p:spPr>
          <a:xfrm>
            <a:off x="4779264" y="2148393"/>
            <a:ext cx="2048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新增接入路径需单独定义</a:t>
            </a:r>
          </a:p>
        </p:txBody>
      </p:sp>
      <p:sp>
        <p:nvSpPr>
          <p:cNvPr id="30" name="rect-036"/>
          <p:cNvSpPr/>
          <p:nvPr/>
        </p:nvSpPr>
        <p:spPr>
          <a:xfrm>
            <a:off x="391160" y="3947160"/>
            <a:ext cx="3129280" cy="1066800"/>
          </a:xfrm>
          <a:prstGeom prst="roundRect">
            <a:avLst>
              <a:gd name="adj" fmla="val 4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-037"/>
          <p:cNvSpPr/>
          <p:nvPr/>
        </p:nvSpPr>
        <p:spPr>
          <a:xfrm>
            <a:off x="391160" y="3947160"/>
            <a:ext cx="35560" cy="10668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8: 现有 LLC 路径"/>
          <p:cNvSpPr txBox="1"/>
          <p:nvPr/>
        </p:nvSpPr>
        <p:spPr>
          <a:xfrm>
            <a:off x="512064" y="3975039"/>
            <a:ext cx="152552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现有 LLC 路径</a:t>
            </a:r>
          </a:p>
        </p:txBody>
      </p:sp>
      <p:sp>
        <p:nvSpPr>
          <p:cNvPr id="33" name="text-039: 缓存副本与脏数据处理"/>
          <p:cNvSpPr txBox="1"/>
          <p:nvPr/>
        </p:nvSpPr>
        <p:spPr>
          <a:xfrm>
            <a:off x="512064" y="424643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缓存副本与脏数据处理</a:t>
            </a:r>
          </a:p>
        </p:txBody>
      </p:sp>
      <p:sp>
        <p:nvSpPr>
          <p:cNvPr id="34" name="text-040: CPU / Ara 维护条件"/>
          <p:cNvSpPr txBox="1"/>
          <p:nvPr/>
        </p:nvSpPr>
        <p:spPr>
          <a:xfrm>
            <a:off x="512064" y="4459793"/>
            <a:ext cx="196291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/ Ara 维护条件</a:t>
            </a:r>
          </a:p>
        </p:txBody>
      </p:sp>
      <p:sp>
        <p:nvSpPr>
          <p:cNvPr id="35" name="rect-041"/>
          <p:cNvSpPr/>
          <p:nvPr/>
        </p:nvSpPr>
        <p:spPr>
          <a:xfrm>
            <a:off x="9281160" y="3947160"/>
            <a:ext cx="3129280" cy="1066800"/>
          </a:xfrm>
          <a:prstGeom prst="roundRect">
            <a:avLst>
              <a:gd name="adj" fmla="val 466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-042"/>
          <p:cNvSpPr/>
          <p:nvPr/>
        </p:nvSpPr>
        <p:spPr>
          <a:xfrm>
            <a:off x="9281160" y="3947160"/>
            <a:ext cx="35560" cy="10668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43: 旁路互连候选"/>
          <p:cNvSpPr txBox="1"/>
          <p:nvPr/>
        </p:nvSpPr>
        <p:spPr>
          <a:xfrm>
            <a:off x="9402064" y="3975039"/>
            <a:ext cx="12943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旁路互连候选</a:t>
            </a:r>
          </a:p>
        </p:txBody>
      </p:sp>
      <p:sp>
        <p:nvSpPr>
          <p:cNvPr id="38" name="text-044: CDC / ID / 带宽与错误"/>
          <p:cNvSpPr txBox="1"/>
          <p:nvPr/>
        </p:nvSpPr>
        <p:spPr>
          <a:xfrm>
            <a:off x="9402064" y="4246433"/>
            <a:ext cx="224454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CDC / ID / 带宽与错误</a:t>
            </a:r>
          </a:p>
        </p:txBody>
      </p:sp>
      <p:sp>
        <p:nvSpPr>
          <p:cNvPr id="39" name="text-045: 与 LLC 下游汇合"/>
          <p:cNvSpPr txBox="1"/>
          <p:nvPr/>
        </p:nvSpPr>
        <p:spPr>
          <a:xfrm>
            <a:off x="9402064" y="4459793"/>
            <a:ext cx="157886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与 LLC 下游汇合</a:t>
            </a:r>
          </a:p>
        </p:txBody>
      </p:sp>
      <p:sp>
        <p:nvSpPr>
          <p:cNvPr id="40" name="rect-046"/>
          <p:cNvSpPr/>
          <p:nvPr/>
        </p:nvSpPr>
        <p:spPr>
          <a:xfrm>
            <a:off x="4267200" y="5974080"/>
            <a:ext cx="4267200" cy="1031240"/>
          </a:xfrm>
          <a:prstGeom prst="roundRect">
            <a:avLst>
              <a:gd name="adj" fmla="val 4827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7"/>
          <p:cNvSpPr/>
          <p:nvPr/>
        </p:nvSpPr>
        <p:spPr>
          <a:xfrm>
            <a:off x="4267200" y="5974080"/>
            <a:ext cx="35560" cy="103124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8: AXI4 DDR CTRL + PHY + DRAM"/>
          <p:cNvSpPr txBox="1"/>
          <p:nvPr/>
        </p:nvSpPr>
        <p:spPr>
          <a:xfrm>
            <a:off x="4388104" y="6001959"/>
            <a:ext cx="330992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AXI4 DDR CTRL + PHY + DRAM</a:t>
            </a:r>
          </a:p>
        </p:txBody>
      </p:sp>
      <p:sp>
        <p:nvSpPr>
          <p:cNvPr id="43" name="text-049: 共用数据布局与可见性协议"/>
          <p:cNvSpPr txBox="1"/>
          <p:nvPr/>
        </p:nvSpPr>
        <p:spPr>
          <a:xfrm>
            <a:off x="4388104" y="627335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共用数据布局与可见性协议</a:t>
            </a:r>
          </a:p>
        </p:txBody>
      </p:sp>
      <p:sp>
        <p:nvSpPr>
          <p:cNvPr id="44" name="text-050: 普通旁路写也纳入原子 / LRSC 验证"/>
          <p:cNvSpPr txBox="1"/>
          <p:nvPr/>
        </p:nvSpPr>
        <p:spPr>
          <a:xfrm>
            <a:off x="4388104" y="6486713"/>
            <a:ext cx="310652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普通旁路写也纳入原子 / LRSC 验证</a:t>
            </a:r>
          </a:p>
        </p:txBody>
      </p:sp>
      <p:sp>
        <p:nvSpPr>
          <p:cNvPr id="45" name="rect-051"/>
          <p:cNvSpPr/>
          <p:nvPr/>
        </p:nvSpPr>
        <p:spPr>
          <a:xfrm>
            <a:off x="4658360" y="3733800"/>
            <a:ext cx="3484880" cy="1422400"/>
          </a:xfrm>
          <a:prstGeom prst="roundRect">
            <a:avLst>
              <a:gd name="adj" fmla="val 35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-052"/>
          <p:cNvSpPr/>
          <p:nvPr/>
        </p:nvSpPr>
        <p:spPr>
          <a:xfrm>
            <a:off x="4658360" y="3733800"/>
            <a:ext cx="35560" cy="14224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53: 一次任务的协议"/>
          <p:cNvSpPr txBox="1"/>
          <p:nvPr/>
        </p:nvSpPr>
        <p:spPr>
          <a:xfrm>
            <a:off x="4779264" y="3761679"/>
            <a:ext cx="14792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一次任务的协议</a:t>
            </a:r>
          </a:p>
        </p:txBody>
      </p:sp>
      <p:sp>
        <p:nvSpPr>
          <p:cNvPr id="48" name="text-054: 谁可写？何时可读？"/>
          <p:cNvSpPr txBox="1"/>
          <p:nvPr/>
        </p:nvSpPr>
        <p:spPr>
          <a:xfrm>
            <a:off x="4779264" y="4048435"/>
            <a:ext cx="15646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谁可写？何时可读？</a:t>
            </a:r>
          </a:p>
        </p:txBody>
      </p:sp>
      <p:sp>
        <p:nvSpPr>
          <p:cNvPr id="49" name="text-055: 由谁发布、观察并核对完成？"/>
          <p:cNvSpPr txBox="1"/>
          <p:nvPr/>
        </p:nvSpPr>
        <p:spPr>
          <a:xfrm>
            <a:off x="4779264" y="4261795"/>
            <a:ext cx="21904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由谁发布、观察并核对完成？</a:t>
            </a:r>
          </a:p>
        </p:txBody>
      </p:sp>
      <p:sp>
        <p:nvSpPr>
          <p:cNvPr id="50" name="text-056: 超时后谁保证设备已停止？"/>
          <p:cNvSpPr txBox="1"/>
          <p:nvPr/>
        </p:nvSpPr>
        <p:spPr>
          <a:xfrm>
            <a:off x="4779264" y="4475155"/>
            <a:ext cx="203403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超时后谁保证设备已停止？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