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801600" cy="72009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SoC v1：软件触发的 DDR–GB 缓存维护"/>
          <p:cNvSpPr txBox="1"/>
          <p:nvPr/>
        </p:nvSpPr>
        <p:spPr>
          <a:xfrm>
            <a:off x="200025" y="60488"/>
            <a:ext cx="2662527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v1：软件触发的 DDR–GB 缓存维护</a:t>
            </a:r>
          </a:p>
        </p:txBody>
      </p:sp>
      <p:sp>
        <p:nvSpPr>
          <p:cNvPr id="3" name="text-003: 输入：FENCE + LLC 全量 flush；输出：软件配置范围，硬件失效 L"/>
          <p:cNvSpPr txBox="1"/>
          <p:nvPr/>
        </p:nvSpPr>
        <p:spPr>
          <a:xfrm>
            <a:off x="200025" y="280355"/>
            <a:ext cx="3382360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输入：FENCE + LLC 全量 flush；输出：软件配置范围，硬件失效 L1D / LLC。</a:t>
            </a:r>
          </a:p>
        </p:txBody>
      </p:sp>
      <p:sp>
        <p:nvSpPr>
          <p:cNvPr id="4" name="compute-region"/>
          <p:cNvSpPr/>
          <p:nvPr/>
        </p:nvSpPr>
        <p:spPr>
          <a:xfrm>
            <a:off x="240030" y="580072"/>
            <a:ext cx="3800475" cy="1920240"/>
          </a:xfrm>
          <a:prstGeom prst="rect">
            <a:avLst/>
          </a:prstGeom>
          <a:solidFill>
            <a:srgbClr val="FAF2F3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pu"/>
          <p:cNvSpPr/>
          <p:nvPr/>
        </p:nvSpPr>
        <p:spPr>
          <a:xfrm>
            <a:off x="320040" y="720090"/>
            <a:ext cx="1440180" cy="480060"/>
          </a:xfrm>
          <a:prstGeom prst="rect">
            <a:avLst/>
          </a:prstGeom>
          <a:solidFill>
            <a:srgbClr val="F1D7D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-006: CVA6 CPU"/>
          <p:cNvSpPr txBox="1"/>
          <p:nvPr/>
        </p:nvSpPr>
        <p:spPr>
          <a:xfrm>
            <a:off x="745468" y="815462"/>
            <a:ext cx="589324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CPU</a:t>
            </a:r>
          </a:p>
        </p:txBody>
      </p:sp>
      <p:sp>
        <p:nvSpPr>
          <p:cNvPr id="7" name="text-007: L1D / WT 写缓冲"/>
          <p:cNvSpPr txBox="1"/>
          <p:nvPr/>
        </p:nvSpPr>
        <p:spPr>
          <a:xfrm>
            <a:off x="632220" y="968441"/>
            <a:ext cx="815821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L1D / WT 写缓冲</a:t>
            </a:r>
          </a:p>
        </p:txBody>
      </p:sp>
      <p:sp>
        <p:nvSpPr>
          <p:cNvPr id="8" name="ara"/>
          <p:cNvSpPr/>
          <p:nvPr/>
        </p:nvSpPr>
        <p:spPr>
          <a:xfrm>
            <a:off x="2240280" y="720090"/>
            <a:ext cx="1440180" cy="480060"/>
          </a:xfrm>
          <a:prstGeom prst="rect">
            <a:avLst/>
          </a:prstGeom>
          <a:solidFill>
            <a:srgbClr val="F1D7D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09: Ara 2 lanes"/>
          <p:cNvSpPr txBox="1"/>
          <p:nvPr/>
        </p:nvSpPr>
        <p:spPr>
          <a:xfrm>
            <a:off x="2636698" y="815462"/>
            <a:ext cx="64734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2 lanes</a:t>
            </a:r>
          </a:p>
        </p:txBody>
      </p:sp>
      <p:sp>
        <p:nvSpPr>
          <p:cNvPr id="10" name="text-010: VLSU / AXI64"/>
          <p:cNvSpPr txBox="1"/>
          <p:nvPr/>
        </p:nvSpPr>
        <p:spPr>
          <a:xfrm>
            <a:off x="2624562" y="968441"/>
            <a:ext cx="671615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VLSU / AXI64</a:t>
            </a:r>
          </a:p>
        </p:txBody>
      </p:sp>
      <p:sp>
        <p:nvSpPr>
          <p:cNvPr id="11" name="filter"/>
          <p:cNvSpPr/>
          <p:nvPr/>
        </p:nvSpPr>
        <p:spPr>
          <a:xfrm>
            <a:off x="2240280" y="1400175"/>
            <a:ext cx="1440180" cy="320040"/>
          </a:xfrm>
          <a:prstGeom prst="rect">
            <a:avLst/>
          </a:prstGeom>
          <a:solidFill>
            <a:srgbClr val="F1D7D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既有失效过滤 / 等宽转换"/>
          <p:cNvSpPr txBox="1"/>
          <p:nvPr/>
        </p:nvSpPr>
        <p:spPr>
          <a:xfrm>
            <a:off x="2305851" y="1483545"/>
            <a:ext cx="1309039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既有失效过滤 / 等宽转换</a:t>
            </a:r>
          </a:p>
        </p:txBody>
      </p:sp>
      <p:sp>
        <p:nvSpPr>
          <p:cNvPr id="13" name="xbar"/>
          <p:cNvSpPr/>
          <p:nvPr/>
        </p:nvSpPr>
        <p:spPr>
          <a:xfrm>
            <a:off x="320040" y="2000250"/>
            <a:ext cx="3600450" cy="360045"/>
          </a:xfrm>
          <a:prstGeom prst="rect">
            <a:avLst/>
          </a:prstGeom>
          <a:solidFill>
            <a:srgbClr val="F5E1C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4: 主 AXI Crossbar · 64 bit"/>
          <p:cNvSpPr txBox="1"/>
          <p:nvPr/>
        </p:nvSpPr>
        <p:spPr>
          <a:xfrm>
            <a:off x="1509573" y="2035614"/>
            <a:ext cx="1221384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 AXI Crossbar · 64 bit</a:t>
            </a:r>
          </a:p>
        </p:txBody>
      </p:sp>
      <p:sp>
        <p:nvSpPr>
          <p:cNvPr id="15" name="text-015: CPU / Ara 独立输入 · M2 主存 / M5 GB"/>
          <p:cNvSpPr txBox="1"/>
          <p:nvPr/>
        </p:nvSpPr>
        <p:spPr>
          <a:xfrm>
            <a:off x="1240358" y="2188594"/>
            <a:ext cx="1759814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独立输入 · M2 主存 / M5 GB</a:t>
            </a:r>
          </a:p>
        </p:txBody>
      </p:sp>
      <p:sp>
        <p:nvSpPr>
          <p:cNvPr id="16" name="llc"/>
          <p:cNvSpPr/>
          <p:nvPr/>
        </p:nvSpPr>
        <p:spPr>
          <a:xfrm>
            <a:off x="360045" y="2920365"/>
            <a:ext cx="1680210" cy="520065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7: M2：原子适配 → LLC"/>
          <p:cNvSpPr txBox="1"/>
          <p:nvPr/>
        </p:nvSpPr>
        <p:spPr>
          <a:xfrm>
            <a:off x="625641" y="3035739"/>
            <a:ext cx="1149019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M2：原子适配 → LLC</a:t>
            </a:r>
          </a:p>
        </p:txBody>
      </p:sp>
      <p:sp>
        <p:nvSpPr>
          <p:cNvPr id="18" name="text-018: WB cache / 保留 SPM"/>
          <p:cNvSpPr txBox="1"/>
          <p:nvPr/>
        </p:nvSpPr>
        <p:spPr>
          <a:xfrm>
            <a:off x="684976" y="3188719"/>
            <a:ext cx="1030348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WB cache / 保留 SPM</a:t>
            </a:r>
          </a:p>
        </p:txBody>
      </p:sp>
      <p:sp>
        <p:nvSpPr>
          <p:cNvPr id="19" name="gb-region"/>
          <p:cNvSpPr/>
          <p:nvPr/>
        </p:nvSpPr>
        <p:spPr>
          <a:xfrm>
            <a:off x="4320540" y="580072"/>
            <a:ext cx="4080510" cy="2040255"/>
          </a:xfrm>
          <a:prstGeom prst="rect">
            <a:avLst/>
          </a:prstGeom>
          <a:solidFill>
            <a:srgbClr val="F0F8F5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npu"/>
          <p:cNvSpPr/>
          <p:nvPr/>
        </p:nvSpPr>
        <p:spPr>
          <a:xfrm>
            <a:off x="4480560" y="800100"/>
            <a:ext cx="1600200" cy="480060"/>
          </a:xfrm>
          <a:prstGeom prst="rect">
            <a:avLst/>
          </a:prstGeom>
          <a:solidFill>
            <a:srgbClr val="D9EEE8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NPU 计算"/>
          <p:cNvSpPr txBox="1"/>
          <p:nvPr/>
        </p:nvSpPr>
        <p:spPr>
          <a:xfrm>
            <a:off x="5002081" y="895472"/>
            <a:ext cx="557157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22" name="text-022: GB 操作数 / 结果"/>
          <p:cNvSpPr txBox="1"/>
          <p:nvPr/>
        </p:nvSpPr>
        <p:spPr>
          <a:xfrm>
            <a:off x="4863139" y="1048451"/>
            <a:ext cx="835042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操作数 / 结果</a:t>
            </a:r>
          </a:p>
        </p:txBody>
      </p:sp>
      <p:sp>
        <p:nvSpPr>
          <p:cNvPr id="23" name="mover"/>
          <p:cNvSpPr/>
          <p:nvPr/>
        </p:nvSpPr>
        <p:spPr>
          <a:xfrm>
            <a:off x="6680835" y="800100"/>
            <a:ext cx="1600200" cy="480060"/>
          </a:xfrm>
          <a:prstGeom prst="rect">
            <a:avLst/>
          </a:prstGeom>
          <a:solidFill>
            <a:srgbClr val="D9EEE8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DDR ↔ GB 搬运器"/>
          <p:cNvSpPr txBox="1"/>
          <p:nvPr/>
        </p:nvSpPr>
        <p:spPr>
          <a:xfrm>
            <a:off x="6988642" y="895472"/>
            <a:ext cx="984586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搬运器</a:t>
            </a:r>
          </a:p>
        </p:txBody>
      </p:sp>
      <p:sp>
        <p:nvSpPr>
          <p:cNvPr id="25" name="text-025: GB 本地口 / F1 DDR 口"/>
          <p:cNvSpPr txBox="1"/>
          <p:nvPr/>
        </p:nvSpPr>
        <p:spPr>
          <a:xfrm>
            <a:off x="6937820" y="1048451"/>
            <a:ext cx="1086230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本地口 / F1 DDR 口</a:t>
            </a:r>
          </a:p>
        </p:txBody>
      </p:sp>
      <p:sp>
        <p:nvSpPr>
          <p:cNvPr id="26" name="adapter"/>
          <p:cNvSpPr/>
          <p:nvPr/>
        </p:nvSpPr>
        <p:spPr>
          <a:xfrm>
            <a:off x="4480560" y="2000250"/>
            <a:ext cx="1520190" cy="480060"/>
          </a:xfrm>
          <a:prstGeom prst="rect">
            <a:avLst/>
          </a:prstGeom>
          <a:solidFill>
            <a:srgbClr val="D9EEE8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7: GB 共享访问适配"/>
          <p:cNvSpPr txBox="1"/>
          <p:nvPr/>
        </p:nvSpPr>
        <p:spPr>
          <a:xfrm>
            <a:off x="4777375" y="2095622"/>
            <a:ext cx="926560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共享访问适配</a:t>
            </a:r>
          </a:p>
        </p:txBody>
      </p:sp>
      <p:sp>
        <p:nvSpPr>
          <p:cNvPr id="28" name="text-028: 仲裁 / bank 冲突处理"/>
          <p:cNvSpPr txBox="1"/>
          <p:nvPr/>
        </p:nvSpPr>
        <p:spPr>
          <a:xfrm>
            <a:off x="4734857" y="2248601"/>
            <a:ext cx="1011595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仲裁 / bank 冲突处理</a:t>
            </a:r>
          </a:p>
        </p:txBody>
      </p:sp>
      <p:sp>
        <p:nvSpPr>
          <p:cNvPr id="29" name="gb"/>
          <p:cNvSpPr/>
          <p:nvPr/>
        </p:nvSpPr>
        <p:spPr>
          <a:xfrm>
            <a:off x="6400800" y="2000250"/>
            <a:ext cx="1560195" cy="480060"/>
          </a:xfrm>
          <a:prstGeom prst="rect">
            <a:avLst/>
          </a:prstGeom>
          <a:solidFill>
            <a:srgbClr val="D9EEE8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Global Buffer"/>
          <p:cNvSpPr txBox="1"/>
          <p:nvPr/>
        </p:nvSpPr>
        <p:spPr>
          <a:xfrm>
            <a:off x="6820621" y="2095622"/>
            <a:ext cx="72055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31" name="text-031: 独立 SRAM · 非缓存映射建议"/>
          <p:cNvSpPr txBox="1"/>
          <p:nvPr/>
        </p:nvSpPr>
        <p:spPr>
          <a:xfrm>
            <a:off x="6520534" y="2248601"/>
            <a:ext cx="1320728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非缓存映射建议</a:t>
            </a:r>
          </a:p>
        </p:txBody>
      </p:sp>
      <p:sp>
        <p:nvSpPr>
          <p:cNvPr id="32" name="isp"/>
          <p:cNvSpPr/>
          <p:nvPr/>
        </p:nvSpPr>
        <p:spPr>
          <a:xfrm>
            <a:off x="9001125" y="800100"/>
            <a:ext cx="1600200" cy="480060"/>
          </a:xfrm>
          <a:prstGeom prst="rect">
            <a:avLst/>
          </a:prstGeom>
          <a:solidFill>
            <a:srgbClr val="F5E1C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3: LVDS RX / ISP"/>
          <p:cNvSpPr txBox="1"/>
          <p:nvPr/>
        </p:nvSpPr>
        <p:spPr>
          <a:xfrm>
            <a:off x="9404078" y="895472"/>
            <a:ext cx="79429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RX / ISP</a:t>
            </a:r>
          </a:p>
        </p:txBody>
      </p:sp>
      <p:sp>
        <p:nvSpPr>
          <p:cNvPr id="34" name="text-034: RAW 或处理后像素"/>
          <p:cNvSpPr txBox="1"/>
          <p:nvPr/>
        </p:nvSpPr>
        <p:spPr>
          <a:xfrm>
            <a:off x="9354872" y="1048451"/>
            <a:ext cx="892705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或处理后像素</a:t>
            </a:r>
          </a:p>
        </p:txBody>
      </p:sp>
      <p:sp>
        <p:nvSpPr>
          <p:cNvPr id="35" name="frame"/>
          <p:cNvSpPr/>
          <p:nvPr/>
        </p:nvSpPr>
        <p:spPr>
          <a:xfrm>
            <a:off x="9001125" y="2000250"/>
            <a:ext cx="1600200" cy="480060"/>
          </a:xfrm>
          <a:prstGeom prst="rect">
            <a:avLst/>
          </a:prstGeom>
          <a:solidFill>
            <a:srgbClr val="F5E1C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帧写入 DMA"/>
          <p:cNvSpPr txBox="1"/>
          <p:nvPr/>
        </p:nvSpPr>
        <p:spPr>
          <a:xfrm>
            <a:off x="9458935" y="2095622"/>
            <a:ext cx="684579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7" name="text-037: F2：AW / W，返回 B"/>
          <p:cNvSpPr txBox="1"/>
          <p:nvPr/>
        </p:nvSpPr>
        <p:spPr>
          <a:xfrm>
            <a:off x="9306022" y="2248601"/>
            <a:ext cx="990405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F2：AW / W，返回 B</a:t>
            </a:r>
          </a:p>
        </p:txBody>
      </p:sp>
      <p:sp>
        <p:nvSpPr>
          <p:cNvPr id="38" name="roi"/>
          <p:cNvSpPr/>
          <p:nvPr/>
        </p:nvSpPr>
        <p:spPr>
          <a:xfrm>
            <a:off x="11001375" y="2960370"/>
            <a:ext cx="1440180" cy="640080"/>
          </a:xfrm>
          <a:prstGeom prst="rect">
            <a:avLst/>
          </a:prstGeom>
          <a:solidFill>
            <a:srgbClr val="F5E1C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ROI 调度 / 二维读 DMA"/>
          <p:cNvSpPr txBox="1"/>
          <p:nvPr/>
        </p:nvSpPr>
        <p:spPr>
          <a:xfrm>
            <a:off x="11111454" y="3067743"/>
            <a:ext cx="1220021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调度 / 二维读 DMA</a:t>
            </a:r>
          </a:p>
        </p:txBody>
      </p:sp>
      <p:sp>
        <p:nvSpPr>
          <p:cNvPr id="40" name="text-040: F3：AR，返回 R"/>
          <p:cNvSpPr txBox="1"/>
          <p:nvPr/>
        </p:nvSpPr>
        <p:spPr>
          <a:xfrm>
            <a:off x="11328932" y="3220723"/>
            <a:ext cx="785067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F3：AR，返回 R</a:t>
            </a:r>
          </a:p>
        </p:txBody>
      </p:sp>
      <p:sp>
        <p:nvSpPr>
          <p:cNvPr id="41" name="text-041: 源帧读完后交还"/>
          <p:cNvSpPr txBox="1"/>
          <p:nvPr/>
        </p:nvSpPr>
        <p:spPr>
          <a:xfrm>
            <a:off x="11337417" y="3360740"/>
            <a:ext cx="768096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源帧读完后交还</a:t>
            </a:r>
          </a:p>
        </p:txBody>
      </p:sp>
      <p:sp>
        <p:nvSpPr>
          <p:cNvPr id="42" name="tx"/>
          <p:cNvSpPr/>
          <p:nvPr/>
        </p:nvSpPr>
        <p:spPr>
          <a:xfrm>
            <a:off x="11001375" y="4400550"/>
            <a:ext cx="1440180" cy="480060"/>
          </a:xfrm>
          <a:prstGeom prst="rect">
            <a:avLst/>
          </a:prstGeom>
          <a:solidFill>
            <a:srgbClr val="F5E1C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输出 FIFO / LVDS TX"/>
          <p:cNvSpPr txBox="1"/>
          <p:nvPr/>
        </p:nvSpPr>
        <p:spPr>
          <a:xfrm>
            <a:off x="11182810" y="4495922"/>
            <a:ext cx="1077310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 / LVDS TX</a:t>
            </a:r>
          </a:p>
        </p:txBody>
      </p:sp>
      <p:sp>
        <p:nvSpPr>
          <p:cNvPr id="44" name="text-044: 像素整理与发送"/>
          <p:cNvSpPr txBox="1"/>
          <p:nvPr/>
        </p:nvSpPr>
        <p:spPr>
          <a:xfrm>
            <a:off x="11337417" y="4648901"/>
            <a:ext cx="768096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像素整理与发送</a:t>
            </a:r>
          </a:p>
        </p:txBody>
      </p:sp>
      <p:sp>
        <p:nvSpPr>
          <p:cNvPr id="45" name="frontend"/>
          <p:cNvSpPr/>
          <p:nvPr/>
        </p:nvSpPr>
        <p:spPr>
          <a:xfrm>
            <a:off x="2200275" y="4080510"/>
            <a:ext cx="8401050" cy="1280160"/>
          </a:xfrm>
          <a:prstGeom prst="rect">
            <a:avLst/>
          </a:prstGeom>
          <a:solidFill>
            <a:srgbClr val="D9EEE8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共享压缩前端 · 四入口共享服务"/>
          <p:cNvSpPr txBox="1"/>
          <p:nvPr/>
        </p:nvSpPr>
        <p:spPr>
          <a:xfrm>
            <a:off x="5599400" y="4507923"/>
            <a:ext cx="1602800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四入口共享服务</a:t>
            </a:r>
          </a:p>
        </p:txBody>
      </p:sp>
      <p:sp>
        <p:nvSpPr>
          <p:cNvPr id="47" name="text-047: 逻辑地址映射 · 共享压缩 / 解压 · 普通区域旁路"/>
          <p:cNvSpPr txBox="1"/>
          <p:nvPr/>
        </p:nvSpPr>
        <p:spPr>
          <a:xfrm>
            <a:off x="5354419" y="4660903"/>
            <a:ext cx="2092762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逻辑地址映射 · 共享压缩 / 解压 · 普通区域旁路</a:t>
            </a:r>
          </a:p>
        </p:txBody>
      </p:sp>
      <p:sp>
        <p:nvSpPr>
          <p:cNvPr id="48" name="text-048: 数据与元数据发布 · 子事务错误聚合 · 读写响应匹配"/>
          <p:cNvSpPr txBox="1"/>
          <p:nvPr/>
        </p:nvSpPr>
        <p:spPr>
          <a:xfrm>
            <a:off x="5264127" y="4800920"/>
            <a:ext cx="2273347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数据与元数据发布 · 子事务错误聚合 · 读写响应匹配</a:t>
            </a:r>
          </a:p>
        </p:txBody>
      </p:sp>
      <p:sp>
        <p:nvSpPr>
          <p:cNvPr id="49" name="controller"/>
          <p:cNvSpPr/>
          <p:nvPr/>
        </p:nvSpPr>
        <p:spPr>
          <a:xfrm>
            <a:off x="2200275" y="5720715"/>
            <a:ext cx="8401050" cy="720090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一个 DDR Controller · 四个 AXI slave"/>
          <p:cNvSpPr txBox="1"/>
          <p:nvPr/>
        </p:nvSpPr>
        <p:spPr>
          <a:xfrm>
            <a:off x="5492277" y="5936102"/>
            <a:ext cx="1817046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一个 DDR Controller · 四个 AXI slave</a:t>
            </a:r>
          </a:p>
        </p:txBody>
      </p:sp>
      <p:sp>
        <p:nvSpPr>
          <p:cNvPr id="51" name="text-051: 四口仲裁 / 共享物理 DDR 带宽 · 排空与跨口可见性待契约确认"/>
          <p:cNvSpPr txBox="1"/>
          <p:nvPr/>
        </p:nvSpPr>
        <p:spPr>
          <a:xfrm>
            <a:off x="5032863" y="6089081"/>
            <a:ext cx="2735873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共享物理 DDR 带宽 · 排空与跨口可见性待契约确认</a:t>
            </a:r>
          </a:p>
        </p:txBody>
      </p:sp>
      <p:sp>
        <p:nvSpPr>
          <p:cNvPr id="52" name="ddr"/>
          <p:cNvSpPr/>
          <p:nvPr/>
        </p:nvSpPr>
        <p:spPr>
          <a:xfrm>
            <a:off x="11001375" y="5880735"/>
            <a:ext cx="1440180" cy="480060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DDR PHY / DDR"/>
          <p:cNvSpPr txBox="1"/>
          <p:nvPr/>
        </p:nvSpPr>
        <p:spPr>
          <a:xfrm>
            <a:off x="11285498" y="5976107"/>
            <a:ext cx="871934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 / DDR</a:t>
            </a:r>
          </a:p>
        </p:txBody>
      </p:sp>
      <p:sp>
        <p:nvSpPr>
          <p:cNvPr id="54" name="text-054: 片外存储"/>
          <p:cNvSpPr txBox="1"/>
          <p:nvPr/>
        </p:nvSpPr>
        <p:spPr>
          <a:xfrm>
            <a:off x="11481435" y="6129086"/>
            <a:ext cx="480060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片外存储</a:t>
            </a:r>
          </a:p>
        </p:txBody>
      </p:sp>
      <p:sp>
        <p:nvSpPr>
          <p:cNvPr id="55" name="cpu-xbar"/>
          <p:cNvSpPr/>
          <p:nvPr/>
        </p:nvSpPr>
        <p:spPr>
          <a:xfrm>
            <a:off x="1040130" y="1200150"/>
            <a:ext cx="1" cy="800100"/>
          </a:xfrm>
          <a:custGeom>
            <a:avLst/>
            <a:gdLst/>
            <a:ahLst/>
            <a:cxnLst/>
            <a:rect l="0" t="0" r="r" b="b"/>
            <a:pathLst>
              <a:path w="1" h="800100" fill="none">
                <a:moveTo>
                  <a:pt x="0" y="0"/>
                </a:moveTo>
                <a:lnTo>
                  <a:pt x="0" y="80010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ara-filter"/>
          <p:cNvSpPr/>
          <p:nvPr/>
        </p:nvSpPr>
        <p:spPr>
          <a:xfrm>
            <a:off x="2960370" y="1200150"/>
            <a:ext cx="1" cy="200025"/>
          </a:xfrm>
          <a:custGeom>
            <a:avLst/>
            <a:gdLst/>
            <a:ahLst/>
            <a:cxnLst/>
            <a:rect l="0" t="0" r="r" b="b"/>
            <a:pathLst>
              <a:path w="1" h="200025" fill="none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filter-xbar"/>
          <p:cNvSpPr/>
          <p:nvPr/>
        </p:nvSpPr>
        <p:spPr>
          <a:xfrm>
            <a:off x="2960370" y="1720215"/>
            <a:ext cx="1" cy="280035"/>
          </a:xfrm>
          <a:custGeom>
            <a:avLst/>
            <a:gdLst/>
            <a:ahLst/>
            <a:cxnLst/>
            <a:rect l="0" t="0" r="r" b="b"/>
            <a:pathLst>
              <a:path w="1" h="280035" fill="none">
                <a:moveTo>
                  <a:pt x="0" y="0"/>
                </a:moveTo>
                <a:lnTo>
                  <a:pt x="0" y="28003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m2-llc"/>
          <p:cNvSpPr/>
          <p:nvPr/>
        </p:nvSpPr>
        <p:spPr>
          <a:xfrm>
            <a:off x="1200150" y="2360295"/>
            <a:ext cx="1" cy="560070"/>
          </a:xfrm>
          <a:custGeom>
            <a:avLst/>
            <a:gdLst/>
            <a:ahLst/>
            <a:cxnLst/>
            <a:rect l="0" t="0" r="r" b="b"/>
            <a:pathLst>
              <a:path w="1" h="560070" fill="none">
                <a:moveTo>
                  <a:pt x="0" y="0"/>
                </a:moveTo>
                <a:lnTo>
                  <a:pt x="0" y="56007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m5-gb"/>
          <p:cNvSpPr/>
          <p:nvPr/>
        </p:nvSpPr>
        <p:spPr>
          <a:xfrm>
            <a:off x="3920490" y="2180272"/>
            <a:ext cx="560070" cy="1"/>
          </a:xfrm>
          <a:custGeom>
            <a:avLst/>
            <a:gdLst/>
            <a:ahLst/>
            <a:cxnLst/>
            <a:rect l="0" t="0" r="r" b="b"/>
            <a:pathLst>
              <a:path w="560070" h="1" fill="none">
                <a:moveTo>
                  <a:pt x="0" y="0"/>
                </a:moveTo>
                <a:lnTo>
                  <a:pt x="560070" y="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60: M5"/>
          <p:cNvSpPr txBox="1"/>
          <p:nvPr/>
        </p:nvSpPr>
        <p:spPr>
          <a:xfrm>
            <a:off x="4080510" y="1996570"/>
            <a:ext cx="232248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61" name="adapter-gb"/>
          <p:cNvSpPr/>
          <p:nvPr/>
        </p:nvSpPr>
        <p:spPr>
          <a:xfrm>
            <a:off x="6000750" y="2240280"/>
            <a:ext cx="400050" cy="1"/>
          </a:xfrm>
          <a:custGeom>
            <a:avLst/>
            <a:gdLst/>
            <a:ahLst/>
            <a:cxnLst/>
            <a:rect l="0" t="0" r="r" b="b"/>
            <a:pathLst>
              <a:path w="400050" h="1" fill="none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11201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npu-gb"/>
          <p:cNvSpPr/>
          <p:nvPr/>
        </p:nvSpPr>
        <p:spPr>
          <a:xfrm>
            <a:off x="5280660" y="1280160"/>
            <a:ext cx="1" cy="720090"/>
          </a:xfrm>
          <a:custGeom>
            <a:avLst/>
            <a:gdLst/>
            <a:ahLst/>
            <a:cxnLst/>
            <a:rect l="0" t="0" r="r" b="b"/>
            <a:pathLst>
              <a:path w="1" h="720090" fill="none">
                <a:moveTo>
                  <a:pt x="0" y="0"/>
                </a:moveTo>
                <a:lnTo>
                  <a:pt x="0" y="720090"/>
                </a:lnTo>
              </a:path>
            </a:pathLst>
          </a:custGeom>
          <a:noFill/>
          <a:ln w="11201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mover-gb"/>
          <p:cNvSpPr/>
          <p:nvPr/>
        </p:nvSpPr>
        <p:spPr>
          <a:xfrm>
            <a:off x="5640705" y="1280160"/>
            <a:ext cx="1840230" cy="720090"/>
          </a:xfrm>
          <a:custGeom>
            <a:avLst/>
            <a:gdLst/>
            <a:ahLst/>
            <a:cxnLst/>
            <a:rect l="0" t="0" r="r" b="b"/>
            <a:pathLst>
              <a:path w="1840230" h="720090" fill="none">
                <a:moveTo>
                  <a:pt x="1840230" y="0"/>
                </a:moveTo>
                <a:lnTo>
                  <a:pt x="1840230" y="320040"/>
                </a:lnTo>
                <a:lnTo>
                  <a:pt x="0" y="320040"/>
                </a:lnTo>
                <a:lnTo>
                  <a:pt x="0" y="720090"/>
                </a:lnTo>
              </a:path>
            </a:pathLst>
          </a:custGeom>
          <a:noFill/>
          <a:ln w="11201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isp-gb"/>
          <p:cNvSpPr/>
          <p:nvPr/>
        </p:nvSpPr>
        <p:spPr>
          <a:xfrm>
            <a:off x="5800725" y="1040130"/>
            <a:ext cx="3200400" cy="1600200"/>
          </a:xfrm>
          <a:custGeom>
            <a:avLst/>
            <a:gdLst/>
            <a:ahLst/>
            <a:cxnLst/>
            <a:rect l="0" t="0" r="r" b="b"/>
            <a:pathLst>
              <a:path w="3200400" h="1600200" fill="none">
                <a:moveTo>
                  <a:pt x="3200400" y="0"/>
                </a:moveTo>
                <a:lnTo>
                  <a:pt x="2880360" y="0"/>
                </a:lnTo>
                <a:lnTo>
                  <a:pt x="2880360" y="1600200"/>
                </a:lnTo>
                <a:lnTo>
                  <a:pt x="0" y="1600200"/>
                </a:lnTo>
                <a:lnTo>
                  <a:pt x="0" y="1440180"/>
                </a:lnTo>
              </a:path>
            </a:pathLst>
          </a:custGeom>
          <a:noFill/>
          <a:ln w="11201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isp-frame"/>
          <p:cNvSpPr/>
          <p:nvPr/>
        </p:nvSpPr>
        <p:spPr>
          <a:xfrm>
            <a:off x="9801225" y="1280160"/>
            <a:ext cx="1" cy="720090"/>
          </a:xfrm>
          <a:custGeom>
            <a:avLst/>
            <a:gdLst/>
            <a:ahLst/>
            <a:cxnLst/>
            <a:rect l="0" t="0" r="r" b="b"/>
            <a:pathLst>
              <a:path w="1" h="720090" fill="none">
                <a:moveTo>
                  <a:pt x="0" y="0"/>
                </a:moveTo>
                <a:lnTo>
                  <a:pt x="0" y="720090"/>
                </a:lnTo>
              </a:path>
            </a:pathLst>
          </a:custGeom>
          <a:noFill/>
          <a:ln w="11201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llc-f0"/>
          <p:cNvSpPr/>
          <p:nvPr/>
        </p:nvSpPr>
        <p:spPr>
          <a:xfrm>
            <a:off x="2040255" y="3160395"/>
            <a:ext cx="680085" cy="920115"/>
          </a:xfrm>
          <a:custGeom>
            <a:avLst/>
            <a:gdLst/>
            <a:ahLst/>
            <a:cxnLst/>
            <a:rect l="0" t="0" r="r" b="b"/>
            <a:pathLst>
              <a:path w="680085" h="920115" fill="none">
                <a:moveTo>
                  <a:pt x="0" y="0"/>
                </a:moveTo>
                <a:lnTo>
                  <a:pt x="680085" y="0"/>
                </a:lnTo>
                <a:lnTo>
                  <a:pt x="680085" y="92011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mover-f1"/>
          <p:cNvSpPr/>
          <p:nvPr/>
        </p:nvSpPr>
        <p:spPr>
          <a:xfrm>
            <a:off x="5120640" y="1040130"/>
            <a:ext cx="3355086" cy="3040380"/>
          </a:xfrm>
          <a:custGeom>
            <a:avLst/>
            <a:gdLst/>
            <a:ahLst/>
            <a:cxnLst/>
            <a:rect l="0" t="0" r="r" b="b"/>
            <a:pathLst>
              <a:path w="3355086" h="3040380" fill="none">
                <a:moveTo>
                  <a:pt x="3160395" y="0"/>
                </a:moveTo>
                <a:lnTo>
                  <a:pt x="3320415" y="0"/>
                </a:lnTo>
                <a:lnTo>
                  <a:pt x="3320415" y="1568196"/>
                </a:lnTo>
                <a:cubicBezTo>
                  <a:pt x="3355086" y="1589532"/>
                  <a:pt x="3355086" y="1610868"/>
                  <a:pt x="3320415" y="1632204"/>
                </a:cubicBezTo>
                <a:lnTo>
                  <a:pt x="3320415" y="2720340"/>
                </a:lnTo>
                <a:lnTo>
                  <a:pt x="0" y="2720340"/>
                </a:lnTo>
                <a:lnTo>
                  <a:pt x="0" y="304038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frame-f2"/>
          <p:cNvSpPr/>
          <p:nvPr/>
        </p:nvSpPr>
        <p:spPr>
          <a:xfrm>
            <a:off x="7520940" y="2480310"/>
            <a:ext cx="2280285" cy="1600200"/>
          </a:xfrm>
          <a:custGeom>
            <a:avLst/>
            <a:gdLst/>
            <a:ahLst/>
            <a:cxnLst/>
            <a:rect l="0" t="0" r="r" b="b"/>
            <a:pathLst>
              <a:path w="2280285" h="1600200" fill="none">
                <a:moveTo>
                  <a:pt x="2280285" y="0"/>
                </a:moveTo>
                <a:lnTo>
                  <a:pt x="2280285" y="1160145"/>
                </a:lnTo>
                <a:lnTo>
                  <a:pt x="952119" y="1160145"/>
                </a:lnTo>
                <a:cubicBezTo>
                  <a:pt x="930783" y="1125474"/>
                  <a:pt x="909447" y="1125474"/>
                  <a:pt x="888111" y="1160145"/>
                </a:cubicBezTo>
                <a:lnTo>
                  <a:pt x="0" y="1160145"/>
                </a:lnTo>
                <a:lnTo>
                  <a:pt x="0" y="1248156"/>
                </a:lnTo>
                <a:cubicBezTo>
                  <a:pt x="34671" y="1269492"/>
                  <a:pt x="34671" y="1290828"/>
                  <a:pt x="0" y="1312164"/>
                </a:cubicBezTo>
                <a:lnTo>
                  <a:pt x="0" y="160020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oi-f3"/>
          <p:cNvSpPr/>
          <p:nvPr/>
        </p:nvSpPr>
        <p:spPr>
          <a:xfrm>
            <a:off x="9921240" y="3200400"/>
            <a:ext cx="1080135" cy="880110"/>
          </a:xfrm>
          <a:custGeom>
            <a:avLst/>
            <a:gdLst/>
            <a:ahLst/>
            <a:cxnLst/>
            <a:rect l="0" t="0" r="r" b="b"/>
            <a:pathLst>
              <a:path w="1080135" h="880110" fill="none">
                <a:moveTo>
                  <a:pt x="1080135" y="0"/>
                </a:moveTo>
                <a:lnTo>
                  <a:pt x="800100" y="0"/>
                </a:lnTo>
                <a:lnTo>
                  <a:pt x="800100" y="680085"/>
                </a:lnTo>
                <a:lnTo>
                  <a:pt x="0" y="680085"/>
                </a:lnTo>
                <a:lnTo>
                  <a:pt x="0" y="88011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oi-tx"/>
          <p:cNvSpPr/>
          <p:nvPr/>
        </p:nvSpPr>
        <p:spPr>
          <a:xfrm>
            <a:off x="11721465" y="3600450"/>
            <a:ext cx="1" cy="800100"/>
          </a:xfrm>
          <a:custGeom>
            <a:avLst/>
            <a:gdLst/>
            <a:ahLst/>
            <a:cxnLst/>
            <a:rect l="0" t="0" r="r" b="b"/>
            <a:pathLst>
              <a:path w="1" h="800100" fill="none">
                <a:moveTo>
                  <a:pt x="0" y="0"/>
                </a:moveTo>
                <a:lnTo>
                  <a:pt x="0" y="800100"/>
                </a:lnTo>
              </a:path>
            </a:pathLst>
          </a:custGeom>
          <a:noFill/>
          <a:ln w="11201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f0"/>
          <p:cNvSpPr/>
          <p:nvPr/>
        </p:nvSpPr>
        <p:spPr>
          <a:xfrm>
            <a:off x="2260282" y="4080510"/>
            <a:ext cx="920115" cy="220028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2: F0 · LLC"/>
          <p:cNvSpPr txBox="1"/>
          <p:nvPr/>
        </p:nvSpPr>
        <p:spPr>
          <a:xfrm>
            <a:off x="2475303" y="4113874"/>
            <a:ext cx="490074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73" name="ddr-port0"/>
          <p:cNvSpPr/>
          <p:nvPr/>
        </p:nvSpPr>
        <p:spPr>
          <a:xfrm>
            <a:off x="2720340" y="5360670"/>
            <a:ext cx="1" cy="360045"/>
          </a:xfrm>
          <a:custGeom>
            <a:avLst/>
            <a:gdLst/>
            <a:ahLst/>
            <a:cxnLst/>
            <a:rect l="0" t="0" r="r" b="b"/>
            <a:pathLst>
              <a:path w="1" h="360045" fill="none">
                <a:moveTo>
                  <a:pt x="0" y="0"/>
                </a:moveTo>
                <a:lnTo>
                  <a:pt x="0" y="36004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s0"/>
          <p:cNvSpPr/>
          <p:nvPr/>
        </p:nvSpPr>
        <p:spPr>
          <a:xfrm>
            <a:off x="2260282" y="5720715"/>
            <a:ext cx="920115" cy="200025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-075: DDR.S0"/>
          <p:cNvSpPr txBox="1"/>
          <p:nvPr/>
        </p:nvSpPr>
        <p:spPr>
          <a:xfrm>
            <a:off x="2479679" y="5744078"/>
            <a:ext cx="48132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76" name="f1"/>
          <p:cNvSpPr/>
          <p:nvPr/>
        </p:nvSpPr>
        <p:spPr>
          <a:xfrm>
            <a:off x="4660582" y="4080510"/>
            <a:ext cx="920115" cy="220028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-077: F1 · GB 搬运"/>
          <p:cNvSpPr txBox="1"/>
          <p:nvPr/>
        </p:nvSpPr>
        <p:spPr>
          <a:xfrm>
            <a:off x="4769802" y="4113874"/>
            <a:ext cx="701675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78" name="ddr-port1"/>
          <p:cNvSpPr/>
          <p:nvPr/>
        </p:nvSpPr>
        <p:spPr>
          <a:xfrm>
            <a:off x="5120640" y="5360670"/>
            <a:ext cx="1" cy="360045"/>
          </a:xfrm>
          <a:custGeom>
            <a:avLst/>
            <a:gdLst/>
            <a:ahLst/>
            <a:cxnLst/>
            <a:rect l="0" t="0" r="r" b="b"/>
            <a:pathLst>
              <a:path w="1" h="360045" fill="none">
                <a:moveTo>
                  <a:pt x="0" y="0"/>
                </a:moveTo>
                <a:lnTo>
                  <a:pt x="0" y="36004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s1"/>
          <p:cNvSpPr/>
          <p:nvPr/>
        </p:nvSpPr>
        <p:spPr>
          <a:xfrm>
            <a:off x="4660582" y="5720715"/>
            <a:ext cx="920115" cy="200025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-080: DDR.S1"/>
          <p:cNvSpPr txBox="1"/>
          <p:nvPr/>
        </p:nvSpPr>
        <p:spPr>
          <a:xfrm>
            <a:off x="4879979" y="5744078"/>
            <a:ext cx="48132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81" name="f2"/>
          <p:cNvSpPr/>
          <p:nvPr/>
        </p:nvSpPr>
        <p:spPr>
          <a:xfrm>
            <a:off x="7060882" y="4080510"/>
            <a:ext cx="920115" cy="220028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-082: F2 · 帧写"/>
          <p:cNvSpPr txBox="1"/>
          <p:nvPr/>
        </p:nvSpPr>
        <p:spPr>
          <a:xfrm>
            <a:off x="7255335" y="4113874"/>
            <a:ext cx="531210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83" name="ddr-port2"/>
          <p:cNvSpPr/>
          <p:nvPr/>
        </p:nvSpPr>
        <p:spPr>
          <a:xfrm>
            <a:off x="7520940" y="5360670"/>
            <a:ext cx="1" cy="360045"/>
          </a:xfrm>
          <a:custGeom>
            <a:avLst/>
            <a:gdLst/>
            <a:ahLst/>
            <a:cxnLst/>
            <a:rect l="0" t="0" r="r" b="b"/>
            <a:pathLst>
              <a:path w="1" h="360045" fill="none">
                <a:moveTo>
                  <a:pt x="0" y="0"/>
                </a:moveTo>
                <a:lnTo>
                  <a:pt x="0" y="36004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s2"/>
          <p:cNvSpPr/>
          <p:nvPr/>
        </p:nvSpPr>
        <p:spPr>
          <a:xfrm>
            <a:off x="7060882" y="5720715"/>
            <a:ext cx="920115" cy="200025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-085: DDR.S2"/>
          <p:cNvSpPr txBox="1"/>
          <p:nvPr/>
        </p:nvSpPr>
        <p:spPr>
          <a:xfrm>
            <a:off x="7280279" y="5744078"/>
            <a:ext cx="48132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86" name="f3"/>
          <p:cNvSpPr/>
          <p:nvPr/>
        </p:nvSpPr>
        <p:spPr>
          <a:xfrm>
            <a:off x="9461182" y="4080510"/>
            <a:ext cx="920115" cy="220028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-087: F3 · 帧读"/>
          <p:cNvSpPr txBox="1"/>
          <p:nvPr/>
        </p:nvSpPr>
        <p:spPr>
          <a:xfrm>
            <a:off x="9655635" y="4113874"/>
            <a:ext cx="531210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88" name="ddr-port3"/>
          <p:cNvSpPr/>
          <p:nvPr/>
        </p:nvSpPr>
        <p:spPr>
          <a:xfrm>
            <a:off x="9921240" y="5360670"/>
            <a:ext cx="1" cy="360045"/>
          </a:xfrm>
          <a:custGeom>
            <a:avLst/>
            <a:gdLst/>
            <a:ahLst/>
            <a:cxnLst/>
            <a:rect l="0" t="0" r="r" b="b"/>
            <a:pathLst>
              <a:path w="1" h="360045" fill="none">
                <a:moveTo>
                  <a:pt x="0" y="0"/>
                </a:moveTo>
                <a:lnTo>
                  <a:pt x="0" y="36004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s3"/>
          <p:cNvSpPr/>
          <p:nvPr/>
        </p:nvSpPr>
        <p:spPr>
          <a:xfrm>
            <a:off x="9461182" y="5720715"/>
            <a:ext cx="920115" cy="200025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-090: DDR.S3"/>
          <p:cNvSpPr txBox="1"/>
          <p:nvPr/>
        </p:nvSpPr>
        <p:spPr>
          <a:xfrm>
            <a:off x="9680579" y="5744078"/>
            <a:ext cx="48132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91" name="controller-ddr"/>
          <p:cNvSpPr/>
          <p:nvPr/>
        </p:nvSpPr>
        <p:spPr>
          <a:xfrm>
            <a:off x="10601325" y="6120765"/>
            <a:ext cx="400050" cy="1"/>
          </a:xfrm>
          <a:custGeom>
            <a:avLst/>
            <a:gdLst/>
            <a:ahLst/>
            <a:cxnLst/>
            <a:rect l="0" t="0" r="r" b="b"/>
            <a:pathLst>
              <a:path w="400050" h="1" fill="none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-092: 蓝：AXI 请求 / 返回（F2 仅写，F3 仅读）    绿：GB / 像素流"/>
          <p:cNvSpPr txBox="1"/>
          <p:nvPr/>
        </p:nvSpPr>
        <p:spPr>
          <a:xfrm>
            <a:off x="320040" y="6599865"/>
            <a:ext cx="5312545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蓝：AXI 请求 / 返回（F2 仅写，F3 仅读）    绿：GB / 像素流    紫：MMIO 命令 / 状态、缓存维护 / 完成</a:t>
            </a:r>
          </a:p>
        </p:txBody>
      </p:sp>
      <p:sp>
        <p:nvSpPr>
          <p:cNvPr id="93" name="text-093: 软件等待缓存维护与数据可见，再启动搬运或消费结果；虚线框为待扩展维护逻辑，数据连"/>
          <p:cNvSpPr txBox="1"/>
          <p:nvPr/>
        </p:nvSpPr>
        <p:spPr>
          <a:xfrm>
            <a:off x="320040" y="6844215"/>
            <a:ext cx="5005226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软件等待缓存维护与数据可见，再启动搬运或消费结果；虚线框为待扩展维护逻辑，数据连接沿用 v1。</a:t>
            </a:r>
          </a:p>
        </p:txBody>
      </p:sp>
      <p:sp>
        <p:nvSpPr>
          <p:cNvPr id="94" name="mmio"/>
          <p:cNvSpPr/>
          <p:nvPr/>
        </p:nvSpPr>
        <p:spPr>
          <a:xfrm>
            <a:off x="3200400" y="2600325"/>
            <a:ext cx="2480310" cy="220028"/>
          </a:xfrm>
          <a:prstGeom prst="rect">
            <a:avLst/>
          </a:prstGeom>
          <a:solidFill>
            <a:srgbClr val="E8DFED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-095: 既有寄存器总线 / MMIO"/>
          <p:cNvSpPr txBox="1"/>
          <p:nvPr/>
        </p:nvSpPr>
        <p:spPr>
          <a:xfrm>
            <a:off x="3809926" y="2633689"/>
            <a:ext cx="1261258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既有寄存器总线 / MMIO</a:t>
            </a:r>
          </a:p>
        </p:txBody>
      </p:sp>
      <p:sp>
        <p:nvSpPr>
          <p:cNvPr id="96" name="maint"/>
          <p:cNvSpPr/>
          <p:nvPr/>
        </p:nvSpPr>
        <p:spPr>
          <a:xfrm>
            <a:off x="3200400" y="2960370"/>
            <a:ext cx="3600450" cy="500062"/>
          </a:xfrm>
          <a:prstGeom prst="rect">
            <a:avLst/>
          </a:prstGeom>
          <a:solidFill>
            <a:srgbClr val="E8DFED"/>
          </a:solidFill>
          <a:ln w="6801" cap="flat">
            <a:solidFill>
              <a:srgbClr val="29292D"/>
            </a:solidFill>
            <a:custDash>
              <a:ds d="529412" sp="352941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text-097: 缓存维护控制（待扩展）"/>
          <p:cNvSpPr txBox="1"/>
          <p:nvPr/>
        </p:nvSpPr>
        <p:spPr>
          <a:xfrm>
            <a:off x="4352544" y="2997735"/>
            <a:ext cx="1296162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缓存维护控制（待扩展）</a:t>
            </a:r>
          </a:p>
        </p:txBody>
      </p:sp>
      <p:sp>
        <p:nvSpPr>
          <p:cNvPr id="98" name="text-098: 范围寄存器 / 行地址发生"/>
          <p:cNvSpPr txBox="1"/>
          <p:nvPr/>
        </p:nvSpPr>
        <p:spPr>
          <a:xfrm>
            <a:off x="4418834" y="3150714"/>
            <a:ext cx="1163583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范围寄存器 / 行地址发生</a:t>
            </a:r>
          </a:p>
        </p:txBody>
      </p:sp>
      <p:sp>
        <p:nvSpPr>
          <p:cNvPr id="99" name="text-099: 排空与失效状态机 / 完成与错误"/>
          <p:cNvSpPr txBox="1"/>
          <p:nvPr/>
        </p:nvSpPr>
        <p:spPr>
          <a:xfrm>
            <a:off x="4274816" y="3290731"/>
            <a:ext cx="1451619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排空与失效状态机 / 完成与错误</a:t>
            </a:r>
          </a:p>
        </p:txBody>
      </p:sp>
      <p:sp>
        <p:nvSpPr>
          <p:cNvPr id="100" name="xbar-mmio"/>
          <p:cNvSpPr/>
          <p:nvPr/>
        </p:nvSpPr>
        <p:spPr>
          <a:xfrm>
            <a:off x="3800475" y="2360295"/>
            <a:ext cx="1" cy="240030"/>
          </a:xfrm>
          <a:custGeom>
            <a:avLst/>
            <a:gdLst/>
            <a:ahLst/>
            <a:cxnLst/>
            <a:rect l="0" t="0" r="r" b="b"/>
            <a:pathLst>
              <a:path w="1" h="240030" fill="none">
                <a:moveTo>
                  <a:pt x="0" y="0"/>
                </a:moveTo>
                <a:lnTo>
                  <a:pt x="0" y="240030"/>
                </a:lnTo>
              </a:path>
            </a:pathLst>
          </a:custGeom>
          <a:noFill/>
          <a:ln w="11201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mmio-maint"/>
          <p:cNvSpPr/>
          <p:nvPr/>
        </p:nvSpPr>
        <p:spPr>
          <a:xfrm>
            <a:off x="5000625" y="2820352"/>
            <a:ext cx="1" cy="140018"/>
          </a:xfrm>
          <a:custGeom>
            <a:avLst/>
            <a:gdLst/>
            <a:ahLst/>
            <a:cxnLst/>
            <a:rect l="0" t="0" r="r" b="b"/>
            <a:pathLst>
              <a:path w="1" h="140018" fill="none">
                <a:moveTo>
                  <a:pt x="0" y="0"/>
                </a:moveTo>
                <a:lnTo>
                  <a:pt x="0" y="140018"/>
                </a:lnTo>
              </a:path>
            </a:pathLst>
          </a:custGeom>
          <a:noFill/>
          <a:ln w="11201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maint-cpu"/>
          <p:cNvSpPr/>
          <p:nvPr/>
        </p:nvSpPr>
        <p:spPr>
          <a:xfrm>
            <a:off x="160020" y="960120"/>
            <a:ext cx="3040380" cy="2100262"/>
          </a:xfrm>
          <a:custGeom>
            <a:avLst/>
            <a:gdLst/>
            <a:ahLst/>
            <a:cxnLst/>
            <a:rect l="0" t="0" r="r" b="b"/>
            <a:pathLst>
              <a:path w="3040380" h="2100262" fill="none">
                <a:moveTo>
                  <a:pt x="3040380" y="2100262"/>
                </a:moveTo>
                <a:lnTo>
                  <a:pt x="2880360" y="2100262"/>
                </a:lnTo>
                <a:lnTo>
                  <a:pt x="2880360" y="1800225"/>
                </a:lnTo>
                <a:lnTo>
                  <a:pt x="1072134" y="1800225"/>
                </a:lnTo>
                <a:cubicBezTo>
                  <a:pt x="1050798" y="1765554"/>
                  <a:pt x="1029462" y="1765554"/>
                  <a:pt x="1008126" y="1800225"/>
                </a:cubicBezTo>
                <a:lnTo>
                  <a:pt x="0" y="1800225"/>
                </a:lnTo>
                <a:lnTo>
                  <a:pt x="0" y="0"/>
                </a:lnTo>
                <a:lnTo>
                  <a:pt x="160020" y="0"/>
                </a:lnTo>
              </a:path>
            </a:pathLst>
          </a:custGeom>
          <a:noFill/>
          <a:ln w="11201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maint-llc"/>
          <p:cNvSpPr/>
          <p:nvPr/>
        </p:nvSpPr>
        <p:spPr>
          <a:xfrm>
            <a:off x="2040255" y="3285744"/>
            <a:ext cx="1160145" cy="34671"/>
          </a:xfrm>
          <a:custGeom>
            <a:avLst/>
            <a:gdLst/>
            <a:ahLst/>
            <a:cxnLst/>
            <a:rect l="0" t="0" r="r" b="b"/>
            <a:pathLst>
              <a:path w="1160145" h="34671" fill="none">
                <a:moveTo>
                  <a:pt x="1160145" y="34671"/>
                </a:moveTo>
                <a:lnTo>
                  <a:pt x="712089" y="34671"/>
                </a:lnTo>
                <a:cubicBezTo>
                  <a:pt x="690753" y="0"/>
                  <a:pt x="669417" y="0"/>
                  <a:pt x="648081" y="34671"/>
                </a:cubicBezTo>
                <a:lnTo>
                  <a:pt x="0" y="34671"/>
                </a:lnTo>
              </a:path>
            </a:pathLst>
          </a:custGeom>
          <a:noFill/>
          <a:ln w="11201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软件交接、硬件维护：一次推理的数据生命周期"/>
          <p:cNvSpPr txBox="1"/>
          <p:nvPr/>
        </p:nvSpPr>
        <p:spPr>
          <a:xfrm>
            <a:off x="266700" y="80650"/>
            <a:ext cx="4224528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软件交接、硬件维护：一次推理的数据生命周期</a:t>
            </a:r>
          </a:p>
        </p:txBody>
      </p:sp>
      <p:sp>
        <p:nvSpPr>
          <p:cNvPr id="3" name="text-003: 按缓冲区或计算分块同步；交接范围由软件保持所有权，CPU 可并行处理其他缓冲区。"/>
          <p:cNvSpPr txBox="1"/>
          <p:nvPr/>
        </p:nvSpPr>
        <p:spPr>
          <a:xfrm>
            <a:off x="266700" y="373807"/>
            <a:ext cx="500775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按缓冲区或计算分块同步；交接范围由软件保持所有权，CPU 可并行处理其他缓冲区。</a:t>
            </a:r>
          </a:p>
        </p:txBody>
      </p:sp>
      <p:sp>
        <p:nvSpPr>
          <p:cNvPr id="4" name="panel0"/>
          <p:cNvSpPr/>
          <p:nvPr/>
        </p:nvSpPr>
        <p:spPr>
          <a:xfrm>
            <a:off x="186690" y="746760"/>
            <a:ext cx="12428220" cy="1653540"/>
          </a:xfrm>
          <a:prstGeom prst="rect">
            <a:avLst/>
          </a:prstGeom>
          <a:solidFill>
            <a:srgbClr val="F7F9FA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① 提交前：软件交出 DDR 输入与输出范围"/>
          <p:cNvSpPr txBox="1"/>
          <p:nvPr/>
        </p:nvSpPr>
        <p:spPr>
          <a:xfrm>
            <a:off x="320040" y="824636"/>
            <a:ext cx="3174297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① 提交前：软件交出 DDR 输入与输出范围</a:t>
            </a:r>
          </a:p>
        </p:txBody>
      </p:sp>
      <p:sp>
        <p:nvSpPr>
          <p:cNvPr id="6" name="r0b0"/>
          <p:cNvSpPr/>
          <p:nvPr/>
        </p:nvSpPr>
        <p:spPr>
          <a:xfrm>
            <a:off x="320040" y="1200150"/>
            <a:ext cx="2133600" cy="74676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软件提交"/>
          <p:cNvSpPr txBox="1"/>
          <p:nvPr/>
        </p:nvSpPr>
        <p:spPr>
          <a:xfrm>
            <a:off x="1026795" y="1289975"/>
            <a:ext cx="720090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软件提交</a:t>
            </a:r>
          </a:p>
        </p:txBody>
      </p:sp>
      <p:sp>
        <p:nvSpPr>
          <p:cNvPr id="8" name="text-008: 地址 / 长度 / 方向"/>
          <p:cNvSpPr txBox="1"/>
          <p:nvPr/>
        </p:nvSpPr>
        <p:spPr>
          <a:xfrm>
            <a:off x="795516" y="1493947"/>
            <a:ext cx="118264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方向</a:t>
            </a:r>
          </a:p>
        </p:txBody>
      </p:sp>
      <p:sp>
        <p:nvSpPr>
          <p:cNvPr id="9" name="text-009: 确认各生产者完成"/>
          <p:cNvSpPr txBox="1"/>
          <p:nvPr/>
        </p:nvSpPr>
        <p:spPr>
          <a:xfrm>
            <a:off x="810768" y="1680637"/>
            <a:ext cx="115214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确认各生产者完成</a:t>
            </a:r>
          </a:p>
        </p:txBody>
      </p:sp>
      <p:sp>
        <p:nvSpPr>
          <p:cNvPr id="10" name="r0b1"/>
          <p:cNvSpPr/>
          <p:nvPr/>
        </p:nvSpPr>
        <p:spPr>
          <a:xfrm>
            <a:off x="2800350" y="1200150"/>
            <a:ext cx="2133600" cy="74676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1: L1D / 写缓冲"/>
          <p:cNvSpPr txBox="1"/>
          <p:nvPr/>
        </p:nvSpPr>
        <p:spPr>
          <a:xfrm>
            <a:off x="3371871" y="1289975"/>
            <a:ext cx="990557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L1D / 写缓冲</a:t>
            </a:r>
          </a:p>
        </p:txBody>
      </p:sp>
      <p:sp>
        <p:nvSpPr>
          <p:cNvPr id="12" name="text-012: 排空相关旧写"/>
          <p:cNvSpPr txBox="1"/>
          <p:nvPr/>
        </p:nvSpPr>
        <p:spPr>
          <a:xfrm>
            <a:off x="3419094" y="1493947"/>
            <a:ext cx="8961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排空相关旧写</a:t>
            </a:r>
          </a:p>
        </p:txBody>
      </p:sp>
      <p:sp>
        <p:nvSpPr>
          <p:cNvPr id="13" name="text-013: FENCE 推进到 LLC"/>
          <p:cNvSpPr txBox="1"/>
          <p:nvPr/>
        </p:nvSpPr>
        <p:spPr>
          <a:xfrm>
            <a:off x="3284952" y="1680637"/>
            <a:ext cx="116439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FENCE 推进到 LLC</a:t>
            </a:r>
          </a:p>
        </p:txBody>
      </p:sp>
      <p:sp>
        <p:nvSpPr>
          <p:cNvPr id="14" name="r0e1"/>
          <p:cNvSpPr/>
          <p:nvPr/>
        </p:nvSpPr>
        <p:spPr>
          <a:xfrm>
            <a:off x="2453640" y="157353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0b2"/>
          <p:cNvSpPr/>
          <p:nvPr/>
        </p:nvSpPr>
        <p:spPr>
          <a:xfrm>
            <a:off x="5280660" y="1200150"/>
            <a:ext cx="2133600" cy="74676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6: LLC 全量 flush"/>
          <p:cNvSpPr txBox="1"/>
          <p:nvPr/>
        </p:nvSpPr>
        <p:spPr>
          <a:xfrm>
            <a:off x="5817794" y="1289975"/>
            <a:ext cx="1059332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全量 flush</a:t>
            </a:r>
          </a:p>
        </p:txBody>
      </p:sp>
      <p:sp>
        <p:nvSpPr>
          <p:cNvPr id="17" name="text-017: 输入 / 输出旧写一起保存"/>
          <p:cNvSpPr txBox="1"/>
          <p:nvPr/>
        </p:nvSpPr>
        <p:spPr>
          <a:xfrm>
            <a:off x="5571738" y="1493947"/>
            <a:ext cx="155144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输入 / 输出旧写一起保存</a:t>
            </a:r>
          </a:p>
        </p:txBody>
      </p:sp>
      <p:sp>
        <p:nvSpPr>
          <p:cNvPr id="18" name="text-018: 写回并失效，等待结束"/>
          <p:cNvSpPr txBox="1"/>
          <p:nvPr/>
        </p:nvSpPr>
        <p:spPr>
          <a:xfrm>
            <a:off x="5643372" y="1680637"/>
            <a:ext cx="140817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写回并失效，等待结束</a:t>
            </a:r>
          </a:p>
        </p:txBody>
      </p:sp>
      <p:sp>
        <p:nvSpPr>
          <p:cNvPr id="19" name="r0e2"/>
          <p:cNvSpPr/>
          <p:nvPr/>
        </p:nvSpPr>
        <p:spPr>
          <a:xfrm>
            <a:off x="4933950" y="157353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0b3"/>
          <p:cNvSpPr/>
          <p:nvPr/>
        </p:nvSpPr>
        <p:spPr>
          <a:xfrm>
            <a:off x="7760970" y="1200150"/>
            <a:ext cx="2133600" cy="74676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前端 / DDR 共享点"/>
          <p:cNvSpPr txBox="1"/>
          <p:nvPr/>
        </p:nvSpPr>
        <p:spPr>
          <a:xfrm>
            <a:off x="8154011" y="1289975"/>
            <a:ext cx="1347518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 / DDR 共享点</a:t>
            </a:r>
          </a:p>
        </p:txBody>
      </p:sp>
      <p:sp>
        <p:nvSpPr>
          <p:cNvPr id="22" name="text-022: 数据 / 元数据跨口可见"/>
          <p:cNvSpPr txBox="1"/>
          <p:nvPr/>
        </p:nvSpPr>
        <p:spPr>
          <a:xfrm>
            <a:off x="8116056" y="1493947"/>
            <a:ext cx="14234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 / 元数据跨口可见</a:t>
            </a:r>
          </a:p>
        </p:txBody>
      </p:sp>
      <p:sp>
        <p:nvSpPr>
          <p:cNvPr id="23" name="text-023: 软件核对响应与错误"/>
          <p:cNvSpPr txBox="1"/>
          <p:nvPr/>
        </p:nvSpPr>
        <p:spPr>
          <a:xfrm>
            <a:off x="8187690" y="1680637"/>
            <a:ext cx="128016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软件核对响应与错误</a:t>
            </a:r>
          </a:p>
        </p:txBody>
      </p:sp>
      <p:sp>
        <p:nvSpPr>
          <p:cNvPr id="24" name="r0e3"/>
          <p:cNvSpPr/>
          <p:nvPr/>
        </p:nvSpPr>
        <p:spPr>
          <a:xfrm>
            <a:off x="7414260" y="157353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0b4"/>
          <p:cNvSpPr/>
          <p:nvPr/>
        </p:nvSpPr>
        <p:spPr>
          <a:xfrm>
            <a:off x="10241280" y="1200150"/>
            <a:ext cx="2133600" cy="74676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6: 允许启动"/>
          <p:cNvSpPr txBox="1"/>
          <p:nvPr/>
        </p:nvSpPr>
        <p:spPr>
          <a:xfrm>
            <a:off x="10948035" y="1289975"/>
            <a:ext cx="720090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允许启动</a:t>
            </a:r>
          </a:p>
        </p:txBody>
      </p:sp>
      <p:sp>
        <p:nvSpPr>
          <p:cNvPr id="27" name="text-027: 返回维护完成"/>
          <p:cNvSpPr txBox="1"/>
          <p:nvPr/>
        </p:nvSpPr>
        <p:spPr>
          <a:xfrm>
            <a:off x="10860024" y="1493947"/>
            <a:ext cx="8961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返回维护完成</a:t>
            </a:r>
          </a:p>
        </p:txBody>
      </p:sp>
      <p:sp>
        <p:nvSpPr>
          <p:cNvPr id="28" name="text-028: 软件发布 DMA 任务"/>
          <p:cNvSpPr txBox="1"/>
          <p:nvPr/>
        </p:nvSpPr>
        <p:spPr>
          <a:xfrm>
            <a:off x="10691190" y="1680637"/>
            <a:ext cx="1233779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软件发布 DMA 任务</a:t>
            </a:r>
          </a:p>
        </p:txBody>
      </p:sp>
      <p:sp>
        <p:nvSpPr>
          <p:cNvPr id="29" name="r0e4"/>
          <p:cNvSpPr/>
          <p:nvPr/>
        </p:nvSpPr>
        <p:spPr>
          <a:xfrm>
            <a:off x="9894570" y="157353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L1D 干净副本可保留；一次全量写回保护输出未覆盖字节，此后保持范围使用约定。"/>
          <p:cNvSpPr txBox="1"/>
          <p:nvPr/>
        </p:nvSpPr>
        <p:spPr>
          <a:xfrm>
            <a:off x="346710" y="2063831"/>
            <a:ext cx="5278126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L1D 干净副本可保留；一次全量写回保护输出未覆盖字节，此后保持范围使用约定。</a:t>
            </a:r>
          </a:p>
        </p:txBody>
      </p:sp>
      <p:sp>
        <p:nvSpPr>
          <p:cNvPr id="31" name="next0"/>
          <p:cNvSpPr/>
          <p:nvPr/>
        </p:nvSpPr>
        <p:spPr>
          <a:xfrm>
            <a:off x="240030" y="1573530"/>
            <a:ext cx="12268200" cy="1973580"/>
          </a:xfrm>
          <a:custGeom>
            <a:avLst/>
            <a:gdLst/>
            <a:ahLst/>
            <a:cxnLst/>
            <a:rect l="0" t="0" r="r" b="b"/>
            <a:pathLst>
              <a:path w="12268200" h="1973580" fill="none">
                <a:moveTo>
                  <a:pt x="12134850" y="0"/>
                </a:moveTo>
                <a:lnTo>
                  <a:pt x="12268200" y="0"/>
                </a:lnTo>
                <a:lnTo>
                  <a:pt x="12268200" y="986790"/>
                </a:lnTo>
                <a:lnTo>
                  <a:pt x="0" y="986790"/>
                </a:lnTo>
                <a:lnTo>
                  <a:pt x="0" y="1973580"/>
                </a:lnTo>
                <a:lnTo>
                  <a:pt x="80010" y="197358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panel1"/>
          <p:cNvSpPr/>
          <p:nvPr/>
        </p:nvSpPr>
        <p:spPr>
          <a:xfrm>
            <a:off x="186690" y="2720340"/>
            <a:ext cx="12428220" cy="1653540"/>
          </a:xfrm>
          <a:prstGeom prst="rect">
            <a:avLst/>
          </a:prstGeom>
          <a:solidFill>
            <a:srgbClr val="F7F9FA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3: ② 设备持有期间：DDR 与 GB 显式搬运"/>
          <p:cNvSpPr txBox="1"/>
          <p:nvPr/>
        </p:nvSpPr>
        <p:spPr>
          <a:xfrm>
            <a:off x="320040" y="2798216"/>
            <a:ext cx="294676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② 设备持有期间：DDR 与 GB 显式搬运</a:t>
            </a:r>
          </a:p>
        </p:txBody>
      </p:sp>
      <p:sp>
        <p:nvSpPr>
          <p:cNvPr id="34" name="r1b0"/>
          <p:cNvSpPr/>
          <p:nvPr/>
        </p:nvSpPr>
        <p:spPr>
          <a:xfrm>
            <a:off x="320040" y="3173730"/>
            <a:ext cx="2133600" cy="74676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5: DDR → GB"/>
          <p:cNvSpPr txBox="1"/>
          <p:nvPr/>
        </p:nvSpPr>
        <p:spPr>
          <a:xfrm>
            <a:off x="968067" y="3263555"/>
            <a:ext cx="83754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→ GB</a:t>
            </a:r>
          </a:p>
        </p:txBody>
      </p:sp>
      <p:sp>
        <p:nvSpPr>
          <p:cNvPr id="36" name="text-036: 搬运器读取输入"/>
          <p:cNvSpPr txBox="1"/>
          <p:nvPr/>
        </p:nvSpPr>
        <p:spPr>
          <a:xfrm>
            <a:off x="874776" y="346752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搬运器读取输入</a:t>
            </a:r>
          </a:p>
        </p:txBody>
      </p:sp>
      <p:sp>
        <p:nvSpPr>
          <p:cNvPr id="37" name="text-037: 经共享数据代理写 GB"/>
          <p:cNvSpPr txBox="1"/>
          <p:nvPr/>
        </p:nvSpPr>
        <p:spPr>
          <a:xfrm>
            <a:off x="709755" y="3654217"/>
            <a:ext cx="1354169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经共享数据代理写 GB</a:t>
            </a:r>
          </a:p>
        </p:txBody>
      </p:sp>
      <p:sp>
        <p:nvSpPr>
          <p:cNvPr id="38" name="r1b1"/>
          <p:cNvSpPr/>
          <p:nvPr/>
        </p:nvSpPr>
        <p:spPr>
          <a:xfrm>
            <a:off x="2800350" y="3173730"/>
            <a:ext cx="2133600" cy="74676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GB ready"/>
          <p:cNvSpPr txBox="1"/>
          <p:nvPr/>
        </p:nvSpPr>
        <p:spPr>
          <a:xfrm>
            <a:off x="3511814" y="3263555"/>
            <a:ext cx="710672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ready</a:t>
            </a:r>
          </a:p>
        </p:txBody>
      </p:sp>
      <p:sp>
        <p:nvSpPr>
          <p:cNvPr id="40" name="text-040: 数据完整后交给"/>
          <p:cNvSpPr txBox="1"/>
          <p:nvPr/>
        </p:nvSpPr>
        <p:spPr>
          <a:xfrm>
            <a:off x="3355086" y="346752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数据完整后交给</a:t>
            </a:r>
          </a:p>
        </p:txBody>
      </p:sp>
      <p:sp>
        <p:nvSpPr>
          <p:cNvPr id="41" name="text-041: NPU / Ara 消费"/>
          <p:cNvSpPr txBox="1"/>
          <p:nvPr/>
        </p:nvSpPr>
        <p:spPr>
          <a:xfrm>
            <a:off x="3374588" y="3654217"/>
            <a:ext cx="985123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Ara 消费</a:t>
            </a:r>
          </a:p>
        </p:txBody>
      </p:sp>
      <p:sp>
        <p:nvSpPr>
          <p:cNvPr id="42" name="r1e1"/>
          <p:cNvSpPr/>
          <p:nvPr/>
        </p:nvSpPr>
        <p:spPr>
          <a:xfrm>
            <a:off x="2453640" y="354711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1b2"/>
          <p:cNvSpPr/>
          <p:nvPr/>
        </p:nvSpPr>
        <p:spPr>
          <a:xfrm>
            <a:off x="5280660" y="3173730"/>
            <a:ext cx="2133600" cy="74676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4: 计算与分块复用"/>
          <p:cNvSpPr txBox="1"/>
          <p:nvPr/>
        </p:nvSpPr>
        <p:spPr>
          <a:xfrm>
            <a:off x="5771388" y="3263555"/>
            <a:ext cx="115214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计算与分块复用</a:t>
            </a:r>
          </a:p>
        </p:txBody>
      </p:sp>
      <p:sp>
        <p:nvSpPr>
          <p:cNvPr id="45" name="text-045: 独立 SRAM 保存"/>
          <p:cNvSpPr txBox="1"/>
          <p:nvPr/>
        </p:nvSpPr>
        <p:spPr>
          <a:xfrm>
            <a:off x="5821519" y="3467527"/>
            <a:ext cx="105188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保存</a:t>
            </a:r>
          </a:p>
        </p:txBody>
      </p:sp>
      <p:sp>
        <p:nvSpPr>
          <p:cNvPr id="46" name="text-046: 当前任务的数据"/>
          <p:cNvSpPr txBox="1"/>
          <p:nvPr/>
        </p:nvSpPr>
        <p:spPr>
          <a:xfrm>
            <a:off x="5835396" y="365421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当前任务的数据</a:t>
            </a:r>
          </a:p>
        </p:txBody>
      </p:sp>
      <p:sp>
        <p:nvSpPr>
          <p:cNvPr id="47" name="r1e2"/>
          <p:cNvSpPr/>
          <p:nvPr/>
        </p:nvSpPr>
        <p:spPr>
          <a:xfrm>
            <a:off x="4933950" y="354711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1b3"/>
          <p:cNvSpPr/>
          <p:nvPr/>
        </p:nvSpPr>
        <p:spPr>
          <a:xfrm>
            <a:off x="7760970" y="3173730"/>
            <a:ext cx="2133600" cy="74676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GB → DDR"/>
          <p:cNvSpPr txBox="1"/>
          <p:nvPr/>
        </p:nvSpPr>
        <p:spPr>
          <a:xfrm>
            <a:off x="8408997" y="3263555"/>
            <a:ext cx="83754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→ DDR</a:t>
            </a:r>
          </a:p>
        </p:txBody>
      </p:sp>
      <p:sp>
        <p:nvSpPr>
          <p:cNvPr id="50" name="text-050: 共享代理 → 搬运器"/>
          <p:cNvSpPr txBox="1"/>
          <p:nvPr/>
        </p:nvSpPr>
        <p:spPr>
          <a:xfrm>
            <a:off x="8213318" y="3467527"/>
            <a:ext cx="122890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共享代理 → 搬运器</a:t>
            </a:r>
          </a:p>
        </p:txBody>
      </p:sp>
      <p:sp>
        <p:nvSpPr>
          <p:cNvPr id="51" name="text-051: 按 WSTRB 更新输出"/>
          <p:cNvSpPr txBox="1"/>
          <p:nvPr/>
        </p:nvSpPr>
        <p:spPr>
          <a:xfrm>
            <a:off x="8202004" y="3654217"/>
            <a:ext cx="125153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按 WSTRB 更新输出</a:t>
            </a:r>
          </a:p>
        </p:txBody>
      </p:sp>
      <p:sp>
        <p:nvSpPr>
          <p:cNvPr id="52" name="r1e3"/>
          <p:cNvSpPr/>
          <p:nvPr/>
        </p:nvSpPr>
        <p:spPr>
          <a:xfrm>
            <a:off x="7414260" y="354711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1b4"/>
          <p:cNvSpPr/>
          <p:nvPr/>
        </p:nvSpPr>
        <p:spPr>
          <a:xfrm>
            <a:off x="10241280" y="3173730"/>
            <a:ext cx="2133600" cy="74676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设备完成"/>
          <p:cNvSpPr txBox="1"/>
          <p:nvPr/>
        </p:nvSpPr>
        <p:spPr>
          <a:xfrm>
            <a:off x="10948035" y="3263555"/>
            <a:ext cx="720090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设备完成</a:t>
            </a:r>
          </a:p>
        </p:txBody>
      </p:sp>
      <p:sp>
        <p:nvSpPr>
          <p:cNvPr id="55" name="text-055: 前端发布 / 跨口可见"/>
          <p:cNvSpPr txBox="1"/>
          <p:nvPr/>
        </p:nvSpPr>
        <p:spPr>
          <a:xfrm>
            <a:off x="10660374" y="3467527"/>
            <a:ext cx="12954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前端发布 / 跨口可见</a:t>
            </a:r>
          </a:p>
        </p:txBody>
      </p:sp>
      <p:sp>
        <p:nvSpPr>
          <p:cNvPr id="56" name="text-056: 返回任务身份与状态"/>
          <p:cNvSpPr txBox="1"/>
          <p:nvPr/>
        </p:nvSpPr>
        <p:spPr>
          <a:xfrm>
            <a:off x="10668000" y="3654217"/>
            <a:ext cx="128016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返回任务身份与状态</a:t>
            </a:r>
          </a:p>
        </p:txBody>
      </p:sp>
      <p:sp>
        <p:nvSpPr>
          <p:cNvPr id="57" name="r1e4"/>
          <p:cNvSpPr/>
          <p:nvPr/>
        </p:nvSpPr>
        <p:spPr>
          <a:xfrm>
            <a:off x="9894570" y="354711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CPU / Ara 的 DDR 冲突访问由任务协议限制；GB 内部交接由其独立的"/>
          <p:cNvSpPr txBox="1"/>
          <p:nvPr/>
        </p:nvSpPr>
        <p:spPr>
          <a:xfrm>
            <a:off x="346710" y="4037411"/>
            <a:ext cx="5376880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的 DDR 冲突访问由任务协议限制；GB 内部交接由其独立的分块调度负责。</a:t>
            </a:r>
          </a:p>
        </p:txBody>
      </p:sp>
      <p:sp>
        <p:nvSpPr>
          <p:cNvPr id="59" name="next1"/>
          <p:cNvSpPr/>
          <p:nvPr/>
        </p:nvSpPr>
        <p:spPr>
          <a:xfrm>
            <a:off x="240030" y="3547110"/>
            <a:ext cx="12268200" cy="1973580"/>
          </a:xfrm>
          <a:custGeom>
            <a:avLst/>
            <a:gdLst/>
            <a:ahLst/>
            <a:cxnLst/>
            <a:rect l="0" t="0" r="r" b="b"/>
            <a:pathLst>
              <a:path w="12268200" h="1973580" fill="none">
                <a:moveTo>
                  <a:pt x="12134850" y="0"/>
                </a:moveTo>
                <a:lnTo>
                  <a:pt x="12268200" y="0"/>
                </a:lnTo>
                <a:lnTo>
                  <a:pt x="12268200" y="986790"/>
                </a:lnTo>
                <a:lnTo>
                  <a:pt x="0" y="986790"/>
                </a:lnTo>
                <a:lnTo>
                  <a:pt x="0" y="1973580"/>
                </a:lnTo>
                <a:lnTo>
                  <a:pt x="80010" y="197358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panel2"/>
          <p:cNvSpPr/>
          <p:nvPr/>
        </p:nvSpPr>
        <p:spPr>
          <a:xfrm>
            <a:off x="186690" y="4693920"/>
            <a:ext cx="12428220" cy="1653540"/>
          </a:xfrm>
          <a:prstGeom prst="rect">
            <a:avLst/>
          </a:prstGeom>
          <a:solidFill>
            <a:srgbClr val="F7F9FA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③ 消费前：硬件清除旧读副本，软件收回输出"/>
          <p:cNvSpPr txBox="1"/>
          <p:nvPr/>
        </p:nvSpPr>
        <p:spPr>
          <a:xfrm>
            <a:off x="320040" y="4771796"/>
            <a:ext cx="3408393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③ 消费前：硬件清除旧读副本，软件收回输出</a:t>
            </a:r>
          </a:p>
        </p:txBody>
      </p:sp>
      <p:sp>
        <p:nvSpPr>
          <p:cNvPr id="62" name="r2b0"/>
          <p:cNvSpPr/>
          <p:nvPr/>
        </p:nvSpPr>
        <p:spPr>
          <a:xfrm>
            <a:off x="320040" y="5147310"/>
            <a:ext cx="2133600" cy="74676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3: 软件等待完成"/>
          <p:cNvSpPr txBox="1"/>
          <p:nvPr/>
        </p:nvSpPr>
        <p:spPr>
          <a:xfrm>
            <a:off x="882777" y="5237135"/>
            <a:ext cx="100812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软件等待完成</a:t>
            </a:r>
          </a:p>
        </p:txBody>
      </p:sp>
      <p:sp>
        <p:nvSpPr>
          <p:cNvPr id="64" name="text-064: 核对任务与错误"/>
          <p:cNvSpPr txBox="1"/>
          <p:nvPr/>
        </p:nvSpPr>
        <p:spPr>
          <a:xfrm>
            <a:off x="874776" y="544110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核对任务与错误</a:t>
            </a:r>
          </a:p>
        </p:txBody>
      </p:sp>
      <p:sp>
        <p:nvSpPr>
          <p:cNvPr id="65" name="text-065: MMIO 提交输出范围"/>
          <p:cNvSpPr txBox="1"/>
          <p:nvPr/>
        </p:nvSpPr>
        <p:spPr>
          <a:xfrm>
            <a:off x="755886" y="5627797"/>
            <a:ext cx="126190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MMIO 提交输出范围</a:t>
            </a:r>
          </a:p>
        </p:txBody>
      </p:sp>
      <p:sp>
        <p:nvSpPr>
          <p:cNvPr id="66" name="r2b1"/>
          <p:cNvSpPr/>
          <p:nvPr/>
        </p:nvSpPr>
        <p:spPr>
          <a:xfrm>
            <a:off x="2800350" y="5147310"/>
            <a:ext cx="2133600" cy="74676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-067: 处理旧回填"/>
          <p:cNvSpPr txBox="1"/>
          <p:nvPr/>
        </p:nvSpPr>
        <p:spPr>
          <a:xfrm>
            <a:off x="3435096" y="5237135"/>
            <a:ext cx="864108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处理旧回填</a:t>
            </a:r>
          </a:p>
        </p:txBody>
      </p:sp>
      <p:sp>
        <p:nvSpPr>
          <p:cNvPr id="68" name="text-068: 排空相关旧响应"/>
          <p:cNvSpPr txBox="1"/>
          <p:nvPr/>
        </p:nvSpPr>
        <p:spPr>
          <a:xfrm>
            <a:off x="3355086" y="544110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排空相关旧响应</a:t>
            </a:r>
          </a:p>
        </p:txBody>
      </p:sp>
      <p:sp>
        <p:nvSpPr>
          <p:cNvPr id="69" name="text-069: 保护失效过程"/>
          <p:cNvSpPr txBox="1"/>
          <p:nvPr/>
        </p:nvSpPr>
        <p:spPr>
          <a:xfrm>
            <a:off x="3419094" y="5627797"/>
            <a:ext cx="8961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保护失效过程</a:t>
            </a:r>
          </a:p>
        </p:txBody>
      </p:sp>
      <p:sp>
        <p:nvSpPr>
          <p:cNvPr id="70" name="r2e1"/>
          <p:cNvSpPr/>
          <p:nvPr/>
        </p:nvSpPr>
        <p:spPr>
          <a:xfrm>
            <a:off x="2453640" y="552069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2b2"/>
          <p:cNvSpPr/>
          <p:nvPr/>
        </p:nvSpPr>
        <p:spPr>
          <a:xfrm>
            <a:off x="5280660" y="5147310"/>
            <a:ext cx="2133600" cy="74676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2: LLC → L1D"/>
          <p:cNvSpPr txBox="1"/>
          <p:nvPr/>
        </p:nvSpPr>
        <p:spPr>
          <a:xfrm>
            <a:off x="5917019" y="5237135"/>
            <a:ext cx="860883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→ L1D</a:t>
            </a:r>
          </a:p>
        </p:txBody>
      </p:sp>
      <p:sp>
        <p:nvSpPr>
          <p:cNvPr id="73" name="text-073: 输出 invalidate"/>
          <p:cNvSpPr txBox="1"/>
          <p:nvPr/>
        </p:nvSpPr>
        <p:spPr>
          <a:xfrm>
            <a:off x="5869213" y="5441107"/>
            <a:ext cx="956495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invalidate</a:t>
            </a:r>
          </a:p>
        </p:txBody>
      </p:sp>
      <p:sp>
        <p:nvSpPr>
          <p:cNvPr id="74" name="text-074: 收齐实际完成确认"/>
          <p:cNvSpPr txBox="1"/>
          <p:nvPr/>
        </p:nvSpPr>
        <p:spPr>
          <a:xfrm>
            <a:off x="5771388" y="5627797"/>
            <a:ext cx="115214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收齐实际完成确认</a:t>
            </a:r>
          </a:p>
        </p:txBody>
      </p:sp>
      <p:sp>
        <p:nvSpPr>
          <p:cNvPr id="75" name="r2e2"/>
          <p:cNvSpPr/>
          <p:nvPr/>
        </p:nvSpPr>
        <p:spPr>
          <a:xfrm>
            <a:off x="4933950" y="552069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2b3"/>
          <p:cNvSpPr/>
          <p:nvPr/>
        </p:nvSpPr>
        <p:spPr>
          <a:xfrm>
            <a:off x="7760970" y="5147310"/>
            <a:ext cx="2133600" cy="74676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-077: 交还所有权"/>
          <p:cNvSpPr txBox="1"/>
          <p:nvPr/>
        </p:nvSpPr>
        <p:spPr>
          <a:xfrm>
            <a:off x="8395716" y="5237135"/>
            <a:ext cx="864108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交还所有权</a:t>
            </a:r>
          </a:p>
        </p:txBody>
      </p:sp>
      <p:sp>
        <p:nvSpPr>
          <p:cNvPr id="78" name="text-078: 建立完成到读取顺序"/>
          <p:cNvSpPr txBox="1"/>
          <p:nvPr/>
        </p:nvSpPr>
        <p:spPr>
          <a:xfrm>
            <a:off x="8187690" y="5441107"/>
            <a:ext cx="128016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建立完成到读取顺序</a:t>
            </a:r>
          </a:p>
        </p:txBody>
      </p:sp>
      <p:sp>
        <p:nvSpPr>
          <p:cNvPr id="79" name="text-079: 输出可由 CPU 访问"/>
          <p:cNvSpPr txBox="1"/>
          <p:nvPr/>
        </p:nvSpPr>
        <p:spPr>
          <a:xfrm>
            <a:off x="8224945" y="5627797"/>
            <a:ext cx="120565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输出可由 CPU 访问</a:t>
            </a:r>
          </a:p>
        </p:txBody>
      </p:sp>
      <p:sp>
        <p:nvSpPr>
          <p:cNvPr id="80" name="r2e3"/>
          <p:cNvSpPr/>
          <p:nvPr/>
        </p:nvSpPr>
        <p:spPr>
          <a:xfrm>
            <a:off x="7414260" y="552069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r2b4"/>
          <p:cNvSpPr/>
          <p:nvPr/>
        </p:nvSpPr>
        <p:spPr>
          <a:xfrm>
            <a:off x="10241280" y="5147310"/>
            <a:ext cx="2133600" cy="74676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-082: 消费 / 复用"/>
          <p:cNvSpPr txBox="1"/>
          <p:nvPr/>
        </p:nvSpPr>
        <p:spPr>
          <a:xfrm>
            <a:off x="10867442" y="5237135"/>
            <a:ext cx="881277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消费 / 复用</a:t>
            </a:r>
          </a:p>
        </p:txBody>
      </p:sp>
      <p:sp>
        <p:nvSpPr>
          <p:cNvPr id="83" name="text-083: CPU 重新加载结果"/>
          <p:cNvSpPr txBox="1"/>
          <p:nvPr/>
        </p:nvSpPr>
        <p:spPr>
          <a:xfrm>
            <a:off x="10724445" y="5441107"/>
            <a:ext cx="116727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重新加载结果</a:t>
            </a:r>
          </a:p>
        </p:txBody>
      </p:sp>
      <p:sp>
        <p:nvSpPr>
          <p:cNvPr id="84" name="text-084: 最后消费者释放缓冲"/>
          <p:cNvSpPr txBox="1"/>
          <p:nvPr/>
        </p:nvSpPr>
        <p:spPr>
          <a:xfrm>
            <a:off x="10668000" y="5627797"/>
            <a:ext cx="128016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最后消费者释放缓冲</a:t>
            </a:r>
          </a:p>
        </p:txBody>
      </p:sp>
      <p:sp>
        <p:nvSpPr>
          <p:cNvPr id="85" name="r2e4"/>
          <p:cNvSpPr/>
          <p:nvPr/>
        </p:nvSpPr>
        <p:spPr>
          <a:xfrm>
            <a:off x="9894570" y="552069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-086: 超时或写错误时保留缓冲区；确认迟到事务排空或受控恢复完成后，再允许复用。"/>
          <p:cNvSpPr txBox="1"/>
          <p:nvPr/>
        </p:nvSpPr>
        <p:spPr>
          <a:xfrm>
            <a:off x="346710" y="6010991"/>
            <a:ext cx="5131308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超时或写错误时保留缓冲区；确认迟到事务排空或受控恢复完成后，再允许复用。</a:t>
            </a:r>
          </a:p>
        </p:txBody>
      </p:sp>
      <p:sp>
        <p:nvSpPr>
          <p:cNvPr id="87" name="text-087: 紫：软件排序与缓存完成依赖    绿：搬运与计算    首版全量写回，写后按输出"/>
          <p:cNvSpPr txBox="1"/>
          <p:nvPr/>
        </p:nvSpPr>
        <p:spPr>
          <a:xfrm>
            <a:off x="293370" y="6565301"/>
            <a:ext cx="5674109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紫：软件排序与缓存完成依赖    绿：搬运与计算    首版全量写回，写后按输出范围失效</a:t>
            </a:r>
          </a:p>
        </p:txBody>
      </p:sp>
      <p:sp>
        <p:nvSpPr>
          <p:cNvPr id="88" name="text-088: 仅整模型前后交接时，同步集中在推理两端；CPU 与设备交替处理分块时，同步放在实"/>
          <p:cNvSpPr txBox="1"/>
          <p:nvPr/>
        </p:nvSpPr>
        <p:spPr>
          <a:xfrm>
            <a:off x="293370" y="6832001"/>
            <a:ext cx="6353811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仅整模型前后交接时，同步集中在推理两端；CPU 与设备交替处理分块时，同步放在实际交接点。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一次推理的两次数据交接"/>
          <p:cNvSpPr txBox="1"/>
          <p:nvPr/>
        </p:nvSpPr>
        <p:spPr>
          <a:xfrm>
            <a:off x="4672584" y="112974"/>
            <a:ext cx="3456432" cy="4608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6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一次推理的两次数据交接</a:t>
            </a:r>
          </a:p>
        </p:txBody>
      </p:sp>
      <p:sp>
        <p:nvSpPr>
          <p:cNvPr id="3" name="stage-1"/>
          <p:cNvSpPr/>
          <p:nvPr/>
        </p:nvSpPr>
        <p:spPr>
          <a:xfrm>
            <a:off x="1440180" y="800100"/>
            <a:ext cx="9921240" cy="960120"/>
          </a:xfrm>
          <a:prstGeom prst="rect">
            <a:avLst/>
          </a:prstGeom>
          <a:solidFill>
            <a:srgbClr val="F1D7D9"/>
          </a:solidFill>
          <a:ln w="136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CPU／Ara 准备输入"/>
          <p:cNvSpPr txBox="1"/>
          <p:nvPr/>
        </p:nvSpPr>
        <p:spPr>
          <a:xfrm>
            <a:off x="5294468" y="805541"/>
            <a:ext cx="2212664" cy="3712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CPU／Ara 准备输入</a:t>
            </a:r>
          </a:p>
        </p:txBody>
      </p:sp>
      <p:sp>
        <p:nvSpPr>
          <p:cNvPr id="5" name="text-005: 计算结束，交出输入与输出范围"/>
          <p:cNvSpPr txBox="1"/>
          <p:nvPr/>
        </p:nvSpPr>
        <p:spPr>
          <a:xfrm>
            <a:off x="4900612" y="1224153"/>
            <a:ext cx="3000375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计算结束，交出输入与输出范围</a:t>
            </a:r>
          </a:p>
        </p:txBody>
      </p:sp>
      <p:cxnSp>
        <p:nvCxnSpPr>
          <p:cNvPr id="6" name="next-1"/>
          <p:cNvCxnSpPr/>
          <p:nvPr/>
        </p:nvCxnSpPr>
        <p:spPr>
          <a:xfrm>
            <a:off x="6400800" y="1760220"/>
            <a:ext cx="0" cy="192024"/>
          </a:xfrm>
          <a:prstGeom prst="line">
            <a:avLst/>
          </a:prstGeom>
          <a:ln w="22403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7" name="stage-2"/>
          <p:cNvSpPr/>
          <p:nvPr/>
        </p:nvSpPr>
        <p:spPr>
          <a:xfrm>
            <a:off x="1440180" y="1952244"/>
            <a:ext cx="9921240" cy="960120"/>
          </a:xfrm>
          <a:prstGeom prst="rect">
            <a:avLst/>
          </a:prstGeom>
          <a:solidFill>
            <a:srgbClr val="E8DFED"/>
          </a:solidFill>
          <a:ln w="136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8: 交接前同步"/>
          <p:cNvSpPr txBox="1"/>
          <p:nvPr/>
        </p:nvSpPr>
        <p:spPr>
          <a:xfrm>
            <a:off x="5704713" y="1957685"/>
            <a:ext cx="1392174" cy="3712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交接前同步</a:t>
            </a:r>
          </a:p>
        </p:txBody>
      </p:sp>
      <p:sp>
        <p:nvSpPr>
          <p:cNvPr id="9" name="text-009: FENCE 排空写缓冲 → LLC 全量 flush 并等待"/>
          <p:cNvSpPr txBox="1"/>
          <p:nvPr/>
        </p:nvSpPr>
        <p:spPr>
          <a:xfrm>
            <a:off x="4357376" y="2264283"/>
            <a:ext cx="4086848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FENCE 排空写缓冲 → LLC 全量 flush 并等待</a:t>
            </a:r>
          </a:p>
        </p:txBody>
      </p:sp>
      <p:sp>
        <p:nvSpPr>
          <p:cNvPr id="10" name="text-010: 同时保存输出区旧写；确认设备端口可见后启动搬运"/>
          <p:cNvSpPr txBox="1"/>
          <p:nvPr/>
        </p:nvSpPr>
        <p:spPr>
          <a:xfrm>
            <a:off x="4000500" y="2568321"/>
            <a:ext cx="4800600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同时保存输出区旧写；确认设备端口可见后启动搬运</a:t>
            </a:r>
          </a:p>
        </p:txBody>
      </p:sp>
      <p:cxnSp>
        <p:nvCxnSpPr>
          <p:cNvPr id="11" name="next-2"/>
          <p:cNvCxnSpPr/>
          <p:nvPr/>
        </p:nvCxnSpPr>
        <p:spPr>
          <a:xfrm>
            <a:off x="6400800" y="2912364"/>
            <a:ext cx="0" cy="192024"/>
          </a:xfrm>
          <a:prstGeom prst="line">
            <a:avLst/>
          </a:prstGeom>
          <a:ln w="22403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2" name="stage-3"/>
          <p:cNvSpPr/>
          <p:nvPr/>
        </p:nvSpPr>
        <p:spPr>
          <a:xfrm>
            <a:off x="1440180" y="3104388"/>
            <a:ext cx="9921240" cy="960120"/>
          </a:xfrm>
          <a:prstGeom prst="rect">
            <a:avLst/>
          </a:prstGeom>
          <a:solidFill>
            <a:srgbClr val="D9EEE8"/>
          </a:solidFill>
          <a:ln w="136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设备执行"/>
          <p:cNvSpPr txBox="1"/>
          <p:nvPr/>
        </p:nvSpPr>
        <p:spPr>
          <a:xfrm>
            <a:off x="5820728" y="3109829"/>
            <a:ext cx="1160145" cy="3712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设备执行</a:t>
            </a:r>
          </a:p>
        </p:txBody>
      </p:sp>
      <p:sp>
        <p:nvSpPr>
          <p:cNvPr id="14" name="text-014: DDR → GB → NPU 计算 → 结果从 GB 写回 DDR"/>
          <p:cNvSpPr txBox="1"/>
          <p:nvPr/>
        </p:nvSpPr>
        <p:spPr>
          <a:xfrm>
            <a:off x="4171709" y="3528441"/>
            <a:ext cx="4458182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→ GB → NPU 计算 → 结果从 GB 写回 DDR</a:t>
            </a:r>
          </a:p>
        </p:txBody>
      </p:sp>
      <p:cxnSp>
        <p:nvCxnSpPr>
          <p:cNvPr id="15" name="next-3"/>
          <p:cNvCxnSpPr/>
          <p:nvPr/>
        </p:nvCxnSpPr>
        <p:spPr>
          <a:xfrm>
            <a:off x="6400800" y="4064508"/>
            <a:ext cx="0" cy="192024"/>
          </a:xfrm>
          <a:prstGeom prst="line">
            <a:avLst/>
          </a:prstGeom>
          <a:ln w="22403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6" name="stage-4"/>
          <p:cNvSpPr/>
          <p:nvPr/>
        </p:nvSpPr>
        <p:spPr>
          <a:xfrm>
            <a:off x="1440180" y="4256532"/>
            <a:ext cx="9921240" cy="960120"/>
          </a:xfrm>
          <a:prstGeom prst="rect">
            <a:avLst/>
          </a:prstGeom>
          <a:solidFill>
            <a:srgbClr val="E8DFED"/>
          </a:solidFill>
          <a:ln w="136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7: 交回 CPU 前同步"/>
          <p:cNvSpPr txBox="1"/>
          <p:nvPr/>
        </p:nvSpPr>
        <p:spPr>
          <a:xfrm>
            <a:off x="5424197" y="4261973"/>
            <a:ext cx="1953207" cy="3712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交回 CPU 前同步</a:t>
            </a:r>
          </a:p>
        </p:txBody>
      </p:sp>
      <p:sp>
        <p:nvSpPr>
          <p:cNvPr id="18" name="text-018: 确认结果可见；软件提交输出范围，启动缓存失效"/>
          <p:cNvSpPr txBox="1"/>
          <p:nvPr/>
        </p:nvSpPr>
        <p:spPr>
          <a:xfrm>
            <a:off x="4100512" y="4568571"/>
            <a:ext cx="4600575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确认结果可见；软件提交输出范围，启动缓存失效</a:t>
            </a:r>
          </a:p>
        </p:txBody>
      </p:sp>
      <p:sp>
        <p:nvSpPr>
          <p:cNvPr id="19" name="text-019: 处理旧回填，完成 LLC／L1D 失效后交还 CPU"/>
          <p:cNvSpPr txBox="1"/>
          <p:nvPr/>
        </p:nvSpPr>
        <p:spPr>
          <a:xfrm>
            <a:off x="4290968" y="4872609"/>
            <a:ext cx="4219665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处理旧回填，完成 LLC／L1D 失效后交还 CPU</a:t>
            </a:r>
          </a:p>
        </p:txBody>
      </p:sp>
      <p:cxnSp>
        <p:nvCxnSpPr>
          <p:cNvPr id="20" name="next-4"/>
          <p:cNvCxnSpPr/>
          <p:nvPr/>
        </p:nvCxnSpPr>
        <p:spPr>
          <a:xfrm>
            <a:off x="6400800" y="5216652"/>
            <a:ext cx="0" cy="192024"/>
          </a:xfrm>
          <a:prstGeom prst="line">
            <a:avLst/>
          </a:prstGeom>
          <a:ln w="22403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21" name="stage-5"/>
          <p:cNvSpPr/>
          <p:nvPr/>
        </p:nvSpPr>
        <p:spPr>
          <a:xfrm>
            <a:off x="1440180" y="5408676"/>
            <a:ext cx="9921240" cy="960120"/>
          </a:xfrm>
          <a:prstGeom prst="rect">
            <a:avLst/>
          </a:prstGeom>
          <a:solidFill>
            <a:srgbClr val="F1D7D9"/>
          </a:solidFill>
          <a:ln w="136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2: CPU 读取结果并后处理"/>
          <p:cNvSpPr txBox="1"/>
          <p:nvPr/>
        </p:nvSpPr>
        <p:spPr>
          <a:xfrm>
            <a:off x="5110933" y="5414117"/>
            <a:ext cx="2579735" cy="3712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读取结果并后处理</a:t>
            </a:r>
          </a:p>
        </p:txBody>
      </p:sp>
      <p:sp>
        <p:nvSpPr>
          <p:cNvPr id="23" name="text-023: 同步成功后重新取得输出使用权"/>
          <p:cNvSpPr txBox="1"/>
          <p:nvPr/>
        </p:nvSpPr>
        <p:spPr>
          <a:xfrm>
            <a:off x="4900612" y="5832729"/>
            <a:ext cx="3000375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同步成功后重新取得输出使用权</a:t>
            </a:r>
          </a:p>
        </p:txBody>
      </p:sp>
      <p:sp>
        <p:nvSpPr>
          <p:cNvPr id="24" name="text-024: 箭头表示先后顺序；每个阶段成功后才进入下一阶段。"/>
          <p:cNvSpPr txBox="1"/>
          <p:nvPr/>
        </p:nvSpPr>
        <p:spPr>
          <a:xfrm>
            <a:off x="4000500" y="6593464"/>
            <a:ext cx="4800600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箭头表示先后顺序；每个阶段成功后才进入下一阶段。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