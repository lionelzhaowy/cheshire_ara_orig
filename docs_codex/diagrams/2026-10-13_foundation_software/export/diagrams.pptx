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1112139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-002: Cheshire 软件栈：基础软件使用接口契约，主机工具构建并装载程序"/>
          <p:cNvSpPr txBox="1"/>
          <p:nvPr/>
        </p:nvSpPr>
        <p:spPr>
          <a:xfrm>
            <a:off x="320040" y="124816"/>
            <a:ext cx="7593299" cy="384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90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Cheshire 软件栈：基础软件使用接口契约，主机工具构建并装载程序</a:t>
            </a:r>
          </a:p>
        </p:txBody>
      </p:sp>
      <p:sp>
        <p:nvSpPr>
          <p:cNvPr id="3" name="text-003: 开发主机"/>
          <p:cNvSpPr txBox="1"/>
          <p:nvPr/>
        </p:nvSpPr>
        <p:spPr>
          <a:xfrm>
            <a:off x="320040" y="697367"/>
            <a:ext cx="920115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开发主机</a:t>
            </a:r>
          </a:p>
        </p:txBody>
      </p:sp>
      <p:sp>
        <p:nvSpPr>
          <p:cNvPr id="4" name="text-004: 目标端：应用、基础软件与硬件接口"/>
          <p:cNvSpPr txBox="1"/>
          <p:nvPr/>
        </p:nvSpPr>
        <p:spPr>
          <a:xfrm>
            <a:off x="3520440" y="793379"/>
            <a:ext cx="3128391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目标端：应用、基础软件与硬件接口</a:t>
            </a:r>
          </a:p>
        </p:txBody>
      </p:sp>
      <p:sp>
        <p:nvSpPr>
          <p:cNvPr id="5" name="text-005: 平台启动支持"/>
          <p:cNvSpPr txBox="1"/>
          <p:nvPr/>
        </p:nvSpPr>
        <p:spPr>
          <a:xfrm>
            <a:off x="10161270" y="1921520"/>
            <a:ext cx="1288161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平台启动支持</a:t>
            </a:r>
          </a:p>
        </p:txBody>
      </p:sp>
      <p:sp>
        <p:nvSpPr>
          <p:cNvPr id="6" name="rect-006"/>
          <p:cNvSpPr/>
          <p:nvPr/>
        </p:nvSpPr>
        <p:spPr>
          <a:xfrm>
            <a:off x="320040" y="1200150"/>
            <a:ext cx="2480310" cy="1160145"/>
          </a:xfrm>
          <a:prstGeom prst="roundRect">
            <a:avLst>
              <a:gd name="adj" fmla="val 6206"/>
            </a:avLst>
          </a:prstGeom>
          <a:solidFill>
            <a:srgbClr val="FFF2E5"/>
          </a:solidFill>
          <a:ln w="16002" cap="flat">
            <a:solidFill>
              <a:srgbClr val="BB6D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编译、归档与链接"/>
          <p:cNvSpPr txBox="1"/>
          <p:nvPr/>
        </p:nvSpPr>
        <p:spPr>
          <a:xfrm>
            <a:off x="732092" y="1257437"/>
            <a:ext cx="1656207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编译、归档与链接</a:t>
            </a:r>
          </a:p>
        </p:txBody>
      </p:sp>
      <p:sp>
        <p:nvSpPr>
          <p:cNvPr id="8" name="text-008: GCC / as / ld / ar"/>
          <p:cNvSpPr txBox="1"/>
          <p:nvPr/>
        </p:nvSpPr>
        <p:spPr>
          <a:xfrm>
            <a:off x="842805" y="1539392"/>
            <a:ext cx="143477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GCC / as / ld / ar</a:t>
            </a:r>
          </a:p>
        </p:txBody>
      </p:sp>
      <p:sp>
        <p:nvSpPr>
          <p:cNvPr id="9" name="text-009: 源码 + 库 + 链接脚本"/>
          <p:cNvSpPr txBox="1"/>
          <p:nvPr/>
        </p:nvSpPr>
        <p:spPr>
          <a:xfrm>
            <a:off x="706713" y="1763420"/>
            <a:ext cx="170696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源码 + 库 + 链接脚本</a:t>
            </a:r>
          </a:p>
        </p:txBody>
      </p:sp>
      <p:sp>
        <p:nvSpPr>
          <p:cNvPr id="10" name="text-010: ELF / map / bin"/>
          <p:cNvSpPr txBox="1"/>
          <p:nvPr/>
        </p:nvSpPr>
        <p:spPr>
          <a:xfrm>
            <a:off x="897550" y="1987448"/>
            <a:ext cx="132529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ELF / map / bin</a:t>
            </a:r>
          </a:p>
        </p:txBody>
      </p:sp>
      <p:sp>
        <p:nvSpPr>
          <p:cNvPr id="11" name="rect-011"/>
          <p:cNvSpPr/>
          <p:nvPr/>
        </p:nvSpPr>
        <p:spPr>
          <a:xfrm>
            <a:off x="3520440" y="1160145"/>
            <a:ext cx="3840480" cy="760095"/>
          </a:xfrm>
          <a:prstGeom prst="roundRect">
            <a:avLst>
              <a:gd name="adj" fmla="val 9473"/>
            </a:avLst>
          </a:prstGeom>
          <a:solidFill>
            <a:srgbClr val="EAF1FC"/>
          </a:solidFill>
          <a:ln w="16002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应用 / 启动固件"/>
          <p:cNvSpPr txBox="1"/>
          <p:nvPr/>
        </p:nvSpPr>
        <p:spPr>
          <a:xfrm>
            <a:off x="4698300" y="1217432"/>
            <a:ext cx="1484761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应用 / 启动固件</a:t>
            </a:r>
          </a:p>
        </p:txBody>
      </p:sp>
      <p:sp>
        <p:nvSpPr>
          <p:cNvPr id="13" name="text-013: main · printf 调用 · 介质加载"/>
          <p:cNvSpPr txBox="1"/>
          <p:nvPr/>
        </p:nvSpPr>
        <p:spPr>
          <a:xfrm>
            <a:off x="4324109" y="1499387"/>
            <a:ext cx="223314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main · printf 调用 · 介质加载</a:t>
            </a:r>
          </a:p>
        </p:txBody>
      </p:sp>
      <p:sp>
        <p:nvSpPr>
          <p:cNvPr id="14" name="rect-014"/>
          <p:cNvSpPr/>
          <p:nvPr/>
        </p:nvSpPr>
        <p:spPr>
          <a:xfrm>
            <a:off x="7880985" y="1160145"/>
            <a:ext cx="1560195" cy="760095"/>
          </a:xfrm>
          <a:prstGeom prst="roundRect">
            <a:avLst>
              <a:gd name="adj" fmla="val 9473"/>
            </a:avLst>
          </a:prstGeom>
          <a:solidFill>
            <a:srgbClr val="EAF1FC"/>
          </a:solidFill>
          <a:ln w="16002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向量内核"/>
          <p:cNvSpPr txBox="1"/>
          <p:nvPr/>
        </p:nvSpPr>
        <p:spPr>
          <a:xfrm>
            <a:off x="8201025" y="1217432"/>
            <a:ext cx="920115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向量内核</a:t>
            </a:r>
          </a:p>
        </p:txBody>
      </p:sp>
      <p:sp>
        <p:nvSpPr>
          <p:cNvPr id="16" name="text-016: RVV 指令"/>
          <p:cNvSpPr txBox="1"/>
          <p:nvPr/>
        </p:nvSpPr>
        <p:spPr>
          <a:xfrm>
            <a:off x="8236929" y="1499387"/>
            <a:ext cx="84830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RVV 指令</a:t>
            </a:r>
          </a:p>
        </p:txBody>
      </p:sp>
      <p:sp>
        <p:nvSpPr>
          <p:cNvPr id="17" name="rect-017"/>
          <p:cNvSpPr/>
          <p:nvPr/>
        </p:nvSpPr>
        <p:spPr>
          <a:xfrm>
            <a:off x="3640455" y="2640330"/>
            <a:ext cx="2320290" cy="920115"/>
          </a:xfrm>
          <a:prstGeom prst="roundRect">
            <a:avLst>
              <a:gd name="adj" fmla="val 7826"/>
            </a:avLst>
          </a:prstGeom>
          <a:solidFill>
            <a:srgbClr val="EAF1FC"/>
          </a:solidFill>
          <a:ln w="16002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格式化公共库"/>
          <p:cNvSpPr txBox="1"/>
          <p:nvPr/>
        </p:nvSpPr>
        <p:spPr>
          <a:xfrm>
            <a:off x="4156520" y="2697617"/>
            <a:ext cx="1288161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格式化公共库</a:t>
            </a:r>
          </a:p>
        </p:txBody>
      </p:sp>
      <p:sp>
        <p:nvSpPr>
          <p:cNvPr id="19" name="text-019: printf_ / _vsnprintf"/>
          <p:cNvSpPr txBox="1"/>
          <p:nvPr/>
        </p:nvSpPr>
        <p:spPr>
          <a:xfrm>
            <a:off x="4019371" y="2979572"/>
            <a:ext cx="156245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printf_ / _vsnprintf</a:t>
            </a:r>
          </a:p>
        </p:txBody>
      </p:sp>
      <p:sp>
        <p:nvSpPr>
          <p:cNvPr id="20" name="text-020: _out_char"/>
          <p:cNvSpPr txBox="1"/>
          <p:nvPr/>
        </p:nvSpPr>
        <p:spPr>
          <a:xfrm>
            <a:off x="4354707" y="3203600"/>
            <a:ext cx="89178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_out_char</a:t>
            </a:r>
          </a:p>
        </p:txBody>
      </p:sp>
      <p:sp>
        <p:nvSpPr>
          <p:cNvPr id="21" name="rect-021"/>
          <p:cNvSpPr/>
          <p:nvPr/>
        </p:nvSpPr>
        <p:spPr>
          <a:xfrm>
            <a:off x="6640830" y="2640330"/>
            <a:ext cx="2320290" cy="920115"/>
          </a:xfrm>
          <a:prstGeom prst="roundRect">
            <a:avLst>
              <a:gd name="adj" fmla="val 7826"/>
            </a:avLst>
          </a:prstGeom>
          <a:solidFill>
            <a:srgbClr val="EAF1FC"/>
          </a:solidFill>
          <a:ln w="16002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介质公共服务"/>
          <p:cNvSpPr txBox="1"/>
          <p:nvPr/>
        </p:nvSpPr>
        <p:spPr>
          <a:xfrm>
            <a:off x="7156894" y="2697617"/>
            <a:ext cx="1288161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介质公共服务</a:t>
            </a:r>
          </a:p>
        </p:txBody>
      </p:sp>
      <p:sp>
        <p:nvSpPr>
          <p:cNvPr id="23" name="text-023: gpt_boot_part_else_raw"/>
          <p:cNvSpPr txBox="1"/>
          <p:nvPr/>
        </p:nvSpPr>
        <p:spPr>
          <a:xfrm>
            <a:off x="6818627" y="2979572"/>
            <a:ext cx="196469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gpt_boot_part_else_raw</a:t>
            </a:r>
          </a:p>
        </p:txBody>
      </p:sp>
      <p:sp>
        <p:nvSpPr>
          <p:cNvPr id="24" name="text-024: gpt_read_t 回调"/>
          <p:cNvSpPr txBox="1"/>
          <p:nvPr/>
        </p:nvSpPr>
        <p:spPr>
          <a:xfrm>
            <a:off x="7133404" y="3203600"/>
            <a:ext cx="133514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gpt_read_t 回调</a:t>
            </a:r>
          </a:p>
        </p:txBody>
      </p:sp>
      <p:sp>
        <p:nvSpPr>
          <p:cNvPr id="25" name="rect-025"/>
          <p:cNvSpPr/>
          <p:nvPr/>
        </p:nvSpPr>
        <p:spPr>
          <a:xfrm>
            <a:off x="6640830" y="4080510"/>
            <a:ext cx="2320290" cy="920115"/>
          </a:xfrm>
          <a:prstGeom prst="roundRect">
            <a:avLst>
              <a:gd name="adj" fmla="val 7826"/>
            </a:avLst>
          </a:prstGeom>
          <a:solidFill>
            <a:srgbClr val="E9F5F1"/>
          </a:solidFill>
          <a:ln w="16002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Flash 器件 HAL"/>
          <p:cNvSpPr txBox="1"/>
          <p:nvPr/>
        </p:nvSpPr>
        <p:spPr>
          <a:xfrm>
            <a:off x="7038511" y="4137797"/>
            <a:ext cx="1524928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Flash 器件 HAL</a:t>
            </a:r>
          </a:p>
        </p:txBody>
      </p:sp>
      <p:sp>
        <p:nvSpPr>
          <p:cNvPr id="27" name="text-027: spi_s25fs512s_*"/>
          <p:cNvSpPr txBox="1"/>
          <p:nvPr/>
        </p:nvSpPr>
        <p:spPr>
          <a:xfrm>
            <a:off x="7129954" y="4419752"/>
            <a:ext cx="134204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spi_s25fs512s_*</a:t>
            </a:r>
          </a:p>
        </p:txBody>
      </p:sp>
      <p:sp>
        <p:nvSpPr>
          <p:cNvPr id="28" name="text-028: 器件命令 / 地址 / 分块"/>
          <p:cNvSpPr txBox="1"/>
          <p:nvPr/>
        </p:nvSpPr>
        <p:spPr>
          <a:xfrm>
            <a:off x="6917802" y="4643780"/>
            <a:ext cx="176634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器件命令 / 地址 / 分块</a:t>
            </a:r>
          </a:p>
        </p:txBody>
      </p:sp>
      <p:sp>
        <p:nvSpPr>
          <p:cNvPr id="29" name="rect-029"/>
          <p:cNvSpPr/>
          <p:nvPr/>
        </p:nvSpPr>
        <p:spPr>
          <a:xfrm>
            <a:off x="3640455" y="5640705"/>
            <a:ext cx="2320290" cy="920115"/>
          </a:xfrm>
          <a:prstGeom prst="roundRect">
            <a:avLst>
              <a:gd name="adj" fmla="val 7826"/>
            </a:avLst>
          </a:prstGeom>
          <a:solidFill>
            <a:srgbClr val="E9F5F1"/>
          </a:solidFill>
          <a:ln w="16002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本地 UART DIF"/>
          <p:cNvSpPr txBox="1"/>
          <p:nvPr/>
        </p:nvSpPr>
        <p:spPr>
          <a:xfrm>
            <a:off x="4056469" y="5697992"/>
            <a:ext cx="1488261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本地 UART DIF</a:t>
            </a:r>
          </a:p>
        </p:txBody>
      </p:sp>
      <p:sp>
        <p:nvSpPr>
          <p:cNvPr id="31" name="text-031: _putchar → uart_write"/>
          <p:cNvSpPr txBox="1"/>
          <p:nvPr/>
        </p:nvSpPr>
        <p:spPr>
          <a:xfrm>
            <a:off x="3882285" y="5979947"/>
            <a:ext cx="183663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_putchar → uart_write</a:t>
            </a:r>
          </a:p>
        </p:txBody>
      </p:sp>
      <p:sp>
        <p:nvSpPr>
          <p:cNvPr id="32" name="text-032: 初始化 / LSR 轮询"/>
          <p:cNvSpPr txBox="1"/>
          <p:nvPr/>
        </p:nvSpPr>
        <p:spPr>
          <a:xfrm>
            <a:off x="4075847" y="6203975"/>
            <a:ext cx="144950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初始化 / LSR 轮询</a:t>
            </a:r>
          </a:p>
        </p:txBody>
      </p:sp>
      <p:sp>
        <p:nvSpPr>
          <p:cNvPr id="33" name="rect-033"/>
          <p:cNvSpPr/>
          <p:nvPr/>
        </p:nvSpPr>
        <p:spPr>
          <a:xfrm>
            <a:off x="6640830" y="5640705"/>
            <a:ext cx="2320290" cy="920115"/>
          </a:xfrm>
          <a:prstGeom prst="roundRect">
            <a:avLst>
              <a:gd name="adj" fmla="val 7826"/>
            </a:avLst>
          </a:prstGeom>
          <a:solidFill>
            <a:srgbClr val="E9F5F1"/>
          </a:solidFill>
          <a:ln w="16002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SPI Host DIF"/>
          <p:cNvSpPr txBox="1"/>
          <p:nvPr/>
        </p:nvSpPr>
        <p:spPr>
          <a:xfrm>
            <a:off x="7132866" y="5697992"/>
            <a:ext cx="1336217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SPI Host DIF</a:t>
            </a:r>
          </a:p>
        </p:txBody>
      </p:sp>
      <p:sp>
        <p:nvSpPr>
          <p:cNvPr id="35" name="text-035: dif_spi_host_transaction"/>
          <p:cNvSpPr txBox="1"/>
          <p:nvPr/>
        </p:nvSpPr>
        <p:spPr>
          <a:xfrm>
            <a:off x="6810195" y="5979947"/>
            <a:ext cx="19815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dif_spi_host_transaction</a:t>
            </a:r>
          </a:p>
        </p:txBody>
      </p:sp>
      <p:sp>
        <p:nvSpPr>
          <p:cNvPr id="36" name="text-036: handle / FIFO / 命令"/>
          <p:cNvSpPr txBox="1"/>
          <p:nvPr/>
        </p:nvSpPr>
        <p:spPr>
          <a:xfrm>
            <a:off x="6963464" y="6203975"/>
            <a:ext cx="167502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handle / FIFO / 命令</a:t>
            </a:r>
          </a:p>
        </p:txBody>
      </p:sp>
      <p:sp>
        <p:nvSpPr>
          <p:cNvPr id="37" name="rect-037"/>
          <p:cNvSpPr/>
          <p:nvPr/>
        </p:nvSpPr>
        <p:spPr>
          <a:xfrm>
            <a:off x="3640455" y="7280910"/>
            <a:ext cx="5320665" cy="840105"/>
          </a:xfrm>
          <a:prstGeom prst="roundRect">
            <a:avLst>
              <a:gd name="adj" fmla="val 8571"/>
            </a:avLst>
          </a:prstGeom>
          <a:solidFill>
            <a:srgbClr val="E9F5F1"/>
          </a:solidFill>
          <a:ln w="16002" cap="flat">
            <a:solidFill>
              <a:srgbClr val="287D7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MMIO / CSR 辅助代码"/>
          <p:cNvSpPr txBox="1"/>
          <p:nvPr/>
        </p:nvSpPr>
        <p:spPr>
          <a:xfrm>
            <a:off x="5238073" y="7338197"/>
            <a:ext cx="2125428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MMIO / CSR 辅助代码</a:t>
            </a:r>
          </a:p>
        </p:txBody>
      </p:sp>
      <p:sp>
        <p:nvSpPr>
          <p:cNvPr id="39" name="text-039: reg8 / reg32 · mmio_region_read/write"/>
          <p:cNvSpPr txBox="1"/>
          <p:nvPr/>
        </p:nvSpPr>
        <p:spPr>
          <a:xfrm>
            <a:off x="4744580" y="7620152"/>
            <a:ext cx="311241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reg8 / reg32 · mmio_region_read/write</a:t>
            </a:r>
          </a:p>
        </p:txBody>
      </p:sp>
      <p:sp>
        <p:nvSpPr>
          <p:cNvPr id="40" name="text-040: set_mie / set_mtie / get_mcycle"/>
          <p:cNvSpPr txBox="1"/>
          <p:nvPr/>
        </p:nvSpPr>
        <p:spPr>
          <a:xfrm>
            <a:off x="5022253" y="7844180"/>
            <a:ext cx="255707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set_mie / set_mtie / get_mcycle</a:t>
            </a:r>
          </a:p>
        </p:txBody>
      </p:sp>
      <p:sp>
        <p:nvSpPr>
          <p:cNvPr id="41" name="rect-041"/>
          <p:cNvSpPr/>
          <p:nvPr/>
        </p:nvSpPr>
        <p:spPr>
          <a:xfrm>
            <a:off x="3520440" y="8801100"/>
            <a:ext cx="5920740" cy="920115"/>
          </a:xfrm>
          <a:prstGeom prst="roundRect">
            <a:avLst>
              <a:gd name="adj" fmla="val 7826"/>
            </a:avLst>
          </a:prstGeom>
          <a:solidFill>
            <a:srgbClr val="F1ECF7"/>
          </a:solidFill>
          <a:ln w="16002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软硬件接口契约"/>
          <p:cNvSpPr txBox="1"/>
          <p:nvPr/>
        </p:nvSpPr>
        <p:spPr>
          <a:xfrm>
            <a:off x="5744718" y="8858387"/>
            <a:ext cx="1472184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软硬件接口契约</a:t>
            </a:r>
          </a:p>
        </p:txBody>
      </p:sp>
      <p:sp>
        <p:nvSpPr>
          <p:cNvPr id="43" name="text-043: ISA / CSR / MMIO / 异常与中断"/>
          <p:cNvSpPr txBox="1"/>
          <p:nvPr/>
        </p:nvSpPr>
        <p:spPr>
          <a:xfrm>
            <a:off x="5233123" y="9140342"/>
            <a:ext cx="249537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ISA / CSR / MMIO / 异常与中断</a:t>
            </a:r>
          </a:p>
        </p:txBody>
      </p:sp>
      <p:sp>
        <p:nvSpPr>
          <p:cNvPr id="44" name="text-044: 地址与字段 · 访问宽度 · 顺序和数据可见性"/>
          <p:cNvSpPr txBox="1"/>
          <p:nvPr/>
        </p:nvSpPr>
        <p:spPr>
          <a:xfrm>
            <a:off x="4907401" y="9364370"/>
            <a:ext cx="314681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地址与字段 · 访问宽度 · 顺序和数据可见性</a:t>
            </a:r>
          </a:p>
        </p:txBody>
      </p:sp>
      <p:sp>
        <p:nvSpPr>
          <p:cNvPr id="45" name="rect-045"/>
          <p:cNvSpPr/>
          <p:nvPr/>
        </p:nvSpPr>
        <p:spPr>
          <a:xfrm>
            <a:off x="3520440" y="10241280"/>
            <a:ext cx="5920740" cy="640080"/>
          </a:xfrm>
          <a:prstGeom prst="roundRect">
            <a:avLst>
              <a:gd name="adj" fmla="val 11250"/>
            </a:avLst>
          </a:prstGeom>
          <a:solidFill>
            <a:srgbClr val="F1ECF7"/>
          </a:solidFill>
          <a:ln w="16002" cap="flat">
            <a:solidFill>
              <a:srgbClr val="8660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SoC 硬件"/>
          <p:cNvSpPr txBox="1"/>
          <p:nvPr/>
        </p:nvSpPr>
        <p:spPr>
          <a:xfrm>
            <a:off x="5999594" y="10298567"/>
            <a:ext cx="962433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SoC 硬件</a:t>
            </a:r>
          </a:p>
        </p:txBody>
      </p:sp>
      <p:sp>
        <p:nvSpPr>
          <p:cNvPr id="47" name="text-047: CVA6 / Ara · AXI / Reg · 存储与外设控制器"/>
          <p:cNvSpPr txBox="1"/>
          <p:nvPr/>
        </p:nvSpPr>
        <p:spPr>
          <a:xfrm>
            <a:off x="4849594" y="10580522"/>
            <a:ext cx="326243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CVA6 / Ara · AXI / Reg · 存储与外设控制器</a:t>
            </a:r>
          </a:p>
        </p:txBody>
      </p:sp>
      <p:sp>
        <p:nvSpPr>
          <p:cNvPr id="48" name="rect-048"/>
          <p:cNvSpPr/>
          <p:nvPr/>
        </p:nvSpPr>
        <p:spPr>
          <a:xfrm>
            <a:off x="10161270" y="2400300"/>
            <a:ext cx="2320290" cy="1520190"/>
          </a:xfrm>
          <a:prstGeom prst="roundRect">
            <a:avLst>
              <a:gd name="adj" fmla="val 4736"/>
            </a:avLst>
          </a:prstGeom>
          <a:solidFill>
            <a:srgbClr val="EAF1FC"/>
          </a:solidFill>
          <a:ln w="16002" cap="flat">
            <a:solidFill>
              <a:srgbClr val="4775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Boot ROM / crt0"/>
          <p:cNvSpPr txBox="1"/>
          <p:nvPr/>
        </p:nvSpPr>
        <p:spPr>
          <a:xfrm>
            <a:off x="10464427" y="2457587"/>
            <a:ext cx="1713977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Boot ROM / crt0</a:t>
            </a:r>
          </a:p>
        </p:txBody>
      </p:sp>
      <p:sp>
        <p:nvSpPr>
          <p:cNvPr id="50" name="text-050: 片内存储 / sp / gp"/>
          <p:cNvSpPr txBox="1"/>
          <p:nvPr/>
        </p:nvSpPr>
        <p:spPr>
          <a:xfrm>
            <a:off x="10567865" y="2739542"/>
            <a:ext cx="150710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片内存储 / sp / gp</a:t>
            </a:r>
          </a:p>
        </p:txBody>
      </p:sp>
      <p:sp>
        <p:nvSpPr>
          <p:cNvPr id="51" name="text-051: BSS / FS / trap 入口"/>
          <p:cNvSpPr txBox="1"/>
          <p:nvPr/>
        </p:nvSpPr>
        <p:spPr>
          <a:xfrm>
            <a:off x="10508820" y="2963570"/>
            <a:ext cx="162519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BSS / FS / trap 入口</a:t>
            </a:r>
          </a:p>
        </p:txBody>
      </p:sp>
      <p:sp>
        <p:nvSpPr>
          <p:cNvPr id="52" name="text-052: 装载 / 进入 main"/>
          <p:cNvSpPr txBox="1"/>
          <p:nvPr/>
        </p:nvSpPr>
        <p:spPr>
          <a:xfrm>
            <a:off x="10626353" y="3187598"/>
            <a:ext cx="1390124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装载 / 进入 main</a:t>
            </a:r>
          </a:p>
        </p:txBody>
      </p:sp>
      <p:sp>
        <p:nvSpPr>
          <p:cNvPr id="53" name="text-053: 分别属于固件与应用"/>
          <p:cNvSpPr txBox="1"/>
          <p:nvPr/>
        </p:nvSpPr>
        <p:spPr>
          <a:xfrm>
            <a:off x="10521315" y="3411626"/>
            <a:ext cx="16002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分别属于固件与应用</a:t>
            </a:r>
          </a:p>
        </p:txBody>
      </p:sp>
      <p:sp>
        <p:nvSpPr>
          <p:cNvPr id="54" name="rect-054"/>
          <p:cNvSpPr/>
          <p:nvPr/>
        </p:nvSpPr>
        <p:spPr>
          <a:xfrm>
            <a:off x="10161270" y="5200650"/>
            <a:ext cx="2320290" cy="1120140"/>
          </a:xfrm>
          <a:prstGeom prst="roundRect">
            <a:avLst>
              <a:gd name="adj" fmla="val 6428"/>
            </a:avLst>
          </a:prstGeom>
          <a:solidFill>
            <a:srgbClr val="FFF2E5"/>
          </a:solidFill>
          <a:ln w="16002" cap="flat">
            <a:solidFill>
              <a:srgbClr val="BB6D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板级参数与连接"/>
          <p:cNvSpPr txBox="1"/>
          <p:nvPr/>
        </p:nvSpPr>
        <p:spPr>
          <a:xfrm>
            <a:off x="10585323" y="5257937"/>
            <a:ext cx="1472184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板级参数与连接</a:t>
            </a:r>
          </a:p>
        </p:txBody>
      </p:sp>
      <p:sp>
        <p:nvSpPr>
          <p:cNvPr id="56" name="text-056: 地址 / 频率 / 复位"/>
          <p:cNvSpPr txBox="1"/>
          <p:nvPr/>
        </p:nvSpPr>
        <p:spPr>
          <a:xfrm>
            <a:off x="10598262" y="5539892"/>
            <a:ext cx="144630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地址 / 频率 / 复位</a:t>
            </a:r>
          </a:p>
        </p:txBody>
      </p:sp>
      <p:sp>
        <p:nvSpPr>
          <p:cNvPr id="57" name="text-057: PAD / 片外器件"/>
          <p:cNvSpPr txBox="1"/>
          <p:nvPr/>
        </p:nvSpPr>
        <p:spPr>
          <a:xfrm>
            <a:off x="10680316" y="5763920"/>
            <a:ext cx="128219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PAD / 片外器件</a:t>
            </a:r>
          </a:p>
        </p:txBody>
      </p:sp>
      <p:sp>
        <p:nvSpPr>
          <p:cNvPr id="58" name="text-058: 启动介质 / 调试连接"/>
          <p:cNvSpPr txBox="1"/>
          <p:nvPr/>
        </p:nvSpPr>
        <p:spPr>
          <a:xfrm>
            <a:off x="10519784" y="5987948"/>
            <a:ext cx="160326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启动介质 / 调试连接</a:t>
            </a:r>
          </a:p>
        </p:txBody>
      </p:sp>
      <p:sp>
        <p:nvSpPr>
          <p:cNvPr id="59" name="rect-059"/>
          <p:cNvSpPr/>
          <p:nvPr/>
        </p:nvSpPr>
        <p:spPr>
          <a:xfrm>
            <a:off x="320040" y="4400550"/>
            <a:ext cx="2480310" cy="1120140"/>
          </a:xfrm>
          <a:prstGeom prst="roundRect">
            <a:avLst>
              <a:gd name="adj" fmla="val 6428"/>
            </a:avLst>
          </a:prstGeom>
          <a:solidFill>
            <a:srgbClr val="FFF2E5"/>
          </a:solidFill>
          <a:ln w="16002" cap="flat">
            <a:solidFill>
              <a:srgbClr val="BB6D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寄存器生成"/>
          <p:cNvSpPr txBox="1"/>
          <p:nvPr/>
        </p:nvSpPr>
        <p:spPr>
          <a:xfrm>
            <a:off x="1008126" y="4457837"/>
            <a:ext cx="1104138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寄存器生成</a:t>
            </a:r>
          </a:p>
        </p:txBody>
      </p:sp>
      <p:sp>
        <p:nvSpPr>
          <p:cNvPr id="61" name="text-061: Python / regtool"/>
          <p:cNvSpPr txBox="1"/>
          <p:nvPr/>
        </p:nvSpPr>
        <p:spPr>
          <a:xfrm>
            <a:off x="849681" y="4739792"/>
            <a:ext cx="142102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Python / regtool</a:t>
            </a:r>
          </a:p>
        </p:txBody>
      </p:sp>
      <p:sp>
        <p:nvSpPr>
          <p:cNvPr id="62" name="text-062: HJSON → C 宏 / RTL"/>
          <p:cNvSpPr txBox="1"/>
          <p:nvPr/>
        </p:nvSpPr>
        <p:spPr>
          <a:xfrm>
            <a:off x="707132" y="4963820"/>
            <a:ext cx="170612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HJSON → C 宏 / RTL</a:t>
            </a:r>
          </a:p>
        </p:txBody>
      </p:sp>
      <p:sp>
        <p:nvSpPr>
          <p:cNvPr id="63" name="text-063: 偏移、字段与访问语义"/>
          <p:cNvSpPr txBox="1"/>
          <p:nvPr/>
        </p:nvSpPr>
        <p:spPr>
          <a:xfrm>
            <a:off x="680085" y="5187848"/>
            <a:ext cx="17602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偏移、字段与访问语义</a:t>
            </a:r>
          </a:p>
        </p:txBody>
      </p:sp>
      <p:sp>
        <p:nvSpPr>
          <p:cNvPr id="64" name="rect-064"/>
          <p:cNvSpPr/>
          <p:nvPr/>
        </p:nvSpPr>
        <p:spPr>
          <a:xfrm>
            <a:off x="320040" y="8961120"/>
            <a:ext cx="2480310" cy="1160145"/>
          </a:xfrm>
          <a:prstGeom prst="roundRect">
            <a:avLst>
              <a:gd name="adj" fmla="val 6206"/>
            </a:avLst>
          </a:prstGeom>
          <a:solidFill>
            <a:srgbClr val="FFF2E5"/>
          </a:solidFill>
          <a:ln w="16002" cap="flat">
            <a:solidFill>
              <a:srgbClr val="BB6D3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装载、调试与检查"/>
          <p:cNvSpPr txBox="1"/>
          <p:nvPr/>
        </p:nvSpPr>
        <p:spPr>
          <a:xfrm>
            <a:off x="732092" y="9018407"/>
            <a:ext cx="1656207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装载、调试与检查</a:t>
            </a:r>
          </a:p>
        </p:txBody>
      </p:sp>
      <p:sp>
        <p:nvSpPr>
          <p:cNvPr id="66" name="text-066: GDB / OpenOCD"/>
          <p:cNvSpPr txBox="1"/>
          <p:nvPr/>
        </p:nvSpPr>
        <p:spPr>
          <a:xfrm>
            <a:off x="837317" y="9300362"/>
            <a:ext cx="144575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GDB / OpenOCD</a:t>
            </a:r>
          </a:p>
        </p:txBody>
      </p:sp>
      <p:sp>
        <p:nvSpPr>
          <p:cNvPr id="67" name="text-067: readelf / nm / objdump"/>
          <p:cNvSpPr txBox="1"/>
          <p:nvPr/>
        </p:nvSpPr>
        <p:spPr>
          <a:xfrm>
            <a:off x="578266" y="9524390"/>
            <a:ext cx="196385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readelf / nm / objdump</a:t>
            </a:r>
          </a:p>
        </p:txBody>
      </p:sp>
      <p:sp>
        <p:nvSpPr>
          <p:cNvPr id="68" name="text-068: 入口、符号与实际指令"/>
          <p:cNvSpPr txBox="1"/>
          <p:nvPr/>
        </p:nvSpPr>
        <p:spPr>
          <a:xfrm>
            <a:off x="680085" y="9748418"/>
            <a:ext cx="17602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入口、符号与实际指令</a:t>
            </a:r>
          </a:p>
        </p:txBody>
      </p:sp>
      <p:sp>
        <p:nvSpPr>
          <p:cNvPr id="69" name="polyline-069"/>
          <p:cNvSpPr/>
          <p:nvPr/>
        </p:nvSpPr>
        <p:spPr>
          <a:xfrm>
            <a:off x="2800350" y="1720215"/>
            <a:ext cx="720090" cy="1"/>
          </a:xfrm>
          <a:custGeom>
            <a:avLst/>
            <a:gdLst/>
            <a:ahLst/>
            <a:cxnLst/>
            <a:rect l="0" t="0" r="r" b="b"/>
            <a:pathLst>
              <a:path w="720090" h="1" fill="none">
                <a:moveTo>
                  <a:pt x="0" y="0"/>
                </a:moveTo>
                <a:lnTo>
                  <a:pt x="720090" y="0"/>
                </a:lnTo>
              </a:path>
            </a:pathLst>
          </a:custGeom>
          <a:noFill/>
          <a:ln w="19202" cap="flat">
            <a:solidFill>
              <a:srgbClr val="BB6D3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LF"/>
          <p:cNvSpPr txBox="1"/>
          <p:nvPr/>
        </p:nvSpPr>
        <p:spPr>
          <a:xfrm>
            <a:off x="2963208" y="1444020"/>
            <a:ext cx="394374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B6D30"/>
                </a:solidFill>
                <a:latin typeface="Microsoft YaHei"/>
                <a:ea typeface="Microsoft YaHei"/>
                <a:cs typeface="Microsoft YaHei"/>
              </a:rPr>
              <a:t>ELF</a:t>
            </a:r>
          </a:p>
        </p:txBody>
      </p:sp>
      <p:sp>
        <p:nvSpPr>
          <p:cNvPr id="71" name="polyline-071"/>
          <p:cNvSpPr/>
          <p:nvPr/>
        </p:nvSpPr>
        <p:spPr>
          <a:xfrm>
            <a:off x="4800600" y="192024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9202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调用"/>
          <p:cNvSpPr txBox="1"/>
          <p:nvPr/>
        </p:nvSpPr>
        <p:spPr>
          <a:xfrm>
            <a:off x="4908614" y="2156109"/>
            <a:ext cx="456057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73" name="polyline-073"/>
          <p:cNvSpPr/>
          <p:nvPr/>
        </p:nvSpPr>
        <p:spPr>
          <a:xfrm>
            <a:off x="6800850" y="1920240"/>
            <a:ext cx="1000125" cy="720090"/>
          </a:xfrm>
          <a:custGeom>
            <a:avLst/>
            <a:gdLst/>
            <a:ahLst/>
            <a:cxnLst/>
            <a:rect l="0" t="0" r="r" b="b"/>
            <a:pathLst>
              <a:path w="1000125" h="720090" fill="none">
                <a:moveTo>
                  <a:pt x="0" y="0"/>
                </a:moveTo>
                <a:lnTo>
                  <a:pt x="1000125" y="0"/>
                </a:lnTo>
                <a:lnTo>
                  <a:pt x="1000125" y="720090"/>
                </a:lnTo>
              </a:path>
            </a:pathLst>
          </a:custGeom>
          <a:noFill/>
          <a:ln w="19202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调用"/>
          <p:cNvSpPr txBox="1"/>
          <p:nvPr/>
        </p:nvSpPr>
        <p:spPr>
          <a:xfrm>
            <a:off x="7892986" y="2156109"/>
            <a:ext cx="456057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  <p:sp>
        <p:nvSpPr>
          <p:cNvPr id="75" name="polyline-075"/>
          <p:cNvSpPr/>
          <p:nvPr/>
        </p:nvSpPr>
        <p:spPr>
          <a:xfrm>
            <a:off x="4800600" y="3560445"/>
            <a:ext cx="1" cy="2080260"/>
          </a:xfrm>
          <a:custGeom>
            <a:avLst/>
            <a:gdLst/>
            <a:ahLst/>
            <a:cxnLst/>
            <a:rect l="0" t="0" r="r" b="b"/>
            <a:pathLst>
              <a:path w="1" h="2080260" fill="none">
                <a:moveTo>
                  <a:pt x="0" y="0"/>
                </a:moveTo>
                <a:lnTo>
                  <a:pt x="0" y="2080260"/>
                </a:lnTo>
              </a:path>
            </a:pathLst>
          </a:custGeom>
          <a:noFill/>
          <a:ln w="19202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字符回调"/>
          <p:cNvSpPr txBox="1"/>
          <p:nvPr/>
        </p:nvSpPr>
        <p:spPr>
          <a:xfrm>
            <a:off x="4948618" y="4524405"/>
            <a:ext cx="760095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字符回调</a:t>
            </a:r>
          </a:p>
        </p:txBody>
      </p:sp>
      <p:sp>
        <p:nvSpPr>
          <p:cNvPr id="77" name="polyline-077"/>
          <p:cNvSpPr/>
          <p:nvPr/>
        </p:nvSpPr>
        <p:spPr>
          <a:xfrm>
            <a:off x="7800975" y="3560445"/>
            <a:ext cx="1" cy="520065"/>
          </a:xfrm>
          <a:custGeom>
            <a:avLst/>
            <a:gdLst/>
            <a:ahLst/>
            <a:cxnLst/>
            <a:rect l="0" t="0" r="r" b="b"/>
            <a:pathLst>
              <a:path w="1" h="520065" fill="none">
                <a:moveTo>
                  <a:pt x="0" y="0"/>
                </a:moveTo>
                <a:lnTo>
                  <a:pt x="0" y="520065"/>
                </a:lnTo>
              </a:path>
            </a:pathLst>
          </a:custGeom>
          <a:noFill/>
          <a:ln w="19202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读回调"/>
          <p:cNvSpPr txBox="1"/>
          <p:nvPr/>
        </p:nvSpPr>
        <p:spPr>
          <a:xfrm>
            <a:off x="7904988" y="3732306"/>
            <a:ext cx="608076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读回调</a:t>
            </a:r>
          </a:p>
        </p:txBody>
      </p:sp>
      <p:sp>
        <p:nvSpPr>
          <p:cNvPr id="79" name="polyline-079"/>
          <p:cNvSpPr/>
          <p:nvPr/>
        </p:nvSpPr>
        <p:spPr>
          <a:xfrm>
            <a:off x="7800975" y="5000625"/>
            <a:ext cx="1" cy="640080"/>
          </a:xfrm>
          <a:custGeom>
            <a:avLst/>
            <a:gdLst/>
            <a:ahLst/>
            <a:cxnLst/>
            <a:rect l="0" t="0" r="r" b="b"/>
            <a:pathLst>
              <a:path w="1" h="640080" fill="none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/>
          <a:ln w="19202" cap="flat">
            <a:solidFill>
              <a:srgbClr val="287D7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控制器调用"/>
          <p:cNvSpPr txBox="1"/>
          <p:nvPr/>
        </p:nvSpPr>
        <p:spPr>
          <a:xfrm>
            <a:off x="7944993" y="5228493"/>
            <a:ext cx="912114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控制器调用</a:t>
            </a:r>
          </a:p>
        </p:txBody>
      </p:sp>
      <p:sp>
        <p:nvSpPr>
          <p:cNvPr id="81" name="polyline-081"/>
          <p:cNvSpPr/>
          <p:nvPr/>
        </p:nvSpPr>
        <p:spPr>
          <a:xfrm>
            <a:off x="4800600" y="656082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9202" cap="flat">
            <a:solidFill>
              <a:srgbClr val="287D7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寄存器访问"/>
          <p:cNvSpPr txBox="1"/>
          <p:nvPr/>
        </p:nvSpPr>
        <p:spPr>
          <a:xfrm>
            <a:off x="5000625" y="6796689"/>
            <a:ext cx="912114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83" name="polyline-083"/>
          <p:cNvSpPr/>
          <p:nvPr/>
        </p:nvSpPr>
        <p:spPr>
          <a:xfrm>
            <a:off x="7800975" y="656082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9202" cap="flat">
            <a:solidFill>
              <a:srgbClr val="287D7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4: 寄存器访问"/>
          <p:cNvSpPr txBox="1"/>
          <p:nvPr/>
        </p:nvSpPr>
        <p:spPr>
          <a:xfrm>
            <a:off x="7976997" y="6796689"/>
            <a:ext cx="912114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寄存器访问</a:t>
            </a:r>
          </a:p>
        </p:txBody>
      </p:sp>
      <p:sp>
        <p:nvSpPr>
          <p:cNvPr id="85" name="polyline-085"/>
          <p:cNvSpPr/>
          <p:nvPr/>
        </p:nvSpPr>
        <p:spPr>
          <a:xfrm>
            <a:off x="6280785" y="8121015"/>
            <a:ext cx="1" cy="680085"/>
          </a:xfrm>
          <a:custGeom>
            <a:avLst/>
            <a:gdLst/>
            <a:ahLst/>
            <a:cxnLst/>
            <a:rect l="0" t="0" r="r" b="b"/>
            <a:pathLst>
              <a:path w="1" h="680085" fill="none">
                <a:moveTo>
                  <a:pt x="0" y="0"/>
                </a:moveTo>
                <a:lnTo>
                  <a:pt x="0" y="680085"/>
                </a:lnTo>
              </a:path>
            </a:pathLst>
          </a:custGeom>
          <a:noFill/>
          <a:ln w="19202" cap="flat">
            <a:solidFill>
              <a:srgbClr val="287D7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load/store、CSR 指令"/>
          <p:cNvSpPr txBox="1"/>
          <p:nvPr/>
        </p:nvSpPr>
        <p:spPr>
          <a:xfrm>
            <a:off x="6813252" y="8372886"/>
            <a:ext cx="168741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287D70"/>
                </a:solidFill>
                <a:latin typeface="Microsoft YaHei"/>
                <a:ea typeface="Microsoft YaHei"/>
                <a:cs typeface="Microsoft YaHei"/>
              </a:rPr>
              <a:t>load/store、CSR 指令</a:t>
            </a:r>
          </a:p>
        </p:txBody>
      </p:sp>
      <p:sp>
        <p:nvSpPr>
          <p:cNvPr id="87" name="polyline-087"/>
          <p:cNvSpPr/>
          <p:nvPr/>
        </p:nvSpPr>
        <p:spPr>
          <a:xfrm>
            <a:off x="9441180" y="1536192"/>
            <a:ext cx="280035" cy="7744968"/>
          </a:xfrm>
          <a:custGeom>
            <a:avLst/>
            <a:gdLst/>
            <a:ahLst/>
            <a:cxnLst/>
            <a:rect l="0" t="0" r="r" b="b"/>
            <a:pathLst>
              <a:path w="280035" h="7744968" fill="none">
                <a:moveTo>
                  <a:pt x="0" y="0"/>
                </a:moveTo>
                <a:lnTo>
                  <a:pt x="280035" y="0"/>
                </a:lnTo>
                <a:lnTo>
                  <a:pt x="280035" y="7744968"/>
                </a:lnTo>
                <a:lnTo>
                  <a:pt x="0" y="7744968"/>
                </a:lnTo>
              </a:path>
            </a:pathLst>
          </a:custGeom>
          <a:noFill/>
          <a:ln w="19202" cap="flat">
            <a:solidFill>
              <a:srgbClr val="8660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8: RVV"/>
          <p:cNvSpPr txBox="1"/>
          <p:nvPr/>
        </p:nvSpPr>
        <p:spPr>
          <a:xfrm>
            <a:off x="9144343" y="6676674"/>
            <a:ext cx="456857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RVV</a:t>
            </a:r>
          </a:p>
        </p:txBody>
      </p:sp>
      <p:sp>
        <p:nvSpPr>
          <p:cNvPr id="89" name="polyline-089"/>
          <p:cNvSpPr/>
          <p:nvPr/>
        </p:nvSpPr>
        <p:spPr>
          <a:xfrm>
            <a:off x="6480810" y="9721215"/>
            <a:ext cx="1" cy="520065"/>
          </a:xfrm>
          <a:custGeom>
            <a:avLst/>
            <a:gdLst/>
            <a:ahLst/>
            <a:cxnLst/>
            <a:rect l="0" t="0" r="r" b="b"/>
            <a:pathLst>
              <a:path w="1" h="520065" fill="none">
                <a:moveTo>
                  <a:pt x="0" y="0"/>
                </a:moveTo>
                <a:lnTo>
                  <a:pt x="0" y="520065"/>
                </a:lnTo>
              </a:path>
            </a:pathLst>
          </a:custGeom>
          <a:noFill/>
          <a:ln w="19202" cap="flat">
            <a:solidFill>
              <a:srgbClr val="8660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指令执行 / 总线事务 / 事件"/>
          <p:cNvSpPr txBox="1"/>
          <p:nvPr/>
        </p:nvSpPr>
        <p:spPr>
          <a:xfrm>
            <a:off x="7009989" y="9869073"/>
            <a:ext cx="1982023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660A5"/>
                </a:solidFill>
                <a:latin typeface="Microsoft YaHei"/>
                <a:ea typeface="Microsoft YaHei"/>
                <a:cs typeface="Microsoft YaHei"/>
              </a:rPr>
              <a:t>指令执行 / 总线事务 / 事件</a:t>
            </a:r>
          </a:p>
        </p:txBody>
      </p:sp>
      <p:sp>
        <p:nvSpPr>
          <p:cNvPr id="91" name="polyline-091"/>
          <p:cNvSpPr/>
          <p:nvPr/>
        </p:nvSpPr>
        <p:spPr>
          <a:xfrm>
            <a:off x="5840730" y="704088"/>
            <a:ext cx="5560695" cy="1696212"/>
          </a:xfrm>
          <a:custGeom>
            <a:avLst/>
            <a:gdLst/>
            <a:ahLst/>
            <a:cxnLst/>
            <a:rect l="0" t="0" r="r" b="b"/>
            <a:pathLst>
              <a:path w="5560695" h="1696212" fill="none">
                <a:moveTo>
                  <a:pt x="5560695" y="1696212"/>
                </a:moveTo>
                <a:lnTo>
                  <a:pt x="5560695" y="0"/>
                </a:lnTo>
                <a:lnTo>
                  <a:pt x="0" y="0"/>
                </a:lnTo>
                <a:lnTo>
                  <a:pt x="0" y="456057"/>
                </a:lnTo>
              </a:path>
            </a:pathLst>
          </a:custGeom>
          <a:noFill/>
          <a:ln w="19202" cap="flat">
            <a:solidFill>
              <a:srgbClr val="4775A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2: 建立执行环境"/>
          <p:cNvSpPr txBox="1"/>
          <p:nvPr/>
        </p:nvSpPr>
        <p:spPr>
          <a:xfrm>
            <a:off x="8189024" y="459897"/>
            <a:ext cx="1064133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4775AC"/>
                </a:solidFill>
                <a:latin typeface="Microsoft YaHei"/>
                <a:ea typeface="Microsoft YaHei"/>
                <a:cs typeface="Microsoft YaHei"/>
              </a:rPr>
              <a:t>建立执行环境</a:t>
            </a:r>
          </a:p>
        </p:txBody>
      </p:sp>
      <p:sp>
        <p:nvSpPr>
          <p:cNvPr id="93" name="polyline-093"/>
          <p:cNvSpPr/>
          <p:nvPr/>
        </p:nvSpPr>
        <p:spPr>
          <a:xfrm>
            <a:off x="2800350" y="5040630"/>
            <a:ext cx="840105" cy="2696337"/>
          </a:xfrm>
          <a:custGeom>
            <a:avLst/>
            <a:gdLst/>
            <a:ahLst/>
            <a:cxnLst/>
            <a:rect l="0" t="0" r="r" b="b"/>
            <a:pathLst>
              <a:path w="840105" h="2696337" fill="none">
                <a:moveTo>
                  <a:pt x="0" y="0"/>
                </a:moveTo>
                <a:lnTo>
                  <a:pt x="320040" y="0"/>
                </a:lnTo>
                <a:lnTo>
                  <a:pt x="320040" y="2696337"/>
                </a:lnTo>
                <a:lnTo>
                  <a:pt x="840105" y="2696337"/>
                </a:lnTo>
              </a:path>
            </a:pathLst>
          </a:custGeom>
          <a:noFill/>
          <a:ln w="19202" cap="flat">
            <a:solidFill>
              <a:srgbClr val="BB6D3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-094: C 宏"/>
          <p:cNvSpPr txBox="1"/>
          <p:nvPr/>
        </p:nvSpPr>
        <p:spPr>
          <a:xfrm>
            <a:off x="3167071" y="7428768"/>
            <a:ext cx="450706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B6D30"/>
                </a:solidFill>
                <a:latin typeface="Microsoft YaHei"/>
                <a:ea typeface="Microsoft YaHei"/>
                <a:cs typeface="Microsoft YaHei"/>
              </a:rPr>
              <a:t>C 宏</a:t>
            </a:r>
          </a:p>
        </p:txBody>
      </p:sp>
      <p:sp>
        <p:nvSpPr>
          <p:cNvPr id="95" name="polyline-095"/>
          <p:cNvSpPr/>
          <p:nvPr/>
        </p:nvSpPr>
        <p:spPr>
          <a:xfrm>
            <a:off x="2800350" y="9601200"/>
            <a:ext cx="720090" cy="920115"/>
          </a:xfrm>
          <a:custGeom>
            <a:avLst/>
            <a:gdLst/>
            <a:ahLst/>
            <a:cxnLst/>
            <a:rect l="0" t="0" r="r" b="b"/>
            <a:pathLst>
              <a:path w="720090" h="920115" fill="none">
                <a:moveTo>
                  <a:pt x="0" y="0"/>
                </a:moveTo>
                <a:lnTo>
                  <a:pt x="360045" y="0"/>
                </a:lnTo>
                <a:lnTo>
                  <a:pt x="360045" y="920115"/>
                </a:lnTo>
                <a:lnTo>
                  <a:pt x="720090" y="920115"/>
                </a:lnTo>
              </a:path>
            </a:pathLst>
          </a:custGeom>
          <a:noFill/>
          <a:ln w="19202" cap="flat">
            <a:solidFill>
              <a:srgbClr val="BB6D3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096: 装载"/>
          <p:cNvSpPr txBox="1"/>
          <p:nvPr/>
        </p:nvSpPr>
        <p:spPr>
          <a:xfrm>
            <a:off x="2972372" y="9341007"/>
            <a:ext cx="456057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B6D30"/>
                </a:solidFill>
                <a:latin typeface="Microsoft YaHei"/>
                <a:ea typeface="Microsoft YaHei"/>
                <a:cs typeface="Microsoft YaHei"/>
              </a:rPr>
              <a:t>装载</a:t>
            </a:r>
          </a:p>
        </p:txBody>
      </p:sp>
      <p:sp>
        <p:nvSpPr>
          <p:cNvPr id="97" name="polyline-097"/>
          <p:cNvSpPr/>
          <p:nvPr/>
        </p:nvSpPr>
        <p:spPr>
          <a:xfrm>
            <a:off x="9441180" y="5808726"/>
            <a:ext cx="720090" cy="4864608"/>
          </a:xfrm>
          <a:custGeom>
            <a:avLst/>
            <a:gdLst/>
            <a:ahLst/>
            <a:cxnLst/>
            <a:rect l="0" t="0" r="r" b="b"/>
            <a:pathLst>
              <a:path w="720090" h="4864608" fill="none">
                <a:moveTo>
                  <a:pt x="720090" y="0"/>
                </a:moveTo>
                <a:lnTo>
                  <a:pt x="520065" y="0"/>
                </a:lnTo>
                <a:lnTo>
                  <a:pt x="520065" y="4864608"/>
                </a:lnTo>
                <a:lnTo>
                  <a:pt x="0" y="4864608"/>
                </a:lnTo>
              </a:path>
            </a:pathLst>
          </a:custGeom>
          <a:noFill/>
          <a:ln w="19202" cap="flat">
            <a:solidFill>
              <a:srgbClr val="BB6D3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-098: 平台"/>
          <p:cNvSpPr txBox="1"/>
          <p:nvPr/>
        </p:nvSpPr>
        <p:spPr>
          <a:xfrm>
            <a:off x="9453182" y="10413141"/>
            <a:ext cx="456057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B6D30"/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</p:txBody>
      </p:sp>
      <p:sp>
        <p:nvSpPr>
          <p:cNvPr id="99" name="text-099: 基础软件提供可调用的实现；"/>
          <p:cNvSpPr txBox="1"/>
          <p:nvPr/>
        </p:nvSpPr>
        <p:spPr>
          <a:xfrm>
            <a:off x="320040" y="2618887"/>
            <a:ext cx="235229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基础软件提供可调用的实现；</a:t>
            </a:r>
          </a:p>
        </p:txBody>
      </p:sp>
      <p:sp>
        <p:nvSpPr>
          <p:cNvPr id="100" name="text-100: 接口层规定操作的含义。"/>
          <p:cNvSpPr txBox="1"/>
          <p:nvPr/>
        </p:nvSpPr>
        <p:spPr>
          <a:xfrm>
            <a:off x="320040" y="2874919"/>
            <a:ext cx="201625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接口层规定操作的含义。</a:t>
            </a:r>
          </a:p>
        </p:txBody>
      </p:sp>
      <p:sp>
        <p:nvSpPr>
          <p:cNvPr id="101" name="text-101: libcheshire.a 是主机归档，"/>
          <p:cNvSpPr txBox="1"/>
          <p:nvPr/>
        </p:nvSpPr>
        <p:spPr>
          <a:xfrm>
            <a:off x="320040" y="6419362"/>
            <a:ext cx="222204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libcheshire.a 是主机归档，</a:t>
            </a:r>
          </a:p>
        </p:txBody>
      </p:sp>
      <p:sp>
        <p:nvSpPr>
          <p:cNvPr id="102" name="text-102: 不是目标上的独立执行层。"/>
          <p:cNvSpPr txBox="1"/>
          <p:nvPr/>
        </p:nvSpPr>
        <p:spPr>
          <a:xfrm>
            <a:off x="320040" y="6675394"/>
            <a:ext cx="218427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26384B"/>
                </a:solidFill>
                <a:latin typeface="Microsoft YaHei"/>
                <a:ea typeface="Microsoft YaHei"/>
                <a:cs typeface="Microsoft YaHei"/>
              </a:rPr>
              <a:t>不是目标上的独立执行层。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