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数据处理与反馈"/>
          <p:cNvSpPr txBox="1"/>
          <p:nvPr/>
        </p:nvSpPr>
        <p:spPr>
          <a:xfrm>
            <a:off x="822960" y="339425"/>
            <a:ext cx="6291072" cy="1258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数据处理与反馈</a:t>
            </a:r>
          </a:p>
        </p:txBody>
      </p:sp>
      <p:sp>
        <p:nvSpPr>
          <p:cNvPr id="3" name="o3: 工业风格 · 原生矢量对象"/>
          <p:cNvSpPr txBox="1"/>
          <p:nvPr/>
        </p:nvSpPr>
        <p:spPr>
          <a:xfrm>
            <a:off x="877824" y="1574231"/>
            <a:ext cx="5196221" cy="702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工业风格 · 原生矢量对象</a:t>
            </a:r>
          </a:p>
        </p:txBody>
      </p:sp>
      <p:sp>
        <p:nvSpPr>
          <p:cNvPr id="4" name="pipeline"/>
          <p:cNvSpPr/>
          <p:nvPr/>
        </p:nvSpPr>
        <p:spPr>
          <a:xfrm>
            <a:off x="822960" y="3291840"/>
            <a:ext cx="27614880" cy="9509760"/>
          </a:xfrm>
          <a:prstGeom prst="rect">
            <a:avLst/>
          </a:prstGeom>
          <a:solidFill>
            <a:srgbClr val="F5E1C9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处理流水线"/>
          <p:cNvSpPr txBox="1"/>
          <p:nvPr/>
        </p:nvSpPr>
        <p:spPr>
          <a:xfrm>
            <a:off x="12984480" y="3485693"/>
            <a:ext cx="3291840" cy="8778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处理流水线</a:t>
            </a:r>
          </a:p>
        </p:txBody>
      </p:sp>
      <p:sp>
        <p:nvSpPr>
          <p:cNvPr id="6" name="input"/>
          <p:cNvSpPr/>
          <p:nvPr/>
        </p:nvSpPr>
        <p:spPr>
          <a:xfrm>
            <a:off x="1828800" y="6035040"/>
            <a:ext cx="5120640" cy="2743200"/>
          </a:xfrm>
          <a:prstGeom prst="rect">
            <a:avLst/>
          </a:prstGeom>
          <a:solidFill>
            <a:srgbClr val="D8E8F4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输入数据"/>
          <p:cNvSpPr txBox="1"/>
          <p:nvPr/>
        </p:nvSpPr>
        <p:spPr>
          <a:xfrm>
            <a:off x="2880360" y="6649151"/>
            <a:ext cx="3017520" cy="9656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8" name="o8: Input"/>
          <p:cNvSpPr txBox="1"/>
          <p:nvPr/>
        </p:nvSpPr>
        <p:spPr>
          <a:xfrm>
            <a:off x="3599993" y="7389449"/>
            <a:ext cx="1578254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process"/>
          <p:cNvSpPr/>
          <p:nvPr/>
        </p:nvSpPr>
        <p:spPr>
          <a:xfrm>
            <a:off x="11887200" y="6035040"/>
            <a:ext cx="5120640" cy="2743200"/>
          </a:xfrm>
          <a:prstGeom prst="rect">
            <a:avLst/>
          </a:prstGeom>
          <a:solidFill>
            <a:srgbClr val="D9EEE8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处理模块"/>
          <p:cNvSpPr txBox="1"/>
          <p:nvPr/>
        </p:nvSpPr>
        <p:spPr>
          <a:xfrm>
            <a:off x="12938760" y="6649151"/>
            <a:ext cx="3017520" cy="9656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11" name="o11: Process"/>
          <p:cNvSpPr txBox="1"/>
          <p:nvPr/>
        </p:nvSpPr>
        <p:spPr>
          <a:xfrm>
            <a:off x="13342539" y="7389449"/>
            <a:ext cx="2209962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Process</a:t>
            </a:r>
          </a:p>
        </p:txBody>
      </p:sp>
      <p:sp>
        <p:nvSpPr>
          <p:cNvPr id="12" name="output"/>
          <p:cNvSpPr/>
          <p:nvPr/>
        </p:nvSpPr>
        <p:spPr>
          <a:xfrm>
            <a:off x="21945600" y="6035040"/>
            <a:ext cx="5120640" cy="2743200"/>
          </a:xfrm>
          <a:prstGeom prst="rect">
            <a:avLst/>
          </a:prstGeom>
          <a:solidFill>
            <a:srgbClr val="D8E8F4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输出结果"/>
          <p:cNvSpPr txBox="1"/>
          <p:nvPr/>
        </p:nvSpPr>
        <p:spPr>
          <a:xfrm>
            <a:off x="22997160" y="6649151"/>
            <a:ext cx="3017520" cy="9656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sp>
        <p:nvSpPr>
          <p:cNvPr id="14" name="o14: Output"/>
          <p:cNvSpPr txBox="1"/>
          <p:nvPr/>
        </p:nvSpPr>
        <p:spPr>
          <a:xfrm>
            <a:off x="23539342" y="7389449"/>
            <a:ext cx="1933156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cxnSp>
        <p:nvCxnSpPr>
          <p:cNvPr id="15" name="input-process"/>
          <p:cNvCxnSpPr/>
          <p:nvPr/>
        </p:nvCxnSpPr>
        <p:spPr>
          <a:xfrm>
            <a:off x="6949440" y="7406640"/>
            <a:ext cx="4937760" cy="0"/>
          </a:xfrm>
          <a:prstGeom prst="line">
            <a:avLst/>
          </a:prstGeom>
          <a:ln w="5486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6" name="process-output"/>
          <p:cNvCxnSpPr/>
          <p:nvPr/>
        </p:nvCxnSpPr>
        <p:spPr>
          <a:xfrm>
            <a:off x="17007840" y="7406640"/>
            <a:ext cx="4937760" cy="0"/>
          </a:xfrm>
          <a:prstGeom prst="line">
            <a:avLst/>
          </a:prstGeom>
          <a:ln w="5486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7" name="feedback"/>
          <p:cNvSpPr/>
          <p:nvPr/>
        </p:nvSpPr>
        <p:spPr>
          <a:xfrm>
            <a:off x="4389120" y="8778240"/>
            <a:ext cx="20116800" cy="2560320"/>
          </a:xfrm>
          <a:custGeom>
            <a:avLst/>
            <a:gdLst/>
            <a:ahLst/>
            <a:cxnLst/>
            <a:rect l="0" t="0" r="r" b="b"/>
            <a:pathLst>
              <a:path w="20116800" h="2560320" fill="none">
                <a:moveTo>
                  <a:pt x="20116800" y="0"/>
                </a:moveTo>
                <a:lnTo>
                  <a:pt x="20116800" y="1188720"/>
                </a:lnTo>
                <a:cubicBezTo>
                  <a:pt x="20116800" y="2560320"/>
                  <a:pt x="0" y="2560320"/>
                  <a:pt x="0" y="1188720"/>
                </a:cubicBezTo>
                <a:lnTo>
                  <a:pt x="0" y="0"/>
                </a:lnTo>
              </a:path>
            </a:pathLst>
          </a:custGeom>
          <a:noFill/>
          <a:ln w="54864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反馈路径 / Feedback"/>
          <p:cNvSpPr txBox="1"/>
          <p:nvPr/>
        </p:nvSpPr>
        <p:spPr>
          <a:xfrm>
            <a:off x="11911103" y="11481938"/>
            <a:ext cx="5072834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反馈路径 / Feedback</a:t>
            </a:r>
          </a:p>
        </p:txBody>
      </p:sp>
      <p:cxnSp>
        <p:nvCxnSpPr>
          <p:cNvPr id="19" name="legend0"/>
          <p:cNvCxnSpPr/>
          <p:nvPr/>
        </p:nvCxnSpPr>
        <p:spPr>
          <a:xfrm>
            <a:off x="1005840" y="15636240"/>
            <a:ext cx="1188720" cy="0"/>
          </a:xfrm>
          <a:prstGeom prst="line">
            <a:avLst/>
          </a:prstGeom>
          <a:ln w="457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0" name="o20: 主数据流"/>
          <p:cNvSpPr txBox="1"/>
          <p:nvPr/>
        </p:nvSpPr>
        <p:spPr>
          <a:xfrm>
            <a:off x="2468880" y="15348021"/>
            <a:ext cx="2011680" cy="6437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主数据流</a:t>
            </a:r>
          </a:p>
        </p:txBody>
      </p:sp>
      <p:cxnSp>
        <p:nvCxnSpPr>
          <p:cNvPr id="21" name="legend1"/>
          <p:cNvCxnSpPr/>
          <p:nvPr/>
        </p:nvCxnSpPr>
        <p:spPr>
          <a:xfrm>
            <a:off x="10698480" y="15636240"/>
            <a:ext cx="1188720" cy="0"/>
          </a:xfrm>
          <a:prstGeom prst="line">
            <a:avLst/>
          </a:prstGeom>
          <a:ln w="45720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22" name="o22: 反馈"/>
          <p:cNvSpPr txBox="1"/>
          <p:nvPr/>
        </p:nvSpPr>
        <p:spPr>
          <a:xfrm>
            <a:off x="12161520" y="15348021"/>
            <a:ext cx="1207008" cy="6437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