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1648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 fill="none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77876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 fill="none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0436860" y="2844800"/>
            <a:ext cx="586740" cy="1351280"/>
          </a:xfrm>
          <a:custGeom>
            <a:avLst/>
            <a:gdLst/>
            <a:ahLst/>
            <a:cxnLst/>
            <a:rect l="0" t="0" r="r" b="b"/>
            <a:pathLst>
              <a:path w="586740" h="1351280" fill="none">
                <a:moveTo>
                  <a:pt x="586740" y="0"/>
                </a:moveTo>
                <a:lnTo>
                  <a:pt x="0" y="135128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1778000" y="2844800"/>
            <a:ext cx="6685280" cy="1955800"/>
          </a:xfrm>
          <a:custGeom>
            <a:avLst/>
            <a:gdLst/>
            <a:ahLst/>
            <a:cxnLst/>
            <a:rect l="0" t="0" r="r" b="b"/>
            <a:pathLst>
              <a:path w="6685280" h="1955800" fill="none">
                <a:moveTo>
                  <a:pt x="6685280" y="1955800"/>
                </a:moveTo>
                <a:lnTo>
                  <a:pt x="0" y="195580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3: 外设事件进入 CPU：设备状态、PLIC 与 trap 服务闭环"/>
          <p:cNvSpPr txBox="1"/>
          <p:nvPr/>
        </p:nvSpPr>
        <p:spPr>
          <a:xfrm>
            <a:off x="483616" y="271109"/>
            <a:ext cx="710488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外设事件进入 CPU：设备状态、PLIC 与 trap 服务闭环</a:t>
            </a:r>
          </a:p>
        </p:txBody>
      </p:sp>
      <p:sp>
        <p:nvSpPr>
          <p:cNvPr id="10" name="text-014: PLIC 外部中断与 CLINT 定时器走不同入口；complete 不自动清除"/>
          <p:cNvSpPr txBox="1"/>
          <p:nvPr/>
        </p:nvSpPr>
        <p:spPr>
          <a:xfrm>
            <a:off x="483616" y="676778"/>
            <a:ext cx="63222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外部中断与 CLINT 定时器走不同入口；complete 不自动清除设备事件。</a:t>
            </a:r>
          </a:p>
        </p:txBody>
      </p:sp>
      <p:sp>
        <p:nvSpPr>
          <p:cNvPr id="11" name="text-015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2" name="text-016: 源码：PLIC / CLINT 接入；CPU 中断门控；现有驱动与 trap h"/>
          <p:cNvSpPr txBox="1"/>
          <p:nvPr/>
        </p:nvSpPr>
        <p:spPr>
          <a:xfrm>
            <a:off x="341376" y="7726477"/>
            <a:ext cx="5191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源码：PLIC / CLINT 接入；CPU 中断门控；现有驱动与 trap handler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8"/>
          <p:cNvSpPr/>
          <p:nvPr/>
        </p:nvSpPr>
        <p:spPr>
          <a:xfrm>
            <a:off x="391160" y="17068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9: 设备事件"/>
          <p:cNvSpPr txBox="1"/>
          <p:nvPr/>
        </p:nvSpPr>
        <p:spPr>
          <a:xfrm>
            <a:off x="512064" y="173475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设备事件</a:t>
            </a:r>
          </a:p>
        </p:txBody>
      </p:sp>
      <p:sp>
        <p:nvSpPr>
          <p:cNvPr id="16" name="text-020: FIFO / 状态置位"/>
          <p:cNvSpPr txBox="1"/>
          <p:nvPr/>
        </p:nvSpPr>
        <p:spPr>
          <a:xfrm>
            <a:off x="512064" y="200615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FIFO / 状态置位</a:t>
            </a:r>
          </a:p>
        </p:txBody>
      </p:sp>
      <p:sp>
        <p:nvSpPr>
          <p:cNvPr id="17" name="text-021: 保持 IRQ 直到按协议清源"/>
          <p:cNvSpPr txBox="1"/>
          <p:nvPr/>
        </p:nvSpPr>
        <p:spPr>
          <a:xfrm>
            <a:off x="512064" y="2219513"/>
            <a:ext cx="2261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保持 IRQ 直到按协议清源</a:t>
            </a:r>
          </a:p>
        </p:txBody>
      </p:sp>
      <p:sp>
        <p:nvSpPr>
          <p:cNvPr id="18" name="rect-022"/>
          <p:cNvSpPr/>
          <p:nvPr/>
        </p:nvSpPr>
        <p:spPr>
          <a:xfrm>
            <a:off x="50139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3"/>
          <p:cNvSpPr/>
          <p:nvPr/>
        </p:nvSpPr>
        <p:spPr>
          <a:xfrm>
            <a:off x="5013960" y="17068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4: PLIC"/>
          <p:cNvSpPr txBox="1"/>
          <p:nvPr/>
        </p:nvSpPr>
        <p:spPr>
          <a:xfrm>
            <a:off x="5134864" y="173475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</a:t>
            </a:r>
          </a:p>
        </p:txBody>
      </p:sp>
      <p:sp>
        <p:nvSpPr>
          <p:cNvPr id="21" name="text-025: pending / priority"/>
          <p:cNvSpPr txBox="1"/>
          <p:nvPr/>
        </p:nvSpPr>
        <p:spPr>
          <a:xfrm>
            <a:off x="5134864" y="200615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/ priority</a:t>
            </a:r>
          </a:p>
        </p:txBody>
      </p:sp>
      <p:sp>
        <p:nvSpPr>
          <p:cNvPr id="22" name="text-026: enable / threshold"/>
          <p:cNvSpPr txBox="1"/>
          <p:nvPr/>
        </p:nvSpPr>
        <p:spPr>
          <a:xfrm>
            <a:off x="5134864" y="221951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enable / threshold</a:t>
            </a:r>
          </a:p>
        </p:txBody>
      </p:sp>
      <p:sp>
        <p:nvSpPr>
          <p:cNvPr id="23" name="rect-027"/>
          <p:cNvSpPr/>
          <p:nvPr/>
        </p:nvSpPr>
        <p:spPr>
          <a:xfrm>
            <a:off x="96367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8"/>
          <p:cNvSpPr/>
          <p:nvPr/>
        </p:nvSpPr>
        <p:spPr>
          <a:xfrm>
            <a:off x="9636760" y="170688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9: CPU CSR 门控"/>
          <p:cNvSpPr txBox="1"/>
          <p:nvPr/>
        </p:nvSpPr>
        <p:spPr>
          <a:xfrm>
            <a:off x="9757664" y="173475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CSR 门控</a:t>
            </a:r>
          </a:p>
        </p:txBody>
      </p:sp>
      <p:sp>
        <p:nvSpPr>
          <p:cNvPr id="26" name="text-030: mie / mstatus / mcause"/>
          <p:cNvSpPr txBox="1"/>
          <p:nvPr/>
        </p:nvSpPr>
        <p:spPr>
          <a:xfrm>
            <a:off x="9757664" y="2006153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mie / mstatus / mcause</a:t>
            </a:r>
          </a:p>
        </p:txBody>
      </p:sp>
      <p:sp>
        <p:nvSpPr>
          <p:cNvPr id="27" name="text-031: 跳转 mtvec 的 trap 入口"/>
          <p:cNvSpPr txBox="1"/>
          <p:nvPr/>
        </p:nvSpPr>
        <p:spPr>
          <a:xfrm>
            <a:off x="9757664" y="2219513"/>
            <a:ext cx="24664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跳转 mtvec 的 trap 入口</a:t>
            </a:r>
          </a:p>
        </p:txBody>
      </p:sp>
      <p:sp>
        <p:nvSpPr>
          <p:cNvPr id="28" name="rect-032"/>
          <p:cNvSpPr/>
          <p:nvPr/>
        </p:nvSpPr>
        <p:spPr>
          <a:xfrm>
            <a:off x="8463280" y="4196080"/>
            <a:ext cx="39471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3"/>
          <p:cNvSpPr/>
          <p:nvPr/>
        </p:nvSpPr>
        <p:spPr>
          <a:xfrm>
            <a:off x="8463280" y="419608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4: 软件 handler"/>
          <p:cNvSpPr txBox="1"/>
          <p:nvPr/>
        </p:nvSpPr>
        <p:spPr>
          <a:xfrm>
            <a:off x="8584184" y="4223959"/>
            <a:ext cx="15162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软件 handler</a:t>
            </a:r>
          </a:p>
        </p:txBody>
      </p:sp>
      <p:sp>
        <p:nvSpPr>
          <p:cNvPr id="31" name="text-035: 识别外部中断 → PLIC claim"/>
          <p:cNvSpPr txBox="1"/>
          <p:nvPr/>
        </p:nvSpPr>
        <p:spPr>
          <a:xfrm>
            <a:off x="8584184" y="4495353"/>
            <a:ext cx="26968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识别外部中断 → PLIC claim</a:t>
            </a:r>
          </a:p>
        </p:txBody>
      </p:sp>
      <p:sp>
        <p:nvSpPr>
          <p:cNvPr id="32" name="text-036: 读取设备数据 / 清事件"/>
          <p:cNvSpPr txBox="1"/>
          <p:nvPr/>
        </p:nvSpPr>
        <p:spPr>
          <a:xfrm>
            <a:off x="8584184" y="47087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读取设备数据 / 清事件</a:t>
            </a:r>
          </a:p>
        </p:txBody>
      </p:sp>
      <p:sp>
        <p:nvSpPr>
          <p:cNvPr id="33" name="text-037: PLIC complete → mret"/>
          <p:cNvSpPr txBox="1"/>
          <p:nvPr/>
        </p:nvSpPr>
        <p:spPr>
          <a:xfrm>
            <a:off x="8584184" y="4922073"/>
            <a:ext cx="24493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complete → mret</a:t>
            </a:r>
          </a:p>
        </p:txBody>
      </p:sp>
      <p:sp>
        <p:nvSpPr>
          <p:cNvPr id="34" name="text-038: 处理并清设备源，再 complete；避免中断立即重入"/>
          <p:cNvSpPr txBox="1"/>
          <p:nvPr/>
        </p:nvSpPr>
        <p:spPr>
          <a:xfrm>
            <a:off x="2844800" y="4438457"/>
            <a:ext cx="42415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处理并清设备源，再 complete；避免中断立即重入</a:t>
            </a:r>
          </a:p>
        </p:txBody>
      </p:sp>
      <p:sp>
        <p:nvSpPr>
          <p:cNvPr id="35" name="rect-039"/>
          <p:cNvSpPr/>
          <p:nvPr/>
        </p:nvSpPr>
        <p:spPr>
          <a:xfrm>
            <a:off x="39116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0"/>
          <p:cNvSpPr/>
          <p:nvPr/>
        </p:nvSpPr>
        <p:spPr>
          <a:xfrm>
            <a:off x="391160" y="6080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1: PLIC 的 claim / complete"/>
          <p:cNvSpPr txBox="1"/>
          <p:nvPr/>
        </p:nvSpPr>
        <p:spPr>
          <a:xfrm>
            <a:off x="512064" y="6108639"/>
            <a:ext cx="3014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 的 claim / complete</a:t>
            </a:r>
          </a:p>
        </p:txBody>
      </p:sp>
      <p:sp>
        <p:nvSpPr>
          <p:cNvPr id="38" name="text-042: claim 确认待服务来源；complete 结束服务状态"/>
          <p:cNvSpPr txBox="1"/>
          <p:nvPr/>
        </p:nvSpPr>
        <p:spPr>
          <a:xfrm>
            <a:off x="512064" y="6395395"/>
            <a:ext cx="38724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确认待服务来源；complete 结束服务状态</a:t>
            </a:r>
          </a:p>
        </p:txBody>
      </p:sp>
      <p:sp>
        <p:nvSpPr>
          <p:cNvPr id="39" name="text-043: 设备电平仍有效时，后续可能再次 pending"/>
          <p:cNvSpPr txBox="1"/>
          <p:nvPr/>
        </p:nvSpPr>
        <p:spPr>
          <a:xfrm>
            <a:off x="512064" y="6608755"/>
            <a:ext cx="33170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设备电平仍有效时，后续可能再次 pending</a:t>
            </a:r>
          </a:p>
        </p:txBody>
      </p:sp>
      <p:sp>
        <p:nvSpPr>
          <p:cNvPr id="40" name="rect-044"/>
          <p:cNvSpPr/>
          <p:nvPr/>
        </p:nvSpPr>
        <p:spPr>
          <a:xfrm>
            <a:off x="675640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5"/>
          <p:cNvSpPr/>
          <p:nvPr/>
        </p:nvSpPr>
        <p:spPr>
          <a:xfrm>
            <a:off x="6756400" y="6080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6: CLINT：独立的计时器入口"/>
          <p:cNvSpPr txBox="1"/>
          <p:nvPr/>
        </p:nvSpPr>
        <p:spPr>
          <a:xfrm>
            <a:off x="6877304" y="6108639"/>
            <a:ext cx="24500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CLINT：独立的计时器入口</a:t>
            </a:r>
          </a:p>
        </p:txBody>
      </p:sp>
      <p:sp>
        <p:nvSpPr>
          <p:cNvPr id="43" name="text-047: mtime ≥ mtimecmp → MTIP → CPU 定时器中断"/>
          <p:cNvSpPr txBox="1"/>
          <p:nvPr/>
        </p:nvSpPr>
        <p:spPr>
          <a:xfrm>
            <a:off x="6877304" y="6395395"/>
            <a:ext cx="415411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mtime ≥ mtimecmp → MTIP → CPU 定时器中断</a:t>
            </a:r>
          </a:p>
        </p:txBody>
      </p:sp>
      <p:sp>
        <p:nvSpPr>
          <p:cNvPr id="44" name="text-048: 处理后将比较值推迟到下一次到期时间"/>
          <p:cNvSpPr txBox="1"/>
          <p:nvPr/>
        </p:nvSpPr>
        <p:spPr>
          <a:xfrm>
            <a:off x="6877304" y="6608755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处理后将比较值推迟到下一次到期时间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