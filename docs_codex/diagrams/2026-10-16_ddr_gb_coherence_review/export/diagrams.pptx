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DDR 互联候选结构 · 共享 Global Buffer"/>
          <p:cNvSpPr txBox="1"/>
          <p:nvPr/>
        </p:nvSpPr>
        <p:spPr>
          <a:xfrm>
            <a:off x="205740" y="84856"/>
            <a:ext cx="4452899" cy="314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8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DDR 互联候选结构 · 共享 Global Buffer</a:t>
            </a:r>
          </a:p>
        </p:txBody>
      </p:sp>
      <p:sp>
        <p:nvSpPr>
          <p:cNvPr id="3" name="o3: S0 = SoC / LLC · S1 = 统一 NPU / GB 搬运 · S"/>
          <p:cNvSpPr txBox="1"/>
          <p:nvPr/>
        </p:nvSpPr>
        <p:spPr>
          <a:xfrm>
            <a:off x="219456" y="393558"/>
            <a:ext cx="3950208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S0 = SoC / LLC · S1 = 统一 NPU / GB 搬运 · S2 = 图像帧写入</a:t>
            </a:r>
          </a:p>
        </p:txBody>
      </p:sp>
      <p:sp>
        <p:nvSpPr>
          <p:cNvPr id="4" name="cpu-domain"/>
          <p:cNvSpPr/>
          <p:nvPr/>
        </p:nvSpPr>
        <p:spPr>
          <a:xfrm>
            <a:off x="274320" y="914400"/>
            <a:ext cx="3840480" cy="1965960"/>
          </a:xfrm>
          <a:prstGeom prst="rect">
            <a:avLst/>
          </a:prstGeom>
          <a:solidFill>
            <a:srgbClr val="F1D7D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CVA6–Ara 系统路径"/>
          <p:cNvSpPr txBox="1"/>
          <p:nvPr/>
        </p:nvSpPr>
        <p:spPr>
          <a:xfrm>
            <a:off x="1426464" y="962863"/>
            <a:ext cx="1536192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CVA6–Ara 系统路径</a:t>
            </a:r>
          </a:p>
        </p:txBody>
      </p:sp>
      <p:sp>
        <p:nvSpPr>
          <p:cNvPr id="6" name="cpu"/>
          <p:cNvSpPr/>
          <p:nvPr/>
        </p:nvSpPr>
        <p:spPr>
          <a:xfrm>
            <a:off x="411480" y="1325880"/>
            <a:ext cx="1005840" cy="6172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CVA6"/>
          <p:cNvSpPr txBox="1"/>
          <p:nvPr/>
        </p:nvSpPr>
        <p:spPr>
          <a:xfrm>
            <a:off x="683971" y="1462034"/>
            <a:ext cx="46085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CVA6</a:t>
            </a:r>
          </a:p>
        </p:txBody>
      </p:sp>
      <p:sp>
        <p:nvSpPr>
          <p:cNvPr id="8" name="o8: L1D / 写缓冲"/>
          <p:cNvSpPr txBox="1"/>
          <p:nvPr/>
        </p:nvSpPr>
        <p:spPr>
          <a:xfrm>
            <a:off x="480974" y="1637233"/>
            <a:ext cx="866851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L1D / 写缓冲</a:t>
            </a:r>
          </a:p>
        </p:txBody>
      </p:sp>
      <p:sp>
        <p:nvSpPr>
          <p:cNvPr id="9" name="ara"/>
          <p:cNvSpPr/>
          <p:nvPr/>
        </p:nvSpPr>
        <p:spPr>
          <a:xfrm>
            <a:off x="1828800" y="1325880"/>
            <a:ext cx="2125980" cy="5029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10: Ara"/>
          <p:cNvSpPr txBox="1"/>
          <p:nvPr/>
        </p:nvSpPr>
        <p:spPr>
          <a:xfrm>
            <a:off x="2702966" y="1404884"/>
            <a:ext cx="37764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Ara</a:t>
            </a:r>
          </a:p>
        </p:txBody>
      </p:sp>
      <p:sp>
        <p:nvSpPr>
          <p:cNvPr id="11" name="o11: 单一 AXI 访存出口"/>
          <p:cNvSpPr txBox="1"/>
          <p:nvPr/>
        </p:nvSpPr>
        <p:spPr>
          <a:xfrm>
            <a:off x="2329434" y="1580083"/>
            <a:ext cx="1124712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单一 AXI 访存出口</a:t>
            </a:r>
          </a:p>
        </p:txBody>
      </p:sp>
      <p:sp>
        <p:nvSpPr>
          <p:cNvPr id="12" name="filter"/>
          <p:cNvSpPr/>
          <p:nvPr/>
        </p:nvSpPr>
        <p:spPr>
          <a:xfrm>
            <a:off x="1828800" y="2080260"/>
            <a:ext cx="57150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13: 失效过滤"/>
          <p:cNvSpPr txBox="1"/>
          <p:nvPr/>
        </p:nvSpPr>
        <p:spPr>
          <a:xfrm>
            <a:off x="1828800" y="2146554"/>
            <a:ext cx="571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失效过滤</a:t>
            </a:r>
          </a:p>
        </p:txBody>
      </p:sp>
      <p:sp>
        <p:nvSpPr>
          <p:cNvPr id="14" name="o14: 现有"/>
          <p:cNvSpPr txBox="1"/>
          <p:nvPr/>
        </p:nvSpPr>
        <p:spPr>
          <a:xfrm>
            <a:off x="1963674" y="2316815"/>
            <a:ext cx="301752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现有</a:t>
            </a:r>
          </a:p>
        </p:txBody>
      </p:sp>
      <p:sp>
        <p:nvSpPr>
          <p:cNvPr id="15" name="split"/>
          <p:cNvSpPr/>
          <p:nvPr/>
        </p:nvSpPr>
        <p:spPr>
          <a:xfrm>
            <a:off x="2514600" y="2080260"/>
            <a:ext cx="571500" cy="457200"/>
          </a:xfrm>
          <a:prstGeom prst="rect">
            <a:avLst/>
          </a:prstGeom>
          <a:solidFill>
            <a:srgbClr val="E8DFED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16: 地址分流"/>
          <p:cNvSpPr txBox="1"/>
          <p:nvPr/>
        </p:nvSpPr>
        <p:spPr>
          <a:xfrm>
            <a:off x="2514600" y="2146554"/>
            <a:ext cx="571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地址分流</a:t>
            </a:r>
          </a:p>
        </p:txBody>
      </p:sp>
      <p:sp>
        <p:nvSpPr>
          <p:cNvPr id="17" name="o17: 新增"/>
          <p:cNvSpPr txBox="1"/>
          <p:nvPr/>
        </p:nvSpPr>
        <p:spPr>
          <a:xfrm>
            <a:off x="2649474" y="2316815"/>
            <a:ext cx="301752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新增</a:t>
            </a:r>
          </a:p>
        </p:txBody>
      </p:sp>
      <p:sp>
        <p:nvSpPr>
          <p:cNvPr id="18" name="width"/>
          <p:cNvSpPr/>
          <p:nvPr/>
        </p:nvSpPr>
        <p:spPr>
          <a:xfrm>
            <a:off x="3200400" y="2080260"/>
            <a:ext cx="75438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19: 位宽适配"/>
          <p:cNvSpPr txBox="1"/>
          <p:nvPr/>
        </p:nvSpPr>
        <p:spPr>
          <a:xfrm>
            <a:off x="3291840" y="2146554"/>
            <a:ext cx="571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位宽适配</a:t>
            </a:r>
          </a:p>
        </p:txBody>
      </p:sp>
      <p:sp>
        <p:nvSpPr>
          <p:cNvPr id="20" name="o20: 普通地址"/>
          <p:cNvSpPr txBox="1"/>
          <p:nvPr/>
        </p:nvSpPr>
        <p:spPr>
          <a:xfrm>
            <a:off x="3326130" y="2316815"/>
            <a:ext cx="502920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普通地址</a:t>
            </a:r>
          </a:p>
        </p:txBody>
      </p:sp>
      <p:cxnSp>
        <p:nvCxnSpPr>
          <p:cNvPr id="21" name="ara-filter"/>
          <p:cNvCxnSpPr/>
          <p:nvPr/>
        </p:nvCxnSpPr>
        <p:spPr>
          <a:xfrm>
            <a:off x="2112264" y="1828800"/>
            <a:ext cx="0" cy="25146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2" name="filter-split"/>
          <p:cNvCxnSpPr/>
          <p:nvPr/>
        </p:nvCxnSpPr>
        <p:spPr>
          <a:xfrm>
            <a:off x="2400300" y="2308860"/>
            <a:ext cx="11430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3" name="split-width"/>
          <p:cNvCxnSpPr/>
          <p:nvPr/>
        </p:nvCxnSpPr>
        <p:spPr>
          <a:xfrm>
            <a:off x="3086100" y="2308860"/>
            <a:ext cx="11430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4" name="gb-domain"/>
          <p:cNvSpPr/>
          <p:nvPr/>
        </p:nvSpPr>
        <p:spPr>
          <a:xfrm>
            <a:off x="4251960" y="914400"/>
            <a:ext cx="4114800" cy="1965960"/>
          </a:xfrm>
          <a:prstGeom prst="rect">
            <a:avLst/>
          </a:prstGeom>
          <a:solidFill>
            <a:srgbClr val="D9EEE8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25: 独立 GB / NPU 子系统"/>
          <p:cNvSpPr txBox="1"/>
          <p:nvPr/>
        </p:nvSpPr>
        <p:spPr>
          <a:xfrm>
            <a:off x="5452110" y="962863"/>
            <a:ext cx="1714500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独立 GB / NPU 子系统</a:t>
            </a:r>
          </a:p>
        </p:txBody>
      </p:sp>
      <p:sp>
        <p:nvSpPr>
          <p:cNvPr id="26" name="npu"/>
          <p:cNvSpPr/>
          <p:nvPr/>
        </p:nvSpPr>
        <p:spPr>
          <a:xfrm>
            <a:off x="4389120" y="1394460"/>
            <a:ext cx="1005840" cy="640080"/>
          </a:xfrm>
          <a:prstGeom prst="rect">
            <a:avLst/>
          </a:prstGeom>
          <a:solidFill>
            <a:srgbClr val="F1D7D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27: NPU 计算"/>
          <p:cNvSpPr txBox="1"/>
          <p:nvPr/>
        </p:nvSpPr>
        <p:spPr>
          <a:xfrm>
            <a:off x="4533595" y="1542044"/>
            <a:ext cx="71689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NPU 计算</a:t>
            </a:r>
          </a:p>
        </p:txBody>
      </p:sp>
      <p:sp>
        <p:nvSpPr>
          <p:cNvPr id="28" name="o28: 独立于搬运器"/>
          <p:cNvSpPr txBox="1"/>
          <p:nvPr/>
        </p:nvSpPr>
        <p:spPr>
          <a:xfrm>
            <a:off x="4507992" y="1717243"/>
            <a:ext cx="768096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独立于搬运器</a:t>
            </a:r>
          </a:p>
        </p:txBody>
      </p:sp>
      <p:sp>
        <p:nvSpPr>
          <p:cNvPr id="29" name="router"/>
          <p:cNvSpPr/>
          <p:nvPr/>
        </p:nvSpPr>
        <p:spPr>
          <a:xfrm>
            <a:off x="5554980" y="1394460"/>
            <a:ext cx="1143000" cy="64008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30: 共享数据代理"/>
          <p:cNvSpPr txBox="1"/>
          <p:nvPr/>
        </p:nvSpPr>
        <p:spPr>
          <a:xfrm>
            <a:off x="5678424" y="1542044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共享数据代理</a:t>
            </a:r>
          </a:p>
        </p:txBody>
      </p:sp>
      <p:sp>
        <p:nvSpPr>
          <p:cNvPr id="31" name="o31: 仲裁 / bank 冲突"/>
          <p:cNvSpPr txBox="1"/>
          <p:nvPr/>
        </p:nvSpPr>
        <p:spPr>
          <a:xfrm>
            <a:off x="5566867" y="1717243"/>
            <a:ext cx="1119226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仲裁 / bank 冲突</a:t>
            </a:r>
          </a:p>
        </p:txBody>
      </p:sp>
      <p:sp>
        <p:nvSpPr>
          <p:cNvPr id="32" name="gb"/>
          <p:cNvSpPr/>
          <p:nvPr/>
        </p:nvSpPr>
        <p:spPr>
          <a:xfrm>
            <a:off x="6858000" y="1394460"/>
            <a:ext cx="1325880" cy="640080"/>
          </a:xfrm>
          <a:prstGeom prst="rect">
            <a:avLst/>
          </a:prstGeom>
          <a:solidFill>
            <a:srgbClr val="D9EEE8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33: Global Buffer"/>
          <p:cNvSpPr txBox="1"/>
          <p:nvPr/>
        </p:nvSpPr>
        <p:spPr>
          <a:xfrm>
            <a:off x="6916064" y="1464320"/>
            <a:ext cx="120975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Global Buffer</a:t>
            </a:r>
          </a:p>
        </p:txBody>
      </p:sp>
      <p:sp>
        <p:nvSpPr>
          <p:cNvPr id="34" name="o34: 独立分 bank SRAM"/>
          <p:cNvSpPr txBox="1"/>
          <p:nvPr/>
        </p:nvSpPr>
        <p:spPr>
          <a:xfrm>
            <a:off x="6944868" y="1639519"/>
            <a:ext cx="1152144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独立分 bank SRAM</a:t>
            </a:r>
          </a:p>
        </p:txBody>
      </p:sp>
      <p:sp>
        <p:nvSpPr>
          <p:cNvPr id="35" name="o35: 工作区 / 双缓冲"/>
          <p:cNvSpPr txBox="1"/>
          <p:nvPr/>
        </p:nvSpPr>
        <p:spPr>
          <a:xfrm>
            <a:off x="7029907" y="1794967"/>
            <a:ext cx="982066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工作区 / 双缓冲</a:t>
            </a:r>
          </a:p>
        </p:txBody>
      </p:sp>
      <p:sp>
        <p:nvSpPr>
          <p:cNvPr id="36" name="mover"/>
          <p:cNvSpPr/>
          <p:nvPr/>
        </p:nvSpPr>
        <p:spPr>
          <a:xfrm>
            <a:off x="6858000" y="2263140"/>
            <a:ext cx="1325880" cy="45720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37: NPU / GB 搬运"/>
          <p:cNvSpPr txBox="1"/>
          <p:nvPr/>
        </p:nvSpPr>
        <p:spPr>
          <a:xfrm>
            <a:off x="6954469" y="2319284"/>
            <a:ext cx="113294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NPU / GB 搬运</a:t>
            </a:r>
          </a:p>
        </p:txBody>
      </p:sp>
      <p:sp>
        <p:nvSpPr>
          <p:cNvPr id="38" name="o38: DDR ↔ GB"/>
          <p:cNvSpPr txBox="1"/>
          <p:nvPr/>
        </p:nvSpPr>
        <p:spPr>
          <a:xfrm>
            <a:off x="7161581" y="2494483"/>
            <a:ext cx="718718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DDR ↔ GB</a:t>
            </a:r>
          </a:p>
        </p:txBody>
      </p:sp>
      <p:cxnSp>
        <p:nvCxnSpPr>
          <p:cNvPr id="39" name="npu-router"/>
          <p:cNvCxnSpPr/>
          <p:nvPr/>
        </p:nvCxnSpPr>
        <p:spPr>
          <a:xfrm>
            <a:off x="5394960" y="1714500"/>
            <a:ext cx="160020" cy="0"/>
          </a:xfrm>
          <a:prstGeom prst="line">
            <a:avLst/>
          </a:prstGeom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40" name="router-gb"/>
          <p:cNvCxnSpPr/>
          <p:nvPr/>
        </p:nvCxnSpPr>
        <p:spPr>
          <a:xfrm>
            <a:off x="6697980" y="1714500"/>
            <a:ext cx="160020" cy="0"/>
          </a:xfrm>
          <a:prstGeom prst="line">
            <a:avLst/>
          </a:prstGeom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41" name="mover-router"/>
          <p:cNvSpPr/>
          <p:nvPr/>
        </p:nvSpPr>
        <p:spPr>
          <a:xfrm>
            <a:off x="6126480" y="2034540"/>
            <a:ext cx="731520" cy="457200"/>
          </a:xfrm>
          <a:custGeom>
            <a:avLst/>
            <a:gdLst/>
            <a:ahLst/>
            <a:cxnLst/>
            <a:rect l="0" t="0" r="r" b="b"/>
            <a:pathLst>
              <a:path w="731520" h="457200" fill="none">
                <a:moveTo>
                  <a:pt x="731520" y="457200"/>
                </a:moveTo>
                <a:lnTo>
                  <a:pt x="0" y="457200"/>
                </a:lnTo>
                <a:lnTo>
                  <a:pt x="0" y="0"/>
                </a:lnTo>
              </a:path>
            </a:pathLst>
          </a:custGeom>
          <a:noFill/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ara-gb"/>
          <p:cNvSpPr/>
          <p:nvPr/>
        </p:nvSpPr>
        <p:spPr>
          <a:xfrm>
            <a:off x="3086100" y="1280160"/>
            <a:ext cx="2674620" cy="891540"/>
          </a:xfrm>
          <a:custGeom>
            <a:avLst/>
            <a:gdLst/>
            <a:ahLst/>
            <a:cxnLst/>
            <a:rect l="0" t="0" r="r" b="b"/>
            <a:pathLst>
              <a:path w="2674620" h="891540" fill="none">
                <a:moveTo>
                  <a:pt x="0" y="891540"/>
                </a:moveTo>
                <a:lnTo>
                  <a:pt x="50292" y="891540"/>
                </a:lnTo>
                <a:lnTo>
                  <a:pt x="50292" y="662940"/>
                </a:lnTo>
                <a:lnTo>
                  <a:pt x="1088136" y="662940"/>
                </a:lnTo>
                <a:lnTo>
                  <a:pt x="1088136" y="0"/>
                </a:lnTo>
                <a:lnTo>
                  <a:pt x="2674620" y="0"/>
                </a:lnTo>
                <a:lnTo>
                  <a:pt x="2674620" y="114300"/>
                </a:lnTo>
              </a:path>
            </a:pathLst>
          </a:custGeom>
          <a:noFill/>
          <a:ln w="1371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image-domain"/>
          <p:cNvSpPr/>
          <p:nvPr/>
        </p:nvSpPr>
        <p:spPr>
          <a:xfrm>
            <a:off x="8503920" y="914400"/>
            <a:ext cx="4023360" cy="1965960"/>
          </a:xfrm>
          <a:prstGeom prst="rect">
            <a:avLst/>
          </a:prstGeom>
          <a:solidFill>
            <a:srgbClr val="F5E1C9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44: 图像接收 / ISP / 帧写入"/>
          <p:cNvSpPr txBox="1"/>
          <p:nvPr/>
        </p:nvSpPr>
        <p:spPr>
          <a:xfrm>
            <a:off x="9565767" y="962863"/>
            <a:ext cx="1899666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图像接收 / ISP / 帧写入</a:t>
            </a:r>
          </a:p>
        </p:txBody>
      </p:sp>
      <p:sp>
        <p:nvSpPr>
          <p:cNvPr id="45" name="lvds"/>
          <p:cNvSpPr/>
          <p:nvPr/>
        </p:nvSpPr>
        <p:spPr>
          <a:xfrm>
            <a:off x="866394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46: LVDS"/>
          <p:cNvSpPr txBox="1"/>
          <p:nvPr/>
        </p:nvSpPr>
        <p:spPr>
          <a:xfrm>
            <a:off x="8770010" y="1811701"/>
            <a:ext cx="427939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LVDS</a:t>
            </a:r>
          </a:p>
        </p:txBody>
      </p:sp>
      <p:sp>
        <p:nvSpPr>
          <p:cNvPr id="47" name="o47: 解串 / 帧行"/>
          <p:cNvSpPr txBox="1"/>
          <p:nvPr/>
        </p:nvSpPr>
        <p:spPr>
          <a:xfrm>
            <a:off x="8666226" y="1996775"/>
            <a:ext cx="635508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解串 / 帧行</a:t>
            </a:r>
          </a:p>
        </p:txBody>
      </p:sp>
      <p:sp>
        <p:nvSpPr>
          <p:cNvPr id="48" name="cdc"/>
          <p:cNvSpPr/>
          <p:nvPr/>
        </p:nvSpPr>
        <p:spPr>
          <a:xfrm>
            <a:off x="939546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49: CDC/FIFO"/>
          <p:cNvSpPr txBox="1"/>
          <p:nvPr/>
        </p:nvSpPr>
        <p:spPr>
          <a:xfrm>
            <a:off x="9346997" y="1811701"/>
            <a:ext cx="737006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CDC/FIFO</a:t>
            </a:r>
          </a:p>
        </p:txBody>
      </p:sp>
      <p:sp>
        <p:nvSpPr>
          <p:cNvPr id="50" name="o50: 像素缓冲"/>
          <p:cNvSpPr txBox="1"/>
          <p:nvPr/>
        </p:nvSpPr>
        <p:spPr>
          <a:xfrm>
            <a:off x="9486900" y="1996775"/>
            <a:ext cx="457200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像素缓冲</a:t>
            </a:r>
          </a:p>
        </p:txBody>
      </p:sp>
      <p:sp>
        <p:nvSpPr>
          <p:cNvPr id="51" name="isp"/>
          <p:cNvSpPr/>
          <p:nvPr/>
        </p:nvSpPr>
        <p:spPr>
          <a:xfrm>
            <a:off x="1012698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52: ISP"/>
          <p:cNvSpPr txBox="1"/>
          <p:nvPr/>
        </p:nvSpPr>
        <p:spPr>
          <a:xfrm>
            <a:off x="10271684" y="1811701"/>
            <a:ext cx="350672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ISP</a:t>
            </a:r>
          </a:p>
        </p:txBody>
      </p:sp>
      <p:sp>
        <p:nvSpPr>
          <p:cNvPr id="53" name="o53: 处理/行缓冲"/>
          <p:cNvSpPr txBox="1"/>
          <p:nvPr/>
        </p:nvSpPr>
        <p:spPr>
          <a:xfrm>
            <a:off x="10142982" y="1996775"/>
            <a:ext cx="608076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处理/行缓冲</a:t>
            </a:r>
          </a:p>
        </p:txBody>
      </p:sp>
      <p:sp>
        <p:nvSpPr>
          <p:cNvPr id="54" name="select"/>
          <p:cNvSpPr/>
          <p:nvPr/>
        </p:nvSpPr>
        <p:spPr>
          <a:xfrm>
            <a:off x="1085850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55: 帧选择"/>
          <p:cNvSpPr txBox="1"/>
          <p:nvPr/>
        </p:nvSpPr>
        <p:spPr>
          <a:xfrm>
            <a:off x="10940796" y="1811701"/>
            <a:ext cx="475488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帧选择</a:t>
            </a:r>
          </a:p>
        </p:txBody>
      </p:sp>
      <p:sp>
        <p:nvSpPr>
          <p:cNvPr id="56" name="o56: RAW / ISP"/>
          <p:cNvSpPr txBox="1"/>
          <p:nvPr/>
        </p:nvSpPr>
        <p:spPr>
          <a:xfrm>
            <a:off x="10865358" y="1996775"/>
            <a:ext cx="626364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RAW / ISP</a:t>
            </a:r>
          </a:p>
        </p:txBody>
      </p:sp>
      <p:sp>
        <p:nvSpPr>
          <p:cNvPr id="57" name="frame"/>
          <p:cNvSpPr/>
          <p:nvPr/>
        </p:nvSpPr>
        <p:spPr>
          <a:xfrm>
            <a:off x="11590020" y="1691640"/>
            <a:ext cx="73152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58: 帧 DMA"/>
          <p:cNvSpPr txBox="1"/>
          <p:nvPr/>
        </p:nvSpPr>
        <p:spPr>
          <a:xfrm>
            <a:off x="11682374" y="1811701"/>
            <a:ext cx="546811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帧 DMA</a:t>
            </a:r>
          </a:p>
        </p:txBody>
      </p:sp>
      <p:sp>
        <p:nvSpPr>
          <p:cNvPr id="59" name="o59: 地址/stride"/>
          <p:cNvSpPr txBox="1"/>
          <p:nvPr/>
        </p:nvSpPr>
        <p:spPr>
          <a:xfrm>
            <a:off x="11610594" y="1996775"/>
            <a:ext cx="690372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地址/stride</a:t>
            </a:r>
          </a:p>
        </p:txBody>
      </p:sp>
      <p:cxnSp>
        <p:nvCxnSpPr>
          <p:cNvPr id="60" name="pixel0"/>
          <p:cNvCxnSpPr/>
          <p:nvPr/>
        </p:nvCxnSpPr>
        <p:spPr>
          <a:xfrm>
            <a:off x="930402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1" name="pixel1"/>
          <p:cNvCxnSpPr/>
          <p:nvPr/>
        </p:nvCxnSpPr>
        <p:spPr>
          <a:xfrm>
            <a:off x="1003554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2" name="pixel2"/>
          <p:cNvCxnSpPr/>
          <p:nvPr/>
        </p:nvCxnSpPr>
        <p:spPr>
          <a:xfrm>
            <a:off x="1076706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3" name="pixel3"/>
          <p:cNvCxnSpPr/>
          <p:nvPr/>
        </p:nvCxnSpPr>
        <p:spPr>
          <a:xfrm>
            <a:off x="1149858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64" name="raw"/>
          <p:cNvSpPr/>
          <p:nvPr/>
        </p:nvSpPr>
        <p:spPr>
          <a:xfrm>
            <a:off x="10081260" y="1508760"/>
            <a:ext cx="1097280" cy="411480"/>
          </a:xfrm>
          <a:custGeom>
            <a:avLst/>
            <a:gdLst/>
            <a:ahLst/>
            <a:cxnLst/>
            <a:rect l="0" t="0" r="r" b="b"/>
            <a:pathLst>
              <a:path w="1097280" h="411480" fill="none">
                <a:moveTo>
                  <a:pt x="0" y="411480"/>
                </a:moveTo>
                <a:lnTo>
                  <a:pt x="0" y="0"/>
                </a:lnTo>
                <a:lnTo>
                  <a:pt x="1097280" y="0"/>
                </a:lnTo>
                <a:lnTo>
                  <a:pt x="1097280" y="182880"/>
                </a:lnTo>
              </a:path>
            </a:pathLst>
          </a:custGeom>
          <a:noFill/>
          <a:ln w="1371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branch"/>
          <p:cNvSpPr/>
          <p:nvPr/>
        </p:nvSpPr>
        <p:spPr>
          <a:xfrm>
            <a:off x="10062972" y="1901952"/>
            <a:ext cx="36576" cy="36576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66: RAW 旁路"/>
          <p:cNvSpPr txBox="1"/>
          <p:nvPr/>
        </p:nvSpPr>
        <p:spPr>
          <a:xfrm>
            <a:off x="11148365" y="1345265"/>
            <a:ext cx="563270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B96043"/>
                </a:solidFill>
                <a:latin typeface="WenQuanYi Zen Hei"/>
                <a:ea typeface="WenQuanYi Zen Hei"/>
                <a:cs typeface="WenQuanYi Zen Hei"/>
              </a:rPr>
              <a:t>RAW 旁路</a:t>
            </a:r>
          </a:p>
        </p:txBody>
      </p:sp>
      <p:sp>
        <p:nvSpPr>
          <p:cNvPr id="67" name="isp-gb"/>
          <p:cNvSpPr/>
          <p:nvPr/>
        </p:nvSpPr>
        <p:spPr>
          <a:xfrm>
            <a:off x="6400800" y="1280160"/>
            <a:ext cx="4128516" cy="411480"/>
          </a:xfrm>
          <a:custGeom>
            <a:avLst/>
            <a:gdLst/>
            <a:ahLst/>
            <a:cxnLst/>
            <a:rect l="0" t="0" r="r" b="b"/>
            <a:pathLst>
              <a:path w="4128516" h="411480" fill="none">
                <a:moveTo>
                  <a:pt x="4046220" y="411480"/>
                </a:moveTo>
                <a:lnTo>
                  <a:pt x="4046220" y="274320"/>
                </a:lnTo>
                <a:cubicBezTo>
                  <a:pt x="4128516" y="274320"/>
                  <a:pt x="4128516" y="182880"/>
                  <a:pt x="4046220" y="182880"/>
                </a:cubicBezTo>
                <a:lnTo>
                  <a:pt x="4046220" y="0"/>
                </a:lnTo>
                <a:lnTo>
                  <a:pt x="0" y="0"/>
                </a:lnTo>
                <a:lnTo>
                  <a:pt x="0" y="114300"/>
                </a:lnTo>
              </a:path>
            </a:pathLst>
          </a:custGeom>
          <a:noFill/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68: ISP 中间数据"/>
          <p:cNvSpPr txBox="1"/>
          <p:nvPr/>
        </p:nvSpPr>
        <p:spPr>
          <a:xfrm>
            <a:off x="8367674" y="1144463"/>
            <a:ext cx="729691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187C78"/>
                </a:solidFill>
                <a:latin typeface="WenQuanYi Zen Hei"/>
                <a:ea typeface="WenQuanYi Zen Hei"/>
                <a:cs typeface="WenQuanYi Zen Hei"/>
              </a:rPr>
              <a:t>ISP 中间数据</a:t>
            </a:r>
          </a:p>
        </p:txBody>
      </p:sp>
      <p:sp>
        <p:nvSpPr>
          <p:cNvPr id="69" name="xbar"/>
          <p:cNvSpPr/>
          <p:nvPr/>
        </p:nvSpPr>
        <p:spPr>
          <a:xfrm>
            <a:off x="320040" y="3657600"/>
            <a:ext cx="5760720" cy="548640"/>
          </a:xfrm>
          <a:prstGeom prst="rect">
            <a:avLst/>
          </a:prstGeom>
          <a:solidFill>
            <a:srgbClr val="F5E1C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70: 主 AXI Crossbar"/>
          <p:cNvSpPr txBox="1"/>
          <p:nvPr/>
        </p:nvSpPr>
        <p:spPr>
          <a:xfrm>
            <a:off x="2364296" y="3735781"/>
            <a:ext cx="167220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主 AXI Crossbar</a:t>
            </a:r>
          </a:p>
        </p:txBody>
      </p:sp>
      <p:sp>
        <p:nvSpPr>
          <p:cNvPr id="71" name="o71: 系统 64 bit"/>
          <p:cNvSpPr txBox="1"/>
          <p:nvPr/>
        </p:nvSpPr>
        <p:spPr>
          <a:xfrm>
            <a:off x="2786177" y="3945545"/>
            <a:ext cx="828446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系统 64 bit</a:t>
            </a:r>
          </a:p>
        </p:txBody>
      </p:sp>
      <p:sp>
        <p:nvSpPr>
          <p:cNvPr id="72" name="cpu-xbar"/>
          <p:cNvSpPr/>
          <p:nvPr/>
        </p:nvSpPr>
        <p:spPr>
          <a:xfrm>
            <a:off x="914400" y="1943100"/>
            <a:ext cx="228600" cy="1714500"/>
          </a:xfrm>
          <a:custGeom>
            <a:avLst/>
            <a:gdLst/>
            <a:ahLst/>
            <a:cxnLst/>
            <a:rect l="0" t="0" r="r" b="b"/>
            <a:pathLst>
              <a:path w="228600" h="1714500" fill="none">
                <a:moveTo>
                  <a:pt x="0" y="0"/>
                </a:moveTo>
                <a:lnTo>
                  <a:pt x="0" y="1257300"/>
                </a:lnTo>
                <a:lnTo>
                  <a:pt x="228600" y="1257300"/>
                </a:lnTo>
                <a:lnTo>
                  <a:pt x="228600" y="171450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ara-xbar"/>
          <p:cNvSpPr/>
          <p:nvPr/>
        </p:nvSpPr>
        <p:spPr>
          <a:xfrm>
            <a:off x="3200400" y="2537460"/>
            <a:ext cx="374904" cy="1120140"/>
          </a:xfrm>
          <a:custGeom>
            <a:avLst/>
            <a:gdLst/>
            <a:ahLst/>
            <a:cxnLst/>
            <a:rect l="0" t="0" r="r" b="b"/>
            <a:pathLst>
              <a:path w="374904" h="1120140" fill="none">
                <a:moveTo>
                  <a:pt x="374904" y="0"/>
                </a:moveTo>
                <a:lnTo>
                  <a:pt x="374904" y="754380"/>
                </a:lnTo>
                <a:lnTo>
                  <a:pt x="0" y="754380"/>
                </a:lnTo>
                <a:lnTo>
                  <a:pt x="0" y="112014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atomics"/>
          <p:cNvSpPr/>
          <p:nvPr/>
        </p:nvSpPr>
        <p:spPr>
          <a:xfrm>
            <a:off x="1828800" y="4800600"/>
            <a:ext cx="1188720" cy="6172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75: 原子适配"/>
          <p:cNvSpPr txBox="1"/>
          <p:nvPr/>
        </p:nvSpPr>
        <p:spPr>
          <a:xfrm>
            <a:off x="2103120" y="4936754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原子适配</a:t>
            </a:r>
          </a:p>
        </p:txBody>
      </p:sp>
      <p:sp>
        <p:nvSpPr>
          <p:cNvPr id="76" name="o76: AMO / LRSC"/>
          <p:cNvSpPr txBox="1"/>
          <p:nvPr/>
        </p:nvSpPr>
        <p:spPr>
          <a:xfrm>
            <a:off x="2011680" y="5111953"/>
            <a:ext cx="822960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AMO / LRSC</a:t>
            </a:r>
          </a:p>
        </p:txBody>
      </p:sp>
      <p:sp>
        <p:nvSpPr>
          <p:cNvPr id="77" name="llc"/>
          <p:cNvSpPr/>
          <p:nvPr/>
        </p:nvSpPr>
        <p:spPr>
          <a:xfrm>
            <a:off x="3566160" y="4800600"/>
            <a:ext cx="1325880" cy="6172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78: LLC / SPM"/>
          <p:cNvSpPr txBox="1"/>
          <p:nvPr/>
        </p:nvSpPr>
        <p:spPr>
          <a:xfrm>
            <a:off x="3790645" y="4936754"/>
            <a:ext cx="87691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LLC / SPM</a:t>
            </a:r>
          </a:p>
        </p:txBody>
      </p:sp>
      <p:sp>
        <p:nvSpPr>
          <p:cNvPr id="79" name="o79: WB 缓存 / 片上 SPM"/>
          <p:cNvSpPr txBox="1"/>
          <p:nvPr/>
        </p:nvSpPr>
        <p:spPr>
          <a:xfrm>
            <a:off x="3598164" y="5111953"/>
            <a:ext cx="1261872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WB 缓存 / 片上 SPM</a:t>
            </a:r>
          </a:p>
        </p:txBody>
      </p:sp>
      <p:cxnSp>
        <p:nvCxnSpPr>
          <p:cNvPr id="80" name="xbar-atomics"/>
          <p:cNvCxnSpPr/>
          <p:nvPr/>
        </p:nvCxnSpPr>
        <p:spPr>
          <a:xfrm>
            <a:off x="2423160" y="4206240"/>
            <a:ext cx="0" cy="59436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1" name="atomics-llc"/>
          <p:cNvCxnSpPr/>
          <p:nvPr/>
        </p:nvCxnSpPr>
        <p:spPr>
          <a:xfrm>
            <a:off x="3017520" y="5106924"/>
            <a:ext cx="54864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2" name="ddr"/>
          <p:cNvSpPr/>
          <p:nvPr/>
        </p:nvSpPr>
        <p:spPr>
          <a:xfrm>
            <a:off x="6400800" y="3657600"/>
            <a:ext cx="4800600" cy="24460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o83: DDR Controller · 多 AXI slave"/>
          <p:cNvSpPr txBox="1"/>
          <p:nvPr/>
        </p:nvSpPr>
        <p:spPr>
          <a:xfrm>
            <a:off x="7505052" y="5868985"/>
            <a:ext cx="2592095" cy="2121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4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DDR Controller · 多 AXI slave</a:t>
            </a:r>
          </a:p>
        </p:txBody>
      </p:sp>
      <p:sp>
        <p:nvSpPr>
          <p:cNvPr id="84" name="ddr-port0"/>
          <p:cNvSpPr/>
          <p:nvPr/>
        </p:nvSpPr>
        <p:spPr>
          <a:xfrm>
            <a:off x="6675120" y="4251960"/>
            <a:ext cx="73152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85: S0"/>
          <p:cNvSpPr txBox="1"/>
          <p:nvPr/>
        </p:nvSpPr>
        <p:spPr>
          <a:xfrm>
            <a:off x="6893662" y="4308104"/>
            <a:ext cx="29443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S0</a:t>
            </a:r>
          </a:p>
        </p:txBody>
      </p:sp>
      <p:sp>
        <p:nvSpPr>
          <p:cNvPr id="86" name="o86: SoC / LLC"/>
          <p:cNvSpPr txBox="1"/>
          <p:nvPr/>
        </p:nvSpPr>
        <p:spPr>
          <a:xfrm>
            <a:off x="6696380" y="4493179"/>
            <a:ext cx="689000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SoC / LLC</a:t>
            </a:r>
          </a:p>
        </p:txBody>
      </p:sp>
      <p:cxnSp>
        <p:nvCxnSpPr>
          <p:cNvPr id="87" name="join0"/>
          <p:cNvCxnSpPr/>
          <p:nvPr/>
        </p:nvCxnSpPr>
        <p:spPr>
          <a:xfrm>
            <a:off x="7040880" y="4709160"/>
            <a:ext cx="0" cy="20574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88" name="ddr-port1"/>
          <p:cNvSpPr/>
          <p:nvPr/>
        </p:nvSpPr>
        <p:spPr>
          <a:xfrm>
            <a:off x="8458200" y="4251960"/>
            <a:ext cx="73152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o89: S1"/>
          <p:cNvSpPr txBox="1"/>
          <p:nvPr/>
        </p:nvSpPr>
        <p:spPr>
          <a:xfrm>
            <a:off x="8676742" y="4308104"/>
            <a:ext cx="29443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S1</a:t>
            </a:r>
          </a:p>
        </p:txBody>
      </p:sp>
      <p:sp>
        <p:nvSpPr>
          <p:cNvPr id="90" name="o90: NPU / GB"/>
          <p:cNvSpPr txBox="1"/>
          <p:nvPr/>
        </p:nvSpPr>
        <p:spPr>
          <a:xfrm>
            <a:off x="8512150" y="4493179"/>
            <a:ext cx="623621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NPU / GB</a:t>
            </a:r>
          </a:p>
        </p:txBody>
      </p:sp>
      <p:cxnSp>
        <p:nvCxnSpPr>
          <p:cNvPr id="91" name="join1"/>
          <p:cNvCxnSpPr/>
          <p:nvPr/>
        </p:nvCxnSpPr>
        <p:spPr>
          <a:xfrm>
            <a:off x="8823960" y="4709160"/>
            <a:ext cx="0" cy="20574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92" name="ddr-port2"/>
          <p:cNvSpPr/>
          <p:nvPr/>
        </p:nvSpPr>
        <p:spPr>
          <a:xfrm>
            <a:off x="10241280" y="4251960"/>
            <a:ext cx="73152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93: S2"/>
          <p:cNvSpPr txBox="1"/>
          <p:nvPr/>
        </p:nvSpPr>
        <p:spPr>
          <a:xfrm>
            <a:off x="10459822" y="4308104"/>
            <a:ext cx="29443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S2</a:t>
            </a:r>
          </a:p>
        </p:txBody>
      </p:sp>
      <p:sp>
        <p:nvSpPr>
          <p:cNvPr id="94" name="o94: 帧写入"/>
          <p:cNvSpPr txBox="1"/>
          <p:nvPr/>
        </p:nvSpPr>
        <p:spPr>
          <a:xfrm>
            <a:off x="10405872" y="4493179"/>
            <a:ext cx="402336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帧写入</a:t>
            </a:r>
          </a:p>
        </p:txBody>
      </p:sp>
      <p:cxnSp>
        <p:nvCxnSpPr>
          <p:cNvPr id="95" name="join2"/>
          <p:cNvCxnSpPr/>
          <p:nvPr/>
        </p:nvCxnSpPr>
        <p:spPr>
          <a:xfrm>
            <a:off x="10607040" y="4709160"/>
            <a:ext cx="0" cy="20574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96" name="llc-ddr"/>
          <p:cNvSpPr/>
          <p:nvPr/>
        </p:nvSpPr>
        <p:spPr>
          <a:xfrm>
            <a:off x="4892040" y="4091940"/>
            <a:ext cx="2148840" cy="1014984"/>
          </a:xfrm>
          <a:custGeom>
            <a:avLst/>
            <a:gdLst/>
            <a:ahLst/>
            <a:cxnLst/>
            <a:rect l="0" t="0" r="r" b="b"/>
            <a:pathLst>
              <a:path w="2148840" h="1014984" fill="none">
                <a:moveTo>
                  <a:pt x="0" y="1014984"/>
                </a:moveTo>
                <a:lnTo>
                  <a:pt x="1325880" y="1014984"/>
                </a:lnTo>
                <a:lnTo>
                  <a:pt x="1325880" y="0"/>
                </a:lnTo>
                <a:lnTo>
                  <a:pt x="2148840" y="0"/>
                </a:lnTo>
                <a:lnTo>
                  <a:pt x="2148840" y="16002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over-ddr"/>
          <p:cNvSpPr/>
          <p:nvPr/>
        </p:nvSpPr>
        <p:spPr>
          <a:xfrm>
            <a:off x="8183880" y="2491740"/>
            <a:ext cx="640080" cy="1760220"/>
          </a:xfrm>
          <a:custGeom>
            <a:avLst/>
            <a:gdLst/>
            <a:ahLst/>
            <a:cxnLst/>
            <a:rect l="0" t="0" r="r" b="b"/>
            <a:pathLst>
              <a:path w="640080" h="1760220" fill="none">
                <a:moveTo>
                  <a:pt x="0" y="0"/>
                </a:moveTo>
                <a:lnTo>
                  <a:pt x="228600" y="0"/>
                </a:lnTo>
                <a:lnTo>
                  <a:pt x="228600" y="845820"/>
                </a:lnTo>
                <a:lnTo>
                  <a:pt x="640080" y="845820"/>
                </a:lnTo>
                <a:lnTo>
                  <a:pt x="640080" y="1760220"/>
                </a:lnTo>
              </a:path>
            </a:pathLst>
          </a:custGeom>
          <a:noFill/>
          <a:ln w="1371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ame-ddr"/>
          <p:cNvSpPr/>
          <p:nvPr/>
        </p:nvSpPr>
        <p:spPr>
          <a:xfrm>
            <a:off x="10607040" y="2263140"/>
            <a:ext cx="1348740" cy="1988820"/>
          </a:xfrm>
          <a:custGeom>
            <a:avLst/>
            <a:gdLst/>
            <a:ahLst/>
            <a:cxnLst/>
            <a:rect l="0" t="0" r="r" b="b"/>
            <a:pathLst>
              <a:path w="1348740" h="1988820" fill="none">
                <a:moveTo>
                  <a:pt x="1348740" y="0"/>
                </a:moveTo>
                <a:lnTo>
                  <a:pt x="1348740" y="1074420"/>
                </a:lnTo>
                <a:lnTo>
                  <a:pt x="0" y="1074420"/>
                </a:lnTo>
                <a:lnTo>
                  <a:pt x="0" y="198882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9" name="ports-merge"/>
          <p:cNvCxnSpPr/>
          <p:nvPr/>
        </p:nvCxnSpPr>
        <p:spPr>
          <a:xfrm>
            <a:off x="7040880" y="4914900"/>
            <a:ext cx="3566160" cy="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100" name="qos"/>
          <p:cNvSpPr/>
          <p:nvPr/>
        </p:nvSpPr>
        <p:spPr>
          <a:xfrm>
            <a:off x="6675120" y="5212080"/>
            <a:ext cx="1417320" cy="59436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101: 端口仲裁 / QoS"/>
          <p:cNvSpPr txBox="1"/>
          <p:nvPr/>
        </p:nvSpPr>
        <p:spPr>
          <a:xfrm>
            <a:off x="6814109" y="5336804"/>
            <a:ext cx="113934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端口仲裁 / QoS</a:t>
            </a:r>
          </a:p>
        </p:txBody>
      </p:sp>
      <p:sp>
        <p:nvSpPr>
          <p:cNvPr id="102" name="o102: 共享 DDR 带宽"/>
          <p:cNvSpPr txBox="1"/>
          <p:nvPr/>
        </p:nvSpPr>
        <p:spPr>
          <a:xfrm>
            <a:off x="6931152" y="5512003"/>
            <a:ext cx="905256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共享 DDR 带宽</a:t>
            </a:r>
          </a:p>
        </p:txBody>
      </p:sp>
      <p:sp>
        <p:nvSpPr>
          <p:cNvPr id="103" name="scheduler"/>
          <p:cNvSpPr/>
          <p:nvPr/>
        </p:nvSpPr>
        <p:spPr>
          <a:xfrm>
            <a:off x="8412480" y="5212080"/>
            <a:ext cx="2514600" cy="59436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104: 读写 / Bank / Row / 命令调度"/>
          <p:cNvSpPr txBox="1"/>
          <p:nvPr/>
        </p:nvSpPr>
        <p:spPr>
          <a:xfrm>
            <a:off x="8635594" y="5421295"/>
            <a:ext cx="2068373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读写 / Bank / Row / 命令调度</a:t>
            </a:r>
          </a:p>
        </p:txBody>
      </p:sp>
      <p:cxnSp>
        <p:nvCxnSpPr>
          <p:cNvPr id="105" name="qos-in"/>
          <p:cNvCxnSpPr/>
          <p:nvPr/>
        </p:nvCxnSpPr>
        <p:spPr>
          <a:xfrm>
            <a:off x="7383780" y="4914900"/>
            <a:ext cx="0" cy="29718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06" name="qos-core"/>
          <p:cNvCxnSpPr/>
          <p:nvPr/>
        </p:nvCxnSpPr>
        <p:spPr>
          <a:xfrm>
            <a:off x="8092440" y="5509260"/>
            <a:ext cx="32004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7" name="phy-ddr"/>
          <p:cNvSpPr/>
          <p:nvPr/>
        </p:nvSpPr>
        <p:spPr>
          <a:xfrm>
            <a:off x="11430000" y="5212080"/>
            <a:ext cx="1051560" cy="594360"/>
          </a:xfrm>
          <a:prstGeom prst="rect">
            <a:avLst/>
          </a:prstGeom>
          <a:solidFill>
            <a:srgbClr val="E8DFED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108: PHY / DDR"/>
          <p:cNvSpPr txBox="1"/>
          <p:nvPr/>
        </p:nvSpPr>
        <p:spPr>
          <a:xfrm>
            <a:off x="11517325" y="5336804"/>
            <a:ext cx="87691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PHY / DDR</a:t>
            </a:r>
          </a:p>
        </p:txBody>
      </p:sp>
      <p:sp>
        <p:nvSpPr>
          <p:cNvPr id="109" name="o109: 外存器件"/>
          <p:cNvSpPr txBox="1"/>
          <p:nvPr/>
        </p:nvSpPr>
        <p:spPr>
          <a:xfrm>
            <a:off x="11681460" y="5512003"/>
            <a:ext cx="548640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外存器件</a:t>
            </a:r>
          </a:p>
        </p:txBody>
      </p:sp>
      <p:cxnSp>
        <p:nvCxnSpPr>
          <p:cNvPr id="110" name="ddr-phy"/>
          <p:cNvCxnSpPr/>
          <p:nvPr/>
        </p:nvCxnSpPr>
        <p:spPr>
          <a:xfrm>
            <a:off x="10927080" y="5509260"/>
            <a:ext cx="502920" cy="0"/>
          </a:xfrm>
          <a:prstGeom prst="line">
            <a:avLst/>
          </a:prstGeom>
          <a:ln w="1371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1" name="o111: GB 容量、bank、位宽及频率待定"/>
          <p:cNvSpPr txBox="1"/>
          <p:nvPr/>
        </p:nvSpPr>
        <p:spPr>
          <a:xfrm>
            <a:off x="2247481" y="5993160"/>
            <a:ext cx="2042998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GB 容量、bank、位宽及频率待定</a:t>
            </a:r>
          </a:p>
        </p:txBody>
      </p:sp>
      <p:sp>
        <p:nvSpPr>
          <p:cNvPr id="112" name="o112: 并行能力取决于 SRAM 带宽与分区"/>
          <p:cNvSpPr txBox="1"/>
          <p:nvPr/>
        </p:nvSpPr>
        <p:spPr>
          <a:xfrm>
            <a:off x="2225878" y="6198900"/>
            <a:ext cx="2086204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并行能力取决于 SRAM 带宽与分区</a:t>
            </a:r>
          </a:p>
        </p:txBody>
      </p:sp>
      <p:cxnSp>
        <p:nvCxnSpPr>
          <p:cNvPr id="113" name="legend0"/>
          <p:cNvCxnSpPr/>
          <p:nvPr/>
        </p:nvCxnSpPr>
        <p:spPr>
          <a:xfrm>
            <a:off x="251460" y="6995160"/>
            <a:ext cx="297180" cy="0"/>
          </a:xfrm>
          <a:prstGeom prst="line">
            <a:avLst/>
          </a:prstGeom>
          <a:ln w="1143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4" name="o114: AXI / 外存通路"/>
          <p:cNvSpPr txBox="1"/>
          <p:nvPr/>
        </p:nvSpPr>
        <p:spPr>
          <a:xfrm>
            <a:off x="617220" y="6923105"/>
            <a:ext cx="895198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AXI / 外存通路</a:t>
            </a:r>
          </a:p>
        </p:txBody>
      </p:sp>
      <p:cxnSp>
        <p:nvCxnSpPr>
          <p:cNvPr id="115" name="legend1"/>
          <p:cNvCxnSpPr/>
          <p:nvPr/>
        </p:nvCxnSpPr>
        <p:spPr>
          <a:xfrm>
            <a:off x="2674620" y="6995160"/>
            <a:ext cx="297180" cy="0"/>
          </a:xfrm>
          <a:prstGeom prst="line">
            <a:avLst/>
          </a:prstGeom>
          <a:ln w="11430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6" name="o116: GB 本地读写"/>
          <p:cNvSpPr txBox="1"/>
          <p:nvPr/>
        </p:nvSpPr>
        <p:spPr>
          <a:xfrm>
            <a:off x="3040380" y="6923105"/>
            <a:ext cx="699059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187C78"/>
                </a:solidFill>
                <a:latin typeface="WenQuanYi Zen Hei"/>
                <a:ea typeface="WenQuanYi Zen Hei"/>
                <a:cs typeface="WenQuanYi Zen Hei"/>
              </a:rPr>
              <a:t>GB 本地读写</a:t>
            </a:r>
          </a:p>
        </p:txBody>
      </p:sp>
      <p:cxnSp>
        <p:nvCxnSpPr>
          <p:cNvPr id="117" name="legend2"/>
          <p:cNvCxnSpPr/>
          <p:nvPr/>
        </p:nvCxnSpPr>
        <p:spPr>
          <a:xfrm>
            <a:off x="5097780" y="6995160"/>
            <a:ext cx="297180" cy="0"/>
          </a:xfrm>
          <a:prstGeom prst="line">
            <a:avLst/>
          </a:prstGeom>
          <a:ln w="11430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8" name="o118: 像素流"/>
          <p:cNvSpPr txBox="1"/>
          <p:nvPr/>
        </p:nvSpPr>
        <p:spPr>
          <a:xfrm>
            <a:off x="5463540" y="6923105"/>
            <a:ext cx="402336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B96043"/>
                </a:solidFill>
                <a:latin typeface="WenQuanYi Zen Hei"/>
                <a:ea typeface="WenQuanYi Zen Hei"/>
                <a:cs typeface="WenQuanYi Zen Hei"/>
              </a:rPr>
              <a:t>像素流</a:t>
            </a:r>
          </a:p>
        </p:txBody>
      </p:sp>
      <p:sp>
        <p:nvSpPr>
          <p:cNvPr id="119" name="coh-coordinator"/>
          <p:cNvSpPr/>
          <p:nvPr/>
        </p:nvSpPr>
        <p:spPr>
          <a:xfrm>
            <a:off x="4389120" y="2971800"/>
            <a:ext cx="3886200" cy="571500"/>
          </a:xfrm>
          <a:prstGeom prst="rect">
            <a:avLst/>
          </a:prstGeom>
          <a:solidFill>
            <a:srgbClr val="E8DFED"/>
          </a:solidFill>
          <a:ln w="7772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-120: 范围维护引擎（规划）"/>
          <p:cNvSpPr txBox="1"/>
          <p:nvPr/>
        </p:nvSpPr>
        <p:spPr>
          <a:xfrm>
            <a:off x="5653278" y="3092226"/>
            <a:ext cx="1357884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范围维护引擎（规划）</a:t>
            </a:r>
          </a:p>
        </p:txBody>
      </p:sp>
      <p:sp>
        <p:nvSpPr>
          <p:cNvPr id="121" name="text-121: 软件触发 / L1D 与 LLC 维护 / 搬运准入 / 完成确认"/>
          <p:cNvSpPr txBox="1"/>
          <p:nvPr/>
        </p:nvSpPr>
        <p:spPr>
          <a:xfrm>
            <a:off x="4812487" y="3267060"/>
            <a:ext cx="3039466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软件触发 / L1D 与 LLC 维护 / 搬运准入 / 完成确认</a:t>
            </a:r>
          </a:p>
        </p:txBody>
      </p:sp>
      <p:sp>
        <p:nvSpPr>
          <p:cNvPr id="122" name="coh-cpu"/>
          <p:cNvSpPr/>
          <p:nvPr/>
        </p:nvSpPr>
        <p:spPr>
          <a:xfrm>
            <a:off x="914400" y="731520"/>
            <a:ext cx="3474720" cy="2377440"/>
          </a:xfrm>
          <a:custGeom>
            <a:avLst/>
            <a:gdLst/>
            <a:ahLst/>
            <a:cxnLst/>
            <a:rect l="0" t="0" r="r" b="b"/>
            <a:pathLst>
              <a:path w="3474720" h="2377440" fill="none">
                <a:moveTo>
                  <a:pt x="3474720" y="2377440"/>
                </a:moveTo>
                <a:lnTo>
                  <a:pt x="3314700" y="2377440"/>
                </a:lnTo>
                <a:lnTo>
                  <a:pt x="3314700" y="585216"/>
                </a:lnTo>
                <a:cubicBezTo>
                  <a:pt x="3354324" y="560832"/>
                  <a:pt x="3354324" y="536448"/>
                  <a:pt x="3314700" y="512064"/>
                </a:cubicBezTo>
                <a:lnTo>
                  <a:pt x="3314700" y="0"/>
                </a:lnTo>
                <a:lnTo>
                  <a:pt x="0" y="0"/>
                </a:lnTo>
                <a:lnTo>
                  <a:pt x="0" y="594360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-123: 软件请求 / L1D 排空与失效"/>
          <p:cNvSpPr txBox="1"/>
          <p:nvPr/>
        </p:nvSpPr>
        <p:spPr>
          <a:xfrm>
            <a:off x="1143000" y="572232"/>
            <a:ext cx="1530020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软件请求 / L1D 排空与失效</a:t>
            </a:r>
          </a:p>
        </p:txBody>
      </p:sp>
      <p:sp>
        <p:nvSpPr>
          <p:cNvPr id="124" name="coh-atomics"/>
          <p:cNvSpPr/>
          <p:nvPr/>
        </p:nvSpPr>
        <p:spPr>
          <a:xfrm>
            <a:off x="182880" y="3320796"/>
            <a:ext cx="4206240" cy="2348484"/>
          </a:xfrm>
          <a:custGeom>
            <a:avLst/>
            <a:gdLst/>
            <a:ahLst/>
            <a:cxnLst/>
            <a:rect l="0" t="0" r="r" b="b"/>
            <a:pathLst>
              <a:path w="4206240" h="2348484" fill="none">
                <a:moveTo>
                  <a:pt x="4206240" y="39624"/>
                </a:moveTo>
                <a:lnTo>
                  <a:pt x="3054096" y="39624"/>
                </a:lnTo>
                <a:cubicBezTo>
                  <a:pt x="3029712" y="0"/>
                  <a:pt x="3005328" y="0"/>
                  <a:pt x="2980944" y="39624"/>
                </a:cubicBezTo>
                <a:lnTo>
                  <a:pt x="996696" y="39624"/>
                </a:lnTo>
                <a:cubicBezTo>
                  <a:pt x="972312" y="0"/>
                  <a:pt x="947928" y="0"/>
                  <a:pt x="923544" y="39624"/>
                </a:cubicBezTo>
                <a:lnTo>
                  <a:pt x="0" y="39624"/>
                </a:lnTo>
                <a:lnTo>
                  <a:pt x="0" y="2348484"/>
                </a:lnTo>
                <a:lnTo>
                  <a:pt x="2240280" y="2348484"/>
                </a:lnTo>
                <a:lnTo>
                  <a:pt x="2240280" y="2097024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-125: 原子域评审"/>
          <p:cNvSpPr txBox="1"/>
          <p:nvPr/>
        </p:nvSpPr>
        <p:spPr>
          <a:xfrm>
            <a:off x="320040" y="3384012"/>
            <a:ext cx="630936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原子域评审</a:t>
            </a:r>
          </a:p>
        </p:txBody>
      </p:sp>
      <p:sp>
        <p:nvSpPr>
          <p:cNvPr id="126" name="coh-llc"/>
          <p:cNvSpPr/>
          <p:nvPr/>
        </p:nvSpPr>
        <p:spPr>
          <a:xfrm>
            <a:off x="4229100" y="3543300"/>
            <a:ext cx="1937004" cy="2034540"/>
          </a:xfrm>
          <a:custGeom>
            <a:avLst/>
            <a:gdLst/>
            <a:ahLst/>
            <a:cxnLst/>
            <a:rect l="0" t="0" r="r" b="b"/>
            <a:pathLst>
              <a:path w="1937004" h="2034540" fill="none">
                <a:moveTo>
                  <a:pt x="1897380" y="0"/>
                </a:moveTo>
                <a:lnTo>
                  <a:pt x="1897380" y="1527048"/>
                </a:lnTo>
                <a:cubicBezTo>
                  <a:pt x="1937004" y="1551432"/>
                  <a:pt x="1937004" y="1575816"/>
                  <a:pt x="1897380" y="1600200"/>
                </a:cubicBezTo>
                <a:lnTo>
                  <a:pt x="1897380" y="2034540"/>
                </a:lnTo>
                <a:lnTo>
                  <a:pt x="0" y="2034540"/>
                </a:lnTo>
                <a:lnTo>
                  <a:pt x="0" y="1874520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-127: LLC 范围清理 / 失效确认"/>
          <p:cNvSpPr txBox="1"/>
          <p:nvPr/>
        </p:nvSpPr>
        <p:spPr>
          <a:xfrm>
            <a:off x="4572000" y="5601432"/>
            <a:ext cx="1424864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LLC 范围清理 / 失效确认</a:t>
            </a:r>
          </a:p>
        </p:txBody>
      </p:sp>
      <p:sp>
        <p:nvSpPr>
          <p:cNvPr id="128" name="coh-s1"/>
          <p:cNvSpPr/>
          <p:nvPr/>
        </p:nvSpPr>
        <p:spPr>
          <a:xfrm>
            <a:off x="8275320" y="3160776"/>
            <a:ext cx="1097280" cy="1319784"/>
          </a:xfrm>
          <a:custGeom>
            <a:avLst/>
            <a:gdLst/>
            <a:ahLst/>
            <a:cxnLst/>
            <a:rect l="0" t="0" r="r" b="b"/>
            <a:pathLst>
              <a:path w="1097280" h="1319784" fill="none">
                <a:moveTo>
                  <a:pt x="0" y="39624"/>
                </a:moveTo>
                <a:lnTo>
                  <a:pt x="100584" y="39624"/>
                </a:lnTo>
                <a:cubicBezTo>
                  <a:pt x="124968" y="0"/>
                  <a:pt x="149352" y="0"/>
                  <a:pt x="173736" y="39624"/>
                </a:cubicBezTo>
                <a:lnTo>
                  <a:pt x="1097280" y="39624"/>
                </a:lnTo>
                <a:lnTo>
                  <a:pt x="1097280" y="1319784"/>
                </a:lnTo>
                <a:lnTo>
                  <a:pt x="914400" y="1319784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-129: S1 维护后准入 / 完成"/>
          <p:cNvSpPr txBox="1"/>
          <p:nvPr/>
        </p:nvSpPr>
        <p:spPr>
          <a:xfrm>
            <a:off x="9441180" y="3018252"/>
            <a:ext cx="1251356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S1 维护后准入 / 完成</a:t>
            </a:r>
          </a:p>
        </p:txBody>
      </p:sp>
      <p:sp>
        <p:nvSpPr>
          <p:cNvPr id="130" name="coh-s2"/>
          <p:cNvSpPr/>
          <p:nvPr/>
        </p:nvSpPr>
        <p:spPr>
          <a:xfrm>
            <a:off x="8275320" y="3366516"/>
            <a:ext cx="2788920" cy="1114044"/>
          </a:xfrm>
          <a:custGeom>
            <a:avLst/>
            <a:gdLst/>
            <a:ahLst/>
            <a:cxnLst/>
            <a:rect l="0" t="0" r="r" b="b"/>
            <a:pathLst>
              <a:path w="2788920" h="1114044" fill="none">
                <a:moveTo>
                  <a:pt x="0" y="39624"/>
                </a:moveTo>
                <a:lnTo>
                  <a:pt x="512064" y="39624"/>
                </a:lnTo>
                <a:cubicBezTo>
                  <a:pt x="536448" y="0"/>
                  <a:pt x="560832" y="0"/>
                  <a:pt x="585216" y="39624"/>
                </a:cubicBezTo>
                <a:lnTo>
                  <a:pt x="1060704" y="39624"/>
                </a:lnTo>
                <a:cubicBezTo>
                  <a:pt x="1085088" y="0"/>
                  <a:pt x="1109472" y="0"/>
                  <a:pt x="1133856" y="39624"/>
                </a:cubicBezTo>
                <a:lnTo>
                  <a:pt x="1325880" y="39624"/>
                </a:lnTo>
                <a:lnTo>
                  <a:pt x="1325880" y="748284"/>
                </a:lnTo>
                <a:lnTo>
                  <a:pt x="2295144" y="748284"/>
                </a:lnTo>
                <a:cubicBezTo>
                  <a:pt x="2319528" y="708660"/>
                  <a:pt x="2343912" y="708660"/>
                  <a:pt x="2368296" y="748284"/>
                </a:cubicBezTo>
                <a:lnTo>
                  <a:pt x="2788920" y="748284"/>
                </a:lnTo>
                <a:lnTo>
                  <a:pt x="2788920" y="1114044"/>
                </a:lnTo>
                <a:lnTo>
                  <a:pt x="2697480" y="1114044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-131: S2 维护后准入 / 完成"/>
          <p:cNvSpPr txBox="1"/>
          <p:nvPr/>
        </p:nvSpPr>
        <p:spPr>
          <a:xfrm>
            <a:off x="11132820" y="3978372"/>
            <a:ext cx="1251356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S2 维护后准入 / 完成</a:t>
            </a:r>
          </a:p>
        </p:txBody>
      </p:sp>
      <p:sp>
        <p:nvSpPr>
          <p:cNvPr id="132" name="coh-ddr"/>
          <p:cNvSpPr/>
          <p:nvPr/>
        </p:nvSpPr>
        <p:spPr>
          <a:xfrm>
            <a:off x="7909560" y="3543300"/>
            <a:ext cx="39624" cy="1668780"/>
          </a:xfrm>
          <a:custGeom>
            <a:avLst/>
            <a:gdLst/>
            <a:ahLst/>
            <a:cxnLst/>
            <a:rect l="0" t="0" r="r" b="b"/>
            <a:pathLst>
              <a:path w="39624" h="1668780" fill="none">
                <a:moveTo>
                  <a:pt x="0" y="0"/>
                </a:moveTo>
                <a:lnTo>
                  <a:pt x="0" y="1335024"/>
                </a:lnTo>
                <a:cubicBezTo>
                  <a:pt x="39624" y="1359408"/>
                  <a:pt x="39624" y="1383792"/>
                  <a:pt x="0" y="1408176"/>
                </a:cubicBezTo>
                <a:lnTo>
                  <a:pt x="0" y="1668780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-133: 跨口可见 / 完成"/>
          <p:cNvSpPr txBox="1"/>
          <p:nvPr/>
        </p:nvSpPr>
        <p:spPr>
          <a:xfrm>
            <a:off x="8001000" y="4961352"/>
            <a:ext cx="941146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跨口可见 / 完成</a:t>
            </a:r>
          </a:p>
        </p:txBody>
      </p:sp>
      <p:sp>
        <p:nvSpPr>
          <p:cNvPr id="134" name="coh-legend"/>
          <p:cNvSpPr/>
          <p:nvPr/>
        </p:nvSpPr>
        <p:spPr>
          <a:xfrm>
            <a:off x="7863840" y="699516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-135: 软件交接与硬件维护（规划）"/>
          <p:cNvSpPr txBox="1"/>
          <p:nvPr/>
        </p:nvSpPr>
        <p:spPr>
          <a:xfrm>
            <a:off x="8252460" y="6923105"/>
            <a:ext cx="1408176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软件交接与硬件维护（规划）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缺少同步时，同一地址会出现不同数据版本"/>
          <p:cNvSpPr txBox="1"/>
          <p:nvPr/>
        </p:nvSpPr>
        <p:spPr>
          <a:xfrm>
            <a:off x="266700" y="80650"/>
            <a:ext cx="384048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缺少同步时，同一地址会出现不同数据版本</a:t>
            </a:r>
          </a:p>
        </p:txBody>
      </p:sp>
      <p:sp>
        <p:nvSpPr>
          <p:cNvPr id="3" name="text-003: 三个独立场景：输入过期、输出旧副本、迟到脏写回。数值表示所示时刻的状态。"/>
          <p:cNvSpPr txBox="1"/>
          <p:nvPr/>
        </p:nvSpPr>
        <p:spPr>
          <a:xfrm>
            <a:off x="266700" y="373807"/>
            <a:ext cx="473659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三个独立场景：输入过期、输出旧副本、迟到脏写回。数值表示所示时刻的状态。</a:t>
            </a:r>
          </a:p>
        </p:txBody>
      </p:sp>
      <p:sp>
        <p:nvSpPr>
          <p:cNvPr id="4" name="panel0"/>
          <p:cNvSpPr/>
          <p:nvPr/>
        </p:nvSpPr>
        <p:spPr>
          <a:xfrm>
            <a:off x="186690" y="77343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① 输入：CPU 写 x = 2，设备却搬到 x = 1"/>
          <p:cNvSpPr txBox="1"/>
          <p:nvPr/>
        </p:nvSpPr>
        <p:spPr>
          <a:xfrm>
            <a:off x="320040" y="851306"/>
            <a:ext cx="368846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① 输入：CPU 写 x = 2，设备却搬到 x = 1</a:t>
            </a:r>
          </a:p>
        </p:txBody>
      </p:sp>
      <p:sp>
        <p:nvSpPr>
          <p:cNvPr id="6" name="r0b0"/>
          <p:cNvSpPr/>
          <p:nvPr/>
        </p:nvSpPr>
        <p:spPr>
          <a:xfrm>
            <a:off x="320040" y="125349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CPU / L1D"/>
          <p:cNvSpPr txBox="1"/>
          <p:nvPr/>
        </p:nvSpPr>
        <p:spPr>
          <a:xfrm>
            <a:off x="893578" y="1369985"/>
            <a:ext cx="98652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CPU / L1D</a:t>
            </a:r>
          </a:p>
        </p:txBody>
      </p:sp>
      <p:sp>
        <p:nvSpPr>
          <p:cNvPr id="8" name="text-008: L1D 阵列仍为 x = 1"/>
          <p:cNvSpPr txBox="1"/>
          <p:nvPr/>
        </p:nvSpPr>
        <p:spPr>
          <a:xfrm>
            <a:off x="650748" y="1573957"/>
            <a:ext cx="147218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L1D 阵列仍为 x = 1</a:t>
            </a:r>
          </a:p>
        </p:txBody>
      </p:sp>
      <p:sp>
        <p:nvSpPr>
          <p:cNvPr id="9" name="text-009: CPU 读可前递到 2"/>
          <p:cNvSpPr txBox="1"/>
          <p:nvPr/>
        </p:nvSpPr>
        <p:spPr>
          <a:xfrm>
            <a:off x="753161" y="1760647"/>
            <a:ext cx="126735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CPU 读可前递到 2</a:t>
            </a:r>
          </a:p>
        </p:txBody>
      </p:sp>
      <p:sp>
        <p:nvSpPr>
          <p:cNvPr id="10" name="r0b1"/>
          <p:cNvSpPr/>
          <p:nvPr/>
        </p:nvSpPr>
        <p:spPr>
          <a:xfrm>
            <a:off x="2800350" y="125349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写缓冲"/>
          <p:cNvSpPr txBox="1"/>
          <p:nvPr/>
        </p:nvSpPr>
        <p:spPr>
          <a:xfrm>
            <a:off x="3579114" y="136998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写缓冲</a:t>
            </a:r>
          </a:p>
        </p:txBody>
      </p:sp>
      <p:sp>
        <p:nvSpPr>
          <p:cNvPr id="12" name="text-012: 待推进 x = 2"/>
          <p:cNvSpPr txBox="1"/>
          <p:nvPr/>
        </p:nvSpPr>
        <p:spPr>
          <a:xfrm>
            <a:off x="3361487" y="1573957"/>
            <a:ext cx="101132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待推进 x = 2</a:t>
            </a:r>
          </a:p>
        </p:txBody>
      </p:sp>
      <p:sp>
        <p:nvSpPr>
          <p:cNvPr id="13" name="text-013: 下层尚未收到"/>
          <p:cNvSpPr txBox="1"/>
          <p:nvPr/>
        </p:nvSpPr>
        <p:spPr>
          <a:xfrm>
            <a:off x="3419094" y="176064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下层尚未收到</a:t>
            </a:r>
          </a:p>
        </p:txBody>
      </p:sp>
      <p:sp>
        <p:nvSpPr>
          <p:cNvPr id="14" name="r0b2"/>
          <p:cNvSpPr/>
          <p:nvPr/>
        </p:nvSpPr>
        <p:spPr>
          <a:xfrm>
            <a:off x="5280660" y="125349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WB LLC"/>
          <p:cNvSpPr txBox="1"/>
          <p:nvPr/>
        </p:nvSpPr>
        <p:spPr>
          <a:xfrm>
            <a:off x="5994616" y="1369985"/>
            <a:ext cx="70568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WB LLC</a:t>
            </a:r>
          </a:p>
        </p:txBody>
      </p:sp>
      <p:sp>
        <p:nvSpPr>
          <p:cNvPr id="16" name="text-016: 当前仍为 x = 1"/>
          <p:cNvSpPr txBox="1"/>
          <p:nvPr/>
        </p:nvSpPr>
        <p:spPr>
          <a:xfrm>
            <a:off x="5777789" y="1573957"/>
            <a:ext cx="113934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当前仍为 x = 1</a:t>
            </a:r>
          </a:p>
        </p:txBody>
      </p:sp>
      <p:sp>
        <p:nvSpPr>
          <p:cNvPr id="17" name="text-017: 收到新写后可持脏值 2"/>
          <p:cNvSpPr txBox="1"/>
          <p:nvPr/>
        </p:nvSpPr>
        <p:spPr>
          <a:xfrm>
            <a:off x="5624170" y="1760647"/>
            <a:ext cx="144658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收到新写后可持脏值 2</a:t>
            </a:r>
          </a:p>
        </p:txBody>
      </p:sp>
      <p:sp>
        <p:nvSpPr>
          <p:cNvPr id="18" name="r0b3"/>
          <p:cNvSpPr/>
          <p:nvPr/>
        </p:nvSpPr>
        <p:spPr>
          <a:xfrm>
            <a:off x="7760970" y="125349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DDR"/>
          <p:cNvSpPr txBox="1"/>
          <p:nvPr/>
        </p:nvSpPr>
        <p:spPr>
          <a:xfrm>
            <a:off x="8615343" y="1369985"/>
            <a:ext cx="42485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DDR</a:t>
            </a:r>
          </a:p>
        </p:txBody>
      </p:sp>
      <p:sp>
        <p:nvSpPr>
          <p:cNvPr id="20" name="text-020: x = 1"/>
          <p:cNvSpPr txBox="1"/>
          <p:nvPr/>
        </p:nvSpPr>
        <p:spPr>
          <a:xfrm>
            <a:off x="8555736" y="1573957"/>
            <a:ext cx="54406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x = 1</a:t>
            </a:r>
          </a:p>
        </p:txBody>
      </p:sp>
      <p:sp>
        <p:nvSpPr>
          <p:cNvPr id="21" name="text-021: 设备可见的旧输入"/>
          <p:cNvSpPr txBox="1"/>
          <p:nvPr/>
        </p:nvSpPr>
        <p:spPr>
          <a:xfrm>
            <a:off x="8251698" y="176064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设备可见的旧输入</a:t>
            </a:r>
          </a:p>
        </p:txBody>
      </p:sp>
      <p:sp>
        <p:nvSpPr>
          <p:cNvPr id="22" name="r0b4"/>
          <p:cNvSpPr/>
          <p:nvPr/>
        </p:nvSpPr>
        <p:spPr>
          <a:xfrm>
            <a:off x="10241280" y="125349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GB"/>
          <p:cNvSpPr txBox="1"/>
          <p:nvPr/>
        </p:nvSpPr>
        <p:spPr>
          <a:xfrm>
            <a:off x="11142459" y="1369985"/>
            <a:ext cx="33124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GB</a:t>
            </a:r>
          </a:p>
        </p:txBody>
      </p:sp>
      <p:sp>
        <p:nvSpPr>
          <p:cNvPr id="24" name="text-024: 搬入 x = 1"/>
          <p:cNvSpPr txBox="1"/>
          <p:nvPr/>
        </p:nvSpPr>
        <p:spPr>
          <a:xfrm>
            <a:off x="10866425" y="1573957"/>
            <a:ext cx="88331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搬入 x = 1</a:t>
            </a:r>
          </a:p>
        </p:txBody>
      </p:sp>
      <p:sp>
        <p:nvSpPr>
          <p:cNvPr id="25" name="text-025: NPU 使用了旧输入"/>
          <p:cNvSpPr txBox="1"/>
          <p:nvPr/>
        </p:nvSpPr>
        <p:spPr>
          <a:xfrm>
            <a:off x="10693603" y="1760647"/>
            <a:ext cx="122895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NPU 使用了旧输入</a:t>
            </a:r>
          </a:p>
        </p:txBody>
      </p:sp>
      <p:sp>
        <p:nvSpPr>
          <p:cNvPr id="26" name="text-026: 写缓冲排空之后，新值还可能只到达 WB LLC；输入 clean 继续把它推进 "/>
          <p:cNvSpPr txBox="1"/>
          <p:nvPr/>
        </p:nvSpPr>
        <p:spPr>
          <a:xfrm>
            <a:off x="320040" y="2154509"/>
            <a:ext cx="5367071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写缓冲排空之后，新值还可能只到达 WB LLC；输入 clean 继续把它推进 DDR。</a:t>
            </a:r>
          </a:p>
        </p:txBody>
      </p:sp>
      <p:sp>
        <p:nvSpPr>
          <p:cNvPr id="27" name="panel1"/>
          <p:cNvSpPr/>
          <p:nvPr/>
        </p:nvSpPr>
        <p:spPr>
          <a:xfrm>
            <a:off x="186690" y="272034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② 输出：设备已写 y = 9，CPU 仍命中 y = 0"/>
          <p:cNvSpPr txBox="1"/>
          <p:nvPr/>
        </p:nvSpPr>
        <p:spPr>
          <a:xfrm>
            <a:off x="320040" y="2798216"/>
            <a:ext cx="384848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② 输出：设备已写 y = 9，CPU 仍命中 y = 0</a:t>
            </a:r>
          </a:p>
        </p:txBody>
      </p:sp>
      <p:sp>
        <p:nvSpPr>
          <p:cNvPr id="29" name="r1b0"/>
          <p:cNvSpPr/>
          <p:nvPr/>
        </p:nvSpPr>
        <p:spPr>
          <a:xfrm>
            <a:off x="320040" y="320040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CPU / L1D"/>
          <p:cNvSpPr txBox="1"/>
          <p:nvPr/>
        </p:nvSpPr>
        <p:spPr>
          <a:xfrm>
            <a:off x="893578" y="3316895"/>
            <a:ext cx="98652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CPU / L1D</a:t>
            </a:r>
          </a:p>
        </p:txBody>
      </p:sp>
      <p:sp>
        <p:nvSpPr>
          <p:cNvPr id="31" name="text-031: 缓存副本 y = 0"/>
          <p:cNvSpPr txBox="1"/>
          <p:nvPr/>
        </p:nvSpPr>
        <p:spPr>
          <a:xfrm>
            <a:off x="817169" y="3520867"/>
            <a:ext cx="113934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缓存副本 y = 0</a:t>
            </a:r>
          </a:p>
        </p:txBody>
      </p:sp>
      <p:sp>
        <p:nvSpPr>
          <p:cNvPr id="32" name="text-032: CPU 读取命中旧值"/>
          <p:cNvSpPr txBox="1"/>
          <p:nvPr/>
        </p:nvSpPr>
        <p:spPr>
          <a:xfrm>
            <a:off x="772363" y="3707557"/>
            <a:ext cx="122895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CPU 读取命中旧值</a:t>
            </a:r>
          </a:p>
        </p:txBody>
      </p:sp>
      <p:sp>
        <p:nvSpPr>
          <p:cNvPr id="33" name="r1b1"/>
          <p:cNvSpPr/>
          <p:nvPr/>
        </p:nvSpPr>
        <p:spPr>
          <a:xfrm>
            <a:off x="2800350" y="320040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写缓冲"/>
          <p:cNvSpPr txBox="1"/>
          <p:nvPr/>
        </p:nvSpPr>
        <p:spPr>
          <a:xfrm>
            <a:off x="3579114" y="331689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写缓冲</a:t>
            </a:r>
          </a:p>
        </p:txBody>
      </p:sp>
      <p:sp>
        <p:nvSpPr>
          <p:cNvPr id="35" name="text-035: 此时为空"/>
          <p:cNvSpPr txBox="1"/>
          <p:nvPr/>
        </p:nvSpPr>
        <p:spPr>
          <a:xfrm>
            <a:off x="3547110" y="3520867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此时为空</a:t>
            </a:r>
          </a:p>
        </p:txBody>
      </p:sp>
      <p:sp>
        <p:nvSpPr>
          <p:cNvPr id="36" name="text-036: 没有待完成写"/>
          <p:cNvSpPr txBox="1"/>
          <p:nvPr/>
        </p:nvSpPr>
        <p:spPr>
          <a:xfrm>
            <a:off x="3419094" y="370755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没有待完成写</a:t>
            </a:r>
          </a:p>
        </p:txBody>
      </p:sp>
      <p:sp>
        <p:nvSpPr>
          <p:cNvPr id="37" name="r1b2"/>
          <p:cNvSpPr/>
          <p:nvPr/>
        </p:nvSpPr>
        <p:spPr>
          <a:xfrm>
            <a:off x="5280660" y="320040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LLC"/>
          <p:cNvSpPr txBox="1"/>
          <p:nvPr/>
        </p:nvSpPr>
        <p:spPr>
          <a:xfrm>
            <a:off x="6135033" y="3316895"/>
            <a:ext cx="42485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LLC</a:t>
            </a:r>
          </a:p>
        </p:txBody>
      </p:sp>
      <p:sp>
        <p:nvSpPr>
          <p:cNvPr id="39" name="text-039: 干净旧副本 y = 0"/>
          <p:cNvSpPr txBox="1"/>
          <p:nvPr/>
        </p:nvSpPr>
        <p:spPr>
          <a:xfrm>
            <a:off x="5713781" y="3520867"/>
            <a:ext cx="126735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干净旧副本 y = 0</a:t>
            </a:r>
          </a:p>
        </p:txBody>
      </p:sp>
      <p:sp>
        <p:nvSpPr>
          <p:cNvPr id="40" name="text-040: 下次回填也可能取旧值"/>
          <p:cNvSpPr txBox="1"/>
          <p:nvPr/>
        </p:nvSpPr>
        <p:spPr>
          <a:xfrm>
            <a:off x="5643372" y="3707557"/>
            <a:ext cx="140817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下次回填也可能取旧值</a:t>
            </a:r>
          </a:p>
        </p:txBody>
      </p:sp>
      <p:sp>
        <p:nvSpPr>
          <p:cNvPr id="41" name="r1b3"/>
          <p:cNvSpPr/>
          <p:nvPr/>
        </p:nvSpPr>
        <p:spPr>
          <a:xfrm>
            <a:off x="7760970" y="320040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DDR"/>
          <p:cNvSpPr txBox="1"/>
          <p:nvPr/>
        </p:nvSpPr>
        <p:spPr>
          <a:xfrm>
            <a:off x="8615343" y="3316895"/>
            <a:ext cx="42485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DDR</a:t>
            </a:r>
          </a:p>
        </p:txBody>
      </p:sp>
      <p:sp>
        <p:nvSpPr>
          <p:cNvPr id="43" name="text-043: y = 9"/>
          <p:cNvSpPr txBox="1"/>
          <p:nvPr/>
        </p:nvSpPr>
        <p:spPr>
          <a:xfrm>
            <a:off x="8555736" y="3520867"/>
            <a:ext cx="54406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y = 9</a:t>
            </a:r>
          </a:p>
        </p:txBody>
      </p:sp>
      <p:sp>
        <p:nvSpPr>
          <p:cNvPr id="44" name="text-044: 已收到设备结果"/>
          <p:cNvSpPr txBox="1"/>
          <p:nvPr/>
        </p:nvSpPr>
        <p:spPr>
          <a:xfrm>
            <a:off x="8315706" y="370755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已收到设备结果</a:t>
            </a:r>
          </a:p>
        </p:txBody>
      </p:sp>
      <p:sp>
        <p:nvSpPr>
          <p:cNvPr id="45" name="r1b4"/>
          <p:cNvSpPr/>
          <p:nvPr/>
        </p:nvSpPr>
        <p:spPr>
          <a:xfrm>
            <a:off x="10241280" y="320040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GB"/>
          <p:cNvSpPr txBox="1"/>
          <p:nvPr/>
        </p:nvSpPr>
        <p:spPr>
          <a:xfrm>
            <a:off x="11142459" y="3316895"/>
            <a:ext cx="33124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GB</a:t>
            </a:r>
          </a:p>
        </p:txBody>
      </p:sp>
      <p:sp>
        <p:nvSpPr>
          <p:cNvPr id="47" name="text-047: 结果 y = 9"/>
          <p:cNvSpPr txBox="1"/>
          <p:nvPr/>
        </p:nvSpPr>
        <p:spPr>
          <a:xfrm>
            <a:off x="10866425" y="3520867"/>
            <a:ext cx="88331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结果 y = 9</a:t>
            </a:r>
          </a:p>
        </p:txBody>
      </p:sp>
      <p:sp>
        <p:nvSpPr>
          <p:cNvPr id="48" name="text-048: 设备向 DDR 搬出"/>
          <p:cNvSpPr txBox="1"/>
          <p:nvPr/>
        </p:nvSpPr>
        <p:spPr>
          <a:xfrm>
            <a:off x="10716006" y="3707557"/>
            <a:ext cx="118414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设备向 DDR 搬出</a:t>
            </a:r>
          </a:p>
        </p:txBody>
      </p:sp>
      <p:sp>
        <p:nvSpPr>
          <p:cNvPr id="49" name="text-049: 输出交还 CPU 前，对 L1D 与 LLC 执行失效，并协调此前尚未完成的旧回"/>
          <p:cNvSpPr txBox="1"/>
          <p:nvPr/>
        </p:nvSpPr>
        <p:spPr>
          <a:xfrm>
            <a:off x="320040" y="4101419"/>
            <a:ext cx="5235321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输出交还 CPU 前，对 L1D 与 LLC 执行失效，并协调此前尚未完成的旧回填。</a:t>
            </a:r>
          </a:p>
        </p:txBody>
      </p:sp>
      <p:sp>
        <p:nvSpPr>
          <p:cNvPr id="50" name="panel2"/>
          <p:cNvSpPr/>
          <p:nvPr/>
        </p:nvSpPr>
        <p:spPr>
          <a:xfrm>
            <a:off x="186690" y="466725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③ 输出：设备先写 y = 9，LLC 的旧脏行随后覆盖它"/>
          <p:cNvSpPr txBox="1"/>
          <p:nvPr/>
        </p:nvSpPr>
        <p:spPr>
          <a:xfrm>
            <a:off x="320040" y="4745126"/>
            <a:ext cx="418452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③ 输出：设备先写 y = 9，LLC 的旧脏行随后覆盖它</a:t>
            </a:r>
          </a:p>
        </p:txBody>
      </p:sp>
      <p:sp>
        <p:nvSpPr>
          <p:cNvPr id="52" name="r2b0"/>
          <p:cNvSpPr/>
          <p:nvPr/>
        </p:nvSpPr>
        <p:spPr>
          <a:xfrm>
            <a:off x="320040" y="514731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CPU / L1D"/>
          <p:cNvSpPr txBox="1"/>
          <p:nvPr/>
        </p:nvSpPr>
        <p:spPr>
          <a:xfrm>
            <a:off x="893578" y="5263805"/>
            <a:ext cx="98652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CPU / L1D</a:t>
            </a:r>
          </a:p>
        </p:txBody>
      </p:sp>
      <p:sp>
        <p:nvSpPr>
          <p:cNvPr id="54" name="text-054: 先前写过 y = 3"/>
          <p:cNvSpPr txBox="1"/>
          <p:nvPr/>
        </p:nvSpPr>
        <p:spPr>
          <a:xfrm>
            <a:off x="817169" y="5467777"/>
            <a:ext cx="113934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先前写过 y = 3</a:t>
            </a:r>
          </a:p>
        </p:txBody>
      </p:sp>
      <p:sp>
        <p:nvSpPr>
          <p:cNvPr id="55" name="text-055: 此时 CPU 已停止访问"/>
          <p:cNvSpPr txBox="1"/>
          <p:nvPr/>
        </p:nvSpPr>
        <p:spPr>
          <a:xfrm>
            <a:off x="666750" y="5654467"/>
            <a:ext cx="14401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此时 CPU 已停止访问</a:t>
            </a:r>
          </a:p>
        </p:txBody>
      </p:sp>
      <p:sp>
        <p:nvSpPr>
          <p:cNvPr id="56" name="r2b1"/>
          <p:cNvSpPr/>
          <p:nvPr/>
        </p:nvSpPr>
        <p:spPr>
          <a:xfrm>
            <a:off x="2800350" y="514731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写缓冲"/>
          <p:cNvSpPr txBox="1"/>
          <p:nvPr/>
        </p:nvSpPr>
        <p:spPr>
          <a:xfrm>
            <a:off x="3579114" y="526380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写缓冲</a:t>
            </a:r>
          </a:p>
        </p:txBody>
      </p:sp>
      <p:sp>
        <p:nvSpPr>
          <p:cNvPr id="58" name="text-058: 先前的写已推进"/>
          <p:cNvSpPr txBox="1"/>
          <p:nvPr/>
        </p:nvSpPr>
        <p:spPr>
          <a:xfrm>
            <a:off x="3355086" y="546777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先前的写已推进</a:t>
            </a:r>
          </a:p>
        </p:txBody>
      </p:sp>
      <p:sp>
        <p:nvSpPr>
          <p:cNvPr id="59" name="text-059: LLC 尚有脏数据"/>
          <p:cNvSpPr txBox="1"/>
          <p:nvPr/>
        </p:nvSpPr>
        <p:spPr>
          <a:xfrm>
            <a:off x="3316681" y="5654467"/>
            <a:ext cx="110093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LLC 尚有脏数据</a:t>
            </a:r>
          </a:p>
        </p:txBody>
      </p:sp>
      <p:sp>
        <p:nvSpPr>
          <p:cNvPr id="60" name="r2b2"/>
          <p:cNvSpPr/>
          <p:nvPr/>
        </p:nvSpPr>
        <p:spPr>
          <a:xfrm>
            <a:off x="5280660" y="514731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WB LLC"/>
          <p:cNvSpPr txBox="1"/>
          <p:nvPr/>
        </p:nvSpPr>
        <p:spPr>
          <a:xfrm>
            <a:off x="5994616" y="5263805"/>
            <a:ext cx="70568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WB LLC</a:t>
            </a:r>
          </a:p>
        </p:txBody>
      </p:sp>
      <p:sp>
        <p:nvSpPr>
          <p:cNvPr id="62" name="text-062: 旧脏副本 y = 3"/>
          <p:cNvSpPr txBox="1"/>
          <p:nvPr/>
        </p:nvSpPr>
        <p:spPr>
          <a:xfrm>
            <a:off x="5777789" y="5467777"/>
            <a:ext cx="113934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旧脏副本 y = 3</a:t>
            </a:r>
          </a:p>
        </p:txBody>
      </p:sp>
      <p:sp>
        <p:nvSpPr>
          <p:cNvPr id="63" name="text-063: 稍后替换并写回"/>
          <p:cNvSpPr txBox="1"/>
          <p:nvPr/>
        </p:nvSpPr>
        <p:spPr>
          <a:xfrm>
            <a:off x="583539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稍后替换并写回</a:t>
            </a:r>
          </a:p>
        </p:txBody>
      </p:sp>
      <p:sp>
        <p:nvSpPr>
          <p:cNvPr id="64" name="r2b3"/>
          <p:cNvSpPr/>
          <p:nvPr/>
        </p:nvSpPr>
        <p:spPr>
          <a:xfrm>
            <a:off x="7760970" y="514731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DDR"/>
          <p:cNvSpPr txBox="1"/>
          <p:nvPr/>
        </p:nvSpPr>
        <p:spPr>
          <a:xfrm>
            <a:off x="8615343" y="5263805"/>
            <a:ext cx="42485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DDR</a:t>
            </a:r>
          </a:p>
        </p:txBody>
      </p:sp>
      <p:sp>
        <p:nvSpPr>
          <p:cNvPr id="66" name="text-066: y = 9 → y = 3"/>
          <p:cNvSpPr txBox="1"/>
          <p:nvPr/>
        </p:nvSpPr>
        <p:spPr>
          <a:xfrm>
            <a:off x="8200492" y="5467777"/>
            <a:ext cx="125455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y = 9 → y = 3</a:t>
            </a:r>
          </a:p>
        </p:txBody>
      </p:sp>
      <p:sp>
        <p:nvSpPr>
          <p:cNvPr id="67" name="text-067: 设备结果被覆盖"/>
          <p:cNvSpPr txBox="1"/>
          <p:nvPr/>
        </p:nvSpPr>
        <p:spPr>
          <a:xfrm>
            <a:off x="831570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设备结果被覆盖</a:t>
            </a:r>
          </a:p>
        </p:txBody>
      </p:sp>
      <p:sp>
        <p:nvSpPr>
          <p:cNvPr id="68" name="r2b4"/>
          <p:cNvSpPr/>
          <p:nvPr/>
        </p:nvSpPr>
        <p:spPr>
          <a:xfrm>
            <a:off x="10241280" y="514731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GB"/>
          <p:cNvSpPr txBox="1"/>
          <p:nvPr/>
        </p:nvSpPr>
        <p:spPr>
          <a:xfrm>
            <a:off x="11142459" y="5263805"/>
            <a:ext cx="33124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GB</a:t>
            </a:r>
          </a:p>
        </p:txBody>
      </p:sp>
      <p:sp>
        <p:nvSpPr>
          <p:cNvPr id="70" name="text-070: 结果 y = 9"/>
          <p:cNvSpPr txBox="1"/>
          <p:nvPr/>
        </p:nvSpPr>
        <p:spPr>
          <a:xfrm>
            <a:off x="10866425" y="5467777"/>
            <a:ext cx="88331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结果 y = 9</a:t>
            </a:r>
          </a:p>
        </p:txBody>
      </p:sp>
      <p:sp>
        <p:nvSpPr>
          <p:cNvPr id="71" name="text-071: 此前已完成搬出"/>
          <p:cNvSpPr txBox="1"/>
          <p:nvPr/>
        </p:nvSpPr>
        <p:spPr>
          <a:xfrm>
            <a:off x="1079601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此前已完成搬出</a:t>
            </a:r>
          </a:p>
        </p:txBody>
      </p:sp>
      <p:sp>
        <p:nvSpPr>
          <p:cNvPr id="72" name="text-072: 输出写入前先排空旧写、clean + invalidate；写入后再失效旧读副本"/>
          <p:cNvSpPr txBox="1"/>
          <p:nvPr/>
        </p:nvSpPr>
        <p:spPr>
          <a:xfrm>
            <a:off x="320040" y="6048329"/>
            <a:ext cx="4951019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输出写入前先排空旧写、clean + invalidate；写入后再失效旧读副本。</a:t>
            </a:r>
          </a:p>
        </p:txBody>
      </p:sp>
      <p:sp>
        <p:nvSpPr>
          <p:cNvPr id="73" name="cpu-store"/>
          <p:cNvSpPr/>
          <p:nvPr/>
        </p:nvSpPr>
        <p:spPr>
          <a:xfrm>
            <a:off x="245364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pending-store"/>
          <p:cNvSpPr/>
          <p:nvPr/>
        </p:nvSpPr>
        <p:spPr>
          <a:xfrm>
            <a:off x="493395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stale-input"/>
          <p:cNvSpPr/>
          <p:nvPr/>
        </p:nvSpPr>
        <p:spPr>
          <a:xfrm>
            <a:off x="989457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output-write"/>
          <p:cNvSpPr/>
          <p:nvPr/>
        </p:nvSpPr>
        <p:spPr>
          <a:xfrm>
            <a:off x="9894570" y="360045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34671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late-old-write"/>
          <p:cNvSpPr/>
          <p:nvPr/>
        </p:nvSpPr>
        <p:spPr>
          <a:xfrm>
            <a:off x="7414260" y="554736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arlier-device-write"/>
          <p:cNvSpPr/>
          <p:nvPr/>
        </p:nvSpPr>
        <p:spPr>
          <a:xfrm>
            <a:off x="9894570" y="554736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34671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蓝色：CPU / 缓存写入    绿色：设备搬运（经过共享数据代理）    虚线"/>
          <p:cNvSpPr txBox="1"/>
          <p:nvPr/>
        </p:nvSpPr>
        <p:spPr>
          <a:xfrm>
            <a:off x="320040" y="6571061"/>
            <a:ext cx="583859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蓝色：CPU / 缓存写入    绿色：设备搬运（经过共享数据代理）    虚线：待完成写入</a:t>
            </a:r>
          </a:p>
        </p:txBody>
      </p:sp>
      <p:sp>
        <p:nvSpPr>
          <p:cNvPr id="80" name="text-080: 三个场景共同指向：输入先清理到 DDR，输出写前保护旧数据、写后清除旧副本。"/>
          <p:cNvSpPr txBox="1"/>
          <p:nvPr/>
        </p:nvSpPr>
        <p:spPr>
          <a:xfrm>
            <a:off x="320040" y="6837761"/>
            <a:ext cx="5214518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三个场景共同指向：输入先清理到 DDR，输出写前保护旧数据、写后清除旧副本。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裸机同步调用与硬件动作沿时间依次完成"/>
          <p:cNvSpPr txBox="1"/>
          <p:nvPr/>
        </p:nvSpPr>
        <p:spPr>
          <a:xfrm>
            <a:off x="1000125" y="60488"/>
            <a:ext cx="273634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裸机同步调用与硬件动作沿时间依次完成</a:t>
            </a:r>
          </a:p>
        </p:txBody>
      </p:sp>
      <p:sp>
        <p:nvSpPr>
          <p:cNvPr id="3" name="text-003: 时间向下；首次维护前建立上下文。紫色：命令 / 确认；蓝色：缓存写入；绿色：设备"/>
          <p:cNvSpPr txBox="1"/>
          <p:nvPr/>
        </p:nvSpPr>
        <p:spPr>
          <a:xfrm>
            <a:off x="1000125" y="280355"/>
            <a:ext cx="412371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时间向下；首次维护前建立上下文。紫色：命令 / 确认；蓝色：缓存写入；绿色：设备搬运。</a:t>
            </a:r>
          </a:p>
        </p:txBody>
      </p:sp>
      <p:sp>
        <p:nvSpPr>
          <p:cNvPr id="4" name="lane0"/>
          <p:cNvSpPr/>
          <p:nvPr/>
        </p:nvSpPr>
        <p:spPr>
          <a:xfrm>
            <a:off x="940118" y="520065"/>
            <a:ext cx="1520190" cy="380048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PU 裸机程序"/>
          <p:cNvSpPr txBox="1"/>
          <p:nvPr/>
        </p:nvSpPr>
        <p:spPr>
          <a:xfrm>
            <a:off x="1289761" y="565431"/>
            <a:ext cx="82090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CPU 裸机程序</a:t>
            </a:r>
          </a:p>
        </p:txBody>
      </p:sp>
      <p:sp>
        <p:nvSpPr>
          <p:cNvPr id="6" name="text-006: 调用 HAL / 轮询"/>
          <p:cNvSpPr txBox="1"/>
          <p:nvPr/>
        </p:nvSpPr>
        <p:spPr>
          <a:xfrm>
            <a:off x="1241755" y="718410"/>
            <a:ext cx="91691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调用 HAL / 轮询</a:t>
            </a:r>
          </a:p>
        </p:txBody>
      </p:sp>
      <p:cxnSp>
        <p:nvCxnSpPr>
          <p:cNvPr id="7" name="life0"/>
          <p:cNvCxnSpPr/>
          <p:nvPr/>
        </p:nvCxnSpPr>
        <p:spPr>
          <a:xfrm>
            <a:off x="1700212" y="900112"/>
            <a:ext cx="0" cy="5740718"/>
          </a:xfrm>
          <a:prstGeom prst="line">
            <a:avLst/>
          </a:prstGeom>
          <a:ln w="56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8" name="lane1"/>
          <p:cNvSpPr/>
          <p:nvPr/>
        </p:nvSpPr>
        <p:spPr>
          <a:xfrm>
            <a:off x="2820352" y="520065"/>
            <a:ext cx="1520190" cy="380048"/>
          </a:xfrm>
          <a:prstGeom prst="rect">
            <a:avLst/>
          </a:prstGeom>
          <a:solidFill>
            <a:srgbClr val="E8DFED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范围维护引擎"/>
          <p:cNvSpPr txBox="1"/>
          <p:nvPr/>
        </p:nvSpPr>
        <p:spPr>
          <a:xfrm>
            <a:off x="3202400" y="565431"/>
            <a:ext cx="75609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范围维护引擎</a:t>
            </a:r>
          </a:p>
        </p:txBody>
      </p:sp>
      <p:sp>
        <p:nvSpPr>
          <p:cNvPr id="10" name="text-010: 规划：汇合维护确认"/>
          <p:cNvSpPr txBox="1"/>
          <p:nvPr/>
        </p:nvSpPr>
        <p:spPr>
          <a:xfrm>
            <a:off x="3100388" y="718410"/>
            <a:ext cx="96012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规划：汇合维护确认</a:t>
            </a:r>
          </a:p>
        </p:txBody>
      </p:sp>
      <p:cxnSp>
        <p:nvCxnSpPr>
          <p:cNvPr id="11" name="life1"/>
          <p:cNvCxnSpPr/>
          <p:nvPr/>
        </p:nvCxnSpPr>
        <p:spPr>
          <a:xfrm>
            <a:off x="3580448" y="900112"/>
            <a:ext cx="0" cy="5740718"/>
          </a:xfrm>
          <a:prstGeom prst="line">
            <a:avLst/>
          </a:prstGeom>
          <a:ln w="56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12" name="lane2"/>
          <p:cNvSpPr/>
          <p:nvPr/>
        </p:nvSpPr>
        <p:spPr>
          <a:xfrm>
            <a:off x="4700588" y="520065"/>
            <a:ext cx="1520190" cy="380048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1D / 写缓冲"/>
          <p:cNvSpPr txBox="1"/>
          <p:nvPr/>
        </p:nvSpPr>
        <p:spPr>
          <a:xfrm>
            <a:off x="5034029" y="565431"/>
            <a:ext cx="853307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L1D / 写缓冲</a:t>
            </a:r>
          </a:p>
        </p:txBody>
      </p:sp>
      <p:sp>
        <p:nvSpPr>
          <p:cNvPr id="14" name="text-014: 排空与失效"/>
          <p:cNvSpPr txBox="1"/>
          <p:nvPr/>
        </p:nvSpPr>
        <p:spPr>
          <a:xfrm>
            <a:off x="5172646" y="718410"/>
            <a:ext cx="57607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排空与失效</a:t>
            </a:r>
          </a:p>
        </p:txBody>
      </p:sp>
      <p:cxnSp>
        <p:nvCxnSpPr>
          <p:cNvPr id="15" name="life2"/>
          <p:cNvCxnSpPr/>
          <p:nvPr/>
        </p:nvCxnSpPr>
        <p:spPr>
          <a:xfrm>
            <a:off x="5460682" y="900112"/>
            <a:ext cx="0" cy="5740718"/>
          </a:xfrm>
          <a:prstGeom prst="line">
            <a:avLst/>
          </a:prstGeom>
          <a:ln w="56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16" name="lane3"/>
          <p:cNvSpPr/>
          <p:nvPr/>
        </p:nvSpPr>
        <p:spPr>
          <a:xfrm>
            <a:off x="6580822" y="520065"/>
            <a:ext cx="1520190" cy="38004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WB LLC"/>
          <p:cNvSpPr txBox="1"/>
          <p:nvPr/>
        </p:nvSpPr>
        <p:spPr>
          <a:xfrm>
            <a:off x="7076284" y="565431"/>
            <a:ext cx="52926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WB LLC</a:t>
            </a:r>
          </a:p>
        </p:txBody>
      </p:sp>
      <p:sp>
        <p:nvSpPr>
          <p:cNvPr id="18" name="text-018: 清理与失效"/>
          <p:cNvSpPr txBox="1"/>
          <p:nvPr/>
        </p:nvSpPr>
        <p:spPr>
          <a:xfrm>
            <a:off x="7052882" y="718410"/>
            <a:ext cx="57607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清理与失效</a:t>
            </a:r>
          </a:p>
        </p:txBody>
      </p:sp>
      <p:cxnSp>
        <p:nvCxnSpPr>
          <p:cNvPr id="19" name="life3"/>
          <p:cNvCxnSpPr/>
          <p:nvPr/>
        </p:nvCxnSpPr>
        <p:spPr>
          <a:xfrm>
            <a:off x="7340918" y="900112"/>
            <a:ext cx="0" cy="5740718"/>
          </a:xfrm>
          <a:prstGeom prst="line">
            <a:avLst/>
          </a:prstGeom>
          <a:ln w="56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20" name="lane4"/>
          <p:cNvSpPr/>
          <p:nvPr/>
        </p:nvSpPr>
        <p:spPr>
          <a:xfrm>
            <a:off x="8461058" y="520065"/>
            <a:ext cx="1520190" cy="38004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DR / 搬运器"/>
          <p:cNvSpPr txBox="1"/>
          <p:nvPr/>
        </p:nvSpPr>
        <p:spPr>
          <a:xfrm>
            <a:off x="8794499" y="565431"/>
            <a:ext cx="853307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DDR / 搬运器</a:t>
            </a:r>
          </a:p>
        </p:txBody>
      </p:sp>
      <p:sp>
        <p:nvSpPr>
          <p:cNvPr id="22" name="text-022: 跨端口数据可见"/>
          <p:cNvSpPr txBox="1"/>
          <p:nvPr/>
        </p:nvSpPr>
        <p:spPr>
          <a:xfrm>
            <a:off x="8837104" y="718410"/>
            <a:ext cx="76809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跨端口数据可见</a:t>
            </a:r>
          </a:p>
        </p:txBody>
      </p:sp>
      <p:cxnSp>
        <p:nvCxnSpPr>
          <p:cNvPr id="23" name="life4"/>
          <p:cNvCxnSpPr/>
          <p:nvPr/>
        </p:nvCxnSpPr>
        <p:spPr>
          <a:xfrm>
            <a:off x="9221152" y="900112"/>
            <a:ext cx="0" cy="5740718"/>
          </a:xfrm>
          <a:prstGeom prst="line">
            <a:avLst/>
          </a:prstGeom>
          <a:ln w="56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24" name="lane5"/>
          <p:cNvSpPr/>
          <p:nvPr/>
        </p:nvSpPr>
        <p:spPr>
          <a:xfrm>
            <a:off x="10341292" y="520065"/>
            <a:ext cx="1520190" cy="380048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共享代理 / GB / NPU"/>
          <p:cNvSpPr txBox="1"/>
          <p:nvPr/>
        </p:nvSpPr>
        <p:spPr>
          <a:xfrm>
            <a:off x="10445205" y="565431"/>
            <a:ext cx="131236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共享代理 / GB / NPU</a:t>
            </a:r>
          </a:p>
        </p:txBody>
      </p:sp>
      <p:sp>
        <p:nvSpPr>
          <p:cNvPr id="26" name="text-026: 装入、计算、搬出"/>
          <p:cNvSpPr txBox="1"/>
          <p:nvPr/>
        </p:nvSpPr>
        <p:spPr>
          <a:xfrm>
            <a:off x="10669334" y="718410"/>
            <a:ext cx="86410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装入、计算、搬出</a:t>
            </a:r>
          </a:p>
        </p:txBody>
      </p:sp>
      <p:cxnSp>
        <p:nvCxnSpPr>
          <p:cNvPr id="27" name="life5"/>
          <p:cNvCxnSpPr/>
          <p:nvPr/>
        </p:nvCxnSpPr>
        <p:spPr>
          <a:xfrm>
            <a:off x="11101388" y="900112"/>
            <a:ext cx="0" cy="5740718"/>
          </a:xfrm>
          <a:prstGeom prst="line">
            <a:avLst/>
          </a:prstGeom>
          <a:ln w="56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28" name="prepare"/>
          <p:cNvSpPr/>
          <p:nvPr/>
        </p:nvSpPr>
        <p:spPr>
          <a:xfrm>
            <a:off x="1700212" y="116014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0" y="0"/>
                </a:moveTo>
                <a:lnTo>
                  <a:pt x="1880235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9"/>
          <p:cNvSpPr/>
          <p:nvPr/>
        </p:nvSpPr>
        <p:spPr>
          <a:xfrm>
            <a:off x="1756720" y="992124"/>
            <a:ext cx="1767221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登记上下文后：同步输入 + 准备输出"/>
          <p:cNvSpPr txBox="1"/>
          <p:nvPr/>
        </p:nvSpPr>
        <p:spPr>
          <a:xfrm>
            <a:off x="1742718" y="992124"/>
            <a:ext cx="1795224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登记上下文后：同步输入 + 准备输出</a:t>
            </a:r>
          </a:p>
        </p:txBody>
      </p:sp>
      <p:sp>
        <p:nvSpPr>
          <p:cNvPr id="31" name="drain"/>
          <p:cNvSpPr/>
          <p:nvPr/>
        </p:nvSpPr>
        <p:spPr>
          <a:xfrm>
            <a:off x="3580448" y="148018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0" y="0"/>
                </a:moveTo>
                <a:lnTo>
                  <a:pt x="1880235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2"/>
          <p:cNvSpPr/>
          <p:nvPr/>
        </p:nvSpPr>
        <p:spPr>
          <a:xfrm>
            <a:off x="3772472" y="1312164"/>
            <a:ext cx="1496187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限制冲突新请求；排空已有读写"/>
          <p:cNvSpPr txBox="1"/>
          <p:nvPr/>
        </p:nvSpPr>
        <p:spPr>
          <a:xfrm>
            <a:off x="3770471" y="1312164"/>
            <a:ext cx="1500188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限制冲突新请求；排空已有读写</a:t>
            </a:r>
          </a:p>
        </p:txBody>
      </p:sp>
      <p:sp>
        <p:nvSpPr>
          <p:cNvPr id="34" name="wt-store"/>
          <p:cNvSpPr/>
          <p:nvPr/>
        </p:nvSpPr>
        <p:spPr>
          <a:xfrm>
            <a:off x="5460682" y="180022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0" y="0"/>
                </a:moveTo>
                <a:lnTo>
                  <a:pt x="1880235" y="0"/>
                </a:lnTo>
              </a:path>
            </a:pathLst>
          </a:custGeom>
          <a:noFill/>
          <a:ln w="1120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5"/>
          <p:cNvSpPr/>
          <p:nvPr/>
        </p:nvSpPr>
        <p:spPr>
          <a:xfrm>
            <a:off x="5653207" y="1632204"/>
            <a:ext cx="1495187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WT 先行写推进；LLC 保持接收"/>
          <p:cNvSpPr txBox="1"/>
          <p:nvPr/>
        </p:nvSpPr>
        <p:spPr>
          <a:xfrm>
            <a:off x="5623203" y="1632204"/>
            <a:ext cx="1555194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WT 先行写推进；LLC 保持接收</a:t>
            </a:r>
          </a:p>
        </p:txBody>
      </p:sp>
      <p:sp>
        <p:nvSpPr>
          <p:cNvPr id="37" name="l1-drained"/>
          <p:cNvSpPr/>
          <p:nvPr/>
        </p:nvSpPr>
        <p:spPr>
          <a:xfrm>
            <a:off x="3580448" y="212026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1880235" y="0"/>
                </a:moveTo>
                <a:lnTo>
                  <a:pt x="0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8"/>
          <p:cNvSpPr/>
          <p:nvPr/>
        </p:nvSpPr>
        <p:spPr>
          <a:xfrm>
            <a:off x="3879985" y="1952244"/>
            <a:ext cx="1281160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排空及输出 L1D 失效确认"/>
          <p:cNvSpPr txBox="1"/>
          <p:nvPr/>
        </p:nvSpPr>
        <p:spPr>
          <a:xfrm>
            <a:off x="3857982" y="1952244"/>
            <a:ext cx="1325166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排空及输出 L1D 失效确认</a:t>
            </a:r>
          </a:p>
        </p:txBody>
      </p:sp>
      <p:sp>
        <p:nvSpPr>
          <p:cNvPr id="40" name="clean"/>
          <p:cNvSpPr/>
          <p:nvPr/>
        </p:nvSpPr>
        <p:spPr>
          <a:xfrm>
            <a:off x="3580448" y="2440305"/>
            <a:ext cx="3760470" cy="1"/>
          </a:xfrm>
          <a:custGeom>
            <a:avLst/>
            <a:gdLst/>
            <a:ahLst/>
            <a:cxnLst/>
            <a:rect l="0" t="0" r="r" b="b"/>
            <a:pathLst>
              <a:path w="3760470" h="1" fill="none">
                <a:moveTo>
                  <a:pt x="0" y="0"/>
                </a:moveTo>
                <a:lnTo>
                  <a:pt x="3760470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1"/>
          <p:cNvSpPr/>
          <p:nvPr/>
        </p:nvSpPr>
        <p:spPr>
          <a:xfrm>
            <a:off x="4064508" y="2272284"/>
            <a:ext cx="2792349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协调在途事务；输入 clean / 输出 clean + invalidate"/>
          <p:cNvSpPr txBox="1"/>
          <p:nvPr/>
        </p:nvSpPr>
        <p:spPr>
          <a:xfrm>
            <a:off x="3950494" y="2272284"/>
            <a:ext cx="3020378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协调在途事务；输入 clean / 输出 clean + invalidate</a:t>
            </a:r>
          </a:p>
        </p:txBody>
      </p:sp>
      <p:sp>
        <p:nvSpPr>
          <p:cNvPr id="43" name="writeback"/>
          <p:cNvSpPr/>
          <p:nvPr/>
        </p:nvSpPr>
        <p:spPr>
          <a:xfrm>
            <a:off x="7340918" y="276034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0" y="0"/>
                </a:moveTo>
                <a:lnTo>
                  <a:pt x="1880235" y="0"/>
                </a:lnTo>
              </a:path>
            </a:pathLst>
          </a:custGeom>
          <a:noFill/>
          <a:ln w="1120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4"/>
          <p:cNvSpPr/>
          <p:nvPr/>
        </p:nvSpPr>
        <p:spPr>
          <a:xfrm>
            <a:off x="7618952" y="2592324"/>
            <a:ext cx="1324166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经 S0 写回；检查错误响应"/>
          <p:cNvSpPr txBox="1"/>
          <p:nvPr/>
        </p:nvSpPr>
        <p:spPr>
          <a:xfrm>
            <a:off x="7600950" y="2592324"/>
            <a:ext cx="1360170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经 S0 写回；检查错误响应</a:t>
            </a:r>
          </a:p>
        </p:txBody>
      </p:sp>
      <p:sp>
        <p:nvSpPr>
          <p:cNvPr id="46" name="ddr-visible"/>
          <p:cNvSpPr/>
          <p:nvPr/>
        </p:nvSpPr>
        <p:spPr>
          <a:xfrm>
            <a:off x="3580448" y="3080385"/>
            <a:ext cx="5640705" cy="1"/>
          </a:xfrm>
          <a:custGeom>
            <a:avLst/>
            <a:gdLst/>
            <a:ahLst/>
            <a:cxnLst/>
            <a:rect l="0" t="0" r="r" b="b"/>
            <a:pathLst>
              <a:path w="5640705" h="1" fill="none">
                <a:moveTo>
                  <a:pt x="5640705" y="0"/>
                </a:moveTo>
                <a:lnTo>
                  <a:pt x="0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7"/>
          <p:cNvSpPr/>
          <p:nvPr/>
        </p:nvSpPr>
        <p:spPr>
          <a:xfrm>
            <a:off x="5502688" y="2912364"/>
            <a:ext cx="1796224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跨端口可见；汇合缓存完成与错误状态"/>
          <p:cNvSpPr txBox="1"/>
          <p:nvPr/>
        </p:nvSpPr>
        <p:spPr>
          <a:xfrm>
            <a:off x="5500688" y="2912364"/>
            <a:ext cx="1800225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跨端口可见；汇合缓存完成与错误状态</a:t>
            </a:r>
          </a:p>
        </p:txBody>
      </p:sp>
      <p:sp>
        <p:nvSpPr>
          <p:cNvPr id="49" name="prepared"/>
          <p:cNvSpPr/>
          <p:nvPr/>
        </p:nvSpPr>
        <p:spPr>
          <a:xfrm>
            <a:off x="1700212" y="340042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1880235" y="0"/>
                </a:moveTo>
                <a:lnTo>
                  <a:pt x="0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50"/>
          <p:cNvSpPr/>
          <p:nvPr/>
        </p:nvSpPr>
        <p:spPr>
          <a:xfrm>
            <a:off x="2142268" y="3232404"/>
            <a:ext cx="996124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维护成功，退出窗口"/>
          <p:cNvSpPr txBox="1"/>
          <p:nvPr/>
        </p:nvSpPr>
        <p:spPr>
          <a:xfrm>
            <a:off x="2140268" y="3232404"/>
            <a:ext cx="1000125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维护成功，退出窗口</a:t>
            </a:r>
          </a:p>
        </p:txBody>
      </p:sp>
      <p:sp>
        <p:nvSpPr>
          <p:cNvPr id="52" name="submit"/>
          <p:cNvSpPr/>
          <p:nvPr/>
        </p:nvSpPr>
        <p:spPr>
          <a:xfrm>
            <a:off x="1700212" y="3720465"/>
            <a:ext cx="7520940" cy="1"/>
          </a:xfrm>
          <a:custGeom>
            <a:avLst/>
            <a:gdLst/>
            <a:ahLst/>
            <a:cxnLst/>
            <a:rect l="0" t="0" r="r" b="b"/>
            <a:pathLst>
              <a:path w="7520940" h="1" fill="none">
                <a:moveTo>
                  <a:pt x="0" y="0"/>
                </a:moveTo>
                <a:lnTo>
                  <a:pt x="7520940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3"/>
          <p:cNvSpPr/>
          <p:nvPr/>
        </p:nvSpPr>
        <p:spPr>
          <a:xfrm>
            <a:off x="4498562" y="3552444"/>
            <a:ext cx="1924240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提交并确认接受：搬入 → 计算 → 搬出"/>
          <p:cNvSpPr txBox="1"/>
          <p:nvPr/>
        </p:nvSpPr>
        <p:spPr>
          <a:xfrm>
            <a:off x="4480560" y="3552444"/>
            <a:ext cx="1960245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提交并确认接受：搬入 → 计算 → 搬出</a:t>
            </a:r>
          </a:p>
        </p:txBody>
      </p:sp>
      <p:sp>
        <p:nvSpPr>
          <p:cNvPr id="55" name="dma-in"/>
          <p:cNvSpPr/>
          <p:nvPr/>
        </p:nvSpPr>
        <p:spPr>
          <a:xfrm>
            <a:off x="9221152" y="404050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0" y="0"/>
                </a:moveTo>
                <a:lnTo>
                  <a:pt x="1880235" y="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-056"/>
          <p:cNvSpPr/>
          <p:nvPr/>
        </p:nvSpPr>
        <p:spPr>
          <a:xfrm>
            <a:off x="9827728" y="3872484"/>
            <a:ext cx="667083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输入搬入 GB"/>
          <p:cNvSpPr txBox="1"/>
          <p:nvPr/>
        </p:nvSpPr>
        <p:spPr>
          <a:xfrm>
            <a:off x="9813727" y="3872484"/>
            <a:ext cx="695087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87C78"/>
                </a:solidFill>
                <a:latin typeface="WenQuanYi Zen Hei"/>
                <a:ea typeface="WenQuanYi Zen Hei"/>
                <a:cs typeface="WenQuanYi Zen Hei"/>
              </a:rPr>
              <a:t>输入搬入 GB</a:t>
            </a:r>
          </a:p>
        </p:txBody>
      </p:sp>
      <p:sp>
        <p:nvSpPr>
          <p:cNvPr id="58" name="compute"/>
          <p:cNvSpPr/>
          <p:nvPr/>
        </p:nvSpPr>
        <p:spPr>
          <a:xfrm>
            <a:off x="10341292" y="4200525"/>
            <a:ext cx="1520190" cy="260032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NPU 计算，结果留在 GB"/>
          <p:cNvSpPr txBox="1"/>
          <p:nvPr/>
        </p:nvSpPr>
        <p:spPr>
          <a:xfrm>
            <a:off x="10423603" y="4253892"/>
            <a:ext cx="135556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NPU 计算，结果留在 GB</a:t>
            </a:r>
          </a:p>
        </p:txBody>
      </p:sp>
      <p:sp>
        <p:nvSpPr>
          <p:cNvPr id="60" name="dma-out"/>
          <p:cNvSpPr/>
          <p:nvPr/>
        </p:nvSpPr>
        <p:spPr>
          <a:xfrm>
            <a:off x="9221152" y="468058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1880235" y="0"/>
                </a:moveTo>
                <a:lnTo>
                  <a:pt x="0" y="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1"/>
          <p:cNvSpPr/>
          <p:nvPr/>
        </p:nvSpPr>
        <p:spPr>
          <a:xfrm>
            <a:off x="9799225" y="4512564"/>
            <a:ext cx="724090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结果写入 DDR"/>
          <p:cNvSpPr txBox="1"/>
          <p:nvPr/>
        </p:nvSpPr>
        <p:spPr>
          <a:xfrm>
            <a:off x="9781222" y="4512564"/>
            <a:ext cx="760095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87C78"/>
                </a:solidFill>
                <a:latin typeface="WenQuanYi Zen Hei"/>
                <a:ea typeface="WenQuanYi Zen Hei"/>
                <a:cs typeface="WenQuanYi Zen Hei"/>
              </a:rPr>
              <a:t>结果写入 DDR</a:t>
            </a:r>
          </a:p>
        </p:txBody>
      </p:sp>
      <p:sp>
        <p:nvSpPr>
          <p:cNvPr id="63" name="task-done"/>
          <p:cNvSpPr/>
          <p:nvPr/>
        </p:nvSpPr>
        <p:spPr>
          <a:xfrm>
            <a:off x="1700212" y="5000625"/>
            <a:ext cx="7520940" cy="1"/>
          </a:xfrm>
          <a:custGeom>
            <a:avLst/>
            <a:gdLst/>
            <a:ahLst/>
            <a:cxnLst/>
            <a:rect l="0" t="0" r="r" b="b"/>
            <a:pathLst>
              <a:path w="7520940" h="1" fill="none">
                <a:moveTo>
                  <a:pt x="7520940" y="0"/>
                </a:moveTo>
                <a:lnTo>
                  <a:pt x="0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-064"/>
          <p:cNvSpPr/>
          <p:nvPr/>
        </p:nvSpPr>
        <p:spPr>
          <a:xfrm>
            <a:off x="4598575" y="4832604"/>
            <a:ext cx="1724216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任务成功：搬出完成，CPU 端口可见"/>
          <p:cNvSpPr txBox="1"/>
          <p:nvPr/>
        </p:nvSpPr>
        <p:spPr>
          <a:xfrm>
            <a:off x="4580572" y="4832604"/>
            <a:ext cx="1760220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任务成功：搬出完成，CPU 端口可见</a:t>
            </a:r>
          </a:p>
        </p:txBody>
      </p:sp>
      <p:sp>
        <p:nvSpPr>
          <p:cNvPr id="66" name="acquire"/>
          <p:cNvSpPr/>
          <p:nvPr/>
        </p:nvSpPr>
        <p:spPr>
          <a:xfrm>
            <a:off x="1700212" y="532066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0" y="0"/>
                </a:moveTo>
                <a:lnTo>
                  <a:pt x="1880235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-067"/>
          <p:cNvSpPr/>
          <p:nvPr/>
        </p:nvSpPr>
        <p:spPr>
          <a:xfrm>
            <a:off x="1892236" y="5152644"/>
            <a:ext cx="1496187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同步输出：再次限制冲突新请求"/>
          <p:cNvSpPr txBox="1"/>
          <p:nvPr/>
        </p:nvSpPr>
        <p:spPr>
          <a:xfrm>
            <a:off x="1890236" y="5152644"/>
            <a:ext cx="1500188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同步输出：再次限制冲突新请求</a:t>
            </a:r>
          </a:p>
        </p:txBody>
      </p:sp>
      <p:sp>
        <p:nvSpPr>
          <p:cNvPr id="69" name="post-l1"/>
          <p:cNvSpPr/>
          <p:nvPr/>
        </p:nvSpPr>
        <p:spPr>
          <a:xfrm>
            <a:off x="3580448" y="564070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0" y="0"/>
                </a:moveTo>
                <a:lnTo>
                  <a:pt x="1880235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-070"/>
          <p:cNvSpPr/>
          <p:nvPr/>
        </p:nvSpPr>
        <p:spPr>
          <a:xfrm>
            <a:off x="3922490" y="5472684"/>
            <a:ext cx="1196150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排空旧回填，再最终失效"/>
          <p:cNvSpPr txBox="1"/>
          <p:nvPr/>
        </p:nvSpPr>
        <p:spPr>
          <a:xfrm>
            <a:off x="3920490" y="5472684"/>
            <a:ext cx="1200150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排空旧回填，再最终失效</a:t>
            </a:r>
          </a:p>
        </p:txBody>
      </p:sp>
      <p:sp>
        <p:nvSpPr>
          <p:cNvPr id="72" name="post-llc"/>
          <p:cNvSpPr/>
          <p:nvPr/>
        </p:nvSpPr>
        <p:spPr>
          <a:xfrm>
            <a:off x="3580448" y="5960745"/>
            <a:ext cx="3760470" cy="1"/>
          </a:xfrm>
          <a:custGeom>
            <a:avLst/>
            <a:gdLst/>
            <a:ahLst/>
            <a:cxnLst/>
            <a:rect l="0" t="0" r="r" b="b"/>
            <a:pathLst>
              <a:path w="3760470" h="1" fill="none">
                <a:moveTo>
                  <a:pt x="0" y="0"/>
                </a:moveTo>
                <a:lnTo>
                  <a:pt x="3760470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-073"/>
          <p:cNvSpPr/>
          <p:nvPr/>
        </p:nvSpPr>
        <p:spPr>
          <a:xfrm>
            <a:off x="4720090" y="5792724"/>
            <a:ext cx="1481185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协调 LLC 在途事务，最终失效"/>
          <p:cNvSpPr txBox="1"/>
          <p:nvPr/>
        </p:nvSpPr>
        <p:spPr>
          <a:xfrm>
            <a:off x="4698087" y="5792724"/>
            <a:ext cx="1525191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协调 LLC 在途事务，最终失效</a:t>
            </a:r>
          </a:p>
        </p:txBody>
      </p:sp>
      <p:sp>
        <p:nvSpPr>
          <p:cNvPr id="75" name="acquired"/>
          <p:cNvSpPr/>
          <p:nvPr/>
        </p:nvSpPr>
        <p:spPr>
          <a:xfrm>
            <a:off x="1700212" y="644080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1880235" y="0"/>
                </a:moveTo>
                <a:lnTo>
                  <a:pt x="0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-076"/>
          <p:cNvSpPr/>
          <p:nvPr/>
        </p:nvSpPr>
        <p:spPr>
          <a:xfrm>
            <a:off x="1828228" y="6272784"/>
            <a:ext cx="1624203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收齐确认且无错误；CPU 可读结果"/>
          <p:cNvSpPr txBox="1"/>
          <p:nvPr/>
        </p:nvSpPr>
        <p:spPr>
          <a:xfrm>
            <a:off x="1810226" y="6272784"/>
            <a:ext cx="1660208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收齐确认且无错误；CPU 可读结果</a:t>
            </a:r>
          </a:p>
        </p:txBody>
      </p:sp>
      <p:sp>
        <p:nvSpPr>
          <p:cNvPr id="78" name="text-078: 设备持有范围期间：CPU / Ara / 中断代码遵守访问约定；CPU 可处理其"/>
          <p:cNvSpPr txBox="1"/>
          <p:nvPr/>
        </p:nvSpPr>
        <p:spPr>
          <a:xfrm>
            <a:off x="1020128" y="6688516"/>
            <a:ext cx="4306138" cy="1664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设备持有范围期间：CPU / Ara / 中断代码遵守访问约定；CPU 可处理其他独立数据。</a:t>
            </a:r>
          </a:p>
        </p:txBody>
      </p:sp>
      <p:sp>
        <p:nvSpPr>
          <p:cNvPr id="79" name="text-079: 错误或超时：保留上下文及 DDR / GB；停止新增请求，确认旧事务结束或有效隔"/>
          <p:cNvSpPr txBox="1"/>
          <p:nvPr/>
        </p:nvSpPr>
        <p:spPr>
          <a:xfrm>
            <a:off x="1020128" y="6888541"/>
            <a:ext cx="4560970" cy="1664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9292D"/>
                </a:solidFill>
                <a:latin typeface="WenQuanYi Zen Hei"/>
                <a:ea typeface="WenQuanYi Zen Hei"/>
                <a:cs typeface="WenQuanYi Zen Hei"/>
              </a:rPr>
              <a:t>错误或超时：保留上下文及 DDR / GB；停止新增请求，确认旧事务结束或有效隔离后再复用。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