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9260800" cy="16459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2: Cheshire SoC 软硬件分层结构"/>
          <p:cNvSpPr txBox="1"/>
          <p:nvPr/>
        </p:nvSpPr>
        <p:spPr>
          <a:xfrm>
            <a:off x="411480" y="169713"/>
            <a:ext cx="5595328" cy="6291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9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Cheshire SoC 软硬件分层结构</a:t>
            </a:r>
          </a:p>
        </p:txBody>
      </p:sp>
      <p:sp>
        <p:nvSpPr>
          <p:cNvPr id="3" name="o3: 裸机工程主线 · 功能库、设备控制、指令执行与片外器件分别表达"/>
          <p:cNvSpPr txBox="1"/>
          <p:nvPr/>
        </p:nvSpPr>
        <p:spPr>
          <a:xfrm>
            <a:off x="438912" y="787116"/>
            <a:ext cx="6548318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裸机工程主线 · 功能库、设备控制、指令执行与片外器件分别表达</a:t>
            </a:r>
          </a:p>
        </p:txBody>
      </p:sp>
      <p:sp>
        <p:nvSpPr>
          <p:cNvPr id="4" name="applications"/>
          <p:cNvSpPr/>
          <p:nvPr/>
        </p:nvSpPr>
        <p:spPr>
          <a:xfrm>
            <a:off x="457200" y="1600200"/>
            <a:ext cx="22860000" cy="1554480"/>
          </a:xfrm>
          <a:prstGeom prst="rect">
            <a:avLst/>
          </a:prstGeom>
          <a:solidFill>
            <a:srgbClr val="F1D7D9"/>
          </a:solidFill>
          <a:ln w="1828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5: 应用软件"/>
          <p:cNvSpPr txBox="1"/>
          <p:nvPr/>
        </p:nvSpPr>
        <p:spPr>
          <a:xfrm>
            <a:off x="11201400" y="1697126"/>
            <a:ext cx="1371600" cy="4389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应用软件</a:t>
            </a:r>
          </a:p>
        </p:txBody>
      </p:sp>
      <p:sp>
        <p:nvSpPr>
          <p:cNvPr id="6" name="app-test"/>
          <p:cNvSpPr/>
          <p:nvPr/>
        </p:nvSpPr>
        <p:spPr>
          <a:xfrm>
            <a:off x="868680" y="2194560"/>
            <a:ext cx="5303520" cy="731520"/>
          </a:xfrm>
          <a:prstGeom prst="rect">
            <a:avLst/>
          </a:prstGeom>
          <a:solidFill>
            <a:srgbClr val="FFFFFF"/>
          </a:solidFill>
          <a:ln w="1828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7: 裸机应用与测试"/>
          <p:cNvSpPr txBox="1"/>
          <p:nvPr/>
        </p:nvSpPr>
        <p:spPr>
          <a:xfrm>
            <a:off x="2532888" y="2222175"/>
            <a:ext cx="1975104" cy="3950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裸机应用与测试</a:t>
            </a:r>
          </a:p>
        </p:txBody>
      </p:sp>
      <p:sp>
        <p:nvSpPr>
          <p:cNvPr id="8" name="o8: HelloWorld / 结果校验"/>
          <p:cNvSpPr txBox="1"/>
          <p:nvPr/>
        </p:nvSpPr>
        <p:spPr>
          <a:xfrm>
            <a:off x="2385691" y="2572573"/>
            <a:ext cx="2269498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HelloWorld / 结果校验</a:t>
            </a:r>
          </a:p>
        </p:txBody>
      </p:sp>
      <p:sp>
        <p:nvSpPr>
          <p:cNvPr id="9" name="app-vector"/>
          <p:cNvSpPr/>
          <p:nvPr/>
        </p:nvSpPr>
        <p:spPr>
          <a:xfrm>
            <a:off x="6537960" y="2194560"/>
            <a:ext cx="5303520" cy="731520"/>
          </a:xfrm>
          <a:prstGeom prst="rect">
            <a:avLst/>
          </a:prstGeom>
          <a:solidFill>
            <a:srgbClr val="FFFFFF"/>
          </a:solidFill>
          <a:ln w="1828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10: 向量算法"/>
          <p:cNvSpPr txBox="1"/>
          <p:nvPr/>
        </p:nvSpPr>
        <p:spPr>
          <a:xfrm>
            <a:off x="8572500" y="2222175"/>
            <a:ext cx="1234440" cy="3950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向量算法</a:t>
            </a:r>
          </a:p>
        </p:txBody>
      </p:sp>
      <p:sp>
        <p:nvSpPr>
          <p:cNvPr id="11" name="o11: RVV / 矩阵计算"/>
          <p:cNvSpPr txBox="1"/>
          <p:nvPr/>
        </p:nvSpPr>
        <p:spPr>
          <a:xfrm>
            <a:off x="8363460" y="2572573"/>
            <a:ext cx="1652521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RVV / 矩阵计算</a:t>
            </a:r>
          </a:p>
        </p:txBody>
      </p:sp>
      <p:sp>
        <p:nvSpPr>
          <p:cNvPr id="12" name="app-tools"/>
          <p:cNvSpPr/>
          <p:nvPr/>
        </p:nvSpPr>
        <p:spPr>
          <a:xfrm>
            <a:off x="12207240" y="2194560"/>
            <a:ext cx="5303520" cy="731520"/>
          </a:xfrm>
          <a:prstGeom prst="rect">
            <a:avLst/>
          </a:prstGeom>
          <a:solidFill>
            <a:srgbClr val="FFFFFF"/>
          </a:solidFill>
          <a:ln w="1828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13: 系统工具"/>
          <p:cNvSpPr txBox="1"/>
          <p:nvPr/>
        </p:nvSpPr>
        <p:spPr>
          <a:xfrm>
            <a:off x="14241780" y="2222175"/>
            <a:ext cx="1234440" cy="3950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系统工具</a:t>
            </a:r>
          </a:p>
        </p:txBody>
      </p:sp>
      <p:sp>
        <p:nvSpPr>
          <p:cNvPr id="14" name="o14: 介质烧写 / 下载执行"/>
          <p:cNvSpPr txBox="1"/>
          <p:nvPr/>
        </p:nvSpPr>
        <p:spPr>
          <a:xfrm>
            <a:off x="13794910" y="2572573"/>
            <a:ext cx="2128180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介质烧写 / 下载执行</a:t>
            </a:r>
          </a:p>
        </p:txBody>
      </p:sp>
      <p:sp>
        <p:nvSpPr>
          <p:cNvPr id="15" name="app-image"/>
          <p:cNvSpPr/>
          <p:nvPr/>
        </p:nvSpPr>
        <p:spPr>
          <a:xfrm>
            <a:off x="17876520" y="2194560"/>
            <a:ext cx="5303520" cy="731520"/>
          </a:xfrm>
          <a:prstGeom prst="rect">
            <a:avLst/>
          </a:prstGeom>
          <a:solidFill>
            <a:srgbClr val="FFFFFF"/>
          </a:solidFill>
          <a:ln w="18288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16: 图像处理与推理"/>
          <p:cNvSpPr txBox="1"/>
          <p:nvPr/>
        </p:nvSpPr>
        <p:spPr>
          <a:xfrm>
            <a:off x="19540728" y="2222175"/>
            <a:ext cx="1975104" cy="3950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图像处理与推理</a:t>
            </a:r>
          </a:p>
        </p:txBody>
      </p:sp>
      <p:sp>
        <p:nvSpPr>
          <p:cNvPr id="17" name="o17: ISP / NPU 工作负载〔规划〕"/>
          <p:cNvSpPr txBox="1"/>
          <p:nvPr/>
        </p:nvSpPr>
        <p:spPr>
          <a:xfrm>
            <a:off x="19085971" y="2572573"/>
            <a:ext cx="2884618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ISP / NPU 工作负载〔规划〕</a:t>
            </a:r>
          </a:p>
        </p:txBody>
      </p:sp>
      <p:sp>
        <p:nvSpPr>
          <p:cNvPr id="18" name="base-software"/>
          <p:cNvSpPr/>
          <p:nvPr/>
        </p:nvSpPr>
        <p:spPr>
          <a:xfrm>
            <a:off x="457200" y="3520440"/>
            <a:ext cx="22860000" cy="4023360"/>
          </a:xfrm>
          <a:prstGeom prst="rect">
            <a:avLst/>
          </a:prstGeom>
          <a:solidFill>
            <a:srgbClr val="D8E8F4"/>
          </a:solidFill>
          <a:ln w="1828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19: 基础软件 · 通用功能与设备控制"/>
          <p:cNvSpPr txBox="1"/>
          <p:nvPr/>
        </p:nvSpPr>
        <p:spPr>
          <a:xfrm>
            <a:off x="9851903" y="3617366"/>
            <a:ext cx="4070594" cy="4389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基础软件 · 通用功能与设备控制</a:t>
            </a:r>
          </a:p>
        </p:txBody>
      </p:sp>
      <p:sp>
        <p:nvSpPr>
          <p:cNvPr id="20" name="printf"/>
          <p:cNvSpPr/>
          <p:nvPr/>
        </p:nvSpPr>
        <p:spPr>
          <a:xfrm>
            <a:off x="914400" y="4251960"/>
            <a:ext cx="3017520" cy="914400"/>
          </a:xfrm>
          <a:prstGeom prst="rect">
            <a:avLst/>
          </a:prstGeom>
          <a:solidFill>
            <a:srgbClr val="FFFFFF"/>
          </a:solidFill>
          <a:ln w="1828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o21: printf"/>
          <p:cNvSpPr txBox="1"/>
          <p:nvPr/>
        </p:nvSpPr>
        <p:spPr>
          <a:xfrm>
            <a:off x="2006344" y="4364248"/>
            <a:ext cx="833633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printf</a:t>
            </a:r>
          </a:p>
        </p:txBody>
      </p:sp>
      <p:sp>
        <p:nvSpPr>
          <p:cNvPr id="22" name="o22: 格式化 → _putchar"/>
          <p:cNvSpPr txBox="1"/>
          <p:nvPr/>
        </p:nvSpPr>
        <p:spPr>
          <a:xfrm>
            <a:off x="1394567" y="4714646"/>
            <a:ext cx="2057186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格式化 → _putchar</a:t>
            </a:r>
          </a:p>
        </p:txBody>
      </p:sp>
      <p:sp>
        <p:nvSpPr>
          <p:cNvPr id="23" name="gpt"/>
          <p:cNvSpPr/>
          <p:nvPr/>
        </p:nvSpPr>
        <p:spPr>
          <a:xfrm>
            <a:off x="4389120" y="4251960"/>
            <a:ext cx="3200400" cy="914400"/>
          </a:xfrm>
          <a:prstGeom prst="rect">
            <a:avLst/>
          </a:prstGeom>
          <a:solidFill>
            <a:srgbClr val="FFFFFF"/>
          </a:solidFill>
          <a:ln w="1828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o24: GPT 解析"/>
          <p:cNvSpPr txBox="1"/>
          <p:nvPr/>
        </p:nvSpPr>
        <p:spPr>
          <a:xfrm>
            <a:off x="5346854" y="4364248"/>
            <a:ext cx="1284932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GPT 解析</a:t>
            </a:r>
          </a:p>
        </p:txBody>
      </p:sp>
      <p:sp>
        <p:nvSpPr>
          <p:cNvPr id="25" name="o25: read 回调访问介质"/>
          <p:cNvSpPr txBox="1"/>
          <p:nvPr/>
        </p:nvSpPr>
        <p:spPr>
          <a:xfrm>
            <a:off x="4975836" y="4714646"/>
            <a:ext cx="2026968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read 回调访问介质</a:t>
            </a:r>
          </a:p>
        </p:txBody>
      </p:sp>
      <p:sp>
        <p:nvSpPr>
          <p:cNvPr id="26" name="storage-hal"/>
          <p:cNvSpPr/>
          <p:nvPr/>
        </p:nvSpPr>
        <p:spPr>
          <a:xfrm>
            <a:off x="8046720" y="4251960"/>
            <a:ext cx="6583680" cy="914400"/>
          </a:xfrm>
          <a:prstGeom prst="rect">
            <a:avLst/>
          </a:prstGeom>
          <a:solidFill>
            <a:srgbClr val="FFFFFF"/>
          </a:solidFill>
          <a:ln w="1828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27: 存储器件 HAL"/>
          <p:cNvSpPr txBox="1"/>
          <p:nvPr/>
        </p:nvSpPr>
        <p:spPr>
          <a:xfrm>
            <a:off x="10440062" y="4364248"/>
            <a:ext cx="1796996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存储器件 HAL</a:t>
            </a:r>
          </a:p>
        </p:txBody>
      </p:sp>
      <p:sp>
        <p:nvSpPr>
          <p:cNvPr id="28" name="o28: SPI Flash / SD / I²C EEPROM"/>
          <p:cNvSpPr txBox="1"/>
          <p:nvPr/>
        </p:nvSpPr>
        <p:spPr>
          <a:xfrm>
            <a:off x="9814905" y="4714646"/>
            <a:ext cx="3047309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SPI Flash / SD / I²C EEPROM</a:t>
            </a:r>
          </a:p>
        </p:txBody>
      </p:sp>
      <p:sp>
        <p:nvSpPr>
          <p:cNvPr id="29" name="debug-hal"/>
          <p:cNvSpPr/>
          <p:nvPr/>
        </p:nvSpPr>
        <p:spPr>
          <a:xfrm>
            <a:off x="15087600" y="4251960"/>
            <a:ext cx="7498080" cy="914400"/>
          </a:xfrm>
          <a:prstGeom prst="rect">
            <a:avLst/>
          </a:prstGeom>
          <a:solidFill>
            <a:srgbClr val="FFFFFF"/>
          </a:solidFill>
          <a:ln w="1828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o30: UART debug HAL"/>
          <p:cNvSpPr txBox="1"/>
          <p:nvPr/>
        </p:nvSpPr>
        <p:spPr>
          <a:xfrm>
            <a:off x="17774986" y="4364248"/>
            <a:ext cx="2123308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 debug HAL</a:t>
            </a:r>
          </a:p>
        </p:txBody>
      </p:sp>
      <p:sp>
        <p:nvSpPr>
          <p:cNvPr id="31" name="o31: READ / WRITE / EXEC"/>
          <p:cNvSpPr txBox="1"/>
          <p:nvPr/>
        </p:nvSpPr>
        <p:spPr>
          <a:xfrm>
            <a:off x="17665744" y="4714646"/>
            <a:ext cx="2341793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READ / WRITE / EXEC</a:t>
            </a:r>
          </a:p>
        </p:txBody>
      </p:sp>
      <p:sp>
        <p:nvSpPr>
          <p:cNvPr id="32" name="uart-dif"/>
          <p:cNvSpPr/>
          <p:nvPr/>
        </p:nvSpPr>
        <p:spPr>
          <a:xfrm>
            <a:off x="914400" y="5760720"/>
            <a:ext cx="5212080" cy="822960"/>
          </a:xfrm>
          <a:prstGeom prst="rect">
            <a:avLst/>
          </a:prstGeom>
          <a:solidFill>
            <a:srgbClr val="FFFFFF"/>
          </a:solidFill>
          <a:ln w="1828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o33: UART DIF"/>
          <p:cNvSpPr txBox="1"/>
          <p:nvPr/>
        </p:nvSpPr>
        <p:spPr>
          <a:xfrm>
            <a:off x="2878217" y="5827288"/>
            <a:ext cx="1284446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 DIF</a:t>
            </a:r>
          </a:p>
        </p:txBody>
      </p:sp>
      <p:sp>
        <p:nvSpPr>
          <p:cNvPr id="34" name="o34: 初始化 / FIFO 字节收发"/>
          <p:cNvSpPr txBox="1"/>
          <p:nvPr/>
        </p:nvSpPr>
        <p:spPr>
          <a:xfrm>
            <a:off x="2280856" y="6177686"/>
            <a:ext cx="2479167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初始化 / FIFO 字节收发</a:t>
            </a:r>
          </a:p>
        </p:txBody>
      </p:sp>
      <p:sp>
        <p:nvSpPr>
          <p:cNvPr id="35" name="serial-dif"/>
          <p:cNvSpPr/>
          <p:nvPr/>
        </p:nvSpPr>
        <p:spPr>
          <a:xfrm>
            <a:off x="6583680" y="5760720"/>
            <a:ext cx="10241280" cy="822960"/>
          </a:xfrm>
          <a:prstGeom prst="rect">
            <a:avLst/>
          </a:prstGeom>
          <a:solidFill>
            <a:srgbClr val="FFFFFF"/>
          </a:solidFill>
          <a:ln w="1828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o36: SPI / I²C / GPIO DIF"/>
          <p:cNvSpPr txBox="1"/>
          <p:nvPr/>
        </p:nvSpPr>
        <p:spPr>
          <a:xfrm>
            <a:off x="10456000" y="5827288"/>
            <a:ext cx="2496641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/ I²C / GPIO DIF</a:t>
            </a:r>
          </a:p>
        </p:txBody>
      </p:sp>
      <p:sp>
        <p:nvSpPr>
          <p:cNvPr id="37" name="o37: 控制器配置 / 传输段 / 状态与寄存器"/>
          <p:cNvSpPr txBox="1"/>
          <p:nvPr/>
        </p:nvSpPr>
        <p:spPr>
          <a:xfrm>
            <a:off x="9812798" y="6177686"/>
            <a:ext cx="3783044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控制器配置 / 传输段 / 状态与寄存器</a:t>
            </a:r>
          </a:p>
        </p:txBody>
      </p:sp>
      <p:sp>
        <p:nvSpPr>
          <p:cNvPr id="38" name="timer-dma"/>
          <p:cNvSpPr/>
          <p:nvPr/>
        </p:nvSpPr>
        <p:spPr>
          <a:xfrm>
            <a:off x="17282160" y="5760720"/>
            <a:ext cx="5303520" cy="822960"/>
          </a:xfrm>
          <a:prstGeom prst="rect">
            <a:avLst/>
          </a:prstGeom>
          <a:solidFill>
            <a:srgbClr val="FFFFFF"/>
          </a:solidFill>
          <a:ln w="1828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o39: CLINT / DMA 接口"/>
          <p:cNvSpPr txBox="1"/>
          <p:nvPr/>
        </p:nvSpPr>
        <p:spPr>
          <a:xfrm>
            <a:off x="18782376" y="5827288"/>
            <a:ext cx="2303088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 / DMA 接口</a:t>
            </a:r>
          </a:p>
        </p:txBody>
      </p:sp>
      <p:sp>
        <p:nvSpPr>
          <p:cNvPr id="40" name="o40: 计时 / 配置与提交"/>
          <p:cNvSpPr txBox="1"/>
          <p:nvPr/>
        </p:nvSpPr>
        <p:spPr>
          <a:xfrm>
            <a:off x="18933295" y="6177686"/>
            <a:ext cx="2001250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计时 / 配置与提交</a:t>
            </a:r>
          </a:p>
        </p:txBody>
      </p:sp>
      <p:sp>
        <p:nvSpPr>
          <p:cNvPr id="41" name="mmio"/>
          <p:cNvSpPr/>
          <p:nvPr/>
        </p:nvSpPr>
        <p:spPr>
          <a:xfrm>
            <a:off x="914400" y="6903720"/>
            <a:ext cx="21671280" cy="457200"/>
          </a:xfrm>
          <a:prstGeom prst="rect">
            <a:avLst/>
          </a:prstGeom>
          <a:solidFill>
            <a:srgbClr val="E8DFED"/>
          </a:solidFill>
          <a:ln w="1828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o42: MMIO：reg8 / reg32 · mmio_region_read / w"/>
          <p:cNvSpPr txBox="1"/>
          <p:nvPr/>
        </p:nvSpPr>
        <p:spPr>
          <a:xfrm>
            <a:off x="8150376" y="6963156"/>
            <a:ext cx="7199328" cy="3657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MMIO：reg8 / reg32 · mmio_region_read / write · 基址 + 偏移 + 位宽</a:t>
            </a:r>
          </a:p>
        </p:txBody>
      </p:sp>
      <p:cxnSp>
        <p:nvCxnSpPr>
          <p:cNvPr id="43" name="printf-uart"/>
          <p:cNvCxnSpPr/>
          <p:nvPr/>
        </p:nvCxnSpPr>
        <p:spPr>
          <a:xfrm>
            <a:off x="2423160" y="5166360"/>
            <a:ext cx="0" cy="594360"/>
          </a:xfrm>
          <a:prstGeom prst="line">
            <a:avLst/>
          </a:prstGeom>
          <a:ln w="27432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44" name="gpt-hal"/>
          <p:cNvCxnSpPr/>
          <p:nvPr/>
        </p:nvCxnSpPr>
        <p:spPr>
          <a:xfrm>
            <a:off x="7589520" y="4709160"/>
            <a:ext cx="457200" cy="0"/>
          </a:xfrm>
          <a:prstGeom prst="line">
            <a:avLst/>
          </a:prstGeom>
          <a:ln w="27432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45" name="hal-dif"/>
          <p:cNvCxnSpPr/>
          <p:nvPr/>
        </p:nvCxnSpPr>
        <p:spPr>
          <a:xfrm>
            <a:off x="11338560" y="5166360"/>
            <a:ext cx="0" cy="594360"/>
          </a:xfrm>
          <a:prstGeom prst="line">
            <a:avLst/>
          </a:prstGeom>
          <a:ln w="2743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46" name="debug-uart"/>
          <p:cNvSpPr/>
          <p:nvPr/>
        </p:nvSpPr>
        <p:spPr>
          <a:xfrm>
            <a:off x="4937760" y="5166360"/>
            <a:ext cx="13898880" cy="594360"/>
          </a:xfrm>
          <a:custGeom>
            <a:avLst/>
            <a:gdLst/>
            <a:ahLst/>
            <a:cxnLst/>
            <a:rect l="0" t="0" r="r" b="b"/>
            <a:pathLst>
              <a:path w="13898880" h="594360" fill="none">
                <a:moveTo>
                  <a:pt x="13898880" y="0"/>
                </a:moveTo>
                <a:lnTo>
                  <a:pt x="13898880" y="283464"/>
                </a:lnTo>
                <a:lnTo>
                  <a:pt x="6528816" y="283464"/>
                </a:lnTo>
                <a:cubicBezTo>
                  <a:pt x="6528816" y="118872"/>
                  <a:pt x="6272784" y="118872"/>
                  <a:pt x="6272784" y="283464"/>
                </a:cubicBezTo>
                <a:lnTo>
                  <a:pt x="0" y="283464"/>
                </a:lnTo>
                <a:lnTo>
                  <a:pt x="0" y="594360"/>
                </a:lnTo>
              </a:path>
            </a:pathLst>
          </a:custGeom>
          <a:noFill/>
          <a:ln w="2743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7" name="dif-mmio0"/>
          <p:cNvCxnSpPr/>
          <p:nvPr/>
        </p:nvCxnSpPr>
        <p:spPr>
          <a:xfrm>
            <a:off x="3520440" y="6583680"/>
            <a:ext cx="0" cy="320040"/>
          </a:xfrm>
          <a:prstGeom prst="line">
            <a:avLst/>
          </a:prstGeom>
          <a:ln w="27432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48" name="dif-mmio1"/>
          <p:cNvCxnSpPr/>
          <p:nvPr/>
        </p:nvCxnSpPr>
        <p:spPr>
          <a:xfrm>
            <a:off x="11704320" y="6583680"/>
            <a:ext cx="0" cy="320040"/>
          </a:xfrm>
          <a:prstGeom prst="line">
            <a:avLst/>
          </a:prstGeom>
          <a:ln w="27432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49" name="dif-mmio2"/>
          <p:cNvCxnSpPr/>
          <p:nvPr/>
        </p:nvCxnSpPr>
        <p:spPr>
          <a:xfrm>
            <a:off x="19933920" y="6583680"/>
            <a:ext cx="0" cy="320040"/>
          </a:xfrm>
          <a:prstGeom prst="line">
            <a:avLst/>
          </a:prstGeom>
          <a:ln w="2743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50" name="interfaces"/>
          <p:cNvSpPr/>
          <p:nvPr/>
        </p:nvSpPr>
        <p:spPr>
          <a:xfrm>
            <a:off x="457200" y="7909560"/>
            <a:ext cx="22860000" cy="1417320"/>
          </a:xfrm>
          <a:prstGeom prst="rect">
            <a:avLst/>
          </a:prstGeom>
          <a:solidFill>
            <a:srgbClr val="D9EEE8"/>
          </a:solidFill>
          <a:ln w="1828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o51: 软件可见的接口契约"/>
          <p:cNvSpPr txBox="1"/>
          <p:nvPr/>
        </p:nvSpPr>
        <p:spPr>
          <a:xfrm>
            <a:off x="10515600" y="8006486"/>
            <a:ext cx="2743200" cy="4389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软件可见的接口契约</a:t>
            </a:r>
          </a:p>
        </p:txBody>
      </p:sp>
      <p:sp>
        <p:nvSpPr>
          <p:cNvPr id="52" name="contract0"/>
          <p:cNvSpPr/>
          <p:nvPr/>
        </p:nvSpPr>
        <p:spPr>
          <a:xfrm>
            <a:off x="868680" y="8503920"/>
            <a:ext cx="5303520" cy="731520"/>
          </a:xfrm>
          <a:prstGeom prst="rect">
            <a:avLst/>
          </a:prstGeom>
          <a:solidFill>
            <a:srgbClr val="FFFFFF"/>
          </a:solidFill>
          <a:ln w="1828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o53: 指令执行"/>
          <p:cNvSpPr txBox="1"/>
          <p:nvPr/>
        </p:nvSpPr>
        <p:spPr>
          <a:xfrm>
            <a:off x="2948940" y="8545068"/>
            <a:ext cx="1143000" cy="3657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指令执行</a:t>
            </a:r>
          </a:p>
        </p:txBody>
      </p:sp>
      <p:sp>
        <p:nvSpPr>
          <p:cNvPr id="54" name="o54: 标量指令 / RVV"/>
          <p:cNvSpPr txBox="1"/>
          <p:nvPr/>
        </p:nvSpPr>
        <p:spPr>
          <a:xfrm>
            <a:off x="2730106" y="8885591"/>
            <a:ext cx="1580669" cy="3218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标量指令 / RVV</a:t>
            </a:r>
          </a:p>
        </p:txBody>
      </p:sp>
      <p:sp>
        <p:nvSpPr>
          <p:cNvPr id="55" name="contract1"/>
          <p:cNvSpPr/>
          <p:nvPr/>
        </p:nvSpPr>
        <p:spPr>
          <a:xfrm>
            <a:off x="6537960" y="8503920"/>
            <a:ext cx="5303520" cy="731520"/>
          </a:xfrm>
          <a:prstGeom prst="rect">
            <a:avLst/>
          </a:prstGeom>
          <a:solidFill>
            <a:srgbClr val="FFFFFF"/>
          </a:solidFill>
          <a:ln w="1828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o56: CSR 与特权状态"/>
          <p:cNvSpPr txBox="1"/>
          <p:nvPr/>
        </p:nvSpPr>
        <p:spPr>
          <a:xfrm>
            <a:off x="8257353" y="8545068"/>
            <a:ext cx="1864733" cy="3657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CSR 与特权状态</a:t>
            </a:r>
          </a:p>
        </p:txBody>
      </p:sp>
      <p:sp>
        <p:nvSpPr>
          <p:cNvPr id="57" name="o57: 处理器配置与控制"/>
          <p:cNvSpPr txBox="1"/>
          <p:nvPr/>
        </p:nvSpPr>
        <p:spPr>
          <a:xfrm>
            <a:off x="8284464" y="8885591"/>
            <a:ext cx="1810512" cy="3218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处理器配置与控制</a:t>
            </a:r>
          </a:p>
        </p:txBody>
      </p:sp>
      <p:sp>
        <p:nvSpPr>
          <p:cNvPr id="58" name="contract2"/>
          <p:cNvSpPr/>
          <p:nvPr/>
        </p:nvSpPr>
        <p:spPr>
          <a:xfrm>
            <a:off x="12207240" y="8503920"/>
            <a:ext cx="5303520" cy="731520"/>
          </a:xfrm>
          <a:prstGeom prst="rect">
            <a:avLst/>
          </a:prstGeom>
          <a:solidFill>
            <a:srgbClr val="FFFFFF"/>
          </a:solidFill>
          <a:ln w="1828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o59: 内存与 MMIO"/>
          <p:cNvSpPr txBox="1"/>
          <p:nvPr/>
        </p:nvSpPr>
        <p:spPr>
          <a:xfrm>
            <a:off x="14075202" y="8545068"/>
            <a:ext cx="1567596" cy="3657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内存与 MMIO</a:t>
            </a:r>
          </a:p>
        </p:txBody>
      </p:sp>
      <p:sp>
        <p:nvSpPr>
          <p:cNvPr id="60" name="o60: 地址 / 属性 / 寄存器语义"/>
          <p:cNvSpPr txBox="1"/>
          <p:nvPr/>
        </p:nvSpPr>
        <p:spPr>
          <a:xfrm>
            <a:off x="13628032" y="8885591"/>
            <a:ext cx="2461936" cy="3218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地址 / 属性 / 寄存器语义</a:t>
            </a:r>
          </a:p>
        </p:txBody>
      </p:sp>
      <p:sp>
        <p:nvSpPr>
          <p:cNvPr id="61" name="contract3"/>
          <p:cNvSpPr/>
          <p:nvPr/>
        </p:nvSpPr>
        <p:spPr>
          <a:xfrm>
            <a:off x="17876520" y="8503920"/>
            <a:ext cx="5303520" cy="731520"/>
          </a:xfrm>
          <a:prstGeom prst="rect">
            <a:avLst/>
          </a:prstGeom>
          <a:solidFill>
            <a:srgbClr val="FFFFFF"/>
          </a:solidFill>
          <a:ln w="1828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o62: 异常与中断"/>
          <p:cNvSpPr txBox="1"/>
          <p:nvPr/>
        </p:nvSpPr>
        <p:spPr>
          <a:xfrm>
            <a:off x="19842480" y="8545068"/>
            <a:ext cx="1371600" cy="3657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异常与中断</a:t>
            </a:r>
          </a:p>
        </p:txBody>
      </p:sp>
      <p:sp>
        <p:nvSpPr>
          <p:cNvPr id="63" name="o63: 事件入口 / 处理与返回"/>
          <p:cNvSpPr txBox="1"/>
          <p:nvPr/>
        </p:nvSpPr>
        <p:spPr>
          <a:xfrm>
            <a:off x="19409876" y="8885591"/>
            <a:ext cx="2236808" cy="3218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事件入口 / 处理与返回</a:t>
            </a:r>
          </a:p>
        </p:txBody>
      </p:sp>
      <p:sp>
        <p:nvSpPr>
          <p:cNvPr id="64" name="hardware"/>
          <p:cNvSpPr/>
          <p:nvPr/>
        </p:nvSpPr>
        <p:spPr>
          <a:xfrm>
            <a:off x="457200" y="9692640"/>
            <a:ext cx="22860000" cy="3977640"/>
          </a:xfrm>
          <a:prstGeom prst="rect">
            <a:avLst/>
          </a:prstGeom>
          <a:solidFill>
            <a:srgbClr val="F5E1C9"/>
          </a:solidFill>
          <a:ln w="1828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o65: SoC 硬件 · 执行、存储与传输"/>
          <p:cNvSpPr txBox="1"/>
          <p:nvPr/>
        </p:nvSpPr>
        <p:spPr>
          <a:xfrm>
            <a:off x="9978476" y="9789566"/>
            <a:ext cx="3817449" cy="4389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硬件 · 执行、存储与传输</a:t>
            </a:r>
          </a:p>
        </p:txBody>
      </p:sp>
      <p:sp>
        <p:nvSpPr>
          <p:cNvPr id="66" name="cva6"/>
          <p:cNvSpPr/>
          <p:nvPr/>
        </p:nvSpPr>
        <p:spPr>
          <a:xfrm>
            <a:off x="868680" y="10424160"/>
            <a:ext cx="5303520" cy="914400"/>
          </a:xfrm>
          <a:prstGeom prst="rect">
            <a:avLst/>
          </a:prstGeom>
          <a:solidFill>
            <a:srgbClr val="D8E8F4"/>
          </a:solidFill>
          <a:ln w="1828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o67: CVA6"/>
          <p:cNvSpPr txBox="1"/>
          <p:nvPr/>
        </p:nvSpPr>
        <p:spPr>
          <a:xfrm>
            <a:off x="3077870" y="10529682"/>
            <a:ext cx="885139" cy="4242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</a:t>
            </a:r>
          </a:p>
        </p:txBody>
      </p:sp>
      <p:sp>
        <p:nvSpPr>
          <p:cNvPr id="68" name="o68: 取指 / 执行 / 访存"/>
          <p:cNvSpPr txBox="1"/>
          <p:nvPr/>
        </p:nvSpPr>
        <p:spPr>
          <a:xfrm>
            <a:off x="2506742" y="10889955"/>
            <a:ext cx="2027396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取指 / 执行 / 访存</a:t>
            </a:r>
          </a:p>
        </p:txBody>
      </p:sp>
      <p:sp>
        <p:nvSpPr>
          <p:cNvPr id="69" name="ara"/>
          <p:cNvSpPr/>
          <p:nvPr/>
        </p:nvSpPr>
        <p:spPr>
          <a:xfrm>
            <a:off x="6537960" y="10424160"/>
            <a:ext cx="5303520" cy="914400"/>
          </a:xfrm>
          <a:prstGeom prst="rect">
            <a:avLst/>
          </a:prstGeom>
          <a:solidFill>
            <a:srgbClr val="D8E8F4"/>
          </a:solidFill>
          <a:ln w="1828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o70: Ara"/>
          <p:cNvSpPr txBox="1"/>
          <p:nvPr/>
        </p:nvSpPr>
        <p:spPr>
          <a:xfrm>
            <a:off x="8869123" y="10529682"/>
            <a:ext cx="641194" cy="4242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</a:t>
            </a:r>
          </a:p>
        </p:txBody>
      </p:sp>
      <p:sp>
        <p:nvSpPr>
          <p:cNvPr id="71" name="o71: RVV / 向量访存"/>
          <p:cNvSpPr txBox="1"/>
          <p:nvPr/>
        </p:nvSpPr>
        <p:spPr>
          <a:xfrm>
            <a:off x="8327541" y="10889955"/>
            <a:ext cx="1724358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RVV / 向量访存</a:t>
            </a:r>
          </a:p>
        </p:txBody>
      </p:sp>
      <p:sp>
        <p:nvSpPr>
          <p:cNvPr id="72" name="dma"/>
          <p:cNvSpPr/>
          <p:nvPr/>
        </p:nvSpPr>
        <p:spPr>
          <a:xfrm>
            <a:off x="12207240" y="10424160"/>
            <a:ext cx="5303520" cy="914400"/>
          </a:xfrm>
          <a:prstGeom prst="rect">
            <a:avLst/>
          </a:prstGeom>
          <a:solidFill>
            <a:srgbClr val="D8E8F4"/>
          </a:solidFill>
          <a:ln w="1828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o73: iDMA"/>
          <p:cNvSpPr txBox="1"/>
          <p:nvPr/>
        </p:nvSpPr>
        <p:spPr>
          <a:xfrm>
            <a:off x="14424460" y="10529682"/>
            <a:ext cx="869080" cy="4242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</a:p>
        </p:txBody>
      </p:sp>
      <p:sp>
        <p:nvSpPr>
          <p:cNvPr id="74" name="o74: 硬件数据搬运"/>
          <p:cNvSpPr txBox="1"/>
          <p:nvPr/>
        </p:nvSpPr>
        <p:spPr>
          <a:xfrm>
            <a:off x="14090904" y="10889955"/>
            <a:ext cx="1536192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硬件数据搬运</a:t>
            </a:r>
          </a:p>
        </p:txBody>
      </p:sp>
      <p:sp>
        <p:nvSpPr>
          <p:cNvPr id="75" name="future-ip"/>
          <p:cNvSpPr/>
          <p:nvPr/>
        </p:nvSpPr>
        <p:spPr>
          <a:xfrm>
            <a:off x="17876520" y="10424160"/>
            <a:ext cx="5303520" cy="914400"/>
          </a:xfrm>
          <a:prstGeom prst="rect">
            <a:avLst/>
          </a:prstGeom>
          <a:solidFill>
            <a:srgbClr val="D9EEE8"/>
          </a:solidFill>
          <a:ln w="18288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o76: NPU / ISP / 图像接入"/>
          <p:cNvSpPr txBox="1"/>
          <p:nvPr/>
        </p:nvSpPr>
        <p:spPr>
          <a:xfrm>
            <a:off x="19131448" y="10529682"/>
            <a:ext cx="2793663" cy="4242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ISP / 图像接入</a:t>
            </a:r>
          </a:p>
        </p:txBody>
      </p:sp>
      <p:sp>
        <p:nvSpPr>
          <p:cNvPr id="77" name="o77: 自定义 IP 与接口〔规划〕"/>
          <p:cNvSpPr txBox="1"/>
          <p:nvPr/>
        </p:nvSpPr>
        <p:spPr>
          <a:xfrm>
            <a:off x="19165574" y="10889955"/>
            <a:ext cx="2725412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自定义 IP 与接口〔规划〕</a:t>
            </a:r>
          </a:p>
        </p:txBody>
      </p:sp>
      <p:cxnSp>
        <p:nvCxnSpPr>
          <p:cNvPr id="78" name="core-ara"/>
          <p:cNvCxnSpPr/>
          <p:nvPr/>
        </p:nvCxnSpPr>
        <p:spPr>
          <a:xfrm>
            <a:off x="6172200" y="10881360"/>
            <a:ext cx="365760" cy="0"/>
          </a:xfrm>
          <a:prstGeom prst="line">
            <a:avLst/>
          </a:prstGeom>
          <a:ln w="27432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9" name="axi"/>
          <p:cNvSpPr/>
          <p:nvPr/>
        </p:nvSpPr>
        <p:spPr>
          <a:xfrm>
            <a:off x="914400" y="11795760"/>
            <a:ext cx="21671280" cy="594360"/>
          </a:xfrm>
          <a:prstGeom prst="rect">
            <a:avLst/>
          </a:prstGeom>
          <a:solidFill>
            <a:srgbClr val="F5E1C9"/>
          </a:solidFill>
          <a:ln w="1828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o80: AXI 互连与适配 · 地址路由 · 主设备共享访问"/>
          <p:cNvSpPr txBox="1"/>
          <p:nvPr/>
        </p:nvSpPr>
        <p:spPr>
          <a:xfrm>
            <a:off x="8960763" y="11889943"/>
            <a:ext cx="5578554" cy="4389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互连与适配 · 地址路由 · 主设备共享访问</a:t>
            </a:r>
          </a:p>
        </p:txBody>
      </p:sp>
      <p:cxnSp>
        <p:nvCxnSpPr>
          <p:cNvPr id="81" name="hw-axi0"/>
          <p:cNvCxnSpPr/>
          <p:nvPr/>
        </p:nvCxnSpPr>
        <p:spPr>
          <a:xfrm>
            <a:off x="3520440" y="11338560"/>
            <a:ext cx="0" cy="457200"/>
          </a:xfrm>
          <a:prstGeom prst="line">
            <a:avLst/>
          </a:prstGeom>
          <a:ln w="27432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2" name="hw-axi1"/>
          <p:cNvCxnSpPr/>
          <p:nvPr/>
        </p:nvCxnSpPr>
        <p:spPr>
          <a:xfrm>
            <a:off x="9189720" y="11338560"/>
            <a:ext cx="0" cy="457200"/>
          </a:xfrm>
          <a:prstGeom prst="line">
            <a:avLst/>
          </a:prstGeom>
          <a:ln w="27432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3" name="hw-axi2"/>
          <p:cNvCxnSpPr/>
          <p:nvPr/>
        </p:nvCxnSpPr>
        <p:spPr>
          <a:xfrm>
            <a:off x="14859000" y="11338560"/>
            <a:ext cx="0" cy="457200"/>
          </a:xfrm>
          <a:prstGeom prst="line">
            <a:avLst/>
          </a:prstGeom>
          <a:ln w="27432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4" name="hw-axi3"/>
          <p:cNvCxnSpPr/>
          <p:nvPr/>
        </p:nvCxnSpPr>
        <p:spPr>
          <a:xfrm>
            <a:off x="20528280" y="11338560"/>
            <a:ext cx="0" cy="457200"/>
          </a:xfrm>
          <a:prstGeom prst="line">
            <a:avLst/>
          </a:prstGeom>
          <a:ln w="27432" cap="flat">
            <a:solidFill>
              <a:srgbClr val="314D66"/>
            </a:solidFill>
            <a:custDash>
              <a:ds d="300000" sp="200000"/>
            </a:custDash>
            <a:tailEnd type="triangle" w="med" len="med"/>
          </a:ln>
          <a:effectLst/>
        </p:spPr>
      </p:cxnSp>
      <p:sp>
        <p:nvSpPr>
          <p:cNvPr id="85" name="memory"/>
          <p:cNvSpPr/>
          <p:nvPr/>
        </p:nvSpPr>
        <p:spPr>
          <a:xfrm>
            <a:off x="914400" y="12801600"/>
            <a:ext cx="10332720" cy="594360"/>
          </a:xfrm>
          <a:prstGeom prst="rect">
            <a:avLst/>
          </a:prstGeom>
          <a:solidFill>
            <a:srgbClr val="D8E8F4"/>
          </a:solidFill>
          <a:ln w="1828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o86: 原子适配 → LLC / SPM → 主存出口"/>
          <p:cNvSpPr txBox="1"/>
          <p:nvPr/>
        </p:nvSpPr>
        <p:spPr>
          <a:xfrm>
            <a:off x="3912710" y="12909316"/>
            <a:ext cx="4336099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LLC / SPM → 主存出口</a:t>
            </a:r>
          </a:p>
        </p:txBody>
      </p:sp>
      <p:sp>
        <p:nvSpPr>
          <p:cNvPr id="87" name="peripherals"/>
          <p:cNvSpPr/>
          <p:nvPr/>
        </p:nvSpPr>
        <p:spPr>
          <a:xfrm>
            <a:off x="11795760" y="12801600"/>
            <a:ext cx="10789920" cy="594360"/>
          </a:xfrm>
          <a:prstGeom prst="rect">
            <a:avLst/>
          </a:prstGeom>
          <a:solidFill>
            <a:srgbClr val="E8DFED"/>
          </a:solidFill>
          <a:ln w="1828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o88: Regbus → UART / SPI / I²C / GPIO / 中断 / "/>
          <p:cNvSpPr txBox="1"/>
          <p:nvPr/>
        </p:nvSpPr>
        <p:spPr>
          <a:xfrm>
            <a:off x="14241673" y="12929616"/>
            <a:ext cx="5898094" cy="3657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→ UART / SPI / I²C / GPIO / 中断 / 定时 / ROM</a:t>
            </a:r>
          </a:p>
        </p:txBody>
      </p:sp>
      <p:cxnSp>
        <p:nvCxnSpPr>
          <p:cNvPr id="89" name="axi-memory"/>
          <p:cNvCxnSpPr/>
          <p:nvPr/>
        </p:nvCxnSpPr>
        <p:spPr>
          <a:xfrm>
            <a:off x="6080760" y="12390120"/>
            <a:ext cx="0" cy="411480"/>
          </a:xfrm>
          <a:prstGeom prst="line">
            <a:avLst/>
          </a:prstGeom>
          <a:ln w="27432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90" name="axi-reg"/>
          <p:cNvCxnSpPr/>
          <p:nvPr/>
        </p:nvCxnSpPr>
        <p:spPr>
          <a:xfrm>
            <a:off x="17190720" y="12390120"/>
            <a:ext cx="0" cy="411480"/>
          </a:xfrm>
          <a:prstGeom prst="line">
            <a:avLst/>
          </a:prstGeom>
          <a:ln w="27432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" name="offchip"/>
          <p:cNvSpPr/>
          <p:nvPr/>
        </p:nvSpPr>
        <p:spPr>
          <a:xfrm>
            <a:off x="457200" y="14036040"/>
            <a:ext cx="22860000" cy="1554480"/>
          </a:xfrm>
          <a:prstGeom prst="rect">
            <a:avLst/>
          </a:prstGeom>
          <a:solidFill>
            <a:srgbClr val="FFFFFF"/>
          </a:solidFill>
          <a:ln w="1828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o92: 片外器件 · 经对应控制器连接"/>
          <p:cNvSpPr txBox="1"/>
          <p:nvPr/>
        </p:nvSpPr>
        <p:spPr>
          <a:xfrm>
            <a:off x="9989063" y="14132966"/>
            <a:ext cx="3796274" cy="4389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 · 经对应控制器连接</a:t>
            </a:r>
          </a:p>
        </p:txBody>
      </p:sp>
      <p:sp>
        <p:nvSpPr>
          <p:cNvPr id="93" name="dram"/>
          <p:cNvSpPr/>
          <p:nvPr/>
        </p:nvSpPr>
        <p:spPr>
          <a:xfrm>
            <a:off x="914400" y="14630400"/>
            <a:ext cx="6766560" cy="731520"/>
          </a:xfrm>
          <a:prstGeom prst="rect">
            <a:avLst/>
          </a:prstGeom>
          <a:solidFill>
            <a:srgbClr val="D8E8F4"/>
          </a:solidFill>
          <a:ln w="1828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o94: DDR 存储器"/>
          <p:cNvSpPr txBox="1"/>
          <p:nvPr/>
        </p:nvSpPr>
        <p:spPr>
          <a:xfrm>
            <a:off x="3527712" y="14658015"/>
            <a:ext cx="1539935" cy="3950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存储器</a:t>
            </a:r>
          </a:p>
        </p:txBody>
      </p:sp>
      <p:sp>
        <p:nvSpPr>
          <p:cNvPr id="95" name="o95: DDR Controller / PHY"/>
          <p:cNvSpPr txBox="1"/>
          <p:nvPr/>
        </p:nvSpPr>
        <p:spPr>
          <a:xfrm>
            <a:off x="3209651" y="15008413"/>
            <a:ext cx="2176058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DDR Controller / PHY</a:t>
            </a:r>
          </a:p>
        </p:txBody>
      </p:sp>
      <p:sp>
        <p:nvSpPr>
          <p:cNvPr id="96" name="media"/>
          <p:cNvSpPr/>
          <p:nvPr/>
        </p:nvSpPr>
        <p:spPr>
          <a:xfrm>
            <a:off x="8138160" y="14630400"/>
            <a:ext cx="7498080" cy="731520"/>
          </a:xfrm>
          <a:prstGeom prst="rect">
            <a:avLst/>
          </a:prstGeom>
          <a:solidFill>
            <a:srgbClr val="D8E8F4"/>
          </a:solidFill>
          <a:ln w="1828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o97: Flash / SD / EEPROM"/>
          <p:cNvSpPr txBox="1"/>
          <p:nvPr/>
        </p:nvSpPr>
        <p:spPr>
          <a:xfrm>
            <a:off x="10577515" y="14658015"/>
            <a:ext cx="2619370" cy="3950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 / EEPROM</a:t>
            </a:r>
          </a:p>
        </p:txBody>
      </p:sp>
      <p:sp>
        <p:nvSpPr>
          <p:cNvPr id="98" name="o98: SPI / I²C 控制器"/>
          <p:cNvSpPr txBox="1"/>
          <p:nvPr/>
        </p:nvSpPr>
        <p:spPr>
          <a:xfrm>
            <a:off x="11035879" y="15008413"/>
            <a:ext cx="1702641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SPI / I²C 控制器</a:t>
            </a:r>
          </a:p>
        </p:txBody>
      </p:sp>
      <p:sp>
        <p:nvSpPr>
          <p:cNvPr id="99" name="sensor"/>
          <p:cNvSpPr/>
          <p:nvPr/>
        </p:nvSpPr>
        <p:spPr>
          <a:xfrm>
            <a:off x="16093440" y="14630400"/>
            <a:ext cx="6492240" cy="731520"/>
          </a:xfrm>
          <a:prstGeom prst="rect">
            <a:avLst/>
          </a:prstGeom>
          <a:solidFill>
            <a:srgbClr val="F5E1C9"/>
          </a:solidFill>
          <a:ln w="18288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o100: 图像传感器〔规划〕"/>
          <p:cNvSpPr txBox="1"/>
          <p:nvPr/>
        </p:nvSpPr>
        <p:spPr>
          <a:xfrm>
            <a:off x="18105120" y="14658015"/>
            <a:ext cx="2468880" cy="3950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图像传感器〔规划〕</a:t>
            </a:r>
          </a:p>
        </p:txBody>
      </p:sp>
      <p:sp>
        <p:nvSpPr>
          <p:cNvPr id="101" name="o101: LVDS 输入"/>
          <p:cNvSpPr txBox="1"/>
          <p:nvPr/>
        </p:nvSpPr>
        <p:spPr>
          <a:xfrm>
            <a:off x="18746722" y="15008413"/>
            <a:ext cx="1185677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LVDS 输入</a:t>
            </a:r>
          </a:p>
        </p:txBody>
      </p:sp>
      <p:cxnSp>
        <p:nvCxnSpPr>
          <p:cNvPr id="102" name="memory-ddr"/>
          <p:cNvCxnSpPr/>
          <p:nvPr/>
        </p:nvCxnSpPr>
        <p:spPr>
          <a:xfrm>
            <a:off x="4297680" y="13395960"/>
            <a:ext cx="0" cy="1234440"/>
          </a:xfrm>
          <a:prstGeom prst="line">
            <a:avLst/>
          </a:prstGeom>
          <a:ln w="27432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3" name="reg-media"/>
          <p:cNvSpPr/>
          <p:nvPr/>
        </p:nvSpPr>
        <p:spPr>
          <a:xfrm>
            <a:off x="13807440" y="13395960"/>
            <a:ext cx="1188720" cy="1234440"/>
          </a:xfrm>
          <a:custGeom>
            <a:avLst/>
            <a:gdLst/>
            <a:ahLst/>
            <a:cxnLst/>
            <a:rect l="0" t="0" r="r" b="b"/>
            <a:pathLst>
              <a:path w="1188720" h="1234440" fill="none">
                <a:moveTo>
                  <a:pt x="0" y="0"/>
                </a:moveTo>
                <a:lnTo>
                  <a:pt x="0" y="457200"/>
                </a:lnTo>
                <a:lnTo>
                  <a:pt x="1188720" y="457200"/>
                </a:lnTo>
                <a:lnTo>
                  <a:pt x="1188720" y="1234440"/>
                </a:lnTo>
              </a:path>
            </a:pathLst>
          </a:custGeom>
          <a:noFill/>
          <a:ln w="2743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sensor-input"/>
          <p:cNvSpPr/>
          <p:nvPr/>
        </p:nvSpPr>
        <p:spPr>
          <a:xfrm>
            <a:off x="22585680" y="10881360"/>
            <a:ext cx="914400" cy="4114800"/>
          </a:xfrm>
          <a:custGeom>
            <a:avLst/>
            <a:gdLst/>
            <a:ahLst/>
            <a:cxnLst/>
            <a:rect l="0" t="0" r="r" b="b"/>
            <a:pathLst>
              <a:path w="914400" h="4114800" fill="none">
                <a:moveTo>
                  <a:pt x="0" y="4114800"/>
                </a:moveTo>
                <a:lnTo>
                  <a:pt x="914400" y="4114800"/>
                </a:lnTo>
                <a:lnTo>
                  <a:pt x="914400" y="0"/>
                </a:lnTo>
                <a:lnTo>
                  <a:pt x="594360" y="0"/>
                </a:lnTo>
              </a:path>
            </a:pathLst>
          </a:custGeom>
          <a:noFill/>
          <a:ln w="27432" cap="flat">
            <a:solidFill>
              <a:srgbClr val="B96043"/>
            </a:solidFill>
            <a:custDash>
              <a:ds d="30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build"/>
          <p:cNvSpPr/>
          <p:nvPr/>
        </p:nvSpPr>
        <p:spPr>
          <a:xfrm>
            <a:off x="23957280" y="1783080"/>
            <a:ext cx="4846320" cy="2606040"/>
          </a:xfrm>
          <a:prstGeom prst="rect">
            <a:avLst/>
          </a:prstGeom>
          <a:solidFill>
            <a:srgbClr val="D8E8F4"/>
          </a:solidFill>
          <a:ln w="1828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o106: 开发主机：构建支持"/>
          <p:cNvSpPr txBox="1"/>
          <p:nvPr/>
        </p:nvSpPr>
        <p:spPr>
          <a:xfrm>
            <a:off x="25054560" y="2423526"/>
            <a:ext cx="2651760" cy="4242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开发主机：构建支持</a:t>
            </a:r>
          </a:p>
        </p:txBody>
      </p:sp>
      <p:sp>
        <p:nvSpPr>
          <p:cNvPr id="107" name="o107: 编译器 / 汇编器 / 链接器"/>
          <p:cNvSpPr txBox="1"/>
          <p:nvPr/>
        </p:nvSpPr>
        <p:spPr>
          <a:xfrm>
            <a:off x="25037558" y="2783799"/>
            <a:ext cx="2685764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编译器 / 汇编器 / 链接器</a:t>
            </a:r>
          </a:p>
        </p:txBody>
      </p:sp>
      <p:sp>
        <p:nvSpPr>
          <p:cNvPr id="108" name="o108: Makefile / 链接脚本 / 库归档"/>
          <p:cNvSpPr txBox="1"/>
          <p:nvPr/>
        </p:nvSpPr>
        <p:spPr>
          <a:xfrm>
            <a:off x="24849392" y="3094695"/>
            <a:ext cx="3062097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Makefile / 链接脚本 / 库归档</a:t>
            </a:r>
          </a:p>
        </p:txBody>
      </p:sp>
      <p:sp>
        <p:nvSpPr>
          <p:cNvPr id="109" name="o109: 生成 ELF 与代码数据布局"/>
          <p:cNvSpPr txBox="1"/>
          <p:nvPr/>
        </p:nvSpPr>
        <p:spPr>
          <a:xfrm>
            <a:off x="25048488" y="3405591"/>
            <a:ext cx="2663904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生成 ELF 与代码数据布局</a:t>
            </a:r>
          </a:p>
        </p:txBody>
      </p:sp>
      <p:sp>
        <p:nvSpPr>
          <p:cNvPr id="110" name="runtime"/>
          <p:cNvSpPr/>
          <p:nvPr/>
        </p:nvSpPr>
        <p:spPr>
          <a:xfrm>
            <a:off x="23957280" y="4892040"/>
            <a:ext cx="4846320" cy="2606040"/>
          </a:xfrm>
          <a:prstGeom prst="rect">
            <a:avLst/>
          </a:prstGeom>
          <a:solidFill>
            <a:srgbClr val="E8DFED"/>
          </a:solidFill>
          <a:ln w="1828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o111: 启动与运行支持"/>
          <p:cNvSpPr txBox="1"/>
          <p:nvPr/>
        </p:nvSpPr>
        <p:spPr>
          <a:xfrm>
            <a:off x="25319736" y="5532486"/>
            <a:ext cx="2121408" cy="4242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启动与运行支持</a:t>
            </a:r>
          </a:p>
        </p:txBody>
      </p:sp>
      <p:sp>
        <p:nvSpPr>
          <p:cNvPr id="112" name="o112: Boot ROM / 载荷加载"/>
          <p:cNvSpPr txBox="1"/>
          <p:nvPr/>
        </p:nvSpPr>
        <p:spPr>
          <a:xfrm>
            <a:off x="25224653" y="5892759"/>
            <a:ext cx="2311575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Boot ROM / 载荷加载</a:t>
            </a:r>
          </a:p>
        </p:txBody>
      </p:sp>
      <p:sp>
        <p:nvSpPr>
          <p:cNvPr id="113" name="o113: crt0：栈 / BSS / 异常入口"/>
          <p:cNvSpPr txBox="1"/>
          <p:nvPr/>
        </p:nvSpPr>
        <p:spPr>
          <a:xfrm>
            <a:off x="24974443" y="6203655"/>
            <a:ext cx="2811994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crt0：栈 / BSS / 异常入口</a:t>
            </a:r>
          </a:p>
        </p:txBody>
      </p:sp>
      <p:sp>
        <p:nvSpPr>
          <p:cNvPr id="114" name="o114: 进入 main；异常处理与返回"/>
          <p:cNvSpPr txBox="1"/>
          <p:nvPr/>
        </p:nvSpPr>
        <p:spPr>
          <a:xfrm>
            <a:off x="24906077" y="6514551"/>
            <a:ext cx="2948726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进入 main；异常处理与返回</a:t>
            </a:r>
          </a:p>
        </p:txBody>
      </p:sp>
      <p:sp>
        <p:nvSpPr>
          <p:cNvPr id="115" name="os"/>
          <p:cNvSpPr/>
          <p:nvPr/>
        </p:nvSpPr>
        <p:spPr>
          <a:xfrm>
            <a:off x="23957280" y="8001000"/>
            <a:ext cx="4846320" cy="2606040"/>
          </a:xfrm>
          <a:prstGeom prst="rect">
            <a:avLst/>
          </a:prstGeom>
          <a:solidFill>
            <a:srgbClr val="D9EEE8"/>
          </a:solidFill>
          <a:ln w="18288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o116: 可选操作系统"/>
          <p:cNvSpPr txBox="1"/>
          <p:nvPr/>
        </p:nvSpPr>
        <p:spPr>
          <a:xfrm>
            <a:off x="25452324" y="8641446"/>
            <a:ext cx="1856232" cy="4242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可选操作系统</a:t>
            </a:r>
          </a:p>
        </p:txBody>
      </p:sp>
      <p:sp>
        <p:nvSpPr>
          <p:cNvPr id="117" name="o117: RTOS：任务 / 调度 / 同步"/>
          <p:cNvSpPr txBox="1"/>
          <p:nvPr/>
        </p:nvSpPr>
        <p:spPr>
          <a:xfrm>
            <a:off x="24993945" y="9001719"/>
            <a:ext cx="2772989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RTOS：任务 / 调度 / 同步</a:t>
            </a:r>
          </a:p>
        </p:txBody>
      </p:sp>
      <p:sp>
        <p:nvSpPr>
          <p:cNvPr id="118" name="o118: Linux：用户态 / 内核 / 驱动"/>
          <p:cNvSpPr txBox="1"/>
          <p:nvPr/>
        </p:nvSpPr>
        <p:spPr>
          <a:xfrm>
            <a:off x="24899648" y="9312615"/>
            <a:ext cx="2961584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Linux：用户态 / 内核 / 驱动</a:t>
            </a:r>
          </a:p>
        </p:txBody>
      </p:sp>
      <p:sp>
        <p:nvSpPr>
          <p:cNvPr id="119" name="o119: 按各自环境建立设备访问路径"/>
          <p:cNvSpPr txBox="1"/>
          <p:nvPr/>
        </p:nvSpPr>
        <p:spPr>
          <a:xfrm>
            <a:off x="24844248" y="9623511"/>
            <a:ext cx="3072384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按各自环境建立设备访问路径</a:t>
            </a:r>
          </a:p>
        </p:txBody>
      </p:sp>
      <p:sp>
        <p:nvSpPr>
          <p:cNvPr id="120" name="platform"/>
          <p:cNvSpPr/>
          <p:nvPr/>
        </p:nvSpPr>
        <p:spPr>
          <a:xfrm>
            <a:off x="23957280" y="11109960"/>
            <a:ext cx="4846320" cy="2606040"/>
          </a:xfrm>
          <a:prstGeom prst="rect">
            <a:avLst/>
          </a:prstGeom>
          <a:solidFill>
            <a:srgbClr val="F5E1C9"/>
          </a:solidFill>
          <a:ln w="1828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o121: 硬件实现与适配"/>
          <p:cNvSpPr txBox="1"/>
          <p:nvPr/>
        </p:nvSpPr>
        <p:spPr>
          <a:xfrm>
            <a:off x="25319736" y="11750406"/>
            <a:ext cx="2121408" cy="4242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硬件实现与适配</a:t>
            </a:r>
          </a:p>
        </p:txBody>
      </p:sp>
      <p:sp>
        <p:nvSpPr>
          <p:cNvPr id="122" name="o122: FPGA：现有 VCU118 工程"/>
          <p:cNvSpPr txBox="1"/>
          <p:nvPr/>
        </p:nvSpPr>
        <p:spPr>
          <a:xfrm>
            <a:off x="25011626" y="12110679"/>
            <a:ext cx="2737628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FPGA：现有 VCU118 工程</a:t>
            </a:r>
          </a:p>
        </p:txBody>
      </p:sp>
      <p:sp>
        <p:nvSpPr>
          <p:cNvPr id="123" name="o123: ASIC：宏 / 时钟 / PAD 适配"/>
          <p:cNvSpPr txBox="1"/>
          <p:nvPr/>
        </p:nvSpPr>
        <p:spPr>
          <a:xfrm>
            <a:off x="24912935" y="12421575"/>
            <a:ext cx="2935010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ASIC：宏 / 时钟 / PAD 适配</a:t>
            </a:r>
          </a:p>
        </p:txBody>
      </p:sp>
      <p:sp>
        <p:nvSpPr>
          <p:cNvPr id="124" name="o124: ASIC 实现与验证仍待完成"/>
          <p:cNvSpPr txBox="1"/>
          <p:nvPr/>
        </p:nvSpPr>
        <p:spPr>
          <a:xfrm>
            <a:off x="25024485" y="12732471"/>
            <a:ext cx="2711910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ASIC 实现与验证仍待完成</a:t>
            </a:r>
          </a:p>
        </p:txBody>
      </p:sp>
      <p:sp>
        <p:nvSpPr>
          <p:cNvPr id="125" name="o125: LLC / AXI RT 等专用库"/>
          <p:cNvSpPr txBox="1"/>
          <p:nvPr/>
        </p:nvSpPr>
        <p:spPr>
          <a:xfrm>
            <a:off x="25144235" y="14200632"/>
            <a:ext cx="2472409" cy="3657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LLC / AXI RT 等专用库</a:t>
            </a:r>
          </a:p>
        </p:txBody>
      </p:sp>
      <p:sp>
        <p:nvSpPr>
          <p:cNvPr id="126" name="o126: libcheshire.a 跨多个职责归档"/>
          <p:cNvSpPr txBox="1"/>
          <p:nvPr/>
        </p:nvSpPr>
        <p:spPr>
          <a:xfrm>
            <a:off x="24921908" y="14586143"/>
            <a:ext cx="2917065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libcheshire.a 跨多个职责归档</a:t>
            </a:r>
          </a:p>
        </p:txBody>
      </p:sp>
      <p:sp>
        <p:nvSpPr>
          <p:cNvPr id="127" name="o127: 虚线：规划扩展"/>
          <p:cNvSpPr txBox="1"/>
          <p:nvPr/>
        </p:nvSpPr>
        <p:spPr>
          <a:xfrm>
            <a:off x="25502616" y="15216348"/>
            <a:ext cx="1755648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虚线：规划扩展</a:t>
            </a:r>
          </a:p>
        </p:txBody>
      </p:sp>
      <p:cxnSp>
        <p:nvCxnSpPr>
          <p:cNvPr id="128" name="legend0"/>
          <p:cNvCxnSpPr/>
          <p:nvPr/>
        </p:nvCxnSpPr>
        <p:spPr>
          <a:xfrm>
            <a:off x="502920" y="16047720"/>
            <a:ext cx="594360" cy="0"/>
          </a:xfrm>
          <a:prstGeom prst="line">
            <a:avLst/>
          </a:prstGeom>
          <a:ln w="2286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29" name="o129: 硬件访问"/>
          <p:cNvSpPr txBox="1"/>
          <p:nvPr/>
        </p:nvSpPr>
        <p:spPr>
          <a:xfrm>
            <a:off x="1234440" y="15903611"/>
            <a:ext cx="1005840" cy="3218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硬件访问</a:t>
            </a:r>
          </a:p>
        </p:txBody>
      </p:sp>
      <p:cxnSp>
        <p:nvCxnSpPr>
          <p:cNvPr id="130" name="legend1"/>
          <p:cNvCxnSpPr/>
          <p:nvPr/>
        </p:nvCxnSpPr>
        <p:spPr>
          <a:xfrm>
            <a:off x="5349240" y="16047720"/>
            <a:ext cx="594360" cy="0"/>
          </a:xfrm>
          <a:prstGeom prst="line">
            <a:avLst/>
          </a:prstGeom>
          <a:ln w="22860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31" name="o131: 代表性调用 / 专用接口"/>
          <p:cNvSpPr txBox="1"/>
          <p:nvPr/>
        </p:nvSpPr>
        <p:spPr>
          <a:xfrm>
            <a:off x="6080760" y="15903611"/>
            <a:ext cx="2236808" cy="3218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代表性调用 / 专用接口</a:t>
            </a:r>
          </a:p>
        </p:txBody>
      </p:sp>
      <p:cxnSp>
        <p:nvCxnSpPr>
          <p:cNvPr id="132" name="legend2"/>
          <p:cNvCxnSpPr/>
          <p:nvPr/>
        </p:nvCxnSpPr>
        <p:spPr>
          <a:xfrm>
            <a:off x="10195560" y="16047720"/>
            <a:ext cx="594360" cy="0"/>
          </a:xfrm>
          <a:prstGeom prst="line">
            <a:avLst/>
          </a:prstGeom>
          <a:ln w="22860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33" name="o133: 规划中的图像输入"/>
          <p:cNvSpPr txBox="1"/>
          <p:nvPr/>
        </p:nvSpPr>
        <p:spPr>
          <a:xfrm>
            <a:off x="10927080" y="15903611"/>
            <a:ext cx="1810512" cy="3218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规划中的图像输入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