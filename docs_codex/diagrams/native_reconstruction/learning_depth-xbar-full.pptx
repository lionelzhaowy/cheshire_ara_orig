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275840" y="12446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098040" y="18135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2098040" y="24251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2098040" y="30368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2098040" y="36484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2098040" y="42600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2098040" y="48717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2098040" y="54833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 fill="none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0"/>
          <p:cNvSpPr/>
          <p:nvPr/>
        </p:nvSpPr>
        <p:spPr>
          <a:xfrm>
            <a:off x="7752080" y="18953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2"/>
          <p:cNvSpPr/>
          <p:nvPr/>
        </p:nvSpPr>
        <p:spPr>
          <a:xfrm>
            <a:off x="7752080" y="27985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24"/>
          <p:cNvSpPr/>
          <p:nvPr/>
        </p:nvSpPr>
        <p:spPr>
          <a:xfrm>
            <a:off x="7752080" y="37017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26"/>
          <p:cNvSpPr/>
          <p:nvPr/>
        </p:nvSpPr>
        <p:spPr>
          <a:xfrm>
            <a:off x="7752080" y="46050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28"/>
          <p:cNvSpPr/>
          <p:nvPr/>
        </p:nvSpPr>
        <p:spPr>
          <a:xfrm>
            <a:off x="7752080" y="55082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 fill="none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30"/>
          <p:cNvSpPr/>
          <p:nvPr/>
        </p:nvSpPr>
        <p:spPr>
          <a:xfrm>
            <a:off x="4124960" y="18135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 fill="none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31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th-032"/>
          <p:cNvSpPr/>
          <p:nvPr/>
        </p:nvSpPr>
        <p:spPr>
          <a:xfrm>
            <a:off x="4124960" y="18135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 fill="none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th-033"/>
          <p:cNvSpPr/>
          <p:nvPr/>
        </p:nvSpPr>
        <p:spPr>
          <a:xfrm>
            <a:off x="4124960" y="18135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 fill="none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34"/>
          <p:cNvSpPr/>
          <p:nvPr/>
        </p:nvSpPr>
        <p:spPr>
          <a:xfrm>
            <a:off x="4124960" y="18135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 fill="none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ath-035"/>
          <p:cNvSpPr/>
          <p:nvPr/>
        </p:nvSpPr>
        <p:spPr>
          <a:xfrm>
            <a:off x="4124960" y="18917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 fill="none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ath-036"/>
          <p:cNvSpPr/>
          <p:nvPr/>
        </p:nvSpPr>
        <p:spPr>
          <a:xfrm>
            <a:off x="4124960" y="24251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 fill="none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ath-037"/>
          <p:cNvSpPr/>
          <p:nvPr/>
        </p:nvSpPr>
        <p:spPr>
          <a:xfrm>
            <a:off x="4124960" y="24251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 fill="none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ath-038"/>
          <p:cNvSpPr/>
          <p:nvPr/>
        </p:nvSpPr>
        <p:spPr>
          <a:xfrm>
            <a:off x="4124960" y="24251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 fill="none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ath-039"/>
          <p:cNvSpPr/>
          <p:nvPr/>
        </p:nvSpPr>
        <p:spPr>
          <a:xfrm>
            <a:off x="4124960" y="24251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 fill="none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-040"/>
          <p:cNvSpPr/>
          <p:nvPr/>
        </p:nvSpPr>
        <p:spPr>
          <a:xfrm>
            <a:off x="4124960" y="18917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 fill="none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ath-041"/>
          <p:cNvSpPr/>
          <p:nvPr/>
        </p:nvSpPr>
        <p:spPr>
          <a:xfrm>
            <a:off x="4124960" y="27950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 fill="none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ath-042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43"/>
          <p:cNvSpPr/>
          <p:nvPr/>
        </p:nvSpPr>
        <p:spPr>
          <a:xfrm>
            <a:off x="4124960" y="30368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 fill="none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44"/>
          <p:cNvSpPr/>
          <p:nvPr/>
        </p:nvSpPr>
        <p:spPr>
          <a:xfrm>
            <a:off x="4124960" y="30368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 fill="none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45"/>
          <p:cNvSpPr/>
          <p:nvPr/>
        </p:nvSpPr>
        <p:spPr>
          <a:xfrm>
            <a:off x="4124960" y="18917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 fill="none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46"/>
          <p:cNvSpPr/>
          <p:nvPr/>
        </p:nvSpPr>
        <p:spPr>
          <a:xfrm>
            <a:off x="4124960" y="27950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 fill="none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47"/>
          <p:cNvSpPr/>
          <p:nvPr/>
        </p:nvSpPr>
        <p:spPr>
          <a:xfrm>
            <a:off x="4124960" y="36484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 fill="none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48"/>
          <p:cNvSpPr/>
          <p:nvPr/>
        </p:nvSpPr>
        <p:spPr>
          <a:xfrm>
            <a:off x="4124960" y="36484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 fill="none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49"/>
          <p:cNvSpPr/>
          <p:nvPr/>
        </p:nvSpPr>
        <p:spPr>
          <a:xfrm>
            <a:off x="4124960" y="36484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 fill="none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50"/>
          <p:cNvSpPr/>
          <p:nvPr/>
        </p:nvSpPr>
        <p:spPr>
          <a:xfrm>
            <a:off x="4124960" y="18917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 fill="none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51"/>
          <p:cNvSpPr/>
          <p:nvPr/>
        </p:nvSpPr>
        <p:spPr>
          <a:xfrm>
            <a:off x="4124960" y="27950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 fill="none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52"/>
          <p:cNvSpPr/>
          <p:nvPr/>
        </p:nvSpPr>
        <p:spPr>
          <a:xfrm>
            <a:off x="4124960" y="36982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 fill="none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53"/>
          <p:cNvSpPr/>
          <p:nvPr/>
        </p:nvSpPr>
        <p:spPr>
          <a:xfrm>
            <a:off x="4124960" y="42600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 fill="none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54"/>
          <p:cNvSpPr/>
          <p:nvPr/>
        </p:nvSpPr>
        <p:spPr>
          <a:xfrm>
            <a:off x="4124960" y="42600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 fill="none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55"/>
          <p:cNvSpPr/>
          <p:nvPr/>
        </p:nvSpPr>
        <p:spPr>
          <a:xfrm>
            <a:off x="4124960" y="18917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 fill="none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56"/>
          <p:cNvSpPr/>
          <p:nvPr/>
        </p:nvSpPr>
        <p:spPr>
          <a:xfrm>
            <a:off x="4124960" y="27950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 fill="none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57"/>
          <p:cNvSpPr/>
          <p:nvPr/>
        </p:nvSpPr>
        <p:spPr>
          <a:xfrm>
            <a:off x="4124960" y="36982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 fill="none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58"/>
          <p:cNvSpPr/>
          <p:nvPr/>
        </p:nvSpPr>
        <p:spPr>
          <a:xfrm>
            <a:off x="4124960" y="46014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 fill="none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59"/>
          <p:cNvSpPr/>
          <p:nvPr/>
        </p:nvSpPr>
        <p:spPr>
          <a:xfrm>
            <a:off x="4124960" y="48717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 fill="none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th-060"/>
          <p:cNvSpPr/>
          <p:nvPr/>
        </p:nvSpPr>
        <p:spPr>
          <a:xfrm>
            <a:off x="4124960" y="18917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 fill="none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61"/>
          <p:cNvSpPr/>
          <p:nvPr/>
        </p:nvSpPr>
        <p:spPr>
          <a:xfrm>
            <a:off x="4124960" y="27950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 fill="none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th-062"/>
          <p:cNvSpPr/>
          <p:nvPr/>
        </p:nvSpPr>
        <p:spPr>
          <a:xfrm>
            <a:off x="4124960" y="36982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 fill="none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th-063"/>
          <p:cNvSpPr/>
          <p:nvPr/>
        </p:nvSpPr>
        <p:spPr>
          <a:xfrm>
            <a:off x="4124960" y="46014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 fill="none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-064"/>
          <p:cNvSpPr/>
          <p:nvPr/>
        </p:nvSpPr>
        <p:spPr>
          <a:xfrm>
            <a:off x="4124960" y="54833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 fill="none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th-065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 fill="none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th-068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 fill="none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71: AXI Crossbar：7 个发起端、5 个目标与两级译码"/>
          <p:cNvSpPr txBox="1"/>
          <p:nvPr/>
        </p:nvSpPr>
        <p:spPr>
          <a:xfrm>
            <a:off x="483616" y="271109"/>
            <a:ext cx="650321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56" name="text-072: 示例配置：DefaultCfg + Ara=1；单核、无外部扩展端口。灰线为可达"/>
          <p:cNvSpPr txBox="1"/>
          <p:nvPr/>
        </p:nvSpPr>
        <p:spPr>
          <a:xfrm>
            <a:off x="483616" y="676778"/>
            <a:ext cx="80724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57" name="text-073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58" name="text-074: 源码：hw/cheshire_pkg.sv::gen_axi_in / gen_"/>
          <p:cNvSpPr txBox="1"/>
          <p:nvPr/>
        </p:nvSpPr>
        <p:spPr>
          <a:xfrm>
            <a:off x="341376" y="7726477"/>
            <a:ext cx="88473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59" name="text-075: i_axi_xbar：逐输入分流，逐目标独立仲裁"/>
          <p:cNvSpPr txBox="1"/>
          <p:nvPr/>
        </p:nvSpPr>
        <p:spPr>
          <a:xfrm>
            <a:off x="2403856" y="1301496"/>
            <a:ext cx="38227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60" name="text-076: 发起端 / 请求进入 S 端"/>
          <p:cNvSpPr txBox="1"/>
          <p:nvPr/>
        </p:nvSpPr>
        <p:spPr>
          <a:xfrm>
            <a:off x="320040" y="1265936"/>
            <a:ext cx="22936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61" name="text-077: 目标 / 请求离开 M 端"/>
          <p:cNvSpPr txBox="1"/>
          <p:nvPr/>
        </p:nvSpPr>
        <p:spPr>
          <a:xfrm>
            <a:off x="8143240" y="1265936"/>
            <a:ext cx="21158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62" name="rect-078"/>
          <p:cNvSpPr/>
          <p:nvPr/>
        </p:nvSpPr>
        <p:spPr>
          <a:xfrm>
            <a:off x="320040" y="15859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79"/>
          <p:cNvSpPr/>
          <p:nvPr/>
        </p:nvSpPr>
        <p:spPr>
          <a:xfrm>
            <a:off x="320040" y="15859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80: S0 · CVA6 core 0"/>
          <p:cNvSpPr txBox="1"/>
          <p:nvPr/>
        </p:nvSpPr>
        <p:spPr>
          <a:xfrm>
            <a:off x="440944" y="1636898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65" name="text-081: L1 / ID 适配"/>
          <p:cNvSpPr txBox="1"/>
          <p:nvPr/>
        </p:nvSpPr>
        <p:spPr>
          <a:xfrm>
            <a:off x="440944" y="1915973"/>
            <a:ext cx="116636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66" name="rect-082"/>
          <p:cNvSpPr/>
          <p:nvPr/>
        </p:nvSpPr>
        <p:spPr>
          <a:xfrm>
            <a:off x="2453640" y="15930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83"/>
          <p:cNvSpPr/>
          <p:nvPr/>
        </p:nvSpPr>
        <p:spPr>
          <a:xfrm>
            <a:off x="2453640" y="15930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84: DEMUX S0"/>
          <p:cNvSpPr txBox="1"/>
          <p:nvPr/>
        </p:nvSpPr>
        <p:spPr>
          <a:xfrm>
            <a:off x="2574544" y="1620967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69" name="rect-085"/>
          <p:cNvSpPr/>
          <p:nvPr/>
        </p:nvSpPr>
        <p:spPr>
          <a:xfrm>
            <a:off x="320040" y="21976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86"/>
          <p:cNvSpPr/>
          <p:nvPr/>
        </p:nvSpPr>
        <p:spPr>
          <a:xfrm>
            <a:off x="320040" y="21976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87: S1 · Debug / SBA"/>
          <p:cNvSpPr txBox="1"/>
          <p:nvPr/>
        </p:nvSpPr>
        <p:spPr>
          <a:xfrm>
            <a:off x="440944" y="2248530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72" name="text-088: 调试装载发起端"/>
          <p:cNvSpPr txBox="1"/>
          <p:nvPr/>
        </p:nvSpPr>
        <p:spPr>
          <a:xfrm>
            <a:off x="440944" y="2527605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73" name="rect-089"/>
          <p:cNvSpPr/>
          <p:nvPr/>
        </p:nvSpPr>
        <p:spPr>
          <a:xfrm>
            <a:off x="2453640" y="22047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90"/>
          <p:cNvSpPr/>
          <p:nvPr/>
        </p:nvSpPr>
        <p:spPr>
          <a:xfrm>
            <a:off x="2453640" y="22047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91: DEMUX S1"/>
          <p:cNvSpPr txBox="1"/>
          <p:nvPr/>
        </p:nvSpPr>
        <p:spPr>
          <a:xfrm>
            <a:off x="2574544" y="223259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76" name="rect-092"/>
          <p:cNvSpPr/>
          <p:nvPr/>
        </p:nvSpPr>
        <p:spPr>
          <a:xfrm>
            <a:off x="320040" y="28092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93"/>
          <p:cNvSpPr/>
          <p:nvPr/>
        </p:nvSpPr>
        <p:spPr>
          <a:xfrm>
            <a:off x="320040" y="28092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94: S2 · Ara VLSU"/>
          <p:cNvSpPr txBox="1"/>
          <p:nvPr/>
        </p:nvSpPr>
        <p:spPr>
          <a:xfrm>
            <a:off x="440944" y="2837119"/>
            <a:ext cx="17474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79" name="text-095: 失效过滤 / 位宽适配"/>
          <p:cNvSpPr txBox="1"/>
          <p:nvPr/>
        </p:nvSpPr>
        <p:spPr>
          <a:xfrm>
            <a:off x="440944" y="3139237"/>
            <a:ext cx="15575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80" name="rect-096"/>
          <p:cNvSpPr/>
          <p:nvPr/>
        </p:nvSpPr>
        <p:spPr>
          <a:xfrm>
            <a:off x="2453640" y="28163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-097"/>
          <p:cNvSpPr/>
          <p:nvPr/>
        </p:nvSpPr>
        <p:spPr>
          <a:xfrm>
            <a:off x="2453640" y="28163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98: DEMUX S2"/>
          <p:cNvSpPr txBox="1"/>
          <p:nvPr/>
        </p:nvSpPr>
        <p:spPr>
          <a:xfrm>
            <a:off x="2574544" y="2844231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83" name="rect-099"/>
          <p:cNvSpPr/>
          <p:nvPr/>
        </p:nvSpPr>
        <p:spPr>
          <a:xfrm>
            <a:off x="320040" y="34208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100"/>
          <p:cNvSpPr/>
          <p:nvPr/>
        </p:nvSpPr>
        <p:spPr>
          <a:xfrm>
            <a:off x="320040" y="34208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101: S3 · iDMA 数据"/>
          <p:cNvSpPr txBox="1"/>
          <p:nvPr/>
        </p:nvSpPr>
        <p:spPr>
          <a:xfrm>
            <a:off x="440944" y="3448751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86" name="text-102: 主动搬运内存"/>
          <p:cNvSpPr txBox="1"/>
          <p:nvPr/>
        </p:nvSpPr>
        <p:spPr>
          <a:xfrm>
            <a:off x="440944" y="3750869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87" name="rect-103"/>
          <p:cNvSpPr/>
          <p:nvPr/>
        </p:nvSpPr>
        <p:spPr>
          <a:xfrm>
            <a:off x="2453640" y="34279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104"/>
          <p:cNvSpPr/>
          <p:nvPr/>
        </p:nvSpPr>
        <p:spPr>
          <a:xfrm>
            <a:off x="2453640" y="34279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105: DEMUX S3"/>
          <p:cNvSpPr txBox="1"/>
          <p:nvPr/>
        </p:nvSpPr>
        <p:spPr>
          <a:xfrm>
            <a:off x="2574544" y="3455863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90" name="rect-106"/>
          <p:cNvSpPr/>
          <p:nvPr/>
        </p:nvSpPr>
        <p:spPr>
          <a:xfrm>
            <a:off x="320040" y="40325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107"/>
          <p:cNvSpPr/>
          <p:nvPr/>
        </p:nvSpPr>
        <p:spPr>
          <a:xfrm>
            <a:off x="320040" y="40325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108: S4 · Link RX"/>
          <p:cNvSpPr txBox="1"/>
          <p:nvPr/>
        </p:nvSpPr>
        <p:spPr>
          <a:xfrm>
            <a:off x="440944" y="4060383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93" name="text-109: Serial Link 接收侧"/>
          <p:cNvSpPr txBox="1"/>
          <p:nvPr/>
        </p:nvSpPr>
        <p:spPr>
          <a:xfrm>
            <a:off x="440944" y="4362501"/>
            <a:ext cx="167843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94" name="rect-110"/>
          <p:cNvSpPr/>
          <p:nvPr/>
        </p:nvSpPr>
        <p:spPr>
          <a:xfrm>
            <a:off x="2453640" y="40396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-111"/>
          <p:cNvSpPr/>
          <p:nvPr/>
        </p:nvSpPr>
        <p:spPr>
          <a:xfrm>
            <a:off x="2453640" y="40396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112: DEMUX S4"/>
          <p:cNvSpPr txBox="1"/>
          <p:nvPr/>
        </p:nvSpPr>
        <p:spPr>
          <a:xfrm>
            <a:off x="2574544" y="4067495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97" name="rect-113"/>
          <p:cNvSpPr/>
          <p:nvPr/>
        </p:nvSpPr>
        <p:spPr>
          <a:xfrm>
            <a:off x="320040" y="46441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114"/>
          <p:cNvSpPr/>
          <p:nvPr/>
        </p:nvSpPr>
        <p:spPr>
          <a:xfrm>
            <a:off x="320040" y="46441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115: S5 · VGA 取帧"/>
          <p:cNvSpPr txBox="1"/>
          <p:nvPr/>
        </p:nvSpPr>
        <p:spPr>
          <a:xfrm>
            <a:off x="440944" y="4672015"/>
            <a:ext cx="16364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00" name="text-116: 读帧缓冲"/>
          <p:cNvSpPr txBox="1"/>
          <p:nvPr/>
        </p:nvSpPr>
        <p:spPr>
          <a:xfrm>
            <a:off x="440944" y="4974133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01" name="rect-117"/>
          <p:cNvSpPr/>
          <p:nvPr/>
        </p:nvSpPr>
        <p:spPr>
          <a:xfrm>
            <a:off x="2453640" y="46512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-118"/>
          <p:cNvSpPr/>
          <p:nvPr/>
        </p:nvSpPr>
        <p:spPr>
          <a:xfrm>
            <a:off x="2453640" y="46512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-119: DEMUX S5"/>
          <p:cNvSpPr txBox="1"/>
          <p:nvPr/>
        </p:nvSpPr>
        <p:spPr>
          <a:xfrm>
            <a:off x="2574544" y="4679127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04" name="rect-120"/>
          <p:cNvSpPr/>
          <p:nvPr/>
        </p:nvSpPr>
        <p:spPr>
          <a:xfrm>
            <a:off x="320040" y="52557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-121"/>
          <p:cNvSpPr/>
          <p:nvPr/>
        </p:nvSpPr>
        <p:spPr>
          <a:xfrm>
            <a:off x="320040" y="52557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22: S6 · USB DMA"/>
          <p:cNvSpPr txBox="1"/>
          <p:nvPr/>
        </p:nvSpPr>
        <p:spPr>
          <a:xfrm>
            <a:off x="440944" y="5283647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07" name="text-123: 描述符 / 数据"/>
          <p:cNvSpPr txBox="1"/>
          <p:nvPr/>
        </p:nvSpPr>
        <p:spPr>
          <a:xfrm>
            <a:off x="440944" y="5585765"/>
            <a:ext cx="113080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08" name="rect-124"/>
          <p:cNvSpPr/>
          <p:nvPr/>
        </p:nvSpPr>
        <p:spPr>
          <a:xfrm>
            <a:off x="2453640" y="52628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25"/>
          <p:cNvSpPr/>
          <p:nvPr/>
        </p:nvSpPr>
        <p:spPr>
          <a:xfrm>
            <a:off x="2453640" y="52628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26: DEMUX S6"/>
          <p:cNvSpPr txBox="1"/>
          <p:nvPr/>
        </p:nvSpPr>
        <p:spPr>
          <a:xfrm>
            <a:off x="2574544" y="5290759"/>
            <a:ext cx="11464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11" name="rect-127"/>
          <p:cNvSpPr/>
          <p:nvPr/>
        </p:nvSpPr>
        <p:spPr>
          <a:xfrm>
            <a:off x="6614160" y="16215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-128"/>
          <p:cNvSpPr/>
          <p:nvPr/>
        </p:nvSpPr>
        <p:spPr>
          <a:xfrm>
            <a:off x="6614160" y="16215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29: MUX M0"/>
          <p:cNvSpPr txBox="1"/>
          <p:nvPr/>
        </p:nvSpPr>
        <p:spPr>
          <a:xfrm>
            <a:off x="6735064" y="1649415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14" name="text-130: 独立仲裁"/>
          <p:cNvSpPr txBox="1"/>
          <p:nvPr/>
        </p:nvSpPr>
        <p:spPr>
          <a:xfrm>
            <a:off x="6735064" y="1936171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15" name="rect-131"/>
          <p:cNvSpPr/>
          <p:nvPr/>
        </p:nvSpPr>
        <p:spPr>
          <a:xfrm>
            <a:off x="8143240" y="15717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-132"/>
          <p:cNvSpPr/>
          <p:nvPr/>
        </p:nvSpPr>
        <p:spPr>
          <a:xfrm>
            <a:off x="8143240" y="15717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33: M0 · Debug 目标"/>
          <p:cNvSpPr txBox="1"/>
          <p:nvPr/>
        </p:nvSpPr>
        <p:spPr>
          <a:xfrm>
            <a:off x="8264144" y="1599631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18" name="text-134: 调试模块地址空间；与 SBA 发起端分开"/>
          <p:cNvSpPr txBox="1"/>
          <p:nvPr/>
        </p:nvSpPr>
        <p:spPr>
          <a:xfrm>
            <a:off x="8264144" y="1886387"/>
            <a:ext cx="30119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19" name="rect-135"/>
          <p:cNvSpPr/>
          <p:nvPr/>
        </p:nvSpPr>
        <p:spPr>
          <a:xfrm>
            <a:off x="6614160" y="25247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-136"/>
          <p:cNvSpPr/>
          <p:nvPr/>
        </p:nvSpPr>
        <p:spPr>
          <a:xfrm>
            <a:off x="6614160" y="25247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-137: MUX M1"/>
          <p:cNvSpPr txBox="1"/>
          <p:nvPr/>
        </p:nvSpPr>
        <p:spPr>
          <a:xfrm>
            <a:off x="6735064" y="255263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22" name="text-138: 独立仲裁"/>
          <p:cNvSpPr txBox="1"/>
          <p:nvPr/>
        </p:nvSpPr>
        <p:spPr>
          <a:xfrm>
            <a:off x="6735064" y="28393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23" name="rect-139"/>
          <p:cNvSpPr/>
          <p:nvPr/>
        </p:nvSpPr>
        <p:spPr>
          <a:xfrm>
            <a:off x="8143240" y="24749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-140"/>
          <p:cNvSpPr/>
          <p:nvPr/>
        </p:nvSpPr>
        <p:spPr>
          <a:xfrm>
            <a:off x="8143240" y="24749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41: M1 · AXI → Reg32"/>
          <p:cNvSpPr txBox="1"/>
          <p:nvPr/>
        </p:nvSpPr>
        <p:spPr>
          <a:xfrm>
            <a:off x="8264144" y="2502855"/>
            <a:ext cx="21727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26" name="text-142: 原子适配 / cut / 桥 → 下方二级译码"/>
          <p:cNvSpPr txBox="1"/>
          <p:nvPr/>
        </p:nvSpPr>
        <p:spPr>
          <a:xfrm>
            <a:off x="8264144" y="2789611"/>
            <a:ext cx="3152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27" name="rect-143"/>
          <p:cNvSpPr/>
          <p:nvPr/>
        </p:nvSpPr>
        <p:spPr>
          <a:xfrm>
            <a:off x="6614160" y="34279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-144"/>
          <p:cNvSpPr/>
          <p:nvPr/>
        </p:nvSpPr>
        <p:spPr>
          <a:xfrm>
            <a:off x="6614160" y="34279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45: MUX M2"/>
          <p:cNvSpPr txBox="1"/>
          <p:nvPr/>
        </p:nvSpPr>
        <p:spPr>
          <a:xfrm>
            <a:off x="6735064" y="3455863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30" name="text-146: 独立仲裁"/>
          <p:cNvSpPr txBox="1"/>
          <p:nvPr/>
        </p:nvSpPr>
        <p:spPr>
          <a:xfrm>
            <a:off x="6735064" y="374261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1" name="rect-147"/>
          <p:cNvSpPr/>
          <p:nvPr/>
        </p:nvSpPr>
        <p:spPr>
          <a:xfrm>
            <a:off x="8143240" y="33782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-148"/>
          <p:cNvSpPr/>
          <p:nvPr/>
        </p:nvSpPr>
        <p:spPr>
          <a:xfrm>
            <a:off x="8143240" y="33782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49: M2 · LLC / SPM 共用出口"/>
          <p:cNvSpPr txBox="1"/>
          <p:nvPr/>
        </p:nvSpPr>
        <p:spPr>
          <a:xfrm>
            <a:off x="8264144" y="3406079"/>
            <a:ext cx="272745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34" name="text-150: AMO / LRSC → cut / 地址重映射 → LLC"/>
          <p:cNvSpPr txBox="1"/>
          <p:nvPr/>
        </p:nvSpPr>
        <p:spPr>
          <a:xfrm>
            <a:off x="8264144" y="3692835"/>
            <a:ext cx="35908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35" name="rect-151"/>
          <p:cNvSpPr/>
          <p:nvPr/>
        </p:nvSpPr>
        <p:spPr>
          <a:xfrm>
            <a:off x="6614160" y="43312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-152"/>
          <p:cNvSpPr/>
          <p:nvPr/>
        </p:nvSpPr>
        <p:spPr>
          <a:xfrm>
            <a:off x="6614160" y="43312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-153: MUX M3"/>
          <p:cNvSpPr txBox="1"/>
          <p:nvPr/>
        </p:nvSpPr>
        <p:spPr>
          <a:xfrm>
            <a:off x="6735064" y="4359087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38" name="text-154: 独立仲裁"/>
          <p:cNvSpPr txBox="1"/>
          <p:nvPr/>
        </p:nvSpPr>
        <p:spPr>
          <a:xfrm>
            <a:off x="6735064" y="464584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9" name="rect-155"/>
          <p:cNvSpPr/>
          <p:nvPr/>
        </p:nvSpPr>
        <p:spPr>
          <a:xfrm>
            <a:off x="8143240" y="42814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-156"/>
          <p:cNvSpPr/>
          <p:nvPr/>
        </p:nvSpPr>
        <p:spPr>
          <a:xfrm>
            <a:off x="8143240" y="42814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-157: M3 · iDMA 控制"/>
          <p:cNvSpPr txBox="1"/>
          <p:nvPr/>
        </p:nvSpPr>
        <p:spPr>
          <a:xfrm>
            <a:off x="8264144" y="4309303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42" name="text-158: 0x0100_0000 起；与数据发起端 S3 分开"/>
          <p:cNvSpPr txBox="1"/>
          <p:nvPr/>
        </p:nvSpPr>
        <p:spPr>
          <a:xfrm>
            <a:off x="8264144" y="4596059"/>
            <a:ext cx="33483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43" name="rect-159"/>
          <p:cNvSpPr/>
          <p:nvPr/>
        </p:nvSpPr>
        <p:spPr>
          <a:xfrm>
            <a:off x="6614160" y="52344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-160"/>
          <p:cNvSpPr/>
          <p:nvPr/>
        </p:nvSpPr>
        <p:spPr>
          <a:xfrm>
            <a:off x="6614160" y="52344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-161: MUX M4"/>
          <p:cNvSpPr txBox="1"/>
          <p:nvPr/>
        </p:nvSpPr>
        <p:spPr>
          <a:xfrm>
            <a:off x="6735064" y="5262311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46" name="text-162: 独立仲裁"/>
          <p:cNvSpPr txBox="1"/>
          <p:nvPr/>
        </p:nvSpPr>
        <p:spPr>
          <a:xfrm>
            <a:off x="6735064" y="5549067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7" name="rect-163"/>
          <p:cNvSpPr/>
          <p:nvPr/>
        </p:nvSpPr>
        <p:spPr>
          <a:xfrm>
            <a:off x="8143240" y="51846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-164"/>
          <p:cNvSpPr/>
          <p:nvPr/>
        </p:nvSpPr>
        <p:spPr>
          <a:xfrm>
            <a:off x="8143240" y="51846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-165: M4 · Serial Link TX"/>
          <p:cNvSpPr txBox="1"/>
          <p:nvPr/>
        </p:nvSpPr>
        <p:spPr>
          <a:xfrm>
            <a:off x="8264144" y="5212527"/>
            <a:ext cx="246857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50" name="text-166: [0x1_0000_0000, 0x2_0000_0000)"/>
          <p:cNvSpPr txBox="1"/>
          <p:nvPr/>
        </p:nvSpPr>
        <p:spPr>
          <a:xfrm>
            <a:off x="8264144" y="5499283"/>
            <a:ext cx="32075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51" name="text-167: AR / AW 地址译码"/>
          <p:cNvSpPr txBox="1"/>
          <p:nvPr/>
        </p:nvSpPr>
        <p:spPr>
          <a:xfrm>
            <a:off x="4338320" y="1523675"/>
            <a:ext cx="15959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52" name="text-168: W 保存路由；B/R 按来源 ID 返回"/>
          <p:cNvSpPr txBox="1"/>
          <p:nvPr/>
        </p:nvSpPr>
        <p:spPr>
          <a:xfrm>
            <a:off x="4252976" y="5783763"/>
            <a:ext cx="27381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53" name="rect-169"/>
          <p:cNvSpPr/>
          <p:nvPr/>
        </p:nvSpPr>
        <p:spPr>
          <a:xfrm>
            <a:off x="320040" y="63083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-170"/>
          <p:cNvSpPr/>
          <p:nvPr/>
        </p:nvSpPr>
        <p:spPr>
          <a:xfrm>
            <a:off x="320040" y="63083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71: 请求与响应的归属"/>
          <p:cNvSpPr txBox="1"/>
          <p:nvPr/>
        </p:nvSpPr>
        <p:spPr>
          <a:xfrm>
            <a:off x="440944" y="6336223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56" name="text-172: 输入 ID=2 位 + 7 来源前缀=3 位"/>
          <p:cNvSpPr txBox="1"/>
          <p:nvPr/>
        </p:nvSpPr>
        <p:spPr>
          <a:xfrm>
            <a:off x="440944" y="6622979"/>
            <a:ext cx="28319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57" name="text-173: Crossbar 目标侧为 5 位；后级可再适配"/>
          <p:cNvSpPr txBox="1"/>
          <p:nvPr/>
        </p:nvSpPr>
        <p:spPr>
          <a:xfrm>
            <a:off x="440944" y="6836339"/>
            <a:ext cx="32544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58" name="rect-174"/>
          <p:cNvSpPr/>
          <p:nvPr/>
        </p:nvSpPr>
        <p:spPr>
          <a:xfrm>
            <a:off x="4089400" y="63083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-175"/>
          <p:cNvSpPr/>
          <p:nvPr/>
        </p:nvSpPr>
        <p:spPr>
          <a:xfrm>
            <a:off x="4089400" y="63083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-176: M1 下游：reg_demux 二次译码"/>
          <p:cNvSpPr txBox="1"/>
          <p:nvPr/>
        </p:nvSpPr>
        <p:spPr>
          <a:xfrm>
            <a:off x="4210304" y="6336223"/>
            <a:ext cx="30418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61" name="text-177: ROM / CLINT / PLIC / SoC / LLC 控制"/>
          <p:cNvSpPr txBox="1"/>
          <p:nvPr/>
        </p:nvSpPr>
        <p:spPr>
          <a:xfrm>
            <a:off x="4210304" y="6622979"/>
            <a:ext cx="3622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62" name="text-178: UART / I2C / SPI / GPIO / Link / VGA / U"/>
          <p:cNvSpPr txBox="1"/>
          <p:nvPr/>
        </p:nvSpPr>
        <p:spPr>
          <a:xfrm>
            <a:off x="4210304" y="6836339"/>
            <a:ext cx="44279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63" name="text-179: BusErr；本例 CLIC / IRQ Router 均关闭"/>
          <p:cNvSpPr txBox="1"/>
          <p:nvPr/>
        </p:nvSpPr>
        <p:spPr>
          <a:xfrm>
            <a:off x="4210304" y="7049699"/>
            <a:ext cx="36377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64" name="rect-180"/>
          <p:cNvSpPr/>
          <p:nvPr/>
        </p:nvSpPr>
        <p:spPr>
          <a:xfrm>
            <a:off x="8747760" y="63083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-181"/>
          <p:cNvSpPr/>
          <p:nvPr/>
        </p:nvSpPr>
        <p:spPr>
          <a:xfrm>
            <a:off x="8747760" y="63083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82: M2 下游：命中与外存分支"/>
          <p:cNvSpPr txBox="1"/>
          <p:nvPr/>
        </p:nvSpPr>
        <p:spPr>
          <a:xfrm>
            <a:off x="8868664" y="6336223"/>
            <a:ext cx="23946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67" name="text-183: 128 KiB 阵列：SPM / cache ways"/>
          <p:cNvSpPr txBox="1"/>
          <p:nvPr/>
        </p:nvSpPr>
        <p:spPr>
          <a:xfrm>
            <a:off x="8868664" y="6622979"/>
            <a:ext cx="30666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68" name="text-184: SPM 或 cache 命中可在片内结束"/>
          <p:cNvSpPr txBox="1"/>
          <p:nvPr/>
        </p:nvSpPr>
        <p:spPr>
          <a:xfrm>
            <a:off x="8868664" y="6836339"/>
            <a:ext cx="26833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69" name="text-185: LLC 下游 → 平台 AXI4 DDR"/>
          <p:cNvSpPr txBox="1"/>
          <p:nvPr/>
        </p:nvSpPr>
        <p:spPr>
          <a:xfrm>
            <a:off x="8868664" y="7049699"/>
            <a:ext cx="24643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